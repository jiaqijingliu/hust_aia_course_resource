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83" r:id="rId3"/>
    <p:sldMasterId id="2147483717" r:id="rId4"/>
  </p:sldMasterIdLst>
  <p:notesMasterIdLst>
    <p:notesMasterId r:id="rId119"/>
  </p:notesMasterIdLst>
  <p:sldIdLst>
    <p:sldId id="256" r:id="rId5"/>
    <p:sldId id="258" r:id="rId6"/>
    <p:sldId id="1009" r:id="rId7"/>
    <p:sldId id="263" r:id="rId8"/>
    <p:sldId id="464" r:id="rId9"/>
    <p:sldId id="591" r:id="rId10"/>
    <p:sldId id="592" r:id="rId11"/>
    <p:sldId id="593" r:id="rId12"/>
    <p:sldId id="594" r:id="rId13"/>
    <p:sldId id="377" r:id="rId14"/>
    <p:sldId id="265" r:id="rId15"/>
    <p:sldId id="266" r:id="rId16"/>
    <p:sldId id="473" r:id="rId17"/>
    <p:sldId id="436" r:id="rId18"/>
    <p:sldId id="269" r:id="rId19"/>
    <p:sldId id="270" r:id="rId20"/>
    <p:sldId id="437" r:id="rId21"/>
    <p:sldId id="439" r:id="rId22"/>
    <p:sldId id="273" r:id="rId23"/>
    <p:sldId id="373" r:id="rId24"/>
    <p:sldId id="428" r:id="rId25"/>
    <p:sldId id="275" r:id="rId26"/>
    <p:sldId id="282" r:id="rId27"/>
    <p:sldId id="284" r:id="rId28"/>
    <p:sldId id="474" r:id="rId29"/>
    <p:sldId id="708" r:id="rId30"/>
    <p:sldId id="285" r:id="rId31"/>
    <p:sldId id="710" r:id="rId32"/>
    <p:sldId id="286" r:id="rId33"/>
    <p:sldId id="712" r:id="rId34"/>
    <p:sldId id="288" r:id="rId35"/>
    <p:sldId id="287" r:id="rId36"/>
    <p:sldId id="707" r:id="rId37"/>
    <p:sldId id="714" r:id="rId38"/>
    <p:sldId id="715" r:id="rId39"/>
    <p:sldId id="376" r:id="rId40"/>
    <p:sldId id="716" r:id="rId41"/>
    <p:sldId id="291" r:id="rId42"/>
    <p:sldId id="292" r:id="rId43"/>
    <p:sldId id="293" r:id="rId44"/>
    <p:sldId id="728" r:id="rId45"/>
    <p:sldId id="1152" r:id="rId46"/>
    <p:sldId id="729" r:id="rId47"/>
    <p:sldId id="1150" r:id="rId48"/>
    <p:sldId id="1151" r:id="rId49"/>
    <p:sldId id="730" r:id="rId50"/>
    <p:sldId id="731" r:id="rId51"/>
    <p:sldId id="764" r:id="rId52"/>
    <p:sldId id="732" r:id="rId53"/>
    <p:sldId id="733" r:id="rId54"/>
    <p:sldId id="734" r:id="rId55"/>
    <p:sldId id="735" r:id="rId56"/>
    <p:sldId id="736" r:id="rId57"/>
    <p:sldId id="737" r:id="rId58"/>
    <p:sldId id="738" r:id="rId59"/>
    <p:sldId id="739" r:id="rId60"/>
    <p:sldId id="740" r:id="rId61"/>
    <p:sldId id="741" r:id="rId62"/>
    <p:sldId id="1149" r:id="rId63"/>
    <p:sldId id="742" r:id="rId64"/>
    <p:sldId id="744" r:id="rId65"/>
    <p:sldId id="745" r:id="rId66"/>
    <p:sldId id="746" r:id="rId67"/>
    <p:sldId id="747" r:id="rId68"/>
    <p:sldId id="748" r:id="rId69"/>
    <p:sldId id="749" r:id="rId70"/>
    <p:sldId id="750" r:id="rId71"/>
    <p:sldId id="751" r:id="rId72"/>
    <p:sldId id="752" r:id="rId73"/>
    <p:sldId id="753" r:id="rId74"/>
    <p:sldId id="889" r:id="rId75"/>
    <p:sldId id="890" r:id="rId76"/>
    <p:sldId id="891" r:id="rId77"/>
    <p:sldId id="756" r:id="rId78"/>
    <p:sldId id="757" r:id="rId79"/>
    <p:sldId id="761" r:id="rId80"/>
    <p:sldId id="758" r:id="rId81"/>
    <p:sldId id="1113" r:id="rId82"/>
    <p:sldId id="1114" r:id="rId83"/>
    <p:sldId id="1115" r:id="rId84"/>
    <p:sldId id="892" r:id="rId85"/>
    <p:sldId id="893" r:id="rId86"/>
    <p:sldId id="946" r:id="rId87"/>
    <p:sldId id="894" r:id="rId88"/>
    <p:sldId id="895" r:id="rId89"/>
    <p:sldId id="896" r:id="rId90"/>
    <p:sldId id="897" r:id="rId91"/>
    <p:sldId id="898" r:id="rId92"/>
    <p:sldId id="899" r:id="rId93"/>
    <p:sldId id="1153" r:id="rId94"/>
    <p:sldId id="1116" r:id="rId95"/>
    <p:sldId id="900" r:id="rId96"/>
    <p:sldId id="901" r:id="rId97"/>
    <p:sldId id="902" r:id="rId98"/>
    <p:sldId id="903" r:id="rId99"/>
    <p:sldId id="977" r:id="rId100"/>
    <p:sldId id="978" r:id="rId101"/>
    <p:sldId id="979" r:id="rId102"/>
    <p:sldId id="905" r:id="rId103"/>
    <p:sldId id="906" r:id="rId104"/>
    <p:sldId id="910" r:id="rId105"/>
    <p:sldId id="911" r:id="rId106"/>
    <p:sldId id="980" r:id="rId107"/>
    <p:sldId id="997" r:id="rId108"/>
    <p:sldId id="912" r:id="rId109"/>
    <p:sldId id="916" r:id="rId110"/>
    <p:sldId id="998" r:id="rId111"/>
    <p:sldId id="999" r:id="rId112"/>
    <p:sldId id="1000" r:id="rId113"/>
    <p:sldId id="1001" r:id="rId114"/>
    <p:sldId id="1002" r:id="rId115"/>
    <p:sldId id="1004" r:id="rId116"/>
    <p:sldId id="1005" r:id="rId117"/>
    <p:sldId id="727" r:id="rId1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9C3E"/>
    <a:srgbClr val="0033CC"/>
    <a:srgbClr val="FFFFCC"/>
    <a:srgbClr val="FF0066"/>
    <a:srgbClr val="5F5F5F"/>
    <a:srgbClr val="8DDDF1"/>
    <a:srgbClr val="99C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63" d="100"/>
          <a:sy n="63" d="100"/>
        </p:scale>
        <p:origin x="1380" y="60"/>
      </p:cViewPr>
      <p:guideLst>
        <p:guide orient="horz" pos="2188"/>
        <p:guide pos="29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tableStyles" Target="tableStyle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1B65874-EA74-426A-9E0F-3A6BF464B4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200" b="0" noProof="1">
                <a:latin typeface="Times New Roman" panose="02020603050405020304" pitchFamily="2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C5D6603-1A7C-4439-9F01-EA0F98324C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 sz="1200" b="0" noProof="1">
                <a:latin typeface="Times New Roman" panose="02020603050405020304" pitchFamily="2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4C1D9D8B-C008-45D9-8CD7-D6077ACBBBFD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0A9C31BD-5C82-47CF-B5C3-2DF72CEA8B4B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9D095694-0740-4978-A26E-B54B634E0B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buFont typeface="Arial" panose="020B0604020202020204" pitchFamily="34" charset="0"/>
              <a:buNone/>
              <a:defRPr sz="1200" b="0" noProof="1">
                <a:latin typeface="Times New Roman" panose="02020603050405020304" pitchFamily="2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F2B7805-4686-462A-9ECD-1C35A8A7C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 eaLnBrk="1" hangingPunct="1">
              <a:buFont typeface="Arial" panose="020B0604020202020204" pitchFamily="34" charset="0"/>
              <a:buNone/>
              <a:defRPr sz="1200" b="0" noProof="1">
                <a:latin typeface="Times New Roman" panose="02020603050405020304" pitchFamily="2" charset="0"/>
                <a:cs typeface="+mn-ea"/>
              </a:defRPr>
            </a:lvl1pPr>
          </a:lstStyle>
          <a:p>
            <a:pPr>
              <a:defRPr/>
            </a:pPr>
            <a:fld id="{EAE7BA5F-C748-423F-B091-9E8B51EFA356}" type="slidenum">
              <a:rPr lang="zh-CN" altLang="en-US"/>
              <a:pPr>
                <a:defRPr/>
              </a:pPr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1265">
            <a:extLst>
              <a:ext uri="{FF2B5EF4-FFF2-40B4-BE49-F238E27FC236}">
                <a16:creationId xmlns:a16="http://schemas.microsoft.com/office/drawing/2014/main" id="{077673E8-95A8-4FF7-98C6-08B2CAF2F22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41413" y="684213"/>
            <a:ext cx="4572000" cy="3429000"/>
          </a:xfrm>
          <a:ln/>
          <a:extLs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9395" name="文本占位符 11266">
            <a:extLst>
              <a:ext uri="{FF2B5EF4-FFF2-40B4-BE49-F238E27FC236}">
                <a16:creationId xmlns:a16="http://schemas.microsoft.com/office/drawing/2014/main" id="{8BF0A69B-D39B-4E20-B982-56413B0701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4341813"/>
            <a:ext cx="5486400" cy="4114800"/>
          </a:xfrm>
          <a:ln/>
          <a:extLs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当出现跳转时，指令队列会复位，并按新的程序地址重新装载指令。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>
            <a:extLst>
              <a:ext uri="{FF2B5EF4-FFF2-40B4-BE49-F238E27FC236}">
                <a16:creationId xmlns:a16="http://schemas.microsoft.com/office/drawing/2014/main" id="{C3FF207D-D33F-4977-99BD-57980354F60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95235" name="备注占位符 2">
            <a:extLst>
              <a:ext uri="{FF2B5EF4-FFF2-40B4-BE49-F238E27FC236}">
                <a16:creationId xmlns:a16="http://schemas.microsoft.com/office/drawing/2014/main" id="{BD3A7415-D22C-4031-BD8F-04DA18E5EE4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4275" name="灯片编号占位符 3">
            <a:extLst>
              <a:ext uri="{FF2B5EF4-FFF2-40B4-BE49-F238E27FC236}">
                <a16:creationId xmlns:a16="http://schemas.microsoft.com/office/drawing/2014/main" id="{3E98087F-18E1-4B85-B15C-22AB855658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>
              <a:defRPr/>
            </a:pPr>
            <a:fld id="{FA5686AF-F2C4-42AA-B62D-F95DD1A2153E}" type="slidenum">
              <a:rPr lang="en-US" altLang="zh-CN" sz="1800" b="1" smtClean="0">
                <a:latin typeface="Garamond" panose="02020404030301010803" pitchFamily="18" charset="0"/>
              </a:rPr>
              <a:pPr algn="l">
                <a:defRPr/>
              </a:pPr>
              <a:t>42</a:t>
            </a:fld>
            <a:endParaRPr lang="en-US" altLang="zh-CN" sz="1800" b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>
            <a:extLst>
              <a:ext uri="{FF2B5EF4-FFF2-40B4-BE49-F238E27FC236}">
                <a16:creationId xmlns:a16="http://schemas.microsoft.com/office/drawing/2014/main" id="{7F0377CA-5986-4451-B0F8-61053BB8B01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97283" name="备注占位符 2">
            <a:extLst>
              <a:ext uri="{FF2B5EF4-FFF2-40B4-BE49-F238E27FC236}">
                <a16:creationId xmlns:a16="http://schemas.microsoft.com/office/drawing/2014/main" id="{16EB5282-FF58-4292-A41E-BC8D960483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4275" name="灯片编号占位符 3">
            <a:extLst>
              <a:ext uri="{FF2B5EF4-FFF2-40B4-BE49-F238E27FC236}">
                <a16:creationId xmlns:a16="http://schemas.microsoft.com/office/drawing/2014/main" id="{3E98087F-18E1-4B85-B15C-22AB855658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>
              <a:defRPr/>
            </a:pPr>
            <a:fld id="{26C6F559-3427-4233-A389-2FCF1D97389B}" type="slidenum">
              <a:rPr lang="en-US" altLang="zh-CN" sz="1800" b="1" smtClean="0">
                <a:latin typeface="Garamond" panose="02020404030301010803" pitchFamily="18" charset="0"/>
              </a:rPr>
              <a:pPr algn="l">
                <a:defRPr/>
              </a:pPr>
              <a:t>43</a:t>
            </a:fld>
            <a:endParaRPr lang="en-US" altLang="zh-CN" sz="1800" b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>
            <a:extLst>
              <a:ext uri="{FF2B5EF4-FFF2-40B4-BE49-F238E27FC236}">
                <a16:creationId xmlns:a16="http://schemas.microsoft.com/office/drawing/2014/main" id="{C30DF859-F3BB-4FA9-A5BF-803DD1C2D5B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99331" name="备注占位符 2">
            <a:extLst>
              <a:ext uri="{FF2B5EF4-FFF2-40B4-BE49-F238E27FC236}">
                <a16:creationId xmlns:a16="http://schemas.microsoft.com/office/drawing/2014/main" id="{F0E25142-4B5B-4375-96C6-5547BFE203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4275" name="灯片编号占位符 3">
            <a:extLst>
              <a:ext uri="{FF2B5EF4-FFF2-40B4-BE49-F238E27FC236}">
                <a16:creationId xmlns:a16="http://schemas.microsoft.com/office/drawing/2014/main" id="{3E98087F-18E1-4B85-B15C-22AB855658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>
              <a:defRPr/>
            </a:pPr>
            <a:fld id="{5AC8EAD4-FF69-4C66-8EA3-6F348708C9E1}" type="slidenum">
              <a:rPr lang="en-US" altLang="zh-CN" sz="1800" b="1" smtClean="0">
                <a:latin typeface="Garamond" panose="02020404030301010803" pitchFamily="18" charset="0"/>
              </a:rPr>
              <a:pPr algn="l">
                <a:defRPr/>
              </a:pPr>
              <a:t>44</a:t>
            </a:fld>
            <a:endParaRPr lang="en-US" altLang="zh-CN" sz="1800" b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>
            <a:extLst>
              <a:ext uri="{FF2B5EF4-FFF2-40B4-BE49-F238E27FC236}">
                <a16:creationId xmlns:a16="http://schemas.microsoft.com/office/drawing/2014/main" id="{FA2076FC-3915-4912-B94F-BD07D58F7B9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01379" name="备注占位符 2">
            <a:extLst>
              <a:ext uri="{FF2B5EF4-FFF2-40B4-BE49-F238E27FC236}">
                <a16:creationId xmlns:a16="http://schemas.microsoft.com/office/drawing/2014/main" id="{31B8A36E-A5BA-4E1C-AA37-E0D1604B745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4275" name="灯片编号占位符 3">
            <a:extLst>
              <a:ext uri="{FF2B5EF4-FFF2-40B4-BE49-F238E27FC236}">
                <a16:creationId xmlns:a16="http://schemas.microsoft.com/office/drawing/2014/main" id="{3E98087F-18E1-4B85-B15C-22AB855658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>
              <a:defRPr/>
            </a:pPr>
            <a:fld id="{CC99A6D5-0BE4-4D18-B080-B908C64D2412}" type="slidenum">
              <a:rPr lang="en-US" altLang="zh-CN" sz="1800" b="1" smtClean="0">
                <a:latin typeface="Garamond" panose="02020404030301010803" pitchFamily="18" charset="0"/>
              </a:rPr>
              <a:pPr algn="l">
                <a:defRPr/>
              </a:pPr>
              <a:t>45</a:t>
            </a:fld>
            <a:endParaRPr lang="en-US" altLang="zh-CN" sz="1800" b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077CAA3C-D10B-4306-8DA6-45A40A219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B4BCCEE8-54ED-4A52-9E2B-4990CBC6B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738" y="-46038"/>
            <a:ext cx="9278938" cy="6908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168E9ED7-58FB-4B9F-B6D4-FC7326C66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zh-CN" altLang="en-US" sz="2000" b="0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6638B6E3-E593-4067-8D3C-6988B96DB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F5ACD888-98F0-41B6-9E52-0A22E30A4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400" b="0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1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5AB3EFBA-669C-4BE0-885E-5CD70C6E5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 kern="1200"/>
            </a:lvl1pPr>
            <a:lvl2pPr marL="457200" lvl="1" indent="-457200" algn="ctr">
              <a:buNone/>
              <a:defRPr sz="1800" kern="1200"/>
            </a:lvl2pPr>
            <a:lvl3pPr marL="914400" lvl="2" indent="-914400" algn="ctr">
              <a:buNone/>
              <a:defRPr sz="1800" kern="1200"/>
            </a:lvl3pPr>
            <a:lvl4pPr marL="1371600" lvl="3" indent="-1371600" algn="ctr">
              <a:buNone/>
              <a:defRPr sz="1800" kern="1200"/>
            </a:lvl4pPr>
            <a:lvl5pPr marL="1828800" lvl="4" indent="-1828800" algn="ctr">
              <a:buNone/>
              <a:defRPr sz="1800" kern="12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331EF1AE-F93F-4A52-A5D9-CE825A52F37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  <a:cs typeface="+mn-ea"/>
              </a:defRPr>
            </a:lvl1pPr>
          </a:lstStyle>
          <a:p>
            <a:pPr>
              <a:defRPr/>
            </a:pPr>
            <a:fld id="{4DDCB150-704E-4BC4-BC79-D46FE0A94740}" type="datetime12">
              <a:rPr lang="zh-CN" altLang="en-US"/>
              <a:pPr>
                <a:defRPr/>
              </a:pPr>
              <a:t>下午7时21分</a:t>
            </a:fld>
            <a:endParaRPr lang="zh-CN" altLang="en-US">
              <a:cs typeface="+mn-cs"/>
            </a:endParaRPr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81A4E49B-0673-4DA4-8AA0-19A3C7F3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2613D9AF-608F-4C3F-B5E9-7925A88A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776276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39987B05-9B46-4963-90E3-DAF6AA31B2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E7C0D-4B09-4370-81A1-2B90E13907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58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702FB342-5DB3-4D45-8E67-1E8A5D29A3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44AD9-D658-4D60-8399-8BCEEF178D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19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15CF7E9C-C37E-4F0B-9E57-4A624BD82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3BF7B5-448C-4424-9399-C667A4CB6EA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38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8897A41D-E3F3-4C95-9D74-DC3B313B4D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FCB7D-A64D-4202-ABC9-07B6BF4077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1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18965693-8DB8-4977-B306-2DB535BBEB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1ED62-78F5-4482-98ED-31778552C23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459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6FD4758D-D827-4D48-88AA-FAC3551165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389B4-8460-4D9A-B0F0-7DA2A08D3C6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826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164F733B-F8DF-4F2A-A025-35B3BCB62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AFA450-7BBB-4353-9892-EDFB7FEA77C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38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BAA7C837-EF23-47EA-A846-2BD0425E9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7F43E-8F1A-4094-95F0-DF01CBBB19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83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DF4EBC11-F9E3-43F1-8A24-54ACF7146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5FEEE4-54D2-401E-8EA3-6A563C5835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60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2AA42847-FD7A-4842-BFB6-DE2C2A57D3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3B72F-A34E-406B-886E-BD5245C5CF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747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B432F87D-91B1-4FFB-B084-C7661A48C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96E251BE-B14B-4F9C-B998-81DBF38C5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738" y="-46038"/>
            <a:ext cx="9278938" cy="6908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EE3C4A16-66F1-457F-99F2-569781D1F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zh-CN" altLang="en-US" sz="2000" b="0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14A8F09A-C94D-491D-8131-59F008ACE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3A33BD85-DB7E-4036-A9DD-E58B9C0CA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400" b="0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1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C59FA268-2061-4A79-A029-986318ABC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 kern="1200"/>
            </a:lvl1pPr>
            <a:lvl2pPr marL="457200" lvl="1" indent="-457200" algn="ctr">
              <a:buNone/>
              <a:defRPr sz="1800" kern="1200"/>
            </a:lvl2pPr>
            <a:lvl3pPr marL="914400" lvl="2" indent="-914400" algn="ctr">
              <a:buNone/>
              <a:defRPr sz="1800" kern="1200"/>
            </a:lvl3pPr>
            <a:lvl4pPr marL="1371600" lvl="3" indent="-1371600" algn="ctr">
              <a:buNone/>
              <a:defRPr sz="1800" kern="1200"/>
            </a:lvl4pPr>
            <a:lvl5pPr marL="1828800" lvl="4" indent="-1828800" algn="ctr">
              <a:buNone/>
              <a:defRPr sz="1800" kern="12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07251282-ED29-400F-BB40-E66AC638BAF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  <a:cs typeface="+mn-ea"/>
              </a:defRPr>
            </a:lvl1pPr>
          </a:lstStyle>
          <a:p>
            <a:pPr>
              <a:defRPr/>
            </a:pPr>
            <a:fld id="{3D411F31-F822-45BE-99C2-C4C6C250B0FD}" type="datetime12">
              <a:rPr lang="zh-CN" altLang="en-US"/>
              <a:pPr>
                <a:defRPr/>
              </a:pPr>
              <a:t>下午7时21分</a:t>
            </a:fld>
            <a:endParaRPr lang="zh-CN" altLang="en-US">
              <a:cs typeface="+mn-cs"/>
            </a:endParaRPr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6D71D33D-C020-4951-9470-5FE92B4E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D62E0DC7-2D70-4BC2-815F-B5E5CB0B3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784020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E49D875A-6FBD-4413-BCCA-C0E27E8E8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A5F79-A98F-427A-B263-D452D2177D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052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9C2BEFC1-FBAE-4899-8E5C-798430D54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D0A168-61BD-495E-9809-3CA70874965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200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C896871F-AD7D-4C38-BFF1-14C72EE56E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3DACF-C4B4-4022-AF91-DD5AE86B53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674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42976C69-963F-466A-84E8-659CFFCA3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AAA87-2A83-4F4F-9F48-DDB2BE2B21C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203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982D922F-B6F0-48BC-B43E-21F182C0FB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3D08E-7DC7-477A-B69E-3BE77FACAC1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2901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C4315B5F-66AA-4E80-B0A7-337B5BA1CB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BFFE-A66F-4902-BC20-32494FD6C4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1607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2DB0047C-AAAE-419E-A9F7-E4162D74A1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24460E-F47A-4311-8FC9-F993F71B3B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4858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36FBFA0E-B3F8-45B9-AC47-0FF0CB018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3D710-22DD-4AE0-83BB-3A8D762D030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9480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CC2C48DF-B77F-46EE-AB4E-EC6491171F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9728D-7618-4D57-BFA0-E6B9BE74B2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7962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CEAB81AD-5E1C-47D1-91E2-0FE71495A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F2535-377C-4B67-A560-72A886A2E73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4649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861CEA01-7CA4-472A-BE02-E67C9DD4A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99475D9D-4E66-4BB2-9729-4F0172F08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738" y="-46038"/>
            <a:ext cx="9278938" cy="6908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DA1B421C-3F4C-4854-BAD0-55BB8D191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zh-CN" altLang="en-US" sz="2000" b="0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A56CD224-0B76-40C9-B488-712D19B36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C92374AE-8A6E-4DAF-BE88-8547FCF19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400" b="0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1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D0898FB4-951C-4AF0-869D-141FE1042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 kern="1200"/>
            </a:lvl1pPr>
            <a:lvl2pPr marL="457200" lvl="1" indent="-457200" algn="ctr">
              <a:buNone/>
              <a:defRPr sz="1800" kern="1200"/>
            </a:lvl2pPr>
            <a:lvl3pPr marL="914400" lvl="2" indent="-914400" algn="ctr">
              <a:buNone/>
              <a:defRPr sz="1800" kern="1200"/>
            </a:lvl3pPr>
            <a:lvl4pPr marL="1371600" lvl="3" indent="-1371600" algn="ctr">
              <a:buNone/>
              <a:defRPr sz="1800" kern="1200"/>
            </a:lvl4pPr>
            <a:lvl5pPr marL="1828800" lvl="4" indent="-1828800" algn="ctr">
              <a:buNone/>
              <a:defRPr sz="1800" kern="12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7BC763E0-57AB-4F48-BF39-5939D5339A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  <a:cs typeface="+mn-ea"/>
              </a:defRPr>
            </a:lvl1pPr>
          </a:lstStyle>
          <a:p>
            <a:pPr>
              <a:defRPr/>
            </a:pPr>
            <a:fld id="{7FA41DC9-4E8A-423F-A4AE-FA69FD124B7A}" type="datetime12">
              <a:rPr lang="zh-CN" altLang="en-US"/>
              <a:pPr>
                <a:defRPr/>
              </a:pPr>
              <a:t>下午7时21分</a:t>
            </a:fld>
            <a:endParaRPr lang="zh-CN" altLang="en-US">
              <a:cs typeface="+mn-cs"/>
            </a:endParaRPr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DAA40336-42D5-4DEC-974D-C71A06CE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66B8DB44-4234-4972-B27D-EFEDE1F44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735420"/>
      </p:ext>
    </p:extLst>
  </p:cSld>
  <p:clrMapOvr>
    <a:masterClrMapping/>
  </p:clrMapOvr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BC5F1316-7D3B-4A22-9F5C-4B293FBE0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44E51-3FBC-4EF7-9D4D-BB13FE23B46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0499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EB6834F3-DAFB-4B2C-B928-F64DFA3D74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E29D2-66AE-4177-B42A-3AB812AEF16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1195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F6CAFC01-6E6D-471C-B9C7-C6EEBE2AF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12EC4-5E94-4EA9-82F9-90C46E464EF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4365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C556CBF0-82F5-436E-A032-D1E3C9175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09287-908C-4272-9D0C-30B22A933B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9786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2194C5E4-1F7E-46B2-8E4F-3C6B9D35DF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40A2F-4D82-44A6-BD17-98499FFF00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7877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5E3939DA-17FA-4885-AF92-E6F06C7E55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6032B-8337-4C79-B2CA-444F0852D0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3497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CC8A9BFE-7B0C-41F7-B9D5-895E12DFD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E17D3E-B48D-42ED-8E2B-D7384998C3A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7270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3F17576D-1CE3-4EA7-90FC-B9E20BCE93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3A139-DF07-4571-9F89-F0D015D952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1025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A67E7F07-7082-4C61-B7CE-AA62848FB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AA8E5-1519-47ED-9CBC-6B369B7122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3157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54FAE415-A01E-476A-9A4D-5FE32D6359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07F023-CDCA-43FE-B182-08115A030C9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2267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087051FC-C341-4871-861F-7EC699DD3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6AE008FE-04FA-4A85-B9A0-9E7EEE070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738" y="-46038"/>
            <a:ext cx="9278938" cy="6908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537F03C5-E8B6-417E-863C-A9B74DCFC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zh-CN" altLang="en-US" sz="2000" b="0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97ADFFA9-0C22-4814-8514-F7359EB16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67B05ACC-E181-4B78-B74E-A38769834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400" b="0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1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4274530A-0CC7-4DE9-B7F8-709C10933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 kern="1200"/>
            </a:lvl1pPr>
            <a:lvl2pPr marL="457200" lvl="1" indent="-457200" algn="ctr">
              <a:buNone/>
              <a:defRPr sz="1800" kern="1200"/>
            </a:lvl2pPr>
            <a:lvl3pPr marL="914400" lvl="2" indent="-914400" algn="ctr">
              <a:buNone/>
              <a:defRPr sz="1800" kern="1200"/>
            </a:lvl3pPr>
            <a:lvl4pPr marL="1371600" lvl="3" indent="-1371600" algn="ctr">
              <a:buNone/>
              <a:defRPr sz="1800" kern="1200"/>
            </a:lvl4pPr>
            <a:lvl5pPr marL="1828800" lvl="4" indent="-1828800" algn="ctr">
              <a:buNone/>
              <a:defRPr sz="1800" kern="12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3AD1CAB9-AEF7-4D17-9D6B-5C16D81698C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  <a:cs typeface="+mn-ea"/>
              </a:defRPr>
            </a:lvl1pPr>
          </a:lstStyle>
          <a:p>
            <a:pPr>
              <a:defRPr/>
            </a:pPr>
            <a:fld id="{0DC0F59F-3CEE-4F98-B0F3-F2CA8B128CFE}" type="datetime12">
              <a:rPr lang="zh-CN" altLang="en-US"/>
              <a:pPr>
                <a:defRPr/>
              </a:pPr>
              <a:t>下午7时21分</a:t>
            </a:fld>
            <a:endParaRPr lang="zh-CN" altLang="en-US">
              <a:cs typeface="+mn-cs"/>
            </a:endParaRPr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AF300FE8-8128-44D3-B7D1-DC9C8EA89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307EF274-86A6-4C85-B1CC-0416D7A4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796034"/>
      </p:ext>
    </p:extLst>
  </p:cSld>
  <p:clrMapOvr>
    <a:masterClrMapping/>
  </p:clrMapOvr>
  <p:hf hdr="0" ft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970E30E9-D846-4E44-8131-B7A9CE3379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A57F82-5650-4A2F-8C04-0FACE53AAF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3732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BB97DDBA-A9CB-4184-822D-3A07FFA6E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044C0-0495-4202-905B-3157D27593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5579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79EBDA22-9F9D-4A00-ABCC-F44779A91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1D06B-79C9-44C3-AF0E-7659B0A98F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1716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95187393-701E-41C0-819B-F75CAF60F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817CA-DE7D-46C6-BBC5-E94F7A1ACD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5210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19082233-4D70-4892-9699-FC8FA91F1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A1919-639C-423E-B35F-383A383B14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1425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CB9A503F-C9D6-457F-B65F-37976EFE2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4DEE6-8871-49CD-B09E-7CE40E86E3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8392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007D671B-FB54-41B7-8489-F3F47D46D3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608B9-F01C-42D3-906D-7476252F440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2890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0134E5F2-B154-4A97-885A-094FAD6202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91E6A-C0BC-47FC-8948-693D14ADD82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2924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C40082AB-B4DF-431C-A1D6-B3F60BCE74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3D0AF-6D13-468B-9C46-9576C3694C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9071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9FA0FE9A-B390-494B-B306-7AEA58CFB4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23DE8-18CF-4305-9E6F-E7D2D9A1E5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26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25">
            <a:extLst>
              <a:ext uri="{FF2B5EF4-FFF2-40B4-BE49-F238E27FC236}">
                <a16:creationId xmlns:a16="http://schemas.microsoft.com/office/drawing/2014/main" id="{35CF4673-428A-4EEE-B0AB-10A8230B6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CF68CA14-D5CA-4340-99AE-ADF861E03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9213" y="6453188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Garamond" panose="02020404030301010803" pitchFamily="2" charset="0"/>
                <a:cs typeface="+mn-ea"/>
              </a:defRPr>
            </a:lvl1pPr>
          </a:lstStyle>
          <a:p>
            <a:pPr>
              <a:defRPr/>
            </a:pPr>
            <a:fld id="{B85932E9-06BF-42AA-95F4-020606C28901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Garamond" panose="02020404030301010803" pitchFamily="18" charset="0"/>
              <a:cs typeface="+mn-cs"/>
            </a:endParaRPr>
          </a:p>
        </p:txBody>
      </p:sp>
      <p:sp>
        <p:nvSpPr>
          <p:cNvPr id="1028" name="文本框 1027">
            <a:extLst>
              <a:ext uri="{FF2B5EF4-FFF2-40B4-BE49-F238E27FC236}">
                <a16:creationId xmlns:a16="http://schemas.microsoft.com/office/drawing/2014/main" id="{9080122E-821C-4CD6-A265-DF7E9FC59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200" b="0">
                <a:solidFill>
                  <a:schemeClr val="bg1"/>
                </a:solidFill>
                <a:latin typeface="Verdana" panose="020B0604030504040204" pitchFamily="34" charset="0"/>
              </a:rPr>
              <a:t>COMPANY LOGO</a:t>
            </a:r>
          </a:p>
        </p:txBody>
      </p:sp>
      <p:sp>
        <p:nvSpPr>
          <p:cNvPr id="1029" name="未知">
            <a:extLst>
              <a:ext uri="{FF2B5EF4-FFF2-40B4-BE49-F238E27FC236}">
                <a16:creationId xmlns:a16="http://schemas.microsoft.com/office/drawing/2014/main" id="{3DC6EDB0-AB7F-49C0-8290-4FE7C4001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2147483646 h 291"/>
              <a:gd name="T2" fmla="*/ 2147483646 w 5764"/>
              <a:gd name="T3" fmla="*/ 2147483646 h 291"/>
              <a:gd name="T4" fmla="*/ 2147483646 w 5764"/>
              <a:gd name="T5" fmla="*/ 2147483646 h 291"/>
              <a:gd name="T6" fmla="*/ 2147483646 w 5764"/>
              <a:gd name="T7" fmla="*/ 2147483646 h 291"/>
              <a:gd name="T8" fmla="*/ 2147483646 w 5764"/>
              <a:gd name="T9" fmla="*/ 2147483646 h 291"/>
              <a:gd name="T10" fmla="*/ 2147483646 w 5764"/>
              <a:gd name="T11" fmla="*/ 2147483646 h 291"/>
              <a:gd name="T12" fmla="*/ 0 w 5764"/>
              <a:gd name="T13" fmla="*/ 2147483646 h 2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文本占位符 1029">
            <a:extLst>
              <a:ext uri="{FF2B5EF4-FFF2-40B4-BE49-F238E27FC236}">
                <a16:creationId xmlns:a16="http://schemas.microsoft.com/office/drawing/2014/main" id="{905704BB-5F7F-4BF2-9CE3-6740F066B9A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31" name="圆角矩形 1030">
            <a:extLst>
              <a:ext uri="{FF2B5EF4-FFF2-40B4-BE49-F238E27FC236}">
                <a16:creationId xmlns:a16="http://schemas.microsoft.com/office/drawing/2014/main" id="{40E7DFE0-2DE2-4F7E-9F93-61EA4A206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1032" name="直接连接符 1031">
            <a:extLst>
              <a:ext uri="{FF2B5EF4-FFF2-40B4-BE49-F238E27FC236}">
                <a16:creationId xmlns:a16="http://schemas.microsoft.com/office/drawing/2014/main" id="{6CAB4893-E3B5-42AA-B2E3-B234EDD847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" name="标题 1032">
            <a:extLst>
              <a:ext uri="{FF2B5EF4-FFF2-40B4-BE49-F238E27FC236}">
                <a16:creationId xmlns:a16="http://schemas.microsoft.com/office/drawing/2014/main" id="{B48F7129-3C44-48B9-8532-80DDADF7B9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1034" name="矩形 1033">
            <a:extLst>
              <a:ext uri="{FF2B5EF4-FFF2-40B4-BE49-F238E27FC236}">
                <a16:creationId xmlns:a16="http://schemas.microsoft.com/office/drawing/2014/main" id="{E69B2D58-301D-4D60-ABDF-1E0313955B5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395288" y="6453188"/>
            <a:ext cx="2133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1400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025">
            <a:extLst>
              <a:ext uri="{FF2B5EF4-FFF2-40B4-BE49-F238E27FC236}">
                <a16:creationId xmlns:a16="http://schemas.microsoft.com/office/drawing/2014/main" id="{A91D6EB2-F230-4603-BEE1-D7EF1F474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620E483A-84B2-450B-842B-21F8CEDCF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9213" y="6453188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Garamond" panose="02020404030301010803" pitchFamily="2" charset="0"/>
                <a:cs typeface="+mn-ea"/>
              </a:defRPr>
            </a:lvl1pPr>
          </a:lstStyle>
          <a:p>
            <a:pPr>
              <a:defRPr/>
            </a:pPr>
            <a:fld id="{5D9B3E28-5D3D-4872-B9DA-9C53A658ED83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Garamond" panose="02020404030301010803" pitchFamily="18" charset="0"/>
              <a:cs typeface="+mn-cs"/>
            </a:endParaRPr>
          </a:p>
        </p:txBody>
      </p:sp>
      <p:sp>
        <p:nvSpPr>
          <p:cNvPr id="2052" name="文本框 1027">
            <a:extLst>
              <a:ext uri="{FF2B5EF4-FFF2-40B4-BE49-F238E27FC236}">
                <a16:creationId xmlns:a16="http://schemas.microsoft.com/office/drawing/2014/main" id="{E9BCAE4E-E7F6-4207-8131-88957E95E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200" b="0">
                <a:solidFill>
                  <a:schemeClr val="bg1"/>
                </a:solidFill>
                <a:latin typeface="Verdana" panose="020B0604030504040204" pitchFamily="34" charset="0"/>
              </a:rPr>
              <a:t>COMPANY LOGO</a:t>
            </a:r>
          </a:p>
        </p:txBody>
      </p:sp>
      <p:sp>
        <p:nvSpPr>
          <p:cNvPr id="2053" name="未知">
            <a:extLst>
              <a:ext uri="{FF2B5EF4-FFF2-40B4-BE49-F238E27FC236}">
                <a16:creationId xmlns:a16="http://schemas.microsoft.com/office/drawing/2014/main" id="{1C5A9415-0ABF-4F07-91CC-4C3EFC37D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2147483646 h 291"/>
              <a:gd name="T2" fmla="*/ 2147483646 w 5764"/>
              <a:gd name="T3" fmla="*/ 2147483646 h 291"/>
              <a:gd name="T4" fmla="*/ 2147483646 w 5764"/>
              <a:gd name="T5" fmla="*/ 2147483646 h 291"/>
              <a:gd name="T6" fmla="*/ 2147483646 w 5764"/>
              <a:gd name="T7" fmla="*/ 2147483646 h 291"/>
              <a:gd name="T8" fmla="*/ 2147483646 w 5764"/>
              <a:gd name="T9" fmla="*/ 2147483646 h 291"/>
              <a:gd name="T10" fmla="*/ 2147483646 w 5764"/>
              <a:gd name="T11" fmla="*/ 2147483646 h 291"/>
              <a:gd name="T12" fmla="*/ 0 w 5764"/>
              <a:gd name="T13" fmla="*/ 2147483646 h 2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" name="文本占位符 1029">
            <a:extLst>
              <a:ext uri="{FF2B5EF4-FFF2-40B4-BE49-F238E27FC236}">
                <a16:creationId xmlns:a16="http://schemas.microsoft.com/office/drawing/2014/main" id="{81F7E4ED-F5A8-4352-B8EC-B186B97794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5" name="圆角矩形 1030">
            <a:extLst>
              <a:ext uri="{FF2B5EF4-FFF2-40B4-BE49-F238E27FC236}">
                <a16:creationId xmlns:a16="http://schemas.microsoft.com/office/drawing/2014/main" id="{2B7AE033-8E98-4397-910B-841C0EE79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2056" name="直接连接符 1031">
            <a:extLst>
              <a:ext uri="{FF2B5EF4-FFF2-40B4-BE49-F238E27FC236}">
                <a16:creationId xmlns:a16="http://schemas.microsoft.com/office/drawing/2014/main" id="{F4B62BFF-2F48-49EE-BEB6-545D665FC9D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7" name="标题 1032">
            <a:extLst>
              <a:ext uri="{FF2B5EF4-FFF2-40B4-BE49-F238E27FC236}">
                <a16:creationId xmlns:a16="http://schemas.microsoft.com/office/drawing/2014/main" id="{93407DA1-0A4F-4393-93CE-718F7B0FD8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2058" name="矩形 1033">
            <a:extLst>
              <a:ext uri="{FF2B5EF4-FFF2-40B4-BE49-F238E27FC236}">
                <a16:creationId xmlns:a16="http://schemas.microsoft.com/office/drawing/2014/main" id="{7CA0B6BD-9B0A-4D0F-8B67-E302E341E952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395288" y="6453188"/>
            <a:ext cx="2133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1400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025">
            <a:extLst>
              <a:ext uri="{FF2B5EF4-FFF2-40B4-BE49-F238E27FC236}">
                <a16:creationId xmlns:a16="http://schemas.microsoft.com/office/drawing/2014/main" id="{10573025-58FA-458F-8430-8D3F29CE7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DC1DFE0A-F212-4E92-B78A-5FD6F38D0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9213" y="6453188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Garamond" panose="02020404030301010803" pitchFamily="2" charset="0"/>
                <a:cs typeface="+mn-ea"/>
              </a:defRPr>
            </a:lvl1pPr>
          </a:lstStyle>
          <a:p>
            <a:pPr>
              <a:defRPr/>
            </a:pPr>
            <a:fld id="{3F9F5F8F-2BF2-4EA6-943A-A2C2BE3C0F19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Garamond" panose="02020404030301010803" pitchFamily="18" charset="0"/>
              <a:cs typeface="+mn-cs"/>
            </a:endParaRPr>
          </a:p>
        </p:txBody>
      </p:sp>
      <p:sp>
        <p:nvSpPr>
          <p:cNvPr id="3076" name="文本框 1027">
            <a:extLst>
              <a:ext uri="{FF2B5EF4-FFF2-40B4-BE49-F238E27FC236}">
                <a16:creationId xmlns:a16="http://schemas.microsoft.com/office/drawing/2014/main" id="{F1207738-E376-4FF8-936C-9869C2687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200" b="0">
                <a:solidFill>
                  <a:schemeClr val="bg1"/>
                </a:solidFill>
                <a:latin typeface="Verdana" panose="020B0604030504040204" pitchFamily="34" charset="0"/>
              </a:rPr>
              <a:t>COMPANY LOGO</a:t>
            </a:r>
          </a:p>
        </p:txBody>
      </p:sp>
      <p:sp>
        <p:nvSpPr>
          <p:cNvPr id="3077" name="未知">
            <a:extLst>
              <a:ext uri="{FF2B5EF4-FFF2-40B4-BE49-F238E27FC236}">
                <a16:creationId xmlns:a16="http://schemas.microsoft.com/office/drawing/2014/main" id="{B794E902-1CA0-4E9D-BCC5-67B655650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2147483646 h 291"/>
              <a:gd name="T2" fmla="*/ 2147483646 w 5764"/>
              <a:gd name="T3" fmla="*/ 2147483646 h 291"/>
              <a:gd name="T4" fmla="*/ 2147483646 w 5764"/>
              <a:gd name="T5" fmla="*/ 2147483646 h 291"/>
              <a:gd name="T6" fmla="*/ 2147483646 w 5764"/>
              <a:gd name="T7" fmla="*/ 2147483646 h 291"/>
              <a:gd name="T8" fmla="*/ 2147483646 w 5764"/>
              <a:gd name="T9" fmla="*/ 2147483646 h 291"/>
              <a:gd name="T10" fmla="*/ 2147483646 w 5764"/>
              <a:gd name="T11" fmla="*/ 2147483646 h 291"/>
              <a:gd name="T12" fmla="*/ 0 w 5764"/>
              <a:gd name="T13" fmla="*/ 2147483646 h 2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8" name="文本占位符 1029">
            <a:extLst>
              <a:ext uri="{FF2B5EF4-FFF2-40B4-BE49-F238E27FC236}">
                <a16:creationId xmlns:a16="http://schemas.microsoft.com/office/drawing/2014/main" id="{A2689BE7-BD23-4288-B515-F4BC6554A82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9" name="圆角矩形 1030">
            <a:extLst>
              <a:ext uri="{FF2B5EF4-FFF2-40B4-BE49-F238E27FC236}">
                <a16:creationId xmlns:a16="http://schemas.microsoft.com/office/drawing/2014/main" id="{C7E8539D-CDB7-478E-8557-D41A063B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3080" name="直接连接符 1031">
            <a:extLst>
              <a:ext uri="{FF2B5EF4-FFF2-40B4-BE49-F238E27FC236}">
                <a16:creationId xmlns:a16="http://schemas.microsoft.com/office/drawing/2014/main" id="{7C38F168-45D3-4E31-985E-40F077794B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1" name="标题 1032">
            <a:extLst>
              <a:ext uri="{FF2B5EF4-FFF2-40B4-BE49-F238E27FC236}">
                <a16:creationId xmlns:a16="http://schemas.microsoft.com/office/drawing/2014/main" id="{EA59774D-84B7-4F09-8D22-EB8001BF4F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3082" name="矩形 1033">
            <a:extLst>
              <a:ext uri="{FF2B5EF4-FFF2-40B4-BE49-F238E27FC236}">
                <a16:creationId xmlns:a16="http://schemas.microsoft.com/office/drawing/2014/main" id="{1E45F652-ABFD-4F2F-9D51-05325580B9F3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395288" y="6453188"/>
            <a:ext cx="2133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1400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  <p:sldLayoutId id="2147484485" r:id="rId8"/>
    <p:sldLayoutId id="2147484486" r:id="rId9"/>
    <p:sldLayoutId id="2147484487" r:id="rId10"/>
    <p:sldLayoutId id="214748448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025">
            <a:extLst>
              <a:ext uri="{FF2B5EF4-FFF2-40B4-BE49-F238E27FC236}">
                <a16:creationId xmlns:a16="http://schemas.microsoft.com/office/drawing/2014/main" id="{AB276965-E0B2-45E0-8D37-274E41DD4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D66EF97C-2FCE-4B48-AAC6-380A0561C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9213" y="6453188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Garamond" panose="02020404030301010803" pitchFamily="2" charset="0"/>
                <a:cs typeface="+mn-ea"/>
              </a:defRPr>
            </a:lvl1pPr>
          </a:lstStyle>
          <a:p>
            <a:pPr>
              <a:defRPr/>
            </a:pPr>
            <a:fld id="{7766279D-68F3-44F0-87D4-1FDE5ED0A9A7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Garamond" panose="02020404030301010803" pitchFamily="18" charset="0"/>
              <a:cs typeface="+mn-cs"/>
            </a:endParaRPr>
          </a:p>
        </p:txBody>
      </p:sp>
      <p:sp>
        <p:nvSpPr>
          <p:cNvPr id="4100" name="文本框 1027">
            <a:extLst>
              <a:ext uri="{FF2B5EF4-FFF2-40B4-BE49-F238E27FC236}">
                <a16:creationId xmlns:a16="http://schemas.microsoft.com/office/drawing/2014/main" id="{31E030B8-8917-42CF-AF59-67002E6E2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200" b="0">
                <a:solidFill>
                  <a:schemeClr val="bg1"/>
                </a:solidFill>
                <a:latin typeface="Verdana" panose="020B0604030504040204" pitchFamily="34" charset="0"/>
              </a:rPr>
              <a:t>COMPANY LOGO</a:t>
            </a:r>
          </a:p>
        </p:txBody>
      </p:sp>
      <p:sp>
        <p:nvSpPr>
          <p:cNvPr id="4101" name="未知">
            <a:extLst>
              <a:ext uri="{FF2B5EF4-FFF2-40B4-BE49-F238E27FC236}">
                <a16:creationId xmlns:a16="http://schemas.microsoft.com/office/drawing/2014/main" id="{786BEC11-2838-4E78-9A8A-963D45EAD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2147483646 h 291"/>
              <a:gd name="T2" fmla="*/ 2147483646 w 5764"/>
              <a:gd name="T3" fmla="*/ 2147483646 h 291"/>
              <a:gd name="T4" fmla="*/ 2147483646 w 5764"/>
              <a:gd name="T5" fmla="*/ 2147483646 h 291"/>
              <a:gd name="T6" fmla="*/ 2147483646 w 5764"/>
              <a:gd name="T7" fmla="*/ 2147483646 h 291"/>
              <a:gd name="T8" fmla="*/ 2147483646 w 5764"/>
              <a:gd name="T9" fmla="*/ 2147483646 h 291"/>
              <a:gd name="T10" fmla="*/ 2147483646 w 5764"/>
              <a:gd name="T11" fmla="*/ 2147483646 h 291"/>
              <a:gd name="T12" fmla="*/ 0 w 5764"/>
              <a:gd name="T13" fmla="*/ 2147483646 h 2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2" name="文本占位符 1029">
            <a:extLst>
              <a:ext uri="{FF2B5EF4-FFF2-40B4-BE49-F238E27FC236}">
                <a16:creationId xmlns:a16="http://schemas.microsoft.com/office/drawing/2014/main" id="{364CFA65-D738-400E-A4C9-8A3EACEBCD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103" name="圆角矩形 1030">
            <a:extLst>
              <a:ext uri="{FF2B5EF4-FFF2-40B4-BE49-F238E27FC236}">
                <a16:creationId xmlns:a16="http://schemas.microsoft.com/office/drawing/2014/main" id="{3C6848D7-A5A5-4DB0-A302-5CB36E4E3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4104" name="直接连接符 1031">
            <a:extLst>
              <a:ext uri="{FF2B5EF4-FFF2-40B4-BE49-F238E27FC236}">
                <a16:creationId xmlns:a16="http://schemas.microsoft.com/office/drawing/2014/main" id="{3AFE4ADC-7614-4F39-9F96-C7D83D5BF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5" name="标题 1032">
            <a:extLst>
              <a:ext uri="{FF2B5EF4-FFF2-40B4-BE49-F238E27FC236}">
                <a16:creationId xmlns:a16="http://schemas.microsoft.com/office/drawing/2014/main" id="{3339341B-A6D1-4920-8307-B19CA4C4C5A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4106" name="矩形 1033">
            <a:extLst>
              <a:ext uri="{FF2B5EF4-FFF2-40B4-BE49-F238E27FC236}">
                <a16:creationId xmlns:a16="http://schemas.microsoft.com/office/drawing/2014/main" id="{2D25FA2B-5A88-45FE-A6D2-D6D61786B142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395288" y="6453188"/>
            <a:ext cx="2133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1400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89" r:id="rId1"/>
    <p:sldLayoutId id="2147484490" r:id="rId2"/>
    <p:sldLayoutId id="2147484491" r:id="rId3"/>
    <p:sldLayoutId id="2147484492" r:id="rId4"/>
    <p:sldLayoutId id="2147484493" r:id="rId5"/>
    <p:sldLayoutId id="2147484494" r:id="rId6"/>
    <p:sldLayoutId id="2147484495" r:id="rId7"/>
    <p:sldLayoutId id="2147484496" r:id="rId8"/>
    <p:sldLayoutId id="2147484497" r:id="rId9"/>
    <p:sldLayoutId id="2147484498" r:id="rId10"/>
    <p:sldLayoutId id="214748449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5.wmf"/><Relationship Id="rId9" Type="http://schemas.openxmlformats.org/officeDocument/2006/relationships/image" Target="../media/image18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9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2.e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7.bin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8.emf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0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3.w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6.png"/><Relationship Id="rId4" Type="http://schemas.openxmlformats.org/officeDocument/2006/relationships/image" Target="../media/image33.w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oleObject" Target="../embeddings/oleObject16.bin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6.png"/><Relationship Id="rId4" Type="http://schemas.openxmlformats.org/officeDocument/2006/relationships/image" Target="../media/image33.wmf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.png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0.wmf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1.wmf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1.wmf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1.wmf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6">
            <a:extLst>
              <a:ext uri="{FF2B5EF4-FFF2-40B4-BE49-F238E27FC236}">
                <a16:creationId xmlns:a16="http://schemas.microsoft.com/office/drawing/2014/main" id="{84787A90-4994-42E3-A520-A41849FA3611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325438" y="190500"/>
            <a:ext cx="8226425" cy="790575"/>
          </a:xfrm>
        </p:spPr>
        <p:txBody>
          <a:bodyPr/>
          <a:lstStyle/>
          <a:p>
            <a:pPr eaLnBrk="1" hangingPunct="1"/>
            <a:r>
              <a:rPr lang="zh-CN" altLang="en-US" sz="4000" b="1">
                <a:latin typeface="仿宋" panose="02010609060101010101" pitchFamily="49" charset="-122"/>
                <a:ea typeface="仿宋" panose="02010609060101010101" pitchFamily="49" charset="-122"/>
              </a:rPr>
              <a:t>第二章 </a:t>
            </a:r>
            <a:r>
              <a:rPr lang="en-US" altLang="zh-CN" sz="4000" b="1">
                <a:latin typeface="仿宋" panose="02010609060101010101" pitchFamily="49" charset="-122"/>
                <a:ea typeface="仿宋" panose="02010609060101010101" pitchFamily="49" charset="-122"/>
              </a:rPr>
              <a:t>8086</a:t>
            </a:r>
            <a:r>
              <a:rPr lang="zh-CN" altLang="en-US" sz="4000" b="1">
                <a:latin typeface="仿宋" panose="02010609060101010101" pitchFamily="49" charset="-122"/>
                <a:ea typeface="仿宋" panose="02010609060101010101" pitchFamily="49" charset="-122"/>
              </a:rPr>
              <a:t>微型计算机体系结构</a:t>
            </a:r>
          </a:p>
        </p:txBody>
      </p:sp>
      <p:grpSp>
        <p:nvGrpSpPr>
          <p:cNvPr id="51203" name="组合 4098">
            <a:extLst>
              <a:ext uri="{FF2B5EF4-FFF2-40B4-BE49-F238E27FC236}">
                <a16:creationId xmlns:a16="http://schemas.microsoft.com/office/drawing/2014/main" id="{EEC95B69-7F99-4B4A-BBA1-14C9D53BB8D4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2433638"/>
            <a:ext cx="6705600" cy="641350"/>
            <a:chOff x="0" y="0"/>
            <a:chExt cx="4224" cy="404"/>
          </a:xfrm>
        </p:grpSpPr>
        <p:sp>
          <p:nvSpPr>
            <p:cNvPr id="51211" name="Text Box 29">
              <a:hlinkClick r:id="rId2" action="ppaction://hlinksldjump"/>
              <a:extLst>
                <a:ext uri="{FF2B5EF4-FFF2-40B4-BE49-F238E27FC236}">
                  <a16:creationId xmlns:a16="http://schemas.microsoft.com/office/drawing/2014/main" id="{C50FD6CB-11C2-4776-B1EE-8FDC9D2D8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422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3600">
                  <a:latin typeface="宋体" panose="02010600030101010101" pitchFamily="2" charset="-122"/>
                </a:rPr>
                <a:t>      </a:t>
              </a:r>
              <a:r>
                <a:rPr lang="en-US" altLang="zh-CN" sz="3600">
                  <a:latin typeface="宋体" panose="02010600030101010101" pitchFamily="2" charset="-122"/>
                </a:rPr>
                <a:t>1.8086CPU</a:t>
              </a:r>
              <a:r>
                <a:rPr lang="zh-CN" altLang="en-US" sz="3600">
                  <a:latin typeface="宋体" panose="02010600030101010101" pitchFamily="2" charset="-122"/>
                </a:rPr>
                <a:t>的结构</a:t>
              </a:r>
            </a:p>
          </p:txBody>
        </p:sp>
        <p:pic>
          <p:nvPicPr>
            <p:cNvPr id="51212" name="Picture 30" descr="black">
              <a:extLst>
                <a:ext uri="{FF2B5EF4-FFF2-40B4-BE49-F238E27FC236}">
                  <a16:creationId xmlns:a16="http://schemas.microsoft.com/office/drawing/2014/main" id="{E1C7143C-958A-43EA-A78E-49AA4CA72391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48" y="126"/>
              <a:ext cx="192" cy="191"/>
            </a:xfrm>
            <a:prstGeom prst="rect">
              <a:avLst/>
            </a:prstGeom>
            <a:gradFill rotWithShape="0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204" name="组合 4101">
            <a:extLst>
              <a:ext uri="{FF2B5EF4-FFF2-40B4-BE49-F238E27FC236}">
                <a16:creationId xmlns:a16="http://schemas.microsoft.com/office/drawing/2014/main" id="{9F2A3142-FF20-44CD-B0A5-29B5CECD9D54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3074988"/>
            <a:ext cx="6705600" cy="641350"/>
            <a:chOff x="0" y="0"/>
            <a:chExt cx="4224" cy="404"/>
          </a:xfrm>
        </p:grpSpPr>
        <p:sp>
          <p:nvSpPr>
            <p:cNvPr id="51209" name="Text Box 32">
              <a:hlinkClick r:id="rId2" action="ppaction://hlinksldjump"/>
              <a:extLst>
                <a:ext uri="{FF2B5EF4-FFF2-40B4-BE49-F238E27FC236}">
                  <a16:creationId xmlns:a16="http://schemas.microsoft.com/office/drawing/2014/main" id="{227D99FE-FCBD-4A13-8675-43809C20A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422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3600">
                  <a:latin typeface="宋体" panose="02010600030101010101" pitchFamily="2" charset="-122"/>
                </a:rPr>
                <a:t>      </a:t>
              </a:r>
              <a:r>
                <a:rPr lang="en-US" altLang="zh-CN" sz="3600">
                  <a:latin typeface="宋体" panose="02010600030101010101" pitchFamily="2" charset="-122"/>
                </a:rPr>
                <a:t>2.8086</a:t>
              </a:r>
              <a:r>
                <a:rPr lang="zh-CN" altLang="en-US" sz="3600">
                  <a:latin typeface="宋体" panose="02010600030101010101" pitchFamily="2" charset="-122"/>
                </a:rPr>
                <a:t>的存储器组织</a:t>
              </a:r>
            </a:p>
          </p:txBody>
        </p:sp>
        <p:pic>
          <p:nvPicPr>
            <p:cNvPr id="51210" name="Picture 33" descr="black">
              <a:extLst>
                <a:ext uri="{FF2B5EF4-FFF2-40B4-BE49-F238E27FC236}">
                  <a16:creationId xmlns:a16="http://schemas.microsoft.com/office/drawing/2014/main" id="{64A5CB61-8610-4D82-8D89-1E1D03E33B5D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48" y="126"/>
              <a:ext cx="192" cy="191"/>
            </a:xfrm>
            <a:prstGeom prst="rect">
              <a:avLst/>
            </a:prstGeom>
            <a:gradFill rotWithShape="0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205" name="组合 4104">
            <a:extLst>
              <a:ext uri="{FF2B5EF4-FFF2-40B4-BE49-F238E27FC236}">
                <a16:creationId xmlns:a16="http://schemas.microsoft.com/office/drawing/2014/main" id="{7C3670AF-06AB-48E4-8AA1-1B72AB11B44D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3795713"/>
            <a:ext cx="6705600" cy="641350"/>
            <a:chOff x="0" y="0"/>
            <a:chExt cx="4224" cy="405"/>
          </a:xfrm>
        </p:grpSpPr>
        <p:sp>
          <p:nvSpPr>
            <p:cNvPr id="51207" name="Text Box 35">
              <a:hlinkClick r:id="rId2" action="ppaction://hlinksldjump"/>
              <a:extLst>
                <a:ext uri="{FF2B5EF4-FFF2-40B4-BE49-F238E27FC236}">
                  <a16:creationId xmlns:a16="http://schemas.microsoft.com/office/drawing/2014/main" id="{31071E38-EB28-4510-8161-DA92F2EEB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4224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3600">
                  <a:latin typeface="宋体" panose="02010600030101010101" pitchFamily="2" charset="-122"/>
                </a:rPr>
                <a:t>      </a:t>
              </a:r>
              <a:r>
                <a:rPr lang="en-US" altLang="zh-CN" sz="3600">
                  <a:latin typeface="宋体" panose="02010600030101010101" pitchFamily="2" charset="-122"/>
                </a:rPr>
                <a:t>3.8086</a:t>
              </a:r>
              <a:r>
                <a:rPr lang="zh-CN" altLang="en-US" sz="3600">
                  <a:latin typeface="宋体" panose="02010600030101010101" pitchFamily="2" charset="-122"/>
                </a:rPr>
                <a:t>总线操作及时序</a:t>
              </a:r>
            </a:p>
          </p:txBody>
        </p:sp>
        <p:pic>
          <p:nvPicPr>
            <p:cNvPr id="51208" name="Picture 36" descr="black">
              <a:extLst>
                <a:ext uri="{FF2B5EF4-FFF2-40B4-BE49-F238E27FC236}">
                  <a16:creationId xmlns:a16="http://schemas.microsoft.com/office/drawing/2014/main" id="{0BF2C35C-7500-458C-9908-23EF3BFE5002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48" y="126"/>
              <a:ext cx="192" cy="191"/>
            </a:xfrm>
            <a:prstGeom prst="rect">
              <a:avLst/>
            </a:prstGeom>
            <a:gradFill rotWithShape="0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51" name="灯片编号占位符 1">
            <a:extLst>
              <a:ext uri="{FF2B5EF4-FFF2-40B4-BE49-F238E27FC236}">
                <a16:creationId xmlns:a16="http://schemas.microsoft.com/office/drawing/2014/main" id="{C27A3DFC-54D7-4F4E-842C-ED70F09916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14C69B1-1467-4FF4-9E97-0424FA7B3282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104FAB77-9718-4091-A108-674A1086F6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1125538"/>
            <a:ext cx="8229600" cy="47656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0">
                <a:solidFill>
                  <a:schemeClr val="tx2"/>
                </a:solidFill>
                <a:ea typeface="宋体" panose="02010600030101010101" pitchFamily="2" charset="-122"/>
              </a:rPr>
              <a:t>1、基本介绍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8086是单片集成电路，内部由执行单元EU和总线接口单元BIU组成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数据总线（D0~D15）和内部结构都是</a:t>
            </a:r>
            <a:r>
              <a:rPr lang="zh-CN" altLang="en-US" sz="2600" b="0">
                <a:solidFill>
                  <a:schemeClr val="hlink"/>
                </a:solidFill>
                <a:ea typeface="宋体" panose="02010600030101010101" pitchFamily="2" charset="-122"/>
              </a:rPr>
              <a:t>16位</a:t>
            </a:r>
            <a:r>
              <a:rPr lang="zh-CN" altLang="en-US" sz="2600" b="0">
                <a:ea typeface="宋体" panose="02010600030101010101" pitchFamily="2" charset="-122"/>
              </a:rPr>
              <a:t>的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能处理</a:t>
            </a:r>
            <a:r>
              <a:rPr lang="zh-CN" altLang="en-US" sz="2600" b="0">
                <a:solidFill>
                  <a:schemeClr val="hlink"/>
                </a:solidFill>
                <a:ea typeface="宋体" panose="02010600030101010101" pitchFamily="2" charset="-122"/>
              </a:rPr>
              <a:t>16位</a:t>
            </a:r>
            <a:r>
              <a:rPr lang="zh-CN" altLang="en-US" sz="2600" b="0">
                <a:ea typeface="宋体" panose="02010600030101010101" pitchFamily="2" charset="-122"/>
              </a:rPr>
              <a:t>数据，也能处理</a:t>
            </a:r>
            <a:r>
              <a:rPr lang="zh-CN" altLang="en-US" sz="2600" b="0">
                <a:solidFill>
                  <a:schemeClr val="hlink"/>
                </a:solidFill>
                <a:ea typeface="宋体" panose="02010600030101010101" pitchFamily="2" charset="-122"/>
              </a:rPr>
              <a:t>8位</a:t>
            </a:r>
            <a:r>
              <a:rPr lang="zh-CN" altLang="en-US" sz="2600" b="0">
                <a:ea typeface="宋体" panose="02010600030101010101" pitchFamily="2" charset="-122"/>
              </a:rPr>
              <a:t>数据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地址总线（A0~A19）是20位的，直接寻址能力达</a:t>
            </a:r>
            <a:r>
              <a:rPr lang="zh-CN" altLang="en-US" sz="2600" b="0">
                <a:solidFill>
                  <a:schemeClr val="hlink"/>
                </a:solidFill>
                <a:ea typeface="宋体" panose="02010600030101010101" pitchFamily="2" charset="-122"/>
              </a:rPr>
              <a:t>1M字节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系统时钟为</a:t>
            </a:r>
            <a:r>
              <a:rPr lang="zh-CN" altLang="en-US" sz="2600" b="0">
                <a:solidFill>
                  <a:schemeClr val="hlink"/>
                </a:solidFill>
                <a:ea typeface="宋体" panose="02010600030101010101" pitchFamily="2" charset="-122"/>
              </a:rPr>
              <a:t>5MHz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HMOS工艺，40引脚，+5V供电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有</a:t>
            </a:r>
            <a:r>
              <a:rPr lang="zh-CN" altLang="en-US" sz="2600" b="0">
                <a:solidFill>
                  <a:schemeClr val="hlink"/>
                </a:solidFill>
                <a:ea typeface="宋体" panose="02010600030101010101" pitchFamily="2" charset="-122"/>
              </a:rPr>
              <a:t>4组</a:t>
            </a:r>
            <a:r>
              <a:rPr lang="zh-CN" altLang="en-US" sz="2600" b="0">
                <a:ea typeface="宋体" panose="02010600030101010101" pitchFamily="2" charset="-122"/>
              </a:rPr>
              <a:t>寄存器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FCBBCC7-30DA-491C-A970-643DBAA178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0"/>
            <a:ext cx="7775575" cy="11049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2.1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8086 CPU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的结构</a:t>
            </a:r>
          </a:p>
        </p:txBody>
      </p:sp>
      <p:pic>
        <p:nvPicPr>
          <p:cNvPr id="52228" name="Picture 9" descr="8086">
            <a:extLst>
              <a:ext uri="{FF2B5EF4-FFF2-40B4-BE49-F238E27FC236}">
                <a16:creationId xmlns:a16="http://schemas.microsoft.com/office/drawing/2014/main" id="{93726146-84C4-4AB0-8001-AD133544A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5013325"/>
            <a:ext cx="2338387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灯片编号占位符 1">
            <a:extLst>
              <a:ext uri="{FF2B5EF4-FFF2-40B4-BE49-F238E27FC236}">
                <a16:creationId xmlns:a16="http://schemas.microsoft.com/office/drawing/2014/main" id="{8C52D233-DD74-4ED5-B446-02B4D653594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7F6BA71-EDFB-4AA2-94A5-B6C05FAA3A6B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03056655-EBA8-4102-B4C2-F71D0FFF2FF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0"/>
            <a:ext cx="7775575" cy="11049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2.1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8086 CPU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的结构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--overview</a:t>
            </a:r>
          </a:p>
        </p:txBody>
      </p:sp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A4BE3B9B-4E1B-411F-8896-CDBC2899EE3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0289127-BD4B-4C91-9AED-90988D79C071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</a:t>
            </a:fld>
            <a:endParaRPr lang="zh-CN" altLang="en-US">
              <a:latin typeface="Garamond" panose="02020404030301010803" pitchFamily="18" charset="0"/>
            </a:endParaRPr>
          </a:p>
        </p:txBody>
      </p:sp>
      <p:grpSp>
        <p:nvGrpSpPr>
          <p:cNvPr id="53252" name="组合 17">
            <a:extLst>
              <a:ext uri="{FF2B5EF4-FFF2-40B4-BE49-F238E27FC236}">
                <a16:creationId xmlns:a16="http://schemas.microsoft.com/office/drawing/2014/main" id="{AA884C0D-EAC6-4501-8C91-099C61FBDCFA}"/>
              </a:ext>
            </a:extLst>
          </p:cNvPr>
          <p:cNvGrpSpPr>
            <a:grpSpLocks/>
          </p:cNvGrpSpPr>
          <p:nvPr/>
        </p:nvGrpSpPr>
        <p:grpSpPr bwMode="auto">
          <a:xfrm>
            <a:off x="922338" y="941388"/>
            <a:ext cx="8018462" cy="5511800"/>
            <a:chOff x="1537" y="1537"/>
            <a:chExt cx="11498" cy="8610"/>
          </a:xfrm>
        </p:grpSpPr>
        <p:grpSp>
          <p:nvGrpSpPr>
            <p:cNvPr id="53258" name="组合 13313">
              <a:extLst>
                <a:ext uri="{FF2B5EF4-FFF2-40B4-BE49-F238E27FC236}">
                  <a16:creationId xmlns:a16="http://schemas.microsoft.com/office/drawing/2014/main" id="{F726D6BF-CB35-4383-B08A-23173C5789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015" y="8305"/>
              <a:ext cx="2115" cy="742"/>
              <a:chOff x="0" y="0"/>
              <a:chExt cx="846" cy="297"/>
            </a:xfrm>
          </p:grpSpPr>
          <p:sp>
            <p:nvSpPr>
              <p:cNvPr id="53350" name="Line 6">
                <a:extLst>
                  <a:ext uri="{FF2B5EF4-FFF2-40B4-BE49-F238E27FC236}">
                    <a16:creationId xmlns:a16="http://schemas.microsoft.com/office/drawing/2014/main" id="{C4E35295-B41F-4840-8BDB-C1B6759AC17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53" y="263"/>
                <a:ext cx="417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1" name="Line 7">
                <a:extLst>
                  <a:ext uri="{FF2B5EF4-FFF2-40B4-BE49-F238E27FC236}">
                    <a16:creationId xmlns:a16="http://schemas.microsoft.com/office/drawing/2014/main" id="{546F8C11-EBC0-4D8F-95F4-6A61DBA0692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0" y="2"/>
                <a:ext cx="246" cy="263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2" name="Line 8">
                <a:extLst>
                  <a:ext uri="{FF2B5EF4-FFF2-40B4-BE49-F238E27FC236}">
                    <a16:creationId xmlns:a16="http://schemas.microsoft.com/office/drawing/2014/main" id="{687EB842-4131-4ACF-A1F4-5D539C535C5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" y="4"/>
                <a:ext cx="213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3" name="Line 9">
                <a:extLst>
                  <a:ext uri="{FF2B5EF4-FFF2-40B4-BE49-F238E27FC236}">
                    <a16:creationId xmlns:a16="http://schemas.microsoft.com/office/drawing/2014/main" id="{DAD33F97-722A-407A-8396-6FBDCEDFBA9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" y="2"/>
                <a:ext cx="115" cy="102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4" name="Line 10">
                <a:extLst>
                  <a:ext uri="{FF2B5EF4-FFF2-40B4-BE49-F238E27FC236}">
                    <a16:creationId xmlns:a16="http://schemas.microsoft.com/office/drawing/2014/main" id="{1B61852B-41B0-4CB5-A6AD-B4541A7084C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5" y="100"/>
                <a:ext cx="17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5" name="Line 11">
                <a:extLst>
                  <a:ext uri="{FF2B5EF4-FFF2-40B4-BE49-F238E27FC236}">
                    <a16:creationId xmlns:a16="http://schemas.microsoft.com/office/drawing/2014/main" id="{A76B136D-3391-407D-9FBE-280050111BF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529" y="0"/>
                <a:ext cx="133" cy="10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6" name="Line 12">
                <a:extLst>
                  <a:ext uri="{FF2B5EF4-FFF2-40B4-BE49-F238E27FC236}">
                    <a16:creationId xmlns:a16="http://schemas.microsoft.com/office/drawing/2014/main" id="{5754D581-64EB-4633-B779-FF88835909F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2" y="8"/>
                <a:ext cx="19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7" name="Line 13">
                <a:extLst>
                  <a:ext uri="{FF2B5EF4-FFF2-40B4-BE49-F238E27FC236}">
                    <a16:creationId xmlns:a16="http://schemas.microsoft.com/office/drawing/2014/main" id="{B8834479-1259-45F0-AA4C-7AA9B16F859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662" y="12"/>
                <a:ext cx="180" cy="251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8" name="Text Box 14">
                <a:extLst>
                  <a:ext uri="{FF2B5EF4-FFF2-40B4-BE49-F238E27FC236}">
                    <a16:creationId xmlns:a16="http://schemas.microsoft.com/office/drawing/2014/main" id="{7EFFAEF2-46D6-4D91-8919-805CCC1F519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8" y="70"/>
                <a:ext cx="43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200">
                    <a:latin typeface="Times New Roman" panose="02020603050405020304" pitchFamily="18" charset="0"/>
                  </a:rPr>
                  <a:t>ALU</a:t>
                </a:r>
              </a:p>
            </p:txBody>
          </p:sp>
        </p:grpSp>
        <p:grpSp>
          <p:nvGrpSpPr>
            <p:cNvPr id="53259" name="组合 13323">
              <a:extLst>
                <a:ext uri="{FF2B5EF4-FFF2-40B4-BE49-F238E27FC236}">
                  <a16:creationId xmlns:a16="http://schemas.microsoft.com/office/drawing/2014/main" id="{86B183FE-168E-40E7-B2DB-90C71565D6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162" y="7357"/>
              <a:ext cx="1887" cy="957"/>
              <a:chOff x="0" y="0"/>
              <a:chExt cx="755" cy="383"/>
            </a:xfrm>
          </p:grpSpPr>
          <p:sp>
            <p:nvSpPr>
              <p:cNvPr id="53347" name="Text Box 16">
                <a:extLst>
                  <a:ext uri="{FF2B5EF4-FFF2-40B4-BE49-F238E27FC236}">
                    <a16:creationId xmlns:a16="http://schemas.microsoft.com/office/drawing/2014/main" id="{8FA6FABB-048B-45CE-9168-41BE505908C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755" cy="20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暂 存 器</a:t>
                </a:r>
              </a:p>
            </p:txBody>
          </p:sp>
          <p:sp>
            <p:nvSpPr>
              <p:cNvPr id="53348" name="AutoShape 17">
                <a:extLst>
                  <a:ext uri="{FF2B5EF4-FFF2-40B4-BE49-F238E27FC236}">
                    <a16:creationId xmlns:a16="http://schemas.microsoft.com/office/drawing/2014/main" id="{1F7F8899-1F02-4E68-A6D5-DAF9832B04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" y="208"/>
                <a:ext cx="142" cy="175"/>
              </a:xfrm>
              <a:prstGeom prst="downArrow">
                <a:avLst>
                  <a:gd name="adj1" fmla="val 50000"/>
                  <a:gd name="adj2" fmla="val 30707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3349" name="AutoShape 18">
                <a:extLst>
                  <a:ext uri="{FF2B5EF4-FFF2-40B4-BE49-F238E27FC236}">
                    <a16:creationId xmlns:a16="http://schemas.microsoft.com/office/drawing/2014/main" id="{F83553AA-6136-401A-BFE2-859703F446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6" y="208"/>
                <a:ext cx="143" cy="175"/>
              </a:xfrm>
              <a:prstGeom prst="downArrow">
                <a:avLst>
                  <a:gd name="adj1" fmla="val 50000"/>
                  <a:gd name="adj2" fmla="val 30492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grpSp>
          <p:nvGrpSpPr>
            <p:cNvPr id="53260" name="组合 13327">
              <a:extLst>
                <a:ext uri="{FF2B5EF4-FFF2-40B4-BE49-F238E27FC236}">
                  <a16:creationId xmlns:a16="http://schemas.microsoft.com/office/drawing/2014/main" id="{86AEDA6C-9723-4F14-AADE-B163BA49DB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502" y="6850"/>
              <a:ext cx="1417" cy="3042"/>
              <a:chOff x="0" y="0"/>
              <a:chExt cx="567" cy="1217"/>
            </a:xfrm>
          </p:grpSpPr>
          <p:sp>
            <p:nvSpPr>
              <p:cNvPr id="53344" name="AutoShape 22">
                <a:extLst>
                  <a:ext uri="{FF2B5EF4-FFF2-40B4-BE49-F238E27FC236}">
                    <a16:creationId xmlns:a16="http://schemas.microsoft.com/office/drawing/2014/main" id="{B78B3E58-3CCC-4FBE-A63E-814BF857C2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0" y="670"/>
                <a:ext cx="567" cy="48"/>
              </a:xfrm>
              <a:prstGeom prst="leftArrow">
                <a:avLst>
                  <a:gd name="adj1" fmla="val 50000"/>
                  <a:gd name="adj2" fmla="val 294875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3345" name="AutoShape 23">
                <a:extLst>
                  <a:ext uri="{FF2B5EF4-FFF2-40B4-BE49-F238E27FC236}">
                    <a16:creationId xmlns:a16="http://schemas.microsoft.com/office/drawing/2014/main" id="{C38B0773-D3AE-4203-A679-6E1BBFB04D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3" y="0"/>
                <a:ext cx="60" cy="683"/>
              </a:xfrm>
              <a:prstGeom prst="upArrow">
                <a:avLst>
                  <a:gd name="adj1" fmla="val 50000"/>
                  <a:gd name="adj2" fmla="val 283635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3346" name="Text Box 24">
                <a:extLst>
                  <a:ext uri="{FF2B5EF4-FFF2-40B4-BE49-F238E27FC236}">
                    <a16:creationId xmlns:a16="http://schemas.microsoft.com/office/drawing/2014/main" id="{85BEE948-FCBA-4DE0-BC0C-CCA4A9B291A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1" y="781"/>
                <a:ext cx="514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8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位队列总线</a:t>
                </a:r>
              </a:p>
            </p:txBody>
          </p:sp>
        </p:grpSp>
        <p:sp>
          <p:nvSpPr>
            <p:cNvPr id="53261" name="Text Box 25">
              <a:extLst>
                <a:ext uri="{FF2B5EF4-FFF2-40B4-BE49-F238E27FC236}">
                  <a16:creationId xmlns:a16="http://schemas.microsoft.com/office/drawing/2014/main" id="{F2C30CD1-7B2D-4A4E-9DCA-A7D6C417FDC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95" y="1590"/>
              <a:ext cx="612" cy="800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900" b="0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总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线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控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制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逻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辑</a:t>
              </a:r>
            </a:p>
          </p:txBody>
        </p:sp>
        <p:grpSp>
          <p:nvGrpSpPr>
            <p:cNvPr id="53262" name="组合 13337">
              <a:extLst>
                <a:ext uri="{FF2B5EF4-FFF2-40B4-BE49-F238E27FC236}">
                  <a16:creationId xmlns:a16="http://schemas.microsoft.com/office/drawing/2014/main" id="{CD1D72CB-2C4D-4D33-8D4A-C9D8739316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45" y="2490"/>
              <a:ext cx="2105" cy="695"/>
              <a:chOff x="0" y="0"/>
              <a:chExt cx="842" cy="278"/>
            </a:xfrm>
          </p:grpSpPr>
          <p:sp>
            <p:nvSpPr>
              <p:cNvPr id="53335" name="Line 32">
                <a:extLst>
                  <a:ext uri="{FF2B5EF4-FFF2-40B4-BE49-F238E27FC236}">
                    <a16:creationId xmlns:a16="http://schemas.microsoft.com/office/drawing/2014/main" id="{21078231-AC22-4BAF-A203-954E794A46F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253" y="0"/>
                <a:ext cx="418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6" name="Line 33">
                <a:extLst>
                  <a:ext uri="{FF2B5EF4-FFF2-40B4-BE49-F238E27FC236}">
                    <a16:creationId xmlns:a16="http://schemas.microsoft.com/office/drawing/2014/main" id="{3BDAD6EE-4EF0-49E5-A689-CFE6DD4BF5A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0" y="5"/>
                <a:ext cx="247" cy="263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7" name="Line 34">
                <a:extLst>
                  <a:ext uri="{FF2B5EF4-FFF2-40B4-BE49-F238E27FC236}">
                    <a16:creationId xmlns:a16="http://schemas.microsoft.com/office/drawing/2014/main" id="{A3C8EE6A-198D-4066-8AFD-019F2CB7547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" y="278"/>
                <a:ext cx="212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8" name="Line 35">
                <a:extLst>
                  <a:ext uri="{FF2B5EF4-FFF2-40B4-BE49-F238E27FC236}">
                    <a16:creationId xmlns:a16="http://schemas.microsoft.com/office/drawing/2014/main" id="{1D0C7987-4A65-4DE6-90BE-651A407305E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8" y="174"/>
                <a:ext cx="115" cy="102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9" name="Line 36">
                <a:extLst>
                  <a:ext uri="{FF2B5EF4-FFF2-40B4-BE49-F238E27FC236}">
                    <a16:creationId xmlns:a16="http://schemas.microsoft.com/office/drawing/2014/main" id="{39A2D35E-EF6D-4F2A-94C6-773AD545EC2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46" y="164"/>
                <a:ext cx="17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0" name="Line 37">
                <a:extLst>
                  <a:ext uri="{FF2B5EF4-FFF2-40B4-BE49-F238E27FC236}">
                    <a16:creationId xmlns:a16="http://schemas.microsoft.com/office/drawing/2014/main" id="{96ECB045-E6DA-4843-8CA6-85FF53665E2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16" y="166"/>
                <a:ext cx="133" cy="10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1" name="Line 38">
                <a:extLst>
                  <a:ext uri="{FF2B5EF4-FFF2-40B4-BE49-F238E27FC236}">
                    <a16:creationId xmlns:a16="http://schemas.microsoft.com/office/drawing/2014/main" id="{55DA0D65-BFAB-40F7-A3C7-1BC99DC7B23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40" y="262"/>
                <a:ext cx="193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2" name="Line 39">
                <a:extLst>
                  <a:ext uri="{FF2B5EF4-FFF2-40B4-BE49-F238E27FC236}">
                    <a16:creationId xmlns:a16="http://schemas.microsoft.com/office/drawing/2014/main" id="{EE6C9C58-98C9-4C9D-8912-3197F4B9614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663" y="15"/>
                <a:ext cx="179" cy="251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3" name="Text Box 40">
                <a:extLst>
                  <a:ext uri="{FF2B5EF4-FFF2-40B4-BE49-F238E27FC236}">
                    <a16:creationId xmlns:a16="http://schemas.microsoft.com/office/drawing/2014/main" id="{16665487-5E1D-46C8-A979-CDA8FD967A9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6" y="38"/>
                <a:ext cx="589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400">
                    <a:latin typeface="Times New Roman" panose="02020603050405020304" pitchFamily="18" charset="0"/>
                  </a:rPr>
                  <a:t>地址加法器</a:t>
                </a:r>
              </a:p>
            </p:txBody>
          </p:sp>
        </p:grpSp>
        <p:sp>
          <p:nvSpPr>
            <p:cNvPr id="53263" name="Text Box 41">
              <a:extLst>
                <a:ext uri="{FF2B5EF4-FFF2-40B4-BE49-F238E27FC236}">
                  <a16:creationId xmlns:a16="http://schemas.microsoft.com/office/drawing/2014/main" id="{A2082BF8-22BC-4A6E-B818-29D4A3825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35" y="1957"/>
              <a:ext cx="1397" cy="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20</a:t>
              </a:r>
              <a:r>
                <a:rPr lang="zh-CN" altLang="en-US" sz="2000">
                  <a:latin typeface="Times New Roman" panose="02020603050405020304" pitchFamily="18" charset="0"/>
                </a:rPr>
                <a:t>位地址总线</a:t>
              </a:r>
            </a:p>
          </p:txBody>
        </p:sp>
        <p:sp>
          <p:nvSpPr>
            <p:cNvPr id="53264" name="AutoShape 42">
              <a:extLst>
                <a:ext uri="{FF2B5EF4-FFF2-40B4-BE49-F238E27FC236}">
                  <a16:creationId xmlns:a16="http://schemas.microsoft.com/office/drawing/2014/main" id="{1E559393-B9B7-4FE9-B372-8F9305B28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" y="3110"/>
              <a:ext cx="2322" cy="370"/>
            </a:xfrm>
            <a:prstGeom prst="leftRightArrow">
              <a:avLst>
                <a:gd name="adj1" fmla="val 50000"/>
                <a:gd name="adj2" fmla="val 124991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3265" name="Text Box 43">
              <a:extLst>
                <a:ext uri="{FF2B5EF4-FFF2-40B4-BE49-F238E27FC236}">
                  <a16:creationId xmlns:a16="http://schemas.microsoft.com/office/drawing/2014/main" id="{92D140FF-E19A-4B42-A32F-A81B1297A43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95" y="3397"/>
              <a:ext cx="740" cy="2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16</a:t>
              </a:r>
              <a:r>
                <a:rPr lang="zh-CN" altLang="en-US" sz="2000">
                  <a:latin typeface="Times New Roman" panose="02020603050405020304" pitchFamily="18" charset="0"/>
                </a:rPr>
                <a:t>位数据总线</a:t>
              </a:r>
            </a:p>
          </p:txBody>
        </p:sp>
        <p:sp>
          <p:nvSpPr>
            <p:cNvPr id="53266" name="AutoShape 44">
              <a:extLst>
                <a:ext uri="{FF2B5EF4-FFF2-40B4-BE49-F238E27FC236}">
                  <a16:creationId xmlns:a16="http://schemas.microsoft.com/office/drawing/2014/main" id="{E5EB4303-8877-4DC3-9655-176DD1A6A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5" y="8432"/>
              <a:ext cx="2000" cy="312"/>
            </a:xfrm>
            <a:prstGeom prst="leftArrow">
              <a:avLst>
                <a:gd name="adj1" fmla="val 50000"/>
                <a:gd name="adj2" fmla="val 15972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grpSp>
          <p:nvGrpSpPr>
            <p:cNvPr id="53267" name="组合 13351">
              <a:extLst>
                <a:ext uri="{FF2B5EF4-FFF2-40B4-BE49-F238E27FC236}">
                  <a16:creationId xmlns:a16="http://schemas.microsoft.com/office/drawing/2014/main" id="{F8F250F5-7A5C-4EA6-B982-F1917AF82E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0" y="3115"/>
              <a:ext cx="1750" cy="362"/>
              <a:chOff x="0" y="0"/>
              <a:chExt cx="700" cy="145"/>
            </a:xfrm>
          </p:grpSpPr>
          <p:sp>
            <p:nvSpPr>
              <p:cNvPr id="53333" name="AutoShape 46">
                <a:extLst>
                  <a:ext uri="{FF2B5EF4-FFF2-40B4-BE49-F238E27FC236}">
                    <a16:creationId xmlns:a16="http://schemas.microsoft.com/office/drawing/2014/main" id="{C910BBF6-EC93-40A6-83D6-B049ACD7B9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25"/>
                <a:ext cx="143" cy="120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solidFill>
                <a:schemeClr val="hlink">
                  <a:alpha val="89803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3334" name="AutoShape 47">
                <a:extLst>
                  <a:ext uri="{FF2B5EF4-FFF2-40B4-BE49-F238E27FC236}">
                    <a16:creationId xmlns:a16="http://schemas.microsoft.com/office/drawing/2014/main" id="{B11FF40D-F4B5-496B-BF02-38971C760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" y="0"/>
                <a:ext cx="142" cy="141"/>
              </a:xfrm>
              <a:prstGeom prst="upDownArrow">
                <a:avLst>
                  <a:gd name="adj1" fmla="val 50000"/>
                  <a:gd name="adj2" fmla="val 2000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sp>
          <p:nvSpPr>
            <p:cNvPr id="53268" name="Text Box 49">
              <a:extLst>
                <a:ext uri="{FF2B5EF4-FFF2-40B4-BE49-F238E27FC236}">
                  <a16:creationId xmlns:a16="http://schemas.microsoft.com/office/drawing/2014/main" id="{C4DB68EE-FA04-4720-A7F9-EABC0E36C64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166" y="2293"/>
              <a:ext cx="854" cy="3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总线接口部件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BIU</a:t>
              </a:r>
            </a:p>
          </p:txBody>
        </p:sp>
        <p:grpSp>
          <p:nvGrpSpPr>
            <p:cNvPr id="53269" name="组合 13355">
              <a:extLst>
                <a:ext uri="{FF2B5EF4-FFF2-40B4-BE49-F238E27FC236}">
                  <a16:creationId xmlns:a16="http://schemas.microsoft.com/office/drawing/2014/main" id="{0F16B94E-50E1-4C11-B1F3-A0C51255B6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2" y="7735"/>
              <a:ext cx="2447" cy="1155"/>
              <a:chOff x="0" y="0"/>
              <a:chExt cx="979" cy="462"/>
            </a:xfrm>
          </p:grpSpPr>
          <p:sp>
            <p:nvSpPr>
              <p:cNvPr id="53326" name="Text Box 52">
                <a:extLst>
                  <a:ext uri="{FF2B5EF4-FFF2-40B4-BE49-F238E27FC236}">
                    <a16:creationId xmlns:a16="http://schemas.microsoft.com/office/drawing/2014/main" id="{74F4625B-87A2-4184-B7E1-6E5E7367857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237"/>
                <a:ext cx="979" cy="225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1 2 3 4 5 6</a:t>
                </a:r>
              </a:p>
            </p:txBody>
          </p:sp>
          <p:sp>
            <p:nvSpPr>
              <p:cNvPr id="53327" name="Text Box 53">
                <a:extLst>
                  <a:ext uri="{FF2B5EF4-FFF2-40B4-BE49-F238E27FC236}">
                    <a16:creationId xmlns:a16="http://schemas.microsoft.com/office/drawing/2014/main" id="{59A3B889-E326-479C-9293-536DB461F22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70" y="0"/>
                <a:ext cx="889" cy="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指令队列</a:t>
                </a:r>
              </a:p>
            </p:txBody>
          </p:sp>
          <p:sp>
            <p:nvSpPr>
              <p:cNvPr id="53328" name="Line 54">
                <a:extLst>
                  <a:ext uri="{FF2B5EF4-FFF2-40B4-BE49-F238E27FC236}">
                    <a16:creationId xmlns:a16="http://schemas.microsoft.com/office/drawing/2014/main" id="{DE58EE28-BCB9-47D3-89C6-ED0192B2BC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" y="236"/>
                <a:ext cx="0" cy="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29" name="Line 55">
                <a:extLst>
                  <a:ext uri="{FF2B5EF4-FFF2-40B4-BE49-F238E27FC236}">
                    <a16:creationId xmlns:a16="http://schemas.microsoft.com/office/drawing/2014/main" id="{112B7E06-C8E9-42E1-8732-C15D85260C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" y="236"/>
                <a:ext cx="0" cy="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0" name="Line 56">
                <a:extLst>
                  <a:ext uri="{FF2B5EF4-FFF2-40B4-BE49-F238E27FC236}">
                    <a16:creationId xmlns:a16="http://schemas.microsoft.com/office/drawing/2014/main" id="{B9032D7D-42ED-470F-BE3B-292F765D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" y="236"/>
                <a:ext cx="0" cy="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1" name="Line 57">
                <a:extLst>
                  <a:ext uri="{FF2B5EF4-FFF2-40B4-BE49-F238E27FC236}">
                    <a16:creationId xmlns:a16="http://schemas.microsoft.com/office/drawing/2014/main" id="{181D780D-BBC5-49AA-8C69-3D3EE288B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" y="236"/>
                <a:ext cx="0" cy="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2" name="Line 58">
                <a:extLst>
                  <a:ext uri="{FF2B5EF4-FFF2-40B4-BE49-F238E27FC236}">
                    <a16:creationId xmlns:a16="http://schemas.microsoft.com/office/drawing/2014/main" id="{5B61061D-7521-49EE-89E6-B6F91854F9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5" y="236"/>
                <a:ext cx="0" cy="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270" name="组合 13363">
              <a:extLst>
                <a:ext uri="{FF2B5EF4-FFF2-40B4-BE49-F238E27FC236}">
                  <a16:creationId xmlns:a16="http://schemas.microsoft.com/office/drawing/2014/main" id="{B843843B-CB64-4F6F-9C5D-F31058AD95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7" y="1655"/>
              <a:ext cx="3320" cy="5032"/>
              <a:chOff x="0" y="0"/>
              <a:chExt cx="1328" cy="2013"/>
            </a:xfrm>
          </p:grpSpPr>
          <p:sp>
            <p:nvSpPr>
              <p:cNvPr id="53314" name="AutoShape 30">
                <a:extLst>
                  <a:ext uri="{FF2B5EF4-FFF2-40B4-BE49-F238E27FC236}">
                    <a16:creationId xmlns:a16="http://schemas.microsoft.com/office/drawing/2014/main" id="{11E0E6C9-4879-42C8-ABA2-1920FC8F9A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89" y="1766"/>
                <a:ext cx="160" cy="247"/>
              </a:xfrm>
              <a:prstGeom prst="upDownArrow">
                <a:avLst>
                  <a:gd name="adj1" fmla="val 50000"/>
                  <a:gd name="adj2" fmla="val 30875"/>
                </a:avLst>
              </a:prstGeom>
              <a:solidFill>
                <a:schemeClr val="hlink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grpSp>
            <p:nvGrpSpPr>
              <p:cNvPr id="53315" name="组合 13365">
                <a:extLst>
                  <a:ext uri="{FF2B5EF4-FFF2-40B4-BE49-F238E27FC236}">
                    <a16:creationId xmlns:a16="http://schemas.microsoft.com/office/drawing/2014/main" id="{A3039997-032D-428B-A963-19FB4947E0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328" cy="1754"/>
                <a:chOff x="0" y="0"/>
                <a:chExt cx="1328" cy="1754"/>
              </a:xfrm>
            </p:grpSpPr>
            <p:sp>
              <p:nvSpPr>
                <p:cNvPr id="53316" name="Text Box 60">
                  <a:extLst>
                    <a:ext uri="{FF2B5EF4-FFF2-40B4-BE49-F238E27FC236}">
                      <a16:creationId xmlns:a16="http://schemas.microsoft.com/office/drawing/2014/main" id="{D93748D6-109F-4EDA-AC4F-BAF77D8A1F2D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1328" cy="16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400">
                      <a:latin typeface="Times New Roman" panose="02020603050405020304" pitchFamily="18" charset="0"/>
                    </a:rPr>
                    <a:t>通用寄存器</a:t>
                  </a:r>
                </a:p>
                <a:p>
                  <a:pPr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AX    AH        AL</a:t>
                  </a:r>
                </a:p>
                <a:p>
                  <a:pPr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BX    BH         BL</a:t>
                  </a:r>
                </a:p>
                <a:p>
                  <a:pPr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CX   CH         CL</a:t>
                  </a:r>
                </a:p>
                <a:p>
                  <a:pPr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DX   DH         DL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      SP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     BP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     DI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    SI</a:t>
                  </a:r>
                </a:p>
              </p:txBody>
            </p:sp>
            <p:sp>
              <p:nvSpPr>
                <p:cNvPr id="53317" name="Line 61">
                  <a:extLst>
                    <a:ext uri="{FF2B5EF4-FFF2-40B4-BE49-F238E27FC236}">
                      <a16:creationId xmlns:a16="http://schemas.microsoft.com/office/drawing/2014/main" id="{2F504B90-F50C-476D-93A1-D2DD7643DA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419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18" name="Rectangle 62">
                  <a:extLst>
                    <a:ext uri="{FF2B5EF4-FFF2-40B4-BE49-F238E27FC236}">
                      <a16:creationId xmlns:a16="http://schemas.microsoft.com/office/drawing/2014/main" id="{5E428B80-4014-4E0B-A71B-7474D5504F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" y="255"/>
                  <a:ext cx="979" cy="1499"/>
                </a:xfrm>
                <a:prstGeom prst="rect">
                  <a:avLst/>
                </a:prstGeom>
                <a:noFill/>
                <a:ln w="2857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3319" name="Line 63">
                  <a:extLst>
                    <a:ext uri="{FF2B5EF4-FFF2-40B4-BE49-F238E27FC236}">
                      <a16:creationId xmlns:a16="http://schemas.microsoft.com/office/drawing/2014/main" id="{37D7A889-C82A-4E0C-861C-D940D36E78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593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20" name="Line 64">
                  <a:extLst>
                    <a:ext uri="{FF2B5EF4-FFF2-40B4-BE49-F238E27FC236}">
                      <a16:creationId xmlns:a16="http://schemas.microsoft.com/office/drawing/2014/main" id="{726C573B-0CDE-47B3-89B3-3F13DF8A30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794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21" name="Line 65">
                  <a:extLst>
                    <a:ext uri="{FF2B5EF4-FFF2-40B4-BE49-F238E27FC236}">
                      <a16:creationId xmlns:a16="http://schemas.microsoft.com/office/drawing/2014/main" id="{71C7E758-F865-4014-BA55-11523E0E81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977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22" name="Line 66">
                  <a:extLst>
                    <a:ext uri="{FF2B5EF4-FFF2-40B4-BE49-F238E27FC236}">
                      <a16:creationId xmlns:a16="http://schemas.microsoft.com/office/drawing/2014/main" id="{A9AD899F-5149-4C9A-9EB0-B839DA1D9E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09" y="255"/>
                  <a:ext cx="0" cy="7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23" name="Line 67">
                  <a:extLst>
                    <a:ext uri="{FF2B5EF4-FFF2-40B4-BE49-F238E27FC236}">
                      <a16:creationId xmlns:a16="http://schemas.microsoft.com/office/drawing/2014/main" id="{0328EE9D-8F49-4055-BBD3-E010DA9ED1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1169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24" name="Line 68">
                  <a:extLst>
                    <a:ext uri="{FF2B5EF4-FFF2-40B4-BE49-F238E27FC236}">
                      <a16:creationId xmlns:a16="http://schemas.microsoft.com/office/drawing/2014/main" id="{05BE4430-6491-438F-978A-EDED61C5A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1361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25" name="Line 69">
                  <a:extLst>
                    <a:ext uri="{FF2B5EF4-FFF2-40B4-BE49-F238E27FC236}">
                      <a16:creationId xmlns:a16="http://schemas.microsoft.com/office/drawing/2014/main" id="{63E24CC2-27DD-43C4-A132-1D8412BC87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1571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3271" name="组合 13376">
              <a:extLst>
                <a:ext uri="{FF2B5EF4-FFF2-40B4-BE49-F238E27FC236}">
                  <a16:creationId xmlns:a16="http://schemas.microsoft.com/office/drawing/2014/main" id="{1101BCAD-CCA4-43F8-A533-7A664B66FC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62" y="1537"/>
              <a:ext cx="3165" cy="912"/>
              <a:chOff x="0" y="0"/>
              <a:chExt cx="1266" cy="365"/>
            </a:xfrm>
          </p:grpSpPr>
          <p:sp>
            <p:nvSpPr>
              <p:cNvPr id="53312" name="AutoShape 76">
                <a:extLst>
                  <a:ext uri="{FF2B5EF4-FFF2-40B4-BE49-F238E27FC236}">
                    <a16:creationId xmlns:a16="http://schemas.microsoft.com/office/drawing/2014/main" id="{E66A2813-CE35-4CB9-B29C-8D9E6977A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" y="0"/>
                <a:ext cx="1146" cy="249"/>
              </a:xfrm>
              <a:prstGeom prst="rightArrow">
                <a:avLst>
                  <a:gd name="adj1" fmla="val 50000"/>
                  <a:gd name="adj2" fmla="val 114677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3313" name="Rectangle 77">
                <a:extLst>
                  <a:ext uri="{FF2B5EF4-FFF2-40B4-BE49-F238E27FC236}">
                    <a16:creationId xmlns:a16="http://schemas.microsoft.com/office/drawing/2014/main" id="{3FBCE651-A338-4153-8CCD-8E852B8BA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63"/>
                <a:ext cx="128" cy="302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grpSp>
          <p:nvGrpSpPr>
            <p:cNvPr id="53272" name="组合 13379">
              <a:extLst>
                <a:ext uri="{FF2B5EF4-FFF2-40B4-BE49-F238E27FC236}">
                  <a16:creationId xmlns:a16="http://schemas.microsoft.com/office/drawing/2014/main" id="{BFA3D1A0-73F0-4FD4-965B-7A99EA9C61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6870"/>
              <a:ext cx="1660" cy="3127"/>
              <a:chOff x="0" y="0"/>
              <a:chExt cx="664" cy="1251"/>
            </a:xfrm>
          </p:grpSpPr>
          <p:sp>
            <p:nvSpPr>
              <p:cNvPr id="53306" name="AutoShape 20">
                <a:extLst>
                  <a:ext uri="{FF2B5EF4-FFF2-40B4-BE49-F238E27FC236}">
                    <a16:creationId xmlns:a16="http://schemas.microsoft.com/office/drawing/2014/main" id="{7F59E311-3ED8-46F5-9C58-EF8A32C8B1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8" y="0"/>
                <a:ext cx="129" cy="204"/>
              </a:xfrm>
              <a:prstGeom prst="upDownArrow">
                <a:avLst>
                  <a:gd name="adj1" fmla="val 50000"/>
                  <a:gd name="adj2" fmla="val 31496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grpSp>
            <p:nvGrpSpPr>
              <p:cNvPr id="53307" name="组合 13381">
                <a:extLst>
                  <a:ext uri="{FF2B5EF4-FFF2-40B4-BE49-F238E27FC236}">
                    <a16:creationId xmlns:a16="http://schemas.microsoft.com/office/drawing/2014/main" id="{56BFB8FA-F544-4F37-9B31-E8DE3C0344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43"/>
                <a:ext cx="664" cy="408"/>
                <a:chOff x="0" y="0"/>
                <a:chExt cx="664" cy="408"/>
              </a:xfrm>
            </p:grpSpPr>
            <p:sp>
              <p:nvSpPr>
                <p:cNvPr id="53308" name="AutoShape 79">
                  <a:extLst>
                    <a:ext uri="{FF2B5EF4-FFF2-40B4-BE49-F238E27FC236}">
                      <a16:creationId xmlns:a16="http://schemas.microsoft.com/office/drawing/2014/main" id="{803F4142-167F-416A-BB1A-19D8233DB1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7" y="0"/>
                  <a:ext cx="167" cy="168"/>
                </a:xfrm>
                <a:prstGeom prst="upArrow">
                  <a:avLst>
                    <a:gd name="adj1" fmla="val 50000"/>
                    <a:gd name="adj2" fmla="val 25066"/>
                  </a:avLst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grpSp>
              <p:nvGrpSpPr>
                <p:cNvPr id="53309" name="组合 13383">
                  <a:extLst>
                    <a:ext uri="{FF2B5EF4-FFF2-40B4-BE49-F238E27FC236}">
                      <a16:creationId xmlns:a16="http://schemas.microsoft.com/office/drawing/2014/main" id="{D5B67399-8653-4AAE-A911-9535C9608A0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96"/>
                  <a:ext cx="624" cy="312"/>
                  <a:chOff x="0" y="0"/>
                  <a:chExt cx="624" cy="312"/>
                </a:xfrm>
              </p:grpSpPr>
              <p:sp>
                <p:nvSpPr>
                  <p:cNvPr id="53310" name="AutoShape 21">
                    <a:extLst>
                      <a:ext uri="{FF2B5EF4-FFF2-40B4-BE49-F238E27FC236}">
                        <a16:creationId xmlns:a16="http://schemas.microsoft.com/office/drawing/2014/main" id="{BDC831B2-E44A-4147-93DA-72CBCF35C4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48" y="168"/>
                    <a:ext cx="144" cy="144"/>
                  </a:xfrm>
                  <a:prstGeom prst="rightArrow">
                    <a:avLst>
                      <a:gd name="adj1" fmla="val 50000"/>
                      <a:gd name="adj2" fmla="val 25000"/>
                    </a:avLst>
                  </a:prstGeom>
                  <a:solidFill>
                    <a:schemeClr val="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53311" name="AutoShape 80">
                    <a:extLst>
                      <a:ext uri="{FF2B5EF4-FFF2-40B4-BE49-F238E27FC236}">
                        <a16:creationId xmlns:a16="http://schemas.microsoft.com/office/drawing/2014/main" id="{23F89896-29E6-483E-9664-7CEEF5C225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624" cy="144"/>
                  </a:xfrm>
                  <a:prstGeom prst="leftArrow">
                    <a:avLst>
                      <a:gd name="adj1" fmla="val 50000"/>
                      <a:gd name="adj2" fmla="val 107972"/>
                    </a:avLst>
                  </a:prstGeom>
                  <a:solidFill>
                    <a:schemeClr val="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</p:grpSp>
          </p:grpSp>
        </p:grpSp>
        <p:grpSp>
          <p:nvGrpSpPr>
            <p:cNvPr id="53273" name="组合 13386">
              <a:extLst>
                <a:ext uri="{FF2B5EF4-FFF2-40B4-BE49-F238E27FC236}">
                  <a16:creationId xmlns:a16="http://schemas.microsoft.com/office/drawing/2014/main" id="{084D75A3-5504-4E57-B20A-5E737DABF9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5" y="8957"/>
              <a:ext cx="1887" cy="1190"/>
              <a:chOff x="0" y="0"/>
              <a:chExt cx="755" cy="476"/>
            </a:xfrm>
          </p:grpSpPr>
          <p:sp>
            <p:nvSpPr>
              <p:cNvPr id="53304" name="Text Box 19">
                <a:extLst>
                  <a:ext uri="{FF2B5EF4-FFF2-40B4-BE49-F238E27FC236}">
                    <a16:creationId xmlns:a16="http://schemas.microsoft.com/office/drawing/2014/main" id="{28196F6E-B363-4B27-BFF2-8797121F138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272"/>
                <a:ext cx="755" cy="20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标志寄存器</a:t>
                </a:r>
              </a:p>
            </p:txBody>
          </p:sp>
          <p:sp>
            <p:nvSpPr>
              <p:cNvPr id="53305" name="AutoShape 81">
                <a:extLst>
                  <a:ext uri="{FF2B5EF4-FFF2-40B4-BE49-F238E27FC236}">
                    <a16:creationId xmlns:a16="http://schemas.microsoft.com/office/drawing/2014/main" id="{D00F64AA-3FCE-4693-AF5E-D85103A76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grpSp>
          <p:nvGrpSpPr>
            <p:cNvPr id="53274" name="组合 13389">
              <a:extLst>
                <a:ext uri="{FF2B5EF4-FFF2-40B4-BE49-F238E27FC236}">
                  <a16:creationId xmlns:a16="http://schemas.microsoft.com/office/drawing/2014/main" id="{70EA6477-AE0A-4BD0-A910-CF9AEF8255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5" y="8917"/>
              <a:ext cx="1560" cy="1079"/>
              <a:chOff x="0" y="0"/>
              <a:chExt cx="624" cy="432"/>
            </a:xfrm>
          </p:grpSpPr>
          <p:sp>
            <p:nvSpPr>
              <p:cNvPr id="13391" name="Text Box 89">
                <a:extLst>
                  <a:ext uri="{FF2B5EF4-FFF2-40B4-BE49-F238E27FC236}">
                    <a16:creationId xmlns:a16="http://schemas.microsoft.com/office/drawing/2014/main" id="{08C2ED3B-A42F-4794-9BB1-C08606A381D3}"/>
                  </a:ext>
                </a:extLst>
              </p:cNvPr>
              <p:cNvSpPr txBox="1"/>
              <p:nvPr/>
            </p:nvSpPr>
            <p:spPr>
              <a:xfrm>
                <a:off x="144" y="96"/>
                <a:ext cx="341" cy="1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rgbClr val="B4B9BE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x-none" sz="20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2" charset="0"/>
                    <a:ea typeface="楷体_GB2312" pitchFamily="1" charset="-122"/>
                    <a:cs typeface="+mn-ea"/>
                  </a:rPr>
                  <a:t>8088</a:t>
                </a:r>
                <a:endPara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53302" name="Line 90">
                <a:extLst>
                  <a:ext uri="{FF2B5EF4-FFF2-40B4-BE49-F238E27FC236}">
                    <a16:creationId xmlns:a16="http://schemas.microsoft.com/office/drawing/2014/main" id="{A9D2C745-DCC9-4D9B-9741-19D05A073E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3" name="Line 91">
                <a:extLst>
                  <a:ext uri="{FF2B5EF4-FFF2-40B4-BE49-F238E27FC236}">
                    <a16:creationId xmlns:a16="http://schemas.microsoft.com/office/drawing/2014/main" id="{4F6BD44D-4B54-46B5-9814-B7C7DDD67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0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275" name="组合 13393">
              <a:extLst>
                <a:ext uri="{FF2B5EF4-FFF2-40B4-BE49-F238E27FC236}">
                  <a16:creationId xmlns:a16="http://schemas.microsoft.com/office/drawing/2014/main" id="{FA711A83-9443-4446-9850-D34F3563DC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5" y="8917"/>
              <a:ext cx="1440" cy="1152"/>
              <a:chOff x="0" y="0"/>
              <a:chExt cx="576" cy="461"/>
            </a:xfrm>
          </p:grpSpPr>
          <p:sp>
            <p:nvSpPr>
              <p:cNvPr id="13395" name="Text Box 93">
                <a:extLst>
                  <a:ext uri="{FF2B5EF4-FFF2-40B4-BE49-F238E27FC236}">
                    <a16:creationId xmlns:a16="http://schemas.microsoft.com/office/drawing/2014/main" id="{6BC4363D-85FC-483A-80A2-74BDDFA859AA}"/>
                  </a:ext>
                </a:extLst>
              </p:cNvPr>
              <p:cNvSpPr txBox="1"/>
              <p:nvPr/>
            </p:nvSpPr>
            <p:spPr>
              <a:xfrm>
                <a:off x="0" y="288"/>
                <a:ext cx="336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rgbClr val="B4B9BE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x-none" sz="20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2" charset="0"/>
                    <a:ea typeface="楷体_GB2312" pitchFamily="1" charset="-122"/>
                    <a:cs typeface="+mn-ea"/>
                  </a:rPr>
                  <a:t>8086</a:t>
                </a:r>
                <a:endPara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53300" name="Line 94">
                <a:extLst>
                  <a:ext uri="{FF2B5EF4-FFF2-40B4-BE49-F238E27FC236}">
                    <a16:creationId xmlns:a16="http://schemas.microsoft.com/office/drawing/2014/main" id="{4ACAACDF-B30D-4B3D-821F-F7E45CDA0A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276" name="组合 13396">
              <a:extLst>
                <a:ext uri="{FF2B5EF4-FFF2-40B4-BE49-F238E27FC236}">
                  <a16:creationId xmlns:a16="http://schemas.microsoft.com/office/drawing/2014/main" id="{13D2E127-5908-4F15-8023-A3E76E022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5" y="3505"/>
              <a:ext cx="1410" cy="3170"/>
              <a:chOff x="0" y="0"/>
              <a:chExt cx="564" cy="1268"/>
            </a:xfrm>
          </p:grpSpPr>
          <p:grpSp>
            <p:nvGrpSpPr>
              <p:cNvPr id="53293" name="组合 13397">
                <a:extLst>
                  <a:ext uri="{FF2B5EF4-FFF2-40B4-BE49-F238E27FC236}">
                    <a16:creationId xmlns:a16="http://schemas.microsoft.com/office/drawing/2014/main" id="{5AA032B8-ABD9-4A95-ADEE-67275D1EF6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64" cy="677"/>
                <a:chOff x="0" y="0"/>
                <a:chExt cx="564" cy="677"/>
              </a:xfrm>
            </p:grpSpPr>
            <p:sp>
              <p:nvSpPr>
                <p:cNvPr id="53295" name="Text Box 71">
                  <a:extLst>
                    <a:ext uri="{FF2B5EF4-FFF2-40B4-BE49-F238E27FC236}">
                      <a16:creationId xmlns:a16="http://schemas.microsoft.com/office/drawing/2014/main" id="{AB20A1DB-5F22-4624-AEBF-ECC26E51CA86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563" cy="677"/>
                </a:xfrm>
                <a:prstGeom prst="rect">
                  <a:avLst/>
                </a:prstGeom>
                <a:noFill/>
                <a:ln w="2857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latin typeface="Times New Roman" panose="02020603050405020304" pitchFamily="18" charset="0"/>
                    </a:rPr>
                    <a:t>CS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latin typeface="Times New Roman" panose="02020603050405020304" pitchFamily="18" charset="0"/>
                    </a:rPr>
                    <a:t>DS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latin typeface="Times New Roman" panose="02020603050405020304" pitchFamily="18" charset="0"/>
                    </a:rPr>
                    <a:t>SS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latin typeface="Times New Roman" panose="02020603050405020304" pitchFamily="18" charset="0"/>
                    </a:rPr>
                    <a:t>ES</a:t>
                  </a:r>
                </a:p>
              </p:txBody>
            </p:sp>
            <p:sp>
              <p:nvSpPr>
                <p:cNvPr id="53296" name="Line 72">
                  <a:extLst>
                    <a:ext uri="{FF2B5EF4-FFF2-40B4-BE49-F238E27FC236}">
                      <a16:creationId xmlns:a16="http://schemas.microsoft.com/office/drawing/2014/main" id="{E4BE5533-3BD2-48A9-9E6D-3A5342871B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" y="172"/>
                  <a:ext cx="557" cy="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97" name="Line 73">
                  <a:extLst>
                    <a:ext uri="{FF2B5EF4-FFF2-40B4-BE49-F238E27FC236}">
                      <a16:creationId xmlns:a16="http://schemas.microsoft.com/office/drawing/2014/main" id="{5BF373EE-46F2-4213-AEC4-5A2CFCB408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" y="355"/>
                  <a:ext cx="557" cy="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98" name="Line 74">
                  <a:extLst>
                    <a:ext uri="{FF2B5EF4-FFF2-40B4-BE49-F238E27FC236}">
                      <a16:creationId xmlns:a16="http://schemas.microsoft.com/office/drawing/2014/main" id="{3CB9DBC8-8B70-487F-88BB-B41182FE54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" y="511"/>
                  <a:ext cx="557" cy="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3294" name="AutoShape 99">
                <a:extLst>
                  <a:ext uri="{FF2B5EF4-FFF2-40B4-BE49-F238E27FC236}">
                    <a16:creationId xmlns:a16="http://schemas.microsoft.com/office/drawing/2014/main" id="{544EAE09-25B5-4B25-87D4-0728F61E61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6" y="725"/>
                <a:ext cx="144" cy="543"/>
              </a:xfrm>
              <a:prstGeom prst="upDownArrow">
                <a:avLst>
                  <a:gd name="adj1" fmla="val 50000"/>
                  <a:gd name="adj2" fmla="val 75102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grpSp>
          <p:nvGrpSpPr>
            <p:cNvPr id="53277" name="组合 13403">
              <a:extLst>
                <a:ext uri="{FF2B5EF4-FFF2-40B4-BE49-F238E27FC236}">
                  <a16:creationId xmlns:a16="http://schemas.microsoft.com/office/drawing/2014/main" id="{97D7AD9A-CC8C-4FAD-90D0-3EDBCD8D8A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" y="3517"/>
              <a:ext cx="1410" cy="3157"/>
              <a:chOff x="0" y="0"/>
              <a:chExt cx="564" cy="1263"/>
            </a:xfrm>
          </p:grpSpPr>
          <p:grpSp>
            <p:nvGrpSpPr>
              <p:cNvPr id="53289" name="组合 13404">
                <a:extLst>
                  <a:ext uri="{FF2B5EF4-FFF2-40B4-BE49-F238E27FC236}">
                    <a16:creationId xmlns:a16="http://schemas.microsoft.com/office/drawing/2014/main" id="{14FC6C6F-9543-4AB9-B276-0E6AD55E4C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64" cy="384"/>
                <a:chOff x="0" y="0"/>
                <a:chExt cx="564" cy="384"/>
              </a:xfrm>
            </p:grpSpPr>
            <p:sp>
              <p:nvSpPr>
                <p:cNvPr id="53291" name="Text Box 96">
                  <a:extLst>
                    <a:ext uri="{FF2B5EF4-FFF2-40B4-BE49-F238E27FC236}">
                      <a16:creationId xmlns:a16="http://schemas.microsoft.com/office/drawing/2014/main" id="{8FE5F240-53C5-452B-AECB-E146588BE16B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563" cy="384"/>
                </a:xfrm>
                <a:prstGeom prst="rect">
                  <a:avLst/>
                </a:prstGeom>
                <a:noFill/>
                <a:ln w="2857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latin typeface="Times New Roman" panose="02020603050405020304" pitchFamily="18" charset="0"/>
                    </a:rPr>
                    <a:t>IP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暂存器</a:t>
                  </a:r>
                </a:p>
              </p:txBody>
            </p:sp>
            <p:sp>
              <p:nvSpPr>
                <p:cNvPr id="53292" name="Line 97">
                  <a:extLst>
                    <a:ext uri="{FF2B5EF4-FFF2-40B4-BE49-F238E27FC236}">
                      <a16:creationId xmlns:a16="http://schemas.microsoft.com/office/drawing/2014/main" id="{A86174AE-79B4-4EDA-A111-86D2122F3B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" y="171"/>
                  <a:ext cx="557" cy="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3290" name="AutoShape 100">
                <a:extLst>
                  <a:ext uri="{FF2B5EF4-FFF2-40B4-BE49-F238E27FC236}">
                    <a16:creationId xmlns:a16="http://schemas.microsoft.com/office/drawing/2014/main" id="{59BFEC9F-18DC-4D1E-8716-030EB4D616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2" y="384"/>
                <a:ext cx="144" cy="879"/>
              </a:xfrm>
              <a:prstGeom prst="upDownArrow">
                <a:avLst>
                  <a:gd name="adj1" fmla="val 50000"/>
                  <a:gd name="adj2" fmla="val 121575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grpSp>
          <p:nvGrpSpPr>
            <p:cNvPr id="53278" name="组合 13408">
              <a:extLst>
                <a:ext uri="{FF2B5EF4-FFF2-40B4-BE49-F238E27FC236}">
                  <a16:creationId xmlns:a16="http://schemas.microsoft.com/office/drawing/2014/main" id="{37891546-EFE0-4C4F-8B58-0B531DAA6A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75" y="3812"/>
              <a:ext cx="960" cy="3062"/>
              <a:chOff x="0" y="0"/>
              <a:chExt cx="384" cy="1225"/>
            </a:xfrm>
          </p:grpSpPr>
          <p:sp>
            <p:nvSpPr>
              <p:cNvPr id="53287" name="AutoShape 102">
                <a:extLst>
                  <a:ext uri="{FF2B5EF4-FFF2-40B4-BE49-F238E27FC236}">
                    <a16:creationId xmlns:a16="http://schemas.microsoft.com/office/drawing/2014/main" id="{0BE42A8B-8ECB-44B8-95C9-2946046886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926"/>
                <a:ext cx="384" cy="299"/>
              </a:xfrm>
              <a:prstGeom prst="leftRightArrow">
                <a:avLst>
                  <a:gd name="adj1" fmla="val 50000"/>
                  <a:gd name="adj2" fmla="val 25579"/>
                </a:avLst>
              </a:prstGeom>
              <a:noFill/>
              <a:ln w="2540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13411" name="Text Box 103">
                <a:extLst>
                  <a:ext uri="{FF2B5EF4-FFF2-40B4-BE49-F238E27FC236}">
                    <a16:creationId xmlns:a16="http://schemas.microsoft.com/office/drawing/2014/main" id="{A4EDD0BE-CAA7-475F-AB63-0F387AD177EE}"/>
                  </a:ext>
                </a:extLst>
              </p:cNvPr>
              <p:cNvSpPr txBox="1"/>
              <p:nvPr/>
            </p:nvSpPr>
            <p:spPr>
              <a:xfrm>
                <a:off x="91" y="0"/>
                <a:ext cx="190" cy="95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lIns="0" tIns="0" rIns="0" bIns="0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rgbClr val="B4B9BE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x-none" sz="24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2" charset="0"/>
                    <a:ea typeface="楷体_GB2312" pitchFamily="1" charset="-122"/>
                    <a:cs typeface="+mn-ea"/>
                  </a:rPr>
                  <a:t>8086</a:t>
                </a:r>
                <a:r>
                  <a:rPr lang="zh-CN" altLang="en-US" sz="24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2" charset="0"/>
                    <a:ea typeface="楷体_GB2312" pitchFamily="1" charset="-122"/>
                    <a:cs typeface="+mn-ea"/>
                  </a:rPr>
                  <a:t>总线</a:t>
                </a:r>
                <a:endPara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</p:grpSp>
        <p:grpSp>
          <p:nvGrpSpPr>
            <p:cNvPr id="53279" name="组合 13415">
              <a:extLst>
                <a:ext uri="{FF2B5EF4-FFF2-40B4-BE49-F238E27FC236}">
                  <a16:creationId xmlns:a16="http://schemas.microsoft.com/office/drawing/2014/main" id="{E79511C9-EE8B-45A3-A571-F3FEFE4223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5" y="6037"/>
              <a:ext cx="1560" cy="4087"/>
              <a:chOff x="0" y="0"/>
              <a:chExt cx="624" cy="1635"/>
            </a:xfrm>
          </p:grpSpPr>
          <p:sp>
            <p:nvSpPr>
              <p:cNvPr id="53280" name="Text Box 4">
                <a:extLst>
                  <a:ext uri="{FF2B5EF4-FFF2-40B4-BE49-F238E27FC236}">
                    <a16:creationId xmlns:a16="http://schemas.microsoft.com/office/drawing/2014/main" id="{88EFAF66-9415-4481-AFE4-07DEF2959CA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71" y="480"/>
                <a:ext cx="253" cy="1155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EU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控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制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器</a:t>
                </a:r>
              </a:p>
            </p:txBody>
          </p:sp>
          <p:grpSp>
            <p:nvGrpSpPr>
              <p:cNvPr id="53281" name="组合 13417">
                <a:extLst>
                  <a:ext uri="{FF2B5EF4-FFF2-40B4-BE49-F238E27FC236}">
                    <a16:creationId xmlns:a16="http://schemas.microsoft.com/office/drawing/2014/main" id="{24DD0610-3A79-4BE8-B348-78AB9DFB57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84" cy="1536"/>
                <a:chOff x="0" y="0"/>
                <a:chExt cx="384" cy="1536"/>
              </a:xfrm>
            </p:grpSpPr>
            <p:sp>
              <p:nvSpPr>
                <p:cNvPr id="53282" name="Line 83">
                  <a:extLst>
                    <a:ext uri="{FF2B5EF4-FFF2-40B4-BE49-F238E27FC236}">
                      <a16:creationId xmlns:a16="http://schemas.microsoft.com/office/drawing/2014/main" id="{1874B372-4779-44EC-829B-0CD8600CD56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8" y="672"/>
                  <a:ext cx="319" cy="0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83" name="Line 84">
                  <a:extLst>
                    <a:ext uri="{FF2B5EF4-FFF2-40B4-BE49-F238E27FC236}">
                      <a16:creationId xmlns:a16="http://schemas.microsoft.com/office/drawing/2014/main" id="{D2ADA2EA-20CC-4DC4-BB6E-20D0C336140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0" y="1056"/>
                  <a:ext cx="374" cy="0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84" name="Line 85">
                  <a:extLst>
                    <a:ext uri="{FF2B5EF4-FFF2-40B4-BE49-F238E27FC236}">
                      <a16:creationId xmlns:a16="http://schemas.microsoft.com/office/drawing/2014/main" id="{FCBD4456-72CF-4222-8EE3-7D243C3F58B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8" y="1536"/>
                  <a:ext cx="319" cy="0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85" name="Line 86">
                  <a:extLst>
                    <a:ext uri="{FF2B5EF4-FFF2-40B4-BE49-F238E27FC236}">
                      <a16:creationId xmlns:a16="http://schemas.microsoft.com/office/drawing/2014/main" id="{8B0B0181-E6A7-4B44-BF9F-20563C4FE8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2" y="576"/>
                  <a:ext cx="192" cy="0"/>
                </a:xfrm>
                <a:prstGeom prst="line">
                  <a:avLst/>
                </a:prstGeom>
                <a:noFill/>
                <a:ln w="2540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86" name="Line 87">
                  <a:extLst>
                    <a:ext uri="{FF2B5EF4-FFF2-40B4-BE49-F238E27FC236}">
                      <a16:creationId xmlns:a16="http://schemas.microsoft.com/office/drawing/2014/main" id="{90F98121-9ACB-4E38-97EE-B1E765568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" y="0"/>
                  <a:ext cx="0" cy="576"/>
                </a:xfrm>
                <a:prstGeom prst="line">
                  <a:avLst/>
                </a:prstGeom>
                <a:noFill/>
                <a:ln w="25400">
                  <a:solidFill>
                    <a:srgbClr val="00FF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53253" name="Text Box 48">
            <a:extLst>
              <a:ext uri="{FF2B5EF4-FFF2-40B4-BE49-F238E27FC236}">
                <a16:creationId xmlns:a16="http://schemas.microsoft.com/office/drawing/2014/main" id="{33145442-D896-49C0-9863-2AB517D3A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036888" y="1466850"/>
            <a:ext cx="849312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执行部件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EU</a:t>
            </a:r>
          </a:p>
        </p:txBody>
      </p:sp>
      <p:sp>
        <p:nvSpPr>
          <p:cNvPr id="53254" name="Line 104">
            <a:extLst>
              <a:ext uri="{FF2B5EF4-FFF2-40B4-BE49-F238E27FC236}">
                <a16:creationId xmlns:a16="http://schemas.microsoft.com/office/drawing/2014/main" id="{6002E4C4-3B9D-4827-AFBB-9BB49FD387C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027488" y="941388"/>
            <a:ext cx="0" cy="5984875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5" name="AutoShape 28">
            <a:extLst>
              <a:ext uri="{FF2B5EF4-FFF2-40B4-BE49-F238E27FC236}">
                <a16:creationId xmlns:a16="http://schemas.microsoft.com/office/drawing/2014/main" id="{52439B7A-95FA-4E5B-B345-6F14142708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0063" y="4160838"/>
            <a:ext cx="6340475" cy="246062"/>
          </a:xfrm>
          <a:prstGeom prst="leftRightArrow">
            <a:avLst>
              <a:gd name="adj1" fmla="val 57435"/>
              <a:gd name="adj2" fmla="val 164628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53256" name="Text Box 29">
            <a:extLst>
              <a:ext uri="{FF2B5EF4-FFF2-40B4-BE49-F238E27FC236}">
                <a16:creationId xmlns:a16="http://schemas.microsoft.com/office/drawing/2014/main" id="{EF2E430D-CC88-4FAE-A171-56848F76F04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09925" y="3767138"/>
            <a:ext cx="19240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内部总线</a:t>
            </a:r>
            <a:r>
              <a:rPr lang="en-US" altLang="zh-CN" sz="2400">
                <a:latin typeface="Times New Roman" panose="02020603050405020304" pitchFamily="18" charset="0"/>
              </a:rPr>
              <a:t>16</a:t>
            </a:r>
            <a:r>
              <a:rPr lang="zh-CN" altLang="en-US" sz="2400">
                <a:latin typeface="Times New Roman" panose="02020603050405020304" pitchFamily="18" charset="0"/>
              </a:rPr>
              <a:t>位</a:t>
            </a:r>
          </a:p>
        </p:txBody>
      </p:sp>
      <p:sp>
        <p:nvSpPr>
          <p:cNvPr id="53257" name="AutoShape 27">
            <a:extLst>
              <a:ext uri="{FF2B5EF4-FFF2-40B4-BE49-F238E27FC236}">
                <a16:creationId xmlns:a16="http://schemas.microsoft.com/office/drawing/2014/main" id="{DD88A3D4-ACA0-489B-95F4-6A6397B898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2338" y="4251325"/>
            <a:ext cx="207962" cy="2214563"/>
          </a:xfrm>
          <a:prstGeom prst="upDownArrow">
            <a:avLst>
              <a:gd name="adj1" fmla="val 60000"/>
              <a:gd name="adj2" fmla="val 168952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2">
            <a:extLst>
              <a:ext uri="{FF2B5EF4-FFF2-40B4-BE49-F238E27FC236}">
                <a16:creationId xmlns:a16="http://schemas.microsoft.com/office/drawing/2014/main" id="{94E339EF-0E55-4D79-AF5B-F8D0BDB5E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405063"/>
            <a:ext cx="4916488" cy="1484312"/>
          </a:xfrm>
          <a:prstGeom prst="wedgeRoundRectCallout">
            <a:avLst>
              <a:gd name="adj1" fmla="val 1662"/>
              <a:gd name="adj2" fmla="val 99625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solidFill>
                  <a:schemeClr val="folHlink"/>
                </a:solidFill>
                <a:latin typeface="Times New Roman" panose="02020603050405020304" pitchFamily="18" charset="0"/>
              </a:rPr>
              <a:t>负责从存储器或外部设备中读取操作码和操作数，并将结果写入指令指出的地址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B7E916B-28EB-4D9E-8E23-1F26B0C8C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60350"/>
            <a:ext cx="3759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8086 CPU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的构成        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39817975-F148-40FD-BF1B-85AEEC472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841625"/>
            <a:ext cx="10382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latin typeface="宋体" panose="02010600030101010101" pitchFamily="2" charset="-122"/>
              </a:rPr>
              <a:t>CPU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C9F4B7CC-BE37-4949-8A74-230EEE84D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1206500"/>
            <a:ext cx="33289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>
                <a:latin typeface="宋体" panose="02010600030101010101" pitchFamily="2" charset="-122"/>
              </a:rPr>
              <a:t>执行部件</a:t>
            </a:r>
            <a:r>
              <a:rPr lang="en-US" altLang="zh-CN" sz="3200">
                <a:latin typeface="宋体" panose="02010600030101010101" pitchFamily="2" charset="-122"/>
              </a:rPr>
              <a:t>EU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宋体" panose="02010600030101010101" pitchFamily="2" charset="-122"/>
              </a:rPr>
              <a:t>(</a:t>
            </a:r>
            <a:r>
              <a:rPr lang="en-US" altLang="zh-CN" sz="2400">
                <a:latin typeface="Garamond" panose="02020404030301010803" pitchFamily="18" charset="0"/>
              </a:rPr>
              <a:t>Executive Unit)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27836215-C579-45BC-AA97-F797B4FE9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4208463"/>
            <a:ext cx="32512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>
                <a:latin typeface="宋体" panose="02010600030101010101" pitchFamily="2" charset="-122"/>
              </a:rPr>
              <a:t>总线接口部件</a:t>
            </a:r>
            <a:r>
              <a:rPr lang="en-US" altLang="zh-CN" sz="3200">
                <a:latin typeface="宋体" panose="02010600030101010101" pitchFamily="2" charset="-122"/>
              </a:rPr>
              <a:t>BIU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宋体" panose="02010600030101010101" pitchFamily="2" charset="-122"/>
              </a:rPr>
              <a:t>(Bus Interface Unit)</a:t>
            </a:r>
          </a:p>
        </p:txBody>
      </p:sp>
      <p:sp>
        <p:nvSpPr>
          <p:cNvPr id="6151" name="AutoShape 7">
            <a:extLst>
              <a:ext uri="{FF2B5EF4-FFF2-40B4-BE49-F238E27FC236}">
                <a16:creationId xmlns:a16="http://schemas.microsoft.com/office/drawing/2014/main" id="{29594618-811A-4FC3-89DC-E8E89660E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69850"/>
            <a:ext cx="1371600" cy="1025525"/>
          </a:xfrm>
          <a:prstGeom prst="wedgeRoundRectCallout">
            <a:avLst>
              <a:gd name="adj1" fmla="val -84491"/>
              <a:gd name="adj2" fmla="val 7213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solidFill>
                  <a:schemeClr val="folHlink"/>
                </a:solidFill>
                <a:latin typeface="Times New Roman" panose="02020603050405020304" pitchFamily="18" charset="0"/>
              </a:rPr>
              <a:t>负责执行指令</a:t>
            </a:r>
          </a:p>
        </p:txBody>
      </p:sp>
      <p:grpSp>
        <p:nvGrpSpPr>
          <p:cNvPr id="6152" name="组合 6151">
            <a:extLst>
              <a:ext uri="{FF2B5EF4-FFF2-40B4-BE49-F238E27FC236}">
                <a16:creationId xmlns:a16="http://schemas.microsoft.com/office/drawing/2014/main" id="{794EE7B0-D6B4-4434-A900-4321ED39E8C5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698625"/>
            <a:ext cx="1066800" cy="3048000"/>
            <a:chOff x="0" y="0"/>
            <a:chExt cx="672" cy="1920"/>
          </a:xfrm>
        </p:grpSpPr>
        <p:sp>
          <p:nvSpPr>
            <p:cNvPr id="54283" name="Line 9">
              <a:extLst>
                <a:ext uri="{FF2B5EF4-FFF2-40B4-BE49-F238E27FC236}">
                  <a16:creationId xmlns:a16="http://schemas.microsoft.com/office/drawing/2014/main" id="{A6762A49-8816-407B-B0DC-7AE7FDBB9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912"/>
              <a:ext cx="24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4" name="Line 10">
              <a:extLst>
                <a:ext uri="{FF2B5EF4-FFF2-40B4-BE49-F238E27FC236}">
                  <a16:creationId xmlns:a16="http://schemas.microsoft.com/office/drawing/2014/main" id="{58051AA7-4569-45CE-9943-31890CEF4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0"/>
              <a:ext cx="0" cy="192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5" name="Line 11">
              <a:extLst>
                <a:ext uri="{FF2B5EF4-FFF2-40B4-BE49-F238E27FC236}">
                  <a16:creationId xmlns:a16="http://schemas.microsoft.com/office/drawing/2014/main" id="{8B909A1D-8EEC-4285-9CFF-3388FD045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0"/>
              <a:ext cx="43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6" name="Line 12">
              <a:extLst>
                <a:ext uri="{FF2B5EF4-FFF2-40B4-BE49-F238E27FC236}">
                  <a16:creationId xmlns:a16="http://schemas.microsoft.com/office/drawing/2014/main" id="{E9B78618-77ED-4A40-AB4E-4D6972FDA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920"/>
              <a:ext cx="43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57" name="Rectangle 17">
            <a:extLst>
              <a:ext uri="{FF2B5EF4-FFF2-40B4-BE49-F238E27FC236}">
                <a16:creationId xmlns:a16="http://schemas.microsoft.com/office/drawing/2014/main" id="{14A876E2-AF8D-4519-B5E7-1CB275521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5313363"/>
            <a:ext cx="6553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EU</a:t>
            </a:r>
            <a:r>
              <a:rPr lang="zh-CN" altLang="en-US" sz="32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32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BIU</a:t>
            </a:r>
            <a:r>
              <a:rPr lang="zh-CN" altLang="en-US" sz="32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之间是并行工作的！！！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目的：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提高系统工作效率</a:t>
            </a:r>
          </a:p>
        </p:txBody>
      </p:sp>
      <p:sp>
        <p:nvSpPr>
          <p:cNvPr id="13325" name="灯片编号占位符 1">
            <a:extLst>
              <a:ext uri="{FF2B5EF4-FFF2-40B4-BE49-F238E27FC236}">
                <a16:creationId xmlns:a16="http://schemas.microsoft.com/office/drawing/2014/main" id="{5CBE6B89-BE9B-4B7D-8436-07246FFFC7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1714216-782C-4C4B-A320-1FC911B88E0E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4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3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ldLvl="0" animBg="1"/>
      <p:bldP spid="6147" grpId="0"/>
      <p:bldP spid="6148" grpId="0"/>
      <p:bldP spid="6149" grpId="0"/>
      <p:bldP spid="6150" grpId="0"/>
      <p:bldP spid="6151" grpId="0" bldLvl="0" animBg="1"/>
      <p:bldP spid="61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>
            <a:extLst>
              <a:ext uri="{FF2B5EF4-FFF2-40B4-BE49-F238E27FC236}">
                <a16:creationId xmlns:a16="http://schemas.microsoft.com/office/drawing/2014/main" id="{B52D7FCE-9E2B-4645-8B66-16CEF54FE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260350"/>
            <a:ext cx="47688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8086 CPU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的构成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——        </a:t>
            </a:r>
          </a:p>
        </p:txBody>
      </p:sp>
      <p:sp>
        <p:nvSpPr>
          <p:cNvPr id="55299" name="Rectangle 13">
            <a:extLst>
              <a:ext uri="{FF2B5EF4-FFF2-40B4-BE49-F238E27FC236}">
                <a16:creationId xmlns:a16="http://schemas.microsoft.com/office/drawing/2014/main" id="{1ED8E65B-DE2D-4E00-9524-4395F6EDD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33375"/>
            <a:ext cx="4535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EU</a:t>
            </a:r>
            <a:r>
              <a:rPr lang="zh-CN" altLang="en-US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BIU</a:t>
            </a:r>
            <a:r>
              <a:rPr lang="zh-CN" altLang="en-US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的并行工作机制</a:t>
            </a:r>
          </a:p>
        </p:txBody>
      </p:sp>
      <p:grpSp>
        <p:nvGrpSpPr>
          <p:cNvPr id="7172" name="组合 7171">
            <a:extLst>
              <a:ext uri="{FF2B5EF4-FFF2-40B4-BE49-F238E27FC236}">
                <a16:creationId xmlns:a16="http://schemas.microsoft.com/office/drawing/2014/main" id="{3A8DA681-D47E-4DA6-A982-620BE3D11F9F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339850"/>
            <a:ext cx="2124075" cy="5421313"/>
            <a:chOff x="0" y="0"/>
            <a:chExt cx="1338" cy="3415"/>
          </a:xfrm>
        </p:grpSpPr>
        <p:sp>
          <p:nvSpPr>
            <p:cNvPr id="55356" name="Rectangle 47">
              <a:extLst>
                <a:ext uri="{FF2B5EF4-FFF2-40B4-BE49-F238E27FC236}">
                  <a16:creationId xmlns:a16="http://schemas.microsoft.com/office/drawing/2014/main" id="{8C79AA0D-4938-4CCA-BE35-E4F18D280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338" cy="389"/>
            </a:xfrm>
            <a:prstGeom prst="rect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3200">
                  <a:latin typeface="宋体" panose="02010600030101010101" pitchFamily="2" charset="-122"/>
                </a:rPr>
                <a:t>师傅</a:t>
              </a:r>
              <a:endParaRPr lang="zh-CN" altLang="en-US" sz="2400">
                <a:latin typeface="宋体" panose="02010600030101010101" pitchFamily="2" charset="-122"/>
              </a:endParaRPr>
            </a:p>
          </p:txBody>
        </p:sp>
        <p:sp>
          <p:nvSpPr>
            <p:cNvPr id="55357" name="Rectangle 55">
              <a:extLst>
                <a:ext uri="{FF2B5EF4-FFF2-40B4-BE49-F238E27FC236}">
                  <a16:creationId xmlns:a16="http://schemas.microsoft.com/office/drawing/2014/main" id="{F50F09F6-01F8-4BAC-8891-C548CB3A4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2132"/>
              <a:ext cx="318" cy="953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58" name="Rectangle 58">
              <a:extLst>
                <a:ext uri="{FF2B5EF4-FFF2-40B4-BE49-F238E27FC236}">
                  <a16:creationId xmlns:a16="http://schemas.microsoft.com/office/drawing/2014/main" id="{977835DD-DF04-4B1D-A448-68223595E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" y="2120"/>
              <a:ext cx="635" cy="953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59" name="Rectangle 59">
              <a:extLst>
                <a:ext uri="{FF2B5EF4-FFF2-40B4-BE49-F238E27FC236}">
                  <a16:creationId xmlns:a16="http://schemas.microsoft.com/office/drawing/2014/main" id="{A785E47A-A6A4-4DD9-9E69-0739A976A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2631"/>
              <a:ext cx="227" cy="45"/>
            </a:xfrm>
            <a:prstGeom prst="rect">
              <a:avLst/>
            </a:prstGeom>
            <a:solidFill>
              <a:srgbClr val="FF6600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0" name="Rectangle 60">
              <a:extLst>
                <a:ext uri="{FF2B5EF4-FFF2-40B4-BE49-F238E27FC236}">
                  <a16:creationId xmlns:a16="http://schemas.microsoft.com/office/drawing/2014/main" id="{1C59FE90-4214-482A-8499-99E60CD5C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2721"/>
              <a:ext cx="227" cy="45"/>
            </a:xfrm>
            <a:prstGeom prst="rect">
              <a:avLst/>
            </a:prstGeom>
            <a:solidFill>
              <a:srgbClr val="FF6600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1" name="Rectangle 61">
              <a:extLst>
                <a:ext uri="{FF2B5EF4-FFF2-40B4-BE49-F238E27FC236}">
                  <a16:creationId xmlns:a16="http://schemas.microsoft.com/office/drawing/2014/main" id="{65E24577-D8B9-49D8-A661-D26C59FE8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2812"/>
              <a:ext cx="227" cy="45"/>
            </a:xfrm>
            <a:prstGeom prst="rect">
              <a:avLst/>
            </a:prstGeom>
            <a:solidFill>
              <a:srgbClr val="FF6600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2" name="Rectangle 62">
              <a:extLst>
                <a:ext uri="{FF2B5EF4-FFF2-40B4-BE49-F238E27FC236}">
                  <a16:creationId xmlns:a16="http://schemas.microsoft.com/office/drawing/2014/main" id="{25F94561-6FF5-4E45-9462-DDB9DD6C1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2902"/>
              <a:ext cx="227" cy="45"/>
            </a:xfrm>
            <a:prstGeom prst="rect">
              <a:avLst/>
            </a:prstGeom>
            <a:solidFill>
              <a:srgbClr val="FF6600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3" name="Rectangle 63">
              <a:extLst>
                <a:ext uri="{FF2B5EF4-FFF2-40B4-BE49-F238E27FC236}">
                  <a16:creationId xmlns:a16="http://schemas.microsoft.com/office/drawing/2014/main" id="{9E008BB1-1036-4499-9C67-1F36E1352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2994"/>
              <a:ext cx="227" cy="45"/>
            </a:xfrm>
            <a:prstGeom prst="rect">
              <a:avLst/>
            </a:prstGeom>
            <a:solidFill>
              <a:srgbClr val="FF6600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4" name="Rectangle 64">
              <a:extLst>
                <a:ext uri="{FF2B5EF4-FFF2-40B4-BE49-F238E27FC236}">
                  <a16:creationId xmlns:a16="http://schemas.microsoft.com/office/drawing/2014/main" id="{4E76C9DB-5E78-4BE2-B27E-735CC3717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2845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5" name="Rectangle 65">
              <a:extLst>
                <a:ext uri="{FF2B5EF4-FFF2-40B4-BE49-F238E27FC236}">
                  <a16:creationId xmlns:a16="http://schemas.microsoft.com/office/drawing/2014/main" id="{A8D02FD4-3C20-4028-AA6F-04F1C09E1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" y="2709"/>
              <a:ext cx="45" cy="227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6" name="Rectangle 66">
              <a:extLst>
                <a:ext uri="{FF2B5EF4-FFF2-40B4-BE49-F238E27FC236}">
                  <a16:creationId xmlns:a16="http://schemas.microsoft.com/office/drawing/2014/main" id="{9FF6481C-2161-4DFE-B79B-1408B13BA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2981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7" name="Rectangle 67">
              <a:extLst>
                <a:ext uri="{FF2B5EF4-FFF2-40B4-BE49-F238E27FC236}">
                  <a16:creationId xmlns:a16="http://schemas.microsoft.com/office/drawing/2014/main" id="{B8511767-66D4-40FC-9FA9-2BC6910EA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2891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8" name="Rectangle 68">
              <a:extLst>
                <a:ext uri="{FF2B5EF4-FFF2-40B4-BE49-F238E27FC236}">
                  <a16:creationId xmlns:a16="http://schemas.microsoft.com/office/drawing/2014/main" id="{2BB3CC49-DBCD-4DBA-B384-F623F96FC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2981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9" name="Rectangle 69">
              <a:extLst>
                <a:ext uri="{FF2B5EF4-FFF2-40B4-BE49-F238E27FC236}">
                  <a16:creationId xmlns:a16="http://schemas.microsoft.com/office/drawing/2014/main" id="{FB7B8472-6E61-44FD-AEA8-624DD3F17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2800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70" name="Rectangle 70">
              <a:extLst>
                <a:ext uri="{FF2B5EF4-FFF2-40B4-BE49-F238E27FC236}">
                  <a16:creationId xmlns:a16="http://schemas.microsoft.com/office/drawing/2014/main" id="{CF2080B8-AF0A-47EC-8A67-4D0299120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" y="2664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71" name="Rectangle 71">
              <a:extLst>
                <a:ext uri="{FF2B5EF4-FFF2-40B4-BE49-F238E27FC236}">
                  <a16:creationId xmlns:a16="http://schemas.microsoft.com/office/drawing/2014/main" id="{7EE6E683-AB5D-43B7-B45A-E2959B459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2755"/>
              <a:ext cx="45" cy="227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72" name="Line 72">
              <a:extLst>
                <a:ext uri="{FF2B5EF4-FFF2-40B4-BE49-F238E27FC236}">
                  <a16:creationId xmlns:a16="http://schemas.microsoft.com/office/drawing/2014/main" id="{8F6D0213-CF60-4D30-B0FE-033188A2CC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" y="396"/>
              <a:ext cx="1" cy="173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3" name="Line 73">
              <a:extLst>
                <a:ext uri="{FF2B5EF4-FFF2-40B4-BE49-F238E27FC236}">
                  <a16:creationId xmlns:a16="http://schemas.microsoft.com/office/drawing/2014/main" id="{E600C8A6-F09C-434E-9CC1-40FDF10912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3" y="409"/>
              <a:ext cx="1" cy="1711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4" name="Rectangle 96">
              <a:extLst>
                <a:ext uri="{FF2B5EF4-FFF2-40B4-BE49-F238E27FC236}">
                  <a16:creationId xmlns:a16="http://schemas.microsoft.com/office/drawing/2014/main" id="{5E900AF3-1495-4FA9-941F-8145D7326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" y="3127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Garamond" panose="02020404030301010803" pitchFamily="18" charset="0"/>
                </a:rPr>
                <a:t>低效率</a:t>
              </a:r>
            </a:p>
          </p:txBody>
        </p:sp>
      </p:grpSp>
      <p:grpSp>
        <p:nvGrpSpPr>
          <p:cNvPr id="7192" name="组合 7191">
            <a:extLst>
              <a:ext uri="{FF2B5EF4-FFF2-40B4-BE49-F238E27FC236}">
                <a16:creationId xmlns:a16="http://schemas.microsoft.com/office/drawing/2014/main" id="{BFE1073B-863F-4DCC-9136-7E714805A31A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1341438"/>
            <a:ext cx="2740025" cy="5400675"/>
            <a:chOff x="0" y="0"/>
            <a:chExt cx="1726" cy="3402"/>
          </a:xfrm>
        </p:grpSpPr>
        <p:sp>
          <p:nvSpPr>
            <p:cNvPr id="55336" name="Rectangle 75">
              <a:extLst>
                <a:ext uri="{FF2B5EF4-FFF2-40B4-BE49-F238E27FC236}">
                  <a16:creationId xmlns:a16="http://schemas.microsoft.com/office/drawing/2014/main" id="{A2673462-C2EE-490F-A345-A673E2770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" y="0"/>
              <a:ext cx="1270" cy="389"/>
            </a:xfrm>
            <a:prstGeom prst="rect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3200">
                  <a:latin typeface="宋体" panose="02010600030101010101" pitchFamily="2" charset="-122"/>
                </a:rPr>
                <a:t>EU</a:t>
              </a:r>
              <a:endParaRPr lang="zh-CN" altLang="en-US" sz="2400">
                <a:latin typeface="宋体" panose="02010600030101010101" pitchFamily="2" charset="-122"/>
              </a:endParaRPr>
            </a:p>
          </p:txBody>
        </p:sp>
        <p:sp>
          <p:nvSpPr>
            <p:cNvPr id="55337" name="Rectangle 76">
              <a:extLst>
                <a:ext uri="{FF2B5EF4-FFF2-40B4-BE49-F238E27FC236}">
                  <a16:creationId xmlns:a16="http://schemas.microsoft.com/office/drawing/2014/main" id="{FECDF429-F44B-41B0-98D9-F411B4714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544"/>
              <a:ext cx="318" cy="72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38" name="Rectangle 77">
              <a:extLst>
                <a:ext uri="{FF2B5EF4-FFF2-40B4-BE49-F238E27FC236}">
                  <a16:creationId xmlns:a16="http://schemas.microsoft.com/office/drawing/2014/main" id="{2A170990-1C4B-4C8C-BE58-1A431D545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496"/>
              <a:ext cx="1406" cy="389"/>
            </a:xfrm>
            <a:prstGeom prst="rect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3200">
                  <a:latin typeface="宋体" panose="02010600030101010101" pitchFamily="2" charset="-122"/>
                </a:rPr>
                <a:t>BIU</a:t>
              </a:r>
              <a:endParaRPr lang="en-US" altLang="zh-CN" sz="2400">
                <a:latin typeface="宋体" panose="02010600030101010101" pitchFamily="2" charset="-122"/>
              </a:endParaRPr>
            </a:p>
          </p:txBody>
        </p:sp>
        <p:sp>
          <p:nvSpPr>
            <p:cNvPr id="55339" name="Rectangle 78">
              <a:extLst>
                <a:ext uri="{FF2B5EF4-FFF2-40B4-BE49-F238E27FC236}">
                  <a16:creationId xmlns:a16="http://schemas.microsoft.com/office/drawing/2014/main" id="{C9D62F61-D68B-49D2-AF02-BB46DEA65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131"/>
              <a:ext cx="1360" cy="953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40" name="Rectangle 79">
              <a:extLst>
                <a:ext uri="{FF2B5EF4-FFF2-40B4-BE49-F238E27FC236}">
                  <a16:creationId xmlns:a16="http://schemas.microsoft.com/office/drawing/2014/main" id="{10D20938-58FB-486A-B970-E244FFD92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" y="2449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rgbClr val="000000"/>
                  </a:solidFill>
                  <a:latin typeface="Garamond" panose="02020404030301010803" pitchFamily="18" charset="0"/>
                </a:rPr>
                <a:t>存储器</a:t>
              </a:r>
            </a:p>
          </p:txBody>
        </p:sp>
        <p:sp>
          <p:nvSpPr>
            <p:cNvPr id="55341" name="Line 80">
              <a:extLst>
                <a:ext uri="{FF2B5EF4-FFF2-40B4-BE49-F238E27FC236}">
                  <a16:creationId xmlns:a16="http://schemas.microsoft.com/office/drawing/2014/main" id="{5AA708A3-0675-472C-BB64-35A4185D42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8" y="1897"/>
              <a:ext cx="0" cy="22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2" name="Line 81">
              <a:extLst>
                <a:ext uri="{FF2B5EF4-FFF2-40B4-BE49-F238E27FC236}">
                  <a16:creationId xmlns:a16="http://schemas.microsoft.com/office/drawing/2014/main" id="{EAB47EF1-7E61-4A8F-9024-8C473AC6A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5" y="1270"/>
              <a:ext cx="0" cy="22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3" name="Line 82">
              <a:extLst>
                <a:ext uri="{FF2B5EF4-FFF2-40B4-BE49-F238E27FC236}">
                  <a16:creationId xmlns:a16="http://schemas.microsoft.com/office/drawing/2014/main" id="{3CE78C8E-85AC-4F9A-97E4-5EA98D20D9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3" y="391"/>
              <a:ext cx="0" cy="13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4" name="Line 83">
              <a:extLst>
                <a:ext uri="{FF2B5EF4-FFF2-40B4-BE49-F238E27FC236}">
                  <a16:creationId xmlns:a16="http://schemas.microsoft.com/office/drawing/2014/main" id="{C976E327-B236-4C08-BD9B-D26A329DC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907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5" name="Line 84">
              <a:extLst>
                <a:ext uri="{FF2B5EF4-FFF2-40B4-BE49-F238E27FC236}">
                  <a16:creationId xmlns:a16="http://schemas.microsoft.com/office/drawing/2014/main" id="{DC1803DA-7986-4314-A644-027BDBABB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1027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6" name="Line 85">
              <a:extLst>
                <a:ext uri="{FF2B5EF4-FFF2-40B4-BE49-F238E27FC236}">
                  <a16:creationId xmlns:a16="http://schemas.microsoft.com/office/drawing/2014/main" id="{A2152408-CFE3-4319-840C-DBDB9E1443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1150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7" name="Line 88">
              <a:extLst>
                <a:ext uri="{FF2B5EF4-FFF2-40B4-BE49-F238E27FC236}">
                  <a16:creationId xmlns:a16="http://schemas.microsoft.com/office/drawing/2014/main" id="{1004818B-C83C-48CD-A9E8-37EC6A4DD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664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8" name="Line 89">
              <a:extLst>
                <a:ext uri="{FF2B5EF4-FFF2-40B4-BE49-F238E27FC236}">
                  <a16:creationId xmlns:a16="http://schemas.microsoft.com/office/drawing/2014/main" id="{970ADFA5-9BF1-40A3-B7DD-D4E38DF20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787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9" name="Rectangle 90">
              <a:extLst>
                <a:ext uri="{FF2B5EF4-FFF2-40B4-BE49-F238E27FC236}">
                  <a16:creationId xmlns:a16="http://schemas.microsoft.com/office/drawing/2014/main" id="{C8FE83C4-6D47-4065-AFFC-03714D701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582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50" name="Rectangle 91">
              <a:extLst>
                <a:ext uri="{FF2B5EF4-FFF2-40B4-BE49-F238E27FC236}">
                  <a16:creationId xmlns:a16="http://schemas.microsoft.com/office/drawing/2014/main" id="{463F5807-A3D1-4E46-9131-38A756344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710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51" name="Rectangle 92">
              <a:extLst>
                <a:ext uri="{FF2B5EF4-FFF2-40B4-BE49-F238E27FC236}">
                  <a16:creationId xmlns:a16="http://schemas.microsoft.com/office/drawing/2014/main" id="{BA60EEE8-D13D-4FC4-9C1F-B9155E3CA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830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52" name="Line 93">
              <a:extLst>
                <a:ext uri="{FF2B5EF4-FFF2-40B4-BE49-F238E27FC236}">
                  <a16:creationId xmlns:a16="http://schemas.microsoft.com/office/drawing/2014/main" id="{FF9615FD-42BC-4C3D-922A-8E12A8E934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" y="408"/>
              <a:ext cx="0" cy="108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3" name="Line 94">
              <a:extLst>
                <a:ext uri="{FF2B5EF4-FFF2-40B4-BE49-F238E27FC236}">
                  <a16:creationId xmlns:a16="http://schemas.microsoft.com/office/drawing/2014/main" id="{95F5A9B1-9D14-4D40-99EF-1CDEA1B5A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" y="1888"/>
              <a:ext cx="0" cy="243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4" name="Rectangle 95">
              <a:extLst>
                <a:ext uri="{FF2B5EF4-FFF2-40B4-BE49-F238E27FC236}">
                  <a16:creationId xmlns:a16="http://schemas.microsoft.com/office/drawing/2014/main" id="{41ECA8F2-64B6-4EDF-AB4F-510D46F44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616"/>
              <a:ext cx="50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solidFill>
                    <a:srgbClr val="FF9900"/>
                  </a:solidFill>
                  <a:latin typeface="Garamond" panose="02020404030301010803" pitchFamily="18" charset="0"/>
                  <a:ea typeface="楷体_GB2312" pitchFamily="49" charset="-122"/>
                </a:rPr>
                <a:t>指令</a:t>
              </a:r>
            </a:p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solidFill>
                    <a:srgbClr val="FF9900"/>
                  </a:solidFill>
                  <a:latin typeface="Garamond" panose="02020404030301010803" pitchFamily="18" charset="0"/>
                  <a:ea typeface="楷体_GB2312" pitchFamily="49" charset="-122"/>
                </a:rPr>
                <a:t>队列</a:t>
              </a:r>
            </a:p>
          </p:txBody>
        </p:sp>
        <p:sp>
          <p:nvSpPr>
            <p:cNvPr id="55355" name="Rectangle 98">
              <a:extLst>
                <a:ext uri="{FF2B5EF4-FFF2-40B4-BE49-F238E27FC236}">
                  <a16:creationId xmlns:a16="http://schemas.microsoft.com/office/drawing/2014/main" id="{2CC281B4-BDCE-44A2-B11A-3711A19F1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" y="3114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Garamond" panose="02020404030301010803" pitchFamily="18" charset="0"/>
                </a:rPr>
                <a:t>高效率</a:t>
              </a:r>
            </a:p>
          </p:txBody>
        </p:sp>
      </p:grpSp>
      <p:grpSp>
        <p:nvGrpSpPr>
          <p:cNvPr id="7213" name="组合 7212">
            <a:extLst>
              <a:ext uri="{FF2B5EF4-FFF2-40B4-BE49-F238E27FC236}">
                <a16:creationId xmlns:a16="http://schemas.microsoft.com/office/drawing/2014/main" id="{DC577475-544B-4444-BBDC-07914C109577}"/>
              </a:ext>
            </a:extLst>
          </p:cNvPr>
          <p:cNvGrpSpPr>
            <a:grpSpLocks/>
          </p:cNvGrpSpPr>
          <p:nvPr/>
        </p:nvGrpSpPr>
        <p:grpSpPr bwMode="auto">
          <a:xfrm>
            <a:off x="3311525" y="1341438"/>
            <a:ext cx="3060700" cy="5424487"/>
            <a:chOff x="0" y="0"/>
            <a:chExt cx="1928" cy="3417"/>
          </a:xfrm>
        </p:grpSpPr>
        <p:grpSp>
          <p:nvGrpSpPr>
            <p:cNvPr id="55305" name="组合 7213">
              <a:extLst>
                <a:ext uri="{FF2B5EF4-FFF2-40B4-BE49-F238E27FC236}">
                  <a16:creationId xmlns:a16="http://schemas.microsoft.com/office/drawing/2014/main" id="{DF30E451-D36B-47FD-85A5-00D3BDA0DA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338" cy="3417"/>
              <a:chOff x="0" y="0"/>
              <a:chExt cx="1338" cy="3417"/>
            </a:xfrm>
          </p:grpSpPr>
          <p:sp>
            <p:nvSpPr>
              <p:cNvPr id="55307" name="Rectangle 6">
                <a:extLst>
                  <a:ext uri="{FF2B5EF4-FFF2-40B4-BE49-F238E27FC236}">
                    <a16:creationId xmlns:a16="http://schemas.microsoft.com/office/drawing/2014/main" id="{C1F6ECEF-5C2F-471E-80D7-B01874A21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1338" cy="389"/>
              </a:xfrm>
              <a:prstGeom prst="rect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3200">
                    <a:latin typeface="宋体" panose="02010600030101010101" pitchFamily="2" charset="-122"/>
                  </a:rPr>
                  <a:t>师傅</a:t>
                </a:r>
                <a:endParaRPr lang="zh-CN" altLang="en-US" sz="2400">
                  <a:latin typeface="宋体" panose="02010600030101010101" pitchFamily="2" charset="-122"/>
                </a:endParaRPr>
              </a:p>
            </p:txBody>
          </p:sp>
          <p:sp>
            <p:nvSpPr>
              <p:cNvPr id="55308" name="Rectangle 16">
                <a:extLst>
                  <a:ext uri="{FF2B5EF4-FFF2-40B4-BE49-F238E27FC236}">
                    <a16:creationId xmlns:a16="http://schemas.microsoft.com/office/drawing/2014/main" id="{1E9C39D5-EDFE-43E9-BDAD-3CADFD303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7" y="532"/>
                <a:ext cx="318" cy="726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09" name="Rectangle 17">
                <a:extLst>
                  <a:ext uri="{FF2B5EF4-FFF2-40B4-BE49-F238E27FC236}">
                    <a16:creationId xmlns:a16="http://schemas.microsoft.com/office/drawing/2014/main" id="{9728B77B-97B3-4688-B06C-C5A4D68B0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3" y="577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0" name="Rectangle 18">
                <a:extLst>
                  <a:ext uri="{FF2B5EF4-FFF2-40B4-BE49-F238E27FC236}">
                    <a16:creationId xmlns:a16="http://schemas.microsoft.com/office/drawing/2014/main" id="{C5BC71BF-15B6-4F41-AA52-D629E5474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3" y="667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1" name="Rectangle 19">
                <a:extLst>
                  <a:ext uri="{FF2B5EF4-FFF2-40B4-BE49-F238E27FC236}">
                    <a16:creationId xmlns:a16="http://schemas.microsoft.com/office/drawing/2014/main" id="{9ACB4AE2-8D80-4CDE-A2C9-94C07FCF7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3" y="758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2" name="Rectangle 20">
                <a:extLst>
                  <a:ext uri="{FF2B5EF4-FFF2-40B4-BE49-F238E27FC236}">
                    <a16:creationId xmlns:a16="http://schemas.microsoft.com/office/drawing/2014/main" id="{3061AF03-782C-4979-8525-97CC3E4F0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3" y="848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3" name="Rectangle 21">
                <a:extLst>
                  <a:ext uri="{FF2B5EF4-FFF2-40B4-BE49-F238E27FC236}">
                    <a16:creationId xmlns:a16="http://schemas.microsoft.com/office/drawing/2014/main" id="{22B17FE2-A93D-4A94-B8E1-F600D0F910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3" y="940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4" name="Rectangle 25">
                <a:extLst>
                  <a:ext uri="{FF2B5EF4-FFF2-40B4-BE49-F238E27FC236}">
                    <a16:creationId xmlns:a16="http://schemas.microsoft.com/office/drawing/2014/main" id="{E95097DA-BF62-4F15-A289-3C4ED94C9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39"/>
                <a:ext cx="1301" cy="389"/>
              </a:xfrm>
              <a:prstGeom prst="rect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3200">
                    <a:latin typeface="宋体" panose="02010600030101010101" pitchFamily="2" charset="-122"/>
                  </a:rPr>
                  <a:t>徒弟</a:t>
                </a:r>
                <a:endParaRPr lang="zh-CN" altLang="en-US" sz="2400">
                  <a:latin typeface="宋体" panose="02010600030101010101" pitchFamily="2" charset="-122"/>
                </a:endParaRPr>
              </a:p>
            </p:txBody>
          </p:sp>
          <p:sp>
            <p:nvSpPr>
              <p:cNvPr id="55315" name="Rectangle 26">
                <a:extLst>
                  <a:ext uri="{FF2B5EF4-FFF2-40B4-BE49-F238E27FC236}">
                    <a16:creationId xmlns:a16="http://schemas.microsoft.com/office/drawing/2014/main" id="{45D7DB99-7D1F-45A1-907F-30D9478A1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120"/>
                <a:ext cx="318" cy="953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6" name="Line 28">
                <a:extLst>
                  <a:ext uri="{FF2B5EF4-FFF2-40B4-BE49-F238E27FC236}">
                    <a16:creationId xmlns:a16="http://schemas.microsoft.com/office/drawing/2014/main" id="{835E51FF-1E78-49C6-B191-C0D9457561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3" y="1258"/>
                <a:ext cx="0" cy="181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7" name="Line 29">
                <a:extLst>
                  <a:ext uri="{FF2B5EF4-FFF2-40B4-BE49-F238E27FC236}">
                    <a16:creationId xmlns:a16="http://schemas.microsoft.com/office/drawing/2014/main" id="{C2D5545A-E693-4E4A-BD49-74963154D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3" y="396"/>
                <a:ext cx="0" cy="136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8" name="Rectangle 30">
                <a:extLst>
                  <a:ext uri="{FF2B5EF4-FFF2-40B4-BE49-F238E27FC236}">
                    <a16:creationId xmlns:a16="http://schemas.microsoft.com/office/drawing/2014/main" id="{C0F37E26-9D5A-4DE4-A5DF-D3D67721D6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0" y="2120"/>
                <a:ext cx="635" cy="953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9" name="Rectangle 31">
                <a:extLst>
                  <a:ext uri="{FF2B5EF4-FFF2-40B4-BE49-F238E27FC236}">
                    <a16:creationId xmlns:a16="http://schemas.microsoft.com/office/drawing/2014/main" id="{7FB9774B-A8FE-4E26-A13D-944137666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2619"/>
                <a:ext cx="227" cy="45"/>
              </a:xfrm>
              <a:prstGeom prst="rect">
                <a:avLst/>
              </a:prstGeom>
              <a:solidFill>
                <a:srgbClr val="FF6600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0" name="Rectangle 32">
                <a:extLst>
                  <a:ext uri="{FF2B5EF4-FFF2-40B4-BE49-F238E27FC236}">
                    <a16:creationId xmlns:a16="http://schemas.microsoft.com/office/drawing/2014/main" id="{24E512A1-D32D-41CF-AD81-0518D5D0D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2709"/>
                <a:ext cx="227" cy="45"/>
              </a:xfrm>
              <a:prstGeom prst="rect">
                <a:avLst/>
              </a:prstGeom>
              <a:solidFill>
                <a:srgbClr val="FF6600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1" name="Rectangle 33">
                <a:extLst>
                  <a:ext uri="{FF2B5EF4-FFF2-40B4-BE49-F238E27FC236}">
                    <a16:creationId xmlns:a16="http://schemas.microsoft.com/office/drawing/2014/main" id="{C9CAFDC4-A1B4-408E-A216-A68A3705E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2800"/>
                <a:ext cx="227" cy="45"/>
              </a:xfrm>
              <a:prstGeom prst="rect">
                <a:avLst/>
              </a:prstGeom>
              <a:solidFill>
                <a:srgbClr val="FF6600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2" name="Rectangle 34">
                <a:extLst>
                  <a:ext uri="{FF2B5EF4-FFF2-40B4-BE49-F238E27FC236}">
                    <a16:creationId xmlns:a16="http://schemas.microsoft.com/office/drawing/2014/main" id="{065C09F1-A5F9-49ED-8840-111D913A32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2890"/>
                <a:ext cx="227" cy="45"/>
              </a:xfrm>
              <a:prstGeom prst="rect">
                <a:avLst/>
              </a:prstGeom>
              <a:solidFill>
                <a:srgbClr val="FF6600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3" name="Rectangle 35">
                <a:extLst>
                  <a:ext uri="{FF2B5EF4-FFF2-40B4-BE49-F238E27FC236}">
                    <a16:creationId xmlns:a16="http://schemas.microsoft.com/office/drawing/2014/main" id="{228B4BCB-5C6A-44F4-9B0A-CDC423FB4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2982"/>
                <a:ext cx="227" cy="45"/>
              </a:xfrm>
              <a:prstGeom prst="rect">
                <a:avLst/>
              </a:prstGeom>
              <a:solidFill>
                <a:srgbClr val="FF6600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4" name="Rectangle 36">
                <a:extLst>
                  <a:ext uri="{FF2B5EF4-FFF2-40B4-BE49-F238E27FC236}">
                    <a16:creationId xmlns:a16="http://schemas.microsoft.com/office/drawing/2014/main" id="{66124765-B684-4F9E-9295-B61E1F698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" y="2845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5" name="Rectangle 37">
                <a:extLst>
                  <a:ext uri="{FF2B5EF4-FFF2-40B4-BE49-F238E27FC236}">
                    <a16:creationId xmlns:a16="http://schemas.microsoft.com/office/drawing/2014/main" id="{28D70A1C-067A-4155-8952-A71ADA9F2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" y="2709"/>
                <a:ext cx="45" cy="227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6" name="Rectangle 38">
                <a:extLst>
                  <a:ext uri="{FF2B5EF4-FFF2-40B4-BE49-F238E27FC236}">
                    <a16:creationId xmlns:a16="http://schemas.microsoft.com/office/drawing/2014/main" id="{2AC49AA4-40D0-4259-987B-0F984DE5CC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" y="2981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7" name="Rectangle 39">
                <a:extLst>
                  <a:ext uri="{FF2B5EF4-FFF2-40B4-BE49-F238E27FC236}">
                    <a16:creationId xmlns:a16="http://schemas.microsoft.com/office/drawing/2014/main" id="{C3A621FA-D1DB-497C-86EF-8E2B8B0F7D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7" y="2891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8" name="Rectangle 40">
                <a:extLst>
                  <a:ext uri="{FF2B5EF4-FFF2-40B4-BE49-F238E27FC236}">
                    <a16:creationId xmlns:a16="http://schemas.microsoft.com/office/drawing/2014/main" id="{078E9083-516F-4314-85FE-732562752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3" y="2981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9" name="Rectangle 41">
                <a:extLst>
                  <a:ext uri="{FF2B5EF4-FFF2-40B4-BE49-F238E27FC236}">
                    <a16:creationId xmlns:a16="http://schemas.microsoft.com/office/drawing/2014/main" id="{3A2B1533-865B-47B2-ADCD-3D8231B75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7" y="2800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30" name="Rectangle 42">
                <a:extLst>
                  <a:ext uri="{FF2B5EF4-FFF2-40B4-BE49-F238E27FC236}">
                    <a16:creationId xmlns:a16="http://schemas.microsoft.com/office/drawing/2014/main" id="{2CCD2016-DD5D-45CB-9B7E-487655A5E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9" y="2664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31" name="Rectangle 43">
                <a:extLst>
                  <a:ext uri="{FF2B5EF4-FFF2-40B4-BE49-F238E27FC236}">
                    <a16:creationId xmlns:a16="http://schemas.microsoft.com/office/drawing/2014/main" id="{AC054220-A1A7-40BD-AE24-386150209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2755"/>
                <a:ext cx="45" cy="227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32" name="Line 44">
                <a:extLst>
                  <a:ext uri="{FF2B5EF4-FFF2-40B4-BE49-F238E27FC236}">
                    <a16:creationId xmlns:a16="http://schemas.microsoft.com/office/drawing/2014/main" id="{D2F6EE26-2BED-4A10-9626-95EF8DF8DC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" y="396"/>
                <a:ext cx="0" cy="104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3" name="Line 45">
                <a:extLst>
                  <a:ext uri="{FF2B5EF4-FFF2-40B4-BE49-F238E27FC236}">
                    <a16:creationId xmlns:a16="http://schemas.microsoft.com/office/drawing/2014/main" id="{FFFC9EC9-A80B-4DE8-B9F3-602BF404E8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3" y="1847"/>
                <a:ext cx="0" cy="27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4" name="Line 46">
                <a:extLst>
                  <a:ext uri="{FF2B5EF4-FFF2-40B4-BE49-F238E27FC236}">
                    <a16:creationId xmlns:a16="http://schemas.microsoft.com/office/drawing/2014/main" id="{CF0C4DE2-5FB0-4DAE-AC37-CC11491E77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" y="1847"/>
                <a:ext cx="0" cy="27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5" name="Rectangle 97">
                <a:extLst>
                  <a:ext uri="{FF2B5EF4-FFF2-40B4-BE49-F238E27FC236}">
                    <a16:creationId xmlns:a16="http://schemas.microsoft.com/office/drawing/2014/main" id="{292EF035-C982-41AD-8283-62802E513C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" y="3129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Garamond" panose="02020404030301010803" pitchFamily="18" charset="0"/>
                  </a:rPr>
                  <a:t>高效率</a:t>
                </a:r>
              </a:p>
            </p:txBody>
          </p:sp>
        </p:grpSp>
        <p:sp>
          <p:nvSpPr>
            <p:cNvPr id="55306" name="矩形 7243">
              <a:extLst>
                <a:ext uri="{FF2B5EF4-FFF2-40B4-BE49-F238E27FC236}">
                  <a16:creationId xmlns:a16="http://schemas.microsoft.com/office/drawing/2014/main" id="{B5A0FB13-9488-4BA4-9363-B6657F75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709"/>
              <a:ext cx="7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solidFill>
                    <a:srgbClr val="FF9900"/>
                  </a:solidFill>
                  <a:latin typeface="Garamond" panose="02020404030301010803" pitchFamily="18" charset="0"/>
                  <a:ea typeface="楷体_GB2312" pitchFamily="49" charset="-122"/>
                </a:rPr>
                <a:t>工件篮</a:t>
              </a:r>
            </a:p>
          </p:txBody>
        </p:sp>
      </p:grpSp>
      <p:sp>
        <p:nvSpPr>
          <p:cNvPr id="7245" name="AutoShape 99">
            <a:extLst>
              <a:ext uri="{FF2B5EF4-FFF2-40B4-BE49-F238E27FC236}">
                <a16:creationId xmlns:a16="http://schemas.microsoft.com/office/drawing/2014/main" id="{D8202EDC-6A92-4F11-AFBE-D380E5C41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05038"/>
            <a:ext cx="4916488" cy="1944687"/>
          </a:xfrm>
          <a:prstGeom prst="wedgeRoundRectCallout">
            <a:avLst>
              <a:gd name="adj1" fmla="val 60042"/>
              <a:gd name="adj2" fmla="val 10644"/>
              <a:gd name="adj3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solidFill>
                  <a:srgbClr val="000000"/>
                </a:solidFill>
                <a:latin typeface="Times New Roman" panose="02020603050405020304" pitchFamily="18" charset="0"/>
              </a:rPr>
              <a:t>关键点：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0">
                <a:solidFill>
                  <a:srgbClr val="000000"/>
                </a:solidFill>
                <a:latin typeface="Times New Roman" panose="02020603050405020304" pitchFamily="18" charset="0"/>
              </a:rPr>
              <a:t>、存储器取指比指令队列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solidFill>
                  <a:srgbClr val="000000"/>
                </a:solidFill>
                <a:latin typeface="Times New Roman" panose="02020603050405020304" pitchFamily="18" charset="0"/>
              </a:rPr>
              <a:t>      取指耗时多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</a:rPr>
              <a:t>EU</a:t>
            </a:r>
            <a:r>
              <a:rPr lang="zh-CN" altLang="en-US" b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</a:rPr>
              <a:t>BIU</a:t>
            </a:r>
            <a:r>
              <a:rPr lang="zh-CN" altLang="en-US" b="0">
                <a:solidFill>
                  <a:srgbClr val="000000"/>
                </a:solidFill>
                <a:latin typeface="Times New Roman" panose="02020603050405020304" pitchFamily="18" charset="0"/>
              </a:rPr>
              <a:t>可并行工作</a:t>
            </a:r>
          </a:p>
        </p:txBody>
      </p:sp>
      <p:sp>
        <p:nvSpPr>
          <p:cNvPr id="14413" name="灯片编号占位符 1">
            <a:extLst>
              <a:ext uri="{FF2B5EF4-FFF2-40B4-BE49-F238E27FC236}">
                <a16:creationId xmlns:a16="http://schemas.microsoft.com/office/drawing/2014/main" id="{54862B4A-E2CA-4AC2-90DD-69A6FD9E886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F1B9622-FD7A-45E2-9952-EE2AF0B9FAD1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5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6A8F1B0D-F680-48C2-BCC3-84A879000B4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268413"/>
            <a:ext cx="8226425" cy="37449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从存储器中取出一条指令（用总线）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译码（分析指令）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从存储器中读取操作数（用总线）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执行指令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将结果存到存储器（用总线）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重复以上过程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由此可见，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总线是信息传输中最忙的信号线</a:t>
            </a:r>
          </a:p>
        </p:txBody>
      </p:sp>
      <p:sp>
        <p:nvSpPr>
          <p:cNvPr id="56323" name="Rectangle 4">
            <a:extLst>
              <a:ext uri="{FF2B5EF4-FFF2-40B4-BE49-F238E27FC236}">
                <a16:creationId xmlns:a16="http://schemas.microsoft.com/office/drawing/2014/main" id="{C72AE974-B9A8-46FF-B78E-37BD1E266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60350"/>
            <a:ext cx="40433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指令的执行过程：</a:t>
            </a:r>
          </a:p>
        </p:txBody>
      </p:sp>
      <p:sp>
        <p:nvSpPr>
          <p:cNvPr id="15363" name="灯片编号占位符 1">
            <a:extLst>
              <a:ext uri="{FF2B5EF4-FFF2-40B4-BE49-F238E27FC236}">
                <a16:creationId xmlns:a16="http://schemas.microsoft.com/office/drawing/2014/main" id="{F6B54513-9838-479D-A056-B0F669308D7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CE93A15-0714-4FA6-B64B-F9BABFEF6A66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6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>
            <a:extLst>
              <a:ext uri="{FF2B5EF4-FFF2-40B4-BE49-F238E27FC236}">
                <a16:creationId xmlns:a16="http://schemas.microsoft.com/office/drawing/2014/main" id="{0FD88A7C-035E-4030-9A69-1D2098F9B36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260350"/>
            <a:ext cx="7772400" cy="68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8080CPU取指令与执行指令时序--</a:t>
            </a:r>
            <a:r>
              <a:rPr lang="zh-CN" altLang="en-US">
                <a:solidFill>
                  <a:srgbClr val="00FF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串行工作</a:t>
            </a:r>
            <a:r>
              <a:rPr lang="zh-CN" altLang="en-US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</a:p>
        </p:txBody>
      </p:sp>
      <p:grpSp>
        <p:nvGrpSpPr>
          <p:cNvPr id="9219" name="组合 9218">
            <a:extLst>
              <a:ext uri="{FF2B5EF4-FFF2-40B4-BE49-F238E27FC236}">
                <a16:creationId xmlns:a16="http://schemas.microsoft.com/office/drawing/2014/main" id="{07697B8A-9FD2-49EB-AA70-E41B3B4194B1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865313"/>
            <a:ext cx="7739063" cy="3792537"/>
            <a:chOff x="0" y="0"/>
            <a:chExt cx="4875" cy="1449"/>
          </a:xfrm>
        </p:grpSpPr>
        <p:grpSp>
          <p:nvGrpSpPr>
            <p:cNvPr id="57400" name="组合 9219">
              <a:extLst>
                <a:ext uri="{FF2B5EF4-FFF2-40B4-BE49-F238E27FC236}">
                  <a16:creationId xmlns:a16="http://schemas.microsoft.com/office/drawing/2014/main" id="{175E93D9-71C3-4301-AB89-65D10CDE25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" y="0"/>
              <a:ext cx="4870" cy="681"/>
              <a:chOff x="0" y="0"/>
              <a:chExt cx="4870" cy="681"/>
            </a:xfrm>
          </p:grpSpPr>
          <p:sp>
            <p:nvSpPr>
              <p:cNvPr id="57408" name="Line 6">
                <a:extLst>
                  <a:ext uri="{FF2B5EF4-FFF2-40B4-BE49-F238E27FC236}">
                    <a16:creationId xmlns:a16="http://schemas.microsoft.com/office/drawing/2014/main" id="{4FBE4CCF-F72F-4950-B166-ECCFDC8B45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681"/>
                <a:ext cx="465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9" name="Line 7">
                <a:extLst>
                  <a:ext uri="{FF2B5EF4-FFF2-40B4-BE49-F238E27FC236}">
                    <a16:creationId xmlns:a16="http://schemas.microsoft.com/office/drawing/2014/main" id="{C8F919D5-8C49-4E13-9635-618F015A47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68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10" name="Text Box 8">
                <a:extLst>
                  <a:ext uri="{FF2B5EF4-FFF2-40B4-BE49-F238E27FC236}">
                    <a16:creationId xmlns:a16="http://schemas.microsoft.com/office/drawing/2014/main" id="{6EE2EB25-2849-4372-97BD-23AB671078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490"/>
                <a:ext cx="214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57411" name="Line 9">
                <a:extLst>
                  <a:ext uri="{FF2B5EF4-FFF2-40B4-BE49-F238E27FC236}">
                    <a16:creationId xmlns:a16="http://schemas.microsoft.com/office/drawing/2014/main" id="{5E21064C-E984-40A5-82A9-A0B1765268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05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12" name="Line 10">
                <a:extLst>
                  <a:ext uri="{FF2B5EF4-FFF2-40B4-BE49-F238E27FC236}">
                    <a16:creationId xmlns:a16="http://schemas.microsoft.com/office/drawing/2014/main" id="{5DE5572C-48CB-4F87-839E-6B4B896BB9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0" y="105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13" name="Text Box 11">
                <a:extLst>
                  <a:ext uri="{FF2B5EF4-FFF2-40B4-BE49-F238E27FC236}">
                    <a16:creationId xmlns:a16="http://schemas.microsoft.com/office/drawing/2014/main" id="{2F351688-3117-4974-87DB-3F321087DF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28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CPU</a:t>
                </a:r>
                <a:endParaRPr lang="en-US" altLang="zh-CN" sz="2000" b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7401" name="组合 9226">
              <a:extLst>
                <a:ext uri="{FF2B5EF4-FFF2-40B4-BE49-F238E27FC236}">
                  <a16:creationId xmlns:a16="http://schemas.microsoft.com/office/drawing/2014/main" id="{7BBF69E5-7ECA-43EC-901F-090E25B058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68"/>
              <a:ext cx="4875" cy="681"/>
              <a:chOff x="0" y="0"/>
              <a:chExt cx="4875" cy="681"/>
            </a:xfrm>
          </p:grpSpPr>
          <p:sp>
            <p:nvSpPr>
              <p:cNvPr id="57402" name="Line 13">
                <a:extLst>
                  <a:ext uri="{FF2B5EF4-FFF2-40B4-BE49-F238E27FC236}">
                    <a16:creationId xmlns:a16="http://schemas.microsoft.com/office/drawing/2014/main" id="{CDBCB094-8394-4B97-9A64-FBE982A3F8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" y="681"/>
                <a:ext cx="465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3" name="Line 14">
                <a:extLst>
                  <a:ext uri="{FF2B5EF4-FFF2-40B4-BE49-F238E27FC236}">
                    <a16:creationId xmlns:a16="http://schemas.microsoft.com/office/drawing/2014/main" id="{41E4808B-8CAD-4D22-9AF2-5826129300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7" y="68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4" name="Line 15">
                <a:extLst>
                  <a:ext uri="{FF2B5EF4-FFF2-40B4-BE49-F238E27FC236}">
                    <a16:creationId xmlns:a16="http://schemas.microsoft.com/office/drawing/2014/main" id="{A617ED2C-7A24-42A1-B124-0AABFB3ED1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" y="105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5" name="Line 16">
                <a:extLst>
                  <a:ext uri="{FF2B5EF4-FFF2-40B4-BE49-F238E27FC236}">
                    <a16:creationId xmlns:a16="http://schemas.microsoft.com/office/drawing/2014/main" id="{0E1741B1-7811-4F6C-80A3-47BB0AE11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" y="105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6" name="Text Box 17">
                <a:extLst>
                  <a:ext uri="{FF2B5EF4-FFF2-40B4-BE49-F238E27FC236}">
                    <a16:creationId xmlns:a16="http://schemas.microsoft.com/office/drawing/2014/main" id="{838067BF-1FD7-4428-9FFD-CDAB639973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36" cy="1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0">
                    <a:latin typeface="Times New Roman" panose="02020603050405020304" pitchFamily="18" charset="0"/>
                  </a:rPr>
                  <a:t>总线</a:t>
                </a:r>
                <a:endParaRPr lang="zh-CN" altLang="en-US" sz="2000" b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407" name="Text Box 18">
                <a:extLst>
                  <a:ext uri="{FF2B5EF4-FFF2-40B4-BE49-F238E27FC236}">
                    <a16:creationId xmlns:a16="http://schemas.microsoft.com/office/drawing/2014/main" id="{F552F38A-D6C9-4649-B081-ED3D0126CA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61" y="490"/>
                <a:ext cx="214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T</a:t>
                </a:r>
              </a:p>
            </p:txBody>
          </p:sp>
        </p:grpSp>
      </p:grpSp>
      <p:grpSp>
        <p:nvGrpSpPr>
          <p:cNvPr id="9234" name="组合 9233">
            <a:extLst>
              <a:ext uri="{FF2B5EF4-FFF2-40B4-BE49-F238E27FC236}">
                <a16:creationId xmlns:a16="http://schemas.microsoft.com/office/drawing/2014/main" id="{BEBD0E74-CDE3-4E52-B882-38AEDFA28E00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749550"/>
            <a:ext cx="928688" cy="2889250"/>
            <a:chOff x="0" y="0"/>
            <a:chExt cx="585" cy="1104"/>
          </a:xfrm>
        </p:grpSpPr>
        <p:grpSp>
          <p:nvGrpSpPr>
            <p:cNvPr id="57391" name="组合 9234">
              <a:extLst>
                <a:ext uri="{FF2B5EF4-FFF2-40B4-BE49-F238E27FC236}">
                  <a16:creationId xmlns:a16="http://schemas.microsoft.com/office/drawing/2014/main" id="{C8731EC1-810C-4892-9F84-E9C8F7C5CE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" cy="1104"/>
              <a:chOff x="0" y="0"/>
              <a:chExt cx="576" cy="1104"/>
            </a:xfrm>
          </p:grpSpPr>
          <p:grpSp>
            <p:nvGrpSpPr>
              <p:cNvPr id="57394" name="组合 9235">
                <a:extLst>
                  <a:ext uri="{FF2B5EF4-FFF2-40B4-BE49-F238E27FC236}">
                    <a16:creationId xmlns:a16="http://schemas.microsoft.com/office/drawing/2014/main" id="{D6A49156-8062-4C03-B054-F93496407A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76" cy="336"/>
                <a:chOff x="0" y="0"/>
                <a:chExt cx="576" cy="336"/>
              </a:xfrm>
            </p:grpSpPr>
            <p:sp>
              <p:nvSpPr>
                <p:cNvPr id="57398" name="Rectangle 22">
                  <a:extLst>
                    <a:ext uri="{FF2B5EF4-FFF2-40B4-BE49-F238E27FC236}">
                      <a16:creationId xmlns:a16="http://schemas.microsoft.com/office/drawing/2014/main" id="{0CCE9E6A-0F61-4DD7-8A6A-C43E117C81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7399" name="Text Box 23">
                  <a:extLst>
                    <a:ext uri="{FF2B5EF4-FFF2-40B4-BE49-F238E27FC236}">
                      <a16:creationId xmlns:a16="http://schemas.microsoft.com/office/drawing/2014/main" id="{0CB457FA-C132-4824-9EAA-AC0CD8D27B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" y="116"/>
                  <a:ext cx="516" cy="1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取指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grpSp>
            <p:nvGrpSpPr>
              <p:cNvPr id="57395" name="组合 9238">
                <a:extLst>
                  <a:ext uri="{FF2B5EF4-FFF2-40B4-BE49-F238E27FC236}">
                    <a16:creationId xmlns:a16="http://schemas.microsoft.com/office/drawing/2014/main" id="{26C397CA-A29A-46C2-8370-FD75E96F72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576" cy="336"/>
                <a:chOff x="0" y="0"/>
                <a:chExt cx="576" cy="336"/>
              </a:xfrm>
            </p:grpSpPr>
            <p:sp>
              <p:nvSpPr>
                <p:cNvPr id="57396" name="Rectangle 25">
                  <a:extLst>
                    <a:ext uri="{FF2B5EF4-FFF2-40B4-BE49-F238E27FC236}">
                      <a16:creationId xmlns:a16="http://schemas.microsoft.com/office/drawing/2014/main" id="{E9F71E49-6B5F-4382-818B-50BF2DDF9D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7397" name="Text Box 26">
                  <a:extLst>
                    <a:ext uri="{FF2B5EF4-FFF2-40B4-BE49-F238E27FC236}">
                      <a16:creationId xmlns:a16="http://schemas.microsoft.com/office/drawing/2014/main" id="{D86573CD-C62B-47DE-929D-6ED0CDA867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" y="116"/>
                  <a:ext cx="276" cy="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忙</a:t>
                  </a:r>
                </a:p>
              </p:txBody>
            </p:sp>
          </p:grpSp>
        </p:grpSp>
        <p:sp>
          <p:nvSpPr>
            <p:cNvPr id="57392" name="Line 27">
              <a:extLst>
                <a:ext uri="{FF2B5EF4-FFF2-40B4-BE49-F238E27FC236}">
                  <a16:creationId xmlns:a16="http://schemas.microsoft.com/office/drawing/2014/main" id="{A2A6B4EB-A02E-44A1-A250-A1DC3E811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" y="335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3" name="Line 28">
              <a:extLst>
                <a:ext uri="{FF2B5EF4-FFF2-40B4-BE49-F238E27FC236}">
                  <a16:creationId xmlns:a16="http://schemas.microsoft.com/office/drawing/2014/main" id="{402E75AA-561E-4ACF-81EB-A610A2742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" y="1099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44" name="组合 9243">
            <a:extLst>
              <a:ext uri="{FF2B5EF4-FFF2-40B4-BE49-F238E27FC236}">
                <a16:creationId xmlns:a16="http://schemas.microsoft.com/office/drawing/2014/main" id="{0065DB09-0770-4C23-B71D-F8F3E76D0345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2749550"/>
            <a:ext cx="936625" cy="2889250"/>
            <a:chOff x="0" y="0"/>
            <a:chExt cx="590" cy="1104"/>
          </a:xfrm>
        </p:grpSpPr>
        <p:grpSp>
          <p:nvGrpSpPr>
            <p:cNvPr id="57382" name="组合 9244">
              <a:extLst>
                <a:ext uri="{FF2B5EF4-FFF2-40B4-BE49-F238E27FC236}">
                  <a16:creationId xmlns:a16="http://schemas.microsoft.com/office/drawing/2014/main" id="{8F949030-2D87-429B-9141-700698A8C9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" cy="1104"/>
              <a:chOff x="0" y="0"/>
              <a:chExt cx="576" cy="1104"/>
            </a:xfrm>
          </p:grpSpPr>
          <p:grpSp>
            <p:nvGrpSpPr>
              <p:cNvPr id="57385" name="组合 9245">
                <a:extLst>
                  <a:ext uri="{FF2B5EF4-FFF2-40B4-BE49-F238E27FC236}">
                    <a16:creationId xmlns:a16="http://schemas.microsoft.com/office/drawing/2014/main" id="{208E9151-A104-4584-969B-B337CD1161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76" cy="336"/>
                <a:chOff x="0" y="0"/>
                <a:chExt cx="576" cy="336"/>
              </a:xfrm>
            </p:grpSpPr>
            <p:sp>
              <p:nvSpPr>
                <p:cNvPr id="57389" name="Rectangle 32">
                  <a:extLst>
                    <a:ext uri="{FF2B5EF4-FFF2-40B4-BE49-F238E27FC236}">
                      <a16:creationId xmlns:a16="http://schemas.microsoft.com/office/drawing/2014/main" id="{90AB8D50-CDEA-40B8-90E9-06A141D842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7390" name="Text Box 33">
                  <a:extLst>
                    <a:ext uri="{FF2B5EF4-FFF2-40B4-BE49-F238E27FC236}">
                      <a16:creationId xmlns:a16="http://schemas.microsoft.com/office/drawing/2014/main" id="{956E1F34-F983-45CA-92B2-8799756719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" y="116"/>
                  <a:ext cx="516" cy="1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取指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</p:grpSp>
          <p:grpSp>
            <p:nvGrpSpPr>
              <p:cNvPr id="57386" name="组合 9248">
                <a:extLst>
                  <a:ext uri="{FF2B5EF4-FFF2-40B4-BE49-F238E27FC236}">
                    <a16:creationId xmlns:a16="http://schemas.microsoft.com/office/drawing/2014/main" id="{1603628B-7AAF-469F-B60C-468792CF78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576" cy="336"/>
                <a:chOff x="0" y="0"/>
                <a:chExt cx="576" cy="336"/>
              </a:xfrm>
            </p:grpSpPr>
            <p:sp>
              <p:nvSpPr>
                <p:cNvPr id="57387" name="Rectangle 35">
                  <a:extLst>
                    <a:ext uri="{FF2B5EF4-FFF2-40B4-BE49-F238E27FC236}">
                      <a16:creationId xmlns:a16="http://schemas.microsoft.com/office/drawing/2014/main" id="{A46EE331-27B3-45C7-8E7C-2339477F22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7388" name="Text Box 36">
                  <a:extLst>
                    <a:ext uri="{FF2B5EF4-FFF2-40B4-BE49-F238E27FC236}">
                      <a16:creationId xmlns:a16="http://schemas.microsoft.com/office/drawing/2014/main" id="{E465F87A-0A2C-428E-9A43-D97BB974AF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" y="116"/>
                  <a:ext cx="276" cy="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忙</a:t>
                  </a:r>
                </a:p>
              </p:txBody>
            </p:sp>
          </p:grpSp>
        </p:grpSp>
        <p:sp>
          <p:nvSpPr>
            <p:cNvPr id="57383" name="Line 37">
              <a:extLst>
                <a:ext uri="{FF2B5EF4-FFF2-40B4-BE49-F238E27FC236}">
                  <a16:creationId xmlns:a16="http://schemas.microsoft.com/office/drawing/2014/main" id="{6EC3E7A9-F7FB-468A-89B6-79D27F7DC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" y="1099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4" name="Line 38">
              <a:extLst>
                <a:ext uri="{FF2B5EF4-FFF2-40B4-BE49-F238E27FC236}">
                  <a16:creationId xmlns:a16="http://schemas.microsoft.com/office/drawing/2014/main" id="{362F5529-1AAA-4C86-A847-E28F7EE0A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" y="335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54" name="组合 9253">
            <a:extLst>
              <a:ext uri="{FF2B5EF4-FFF2-40B4-BE49-F238E27FC236}">
                <a16:creationId xmlns:a16="http://schemas.microsoft.com/office/drawing/2014/main" id="{7E272DDF-306E-4E73-96AE-BB0D3F8B1C5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749550"/>
            <a:ext cx="931863" cy="2889250"/>
            <a:chOff x="0" y="0"/>
            <a:chExt cx="587" cy="1104"/>
          </a:xfrm>
        </p:grpSpPr>
        <p:grpSp>
          <p:nvGrpSpPr>
            <p:cNvPr id="57373" name="组合 9254">
              <a:extLst>
                <a:ext uri="{FF2B5EF4-FFF2-40B4-BE49-F238E27FC236}">
                  <a16:creationId xmlns:a16="http://schemas.microsoft.com/office/drawing/2014/main" id="{DF5A2C82-7159-4373-A981-DFAFAAF9F1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" cy="1104"/>
              <a:chOff x="0" y="0"/>
              <a:chExt cx="576" cy="1104"/>
            </a:xfrm>
          </p:grpSpPr>
          <p:grpSp>
            <p:nvGrpSpPr>
              <p:cNvPr id="57376" name="组合 9255">
                <a:extLst>
                  <a:ext uri="{FF2B5EF4-FFF2-40B4-BE49-F238E27FC236}">
                    <a16:creationId xmlns:a16="http://schemas.microsoft.com/office/drawing/2014/main" id="{C83C90F3-F90A-4B35-91D3-E2D41F7DDE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76" cy="336"/>
                <a:chOff x="0" y="0"/>
                <a:chExt cx="576" cy="336"/>
              </a:xfrm>
            </p:grpSpPr>
            <p:sp>
              <p:nvSpPr>
                <p:cNvPr id="57380" name="Rectangle 42">
                  <a:extLst>
                    <a:ext uri="{FF2B5EF4-FFF2-40B4-BE49-F238E27FC236}">
                      <a16:creationId xmlns:a16="http://schemas.microsoft.com/office/drawing/2014/main" id="{DB4DB1A1-E32B-4085-BC5F-ACE8FAAF54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7381" name="Text Box 43">
                  <a:extLst>
                    <a:ext uri="{FF2B5EF4-FFF2-40B4-BE49-F238E27FC236}">
                      <a16:creationId xmlns:a16="http://schemas.microsoft.com/office/drawing/2014/main" id="{DCF14D8C-3A94-4326-ADE3-CD3CAB6894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" y="116"/>
                  <a:ext cx="516" cy="1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取指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</p:grpSp>
          <p:grpSp>
            <p:nvGrpSpPr>
              <p:cNvPr id="57377" name="组合 9258">
                <a:extLst>
                  <a:ext uri="{FF2B5EF4-FFF2-40B4-BE49-F238E27FC236}">
                    <a16:creationId xmlns:a16="http://schemas.microsoft.com/office/drawing/2014/main" id="{E0B5815A-D420-4AFB-8406-ECFA17E40E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576" cy="336"/>
                <a:chOff x="0" y="0"/>
                <a:chExt cx="576" cy="336"/>
              </a:xfrm>
            </p:grpSpPr>
            <p:sp>
              <p:nvSpPr>
                <p:cNvPr id="57378" name="Rectangle 45">
                  <a:extLst>
                    <a:ext uri="{FF2B5EF4-FFF2-40B4-BE49-F238E27FC236}">
                      <a16:creationId xmlns:a16="http://schemas.microsoft.com/office/drawing/2014/main" id="{BD31DB69-CA58-44A8-86F8-F73AA30BE4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7379" name="Text Box 46">
                  <a:extLst>
                    <a:ext uri="{FF2B5EF4-FFF2-40B4-BE49-F238E27FC236}">
                      <a16:creationId xmlns:a16="http://schemas.microsoft.com/office/drawing/2014/main" id="{0FD66456-F910-4CC4-B820-7D95867401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" y="116"/>
                  <a:ext cx="276" cy="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忙</a:t>
                  </a:r>
                </a:p>
              </p:txBody>
            </p:sp>
          </p:grpSp>
        </p:grpSp>
        <p:sp>
          <p:nvSpPr>
            <p:cNvPr id="57374" name="Line 47">
              <a:extLst>
                <a:ext uri="{FF2B5EF4-FFF2-40B4-BE49-F238E27FC236}">
                  <a16:creationId xmlns:a16="http://schemas.microsoft.com/office/drawing/2014/main" id="{D81266B2-561D-4B99-AE8C-E1D855BBA7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" y="1099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5" name="Line 48">
              <a:extLst>
                <a:ext uri="{FF2B5EF4-FFF2-40B4-BE49-F238E27FC236}">
                  <a16:creationId xmlns:a16="http://schemas.microsoft.com/office/drawing/2014/main" id="{CC16C2B1-3F38-4187-9404-7A3BF992A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" y="335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64" name="组合 9263">
            <a:extLst>
              <a:ext uri="{FF2B5EF4-FFF2-40B4-BE49-F238E27FC236}">
                <a16:creationId xmlns:a16="http://schemas.microsoft.com/office/drawing/2014/main" id="{CF077085-5571-41C4-B124-6A72F79D19F8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749550"/>
            <a:ext cx="1458913" cy="2889250"/>
            <a:chOff x="0" y="0"/>
            <a:chExt cx="919" cy="1104"/>
          </a:xfrm>
        </p:grpSpPr>
        <p:grpSp>
          <p:nvGrpSpPr>
            <p:cNvPr id="57368" name="组合 9264">
              <a:extLst>
                <a:ext uri="{FF2B5EF4-FFF2-40B4-BE49-F238E27FC236}">
                  <a16:creationId xmlns:a16="http://schemas.microsoft.com/office/drawing/2014/main" id="{6D6D1457-8C1D-4BF5-9588-FBA7971F86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912" cy="336"/>
              <a:chOff x="0" y="0"/>
              <a:chExt cx="912" cy="336"/>
            </a:xfrm>
          </p:grpSpPr>
          <p:sp>
            <p:nvSpPr>
              <p:cNvPr id="57371" name="Rectangle 51">
                <a:extLst>
                  <a:ext uri="{FF2B5EF4-FFF2-40B4-BE49-F238E27FC236}">
                    <a16:creationId xmlns:a16="http://schemas.microsoft.com/office/drawing/2014/main" id="{91513C41-6B31-4D67-90D2-850C22EEB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912" cy="33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7372" name="Text Box 52">
                <a:extLst>
                  <a:ext uri="{FF2B5EF4-FFF2-40B4-BE49-F238E27FC236}">
                    <a16:creationId xmlns:a16="http://schemas.microsoft.com/office/drawing/2014/main" id="{B471B46A-2FDE-426E-B570-EB203D985C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116"/>
                <a:ext cx="836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0">
                    <a:latin typeface="Times New Roman" panose="02020603050405020304" pitchFamily="18" charset="0"/>
                  </a:rPr>
                  <a:t>执行指令</a:t>
                </a:r>
                <a:r>
                  <a:rPr lang="en-US" altLang="zh-CN" sz="2000" b="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57369" name="Line 53">
              <a:extLst>
                <a:ext uri="{FF2B5EF4-FFF2-40B4-BE49-F238E27FC236}">
                  <a16:creationId xmlns:a16="http://schemas.microsoft.com/office/drawing/2014/main" id="{4C4CEA29-D665-4092-8814-EA0712CC5C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337"/>
              <a:ext cx="9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0" name="Line 54">
              <a:extLst>
                <a:ext uri="{FF2B5EF4-FFF2-40B4-BE49-F238E27FC236}">
                  <a16:creationId xmlns:a16="http://schemas.microsoft.com/office/drawing/2014/main" id="{4CC0E8D8-A2FE-4C6C-BBD5-3B2FA5A86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104"/>
              <a:ext cx="912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70" name="组合 9269">
            <a:extLst>
              <a:ext uri="{FF2B5EF4-FFF2-40B4-BE49-F238E27FC236}">
                <a16:creationId xmlns:a16="http://schemas.microsoft.com/office/drawing/2014/main" id="{2010EB54-E694-41F3-8061-065DF8532D41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749550"/>
            <a:ext cx="1457325" cy="2889250"/>
            <a:chOff x="0" y="0"/>
            <a:chExt cx="918" cy="1104"/>
          </a:xfrm>
        </p:grpSpPr>
        <p:grpSp>
          <p:nvGrpSpPr>
            <p:cNvPr id="57363" name="组合 9270">
              <a:extLst>
                <a:ext uri="{FF2B5EF4-FFF2-40B4-BE49-F238E27FC236}">
                  <a16:creationId xmlns:a16="http://schemas.microsoft.com/office/drawing/2014/main" id="{F2EB9DDA-F695-4D1D-93E1-7B9DB43330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912" cy="336"/>
              <a:chOff x="0" y="0"/>
              <a:chExt cx="912" cy="336"/>
            </a:xfrm>
          </p:grpSpPr>
          <p:sp>
            <p:nvSpPr>
              <p:cNvPr id="57366" name="Rectangle 57">
                <a:extLst>
                  <a:ext uri="{FF2B5EF4-FFF2-40B4-BE49-F238E27FC236}">
                    <a16:creationId xmlns:a16="http://schemas.microsoft.com/office/drawing/2014/main" id="{32B94C45-C316-4985-B02D-BE10AEDA4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912" cy="33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7367" name="Text Box 58">
                <a:extLst>
                  <a:ext uri="{FF2B5EF4-FFF2-40B4-BE49-F238E27FC236}">
                    <a16:creationId xmlns:a16="http://schemas.microsoft.com/office/drawing/2014/main" id="{EC4F34B4-2C54-496C-AEB7-212B2E248D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116"/>
                <a:ext cx="836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0">
                    <a:latin typeface="Times New Roman" panose="02020603050405020304" pitchFamily="18" charset="0"/>
                  </a:rPr>
                  <a:t>执行指令</a:t>
                </a:r>
                <a:r>
                  <a:rPr lang="en-US" altLang="zh-CN" sz="2000" b="0"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57364" name="Line 59">
              <a:extLst>
                <a:ext uri="{FF2B5EF4-FFF2-40B4-BE49-F238E27FC236}">
                  <a16:creationId xmlns:a16="http://schemas.microsoft.com/office/drawing/2014/main" id="{84FB14F0-0BC3-4554-B91E-3AA14ACE0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" y="337"/>
              <a:ext cx="9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5" name="Line 60">
              <a:extLst>
                <a:ext uri="{FF2B5EF4-FFF2-40B4-BE49-F238E27FC236}">
                  <a16:creationId xmlns:a16="http://schemas.microsoft.com/office/drawing/2014/main" id="{249BAD74-242B-47A5-8A4C-658ACF0E2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" y="1104"/>
              <a:ext cx="912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76" name="组合 9275">
            <a:extLst>
              <a:ext uri="{FF2B5EF4-FFF2-40B4-BE49-F238E27FC236}">
                <a16:creationId xmlns:a16="http://schemas.microsoft.com/office/drawing/2014/main" id="{FB0F968F-8C84-4C81-B32D-F4B0D6F76C25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749550"/>
            <a:ext cx="1463675" cy="2889250"/>
            <a:chOff x="0" y="0"/>
            <a:chExt cx="922" cy="1104"/>
          </a:xfrm>
        </p:grpSpPr>
        <p:grpSp>
          <p:nvGrpSpPr>
            <p:cNvPr id="57358" name="组合 9276">
              <a:extLst>
                <a:ext uri="{FF2B5EF4-FFF2-40B4-BE49-F238E27FC236}">
                  <a16:creationId xmlns:a16="http://schemas.microsoft.com/office/drawing/2014/main" id="{F6B0DAA2-9BB6-4875-931C-8C900E6F84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912" cy="336"/>
              <a:chOff x="0" y="0"/>
              <a:chExt cx="912" cy="336"/>
            </a:xfrm>
          </p:grpSpPr>
          <p:sp>
            <p:nvSpPr>
              <p:cNvPr id="57361" name="Rectangle 63">
                <a:extLst>
                  <a:ext uri="{FF2B5EF4-FFF2-40B4-BE49-F238E27FC236}">
                    <a16:creationId xmlns:a16="http://schemas.microsoft.com/office/drawing/2014/main" id="{6CC03417-9E9E-4D2D-A4CC-19AFBD0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912" cy="33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7362" name="Text Box 64">
                <a:extLst>
                  <a:ext uri="{FF2B5EF4-FFF2-40B4-BE49-F238E27FC236}">
                    <a16:creationId xmlns:a16="http://schemas.microsoft.com/office/drawing/2014/main" id="{7DD6A64E-13CC-4EFB-B1A4-050DFA86A4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116"/>
                <a:ext cx="836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0">
                    <a:latin typeface="Times New Roman" panose="02020603050405020304" pitchFamily="18" charset="0"/>
                  </a:rPr>
                  <a:t>执行指令</a:t>
                </a:r>
                <a:r>
                  <a:rPr lang="en-US" altLang="zh-CN" sz="2000" b="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57359" name="Line 65">
              <a:extLst>
                <a:ext uri="{FF2B5EF4-FFF2-40B4-BE49-F238E27FC236}">
                  <a16:creationId xmlns:a16="http://schemas.microsoft.com/office/drawing/2014/main" id="{49823991-EFE7-46E0-BB3A-43E7FA4C7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" y="337"/>
              <a:ext cx="9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0" name="Line 66">
              <a:extLst>
                <a:ext uri="{FF2B5EF4-FFF2-40B4-BE49-F238E27FC236}">
                  <a16:creationId xmlns:a16="http://schemas.microsoft.com/office/drawing/2014/main" id="{BCC53D65-3C4F-44EB-8D98-CF72EEA8C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" y="1104"/>
              <a:ext cx="912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82" name="组合 9281">
            <a:extLst>
              <a:ext uri="{FF2B5EF4-FFF2-40B4-BE49-F238E27FC236}">
                <a16:creationId xmlns:a16="http://schemas.microsoft.com/office/drawing/2014/main" id="{6B4E1E8F-4BF3-427C-ABD1-7864FEC0C1EC}"/>
              </a:ext>
            </a:extLst>
          </p:cNvPr>
          <p:cNvGrpSpPr>
            <a:grpSpLocks/>
          </p:cNvGrpSpPr>
          <p:nvPr/>
        </p:nvGrpSpPr>
        <p:grpSpPr bwMode="auto">
          <a:xfrm>
            <a:off x="8112125" y="3630613"/>
            <a:ext cx="366713" cy="2008187"/>
            <a:chOff x="0" y="0"/>
            <a:chExt cx="231" cy="767"/>
          </a:xfrm>
        </p:grpSpPr>
        <p:sp>
          <p:nvSpPr>
            <p:cNvPr id="57356" name="Line 68">
              <a:extLst>
                <a:ext uri="{FF2B5EF4-FFF2-40B4-BE49-F238E27FC236}">
                  <a16:creationId xmlns:a16="http://schemas.microsoft.com/office/drawing/2014/main" id="{9718745A-6F00-4CB9-AC58-D5E8A0631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231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7" name="Line 69">
              <a:extLst>
                <a:ext uri="{FF2B5EF4-FFF2-40B4-BE49-F238E27FC236}">
                  <a16:creationId xmlns:a16="http://schemas.microsoft.com/office/drawing/2014/main" id="{D5619E72-9D94-4430-9E49-3C86A8562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767"/>
              <a:ext cx="231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52" name="灯片编号占位符 1">
            <a:extLst>
              <a:ext uri="{FF2B5EF4-FFF2-40B4-BE49-F238E27FC236}">
                <a16:creationId xmlns:a16="http://schemas.microsoft.com/office/drawing/2014/main" id="{1CCFFB9F-F551-4D53-A931-7A9CF80789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5E6CBF0-AA3E-48FA-A2A1-6FC753845ADA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7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9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组合 10241">
            <a:extLst>
              <a:ext uri="{FF2B5EF4-FFF2-40B4-BE49-F238E27FC236}">
                <a16:creationId xmlns:a16="http://schemas.microsoft.com/office/drawing/2014/main" id="{80EC0770-BF1B-4300-A495-D3204EB9308F}"/>
              </a:ext>
            </a:extLst>
          </p:cNvPr>
          <p:cNvGrpSpPr>
            <a:grpSpLocks/>
          </p:cNvGrpSpPr>
          <p:nvPr/>
        </p:nvGrpSpPr>
        <p:grpSpPr bwMode="auto">
          <a:xfrm>
            <a:off x="679450" y="1785938"/>
            <a:ext cx="8118475" cy="4310062"/>
            <a:chOff x="0" y="0"/>
            <a:chExt cx="5114" cy="1632"/>
          </a:xfrm>
        </p:grpSpPr>
        <p:grpSp>
          <p:nvGrpSpPr>
            <p:cNvPr id="58430" name="组合 10242">
              <a:extLst>
                <a:ext uri="{FF2B5EF4-FFF2-40B4-BE49-F238E27FC236}">
                  <a16:creationId xmlns:a16="http://schemas.microsoft.com/office/drawing/2014/main" id="{4E137502-D5BF-4CCE-B0ED-9035E69C93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" y="0"/>
              <a:ext cx="5088" cy="480"/>
              <a:chOff x="0" y="0"/>
              <a:chExt cx="5088" cy="480"/>
            </a:xfrm>
          </p:grpSpPr>
          <p:grpSp>
            <p:nvGrpSpPr>
              <p:cNvPr id="58443" name="组合 10243">
                <a:extLst>
                  <a:ext uri="{FF2B5EF4-FFF2-40B4-BE49-F238E27FC236}">
                    <a16:creationId xmlns:a16="http://schemas.microsoft.com/office/drawing/2014/main" id="{A2F4EEF8-0666-462B-9806-BBFF9DA104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0"/>
                <a:ext cx="4512" cy="480"/>
                <a:chOff x="0" y="0"/>
                <a:chExt cx="4512" cy="480"/>
              </a:xfrm>
            </p:grpSpPr>
            <p:sp>
              <p:nvSpPr>
                <p:cNvPr id="58446" name="Line 6">
                  <a:extLst>
                    <a:ext uri="{FF2B5EF4-FFF2-40B4-BE49-F238E27FC236}">
                      <a16:creationId xmlns:a16="http://schemas.microsoft.com/office/drawing/2014/main" id="{A0FE1689-4E45-4F28-AC9A-0DD3251B4B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0" y="0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447" name="Line 7">
                  <a:extLst>
                    <a:ext uri="{FF2B5EF4-FFF2-40B4-BE49-F238E27FC236}">
                      <a16:creationId xmlns:a16="http://schemas.microsoft.com/office/drawing/2014/main" id="{CB3D6BB6-D8C8-4B78-8030-5584FDD538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480"/>
                  <a:ext cx="45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8444" name="Text Box 8">
                <a:extLst>
                  <a:ext uri="{FF2B5EF4-FFF2-40B4-BE49-F238E27FC236}">
                    <a16:creationId xmlns:a16="http://schemas.microsoft.com/office/drawing/2014/main" id="{8BACCD3B-FF9D-44B6-BE95-0D8986C358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"/>
                <a:ext cx="330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EU</a:t>
                </a:r>
                <a:endParaRPr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5" name="Text Box 9">
                <a:extLst>
                  <a:ext uri="{FF2B5EF4-FFF2-40B4-BE49-F238E27FC236}">
                    <a16:creationId xmlns:a16="http://schemas.microsoft.com/office/drawing/2014/main" id="{018F2410-2BE6-4287-AA37-1596AC892F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4" y="280"/>
                <a:ext cx="214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T</a:t>
                </a:r>
                <a:endParaRPr lang="en-US" altLang="zh-CN" sz="2400" b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1" name="组合 10248">
              <a:extLst>
                <a:ext uri="{FF2B5EF4-FFF2-40B4-BE49-F238E27FC236}">
                  <a16:creationId xmlns:a16="http://schemas.microsoft.com/office/drawing/2014/main" id="{87C48490-B793-48B6-A630-72E2F6B380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" y="576"/>
              <a:ext cx="5110" cy="480"/>
              <a:chOff x="0" y="0"/>
              <a:chExt cx="5110" cy="480"/>
            </a:xfrm>
          </p:grpSpPr>
          <p:grpSp>
            <p:nvGrpSpPr>
              <p:cNvPr id="58438" name="组合 10249">
                <a:extLst>
                  <a:ext uri="{FF2B5EF4-FFF2-40B4-BE49-F238E27FC236}">
                    <a16:creationId xmlns:a16="http://schemas.microsoft.com/office/drawing/2014/main" id="{35F017ED-B606-45B9-9895-66A5655A68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0"/>
                <a:ext cx="4512" cy="480"/>
                <a:chOff x="0" y="0"/>
                <a:chExt cx="4512" cy="480"/>
              </a:xfrm>
            </p:grpSpPr>
            <p:sp>
              <p:nvSpPr>
                <p:cNvPr id="58441" name="Line 12">
                  <a:extLst>
                    <a:ext uri="{FF2B5EF4-FFF2-40B4-BE49-F238E27FC236}">
                      <a16:creationId xmlns:a16="http://schemas.microsoft.com/office/drawing/2014/main" id="{A03D77B1-C20C-4695-A6EE-2D08AC2E01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0" y="0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442" name="Line 13">
                  <a:extLst>
                    <a:ext uri="{FF2B5EF4-FFF2-40B4-BE49-F238E27FC236}">
                      <a16:creationId xmlns:a16="http://schemas.microsoft.com/office/drawing/2014/main" id="{46FEDD22-976F-4B5D-8730-DEE0E68F3B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480"/>
                  <a:ext cx="45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8439" name="Text Box 14">
                <a:extLst>
                  <a:ext uri="{FF2B5EF4-FFF2-40B4-BE49-F238E27FC236}">
                    <a16:creationId xmlns:a16="http://schemas.microsoft.com/office/drawing/2014/main" id="{5725F76F-09D5-420D-BD63-1454B25537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9"/>
                <a:ext cx="392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BIU</a:t>
                </a:r>
                <a:endParaRPr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0" name="Text Box 15">
                <a:extLst>
                  <a:ext uri="{FF2B5EF4-FFF2-40B4-BE49-F238E27FC236}">
                    <a16:creationId xmlns:a16="http://schemas.microsoft.com/office/drawing/2014/main" id="{984AA21D-C0F3-4E1B-87F8-A7B2C76B6E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80"/>
                <a:ext cx="214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T</a:t>
                </a:r>
                <a:endParaRPr lang="en-US" altLang="zh-CN" sz="2400" b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2" name="组合 10254">
              <a:extLst>
                <a:ext uri="{FF2B5EF4-FFF2-40B4-BE49-F238E27FC236}">
                  <a16:creationId xmlns:a16="http://schemas.microsoft.com/office/drawing/2014/main" id="{B1C3D10D-8B91-4787-B390-8959B02416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152"/>
              <a:ext cx="5114" cy="480"/>
              <a:chOff x="0" y="0"/>
              <a:chExt cx="5114" cy="480"/>
            </a:xfrm>
          </p:grpSpPr>
          <p:grpSp>
            <p:nvGrpSpPr>
              <p:cNvPr id="58433" name="组合 10255">
                <a:extLst>
                  <a:ext uri="{FF2B5EF4-FFF2-40B4-BE49-F238E27FC236}">
                    <a16:creationId xmlns:a16="http://schemas.microsoft.com/office/drawing/2014/main" id="{A523744A-9212-4AE6-92B9-6CEFCF8F12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6" y="0"/>
                <a:ext cx="4512" cy="480"/>
                <a:chOff x="0" y="0"/>
                <a:chExt cx="4512" cy="480"/>
              </a:xfrm>
            </p:grpSpPr>
            <p:sp>
              <p:nvSpPr>
                <p:cNvPr id="58436" name="Line 18">
                  <a:extLst>
                    <a:ext uri="{FF2B5EF4-FFF2-40B4-BE49-F238E27FC236}">
                      <a16:creationId xmlns:a16="http://schemas.microsoft.com/office/drawing/2014/main" id="{FC5A646C-D61C-4B92-8566-85C3DE02D4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0" y="0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437" name="Line 19">
                  <a:extLst>
                    <a:ext uri="{FF2B5EF4-FFF2-40B4-BE49-F238E27FC236}">
                      <a16:creationId xmlns:a16="http://schemas.microsoft.com/office/drawing/2014/main" id="{CAD52CBC-6D90-4F1B-8358-2E4F26C9A5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480"/>
                  <a:ext cx="45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8434" name="Text Box 20">
                <a:extLst>
                  <a:ext uri="{FF2B5EF4-FFF2-40B4-BE49-F238E27FC236}">
                    <a16:creationId xmlns:a16="http://schemas.microsoft.com/office/drawing/2014/main" id="{15A282C4-A2B6-4773-A993-F887CE1CFF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2"/>
                <a:ext cx="43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0">
                    <a:latin typeface="Times New Roman" panose="02020603050405020304" pitchFamily="18" charset="0"/>
                  </a:rPr>
                  <a:t>总线</a:t>
                </a:r>
                <a:endParaRPr lang="zh-CN" altLang="en-US" sz="2000" b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35" name="Text Box 21">
                <a:extLst>
                  <a:ext uri="{FF2B5EF4-FFF2-40B4-BE49-F238E27FC236}">
                    <a16:creationId xmlns:a16="http://schemas.microsoft.com/office/drawing/2014/main" id="{7CA7E68B-FD30-44AB-903D-9C47A768EA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00" y="289"/>
                <a:ext cx="214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T</a:t>
                </a:r>
                <a:endParaRPr lang="en-US" altLang="zh-CN" sz="2400" b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261" name="组合 10260">
            <a:extLst>
              <a:ext uri="{FF2B5EF4-FFF2-40B4-BE49-F238E27FC236}">
                <a16:creationId xmlns:a16="http://schemas.microsoft.com/office/drawing/2014/main" id="{C462CFBD-5144-4C18-BD59-FE9B5DA98BF5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051175"/>
            <a:ext cx="990600" cy="3044825"/>
            <a:chOff x="0" y="0"/>
            <a:chExt cx="624" cy="1152"/>
          </a:xfrm>
        </p:grpSpPr>
        <p:grpSp>
          <p:nvGrpSpPr>
            <p:cNvPr id="58420" name="组合 10261">
              <a:extLst>
                <a:ext uri="{FF2B5EF4-FFF2-40B4-BE49-F238E27FC236}">
                  <a16:creationId xmlns:a16="http://schemas.microsoft.com/office/drawing/2014/main" id="{2EF6A6EB-999D-47C4-A5E3-2F37AD9E7E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78"/>
              <a:ext cx="624" cy="864"/>
              <a:chOff x="0" y="0"/>
              <a:chExt cx="624" cy="864"/>
            </a:xfrm>
          </p:grpSpPr>
          <p:grpSp>
            <p:nvGrpSpPr>
              <p:cNvPr id="58424" name="组合 10262">
                <a:extLst>
                  <a:ext uri="{FF2B5EF4-FFF2-40B4-BE49-F238E27FC236}">
                    <a16:creationId xmlns:a16="http://schemas.microsoft.com/office/drawing/2014/main" id="{2D3B1978-E869-4BC8-B153-D56593F466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624" cy="288"/>
                <a:chOff x="0" y="0"/>
                <a:chExt cx="624" cy="288"/>
              </a:xfrm>
            </p:grpSpPr>
            <p:sp>
              <p:nvSpPr>
                <p:cNvPr id="58428" name="Rectangle 25">
                  <a:extLst>
                    <a:ext uri="{FF2B5EF4-FFF2-40B4-BE49-F238E27FC236}">
                      <a16:creationId xmlns:a16="http://schemas.microsoft.com/office/drawing/2014/main" id="{62F4F55E-2F38-4666-B03C-5D085056B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29" name="Text Box 26">
                  <a:extLst>
                    <a:ext uri="{FF2B5EF4-FFF2-40B4-BE49-F238E27FC236}">
                      <a16:creationId xmlns:a16="http://schemas.microsoft.com/office/drawing/2014/main" id="{3A437434-67B0-4878-9F68-0AED69C3DF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" y="87"/>
                  <a:ext cx="568" cy="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取指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2000" b="0" baseline="30000">
                      <a:latin typeface="Times New Roman" panose="02020603050405020304" pitchFamily="18" charset="0"/>
                    </a:rPr>
                    <a:t>#</a:t>
                  </a:r>
                  <a:endParaRPr lang="en-US" altLang="zh-CN" sz="2400" b="0" baseline="30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8425" name="组合 10265">
                <a:extLst>
                  <a:ext uri="{FF2B5EF4-FFF2-40B4-BE49-F238E27FC236}">
                    <a16:creationId xmlns:a16="http://schemas.microsoft.com/office/drawing/2014/main" id="{A4D5397C-DE61-48EC-8439-5FE820FFB9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76"/>
                <a:ext cx="624" cy="288"/>
                <a:chOff x="0" y="0"/>
                <a:chExt cx="624" cy="288"/>
              </a:xfrm>
            </p:grpSpPr>
            <p:sp>
              <p:nvSpPr>
                <p:cNvPr id="58426" name="Rectangle 28">
                  <a:extLst>
                    <a:ext uri="{FF2B5EF4-FFF2-40B4-BE49-F238E27FC236}">
                      <a16:creationId xmlns:a16="http://schemas.microsoft.com/office/drawing/2014/main" id="{1A89C27F-10E8-40EC-96F2-AECC929222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27" name="Text Box 29">
                  <a:extLst>
                    <a:ext uri="{FF2B5EF4-FFF2-40B4-BE49-F238E27FC236}">
                      <a16:creationId xmlns:a16="http://schemas.microsoft.com/office/drawing/2014/main" id="{B9F7A34F-9E2B-4B2D-9410-340F426AEA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0" y="87"/>
                  <a:ext cx="276" cy="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忙</a:t>
                  </a:r>
                  <a:endParaRPr lang="zh-CN" altLang="en-US" sz="24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8421" name="Line 30">
              <a:extLst>
                <a:ext uri="{FF2B5EF4-FFF2-40B4-BE49-F238E27FC236}">
                  <a16:creationId xmlns:a16="http://schemas.microsoft.com/office/drawing/2014/main" id="{1C728580-E18E-4864-A53D-3DBC31F75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2" name="Line 31">
              <a:extLst>
                <a:ext uri="{FF2B5EF4-FFF2-40B4-BE49-F238E27FC236}">
                  <a16:creationId xmlns:a16="http://schemas.microsoft.com/office/drawing/2014/main" id="{4E0E02AA-4B5C-4454-966A-ABD46C6B2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152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3" name="Line 32">
              <a:extLst>
                <a:ext uri="{FF2B5EF4-FFF2-40B4-BE49-F238E27FC236}">
                  <a16:creationId xmlns:a16="http://schemas.microsoft.com/office/drawing/2014/main" id="{9D091AF7-1DFF-4496-AE49-543EABF1A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576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72" name="组合 10271">
            <a:extLst>
              <a:ext uri="{FF2B5EF4-FFF2-40B4-BE49-F238E27FC236}">
                <a16:creationId xmlns:a16="http://schemas.microsoft.com/office/drawing/2014/main" id="{03B63057-BDA6-4A98-99B2-808A7011833E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2265363"/>
            <a:ext cx="990600" cy="3830637"/>
            <a:chOff x="0" y="0"/>
            <a:chExt cx="624" cy="1450"/>
          </a:xfrm>
        </p:grpSpPr>
        <p:grpSp>
          <p:nvGrpSpPr>
            <p:cNvPr id="58407" name="组合 10272">
              <a:extLst>
                <a:ext uri="{FF2B5EF4-FFF2-40B4-BE49-F238E27FC236}">
                  <a16:creationId xmlns:a16="http://schemas.microsoft.com/office/drawing/2014/main" id="{B71A1F6E-F1F1-43F6-AC38-04307D9943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624" cy="1440"/>
              <a:chOff x="0" y="0"/>
              <a:chExt cx="624" cy="1440"/>
            </a:xfrm>
          </p:grpSpPr>
          <p:grpSp>
            <p:nvGrpSpPr>
              <p:cNvPr id="58411" name="组合 10273">
                <a:extLst>
                  <a:ext uri="{FF2B5EF4-FFF2-40B4-BE49-F238E27FC236}">
                    <a16:creationId xmlns:a16="http://schemas.microsoft.com/office/drawing/2014/main" id="{C9985A81-3B60-46B9-BBC6-CF78D5789D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624" cy="288"/>
                <a:chOff x="0" y="0"/>
                <a:chExt cx="624" cy="288"/>
              </a:xfrm>
            </p:grpSpPr>
            <p:sp>
              <p:nvSpPr>
                <p:cNvPr id="58418" name="Rectangle 36">
                  <a:extLst>
                    <a:ext uri="{FF2B5EF4-FFF2-40B4-BE49-F238E27FC236}">
                      <a16:creationId xmlns:a16="http://schemas.microsoft.com/office/drawing/2014/main" id="{913E57A0-31E5-4C9B-AD8A-638AE8CE7F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19" name="Text Box 37">
                  <a:extLst>
                    <a:ext uri="{FF2B5EF4-FFF2-40B4-BE49-F238E27FC236}">
                      <a16:creationId xmlns:a16="http://schemas.microsoft.com/office/drawing/2014/main" id="{4BA5C748-9614-48EF-B5A1-49682E1319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" y="87"/>
                  <a:ext cx="568" cy="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执行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2000" b="0" baseline="30000">
                      <a:latin typeface="Times New Roman" panose="02020603050405020304" pitchFamily="18" charset="0"/>
                    </a:rPr>
                    <a:t>#</a:t>
                  </a:r>
                  <a:endParaRPr lang="en-US" altLang="zh-CN" sz="2400" b="0" baseline="30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8412" name="组合 10276">
                <a:extLst>
                  <a:ext uri="{FF2B5EF4-FFF2-40B4-BE49-F238E27FC236}">
                    <a16:creationId xmlns:a16="http://schemas.microsoft.com/office/drawing/2014/main" id="{C94F7CDD-9997-40CA-B0B2-7F6AB42C96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76"/>
                <a:ext cx="624" cy="288"/>
                <a:chOff x="0" y="0"/>
                <a:chExt cx="624" cy="288"/>
              </a:xfrm>
            </p:grpSpPr>
            <p:sp>
              <p:nvSpPr>
                <p:cNvPr id="58416" name="Rectangle 39">
                  <a:extLst>
                    <a:ext uri="{FF2B5EF4-FFF2-40B4-BE49-F238E27FC236}">
                      <a16:creationId xmlns:a16="http://schemas.microsoft.com/office/drawing/2014/main" id="{78B40039-2ED4-4EEC-965A-B8D77E465A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17" name="Text Box 40">
                  <a:extLst>
                    <a:ext uri="{FF2B5EF4-FFF2-40B4-BE49-F238E27FC236}">
                      <a16:creationId xmlns:a16="http://schemas.microsoft.com/office/drawing/2014/main" id="{F9B0D205-DEF4-4118-95CC-8E797AF7A9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" y="87"/>
                  <a:ext cx="568" cy="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取指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zh-CN" sz="2000" b="0" baseline="30000">
                      <a:latin typeface="Times New Roman" panose="02020603050405020304" pitchFamily="18" charset="0"/>
                    </a:rPr>
                    <a:t>#</a:t>
                  </a:r>
                  <a:endParaRPr lang="en-US" altLang="zh-CN" sz="2400" b="0" baseline="30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8413" name="组合 10279">
                <a:extLst>
                  <a:ext uri="{FF2B5EF4-FFF2-40B4-BE49-F238E27FC236}">
                    <a16:creationId xmlns:a16="http://schemas.microsoft.com/office/drawing/2014/main" id="{C19867DB-4E7E-4900-B59C-67BEAB3883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2"/>
                <a:ext cx="624" cy="288"/>
                <a:chOff x="0" y="0"/>
                <a:chExt cx="624" cy="288"/>
              </a:xfrm>
            </p:grpSpPr>
            <p:sp>
              <p:nvSpPr>
                <p:cNvPr id="58414" name="Rectangle 42">
                  <a:extLst>
                    <a:ext uri="{FF2B5EF4-FFF2-40B4-BE49-F238E27FC236}">
                      <a16:creationId xmlns:a16="http://schemas.microsoft.com/office/drawing/2014/main" id="{51BBED1A-A5D5-4F41-98C0-CA3FA5295C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15" name="Text Box 43">
                  <a:extLst>
                    <a:ext uri="{FF2B5EF4-FFF2-40B4-BE49-F238E27FC236}">
                      <a16:creationId xmlns:a16="http://schemas.microsoft.com/office/drawing/2014/main" id="{F7F3687E-02DE-489A-8844-978930071E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0" y="87"/>
                  <a:ext cx="276" cy="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忙</a:t>
                  </a:r>
                  <a:endParaRPr lang="zh-CN" altLang="en-US" sz="24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8408" name="Line 44">
              <a:extLst>
                <a:ext uri="{FF2B5EF4-FFF2-40B4-BE49-F238E27FC236}">
                  <a16:creationId xmlns:a16="http://schemas.microsoft.com/office/drawing/2014/main" id="{B1B752D2-77F6-42A8-A419-446F16C47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98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9" name="Line 45">
              <a:extLst>
                <a:ext uri="{FF2B5EF4-FFF2-40B4-BE49-F238E27FC236}">
                  <a16:creationId xmlns:a16="http://schemas.microsoft.com/office/drawing/2014/main" id="{59FC2D03-9D39-40FA-9C17-9E19C0CFD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450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0" name="Line 46">
              <a:extLst>
                <a:ext uri="{FF2B5EF4-FFF2-40B4-BE49-F238E27FC236}">
                  <a16:creationId xmlns:a16="http://schemas.microsoft.com/office/drawing/2014/main" id="{54F4EC48-0D14-4F2B-A8DF-3F815CC2A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874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86" name="组合 10285">
            <a:extLst>
              <a:ext uri="{FF2B5EF4-FFF2-40B4-BE49-F238E27FC236}">
                <a16:creationId xmlns:a16="http://schemas.microsoft.com/office/drawing/2014/main" id="{246011F0-35DA-45A2-94BF-D9DC3F30AE0F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265363"/>
            <a:ext cx="990600" cy="3830637"/>
            <a:chOff x="0" y="0"/>
            <a:chExt cx="624" cy="1450"/>
          </a:xfrm>
        </p:grpSpPr>
        <p:grpSp>
          <p:nvGrpSpPr>
            <p:cNvPr id="58394" name="组合 10286">
              <a:extLst>
                <a:ext uri="{FF2B5EF4-FFF2-40B4-BE49-F238E27FC236}">
                  <a16:creationId xmlns:a16="http://schemas.microsoft.com/office/drawing/2014/main" id="{DF550923-03DB-4863-B889-DB92D43530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624" cy="1440"/>
              <a:chOff x="0" y="0"/>
              <a:chExt cx="624" cy="1440"/>
            </a:xfrm>
          </p:grpSpPr>
          <p:grpSp>
            <p:nvGrpSpPr>
              <p:cNvPr id="58398" name="组合 10287">
                <a:extLst>
                  <a:ext uri="{FF2B5EF4-FFF2-40B4-BE49-F238E27FC236}">
                    <a16:creationId xmlns:a16="http://schemas.microsoft.com/office/drawing/2014/main" id="{EFD7C4CA-B227-4859-9705-CE8E6A16B2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624" cy="288"/>
                <a:chOff x="0" y="0"/>
                <a:chExt cx="624" cy="288"/>
              </a:xfrm>
            </p:grpSpPr>
            <p:sp>
              <p:nvSpPr>
                <p:cNvPr id="58405" name="Rectangle 50">
                  <a:extLst>
                    <a:ext uri="{FF2B5EF4-FFF2-40B4-BE49-F238E27FC236}">
                      <a16:creationId xmlns:a16="http://schemas.microsoft.com/office/drawing/2014/main" id="{A0364853-9F19-4CF4-85A0-097E83C78A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06" name="Text Box 51">
                  <a:extLst>
                    <a:ext uri="{FF2B5EF4-FFF2-40B4-BE49-F238E27FC236}">
                      <a16:creationId xmlns:a16="http://schemas.microsoft.com/office/drawing/2014/main" id="{0789AD0A-177F-4B0F-A181-22A965B242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" y="87"/>
                  <a:ext cx="568" cy="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执行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zh-CN" sz="2000" b="0" baseline="30000">
                      <a:latin typeface="Times New Roman" panose="02020603050405020304" pitchFamily="18" charset="0"/>
                    </a:rPr>
                    <a:t>#</a:t>
                  </a:r>
                  <a:endParaRPr lang="en-US" altLang="zh-CN" sz="2400" b="0" baseline="30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8399" name="组合 10290">
                <a:extLst>
                  <a:ext uri="{FF2B5EF4-FFF2-40B4-BE49-F238E27FC236}">
                    <a16:creationId xmlns:a16="http://schemas.microsoft.com/office/drawing/2014/main" id="{B2696F99-99B3-4447-9C2F-316A280B0A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76"/>
                <a:ext cx="624" cy="288"/>
                <a:chOff x="0" y="0"/>
                <a:chExt cx="624" cy="288"/>
              </a:xfrm>
            </p:grpSpPr>
            <p:sp>
              <p:nvSpPr>
                <p:cNvPr id="58403" name="Rectangle 53">
                  <a:extLst>
                    <a:ext uri="{FF2B5EF4-FFF2-40B4-BE49-F238E27FC236}">
                      <a16:creationId xmlns:a16="http://schemas.microsoft.com/office/drawing/2014/main" id="{8784638E-9191-4C4E-B98F-5F0CEA48E2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04" name="Text Box 54">
                  <a:extLst>
                    <a:ext uri="{FF2B5EF4-FFF2-40B4-BE49-F238E27FC236}">
                      <a16:creationId xmlns:a16="http://schemas.microsoft.com/office/drawing/2014/main" id="{2F325267-DF32-45C3-AFAB-2766970633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" y="87"/>
                  <a:ext cx="568" cy="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取指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3</a:t>
                  </a:r>
                  <a:r>
                    <a:rPr lang="en-US" altLang="zh-CN" sz="2000" b="0" baseline="30000">
                      <a:latin typeface="Times New Roman" panose="02020603050405020304" pitchFamily="18" charset="0"/>
                    </a:rPr>
                    <a:t>#</a:t>
                  </a:r>
                  <a:endParaRPr lang="en-US" altLang="zh-CN" sz="2400" b="0" baseline="30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8400" name="组合 10293">
                <a:extLst>
                  <a:ext uri="{FF2B5EF4-FFF2-40B4-BE49-F238E27FC236}">
                    <a16:creationId xmlns:a16="http://schemas.microsoft.com/office/drawing/2014/main" id="{E5241182-A4F6-4057-A96B-DAD9273050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2"/>
                <a:ext cx="624" cy="288"/>
                <a:chOff x="0" y="0"/>
                <a:chExt cx="624" cy="288"/>
              </a:xfrm>
            </p:grpSpPr>
            <p:sp>
              <p:nvSpPr>
                <p:cNvPr id="58401" name="Rectangle 56">
                  <a:extLst>
                    <a:ext uri="{FF2B5EF4-FFF2-40B4-BE49-F238E27FC236}">
                      <a16:creationId xmlns:a16="http://schemas.microsoft.com/office/drawing/2014/main" id="{64F1D6D6-41AE-4883-9951-711B0F4552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02" name="Text Box 57">
                  <a:extLst>
                    <a:ext uri="{FF2B5EF4-FFF2-40B4-BE49-F238E27FC236}">
                      <a16:creationId xmlns:a16="http://schemas.microsoft.com/office/drawing/2014/main" id="{F21B1D32-9844-4C7C-AA5F-741C54E5C2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0" y="87"/>
                  <a:ext cx="276" cy="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忙</a:t>
                  </a:r>
                  <a:endParaRPr lang="zh-CN" altLang="en-US" sz="24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8395" name="Line 58">
              <a:extLst>
                <a:ext uri="{FF2B5EF4-FFF2-40B4-BE49-F238E27FC236}">
                  <a16:creationId xmlns:a16="http://schemas.microsoft.com/office/drawing/2014/main" id="{D0DB4D26-358C-4540-B465-433E301C2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98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6" name="Line 59">
              <a:extLst>
                <a:ext uri="{FF2B5EF4-FFF2-40B4-BE49-F238E27FC236}">
                  <a16:creationId xmlns:a16="http://schemas.microsoft.com/office/drawing/2014/main" id="{AE6AFA34-EB8D-479F-8696-9F43A5871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450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7" name="Line 60">
              <a:extLst>
                <a:ext uri="{FF2B5EF4-FFF2-40B4-BE49-F238E27FC236}">
                  <a16:creationId xmlns:a16="http://schemas.microsoft.com/office/drawing/2014/main" id="{7CB2C118-C85E-488B-AA90-1A1583DF7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874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00" name="组合 10299">
            <a:extLst>
              <a:ext uri="{FF2B5EF4-FFF2-40B4-BE49-F238E27FC236}">
                <a16:creationId xmlns:a16="http://schemas.microsoft.com/office/drawing/2014/main" id="{BD3D31FC-D25D-4F7A-9C15-0FE89F5873E5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265363"/>
            <a:ext cx="990600" cy="3830637"/>
            <a:chOff x="0" y="0"/>
            <a:chExt cx="624" cy="1450"/>
          </a:xfrm>
        </p:grpSpPr>
        <p:grpSp>
          <p:nvGrpSpPr>
            <p:cNvPr id="58388" name="组合 10300">
              <a:extLst>
                <a:ext uri="{FF2B5EF4-FFF2-40B4-BE49-F238E27FC236}">
                  <a16:creationId xmlns:a16="http://schemas.microsoft.com/office/drawing/2014/main" id="{19B31483-8DD5-4075-961B-5D3F53163C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624" cy="288"/>
              <a:chOff x="0" y="0"/>
              <a:chExt cx="624" cy="288"/>
            </a:xfrm>
          </p:grpSpPr>
          <p:sp>
            <p:nvSpPr>
              <p:cNvPr id="58392" name="Rectangle 63">
                <a:extLst>
                  <a:ext uri="{FF2B5EF4-FFF2-40B4-BE49-F238E27FC236}">
                    <a16:creationId xmlns:a16="http://schemas.microsoft.com/office/drawing/2014/main" id="{E41D4EE7-5637-4914-A385-80BFA2926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624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8393" name="Text Box 64">
                <a:extLst>
                  <a:ext uri="{FF2B5EF4-FFF2-40B4-BE49-F238E27FC236}">
                    <a16:creationId xmlns:a16="http://schemas.microsoft.com/office/drawing/2014/main" id="{F22C7B13-74AC-4490-8BAB-375EF5C867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" y="87"/>
                <a:ext cx="568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0">
                    <a:latin typeface="Times New Roman" panose="02020603050405020304" pitchFamily="18" charset="0"/>
                  </a:rPr>
                  <a:t>执行</a:t>
                </a:r>
                <a:r>
                  <a:rPr lang="en-US" altLang="zh-CN" sz="2000" b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0" baseline="30000">
                    <a:latin typeface="Times New Roman" panose="02020603050405020304" pitchFamily="18" charset="0"/>
                  </a:rPr>
                  <a:t>#</a:t>
                </a:r>
                <a:endParaRPr lang="en-US" altLang="zh-CN" sz="2400" b="0" baseline="30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8389" name="Line 65">
              <a:extLst>
                <a:ext uri="{FF2B5EF4-FFF2-40B4-BE49-F238E27FC236}">
                  <a16:creationId xmlns:a16="http://schemas.microsoft.com/office/drawing/2014/main" id="{BF4A6BA2-C9AA-4660-9D91-8079FAFD4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98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0" name="Line 66">
              <a:extLst>
                <a:ext uri="{FF2B5EF4-FFF2-40B4-BE49-F238E27FC236}">
                  <a16:creationId xmlns:a16="http://schemas.microsoft.com/office/drawing/2014/main" id="{5F904E86-2C68-4EDB-B6AF-03502FD9E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450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1" name="Line 67">
              <a:extLst>
                <a:ext uri="{FF2B5EF4-FFF2-40B4-BE49-F238E27FC236}">
                  <a16:creationId xmlns:a16="http://schemas.microsoft.com/office/drawing/2014/main" id="{4645C135-7EFC-4537-89DF-0FEEC56C0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874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07" name="组合 10306">
            <a:extLst>
              <a:ext uri="{FF2B5EF4-FFF2-40B4-BE49-F238E27FC236}">
                <a16:creationId xmlns:a16="http://schemas.microsoft.com/office/drawing/2014/main" id="{8F2F3CDE-F67F-4E4E-9FA5-6D14B411FFED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051175"/>
            <a:ext cx="3125788" cy="3044825"/>
            <a:chOff x="0" y="0"/>
            <a:chExt cx="1969" cy="1152"/>
          </a:xfrm>
        </p:grpSpPr>
        <p:sp>
          <p:nvSpPr>
            <p:cNvPr id="58379" name="Line 69">
              <a:extLst>
                <a:ext uri="{FF2B5EF4-FFF2-40B4-BE49-F238E27FC236}">
                  <a16:creationId xmlns:a16="http://schemas.microsoft.com/office/drawing/2014/main" id="{C89531A4-0E3D-47F1-BC3B-2749E8D97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0" name="Line 70">
              <a:extLst>
                <a:ext uri="{FF2B5EF4-FFF2-40B4-BE49-F238E27FC236}">
                  <a16:creationId xmlns:a16="http://schemas.microsoft.com/office/drawing/2014/main" id="{8AB75E3E-8EE8-474C-82BB-606A484AF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576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1" name="Line 71">
              <a:extLst>
                <a:ext uri="{FF2B5EF4-FFF2-40B4-BE49-F238E27FC236}">
                  <a16:creationId xmlns:a16="http://schemas.microsoft.com/office/drawing/2014/main" id="{5AD57CAB-9BBD-4B7E-BC04-817644BCF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152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2" name="Line 72">
              <a:extLst>
                <a:ext uri="{FF2B5EF4-FFF2-40B4-BE49-F238E27FC236}">
                  <a16:creationId xmlns:a16="http://schemas.microsoft.com/office/drawing/2014/main" id="{E679747B-0206-4685-9FC3-0D715E138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3" name="Line 73">
              <a:extLst>
                <a:ext uri="{FF2B5EF4-FFF2-40B4-BE49-F238E27FC236}">
                  <a16:creationId xmlns:a16="http://schemas.microsoft.com/office/drawing/2014/main" id="{70002524-FEB9-4954-96BF-48BCFC4D5B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152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4" name="Line 74">
              <a:extLst>
                <a:ext uri="{FF2B5EF4-FFF2-40B4-BE49-F238E27FC236}">
                  <a16:creationId xmlns:a16="http://schemas.microsoft.com/office/drawing/2014/main" id="{1E353C3E-C184-4BAB-8756-CB19111BB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576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5" name="Line 75">
              <a:extLst>
                <a:ext uri="{FF2B5EF4-FFF2-40B4-BE49-F238E27FC236}">
                  <a16:creationId xmlns:a16="http://schemas.microsoft.com/office/drawing/2014/main" id="{5E1B93A2-1222-471E-BC63-8B6DAD6F8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152"/>
              <a:ext cx="721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6" name="Line 76">
              <a:extLst>
                <a:ext uri="{FF2B5EF4-FFF2-40B4-BE49-F238E27FC236}">
                  <a16:creationId xmlns:a16="http://schemas.microsoft.com/office/drawing/2014/main" id="{B03559C4-C61B-4B35-9732-FAC5DDA69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576"/>
              <a:ext cx="721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7" name="Line 77">
              <a:extLst>
                <a:ext uri="{FF2B5EF4-FFF2-40B4-BE49-F238E27FC236}">
                  <a16:creationId xmlns:a16="http://schemas.microsoft.com/office/drawing/2014/main" id="{0C43A9EC-7D17-4412-877F-3ED6A4EE6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0"/>
              <a:ext cx="721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376" name="Rectangle 78">
            <a:extLst>
              <a:ext uri="{FF2B5EF4-FFF2-40B4-BE49-F238E27FC236}">
                <a16:creationId xmlns:a16="http://schemas.microsoft.com/office/drawing/2014/main" id="{4D69B965-A9D5-4E3D-9DDE-7DFFA5B18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88" y="260350"/>
            <a:ext cx="7469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8086CPU</a:t>
            </a:r>
            <a:r>
              <a:rPr lang="zh-CN" altLang="en-US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取指令与执行指令时序</a:t>
            </a:r>
            <a:r>
              <a:rPr lang="en-US" altLang="zh-CN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</a:t>
            </a:r>
            <a:r>
              <a:rPr lang="zh-CN" altLang="en-US">
                <a:solidFill>
                  <a:srgbClr val="00FF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并行工作方式</a:t>
            </a:r>
          </a:p>
        </p:txBody>
      </p:sp>
      <p:sp>
        <p:nvSpPr>
          <p:cNvPr id="10318" name="Rectangle 3">
            <a:extLst>
              <a:ext uri="{FF2B5EF4-FFF2-40B4-BE49-F238E27FC236}">
                <a16:creationId xmlns:a16="http://schemas.microsoft.com/office/drawing/2014/main" id="{E56C3AC4-BBEE-4E63-B580-3ABE028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6237288"/>
            <a:ext cx="6696075" cy="530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170" tIns="46990" rIns="90170" bIns="4699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solidFill>
                  <a:srgbClr val="FFFFCC"/>
                </a:solidFill>
                <a:latin typeface="宋体" panose="02010600030101010101" pitchFamily="2" charset="-122"/>
              </a:rPr>
              <a:t>问题：当程序不是顺序执行时会怎么样？</a:t>
            </a:r>
          </a:p>
        </p:txBody>
      </p:sp>
      <p:sp>
        <p:nvSpPr>
          <p:cNvPr id="17486" name="灯片编号占位符 1">
            <a:extLst>
              <a:ext uri="{FF2B5EF4-FFF2-40B4-BE49-F238E27FC236}">
                <a16:creationId xmlns:a16="http://schemas.microsoft.com/office/drawing/2014/main" id="{F6F0087B-ADBA-4E66-8420-7D504D7F3C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A9E3373-0B39-4111-A56B-507F71E860D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8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1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>
            <a:extLst>
              <a:ext uri="{FF2B5EF4-FFF2-40B4-BE49-F238E27FC236}">
                <a16:creationId xmlns:a16="http://schemas.microsoft.com/office/drawing/2014/main" id="{29CDCCCC-DF49-4CA1-8DF9-96ABEF830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44675"/>
            <a:ext cx="8001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宋体" panose="02010600030101010101" pitchFamily="2" charset="-122"/>
              </a:rPr>
              <a:t>    </a:t>
            </a:r>
            <a:r>
              <a:rPr lang="en-US" altLang="zh-CN" b="0">
                <a:latin typeface="宋体" panose="02010600030101010101" pitchFamily="2" charset="-122"/>
              </a:rPr>
              <a:t>CPU</a:t>
            </a:r>
            <a:r>
              <a:rPr lang="zh-CN" altLang="en-US" b="0">
                <a:latin typeface="宋体" panose="02010600030101010101" pitchFamily="2" charset="-122"/>
              </a:rPr>
              <a:t>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串行工作</a:t>
            </a:r>
            <a:r>
              <a:rPr lang="zh-CN" altLang="en-US" b="0">
                <a:latin typeface="宋体" panose="02010600030101010101" pitchFamily="2" charset="-122"/>
              </a:rPr>
              <a:t>方式使总线和</a:t>
            </a:r>
            <a:r>
              <a:rPr lang="en-US" altLang="zh-CN" b="0">
                <a:latin typeface="宋体" panose="02010600030101010101" pitchFamily="2" charset="-122"/>
              </a:rPr>
              <a:t>CPU</a:t>
            </a:r>
            <a:r>
              <a:rPr lang="zh-CN" altLang="en-US" b="0">
                <a:latin typeface="宋体" panose="02010600030101010101" pitchFamily="2" charset="-122"/>
              </a:rPr>
              <a:t>有很多的时间都浪费在等待中了。</a:t>
            </a:r>
          </a:p>
        </p:txBody>
      </p:sp>
      <p:sp>
        <p:nvSpPr>
          <p:cNvPr id="60419" name="Rectangle 4">
            <a:extLst>
              <a:ext uri="{FF2B5EF4-FFF2-40B4-BE49-F238E27FC236}">
                <a16:creationId xmlns:a16="http://schemas.microsoft.com/office/drawing/2014/main" id="{130F6401-6D21-4A0A-82B3-545568615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141663"/>
            <a:ext cx="7924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宋体" panose="02010600030101010101" pitchFamily="2" charset="-122"/>
              </a:rPr>
              <a:t>    </a:t>
            </a:r>
            <a:r>
              <a:rPr lang="en-US" altLang="zh-CN" b="0">
                <a:latin typeface="宋体" panose="02010600030101010101" pitchFamily="2" charset="-122"/>
              </a:rPr>
              <a:t>CPU</a:t>
            </a:r>
            <a:r>
              <a:rPr lang="zh-CN" altLang="en-US" b="0">
                <a:latin typeface="宋体" panose="02010600030101010101" pitchFamily="2" charset="-122"/>
              </a:rPr>
              <a:t>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并行工作方式</a:t>
            </a:r>
            <a:r>
              <a:rPr lang="zh-CN" altLang="en-US" b="0">
                <a:latin typeface="宋体" panose="02010600030101010101" pitchFamily="2" charset="-122"/>
              </a:rPr>
              <a:t>使总线和</a:t>
            </a:r>
            <a:r>
              <a:rPr lang="en-US" altLang="zh-CN" b="0">
                <a:latin typeface="宋体" panose="02010600030101010101" pitchFamily="2" charset="-122"/>
              </a:rPr>
              <a:t>CPU</a:t>
            </a:r>
            <a:r>
              <a:rPr lang="zh-CN" altLang="en-US" b="0">
                <a:latin typeface="宋体" panose="02010600030101010101" pitchFamily="2" charset="-122"/>
              </a:rPr>
              <a:t>的工作效率得到提高，有限资源也得到充分利用。</a:t>
            </a:r>
          </a:p>
        </p:txBody>
      </p:sp>
      <p:sp>
        <p:nvSpPr>
          <p:cNvPr id="60420" name="Rectangle 5">
            <a:extLst>
              <a:ext uri="{FF2B5EF4-FFF2-40B4-BE49-F238E27FC236}">
                <a16:creationId xmlns:a16="http://schemas.microsoft.com/office/drawing/2014/main" id="{16554508-3608-4C4F-A933-35A05E41B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60350"/>
            <a:ext cx="990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  <a:ea typeface="仿宋" panose="02010609060101010101" pitchFamily="49" charset="-122"/>
              </a:rPr>
              <a:t>比较</a:t>
            </a:r>
          </a:p>
        </p:txBody>
      </p:sp>
      <p:sp>
        <p:nvSpPr>
          <p:cNvPr id="19460" name="灯片编号占位符 1">
            <a:extLst>
              <a:ext uri="{FF2B5EF4-FFF2-40B4-BE49-F238E27FC236}">
                <a16:creationId xmlns:a16="http://schemas.microsoft.com/office/drawing/2014/main" id="{4F755361-9826-4ADA-B441-FC1819DB65E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815ABD5-910B-460D-9140-8E9DD4384135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9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13313">
            <a:extLst>
              <a:ext uri="{FF2B5EF4-FFF2-40B4-BE49-F238E27FC236}">
                <a16:creationId xmlns:a16="http://schemas.microsoft.com/office/drawing/2014/main" id="{384C4C8F-DBCD-4881-BD2D-E099D4FDE2F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279525" y="5273675"/>
            <a:ext cx="1343025" cy="471488"/>
            <a:chOff x="0" y="0"/>
            <a:chExt cx="846" cy="297"/>
          </a:xfrm>
        </p:grpSpPr>
        <p:sp>
          <p:nvSpPr>
            <p:cNvPr id="61544" name="Line 6">
              <a:extLst>
                <a:ext uri="{FF2B5EF4-FFF2-40B4-BE49-F238E27FC236}">
                  <a16:creationId xmlns:a16="http://schemas.microsoft.com/office/drawing/2014/main" id="{000182E7-F74E-41A8-BE0F-03F70917015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53" y="263"/>
              <a:ext cx="41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5" name="Line 7">
              <a:extLst>
                <a:ext uri="{FF2B5EF4-FFF2-40B4-BE49-F238E27FC236}">
                  <a16:creationId xmlns:a16="http://schemas.microsoft.com/office/drawing/2014/main" id="{D9C4ADC6-E3FB-4EF0-B9FD-6110411CC56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0" y="2"/>
              <a:ext cx="246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6" name="Line 8">
              <a:extLst>
                <a:ext uri="{FF2B5EF4-FFF2-40B4-BE49-F238E27FC236}">
                  <a16:creationId xmlns:a16="http://schemas.microsoft.com/office/drawing/2014/main" id="{7AF6DE20-31B6-4A8C-B0F1-1A650283C8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" y="4"/>
              <a:ext cx="21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7" name="Line 9">
              <a:extLst>
                <a:ext uri="{FF2B5EF4-FFF2-40B4-BE49-F238E27FC236}">
                  <a16:creationId xmlns:a16="http://schemas.microsoft.com/office/drawing/2014/main" id="{05618A34-0DF0-4CB3-B339-9FB33E56B4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4" y="2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8" name="Line 10">
              <a:extLst>
                <a:ext uri="{FF2B5EF4-FFF2-40B4-BE49-F238E27FC236}">
                  <a16:creationId xmlns:a16="http://schemas.microsoft.com/office/drawing/2014/main" id="{70BBFE72-9F81-4300-B64A-817D60CDFD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5" y="100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9" name="Line 11">
              <a:extLst>
                <a:ext uri="{FF2B5EF4-FFF2-40B4-BE49-F238E27FC236}">
                  <a16:creationId xmlns:a16="http://schemas.microsoft.com/office/drawing/2014/main" id="{AB54F4B3-6DD3-404D-BBED-D553C69DFA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29" y="0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50" name="Line 12">
              <a:extLst>
                <a:ext uri="{FF2B5EF4-FFF2-40B4-BE49-F238E27FC236}">
                  <a16:creationId xmlns:a16="http://schemas.microsoft.com/office/drawing/2014/main" id="{5EC4EB22-7EE8-4EDE-8572-ED85BC06B04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52" y="8"/>
              <a:ext cx="19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51" name="Line 13">
              <a:extLst>
                <a:ext uri="{FF2B5EF4-FFF2-40B4-BE49-F238E27FC236}">
                  <a16:creationId xmlns:a16="http://schemas.microsoft.com/office/drawing/2014/main" id="{387C7685-EB32-4FA0-BC65-491162706A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62" y="12"/>
              <a:ext cx="180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52" name="Text Box 14">
              <a:extLst>
                <a:ext uri="{FF2B5EF4-FFF2-40B4-BE49-F238E27FC236}">
                  <a16:creationId xmlns:a16="http://schemas.microsoft.com/office/drawing/2014/main" id="{FED03693-0503-462D-ABB5-FF6EEF85A0E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8" y="70"/>
              <a:ext cx="432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latin typeface="Times New Roman" panose="02020603050405020304" pitchFamily="18" charset="0"/>
                </a:rPr>
                <a:t>ALU</a:t>
              </a:r>
            </a:p>
          </p:txBody>
        </p:sp>
      </p:grpSp>
      <p:grpSp>
        <p:nvGrpSpPr>
          <p:cNvPr id="13324" name="组合 13323">
            <a:extLst>
              <a:ext uri="{FF2B5EF4-FFF2-40B4-BE49-F238E27FC236}">
                <a16:creationId xmlns:a16="http://schemas.microsoft.com/office/drawing/2014/main" id="{E36EE0E8-6ECE-46F2-BFC4-2A7EEDC604B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73188" y="4672013"/>
            <a:ext cx="1198562" cy="608012"/>
            <a:chOff x="0" y="0"/>
            <a:chExt cx="755" cy="383"/>
          </a:xfrm>
        </p:grpSpPr>
        <p:sp>
          <p:nvSpPr>
            <p:cNvPr id="61541" name="Text Box 16">
              <a:extLst>
                <a:ext uri="{FF2B5EF4-FFF2-40B4-BE49-F238E27FC236}">
                  <a16:creationId xmlns:a16="http://schemas.microsoft.com/office/drawing/2014/main" id="{5835BF79-1263-4364-89B1-CC05F9B9F04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755" cy="20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暂 存 器</a:t>
              </a:r>
            </a:p>
          </p:txBody>
        </p:sp>
        <p:sp>
          <p:nvSpPr>
            <p:cNvPr id="61542" name="AutoShape 17">
              <a:extLst>
                <a:ext uri="{FF2B5EF4-FFF2-40B4-BE49-F238E27FC236}">
                  <a16:creationId xmlns:a16="http://schemas.microsoft.com/office/drawing/2014/main" id="{816BE1F9-44FE-428F-ADE8-F69866F694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" y="208"/>
              <a:ext cx="142" cy="175"/>
            </a:xfrm>
            <a:prstGeom prst="downArrow">
              <a:avLst>
                <a:gd name="adj1" fmla="val 50000"/>
                <a:gd name="adj2" fmla="val 30707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1543" name="AutoShape 18">
              <a:extLst>
                <a:ext uri="{FF2B5EF4-FFF2-40B4-BE49-F238E27FC236}">
                  <a16:creationId xmlns:a16="http://schemas.microsoft.com/office/drawing/2014/main" id="{F22B61E6-4387-4990-9E14-B412BE17AA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6" y="208"/>
              <a:ext cx="143" cy="175"/>
            </a:xfrm>
            <a:prstGeom prst="downArrow">
              <a:avLst>
                <a:gd name="adj1" fmla="val 50000"/>
                <a:gd name="adj2" fmla="val 3049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13328" name="组合 13327">
            <a:extLst>
              <a:ext uri="{FF2B5EF4-FFF2-40B4-BE49-F238E27FC236}">
                <a16:creationId xmlns:a16="http://schemas.microsoft.com/office/drawing/2014/main" id="{0D934F34-7955-4636-A8A6-7B39411A620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94088" y="4349750"/>
            <a:ext cx="900112" cy="1931988"/>
            <a:chOff x="0" y="0"/>
            <a:chExt cx="567" cy="1217"/>
          </a:xfrm>
        </p:grpSpPr>
        <p:sp>
          <p:nvSpPr>
            <p:cNvPr id="61538" name="AutoShape 22">
              <a:extLst>
                <a:ext uri="{FF2B5EF4-FFF2-40B4-BE49-F238E27FC236}">
                  <a16:creationId xmlns:a16="http://schemas.microsoft.com/office/drawing/2014/main" id="{6C24D83B-D9DA-4991-B9CA-502FFAFC82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670"/>
              <a:ext cx="567" cy="48"/>
            </a:xfrm>
            <a:prstGeom prst="leftArrow">
              <a:avLst>
                <a:gd name="adj1" fmla="val 50000"/>
                <a:gd name="adj2" fmla="val 294875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1539" name="AutoShape 23">
              <a:extLst>
                <a:ext uri="{FF2B5EF4-FFF2-40B4-BE49-F238E27FC236}">
                  <a16:creationId xmlns:a16="http://schemas.microsoft.com/office/drawing/2014/main" id="{9B0B11C9-9F4D-4174-B52F-7BC813EC4F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3" y="0"/>
              <a:ext cx="60" cy="683"/>
            </a:xfrm>
            <a:prstGeom prst="upArrow">
              <a:avLst>
                <a:gd name="adj1" fmla="val 50000"/>
                <a:gd name="adj2" fmla="val 283635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1540" name="Text Box 24">
              <a:extLst>
                <a:ext uri="{FF2B5EF4-FFF2-40B4-BE49-F238E27FC236}">
                  <a16:creationId xmlns:a16="http://schemas.microsoft.com/office/drawing/2014/main" id="{FE3AC848-27A3-442F-925A-43DB3387786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" y="781"/>
              <a:ext cx="514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8</a:t>
              </a:r>
              <a:r>
                <a:rPr lang="zh-CN" altLang="en-US" sz="2000">
                  <a:latin typeface="Times New Roman" panose="02020603050405020304" pitchFamily="18" charset="0"/>
                </a:rPr>
                <a:t>位队列总线</a:t>
              </a:r>
            </a:p>
          </p:txBody>
        </p:sp>
      </p:grpSp>
      <p:sp>
        <p:nvSpPr>
          <p:cNvPr id="13332" name="Text Box 25">
            <a:extLst>
              <a:ext uri="{FF2B5EF4-FFF2-40B4-BE49-F238E27FC236}">
                <a16:creationId xmlns:a16="http://schemas.microsoft.com/office/drawing/2014/main" id="{B9171BC8-4C5B-4C85-8894-A07EF329C9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235825" y="1009650"/>
            <a:ext cx="388938" cy="50815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13333" name="组合 13332">
            <a:extLst>
              <a:ext uri="{FF2B5EF4-FFF2-40B4-BE49-F238E27FC236}">
                <a16:creationId xmlns:a16="http://schemas.microsoft.com/office/drawing/2014/main" id="{95D16A1C-7312-460E-9183-930D5FAD681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4350" y="3798888"/>
            <a:ext cx="5919788" cy="2779712"/>
            <a:chOff x="0" y="0"/>
            <a:chExt cx="3729" cy="1751"/>
          </a:xfrm>
        </p:grpSpPr>
        <p:grpSp>
          <p:nvGrpSpPr>
            <p:cNvPr id="61534" name="组合 13333">
              <a:extLst>
                <a:ext uri="{FF2B5EF4-FFF2-40B4-BE49-F238E27FC236}">
                  <a16:creationId xmlns:a16="http://schemas.microsoft.com/office/drawing/2014/main" id="{BA952C7D-D449-4E0A-9A6F-49A7D407CF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248"/>
              <a:ext cx="3729" cy="1503"/>
              <a:chOff x="0" y="0"/>
              <a:chExt cx="3729" cy="1503"/>
            </a:xfrm>
          </p:grpSpPr>
          <p:sp>
            <p:nvSpPr>
              <p:cNvPr id="61536" name="AutoShape 27">
                <a:extLst>
                  <a:ext uri="{FF2B5EF4-FFF2-40B4-BE49-F238E27FC236}">
                    <a16:creationId xmlns:a16="http://schemas.microsoft.com/office/drawing/2014/main" id="{424F0F82-81A9-462F-9476-0B8C906431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5" y="108"/>
                <a:ext cx="131" cy="1395"/>
              </a:xfrm>
              <a:prstGeom prst="upDownArrow">
                <a:avLst>
                  <a:gd name="adj1" fmla="val 60000"/>
                  <a:gd name="adj2" fmla="val 168903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61537" name="AutoShape 28">
                <a:extLst>
                  <a:ext uri="{FF2B5EF4-FFF2-40B4-BE49-F238E27FC236}">
                    <a16:creationId xmlns:a16="http://schemas.microsoft.com/office/drawing/2014/main" id="{71A35B77-F0AD-4254-B678-E358E08F61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0" y="0"/>
                <a:ext cx="3729" cy="155"/>
              </a:xfrm>
              <a:prstGeom prst="leftRightArrow">
                <a:avLst>
                  <a:gd name="adj1" fmla="val 57435"/>
                  <a:gd name="adj2" fmla="val 164842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sp>
          <p:nvSpPr>
            <p:cNvPr id="61535" name="Text Box 29">
              <a:extLst>
                <a:ext uri="{FF2B5EF4-FFF2-40B4-BE49-F238E27FC236}">
                  <a16:creationId xmlns:a16="http://schemas.microsoft.com/office/drawing/2014/main" id="{FE40FB8E-EB42-4290-8FC4-6FB27429209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42" y="0"/>
              <a:ext cx="1212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内部总线</a:t>
              </a:r>
              <a:r>
                <a:rPr lang="en-US" altLang="zh-CN" sz="2400">
                  <a:latin typeface="Times New Roman" panose="02020603050405020304" pitchFamily="18" charset="0"/>
                </a:rPr>
                <a:t>16</a:t>
              </a:r>
              <a:r>
                <a:rPr lang="zh-CN" altLang="en-US" sz="2400">
                  <a:latin typeface="Times New Roman" panose="02020603050405020304" pitchFamily="18" charset="0"/>
                </a:rPr>
                <a:t>位</a:t>
              </a:r>
            </a:p>
          </p:txBody>
        </p:sp>
      </p:grpSp>
      <p:grpSp>
        <p:nvGrpSpPr>
          <p:cNvPr id="13338" name="组合 13337">
            <a:extLst>
              <a:ext uri="{FF2B5EF4-FFF2-40B4-BE49-F238E27FC236}">
                <a16:creationId xmlns:a16="http://schemas.microsoft.com/office/drawing/2014/main" id="{F805BA2F-3510-4FD9-84AE-FE571DE1F0C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00575" y="1581150"/>
            <a:ext cx="1336675" cy="441325"/>
            <a:chOff x="0" y="0"/>
            <a:chExt cx="842" cy="278"/>
          </a:xfrm>
        </p:grpSpPr>
        <p:sp>
          <p:nvSpPr>
            <p:cNvPr id="61525" name="Line 32">
              <a:extLst>
                <a:ext uri="{FF2B5EF4-FFF2-40B4-BE49-F238E27FC236}">
                  <a16:creationId xmlns:a16="http://schemas.microsoft.com/office/drawing/2014/main" id="{DD9DE5F7-9A9C-43CF-9558-B5148E3639A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6" name="Line 33">
              <a:extLst>
                <a:ext uri="{FF2B5EF4-FFF2-40B4-BE49-F238E27FC236}">
                  <a16:creationId xmlns:a16="http://schemas.microsoft.com/office/drawing/2014/main" id="{0B444FA7-DE85-4354-94C2-208608AEF3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7" name="Line 34">
              <a:extLst>
                <a:ext uri="{FF2B5EF4-FFF2-40B4-BE49-F238E27FC236}">
                  <a16:creationId xmlns:a16="http://schemas.microsoft.com/office/drawing/2014/main" id="{2217B891-B38F-45A3-8DC4-0DC22CA9BF9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8" name="Line 35">
              <a:extLst>
                <a:ext uri="{FF2B5EF4-FFF2-40B4-BE49-F238E27FC236}">
                  <a16:creationId xmlns:a16="http://schemas.microsoft.com/office/drawing/2014/main" id="{7EDDBAB1-6A91-43F2-9661-4648E9CDD93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9" name="Line 36">
              <a:extLst>
                <a:ext uri="{FF2B5EF4-FFF2-40B4-BE49-F238E27FC236}">
                  <a16:creationId xmlns:a16="http://schemas.microsoft.com/office/drawing/2014/main" id="{8322DF6F-61FB-430A-8C5C-AB4A9434FE3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30" name="Line 37">
              <a:extLst>
                <a:ext uri="{FF2B5EF4-FFF2-40B4-BE49-F238E27FC236}">
                  <a16:creationId xmlns:a16="http://schemas.microsoft.com/office/drawing/2014/main" id="{FD899213-D620-43EB-AABD-F6AE80271E7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31" name="Line 38">
              <a:extLst>
                <a:ext uri="{FF2B5EF4-FFF2-40B4-BE49-F238E27FC236}">
                  <a16:creationId xmlns:a16="http://schemas.microsoft.com/office/drawing/2014/main" id="{4F749A77-DEE3-421E-BA77-FFFF99E022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32" name="Line 39">
              <a:extLst>
                <a:ext uri="{FF2B5EF4-FFF2-40B4-BE49-F238E27FC236}">
                  <a16:creationId xmlns:a16="http://schemas.microsoft.com/office/drawing/2014/main" id="{7FD23854-96EA-4C3E-8F22-C85F1DDDF0C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33" name="Text Box 40">
              <a:extLst>
                <a:ext uri="{FF2B5EF4-FFF2-40B4-BE49-F238E27FC236}">
                  <a16:creationId xmlns:a16="http://schemas.microsoft.com/office/drawing/2014/main" id="{F7E3063F-A8EB-41C9-AF1C-FC3CAC11498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400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sp>
        <p:nvSpPr>
          <p:cNvPr id="13348" name="Text Box 41">
            <a:extLst>
              <a:ext uri="{FF2B5EF4-FFF2-40B4-BE49-F238E27FC236}">
                <a16:creationId xmlns:a16="http://schemas.microsoft.com/office/drawing/2014/main" id="{AA22D162-7946-4ED9-93D2-FD240D083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1243013"/>
            <a:ext cx="88741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20</a:t>
            </a:r>
            <a:r>
              <a:rPr lang="zh-CN" altLang="en-US" sz="2000">
                <a:latin typeface="Times New Roman" panose="02020603050405020304" pitchFamily="18" charset="0"/>
              </a:rPr>
              <a:t>位地址总线</a:t>
            </a:r>
          </a:p>
        </p:txBody>
      </p:sp>
      <p:sp>
        <p:nvSpPr>
          <p:cNvPr id="13349" name="AutoShape 42">
            <a:extLst>
              <a:ext uri="{FF2B5EF4-FFF2-40B4-BE49-F238E27FC236}">
                <a16:creationId xmlns:a16="http://schemas.microsoft.com/office/drawing/2014/main" id="{E22E6B4D-A482-4331-86EC-C2BC4DDD5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1974850"/>
            <a:ext cx="1474788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3350" name="Text Box 43">
            <a:extLst>
              <a:ext uri="{FF2B5EF4-FFF2-40B4-BE49-F238E27FC236}">
                <a16:creationId xmlns:a16="http://schemas.microsoft.com/office/drawing/2014/main" id="{0BD9A80F-7790-4A70-864C-CAF30CE693B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537325" y="2157413"/>
            <a:ext cx="4699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16</a:t>
            </a:r>
            <a:r>
              <a:rPr lang="zh-CN" altLang="en-US" sz="2000">
                <a:latin typeface="Times New Roman" panose="02020603050405020304" pitchFamily="18" charset="0"/>
              </a:rPr>
              <a:t>位数据总线</a:t>
            </a:r>
          </a:p>
        </p:txBody>
      </p:sp>
      <p:sp>
        <p:nvSpPr>
          <p:cNvPr id="13351" name="AutoShape 44">
            <a:extLst>
              <a:ext uri="{FF2B5EF4-FFF2-40B4-BE49-F238E27FC236}">
                <a16:creationId xmlns:a16="http://schemas.microsoft.com/office/drawing/2014/main" id="{A8741E2D-BE44-4AF6-83D1-BEA9E8934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5354638"/>
            <a:ext cx="1270000" cy="198437"/>
          </a:xfrm>
          <a:prstGeom prst="leftArrow">
            <a:avLst>
              <a:gd name="adj1" fmla="val 50000"/>
              <a:gd name="adj2" fmla="val 159467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13352" name="组合 13351">
            <a:extLst>
              <a:ext uri="{FF2B5EF4-FFF2-40B4-BE49-F238E27FC236}">
                <a16:creationId xmlns:a16="http://schemas.microsoft.com/office/drawing/2014/main" id="{427B24A2-8E77-44D0-90F8-A51BDA33BE04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978025"/>
            <a:ext cx="1111250" cy="230188"/>
            <a:chOff x="0" y="0"/>
            <a:chExt cx="700" cy="145"/>
          </a:xfrm>
        </p:grpSpPr>
        <p:sp>
          <p:nvSpPr>
            <p:cNvPr id="61523" name="AutoShape 46">
              <a:extLst>
                <a:ext uri="{FF2B5EF4-FFF2-40B4-BE49-F238E27FC236}">
                  <a16:creationId xmlns:a16="http://schemas.microsoft.com/office/drawing/2014/main" id="{BE4C62B6-AEB7-42A9-A191-1BE72060AB2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hlink">
                <a:alpha val="89803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1524" name="AutoShape 47">
              <a:extLst>
                <a:ext uri="{FF2B5EF4-FFF2-40B4-BE49-F238E27FC236}">
                  <a16:creationId xmlns:a16="http://schemas.microsoft.com/office/drawing/2014/main" id="{2FB1C153-4FB8-4D53-942A-23D1A79A3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13355" name="Text Box 49">
            <a:extLst>
              <a:ext uri="{FF2B5EF4-FFF2-40B4-BE49-F238E27FC236}">
                <a16:creationId xmlns:a16="http://schemas.microsoft.com/office/drawing/2014/main" id="{F0D98385-4D9A-4531-BEE9-3F275F1039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67150" y="1287463"/>
            <a:ext cx="471488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总线接口部件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BIU</a:t>
            </a:r>
          </a:p>
        </p:txBody>
      </p:sp>
      <p:grpSp>
        <p:nvGrpSpPr>
          <p:cNvPr id="13356" name="组合 13355">
            <a:extLst>
              <a:ext uri="{FF2B5EF4-FFF2-40B4-BE49-F238E27FC236}">
                <a16:creationId xmlns:a16="http://schemas.microsoft.com/office/drawing/2014/main" id="{1AE89061-50D4-4427-B327-9D7D17D4072A}"/>
              </a:ext>
            </a:extLst>
          </p:cNvPr>
          <p:cNvGrpSpPr>
            <a:grpSpLocks/>
          </p:cNvGrpSpPr>
          <p:nvPr/>
        </p:nvGrpSpPr>
        <p:grpSpPr bwMode="auto">
          <a:xfrm>
            <a:off x="4389438" y="4911725"/>
            <a:ext cx="1554162" cy="733425"/>
            <a:chOff x="0" y="0"/>
            <a:chExt cx="979" cy="462"/>
          </a:xfrm>
        </p:grpSpPr>
        <p:sp>
          <p:nvSpPr>
            <p:cNvPr id="61516" name="Text Box 52">
              <a:extLst>
                <a:ext uri="{FF2B5EF4-FFF2-40B4-BE49-F238E27FC236}">
                  <a16:creationId xmlns:a16="http://schemas.microsoft.com/office/drawing/2014/main" id="{D8C3977E-4681-4345-81D5-5C1BDE2BD32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37"/>
              <a:ext cx="979" cy="2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1 2 3 4 5 6</a:t>
              </a:r>
            </a:p>
          </p:txBody>
        </p:sp>
        <p:sp>
          <p:nvSpPr>
            <p:cNvPr id="61517" name="Text Box 53">
              <a:extLst>
                <a:ext uri="{FF2B5EF4-FFF2-40B4-BE49-F238E27FC236}">
                  <a16:creationId xmlns:a16="http://schemas.microsoft.com/office/drawing/2014/main" id="{CA121AC6-F53C-4915-94CA-CD3741B63BD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" y="0"/>
              <a:ext cx="8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指令队列</a:t>
              </a:r>
            </a:p>
          </p:txBody>
        </p:sp>
        <p:sp>
          <p:nvSpPr>
            <p:cNvPr id="61518" name="Line 54">
              <a:extLst>
                <a:ext uri="{FF2B5EF4-FFF2-40B4-BE49-F238E27FC236}">
                  <a16:creationId xmlns:a16="http://schemas.microsoft.com/office/drawing/2014/main" id="{0FC6D6F5-8B86-43E2-B2BF-7AD90969EF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9" name="Line 55">
              <a:extLst>
                <a:ext uri="{FF2B5EF4-FFF2-40B4-BE49-F238E27FC236}">
                  <a16:creationId xmlns:a16="http://schemas.microsoft.com/office/drawing/2014/main" id="{3B9F36BF-F93F-4799-A34B-2DECB34530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0" name="Line 56">
              <a:extLst>
                <a:ext uri="{FF2B5EF4-FFF2-40B4-BE49-F238E27FC236}">
                  <a16:creationId xmlns:a16="http://schemas.microsoft.com/office/drawing/2014/main" id="{C010FFC2-C9F2-4AA4-ABE5-F11A1E21A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1" name="Line 57">
              <a:extLst>
                <a:ext uri="{FF2B5EF4-FFF2-40B4-BE49-F238E27FC236}">
                  <a16:creationId xmlns:a16="http://schemas.microsoft.com/office/drawing/2014/main" id="{1D133734-877F-4B48-8E0A-1E2AB428D3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2" name="Line 58">
              <a:extLst>
                <a:ext uri="{FF2B5EF4-FFF2-40B4-BE49-F238E27FC236}">
                  <a16:creationId xmlns:a16="http://schemas.microsoft.com/office/drawing/2014/main" id="{F993383A-198F-4EAC-A48E-E1F77138AF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364" name="组合 13363">
            <a:extLst>
              <a:ext uri="{FF2B5EF4-FFF2-40B4-BE49-F238E27FC236}">
                <a16:creationId xmlns:a16="http://schemas.microsoft.com/office/drawing/2014/main" id="{76F4A799-3505-4655-B40B-6FE6176F0767}"/>
              </a:ext>
            </a:extLst>
          </p:cNvPr>
          <p:cNvGrpSpPr>
            <a:grpSpLocks/>
          </p:cNvGrpSpPr>
          <p:nvPr/>
        </p:nvGrpSpPr>
        <p:grpSpPr bwMode="auto">
          <a:xfrm>
            <a:off x="976313" y="1050925"/>
            <a:ext cx="2108200" cy="3195638"/>
            <a:chOff x="0" y="0"/>
            <a:chExt cx="1328" cy="2013"/>
          </a:xfrm>
        </p:grpSpPr>
        <p:sp>
          <p:nvSpPr>
            <p:cNvPr id="61504" name="AutoShape 30">
              <a:extLst>
                <a:ext uri="{FF2B5EF4-FFF2-40B4-BE49-F238E27FC236}">
                  <a16:creationId xmlns:a16="http://schemas.microsoft.com/office/drawing/2014/main" id="{0A35B848-ABB6-48F2-8CC8-D973559B38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9" y="1766"/>
              <a:ext cx="160" cy="247"/>
            </a:xfrm>
            <a:prstGeom prst="upDownArrow">
              <a:avLst>
                <a:gd name="adj1" fmla="val 50000"/>
                <a:gd name="adj2" fmla="val 30875"/>
              </a:avLst>
            </a:prstGeom>
            <a:solidFill>
              <a:schemeClr val="hlink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grpSp>
          <p:nvGrpSpPr>
            <p:cNvPr id="61505" name="组合 13365">
              <a:extLst>
                <a:ext uri="{FF2B5EF4-FFF2-40B4-BE49-F238E27FC236}">
                  <a16:creationId xmlns:a16="http://schemas.microsoft.com/office/drawing/2014/main" id="{46837BE4-7144-45E8-846F-41A8D2780D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328" cy="1754"/>
              <a:chOff x="0" y="0"/>
              <a:chExt cx="1328" cy="1754"/>
            </a:xfrm>
          </p:grpSpPr>
          <p:sp>
            <p:nvSpPr>
              <p:cNvPr id="61506" name="Text Box 60">
                <a:extLst>
                  <a:ext uri="{FF2B5EF4-FFF2-40B4-BE49-F238E27FC236}">
                    <a16:creationId xmlns:a16="http://schemas.microsoft.com/office/drawing/2014/main" id="{AFA966D4-D78E-4217-A17B-BF448EB404E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1328" cy="16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通用寄存器</a:t>
                </a:r>
              </a:p>
              <a:p>
                <a:pPr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AX    AH        AL</a:t>
                </a:r>
              </a:p>
              <a:p>
                <a:pPr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BX    BH         BL</a:t>
                </a:r>
              </a:p>
              <a:p>
                <a:pPr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CX   CH         CL</a:t>
                </a:r>
              </a:p>
              <a:p>
                <a:pPr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DX   DH         DL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      SP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     BP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     DI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    SI</a:t>
                </a:r>
              </a:p>
            </p:txBody>
          </p:sp>
          <p:sp>
            <p:nvSpPr>
              <p:cNvPr id="61507" name="Line 61">
                <a:extLst>
                  <a:ext uri="{FF2B5EF4-FFF2-40B4-BE49-F238E27FC236}">
                    <a16:creationId xmlns:a16="http://schemas.microsoft.com/office/drawing/2014/main" id="{A23451AB-7721-421F-A553-FBEDC6BF81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419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08" name="Rectangle 62">
                <a:extLst>
                  <a:ext uri="{FF2B5EF4-FFF2-40B4-BE49-F238E27FC236}">
                    <a16:creationId xmlns:a16="http://schemas.microsoft.com/office/drawing/2014/main" id="{5C774A55-D23F-4C9D-ABE0-AEE2B653A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" y="255"/>
                <a:ext cx="979" cy="1499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61509" name="Line 63">
                <a:extLst>
                  <a:ext uri="{FF2B5EF4-FFF2-40B4-BE49-F238E27FC236}">
                    <a16:creationId xmlns:a16="http://schemas.microsoft.com/office/drawing/2014/main" id="{62A40168-F10C-4B0F-A1AB-3A080455B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593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0" name="Line 64">
                <a:extLst>
                  <a:ext uri="{FF2B5EF4-FFF2-40B4-BE49-F238E27FC236}">
                    <a16:creationId xmlns:a16="http://schemas.microsoft.com/office/drawing/2014/main" id="{D0023E24-2FFB-4ADC-808C-984A85E181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794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1" name="Line 65">
                <a:extLst>
                  <a:ext uri="{FF2B5EF4-FFF2-40B4-BE49-F238E27FC236}">
                    <a16:creationId xmlns:a16="http://schemas.microsoft.com/office/drawing/2014/main" id="{A0F608D6-0E5F-47B3-BF8E-1A53B45C7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977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2" name="Line 66">
                <a:extLst>
                  <a:ext uri="{FF2B5EF4-FFF2-40B4-BE49-F238E27FC236}">
                    <a16:creationId xmlns:a16="http://schemas.microsoft.com/office/drawing/2014/main" id="{E77C2986-45E8-4560-9836-8C006C3EF3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9" y="255"/>
                <a:ext cx="0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3" name="Line 67">
                <a:extLst>
                  <a:ext uri="{FF2B5EF4-FFF2-40B4-BE49-F238E27FC236}">
                    <a16:creationId xmlns:a16="http://schemas.microsoft.com/office/drawing/2014/main" id="{1BF9D787-4F1C-474B-9FF8-1B1B371913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1169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4" name="Line 68">
                <a:extLst>
                  <a:ext uri="{FF2B5EF4-FFF2-40B4-BE49-F238E27FC236}">
                    <a16:creationId xmlns:a16="http://schemas.microsoft.com/office/drawing/2014/main" id="{E45109FD-80ED-4F02-B114-C4EDA5AA10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1361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5" name="Line 69">
                <a:extLst>
                  <a:ext uri="{FF2B5EF4-FFF2-40B4-BE49-F238E27FC236}">
                    <a16:creationId xmlns:a16="http://schemas.microsoft.com/office/drawing/2014/main" id="{F6EBF61F-57D7-4CE0-A5EF-1AD5BD2F2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1571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377" name="组合 13376">
            <a:extLst>
              <a:ext uri="{FF2B5EF4-FFF2-40B4-BE49-F238E27FC236}">
                <a16:creationId xmlns:a16="http://schemas.microsoft.com/office/drawing/2014/main" id="{DBDE9A59-74DE-43DA-9F0C-036E260C810E}"/>
              </a:ext>
            </a:extLst>
          </p:cNvPr>
          <p:cNvGrpSpPr>
            <a:grpSpLocks/>
          </p:cNvGrpSpPr>
          <p:nvPr/>
        </p:nvGrpSpPr>
        <p:grpSpPr bwMode="auto">
          <a:xfrm>
            <a:off x="5246688" y="976313"/>
            <a:ext cx="2009775" cy="579437"/>
            <a:chOff x="0" y="0"/>
            <a:chExt cx="1266" cy="365"/>
          </a:xfrm>
        </p:grpSpPr>
        <p:sp>
          <p:nvSpPr>
            <p:cNvPr id="61502" name="AutoShape 76">
              <a:extLst>
                <a:ext uri="{FF2B5EF4-FFF2-40B4-BE49-F238E27FC236}">
                  <a16:creationId xmlns:a16="http://schemas.microsoft.com/office/drawing/2014/main" id="{1BD38EE5-A002-4C0B-BF70-77AAD6E0D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1503" name="Rectangle 77">
              <a:extLst>
                <a:ext uri="{FF2B5EF4-FFF2-40B4-BE49-F238E27FC236}">
                  <a16:creationId xmlns:a16="http://schemas.microsoft.com/office/drawing/2014/main" id="{681040F5-B798-45BD-B6D5-3DB55BD9C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13380" name="组合 13379">
            <a:extLst>
              <a:ext uri="{FF2B5EF4-FFF2-40B4-BE49-F238E27FC236}">
                <a16:creationId xmlns:a16="http://schemas.microsoft.com/office/drawing/2014/main" id="{10292C30-844A-4E61-B921-98A9285EF44A}"/>
              </a:ext>
            </a:extLst>
          </p:cNvPr>
          <p:cNvGrpSpPr>
            <a:grpSpLocks/>
          </p:cNvGrpSpPr>
          <p:nvPr/>
        </p:nvGrpSpPr>
        <p:grpSpPr bwMode="auto">
          <a:xfrm>
            <a:off x="1050925" y="4362450"/>
            <a:ext cx="1054100" cy="1985963"/>
            <a:chOff x="0" y="0"/>
            <a:chExt cx="664" cy="1251"/>
          </a:xfrm>
        </p:grpSpPr>
        <p:sp>
          <p:nvSpPr>
            <p:cNvPr id="61496" name="AutoShape 20">
              <a:extLst>
                <a:ext uri="{FF2B5EF4-FFF2-40B4-BE49-F238E27FC236}">
                  <a16:creationId xmlns:a16="http://schemas.microsoft.com/office/drawing/2014/main" id="{8ABE38C2-0A77-4A5B-B4C8-6B5EB959BC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8" y="0"/>
              <a:ext cx="129" cy="204"/>
            </a:xfrm>
            <a:prstGeom prst="upDownArrow">
              <a:avLst>
                <a:gd name="adj1" fmla="val 50000"/>
                <a:gd name="adj2" fmla="val 31496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grpSp>
          <p:nvGrpSpPr>
            <p:cNvPr id="61497" name="组合 13381">
              <a:extLst>
                <a:ext uri="{FF2B5EF4-FFF2-40B4-BE49-F238E27FC236}">
                  <a16:creationId xmlns:a16="http://schemas.microsoft.com/office/drawing/2014/main" id="{BB7E8411-C2DB-45BA-B73E-0DBC35E024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843"/>
              <a:ext cx="664" cy="408"/>
              <a:chOff x="0" y="0"/>
              <a:chExt cx="664" cy="408"/>
            </a:xfrm>
          </p:grpSpPr>
          <p:sp>
            <p:nvSpPr>
              <p:cNvPr id="61498" name="AutoShape 79">
                <a:extLst>
                  <a:ext uri="{FF2B5EF4-FFF2-40B4-BE49-F238E27FC236}">
                    <a16:creationId xmlns:a16="http://schemas.microsoft.com/office/drawing/2014/main" id="{A5E38F96-63F6-4FBF-8960-B9C13D5E3C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" y="0"/>
                <a:ext cx="167" cy="168"/>
              </a:xfrm>
              <a:prstGeom prst="upArrow">
                <a:avLst>
                  <a:gd name="adj1" fmla="val 50000"/>
                  <a:gd name="adj2" fmla="val 25066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grpSp>
            <p:nvGrpSpPr>
              <p:cNvPr id="61499" name="组合 13383">
                <a:extLst>
                  <a:ext uri="{FF2B5EF4-FFF2-40B4-BE49-F238E27FC236}">
                    <a16:creationId xmlns:a16="http://schemas.microsoft.com/office/drawing/2014/main" id="{07519736-F122-42DA-888D-F1CEB7775D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6"/>
                <a:ext cx="624" cy="312"/>
                <a:chOff x="0" y="0"/>
                <a:chExt cx="624" cy="312"/>
              </a:xfrm>
            </p:grpSpPr>
            <p:sp>
              <p:nvSpPr>
                <p:cNvPr id="61500" name="AutoShape 21">
                  <a:extLst>
                    <a:ext uri="{FF2B5EF4-FFF2-40B4-BE49-F238E27FC236}">
                      <a16:creationId xmlns:a16="http://schemas.microsoft.com/office/drawing/2014/main" id="{39BFED3C-F07D-43EA-9F67-31D6A9B751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48" y="168"/>
                  <a:ext cx="144" cy="144"/>
                </a:xfrm>
                <a:prstGeom prst="rightArrow">
                  <a:avLst>
                    <a:gd name="adj1" fmla="val 50000"/>
                    <a:gd name="adj2" fmla="val 25000"/>
                  </a:avLst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61501" name="AutoShape 80">
                  <a:extLst>
                    <a:ext uri="{FF2B5EF4-FFF2-40B4-BE49-F238E27FC236}">
                      <a16:creationId xmlns:a16="http://schemas.microsoft.com/office/drawing/2014/main" id="{1A435267-1029-4262-8C7D-58E8056481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144"/>
                </a:xfrm>
                <a:prstGeom prst="leftArrow">
                  <a:avLst>
                    <a:gd name="adj1" fmla="val 50000"/>
                    <a:gd name="adj2" fmla="val 107972"/>
                  </a:avLst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</p:grpSp>
        </p:grpSp>
      </p:grpSp>
      <p:grpSp>
        <p:nvGrpSpPr>
          <p:cNvPr id="13387" name="组合 13386">
            <a:extLst>
              <a:ext uri="{FF2B5EF4-FFF2-40B4-BE49-F238E27FC236}">
                <a16:creationId xmlns:a16="http://schemas.microsoft.com/office/drawing/2014/main" id="{FA5CC0C1-ABCB-4E5F-8F14-3A2984D282C0}"/>
              </a:ext>
            </a:extLst>
          </p:cNvPr>
          <p:cNvGrpSpPr>
            <a:grpSpLocks/>
          </p:cNvGrpSpPr>
          <p:nvPr/>
        </p:nvGrpSpPr>
        <p:grpSpPr bwMode="auto">
          <a:xfrm>
            <a:off x="1355725" y="5688013"/>
            <a:ext cx="1198563" cy="755650"/>
            <a:chOff x="0" y="0"/>
            <a:chExt cx="755" cy="476"/>
          </a:xfrm>
        </p:grpSpPr>
        <p:sp>
          <p:nvSpPr>
            <p:cNvPr id="61494" name="Text Box 19">
              <a:extLst>
                <a:ext uri="{FF2B5EF4-FFF2-40B4-BE49-F238E27FC236}">
                  <a16:creationId xmlns:a16="http://schemas.microsoft.com/office/drawing/2014/main" id="{81A8C3D7-4B38-4C34-BEE0-28AD8F8AF38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72"/>
              <a:ext cx="755" cy="20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标志寄存器</a:t>
              </a:r>
            </a:p>
          </p:txBody>
        </p:sp>
        <p:sp>
          <p:nvSpPr>
            <p:cNvPr id="61495" name="AutoShape 81">
              <a:extLst>
                <a:ext uri="{FF2B5EF4-FFF2-40B4-BE49-F238E27FC236}">
                  <a16:creationId xmlns:a16="http://schemas.microsoft.com/office/drawing/2014/main" id="{12295EBC-3F87-4600-BE0F-E30CC5F79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0"/>
              <a:ext cx="48" cy="288"/>
            </a:xfrm>
            <a:prstGeom prst="downArrow">
              <a:avLst>
                <a:gd name="adj1" fmla="val 50000"/>
                <a:gd name="adj2" fmla="val 15000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13390" name="组合 13389">
            <a:extLst>
              <a:ext uri="{FF2B5EF4-FFF2-40B4-BE49-F238E27FC236}">
                <a16:creationId xmlns:a16="http://schemas.microsoft.com/office/drawing/2014/main" id="{F8A8318C-E3B1-49C0-BE2F-4385F0BBF7C8}"/>
              </a:ext>
            </a:extLst>
          </p:cNvPr>
          <p:cNvGrpSpPr>
            <a:grpSpLocks/>
          </p:cNvGrpSpPr>
          <p:nvPr/>
        </p:nvGrpSpPr>
        <p:grpSpPr bwMode="auto">
          <a:xfrm>
            <a:off x="4403725" y="5662613"/>
            <a:ext cx="990600" cy="685800"/>
            <a:chOff x="0" y="0"/>
            <a:chExt cx="624" cy="432"/>
          </a:xfrm>
        </p:grpSpPr>
        <p:sp>
          <p:nvSpPr>
            <p:cNvPr id="13391" name="Text Box 89">
              <a:extLst>
                <a:ext uri="{FF2B5EF4-FFF2-40B4-BE49-F238E27FC236}">
                  <a16:creationId xmlns:a16="http://schemas.microsoft.com/office/drawing/2014/main" id="{3EEAE70B-F6AD-4193-B0F1-135C395D99C0}"/>
                </a:ext>
              </a:extLst>
            </p:cNvPr>
            <p:cNvSpPr txBox="1"/>
            <p:nvPr/>
          </p:nvSpPr>
          <p:spPr>
            <a:xfrm>
              <a:off x="144" y="96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8088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1492" name="Line 90">
              <a:extLst>
                <a:ext uri="{FF2B5EF4-FFF2-40B4-BE49-F238E27FC236}">
                  <a16:creationId xmlns:a16="http://schemas.microsoft.com/office/drawing/2014/main" id="{DE35EB9B-8398-4D07-994B-0ECCFB2A8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3" name="Line 91">
              <a:extLst>
                <a:ext uri="{FF2B5EF4-FFF2-40B4-BE49-F238E27FC236}">
                  <a16:creationId xmlns:a16="http://schemas.microsoft.com/office/drawing/2014/main" id="{C87CF309-C355-4773-8D9D-550672799D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394" name="组合 13393">
            <a:extLst>
              <a:ext uri="{FF2B5EF4-FFF2-40B4-BE49-F238E27FC236}">
                <a16:creationId xmlns:a16="http://schemas.microsoft.com/office/drawing/2014/main" id="{FBD72DCE-B17B-490C-ACA9-483618A34A41}"/>
              </a:ext>
            </a:extLst>
          </p:cNvPr>
          <p:cNvGrpSpPr>
            <a:grpSpLocks/>
          </p:cNvGrpSpPr>
          <p:nvPr/>
        </p:nvGrpSpPr>
        <p:grpSpPr bwMode="auto">
          <a:xfrm>
            <a:off x="5013325" y="5662613"/>
            <a:ext cx="914400" cy="731837"/>
            <a:chOff x="0" y="0"/>
            <a:chExt cx="576" cy="461"/>
          </a:xfrm>
        </p:grpSpPr>
        <p:sp>
          <p:nvSpPr>
            <p:cNvPr id="13395" name="Text Box 93">
              <a:extLst>
                <a:ext uri="{FF2B5EF4-FFF2-40B4-BE49-F238E27FC236}">
                  <a16:creationId xmlns:a16="http://schemas.microsoft.com/office/drawing/2014/main" id="{9418DA37-6DD3-4DA4-BC75-25430F58DA7A}"/>
                </a:ext>
              </a:extLst>
            </p:cNvPr>
            <p:cNvSpPr txBox="1"/>
            <p:nvPr/>
          </p:nvSpPr>
          <p:spPr>
            <a:xfrm>
              <a:off x="0" y="288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1490" name="Line 94">
              <a:extLst>
                <a:ext uri="{FF2B5EF4-FFF2-40B4-BE49-F238E27FC236}">
                  <a16:creationId xmlns:a16="http://schemas.microsoft.com/office/drawing/2014/main" id="{28DE52D7-707D-44D8-B968-873EBA547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397" name="组合 13396">
            <a:extLst>
              <a:ext uri="{FF2B5EF4-FFF2-40B4-BE49-F238E27FC236}">
                <a16:creationId xmlns:a16="http://schemas.microsoft.com/office/drawing/2014/main" id="{C64053F2-DBB6-4086-A8A0-C29D91008FEE}"/>
              </a:ext>
            </a:extLst>
          </p:cNvPr>
          <p:cNvGrpSpPr>
            <a:grpSpLocks/>
          </p:cNvGrpSpPr>
          <p:nvPr/>
        </p:nvGrpSpPr>
        <p:grpSpPr bwMode="auto">
          <a:xfrm>
            <a:off x="4403725" y="2225675"/>
            <a:ext cx="895350" cy="2012950"/>
            <a:chOff x="0" y="0"/>
            <a:chExt cx="564" cy="1268"/>
          </a:xfrm>
        </p:grpSpPr>
        <p:grpSp>
          <p:nvGrpSpPr>
            <p:cNvPr id="61483" name="组合 13397">
              <a:extLst>
                <a:ext uri="{FF2B5EF4-FFF2-40B4-BE49-F238E27FC236}">
                  <a16:creationId xmlns:a16="http://schemas.microsoft.com/office/drawing/2014/main" id="{13D0E8D7-CA58-4BEB-9D77-5C0FDF8FDD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64" cy="677"/>
              <a:chOff x="0" y="0"/>
              <a:chExt cx="564" cy="677"/>
            </a:xfrm>
          </p:grpSpPr>
          <p:sp>
            <p:nvSpPr>
              <p:cNvPr id="61485" name="Text Box 71">
                <a:extLst>
                  <a:ext uri="{FF2B5EF4-FFF2-40B4-BE49-F238E27FC236}">
                    <a16:creationId xmlns:a16="http://schemas.microsoft.com/office/drawing/2014/main" id="{65427D23-FB44-453E-91C5-05CEA774B5C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563" cy="677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CS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DS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SS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ES</a:t>
                </a:r>
              </a:p>
            </p:txBody>
          </p:sp>
          <p:sp>
            <p:nvSpPr>
              <p:cNvPr id="61486" name="Line 72">
                <a:extLst>
                  <a:ext uri="{FF2B5EF4-FFF2-40B4-BE49-F238E27FC236}">
                    <a16:creationId xmlns:a16="http://schemas.microsoft.com/office/drawing/2014/main" id="{670BD042-F92D-499F-AA6B-088C7EA7E0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" y="172"/>
                <a:ext cx="557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7" name="Line 73">
                <a:extLst>
                  <a:ext uri="{FF2B5EF4-FFF2-40B4-BE49-F238E27FC236}">
                    <a16:creationId xmlns:a16="http://schemas.microsoft.com/office/drawing/2014/main" id="{57F3F6B5-0E97-419B-BA49-DA294F3FAF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" y="355"/>
                <a:ext cx="557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8" name="Line 74">
                <a:extLst>
                  <a:ext uri="{FF2B5EF4-FFF2-40B4-BE49-F238E27FC236}">
                    <a16:creationId xmlns:a16="http://schemas.microsoft.com/office/drawing/2014/main" id="{C5E19FC0-5309-4B36-B4E0-86A18CA300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" y="511"/>
                <a:ext cx="557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484" name="AutoShape 99">
              <a:extLst>
                <a:ext uri="{FF2B5EF4-FFF2-40B4-BE49-F238E27FC236}">
                  <a16:creationId xmlns:a16="http://schemas.microsoft.com/office/drawing/2014/main" id="{BFF2ED35-E6D2-43AA-A7BC-6F9B533C89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" y="725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13404" name="组合 13403">
            <a:extLst>
              <a:ext uri="{FF2B5EF4-FFF2-40B4-BE49-F238E27FC236}">
                <a16:creationId xmlns:a16="http://schemas.microsoft.com/office/drawing/2014/main" id="{96CF3178-E7AC-4F0D-8851-684FDE1EF30F}"/>
              </a:ext>
            </a:extLst>
          </p:cNvPr>
          <p:cNvGrpSpPr>
            <a:grpSpLocks/>
          </p:cNvGrpSpPr>
          <p:nvPr/>
        </p:nvGrpSpPr>
        <p:grpSpPr bwMode="auto">
          <a:xfrm>
            <a:off x="5470525" y="2233613"/>
            <a:ext cx="895350" cy="2005012"/>
            <a:chOff x="0" y="0"/>
            <a:chExt cx="564" cy="1263"/>
          </a:xfrm>
        </p:grpSpPr>
        <p:grpSp>
          <p:nvGrpSpPr>
            <p:cNvPr id="61479" name="组合 13404">
              <a:extLst>
                <a:ext uri="{FF2B5EF4-FFF2-40B4-BE49-F238E27FC236}">
                  <a16:creationId xmlns:a16="http://schemas.microsoft.com/office/drawing/2014/main" id="{6A25E4F2-B29D-459E-BEE8-968EFAB4E5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64" cy="384"/>
              <a:chOff x="0" y="0"/>
              <a:chExt cx="564" cy="384"/>
            </a:xfrm>
          </p:grpSpPr>
          <p:sp>
            <p:nvSpPr>
              <p:cNvPr id="61481" name="Text Box 96">
                <a:extLst>
                  <a:ext uri="{FF2B5EF4-FFF2-40B4-BE49-F238E27FC236}">
                    <a16:creationId xmlns:a16="http://schemas.microsoft.com/office/drawing/2014/main" id="{0F3EC412-32EC-4777-AE01-A0E003211DF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563" cy="38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IP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暂存器</a:t>
                </a:r>
              </a:p>
            </p:txBody>
          </p:sp>
          <p:sp>
            <p:nvSpPr>
              <p:cNvPr id="61482" name="Line 97">
                <a:extLst>
                  <a:ext uri="{FF2B5EF4-FFF2-40B4-BE49-F238E27FC236}">
                    <a16:creationId xmlns:a16="http://schemas.microsoft.com/office/drawing/2014/main" id="{6F0FBC3F-2A34-4C6F-800E-5ADCFC2D87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" y="171"/>
                <a:ext cx="557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480" name="AutoShape 100">
              <a:extLst>
                <a:ext uri="{FF2B5EF4-FFF2-40B4-BE49-F238E27FC236}">
                  <a16:creationId xmlns:a16="http://schemas.microsoft.com/office/drawing/2014/main" id="{B9F21CF3-6AD5-4C86-B647-0ABDC46DB9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" y="384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13409" name="组合 13408">
            <a:extLst>
              <a:ext uri="{FF2B5EF4-FFF2-40B4-BE49-F238E27FC236}">
                <a16:creationId xmlns:a16="http://schemas.microsoft.com/office/drawing/2014/main" id="{CC21AB58-CD00-4AD4-83B4-E6F2DCF63ED6}"/>
              </a:ext>
            </a:extLst>
          </p:cNvPr>
          <p:cNvGrpSpPr>
            <a:grpSpLocks/>
          </p:cNvGrpSpPr>
          <p:nvPr/>
        </p:nvGrpSpPr>
        <p:grpSpPr bwMode="auto">
          <a:xfrm>
            <a:off x="7667625" y="2420938"/>
            <a:ext cx="609600" cy="1944687"/>
            <a:chOff x="0" y="0"/>
            <a:chExt cx="384" cy="1225"/>
          </a:xfrm>
        </p:grpSpPr>
        <p:sp>
          <p:nvSpPr>
            <p:cNvPr id="61477" name="AutoShape 102">
              <a:extLst>
                <a:ext uri="{FF2B5EF4-FFF2-40B4-BE49-F238E27FC236}">
                  <a16:creationId xmlns:a16="http://schemas.microsoft.com/office/drawing/2014/main" id="{80EFFA89-1225-4248-A990-980ACC1E0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26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13411" name="Text Box 103">
              <a:extLst>
                <a:ext uri="{FF2B5EF4-FFF2-40B4-BE49-F238E27FC236}">
                  <a16:creationId xmlns:a16="http://schemas.microsoft.com/office/drawing/2014/main" id="{DF04ABDF-C3A3-499F-B00B-749563C02F8A}"/>
                </a:ext>
              </a:extLst>
            </p:cNvPr>
            <p:cNvSpPr txBox="1"/>
            <p:nvPr/>
          </p:nvSpPr>
          <p:spPr>
            <a:xfrm>
              <a:off x="74" y="0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总线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13412" name="组合 13411">
            <a:extLst>
              <a:ext uri="{FF2B5EF4-FFF2-40B4-BE49-F238E27FC236}">
                <a16:creationId xmlns:a16="http://schemas.microsoft.com/office/drawing/2014/main" id="{F7C6531B-EA34-409A-BCFC-C3D935D30B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03588" y="873125"/>
            <a:ext cx="528637" cy="5984875"/>
            <a:chOff x="0" y="0"/>
            <a:chExt cx="333" cy="3770"/>
          </a:xfrm>
        </p:grpSpPr>
        <p:sp>
          <p:nvSpPr>
            <p:cNvPr id="61475" name="Text Box 48">
              <a:extLst>
                <a:ext uri="{FF2B5EF4-FFF2-40B4-BE49-F238E27FC236}">
                  <a16:creationId xmlns:a16="http://schemas.microsoft.com/office/drawing/2014/main" id="{5A63FC8C-125E-4D2B-BE65-8FBAC8A21CB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327"/>
              <a:ext cx="265" cy="1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执行部件</a:t>
              </a:r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EU</a:t>
              </a:r>
            </a:p>
          </p:txBody>
        </p:sp>
        <p:sp>
          <p:nvSpPr>
            <p:cNvPr id="61476" name="Line 104">
              <a:extLst>
                <a:ext uri="{FF2B5EF4-FFF2-40B4-BE49-F238E27FC236}">
                  <a16:creationId xmlns:a16="http://schemas.microsoft.com/office/drawing/2014/main" id="{29BFE555-E751-4715-B785-B94EE5028D5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33" y="0"/>
              <a:ext cx="0" cy="377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465" name="Rectangle 105">
            <a:extLst>
              <a:ext uri="{FF2B5EF4-FFF2-40B4-BE49-F238E27FC236}">
                <a16:creationId xmlns:a16="http://schemas.microsoft.com/office/drawing/2014/main" id="{BD860171-A867-4116-AD6E-D1EA0A388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60350"/>
            <a:ext cx="41275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8086CPU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的结构框图 </a:t>
            </a:r>
          </a:p>
        </p:txBody>
      </p:sp>
      <p:grpSp>
        <p:nvGrpSpPr>
          <p:cNvPr id="13416" name="组合 13415">
            <a:extLst>
              <a:ext uri="{FF2B5EF4-FFF2-40B4-BE49-F238E27FC236}">
                <a16:creationId xmlns:a16="http://schemas.microsoft.com/office/drawing/2014/main" id="{69CDBB48-34CD-478A-B57F-D46BA2802B25}"/>
              </a:ext>
            </a:extLst>
          </p:cNvPr>
          <p:cNvGrpSpPr>
            <a:grpSpLocks/>
          </p:cNvGrpSpPr>
          <p:nvPr/>
        </p:nvGrpSpPr>
        <p:grpSpPr bwMode="auto">
          <a:xfrm>
            <a:off x="2498725" y="3833813"/>
            <a:ext cx="990600" cy="2595562"/>
            <a:chOff x="0" y="0"/>
            <a:chExt cx="624" cy="1635"/>
          </a:xfrm>
        </p:grpSpPr>
        <p:sp>
          <p:nvSpPr>
            <p:cNvPr id="61468" name="Text Box 4">
              <a:extLst>
                <a:ext uri="{FF2B5EF4-FFF2-40B4-BE49-F238E27FC236}">
                  <a16:creationId xmlns:a16="http://schemas.microsoft.com/office/drawing/2014/main" id="{814FDCEB-C8E4-4882-A786-FD7B0089694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1" y="480"/>
              <a:ext cx="253" cy="115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EU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控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制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器</a:t>
              </a:r>
            </a:p>
          </p:txBody>
        </p:sp>
        <p:grpSp>
          <p:nvGrpSpPr>
            <p:cNvPr id="61469" name="组合 13417">
              <a:extLst>
                <a:ext uri="{FF2B5EF4-FFF2-40B4-BE49-F238E27FC236}">
                  <a16:creationId xmlns:a16="http://schemas.microsoft.com/office/drawing/2014/main" id="{52E3AC10-7892-4249-8F5E-3DC15A9A99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84" cy="1536"/>
              <a:chOff x="0" y="0"/>
              <a:chExt cx="384" cy="1536"/>
            </a:xfrm>
          </p:grpSpPr>
          <p:sp>
            <p:nvSpPr>
              <p:cNvPr id="61470" name="Line 83">
                <a:extLst>
                  <a:ext uri="{FF2B5EF4-FFF2-40B4-BE49-F238E27FC236}">
                    <a16:creationId xmlns:a16="http://schemas.microsoft.com/office/drawing/2014/main" id="{72527C71-7013-46E1-AECF-E42E2A5FCB1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" y="672"/>
                <a:ext cx="319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1" name="Line 84">
                <a:extLst>
                  <a:ext uri="{FF2B5EF4-FFF2-40B4-BE49-F238E27FC236}">
                    <a16:creationId xmlns:a16="http://schemas.microsoft.com/office/drawing/2014/main" id="{2D77673A-9090-43FB-9CF6-E4AEA5965AD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0" y="1056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2" name="Line 85">
                <a:extLst>
                  <a:ext uri="{FF2B5EF4-FFF2-40B4-BE49-F238E27FC236}">
                    <a16:creationId xmlns:a16="http://schemas.microsoft.com/office/drawing/2014/main" id="{ECA6688A-E18F-40D0-9DFB-B8D39723B3A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" y="1536"/>
                <a:ext cx="319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3" name="Line 86">
                <a:extLst>
                  <a:ext uri="{FF2B5EF4-FFF2-40B4-BE49-F238E27FC236}">
                    <a16:creationId xmlns:a16="http://schemas.microsoft.com/office/drawing/2014/main" id="{EE2F03AF-42A6-49E7-8F02-B2BA13204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" y="576"/>
                <a:ext cx="192" cy="0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4" name="Line 87">
                <a:extLst>
                  <a:ext uri="{FF2B5EF4-FFF2-40B4-BE49-F238E27FC236}">
                    <a16:creationId xmlns:a16="http://schemas.microsoft.com/office/drawing/2014/main" id="{66C5E582-3FFC-42F9-A80B-04DEDE61C2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" y="0"/>
                <a:ext cx="0" cy="576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0591" name="灯片编号占位符 1">
            <a:extLst>
              <a:ext uri="{FF2B5EF4-FFF2-40B4-BE49-F238E27FC236}">
                <a16:creationId xmlns:a16="http://schemas.microsoft.com/office/drawing/2014/main" id="{93C6EA66-2500-421E-983A-C1ACBB11D73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8A24DB8-6DD3-4EEC-A0F8-AFC5436F2F86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10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6" presetClass="emph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3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3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3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3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3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3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3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3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3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3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3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3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3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3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33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3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3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3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3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3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3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3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3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2" grpId="0" animBg="1"/>
      <p:bldP spid="13348" grpId="0"/>
      <p:bldP spid="13349" grpId="0" bldLvl="0" animBg="1"/>
      <p:bldP spid="13350" grpId="0"/>
      <p:bldP spid="13351" grpId="0" bldLvl="0" animBg="1"/>
      <p:bldP spid="133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ABFC2AF-E643-4E76-B098-D660D7E1C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260350"/>
            <a:ext cx="2819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）执行部件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EU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51AF8BA-EE01-4519-B992-257B813FF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324225"/>
            <a:ext cx="2058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宋体" panose="02010600030101010101" pitchFamily="2" charset="-122"/>
              </a:rPr>
              <a:t>执行单元</a:t>
            </a:r>
            <a:r>
              <a:rPr lang="en-US" altLang="zh-CN">
                <a:latin typeface="宋体" panose="02010600030101010101" pitchFamily="2" charset="-122"/>
              </a:rPr>
              <a:t>EU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12A352CD-4BF6-4434-B080-2D3411C35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563" y="1249363"/>
            <a:ext cx="39243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</a:rPr>
              <a:t>算术</a:t>
            </a:r>
            <a:r>
              <a:rPr lang="en-US" altLang="zh-CN">
                <a:latin typeface="Times New Roman" panose="02020603050405020304" pitchFamily="18" charset="0"/>
              </a:rPr>
              <a:t>/</a:t>
            </a:r>
            <a:r>
              <a:rPr lang="zh-CN" altLang="en-US">
                <a:latin typeface="Times New Roman" panose="02020603050405020304" pitchFamily="18" charset="0"/>
              </a:rPr>
              <a:t>逻辑单元（</a:t>
            </a:r>
            <a:r>
              <a:rPr lang="en-US" altLang="zh-CN">
                <a:latin typeface="Times New Roman" panose="02020603050405020304" pitchFamily="18" charset="0"/>
              </a:rPr>
              <a:t>ALU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</a:rPr>
              <a:t>运算寄存器（暂存器）</a:t>
            </a:r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07D89DDE-F020-4C88-A1F3-B909C9DD8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900" y="2624138"/>
            <a:ext cx="4049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</a:rPr>
              <a:t>标志寄存器（</a:t>
            </a:r>
            <a:r>
              <a:rPr lang="en-US" altLang="zh-CN">
                <a:latin typeface="Times New Roman" panose="02020603050405020304" pitchFamily="18" charset="0"/>
              </a:rPr>
              <a:t>PSW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DA4D5024-2733-441B-BD1D-546836EA1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3948113"/>
            <a:ext cx="5041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</a:rPr>
              <a:t>通用寄存器（</a:t>
            </a:r>
            <a:r>
              <a:rPr lang="en-US" altLang="zh-CN">
                <a:latin typeface="Times New Roman" panose="02020603050405020304" pitchFamily="18" charset="0"/>
              </a:rPr>
              <a:t>8</a:t>
            </a:r>
            <a:r>
              <a:rPr lang="zh-CN" altLang="en-US">
                <a:latin typeface="Times New Roman" panose="02020603050405020304" pitchFamily="18" charset="0"/>
              </a:rPr>
              <a:t>个</a:t>
            </a:r>
            <a:r>
              <a:rPr lang="en-US" altLang="zh-CN">
                <a:latin typeface="Times New Roman" panose="02020603050405020304" pitchFamily="18" charset="0"/>
              </a:rPr>
              <a:t>16</a:t>
            </a:r>
            <a:r>
              <a:rPr lang="zh-CN" altLang="en-US">
                <a:latin typeface="Times New Roman" panose="02020603050405020304" pitchFamily="18" charset="0"/>
              </a:rPr>
              <a:t>位</a:t>
            </a:r>
            <a:r>
              <a:rPr lang="en-US" altLang="zh-CN">
                <a:latin typeface="Times New Roman" panose="02020603050405020304" pitchFamily="18" charset="0"/>
              </a:rPr>
              <a:t>Register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AEEA0BB5-F9ED-4CBE-846F-28AC88AD6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900" y="5184775"/>
            <a:ext cx="1835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</a:rPr>
              <a:t>EU </a:t>
            </a:r>
            <a:r>
              <a:rPr lang="zh-CN" altLang="en-US">
                <a:latin typeface="Times New Roman" panose="02020603050405020304" pitchFamily="18" charset="0"/>
              </a:rPr>
              <a:t>控制器</a:t>
            </a:r>
          </a:p>
        </p:txBody>
      </p:sp>
      <p:sp>
        <p:nvSpPr>
          <p:cNvPr id="14344" name="Line 8">
            <a:extLst>
              <a:ext uri="{FF2B5EF4-FFF2-40B4-BE49-F238E27FC236}">
                <a16:creationId xmlns:a16="http://schemas.microsoft.com/office/drawing/2014/main" id="{4D748727-5C55-43E6-BFAD-E7A5021DD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8100" y="3600450"/>
            <a:ext cx="381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5" name="Line 9">
            <a:extLst>
              <a:ext uri="{FF2B5EF4-FFF2-40B4-BE49-F238E27FC236}">
                <a16:creationId xmlns:a16="http://schemas.microsoft.com/office/drawing/2014/main" id="{779B106A-0064-4276-8E09-B55E84DF3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9100" y="1695450"/>
            <a:ext cx="0" cy="37338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346" name="组合 14345">
            <a:extLst>
              <a:ext uri="{FF2B5EF4-FFF2-40B4-BE49-F238E27FC236}">
                <a16:creationId xmlns:a16="http://schemas.microsoft.com/office/drawing/2014/main" id="{4D3AC375-7107-406C-AFA6-1B75707C6BB4}"/>
              </a:ext>
            </a:extLst>
          </p:cNvPr>
          <p:cNvGrpSpPr>
            <a:grpSpLocks/>
          </p:cNvGrpSpPr>
          <p:nvPr/>
        </p:nvGrpSpPr>
        <p:grpSpPr bwMode="auto">
          <a:xfrm>
            <a:off x="2959100" y="1695450"/>
            <a:ext cx="685800" cy="3733800"/>
            <a:chOff x="0" y="0"/>
            <a:chExt cx="432" cy="2352"/>
          </a:xfrm>
        </p:grpSpPr>
        <p:sp>
          <p:nvSpPr>
            <p:cNvPr id="62480" name="Line 11">
              <a:extLst>
                <a:ext uri="{FF2B5EF4-FFF2-40B4-BE49-F238E27FC236}">
                  <a16:creationId xmlns:a16="http://schemas.microsoft.com/office/drawing/2014/main" id="{11E7A15B-E863-4956-AC0E-8E6AF129F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1" name="Line 12">
              <a:extLst>
                <a:ext uri="{FF2B5EF4-FFF2-40B4-BE49-F238E27FC236}">
                  <a16:creationId xmlns:a16="http://schemas.microsoft.com/office/drawing/2014/main" id="{BFE145B2-3DFF-4B82-A33A-0A7509C5D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768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2" name="Line 13">
              <a:extLst>
                <a:ext uri="{FF2B5EF4-FFF2-40B4-BE49-F238E27FC236}">
                  <a16:creationId xmlns:a16="http://schemas.microsoft.com/office/drawing/2014/main" id="{F2DB32E2-108E-4025-AFE9-950038AD5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584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3" name="Line 14">
              <a:extLst>
                <a:ext uri="{FF2B5EF4-FFF2-40B4-BE49-F238E27FC236}">
                  <a16:creationId xmlns:a16="http://schemas.microsoft.com/office/drawing/2014/main" id="{C2A45B85-FDB7-4B22-AAFB-C7B68C53B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352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475" name="Rectangle 20">
            <a:extLst>
              <a:ext uri="{FF2B5EF4-FFF2-40B4-BE49-F238E27FC236}">
                <a16:creationId xmlns:a16="http://schemas.microsoft.com/office/drawing/2014/main" id="{AED12BA3-C253-488D-9C2D-A1C094DBC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888" y="3111500"/>
            <a:ext cx="26971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Programer Status Word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又称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FR: Flag Register</a:t>
            </a:r>
            <a:endParaRPr lang="zh-CN" altLang="en-US" sz="2000">
              <a:solidFill>
                <a:srgbClr val="FF3300"/>
              </a:solidFill>
              <a:latin typeface="Garamond" panose="02020404030301010803" pitchFamily="18" charset="0"/>
            </a:endParaRPr>
          </a:p>
        </p:txBody>
      </p:sp>
      <p:sp>
        <p:nvSpPr>
          <p:cNvPr id="21520" name="灯片编号占位符 1">
            <a:extLst>
              <a:ext uri="{FF2B5EF4-FFF2-40B4-BE49-F238E27FC236}">
                <a16:creationId xmlns:a16="http://schemas.microsoft.com/office/drawing/2014/main" id="{BD9058D2-066C-4018-AE64-7C127DF8874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590468D7-A347-43E9-B1A6-4691B5CF4165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11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62477" name="Rectangle 20">
            <a:extLst>
              <a:ext uri="{FF2B5EF4-FFF2-40B4-BE49-F238E27FC236}">
                <a16:creationId xmlns:a16="http://schemas.microsoft.com/office/drawing/2014/main" id="{291FA816-5FD3-4BC3-A0BC-5F0118961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888" y="2200275"/>
            <a:ext cx="37131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ALU: Arithmetic and Logic Unit</a:t>
            </a:r>
            <a:endParaRPr lang="zh-CN" altLang="en-US" sz="2000">
              <a:solidFill>
                <a:srgbClr val="FF3300"/>
              </a:solidFill>
              <a:latin typeface="Garamond" panose="02020404030301010803" pitchFamily="18" charset="0"/>
            </a:endParaRPr>
          </a:p>
        </p:txBody>
      </p:sp>
      <p:sp>
        <p:nvSpPr>
          <p:cNvPr id="62478" name="Rectangle 20">
            <a:extLst>
              <a:ext uri="{FF2B5EF4-FFF2-40B4-BE49-F238E27FC236}">
                <a16:creationId xmlns:a16="http://schemas.microsoft.com/office/drawing/2014/main" id="{149B6184-5DCF-4BA1-8812-3BDBEE493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5925" y="4352925"/>
            <a:ext cx="39893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Register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：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CPU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内部的记忆单元</a:t>
            </a:r>
            <a:endParaRPr lang="en-US" altLang="zh-CN" sz="2000">
              <a:solidFill>
                <a:srgbClr val="FF3300"/>
              </a:solidFill>
              <a:latin typeface="Garamond" panose="020204040303010108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   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速度快，数量有限，使用有限制</a:t>
            </a:r>
          </a:p>
        </p:txBody>
      </p:sp>
      <p:sp>
        <p:nvSpPr>
          <p:cNvPr id="62479" name="Rectangle 20">
            <a:extLst>
              <a:ext uri="{FF2B5EF4-FFF2-40B4-BE49-F238E27FC236}">
                <a16:creationId xmlns:a16="http://schemas.microsoft.com/office/drawing/2014/main" id="{5B5261A6-888D-4ABE-880A-189C0C646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5925" y="5548313"/>
            <a:ext cx="25161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译码器：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CPU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指挥官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2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31">
            <a:extLst>
              <a:ext uri="{FF2B5EF4-FFF2-40B4-BE49-F238E27FC236}">
                <a16:creationId xmlns:a16="http://schemas.microsoft.com/office/drawing/2014/main" id="{7B896915-B741-45B1-8618-8D313D596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60350"/>
            <a:ext cx="3635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 b="0">
                <a:solidFill>
                  <a:schemeClr val="bg1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3200" b="0">
                <a:solidFill>
                  <a:schemeClr val="bg1"/>
                </a:solidFill>
                <a:latin typeface="Times New Roman" panose="02020603050405020304" pitchFamily="18" charset="0"/>
              </a:rPr>
              <a:t>执行部件</a:t>
            </a:r>
            <a:r>
              <a:rPr lang="en-US" altLang="zh-CN" sz="3200" b="0">
                <a:solidFill>
                  <a:schemeClr val="bg1"/>
                </a:solidFill>
                <a:latin typeface="Times New Roman" panose="02020603050405020304" pitchFamily="18" charset="0"/>
              </a:rPr>
              <a:t>EU</a:t>
            </a:r>
            <a:r>
              <a:rPr lang="zh-CN" altLang="en-US" sz="3200" b="0">
                <a:solidFill>
                  <a:schemeClr val="bg1"/>
                </a:solidFill>
                <a:latin typeface="Times New Roman" panose="02020603050405020304" pitchFamily="18" charset="0"/>
              </a:rPr>
              <a:t>组成</a:t>
            </a:r>
          </a:p>
        </p:txBody>
      </p:sp>
      <p:sp>
        <p:nvSpPr>
          <p:cNvPr id="63491" name="Text Box 82">
            <a:extLst>
              <a:ext uri="{FF2B5EF4-FFF2-40B4-BE49-F238E27FC236}">
                <a16:creationId xmlns:a16="http://schemas.microsoft.com/office/drawing/2014/main" id="{E6B48757-F7B0-4D49-BCBF-841E8DAFBA1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60963" y="4543425"/>
            <a:ext cx="401637" cy="1833563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EU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grpSp>
        <p:nvGrpSpPr>
          <p:cNvPr id="63492" name="组合 15363">
            <a:extLst>
              <a:ext uri="{FF2B5EF4-FFF2-40B4-BE49-F238E27FC236}">
                <a16:creationId xmlns:a16="http://schemas.microsoft.com/office/drawing/2014/main" id="{7998757E-CBB0-45CF-A371-4B8D6B86D38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52800" y="5221288"/>
            <a:ext cx="1343025" cy="471487"/>
            <a:chOff x="0" y="0"/>
            <a:chExt cx="846" cy="297"/>
          </a:xfrm>
        </p:grpSpPr>
        <p:sp>
          <p:nvSpPr>
            <p:cNvPr id="63531" name="Line 84">
              <a:extLst>
                <a:ext uri="{FF2B5EF4-FFF2-40B4-BE49-F238E27FC236}">
                  <a16:creationId xmlns:a16="http://schemas.microsoft.com/office/drawing/2014/main" id="{90E828B5-3F18-4D49-A5CC-1D07FD2DCFB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53" y="263"/>
              <a:ext cx="41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2" name="Line 85">
              <a:extLst>
                <a:ext uri="{FF2B5EF4-FFF2-40B4-BE49-F238E27FC236}">
                  <a16:creationId xmlns:a16="http://schemas.microsoft.com/office/drawing/2014/main" id="{D53D39AE-D65A-4475-AC1D-7D629CEC9D0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0" y="2"/>
              <a:ext cx="246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3" name="Line 86">
              <a:extLst>
                <a:ext uri="{FF2B5EF4-FFF2-40B4-BE49-F238E27FC236}">
                  <a16:creationId xmlns:a16="http://schemas.microsoft.com/office/drawing/2014/main" id="{7F75312F-46B8-4165-95F6-BE09749B6D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" y="4"/>
              <a:ext cx="21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4" name="Line 87">
              <a:extLst>
                <a:ext uri="{FF2B5EF4-FFF2-40B4-BE49-F238E27FC236}">
                  <a16:creationId xmlns:a16="http://schemas.microsoft.com/office/drawing/2014/main" id="{E8893A71-BFA1-4C44-B423-F607C22D07D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4" y="2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5" name="Line 88">
              <a:extLst>
                <a:ext uri="{FF2B5EF4-FFF2-40B4-BE49-F238E27FC236}">
                  <a16:creationId xmlns:a16="http://schemas.microsoft.com/office/drawing/2014/main" id="{6A1A3255-C153-43FB-A383-C27B3BD09BA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5" y="100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6" name="Line 89">
              <a:extLst>
                <a:ext uri="{FF2B5EF4-FFF2-40B4-BE49-F238E27FC236}">
                  <a16:creationId xmlns:a16="http://schemas.microsoft.com/office/drawing/2014/main" id="{769E379A-4A91-424F-8AEF-03B9090E40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29" y="0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7" name="Line 90">
              <a:extLst>
                <a:ext uri="{FF2B5EF4-FFF2-40B4-BE49-F238E27FC236}">
                  <a16:creationId xmlns:a16="http://schemas.microsoft.com/office/drawing/2014/main" id="{E5C6F701-C25F-4DFF-BCC1-6B7C55C1C4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52" y="8"/>
              <a:ext cx="19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8" name="Line 91">
              <a:extLst>
                <a:ext uri="{FF2B5EF4-FFF2-40B4-BE49-F238E27FC236}">
                  <a16:creationId xmlns:a16="http://schemas.microsoft.com/office/drawing/2014/main" id="{6DC28530-A883-47B5-9348-9607D889960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62" y="12"/>
              <a:ext cx="180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9" name="Text Box 92">
              <a:extLst>
                <a:ext uri="{FF2B5EF4-FFF2-40B4-BE49-F238E27FC236}">
                  <a16:creationId xmlns:a16="http://schemas.microsoft.com/office/drawing/2014/main" id="{0C55E4D3-0594-433D-85E2-FAF6255D0D7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8" y="70"/>
              <a:ext cx="432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latin typeface="Times New Roman" panose="02020603050405020304" pitchFamily="18" charset="0"/>
                </a:rPr>
                <a:t>ALU</a:t>
              </a:r>
            </a:p>
          </p:txBody>
        </p:sp>
      </p:grpSp>
      <p:grpSp>
        <p:nvGrpSpPr>
          <p:cNvPr id="63493" name="组合 15373">
            <a:extLst>
              <a:ext uri="{FF2B5EF4-FFF2-40B4-BE49-F238E27FC236}">
                <a16:creationId xmlns:a16="http://schemas.microsoft.com/office/drawing/2014/main" id="{76BC3D2D-86CE-4741-9DFA-A908842CBB7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46463" y="4619625"/>
            <a:ext cx="1198562" cy="608013"/>
            <a:chOff x="0" y="0"/>
            <a:chExt cx="755" cy="383"/>
          </a:xfrm>
        </p:grpSpPr>
        <p:sp>
          <p:nvSpPr>
            <p:cNvPr id="63528" name="Text Box 94">
              <a:extLst>
                <a:ext uri="{FF2B5EF4-FFF2-40B4-BE49-F238E27FC236}">
                  <a16:creationId xmlns:a16="http://schemas.microsoft.com/office/drawing/2014/main" id="{35685F76-CF8D-4869-BAC3-C09B97B7327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755" cy="20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暂 存 器</a:t>
              </a:r>
            </a:p>
          </p:txBody>
        </p:sp>
        <p:sp>
          <p:nvSpPr>
            <p:cNvPr id="63529" name="AutoShape 95">
              <a:extLst>
                <a:ext uri="{FF2B5EF4-FFF2-40B4-BE49-F238E27FC236}">
                  <a16:creationId xmlns:a16="http://schemas.microsoft.com/office/drawing/2014/main" id="{F5CBE2EF-A594-4797-A7E9-E494362EA2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" y="208"/>
              <a:ext cx="142" cy="175"/>
            </a:xfrm>
            <a:prstGeom prst="downArrow">
              <a:avLst>
                <a:gd name="adj1" fmla="val 50000"/>
                <a:gd name="adj2" fmla="val 30707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3530" name="AutoShape 96">
              <a:extLst>
                <a:ext uri="{FF2B5EF4-FFF2-40B4-BE49-F238E27FC236}">
                  <a16:creationId xmlns:a16="http://schemas.microsoft.com/office/drawing/2014/main" id="{92C87989-189F-49E5-82AD-EDC5D15B53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6" y="208"/>
              <a:ext cx="143" cy="175"/>
            </a:xfrm>
            <a:prstGeom prst="downArrow">
              <a:avLst>
                <a:gd name="adj1" fmla="val 50000"/>
                <a:gd name="adj2" fmla="val 3049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3494" name="Text Box 97">
            <a:extLst>
              <a:ext uri="{FF2B5EF4-FFF2-40B4-BE49-F238E27FC236}">
                <a16:creationId xmlns:a16="http://schemas.microsoft.com/office/drawing/2014/main" id="{BE20FC0C-2158-4E2D-A28D-8A21FB2699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29000" y="6067425"/>
            <a:ext cx="1198563" cy="32385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标志寄存器</a:t>
            </a:r>
          </a:p>
        </p:txBody>
      </p:sp>
      <p:sp>
        <p:nvSpPr>
          <p:cNvPr id="63495" name="AutoShape 98">
            <a:extLst>
              <a:ext uri="{FF2B5EF4-FFF2-40B4-BE49-F238E27FC236}">
                <a16:creationId xmlns:a16="http://schemas.microsoft.com/office/drawing/2014/main" id="{DD486485-F681-4A41-BDAF-63DED5EE75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14775" y="4310063"/>
            <a:ext cx="204788" cy="323850"/>
          </a:xfrm>
          <a:prstGeom prst="upDownArrow">
            <a:avLst>
              <a:gd name="adj1" fmla="val 50000"/>
              <a:gd name="adj2" fmla="val 31496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3496" name="AutoShape 99">
            <a:extLst>
              <a:ext uri="{FF2B5EF4-FFF2-40B4-BE49-F238E27FC236}">
                <a16:creationId xmlns:a16="http://schemas.microsoft.com/office/drawing/2014/main" id="{6ACBB6C6-3178-431E-A494-37160C2CAAD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00400" y="6067425"/>
            <a:ext cx="228600" cy="228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3497" name="AutoShape 100">
            <a:extLst>
              <a:ext uri="{FF2B5EF4-FFF2-40B4-BE49-F238E27FC236}">
                <a16:creationId xmlns:a16="http://schemas.microsoft.com/office/drawing/2014/main" id="{36FB930B-225B-4412-B582-4041170D25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7363" y="5305425"/>
            <a:ext cx="900112" cy="76200"/>
          </a:xfrm>
          <a:prstGeom prst="leftArrow">
            <a:avLst>
              <a:gd name="adj1" fmla="val 50000"/>
              <a:gd name="adj2" fmla="val 294328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3498" name="AutoShape 101">
            <a:extLst>
              <a:ext uri="{FF2B5EF4-FFF2-40B4-BE49-F238E27FC236}">
                <a16:creationId xmlns:a16="http://schemas.microsoft.com/office/drawing/2014/main" id="{2248A3BE-A4DD-4B18-B8ED-9B3FBCABF3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00750" y="4246563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3499" name="Text Box 102">
            <a:extLst>
              <a:ext uri="{FF2B5EF4-FFF2-40B4-BE49-F238E27FC236}">
                <a16:creationId xmlns:a16="http://schemas.microsoft.com/office/drawing/2014/main" id="{7F1FF376-243B-46F1-9FDE-FFEC6BFEFD2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84825" y="5451475"/>
            <a:ext cx="81597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8</a:t>
            </a:r>
            <a:r>
              <a:rPr lang="zh-CN" altLang="en-US" sz="2000">
                <a:latin typeface="Times New Roman" panose="02020603050405020304" pitchFamily="18" charset="0"/>
              </a:rPr>
              <a:t>位队列总线</a:t>
            </a:r>
          </a:p>
        </p:txBody>
      </p:sp>
      <p:grpSp>
        <p:nvGrpSpPr>
          <p:cNvPr id="63500" name="组合 15383">
            <a:extLst>
              <a:ext uri="{FF2B5EF4-FFF2-40B4-BE49-F238E27FC236}">
                <a16:creationId xmlns:a16="http://schemas.microsoft.com/office/drawing/2014/main" id="{9A3D688B-4D6D-4CB9-97AC-65FAA643D8C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13025" y="4138613"/>
            <a:ext cx="5919788" cy="2386012"/>
            <a:chOff x="0" y="0"/>
            <a:chExt cx="3729" cy="1503"/>
          </a:xfrm>
        </p:grpSpPr>
        <p:sp>
          <p:nvSpPr>
            <p:cNvPr id="63526" name="AutoShape 104">
              <a:extLst>
                <a:ext uri="{FF2B5EF4-FFF2-40B4-BE49-F238E27FC236}">
                  <a16:creationId xmlns:a16="http://schemas.microsoft.com/office/drawing/2014/main" id="{7F8EBAD1-EB4C-4019-9248-2977973B23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5" y="108"/>
              <a:ext cx="131" cy="1395"/>
            </a:xfrm>
            <a:prstGeom prst="upDownArrow">
              <a:avLst>
                <a:gd name="adj1" fmla="val 60000"/>
                <a:gd name="adj2" fmla="val 168903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3527" name="AutoShape 105">
              <a:extLst>
                <a:ext uri="{FF2B5EF4-FFF2-40B4-BE49-F238E27FC236}">
                  <a16:creationId xmlns:a16="http://schemas.microsoft.com/office/drawing/2014/main" id="{11041814-7378-4CDC-9F3D-BA9724C38D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0"/>
              <a:ext cx="3729" cy="155"/>
            </a:xfrm>
            <a:prstGeom prst="leftRightArrow">
              <a:avLst>
                <a:gd name="adj1" fmla="val 57435"/>
                <a:gd name="adj2" fmla="val 16484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3501" name="AutoShape 106">
            <a:extLst>
              <a:ext uri="{FF2B5EF4-FFF2-40B4-BE49-F238E27FC236}">
                <a16:creationId xmlns:a16="http://schemas.microsoft.com/office/drawing/2014/main" id="{9699446C-5BCD-4644-8262-2D8FD57DFC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43375" y="3802063"/>
            <a:ext cx="254000" cy="392112"/>
          </a:xfrm>
          <a:prstGeom prst="upDownArrow">
            <a:avLst>
              <a:gd name="adj1" fmla="val 50000"/>
              <a:gd name="adj2" fmla="val 30746"/>
            </a:avLst>
          </a:prstGeom>
          <a:solidFill>
            <a:schemeClr val="hlink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3502" name="Text Box 107">
            <a:extLst>
              <a:ext uri="{FF2B5EF4-FFF2-40B4-BE49-F238E27FC236}">
                <a16:creationId xmlns:a16="http://schemas.microsoft.com/office/drawing/2014/main" id="{025DD7E5-7BA8-46EC-9501-1AFC12A0B54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76863" y="1339850"/>
            <a:ext cx="420687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执行部件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EU</a:t>
            </a:r>
          </a:p>
        </p:txBody>
      </p:sp>
      <p:grpSp>
        <p:nvGrpSpPr>
          <p:cNvPr id="63503" name="组合 15388">
            <a:extLst>
              <a:ext uri="{FF2B5EF4-FFF2-40B4-BE49-F238E27FC236}">
                <a16:creationId xmlns:a16="http://schemas.microsoft.com/office/drawing/2014/main" id="{EBAF3C9D-D88B-451F-B960-C03BA49A4208}"/>
              </a:ext>
            </a:extLst>
          </p:cNvPr>
          <p:cNvGrpSpPr>
            <a:grpSpLocks/>
          </p:cNvGrpSpPr>
          <p:nvPr/>
        </p:nvGrpSpPr>
        <p:grpSpPr bwMode="auto">
          <a:xfrm>
            <a:off x="3049588" y="998538"/>
            <a:ext cx="2108200" cy="2784475"/>
            <a:chOff x="0" y="0"/>
            <a:chExt cx="1328" cy="1754"/>
          </a:xfrm>
        </p:grpSpPr>
        <p:sp>
          <p:nvSpPr>
            <p:cNvPr id="63516" name="Text Box 109">
              <a:extLst>
                <a:ext uri="{FF2B5EF4-FFF2-40B4-BE49-F238E27FC236}">
                  <a16:creationId xmlns:a16="http://schemas.microsoft.com/office/drawing/2014/main" id="{A101876E-C517-4A78-B66F-A9CAEBCE7FC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132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通用寄存器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AX    AH        AL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BX    BH         BL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CX   CH         CL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DX   DH         DL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  SP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 BP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 DI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SI</a:t>
              </a:r>
            </a:p>
          </p:txBody>
        </p:sp>
        <p:sp>
          <p:nvSpPr>
            <p:cNvPr id="63517" name="Line 110">
              <a:extLst>
                <a:ext uri="{FF2B5EF4-FFF2-40B4-BE49-F238E27FC236}">
                  <a16:creationId xmlns:a16="http://schemas.microsoft.com/office/drawing/2014/main" id="{E474E0BD-E1A0-489E-8891-8D4D2D2ED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419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8" name="Rectangle 111">
              <a:extLst>
                <a:ext uri="{FF2B5EF4-FFF2-40B4-BE49-F238E27FC236}">
                  <a16:creationId xmlns:a16="http://schemas.microsoft.com/office/drawing/2014/main" id="{2A7689B2-818E-4E03-88D5-4920BC739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" y="255"/>
              <a:ext cx="979" cy="149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3519" name="Line 112">
              <a:extLst>
                <a:ext uri="{FF2B5EF4-FFF2-40B4-BE49-F238E27FC236}">
                  <a16:creationId xmlns:a16="http://schemas.microsoft.com/office/drawing/2014/main" id="{8EF25C63-594C-41C0-8FD3-B58DC8098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593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0" name="Line 113">
              <a:extLst>
                <a:ext uri="{FF2B5EF4-FFF2-40B4-BE49-F238E27FC236}">
                  <a16:creationId xmlns:a16="http://schemas.microsoft.com/office/drawing/2014/main" id="{59B9D473-5662-4943-9122-826B1E024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794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1" name="Line 114">
              <a:extLst>
                <a:ext uri="{FF2B5EF4-FFF2-40B4-BE49-F238E27FC236}">
                  <a16:creationId xmlns:a16="http://schemas.microsoft.com/office/drawing/2014/main" id="{B5D9012D-11A6-4E39-9AD6-983547F2B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977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2" name="Line 115">
              <a:extLst>
                <a:ext uri="{FF2B5EF4-FFF2-40B4-BE49-F238E27FC236}">
                  <a16:creationId xmlns:a16="http://schemas.microsoft.com/office/drawing/2014/main" id="{D5552655-7DBC-4398-9FEF-71B8C853B0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" y="255"/>
              <a:ext cx="0" cy="7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3" name="Line 116">
              <a:extLst>
                <a:ext uri="{FF2B5EF4-FFF2-40B4-BE49-F238E27FC236}">
                  <a16:creationId xmlns:a16="http://schemas.microsoft.com/office/drawing/2014/main" id="{68EA5C81-951F-4C9E-949F-07418A24B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1169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4" name="Line 117">
              <a:extLst>
                <a:ext uri="{FF2B5EF4-FFF2-40B4-BE49-F238E27FC236}">
                  <a16:creationId xmlns:a16="http://schemas.microsoft.com/office/drawing/2014/main" id="{A318E259-61A8-4244-842C-5B358AD6E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1361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5" name="Line 118">
              <a:extLst>
                <a:ext uri="{FF2B5EF4-FFF2-40B4-BE49-F238E27FC236}">
                  <a16:creationId xmlns:a16="http://schemas.microsoft.com/office/drawing/2014/main" id="{9DE2F5E0-AD7C-4253-AA96-08426C9033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1571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3504" name="组合 15399">
            <a:extLst>
              <a:ext uri="{FF2B5EF4-FFF2-40B4-BE49-F238E27FC236}">
                <a16:creationId xmlns:a16="http://schemas.microsoft.com/office/drawing/2014/main" id="{FE8F80EC-A1A5-46B1-B72F-3AA78FE7ED17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5610225"/>
            <a:ext cx="1219200" cy="457200"/>
            <a:chOff x="0" y="0"/>
            <a:chExt cx="768" cy="288"/>
          </a:xfrm>
        </p:grpSpPr>
        <p:sp>
          <p:nvSpPr>
            <p:cNvPr id="63513" name="AutoShape 120">
              <a:extLst>
                <a:ext uri="{FF2B5EF4-FFF2-40B4-BE49-F238E27FC236}">
                  <a16:creationId xmlns:a16="http://schemas.microsoft.com/office/drawing/2014/main" id="{428255DD-7658-43A8-8C3C-4B95FE283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" y="0"/>
              <a:ext cx="167" cy="168"/>
            </a:xfrm>
            <a:prstGeom prst="upArrow">
              <a:avLst>
                <a:gd name="adj1" fmla="val 50000"/>
                <a:gd name="adj2" fmla="val 25066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3514" name="AutoShape 121">
              <a:extLst>
                <a:ext uri="{FF2B5EF4-FFF2-40B4-BE49-F238E27FC236}">
                  <a16:creationId xmlns:a16="http://schemas.microsoft.com/office/drawing/2014/main" id="{ABBFAA76-8076-4823-974F-D7853130B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6"/>
              <a:ext cx="624" cy="144"/>
            </a:xfrm>
            <a:prstGeom prst="leftArrow">
              <a:avLst>
                <a:gd name="adj1" fmla="val 50000"/>
                <a:gd name="adj2" fmla="val 10797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3515" name="AutoShape 122">
              <a:extLst>
                <a:ext uri="{FF2B5EF4-FFF2-40B4-BE49-F238E27FC236}">
                  <a16:creationId xmlns:a16="http://schemas.microsoft.com/office/drawing/2014/main" id="{A50993A7-AF23-4EFD-B7B1-5AC70EF8C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0"/>
              <a:ext cx="48" cy="288"/>
            </a:xfrm>
            <a:prstGeom prst="downArrow">
              <a:avLst>
                <a:gd name="adj1" fmla="val 50000"/>
                <a:gd name="adj2" fmla="val 15000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3505" name="组合 15403">
            <a:extLst>
              <a:ext uri="{FF2B5EF4-FFF2-40B4-BE49-F238E27FC236}">
                <a16:creationId xmlns:a16="http://schemas.microsoft.com/office/drawing/2014/main" id="{CB43DD72-6402-423F-BC2C-004F16C9457D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781425"/>
            <a:ext cx="609600" cy="2438400"/>
            <a:chOff x="0" y="0"/>
            <a:chExt cx="384" cy="1536"/>
          </a:xfrm>
        </p:grpSpPr>
        <p:sp>
          <p:nvSpPr>
            <p:cNvPr id="63508" name="Line 124">
              <a:extLst>
                <a:ext uri="{FF2B5EF4-FFF2-40B4-BE49-F238E27FC236}">
                  <a16:creationId xmlns:a16="http://schemas.microsoft.com/office/drawing/2014/main" id="{AAA9D286-4419-481C-8C09-35935B7E20C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" y="672"/>
              <a:ext cx="319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9" name="Line 125">
              <a:extLst>
                <a:ext uri="{FF2B5EF4-FFF2-40B4-BE49-F238E27FC236}">
                  <a16:creationId xmlns:a16="http://schemas.microsoft.com/office/drawing/2014/main" id="{1D02FF11-10CD-48C4-9FD9-E7E11C1C8E4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1056"/>
              <a:ext cx="374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0" name="Line 126">
              <a:extLst>
                <a:ext uri="{FF2B5EF4-FFF2-40B4-BE49-F238E27FC236}">
                  <a16:creationId xmlns:a16="http://schemas.microsoft.com/office/drawing/2014/main" id="{09F0B239-B9DA-4B32-9D33-7829124752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" y="1536"/>
              <a:ext cx="319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1" name="Line 127">
              <a:extLst>
                <a:ext uri="{FF2B5EF4-FFF2-40B4-BE49-F238E27FC236}">
                  <a16:creationId xmlns:a16="http://schemas.microsoft.com/office/drawing/2014/main" id="{7CC4AAB5-88F2-4794-B864-9A4F607DC1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576"/>
              <a:ext cx="192" cy="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2" name="Line 128">
              <a:extLst>
                <a:ext uri="{FF2B5EF4-FFF2-40B4-BE49-F238E27FC236}">
                  <a16:creationId xmlns:a16="http://schemas.microsoft.com/office/drawing/2014/main" id="{1F70BFD3-6F3D-44BC-806B-BD7B7EAE4B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0"/>
              <a:ext cx="0" cy="576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506" name="Text Box 129">
            <a:extLst>
              <a:ext uri="{FF2B5EF4-FFF2-40B4-BE49-F238E27FC236}">
                <a16:creationId xmlns:a16="http://schemas.microsoft.com/office/drawing/2014/main" id="{A0427995-58D8-4F6C-9B03-4D3FC5FF922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92725" y="3500438"/>
            <a:ext cx="8636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16</a:t>
            </a:r>
            <a:r>
              <a:rPr lang="zh-CN" altLang="en-US" sz="2000">
                <a:latin typeface="Times New Roman" panose="02020603050405020304" pitchFamily="18" charset="0"/>
              </a:rPr>
              <a:t>位内部总线</a:t>
            </a:r>
          </a:p>
        </p:txBody>
      </p:sp>
      <p:sp>
        <p:nvSpPr>
          <p:cNvPr id="22578" name="灯片编号占位符 1">
            <a:extLst>
              <a:ext uri="{FF2B5EF4-FFF2-40B4-BE49-F238E27FC236}">
                <a16:creationId xmlns:a16="http://schemas.microsoft.com/office/drawing/2014/main" id="{6F473103-F1C1-428B-B70D-64B1DDBE476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6989688-9447-446E-8965-B8EE0A4C49EC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12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31">
            <a:extLst>
              <a:ext uri="{FF2B5EF4-FFF2-40B4-BE49-F238E27FC236}">
                <a16:creationId xmlns:a16="http://schemas.microsoft.com/office/drawing/2014/main" id="{FB26A9A7-C77B-46C8-A02E-9845AEF38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60350"/>
            <a:ext cx="3635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 b="0">
                <a:solidFill>
                  <a:schemeClr val="bg1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3200" b="0">
                <a:solidFill>
                  <a:schemeClr val="bg1"/>
                </a:solidFill>
                <a:latin typeface="Times New Roman" panose="02020603050405020304" pitchFamily="18" charset="0"/>
              </a:rPr>
              <a:t>执行部件</a:t>
            </a:r>
            <a:r>
              <a:rPr lang="en-US" altLang="zh-CN" sz="3200" b="0">
                <a:solidFill>
                  <a:schemeClr val="bg1"/>
                </a:solidFill>
                <a:latin typeface="Times New Roman" panose="02020603050405020304" pitchFamily="18" charset="0"/>
              </a:rPr>
              <a:t>EU</a:t>
            </a:r>
            <a:r>
              <a:rPr lang="zh-CN" altLang="en-US" sz="3200" b="0">
                <a:solidFill>
                  <a:schemeClr val="bg1"/>
                </a:solidFill>
                <a:latin typeface="Times New Roman" panose="02020603050405020304" pitchFamily="18" charset="0"/>
              </a:rPr>
              <a:t>组成</a:t>
            </a:r>
          </a:p>
        </p:txBody>
      </p:sp>
      <p:sp>
        <p:nvSpPr>
          <p:cNvPr id="64515" name="Rectangle 8">
            <a:extLst>
              <a:ext uri="{FF2B5EF4-FFF2-40B4-BE49-F238E27FC236}">
                <a16:creationId xmlns:a16="http://schemas.microsoft.com/office/drawing/2014/main" id="{AEB440D6-3FB3-405C-9832-6B5AEE759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049338"/>
            <a:ext cx="480218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为说明</a:t>
            </a:r>
            <a:r>
              <a:rPr lang="en-US" altLang="zh-CN" b="0">
                <a:latin typeface="Times New Roman" panose="02020603050405020304" pitchFamily="18" charset="0"/>
              </a:rPr>
              <a:t>EU</a:t>
            </a:r>
            <a:r>
              <a:rPr lang="zh-CN" altLang="en-US" b="0">
                <a:latin typeface="Times New Roman" panose="02020603050405020304" pitchFamily="18" charset="0"/>
              </a:rPr>
              <a:t>执行指令的过程，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先学习两条简单的汇编指令：</a:t>
            </a:r>
          </a:p>
        </p:txBody>
      </p:sp>
      <p:sp>
        <p:nvSpPr>
          <p:cNvPr id="64516" name="Rectangle 8">
            <a:extLst>
              <a:ext uri="{FF2B5EF4-FFF2-40B4-BE49-F238E27FC236}">
                <a16:creationId xmlns:a16="http://schemas.microsoft.com/office/drawing/2014/main" id="{FBEFDF11-2007-4F5E-9C54-AB7B88978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003425"/>
            <a:ext cx="3203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1</a:t>
            </a:r>
            <a:r>
              <a:rPr lang="zh-CN" altLang="en-US" b="0">
                <a:latin typeface="Times New Roman" panose="02020603050405020304" pitchFamily="18" charset="0"/>
              </a:rPr>
              <a:t>）数据转移指令：</a:t>
            </a:r>
          </a:p>
        </p:txBody>
      </p:sp>
      <p:sp>
        <p:nvSpPr>
          <p:cNvPr id="64517" name="Rectangle 8">
            <a:extLst>
              <a:ext uri="{FF2B5EF4-FFF2-40B4-BE49-F238E27FC236}">
                <a16:creationId xmlns:a16="http://schemas.microsoft.com/office/drawing/2014/main" id="{4AFD4090-E47B-4B54-A7ED-DD9C9F9A2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900" y="2439988"/>
            <a:ext cx="51133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solidFill>
                  <a:srgbClr val="FF0066"/>
                </a:solidFill>
                <a:latin typeface="Times New Roman" panose="02020603050405020304" pitchFamily="18" charset="0"/>
              </a:rPr>
              <a:t>MOV</a:t>
            </a:r>
            <a:r>
              <a:rPr lang="en-US" altLang="zh-CN" b="0">
                <a:latin typeface="Times New Roman" panose="02020603050405020304" pitchFamily="18" charset="0"/>
              </a:rPr>
              <a:t> </a:t>
            </a:r>
            <a:r>
              <a:rPr lang="en-US" altLang="zh-CN" b="0">
                <a:solidFill>
                  <a:schemeClr val="hlink"/>
                </a:solidFill>
                <a:latin typeface="Times New Roman" panose="02020603050405020304" pitchFamily="18" charset="0"/>
              </a:rPr>
              <a:t>AL</a:t>
            </a:r>
            <a:r>
              <a:rPr lang="zh-CN" altLang="en-US" b="0">
                <a:latin typeface="Times New Roman" panose="02020603050405020304" pitchFamily="18" charset="0"/>
              </a:rPr>
              <a:t>，</a:t>
            </a:r>
            <a:r>
              <a:rPr lang="en-US" altLang="zh-CN" b="0">
                <a:solidFill>
                  <a:srgbClr val="FF6600"/>
                </a:solidFill>
                <a:latin typeface="Times New Roman" panose="02020603050405020304" pitchFamily="18" charset="0"/>
              </a:rPr>
              <a:t>0AH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指令码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目的操作数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>
                <a:solidFill>
                  <a:srgbClr val="FF6600"/>
                </a:solidFill>
                <a:latin typeface="Times New Roman" panose="02020603050405020304" pitchFamily="18" charset="0"/>
              </a:rPr>
              <a:t>源操作数</a:t>
            </a:r>
          </a:p>
        </p:txBody>
      </p:sp>
      <p:sp>
        <p:nvSpPr>
          <p:cNvPr id="64518" name="Rectangle 8">
            <a:extLst>
              <a:ext uri="{FF2B5EF4-FFF2-40B4-BE49-F238E27FC236}">
                <a16:creationId xmlns:a16="http://schemas.microsoft.com/office/drawing/2014/main" id="{E9D0C091-9511-42DB-B555-B934EF0A0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946525"/>
            <a:ext cx="2492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2</a:t>
            </a:r>
            <a:r>
              <a:rPr lang="zh-CN" altLang="en-US" b="0">
                <a:latin typeface="Times New Roman" panose="02020603050405020304" pitchFamily="18" charset="0"/>
              </a:rPr>
              <a:t>）加法指令：</a:t>
            </a:r>
          </a:p>
        </p:txBody>
      </p:sp>
      <p:sp>
        <p:nvSpPr>
          <p:cNvPr id="64519" name="Rectangle 8">
            <a:extLst>
              <a:ext uri="{FF2B5EF4-FFF2-40B4-BE49-F238E27FC236}">
                <a16:creationId xmlns:a16="http://schemas.microsoft.com/office/drawing/2014/main" id="{B52FA391-66DD-4DF8-9F76-D7C2D1609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900" y="4465638"/>
            <a:ext cx="2808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ADD AL, [100H]</a:t>
            </a:r>
            <a:endParaRPr lang="zh-CN" altLang="en-US" b="0">
              <a:latin typeface="Times New Roman" panose="02020603050405020304" pitchFamily="18" charset="0"/>
            </a:endParaRPr>
          </a:p>
        </p:txBody>
      </p:sp>
      <p:sp>
        <p:nvSpPr>
          <p:cNvPr id="64520" name="直接连接符 16391">
            <a:extLst>
              <a:ext uri="{FF2B5EF4-FFF2-40B4-BE49-F238E27FC236}">
                <a16:creationId xmlns:a16="http://schemas.microsoft.com/office/drawing/2014/main" id="{4EC20435-6F49-428B-AB62-7CAB185AE6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87800" y="4465638"/>
            <a:ext cx="1225550" cy="2873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1" name="文本框 16392">
            <a:extLst>
              <a:ext uri="{FF2B5EF4-FFF2-40B4-BE49-F238E27FC236}">
                <a16:creationId xmlns:a16="http://schemas.microsoft.com/office/drawing/2014/main" id="{53ED7942-4C50-494C-80AB-12F8DA0F9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225" y="4178300"/>
            <a:ext cx="3149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代表一个偏移量为</a:t>
            </a:r>
            <a:r>
              <a:rPr lang="en-US" altLang="zh-CN" sz="1800">
                <a:latin typeface="Garamond" panose="02020404030301010803" pitchFamily="18" charset="0"/>
              </a:rPr>
              <a:t>100h</a:t>
            </a:r>
            <a:r>
              <a:rPr lang="zh-CN" altLang="en-US" sz="1800">
                <a:latin typeface="Garamond" panose="02020404030301010803" pitchFamily="18" charset="0"/>
              </a:rPr>
              <a:t>的存储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器空间</a:t>
            </a:r>
          </a:p>
        </p:txBody>
      </p:sp>
      <p:sp>
        <p:nvSpPr>
          <p:cNvPr id="64522" name="文本框 16393">
            <a:extLst>
              <a:ext uri="{FF2B5EF4-FFF2-40B4-BE49-F238E27FC236}">
                <a16:creationId xmlns:a16="http://schemas.microsoft.com/office/drawing/2014/main" id="{F1F03F2E-44A8-4F1D-A057-737B29ACA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3386138"/>
            <a:ext cx="4895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这条指令将立即数</a:t>
            </a:r>
            <a:r>
              <a:rPr lang="en-US" altLang="zh-CN" sz="1800">
                <a:latin typeface="Garamond" panose="02020404030301010803" pitchFamily="18" charset="0"/>
              </a:rPr>
              <a:t>0Ah</a:t>
            </a:r>
            <a:r>
              <a:rPr lang="zh-CN" altLang="en-US" sz="1800">
                <a:latin typeface="Garamond" panose="02020404030301010803" pitchFamily="18" charset="0"/>
              </a:rPr>
              <a:t>传送到</a:t>
            </a:r>
            <a:r>
              <a:rPr lang="en-US" altLang="zh-CN" sz="1800">
                <a:latin typeface="Garamond" panose="02020404030301010803" pitchFamily="18" charset="0"/>
              </a:rPr>
              <a:t>8</a:t>
            </a:r>
            <a:r>
              <a:rPr lang="zh-CN" altLang="en-US" sz="1800">
                <a:latin typeface="Garamond" panose="02020404030301010803" pitchFamily="18" charset="0"/>
              </a:rPr>
              <a:t>位寄存器</a:t>
            </a:r>
            <a:r>
              <a:rPr lang="en-US" altLang="zh-CN" sz="1800">
                <a:latin typeface="Garamond" panose="02020404030301010803" pitchFamily="18" charset="0"/>
              </a:rPr>
              <a:t>AL</a:t>
            </a:r>
            <a:r>
              <a:rPr lang="zh-CN" altLang="en-US" sz="1800">
                <a:latin typeface="Garamond" panose="02020404030301010803" pitchFamily="18" charset="0"/>
              </a:rPr>
              <a:t>中</a:t>
            </a:r>
          </a:p>
        </p:txBody>
      </p:sp>
      <p:sp>
        <p:nvSpPr>
          <p:cNvPr id="64523" name="文本框 16394">
            <a:extLst>
              <a:ext uri="{FF2B5EF4-FFF2-40B4-BE49-F238E27FC236}">
                <a16:creationId xmlns:a16="http://schemas.microsoft.com/office/drawing/2014/main" id="{9669FED8-5ABE-431A-91DE-C47D54787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2538" y="5257800"/>
            <a:ext cx="74882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这条指令将寄存器</a:t>
            </a:r>
            <a:r>
              <a:rPr lang="en-US" altLang="zh-CN" sz="1800">
                <a:latin typeface="Garamond" panose="02020404030301010803" pitchFamily="18" charset="0"/>
              </a:rPr>
              <a:t>AL</a:t>
            </a:r>
            <a:r>
              <a:rPr lang="zh-CN" altLang="en-US" sz="1800">
                <a:latin typeface="Garamond" panose="02020404030301010803" pitchFamily="18" charset="0"/>
              </a:rPr>
              <a:t>中的值与地址</a:t>
            </a:r>
            <a:r>
              <a:rPr lang="en-US" altLang="zh-CN" sz="1800">
                <a:latin typeface="Garamond" panose="02020404030301010803" pitchFamily="18" charset="0"/>
              </a:rPr>
              <a:t>[100h]</a:t>
            </a:r>
            <a:r>
              <a:rPr lang="zh-CN" altLang="en-US" sz="1800">
                <a:latin typeface="Garamond" panose="02020404030301010803" pitchFamily="18" charset="0"/>
              </a:rPr>
              <a:t>中的值相加后送到</a:t>
            </a:r>
            <a:r>
              <a:rPr lang="en-US" altLang="zh-CN" sz="1800">
                <a:latin typeface="Garamond" panose="02020404030301010803" pitchFamily="18" charset="0"/>
              </a:rPr>
              <a:t>AL</a:t>
            </a:r>
            <a:r>
              <a:rPr lang="zh-CN" altLang="en-US" sz="1800">
                <a:latin typeface="Garamond" panose="02020404030301010803" pitchFamily="18" charset="0"/>
              </a:rPr>
              <a:t>中保存。</a:t>
            </a:r>
          </a:p>
        </p:txBody>
      </p:sp>
      <p:sp>
        <p:nvSpPr>
          <p:cNvPr id="23563" name="灯片编号占位符 1">
            <a:extLst>
              <a:ext uri="{FF2B5EF4-FFF2-40B4-BE49-F238E27FC236}">
                <a16:creationId xmlns:a16="http://schemas.microsoft.com/office/drawing/2014/main" id="{5C93D47F-7B0F-49EC-9B70-E939C5561E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E2D1461-F354-4109-9DDB-9E934DBFC108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13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7BD117-F4D8-4A39-9B8F-4243081C711E}"/>
              </a:ext>
            </a:extLst>
          </p:cNvPr>
          <p:cNvSpPr txBox="1"/>
          <p:nvPr/>
        </p:nvSpPr>
        <p:spPr>
          <a:xfrm>
            <a:off x="715010" y="5747385"/>
            <a:ext cx="7174230" cy="5835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让我们用</a:t>
            </a:r>
            <a:r>
              <a:rPr lang="en-US" altLang="zh-CN" sz="3200" b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Emu8086</a:t>
            </a:r>
            <a:r>
              <a:rPr lang="zh-CN" altLang="en-US" sz="3200" b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软件模拟一下。。。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>
            <a:extLst>
              <a:ext uri="{FF2B5EF4-FFF2-40B4-BE49-F238E27FC236}">
                <a16:creationId xmlns:a16="http://schemas.microsoft.com/office/drawing/2014/main" id="{8486848C-D995-44C9-87BB-91639725F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260350"/>
            <a:ext cx="40433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(2)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执行部件工作流程</a:t>
            </a:r>
          </a:p>
        </p:txBody>
      </p:sp>
      <p:sp>
        <p:nvSpPr>
          <p:cNvPr id="65539" name="Text Box 3">
            <a:extLst>
              <a:ext uri="{FF2B5EF4-FFF2-40B4-BE49-F238E27FC236}">
                <a16:creationId xmlns:a16="http://schemas.microsoft.com/office/drawing/2014/main" id="{9BD39126-1027-44E9-9711-68472E545C4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19713" y="4543425"/>
            <a:ext cx="401637" cy="1833563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EU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grpSp>
        <p:nvGrpSpPr>
          <p:cNvPr id="65540" name="组合 17411">
            <a:extLst>
              <a:ext uri="{FF2B5EF4-FFF2-40B4-BE49-F238E27FC236}">
                <a16:creationId xmlns:a16="http://schemas.microsoft.com/office/drawing/2014/main" id="{831BDA54-2F1B-42D6-941F-B0A8D09983A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11550" y="5221288"/>
            <a:ext cx="1343025" cy="471487"/>
            <a:chOff x="0" y="0"/>
            <a:chExt cx="846" cy="297"/>
          </a:xfrm>
        </p:grpSpPr>
        <p:sp>
          <p:nvSpPr>
            <p:cNvPr id="65670" name="Line 5">
              <a:extLst>
                <a:ext uri="{FF2B5EF4-FFF2-40B4-BE49-F238E27FC236}">
                  <a16:creationId xmlns:a16="http://schemas.microsoft.com/office/drawing/2014/main" id="{30ABC4C8-8337-4D6D-B3FE-BCCBBEE4AE6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53" y="263"/>
              <a:ext cx="41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1" name="Line 6">
              <a:extLst>
                <a:ext uri="{FF2B5EF4-FFF2-40B4-BE49-F238E27FC236}">
                  <a16:creationId xmlns:a16="http://schemas.microsoft.com/office/drawing/2014/main" id="{042810A7-70D6-4752-B3F8-E4C4EF47A2B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0" y="2"/>
              <a:ext cx="246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2" name="Line 7">
              <a:extLst>
                <a:ext uri="{FF2B5EF4-FFF2-40B4-BE49-F238E27FC236}">
                  <a16:creationId xmlns:a16="http://schemas.microsoft.com/office/drawing/2014/main" id="{80C20C17-FD9B-4E5A-9A06-4238AC5550A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" y="4"/>
              <a:ext cx="21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3" name="Line 8">
              <a:extLst>
                <a:ext uri="{FF2B5EF4-FFF2-40B4-BE49-F238E27FC236}">
                  <a16:creationId xmlns:a16="http://schemas.microsoft.com/office/drawing/2014/main" id="{5C78FE33-F6D4-4823-86F8-FD7086A207B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4" y="2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4" name="Line 9">
              <a:extLst>
                <a:ext uri="{FF2B5EF4-FFF2-40B4-BE49-F238E27FC236}">
                  <a16:creationId xmlns:a16="http://schemas.microsoft.com/office/drawing/2014/main" id="{604F3652-A5FB-4D5C-BB78-4C7C42D2D5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5" y="100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5" name="Line 10">
              <a:extLst>
                <a:ext uri="{FF2B5EF4-FFF2-40B4-BE49-F238E27FC236}">
                  <a16:creationId xmlns:a16="http://schemas.microsoft.com/office/drawing/2014/main" id="{8414CB82-80D5-4257-8F59-4F42C4DB8F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29" y="0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6" name="Line 11">
              <a:extLst>
                <a:ext uri="{FF2B5EF4-FFF2-40B4-BE49-F238E27FC236}">
                  <a16:creationId xmlns:a16="http://schemas.microsoft.com/office/drawing/2014/main" id="{BB3A10B4-3EDF-49A6-ABC9-FDAA9F7DD7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52" y="8"/>
              <a:ext cx="19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7" name="Line 12">
              <a:extLst>
                <a:ext uri="{FF2B5EF4-FFF2-40B4-BE49-F238E27FC236}">
                  <a16:creationId xmlns:a16="http://schemas.microsoft.com/office/drawing/2014/main" id="{2092D3B6-9961-4DB1-8F58-EC5BC009DD0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62" y="12"/>
              <a:ext cx="180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8" name="Text Box 13">
              <a:extLst>
                <a:ext uri="{FF2B5EF4-FFF2-40B4-BE49-F238E27FC236}">
                  <a16:creationId xmlns:a16="http://schemas.microsoft.com/office/drawing/2014/main" id="{AA73A097-049E-4610-82F4-7A8C427A0F0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8" y="70"/>
              <a:ext cx="432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latin typeface="Times New Roman" panose="02020603050405020304" pitchFamily="18" charset="0"/>
                </a:rPr>
                <a:t>ALU</a:t>
              </a:r>
            </a:p>
          </p:txBody>
        </p:sp>
      </p:grpSp>
      <p:grpSp>
        <p:nvGrpSpPr>
          <p:cNvPr id="65541" name="组合 17421">
            <a:extLst>
              <a:ext uri="{FF2B5EF4-FFF2-40B4-BE49-F238E27FC236}">
                <a16:creationId xmlns:a16="http://schemas.microsoft.com/office/drawing/2014/main" id="{41FBAABE-B7CB-4E53-A91A-A104C5EE2A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05213" y="4619625"/>
            <a:ext cx="1198562" cy="608013"/>
            <a:chOff x="0" y="0"/>
            <a:chExt cx="755" cy="383"/>
          </a:xfrm>
        </p:grpSpPr>
        <p:sp>
          <p:nvSpPr>
            <p:cNvPr id="65667" name="Text Box 15">
              <a:extLst>
                <a:ext uri="{FF2B5EF4-FFF2-40B4-BE49-F238E27FC236}">
                  <a16:creationId xmlns:a16="http://schemas.microsoft.com/office/drawing/2014/main" id="{72CF7F55-D94D-456F-A70E-3EF594037EC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755" cy="20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暂 存 器</a:t>
              </a:r>
            </a:p>
          </p:txBody>
        </p:sp>
        <p:sp>
          <p:nvSpPr>
            <p:cNvPr id="65668" name="AutoShape 16">
              <a:extLst>
                <a:ext uri="{FF2B5EF4-FFF2-40B4-BE49-F238E27FC236}">
                  <a16:creationId xmlns:a16="http://schemas.microsoft.com/office/drawing/2014/main" id="{A1B8249D-86F0-425C-9ED6-F494AC87B7B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" y="208"/>
              <a:ext cx="142" cy="175"/>
            </a:xfrm>
            <a:prstGeom prst="downArrow">
              <a:avLst>
                <a:gd name="adj1" fmla="val 50000"/>
                <a:gd name="adj2" fmla="val 30707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69" name="AutoShape 17">
              <a:extLst>
                <a:ext uri="{FF2B5EF4-FFF2-40B4-BE49-F238E27FC236}">
                  <a16:creationId xmlns:a16="http://schemas.microsoft.com/office/drawing/2014/main" id="{85FA6112-B750-4E69-9B68-B9AD685AE8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6" y="208"/>
              <a:ext cx="143" cy="175"/>
            </a:xfrm>
            <a:prstGeom prst="downArrow">
              <a:avLst>
                <a:gd name="adj1" fmla="val 50000"/>
                <a:gd name="adj2" fmla="val 30492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5542" name="Text Box 18">
            <a:extLst>
              <a:ext uri="{FF2B5EF4-FFF2-40B4-BE49-F238E27FC236}">
                <a16:creationId xmlns:a16="http://schemas.microsoft.com/office/drawing/2014/main" id="{080F7ADD-330D-435C-BD3D-4F7F734ACA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7750" y="6067425"/>
            <a:ext cx="1198563" cy="32385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标志寄存器</a:t>
            </a:r>
          </a:p>
        </p:txBody>
      </p:sp>
      <p:sp>
        <p:nvSpPr>
          <p:cNvPr id="65543" name="AutoShape 19">
            <a:extLst>
              <a:ext uri="{FF2B5EF4-FFF2-40B4-BE49-F238E27FC236}">
                <a16:creationId xmlns:a16="http://schemas.microsoft.com/office/drawing/2014/main" id="{EA060F28-87AC-4030-BEF7-4F5052951A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73525" y="4310063"/>
            <a:ext cx="204788" cy="323850"/>
          </a:xfrm>
          <a:prstGeom prst="upDownArrow">
            <a:avLst>
              <a:gd name="adj1" fmla="val 50000"/>
              <a:gd name="adj2" fmla="val 31496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5544" name="AutoShape 20">
            <a:extLst>
              <a:ext uri="{FF2B5EF4-FFF2-40B4-BE49-F238E27FC236}">
                <a16:creationId xmlns:a16="http://schemas.microsoft.com/office/drawing/2014/main" id="{5A945BC4-156E-41C3-B0DC-3ED089E5309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359150" y="6067425"/>
            <a:ext cx="228600" cy="2286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5545" name="AutoShape 21">
            <a:extLst>
              <a:ext uri="{FF2B5EF4-FFF2-40B4-BE49-F238E27FC236}">
                <a16:creationId xmlns:a16="http://schemas.microsoft.com/office/drawing/2014/main" id="{67CA3802-54F3-40C2-BF52-702D6B4EAF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26113" y="5368925"/>
            <a:ext cx="900112" cy="76200"/>
          </a:xfrm>
          <a:prstGeom prst="leftArrow">
            <a:avLst>
              <a:gd name="adj1" fmla="val 50000"/>
              <a:gd name="adj2" fmla="val 294328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5546" name="AutoShape 22">
            <a:extLst>
              <a:ext uri="{FF2B5EF4-FFF2-40B4-BE49-F238E27FC236}">
                <a16:creationId xmlns:a16="http://schemas.microsoft.com/office/drawing/2014/main" id="{7E6A9E24-9C48-451C-9298-72E047C10F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59500" y="4297363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5547" name="Text Box 23">
            <a:extLst>
              <a:ext uri="{FF2B5EF4-FFF2-40B4-BE49-F238E27FC236}">
                <a16:creationId xmlns:a16="http://schemas.microsoft.com/office/drawing/2014/main" id="{D5AD108B-F2ED-4CD7-916D-2A3ADE4C9EA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743575" y="5451475"/>
            <a:ext cx="81597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8</a:t>
            </a:r>
            <a:r>
              <a:rPr lang="zh-CN" altLang="en-US" sz="2000">
                <a:latin typeface="Times New Roman" panose="02020603050405020304" pitchFamily="18" charset="0"/>
              </a:rPr>
              <a:t>位队列总线</a:t>
            </a:r>
          </a:p>
        </p:txBody>
      </p:sp>
      <p:grpSp>
        <p:nvGrpSpPr>
          <p:cNvPr id="65548" name="组合 17431">
            <a:extLst>
              <a:ext uri="{FF2B5EF4-FFF2-40B4-BE49-F238E27FC236}">
                <a16:creationId xmlns:a16="http://schemas.microsoft.com/office/drawing/2014/main" id="{1E846FB6-E816-423C-AABC-34B64039987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71775" y="4138613"/>
            <a:ext cx="5919788" cy="2386012"/>
            <a:chOff x="0" y="0"/>
            <a:chExt cx="3729" cy="1503"/>
          </a:xfrm>
        </p:grpSpPr>
        <p:sp>
          <p:nvSpPr>
            <p:cNvPr id="65665" name="AutoShape 25">
              <a:extLst>
                <a:ext uri="{FF2B5EF4-FFF2-40B4-BE49-F238E27FC236}">
                  <a16:creationId xmlns:a16="http://schemas.microsoft.com/office/drawing/2014/main" id="{888F13B3-18A8-46AE-86AE-DC9C1041C2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5" y="108"/>
              <a:ext cx="131" cy="1395"/>
            </a:xfrm>
            <a:prstGeom prst="upDownArrow">
              <a:avLst>
                <a:gd name="adj1" fmla="val 60000"/>
                <a:gd name="adj2" fmla="val 168903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66" name="AutoShape 26">
              <a:extLst>
                <a:ext uri="{FF2B5EF4-FFF2-40B4-BE49-F238E27FC236}">
                  <a16:creationId xmlns:a16="http://schemas.microsoft.com/office/drawing/2014/main" id="{B4BA12FB-4FDC-4774-8E57-7A0BF04CC0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0"/>
              <a:ext cx="3729" cy="155"/>
            </a:xfrm>
            <a:prstGeom prst="leftRightArrow">
              <a:avLst>
                <a:gd name="adj1" fmla="val 57435"/>
                <a:gd name="adj2" fmla="val 164842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5549" name="AutoShape 27">
            <a:extLst>
              <a:ext uri="{FF2B5EF4-FFF2-40B4-BE49-F238E27FC236}">
                <a16:creationId xmlns:a16="http://schemas.microsoft.com/office/drawing/2014/main" id="{682B841F-F254-4A38-83DF-47F7ED2655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02125" y="3802063"/>
            <a:ext cx="254000" cy="392112"/>
          </a:xfrm>
          <a:prstGeom prst="upDownArrow">
            <a:avLst>
              <a:gd name="adj1" fmla="val 50000"/>
              <a:gd name="adj2" fmla="val 30746"/>
            </a:avLst>
          </a:prstGeom>
          <a:solidFill>
            <a:srgbClr val="FFFF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5550" name="Text Box 28">
            <a:extLst>
              <a:ext uri="{FF2B5EF4-FFF2-40B4-BE49-F238E27FC236}">
                <a16:creationId xmlns:a16="http://schemas.microsoft.com/office/drawing/2014/main" id="{B7442893-B20C-4995-8EF5-05A5E6D4907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35613" y="1339850"/>
            <a:ext cx="420687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执行部件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EU</a:t>
            </a:r>
          </a:p>
        </p:txBody>
      </p:sp>
      <p:grpSp>
        <p:nvGrpSpPr>
          <p:cNvPr id="65551" name="组合 17436">
            <a:extLst>
              <a:ext uri="{FF2B5EF4-FFF2-40B4-BE49-F238E27FC236}">
                <a16:creationId xmlns:a16="http://schemas.microsoft.com/office/drawing/2014/main" id="{69D39892-26E8-42D0-9A62-C6EA3061E372}"/>
              </a:ext>
            </a:extLst>
          </p:cNvPr>
          <p:cNvGrpSpPr>
            <a:grpSpLocks/>
          </p:cNvGrpSpPr>
          <p:nvPr/>
        </p:nvGrpSpPr>
        <p:grpSpPr bwMode="auto">
          <a:xfrm>
            <a:off x="3208338" y="998538"/>
            <a:ext cx="2108200" cy="2784475"/>
            <a:chOff x="0" y="0"/>
            <a:chExt cx="1328" cy="1754"/>
          </a:xfrm>
        </p:grpSpPr>
        <p:sp>
          <p:nvSpPr>
            <p:cNvPr id="65655" name="Text Box 30">
              <a:extLst>
                <a:ext uri="{FF2B5EF4-FFF2-40B4-BE49-F238E27FC236}">
                  <a16:creationId xmlns:a16="http://schemas.microsoft.com/office/drawing/2014/main" id="{C53C6CCF-D3EE-419D-AFCA-2C96344F658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132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通用寄存器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AX    AH        AL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BX    BH         BL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CX   CH         CL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DX   DH         DL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  SP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 BP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 DI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SI</a:t>
              </a:r>
            </a:p>
          </p:txBody>
        </p:sp>
        <p:sp>
          <p:nvSpPr>
            <p:cNvPr id="65656" name="Line 31">
              <a:extLst>
                <a:ext uri="{FF2B5EF4-FFF2-40B4-BE49-F238E27FC236}">
                  <a16:creationId xmlns:a16="http://schemas.microsoft.com/office/drawing/2014/main" id="{7737B67C-3EAD-4F88-B6F5-886EC4100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419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57" name="Rectangle 32">
              <a:extLst>
                <a:ext uri="{FF2B5EF4-FFF2-40B4-BE49-F238E27FC236}">
                  <a16:creationId xmlns:a16="http://schemas.microsoft.com/office/drawing/2014/main" id="{2EAF9165-3E37-48BA-A4A8-AD4B8705A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" y="255"/>
              <a:ext cx="979" cy="149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58" name="Line 33">
              <a:extLst>
                <a:ext uri="{FF2B5EF4-FFF2-40B4-BE49-F238E27FC236}">
                  <a16:creationId xmlns:a16="http://schemas.microsoft.com/office/drawing/2014/main" id="{D923BB28-CE3D-4A86-BA51-8C6BB2A65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593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59" name="Line 34">
              <a:extLst>
                <a:ext uri="{FF2B5EF4-FFF2-40B4-BE49-F238E27FC236}">
                  <a16:creationId xmlns:a16="http://schemas.microsoft.com/office/drawing/2014/main" id="{9129F7ED-6352-4752-AF02-3CA067391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794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0" name="Line 35">
              <a:extLst>
                <a:ext uri="{FF2B5EF4-FFF2-40B4-BE49-F238E27FC236}">
                  <a16:creationId xmlns:a16="http://schemas.microsoft.com/office/drawing/2014/main" id="{A511FC47-B2F0-4839-8BE3-EE6FD91857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977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1" name="Line 36">
              <a:extLst>
                <a:ext uri="{FF2B5EF4-FFF2-40B4-BE49-F238E27FC236}">
                  <a16:creationId xmlns:a16="http://schemas.microsoft.com/office/drawing/2014/main" id="{079F9363-7EF7-4B76-BFC9-F25EF2812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" y="255"/>
              <a:ext cx="0" cy="7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2" name="Line 37">
              <a:extLst>
                <a:ext uri="{FF2B5EF4-FFF2-40B4-BE49-F238E27FC236}">
                  <a16:creationId xmlns:a16="http://schemas.microsoft.com/office/drawing/2014/main" id="{461B80A5-3AE7-4ED9-A6F3-F766C15CB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1169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3" name="Line 38">
              <a:extLst>
                <a:ext uri="{FF2B5EF4-FFF2-40B4-BE49-F238E27FC236}">
                  <a16:creationId xmlns:a16="http://schemas.microsoft.com/office/drawing/2014/main" id="{86C331BA-551D-4245-BDB7-FD46C191F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1361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4" name="Line 39">
              <a:extLst>
                <a:ext uri="{FF2B5EF4-FFF2-40B4-BE49-F238E27FC236}">
                  <a16:creationId xmlns:a16="http://schemas.microsoft.com/office/drawing/2014/main" id="{DCE7CBA3-091A-47E1-9C01-F9C21E070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1571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5552" name="组合 17447">
            <a:extLst>
              <a:ext uri="{FF2B5EF4-FFF2-40B4-BE49-F238E27FC236}">
                <a16:creationId xmlns:a16="http://schemas.microsoft.com/office/drawing/2014/main" id="{FA530AF4-FB5D-4219-8DCC-14A75220316E}"/>
              </a:ext>
            </a:extLst>
          </p:cNvPr>
          <p:cNvGrpSpPr>
            <a:grpSpLocks/>
          </p:cNvGrpSpPr>
          <p:nvPr/>
        </p:nvGrpSpPr>
        <p:grpSpPr bwMode="auto">
          <a:xfrm>
            <a:off x="3282950" y="5610225"/>
            <a:ext cx="1219200" cy="457200"/>
            <a:chOff x="0" y="0"/>
            <a:chExt cx="768" cy="288"/>
          </a:xfrm>
        </p:grpSpPr>
        <p:sp>
          <p:nvSpPr>
            <p:cNvPr id="65652" name="AutoShape 41">
              <a:extLst>
                <a:ext uri="{FF2B5EF4-FFF2-40B4-BE49-F238E27FC236}">
                  <a16:creationId xmlns:a16="http://schemas.microsoft.com/office/drawing/2014/main" id="{879982EA-F72C-410D-8239-B18AFF119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" y="0"/>
              <a:ext cx="167" cy="168"/>
            </a:xfrm>
            <a:prstGeom prst="upArrow">
              <a:avLst>
                <a:gd name="adj1" fmla="val 50000"/>
                <a:gd name="adj2" fmla="val 25066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53" name="AutoShape 42">
              <a:extLst>
                <a:ext uri="{FF2B5EF4-FFF2-40B4-BE49-F238E27FC236}">
                  <a16:creationId xmlns:a16="http://schemas.microsoft.com/office/drawing/2014/main" id="{A195B8E2-A626-4401-A62E-6CD026913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6"/>
              <a:ext cx="624" cy="144"/>
            </a:xfrm>
            <a:prstGeom prst="leftArrow">
              <a:avLst>
                <a:gd name="adj1" fmla="val 50000"/>
                <a:gd name="adj2" fmla="val 107972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54" name="AutoShape 43">
              <a:extLst>
                <a:ext uri="{FF2B5EF4-FFF2-40B4-BE49-F238E27FC236}">
                  <a16:creationId xmlns:a16="http://schemas.microsoft.com/office/drawing/2014/main" id="{530776B9-4FB2-4FC3-8DEB-0100E01FB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0"/>
              <a:ext cx="48" cy="288"/>
            </a:xfrm>
            <a:prstGeom prst="downArrow">
              <a:avLst>
                <a:gd name="adj1" fmla="val 50000"/>
                <a:gd name="adj2" fmla="val 1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5553" name="组合 17451">
            <a:extLst>
              <a:ext uri="{FF2B5EF4-FFF2-40B4-BE49-F238E27FC236}">
                <a16:creationId xmlns:a16="http://schemas.microsoft.com/office/drawing/2014/main" id="{12401A51-D228-4EA2-A89D-B4A4E141791B}"/>
              </a:ext>
            </a:extLst>
          </p:cNvPr>
          <p:cNvGrpSpPr>
            <a:grpSpLocks/>
          </p:cNvGrpSpPr>
          <p:nvPr/>
        </p:nvGrpSpPr>
        <p:grpSpPr bwMode="auto">
          <a:xfrm>
            <a:off x="4730750" y="3781425"/>
            <a:ext cx="609600" cy="2438400"/>
            <a:chOff x="0" y="0"/>
            <a:chExt cx="384" cy="1536"/>
          </a:xfrm>
        </p:grpSpPr>
        <p:sp>
          <p:nvSpPr>
            <p:cNvPr id="65647" name="Line 45">
              <a:extLst>
                <a:ext uri="{FF2B5EF4-FFF2-40B4-BE49-F238E27FC236}">
                  <a16:creationId xmlns:a16="http://schemas.microsoft.com/office/drawing/2014/main" id="{DED17798-8078-4F90-82EE-95686FD730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" y="672"/>
              <a:ext cx="319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48" name="Line 46">
              <a:extLst>
                <a:ext uri="{FF2B5EF4-FFF2-40B4-BE49-F238E27FC236}">
                  <a16:creationId xmlns:a16="http://schemas.microsoft.com/office/drawing/2014/main" id="{D14246EC-4CFB-4679-876A-2CD67179C63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1056"/>
              <a:ext cx="374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49" name="Line 47">
              <a:extLst>
                <a:ext uri="{FF2B5EF4-FFF2-40B4-BE49-F238E27FC236}">
                  <a16:creationId xmlns:a16="http://schemas.microsoft.com/office/drawing/2014/main" id="{CDE61BBC-3EBC-4EFB-8254-D7388401105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" y="1536"/>
              <a:ext cx="319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50" name="Line 48">
              <a:extLst>
                <a:ext uri="{FF2B5EF4-FFF2-40B4-BE49-F238E27FC236}">
                  <a16:creationId xmlns:a16="http://schemas.microsoft.com/office/drawing/2014/main" id="{33A3F4C0-EB74-4173-BD1B-19BB729B19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576"/>
              <a:ext cx="192" cy="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51" name="Line 49">
              <a:extLst>
                <a:ext uri="{FF2B5EF4-FFF2-40B4-BE49-F238E27FC236}">
                  <a16:creationId xmlns:a16="http://schemas.microsoft.com/office/drawing/2014/main" id="{BFA98540-6B79-4D6E-AD0D-ABA3090D4F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0"/>
              <a:ext cx="0" cy="576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58" name="AutoShape 64">
            <a:extLst>
              <a:ext uri="{FF2B5EF4-FFF2-40B4-BE49-F238E27FC236}">
                <a16:creationId xmlns:a16="http://schemas.microsoft.com/office/drawing/2014/main" id="{45B411E0-45ED-43EF-A2B2-ADE3AE5BE2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38813" y="5368925"/>
            <a:ext cx="900112" cy="76200"/>
          </a:xfrm>
          <a:prstGeom prst="leftArrow">
            <a:avLst>
              <a:gd name="adj1" fmla="val 50000"/>
              <a:gd name="adj2" fmla="val 294328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59" name="Text Box 65">
            <a:extLst>
              <a:ext uri="{FF2B5EF4-FFF2-40B4-BE49-F238E27FC236}">
                <a16:creationId xmlns:a16="http://schemas.microsoft.com/office/drawing/2014/main" id="{98E2496D-E55A-46A5-8663-3C26D2DB5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3850" y="4956175"/>
            <a:ext cx="22177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FF3300"/>
                </a:solidFill>
                <a:latin typeface="Times New Roman" panose="02020603050405020304" pitchFamily="18" charset="0"/>
              </a:rPr>
              <a:t>读入指令操作码</a:t>
            </a:r>
            <a:r>
              <a:rPr lang="en-US" altLang="zh-CN" sz="1800">
                <a:solidFill>
                  <a:srgbClr val="FF3300"/>
                </a:solidFill>
                <a:latin typeface="Times New Roman" panose="02020603050405020304" pitchFamily="18" charset="0"/>
              </a:rPr>
              <a:t>02H</a:t>
            </a:r>
            <a:r>
              <a:rPr lang="zh-CN" altLang="en-US" sz="1800">
                <a:solidFill>
                  <a:srgbClr val="FF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1800">
                <a:solidFill>
                  <a:srgbClr val="FF3300"/>
                </a:solidFill>
                <a:latin typeface="Times New Roman" panose="02020603050405020304" pitchFamily="18" charset="0"/>
              </a:rPr>
              <a:t>06H</a:t>
            </a:r>
          </a:p>
        </p:txBody>
      </p:sp>
      <p:grpSp>
        <p:nvGrpSpPr>
          <p:cNvPr id="17460" name="组合 17459">
            <a:extLst>
              <a:ext uri="{FF2B5EF4-FFF2-40B4-BE49-F238E27FC236}">
                <a16:creationId xmlns:a16="http://schemas.microsoft.com/office/drawing/2014/main" id="{2671BC8D-4BA3-4F61-9336-5651CFC7AC1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02025" y="5229225"/>
            <a:ext cx="1343025" cy="446088"/>
            <a:chOff x="0" y="0"/>
            <a:chExt cx="846" cy="281"/>
          </a:xfrm>
        </p:grpSpPr>
        <p:grpSp>
          <p:nvGrpSpPr>
            <p:cNvPr id="65637" name="组合 17460">
              <a:extLst>
                <a:ext uri="{FF2B5EF4-FFF2-40B4-BE49-F238E27FC236}">
                  <a16:creationId xmlns:a16="http://schemas.microsoft.com/office/drawing/2014/main" id="{D05FDF8D-B413-43A9-8F5C-3D25970C8E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0"/>
              <a:ext cx="846" cy="265"/>
              <a:chOff x="0" y="0"/>
              <a:chExt cx="846" cy="265"/>
            </a:xfrm>
          </p:grpSpPr>
          <p:sp>
            <p:nvSpPr>
              <p:cNvPr id="65639" name="Line 67">
                <a:extLst>
                  <a:ext uri="{FF2B5EF4-FFF2-40B4-BE49-F238E27FC236}">
                    <a16:creationId xmlns:a16="http://schemas.microsoft.com/office/drawing/2014/main" id="{6DCAA784-7CA2-414A-8DF1-92730E6F658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53" y="263"/>
                <a:ext cx="417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0" name="Line 68">
                <a:extLst>
                  <a:ext uri="{FF2B5EF4-FFF2-40B4-BE49-F238E27FC236}">
                    <a16:creationId xmlns:a16="http://schemas.microsoft.com/office/drawing/2014/main" id="{F7877C99-49C4-435E-9A18-8C6EF974B10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0" y="2"/>
                <a:ext cx="246" cy="26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1" name="Line 69">
                <a:extLst>
                  <a:ext uri="{FF2B5EF4-FFF2-40B4-BE49-F238E27FC236}">
                    <a16:creationId xmlns:a16="http://schemas.microsoft.com/office/drawing/2014/main" id="{5C8B1A69-6068-43DF-99CA-AF687F9873D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" y="4"/>
                <a:ext cx="213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2" name="Line 70">
                <a:extLst>
                  <a:ext uri="{FF2B5EF4-FFF2-40B4-BE49-F238E27FC236}">
                    <a16:creationId xmlns:a16="http://schemas.microsoft.com/office/drawing/2014/main" id="{47247975-7712-4030-A729-1F92720F912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" y="2"/>
                <a:ext cx="115" cy="10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3" name="Line 71">
                <a:extLst>
                  <a:ext uri="{FF2B5EF4-FFF2-40B4-BE49-F238E27FC236}">
                    <a16:creationId xmlns:a16="http://schemas.microsoft.com/office/drawing/2014/main" id="{69332425-F7C9-4E34-A6E1-3CE7F21C0CC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5" y="100"/>
                <a:ext cx="17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4" name="Line 72">
                <a:extLst>
                  <a:ext uri="{FF2B5EF4-FFF2-40B4-BE49-F238E27FC236}">
                    <a16:creationId xmlns:a16="http://schemas.microsoft.com/office/drawing/2014/main" id="{CDA9A55F-1C76-46FF-A2F0-089DBA7BB9A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529" y="0"/>
                <a:ext cx="133" cy="1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5" name="Line 73">
                <a:extLst>
                  <a:ext uri="{FF2B5EF4-FFF2-40B4-BE49-F238E27FC236}">
                    <a16:creationId xmlns:a16="http://schemas.microsoft.com/office/drawing/2014/main" id="{D5C1A0C5-BA88-4BDB-8352-326EE401AE8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2" y="8"/>
                <a:ext cx="19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6" name="Line 74">
                <a:extLst>
                  <a:ext uri="{FF2B5EF4-FFF2-40B4-BE49-F238E27FC236}">
                    <a16:creationId xmlns:a16="http://schemas.microsoft.com/office/drawing/2014/main" id="{ACA25AAC-242D-41D0-9D3D-1DEBF0A2F16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662" y="12"/>
                <a:ext cx="180" cy="25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5638" name="Text Box 75">
              <a:extLst>
                <a:ext uri="{FF2B5EF4-FFF2-40B4-BE49-F238E27FC236}">
                  <a16:creationId xmlns:a16="http://schemas.microsoft.com/office/drawing/2014/main" id="{D556F279-DA4D-4157-9805-2AD88B04B18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3" y="54"/>
              <a:ext cx="432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solidFill>
                    <a:srgbClr val="FF3300"/>
                  </a:solidFill>
                  <a:latin typeface="Times New Roman" panose="02020603050405020304" pitchFamily="18" charset="0"/>
                </a:rPr>
                <a:t>ALU</a:t>
              </a:r>
            </a:p>
          </p:txBody>
        </p:sp>
      </p:grpSp>
      <p:sp>
        <p:nvSpPr>
          <p:cNvPr id="17471" name="Rectangle 76">
            <a:extLst>
              <a:ext uri="{FF2B5EF4-FFF2-40B4-BE49-F238E27FC236}">
                <a16:creationId xmlns:a16="http://schemas.microsoft.com/office/drawing/2014/main" id="{60A3DAE5-F7C4-4A6F-9360-578278519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275" y="1412875"/>
            <a:ext cx="755650" cy="252413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 b="0">
                <a:latin typeface="Times New Roman" panose="02020603050405020304" pitchFamily="18" charset="0"/>
              </a:rPr>
              <a:t>AL</a:t>
            </a:r>
          </a:p>
        </p:txBody>
      </p:sp>
      <p:sp>
        <p:nvSpPr>
          <p:cNvPr id="17472" name="Rectangle 77">
            <a:extLst>
              <a:ext uri="{FF2B5EF4-FFF2-40B4-BE49-F238E27FC236}">
                <a16:creationId xmlns:a16="http://schemas.microsoft.com/office/drawing/2014/main" id="{9C3418B9-D392-4E3B-836B-20865B93F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412875"/>
            <a:ext cx="755650" cy="252413"/>
          </a:xfrm>
          <a:prstGeom prst="rect">
            <a:avLst/>
          </a:prstGeom>
          <a:solidFill>
            <a:schemeClr val="hlink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 b="0">
                <a:latin typeface="Times New Roman" panose="02020603050405020304" pitchFamily="18" charset="0"/>
              </a:rPr>
              <a:t>AL</a:t>
            </a:r>
          </a:p>
        </p:txBody>
      </p:sp>
      <p:sp>
        <p:nvSpPr>
          <p:cNvPr id="17473" name="AutoShape 78">
            <a:extLst>
              <a:ext uri="{FF2B5EF4-FFF2-40B4-BE49-F238E27FC236}">
                <a16:creationId xmlns:a16="http://schemas.microsoft.com/office/drawing/2014/main" id="{EE8A05E4-3657-4087-84C0-950B0164EC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98950" y="3803650"/>
            <a:ext cx="254000" cy="392113"/>
          </a:xfrm>
          <a:prstGeom prst="upDownArrow">
            <a:avLst>
              <a:gd name="adj1" fmla="val 50000"/>
              <a:gd name="adj2" fmla="val 30746"/>
            </a:avLst>
          </a:prstGeom>
          <a:solidFill>
            <a:srgbClr val="FF00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74" name="AutoShape 79">
            <a:extLst>
              <a:ext uri="{FF2B5EF4-FFF2-40B4-BE49-F238E27FC236}">
                <a16:creationId xmlns:a16="http://schemas.microsoft.com/office/drawing/2014/main" id="{F1BCFC7B-526B-47C5-B361-A11F2D5E56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8763" y="4308475"/>
            <a:ext cx="204787" cy="323850"/>
          </a:xfrm>
          <a:prstGeom prst="upDownArrow">
            <a:avLst>
              <a:gd name="adj1" fmla="val 50000"/>
              <a:gd name="adj2" fmla="val 31496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75" name="Text Box 81">
            <a:extLst>
              <a:ext uri="{FF2B5EF4-FFF2-40B4-BE49-F238E27FC236}">
                <a16:creationId xmlns:a16="http://schemas.microsoft.com/office/drawing/2014/main" id="{A9304A01-5E2D-4750-91B3-93B5EDE82C1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94100" y="4616450"/>
            <a:ext cx="1198563" cy="323850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暂 存 器</a:t>
            </a:r>
          </a:p>
        </p:txBody>
      </p:sp>
      <p:sp>
        <p:nvSpPr>
          <p:cNvPr id="17476" name="AutoShape 82">
            <a:extLst>
              <a:ext uri="{FF2B5EF4-FFF2-40B4-BE49-F238E27FC236}">
                <a16:creationId xmlns:a16="http://schemas.microsoft.com/office/drawing/2014/main" id="{68DB3CA7-E635-4626-A060-F08889BE3B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70300" y="4951413"/>
            <a:ext cx="225425" cy="277812"/>
          </a:xfrm>
          <a:prstGeom prst="downArrow">
            <a:avLst>
              <a:gd name="adj1" fmla="val 50000"/>
              <a:gd name="adj2" fmla="val 3070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17477" name="组合 17476">
            <a:extLst>
              <a:ext uri="{FF2B5EF4-FFF2-40B4-BE49-F238E27FC236}">
                <a16:creationId xmlns:a16="http://schemas.microsoft.com/office/drawing/2014/main" id="{1A45B44D-0798-401C-94BE-C3F4D71D238D}"/>
              </a:ext>
            </a:extLst>
          </p:cNvPr>
          <p:cNvGrpSpPr>
            <a:grpSpLocks/>
          </p:cNvGrpSpPr>
          <p:nvPr/>
        </p:nvGrpSpPr>
        <p:grpSpPr bwMode="auto">
          <a:xfrm>
            <a:off x="3290888" y="5661025"/>
            <a:ext cx="1057275" cy="336550"/>
            <a:chOff x="0" y="0"/>
            <a:chExt cx="666" cy="212"/>
          </a:xfrm>
        </p:grpSpPr>
        <p:sp>
          <p:nvSpPr>
            <p:cNvPr id="65635" name="AutoShape 86">
              <a:extLst>
                <a:ext uri="{FF2B5EF4-FFF2-40B4-BE49-F238E27FC236}">
                  <a16:creationId xmlns:a16="http://schemas.microsoft.com/office/drawing/2014/main" id="{06092A30-1389-4B60-A897-1D0A7D9ED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" y="0"/>
              <a:ext cx="167" cy="168"/>
            </a:xfrm>
            <a:prstGeom prst="upArrow">
              <a:avLst>
                <a:gd name="adj1" fmla="val 50000"/>
                <a:gd name="adj2" fmla="val 25066"/>
              </a:avLst>
            </a:prstGeom>
            <a:solidFill>
              <a:schemeClr val="hlink"/>
            </a:solidFill>
            <a:ln w="28575">
              <a:solidFill>
                <a:schemeClr val="hlink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36" name="AutoShape 87">
              <a:extLst>
                <a:ext uri="{FF2B5EF4-FFF2-40B4-BE49-F238E27FC236}">
                  <a16:creationId xmlns:a16="http://schemas.microsoft.com/office/drawing/2014/main" id="{FCD78C44-029B-4C4C-BFC0-688D6C506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8"/>
              <a:ext cx="624" cy="144"/>
            </a:xfrm>
            <a:prstGeom prst="leftArrow">
              <a:avLst>
                <a:gd name="adj1" fmla="val 50000"/>
                <a:gd name="adj2" fmla="val 107972"/>
              </a:avLst>
            </a:prstGeom>
            <a:solidFill>
              <a:schemeClr val="hlink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17480" name="AutoShape 91">
            <a:extLst>
              <a:ext uri="{FF2B5EF4-FFF2-40B4-BE49-F238E27FC236}">
                <a16:creationId xmlns:a16="http://schemas.microsoft.com/office/drawing/2014/main" id="{12035A1A-E677-428E-B788-240D37AF9A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46425" y="4292600"/>
            <a:ext cx="207963" cy="2214563"/>
          </a:xfrm>
          <a:prstGeom prst="upDownArrow">
            <a:avLst>
              <a:gd name="adj1" fmla="val 60000"/>
              <a:gd name="adj2" fmla="val 168902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81" name="AutoShape 92">
            <a:extLst>
              <a:ext uri="{FF2B5EF4-FFF2-40B4-BE49-F238E27FC236}">
                <a16:creationId xmlns:a16="http://schemas.microsoft.com/office/drawing/2014/main" id="{F9DA39A0-7EBF-4A90-B319-DDE8A044DC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1775" y="4135438"/>
            <a:ext cx="5919788" cy="246062"/>
          </a:xfrm>
          <a:prstGeom prst="leftRightArrow">
            <a:avLst>
              <a:gd name="adj1" fmla="val 57435"/>
              <a:gd name="adj2" fmla="val 164843"/>
            </a:avLst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82" name="Text Box 94">
            <a:extLst>
              <a:ext uri="{FF2B5EF4-FFF2-40B4-BE49-F238E27FC236}">
                <a16:creationId xmlns:a16="http://schemas.microsoft.com/office/drawing/2014/main" id="{BAD4C422-8F95-47D5-9650-9AED9CB3E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3644900"/>
            <a:ext cx="3006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将数据地址偏移量交给 </a:t>
            </a: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</a:rPr>
              <a:t>BIU </a:t>
            </a:r>
          </a:p>
        </p:txBody>
      </p:sp>
      <p:sp>
        <p:nvSpPr>
          <p:cNvPr id="17483" name="AutoShape 95">
            <a:extLst>
              <a:ext uri="{FF2B5EF4-FFF2-40B4-BE49-F238E27FC236}">
                <a16:creationId xmlns:a16="http://schemas.microsoft.com/office/drawing/2014/main" id="{CF269D4E-605E-4C2D-AE96-E7288FEF21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1775" y="4135438"/>
            <a:ext cx="5919788" cy="246062"/>
          </a:xfrm>
          <a:prstGeom prst="leftRightArrow">
            <a:avLst>
              <a:gd name="adj1" fmla="val 57435"/>
              <a:gd name="adj2" fmla="val 164843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84" name="Text Box 97">
            <a:extLst>
              <a:ext uri="{FF2B5EF4-FFF2-40B4-BE49-F238E27FC236}">
                <a16:creationId xmlns:a16="http://schemas.microsoft.com/office/drawing/2014/main" id="{F46012DE-6CDE-4283-BB0A-08BDFB69C3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8225" y="4610100"/>
            <a:ext cx="1198563" cy="323850"/>
          </a:xfrm>
          <a:prstGeom prst="rect">
            <a:avLst/>
          </a:prstGeom>
          <a:solidFill>
            <a:schemeClr val="hlink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暂 存 器</a:t>
            </a:r>
          </a:p>
        </p:txBody>
      </p:sp>
      <p:sp>
        <p:nvSpPr>
          <p:cNvPr id="17485" name="AutoShape 99">
            <a:extLst>
              <a:ext uri="{FF2B5EF4-FFF2-40B4-BE49-F238E27FC236}">
                <a16:creationId xmlns:a16="http://schemas.microsoft.com/office/drawing/2014/main" id="{4F546A41-FC29-41FB-8049-3B63DCEB4A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57713" y="4941888"/>
            <a:ext cx="227012" cy="277812"/>
          </a:xfrm>
          <a:prstGeom prst="downArrow">
            <a:avLst>
              <a:gd name="adj1" fmla="val 50000"/>
              <a:gd name="adj2" fmla="val 30492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86" name="AutoShape 100">
            <a:extLst>
              <a:ext uri="{FF2B5EF4-FFF2-40B4-BE49-F238E27FC236}">
                <a16:creationId xmlns:a16="http://schemas.microsoft.com/office/drawing/2014/main" id="{C5E75533-AE1F-427F-A6C0-6BE67E85F5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8763" y="4306888"/>
            <a:ext cx="204787" cy="323850"/>
          </a:xfrm>
          <a:prstGeom prst="upDownArrow">
            <a:avLst>
              <a:gd name="adj1" fmla="val 50000"/>
              <a:gd name="adj2" fmla="val 31496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17487" name="组合 17486">
            <a:extLst>
              <a:ext uri="{FF2B5EF4-FFF2-40B4-BE49-F238E27FC236}">
                <a16:creationId xmlns:a16="http://schemas.microsoft.com/office/drawing/2014/main" id="{82E7E275-A9F5-483F-9883-AF5A76F69A6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06788" y="5229225"/>
            <a:ext cx="1343025" cy="446088"/>
            <a:chOff x="0" y="0"/>
            <a:chExt cx="846" cy="281"/>
          </a:xfrm>
        </p:grpSpPr>
        <p:grpSp>
          <p:nvGrpSpPr>
            <p:cNvPr id="65625" name="组合 17487">
              <a:extLst>
                <a:ext uri="{FF2B5EF4-FFF2-40B4-BE49-F238E27FC236}">
                  <a16:creationId xmlns:a16="http://schemas.microsoft.com/office/drawing/2014/main" id="{B46D172C-A88F-4565-B94F-22E5F7864A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0"/>
              <a:ext cx="846" cy="265"/>
              <a:chOff x="0" y="0"/>
              <a:chExt cx="846" cy="265"/>
            </a:xfrm>
          </p:grpSpPr>
          <p:sp>
            <p:nvSpPr>
              <p:cNvPr id="65627" name="Line 103">
                <a:extLst>
                  <a:ext uri="{FF2B5EF4-FFF2-40B4-BE49-F238E27FC236}">
                    <a16:creationId xmlns:a16="http://schemas.microsoft.com/office/drawing/2014/main" id="{75A2253A-CB06-4636-AA75-3FA9800A10B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53" y="263"/>
                <a:ext cx="417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28" name="Line 104">
                <a:extLst>
                  <a:ext uri="{FF2B5EF4-FFF2-40B4-BE49-F238E27FC236}">
                    <a16:creationId xmlns:a16="http://schemas.microsoft.com/office/drawing/2014/main" id="{44028E4B-725C-47EB-AD04-41D1AA20071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0" y="2"/>
                <a:ext cx="246" cy="263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29" name="Line 105">
                <a:extLst>
                  <a:ext uri="{FF2B5EF4-FFF2-40B4-BE49-F238E27FC236}">
                    <a16:creationId xmlns:a16="http://schemas.microsoft.com/office/drawing/2014/main" id="{BA9EA0ED-2CB8-4A11-B6F9-78BED97DD4F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" y="4"/>
                <a:ext cx="213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30" name="Line 106">
                <a:extLst>
                  <a:ext uri="{FF2B5EF4-FFF2-40B4-BE49-F238E27FC236}">
                    <a16:creationId xmlns:a16="http://schemas.microsoft.com/office/drawing/2014/main" id="{1CA64966-1B49-4EFC-96A6-86F788D89F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" y="2"/>
                <a:ext cx="115" cy="102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31" name="Line 107">
                <a:extLst>
                  <a:ext uri="{FF2B5EF4-FFF2-40B4-BE49-F238E27FC236}">
                    <a16:creationId xmlns:a16="http://schemas.microsoft.com/office/drawing/2014/main" id="{C8746E9F-E55D-4C88-A095-EF636311CD1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5" y="100"/>
                <a:ext cx="174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32" name="Line 108">
                <a:extLst>
                  <a:ext uri="{FF2B5EF4-FFF2-40B4-BE49-F238E27FC236}">
                    <a16:creationId xmlns:a16="http://schemas.microsoft.com/office/drawing/2014/main" id="{FFD3570D-041B-4C9E-8F59-1B9167257D9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529" y="0"/>
                <a:ext cx="133" cy="10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33" name="Line 109">
                <a:extLst>
                  <a:ext uri="{FF2B5EF4-FFF2-40B4-BE49-F238E27FC236}">
                    <a16:creationId xmlns:a16="http://schemas.microsoft.com/office/drawing/2014/main" id="{BB920C9F-BE78-47D4-A3AF-792D17A2F37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2" y="8"/>
                <a:ext cx="194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34" name="Line 110">
                <a:extLst>
                  <a:ext uri="{FF2B5EF4-FFF2-40B4-BE49-F238E27FC236}">
                    <a16:creationId xmlns:a16="http://schemas.microsoft.com/office/drawing/2014/main" id="{7C7DBA96-9601-41F9-A62C-26D1ECDA99B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662" y="12"/>
                <a:ext cx="180" cy="251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5626" name="Text Box 111">
              <a:extLst>
                <a:ext uri="{FF2B5EF4-FFF2-40B4-BE49-F238E27FC236}">
                  <a16:creationId xmlns:a16="http://schemas.microsoft.com/office/drawing/2014/main" id="{01477F5F-0A1E-4746-96AB-E5930786E08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6" y="54"/>
              <a:ext cx="432" cy="227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solidFill>
                    <a:srgbClr val="FF3300"/>
                  </a:solidFill>
                  <a:latin typeface="Times New Roman" panose="02020603050405020304" pitchFamily="18" charset="0"/>
                </a:rPr>
                <a:t>ALU</a:t>
              </a:r>
            </a:p>
          </p:txBody>
        </p:sp>
      </p:grpSp>
      <p:sp>
        <p:nvSpPr>
          <p:cNvPr id="17498" name="AutoShape 116">
            <a:extLst>
              <a:ext uri="{FF2B5EF4-FFF2-40B4-BE49-F238E27FC236}">
                <a16:creationId xmlns:a16="http://schemas.microsoft.com/office/drawing/2014/main" id="{3EB1B061-4DB5-4A60-8CCD-23B5574F7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5618163"/>
            <a:ext cx="76200" cy="457200"/>
          </a:xfrm>
          <a:prstGeom prst="downArrow">
            <a:avLst>
              <a:gd name="adj1" fmla="val 50000"/>
              <a:gd name="adj2" fmla="val 15000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99" name="Text Box 117">
            <a:extLst>
              <a:ext uri="{FF2B5EF4-FFF2-40B4-BE49-F238E27FC236}">
                <a16:creationId xmlns:a16="http://schemas.microsoft.com/office/drawing/2014/main" id="{58725A84-14F5-4003-AFD2-E1A8709B99F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94100" y="6064250"/>
            <a:ext cx="1198563" cy="323850"/>
          </a:xfrm>
          <a:prstGeom prst="rect">
            <a:avLst/>
          </a:prstGeom>
          <a:solidFill>
            <a:srgbClr val="FF99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标志寄存器</a:t>
            </a:r>
          </a:p>
        </p:txBody>
      </p:sp>
      <p:sp>
        <p:nvSpPr>
          <p:cNvPr id="17500" name="Text Box 118">
            <a:extLst>
              <a:ext uri="{FF2B5EF4-FFF2-40B4-BE49-F238E27FC236}">
                <a16:creationId xmlns:a16="http://schemas.microsoft.com/office/drawing/2014/main" id="{89E40508-6A5F-476E-8D17-84AFA950E2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21300" y="4538663"/>
            <a:ext cx="401638" cy="1833562"/>
          </a:xfrm>
          <a:prstGeom prst="rect">
            <a:avLst/>
          </a:prstGeom>
          <a:solidFill>
            <a:srgbClr val="FFFF99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EU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grpSp>
        <p:nvGrpSpPr>
          <p:cNvPr id="17501" name="组合 17500">
            <a:extLst>
              <a:ext uri="{FF2B5EF4-FFF2-40B4-BE49-F238E27FC236}">
                <a16:creationId xmlns:a16="http://schemas.microsoft.com/office/drawing/2014/main" id="{27217E68-66C7-4C18-A91B-AD08A4A5F605}"/>
              </a:ext>
            </a:extLst>
          </p:cNvPr>
          <p:cNvGrpSpPr>
            <a:grpSpLocks/>
          </p:cNvGrpSpPr>
          <p:nvPr/>
        </p:nvGrpSpPr>
        <p:grpSpPr bwMode="auto">
          <a:xfrm>
            <a:off x="5038725" y="3778250"/>
            <a:ext cx="304800" cy="914400"/>
            <a:chOff x="0" y="0"/>
            <a:chExt cx="192" cy="576"/>
          </a:xfrm>
        </p:grpSpPr>
        <p:sp>
          <p:nvSpPr>
            <p:cNvPr id="65623" name="Line 123">
              <a:extLst>
                <a:ext uri="{FF2B5EF4-FFF2-40B4-BE49-F238E27FC236}">
                  <a16:creationId xmlns:a16="http://schemas.microsoft.com/office/drawing/2014/main" id="{85D1F8BB-2112-4C37-BC2E-13D8D220EE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576"/>
              <a:ext cx="19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24" name="Line 124">
              <a:extLst>
                <a:ext uri="{FF2B5EF4-FFF2-40B4-BE49-F238E27FC236}">
                  <a16:creationId xmlns:a16="http://schemas.microsoft.com/office/drawing/2014/main" id="{28783CAD-3A62-4C6E-80D0-BBC6787A49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0"/>
              <a:ext cx="0" cy="57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504" name="AutoShape 126">
            <a:extLst>
              <a:ext uri="{FF2B5EF4-FFF2-40B4-BE49-F238E27FC236}">
                <a16:creationId xmlns:a16="http://schemas.microsoft.com/office/drawing/2014/main" id="{33086E03-D883-4794-8E73-2C62A57E42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56325" y="4306888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505" name="Rectangle 127">
            <a:extLst>
              <a:ext uri="{FF2B5EF4-FFF2-40B4-BE49-F238E27FC236}">
                <a16:creationId xmlns:a16="http://schemas.microsoft.com/office/drawing/2014/main" id="{8ED40D4B-A64E-4906-8ABB-3982BFEE3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5445125"/>
            <a:ext cx="218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2"/>
                </a:solidFill>
                <a:latin typeface="Garamond" panose="02020404030301010803" pitchFamily="18" charset="0"/>
              </a:rPr>
              <a:t>读入偏移地址 </a:t>
            </a:r>
            <a:r>
              <a:rPr lang="en-US" altLang="zh-CN" sz="1800">
                <a:solidFill>
                  <a:schemeClr val="tx2"/>
                </a:solidFill>
                <a:latin typeface="Garamond" panose="02020404030301010803" pitchFamily="18" charset="0"/>
              </a:rPr>
              <a:t>100H </a:t>
            </a:r>
            <a:endParaRPr lang="zh-CN" altLang="en-US" sz="180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7506" name="Text Box 128">
            <a:extLst>
              <a:ext uri="{FF2B5EF4-FFF2-40B4-BE49-F238E27FC236}">
                <a16:creationId xmlns:a16="http://schemas.microsoft.com/office/drawing/2014/main" id="{2D6B5439-4BEC-4C21-AB78-F74B16AB3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1950" y="3878263"/>
            <a:ext cx="28749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存储器中数据由</a:t>
            </a:r>
            <a:r>
              <a:rPr lang="en-US" altLang="zh-CN" sz="1800">
                <a:latin typeface="Times New Roman" panose="02020603050405020304" pitchFamily="18" charset="0"/>
              </a:rPr>
              <a:t>BIU</a:t>
            </a:r>
            <a:r>
              <a:rPr lang="zh-CN" altLang="en-US" sz="1800">
                <a:latin typeface="Times New Roman" panose="02020603050405020304" pitchFamily="18" charset="0"/>
              </a:rPr>
              <a:t>读入 </a:t>
            </a:r>
          </a:p>
        </p:txBody>
      </p:sp>
      <p:sp>
        <p:nvSpPr>
          <p:cNvPr id="17507" name="Rectangle 129">
            <a:extLst>
              <a:ext uri="{FF2B5EF4-FFF2-40B4-BE49-F238E27FC236}">
                <a16:creationId xmlns:a16="http://schemas.microsoft.com/office/drawing/2014/main" id="{82BEEA0C-B40D-43BB-BFF6-EE8DADF7A87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026150" y="1255713"/>
            <a:ext cx="2865438" cy="14414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b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EU完成操作：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b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1)取指令控制和时序控制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b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2）ALU完成各种算术和逻辑运算</a:t>
            </a:r>
          </a:p>
        </p:txBody>
      </p:sp>
      <p:sp>
        <p:nvSpPr>
          <p:cNvPr id="17508" name="Text Box 130">
            <a:extLst>
              <a:ext uri="{FF2B5EF4-FFF2-40B4-BE49-F238E27FC236}">
                <a16:creationId xmlns:a16="http://schemas.microsoft.com/office/drawing/2014/main" id="{C580E0EF-E9E2-4806-89DD-E8CE47CCB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557338"/>
            <a:ext cx="2305050" cy="169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例 </a:t>
            </a:r>
            <a:r>
              <a:rPr lang="en-US" altLang="zh-CN" sz="2000">
                <a:latin typeface="Times New Roman" panose="02020603050405020304" pitchFamily="18" charset="0"/>
              </a:rPr>
              <a:t>EU</a:t>
            </a:r>
            <a:r>
              <a:rPr lang="zh-CN" altLang="en-US" sz="2000">
                <a:latin typeface="Times New Roman" panose="02020603050405020304" pitchFamily="18" charset="0"/>
              </a:rPr>
              <a:t>执行以下指令</a:t>
            </a:r>
            <a:r>
              <a:rPr lang="en-US" altLang="zh-CN" sz="200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MOV  AL</a:t>
            </a:r>
            <a:r>
              <a:rPr lang="zh-CN" altLang="en-US" sz="2000">
                <a:latin typeface="Times New Roman" panose="02020603050405020304" pitchFamily="18" charset="0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</a:rPr>
              <a:t>5CH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ADD  AL</a:t>
            </a:r>
            <a:r>
              <a:rPr lang="zh-CN" altLang="en-US" sz="2000">
                <a:latin typeface="Times New Roman" panose="02020603050405020304" pitchFamily="18" charset="0"/>
              </a:rPr>
              <a:t>，</a:t>
            </a:r>
            <a:r>
              <a:rPr lang="en-US" altLang="zh-CN" sz="2000">
                <a:latin typeface="Garamond" panose="02020404030301010803" pitchFamily="18" charset="0"/>
              </a:rPr>
              <a:t>[100H]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执行的操作为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将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16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进制数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5CH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送到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8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位寄存器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AL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中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, 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将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AL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中的值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(5CH)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与存储器数据段中偏移量为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100H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的数据相加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,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结果存入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  <a:sym typeface="Arial" panose="020B0604020202020204" pitchFamily="34" charset="0"/>
              </a:rPr>
              <a:t>AL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  <a:sym typeface="Arial" panose="020B0604020202020204" pitchFamily="34" charset="0"/>
              </a:rPr>
              <a:t>中。</a:t>
            </a:r>
          </a:p>
        </p:txBody>
      </p:sp>
      <p:sp>
        <p:nvSpPr>
          <p:cNvPr id="17509" name="AutoShape 132">
            <a:extLst>
              <a:ext uri="{FF2B5EF4-FFF2-40B4-BE49-F238E27FC236}">
                <a16:creationId xmlns:a16="http://schemas.microsoft.com/office/drawing/2014/main" id="{F8C57FD8-1767-458D-B6DE-8845C60EF2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57913" y="4311650"/>
            <a:ext cx="95250" cy="1084263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510" name="Rectangle 133">
            <a:extLst>
              <a:ext uri="{FF2B5EF4-FFF2-40B4-BE49-F238E27FC236}">
                <a16:creationId xmlns:a16="http://schemas.microsoft.com/office/drawing/2014/main" id="{26A216E8-4B22-4F87-8673-93D1DBF64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1411288"/>
            <a:ext cx="755650" cy="252412"/>
          </a:xfrm>
          <a:prstGeom prst="rect">
            <a:avLst/>
          </a:prstGeom>
          <a:solidFill>
            <a:srgbClr val="FF00FF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 b="0">
                <a:latin typeface="Times New Roman" panose="02020603050405020304" pitchFamily="18" charset="0"/>
              </a:rPr>
              <a:t>AL</a:t>
            </a:r>
          </a:p>
        </p:txBody>
      </p:sp>
      <p:sp>
        <p:nvSpPr>
          <p:cNvPr id="17511" name="AutoShape 134">
            <a:extLst>
              <a:ext uri="{FF2B5EF4-FFF2-40B4-BE49-F238E27FC236}">
                <a16:creationId xmlns:a16="http://schemas.microsoft.com/office/drawing/2014/main" id="{5B076DC0-735F-4A9D-AC81-D530C87D38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24525" y="5373688"/>
            <a:ext cx="900113" cy="76200"/>
          </a:xfrm>
          <a:prstGeom prst="leftArrow">
            <a:avLst>
              <a:gd name="adj1" fmla="val 50000"/>
              <a:gd name="adj2" fmla="val 294328"/>
            </a:avLst>
          </a:prstGeom>
          <a:solidFill>
            <a:srgbClr val="FF00FF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512" name="Rectangle 135">
            <a:extLst>
              <a:ext uri="{FF2B5EF4-FFF2-40B4-BE49-F238E27FC236}">
                <a16:creationId xmlns:a16="http://schemas.microsoft.com/office/drawing/2014/main" id="{F68ABB54-B38F-4FD0-8AB0-DE625488A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75" y="4508500"/>
            <a:ext cx="2314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2"/>
                </a:solidFill>
                <a:latin typeface="Garamond" panose="02020404030301010803" pitchFamily="18" charset="0"/>
              </a:rPr>
              <a:t>读入</a:t>
            </a:r>
            <a:r>
              <a:rPr lang="zh-CN" altLang="en-US" sz="1800">
                <a:latin typeface="Garamond" panose="02020404030301010803" pitchFamily="18" charset="0"/>
              </a:rPr>
              <a:t>指令</a:t>
            </a:r>
            <a:r>
              <a:rPr lang="zh-CN" altLang="en-US" sz="1800">
                <a:solidFill>
                  <a:schemeClr val="tx2"/>
                </a:solidFill>
                <a:latin typeface="Garamond" panose="02020404030301010803" pitchFamily="18" charset="0"/>
              </a:rPr>
              <a:t>操作码</a:t>
            </a:r>
            <a:r>
              <a:rPr lang="en-US" altLang="zh-CN" sz="1800">
                <a:solidFill>
                  <a:schemeClr val="tx2"/>
                </a:solidFill>
                <a:latin typeface="Garamond" panose="02020404030301010803" pitchFamily="18" charset="0"/>
              </a:rPr>
              <a:t>B0H </a:t>
            </a:r>
            <a:endParaRPr lang="zh-CN" altLang="en-US" sz="180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7513" name="Rectangle 136">
            <a:extLst>
              <a:ext uri="{FF2B5EF4-FFF2-40B4-BE49-F238E27FC236}">
                <a16:creationId xmlns:a16="http://schemas.microsoft.com/office/drawing/2014/main" id="{13F03AEB-AF3B-4C95-B718-D5652D226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75" y="4738688"/>
            <a:ext cx="191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hlink"/>
                </a:solidFill>
                <a:latin typeface="Garamond" panose="02020404030301010803" pitchFamily="18" charset="0"/>
              </a:rPr>
              <a:t>读入操作数 </a:t>
            </a:r>
            <a:r>
              <a:rPr lang="en-US" altLang="zh-CN" sz="1800">
                <a:solidFill>
                  <a:schemeClr val="hlink"/>
                </a:solidFill>
                <a:latin typeface="Garamond" panose="02020404030301010803" pitchFamily="18" charset="0"/>
              </a:rPr>
              <a:t>5CH </a:t>
            </a:r>
            <a:endParaRPr lang="zh-CN" altLang="en-US" sz="1800">
              <a:solidFill>
                <a:schemeClr val="hlink"/>
              </a:solidFill>
              <a:latin typeface="Garamond" panose="02020404030301010803" pitchFamily="18" charset="0"/>
            </a:endParaRPr>
          </a:p>
        </p:txBody>
      </p:sp>
      <p:sp>
        <p:nvSpPr>
          <p:cNvPr id="17514" name="Text Box 137">
            <a:extLst>
              <a:ext uri="{FF2B5EF4-FFF2-40B4-BE49-F238E27FC236}">
                <a16:creationId xmlns:a16="http://schemas.microsoft.com/office/drawing/2014/main" id="{4D4CFAE3-72BE-4958-A05A-B41984BBD1E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21300" y="4548188"/>
            <a:ext cx="403225" cy="1833562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EU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sp>
        <p:nvSpPr>
          <p:cNvPr id="17515" name="AutoShape 142">
            <a:extLst>
              <a:ext uri="{FF2B5EF4-FFF2-40B4-BE49-F238E27FC236}">
                <a16:creationId xmlns:a16="http://schemas.microsoft.com/office/drawing/2014/main" id="{01B826B5-47B5-4744-A9F6-048AEDF72C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1775" y="4138613"/>
            <a:ext cx="5919788" cy="246062"/>
          </a:xfrm>
          <a:prstGeom prst="leftRightArrow">
            <a:avLst>
              <a:gd name="adj1" fmla="val 57435"/>
              <a:gd name="adj2" fmla="val 164843"/>
            </a:avLst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516" name="AutoShape 143">
            <a:extLst>
              <a:ext uri="{FF2B5EF4-FFF2-40B4-BE49-F238E27FC236}">
                <a16:creationId xmlns:a16="http://schemas.microsoft.com/office/drawing/2014/main" id="{89F517C8-226D-4E99-B5B9-3B782EC5C5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13238" y="3806825"/>
            <a:ext cx="254000" cy="392113"/>
          </a:xfrm>
          <a:prstGeom prst="upDownArrow">
            <a:avLst>
              <a:gd name="adj1" fmla="val 50000"/>
              <a:gd name="adj2" fmla="val 30746"/>
            </a:avLst>
          </a:prstGeom>
          <a:solidFill>
            <a:srgbClr val="FF00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17517" name="组合 17516">
            <a:extLst>
              <a:ext uri="{FF2B5EF4-FFF2-40B4-BE49-F238E27FC236}">
                <a16:creationId xmlns:a16="http://schemas.microsoft.com/office/drawing/2014/main" id="{8D9E02D8-402D-44C3-B2FC-366C694C650F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005263"/>
            <a:ext cx="1331913" cy="2736850"/>
            <a:chOff x="0" y="0"/>
            <a:chExt cx="839" cy="1724"/>
          </a:xfrm>
        </p:grpSpPr>
        <p:sp>
          <p:nvSpPr>
            <p:cNvPr id="65607" name="Text Box 63">
              <a:extLst>
                <a:ext uri="{FF2B5EF4-FFF2-40B4-BE49-F238E27FC236}">
                  <a16:creationId xmlns:a16="http://schemas.microsoft.com/office/drawing/2014/main" id="{B218A2F7-ED69-42A9-97FC-641F57BD0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83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内存储器</a:t>
              </a:r>
            </a:p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（</a:t>
              </a:r>
              <a:r>
                <a:rPr lang="zh-CN" altLang="en-US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程序段</a:t>
              </a:r>
              <a:r>
                <a:rPr lang="zh-CN" altLang="en-US" sz="2000">
                  <a:latin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65608" name="AutoShape 52">
              <a:extLst>
                <a:ext uri="{FF2B5EF4-FFF2-40B4-BE49-F238E27FC236}">
                  <a16:creationId xmlns:a16="http://schemas.microsoft.com/office/drawing/2014/main" id="{3C9F5DCA-ADC4-45F8-9FA0-B24C54966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474"/>
              <a:ext cx="399" cy="1250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09" name="Text Box 53">
              <a:extLst>
                <a:ext uri="{FF2B5EF4-FFF2-40B4-BE49-F238E27FC236}">
                  <a16:creationId xmlns:a16="http://schemas.microsoft.com/office/drawing/2014/main" id="{EE3CD324-2AD5-4FCF-AA27-21C51DB8E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473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B0H</a:t>
              </a:r>
            </a:p>
          </p:txBody>
        </p:sp>
        <p:sp>
          <p:nvSpPr>
            <p:cNvPr id="65610" name="Text Box 54">
              <a:extLst>
                <a:ext uri="{FF2B5EF4-FFF2-40B4-BE49-F238E27FC236}">
                  <a16:creationId xmlns:a16="http://schemas.microsoft.com/office/drawing/2014/main" id="{35EAFC61-7475-430F-AA74-C6B02CBDD9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637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66CC"/>
                  </a:solidFill>
                  <a:latin typeface="Times New Roman" panose="02020603050405020304" pitchFamily="18" charset="0"/>
                </a:rPr>
                <a:t>5CH</a:t>
              </a:r>
            </a:p>
          </p:txBody>
        </p:sp>
        <p:sp>
          <p:nvSpPr>
            <p:cNvPr id="65611" name="Text Box 57">
              <a:extLst>
                <a:ext uri="{FF2B5EF4-FFF2-40B4-BE49-F238E27FC236}">
                  <a16:creationId xmlns:a16="http://schemas.microsoft.com/office/drawing/2014/main" id="{3049BF86-759A-42A0-B5C2-C48C7CC08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309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65612" name="Text Box 58">
              <a:extLst>
                <a:ext uri="{FF2B5EF4-FFF2-40B4-BE49-F238E27FC236}">
                  <a16:creationId xmlns:a16="http://schemas.microsoft.com/office/drawing/2014/main" id="{08AF0FB1-B3AC-4EEA-974C-48673F28F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626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1001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65613" name="Text Box 59">
              <a:extLst>
                <a:ext uri="{FF2B5EF4-FFF2-40B4-BE49-F238E27FC236}">
                  <a16:creationId xmlns:a16="http://schemas.microsoft.com/office/drawing/2014/main" id="{DFC91E8C-57E5-4AF8-9B02-0035E44F4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801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1002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65614" name="Text Box 60">
              <a:extLst>
                <a:ext uri="{FF2B5EF4-FFF2-40B4-BE49-F238E27FC236}">
                  <a16:creationId xmlns:a16="http://schemas.microsoft.com/office/drawing/2014/main" id="{CB9A013E-F6BD-46BB-8D40-0051551CE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975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1003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65615" name="Text Box 61">
              <a:extLst>
                <a:ext uri="{FF2B5EF4-FFF2-40B4-BE49-F238E27FC236}">
                  <a16:creationId xmlns:a16="http://schemas.microsoft.com/office/drawing/2014/main" id="{4DFAAF06-EDE0-43B3-91AA-A87F3F5E0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98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65616" name="Text Box 62">
              <a:extLst>
                <a:ext uri="{FF2B5EF4-FFF2-40B4-BE49-F238E27FC236}">
                  <a16:creationId xmlns:a16="http://schemas.microsoft.com/office/drawing/2014/main" id="{14E955C4-EA1B-4BDA-B0F5-CF92CA243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473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1000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65617" name="Text Box 146">
              <a:extLst>
                <a:ext uri="{FF2B5EF4-FFF2-40B4-BE49-F238E27FC236}">
                  <a16:creationId xmlns:a16="http://schemas.microsoft.com/office/drawing/2014/main" id="{66D289E6-A71E-4860-98E6-00D1834CE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799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02H</a:t>
              </a:r>
            </a:p>
          </p:txBody>
        </p:sp>
        <p:sp>
          <p:nvSpPr>
            <p:cNvPr id="65618" name="Text Box 147">
              <a:extLst>
                <a:ext uri="{FF2B5EF4-FFF2-40B4-BE49-F238E27FC236}">
                  <a16:creationId xmlns:a16="http://schemas.microsoft.com/office/drawing/2014/main" id="{FE752E04-FB9E-4C85-BDF7-22F27DAC2F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967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06H</a:t>
              </a:r>
            </a:p>
          </p:txBody>
        </p:sp>
        <p:sp>
          <p:nvSpPr>
            <p:cNvPr id="65619" name="Text Box 148">
              <a:extLst>
                <a:ext uri="{FF2B5EF4-FFF2-40B4-BE49-F238E27FC236}">
                  <a16:creationId xmlns:a16="http://schemas.microsoft.com/office/drawing/2014/main" id="{7DEA80AF-166E-404C-B20F-3976551A6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132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66FF33"/>
                  </a:solidFill>
                  <a:latin typeface="Times New Roman" panose="02020603050405020304" pitchFamily="18" charset="0"/>
                </a:rPr>
                <a:t>00H</a:t>
              </a:r>
            </a:p>
          </p:txBody>
        </p:sp>
        <p:sp>
          <p:nvSpPr>
            <p:cNvPr id="65620" name="Text Box 149">
              <a:extLst>
                <a:ext uri="{FF2B5EF4-FFF2-40B4-BE49-F238E27FC236}">
                  <a16:creationId xmlns:a16="http://schemas.microsoft.com/office/drawing/2014/main" id="{42A22DAA-4752-46F8-BA96-7B9310373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295"/>
              <a:ext cx="399" cy="16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66FF33"/>
                  </a:solidFill>
                  <a:latin typeface="Times New Roman" panose="02020603050405020304" pitchFamily="18" charset="0"/>
                </a:rPr>
                <a:t>01H</a:t>
              </a:r>
            </a:p>
          </p:txBody>
        </p:sp>
        <p:sp>
          <p:nvSpPr>
            <p:cNvPr id="65621" name="Text Box 157">
              <a:extLst>
                <a:ext uri="{FF2B5EF4-FFF2-40B4-BE49-F238E27FC236}">
                  <a16:creationId xmlns:a16="http://schemas.microsoft.com/office/drawing/2014/main" id="{27957EC5-662E-4568-B2F0-DCD8912A6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" y="1135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100</a:t>
              </a:r>
              <a:r>
                <a:rPr lang="en-US" altLang="zh-CN" sz="1600">
                  <a:latin typeface="Times New Roman" panose="02020603050405020304" pitchFamily="18" charset="0"/>
                </a:rPr>
                <a:t>4H</a:t>
              </a:r>
            </a:p>
          </p:txBody>
        </p:sp>
        <p:sp>
          <p:nvSpPr>
            <p:cNvPr id="65622" name="Text Box 158">
              <a:extLst>
                <a:ext uri="{FF2B5EF4-FFF2-40B4-BE49-F238E27FC236}">
                  <a16:creationId xmlns:a16="http://schemas.microsoft.com/office/drawing/2014/main" id="{123E61E8-5D67-45E0-AC1D-F3859EA4A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" y="1298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100</a:t>
              </a:r>
              <a:r>
                <a:rPr lang="en-US" altLang="zh-CN" sz="1600">
                  <a:latin typeface="Times New Roman" panose="02020603050405020304" pitchFamily="18" charset="0"/>
                </a:rPr>
                <a:t>5H</a:t>
              </a:r>
            </a:p>
          </p:txBody>
        </p:sp>
      </p:grpSp>
      <p:grpSp>
        <p:nvGrpSpPr>
          <p:cNvPr id="17534" name="组合 17533">
            <a:extLst>
              <a:ext uri="{FF2B5EF4-FFF2-40B4-BE49-F238E27FC236}">
                <a16:creationId xmlns:a16="http://schemas.microsoft.com/office/drawing/2014/main" id="{C543011D-62F9-47E2-BA11-B570D1893AB4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4005263"/>
            <a:ext cx="1331912" cy="2519362"/>
            <a:chOff x="0" y="0"/>
            <a:chExt cx="839" cy="1587"/>
          </a:xfrm>
        </p:grpSpPr>
        <p:sp>
          <p:nvSpPr>
            <p:cNvPr id="65593" name="Text Box 163">
              <a:extLst>
                <a:ext uri="{FF2B5EF4-FFF2-40B4-BE49-F238E27FC236}">
                  <a16:creationId xmlns:a16="http://schemas.microsoft.com/office/drawing/2014/main" id="{F2334783-BBA6-411B-9CC5-E395C35C88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83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内存储器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（</a:t>
              </a:r>
              <a:r>
                <a:rPr lang="zh-CN" altLang="en-US" sz="2000">
                  <a:solidFill>
                    <a:srgbClr val="FF9900"/>
                  </a:solidFill>
                  <a:latin typeface="Times New Roman" panose="02020603050405020304" pitchFamily="18" charset="0"/>
                </a:rPr>
                <a:t>数据段</a:t>
              </a:r>
              <a:r>
                <a:rPr lang="zh-CN" altLang="en-US" sz="2000">
                  <a:latin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65594" name="AutoShape 164">
              <a:extLst>
                <a:ext uri="{FF2B5EF4-FFF2-40B4-BE49-F238E27FC236}">
                  <a16:creationId xmlns:a16="http://schemas.microsoft.com/office/drawing/2014/main" id="{6648BAC3-CDD0-4EF2-A07B-54D6CA08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491"/>
              <a:ext cx="399" cy="1096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595" name="Text Box 165">
              <a:extLst>
                <a:ext uri="{FF2B5EF4-FFF2-40B4-BE49-F238E27FC236}">
                  <a16:creationId xmlns:a16="http://schemas.microsoft.com/office/drawing/2014/main" id="{A8D6A337-62CC-461C-8187-A45EB070B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490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...</a:t>
              </a:r>
            </a:p>
          </p:txBody>
        </p:sp>
        <p:sp>
          <p:nvSpPr>
            <p:cNvPr id="65596" name="Text Box 166">
              <a:extLst>
                <a:ext uri="{FF2B5EF4-FFF2-40B4-BE49-F238E27FC236}">
                  <a16:creationId xmlns:a16="http://schemas.microsoft.com/office/drawing/2014/main" id="{6547FB13-3F49-442B-9E84-B43C45BA5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654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5597" name="Text Box 167">
              <a:extLst>
                <a:ext uri="{FF2B5EF4-FFF2-40B4-BE49-F238E27FC236}">
                  <a16:creationId xmlns:a16="http://schemas.microsoft.com/office/drawing/2014/main" id="{C48A95AA-AEC6-44D2-8897-DCBFC373B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26"/>
              <a:ext cx="454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65598" name="Text Box 168">
              <a:extLst>
                <a:ext uri="{FF2B5EF4-FFF2-40B4-BE49-F238E27FC236}">
                  <a16:creationId xmlns:a16="http://schemas.microsoft.com/office/drawing/2014/main" id="{9BFDCD63-DE66-4DDF-8716-DB081C8C8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643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5599" name="Text Box 169">
              <a:extLst>
                <a:ext uri="{FF2B5EF4-FFF2-40B4-BE49-F238E27FC236}">
                  <a16:creationId xmlns:a16="http://schemas.microsoft.com/office/drawing/2014/main" id="{F590DCBA-94B8-4160-92CA-8831196F7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818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2</a:t>
              </a: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100H</a:t>
              </a:r>
            </a:p>
          </p:txBody>
        </p:sp>
        <p:sp>
          <p:nvSpPr>
            <p:cNvPr id="65600" name="Text Box 170">
              <a:extLst>
                <a:ext uri="{FF2B5EF4-FFF2-40B4-BE49-F238E27FC236}">
                  <a16:creationId xmlns:a16="http://schemas.microsoft.com/office/drawing/2014/main" id="{8624E7F2-FD4D-4207-81F1-A64DAC988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992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2</a:t>
              </a: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101H</a:t>
              </a:r>
            </a:p>
          </p:txBody>
        </p:sp>
        <p:sp>
          <p:nvSpPr>
            <p:cNvPr id="65601" name="Text Box 171">
              <a:extLst>
                <a:ext uri="{FF2B5EF4-FFF2-40B4-BE49-F238E27FC236}">
                  <a16:creationId xmlns:a16="http://schemas.microsoft.com/office/drawing/2014/main" id="{9A73C7AB-E941-4FAC-8F73-615EDD2D7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15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65602" name="Text Box 172">
              <a:extLst>
                <a:ext uri="{FF2B5EF4-FFF2-40B4-BE49-F238E27FC236}">
                  <a16:creationId xmlns:a16="http://schemas.microsoft.com/office/drawing/2014/main" id="{54B31E12-17F9-46F6-8196-487F419E3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490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2000H</a:t>
              </a:r>
            </a:p>
          </p:txBody>
        </p:sp>
        <p:sp>
          <p:nvSpPr>
            <p:cNvPr id="65603" name="Text Box 173">
              <a:extLst>
                <a:ext uri="{FF2B5EF4-FFF2-40B4-BE49-F238E27FC236}">
                  <a16:creationId xmlns:a16="http://schemas.microsoft.com/office/drawing/2014/main" id="{D42E00D5-6FED-4EE3-B712-73B032F26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816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10H</a:t>
              </a:r>
            </a:p>
          </p:txBody>
        </p:sp>
        <p:sp>
          <p:nvSpPr>
            <p:cNvPr id="65604" name="Text Box 174">
              <a:extLst>
                <a:ext uri="{FF2B5EF4-FFF2-40B4-BE49-F238E27FC236}">
                  <a16:creationId xmlns:a16="http://schemas.microsoft.com/office/drawing/2014/main" id="{1298C350-DB5C-4AB4-A59E-20E27D50E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984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11H</a:t>
              </a:r>
            </a:p>
          </p:txBody>
        </p:sp>
        <p:sp>
          <p:nvSpPr>
            <p:cNvPr id="65605" name="Text Box 175">
              <a:extLst>
                <a:ext uri="{FF2B5EF4-FFF2-40B4-BE49-F238E27FC236}">
                  <a16:creationId xmlns:a16="http://schemas.microsoft.com/office/drawing/2014/main" id="{B7BDEE05-56FB-4318-9516-C14630186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149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66FF33"/>
                  </a:solidFill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5606" name="Text Box 177">
              <a:extLst>
                <a:ext uri="{FF2B5EF4-FFF2-40B4-BE49-F238E27FC236}">
                  <a16:creationId xmlns:a16="http://schemas.microsoft.com/office/drawing/2014/main" id="{A4DE716E-B593-4DC4-806E-D021346D7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" y="1152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</p:grpSp>
      <p:sp>
        <p:nvSpPr>
          <p:cNvPr id="65591" name="Text Box 181">
            <a:extLst>
              <a:ext uri="{FF2B5EF4-FFF2-40B4-BE49-F238E27FC236}">
                <a16:creationId xmlns:a16="http://schemas.microsoft.com/office/drawing/2014/main" id="{2068893E-D1A9-415F-9BBF-DA577399E4F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771775" y="3429000"/>
            <a:ext cx="8636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16</a:t>
            </a:r>
            <a:r>
              <a:rPr lang="zh-CN" altLang="en-US" sz="2000">
                <a:latin typeface="Times New Roman" panose="02020603050405020304" pitchFamily="18" charset="0"/>
              </a:rPr>
              <a:t>位内部总线</a:t>
            </a:r>
          </a:p>
        </p:txBody>
      </p:sp>
      <p:sp>
        <p:nvSpPr>
          <p:cNvPr id="24717" name="灯片编号占位符 1">
            <a:extLst>
              <a:ext uri="{FF2B5EF4-FFF2-40B4-BE49-F238E27FC236}">
                <a16:creationId xmlns:a16="http://schemas.microsoft.com/office/drawing/2014/main" id="{A1C83758-04FF-4E11-91DE-3C113CCED1D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4D82C53-997E-4DEB-9E51-3F4521EEB733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14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5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5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5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5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75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74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75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75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74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74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74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74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74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7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7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75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74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74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17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174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174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174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174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174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17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9" dur="500"/>
                                        <p:tgtEl>
                                          <p:spTgt spid="174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17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9" dur="500"/>
                                        <p:tgtEl>
                                          <p:spTgt spid="174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4" dur="500"/>
                                        <p:tgtEl>
                                          <p:spTgt spid="1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9" dur="500"/>
                                        <p:tgtEl>
                                          <p:spTgt spid="175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4" dur="500"/>
                                        <p:tgtEl>
                                          <p:spTgt spid="1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1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4" dur="500"/>
                                        <p:tgtEl>
                                          <p:spTgt spid="1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58" grpId="0" animBg="1"/>
      <p:bldP spid="17459" grpId="0"/>
      <p:bldP spid="17471" grpId="0" animBg="1"/>
      <p:bldP spid="17472" grpId="0" animBg="1"/>
      <p:bldP spid="17473" grpId="0" animBg="1"/>
      <p:bldP spid="17474" grpId="0" animBg="1"/>
      <p:bldP spid="17475" grpId="0" animBg="1"/>
      <p:bldP spid="17476" grpId="0" animBg="1"/>
      <p:bldP spid="17480" grpId="0" animBg="1"/>
      <p:bldP spid="17481" grpId="0" animBg="1"/>
      <p:bldP spid="17482" grpId="0"/>
      <p:bldP spid="17483" grpId="0" animBg="1"/>
      <p:bldP spid="17484" grpId="0" animBg="1"/>
      <p:bldP spid="17485" grpId="0" animBg="1"/>
      <p:bldP spid="17486" grpId="0" animBg="1"/>
      <p:bldP spid="17498" grpId="0" animBg="1"/>
      <p:bldP spid="17499" grpId="0" animBg="1"/>
      <p:bldP spid="17500" grpId="0" bldLvl="0" animBg="1"/>
      <p:bldP spid="17504" grpId="0" animBg="1"/>
      <p:bldP spid="17505" grpId="0"/>
      <p:bldP spid="17506" grpId="0"/>
      <p:bldP spid="17507" grpId="0" build="p"/>
      <p:bldP spid="17508" grpId="0"/>
      <p:bldP spid="17509" grpId="0" animBg="1"/>
      <p:bldP spid="17510" grpId="0" animBg="1"/>
      <p:bldP spid="17511" grpId="0" animBg="1"/>
      <p:bldP spid="17512" grpId="0"/>
      <p:bldP spid="17513" grpId="0"/>
      <p:bldP spid="17514" grpId="0" bldLvl="0" animBg="1"/>
      <p:bldP spid="17514" grpId="1" bldLvl="0" animBg="1"/>
      <p:bldP spid="17515" grpId="0" animBg="1"/>
      <p:bldP spid="175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>
            <a:extLst>
              <a:ext uri="{FF2B5EF4-FFF2-40B4-BE49-F238E27FC236}">
                <a16:creationId xmlns:a16="http://schemas.microsoft.com/office/drawing/2014/main" id="{33F59F6B-DF55-4C34-983D-EF10AD4C5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260350"/>
            <a:ext cx="36337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总线接口部件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BIU</a:t>
            </a:r>
          </a:p>
        </p:txBody>
      </p:sp>
      <p:sp>
        <p:nvSpPr>
          <p:cNvPr id="18435" name="Rectangle 6">
            <a:extLst>
              <a:ext uri="{FF2B5EF4-FFF2-40B4-BE49-F238E27FC236}">
                <a16:creationId xmlns:a16="http://schemas.microsoft.com/office/drawing/2014/main" id="{AA6E34D4-8191-4238-A0C4-4EDD3C418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154363"/>
            <a:ext cx="2362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总线接口部件</a:t>
            </a:r>
            <a:r>
              <a:rPr lang="en-US" altLang="zh-CN" b="0">
                <a:latin typeface="Times New Roman" panose="02020603050405020304" pitchFamily="18" charset="0"/>
              </a:rPr>
              <a:t>BIU</a:t>
            </a:r>
          </a:p>
        </p:txBody>
      </p:sp>
      <p:sp>
        <p:nvSpPr>
          <p:cNvPr id="66564" name="Rectangle 8">
            <a:extLst>
              <a:ext uri="{FF2B5EF4-FFF2-40B4-BE49-F238E27FC236}">
                <a16:creationId xmlns:a16="http://schemas.microsoft.com/office/drawing/2014/main" id="{EA4DBB7B-2248-4E41-8207-3208467D9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1676400"/>
            <a:ext cx="5084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段寄存器（</a:t>
            </a:r>
            <a:r>
              <a:rPr lang="en-US" altLang="zh-CN" b="0">
                <a:latin typeface="Times New Roman" panose="02020603050405020304" pitchFamily="18" charset="0"/>
              </a:rPr>
              <a:t>CS</a:t>
            </a:r>
            <a:r>
              <a:rPr lang="zh-CN" altLang="en-US" b="0">
                <a:latin typeface="Times New Roman" panose="02020603050405020304" pitchFamily="18" charset="0"/>
              </a:rPr>
              <a:t>，</a:t>
            </a:r>
            <a:r>
              <a:rPr lang="en-US" altLang="zh-CN" b="0">
                <a:latin typeface="Times New Roman" panose="02020603050405020304" pitchFamily="18" charset="0"/>
              </a:rPr>
              <a:t>DS</a:t>
            </a:r>
            <a:r>
              <a:rPr lang="zh-CN" altLang="en-US" b="0">
                <a:latin typeface="Times New Roman" panose="02020603050405020304" pitchFamily="18" charset="0"/>
              </a:rPr>
              <a:t>，</a:t>
            </a:r>
            <a:r>
              <a:rPr lang="en-US" altLang="zh-CN" b="0">
                <a:latin typeface="Times New Roman" panose="02020603050405020304" pitchFamily="18" charset="0"/>
              </a:rPr>
              <a:t>SS</a:t>
            </a:r>
            <a:r>
              <a:rPr lang="zh-CN" altLang="en-US" b="0">
                <a:latin typeface="Times New Roman" panose="02020603050405020304" pitchFamily="18" charset="0"/>
              </a:rPr>
              <a:t>和</a:t>
            </a:r>
            <a:r>
              <a:rPr lang="en-US" altLang="zh-CN" b="0">
                <a:latin typeface="Times New Roman" panose="02020603050405020304" pitchFamily="18" charset="0"/>
              </a:rPr>
              <a:t>ES</a:t>
            </a:r>
            <a:r>
              <a:rPr lang="zh-CN" altLang="en-US" b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66565" name="Rectangle 9">
            <a:extLst>
              <a:ext uri="{FF2B5EF4-FFF2-40B4-BE49-F238E27FC236}">
                <a16:creationId xmlns:a16="http://schemas.microsoft.com/office/drawing/2014/main" id="{B1656550-9936-4468-A4AD-B5271B748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528888"/>
            <a:ext cx="2632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指令指针（</a:t>
            </a:r>
            <a:r>
              <a:rPr lang="en-US" altLang="zh-CN" b="0">
                <a:latin typeface="Times New Roman" panose="02020603050405020304" pitchFamily="18" charset="0"/>
              </a:rPr>
              <a:t>IP</a:t>
            </a:r>
            <a:r>
              <a:rPr lang="zh-CN" altLang="en-US" b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66566" name="Rectangle 10">
            <a:extLst>
              <a:ext uri="{FF2B5EF4-FFF2-40B4-BE49-F238E27FC236}">
                <a16:creationId xmlns:a16="http://schemas.microsoft.com/office/drawing/2014/main" id="{ADF3E092-74D0-410C-8038-8815A7002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429000"/>
            <a:ext cx="462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指令队列缓冲器（</a:t>
            </a:r>
            <a:r>
              <a:rPr lang="en-US" altLang="zh-CN" b="0">
                <a:latin typeface="Times New Roman" panose="02020603050405020304" pitchFamily="18" charset="0"/>
              </a:rPr>
              <a:t>6</a:t>
            </a:r>
            <a:r>
              <a:rPr lang="zh-CN" altLang="en-US" b="0">
                <a:latin typeface="Times New Roman" panose="02020603050405020304" pitchFamily="18" charset="0"/>
              </a:rPr>
              <a:t>个字节）</a:t>
            </a:r>
          </a:p>
        </p:txBody>
      </p:sp>
      <p:sp>
        <p:nvSpPr>
          <p:cNvPr id="66567" name="Rectangle 11">
            <a:extLst>
              <a:ext uri="{FF2B5EF4-FFF2-40B4-BE49-F238E27FC236}">
                <a16:creationId xmlns:a16="http://schemas.microsoft.com/office/drawing/2014/main" id="{F4F74E5F-2007-417B-8DFC-2BBE75179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267200"/>
            <a:ext cx="543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   地址加法器（产生</a:t>
            </a:r>
            <a:r>
              <a:rPr lang="en-US" altLang="zh-CN" b="0">
                <a:latin typeface="Times New Roman" panose="02020603050405020304" pitchFamily="18" charset="0"/>
              </a:rPr>
              <a:t>20</a:t>
            </a:r>
            <a:r>
              <a:rPr lang="zh-CN" altLang="en-US" b="0">
                <a:latin typeface="Times New Roman" panose="02020603050405020304" pitchFamily="18" charset="0"/>
              </a:rPr>
              <a:t>位地址）</a:t>
            </a:r>
          </a:p>
        </p:txBody>
      </p:sp>
      <p:sp>
        <p:nvSpPr>
          <p:cNvPr id="66568" name="Rectangle 12">
            <a:extLst>
              <a:ext uri="{FF2B5EF4-FFF2-40B4-BE49-F238E27FC236}">
                <a16:creationId xmlns:a16="http://schemas.microsoft.com/office/drawing/2014/main" id="{BCC6B047-9972-45E2-91D1-C48BC1D90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5257800"/>
            <a:ext cx="2314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总线控制逻辑</a:t>
            </a:r>
          </a:p>
        </p:txBody>
      </p:sp>
      <p:sp>
        <p:nvSpPr>
          <p:cNvPr id="18441" name="Line 13">
            <a:extLst>
              <a:ext uri="{FF2B5EF4-FFF2-40B4-BE49-F238E27FC236}">
                <a16:creationId xmlns:a16="http://schemas.microsoft.com/office/drawing/2014/main" id="{8B689B1B-52FE-495B-887E-CFCF162E0D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5575" y="3657600"/>
            <a:ext cx="381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42" name="组合 18441">
            <a:extLst>
              <a:ext uri="{FF2B5EF4-FFF2-40B4-BE49-F238E27FC236}">
                <a16:creationId xmlns:a16="http://schemas.microsoft.com/office/drawing/2014/main" id="{87BA2F2F-A43B-4ADC-8949-68AA3F9577C7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828800"/>
            <a:ext cx="714375" cy="3657600"/>
            <a:chOff x="0" y="0"/>
            <a:chExt cx="450" cy="2304"/>
          </a:xfrm>
        </p:grpSpPr>
        <p:sp>
          <p:nvSpPr>
            <p:cNvPr id="66573" name="Line 15">
              <a:extLst>
                <a:ext uri="{FF2B5EF4-FFF2-40B4-BE49-F238E27FC236}">
                  <a16:creationId xmlns:a16="http://schemas.microsoft.com/office/drawing/2014/main" id="{DE38971F-77A7-4736-8C56-40943225E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" y="0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4" name="Line 16">
              <a:extLst>
                <a:ext uri="{FF2B5EF4-FFF2-40B4-BE49-F238E27FC236}">
                  <a16:creationId xmlns:a16="http://schemas.microsoft.com/office/drawing/2014/main" id="{D6CFABCA-9074-4023-9955-D5A5C6BDB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" y="576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5" name="Line 17">
              <a:extLst>
                <a:ext uri="{FF2B5EF4-FFF2-40B4-BE49-F238E27FC236}">
                  <a16:creationId xmlns:a16="http://schemas.microsoft.com/office/drawing/2014/main" id="{63F15576-D74D-4C8F-9A14-9005CE5B5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" y="1728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6" name="Line 18">
              <a:extLst>
                <a:ext uri="{FF2B5EF4-FFF2-40B4-BE49-F238E27FC236}">
                  <a16:creationId xmlns:a16="http://schemas.microsoft.com/office/drawing/2014/main" id="{659B7A1C-8355-4FF6-AABF-791D38E53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" y="2304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7" name="Line 19">
              <a:extLst>
                <a:ext uri="{FF2B5EF4-FFF2-40B4-BE49-F238E27FC236}">
                  <a16:creationId xmlns:a16="http://schemas.microsoft.com/office/drawing/2014/main" id="{F7933B7D-2EE2-4F0B-9456-379FBF70B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152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48" name="Line 20">
            <a:extLst>
              <a:ext uri="{FF2B5EF4-FFF2-40B4-BE49-F238E27FC236}">
                <a16:creationId xmlns:a16="http://schemas.microsoft.com/office/drawing/2014/main" id="{68937A07-ACCA-4719-A01C-1A57EBBA3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828800"/>
            <a:ext cx="0" cy="36576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6" name="灯片编号占位符 1">
            <a:extLst>
              <a:ext uri="{FF2B5EF4-FFF2-40B4-BE49-F238E27FC236}">
                <a16:creationId xmlns:a16="http://schemas.microsoft.com/office/drawing/2014/main" id="{3E029B3C-20AF-4FC2-AF8C-62FF9D88A25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0F9A650-6162-4749-A863-ABCF4E7A9AB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15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Line 18">
            <a:extLst>
              <a:ext uri="{FF2B5EF4-FFF2-40B4-BE49-F238E27FC236}">
                <a16:creationId xmlns:a16="http://schemas.microsoft.com/office/drawing/2014/main" id="{89AC2CEA-59D9-408C-BA00-14D87682D9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488" y="765175"/>
            <a:ext cx="0" cy="5757863"/>
          </a:xfrm>
          <a:prstGeom prst="line">
            <a:avLst/>
          </a:prstGeom>
          <a:noFill/>
          <a:ln w="381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87" name="Text Box 30">
            <a:extLst>
              <a:ext uri="{FF2B5EF4-FFF2-40B4-BE49-F238E27FC236}">
                <a16:creationId xmlns:a16="http://schemas.microsoft.com/office/drawing/2014/main" id="{388F67E4-A748-4275-B043-458511208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54657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(1)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总线接口部件  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BIU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的组成</a:t>
            </a:r>
          </a:p>
        </p:txBody>
      </p:sp>
      <p:sp>
        <p:nvSpPr>
          <p:cNvPr id="67588" name="AutoShape 36">
            <a:extLst>
              <a:ext uri="{FF2B5EF4-FFF2-40B4-BE49-F238E27FC236}">
                <a16:creationId xmlns:a16="http://schemas.microsoft.com/office/drawing/2014/main" id="{5BC6DC4B-F35D-4311-8AA0-4500176484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22563" y="4448175"/>
            <a:ext cx="95250" cy="1084263"/>
          </a:xfrm>
          <a:prstGeom prst="upArrow">
            <a:avLst>
              <a:gd name="adj1" fmla="val 50000"/>
              <a:gd name="adj2" fmla="val 283635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7589" name="Text Box 37">
            <a:extLst>
              <a:ext uri="{FF2B5EF4-FFF2-40B4-BE49-F238E27FC236}">
                <a16:creationId xmlns:a16="http://schemas.microsoft.com/office/drawing/2014/main" id="{8B27C632-B212-4F28-B14C-CF04C43D45D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30913" y="1108075"/>
            <a:ext cx="388937" cy="50815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67590" name="组合 19461">
            <a:extLst>
              <a:ext uri="{FF2B5EF4-FFF2-40B4-BE49-F238E27FC236}">
                <a16:creationId xmlns:a16="http://schemas.microsoft.com/office/drawing/2014/main" id="{CB5007BD-F98E-4D67-8730-EFB62A4CC22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95663" y="1679575"/>
            <a:ext cx="1336675" cy="441325"/>
            <a:chOff x="0" y="0"/>
            <a:chExt cx="842" cy="278"/>
          </a:xfrm>
        </p:grpSpPr>
        <p:sp>
          <p:nvSpPr>
            <p:cNvPr id="67635" name="Line 39">
              <a:extLst>
                <a:ext uri="{FF2B5EF4-FFF2-40B4-BE49-F238E27FC236}">
                  <a16:creationId xmlns:a16="http://schemas.microsoft.com/office/drawing/2014/main" id="{1E9778C0-07CC-4806-8658-F8C3BE3583D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6" name="Line 40">
              <a:extLst>
                <a:ext uri="{FF2B5EF4-FFF2-40B4-BE49-F238E27FC236}">
                  <a16:creationId xmlns:a16="http://schemas.microsoft.com/office/drawing/2014/main" id="{B36D298C-8C1A-474D-9F0D-A46F78191D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7" name="Line 41">
              <a:extLst>
                <a:ext uri="{FF2B5EF4-FFF2-40B4-BE49-F238E27FC236}">
                  <a16:creationId xmlns:a16="http://schemas.microsoft.com/office/drawing/2014/main" id="{59527631-8047-415C-8508-836FB99C2D5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8" name="Line 42">
              <a:extLst>
                <a:ext uri="{FF2B5EF4-FFF2-40B4-BE49-F238E27FC236}">
                  <a16:creationId xmlns:a16="http://schemas.microsoft.com/office/drawing/2014/main" id="{A0E5A004-8B1F-4421-B088-92EB350527F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9" name="Line 43">
              <a:extLst>
                <a:ext uri="{FF2B5EF4-FFF2-40B4-BE49-F238E27FC236}">
                  <a16:creationId xmlns:a16="http://schemas.microsoft.com/office/drawing/2014/main" id="{5CDB949B-C0B6-4F2A-8C21-4A365BD905B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0" name="Line 44">
              <a:extLst>
                <a:ext uri="{FF2B5EF4-FFF2-40B4-BE49-F238E27FC236}">
                  <a16:creationId xmlns:a16="http://schemas.microsoft.com/office/drawing/2014/main" id="{723AF1B7-0210-43AA-9252-603364B4B10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1" name="Line 45">
              <a:extLst>
                <a:ext uri="{FF2B5EF4-FFF2-40B4-BE49-F238E27FC236}">
                  <a16:creationId xmlns:a16="http://schemas.microsoft.com/office/drawing/2014/main" id="{1E0413F8-4F48-4591-8947-46C8D535667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2" name="Line 46">
              <a:extLst>
                <a:ext uri="{FF2B5EF4-FFF2-40B4-BE49-F238E27FC236}">
                  <a16:creationId xmlns:a16="http://schemas.microsoft.com/office/drawing/2014/main" id="{628E0B82-0C93-4539-9BDD-D1612C2939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3" name="Text Box 47">
              <a:extLst>
                <a:ext uri="{FF2B5EF4-FFF2-40B4-BE49-F238E27FC236}">
                  <a16:creationId xmlns:a16="http://schemas.microsoft.com/office/drawing/2014/main" id="{F8E12DCE-BB01-4976-98F3-509EE53C069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400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sp>
        <p:nvSpPr>
          <p:cNvPr id="67591" name="Text Box 48">
            <a:extLst>
              <a:ext uri="{FF2B5EF4-FFF2-40B4-BE49-F238E27FC236}">
                <a16:creationId xmlns:a16="http://schemas.microsoft.com/office/drawing/2014/main" id="{5801B4C2-5E4E-470D-B649-AE336578C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2813" y="1341438"/>
            <a:ext cx="88741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20</a:t>
            </a:r>
            <a:r>
              <a:rPr lang="zh-CN" altLang="en-US" sz="2000">
                <a:latin typeface="Times New Roman" panose="02020603050405020304" pitchFamily="18" charset="0"/>
              </a:rPr>
              <a:t>位地址总线</a:t>
            </a:r>
          </a:p>
        </p:txBody>
      </p:sp>
      <p:sp>
        <p:nvSpPr>
          <p:cNvPr id="67592" name="AutoShape 49">
            <a:extLst>
              <a:ext uri="{FF2B5EF4-FFF2-40B4-BE49-F238E27FC236}">
                <a16:creationId xmlns:a16="http://schemas.microsoft.com/office/drawing/2014/main" id="{B301ED3F-0A41-4E71-997A-E8DFBF5F0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7238" y="2073275"/>
            <a:ext cx="1474787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7593" name="Text Box 50">
            <a:extLst>
              <a:ext uri="{FF2B5EF4-FFF2-40B4-BE49-F238E27FC236}">
                <a16:creationId xmlns:a16="http://schemas.microsoft.com/office/drawing/2014/main" id="{7299BF14-9A38-4386-81A3-01100743180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32413" y="2255838"/>
            <a:ext cx="4699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16</a:t>
            </a:r>
            <a:r>
              <a:rPr lang="zh-CN" altLang="en-US" sz="2000">
                <a:latin typeface="Times New Roman" panose="02020603050405020304" pitchFamily="18" charset="0"/>
              </a:rPr>
              <a:t>位数据总线</a:t>
            </a:r>
          </a:p>
        </p:txBody>
      </p:sp>
      <p:sp>
        <p:nvSpPr>
          <p:cNvPr id="67594" name="AutoShape 51">
            <a:extLst>
              <a:ext uri="{FF2B5EF4-FFF2-40B4-BE49-F238E27FC236}">
                <a16:creationId xmlns:a16="http://schemas.microsoft.com/office/drawing/2014/main" id="{5E72F8B8-3728-4E53-99F9-BE3C3AA6F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9163" y="5453063"/>
            <a:ext cx="1270000" cy="198437"/>
          </a:xfrm>
          <a:prstGeom prst="leftArrow">
            <a:avLst>
              <a:gd name="adj1" fmla="val 50000"/>
              <a:gd name="adj2" fmla="val 159467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67595" name="组合 19475">
            <a:extLst>
              <a:ext uri="{FF2B5EF4-FFF2-40B4-BE49-F238E27FC236}">
                <a16:creationId xmlns:a16="http://schemas.microsoft.com/office/drawing/2014/main" id="{9988D75C-27E0-4E4F-A1D5-2DB171C9F95E}"/>
              </a:ext>
            </a:extLst>
          </p:cNvPr>
          <p:cNvGrpSpPr>
            <a:grpSpLocks/>
          </p:cNvGrpSpPr>
          <p:nvPr/>
        </p:nvGrpSpPr>
        <p:grpSpPr bwMode="auto">
          <a:xfrm>
            <a:off x="3519488" y="2076450"/>
            <a:ext cx="1111250" cy="230188"/>
            <a:chOff x="0" y="0"/>
            <a:chExt cx="700" cy="145"/>
          </a:xfrm>
        </p:grpSpPr>
        <p:sp>
          <p:nvSpPr>
            <p:cNvPr id="67633" name="AutoShape 53">
              <a:extLst>
                <a:ext uri="{FF2B5EF4-FFF2-40B4-BE49-F238E27FC236}">
                  <a16:creationId xmlns:a16="http://schemas.microsoft.com/office/drawing/2014/main" id="{EE1AF7B9-D24F-40CD-A0FA-77F593DBCAE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7634" name="AutoShape 54">
              <a:extLst>
                <a:ext uri="{FF2B5EF4-FFF2-40B4-BE49-F238E27FC236}">
                  <a16:creationId xmlns:a16="http://schemas.microsoft.com/office/drawing/2014/main" id="{67FC1F2B-72E0-4EEA-8E69-E7550A86C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7596" name="Text Box 55">
            <a:extLst>
              <a:ext uri="{FF2B5EF4-FFF2-40B4-BE49-F238E27FC236}">
                <a16:creationId xmlns:a16="http://schemas.microsoft.com/office/drawing/2014/main" id="{342E9CCE-CBBD-4C96-A58B-CF9EA8556D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662238" y="1385888"/>
            <a:ext cx="471487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总线接口部件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BIU</a:t>
            </a:r>
          </a:p>
        </p:txBody>
      </p:sp>
      <p:grpSp>
        <p:nvGrpSpPr>
          <p:cNvPr id="67597" name="组合 19479">
            <a:extLst>
              <a:ext uri="{FF2B5EF4-FFF2-40B4-BE49-F238E27FC236}">
                <a16:creationId xmlns:a16="http://schemas.microsoft.com/office/drawing/2014/main" id="{C4723107-F533-4951-BB38-72732EB8A4E9}"/>
              </a:ext>
            </a:extLst>
          </p:cNvPr>
          <p:cNvGrpSpPr>
            <a:grpSpLocks/>
          </p:cNvGrpSpPr>
          <p:nvPr/>
        </p:nvGrpSpPr>
        <p:grpSpPr bwMode="auto">
          <a:xfrm>
            <a:off x="3184525" y="5010150"/>
            <a:ext cx="1554163" cy="733425"/>
            <a:chOff x="0" y="0"/>
            <a:chExt cx="979" cy="462"/>
          </a:xfrm>
        </p:grpSpPr>
        <p:sp>
          <p:nvSpPr>
            <p:cNvPr id="67626" name="Text Box 57">
              <a:extLst>
                <a:ext uri="{FF2B5EF4-FFF2-40B4-BE49-F238E27FC236}">
                  <a16:creationId xmlns:a16="http://schemas.microsoft.com/office/drawing/2014/main" id="{B83B5C22-0A38-4AFA-8089-68B9CC7E7EF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37"/>
              <a:ext cx="979" cy="2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1 2 3 4 5 6</a:t>
              </a:r>
            </a:p>
          </p:txBody>
        </p:sp>
        <p:sp>
          <p:nvSpPr>
            <p:cNvPr id="67627" name="Text Box 58">
              <a:extLst>
                <a:ext uri="{FF2B5EF4-FFF2-40B4-BE49-F238E27FC236}">
                  <a16:creationId xmlns:a16="http://schemas.microsoft.com/office/drawing/2014/main" id="{32275A3A-9F6D-43C0-B5C2-54CFB9BA1B5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" y="0"/>
              <a:ext cx="8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指令队列</a:t>
              </a:r>
            </a:p>
          </p:txBody>
        </p:sp>
        <p:sp>
          <p:nvSpPr>
            <p:cNvPr id="67628" name="Line 59">
              <a:extLst>
                <a:ext uri="{FF2B5EF4-FFF2-40B4-BE49-F238E27FC236}">
                  <a16:creationId xmlns:a16="http://schemas.microsoft.com/office/drawing/2014/main" id="{3B3CD2C2-10BE-41F3-B824-AA1F56B68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9" name="Line 60">
              <a:extLst>
                <a:ext uri="{FF2B5EF4-FFF2-40B4-BE49-F238E27FC236}">
                  <a16:creationId xmlns:a16="http://schemas.microsoft.com/office/drawing/2014/main" id="{28EBDDC7-C7F4-478A-AAF0-87FD52756E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0" name="Line 61">
              <a:extLst>
                <a:ext uri="{FF2B5EF4-FFF2-40B4-BE49-F238E27FC236}">
                  <a16:creationId xmlns:a16="http://schemas.microsoft.com/office/drawing/2014/main" id="{D9F5E7AE-6B9E-4982-BCC9-BEC771340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1" name="Line 62">
              <a:extLst>
                <a:ext uri="{FF2B5EF4-FFF2-40B4-BE49-F238E27FC236}">
                  <a16:creationId xmlns:a16="http://schemas.microsoft.com/office/drawing/2014/main" id="{A9C82603-834E-4E87-88C0-B19FD16AD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2" name="Line 63">
              <a:extLst>
                <a:ext uri="{FF2B5EF4-FFF2-40B4-BE49-F238E27FC236}">
                  <a16:creationId xmlns:a16="http://schemas.microsoft.com/office/drawing/2014/main" id="{05EAD1A8-A3C4-435C-8A58-31A99EBC3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7598" name="组合 19487">
            <a:extLst>
              <a:ext uri="{FF2B5EF4-FFF2-40B4-BE49-F238E27FC236}">
                <a16:creationId xmlns:a16="http://schemas.microsoft.com/office/drawing/2014/main" id="{D995851A-26C0-42B3-B048-0649A54AAD1E}"/>
              </a:ext>
            </a:extLst>
          </p:cNvPr>
          <p:cNvGrpSpPr>
            <a:grpSpLocks/>
          </p:cNvGrpSpPr>
          <p:nvPr/>
        </p:nvGrpSpPr>
        <p:grpSpPr bwMode="auto">
          <a:xfrm>
            <a:off x="3198813" y="2324100"/>
            <a:ext cx="895350" cy="1074738"/>
            <a:chOff x="0" y="0"/>
            <a:chExt cx="564" cy="677"/>
          </a:xfrm>
        </p:grpSpPr>
        <p:sp>
          <p:nvSpPr>
            <p:cNvPr id="67622" name="Text Box 65">
              <a:extLst>
                <a:ext uri="{FF2B5EF4-FFF2-40B4-BE49-F238E27FC236}">
                  <a16:creationId xmlns:a16="http://schemas.microsoft.com/office/drawing/2014/main" id="{42389278-91EC-4B75-9E53-6DABC61D97A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67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CS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DS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67623" name="Line 66">
              <a:extLst>
                <a:ext uri="{FF2B5EF4-FFF2-40B4-BE49-F238E27FC236}">
                  <a16:creationId xmlns:a16="http://schemas.microsoft.com/office/drawing/2014/main" id="{60198412-9396-43F6-AB08-5AB52D178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2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4" name="Line 67">
              <a:extLst>
                <a:ext uri="{FF2B5EF4-FFF2-40B4-BE49-F238E27FC236}">
                  <a16:creationId xmlns:a16="http://schemas.microsoft.com/office/drawing/2014/main" id="{06C574C9-0343-4C43-A113-C7C7256ED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355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5" name="Line 68">
              <a:extLst>
                <a:ext uri="{FF2B5EF4-FFF2-40B4-BE49-F238E27FC236}">
                  <a16:creationId xmlns:a16="http://schemas.microsoft.com/office/drawing/2014/main" id="{7C6403C8-6728-4BB3-9312-CD79722E8F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51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7599" name="组合 19492">
            <a:extLst>
              <a:ext uri="{FF2B5EF4-FFF2-40B4-BE49-F238E27FC236}">
                <a16:creationId xmlns:a16="http://schemas.microsoft.com/office/drawing/2014/main" id="{57BD4176-B9EA-432B-B6C4-2F108F7DC329}"/>
              </a:ext>
            </a:extLst>
          </p:cNvPr>
          <p:cNvGrpSpPr>
            <a:grpSpLocks/>
          </p:cNvGrpSpPr>
          <p:nvPr/>
        </p:nvGrpSpPr>
        <p:grpSpPr bwMode="auto">
          <a:xfrm>
            <a:off x="4041775" y="1074738"/>
            <a:ext cx="2009775" cy="579437"/>
            <a:chOff x="0" y="0"/>
            <a:chExt cx="1266" cy="365"/>
          </a:xfrm>
        </p:grpSpPr>
        <p:sp>
          <p:nvSpPr>
            <p:cNvPr id="67620" name="AutoShape 70">
              <a:extLst>
                <a:ext uri="{FF2B5EF4-FFF2-40B4-BE49-F238E27FC236}">
                  <a16:creationId xmlns:a16="http://schemas.microsoft.com/office/drawing/2014/main" id="{E71F211A-3D40-45EF-BF78-B6FDB53C0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7621" name="Rectangle 71">
              <a:extLst>
                <a:ext uri="{FF2B5EF4-FFF2-40B4-BE49-F238E27FC236}">
                  <a16:creationId xmlns:a16="http://schemas.microsoft.com/office/drawing/2014/main" id="{169F1C95-1CB0-4AB7-AC76-5385818D4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7600" name="组合 19495">
            <a:extLst>
              <a:ext uri="{FF2B5EF4-FFF2-40B4-BE49-F238E27FC236}">
                <a16:creationId xmlns:a16="http://schemas.microsoft.com/office/drawing/2014/main" id="{5ECB0BC3-7BAD-413B-9E3A-ECC7B0578284}"/>
              </a:ext>
            </a:extLst>
          </p:cNvPr>
          <p:cNvGrpSpPr>
            <a:grpSpLocks/>
          </p:cNvGrpSpPr>
          <p:nvPr/>
        </p:nvGrpSpPr>
        <p:grpSpPr bwMode="auto">
          <a:xfrm>
            <a:off x="3198813" y="5761038"/>
            <a:ext cx="990600" cy="685800"/>
            <a:chOff x="0" y="0"/>
            <a:chExt cx="624" cy="432"/>
          </a:xfrm>
        </p:grpSpPr>
        <p:sp>
          <p:nvSpPr>
            <p:cNvPr id="19497" name="Text Box 73">
              <a:extLst>
                <a:ext uri="{FF2B5EF4-FFF2-40B4-BE49-F238E27FC236}">
                  <a16:creationId xmlns:a16="http://schemas.microsoft.com/office/drawing/2014/main" id="{A4B28D5F-7EFF-4EA9-B760-0AAAFF1143F4}"/>
                </a:ext>
              </a:extLst>
            </p:cNvPr>
            <p:cNvSpPr txBox="1"/>
            <p:nvPr/>
          </p:nvSpPr>
          <p:spPr>
            <a:xfrm>
              <a:off x="144" y="96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8088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7618" name="Line 74">
              <a:extLst>
                <a:ext uri="{FF2B5EF4-FFF2-40B4-BE49-F238E27FC236}">
                  <a16:creationId xmlns:a16="http://schemas.microsoft.com/office/drawing/2014/main" id="{8C6D685B-144B-458D-B7E8-C8AE964EC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9" name="Line 75">
              <a:extLst>
                <a:ext uri="{FF2B5EF4-FFF2-40B4-BE49-F238E27FC236}">
                  <a16:creationId xmlns:a16="http://schemas.microsoft.com/office/drawing/2014/main" id="{D35C91BF-A31E-4B5C-81F1-300B3D505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7601" name="组合 19499">
            <a:extLst>
              <a:ext uri="{FF2B5EF4-FFF2-40B4-BE49-F238E27FC236}">
                <a16:creationId xmlns:a16="http://schemas.microsoft.com/office/drawing/2014/main" id="{342627A1-9914-4461-B77A-70154F1B0C94}"/>
              </a:ext>
            </a:extLst>
          </p:cNvPr>
          <p:cNvGrpSpPr>
            <a:grpSpLocks/>
          </p:cNvGrpSpPr>
          <p:nvPr/>
        </p:nvGrpSpPr>
        <p:grpSpPr bwMode="auto">
          <a:xfrm>
            <a:off x="3808413" y="5761038"/>
            <a:ext cx="914400" cy="731837"/>
            <a:chOff x="0" y="0"/>
            <a:chExt cx="576" cy="461"/>
          </a:xfrm>
        </p:grpSpPr>
        <p:sp>
          <p:nvSpPr>
            <p:cNvPr id="19501" name="Text Box 77">
              <a:extLst>
                <a:ext uri="{FF2B5EF4-FFF2-40B4-BE49-F238E27FC236}">
                  <a16:creationId xmlns:a16="http://schemas.microsoft.com/office/drawing/2014/main" id="{728F2220-36F1-4D23-AC13-5FFD26DC8C5C}"/>
                </a:ext>
              </a:extLst>
            </p:cNvPr>
            <p:cNvSpPr txBox="1"/>
            <p:nvPr/>
          </p:nvSpPr>
          <p:spPr>
            <a:xfrm>
              <a:off x="0" y="288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7616" name="Line 78">
              <a:extLst>
                <a:ext uri="{FF2B5EF4-FFF2-40B4-BE49-F238E27FC236}">
                  <a16:creationId xmlns:a16="http://schemas.microsoft.com/office/drawing/2014/main" id="{457856FE-3958-48B2-9E04-45681DCD5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7602" name="组合 19502">
            <a:extLst>
              <a:ext uri="{FF2B5EF4-FFF2-40B4-BE49-F238E27FC236}">
                <a16:creationId xmlns:a16="http://schemas.microsoft.com/office/drawing/2014/main" id="{9E682863-E50D-42C9-AD42-4C7A2D553E68}"/>
              </a:ext>
            </a:extLst>
          </p:cNvPr>
          <p:cNvGrpSpPr>
            <a:grpSpLocks/>
          </p:cNvGrpSpPr>
          <p:nvPr/>
        </p:nvGrpSpPr>
        <p:grpSpPr bwMode="auto">
          <a:xfrm>
            <a:off x="4265613" y="2332038"/>
            <a:ext cx="895350" cy="609600"/>
            <a:chOff x="0" y="0"/>
            <a:chExt cx="564" cy="384"/>
          </a:xfrm>
        </p:grpSpPr>
        <p:sp>
          <p:nvSpPr>
            <p:cNvPr id="67613" name="Text Box 80">
              <a:extLst>
                <a:ext uri="{FF2B5EF4-FFF2-40B4-BE49-F238E27FC236}">
                  <a16:creationId xmlns:a16="http://schemas.microsoft.com/office/drawing/2014/main" id="{85A73D2E-7C14-445E-B395-F0204FCC9B4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3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67614" name="Line 81">
              <a:extLst>
                <a:ext uri="{FF2B5EF4-FFF2-40B4-BE49-F238E27FC236}">
                  <a16:creationId xmlns:a16="http://schemas.microsoft.com/office/drawing/2014/main" id="{A81523E2-06C5-4528-AE0E-CCB316E0A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7603" name="组合 19505">
            <a:extLst>
              <a:ext uri="{FF2B5EF4-FFF2-40B4-BE49-F238E27FC236}">
                <a16:creationId xmlns:a16="http://schemas.microsoft.com/office/drawing/2014/main" id="{3641EB56-5903-4CEC-AB49-03570EF2399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32213" y="2941638"/>
            <a:ext cx="1066800" cy="1395412"/>
            <a:chOff x="0" y="0"/>
            <a:chExt cx="672" cy="879"/>
          </a:xfrm>
        </p:grpSpPr>
        <p:sp>
          <p:nvSpPr>
            <p:cNvPr id="67611" name="AutoShape 83">
              <a:extLst>
                <a:ext uri="{FF2B5EF4-FFF2-40B4-BE49-F238E27FC236}">
                  <a16:creationId xmlns:a16="http://schemas.microsoft.com/office/drawing/2014/main" id="{8037FD3F-7A5A-4AFA-846B-7106173E2D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7612" name="AutoShape 84">
              <a:extLst>
                <a:ext uri="{FF2B5EF4-FFF2-40B4-BE49-F238E27FC236}">
                  <a16:creationId xmlns:a16="http://schemas.microsoft.com/office/drawing/2014/main" id="{802A2118-F48D-4E59-8D83-8EBC19276C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7604" name="组合 19508">
            <a:extLst>
              <a:ext uri="{FF2B5EF4-FFF2-40B4-BE49-F238E27FC236}">
                <a16:creationId xmlns:a16="http://schemas.microsoft.com/office/drawing/2014/main" id="{62C8EA9C-220B-4DD5-99A2-BADBCC6D8F39}"/>
              </a:ext>
            </a:extLst>
          </p:cNvPr>
          <p:cNvGrpSpPr>
            <a:grpSpLocks/>
          </p:cNvGrpSpPr>
          <p:nvPr/>
        </p:nvGrpSpPr>
        <p:grpSpPr bwMode="auto">
          <a:xfrm>
            <a:off x="6421438" y="1939925"/>
            <a:ext cx="609600" cy="1992313"/>
            <a:chOff x="0" y="0"/>
            <a:chExt cx="384" cy="1008"/>
          </a:xfrm>
        </p:grpSpPr>
        <p:sp>
          <p:nvSpPr>
            <p:cNvPr id="67609" name="AutoShape 86">
              <a:extLst>
                <a:ext uri="{FF2B5EF4-FFF2-40B4-BE49-F238E27FC236}">
                  <a16:creationId xmlns:a16="http://schemas.microsoft.com/office/drawing/2014/main" id="{E799A618-0D82-4F9D-BE55-42ECEAF36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384" cy="240"/>
            </a:xfrm>
            <a:prstGeom prst="leftRightArrow">
              <a:avLst>
                <a:gd name="adj1" fmla="val 50000"/>
                <a:gd name="adj2" fmla="val 32000"/>
              </a:avLst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19511" name="Text Box 87">
              <a:extLst>
                <a:ext uri="{FF2B5EF4-FFF2-40B4-BE49-F238E27FC236}">
                  <a16:creationId xmlns:a16="http://schemas.microsoft.com/office/drawing/2014/main" id="{95D71100-D3BD-493B-872C-A238C255C65F}"/>
                </a:ext>
              </a:extLst>
            </p:cNvPr>
            <p:cNvSpPr txBox="1"/>
            <p:nvPr/>
          </p:nvSpPr>
          <p:spPr>
            <a:xfrm>
              <a:off x="96" y="0"/>
              <a:ext cx="207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总线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67605" name="AutoShape 90">
            <a:extLst>
              <a:ext uri="{FF2B5EF4-FFF2-40B4-BE49-F238E27FC236}">
                <a16:creationId xmlns:a16="http://schemas.microsoft.com/office/drawing/2014/main" id="{43800C06-A607-4EA2-B4FE-E13BA6EB72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92275" y="4289425"/>
            <a:ext cx="4340225" cy="179388"/>
          </a:xfrm>
          <a:prstGeom prst="leftRightArrow">
            <a:avLst>
              <a:gd name="adj1" fmla="val 57435"/>
              <a:gd name="adj2" fmla="val 165778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7606" name="AutoShape 92">
            <a:extLst>
              <a:ext uri="{FF2B5EF4-FFF2-40B4-BE49-F238E27FC236}">
                <a16:creationId xmlns:a16="http://schemas.microsoft.com/office/drawing/2014/main" id="{B9AF389A-C48E-43FC-84D2-C6443D8E5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8675" y="5514975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7607" name="Line 93">
            <a:extLst>
              <a:ext uri="{FF2B5EF4-FFF2-40B4-BE49-F238E27FC236}">
                <a16:creationId xmlns:a16="http://schemas.microsoft.com/office/drawing/2014/main" id="{C39B3C06-D690-4BA0-97AD-2D728C0B7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1631950"/>
            <a:ext cx="0" cy="4318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82" name="灯片编号占位符 1">
            <a:extLst>
              <a:ext uri="{FF2B5EF4-FFF2-40B4-BE49-F238E27FC236}">
                <a16:creationId xmlns:a16="http://schemas.microsoft.com/office/drawing/2014/main" id="{9B655917-DC4D-454C-9F08-12B6C962271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AAE0FD6-E7F7-410F-A35E-5EFE06CE4B5F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16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Line 2">
            <a:extLst>
              <a:ext uri="{FF2B5EF4-FFF2-40B4-BE49-F238E27FC236}">
                <a16:creationId xmlns:a16="http://schemas.microsoft.com/office/drawing/2014/main" id="{3FCEEC2F-F6ED-45D0-A991-8BDE7F84A221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6050" y="984250"/>
            <a:ext cx="0" cy="5757863"/>
          </a:xfrm>
          <a:prstGeom prst="line">
            <a:avLst/>
          </a:prstGeom>
          <a:noFill/>
          <a:ln w="381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1" name="Text Box 3">
            <a:extLst>
              <a:ext uri="{FF2B5EF4-FFF2-40B4-BE49-F238E27FC236}">
                <a16:creationId xmlns:a16="http://schemas.microsoft.com/office/drawing/2014/main" id="{33167A10-F86A-40FB-95C8-2C8DCA878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260350"/>
            <a:ext cx="6278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(2)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总线接口部件的操作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读指令 </a:t>
            </a:r>
          </a:p>
        </p:txBody>
      </p:sp>
      <p:sp>
        <p:nvSpPr>
          <p:cNvPr id="68612" name="AutoShape 4">
            <a:extLst>
              <a:ext uri="{FF2B5EF4-FFF2-40B4-BE49-F238E27FC236}">
                <a16:creationId xmlns:a16="http://schemas.microsoft.com/office/drawing/2014/main" id="{CD1D7FFC-2F02-46EC-8C1A-5A34F9AA35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3125" y="4667250"/>
            <a:ext cx="95250" cy="1084263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8613" name="Text Box 5">
            <a:extLst>
              <a:ext uri="{FF2B5EF4-FFF2-40B4-BE49-F238E27FC236}">
                <a16:creationId xmlns:a16="http://schemas.microsoft.com/office/drawing/2014/main" id="{8D40A980-9F9C-4EE8-B2B1-73689113066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91475" y="1327150"/>
            <a:ext cx="388938" cy="50815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68614" name="组合 20485">
            <a:extLst>
              <a:ext uri="{FF2B5EF4-FFF2-40B4-BE49-F238E27FC236}">
                <a16:creationId xmlns:a16="http://schemas.microsoft.com/office/drawing/2014/main" id="{427DA818-499D-457F-932A-B042F489BE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6225" y="1898650"/>
            <a:ext cx="1336675" cy="441325"/>
            <a:chOff x="0" y="0"/>
            <a:chExt cx="842" cy="278"/>
          </a:xfrm>
        </p:grpSpPr>
        <p:sp>
          <p:nvSpPr>
            <p:cNvPr id="68717" name="Line 7">
              <a:extLst>
                <a:ext uri="{FF2B5EF4-FFF2-40B4-BE49-F238E27FC236}">
                  <a16:creationId xmlns:a16="http://schemas.microsoft.com/office/drawing/2014/main" id="{9A7CF23F-D155-4CC9-AA10-9CC9FD1459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8" name="Line 8">
              <a:extLst>
                <a:ext uri="{FF2B5EF4-FFF2-40B4-BE49-F238E27FC236}">
                  <a16:creationId xmlns:a16="http://schemas.microsoft.com/office/drawing/2014/main" id="{1B791A12-4608-4D1A-918C-7953CD93865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9" name="Line 9">
              <a:extLst>
                <a:ext uri="{FF2B5EF4-FFF2-40B4-BE49-F238E27FC236}">
                  <a16:creationId xmlns:a16="http://schemas.microsoft.com/office/drawing/2014/main" id="{900C1EE4-E14E-4AC6-87AA-4888D28303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20" name="Line 10">
              <a:extLst>
                <a:ext uri="{FF2B5EF4-FFF2-40B4-BE49-F238E27FC236}">
                  <a16:creationId xmlns:a16="http://schemas.microsoft.com/office/drawing/2014/main" id="{CB4D691F-0AB3-4668-8986-9D7CAD4F7F0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21" name="Line 11">
              <a:extLst>
                <a:ext uri="{FF2B5EF4-FFF2-40B4-BE49-F238E27FC236}">
                  <a16:creationId xmlns:a16="http://schemas.microsoft.com/office/drawing/2014/main" id="{50FF5E36-CB44-47B6-92D9-5F27E0D3EA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22" name="Line 12">
              <a:extLst>
                <a:ext uri="{FF2B5EF4-FFF2-40B4-BE49-F238E27FC236}">
                  <a16:creationId xmlns:a16="http://schemas.microsoft.com/office/drawing/2014/main" id="{C869C438-3EF5-475C-85A4-1A7A4C08BC3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23" name="Line 13">
              <a:extLst>
                <a:ext uri="{FF2B5EF4-FFF2-40B4-BE49-F238E27FC236}">
                  <a16:creationId xmlns:a16="http://schemas.microsoft.com/office/drawing/2014/main" id="{0D08956A-C154-4D9A-B4EE-236383D6A9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24" name="Line 14">
              <a:extLst>
                <a:ext uri="{FF2B5EF4-FFF2-40B4-BE49-F238E27FC236}">
                  <a16:creationId xmlns:a16="http://schemas.microsoft.com/office/drawing/2014/main" id="{57181F9D-C3C4-4F61-82B2-0C0B37E20F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25" name="Text Box 15">
              <a:extLst>
                <a:ext uri="{FF2B5EF4-FFF2-40B4-BE49-F238E27FC236}">
                  <a16:creationId xmlns:a16="http://schemas.microsoft.com/office/drawing/2014/main" id="{3C92CEA1-6430-49EC-9B57-AC40D71C500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400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sp>
        <p:nvSpPr>
          <p:cNvPr id="68615" name="Text Box 16">
            <a:extLst>
              <a:ext uri="{FF2B5EF4-FFF2-40B4-BE49-F238E27FC236}">
                <a16:creationId xmlns:a16="http://schemas.microsoft.com/office/drawing/2014/main" id="{00F548B9-26B8-4287-9544-4661BA6B2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838200"/>
            <a:ext cx="158432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6600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000">
                <a:solidFill>
                  <a:srgbClr val="FF6600"/>
                </a:solidFill>
                <a:latin typeface="Times New Roman" panose="02020603050405020304" pitchFamily="18" charset="0"/>
              </a:rPr>
              <a:t>位地址总线</a:t>
            </a:r>
            <a:r>
              <a:rPr lang="en-US" altLang="zh-CN" sz="2000">
                <a:solidFill>
                  <a:srgbClr val="FF66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>
                <a:solidFill>
                  <a:srgbClr val="FF6600"/>
                </a:solidFill>
                <a:latin typeface="Times New Roman" panose="02020603050405020304" pitchFamily="18" charset="0"/>
              </a:rPr>
              <a:t>物理地址</a:t>
            </a:r>
            <a:r>
              <a:rPr lang="en-US" altLang="zh-CN" sz="2000">
                <a:solidFill>
                  <a:srgbClr val="FF66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68616" name="AutoShape 17">
            <a:extLst>
              <a:ext uri="{FF2B5EF4-FFF2-40B4-BE49-F238E27FC236}">
                <a16:creationId xmlns:a16="http://schemas.microsoft.com/office/drawing/2014/main" id="{131D4D73-242D-490B-9364-52A654402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2292350"/>
            <a:ext cx="1474788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8617" name="Text Box 18">
            <a:extLst>
              <a:ext uri="{FF2B5EF4-FFF2-40B4-BE49-F238E27FC236}">
                <a16:creationId xmlns:a16="http://schemas.microsoft.com/office/drawing/2014/main" id="{6FD14079-66B6-4146-9AF2-3CFF0095BA7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292975" y="2474913"/>
            <a:ext cx="4699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16</a:t>
            </a:r>
            <a:r>
              <a:rPr lang="zh-CN" altLang="en-US" sz="2000">
                <a:latin typeface="Times New Roman" panose="02020603050405020304" pitchFamily="18" charset="0"/>
              </a:rPr>
              <a:t>位数据总线</a:t>
            </a:r>
          </a:p>
        </p:txBody>
      </p:sp>
      <p:sp>
        <p:nvSpPr>
          <p:cNvPr id="68618" name="AutoShape 19">
            <a:extLst>
              <a:ext uri="{FF2B5EF4-FFF2-40B4-BE49-F238E27FC236}">
                <a16:creationId xmlns:a16="http://schemas.microsoft.com/office/drawing/2014/main" id="{DDA5DCD7-A919-4385-ADDF-23EC73EF6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25" y="5672138"/>
            <a:ext cx="1270000" cy="198437"/>
          </a:xfrm>
          <a:prstGeom prst="leftArrow">
            <a:avLst>
              <a:gd name="adj1" fmla="val 50000"/>
              <a:gd name="adj2" fmla="val 1594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68619" name="组合 20499">
            <a:extLst>
              <a:ext uri="{FF2B5EF4-FFF2-40B4-BE49-F238E27FC236}">
                <a16:creationId xmlns:a16="http://schemas.microsoft.com/office/drawing/2014/main" id="{B8D50367-065A-48CB-ADB1-CB831E431E73}"/>
              </a:ext>
            </a:extLst>
          </p:cNvPr>
          <p:cNvGrpSpPr>
            <a:grpSpLocks/>
          </p:cNvGrpSpPr>
          <p:nvPr/>
        </p:nvGrpSpPr>
        <p:grpSpPr bwMode="auto">
          <a:xfrm>
            <a:off x="5480050" y="2295525"/>
            <a:ext cx="1111250" cy="230188"/>
            <a:chOff x="0" y="0"/>
            <a:chExt cx="700" cy="145"/>
          </a:xfrm>
        </p:grpSpPr>
        <p:sp>
          <p:nvSpPr>
            <p:cNvPr id="68715" name="AutoShape 21">
              <a:extLst>
                <a:ext uri="{FF2B5EF4-FFF2-40B4-BE49-F238E27FC236}">
                  <a16:creationId xmlns:a16="http://schemas.microsoft.com/office/drawing/2014/main" id="{9009B118-C24D-49C4-9E99-755601784AD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8716" name="AutoShape 22">
              <a:extLst>
                <a:ext uri="{FF2B5EF4-FFF2-40B4-BE49-F238E27FC236}">
                  <a16:creationId xmlns:a16="http://schemas.microsoft.com/office/drawing/2014/main" id="{B20DCD41-9847-49A5-8110-DD63F9873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8620" name="Text Box 23">
            <a:extLst>
              <a:ext uri="{FF2B5EF4-FFF2-40B4-BE49-F238E27FC236}">
                <a16:creationId xmlns:a16="http://schemas.microsoft.com/office/drawing/2014/main" id="{9CF41984-41F2-4294-B003-77CF54FE666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22800" y="1604963"/>
            <a:ext cx="471488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6600"/>
                </a:solidFill>
                <a:latin typeface="Times New Roman" panose="02020603050405020304" pitchFamily="18" charset="0"/>
              </a:rPr>
              <a:t>总线接口部件</a:t>
            </a:r>
            <a:r>
              <a:rPr lang="en-US" altLang="zh-CN" sz="2000">
                <a:solidFill>
                  <a:srgbClr val="FF6600"/>
                </a:solidFill>
                <a:latin typeface="Times New Roman" panose="02020603050405020304" pitchFamily="18" charset="0"/>
              </a:rPr>
              <a:t>BIU</a:t>
            </a:r>
          </a:p>
        </p:txBody>
      </p:sp>
      <p:grpSp>
        <p:nvGrpSpPr>
          <p:cNvPr id="68621" name="组合 20503">
            <a:extLst>
              <a:ext uri="{FF2B5EF4-FFF2-40B4-BE49-F238E27FC236}">
                <a16:creationId xmlns:a16="http://schemas.microsoft.com/office/drawing/2014/main" id="{1ED4B0E0-F76D-4676-B26B-E0A443CC0459}"/>
              </a:ext>
            </a:extLst>
          </p:cNvPr>
          <p:cNvGrpSpPr>
            <a:grpSpLocks/>
          </p:cNvGrpSpPr>
          <p:nvPr/>
        </p:nvGrpSpPr>
        <p:grpSpPr bwMode="auto">
          <a:xfrm>
            <a:off x="5145088" y="5229225"/>
            <a:ext cx="1554162" cy="733425"/>
            <a:chOff x="0" y="0"/>
            <a:chExt cx="979" cy="462"/>
          </a:xfrm>
        </p:grpSpPr>
        <p:sp>
          <p:nvSpPr>
            <p:cNvPr id="68708" name="Text Box 25">
              <a:extLst>
                <a:ext uri="{FF2B5EF4-FFF2-40B4-BE49-F238E27FC236}">
                  <a16:creationId xmlns:a16="http://schemas.microsoft.com/office/drawing/2014/main" id="{0DECB27C-AF2D-4B0C-B54D-F62067FAE30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37"/>
              <a:ext cx="979" cy="2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1 2 3 4 5 6</a:t>
              </a:r>
            </a:p>
          </p:txBody>
        </p:sp>
        <p:sp>
          <p:nvSpPr>
            <p:cNvPr id="68709" name="Text Box 26">
              <a:extLst>
                <a:ext uri="{FF2B5EF4-FFF2-40B4-BE49-F238E27FC236}">
                  <a16:creationId xmlns:a16="http://schemas.microsoft.com/office/drawing/2014/main" id="{3262FCE5-6157-4CB3-A273-A7048CDA313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" y="0"/>
              <a:ext cx="8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指令队列</a:t>
              </a:r>
            </a:p>
          </p:txBody>
        </p:sp>
        <p:sp>
          <p:nvSpPr>
            <p:cNvPr id="68710" name="Line 27">
              <a:extLst>
                <a:ext uri="{FF2B5EF4-FFF2-40B4-BE49-F238E27FC236}">
                  <a16:creationId xmlns:a16="http://schemas.microsoft.com/office/drawing/2014/main" id="{77D0F002-3F2E-4E49-92C0-E59DC0FEE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1" name="Line 28">
              <a:extLst>
                <a:ext uri="{FF2B5EF4-FFF2-40B4-BE49-F238E27FC236}">
                  <a16:creationId xmlns:a16="http://schemas.microsoft.com/office/drawing/2014/main" id="{1EBB80FD-3E64-485F-8B15-C2C128E6E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2" name="Line 29">
              <a:extLst>
                <a:ext uri="{FF2B5EF4-FFF2-40B4-BE49-F238E27FC236}">
                  <a16:creationId xmlns:a16="http://schemas.microsoft.com/office/drawing/2014/main" id="{C36B5396-3A63-4DD1-976A-146EAAE5B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3" name="Line 30">
              <a:extLst>
                <a:ext uri="{FF2B5EF4-FFF2-40B4-BE49-F238E27FC236}">
                  <a16:creationId xmlns:a16="http://schemas.microsoft.com/office/drawing/2014/main" id="{4F90E8BF-DCE9-48EC-94D7-CFB1AF66B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4" name="Line 31">
              <a:extLst>
                <a:ext uri="{FF2B5EF4-FFF2-40B4-BE49-F238E27FC236}">
                  <a16:creationId xmlns:a16="http://schemas.microsoft.com/office/drawing/2014/main" id="{CE7EA8F7-838D-40C4-87B5-E888E7464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622" name="组合 20511">
            <a:extLst>
              <a:ext uri="{FF2B5EF4-FFF2-40B4-BE49-F238E27FC236}">
                <a16:creationId xmlns:a16="http://schemas.microsoft.com/office/drawing/2014/main" id="{579EDC9D-E4D7-4146-AE62-E090726379FB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2543175"/>
            <a:ext cx="895350" cy="1074738"/>
            <a:chOff x="0" y="0"/>
            <a:chExt cx="564" cy="677"/>
          </a:xfrm>
        </p:grpSpPr>
        <p:sp>
          <p:nvSpPr>
            <p:cNvPr id="68704" name="Text Box 33">
              <a:extLst>
                <a:ext uri="{FF2B5EF4-FFF2-40B4-BE49-F238E27FC236}">
                  <a16:creationId xmlns:a16="http://schemas.microsoft.com/office/drawing/2014/main" id="{B0B550BF-4354-410A-BD1D-FBE6F06F372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67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CS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DS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68705" name="Line 34">
              <a:extLst>
                <a:ext uri="{FF2B5EF4-FFF2-40B4-BE49-F238E27FC236}">
                  <a16:creationId xmlns:a16="http://schemas.microsoft.com/office/drawing/2014/main" id="{D9F4D97B-C47D-4A95-A28C-4E4DE2B2F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2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06" name="Line 35">
              <a:extLst>
                <a:ext uri="{FF2B5EF4-FFF2-40B4-BE49-F238E27FC236}">
                  <a16:creationId xmlns:a16="http://schemas.microsoft.com/office/drawing/2014/main" id="{4A002EB5-4634-4E87-A917-3525ABCDC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355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07" name="Line 36">
              <a:extLst>
                <a:ext uri="{FF2B5EF4-FFF2-40B4-BE49-F238E27FC236}">
                  <a16:creationId xmlns:a16="http://schemas.microsoft.com/office/drawing/2014/main" id="{68959F3C-19F9-47AC-94DC-07C5214F8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51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623" name="组合 20516">
            <a:extLst>
              <a:ext uri="{FF2B5EF4-FFF2-40B4-BE49-F238E27FC236}">
                <a16:creationId xmlns:a16="http://schemas.microsoft.com/office/drawing/2014/main" id="{B257A1EC-5866-4ADB-8582-FD46394EF77D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1293813"/>
            <a:ext cx="2009775" cy="579437"/>
            <a:chOff x="0" y="0"/>
            <a:chExt cx="1266" cy="365"/>
          </a:xfrm>
        </p:grpSpPr>
        <p:sp>
          <p:nvSpPr>
            <p:cNvPr id="68702" name="AutoShape 38">
              <a:extLst>
                <a:ext uri="{FF2B5EF4-FFF2-40B4-BE49-F238E27FC236}">
                  <a16:creationId xmlns:a16="http://schemas.microsoft.com/office/drawing/2014/main" id="{1B9BD927-6510-4EA5-8F7D-7BF111DCD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8703" name="Rectangle 39">
              <a:extLst>
                <a:ext uri="{FF2B5EF4-FFF2-40B4-BE49-F238E27FC236}">
                  <a16:creationId xmlns:a16="http://schemas.microsoft.com/office/drawing/2014/main" id="{35D635C0-3130-4E15-A595-3D1D3C8AB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8624" name="组合 20519">
            <a:extLst>
              <a:ext uri="{FF2B5EF4-FFF2-40B4-BE49-F238E27FC236}">
                <a16:creationId xmlns:a16="http://schemas.microsoft.com/office/drawing/2014/main" id="{2FE2E120-E258-499C-A3B2-5037B667767E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5980113"/>
            <a:ext cx="990600" cy="685800"/>
            <a:chOff x="0" y="0"/>
            <a:chExt cx="624" cy="432"/>
          </a:xfrm>
        </p:grpSpPr>
        <p:sp>
          <p:nvSpPr>
            <p:cNvPr id="20521" name="Text Box 41">
              <a:extLst>
                <a:ext uri="{FF2B5EF4-FFF2-40B4-BE49-F238E27FC236}">
                  <a16:creationId xmlns:a16="http://schemas.microsoft.com/office/drawing/2014/main" id="{5F3368D3-71E3-4271-92B9-99F29553E87E}"/>
                </a:ext>
              </a:extLst>
            </p:cNvPr>
            <p:cNvSpPr txBox="1"/>
            <p:nvPr/>
          </p:nvSpPr>
          <p:spPr>
            <a:xfrm>
              <a:off x="144" y="96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8088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8700" name="Line 42">
              <a:extLst>
                <a:ext uri="{FF2B5EF4-FFF2-40B4-BE49-F238E27FC236}">
                  <a16:creationId xmlns:a16="http://schemas.microsoft.com/office/drawing/2014/main" id="{C4EA1972-9056-4701-9601-89DF79C84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01" name="Line 43">
              <a:extLst>
                <a:ext uri="{FF2B5EF4-FFF2-40B4-BE49-F238E27FC236}">
                  <a16:creationId xmlns:a16="http://schemas.microsoft.com/office/drawing/2014/main" id="{1ECCD7E4-3E9A-4AFC-9F36-93042A60D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625" name="组合 20523">
            <a:extLst>
              <a:ext uri="{FF2B5EF4-FFF2-40B4-BE49-F238E27FC236}">
                <a16:creationId xmlns:a16="http://schemas.microsoft.com/office/drawing/2014/main" id="{5DBBCD76-A0EC-4BF1-A900-005EE9C0946E}"/>
              </a:ext>
            </a:extLst>
          </p:cNvPr>
          <p:cNvGrpSpPr>
            <a:grpSpLocks/>
          </p:cNvGrpSpPr>
          <p:nvPr/>
        </p:nvGrpSpPr>
        <p:grpSpPr bwMode="auto">
          <a:xfrm>
            <a:off x="5768975" y="5980113"/>
            <a:ext cx="914400" cy="731837"/>
            <a:chOff x="0" y="0"/>
            <a:chExt cx="576" cy="461"/>
          </a:xfrm>
        </p:grpSpPr>
        <p:sp>
          <p:nvSpPr>
            <p:cNvPr id="20525" name="Text Box 45">
              <a:extLst>
                <a:ext uri="{FF2B5EF4-FFF2-40B4-BE49-F238E27FC236}">
                  <a16:creationId xmlns:a16="http://schemas.microsoft.com/office/drawing/2014/main" id="{BA1C8711-16D8-4918-B84F-DD5FA9723A2D}"/>
                </a:ext>
              </a:extLst>
            </p:cNvPr>
            <p:cNvSpPr txBox="1"/>
            <p:nvPr/>
          </p:nvSpPr>
          <p:spPr>
            <a:xfrm>
              <a:off x="0" y="288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8698" name="Line 46">
              <a:extLst>
                <a:ext uri="{FF2B5EF4-FFF2-40B4-BE49-F238E27FC236}">
                  <a16:creationId xmlns:a16="http://schemas.microsoft.com/office/drawing/2014/main" id="{830EAF11-6D46-43EA-BAB9-14B077DFE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626" name="组合 20526">
            <a:extLst>
              <a:ext uri="{FF2B5EF4-FFF2-40B4-BE49-F238E27FC236}">
                <a16:creationId xmlns:a16="http://schemas.microsoft.com/office/drawing/2014/main" id="{1AB410FB-7662-4BAE-B2B1-3B2A17522467}"/>
              </a:ext>
            </a:extLst>
          </p:cNvPr>
          <p:cNvGrpSpPr>
            <a:grpSpLocks/>
          </p:cNvGrpSpPr>
          <p:nvPr/>
        </p:nvGrpSpPr>
        <p:grpSpPr bwMode="auto">
          <a:xfrm>
            <a:off x="6226175" y="2551113"/>
            <a:ext cx="895350" cy="609600"/>
            <a:chOff x="0" y="0"/>
            <a:chExt cx="564" cy="384"/>
          </a:xfrm>
        </p:grpSpPr>
        <p:sp>
          <p:nvSpPr>
            <p:cNvPr id="68695" name="Text Box 48">
              <a:extLst>
                <a:ext uri="{FF2B5EF4-FFF2-40B4-BE49-F238E27FC236}">
                  <a16:creationId xmlns:a16="http://schemas.microsoft.com/office/drawing/2014/main" id="{9D3A7279-53FF-4D58-B6E2-14AED0BE55A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3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68696" name="Line 49">
              <a:extLst>
                <a:ext uri="{FF2B5EF4-FFF2-40B4-BE49-F238E27FC236}">
                  <a16:creationId xmlns:a16="http://schemas.microsoft.com/office/drawing/2014/main" id="{4EAA9ECB-B871-4C2B-B0B9-AA89885BB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627" name="组合 20529">
            <a:extLst>
              <a:ext uri="{FF2B5EF4-FFF2-40B4-BE49-F238E27FC236}">
                <a16:creationId xmlns:a16="http://schemas.microsoft.com/office/drawing/2014/main" id="{5F926A68-44D5-4743-AE92-DEDDA197AD8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2775" y="3160713"/>
            <a:ext cx="1066800" cy="1395412"/>
            <a:chOff x="0" y="0"/>
            <a:chExt cx="672" cy="879"/>
          </a:xfrm>
        </p:grpSpPr>
        <p:sp>
          <p:nvSpPr>
            <p:cNvPr id="68693" name="AutoShape 51">
              <a:extLst>
                <a:ext uri="{FF2B5EF4-FFF2-40B4-BE49-F238E27FC236}">
                  <a16:creationId xmlns:a16="http://schemas.microsoft.com/office/drawing/2014/main" id="{36EFF140-3FDD-4E18-8CF9-7B1B8C5A4F5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8694" name="AutoShape 52">
              <a:extLst>
                <a:ext uri="{FF2B5EF4-FFF2-40B4-BE49-F238E27FC236}">
                  <a16:creationId xmlns:a16="http://schemas.microsoft.com/office/drawing/2014/main" id="{5DD2032B-AB41-4500-9584-431225D72E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8628" name="组合 20532">
            <a:extLst>
              <a:ext uri="{FF2B5EF4-FFF2-40B4-BE49-F238E27FC236}">
                <a16:creationId xmlns:a16="http://schemas.microsoft.com/office/drawing/2014/main" id="{59AC4A4E-6799-4AC9-87B9-2EAD16F9F948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2159000"/>
            <a:ext cx="609600" cy="1992313"/>
            <a:chOff x="0" y="0"/>
            <a:chExt cx="384" cy="1008"/>
          </a:xfrm>
        </p:grpSpPr>
        <p:sp>
          <p:nvSpPr>
            <p:cNvPr id="68691" name="AutoShape 54">
              <a:extLst>
                <a:ext uri="{FF2B5EF4-FFF2-40B4-BE49-F238E27FC236}">
                  <a16:creationId xmlns:a16="http://schemas.microsoft.com/office/drawing/2014/main" id="{1EDE5600-1908-412E-851A-E1FDDC962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384" cy="240"/>
            </a:xfrm>
            <a:prstGeom prst="leftRightArrow">
              <a:avLst>
                <a:gd name="adj1" fmla="val 50000"/>
                <a:gd name="adj2" fmla="val 32000"/>
              </a:avLst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0535" name="Text Box 55">
              <a:extLst>
                <a:ext uri="{FF2B5EF4-FFF2-40B4-BE49-F238E27FC236}">
                  <a16:creationId xmlns:a16="http://schemas.microsoft.com/office/drawing/2014/main" id="{589F90F5-47F0-415F-BDA6-034FA64CC758}"/>
                </a:ext>
              </a:extLst>
            </p:cNvPr>
            <p:cNvSpPr txBox="1"/>
            <p:nvPr/>
          </p:nvSpPr>
          <p:spPr>
            <a:xfrm>
              <a:off x="96" y="0"/>
              <a:ext cx="207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总线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68629" name="AutoShape 56">
            <a:extLst>
              <a:ext uri="{FF2B5EF4-FFF2-40B4-BE49-F238E27FC236}">
                <a16:creationId xmlns:a16="http://schemas.microsoft.com/office/drawing/2014/main" id="{D434ADCB-FE2B-4F5C-83A9-7CD37E8E7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508500"/>
            <a:ext cx="3670300" cy="215900"/>
          </a:xfrm>
          <a:prstGeom prst="leftRightArrow">
            <a:avLst>
              <a:gd name="adj1" fmla="val 57435"/>
              <a:gd name="adj2" fmla="val 116481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8630" name="AutoShape 57">
            <a:extLst>
              <a:ext uri="{FF2B5EF4-FFF2-40B4-BE49-F238E27FC236}">
                <a16:creationId xmlns:a16="http://schemas.microsoft.com/office/drawing/2014/main" id="{BA73BC08-EC70-4AA1-963E-2F9CEADE9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5734050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8631" name="Line 58">
            <a:extLst>
              <a:ext uri="{FF2B5EF4-FFF2-40B4-BE49-F238E27FC236}">
                <a16:creationId xmlns:a16="http://schemas.microsoft.com/office/drawing/2014/main" id="{5D060CD0-5E88-4643-BC2B-7FE168C25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4638" y="1851025"/>
            <a:ext cx="0" cy="4318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32" name="Rectangle 60">
            <a:extLst>
              <a:ext uri="{FF2B5EF4-FFF2-40B4-BE49-F238E27FC236}">
                <a16:creationId xmlns:a16="http://schemas.microsoft.com/office/drawing/2014/main" id="{80F23FBA-0779-4814-960B-BEBF52623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294188"/>
            <a:ext cx="29527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0100</a:t>
            </a:r>
            <a:r>
              <a:rPr lang="en-US" altLang="zh-CN" sz="2000">
                <a:latin typeface="Times New Roman" panose="02020603050405020304" pitchFamily="18" charset="0"/>
              </a:rPr>
              <a:t>0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H(20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+    0000H(16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         ----------------------           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01000H (20</a:t>
            </a:r>
            <a:r>
              <a:rPr lang="zh-CN" altLang="en-US" sz="2000">
                <a:latin typeface="Times New Roman" panose="02020603050405020304" pitchFamily="18" charset="0"/>
              </a:rPr>
              <a:t>位</a:t>
            </a:r>
            <a:r>
              <a:rPr lang="en-US" altLang="zh-CN" sz="2000">
                <a:latin typeface="Times New Roman" panose="02020603050405020304" pitchFamily="18" charset="0"/>
              </a:rPr>
              <a:t>) 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物理地址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(20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68633" name="Text Box 75">
            <a:extLst>
              <a:ext uri="{FF2B5EF4-FFF2-40B4-BE49-F238E27FC236}">
                <a16:creationId xmlns:a16="http://schemas.microsoft.com/office/drawing/2014/main" id="{4A24C210-5D42-4053-A0D3-462038AC4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08050"/>
            <a:ext cx="2447925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CPU</a:t>
            </a:r>
            <a:r>
              <a:rPr lang="zh-CN" altLang="en-US" sz="2400">
                <a:latin typeface="Times New Roman" panose="02020603050405020304" pitchFamily="18" charset="0"/>
              </a:rPr>
              <a:t>的取指过程</a:t>
            </a:r>
            <a:r>
              <a:rPr lang="en-US" altLang="zh-CN" sz="240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当指令队列有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个或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个以上的字节空余时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,BIU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自动读指令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存入指令队列。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0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指令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Garamond" panose="02020404030301010803" pitchFamily="18" charset="0"/>
              </a:rPr>
              <a:t>MOV  AL , 5CH</a:t>
            </a:r>
            <a:endParaRPr lang="zh-CN" altLang="en-US" sz="1800">
              <a:latin typeface="Garamond" panose="02020404030301010803" pitchFamily="18" charset="0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Garamond" panose="02020404030301010803" pitchFamily="18" charset="0"/>
              </a:rPr>
              <a:t>ADD AL , [100H]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Arial" panose="020B0604020202020204" pitchFamily="34" charset="0"/>
              </a:rPr>
              <a:t>…</a:t>
            </a:r>
            <a:endParaRPr lang="en-US" altLang="zh-CN" sz="20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0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4" name="Rectangle 89">
            <a:extLst>
              <a:ext uri="{FF2B5EF4-FFF2-40B4-BE49-F238E27FC236}">
                <a16:creationId xmlns:a16="http://schemas.microsoft.com/office/drawing/2014/main" id="{B9ECD558-1CB8-4346-8D01-D0B2DD733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149725"/>
            <a:ext cx="13684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CS=0100H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IP=0000H </a:t>
            </a:r>
          </a:p>
        </p:txBody>
      </p:sp>
      <p:sp>
        <p:nvSpPr>
          <p:cNvPr id="20542" name="Text Box 91">
            <a:extLst>
              <a:ext uri="{FF2B5EF4-FFF2-40B4-BE49-F238E27FC236}">
                <a16:creationId xmlns:a16="http://schemas.microsoft.com/office/drawing/2014/main" id="{E47F24AE-11AF-4124-A0E0-9921671AB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2530475"/>
            <a:ext cx="895350" cy="301625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CS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20543" name="Text Box 93">
            <a:extLst>
              <a:ext uri="{FF2B5EF4-FFF2-40B4-BE49-F238E27FC236}">
                <a16:creationId xmlns:a16="http://schemas.microsoft.com/office/drawing/2014/main" id="{2970199B-E079-4B7F-BCDE-2A8D71458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2546350"/>
            <a:ext cx="895350" cy="301625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IP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grpSp>
        <p:nvGrpSpPr>
          <p:cNvPr id="20544" name="组合 20543">
            <a:extLst>
              <a:ext uri="{FF2B5EF4-FFF2-40B4-BE49-F238E27FC236}">
                <a16:creationId xmlns:a16="http://schemas.microsoft.com/office/drawing/2014/main" id="{5D5214BF-7F54-493C-8B5E-3EF5E8DBF767}"/>
              </a:ext>
            </a:extLst>
          </p:cNvPr>
          <p:cNvGrpSpPr>
            <a:grpSpLocks/>
          </p:cNvGrpSpPr>
          <p:nvPr/>
        </p:nvGrpSpPr>
        <p:grpSpPr bwMode="auto">
          <a:xfrm>
            <a:off x="5473700" y="2295525"/>
            <a:ext cx="1111250" cy="230188"/>
            <a:chOff x="0" y="0"/>
            <a:chExt cx="700" cy="145"/>
          </a:xfrm>
        </p:grpSpPr>
        <p:sp>
          <p:nvSpPr>
            <p:cNvPr id="68689" name="AutoShape 95">
              <a:extLst>
                <a:ext uri="{FF2B5EF4-FFF2-40B4-BE49-F238E27FC236}">
                  <a16:creationId xmlns:a16="http://schemas.microsoft.com/office/drawing/2014/main" id="{9C809BEB-2389-44B8-871D-BCDDABA70DB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8690" name="AutoShape 96">
              <a:extLst>
                <a:ext uri="{FF2B5EF4-FFF2-40B4-BE49-F238E27FC236}">
                  <a16:creationId xmlns:a16="http://schemas.microsoft.com/office/drawing/2014/main" id="{C1B75BCB-EFA4-4DE6-B938-4C349DCAF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20547" name="组合 20546">
            <a:extLst>
              <a:ext uri="{FF2B5EF4-FFF2-40B4-BE49-F238E27FC236}">
                <a16:creationId xmlns:a16="http://schemas.microsoft.com/office/drawing/2014/main" id="{68789601-F32A-45F0-BC09-E020227B2D9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4638" y="1892300"/>
            <a:ext cx="1336675" cy="441325"/>
            <a:chOff x="0" y="0"/>
            <a:chExt cx="842" cy="278"/>
          </a:xfrm>
        </p:grpSpPr>
        <p:sp>
          <p:nvSpPr>
            <p:cNvPr id="68680" name="Line 98">
              <a:extLst>
                <a:ext uri="{FF2B5EF4-FFF2-40B4-BE49-F238E27FC236}">
                  <a16:creationId xmlns:a16="http://schemas.microsoft.com/office/drawing/2014/main" id="{7F9F5418-C781-4E82-8FBE-7295328284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1" name="Line 99">
              <a:extLst>
                <a:ext uri="{FF2B5EF4-FFF2-40B4-BE49-F238E27FC236}">
                  <a16:creationId xmlns:a16="http://schemas.microsoft.com/office/drawing/2014/main" id="{314FF1D0-F44D-432B-B3B1-6A63152A5B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2" name="Line 100">
              <a:extLst>
                <a:ext uri="{FF2B5EF4-FFF2-40B4-BE49-F238E27FC236}">
                  <a16:creationId xmlns:a16="http://schemas.microsoft.com/office/drawing/2014/main" id="{E64D4728-F7AF-4F52-B5A5-205DD2DFC1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3" name="Line 101">
              <a:extLst>
                <a:ext uri="{FF2B5EF4-FFF2-40B4-BE49-F238E27FC236}">
                  <a16:creationId xmlns:a16="http://schemas.microsoft.com/office/drawing/2014/main" id="{CD34A310-A5E7-4122-886D-E791A6438F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4" name="Line 102">
              <a:extLst>
                <a:ext uri="{FF2B5EF4-FFF2-40B4-BE49-F238E27FC236}">
                  <a16:creationId xmlns:a16="http://schemas.microsoft.com/office/drawing/2014/main" id="{073235A7-A504-4D5B-9614-C9C3E5F34B7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5" name="Line 103">
              <a:extLst>
                <a:ext uri="{FF2B5EF4-FFF2-40B4-BE49-F238E27FC236}">
                  <a16:creationId xmlns:a16="http://schemas.microsoft.com/office/drawing/2014/main" id="{D42F6462-DF81-4ED4-A1AE-4201E9285B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6" name="Line 104">
              <a:extLst>
                <a:ext uri="{FF2B5EF4-FFF2-40B4-BE49-F238E27FC236}">
                  <a16:creationId xmlns:a16="http://schemas.microsoft.com/office/drawing/2014/main" id="{6C3BB8FC-3156-41A8-801C-360B8B2B116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7" name="Line 105">
              <a:extLst>
                <a:ext uri="{FF2B5EF4-FFF2-40B4-BE49-F238E27FC236}">
                  <a16:creationId xmlns:a16="http://schemas.microsoft.com/office/drawing/2014/main" id="{0F9C2720-8635-42CA-BD1B-42F293640C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8" name="Text Box 106">
              <a:extLst>
                <a:ext uri="{FF2B5EF4-FFF2-40B4-BE49-F238E27FC236}">
                  <a16:creationId xmlns:a16="http://schemas.microsoft.com/office/drawing/2014/main" id="{9AEE0086-8234-4245-8377-4EAA2C93626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400">
                  <a:solidFill>
                    <a:srgbClr val="FF3300"/>
                  </a:solidFill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grpSp>
        <p:nvGrpSpPr>
          <p:cNvPr id="20557" name="组合 20556">
            <a:extLst>
              <a:ext uri="{FF2B5EF4-FFF2-40B4-BE49-F238E27FC236}">
                <a16:creationId xmlns:a16="http://schemas.microsoft.com/office/drawing/2014/main" id="{DDE9BD96-6D06-4826-B4D7-6DC1C58FA3A9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1287463"/>
            <a:ext cx="2009775" cy="579437"/>
            <a:chOff x="0" y="0"/>
            <a:chExt cx="1266" cy="365"/>
          </a:xfrm>
        </p:grpSpPr>
        <p:sp>
          <p:nvSpPr>
            <p:cNvPr id="68678" name="AutoShape 109">
              <a:extLst>
                <a:ext uri="{FF2B5EF4-FFF2-40B4-BE49-F238E27FC236}">
                  <a16:creationId xmlns:a16="http://schemas.microsoft.com/office/drawing/2014/main" id="{8D1A5186-5F65-4F8D-9D04-2C032628E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8679" name="Rectangle 110">
              <a:extLst>
                <a:ext uri="{FF2B5EF4-FFF2-40B4-BE49-F238E27FC236}">
                  <a16:creationId xmlns:a16="http://schemas.microsoft.com/office/drawing/2014/main" id="{BE4EB1DB-63B2-4289-9D39-B0AE17D56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20560" name="Text Box 111">
            <a:extLst>
              <a:ext uri="{FF2B5EF4-FFF2-40B4-BE49-F238E27FC236}">
                <a16:creationId xmlns:a16="http://schemas.microsoft.com/office/drawing/2014/main" id="{C5325D39-EB9F-44C1-BEA2-1E64783F487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0363" y="1333500"/>
            <a:ext cx="388937" cy="5081588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20561" name="组合 20560">
            <a:extLst>
              <a:ext uri="{FF2B5EF4-FFF2-40B4-BE49-F238E27FC236}">
                <a16:creationId xmlns:a16="http://schemas.microsoft.com/office/drawing/2014/main" id="{09FAC324-201D-4A51-9C7A-C95BEF18DE8D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44900"/>
            <a:ext cx="609600" cy="2143125"/>
            <a:chOff x="0" y="0"/>
            <a:chExt cx="384" cy="1104"/>
          </a:xfrm>
        </p:grpSpPr>
        <p:sp>
          <p:nvSpPr>
            <p:cNvPr id="68676" name="AutoShape 113">
              <a:extLst>
                <a:ext uri="{FF2B5EF4-FFF2-40B4-BE49-F238E27FC236}">
                  <a16:creationId xmlns:a16="http://schemas.microsoft.com/office/drawing/2014/main" id="{D9619F42-2454-48E6-A9E1-6BD8F2883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FF0000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0563" name="Text Box 114">
              <a:extLst>
                <a:ext uri="{FF2B5EF4-FFF2-40B4-BE49-F238E27FC236}">
                  <a16:creationId xmlns:a16="http://schemas.microsoft.com/office/drawing/2014/main" id="{BE9BB631-28CB-4721-B428-A4E3E78C0D2A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rgbClr val="FF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地址总线</a:t>
              </a:r>
              <a:endParaRPr lang="zh-CN" altLang="en-US" sz="240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0564" name="组合 20563">
            <a:extLst>
              <a:ext uri="{FF2B5EF4-FFF2-40B4-BE49-F238E27FC236}">
                <a16:creationId xmlns:a16="http://schemas.microsoft.com/office/drawing/2014/main" id="{4FAD53FD-BF46-4513-80B3-F401A7A31734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44900"/>
            <a:ext cx="609600" cy="2160588"/>
            <a:chOff x="0" y="0"/>
            <a:chExt cx="384" cy="1104"/>
          </a:xfrm>
        </p:grpSpPr>
        <p:sp>
          <p:nvSpPr>
            <p:cNvPr id="68674" name="AutoShape 117">
              <a:extLst>
                <a:ext uri="{FF2B5EF4-FFF2-40B4-BE49-F238E27FC236}">
                  <a16:creationId xmlns:a16="http://schemas.microsoft.com/office/drawing/2014/main" id="{0486411F-70E5-42B0-9ACD-A64217E56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FF990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0566" name="Text Box 118">
              <a:extLst>
                <a:ext uri="{FF2B5EF4-FFF2-40B4-BE49-F238E27FC236}">
                  <a16:creationId xmlns:a16="http://schemas.microsoft.com/office/drawing/2014/main" id="{7F8DDDC8-6D3F-49D9-B021-E5D1A7192D5D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数据总线</a:t>
              </a:r>
              <a:endParaRPr lang="zh-CN" altLang="en-US" sz="24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20567" name="AutoShape 120">
            <a:extLst>
              <a:ext uri="{FF2B5EF4-FFF2-40B4-BE49-F238E27FC236}">
                <a16:creationId xmlns:a16="http://schemas.microsoft.com/office/drawing/2014/main" id="{E0C0EF8B-E730-454F-89F8-7437AB910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138" y="5670550"/>
            <a:ext cx="1270000" cy="198438"/>
          </a:xfrm>
          <a:prstGeom prst="leftArrow">
            <a:avLst>
              <a:gd name="adj1" fmla="val 50000"/>
              <a:gd name="adj2" fmla="val 159466"/>
            </a:avLst>
          </a:prstGeom>
          <a:solidFill>
            <a:schemeClr val="hlink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20568" name="Text Box 121">
            <a:extLst>
              <a:ext uri="{FF2B5EF4-FFF2-40B4-BE49-F238E27FC236}">
                <a16:creationId xmlns:a16="http://schemas.microsoft.com/office/drawing/2014/main" id="{02A80145-32B1-441F-A306-D1929D58A3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5125" y="1331913"/>
            <a:ext cx="388938" cy="5081587"/>
          </a:xfrm>
          <a:prstGeom prst="rect">
            <a:avLst/>
          </a:prstGeom>
          <a:solidFill>
            <a:schemeClr val="hlink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sp>
        <p:nvSpPr>
          <p:cNvPr id="68645" name="Text Box 130">
            <a:extLst>
              <a:ext uri="{FF2B5EF4-FFF2-40B4-BE49-F238E27FC236}">
                <a16:creationId xmlns:a16="http://schemas.microsoft.com/office/drawing/2014/main" id="{1B9BAE60-2BCD-4B45-A368-6E9D8CE3E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589588"/>
            <a:ext cx="287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b="0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20570" name="Text Box 132">
            <a:extLst>
              <a:ext uri="{FF2B5EF4-FFF2-40B4-BE49-F238E27FC236}">
                <a16:creationId xmlns:a16="http://schemas.microsoft.com/office/drawing/2014/main" id="{D05D08F1-5E9F-47AE-BAE3-BF880A77D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71" name="Text Box 139">
            <a:extLst>
              <a:ext uri="{FF2B5EF4-FFF2-40B4-BE49-F238E27FC236}">
                <a16:creationId xmlns:a16="http://schemas.microsoft.com/office/drawing/2014/main" id="{38384FAB-C11D-4A07-8636-5A8A4E969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9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572" name="Text Box 140">
            <a:extLst>
              <a:ext uri="{FF2B5EF4-FFF2-40B4-BE49-F238E27FC236}">
                <a16:creationId xmlns:a16="http://schemas.microsoft.com/office/drawing/2014/main" id="{1FF8BF92-FE22-4EEC-9155-1754BF51A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9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0573" name="Text Box 141">
            <a:extLst>
              <a:ext uri="{FF2B5EF4-FFF2-40B4-BE49-F238E27FC236}">
                <a16:creationId xmlns:a16="http://schemas.microsoft.com/office/drawing/2014/main" id="{008ABAC7-5786-4FAF-8EAD-81B0B7D44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0" y="5589588"/>
            <a:ext cx="233363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0574" name="Text Box 142">
            <a:extLst>
              <a:ext uri="{FF2B5EF4-FFF2-40B4-BE49-F238E27FC236}">
                <a16:creationId xmlns:a16="http://schemas.microsoft.com/office/drawing/2014/main" id="{D3BC8C90-2BEE-4A50-B63D-9D24E2CAE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01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0575" name="Text Box 143">
            <a:extLst>
              <a:ext uri="{FF2B5EF4-FFF2-40B4-BE49-F238E27FC236}">
                <a16:creationId xmlns:a16="http://schemas.microsoft.com/office/drawing/2014/main" id="{CFD8C779-E304-4CAF-9AEC-147B6BBA8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0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0576" name="Text Box 144">
            <a:extLst>
              <a:ext uri="{FF2B5EF4-FFF2-40B4-BE49-F238E27FC236}">
                <a16:creationId xmlns:a16="http://schemas.microsoft.com/office/drawing/2014/main" id="{078F210E-5C2C-4E00-B853-B76F746AC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949950"/>
            <a:ext cx="1439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指令代码</a:t>
            </a:r>
          </a:p>
        </p:txBody>
      </p:sp>
      <p:sp>
        <p:nvSpPr>
          <p:cNvPr id="20577" name="AutoShape 145">
            <a:extLst>
              <a:ext uri="{FF2B5EF4-FFF2-40B4-BE49-F238E27FC236}">
                <a16:creationId xmlns:a16="http://schemas.microsoft.com/office/drawing/2014/main" id="{05384DCE-58E6-4A58-AF9E-B3B9D474C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5734050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20578" name="AutoShape 146">
            <a:extLst>
              <a:ext uri="{FF2B5EF4-FFF2-40B4-BE49-F238E27FC236}">
                <a16:creationId xmlns:a16="http://schemas.microsoft.com/office/drawing/2014/main" id="{F2C21FCC-AD68-49EA-A41C-776FA3DE50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92650" y="4652963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68655" name="组合 20578">
            <a:extLst>
              <a:ext uri="{FF2B5EF4-FFF2-40B4-BE49-F238E27FC236}">
                <a16:creationId xmlns:a16="http://schemas.microsoft.com/office/drawing/2014/main" id="{2EE0BAE2-EBFE-4361-B2A9-70F691D7753B}"/>
              </a:ext>
            </a:extLst>
          </p:cNvPr>
          <p:cNvGrpSpPr>
            <a:grpSpLocks/>
          </p:cNvGrpSpPr>
          <p:nvPr/>
        </p:nvGrpSpPr>
        <p:grpSpPr bwMode="auto">
          <a:xfrm>
            <a:off x="2089150" y="2492375"/>
            <a:ext cx="1438275" cy="2736850"/>
            <a:chOff x="0" y="0"/>
            <a:chExt cx="906" cy="1724"/>
          </a:xfrm>
        </p:grpSpPr>
        <p:sp>
          <p:nvSpPr>
            <p:cNvPr id="68658" name="Text Box 148">
              <a:extLst>
                <a:ext uri="{FF2B5EF4-FFF2-40B4-BE49-F238E27FC236}">
                  <a16:creationId xmlns:a16="http://schemas.microsoft.com/office/drawing/2014/main" id="{00610CDE-DF6D-4190-A48F-BAFB09AD5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" y="0"/>
              <a:ext cx="83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内存储器</a:t>
              </a:r>
            </a:p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（程序段）</a:t>
              </a:r>
            </a:p>
          </p:txBody>
        </p:sp>
        <p:sp>
          <p:nvSpPr>
            <p:cNvPr id="68659" name="AutoShape 149">
              <a:extLst>
                <a:ext uri="{FF2B5EF4-FFF2-40B4-BE49-F238E27FC236}">
                  <a16:creationId xmlns:a16="http://schemas.microsoft.com/office/drawing/2014/main" id="{AE11C881-75C9-4244-9A04-4A7E9F70A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" y="474"/>
              <a:ext cx="399" cy="1250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8660" name="Text Box 150">
              <a:extLst>
                <a:ext uri="{FF2B5EF4-FFF2-40B4-BE49-F238E27FC236}">
                  <a16:creationId xmlns:a16="http://schemas.microsoft.com/office/drawing/2014/main" id="{3A1626D5-B29C-44D9-BAFA-B9979FECB5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473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B0H</a:t>
              </a:r>
            </a:p>
          </p:txBody>
        </p:sp>
        <p:sp>
          <p:nvSpPr>
            <p:cNvPr id="68661" name="Text Box 151">
              <a:extLst>
                <a:ext uri="{FF2B5EF4-FFF2-40B4-BE49-F238E27FC236}">
                  <a16:creationId xmlns:a16="http://schemas.microsoft.com/office/drawing/2014/main" id="{36BC19F1-4AA5-4AA7-837A-EC0D0BF6B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637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66CC"/>
                  </a:solidFill>
                  <a:latin typeface="Times New Roman" panose="02020603050405020304" pitchFamily="18" charset="0"/>
                </a:rPr>
                <a:t>5CH</a:t>
              </a:r>
            </a:p>
          </p:txBody>
        </p:sp>
        <p:sp>
          <p:nvSpPr>
            <p:cNvPr id="68662" name="Text Box 152">
              <a:extLst>
                <a:ext uri="{FF2B5EF4-FFF2-40B4-BE49-F238E27FC236}">
                  <a16:creationId xmlns:a16="http://schemas.microsoft.com/office/drawing/2014/main" id="{059813F4-CC65-404E-A281-34E862650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" y="309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68663" name="Text Box 153">
              <a:extLst>
                <a:ext uri="{FF2B5EF4-FFF2-40B4-BE49-F238E27FC236}">
                  <a16:creationId xmlns:a16="http://schemas.microsoft.com/office/drawing/2014/main" id="{5F0F0163-4ED1-4ED3-BD56-A3E3AD5DD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642"/>
              <a:ext cx="444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01001H</a:t>
              </a:r>
            </a:p>
          </p:txBody>
        </p:sp>
        <p:sp>
          <p:nvSpPr>
            <p:cNvPr id="68664" name="Text Box 154">
              <a:extLst>
                <a:ext uri="{FF2B5EF4-FFF2-40B4-BE49-F238E27FC236}">
                  <a16:creationId xmlns:a16="http://schemas.microsoft.com/office/drawing/2014/main" id="{92E47DA9-3D98-4A51-B5F1-65CD14BE2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780"/>
              <a:ext cx="44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01002H</a:t>
              </a:r>
            </a:p>
          </p:txBody>
        </p:sp>
        <p:sp>
          <p:nvSpPr>
            <p:cNvPr id="68665" name="Text Box 155">
              <a:extLst>
                <a:ext uri="{FF2B5EF4-FFF2-40B4-BE49-F238E27FC236}">
                  <a16:creationId xmlns:a16="http://schemas.microsoft.com/office/drawing/2014/main" id="{F99CA4AE-729A-4450-B713-C895225E0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004"/>
              <a:ext cx="490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01003H</a:t>
              </a:r>
            </a:p>
          </p:txBody>
        </p:sp>
        <p:sp>
          <p:nvSpPr>
            <p:cNvPr id="68666" name="Text Box 156">
              <a:extLst>
                <a:ext uri="{FF2B5EF4-FFF2-40B4-BE49-F238E27FC236}">
                  <a16:creationId xmlns:a16="http://schemas.microsoft.com/office/drawing/2014/main" id="{D21A0961-E58E-4A24-97E7-4D140F0D7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298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68667" name="Text Box 157">
              <a:extLst>
                <a:ext uri="{FF2B5EF4-FFF2-40B4-BE49-F238E27FC236}">
                  <a16:creationId xmlns:a16="http://schemas.microsoft.com/office/drawing/2014/main" id="{1EF50859-67CF-46F7-8100-5BDE8FCE9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473"/>
              <a:ext cx="444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01000H</a:t>
              </a:r>
            </a:p>
          </p:txBody>
        </p:sp>
        <p:sp>
          <p:nvSpPr>
            <p:cNvPr id="68668" name="Text Box 158">
              <a:extLst>
                <a:ext uri="{FF2B5EF4-FFF2-40B4-BE49-F238E27FC236}">
                  <a16:creationId xmlns:a16="http://schemas.microsoft.com/office/drawing/2014/main" id="{FDADE02A-455A-443E-BDF6-6B0D050DB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799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02H</a:t>
              </a:r>
            </a:p>
          </p:txBody>
        </p:sp>
        <p:sp>
          <p:nvSpPr>
            <p:cNvPr id="68669" name="Text Box 159">
              <a:extLst>
                <a:ext uri="{FF2B5EF4-FFF2-40B4-BE49-F238E27FC236}">
                  <a16:creationId xmlns:a16="http://schemas.microsoft.com/office/drawing/2014/main" id="{610C452F-7DA1-4F1C-B21D-9FA1B63A0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967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06H</a:t>
              </a:r>
            </a:p>
          </p:txBody>
        </p:sp>
        <p:sp>
          <p:nvSpPr>
            <p:cNvPr id="68670" name="Text Box 160">
              <a:extLst>
                <a:ext uri="{FF2B5EF4-FFF2-40B4-BE49-F238E27FC236}">
                  <a16:creationId xmlns:a16="http://schemas.microsoft.com/office/drawing/2014/main" id="{99585AE3-00D4-4DAD-AB95-0B62D4174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1132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00H</a:t>
              </a:r>
            </a:p>
          </p:txBody>
        </p:sp>
        <p:sp>
          <p:nvSpPr>
            <p:cNvPr id="68671" name="Text Box 161">
              <a:extLst>
                <a:ext uri="{FF2B5EF4-FFF2-40B4-BE49-F238E27FC236}">
                  <a16:creationId xmlns:a16="http://schemas.microsoft.com/office/drawing/2014/main" id="{9BEF9A1B-1A25-4D79-8D4A-417341749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1295"/>
              <a:ext cx="399" cy="16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01H</a:t>
              </a:r>
            </a:p>
          </p:txBody>
        </p:sp>
        <p:sp>
          <p:nvSpPr>
            <p:cNvPr id="68672" name="Text Box 162">
              <a:extLst>
                <a:ext uri="{FF2B5EF4-FFF2-40B4-BE49-F238E27FC236}">
                  <a16:creationId xmlns:a16="http://schemas.microsoft.com/office/drawing/2014/main" id="{811A4D2F-2591-4EAC-9C5C-32739D5A1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165"/>
              <a:ext cx="44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01004H</a:t>
              </a:r>
            </a:p>
          </p:txBody>
        </p:sp>
        <p:sp>
          <p:nvSpPr>
            <p:cNvPr id="68673" name="Text Box 163">
              <a:extLst>
                <a:ext uri="{FF2B5EF4-FFF2-40B4-BE49-F238E27FC236}">
                  <a16:creationId xmlns:a16="http://schemas.microsoft.com/office/drawing/2014/main" id="{DD1199C4-76BB-4B5A-9A70-F891B35A6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298"/>
              <a:ext cx="4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01005H</a:t>
              </a:r>
            </a:p>
          </p:txBody>
        </p:sp>
      </p:grpSp>
      <p:sp>
        <p:nvSpPr>
          <p:cNvPr id="68656" name="未知">
            <a:extLst>
              <a:ext uri="{FF2B5EF4-FFF2-40B4-BE49-F238E27FC236}">
                <a16:creationId xmlns:a16="http://schemas.microsoft.com/office/drawing/2014/main" id="{41113945-B18B-471D-ADAE-7B38BDBE5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3154363"/>
            <a:ext cx="1571625" cy="3167062"/>
          </a:xfrm>
          <a:custGeom>
            <a:avLst/>
            <a:gdLst>
              <a:gd name="T0" fmla="*/ 0 w 1081"/>
              <a:gd name="T1" fmla="*/ 2147483646 h 1995"/>
              <a:gd name="T2" fmla="*/ 2147483646 w 1081"/>
              <a:gd name="T3" fmla="*/ 2147483646 h 1995"/>
              <a:gd name="T4" fmla="*/ 2147483646 w 1081"/>
              <a:gd name="T5" fmla="*/ 2147483646 h 1995"/>
              <a:gd name="T6" fmla="*/ 2147483646 w 1081"/>
              <a:gd name="T7" fmla="*/ 2147483646 h 199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1" h="1995">
                <a:moveTo>
                  <a:pt x="0" y="1942"/>
                </a:moveTo>
                <a:cubicBezTo>
                  <a:pt x="366" y="1968"/>
                  <a:pt x="733" y="1995"/>
                  <a:pt x="907" y="1715"/>
                </a:cubicBezTo>
                <a:cubicBezTo>
                  <a:pt x="1081" y="1435"/>
                  <a:pt x="1073" y="528"/>
                  <a:pt x="1043" y="264"/>
                </a:cubicBezTo>
                <a:cubicBezTo>
                  <a:pt x="1013" y="0"/>
                  <a:pt x="779" y="151"/>
                  <a:pt x="726" y="128"/>
                </a:cubicBezTo>
              </a:path>
            </a:pathLst>
          </a:custGeom>
          <a:noFill/>
          <a:ln w="222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64" name="灯片编号占位符 1">
            <a:extLst>
              <a:ext uri="{FF2B5EF4-FFF2-40B4-BE49-F238E27FC236}">
                <a16:creationId xmlns:a16="http://schemas.microsoft.com/office/drawing/2014/main" id="{6FB05023-AA83-416E-9B60-759DD47ED8D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21309F8-1F20-41D0-BED3-9B474338099B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17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5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5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5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5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5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5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0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0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0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0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0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2" grpId="0" animBg="1"/>
      <p:bldP spid="20543" grpId="0" animBg="1"/>
      <p:bldP spid="20560" grpId="0" animBg="1"/>
      <p:bldP spid="20567" grpId="0" animBg="1"/>
      <p:bldP spid="20568" grpId="0" animBg="1"/>
      <p:bldP spid="20570" grpId="0" animBg="1"/>
      <p:bldP spid="20571" grpId="0" animBg="1"/>
      <p:bldP spid="20572" grpId="0" animBg="1"/>
      <p:bldP spid="20573" grpId="0" animBg="1"/>
      <p:bldP spid="20574" grpId="0" animBg="1"/>
      <p:bldP spid="20575" grpId="0" animBg="1"/>
      <p:bldP spid="20576" grpId="0"/>
      <p:bldP spid="20577" grpId="0" animBg="1"/>
      <p:bldP spid="2057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34" name="组合 21505">
            <a:extLst>
              <a:ext uri="{FF2B5EF4-FFF2-40B4-BE49-F238E27FC236}">
                <a16:creationId xmlns:a16="http://schemas.microsoft.com/office/drawing/2014/main" id="{A5F31737-8B32-4533-8E7D-4BBBBA0B74E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2775" y="3160713"/>
            <a:ext cx="1066800" cy="1395412"/>
            <a:chOff x="0" y="0"/>
            <a:chExt cx="672" cy="879"/>
          </a:xfrm>
        </p:grpSpPr>
        <p:sp>
          <p:nvSpPr>
            <p:cNvPr id="69744" name="AutoShape 51">
              <a:extLst>
                <a:ext uri="{FF2B5EF4-FFF2-40B4-BE49-F238E27FC236}">
                  <a16:creationId xmlns:a16="http://schemas.microsoft.com/office/drawing/2014/main" id="{783072A4-9583-454E-A303-03F3A33F5D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745" name="AutoShape 52">
              <a:extLst>
                <a:ext uri="{FF2B5EF4-FFF2-40B4-BE49-F238E27FC236}">
                  <a16:creationId xmlns:a16="http://schemas.microsoft.com/office/drawing/2014/main" id="{7F89DF80-A3D6-4A5F-A545-EC2B4D1326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21509" name="组合 21508">
            <a:extLst>
              <a:ext uri="{FF2B5EF4-FFF2-40B4-BE49-F238E27FC236}">
                <a16:creationId xmlns:a16="http://schemas.microsoft.com/office/drawing/2014/main" id="{A402C84E-B15F-45AD-BB98-A16B5639CFC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9125" y="3160713"/>
            <a:ext cx="1066800" cy="1395412"/>
            <a:chOff x="0" y="0"/>
            <a:chExt cx="672" cy="879"/>
          </a:xfrm>
        </p:grpSpPr>
        <p:sp>
          <p:nvSpPr>
            <p:cNvPr id="69742" name="AutoShape 136">
              <a:extLst>
                <a:ext uri="{FF2B5EF4-FFF2-40B4-BE49-F238E27FC236}">
                  <a16:creationId xmlns:a16="http://schemas.microsoft.com/office/drawing/2014/main" id="{DA950E96-8E29-4357-A4C7-8906FC9B4C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743" name="AutoShape 137">
              <a:extLst>
                <a:ext uri="{FF2B5EF4-FFF2-40B4-BE49-F238E27FC236}">
                  <a16:creationId xmlns:a16="http://schemas.microsoft.com/office/drawing/2014/main" id="{02442AF9-8EE1-49DE-9FB2-1EE0F9794AB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9636" name="AutoShape 130">
            <a:extLst>
              <a:ext uri="{FF2B5EF4-FFF2-40B4-BE49-F238E27FC236}">
                <a16:creationId xmlns:a16="http://schemas.microsoft.com/office/drawing/2014/main" id="{6DA11618-5847-430E-9133-4630AC3C4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276475"/>
            <a:ext cx="1474787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rgbClr val="FF3300"/>
              </a:solidFill>
              <a:latin typeface="Garamond" panose="02020404030301010803" pitchFamily="18" charset="0"/>
            </a:endParaRPr>
          </a:p>
        </p:txBody>
      </p:sp>
      <p:sp>
        <p:nvSpPr>
          <p:cNvPr id="21513" name="AutoShape 111">
            <a:extLst>
              <a:ext uri="{FF2B5EF4-FFF2-40B4-BE49-F238E27FC236}">
                <a16:creationId xmlns:a16="http://schemas.microsoft.com/office/drawing/2014/main" id="{C0B7AAE0-BF63-4D81-8D81-594915BA5D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1538" y="4662488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9638" name="Line 2">
            <a:extLst>
              <a:ext uri="{FF2B5EF4-FFF2-40B4-BE49-F238E27FC236}">
                <a16:creationId xmlns:a16="http://schemas.microsoft.com/office/drawing/2014/main" id="{C9A9D690-74FC-44F5-9C2B-279CCF4A61A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6050" y="984250"/>
            <a:ext cx="0" cy="5757863"/>
          </a:xfrm>
          <a:prstGeom prst="line">
            <a:avLst/>
          </a:prstGeom>
          <a:noFill/>
          <a:ln w="3810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39" name="Text Box 3">
            <a:extLst>
              <a:ext uri="{FF2B5EF4-FFF2-40B4-BE49-F238E27FC236}">
                <a16:creationId xmlns:a16="http://schemas.microsoft.com/office/drawing/2014/main" id="{16BC2C75-FCB1-41CC-B7DF-FDE3F0C74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260350"/>
            <a:ext cx="6278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(2)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总线接口部件的操作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读数据 </a:t>
            </a:r>
          </a:p>
        </p:txBody>
      </p:sp>
      <p:sp>
        <p:nvSpPr>
          <p:cNvPr id="69640" name="AutoShape 4">
            <a:extLst>
              <a:ext uri="{FF2B5EF4-FFF2-40B4-BE49-F238E27FC236}">
                <a16:creationId xmlns:a16="http://schemas.microsoft.com/office/drawing/2014/main" id="{CE0F095E-8D3E-4D7D-A54A-B05C42419B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3125" y="4667250"/>
            <a:ext cx="95250" cy="1084263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9641" name="Text Box 5">
            <a:extLst>
              <a:ext uri="{FF2B5EF4-FFF2-40B4-BE49-F238E27FC236}">
                <a16:creationId xmlns:a16="http://schemas.microsoft.com/office/drawing/2014/main" id="{BAB51990-4E13-4A9C-B464-8D0F0561531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91475" y="1327150"/>
            <a:ext cx="388938" cy="50815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69642" name="组合 21517">
            <a:extLst>
              <a:ext uri="{FF2B5EF4-FFF2-40B4-BE49-F238E27FC236}">
                <a16:creationId xmlns:a16="http://schemas.microsoft.com/office/drawing/2014/main" id="{6F3C399A-F935-43F4-B2AF-426023D01AB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6225" y="1898650"/>
            <a:ext cx="1336675" cy="441325"/>
            <a:chOff x="0" y="0"/>
            <a:chExt cx="842" cy="278"/>
          </a:xfrm>
        </p:grpSpPr>
        <p:sp>
          <p:nvSpPr>
            <p:cNvPr id="69733" name="Line 7">
              <a:extLst>
                <a:ext uri="{FF2B5EF4-FFF2-40B4-BE49-F238E27FC236}">
                  <a16:creationId xmlns:a16="http://schemas.microsoft.com/office/drawing/2014/main" id="{3C965EDB-1118-4DBA-8751-04A5B2C02D3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4" name="Line 8">
              <a:extLst>
                <a:ext uri="{FF2B5EF4-FFF2-40B4-BE49-F238E27FC236}">
                  <a16:creationId xmlns:a16="http://schemas.microsoft.com/office/drawing/2014/main" id="{C2D99B83-CFF7-45F3-BBBC-82A7E311DF1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5" name="Line 9">
              <a:extLst>
                <a:ext uri="{FF2B5EF4-FFF2-40B4-BE49-F238E27FC236}">
                  <a16:creationId xmlns:a16="http://schemas.microsoft.com/office/drawing/2014/main" id="{84E02579-C3EA-44FC-987A-A6C2ECAFBC8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6" name="Line 10">
              <a:extLst>
                <a:ext uri="{FF2B5EF4-FFF2-40B4-BE49-F238E27FC236}">
                  <a16:creationId xmlns:a16="http://schemas.microsoft.com/office/drawing/2014/main" id="{0C143158-C3DF-44AE-9A05-F7BA5D6AEF9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7" name="Line 11">
              <a:extLst>
                <a:ext uri="{FF2B5EF4-FFF2-40B4-BE49-F238E27FC236}">
                  <a16:creationId xmlns:a16="http://schemas.microsoft.com/office/drawing/2014/main" id="{9DF1B8AA-3F1D-4695-9ADF-9072FDFFE6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8" name="Line 12">
              <a:extLst>
                <a:ext uri="{FF2B5EF4-FFF2-40B4-BE49-F238E27FC236}">
                  <a16:creationId xmlns:a16="http://schemas.microsoft.com/office/drawing/2014/main" id="{E911B525-D93E-481A-930B-4FF638E699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9" name="Line 13">
              <a:extLst>
                <a:ext uri="{FF2B5EF4-FFF2-40B4-BE49-F238E27FC236}">
                  <a16:creationId xmlns:a16="http://schemas.microsoft.com/office/drawing/2014/main" id="{B1312D06-A1CF-4D8A-BC99-44FBAD330D7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40" name="Line 14">
              <a:extLst>
                <a:ext uri="{FF2B5EF4-FFF2-40B4-BE49-F238E27FC236}">
                  <a16:creationId xmlns:a16="http://schemas.microsoft.com/office/drawing/2014/main" id="{EBB2B475-5E75-41D3-92AB-17B365B421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41" name="Text Box 15">
              <a:extLst>
                <a:ext uri="{FF2B5EF4-FFF2-40B4-BE49-F238E27FC236}">
                  <a16:creationId xmlns:a16="http://schemas.microsoft.com/office/drawing/2014/main" id="{DD5126C3-FCB7-4FBA-965F-50B8BD42409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400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sp>
        <p:nvSpPr>
          <p:cNvPr id="69643" name="Text Box 16">
            <a:extLst>
              <a:ext uri="{FF2B5EF4-FFF2-40B4-BE49-F238E27FC236}">
                <a16:creationId xmlns:a16="http://schemas.microsoft.com/office/drawing/2014/main" id="{48D6CF69-B29C-4EF9-9FAA-56803EDD6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838200"/>
            <a:ext cx="158432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3300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000">
                <a:solidFill>
                  <a:srgbClr val="FF3300"/>
                </a:solidFill>
                <a:latin typeface="Times New Roman" panose="02020603050405020304" pitchFamily="18" charset="0"/>
              </a:rPr>
              <a:t>位地址总线</a:t>
            </a:r>
            <a:r>
              <a:rPr lang="en-US" altLang="zh-CN" sz="2000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>
                <a:solidFill>
                  <a:srgbClr val="FF3300"/>
                </a:solidFill>
                <a:latin typeface="Times New Roman" panose="02020603050405020304" pitchFamily="18" charset="0"/>
              </a:rPr>
              <a:t>物理地址</a:t>
            </a:r>
            <a:r>
              <a:rPr lang="en-US" altLang="zh-CN" sz="200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1529" name="AutoShape 17">
            <a:extLst>
              <a:ext uri="{FF2B5EF4-FFF2-40B4-BE49-F238E27FC236}">
                <a16:creationId xmlns:a16="http://schemas.microsoft.com/office/drawing/2014/main" id="{666BD814-BF9C-4B63-A1FA-2F3CC44F4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276475"/>
            <a:ext cx="1474787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9645" name="Text Box 18">
            <a:extLst>
              <a:ext uri="{FF2B5EF4-FFF2-40B4-BE49-F238E27FC236}">
                <a16:creationId xmlns:a16="http://schemas.microsoft.com/office/drawing/2014/main" id="{F0F613D6-FE44-4E05-B732-FC3E1B19D7D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4388" y="2636838"/>
            <a:ext cx="4699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16</a:t>
            </a:r>
            <a:r>
              <a:rPr lang="zh-CN" altLang="en-US" sz="2000">
                <a:latin typeface="Times New Roman" panose="02020603050405020304" pitchFamily="18" charset="0"/>
              </a:rPr>
              <a:t>位数据总线</a:t>
            </a:r>
          </a:p>
        </p:txBody>
      </p:sp>
      <p:sp>
        <p:nvSpPr>
          <p:cNvPr id="69646" name="AutoShape 19">
            <a:extLst>
              <a:ext uri="{FF2B5EF4-FFF2-40B4-BE49-F238E27FC236}">
                <a16:creationId xmlns:a16="http://schemas.microsoft.com/office/drawing/2014/main" id="{EBCDDCDB-B36F-4F2E-A3E6-AC0E72EA4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25" y="5672138"/>
            <a:ext cx="1270000" cy="198437"/>
          </a:xfrm>
          <a:prstGeom prst="leftArrow">
            <a:avLst>
              <a:gd name="adj1" fmla="val 50000"/>
              <a:gd name="adj2" fmla="val 1594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69647" name="组合 21531">
            <a:extLst>
              <a:ext uri="{FF2B5EF4-FFF2-40B4-BE49-F238E27FC236}">
                <a16:creationId xmlns:a16="http://schemas.microsoft.com/office/drawing/2014/main" id="{9D4E7F22-FC96-4A1B-8CE5-18CA0E33FCB8}"/>
              </a:ext>
            </a:extLst>
          </p:cNvPr>
          <p:cNvGrpSpPr>
            <a:grpSpLocks/>
          </p:cNvGrpSpPr>
          <p:nvPr/>
        </p:nvGrpSpPr>
        <p:grpSpPr bwMode="auto">
          <a:xfrm>
            <a:off x="5480050" y="2295525"/>
            <a:ext cx="1111250" cy="230188"/>
            <a:chOff x="0" y="0"/>
            <a:chExt cx="700" cy="145"/>
          </a:xfrm>
        </p:grpSpPr>
        <p:sp>
          <p:nvSpPr>
            <p:cNvPr id="69731" name="AutoShape 21">
              <a:extLst>
                <a:ext uri="{FF2B5EF4-FFF2-40B4-BE49-F238E27FC236}">
                  <a16:creationId xmlns:a16="http://schemas.microsoft.com/office/drawing/2014/main" id="{BA2B966D-8FF9-4126-8722-B5EBCC1EE96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732" name="AutoShape 22">
              <a:extLst>
                <a:ext uri="{FF2B5EF4-FFF2-40B4-BE49-F238E27FC236}">
                  <a16:creationId xmlns:a16="http://schemas.microsoft.com/office/drawing/2014/main" id="{20852B0E-6922-4430-BB41-74DB20A44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9648" name="Text Box 23">
            <a:extLst>
              <a:ext uri="{FF2B5EF4-FFF2-40B4-BE49-F238E27FC236}">
                <a16:creationId xmlns:a16="http://schemas.microsoft.com/office/drawing/2014/main" id="{30BC2642-4F75-4E76-8303-0D9C23702BA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22800" y="1604963"/>
            <a:ext cx="471488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总线接口部件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BIU</a:t>
            </a:r>
          </a:p>
        </p:txBody>
      </p:sp>
      <p:grpSp>
        <p:nvGrpSpPr>
          <p:cNvPr id="69649" name="组合 21535">
            <a:extLst>
              <a:ext uri="{FF2B5EF4-FFF2-40B4-BE49-F238E27FC236}">
                <a16:creationId xmlns:a16="http://schemas.microsoft.com/office/drawing/2014/main" id="{96775472-CA8A-483C-AC14-D27916992E55}"/>
              </a:ext>
            </a:extLst>
          </p:cNvPr>
          <p:cNvGrpSpPr>
            <a:grpSpLocks/>
          </p:cNvGrpSpPr>
          <p:nvPr/>
        </p:nvGrpSpPr>
        <p:grpSpPr bwMode="auto">
          <a:xfrm>
            <a:off x="5145088" y="5229225"/>
            <a:ext cx="1554162" cy="733425"/>
            <a:chOff x="0" y="0"/>
            <a:chExt cx="979" cy="462"/>
          </a:xfrm>
        </p:grpSpPr>
        <p:sp>
          <p:nvSpPr>
            <p:cNvPr id="69724" name="Text Box 25">
              <a:extLst>
                <a:ext uri="{FF2B5EF4-FFF2-40B4-BE49-F238E27FC236}">
                  <a16:creationId xmlns:a16="http://schemas.microsoft.com/office/drawing/2014/main" id="{070089DB-4D64-4EC0-95B2-01B95180F39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37"/>
              <a:ext cx="979" cy="2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1 2 3 4 5 6</a:t>
              </a:r>
            </a:p>
          </p:txBody>
        </p:sp>
        <p:sp>
          <p:nvSpPr>
            <p:cNvPr id="69725" name="Text Box 26">
              <a:extLst>
                <a:ext uri="{FF2B5EF4-FFF2-40B4-BE49-F238E27FC236}">
                  <a16:creationId xmlns:a16="http://schemas.microsoft.com/office/drawing/2014/main" id="{480B2820-5F4F-4896-93AD-22F86B823EE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" y="0"/>
              <a:ext cx="8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指令队列</a:t>
              </a:r>
            </a:p>
          </p:txBody>
        </p:sp>
        <p:sp>
          <p:nvSpPr>
            <p:cNvPr id="69726" name="Line 27">
              <a:extLst>
                <a:ext uri="{FF2B5EF4-FFF2-40B4-BE49-F238E27FC236}">
                  <a16:creationId xmlns:a16="http://schemas.microsoft.com/office/drawing/2014/main" id="{261A6A96-0504-4F71-A5A8-85DBC8581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7" name="Line 28">
              <a:extLst>
                <a:ext uri="{FF2B5EF4-FFF2-40B4-BE49-F238E27FC236}">
                  <a16:creationId xmlns:a16="http://schemas.microsoft.com/office/drawing/2014/main" id="{47150A4E-F3C8-478B-9272-283072021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8" name="Line 29">
              <a:extLst>
                <a:ext uri="{FF2B5EF4-FFF2-40B4-BE49-F238E27FC236}">
                  <a16:creationId xmlns:a16="http://schemas.microsoft.com/office/drawing/2014/main" id="{77F12772-DEA1-4711-8EF6-E26EB636E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9" name="Line 30">
              <a:extLst>
                <a:ext uri="{FF2B5EF4-FFF2-40B4-BE49-F238E27FC236}">
                  <a16:creationId xmlns:a16="http://schemas.microsoft.com/office/drawing/2014/main" id="{77E28220-8942-4711-B29E-7ED8012D70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0" name="Line 31">
              <a:extLst>
                <a:ext uri="{FF2B5EF4-FFF2-40B4-BE49-F238E27FC236}">
                  <a16:creationId xmlns:a16="http://schemas.microsoft.com/office/drawing/2014/main" id="{7B5742DC-5212-4C06-8F8E-C807CF1A8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0" name="组合 21543">
            <a:extLst>
              <a:ext uri="{FF2B5EF4-FFF2-40B4-BE49-F238E27FC236}">
                <a16:creationId xmlns:a16="http://schemas.microsoft.com/office/drawing/2014/main" id="{06BE1378-219E-4743-8336-AF5D848A3206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2543175"/>
            <a:ext cx="895350" cy="1074738"/>
            <a:chOff x="0" y="0"/>
            <a:chExt cx="564" cy="677"/>
          </a:xfrm>
        </p:grpSpPr>
        <p:sp>
          <p:nvSpPr>
            <p:cNvPr id="69720" name="Text Box 33">
              <a:extLst>
                <a:ext uri="{FF2B5EF4-FFF2-40B4-BE49-F238E27FC236}">
                  <a16:creationId xmlns:a16="http://schemas.microsoft.com/office/drawing/2014/main" id="{4C9EACD1-DDFE-4FBD-94E9-18DE50849F2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67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CS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DS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69721" name="Line 34">
              <a:extLst>
                <a:ext uri="{FF2B5EF4-FFF2-40B4-BE49-F238E27FC236}">
                  <a16:creationId xmlns:a16="http://schemas.microsoft.com/office/drawing/2014/main" id="{234FC02D-C529-4C7B-A441-9160DE070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2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2" name="Line 35">
              <a:extLst>
                <a:ext uri="{FF2B5EF4-FFF2-40B4-BE49-F238E27FC236}">
                  <a16:creationId xmlns:a16="http://schemas.microsoft.com/office/drawing/2014/main" id="{A3E149AA-9F2A-44B0-895C-75AFBBA6F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355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3" name="Line 36">
              <a:extLst>
                <a:ext uri="{FF2B5EF4-FFF2-40B4-BE49-F238E27FC236}">
                  <a16:creationId xmlns:a16="http://schemas.microsoft.com/office/drawing/2014/main" id="{2E9BCA6D-F595-4668-9FC5-EBC206A8C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51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1" name="组合 21548">
            <a:extLst>
              <a:ext uri="{FF2B5EF4-FFF2-40B4-BE49-F238E27FC236}">
                <a16:creationId xmlns:a16="http://schemas.microsoft.com/office/drawing/2014/main" id="{4D7084C9-A474-4F4F-8FB6-5E04C2064F41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1293813"/>
            <a:ext cx="2009775" cy="579437"/>
            <a:chOff x="0" y="0"/>
            <a:chExt cx="1266" cy="365"/>
          </a:xfrm>
        </p:grpSpPr>
        <p:sp>
          <p:nvSpPr>
            <p:cNvPr id="69718" name="AutoShape 38">
              <a:extLst>
                <a:ext uri="{FF2B5EF4-FFF2-40B4-BE49-F238E27FC236}">
                  <a16:creationId xmlns:a16="http://schemas.microsoft.com/office/drawing/2014/main" id="{9A422642-576D-4731-BDCA-B3A27DC05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719" name="Rectangle 39">
              <a:extLst>
                <a:ext uri="{FF2B5EF4-FFF2-40B4-BE49-F238E27FC236}">
                  <a16:creationId xmlns:a16="http://schemas.microsoft.com/office/drawing/2014/main" id="{5B777AA9-A9DC-4F0F-83E7-78FBAACB9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9652" name="组合 21551">
            <a:extLst>
              <a:ext uri="{FF2B5EF4-FFF2-40B4-BE49-F238E27FC236}">
                <a16:creationId xmlns:a16="http://schemas.microsoft.com/office/drawing/2014/main" id="{E730D072-187E-4A0B-96A9-15CC263A3584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5980113"/>
            <a:ext cx="990600" cy="685800"/>
            <a:chOff x="0" y="0"/>
            <a:chExt cx="624" cy="432"/>
          </a:xfrm>
        </p:grpSpPr>
        <p:sp>
          <p:nvSpPr>
            <p:cNvPr id="21553" name="Text Box 41">
              <a:extLst>
                <a:ext uri="{FF2B5EF4-FFF2-40B4-BE49-F238E27FC236}">
                  <a16:creationId xmlns:a16="http://schemas.microsoft.com/office/drawing/2014/main" id="{07ACEA48-50CF-487D-B16B-E1892006829D}"/>
                </a:ext>
              </a:extLst>
            </p:cNvPr>
            <p:cNvSpPr txBox="1"/>
            <p:nvPr/>
          </p:nvSpPr>
          <p:spPr>
            <a:xfrm>
              <a:off x="144" y="96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8088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9716" name="Line 42">
              <a:extLst>
                <a:ext uri="{FF2B5EF4-FFF2-40B4-BE49-F238E27FC236}">
                  <a16:creationId xmlns:a16="http://schemas.microsoft.com/office/drawing/2014/main" id="{E76613CB-3D8E-48FE-BFC8-23DECB98D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7" name="Line 43">
              <a:extLst>
                <a:ext uri="{FF2B5EF4-FFF2-40B4-BE49-F238E27FC236}">
                  <a16:creationId xmlns:a16="http://schemas.microsoft.com/office/drawing/2014/main" id="{97B87755-CF4A-4FFA-ABF9-261095F94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3" name="组合 21555">
            <a:extLst>
              <a:ext uri="{FF2B5EF4-FFF2-40B4-BE49-F238E27FC236}">
                <a16:creationId xmlns:a16="http://schemas.microsoft.com/office/drawing/2014/main" id="{3B92364F-F8C2-4433-85C1-7345EA10D22A}"/>
              </a:ext>
            </a:extLst>
          </p:cNvPr>
          <p:cNvGrpSpPr>
            <a:grpSpLocks/>
          </p:cNvGrpSpPr>
          <p:nvPr/>
        </p:nvGrpSpPr>
        <p:grpSpPr bwMode="auto">
          <a:xfrm>
            <a:off x="5768975" y="5980113"/>
            <a:ext cx="914400" cy="731837"/>
            <a:chOff x="0" y="0"/>
            <a:chExt cx="576" cy="461"/>
          </a:xfrm>
        </p:grpSpPr>
        <p:sp>
          <p:nvSpPr>
            <p:cNvPr id="21557" name="Text Box 45">
              <a:extLst>
                <a:ext uri="{FF2B5EF4-FFF2-40B4-BE49-F238E27FC236}">
                  <a16:creationId xmlns:a16="http://schemas.microsoft.com/office/drawing/2014/main" id="{EDE4C07D-F3E5-4F6D-ACEF-16E40C83E3BF}"/>
                </a:ext>
              </a:extLst>
            </p:cNvPr>
            <p:cNvSpPr txBox="1"/>
            <p:nvPr/>
          </p:nvSpPr>
          <p:spPr>
            <a:xfrm>
              <a:off x="0" y="288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9714" name="Line 46">
              <a:extLst>
                <a:ext uri="{FF2B5EF4-FFF2-40B4-BE49-F238E27FC236}">
                  <a16:creationId xmlns:a16="http://schemas.microsoft.com/office/drawing/2014/main" id="{F3F79A18-E20B-43F4-A3F5-01D6CE97E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4" name="组合 21558">
            <a:extLst>
              <a:ext uri="{FF2B5EF4-FFF2-40B4-BE49-F238E27FC236}">
                <a16:creationId xmlns:a16="http://schemas.microsoft.com/office/drawing/2014/main" id="{19220008-AF6B-4D69-BA34-3D7C53F7D029}"/>
              </a:ext>
            </a:extLst>
          </p:cNvPr>
          <p:cNvGrpSpPr>
            <a:grpSpLocks/>
          </p:cNvGrpSpPr>
          <p:nvPr/>
        </p:nvGrpSpPr>
        <p:grpSpPr bwMode="auto">
          <a:xfrm>
            <a:off x="6226175" y="2551113"/>
            <a:ext cx="895350" cy="609600"/>
            <a:chOff x="0" y="0"/>
            <a:chExt cx="564" cy="384"/>
          </a:xfrm>
        </p:grpSpPr>
        <p:sp>
          <p:nvSpPr>
            <p:cNvPr id="69711" name="Text Box 48">
              <a:extLst>
                <a:ext uri="{FF2B5EF4-FFF2-40B4-BE49-F238E27FC236}">
                  <a16:creationId xmlns:a16="http://schemas.microsoft.com/office/drawing/2014/main" id="{83DDE391-C237-4C33-A04A-FE8C5B60ADB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3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69712" name="Line 49">
              <a:extLst>
                <a:ext uri="{FF2B5EF4-FFF2-40B4-BE49-F238E27FC236}">
                  <a16:creationId xmlns:a16="http://schemas.microsoft.com/office/drawing/2014/main" id="{E2E26645-B7CC-4C38-AD1F-D0BEAF440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5" name="组合 21561">
            <a:extLst>
              <a:ext uri="{FF2B5EF4-FFF2-40B4-BE49-F238E27FC236}">
                <a16:creationId xmlns:a16="http://schemas.microsoft.com/office/drawing/2014/main" id="{F2A576C6-D90F-4409-838D-35F50A720D93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2159000"/>
            <a:ext cx="609600" cy="1992313"/>
            <a:chOff x="0" y="0"/>
            <a:chExt cx="384" cy="1008"/>
          </a:xfrm>
        </p:grpSpPr>
        <p:sp>
          <p:nvSpPr>
            <p:cNvPr id="69709" name="AutoShape 54">
              <a:extLst>
                <a:ext uri="{FF2B5EF4-FFF2-40B4-BE49-F238E27FC236}">
                  <a16:creationId xmlns:a16="http://schemas.microsoft.com/office/drawing/2014/main" id="{EB4FB835-BED5-4793-ADCB-FC3FFE2C6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384" cy="240"/>
            </a:xfrm>
            <a:prstGeom prst="leftRightArrow">
              <a:avLst>
                <a:gd name="adj1" fmla="val 50000"/>
                <a:gd name="adj2" fmla="val 32000"/>
              </a:avLst>
            </a:prstGeom>
            <a:noFill/>
            <a:ln w="25400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1564" name="Text Box 55">
              <a:extLst>
                <a:ext uri="{FF2B5EF4-FFF2-40B4-BE49-F238E27FC236}">
                  <a16:creationId xmlns:a16="http://schemas.microsoft.com/office/drawing/2014/main" id="{EB839791-1EF2-4424-A73F-183C8810860B}"/>
                </a:ext>
              </a:extLst>
            </p:cNvPr>
            <p:cNvSpPr txBox="1"/>
            <p:nvPr/>
          </p:nvSpPr>
          <p:spPr>
            <a:xfrm>
              <a:off x="96" y="0"/>
              <a:ext cx="207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总线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69656" name="AutoShape 56">
            <a:extLst>
              <a:ext uri="{FF2B5EF4-FFF2-40B4-BE49-F238E27FC236}">
                <a16:creationId xmlns:a16="http://schemas.microsoft.com/office/drawing/2014/main" id="{7EF6BE2E-E893-4BBE-A1EC-D72D6C369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816350" cy="177800"/>
          </a:xfrm>
          <a:prstGeom prst="leftRightArrow">
            <a:avLst>
              <a:gd name="adj1" fmla="val 57435"/>
              <a:gd name="adj2" fmla="val 147070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9657" name="AutoShape 57">
            <a:extLst>
              <a:ext uri="{FF2B5EF4-FFF2-40B4-BE49-F238E27FC236}">
                <a16:creationId xmlns:a16="http://schemas.microsoft.com/office/drawing/2014/main" id="{A07BFDF5-6916-4811-A72E-37D1F726F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5734050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9658" name="Line 58">
            <a:extLst>
              <a:ext uri="{FF2B5EF4-FFF2-40B4-BE49-F238E27FC236}">
                <a16:creationId xmlns:a16="http://schemas.microsoft.com/office/drawing/2014/main" id="{56E10B5A-F35A-4CD9-8653-1159E2AB5C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4638" y="1851025"/>
            <a:ext cx="0" cy="4318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9" name="Rectangle 59">
            <a:extLst>
              <a:ext uri="{FF2B5EF4-FFF2-40B4-BE49-F238E27FC236}">
                <a16:creationId xmlns:a16="http://schemas.microsoft.com/office/drawing/2014/main" id="{A239B4EE-FE7C-45B5-9E2A-16AF0DA2B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3" y="4510088"/>
            <a:ext cx="29527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     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0200</a:t>
            </a:r>
            <a:r>
              <a:rPr lang="en-US" altLang="zh-CN" sz="2000">
                <a:latin typeface="Garamond" panose="02020404030301010803" pitchFamily="18" charset="0"/>
              </a:rPr>
              <a:t>0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H(20</a:t>
            </a: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位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)  DS       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+ 0100H(16</a:t>
            </a: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位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)   </a:t>
            </a: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偏移量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                    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--------------              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02100H(20</a:t>
            </a:r>
            <a:r>
              <a:rPr lang="zh-CN" altLang="en-US" sz="2000">
                <a:latin typeface="Garamond" panose="02020404030301010803" pitchFamily="18" charset="0"/>
              </a:rPr>
              <a:t>位</a:t>
            </a:r>
            <a:r>
              <a:rPr lang="en-US" altLang="zh-CN" sz="2000">
                <a:latin typeface="Garamond" panose="02020404030301010803" pitchFamily="18" charset="0"/>
              </a:rPr>
              <a:t>)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          </a:t>
            </a:r>
            <a:endParaRPr lang="zh-CN" altLang="en-US" sz="2000">
              <a:solidFill>
                <a:schemeClr val="hlink"/>
              </a:solidFill>
              <a:latin typeface="Garamond" panose="02020404030301010803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物理地址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(20</a:t>
            </a: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位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)       </a:t>
            </a:r>
          </a:p>
        </p:txBody>
      </p:sp>
      <p:sp>
        <p:nvSpPr>
          <p:cNvPr id="69660" name="Text Box 60">
            <a:extLst>
              <a:ext uri="{FF2B5EF4-FFF2-40B4-BE49-F238E27FC236}">
                <a16:creationId xmlns:a16="http://schemas.microsoft.com/office/drawing/2014/main" id="{80C77744-1B7C-4278-ABF7-EF33615E8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836613"/>
            <a:ext cx="3311525" cy="304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CPU</a:t>
            </a:r>
            <a:r>
              <a:rPr lang="zh-CN" altLang="en-US" sz="2000">
                <a:latin typeface="Times New Roman" panose="02020603050405020304" pitchFamily="18" charset="0"/>
              </a:rPr>
              <a:t>读取数据过程</a:t>
            </a:r>
            <a:r>
              <a:rPr lang="en-US" altLang="zh-CN" sz="200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偏移地址与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DS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寄存器中的段基值形成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位物理地址，由总线控制逻辑产生总线时序，从存储器中读入数据。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0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指令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Garamond" panose="02020404030301010803" pitchFamily="18" charset="0"/>
              </a:rPr>
              <a:t>ADD AL,[100H]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Arial" panose="020B0604020202020204" pitchFamily="34" charset="0"/>
              </a:rPr>
              <a:t>…</a:t>
            </a:r>
            <a:endParaRPr lang="en-US" altLang="zh-CN" sz="20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0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61" name="Rectangle 74">
            <a:extLst>
              <a:ext uri="{FF2B5EF4-FFF2-40B4-BE49-F238E27FC236}">
                <a16:creationId xmlns:a16="http://schemas.microsoft.com/office/drawing/2014/main" id="{C966E564-CE36-45B3-B7BD-AE8273C81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437063"/>
            <a:ext cx="2012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         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DS=0200H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偏移地址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=100H </a:t>
            </a:r>
          </a:p>
        </p:txBody>
      </p:sp>
      <p:sp>
        <p:nvSpPr>
          <p:cNvPr id="21571" name="Text Box 75">
            <a:extLst>
              <a:ext uri="{FF2B5EF4-FFF2-40B4-BE49-F238E27FC236}">
                <a16:creationId xmlns:a16="http://schemas.microsoft.com/office/drawing/2014/main" id="{14184FF4-5F33-46E4-B2C6-924A94BCA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7788" y="2781300"/>
            <a:ext cx="895350" cy="301625"/>
          </a:xfrm>
          <a:prstGeom prst="rect">
            <a:avLst/>
          </a:prstGeom>
          <a:solidFill>
            <a:srgbClr val="00FF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DS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21572" name="Text Box 76">
            <a:extLst>
              <a:ext uri="{FF2B5EF4-FFF2-40B4-BE49-F238E27FC236}">
                <a16:creationId xmlns:a16="http://schemas.microsoft.com/office/drawing/2014/main" id="{EA909CDB-5EFC-4034-A56B-D249DC79E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2838450"/>
            <a:ext cx="895350" cy="301625"/>
          </a:xfrm>
          <a:prstGeom prst="rect">
            <a:avLst/>
          </a:prstGeom>
          <a:solidFill>
            <a:srgbClr val="00FF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暂存器</a:t>
            </a:r>
          </a:p>
        </p:txBody>
      </p:sp>
      <p:grpSp>
        <p:nvGrpSpPr>
          <p:cNvPr id="21573" name="组合 21572">
            <a:extLst>
              <a:ext uri="{FF2B5EF4-FFF2-40B4-BE49-F238E27FC236}">
                <a16:creationId xmlns:a16="http://schemas.microsoft.com/office/drawing/2014/main" id="{491224F7-8FAB-4AAF-84EB-73B7AAA3691C}"/>
              </a:ext>
            </a:extLst>
          </p:cNvPr>
          <p:cNvGrpSpPr>
            <a:grpSpLocks/>
          </p:cNvGrpSpPr>
          <p:nvPr/>
        </p:nvGrpSpPr>
        <p:grpSpPr bwMode="auto">
          <a:xfrm>
            <a:off x="5476875" y="2289175"/>
            <a:ext cx="1111250" cy="230188"/>
            <a:chOff x="0" y="0"/>
            <a:chExt cx="700" cy="145"/>
          </a:xfrm>
        </p:grpSpPr>
        <p:sp>
          <p:nvSpPr>
            <p:cNvPr id="69707" name="AutoShape 78">
              <a:extLst>
                <a:ext uri="{FF2B5EF4-FFF2-40B4-BE49-F238E27FC236}">
                  <a16:creationId xmlns:a16="http://schemas.microsoft.com/office/drawing/2014/main" id="{31F4F2DA-C7F4-419E-959E-71A670BBE2B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708" name="AutoShape 79">
              <a:extLst>
                <a:ext uri="{FF2B5EF4-FFF2-40B4-BE49-F238E27FC236}">
                  <a16:creationId xmlns:a16="http://schemas.microsoft.com/office/drawing/2014/main" id="{A6B303F9-BE55-403C-84FB-20457EF6A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21576" name="组合 21575">
            <a:extLst>
              <a:ext uri="{FF2B5EF4-FFF2-40B4-BE49-F238E27FC236}">
                <a16:creationId xmlns:a16="http://schemas.microsoft.com/office/drawing/2014/main" id="{A841706F-793D-4C75-974D-2922C896BFC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9400" y="1887538"/>
            <a:ext cx="1336675" cy="441325"/>
            <a:chOff x="0" y="0"/>
            <a:chExt cx="842" cy="278"/>
          </a:xfrm>
        </p:grpSpPr>
        <p:sp>
          <p:nvSpPr>
            <p:cNvPr id="69698" name="Line 81">
              <a:extLst>
                <a:ext uri="{FF2B5EF4-FFF2-40B4-BE49-F238E27FC236}">
                  <a16:creationId xmlns:a16="http://schemas.microsoft.com/office/drawing/2014/main" id="{02D69BCC-3374-46D5-A47B-35B470F68A0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9" name="Line 82">
              <a:extLst>
                <a:ext uri="{FF2B5EF4-FFF2-40B4-BE49-F238E27FC236}">
                  <a16:creationId xmlns:a16="http://schemas.microsoft.com/office/drawing/2014/main" id="{6D25BE74-EC1F-4EE6-AE90-31755CEAE4B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0" name="Line 83">
              <a:extLst>
                <a:ext uri="{FF2B5EF4-FFF2-40B4-BE49-F238E27FC236}">
                  <a16:creationId xmlns:a16="http://schemas.microsoft.com/office/drawing/2014/main" id="{9C552D62-C750-4FAB-902A-AFC730D629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1" name="Line 84">
              <a:extLst>
                <a:ext uri="{FF2B5EF4-FFF2-40B4-BE49-F238E27FC236}">
                  <a16:creationId xmlns:a16="http://schemas.microsoft.com/office/drawing/2014/main" id="{7DD90927-AC7F-4F50-8065-A454CD3E7E4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2" name="Line 85">
              <a:extLst>
                <a:ext uri="{FF2B5EF4-FFF2-40B4-BE49-F238E27FC236}">
                  <a16:creationId xmlns:a16="http://schemas.microsoft.com/office/drawing/2014/main" id="{5D73FFB1-970F-4416-8710-29CABE2FD57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3" name="Line 86">
              <a:extLst>
                <a:ext uri="{FF2B5EF4-FFF2-40B4-BE49-F238E27FC236}">
                  <a16:creationId xmlns:a16="http://schemas.microsoft.com/office/drawing/2014/main" id="{ADDCACF0-285F-45B5-9C5A-679C5651774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4" name="Line 87">
              <a:extLst>
                <a:ext uri="{FF2B5EF4-FFF2-40B4-BE49-F238E27FC236}">
                  <a16:creationId xmlns:a16="http://schemas.microsoft.com/office/drawing/2014/main" id="{898AEEE6-E18D-49F0-B66A-ADE0ABEEDB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5" name="Line 88">
              <a:extLst>
                <a:ext uri="{FF2B5EF4-FFF2-40B4-BE49-F238E27FC236}">
                  <a16:creationId xmlns:a16="http://schemas.microsoft.com/office/drawing/2014/main" id="{8F16A1B5-70FD-438D-933D-E866E76A79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6" name="Text Box 89">
              <a:extLst>
                <a:ext uri="{FF2B5EF4-FFF2-40B4-BE49-F238E27FC236}">
                  <a16:creationId xmlns:a16="http://schemas.microsoft.com/office/drawing/2014/main" id="{44E231B1-E5AA-4EB5-B7E6-99FCDCCE7DC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400" b="0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grpSp>
        <p:nvGrpSpPr>
          <p:cNvPr id="21586" name="组合 21585">
            <a:extLst>
              <a:ext uri="{FF2B5EF4-FFF2-40B4-BE49-F238E27FC236}">
                <a16:creationId xmlns:a16="http://schemas.microsoft.com/office/drawing/2014/main" id="{3311AD8C-122C-43A7-9495-FC35A7A400A7}"/>
              </a:ext>
            </a:extLst>
          </p:cNvPr>
          <p:cNvGrpSpPr>
            <a:grpSpLocks/>
          </p:cNvGrpSpPr>
          <p:nvPr/>
        </p:nvGrpSpPr>
        <p:grpSpPr bwMode="auto">
          <a:xfrm>
            <a:off x="6005513" y="1290638"/>
            <a:ext cx="2009775" cy="579437"/>
            <a:chOff x="0" y="0"/>
            <a:chExt cx="1266" cy="365"/>
          </a:xfrm>
        </p:grpSpPr>
        <p:sp>
          <p:nvSpPr>
            <p:cNvPr id="69696" name="AutoShape 91">
              <a:extLst>
                <a:ext uri="{FF2B5EF4-FFF2-40B4-BE49-F238E27FC236}">
                  <a16:creationId xmlns:a16="http://schemas.microsoft.com/office/drawing/2014/main" id="{A666FE7F-7DF6-4826-A427-8788B041C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697" name="Rectangle 92">
              <a:extLst>
                <a:ext uri="{FF2B5EF4-FFF2-40B4-BE49-F238E27FC236}">
                  <a16:creationId xmlns:a16="http://schemas.microsoft.com/office/drawing/2014/main" id="{EE8AA6CC-C97A-4E6F-A34B-45664C10A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21589" name="Text Box 93">
            <a:extLst>
              <a:ext uri="{FF2B5EF4-FFF2-40B4-BE49-F238E27FC236}">
                <a16:creationId xmlns:a16="http://schemas.microsoft.com/office/drawing/2014/main" id="{4F99E67C-5F27-4AFC-B676-6F00C667F10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0363" y="1333500"/>
            <a:ext cx="388937" cy="5081588"/>
          </a:xfrm>
          <a:prstGeom prst="rect">
            <a:avLst/>
          </a:prstGeom>
          <a:solidFill>
            <a:srgbClr val="66FF33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21590" name="组合 21589">
            <a:extLst>
              <a:ext uri="{FF2B5EF4-FFF2-40B4-BE49-F238E27FC236}">
                <a16:creationId xmlns:a16="http://schemas.microsoft.com/office/drawing/2014/main" id="{C79DF42C-417A-47EB-B81F-8AA0B6D8DB15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59188"/>
            <a:ext cx="609600" cy="1752600"/>
            <a:chOff x="0" y="0"/>
            <a:chExt cx="384" cy="1104"/>
          </a:xfrm>
        </p:grpSpPr>
        <p:sp>
          <p:nvSpPr>
            <p:cNvPr id="69694" name="AutoShape 95">
              <a:extLst>
                <a:ext uri="{FF2B5EF4-FFF2-40B4-BE49-F238E27FC236}">
                  <a16:creationId xmlns:a16="http://schemas.microsoft.com/office/drawing/2014/main" id="{86B081C7-3191-4357-8D34-CF226393D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66FF33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1592" name="Text Box 96">
              <a:extLst>
                <a:ext uri="{FF2B5EF4-FFF2-40B4-BE49-F238E27FC236}">
                  <a16:creationId xmlns:a16="http://schemas.microsoft.com/office/drawing/2014/main" id="{AE0A5261-E7C1-4BD2-B382-115F2000CF39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rgbClr val="66FF33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地址总线</a:t>
              </a:r>
              <a:endParaRPr lang="zh-CN" altLang="en-US" sz="2400" noProof="1">
                <a:solidFill>
                  <a:srgbClr val="66FF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1593" name="组合 21592">
            <a:extLst>
              <a:ext uri="{FF2B5EF4-FFF2-40B4-BE49-F238E27FC236}">
                <a16:creationId xmlns:a16="http://schemas.microsoft.com/office/drawing/2014/main" id="{69340F4C-91F9-4A46-9D82-EEED1BC61846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68713"/>
            <a:ext cx="609600" cy="1752600"/>
            <a:chOff x="0" y="0"/>
            <a:chExt cx="384" cy="1104"/>
          </a:xfrm>
        </p:grpSpPr>
        <p:sp>
          <p:nvSpPr>
            <p:cNvPr id="69692" name="AutoShape 98">
              <a:extLst>
                <a:ext uri="{FF2B5EF4-FFF2-40B4-BE49-F238E27FC236}">
                  <a16:creationId xmlns:a16="http://schemas.microsoft.com/office/drawing/2014/main" id="{23B51D78-76F1-4BCE-96DC-431935CCF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FF9900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1595" name="Text Box 99">
              <a:extLst>
                <a:ext uri="{FF2B5EF4-FFF2-40B4-BE49-F238E27FC236}">
                  <a16:creationId xmlns:a16="http://schemas.microsoft.com/office/drawing/2014/main" id="{4E99CB13-D7CD-4B67-8FC6-0AC975F934D9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rgbClr val="FF99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数据总线</a:t>
              </a:r>
              <a:endParaRPr lang="zh-CN" altLang="en-US" sz="2400" noProof="1">
                <a:solidFill>
                  <a:srgbClr val="FF99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21596" name="Text Box 101">
            <a:extLst>
              <a:ext uri="{FF2B5EF4-FFF2-40B4-BE49-F238E27FC236}">
                <a16:creationId xmlns:a16="http://schemas.microsoft.com/office/drawing/2014/main" id="{1DECBF59-1A63-487B-9049-3A45130759B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5125" y="1331913"/>
            <a:ext cx="388938" cy="5081587"/>
          </a:xfrm>
          <a:prstGeom prst="rect">
            <a:avLst/>
          </a:prstGeom>
          <a:solidFill>
            <a:schemeClr val="hlink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FFFF"/>
                </a:solidFill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FFFF"/>
                </a:solidFill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FFFF"/>
                </a:solidFill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FFFF"/>
                </a:solidFill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FFFF"/>
                </a:solidFill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FFFF"/>
                </a:solidFill>
                <a:latin typeface="Times New Roman" panose="02020603050405020304" pitchFamily="18" charset="0"/>
              </a:rPr>
              <a:t>辑</a:t>
            </a:r>
          </a:p>
        </p:txBody>
      </p:sp>
      <p:sp>
        <p:nvSpPr>
          <p:cNvPr id="69671" name="Text Box 109">
            <a:extLst>
              <a:ext uri="{FF2B5EF4-FFF2-40B4-BE49-F238E27FC236}">
                <a16:creationId xmlns:a16="http://schemas.microsoft.com/office/drawing/2014/main" id="{7B526C72-1175-4CD1-869A-90C45BB55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949950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指令代码</a:t>
            </a:r>
          </a:p>
        </p:txBody>
      </p:sp>
      <p:grpSp>
        <p:nvGrpSpPr>
          <p:cNvPr id="69672" name="组合 21597">
            <a:extLst>
              <a:ext uri="{FF2B5EF4-FFF2-40B4-BE49-F238E27FC236}">
                <a16:creationId xmlns:a16="http://schemas.microsoft.com/office/drawing/2014/main" id="{ABA9A04C-BF03-40C1-892D-B6915BB0045A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2636838"/>
            <a:ext cx="1331912" cy="2519362"/>
            <a:chOff x="0" y="0"/>
            <a:chExt cx="839" cy="1587"/>
          </a:xfrm>
        </p:grpSpPr>
        <p:sp>
          <p:nvSpPr>
            <p:cNvPr id="69678" name="Text Box 113">
              <a:extLst>
                <a:ext uri="{FF2B5EF4-FFF2-40B4-BE49-F238E27FC236}">
                  <a16:creationId xmlns:a16="http://schemas.microsoft.com/office/drawing/2014/main" id="{9D27019F-169E-4C66-A813-0409078E5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83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内存储器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（数据段）</a:t>
              </a:r>
            </a:p>
          </p:txBody>
        </p:sp>
        <p:sp>
          <p:nvSpPr>
            <p:cNvPr id="69679" name="AutoShape 114">
              <a:extLst>
                <a:ext uri="{FF2B5EF4-FFF2-40B4-BE49-F238E27FC236}">
                  <a16:creationId xmlns:a16="http://schemas.microsoft.com/office/drawing/2014/main" id="{6515E13E-216E-4CCD-B48A-E866C98D3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491"/>
              <a:ext cx="399" cy="1096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680" name="Text Box 115">
              <a:extLst>
                <a:ext uri="{FF2B5EF4-FFF2-40B4-BE49-F238E27FC236}">
                  <a16:creationId xmlns:a16="http://schemas.microsoft.com/office/drawing/2014/main" id="{FB5E92DD-04F9-4DF7-A9C0-7698C75C9F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490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B0H</a:t>
              </a:r>
            </a:p>
          </p:txBody>
        </p:sp>
        <p:sp>
          <p:nvSpPr>
            <p:cNvPr id="69681" name="Text Box 116">
              <a:extLst>
                <a:ext uri="{FF2B5EF4-FFF2-40B4-BE49-F238E27FC236}">
                  <a16:creationId xmlns:a16="http://schemas.microsoft.com/office/drawing/2014/main" id="{AD34CE73-0411-41E5-93CF-DBCF88482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654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9682" name="Text Box 117">
              <a:extLst>
                <a:ext uri="{FF2B5EF4-FFF2-40B4-BE49-F238E27FC236}">
                  <a16:creationId xmlns:a16="http://schemas.microsoft.com/office/drawing/2014/main" id="{7151799C-46C0-4670-8443-BEFEA52DE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26"/>
              <a:ext cx="454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69683" name="Text Box 118">
              <a:extLst>
                <a:ext uri="{FF2B5EF4-FFF2-40B4-BE49-F238E27FC236}">
                  <a16:creationId xmlns:a16="http://schemas.microsoft.com/office/drawing/2014/main" id="{03B4E447-C3DA-4D63-AF4E-88B65020E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643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9684" name="Text Box 119">
              <a:extLst>
                <a:ext uri="{FF2B5EF4-FFF2-40B4-BE49-F238E27FC236}">
                  <a16:creationId xmlns:a16="http://schemas.microsoft.com/office/drawing/2014/main" id="{CDFEDE13-BDE6-40C1-BC3C-4B14939D2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818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2100H</a:t>
              </a:r>
            </a:p>
          </p:txBody>
        </p:sp>
        <p:sp>
          <p:nvSpPr>
            <p:cNvPr id="69685" name="Text Box 120">
              <a:extLst>
                <a:ext uri="{FF2B5EF4-FFF2-40B4-BE49-F238E27FC236}">
                  <a16:creationId xmlns:a16="http://schemas.microsoft.com/office/drawing/2014/main" id="{B85198FD-38F5-426B-9E80-7E99401E3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992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2101H</a:t>
              </a:r>
            </a:p>
          </p:txBody>
        </p:sp>
        <p:sp>
          <p:nvSpPr>
            <p:cNvPr id="69686" name="Text Box 121">
              <a:extLst>
                <a:ext uri="{FF2B5EF4-FFF2-40B4-BE49-F238E27FC236}">
                  <a16:creationId xmlns:a16="http://schemas.microsoft.com/office/drawing/2014/main" id="{FF37F534-D538-4DBA-AC11-5965EFADD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15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69687" name="Text Box 122">
              <a:extLst>
                <a:ext uri="{FF2B5EF4-FFF2-40B4-BE49-F238E27FC236}">
                  <a16:creationId xmlns:a16="http://schemas.microsoft.com/office/drawing/2014/main" id="{AA09E41C-2741-45B7-8464-6668907965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490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2000H</a:t>
              </a:r>
            </a:p>
          </p:txBody>
        </p:sp>
        <p:sp>
          <p:nvSpPr>
            <p:cNvPr id="69688" name="Text Box 123">
              <a:extLst>
                <a:ext uri="{FF2B5EF4-FFF2-40B4-BE49-F238E27FC236}">
                  <a16:creationId xmlns:a16="http://schemas.microsoft.com/office/drawing/2014/main" id="{6F5792D3-D15C-46B9-9EF8-F925E1355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816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10H</a:t>
              </a:r>
            </a:p>
          </p:txBody>
        </p:sp>
        <p:sp>
          <p:nvSpPr>
            <p:cNvPr id="69689" name="Text Box 124">
              <a:extLst>
                <a:ext uri="{FF2B5EF4-FFF2-40B4-BE49-F238E27FC236}">
                  <a16:creationId xmlns:a16="http://schemas.microsoft.com/office/drawing/2014/main" id="{ADFE3BE5-B1B0-4552-B3D2-630519418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984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11H</a:t>
              </a:r>
            </a:p>
          </p:txBody>
        </p:sp>
        <p:sp>
          <p:nvSpPr>
            <p:cNvPr id="69690" name="Text Box 125">
              <a:extLst>
                <a:ext uri="{FF2B5EF4-FFF2-40B4-BE49-F238E27FC236}">
                  <a16:creationId xmlns:a16="http://schemas.microsoft.com/office/drawing/2014/main" id="{D410A3D4-19A4-4EA5-AE72-80E13598D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149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9691" name="Text Box 126">
              <a:extLst>
                <a:ext uri="{FF2B5EF4-FFF2-40B4-BE49-F238E27FC236}">
                  <a16:creationId xmlns:a16="http://schemas.microsoft.com/office/drawing/2014/main" id="{5C2FE068-F6D9-44E2-BEC5-ACE5218BC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" y="1152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</p:grpSp>
      <p:sp>
        <p:nvSpPr>
          <p:cNvPr id="21613" name="AutoShape 129">
            <a:extLst>
              <a:ext uri="{FF2B5EF4-FFF2-40B4-BE49-F238E27FC236}">
                <a16:creationId xmlns:a16="http://schemas.microsoft.com/office/drawing/2014/main" id="{EA62600E-9AE0-408F-AE7B-42338A538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816350" cy="179388"/>
          </a:xfrm>
          <a:prstGeom prst="leftRightArrow">
            <a:avLst>
              <a:gd name="adj1" fmla="val 57435"/>
              <a:gd name="adj2" fmla="val 145768"/>
            </a:avLst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21614" name="AutoShape 133">
            <a:extLst>
              <a:ext uri="{FF2B5EF4-FFF2-40B4-BE49-F238E27FC236}">
                <a16:creationId xmlns:a16="http://schemas.microsoft.com/office/drawing/2014/main" id="{6EE88A15-F940-421F-89D1-D0887B088D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9388" y="3154363"/>
            <a:ext cx="228600" cy="1395412"/>
          </a:xfrm>
          <a:prstGeom prst="upDownArrow">
            <a:avLst>
              <a:gd name="adj1" fmla="val 50000"/>
              <a:gd name="adj2" fmla="val 121575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21615" name="AutoShape 134">
            <a:extLst>
              <a:ext uri="{FF2B5EF4-FFF2-40B4-BE49-F238E27FC236}">
                <a16:creationId xmlns:a16="http://schemas.microsoft.com/office/drawing/2014/main" id="{D4B0FE24-8DC2-4626-95A5-832B36741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816350" cy="179388"/>
          </a:xfrm>
          <a:prstGeom prst="leftRightArrow">
            <a:avLst>
              <a:gd name="adj1" fmla="val 57435"/>
              <a:gd name="adj2" fmla="val 145768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9676" name="未知">
            <a:extLst>
              <a:ext uri="{FF2B5EF4-FFF2-40B4-BE49-F238E27FC236}">
                <a16:creationId xmlns:a16="http://schemas.microsoft.com/office/drawing/2014/main" id="{3803B2E9-0CBE-4EFA-9456-829B49588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076700"/>
            <a:ext cx="1944688" cy="2089150"/>
          </a:xfrm>
          <a:custGeom>
            <a:avLst/>
            <a:gdLst>
              <a:gd name="T0" fmla="*/ 0 w 1225"/>
              <a:gd name="T1" fmla="*/ 2147483646 h 1316"/>
              <a:gd name="T2" fmla="*/ 2147483646 w 1225"/>
              <a:gd name="T3" fmla="*/ 2147483646 h 1316"/>
              <a:gd name="T4" fmla="*/ 2147483646 w 1225"/>
              <a:gd name="T5" fmla="*/ 2147483646 h 1316"/>
              <a:gd name="T6" fmla="*/ 2147483646 w 1225"/>
              <a:gd name="T7" fmla="*/ 0 h 13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25" h="1316">
                <a:moveTo>
                  <a:pt x="0" y="1316"/>
                </a:moveTo>
                <a:cubicBezTo>
                  <a:pt x="397" y="1308"/>
                  <a:pt x="794" y="1300"/>
                  <a:pt x="998" y="1134"/>
                </a:cubicBezTo>
                <a:cubicBezTo>
                  <a:pt x="1202" y="968"/>
                  <a:pt x="1225" y="507"/>
                  <a:pt x="1225" y="318"/>
                </a:cubicBezTo>
                <a:cubicBezTo>
                  <a:pt x="1225" y="129"/>
                  <a:pt x="1111" y="64"/>
                  <a:pt x="998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84" name="灯片编号占位符 1">
            <a:extLst>
              <a:ext uri="{FF2B5EF4-FFF2-40B4-BE49-F238E27FC236}">
                <a16:creationId xmlns:a16="http://schemas.microsoft.com/office/drawing/2014/main" id="{A01D8C3D-CE88-443C-8ED2-E1910CCE40A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9F14CAC-E478-4BEF-8192-BE5B8A20D770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18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5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5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5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5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3" grpId="0" animBg="1"/>
      <p:bldP spid="21529" grpId="0" animBg="1"/>
      <p:bldP spid="21571" grpId="0" animBg="1"/>
      <p:bldP spid="21572" grpId="0" animBg="1"/>
      <p:bldP spid="21589" grpId="0" animBg="1"/>
      <p:bldP spid="21596" grpId="0" animBg="1"/>
      <p:bldP spid="21613" grpId="0" animBg="1"/>
      <p:bldP spid="21614" grpId="0" animBg="1"/>
      <p:bldP spid="216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7DB28B89-8EA8-4854-957D-2E007D15D5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443038"/>
            <a:ext cx="7772400" cy="43434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队列中只要空出两个字节，</a:t>
            </a:r>
            <a:r>
              <a:rPr lang="en-US" altLang="zh-CN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BIU</a:t>
            </a: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会自动从存储器中取出指令放在指令队列中（可存放最长指令为6字节）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指令执行时所需操作数也由BIU取出，送EU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取指和执行指令是分开的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在执行一条指令的同时，可取下一条指令放在指令队列中排队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减少了CPU取指所需的等待时间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4015E59-5F45-4D7A-9C9A-9054D66316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66725" y="260350"/>
            <a:ext cx="8229600" cy="649288"/>
          </a:xfrm>
        </p:spPr>
        <p:txBody>
          <a:bodyPr lIns="92075" tIns="46038" rIns="92075" bIns="46038"/>
          <a:lstStyle/>
          <a:p>
            <a:pPr algn="l" eaLnBrk="1" hangingPunct="1">
              <a:buClr>
                <a:srgbClr val="000000"/>
              </a:buClr>
              <a:defRPr/>
            </a:pPr>
            <a:r>
              <a:rPr lang="en-US" altLang="zh-CN" sz="3200" b="1" noProof="1">
                <a:effectLst>
                  <a:outerShdw blurRad="38100" dist="38100" dir="2700000">
                    <a:srgbClr val="C0C0C0"/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(3)BIU</a:t>
            </a:r>
            <a:r>
              <a:rPr lang="zh-CN" altLang="en-US" sz="3200" b="1" noProof="1">
                <a:effectLst>
                  <a:outerShdw blurRad="38100" dist="38100" dir="2700000">
                    <a:srgbClr val="C0C0C0"/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完成的操作</a:t>
            </a:r>
          </a:p>
        </p:txBody>
      </p:sp>
      <p:sp>
        <p:nvSpPr>
          <p:cNvPr id="70660" name="文本框 22531">
            <a:extLst>
              <a:ext uri="{FF2B5EF4-FFF2-40B4-BE49-F238E27FC236}">
                <a16:creationId xmlns:a16="http://schemas.microsoft.com/office/drawing/2014/main" id="{D86450D9-4816-4531-BCEC-6A9CEB08F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0" y="5345113"/>
            <a:ext cx="38830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bg2"/>
                </a:solidFill>
                <a:latin typeface="Garamond" panose="02020404030301010803" pitchFamily="18" charset="0"/>
              </a:rPr>
              <a:t>20150910第2次课完</a:t>
            </a:r>
          </a:p>
        </p:txBody>
      </p:sp>
      <p:sp>
        <p:nvSpPr>
          <p:cNvPr id="29700" name="灯片编号占位符 1">
            <a:extLst>
              <a:ext uri="{FF2B5EF4-FFF2-40B4-BE49-F238E27FC236}">
                <a16:creationId xmlns:a16="http://schemas.microsoft.com/office/drawing/2014/main" id="{1ED43A72-27F3-40EF-AB25-A489192AA3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DB744C4-B352-4E19-9FD7-331E1DDF7D6E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19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4">
            <a:extLst>
              <a:ext uri="{FF2B5EF4-FFF2-40B4-BE49-F238E27FC236}">
                <a16:creationId xmlns:a16="http://schemas.microsoft.com/office/drawing/2014/main" id="{5FD9A475-F6A1-4BFB-876B-B36E00BFE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001838"/>
            <a:ext cx="173672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数据寄存器</a:t>
            </a:r>
          </a:p>
        </p:txBody>
      </p:sp>
      <p:sp>
        <p:nvSpPr>
          <p:cNvPr id="71683" name="Text Box 5">
            <a:extLst>
              <a:ext uri="{FF2B5EF4-FFF2-40B4-BE49-F238E27FC236}">
                <a16:creationId xmlns:a16="http://schemas.microsoft.com/office/drawing/2014/main" id="{A7DFFEE7-79B6-42A1-A36E-A52E5AF3D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3179763"/>
            <a:ext cx="1681162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地址指针及变址寄存器</a:t>
            </a:r>
          </a:p>
        </p:txBody>
      </p:sp>
      <p:sp>
        <p:nvSpPr>
          <p:cNvPr id="71684" name="Text Box 6">
            <a:extLst>
              <a:ext uri="{FF2B5EF4-FFF2-40B4-BE49-F238E27FC236}">
                <a16:creationId xmlns:a16="http://schemas.microsoft.com/office/drawing/2014/main" id="{8D9622B7-103E-4CF6-9F45-14F5D6802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25" y="4354513"/>
            <a:ext cx="1922463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控制寄存器组</a:t>
            </a:r>
          </a:p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685" name="Text Box 7">
            <a:extLst>
              <a:ext uri="{FF2B5EF4-FFF2-40B4-BE49-F238E27FC236}">
                <a16:creationId xmlns:a16="http://schemas.microsoft.com/office/drawing/2014/main" id="{CB1FE0A5-27B4-44A5-9B0A-CDFFFE02C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438" y="5518150"/>
            <a:ext cx="15462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段寄存器组</a:t>
            </a:r>
          </a:p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rgbClr val="FF66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6" name="AutoShape 8">
            <a:extLst>
              <a:ext uri="{FF2B5EF4-FFF2-40B4-BE49-F238E27FC236}">
                <a16:creationId xmlns:a16="http://schemas.microsoft.com/office/drawing/2014/main" id="{2850CA37-C89E-4FBE-AB88-8B6C88B44F0F}"/>
              </a:ext>
            </a:extLst>
          </p:cNvPr>
          <p:cNvSpPr>
            <a:spLocks/>
          </p:cNvSpPr>
          <p:nvPr/>
        </p:nvSpPr>
        <p:spPr bwMode="auto">
          <a:xfrm>
            <a:off x="4468813" y="1671638"/>
            <a:ext cx="315912" cy="1095375"/>
          </a:xfrm>
          <a:prstGeom prst="rightBrace">
            <a:avLst>
              <a:gd name="adj1" fmla="val 28606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 b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7" name="AutoShape 9">
            <a:extLst>
              <a:ext uri="{FF2B5EF4-FFF2-40B4-BE49-F238E27FC236}">
                <a16:creationId xmlns:a16="http://schemas.microsoft.com/office/drawing/2014/main" id="{E12F999A-EDD8-4633-BE9C-2516AB526955}"/>
              </a:ext>
            </a:extLst>
          </p:cNvPr>
          <p:cNvSpPr>
            <a:spLocks/>
          </p:cNvSpPr>
          <p:nvPr/>
        </p:nvSpPr>
        <p:spPr bwMode="auto">
          <a:xfrm>
            <a:off x="4495800" y="2982913"/>
            <a:ext cx="263525" cy="1112837"/>
          </a:xfrm>
          <a:prstGeom prst="rightBrace">
            <a:avLst>
              <a:gd name="adj1" fmla="val 34839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71688" name="AutoShape 10">
            <a:extLst>
              <a:ext uri="{FF2B5EF4-FFF2-40B4-BE49-F238E27FC236}">
                <a16:creationId xmlns:a16="http://schemas.microsoft.com/office/drawing/2014/main" id="{EE873A44-FBEC-45E2-B598-C29D187E7C67}"/>
              </a:ext>
            </a:extLst>
          </p:cNvPr>
          <p:cNvSpPr>
            <a:spLocks/>
          </p:cNvSpPr>
          <p:nvPr/>
        </p:nvSpPr>
        <p:spPr bwMode="auto">
          <a:xfrm>
            <a:off x="4506913" y="4262438"/>
            <a:ext cx="239712" cy="568325"/>
          </a:xfrm>
          <a:prstGeom prst="rightBrace">
            <a:avLst>
              <a:gd name="adj1" fmla="val 19560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71689" name="AutoShape 11">
            <a:extLst>
              <a:ext uri="{FF2B5EF4-FFF2-40B4-BE49-F238E27FC236}">
                <a16:creationId xmlns:a16="http://schemas.microsoft.com/office/drawing/2014/main" id="{29BE6B86-44F8-4BF1-BC62-7896FFA1D6CC}"/>
              </a:ext>
            </a:extLst>
          </p:cNvPr>
          <p:cNvSpPr>
            <a:spLocks/>
          </p:cNvSpPr>
          <p:nvPr/>
        </p:nvSpPr>
        <p:spPr bwMode="auto">
          <a:xfrm>
            <a:off x="4524375" y="5091113"/>
            <a:ext cx="242888" cy="1154112"/>
          </a:xfrm>
          <a:prstGeom prst="rightBrace">
            <a:avLst>
              <a:gd name="adj1" fmla="val 39201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71690" name="AutoShape 12">
            <a:extLst>
              <a:ext uri="{FF2B5EF4-FFF2-40B4-BE49-F238E27FC236}">
                <a16:creationId xmlns:a16="http://schemas.microsoft.com/office/drawing/2014/main" id="{C6D3B206-C134-410B-98F3-967C2387E466}"/>
              </a:ext>
            </a:extLst>
          </p:cNvPr>
          <p:cNvSpPr>
            <a:spLocks/>
          </p:cNvSpPr>
          <p:nvPr/>
        </p:nvSpPr>
        <p:spPr bwMode="auto">
          <a:xfrm>
            <a:off x="6659563" y="2105025"/>
            <a:ext cx="395287" cy="1546225"/>
          </a:xfrm>
          <a:prstGeom prst="rightBrace">
            <a:avLst>
              <a:gd name="adj1" fmla="val 32271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71691" name="Text Box 13">
            <a:extLst>
              <a:ext uri="{FF2B5EF4-FFF2-40B4-BE49-F238E27FC236}">
                <a16:creationId xmlns:a16="http://schemas.microsoft.com/office/drawing/2014/main" id="{9D613A97-0F63-4817-97A8-1EDA21AE4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1522413"/>
            <a:ext cx="3814763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AX   AH  AL    </a:t>
            </a:r>
            <a:r>
              <a:rPr lang="zh-CN" altLang="en-US" sz="2200">
                <a:latin typeface="Times New Roman" panose="02020603050405020304" pitchFamily="18" charset="0"/>
              </a:rPr>
              <a:t>累加器</a:t>
            </a:r>
          </a:p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BX   BH  BL     </a:t>
            </a:r>
            <a:r>
              <a:rPr lang="zh-CN" altLang="en-US" sz="2200">
                <a:latin typeface="Times New Roman" panose="02020603050405020304" pitchFamily="18" charset="0"/>
              </a:rPr>
              <a:t>基址寄存器</a:t>
            </a:r>
          </a:p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CX   CH  CL    </a:t>
            </a:r>
            <a:r>
              <a:rPr lang="zh-CN" altLang="en-US" sz="2200">
                <a:latin typeface="Times New Roman" panose="02020603050405020304" pitchFamily="18" charset="0"/>
              </a:rPr>
              <a:t>计数寄存器</a:t>
            </a:r>
          </a:p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DX   DH  DL    </a:t>
            </a:r>
            <a:r>
              <a:rPr lang="zh-CN" altLang="en-US" sz="2200">
                <a:latin typeface="Times New Roman" panose="02020603050405020304" pitchFamily="18" charset="0"/>
              </a:rPr>
              <a:t>数据寄存器</a:t>
            </a:r>
          </a:p>
        </p:txBody>
      </p:sp>
      <p:sp>
        <p:nvSpPr>
          <p:cNvPr id="71692" name="Text Box 14">
            <a:extLst>
              <a:ext uri="{FF2B5EF4-FFF2-40B4-BE49-F238E27FC236}">
                <a16:creationId xmlns:a16="http://schemas.microsoft.com/office/drawing/2014/main" id="{14534A17-9017-4B7C-A9F9-FC002523FB8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88200" y="2689225"/>
            <a:ext cx="18478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通用寄存器组</a:t>
            </a:r>
          </a:p>
        </p:txBody>
      </p:sp>
      <p:sp>
        <p:nvSpPr>
          <p:cNvPr id="71693" name="Text Box 15">
            <a:extLst>
              <a:ext uri="{FF2B5EF4-FFF2-40B4-BE49-F238E27FC236}">
                <a16:creationId xmlns:a16="http://schemas.microsoft.com/office/drawing/2014/main" id="{ABD39FB8-4CE2-487A-AB7C-7DC78E311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2849563"/>
            <a:ext cx="3648075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SP 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堆栈指针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BP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基址指针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SI  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源变址指针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DI 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目的变址指针</a:t>
            </a:r>
            <a:endParaRPr lang="zh-CN" altLang="en-US" sz="2400" b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94" name="Text Box 16">
            <a:extLst>
              <a:ext uri="{FF2B5EF4-FFF2-40B4-BE49-F238E27FC236}">
                <a16:creationId xmlns:a16="http://schemas.microsoft.com/office/drawing/2014/main" id="{670DCFC9-BB4C-4A4E-A1C9-A9EE66A35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25" y="4225925"/>
            <a:ext cx="34131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latin typeface="Times New Roman" panose="02020603050405020304" pitchFamily="18" charset="0"/>
              </a:rPr>
              <a:t>IP        </a:t>
            </a:r>
            <a:r>
              <a:rPr lang="zh-CN" altLang="en-US" sz="2200">
                <a:latin typeface="Times New Roman" panose="02020603050405020304" pitchFamily="18" charset="0"/>
              </a:rPr>
              <a:t>指令指针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  </a:t>
            </a:r>
            <a:r>
              <a:rPr lang="en-US" altLang="zh-CN" sz="2200">
                <a:latin typeface="Times New Roman" panose="02020603050405020304" pitchFamily="18" charset="0"/>
              </a:rPr>
              <a:t>FLAG    </a:t>
            </a:r>
            <a:r>
              <a:rPr lang="zh-CN" altLang="en-US" sz="2200">
                <a:latin typeface="Times New Roman" panose="02020603050405020304" pitchFamily="18" charset="0"/>
              </a:rPr>
              <a:t>标志寄存器 </a:t>
            </a:r>
          </a:p>
        </p:txBody>
      </p:sp>
      <p:sp>
        <p:nvSpPr>
          <p:cNvPr id="71695" name="Text Box 17">
            <a:extLst>
              <a:ext uri="{FF2B5EF4-FFF2-40B4-BE49-F238E27FC236}">
                <a16:creationId xmlns:a16="http://schemas.microsoft.com/office/drawing/2014/main" id="{A2281B0C-B326-4544-B073-920E90CFF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" y="4949825"/>
            <a:ext cx="3717925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CS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代码段寄存器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DS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数据段寄存器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SS 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堆栈段寄存器 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ES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附加段寄存器</a:t>
            </a:r>
          </a:p>
        </p:txBody>
      </p:sp>
      <p:sp>
        <p:nvSpPr>
          <p:cNvPr id="71696" name="Text Box 18">
            <a:extLst>
              <a:ext uri="{FF2B5EF4-FFF2-40B4-BE49-F238E27FC236}">
                <a16:creationId xmlns:a16="http://schemas.microsoft.com/office/drawing/2014/main" id="{59D408B6-D875-4912-AAAB-6EBBB39B8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125" y="1177925"/>
            <a:ext cx="15430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000" b="0">
                <a:latin typeface="Times New Roman" panose="02020603050405020304" pitchFamily="18" charset="0"/>
              </a:rPr>
              <a:t> </a:t>
            </a:r>
            <a:r>
              <a:rPr lang="en-US" altLang="zh-CN" sz="2200">
                <a:latin typeface="Times New Roman" panose="02020603050405020304" pitchFamily="18" charset="0"/>
              </a:rPr>
              <a:t>15   8 7     0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grpSp>
        <p:nvGrpSpPr>
          <p:cNvPr id="71697" name="组合 23568">
            <a:extLst>
              <a:ext uri="{FF2B5EF4-FFF2-40B4-BE49-F238E27FC236}">
                <a16:creationId xmlns:a16="http://schemas.microsoft.com/office/drawing/2014/main" id="{66EBD9B0-BA26-4B71-B081-AFFBE5C5F1B3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1550988"/>
            <a:ext cx="1200150" cy="1333500"/>
            <a:chOff x="0" y="0"/>
            <a:chExt cx="756" cy="840"/>
          </a:xfrm>
        </p:grpSpPr>
        <p:sp>
          <p:nvSpPr>
            <p:cNvPr id="71715" name="Rectangle 20">
              <a:extLst>
                <a:ext uri="{FF2B5EF4-FFF2-40B4-BE49-F238E27FC236}">
                  <a16:creationId xmlns:a16="http://schemas.microsoft.com/office/drawing/2014/main" id="{B66EE3DA-4794-49ED-A02D-DC2F9ACB8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2"/>
              <a:ext cx="756" cy="82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71716" name="Line 21">
              <a:extLst>
                <a:ext uri="{FF2B5EF4-FFF2-40B4-BE49-F238E27FC236}">
                  <a16:creationId xmlns:a16="http://schemas.microsoft.com/office/drawing/2014/main" id="{3491832E-C72B-42BA-B2F9-9D1521679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" y="0"/>
              <a:ext cx="0" cy="84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7" name="Line 22">
              <a:extLst>
                <a:ext uri="{FF2B5EF4-FFF2-40B4-BE49-F238E27FC236}">
                  <a16:creationId xmlns:a16="http://schemas.microsoft.com/office/drawing/2014/main" id="{43A5E16B-565D-46ED-BF35-01FB1708B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28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8" name="Line 23">
              <a:extLst>
                <a:ext uri="{FF2B5EF4-FFF2-40B4-BE49-F238E27FC236}">
                  <a16:creationId xmlns:a16="http://schemas.microsoft.com/office/drawing/2014/main" id="{55676B79-4D47-4F56-B9AC-6F49DBEDE7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32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9" name="Line 24">
              <a:extLst>
                <a:ext uri="{FF2B5EF4-FFF2-40B4-BE49-F238E27FC236}">
                  <a16:creationId xmlns:a16="http://schemas.microsoft.com/office/drawing/2014/main" id="{C4A46F60-C238-4CF5-9439-78E3F6724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648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698" name="组合 23574">
            <a:extLst>
              <a:ext uri="{FF2B5EF4-FFF2-40B4-BE49-F238E27FC236}">
                <a16:creationId xmlns:a16="http://schemas.microsoft.com/office/drawing/2014/main" id="{690E5356-9590-4D64-B0FB-392098ED7E5E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4979988"/>
            <a:ext cx="1200150" cy="1314450"/>
            <a:chOff x="0" y="0"/>
            <a:chExt cx="756" cy="828"/>
          </a:xfrm>
        </p:grpSpPr>
        <p:sp>
          <p:nvSpPr>
            <p:cNvPr id="71711" name="Rectangle 26">
              <a:extLst>
                <a:ext uri="{FF2B5EF4-FFF2-40B4-BE49-F238E27FC236}">
                  <a16:creationId xmlns:a16="http://schemas.microsoft.com/office/drawing/2014/main" id="{93F4FB79-A13D-4262-8591-73789117E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56" cy="82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71712" name="Line 27">
              <a:extLst>
                <a:ext uri="{FF2B5EF4-FFF2-40B4-BE49-F238E27FC236}">
                  <a16:creationId xmlns:a16="http://schemas.microsoft.com/office/drawing/2014/main" id="{7F663880-C1C6-4874-8D94-7C304CA12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16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3" name="Line 28">
              <a:extLst>
                <a:ext uri="{FF2B5EF4-FFF2-40B4-BE49-F238E27FC236}">
                  <a16:creationId xmlns:a16="http://schemas.microsoft.com/office/drawing/2014/main" id="{8ECCB7E4-E3C3-44F4-8C0B-FBC738A4A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20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4" name="Line 29">
              <a:extLst>
                <a:ext uri="{FF2B5EF4-FFF2-40B4-BE49-F238E27FC236}">
                  <a16:creationId xmlns:a16="http://schemas.microsoft.com/office/drawing/2014/main" id="{F2317534-A02D-4818-BF1E-24713B442C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636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699" name="组合 23579">
            <a:extLst>
              <a:ext uri="{FF2B5EF4-FFF2-40B4-BE49-F238E27FC236}">
                <a16:creationId xmlns:a16="http://schemas.microsoft.com/office/drawing/2014/main" id="{C8795A13-0659-45C4-98CB-D00D994D39D2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2884488"/>
            <a:ext cx="1200150" cy="1314450"/>
            <a:chOff x="0" y="0"/>
            <a:chExt cx="756" cy="828"/>
          </a:xfrm>
        </p:grpSpPr>
        <p:sp>
          <p:nvSpPr>
            <p:cNvPr id="71707" name="Rectangle 31">
              <a:extLst>
                <a:ext uri="{FF2B5EF4-FFF2-40B4-BE49-F238E27FC236}">
                  <a16:creationId xmlns:a16="http://schemas.microsoft.com/office/drawing/2014/main" id="{1F620308-C789-4055-8BC3-6064EF042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56" cy="82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71708" name="Line 32">
              <a:extLst>
                <a:ext uri="{FF2B5EF4-FFF2-40B4-BE49-F238E27FC236}">
                  <a16:creationId xmlns:a16="http://schemas.microsoft.com/office/drawing/2014/main" id="{EBB99B2B-766F-479F-8B4C-8253BD541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16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9" name="Line 33">
              <a:extLst>
                <a:ext uri="{FF2B5EF4-FFF2-40B4-BE49-F238E27FC236}">
                  <a16:creationId xmlns:a16="http://schemas.microsoft.com/office/drawing/2014/main" id="{08DE04A0-76B9-4B4D-BCEB-E901F0582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20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0" name="Line 34">
              <a:extLst>
                <a:ext uri="{FF2B5EF4-FFF2-40B4-BE49-F238E27FC236}">
                  <a16:creationId xmlns:a16="http://schemas.microsoft.com/office/drawing/2014/main" id="{94B94A71-F58E-4490-AA22-D8ABFF39F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636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700" name="组合 23584">
            <a:extLst>
              <a:ext uri="{FF2B5EF4-FFF2-40B4-BE49-F238E27FC236}">
                <a16:creationId xmlns:a16="http://schemas.microsoft.com/office/drawing/2014/main" id="{6C3C3C1F-8A83-4D0B-BC8D-D5C07F187A25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4198938"/>
            <a:ext cx="1200150" cy="781050"/>
            <a:chOff x="0" y="0"/>
            <a:chExt cx="756" cy="492"/>
          </a:xfrm>
        </p:grpSpPr>
        <p:sp>
          <p:nvSpPr>
            <p:cNvPr id="71705" name="Rectangle 36">
              <a:extLst>
                <a:ext uri="{FF2B5EF4-FFF2-40B4-BE49-F238E27FC236}">
                  <a16:creationId xmlns:a16="http://schemas.microsoft.com/office/drawing/2014/main" id="{F60F9C3F-6C56-410B-A518-923B15CF9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56" cy="492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71706" name="Line 37">
              <a:extLst>
                <a:ext uri="{FF2B5EF4-FFF2-40B4-BE49-F238E27FC236}">
                  <a16:creationId xmlns:a16="http://schemas.microsoft.com/office/drawing/2014/main" id="{CD1362F7-A7D0-4561-9432-D0C93403C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16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01" name="Rectangle 38">
            <a:extLst>
              <a:ext uri="{FF2B5EF4-FFF2-40B4-BE49-F238E27FC236}">
                <a16:creationId xmlns:a16="http://schemas.microsoft.com/office/drawing/2014/main" id="{FA7B1BC4-0FF3-48AF-B741-73560DE57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4578350"/>
            <a:ext cx="1439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0">
                <a:latin typeface="宋体" panose="02010600030101010101" pitchFamily="2" charset="-122"/>
              </a:rPr>
              <a:t>（标志位）</a:t>
            </a:r>
          </a:p>
        </p:txBody>
      </p:sp>
      <p:sp>
        <p:nvSpPr>
          <p:cNvPr id="71702" name="Rectangle 39">
            <a:extLst>
              <a:ext uri="{FF2B5EF4-FFF2-40B4-BE49-F238E27FC236}">
                <a16:creationId xmlns:a16="http://schemas.microsoft.com/office/drawing/2014/main" id="{0BD70991-DF01-411B-9FCF-2170331E5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260350"/>
            <a:ext cx="3632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8086CPU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寄存器 </a:t>
            </a:r>
          </a:p>
        </p:txBody>
      </p:sp>
      <p:sp>
        <p:nvSpPr>
          <p:cNvPr id="23590" name="Rectangle 3">
            <a:extLst>
              <a:ext uri="{FF2B5EF4-FFF2-40B4-BE49-F238E27FC236}">
                <a16:creationId xmlns:a16="http://schemas.microsoft.com/office/drawing/2014/main" id="{6400602C-3363-4A21-8001-CB5B890F4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5" y="1177925"/>
            <a:ext cx="2735263" cy="5184775"/>
          </a:xfrm>
          <a:prstGeom prst="rect">
            <a:avLst/>
          </a:prstGeom>
          <a:solidFill>
            <a:srgbClr val="FFFF99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 Accumulator</a:t>
            </a:r>
            <a:r>
              <a:rPr lang="zh-CN" altLang="en-US" sz="2000">
                <a:latin typeface="Garamond" panose="02020404030301010803" pitchFamily="18" charset="0"/>
              </a:rPr>
              <a:t>：累加器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Base</a:t>
            </a:r>
            <a:r>
              <a:rPr lang="zh-CN" altLang="en-US" sz="2000">
                <a:latin typeface="Garamond" panose="02020404030301010803" pitchFamily="18" charset="0"/>
              </a:rPr>
              <a:t>：基础的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Counter</a:t>
            </a:r>
            <a:r>
              <a:rPr lang="zh-CN" altLang="en-US" sz="2000">
                <a:latin typeface="Garamond" panose="02020404030301010803" pitchFamily="18" charset="0"/>
              </a:rPr>
              <a:t>：计数器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Data</a:t>
            </a:r>
            <a:r>
              <a:rPr lang="zh-CN" altLang="en-US" sz="2000">
                <a:latin typeface="Garamond" panose="02020404030301010803" pitchFamily="18" charset="0"/>
              </a:rPr>
              <a:t>：数据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------------------------------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 Stack</a:t>
            </a:r>
            <a:r>
              <a:rPr lang="zh-CN" altLang="en-US" sz="2000">
                <a:latin typeface="Garamond" panose="02020404030301010803" pitchFamily="18" charset="0"/>
              </a:rPr>
              <a:t>：堆栈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Pointer</a:t>
            </a:r>
            <a:r>
              <a:rPr lang="zh-CN" altLang="en-US" sz="2000">
                <a:latin typeface="Garamond" panose="02020404030301010803" pitchFamily="18" charset="0"/>
              </a:rPr>
              <a:t>：指针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Source </a:t>
            </a:r>
            <a:r>
              <a:rPr lang="zh-CN" altLang="en-US" sz="2000">
                <a:latin typeface="Garamond" panose="02020404030301010803" pitchFamily="18" charset="0"/>
              </a:rPr>
              <a:t>：源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 Destination</a:t>
            </a:r>
            <a:r>
              <a:rPr lang="zh-CN" altLang="en-US" sz="2000">
                <a:latin typeface="Garamond" panose="02020404030301010803" pitchFamily="18" charset="0"/>
              </a:rPr>
              <a:t>：目的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Index</a:t>
            </a:r>
            <a:r>
              <a:rPr lang="zh-CN" altLang="en-US" sz="2000">
                <a:latin typeface="Garamond" panose="02020404030301010803" pitchFamily="18" charset="0"/>
              </a:rPr>
              <a:t>：索引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Instruction</a:t>
            </a:r>
            <a:r>
              <a:rPr lang="zh-CN" altLang="en-US" sz="2000">
                <a:latin typeface="Garamond" panose="02020404030301010803" pitchFamily="18" charset="0"/>
              </a:rPr>
              <a:t>：指令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-------------------------------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 Segment</a:t>
            </a:r>
            <a:r>
              <a:rPr lang="zh-CN" altLang="en-US" sz="2000">
                <a:latin typeface="Garamond" panose="02020404030301010803" pitchFamily="18" charset="0"/>
              </a:rPr>
              <a:t>：段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 Code</a:t>
            </a:r>
            <a:r>
              <a:rPr lang="zh-CN" altLang="en-US" sz="2000">
                <a:latin typeface="Garamond" panose="02020404030301010803" pitchFamily="18" charset="0"/>
              </a:rPr>
              <a:t>：代码，程序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 Data</a:t>
            </a:r>
            <a:r>
              <a:rPr lang="zh-CN" altLang="en-US" sz="2000">
                <a:latin typeface="Garamond" panose="02020404030301010803" pitchFamily="18" charset="0"/>
              </a:rPr>
              <a:t>：数据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Stack: </a:t>
            </a:r>
            <a:r>
              <a:rPr lang="zh-CN" altLang="en-US" sz="2000">
                <a:latin typeface="Garamond" panose="02020404030301010803" pitchFamily="18" charset="0"/>
              </a:rPr>
              <a:t>堆栈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Extra </a:t>
            </a:r>
            <a:r>
              <a:rPr lang="zh-CN" altLang="en-US" sz="2000">
                <a:latin typeface="Garamond" panose="02020404030301010803" pitchFamily="18" charset="0"/>
              </a:rPr>
              <a:t>：附加的 </a:t>
            </a:r>
          </a:p>
        </p:txBody>
      </p:sp>
      <p:sp>
        <p:nvSpPr>
          <p:cNvPr id="30758" name="灯片编号占位符 1">
            <a:extLst>
              <a:ext uri="{FF2B5EF4-FFF2-40B4-BE49-F238E27FC236}">
                <a16:creationId xmlns:a16="http://schemas.microsoft.com/office/drawing/2014/main" id="{8C418F50-C8B6-4673-B167-A0BE779942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3C6F4C5-CE20-48A1-A642-E3D1C019F4DB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20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90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CCB1D880-E72E-4FEA-AC1E-962BD1E3E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060575"/>
            <a:ext cx="3962400" cy="796925"/>
          </a:xfrm>
          <a:prstGeom prst="rect">
            <a:avLst/>
          </a:prstGeom>
          <a:solidFill>
            <a:srgbClr val="FFFF99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CS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ode 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egment </a:t>
            </a:r>
            <a:endParaRPr lang="en-US" altLang="zh-CN" sz="1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4">
            <a:extLst>
              <a:ext uri="{FF2B5EF4-FFF2-40B4-BE49-F238E27FC236}">
                <a16:creationId xmlns:a16="http://schemas.microsoft.com/office/drawing/2014/main" id="{8BA88C98-E3E4-47CB-B0D8-FF9F3925C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141663"/>
            <a:ext cx="3962400" cy="795337"/>
          </a:xfrm>
          <a:prstGeom prst="rect">
            <a:avLst/>
          </a:prstGeom>
          <a:solidFill>
            <a:srgbClr val="FFFF99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DS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ata 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egment </a:t>
            </a:r>
            <a:endParaRPr lang="en-US" altLang="zh-CN" sz="1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80" name="Rectangle 5">
            <a:extLst>
              <a:ext uri="{FF2B5EF4-FFF2-40B4-BE49-F238E27FC236}">
                <a16:creationId xmlns:a16="http://schemas.microsoft.com/office/drawing/2014/main" id="{021DFA62-B262-4281-997E-0EE1CA378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4294188"/>
            <a:ext cx="3962400" cy="795337"/>
          </a:xfrm>
          <a:prstGeom prst="rect">
            <a:avLst/>
          </a:prstGeom>
          <a:solidFill>
            <a:srgbClr val="FFFF99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SS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tack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 S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egment </a:t>
            </a:r>
            <a:endParaRPr lang="en-US" altLang="zh-CN" sz="1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81" name="Rectangle 6">
            <a:extLst>
              <a:ext uri="{FF2B5EF4-FFF2-40B4-BE49-F238E27FC236}">
                <a16:creationId xmlns:a16="http://schemas.microsoft.com/office/drawing/2014/main" id="{6FB52348-78F2-438A-8BF7-E0E3262CC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5373688"/>
            <a:ext cx="3962400" cy="795337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ES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xtra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egment  </a:t>
            </a:r>
            <a:endParaRPr lang="en-US" altLang="zh-CN" sz="1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82" name="Rectangle 7">
            <a:extLst>
              <a:ext uri="{FF2B5EF4-FFF2-40B4-BE49-F238E27FC236}">
                <a16:creationId xmlns:a16="http://schemas.microsoft.com/office/drawing/2014/main" id="{93CC2334-EE57-469A-9F86-BF9A6C9745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342900"/>
            <a:ext cx="7772400" cy="1104900"/>
          </a:xfrm>
          <a:effectLst>
            <a:outerShdw dist="107763" dir="2699999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eaLnBrk="1" hangingPunct="1">
              <a:buClr>
                <a:srgbClr val="000000"/>
              </a:buClr>
              <a:defRPr/>
            </a:pP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        </a:t>
            </a:r>
          </a:p>
        </p:txBody>
      </p:sp>
      <p:sp>
        <p:nvSpPr>
          <p:cNvPr id="72711" name="Rectangle 8">
            <a:extLst>
              <a:ext uri="{FF2B5EF4-FFF2-40B4-BE49-F238E27FC236}">
                <a16:creationId xmlns:a16="http://schemas.microsoft.com/office/drawing/2014/main" id="{96D416E9-8DCE-4B3D-8DFF-04BEA5492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3" y="260350"/>
            <a:ext cx="38369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1)8086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的段寄存器  </a:t>
            </a:r>
          </a:p>
        </p:txBody>
      </p:sp>
      <p:sp>
        <p:nvSpPr>
          <p:cNvPr id="24584" name="Rectangle 9">
            <a:extLst>
              <a:ext uri="{FF2B5EF4-FFF2-40B4-BE49-F238E27FC236}">
                <a16:creationId xmlns:a16="http://schemas.microsoft.com/office/drawing/2014/main" id="{2B71437D-B1AB-48E7-A3A8-671BD872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052513"/>
            <a:ext cx="712787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宋体" panose="02010600030101010101" pitchFamily="2" charset="-122"/>
              </a:rPr>
              <a:t>8086</a:t>
            </a:r>
            <a:r>
              <a:rPr lang="zh-CN" altLang="en-US">
                <a:latin typeface="宋体" panose="02010600030101010101" pitchFamily="2" charset="-122"/>
              </a:rPr>
              <a:t>的</a:t>
            </a:r>
            <a:r>
              <a:rPr lang="en-US" altLang="zh-CN">
                <a:latin typeface="Times New Roman" panose="02020603050405020304" pitchFamily="18" charset="0"/>
              </a:rPr>
              <a:t>BIU</a:t>
            </a:r>
            <a:r>
              <a:rPr lang="zh-CN" altLang="en-US">
                <a:latin typeface="宋体" panose="02010600030101010101" pitchFamily="2" charset="-122"/>
              </a:rPr>
              <a:t>单元中有</a:t>
            </a:r>
            <a:r>
              <a:rPr lang="en-US" altLang="zh-CN">
                <a:latin typeface="宋体" panose="02010600030101010101" pitchFamily="2" charset="-122"/>
              </a:rPr>
              <a:t>4</a:t>
            </a:r>
            <a:r>
              <a:rPr lang="zh-CN" altLang="en-US">
                <a:latin typeface="宋体" panose="02010600030101010101" pitchFamily="2" charset="-122"/>
              </a:rPr>
              <a:t>个</a:t>
            </a:r>
            <a:r>
              <a:rPr lang="en-US" altLang="zh-CN">
                <a:latin typeface="宋体" panose="02010600030101010101" pitchFamily="2" charset="-122"/>
              </a:rPr>
              <a:t>16</a:t>
            </a:r>
            <a:r>
              <a:rPr lang="zh-CN" altLang="en-US">
                <a:latin typeface="宋体" panose="02010600030101010101" pitchFamily="2" charset="-122"/>
              </a:rPr>
              <a:t>位段寄存器</a:t>
            </a:r>
          </a:p>
        </p:txBody>
      </p:sp>
      <p:sp>
        <p:nvSpPr>
          <p:cNvPr id="24585" name="AutoShape 11">
            <a:extLst>
              <a:ext uri="{FF2B5EF4-FFF2-40B4-BE49-F238E27FC236}">
                <a16:creationId xmlns:a16="http://schemas.microsoft.com/office/drawing/2014/main" id="{067F021D-CD76-49E8-A9B0-48244BFC7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550" y="2925763"/>
            <a:ext cx="1473200" cy="889000"/>
          </a:xfrm>
          <a:prstGeom prst="wedgeRoundRectCallout">
            <a:avLst>
              <a:gd name="adj1" fmla="val 143319"/>
              <a:gd name="adj2" fmla="val 4500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数据段寄存器</a:t>
            </a:r>
            <a:endParaRPr lang="zh-CN" altLang="en-US" sz="2400" b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86" name="AutoShape 12">
            <a:extLst>
              <a:ext uri="{FF2B5EF4-FFF2-40B4-BE49-F238E27FC236}">
                <a16:creationId xmlns:a16="http://schemas.microsoft.com/office/drawing/2014/main" id="{5CBA6B96-FBBD-4B67-8055-118FDB93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325" y="3986213"/>
            <a:ext cx="1473200" cy="1092200"/>
          </a:xfrm>
          <a:prstGeom prst="wedgeRoundRectCallout">
            <a:avLst>
              <a:gd name="adj1" fmla="val 146375"/>
              <a:gd name="adj2" fmla="val 31625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堆栈段寄存器</a:t>
            </a:r>
            <a:endParaRPr lang="zh-CN" altLang="en-US" sz="2400" b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24587" name="AutoShape 13">
            <a:extLst>
              <a:ext uri="{FF2B5EF4-FFF2-40B4-BE49-F238E27FC236}">
                <a16:creationId xmlns:a16="http://schemas.microsoft.com/office/drawing/2014/main" id="{DE2A1D08-1979-4A57-A222-9AF8D0A77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325" y="5210175"/>
            <a:ext cx="1495425" cy="1092200"/>
          </a:xfrm>
          <a:prstGeom prst="wedgeRoundRectCallout">
            <a:avLst>
              <a:gd name="adj1" fmla="val 141657"/>
              <a:gd name="adj2" fmla="val 22593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附加段寄存器</a:t>
            </a:r>
            <a:endParaRPr lang="zh-CN" altLang="en-US" sz="24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24588" name="AutoShape 18">
            <a:extLst>
              <a:ext uri="{FF2B5EF4-FFF2-40B4-BE49-F238E27FC236}">
                <a16:creationId xmlns:a16="http://schemas.microsoft.com/office/drawing/2014/main" id="{4F0D28F7-80CD-440F-9F92-0DF91BB8E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550" y="1844675"/>
            <a:ext cx="1473200" cy="889000"/>
          </a:xfrm>
          <a:prstGeom prst="wedgeRoundRectCallout">
            <a:avLst>
              <a:gd name="adj1" fmla="val 146245"/>
              <a:gd name="adj2" fmla="val 38181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代码段寄存器</a:t>
            </a:r>
            <a:endParaRPr lang="zh-CN" altLang="en-US" sz="2400" b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756" name="灯片编号占位符 1">
            <a:extLst>
              <a:ext uri="{FF2B5EF4-FFF2-40B4-BE49-F238E27FC236}">
                <a16:creationId xmlns:a16="http://schemas.microsoft.com/office/drawing/2014/main" id="{5F0A66B0-ED0D-4F44-9118-66626B230D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A2D1649-44C8-4FCB-B2E4-33FAE7187DD5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21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ldLvl="0" animBg="1"/>
      <p:bldP spid="24579" grpId="0" bldLvl="0" animBg="1"/>
      <p:bldP spid="24580" grpId="0" bldLvl="0" animBg="1"/>
      <p:bldP spid="24581" grpId="0" bldLvl="0" animBg="1"/>
      <p:bldP spid="24584" grpId="0"/>
      <p:bldP spid="24585" grpId="0" bldLvl="0" animBg="1"/>
      <p:bldP spid="24586" grpId="0" bldLvl="0" animBg="1"/>
      <p:bldP spid="24587" grpId="0" bldLvl="0" animBg="1"/>
      <p:bldP spid="24588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92">
            <a:extLst>
              <a:ext uri="{FF2B5EF4-FFF2-40B4-BE49-F238E27FC236}">
                <a16:creationId xmlns:a16="http://schemas.microsoft.com/office/drawing/2014/main" id="{0DF8986D-ABCF-42CC-B332-C6542CEAE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236788"/>
            <a:ext cx="144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AX</a:t>
            </a:r>
          </a:p>
        </p:txBody>
      </p:sp>
      <p:sp>
        <p:nvSpPr>
          <p:cNvPr id="25603" name="Rectangle 93">
            <a:extLst>
              <a:ext uri="{FF2B5EF4-FFF2-40B4-BE49-F238E27FC236}">
                <a16:creationId xmlns:a16="http://schemas.microsoft.com/office/drawing/2014/main" id="{4929549B-3406-48E5-B4D4-F36A95115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663825"/>
            <a:ext cx="144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BX</a:t>
            </a:r>
          </a:p>
        </p:txBody>
      </p:sp>
      <p:sp>
        <p:nvSpPr>
          <p:cNvPr id="25604" name="Rectangle 94">
            <a:extLst>
              <a:ext uri="{FF2B5EF4-FFF2-40B4-BE49-F238E27FC236}">
                <a16:creationId xmlns:a16="http://schemas.microsoft.com/office/drawing/2014/main" id="{3B50A39B-28E1-4136-8D63-EF8448628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090863"/>
            <a:ext cx="144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CX</a:t>
            </a:r>
          </a:p>
        </p:txBody>
      </p:sp>
      <p:sp>
        <p:nvSpPr>
          <p:cNvPr id="25605" name="Rectangle 95">
            <a:extLst>
              <a:ext uri="{FF2B5EF4-FFF2-40B4-BE49-F238E27FC236}">
                <a16:creationId xmlns:a16="http://schemas.microsoft.com/office/drawing/2014/main" id="{5F8312D8-18FE-47D0-86F6-B13B7E8A4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517900"/>
            <a:ext cx="144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DX</a:t>
            </a:r>
          </a:p>
        </p:txBody>
      </p:sp>
      <p:sp>
        <p:nvSpPr>
          <p:cNvPr id="73734" name="Rectangle 96">
            <a:extLst>
              <a:ext uri="{FF2B5EF4-FFF2-40B4-BE49-F238E27FC236}">
                <a16:creationId xmlns:a16="http://schemas.microsoft.com/office/drawing/2014/main" id="{72FF5D91-314B-4770-8576-FD7B216A4E0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9750" y="260350"/>
            <a:ext cx="8229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2)8086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的通用寄存器</a:t>
            </a:r>
          </a:p>
        </p:txBody>
      </p:sp>
      <p:sp>
        <p:nvSpPr>
          <p:cNvPr id="25607" name="Rectangle 97">
            <a:extLst>
              <a:ext uri="{FF2B5EF4-FFF2-40B4-BE49-F238E27FC236}">
                <a16:creationId xmlns:a16="http://schemas.microsoft.com/office/drawing/2014/main" id="{54B7C5D9-DC6B-4F75-9CF6-F5ACCD7B0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5211763"/>
            <a:ext cx="39465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目的变址指针</a:t>
            </a:r>
            <a:r>
              <a:rPr lang="en-US" altLang="zh-CN" sz="2400" b="0">
                <a:latin typeface="Arial Narrow" panose="020B0606020202030204" pitchFamily="34" charset="0"/>
              </a:rPr>
              <a:t>(Destination Index</a:t>
            </a:r>
            <a:r>
              <a:rPr lang="en-US" altLang="zh-CN" sz="2000" b="0">
                <a:latin typeface="Arial Narrow" panose="020B0606020202030204" pitchFamily="34" charset="0"/>
              </a:rPr>
              <a:t>)</a:t>
            </a:r>
          </a:p>
        </p:txBody>
      </p:sp>
      <p:sp>
        <p:nvSpPr>
          <p:cNvPr id="25608" name="Rectangle 98">
            <a:extLst>
              <a:ext uri="{FF2B5EF4-FFF2-40B4-BE49-F238E27FC236}">
                <a16:creationId xmlns:a16="http://schemas.microsoft.com/office/drawing/2014/main" id="{3B63F018-9EC5-4FC3-82A7-2898607E3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211763"/>
            <a:ext cx="1447800" cy="427037"/>
          </a:xfrm>
          <a:prstGeom prst="rect">
            <a:avLst/>
          </a:prstGeom>
          <a:solidFill>
            <a:srgbClr val="FF99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DI</a:t>
            </a:r>
          </a:p>
        </p:txBody>
      </p:sp>
      <p:sp>
        <p:nvSpPr>
          <p:cNvPr id="25609" name="Rectangle 99">
            <a:extLst>
              <a:ext uri="{FF2B5EF4-FFF2-40B4-BE49-F238E27FC236}">
                <a16:creationId xmlns:a16="http://schemas.microsoft.com/office/drawing/2014/main" id="{1B8A5A10-6D4C-483F-9B55-5AC364E20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4784725"/>
            <a:ext cx="3657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源变址指针</a:t>
            </a:r>
            <a:r>
              <a:rPr lang="en-US" altLang="zh-CN" sz="2400" b="0">
                <a:latin typeface="Arial Narrow" panose="020B0606020202030204" pitchFamily="34" charset="0"/>
              </a:rPr>
              <a:t>(Source Index)</a:t>
            </a:r>
          </a:p>
        </p:txBody>
      </p:sp>
      <p:sp>
        <p:nvSpPr>
          <p:cNvPr id="25610" name="Rectangle 100">
            <a:extLst>
              <a:ext uri="{FF2B5EF4-FFF2-40B4-BE49-F238E27FC236}">
                <a16:creationId xmlns:a16="http://schemas.microsoft.com/office/drawing/2014/main" id="{15479C08-9C30-42BA-97AF-B9374A22B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784725"/>
            <a:ext cx="1447800" cy="427038"/>
          </a:xfrm>
          <a:prstGeom prst="rect">
            <a:avLst/>
          </a:prstGeom>
          <a:solidFill>
            <a:srgbClr val="FF99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SI</a:t>
            </a:r>
          </a:p>
        </p:txBody>
      </p:sp>
      <p:sp>
        <p:nvSpPr>
          <p:cNvPr id="25611" name="Rectangle 101">
            <a:extLst>
              <a:ext uri="{FF2B5EF4-FFF2-40B4-BE49-F238E27FC236}">
                <a16:creationId xmlns:a16="http://schemas.microsoft.com/office/drawing/2014/main" id="{7F5C6A69-75F0-492E-BE97-D4028F173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4357688"/>
            <a:ext cx="36576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基址指针</a:t>
            </a:r>
            <a:r>
              <a:rPr lang="en-US" altLang="zh-CN" sz="2400" b="0">
                <a:latin typeface="Arial Narrow" panose="020B0606020202030204" pitchFamily="34" charset="0"/>
              </a:rPr>
              <a:t>(Base Pointer)</a:t>
            </a:r>
          </a:p>
        </p:txBody>
      </p:sp>
      <p:sp>
        <p:nvSpPr>
          <p:cNvPr id="25612" name="Rectangle 102">
            <a:extLst>
              <a:ext uri="{FF2B5EF4-FFF2-40B4-BE49-F238E27FC236}">
                <a16:creationId xmlns:a16="http://schemas.microsoft.com/office/drawing/2014/main" id="{B2EBEFF3-D2C6-48DD-A769-88349E390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357688"/>
            <a:ext cx="1447800" cy="427037"/>
          </a:xfrm>
          <a:prstGeom prst="rect">
            <a:avLst/>
          </a:prstGeom>
          <a:solidFill>
            <a:srgbClr val="FF99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BP</a:t>
            </a:r>
          </a:p>
        </p:txBody>
      </p:sp>
      <p:sp>
        <p:nvSpPr>
          <p:cNvPr id="25613" name="Rectangle 103">
            <a:extLst>
              <a:ext uri="{FF2B5EF4-FFF2-40B4-BE49-F238E27FC236}">
                <a16:creationId xmlns:a16="http://schemas.microsoft.com/office/drawing/2014/main" id="{9A793F4C-BEAF-4DEF-9E43-850F7E80F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3930650"/>
            <a:ext cx="3657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堆栈指针</a:t>
            </a:r>
            <a:r>
              <a:rPr lang="en-US" altLang="zh-CN" sz="2400" b="0">
                <a:latin typeface="Arial Narrow" panose="020B0606020202030204" pitchFamily="34" charset="0"/>
              </a:rPr>
              <a:t>(Stack Pointer)</a:t>
            </a:r>
          </a:p>
        </p:txBody>
      </p:sp>
      <p:sp>
        <p:nvSpPr>
          <p:cNvPr id="25614" name="Rectangle 104">
            <a:extLst>
              <a:ext uri="{FF2B5EF4-FFF2-40B4-BE49-F238E27FC236}">
                <a16:creationId xmlns:a16="http://schemas.microsoft.com/office/drawing/2014/main" id="{38593383-8B82-4AEB-BA3D-678EAE1E0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930650"/>
            <a:ext cx="1447800" cy="427038"/>
          </a:xfrm>
          <a:prstGeom prst="rect">
            <a:avLst/>
          </a:prstGeom>
          <a:solidFill>
            <a:srgbClr val="FF99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SP</a:t>
            </a:r>
          </a:p>
        </p:txBody>
      </p:sp>
      <p:sp>
        <p:nvSpPr>
          <p:cNvPr id="25615" name="Rectangle 105">
            <a:extLst>
              <a:ext uri="{FF2B5EF4-FFF2-40B4-BE49-F238E27FC236}">
                <a16:creationId xmlns:a16="http://schemas.microsoft.com/office/drawing/2014/main" id="{BE5D250B-62B4-4334-AB86-2727F1717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3503613"/>
            <a:ext cx="36576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数据寄存器</a:t>
            </a:r>
            <a:r>
              <a:rPr lang="en-US" altLang="zh-CN" sz="2400" b="0">
                <a:latin typeface="Arial Narrow" panose="020B0606020202030204" pitchFamily="34" charset="0"/>
              </a:rPr>
              <a:t>(Data)</a:t>
            </a:r>
          </a:p>
        </p:txBody>
      </p:sp>
      <p:grpSp>
        <p:nvGrpSpPr>
          <p:cNvPr id="25616" name="组合 25615">
            <a:extLst>
              <a:ext uri="{FF2B5EF4-FFF2-40B4-BE49-F238E27FC236}">
                <a16:creationId xmlns:a16="http://schemas.microsoft.com/office/drawing/2014/main" id="{37754167-26A8-427C-87F8-E7970840BD57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503613"/>
            <a:ext cx="2438400" cy="427037"/>
            <a:chOff x="0" y="0"/>
            <a:chExt cx="1536" cy="269"/>
          </a:xfrm>
        </p:grpSpPr>
        <p:grpSp>
          <p:nvGrpSpPr>
            <p:cNvPr id="73779" name="组合 25616">
              <a:extLst>
                <a:ext uri="{FF2B5EF4-FFF2-40B4-BE49-F238E27FC236}">
                  <a16:creationId xmlns:a16="http://schemas.microsoft.com/office/drawing/2014/main" id="{8426C4FD-4F0A-4389-BFE1-34C436BA2B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0"/>
              <a:ext cx="912" cy="269"/>
              <a:chOff x="0" y="0"/>
              <a:chExt cx="912" cy="269"/>
            </a:xfrm>
          </p:grpSpPr>
          <p:sp>
            <p:nvSpPr>
              <p:cNvPr id="73781" name="Rectangle 108">
                <a:extLst>
                  <a:ext uri="{FF2B5EF4-FFF2-40B4-BE49-F238E27FC236}">
                    <a16:creationId xmlns:a16="http://schemas.microsoft.com/office/drawing/2014/main" id="{3041EBA4-E2E1-45A4-B8B7-AA9EAE948A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0"/>
                <a:ext cx="432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DL</a:t>
                </a:r>
              </a:p>
            </p:txBody>
          </p:sp>
          <p:sp>
            <p:nvSpPr>
              <p:cNvPr id="73782" name="Rectangle 109">
                <a:extLst>
                  <a:ext uri="{FF2B5EF4-FFF2-40B4-BE49-F238E27FC236}">
                    <a16:creationId xmlns:a16="http://schemas.microsoft.com/office/drawing/2014/main" id="{BC1954CA-CAB6-45F9-9DF7-63329CAE23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DH</a:t>
                </a:r>
              </a:p>
            </p:txBody>
          </p:sp>
        </p:grpSp>
        <p:sp>
          <p:nvSpPr>
            <p:cNvPr id="73780" name="Rectangle 110">
              <a:extLst>
                <a:ext uri="{FF2B5EF4-FFF2-40B4-BE49-F238E27FC236}">
                  <a16:creationId xmlns:a16="http://schemas.microsoft.com/office/drawing/2014/main" id="{590038A9-9070-41F9-BED6-F6AEBEBF8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6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DX</a:t>
              </a:r>
            </a:p>
          </p:txBody>
        </p:sp>
      </p:grpSp>
      <p:sp>
        <p:nvSpPr>
          <p:cNvPr id="25621" name="Rectangle 111">
            <a:extLst>
              <a:ext uri="{FF2B5EF4-FFF2-40B4-BE49-F238E27FC236}">
                <a16:creationId xmlns:a16="http://schemas.microsoft.com/office/drawing/2014/main" id="{F4C8C1C9-E41F-49EE-A987-28A314282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3076575"/>
            <a:ext cx="3657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计数寄存器</a:t>
            </a:r>
            <a:r>
              <a:rPr lang="en-US" altLang="zh-CN" sz="2400" b="0">
                <a:latin typeface="Arial Narrow" panose="020B0606020202030204" pitchFamily="34" charset="0"/>
              </a:rPr>
              <a:t>(Count)</a:t>
            </a:r>
          </a:p>
        </p:txBody>
      </p:sp>
      <p:grpSp>
        <p:nvGrpSpPr>
          <p:cNvPr id="25622" name="组合 25621">
            <a:extLst>
              <a:ext uri="{FF2B5EF4-FFF2-40B4-BE49-F238E27FC236}">
                <a16:creationId xmlns:a16="http://schemas.microsoft.com/office/drawing/2014/main" id="{054FD509-1B57-44BC-968E-71E54C539DDC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076575"/>
            <a:ext cx="2438400" cy="427038"/>
            <a:chOff x="0" y="0"/>
            <a:chExt cx="1536" cy="269"/>
          </a:xfrm>
        </p:grpSpPr>
        <p:grpSp>
          <p:nvGrpSpPr>
            <p:cNvPr id="73775" name="组合 25622">
              <a:extLst>
                <a:ext uri="{FF2B5EF4-FFF2-40B4-BE49-F238E27FC236}">
                  <a16:creationId xmlns:a16="http://schemas.microsoft.com/office/drawing/2014/main" id="{8A94994B-804C-47DC-AB5B-E9A50293BD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0"/>
              <a:ext cx="912" cy="269"/>
              <a:chOff x="0" y="0"/>
              <a:chExt cx="912" cy="269"/>
            </a:xfrm>
          </p:grpSpPr>
          <p:sp>
            <p:nvSpPr>
              <p:cNvPr id="73777" name="Rectangle 114">
                <a:extLst>
                  <a:ext uri="{FF2B5EF4-FFF2-40B4-BE49-F238E27FC236}">
                    <a16:creationId xmlns:a16="http://schemas.microsoft.com/office/drawing/2014/main" id="{A236B0CD-6C22-412F-B3F2-A6B847A9E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0"/>
                <a:ext cx="432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CL</a:t>
                </a:r>
              </a:p>
            </p:txBody>
          </p:sp>
          <p:sp>
            <p:nvSpPr>
              <p:cNvPr id="73778" name="Rectangle 115">
                <a:extLst>
                  <a:ext uri="{FF2B5EF4-FFF2-40B4-BE49-F238E27FC236}">
                    <a16:creationId xmlns:a16="http://schemas.microsoft.com/office/drawing/2014/main" id="{6857C77A-63B1-484A-8644-4E7297E65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CH</a:t>
                </a:r>
              </a:p>
            </p:txBody>
          </p:sp>
        </p:grpSp>
        <p:sp>
          <p:nvSpPr>
            <p:cNvPr id="73776" name="Rectangle 116">
              <a:extLst>
                <a:ext uri="{FF2B5EF4-FFF2-40B4-BE49-F238E27FC236}">
                  <a16:creationId xmlns:a16="http://schemas.microsoft.com/office/drawing/2014/main" id="{BD814072-374D-47A7-BE7C-5F10CD11C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6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CX</a:t>
              </a:r>
            </a:p>
          </p:txBody>
        </p:sp>
      </p:grpSp>
      <p:sp>
        <p:nvSpPr>
          <p:cNvPr id="25627" name="Rectangle 117">
            <a:extLst>
              <a:ext uri="{FF2B5EF4-FFF2-40B4-BE49-F238E27FC236}">
                <a16:creationId xmlns:a16="http://schemas.microsoft.com/office/drawing/2014/main" id="{7DDF667D-6574-4E97-B5B4-37ADB69DE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2649538"/>
            <a:ext cx="36576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基址寄存器</a:t>
            </a:r>
            <a:r>
              <a:rPr lang="en-US" altLang="zh-CN" sz="2400" b="0">
                <a:latin typeface="Arial Narrow" panose="020B0606020202030204" pitchFamily="34" charset="0"/>
              </a:rPr>
              <a:t>(Base)</a:t>
            </a:r>
          </a:p>
        </p:txBody>
      </p:sp>
      <p:grpSp>
        <p:nvGrpSpPr>
          <p:cNvPr id="25628" name="组合 25627">
            <a:extLst>
              <a:ext uri="{FF2B5EF4-FFF2-40B4-BE49-F238E27FC236}">
                <a16:creationId xmlns:a16="http://schemas.microsoft.com/office/drawing/2014/main" id="{B6A8A328-9C55-48CE-85F4-FC49DE6741B5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649538"/>
            <a:ext cx="2438400" cy="427037"/>
            <a:chOff x="0" y="0"/>
            <a:chExt cx="1536" cy="269"/>
          </a:xfrm>
        </p:grpSpPr>
        <p:grpSp>
          <p:nvGrpSpPr>
            <p:cNvPr id="73771" name="组合 25628">
              <a:extLst>
                <a:ext uri="{FF2B5EF4-FFF2-40B4-BE49-F238E27FC236}">
                  <a16:creationId xmlns:a16="http://schemas.microsoft.com/office/drawing/2014/main" id="{102106A6-1F42-4FE3-AD0B-68C69200B4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0"/>
              <a:ext cx="912" cy="269"/>
              <a:chOff x="0" y="0"/>
              <a:chExt cx="912" cy="269"/>
            </a:xfrm>
          </p:grpSpPr>
          <p:sp>
            <p:nvSpPr>
              <p:cNvPr id="73773" name="Rectangle 120">
                <a:extLst>
                  <a:ext uri="{FF2B5EF4-FFF2-40B4-BE49-F238E27FC236}">
                    <a16:creationId xmlns:a16="http://schemas.microsoft.com/office/drawing/2014/main" id="{EEF16242-7956-46CE-A335-DD2815F1B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0"/>
                <a:ext cx="432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BL</a:t>
                </a:r>
              </a:p>
            </p:txBody>
          </p:sp>
          <p:sp>
            <p:nvSpPr>
              <p:cNvPr id="73774" name="Rectangle 121">
                <a:extLst>
                  <a:ext uri="{FF2B5EF4-FFF2-40B4-BE49-F238E27FC236}">
                    <a16:creationId xmlns:a16="http://schemas.microsoft.com/office/drawing/2014/main" id="{084B77B8-8835-442C-96E5-BBCA65585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BH</a:t>
                </a:r>
              </a:p>
            </p:txBody>
          </p:sp>
        </p:grpSp>
        <p:sp>
          <p:nvSpPr>
            <p:cNvPr id="73772" name="Rectangle 122">
              <a:extLst>
                <a:ext uri="{FF2B5EF4-FFF2-40B4-BE49-F238E27FC236}">
                  <a16:creationId xmlns:a16="http://schemas.microsoft.com/office/drawing/2014/main" id="{E69F9D0A-0A87-4A10-B46C-9758A158B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6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BX</a:t>
              </a:r>
            </a:p>
          </p:txBody>
        </p:sp>
      </p:grpSp>
      <p:sp>
        <p:nvSpPr>
          <p:cNvPr id="25633" name="Rectangle 123">
            <a:extLst>
              <a:ext uri="{FF2B5EF4-FFF2-40B4-BE49-F238E27FC236}">
                <a16:creationId xmlns:a16="http://schemas.microsoft.com/office/drawing/2014/main" id="{CE1BFE78-D8D4-4348-BA7F-F50148C55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2222500"/>
            <a:ext cx="3657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累加器</a:t>
            </a:r>
            <a:r>
              <a:rPr lang="en-US" altLang="zh-CN" sz="2400" b="0">
                <a:latin typeface="Arial Narrow" panose="020B0606020202030204" pitchFamily="34" charset="0"/>
              </a:rPr>
              <a:t>(Accumulator)</a:t>
            </a:r>
          </a:p>
        </p:txBody>
      </p:sp>
      <p:grpSp>
        <p:nvGrpSpPr>
          <p:cNvPr id="25634" name="组合 25633">
            <a:extLst>
              <a:ext uri="{FF2B5EF4-FFF2-40B4-BE49-F238E27FC236}">
                <a16:creationId xmlns:a16="http://schemas.microsoft.com/office/drawing/2014/main" id="{6070001A-A82B-44A5-89B5-E2CB0637CF1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222500"/>
            <a:ext cx="2438400" cy="427038"/>
            <a:chOff x="0" y="0"/>
            <a:chExt cx="1536" cy="269"/>
          </a:xfrm>
        </p:grpSpPr>
        <p:grpSp>
          <p:nvGrpSpPr>
            <p:cNvPr id="73767" name="组合 25634">
              <a:extLst>
                <a:ext uri="{FF2B5EF4-FFF2-40B4-BE49-F238E27FC236}">
                  <a16:creationId xmlns:a16="http://schemas.microsoft.com/office/drawing/2014/main" id="{DA00CF1B-A8E4-4716-98AB-89B11EFDAF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0"/>
              <a:ext cx="912" cy="269"/>
              <a:chOff x="0" y="0"/>
              <a:chExt cx="912" cy="269"/>
            </a:xfrm>
          </p:grpSpPr>
          <p:sp>
            <p:nvSpPr>
              <p:cNvPr id="73769" name="Rectangle 126">
                <a:extLst>
                  <a:ext uri="{FF2B5EF4-FFF2-40B4-BE49-F238E27FC236}">
                    <a16:creationId xmlns:a16="http://schemas.microsoft.com/office/drawing/2014/main" id="{8E7DE359-6164-4953-B11E-0F9FC2AC4B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0"/>
                <a:ext cx="432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AL</a:t>
                </a:r>
              </a:p>
            </p:txBody>
          </p:sp>
          <p:sp>
            <p:nvSpPr>
              <p:cNvPr id="73770" name="Rectangle 127">
                <a:extLst>
                  <a:ext uri="{FF2B5EF4-FFF2-40B4-BE49-F238E27FC236}">
                    <a16:creationId xmlns:a16="http://schemas.microsoft.com/office/drawing/2014/main" id="{31608592-5427-4BE3-8974-2558A9A2F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AH</a:t>
                </a:r>
              </a:p>
            </p:txBody>
          </p:sp>
        </p:grpSp>
        <p:sp>
          <p:nvSpPr>
            <p:cNvPr id="73768" name="Rectangle 128">
              <a:extLst>
                <a:ext uri="{FF2B5EF4-FFF2-40B4-BE49-F238E27FC236}">
                  <a16:creationId xmlns:a16="http://schemas.microsoft.com/office/drawing/2014/main" id="{63A13FC3-DFEB-41C8-B763-B5C2B5B29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6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AX</a:t>
              </a:r>
            </a:p>
          </p:txBody>
        </p:sp>
      </p:grpSp>
      <p:grpSp>
        <p:nvGrpSpPr>
          <p:cNvPr id="25639" name="组合 25638">
            <a:extLst>
              <a:ext uri="{FF2B5EF4-FFF2-40B4-BE49-F238E27FC236}">
                <a16:creationId xmlns:a16="http://schemas.microsoft.com/office/drawing/2014/main" id="{1A4516FB-0590-4F7A-9758-985E314E1A1A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2349500"/>
            <a:ext cx="2590800" cy="1552575"/>
            <a:chOff x="0" y="0"/>
            <a:chExt cx="1632" cy="978"/>
          </a:xfrm>
        </p:grpSpPr>
        <p:sp>
          <p:nvSpPr>
            <p:cNvPr id="73765" name="Text Box 130">
              <a:extLst>
                <a:ext uri="{FF2B5EF4-FFF2-40B4-BE49-F238E27FC236}">
                  <a16:creationId xmlns:a16="http://schemas.microsoft.com/office/drawing/2014/main" id="{837D48B8-7586-4989-B4F0-0D8CF9118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0"/>
              <a:ext cx="1392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solidFill>
                    <a:schemeClr val="hlink"/>
                  </a:solidFill>
                  <a:latin typeface="宋体" panose="02010600030101010101" pitchFamily="2" charset="-122"/>
                </a:rPr>
                <a:t>数据寄存器</a:t>
              </a:r>
              <a:r>
                <a:rPr lang="zh-CN" altLang="en-US" sz="2400">
                  <a:solidFill>
                    <a:srgbClr val="FFFFFF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>
                  <a:solidFill>
                    <a:srgbClr val="FF3300"/>
                  </a:solidFill>
                  <a:latin typeface="楷体_GB2312" pitchFamily="49" charset="-122"/>
                  <a:ea typeface="楷体_GB2312" pitchFamily="49" charset="-122"/>
                </a:rPr>
                <a:t>可分为两个</a:t>
              </a:r>
              <a:r>
                <a:rPr lang="en-US" altLang="zh-CN" sz="2400">
                  <a:solidFill>
                    <a:srgbClr val="FF3300"/>
                  </a:solidFill>
                  <a:latin typeface="楷体_GB2312" pitchFamily="49" charset="-122"/>
                  <a:ea typeface="楷体_GB2312" pitchFamily="49" charset="-122"/>
                </a:rPr>
                <a:t>8</a:t>
              </a:r>
              <a:r>
                <a:rPr lang="zh-CN" altLang="en-US" sz="2400">
                  <a:solidFill>
                    <a:srgbClr val="FF3300"/>
                  </a:solidFill>
                  <a:latin typeface="楷体_GB2312" pitchFamily="49" charset="-122"/>
                  <a:ea typeface="楷体_GB2312" pitchFamily="49" charset="-122"/>
                </a:rPr>
                <a:t>位，主要用于数据操作</a:t>
              </a:r>
            </a:p>
          </p:txBody>
        </p:sp>
        <p:sp>
          <p:nvSpPr>
            <p:cNvPr id="73766" name="AutoShape 131">
              <a:extLst>
                <a:ext uri="{FF2B5EF4-FFF2-40B4-BE49-F238E27FC236}">
                  <a16:creationId xmlns:a16="http://schemas.microsoft.com/office/drawing/2014/main" id="{E29FCF08-D475-4711-9BE9-31B8FA3065C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0" y="48"/>
              <a:ext cx="240" cy="816"/>
            </a:xfrm>
            <a:prstGeom prst="leftBrace">
              <a:avLst>
                <a:gd name="adj1" fmla="val 2805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25642" name="组合 25641">
            <a:extLst>
              <a:ext uri="{FF2B5EF4-FFF2-40B4-BE49-F238E27FC236}">
                <a16:creationId xmlns:a16="http://schemas.microsoft.com/office/drawing/2014/main" id="{8E5AEC83-F2B6-4E32-80DA-3A535227B28F}"/>
              </a:ext>
            </a:extLst>
          </p:cNvPr>
          <p:cNvGrpSpPr>
            <a:grpSpLocks/>
          </p:cNvGrpSpPr>
          <p:nvPr/>
        </p:nvGrpSpPr>
        <p:grpSpPr bwMode="auto">
          <a:xfrm>
            <a:off x="7019925" y="4149725"/>
            <a:ext cx="2003425" cy="1301750"/>
            <a:chOff x="0" y="0"/>
            <a:chExt cx="1262" cy="820"/>
          </a:xfrm>
        </p:grpSpPr>
        <p:sp>
          <p:nvSpPr>
            <p:cNvPr id="73763" name="Text Box 133">
              <a:extLst>
                <a:ext uri="{FF2B5EF4-FFF2-40B4-BE49-F238E27FC236}">
                  <a16:creationId xmlns:a16="http://schemas.microsoft.com/office/drawing/2014/main" id="{40FBACA0-61CB-4780-8EFF-95BB79F7E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" y="72"/>
              <a:ext cx="896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solidFill>
                    <a:schemeClr val="tx2"/>
                  </a:solidFill>
                  <a:latin typeface="宋体" panose="02010600030101010101" pitchFamily="2" charset="-122"/>
                </a:rPr>
                <a:t>地址指针</a:t>
              </a:r>
              <a:r>
                <a:rPr lang="zh-CN" altLang="en-US" sz="2400">
                  <a:solidFill>
                    <a:srgbClr val="FF3300"/>
                  </a:solidFill>
                  <a:latin typeface="楷体_GB2312" pitchFamily="49" charset="-122"/>
                  <a:ea typeface="楷体_GB2312" pitchFamily="49" charset="-122"/>
                </a:rPr>
                <a:t>主要用于地址操作</a:t>
              </a:r>
              <a:endParaRPr lang="zh-CN" altLang="en-US" sz="2400">
                <a:solidFill>
                  <a:srgbClr val="FF33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73764" name="AutoShape 134">
              <a:extLst>
                <a:ext uri="{FF2B5EF4-FFF2-40B4-BE49-F238E27FC236}">
                  <a16:creationId xmlns:a16="http://schemas.microsoft.com/office/drawing/2014/main" id="{BD6F1636-5DBA-43CA-9144-D22F38AD734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0" y="0"/>
              <a:ext cx="240" cy="816"/>
            </a:xfrm>
            <a:prstGeom prst="leftBrace">
              <a:avLst>
                <a:gd name="adj1" fmla="val 2805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25645" name="组合 25644">
            <a:extLst>
              <a:ext uri="{FF2B5EF4-FFF2-40B4-BE49-F238E27FC236}">
                <a16:creationId xmlns:a16="http://schemas.microsoft.com/office/drawing/2014/main" id="{B55E0467-1A5D-400F-AE35-9DC2A5C47CBD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990600"/>
            <a:ext cx="1371600" cy="609600"/>
            <a:chOff x="0" y="0"/>
            <a:chExt cx="864" cy="384"/>
          </a:xfrm>
        </p:grpSpPr>
        <p:sp>
          <p:nvSpPr>
            <p:cNvPr id="73761" name="AutoShape 136">
              <a:extLst>
                <a:ext uri="{FF2B5EF4-FFF2-40B4-BE49-F238E27FC236}">
                  <a16:creationId xmlns:a16="http://schemas.microsoft.com/office/drawing/2014/main" id="{11617BF7-3683-4F70-8A82-AB8F4A2CA00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60" y="-120"/>
              <a:ext cx="144" cy="864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5647" name="Text Box 137">
              <a:extLst>
                <a:ext uri="{FF2B5EF4-FFF2-40B4-BE49-F238E27FC236}">
                  <a16:creationId xmlns:a16="http://schemas.microsoft.com/office/drawing/2014/main" id="{E5C3E0E0-B807-452D-9BCE-A705E8D3EC3C}"/>
                </a:ext>
              </a:extLst>
            </p:cNvPr>
            <p:cNvSpPr txBox="1"/>
            <p:nvPr/>
          </p:nvSpPr>
          <p:spPr>
            <a:xfrm>
              <a:off x="192" y="0"/>
              <a:ext cx="480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16</a:t>
              </a:r>
              <a:r>
                <a:rPr lang="zh-CN" altLang="en-US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位</a:t>
              </a:r>
              <a:endParaRPr lang="zh-CN" altLang="en-US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5648" name="组合 25647">
            <a:extLst>
              <a:ext uri="{FF2B5EF4-FFF2-40B4-BE49-F238E27FC236}">
                <a16:creationId xmlns:a16="http://schemas.microsoft.com/office/drawing/2014/main" id="{DC537087-0B45-4D8B-9CC9-4098B68F2368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524000"/>
            <a:ext cx="685800" cy="609600"/>
            <a:chOff x="0" y="0"/>
            <a:chExt cx="432" cy="384"/>
          </a:xfrm>
        </p:grpSpPr>
        <p:sp>
          <p:nvSpPr>
            <p:cNvPr id="73759" name="AutoShape 139">
              <a:extLst>
                <a:ext uri="{FF2B5EF4-FFF2-40B4-BE49-F238E27FC236}">
                  <a16:creationId xmlns:a16="http://schemas.microsoft.com/office/drawing/2014/main" id="{6FBBAEEC-7930-4C00-9F5B-BEE5F7AB9EF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44" y="96"/>
              <a:ext cx="144" cy="432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5650" name="Text Box 140">
              <a:extLst>
                <a:ext uri="{FF2B5EF4-FFF2-40B4-BE49-F238E27FC236}">
                  <a16:creationId xmlns:a16="http://schemas.microsoft.com/office/drawing/2014/main" id="{BF9D1695-5B9A-4EB3-943B-E9B56F89CF96}"/>
                </a:ext>
              </a:extLst>
            </p:cNvPr>
            <p:cNvSpPr txBox="1"/>
            <p:nvPr/>
          </p:nvSpPr>
          <p:spPr>
            <a:xfrm>
              <a:off x="144" y="0"/>
              <a:ext cx="144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5651" name="组合 25650">
            <a:extLst>
              <a:ext uri="{FF2B5EF4-FFF2-40B4-BE49-F238E27FC236}">
                <a16:creationId xmlns:a16="http://schemas.microsoft.com/office/drawing/2014/main" id="{79414B3E-A8EF-4DB1-BD24-E9C65C4E2C46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524000"/>
            <a:ext cx="685800" cy="609600"/>
            <a:chOff x="0" y="0"/>
            <a:chExt cx="432" cy="384"/>
          </a:xfrm>
        </p:grpSpPr>
        <p:sp>
          <p:nvSpPr>
            <p:cNvPr id="73757" name="AutoShape 142">
              <a:extLst>
                <a:ext uri="{FF2B5EF4-FFF2-40B4-BE49-F238E27FC236}">
                  <a16:creationId xmlns:a16="http://schemas.microsoft.com/office/drawing/2014/main" id="{80EB60ED-C2D4-4FB4-9B44-A8DCB90567F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44" y="96"/>
              <a:ext cx="144" cy="432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5653" name="Text Box 143">
              <a:extLst>
                <a:ext uri="{FF2B5EF4-FFF2-40B4-BE49-F238E27FC236}">
                  <a16:creationId xmlns:a16="http://schemas.microsoft.com/office/drawing/2014/main" id="{36955786-9CD4-4D78-913A-1CD8E7583740}"/>
                </a:ext>
              </a:extLst>
            </p:cNvPr>
            <p:cNvSpPr txBox="1"/>
            <p:nvPr/>
          </p:nvSpPr>
          <p:spPr>
            <a:xfrm>
              <a:off x="144" y="0"/>
              <a:ext cx="144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32821" name="灯片编号占位符 1">
            <a:extLst>
              <a:ext uri="{FF2B5EF4-FFF2-40B4-BE49-F238E27FC236}">
                <a16:creationId xmlns:a16="http://schemas.microsoft.com/office/drawing/2014/main" id="{6F18EE1F-EAD9-4D09-95A8-989E32FB99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CD931F9-4765-47CD-B6DB-337F72DB80C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22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5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5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5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25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/>
      <p:bldP spid="25604" grpId="0"/>
      <p:bldP spid="25605" grpId="0"/>
      <p:bldP spid="25607" grpId="0"/>
      <p:bldP spid="25608" grpId="0" bldLvl="0" animBg="1"/>
      <p:bldP spid="25609" grpId="0"/>
      <p:bldP spid="25610" grpId="0" bldLvl="0" animBg="1"/>
      <p:bldP spid="25611" grpId="0"/>
      <p:bldP spid="25612" grpId="0" bldLvl="0" animBg="1"/>
      <p:bldP spid="25613" grpId="0"/>
      <p:bldP spid="25614" grpId="0" bldLvl="0" animBg="1"/>
      <p:bldP spid="25615" grpId="0"/>
      <p:bldP spid="25621" grpId="0"/>
      <p:bldP spid="25627" grpId="0"/>
      <p:bldP spid="256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>
            <a:extLst>
              <a:ext uri="{FF2B5EF4-FFF2-40B4-BE49-F238E27FC236}">
                <a16:creationId xmlns:a16="http://schemas.microsoft.com/office/drawing/2014/main" id="{5B2482F4-E781-44EE-8D13-672EAB077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5" y="1698625"/>
            <a:ext cx="184150" cy="33655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endParaRPr lang="zh-CN" altLang="en-US" sz="1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938B78D6-E015-4BD6-9AE3-91B7FF1B5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53" y="1220809"/>
            <a:ext cx="8343900" cy="4403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highlight>
                  <a:srgbClr val="FFFF00"/>
                </a:highlight>
                <a:latin typeface="宋体" panose="02010600030101010101" pitchFamily="2" charset="-122"/>
              </a:rPr>
              <a:t>IP</a:t>
            </a:r>
            <a:r>
              <a:rPr lang="en-US" altLang="zh-CN" sz="2800" dirty="0">
                <a:latin typeface="宋体" panose="02010600030101010101" pitchFamily="2" charset="-122"/>
              </a:rPr>
              <a:t>: </a:t>
            </a:r>
            <a:r>
              <a:rPr lang="en-US" altLang="zh-CN" sz="2800" dirty="0">
                <a:highlight>
                  <a:srgbClr val="FFFFCC"/>
                </a:highlight>
                <a:latin typeface="宋体" panose="02010600030101010101" pitchFamily="2" charset="-122"/>
              </a:rPr>
              <a:t>I</a:t>
            </a:r>
            <a:r>
              <a:rPr lang="en-US" altLang="zh-CN" sz="2800" dirty="0">
                <a:latin typeface="宋体" panose="02010600030101010101" pitchFamily="2" charset="-122"/>
              </a:rPr>
              <a:t>nstruction </a:t>
            </a:r>
            <a:r>
              <a:rPr lang="en-US" altLang="zh-CN" sz="2800" dirty="0">
                <a:highlight>
                  <a:srgbClr val="FFFFCC"/>
                </a:highlight>
                <a:latin typeface="宋体" panose="02010600030101010101" pitchFamily="2" charset="-122"/>
              </a:rPr>
              <a:t>P</a:t>
            </a:r>
            <a:r>
              <a:rPr lang="en-US" altLang="zh-CN" sz="2800" dirty="0">
                <a:latin typeface="宋体" panose="02010600030101010101" pitchFamily="2" charset="-122"/>
              </a:rPr>
              <a:t>ointer</a:t>
            </a: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800" b="0" dirty="0"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</a:rPr>
              <a:t>这个寄存器中的值总是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自动</a:t>
            </a:r>
            <a:r>
              <a:rPr lang="zh-CN" altLang="en-US" sz="2800" dirty="0">
                <a:latin typeface="宋体" panose="02010600030101010101" pitchFamily="2" charset="-122"/>
              </a:rPr>
              <a:t>指向</a:t>
            </a:r>
            <a:r>
              <a:rPr lang="zh-CN" altLang="en-US" sz="2800" dirty="0">
                <a:solidFill>
                  <a:srgbClr val="FF330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下一次</a:t>
            </a:r>
            <a:r>
              <a:rPr lang="zh-CN" altLang="en-US" sz="2800" dirty="0">
                <a:latin typeface="宋体" panose="02010600030101010101" pitchFamily="2" charset="-122"/>
              </a:rPr>
              <a:t>所要取出指令的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首字节的</a:t>
            </a:r>
            <a:r>
              <a:rPr lang="zh-CN" altLang="en-US" sz="2800" dirty="0">
                <a:latin typeface="宋体" panose="02010600030101010101" pitchFamily="2" charset="-122"/>
              </a:rPr>
              <a:t>地址偏移量，并和</a:t>
            </a:r>
            <a:r>
              <a:rPr lang="en-US" altLang="zh-CN" sz="2800" dirty="0">
                <a:solidFill>
                  <a:srgbClr val="FF3300"/>
                </a:solidFill>
                <a:latin typeface="宋体" panose="02010600030101010101" pitchFamily="2" charset="-122"/>
              </a:rPr>
              <a:t>CS</a:t>
            </a:r>
            <a:r>
              <a:rPr lang="zh-CN" altLang="en-US" sz="2800" dirty="0">
                <a:latin typeface="宋体" panose="02010600030101010101" pitchFamily="2" charset="-122"/>
              </a:rPr>
              <a:t>一起相加得到指令的物理地址</a:t>
            </a: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/>
            </a:pPr>
            <a:endParaRPr lang="zh-CN" altLang="en-US" sz="2800" dirty="0">
              <a:latin typeface="宋体" panose="02010600030101010101" pitchFamily="2" charset="-122"/>
            </a:endParaRP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宋体" panose="02010600030101010101" pitchFamily="2" charset="-122"/>
              </a:rPr>
              <a:t>        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800" dirty="0">
                <a:latin typeface="宋体" panose="02010600030101010101" pitchFamily="2" charset="-122"/>
              </a:rPr>
              <a:t>在程序运行过程中，</a:t>
            </a:r>
            <a:r>
              <a:rPr lang="en-US" altLang="zh-CN" sz="2800" dirty="0">
                <a:solidFill>
                  <a:srgbClr val="FF33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自动修改其值</a:t>
            </a: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800" dirty="0">
                <a:latin typeface="宋体" panose="02010600030101010101" pitchFamily="2" charset="-122"/>
              </a:rPr>
              <a:t>      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800" dirty="0">
                <a:latin typeface="宋体" panose="02010600030101010101" pitchFamily="2" charset="-122"/>
              </a:rPr>
              <a:t>程序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不能直接对它进行修改</a:t>
            </a:r>
            <a:endParaRPr lang="en-US" altLang="zh-CN" sz="2800" dirty="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800" dirty="0">
                <a:solidFill>
                  <a:srgbClr val="FF3300"/>
                </a:solidFill>
                <a:latin typeface="宋体" panose="02010600030101010101" pitchFamily="2" charset="-122"/>
              </a:rPr>
              <a:t>             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endParaRPr lang="zh-CN" altLang="en-US" sz="2800" b="0" dirty="0">
              <a:latin typeface="宋体" panose="02010600030101010101" pitchFamily="2" charset="-122"/>
            </a:endParaRPr>
          </a:p>
        </p:txBody>
      </p:sp>
      <p:sp>
        <p:nvSpPr>
          <p:cNvPr id="74756" name="Rectangle 8">
            <a:extLst>
              <a:ext uri="{FF2B5EF4-FFF2-40B4-BE49-F238E27FC236}">
                <a16:creationId xmlns:a16="http://schemas.microsoft.com/office/drawing/2014/main" id="{767AF149-D769-4B54-81B2-7ED8E4A99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71516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3)8086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的指令指针（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IP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位）</a:t>
            </a:r>
          </a:p>
        </p:txBody>
      </p:sp>
      <p:sp>
        <p:nvSpPr>
          <p:cNvPr id="33796" name="灯片编号占位符 1">
            <a:extLst>
              <a:ext uri="{FF2B5EF4-FFF2-40B4-BE49-F238E27FC236}">
                <a16:creationId xmlns:a16="http://schemas.microsoft.com/office/drawing/2014/main" id="{4D80CE77-C250-4D12-8EE3-1DBCFBAFD72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028FB79-8B4F-48BD-A8C3-07F26E05BA8D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23</a:t>
            </a:fld>
            <a:endParaRPr lang="zh-CN" altLang="en-US">
              <a:latin typeface="Garamond" panose="02020404030301010803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FC9EABF-D065-42FC-99E6-260D06DB1CF6}"/>
              </a:ext>
            </a:extLst>
          </p:cNvPr>
          <p:cNvGrpSpPr>
            <a:grpSpLocks/>
          </p:cNvGrpSpPr>
          <p:nvPr/>
        </p:nvGrpSpPr>
        <p:grpSpPr bwMode="auto">
          <a:xfrm>
            <a:off x="683730" y="3840777"/>
            <a:ext cx="1331913" cy="2736850"/>
            <a:chOff x="0" y="0"/>
            <a:chExt cx="839" cy="1724"/>
          </a:xfrm>
          <a:solidFill>
            <a:srgbClr val="FFFFCC"/>
          </a:solidFill>
        </p:grpSpPr>
        <p:sp>
          <p:nvSpPr>
            <p:cNvPr id="7" name="Text Box 63">
              <a:extLst>
                <a:ext uri="{FF2B5EF4-FFF2-40B4-BE49-F238E27FC236}">
                  <a16:creationId xmlns:a16="http://schemas.microsoft.com/office/drawing/2014/main" id="{13396319-3C4F-4466-B406-2B24A46FA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839" cy="22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2000">
                  <a:latin typeface="Times New Roman" panose="02020603050405020304" pitchFamily="18" charset="0"/>
                </a:rPr>
                <a:t>内存储器</a:t>
              </a:r>
            </a:p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2000">
                  <a:latin typeface="Times New Roman" panose="02020603050405020304" pitchFamily="18" charset="0"/>
                </a:rPr>
                <a:t>（</a:t>
              </a:r>
              <a:r>
                <a:rPr lang="zh-CN" altLang="en-US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程序段</a:t>
              </a:r>
              <a:r>
                <a:rPr lang="zh-CN" altLang="en-US" sz="2000">
                  <a:latin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8" name="AutoShape 52">
              <a:extLst>
                <a:ext uri="{FF2B5EF4-FFF2-40B4-BE49-F238E27FC236}">
                  <a16:creationId xmlns:a16="http://schemas.microsoft.com/office/drawing/2014/main" id="{DBD0A092-EEA6-453F-9265-22F7E35E7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474"/>
              <a:ext cx="399" cy="1250"/>
            </a:xfrm>
            <a:prstGeom prst="flowChartDocumen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9" name="Text Box 53">
              <a:extLst>
                <a:ext uri="{FF2B5EF4-FFF2-40B4-BE49-F238E27FC236}">
                  <a16:creationId xmlns:a16="http://schemas.microsoft.com/office/drawing/2014/main" id="{7F3B6BF9-2637-4214-B351-F06B358028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473"/>
              <a:ext cx="399" cy="164"/>
            </a:xfrm>
            <a:prstGeom prst="rect">
              <a:avLst/>
            </a:prstGeom>
            <a:grpFill/>
            <a:ln w="2857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B0H</a:t>
              </a:r>
            </a:p>
          </p:txBody>
        </p:sp>
        <p:sp>
          <p:nvSpPr>
            <p:cNvPr id="10" name="Text Box 54">
              <a:extLst>
                <a:ext uri="{FF2B5EF4-FFF2-40B4-BE49-F238E27FC236}">
                  <a16:creationId xmlns:a16="http://schemas.microsoft.com/office/drawing/2014/main" id="{1EFBA559-801D-41F7-A545-941E0844E6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637"/>
              <a:ext cx="399" cy="164"/>
            </a:xfrm>
            <a:prstGeom prst="rect">
              <a:avLst/>
            </a:prstGeom>
            <a:grpFill/>
            <a:ln w="2857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en-US" altLang="zh-CN" sz="1600">
                  <a:solidFill>
                    <a:srgbClr val="FF66CC"/>
                  </a:solidFill>
                  <a:latin typeface="Times New Roman" panose="02020603050405020304" pitchFamily="18" charset="0"/>
                </a:rPr>
                <a:t>5CH</a:t>
              </a:r>
            </a:p>
          </p:txBody>
        </p:sp>
        <p:sp>
          <p:nvSpPr>
            <p:cNvPr id="11" name="Text Box 57">
              <a:extLst>
                <a:ext uri="{FF2B5EF4-FFF2-40B4-BE49-F238E27FC236}">
                  <a16:creationId xmlns:a16="http://schemas.microsoft.com/office/drawing/2014/main" id="{E4F9BEE3-D075-478E-A450-53F85DB20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309"/>
              <a:ext cx="357" cy="1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2000" dirty="0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12" name="Text Box 58">
              <a:extLst>
                <a:ext uri="{FF2B5EF4-FFF2-40B4-BE49-F238E27FC236}">
                  <a16:creationId xmlns:a16="http://schemas.microsoft.com/office/drawing/2014/main" id="{A65EB13F-B4F5-4974-9F8C-E3A6DC897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626"/>
              <a:ext cx="357" cy="16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1600">
                  <a:latin typeface="Times New Roman" panose="02020603050405020304" pitchFamily="18" charset="0"/>
                </a:rPr>
                <a:t>1001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3" name="Text Box 59">
              <a:extLst>
                <a:ext uri="{FF2B5EF4-FFF2-40B4-BE49-F238E27FC236}">
                  <a16:creationId xmlns:a16="http://schemas.microsoft.com/office/drawing/2014/main" id="{09C7C0D0-EEE4-44F1-9756-0F88B486C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801"/>
              <a:ext cx="357" cy="1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1600">
                  <a:latin typeface="Times New Roman" panose="02020603050405020304" pitchFamily="18" charset="0"/>
                </a:rPr>
                <a:t>1002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4" name="Text Box 60">
              <a:extLst>
                <a:ext uri="{FF2B5EF4-FFF2-40B4-BE49-F238E27FC236}">
                  <a16:creationId xmlns:a16="http://schemas.microsoft.com/office/drawing/2014/main" id="{E172BBB2-3C75-4AEF-BFD8-EA114F72E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975"/>
              <a:ext cx="357" cy="1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1600">
                  <a:latin typeface="Times New Roman" panose="02020603050405020304" pitchFamily="18" charset="0"/>
                </a:rPr>
                <a:t>1003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5" name="Text Box 61">
              <a:extLst>
                <a:ext uri="{FF2B5EF4-FFF2-40B4-BE49-F238E27FC236}">
                  <a16:creationId xmlns:a16="http://schemas.microsoft.com/office/drawing/2014/main" id="{4A691179-4E95-4575-9F83-954C48604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98"/>
              <a:ext cx="357" cy="16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2000" dirty="0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16" name="Text Box 62">
              <a:extLst>
                <a:ext uri="{FF2B5EF4-FFF2-40B4-BE49-F238E27FC236}">
                  <a16:creationId xmlns:a16="http://schemas.microsoft.com/office/drawing/2014/main" id="{687CE325-86B0-4023-B552-F4B1D8E78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473"/>
              <a:ext cx="357" cy="1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1600" dirty="0">
                  <a:latin typeface="Times New Roman" panose="02020603050405020304" pitchFamily="18" charset="0"/>
                </a:rPr>
                <a:t>1000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7" name="Text Box 146">
              <a:extLst>
                <a:ext uri="{FF2B5EF4-FFF2-40B4-BE49-F238E27FC236}">
                  <a16:creationId xmlns:a16="http://schemas.microsoft.com/office/drawing/2014/main" id="{9F7B7011-1810-4DF5-A21B-33AB49DE1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799"/>
              <a:ext cx="399" cy="164"/>
            </a:xfrm>
            <a:prstGeom prst="rect">
              <a:avLst/>
            </a:prstGeom>
            <a:grpFill/>
            <a:ln w="2857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02H</a:t>
              </a:r>
            </a:p>
          </p:txBody>
        </p:sp>
        <p:sp>
          <p:nvSpPr>
            <p:cNvPr id="18" name="Text Box 147">
              <a:extLst>
                <a:ext uri="{FF2B5EF4-FFF2-40B4-BE49-F238E27FC236}">
                  <a16:creationId xmlns:a16="http://schemas.microsoft.com/office/drawing/2014/main" id="{6AB0C39B-0C49-4AB9-866C-A74674676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967"/>
              <a:ext cx="399" cy="164"/>
            </a:xfrm>
            <a:prstGeom prst="rect">
              <a:avLst/>
            </a:prstGeom>
            <a:grpFill/>
            <a:ln w="2857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06H</a:t>
              </a:r>
            </a:p>
          </p:txBody>
        </p:sp>
        <p:sp>
          <p:nvSpPr>
            <p:cNvPr id="19" name="Text Box 148">
              <a:extLst>
                <a:ext uri="{FF2B5EF4-FFF2-40B4-BE49-F238E27FC236}">
                  <a16:creationId xmlns:a16="http://schemas.microsoft.com/office/drawing/2014/main" id="{F81A308A-0014-47EE-A696-F72CA8701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132"/>
              <a:ext cx="399" cy="164"/>
            </a:xfrm>
            <a:prstGeom prst="rect">
              <a:avLst/>
            </a:prstGeom>
            <a:grpFill/>
            <a:ln w="2857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en-US" altLang="zh-CN" sz="1600">
                  <a:solidFill>
                    <a:srgbClr val="66FF33"/>
                  </a:solidFill>
                  <a:latin typeface="Times New Roman" panose="02020603050405020304" pitchFamily="18" charset="0"/>
                </a:rPr>
                <a:t>00H</a:t>
              </a:r>
            </a:p>
          </p:txBody>
        </p:sp>
        <p:sp>
          <p:nvSpPr>
            <p:cNvPr id="20" name="Text Box 149">
              <a:extLst>
                <a:ext uri="{FF2B5EF4-FFF2-40B4-BE49-F238E27FC236}">
                  <a16:creationId xmlns:a16="http://schemas.microsoft.com/office/drawing/2014/main" id="{DDCC0AD9-DD5F-478A-8818-E4F6939CB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295"/>
              <a:ext cx="399" cy="165"/>
            </a:xfrm>
            <a:prstGeom prst="rect">
              <a:avLst/>
            </a:prstGeom>
            <a:grpFill/>
            <a:ln w="2857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en-US" altLang="zh-CN" sz="1600">
                  <a:solidFill>
                    <a:srgbClr val="66FF33"/>
                  </a:solidFill>
                  <a:latin typeface="Times New Roman" panose="02020603050405020304" pitchFamily="18" charset="0"/>
                </a:rPr>
                <a:t>01H</a:t>
              </a:r>
            </a:p>
          </p:txBody>
        </p:sp>
        <p:sp>
          <p:nvSpPr>
            <p:cNvPr id="21" name="Text Box 157">
              <a:extLst>
                <a:ext uri="{FF2B5EF4-FFF2-40B4-BE49-F238E27FC236}">
                  <a16:creationId xmlns:a16="http://schemas.microsoft.com/office/drawing/2014/main" id="{B86BEE61-11F2-42A0-9877-7322FFAB0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" y="1135"/>
              <a:ext cx="357" cy="1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1600">
                  <a:latin typeface="Times New Roman" panose="02020603050405020304" pitchFamily="18" charset="0"/>
                </a:rPr>
                <a:t>100</a:t>
              </a:r>
              <a:r>
                <a:rPr lang="en-US" altLang="zh-CN" sz="1600">
                  <a:latin typeface="Times New Roman" panose="02020603050405020304" pitchFamily="18" charset="0"/>
                </a:rPr>
                <a:t>4H</a:t>
              </a:r>
            </a:p>
          </p:txBody>
        </p:sp>
        <p:sp>
          <p:nvSpPr>
            <p:cNvPr id="22" name="Text Box 158">
              <a:extLst>
                <a:ext uri="{FF2B5EF4-FFF2-40B4-BE49-F238E27FC236}">
                  <a16:creationId xmlns:a16="http://schemas.microsoft.com/office/drawing/2014/main" id="{27D9E09A-EB72-4D78-8730-3E227C898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" y="1298"/>
              <a:ext cx="357" cy="1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1600">
                  <a:latin typeface="Times New Roman" panose="02020603050405020304" pitchFamily="18" charset="0"/>
                </a:rPr>
                <a:t>100</a:t>
              </a:r>
              <a:r>
                <a:rPr lang="en-US" altLang="zh-CN" sz="1600">
                  <a:latin typeface="Times New Roman" panose="02020603050405020304" pitchFamily="18" charset="0"/>
                </a:rPr>
                <a:t>5H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C042E8EB-5B60-4457-AEAA-4F5F0377DB4B}"/>
              </a:ext>
            </a:extLst>
          </p:cNvPr>
          <p:cNvSpPr/>
          <p:nvPr/>
        </p:nvSpPr>
        <p:spPr>
          <a:xfrm>
            <a:off x="3443288" y="5208588"/>
            <a:ext cx="4515980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</a:rPr>
              <a:t>想一想：为什么要这么设计呢？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6">
            <a:extLst>
              <a:ext uri="{FF2B5EF4-FFF2-40B4-BE49-F238E27FC236}">
                <a16:creationId xmlns:a16="http://schemas.microsoft.com/office/drawing/2014/main" id="{AEE6345C-52F0-4EF3-B4B0-748B8FFFE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125538"/>
            <a:ext cx="7239000" cy="2064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Times New Roman" panose="02020603050405020304" pitchFamily="18" charset="0"/>
              </a:rPr>
              <a:t>    标志寄存器在</a:t>
            </a:r>
            <a:r>
              <a:rPr lang="en-US" altLang="zh-CN" sz="3200" dirty="0">
                <a:latin typeface="Times New Roman" panose="02020603050405020304" pitchFamily="18" charset="0"/>
              </a:rPr>
              <a:t>8086CPU</a:t>
            </a:r>
            <a:r>
              <a:rPr lang="zh-CN" altLang="en-US" sz="3200" dirty="0">
                <a:latin typeface="Times New Roman" panose="02020603050405020304" pitchFamily="18" charset="0"/>
              </a:rPr>
              <a:t>中位于执行单元</a:t>
            </a:r>
            <a:r>
              <a:rPr lang="en-US" altLang="zh-CN" sz="3200" dirty="0">
                <a:latin typeface="Times New Roman" panose="02020603050405020304" pitchFamily="18" charset="0"/>
              </a:rPr>
              <a:t>EU</a:t>
            </a:r>
            <a:r>
              <a:rPr lang="zh-CN" altLang="en-US" sz="3200" dirty="0">
                <a:latin typeface="Times New Roman" panose="02020603050405020304" pitchFamily="18" charset="0"/>
              </a:rPr>
              <a:t>中，用于保存</a:t>
            </a:r>
            <a:r>
              <a:rPr lang="zh-CN" altLang="en-US" sz="3200" dirty="0">
                <a:highlight>
                  <a:srgbClr val="FFFFCC"/>
                </a:highlight>
                <a:latin typeface="Times New Roman" panose="02020603050405020304" pitchFamily="18" charset="0"/>
              </a:rPr>
              <a:t>指令执行过程中的状态</a:t>
            </a:r>
            <a:r>
              <a:rPr lang="zh-CN" altLang="en-US" sz="3200" dirty="0">
                <a:latin typeface="Times New Roman" panose="02020603050405020304" pitchFamily="18" charset="0"/>
              </a:rPr>
              <a:t>（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</a:rPr>
              <a:t>状态标志位</a:t>
            </a:r>
            <a:r>
              <a:rPr lang="zh-CN" altLang="en-US" sz="3200" dirty="0">
                <a:latin typeface="Times New Roman" panose="02020603050405020304" pitchFamily="18" charset="0"/>
              </a:rPr>
              <a:t>），以及</a:t>
            </a:r>
            <a:r>
              <a:rPr lang="zh-CN" altLang="en-US" sz="3200" dirty="0">
                <a:highlight>
                  <a:srgbClr val="FFFFCC"/>
                </a:highlight>
                <a:latin typeface="Times New Roman" panose="02020603050405020304" pitchFamily="18" charset="0"/>
              </a:rPr>
              <a:t>控制程序执行过程</a:t>
            </a:r>
            <a:r>
              <a:rPr lang="zh-CN" altLang="en-US" sz="3200" dirty="0">
                <a:latin typeface="Times New Roman" panose="02020603050405020304" pitchFamily="18" charset="0"/>
              </a:rPr>
              <a:t>（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</a:rPr>
              <a:t>控制标志位</a:t>
            </a:r>
            <a:r>
              <a:rPr lang="zh-CN" altLang="en-US" sz="3200" dirty="0">
                <a:latin typeface="Times New Roman" panose="02020603050405020304" pitchFamily="18" charset="0"/>
              </a:rPr>
              <a:t>）</a:t>
            </a:r>
            <a:endParaRPr lang="zh-CN" altLang="en-US" sz="3200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75779" name="Rectangle 7">
            <a:extLst>
              <a:ext uri="{FF2B5EF4-FFF2-40B4-BE49-F238E27FC236}">
                <a16:creationId xmlns:a16="http://schemas.microsoft.com/office/drawing/2014/main" id="{140A8A0A-E5D1-4949-8F9C-41D28100F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68849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4)8086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的标志寄存器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--Flag Register</a:t>
            </a:r>
          </a:p>
        </p:txBody>
      </p:sp>
      <p:grpSp>
        <p:nvGrpSpPr>
          <p:cNvPr id="75780" name="组合 1">
            <a:extLst>
              <a:ext uri="{FF2B5EF4-FFF2-40B4-BE49-F238E27FC236}">
                <a16:creationId xmlns:a16="http://schemas.microsoft.com/office/drawing/2014/main" id="{C7FA1EAE-9106-4D76-9786-5200F5280239}"/>
              </a:ext>
            </a:extLst>
          </p:cNvPr>
          <p:cNvGrpSpPr>
            <a:grpSpLocks/>
          </p:cNvGrpSpPr>
          <p:nvPr/>
        </p:nvGrpSpPr>
        <p:grpSpPr bwMode="auto">
          <a:xfrm>
            <a:off x="1260475" y="3284538"/>
            <a:ext cx="4319588" cy="2881312"/>
            <a:chOff x="2483855" y="3284538"/>
            <a:chExt cx="4320300" cy="2881312"/>
          </a:xfrm>
        </p:grpSpPr>
        <p:sp>
          <p:nvSpPr>
            <p:cNvPr id="75784" name="矩形 28675">
              <a:extLst>
                <a:ext uri="{FF2B5EF4-FFF2-40B4-BE49-F238E27FC236}">
                  <a16:creationId xmlns:a16="http://schemas.microsoft.com/office/drawing/2014/main" id="{915592D9-C1FF-4F89-B000-86B7B5540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3855" y="3284538"/>
              <a:ext cx="4320300" cy="2879725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hlink"/>
                </a:solidFill>
                <a:latin typeface="Garamond" panose="02020404030301010803" pitchFamily="18" charset="0"/>
              </a:endParaRPr>
            </a:p>
          </p:txBody>
        </p:sp>
        <p:grpSp>
          <p:nvGrpSpPr>
            <p:cNvPr id="75785" name="组合 28676">
              <a:extLst>
                <a:ext uri="{FF2B5EF4-FFF2-40B4-BE49-F238E27FC236}">
                  <a16:creationId xmlns:a16="http://schemas.microsoft.com/office/drawing/2014/main" id="{86E8D88A-E361-4532-9E83-FD5AA3E5E7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68700" y="4867275"/>
              <a:ext cx="1343025" cy="471488"/>
              <a:chOff x="0" y="0"/>
              <a:chExt cx="846" cy="297"/>
            </a:xfrm>
          </p:grpSpPr>
          <p:sp>
            <p:nvSpPr>
              <p:cNvPr id="75806" name="Line 6">
                <a:extLst>
                  <a:ext uri="{FF2B5EF4-FFF2-40B4-BE49-F238E27FC236}">
                    <a16:creationId xmlns:a16="http://schemas.microsoft.com/office/drawing/2014/main" id="{E422D02C-2453-44F7-8CDB-508EA0460F0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53" y="263"/>
                <a:ext cx="417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7" name="Line 7">
                <a:extLst>
                  <a:ext uri="{FF2B5EF4-FFF2-40B4-BE49-F238E27FC236}">
                    <a16:creationId xmlns:a16="http://schemas.microsoft.com/office/drawing/2014/main" id="{878C9407-13F5-44D4-A615-32FDA87DD8A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0" y="2"/>
                <a:ext cx="246" cy="263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8" name="Line 8">
                <a:extLst>
                  <a:ext uri="{FF2B5EF4-FFF2-40B4-BE49-F238E27FC236}">
                    <a16:creationId xmlns:a16="http://schemas.microsoft.com/office/drawing/2014/main" id="{4B375DAE-E15E-4990-8DC7-AC3D45FE163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" y="4"/>
                <a:ext cx="213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9" name="Line 9">
                <a:extLst>
                  <a:ext uri="{FF2B5EF4-FFF2-40B4-BE49-F238E27FC236}">
                    <a16:creationId xmlns:a16="http://schemas.microsoft.com/office/drawing/2014/main" id="{673DCAA4-23E9-4747-8DEC-87988712766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" y="2"/>
                <a:ext cx="115" cy="102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0" name="Line 10">
                <a:extLst>
                  <a:ext uri="{FF2B5EF4-FFF2-40B4-BE49-F238E27FC236}">
                    <a16:creationId xmlns:a16="http://schemas.microsoft.com/office/drawing/2014/main" id="{8636900F-3415-4762-8989-54F044A0B54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5" y="100"/>
                <a:ext cx="17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1" name="Line 11">
                <a:extLst>
                  <a:ext uri="{FF2B5EF4-FFF2-40B4-BE49-F238E27FC236}">
                    <a16:creationId xmlns:a16="http://schemas.microsoft.com/office/drawing/2014/main" id="{37506459-129B-4335-B367-DD08A0ACE79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529" y="0"/>
                <a:ext cx="133" cy="10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2" name="Line 12">
                <a:extLst>
                  <a:ext uri="{FF2B5EF4-FFF2-40B4-BE49-F238E27FC236}">
                    <a16:creationId xmlns:a16="http://schemas.microsoft.com/office/drawing/2014/main" id="{DBD18DA9-E1A9-4E17-893E-BDBFBFF96B2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2" y="8"/>
                <a:ext cx="19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3" name="Line 13">
                <a:extLst>
                  <a:ext uri="{FF2B5EF4-FFF2-40B4-BE49-F238E27FC236}">
                    <a16:creationId xmlns:a16="http://schemas.microsoft.com/office/drawing/2014/main" id="{2BBA274B-9C65-43C4-9E5E-2A8C62D3033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662" y="12"/>
                <a:ext cx="180" cy="251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4" name="Text Box 14">
                <a:extLst>
                  <a:ext uri="{FF2B5EF4-FFF2-40B4-BE49-F238E27FC236}">
                    <a16:creationId xmlns:a16="http://schemas.microsoft.com/office/drawing/2014/main" id="{4E3889C6-4119-4E77-AF39-826FC289A0C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8" y="70"/>
                <a:ext cx="43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200">
                    <a:latin typeface="Times New Roman" panose="02020603050405020304" pitchFamily="18" charset="0"/>
                  </a:rPr>
                  <a:t>ALU</a:t>
                </a:r>
              </a:p>
            </p:txBody>
          </p:sp>
        </p:grpSp>
        <p:grpSp>
          <p:nvGrpSpPr>
            <p:cNvPr id="75786" name="组合 28686">
              <a:extLst>
                <a:ext uri="{FF2B5EF4-FFF2-40B4-BE49-F238E27FC236}">
                  <a16:creationId xmlns:a16="http://schemas.microsoft.com/office/drawing/2014/main" id="{D8454103-ED01-4623-8101-D59A958F3D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662363" y="4265613"/>
              <a:ext cx="1198562" cy="608012"/>
              <a:chOff x="0" y="0"/>
              <a:chExt cx="755" cy="383"/>
            </a:xfrm>
          </p:grpSpPr>
          <p:sp>
            <p:nvSpPr>
              <p:cNvPr id="75803" name="Text Box 16">
                <a:extLst>
                  <a:ext uri="{FF2B5EF4-FFF2-40B4-BE49-F238E27FC236}">
                    <a16:creationId xmlns:a16="http://schemas.microsoft.com/office/drawing/2014/main" id="{C837CE6C-86C1-4AD6-866A-A3D2A29171D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755" cy="20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暂 存 器</a:t>
                </a:r>
              </a:p>
            </p:txBody>
          </p:sp>
          <p:sp>
            <p:nvSpPr>
              <p:cNvPr id="75804" name="AutoShape 17">
                <a:extLst>
                  <a:ext uri="{FF2B5EF4-FFF2-40B4-BE49-F238E27FC236}">
                    <a16:creationId xmlns:a16="http://schemas.microsoft.com/office/drawing/2014/main" id="{3B64BC95-624F-40D8-B3CA-6B49E2388F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" y="208"/>
                <a:ext cx="142" cy="175"/>
              </a:xfrm>
              <a:prstGeom prst="downArrow">
                <a:avLst>
                  <a:gd name="adj1" fmla="val 50000"/>
                  <a:gd name="adj2" fmla="val 30707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75805" name="AutoShape 18">
                <a:extLst>
                  <a:ext uri="{FF2B5EF4-FFF2-40B4-BE49-F238E27FC236}">
                    <a16:creationId xmlns:a16="http://schemas.microsoft.com/office/drawing/2014/main" id="{C7099F58-827B-477E-9973-12D58FB241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6" y="208"/>
                <a:ext cx="143" cy="175"/>
              </a:xfrm>
              <a:prstGeom prst="downArrow">
                <a:avLst>
                  <a:gd name="adj1" fmla="val 50000"/>
                  <a:gd name="adj2" fmla="val 30492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sp>
          <p:nvSpPr>
            <p:cNvPr id="75787" name="AutoShape 20">
              <a:extLst>
                <a:ext uri="{FF2B5EF4-FFF2-40B4-BE49-F238E27FC236}">
                  <a16:creationId xmlns:a16="http://schemas.microsoft.com/office/drawing/2014/main" id="{87024500-5C7A-4294-9F8E-6B6AF9F55D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30675" y="3956050"/>
              <a:ext cx="204788" cy="323850"/>
            </a:xfrm>
            <a:prstGeom prst="upDownArrow">
              <a:avLst>
                <a:gd name="adj1" fmla="val 50000"/>
                <a:gd name="adj2" fmla="val 31496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grpSp>
          <p:nvGrpSpPr>
            <p:cNvPr id="75788" name="组合 28691">
              <a:extLst>
                <a:ext uri="{FF2B5EF4-FFF2-40B4-BE49-F238E27FC236}">
                  <a16:creationId xmlns:a16="http://schemas.microsoft.com/office/drawing/2014/main" id="{7B43EB6D-54D7-4152-9810-B7ADF9D0E1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2138" y="5294313"/>
              <a:ext cx="1262062" cy="647700"/>
              <a:chOff x="0" y="0"/>
              <a:chExt cx="664" cy="408"/>
            </a:xfrm>
          </p:grpSpPr>
          <p:sp>
            <p:nvSpPr>
              <p:cNvPr id="75799" name="AutoShape 79">
                <a:extLst>
                  <a:ext uri="{FF2B5EF4-FFF2-40B4-BE49-F238E27FC236}">
                    <a16:creationId xmlns:a16="http://schemas.microsoft.com/office/drawing/2014/main" id="{08273595-CB33-4B9B-97D8-467152DD4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" y="0"/>
                <a:ext cx="167" cy="168"/>
              </a:xfrm>
              <a:prstGeom prst="upArrow">
                <a:avLst>
                  <a:gd name="adj1" fmla="val 50000"/>
                  <a:gd name="adj2" fmla="val 25066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grpSp>
            <p:nvGrpSpPr>
              <p:cNvPr id="75800" name="组合 28693">
                <a:extLst>
                  <a:ext uri="{FF2B5EF4-FFF2-40B4-BE49-F238E27FC236}">
                    <a16:creationId xmlns:a16="http://schemas.microsoft.com/office/drawing/2014/main" id="{D8A5B719-F018-43F5-96E5-75E5002E7A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6"/>
                <a:ext cx="624" cy="312"/>
                <a:chOff x="0" y="0"/>
                <a:chExt cx="624" cy="312"/>
              </a:xfrm>
            </p:grpSpPr>
            <p:sp>
              <p:nvSpPr>
                <p:cNvPr id="75801" name="AutoShape 21">
                  <a:extLst>
                    <a:ext uri="{FF2B5EF4-FFF2-40B4-BE49-F238E27FC236}">
                      <a16:creationId xmlns:a16="http://schemas.microsoft.com/office/drawing/2014/main" id="{D0C47640-4987-4283-982E-7F94781847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48" y="168"/>
                  <a:ext cx="144" cy="144"/>
                </a:xfrm>
                <a:prstGeom prst="rightArrow">
                  <a:avLst>
                    <a:gd name="adj1" fmla="val 50000"/>
                    <a:gd name="adj2" fmla="val 25000"/>
                  </a:avLst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5802" name="AutoShape 80">
                  <a:extLst>
                    <a:ext uri="{FF2B5EF4-FFF2-40B4-BE49-F238E27FC236}">
                      <a16:creationId xmlns:a16="http://schemas.microsoft.com/office/drawing/2014/main" id="{BEC7471F-7AB1-43E4-812F-295A53CC2C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144"/>
                </a:xfrm>
                <a:prstGeom prst="leftArrow">
                  <a:avLst>
                    <a:gd name="adj1" fmla="val 50000"/>
                    <a:gd name="adj2" fmla="val 107972"/>
                  </a:avLst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</p:grpSp>
        </p:grpSp>
        <p:grpSp>
          <p:nvGrpSpPr>
            <p:cNvPr id="75789" name="组合 28696">
              <a:extLst>
                <a:ext uri="{FF2B5EF4-FFF2-40B4-BE49-F238E27FC236}">
                  <a16:creationId xmlns:a16="http://schemas.microsoft.com/office/drawing/2014/main" id="{3008C6E9-AF43-4441-BCE4-EEE13AE9D8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4900" y="5281613"/>
              <a:ext cx="1198563" cy="755650"/>
              <a:chOff x="0" y="0"/>
              <a:chExt cx="755" cy="476"/>
            </a:xfrm>
          </p:grpSpPr>
          <p:sp>
            <p:nvSpPr>
              <p:cNvPr id="75797" name="Text Box 19">
                <a:extLst>
                  <a:ext uri="{FF2B5EF4-FFF2-40B4-BE49-F238E27FC236}">
                    <a16:creationId xmlns:a16="http://schemas.microsoft.com/office/drawing/2014/main" id="{1E897827-ABA6-4CE2-A1B2-40D5A85EA1A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272"/>
                <a:ext cx="755" cy="20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8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标志寄存器</a:t>
                </a:r>
              </a:p>
            </p:txBody>
          </p:sp>
          <p:sp>
            <p:nvSpPr>
              <p:cNvPr id="75798" name="AutoShape 81">
                <a:extLst>
                  <a:ext uri="{FF2B5EF4-FFF2-40B4-BE49-F238E27FC236}">
                    <a16:creationId xmlns:a16="http://schemas.microsoft.com/office/drawing/2014/main" id="{1D82CF8B-BF15-4D47-91A5-3571E9BDD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sp>
          <p:nvSpPr>
            <p:cNvPr id="75790" name="Text Box 4">
              <a:extLst>
                <a:ext uri="{FF2B5EF4-FFF2-40B4-BE49-F238E27FC236}">
                  <a16:creationId xmlns:a16="http://schemas.microsoft.com/office/drawing/2014/main" id="{ACE9EA6B-2122-45E2-AB5E-9EE0DEFBEA5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376863" y="4189413"/>
              <a:ext cx="401637" cy="183356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EU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控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制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器</a:t>
              </a:r>
            </a:p>
          </p:txBody>
        </p:sp>
        <p:sp>
          <p:nvSpPr>
            <p:cNvPr id="75791" name="Line 83">
              <a:extLst>
                <a:ext uri="{FF2B5EF4-FFF2-40B4-BE49-F238E27FC236}">
                  <a16:creationId xmlns:a16="http://schemas.microsoft.com/office/drawing/2014/main" id="{42B7EF8B-BF8F-4FB1-B3FB-74608432B7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64100" y="4494213"/>
              <a:ext cx="506413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2" name="Line 84">
              <a:extLst>
                <a:ext uri="{FF2B5EF4-FFF2-40B4-BE49-F238E27FC236}">
                  <a16:creationId xmlns:a16="http://schemas.microsoft.com/office/drawing/2014/main" id="{3B81308C-319D-48A8-A220-9560765E186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787900" y="5103813"/>
              <a:ext cx="593725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3" name="Line 85">
              <a:extLst>
                <a:ext uri="{FF2B5EF4-FFF2-40B4-BE49-F238E27FC236}">
                  <a16:creationId xmlns:a16="http://schemas.microsoft.com/office/drawing/2014/main" id="{32A51CCF-0525-4740-B1D7-0C5B63A4546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64100" y="5865813"/>
              <a:ext cx="506413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4" name="AutoShape 27">
              <a:extLst>
                <a:ext uri="{FF2B5EF4-FFF2-40B4-BE49-F238E27FC236}">
                  <a16:creationId xmlns:a16="http://schemas.microsoft.com/office/drawing/2014/main" id="{0F951A3E-155F-4971-84B2-8C51439E66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11488" y="3951288"/>
              <a:ext cx="192087" cy="2214562"/>
            </a:xfrm>
            <a:prstGeom prst="upDownArrow">
              <a:avLst>
                <a:gd name="adj1" fmla="val 60000"/>
                <a:gd name="adj2" fmla="val 18286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75795" name="AutoShape 28">
              <a:extLst>
                <a:ext uri="{FF2B5EF4-FFF2-40B4-BE49-F238E27FC236}">
                  <a16:creationId xmlns:a16="http://schemas.microsoft.com/office/drawing/2014/main" id="{F293E76A-2E99-4073-ADC6-B332B014CF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71775" y="3779838"/>
              <a:ext cx="3816350" cy="246062"/>
            </a:xfrm>
            <a:prstGeom prst="leftRightArrow">
              <a:avLst>
                <a:gd name="adj1" fmla="val 57435"/>
                <a:gd name="adj2" fmla="val 10627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75796" name="Text Box 29">
              <a:extLst>
                <a:ext uri="{FF2B5EF4-FFF2-40B4-BE49-F238E27FC236}">
                  <a16:creationId xmlns:a16="http://schemas.microsoft.com/office/drawing/2014/main" id="{AFCBA71A-8E8B-41B9-B9E1-8FA8D3AEF48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08400" y="3357563"/>
              <a:ext cx="1924050" cy="398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内部总线</a:t>
              </a:r>
              <a:r>
                <a:rPr lang="en-US" altLang="zh-CN" sz="2400">
                  <a:latin typeface="Times New Roman" panose="02020603050405020304" pitchFamily="18" charset="0"/>
                </a:rPr>
                <a:t>16</a:t>
              </a:r>
              <a:r>
                <a:rPr lang="zh-CN" altLang="en-US" sz="2400">
                  <a:latin typeface="Times New Roman" panose="02020603050405020304" pitchFamily="18" charset="0"/>
                </a:rPr>
                <a:t>位</a:t>
              </a:r>
            </a:p>
          </p:txBody>
        </p:sp>
      </p:grpSp>
      <p:sp>
        <p:nvSpPr>
          <p:cNvPr id="34850" name="灯片编号占位符 1">
            <a:extLst>
              <a:ext uri="{FF2B5EF4-FFF2-40B4-BE49-F238E27FC236}">
                <a16:creationId xmlns:a16="http://schemas.microsoft.com/office/drawing/2014/main" id="{3F398AC5-AC0A-4E3C-9DFD-B72F4A4EAE1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17BF5C4-586F-48DB-A936-58C48B2BD1FE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24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A2A2800-5472-43EE-92EB-F022F5665887}"/>
              </a:ext>
            </a:extLst>
          </p:cNvPr>
          <p:cNvSpPr/>
          <p:nvPr/>
        </p:nvSpPr>
        <p:spPr>
          <a:xfrm>
            <a:off x="6296025" y="3263900"/>
            <a:ext cx="1422400" cy="120015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</a:rPr>
              <a:t>分支程序</a:t>
            </a:r>
            <a:endParaRPr lang="en-US" altLang="zh-CN" sz="2400" dirty="0">
              <a:solidFill>
                <a:srgbClr val="00B0F0"/>
              </a:solidFill>
              <a:latin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</a:rPr>
              <a:t>循环程序</a:t>
            </a:r>
            <a:endParaRPr lang="en-US" altLang="zh-CN" sz="2400" dirty="0">
              <a:solidFill>
                <a:srgbClr val="00B0F0"/>
              </a:solidFill>
              <a:latin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</a:rPr>
              <a:t>的实现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AC9BBCB-262E-4C28-BD03-AA0C60ED225C}"/>
              </a:ext>
            </a:extLst>
          </p:cNvPr>
          <p:cNvSpPr/>
          <p:nvPr/>
        </p:nvSpPr>
        <p:spPr>
          <a:xfrm>
            <a:off x="6292850" y="4724400"/>
            <a:ext cx="2519363" cy="193992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B0F0"/>
                </a:solidFill>
                <a:latin typeface="宋体" panose="02010600030101010101" pitchFamily="2" charset="-122"/>
              </a:rPr>
              <a:t>If(x==y){</a:t>
            </a:r>
          </a:p>
          <a:p>
            <a:pPr>
              <a:defRPr/>
            </a:pPr>
            <a:endParaRPr lang="en-US" altLang="zh-CN" sz="2400" dirty="0">
              <a:solidFill>
                <a:srgbClr val="00B0F0"/>
              </a:solidFill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00B0F0"/>
                </a:solidFill>
                <a:latin typeface="宋体" panose="02010600030101010101" pitchFamily="2" charset="-122"/>
              </a:rPr>
              <a:t>}else{</a:t>
            </a:r>
          </a:p>
          <a:p>
            <a:pPr>
              <a:defRPr/>
            </a:pPr>
            <a:endParaRPr lang="en-US" altLang="zh-CN" sz="2400" dirty="0">
              <a:solidFill>
                <a:srgbClr val="00B0F0"/>
              </a:solidFill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00B0F0"/>
                </a:solidFill>
                <a:latin typeface="宋体" panose="02010600030101010101" pitchFamily="2" charset="-122"/>
              </a:rPr>
              <a:t>}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6">
            <a:extLst>
              <a:ext uri="{FF2B5EF4-FFF2-40B4-BE49-F238E27FC236}">
                <a16:creationId xmlns:a16="http://schemas.microsoft.com/office/drawing/2014/main" id="{34F2E7D8-4B87-4863-8F54-4E3E7CD04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76300"/>
            <a:ext cx="7239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宋体" panose="02010600030101010101" pitchFamily="2" charset="-122"/>
              </a:rPr>
              <a:t>    </a:t>
            </a:r>
            <a:r>
              <a:rPr lang="en-US" altLang="zh-CN">
                <a:latin typeface="宋体" panose="02010600030101010101" pitchFamily="2" charset="-122"/>
              </a:rPr>
              <a:t>8086CPU</a:t>
            </a:r>
            <a:r>
              <a:rPr lang="zh-CN" altLang="en-US">
                <a:latin typeface="宋体" panose="02010600030101010101" pitchFamily="2" charset="-122"/>
              </a:rPr>
              <a:t>中</a:t>
            </a:r>
            <a:r>
              <a:rPr lang="zh-CN" altLang="en-US">
                <a:latin typeface="Times New Roman" panose="02020603050405020304" pitchFamily="18" charset="0"/>
              </a:rPr>
              <a:t>标志寄存器为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16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位</a:t>
            </a:r>
            <a:r>
              <a:rPr lang="zh-CN" altLang="en-US">
                <a:latin typeface="Times New Roman" panose="02020603050405020304" pitchFamily="18" charset="0"/>
              </a:rPr>
              <a:t>，其中有意义的</a:t>
            </a:r>
            <a:r>
              <a:rPr lang="zh-CN" altLang="en-US">
                <a:latin typeface="宋体" panose="02010600030101010101" pitchFamily="2" charset="-122"/>
              </a:rPr>
              <a:t>有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9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个标志位</a:t>
            </a:r>
            <a:r>
              <a:rPr lang="zh-CN" altLang="en-US">
                <a:latin typeface="宋体" panose="02010600030101010101" pitchFamily="2" charset="-122"/>
              </a:rPr>
              <a:t>，其中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6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个</a:t>
            </a:r>
            <a:r>
              <a:rPr lang="zh-CN" altLang="en-US">
                <a:solidFill>
                  <a:schemeClr val="hlink"/>
                </a:solidFill>
                <a:latin typeface="宋体" panose="02010600030101010101" pitchFamily="2" charset="-122"/>
              </a:rPr>
              <a:t>状态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标志位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3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个</a:t>
            </a:r>
            <a:r>
              <a:rPr lang="zh-CN" altLang="en-US">
                <a:solidFill>
                  <a:schemeClr val="hlink"/>
                </a:solidFill>
                <a:latin typeface="宋体" panose="02010600030101010101" pitchFamily="2" charset="-122"/>
              </a:rPr>
              <a:t>控制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标志位。</a:t>
            </a:r>
          </a:p>
        </p:txBody>
      </p:sp>
      <p:sp>
        <p:nvSpPr>
          <p:cNvPr id="76803" name="Rectangle 7">
            <a:extLst>
              <a:ext uri="{FF2B5EF4-FFF2-40B4-BE49-F238E27FC236}">
                <a16:creationId xmlns:a16="http://schemas.microsoft.com/office/drawing/2014/main" id="{077A6707-82DD-4D8A-9655-74A9CA4FC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68849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4)8086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的标志寄存器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--Flag Register</a:t>
            </a:r>
          </a:p>
        </p:txBody>
      </p:sp>
      <p:sp>
        <p:nvSpPr>
          <p:cNvPr id="35843" name="灯片编号占位符 1">
            <a:extLst>
              <a:ext uri="{FF2B5EF4-FFF2-40B4-BE49-F238E27FC236}">
                <a16:creationId xmlns:a16="http://schemas.microsoft.com/office/drawing/2014/main" id="{A17698BC-5388-4DC9-A65B-469A555877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3351B79-7C25-4EBF-901F-B62B2A914703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25</a:t>
            </a:fld>
            <a:endParaRPr lang="zh-CN" altLang="en-US">
              <a:latin typeface="Garamond" panose="02020404030301010803" pitchFamily="18" charset="0"/>
            </a:endParaRPr>
          </a:p>
        </p:txBody>
      </p:sp>
      <p:pic>
        <p:nvPicPr>
          <p:cNvPr id="76805" name="Picture 2">
            <a:extLst>
              <a:ext uri="{FF2B5EF4-FFF2-40B4-BE49-F238E27FC236}">
                <a16:creationId xmlns:a16="http://schemas.microsoft.com/office/drawing/2014/main" id="{21C0A61A-EF48-41DE-A4CB-CB772A2AE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249488"/>
            <a:ext cx="8056562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9EDA567-194C-4545-861C-76CE3B55AECA}"/>
              </a:ext>
            </a:extLst>
          </p:cNvPr>
          <p:cNvSpPr txBox="1"/>
          <p:nvPr/>
        </p:nvSpPr>
        <p:spPr bwMode="auto">
          <a:xfrm>
            <a:off x="454025" y="3441700"/>
            <a:ext cx="8372475" cy="2127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en-US" sz="2800" noProof="1">
                <a:solidFill>
                  <a:srgbClr val="FFFF00"/>
                </a:solidFill>
                <a:latin typeface="Verdan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CF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、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PF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、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AF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、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ZF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、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SF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和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OF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为</a:t>
            </a:r>
            <a:r>
              <a:rPr lang="zh-CN" altLang="en-US" sz="2800" noProof="1">
                <a:solidFill>
                  <a:srgbClr val="FF0000"/>
                </a:solidFill>
                <a:latin typeface="Verdana" panose="020B0604030504040204" pitchFamily="2" charset="0"/>
              </a:rPr>
              <a:t>状态标志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，用来表示指令执行后的结果或状态特征，</a:t>
            </a:r>
            <a:r>
              <a:rPr lang="zh-CN" altLang="en-US" sz="2800" noProof="1">
                <a:solidFill>
                  <a:srgbClr val="FF0000"/>
                </a:solidFill>
                <a:latin typeface="Verdana" panose="020B0604030504040204" pitchFamily="2" charset="0"/>
              </a:rPr>
              <a:t>转移指令根据它们来控制程序走向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；</a:t>
            </a:r>
          </a:p>
          <a:p>
            <a:pPr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TF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、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IF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和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DF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为</a:t>
            </a:r>
            <a:r>
              <a:rPr lang="zh-CN" altLang="en-US" sz="2800" noProof="1">
                <a:solidFill>
                  <a:srgbClr val="FF0000"/>
                </a:solidFill>
                <a:latin typeface="Verdana" panose="020B0604030504040204" pitchFamily="2" charset="0"/>
              </a:rPr>
              <a:t>控制标志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，由程序设置或清除。</a:t>
            </a:r>
          </a:p>
          <a:p>
            <a:pPr>
              <a:spcBef>
                <a:spcPct val="3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endParaRPr lang="zh-CN" altLang="en-US" sz="2600" noProof="1">
              <a:solidFill>
                <a:srgbClr val="FFFF00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6">
            <a:extLst>
              <a:ext uri="{FF2B5EF4-FFF2-40B4-BE49-F238E27FC236}">
                <a16:creationId xmlns:a16="http://schemas.microsoft.com/office/drawing/2014/main" id="{72CBCBC6-230E-4DF5-9B00-76534C41D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76300"/>
            <a:ext cx="723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宋体" panose="02010600030101010101" pitchFamily="2" charset="-122"/>
              </a:rPr>
              <a:t>    各位的具体意义如下：</a:t>
            </a:r>
            <a:endParaRPr lang="zh-CN" altLang="en-US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77827" name="Rectangle 7">
            <a:extLst>
              <a:ext uri="{FF2B5EF4-FFF2-40B4-BE49-F238E27FC236}">
                <a16:creationId xmlns:a16="http://schemas.microsoft.com/office/drawing/2014/main" id="{FA2E6603-182A-4FCD-9A18-599991A8B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68849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4)8086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的标志寄存器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--Flag Register</a:t>
            </a:r>
          </a:p>
        </p:txBody>
      </p:sp>
      <p:sp>
        <p:nvSpPr>
          <p:cNvPr id="77828" name="Rectangle 8">
            <a:extLst>
              <a:ext uri="{FF2B5EF4-FFF2-40B4-BE49-F238E27FC236}">
                <a16:creationId xmlns:a16="http://schemas.microsoft.com/office/drawing/2014/main" id="{47BFB680-774A-4570-BA51-ABCD79617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2262188"/>
            <a:ext cx="6553200" cy="26527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状态标志位</a:t>
            </a:r>
            <a:r>
              <a:rPr lang="en-US" altLang="zh-CN" sz="240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CF:</a:t>
            </a:r>
            <a:r>
              <a:rPr lang="zh-CN" altLang="en-US" sz="2400">
                <a:latin typeface="宋体" panose="02010600030101010101" pitchFamily="2" charset="-122"/>
              </a:rPr>
              <a:t>进位标志位 （</a:t>
            </a:r>
            <a:r>
              <a:rPr lang="en-US" altLang="zh-CN" sz="2400">
                <a:latin typeface="宋体" panose="02010600030101010101" pitchFamily="2" charset="-122"/>
              </a:rPr>
              <a:t>Carry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PF:</a:t>
            </a:r>
            <a:r>
              <a:rPr lang="zh-CN" altLang="en-US" sz="2400">
                <a:latin typeface="宋体" panose="02010600030101010101" pitchFamily="2" charset="-122"/>
              </a:rPr>
              <a:t>奇偶位     （</a:t>
            </a:r>
            <a:r>
              <a:rPr lang="en-US" altLang="zh-CN" sz="2400">
                <a:latin typeface="宋体" panose="02010600030101010101" pitchFamily="2" charset="-122"/>
              </a:rPr>
              <a:t>Parity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AF:</a:t>
            </a:r>
            <a:r>
              <a:rPr lang="zh-CN" altLang="en-US" sz="2400">
                <a:latin typeface="宋体" panose="02010600030101010101" pitchFamily="2" charset="-122"/>
              </a:rPr>
              <a:t>辅助进位位 （</a:t>
            </a:r>
            <a:r>
              <a:rPr lang="en-US" altLang="zh-CN" sz="2400">
                <a:latin typeface="宋体" panose="02010600030101010101" pitchFamily="2" charset="-122"/>
              </a:rPr>
              <a:t>Auxiliary Carry</a:t>
            </a:r>
            <a:r>
              <a:rPr lang="en-US" altLang="zh-CN" sz="2400">
                <a:latin typeface="Garamond" panose="02020404030301010803" pitchFamily="18" charset="0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ZF:</a:t>
            </a:r>
            <a:r>
              <a:rPr lang="zh-CN" altLang="en-US" sz="2400">
                <a:latin typeface="宋体" panose="02010600030101010101" pitchFamily="2" charset="-122"/>
              </a:rPr>
              <a:t>零标志位   （</a:t>
            </a:r>
            <a:r>
              <a:rPr lang="en-US" altLang="zh-CN" sz="2400">
                <a:latin typeface="宋体" panose="02010600030101010101" pitchFamily="2" charset="-122"/>
              </a:rPr>
              <a:t>Zero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SF:</a:t>
            </a:r>
            <a:r>
              <a:rPr lang="zh-CN" altLang="en-US" sz="2400">
                <a:latin typeface="宋体" panose="02010600030101010101" pitchFamily="2" charset="-122"/>
              </a:rPr>
              <a:t>符号标志位 （</a:t>
            </a:r>
            <a:r>
              <a:rPr lang="en-US" altLang="zh-CN" sz="2400">
                <a:latin typeface="宋体" panose="02010600030101010101" pitchFamily="2" charset="-122"/>
              </a:rPr>
              <a:t>Sign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OF:</a:t>
            </a:r>
            <a:r>
              <a:rPr lang="zh-CN" altLang="en-US" sz="2400">
                <a:latin typeface="宋体" panose="02010600030101010101" pitchFamily="2" charset="-122"/>
              </a:rPr>
              <a:t>溢出位     （</a:t>
            </a:r>
            <a:r>
              <a:rPr lang="en-US" altLang="zh-CN" sz="2400">
                <a:latin typeface="宋体" panose="02010600030101010101" pitchFamily="2" charset="-122"/>
              </a:rPr>
              <a:t>Overflow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9701" name="Rectangle 8">
            <a:extLst>
              <a:ext uri="{FF2B5EF4-FFF2-40B4-BE49-F238E27FC236}">
                <a16:creationId xmlns:a16="http://schemas.microsoft.com/office/drawing/2014/main" id="{A15AEEB9-73EF-4485-A378-FE010F6A4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25" y="4897438"/>
            <a:ext cx="5930900" cy="15557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FF3300"/>
                </a:solidFill>
                <a:latin typeface="Garamond" panose="02020404030301010803" pitchFamily="18" charset="0"/>
              </a:rPr>
              <a:t>控制标志位</a:t>
            </a:r>
            <a:r>
              <a:rPr lang="en-US" altLang="zh-CN" sz="2400">
                <a:solidFill>
                  <a:srgbClr val="FF3300"/>
                </a:solidFill>
                <a:latin typeface="Garamond" panose="02020404030301010803" pitchFamily="18" charset="0"/>
              </a:rPr>
              <a:t>:</a:t>
            </a:r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DF:</a:t>
            </a:r>
            <a:r>
              <a:rPr lang="zh-CN" altLang="en-US" sz="2400">
                <a:latin typeface="宋体" panose="02010600030101010101" pitchFamily="2" charset="-122"/>
              </a:rPr>
              <a:t>方向控制位 （</a:t>
            </a:r>
            <a:r>
              <a:rPr lang="en-US" altLang="zh-CN" sz="2400">
                <a:latin typeface="宋体" panose="02010600030101010101" pitchFamily="2" charset="-122"/>
              </a:rPr>
              <a:t>Direction</a:t>
            </a:r>
            <a:r>
              <a:rPr lang="en-US" altLang="zh-CN" sz="2400">
                <a:latin typeface="Garamond" panose="02020404030301010803" pitchFamily="18" charset="0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IF: </a:t>
            </a:r>
            <a:r>
              <a:rPr lang="zh-CN" altLang="en-US" sz="2400">
                <a:latin typeface="宋体" panose="02010600030101010101" pitchFamily="2" charset="-122"/>
              </a:rPr>
              <a:t>中断允许控制位 （</a:t>
            </a:r>
            <a:r>
              <a:rPr lang="en-US" altLang="zh-CN" sz="2400">
                <a:latin typeface="宋体" panose="02010600030101010101" pitchFamily="2" charset="-122"/>
              </a:rPr>
              <a:t>Interrupt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TF:</a:t>
            </a:r>
            <a:r>
              <a:rPr lang="zh-CN" altLang="en-US" sz="2400">
                <a:latin typeface="宋体" panose="02010600030101010101" pitchFamily="2" charset="-122"/>
              </a:rPr>
              <a:t>跟踪控制位 （</a:t>
            </a:r>
            <a:r>
              <a:rPr lang="en-US" altLang="zh-CN" sz="2400">
                <a:latin typeface="宋体" panose="02010600030101010101" pitchFamily="2" charset="-122"/>
              </a:rPr>
              <a:t>Trace</a:t>
            </a:r>
            <a:r>
              <a:rPr lang="zh-CN" altLang="en-US" sz="2400">
                <a:latin typeface="宋体" panose="02010600030101010101" pitchFamily="2" charset="-122"/>
              </a:rPr>
              <a:t>）  </a:t>
            </a:r>
          </a:p>
        </p:txBody>
      </p:sp>
      <p:sp>
        <p:nvSpPr>
          <p:cNvPr id="36869" name="灯片编号占位符 1">
            <a:extLst>
              <a:ext uri="{FF2B5EF4-FFF2-40B4-BE49-F238E27FC236}">
                <a16:creationId xmlns:a16="http://schemas.microsoft.com/office/drawing/2014/main" id="{3B4834F0-6B78-4529-AEE5-CA8E20F9836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A6B083C-C304-4568-8D9D-273D84202CE5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26</a:t>
            </a:fld>
            <a:endParaRPr lang="zh-CN" altLang="en-US">
              <a:latin typeface="Garamond" panose="02020404030301010803" pitchFamily="18" charset="0"/>
            </a:endParaRPr>
          </a:p>
        </p:txBody>
      </p:sp>
      <p:pic>
        <p:nvPicPr>
          <p:cNvPr id="77831" name="Picture 2">
            <a:extLst>
              <a:ext uri="{FF2B5EF4-FFF2-40B4-BE49-F238E27FC236}">
                <a16:creationId xmlns:a16="http://schemas.microsoft.com/office/drawing/2014/main" id="{AFE9F7DD-02C5-4344-AF12-A53035BAE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95413"/>
            <a:ext cx="8056562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25">
            <a:extLst>
              <a:ext uri="{FF2B5EF4-FFF2-40B4-BE49-F238E27FC236}">
                <a16:creationId xmlns:a16="http://schemas.microsoft.com/office/drawing/2014/main" id="{BC6832CA-70DC-4BB2-B6CE-67BBF79EBBC1}"/>
              </a:ext>
            </a:extLst>
          </p:cNvPr>
          <p:cNvSpPr txBox="1"/>
          <p:nvPr/>
        </p:nvSpPr>
        <p:spPr>
          <a:xfrm>
            <a:off x="741363" y="922338"/>
            <a:ext cx="7727950" cy="184626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进位标志</a:t>
            </a:r>
            <a:r>
              <a:rPr lang="en-US" altLang="x-none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</a:rPr>
              <a:t>CF</a:t>
            </a: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：</a:t>
            </a:r>
            <a:endParaRPr lang="zh-CN" altLang="en-US" sz="2400" noProof="1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x-none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</a:rPr>
              <a:t>CF=1</a:t>
            </a: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时，表明指令执行后的结果在最高位(字节操作时的</a:t>
            </a:r>
            <a:r>
              <a:rPr lang="en-US" altLang="x-none" sz="2400" noProof="1">
                <a:latin typeface="宋体" panose="02010600030101010101" pitchFamily="2" charset="-122"/>
                <a:cs typeface="+mn-ea"/>
              </a:rPr>
              <a:t>D7</a:t>
            </a: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位，字操作时的</a:t>
            </a:r>
            <a:r>
              <a:rPr lang="en-US" altLang="x-none" sz="2400" noProof="1">
                <a:latin typeface="宋体" panose="02010600030101010101" pitchFamily="2" charset="-122"/>
                <a:cs typeface="+mn-ea"/>
              </a:rPr>
              <a:t>D15</a:t>
            </a: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位)上产生了一个</a:t>
            </a:r>
            <a:r>
              <a:rPr lang="zh-CN" altLang="en-US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</a:rPr>
              <a:t>进位</a:t>
            </a: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或</a:t>
            </a:r>
            <a:r>
              <a:rPr lang="zh-CN" altLang="en-US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</a:rPr>
              <a:t>借位</a:t>
            </a: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；</a:t>
            </a:r>
            <a:endParaRPr lang="zh-CN" altLang="en-US" sz="2400" noProof="1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x-none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  <a:sym typeface="+mn-ea"/>
              </a:rPr>
              <a:t>CF=0</a:t>
            </a:r>
            <a:r>
              <a:rPr lang="zh-CN" altLang="en-US" sz="2400" noProof="1">
                <a:latin typeface="宋体" panose="02010600030101010101" pitchFamily="2" charset="-122"/>
                <a:cs typeface="+mn-ea"/>
                <a:sym typeface="+mn-ea"/>
              </a:rPr>
              <a:t>时，则无进位或借位产生。</a:t>
            </a:r>
            <a:endParaRPr lang="zh-CN" altLang="en-US" sz="2400" noProof="1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</a:endParaRPr>
          </a:p>
        </p:txBody>
      </p:sp>
      <p:sp>
        <p:nvSpPr>
          <p:cNvPr id="78851" name="Rectangle 26">
            <a:extLst>
              <a:ext uri="{FF2B5EF4-FFF2-40B4-BE49-F238E27FC236}">
                <a16:creationId xmlns:a16="http://schemas.microsoft.com/office/drawing/2014/main" id="{3FA11742-5FE8-4E13-BC32-6F394F596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396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(1)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进位标志位（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 </a:t>
            </a:r>
          </a:p>
        </p:txBody>
      </p:sp>
      <p:sp>
        <p:nvSpPr>
          <p:cNvPr id="30726" name="Text Box 32">
            <a:extLst>
              <a:ext uri="{FF2B5EF4-FFF2-40B4-BE49-F238E27FC236}">
                <a16:creationId xmlns:a16="http://schemas.microsoft.com/office/drawing/2014/main" id="{8BA600D7-458B-4A4C-AD2B-BB35F245793D}"/>
              </a:ext>
            </a:extLst>
          </p:cNvPr>
          <p:cNvSpPr txBox="1"/>
          <p:nvPr/>
        </p:nvSpPr>
        <p:spPr>
          <a:xfrm>
            <a:off x="741363" y="2244725"/>
            <a:ext cx="7499350" cy="9683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endParaRPr lang="zh-CN" altLang="en-US" sz="2400" noProof="1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b="0" noProof="1">
                <a:latin typeface="楷体_GB2312" pitchFamily="1" charset="-122"/>
                <a:ea typeface="楷体_GB2312" pitchFamily="1" charset="-122"/>
                <a:cs typeface="+mn-ea"/>
              </a:rPr>
              <a:t>      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          </a:t>
            </a:r>
            <a:endParaRPr lang="zh-CN" altLang="en-US" sz="2400" noProof="1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</a:endParaRPr>
          </a:p>
        </p:txBody>
      </p:sp>
      <p:grpSp>
        <p:nvGrpSpPr>
          <p:cNvPr id="78853" name="组合 30726">
            <a:extLst>
              <a:ext uri="{FF2B5EF4-FFF2-40B4-BE49-F238E27FC236}">
                <a16:creationId xmlns:a16="http://schemas.microsoft.com/office/drawing/2014/main" id="{2C72EF74-7B87-4D58-AC7A-E8094B2443FD}"/>
              </a:ext>
            </a:extLst>
          </p:cNvPr>
          <p:cNvGrpSpPr>
            <a:grpSpLocks/>
          </p:cNvGrpSpPr>
          <p:nvPr/>
        </p:nvGrpSpPr>
        <p:grpSpPr bwMode="auto">
          <a:xfrm>
            <a:off x="242888" y="2881313"/>
            <a:ext cx="8569325" cy="1222375"/>
            <a:chOff x="0" y="0"/>
            <a:chExt cx="5398" cy="770"/>
          </a:xfrm>
        </p:grpSpPr>
        <p:grpSp>
          <p:nvGrpSpPr>
            <p:cNvPr id="78856" name="组合 30727">
              <a:extLst>
                <a:ext uri="{FF2B5EF4-FFF2-40B4-BE49-F238E27FC236}">
                  <a16:creationId xmlns:a16="http://schemas.microsoft.com/office/drawing/2014/main" id="{BBC5F0FA-2F93-4A69-B636-B2CA315C4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" y="0"/>
              <a:ext cx="4628" cy="770"/>
              <a:chOff x="0" y="0"/>
              <a:chExt cx="4628" cy="770"/>
            </a:xfrm>
          </p:grpSpPr>
          <p:sp>
            <p:nvSpPr>
              <p:cNvPr id="78858" name="Text Box 18">
                <a:extLst>
                  <a:ext uri="{FF2B5EF4-FFF2-40B4-BE49-F238E27FC236}">
                    <a16:creationId xmlns:a16="http://schemas.microsoft.com/office/drawing/2014/main" id="{075E764F-C257-4312-B3BA-5018B61643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6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15   14  13  12  11  10   9    8    7    6    5    4    3    2    1    0</a:t>
                </a:r>
                <a:endParaRPr lang="en-US" altLang="zh-CN" sz="1600" b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pSp>
            <p:nvGrpSpPr>
              <p:cNvPr id="78859" name="组合 30729">
                <a:extLst>
                  <a:ext uri="{FF2B5EF4-FFF2-40B4-BE49-F238E27FC236}">
                    <a16:creationId xmlns:a16="http://schemas.microsoft.com/office/drawing/2014/main" id="{813219C0-F203-484B-8D5C-2F2062F420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" y="317"/>
                <a:ext cx="4534" cy="453"/>
                <a:chOff x="0" y="0"/>
                <a:chExt cx="4608" cy="789"/>
              </a:xfrm>
            </p:grpSpPr>
            <p:sp>
              <p:nvSpPr>
                <p:cNvPr id="78860" name="Rectangle 2">
                  <a:extLst>
                    <a:ext uri="{FF2B5EF4-FFF2-40B4-BE49-F238E27FC236}">
                      <a16:creationId xmlns:a16="http://schemas.microsoft.com/office/drawing/2014/main" id="{D8119A3B-CAD1-4845-B972-01709EE1F6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1" name="Rectangle 3">
                  <a:extLst>
                    <a:ext uri="{FF2B5EF4-FFF2-40B4-BE49-F238E27FC236}">
                      <a16:creationId xmlns:a16="http://schemas.microsoft.com/office/drawing/2014/main" id="{F713D3D6-0744-4559-B549-3A3919430F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2" name="Rectangle 4">
                  <a:extLst>
                    <a:ext uri="{FF2B5EF4-FFF2-40B4-BE49-F238E27FC236}">
                      <a16:creationId xmlns:a16="http://schemas.microsoft.com/office/drawing/2014/main" id="{E7B1E275-B8B3-4F32-A559-4949C91B83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3" name="Rectangle 5">
                  <a:extLst>
                    <a:ext uri="{FF2B5EF4-FFF2-40B4-BE49-F238E27FC236}">
                      <a16:creationId xmlns:a16="http://schemas.microsoft.com/office/drawing/2014/main" id="{DBBFC43C-9CCC-4138-9753-9652C6ACB6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4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4" name="Rectangle 6">
                  <a:extLst>
                    <a:ext uri="{FF2B5EF4-FFF2-40B4-BE49-F238E27FC236}">
                      <a16:creationId xmlns:a16="http://schemas.microsoft.com/office/drawing/2014/main" id="{61C1E567-B991-4362-ABE6-D819937B5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5" name="Rectangle 7">
                  <a:extLst>
                    <a:ext uri="{FF2B5EF4-FFF2-40B4-BE49-F238E27FC236}">
                      <a16:creationId xmlns:a16="http://schemas.microsoft.com/office/drawing/2014/main" id="{C8493F9C-886B-4458-9EA9-A0F6EDC6B9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6" name="Rectangle 8">
                  <a:extLst>
                    <a:ext uri="{FF2B5EF4-FFF2-40B4-BE49-F238E27FC236}">
                      <a16:creationId xmlns:a16="http://schemas.microsoft.com/office/drawing/2014/main" id="{4016DEE8-C55F-4D6F-97A8-2DECCF0CB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8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7" name="Rectangle 9">
                  <a:extLst>
                    <a:ext uri="{FF2B5EF4-FFF2-40B4-BE49-F238E27FC236}">
                      <a16:creationId xmlns:a16="http://schemas.microsoft.com/office/drawing/2014/main" id="{08EDBFF0-608D-4286-89E1-6F0E4DFA5A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8" name="Rectangle 10">
                  <a:extLst>
                    <a:ext uri="{FF2B5EF4-FFF2-40B4-BE49-F238E27FC236}">
                      <a16:creationId xmlns:a16="http://schemas.microsoft.com/office/drawing/2014/main" id="{B4F41327-21EB-4039-A0BA-B0FC9FB39C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9" name="Rectangle 11">
                  <a:extLst>
                    <a:ext uri="{FF2B5EF4-FFF2-40B4-BE49-F238E27FC236}">
                      <a16:creationId xmlns:a16="http://schemas.microsoft.com/office/drawing/2014/main" id="{70862689-C3D8-4F62-8692-25BA4B2E4C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2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0" name="Rectangle 12">
                  <a:extLst>
                    <a:ext uri="{FF2B5EF4-FFF2-40B4-BE49-F238E27FC236}">
                      <a16:creationId xmlns:a16="http://schemas.microsoft.com/office/drawing/2014/main" id="{C383CEB5-90FA-4CB0-8D4E-D230D685B9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1" name="Rectangle 13">
                  <a:extLst>
                    <a:ext uri="{FF2B5EF4-FFF2-40B4-BE49-F238E27FC236}">
                      <a16:creationId xmlns:a16="http://schemas.microsoft.com/office/drawing/2014/main" id="{04C10DEC-CAEE-4E8F-8D2C-E7DD54BBF3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8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2" name="Rectangle 14">
                  <a:extLst>
                    <a:ext uri="{FF2B5EF4-FFF2-40B4-BE49-F238E27FC236}">
                      <a16:creationId xmlns:a16="http://schemas.microsoft.com/office/drawing/2014/main" id="{F9EC9777-A014-47BE-B709-E7870A10FC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3" name="Rectangle 15">
                  <a:extLst>
                    <a:ext uri="{FF2B5EF4-FFF2-40B4-BE49-F238E27FC236}">
                      <a16:creationId xmlns:a16="http://schemas.microsoft.com/office/drawing/2014/main" id="{C9B12096-BA6D-4885-9C70-EB8727CA1F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4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4" name="Rectangle 16">
                  <a:extLst>
                    <a:ext uri="{FF2B5EF4-FFF2-40B4-BE49-F238E27FC236}">
                      <a16:creationId xmlns:a16="http://schemas.microsoft.com/office/drawing/2014/main" id="{40816A88-A29E-43EB-9B51-B730D3FC57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5" name="Rectangle 17">
                  <a:extLst>
                    <a:ext uri="{FF2B5EF4-FFF2-40B4-BE49-F238E27FC236}">
                      <a16:creationId xmlns:a16="http://schemas.microsoft.com/office/drawing/2014/main" id="{E7AFAE0E-3F61-49D6-BCE8-51123C6E71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0"/>
                  <a:ext cx="288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6" name="Rectangle 20">
                  <a:extLst>
                    <a:ext uri="{FF2B5EF4-FFF2-40B4-BE49-F238E27FC236}">
                      <a16:creationId xmlns:a16="http://schemas.microsoft.com/office/drawing/2014/main" id="{7F4A67CC-90E8-4EAB-AE40-28E8DEFDDC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0"/>
                  <a:ext cx="288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7" name="Rectangle 21">
                  <a:extLst>
                    <a:ext uri="{FF2B5EF4-FFF2-40B4-BE49-F238E27FC236}">
                      <a16:creationId xmlns:a16="http://schemas.microsoft.com/office/drawing/2014/main" id="{494AA005-FFD9-42C6-B721-52C16AE8AB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0"/>
                  <a:ext cx="288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solidFill>
                        <a:srgbClr val="FF99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CF</a:t>
                  </a:r>
                  <a:endParaRPr lang="en-US" altLang="zh-CN" sz="1600" b="0">
                    <a:solidFill>
                      <a:srgbClr val="FF99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p:grpSp>
        </p:grpSp>
        <p:sp>
          <p:nvSpPr>
            <p:cNvPr id="78857" name="Rectangle 35">
              <a:extLst>
                <a:ext uri="{FF2B5EF4-FFF2-40B4-BE49-F238E27FC236}">
                  <a16:creationId xmlns:a16="http://schemas.microsoft.com/office/drawing/2014/main" id="{683B7D9A-DFE3-44D7-86B6-18589C458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0"/>
              <a:ext cx="7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latin typeface="Garamond" panose="02020404030301010803" pitchFamily="18" charset="0"/>
                </a:rPr>
                <a:t>FLAG</a:t>
              </a:r>
              <a:r>
                <a:rPr lang="en-US" altLang="zh-CN" sz="1800" b="0">
                  <a:latin typeface="Garamond" panose="02020404030301010803" pitchFamily="18" charset="0"/>
                </a:rPr>
                <a:t> </a:t>
              </a:r>
              <a:endParaRPr lang="zh-CN" altLang="en-US" sz="1800" b="0">
                <a:latin typeface="Garamond" panose="02020404030301010803" pitchFamily="18" charset="0"/>
              </a:endParaRPr>
            </a:p>
          </p:txBody>
        </p:sp>
      </p:grpSp>
      <p:sp>
        <p:nvSpPr>
          <p:cNvPr id="37915" name="灯片编号占位符 1">
            <a:extLst>
              <a:ext uri="{FF2B5EF4-FFF2-40B4-BE49-F238E27FC236}">
                <a16:creationId xmlns:a16="http://schemas.microsoft.com/office/drawing/2014/main" id="{8FB51013-CA03-4F92-945B-972D92DB91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73FFA388-B762-4BD3-9294-CEEFC77EB351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27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21597E2-4424-44FF-839A-97B3C59AC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850" y="4394200"/>
            <a:ext cx="7540625" cy="1768475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rgbClr val="FF3300"/>
                </a:solidFill>
                <a:latin typeface="Garamond" panose="02020404030301010803" pitchFamily="18" charset="0"/>
              </a:rPr>
              <a:t>CF tips:</a:t>
            </a:r>
            <a:endParaRPr lang="zh-CN" altLang="en-US" sz="22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ea typeface="华文中宋" panose="02010600040101010101" pitchFamily="2" charset="-122"/>
              </a:rPr>
              <a:t>1</a:t>
            </a:r>
            <a:r>
              <a:rPr lang="zh-CN" altLang="en-US" sz="2200">
                <a:ea typeface="华文中宋" panose="02010600040101010101" pitchFamily="2" charset="-122"/>
              </a:rPr>
              <a:t>）只有在两个无符号数进行加减运算时，</a:t>
            </a:r>
            <a:r>
              <a:rPr lang="en-US" altLang="en-US" sz="2200">
                <a:ea typeface="华文中宋" panose="02010600040101010101" pitchFamily="2" charset="-122"/>
              </a:rPr>
              <a:t>CF</a:t>
            </a:r>
            <a:r>
              <a:rPr lang="zh-CN" altLang="en-US" sz="2200">
                <a:ea typeface="华文中宋" panose="02010600040101010101" pitchFamily="2" charset="-122"/>
              </a:rPr>
              <a:t>标志才有意义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宋体" panose="02010600030101010101" pitchFamily="2" charset="-122"/>
              </a:rPr>
              <a:t>2</a:t>
            </a:r>
            <a:r>
              <a:rPr lang="zh-CN" altLang="en-US" sz="2200">
                <a:latin typeface="宋体" panose="02010600030101010101" pitchFamily="2" charset="-122"/>
              </a:rPr>
              <a:t>）该标志主要用于</a:t>
            </a:r>
            <a:r>
              <a:rPr lang="zh-CN" altLang="en-US" sz="2200">
                <a:solidFill>
                  <a:srgbClr val="FF9900"/>
                </a:solidFill>
                <a:latin typeface="宋体" panose="02010600030101010101" pitchFamily="2" charset="-122"/>
              </a:rPr>
              <a:t>多字节数的加减法运算</a:t>
            </a:r>
            <a:endParaRPr lang="zh-CN" altLang="en-US" sz="220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宋体" panose="02010600030101010101" pitchFamily="2" charset="-122"/>
              </a:rPr>
              <a:t>3</a:t>
            </a:r>
            <a:r>
              <a:rPr lang="zh-CN" altLang="en-US" sz="2200">
                <a:latin typeface="宋体" panose="02010600030101010101" pitchFamily="2" charset="-122"/>
              </a:rPr>
              <a:t>）通过指令可以改变</a:t>
            </a:r>
            <a:r>
              <a:rPr lang="en-US" altLang="zh-CN" sz="2200">
                <a:latin typeface="宋体" panose="02010600030101010101" pitchFamily="2" charset="-122"/>
              </a:rPr>
              <a:t>CF: 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STC</a:t>
            </a:r>
            <a:r>
              <a:rPr lang="zh-CN" altLang="en-US" sz="2200">
                <a:latin typeface="宋体" panose="02010600030101010101" pitchFamily="2" charset="-122"/>
              </a:rPr>
              <a:t>设置，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CLC</a:t>
            </a:r>
            <a:r>
              <a:rPr lang="zh-CN" altLang="en-US" sz="2200">
                <a:latin typeface="宋体" panose="02010600030101010101" pitchFamily="2" charset="-122"/>
              </a:rPr>
              <a:t>清除，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CMC</a:t>
            </a:r>
            <a:r>
              <a:rPr lang="zh-CN" altLang="en-US" sz="2200">
                <a:latin typeface="宋体" panose="02010600030101010101" pitchFamily="2" charset="-122"/>
              </a:rPr>
              <a:t>取反                                     （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2200">
                <a:latin typeface="宋体" panose="02010600030101010101" pitchFamily="2" charset="-122"/>
              </a:rPr>
              <a:t>e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>
                <a:latin typeface="宋体" panose="02010600030101010101" pitchFamily="2" charset="-122"/>
              </a:rPr>
              <a:t> 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2200">
                <a:latin typeface="宋体" panose="02010600030101010101" pitchFamily="2" charset="-122"/>
              </a:rPr>
              <a:t>arry</a:t>
            </a:r>
            <a:r>
              <a:rPr lang="zh-CN" altLang="en-US" sz="2200">
                <a:latin typeface="宋体" panose="02010600030101010101" pitchFamily="2" charset="-122"/>
              </a:rPr>
              <a:t>）（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Cl</a:t>
            </a:r>
            <a:r>
              <a:rPr lang="en-US" altLang="zh-CN" sz="2200">
                <a:latin typeface="宋体" panose="02010600030101010101" pitchFamily="2" charset="-122"/>
              </a:rPr>
              <a:t>ear 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2200">
                <a:latin typeface="宋体" panose="02010600030101010101" pitchFamily="2" charset="-122"/>
              </a:rPr>
              <a:t>arry</a:t>
            </a:r>
            <a:r>
              <a:rPr lang="zh-CN" altLang="en-US" sz="2200">
                <a:latin typeface="宋体" panose="02010600030101010101" pitchFamily="2" charset="-122"/>
              </a:rPr>
              <a:t>）（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2200">
                <a:latin typeface="宋体" panose="02010600030101010101" pitchFamily="2" charset="-122"/>
              </a:rPr>
              <a:t>o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m</a:t>
            </a:r>
            <a:r>
              <a:rPr lang="en-US" altLang="zh-CN" sz="2200">
                <a:latin typeface="宋体" panose="02010600030101010101" pitchFamily="2" charset="-122"/>
              </a:rPr>
              <a:t>plement 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2200">
                <a:latin typeface="宋体" panose="02010600030101010101" pitchFamily="2" charset="-122"/>
              </a:rPr>
              <a:t>arry</a:t>
            </a:r>
            <a:r>
              <a:rPr lang="zh-CN" altLang="en-US" sz="2200">
                <a:latin typeface="宋体" panose="02010600030101010101" pitchFamily="2" charset="-122"/>
              </a:rPr>
              <a:t>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/>
      <p:bldP spid="30726" grpId="0"/>
      <p:bldP spid="4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9">
            <a:extLst>
              <a:ext uri="{FF2B5EF4-FFF2-40B4-BE49-F238E27FC236}">
                <a16:creationId xmlns:a16="http://schemas.microsoft.com/office/drawing/2014/main" id="{80555775-80DE-48AB-B455-C1D06275C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998538"/>
            <a:ext cx="8424863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PF(</a:t>
            </a:r>
            <a:r>
              <a:rPr lang="en-US" altLang="zh-CN" dirty="0">
                <a:solidFill>
                  <a:srgbClr val="2D8AFF"/>
                </a:solidFill>
                <a:latin typeface="Times New Roman" panose="02020603050405020304" pitchFamily="18" charset="0"/>
              </a:rPr>
              <a:t>Parity Flag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):</a:t>
            </a:r>
          </a:p>
          <a:p>
            <a:pPr eaLnBrk="1" hangingPunct="1"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ea typeface="华文中宋" panose="02010600040101010101" pitchFamily="2" charset="-122"/>
              </a:rPr>
              <a:t>PF</a:t>
            </a:r>
            <a:r>
              <a:rPr lang="zh-CN" altLang="en-US" dirty="0">
                <a:ea typeface="华文中宋" panose="02010600040101010101" pitchFamily="2" charset="-122"/>
              </a:rPr>
              <a:t>标志也称为</a:t>
            </a:r>
            <a:r>
              <a:rPr lang="zh-CN" altLang="en-US" dirty="0">
                <a:solidFill>
                  <a:srgbClr val="FF0000"/>
                </a:solidFill>
                <a:ea typeface="华文中宋" panose="02010600040101010101" pitchFamily="2" charset="-122"/>
              </a:rPr>
              <a:t>偶标志</a:t>
            </a:r>
            <a:r>
              <a:rPr lang="zh-CN" altLang="en-US" dirty="0"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ea typeface="华文中宋" panose="02010600040101010101" pitchFamily="2" charset="-122"/>
              </a:rPr>
              <a:t>若本次运算结果</a:t>
            </a:r>
            <a:r>
              <a:rPr lang="zh-CN" altLang="en-US" dirty="0">
                <a:solidFill>
                  <a:srgbClr val="FF0000"/>
                </a:solidFill>
                <a:ea typeface="华文中宋" panose="02010600040101010101" pitchFamily="2" charset="-122"/>
              </a:rPr>
              <a:t>低</a:t>
            </a:r>
            <a:r>
              <a:rPr lang="en-US" altLang="en-US" dirty="0">
                <a:solidFill>
                  <a:srgbClr val="FF0000"/>
                </a:solidFill>
                <a:ea typeface="华文中宋" panose="02010600040101010101" pitchFamily="2" charset="-122"/>
              </a:rPr>
              <a:t>8</a:t>
            </a:r>
            <a:r>
              <a:rPr lang="zh-CN" altLang="en-US" dirty="0">
                <a:solidFill>
                  <a:srgbClr val="FF0000"/>
                </a:solidFill>
                <a:ea typeface="华文中宋" panose="02010600040101010101" pitchFamily="2" charset="-122"/>
              </a:rPr>
              <a:t>位</a:t>
            </a:r>
            <a:r>
              <a:rPr lang="zh-CN" altLang="en-US" dirty="0">
                <a:ea typeface="华文中宋" panose="02010600040101010101" pitchFamily="2" charset="-122"/>
              </a:rPr>
              <a:t>有偶数个</a:t>
            </a:r>
            <a:r>
              <a:rPr lang="en-US" altLang="en-US" dirty="0">
                <a:ea typeface="华文中宋" panose="02010600040101010101" pitchFamily="2" charset="-122"/>
              </a:rPr>
              <a:t>1</a:t>
            </a:r>
            <a:r>
              <a:rPr lang="zh-CN" altLang="en-US" dirty="0">
                <a:ea typeface="华文中宋" panose="02010600040101010101" pitchFamily="2" charset="-122"/>
              </a:rPr>
              <a:t>（如</a:t>
            </a:r>
            <a:r>
              <a:rPr lang="en-US" altLang="en-US" dirty="0">
                <a:ea typeface="华文中宋" panose="02010600040101010101" pitchFamily="2" charset="-122"/>
              </a:rPr>
              <a:t>01101010B</a:t>
            </a:r>
            <a:r>
              <a:rPr lang="zh-CN" altLang="en-US" dirty="0">
                <a:ea typeface="华文中宋" panose="02010600040101010101" pitchFamily="2" charset="-122"/>
              </a:rPr>
              <a:t>），则</a:t>
            </a:r>
            <a:r>
              <a:rPr lang="en-US" altLang="en-US" dirty="0">
                <a:ea typeface="华文中宋" panose="02010600040101010101" pitchFamily="2" charset="-122"/>
              </a:rPr>
              <a:t>PF=1</a:t>
            </a:r>
            <a:r>
              <a:rPr lang="zh-CN" altLang="en-US" dirty="0">
                <a:ea typeface="华文中宋" panose="02010600040101010101" pitchFamily="2" charset="-122"/>
              </a:rPr>
              <a:t>，否则</a:t>
            </a:r>
            <a:r>
              <a:rPr lang="en-US" altLang="en-US" dirty="0">
                <a:ea typeface="华文中宋" panose="02010600040101010101" pitchFamily="2" charset="-122"/>
              </a:rPr>
              <a:t>PF=0</a:t>
            </a:r>
            <a:r>
              <a:rPr lang="zh-CN" altLang="en-US" dirty="0"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highlight>
                  <a:srgbClr val="FFFFCC"/>
                </a:highlight>
                <a:latin typeface="Times New Roman" panose="02020603050405020304" pitchFamily="18" charset="0"/>
              </a:rPr>
              <a:t>实际上，这是一种</a:t>
            </a:r>
            <a:r>
              <a:rPr lang="zh-CN" altLang="en-US" dirty="0">
                <a:solidFill>
                  <a:srgbClr val="FF0000"/>
                </a:solidFill>
                <a:highlight>
                  <a:srgbClr val="FFFFCC"/>
                </a:highlight>
                <a:latin typeface="Times New Roman" panose="02020603050405020304" pitchFamily="18" charset="0"/>
              </a:rPr>
              <a:t>奇校验</a:t>
            </a:r>
            <a:r>
              <a:rPr lang="zh-CN" altLang="en-US" dirty="0">
                <a:highlight>
                  <a:srgbClr val="FFFFCC"/>
                </a:highlight>
                <a:latin typeface="Times New Roman" panose="02020603050405020304" pitchFamily="18" charset="0"/>
              </a:rPr>
              <a:t>，即</a:t>
            </a:r>
            <a:r>
              <a:rPr lang="en-US" altLang="zh-CN" dirty="0">
                <a:highlight>
                  <a:srgbClr val="FFFFCC"/>
                </a:highlight>
                <a:latin typeface="Times New Roman" panose="02020603050405020304" pitchFamily="18" charset="0"/>
              </a:rPr>
              <a:t>PF</a:t>
            </a:r>
            <a:r>
              <a:rPr lang="zh-CN" altLang="en-US" dirty="0">
                <a:highlight>
                  <a:srgbClr val="FFFFCC"/>
                </a:highlight>
                <a:latin typeface="Times New Roman" panose="02020603050405020304" pitchFamily="18" charset="0"/>
              </a:rPr>
              <a:t>加上低</a:t>
            </a:r>
            <a:r>
              <a:rPr lang="en-US" altLang="zh-CN" dirty="0">
                <a:highlight>
                  <a:srgbClr val="FFFFCC"/>
                </a:highlight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highlight>
                  <a:srgbClr val="FFFFCC"/>
                </a:highlight>
                <a:latin typeface="Times New Roman" panose="02020603050405020304" pitchFamily="18" charset="0"/>
              </a:rPr>
              <a:t>位一起共有奇数个</a:t>
            </a:r>
            <a:r>
              <a:rPr lang="en-US" altLang="zh-CN" dirty="0">
                <a:highlight>
                  <a:srgbClr val="FFFFCC"/>
                </a:highlight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highlight>
                  <a:srgbClr val="FFFFCC"/>
                </a:highlight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35843" name="AutoShape 27">
            <a:extLst>
              <a:ext uri="{FF2B5EF4-FFF2-40B4-BE49-F238E27FC236}">
                <a16:creationId xmlns:a16="http://schemas.microsoft.com/office/drawing/2014/main" id="{27506E54-41A1-4602-9FA7-C501109EFDFF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7313613" y="5100638"/>
            <a:ext cx="647700" cy="381000"/>
          </a:xfrm>
          <a:prstGeom prst="leftArrow">
            <a:avLst>
              <a:gd name="adj1" fmla="val 41667"/>
              <a:gd name="adj2" fmla="val 73950"/>
            </a:avLst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79876" name="Rectangle 30">
            <a:extLst>
              <a:ext uri="{FF2B5EF4-FFF2-40B4-BE49-F238E27FC236}">
                <a16:creationId xmlns:a16="http://schemas.microsoft.com/office/drawing/2014/main" id="{419ED410-67D5-4401-BA43-57C5E181F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260350"/>
            <a:ext cx="4432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(2)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奇偶校验标志（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grpSp>
        <p:nvGrpSpPr>
          <p:cNvPr id="35846" name="组合 35845">
            <a:extLst>
              <a:ext uri="{FF2B5EF4-FFF2-40B4-BE49-F238E27FC236}">
                <a16:creationId xmlns:a16="http://schemas.microsoft.com/office/drawing/2014/main" id="{C2604EB7-BEB4-48B3-8846-5E143A7AE4E4}"/>
              </a:ext>
            </a:extLst>
          </p:cNvPr>
          <p:cNvGrpSpPr>
            <a:grpSpLocks/>
          </p:cNvGrpSpPr>
          <p:nvPr/>
        </p:nvGrpSpPr>
        <p:grpSpPr bwMode="auto">
          <a:xfrm>
            <a:off x="287338" y="3744913"/>
            <a:ext cx="8569325" cy="1222375"/>
            <a:chOff x="0" y="0"/>
            <a:chExt cx="5398" cy="770"/>
          </a:xfrm>
        </p:grpSpPr>
        <p:sp>
          <p:nvSpPr>
            <p:cNvPr id="79881" name="Rectangle 28">
              <a:extLst>
                <a:ext uri="{FF2B5EF4-FFF2-40B4-BE49-F238E27FC236}">
                  <a16:creationId xmlns:a16="http://schemas.microsoft.com/office/drawing/2014/main" id="{3DAC6E6E-E50A-458D-9D7A-85A0C0E65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" y="391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PF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grpSp>
          <p:nvGrpSpPr>
            <p:cNvPr id="79882" name="组合 35855">
              <a:extLst>
                <a:ext uri="{FF2B5EF4-FFF2-40B4-BE49-F238E27FC236}">
                  <a16:creationId xmlns:a16="http://schemas.microsoft.com/office/drawing/2014/main" id="{51D2AD78-A348-42C9-BB09-7BBA6C5BF6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98" cy="770"/>
              <a:chOff x="0" y="0"/>
              <a:chExt cx="5398" cy="770"/>
            </a:xfrm>
          </p:grpSpPr>
          <p:grpSp>
            <p:nvGrpSpPr>
              <p:cNvPr id="79883" name="组合 35856">
                <a:extLst>
                  <a:ext uri="{FF2B5EF4-FFF2-40B4-BE49-F238E27FC236}">
                    <a16:creationId xmlns:a16="http://schemas.microsoft.com/office/drawing/2014/main" id="{83DD6DE6-C34D-46A4-97AF-F2B1B24555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0" y="0"/>
                <a:ext cx="4628" cy="770"/>
                <a:chOff x="0" y="0"/>
                <a:chExt cx="4628" cy="770"/>
              </a:xfrm>
            </p:grpSpPr>
            <p:sp>
              <p:nvSpPr>
                <p:cNvPr id="79885" name="Text Box 51">
                  <a:extLst>
                    <a:ext uri="{FF2B5EF4-FFF2-40B4-BE49-F238E27FC236}">
                      <a16:creationId xmlns:a16="http://schemas.microsoft.com/office/drawing/2014/main" id="{963735F5-E6BD-4D78-9E60-2C8B5E4105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462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latin typeface="Times New Roman" panose="02020603050405020304" pitchFamily="18" charset="0"/>
                      <a:ea typeface="楷体_GB2312" pitchFamily="49" charset="-122"/>
                    </a:rPr>
                    <a:t>15   14  13  12  11  10   9    8    7    6    5    4    3    2    1    0</a:t>
                  </a:r>
                  <a:endParaRPr lang="en-US" altLang="zh-CN" sz="1600" b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grpSp>
              <p:nvGrpSpPr>
                <p:cNvPr id="79886" name="组合 35858">
                  <a:extLst>
                    <a:ext uri="{FF2B5EF4-FFF2-40B4-BE49-F238E27FC236}">
                      <a16:creationId xmlns:a16="http://schemas.microsoft.com/office/drawing/2014/main" id="{5696A09E-66E9-4DA6-B324-EAEB91F177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7" y="317"/>
                  <a:ext cx="4534" cy="453"/>
                  <a:chOff x="0" y="0"/>
                  <a:chExt cx="4608" cy="789"/>
                </a:xfrm>
              </p:grpSpPr>
              <p:sp>
                <p:nvSpPr>
                  <p:cNvPr id="79887" name="Rectangle 53">
                    <a:extLst>
                      <a:ext uri="{FF2B5EF4-FFF2-40B4-BE49-F238E27FC236}">
                        <a16:creationId xmlns:a16="http://schemas.microsoft.com/office/drawing/2014/main" id="{98CAB136-D5BA-431E-81BA-407F14AA8D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88" name="Rectangle 54">
                    <a:extLst>
                      <a:ext uri="{FF2B5EF4-FFF2-40B4-BE49-F238E27FC236}">
                        <a16:creationId xmlns:a16="http://schemas.microsoft.com/office/drawing/2014/main" id="{1EC6869E-732F-4028-BB92-BCC17B44CE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8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89" name="Rectangle 55">
                    <a:extLst>
                      <a:ext uri="{FF2B5EF4-FFF2-40B4-BE49-F238E27FC236}">
                        <a16:creationId xmlns:a16="http://schemas.microsoft.com/office/drawing/2014/main" id="{0A72AEE1-605E-484E-86B0-4F9CAF816E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76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0" name="Rectangle 56">
                    <a:extLst>
                      <a:ext uri="{FF2B5EF4-FFF2-40B4-BE49-F238E27FC236}">
                        <a16:creationId xmlns:a16="http://schemas.microsoft.com/office/drawing/2014/main" id="{B9007D59-0AEB-49A4-81B2-C21C1746F7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64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1" name="Rectangle 57">
                    <a:extLst>
                      <a:ext uri="{FF2B5EF4-FFF2-40B4-BE49-F238E27FC236}">
                        <a16:creationId xmlns:a16="http://schemas.microsoft.com/office/drawing/2014/main" id="{33A93261-19CE-463E-BA37-774C31FFEC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2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2" name="Rectangle 58">
                    <a:extLst>
                      <a:ext uri="{FF2B5EF4-FFF2-40B4-BE49-F238E27FC236}">
                        <a16:creationId xmlns:a16="http://schemas.microsoft.com/office/drawing/2014/main" id="{0394DAE6-8952-45CE-8449-C209550C9F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3" name="Rectangle 59">
                    <a:extLst>
                      <a:ext uri="{FF2B5EF4-FFF2-40B4-BE49-F238E27FC236}">
                        <a16:creationId xmlns:a16="http://schemas.microsoft.com/office/drawing/2014/main" id="{3C357F72-3B98-4173-8016-830F807312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28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4" name="Rectangle 60">
                    <a:extLst>
                      <a:ext uri="{FF2B5EF4-FFF2-40B4-BE49-F238E27FC236}">
                        <a16:creationId xmlns:a16="http://schemas.microsoft.com/office/drawing/2014/main" id="{ECC45C8D-191C-438E-826E-3C07E4066D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5" name="Rectangle 61">
                    <a:extLst>
                      <a:ext uri="{FF2B5EF4-FFF2-40B4-BE49-F238E27FC236}">
                        <a16:creationId xmlns:a16="http://schemas.microsoft.com/office/drawing/2014/main" id="{E63D2809-361A-4755-9F59-57528D27DD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04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6" name="Rectangle 62">
                    <a:extLst>
                      <a:ext uri="{FF2B5EF4-FFF2-40B4-BE49-F238E27FC236}">
                        <a16:creationId xmlns:a16="http://schemas.microsoft.com/office/drawing/2014/main" id="{0B69BBA4-FE11-4FBB-AC65-47B60F6F2F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92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7" name="Rectangle 63">
                    <a:extLst>
                      <a:ext uri="{FF2B5EF4-FFF2-40B4-BE49-F238E27FC236}">
                        <a16:creationId xmlns:a16="http://schemas.microsoft.com/office/drawing/2014/main" id="{693053AF-8F16-4B62-9E29-43B05EBEB4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80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8" name="Rectangle 64">
                    <a:extLst>
                      <a:ext uri="{FF2B5EF4-FFF2-40B4-BE49-F238E27FC236}">
                        <a16:creationId xmlns:a16="http://schemas.microsoft.com/office/drawing/2014/main" id="{F8FBBFBC-DF7E-48DC-B695-0AD013BCC3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9" name="Rectangle 65">
                    <a:extLst>
                      <a:ext uri="{FF2B5EF4-FFF2-40B4-BE49-F238E27FC236}">
                        <a16:creationId xmlns:a16="http://schemas.microsoft.com/office/drawing/2014/main" id="{168F4235-C3A8-4850-A02D-8A9CBA947D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56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900" name="Rectangle 66">
                    <a:extLst>
                      <a:ext uri="{FF2B5EF4-FFF2-40B4-BE49-F238E27FC236}">
                        <a16:creationId xmlns:a16="http://schemas.microsoft.com/office/drawing/2014/main" id="{F7AF4EB6-D8A7-4062-9A67-5071F30709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901" name="Rectangle 67">
                    <a:extLst>
                      <a:ext uri="{FF2B5EF4-FFF2-40B4-BE49-F238E27FC236}">
                        <a16:creationId xmlns:a16="http://schemas.microsoft.com/office/drawing/2014/main" id="{73534B80-3C0D-46DD-BD8C-0DC527D7CD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902" name="Rectangle 68">
                    <a:extLst>
                      <a:ext uri="{FF2B5EF4-FFF2-40B4-BE49-F238E27FC236}">
                        <a16:creationId xmlns:a16="http://schemas.microsoft.com/office/drawing/2014/main" id="{C8F3FA49-C1C2-472B-B81A-10AA97023F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20" y="0"/>
                    <a:ext cx="288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903" name="Rectangle 69">
                    <a:extLst>
                      <a:ext uri="{FF2B5EF4-FFF2-40B4-BE49-F238E27FC236}">
                        <a16:creationId xmlns:a16="http://schemas.microsoft.com/office/drawing/2014/main" id="{08FF4374-0E63-442E-9614-8F05DF2BCB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20" y="0"/>
                    <a:ext cx="288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904" name="Rectangle 70">
                    <a:extLst>
                      <a:ext uri="{FF2B5EF4-FFF2-40B4-BE49-F238E27FC236}">
                        <a16:creationId xmlns:a16="http://schemas.microsoft.com/office/drawing/2014/main" id="{501FCE69-FABA-476A-AAB3-02A1567D9D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20" y="0"/>
                    <a:ext cx="288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400" b="0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rPr>
                      <a:t>CF</a:t>
                    </a:r>
                    <a:endParaRPr lang="en-US" altLang="zh-CN" sz="1600" b="0"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</p:grpSp>
          </p:grpSp>
          <p:sp>
            <p:nvSpPr>
              <p:cNvPr id="79884" name="Rectangle 71">
                <a:extLst>
                  <a:ext uri="{FF2B5EF4-FFF2-40B4-BE49-F238E27FC236}">
                    <a16:creationId xmlns:a16="http://schemas.microsoft.com/office/drawing/2014/main" id="{8161D0B8-E0D5-4507-9F0A-782E94C3C5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40"/>
                <a:ext cx="74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>
                    <a:latin typeface="Garamond" panose="02020404030301010803" pitchFamily="18" charset="0"/>
                  </a:rPr>
                  <a:t>FLAG</a:t>
                </a:r>
                <a:r>
                  <a:rPr lang="en-US" altLang="zh-CN" sz="1800" b="0">
                    <a:latin typeface="Garamond" panose="02020404030301010803" pitchFamily="18" charset="0"/>
                  </a:rPr>
                  <a:t> </a:t>
                </a:r>
                <a:endParaRPr lang="zh-CN" altLang="en-US" sz="1800" b="0">
                  <a:latin typeface="Garamond" panose="02020404030301010803" pitchFamily="18" charset="0"/>
                </a:endParaRPr>
              </a:p>
            </p:txBody>
          </p:sp>
        </p:grpSp>
      </p:grpSp>
      <p:sp>
        <p:nvSpPr>
          <p:cNvPr id="38941" name="灯片编号占位符 1">
            <a:extLst>
              <a:ext uri="{FF2B5EF4-FFF2-40B4-BE49-F238E27FC236}">
                <a16:creationId xmlns:a16="http://schemas.microsoft.com/office/drawing/2014/main" id="{5EF4C5E2-43B6-455F-A5AA-F532011D2C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B0A44AA-355E-43CD-8493-C833A1434D3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28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948EF33-19C1-424F-8C6C-860757D7D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5421313"/>
            <a:ext cx="7540625" cy="763587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rgbClr val="FF3300"/>
                </a:solidFill>
                <a:latin typeface="Garamond" panose="02020404030301010803" pitchFamily="18" charset="0"/>
              </a:rPr>
              <a:t>PF tips:</a:t>
            </a:r>
            <a:endParaRPr lang="zh-CN" altLang="en-US" sz="22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ea typeface="华文中宋" panose="02010600040101010101" pitchFamily="2" charset="-122"/>
              </a:rPr>
              <a:t>1</a:t>
            </a:r>
            <a:r>
              <a:rPr lang="zh-CN" altLang="en-US" sz="2200">
                <a:ea typeface="华文中宋" panose="02010600040101010101" pitchFamily="2" charset="-122"/>
              </a:rPr>
              <a:t>）</a:t>
            </a:r>
            <a:r>
              <a:rPr lang="zh-CN" altLang="en-US" sz="2200">
                <a:latin typeface="Times New Roman" panose="02020603050405020304" pitchFamily="18" charset="0"/>
              </a:rPr>
              <a:t>这个标志位用来检查在数据传送过程中是否发生错误。</a:t>
            </a:r>
            <a:endParaRPr lang="zh-CN" altLang="en-US" sz="2200">
              <a:latin typeface="宋体" panose="02010600030101010101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907C8C7-A5E2-4334-89C1-5DD371623473}"/>
              </a:ext>
            </a:extLst>
          </p:cNvPr>
          <p:cNvSpPr/>
          <p:nvPr/>
        </p:nvSpPr>
        <p:spPr>
          <a:xfrm>
            <a:off x="5648325" y="1052513"/>
            <a:ext cx="2700338" cy="83185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</a:rPr>
              <a:t>为什么要做校验？</a:t>
            </a:r>
            <a:endParaRPr lang="en-US" altLang="zh-CN" sz="2400" dirty="0">
              <a:solidFill>
                <a:srgbClr val="00B0F0"/>
              </a:solidFill>
              <a:latin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</a:rPr>
              <a:t>有哪些校验方法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ldLvl="0" animBg="1"/>
      <p:bldP spid="4" grpId="0" bldLvl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9">
            <a:extLst>
              <a:ext uri="{FF2B5EF4-FFF2-40B4-BE49-F238E27FC236}">
                <a16:creationId xmlns:a16="http://schemas.microsoft.com/office/drawing/2014/main" id="{BD87DA56-475B-43C1-B98D-1E835244F78C}"/>
              </a:ext>
            </a:extLst>
          </p:cNvPr>
          <p:cNvSpPr txBox="1"/>
          <p:nvPr/>
        </p:nvSpPr>
        <p:spPr>
          <a:xfrm>
            <a:off x="539750" y="1046163"/>
            <a:ext cx="7499350" cy="21399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x-none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</a:rPr>
              <a:t>AF</a:t>
            </a:r>
            <a:r>
              <a:rPr lang="zh-CN" altLang="en-US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</a:rPr>
              <a:t>（</a:t>
            </a:r>
            <a:r>
              <a:rPr lang="en-US" altLang="x-none" sz="2400" noProof="1">
                <a:latin typeface="宋体" panose="02010600030101010101" pitchFamily="2" charset="-122"/>
                <a:cs typeface="+mn-ea"/>
                <a:sym typeface="+mn-ea"/>
              </a:rPr>
              <a:t>Auxiliary Carry</a:t>
            </a:r>
            <a:r>
              <a:rPr lang="zh-CN" altLang="en-US" sz="2400" noProof="1">
                <a:latin typeface="宋体" panose="02010600030101010101" pitchFamily="2" charset="-122"/>
                <a:cs typeface="+mn-ea"/>
                <a:sym typeface="+mn-ea"/>
              </a:rPr>
              <a:t>）</a:t>
            </a:r>
            <a:endParaRPr lang="zh-CN" altLang="en-US" sz="2400" noProof="1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latin typeface="宋体" panose="02010600030101010101" pitchFamily="2" charset="-122"/>
                <a:cs typeface="+mn-ea"/>
                <a:sym typeface="+mn-ea"/>
              </a:rPr>
              <a:t>也叫</a:t>
            </a:r>
            <a:r>
              <a:rPr lang="zh-CN" altLang="en-US" sz="2400" noProof="1">
                <a:solidFill>
                  <a:srgbClr val="FF0000"/>
                </a:solidFill>
                <a:latin typeface="宋体" panose="02010600030101010101" pitchFamily="2" charset="-122"/>
                <a:cs typeface="+mn-ea"/>
                <a:sym typeface="+mn-ea"/>
              </a:rPr>
              <a:t>半进位标志</a:t>
            </a:r>
            <a:endParaRPr lang="zh-CN" altLang="en-US" sz="2400" noProof="1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  <a:p>
            <a:pPr algn="just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在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8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位加减运算中，低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4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位向高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4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位有进位或借</a:t>
            </a:r>
            <a:endParaRPr lang="en-US" altLang="zh-CN" sz="2400" noProof="1">
              <a:latin typeface="+mn-lt"/>
              <a:ea typeface="华文中宋" panose="02010600040101010101" pitchFamily="2" charset="-122"/>
            </a:endParaRPr>
          </a:p>
          <a:p>
            <a:pPr algn="just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      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位，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AF=1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，否则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AF=0</a:t>
            </a:r>
            <a:endParaRPr lang="zh-CN" altLang="en-US" sz="2400" noProof="1">
              <a:solidFill>
                <a:srgbClr val="FF99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31747" name="AutoShape 27">
            <a:extLst>
              <a:ext uri="{FF2B5EF4-FFF2-40B4-BE49-F238E27FC236}">
                <a16:creationId xmlns:a16="http://schemas.microsoft.com/office/drawing/2014/main" id="{4D63B0A7-2DC3-4FC1-8FEF-F81742B6BF84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6454775" y="4498976"/>
            <a:ext cx="504825" cy="381000"/>
          </a:xfrm>
          <a:prstGeom prst="leftArrow">
            <a:avLst>
              <a:gd name="adj1" fmla="val 41667"/>
              <a:gd name="adj2" fmla="val 57582"/>
            </a:avLst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80900" name="Rectangle 32">
            <a:extLst>
              <a:ext uri="{FF2B5EF4-FFF2-40B4-BE49-F238E27FC236}">
                <a16:creationId xmlns:a16="http://schemas.microsoft.com/office/drawing/2014/main" id="{0E44BF73-D5BB-4DBE-B7D2-455622866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60350"/>
            <a:ext cx="47529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(3)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辅助进位标志位（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sp>
        <p:nvSpPr>
          <p:cNvPr id="39940" name="灯片编号占位符 1">
            <a:extLst>
              <a:ext uri="{FF2B5EF4-FFF2-40B4-BE49-F238E27FC236}">
                <a16:creationId xmlns:a16="http://schemas.microsoft.com/office/drawing/2014/main" id="{6F96C894-29EC-46CA-883F-FCA950A09CE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8604584C-5406-492F-99EC-260E1A2B3F5B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29</a:t>
            </a:fld>
            <a:endParaRPr lang="zh-CN" altLang="en-US">
              <a:latin typeface="Garamond" panose="02020404030301010803" pitchFamily="18" charset="0"/>
            </a:endParaRPr>
          </a:p>
        </p:txBody>
      </p:sp>
      <p:grpSp>
        <p:nvGrpSpPr>
          <p:cNvPr id="80902" name="组合 1">
            <a:extLst>
              <a:ext uri="{FF2B5EF4-FFF2-40B4-BE49-F238E27FC236}">
                <a16:creationId xmlns:a16="http://schemas.microsoft.com/office/drawing/2014/main" id="{1B140C62-FB2E-48CE-A72A-8A03D233DD9F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3141663"/>
            <a:ext cx="8569325" cy="1222375"/>
            <a:chOff x="283" y="4948"/>
            <a:chExt cx="13494" cy="1924"/>
          </a:xfrm>
        </p:grpSpPr>
        <p:grpSp>
          <p:nvGrpSpPr>
            <p:cNvPr id="80904" name="组合 31748">
              <a:extLst>
                <a:ext uri="{FF2B5EF4-FFF2-40B4-BE49-F238E27FC236}">
                  <a16:creationId xmlns:a16="http://schemas.microsoft.com/office/drawing/2014/main" id="{805222BD-C4A1-43E8-9EC4-7D81047CC9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" y="4947"/>
              <a:ext cx="13495" cy="1925"/>
              <a:chOff x="0" y="0"/>
              <a:chExt cx="5398" cy="770"/>
            </a:xfrm>
          </p:grpSpPr>
          <p:sp>
            <p:nvSpPr>
              <p:cNvPr id="80906" name="Rectangle 31">
                <a:extLst>
                  <a:ext uri="{FF2B5EF4-FFF2-40B4-BE49-F238E27FC236}">
                    <a16:creationId xmlns:a16="http://schemas.microsoft.com/office/drawing/2014/main" id="{C3E52218-4EBE-4738-BC1A-08D448660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1" y="385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AF</a:t>
                </a:r>
              </a:p>
            </p:txBody>
          </p:sp>
          <p:grpSp>
            <p:nvGrpSpPr>
              <p:cNvPr id="80907" name="组合 31750">
                <a:extLst>
                  <a:ext uri="{FF2B5EF4-FFF2-40B4-BE49-F238E27FC236}">
                    <a16:creationId xmlns:a16="http://schemas.microsoft.com/office/drawing/2014/main" id="{FD07D1B0-DB00-4BC5-897B-791E1B027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grpSp>
              <p:nvGrpSpPr>
                <p:cNvPr id="80908" name="组合 31751">
                  <a:extLst>
                    <a:ext uri="{FF2B5EF4-FFF2-40B4-BE49-F238E27FC236}">
                      <a16:creationId xmlns:a16="http://schemas.microsoft.com/office/drawing/2014/main" id="{B2C2DF39-DB13-4E4B-B35A-A00229288C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0" y="0"/>
                  <a:ext cx="4628" cy="770"/>
                  <a:chOff x="0" y="0"/>
                  <a:chExt cx="4628" cy="770"/>
                </a:xfrm>
              </p:grpSpPr>
              <p:sp>
                <p:nvSpPr>
                  <p:cNvPr id="80910" name="Text Box 40">
                    <a:extLst>
                      <a:ext uri="{FF2B5EF4-FFF2-40B4-BE49-F238E27FC236}">
                        <a16:creationId xmlns:a16="http://schemas.microsoft.com/office/drawing/2014/main" id="{C569BCBD-75E5-4FD3-A579-FE2695D1203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462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400" b="0">
                        <a:latin typeface="Times New Roman" panose="02020603050405020304" pitchFamily="18" charset="0"/>
                        <a:ea typeface="楷体_GB2312" pitchFamily="49" charset="-122"/>
                      </a:rPr>
                      <a:t>15   14  13  12  11  10   9    8    7    6    5    4    3    2    1    0</a:t>
                    </a:r>
                    <a:endParaRPr lang="en-US" altLang="zh-CN" sz="1600" b="0"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  <p:grpSp>
                <p:nvGrpSpPr>
                  <p:cNvPr id="80911" name="组合 31753">
                    <a:extLst>
                      <a:ext uri="{FF2B5EF4-FFF2-40B4-BE49-F238E27FC236}">
                        <a16:creationId xmlns:a16="http://schemas.microsoft.com/office/drawing/2014/main" id="{EF7DB741-5CEC-41C0-81F1-461F4E97553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7" y="317"/>
                    <a:ext cx="4534" cy="453"/>
                    <a:chOff x="0" y="0"/>
                    <a:chExt cx="4608" cy="789"/>
                  </a:xfrm>
                </p:grpSpPr>
                <p:sp>
                  <p:nvSpPr>
                    <p:cNvPr id="80912" name="Rectangle 42">
                      <a:extLst>
                        <a:ext uri="{FF2B5EF4-FFF2-40B4-BE49-F238E27FC236}">
                          <a16:creationId xmlns:a16="http://schemas.microsoft.com/office/drawing/2014/main" id="{41837A87-10C2-4A76-BF69-8EA1F8EE523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3" name="Rectangle 43">
                      <a:extLst>
                        <a:ext uri="{FF2B5EF4-FFF2-40B4-BE49-F238E27FC236}">
                          <a16:creationId xmlns:a16="http://schemas.microsoft.com/office/drawing/2014/main" id="{3CE85650-3DC0-4915-8934-EAB23FD4958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8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4" name="Rectangle 44">
                      <a:extLst>
                        <a:ext uri="{FF2B5EF4-FFF2-40B4-BE49-F238E27FC236}">
                          <a16:creationId xmlns:a16="http://schemas.microsoft.com/office/drawing/2014/main" id="{22B6E81B-A751-417D-9B85-32BAE1E1F33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76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5" name="Rectangle 45">
                      <a:extLst>
                        <a:ext uri="{FF2B5EF4-FFF2-40B4-BE49-F238E27FC236}">
                          <a16:creationId xmlns:a16="http://schemas.microsoft.com/office/drawing/2014/main" id="{CA68F69A-5B8C-4291-8853-2860415DEAF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4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6" name="Rectangle 46">
                      <a:extLst>
                        <a:ext uri="{FF2B5EF4-FFF2-40B4-BE49-F238E27FC236}">
                          <a16:creationId xmlns:a16="http://schemas.microsoft.com/office/drawing/2014/main" id="{901B9236-84EA-4B12-A4B0-859BE4EE96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7" name="Rectangle 47">
                      <a:extLst>
                        <a:ext uri="{FF2B5EF4-FFF2-40B4-BE49-F238E27FC236}">
                          <a16:creationId xmlns:a16="http://schemas.microsoft.com/office/drawing/2014/main" id="{DDB7DF89-6B36-492D-AAE7-09F3F55B9D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40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8" name="Rectangle 48">
                      <a:extLst>
                        <a:ext uri="{FF2B5EF4-FFF2-40B4-BE49-F238E27FC236}">
                          <a16:creationId xmlns:a16="http://schemas.microsoft.com/office/drawing/2014/main" id="{E1701A6C-6206-47DE-9107-8F26FD2A21D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28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9" name="Rectangle 49">
                      <a:extLst>
                        <a:ext uri="{FF2B5EF4-FFF2-40B4-BE49-F238E27FC236}">
                          <a16:creationId xmlns:a16="http://schemas.microsoft.com/office/drawing/2014/main" id="{C910D243-1CC9-46C6-AF37-88D8E9E8364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0" name="Rectangle 50">
                      <a:extLst>
                        <a:ext uri="{FF2B5EF4-FFF2-40B4-BE49-F238E27FC236}">
                          <a16:creationId xmlns:a16="http://schemas.microsoft.com/office/drawing/2014/main" id="{81AC412F-A8F6-4D0A-8F84-D0E2C4530D3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04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1" name="Rectangle 51">
                      <a:extLst>
                        <a:ext uri="{FF2B5EF4-FFF2-40B4-BE49-F238E27FC236}">
                          <a16:creationId xmlns:a16="http://schemas.microsoft.com/office/drawing/2014/main" id="{060870A5-F807-4515-A74A-2A17910CDB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92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2" name="Rectangle 52">
                      <a:extLst>
                        <a:ext uri="{FF2B5EF4-FFF2-40B4-BE49-F238E27FC236}">
                          <a16:creationId xmlns:a16="http://schemas.microsoft.com/office/drawing/2014/main" id="{04ACA566-FEFC-4CA2-8C83-77AF07EA106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80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3" name="Rectangle 53">
                      <a:extLst>
                        <a:ext uri="{FF2B5EF4-FFF2-40B4-BE49-F238E27FC236}">
                          <a16:creationId xmlns:a16="http://schemas.microsoft.com/office/drawing/2014/main" id="{E292B8B1-993F-4B5B-A56A-D8CB34280B9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68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4" name="Rectangle 54">
                      <a:extLst>
                        <a:ext uri="{FF2B5EF4-FFF2-40B4-BE49-F238E27FC236}">
                          <a16:creationId xmlns:a16="http://schemas.microsoft.com/office/drawing/2014/main" id="{C9A2C743-2FEA-4F70-B431-8B628780A51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56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5" name="Rectangle 55">
                      <a:extLst>
                        <a:ext uri="{FF2B5EF4-FFF2-40B4-BE49-F238E27FC236}">
                          <a16:creationId xmlns:a16="http://schemas.microsoft.com/office/drawing/2014/main" id="{D66ABA5E-3500-4672-9A71-A93613798F7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44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6" name="Rectangle 56">
                      <a:extLst>
                        <a:ext uri="{FF2B5EF4-FFF2-40B4-BE49-F238E27FC236}">
                          <a16:creationId xmlns:a16="http://schemas.microsoft.com/office/drawing/2014/main" id="{CDBF1493-5EE4-47C2-9BB4-C5237EBD6A3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32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7" name="Rectangle 57">
                      <a:extLst>
                        <a:ext uri="{FF2B5EF4-FFF2-40B4-BE49-F238E27FC236}">
                          <a16:creationId xmlns:a16="http://schemas.microsoft.com/office/drawing/2014/main" id="{0FD46E86-483E-4077-83EF-7B781FE2E10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20" y="0"/>
                      <a:ext cx="288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8" name="Rectangle 58">
                      <a:extLst>
                        <a:ext uri="{FF2B5EF4-FFF2-40B4-BE49-F238E27FC236}">
                          <a16:creationId xmlns:a16="http://schemas.microsoft.com/office/drawing/2014/main" id="{AEBCE0C3-86F3-4C54-B8DC-5C2F98C1BF0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20" y="0"/>
                      <a:ext cx="288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9" name="Rectangle 59">
                      <a:extLst>
                        <a:ext uri="{FF2B5EF4-FFF2-40B4-BE49-F238E27FC236}">
                          <a16:creationId xmlns:a16="http://schemas.microsoft.com/office/drawing/2014/main" id="{5D3A52E3-3BCD-47DA-A904-4C56910FE42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20" y="0"/>
                      <a:ext cx="288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algn="ctr">
                        <a:spcBef>
                          <a:spcPct val="5000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rPr>
                        <a:t>CF</a:t>
                      </a:r>
                      <a:endParaRPr lang="en-US" altLang="zh-CN" sz="1600" b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</p:grpSp>
            </p:grpSp>
            <p:sp>
              <p:nvSpPr>
                <p:cNvPr id="80909" name="Rectangle 60">
                  <a:extLst>
                    <a:ext uri="{FF2B5EF4-FFF2-40B4-BE49-F238E27FC236}">
                      <a16:creationId xmlns:a16="http://schemas.microsoft.com/office/drawing/2014/main" id="{FE03CEC7-8EAC-4720-9A88-8DA14D3C07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40"/>
                  <a:ext cx="74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>
                      <a:latin typeface="Garamond" panose="02020404030301010803" pitchFamily="18" charset="0"/>
                    </a:rPr>
                    <a:t>FLAG</a:t>
                  </a:r>
                  <a:r>
                    <a:rPr lang="en-US" altLang="zh-CN" sz="1800" b="0">
                      <a:latin typeface="Garamond" panose="02020404030301010803" pitchFamily="18" charset="0"/>
                    </a:rPr>
                    <a:t> </a:t>
                  </a:r>
                  <a:endParaRPr lang="zh-CN" altLang="en-US" sz="1800" b="0">
                    <a:latin typeface="Garamond" panose="02020404030301010803" pitchFamily="18" charset="0"/>
                  </a:endParaRPr>
                </a:p>
              </p:txBody>
            </p:sp>
          </p:grpSp>
        </p:grpSp>
        <p:sp>
          <p:nvSpPr>
            <p:cNvPr id="80905" name="Rectangle 28">
              <a:extLst>
                <a:ext uri="{FF2B5EF4-FFF2-40B4-BE49-F238E27FC236}">
                  <a16:creationId xmlns:a16="http://schemas.microsoft.com/office/drawing/2014/main" id="{C0E66254-C630-4DA6-9BB6-893F48017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0" y="5945"/>
              <a:ext cx="82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PF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4" name="Rectangle 8">
            <a:extLst>
              <a:ext uri="{FF2B5EF4-FFF2-40B4-BE49-F238E27FC236}">
                <a16:creationId xmlns:a16="http://schemas.microsoft.com/office/drawing/2014/main" id="{DCA54DAA-F8EE-4A59-ACC8-41109E333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5040313"/>
            <a:ext cx="6711950" cy="1098550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rgbClr val="FF3300"/>
                </a:solidFill>
                <a:latin typeface="Garamond" panose="02020404030301010803" pitchFamily="18" charset="0"/>
              </a:rPr>
              <a:t>AF tips:</a:t>
            </a:r>
            <a:endParaRPr lang="zh-CN" altLang="en-US" sz="22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ea typeface="华文中宋" panose="02010600040101010101" pitchFamily="2" charset="-122"/>
              </a:rPr>
              <a:t>1）</a:t>
            </a:r>
            <a:r>
              <a:rPr lang="zh-CN" altLang="en-US" sz="2200">
                <a:ea typeface="华文中宋" panose="02010600040101010101" pitchFamily="2" charset="-122"/>
              </a:rPr>
              <a:t>只有在</a:t>
            </a:r>
            <a:r>
              <a:rPr lang="en-US" altLang="en-US" sz="2200">
                <a:solidFill>
                  <a:srgbClr val="FF0000"/>
                </a:solidFill>
                <a:ea typeface="华文中宋" panose="02010600040101010101" pitchFamily="2" charset="-122"/>
              </a:rPr>
              <a:t>BCD</a:t>
            </a:r>
            <a:r>
              <a:rPr lang="zh-CN" altLang="en-US" sz="2200">
                <a:solidFill>
                  <a:srgbClr val="FF0000"/>
                </a:solidFill>
                <a:ea typeface="华文中宋" panose="02010600040101010101" pitchFamily="2" charset="-122"/>
              </a:rPr>
              <a:t>数</a:t>
            </a:r>
            <a:r>
              <a:rPr lang="zh-CN" altLang="en-US" sz="2200">
                <a:ea typeface="华文中宋" panose="02010600040101010101" pitchFamily="2" charset="-122"/>
              </a:rPr>
              <a:t>运算时</a:t>
            </a:r>
            <a:r>
              <a:rPr lang="en-US" altLang="en-US" sz="2200">
                <a:ea typeface="华文中宋" panose="02010600040101010101" pitchFamily="2" charset="-122"/>
              </a:rPr>
              <a:t>AF</a:t>
            </a:r>
            <a:r>
              <a:rPr lang="zh-CN" altLang="en-US" sz="2200">
                <a:ea typeface="华文中宋" panose="02010600040101010101" pitchFamily="2" charset="-122"/>
              </a:rPr>
              <a:t>才有意义。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ea typeface="华文中宋" panose="02010600040101010101" pitchFamily="2" charset="-122"/>
              </a:rPr>
              <a:t>     </a:t>
            </a:r>
            <a:r>
              <a:rPr lang="en-US" altLang="zh-CN" sz="2200">
                <a:ea typeface="华文中宋" panose="02010600040101010101" pitchFamily="2" charset="-122"/>
              </a:rPr>
              <a:t>AF</a:t>
            </a:r>
            <a:r>
              <a:rPr lang="zh-CN" altLang="en-US" sz="2200">
                <a:ea typeface="华文中宋" panose="02010600040101010101" pitchFamily="2" charset="-122"/>
              </a:rPr>
              <a:t>标志</a:t>
            </a:r>
            <a:r>
              <a:rPr lang="en-US" altLang="zh-CN" sz="2200">
                <a:ea typeface="华文中宋" panose="02010600040101010101" pitchFamily="2" charset="-122"/>
              </a:rPr>
              <a:t>用于对BCD码算术运算结果的调整。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0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charRg st="0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nimBg="1"/>
      <p:bldP spid="4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>
            <a:extLst>
              <a:ext uri="{FF2B5EF4-FFF2-40B4-BE49-F238E27FC236}">
                <a16:creationId xmlns:a16="http://schemas.microsoft.com/office/drawing/2014/main" id="{F72359D2-1894-421F-95A4-E382B0C84F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(3)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辅助进位标志位（</a:t>
            </a:r>
            <a:r>
              <a:rPr lang="en-US" altLang="zh-CN" sz="32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AF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zh-CN" altLang="en-US" sz="3200" b="1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  <p:sp>
        <p:nvSpPr>
          <p:cNvPr id="81923" name="内容占位符 2">
            <a:extLst>
              <a:ext uri="{FF2B5EF4-FFF2-40B4-BE49-F238E27FC236}">
                <a16:creationId xmlns:a16="http://schemas.microsoft.com/office/drawing/2014/main" id="{77E83B13-F9B9-48DB-94B5-74428A6174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8150" y="984250"/>
            <a:ext cx="8372475" cy="106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C00000"/>
                </a:solidFill>
                <a:ea typeface="宋体" panose="02010600030101010101" pitchFamily="2" charset="-122"/>
              </a:rPr>
              <a:t>例</a:t>
            </a:r>
            <a:r>
              <a:rPr lang="en-US" altLang="en-US" sz="3600">
                <a:solidFill>
                  <a:srgbClr val="C00000"/>
                </a:solidFill>
              </a:rPr>
              <a:t>2.1  </a:t>
            </a:r>
            <a:r>
              <a:rPr lang="zh-CN" altLang="en-US">
                <a:ea typeface="宋体" panose="02010600030101010101" pitchFamily="2" charset="-122"/>
              </a:rPr>
              <a:t>设 </a:t>
            </a:r>
            <a:r>
              <a:rPr lang="en-US" altLang="en-US"/>
              <a:t>AL=BCD</a:t>
            </a:r>
            <a:r>
              <a:rPr lang="zh-CN" altLang="en-US">
                <a:ea typeface="宋体" panose="02010600030101010101" pitchFamily="2" charset="-122"/>
              </a:rPr>
              <a:t>数</a:t>
            </a:r>
            <a:r>
              <a:rPr lang="en-US" altLang="en-US"/>
              <a:t>14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en-US"/>
              <a:t>BL=BCD </a:t>
            </a:r>
            <a:r>
              <a:rPr lang="zh-CN" altLang="en-US">
                <a:ea typeface="宋体" panose="02010600030101010101" pitchFamily="2" charset="-122"/>
              </a:rPr>
              <a:t>数</a:t>
            </a:r>
            <a:r>
              <a:rPr lang="en-US" altLang="en-US"/>
              <a:t>9</a:t>
            </a:r>
            <a:r>
              <a:rPr lang="zh-CN" altLang="en-US">
                <a:ea typeface="宋体" panose="02010600030101010101" pitchFamily="2" charset="-122"/>
              </a:rPr>
              <a:t>，用减法指令求两数之差。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8C4A9BB-5845-478C-B841-2EA8E6AE5136}"/>
              </a:ext>
            </a:extLst>
          </p:cNvPr>
          <p:cNvSpPr txBox="1"/>
          <p:nvPr/>
        </p:nvSpPr>
        <p:spPr bwMode="auto">
          <a:xfrm>
            <a:off x="458788" y="4395788"/>
            <a:ext cx="8380412" cy="11890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eaLnBrk="1" hangingPunct="1">
              <a:spcBef>
                <a:spcPts val="24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</a:rPr>
              <a:t>低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</a:rPr>
              <a:t>4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</a:rPr>
              <a:t>位向高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</a:rPr>
              <a:t>4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</a:rPr>
              <a:t>位有借位，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</a:rPr>
              <a:t>AF=1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</a:rPr>
              <a:t>，需用减法调整指令  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</a:rPr>
              <a:t>DAS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</a:rPr>
              <a:t>进行“减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</a:rPr>
              <a:t>6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</a:rPr>
              <a:t>”调整。</a:t>
            </a:r>
            <a:endParaRPr lang="zh-CN" altLang="en-US" sz="2400" noProof="1">
              <a:latin typeface="+mn-lt"/>
              <a:ea typeface="华文中宋" panose="02010600040101010101" pitchFamily="2" charset="-122"/>
            </a:endParaRPr>
          </a:p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kern="0" dirty="0">
                <a:latin typeface="+mn-lt"/>
                <a:ea typeface="华文中宋" panose="02010600040101010101" pitchFamily="2" charset="-122"/>
                <a:cs typeface="+mn-ea"/>
              </a:rPr>
              <a:t>对应不同的</a:t>
            </a:r>
            <a:r>
              <a:rPr lang="en-US" altLang="zh-CN" sz="2400" kern="0" dirty="0">
                <a:latin typeface="+mn-lt"/>
                <a:ea typeface="华文中宋" panose="02010600040101010101" pitchFamily="2" charset="-122"/>
                <a:cs typeface="+mn-ea"/>
              </a:rPr>
              <a:t>BCD</a:t>
            </a:r>
            <a:r>
              <a:rPr lang="zh-CN" altLang="en-US" sz="2400" kern="0" dirty="0">
                <a:latin typeface="+mn-lt"/>
                <a:ea typeface="华文中宋" panose="02010600040101010101" pitchFamily="2" charset="-122"/>
                <a:cs typeface="+mn-ea"/>
              </a:rPr>
              <a:t>码运算，有不同的调整指令</a:t>
            </a:r>
            <a:endParaRPr lang="zh-CN" altLang="en-US" sz="2400" kern="0" dirty="0">
              <a:latin typeface="+mn-lt"/>
              <a:ea typeface="华文中宋" panose="02010600040101010101" pitchFamily="2" charset="-122"/>
            </a:endParaRPr>
          </a:p>
          <a:p>
            <a:pPr marL="533400" indent="-533400">
              <a:spcBef>
                <a:spcPct val="3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endParaRPr lang="zh-CN" altLang="en-US" sz="2400" kern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1925" name="Rectangle 2">
            <a:extLst>
              <a:ext uri="{FF2B5EF4-FFF2-40B4-BE49-F238E27FC236}">
                <a16:creationId xmlns:a16="http://schemas.microsoft.com/office/drawing/2014/main" id="{17ADB3D5-6A2D-44C1-883D-308E7EFA8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pic>
        <p:nvPicPr>
          <p:cNvPr id="81926" name="Picture 2">
            <a:extLst>
              <a:ext uri="{FF2B5EF4-FFF2-40B4-BE49-F238E27FC236}">
                <a16:creationId xmlns:a16="http://schemas.microsoft.com/office/drawing/2014/main" id="{A2C67C49-76B8-44AB-9EF7-324F78868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2095500"/>
            <a:ext cx="6445250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1B0F36FD-EA30-45B0-B383-BFAB43774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175" y="5672138"/>
            <a:ext cx="4557713" cy="763587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rgbClr val="FF3300"/>
                </a:solidFill>
                <a:latin typeface="Garamond" panose="02020404030301010803" pitchFamily="18" charset="0"/>
              </a:rPr>
              <a:t>tip:</a:t>
            </a:r>
            <a:endParaRPr lang="zh-CN" altLang="en-US" sz="22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ea typeface="华文中宋" panose="02010600040101010101" pitchFamily="2" charset="-122"/>
              </a:rPr>
              <a:t>在做计算时</a:t>
            </a:r>
            <a:r>
              <a:rPr lang="en-US" altLang="zh-CN" sz="2200">
                <a:ea typeface="华文中宋" panose="02010600040101010101" pitchFamily="2" charset="-122"/>
              </a:rPr>
              <a:t>CPU</a:t>
            </a:r>
            <a:r>
              <a:rPr lang="zh-CN" altLang="en-US" sz="2200">
                <a:ea typeface="华文中宋" panose="02010600040101010101" pitchFamily="2" charset="-122"/>
              </a:rPr>
              <a:t>并不知道是</a:t>
            </a:r>
            <a:r>
              <a:rPr lang="en-US" altLang="zh-CN" sz="2200">
                <a:ea typeface="华文中宋" panose="02010600040101010101" pitchFamily="2" charset="-122"/>
              </a:rPr>
              <a:t>BCD</a:t>
            </a:r>
            <a:r>
              <a:rPr lang="zh-CN" altLang="en-US" sz="2200">
                <a:ea typeface="华文中宋" panose="02010600040101010101" pitchFamily="2" charset="-122"/>
              </a:rPr>
              <a:t>数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73C0C37-A731-445C-9191-3A0CE89BD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175" y="1806575"/>
            <a:ext cx="3727450" cy="1098550"/>
          </a:xfrm>
          <a:prstGeom prst="rect">
            <a:avLst/>
          </a:prstGeom>
          <a:solidFill>
            <a:srgbClr val="D9D9D9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rgbClr val="FF3300"/>
                </a:solidFill>
                <a:latin typeface="Times New Roman" panose="02020603050405020304" pitchFamily="18" charset="0"/>
              </a:rPr>
              <a:t>执行指令：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en-US" sz="2200">
                <a:ea typeface="华文中宋" panose="02010600040101010101" pitchFamily="2" charset="-122"/>
              </a:rPr>
              <a:t>SUB AL,BL     ;AL=0BH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en-US" sz="2200">
                <a:ea typeface="华文中宋" panose="02010600040101010101" pitchFamily="2" charset="-122"/>
              </a:rPr>
              <a:t>DAS		   ;AL=05H</a:t>
            </a:r>
          </a:p>
        </p:txBody>
      </p:sp>
    </p:spTree>
  </p:cSld>
  <p:clrMapOvr>
    <a:masterClrMapping/>
  </p:clrMapOvr>
  <p:transition spd="slow"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23">
            <a:extLst>
              <a:ext uri="{FF2B5EF4-FFF2-40B4-BE49-F238E27FC236}">
                <a16:creationId xmlns:a16="http://schemas.microsoft.com/office/drawing/2014/main" id="{5952BDEE-9CB4-4669-AA56-A3597A761CD9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5449887" y="4719638"/>
            <a:ext cx="720725" cy="381000"/>
          </a:xfrm>
          <a:prstGeom prst="leftArrow">
            <a:avLst>
              <a:gd name="adj1" fmla="val 41667"/>
              <a:gd name="adj2" fmla="val 82209"/>
            </a:avLst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82947" name="Rectangle 31">
            <a:extLst>
              <a:ext uri="{FF2B5EF4-FFF2-40B4-BE49-F238E27FC236}">
                <a16:creationId xmlns:a16="http://schemas.microsoft.com/office/drawing/2014/main" id="{73096648-495F-4F05-B2B2-AF8B356EA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60350"/>
            <a:ext cx="40163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(4)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零标志位（</a:t>
            </a:r>
            <a:r>
              <a:rPr lang="en-US" altLang="zh-CN" sz="320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ZF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sp>
        <p:nvSpPr>
          <p:cNvPr id="41987" name="灯片编号占位符 1">
            <a:extLst>
              <a:ext uri="{FF2B5EF4-FFF2-40B4-BE49-F238E27FC236}">
                <a16:creationId xmlns:a16="http://schemas.microsoft.com/office/drawing/2014/main" id="{9618D758-1B80-4EF1-910F-51C2F2D1E8D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2795074-DD32-4D9F-9AEF-60B53C3D3D8E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31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82949" name="Rectangle 31">
            <a:extLst>
              <a:ext uri="{FF2B5EF4-FFF2-40B4-BE49-F238E27FC236}">
                <a16:creationId xmlns:a16="http://schemas.microsoft.com/office/drawing/2014/main" id="{2E7B2715-28AC-42E3-81A9-32A23D5B2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260350"/>
            <a:ext cx="4175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(5)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符号标志位（</a:t>
            </a:r>
            <a:r>
              <a:rPr lang="en-US" altLang="zh-CN" sz="320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SF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sp>
        <p:nvSpPr>
          <p:cNvPr id="82950" name="文本框 2">
            <a:extLst>
              <a:ext uri="{FF2B5EF4-FFF2-40B4-BE49-F238E27FC236}">
                <a16:creationId xmlns:a16="http://schemas.microsoft.com/office/drawing/2014/main" id="{563439EE-B50B-41F6-964D-FE516C05B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008063"/>
            <a:ext cx="8115300" cy="207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en-US" sz="2400"/>
              <a:t>4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4861A8"/>
                </a:solidFill>
              </a:rPr>
              <a:t>零标志</a:t>
            </a:r>
            <a:r>
              <a:rPr lang="en-US" altLang="en-US" sz="2400">
                <a:solidFill>
                  <a:srgbClr val="4861A8"/>
                </a:solidFill>
              </a:rPr>
              <a:t>ZF</a:t>
            </a:r>
            <a:r>
              <a:rPr lang="zh-CN" altLang="en-US" sz="2400">
                <a:solidFill>
                  <a:srgbClr val="4861A8"/>
                </a:solidFill>
              </a:rPr>
              <a:t>（</a:t>
            </a:r>
            <a:r>
              <a:rPr lang="en-US" altLang="en-US" sz="2400">
                <a:solidFill>
                  <a:srgbClr val="4861A8"/>
                </a:solidFill>
              </a:rPr>
              <a:t>Zero Flag</a:t>
            </a:r>
            <a:r>
              <a:rPr lang="zh-CN" altLang="en-US" sz="2400">
                <a:solidFill>
                  <a:srgbClr val="4861A8"/>
                </a:solidFill>
              </a:rPr>
              <a:t>） 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>
                <a:ea typeface="华文中宋" panose="02010600040101010101" pitchFamily="2" charset="-122"/>
              </a:rPr>
              <a:t>运算</a:t>
            </a:r>
            <a:r>
              <a:rPr lang="zh-CN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结果为</a:t>
            </a:r>
            <a:r>
              <a:rPr lang="en-US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0</a:t>
            </a:r>
            <a:r>
              <a:rPr lang="zh-CN" altLang="en-US" sz="2400">
                <a:ea typeface="华文中宋" panose="02010600040101010101" pitchFamily="2" charset="-122"/>
              </a:rPr>
              <a:t>，则</a:t>
            </a:r>
            <a:r>
              <a:rPr lang="en-US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ZF=1</a:t>
            </a:r>
            <a:r>
              <a:rPr lang="zh-CN" altLang="en-US" sz="2400">
                <a:ea typeface="华文中宋" panose="02010600040101010101" pitchFamily="2" charset="-122"/>
              </a:rPr>
              <a:t>，否则</a:t>
            </a:r>
            <a:r>
              <a:rPr lang="en-US" altLang="en-US" sz="2400">
                <a:ea typeface="华文中宋" panose="02010600040101010101" pitchFamily="2" charset="-122"/>
              </a:rPr>
              <a:t>ZF=0</a:t>
            </a:r>
            <a:r>
              <a:rPr lang="zh-CN" altLang="en-US" sz="2400"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en-US" altLang="en-US" sz="2400"/>
              <a:t>5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4861A8"/>
                </a:solidFill>
              </a:rPr>
              <a:t>符号标志</a:t>
            </a:r>
            <a:r>
              <a:rPr lang="en-US" altLang="en-US" sz="2400">
                <a:solidFill>
                  <a:srgbClr val="4861A8"/>
                </a:solidFill>
              </a:rPr>
              <a:t>SF</a:t>
            </a:r>
            <a:r>
              <a:rPr lang="zh-CN" altLang="en-US" sz="2400">
                <a:solidFill>
                  <a:srgbClr val="4861A8"/>
                </a:solidFill>
              </a:rPr>
              <a:t>（</a:t>
            </a:r>
            <a:r>
              <a:rPr lang="en-US" altLang="en-US" sz="2400">
                <a:solidFill>
                  <a:srgbClr val="4861A8"/>
                </a:solidFill>
              </a:rPr>
              <a:t>Sign Flag</a:t>
            </a:r>
            <a:r>
              <a:rPr lang="zh-CN" altLang="en-US" sz="2400">
                <a:solidFill>
                  <a:srgbClr val="4861A8"/>
                </a:solidFill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>
                <a:ea typeface="华文中宋" panose="02010600040101010101" pitchFamily="2" charset="-122"/>
              </a:rPr>
              <a:t>也称</a:t>
            </a:r>
            <a:r>
              <a:rPr lang="zh-CN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负标志</a:t>
            </a:r>
            <a:r>
              <a:rPr lang="zh-CN" altLang="en-US" sz="2400">
                <a:ea typeface="华文中宋" panose="02010600040101010101" pitchFamily="2" charset="-122"/>
              </a:rPr>
              <a:t>。运算结果</a:t>
            </a:r>
            <a:r>
              <a:rPr lang="zh-CN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最高位为</a:t>
            </a:r>
            <a:r>
              <a:rPr lang="en-US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，则</a:t>
            </a:r>
            <a:r>
              <a:rPr lang="en-US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SF=1</a:t>
            </a:r>
            <a:r>
              <a:rPr lang="zh-CN" altLang="en-US" sz="2400">
                <a:ea typeface="华文中宋" panose="02010600040101010101" pitchFamily="2" charset="-122"/>
              </a:rPr>
              <a:t>，表示该数为负数；否则</a:t>
            </a:r>
            <a:r>
              <a:rPr lang="en-US" altLang="en-US" sz="2400">
                <a:ea typeface="华文中宋" panose="02010600040101010101" pitchFamily="2" charset="-122"/>
              </a:rPr>
              <a:t>SF=0</a:t>
            </a:r>
            <a:r>
              <a:rPr lang="zh-CN" altLang="en-US" sz="2400">
                <a:ea typeface="华文中宋" panose="02010600040101010101" pitchFamily="2" charset="-122"/>
              </a:rPr>
              <a:t>，表示该数为正数。</a:t>
            </a:r>
            <a:endParaRPr lang="zh-CN" altLang="en-US" sz="2400">
              <a:latin typeface="Garamond" panose="02020404030301010803" pitchFamily="18" charset="0"/>
            </a:endParaRPr>
          </a:p>
        </p:txBody>
      </p:sp>
      <p:grpSp>
        <p:nvGrpSpPr>
          <p:cNvPr id="82951" name="组合 1">
            <a:extLst>
              <a:ext uri="{FF2B5EF4-FFF2-40B4-BE49-F238E27FC236}">
                <a16:creationId xmlns:a16="http://schemas.microsoft.com/office/drawing/2014/main" id="{2C61B6FE-4D79-4B49-816D-15E1901A3527}"/>
              </a:ext>
            </a:extLst>
          </p:cNvPr>
          <p:cNvGrpSpPr>
            <a:grpSpLocks/>
          </p:cNvGrpSpPr>
          <p:nvPr/>
        </p:nvGrpSpPr>
        <p:grpSpPr bwMode="auto">
          <a:xfrm>
            <a:off x="209550" y="3238500"/>
            <a:ext cx="8569325" cy="1222375"/>
            <a:chOff x="330" y="5100"/>
            <a:chExt cx="13494" cy="1924"/>
          </a:xfrm>
        </p:grpSpPr>
        <p:grpSp>
          <p:nvGrpSpPr>
            <p:cNvPr id="82953" name="组合 32773">
              <a:extLst>
                <a:ext uri="{FF2B5EF4-FFF2-40B4-BE49-F238E27FC236}">
                  <a16:creationId xmlns:a16="http://schemas.microsoft.com/office/drawing/2014/main" id="{6C0C7E59-A4B8-456F-8424-28C2C1CA55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" y="5100"/>
              <a:ext cx="13495" cy="1925"/>
              <a:chOff x="0" y="0"/>
              <a:chExt cx="5398" cy="770"/>
            </a:xfrm>
          </p:grpSpPr>
          <p:sp>
            <p:nvSpPr>
              <p:cNvPr id="82955" name="Rectangle 30">
                <a:extLst>
                  <a:ext uri="{FF2B5EF4-FFF2-40B4-BE49-F238E27FC236}">
                    <a16:creationId xmlns:a16="http://schemas.microsoft.com/office/drawing/2014/main" id="{426D51E1-C8CF-412D-BE65-F7ABD711C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357" y="408"/>
                <a:ext cx="34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ZF</a:t>
                </a:r>
              </a:p>
            </p:txBody>
          </p:sp>
          <p:grpSp>
            <p:nvGrpSpPr>
              <p:cNvPr id="82956" name="组合 32775">
                <a:extLst>
                  <a:ext uri="{FF2B5EF4-FFF2-40B4-BE49-F238E27FC236}">
                    <a16:creationId xmlns:a16="http://schemas.microsoft.com/office/drawing/2014/main" id="{23B4BC59-9599-4451-ACAA-79F943F73C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sp>
              <p:nvSpPr>
                <p:cNvPr id="82957" name="Rectangle 42">
                  <a:extLst>
                    <a:ext uri="{FF2B5EF4-FFF2-40B4-BE49-F238E27FC236}">
                      <a16:creationId xmlns:a16="http://schemas.microsoft.com/office/drawing/2014/main" id="{7402B6BB-0795-4528-ACF7-A9FB0C1E64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1" y="385"/>
                  <a:ext cx="36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solidFill>
                        <a:srgbClr val="FF3300"/>
                      </a:solidFill>
                      <a:latin typeface="Times New Roman" panose="02020603050405020304" pitchFamily="18" charset="0"/>
                    </a:rPr>
                    <a:t>AF</a:t>
                  </a:r>
                </a:p>
              </p:txBody>
            </p:sp>
            <p:grpSp>
              <p:nvGrpSpPr>
                <p:cNvPr id="82958" name="组合 32777">
                  <a:extLst>
                    <a:ext uri="{FF2B5EF4-FFF2-40B4-BE49-F238E27FC236}">
                      <a16:creationId xmlns:a16="http://schemas.microsoft.com/office/drawing/2014/main" id="{6C5245EE-7BCD-4E5D-8624-78AC5CF1CA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398" cy="770"/>
                  <a:chOff x="0" y="0"/>
                  <a:chExt cx="5398" cy="770"/>
                </a:xfrm>
              </p:grpSpPr>
              <p:grpSp>
                <p:nvGrpSpPr>
                  <p:cNvPr id="82959" name="组合 32778">
                    <a:extLst>
                      <a:ext uri="{FF2B5EF4-FFF2-40B4-BE49-F238E27FC236}">
                        <a16:creationId xmlns:a16="http://schemas.microsoft.com/office/drawing/2014/main" id="{0C3F47AD-06F6-4F46-8023-56DF19B0BE5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70" y="0"/>
                    <a:ext cx="4628" cy="770"/>
                    <a:chOff x="0" y="0"/>
                    <a:chExt cx="4628" cy="770"/>
                  </a:xfrm>
                </p:grpSpPr>
                <p:sp>
                  <p:nvSpPr>
                    <p:cNvPr id="82961" name="Text Box 45">
                      <a:extLst>
                        <a:ext uri="{FF2B5EF4-FFF2-40B4-BE49-F238E27FC236}">
                          <a16:creationId xmlns:a16="http://schemas.microsoft.com/office/drawing/2014/main" id="{550065C3-4C07-46FB-A495-5A28ADA3C1D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462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15   14  13  12  11  10   9    8    7    6    5    4    3    2    1    0</a:t>
                      </a:r>
                      <a:endParaRPr lang="en-US" altLang="zh-CN" sz="1600" b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grpSp>
                  <p:nvGrpSpPr>
                    <p:cNvPr id="82962" name="组合 32780">
                      <a:extLst>
                        <a:ext uri="{FF2B5EF4-FFF2-40B4-BE49-F238E27FC236}">
                          <a16:creationId xmlns:a16="http://schemas.microsoft.com/office/drawing/2014/main" id="{FEE9E431-BBD7-4CEE-B645-D94993CFC8D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7" y="317"/>
                      <a:ext cx="4534" cy="453"/>
                      <a:chOff x="0" y="0"/>
                      <a:chExt cx="4608" cy="789"/>
                    </a:xfrm>
                  </p:grpSpPr>
                  <p:sp>
                    <p:nvSpPr>
                      <p:cNvPr id="82963" name="Rectangle 47">
                        <a:extLst>
                          <a:ext uri="{FF2B5EF4-FFF2-40B4-BE49-F238E27FC236}">
                            <a16:creationId xmlns:a16="http://schemas.microsoft.com/office/drawing/2014/main" id="{55F2C5B7-1503-492F-8791-DEE1643A295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64" name="Rectangle 48">
                        <a:extLst>
                          <a:ext uri="{FF2B5EF4-FFF2-40B4-BE49-F238E27FC236}">
                            <a16:creationId xmlns:a16="http://schemas.microsoft.com/office/drawing/2014/main" id="{4AB6354E-1645-421E-BD7F-837E631BE4F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65" name="Rectangle 49">
                        <a:extLst>
                          <a:ext uri="{FF2B5EF4-FFF2-40B4-BE49-F238E27FC236}">
                            <a16:creationId xmlns:a16="http://schemas.microsoft.com/office/drawing/2014/main" id="{C2EBEFCD-9B1E-4F99-8947-ECBF3F44E04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7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66" name="Rectangle 50">
                        <a:extLst>
                          <a:ext uri="{FF2B5EF4-FFF2-40B4-BE49-F238E27FC236}">
                            <a16:creationId xmlns:a16="http://schemas.microsoft.com/office/drawing/2014/main" id="{26798FD7-D9E6-474E-A32C-E09904F3D73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6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67" name="Rectangle 51">
                        <a:extLst>
                          <a:ext uri="{FF2B5EF4-FFF2-40B4-BE49-F238E27FC236}">
                            <a16:creationId xmlns:a16="http://schemas.microsoft.com/office/drawing/2014/main" id="{FDECF7DE-FA9D-4548-9173-B1D9365C75F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5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68" name="Rectangle 52">
                        <a:extLst>
                          <a:ext uri="{FF2B5EF4-FFF2-40B4-BE49-F238E27FC236}">
                            <a16:creationId xmlns:a16="http://schemas.microsoft.com/office/drawing/2014/main" id="{0808D51C-9BE9-4FF6-A8EC-979D9FF50CB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44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69" name="Rectangle 53">
                        <a:extLst>
                          <a:ext uri="{FF2B5EF4-FFF2-40B4-BE49-F238E27FC236}">
                            <a16:creationId xmlns:a16="http://schemas.microsoft.com/office/drawing/2014/main" id="{8ACAB463-68AF-464D-AF91-B7702B7F939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2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0" name="Rectangle 54">
                        <a:extLst>
                          <a:ext uri="{FF2B5EF4-FFF2-40B4-BE49-F238E27FC236}">
                            <a16:creationId xmlns:a16="http://schemas.microsoft.com/office/drawing/2014/main" id="{CD649F44-E62C-4BD0-948E-2F87E7B7313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1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1" name="Rectangle 55">
                        <a:extLst>
                          <a:ext uri="{FF2B5EF4-FFF2-40B4-BE49-F238E27FC236}">
                            <a16:creationId xmlns:a16="http://schemas.microsoft.com/office/drawing/2014/main" id="{822E7988-2AB3-4839-BB2C-A5B1BB7CA9C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0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2" name="Rectangle 56">
                        <a:extLst>
                          <a:ext uri="{FF2B5EF4-FFF2-40B4-BE49-F238E27FC236}">
                            <a16:creationId xmlns:a16="http://schemas.microsoft.com/office/drawing/2014/main" id="{CE14879B-F724-450E-B530-0518BE72543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9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3" name="Rectangle 57">
                        <a:extLst>
                          <a:ext uri="{FF2B5EF4-FFF2-40B4-BE49-F238E27FC236}">
                            <a16:creationId xmlns:a16="http://schemas.microsoft.com/office/drawing/2014/main" id="{D8D62B42-9E31-481E-95F6-C60CBD0266A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4" name="Rectangle 58">
                        <a:extLst>
                          <a:ext uri="{FF2B5EF4-FFF2-40B4-BE49-F238E27FC236}">
                            <a16:creationId xmlns:a16="http://schemas.microsoft.com/office/drawing/2014/main" id="{2A6B67CA-DAF8-48AA-83B2-51B6F5F1960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5" name="Rectangle 59">
                        <a:extLst>
                          <a:ext uri="{FF2B5EF4-FFF2-40B4-BE49-F238E27FC236}">
                            <a16:creationId xmlns:a16="http://schemas.microsoft.com/office/drawing/2014/main" id="{83D52D73-EC4A-473D-9274-A866654731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5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6" name="Rectangle 60">
                        <a:extLst>
                          <a:ext uri="{FF2B5EF4-FFF2-40B4-BE49-F238E27FC236}">
                            <a16:creationId xmlns:a16="http://schemas.microsoft.com/office/drawing/2014/main" id="{C1EA6526-5F34-4FE1-8799-E403186ECD6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4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7" name="Rectangle 61">
                        <a:extLst>
                          <a:ext uri="{FF2B5EF4-FFF2-40B4-BE49-F238E27FC236}">
                            <a16:creationId xmlns:a16="http://schemas.microsoft.com/office/drawing/2014/main" id="{99658460-DD11-4943-8DB8-1C28CBD91F3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3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8" name="Rectangle 62">
                        <a:extLst>
                          <a:ext uri="{FF2B5EF4-FFF2-40B4-BE49-F238E27FC236}">
                            <a16:creationId xmlns:a16="http://schemas.microsoft.com/office/drawing/2014/main" id="{83D013DD-EC49-4CA2-8A93-1B5533FB11D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9" name="Rectangle 63">
                        <a:extLst>
                          <a:ext uri="{FF2B5EF4-FFF2-40B4-BE49-F238E27FC236}">
                            <a16:creationId xmlns:a16="http://schemas.microsoft.com/office/drawing/2014/main" id="{810211BD-17EF-4EF5-987E-CFF7AF6B926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80" name="Rectangle 64">
                        <a:extLst>
                          <a:ext uri="{FF2B5EF4-FFF2-40B4-BE49-F238E27FC236}">
                            <a16:creationId xmlns:a16="http://schemas.microsoft.com/office/drawing/2014/main" id="{08A2740E-5F3E-46A0-B233-C5ABAEC7B36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algn="ctr">
                          <a:spcBef>
                            <a:spcPct val="5000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r>
                          <a:rPr lang="en-US" altLang="zh-CN" sz="2400" b="0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rPr>
                          <a:t>CF</a:t>
                        </a:r>
                        <a:endParaRPr lang="en-US" altLang="zh-CN" sz="1600" b="0">
                          <a:latin typeface="Times New Roman" panose="02020603050405020304" pitchFamily="18" charset="0"/>
                          <a:ea typeface="楷体_GB2312" pitchFamily="49" charset="-122"/>
                        </a:endParaRPr>
                      </a:p>
                    </p:txBody>
                  </p:sp>
                </p:grpSp>
              </p:grpSp>
              <p:sp>
                <p:nvSpPr>
                  <p:cNvPr id="82960" name="Rectangle 65">
                    <a:extLst>
                      <a:ext uri="{FF2B5EF4-FFF2-40B4-BE49-F238E27FC236}">
                        <a16:creationId xmlns:a16="http://schemas.microsoft.com/office/drawing/2014/main" id="{3C8BDB6B-50A3-4E7C-8DBC-2279FB3D41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40"/>
                    <a:ext cx="742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>
                        <a:latin typeface="Garamond" panose="02020404030301010803" pitchFamily="18" charset="0"/>
                      </a:rPr>
                      <a:t>FLAG</a:t>
                    </a:r>
                    <a:r>
                      <a:rPr lang="en-US" altLang="zh-CN" sz="1800" b="0">
                        <a:latin typeface="Garamond" panose="02020404030301010803" pitchFamily="18" charset="0"/>
                      </a:rPr>
                      <a:t> </a:t>
                    </a:r>
                    <a:endParaRPr lang="zh-CN" altLang="en-US" sz="1800" b="0">
                      <a:latin typeface="Garamond" panose="02020404030301010803" pitchFamily="18" charset="0"/>
                    </a:endParaRPr>
                  </a:p>
                </p:txBody>
              </p:sp>
            </p:grpSp>
          </p:grpSp>
        </p:grpSp>
        <p:sp>
          <p:nvSpPr>
            <p:cNvPr id="82954" name="Rectangle 30">
              <a:extLst>
                <a:ext uri="{FF2B5EF4-FFF2-40B4-BE49-F238E27FC236}">
                  <a16:creationId xmlns:a16="http://schemas.microsoft.com/office/drawing/2014/main" id="{7E3FBE1E-0888-4F29-A22B-56F6D029D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0" y="6120"/>
              <a:ext cx="82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9900"/>
                  </a:solidFill>
                  <a:latin typeface="Times New Roman" panose="02020603050405020304" pitchFamily="18" charset="0"/>
                </a:rPr>
                <a:t>SF</a:t>
              </a:r>
            </a:p>
          </p:txBody>
        </p:sp>
      </p:grpSp>
      <p:sp>
        <p:nvSpPr>
          <p:cNvPr id="4" name="AutoShape 23">
            <a:extLst>
              <a:ext uri="{FF2B5EF4-FFF2-40B4-BE49-F238E27FC236}">
                <a16:creationId xmlns:a16="http://schemas.microsoft.com/office/drawing/2014/main" id="{9E2083F7-2697-4600-935A-EE87B00B7C12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4951412" y="4719638"/>
            <a:ext cx="720725" cy="381000"/>
          </a:xfrm>
          <a:prstGeom prst="leftArrow">
            <a:avLst>
              <a:gd name="adj1" fmla="val 41667"/>
              <a:gd name="adj2" fmla="val 82209"/>
            </a:avLst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bldLvl="0" animBg="1"/>
      <p:bldP spid="4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8">
            <a:extLst>
              <a:ext uri="{FF2B5EF4-FFF2-40B4-BE49-F238E27FC236}">
                <a16:creationId xmlns:a16="http://schemas.microsoft.com/office/drawing/2014/main" id="{2E11A587-02FB-45F4-BA4F-0E0518720649}"/>
              </a:ext>
            </a:extLst>
          </p:cNvPr>
          <p:cNvSpPr txBox="1"/>
          <p:nvPr/>
        </p:nvSpPr>
        <p:spPr>
          <a:xfrm>
            <a:off x="822325" y="1139825"/>
            <a:ext cx="7499350" cy="184626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</a:rPr>
              <a:t>溢出标志位</a:t>
            </a:r>
            <a:r>
              <a:rPr lang="en-US" altLang="x-none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OF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：</a:t>
            </a:r>
            <a:r>
              <a:rPr lang="zh-CN" altLang="en-US" sz="2400" noProof="1">
                <a:solidFill>
                  <a:srgbClr val="3333FF"/>
                </a:solidFill>
                <a:latin typeface="Times New Roman" panose="02020603050405020304" pitchFamily="2" charset="0"/>
                <a:cs typeface="+mn-ea"/>
              </a:rPr>
              <a:t>当运算过程产生溢出时，</a:t>
            </a:r>
            <a:r>
              <a:rPr lang="en-US" altLang="x-none" sz="2400" noProof="1">
                <a:solidFill>
                  <a:srgbClr val="3333FF"/>
                </a:solidFill>
                <a:latin typeface="Times New Roman" panose="02020603050405020304" pitchFamily="2" charset="0"/>
                <a:cs typeface="+mn-ea"/>
              </a:rPr>
              <a:t>OF=1</a:t>
            </a:r>
            <a:r>
              <a:rPr lang="zh-CN" altLang="en-US" sz="2400" noProof="1">
                <a:solidFill>
                  <a:srgbClr val="3333FF"/>
                </a:solidFill>
                <a:latin typeface="Times New Roman" panose="02020603050405020304" pitchFamily="2" charset="0"/>
                <a:cs typeface="+mn-ea"/>
              </a:rPr>
              <a:t>时。所谓算术溢出是指算术运算的结果</a:t>
            </a:r>
            <a:r>
              <a:rPr lang="zh-CN" altLang="en-US" sz="2400" noProof="1">
                <a:solidFill>
                  <a:srgbClr val="FF0000"/>
                </a:solidFill>
                <a:latin typeface="Times New Roman" panose="02020603050405020304" pitchFamily="2" charset="0"/>
                <a:cs typeface="+mn-ea"/>
              </a:rPr>
              <a:t>超出了机器所能表达的数的范围</a:t>
            </a:r>
            <a:r>
              <a:rPr lang="zh-CN" altLang="en-US" sz="2400" noProof="1">
                <a:solidFill>
                  <a:srgbClr val="3333FF"/>
                </a:solidFill>
                <a:latin typeface="Times New Roman" panose="02020603050405020304" pitchFamily="2" charset="0"/>
                <a:cs typeface="+mn-ea"/>
              </a:rPr>
              <a:t>。</a:t>
            </a:r>
            <a:endParaRPr lang="zh-CN" altLang="en-US" sz="2400" noProof="1">
              <a:solidFill>
                <a:srgbClr val="3333FF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rgbClr val="3333FF"/>
                </a:solidFill>
                <a:latin typeface="Times New Roman" panose="02020603050405020304" pitchFamily="2" charset="0"/>
                <a:cs typeface="+mn-ea"/>
              </a:rPr>
              <a:t>对有符号整数，范围是</a:t>
            </a:r>
            <a:r>
              <a:rPr lang="en-US" altLang="x-none" sz="24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</a:rPr>
              <a:t>(-128~127,-32768~32767) </a:t>
            </a:r>
            <a:r>
              <a:rPr lang="en-US" altLang="x-none" sz="2400" noProof="1">
                <a:solidFill>
                  <a:srgbClr val="800000"/>
                </a:solidFill>
                <a:latin typeface="Times New Roman" panose="02020603050405020304" pitchFamily="2" charset="0"/>
                <a:cs typeface="+mn-ea"/>
              </a:rPr>
              <a:t>     </a:t>
            </a:r>
            <a:r>
              <a:rPr lang="en-US" altLang="x-none" sz="2400" noProof="1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          </a:t>
            </a:r>
            <a:endParaRPr lang="en-US" altLang="x-none" sz="2400" noProof="1">
              <a:solidFill>
                <a:srgbClr val="8000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</a:endParaRPr>
          </a:p>
        </p:txBody>
      </p:sp>
      <p:sp>
        <p:nvSpPr>
          <p:cNvPr id="34819" name="AutoShape 26">
            <a:extLst>
              <a:ext uri="{FF2B5EF4-FFF2-40B4-BE49-F238E27FC236}">
                <a16:creationId xmlns:a16="http://schemas.microsoft.com/office/drawing/2014/main" id="{BB7CE575-D76C-4092-84FB-7F770AF72104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3349625" y="3354388"/>
            <a:ext cx="520700" cy="381000"/>
          </a:xfrm>
          <a:prstGeom prst="leftArrow">
            <a:avLst>
              <a:gd name="adj1" fmla="val 41667"/>
              <a:gd name="adj2" fmla="val 59450"/>
            </a:avLst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83972" name="Rectangle 32">
            <a:extLst>
              <a:ext uri="{FF2B5EF4-FFF2-40B4-BE49-F238E27FC236}">
                <a16:creationId xmlns:a16="http://schemas.microsoft.com/office/drawing/2014/main" id="{0A23DCD6-B215-40AA-AF3B-413EF3C11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60350"/>
            <a:ext cx="48244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(6)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溢出控制标志位（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sp>
        <p:nvSpPr>
          <p:cNvPr id="34821" name="Text Box 38">
            <a:extLst>
              <a:ext uri="{FF2B5EF4-FFF2-40B4-BE49-F238E27FC236}">
                <a16:creationId xmlns:a16="http://schemas.microsoft.com/office/drawing/2014/main" id="{C618ABCF-A65B-4B3A-AE96-A063190F54DB}"/>
              </a:ext>
            </a:extLst>
          </p:cNvPr>
          <p:cNvSpPr txBox="1"/>
          <p:nvPr/>
        </p:nvSpPr>
        <p:spPr>
          <a:xfrm>
            <a:off x="755650" y="5013325"/>
            <a:ext cx="7848600" cy="1330325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OF=1</a:t>
            </a:r>
            <a:r>
              <a:rPr lang="zh-CN" altLang="en-US" sz="20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的情况：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加法:次高位向最高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(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符号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)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位进位,最高位向前无进位</a:t>
            </a:r>
            <a:endParaRPr lang="zh-CN" altLang="en-US" sz="20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     		   次高位向最高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(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符号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)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位无进位,最高位向前进位</a:t>
            </a:r>
            <a:endParaRPr lang="zh-CN" altLang="en-US" sz="20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	     减法:最高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(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符号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)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位向前借位,次高位向最高位无借位</a:t>
            </a:r>
            <a:endParaRPr lang="zh-CN" altLang="en-US" sz="20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     		   最高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(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符号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)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位向前无借位,次高位向最高位借位</a:t>
            </a:r>
            <a:endParaRPr lang="zh-CN" altLang="en-US" sz="20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34822" name="Rectangle 68">
            <a:extLst>
              <a:ext uri="{FF2B5EF4-FFF2-40B4-BE49-F238E27FC236}">
                <a16:creationId xmlns:a16="http://schemas.microsoft.com/office/drawing/2014/main" id="{53091E17-5024-4083-8F8F-C617F3CF2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938" y="3033713"/>
            <a:ext cx="4373562" cy="6477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Garamond" panose="02020404030301010803" pitchFamily="18" charset="0"/>
                <a:ea typeface="楷体_GB2312" pitchFamily="49" charset="-122"/>
              </a:rPr>
              <a:t>注意有符号数是用补码表示的！</a:t>
            </a:r>
          </a:p>
        </p:txBody>
      </p:sp>
      <p:grpSp>
        <p:nvGrpSpPr>
          <p:cNvPr id="34823" name="组合 34822">
            <a:extLst>
              <a:ext uri="{FF2B5EF4-FFF2-40B4-BE49-F238E27FC236}">
                <a16:creationId xmlns:a16="http://schemas.microsoft.com/office/drawing/2014/main" id="{676666C4-C1A6-40BA-B53C-57A2DC8D155D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681413"/>
            <a:ext cx="8569325" cy="1222375"/>
            <a:chOff x="0" y="0"/>
            <a:chExt cx="5398" cy="770"/>
          </a:xfrm>
        </p:grpSpPr>
        <p:grpSp>
          <p:nvGrpSpPr>
            <p:cNvPr id="83977" name="组合 34823">
              <a:extLst>
                <a:ext uri="{FF2B5EF4-FFF2-40B4-BE49-F238E27FC236}">
                  <a16:creationId xmlns:a16="http://schemas.microsoft.com/office/drawing/2014/main" id="{9F840181-D4BD-43FE-889F-A7934492B8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98" cy="770"/>
              <a:chOff x="0" y="0"/>
              <a:chExt cx="5398" cy="770"/>
            </a:xfrm>
          </p:grpSpPr>
          <p:sp>
            <p:nvSpPr>
              <p:cNvPr id="83980" name="Rectangle 31">
                <a:extLst>
                  <a:ext uri="{FF2B5EF4-FFF2-40B4-BE49-F238E27FC236}">
                    <a16:creationId xmlns:a16="http://schemas.microsoft.com/office/drawing/2014/main" id="{14E8EF71-9ABB-411F-8A36-6DA31F660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4" y="391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OF</a:t>
                </a:r>
              </a:p>
            </p:txBody>
          </p:sp>
          <p:grpSp>
            <p:nvGrpSpPr>
              <p:cNvPr id="83981" name="组合 34825">
                <a:extLst>
                  <a:ext uri="{FF2B5EF4-FFF2-40B4-BE49-F238E27FC236}">
                    <a16:creationId xmlns:a16="http://schemas.microsoft.com/office/drawing/2014/main" id="{B258F11F-9FEB-4BBA-A4A1-1614669953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sp>
              <p:nvSpPr>
                <p:cNvPr id="83982" name="Rectangle 42">
                  <a:extLst>
                    <a:ext uri="{FF2B5EF4-FFF2-40B4-BE49-F238E27FC236}">
                      <a16:creationId xmlns:a16="http://schemas.microsoft.com/office/drawing/2014/main" id="{8A477CA9-0A35-4DBF-9EA1-E9F8FB3A44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1" y="385"/>
                  <a:ext cx="36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solidFill>
                        <a:srgbClr val="FF3300"/>
                      </a:solidFill>
                      <a:latin typeface="Times New Roman" panose="02020603050405020304" pitchFamily="18" charset="0"/>
                    </a:rPr>
                    <a:t>AF</a:t>
                  </a:r>
                </a:p>
              </p:txBody>
            </p:sp>
            <p:grpSp>
              <p:nvGrpSpPr>
                <p:cNvPr id="83983" name="组合 34827">
                  <a:extLst>
                    <a:ext uri="{FF2B5EF4-FFF2-40B4-BE49-F238E27FC236}">
                      <a16:creationId xmlns:a16="http://schemas.microsoft.com/office/drawing/2014/main" id="{F07BA942-DA56-486F-8B5E-A29FB11595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398" cy="770"/>
                  <a:chOff x="0" y="0"/>
                  <a:chExt cx="5398" cy="770"/>
                </a:xfrm>
              </p:grpSpPr>
              <p:grpSp>
                <p:nvGrpSpPr>
                  <p:cNvPr id="83984" name="组合 34828">
                    <a:extLst>
                      <a:ext uri="{FF2B5EF4-FFF2-40B4-BE49-F238E27FC236}">
                        <a16:creationId xmlns:a16="http://schemas.microsoft.com/office/drawing/2014/main" id="{F4B87A59-0929-4096-8F4D-2F688BC7FA0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70" y="0"/>
                    <a:ext cx="4628" cy="770"/>
                    <a:chOff x="0" y="0"/>
                    <a:chExt cx="4628" cy="770"/>
                  </a:xfrm>
                </p:grpSpPr>
                <p:sp>
                  <p:nvSpPr>
                    <p:cNvPr id="83986" name="Text Box 45">
                      <a:extLst>
                        <a:ext uri="{FF2B5EF4-FFF2-40B4-BE49-F238E27FC236}">
                          <a16:creationId xmlns:a16="http://schemas.microsoft.com/office/drawing/2014/main" id="{A0501C56-8AD7-4371-9B70-3F388883BC7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462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15   14  13  12  11  10   9    8    7    6    5    4    3    2    1    0</a:t>
                      </a:r>
                      <a:endParaRPr lang="en-US" altLang="zh-CN" sz="1600" b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grpSp>
                  <p:nvGrpSpPr>
                    <p:cNvPr id="83987" name="组合 34830">
                      <a:extLst>
                        <a:ext uri="{FF2B5EF4-FFF2-40B4-BE49-F238E27FC236}">
                          <a16:creationId xmlns:a16="http://schemas.microsoft.com/office/drawing/2014/main" id="{506C6B54-C1E6-45EB-9BDC-0B75CF49574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7" y="317"/>
                      <a:ext cx="4534" cy="453"/>
                      <a:chOff x="0" y="0"/>
                      <a:chExt cx="4608" cy="789"/>
                    </a:xfrm>
                  </p:grpSpPr>
                  <p:sp>
                    <p:nvSpPr>
                      <p:cNvPr id="83988" name="Rectangle 47">
                        <a:extLst>
                          <a:ext uri="{FF2B5EF4-FFF2-40B4-BE49-F238E27FC236}">
                            <a16:creationId xmlns:a16="http://schemas.microsoft.com/office/drawing/2014/main" id="{920B01CD-67BD-4F92-A994-C79D8F91D80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89" name="Rectangle 48">
                        <a:extLst>
                          <a:ext uri="{FF2B5EF4-FFF2-40B4-BE49-F238E27FC236}">
                            <a16:creationId xmlns:a16="http://schemas.microsoft.com/office/drawing/2014/main" id="{C1C3619F-DBBE-4EFC-9CA0-FEF99441CC4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0" name="Rectangle 49">
                        <a:extLst>
                          <a:ext uri="{FF2B5EF4-FFF2-40B4-BE49-F238E27FC236}">
                            <a16:creationId xmlns:a16="http://schemas.microsoft.com/office/drawing/2014/main" id="{772129DC-4111-463B-B978-EAD025FDCC2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7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1" name="Rectangle 50">
                        <a:extLst>
                          <a:ext uri="{FF2B5EF4-FFF2-40B4-BE49-F238E27FC236}">
                            <a16:creationId xmlns:a16="http://schemas.microsoft.com/office/drawing/2014/main" id="{845B39DC-007F-4AB2-930D-C08F551CA31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6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2" name="Rectangle 51">
                        <a:extLst>
                          <a:ext uri="{FF2B5EF4-FFF2-40B4-BE49-F238E27FC236}">
                            <a16:creationId xmlns:a16="http://schemas.microsoft.com/office/drawing/2014/main" id="{F5A9B0D2-C32E-4266-A98F-E9B82497244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5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3" name="Rectangle 52">
                        <a:extLst>
                          <a:ext uri="{FF2B5EF4-FFF2-40B4-BE49-F238E27FC236}">
                            <a16:creationId xmlns:a16="http://schemas.microsoft.com/office/drawing/2014/main" id="{853EE4A5-DEF0-4985-BEC8-529B8784FD7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44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4" name="Rectangle 53">
                        <a:extLst>
                          <a:ext uri="{FF2B5EF4-FFF2-40B4-BE49-F238E27FC236}">
                            <a16:creationId xmlns:a16="http://schemas.microsoft.com/office/drawing/2014/main" id="{58481003-2B70-4F10-8191-D0C9EC55061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2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5" name="Rectangle 54">
                        <a:extLst>
                          <a:ext uri="{FF2B5EF4-FFF2-40B4-BE49-F238E27FC236}">
                            <a16:creationId xmlns:a16="http://schemas.microsoft.com/office/drawing/2014/main" id="{D602FE2E-9B31-4F21-8F43-911F19AF97B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1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6" name="Rectangle 55">
                        <a:extLst>
                          <a:ext uri="{FF2B5EF4-FFF2-40B4-BE49-F238E27FC236}">
                            <a16:creationId xmlns:a16="http://schemas.microsoft.com/office/drawing/2014/main" id="{17151D9A-6D52-4542-A69B-CE665CE23C6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0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7" name="Rectangle 56">
                        <a:extLst>
                          <a:ext uri="{FF2B5EF4-FFF2-40B4-BE49-F238E27FC236}">
                            <a16:creationId xmlns:a16="http://schemas.microsoft.com/office/drawing/2014/main" id="{CD13A04F-E01C-4817-9E9B-A048ECAD3B6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9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8" name="Rectangle 57">
                        <a:extLst>
                          <a:ext uri="{FF2B5EF4-FFF2-40B4-BE49-F238E27FC236}">
                            <a16:creationId xmlns:a16="http://schemas.microsoft.com/office/drawing/2014/main" id="{F564E2B5-7FB8-44E8-A2E1-86F4EE666CA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9" name="Rectangle 58">
                        <a:extLst>
                          <a:ext uri="{FF2B5EF4-FFF2-40B4-BE49-F238E27FC236}">
                            <a16:creationId xmlns:a16="http://schemas.microsoft.com/office/drawing/2014/main" id="{B824C11B-F3B3-4D53-85DC-02D39DB7AF9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4000" name="Rectangle 59">
                        <a:extLst>
                          <a:ext uri="{FF2B5EF4-FFF2-40B4-BE49-F238E27FC236}">
                            <a16:creationId xmlns:a16="http://schemas.microsoft.com/office/drawing/2014/main" id="{50E735E2-733C-44E4-AD4A-8370E275525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5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4001" name="Rectangle 60">
                        <a:extLst>
                          <a:ext uri="{FF2B5EF4-FFF2-40B4-BE49-F238E27FC236}">
                            <a16:creationId xmlns:a16="http://schemas.microsoft.com/office/drawing/2014/main" id="{A3C927E6-CED9-4410-9F93-7C87890A50C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4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4002" name="Rectangle 61">
                        <a:extLst>
                          <a:ext uri="{FF2B5EF4-FFF2-40B4-BE49-F238E27FC236}">
                            <a16:creationId xmlns:a16="http://schemas.microsoft.com/office/drawing/2014/main" id="{B76991A4-6ACD-4335-8836-EBC74E0F810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3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4003" name="Rectangle 62">
                        <a:extLst>
                          <a:ext uri="{FF2B5EF4-FFF2-40B4-BE49-F238E27FC236}">
                            <a16:creationId xmlns:a16="http://schemas.microsoft.com/office/drawing/2014/main" id="{D9ABBF08-B429-472C-8817-FEA4E4B0049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4004" name="Rectangle 63">
                        <a:extLst>
                          <a:ext uri="{FF2B5EF4-FFF2-40B4-BE49-F238E27FC236}">
                            <a16:creationId xmlns:a16="http://schemas.microsoft.com/office/drawing/2014/main" id="{355B51D9-8C0D-4C53-A772-98DD7DCEF60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4005" name="Rectangle 64">
                        <a:extLst>
                          <a:ext uri="{FF2B5EF4-FFF2-40B4-BE49-F238E27FC236}">
                            <a16:creationId xmlns:a16="http://schemas.microsoft.com/office/drawing/2014/main" id="{C6413867-F93B-40E3-81F4-19C3F0580F1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algn="ctr">
                          <a:spcBef>
                            <a:spcPct val="5000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r>
                          <a:rPr lang="en-US" altLang="zh-CN" sz="2400" b="0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rPr>
                          <a:t>CF</a:t>
                        </a:r>
                        <a:endParaRPr lang="en-US" altLang="zh-CN" sz="1600" b="0">
                          <a:latin typeface="Times New Roman" panose="02020603050405020304" pitchFamily="18" charset="0"/>
                          <a:ea typeface="楷体_GB2312" pitchFamily="49" charset="-122"/>
                        </a:endParaRPr>
                      </a:p>
                    </p:txBody>
                  </p:sp>
                </p:grpSp>
              </p:grpSp>
              <p:sp>
                <p:nvSpPr>
                  <p:cNvPr id="83985" name="Rectangle 65">
                    <a:extLst>
                      <a:ext uri="{FF2B5EF4-FFF2-40B4-BE49-F238E27FC236}">
                        <a16:creationId xmlns:a16="http://schemas.microsoft.com/office/drawing/2014/main" id="{0EA83AEE-E69F-4C71-B008-2E87E24491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40"/>
                    <a:ext cx="742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>
                        <a:latin typeface="Garamond" panose="02020404030301010803" pitchFamily="18" charset="0"/>
                      </a:rPr>
                      <a:t>FLAG</a:t>
                    </a:r>
                    <a:r>
                      <a:rPr lang="en-US" altLang="zh-CN" sz="1800" b="0">
                        <a:latin typeface="Garamond" panose="02020404030301010803" pitchFamily="18" charset="0"/>
                      </a:rPr>
                      <a:t> </a:t>
                    </a:r>
                    <a:endParaRPr lang="zh-CN" altLang="en-US" sz="1800" b="0">
                      <a:latin typeface="Garamond" panose="02020404030301010803" pitchFamily="18" charset="0"/>
                    </a:endParaRPr>
                  </a:p>
                </p:txBody>
              </p:sp>
            </p:grpSp>
          </p:grpSp>
        </p:grpSp>
        <p:sp>
          <p:nvSpPr>
            <p:cNvPr id="83978" name="Rectangle 96">
              <a:extLst>
                <a:ext uri="{FF2B5EF4-FFF2-40B4-BE49-F238E27FC236}">
                  <a16:creationId xmlns:a16="http://schemas.microsoft.com/office/drawing/2014/main" id="{E2B7A44D-3D65-47B6-A84D-D675BEBE8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385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SF</a:t>
              </a:r>
            </a:p>
          </p:txBody>
        </p:sp>
        <p:sp>
          <p:nvSpPr>
            <p:cNvPr id="83979" name="Rectangle 97">
              <a:extLst>
                <a:ext uri="{FF2B5EF4-FFF2-40B4-BE49-F238E27FC236}">
                  <a16:creationId xmlns:a16="http://schemas.microsoft.com/office/drawing/2014/main" id="{9951055F-D0CF-4CEA-9AE7-48294105C40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57" y="385"/>
              <a:ext cx="3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ZF</a:t>
              </a:r>
            </a:p>
          </p:txBody>
        </p:sp>
      </p:grpSp>
      <p:sp>
        <p:nvSpPr>
          <p:cNvPr id="43044" name="灯片编号占位符 1">
            <a:extLst>
              <a:ext uri="{FF2B5EF4-FFF2-40B4-BE49-F238E27FC236}">
                <a16:creationId xmlns:a16="http://schemas.microsoft.com/office/drawing/2014/main" id="{7704FC58-8B7A-4380-B92E-371CD8DA4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8CBE4B6A-B64A-4C09-AD88-821964D61055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32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19" grpId="0" animBg="1"/>
      <p:bldP spid="34821" grpId="0" bldLvl="0" animBg="1"/>
      <p:bldP spid="34822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8">
            <a:extLst>
              <a:ext uri="{FF2B5EF4-FFF2-40B4-BE49-F238E27FC236}">
                <a16:creationId xmlns:a16="http://schemas.microsoft.com/office/drawing/2014/main" id="{E11DA40D-EDD2-43C2-8951-5804C85CB36F}"/>
              </a:ext>
            </a:extLst>
          </p:cNvPr>
          <p:cNvSpPr txBox="1"/>
          <p:nvPr/>
        </p:nvSpPr>
        <p:spPr>
          <a:xfrm>
            <a:off x="822325" y="1184275"/>
            <a:ext cx="7499350" cy="360203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判断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OF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标志有两种方法：</a:t>
            </a:r>
            <a:endParaRPr lang="zh-CN" altLang="en-US" sz="2400" noProof="1">
              <a:solidFill>
                <a:schemeClr val="tx2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1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）转换为真值进行运算，判断结果是否在</a:t>
            </a:r>
            <a:endParaRPr lang="zh-CN" altLang="en-US" sz="2400" noProof="1">
              <a:solidFill>
                <a:schemeClr val="tx2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x-none" sz="24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</a:rPr>
              <a:t>	(-128~127,-32768~32767) </a:t>
            </a:r>
            <a:r>
              <a:rPr lang="en-US" altLang="x-none" sz="2400" noProof="1">
                <a:solidFill>
                  <a:srgbClr val="800000"/>
                </a:solidFill>
                <a:latin typeface="Times New Roman" panose="02020603050405020304" pitchFamily="2" charset="0"/>
                <a:cs typeface="+mn-ea"/>
              </a:rPr>
              <a:t>  </a:t>
            </a:r>
            <a:r>
              <a:rPr lang="zh-CN" altLang="en-US" sz="2400" noProof="1">
                <a:solidFill>
                  <a:srgbClr val="800000"/>
                </a:solidFill>
                <a:latin typeface="Times New Roman" panose="02020603050405020304" pitchFamily="2" charset="0"/>
                <a:cs typeface="+mn-ea"/>
              </a:rPr>
              <a:t>之间</a:t>
            </a:r>
            <a:endParaRPr lang="zh-CN" altLang="en-US" sz="2400" noProof="1">
              <a:solidFill>
                <a:srgbClr val="800000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2）用</a:t>
            </a:r>
            <a:r>
              <a:rPr lang="zh-CN" altLang="en-US" sz="2400" noProof="1">
                <a:solidFill>
                  <a:srgbClr val="FF0000"/>
                </a:solidFill>
                <a:latin typeface="Times New Roman" panose="02020603050405020304" pitchFamily="2" charset="0"/>
                <a:cs typeface="+mn-ea"/>
              </a:rPr>
              <a:t>最高位次高位的进位关系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判断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       如：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FAH+FBH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               1)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 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-6+(-5)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 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=-11         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不溢出，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OF=0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               2)11111010B+11111011B     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明显次高位和最高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					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位都有进位，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OF=0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 </a:t>
            </a:r>
            <a:r>
              <a:rPr lang="en-US" altLang="x-none" sz="2400" noProof="1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        </a:t>
            </a:r>
            <a:endParaRPr lang="en-US" altLang="x-none" sz="2400" noProof="1">
              <a:solidFill>
                <a:srgbClr val="8000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</a:endParaRPr>
          </a:p>
        </p:txBody>
      </p:sp>
      <p:sp>
        <p:nvSpPr>
          <p:cNvPr id="84995" name="Rectangle 32">
            <a:extLst>
              <a:ext uri="{FF2B5EF4-FFF2-40B4-BE49-F238E27FC236}">
                <a16:creationId xmlns:a16="http://schemas.microsoft.com/office/drawing/2014/main" id="{75A85423-B2F6-4749-B996-5469D351B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60350"/>
            <a:ext cx="48244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(6)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溢出控制标志位（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grpSp>
        <p:nvGrpSpPr>
          <p:cNvPr id="34823" name="组合 34822">
            <a:extLst>
              <a:ext uri="{FF2B5EF4-FFF2-40B4-BE49-F238E27FC236}">
                <a16:creationId xmlns:a16="http://schemas.microsoft.com/office/drawing/2014/main" id="{8F863B72-1D22-4554-8CBA-FBBA2C309D97}"/>
              </a:ext>
            </a:extLst>
          </p:cNvPr>
          <p:cNvGrpSpPr>
            <a:grpSpLocks/>
          </p:cNvGrpSpPr>
          <p:nvPr/>
        </p:nvGrpSpPr>
        <p:grpSpPr bwMode="auto">
          <a:xfrm>
            <a:off x="138113" y="4727575"/>
            <a:ext cx="8569325" cy="1222375"/>
            <a:chOff x="0" y="0"/>
            <a:chExt cx="5398" cy="770"/>
          </a:xfrm>
        </p:grpSpPr>
        <p:grpSp>
          <p:nvGrpSpPr>
            <p:cNvPr id="84999" name="组合 34823">
              <a:extLst>
                <a:ext uri="{FF2B5EF4-FFF2-40B4-BE49-F238E27FC236}">
                  <a16:creationId xmlns:a16="http://schemas.microsoft.com/office/drawing/2014/main" id="{2C2229CA-047D-49E3-8021-EC5E98985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98" cy="770"/>
              <a:chOff x="0" y="0"/>
              <a:chExt cx="5398" cy="770"/>
            </a:xfrm>
          </p:grpSpPr>
          <p:sp>
            <p:nvSpPr>
              <p:cNvPr id="85002" name="Rectangle 31">
                <a:extLst>
                  <a:ext uri="{FF2B5EF4-FFF2-40B4-BE49-F238E27FC236}">
                    <a16:creationId xmlns:a16="http://schemas.microsoft.com/office/drawing/2014/main" id="{84B7C14C-1134-4C71-B989-FAA6E9A4D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4" y="391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OF</a:t>
                </a:r>
              </a:p>
            </p:txBody>
          </p:sp>
          <p:grpSp>
            <p:nvGrpSpPr>
              <p:cNvPr id="85003" name="组合 34825">
                <a:extLst>
                  <a:ext uri="{FF2B5EF4-FFF2-40B4-BE49-F238E27FC236}">
                    <a16:creationId xmlns:a16="http://schemas.microsoft.com/office/drawing/2014/main" id="{E59190ED-6B53-4A89-9DCE-C4D47107A2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sp>
              <p:nvSpPr>
                <p:cNvPr id="85004" name="Rectangle 42">
                  <a:extLst>
                    <a:ext uri="{FF2B5EF4-FFF2-40B4-BE49-F238E27FC236}">
                      <a16:creationId xmlns:a16="http://schemas.microsoft.com/office/drawing/2014/main" id="{9DA6F1C6-B815-4D61-BA51-1DE497A291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1" y="385"/>
                  <a:ext cx="36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solidFill>
                        <a:srgbClr val="FF3300"/>
                      </a:solidFill>
                      <a:latin typeface="Times New Roman" panose="02020603050405020304" pitchFamily="18" charset="0"/>
                    </a:rPr>
                    <a:t>AF</a:t>
                  </a:r>
                </a:p>
              </p:txBody>
            </p:sp>
            <p:grpSp>
              <p:nvGrpSpPr>
                <p:cNvPr id="85005" name="组合 34827">
                  <a:extLst>
                    <a:ext uri="{FF2B5EF4-FFF2-40B4-BE49-F238E27FC236}">
                      <a16:creationId xmlns:a16="http://schemas.microsoft.com/office/drawing/2014/main" id="{3863E448-B472-4667-B8FE-113E9F7B512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398" cy="770"/>
                  <a:chOff x="0" y="0"/>
                  <a:chExt cx="5398" cy="770"/>
                </a:xfrm>
              </p:grpSpPr>
              <p:grpSp>
                <p:nvGrpSpPr>
                  <p:cNvPr id="85006" name="组合 34828">
                    <a:extLst>
                      <a:ext uri="{FF2B5EF4-FFF2-40B4-BE49-F238E27FC236}">
                        <a16:creationId xmlns:a16="http://schemas.microsoft.com/office/drawing/2014/main" id="{D5904A40-BA06-4092-9DEA-82422CA2631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70" y="0"/>
                    <a:ext cx="4628" cy="770"/>
                    <a:chOff x="0" y="0"/>
                    <a:chExt cx="4628" cy="770"/>
                  </a:xfrm>
                </p:grpSpPr>
                <p:sp>
                  <p:nvSpPr>
                    <p:cNvPr id="85008" name="Text Box 45">
                      <a:extLst>
                        <a:ext uri="{FF2B5EF4-FFF2-40B4-BE49-F238E27FC236}">
                          <a16:creationId xmlns:a16="http://schemas.microsoft.com/office/drawing/2014/main" id="{3AE605EB-AC0A-480D-BD57-FF11DF00B9B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462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15   14  13  12  11  10   9    8    7    6    5    4    3    2    1    0</a:t>
                      </a:r>
                      <a:endParaRPr lang="en-US" altLang="zh-CN" sz="1600" b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grpSp>
                  <p:nvGrpSpPr>
                    <p:cNvPr id="85009" name="组合 34830">
                      <a:extLst>
                        <a:ext uri="{FF2B5EF4-FFF2-40B4-BE49-F238E27FC236}">
                          <a16:creationId xmlns:a16="http://schemas.microsoft.com/office/drawing/2014/main" id="{93564424-E1BB-42D1-B4B4-51ACB8B7542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7" y="317"/>
                      <a:ext cx="4534" cy="453"/>
                      <a:chOff x="0" y="0"/>
                      <a:chExt cx="4608" cy="789"/>
                    </a:xfrm>
                  </p:grpSpPr>
                  <p:sp>
                    <p:nvSpPr>
                      <p:cNvPr id="85010" name="Rectangle 47">
                        <a:extLst>
                          <a:ext uri="{FF2B5EF4-FFF2-40B4-BE49-F238E27FC236}">
                            <a16:creationId xmlns:a16="http://schemas.microsoft.com/office/drawing/2014/main" id="{06137DFB-5927-4E2C-83F1-6276607CDF4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1" name="Rectangle 48">
                        <a:extLst>
                          <a:ext uri="{FF2B5EF4-FFF2-40B4-BE49-F238E27FC236}">
                            <a16:creationId xmlns:a16="http://schemas.microsoft.com/office/drawing/2014/main" id="{D3487855-60F6-40A6-8CCE-45A0EFEC18B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2" name="Rectangle 49">
                        <a:extLst>
                          <a:ext uri="{FF2B5EF4-FFF2-40B4-BE49-F238E27FC236}">
                            <a16:creationId xmlns:a16="http://schemas.microsoft.com/office/drawing/2014/main" id="{1E6AAE81-8412-41B8-8A59-3C481135C7B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7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3" name="Rectangle 50">
                        <a:extLst>
                          <a:ext uri="{FF2B5EF4-FFF2-40B4-BE49-F238E27FC236}">
                            <a16:creationId xmlns:a16="http://schemas.microsoft.com/office/drawing/2014/main" id="{1A616FCE-DF1D-4915-8D9E-6803FEF36A3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6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4" name="Rectangle 51">
                        <a:extLst>
                          <a:ext uri="{FF2B5EF4-FFF2-40B4-BE49-F238E27FC236}">
                            <a16:creationId xmlns:a16="http://schemas.microsoft.com/office/drawing/2014/main" id="{F9703190-CEA9-4879-B5AA-9C4687818EA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5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5" name="Rectangle 52">
                        <a:extLst>
                          <a:ext uri="{FF2B5EF4-FFF2-40B4-BE49-F238E27FC236}">
                            <a16:creationId xmlns:a16="http://schemas.microsoft.com/office/drawing/2014/main" id="{291F51A3-C0F4-4621-9A4C-4B4A957DBC5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44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6" name="Rectangle 53">
                        <a:extLst>
                          <a:ext uri="{FF2B5EF4-FFF2-40B4-BE49-F238E27FC236}">
                            <a16:creationId xmlns:a16="http://schemas.microsoft.com/office/drawing/2014/main" id="{4BDA729E-D880-40DB-88C1-10DA535F4D2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2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7" name="Rectangle 54">
                        <a:extLst>
                          <a:ext uri="{FF2B5EF4-FFF2-40B4-BE49-F238E27FC236}">
                            <a16:creationId xmlns:a16="http://schemas.microsoft.com/office/drawing/2014/main" id="{509DFB6A-D61B-436F-9B79-36BEDD66B8E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1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8" name="Rectangle 55">
                        <a:extLst>
                          <a:ext uri="{FF2B5EF4-FFF2-40B4-BE49-F238E27FC236}">
                            <a16:creationId xmlns:a16="http://schemas.microsoft.com/office/drawing/2014/main" id="{6E21ECAD-CC28-4D90-8F95-A11A2BBDD3A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0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9" name="Rectangle 56">
                        <a:extLst>
                          <a:ext uri="{FF2B5EF4-FFF2-40B4-BE49-F238E27FC236}">
                            <a16:creationId xmlns:a16="http://schemas.microsoft.com/office/drawing/2014/main" id="{FE72C233-ADF7-4080-8F8F-927EE530C29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9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0" name="Rectangle 57">
                        <a:extLst>
                          <a:ext uri="{FF2B5EF4-FFF2-40B4-BE49-F238E27FC236}">
                            <a16:creationId xmlns:a16="http://schemas.microsoft.com/office/drawing/2014/main" id="{91994E82-1C2C-437D-B88B-B93378AF936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1" name="Rectangle 58">
                        <a:extLst>
                          <a:ext uri="{FF2B5EF4-FFF2-40B4-BE49-F238E27FC236}">
                            <a16:creationId xmlns:a16="http://schemas.microsoft.com/office/drawing/2014/main" id="{16D7CE40-E672-4466-8084-C96A27BDCF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2" name="Rectangle 59">
                        <a:extLst>
                          <a:ext uri="{FF2B5EF4-FFF2-40B4-BE49-F238E27FC236}">
                            <a16:creationId xmlns:a16="http://schemas.microsoft.com/office/drawing/2014/main" id="{97CB1C33-5D25-470B-AF3D-840E1947EC0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5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3" name="Rectangle 60">
                        <a:extLst>
                          <a:ext uri="{FF2B5EF4-FFF2-40B4-BE49-F238E27FC236}">
                            <a16:creationId xmlns:a16="http://schemas.microsoft.com/office/drawing/2014/main" id="{69AF5D20-B066-40B0-946B-4CCE6E2E2E1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4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4" name="Rectangle 61">
                        <a:extLst>
                          <a:ext uri="{FF2B5EF4-FFF2-40B4-BE49-F238E27FC236}">
                            <a16:creationId xmlns:a16="http://schemas.microsoft.com/office/drawing/2014/main" id="{57BC57AD-5215-4DB1-AC29-B03109B43CE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3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5" name="Rectangle 62">
                        <a:extLst>
                          <a:ext uri="{FF2B5EF4-FFF2-40B4-BE49-F238E27FC236}">
                            <a16:creationId xmlns:a16="http://schemas.microsoft.com/office/drawing/2014/main" id="{336BEA49-C545-419F-95F1-112F8EC3FC0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6" name="Rectangle 63">
                        <a:extLst>
                          <a:ext uri="{FF2B5EF4-FFF2-40B4-BE49-F238E27FC236}">
                            <a16:creationId xmlns:a16="http://schemas.microsoft.com/office/drawing/2014/main" id="{AC8EC4F3-F483-4C36-975B-0F873B71A02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7" name="Rectangle 64">
                        <a:extLst>
                          <a:ext uri="{FF2B5EF4-FFF2-40B4-BE49-F238E27FC236}">
                            <a16:creationId xmlns:a16="http://schemas.microsoft.com/office/drawing/2014/main" id="{96B01EE8-1022-41D7-B314-B4570915C98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algn="ctr">
                          <a:spcBef>
                            <a:spcPct val="5000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r>
                          <a:rPr lang="en-US" altLang="zh-CN" sz="2400" b="0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rPr>
                          <a:t>CF</a:t>
                        </a:r>
                        <a:endParaRPr lang="en-US" altLang="zh-CN" sz="1600" b="0">
                          <a:latin typeface="Times New Roman" panose="02020603050405020304" pitchFamily="18" charset="0"/>
                          <a:ea typeface="楷体_GB2312" pitchFamily="49" charset="-122"/>
                        </a:endParaRPr>
                      </a:p>
                    </p:txBody>
                  </p:sp>
                </p:grpSp>
              </p:grpSp>
              <p:sp>
                <p:nvSpPr>
                  <p:cNvPr id="85007" name="Rectangle 65">
                    <a:extLst>
                      <a:ext uri="{FF2B5EF4-FFF2-40B4-BE49-F238E27FC236}">
                        <a16:creationId xmlns:a16="http://schemas.microsoft.com/office/drawing/2014/main" id="{2B5D9E2F-ADCC-4575-97A0-E92C635C30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40"/>
                    <a:ext cx="742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>
                        <a:latin typeface="Garamond" panose="02020404030301010803" pitchFamily="18" charset="0"/>
                      </a:rPr>
                      <a:t>FLAG</a:t>
                    </a:r>
                    <a:r>
                      <a:rPr lang="en-US" altLang="zh-CN" sz="1800" b="0">
                        <a:latin typeface="Garamond" panose="02020404030301010803" pitchFamily="18" charset="0"/>
                      </a:rPr>
                      <a:t> </a:t>
                    </a:r>
                    <a:endParaRPr lang="zh-CN" altLang="en-US" sz="1800" b="0">
                      <a:latin typeface="Garamond" panose="02020404030301010803" pitchFamily="18" charset="0"/>
                    </a:endParaRPr>
                  </a:p>
                </p:txBody>
              </p:sp>
            </p:grpSp>
          </p:grpSp>
        </p:grpSp>
        <p:sp>
          <p:nvSpPr>
            <p:cNvPr id="85000" name="Rectangle 96">
              <a:extLst>
                <a:ext uri="{FF2B5EF4-FFF2-40B4-BE49-F238E27FC236}">
                  <a16:creationId xmlns:a16="http://schemas.microsoft.com/office/drawing/2014/main" id="{5C301307-06F3-434C-A6B9-22BC8D0C6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385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SF</a:t>
              </a:r>
            </a:p>
          </p:txBody>
        </p:sp>
        <p:sp>
          <p:nvSpPr>
            <p:cNvPr id="85001" name="Rectangle 97">
              <a:extLst>
                <a:ext uri="{FF2B5EF4-FFF2-40B4-BE49-F238E27FC236}">
                  <a16:creationId xmlns:a16="http://schemas.microsoft.com/office/drawing/2014/main" id="{AF06E8D9-C63D-4726-8604-183D1827EA3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57" y="385"/>
              <a:ext cx="3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ZF</a:t>
              </a:r>
            </a:p>
          </p:txBody>
        </p:sp>
      </p:grpSp>
      <p:sp>
        <p:nvSpPr>
          <p:cNvPr id="44065" name="灯片编号占位符 1">
            <a:extLst>
              <a:ext uri="{FF2B5EF4-FFF2-40B4-BE49-F238E27FC236}">
                <a16:creationId xmlns:a16="http://schemas.microsoft.com/office/drawing/2014/main" id="{49425FF9-8611-48FB-AA03-9CB51D6979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AF98B85-0F9C-4F4F-8450-83965C97F2B8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33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4822" name="Rectangle 68">
            <a:extLst>
              <a:ext uri="{FF2B5EF4-FFF2-40B4-BE49-F238E27FC236}">
                <a16:creationId xmlns:a16="http://schemas.microsoft.com/office/drawing/2014/main" id="{CE3BF121-7566-403A-8409-29E04093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" y="6018213"/>
            <a:ext cx="7227888" cy="6477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Garamond" panose="02020404030301010803" pitchFamily="18" charset="0"/>
                <a:ea typeface="楷体_GB2312" pitchFamily="49" charset="-122"/>
              </a:rPr>
              <a:t>为什么</a:t>
            </a:r>
            <a:r>
              <a:rPr lang="en-US" altLang="zh-CN" sz="2400">
                <a:latin typeface="Garamond" panose="02020404030301010803" pitchFamily="18" charset="0"/>
                <a:ea typeface="楷体_GB2312" pitchFamily="49" charset="-122"/>
              </a:rPr>
              <a:t>OF</a:t>
            </a:r>
            <a:r>
              <a:rPr lang="zh-CN" altLang="en-US" sz="2400">
                <a:latin typeface="Garamond" panose="02020404030301010803" pitchFamily="18" charset="0"/>
                <a:ea typeface="楷体_GB2312" pitchFamily="49" charset="-122"/>
              </a:rPr>
              <a:t>标志就把运算的两个数当作带符号数呢？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22" grpId="0" bldLvl="0" animBg="1"/>
      <p:bldP spid="34822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内容占位符 2">
            <a:extLst>
              <a:ext uri="{FF2B5EF4-FFF2-40B4-BE49-F238E27FC236}">
                <a16:creationId xmlns:a16="http://schemas.microsoft.com/office/drawing/2014/main" id="{2868AFDF-0093-4411-B932-FE4B78616A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0050" y="1225550"/>
            <a:ext cx="8372475" cy="9144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3300">
                <a:solidFill>
                  <a:srgbClr val="C00000"/>
                </a:solidFill>
                <a:ea typeface="宋体" panose="02010600030101010101" pitchFamily="2" charset="-122"/>
              </a:rPr>
              <a:t>例</a:t>
            </a:r>
            <a:r>
              <a:rPr lang="en-US" altLang="en-US" sz="3300">
                <a:solidFill>
                  <a:srgbClr val="C00000"/>
                </a:solidFill>
              </a:rPr>
              <a:t>2.2  </a:t>
            </a:r>
            <a:r>
              <a:rPr lang="zh-CN" altLang="en-US" sz="2600">
                <a:ea typeface="宋体" panose="02010600030101010101" pitchFamily="2" charset="-122"/>
              </a:rPr>
              <a:t>两个带符号数（</a:t>
            </a:r>
            <a:r>
              <a:rPr lang="en-US" altLang="en-US" sz="2600"/>
              <a:t>+105+50=155</a:t>
            </a:r>
            <a:r>
              <a:rPr lang="zh-CN" altLang="en-US" sz="2600">
                <a:ea typeface="宋体" panose="02010600030101010101" pitchFamily="2" charset="-122"/>
              </a:rPr>
              <a:t>）相加，如何影响各标志位？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C248C46-0EDB-4D44-818C-347741BB201E}"/>
              </a:ext>
            </a:extLst>
          </p:cNvPr>
          <p:cNvSpPr txBox="1"/>
          <p:nvPr/>
        </p:nvSpPr>
        <p:spPr bwMode="auto">
          <a:xfrm>
            <a:off x="400050" y="3140075"/>
            <a:ext cx="8372475" cy="2549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200" noProof="1">
                <a:latin typeface="+mn-lt"/>
                <a:ea typeface="华文中宋" panose="02010600040101010101" pitchFamily="2" charset="-122"/>
                <a:cs typeface="+mn-ea"/>
              </a:rPr>
              <a:t> 运算后各标志位状态如下：</a:t>
            </a:r>
            <a:endParaRPr lang="zh-CN" altLang="en-US" sz="2200" noProof="1">
              <a:latin typeface="+mn-lt"/>
              <a:ea typeface="华文中宋" panose="0201060004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00" noProof="1">
                <a:latin typeface="+mn-lt"/>
                <a:ea typeface="华文中宋" panose="02010600040101010101" pitchFamily="2" charset="-122"/>
                <a:cs typeface="+mn-ea"/>
              </a:rPr>
              <a:t>    </a:t>
            </a: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CF=0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，无进位</a:t>
            </a:r>
            <a:r>
              <a:rPr lang="en-US" altLang="zh-CN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		</a:t>
            </a: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PF=0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，</a:t>
            </a:r>
            <a:r>
              <a:rPr lang="en-US" altLang="zh-CN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8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位运算，结果有奇数个</a:t>
            </a: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1</a:t>
            </a:r>
            <a:endParaRPr lang="zh-CN" altLang="en-US" sz="2200" noProof="1">
              <a:solidFill>
                <a:srgbClr val="FF66FF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    AF=0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，无半进位</a:t>
            </a:r>
            <a:r>
              <a:rPr lang="en-US" altLang="zh-CN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		</a:t>
            </a: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ZF=0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，结果非</a:t>
            </a: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0</a:t>
            </a:r>
            <a:endParaRPr lang="zh-CN" altLang="en-US" sz="2200" noProof="1">
              <a:solidFill>
                <a:srgbClr val="FF66FF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    SF =1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，结果为负数</a:t>
            </a:r>
            <a:endParaRPr lang="zh-CN" altLang="en-US" sz="2200" noProof="1">
              <a:solidFill>
                <a:srgbClr val="FF66FF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    OF=1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，溢出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       方法</a:t>
            </a:r>
            <a:r>
              <a:rPr lang="en-US" altLang="zh-CN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1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：</a:t>
            </a:r>
            <a:r>
              <a:rPr lang="zh-CN" altLang="en-US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</a:rPr>
              <a:t>两个正数相加，结果变成了负数</a:t>
            </a:r>
            <a:r>
              <a:rPr lang="en-US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</a:rPr>
              <a:t>-101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</a:rPr>
              <a:t>       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方法2：</a:t>
            </a:r>
            <a:r>
              <a:rPr lang="zh-CN" altLang="en-US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次高位有进位，最高位没进位</a:t>
            </a:r>
            <a:r>
              <a:rPr lang="en-US" altLang="zh-CN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——</a:t>
            </a:r>
            <a:r>
              <a:rPr lang="zh-CN" altLang="en-US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溢出</a:t>
            </a:r>
            <a:endParaRPr lang="en-US" sz="2200" noProof="1">
              <a:solidFill>
                <a:srgbClr val="FF0000"/>
              </a:solidFill>
              <a:latin typeface="+mn-lt"/>
              <a:ea typeface="华文中宋" panose="02010600040101010101" pitchFamily="2" charset="-122"/>
              <a:cs typeface="+mn-ea"/>
            </a:endParaRPr>
          </a:p>
          <a:p>
            <a:pPr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200" noProof="1">
                <a:latin typeface="+mn-lt"/>
                <a:ea typeface="华文中宋" panose="02010600040101010101" pitchFamily="2" charset="-122"/>
                <a:cs typeface="+mn-ea"/>
              </a:rPr>
              <a:t> 如果把数</a:t>
            </a:r>
            <a:r>
              <a:rPr lang="zh-CN" altLang="en-US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</a:rPr>
              <a:t>当成无符号数</a:t>
            </a:r>
            <a:r>
              <a:rPr lang="zh-CN" altLang="en-US" sz="2200" noProof="1">
                <a:latin typeface="+mn-lt"/>
                <a:ea typeface="华文中宋" panose="02010600040101010101" pitchFamily="2" charset="-122"/>
                <a:cs typeface="+mn-ea"/>
              </a:rPr>
              <a:t>，则不考虑</a:t>
            </a:r>
            <a:r>
              <a:rPr lang="en-US" sz="2200" noProof="1">
                <a:latin typeface="+mn-lt"/>
                <a:ea typeface="华文中宋" panose="02010600040101010101" pitchFamily="2" charset="-122"/>
                <a:cs typeface="+mn-ea"/>
              </a:rPr>
              <a:t>SF</a:t>
            </a:r>
            <a:r>
              <a:rPr lang="zh-CN" altLang="en-US" sz="2200" noProof="1">
                <a:latin typeface="+mn-lt"/>
                <a:ea typeface="华文中宋" panose="02010600040101010101" pitchFamily="2" charset="-122"/>
                <a:cs typeface="+mn-ea"/>
              </a:rPr>
              <a:t>和</a:t>
            </a:r>
            <a:r>
              <a:rPr lang="en-US" sz="2200" noProof="1">
                <a:latin typeface="+mn-lt"/>
                <a:ea typeface="华文中宋" panose="02010600040101010101" pitchFamily="2" charset="-122"/>
                <a:cs typeface="+mn-ea"/>
              </a:rPr>
              <a:t>OF</a:t>
            </a:r>
            <a:r>
              <a:rPr lang="zh-CN" altLang="en-US" sz="2200" noProof="1">
                <a:latin typeface="+mn-lt"/>
                <a:ea typeface="华文中宋" panose="02010600040101010101" pitchFamily="2" charset="-122"/>
                <a:cs typeface="+mn-ea"/>
              </a:rPr>
              <a:t>标志，运算结果为</a:t>
            </a:r>
            <a:r>
              <a:rPr lang="en-US" sz="2200" noProof="1">
                <a:latin typeface="+mn-lt"/>
                <a:ea typeface="华文中宋" panose="02010600040101010101" pitchFamily="2" charset="-122"/>
                <a:cs typeface="+mn-ea"/>
              </a:rPr>
              <a:t>155</a:t>
            </a:r>
            <a:r>
              <a:rPr lang="zh-CN" altLang="en-US" sz="2200" noProof="1">
                <a:latin typeface="+mn-lt"/>
                <a:ea typeface="华文中宋" panose="02010600040101010101" pitchFamily="2" charset="-122"/>
                <a:cs typeface="+mn-ea"/>
              </a:rPr>
              <a:t>，是正确的。 </a:t>
            </a:r>
            <a:endParaRPr lang="zh-CN" altLang="en-US" sz="2200" kern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6020" name="Rectangle 2">
            <a:extLst>
              <a:ext uri="{FF2B5EF4-FFF2-40B4-BE49-F238E27FC236}">
                <a16:creationId xmlns:a16="http://schemas.microsoft.com/office/drawing/2014/main" id="{22A976B5-A802-49BA-8F1F-C757E08F3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pic>
        <p:nvPicPr>
          <p:cNvPr id="86021" name="Picture 2">
            <a:extLst>
              <a:ext uri="{FF2B5EF4-FFF2-40B4-BE49-F238E27FC236}">
                <a16:creationId xmlns:a16="http://schemas.microsoft.com/office/drawing/2014/main" id="{78F12354-1A53-41E2-99F3-D9AE283B0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2001838"/>
            <a:ext cx="3562350" cy="121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2" name="Rectangle 32">
            <a:extLst>
              <a:ext uri="{FF2B5EF4-FFF2-40B4-BE49-F238E27FC236}">
                <a16:creationId xmlns:a16="http://schemas.microsoft.com/office/drawing/2014/main" id="{6AAD07D5-7C5C-4F61-AAF0-D5CCBECE4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60350"/>
            <a:ext cx="5140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(*)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标志位判断综合举例一</a:t>
            </a:r>
          </a:p>
        </p:txBody>
      </p:sp>
    </p:spTree>
  </p:cSld>
  <p:clrMapOvr>
    <a:masterClrMapping/>
  </p:clrMapOvr>
  <p:transition spd="slow">
    <p:wheel spokes="2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内容占位符 2">
            <a:extLst>
              <a:ext uri="{FF2B5EF4-FFF2-40B4-BE49-F238E27FC236}">
                <a16:creationId xmlns:a16="http://schemas.microsoft.com/office/drawing/2014/main" id="{669F0BE2-2942-49D7-A83F-7A1B88E6B9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841375"/>
            <a:ext cx="8372475" cy="106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C00000"/>
                </a:solidFill>
                <a:ea typeface="宋体" panose="02010600030101010101" pitchFamily="2" charset="-122"/>
              </a:rPr>
              <a:t>例</a:t>
            </a:r>
            <a:r>
              <a:rPr lang="en-US" altLang="en-US" sz="3600">
                <a:solidFill>
                  <a:srgbClr val="C00000"/>
                </a:solidFill>
              </a:rPr>
              <a:t>2.3   </a:t>
            </a:r>
            <a:r>
              <a:rPr lang="zh-CN" altLang="en-US">
                <a:ea typeface="宋体" panose="02010600030101010101" pitchFamily="2" charset="-122"/>
              </a:rPr>
              <a:t>溢出与自然丢失之间的区别。求（</a:t>
            </a:r>
            <a:r>
              <a:rPr lang="en-US" altLang="en-US"/>
              <a:t>-50</a:t>
            </a:r>
            <a:r>
              <a:rPr lang="zh-CN" altLang="en-US">
                <a:ea typeface="宋体" panose="02010600030101010101" pitchFamily="2" charset="-122"/>
              </a:rPr>
              <a:t>）和（</a:t>
            </a:r>
            <a:r>
              <a:rPr lang="en-US" altLang="en-US"/>
              <a:t>-5</a:t>
            </a:r>
            <a:r>
              <a:rPr lang="zh-CN" altLang="en-US">
                <a:ea typeface="宋体" panose="02010600030101010101" pitchFamily="2" charset="-122"/>
              </a:rPr>
              <a:t>）之和：</a:t>
            </a: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7043" name="内容占位符 2">
            <a:extLst>
              <a:ext uri="{FF2B5EF4-FFF2-40B4-BE49-F238E27FC236}">
                <a16:creationId xmlns:a16="http://schemas.microsoft.com/office/drawing/2014/main" id="{D6297F1C-E07C-482A-A53D-18C5BD296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3562350"/>
            <a:ext cx="8372475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zh-CN" altLang="en-US" sz="2600" dirty="0">
                <a:ea typeface="华文中宋" panose="02010600040101010101" pitchFamily="2" charset="-122"/>
              </a:rPr>
              <a:t>运算结果：两数之和为</a:t>
            </a:r>
            <a:r>
              <a:rPr lang="en-US" altLang="zh-CN" sz="2600" dirty="0">
                <a:ea typeface="华文中宋" panose="02010600040101010101" pitchFamily="2" charset="-122"/>
              </a:rPr>
              <a:t>-55</a:t>
            </a:r>
            <a:r>
              <a:rPr lang="zh-CN" altLang="en-US" sz="2600" dirty="0">
                <a:ea typeface="华文中宋" panose="02010600040101010101" pitchFamily="2" charset="-122"/>
              </a:rPr>
              <a:t>，</a:t>
            </a:r>
            <a:r>
              <a:rPr lang="en-US" altLang="zh-CN" sz="2600" dirty="0">
                <a:ea typeface="华文中宋" panose="02010600040101010101" pitchFamily="2" charset="-122"/>
              </a:rPr>
              <a:t>SF=1</a:t>
            </a:r>
            <a:r>
              <a:rPr lang="zh-CN" altLang="en-US" sz="2600" dirty="0">
                <a:ea typeface="华文中宋" panose="02010600040101010101" pitchFamily="2" charset="-122"/>
              </a:rPr>
              <a:t>（负数），</a:t>
            </a:r>
            <a:r>
              <a:rPr lang="en-US" altLang="zh-CN" sz="2600" dirty="0">
                <a:ea typeface="华文中宋" panose="02010600040101010101" pitchFamily="2" charset="-122"/>
              </a:rPr>
              <a:t>OF=0</a:t>
            </a:r>
            <a:r>
              <a:rPr lang="zh-CN" altLang="en-US" sz="2600" dirty="0">
                <a:ea typeface="华文中宋" panose="02010600040101010101" pitchFamily="2" charset="-122"/>
              </a:rPr>
              <a:t>（无溢出），结果正确。</a:t>
            </a:r>
            <a:endParaRPr lang="en-US" altLang="zh-CN" sz="2600" dirty="0">
              <a:ea typeface="华文中宋" panose="02010600040101010101" pitchFamily="2" charset="-122"/>
            </a:endParaRPr>
          </a:p>
          <a:p>
            <a:pPr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600" dirty="0">
                <a:ea typeface="华文中宋" panose="02010600040101010101" pitchFamily="2" charset="-122"/>
              </a:rPr>
              <a:t> </a:t>
            </a:r>
            <a:r>
              <a:rPr lang="zh-CN" altLang="en-US" sz="2600" dirty="0">
                <a:ea typeface="华文中宋" panose="02010600040101010101" pitchFamily="2" charset="-122"/>
              </a:rPr>
              <a:t>虽然</a:t>
            </a:r>
            <a:r>
              <a:rPr lang="en-US" altLang="zh-CN" sz="2600" dirty="0">
                <a:ea typeface="华文中宋" panose="02010600040101010101" pitchFamily="2" charset="-122"/>
              </a:rPr>
              <a:t>CF=1</a:t>
            </a:r>
            <a:r>
              <a:rPr lang="zh-CN" altLang="en-US" sz="2600" dirty="0">
                <a:ea typeface="华文中宋" panose="02010600040101010101" pitchFamily="2" charset="-122"/>
              </a:rPr>
              <a:t>，但它会</a:t>
            </a:r>
            <a:r>
              <a:rPr lang="zh-CN" altLang="en-US" sz="2600" dirty="0">
                <a:solidFill>
                  <a:srgbClr val="FF0000"/>
                </a:solidFill>
                <a:ea typeface="华文中宋" panose="02010600040101010101" pitchFamily="2" charset="-122"/>
              </a:rPr>
              <a:t>“自然丢失”</a:t>
            </a:r>
            <a:r>
              <a:rPr lang="zh-CN" altLang="en-US" sz="2600" dirty="0">
                <a:ea typeface="华文中宋" panose="02010600040101010101" pitchFamily="2" charset="-122"/>
              </a:rPr>
              <a:t>，带符号数相加时，  判断 </a:t>
            </a:r>
            <a:r>
              <a:rPr lang="en-US" altLang="zh-CN" sz="2600" dirty="0">
                <a:ea typeface="华文中宋" panose="02010600040101010101" pitchFamily="2" charset="-122"/>
              </a:rPr>
              <a:t>CF</a:t>
            </a:r>
            <a:r>
              <a:rPr lang="zh-CN" altLang="en-US" sz="2600" dirty="0">
                <a:ea typeface="华文中宋" panose="02010600040101010101" pitchFamily="2" charset="-122"/>
              </a:rPr>
              <a:t>是否等于</a:t>
            </a:r>
            <a:r>
              <a:rPr lang="en-US" altLang="zh-CN" sz="2600" dirty="0">
                <a:ea typeface="华文中宋" panose="02010600040101010101" pitchFamily="2" charset="-122"/>
              </a:rPr>
              <a:t>1</a:t>
            </a:r>
            <a:r>
              <a:rPr lang="zh-CN" altLang="en-US" sz="2600" dirty="0">
                <a:ea typeface="华文中宋" panose="02010600040101010101" pitchFamily="2" charset="-122"/>
              </a:rPr>
              <a:t>是没有意义的。</a:t>
            </a:r>
            <a:endParaRPr lang="zh-CN" altLang="en-US" sz="2600" dirty="0">
              <a:solidFill>
                <a:srgbClr val="FFFF00"/>
              </a:solidFill>
              <a:ea typeface="华文中宋" panose="02010600040101010101" pitchFamily="2" charset="-122"/>
            </a:endParaRPr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89609A31-F399-4733-8F80-F859ABC41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pic>
        <p:nvPicPr>
          <p:cNvPr id="87045" name="Picture 3">
            <a:extLst>
              <a:ext uri="{FF2B5EF4-FFF2-40B4-BE49-F238E27FC236}">
                <a16:creationId xmlns:a16="http://schemas.microsoft.com/office/drawing/2014/main" id="{9BA55E4F-1D67-4DAE-BAA5-8A266A960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1908175"/>
            <a:ext cx="408940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Rectangle 32">
            <a:extLst>
              <a:ext uri="{FF2B5EF4-FFF2-40B4-BE49-F238E27FC236}">
                <a16:creationId xmlns:a16="http://schemas.microsoft.com/office/drawing/2014/main" id="{082652D0-A7B0-445C-ACE4-0524F737B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60350"/>
            <a:ext cx="5140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(*)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标志位判断综合举例二</a:t>
            </a:r>
          </a:p>
        </p:txBody>
      </p:sp>
    </p:spTree>
  </p:cSld>
  <p:clrMapOvr>
    <a:masterClrMapping/>
  </p:clrMapOvr>
  <p:transition spd="slow">
    <p:strips dir="l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组合 37889">
            <a:extLst>
              <a:ext uri="{FF2B5EF4-FFF2-40B4-BE49-F238E27FC236}">
                <a16:creationId xmlns:a16="http://schemas.microsoft.com/office/drawing/2014/main" id="{B6A34A10-48A0-4222-94AB-18056ED18A2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012825"/>
            <a:ext cx="7945438" cy="1350963"/>
            <a:chOff x="0" y="0"/>
            <a:chExt cx="5005" cy="851"/>
          </a:xfrm>
        </p:grpSpPr>
        <p:sp>
          <p:nvSpPr>
            <p:cNvPr id="88114" name="Rectangle 3">
              <a:extLst>
                <a:ext uri="{FF2B5EF4-FFF2-40B4-BE49-F238E27FC236}">
                  <a16:creationId xmlns:a16="http://schemas.microsoft.com/office/drawing/2014/main" id="{2E6AA412-35D5-4590-A6A8-1682D063E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88115" name="Rectangle 4">
              <a:extLst>
                <a:ext uri="{FF2B5EF4-FFF2-40B4-BE49-F238E27FC236}">
                  <a16:creationId xmlns:a16="http://schemas.microsoft.com/office/drawing/2014/main" id="{9ACDA1A8-F44C-4B4E-98B2-6AB270FB0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" y="64"/>
              <a:ext cx="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88116" name="Rectangle 5">
              <a:extLst>
                <a:ext uri="{FF2B5EF4-FFF2-40B4-BE49-F238E27FC236}">
                  <a16:creationId xmlns:a16="http://schemas.microsoft.com/office/drawing/2014/main" id="{775C6B6B-59B1-4D05-BAC7-04EA86CFC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894" name="Rectangle 6">
              <a:extLst>
                <a:ext uri="{FF2B5EF4-FFF2-40B4-BE49-F238E27FC236}">
                  <a16:creationId xmlns:a16="http://schemas.microsoft.com/office/drawing/2014/main" id="{9DDCDAB6-BEA0-4F70-9D02-DA14D3A522B7}"/>
                </a:ext>
              </a:extLst>
            </p:cNvPr>
            <p:cNvSpPr/>
            <p:nvPr/>
          </p:nvSpPr>
          <p:spPr>
            <a:xfrm>
              <a:off x="1225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18" name="Rectangle 7">
              <a:extLst>
                <a:ext uri="{FF2B5EF4-FFF2-40B4-BE49-F238E27FC236}">
                  <a16:creationId xmlns:a16="http://schemas.microsoft.com/office/drawing/2014/main" id="{84401999-A1D9-4FA6-B15F-A494022FF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896" name="Rectangle 8">
              <a:extLst>
                <a:ext uri="{FF2B5EF4-FFF2-40B4-BE49-F238E27FC236}">
                  <a16:creationId xmlns:a16="http://schemas.microsoft.com/office/drawing/2014/main" id="{E1B92833-CE71-4338-BEBC-E9EAE862D4A4}"/>
                </a:ext>
              </a:extLst>
            </p:cNvPr>
            <p:cNvSpPr/>
            <p:nvPr/>
          </p:nvSpPr>
          <p:spPr>
            <a:xfrm>
              <a:off x="1513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20" name="Rectangle 9">
              <a:extLst>
                <a:ext uri="{FF2B5EF4-FFF2-40B4-BE49-F238E27FC236}">
                  <a16:creationId xmlns:a16="http://schemas.microsoft.com/office/drawing/2014/main" id="{FDACE25A-821C-46FB-9F94-FABFFC8A4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4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898" name="Rectangle 10">
              <a:extLst>
                <a:ext uri="{FF2B5EF4-FFF2-40B4-BE49-F238E27FC236}">
                  <a16:creationId xmlns:a16="http://schemas.microsoft.com/office/drawing/2014/main" id="{258333F9-65DF-4D38-9E6D-53D2EA62CCDF}"/>
                </a:ext>
              </a:extLst>
            </p:cNvPr>
            <p:cNvSpPr/>
            <p:nvPr/>
          </p:nvSpPr>
          <p:spPr>
            <a:xfrm>
              <a:off x="1801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22" name="Rectangle 11">
              <a:extLst>
                <a:ext uri="{FF2B5EF4-FFF2-40B4-BE49-F238E27FC236}">
                  <a16:creationId xmlns:a16="http://schemas.microsoft.com/office/drawing/2014/main" id="{396E8B3A-FC66-4E5A-BCB3-F611EBEFA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2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00" name="Rectangle 12">
              <a:extLst>
                <a:ext uri="{FF2B5EF4-FFF2-40B4-BE49-F238E27FC236}">
                  <a16:creationId xmlns:a16="http://schemas.microsoft.com/office/drawing/2014/main" id="{6BD97965-F258-460A-BC07-EF52631C4869}"/>
                </a:ext>
              </a:extLst>
            </p:cNvPr>
            <p:cNvSpPr/>
            <p:nvPr/>
          </p:nvSpPr>
          <p:spPr>
            <a:xfrm>
              <a:off x="2089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24" name="Rectangle 13">
              <a:extLst>
                <a:ext uri="{FF2B5EF4-FFF2-40B4-BE49-F238E27FC236}">
                  <a16:creationId xmlns:a16="http://schemas.microsoft.com/office/drawing/2014/main" id="{57ACC53E-F31A-4AE6-89A8-4FF2BF2D1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0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02" name="Rectangle 14">
              <a:extLst>
                <a:ext uri="{FF2B5EF4-FFF2-40B4-BE49-F238E27FC236}">
                  <a16:creationId xmlns:a16="http://schemas.microsoft.com/office/drawing/2014/main" id="{D5A428E4-79D0-4FC3-88EB-DA93557B28D4}"/>
                </a:ext>
              </a:extLst>
            </p:cNvPr>
            <p:cNvSpPr/>
            <p:nvPr/>
          </p:nvSpPr>
          <p:spPr>
            <a:xfrm>
              <a:off x="2377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26" name="Rectangle 15">
              <a:extLst>
                <a:ext uri="{FF2B5EF4-FFF2-40B4-BE49-F238E27FC236}">
                  <a16:creationId xmlns:a16="http://schemas.microsoft.com/office/drawing/2014/main" id="{D7F82FE0-997A-45E8-82D1-F6986576D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8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04" name="Rectangle 16">
              <a:extLst>
                <a:ext uri="{FF2B5EF4-FFF2-40B4-BE49-F238E27FC236}">
                  <a16:creationId xmlns:a16="http://schemas.microsoft.com/office/drawing/2014/main" id="{CC5FC0CF-56ED-44E1-B815-6592853E565F}"/>
                </a:ext>
              </a:extLst>
            </p:cNvPr>
            <p:cNvSpPr/>
            <p:nvPr/>
          </p:nvSpPr>
          <p:spPr>
            <a:xfrm>
              <a:off x="2665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28" name="Rectangle 17">
              <a:extLst>
                <a:ext uri="{FF2B5EF4-FFF2-40B4-BE49-F238E27FC236}">
                  <a16:creationId xmlns:a16="http://schemas.microsoft.com/office/drawing/2014/main" id="{43659791-8EB5-4945-926D-74A0A3E8A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6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88129" name="Rectangle 18">
              <a:extLst>
                <a:ext uri="{FF2B5EF4-FFF2-40B4-BE49-F238E27FC236}">
                  <a16:creationId xmlns:a16="http://schemas.microsoft.com/office/drawing/2014/main" id="{F8B332C8-5756-459B-A1CF-DC6F6FA60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3" y="64"/>
              <a:ext cx="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88130" name="Rectangle 19">
              <a:extLst>
                <a:ext uri="{FF2B5EF4-FFF2-40B4-BE49-F238E27FC236}">
                  <a16:creationId xmlns:a16="http://schemas.microsoft.com/office/drawing/2014/main" id="{E54E0E97-E22F-4086-A9CF-427CCF26F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4" y="0"/>
              <a:ext cx="287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88131" name="Rectangle 20">
              <a:extLst>
                <a:ext uri="{FF2B5EF4-FFF2-40B4-BE49-F238E27FC236}">
                  <a16:creationId xmlns:a16="http://schemas.microsoft.com/office/drawing/2014/main" id="{8B35A186-3328-469C-BF5F-9EA30D433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1" y="64"/>
              <a:ext cx="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8132" name="Rectangle 21">
              <a:extLst>
                <a:ext uri="{FF2B5EF4-FFF2-40B4-BE49-F238E27FC236}">
                  <a16:creationId xmlns:a16="http://schemas.microsoft.com/office/drawing/2014/main" id="{2D1105E4-1544-4704-8F54-016B1939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1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10" name="Rectangle 22">
              <a:extLst>
                <a:ext uri="{FF2B5EF4-FFF2-40B4-BE49-F238E27FC236}">
                  <a16:creationId xmlns:a16="http://schemas.microsoft.com/office/drawing/2014/main" id="{5C636257-E996-4E8C-A096-ABE206E87EF0}"/>
                </a:ext>
              </a:extLst>
            </p:cNvPr>
            <p:cNvSpPr/>
            <p:nvPr/>
          </p:nvSpPr>
          <p:spPr>
            <a:xfrm>
              <a:off x="3529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34" name="Rectangle 23">
              <a:extLst>
                <a:ext uri="{FF2B5EF4-FFF2-40B4-BE49-F238E27FC236}">
                  <a16:creationId xmlns:a16="http://schemas.microsoft.com/office/drawing/2014/main" id="{61D83F56-66C3-4100-8088-8916F6AD7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12" name="Rectangle 24">
              <a:extLst>
                <a:ext uri="{FF2B5EF4-FFF2-40B4-BE49-F238E27FC236}">
                  <a16:creationId xmlns:a16="http://schemas.microsoft.com/office/drawing/2014/main" id="{D560244D-2172-4CD2-8E8E-93D984946B01}"/>
                </a:ext>
              </a:extLst>
            </p:cNvPr>
            <p:cNvSpPr/>
            <p:nvPr/>
          </p:nvSpPr>
          <p:spPr>
            <a:xfrm>
              <a:off x="3817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36" name="Rectangle 25">
              <a:extLst>
                <a:ext uri="{FF2B5EF4-FFF2-40B4-BE49-F238E27FC236}">
                  <a16:creationId xmlns:a16="http://schemas.microsoft.com/office/drawing/2014/main" id="{D5229AAD-16D6-4AE5-9482-8EEB7DE62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14" name="Rectangle 26">
              <a:extLst>
                <a:ext uri="{FF2B5EF4-FFF2-40B4-BE49-F238E27FC236}">
                  <a16:creationId xmlns:a16="http://schemas.microsoft.com/office/drawing/2014/main" id="{26C67F5E-86B9-404A-BFA7-CFDB5EF89685}"/>
                </a:ext>
              </a:extLst>
            </p:cNvPr>
            <p:cNvSpPr/>
            <p:nvPr/>
          </p:nvSpPr>
          <p:spPr>
            <a:xfrm>
              <a:off x="4104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38" name="Rectangle 27">
              <a:extLst>
                <a:ext uri="{FF2B5EF4-FFF2-40B4-BE49-F238E27FC236}">
                  <a16:creationId xmlns:a16="http://schemas.microsoft.com/office/drawing/2014/main" id="{9AE7F83C-FF5D-4301-9394-50235D132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5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16" name="Rectangle 28">
              <a:extLst>
                <a:ext uri="{FF2B5EF4-FFF2-40B4-BE49-F238E27FC236}">
                  <a16:creationId xmlns:a16="http://schemas.microsoft.com/office/drawing/2014/main" id="{B0E485D3-EB17-4E08-9806-BB8ED120AF34}"/>
                </a:ext>
              </a:extLst>
            </p:cNvPr>
            <p:cNvSpPr/>
            <p:nvPr/>
          </p:nvSpPr>
          <p:spPr>
            <a:xfrm>
              <a:off x="4392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40" name="Rectangle 29">
              <a:extLst>
                <a:ext uri="{FF2B5EF4-FFF2-40B4-BE49-F238E27FC236}">
                  <a16:creationId xmlns:a16="http://schemas.microsoft.com/office/drawing/2014/main" id="{A3ECE71F-E59E-4D8C-A3F2-8FF52FCB4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3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18" name="Rectangle 30">
              <a:extLst>
                <a:ext uri="{FF2B5EF4-FFF2-40B4-BE49-F238E27FC236}">
                  <a16:creationId xmlns:a16="http://schemas.microsoft.com/office/drawing/2014/main" id="{2407E8BF-FB42-44F9-81FF-09CF2A0D3F29}"/>
                </a:ext>
              </a:extLst>
            </p:cNvPr>
            <p:cNvSpPr/>
            <p:nvPr/>
          </p:nvSpPr>
          <p:spPr>
            <a:xfrm>
              <a:off x="4680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42" name="Rectangle 31">
              <a:extLst>
                <a:ext uri="{FF2B5EF4-FFF2-40B4-BE49-F238E27FC236}">
                  <a16:creationId xmlns:a16="http://schemas.microsoft.com/office/drawing/2014/main" id="{F3F800F1-30B1-46C7-A3D9-AB987B6DB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88143" name="Rectangle 32">
              <a:extLst>
                <a:ext uri="{FF2B5EF4-FFF2-40B4-BE49-F238E27FC236}">
                  <a16:creationId xmlns:a16="http://schemas.microsoft.com/office/drawing/2014/main" id="{5EBB6EF4-E70A-4D10-AB5F-67DE70BF0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64"/>
              <a:ext cx="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88144" name="Rectangle 33">
              <a:extLst>
                <a:ext uri="{FF2B5EF4-FFF2-40B4-BE49-F238E27FC236}">
                  <a16:creationId xmlns:a16="http://schemas.microsoft.com/office/drawing/2014/main" id="{258E278F-71CD-49B5-AA43-D0EB13775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22" name="Rectangle 34">
              <a:extLst>
                <a:ext uri="{FF2B5EF4-FFF2-40B4-BE49-F238E27FC236}">
                  <a16:creationId xmlns:a16="http://schemas.microsoft.com/office/drawing/2014/main" id="{BD6A10A5-932F-46CE-B041-BDDCD0AFAA8B}"/>
                </a:ext>
              </a:extLst>
            </p:cNvPr>
            <p:cNvSpPr/>
            <p:nvPr/>
          </p:nvSpPr>
          <p:spPr>
            <a:xfrm>
              <a:off x="361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46" name="Rectangle 35">
              <a:extLst>
                <a:ext uri="{FF2B5EF4-FFF2-40B4-BE49-F238E27FC236}">
                  <a16:creationId xmlns:a16="http://schemas.microsoft.com/office/drawing/2014/main" id="{EAAE91F4-0D46-493B-88AC-2D5984C3D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24" name="Rectangle 36">
              <a:extLst>
                <a:ext uri="{FF2B5EF4-FFF2-40B4-BE49-F238E27FC236}">
                  <a16:creationId xmlns:a16="http://schemas.microsoft.com/office/drawing/2014/main" id="{CD3C378A-9B62-489E-A066-588425204BF9}"/>
                </a:ext>
              </a:extLst>
            </p:cNvPr>
            <p:cNvSpPr/>
            <p:nvPr/>
          </p:nvSpPr>
          <p:spPr>
            <a:xfrm>
              <a:off x="361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48" name="Rectangle 37">
              <a:extLst>
                <a:ext uri="{FF2B5EF4-FFF2-40B4-BE49-F238E27FC236}">
                  <a16:creationId xmlns:a16="http://schemas.microsoft.com/office/drawing/2014/main" id="{CF5FA37D-82BC-40A8-9791-9AE58C4E5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26" name="Rectangle 38">
              <a:extLst>
                <a:ext uri="{FF2B5EF4-FFF2-40B4-BE49-F238E27FC236}">
                  <a16:creationId xmlns:a16="http://schemas.microsoft.com/office/drawing/2014/main" id="{9FD7DA7C-6ACA-47CA-B50E-B73B627008C6}"/>
                </a:ext>
              </a:extLst>
            </p:cNvPr>
            <p:cNvSpPr/>
            <p:nvPr/>
          </p:nvSpPr>
          <p:spPr>
            <a:xfrm>
              <a:off x="649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50" name="Rectangle 39">
              <a:extLst>
                <a:ext uri="{FF2B5EF4-FFF2-40B4-BE49-F238E27FC236}">
                  <a16:creationId xmlns:a16="http://schemas.microsoft.com/office/drawing/2014/main" id="{1BD8B2F8-860D-4FEC-BD25-A3BF82992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28" name="Rectangle 40">
              <a:extLst>
                <a:ext uri="{FF2B5EF4-FFF2-40B4-BE49-F238E27FC236}">
                  <a16:creationId xmlns:a16="http://schemas.microsoft.com/office/drawing/2014/main" id="{D5DFABF5-A258-4DFF-929A-AB51B47EB0C6}"/>
                </a:ext>
              </a:extLst>
            </p:cNvPr>
            <p:cNvSpPr/>
            <p:nvPr/>
          </p:nvSpPr>
          <p:spPr>
            <a:xfrm>
              <a:off x="937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52" name="Rectangle 41">
              <a:extLst>
                <a:ext uri="{FF2B5EF4-FFF2-40B4-BE49-F238E27FC236}">
                  <a16:creationId xmlns:a16="http://schemas.microsoft.com/office/drawing/2014/main" id="{4AF92761-4021-4449-B7CA-577418185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30" name="Rectangle 42">
              <a:extLst>
                <a:ext uri="{FF2B5EF4-FFF2-40B4-BE49-F238E27FC236}">
                  <a16:creationId xmlns:a16="http://schemas.microsoft.com/office/drawing/2014/main" id="{E3C063E8-AB33-4A25-B4CF-A365EA120D1D}"/>
                </a:ext>
              </a:extLst>
            </p:cNvPr>
            <p:cNvSpPr/>
            <p:nvPr/>
          </p:nvSpPr>
          <p:spPr>
            <a:xfrm>
              <a:off x="1225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54" name="Rectangle 43">
              <a:extLst>
                <a:ext uri="{FF2B5EF4-FFF2-40B4-BE49-F238E27FC236}">
                  <a16:creationId xmlns:a16="http://schemas.microsoft.com/office/drawing/2014/main" id="{61F5CA0B-44A8-484C-9DA6-E9DCFF2CF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432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32" name="Rectangle 44">
              <a:extLst>
                <a:ext uri="{FF2B5EF4-FFF2-40B4-BE49-F238E27FC236}">
                  <a16:creationId xmlns:a16="http://schemas.microsoft.com/office/drawing/2014/main" id="{E3A6F390-F368-4434-81F9-7EA494D45CC8}"/>
                </a:ext>
              </a:extLst>
            </p:cNvPr>
            <p:cNvSpPr/>
            <p:nvPr/>
          </p:nvSpPr>
          <p:spPr>
            <a:xfrm>
              <a:off x="1513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56" name="Rectangle 45">
              <a:extLst>
                <a:ext uri="{FF2B5EF4-FFF2-40B4-BE49-F238E27FC236}">
                  <a16:creationId xmlns:a16="http://schemas.microsoft.com/office/drawing/2014/main" id="{84BA77D4-1B4A-4979-BD22-E6BC3DF22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4" y="432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34" name="Rectangle 46">
              <a:extLst>
                <a:ext uri="{FF2B5EF4-FFF2-40B4-BE49-F238E27FC236}">
                  <a16:creationId xmlns:a16="http://schemas.microsoft.com/office/drawing/2014/main" id="{CE4C6B41-645A-4733-A9C7-04887E4D76A6}"/>
                </a:ext>
              </a:extLst>
            </p:cNvPr>
            <p:cNvSpPr/>
            <p:nvPr/>
          </p:nvSpPr>
          <p:spPr>
            <a:xfrm>
              <a:off x="1801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58" name="Rectangle 47">
              <a:extLst>
                <a:ext uri="{FF2B5EF4-FFF2-40B4-BE49-F238E27FC236}">
                  <a16:creationId xmlns:a16="http://schemas.microsoft.com/office/drawing/2014/main" id="{72565388-5257-465F-A792-7FBFAA37E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2" y="432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36" name="Rectangle 48">
              <a:extLst>
                <a:ext uri="{FF2B5EF4-FFF2-40B4-BE49-F238E27FC236}">
                  <a16:creationId xmlns:a16="http://schemas.microsoft.com/office/drawing/2014/main" id="{47E2A814-7A7E-4756-9CDB-8B7DCD6DCD4D}"/>
                </a:ext>
              </a:extLst>
            </p:cNvPr>
            <p:cNvSpPr/>
            <p:nvPr/>
          </p:nvSpPr>
          <p:spPr>
            <a:xfrm>
              <a:off x="2089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60" name="Rectangle 49">
              <a:extLst>
                <a:ext uri="{FF2B5EF4-FFF2-40B4-BE49-F238E27FC236}">
                  <a16:creationId xmlns:a16="http://schemas.microsoft.com/office/drawing/2014/main" id="{3580B633-8DA8-4495-A99F-761CD6A26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0" y="432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38" name="Rectangle 50">
              <a:extLst>
                <a:ext uri="{FF2B5EF4-FFF2-40B4-BE49-F238E27FC236}">
                  <a16:creationId xmlns:a16="http://schemas.microsoft.com/office/drawing/2014/main" id="{43AB4546-70F5-44A4-AE57-146B6A46E42E}"/>
                </a:ext>
              </a:extLst>
            </p:cNvPr>
            <p:cNvSpPr/>
            <p:nvPr/>
          </p:nvSpPr>
          <p:spPr>
            <a:xfrm>
              <a:off x="2377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62" name="Rectangle 51">
              <a:extLst>
                <a:ext uri="{FF2B5EF4-FFF2-40B4-BE49-F238E27FC236}">
                  <a16:creationId xmlns:a16="http://schemas.microsoft.com/office/drawing/2014/main" id="{F8F4AF75-58A4-4977-A477-255D4CB13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8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40" name="Rectangle 52">
              <a:extLst>
                <a:ext uri="{FF2B5EF4-FFF2-40B4-BE49-F238E27FC236}">
                  <a16:creationId xmlns:a16="http://schemas.microsoft.com/office/drawing/2014/main" id="{B619A659-0FFC-407C-9F4B-DAE441889981}"/>
                </a:ext>
              </a:extLst>
            </p:cNvPr>
            <p:cNvSpPr/>
            <p:nvPr/>
          </p:nvSpPr>
          <p:spPr>
            <a:xfrm>
              <a:off x="2665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64" name="Rectangle 53">
              <a:extLst>
                <a:ext uri="{FF2B5EF4-FFF2-40B4-BE49-F238E27FC236}">
                  <a16:creationId xmlns:a16="http://schemas.microsoft.com/office/drawing/2014/main" id="{12E300EA-DBE5-4D86-878B-9116535B4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6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42" name="Rectangle 54">
              <a:extLst>
                <a:ext uri="{FF2B5EF4-FFF2-40B4-BE49-F238E27FC236}">
                  <a16:creationId xmlns:a16="http://schemas.microsoft.com/office/drawing/2014/main" id="{BCF426DD-B685-4B65-BC7F-02DC21A85BE3}"/>
                </a:ext>
              </a:extLst>
            </p:cNvPr>
            <p:cNvSpPr/>
            <p:nvPr/>
          </p:nvSpPr>
          <p:spPr>
            <a:xfrm>
              <a:off x="2953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66" name="Rectangle 55">
              <a:extLst>
                <a:ext uri="{FF2B5EF4-FFF2-40B4-BE49-F238E27FC236}">
                  <a16:creationId xmlns:a16="http://schemas.microsoft.com/office/drawing/2014/main" id="{81AACF90-F5C8-4808-9BA4-D746276DA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4" y="432"/>
              <a:ext cx="287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44" name="Rectangle 56">
              <a:extLst>
                <a:ext uri="{FF2B5EF4-FFF2-40B4-BE49-F238E27FC236}">
                  <a16:creationId xmlns:a16="http://schemas.microsoft.com/office/drawing/2014/main" id="{F7D79D37-39F1-4E12-8C31-4B3517AA8276}"/>
                </a:ext>
              </a:extLst>
            </p:cNvPr>
            <p:cNvSpPr/>
            <p:nvPr/>
          </p:nvSpPr>
          <p:spPr>
            <a:xfrm>
              <a:off x="3241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68" name="Rectangle 57">
              <a:extLst>
                <a:ext uri="{FF2B5EF4-FFF2-40B4-BE49-F238E27FC236}">
                  <a16:creationId xmlns:a16="http://schemas.microsoft.com/office/drawing/2014/main" id="{27DF7101-5596-4161-8312-F9BF5B658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1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46" name="Rectangle 58">
              <a:extLst>
                <a:ext uri="{FF2B5EF4-FFF2-40B4-BE49-F238E27FC236}">
                  <a16:creationId xmlns:a16="http://schemas.microsoft.com/office/drawing/2014/main" id="{5057A441-449A-4B1A-9F99-C3FDCD37B7EF}"/>
                </a:ext>
              </a:extLst>
            </p:cNvPr>
            <p:cNvSpPr/>
            <p:nvPr/>
          </p:nvSpPr>
          <p:spPr>
            <a:xfrm>
              <a:off x="3529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70" name="Rectangle 59">
              <a:extLst>
                <a:ext uri="{FF2B5EF4-FFF2-40B4-BE49-F238E27FC236}">
                  <a16:creationId xmlns:a16="http://schemas.microsoft.com/office/drawing/2014/main" id="{348657AD-DB5A-46E6-A4E6-581992026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432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48" name="Rectangle 60">
              <a:extLst>
                <a:ext uri="{FF2B5EF4-FFF2-40B4-BE49-F238E27FC236}">
                  <a16:creationId xmlns:a16="http://schemas.microsoft.com/office/drawing/2014/main" id="{C7EE40FA-12B2-427B-ABD0-145E069BF491}"/>
                </a:ext>
              </a:extLst>
            </p:cNvPr>
            <p:cNvSpPr/>
            <p:nvPr/>
          </p:nvSpPr>
          <p:spPr>
            <a:xfrm>
              <a:off x="3817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72" name="Rectangle 61">
              <a:extLst>
                <a:ext uri="{FF2B5EF4-FFF2-40B4-BE49-F238E27FC236}">
                  <a16:creationId xmlns:a16="http://schemas.microsoft.com/office/drawing/2014/main" id="{EE115FB4-E0B8-4086-877E-9F9EEAB93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" y="432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50" name="Rectangle 62">
              <a:extLst>
                <a:ext uri="{FF2B5EF4-FFF2-40B4-BE49-F238E27FC236}">
                  <a16:creationId xmlns:a16="http://schemas.microsoft.com/office/drawing/2014/main" id="{E52210DC-EA28-4575-BF0D-0D15B5626854}"/>
                </a:ext>
              </a:extLst>
            </p:cNvPr>
            <p:cNvSpPr/>
            <p:nvPr/>
          </p:nvSpPr>
          <p:spPr>
            <a:xfrm>
              <a:off x="4104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74" name="Rectangle 63">
              <a:extLst>
                <a:ext uri="{FF2B5EF4-FFF2-40B4-BE49-F238E27FC236}">
                  <a16:creationId xmlns:a16="http://schemas.microsoft.com/office/drawing/2014/main" id="{EF38467B-20CA-499E-B2BA-119D94C58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5" y="432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52" name="Rectangle 64">
              <a:extLst>
                <a:ext uri="{FF2B5EF4-FFF2-40B4-BE49-F238E27FC236}">
                  <a16:creationId xmlns:a16="http://schemas.microsoft.com/office/drawing/2014/main" id="{46013D19-2AEC-4460-97FF-6255857B6F2E}"/>
                </a:ext>
              </a:extLst>
            </p:cNvPr>
            <p:cNvSpPr/>
            <p:nvPr/>
          </p:nvSpPr>
          <p:spPr>
            <a:xfrm>
              <a:off x="4392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76" name="Rectangle 65">
              <a:extLst>
                <a:ext uri="{FF2B5EF4-FFF2-40B4-BE49-F238E27FC236}">
                  <a16:creationId xmlns:a16="http://schemas.microsoft.com/office/drawing/2014/main" id="{E88F0BB7-72FD-4B63-89F9-A3D2E45A5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3" y="432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54" name="Rectangle 66">
              <a:extLst>
                <a:ext uri="{FF2B5EF4-FFF2-40B4-BE49-F238E27FC236}">
                  <a16:creationId xmlns:a16="http://schemas.microsoft.com/office/drawing/2014/main" id="{66EE52CD-32B1-4784-BED9-DEC99FFD49BC}"/>
                </a:ext>
              </a:extLst>
            </p:cNvPr>
            <p:cNvSpPr/>
            <p:nvPr/>
          </p:nvSpPr>
          <p:spPr>
            <a:xfrm>
              <a:off x="4680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78" name="Line 67">
              <a:extLst>
                <a:ext uri="{FF2B5EF4-FFF2-40B4-BE49-F238E27FC236}">
                  <a16:creationId xmlns:a16="http://schemas.microsoft.com/office/drawing/2014/main" id="{CFD4D764-252B-4B0B-9589-C98AB1062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850"/>
              <a:ext cx="5005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79" name="Rectangle 68">
              <a:extLst>
                <a:ext uri="{FF2B5EF4-FFF2-40B4-BE49-F238E27FC236}">
                  <a16:creationId xmlns:a16="http://schemas.microsoft.com/office/drawing/2014/main" id="{04733E61-9098-4842-B07D-CAC0D2A1B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96"/>
              <a:ext cx="129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</a:pPr>
              <a:r>
                <a:rPr lang="en-US" altLang="zh-CN" sz="3200">
                  <a:latin typeface="宋体" panose="02010600030101010101" pitchFamily="2" charset="-122"/>
                </a:rPr>
                <a:t>-</a:t>
              </a:r>
            </a:p>
          </p:txBody>
        </p:sp>
      </p:grpSp>
      <p:grpSp>
        <p:nvGrpSpPr>
          <p:cNvPr id="37957" name="组合 37956">
            <a:extLst>
              <a:ext uri="{FF2B5EF4-FFF2-40B4-BE49-F238E27FC236}">
                <a16:creationId xmlns:a16="http://schemas.microsoft.com/office/drawing/2014/main" id="{96F67B7E-201F-475A-90DD-F812A4ECB7DE}"/>
              </a:ext>
            </a:extLst>
          </p:cNvPr>
          <p:cNvGrpSpPr>
            <a:grpSpLocks/>
          </p:cNvGrpSpPr>
          <p:nvPr/>
        </p:nvGrpSpPr>
        <p:grpSpPr bwMode="auto">
          <a:xfrm>
            <a:off x="1012825" y="2611438"/>
            <a:ext cx="7313613" cy="457200"/>
            <a:chOff x="0" y="0"/>
            <a:chExt cx="4607" cy="288"/>
          </a:xfrm>
        </p:grpSpPr>
        <p:sp>
          <p:nvSpPr>
            <p:cNvPr id="88082" name="Rectangle 70">
              <a:extLst>
                <a:ext uri="{FF2B5EF4-FFF2-40B4-BE49-F238E27FC236}">
                  <a16:creationId xmlns:a16="http://schemas.microsoft.com/office/drawing/2014/main" id="{87785899-7E34-44CC-9933-387052809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59" name="Rectangle 71">
              <a:extLst>
                <a:ext uri="{FF2B5EF4-FFF2-40B4-BE49-F238E27FC236}">
                  <a16:creationId xmlns:a16="http://schemas.microsoft.com/office/drawing/2014/main" id="{E6DFB3CA-D224-4904-804A-D32C7873BE1F}"/>
                </a:ext>
              </a:extLst>
            </p:cNvPr>
            <p:cNvSpPr/>
            <p:nvPr/>
          </p:nvSpPr>
          <p:spPr>
            <a:xfrm>
              <a:off x="4426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84" name="Rectangle 72">
              <a:extLst>
                <a:ext uri="{FF2B5EF4-FFF2-40B4-BE49-F238E27FC236}">
                  <a16:creationId xmlns:a16="http://schemas.microsoft.com/office/drawing/2014/main" id="{6BC61A9E-07E1-4031-89BE-638903B49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1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61" name="Rectangle 73">
              <a:extLst>
                <a:ext uri="{FF2B5EF4-FFF2-40B4-BE49-F238E27FC236}">
                  <a16:creationId xmlns:a16="http://schemas.microsoft.com/office/drawing/2014/main" id="{FE64A52A-5912-46C8-8D4D-56534C10644B}"/>
                </a:ext>
              </a:extLst>
            </p:cNvPr>
            <p:cNvSpPr/>
            <p:nvPr/>
          </p:nvSpPr>
          <p:spPr>
            <a:xfrm>
              <a:off x="4138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86" name="Rectangle 74">
              <a:extLst>
                <a:ext uri="{FF2B5EF4-FFF2-40B4-BE49-F238E27FC236}">
                  <a16:creationId xmlns:a16="http://schemas.microsoft.com/office/drawing/2014/main" id="{F663C276-6AD5-4CD1-800A-7411E8FD8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63" name="Rectangle 75">
              <a:extLst>
                <a:ext uri="{FF2B5EF4-FFF2-40B4-BE49-F238E27FC236}">
                  <a16:creationId xmlns:a16="http://schemas.microsoft.com/office/drawing/2014/main" id="{980C70D9-88CC-4724-B9BE-E237D9FAD10B}"/>
                </a:ext>
              </a:extLst>
            </p:cNvPr>
            <p:cNvSpPr/>
            <p:nvPr/>
          </p:nvSpPr>
          <p:spPr>
            <a:xfrm>
              <a:off x="3850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88" name="Rectangle 76">
              <a:extLst>
                <a:ext uri="{FF2B5EF4-FFF2-40B4-BE49-F238E27FC236}">
                  <a16:creationId xmlns:a16="http://schemas.microsoft.com/office/drawing/2014/main" id="{ED2605C6-0443-46D5-B407-4616B2A4B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5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65" name="Rectangle 77">
              <a:extLst>
                <a:ext uri="{FF2B5EF4-FFF2-40B4-BE49-F238E27FC236}">
                  <a16:creationId xmlns:a16="http://schemas.microsoft.com/office/drawing/2014/main" id="{4E7728D7-E491-4C26-A752-EC379A9EE9D8}"/>
                </a:ext>
              </a:extLst>
            </p:cNvPr>
            <p:cNvSpPr/>
            <p:nvPr/>
          </p:nvSpPr>
          <p:spPr>
            <a:xfrm>
              <a:off x="3563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90" name="Rectangle 78">
              <a:extLst>
                <a:ext uri="{FF2B5EF4-FFF2-40B4-BE49-F238E27FC236}">
                  <a16:creationId xmlns:a16="http://schemas.microsoft.com/office/drawing/2014/main" id="{A35C6B2F-71AD-447B-A624-DBABFEBE1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67" name="Rectangle 79">
              <a:extLst>
                <a:ext uri="{FF2B5EF4-FFF2-40B4-BE49-F238E27FC236}">
                  <a16:creationId xmlns:a16="http://schemas.microsoft.com/office/drawing/2014/main" id="{ACB055B7-AA31-43F3-99E1-9C08084EFA90}"/>
                </a:ext>
              </a:extLst>
            </p:cNvPr>
            <p:cNvSpPr/>
            <p:nvPr/>
          </p:nvSpPr>
          <p:spPr>
            <a:xfrm>
              <a:off x="3275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92" name="Rectangle 80">
              <a:extLst>
                <a:ext uri="{FF2B5EF4-FFF2-40B4-BE49-F238E27FC236}">
                  <a16:creationId xmlns:a16="http://schemas.microsoft.com/office/drawing/2014/main" id="{BD92654E-4EEA-4CD2-B126-E0223F2FA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0"/>
              <a:ext cx="287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69" name="Rectangle 81">
              <a:extLst>
                <a:ext uri="{FF2B5EF4-FFF2-40B4-BE49-F238E27FC236}">
                  <a16:creationId xmlns:a16="http://schemas.microsoft.com/office/drawing/2014/main" id="{C93B3CEA-05FC-4738-90C2-EF3B8D9896BF}"/>
                </a:ext>
              </a:extLst>
            </p:cNvPr>
            <p:cNvSpPr/>
            <p:nvPr/>
          </p:nvSpPr>
          <p:spPr>
            <a:xfrm>
              <a:off x="2987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94" name="Rectangle 82">
              <a:extLst>
                <a:ext uri="{FF2B5EF4-FFF2-40B4-BE49-F238E27FC236}">
                  <a16:creationId xmlns:a16="http://schemas.microsoft.com/office/drawing/2014/main" id="{E82AF764-842B-4D4C-9BD7-D4D07EF63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71" name="Rectangle 83">
              <a:extLst>
                <a:ext uri="{FF2B5EF4-FFF2-40B4-BE49-F238E27FC236}">
                  <a16:creationId xmlns:a16="http://schemas.microsoft.com/office/drawing/2014/main" id="{B4959E28-E1CE-4508-A273-63A7D16AAED2}"/>
                </a:ext>
              </a:extLst>
            </p:cNvPr>
            <p:cNvSpPr/>
            <p:nvPr/>
          </p:nvSpPr>
          <p:spPr>
            <a:xfrm>
              <a:off x="2699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96" name="Rectangle 84">
              <a:extLst>
                <a:ext uri="{FF2B5EF4-FFF2-40B4-BE49-F238E27FC236}">
                  <a16:creationId xmlns:a16="http://schemas.microsoft.com/office/drawing/2014/main" id="{5B40C3F3-1F82-4A52-AC10-079012601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73" name="Rectangle 85">
              <a:extLst>
                <a:ext uri="{FF2B5EF4-FFF2-40B4-BE49-F238E27FC236}">
                  <a16:creationId xmlns:a16="http://schemas.microsoft.com/office/drawing/2014/main" id="{9524120B-B4FF-4D46-B23E-B0B802DAFEEC}"/>
                </a:ext>
              </a:extLst>
            </p:cNvPr>
            <p:cNvSpPr/>
            <p:nvPr/>
          </p:nvSpPr>
          <p:spPr>
            <a:xfrm>
              <a:off x="2411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98" name="Rectangle 86">
              <a:extLst>
                <a:ext uri="{FF2B5EF4-FFF2-40B4-BE49-F238E27FC236}">
                  <a16:creationId xmlns:a16="http://schemas.microsoft.com/office/drawing/2014/main" id="{36A02DF4-5D67-4623-AD9D-EDC0BE8B1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75" name="Rectangle 87">
              <a:extLst>
                <a:ext uri="{FF2B5EF4-FFF2-40B4-BE49-F238E27FC236}">
                  <a16:creationId xmlns:a16="http://schemas.microsoft.com/office/drawing/2014/main" id="{D75B6888-7AF1-40CC-BA37-B02851C7F554}"/>
                </a:ext>
              </a:extLst>
            </p:cNvPr>
            <p:cNvSpPr/>
            <p:nvPr/>
          </p:nvSpPr>
          <p:spPr>
            <a:xfrm>
              <a:off x="2123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00" name="Rectangle 88">
              <a:extLst>
                <a:ext uri="{FF2B5EF4-FFF2-40B4-BE49-F238E27FC236}">
                  <a16:creationId xmlns:a16="http://schemas.microsoft.com/office/drawing/2014/main" id="{FB626797-6536-41CE-ABCA-060F3C079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77" name="Rectangle 89">
              <a:extLst>
                <a:ext uri="{FF2B5EF4-FFF2-40B4-BE49-F238E27FC236}">
                  <a16:creationId xmlns:a16="http://schemas.microsoft.com/office/drawing/2014/main" id="{495BD700-EEAD-4141-A17E-618CD30CCED8}"/>
                </a:ext>
              </a:extLst>
            </p:cNvPr>
            <p:cNvSpPr/>
            <p:nvPr/>
          </p:nvSpPr>
          <p:spPr>
            <a:xfrm>
              <a:off x="1835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02" name="Rectangle 90">
              <a:extLst>
                <a:ext uri="{FF2B5EF4-FFF2-40B4-BE49-F238E27FC236}">
                  <a16:creationId xmlns:a16="http://schemas.microsoft.com/office/drawing/2014/main" id="{B6A8C7F3-963F-4ED2-9BF3-0E46DED25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79" name="Rectangle 91">
              <a:extLst>
                <a:ext uri="{FF2B5EF4-FFF2-40B4-BE49-F238E27FC236}">
                  <a16:creationId xmlns:a16="http://schemas.microsoft.com/office/drawing/2014/main" id="{7858FF8E-9264-4B78-8D49-EF99D5D518C9}"/>
                </a:ext>
              </a:extLst>
            </p:cNvPr>
            <p:cNvSpPr/>
            <p:nvPr/>
          </p:nvSpPr>
          <p:spPr>
            <a:xfrm>
              <a:off x="1547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04" name="Rectangle 92">
              <a:extLst>
                <a:ext uri="{FF2B5EF4-FFF2-40B4-BE49-F238E27FC236}">
                  <a16:creationId xmlns:a16="http://schemas.microsoft.com/office/drawing/2014/main" id="{D1FBAAED-BAD1-49F4-B61B-65B213CD5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81" name="Rectangle 93">
              <a:extLst>
                <a:ext uri="{FF2B5EF4-FFF2-40B4-BE49-F238E27FC236}">
                  <a16:creationId xmlns:a16="http://schemas.microsoft.com/office/drawing/2014/main" id="{95B2146B-85A6-4FD4-BB9B-A24B1E005D7B}"/>
                </a:ext>
              </a:extLst>
            </p:cNvPr>
            <p:cNvSpPr/>
            <p:nvPr/>
          </p:nvSpPr>
          <p:spPr>
            <a:xfrm>
              <a:off x="1259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06" name="Rectangle 94">
              <a:extLst>
                <a:ext uri="{FF2B5EF4-FFF2-40B4-BE49-F238E27FC236}">
                  <a16:creationId xmlns:a16="http://schemas.microsoft.com/office/drawing/2014/main" id="{7D49CEF3-2260-498D-B2E8-8D6C3F27A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83" name="Rectangle 95">
              <a:extLst>
                <a:ext uri="{FF2B5EF4-FFF2-40B4-BE49-F238E27FC236}">
                  <a16:creationId xmlns:a16="http://schemas.microsoft.com/office/drawing/2014/main" id="{C97CB85E-2B21-4500-BE49-15E500FA287D}"/>
                </a:ext>
              </a:extLst>
            </p:cNvPr>
            <p:cNvSpPr/>
            <p:nvPr/>
          </p:nvSpPr>
          <p:spPr>
            <a:xfrm>
              <a:off x="971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08" name="Rectangle 96">
              <a:extLst>
                <a:ext uri="{FF2B5EF4-FFF2-40B4-BE49-F238E27FC236}">
                  <a16:creationId xmlns:a16="http://schemas.microsoft.com/office/drawing/2014/main" id="{79BCF480-E678-40D8-98B7-54E960FFD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85" name="Rectangle 97">
              <a:extLst>
                <a:ext uri="{FF2B5EF4-FFF2-40B4-BE49-F238E27FC236}">
                  <a16:creationId xmlns:a16="http://schemas.microsoft.com/office/drawing/2014/main" id="{E711690F-4594-4903-8002-7B53162A66C5}"/>
                </a:ext>
              </a:extLst>
            </p:cNvPr>
            <p:cNvSpPr/>
            <p:nvPr/>
          </p:nvSpPr>
          <p:spPr>
            <a:xfrm>
              <a:off x="683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10" name="Rectangle 98">
              <a:extLst>
                <a:ext uri="{FF2B5EF4-FFF2-40B4-BE49-F238E27FC236}">
                  <a16:creationId xmlns:a16="http://schemas.microsoft.com/office/drawing/2014/main" id="{231FBBD8-53C7-47C4-8076-DFC197BCD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87" name="Rectangle 99">
              <a:extLst>
                <a:ext uri="{FF2B5EF4-FFF2-40B4-BE49-F238E27FC236}">
                  <a16:creationId xmlns:a16="http://schemas.microsoft.com/office/drawing/2014/main" id="{14DE04F2-1A9F-4CF7-B386-2B4F59B9745B}"/>
                </a:ext>
              </a:extLst>
            </p:cNvPr>
            <p:cNvSpPr/>
            <p:nvPr/>
          </p:nvSpPr>
          <p:spPr>
            <a:xfrm>
              <a:off x="395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12" name="Rectangle 100">
              <a:extLst>
                <a:ext uri="{FF2B5EF4-FFF2-40B4-BE49-F238E27FC236}">
                  <a16:creationId xmlns:a16="http://schemas.microsoft.com/office/drawing/2014/main" id="{2C8BAB8B-8E5B-4043-8F35-411FFE606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89" name="Rectangle 101">
              <a:extLst>
                <a:ext uri="{FF2B5EF4-FFF2-40B4-BE49-F238E27FC236}">
                  <a16:creationId xmlns:a16="http://schemas.microsoft.com/office/drawing/2014/main" id="{FE7ADC49-AE00-4D84-AC2B-717CA8F6CC7E}"/>
                </a:ext>
              </a:extLst>
            </p:cNvPr>
            <p:cNvSpPr/>
            <p:nvPr/>
          </p:nvSpPr>
          <p:spPr>
            <a:xfrm>
              <a:off x="107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37990" name="Rectangle 102">
            <a:extLst>
              <a:ext uri="{FF2B5EF4-FFF2-40B4-BE49-F238E27FC236}">
                <a16:creationId xmlns:a16="http://schemas.microsoft.com/office/drawing/2014/main" id="{D3973C66-7A90-4FFE-9085-0FAA2EDEF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200400"/>
            <a:ext cx="5181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运算结果最高位为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0		∴SF=0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37992" name="Freeform 104">
            <a:extLst>
              <a:ext uri="{FF2B5EF4-FFF2-40B4-BE49-F238E27FC236}">
                <a16:creationId xmlns:a16="http://schemas.microsoft.com/office/drawing/2014/main" id="{67A4FC1D-E08B-45F6-98E7-E2BD51F93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2208213"/>
            <a:ext cx="533400" cy="76200"/>
          </a:xfrm>
          <a:custGeom>
            <a:avLst/>
            <a:gdLst>
              <a:gd name="T0" fmla="*/ 2147483646 w 336"/>
              <a:gd name="T1" fmla="*/ 0 h 48"/>
              <a:gd name="T2" fmla="*/ 2147483646 w 336"/>
              <a:gd name="T3" fmla="*/ 2147483646 h 48"/>
              <a:gd name="T4" fmla="*/ 0 w 336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6" h="48">
                <a:moveTo>
                  <a:pt x="336" y="0"/>
                </a:moveTo>
                <a:cubicBezTo>
                  <a:pt x="316" y="24"/>
                  <a:pt x="296" y="48"/>
                  <a:pt x="240" y="48"/>
                </a:cubicBezTo>
                <a:cubicBezTo>
                  <a:pt x="184" y="48"/>
                  <a:pt x="92" y="24"/>
                  <a:pt x="0" y="0"/>
                </a:cubicBezTo>
              </a:path>
            </a:pathLst>
          </a:custGeom>
          <a:noFill/>
          <a:ln w="25400">
            <a:solidFill>
              <a:srgbClr val="00FF0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93" name="Freeform 105">
            <a:extLst>
              <a:ext uri="{FF2B5EF4-FFF2-40B4-BE49-F238E27FC236}">
                <a16:creationId xmlns:a16="http://schemas.microsoft.com/office/drawing/2014/main" id="{8F7926BD-09AB-4FB0-B263-E6D0FEDF9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09800"/>
            <a:ext cx="533400" cy="76200"/>
          </a:xfrm>
          <a:custGeom>
            <a:avLst/>
            <a:gdLst>
              <a:gd name="T0" fmla="*/ 2147483646 w 336"/>
              <a:gd name="T1" fmla="*/ 0 h 48"/>
              <a:gd name="T2" fmla="*/ 2147483646 w 336"/>
              <a:gd name="T3" fmla="*/ 2147483646 h 48"/>
              <a:gd name="T4" fmla="*/ 0 w 336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6" h="48">
                <a:moveTo>
                  <a:pt x="336" y="0"/>
                </a:moveTo>
                <a:cubicBezTo>
                  <a:pt x="316" y="24"/>
                  <a:pt x="296" y="48"/>
                  <a:pt x="240" y="48"/>
                </a:cubicBezTo>
                <a:cubicBezTo>
                  <a:pt x="184" y="48"/>
                  <a:pt x="92" y="24"/>
                  <a:pt x="0" y="0"/>
                </a:cubicBezTo>
              </a:path>
            </a:pathLst>
          </a:custGeom>
          <a:noFill/>
          <a:ln w="25400">
            <a:solidFill>
              <a:srgbClr val="00FF0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94" name="Text Box 106">
            <a:extLst>
              <a:ext uri="{FF2B5EF4-FFF2-40B4-BE49-F238E27FC236}">
                <a16:creationId xmlns:a16="http://schemas.microsoft.com/office/drawing/2014/main" id="{D901F4C6-7792-40C5-97DD-31BBBE2B61FD}"/>
              </a:ext>
            </a:extLst>
          </p:cNvPr>
          <p:cNvSpPr txBox="1"/>
          <p:nvPr/>
        </p:nvSpPr>
        <p:spPr>
          <a:xfrm>
            <a:off x="1219200" y="5410200"/>
            <a:ext cx="5562600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B4B9BE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第三位向第四位没有借位 	∴</a:t>
            </a:r>
            <a:r>
              <a:rPr lang="en-US" altLang="x-none" sz="24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AF=0</a:t>
            </a:r>
            <a:r>
              <a:rPr lang="zh-CN" altLang="en-US" sz="24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；</a:t>
            </a:r>
            <a:endParaRPr lang="zh-CN" altLang="en-US" sz="280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37995" name="Text Box 107">
            <a:extLst>
              <a:ext uri="{FF2B5EF4-FFF2-40B4-BE49-F238E27FC236}">
                <a16:creationId xmlns:a16="http://schemas.microsoft.com/office/drawing/2014/main" id="{22CB3E44-6305-47D5-B0DA-D97B4BDEF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943600"/>
            <a:ext cx="86868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B4B9BE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次高位向最高位没有借位 ，最高位向前没有借位，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OF=0</a:t>
            </a:r>
          </a:p>
        </p:txBody>
      </p:sp>
      <p:sp>
        <p:nvSpPr>
          <p:cNvPr id="37996" name="Text Box 108">
            <a:extLst>
              <a:ext uri="{FF2B5EF4-FFF2-40B4-BE49-F238E27FC236}">
                <a16:creationId xmlns:a16="http://schemas.microsoft.com/office/drawing/2014/main" id="{EA285D69-4A6E-4DDB-A720-55EE1A5D0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876800"/>
            <a:ext cx="52578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B4B9BE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最高位没有借位       		∴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CF=0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37997" name="Text Box 109">
            <a:extLst>
              <a:ext uri="{FF2B5EF4-FFF2-40B4-BE49-F238E27FC236}">
                <a16:creationId xmlns:a16="http://schemas.microsoft.com/office/drawing/2014/main" id="{8C057457-D2B8-415F-BCDF-268412872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343400"/>
            <a:ext cx="5224463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B4B9BE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低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位中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的个数为奇数个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    ∴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PF=0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37998" name="Text Box 110">
            <a:extLst>
              <a:ext uri="{FF2B5EF4-FFF2-40B4-BE49-F238E27FC236}">
                <a16:creationId xmlns:a16="http://schemas.microsoft.com/office/drawing/2014/main" id="{A9CE6DBE-3C51-43C9-8FAA-ACDEF33F3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810000"/>
            <a:ext cx="5224463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B4B9BE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运算结果本身≠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0      	∴ZF=0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37999" name="Freeform 111">
            <a:extLst>
              <a:ext uri="{FF2B5EF4-FFF2-40B4-BE49-F238E27FC236}">
                <a16:creationId xmlns:a16="http://schemas.microsoft.com/office/drawing/2014/main" id="{0F45249E-C670-4A25-ADBB-4AC4ACCDF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" y="3048000"/>
            <a:ext cx="165100" cy="381000"/>
          </a:xfrm>
          <a:custGeom>
            <a:avLst/>
            <a:gdLst>
              <a:gd name="T0" fmla="*/ 2147483646 w 104"/>
              <a:gd name="T1" fmla="*/ 0 h 240"/>
              <a:gd name="T2" fmla="*/ 2147483646 w 104"/>
              <a:gd name="T3" fmla="*/ 2147483646 h 240"/>
              <a:gd name="T4" fmla="*/ 2147483646 w 104"/>
              <a:gd name="T5" fmla="*/ 2147483646 h 2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4" h="240">
                <a:moveTo>
                  <a:pt x="56" y="0"/>
                </a:moveTo>
                <a:cubicBezTo>
                  <a:pt x="28" y="52"/>
                  <a:pt x="0" y="104"/>
                  <a:pt x="8" y="144"/>
                </a:cubicBezTo>
                <a:cubicBezTo>
                  <a:pt x="16" y="184"/>
                  <a:pt x="60" y="212"/>
                  <a:pt x="104" y="240"/>
                </a:cubicBezTo>
              </a:path>
            </a:pathLst>
          </a:custGeom>
          <a:noFill/>
          <a:ln w="25400">
            <a:solidFill>
              <a:srgbClr val="FFFF0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000" name="AutoShape 112">
            <a:extLst>
              <a:ext uri="{FF2B5EF4-FFF2-40B4-BE49-F238E27FC236}">
                <a16:creationId xmlns:a16="http://schemas.microsoft.com/office/drawing/2014/main" id="{DEB0C3E4-5BAD-46AC-AD9B-679EDC825092}"/>
              </a:ext>
            </a:extLst>
          </p:cNvPr>
          <p:cNvSpPr>
            <a:spLocks/>
          </p:cNvSpPr>
          <p:nvPr/>
        </p:nvSpPr>
        <p:spPr bwMode="auto">
          <a:xfrm rot="-5400000">
            <a:off x="6400800" y="1447800"/>
            <a:ext cx="152400" cy="3505200"/>
          </a:xfrm>
          <a:prstGeom prst="leftBrace">
            <a:avLst>
              <a:gd name="adj1" fmla="val 189750"/>
              <a:gd name="adj2" fmla="val 50000"/>
            </a:avLst>
          </a:prstGeom>
          <a:noFill/>
          <a:ln w="254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38001" name="Freeform 113">
            <a:extLst>
              <a:ext uri="{FF2B5EF4-FFF2-40B4-BE49-F238E27FC236}">
                <a16:creationId xmlns:a16="http://schemas.microsoft.com/office/drawing/2014/main" id="{50BF2800-9786-4F61-8EEE-AC0E8FEB5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76600"/>
            <a:ext cx="1130300" cy="1219200"/>
          </a:xfrm>
          <a:custGeom>
            <a:avLst/>
            <a:gdLst>
              <a:gd name="T0" fmla="*/ 2147483646 w 712"/>
              <a:gd name="T1" fmla="*/ 0 h 768"/>
              <a:gd name="T2" fmla="*/ 2147483646 w 712"/>
              <a:gd name="T3" fmla="*/ 2147483646 h 768"/>
              <a:gd name="T4" fmla="*/ 0 w 712"/>
              <a:gd name="T5" fmla="*/ 2147483646 h 76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2" h="768">
                <a:moveTo>
                  <a:pt x="240" y="0"/>
                </a:moveTo>
                <a:cubicBezTo>
                  <a:pt x="476" y="128"/>
                  <a:pt x="712" y="256"/>
                  <a:pt x="672" y="384"/>
                </a:cubicBezTo>
                <a:cubicBezTo>
                  <a:pt x="632" y="512"/>
                  <a:pt x="316" y="640"/>
                  <a:pt x="0" y="768"/>
                </a:cubicBezTo>
              </a:path>
            </a:pathLst>
          </a:custGeom>
          <a:noFill/>
          <a:ln w="25400">
            <a:solidFill>
              <a:srgbClr val="00FF00"/>
            </a:solidFill>
            <a:miter lim="800000"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002" name="Freeform 114">
            <a:extLst>
              <a:ext uri="{FF2B5EF4-FFF2-40B4-BE49-F238E27FC236}">
                <a16:creationId xmlns:a16="http://schemas.microsoft.com/office/drawing/2014/main" id="{970C7908-38A6-4236-86C4-52E2F8514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2971800"/>
            <a:ext cx="622300" cy="2260600"/>
          </a:xfrm>
          <a:custGeom>
            <a:avLst/>
            <a:gdLst>
              <a:gd name="T0" fmla="*/ 2147483646 w 392"/>
              <a:gd name="T1" fmla="*/ 0 h 1424"/>
              <a:gd name="T2" fmla="*/ 2147483646 w 392"/>
              <a:gd name="T3" fmla="*/ 2147483646 h 1424"/>
              <a:gd name="T4" fmla="*/ 2147483646 w 392"/>
              <a:gd name="T5" fmla="*/ 2147483646 h 14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2" h="1424">
                <a:moveTo>
                  <a:pt x="56" y="0"/>
                </a:moveTo>
                <a:cubicBezTo>
                  <a:pt x="28" y="488"/>
                  <a:pt x="0" y="976"/>
                  <a:pt x="56" y="1200"/>
                </a:cubicBezTo>
                <a:cubicBezTo>
                  <a:pt x="112" y="1424"/>
                  <a:pt x="252" y="1384"/>
                  <a:pt x="392" y="1344"/>
                </a:cubicBezTo>
              </a:path>
            </a:pathLst>
          </a:custGeom>
          <a:noFill/>
          <a:ln w="25400">
            <a:solidFill>
              <a:schemeClr val="tx1"/>
            </a:solidFill>
            <a:miter lim="800000"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217" name="灯片编号占位符 1">
            <a:extLst>
              <a:ext uri="{FF2B5EF4-FFF2-40B4-BE49-F238E27FC236}">
                <a16:creationId xmlns:a16="http://schemas.microsoft.com/office/drawing/2014/main" id="{2442A632-B040-49E3-9608-A0975702B4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0D9C5A5-5FAB-42F3-898C-DACC4F5B98A1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36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88081" name="Rectangle 32">
            <a:extLst>
              <a:ext uri="{FF2B5EF4-FFF2-40B4-BE49-F238E27FC236}">
                <a16:creationId xmlns:a16="http://schemas.microsoft.com/office/drawing/2014/main" id="{CDE27444-A14D-446A-91FE-81178AAE0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58763"/>
            <a:ext cx="7356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(*)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标志位判断综合举例三（</a:t>
            </a:r>
            <a:r>
              <a:rPr lang="zh-CN" altLang="en-US" sz="320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两数相减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7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8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8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8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8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7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7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7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7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7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7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7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7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7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7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7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7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7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7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" grpId="0" animBg="1"/>
      <p:bldP spid="37994" grpId="0"/>
      <p:bldP spid="37995" grpId="0"/>
      <p:bldP spid="37996" grpId="0"/>
      <p:bldP spid="37997" grpId="0"/>
      <p:bldP spid="37998" grpId="0"/>
      <p:bldP spid="3800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>
            <a:extLst>
              <a:ext uri="{FF2B5EF4-FFF2-40B4-BE49-F238E27FC236}">
                <a16:creationId xmlns:a16="http://schemas.microsoft.com/office/drawing/2014/main" id="{4A2AB452-1DDC-403A-BA8A-8077F81B4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(*)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状态标志位小结</a:t>
            </a:r>
            <a:endParaRPr lang="zh-CN" altLang="en-US" sz="3200" b="1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  <p:sp>
        <p:nvSpPr>
          <p:cNvPr id="89091" name="内容占位符 2">
            <a:extLst>
              <a:ext uri="{FF2B5EF4-FFF2-40B4-BE49-F238E27FC236}">
                <a16:creationId xmlns:a16="http://schemas.microsoft.com/office/drawing/2014/main" id="{F7D22249-477C-4380-AE61-FAB3630630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700" y="1473200"/>
            <a:ext cx="8372475" cy="4337050"/>
          </a:xfrm>
        </p:spPr>
        <p:txBody>
          <a:bodyPr/>
          <a:lstStyle/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参加运算的是正数、负数、有符号数、无符号数还是</a:t>
            </a:r>
            <a:r>
              <a:rPr lang="en-US" altLang="en-US"/>
              <a:t>BCD</a:t>
            </a:r>
            <a:r>
              <a:rPr lang="zh-CN" altLang="en-US">
                <a:ea typeface="宋体" panose="02010600030101010101" pitchFamily="2" charset="-122"/>
              </a:rPr>
              <a:t>数？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由编程人员确定，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CPU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并不知道，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CPU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只是按规则形成标志位，如何选择标志位是程序员的事情</a:t>
            </a:r>
            <a:r>
              <a:rPr lang="zh-CN" altLang="en-US">
                <a:ea typeface="宋体" panose="02010600030101010101" pitchFamily="2" charset="-122"/>
              </a:rPr>
              <a:t>；</a:t>
            </a:r>
          </a:p>
          <a:p>
            <a:pPr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如果你把参加运算的数当成有符号数，运算后可去查</a:t>
            </a:r>
            <a:r>
              <a:rPr lang="en-US" altLang="en-US"/>
              <a:t>SF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OF</a:t>
            </a:r>
            <a:r>
              <a:rPr lang="zh-CN" altLang="en-US">
                <a:ea typeface="宋体" panose="02010600030101010101" pitchFamily="2" charset="-122"/>
              </a:rPr>
              <a:t>标志；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如果当成无符号数，运算后可以查</a:t>
            </a:r>
            <a:r>
              <a:rPr lang="en-US" altLang="en-US"/>
              <a:t>CF</a:t>
            </a:r>
            <a:r>
              <a:rPr lang="zh-CN" altLang="en-US">
                <a:ea typeface="宋体" panose="02010600030101010101" pitchFamily="2" charset="-122"/>
              </a:rPr>
              <a:t>标志；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如果当成</a:t>
            </a:r>
            <a:r>
              <a:rPr lang="en-US" altLang="en-US"/>
              <a:t>BCD</a:t>
            </a:r>
            <a:r>
              <a:rPr lang="zh-CN" altLang="en-US">
                <a:ea typeface="宋体" panose="02010600030101010101" pitchFamily="2" charset="-122"/>
              </a:rPr>
              <a:t>数，运算后需要查</a:t>
            </a:r>
            <a:r>
              <a:rPr lang="en-US" altLang="en-US"/>
              <a:t>AF</a:t>
            </a:r>
            <a:r>
              <a:rPr lang="zh-CN" altLang="en-US">
                <a:ea typeface="宋体" panose="02010600030101010101" pitchFamily="2" charset="-122"/>
              </a:rPr>
              <a:t>标志；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不管参加运算的数是何类型，都可查</a:t>
            </a:r>
            <a:r>
              <a:rPr lang="en-US" altLang="en-US"/>
              <a:t>ZF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PF</a:t>
            </a:r>
            <a:r>
              <a:rPr lang="zh-CN" altLang="en-US">
                <a:ea typeface="宋体" panose="02010600030101010101" pitchFamily="2" charset="-122"/>
              </a:rPr>
              <a:t>标志。</a:t>
            </a:r>
          </a:p>
        </p:txBody>
      </p:sp>
    </p:spTree>
  </p:cSld>
  <p:clrMapOvr>
    <a:masterClrMapping/>
  </p:clrMapOvr>
  <p:transition spd="slow">
    <p:strips dir="r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9">
            <a:extLst>
              <a:ext uri="{FF2B5EF4-FFF2-40B4-BE49-F238E27FC236}">
                <a16:creationId xmlns:a16="http://schemas.microsoft.com/office/drawing/2014/main" id="{45041C99-56E1-4A5C-BF26-9AF370B30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004888"/>
            <a:ext cx="749935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方向标志位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DF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DF=1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CPU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将以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数据串递减的顺序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即地址由高向低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对数据串中的数据进行处理；若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DF=0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，则将以递加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即地址由低向高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的顺序对数据进行处理。</a:t>
            </a:r>
          </a:p>
        </p:txBody>
      </p:sp>
      <p:sp>
        <p:nvSpPr>
          <p:cNvPr id="39939" name="AutoShape 27">
            <a:extLst>
              <a:ext uri="{FF2B5EF4-FFF2-40B4-BE49-F238E27FC236}">
                <a16:creationId xmlns:a16="http://schemas.microsoft.com/office/drawing/2014/main" id="{DA89B6BD-59F0-4ACF-86CF-7CD4E41165F5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3546475" y="4957763"/>
            <a:ext cx="990600" cy="381000"/>
          </a:xfrm>
          <a:prstGeom prst="leftArrow">
            <a:avLst>
              <a:gd name="adj1" fmla="val 41667"/>
              <a:gd name="adj2" fmla="val 113100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90116" name="Rectangle 36">
            <a:extLst>
              <a:ext uri="{FF2B5EF4-FFF2-40B4-BE49-F238E27FC236}">
                <a16:creationId xmlns:a16="http://schemas.microsoft.com/office/drawing/2014/main" id="{8248AAA3-8E6E-4EF6-9DA7-9F9E2B632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57175"/>
            <a:ext cx="69278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(7)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方向控制标志位（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DF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en-US" altLang="zh-CN" sz="3200">
                <a:solidFill>
                  <a:srgbClr val="FFFF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  <a:r>
              <a:rPr lang="zh-CN" altLang="en-US" sz="3200">
                <a:solidFill>
                  <a:srgbClr val="FFFF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不考</a:t>
            </a:r>
          </a:p>
        </p:txBody>
      </p:sp>
      <p:sp>
        <p:nvSpPr>
          <p:cNvPr id="39941" name="Rectangle 42">
            <a:extLst>
              <a:ext uri="{FF2B5EF4-FFF2-40B4-BE49-F238E27FC236}">
                <a16:creationId xmlns:a16="http://schemas.microsoft.com/office/drawing/2014/main" id="{72C4DE32-E746-401E-A9FD-720F1FA0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589588"/>
            <a:ext cx="332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操作指令：</a:t>
            </a:r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STD </a:t>
            </a: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，</a:t>
            </a:r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CLD</a:t>
            </a:r>
            <a:endParaRPr lang="zh-CN" altLang="en-US" sz="24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39942" name="组合 39941">
            <a:extLst>
              <a:ext uri="{FF2B5EF4-FFF2-40B4-BE49-F238E27FC236}">
                <a16:creationId xmlns:a16="http://schemas.microsoft.com/office/drawing/2014/main" id="{ADC29E6B-677C-4E93-853D-D88DA17223A6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430588"/>
            <a:ext cx="8569325" cy="1222375"/>
            <a:chOff x="0" y="0"/>
            <a:chExt cx="5398" cy="770"/>
          </a:xfrm>
        </p:grpSpPr>
        <p:sp>
          <p:nvSpPr>
            <p:cNvPr id="90120" name="Rectangle 35">
              <a:extLst>
                <a:ext uri="{FF2B5EF4-FFF2-40B4-BE49-F238E27FC236}">
                  <a16:creationId xmlns:a16="http://schemas.microsoft.com/office/drawing/2014/main" id="{1C607A64-50BA-4D8A-A98C-5E0A28EBA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" y="395"/>
              <a:ext cx="3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DF</a:t>
              </a:r>
            </a:p>
          </p:txBody>
        </p:sp>
        <p:grpSp>
          <p:nvGrpSpPr>
            <p:cNvPr id="90121" name="组合 39943">
              <a:extLst>
                <a:ext uri="{FF2B5EF4-FFF2-40B4-BE49-F238E27FC236}">
                  <a16:creationId xmlns:a16="http://schemas.microsoft.com/office/drawing/2014/main" id="{AE7F0CF6-C955-4880-A862-CD58B6BC77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98" cy="770"/>
              <a:chOff x="0" y="0"/>
              <a:chExt cx="5398" cy="770"/>
            </a:xfrm>
          </p:grpSpPr>
          <p:sp>
            <p:nvSpPr>
              <p:cNvPr id="90122" name="Rectangle 44">
                <a:extLst>
                  <a:ext uri="{FF2B5EF4-FFF2-40B4-BE49-F238E27FC236}">
                    <a16:creationId xmlns:a16="http://schemas.microsoft.com/office/drawing/2014/main" id="{F7D36B76-6BFE-4991-B2BD-5F36B1418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6" y="391"/>
                <a:ext cx="3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PF</a:t>
                </a:r>
                <a:endParaRPr lang="en-US" altLang="zh-CN" sz="2400" b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0123" name="组合 39945">
                <a:extLst>
                  <a:ext uri="{FF2B5EF4-FFF2-40B4-BE49-F238E27FC236}">
                    <a16:creationId xmlns:a16="http://schemas.microsoft.com/office/drawing/2014/main" id="{C095C41B-98FC-4B5E-A48A-47EF9E2B44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sp>
              <p:nvSpPr>
                <p:cNvPr id="90124" name="Rectangle 46">
                  <a:extLst>
                    <a:ext uri="{FF2B5EF4-FFF2-40B4-BE49-F238E27FC236}">
                      <a16:creationId xmlns:a16="http://schemas.microsoft.com/office/drawing/2014/main" id="{233683B9-1B01-4B44-99C6-7139F4B8E1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9" y="408"/>
                  <a:ext cx="32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solidFill>
                        <a:srgbClr val="FF3300"/>
                      </a:solidFill>
                      <a:latin typeface="Times New Roman" panose="02020603050405020304" pitchFamily="18" charset="0"/>
                    </a:rPr>
                    <a:t>SF</a:t>
                  </a:r>
                </a:p>
              </p:txBody>
            </p:sp>
            <p:grpSp>
              <p:nvGrpSpPr>
                <p:cNvPr id="90125" name="组合 39947">
                  <a:extLst>
                    <a:ext uri="{FF2B5EF4-FFF2-40B4-BE49-F238E27FC236}">
                      <a16:creationId xmlns:a16="http://schemas.microsoft.com/office/drawing/2014/main" id="{AF2F1566-083A-45E8-A4C8-6FF068E1E11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398" cy="770"/>
                  <a:chOff x="0" y="0"/>
                  <a:chExt cx="5398" cy="770"/>
                </a:xfrm>
              </p:grpSpPr>
              <p:sp>
                <p:nvSpPr>
                  <p:cNvPr id="90126" name="Rectangle 48">
                    <a:extLst>
                      <a:ext uri="{FF2B5EF4-FFF2-40B4-BE49-F238E27FC236}">
                        <a16:creationId xmlns:a16="http://schemas.microsoft.com/office/drawing/2014/main" id="{08D3AA72-A12D-4DD1-ADDE-CF80BC96DA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3357" y="408"/>
                    <a:ext cx="34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400" b="0">
                        <a:solidFill>
                          <a:srgbClr val="FF3300"/>
                        </a:solidFill>
                        <a:latin typeface="Times New Roman" panose="02020603050405020304" pitchFamily="18" charset="0"/>
                      </a:rPr>
                      <a:t>ZF</a:t>
                    </a:r>
                  </a:p>
                </p:txBody>
              </p:sp>
              <p:grpSp>
                <p:nvGrpSpPr>
                  <p:cNvPr id="90127" name="组合 39949">
                    <a:extLst>
                      <a:ext uri="{FF2B5EF4-FFF2-40B4-BE49-F238E27FC236}">
                        <a16:creationId xmlns:a16="http://schemas.microsoft.com/office/drawing/2014/main" id="{2EA8A12F-64DA-4DD9-BD8A-A96F836FEB9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5398" cy="770"/>
                    <a:chOff x="0" y="0"/>
                    <a:chExt cx="5398" cy="770"/>
                  </a:xfrm>
                </p:grpSpPr>
                <p:sp>
                  <p:nvSpPr>
                    <p:cNvPr id="90128" name="Rectangle 50">
                      <a:extLst>
                        <a:ext uri="{FF2B5EF4-FFF2-40B4-BE49-F238E27FC236}">
                          <a16:creationId xmlns:a16="http://schemas.microsoft.com/office/drawing/2014/main" id="{B1CFCF27-B3BB-44C8-8730-804603D1188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4" y="391"/>
                      <a:ext cx="360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000" tIns="46800" rIns="90000" bIns="4680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</a:rPr>
                        <a:t>OF</a:t>
                      </a:r>
                    </a:p>
                  </p:txBody>
                </p:sp>
                <p:grpSp>
                  <p:nvGrpSpPr>
                    <p:cNvPr id="90129" name="组合 39951">
                      <a:extLst>
                        <a:ext uri="{FF2B5EF4-FFF2-40B4-BE49-F238E27FC236}">
                          <a16:creationId xmlns:a16="http://schemas.microsoft.com/office/drawing/2014/main" id="{28421C3F-118C-47DD-A8FB-900BA9954D7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5398" cy="770"/>
                      <a:chOff x="0" y="0"/>
                      <a:chExt cx="5398" cy="770"/>
                    </a:xfrm>
                  </p:grpSpPr>
                  <p:sp>
                    <p:nvSpPr>
                      <p:cNvPr id="90130" name="Rectangle 52">
                        <a:extLst>
                          <a:ext uri="{FF2B5EF4-FFF2-40B4-BE49-F238E27FC236}">
                            <a16:creationId xmlns:a16="http://schemas.microsoft.com/office/drawing/2014/main" id="{06678E0C-1887-4135-A1DC-3DBE9027E1F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01" y="385"/>
                        <a:ext cx="360" cy="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000" tIns="46800" rIns="90000" bIns="4680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r>
                          <a:rPr lang="en-US" altLang="zh-CN" sz="2400" b="0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</a:rPr>
                          <a:t>AF</a:t>
                        </a:r>
                      </a:p>
                    </p:txBody>
                  </p:sp>
                  <p:grpSp>
                    <p:nvGrpSpPr>
                      <p:cNvPr id="90131" name="组合 39953">
                        <a:extLst>
                          <a:ext uri="{FF2B5EF4-FFF2-40B4-BE49-F238E27FC236}">
                            <a16:creationId xmlns:a16="http://schemas.microsoft.com/office/drawing/2014/main" id="{69738FBC-FAAC-43AB-82A0-1BA7617E486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0" y="0"/>
                        <a:ext cx="5398" cy="770"/>
                        <a:chOff x="0" y="0"/>
                        <a:chExt cx="5398" cy="770"/>
                      </a:xfrm>
                    </p:grpSpPr>
                    <p:grpSp>
                      <p:nvGrpSpPr>
                        <p:cNvPr id="90132" name="组合 39954">
                          <a:extLst>
                            <a:ext uri="{FF2B5EF4-FFF2-40B4-BE49-F238E27FC236}">
                              <a16:creationId xmlns:a16="http://schemas.microsoft.com/office/drawing/2014/main" id="{64AA48B3-5CB3-4F18-B18B-C1E6B11DBAA9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770" y="0"/>
                          <a:ext cx="4628" cy="770"/>
                          <a:chOff x="0" y="0"/>
                          <a:chExt cx="4628" cy="770"/>
                        </a:xfrm>
                      </p:grpSpPr>
                      <p:sp>
                        <p:nvSpPr>
                          <p:cNvPr id="90134" name="Text Box 55">
                            <a:extLst>
                              <a:ext uri="{FF2B5EF4-FFF2-40B4-BE49-F238E27FC236}">
                                <a16:creationId xmlns:a16="http://schemas.microsoft.com/office/drawing/2014/main" id="{3F77BB72-18D5-4C11-B4EA-F4F1766365A2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0" y="0"/>
                            <a:ext cx="462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hlink"/>
                              </a:buClr>
                              <a:buFont typeface="Wingdings" panose="05000000000000000000" pitchFamily="2" charset="2"/>
                              <a:buChar char="v"/>
                              <a:defRPr sz="2800" b="1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accent1"/>
                              </a:buClr>
                              <a:buFont typeface="Wingdings" panose="05000000000000000000" pitchFamily="2" charset="2"/>
                              <a:buChar char="§"/>
                              <a:defRPr sz="24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tx1"/>
                              </a:buClr>
                              <a:buFont typeface="Wingdings" panose="05000000000000000000" pitchFamily="2" charset="2"/>
                              <a:buChar char="•"/>
                              <a:defRPr sz="22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Font typeface="Wingdings" panose="05000000000000000000" pitchFamily="2" charset="2"/>
                              <a:buChar char="–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9pPr>
                          </a:lstStyle>
                          <a:p>
                            <a:pPr>
                              <a:spcBef>
                                <a:spcPct val="50000"/>
                              </a:spcBef>
                              <a:buClrTx/>
                              <a:buFont typeface="Arial" panose="020B0604020202020204" pitchFamily="34" charset="0"/>
                              <a:buNone/>
                            </a:pPr>
                            <a:r>
                              <a:rPr lang="en-US" altLang="zh-CN" sz="2400" b="0">
                                <a:latin typeface="Times New Roman" panose="02020603050405020304" pitchFamily="18" charset="0"/>
                                <a:ea typeface="楷体_GB2312" pitchFamily="49" charset="-122"/>
                              </a:rPr>
                              <a:t>15   14  13  12  11  10   9    8    7    6    5    4    3    2    1    0</a:t>
                            </a:r>
                            <a:endParaRPr lang="en-US" altLang="zh-CN" sz="1600" b="0">
                              <a:latin typeface="Times New Roman" panose="02020603050405020304" pitchFamily="18" charset="0"/>
                              <a:ea typeface="楷体_GB2312" pitchFamily="49" charset="-122"/>
                            </a:endParaRPr>
                          </a:p>
                        </p:txBody>
                      </p:sp>
                      <p:grpSp>
                        <p:nvGrpSpPr>
                          <p:cNvPr id="90135" name="组合 39956">
                            <a:extLst>
                              <a:ext uri="{FF2B5EF4-FFF2-40B4-BE49-F238E27FC236}">
                                <a16:creationId xmlns:a16="http://schemas.microsoft.com/office/drawing/2014/main" id="{E9897CE1-E405-457A-BA2C-FF0C751A1B36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7" y="317"/>
                            <a:ext cx="4534" cy="453"/>
                            <a:chOff x="0" y="0"/>
                            <a:chExt cx="4608" cy="789"/>
                          </a:xfrm>
                        </p:grpSpPr>
                        <p:sp>
                          <p:nvSpPr>
                            <p:cNvPr id="90136" name="Rectangle 57">
                              <a:extLst>
                                <a:ext uri="{FF2B5EF4-FFF2-40B4-BE49-F238E27FC236}">
                                  <a16:creationId xmlns:a16="http://schemas.microsoft.com/office/drawing/2014/main" id="{D7CD3D8E-0B21-4DE8-8315-72C37C58BFD9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0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37" name="Rectangle 58">
                              <a:extLst>
                                <a:ext uri="{FF2B5EF4-FFF2-40B4-BE49-F238E27FC236}">
                                  <a16:creationId xmlns:a16="http://schemas.microsoft.com/office/drawing/2014/main" id="{3EEC7D01-9E4A-412D-9B3D-9549F10E7858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88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38" name="Rectangle 59">
                              <a:extLst>
                                <a:ext uri="{FF2B5EF4-FFF2-40B4-BE49-F238E27FC236}">
                                  <a16:creationId xmlns:a16="http://schemas.microsoft.com/office/drawing/2014/main" id="{C442F75E-E4A0-42B6-8B0E-2C0A43DCE96C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576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39" name="Rectangle 60">
                              <a:extLst>
                                <a:ext uri="{FF2B5EF4-FFF2-40B4-BE49-F238E27FC236}">
                                  <a16:creationId xmlns:a16="http://schemas.microsoft.com/office/drawing/2014/main" id="{470EBC0F-EAF7-4602-9F86-6380E7D48080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864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0" name="Rectangle 61">
                              <a:extLst>
                                <a:ext uri="{FF2B5EF4-FFF2-40B4-BE49-F238E27FC236}">
                                  <a16:creationId xmlns:a16="http://schemas.microsoft.com/office/drawing/2014/main" id="{7DD8E271-59D9-42E4-BC8F-1BD6067DC2DE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152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1" name="Rectangle 62">
                              <a:extLst>
                                <a:ext uri="{FF2B5EF4-FFF2-40B4-BE49-F238E27FC236}">
                                  <a16:creationId xmlns:a16="http://schemas.microsoft.com/office/drawing/2014/main" id="{429412FB-321D-4531-8E18-433E5417FEE7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440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2" name="Rectangle 63">
                              <a:extLst>
                                <a:ext uri="{FF2B5EF4-FFF2-40B4-BE49-F238E27FC236}">
                                  <a16:creationId xmlns:a16="http://schemas.microsoft.com/office/drawing/2014/main" id="{F50BEA2F-11EF-4DBE-9584-727EDF87593E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728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3" name="Rectangle 64">
                              <a:extLst>
                                <a:ext uri="{FF2B5EF4-FFF2-40B4-BE49-F238E27FC236}">
                                  <a16:creationId xmlns:a16="http://schemas.microsoft.com/office/drawing/2014/main" id="{D19575E4-A845-4692-9586-680D885E7106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016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4" name="Rectangle 65">
                              <a:extLst>
                                <a:ext uri="{FF2B5EF4-FFF2-40B4-BE49-F238E27FC236}">
                                  <a16:creationId xmlns:a16="http://schemas.microsoft.com/office/drawing/2014/main" id="{2F015C91-F928-4BC8-AC06-A6BE670A5A6F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304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5" name="Rectangle 66">
                              <a:extLst>
                                <a:ext uri="{FF2B5EF4-FFF2-40B4-BE49-F238E27FC236}">
                                  <a16:creationId xmlns:a16="http://schemas.microsoft.com/office/drawing/2014/main" id="{5698FB25-259A-431F-8A8B-0D5C8ABD3520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592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6" name="Rectangle 67">
                              <a:extLst>
                                <a:ext uri="{FF2B5EF4-FFF2-40B4-BE49-F238E27FC236}">
                                  <a16:creationId xmlns:a16="http://schemas.microsoft.com/office/drawing/2014/main" id="{9892CB04-C00C-4CAF-833D-230796FBED73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880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7" name="Rectangle 68">
                              <a:extLst>
                                <a:ext uri="{FF2B5EF4-FFF2-40B4-BE49-F238E27FC236}">
                                  <a16:creationId xmlns:a16="http://schemas.microsoft.com/office/drawing/2014/main" id="{CAC0475C-B58E-49F1-AB94-C7C4CC51EF5A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168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8" name="Rectangle 69">
                              <a:extLst>
                                <a:ext uri="{FF2B5EF4-FFF2-40B4-BE49-F238E27FC236}">
                                  <a16:creationId xmlns:a16="http://schemas.microsoft.com/office/drawing/2014/main" id="{15D1AA55-D49B-4076-8B6F-2343C0800EE0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456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9" name="Rectangle 70">
                              <a:extLst>
                                <a:ext uri="{FF2B5EF4-FFF2-40B4-BE49-F238E27FC236}">
                                  <a16:creationId xmlns:a16="http://schemas.microsoft.com/office/drawing/2014/main" id="{F7083D73-330E-47DF-8C0A-25CBDF76D724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744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50" name="Rectangle 71">
                              <a:extLst>
                                <a:ext uri="{FF2B5EF4-FFF2-40B4-BE49-F238E27FC236}">
                                  <a16:creationId xmlns:a16="http://schemas.microsoft.com/office/drawing/2014/main" id="{C5632494-F4BC-410C-B370-D85B8B380F07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032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51" name="Rectangle 72">
                              <a:extLst>
                                <a:ext uri="{FF2B5EF4-FFF2-40B4-BE49-F238E27FC236}">
                                  <a16:creationId xmlns:a16="http://schemas.microsoft.com/office/drawing/2014/main" id="{2FC8A177-618C-4F72-9B1C-8C52C05D3285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320" y="0"/>
                              <a:ext cx="288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52" name="Rectangle 73">
                              <a:extLst>
                                <a:ext uri="{FF2B5EF4-FFF2-40B4-BE49-F238E27FC236}">
                                  <a16:creationId xmlns:a16="http://schemas.microsoft.com/office/drawing/2014/main" id="{5D7EEFF0-9BEC-4595-B71C-2A2F38D19BF4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320" y="0"/>
                              <a:ext cx="288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53" name="Rectangle 74">
                              <a:extLst>
                                <a:ext uri="{FF2B5EF4-FFF2-40B4-BE49-F238E27FC236}">
                                  <a16:creationId xmlns:a16="http://schemas.microsoft.com/office/drawing/2014/main" id="{038CC5B1-1A4F-4136-B03B-941310233B67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320" y="0"/>
                              <a:ext cx="288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algn="ctr">
                                <a:spcBef>
                                  <a:spcPct val="5000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r>
                                <a:rPr lang="en-US" altLang="zh-CN" sz="2400" b="0">
                                  <a:solidFill>
                                    <a:srgbClr val="FF3300"/>
                                  </a:solidFill>
                                  <a:latin typeface="Times New Roman" panose="02020603050405020304" pitchFamily="18" charset="0"/>
                                  <a:ea typeface="楷体_GB2312" pitchFamily="49" charset="-122"/>
                                </a:rPr>
                                <a:t>CF</a:t>
                              </a:r>
                              <a:endParaRPr lang="en-US" altLang="zh-CN" sz="1600" b="0">
                                <a:latin typeface="Times New Roman" panose="02020603050405020304" pitchFamily="18" charset="0"/>
                                <a:ea typeface="楷体_GB2312" pitchFamily="49" charset="-122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90133" name="Rectangle 75">
                          <a:extLst>
                            <a:ext uri="{FF2B5EF4-FFF2-40B4-BE49-F238E27FC236}">
                              <a16:creationId xmlns:a16="http://schemas.microsoft.com/office/drawing/2014/main" id="{8CE1153C-1834-4819-8FC2-5FD1558CF28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0" y="340"/>
                          <a:ext cx="742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Font typeface="Wingdings" panose="05000000000000000000" pitchFamily="2" charset="2"/>
                            <a:buChar char="v"/>
                            <a:defRPr sz="2800" b="1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Font typeface="Wingdings" panose="05000000000000000000" pitchFamily="2" charset="2"/>
                            <a:buChar char="§"/>
                            <a:defRPr sz="24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Font typeface="Wingdings" panose="05000000000000000000" pitchFamily="2" charset="2"/>
                            <a:buChar char="•"/>
                            <a:defRPr sz="22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Font typeface="Wingdings" panose="05000000000000000000" pitchFamily="2" charset="2"/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0"/>
                            </a:spcBef>
                            <a:buClrTx/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zh-CN">
                              <a:latin typeface="Garamond" panose="02020404030301010803" pitchFamily="18" charset="0"/>
                            </a:rPr>
                            <a:t>FLAG</a:t>
                          </a:r>
                          <a:r>
                            <a:rPr lang="en-US" altLang="zh-CN" sz="1800" b="0">
                              <a:latin typeface="Garamond" panose="02020404030301010803" pitchFamily="18" charset="0"/>
                            </a:rPr>
                            <a:t> </a:t>
                          </a:r>
                          <a:endParaRPr lang="zh-CN" altLang="en-US" sz="1800" b="0">
                            <a:latin typeface="Garamond" panose="02020404030301010803" pitchFamily="18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49192" name="灯片编号占位符 1">
            <a:extLst>
              <a:ext uri="{FF2B5EF4-FFF2-40B4-BE49-F238E27FC236}">
                <a16:creationId xmlns:a16="http://schemas.microsoft.com/office/drawing/2014/main" id="{55A51438-A776-4AC7-A1A5-8B9FAC77E8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09CB6FE-7261-4AAE-A33E-4E66270D541B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38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39" grpId="0" bldLvl="0" animBg="1"/>
      <p:bldP spid="3994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5">
            <a:extLst>
              <a:ext uri="{FF2B5EF4-FFF2-40B4-BE49-F238E27FC236}">
                <a16:creationId xmlns:a16="http://schemas.microsoft.com/office/drawing/2014/main" id="{05B8FFD8-72D8-4151-825B-8021BF9E6084}"/>
              </a:ext>
            </a:extLst>
          </p:cNvPr>
          <p:cNvSpPr txBox="1"/>
          <p:nvPr/>
        </p:nvSpPr>
        <p:spPr>
          <a:xfrm>
            <a:off x="1042988" y="909638"/>
            <a:ext cx="7499350" cy="222726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rgbClr val="FF3300"/>
                </a:solidFill>
                <a:latin typeface="楷体_GB2312" pitchFamily="1" charset="-122"/>
                <a:ea typeface="楷体_GB2312" pitchFamily="1" charset="-122"/>
                <a:cs typeface="+mn-ea"/>
              </a:rPr>
              <a:t>中断允许标志</a:t>
            </a:r>
            <a:r>
              <a:rPr lang="en-US" altLang="x-none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IF</a:t>
            </a:r>
            <a:r>
              <a:rPr lang="zh-CN" altLang="en-US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：</a:t>
            </a:r>
            <a:endParaRPr lang="zh-CN" altLang="en-US" sz="2800" noProof="1">
              <a:solidFill>
                <a:srgbClr val="FF3300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若将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IF=1</a:t>
            </a:r>
            <a:r>
              <a:rPr lang="zh-CN" altLang="en-US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，则处理器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允许接受外部可屏蔽中断</a:t>
            </a:r>
            <a:r>
              <a:rPr lang="zh-CN" altLang="en-US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发来的中断请求；</a:t>
            </a:r>
            <a:endParaRPr lang="zh-CN" altLang="en-US" sz="2800" noProof="1">
              <a:solidFill>
                <a:srgbClr val="FF3300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IF=0</a:t>
            </a:r>
            <a:r>
              <a:rPr lang="zh-CN" altLang="en-US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时，</a:t>
            </a:r>
            <a:r>
              <a:rPr lang="en-US" altLang="x-none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CPU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不能接受</a:t>
            </a:r>
            <a:r>
              <a:rPr lang="zh-CN" altLang="en-US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外部可屏蔽中断发来的请求</a:t>
            </a:r>
            <a:r>
              <a:rPr lang="en-US" altLang="x-none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.</a:t>
            </a:r>
            <a:r>
              <a:rPr lang="en-US" altLang="x-none" sz="2400" b="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 </a:t>
            </a:r>
            <a:r>
              <a:rPr lang="en-US" altLang="x-none" sz="2400" b="0" noProof="1">
                <a:solidFill>
                  <a:srgbClr val="FF3300"/>
                </a:solidFill>
                <a:latin typeface="楷体_GB2312" pitchFamily="1" charset="-122"/>
                <a:ea typeface="楷体_GB2312" pitchFamily="1" charset="-122"/>
                <a:cs typeface="+mn-ea"/>
              </a:rPr>
              <a:t>     </a:t>
            </a:r>
            <a:r>
              <a:rPr lang="en-US" altLang="x-none" sz="240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          </a:t>
            </a:r>
            <a:endParaRPr lang="en-US" altLang="x-none" sz="2400" noProof="1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</a:endParaRPr>
          </a:p>
        </p:txBody>
      </p:sp>
      <p:sp>
        <p:nvSpPr>
          <p:cNvPr id="40963" name="AutoShape 23">
            <a:extLst>
              <a:ext uri="{FF2B5EF4-FFF2-40B4-BE49-F238E27FC236}">
                <a16:creationId xmlns:a16="http://schemas.microsoft.com/office/drawing/2014/main" id="{0763A3D6-AD33-45FB-9EB4-E75FE4108342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4123531" y="4853782"/>
            <a:ext cx="720725" cy="287338"/>
          </a:xfrm>
          <a:prstGeom prst="leftArrow">
            <a:avLst>
              <a:gd name="adj1" fmla="val 41667"/>
              <a:gd name="adj2" fmla="val 109006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91140" name="Rectangle 33">
            <a:extLst>
              <a:ext uri="{FF2B5EF4-FFF2-40B4-BE49-F238E27FC236}">
                <a16:creationId xmlns:a16="http://schemas.microsoft.com/office/drawing/2014/main" id="{74350548-3E72-452F-BFC1-728EFA381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09550"/>
            <a:ext cx="813276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(8)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中断允许控制标志位（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中断重要</a:t>
            </a:r>
          </a:p>
        </p:txBody>
      </p:sp>
      <p:sp>
        <p:nvSpPr>
          <p:cNvPr id="40965" name="Rectangle 39">
            <a:extLst>
              <a:ext uri="{FF2B5EF4-FFF2-40B4-BE49-F238E27FC236}">
                <a16:creationId xmlns:a16="http://schemas.microsoft.com/office/drawing/2014/main" id="{8DCF16C8-5FD1-4DF9-B88B-1190C5522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302250"/>
            <a:ext cx="5919787" cy="96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solidFill>
                  <a:schemeClr val="hlink"/>
                </a:solidFill>
                <a:latin typeface="Tahoma" panose="020B0604030504040204" pitchFamily="34" charset="0"/>
              </a:rPr>
              <a:t>STI </a:t>
            </a:r>
            <a:r>
              <a:rPr lang="zh-CN" altLang="en-US" b="0">
                <a:solidFill>
                  <a:schemeClr val="hlink"/>
                </a:solidFill>
                <a:latin typeface="Tahoma" panose="020B0604030504040204" pitchFamily="34" charset="0"/>
              </a:rPr>
              <a:t>使</a:t>
            </a:r>
            <a:r>
              <a:rPr lang="en-US" altLang="zh-CN" b="0">
                <a:solidFill>
                  <a:schemeClr val="hlink"/>
                </a:solidFill>
                <a:latin typeface="Tahoma" panose="020B0604030504040204" pitchFamily="34" charset="0"/>
              </a:rPr>
              <a:t>IF</a:t>
            </a:r>
            <a:r>
              <a:rPr lang="zh-CN" altLang="en-US" b="0">
                <a:solidFill>
                  <a:schemeClr val="hlink"/>
                </a:solidFill>
                <a:latin typeface="Tahoma" panose="020B0604030504040204" pitchFamily="34" charset="0"/>
              </a:rPr>
              <a:t>置“1”，即开放中断。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0">
                <a:solidFill>
                  <a:schemeClr val="hlink"/>
                </a:solidFill>
                <a:latin typeface="Tahoma" panose="020B0604030504040204" pitchFamily="34" charset="0"/>
              </a:rPr>
              <a:t>     </a:t>
            </a:r>
            <a:r>
              <a:rPr lang="en-US" altLang="zh-CN" sz="2400" b="0">
                <a:solidFill>
                  <a:schemeClr val="hlink"/>
                </a:solidFill>
                <a:latin typeface="Tahoma" panose="020B0604030504040204" pitchFamily="34" charset="0"/>
              </a:rPr>
              <a:t>CLI </a:t>
            </a:r>
            <a:r>
              <a:rPr lang="zh-CN" altLang="en-US" sz="2400" b="0">
                <a:solidFill>
                  <a:schemeClr val="hlink"/>
                </a:solidFill>
                <a:latin typeface="Tahoma" panose="020B0604030504040204" pitchFamily="34" charset="0"/>
              </a:rPr>
              <a:t>使</a:t>
            </a:r>
            <a:r>
              <a:rPr lang="en-US" altLang="zh-CN" sz="2400" b="0">
                <a:solidFill>
                  <a:schemeClr val="hlink"/>
                </a:solidFill>
                <a:latin typeface="Tahoma" panose="020B0604030504040204" pitchFamily="34" charset="0"/>
              </a:rPr>
              <a:t>IF</a:t>
            </a:r>
            <a:r>
              <a:rPr lang="zh-CN" altLang="en-US" sz="2400" b="0">
                <a:solidFill>
                  <a:schemeClr val="hlink"/>
                </a:solidFill>
                <a:latin typeface="Tahoma" panose="020B0604030504040204" pitchFamily="34" charset="0"/>
              </a:rPr>
              <a:t>清“0”，即关闭中断</a:t>
            </a:r>
          </a:p>
        </p:txBody>
      </p:sp>
      <p:grpSp>
        <p:nvGrpSpPr>
          <p:cNvPr id="40966" name="组合 40965">
            <a:extLst>
              <a:ext uri="{FF2B5EF4-FFF2-40B4-BE49-F238E27FC236}">
                <a16:creationId xmlns:a16="http://schemas.microsoft.com/office/drawing/2014/main" id="{2732E736-5D4E-4250-94A1-F3CFC1157266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430588"/>
            <a:ext cx="8569325" cy="1222375"/>
            <a:chOff x="0" y="0"/>
            <a:chExt cx="5398" cy="770"/>
          </a:xfrm>
        </p:grpSpPr>
        <p:sp>
          <p:nvSpPr>
            <p:cNvPr id="91144" name="Rectangle 32">
              <a:extLst>
                <a:ext uri="{FF2B5EF4-FFF2-40B4-BE49-F238E27FC236}">
                  <a16:creationId xmlns:a16="http://schemas.microsoft.com/office/drawing/2014/main" id="{95AC3E5A-E8A3-4E39-AC19-8FC6B7140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401"/>
              <a:ext cx="2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IF</a:t>
              </a:r>
            </a:p>
          </p:txBody>
        </p:sp>
        <p:grpSp>
          <p:nvGrpSpPr>
            <p:cNvPr id="91145" name="组合 40967">
              <a:extLst>
                <a:ext uri="{FF2B5EF4-FFF2-40B4-BE49-F238E27FC236}">
                  <a16:creationId xmlns:a16="http://schemas.microsoft.com/office/drawing/2014/main" id="{74B525DD-4458-4C65-B996-D25FC0A588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98" cy="770"/>
              <a:chOff x="0" y="0"/>
              <a:chExt cx="5398" cy="770"/>
            </a:xfrm>
          </p:grpSpPr>
          <p:sp>
            <p:nvSpPr>
              <p:cNvPr id="91146" name="Rectangle 41">
                <a:extLst>
                  <a:ext uri="{FF2B5EF4-FFF2-40B4-BE49-F238E27FC236}">
                    <a16:creationId xmlns:a16="http://schemas.microsoft.com/office/drawing/2014/main" id="{22A9BED2-F9CD-4123-AB57-93DEAEF1C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1" y="395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DF</a:t>
                </a:r>
              </a:p>
            </p:txBody>
          </p:sp>
          <p:grpSp>
            <p:nvGrpSpPr>
              <p:cNvPr id="91147" name="组合 40969">
                <a:extLst>
                  <a:ext uri="{FF2B5EF4-FFF2-40B4-BE49-F238E27FC236}">
                    <a16:creationId xmlns:a16="http://schemas.microsoft.com/office/drawing/2014/main" id="{0DE0AA6C-744E-4E33-9FAA-77E041E7A6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sp>
              <p:nvSpPr>
                <p:cNvPr id="91148" name="Rectangle 43">
                  <a:extLst>
                    <a:ext uri="{FF2B5EF4-FFF2-40B4-BE49-F238E27FC236}">
                      <a16:creationId xmlns:a16="http://schemas.microsoft.com/office/drawing/2014/main" id="{E51C57E9-F8C1-4B30-B530-4647E055D4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76" y="391"/>
                  <a:ext cx="32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solidFill>
                        <a:srgbClr val="FF3300"/>
                      </a:solidFill>
                      <a:latin typeface="Times New Roman" panose="02020603050405020304" pitchFamily="18" charset="0"/>
                    </a:rPr>
                    <a:t>PF</a:t>
                  </a:r>
                  <a:endParaRPr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91149" name="组合 40971">
                  <a:extLst>
                    <a:ext uri="{FF2B5EF4-FFF2-40B4-BE49-F238E27FC236}">
                      <a16:creationId xmlns:a16="http://schemas.microsoft.com/office/drawing/2014/main" id="{38B729B7-671D-4B5D-998E-DB67141330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398" cy="770"/>
                  <a:chOff x="0" y="0"/>
                  <a:chExt cx="5398" cy="770"/>
                </a:xfrm>
              </p:grpSpPr>
              <p:sp>
                <p:nvSpPr>
                  <p:cNvPr id="91150" name="Rectangle 45">
                    <a:extLst>
                      <a:ext uri="{FF2B5EF4-FFF2-40B4-BE49-F238E27FC236}">
                        <a16:creationId xmlns:a16="http://schemas.microsoft.com/office/drawing/2014/main" id="{087FAECE-6B93-47A7-B391-CC04E1274A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79" y="408"/>
                    <a:ext cx="32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400" b="0">
                        <a:solidFill>
                          <a:srgbClr val="FF3300"/>
                        </a:solidFill>
                        <a:latin typeface="Times New Roman" panose="02020603050405020304" pitchFamily="18" charset="0"/>
                      </a:rPr>
                      <a:t>SF</a:t>
                    </a:r>
                  </a:p>
                </p:txBody>
              </p:sp>
              <p:grpSp>
                <p:nvGrpSpPr>
                  <p:cNvPr id="91151" name="组合 40973">
                    <a:extLst>
                      <a:ext uri="{FF2B5EF4-FFF2-40B4-BE49-F238E27FC236}">
                        <a16:creationId xmlns:a16="http://schemas.microsoft.com/office/drawing/2014/main" id="{68410F39-AF5B-47B8-90C3-AAA6E137471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5398" cy="770"/>
                    <a:chOff x="0" y="0"/>
                    <a:chExt cx="5398" cy="770"/>
                  </a:xfrm>
                </p:grpSpPr>
                <p:sp>
                  <p:nvSpPr>
                    <p:cNvPr id="91152" name="Rectangle 47">
                      <a:extLst>
                        <a:ext uri="{FF2B5EF4-FFF2-40B4-BE49-F238E27FC236}">
                          <a16:creationId xmlns:a16="http://schemas.microsoft.com/office/drawing/2014/main" id="{38A113FF-2AE2-4B80-BF0B-4111785BF7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H="1">
                      <a:off x="3357" y="408"/>
                      <a:ext cx="342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90000" tIns="46800" rIns="90000" bIns="4680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</a:rPr>
                        <a:t>ZF</a:t>
                      </a:r>
                    </a:p>
                  </p:txBody>
                </p:sp>
                <p:grpSp>
                  <p:nvGrpSpPr>
                    <p:cNvPr id="91153" name="组合 40975">
                      <a:extLst>
                        <a:ext uri="{FF2B5EF4-FFF2-40B4-BE49-F238E27FC236}">
                          <a16:creationId xmlns:a16="http://schemas.microsoft.com/office/drawing/2014/main" id="{A7D70DB2-A3AB-4401-902D-4AD6B7487EB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5398" cy="770"/>
                      <a:chOff x="0" y="0"/>
                      <a:chExt cx="5398" cy="770"/>
                    </a:xfrm>
                  </p:grpSpPr>
                  <p:sp>
                    <p:nvSpPr>
                      <p:cNvPr id="91154" name="Rectangle 49">
                        <a:extLst>
                          <a:ext uri="{FF2B5EF4-FFF2-40B4-BE49-F238E27FC236}">
                            <a16:creationId xmlns:a16="http://schemas.microsoft.com/office/drawing/2014/main" id="{01A8944E-C330-409F-8D51-E453C18B607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24" y="391"/>
                        <a:ext cx="360" cy="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000" tIns="46800" rIns="90000" bIns="4680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r>
                          <a:rPr lang="en-US" altLang="zh-CN" sz="2400" b="0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</a:rPr>
                          <a:t>OF</a:t>
                        </a:r>
                      </a:p>
                    </p:txBody>
                  </p:sp>
                  <p:grpSp>
                    <p:nvGrpSpPr>
                      <p:cNvPr id="91155" name="组合 40977">
                        <a:extLst>
                          <a:ext uri="{FF2B5EF4-FFF2-40B4-BE49-F238E27FC236}">
                            <a16:creationId xmlns:a16="http://schemas.microsoft.com/office/drawing/2014/main" id="{413B3F8E-5380-40C7-A155-6400915E29F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0" y="0"/>
                        <a:ext cx="5398" cy="770"/>
                        <a:chOff x="0" y="0"/>
                        <a:chExt cx="5398" cy="770"/>
                      </a:xfrm>
                    </p:grpSpPr>
                    <p:sp>
                      <p:nvSpPr>
                        <p:cNvPr id="91156" name="Rectangle 51">
                          <a:extLst>
                            <a:ext uri="{FF2B5EF4-FFF2-40B4-BE49-F238E27FC236}">
                              <a16:creationId xmlns:a16="http://schemas.microsoft.com/office/drawing/2014/main" id="{B654F1CE-CD0C-4B2D-A435-406D63AEB9B0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901" y="385"/>
                          <a:ext cx="36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lIns="90000" tIns="46800" rIns="90000" bIns="46800"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Font typeface="Wingdings" panose="05000000000000000000" pitchFamily="2" charset="2"/>
                            <a:buChar char="v"/>
                            <a:defRPr sz="2800" b="1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Font typeface="Wingdings" panose="05000000000000000000" pitchFamily="2" charset="2"/>
                            <a:buChar char="§"/>
                            <a:defRPr sz="24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Font typeface="Wingdings" panose="05000000000000000000" pitchFamily="2" charset="2"/>
                            <a:buChar char="•"/>
                            <a:defRPr sz="22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Font typeface="Wingdings" panose="05000000000000000000" pitchFamily="2" charset="2"/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9pPr>
                        </a:lstStyle>
                        <a:p>
                          <a:pPr algn="ctr" eaLnBrk="1" hangingPunct="1">
                            <a:spcBef>
                              <a:spcPct val="0"/>
                            </a:spcBef>
                            <a:buClrTx/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zh-CN" sz="2400" b="0">
                              <a:solidFill>
                                <a:srgbClr val="FF3300"/>
                              </a:solidFill>
                              <a:latin typeface="Times New Roman" panose="02020603050405020304" pitchFamily="18" charset="0"/>
                            </a:rPr>
                            <a:t>AF</a:t>
                          </a:r>
                        </a:p>
                      </p:txBody>
                    </p:sp>
                    <p:grpSp>
                      <p:nvGrpSpPr>
                        <p:cNvPr id="91157" name="组合 40979">
                          <a:extLst>
                            <a:ext uri="{FF2B5EF4-FFF2-40B4-BE49-F238E27FC236}">
                              <a16:creationId xmlns:a16="http://schemas.microsoft.com/office/drawing/2014/main" id="{06154945-4CA0-4444-9E6F-3FFA4253942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0" y="0"/>
                          <a:ext cx="5398" cy="770"/>
                          <a:chOff x="0" y="0"/>
                          <a:chExt cx="5398" cy="770"/>
                        </a:xfrm>
                      </p:grpSpPr>
                      <p:grpSp>
                        <p:nvGrpSpPr>
                          <p:cNvPr id="91158" name="组合 40980">
                            <a:extLst>
                              <a:ext uri="{FF2B5EF4-FFF2-40B4-BE49-F238E27FC236}">
                                <a16:creationId xmlns:a16="http://schemas.microsoft.com/office/drawing/2014/main" id="{3C218839-8564-46FC-AED8-AB48AA470420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770" y="0"/>
                            <a:ext cx="4628" cy="770"/>
                            <a:chOff x="0" y="0"/>
                            <a:chExt cx="4628" cy="770"/>
                          </a:xfrm>
                        </p:grpSpPr>
                        <p:sp>
                          <p:nvSpPr>
                            <p:cNvPr id="91160" name="Text Box 54">
                              <a:extLst>
                                <a:ext uri="{FF2B5EF4-FFF2-40B4-BE49-F238E27FC236}">
                                  <a16:creationId xmlns:a16="http://schemas.microsoft.com/office/drawing/2014/main" id="{E0A7D973-7D63-4BDA-8510-C6C12BA80662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0" y="0"/>
                              <a:ext cx="4628" cy="2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wrap="none" anchor="ctr">
                              <a:spAutoFit/>
                            </a:bodyPr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>
                                <a:spcBef>
                                  <a:spcPct val="5000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r>
                                <a:rPr lang="en-US" altLang="zh-CN" sz="2400" b="0">
                                  <a:latin typeface="Times New Roman" panose="02020603050405020304" pitchFamily="18" charset="0"/>
                                  <a:ea typeface="楷体_GB2312" pitchFamily="49" charset="-122"/>
                                </a:rPr>
                                <a:t>15   14  13  12  11  10   9    8    7    6    5    4    3    2    1    0</a:t>
                              </a:r>
                              <a:endParaRPr lang="en-US" altLang="zh-CN" sz="1600" b="0">
                                <a:latin typeface="Times New Roman" panose="02020603050405020304" pitchFamily="18" charset="0"/>
                                <a:ea typeface="楷体_GB2312" pitchFamily="49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91161" name="组合 40982">
                              <a:extLst>
                                <a:ext uri="{FF2B5EF4-FFF2-40B4-BE49-F238E27FC236}">
                                  <a16:creationId xmlns:a16="http://schemas.microsoft.com/office/drawing/2014/main" id="{FC8A9992-4964-4143-AB79-7565ECA25F74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7" y="317"/>
                              <a:ext cx="4534" cy="453"/>
                              <a:chOff x="0" y="0"/>
                              <a:chExt cx="4608" cy="789"/>
                            </a:xfrm>
                          </p:grpSpPr>
                          <p:sp>
                            <p:nvSpPr>
                              <p:cNvPr id="91162" name="Rectangle 56">
                                <a:extLst>
                                  <a:ext uri="{FF2B5EF4-FFF2-40B4-BE49-F238E27FC236}">
                                    <a16:creationId xmlns:a16="http://schemas.microsoft.com/office/drawing/2014/main" id="{BBCE14ED-5177-44C5-8E06-5AFDEC9919A1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0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3" name="Rectangle 57">
                                <a:extLst>
                                  <a:ext uri="{FF2B5EF4-FFF2-40B4-BE49-F238E27FC236}">
                                    <a16:creationId xmlns:a16="http://schemas.microsoft.com/office/drawing/2014/main" id="{295C26C3-DDFC-463E-9D1F-3B66B5DC8E36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88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4" name="Rectangle 58">
                                <a:extLst>
                                  <a:ext uri="{FF2B5EF4-FFF2-40B4-BE49-F238E27FC236}">
                                    <a16:creationId xmlns:a16="http://schemas.microsoft.com/office/drawing/2014/main" id="{6A151C52-1E82-4000-81C5-13263845D93E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576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5" name="Rectangle 59">
                                <a:extLst>
                                  <a:ext uri="{FF2B5EF4-FFF2-40B4-BE49-F238E27FC236}">
                                    <a16:creationId xmlns:a16="http://schemas.microsoft.com/office/drawing/2014/main" id="{E94B286F-4DAE-42F8-BA2F-3ED2C084831E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864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6" name="Rectangle 60">
                                <a:extLst>
                                  <a:ext uri="{FF2B5EF4-FFF2-40B4-BE49-F238E27FC236}">
                                    <a16:creationId xmlns:a16="http://schemas.microsoft.com/office/drawing/2014/main" id="{488D2306-94E1-4FB1-9874-B3342B10559A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152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7" name="Rectangle 61">
                                <a:extLst>
                                  <a:ext uri="{FF2B5EF4-FFF2-40B4-BE49-F238E27FC236}">
                                    <a16:creationId xmlns:a16="http://schemas.microsoft.com/office/drawing/2014/main" id="{BAE5FD8F-60A6-4801-863E-CB68353DC264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440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8" name="Rectangle 62">
                                <a:extLst>
                                  <a:ext uri="{FF2B5EF4-FFF2-40B4-BE49-F238E27FC236}">
                                    <a16:creationId xmlns:a16="http://schemas.microsoft.com/office/drawing/2014/main" id="{FE83F91A-04E2-479B-B98E-5ACC20073AFE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728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9" name="Rectangle 63">
                                <a:extLst>
                                  <a:ext uri="{FF2B5EF4-FFF2-40B4-BE49-F238E27FC236}">
                                    <a16:creationId xmlns:a16="http://schemas.microsoft.com/office/drawing/2014/main" id="{A73D7CA7-0EC5-4EC6-898A-EB66AE670CD3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016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0" name="Rectangle 64">
                                <a:extLst>
                                  <a:ext uri="{FF2B5EF4-FFF2-40B4-BE49-F238E27FC236}">
                                    <a16:creationId xmlns:a16="http://schemas.microsoft.com/office/drawing/2014/main" id="{B6795652-9FF5-4261-B3DE-BD7EF1F33ED9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304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1" name="Rectangle 65">
                                <a:extLst>
                                  <a:ext uri="{FF2B5EF4-FFF2-40B4-BE49-F238E27FC236}">
                                    <a16:creationId xmlns:a16="http://schemas.microsoft.com/office/drawing/2014/main" id="{385C088A-5A89-40CB-B648-12B3AF36F435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592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2" name="Rectangle 66">
                                <a:extLst>
                                  <a:ext uri="{FF2B5EF4-FFF2-40B4-BE49-F238E27FC236}">
                                    <a16:creationId xmlns:a16="http://schemas.microsoft.com/office/drawing/2014/main" id="{30E8492D-EAC9-47ED-8D69-BFDA79ED0130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880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3" name="Rectangle 67">
                                <a:extLst>
                                  <a:ext uri="{FF2B5EF4-FFF2-40B4-BE49-F238E27FC236}">
                                    <a16:creationId xmlns:a16="http://schemas.microsoft.com/office/drawing/2014/main" id="{DE762908-1ED7-4E4D-B00D-69BE49A98E3A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168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4" name="Rectangle 68">
                                <a:extLst>
                                  <a:ext uri="{FF2B5EF4-FFF2-40B4-BE49-F238E27FC236}">
                                    <a16:creationId xmlns:a16="http://schemas.microsoft.com/office/drawing/2014/main" id="{66CEB812-605D-4E48-8A5D-D4956EF142C4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456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5" name="Rectangle 69">
                                <a:extLst>
                                  <a:ext uri="{FF2B5EF4-FFF2-40B4-BE49-F238E27FC236}">
                                    <a16:creationId xmlns:a16="http://schemas.microsoft.com/office/drawing/2014/main" id="{2D20F97D-FED8-4FEA-BAD5-A432D80EE419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744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6" name="Rectangle 70">
                                <a:extLst>
                                  <a:ext uri="{FF2B5EF4-FFF2-40B4-BE49-F238E27FC236}">
                                    <a16:creationId xmlns:a16="http://schemas.microsoft.com/office/drawing/2014/main" id="{0B30C3FC-7D39-4081-9CDB-A199E0287875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032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7" name="Rectangle 71">
                                <a:extLst>
                                  <a:ext uri="{FF2B5EF4-FFF2-40B4-BE49-F238E27FC236}">
                                    <a16:creationId xmlns:a16="http://schemas.microsoft.com/office/drawing/2014/main" id="{78E19747-A5EF-4434-ACC3-F17DCF1025B8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320" y="0"/>
                                <a:ext cx="288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8" name="Rectangle 72">
                                <a:extLst>
                                  <a:ext uri="{FF2B5EF4-FFF2-40B4-BE49-F238E27FC236}">
                                    <a16:creationId xmlns:a16="http://schemas.microsoft.com/office/drawing/2014/main" id="{84A67777-820B-4934-ABE4-9EA3026C4E2B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320" y="0"/>
                                <a:ext cx="288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9" name="Rectangle 73">
                                <a:extLst>
                                  <a:ext uri="{FF2B5EF4-FFF2-40B4-BE49-F238E27FC236}">
                                    <a16:creationId xmlns:a16="http://schemas.microsoft.com/office/drawing/2014/main" id="{1E9A5A96-9C66-403F-9B71-1DEA4C867538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320" y="0"/>
                                <a:ext cx="288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algn="ctr">
                                  <a:spcBef>
                                    <a:spcPct val="5000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r>
                                  <a:rPr lang="en-US" altLang="zh-CN" sz="2400" b="0">
                                    <a:solidFill>
                                      <a:srgbClr val="FF3300"/>
                                    </a:solidFill>
                                    <a:latin typeface="Times New Roman" panose="02020603050405020304" pitchFamily="18" charset="0"/>
                                    <a:ea typeface="楷体_GB2312" pitchFamily="49" charset="-122"/>
                                  </a:rPr>
                                  <a:t>CF</a:t>
                                </a:r>
                                <a:endParaRPr lang="en-US" altLang="zh-CN" sz="1600" b="0">
                                  <a:latin typeface="Times New Roman" panose="02020603050405020304" pitchFamily="18" charset="0"/>
                                  <a:ea typeface="楷体_GB2312" pitchFamily="49" charset="-122"/>
                                </a:endParaRPr>
                              </a:p>
                            </p:txBody>
                          </p:sp>
                        </p:grpSp>
                      </p:grpSp>
                      <p:sp>
                        <p:nvSpPr>
                          <p:cNvPr id="91159" name="Rectangle 74">
                            <a:extLst>
                              <a:ext uri="{FF2B5EF4-FFF2-40B4-BE49-F238E27FC236}">
                                <a16:creationId xmlns:a16="http://schemas.microsoft.com/office/drawing/2014/main" id="{9ED58B32-F8AB-4C03-B3CF-DE86840B6D43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0" y="340"/>
                            <a:ext cx="742" cy="3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hlink"/>
                              </a:buClr>
                              <a:buFont typeface="Wingdings" panose="05000000000000000000" pitchFamily="2" charset="2"/>
                              <a:buChar char="v"/>
                              <a:defRPr sz="2800" b="1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accent1"/>
                              </a:buClr>
                              <a:buFont typeface="Wingdings" panose="05000000000000000000" pitchFamily="2" charset="2"/>
                              <a:buChar char="§"/>
                              <a:defRPr sz="24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tx1"/>
                              </a:buClr>
                              <a:buFont typeface="Wingdings" panose="05000000000000000000" pitchFamily="2" charset="2"/>
                              <a:buChar char="•"/>
                              <a:defRPr sz="22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Font typeface="Wingdings" panose="05000000000000000000" pitchFamily="2" charset="2"/>
                              <a:buChar char="–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0"/>
                              </a:spcBef>
                              <a:buClrTx/>
                              <a:buFont typeface="Arial" panose="020B0604020202020204" pitchFamily="34" charset="0"/>
                              <a:buNone/>
                            </a:pPr>
                            <a:r>
                              <a:rPr lang="en-US" altLang="zh-CN">
                                <a:latin typeface="Garamond" panose="02020404030301010803" pitchFamily="18" charset="0"/>
                              </a:rPr>
                              <a:t>FLAG</a:t>
                            </a:r>
                            <a:r>
                              <a:rPr lang="en-US" altLang="zh-CN" sz="1800" b="0">
                                <a:latin typeface="Garamond" panose="02020404030301010803" pitchFamily="18" charset="0"/>
                              </a:rPr>
                              <a:t> </a:t>
                            </a:r>
                            <a:endParaRPr lang="zh-CN" altLang="en-US" sz="1800" b="0">
                              <a:latin typeface="Garamond" panose="02020404030301010803" pitchFamily="18" charset="0"/>
                            </a:endParaRPr>
                          </a:p>
                        </p:txBody>
                      </p:sp>
                    </p:grpSp>
                  </p:grpSp>
                </p:grpSp>
              </p:grpSp>
            </p:grpSp>
          </p:grpSp>
        </p:grpSp>
      </p:grpSp>
      <p:sp>
        <p:nvSpPr>
          <p:cNvPr id="50218" name="灯片编号占位符 1">
            <a:extLst>
              <a:ext uri="{FF2B5EF4-FFF2-40B4-BE49-F238E27FC236}">
                <a16:creationId xmlns:a16="http://schemas.microsoft.com/office/drawing/2014/main" id="{BDAD7CC8-D9D0-43C3-B0A9-B5CF2A56119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EF94AD8-FFB9-4789-8FA2-B6F33F620D17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39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63" grpId="0" bldLvl="0" animBg="1"/>
      <p:bldP spid="4096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6">
            <a:extLst>
              <a:ext uri="{FF2B5EF4-FFF2-40B4-BE49-F238E27FC236}">
                <a16:creationId xmlns:a16="http://schemas.microsoft.com/office/drawing/2014/main" id="{5A7E5FD4-CA8D-41A7-9BDB-D8D5B8839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57175"/>
            <a:ext cx="65532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(9)</a:t>
            </a:r>
            <a:r>
              <a:rPr lang="zh-CN" altLang="en-US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跟踪控制标志位（</a:t>
            </a:r>
            <a:r>
              <a:rPr lang="en-US" altLang="zh-CN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TF</a:t>
            </a:r>
            <a:r>
              <a:rPr lang="zh-CN" altLang="en-US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zh-CN" altLang="en-US" sz="3200" dirty="0">
              <a:solidFill>
                <a:srgbClr val="FFFF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1987" name="Text Box 10">
            <a:extLst>
              <a:ext uri="{FF2B5EF4-FFF2-40B4-BE49-F238E27FC236}">
                <a16:creationId xmlns:a16="http://schemas.microsoft.com/office/drawing/2014/main" id="{4C79206A-E793-410A-8DF9-A06EDBAE2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917700"/>
            <a:ext cx="7499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跟踪标志位</a:t>
            </a:r>
            <a:r>
              <a:rPr lang="en-US" altLang="zh-CN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TF: 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将</a:t>
            </a:r>
            <a:r>
              <a:rPr lang="en-US" altLang="zh-CN">
                <a:latin typeface="仿宋" panose="02010609060101010101" pitchFamily="49" charset="-122"/>
                <a:ea typeface="仿宋" panose="02010609060101010101" pitchFamily="49" charset="-122"/>
              </a:rPr>
              <a:t>TF</a:t>
            </a:r>
            <a:r>
              <a:rPr lang="zh-CN" altLang="en-US">
                <a:latin typeface="仿宋" panose="02010609060101010101" pitchFamily="49" charset="-122"/>
                <a:ea typeface="仿宋" panose="02010609060101010101" pitchFamily="49" charset="-122"/>
              </a:rPr>
              <a:t>置成</a:t>
            </a:r>
            <a:r>
              <a:rPr lang="en-US" altLang="zh-CN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>
                <a:latin typeface="仿宋" panose="02010609060101010101" pitchFamily="49" charset="-122"/>
                <a:ea typeface="仿宋" panose="02010609060101010101" pitchFamily="49" charset="-122"/>
              </a:rPr>
              <a:t>时，处理器处于单步工作方式</a:t>
            </a:r>
            <a:r>
              <a:rPr lang="en-US" altLang="zh-CN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; 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当</a:t>
            </a:r>
            <a:r>
              <a:rPr lang="en-US" altLang="zh-CN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TF=0</a:t>
            </a:r>
            <a:r>
              <a:rPr lang="zh-CN" altLang="en-US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时，</a:t>
            </a:r>
            <a:r>
              <a:rPr lang="en-US" altLang="zh-CN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8086CPU</a:t>
            </a:r>
            <a:r>
              <a:rPr lang="zh-CN" altLang="en-US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将正常地执行程序。</a:t>
            </a:r>
          </a:p>
        </p:txBody>
      </p:sp>
      <p:sp>
        <p:nvSpPr>
          <p:cNvPr id="41988" name="AutoShape 28">
            <a:extLst>
              <a:ext uri="{FF2B5EF4-FFF2-40B4-BE49-F238E27FC236}">
                <a16:creationId xmlns:a16="http://schemas.microsoft.com/office/drawing/2014/main" id="{320BCCF3-F408-4283-9A3C-C7D9301AF1D9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4652169" y="4856957"/>
            <a:ext cx="649287" cy="381000"/>
          </a:xfrm>
          <a:prstGeom prst="leftArrow">
            <a:avLst>
              <a:gd name="adj1" fmla="val 41667"/>
              <a:gd name="adj2" fmla="val 74060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41989" name="Rectangle 43">
            <a:extLst>
              <a:ext uri="{FF2B5EF4-FFF2-40B4-BE49-F238E27FC236}">
                <a16:creationId xmlns:a16="http://schemas.microsoft.com/office/drawing/2014/main" id="{A79949F2-3070-4A52-A4DA-DF16D802D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17" y="5589588"/>
            <a:ext cx="5109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 dirty="0">
                <a:solidFill>
                  <a:schemeClr val="hlink"/>
                </a:solidFill>
                <a:latin typeface="Tahoma" panose="020B0604030504040204" pitchFamily="34" charset="0"/>
              </a:rPr>
              <a:t>没有专门的操作指令，可间接修改。</a:t>
            </a:r>
          </a:p>
        </p:txBody>
      </p:sp>
      <p:grpSp>
        <p:nvGrpSpPr>
          <p:cNvPr id="41990" name="组合 41989">
            <a:extLst>
              <a:ext uri="{FF2B5EF4-FFF2-40B4-BE49-F238E27FC236}">
                <a16:creationId xmlns:a16="http://schemas.microsoft.com/office/drawing/2014/main" id="{CC977A6D-7726-41EA-AA20-D4B5C4DB6AC1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430588"/>
            <a:ext cx="8569325" cy="1222375"/>
            <a:chOff x="0" y="0"/>
            <a:chExt cx="5398" cy="770"/>
          </a:xfrm>
        </p:grpSpPr>
        <p:sp>
          <p:nvSpPr>
            <p:cNvPr id="92169" name="Rectangle 35">
              <a:extLst>
                <a:ext uri="{FF2B5EF4-FFF2-40B4-BE49-F238E27FC236}">
                  <a16:creationId xmlns:a16="http://schemas.microsoft.com/office/drawing/2014/main" id="{C8E682F2-0208-47A2-A2D1-4847564DC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" y="393"/>
              <a:ext cx="3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TF</a:t>
              </a:r>
            </a:p>
          </p:txBody>
        </p:sp>
        <p:grpSp>
          <p:nvGrpSpPr>
            <p:cNvPr id="92170" name="组合 41991">
              <a:extLst>
                <a:ext uri="{FF2B5EF4-FFF2-40B4-BE49-F238E27FC236}">
                  <a16:creationId xmlns:a16="http://schemas.microsoft.com/office/drawing/2014/main" id="{8CB85687-2130-4C46-90DB-EB98DCFAB9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98" cy="770"/>
              <a:chOff x="0" y="0"/>
              <a:chExt cx="5398" cy="770"/>
            </a:xfrm>
          </p:grpSpPr>
          <p:sp>
            <p:nvSpPr>
              <p:cNvPr id="92171" name="Rectangle 45">
                <a:extLst>
                  <a:ext uri="{FF2B5EF4-FFF2-40B4-BE49-F238E27FC236}">
                    <a16:creationId xmlns:a16="http://schemas.microsoft.com/office/drawing/2014/main" id="{5D79AF52-2EF5-40FD-B778-862BDDF6FF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7" y="401"/>
                <a:ext cx="28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IF</a:t>
                </a:r>
              </a:p>
            </p:txBody>
          </p:sp>
          <p:grpSp>
            <p:nvGrpSpPr>
              <p:cNvPr id="92172" name="组合 41993">
                <a:extLst>
                  <a:ext uri="{FF2B5EF4-FFF2-40B4-BE49-F238E27FC236}">
                    <a16:creationId xmlns:a16="http://schemas.microsoft.com/office/drawing/2014/main" id="{88F06299-B0CD-40C3-A8EF-6202F15DF0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sp>
              <p:nvSpPr>
                <p:cNvPr id="92173" name="Rectangle 47">
                  <a:extLst>
                    <a:ext uri="{FF2B5EF4-FFF2-40B4-BE49-F238E27FC236}">
                      <a16:creationId xmlns:a16="http://schemas.microsoft.com/office/drawing/2014/main" id="{476AC362-D8B1-4F35-9855-0C8E284FB3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1" y="395"/>
                  <a:ext cx="36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latin typeface="Times New Roman" panose="02020603050405020304" pitchFamily="18" charset="0"/>
                      <a:ea typeface="楷体_GB2312" pitchFamily="49" charset="-122"/>
                    </a:rPr>
                    <a:t>DF</a:t>
                  </a:r>
                </a:p>
              </p:txBody>
            </p:sp>
            <p:grpSp>
              <p:nvGrpSpPr>
                <p:cNvPr id="92174" name="组合 41995">
                  <a:extLst>
                    <a:ext uri="{FF2B5EF4-FFF2-40B4-BE49-F238E27FC236}">
                      <a16:creationId xmlns:a16="http://schemas.microsoft.com/office/drawing/2014/main" id="{1C17CD1F-987C-4F80-BE88-EDCFB30D60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398" cy="770"/>
                  <a:chOff x="0" y="0"/>
                  <a:chExt cx="5398" cy="770"/>
                </a:xfrm>
              </p:grpSpPr>
              <p:sp>
                <p:nvSpPr>
                  <p:cNvPr id="92175" name="Rectangle 49">
                    <a:extLst>
                      <a:ext uri="{FF2B5EF4-FFF2-40B4-BE49-F238E27FC236}">
                        <a16:creationId xmlns:a16="http://schemas.microsoft.com/office/drawing/2014/main" id="{73C1F6A2-DB99-4EFE-B8B8-A8F4BA0F09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76" y="391"/>
                    <a:ext cx="32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400" b="0">
                        <a:solidFill>
                          <a:srgbClr val="FF3300"/>
                        </a:solidFill>
                        <a:latin typeface="Times New Roman" panose="02020603050405020304" pitchFamily="18" charset="0"/>
                      </a:rPr>
                      <a:t>PF</a:t>
                    </a:r>
                    <a:endParaRPr lang="en-US" altLang="zh-CN" sz="2400" b="0"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92176" name="组合 41997">
                    <a:extLst>
                      <a:ext uri="{FF2B5EF4-FFF2-40B4-BE49-F238E27FC236}">
                        <a16:creationId xmlns:a16="http://schemas.microsoft.com/office/drawing/2014/main" id="{83BDBA14-C2BC-4CAF-841B-DCD96227A39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5398" cy="770"/>
                    <a:chOff x="0" y="0"/>
                    <a:chExt cx="5398" cy="770"/>
                  </a:xfrm>
                </p:grpSpPr>
                <p:sp>
                  <p:nvSpPr>
                    <p:cNvPr id="92177" name="Rectangle 51">
                      <a:extLst>
                        <a:ext uri="{FF2B5EF4-FFF2-40B4-BE49-F238E27FC236}">
                          <a16:creationId xmlns:a16="http://schemas.microsoft.com/office/drawing/2014/main" id="{09FA4010-99EE-42E2-B441-7E22705F3EC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9" y="408"/>
                      <a:ext cx="32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000" tIns="46800" rIns="90000" bIns="4680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</a:rPr>
                        <a:t>SF</a:t>
                      </a:r>
                    </a:p>
                  </p:txBody>
                </p:sp>
                <p:grpSp>
                  <p:nvGrpSpPr>
                    <p:cNvPr id="92178" name="组合 41999">
                      <a:extLst>
                        <a:ext uri="{FF2B5EF4-FFF2-40B4-BE49-F238E27FC236}">
                          <a16:creationId xmlns:a16="http://schemas.microsoft.com/office/drawing/2014/main" id="{CA756EF1-B355-4DF7-8B69-84B95F24779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5398" cy="770"/>
                      <a:chOff x="0" y="0"/>
                      <a:chExt cx="5398" cy="770"/>
                    </a:xfrm>
                  </p:grpSpPr>
                  <p:sp>
                    <p:nvSpPr>
                      <p:cNvPr id="92179" name="Rectangle 53">
                        <a:extLst>
                          <a:ext uri="{FF2B5EF4-FFF2-40B4-BE49-F238E27FC236}">
                            <a16:creationId xmlns:a16="http://schemas.microsoft.com/office/drawing/2014/main" id="{F9428335-BEE9-4784-AC22-4AF14691D23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flipH="1">
                        <a:off x="3357" y="408"/>
                        <a:ext cx="342" cy="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lIns="90000" tIns="46800" rIns="90000" bIns="4680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r>
                          <a:rPr lang="en-US" altLang="zh-CN" sz="2400" b="0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</a:rPr>
                          <a:t>ZF</a:t>
                        </a:r>
                      </a:p>
                    </p:txBody>
                  </p:sp>
                  <p:grpSp>
                    <p:nvGrpSpPr>
                      <p:cNvPr id="92180" name="组合 42001">
                        <a:extLst>
                          <a:ext uri="{FF2B5EF4-FFF2-40B4-BE49-F238E27FC236}">
                            <a16:creationId xmlns:a16="http://schemas.microsoft.com/office/drawing/2014/main" id="{E02C2417-59C7-4D98-B7F5-215BAD23777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0" y="0"/>
                        <a:ext cx="5398" cy="770"/>
                        <a:chOff x="0" y="0"/>
                        <a:chExt cx="5398" cy="770"/>
                      </a:xfrm>
                    </p:grpSpPr>
                    <p:sp>
                      <p:nvSpPr>
                        <p:cNvPr id="92181" name="Rectangle 55">
                          <a:extLst>
                            <a:ext uri="{FF2B5EF4-FFF2-40B4-BE49-F238E27FC236}">
                              <a16:creationId xmlns:a16="http://schemas.microsoft.com/office/drawing/2014/main" id="{0A6418C5-C0DC-4240-939A-5CE92AD833B8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924" y="391"/>
                          <a:ext cx="36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lIns="90000" tIns="46800" rIns="90000" bIns="46800"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Font typeface="Wingdings" panose="05000000000000000000" pitchFamily="2" charset="2"/>
                            <a:buChar char="v"/>
                            <a:defRPr sz="2800" b="1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Font typeface="Wingdings" panose="05000000000000000000" pitchFamily="2" charset="2"/>
                            <a:buChar char="§"/>
                            <a:defRPr sz="24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Font typeface="Wingdings" panose="05000000000000000000" pitchFamily="2" charset="2"/>
                            <a:buChar char="•"/>
                            <a:defRPr sz="22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Font typeface="Wingdings" panose="05000000000000000000" pitchFamily="2" charset="2"/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9pPr>
                        </a:lstStyle>
                        <a:p>
                          <a:pPr algn="ctr" eaLnBrk="1" hangingPunct="1">
                            <a:spcBef>
                              <a:spcPct val="0"/>
                            </a:spcBef>
                            <a:buClrTx/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zh-CN" sz="2400" b="0">
                              <a:solidFill>
                                <a:srgbClr val="FF3300"/>
                              </a:solidFill>
                              <a:latin typeface="Times New Roman" panose="02020603050405020304" pitchFamily="18" charset="0"/>
                            </a:rPr>
                            <a:t>OF</a:t>
                          </a:r>
                        </a:p>
                      </p:txBody>
                    </p:sp>
                    <p:grpSp>
                      <p:nvGrpSpPr>
                        <p:cNvPr id="92182" name="组合 42003">
                          <a:extLst>
                            <a:ext uri="{FF2B5EF4-FFF2-40B4-BE49-F238E27FC236}">
                              <a16:creationId xmlns:a16="http://schemas.microsoft.com/office/drawing/2014/main" id="{E71ECC04-9A85-4816-866B-1108002E567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0" y="0"/>
                          <a:ext cx="5398" cy="770"/>
                          <a:chOff x="0" y="0"/>
                          <a:chExt cx="5398" cy="770"/>
                        </a:xfrm>
                      </p:grpSpPr>
                      <p:sp>
                        <p:nvSpPr>
                          <p:cNvPr id="92183" name="Rectangle 57">
                            <a:extLst>
                              <a:ext uri="{FF2B5EF4-FFF2-40B4-BE49-F238E27FC236}">
                                <a16:creationId xmlns:a16="http://schemas.microsoft.com/office/drawing/2014/main" id="{4DC72B33-C995-4C56-8ABC-D288D65E47E4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901" y="385"/>
                            <a:ext cx="360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lIns="90000" tIns="46800" rIns="90000" bIns="46800"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hlink"/>
                              </a:buClr>
                              <a:buFont typeface="Wingdings" panose="05000000000000000000" pitchFamily="2" charset="2"/>
                              <a:buChar char="v"/>
                              <a:defRPr sz="2800" b="1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accent1"/>
                              </a:buClr>
                              <a:buFont typeface="Wingdings" panose="05000000000000000000" pitchFamily="2" charset="2"/>
                              <a:buChar char="§"/>
                              <a:defRPr sz="24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tx1"/>
                              </a:buClr>
                              <a:buFont typeface="Wingdings" panose="05000000000000000000" pitchFamily="2" charset="2"/>
                              <a:buChar char="•"/>
                              <a:defRPr sz="22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Font typeface="Wingdings" panose="05000000000000000000" pitchFamily="2" charset="2"/>
                              <a:buChar char="–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9pPr>
                          </a:lstStyle>
                          <a:p>
                            <a:pPr algn="ctr" eaLnBrk="1" hangingPunct="1">
                              <a:spcBef>
                                <a:spcPct val="0"/>
                              </a:spcBef>
                              <a:buClrTx/>
                              <a:buFont typeface="Arial" panose="020B0604020202020204" pitchFamily="34" charset="0"/>
                              <a:buNone/>
                            </a:pPr>
                            <a:r>
                              <a:rPr lang="en-US" altLang="zh-CN" sz="2400" b="0">
                                <a:solidFill>
                                  <a:srgbClr val="FF3300"/>
                                </a:solidFill>
                                <a:latin typeface="Times New Roman" panose="02020603050405020304" pitchFamily="18" charset="0"/>
                              </a:rPr>
                              <a:t>AF</a:t>
                            </a:r>
                          </a:p>
                        </p:txBody>
                      </p:sp>
                      <p:grpSp>
                        <p:nvGrpSpPr>
                          <p:cNvPr id="92184" name="组合 42005">
                            <a:extLst>
                              <a:ext uri="{FF2B5EF4-FFF2-40B4-BE49-F238E27FC236}">
                                <a16:creationId xmlns:a16="http://schemas.microsoft.com/office/drawing/2014/main" id="{CA4C18C6-70D5-423C-9F0F-CB87F60B00D4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0" y="0"/>
                            <a:ext cx="5398" cy="770"/>
                            <a:chOff x="0" y="0"/>
                            <a:chExt cx="5398" cy="770"/>
                          </a:xfrm>
                        </p:grpSpPr>
                        <p:grpSp>
                          <p:nvGrpSpPr>
                            <p:cNvPr id="92185" name="组合 42006">
                              <a:extLst>
                                <a:ext uri="{FF2B5EF4-FFF2-40B4-BE49-F238E27FC236}">
                                  <a16:creationId xmlns:a16="http://schemas.microsoft.com/office/drawing/2014/main" id="{67580620-6033-4421-8205-A733D1B68836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770" y="0"/>
                              <a:ext cx="4628" cy="770"/>
                              <a:chOff x="0" y="0"/>
                              <a:chExt cx="4628" cy="770"/>
                            </a:xfrm>
                          </p:grpSpPr>
                          <p:sp>
                            <p:nvSpPr>
                              <p:cNvPr id="92187" name="Text Box 60">
                                <a:extLst>
                                  <a:ext uri="{FF2B5EF4-FFF2-40B4-BE49-F238E27FC236}">
                                    <a16:creationId xmlns:a16="http://schemas.microsoft.com/office/drawing/2014/main" id="{8022E7B3-7D34-4C75-8E96-BE8CAD61BC65}"/>
                                  </a:ext>
                                </a:extLst>
                              </p:cNvPr>
                              <p:cNvSpPr txBox="1"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0" y="0"/>
                                <a:ext cx="4628" cy="2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 wrap="none" anchor="ctr">
                                <a:spAutoFit/>
                              </a:bodyPr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>
                                  <a:spcBef>
                                    <a:spcPct val="5000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r>
                                  <a:rPr lang="en-US" altLang="zh-CN" sz="2400" b="0">
                                    <a:latin typeface="Times New Roman" panose="02020603050405020304" pitchFamily="18" charset="0"/>
                                    <a:ea typeface="楷体_GB2312" pitchFamily="49" charset="-122"/>
                                  </a:rPr>
                                  <a:t>15   14  13  12  11  10   9    8    7    6    5    4    3    2    1    0</a:t>
                                </a:r>
                                <a:endParaRPr lang="en-US" altLang="zh-CN" sz="1600" b="0">
                                  <a:latin typeface="Times New Roman" panose="02020603050405020304" pitchFamily="18" charset="0"/>
                                  <a:ea typeface="楷体_GB2312" pitchFamily="49" charset="-122"/>
                                </a:endParaRPr>
                              </a:p>
                            </p:txBody>
                          </p:sp>
                          <p:grpSp>
                            <p:nvGrpSpPr>
                              <p:cNvPr id="92188" name="组合 42008">
                                <a:extLst>
                                  <a:ext uri="{FF2B5EF4-FFF2-40B4-BE49-F238E27FC236}">
                                    <a16:creationId xmlns:a16="http://schemas.microsoft.com/office/drawing/2014/main" id="{FCE8BD2E-1E0C-4990-964D-EBBE63A1D4BB}"/>
                                  </a:ext>
                                </a:extLst>
                              </p:cNvPr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57" y="317"/>
                                <a:ext cx="4534" cy="453"/>
                                <a:chOff x="0" y="0"/>
                                <a:chExt cx="4608" cy="789"/>
                              </a:xfrm>
                            </p:grpSpPr>
                            <p:sp>
                              <p:nvSpPr>
                                <p:cNvPr id="92189" name="Rectangle 62">
                                  <a:extLst>
                                    <a:ext uri="{FF2B5EF4-FFF2-40B4-BE49-F238E27FC236}">
                                      <a16:creationId xmlns:a16="http://schemas.microsoft.com/office/drawing/2014/main" id="{8F1952D8-34E6-4107-9020-6FD57518158C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0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0" name="Rectangle 63">
                                  <a:extLst>
                                    <a:ext uri="{FF2B5EF4-FFF2-40B4-BE49-F238E27FC236}">
                                      <a16:creationId xmlns:a16="http://schemas.microsoft.com/office/drawing/2014/main" id="{1B9FF830-92BD-4114-BE17-FA1AF7AD3326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88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1" name="Rectangle 64">
                                  <a:extLst>
                                    <a:ext uri="{FF2B5EF4-FFF2-40B4-BE49-F238E27FC236}">
                                      <a16:creationId xmlns:a16="http://schemas.microsoft.com/office/drawing/2014/main" id="{00ACA6DE-2257-4CA3-9349-ACC08419A9A2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576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2" name="Rectangle 65">
                                  <a:extLst>
                                    <a:ext uri="{FF2B5EF4-FFF2-40B4-BE49-F238E27FC236}">
                                      <a16:creationId xmlns:a16="http://schemas.microsoft.com/office/drawing/2014/main" id="{B054FF0E-A4E9-4779-B74D-4F00D575E77F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864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3" name="Rectangle 66">
                                  <a:extLst>
                                    <a:ext uri="{FF2B5EF4-FFF2-40B4-BE49-F238E27FC236}">
                                      <a16:creationId xmlns:a16="http://schemas.microsoft.com/office/drawing/2014/main" id="{3EAC850C-AAF5-4CC6-9DAF-F32F87BFC1B8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152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4" name="Rectangle 67">
                                  <a:extLst>
                                    <a:ext uri="{FF2B5EF4-FFF2-40B4-BE49-F238E27FC236}">
                                      <a16:creationId xmlns:a16="http://schemas.microsoft.com/office/drawing/2014/main" id="{2DB9F907-09EC-4B8B-AD31-17D3D276AFFA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440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5" name="Rectangle 68">
                                  <a:extLst>
                                    <a:ext uri="{FF2B5EF4-FFF2-40B4-BE49-F238E27FC236}">
                                      <a16:creationId xmlns:a16="http://schemas.microsoft.com/office/drawing/2014/main" id="{CCBC81E0-FE73-4464-8ADE-BA3204FADABA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728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6" name="Rectangle 69">
                                  <a:extLst>
                                    <a:ext uri="{FF2B5EF4-FFF2-40B4-BE49-F238E27FC236}">
                                      <a16:creationId xmlns:a16="http://schemas.microsoft.com/office/drawing/2014/main" id="{8D58EFA9-2CF6-44E5-B092-7DA6E46967A9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016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7" name="Rectangle 70">
                                  <a:extLst>
                                    <a:ext uri="{FF2B5EF4-FFF2-40B4-BE49-F238E27FC236}">
                                      <a16:creationId xmlns:a16="http://schemas.microsoft.com/office/drawing/2014/main" id="{7CE8A0E5-F736-49C5-90C9-09B9D51E059E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304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8" name="Rectangle 71">
                                  <a:extLst>
                                    <a:ext uri="{FF2B5EF4-FFF2-40B4-BE49-F238E27FC236}">
                                      <a16:creationId xmlns:a16="http://schemas.microsoft.com/office/drawing/2014/main" id="{A49A4C2E-CB74-40ED-AD1A-E727504A5579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592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9" name="Rectangle 72">
                                  <a:extLst>
                                    <a:ext uri="{FF2B5EF4-FFF2-40B4-BE49-F238E27FC236}">
                                      <a16:creationId xmlns:a16="http://schemas.microsoft.com/office/drawing/2014/main" id="{50F42153-D97E-4E9B-9A7D-E6D033F83AC7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880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0" name="Rectangle 73">
                                  <a:extLst>
                                    <a:ext uri="{FF2B5EF4-FFF2-40B4-BE49-F238E27FC236}">
                                      <a16:creationId xmlns:a16="http://schemas.microsoft.com/office/drawing/2014/main" id="{84633FCE-E5CC-4ABC-A44B-740099D269A8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168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1" name="Rectangle 74">
                                  <a:extLst>
                                    <a:ext uri="{FF2B5EF4-FFF2-40B4-BE49-F238E27FC236}">
                                      <a16:creationId xmlns:a16="http://schemas.microsoft.com/office/drawing/2014/main" id="{65CC339D-08C4-4DEF-8B1D-737CA941E4D6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456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2" name="Rectangle 75">
                                  <a:extLst>
                                    <a:ext uri="{FF2B5EF4-FFF2-40B4-BE49-F238E27FC236}">
                                      <a16:creationId xmlns:a16="http://schemas.microsoft.com/office/drawing/2014/main" id="{462DAB08-1F97-47E2-9E7E-18EE27489EF4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744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3" name="Rectangle 76">
                                  <a:extLst>
                                    <a:ext uri="{FF2B5EF4-FFF2-40B4-BE49-F238E27FC236}">
                                      <a16:creationId xmlns:a16="http://schemas.microsoft.com/office/drawing/2014/main" id="{02F245EC-B669-4BB4-B91A-22D564DE188B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4032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4" name="Rectangle 77">
                                  <a:extLst>
                                    <a:ext uri="{FF2B5EF4-FFF2-40B4-BE49-F238E27FC236}">
                                      <a16:creationId xmlns:a16="http://schemas.microsoft.com/office/drawing/2014/main" id="{E6EEA223-CDF0-4499-88A0-EBCCF5B5E48C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4320" y="0"/>
                                  <a:ext cx="288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5" name="Rectangle 78">
                                  <a:extLst>
                                    <a:ext uri="{FF2B5EF4-FFF2-40B4-BE49-F238E27FC236}">
                                      <a16:creationId xmlns:a16="http://schemas.microsoft.com/office/drawing/2014/main" id="{69471A9C-8BEA-4F54-9FD7-1A18C8B4DD3D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4320" y="0"/>
                                  <a:ext cx="288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6" name="Rectangle 79">
                                  <a:extLst>
                                    <a:ext uri="{FF2B5EF4-FFF2-40B4-BE49-F238E27FC236}">
                                      <a16:creationId xmlns:a16="http://schemas.microsoft.com/office/drawing/2014/main" id="{7DA2A7F5-9003-42CD-A503-9E2DEF7A32F2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4320" y="0"/>
                                  <a:ext cx="288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algn="ctr">
                                    <a:spcBef>
                                      <a:spcPct val="5000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r>
                                    <a:rPr lang="en-US" altLang="zh-CN" sz="2400" b="0">
                                      <a:solidFill>
                                        <a:srgbClr val="FF3300"/>
                                      </a:solidFill>
                                      <a:latin typeface="Times New Roman" panose="02020603050405020304" pitchFamily="18" charset="0"/>
                                      <a:ea typeface="楷体_GB2312" pitchFamily="49" charset="-122"/>
                                    </a:rPr>
                                    <a:t>CF</a:t>
                                  </a:r>
                                  <a:endParaRPr lang="en-US" altLang="zh-CN" sz="1600" b="0">
                                    <a:latin typeface="Times New Roman" panose="02020603050405020304" pitchFamily="18" charset="0"/>
                                    <a:ea typeface="楷体_GB2312" pitchFamily="49" charset="-122"/>
                                  </a:endParaRPr>
                                </a:p>
                              </p:txBody>
                            </p:sp>
                          </p:grpSp>
                        </p:grpSp>
                        <p:sp>
                          <p:nvSpPr>
                            <p:cNvPr id="92186" name="Rectangle 80">
                              <a:extLst>
                                <a:ext uri="{FF2B5EF4-FFF2-40B4-BE49-F238E27FC236}">
                                  <a16:creationId xmlns:a16="http://schemas.microsoft.com/office/drawing/2014/main" id="{800770DE-F666-46A5-AC7A-84D7B1936079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0" y="340"/>
                              <a:ext cx="742" cy="32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wrap="none">
                              <a:spAutoFit/>
                            </a:bodyPr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r>
                                <a:rPr lang="en-US" altLang="zh-CN">
                                  <a:latin typeface="Garamond" panose="02020404030301010803" pitchFamily="18" charset="0"/>
                                </a:rPr>
                                <a:t>FLAG</a:t>
                              </a:r>
                              <a:r>
                                <a:rPr lang="en-US" altLang="zh-CN" sz="1800" b="0">
                                  <a:latin typeface="Garamond" panose="02020404030301010803" pitchFamily="18" charset="0"/>
                                </a:rPr>
                                <a:t> </a:t>
                              </a:r>
                              <a:endParaRPr lang="zh-CN" altLang="en-US" sz="1800" b="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92167" name="Rectangle 82">
            <a:extLst>
              <a:ext uri="{FF2B5EF4-FFF2-40B4-BE49-F238E27FC236}">
                <a16:creationId xmlns:a16="http://schemas.microsoft.com/office/drawing/2014/main" id="{2F247609-65B9-4AE7-91CB-5AB1171E5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981075"/>
            <a:ext cx="3241675" cy="115252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仿宋" panose="02010609060101010101" pitchFamily="49" charset="-122"/>
                <a:ea typeface="仿宋" panose="02010609060101010101" pitchFamily="49" charset="-122"/>
              </a:rPr>
              <a:t>TF</a:t>
            </a: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标志对于</a:t>
            </a:r>
            <a:r>
              <a:rPr lang="en-US" altLang="zh-CN" sz="2400">
                <a:latin typeface="仿宋" panose="02010609060101010101" pitchFamily="49" charset="-122"/>
                <a:ea typeface="仿宋" panose="02010609060101010101" pitchFamily="49" charset="-122"/>
              </a:rPr>
              <a:t>DEBUG</a:t>
            </a: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软件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调试应用程序非常有用</a:t>
            </a:r>
          </a:p>
        </p:txBody>
      </p:sp>
      <p:sp>
        <p:nvSpPr>
          <p:cNvPr id="51245" name="灯片编号占位符 1">
            <a:extLst>
              <a:ext uri="{FF2B5EF4-FFF2-40B4-BE49-F238E27FC236}">
                <a16:creationId xmlns:a16="http://schemas.microsoft.com/office/drawing/2014/main" id="{10B31DB0-33AB-48C2-8EA9-8DC1E4681A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431DF89-3DA5-4BA3-B6DD-F76998E50BAF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40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/>
      <p:bldP spid="41988" grpId="0" bldLvl="0" animBg="1"/>
      <p:bldP spid="4198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标题 1">
            <a:extLst>
              <a:ext uri="{FF2B5EF4-FFF2-40B4-BE49-F238E27FC236}">
                <a16:creationId xmlns:a16="http://schemas.microsoft.com/office/drawing/2014/main" id="{5DD33490-6BE5-4332-A724-B46EC82C4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2006600"/>
            <a:ext cx="85344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5400">
                <a:solidFill>
                  <a:srgbClr val="0070C0"/>
                </a:solidFill>
                <a:ea typeface="黑体" panose="02010609060101010101" pitchFamily="49" charset="-122"/>
              </a:rPr>
              <a:t>§2.2  8086 CPU</a:t>
            </a:r>
            <a:r>
              <a:rPr lang="zh-CN" altLang="en-US" sz="5400">
                <a:solidFill>
                  <a:srgbClr val="0070C0"/>
                </a:solidFill>
                <a:ea typeface="黑体" panose="02010609060101010101" pitchFamily="49" charset="-122"/>
              </a:rPr>
              <a:t>的引脚功能</a:t>
            </a:r>
          </a:p>
        </p:txBody>
      </p:sp>
    </p:spTree>
  </p:cSld>
  <p:clrMapOvr>
    <a:masterClrMapping/>
  </p:clrMapOvr>
  <p:transition spd="slow">
    <p:wedg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34">
            <a:extLst>
              <a:ext uri="{FF2B5EF4-FFF2-40B4-BE49-F238E27FC236}">
                <a16:creationId xmlns:a16="http://schemas.microsoft.com/office/drawing/2014/main" id="{3E46BC39-A99E-470D-9F40-C6EA97052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1281113"/>
            <a:ext cx="791210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*先回顾一下第一章的内容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AF516A-BFE3-4A79-97CC-C70599B53F03}"/>
              </a:ext>
            </a:extLst>
          </p:cNvPr>
          <p:cNvSpPr txBox="1"/>
          <p:nvPr/>
        </p:nvSpPr>
        <p:spPr>
          <a:xfrm>
            <a:off x="664844" y="291465"/>
            <a:ext cx="3860801" cy="57912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8086 CPU</a:t>
            </a:r>
            <a:r>
              <a:rPr lang="zh-CN" alt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的引脚功能</a:t>
            </a:r>
          </a:p>
        </p:txBody>
      </p:sp>
      <p:grpSp>
        <p:nvGrpSpPr>
          <p:cNvPr id="94212" name="Group 6">
            <a:extLst>
              <a:ext uri="{FF2B5EF4-FFF2-40B4-BE49-F238E27FC236}">
                <a16:creationId xmlns:a16="http://schemas.microsoft.com/office/drawing/2014/main" id="{EACAB173-BE51-4A86-AF13-A29AA41C23CE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2997200"/>
            <a:ext cx="8248652" cy="2667000"/>
            <a:chOff x="384" y="2352"/>
            <a:chExt cx="5196" cy="1680"/>
          </a:xfrm>
        </p:grpSpPr>
        <p:sp>
          <p:nvSpPr>
            <p:cNvPr id="94214" name="Rectangle 7">
              <a:extLst>
                <a:ext uri="{FF2B5EF4-FFF2-40B4-BE49-F238E27FC236}">
                  <a16:creationId xmlns:a16="http://schemas.microsoft.com/office/drawing/2014/main" id="{BF1E02DA-4F47-4DE1-991D-9904DCB9B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400"/>
              <a:ext cx="12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地址总线（</a:t>
              </a:r>
              <a:r>
                <a:rPr lang="en-US" altLang="zh-CN" sz="1800" dirty="0">
                  <a:solidFill>
                    <a:srgbClr val="FFC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20</a:t>
              </a:r>
              <a:r>
                <a:rPr lang="zh-CN" altLang="en-US" sz="1800" dirty="0">
                  <a:solidFill>
                    <a:srgbClr val="FFC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位</a:t>
              </a: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94215" name="AutoShape 8">
              <a:extLst>
                <a:ext uri="{FF2B5EF4-FFF2-40B4-BE49-F238E27FC236}">
                  <a16:creationId xmlns:a16="http://schemas.microsoft.com/office/drawing/2014/main" id="{33A58E74-FFA7-490E-BF83-3853AA874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544"/>
              <a:ext cx="125" cy="288"/>
            </a:xfrm>
            <a:prstGeom prst="downArrow">
              <a:avLst>
                <a:gd name="adj1" fmla="val 50000"/>
                <a:gd name="adj2" fmla="val 576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16" name="AutoShape 9">
              <a:extLst>
                <a:ext uri="{FF2B5EF4-FFF2-40B4-BE49-F238E27FC236}">
                  <a16:creationId xmlns:a16="http://schemas.microsoft.com/office/drawing/2014/main" id="{F2A82A35-4C61-4A49-9675-0BA78CDFD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8" y="2544"/>
              <a:ext cx="125" cy="288"/>
            </a:xfrm>
            <a:prstGeom prst="downArrow">
              <a:avLst>
                <a:gd name="adj1" fmla="val 50000"/>
                <a:gd name="adj2" fmla="val 576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17" name="Rectangle 10">
              <a:extLst>
                <a:ext uri="{FF2B5EF4-FFF2-40B4-BE49-F238E27FC236}">
                  <a16:creationId xmlns:a16="http://schemas.microsoft.com/office/drawing/2014/main" id="{377D641F-5D5D-4316-84AC-117197AB4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" y="2841"/>
              <a:ext cx="6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I/O</a:t>
              </a:r>
              <a:r>
                <a:rPr lang="zh-CN" altLang="en-US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总线</a:t>
              </a:r>
            </a:p>
          </p:txBody>
        </p:sp>
        <p:sp>
          <p:nvSpPr>
            <p:cNvPr id="94218" name="AutoShape 11">
              <a:extLst>
                <a:ext uri="{FF2B5EF4-FFF2-40B4-BE49-F238E27FC236}">
                  <a16:creationId xmlns:a16="http://schemas.microsoft.com/office/drawing/2014/main" id="{BD1BDEB8-FFBB-473C-AE3B-3E3B99DDA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448"/>
              <a:ext cx="3024" cy="125"/>
            </a:xfrm>
            <a:prstGeom prst="rightArrow">
              <a:avLst>
                <a:gd name="adj1" fmla="val 54167"/>
                <a:gd name="adj2" fmla="val 7683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19" name="Rectangle 12">
              <a:extLst>
                <a:ext uri="{FF2B5EF4-FFF2-40B4-BE49-F238E27FC236}">
                  <a16:creationId xmlns:a16="http://schemas.microsoft.com/office/drawing/2014/main" id="{45926FB0-AC97-4CCB-9EC4-2FE8E2E47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52"/>
              <a:ext cx="912" cy="1680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微处理器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CPU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80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80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94220" name="Rectangle 13">
              <a:extLst>
                <a:ext uri="{FF2B5EF4-FFF2-40B4-BE49-F238E27FC236}">
                  <a16:creationId xmlns:a16="http://schemas.microsoft.com/office/drawing/2014/main" id="{1BBAE50B-4EC8-4438-940D-BFE0ED03A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832"/>
              <a:ext cx="768" cy="43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存储器</a:t>
              </a:r>
            </a:p>
          </p:txBody>
        </p:sp>
        <p:sp>
          <p:nvSpPr>
            <p:cNvPr id="94221" name="Rectangle 14">
              <a:extLst>
                <a:ext uri="{FF2B5EF4-FFF2-40B4-BE49-F238E27FC236}">
                  <a16:creationId xmlns:a16="http://schemas.microsoft.com/office/drawing/2014/main" id="{12D93D72-962D-41CE-A904-F047C5395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832"/>
              <a:ext cx="768" cy="43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I/O</a:t>
              </a:r>
              <a:r>
                <a:rPr lang="zh-CN" altLang="en-US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接口</a:t>
              </a:r>
            </a:p>
          </p:txBody>
        </p:sp>
        <p:sp>
          <p:nvSpPr>
            <p:cNvPr id="94222" name="Rectangle 15">
              <a:extLst>
                <a:ext uri="{FF2B5EF4-FFF2-40B4-BE49-F238E27FC236}">
                  <a16:creationId xmlns:a16="http://schemas.microsoft.com/office/drawing/2014/main" id="{2B6DE09F-3A9C-4FC4-AEC8-8312E951C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832"/>
              <a:ext cx="768" cy="43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I/O</a:t>
              </a:r>
              <a:r>
                <a:rPr lang="zh-CN" altLang="en-US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设备</a:t>
              </a:r>
            </a:p>
          </p:txBody>
        </p:sp>
        <p:sp>
          <p:nvSpPr>
            <p:cNvPr id="94223" name="AutoShape 16">
              <a:extLst>
                <a:ext uri="{FF2B5EF4-FFF2-40B4-BE49-F238E27FC236}">
                  <a16:creationId xmlns:a16="http://schemas.microsoft.com/office/drawing/2014/main" id="{849F2877-580A-459B-9744-E913B9EFE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573"/>
              <a:ext cx="3024" cy="125"/>
            </a:xfrm>
            <a:prstGeom prst="leftRightArrow">
              <a:avLst>
                <a:gd name="adj1" fmla="val 47917"/>
                <a:gd name="adj2" fmla="val 952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24" name="AutoShape 17">
              <a:extLst>
                <a:ext uri="{FF2B5EF4-FFF2-40B4-BE49-F238E27FC236}">
                  <a16:creationId xmlns:a16="http://schemas.microsoft.com/office/drawing/2014/main" id="{A2CBA3BB-3ACD-42ED-B1E2-207D50BB5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024"/>
              <a:ext cx="816" cy="125"/>
            </a:xfrm>
            <a:prstGeom prst="leftRightArrow">
              <a:avLst>
                <a:gd name="adj1" fmla="val 57287"/>
                <a:gd name="adj2" fmla="val 7906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25" name="AutoShape 18">
              <a:extLst>
                <a:ext uri="{FF2B5EF4-FFF2-40B4-BE49-F238E27FC236}">
                  <a16:creationId xmlns:a16="http://schemas.microsoft.com/office/drawing/2014/main" id="{ADAF6A62-497D-4243-ADD5-05ED7EA164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827" y="3366"/>
              <a:ext cx="329" cy="125"/>
            </a:xfrm>
            <a:prstGeom prst="leftRightArrow">
              <a:avLst>
                <a:gd name="adj1" fmla="val 46880"/>
                <a:gd name="adj2" fmla="val 5825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26" name="AutoShape 19">
              <a:extLst>
                <a:ext uri="{FF2B5EF4-FFF2-40B4-BE49-F238E27FC236}">
                  <a16:creationId xmlns:a16="http://schemas.microsoft.com/office/drawing/2014/main" id="{68FC4F24-A195-49B5-B31B-68AC37EE0C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36" y="3366"/>
              <a:ext cx="329" cy="125"/>
            </a:xfrm>
            <a:prstGeom prst="leftRightArrow">
              <a:avLst>
                <a:gd name="adj1" fmla="val 46880"/>
                <a:gd name="adj2" fmla="val 5825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27" name="AutoShape 20">
              <a:extLst>
                <a:ext uri="{FF2B5EF4-FFF2-40B4-BE49-F238E27FC236}">
                  <a16:creationId xmlns:a16="http://schemas.microsoft.com/office/drawing/2014/main" id="{6713CC9E-4737-427E-A516-A76E9742B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792"/>
              <a:ext cx="3024" cy="125"/>
            </a:xfrm>
            <a:prstGeom prst="leftRightArrow">
              <a:avLst>
                <a:gd name="adj1" fmla="val 47917"/>
                <a:gd name="adj2" fmla="val 952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28" name="AutoShape 21">
              <a:extLst>
                <a:ext uri="{FF2B5EF4-FFF2-40B4-BE49-F238E27FC236}">
                  <a16:creationId xmlns:a16="http://schemas.microsoft.com/office/drawing/2014/main" id="{3764DBB1-D1C4-4F89-8B10-99A17F1FC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264"/>
              <a:ext cx="125" cy="576"/>
            </a:xfrm>
            <a:prstGeom prst="upArrow">
              <a:avLst>
                <a:gd name="adj1" fmla="val 42500"/>
                <a:gd name="adj2" fmla="val 79211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29" name="AutoShape 22">
              <a:extLst>
                <a:ext uri="{FF2B5EF4-FFF2-40B4-BE49-F238E27FC236}">
                  <a16:creationId xmlns:a16="http://schemas.microsoft.com/office/drawing/2014/main" id="{3EAD7679-6290-4E29-8B53-04726B303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264"/>
              <a:ext cx="125" cy="576"/>
            </a:xfrm>
            <a:prstGeom prst="upArrow">
              <a:avLst>
                <a:gd name="adj1" fmla="val 42500"/>
                <a:gd name="adj2" fmla="val 79211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30" name="Rectangle 23">
              <a:extLst>
                <a:ext uri="{FF2B5EF4-FFF2-40B4-BE49-F238E27FC236}">
                  <a16:creationId xmlns:a16="http://schemas.microsoft.com/office/drawing/2014/main" id="{C60EDC9F-4913-4EB7-9A7B-C7519506B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838"/>
              <a:ext cx="96" cy="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31" name="Rectangle 24">
              <a:extLst>
                <a:ext uri="{FF2B5EF4-FFF2-40B4-BE49-F238E27FC236}">
                  <a16:creationId xmlns:a16="http://schemas.microsoft.com/office/drawing/2014/main" id="{70C152ED-B975-41A6-90E1-3F09F6E0B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3" y="3831"/>
              <a:ext cx="96" cy="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32" name="Rectangle 25">
              <a:extLst>
                <a:ext uri="{FF2B5EF4-FFF2-40B4-BE49-F238E27FC236}">
                  <a16:creationId xmlns:a16="http://schemas.microsoft.com/office/drawing/2014/main" id="{27807853-DDAD-40B9-BD94-B2895029B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0" y="3513"/>
              <a:ext cx="12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数据总线（</a:t>
              </a:r>
              <a:r>
                <a:rPr lang="en-US" altLang="zh-CN" sz="1800" dirty="0">
                  <a:solidFill>
                    <a:srgbClr val="FFC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16</a:t>
              </a:r>
              <a:r>
                <a:rPr lang="zh-CN" altLang="en-US" sz="1800" dirty="0">
                  <a:solidFill>
                    <a:srgbClr val="FFC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位</a:t>
              </a: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94233" name="Rectangle 26">
              <a:extLst>
                <a:ext uri="{FF2B5EF4-FFF2-40B4-BE49-F238E27FC236}">
                  <a16:creationId xmlns:a16="http://schemas.microsoft.com/office/drawing/2014/main" id="{77D97A79-585C-41C5-B456-2CA8DF2F8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0" y="3753"/>
              <a:ext cx="121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控制总线（</a:t>
              </a:r>
              <a:r>
                <a:rPr lang="en-US" altLang="zh-CN" sz="1800" dirty="0">
                  <a:solidFill>
                    <a:srgbClr val="FFC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n</a:t>
              </a:r>
              <a:r>
                <a:rPr lang="zh-CN" altLang="en-US" sz="1800" dirty="0">
                  <a:solidFill>
                    <a:srgbClr val="FFC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位</a:t>
              </a: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）</a:t>
              </a:r>
            </a:p>
          </p:txBody>
        </p:sp>
      </p:grpSp>
      <p:sp>
        <p:nvSpPr>
          <p:cNvPr id="94213" name="内容占位符 2">
            <a:extLst>
              <a:ext uri="{FF2B5EF4-FFF2-40B4-BE49-F238E27FC236}">
                <a16:creationId xmlns:a16="http://schemas.microsoft.com/office/drawing/2014/main" id="{8A9D400D-0579-496C-B0B1-337FF53C822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46113" y="2138363"/>
            <a:ext cx="46799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ClrTx/>
              <a:buFont typeface="Arial" panose="020B0604020202020204" pitchFamily="34" charset="0"/>
              <a:buChar char="•"/>
            </a:pPr>
            <a:r>
              <a:rPr lang="zh-CN" altLang="zh-CN"/>
              <a:t>微型计算机基本结构框图</a:t>
            </a:r>
            <a:endParaRPr lang="en-US" altLang="zh-CN"/>
          </a:p>
          <a:p>
            <a:pPr eaLnBrk="1" hangingPunct="1">
              <a:buClrTx/>
              <a:buFont typeface="Arial" panose="020B0604020202020204" pitchFamily="34" charset="0"/>
              <a:buChar char="•"/>
            </a:pPr>
            <a:endParaRPr lang="zh-CN" altLang="en-US"/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1" name="组合 43010">
            <a:extLst>
              <a:ext uri="{FF2B5EF4-FFF2-40B4-BE49-F238E27FC236}">
                <a16:creationId xmlns:a16="http://schemas.microsoft.com/office/drawing/2014/main" id="{37D99AE7-4825-4231-928A-6ABE3225B8E8}"/>
              </a:ext>
            </a:extLst>
          </p:cNvPr>
          <p:cNvGrpSpPr>
            <a:grpSpLocks/>
          </p:cNvGrpSpPr>
          <p:nvPr/>
        </p:nvGrpSpPr>
        <p:grpSpPr bwMode="auto">
          <a:xfrm>
            <a:off x="4370388" y="936625"/>
            <a:ext cx="4495800" cy="5638800"/>
            <a:chOff x="0" y="0"/>
            <a:chExt cx="2832" cy="3552"/>
          </a:xfrm>
        </p:grpSpPr>
        <p:sp>
          <p:nvSpPr>
            <p:cNvPr id="96267" name="Rectangle 46">
              <a:extLst>
                <a:ext uri="{FF2B5EF4-FFF2-40B4-BE49-F238E27FC236}">
                  <a16:creationId xmlns:a16="http://schemas.microsoft.com/office/drawing/2014/main" id="{28BFC79A-8808-45BE-B22F-070D0BDAA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" y="0"/>
              <a:ext cx="910" cy="3552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96268" name="AutoShape 47">
              <a:extLst>
                <a:ext uri="{FF2B5EF4-FFF2-40B4-BE49-F238E27FC236}">
                  <a16:creationId xmlns:a16="http://schemas.microsoft.com/office/drawing/2014/main" id="{23AD18DE-DBE4-463C-8208-09606A988ED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85" y="-60"/>
              <a:ext cx="202" cy="321"/>
            </a:xfrm>
            <a:prstGeom prst="flowChartDelay">
              <a:avLst/>
            </a:prstGeom>
            <a:noFill/>
            <a:ln w="1905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96269" name="Line 48">
              <a:extLst>
                <a:ext uri="{FF2B5EF4-FFF2-40B4-BE49-F238E27FC236}">
                  <a16:creationId xmlns:a16="http://schemas.microsoft.com/office/drawing/2014/main" id="{BA843EB2-A289-40F3-8416-76A06577DB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116"/>
              <a:ext cx="2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0" name="Line 49">
              <a:extLst>
                <a:ext uri="{FF2B5EF4-FFF2-40B4-BE49-F238E27FC236}">
                  <a16:creationId xmlns:a16="http://schemas.microsoft.com/office/drawing/2014/main" id="{0E6C8B32-D678-48AA-9E4A-79976E93F5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89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1" name="Line 50">
              <a:extLst>
                <a:ext uri="{FF2B5EF4-FFF2-40B4-BE49-F238E27FC236}">
                  <a16:creationId xmlns:a16="http://schemas.microsoft.com/office/drawing/2014/main" id="{7DCA049C-699A-432A-953C-8AB816E618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46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2" name="Line 51">
              <a:extLst>
                <a:ext uri="{FF2B5EF4-FFF2-40B4-BE49-F238E27FC236}">
                  <a16:creationId xmlns:a16="http://schemas.microsoft.com/office/drawing/2014/main" id="{EEEB9AF7-2669-4A1D-8239-09A6F20EE0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63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3" name="Line 52">
              <a:extLst>
                <a:ext uri="{FF2B5EF4-FFF2-40B4-BE49-F238E27FC236}">
                  <a16:creationId xmlns:a16="http://schemas.microsoft.com/office/drawing/2014/main" id="{ECBE8B49-DB20-4322-B579-28BCD20CB5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809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4" name="Line 53">
              <a:extLst>
                <a:ext uri="{FF2B5EF4-FFF2-40B4-BE49-F238E27FC236}">
                  <a16:creationId xmlns:a16="http://schemas.microsoft.com/office/drawing/2014/main" id="{3471CCC2-C6CB-43A3-9C3E-2C3A2FFA30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98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5" name="Line 54">
              <a:extLst>
                <a:ext uri="{FF2B5EF4-FFF2-40B4-BE49-F238E27FC236}">
                  <a16:creationId xmlns:a16="http://schemas.microsoft.com/office/drawing/2014/main" id="{D8E617F1-747E-4249-B974-C73BD3C56C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115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6" name="Line 55">
              <a:extLst>
                <a:ext uri="{FF2B5EF4-FFF2-40B4-BE49-F238E27FC236}">
                  <a16:creationId xmlns:a16="http://schemas.microsoft.com/office/drawing/2014/main" id="{CD69E02C-F8D3-48DC-804D-74308B7B02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1329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7" name="Line 56">
              <a:extLst>
                <a:ext uri="{FF2B5EF4-FFF2-40B4-BE49-F238E27FC236}">
                  <a16:creationId xmlns:a16="http://schemas.microsoft.com/office/drawing/2014/main" id="{DD9E6A1B-DA29-48AD-A4AB-83F950CD26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150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8" name="Line 57">
              <a:extLst>
                <a:ext uri="{FF2B5EF4-FFF2-40B4-BE49-F238E27FC236}">
                  <a16:creationId xmlns:a16="http://schemas.microsoft.com/office/drawing/2014/main" id="{6A91356B-16E4-4684-80AF-C07DCE2096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167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9" name="Line 58">
              <a:extLst>
                <a:ext uri="{FF2B5EF4-FFF2-40B4-BE49-F238E27FC236}">
                  <a16:creationId xmlns:a16="http://schemas.microsoft.com/office/drawing/2014/main" id="{117AD4D1-412D-4307-8BA7-6AF3F77C6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1848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0" name="Line 59">
              <a:extLst>
                <a:ext uri="{FF2B5EF4-FFF2-40B4-BE49-F238E27FC236}">
                  <a16:creationId xmlns:a16="http://schemas.microsoft.com/office/drawing/2014/main" id="{9688A9D9-79A6-4663-819E-8C8FA3575E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02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1" name="Line 60">
              <a:extLst>
                <a:ext uri="{FF2B5EF4-FFF2-40B4-BE49-F238E27FC236}">
                  <a16:creationId xmlns:a16="http://schemas.microsoft.com/office/drawing/2014/main" id="{80914FB8-2656-4FB8-AB03-98DE580CB0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19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2" name="Line 61">
              <a:extLst>
                <a:ext uri="{FF2B5EF4-FFF2-40B4-BE49-F238E27FC236}">
                  <a16:creationId xmlns:a16="http://schemas.microsoft.com/office/drawing/2014/main" id="{BDA73AE2-E91F-42EB-A4A4-D930A7571B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368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3" name="Line 62">
              <a:extLst>
                <a:ext uri="{FF2B5EF4-FFF2-40B4-BE49-F238E27FC236}">
                  <a16:creationId xmlns:a16="http://schemas.microsoft.com/office/drawing/2014/main" id="{37251D34-F7EA-4850-AAC8-528F06D2F3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541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4" name="Line 63">
              <a:extLst>
                <a:ext uri="{FF2B5EF4-FFF2-40B4-BE49-F238E27FC236}">
                  <a16:creationId xmlns:a16="http://schemas.microsoft.com/office/drawing/2014/main" id="{4939CB1F-E8F8-4456-A1AC-8805E2701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71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5" name="Line 64">
              <a:extLst>
                <a:ext uri="{FF2B5EF4-FFF2-40B4-BE49-F238E27FC236}">
                  <a16:creationId xmlns:a16="http://schemas.microsoft.com/office/drawing/2014/main" id="{1C4D791D-843D-4354-8FCF-F30026B300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888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6" name="Line 65">
              <a:extLst>
                <a:ext uri="{FF2B5EF4-FFF2-40B4-BE49-F238E27FC236}">
                  <a16:creationId xmlns:a16="http://schemas.microsoft.com/office/drawing/2014/main" id="{61BA8B6A-4726-4B3F-9A53-167E663B18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3061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7" name="Line 66">
              <a:extLst>
                <a:ext uri="{FF2B5EF4-FFF2-40B4-BE49-F238E27FC236}">
                  <a16:creationId xmlns:a16="http://schemas.microsoft.com/office/drawing/2014/main" id="{CD77532D-30DE-4B52-A20C-25DDDFE521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323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8" name="Line 67">
              <a:extLst>
                <a:ext uri="{FF2B5EF4-FFF2-40B4-BE49-F238E27FC236}">
                  <a16:creationId xmlns:a16="http://schemas.microsoft.com/office/drawing/2014/main" id="{211DFF3E-46A7-4962-8D43-13D0F49B76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3408"/>
              <a:ext cx="2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9" name="Line 68">
              <a:extLst>
                <a:ext uri="{FF2B5EF4-FFF2-40B4-BE49-F238E27FC236}">
                  <a16:creationId xmlns:a16="http://schemas.microsoft.com/office/drawing/2014/main" id="{3FECCDC4-4480-42FD-804D-DF4682CB65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116"/>
              <a:ext cx="2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0" name="Line 69">
              <a:extLst>
                <a:ext uri="{FF2B5EF4-FFF2-40B4-BE49-F238E27FC236}">
                  <a16:creationId xmlns:a16="http://schemas.microsoft.com/office/drawing/2014/main" id="{5F1A63AD-2476-4641-89D0-B75B149A3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89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1" name="Line 70">
              <a:extLst>
                <a:ext uri="{FF2B5EF4-FFF2-40B4-BE49-F238E27FC236}">
                  <a16:creationId xmlns:a16="http://schemas.microsoft.com/office/drawing/2014/main" id="{9C8A43E9-F1A1-4ED0-AB62-37F95048E3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46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2" name="Line 71">
              <a:extLst>
                <a:ext uri="{FF2B5EF4-FFF2-40B4-BE49-F238E27FC236}">
                  <a16:creationId xmlns:a16="http://schemas.microsoft.com/office/drawing/2014/main" id="{327E47BD-4E52-4D1B-B026-009A92A3B4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63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3" name="Line 72">
              <a:extLst>
                <a:ext uri="{FF2B5EF4-FFF2-40B4-BE49-F238E27FC236}">
                  <a16:creationId xmlns:a16="http://schemas.microsoft.com/office/drawing/2014/main" id="{7FF30C63-FD40-462A-BEB7-F8AB0A3CB2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809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4" name="Line 73">
              <a:extLst>
                <a:ext uri="{FF2B5EF4-FFF2-40B4-BE49-F238E27FC236}">
                  <a16:creationId xmlns:a16="http://schemas.microsoft.com/office/drawing/2014/main" id="{2ACAF5A7-EEAF-4017-8882-7FEB47DD2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98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5" name="Line 74">
              <a:extLst>
                <a:ext uri="{FF2B5EF4-FFF2-40B4-BE49-F238E27FC236}">
                  <a16:creationId xmlns:a16="http://schemas.microsoft.com/office/drawing/2014/main" id="{BC2550A3-2E0F-499C-A623-433C5B70E7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115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6" name="Line 75">
              <a:extLst>
                <a:ext uri="{FF2B5EF4-FFF2-40B4-BE49-F238E27FC236}">
                  <a16:creationId xmlns:a16="http://schemas.microsoft.com/office/drawing/2014/main" id="{82EC04EE-D4CF-49C3-87F9-620F72C3EC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1329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7" name="Line 76">
              <a:extLst>
                <a:ext uri="{FF2B5EF4-FFF2-40B4-BE49-F238E27FC236}">
                  <a16:creationId xmlns:a16="http://schemas.microsoft.com/office/drawing/2014/main" id="{07FC4E15-6986-4494-830D-D4752B706A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150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8" name="Line 77">
              <a:extLst>
                <a:ext uri="{FF2B5EF4-FFF2-40B4-BE49-F238E27FC236}">
                  <a16:creationId xmlns:a16="http://schemas.microsoft.com/office/drawing/2014/main" id="{DBDB3E00-2FC1-46E0-8334-EA862754D4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167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9" name="Line 78">
              <a:extLst>
                <a:ext uri="{FF2B5EF4-FFF2-40B4-BE49-F238E27FC236}">
                  <a16:creationId xmlns:a16="http://schemas.microsoft.com/office/drawing/2014/main" id="{4261F037-6D2E-46C0-AB3F-09791DB0EF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1848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0" name="Line 79">
              <a:extLst>
                <a:ext uri="{FF2B5EF4-FFF2-40B4-BE49-F238E27FC236}">
                  <a16:creationId xmlns:a16="http://schemas.microsoft.com/office/drawing/2014/main" id="{9C9FB4B6-6E13-49B5-8594-7B256D32C7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02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1" name="Line 80">
              <a:extLst>
                <a:ext uri="{FF2B5EF4-FFF2-40B4-BE49-F238E27FC236}">
                  <a16:creationId xmlns:a16="http://schemas.microsoft.com/office/drawing/2014/main" id="{73FBA211-4494-4804-B91C-BC6603BCE4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19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2" name="Line 81">
              <a:extLst>
                <a:ext uri="{FF2B5EF4-FFF2-40B4-BE49-F238E27FC236}">
                  <a16:creationId xmlns:a16="http://schemas.microsoft.com/office/drawing/2014/main" id="{78AC27B5-B464-4BCC-94C0-AF3F9B5BF5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368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3" name="Line 82">
              <a:extLst>
                <a:ext uri="{FF2B5EF4-FFF2-40B4-BE49-F238E27FC236}">
                  <a16:creationId xmlns:a16="http://schemas.microsoft.com/office/drawing/2014/main" id="{EB9CFD90-F68B-426C-9BAE-CC471FD3B2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541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4" name="Line 83">
              <a:extLst>
                <a:ext uri="{FF2B5EF4-FFF2-40B4-BE49-F238E27FC236}">
                  <a16:creationId xmlns:a16="http://schemas.microsoft.com/office/drawing/2014/main" id="{4464A468-7B7B-4E81-90BD-9E0D12FDC9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71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5" name="Line 84">
              <a:extLst>
                <a:ext uri="{FF2B5EF4-FFF2-40B4-BE49-F238E27FC236}">
                  <a16:creationId xmlns:a16="http://schemas.microsoft.com/office/drawing/2014/main" id="{AF511B0A-5CEB-4B0E-B424-C320AA8C5E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888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6" name="Line 85">
              <a:extLst>
                <a:ext uri="{FF2B5EF4-FFF2-40B4-BE49-F238E27FC236}">
                  <a16:creationId xmlns:a16="http://schemas.microsoft.com/office/drawing/2014/main" id="{753167B3-3F20-4221-9620-E020C3DB76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3061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7" name="Line 86">
              <a:extLst>
                <a:ext uri="{FF2B5EF4-FFF2-40B4-BE49-F238E27FC236}">
                  <a16:creationId xmlns:a16="http://schemas.microsoft.com/office/drawing/2014/main" id="{0CAC03A1-1EDA-4493-80CB-9CB2556666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323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8" name="Line 87">
              <a:extLst>
                <a:ext uri="{FF2B5EF4-FFF2-40B4-BE49-F238E27FC236}">
                  <a16:creationId xmlns:a16="http://schemas.microsoft.com/office/drawing/2014/main" id="{BFA14E0A-7081-4A9A-858A-9D34FBC932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3408"/>
              <a:ext cx="2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9" name="Text Box 88">
              <a:extLst>
                <a:ext uri="{FF2B5EF4-FFF2-40B4-BE49-F238E27FC236}">
                  <a16:creationId xmlns:a16="http://schemas.microsoft.com/office/drawing/2014/main" id="{3F07C32E-C37D-49D9-A0FB-A223BDEC5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" y="22"/>
              <a:ext cx="329" cy="3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4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5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6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7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8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9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10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11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12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13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14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15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16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17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18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19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20</a:t>
              </a:r>
            </a:p>
          </p:txBody>
        </p:sp>
        <p:sp>
          <p:nvSpPr>
            <p:cNvPr id="96310" name="Text Box 89">
              <a:extLst>
                <a:ext uri="{FF2B5EF4-FFF2-40B4-BE49-F238E27FC236}">
                  <a16:creationId xmlns:a16="http://schemas.microsoft.com/office/drawing/2014/main" id="{020BDC04-1832-4CD7-AA74-6E067AAFE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0" y="13"/>
              <a:ext cx="330" cy="3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40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39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38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37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36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35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34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33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32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31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30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29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28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27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26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25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24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23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22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21</a:t>
              </a:r>
            </a:p>
          </p:txBody>
        </p:sp>
        <p:sp>
          <p:nvSpPr>
            <p:cNvPr id="96311" name="Text Box 90">
              <a:extLst>
                <a:ext uri="{FF2B5EF4-FFF2-40B4-BE49-F238E27FC236}">
                  <a16:creationId xmlns:a16="http://schemas.microsoft.com/office/drawing/2014/main" id="{7919AAFD-A22F-442C-B550-0666E14CE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0"/>
              <a:ext cx="625" cy="3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GND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AD14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AD13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AD12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AD11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AD10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AD9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AD8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AD7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AD6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AD5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AD4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AD3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AD2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AD0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NMI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INTR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CLK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GND</a:t>
              </a:r>
            </a:p>
          </p:txBody>
        </p:sp>
        <p:sp>
          <p:nvSpPr>
            <p:cNvPr id="96312" name="Text Box 91">
              <a:extLst>
                <a:ext uri="{FF2B5EF4-FFF2-40B4-BE49-F238E27FC236}">
                  <a16:creationId xmlns:a16="http://schemas.microsoft.com/office/drawing/2014/main" id="{8977FA5F-6C1A-4221-B4A6-657A5AA9E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5" y="19"/>
              <a:ext cx="727" cy="3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VCC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AD15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A16/S3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A17/S4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A18/S5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A19/S6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BHE/S7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MN/MX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RD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HOLD*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HLDA*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WR*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M/IO*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DT/R*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DEN*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ALE*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INTA*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TEST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READY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RESET</a:t>
              </a:r>
            </a:p>
          </p:txBody>
        </p:sp>
        <p:sp>
          <p:nvSpPr>
            <p:cNvPr id="96313" name="Line 92">
              <a:extLst>
                <a:ext uri="{FF2B5EF4-FFF2-40B4-BE49-F238E27FC236}">
                  <a16:creationId xmlns:a16="http://schemas.microsoft.com/office/drawing/2014/main" id="{87BEB763-8ADD-4CBE-82D3-FEF7A97568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6" y="1971"/>
              <a:ext cx="2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4" name="Line 93">
              <a:extLst>
                <a:ext uri="{FF2B5EF4-FFF2-40B4-BE49-F238E27FC236}">
                  <a16:creationId xmlns:a16="http://schemas.microsoft.com/office/drawing/2014/main" id="{BD856EE6-3F9B-435C-8081-204312063C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1" y="2484"/>
              <a:ext cx="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5" name="Line 94">
              <a:extLst>
                <a:ext uri="{FF2B5EF4-FFF2-40B4-BE49-F238E27FC236}">
                  <a16:creationId xmlns:a16="http://schemas.microsoft.com/office/drawing/2014/main" id="{71080C42-45D0-45C8-A154-4EDDEAF8FF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5" y="2830"/>
              <a:ext cx="3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6" name="Line 95">
              <a:extLst>
                <a:ext uri="{FF2B5EF4-FFF2-40B4-BE49-F238E27FC236}">
                  <a16:creationId xmlns:a16="http://schemas.microsoft.com/office/drawing/2014/main" id="{2C5A64DA-9DEE-41F0-A455-60625E156E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1" y="1105"/>
              <a:ext cx="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7" name="Line 96">
              <a:extLst>
                <a:ext uri="{FF2B5EF4-FFF2-40B4-BE49-F238E27FC236}">
                  <a16:creationId xmlns:a16="http://schemas.microsoft.com/office/drawing/2014/main" id="{5C46FC7B-1D0D-47C1-B3D2-DA17041FC5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5" y="3004"/>
              <a:ext cx="3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8" name="Line 97">
              <a:extLst>
                <a:ext uri="{FF2B5EF4-FFF2-40B4-BE49-F238E27FC236}">
                  <a16:creationId xmlns:a16="http://schemas.microsoft.com/office/drawing/2014/main" id="{70AE3E5A-EBBE-490B-84AA-60637483A1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8" y="1440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9" name="Line 98">
              <a:extLst>
                <a:ext uri="{FF2B5EF4-FFF2-40B4-BE49-F238E27FC236}">
                  <a16:creationId xmlns:a16="http://schemas.microsoft.com/office/drawing/2014/main" id="{47C05618-E2C3-4125-AE09-E139A0C07B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4" y="1296"/>
              <a:ext cx="2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0" name="Line 99">
              <a:extLst>
                <a:ext uri="{FF2B5EF4-FFF2-40B4-BE49-F238E27FC236}">
                  <a16:creationId xmlns:a16="http://schemas.microsoft.com/office/drawing/2014/main" id="{84917D84-10AE-4733-B941-18723608B5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36" y="2137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1" name="Line 100">
              <a:extLst>
                <a:ext uri="{FF2B5EF4-FFF2-40B4-BE49-F238E27FC236}">
                  <a16:creationId xmlns:a16="http://schemas.microsoft.com/office/drawing/2014/main" id="{AA78EFB6-7299-409F-BF64-D75EB89855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304"/>
              <a:ext cx="1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2" name="Text Box 101">
              <a:extLst>
                <a:ext uri="{FF2B5EF4-FFF2-40B4-BE49-F238E27FC236}">
                  <a16:creationId xmlns:a16="http://schemas.microsoft.com/office/drawing/2014/main" id="{9E1B2403-4BF5-4AC7-8CF4-0505898A8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950" y="1426"/>
              <a:ext cx="75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3200" b="0">
                  <a:solidFill>
                    <a:srgbClr val="FFFF99"/>
                  </a:solidFill>
                  <a:latin typeface="Arial Narrow" panose="020B0606020202030204" pitchFamily="34" charset="0"/>
                </a:rPr>
                <a:t>8086</a:t>
              </a:r>
            </a:p>
          </p:txBody>
        </p:sp>
        <p:graphicFrame>
          <p:nvGraphicFramePr>
            <p:cNvPr id="96323" name="对象 43067">
              <a:extLst>
                <a:ext uri="{FF2B5EF4-FFF2-40B4-BE49-F238E27FC236}">
                  <a16:creationId xmlns:a16="http://schemas.microsoft.com/office/drawing/2014/main" id="{2A60E322-69C6-48DF-9CD8-FB24CA09A8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56" y="2335"/>
            <a:ext cx="80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347" r:id="rId4" imgW="117934" imgH="222765" progId="Equation.3">
                    <p:embed/>
                  </p:oleObj>
                </mc:Choice>
                <mc:Fallback>
                  <p:oleObj r:id="rId4" imgW="117934" imgH="222765" progId="Equation.3">
                    <p:embed/>
                    <p:pic>
                      <p:nvPicPr>
                        <p:cNvPr id="0" name="对象 430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6" y="2335"/>
                          <a:ext cx="80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10" name="Text Box 34">
            <a:extLst>
              <a:ext uri="{FF2B5EF4-FFF2-40B4-BE49-F238E27FC236}">
                <a16:creationId xmlns:a16="http://schemas.microsoft.com/office/drawing/2014/main" id="{3A514961-D0AD-451A-B32A-46A60E5AA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628775"/>
            <a:ext cx="381635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8086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芯片采用双列直插式封装，有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40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个引脚。</a:t>
            </a:r>
          </a:p>
        </p:txBody>
      </p:sp>
      <p:sp>
        <p:nvSpPr>
          <p:cNvPr id="43070" name="Rectangle 105">
            <a:extLst>
              <a:ext uri="{FF2B5EF4-FFF2-40B4-BE49-F238E27FC236}">
                <a16:creationId xmlns:a16="http://schemas.microsoft.com/office/drawing/2014/main" id="{85015F73-2A10-4401-ADAE-ADAF7F37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" y="3429000"/>
            <a:ext cx="3836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8086</a:t>
            </a:r>
            <a:r>
              <a:rPr lang="zh-CN" altLang="en-US">
                <a:latin typeface="Times New Roman" panose="02020603050405020304" pitchFamily="18" charset="0"/>
              </a:rPr>
              <a:t>的</a:t>
            </a:r>
            <a:r>
              <a:rPr lang="en-US" altLang="zh-CN">
                <a:latin typeface="Times New Roman" panose="02020603050405020304" pitchFamily="18" charset="0"/>
              </a:rPr>
              <a:t>40</a:t>
            </a:r>
            <a:r>
              <a:rPr lang="zh-CN" altLang="en-US">
                <a:latin typeface="Times New Roman" panose="02020603050405020304" pitchFamily="18" charset="0"/>
              </a:rPr>
              <a:t>条引脚包含：</a:t>
            </a:r>
          </a:p>
        </p:txBody>
      </p:sp>
      <p:grpSp>
        <p:nvGrpSpPr>
          <p:cNvPr id="43071" name="组合 43070">
            <a:extLst>
              <a:ext uri="{FF2B5EF4-FFF2-40B4-BE49-F238E27FC236}">
                <a16:creationId xmlns:a16="http://schemas.microsoft.com/office/drawing/2014/main" id="{AC6D39DC-0021-4C5B-A6FF-2C96CECE3788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110038"/>
            <a:ext cx="2501900" cy="528637"/>
            <a:chOff x="0" y="0"/>
            <a:chExt cx="1576" cy="333"/>
          </a:xfrm>
        </p:grpSpPr>
        <p:sp>
          <p:nvSpPr>
            <p:cNvPr id="96265" name="Rectangle 106">
              <a:extLst>
                <a:ext uri="{FF2B5EF4-FFF2-40B4-BE49-F238E27FC236}">
                  <a16:creationId xmlns:a16="http://schemas.microsoft.com/office/drawing/2014/main" id="{FE1D62BC-EA85-41E5-AAB1-E116AF25E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8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rgbClr val="FF3300"/>
                  </a:solidFill>
                  <a:latin typeface="Times New Roman" panose="02020603050405020304" pitchFamily="18" charset="0"/>
                </a:rPr>
                <a:t>地址线</a:t>
              </a:r>
              <a:r>
                <a:rPr lang="en-US" altLang="zh-CN">
                  <a:solidFill>
                    <a:srgbClr val="FF3300"/>
                  </a:solidFill>
                  <a:latin typeface="Times New Roman" panose="02020603050405020304" pitchFamily="18" charset="0"/>
                </a:rPr>
                <a:t>/</a:t>
              </a:r>
            </a:p>
          </p:txBody>
        </p:sp>
        <p:sp>
          <p:nvSpPr>
            <p:cNvPr id="96266" name="Rectangle 107">
              <a:extLst>
                <a:ext uri="{FF2B5EF4-FFF2-40B4-BE49-F238E27FC236}">
                  <a16:creationId xmlns:a16="http://schemas.microsoft.com/office/drawing/2014/main" id="{E858B97B-D9E6-473B-9815-DF368E0DB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" y="6"/>
              <a:ext cx="78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rgbClr val="FF3300"/>
                  </a:solidFill>
                  <a:latin typeface="Times New Roman" panose="02020603050405020304" pitchFamily="18" charset="0"/>
                </a:rPr>
                <a:t>数据线</a:t>
              </a:r>
            </a:p>
          </p:txBody>
        </p:sp>
      </p:grpSp>
      <p:sp>
        <p:nvSpPr>
          <p:cNvPr id="43074" name="Rectangle 108">
            <a:extLst>
              <a:ext uri="{FF2B5EF4-FFF2-40B4-BE49-F238E27FC236}">
                <a16:creationId xmlns:a16="http://schemas.microsoft.com/office/drawing/2014/main" id="{85A370C5-B42B-45F3-811C-ECA713507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5184775"/>
            <a:ext cx="2314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电源和时钟线</a:t>
            </a:r>
            <a:endParaRPr lang="zh-CN" altLang="en-US" b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75" name="Rectangle 109">
            <a:extLst>
              <a:ext uri="{FF2B5EF4-FFF2-40B4-BE49-F238E27FC236}">
                <a16:creationId xmlns:a16="http://schemas.microsoft.com/office/drawing/2014/main" id="{0329B5C2-DDA2-47A8-BD64-D967395C8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652963"/>
            <a:ext cx="2695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控制和状态线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AF516A-BFE3-4A79-97CC-C70599B53F03}"/>
              </a:ext>
            </a:extLst>
          </p:cNvPr>
          <p:cNvSpPr txBox="1"/>
          <p:nvPr/>
        </p:nvSpPr>
        <p:spPr>
          <a:xfrm>
            <a:off x="664844" y="291465"/>
            <a:ext cx="3860801" cy="57912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8086 CPU</a:t>
            </a:r>
            <a:r>
              <a:rPr lang="zh-CN" alt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的引脚功能</a:t>
            </a:r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4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4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70" grpId="0"/>
      <p:bldP spid="43074" grpId="0"/>
      <p:bldP spid="4307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34">
            <a:extLst>
              <a:ext uri="{FF2B5EF4-FFF2-40B4-BE49-F238E27FC236}">
                <a16:creationId xmlns:a16="http://schemas.microsoft.com/office/drawing/2014/main" id="{1E5005F1-55DF-476E-8143-4D806110B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69963"/>
            <a:ext cx="791210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8086CPU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有两种工作模式：</a:t>
            </a:r>
            <a:r>
              <a:rPr lang="zh-CN" altLang="en-US">
                <a:solidFill>
                  <a:srgbClr val="0070C0"/>
                </a:solidFill>
                <a:latin typeface="宋体" panose="02010600030101010101" pitchFamily="2" charset="-122"/>
              </a:rPr>
              <a:t>最小模式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和</a:t>
            </a:r>
            <a:r>
              <a:rPr lang="zh-CN" altLang="en-US">
                <a:solidFill>
                  <a:srgbClr val="0070C0"/>
                </a:solidFill>
                <a:latin typeface="宋体" panose="02010600030101010101" pitchFamily="2" charset="-122"/>
              </a:rPr>
              <a:t>最大模式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AF516A-BFE3-4A79-97CC-C70599B53F03}"/>
              </a:ext>
            </a:extLst>
          </p:cNvPr>
          <p:cNvSpPr txBox="1"/>
          <p:nvPr/>
        </p:nvSpPr>
        <p:spPr>
          <a:xfrm>
            <a:off x="664844" y="291465"/>
            <a:ext cx="3860801" cy="57912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8086 CPU</a:t>
            </a:r>
            <a:r>
              <a:rPr lang="zh-CN" alt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的引脚功能</a:t>
            </a:r>
          </a:p>
        </p:txBody>
      </p:sp>
      <p:pic>
        <p:nvPicPr>
          <p:cNvPr id="98308" name="Picture 1">
            <a:extLst>
              <a:ext uri="{FF2B5EF4-FFF2-40B4-BE49-F238E27FC236}">
                <a16:creationId xmlns:a16="http://schemas.microsoft.com/office/drawing/2014/main" id="{38D3951A-373D-4C4C-B5D0-EAF3174F9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2095500"/>
            <a:ext cx="8151813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Text Box 34">
            <a:extLst>
              <a:ext uri="{FF2B5EF4-FFF2-40B4-BE49-F238E27FC236}">
                <a16:creationId xmlns:a16="http://schemas.microsoft.com/office/drawing/2014/main" id="{B8F5EB22-817C-4858-8094-1EFC1F045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1955800"/>
            <a:ext cx="4103688" cy="605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）最小工作模式（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重点</a:t>
            </a:r>
            <a:r>
              <a:rPr lang="zh-CN" alt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858DF79-B96E-4525-99D9-10749BA5F78C}"/>
              </a:ext>
            </a:extLst>
          </p:cNvPr>
          <p:cNvSpPr/>
          <p:nvPr/>
        </p:nvSpPr>
        <p:spPr>
          <a:xfrm>
            <a:off x="2411413" y="2095500"/>
            <a:ext cx="1008062" cy="612775"/>
          </a:xfrm>
          <a:prstGeom prst="roundRect">
            <a:avLst/>
          </a:prstGeom>
          <a:noFill/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69" grpId="0"/>
      <p:bldP spid="6" grpId="0" animBg="1"/>
      <p:bldP spid="6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9AF516A-BFE3-4A79-97CC-C70599B53F03}"/>
              </a:ext>
            </a:extLst>
          </p:cNvPr>
          <p:cNvSpPr txBox="1"/>
          <p:nvPr/>
        </p:nvSpPr>
        <p:spPr>
          <a:xfrm>
            <a:off x="664844" y="291465"/>
            <a:ext cx="3860801" cy="57912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8086 CPU</a:t>
            </a:r>
            <a:r>
              <a:rPr lang="zh-CN" alt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的引脚功能</a:t>
            </a:r>
          </a:p>
        </p:txBody>
      </p:sp>
      <p:pic>
        <p:nvPicPr>
          <p:cNvPr id="100355" name="Picture 2">
            <a:extLst>
              <a:ext uri="{FF2B5EF4-FFF2-40B4-BE49-F238E27FC236}">
                <a16:creationId xmlns:a16="http://schemas.microsoft.com/office/drawing/2014/main" id="{8DCBF222-4034-41B2-8BA5-911FD1D0F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84275"/>
            <a:ext cx="7788275" cy="510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Text Box 34">
            <a:extLst>
              <a:ext uri="{FF2B5EF4-FFF2-40B4-BE49-F238E27FC236}">
                <a16:creationId xmlns:a16="http://schemas.microsoft.com/office/drawing/2014/main" id="{B8F5EB22-817C-4858-8094-1EFC1F045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8" y="5068888"/>
            <a:ext cx="4248150" cy="120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）最大工作模式</a:t>
            </a:r>
            <a:endParaRPr lang="en-US" altLang="zh-CN" dirty="0">
              <a:solidFill>
                <a:schemeClr val="tx1">
                  <a:lumMod val="60000"/>
                  <a:lumOff val="40000"/>
                </a:schemeClr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（</a:t>
            </a:r>
            <a:r>
              <a:rPr lang="zh-CN" altLang="en-US" dirty="0">
                <a:solidFill>
                  <a:srgbClr val="FFC000"/>
                </a:solidFill>
                <a:latin typeface="宋体" panose="02010600030101010101" pitchFamily="2" charset="-122"/>
              </a:rPr>
              <a:t>了解即可</a:t>
            </a:r>
            <a:r>
              <a:rPr lang="zh-CN" alt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29481C9-B7C3-416E-947E-698D2241D09C}"/>
              </a:ext>
            </a:extLst>
          </p:cNvPr>
          <p:cNvSpPr/>
          <p:nvPr/>
        </p:nvSpPr>
        <p:spPr>
          <a:xfrm>
            <a:off x="4427538" y="981075"/>
            <a:ext cx="1296987" cy="2160588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1085103-851B-459B-9AC9-6F421B50247B}"/>
              </a:ext>
            </a:extLst>
          </p:cNvPr>
          <p:cNvSpPr/>
          <p:nvPr/>
        </p:nvSpPr>
        <p:spPr>
          <a:xfrm>
            <a:off x="2555875" y="2276475"/>
            <a:ext cx="1223963" cy="431800"/>
          </a:xfrm>
          <a:prstGeom prst="roundRect">
            <a:avLst/>
          </a:prstGeom>
          <a:noFill/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2" grpId="0" animBg="1"/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1D9C0B-25A3-4D69-8D69-0C30EAD18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50" y="1117600"/>
            <a:ext cx="7920037" cy="5219700"/>
          </a:xfrm>
          <a:extLst/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sz="3200" noProof="1"/>
              <a:t>1</a:t>
            </a:r>
            <a:r>
              <a:rPr lang="en-US" sz="3200" noProof="1">
                <a:solidFill>
                  <a:srgbClr val="C00000"/>
                </a:solidFill>
              </a:rPr>
              <a:t>.  AD</a:t>
            </a:r>
            <a:r>
              <a:rPr lang="en-US" sz="3200" baseline="-25000" noProof="1">
                <a:solidFill>
                  <a:srgbClr val="C00000"/>
                </a:solidFill>
              </a:rPr>
              <a:t>15</a:t>
            </a:r>
            <a:r>
              <a:rPr lang="en-US" sz="3200" noProof="1">
                <a:solidFill>
                  <a:srgbClr val="C00000"/>
                </a:solidFill>
              </a:rPr>
              <a:t>~AD</a:t>
            </a:r>
            <a:r>
              <a:rPr lang="en-US" sz="3200" baseline="-25000" noProof="1">
                <a:solidFill>
                  <a:srgbClr val="C00000"/>
                </a:solidFill>
              </a:rPr>
              <a:t>0 </a:t>
            </a:r>
            <a:r>
              <a:rPr lang="zh-CN" altLang="en-US" sz="3200" noProof="1">
                <a:solidFill>
                  <a:srgbClr val="C00000"/>
                </a:solidFill>
              </a:rPr>
              <a:t>（</a:t>
            </a:r>
            <a:r>
              <a:rPr lang="en-US" sz="3200" noProof="1">
                <a:solidFill>
                  <a:srgbClr val="C00000"/>
                </a:solidFill>
              </a:rPr>
              <a:t>Address Data Bus</a:t>
            </a:r>
            <a:r>
              <a:rPr lang="zh-CN" altLang="en-US" sz="3200" noProof="1">
                <a:solidFill>
                  <a:srgbClr val="C00000"/>
                </a:solidFill>
              </a:rPr>
              <a:t>）</a:t>
            </a:r>
            <a:endParaRPr lang="en-US" altLang="zh-CN" sz="3200" noProof="1">
              <a:solidFill>
                <a:srgbClr val="C00000"/>
              </a:solidFill>
            </a:endParaRPr>
          </a:p>
          <a:p>
            <a:pPr algn="just" eaLnBrk="1" hangingPunct="1">
              <a:spcBef>
                <a:spcPts val="3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noProof="1"/>
              <a:t>地址</a:t>
            </a:r>
            <a:r>
              <a:rPr lang="en-US" noProof="1"/>
              <a:t>/</a:t>
            </a:r>
            <a:r>
              <a:rPr lang="zh-CN" altLang="en-US" noProof="1"/>
              <a:t>数据总线，</a:t>
            </a:r>
            <a:r>
              <a:rPr lang="zh-CN" altLang="en-US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双向</a:t>
            </a:r>
            <a:r>
              <a:rPr lang="zh-CN" altLang="en-US" noProof="1"/>
              <a:t>、</a:t>
            </a:r>
            <a:r>
              <a:rPr lang="zh-CN" altLang="en-US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三态</a:t>
            </a:r>
            <a:r>
              <a:rPr lang="zh-CN" altLang="en-US" noProof="1"/>
              <a:t>、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分时复用</a:t>
            </a:r>
            <a:r>
              <a:rPr lang="zh-CN" altLang="en-US" noProof="1"/>
              <a:t>。</a:t>
            </a:r>
          </a:p>
          <a:p>
            <a:pPr algn="just" eaLnBrk="1" hangingPunct="1">
              <a:spcBef>
                <a:spcPts val="3000"/>
              </a:spcBef>
              <a:buFont typeface="Wingdings" panose="05000000000000000000" pitchFamily="2" charset="2"/>
              <a:buChar char="n"/>
              <a:defRPr/>
            </a:pPr>
            <a:r>
              <a:rPr lang="en-US" noProof="1"/>
              <a:t>CPU</a:t>
            </a:r>
            <a:r>
              <a:rPr lang="zh-CN" altLang="en-US" noProof="1"/>
              <a:t>访向内存或</a:t>
            </a:r>
            <a:r>
              <a:rPr lang="en-US" noProof="1"/>
              <a:t>I/O</a:t>
            </a:r>
            <a:r>
              <a:rPr lang="zh-CN" altLang="en-US" noProof="1"/>
              <a:t>设备时，先在</a:t>
            </a:r>
            <a:r>
              <a:rPr lang="en-US" noProof="1"/>
              <a:t>AD</a:t>
            </a:r>
            <a:r>
              <a:rPr lang="zh-CN" altLang="en-US" noProof="1"/>
              <a:t>线上传送地址信号，并锁存起来，再传送数据信号，在时间上把地址</a:t>
            </a:r>
            <a:r>
              <a:rPr lang="en-US" noProof="1"/>
              <a:t>/</a:t>
            </a:r>
            <a:r>
              <a:rPr lang="zh-CN" altLang="en-US" noProof="1"/>
              <a:t>数据信号分开。</a:t>
            </a:r>
          </a:p>
          <a:p>
            <a:pPr algn="just" eaLnBrk="1" hangingPunct="1">
              <a:spcBef>
                <a:spcPts val="3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noProof="1">
                <a:solidFill>
                  <a:srgbClr val="FF0000"/>
                </a:solidFill>
              </a:rPr>
              <a:t>重要：分时复用的概念！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21F15BC-D896-46E2-9601-4F972E126536}"/>
              </a:ext>
            </a:extLst>
          </p:cNvPr>
          <p:cNvGrpSpPr>
            <a:grpSpLocks/>
          </p:cNvGrpSpPr>
          <p:nvPr/>
        </p:nvGrpSpPr>
        <p:grpSpPr bwMode="auto">
          <a:xfrm>
            <a:off x="611725" y="2060905"/>
            <a:ext cx="7905750" cy="4489450"/>
            <a:chOff x="618943" y="1802249"/>
            <a:chExt cx="7906113" cy="4489287"/>
          </a:xfrm>
        </p:grpSpPr>
        <p:pic>
          <p:nvPicPr>
            <p:cNvPr id="102406" name="Picture 1">
              <a:extLst>
                <a:ext uri="{FF2B5EF4-FFF2-40B4-BE49-F238E27FC236}">
                  <a16:creationId xmlns:a16="http://schemas.microsoft.com/office/drawing/2014/main" id="{52C04B28-7038-43D9-B7F7-BBE5EA83F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943" y="1802249"/>
              <a:ext cx="7906113" cy="448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21153993-2554-4757-8F2B-C86FF00BBF0A}"/>
                </a:ext>
              </a:extLst>
            </p:cNvPr>
            <p:cNvSpPr txBox="1"/>
            <p:nvPr/>
          </p:nvSpPr>
          <p:spPr>
            <a:xfrm>
              <a:off x="4067941" y="1802249"/>
              <a:ext cx="3240225" cy="40009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000" dirty="0">
                  <a:highlight>
                    <a:srgbClr val="FFFF00"/>
                  </a:highlight>
                </a:rPr>
                <a:t>重要概念：分时复用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E53F6FCE-2B8B-41F0-B3CC-76103042F153}"/>
              </a:ext>
            </a:extLst>
          </p:cNvPr>
          <p:cNvSpPr txBox="1"/>
          <p:nvPr/>
        </p:nvSpPr>
        <p:spPr>
          <a:xfrm>
            <a:off x="4795415" y="3544082"/>
            <a:ext cx="576041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highlight>
                  <a:srgbClr val="FFFF00"/>
                </a:highlight>
              </a:rPr>
              <a:t>锁存器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E1ADFD-5D2B-483F-8CEE-33B1D0A09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67" y="4696162"/>
            <a:ext cx="181171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rgbClr val="0033CC"/>
                </a:solidFill>
                <a:highlight>
                  <a:srgbClr val="FFFF00"/>
                </a:highlight>
                <a:latin typeface="Garamond" panose="02020404030301010803" pitchFamily="18" charset="0"/>
              </a:rPr>
              <a:t>问：为何要采用</a:t>
            </a:r>
            <a:endParaRPr lang="en-US" altLang="zh-CN" sz="1800" dirty="0">
              <a:solidFill>
                <a:srgbClr val="0033CC"/>
              </a:solidFill>
              <a:highlight>
                <a:srgbClr val="FFFF00"/>
              </a:highlight>
              <a:latin typeface="Garamond" panose="02020404030301010803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33CC"/>
                </a:solidFill>
                <a:highlight>
                  <a:srgbClr val="FFFF00"/>
                </a:highlight>
                <a:latin typeface="Garamond" panose="02020404030301010803" pitchFamily="18" charset="0"/>
              </a:rPr>
              <a:t>        </a:t>
            </a:r>
            <a:r>
              <a:rPr lang="zh-CN" altLang="en-US" sz="1800" dirty="0">
                <a:solidFill>
                  <a:srgbClr val="0033CC"/>
                </a:solidFill>
                <a:highlight>
                  <a:srgbClr val="FFFF00"/>
                </a:highlight>
                <a:latin typeface="Garamond" panose="02020404030301010803" pitchFamily="18" charset="0"/>
              </a:rPr>
              <a:t>分时复用？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840ABD-3E24-4C30-8602-070807831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77" y="5444448"/>
            <a:ext cx="233269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rgbClr val="0033CC"/>
                </a:solidFill>
                <a:highlight>
                  <a:srgbClr val="FFFF00"/>
                </a:highlight>
                <a:latin typeface="Garamond" panose="02020404030301010803" pitchFamily="18" charset="0"/>
              </a:rPr>
              <a:t>问：什么是总线冲突</a:t>
            </a:r>
            <a:endParaRPr lang="en-US" altLang="zh-CN" sz="1800" dirty="0">
              <a:solidFill>
                <a:srgbClr val="0033CC"/>
              </a:solidFill>
              <a:highlight>
                <a:srgbClr val="FFFF00"/>
              </a:highlight>
              <a:latin typeface="Garamond" panose="02020404030301010803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33CC"/>
                </a:solidFill>
                <a:highlight>
                  <a:srgbClr val="FFFF00"/>
                </a:highlight>
                <a:latin typeface="Garamond" panose="02020404030301010803" pitchFamily="18" charset="0"/>
              </a:rPr>
              <a:t>     </a:t>
            </a:r>
            <a:r>
              <a:rPr lang="zh-CN" altLang="en-US" sz="1800" dirty="0">
                <a:solidFill>
                  <a:srgbClr val="0033CC"/>
                </a:solidFill>
                <a:highlight>
                  <a:srgbClr val="FFFF00"/>
                </a:highlight>
                <a:latin typeface="Garamond" panose="02020404030301010803" pitchFamily="18" charset="0"/>
              </a:rPr>
              <a:t>如何解决总线冲突</a:t>
            </a: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4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内容占位符 2">
            <a:extLst>
              <a:ext uri="{FF2B5EF4-FFF2-40B4-BE49-F238E27FC236}">
                <a16:creationId xmlns:a16="http://schemas.microsoft.com/office/drawing/2014/main" id="{C4469EF3-015A-4AC9-A7DE-A9C0D00AE5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898525"/>
            <a:ext cx="8372475" cy="3111500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3200"/>
              <a:t>2</a:t>
            </a:r>
            <a:r>
              <a:rPr lang="en-US" altLang="en-US" sz="3200">
                <a:solidFill>
                  <a:srgbClr val="C00000"/>
                </a:solidFill>
              </a:rPr>
              <a:t>.  A</a:t>
            </a:r>
            <a:r>
              <a:rPr lang="en-US" altLang="en-US" sz="3200" baseline="-25000">
                <a:solidFill>
                  <a:srgbClr val="C00000"/>
                </a:solidFill>
              </a:rPr>
              <a:t>19</a:t>
            </a:r>
            <a:r>
              <a:rPr lang="en-US" altLang="en-US" sz="3200">
                <a:solidFill>
                  <a:srgbClr val="C00000"/>
                </a:solidFill>
              </a:rPr>
              <a:t>/S</a:t>
            </a:r>
            <a:r>
              <a:rPr lang="en-US" altLang="en-US" sz="3200" baseline="-25000">
                <a:solidFill>
                  <a:srgbClr val="C00000"/>
                </a:solidFill>
              </a:rPr>
              <a:t>6</a:t>
            </a:r>
            <a:r>
              <a:rPr lang="en-US" altLang="en-US" sz="3200">
                <a:solidFill>
                  <a:srgbClr val="C00000"/>
                </a:solidFill>
              </a:rPr>
              <a:t>~A</a:t>
            </a:r>
            <a:r>
              <a:rPr lang="en-US" altLang="en-US" sz="3200" baseline="-25000">
                <a:solidFill>
                  <a:srgbClr val="C00000"/>
                </a:solidFill>
              </a:rPr>
              <a:t>16</a:t>
            </a:r>
            <a:r>
              <a:rPr lang="en-US" altLang="en-US" sz="3200">
                <a:solidFill>
                  <a:srgbClr val="C00000"/>
                </a:solidFill>
              </a:rPr>
              <a:t>/S</a:t>
            </a:r>
            <a:r>
              <a:rPr lang="en-US" altLang="en-US" sz="3200" baseline="-25000">
                <a:solidFill>
                  <a:srgbClr val="C00000"/>
                </a:solidFill>
              </a:rPr>
              <a:t>3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>
                <a:solidFill>
                  <a:srgbClr val="C00000"/>
                </a:solidFill>
              </a:rPr>
              <a:t>Address/Status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  <a:endParaRPr lang="en-US" altLang="zh-CN" sz="32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ea typeface="宋体" panose="02010600030101010101" pitchFamily="2" charset="-122"/>
              </a:rPr>
              <a:t>地址</a:t>
            </a:r>
            <a:r>
              <a:rPr lang="en-US" altLang="en-US" sz="2400"/>
              <a:t>/</a:t>
            </a:r>
            <a:r>
              <a:rPr lang="zh-CN" altLang="en-US" sz="2400">
                <a:ea typeface="宋体" panose="02010600030101010101" pitchFamily="2" charset="-122"/>
              </a:rPr>
              <a:t>状态线，先传送高</a:t>
            </a:r>
            <a:r>
              <a:rPr lang="en-US" altLang="en-US" sz="2400"/>
              <a:t>4</a:t>
            </a:r>
            <a:r>
              <a:rPr lang="zh-CN" altLang="en-US" sz="2400">
                <a:ea typeface="宋体" panose="02010600030101010101" pitchFamily="2" charset="-122"/>
              </a:rPr>
              <a:t>位地址</a:t>
            </a:r>
            <a:r>
              <a:rPr lang="en-US" altLang="en-US" sz="2400"/>
              <a:t>A</a:t>
            </a:r>
            <a:r>
              <a:rPr lang="en-US" altLang="en-US" sz="2400" baseline="-25000"/>
              <a:t>19</a:t>
            </a:r>
            <a:r>
              <a:rPr lang="en-US" altLang="en-US" sz="2400"/>
              <a:t>~A</a:t>
            </a:r>
            <a:r>
              <a:rPr lang="en-US" altLang="en-US" sz="2400" baseline="-25000"/>
              <a:t>16</a:t>
            </a:r>
            <a:r>
              <a:rPr lang="zh-CN" altLang="en-US" sz="2400">
                <a:ea typeface="宋体" panose="02010600030101010101" pitchFamily="2" charset="-122"/>
              </a:rPr>
              <a:t>，后传送状态信号</a:t>
            </a:r>
            <a:r>
              <a:rPr lang="en-US" altLang="en-US" sz="2400"/>
              <a:t>S</a:t>
            </a:r>
            <a:r>
              <a:rPr lang="en-US" altLang="en-US" sz="2400" baseline="-25000"/>
              <a:t>6</a:t>
            </a:r>
            <a:r>
              <a:rPr lang="en-US" altLang="en-US" sz="2400"/>
              <a:t>~S</a:t>
            </a:r>
            <a:r>
              <a:rPr lang="en-US" altLang="en-US" sz="2400" baseline="-25000"/>
              <a:t>3</a:t>
            </a:r>
            <a:r>
              <a:rPr lang="zh-CN" altLang="en-US" sz="2400">
                <a:ea typeface="宋体" panose="02010600030101010101" pitchFamily="2" charset="-122"/>
              </a:rPr>
              <a:t>。</a:t>
            </a: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在</a:t>
            </a:r>
            <a:r>
              <a:rPr lang="en-US" altLang="en-US" sz="2400">
                <a:solidFill>
                  <a:srgbClr val="FF0000"/>
                </a:solidFill>
              </a:rPr>
              <a:t>T</a:t>
            </a:r>
            <a:r>
              <a:rPr lang="en-US" altLang="en-US" sz="2400" baseline="-25000">
                <a:solidFill>
                  <a:srgbClr val="FF0000"/>
                </a:solidFill>
              </a:rPr>
              <a:t>1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周期</a:t>
            </a:r>
            <a:r>
              <a:rPr lang="zh-CN" altLang="en-US" sz="2400">
                <a:ea typeface="宋体" panose="02010600030101010101" pitchFamily="2" charset="-122"/>
              </a:rPr>
              <a:t>用作高</a:t>
            </a:r>
            <a:r>
              <a:rPr lang="en-US" altLang="en-US" sz="2400"/>
              <a:t>4</a:t>
            </a:r>
            <a:r>
              <a:rPr lang="zh-CN" altLang="en-US" sz="2400">
                <a:ea typeface="宋体" panose="02010600030101010101" pitchFamily="2" charset="-122"/>
              </a:rPr>
              <a:t>位地址</a:t>
            </a:r>
            <a:r>
              <a:rPr lang="en-US" altLang="en-US" sz="2400"/>
              <a:t>A</a:t>
            </a:r>
            <a:r>
              <a:rPr lang="en-US" altLang="en-US" sz="2400" baseline="-25000"/>
              <a:t>19</a:t>
            </a:r>
            <a:r>
              <a:rPr lang="en-US" altLang="en-US" sz="2400"/>
              <a:t>~A</a:t>
            </a:r>
            <a:r>
              <a:rPr lang="en-US" altLang="en-US" sz="2400" baseline="-25000"/>
              <a:t>16</a:t>
            </a:r>
            <a:r>
              <a:rPr lang="zh-CN" altLang="en-US" sz="2400">
                <a:ea typeface="宋体" panose="02010600030101010101" pitchFamily="2" charset="-122"/>
              </a:rPr>
              <a:t>，存储器操作时需锁存；</a:t>
            </a:r>
            <a:r>
              <a:rPr lang="en-US" altLang="en-US" sz="2400"/>
              <a:t>I/O</a:t>
            </a:r>
            <a:r>
              <a:rPr lang="zh-CN" altLang="en-US" sz="2400">
                <a:ea typeface="宋体" panose="02010600030101010101" pitchFamily="2" charset="-122"/>
              </a:rPr>
              <a:t>操作时，高</a:t>
            </a:r>
            <a:r>
              <a:rPr lang="en-US" altLang="en-US" sz="2400"/>
              <a:t>4</a:t>
            </a:r>
            <a:r>
              <a:rPr lang="zh-CN" altLang="en-US" sz="2400">
                <a:ea typeface="宋体" panose="02010600030101010101" pitchFamily="2" charset="-122"/>
              </a:rPr>
              <a:t>位无效，仅用</a:t>
            </a:r>
            <a:r>
              <a:rPr lang="en-US" altLang="en-US" sz="2400"/>
              <a:t>A</a:t>
            </a:r>
            <a:r>
              <a:rPr lang="en-US" altLang="en-US" sz="2400" baseline="-25000"/>
              <a:t>15</a:t>
            </a:r>
            <a:r>
              <a:rPr lang="en-US" altLang="en-US" sz="2400"/>
              <a:t>~A</a:t>
            </a:r>
            <a:r>
              <a:rPr lang="en-US" altLang="en-US" sz="2400" baseline="-25000"/>
              <a:t>0</a:t>
            </a:r>
            <a:r>
              <a:rPr lang="zh-CN" altLang="en-US" sz="2400">
                <a:ea typeface="宋体" panose="02010600030101010101" pitchFamily="2" charset="-122"/>
              </a:rPr>
              <a:t>寻址。</a:t>
            </a: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在</a:t>
            </a:r>
            <a:r>
              <a:rPr lang="en-US" altLang="en-US" sz="2400">
                <a:solidFill>
                  <a:srgbClr val="FF0000"/>
                </a:solidFill>
              </a:rPr>
              <a:t>T</a:t>
            </a:r>
            <a:r>
              <a:rPr lang="en-US" altLang="en-US" sz="2400" baseline="-25000">
                <a:solidFill>
                  <a:srgbClr val="FF0000"/>
                </a:solidFill>
              </a:rPr>
              <a:t>2</a:t>
            </a:r>
            <a:r>
              <a:rPr lang="en-US" altLang="en-US" sz="2400">
                <a:solidFill>
                  <a:srgbClr val="FF0000"/>
                </a:solidFill>
              </a:rPr>
              <a:t>~T</a:t>
            </a:r>
            <a:r>
              <a:rPr lang="en-US" altLang="en-US" sz="2400" baseline="-25000">
                <a:solidFill>
                  <a:srgbClr val="FF0000"/>
                </a:solidFill>
              </a:rPr>
              <a:t>4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周期</a:t>
            </a:r>
            <a:r>
              <a:rPr lang="zh-CN" altLang="en-US" sz="2400">
                <a:ea typeface="宋体" panose="02010600030101010101" pitchFamily="2" charset="-122"/>
              </a:rPr>
              <a:t>，用作状态信号</a:t>
            </a:r>
            <a:r>
              <a:rPr lang="en-US" altLang="en-US" sz="2400"/>
              <a:t>S</a:t>
            </a:r>
            <a:r>
              <a:rPr lang="en-US" altLang="en-US" sz="2400" baseline="-25000"/>
              <a:t>6</a:t>
            </a:r>
            <a:r>
              <a:rPr lang="en-US" altLang="en-US" sz="2400"/>
              <a:t>~S</a:t>
            </a:r>
            <a:r>
              <a:rPr lang="en-US" altLang="en-US" sz="2400" baseline="-25000"/>
              <a:t>3</a:t>
            </a:r>
            <a:r>
              <a:rPr lang="zh-CN" altLang="en-US" sz="2400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9177" name="Rectangle 32">
            <a:extLst>
              <a:ext uri="{FF2B5EF4-FFF2-40B4-BE49-F238E27FC236}">
                <a16:creationId xmlns:a16="http://schemas.microsoft.com/office/drawing/2014/main" id="{00B7F2C3-D14F-416C-A1D9-8AE2249D9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4473575"/>
            <a:ext cx="9145588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60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600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5 </a:t>
            </a:r>
            <a:r>
              <a:rPr lang="zh-CN" altLang="en-US" sz="2600">
                <a:latin typeface="Times New Roman" panose="02020603050405020304" pitchFamily="18" charset="0"/>
              </a:rPr>
              <a:t>表示状态标志寄存器中中断允许标志位（</a:t>
            </a:r>
            <a:r>
              <a:rPr lang="en-US" altLang="zh-CN" sz="2600">
                <a:latin typeface="Times New Roman" panose="02020603050405020304" pitchFamily="18" charset="0"/>
              </a:rPr>
              <a:t>IF</a:t>
            </a:r>
            <a:r>
              <a:rPr lang="zh-CN" altLang="en-US" sz="2600">
                <a:latin typeface="Times New Roman" panose="02020603050405020304" pitchFamily="18" charset="0"/>
              </a:rPr>
              <a:t>）的状态</a:t>
            </a:r>
            <a:r>
              <a:rPr lang="en-US" altLang="zh-CN" sz="2600">
                <a:latin typeface="Times New Roman" panose="02020603050405020304" pitchFamily="18" charset="0"/>
              </a:rPr>
              <a:t>.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endParaRPr lang="zh-CN" altLang="en-US" sz="26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8" name="Rectangle 33">
            <a:extLst>
              <a:ext uri="{FF2B5EF4-FFF2-40B4-BE49-F238E27FC236}">
                <a16:creationId xmlns:a16="http://schemas.microsoft.com/office/drawing/2014/main" id="{DC5E3363-46D5-496C-9416-B278C09C5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5041900"/>
            <a:ext cx="8439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60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600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600">
                <a:solidFill>
                  <a:srgbClr val="FF3300"/>
                </a:solidFill>
                <a:latin typeface="Times New Roman" panose="02020603050405020304" pitchFamily="18" charset="0"/>
              </a:rPr>
              <a:t>=1</a:t>
            </a:r>
            <a:r>
              <a:rPr lang="zh-CN" altLang="en-US" sz="2600">
                <a:latin typeface="Times New Roman" panose="02020603050405020304" pitchFamily="18" charset="0"/>
              </a:rPr>
              <a:t>则使</a:t>
            </a:r>
            <a:r>
              <a:rPr lang="en-US" altLang="zh-CN" sz="2600">
                <a:latin typeface="Times New Roman" panose="02020603050405020304" pitchFamily="18" charset="0"/>
              </a:rPr>
              <a:t>8086</a:t>
            </a:r>
            <a:r>
              <a:rPr lang="zh-CN" altLang="en-US" sz="2600">
                <a:latin typeface="Times New Roman" panose="02020603050405020304" pitchFamily="18" charset="0"/>
              </a:rPr>
              <a:t>总线浮空，让另外的总线主模块可以取得系统总线的控制权。</a:t>
            </a:r>
            <a:r>
              <a:rPr lang="zh-CN" altLang="en-US" sz="260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600">
                <a:solidFill>
                  <a:srgbClr val="FF3300"/>
                </a:solidFill>
                <a:latin typeface="Garamond" panose="02020404030301010803" pitchFamily="18" charset="0"/>
              </a:rPr>
              <a:t>S6=0</a:t>
            </a:r>
            <a:r>
              <a:rPr lang="zh-CN" altLang="en-US" sz="2600">
                <a:solidFill>
                  <a:srgbClr val="FF3300"/>
                </a:solidFill>
                <a:latin typeface="Garamond" panose="02020404030301010803" pitchFamily="18" charset="0"/>
              </a:rPr>
              <a:t>表示这片</a:t>
            </a:r>
            <a:r>
              <a:rPr lang="en-US" altLang="zh-CN" sz="2600">
                <a:solidFill>
                  <a:srgbClr val="FF3300"/>
                </a:solidFill>
                <a:latin typeface="Garamond" panose="02020404030301010803" pitchFamily="18" charset="0"/>
              </a:rPr>
              <a:t>8086</a:t>
            </a:r>
            <a:r>
              <a:rPr lang="zh-CN" altLang="en-US" sz="2600">
                <a:solidFill>
                  <a:srgbClr val="FF3300"/>
                </a:solidFill>
                <a:latin typeface="Garamond" panose="02020404030301010803" pitchFamily="18" charset="0"/>
              </a:rPr>
              <a:t>连在总线上。</a:t>
            </a:r>
          </a:p>
        </p:txBody>
      </p:sp>
      <p:sp>
        <p:nvSpPr>
          <p:cNvPr id="2" name="Rectangle 32">
            <a:extLst>
              <a:ext uri="{FF2B5EF4-FFF2-40B4-BE49-F238E27FC236}">
                <a16:creationId xmlns:a16="http://schemas.microsoft.com/office/drawing/2014/main" id="{68AF45AB-0A16-40C3-8810-FC50EBD7B466}"/>
              </a:ext>
            </a:extLst>
          </p:cNvPr>
          <p:cNvSpPr/>
          <p:nvPr/>
        </p:nvSpPr>
        <p:spPr>
          <a:xfrm>
            <a:off x="561975" y="3830319"/>
            <a:ext cx="4043663" cy="567691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cs typeface="+mn-ea"/>
              </a:rPr>
              <a:t>状态信号的意义：</a:t>
            </a:r>
            <a:r>
              <a:rPr lang="en-US" altLang="x-none" sz="26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S</a:t>
            </a:r>
            <a:r>
              <a:rPr lang="en-US" altLang="x-none" sz="2600" baseline="-250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5</a:t>
            </a:r>
            <a:r>
              <a:rPr lang="zh-CN" altLang="en-US" sz="26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和</a:t>
            </a:r>
            <a:r>
              <a:rPr lang="en-US" altLang="x-none" sz="26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S</a:t>
            </a:r>
            <a:r>
              <a:rPr lang="en-US" altLang="x-none" sz="2600" baseline="-250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6</a:t>
            </a:r>
            <a:r>
              <a:rPr lang="zh-CN" altLang="en-US" sz="2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cs typeface="+mn-ea"/>
              </a:rPr>
              <a:t> </a:t>
            </a:r>
            <a:endParaRPr lang="zh-CN" altLang="en-US" sz="260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2" charset="0"/>
            </a:endParaRPr>
          </a:p>
        </p:txBody>
      </p:sp>
      <p:sp>
        <p:nvSpPr>
          <p:cNvPr id="47148" name="Rectangle 82">
            <a:extLst>
              <a:ext uri="{FF2B5EF4-FFF2-40B4-BE49-F238E27FC236}">
                <a16:creationId xmlns:a16="http://schemas.microsoft.com/office/drawing/2014/main" id="{FB897B1B-5FDF-4544-98EA-FF9662CAB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5511800"/>
            <a:ext cx="7661275" cy="115252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仿宋" panose="02010609060101010101" pitchFamily="49" charset="-122"/>
                <a:ea typeface="仿宋" panose="02010609060101010101" pitchFamily="49" charset="-122"/>
              </a:rPr>
              <a:t>8086</a:t>
            </a: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可以组成多处理器系统，状态信号是多处理器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状态下各</a:t>
            </a:r>
            <a:r>
              <a:rPr lang="en-US" altLang="zh-CN" sz="2400">
                <a:latin typeface="仿宋" panose="02010609060101010101" pitchFamily="49" charset="-122"/>
                <a:ea typeface="仿宋" panose="02010609060101010101" pitchFamily="49" charset="-122"/>
              </a:rPr>
              <a:t>CPU</a:t>
            </a: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协调用的，每个</a:t>
            </a:r>
            <a:r>
              <a:rPr lang="en-US" altLang="zh-CN" sz="2400">
                <a:latin typeface="仿宋" panose="02010609060101010101" pitchFamily="49" charset="-122"/>
                <a:ea typeface="仿宋" panose="02010609060101010101" pitchFamily="49" charset="-122"/>
              </a:rPr>
              <a:t>S</a:t>
            </a: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信号的意义了解下就好</a:t>
            </a:r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7" grpId="0"/>
      <p:bldP spid="49178" grpId="0"/>
      <p:bldP spid="47148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内容占位符 2">
            <a:extLst>
              <a:ext uri="{FF2B5EF4-FFF2-40B4-BE49-F238E27FC236}">
                <a16:creationId xmlns:a16="http://schemas.microsoft.com/office/drawing/2014/main" id="{AF3BBDC1-6CF7-4184-A46D-E2B64C4BBA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909638"/>
            <a:ext cx="8372475" cy="3111500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3200"/>
              <a:t>2</a:t>
            </a:r>
            <a:r>
              <a:rPr lang="en-US" altLang="en-US" sz="3200">
                <a:solidFill>
                  <a:srgbClr val="C00000"/>
                </a:solidFill>
              </a:rPr>
              <a:t>.  A</a:t>
            </a:r>
            <a:r>
              <a:rPr lang="en-US" altLang="en-US" sz="3200" baseline="-25000">
                <a:solidFill>
                  <a:srgbClr val="C00000"/>
                </a:solidFill>
              </a:rPr>
              <a:t>19</a:t>
            </a:r>
            <a:r>
              <a:rPr lang="en-US" altLang="en-US" sz="3200">
                <a:solidFill>
                  <a:srgbClr val="C00000"/>
                </a:solidFill>
              </a:rPr>
              <a:t>/S</a:t>
            </a:r>
            <a:r>
              <a:rPr lang="en-US" altLang="en-US" sz="3200" baseline="-25000">
                <a:solidFill>
                  <a:srgbClr val="C00000"/>
                </a:solidFill>
              </a:rPr>
              <a:t>6</a:t>
            </a:r>
            <a:r>
              <a:rPr lang="en-US" altLang="en-US" sz="3200">
                <a:solidFill>
                  <a:srgbClr val="C00000"/>
                </a:solidFill>
              </a:rPr>
              <a:t>~A</a:t>
            </a:r>
            <a:r>
              <a:rPr lang="en-US" altLang="en-US" sz="3200" baseline="-25000">
                <a:solidFill>
                  <a:srgbClr val="C00000"/>
                </a:solidFill>
              </a:rPr>
              <a:t>16</a:t>
            </a:r>
            <a:r>
              <a:rPr lang="en-US" altLang="en-US" sz="3200">
                <a:solidFill>
                  <a:srgbClr val="C00000"/>
                </a:solidFill>
              </a:rPr>
              <a:t>/S</a:t>
            </a:r>
            <a:r>
              <a:rPr lang="en-US" altLang="en-US" sz="3200" baseline="-25000">
                <a:solidFill>
                  <a:srgbClr val="C00000"/>
                </a:solidFill>
              </a:rPr>
              <a:t>3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>
                <a:solidFill>
                  <a:srgbClr val="C00000"/>
                </a:solidFill>
              </a:rPr>
              <a:t>Address/Status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  <a:endParaRPr lang="en-US" altLang="zh-CN" sz="32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zh-CN" altLang="en-US" sz="2400">
              <a:ea typeface="宋体" panose="02010600030101010101" pitchFamily="2" charset="-122"/>
            </a:endParaRPr>
          </a:p>
        </p:txBody>
      </p:sp>
      <p:pic>
        <p:nvPicPr>
          <p:cNvPr id="104451" name="Picture 2">
            <a:extLst>
              <a:ext uri="{FF2B5EF4-FFF2-40B4-BE49-F238E27FC236}">
                <a16:creationId xmlns:a16="http://schemas.microsoft.com/office/drawing/2014/main" id="{DCF9B89F-EF06-4F0B-B925-F629FF203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863" y="3214688"/>
            <a:ext cx="591185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4" name="Rectangle 10">
            <a:extLst>
              <a:ext uri="{FF2B5EF4-FFF2-40B4-BE49-F238E27FC236}">
                <a16:creationId xmlns:a16="http://schemas.microsoft.com/office/drawing/2014/main" id="{63710CC0-0091-417B-8707-3DB6D4D8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2427288"/>
            <a:ext cx="5938838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60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600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600">
                <a:solidFill>
                  <a:srgbClr val="FF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60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600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600">
                <a:latin typeface="Times New Roman" panose="02020603050405020304" pitchFamily="18" charset="0"/>
              </a:rPr>
              <a:t>表示正在被使用的段寄存器</a:t>
            </a:r>
            <a:endParaRPr lang="zh-CN" altLang="en-US" sz="26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2">
            <a:extLst>
              <a:ext uri="{FF2B5EF4-FFF2-40B4-BE49-F238E27FC236}">
                <a16:creationId xmlns:a16="http://schemas.microsoft.com/office/drawing/2014/main" id="{AABDD574-D81A-4D53-BB9B-50ABB583C4EE}"/>
              </a:ext>
            </a:extLst>
          </p:cNvPr>
          <p:cNvSpPr/>
          <p:nvPr/>
        </p:nvSpPr>
        <p:spPr>
          <a:xfrm>
            <a:off x="587375" y="1638935"/>
            <a:ext cx="4140835" cy="56769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cs typeface="+mn-ea"/>
              </a:rPr>
              <a:t>状态信号的意义：</a:t>
            </a:r>
            <a:r>
              <a:rPr lang="en-US" altLang="x-none" sz="26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S</a:t>
            </a:r>
            <a:r>
              <a:rPr lang="en-US" altLang="x-none" sz="2600" baseline="-250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3</a:t>
            </a:r>
            <a:r>
              <a:rPr lang="zh-CN" altLang="en-US" sz="26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和</a:t>
            </a:r>
            <a:r>
              <a:rPr lang="en-US" altLang="x-none" sz="26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S</a:t>
            </a:r>
            <a:r>
              <a:rPr lang="en-US" altLang="x-none" sz="2600" baseline="-250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4</a:t>
            </a:r>
            <a:r>
              <a:rPr lang="zh-CN" altLang="en-US" sz="2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cs typeface="+mn-ea"/>
              </a:rPr>
              <a:t> </a:t>
            </a:r>
            <a:endParaRPr lang="zh-CN" altLang="en-US" sz="260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内容占位符 2">
            <a:extLst>
              <a:ext uri="{FF2B5EF4-FFF2-40B4-BE49-F238E27FC236}">
                <a16:creationId xmlns:a16="http://schemas.microsoft.com/office/drawing/2014/main" id="{F3DB0997-4656-4D0E-8FAA-2C8D11F9C6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1313" y="976313"/>
            <a:ext cx="8461375" cy="5816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32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读信号。当     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时，允许</a:t>
            </a:r>
            <a:r>
              <a:rPr lang="en-US" altLang="en-US"/>
              <a:t>CPU</a:t>
            </a:r>
            <a:r>
              <a:rPr lang="zh-CN" altLang="en-US">
                <a:ea typeface="宋体" panose="02010600030101010101" pitchFamily="2" charset="-122"/>
              </a:rPr>
              <a:t>从存储器或</a:t>
            </a:r>
            <a:r>
              <a:rPr lang="en-US" altLang="en-US"/>
              <a:t>I/O</a:t>
            </a:r>
            <a:r>
              <a:rPr lang="zh-CN" altLang="en-US">
                <a:ea typeface="宋体" panose="02010600030101010101" pitchFamily="2" charset="-122"/>
              </a:rPr>
              <a:t>端口读出数据。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200"/>
              <a:t>4</a:t>
            </a:r>
            <a:r>
              <a:rPr lang="en-US" altLang="en-US" sz="3200">
                <a:solidFill>
                  <a:srgbClr val="C00000"/>
                </a:solidFill>
              </a:rPr>
              <a:t>.                    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>
                <a:solidFill>
                  <a:srgbClr val="C00000"/>
                </a:solidFill>
              </a:rPr>
              <a:t>Write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写信号。当       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时，允许</a:t>
            </a:r>
            <a:r>
              <a:rPr lang="en-US" altLang="en-US"/>
              <a:t>CPU</a:t>
            </a:r>
            <a:r>
              <a:rPr lang="zh-CN" altLang="en-US">
                <a:ea typeface="宋体" panose="02010600030101010101" pitchFamily="2" charset="-122"/>
              </a:rPr>
              <a:t>向存储器或</a:t>
            </a:r>
            <a:r>
              <a:rPr lang="en-US" altLang="en-US"/>
              <a:t>I/O</a:t>
            </a:r>
            <a:r>
              <a:rPr lang="zh-CN" altLang="en-US">
                <a:ea typeface="宋体" panose="02010600030101010101" pitchFamily="2" charset="-122"/>
              </a:rPr>
              <a:t>端口写入数据。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/>
              <a:t> </a:t>
            </a: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200"/>
              <a:t>5</a:t>
            </a:r>
            <a:r>
              <a:rPr lang="en-US" altLang="en-US" sz="3200">
                <a:solidFill>
                  <a:srgbClr val="C00000"/>
                </a:solidFill>
              </a:rPr>
              <a:t>. M/</a:t>
            </a:r>
            <a:r>
              <a:rPr lang="en-US" altLang="zh-CN" sz="3200">
                <a:solidFill>
                  <a:srgbClr val="C00000"/>
                </a:solidFill>
                <a:ea typeface="宋体" panose="02010600030101010101" pitchFamily="2" charset="-122"/>
              </a:rPr>
              <a:t>IO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2400">
                <a:solidFill>
                  <a:srgbClr val="C00000"/>
                </a:solidFill>
              </a:rPr>
              <a:t>Memory/Input and Output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存储器或</a:t>
            </a:r>
            <a:r>
              <a:rPr lang="en-US" altLang="en-US"/>
              <a:t>I/O</a:t>
            </a:r>
            <a:r>
              <a:rPr lang="zh-CN" altLang="en-US">
                <a:ea typeface="宋体" panose="02010600030101010101" pitchFamily="2" charset="-122"/>
              </a:rPr>
              <a:t>端口控制信号。它为高电平时访问内存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zh-CN" altLang="en-US">
                <a:ea typeface="宋体" panose="02010600030101010101" pitchFamily="2" charset="-122"/>
              </a:rPr>
              <a:t>低电平时访问</a:t>
            </a:r>
            <a:r>
              <a:rPr lang="en-US" altLang="en-US"/>
              <a:t>I/O</a:t>
            </a:r>
            <a:r>
              <a:rPr lang="zh-CN" altLang="en-US">
                <a:ea typeface="宋体" panose="02010600030101010101" pitchFamily="2" charset="-122"/>
              </a:rPr>
              <a:t>端口。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05475" name="组合 51203">
            <a:extLst>
              <a:ext uri="{FF2B5EF4-FFF2-40B4-BE49-F238E27FC236}">
                <a16:creationId xmlns:a16="http://schemas.microsoft.com/office/drawing/2014/main" id="{7539F7B1-97B4-46D0-AA70-AD4638A3B0B4}"/>
              </a:ext>
            </a:extLst>
          </p:cNvPr>
          <p:cNvGrpSpPr>
            <a:grpSpLocks/>
          </p:cNvGrpSpPr>
          <p:nvPr/>
        </p:nvGrpSpPr>
        <p:grpSpPr bwMode="auto">
          <a:xfrm>
            <a:off x="407988" y="858838"/>
            <a:ext cx="5138737" cy="641350"/>
            <a:chOff x="-686" y="-74"/>
            <a:chExt cx="3237" cy="404"/>
          </a:xfrm>
        </p:grpSpPr>
        <p:sp>
          <p:nvSpPr>
            <p:cNvPr id="51205" name="Rectangle 9">
              <a:extLst>
                <a:ext uri="{FF2B5EF4-FFF2-40B4-BE49-F238E27FC236}">
                  <a16:creationId xmlns:a16="http://schemas.microsoft.com/office/drawing/2014/main" id="{514197CB-ECA4-411B-9B67-A397CD9B34FB}"/>
                </a:ext>
              </a:extLst>
            </p:cNvPr>
            <p:cNvSpPr/>
            <p:nvPr/>
          </p:nvSpPr>
          <p:spPr>
            <a:xfrm>
              <a:off x="-686" y="-74"/>
              <a:ext cx="3237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pPr algn="ctr"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x-none" sz="3600" noProof="1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3.</a:t>
              </a:r>
              <a:r>
                <a:rPr lang="en-US" altLang="x-none" sz="3200" noProof="1">
                  <a:solidFill>
                    <a:srgbClr val="3333FF"/>
                  </a:solidFill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 </a:t>
              </a:r>
              <a:r>
                <a:rPr lang="en-US" altLang="x-none" sz="2800" noProof="1">
                  <a:solidFill>
                    <a:srgbClr val="C00000"/>
                  </a:solidFill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RD</a:t>
              </a:r>
              <a:r>
                <a:rPr lang="zh-CN" altLang="en-US" sz="2000" b="0" noProof="1"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（读，输出，三态）</a:t>
              </a:r>
              <a:r>
                <a:rPr lang="zh-CN" altLang="en-US" sz="2800" noProof="1">
                  <a:solidFill>
                    <a:srgbClr val="C00000"/>
                  </a:solidFill>
                  <a:latin typeface="+mn-lt"/>
                  <a:cs typeface="+mn-ea"/>
                  <a:sym typeface="+mn-ea"/>
                </a:rPr>
                <a:t>（</a:t>
              </a:r>
              <a:r>
                <a:rPr lang="en-US" sz="2800" noProof="1">
                  <a:solidFill>
                    <a:srgbClr val="C00000"/>
                  </a:solidFill>
                  <a:latin typeface="+mn-lt"/>
                  <a:cs typeface="+mn-ea"/>
                  <a:sym typeface="+mn-ea"/>
                </a:rPr>
                <a:t>Read</a:t>
              </a:r>
              <a:r>
                <a:rPr lang="zh-CN" altLang="en-US" sz="2800" noProof="1">
                  <a:solidFill>
                    <a:srgbClr val="C00000"/>
                  </a:solidFill>
                  <a:latin typeface="+mn-lt"/>
                  <a:cs typeface="+mn-ea"/>
                  <a:sym typeface="+mn-ea"/>
                </a:rPr>
                <a:t>）</a:t>
              </a:r>
              <a:endParaRPr lang="zh-CN" altLang="en-US" sz="2800" b="0" noProof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105485" name="Line 10">
              <a:extLst>
                <a:ext uri="{FF2B5EF4-FFF2-40B4-BE49-F238E27FC236}">
                  <a16:creationId xmlns:a16="http://schemas.microsoft.com/office/drawing/2014/main" id="{96DD6FEB-BBE0-4AE6-BF62-83E40B44AA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334" y="48"/>
              <a:ext cx="265" cy="8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5476" name="文本框 1">
            <a:extLst>
              <a:ext uri="{FF2B5EF4-FFF2-40B4-BE49-F238E27FC236}">
                <a16:creationId xmlns:a16="http://schemas.microsoft.com/office/drawing/2014/main" id="{262A98CE-7F22-4005-A5EC-60A0004E7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1423988"/>
            <a:ext cx="695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RD</a:t>
            </a:r>
          </a:p>
        </p:txBody>
      </p:sp>
      <p:sp>
        <p:nvSpPr>
          <p:cNvPr id="105477" name="Line 10">
            <a:extLst>
              <a:ext uri="{FF2B5EF4-FFF2-40B4-BE49-F238E27FC236}">
                <a16:creationId xmlns:a16="http://schemas.microsoft.com/office/drawing/2014/main" id="{7DE316FC-FFE0-4D8B-9445-19197DDD2B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5588" y="1500188"/>
            <a:ext cx="363537" cy="0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5478" name="组合 51217">
            <a:extLst>
              <a:ext uri="{FF2B5EF4-FFF2-40B4-BE49-F238E27FC236}">
                <a16:creationId xmlns:a16="http://schemas.microsoft.com/office/drawing/2014/main" id="{E3163C3B-D7C1-46F6-B455-2CBC34B61CDB}"/>
              </a:ext>
            </a:extLst>
          </p:cNvPr>
          <p:cNvGrpSpPr>
            <a:grpSpLocks/>
          </p:cNvGrpSpPr>
          <p:nvPr/>
        </p:nvGrpSpPr>
        <p:grpSpPr bwMode="auto">
          <a:xfrm>
            <a:off x="858838" y="2595563"/>
            <a:ext cx="3076575" cy="519112"/>
            <a:chOff x="-12" y="0"/>
            <a:chExt cx="1938" cy="327"/>
          </a:xfrm>
        </p:grpSpPr>
        <p:sp>
          <p:nvSpPr>
            <p:cNvPr id="105482" name="Rectangle 21">
              <a:extLst>
                <a:ext uri="{FF2B5EF4-FFF2-40B4-BE49-F238E27FC236}">
                  <a16:creationId xmlns:a16="http://schemas.microsoft.com/office/drawing/2014/main" id="{E6E2E015-3A49-469B-81D4-CAF6C95D1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" y="0"/>
              <a:ext cx="193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WR</a:t>
              </a:r>
              <a:r>
                <a:rPr lang="zh-CN" altLang="en-US" sz="2000" b="0">
                  <a:latin typeface="Times New Roman" panose="02020603050405020304" pitchFamily="18" charset="0"/>
                  <a:ea typeface="楷体_GB2312" pitchFamily="49" charset="-122"/>
                </a:rPr>
                <a:t>（写，输出，三态）</a:t>
              </a:r>
              <a:endParaRPr lang="zh-CN" altLang="en-US" b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5483" name="Line 22">
              <a:extLst>
                <a:ext uri="{FF2B5EF4-FFF2-40B4-BE49-F238E27FC236}">
                  <a16:creationId xmlns:a16="http://schemas.microsoft.com/office/drawing/2014/main" id="{E4DFEADB-1F21-416C-91B6-B2F031764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" y="48"/>
              <a:ext cx="362" cy="0"/>
            </a:xfrm>
            <a:prstGeom prst="line">
              <a:avLst/>
            </a:prstGeom>
            <a:noFill/>
            <a:ln w="22225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5479" name="文本框 7">
            <a:extLst>
              <a:ext uri="{FF2B5EF4-FFF2-40B4-BE49-F238E27FC236}">
                <a16:creationId xmlns:a16="http://schemas.microsoft.com/office/drawing/2014/main" id="{613996EA-C24C-4BED-885E-509EC5253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2981325"/>
            <a:ext cx="8826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WR</a:t>
            </a:r>
          </a:p>
        </p:txBody>
      </p:sp>
      <p:sp>
        <p:nvSpPr>
          <p:cNvPr id="105480" name="Line 22">
            <a:extLst>
              <a:ext uri="{FF2B5EF4-FFF2-40B4-BE49-F238E27FC236}">
                <a16:creationId xmlns:a16="http://schemas.microsoft.com/office/drawing/2014/main" id="{B5370E23-E8B0-415E-AE00-8FDB54796E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3043238"/>
            <a:ext cx="576262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DED3675-50B1-4BFB-800C-9679AE61350E}"/>
              </a:ext>
            </a:extLst>
          </p:cNvPr>
          <p:cNvCxnSpPr/>
          <p:nvPr/>
        </p:nvCxnSpPr>
        <p:spPr>
          <a:xfrm>
            <a:off x="1692275" y="4149725"/>
            <a:ext cx="503238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 dir="l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内容占位符 2">
            <a:extLst>
              <a:ext uri="{FF2B5EF4-FFF2-40B4-BE49-F238E27FC236}">
                <a16:creationId xmlns:a16="http://schemas.microsoft.com/office/drawing/2014/main" id="{792BCE36-13DE-45A7-8DF5-D21CE7319E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3063" y="885825"/>
            <a:ext cx="8372475" cy="59055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/>
              <a:t>6.</a:t>
            </a:r>
            <a:r>
              <a:rPr lang="en-US" altLang="en-US" sz="3200">
                <a:solidFill>
                  <a:srgbClr val="C00000"/>
                </a:solidFill>
              </a:rPr>
              <a:t>  CLK   </a:t>
            </a:r>
            <a:r>
              <a:rPr lang="zh-CN" altLang="en-US">
                <a:ea typeface="宋体" panose="02010600030101010101" pitchFamily="2" charset="-122"/>
              </a:rPr>
              <a:t>时钟信号</a:t>
            </a:r>
            <a:endParaRPr lang="zh-CN" altLang="en-US" sz="32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ts val="1075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是外部时钟产生器</a:t>
            </a:r>
            <a:r>
              <a:rPr lang="en-US" altLang="en-US"/>
              <a:t>8284A</a:t>
            </a:r>
            <a:r>
              <a:rPr lang="zh-CN" altLang="en-US">
                <a:ea typeface="宋体" panose="02010600030101010101" pitchFamily="2" charset="-122"/>
              </a:rPr>
              <a:t>提供的基本定时脉冲。</a:t>
            </a:r>
            <a:endParaRPr lang="en-US" altLang="zh-CN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ts val="1075"/>
              </a:spcBef>
              <a:buFont typeface="Wingdings" panose="05000000000000000000" pitchFamily="2" charset="2"/>
              <a:buChar char="n"/>
            </a:pPr>
            <a:r>
              <a:rPr lang="en-US" altLang="en-US"/>
              <a:t>8086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f</a:t>
            </a:r>
            <a:r>
              <a:rPr lang="en-US" altLang="zh-CN" baseline="-25000">
                <a:ea typeface="宋体" panose="02010600030101010101" pitchFamily="2" charset="-122"/>
              </a:rPr>
              <a:t>CLK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en-US" altLang="en-US"/>
              <a:t>5MHz</a:t>
            </a:r>
            <a:endParaRPr lang="en-US" altLang="zh-CN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ts val="1075"/>
              </a:spcBef>
              <a:buFont typeface="Wingdings" panose="05000000000000000000" pitchFamily="2" charset="2"/>
              <a:buChar char="n"/>
            </a:pPr>
            <a:r>
              <a:rPr lang="en-US" altLang="en-US"/>
              <a:t>8086-1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f</a:t>
            </a:r>
            <a:r>
              <a:rPr lang="en-US" altLang="zh-CN" baseline="-25000">
                <a:ea typeface="宋体" panose="02010600030101010101" pitchFamily="2" charset="-122"/>
              </a:rPr>
              <a:t>CLK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en-US" altLang="en-US"/>
              <a:t>10MHz</a:t>
            </a:r>
            <a:r>
              <a:rPr lang="zh-CN" altLang="en-US">
                <a:ea typeface="宋体" panose="02010600030101010101" pitchFamily="2" charset="-122"/>
              </a:rPr>
              <a:t>， </a:t>
            </a:r>
            <a:r>
              <a:rPr lang="en-US" altLang="en-US"/>
              <a:t>8086-2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f</a:t>
            </a:r>
            <a:r>
              <a:rPr lang="en-US" altLang="zh-CN" baseline="-25000">
                <a:ea typeface="宋体" panose="02010600030101010101" pitchFamily="2" charset="-122"/>
              </a:rPr>
              <a:t>CLK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en-US" altLang="en-US"/>
              <a:t>8MHz</a:t>
            </a: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/>
              <a:t>7.  </a:t>
            </a:r>
            <a:r>
              <a:rPr lang="en-US" altLang="en-US" sz="3200">
                <a:solidFill>
                  <a:srgbClr val="C00000"/>
                </a:solidFill>
              </a:rPr>
              <a:t>RESET   </a:t>
            </a:r>
            <a:r>
              <a:rPr lang="zh-CN" altLang="en-US">
                <a:ea typeface="宋体" panose="02010600030101010101" pitchFamily="2" charset="-122"/>
              </a:rPr>
              <a:t>复位信号</a:t>
            </a:r>
            <a:endParaRPr lang="zh-CN" altLang="en-US" sz="32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ts val="1075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至少要维持</a:t>
            </a:r>
            <a:r>
              <a:rPr lang="en-US" altLang="en-US"/>
              <a:t>4</a:t>
            </a:r>
            <a:r>
              <a:rPr lang="zh-CN" altLang="en-US">
                <a:ea typeface="宋体" panose="02010600030101010101" pitchFamily="2" charset="-122"/>
              </a:rPr>
              <a:t>个时钟周期。</a:t>
            </a:r>
          </a:p>
          <a:p>
            <a:pPr algn="just" eaLnBrk="1" hangingPunct="1">
              <a:lnSpc>
                <a:spcPct val="90000"/>
              </a:lnSpc>
              <a:spcBef>
                <a:spcPts val="1075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复位后，</a:t>
            </a:r>
            <a:r>
              <a:rPr lang="en-US" altLang="en-US"/>
              <a:t>CPU</a:t>
            </a:r>
            <a:r>
              <a:rPr lang="zh-CN" altLang="en-US">
                <a:ea typeface="宋体" panose="02010600030101010101" pitchFamily="2" charset="-122"/>
              </a:rPr>
              <a:t>停止所有操作，总线无效；使</a:t>
            </a:r>
            <a:r>
              <a:rPr lang="en-US" altLang="en-US"/>
              <a:t>DS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ES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SS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FLAGS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IF</a:t>
            </a:r>
            <a:r>
              <a:rPr lang="zh-CN" altLang="en-US">
                <a:ea typeface="宋体" panose="02010600030101010101" pitchFamily="2" charset="-122"/>
              </a:rPr>
              <a:t>清</a:t>
            </a:r>
            <a:r>
              <a:rPr lang="en-US" altLang="en-US"/>
              <a:t>0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en-US">
                <a:solidFill>
                  <a:srgbClr val="C00000"/>
                </a:solidFill>
              </a:rPr>
              <a:t>CS: IP=FFFF: 0000H</a:t>
            </a:r>
            <a:r>
              <a:rPr lang="zh-CN" altLang="en-US">
                <a:ea typeface="宋体" panose="02010600030101010101" pitchFamily="2" charset="-122"/>
              </a:rPr>
              <a:t>；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使指令队列变空，禁止中断</a:t>
            </a:r>
            <a:r>
              <a:rPr lang="zh-CN" altLang="en-US">
                <a:ea typeface="宋体" panose="02010600030101010101" pitchFamily="2" charset="-122"/>
              </a:rPr>
              <a:t>。</a:t>
            </a:r>
          </a:p>
          <a:p>
            <a:pPr algn="just" eaLnBrk="1" hangingPunct="1">
              <a:lnSpc>
                <a:spcPct val="90000"/>
              </a:lnSpc>
              <a:spcBef>
                <a:spcPts val="1075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复位结束后，</a:t>
            </a:r>
            <a:r>
              <a:rPr lang="en-US" altLang="en-US"/>
              <a:t>CPU</a:t>
            </a:r>
            <a:r>
              <a:rPr lang="zh-CN" altLang="en-US">
                <a:ea typeface="宋体" panose="02010600030101010101" pitchFamily="2" charset="-122"/>
              </a:rPr>
              <a:t>执行重启动过程。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DBF7C794-56C0-4F56-8811-894085ED0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3568700"/>
            <a:ext cx="3068638" cy="777875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3300"/>
                </a:solidFill>
                <a:latin typeface="Garamond" panose="02020404030301010803" pitchFamily="18" charset="0"/>
              </a:rPr>
              <a:t>注意</a:t>
            </a:r>
            <a:r>
              <a:rPr lang="en-US" altLang="zh-CN" sz="2200">
                <a:solidFill>
                  <a:srgbClr val="FF3300"/>
                </a:solidFill>
                <a:latin typeface="Garamond" panose="02020404030301010803" pitchFamily="18" charset="0"/>
              </a:rPr>
              <a:t>:</a:t>
            </a:r>
            <a:r>
              <a:rPr lang="en-US" altLang="zh-CN" sz="2200">
                <a:ea typeface="华文中宋" panose="02010600040101010101" pitchFamily="2" charset="-122"/>
              </a:rPr>
              <a:t>一个CPU</a:t>
            </a:r>
            <a:r>
              <a:rPr lang="zh-CN" altLang="en-US" sz="2200">
                <a:ea typeface="华文中宋" panose="02010600040101010101" pitchFamily="2" charset="-122"/>
              </a:rPr>
              <a:t>的复位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ea typeface="华文中宋" panose="02010600040101010101" pitchFamily="2" charset="-122"/>
              </a:rPr>
              <a:t>及复位状态非常重要！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内容占位符 2">
            <a:extLst>
              <a:ext uri="{FF2B5EF4-FFF2-40B4-BE49-F238E27FC236}">
                <a16:creationId xmlns:a16="http://schemas.microsoft.com/office/drawing/2014/main" id="{2D0FC6F7-6534-44EB-9BA1-F29C138B07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968375"/>
            <a:ext cx="8372475" cy="58610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000"/>
              <a:t>8. </a:t>
            </a:r>
            <a:r>
              <a:rPr lang="zh-CN" altLang="en-US" sz="3000" b="0">
                <a:solidFill>
                  <a:srgbClr val="C00000"/>
                </a:solidFill>
                <a:ea typeface="宋体" panose="02010600030101010101" pitchFamily="2" charset="-122"/>
              </a:rPr>
              <a:t>与中断有关的信号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3000" b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600">
                <a:ea typeface="宋体" panose="02010600030101010101" pitchFamily="2" charset="-122"/>
              </a:rPr>
              <a:t>1</a:t>
            </a:r>
            <a:r>
              <a:rPr lang="zh-CN" altLang="en-US" sz="2600">
                <a:ea typeface="宋体" panose="02010600030101010101" pitchFamily="2" charset="-122"/>
              </a:rPr>
              <a:t>）</a:t>
            </a:r>
            <a:r>
              <a:rPr lang="en-US" altLang="en-US" sz="2600">
                <a:solidFill>
                  <a:srgbClr val="C00000"/>
                </a:solidFill>
              </a:rPr>
              <a:t>INTR</a:t>
            </a:r>
            <a:r>
              <a:rPr lang="zh-CN" altLang="en-US" sz="2600">
                <a:ea typeface="宋体" panose="02010600030101010101" pitchFamily="2" charset="-122"/>
              </a:rPr>
              <a:t>（</a:t>
            </a:r>
            <a:r>
              <a:rPr lang="en-US" altLang="en-US" sz="2600"/>
              <a:t>Interrupt Request</a:t>
            </a:r>
            <a:r>
              <a:rPr lang="zh-CN" altLang="en-US" sz="2600">
                <a:ea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可屏蔽中断请求信号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当</a:t>
            </a:r>
            <a:r>
              <a:rPr lang="en-US" altLang="en-US" sz="2600"/>
              <a:t>INTR=1</a:t>
            </a:r>
            <a:r>
              <a:rPr lang="zh-CN" altLang="en-US" sz="2600">
                <a:ea typeface="宋体" panose="02010600030101010101" pitchFamily="2" charset="-122"/>
              </a:rPr>
              <a:t>时，若</a:t>
            </a:r>
            <a:r>
              <a:rPr lang="en-US" altLang="en-US" sz="2600"/>
              <a:t>FLAG</a:t>
            </a:r>
            <a:r>
              <a:rPr lang="zh-CN" altLang="en-US" sz="2600">
                <a:ea typeface="宋体" panose="02010600030101010101" pitchFamily="2" charset="-122"/>
              </a:rPr>
              <a:t>寄存器的</a:t>
            </a:r>
            <a:r>
              <a:rPr lang="en-US" altLang="en-US" sz="2600"/>
              <a:t>IF=1</a:t>
            </a:r>
            <a:r>
              <a:rPr lang="zh-CN" altLang="en-US" sz="2600">
                <a:ea typeface="宋体" panose="02010600030101010101" pitchFamily="2" charset="-122"/>
              </a:rPr>
              <a:t>，则允许</a:t>
            </a:r>
            <a:r>
              <a:rPr lang="en-US" altLang="en-US" sz="2600"/>
              <a:t>CPU</a:t>
            </a:r>
            <a:r>
              <a:rPr lang="zh-CN" altLang="en-US" sz="2600">
                <a:ea typeface="宋体" panose="02010600030101010101" pitchFamily="2" charset="-122"/>
              </a:rPr>
              <a:t>响应可屏蔽中断；若</a:t>
            </a:r>
            <a:r>
              <a:rPr lang="en-US" altLang="en-US" sz="2600"/>
              <a:t>IF=0</a:t>
            </a:r>
            <a:r>
              <a:rPr lang="zh-CN" altLang="en-US" sz="2600">
                <a:ea typeface="宋体" panose="02010600030101010101" pitchFamily="2" charset="-122"/>
              </a:rPr>
              <a:t>，则不能响应。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60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600">
                <a:ea typeface="宋体" panose="02010600030101010101" pitchFamily="2" charset="-122"/>
              </a:rPr>
              <a:t>2</a:t>
            </a:r>
            <a:r>
              <a:rPr lang="zh-CN" altLang="en-US" sz="2600">
                <a:ea typeface="宋体" panose="02010600030101010101" pitchFamily="2" charset="-122"/>
              </a:rPr>
              <a:t>）</a:t>
            </a:r>
            <a:r>
              <a:rPr lang="en-US" altLang="en-US" sz="2600">
                <a:solidFill>
                  <a:srgbClr val="C00000"/>
                </a:solidFill>
              </a:rPr>
              <a:t>NMI</a:t>
            </a:r>
            <a:r>
              <a:rPr lang="zh-CN" altLang="en-US" sz="2600">
                <a:ea typeface="宋体" panose="02010600030101010101" pitchFamily="2" charset="-122"/>
              </a:rPr>
              <a:t>（</a:t>
            </a:r>
            <a:r>
              <a:rPr lang="en-US" altLang="en-US" sz="2600"/>
              <a:t>Non-Maskable Interrupt</a:t>
            </a:r>
            <a:r>
              <a:rPr lang="zh-CN" altLang="en-US" sz="2600">
                <a:ea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不可屏蔽中断请求信号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这类中断不能用软件屏蔽，也不受</a:t>
            </a:r>
            <a:r>
              <a:rPr lang="en-US" altLang="en-US" sz="2600"/>
              <a:t>IF</a:t>
            </a:r>
            <a:r>
              <a:rPr lang="zh-CN" altLang="en-US" sz="2600">
                <a:ea typeface="宋体" panose="02010600030101010101" pitchFamily="2" charset="-122"/>
              </a:rPr>
              <a:t>标志的影响。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/>
              <a:t> </a:t>
            </a:r>
            <a:endParaRPr lang="zh-CN" altLang="en-US" sz="260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/>
              <a:t>3</a:t>
            </a:r>
            <a:r>
              <a:rPr lang="zh-CN" altLang="en-US" sz="2600">
                <a:ea typeface="宋体" panose="02010600030101010101" pitchFamily="2" charset="-122"/>
              </a:rPr>
              <a:t>）</a:t>
            </a:r>
            <a:r>
              <a:rPr lang="en-US" altLang="zh-CN" sz="2600">
                <a:solidFill>
                  <a:srgbClr val="C00000"/>
                </a:solidFill>
                <a:ea typeface="宋体" panose="02010600030101010101" pitchFamily="2" charset="-122"/>
              </a:rPr>
              <a:t>INTA</a:t>
            </a:r>
            <a:r>
              <a:rPr lang="zh-CN" altLang="en-US" sz="2600">
                <a:ea typeface="宋体" panose="02010600030101010101" pitchFamily="2" charset="-122"/>
              </a:rPr>
              <a:t>（</a:t>
            </a:r>
            <a:r>
              <a:rPr lang="en-US" altLang="en-US" sz="2600"/>
              <a:t>Interrupt Acknowledge</a:t>
            </a:r>
            <a:r>
              <a:rPr lang="zh-CN" altLang="en-US" sz="2600">
                <a:ea typeface="宋体" panose="02010600030101010101" pitchFamily="2" charset="-122"/>
              </a:rPr>
              <a:t>）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中断响应信号。</a:t>
            </a:r>
            <a:endParaRPr lang="en-US" altLang="zh-CN" sz="260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是在</a:t>
            </a:r>
            <a:r>
              <a:rPr lang="en-US" altLang="en-US" sz="2600"/>
              <a:t>CPU</a:t>
            </a:r>
            <a:r>
              <a:rPr lang="zh-CN" altLang="en-US" sz="2600">
                <a:ea typeface="宋体" panose="02010600030101010101" pitchFamily="2" charset="-122"/>
              </a:rPr>
              <a:t>响应外部可屏蔽中断请求后，向外设发出的回答信号。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DF7454CC-FAC2-4BFC-B5BE-B12E417BCD6A}"/>
              </a:ext>
            </a:extLst>
          </p:cNvPr>
          <p:cNvCxnSpPr/>
          <p:nvPr/>
        </p:nvCxnSpPr>
        <p:spPr>
          <a:xfrm flipV="1">
            <a:off x="1108075" y="5026025"/>
            <a:ext cx="731838" cy="1588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内容占位符 2">
            <a:extLst>
              <a:ext uri="{FF2B5EF4-FFF2-40B4-BE49-F238E27FC236}">
                <a16:creationId xmlns:a16="http://schemas.microsoft.com/office/drawing/2014/main" id="{E2B1F424-2D3B-45EB-83C4-B3EF9DC7AA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949325"/>
            <a:ext cx="8674100" cy="59753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200"/>
              <a:t>9.  </a:t>
            </a:r>
            <a:r>
              <a:rPr lang="en-US" altLang="en-US" sz="3200">
                <a:solidFill>
                  <a:srgbClr val="C00000"/>
                </a:solidFill>
              </a:rPr>
              <a:t>HOLD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>
                <a:solidFill>
                  <a:srgbClr val="C00000"/>
                </a:solidFill>
              </a:rPr>
              <a:t>Hold Request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  <a:endParaRPr lang="en-US" altLang="zh-CN" sz="32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200">
                <a:solidFill>
                  <a:srgbClr val="C00000"/>
                </a:solidFill>
              </a:rPr>
              <a:t>     HLDA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>
                <a:solidFill>
                  <a:srgbClr val="C00000"/>
                </a:solidFill>
              </a:rPr>
              <a:t>Hold Acknowledge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总线保持请求</a:t>
            </a:r>
            <a:r>
              <a:rPr lang="en-US" altLang="zh-CN">
                <a:ea typeface="宋体" panose="02010600030101010101" pitchFamily="2" charset="-122"/>
              </a:rPr>
              <a:t>/</a:t>
            </a:r>
            <a:r>
              <a:rPr lang="zh-CN" altLang="en-US">
                <a:ea typeface="宋体" panose="02010600030101010101" pitchFamily="2" charset="-122"/>
              </a:rPr>
              <a:t>总线保持响应信号，这两个信号在</a:t>
            </a:r>
            <a:r>
              <a:rPr lang="en-US" altLang="en-US">
                <a:solidFill>
                  <a:srgbClr val="FFC000"/>
                </a:solidFill>
              </a:rPr>
              <a:t>DMA</a:t>
            </a:r>
            <a:r>
              <a:rPr lang="zh-CN" altLang="en-US">
                <a:solidFill>
                  <a:srgbClr val="FFC000"/>
                </a:solidFill>
                <a:ea typeface="宋体" panose="02010600030101010101" pitchFamily="2" charset="-122"/>
              </a:rPr>
              <a:t>（</a:t>
            </a:r>
            <a:r>
              <a:rPr lang="en-US" altLang="zh-CN">
                <a:solidFill>
                  <a:srgbClr val="FFC000"/>
                </a:solidFill>
                <a:ea typeface="宋体" panose="02010600030101010101" pitchFamily="2" charset="-122"/>
              </a:rPr>
              <a:t>Direct Memory Access</a:t>
            </a:r>
            <a:r>
              <a:rPr lang="zh-CN" altLang="en-US">
                <a:solidFill>
                  <a:srgbClr val="FFC000"/>
                </a:solidFill>
                <a:ea typeface="宋体" panose="02010600030101010101" pitchFamily="2" charset="-122"/>
              </a:rPr>
              <a:t>）</a:t>
            </a:r>
            <a:r>
              <a:rPr lang="zh-CN" altLang="en-US">
                <a:ea typeface="宋体" panose="02010600030101010101" pitchFamily="2" charset="-122"/>
              </a:rPr>
              <a:t>操作时使用。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000"/>
              <a:t> </a:t>
            </a:r>
            <a:endParaRPr lang="zh-CN" altLang="en-US" sz="100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/>
              <a:t>10.  </a:t>
            </a:r>
            <a:r>
              <a:rPr lang="en-US" altLang="en-US" sz="3200">
                <a:solidFill>
                  <a:srgbClr val="C00000"/>
                </a:solidFill>
              </a:rPr>
              <a:t>ALE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>
                <a:solidFill>
                  <a:srgbClr val="C00000"/>
                </a:solidFill>
              </a:rPr>
              <a:t>Address Latch Enable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地址锁存允许信号。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000"/>
              <a:t> </a:t>
            </a:r>
            <a:endParaRPr lang="zh-CN" altLang="en-US" sz="100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/>
              <a:t>11</a:t>
            </a:r>
            <a:r>
              <a:rPr lang="en-US" altLang="en-US" sz="3200">
                <a:solidFill>
                  <a:srgbClr val="C00000"/>
                </a:solidFill>
              </a:rPr>
              <a:t>.  DT/R 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>
                <a:solidFill>
                  <a:srgbClr val="C00000"/>
                </a:solidFill>
              </a:rPr>
              <a:t>Data Transmit/Receive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数据发送</a:t>
            </a:r>
            <a:r>
              <a:rPr lang="en-US" altLang="en-US"/>
              <a:t>/</a:t>
            </a:r>
            <a:r>
              <a:rPr lang="zh-CN" altLang="en-US">
                <a:ea typeface="宋体" panose="02010600030101010101" pitchFamily="2" charset="-122"/>
              </a:rPr>
              <a:t>接收信号，用来控制数据传送的方向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endParaRPr lang="zh-CN" altLang="en-US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ea typeface="宋体" panose="02010600030101010101" pitchFamily="2" charset="-122"/>
              </a:rPr>
              <a:t>  </a:t>
            </a:r>
            <a:r>
              <a:rPr lang="en-US" altLang="en-US">
                <a:solidFill>
                  <a:srgbClr val="C00000"/>
                </a:solidFill>
              </a:rPr>
              <a:t>DT/R=1</a:t>
            </a:r>
            <a:r>
              <a:rPr lang="zh-CN" altLang="en-US">
                <a:ea typeface="宋体" panose="02010600030101010101" pitchFamily="2" charset="-122"/>
              </a:rPr>
              <a:t> ，</a:t>
            </a:r>
            <a:r>
              <a:rPr lang="en-US" altLang="en-US"/>
              <a:t>CPU</a:t>
            </a:r>
            <a:r>
              <a:rPr lang="zh-CN" altLang="en-US">
                <a:ea typeface="宋体" panose="02010600030101010101" pitchFamily="2" charset="-122"/>
              </a:rPr>
              <a:t>用写操作向外部发送数据；</a:t>
            </a:r>
            <a:endParaRPr lang="en-US" altLang="zh-CN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ea typeface="宋体" panose="02010600030101010101" pitchFamily="2" charset="-122"/>
              </a:rPr>
              <a:t>  </a:t>
            </a:r>
            <a:r>
              <a:rPr lang="en-US" altLang="en-US">
                <a:solidFill>
                  <a:srgbClr val="C00000"/>
                </a:solidFill>
              </a:rPr>
              <a:t>DT/R=0</a:t>
            </a:r>
            <a:r>
              <a:rPr lang="zh-CN" altLang="en-US">
                <a:ea typeface="宋体" panose="02010600030101010101" pitchFamily="2" charset="-122"/>
              </a:rPr>
              <a:t> ，</a:t>
            </a:r>
            <a:r>
              <a:rPr lang="en-US" altLang="en-US"/>
              <a:t>CPU</a:t>
            </a:r>
            <a:r>
              <a:rPr lang="zh-CN" altLang="en-US">
                <a:ea typeface="宋体" panose="02010600030101010101" pitchFamily="2" charset="-122"/>
              </a:rPr>
              <a:t>读取外部传送过来的数据。</a:t>
            </a:r>
          </a:p>
          <a:p>
            <a:pPr eaLnBrk="1" hangingPunct="1">
              <a:lnSpc>
                <a:spcPct val="90000"/>
              </a:lnSpc>
            </a:pPr>
            <a:endParaRPr lang="zh-CN" altLang="en-US">
              <a:ea typeface="宋体" panose="02010600030101010101" pitchFamily="2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AA6743B-A121-4617-BC34-41EDCD56BDB0}"/>
              </a:ext>
            </a:extLst>
          </p:cNvPr>
          <p:cNvCxnSpPr/>
          <p:nvPr/>
        </p:nvCxnSpPr>
        <p:spPr>
          <a:xfrm flipV="1">
            <a:off x="2379663" y="4076700"/>
            <a:ext cx="249237" cy="142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BBE880B-F6BD-440B-8562-D5CF47AD817F}"/>
              </a:ext>
            </a:extLst>
          </p:cNvPr>
          <p:cNvCxnSpPr/>
          <p:nvPr/>
        </p:nvCxnSpPr>
        <p:spPr>
          <a:xfrm flipV="1">
            <a:off x="1978025" y="5124450"/>
            <a:ext cx="247650" cy="127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4726B09-B942-4C8F-B2F8-6D928F5C6611}"/>
              </a:ext>
            </a:extLst>
          </p:cNvPr>
          <p:cNvCxnSpPr/>
          <p:nvPr/>
        </p:nvCxnSpPr>
        <p:spPr>
          <a:xfrm flipV="1">
            <a:off x="1978025" y="5576888"/>
            <a:ext cx="247650" cy="1428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内容占位符 2">
            <a:extLst>
              <a:ext uri="{FF2B5EF4-FFF2-40B4-BE49-F238E27FC236}">
                <a16:creationId xmlns:a16="http://schemas.microsoft.com/office/drawing/2014/main" id="{DE7EBF28-6C70-4E09-A85E-792D0A560D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8950" y="1089025"/>
            <a:ext cx="8372475" cy="5445125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000"/>
              <a:t>12.</a:t>
            </a:r>
            <a:r>
              <a:rPr lang="en-US" altLang="en-US" sz="3000">
                <a:solidFill>
                  <a:srgbClr val="C00000"/>
                </a:solidFill>
              </a:rPr>
              <a:t> DEN</a:t>
            </a:r>
            <a:r>
              <a:rPr lang="zh-CN" altLang="en-US" sz="30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000">
                <a:solidFill>
                  <a:srgbClr val="C00000"/>
                </a:solidFill>
              </a:rPr>
              <a:t>Data Enable</a:t>
            </a:r>
            <a:r>
              <a:rPr lang="zh-CN" altLang="en-US" sz="30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数据允许信号。</a:t>
            </a:r>
            <a:r>
              <a:rPr lang="en-US" altLang="en-US" sz="2600">
                <a:solidFill>
                  <a:srgbClr val="C00000"/>
                </a:solidFill>
              </a:rPr>
              <a:t>DEN</a:t>
            </a:r>
            <a:r>
              <a:rPr lang="en-US" altLang="en-US" sz="2600"/>
              <a:t> =0</a:t>
            </a:r>
            <a:r>
              <a:rPr lang="zh-CN" altLang="en-US" sz="2600">
                <a:ea typeface="宋体" panose="02010600030101010101" pitchFamily="2" charset="-122"/>
              </a:rPr>
              <a:t>才允许</a:t>
            </a:r>
            <a:r>
              <a:rPr lang="en-US" altLang="en-US" sz="2600"/>
              <a:t>CPU</a:t>
            </a:r>
            <a:r>
              <a:rPr lang="zh-CN" altLang="en-US" sz="2600">
                <a:ea typeface="宋体" panose="02010600030101010101" pitchFamily="2" charset="-122"/>
              </a:rPr>
              <a:t>发送或接收数据。</a:t>
            </a:r>
          </a:p>
          <a:p>
            <a:pPr eaLnBrk="1" hangingPunct="1">
              <a:spcBef>
                <a:spcPct val="0"/>
              </a:spcBef>
            </a:pPr>
            <a:endParaRPr lang="zh-CN" altLang="en-US" sz="260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000"/>
              <a:t>13. </a:t>
            </a:r>
            <a:r>
              <a:rPr lang="en-US" altLang="en-US" sz="3000">
                <a:solidFill>
                  <a:srgbClr val="C00000"/>
                </a:solidFill>
              </a:rPr>
              <a:t>READY</a:t>
            </a:r>
            <a:endParaRPr lang="zh-CN" altLang="en-US" sz="30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准备就绪信号。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600">
                <a:solidFill>
                  <a:srgbClr val="C00000"/>
                </a:solidFill>
              </a:rPr>
              <a:t>READY</a:t>
            </a:r>
            <a:r>
              <a:rPr lang="en-US" altLang="en-US" sz="2600"/>
              <a:t>=0</a:t>
            </a:r>
            <a:r>
              <a:rPr lang="zh-CN" altLang="en-US" sz="2600">
                <a:ea typeface="宋体" panose="02010600030101010101" pitchFamily="2" charset="-122"/>
              </a:rPr>
              <a:t>，被访问的存储器或</a:t>
            </a:r>
            <a:r>
              <a:rPr lang="en-US" altLang="en-US" sz="2600"/>
              <a:t>I/O</a:t>
            </a:r>
            <a:r>
              <a:rPr lang="zh-CN" altLang="en-US" sz="2600">
                <a:ea typeface="宋体" panose="02010600030101010101" pitchFamily="2" charset="-122"/>
              </a:rPr>
              <a:t>端口还未准备好，</a:t>
            </a:r>
            <a:r>
              <a:rPr lang="en-US" altLang="en-US" sz="2600"/>
              <a:t>T</a:t>
            </a:r>
            <a:r>
              <a:rPr lang="en-US" altLang="en-US" sz="2600" baseline="-25000"/>
              <a:t>3</a:t>
            </a:r>
            <a:r>
              <a:rPr lang="zh-CN" altLang="en-US" sz="2600">
                <a:ea typeface="宋体" panose="02010600030101010101" pitchFamily="2" charset="-122"/>
              </a:rPr>
              <a:t>周期结束后自动插入等待周期</a:t>
            </a:r>
            <a:r>
              <a:rPr lang="en-US" altLang="en-US" sz="2600"/>
              <a:t>Tw</a:t>
            </a:r>
            <a:r>
              <a:rPr lang="zh-CN" altLang="en-US" sz="2600">
                <a:ea typeface="宋体" panose="02010600030101010101" pitchFamily="2" charset="-122"/>
              </a:rPr>
              <a:t>。</a:t>
            </a:r>
            <a:endParaRPr lang="en-US" altLang="zh-CN" sz="2600">
              <a:ea typeface="宋体" panose="02010600030101010101" pitchFamily="2" charset="-12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600">
                <a:solidFill>
                  <a:srgbClr val="C00000"/>
                </a:solidFill>
              </a:rPr>
              <a:t>READY</a:t>
            </a:r>
            <a:r>
              <a:rPr lang="en-US" altLang="en-US" sz="2600"/>
              <a:t>=1</a:t>
            </a:r>
            <a:r>
              <a:rPr lang="zh-CN" altLang="en-US" sz="2600">
                <a:ea typeface="宋体" panose="02010600030101010101" pitchFamily="2" charset="-122"/>
              </a:rPr>
              <a:t>，已准备好，则进入</a:t>
            </a:r>
            <a:r>
              <a:rPr lang="en-US" altLang="en-US" sz="2600"/>
              <a:t>T</a:t>
            </a:r>
            <a:r>
              <a:rPr lang="en-US" altLang="en-US" sz="2600" baseline="-25000"/>
              <a:t>4</a:t>
            </a:r>
            <a:r>
              <a:rPr lang="zh-CN" altLang="en-US" sz="2600">
                <a:ea typeface="宋体" panose="02010600030101010101" pitchFamily="2" charset="-122"/>
              </a:rPr>
              <a:t>周期，完成数据传送。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/>
              <a:t> </a:t>
            </a:r>
            <a:endParaRPr lang="zh-CN" altLang="en-US" sz="260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000"/>
              <a:t>14. </a:t>
            </a:r>
            <a:r>
              <a:rPr lang="en-US" altLang="en-US" sz="3000">
                <a:solidFill>
                  <a:srgbClr val="C00000"/>
                </a:solidFill>
              </a:rPr>
              <a:t>TEST</a:t>
            </a:r>
            <a:r>
              <a:rPr lang="en-US" altLang="en-US" sz="3000"/>
              <a:t>         </a:t>
            </a:r>
            <a:endParaRPr lang="zh-CN" altLang="en-US" sz="3000">
              <a:solidFill>
                <a:srgbClr val="FFFF99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测试信号。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90801163-3C95-4598-9B8C-42271B5CEAB4}"/>
              </a:ext>
            </a:extLst>
          </p:cNvPr>
          <p:cNvCxnSpPr/>
          <p:nvPr/>
        </p:nvCxnSpPr>
        <p:spPr>
          <a:xfrm>
            <a:off x="1454150" y="1117600"/>
            <a:ext cx="79216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B78415C-E6CA-4E78-A85C-E807F7FA0195}"/>
              </a:ext>
            </a:extLst>
          </p:cNvPr>
          <p:cNvCxnSpPr/>
          <p:nvPr/>
        </p:nvCxnSpPr>
        <p:spPr>
          <a:xfrm>
            <a:off x="3276600" y="1628775"/>
            <a:ext cx="71913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B86291-C4B4-409A-9930-7AE30007BBA8}"/>
              </a:ext>
            </a:extLst>
          </p:cNvPr>
          <p:cNvCxnSpPr/>
          <p:nvPr/>
        </p:nvCxnSpPr>
        <p:spPr>
          <a:xfrm flipV="1">
            <a:off x="1454150" y="5229225"/>
            <a:ext cx="957263" cy="952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内容占位符 2">
            <a:extLst>
              <a:ext uri="{FF2B5EF4-FFF2-40B4-BE49-F238E27FC236}">
                <a16:creationId xmlns:a16="http://schemas.microsoft.com/office/drawing/2014/main" id="{88EB6936-7323-464B-990A-C23098AA72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892175"/>
            <a:ext cx="8372475" cy="3022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/>
              <a:t>15.  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最小模式</a:t>
            </a:r>
            <a:r>
              <a:rPr lang="en-US" altLang="en-US" sz="3200">
                <a:solidFill>
                  <a:srgbClr val="C00000"/>
                </a:solidFill>
              </a:rPr>
              <a:t>/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最大模式复用信号</a:t>
            </a:r>
            <a:endParaRPr lang="en-US" altLang="zh-CN" sz="32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图</a:t>
            </a:r>
            <a:r>
              <a:rPr lang="en-US" altLang="en-US"/>
              <a:t>2.1</a:t>
            </a:r>
            <a:r>
              <a:rPr lang="zh-CN" altLang="en-US">
                <a:ea typeface="宋体" panose="02010600030101010101" pitchFamily="2" charset="-122"/>
              </a:rPr>
              <a:t>中，</a:t>
            </a:r>
            <a:r>
              <a:rPr lang="en-US" altLang="en-US"/>
              <a:t>24~31</a:t>
            </a:r>
            <a:r>
              <a:rPr lang="zh-CN" altLang="en-US">
                <a:ea typeface="宋体" panose="02010600030101010101" pitchFamily="2" charset="-122"/>
              </a:rPr>
              <a:t>引脚为最小</a:t>
            </a:r>
            <a:r>
              <a:rPr lang="en-US" altLang="en-US"/>
              <a:t>/</a:t>
            </a:r>
            <a:r>
              <a:rPr lang="zh-CN" altLang="en-US">
                <a:ea typeface="宋体" panose="02010600030101010101" pitchFamily="2" charset="-122"/>
              </a:rPr>
              <a:t>最大模式复用信号，下面带（）的是最大模式信号。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r>
              <a:rPr lang="en-US" altLang="en-US"/>
              <a:t>QS</a:t>
            </a:r>
            <a:r>
              <a:rPr lang="en-US" altLang="en-US" baseline="-25000"/>
              <a:t>1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QS</a:t>
            </a:r>
            <a:r>
              <a:rPr lang="en-US" altLang="en-US" baseline="-25000"/>
              <a:t>0</a:t>
            </a: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en-US"/>
              <a:t>Instruction Queue Status</a:t>
            </a:r>
            <a:r>
              <a:rPr lang="zh-CN" altLang="en-US">
                <a:ea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指令队列状态信号。指示</a:t>
            </a:r>
            <a:r>
              <a:rPr lang="en-US" altLang="en-US"/>
              <a:t>CPU</a:t>
            </a:r>
            <a:r>
              <a:rPr lang="zh-CN" altLang="en-US">
                <a:ea typeface="宋体" panose="02010600030101010101" pitchFamily="2" charset="-122"/>
              </a:rPr>
              <a:t>中指令队列的当前状态组合功能：</a:t>
            </a:r>
          </a:p>
        </p:txBody>
      </p:sp>
      <p:pic>
        <p:nvPicPr>
          <p:cNvPr id="110595" name="Picture 1">
            <a:extLst>
              <a:ext uri="{FF2B5EF4-FFF2-40B4-BE49-F238E27FC236}">
                <a16:creationId xmlns:a16="http://schemas.microsoft.com/office/drawing/2014/main" id="{AE541F40-B8BE-4698-95C1-FF97320E9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3517900"/>
            <a:ext cx="6334125" cy="307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mb dir="vert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内容占位符 2">
            <a:extLst>
              <a:ext uri="{FF2B5EF4-FFF2-40B4-BE49-F238E27FC236}">
                <a16:creationId xmlns:a16="http://schemas.microsoft.com/office/drawing/2014/main" id="{DE89B667-DE8C-457A-8378-41C2C0AC67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939800"/>
            <a:ext cx="8372475" cy="15113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2</a:t>
            </a:r>
            <a:r>
              <a:rPr lang="zh-CN" altLang="en-US" sz="2400">
                <a:ea typeface="宋体" panose="02010600030101010101" pitchFamily="2" charset="-122"/>
              </a:rPr>
              <a:t>）</a:t>
            </a:r>
            <a:r>
              <a:rPr lang="en-US" altLang="en-US" sz="2400">
                <a:solidFill>
                  <a:srgbClr val="C00000"/>
                </a:solidFill>
                <a:sym typeface="Symbol" panose="05050102010706020507" pitchFamily="18" charset="2"/>
              </a:rPr>
              <a:t>S</a:t>
            </a:r>
            <a:r>
              <a:rPr lang="en-US" altLang="en-US" sz="2400" baseline="-2500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rgbClr val="C00000"/>
                </a:solidFill>
                <a:sym typeface="Symbol" panose="05050102010706020507" pitchFamily="18" charset="2"/>
              </a:rPr>
              <a:t>~S</a:t>
            </a:r>
            <a:r>
              <a:rPr lang="en-US" altLang="en-US" sz="2400" baseline="-25000">
                <a:solidFill>
                  <a:srgbClr val="C00000"/>
                </a:solidFill>
                <a:sym typeface="Symbol" panose="05050102010706020507" pitchFamily="18" charset="2"/>
              </a:rPr>
              <a:t>0</a:t>
            </a:r>
            <a:r>
              <a:rPr lang="zh-CN" altLang="en-US" sz="2400">
                <a:ea typeface="宋体" panose="02010600030101010101" pitchFamily="2" charset="-122"/>
              </a:rPr>
              <a:t>（</a:t>
            </a:r>
            <a:r>
              <a:rPr lang="en-US" altLang="en-US" sz="2400"/>
              <a:t>Bus Cycle Status</a:t>
            </a:r>
            <a:r>
              <a:rPr lang="zh-CN" altLang="en-US" sz="2400">
                <a:ea typeface="宋体" panose="02010600030101010101" pitchFamily="2" charset="-122"/>
              </a:rPr>
              <a:t>）</a:t>
            </a:r>
          </a:p>
          <a:p>
            <a:pPr eaLnBrk="1" hangingPunct="1">
              <a:buSzPct val="91000"/>
              <a:buFont typeface="Wingdings" panose="05000000000000000000" pitchFamily="2" charset="2"/>
              <a:buChar char="n"/>
            </a:pPr>
            <a:r>
              <a:rPr lang="zh-CN" altLang="en-US" sz="2400">
                <a:ea typeface="宋体" panose="02010600030101010101" pitchFamily="2" charset="-122"/>
              </a:rPr>
              <a:t>总线周期状态信号。</a:t>
            </a:r>
            <a:r>
              <a:rPr lang="en-US" altLang="en-US" sz="2400"/>
              <a:t>CPU</a:t>
            </a:r>
            <a:r>
              <a:rPr lang="zh-CN" altLang="en-US" sz="2400">
                <a:ea typeface="宋体" panose="02010600030101010101" pitchFamily="2" charset="-122"/>
              </a:rPr>
              <a:t>将它们传送给</a:t>
            </a:r>
            <a:r>
              <a:rPr lang="en-US" altLang="en-US" sz="2400"/>
              <a:t>8288</a:t>
            </a:r>
            <a:r>
              <a:rPr lang="zh-CN" altLang="en-US" sz="2400">
                <a:ea typeface="宋体" panose="02010600030101010101" pitchFamily="2" charset="-122"/>
              </a:rPr>
              <a:t>总线控制器，经</a:t>
            </a:r>
            <a:r>
              <a:rPr lang="en-US" altLang="en-US" sz="2400"/>
              <a:t>8288</a:t>
            </a:r>
            <a:r>
              <a:rPr lang="zh-CN" altLang="en-US" sz="2400">
                <a:ea typeface="宋体" panose="02010600030101010101" pitchFamily="2" charset="-122"/>
              </a:rPr>
              <a:t>译码后产生</a:t>
            </a:r>
            <a:r>
              <a:rPr lang="en-US" altLang="en-US" sz="2400"/>
              <a:t>CPU</a:t>
            </a:r>
            <a:r>
              <a:rPr lang="zh-CN" altLang="en-US" sz="2400">
                <a:ea typeface="宋体" panose="02010600030101010101" pitchFamily="2" charset="-122"/>
              </a:rPr>
              <a:t>的总线周期类型信号</a:t>
            </a:r>
            <a:r>
              <a:rPr lang="en-US" altLang="zh-CN" sz="2400">
                <a:ea typeface="宋体" panose="02010600030101010101" pitchFamily="2" charset="-122"/>
              </a:rPr>
              <a:t>: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111619" name="Object 3">
            <a:extLst>
              <a:ext uri="{FF2B5EF4-FFF2-40B4-BE49-F238E27FC236}">
                <a16:creationId xmlns:a16="http://schemas.microsoft.com/office/drawing/2014/main" id="{D1BE6E1D-F872-42D4-9D4B-A3DE86DF75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5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94" r:id="rId3" imgW="3657600" imgH="4572000" progId="Equation.DSMT4">
                  <p:embed/>
                </p:oleObj>
              </mc:Choice>
              <mc:Fallback>
                <p:oleObj r:id="rId3" imgW="3657600" imgH="4572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24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0" name="Object 2">
            <a:extLst>
              <a:ext uri="{FF2B5EF4-FFF2-40B4-BE49-F238E27FC236}">
                <a16:creationId xmlns:a16="http://schemas.microsoft.com/office/drawing/2014/main" id="{D50D5483-5B70-4C48-9655-E659C43011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5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95" r:id="rId5" imgW="3657600" imgH="4572000" progId="Equation.DSMT4">
                  <p:embed/>
                </p:oleObj>
              </mc:Choice>
              <mc:Fallback>
                <p:oleObj r:id="rId5" imgW="3657600" imgH="4572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24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1" name="Object 1">
            <a:extLst>
              <a:ext uri="{FF2B5EF4-FFF2-40B4-BE49-F238E27FC236}">
                <a16:creationId xmlns:a16="http://schemas.microsoft.com/office/drawing/2014/main" id="{C066A718-90E2-4218-86C6-FA3FEC7ED2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5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96" r:id="rId7" imgW="3657600" imgH="4572000" progId="Equation.DSMT4">
                  <p:embed/>
                </p:oleObj>
              </mc:Choice>
              <mc:Fallback>
                <p:oleObj r:id="rId7" imgW="3657600" imgH="4572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24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1622" name="Picture 4">
            <a:extLst>
              <a:ext uri="{FF2B5EF4-FFF2-40B4-BE49-F238E27FC236}">
                <a16:creationId xmlns:a16="http://schemas.microsoft.com/office/drawing/2014/main" id="{63C7E60A-ACEE-4AB3-A821-9157DC615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0" y="2362200"/>
            <a:ext cx="5245100" cy="420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DFD0EF26-51A8-449A-95F8-5BE06E9957E3}"/>
              </a:ext>
            </a:extLst>
          </p:cNvPr>
          <p:cNvCxnSpPr/>
          <p:nvPr/>
        </p:nvCxnSpPr>
        <p:spPr>
          <a:xfrm flipV="1">
            <a:off x="993775" y="981075"/>
            <a:ext cx="266700" cy="317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796ACC5-6ACE-4A64-89F0-B1D03847E1BA}"/>
              </a:ext>
            </a:extLst>
          </p:cNvPr>
          <p:cNvCxnSpPr/>
          <p:nvPr/>
        </p:nvCxnSpPr>
        <p:spPr>
          <a:xfrm flipV="1">
            <a:off x="1562100" y="984250"/>
            <a:ext cx="265113" cy="476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 dir="l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标题 1">
            <a:extLst>
              <a:ext uri="{FF2B5EF4-FFF2-40B4-BE49-F238E27FC236}">
                <a16:creationId xmlns:a16="http://schemas.microsoft.com/office/drawing/2014/main" id="{CF6BD311-2549-456F-ABE6-190FED436F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2643" name="内容占位符 2">
            <a:extLst>
              <a:ext uri="{FF2B5EF4-FFF2-40B4-BE49-F238E27FC236}">
                <a16:creationId xmlns:a16="http://schemas.microsoft.com/office/drawing/2014/main" id="{56F5F1F3-6979-40B9-8FF9-3C9556DA82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0400" y="1314450"/>
            <a:ext cx="8097838" cy="51752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3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r>
              <a:rPr lang="en-US" altLang="en-US">
                <a:solidFill>
                  <a:srgbClr val="C00000"/>
                </a:solidFill>
              </a:rPr>
              <a:t>LOCK </a:t>
            </a: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总线封锁信号。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4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RQ/GT</a:t>
            </a:r>
            <a:r>
              <a:rPr lang="en-US" altLang="zh-CN" baseline="-25000">
                <a:solidFill>
                  <a:srgbClr val="C00000"/>
                </a:solidFill>
                <a:ea typeface="宋体" panose="02010600030101010101" pitchFamily="2" charset="-122"/>
              </a:rPr>
              <a:t>1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 、</a:t>
            </a:r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RQ/GT</a:t>
            </a:r>
            <a:r>
              <a:rPr lang="en-US" altLang="zh-CN" baseline="-25000">
                <a:solidFill>
                  <a:srgbClr val="C00000"/>
                </a:solidFill>
                <a:ea typeface="宋体" panose="02010600030101010101" pitchFamily="2" charset="-122"/>
              </a:rPr>
              <a:t>2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 （</a:t>
            </a:r>
            <a:r>
              <a:rPr lang="en-US" altLang="en-US">
                <a:solidFill>
                  <a:srgbClr val="C00000"/>
                </a:solidFill>
              </a:rPr>
              <a:t>Request/Grant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总线请求信号输入</a:t>
            </a:r>
            <a:r>
              <a:rPr lang="en-US" altLang="en-US"/>
              <a:t>/</a:t>
            </a:r>
            <a:r>
              <a:rPr lang="zh-CN" altLang="en-US">
                <a:ea typeface="宋体" panose="02010600030101010101" pitchFamily="2" charset="-122"/>
              </a:rPr>
              <a:t>总线请求允许信号输出。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endParaRPr lang="zh-CN" altLang="en-US"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FDF8138-ACBB-4803-96E4-78F089F83BB3}"/>
              </a:ext>
            </a:extLst>
          </p:cNvPr>
          <p:cNvCxnSpPr/>
          <p:nvPr/>
        </p:nvCxnSpPr>
        <p:spPr>
          <a:xfrm>
            <a:off x="1403350" y="1339850"/>
            <a:ext cx="93662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CB4FEE6-B835-4F27-A7A3-1EF39FA56AB3}"/>
              </a:ext>
            </a:extLst>
          </p:cNvPr>
          <p:cNvCxnSpPr/>
          <p:nvPr/>
        </p:nvCxnSpPr>
        <p:spPr>
          <a:xfrm flipV="1">
            <a:off x="1403350" y="2924175"/>
            <a:ext cx="504825" cy="476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21121E6-B6E6-4451-B6B4-A89046914856}"/>
              </a:ext>
            </a:extLst>
          </p:cNvPr>
          <p:cNvCxnSpPr/>
          <p:nvPr/>
        </p:nvCxnSpPr>
        <p:spPr>
          <a:xfrm flipV="1">
            <a:off x="2185988" y="2921000"/>
            <a:ext cx="504825" cy="317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675F9DA-1EB4-4A0A-BF04-8505E4D6B2B5}"/>
              </a:ext>
            </a:extLst>
          </p:cNvPr>
          <p:cNvCxnSpPr/>
          <p:nvPr/>
        </p:nvCxnSpPr>
        <p:spPr>
          <a:xfrm flipV="1">
            <a:off x="3408363" y="2921000"/>
            <a:ext cx="503237" cy="317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B5A4D52-1A42-4095-AD02-237C050B1AFF}"/>
              </a:ext>
            </a:extLst>
          </p:cNvPr>
          <p:cNvCxnSpPr/>
          <p:nvPr/>
        </p:nvCxnSpPr>
        <p:spPr>
          <a:xfrm flipV="1">
            <a:off x="4191000" y="2917825"/>
            <a:ext cx="503238" cy="317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 dir="l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>
            <a:extLst>
              <a:ext uri="{FF2B5EF4-FFF2-40B4-BE49-F238E27FC236}">
                <a16:creationId xmlns:a16="http://schemas.microsoft.com/office/drawing/2014/main" id="{A911721A-314E-4263-8C12-22FDDB309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3667" name="内容占位符 2">
            <a:extLst>
              <a:ext uri="{FF2B5EF4-FFF2-40B4-BE49-F238E27FC236}">
                <a16:creationId xmlns:a16="http://schemas.microsoft.com/office/drawing/2014/main" id="{58DC386F-566C-4A7E-8EDD-5E384E1EEC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/>
              <a:t>16.  </a:t>
            </a:r>
            <a:r>
              <a:rPr lang="en-US" altLang="en-US" sz="3200">
                <a:solidFill>
                  <a:srgbClr val="C00000"/>
                </a:solidFill>
              </a:rPr>
              <a:t>BHE/S</a:t>
            </a:r>
            <a:r>
              <a:rPr lang="en-US" altLang="en-US" sz="3200" baseline="-25000">
                <a:solidFill>
                  <a:srgbClr val="C00000"/>
                </a:solidFill>
              </a:rPr>
              <a:t>7 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>
                <a:solidFill>
                  <a:srgbClr val="C00000"/>
                </a:solidFill>
              </a:rPr>
              <a:t>Bus High Enable/Status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hangingPunct="1"/>
            <a:r>
              <a:rPr lang="zh-CN" altLang="en-US">
                <a:ea typeface="宋体" panose="02010600030101010101" pitchFamily="2" charset="-122"/>
              </a:rPr>
              <a:t>高</a:t>
            </a:r>
            <a:r>
              <a:rPr lang="en-US" altLang="en-US"/>
              <a:t>8</a:t>
            </a:r>
            <a:r>
              <a:rPr lang="zh-CN" altLang="en-US">
                <a:ea typeface="宋体" panose="02010600030101010101" pitchFamily="2" charset="-122"/>
              </a:rPr>
              <a:t>位总线允许</a:t>
            </a:r>
            <a:r>
              <a:rPr lang="en-US" altLang="en-US"/>
              <a:t>/</a:t>
            </a:r>
            <a:r>
              <a:rPr lang="zh-CN" altLang="en-US">
                <a:ea typeface="宋体" panose="02010600030101010101" pitchFamily="2" charset="-122"/>
              </a:rPr>
              <a:t>状态信号，它用在</a:t>
            </a:r>
            <a:r>
              <a:rPr lang="en-US" altLang="en-US"/>
              <a:t>8086</a:t>
            </a:r>
            <a:r>
              <a:rPr lang="zh-CN" altLang="en-US">
                <a:ea typeface="宋体" panose="02010600030101010101" pitchFamily="2" charset="-122"/>
              </a:rPr>
              <a:t>中。</a:t>
            </a:r>
          </a:p>
          <a:p>
            <a:pPr algn="just" eaLnBrk="1" hangingPunct="1"/>
            <a:r>
              <a:rPr lang="zh-CN" altLang="en-US">
                <a:ea typeface="宋体" panose="02010600030101010101" pitchFamily="2" charset="-122"/>
              </a:rPr>
              <a:t>低电平时，高</a:t>
            </a:r>
            <a:r>
              <a:rPr lang="en-US" altLang="en-US"/>
              <a:t>8</a:t>
            </a:r>
            <a:r>
              <a:rPr lang="zh-CN" altLang="en-US">
                <a:ea typeface="宋体" panose="02010600030101010101" pitchFamily="2" charset="-122"/>
              </a:rPr>
              <a:t>位数据总线</a:t>
            </a:r>
            <a:r>
              <a:rPr lang="en-US" altLang="en-US"/>
              <a:t>D</a:t>
            </a:r>
            <a:r>
              <a:rPr lang="en-US" altLang="en-US" baseline="-25000"/>
              <a:t>15</a:t>
            </a:r>
            <a:r>
              <a:rPr lang="en-US" altLang="en-US"/>
              <a:t>~D</a:t>
            </a:r>
            <a:r>
              <a:rPr lang="en-US" altLang="en-US" baseline="-25000"/>
              <a:t>8</a:t>
            </a:r>
            <a:r>
              <a:rPr lang="zh-CN" altLang="en-US">
                <a:ea typeface="宋体" panose="02010600030101010101" pitchFamily="2" charset="-122"/>
              </a:rPr>
              <a:t>有效。状态位</a:t>
            </a:r>
            <a:r>
              <a:rPr lang="en-US" altLang="en-US"/>
              <a:t>S</a:t>
            </a:r>
            <a:r>
              <a:rPr lang="en-US" altLang="en-US" baseline="-25000"/>
              <a:t>7</a:t>
            </a:r>
            <a:r>
              <a:rPr lang="zh-CN" altLang="en-US">
                <a:ea typeface="宋体" panose="02010600030101010101" pitchFamily="2" charset="-122"/>
              </a:rPr>
              <a:t>始终为</a:t>
            </a:r>
            <a:r>
              <a:rPr lang="en-US" altLang="en-US"/>
              <a:t>1</a:t>
            </a:r>
            <a:r>
              <a:rPr lang="zh-CN" altLang="en-US">
                <a:ea typeface="宋体" panose="02010600030101010101" pitchFamily="2" charset="-122"/>
              </a:rPr>
              <a:t>。</a:t>
            </a:r>
          </a:p>
          <a:p>
            <a:pPr algn="just" eaLnBrk="1" hangingPunct="1"/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 17.  </a:t>
            </a:r>
            <a:r>
              <a:rPr lang="zh-CN" altLang="en-US">
                <a:ea typeface="宋体" panose="02010600030101010101" pitchFamily="2" charset="-122"/>
              </a:rPr>
              <a:t>略（</a:t>
            </a:r>
            <a:r>
              <a:rPr lang="en-US" altLang="zh-CN">
                <a:ea typeface="宋体" panose="02010600030101010101" pitchFamily="2" charset="-122"/>
              </a:rPr>
              <a:t>8088</a:t>
            </a:r>
            <a:r>
              <a:rPr lang="zh-CN" altLang="en-US">
                <a:ea typeface="宋体" panose="02010600030101010101" pitchFamily="2" charset="-122"/>
              </a:rPr>
              <a:t>专有）</a:t>
            </a:r>
            <a:r>
              <a:rPr lang="en-US" altLang="en-US" baseline="-25000">
                <a:solidFill>
                  <a:srgbClr val="C00000"/>
                </a:solidFill>
              </a:rPr>
              <a:t> </a:t>
            </a:r>
            <a:endParaRPr lang="zh-CN" altLang="en-US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113668" name="Object 8">
            <a:extLst>
              <a:ext uri="{FF2B5EF4-FFF2-40B4-BE49-F238E27FC236}">
                <a16:creationId xmlns:a16="http://schemas.microsoft.com/office/drawing/2014/main" id="{4F8CAAC3-119A-4B9C-AE45-7A8ACCEBB2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6800" y="4895850"/>
          <a:ext cx="121443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93" r:id="rId3" imgW="11887200" imgH="6096000" progId="Equation.DSMT4">
                  <p:embed/>
                </p:oleObj>
              </mc:Choice>
              <mc:Fallback>
                <p:oleObj r:id="rId3" imgW="11887200" imgH="6096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0" y="4895850"/>
                        <a:ext cx="121443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D62AFC0-7F4C-4DFD-8604-3483E1928665}"/>
              </a:ext>
            </a:extLst>
          </p:cNvPr>
          <p:cNvCxnSpPr/>
          <p:nvPr/>
        </p:nvCxnSpPr>
        <p:spPr>
          <a:xfrm>
            <a:off x="1533525" y="1447800"/>
            <a:ext cx="79216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 dir="r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标题 1">
            <a:extLst>
              <a:ext uri="{FF2B5EF4-FFF2-40B4-BE49-F238E27FC236}">
                <a16:creationId xmlns:a16="http://schemas.microsoft.com/office/drawing/2014/main" id="{E92F1526-A40A-4609-8EA1-6BD6E4DB2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4691" name="内容占位符 2">
            <a:extLst>
              <a:ext uri="{FF2B5EF4-FFF2-40B4-BE49-F238E27FC236}">
                <a16:creationId xmlns:a16="http://schemas.microsoft.com/office/drawing/2014/main" id="{ADA4377A-A103-46EF-9DB2-6D715250B5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000"/>
              <a:t>18.  </a:t>
            </a:r>
            <a:r>
              <a:rPr lang="en-US" altLang="en-US" sz="3000">
                <a:solidFill>
                  <a:srgbClr val="C00000"/>
                </a:solidFill>
              </a:rPr>
              <a:t>MN/ MX</a:t>
            </a:r>
            <a:r>
              <a:rPr lang="zh-CN" altLang="en-US" sz="30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000">
                <a:solidFill>
                  <a:srgbClr val="C00000"/>
                </a:solidFill>
              </a:rPr>
              <a:t>Minimum/Maximum</a:t>
            </a:r>
            <a:r>
              <a:rPr lang="zh-CN" altLang="en-US" sz="30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最小</a:t>
            </a:r>
            <a:r>
              <a:rPr lang="en-US" altLang="en-US" sz="2600"/>
              <a:t>/</a:t>
            </a:r>
            <a:r>
              <a:rPr lang="zh-CN" altLang="en-US" sz="2600">
                <a:ea typeface="宋体" panose="02010600030101010101" pitchFamily="2" charset="-122"/>
              </a:rPr>
              <a:t>最大模式选择信号。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altLang="en-US" sz="2600">
                <a:solidFill>
                  <a:srgbClr val="C00000"/>
                </a:solidFill>
              </a:rPr>
              <a:t>MN/ MX </a:t>
            </a:r>
            <a:r>
              <a:rPr lang="en-US" altLang="en-US" sz="2600"/>
              <a:t> </a:t>
            </a:r>
            <a:r>
              <a:rPr lang="zh-CN" altLang="en-US" sz="2600">
                <a:ea typeface="宋体" panose="02010600030101010101" pitchFamily="2" charset="-122"/>
              </a:rPr>
              <a:t>接</a:t>
            </a:r>
            <a:r>
              <a:rPr lang="en-US" altLang="en-US" sz="2600"/>
              <a:t>+5V</a:t>
            </a:r>
            <a:r>
              <a:rPr lang="zh-CN" altLang="en-US" sz="2600">
                <a:ea typeface="宋体" panose="02010600030101010101" pitchFamily="2" charset="-122"/>
              </a:rPr>
              <a:t>，</a:t>
            </a:r>
            <a:r>
              <a:rPr lang="en-US" altLang="en-US" sz="2600"/>
              <a:t>CPU</a:t>
            </a:r>
            <a:r>
              <a:rPr lang="zh-CN" altLang="en-US" sz="2600">
                <a:ea typeface="宋体" panose="02010600030101010101" pitchFamily="2" charset="-122"/>
              </a:rPr>
              <a:t>工作于最小模式，组成单处理器系统。</a:t>
            </a:r>
            <a:endParaRPr lang="en-US" altLang="zh-CN" sz="2600">
              <a:ea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altLang="en-US" sz="2600">
                <a:solidFill>
                  <a:srgbClr val="C00000"/>
                </a:solidFill>
              </a:rPr>
              <a:t>MN/ MX</a:t>
            </a:r>
            <a:r>
              <a:rPr lang="en-US" altLang="en-US" sz="2600"/>
              <a:t>  </a:t>
            </a:r>
            <a:r>
              <a:rPr lang="zh-CN" altLang="en-US" sz="2600">
                <a:ea typeface="宋体" panose="02010600030101010101" pitchFamily="2" charset="-122"/>
              </a:rPr>
              <a:t>接地，</a:t>
            </a:r>
            <a:r>
              <a:rPr lang="en-US" altLang="zh-CN" sz="2600">
                <a:ea typeface="宋体" panose="02010600030101010101" pitchFamily="2" charset="-122"/>
              </a:rPr>
              <a:t>CPU</a:t>
            </a:r>
            <a:r>
              <a:rPr lang="zh-CN" altLang="en-US" sz="2600">
                <a:ea typeface="宋体" panose="02010600030101010101" pitchFamily="2" charset="-122"/>
              </a:rPr>
              <a:t>工作于最大模式，支持构成多处理器系统。</a:t>
            </a:r>
          </a:p>
          <a:p>
            <a:pPr algn="just" eaLnBrk="1" hangingPunct="1"/>
            <a:endParaRPr lang="zh-CN" altLang="en-US" sz="260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000"/>
              <a:t>1</a:t>
            </a:r>
            <a:r>
              <a:rPr lang="en-US" altLang="zh-CN" sz="3000">
                <a:ea typeface="宋体" panose="02010600030101010101" pitchFamily="2" charset="-122"/>
              </a:rPr>
              <a:t>9</a:t>
            </a:r>
            <a:r>
              <a:rPr lang="en-US" altLang="en-US" sz="3000"/>
              <a:t>. </a:t>
            </a:r>
            <a:r>
              <a:rPr lang="en-US" altLang="en-US" sz="3000">
                <a:solidFill>
                  <a:srgbClr val="C00000"/>
                </a:solidFill>
              </a:rPr>
              <a:t>V</a:t>
            </a:r>
            <a:r>
              <a:rPr lang="en-US" altLang="en-US" sz="3000" baseline="-25000">
                <a:solidFill>
                  <a:srgbClr val="C00000"/>
                </a:solidFill>
              </a:rPr>
              <a:t>cc</a:t>
            </a:r>
            <a:r>
              <a:rPr lang="zh-CN" altLang="en-US" sz="3000">
                <a:solidFill>
                  <a:srgbClr val="C00000"/>
                </a:solidFill>
                <a:ea typeface="宋体" panose="02010600030101010101" pitchFamily="2" charset="-122"/>
              </a:rPr>
              <a:t>和</a:t>
            </a:r>
            <a:r>
              <a:rPr lang="en-US" altLang="en-US" sz="3000">
                <a:solidFill>
                  <a:srgbClr val="C00000"/>
                </a:solidFill>
              </a:rPr>
              <a:t>GND</a:t>
            </a:r>
            <a:endParaRPr lang="zh-CN" altLang="en-US" sz="30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en-US" altLang="en-US" sz="2600"/>
              <a:t>V</a:t>
            </a:r>
            <a:r>
              <a:rPr lang="en-US" altLang="en-US" sz="2600" baseline="-25000"/>
              <a:t>cc</a:t>
            </a:r>
            <a:r>
              <a:rPr lang="zh-CN" altLang="en-US" sz="2600">
                <a:ea typeface="宋体" panose="02010600030101010101" pitchFamily="2" charset="-122"/>
              </a:rPr>
              <a:t>电源输入，为</a:t>
            </a:r>
            <a:r>
              <a:rPr lang="en-US" altLang="en-US" sz="2600"/>
              <a:t>CPU</a:t>
            </a:r>
            <a:r>
              <a:rPr lang="zh-CN" altLang="en-US" sz="2600">
                <a:ea typeface="宋体" panose="02010600030101010101" pitchFamily="2" charset="-122"/>
              </a:rPr>
              <a:t>提供</a:t>
            </a:r>
            <a:r>
              <a:rPr lang="en-US" altLang="en-US" sz="2600"/>
              <a:t>+5V</a:t>
            </a:r>
            <a:r>
              <a:rPr lang="zh-CN" altLang="en-US" sz="2600">
                <a:ea typeface="宋体" panose="02010600030101010101" pitchFamily="2" charset="-122"/>
              </a:rPr>
              <a:t>电源。</a:t>
            </a:r>
            <a:endParaRPr lang="en-US" altLang="zh-CN" sz="2600">
              <a:ea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en-US" altLang="en-US" sz="2600"/>
              <a:t>GND</a:t>
            </a:r>
            <a:r>
              <a:rPr lang="zh-CN" altLang="en-US" sz="2600">
                <a:ea typeface="宋体" panose="02010600030101010101" pitchFamily="2" charset="-122"/>
              </a:rPr>
              <a:t>是接地引脚。</a:t>
            </a:r>
          </a:p>
          <a:p>
            <a:pPr algn="just" eaLnBrk="1" hangingPunct="1"/>
            <a:endParaRPr lang="zh-CN" altLang="en-US" sz="2600">
              <a:ea typeface="宋体" panose="02010600030101010101" pitchFamily="2" charset="-122"/>
            </a:endParaRPr>
          </a:p>
          <a:p>
            <a:pPr eaLnBrk="1" hangingPunct="1"/>
            <a:endParaRPr lang="zh-CN" altLang="en-US" sz="2600">
              <a:ea typeface="宋体" panose="02010600030101010101" pitchFamily="2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17C7906-B8DD-4F1A-93BE-FB67270C4020}"/>
              </a:ext>
            </a:extLst>
          </p:cNvPr>
          <p:cNvCxnSpPr/>
          <p:nvPr/>
        </p:nvCxnSpPr>
        <p:spPr>
          <a:xfrm flipV="1">
            <a:off x="2555875" y="1400175"/>
            <a:ext cx="615950" cy="127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8D900F5-839C-4A6C-B988-86EAF8E292D2}"/>
              </a:ext>
            </a:extLst>
          </p:cNvPr>
          <p:cNvCxnSpPr/>
          <p:nvPr/>
        </p:nvCxnSpPr>
        <p:spPr>
          <a:xfrm flipV="1">
            <a:off x="1858963" y="2454275"/>
            <a:ext cx="503237" cy="476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C1A7FDE-1E47-470D-9E55-A24D7F7A695E}"/>
              </a:ext>
            </a:extLst>
          </p:cNvPr>
          <p:cNvCxnSpPr/>
          <p:nvPr/>
        </p:nvCxnSpPr>
        <p:spPr>
          <a:xfrm flipV="1">
            <a:off x="1858963" y="3336925"/>
            <a:ext cx="503237" cy="317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newsflash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>
            <a:extLst>
              <a:ext uri="{FF2B5EF4-FFF2-40B4-BE49-F238E27FC236}">
                <a16:creationId xmlns:a16="http://schemas.microsoft.com/office/drawing/2014/main" id="{3BB83D25-6330-4B76-A05E-3C0A7167C6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5538" name="内容占位符 2">
            <a:extLst>
              <a:ext uri="{FF2B5EF4-FFF2-40B4-BE49-F238E27FC236}">
                <a16:creationId xmlns:a16="http://schemas.microsoft.com/office/drawing/2014/main" id="{A527E4D4-A1AC-48D7-B91C-AB12691C0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zh-CN" altLang="en-US" sz="3000" noProof="1"/>
              <a:t>余下的问题：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noProof="1"/>
              <a:t>        这些引脚应该怎么用呢？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endParaRPr lang="zh-CN" altLang="en-US" sz="3000" noProof="1"/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noProof="1"/>
              <a:t>        要回答这个问题，我们还需要先介绍一下</a:t>
            </a:r>
            <a:r>
              <a:rPr lang="en-US" altLang="zh-CN" sz="3000" noProof="1"/>
              <a:t>8086</a:t>
            </a:r>
            <a:r>
              <a:rPr lang="zh-CN" altLang="en-US" sz="3000" noProof="1"/>
              <a:t>存储器的组织关系。</a:t>
            </a:r>
            <a:endParaRPr lang="zh-CN" altLang="en-US" sz="2600" noProof="1"/>
          </a:p>
          <a:p>
            <a:pPr eaLnBrk="1" hangingPunct="1">
              <a:defRPr/>
            </a:pPr>
            <a:endParaRPr lang="zh-CN" altLang="en-US" sz="2600" noProof="1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4127D10F-EF52-46FC-AC65-ED1CAFD20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652" y="2433297"/>
            <a:ext cx="7791788" cy="4424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8844B-0F4D-41C8-A5DD-6D081B645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2184400"/>
            <a:ext cx="8534400" cy="1866900"/>
          </a:xfrm>
        </p:spPr>
        <p:txBody>
          <a:bodyPr/>
          <a:lstStyle/>
          <a:p>
            <a:pPr>
              <a:defRPr/>
            </a:pPr>
            <a:r>
              <a:rPr lang="en-US" sz="4800" b="1" kern="0" dirty="0">
                <a:solidFill>
                  <a:srgbClr val="0070C0"/>
                </a:solidFill>
                <a:latin typeface="+mn-lt"/>
                <a:ea typeface="黑体" panose="02010609060101010101" pitchFamily="2" charset="-122"/>
              </a:rPr>
              <a:t>§2.3  8086的存储器组织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35237312-D373-4F2A-874E-BEADF7E608EA}"/>
              </a:ext>
            </a:extLst>
          </p:cNvPr>
          <p:cNvSpPr txBox="1"/>
          <p:nvPr/>
        </p:nvSpPr>
        <p:spPr bwMode="auto">
          <a:xfrm>
            <a:off x="571500" y="450850"/>
            <a:ext cx="8229600" cy="674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zh-CN" altLang="en-US" sz="4000" noProof="1">
              <a:solidFill>
                <a:srgbClr val="FFFF99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</p:txBody>
      </p:sp>
    </p:spTree>
  </p:cSld>
  <p:clrMapOvr>
    <a:masterClrMapping/>
  </p:clrMapOvr>
  <p:transition spd="slow">
    <p:wheel spokes="3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内容占位符 2">
            <a:extLst>
              <a:ext uri="{FF2B5EF4-FFF2-40B4-BE49-F238E27FC236}">
                <a16:creationId xmlns:a16="http://schemas.microsoft.com/office/drawing/2014/main" id="{4712A5D0-96D4-4EC8-B9E5-83276E6BD3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82700" y="2317750"/>
            <a:ext cx="7208838" cy="2222500"/>
          </a:xfrm>
        </p:spPr>
        <p:txBody>
          <a:bodyPr/>
          <a:lstStyle/>
          <a:p>
            <a:pPr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en-US" sz="3600">
                <a:solidFill>
                  <a:srgbClr val="C00000"/>
                </a:solidFill>
              </a:rPr>
              <a:t>2.3.1  </a:t>
            </a:r>
            <a:r>
              <a:rPr lang="zh-CN" altLang="en-US" sz="3600">
                <a:solidFill>
                  <a:srgbClr val="C00000"/>
                </a:solidFill>
                <a:ea typeface="宋体" panose="02010600030101010101" pitchFamily="2" charset="-122"/>
              </a:rPr>
              <a:t>段地址和偏移地址</a:t>
            </a:r>
            <a:endParaRPr lang="en-US" altLang="zh-CN" sz="36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en-US" sz="3600">
                <a:solidFill>
                  <a:srgbClr val="004398"/>
                </a:solidFill>
              </a:rPr>
              <a:t>2.3.2  8086</a:t>
            </a:r>
            <a:r>
              <a:rPr lang="zh-CN" altLang="en-US" sz="3600">
                <a:solidFill>
                  <a:srgbClr val="004398"/>
                </a:solidFill>
                <a:ea typeface="宋体" panose="02010600030101010101" pitchFamily="2" charset="-122"/>
              </a:rPr>
              <a:t>存储器的分体结构</a:t>
            </a:r>
            <a:br>
              <a:rPr lang="en-US" altLang="zh-CN" sz="3600">
                <a:solidFill>
                  <a:srgbClr val="004398"/>
                </a:solidFill>
                <a:ea typeface="宋体" panose="02010600030101010101" pitchFamily="2" charset="-122"/>
              </a:rPr>
            </a:br>
            <a:endParaRPr lang="zh-CN" altLang="en-US" sz="3600">
              <a:solidFill>
                <a:srgbClr val="004398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edg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F56EF-21B6-4D4D-BF98-323AFF8E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65" y="205740"/>
            <a:ext cx="8229600" cy="674688"/>
          </a:xfrm>
          <a:extLst/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物理和逻辑地址</a:t>
            </a:r>
          </a:p>
        </p:txBody>
      </p:sp>
      <p:sp>
        <p:nvSpPr>
          <p:cNvPr id="118787" name="内容占位符 2">
            <a:extLst>
              <a:ext uri="{FF2B5EF4-FFF2-40B4-BE49-F238E27FC236}">
                <a16:creationId xmlns:a16="http://schemas.microsoft.com/office/drawing/2014/main" id="{48E835FF-616B-4CCB-B0F1-922A2E5D9D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 dirty="0"/>
              <a:t>1.</a:t>
            </a:r>
            <a:r>
              <a:rPr lang="zh-CN" altLang="en-US" sz="3200" dirty="0">
                <a:ea typeface="宋体" panose="02010600030101010101" pitchFamily="2" charset="-122"/>
              </a:rPr>
              <a:t>段地址和偏移地址组合成物理地址</a:t>
            </a:r>
          </a:p>
          <a:p>
            <a:pPr algn="just" eaLnBrk="1" hangingPunct="1">
              <a:lnSpc>
                <a:spcPct val="90000"/>
              </a:lnSpc>
              <a:spcBef>
                <a:spcPts val="2163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dirty="0"/>
              <a:t>8086/8088</a:t>
            </a:r>
            <a:r>
              <a:rPr lang="zh-CN" altLang="en-US" dirty="0">
                <a:ea typeface="宋体" panose="02010600030101010101" pitchFamily="2" charset="-122"/>
              </a:rPr>
              <a:t>有</a:t>
            </a:r>
            <a:r>
              <a:rPr lang="en-US" altLang="en-US" dirty="0"/>
              <a:t>20</a:t>
            </a:r>
            <a:r>
              <a:rPr lang="zh-CN" altLang="en-US" dirty="0">
                <a:ea typeface="宋体" panose="02010600030101010101" pitchFamily="2" charset="-122"/>
              </a:rPr>
              <a:t>根地址线，寻址</a:t>
            </a:r>
            <a:r>
              <a:rPr lang="en-US" altLang="en-US" dirty="0"/>
              <a:t>2</a:t>
            </a:r>
            <a:r>
              <a:rPr lang="en-US" altLang="en-US" baseline="30000" dirty="0"/>
              <a:t>20</a:t>
            </a:r>
            <a:r>
              <a:rPr lang="en-US" altLang="en-US" dirty="0"/>
              <a:t>=1MB</a:t>
            </a:r>
            <a:r>
              <a:rPr lang="zh-CN" altLang="en-US" dirty="0">
                <a:ea typeface="宋体" panose="02010600030101010101" pitchFamily="2" charset="-122"/>
              </a:rPr>
              <a:t>单元，地址范围</a:t>
            </a:r>
            <a:r>
              <a:rPr lang="en-US" altLang="en-US" dirty="0"/>
              <a:t>00000~FFFFFH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ea typeface="宋体" panose="02010600030101010101" pitchFamily="2" charset="-122"/>
              </a:rPr>
              <a:t>每个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Byte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单元</a:t>
            </a:r>
            <a:r>
              <a:rPr lang="zh-CN" altLang="en-US" dirty="0">
                <a:ea typeface="宋体" panose="02010600030101010101" pitchFamily="2" charset="-122"/>
              </a:rPr>
              <a:t>有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个绝对地址，即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物理地址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en-US" dirty="0"/>
              <a:t>CPU</a:t>
            </a:r>
            <a:r>
              <a:rPr lang="zh-CN" altLang="en-US" dirty="0">
                <a:ea typeface="宋体" panose="02010600030101010101" pitchFamily="2" charset="-122"/>
              </a:rPr>
              <a:t>应先确定物理地址，才能存取该单元。</a:t>
            </a: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endParaRPr lang="zh-CN" altLang="en-US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dirty="0"/>
              <a:t>1MB</a:t>
            </a:r>
            <a:r>
              <a:rPr lang="zh-CN" altLang="en-US" dirty="0">
                <a:ea typeface="宋体" panose="02010600030101010101" pitchFamily="2" charset="-122"/>
              </a:rPr>
              <a:t>内存空间可以分成多个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逻辑段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zh-CN" altLang="en-US" dirty="0">
                <a:highlight>
                  <a:srgbClr val="FFFF00"/>
                </a:highlight>
                <a:ea typeface="宋体" panose="02010600030101010101" pitchFamily="2" charset="-122"/>
              </a:rPr>
              <a:t>每段最大</a:t>
            </a:r>
            <a:r>
              <a:rPr lang="en-US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2</a:t>
            </a:r>
            <a:r>
              <a:rPr lang="en-US" altLang="en-US" baseline="30000" dirty="0">
                <a:solidFill>
                  <a:srgbClr val="C00000"/>
                </a:solidFill>
                <a:highlight>
                  <a:srgbClr val="FFFF00"/>
                </a:highlight>
              </a:rPr>
              <a:t>16</a:t>
            </a:r>
            <a:r>
              <a:rPr lang="en-US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= 64KB</a:t>
            </a:r>
            <a:r>
              <a:rPr lang="zh-CN" altLang="en-US" dirty="0">
                <a:ea typeface="宋体" panose="02010600030101010101" pitchFamily="2" charset="-122"/>
              </a:rPr>
              <a:t>，段内地址连续。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ea typeface="宋体" panose="02010600030101010101" pitchFamily="2" charset="-122"/>
              </a:rPr>
              <a:t>各段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相互独立，</a:t>
            </a:r>
            <a:r>
              <a:rPr lang="zh-CN" altLang="en-US" dirty="0">
                <a:ea typeface="宋体" panose="02010600030101010101" pitchFamily="2" charset="-122"/>
              </a:rPr>
              <a:t>可连续排列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，也可部分重叠或完全重叠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32993D8-276C-45A6-B3FC-23408CC31877}"/>
              </a:ext>
            </a:extLst>
          </p:cNvPr>
          <p:cNvCxnSpPr/>
          <p:nvPr/>
        </p:nvCxnSpPr>
        <p:spPr>
          <a:xfrm>
            <a:off x="2312988" y="4984750"/>
            <a:ext cx="773112" cy="1047750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8">
            <a:extLst>
              <a:ext uri="{FF2B5EF4-FFF2-40B4-BE49-F238E27FC236}">
                <a16:creationId xmlns:a16="http://schemas.microsoft.com/office/drawing/2014/main" id="{B1A2C2C0-523D-4CEE-B603-5422A303AB5B}"/>
              </a:ext>
            </a:extLst>
          </p:cNvPr>
          <p:cNvSpPr/>
          <p:nvPr/>
        </p:nvSpPr>
        <p:spPr>
          <a:xfrm>
            <a:off x="3086100" y="5756275"/>
            <a:ext cx="4718050" cy="763588"/>
          </a:xfrm>
          <a:prstGeom prst="rect">
            <a:avLst/>
          </a:prstGeom>
          <a:solidFill>
            <a:srgbClr val="CCFFFF"/>
          </a:solidFill>
          <a:ln w="88900" cap="flat" cmpd="thickThin">
            <a:solidFill>
              <a:srgbClr val="787E7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00">
                <a:solidFill>
                  <a:srgbClr val="FF3300"/>
                </a:solidFill>
              </a:rPr>
              <a:t>为什么？</a:t>
            </a:r>
            <a:endParaRPr lang="en-US" altLang="zh-CN" sz="2200">
              <a:solidFill>
                <a:srgbClr val="FF3300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00">
                <a:effectLst>
                  <a:outerShdw blurRad="38100" dist="38100" dir="2700000" algn="tl">
                    <a:srgbClr val="000000"/>
                  </a:outerShdw>
                </a:effectLst>
              </a:rPr>
              <a:t>因为保存偏移量的寄存器是</a:t>
            </a:r>
            <a:r>
              <a:rPr lang="en-US" altLang="zh-CN" sz="2200">
                <a:effectLst>
                  <a:outerShdw blurRad="38100" dist="38100" dir="2700000" algn="tl">
                    <a:srgbClr val="000000"/>
                  </a:outerShdw>
                </a:effectLst>
              </a:rPr>
              <a:t>16</a:t>
            </a:r>
            <a:r>
              <a:rPr lang="zh-CN" altLang="en-US" sz="2200">
                <a:effectLst>
                  <a:outerShdw blurRad="38100" dist="38100" dir="2700000" algn="tl">
                    <a:srgbClr val="000000"/>
                  </a:outerShdw>
                </a:effectLst>
              </a:rPr>
              <a:t>位的</a:t>
            </a:r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内容占位符 2">
            <a:extLst>
              <a:ext uri="{FF2B5EF4-FFF2-40B4-BE49-F238E27FC236}">
                <a16:creationId xmlns:a16="http://schemas.microsoft.com/office/drawing/2014/main" id="{0165E097-B4C0-4CCD-82FC-48A3516F52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700" y="1073150"/>
            <a:ext cx="8372475" cy="5422900"/>
          </a:xfrm>
          <a:extLst/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a typeface="宋体" panose="02010600030101010101" pitchFamily="2" charset="-122"/>
              </a:rPr>
              <a:t>用两个</a:t>
            </a:r>
            <a:r>
              <a:rPr lang="en-US" altLang="en-US" dirty="0"/>
              <a:t>16</a:t>
            </a:r>
            <a:r>
              <a:rPr lang="zh-CN" altLang="en-US" dirty="0">
                <a:ea typeface="宋体" panose="02010600030101010101" pitchFamily="2" charset="-122"/>
              </a:rPr>
              <a:t>位寄存器来形成</a:t>
            </a:r>
            <a:r>
              <a:rPr lang="en-US" altLang="en-US" dirty="0"/>
              <a:t>20</a:t>
            </a:r>
            <a:r>
              <a:rPr lang="zh-CN" altLang="en-US" dirty="0">
                <a:ea typeface="宋体" panose="02010600030101010101" pitchFamily="2" charset="-122"/>
              </a:rPr>
              <a:t>位地址，形式为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                         </a:t>
            </a:r>
            <a:r>
              <a:rPr lang="zh-CN" altLang="en-US" dirty="0">
                <a:highlight>
                  <a:srgbClr val="FFFF00"/>
                </a:highlight>
                <a:ea typeface="宋体" panose="02010600030101010101" pitchFamily="2" charset="-122"/>
              </a:rPr>
              <a:t>段地址：偏移量</a:t>
            </a:r>
            <a:endParaRPr lang="en-US" altLang="zh-CN" dirty="0"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      </a:t>
            </a:r>
            <a:r>
              <a:rPr lang="zh-CN" altLang="en-US" dirty="0">
                <a:ea typeface="宋体" panose="02010600030101010101" pitchFamily="2" charset="-122"/>
              </a:rPr>
              <a:t>这也称为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逻辑地址，</a:t>
            </a:r>
            <a:r>
              <a:rPr lang="zh-CN" altLang="en-US" dirty="0">
                <a:ea typeface="宋体" panose="02010600030101010101" pitchFamily="2" charset="-122"/>
              </a:rPr>
              <a:t>段地址也称为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段基地址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段基地址</a:t>
            </a:r>
            <a:r>
              <a:rPr lang="zh-CN" altLang="en-US" dirty="0">
                <a:ea typeface="宋体" panose="02010600030101010101" pitchFamily="2" charset="-122"/>
              </a:rPr>
              <a:t>定义任何</a:t>
            </a:r>
            <a:r>
              <a:rPr lang="en-US" altLang="en-US" dirty="0"/>
              <a:t>64KB</a:t>
            </a:r>
            <a:r>
              <a:rPr lang="zh-CN" altLang="en-US" dirty="0">
                <a:ea typeface="宋体" panose="02010600030101010101" pitchFamily="2" charset="-122"/>
              </a:rPr>
              <a:t>存储器的起始地址，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偏移量</a:t>
            </a:r>
            <a:r>
              <a:rPr lang="zh-CN" altLang="en-US" dirty="0">
                <a:ea typeface="宋体" panose="02010600030101010101" pitchFamily="2" charset="-122"/>
              </a:rPr>
              <a:t>在</a:t>
            </a:r>
            <a:r>
              <a:rPr lang="en-US" altLang="en-US" dirty="0"/>
              <a:t>64KB</a:t>
            </a:r>
            <a:r>
              <a:rPr lang="zh-CN" altLang="en-US" dirty="0">
                <a:ea typeface="宋体" panose="02010600030101010101" pitchFamily="2" charset="-122"/>
              </a:rPr>
              <a:t>存储器中选择任一单元。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a typeface="宋体" panose="02010600030101010101" pitchFamily="2" charset="-122"/>
              </a:rPr>
              <a:t>由逻辑地址转换为物理地址的公式：</a:t>
            </a:r>
          </a:p>
          <a:p>
            <a:pPr algn="ctr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C00000"/>
                </a:solidFill>
              </a:rPr>
              <a:t>20</a:t>
            </a:r>
            <a:r>
              <a:rPr lang="zh-CN" altLang="en-US" b="0" dirty="0">
                <a:solidFill>
                  <a:srgbClr val="C00000"/>
                </a:solidFill>
                <a:ea typeface="宋体" panose="02010600030101010101" pitchFamily="2" charset="-122"/>
              </a:rPr>
              <a:t>位物理地址</a:t>
            </a:r>
            <a:r>
              <a:rPr lang="en-US" altLang="en-US" dirty="0">
                <a:solidFill>
                  <a:srgbClr val="C00000"/>
                </a:solidFill>
              </a:rPr>
              <a:t>=</a:t>
            </a:r>
            <a:r>
              <a:rPr lang="zh-CN" altLang="en-US" b="0" dirty="0">
                <a:solidFill>
                  <a:srgbClr val="C00000"/>
                </a:solidFill>
                <a:ea typeface="宋体" panose="02010600030101010101" pitchFamily="2" charset="-122"/>
              </a:rPr>
              <a:t>段基地址</a:t>
            </a:r>
            <a:r>
              <a:rPr lang="en-US" altLang="en-US" dirty="0">
                <a:solidFill>
                  <a:srgbClr val="C00000"/>
                </a:solidFill>
                <a:sym typeface="Symbol" panose="05050102010706020507" pitchFamily="18" charset="2"/>
              </a:rPr>
              <a:t></a:t>
            </a:r>
            <a:r>
              <a:rPr lang="en-US" altLang="en-US" dirty="0">
                <a:solidFill>
                  <a:srgbClr val="C00000"/>
                </a:solidFill>
              </a:rPr>
              <a:t>16+16</a:t>
            </a:r>
            <a:r>
              <a:rPr lang="zh-CN" altLang="en-US" b="0" dirty="0">
                <a:solidFill>
                  <a:srgbClr val="C00000"/>
                </a:solidFill>
                <a:ea typeface="宋体" panose="02010600030101010101" pitchFamily="2" charset="-122"/>
              </a:rPr>
              <a:t>位偏移量</a:t>
            </a:r>
            <a:endParaRPr lang="en-US" altLang="zh-CN" b="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ea typeface="宋体" panose="02010600030101010101" pitchFamily="2" charset="-122"/>
              </a:rPr>
              <a:t> 即：段寄存器中的</a:t>
            </a:r>
            <a:r>
              <a:rPr lang="en-US" altLang="en-US" dirty="0"/>
              <a:t>16</a:t>
            </a:r>
            <a:r>
              <a:rPr lang="zh-CN" altLang="en-US" dirty="0">
                <a:ea typeface="宋体" panose="02010600030101010101" pitchFamily="2" charset="-122"/>
              </a:rPr>
              <a:t>位数自动左移</a:t>
            </a:r>
            <a:r>
              <a:rPr lang="en-US" altLang="en-US" dirty="0"/>
              <a:t>4</a:t>
            </a:r>
            <a:r>
              <a:rPr lang="zh-CN" altLang="en-US" dirty="0">
                <a:ea typeface="宋体" panose="02010600030101010101" pitchFamily="2" charset="-122"/>
              </a:rPr>
              <a:t>位</a:t>
            </a:r>
            <a:r>
              <a:rPr lang="en-US" altLang="zh-CN" sz="3600" dirty="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+</a:t>
            </a:r>
            <a:r>
              <a:rPr lang="en-US" altLang="en-US" dirty="0"/>
              <a:t>16</a:t>
            </a:r>
            <a:r>
              <a:rPr lang="zh-CN" altLang="en-US" dirty="0">
                <a:ea typeface="宋体" panose="02010600030101010101" pitchFamily="2" charset="-122"/>
              </a:rPr>
              <a:t>位偏移量就形成</a:t>
            </a:r>
            <a:r>
              <a:rPr lang="en-US" altLang="en-US" dirty="0"/>
              <a:t>20</a:t>
            </a:r>
            <a:r>
              <a:rPr lang="zh-CN" altLang="en-US" dirty="0">
                <a:ea typeface="宋体" panose="02010600030101010101" pitchFamily="2" charset="-122"/>
              </a:rPr>
              <a:t>位物理地址。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a typeface="宋体" panose="02010600030101010101" pitchFamily="2" charset="-122"/>
              </a:rPr>
              <a:t>由</a:t>
            </a:r>
            <a:r>
              <a:rPr lang="en-US" altLang="en-US" dirty="0"/>
              <a:t>BIU</a:t>
            </a:r>
            <a:r>
              <a:rPr lang="zh-CN" altLang="en-US" dirty="0"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地址加法器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来</a:t>
            </a:r>
            <a:r>
              <a:rPr lang="zh-CN" altLang="en-US" dirty="0">
                <a:ea typeface="宋体" panose="02010600030101010101" pitchFamily="2" charset="-122"/>
              </a:rPr>
              <a:t>计算物理地址。 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7AD37F4-EB94-4013-8545-B35150D67C52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物理和逻辑地址</a:t>
            </a:r>
            <a:endParaRPr lang="zh-CN" altLang="en-US" sz="32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+mn-ea"/>
            </a:endParaRPr>
          </a:p>
        </p:txBody>
      </p:sp>
    </p:spTree>
  </p:cSld>
  <p:clrMapOvr>
    <a:masterClrMapping/>
  </p:clrMapOvr>
  <p:transition spd="slow">
    <p:pull dir="l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内容占位符 2">
            <a:extLst>
              <a:ext uri="{FF2B5EF4-FFF2-40B4-BE49-F238E27FC236}">
                <a16:creationId xmlns:a16="http://schemas.microsoft.com/office/drawing/2014/main" id="{394EBD31-8180-4257-88A9-0E9584FEE2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0" y="1162050"/>
            <a:ext cx="8372475" cy="102235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设段地址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r>
              <a:rPr lang="zh-CN" altLang="en-US">
                <a:ea typeface="宋体" panose="02010600030101010101" pitchFamily="2" charset="-122"/>
              </a:rPr>
              <a:t>偏移地址</a:t>
            </a:r>
            <a:r>
              <a:rPr lang="en-US" altLang="en-US"/>
              <a:t>=1234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r>
              <a:rPr lang="en-US" altLang="en-US"/>
              <a:t>0025H</a:t>
            </a:r>
            <a:r>
              <a:rPr lang="zh-CN" altLang="en-US">
                <a:ea typeface="宋体" panose="02010600030101010101" pitchFamily="2" charset="-122"/>
              </a:rPr>
              <a:t>，形成</a:t>
            </a:r>
            <a:r>
              <a:rPr lang="en-US" altLang="en-US"/>
              <a:t>20</a:t>
            </a:r>
            <a:r>
              <a:rPr lang="zh-CN" altLang="en-US">
                <a:ea typeface="宋体" panose="02010600030101010101" pitchFamily="2" charset="-122"/>
              </a:rPr>
              <a:t>位物理地址</a:t>
            </a:r>
            <a:r>
              <a:rPr lang="en-US" altLang="zh-CN">
                <a:ea typeface="宋体" panose="02010600030101010101" pitchFamily="2" charset="-122"/>
              </a:rPr>
              <a:t>12365H</a:t>
            </a:r>
            <a:r>
              <a:rPr lang="zh-CN" altLang="en-US">
                <a:ea typeface="宋体" panose="02010600030101010101" pitchFamily="2" charset="-122"/>
              </a:rPr>
              <a:t>的过程：</a:t>
            </a:r>
          </a:p>
        </p:txBody>
      </p:sp>
      <p:pic>
        <p:nvPicPr>
          <p:cNvPr id="120835" name="图片 3" descr="LF_t2.4.png">
            <a:extLst>
              <a:ext uri="{FF2B5EF4-FFF2-40B4-BE49-F238E27FC236}">
                <a16:creationId xmlns:a16="http://schemas.microsoft.com/office/drawing/2014/main" id="{B73958FC-BE8D-4EAD-B229-A801A74DC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2362200"/>
            <a:ext cx="8534400" cy="31575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13A357A9-5376-4550-8FEE-B42E49B8DE0B}"/>
              </a:ext>
            </a:extLst>
          </p:cNvPr>
          <p:cNvSpPr>
            <a:spLocks noGrp="1"/>
          </p:cNvSpPr>
          <p:nvPr/>
        </p:nvSpPr>
        <p:spPr>
          <a:xfrm>
            <a:off x="501650" y="2273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物理和逻辑地址</a:t>
            </a:r>
            <a:endParaRPr lang="zh-CN" altLang="en-US" sz="32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551487D-9F40-4893-9B1B-31E92F5EF37C}"/>
              </a:ext>
            </a:extLst>
          </p:cNvPr>
          <p:cNvGrpSpPr>
            <a:grpSpLocks/>
          </p:cNvGrpSpPr>
          <p:nvPr/>
        </p:nvGrpSpPr>
        <p:grpSpPr bwMode="auto">
          <a:xfrm>
            <a:off x="4141788" y="1628775"/>
            <a:ext cx="4830762" cy="631825"/>
            <a:chOff x="6522" y="2565"/>
            <a:chExt cx="7607" cy="994"/>
          </a:xfrm>
        </p:grpSpPr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FD1665E1-4511-4C18-8ED3-3A41731106BA}"/>
                </a:ext>
              </a:extLst>
            </p:cNvPr>
            <p:cNvSpPr/>
            <p:nvPr/>
          </p:nvSpPr>
          <p:spPr>
            <a:xfrm>
              <a:off x="8502" y="2885"/>
              <a:ext cx="5627" cy="674"/>
            </a:xfrm>
            <a:prstGeom prst="rect">
              <a:avLst/>
            </a:prstGeom>
            <a:solidFill>
              <a:srgbClr val="CCFFFF"/>
            </a:solidFill>
            <a:ln w="88900" cap="flat" cmpd="thickThin">
              <a:solidFill>
                <a:srgbClr val="787E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zh-CN" altLang="zh-CN" sz="2200" noProof="1">
                  <a:solidFill>
                    <a:srgbClr val="FF3300"/>
                  </a:solidFill>
                  <a:latin typeface="Garamond" panose="02020404030301010803" pitchFamily="2" charset="0"/>
                  <a:cs typeface="+mn-ea"/>
                </a:rPr>
                <a:t>逻辑地址，记住其表达形式</a:t>
              </a:r>
              <a:endParaRPr lang="zh-CN" altLang="en-US" sz="22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2" charset="0"/>
              </a:endParaRPr>
            </a:p>
          </p:txBody>
        </p:sp>
        <p:cxnSp>
          <p:nvCxnSpPr>
            <p:cNvPr id="2" name="直接连接符 1">
              <a:extLst>
                <a:ext uri="{FF2B5EF4-FFF2-40B4-BE49-F238E27FC236}">
                  <a16:creationId xmlns:a16="http://schemas.microsoft.com/office/drawing/2014/main" id="{94EE5B57-4C11-4980-8B04-6262FA63B1F7}"/>
                </a:ext>
              </a:extLst>
            </p:cNvPr>
            <p:cNvCxnSpPr/>
            <p:nvPr/>
          </p:nvCxnSpPr>
          <p:spPr>
            <a:xfrm flipV="1">
              <a:off x="6522" y="2565"/>
              <a:ext cx="3852" cy="2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D3718F65-A84F-4DE5-832C-4A15D4095554}"/>
                </a:ext>
              </a:extLst>
            </p:cNvPr>
            <p:cNvCxnSpPr/>
            <p:nvPr/>
          </p:nvCxnSpPr>
          <p:spPr>
            <a:xfrm>
              <a:off x="9389" y="2585"/>
              <a:ext cx="560" cy="20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内容占位符 2">
            <a:extLst>
              <a:ext uri="{FF2B5EF4-FFF2-40B4-BE49-F238E27FC236}">
                <a16:creationId xmlns:a16="http://schemas.microsoft.com/office/drawing/2014/main" id="{4046A7E2-BCFB-4FD7-AE28-F529F668E1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984250"/>
            <a:ext cx="8372475" cy="93345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600">
                <a:ea typeface="宋体" panose="02010600030101010101" pitchFamily="2" charset="-122"/>
              </a:rPr>
              <a:t>如何用段基地址和偏移地址形成一个段，由偏移地址来选择段中的一个存储单元。</a:t>
            </a:r>
          </a:p>
        </p:txBody>
      </p:sp>
      <p:sp>
        <p:nvSpPr>
          <p:cNvPr id="121859" name="内容占位符 2">
            <a:extLst>
              <a:ext uri="{FF2B5EF4-FFF2-40B4-BE49-F238E27FC236}">
                <a16:creationId xmlns:a16="http://schemas.microsoft.com/office/drawing/2014/main" id="{8578EBCE-A902-4378-A359-B728A5513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725" y="1606550"/>
            <a:ext cx="3933825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ea typeface="黑体" panose="02010609060101010101" pitchFamily="49" charset="-122"/>
              </a:rPr>
              <a:t>段基址</a:t>
            </a:r>
            <a:r>
              <a:rPr lang="en-US" altLang="zh-CN" sz="2400">
                <a:ea typeface="黑体" panose="02010609060101010101" pitchFamily="49" charset="-122"/>
              </a:rPr>
              <a:t>=</a:t>
            </a:r>
            <a:r>
              <a:rPr lang="en-US" altLang="en-US" sz="2400">
                <a:ea typeface="黑体" panose="02010609060101010101" pitchFamily="49" charset="-122"/>
              </a:rPr>
              <a:t>1000H</a:t>
            </a:r>
            <a:r>
              <a:rPr lang="zh-CN" altLang="en-US" sz="2400">
                <a:ea typeface="黑体" panose="02010609060101010101" pitchFamily="49" charset="-122"/>
              </a:rPr>
              <a:t>，该</a:t>
            </a:r>
            <a:r>
              <a:rPr lang="zh-CN" altLang="en-US" sz="2400">
                <a:solidFill>
                  <a:srgbClr val="C00000"/>
                </a:solidFill>
                <a:ea typeface="黑体" panose="02010609060101010101" pitchFamily="49" charset="-122"/>
              </a:rPr>
              <a:t>段起始地址</a:t>
            </a:r>
            <a:r>
              <a:rPr lang="zh-CN" altLang="en-US" sz="2400">
                <a:ea typeface="黑体" panose="02010609060101010101" pitchFamily="49" charset="-122"/>
              </a:rPr>
              <a:t>：</a:t>
            </a:r>
            <a:r>
              <a:rPr lang="en-US" altLang="zh-CN" sz="2400">
                <a:ea typeface="黑体" panose="02010609060101010101" pitchFamily="49" charset="-122"/>
              </a:rPr>
              <a:t>=</a:t>
            </a:r>
            <a:r>
              <a:rPr lang="en-US" altLang="en-US" sz="2400">
                <a:ea typeface="黑体" panose="02010609060101010101" pitchFamily="49" charset="-122"/>
              </a:rPr>
              <a:t>1000H</a:t>
            </a:r>
            <a:r>
              <a:rPr lang="en-US" altLang="en-US" sz="2400"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en-US" sz="2400">
                <a:ea typeface="黑体" panose="02010609060101010101" pitchFamily="49" charset="-122"/>
              </a:rPr>
              <a:t>16=10000H</a:t>
            </a:r>
            <a:endParaRPr lang="en-US" altLang="zh-CN" sz="2400"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ea typeface="黑体" panose="02010609060101010101" pitchFamily="49" charset="-122"/>
              </a:rPr>
              <a:t>段内偏址范围为</a:t>
            </a:r>
            <a:r>
              <a:rPr lang="en-US" altLang="en-US" sz="2400">
                <a:solidFill>
                  <a:srgbClr val="C00000"/>
                </a:solidFill>
                <a:ea typeface="黑体" panose="02010609060101010101" pitchFamily="49" charset="-122"/>
              </a:rPr>
              <a:t>0000~ FFFFH</a:t>
            </a:r>
            <a:r>
              <a:rPr lang="zh-CN" altLang="en-US" sz="2400">
                <a:ea typeface="黑体" panose="02010609060101010101" pitchFamily="49" charset="-122"/>
              </a:rPr>
              <a:t>，即段开始到所选单元的距离</a:t>
            </a:r>
            <a:endParaRPr lang="en-US" altLang="zh-CN" sz="2400"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ea typeface="黑体" panose="02010609060101010101" pitchFamily="49" charset="-122"/>
              </a:rPr>
              <a:t>段长</a:t>
            </a:r>
            <a:r>
              <a:rPr lang="en-US" altLang="zh-CN" sz="2400">
                <a:ea typeface="黑体" panose="02010609060101010101" pitchFamily="49" charset="-122"/>
              </a:rPr>
              <a:t>=</a:t>
            </a:r>
            <a:r>
              <a:rPr lang="en-US" altLang="en-US" sz="2400">
                <a:ea typeface="黑体" panose="02010609060101010101" pitchFamily="49" charset="-122"/>
              </a:rPr>
              <a:t>64KB, </a:t>
            </a:r>
            <a:r>
              <a:rPr lang="zh-CN" altLang="en-US" sz="2400">
                <a:ea typeface="黑体" panose="02010609060101010101" pitchFamily="49" charset="-122"/>
              </a:rPr>
              <a:t>该段末址</a:t>
            </a:r>
            <a:r>
              <a:rPr lang="en-US" altLang="zh-CN" sz="2400">
                <a:ea typeface="黑体" panose="02010609060101010101" pitchFamily="49" charset="-122"/>
              </a:rPr>
              <a:t>=</a:t>
            </a:r>
            <a:r>
              <a:rPr lang="en-US" altLang="en-US" sz="2400">
                <a:ea typeface="黑体" panose="02010609060101010101" pitchFamily="49" charset="-122"/>
              </a:rPr>
              <a:t>1000H</a:t>
            </a:r>
            <a:r>
              <a:rPr lang="en-US" altLang="en-US" sz="2400"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en-US" sz="2400">
                <a:ea typeface="黑体" panose="02010609060101010101" pitchFamily="49" charset="-122"/>
              </a:rPr>
              <a:t>16+FFFFH =1FFFFH</a:t>
            </a:r>
            <a:endParaRPr lang="en-US" altLang="zh-CN" sz="2400"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2400">
                <a:ea typeface="黑体" panose="02010609060101010101" pitchFamily="49" charset="-122"/>
              </a:rPr>
              <a:t>即段始址</a:t>
            </a:r>
            <a:r>
              <a:rPr lang="en-US" altLang="zh-CN" sz="2400">
                <a:ea typeface="黑体" panose="02010609060101010101" pitchFamily="49" charset="-122"/>
              </a:rPr>
              <a:t>+</a:t>
            </a:r>
            <a:r>
              <a:rPr lang="en-US" altLang="en-US" sz="2400">
                <a:ea typeface="黑体" panose="02010609060101010101" pitchFamily="49" charset="-122"/>
              </a:rPr>
              <a:t>FFFFH=</a:t>
            </a:r>
            <a:r>
              <a:rPr lang="zh-CN" altLang="en-US" sz="2400">
                <a:ea typeface="黑体" panose="02010609060101010101" pitchFamily="49" charset="-122"/>
              </a:rPr>
              <a:t>该</a:t>
            </a:r>
            <a:r>
              <a:rPr lang="zh-CN" altLang="en-US" sz="2400">
                <a:solidFill>
                  <a:srgbClr val="C00000"/>
                </a:solidFill>
                <a:ea typeface="黑体" panose="02010609060101010101" pitchFamily="49" charset="-122"/>
              </a:rPr>
              <a:t>段的结束地址</a:t>
            </a:r>
            <a:r>
              <a:rPr lang="zh-CN" altLang="en-US" sz="2400"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121860" name="图片 5" descr="LF_t2.5.png">
            <a:extLst>
              <a:ext uri="{FF2B5EF4-FFF2-40B4-BE49-F238E27FC236}">
                <a16:creationId xmlns:a16="http://schemas.microsoft.com/office/drawing/2014/main" id="{98629E73-16D2-4822-B82E-74D2214D5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917700"/>
            <a:ext cx="4779962" cy="37560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7B234FFA-4EC0-4A66-B24B-317B59FA6049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物理和逻辑地址</a:t>
            </a:r>
            <a:endParaRPr lang="zh-CN" altLang="en-US" sz="32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+mn-ea"/>
            </a:endParaRPr>
          </a:p>
        </p:txBody>
      </p:sp>
    </p:spTree>
  </p:cSld>
  <p:clrMapOvr>
    <a:masterClrMapping/>
  </p:clrMapOvr>
  <p:transition spd="slow">
    <p:pull dir="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内容占位符 2">
            <a:extLst>
              <a:ext uri="{FF2B5EF4-FFF2-40B4-BE49-F238E27FC236}">
                <a16:creationId xmlns:a16="http://schemas.microsoft.com/office/drawing/2014/main" id="{D2A1C70C-4903-4AF3-8519-A4B764C8C6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1028700"/>
            <a:ext cx="8372475" cy="5461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C00000"/>
                </a:solidFill>
                <a:ea typeface="宋体" panose="02010600030101010101" pitchFamily="2" charset="-122"/>
              </a:rPr>
              <a:t>例</a:t>
            </a:r>
            <a:r>
              <a:rPr lang="en-US" altLang="en-US" sz="3600">
                <a:solidFill>
                  <a:srgbClr val="C00000"/>
                </a:solidFill>
              </a:rPr>
              <a:t>2.4 </a:t>
            </a:r>
          </a:p>
          <a:p>
            <a:pPr algn="just" eaLnBrk="1" hangingPunct="1">
              <a:buClr>
                <a:srgbClr val="FF66FF"/>
              </a:buClr>
              <a:buFont typeface="Wingdings 3" panose="05040102010807070707" pitchFamily="18" charset="2"/>
              <a:buChar char=""/>
            </a:pPr>
            <a:r>
              <a:rPr lang="zh-CN" altLang="en-US">
                <a:ea typeface="宋体" panose="02010600030101010101" pitchFamily="2" charset="-122"/>
              </a:rPr>
              <a:t>设某个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段寄存器</a:t>
            </a:r>
            <a:r>
              <a:rPr lang="zh-CN" altLang="en-US">
                <a:ea typeface="宋体" panose="02010600030101010101" pitchFamily="2" charset="-122"/>
              </a:rPr>
              <a:t>的内容为</a:t>
            </a:r>
            <a:r>
              <a:rPr lang="en-US" altLang="en-US">
                <a:solidFill>
                  <a:srgbClr val="FF3300"/>
                </a:solidFill>
              </a:rPr>
              <a:t>3000H</a:t>
            </a:r>
            <a:r>
              <a:rPr lang="zh-CN" altLang="en-US">
                <a:ea typeface="宋体" panose="02010600030101010101" pitchFamily="2" charset="-122"/>
              </a:rPr>
              <a:t>，则该段的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起始地址和末地址</a:t>
            </a:r>
            <a:r>
              <a:rPr lang="zh-CN" altLang="en-US">
                <a:ea typeface="宋体" panose="02010600030101010101" pitchFamily="2" charset="-122"/>
              </a:rPr>
              <a:t>各是什么？如果偏移地址</a:t>
            </a:r>
            <a:r>
              <a:rPr lang="en-US" altLang="en-US">
                <a:solidFill>
                  <a:srgbClr val="FF3300"/>
                </a:solidFill>
              </a:rPr>
              <a:t>OFFSET = 500H</a:t>
            </a:r>
            <a:r>
              <a:rPr lang="zh-CN" altLang="en-US">
                <a:ea typeface="宋体" panose="02010600030101010101" pitchFamily="2" charset="-122"/>
              </a:rPr>
              <a:t>，则该单元的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物理地址</a:t>
            </a:r>
            <a:r>
              <a:rPr lang="zh-CN" altLang="en-US">
                <a:ea typeface="宋体" panose="02010600030101010101" pitchFamily="2" charset="-122"/>
              </a:rPr>
              <a:t>是多少？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4398"/>
                </a:solidFill>
                <a:ea typeface="宋体" panose="02010600030101010101" pitchFamily="2" charset="-122"/>
              </a:rPr>
              <a:t>根据物理地址的形成方法可知：</a:t>
            </a:r>
            <a:endParaRPr lang="en-US" altLang="zh-CN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4398"/>
                </a:solidFill>
                <a:ea typeface="宋体" panose="02010600030101010101" pitchFamily="2" charset="-122"/>
              </a:rPr>
              <a:t>段起始地址为</a:t>
            </a:r>
            <a:r>
              <a:rPr lang="en-US" altLang="en-US">
                <a:solidFill>
                  <a:srgbClr val="004398"/>
                </a:solidFill>
              </a:rPr>
              <a:t>3000H</a:t>
            </a:r>
            <a:r>
              <a:rPr lang="en-US" altLang="en-US">
                <a:solidFill>
                  <a:srgbClr val="004398"/>
                </a:solidFill>
                <a:sym typeface="Symbol" panose="05050102010706020507" pitchFamily="18" charset="2"/>
              </a:rPr>
              <a:t></a:t>
            </a:r>
            <a:r>
              <a:rPr lang="en-US" altLang="en-US">
                <a:solidFill>
                  <a:srgbClr val="004398"/>
                </a:solidFill>
              </a:rPr>
              <a:t>16=30000H</a:t>
            </a:r>
            <a:endParaRPr lang="en-US" altLang="zh-CN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4398"/>
                </a:solidFill>
                <a:ea typeface="宋体" panose="02010600030101010101" pitchFamily="2" charset="-122"/>
              </a:rPr>
              <a:t>段结束地址为</a:t>
            </a:r>
            <a:r>
              <a:rPr lang="en-US" altLang="en-US">
                <a:solidFill>
                  <a:srgbClr val="004398"/>
                </a:solidFill>
              </a:rPr>
              <a:t>3000H</a:t>
            </a:r>
            <a:r>
              <a:rPr lang="en-US" altLang="en-US">
                <a:solidFill>
                  <a:srgbClr val="004398"/>
                </a:solidFill>
                <a:sym typeface="Symbol" panose="05050102010706020507" pitchFamily="18" charset="2"/>
              </a:rPr>
              <a:t></a:t>
            </a:r>
            <a:r>
              <a:rPr lang="en-US" altLang="en-US">
                <a:solidFill>
                  <a:srgbClr val="004398"/>
                </a:solidFill>
              </a:rPr>
              <a:t>16+FFFFH=3FFFFH</a:t>
            </a:r>
            <a:endParaRPr lang="en-US" altLang="zh-CN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4398"/>
                </a:solidFill>
                <a:ea typeface="宋体" panose="02010600030101010101" pitchFamily="2" charset="-122"/>
              </a:rPr>
              <a:t>偏移地址</a:t>
            </a:r>
            <a:r>
              <a:rPr lang="en-US" altLang="en-US">
                <a:solidFill>
                  <a:srgbClr val="004398"/>
                </a:solidFill>
              </a:rPr>
              <a:t>OFFSET=500H</a:t>
            </a:r>
            <a:r>
              <a:rPr lang="zh-CN" altLang="en-US">
                <a:solidFill>
                  <a:srgbClr val="004398"/>
                </a:solidFill>
                <a:ea typeface="宋体" panose="02010600030101010101" pitchFamily="2" charset="-122"/>
              </a:rPr>
              <a:t>时，该单元的物理地址</a:t>
            </a:r>
            <a:r>
              <a:rPr lang="en-US" altLang="en-US">
                <a:solidFill>
                  <a:srgbClr val="004398"/>
                </a:solidFill>
              </a:rPr>
              <a:t>=3000H</a:t>
            </a:r>
            <a:r>
              <a:rPr lang="en-US" altLang="en-US">
                <a:solidFill>
                  <a:srgbClr val="004398"/>
                </a:solidFill>
                <a:sym typeface="Symbol" panose="05050102010706020507" pitchFamily="18" charset="2"/>
              </a:rPr>
              <a:t></a:t>
            </a:r>
            <a:r>
              <a:rPr lang="en-US" altLang="en-US">
                <a:solidFill>
                  <a:srgbClr val="004398"/>
                </a:solidFill>
              </a:rPr>
              <a:t>16+500H=30500H</a:t>
            </a:r>
            <a:endParaRPr lang="zh-CN" altLang="en-US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8E90F5F-2437-4F5D-8D54-BFE73DEC29D8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物理和逻辑地址</a:t>
            </a:r>
            <a:endParaRPr lang="zh-CN" altLang="en-US" sz="32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+mn-ea"/>
            </a:endParaRPr>
          </a:p>
        </p:txBody>
      </p:sp>
    </p:spTree>
  </p:cSld>
  <p:clrMapOvr>
    <a:masterClrMapping/>
  </p:clrMapOvr>
  <p:transition spd="slow">
    <p:pull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内容占位符 2">
            <a:extLst>
              <a:ext uri="{FF2B5EF4-FFF2-40B4-BE49-F238E27FC236}">
                <a16:creationId xmlns:a16="http://schemas.microsoft.com/office/drawing/2014/main" id="{DA672CA7-ED98-4955-A80C-D5ED9FA58A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3063" y="957263"/>
            <a:ext cx="8372475" cy="5772150"/>
          </a:xfrm>
        </p:spPr>
        <p:txBody>
          <a:bodyPr/>
          <a:lstStyle/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600">
                <a:ea typeface="宋体" panose="02010600030101010101" pitchFamily="2" charset="-122"/>
              </a:rPr>
              <a:t>一个物理地址可以由不同的逻辑地址来形成。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300">
                <a:solidFill>
                  <a:srgbClr val="C00000"/>
                </a:solidFill>
                <a:ea typeface="宋体" panose="02010600030101010101" pitchFamily="2" charset="-122"/>
              </a:rPr>
              <a:t>例</a:t>
            </a:r>
            <a:r>
              <a:rPr lang="en-US" altLang="en-US" sz="3300">
                <a:solidFill>
                  <a:srgbClr val="C00000"/>
                </a:solidFill>
              </a:rPr>
              <a:t>2.5 </a:t>
            </a:r>
          </a:p>
          <a:p>
            <a:pPr eaLnBrk="1" hangingPunct="1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600">
                <a:ea typeface="宋体" panose="02010600030101010101" pitchFamily="2" charset="-122"/>
              </a:rPr>
              <a:t>一个存储单元的物理地址为</a:t>
            </a:r>
            <a:r>
              <a:rPr lang="en-US" altLang="en-US" sz="2600"/>
              <a:t>12345H</a:t>
            </a:r>
            <a:r>
              <a:rPr lang="zh-CN" altLang="en-US" sz="2600">
                <a:ea typeface="宋体" panose="02010600030101010101" pitchFamily="2" charset="-122"/>
              </a:rPr>
              <a:t>，它可以由哪些逻辑地址形成</a:t>
            </a:r>
            <a:r>
              <a:rPr lang="en-US" altLang="zh-CN" sz="2600">
                <a:ea typeface="宋体" panose="02010600030101010101" pitchFamily="2" charset="-122"/>
              </a:rPr>
              <a:t>?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solidFill>
                  <a:srgbClr val="004398"/>
                </a:solidFill>
                <a:ea typeface="宋体" panose="02010600030101010101" pitchFamily="2" charset="-122"/>
              </a:rPr>
              <a:t>解答：</a:t>
            </a:r>
            <a:r>
              <a:rPr lang="en-US" altLang="en-US" sz="2600">
                <a:solidFill>
                  <a:srgbClr val="004398"/>
                </a:solidFill>
              </a:rPr>
              <a:t> 1200</a:t>
            </a:r>
            <a:r>
              <a:rPr lang="zh-CN" altLang="en-US" sz="2600">
                <a:solidFill>
                  <a:srgbClr val="004398"/>
                </a:solidFill>
                <a:ea typeface="宋体" panose="02010600030101010101" pitchFamily="2" charset="-122"/>
              </a:rPr>
              <a:t>：</a:t>
            </a:r>
            <a:r>
              <a:rPr lang="en-US" altLang="en-US" sz="2600">
                <a:solidFill>
                  <a:srgbClr val="004398"/>
                </a:solidFill>
              </a:rPr>
              <a:t>0345H     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4398"/>
                </a:solidFill>
              </a:rPr>
              <a:t>                     1234</a:t>
            </a:r>
            <a:r>
              <a:rPr lang="zh-CN" altLang="en-US" sz="2600">
                <a:solidFill>
                  <a:srgbClr val="004398"/>
                </a:solidFill>
                <a:ea typeface="宋体" panose="02010600030101010101" pitchFamily="2" charset="-122"/>
              </a:rPr>
              <a:t>：</a:t>
            </a:r>
            <a:r>
              <a:rPr lang="en-US" altLang="en-US" sz="2600">
                <a:solidFill>
                  <a:srgbClr val="004398"/>
                </a:solidFill>
              </a:rPr>
              <a:t>0005H</a:t>
            </a:r>
            <a:endParaRPr lang="zh-CN" altLang="en-US" sz="2600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4398"/>
                </a:solidFill>
              </a:rPr>
              <a:t>                     1232</a:t>
            </a:r>
            <a:r>
              <a:rPr lang="zh-CN" altLang="en-US" sz="2600">
                <a:solidFill>
                  <a:srgbClr val="004398"/>
                </a:solidFill>
                <a:ea typeface="宋体" panose="02010600030101010101" pitchFamily="2" charset="-122"/>
              </a:rPr>
              <a:t>：</a:t>
            </a:r>
            <a:r>
              <a:rPr lang="en-US" altLang="en-US" sz="2600">
                <a:solidFill>
                  <a:srgbClr val="004398"/>
                </a:solidFill>
              </a:rPr>
              <a:t>0025H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4398"/>
                </a:solidFill>
              </a:rPr>
              <a:t>                          …  </a:t>
            </a:r>
            <a:endParaRPr lang="zh-CN" altLang="en-US" sz="2600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>
                <a:ea typeface="华文中宋" panose="02010600040101010101" pitchFamily="2" charset="-122"/>
              </a:rPr>
              <a:t>       这说明从</a:t>
            </a:r>
            <a:r>
              <a:rPr lang="en-US" altLang="en-US" sz="2600">
                <a:ea typeface="华文中宋" panose="02010600040101010101" pitchFamily="2" charset="-122"/>
              </a:rPr>
              <a:t>12000H</a:t>
            </a:r>
            <a:r>
              <a:rPr lang="zh-CN" altLang="en-US" sz="2600">
                <a:ea typeface="华文中宋" panose="02010600040101010101" pitchFamily="2" charset="-122"/>
              </a:rPr>
              <a:t>单元偏移</a:t>
            </a:r>
            <a:r>
              <a:rPr lang="en-US" altLang="en-US" sz="2600">
                <a:ea typeface="华文中宋" panose="02010600040101010101" pitchFamily="2" charset="-122"/>
              </a:rPr>
              <a:t>345H</a:t>
            </a:r>
            <a:r>
              <a:rPr lang="zh-CN" altLang="en-US" sz="2600">
                <a:ea typeface="华文中宋" panose="02010600040101010101" pitchFamily="2" charset="-122"/>
              </a:rPr>
              <a:t>单元和从</a:t>
            </a:r>
            <a:r>
              <a:rPr lang="en-US" altLang="en-US" sz="2600">
                <a:ea typeface="华文中宋" panose="02010600040101010101" pitchFamily="2" charset="-122"/>
              </a:rPr>
              <a:t>12340H</a:t>
            </a:r>
            <a:r>
              <a:rPr lang="zh-CN" altLang="en-US" sz="2600">
                <a:ea typeface="华文中宋" panose="02010600040101010101" pitchFamily="2" charset="-122"/>
              </a:rPr>
              <a:t>偏移</a:t>
            </a:r>
            <a:r>
              <a:rPr lang="en-US" altLang="en-US" sz="2600">
                <a:ea typeface="华文中宋" panose="02010600040101010101" pitchFamily="2" charset="-122"/>
              </a:rPr>
              <a:t>5</a:t>
            </a:r>
            <a:r>
              <a:rPr lang="zh-CN" altLang="en-US" sz="2600">
                <a:ea typeface="华文中宋" panose="02010600040101010101" pitchFamily="2" charset="-122"/>
              </a:rPr>
              <a:t>个单元等，均指向同一个内存单元。</a:t>
            </a:r>
            <a:endParaRPr lang="zh-CN" altLang="en-US" sz="2600">
              <a:ea typeface="宋体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A950CAE9-E726-41BD-9748-8E4AAEE73B85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物理和逻辑地址</a:t>
            </a:r>
            <a:endParaRPr lang="zh-CN" altLang="en-US" sz="32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+mn-ea"/>
            </a:endParaRPr>
          </a:p>
        </p:txBody>
      </p:sp>
    </p:spTree>
  </p:cSld>
  <p:clrMapOvr>
    <a:masterClrMapping/>
  </p:clrMapOvr>
  <p:transition spd="slow">
    <p:pull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FCB47-CA72-4AD2-A179-71CC3F1F0CB8}"/>
              </a:ext>
            </a:extLst>
          </p:cNvPr>
          <p:cNvSpPr>
            <a:spLocks noGrp="1"/>
          </p:cNvSpPr>
          <p:nvPr>
            <p:ph type="title"/>
          </p:nvPr>
        </p:nvSpPr>
        <p:spPr>
          <a:extLst/>
        </p:spPr>
        <p:txBody>
          <a:bodyPr/>
          <a:lstStyle/>
          <a:p>
            <a:pPr algn="l" eaLnBrk="1" hangingPunct="1"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默认地址寄存器</a:t>
            </a:r>
          </a:p>
        </p:txBody>
      </p:sp>
      <p:sp>
        <p:nvSpPr>
          <p:cNvPr id="124931" name="内容占位符 2">
            <a:extLst>
              <a:ext uri="{FF2B5EF4-FFF2-40B4-BE49-F238E27FC236}">
                <a16:creationId xmlns:a16="http://schemas.microsoft.com/office/drawing/2014/main" id="{84D29CA3-9FF6-43FA-A4A8-4D28C461BE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1314450"/>
            <a:ext cx="8453437" cy="5175250"/>
          </a:xfrm>
        </p:spPr>
        <p:txBody>
          <a:bodyPr/>
          <a:lstStyle/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en-US" sz="3200"/>
              <a:t>2. </a:t>
            </a:r>
            <a:r>
              <a:rPr lang="zh-CN" altLang="en-US" sz="3200">
                <a:ea typeface="宋体" panose="02010600030101010101" pitchFamily="2" charset="-122"/>
              </a:rPr>
              <a:t>默认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段寄存器</a:t>
            </a:r>
            <a:r>
              <a:rPr lang="zh-CN" altLang="en-US" sz="3200">
                <a:ea typeface="宋体" panose="02010600030101010101" pitchFamily="2" charset="-122"/>
              </a:rPr>
              <a:t>和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偏移地址寄存器</a:t>
            </a:r>
          </a:p>
          <a:p>
            <a:pPr algn="just" eaLnBrk="1" hangingPunct="1">
              <a:spcBef>
                <a:spcPts val="18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>
                <a:solidFill>
                  <a:schemeClr val="tx2"/>
                </a:solidFill>
              </a:rPr>
              <a:t>CS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en-US">
                <a:solidFill>
                  <a:srgbClr val="FF66FF"/>
                </a:solidFill>
              </a:rPr>
              <a:t>IP</a:t>
            </a:r>
            <a:r>
              <a:rPr lang="zh-CN" altLang="en-US">
                <a:ea typeface="宋体" panose="02010600030101010101" pitchFamily="2" charset="-122"/>
              </a:rPr>
              <a:t>组合寻址下一条要执行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指令</a:t>
            </a:r>
            <a:r>
              <a:rPr lang="zh-CN" altLang="en-US">
                <a:ea typeface="宋体" panose="02010600030101010101" pitchFamily="2" charset="-122"/>
              </a:rPr>
              <a:t>的字节单元；</a:t>
            </a:r>
          </a:p>
          <a:p>
            <a:pPr algn="just" eaLnBrk="1" hangingPunct="1">
              <a:spcBef>
                <a:spcPts val="18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>
                <a:solidFill>
                  <a:schemeClr val="tx2"/>
                </a:solidFill>
              </a:rPr>
              <a:t>SS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en-US">
                <a:solidFill>
                  <a:srgbClr val="FF66FF"/>
                </a:solidFill>
              </a:rPr>
              <a:t>SP</a:t>
            </a:r>
            <a:r>
              <a:rPr lang="zh-CN" altLang="en-US">
                <a:solidFill>
                  <a:srgbClr val="FF66FF"/>
                </a:solidFill>
                <a:ea typeface="宋体" panose="02010600030101010101" pitchFamily="2" charset="-122"/>
              </a:rPr>
              <a:t>、</a:t>
            </a:r>
            <a:r>
              <a:rPr lang="en-US" altLang="en-US">
                <a:solidFill>
                  <a:srgbClr val="FF66FF"/>
                </a:solidFill>
              </a:rPr>
              <a:t>BP</a:t>
            </a:r>
            <a:r>
              <a:rPr lang="zh-CN" altLang="en-US">
                <a:ea typeface="宋体" panose="02010600030101010101" pitchFamily="2" charset="-122"/>
              </a:rPr>
              <a:t>组合寻址存储器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堆栈段</a:t>
            </a:r>
            <a:r>
              <a:rPr lang="zh-CN" altLang="en-US">
                <a:ea typeface="宋体" panose="02010600030101010101" pitchFamily="2" charset="-122"/>
              </a:rPr>
              <a:t>中的数据；</a:t>
            </a:r>
          </a:p>
          <a:p>
            <a:pPr algn="just" eaLnBrk="1" hangingPunct="1">
              <a:spcBef>
                <a:spcPts val="18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>
                <a:solidFill>
                  <a:schemeClr val="tx2"/>
                </a:solidFill>
              </a:rPr>
              <a:t>DS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en-US">
                <a:solidFill>
                  <a:srgbClr val="FF66FF"/>
                </a:solidFill>
              </a:rPr>
              <a:t>BX</a:t>
            </a:r>
            <a:r>
              <a:rPr lang="zh-CN" altLang="en-US">
                <a:solidFill>
                  <a:srgbClr val="FF66FF"/>
                </a:solidFill>
                <a:ea typeface="宋体" panose="02010600030101010101" pitchFamily="2" charset="-122"/>
              </a:rPr>
              <a:t>、</a:t>
            </a:r>
            <a:r>
              <a:rPr lang="en-US" altLang="en-US">
                <a:solidFill>
                  <a:srgbClr val="FF66FF"/>
                </a:solidFill>
              </a:rPr>
              <a:t>SI</a:t>
            </a:r>
            <a:r>
              <a:rPr lang="zh-CN" altLang="en-US">
                <a:solidFill>
                  <a:srgbClr val="FF66FF"/>
                </a:solidFill>
                <a:ea typeface="宋体" panose="02010600030101010101" pitchFamily="2" charset="-122"/>
              </a:rPr>
              <a:t>、</a:t>
            </a:r>
            <a:r>
              <a:rPr lang="en-US" altLang="en-US">
                <a:solidFill>
                  <a:srgbClr val="FF66FF"/>
                </a:solidFill>
              </a:rPr>
              <a:t>DI</a:t>
            </a:r>
            <a:r>
              <a:rPr lang="zh-CN" altLang="en-US">
                <a:ea typeface="宋体" panose="02010600030101010101" pitchFamily="2" charset="-122"/>
              </a:rPr>
              <a:t>组合寻址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数据段</a:t>
            </a:r>
            <a:r>
              <a:rPr lang="zh-CN" altLang="en-US">
                <a:ea typeface="宋体" panose="02010600030101010101" pitchFamily="2" charset="-122"/>
              </a:rPr>
              <a:t>中的</a:t>
            </a:r>
            <a:r>
              <a:rPr lang="en-US" altLang="en-US"/>
              <a:t>8</a:t>
            </a:r>
            <a:r>
              <a:rPr lang="zh-CN" altLang="en-US">
                <a:ea typeface="宋体" panose="02010600030101010101" pitchFamily="2" charset="-122"/>
              </a:rPr>
              <a:t>位或</a:t>
            </a:r>
            <a:r>
              <a:rPr lang="en-US" altLang="en-US"/>
              <a:t>16</a:t>
            </a:r>
            <a:r>
              <a:rPr lang="zh-CN" altLang="en-US">
                <a:ea typeface="宋体" panose="02010600030101010101" pitchFamily="2" charset="-122"/>
              </a:rPr>
              <a:t>位数据；</a:t>
            </a:r>
          </a:p>
          <a:p>
            <a:pPr algn="just" eaLnBrk="1" hangingPunct="1">
              <a:spcBef>
                <a:spcPts val="18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>
                <a:solidFill>
                  <a:schemeClr val="tx2"/>
                </a:solidFill>
              </a:rPr>
              <a:t>ES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en-US">
                <a:solidFill>
                  <a:srgbClr val="FF66FF"/>
                </a:solidFill>
              </a:rPr>
              <a:t>DI</a:t>
            </a:r>
            <a:r>
              <a:rPr lang="zh-CN" altLang="en-US">
                <a:ea typeface="宋体" panose="02010600030101010101" pitchFamily="2" charset="-122"/>
              </a:rPr>
              <a:t>组合寻址目的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串地址</a:t>
            </a:r>
            <a:r>
              <a:rPr lang="zh-CN" altLang="en-US">
                <a:ea typeface="宋体" panose="02010600030101010101" pitchFamily="2" charset="-122"/>
              </a:rPr>
              <a:t>。</a:t>
            </a:r>
          </a:p>
          <a:p>
            <a:pPr eaLnBrk="1" hangingPunct="1">
              <a:spcBef>
                <a:spcPts val="180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84A27A4-64F9-4BB2-931E-45E4D00EC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5227638"/>
            <a:ext cx="6654800" cy="771623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FF3300"/>
                </a:solidFill>
                <a:latin typeface="Garamond" panose="02020404030301010803" pitchFamily="18" charset="0"/>
              </a:rPr>
              <a:t>tip</a:t>
            </a:r>
            <a:r>
              <a:rPr lang="zh-CN" altLang="en-US" sz="2200" dirty="0">
                <a:solidFill>
                  <a:srgbClr val="FF3300"/>
                </a:solidFill>
                <a:latin typeface="Garamond" panose="02020404030301010803" pitchFamily="18" charset="0"/>
              </a:rPr>
              <a:t>：</a:t>
            </a:r>
            <a:r>
              <a:rPr lang="zh-CN" altLang="en-US" sz="2200" dirty="0">
                <a:solidFill>
                  <a:srgbClr val="3333FF"/>
                </a:solidFill>
                <a:latin typeface="Garamond" panose="02020404030301010803" pitchFamily="18" charset="0"/>
              </a:rPr>
              <a:t>在后面</a:t>
            </a:r>
            <a:r>
              <a:rPr lang="zh-CN" altLang="en-US" sz="2200" dirty="0">
                <a:solidFill>
                  <a:srgbClr val="FF0000"/>
                </a:solidFill>
                <a:latin typeface="Garamond" panose="02020404030301010803" pitchFamily="18" charset="0"/>
              </a:rPr>
              <a:t>第</a:t>
            </a:r>
            <a:r>
              <a:rPr lang="en-US" altLang="zh-CN" sz="2200" dirty="0">
                <a:solidFill>
                  <a:srgbClr val="FF0000"/>
                </a:solidFill>
                <a:latin typeface="Garamond" panose="02020404030301010803" pitchFamily="18" charset="0"/>
              </a:rPr>
              <a:t>3</a:t>
            </a:r>
            <a:r>
              <a:rPr lang="zh-CN" altLang="en-US" sz="2200" dirty="0">
                <a:solidFill>
                  <a:srgbClr val="FF0000"/>
                </a:solidFill>
                <a:latin typeface="Garamond" panose="02020404030301010803" pitchFamily="18" charset="0"/>
              </a:rPr>
              <a:t>章</a:t>
            </a:r>
            <a:r>
              <a:rPr lang="zh-CN" altLang="en-US" sz="2200" dirty="0">
                <a:solidFill>
                  <a:srgbClr val="3333FF"/>
                </a:solidFill>
                <a:latin typeface="Garamond" panose="02020404030301010803" pitchFamily="18" charset="0"/>
              </a:rPr>
              <a:t>所讲的寻址方式的时候会具体说怎么用</a:t>
            </a: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内容占位符 2">
            <a:extLst>
              <a:ext uri="{FF2B5EF4-FFF2-40B4-BE49-F238E27FC236}">
                <a16:creationId xmlns:a16="http://schemas.microsoft.com/office/drawing/2014/main" id="{8D91D094-96DC-4095-9E3D-D509EF94C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3200"/>
              <a:t>3. 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堆栈</a:t>
            </a:r>
            <a:r>
              <a:rPr lang="zh-CN" altLang="en-US" sz="3200">
                <a:ea typeface="宋体" panose="02010600030101010101" pitchFamily="2" charset="-122"/>
              </a:rPr>
              <a:t>的设置和操作</a:t>
            </a:r>
          </a:p>
          <a:p>
            <a:pPr eaLnBrk="1" hangingPunct="1">
              <a:lnSpc>
                <a:spcPct val="90000"/>
              </a:lnSpc>
              <a:buClr>
                <a:srgbClr val="FF66FF"/>
              </a:buClr>
              <a:defRPr/>
            </a:pPr>
            <a:r>
              <a:rPr lang="zh-CN" altLang="en-US">
                <a:ea typeface="宋体" panose="02010600030101010101" pitchFamily="2" charset="-122"/>
              </a:rPr>
              <a:t>什么是堆栈？</a:t>
            </a: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ea typeface="宋体" panose="02010600030101010101" pitchFamily="2" charset="-122"/>
              </a:rPr>
              <a:t>堆栈是在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内存中</a:t>
            </a:r>
            <a:r>
              <a:rPr lang="zh-CN" altLang="en-US">
                <a:ea typeface="宋体" panose="02010600030101010101" pitchFamily="2" charset="-122"/>
              </a:rPr>
              <a:t>开辟的一个特定数据区域</a:t>
            </a: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ea typeface="宋体" panose="02010600030101010101" pitchFamily="2" charset="-122"/>
              </a:rPr>
              <a:t>堆栈是一个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先进后出</a:t>
            </a:r>
            <a:r>
              <a:rPr lang="zh-CN" altLang="en-US">
                <a:ea typeface="宋体" panose="02010600030101010101" pitchFamily="2" charset="-122"/>
              </a:rPr>
              <a:t>的数据结构</a:t>
            </a:r>
            <a:endParaRPr lang="en-US" altLang="zh-CN">
              <a:ea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ea typeface="宋体" panose="02010600030101010101" pitchFamily="2" charset="-122"/>
              </a:rPr>
              <a:t>堆栈存放需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暂时保存的数据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如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调用子程序时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的返回地址、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中断处理时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的断点及现场信息</a:t>
            </a:r>
            <a:r>
              <a:rPr lang="zh-CN" altLang="en-US">
                <a:ea typeface="宋体" panose="02010600030101010101" pitchFamily="2" charset="-122"/>
              </a:rPr>
              <a:t>等。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/>
              <a:t> </a:t>
            </a: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Clr>
                <a:srgbClr val="FF66FF"/>
              </a:buClr>
              <a:defRPr/>
            </a:pPr>
            <a:r>
              <a:rPr lang="zh-CN" altLang="en-US">
                <a:ea typeface="宋体" panose="02010600030101010101" pitchFamily="2" charset="-122"/>
              </a:rPr>
              <a:t>如何设置堆栈？</a:t>
            </a: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ea typeface="宋体" panose="02010600030101010101" pitchFamily="2" charset="-122"/>
              </a:rPr>
              <a:t>堆栈位置和长度由</a:t>
            </a:r>
            <a:r>
              <a:rPr lang="en-US" altLang="en-US">
                <a:solidFill>
                  <a:schemeClr val="tx2"/>
                </a:solidFill>
              </a:rPr>
              <a:t>SS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en-US">
                <a:solidFill>
                  <a:srgbClr val="FF66FF"/>
                </a:solidFill>
              </a:rPr>
              <a:t>SP</a:t>
            </a:r>
            <a:r>
              <a:rPr lang="zh-CN" altLang="en-US">
                <a:ea typeface="宋体" panose="02010600030101010101" pitchFamily="2" charset="-122"/>
              </a:rPr>
              <a:t>来设定</a:t>
            </a:r>
            <a:endParaRPr lang="en-US" altLang="zh-CN">
              <a:ea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ea typeface="宋体" panose="02010600030101010101" pitchFamily="2" charset="-122"/>
              </a:rPr>
              <a:t>可设置的堆栈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最大容量为</a:t>
            </a:r>
            <a:r>
              <a:rPr lang="en-US" altLang="en-US">
                <a:solidFill>
                  <a:srgbClr val="C00000"/>
                </a:solidFill>
              </a:rPr>
              <a:t>64KB</a:t>
            </a:r>
          </a:p>
          <a:p>
            <a:pPr eaLnBrk="1" hangingPunct="1">
              <a:lnSpc>
                <a:spcPct val="90000"/>
              </a:lnSpc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C29DB3C-E606-4966-9776-EAFD6EDA0FB3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堆栈</a:t>
            </a:r>
          </a:p>
        </p:txBody>
      </p:sp>
      <p:sp>
        <p:nvSpPr>
          <p:cNvPr id="2" name="流程图: 过程 1">
            <a:extLst>
              <a:ext uri="{FF2B5EF4-FFF2-40B4-BE49-F238E27FC236}">
                <a16:creationId xmlns:a16="http://schemas.microsoft.com/office/drawing/2014/main" id="{547D1A4C-3758-4F6B-AA0C-7B6EC96A6AD9}"/>
              </a:ext>
            </a:extLst>
          </p:cNvPr>
          <p:cNvSpPr/>
          <p:nvPr/>
        </p:nvSpPr>
        <p:spPr>
          <a:xfrm>
            <a:off x="838200" y="3143250"/>
            <a:ext cx="7848600" cy="793750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7DF0193-9E67-4FBC-BCEC-EF1BAE9060DE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堆栈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D4042CA8-F460-464E-9D08-A9C0D2859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" y="1055688"/>
            <a:ext cx="7727950" cy="769937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rgbClr val="FF3300"/>
                </a:solidFill>
                <a:latin typeface="Garamond" panose="02020404030301010803" pitchFamily="18" charset="0"/>
              </a:rPr>
              <a:t>这里插播一个小广告</a:t>
            </a:r>
            <a:r>
              <a:rPr lang="en-US" altLang="zh-CN" sz="2200">
                <a:solidFill>
                  <a:srgbClr val="FF3300"/>
                </a:solidFill>
                <a:latin typeface="Garamond" panose="02020404030301010803" pitchFamily="18" charset="0"/>
              </a:rPr>
              <a:t>:  </a:t>
            </a:r>
            <a:r>
              <a:rPr lang="zh-CN" altLang="en-US" sz="2200">
                <a:solidFill>
                  <a:srgbClr val="0070C0"/>
                </a:solidFill>
                <a:latin typeface="Garamond" panose="02020404030301010803" pitchFamily="18" charset="0"/>
              </a:rPr>
              <a:t>表示存储器内容的超级杀器！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rgbClr val="0070C0"/>
                </a:solidFill>
                <a:latin typeface="Garamond" panose="02020404030301010803" pitchFamily="18" charset="0"/>
              </a:rPr>
              <a:t>			</a:t>
            </a:r>
            <a:r>
              <a:rPr lang="zh-CN" altLang="en-US" sz="2200">
                <a:solidFill>
                  <a:srgbClr val="0070C0"/>
                </a:solidFill>
                <a:latin typeface="Garamond" panose="02020404030301010803" pitchFamily="18" charset="0"/>
              </a:rPr>
              <a:t>秒杀全课程。。。</a:t>
            </a:r>
            <a:endParaRPr lang="en-US" altLang="zh-CN" sz="2200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CF057F9-0DA2-4BD2-A719-5298BB06E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575" y="1824990"/>
            <a:ext cx="8229600" cy="3614420"/>
          </a:xfrm>
          <a:extLst/>
        </p:spPr>
        <p:txBody>
          <a:bodyPr/>
          <a:lstStyle/>
          <a:p>
            <a:pPr eaLnBrk="1" hangingPunct="1">
              <a:defRPr/>
            </a:pPr>
            <a:r>
              <a:rPr lang="zh-CN" altLang="en-US" sz="2400" noProof="1"/>
              <a:t>我们表示存储器里面的数据时，遵循的原则是：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/>
              <a:t>1</a:t>
            </a:r>
            <a:r>
              <a:rPr lang="zh-CN" altLang="en-US" sz="2400" noProof="1">
                <a:ea typeface="宋体" panose="02010600030101010101" pitchFamily="2" charset="-122"/>
              </a:rPr>
              <a:t>）每一单元代表</a:t>
            </a:r>
            <a:r>
              <a:rPr lang="en-US" altLang="zh-CN" sz="2400" noProof="1">
                <a:solidFill>
                  <a:srgbClr val="C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个</a:t>
            </a:r>
            <a:r>
              <a:rPr lang="en-US" altLang="zh-CN" sz="2400" noProof="1">
                <a:solidFill>
                  <a:srgbClr val="C00000"/>
                </a:solidFill>
                <a:ea typeface="宋体" panose="02010600030101010101" pitchFamily="2" charset="-122"/>
              </a:rPr>
              <a:t>BYTE</a:t>
            </a:r>
            <a:r>
              <a:rPr lang="en-US" altLang="zh-CN" sz="2400" noProof="1">
                <a:ea typeface="宋体" panose="02010600030101010101" pitchFamily="2" charset="-122"/>
              </a:rPr>
              <a:t>;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ea typeface="宋体" panose="02010600030101010101" pitchFamily="2" charset="-122"/>
              </a:rPr>
              <a:t>2</a:t>
            </a:r>
            <a:r>
              <a:rPr lang="zh-CN" altLang="en-US" sz="2400" noProof="1">
                <a:ea typeface="宋体" panose="02010600030101010101" pitchFamily="2" charset="-122"/>
              </a:rPr>
              <a:t>）</a:t>
            </a:r>
            <a:r>
              <a:rPr lang="zh-CN" alt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从上往下，地址由低到高</a:t>
            </a:r>
            <a:r>
              <a:rPr lang="zh-CN" altLang="en-US" sz="2400" noProof="1">
                <a:ea typeface="宋体" panose="02010600030101010101" pitchFamily="2" charset="-122"/>
              </a:rPr>
              <a:t>；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ea typeface="宋体" panose="02010600030101010101" pitchFamily="2" charset="-122"/>
              </a:rPr>
              <a:t>3</a:t>
            </a:r>
            <a:r>
              <a:rPr lang="zh-CN" altLang="en-US" sz="2400" noProof="1">
                <a:ea typeface="宋体" panose="02010600030101010101" pitchFamily="2" charset="-122"/>
              </a:rPr>
              <a:t>）对于一个字（</a:t>
            </a:r>
            <a:r>
              <a:rPr lang="en-US" altLang="zh-CN" sz="2400" noProof="1">
                <a:ea typeface="宋体" panose="02010600030101010101" pitchFamily="2" charset="-122"/>
              </a:rPr>
              <a:t>WORD</a:t>
            </a:r>
            <a:r>
              <a:rPr lang="zh-CN" altLang="en-US" sz="2400" noProof="1">
                <a:ea typeface="宋体" panose="02010600030101010101" pitchFamily="2" charset="-122"/>
              </a:rPr>
              <a:t>）的数据，</a:t>
            </a:r>
            <a:r>
              <a:rPr lang="zh-CN" alt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低字节保存在低地址，高字节保存在高地址</a:t>
            </a:r>
            <a:r>
              <a:rPr lang="zh-CN" altLang="en-US" sz="2400" noProof="1">
                <a:ea typeface="宋体" panose="02010600030101010101" pitchFamily="2" charset="-122"/>
              </a:rPr>
              <a:t>。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例如：</a:t>
            </a:r>
            <a:r>
              <a:rPr lang="en-US" altLang="zh-CN" sz="2400" noProof="1">
                <a:ea typeface="宋体" panose="02010600030101010101" pitchFamily="2" charset="-122"/>
              </a:rPr>
              <a:t>AX=5678H</a:t>
            </a:r>
            <a:r>
              <a:rPr lang="zh-CN" altLang="en-US" sz="2400" noProof="1">
                <a:ea typeface="宋体" panose="02010600030101010101" pitchFamily="2" charset="-122"/>
              </a:rPr>
              <a:t>，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   执行</a:t>
            </a:r>
            <a:r>
              <a:rPr lang="en-US" altLang="zh-CN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B05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ea typeface="宋体" panose="02010600030101010101" pitchFamily="2" charset="-122"/>
              </a:rPr>
              <a:t>MOV [100H],AX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   存储器内容如图：</a:t>
            </a:r>
          </a:p>
        </p:txBody>
      </p:sp>
      <p:graphicFrame>
        <p:nvGraphicFramePr>
          <p:cNvPr id="126981" name="对象 7">
            <a:extLst>
              <a:ext uri="{FF2B5EF4-FFF2-40B4-BE49-F238E27FC236}">
                <a16:creationId xmlns:a16="http://schemas.microsoft.com/office/drawing/2014/main" id="{C4699E3B-E399-4075-A1BE-4C089D4E85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3060040"/>
              </p:ext>
            </p:extLst>
          </p:nvPr>
        </p:nvGraphicFramePr>
        <p:xfrm>
          <a:off x="4368800" y="3665560"/>
          <a:ext cx="4397375" cy="278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05" r:id="rId3" imgW="2765520" imgH="1815120" progId="Visio.Drawing.11">
                  <p:embed/>
                </p:oleObj>
              </mc:Choice>
              <mc:Fallback>
                <p:oleObj r:id="rId3" imgW="2765520" imgH="1815120" progId="Visio.Drawing.11">
                  <p:embed/>
                  <p:pic>
                    <p:nvPicPr>
                      <p:cNvPr id="0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800" y="3665560"/>
                        <a:ext cx="4397375" cy="2787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44450" cap="rnd">
                        <a:solidFill>
                          <a:srgbClr val="92D050"/>
                        </a:solidFill>
                        <a:round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bldLvl="0" animBg="1"/>
      <p:bldP spid="2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608D0-94E1-4718-8296-A70E90FA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63" y="850900"/>
            <a:ext cx="8372475" cy="2266950"/>
          </a:xfrm>
        </p:spPr>
        <p:txBody>
          <a:bodyPr/>
          <a:lstStyle/>
          <a:p>
            <a:pPr eaLnBrk="1" hangingPunct="1">
              <a:buClr>
                <a:srgbClr val="FF66FF"/>
              </a:buClr>
              <a:defRPr/>
            </a:pPr>
            <a:r>
              <a:rPr lang="zh-CN" altLang="en-US" sz="2700">
                <a:ea typeface="宋体" panose="02010600030101010101" pitchFamily="2" charset="-122"/>
              </a:rPr>
              <a:t>堆栈设置和操作举例</a:t>
            </a:r>
          </a:p>
          <a:p>
            <a:pPr eaLnBrk="1" hangingPunct="1">
              <a:buClr>
                <a:srgbClr val="00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700">
                <a:ea typeface="宋体" panose="02010600030101010101" pitchFamily="2" charset="-122"/>
              </a:rPr>
              <a:t>a</a:t>
            </a:r>
            <a:r>
              <a:rPr lang="zh-CN" altLang="en-US" sz="2700">
                <a:ea typeface="宋体" panose="02010600030101010101" pitchFamily="2" charset="-122"/>
              </a:rPr>
              <a:t>）</a:t>
            </a:r>
            <a:r>
              <a:rPr lang="zh-CN" altLang="en-US" sz="27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设置（初始化）堆栈</a:t>
            </a:r>
            <a:r>
              <a:rPr lang="zh-CN" altLang="en-US" sz="2700">
                <a:ea typeface="宋体" panose="02010600030101010101" pitchFamily="2" charset="-122"/>
              </a:rPr>
              <a:t>，</a:t>
            </a:r>
            <a:r>
              <a:rPr lang="zh-CN" altLang="en-US" sz="2700">
                <a:ea typeface="华文中宋" panose="02010600040101010101" pitchFamily="2" charset="-122"/>
              </a:rPr>
              <a:t>见图</a:t>
            </a:r>
            <a:r>
              <a:rPr lang="en-US" altLang="zh-CN" sz="2700">
                <a:ea typeface="华文中宋" panose="02010600040101010101" pitchFamily="2" charset="-122"/>
              </a:rPr>
              <a:t>(a)</a:t>
            </a:r>
            <a:endParaRPr lang="en-US" altLang="zh-CN" sz="270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700">
                <a:ea typeface="宋体" panose="02010600030101010101" pitchFamily="2" charset="-122"/>
              </a:rPr>
              <a:t>      </a:t>
            </a:r>
            <a:r>
              <a:rPr lang="zh-CN" altLang="en-US" sz="2700">
                <a:ea typeface="华文中宋" panose="02010600040101010101" pitchFamily="2" charset="-122"/>
              </a:rPr>
              <a:t>令</a:t>
            </a:r>
            <a:r>
              <a:rPr lang="en-US" altLang="en-US" sz="2700">
                <a:ea typeface="华文中宋" panose="02010600040101010101" pitchFamily="2" charset="-122"/>
              </a:rPr>
              <a:t>SS=2000H</a:t>
            </a:r>
            <a:r>
              <a:rPr lang="zh-CN" altLang="en-US" sz="2700">
                <a:ea typeface="华文中宋" panose="02010600040101010101" pitchFamily="2" charset="-122"/>
              </a:rPr>
              <a:t>，</a:t>
            </a:r>
            <a:r>
              <a:rPr lang="en-US" altLang="en-US" sz="2700">
                <a:ea typeface="华文中宋" panose="02010600040101010101" pitchFamily="2" charset="-122"/>
              </a:rPr>
              <a:t>SP=1300H</a:t>
            </a:r>
            <a:r>
              <a:rPr lang="zh-CN" altLang="en-US" sz="2700">
                <a:ea typeface="华文中宋" panose="02010600040101010101" pitchFamily="2" charset="-122"/>
              </a:rPr>
              <a:t>。堆栈范围为</a:t>
            </a:r>
            <a:r>
              <a:rPr lang="en-US" altLang="en-US" sz="2700">
                <a:ea typeface="华文中宋" panose="02010600040101010101" pitchFamily="2" charset="-122"/>
              </a:rPr>
              <a:t>2000: </a:t>
            </a:r>
            <a:r>
              <a:rPr lang="en-US" altLang="en-US" sz="2700">
                <a:solidFill>
                  <a:srgbClr val="C00000"/>
                </a:solidFill>
                <a:ea typeface="华文中宋" panose="02010600040101010101" pitchFamily="2" charset="-122"/>
              </a:rPr>
              <a:t>0000H </a:t>
            </a:r>
            <a:r>
              <a:rPr lang="en-US" altLang="en-US" sz="2700">
                <a:ea typeface="华文中宋" panose="02010600040101010101" pitchFamily="2" charset="-122"/>
                <a:sym typeface="Symbol" panose="05050102010706020507" pitchFamily="18" charset="2"/>
              </a:rPr>
              <a:t> </a:t>
            </a:r>
            <a:r>
              <a:rPr lang="en-US" altLang="en-US" sz="2700">
                <a:ea typeface="华文中宋" panose="02010600040101010101" pitchFamily="2" charset="-122"/>
              </a:rPr>
              <a:t>2000:</a:t>
            </a:r>
            <a:r>
              <a:rPr lang="zh-CN" altLang="en-US" sz="2700">
                <a:solidFill>
                  <a:srgbClr val="C00000"/>
                </a:solidFill>
                <a:ea typeface="华文中宋" panose="02010600040101010101" pitchFamily="2" charset="-122"/>
              </a:rPr>
              <a:t>（</a:t>
            </a:r>
            <a:r>
              <a:rPr lang="en-US" altLang="en-US" sz="2700">
                <a:solidFill>
                  <a:srgbClr val="C00000"/>
                </a:solidFill>
                <a:ea typeface="华文中宋" panose="02010600040101010101" pitchFamily="2" charset="-122"/>
              </a:rPr>
              <a:t>1300H-1</a:t>
            </a:r>
            <a:r>
              <a:rPr lang="zh-CN" altLang="en-US" sz="2700">
                <a:solidFill>
                  <a:srgbClr val="C00000"/>
                </a:solidFill>
                <a:ea typeface="华文中宋" panose="0201060004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  <a:defRPr/>
            </a:pPr>
            <a:r>
              <a:rPr lang="en-US" altLang="en-US" sz="2700">
                <a:ea typeface="华文中宋" panose="02010600040101010101" pitchFamily="2" charset="-122"/>
              </a:rPr>
              <a:t>      SS=</a:t>
            </a:r>
            <a:r>
              <a:rPr lang="zh-CN" altLang="en-US" sz="2700">
                <a:ea typeface="华文中宋" panose="02010600040101010101" pitchFamily="2" charset="-122"/>
              </a:rPr>
              <a:t>堆栈的段基址</a:t>
            </a:r>
            <a:r>
              <a:rPr lang="en-US" altLang="en-US" sz="2700">
                <a:ea typeface="华文中宋" panose="02010600040101010101" pitchFamily="2" charset="-122"/>
              </a:rPr>
              <a:t>2000H</a:t>
            </a:r>
            <a:r>
              <a:rPr lang="zh-CN" altLang="en-US" sz="2700">
                <a:ea typeface="华文中宋" panose="02010600040101010101" pitchFamily="2" charset="-122"/>
              </a:rPr>
              <a:t>，</a:t>
            </a:r>
            <a:r>
              <a:rPr lang="en-US" altLang="en-US" sz="2700">
                <a:solidFill>
                  <a:srgbClr val="C00000"/>
                </a:solidFill>
                <a:ea typeface="华文中宋" panose="02010600040101010101" pitchFamily="2" charset="-122"/>
              </a:rPr>
              <a:t>SP=</a:t>
            </a:r>
            <a:r>
              <a:rPr lang="zh-CN" altLang="en-US" sz="2700">
                <a:solidFill>
                  <a:srgbClr val="C00000"/>
                </a:solidFill>
                <a:ea typeface="华文中宋" panose="02010600040101010101" pitchFamily="2" charset="-122"/>
              </a:rPr>
              <a:t>栈顶地址</a:t>
            </a:r>
            <a:endParaRPr lang="zh-CN" altLang="en-US" sz="2700">
              <a:ea typeface="宋体" panose="02010600030101010101" pitchFamily="2" charset="-122"/>
            </a:endParaRPr>
          </a:p>
        </p:txBody>
      </p:sp>
      <p:pic>
        <p:nvPicPr>
          <p:cNvPr id="128003" name="图片 4" descr="LF_t2.6-m.PNG">
            <a:extLst>
              <a:ext uri="{FF2B5EF4-FFF2-40B4-BE49-F238E27FC236}">
                <a16:creationId xmlns:a16="http://schemas.microsoft.com/office/drawing/2014/main" id="{E3E8A681-0F46-49A1-8915-185B261CF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818181"/>
              </a:clrFrom>
              <a:clrTo>
                <a:srgbClr val="81818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17850"/>
            <a:ext cx="9144000" cy="3001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A8DCE3E1-CE6E-474B-BC11-C18B9A18E6CA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堆栈</a:t>
            </a:r>
          </a:p>
        </p:txBody>
      </p:sp>
    </p:spTree>
  </p:cSld>
  <p:clrMapOvr>
    <a:masterClrMapping/>
  </p:clrMapOvr>
  <p:transition spd="slow">
    <p:wipe dir="u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BAD8E0-065A-4FD8-8179-30DBF80D2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927735"/>
            <a:ext cx="8372475" cy="1990725"/>
          </a:xfrm>
          <a:extLst/>
        </p:spPr>
        <p:txBody>
          <a:bodyPr>
            <a:normAutofit fontScale="97500" lnSpcReduction="10000"/>
          </a:bodyPr>
          <a:lstStyle/>
          <a:p>
            <a:pPr marL="0" indent="0" eaLnBrk="1" hangingPunct="1">
              <a:buClr>
                <a:srgbClr val="FF66FF"/>
              </a:buClr>
              <a:buFont typeface="Wingdings" panose="05000000000000000000" pitchFamily="2" charset="2"/>
              <a:buNone/>
              <a:defRPr/>
            </a:pPr>
            <a:r>
              <a:rPr lang="en-US" altLang="zh-CN" noProof="1">
                <a:sym typeface="+mn-ea"/>
              </a:rPr>
              <a:t>b</a:t>
            </a:r>
            <a:r>
              <a:rPr lang="zh-CN" altLang="en-US" noProof="1">
                <a:sym typeface="+mn-ea"/>
              </a:rPr>
              <a:t>）</a:t>
            </a:r>
            <a:r>
              <a:rPr lang="zh-CN" altLang="en-US" noProof="1">
                <a:solidFill>
                  <a:srgbClr val="FF3300"/>
                </a:solidFill>
                <a:sym typeface="+mn-ea"/>
              </a:rPr>
              <a:t>压栈操作</a:t>
            </a:r>
            <a:r>
              <a:rPr lang="zh-CN" altLang="en-US" noProof="1">
                <a:ea typeface="华文中宋" panose="02010600040101010101" pitchFamily="2" charset="-122"/>
                <a:sym typeface="+mn-ea"/>
              </a:rPr>
              <a:t>，图</a:t>
            </a:r>
            <a:r>
              <a:rPr lang="en-US" altLang="zh-CN" noProof="1">
                <a:ea typeface="华文中宋" panose="02010600040101010101" pitchFamily="2" charset="-122"/>
                <a:sym typeface="+mn-ea"/>
              </a:rPr>
              <a:t>(b)</a:t>
            </a:r>
          </a:p>
          <a:p>
            <a:pPr marL="0" indent="0" eaLnBrk="1" hangingPunct="1">
              <a:buClr>
                <a:srgbClr val="FF66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     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设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AX=1234H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，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BX=5678H</a:t>
            </a:r>
          </a:p>
          <a:p>
            <a:pPr marL="0" indent="0" eaLnBrk="1" hangingPunct="1">
              <a:buClr>
                <a:srgbClr val="FF66FF"/>
              </a:buClr>
              <a:buFont typeface="Wingdings" panose="05000000000000000000" pitchFamily="2" charset="2"/>
              <a:buNone/>
              <a:defRPr/>
            </a:pPr>
            <a:r>
              <a:rPr lang="en-US" sz="2400" noProof="1">
                <a:ea typeface="华文中宋" panose="02010600040101010101" pitchFamily="2" charset="-122"/>
                <a:sym typeface="+mn-ea"/>
              </a:rPr>
              <a:t>     *</a:t>
            </a:r>
            <a:r>
              <a:rPr lang="en-US" altLang="zh-CN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PUSH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操作将</a:t>
            </a:r>
            <a:r>
              <a:rPr lang="en-US" altLang="zh-CN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1</a:t>
            </a:r>
            <a:r>
              <a:rPr lang="zh-CN" altLang="en-US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个字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压入栈，并使</a:t>
            </a:r>
            <a:r>
              <a:rPr lang="en-US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SP</a:t>
            </a:r>
            <a:r>
              <a:rPr lang="zh-CN" altLang="en-US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←</a:t>
            </a:r>
            <a:r>
              <a:rPr lang="en-US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SP-2</a:t>
            </a:r>
            <a:r>
              <a:rPr lang="zh-CN" altLang="en-US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；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      </a:t>
            </a:r>
            <a:endParaRPr lang="en-US" altLang="zh-CN" sz="2400" noProof="1">
              <a:ea typeface="华文中宋" panose="02010600040101010101" pitchFamily="2" charset="-122"/>
            </a:endParaRPr>
          </a:p>
          <a:p>
            <a:pPr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       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先后执行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华文中宋" panose="02010600040101010101" pitchFamily="2" charset="-122"/>
                <a:sym typeface="+mn-ea"/>
              </a:rPr>
              <a:t>PUSH  AX</a:t>
            </a:r>
            <a:r>
              <a:rPr lang="zh-CN" alt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中宋" panose="02010600040101010101" pitchFamily="2" charset="-122"/>
                <a:sym typeface="+mn-ea"/>
              </a:rPr>
              <a:t>和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华文中宋" panose="02010600040101010101" pitchFamily="2" charset="-122"/>
                <a:sym typeface="+mn-ea"/>
              </a:rPr>
              <a:t>PUSH  BX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指令，结果如图（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b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）</a:t>
            </a:r>
            <a:endParaRPr lang="en-US" altLang="zh-CN" sz="2400" noProof="1">
              <a:ea typeface="华文中宋" panose="02010600040101010101" pitchFamily="2" charset="-122"/>
            </a:endParaRPr>
          </a:p>
          <a:p>
            <a:pPr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       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此时使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SP=12FCH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  </a:t>
            </a:r>
            <a:endParaRPr lang="zh-CN" altLang="en-US" sz="2400" noProof="1"/>
          </a:p>
        </p:txBody>
      </p:sp>
      <p:pic>
        <p:nvPicPr>
          <p:cNvPr id="129027" name="图片 4" descr="LF_t2.6-m.PNG">
            <a:extLst>
              <a:ext uri="{FF2B5EF4-FFF2-40B4-BE49-F238E27FC236}">
                <a16:creationId xmlns:a16="http://schemas.microsoft.com/office/drawing/2014/main" id="{EB37586D-7072-44CC-A838-0033DBB58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818181"/>
              </a:clrFrom>
              <a:clrTo>
                <a:srgbClr val="81818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17850"/>
            <a:ext cx="9144000" cy="3001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DD0C53ED-70F4-4CA2-9890-50B9C2CE4A63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堆栈</a:t>
            </a:r>
          </a:p>
        </p:txBody>
      </p:sp>
    </p:spTree>
  </p:cSld>
  <p:clrMapOvr>
    <a:masterClrMapping/>
  </p:clrMapOvr>
  <p:transition spd="slow">
    <p:wipe dir="u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7D880-DA0E-4560-9709-6887D9C7F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127760"/>
            <a:ext cx="8372475" cy="1789430"/>
          </a:xfrm>
          <a:extLst/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sym typeface="+mn-ea"/>
              </a:rPr>
              <a:t>c</a:t>
            </a:r>
            <a:r>
              <a:rPr lang="zh-CN" altLang="en-US" sz="2400" noProof="1">
                <a:sym typeface="+mn-ea"/>
              </a:rPr>
              <a:t>）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 </a:t>
            </a:r>
            <a:r>
              <a:rPr lang="zh-CN" altLang="en-US" sz="2400" noProof="1">
                <a:solidFill>
                  <a:srgbClr val="FF3300"/>
                </a:solidFill>
                <a:ea typeface="华文中宋" panose="02010600040101010101" pitchFamily="2" charset="-122"/>
                <a:sym typeface="+mn-ea"/>
              </a:rPr>
              <a:t>出栈操作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——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图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(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c)</a:t>
            </a:r>
            <a:endParaRPr lang="en-US" altLang="zh-CN" sz="2400" noProof="1">
              <a:ea typeface="华文中宋" panose="02010600040101010101" pitchFamily="2" charset="-122"/>
              <a:sym typeface="+mn-ea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	    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执行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华文中宋" panose="02010600040101010101" pitchFamily="2" charset="-122"/>
                <a:sym typeface="+mn-ea"/>
              </a:rPr>
              <a:t>POP  DX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指令</a:t>
            </a:r>
            <a:endParaRPr lang="en-US" altLang="zh-CN" sz="2400" noProof="1">
              <a:ea typeface="华文中宋" panose="0201060004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       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从栈里取出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2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字节，送入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DX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，结果如图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(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c)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；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       此时，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DX=5678H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，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SP= 12FEH</a:t>
            </a:r>
            <a:endParaRPr lang="zh-CN" altLang="en-US" sz="2400" noProof="1"/>
          </a:p>
        </p:txBody>
      </p:sp>
      <p:pic>
        <p:nvPicPr>
          <p:cNvPr id="130051" name="图片 4" descr="LF_t2.6-m.PNG">
            <a:extLst>
              <a:ext uri="{FF2B5EF4-FFF2-40B4-BE49-F238E27FC236}">
                <a16:creationId xmlns:a16="http://schemas.microsoft.com/office/drawing/2014/main" id="{FCECD332-5B96-4DB2-B22F-704411CCA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818181"/>
              </a:clrFrom>
              <a:clrTo>
                <a:srgbClr val="81818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17850"/>
            <a:ext cx="9144000" cy="3001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2AFDF199-9C8C-48C7-9209-00E51C1BAF2A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堆栈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8CF305-036D-4569-99BD-0CC6B7017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475" y="887413"/>
            <a:ext cx="1728788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Garamond" panose="02020404030301010803" pitchFamily="18" charset="0"/>
              </a:rPr>
              <a:t>;test code</a:t>
            </a:r>
            <a:endParaRPr lang="zh-CN" altLang="en-US" sz="1800">
              <a:latin typeface="Garamond" panose="020204040303010108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mov ax,1234h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mov bx,4567h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push ax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push bx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pop bx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pop ax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内容占位符 2">
            <a:extLst>
              <a:ext uri="{FF2B5EF4-FFF2-40B4-BE49-F238E27FC236}">
                <a16:creationId xmlns:a16="http://schemas.microsoft.com/office/drawing/2014/main" id="{83A3A085-8B96-47D3-9ED4-B38DEAE73B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82700" y="2317750"/>
            <a:ext cx="7208838" cy="2222500"/>
          </a:xfrm>
        </p:spPr>
        <p:txBody>
          <a:bodyPr/>
          <a:lstStyle/>
          <a:p>
            <a:pPr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en-US" sz="3600">
                <a:solidFill>
                  <a:srgbClr val="004398"/>
                </a:solidFill>
              </a:rPr>
              <a:t>2.3.1  </a:t>
            </a:r>
            <a:r>
              <a:rPr lang="zh-CN" altLang="en-US" sz="3600">
                <a:solidFill>
                  <a:srgbClr val="004398"/>
                </a:solidFill>
                <a:ea typeface="宋体" panose="02010600030101010101" pitchFamily="2" charset="-122"/>
              </a:rPr>
              <a:t>段地址和偏移地址</a:t>
            </a:r>
            <a:endParaRPr lang="en-US" altLang="zh-CN" sz="3600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en-US" sz="3600">
                <a:solidFill>
                  <a:srgbClr val="C00000"/>
                </a:solidFill>
              </a:rPr>
              <a:t>2.3.2  8086</a:t>
            </a:r>
            <a:r>
              <a:rPr lang="zh-CN" altLang="en-US" sz="3600">
                <a:solidFill>
                  <a:srgbClr val="C00000"/>
                </a:solidFill>
                <a:ea typeface="宋体" panose="02010600030101010101" pitchFamily="2" charset="-122"/>
              </a:rPr>
              <a:t>存储器的分体结构</a:t>
            </a:r>
            <a:br>
              <a:rPr lang="en-US" altLang="zh-CN" sz="3600">
                <a:solidFill>
                  <a:srgbClr val="C00000"/>
                </a:solidFill>
                <a:ea typeface="宋体" panose="02010600030101010101" pitchFamily="2" charset="-122"/>
              </a:rPr>
            </a:br>
            <a:endParaRPr lang="zh-CN" altLang="en-US" sz="360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edg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19BC8-2566-47DC-8E3E-0DED6A6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7782"/>
            <a:ext cx="8229600" cy="1042995"/>
          </a:xfrm>
          <a:extLst/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2.3.2  8086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存储器的分体结构</a:t>
            </a: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endParaRPr lang="en-US" altLang="en-US" sz="32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+mn-ea"/>
            </a:endParaRPr>
          </a:p>
        </p:txBody>
      </p:sp>
      <p:sp>
        <p:nvSpPr>
          <p:cNvPr id="132099" name="内容占位符 2">
            <a:extLst>
              <a:ext uri="{FF2B5EF4-FFF2-40B4-BE49-F238E27FC236}">
                <a16:creationId xmlns:a16="http://schemas.microsoft.com/office/drawing/2014/main" id="{F85F9B65-1BA1-4CFD-BCD8-333D01121A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43500" y="1784350"/>
            <a:ext cx="4000500" cy="4311650"/>
          </a:xfrm>
        </p:spPr>
        <p:txBody>
          <a:bodyPr/>
          <a:lstStyle/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/>
              <a:t>1MB</a:t>
            </a:r>
            <a:r>
              <a:rPr lang="zh-CN" altLang="en-US">
                <a:ea typeface="宋体" panose="02010600030101010101" pitchFamily="2" charset="-122"/>
              </a:rPr>
              <a:t>存储空间分成两个</a:t>
            </a:r>
            <a:r>
              <a:rPr lang="en-US" altLang="en-US"/>
              <a:t>8</a:t>
            </a:r>
            <a:r>
              <a:rPr lang="zh-CN" altLang="en-US">
                <a:ea typeface="宋体" panose="02010600030101010101" pitchFamily="2" charset="-122"/>
              </a:rPr>
              <a:t>位的存储体：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偶地址体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奇地址体</a:t>
            </a:r>
            <a:r>
              <a:rPr lang="zh-CN" altLang="en-US">
                <a:ea typeface="宋体" panose="02010600030101010101" pitchFamily="2" charset="-122"/>
              </a:rPr>
              <a:t>，各占</a:t>
            </a:r>
            <a:r>
              <a:rPr lang="en-US" altLang="en-US">
                <a:solidFill>
                  <a:srgbClr val="C00000"/>
                </a:solidFill>
              </a:rPr>
              <a:t>512K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字节。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偶地址体包含所有地址偶数的存储单元，奇地址体包含所有地址奇数的存储单元。</a:t>
            </a:r>
            <a:endParaRPr lang="en-US" altLang="zh-CN">
              <a:ea typeface="宋体" panose="02010600030101010101" pitchFamily="2" charset="-122"/>
            </a:endParaRPr>
          </a:p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32100" name="图片 4" descr="LF_t2.7.png">
            <a:extLst>
              <a:ext uri="{FF2B5EF4-FFF2-40B4-BE49-F238E27FC236}">
                <a16:creationId xmlns:a16="http://schemas.microsoft.com/office/drawing/2014/main" id="{2F697396-D47D-440B-A995-227D26939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8038"/>
            <a:ext cx="5149850" cy="35972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101" name="文本框 3">
            <a:extLst>
              <a:ext uri="{FF2B5EF4-FFF2-40B4-BE49-F238E27FC236}">
                <a16:creationId xmlns:a16="http://schemas.microsoft.com/office/drawing/2014/main" id="{DF733668-4419-41ED-B736-395A7DCEF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1141413"/>
            <a:ext cx="5943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en-US" sz="3200">
                <a:solidFill>
                  <a:srgbClr val="C00000"/>
                </a:solidFill>
                <a:latin typeface="Garamond" panose="02020404030301010803" pitchFamily="18" charset="0"/>
              </a:rPr>
              <a:t>8086</a:t>
            </a:r>
            <a:r>
              <a:rPr lang="zh-CN" altLang="en-US" sz="3200">
                <a:solidFill>
                  <a:srgbClr val="C00000"/>
                </a:solidFill>
                <a:latin typeface="Garamond" panose="02020404030301010803" pitchFamily="18" charset="0"/>
              </a:rPr>
              <a:t>的奇偶存储体     </a:t>
            </a:r>
            <a:r>
              <a:rPr lang="zh-CN" altLang="en-US" sz="3200">
                <a:solidFill>
                  <a:srgbClr val="3333FF"/>
                </a:solidFill>
                <a:latin typeface="Garamond" panose="02020404030301010803" pitchFamily="18" charset="0"/>
              </a:rPr>
              <a:t>（难点！）</a:t>
            </a:r>
          </a:p>
        </p:txBody>
      </p:sp>
      <p:sp>
        <p:nvSpPr>
          <p:cNvPr id="132102" name="矩形 100391">
            <a:extLst>
              <a:ext uri="{FF2B5EF4-FFF2-40B4-BE49-F238E27FC236}">
                <a16:creationId xmlns:a16="http://schemas.microsoft.com/office/drawing/2014/main" id="{3C1E0581-5279-44A6-9CA2-D474B66DF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013" y="5516563"/>
            <a:ext cx="2663825" cy="792162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chemeClr val="tx2"/>
                </a:solidFill>
                <a:latin typeface="Garamond" panose="02020404030301010803" pitchFamily="18" charset="0"/>
              </a:rPr>
              <a:t>8086</a:t>
            </a:r>
            <a:r>
              <a:rPr lang="zh-CN" altLang="en-US" sz="2200">
                <a:solidFill>
                  <a:schemeClr val="tx2"/>
                </a:solidFill>
                <a:latin typeface="Garamond" panose="02020404030301010803" pitchFamily="18" charset="0"/>
              </a:rPr>
              <a:t>既可以对字节</a:t>
            </a:r>
            <a:endParaRPr lang="en-US" altLang="zh-CN" sz="2200">
              <a:solidFill>
                <a:schemeClr val="tx2"/>
              </a:solidFill>
              <a:latin typeface="Garamond" panose="02020404030301010803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Garamond" panose="02020404030301010803" pitchFamily="18" charset="0"/>
              </a:rPr>
              <a:t>也可对字进行存取</a:t>
            </a:r>
          </a:p>
        </p:txBody>
      </p:sp>
    </p:spTree>
  </p:cSld>
  <p:clrMapOvr>
    <a:masterClrMapping/>
  </p:clrMapOvr>
  <p:transition spd="slow">
    <p:wipe dir="d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标题 1">
            <a:extLst>
              <a:ext uri="{FF2B5EF4-FFF2-40B4-BE49-F238E27FC236}">
                <a16:creationId xmlns:a16="http://schemas.microsoft.com/office/drawing/2014/main" id="{4E31E35B-7A5C-4DA1-84D2-726EA495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4. 8086/8088</a:t>
            </a:r>
            <a:r>
              <a:rPr lang="zh-CN" altLang="en-US" sz="3200">
                <a:ea typeface="宋体" panose="02010600030101010101" pitchFamily="2" charset="-122"/>
              </a:rPr>
              <a:t>系统中存储器与总线的连接</a:t>
            </a:r>
          </a:p>
        </p:txBody>
      </p:sp>
      <p:sp>
        <p:nvSpPr>
          <p:cNvPr id="133123" name="内容占位符 2">
            <a:extLst>
              <a:ext uri="{FF2B5EF4-FFF2-40B4-BE49-F238E27FC236}">
                <a16:creationId xmlns:a16="http://schemas.microsoft.com/office/drawing/2014/main" id="{BA8097D1-0326-4591-B2AE-4A03B224A9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1500" y="1117600"/>
            <a:ext cx="8372475" cy="469900"/>
          </a:xfrm>
        </p:spPr>
        <p:txBody>
          <a:bodyPr/>
          <a:lstStyle/>
          <a:p>
            <a:pPr marL="363538" indent="-363538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>
                <a:ea typeface="宋体" panose="02010600030101010101" pitchFamily="2" charset="-122"/>
              </a:rPr>
              <a:t>连线如图</a:t>
            </a:r>
            <a:r>
              <a:rPr lang="en-US" altLang="en-US" sz="2400"/>
              <a:t>2.9</a:t>
            </a:r>
            <a:r>
              <a:rPr lang="zh-CN" altLang="en-US" sz="2400">
                <a:ea typeface="宋体" panose="02010600030101010101" pitchFamily="2" charset="-122"/>
              </a:rPr>
              <a:t>，左侧的系统总线是连到</a:t>
            </a:r>
            <a:r>
              <a:rPr lang="en-US" altLang="en-US" sz="2400"/>
              <a:t>CPU</a:t>
            </a:r>
            <a:r>
              <a:rPr lang="zh-CN" altLang="en-US" sz="2400">
                <a:ea typeface="宋体" panose="02010600030101010101" pitchFamily="2" charset="-122"/>
              </a:rPr>
              <a:t>的总线信号。</a:t>
            </a:r>
          </a:p>
        </p:txBody>
      </p:sp>
      <p:pic>
        <p:nvPicPr>
          <p:cNvPr id="133124" name="图片 4" descr="LF_t2.9.png">
            <a:extLst>
              <a:ext uri="{FF2B5EF4-FFF2-40B4-BE49-F238E27FC236}">
                <a16:creationId xmlns:a16="http://schemas.microsoft.com/office/drawing/2014/main" id="{093C92F1-DD38-4D68-8F31-23A1679C5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9144000" cy="4305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452" name="矩形 101452">
            <a:extLst>
              <a:ext uri="{FF2B5EF4-FFF2-40B4-BE49-F238E27FC236}">
                <a16:creationId xmlns:a16="http://schemas.microsoft.com/office/drawing/2014/main" id="{6BBBF1BE-5228-4F05-8873-797E015B8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213100"/>
            <a:ext cx="2160587" cy="1236663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latin typeface="Garamond" panose="02020404030301010803" pitchFamily="18" charset="0"/>
              </a:rPr>
              <a:t>要求：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200">
                <a:latin typeface="Garamond" panose="02020404030301010803" pitchFamily="18" charset="0"/>
              </a:rPr>
              <a:t>1</a:t>
            </a:r>
            <a:r>
              <a:rPr lang="zh-CN" altLang="en-US" sz="2200">
                <a:latin typeface="Garamond" panose="02020404030301010803" pitchFamily="18" charset="0"/>
              </a:rPr>
              <a:t>）能读懂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Garamond" panose="02020404030301010803" pitchFamily="18" charset="0"/>
              </a:rPr>
              <a:t>2</a:t>
            </a:r>
            <a:r>
              <a:rPr lang="zh-CN" altLang="en-US" sz="2200">
                <a:latin typeface="Garamond" panose="02020404030301010803" pitchFamily="18" charset="0"/>
              </a:rPr>
              <a:t>）能正确连线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52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内容占位符 4">
            <a:extLst>
              <a:ext uri="{FF2B5EF4-FFF2-40B4-BE49-F238E27FC236}">
                <a16:creationId xmlns:a16="http://schemas.microsoft.com/office/drawing/2014/main" id="{D4726E5C-FED2-493B-B462-F2C543CDE3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9288" y="1176338"/>
            <a:ext cx="8372475" cy="977900"/>
          </a:xfrm>
        </p:spPr>
        <p:txBody>
          <a:bodyPr/>
          <a:lstStyle/>
          <a:p>
            <a:pPr marL="363538" indent="-363538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用</a:t>
            </a:r>
            <a:r>
              <a:rPr lang="en-US" altLang="en-US"/>
              <a:t>8086 CPU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en-US"/>
              <a:t>       </a:t>
            </a:r>
            <a:r>
              <a:rPr lang="zh-CN" altLang="en-US">
                <a:ea typeface="宋体" panose="02010600030101010101" pitchFamily="2" charset="-122"/>
              </a:rPr>
              <a:t>引脚信号和地址线</a:t>
            </a:r>
            <a:r>
              <a:rPr lang="en-US" altLang="en-US"/>
              <a:t>A</a:t>
            </a:r>
            <a:r>
              <a:rPr lang="en-US" altLang="en-US" baseline="-25000"/>
              <a:t>0</a:t>
            </a:r>
            <a:r>
              <a:rPr lang="zh-CN" altLang="en-US">
                <a:ea typeface="宋体" panose="02010600030101010101" pitchFamily="2" charset="-122"/>
              </a:rPr>
              <a:t>来选择一个或两个存储体进行数据传送</a:t>
            </a:r>
          </a:p>
          <a:p>
            <a:pPr marL="363538" indent="-363538" eaLnBrk="1" hangingPunct="1"/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34147" name="Picture 2">
            <a:extLst>
              <a:ext uri="{FF2B5EF4-FFF2-40B4-BE49-F238E27FC236}">
                <a16:creationId xmlns:a16="http://schemas.microsoft.com/office/drawing/2014/main" id="{0AC848FD-7AE4-4B01-9B09-FA5E145C4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676525"/>
            <a:ext cx="8113713" cy="288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D48617-8D02-4C64-81B0-2011808E6BAB}"/>
              </a:ext>
            </a:extLst>
          </p:cNvPr>
          <p:cNvSpPr txBox="1"/>
          <p:nvPr/>
        </p:nvSpPr>
        <p:spPr>
          <a:xfrm>
            <a:off x="749300" y="349250"/>
            <a:ext cx="572516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2" charset="0"/>
                <a:ea typeface="+mn-ea"/>
                <a:cs typeface="+mn-ea"/>
                <a:sym typeface="+mn-ea"/>
              </a:rPr>
              <a:t>2.3.2</a:t>
            </a: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ramond" panose="02020404030301010803" pitchFamily="2" charset="0"/>
                <a:ea typeface="+mn-ea"/>
                <a:cs typeface="+mn-ea"/>
                <a:sym typeface="+mn-ea"/>
              </a:rPr>
              <a:t>  </a:t>
            </a: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ramond" panose="02020404030301010803" pitchFamily="2" charset="0"/>
                <a:ea typeface="Garamond" panose="02020404030301010803" pitchFamily="2" charset="0"/>
                <a:cs typeface="+mn-ea"/>
                <a:sym typeface="+mn-ea"/>
              </a:rPr>
              <a:t>8086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ramond" panose="02020404030301010803" pitchFamily="2" charset="0"/>
                <a:ea typeface="+mn-ea"/>
                <a:cs typeface="+mn-ea"/>
                <a:sym typeface="+mn-ea"/>
              </a:rPr>
              <a:t>存储器的分体结构</a:t>
            </a:r>
            <a:endParaRPr lang="zh-CN" altLang="en-US" sz="3200" noProof="1"/>
          </a:p>
        </p:txBody>
      </p:sp>
      <p:graphicFrame>
        <p:nvGraphicFramePr>
          <p:cNvPr id="134149" name="对象 6">
            <a:hlinkClick r:id="" action="ppaction://ole?verb=1"/>
            <a:extLst>
              <a:ext uri="{FF2B5EF4-FFF2-40B4-BE49-F238E27FC236}">
                <a16:creationId xmlns:a16="http://schemas.microsoft.com/office/drawing/2014/main" id="{D5836904-4137-4613-A427-C4693C78D9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1425" y="1176338"/>
          <a:ext cx="77946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73" r:id="rId4" imgW="355320" imgH="203040" progId="Equation.KSEE3">
                  <p:embed/>
                </p:oleObj>
              </mc:Choice>
              <mc:Fallback>
                <p:oleObj r:id="rId4" imgW="355320" imgH="203040" progId="Equation.KSEE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1425" y="1176338"/>
                        <a:ext cx="779463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dir="in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内容占位符 4">
            <a:extLst>
              <a:ext uri="{FF2B5EF4-FFF2-40B4-BE49-F238E27FC236}">
                <a16:creationId xmlns:a16="http://schemas.microsoft.com/office/drawing/2014/main" id="{2964DE5D-D7FA-4203-925F-A1B8660636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9288" y="1176338"/>
            <a:ext cx="8372475" cy="2112962"/>
          </a:xfrm>
        </p:spPr>
        <p:txBody>
          <a:bodyPr/>
          <a:lstStyle/>
          <a:p>
            <a:pPr marL="363538" indent="-363538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奇偶存储体结构带来灵活性的同时，也导致一个不好的结果：</a:t>
            </a:r>
          </a:p>
          <a:p>
            <a:pPr marL="363538" indent="-363538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endParaRPr lang="zh-CN" altLang="en-US">
              <a:ea typeface="宋体" panose="02010600030101010101" pitchFamily="2" charset="-122"/>
            </a:endParaRPr>
          </a:p>
          <a:p>
            <a:pPr marL="363538" indent="-363538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1F7028-0312-4ED6-9BA6-4727BD0DE589}"/>
              </a:ext>
            </a:extLst>
          </p:cNvPr>
          <p:cNvSpPr txBox="1"/>
          <p:nvPr/>
        </p:nvSpPr>
        <p:spPr>
          <a:xfrm>
            <a:off x="749300" y="349250"/>
            <a:ext cx="572516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2" charset="0"/>
                <a:ea typeface="+mn-ea"/>
                <a:cs typeface="+mn-ea"/>
                <a:sym typeface="+mn-ea"/>
              </a:rPr>
              <a:t>2.3.2</a:t>
            </a: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ramond" panose="02020404030301010803" pitchFamily="2" charset="0"/>
                <a:ea typeface="+mn-ea"/>
                <a:cs typeface="+mn-ea"/>
                <a:sym typeface="+mn-ea"/>
              </a:rPr>
              <a:t>  </a:t>
            </a: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ramond" panose="02020404030301010803" pitchFamily="2" charset="0"/>
                <a:ea typeface="Garamond" panose="02020404030301010803" pitchFamily="2" charset="0"/>
                <a:cs typeface="+mn-ea"/>
                <a:sym typeface="+mn-ea"/>
              </a:rPr>
              <a:t>8086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ramond" panose="02020404030301010803" pitchFamily="2" charset="0"/>
                <a:ea typeface="+mn-ea"/>
                <a:cs typeface="+mn-ea"/>
                <a:sym typeface="+mn-ea"/>
              </a:rPr>
              <a:t>存储器的分体结构</a:t>
            </a:r>
            <a:endParaRPr lang="zh-CN" altLang="en-US" sz="3200" noProof="1"/>
          </a:p>
        </p:txBody>
      </p:sp>
      <p:sp>
        <p:nvSpPr>
          <p:cNvPr id="135172" name="文本框 2">
            <a:extLst>
              <a:ext uri="{FF2B5EF4-FFF2-40B4-BE49-F238E27FC236}">
                <a16:creationId xmlns:a16="http://schemas.microsoft.com/office/drawing/2014/main" id="{BE76C887-D806-4AFE-AF5A-64C6D2845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563" y="2543175"/>
            <a:ext cx="6335712" cy="246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存取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WORD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类型数据时，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）如果这个字是从</a:t>
            </a:r>
            <a:r>
              <a:rPr lang="zh-CN" altLang="en-US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偶地址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开始分配，只要</a:t>
            </a:r>
            <a:r>
              <a:rPr lang="en-US" altLang="zh-CN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次总线操作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就可存取；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）否则，需要</a:t>
            </a:r>
            <a:r>
              <a:rPr lang="en-US" altLang="zh-CN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次总线操作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34822" name="Rectangle 68">
            <a:extLst>
              <a:ext uri="{FF2B5EF4-FFF2-40B4-BE49-F238E27FC236}">
                <a16:creationId xmlns:a16="http://schemas.microsoft.com/office/drawing/2014/main" id="{AB6AC224-1D1C-49E4-A395-FB6CF282D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5195888"/>
            <a:ext cx="6054725" cy="6477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Garamond" panose="02020404030301010803" pitchFamily="18" charset="0"/>
                <a:ea typeface="楷体_GB2312" pitchFamily="49" charset="-122"/>
              </a:rPr>
              <a:t>理解这句话有点难，结合硬件来理解，图</a:t>
            </a:r>
            <a:r>
              <a:rPr lang="en-US" altLang="zh-CN" sz="2400">
                <a:latin typeface="Garamond" panose="02020404030301010803" pitchFamily="18" charset="0"/>
                <a:ea typeface="楷体_GB2312" pitchFamily="49" charset="-122"/>
              </a:rPr>
              <a:t>2.9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 bldLvl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ext Box 4">
            <a:extLst>
              <a:ext uri="{FF2B5EF4-FFF2-40B4-BE49-F238E27FC236}">
                <a16:creationId xmlns:a16="http://schemas.microsoft.com/office/drawing/2014/main" id="{CEC12962-3B1B-4E95-BDE0-EBF1F80B6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5111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  <a:ea typeface="仿宋" panose="02010609060101010101" pitchFamily="49" charset="-122"/>
              </a:rPr>
              <a:t>举例：读存储器操作过程</a:t>
            </a:r>
          </a:p>
        </p:txBody>
      </p:sp>
      <p:sp>
        <p:nvSpPr>
          <p:cNvPr id="104451" name="Text Box 5">
            <a:extLst>
              <a:ext uri="{FF2B5EF4-FFF2-40B4-BE49-F238E27FC236}">
                <a16:creationId xmlns:a16="http://schemas.microsoft.com/office/drawing/2014/main" id="{86A1D5B6-FDB4-4D06-B8E1-A753ABD24A68}"/>
              </a:ext>
            </a:extLst>
          </p:cNvPr>
          <p:cNvSpPr txBox="1"/>
          <p:nvPr/>
        </p:nvSpPr>
        <p:spPr>
          <a:xfrm>
            <a:off x="250825" y="1052513"/>
            <a:ext cx="38893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例</a:t>
            </a:r>
            <a:r>
              <a:rPr lang="en-US" altLang="x-none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2</a:t>
            </a: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：</a:t>
            </a:r>
            <a:r>
              <a:rPr lang="en-US" altLang="x-none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DS=0A000H</a:t>
            </a: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时</a:t>
            </a:r>
            <a:endParaRPr lang="zh-CN" altLang="en-US" sz="28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</a:endParaRPr>
          </a:p>
        </p:txBody>
      </p:sp>
      <p:graphicFrame>
        <p:nvGraphicFramePr>
          <p:cNvPr id="104452" name="对象 104451">
            <a:extLst>
              <a:ext uri="{FF2B5EF4-FFF2-40B4-BE49-F238E27FC236}">
                <a16:creationId xmlns:a16="http://schemas.microsoft.com/office/drawing/2014/main" id="{F2F1A317-466C-40D6-8D29-78472F58F2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1700213"/>
          <a:ext cx="5903913" cy="280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56" r:id="rId3" imgW="3644640" imgH="1730520" progId="Visio.Drawing.11">
                  <p:embed/>
                </p:oleObj>
              </mc:Choice>
              <mc:Fallback>
                <p:oleObj r:id="rId3" imgW="3644640" imgH="1730520" progId="Visio.Drawing.11">
                  <p:embed/>
                  <p:pic>
                    <p:nvPicPr>
                      <p:cNvPr id="0" name="对象 1044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700213"/>
                        <a:ext cx="5903913" cy="2803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3" name="对象 104452">
            <a:extLst>
              <a:ext uri="{FF2B5EF4-FFF2-40B4-BE49-F238E27FC236}">
                <a16:creationId xmlns:a16="http://schemas.microsoft.com/office/drawing/2014/main" id="{98A865B4-983B-42CA-A4E5-53F7214B36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3608388"/>
          <a:ext cx="5689600" cy="291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57" r:id="rId5" imgW="3689280" imgH="1938240" progId="Visio.Drawing.11">
                  <p:embed/>
                </p:oleObj>
              </mc:Choice>
              <mc:Fallback>
                <p:oleObj r:id="rId5" imgW="3689280" imgH="1938240" progId="Visio.Drawing.11">
                  <p:embed/>
                  <p:pic>
                    <p:nvPicPr>
                      <p:cNvPr id="0" name="对象 1044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608388"/>
                        <a:ext cx="5689600" cy="29162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8" name="矩形 104453">
            <a:extLst>
              <a:ext uri="{FF2B5EF4-FFF2-40B4-BE49-F238E27FC236}">
                <a16:creationId xmlns:a16="http://schemas.microsoft.com/office/drawing/2014/main" id="{CFDF8A15-7ED1-435F-B42E-6AC46E416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1989138"/>
            <a:ext cx="25590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2"/>
                </a:solidFill>
                <a:latin typeface="Garamond" panose="02020404030301010803" pitchFamily="18" charset="0"/>
              </a:rPr>
              <a:t>C</a:t>
            </a:r>
            <a:r>
              <a:rPr lang="zh-CN" altLang="en-US">
                <a:solidFill>
                  <a:schemeClr val="tx2"/>
                </a:solidFill>
                <a:latin typeface="Garamond" panose="02020404030301010803" pitchFamily="18" charset="0"/>
              </a:rPr>
              <a:t>）读从偶地址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2"/>
                </a:solidFill>
                <a:latin typeface="Garamond" panose="02020404030301010803" pitchFamily="18" charset="0"/>
              </a:rPr>
              <a:t>   开始的字</a:t>
            </a:r>
          </a:p>
        </p:txBody>
      </p:sp>
      <p:sp>
        <p:nvSpPr>
          <p:cNvPr id="136199" name="矩形 104454">
            <a:extLst>
              <a:ext uri="{FF2B5EF4-FFF2-40B4-BE49-F238E27FC236}">
                <a16:creationId xmlns:a16="http://schemas.microsoft.com/office/drawing/2014/main" id="{169590AF-4FB0-48F8-A092-8740C824F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654550"/>
            <a:ext cx="25955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2"/>
                </a:solidFill>
                <a:latin typeface="Garamond" panose="02020404030301010803" pitchFamily="18" charset="0"/>
              </a:rPr>
              <a:t>D</a:t>
            </a:r>
            <a:r>
              <a:rPr lang="zh-CN" altLang="en-US">
                <a:solidFill>
                  <a:schemeClr val="tx2"/>
                </a:solidFill>
                <a:latin typeface="Garamond" panose="02020404030301010803" pitchFamily="18" charset="0"/>
              </a:rPr>
              <a:t>）读从奇地址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2"/>
                </a:solidFill>
                <a:latin typeface="Garamond" panose="02020404030301010803" pitchFamily="18" charset="0"/>
              </a:rPr>
              <a:t>   开始的字</a:t>
            </a:r>
          </a:p>
        </p:txBody>
      </p:sp>
      <p:grpSp>
        <p:nvGrpSpPr>
          <p:cNvPr id="136200" name="组合 104455">
            <a:extLst>
              <a:ext uri="{FF2B5EF4-FFF2-40B4-BE49-F238E27FC236}">
                <a16:creationId xmlns:a16="http://schemas.microsoft.com/office/drawing/2014/main" id="{1969EEB1-4290-4DE1-B572-6FFF9742A5FA}"/>
              </a:ext>
            </a:extLst>
          </p:cNvPr>
          <p:cNvGrpSpPr>
            <a:grpSpLocks/>
          </p:cNvGrpSpPr>
          <p:nvPr/>
        </p:nvGrpSpPr>
        <p:grpSpPr bwMode="auto">
          <a:xfrm>
            <a:off x="6370638" y="2852738"/>
            <a:ext cx="2798762" cy="519112"/>
            <a:chOff x="0" y="0"/>
            <a:chExt cx="1763" cy="327"/>
          </a:xfrm>
        </p:grpSpPr>
        <p:sp>
          <p:nvSpPr>
            <p:cNvPr id="136208" name="矩形 104456">
              <a:extLst>
                <a:ext uri="{FF2B5EF4-FFF2-40B4-BE49-F238E27FC236}">
                  <a16:creationId xmlns:a16="http://schemas.microsoft.com/office/drawing/2014/main" id="{CF2343D8-F057-4297-9DF4-36C6CEE92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latin typeface="Garamond" panose="02020404030301010803" pitchFamily="18" charset="0"/>
                </a:rPr>
                <a:t>(BHE=0</a:t>
              </a:r>
              <a:r>
                <a:rPr lang="zh-CN" altLang="en-US">
                  <a:latin typeface="Garamond" panose="02020404030301010803" pitchFamily="18" charset="0"/>
                </a:rPr>
                <a:t>，</a:t>
              </a:r>
              <a:r>
                <a:rPr lang="en-US" altLang="zh-CN">
                  <a:latin typeface="Garamond" panose="02020404030301010803" pitchFamily="18" charset="0"/>
                </a:rPr>
                <a:t>A0=0)</a:t>
              </a:r>
            </a:p>
          </p:txBody>
        </p:sp>
        <p:sp>
          <p:nvSpPr>
            <p:cNvPr id="136209" name="直接连接符 104457">
              <a:extLst>
                <a:ext uri="{FF2B5EF4-FFF2-40B4-BE49-F238E27FC236}">
                  <a16:creationId xmlns:a16="http://schemas.microsoft.com/office/drawing/2014/main" id="{C4396975-2733-498A-A8F2-658435C4B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45"/>
              <a:ext cx="4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6201" name="组合 104458">
            <a:extLst>
              <a:ext uri="{FF2B5EF4-FFF2-40B4-BE49-F238E27FC236}">
                <a16:creationId xmlns:a16="http://schemas.microsoft.com/office/drawing/2014/main" id="{1DC52F50-BEBE-425C-B55A-353B81E49AB4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5573713"/>
            <a:ext cx="2773362" cy="519112"/>
            <a:chOff x="0" y="0"/>
            <a:chExt cx="1747" cy="327"/>
          </a:xfrm>
        </p:grpSpPr>
        <p:sp>
          <p:nvSpPr>
            <p:cNvPr id="136206" name="矩形 104459">
              <a:extLst>
                <a:ext uri="{FF2B5EF4-FFF2-40B4-BE49-F238E27FC236}">
                  <a16:creationId xmlns:a16="http://schemas.microsoft.com/office/drawing/2014/main" id="{92272EF1-9D23-4F1F-B210-53DF9A692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4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latin typeface="Garamond" panose="02020404030301010803" pitchFamily="18" charset="0"/>
                </a:rPr>
                <a:t>(BHE=1</a:t>
              </a:r>
              <a:r>
                <a:rPr lang="zh-CN" altLang="en-US">
                  <a:latin typeface="Garamond" panose="02020404030301010803" pitchFamily="18" charset="0"/>
                </a:rPr>
                <a:t>，</a:t>
              </a:r>
              <a:r>
                <a:rPr lang="en-US" altLang="zh-CN">
                  <a:latin typeface="Garamond" panose="02020404030301010803" pitchFamily="18" charset="0"/>
                </a:rPr>
                <a:t>A0=0)</a:t>
              </a:r>
            </a:p>
          </p:txBody>
        </p:sp>
        <p:sp>
          <p:nvSpPr>
            <p:cNvPr id="136207" name="直接连接符 104460">
              <a:extLst>
                <a:ext uri="{FF2B5EF4-FFF2-40B4-BE49-F238E27FC236}">
                  <a16:creationId xmlns:a16="http://schemas.microsoft.com/office/drawing/2014/main" id="{DEC20593-8D97-4F84-A642-3409C877B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45"/>
              <a:ext cx="4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6202" name="组合 104461">
            <a:extLst>
              <a:ext uri="{FF2B5EF4-FFF2-40B4-BE49-F238E27FC236}">
                <a16:creationId xmlns:a16="http://schemas.microsoft.com/office/drawing/2014/main" id="{3E35B42F-22E4-4FB2-A8DC-93041796B20F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6005513"/>
            <a:ext cx="2773362" cy="519112"/>
            <a:chOff x="0" y="-55"/>
            <a:chExt cx="1747" cy="327"/>
          </a:xfrm>
        </p:grpSpPr>
        <p:sp>
          <p:nvSpPr>
            <p:cNvPr id="136204" name="矩形 104462">
              <a:extLst>
                <a:ext uri="{FF2B5EF4-FFF2-40B4-BE49-F238E27FC236}">
                  <a16:creationId xmlns:a16="http://schemas.microsoft.com/office/drawing/2014/main" id="{E7C4634B-7D56-42A5-90AB-2B0A43FF5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55"/>
              <a:ext cx="174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latin typeface="Garamond" panose="02020404030301010803" pitchFamily="18" charset="0"/>
                </a:rPr>
                <a:t>(BHE=0</a:t>
              </a:r>
              <a:r>
                <a:rPr lang="zh-CN" altLang="en-US">
                  <a:latin typeface="Garamond" panose="02020404030301010803" pitchFamily="18" charset="0"/>
                </a:rPr>
                <a:t>，</a:t>
              </a:r>
              <a:r>
                <a:rPr lang="en-US" altLang="zh-CN">
                  <a:latin typeface="Garamond" panose="02020404030301010803" pitchFamily="18" charset="0"/>
                </a:rPr>
                <a:t>A0=1)</a:t>
              </a:r>
            </a:p>
          </p:txBody>
        </p:sp>
        <p:sp>
          <p:nvSpPr>
            <p:cNvPr id="136205" name="直接连接符 104463">
              <a:extLst>
                <a:ext uri="{FF2B5EF4-FFF2-40B4-BE49-F238E27FC236}">
                  <a16:creationId xmlns:a16="http://schemas.microsoft.com/office/drawing/2014/main" id="{AD69811E-0F78-459F-A612-A2D8859FF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0"/>
              <a:ext cx="4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104" name="灯片编号占位符 1">
            <a:extLst>
              <a:ext uri="{FF2B5EF4-FFF2-40B4-BE49-F238E27FC236}">
                <a16:creationId xmlns:a16="http://schemas.microsoft.com/office/drawing/2014/main" id="{E4B10757-9AB6-4DEA-837B-8B198CDAD2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1BBCE3A-55AB-4A98-95F7-06BD2D93E83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79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4">
            <a:extLst>
              <a:ext uri="{FF2B5EF4-FFF2-40B4-BE49-F238E27FC236}">
                <a16:creationId xmlns:a16="http://schemas.microsoft.com/office/drawing/2014/main" id="{BBB5B767-8061-4D5F-9E02-F0F51E8F3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5111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  <a:ea typeface="仿宋" panose="02010609060101010101" pitchFamily="49" charset="-122"/>
              </a:rPr>
              <a:t>举例：读存储器操作过程</a:t>
            </a:r>
          </a:p>
        </p:txBody>
      </p:sp>
      <p:sp>
        <p:nvSpPr>
          <p:cNvPr id="104451" name="Text Box 5">
            <a:extLst>
              <a:ext uri="{FF2B5EF4-FFF2-40B4-BE49-F238E27FC236}">
                <a16:creationId xmlns:a16="http://schemas.microsoft.com/office/drawing/2014/main" id="{7D3125F4-D135-4623-A73A-2FCC92454388}"/>
              </a:ext>
            </a:extLst>
          </p:cNvPr>
          <p:cNvSpPr txBox="1"/>
          <p:nvPr/>
        </p:nvSpPr>
        <p:spPr>
          <a:xfrm>
            <a:off x="508000" y="2079625"/>
            <a:ext cx="8410575" cy="1814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提示：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         读</a:t>
            </a:r>
            <a:r>
              <a:rPr lang="en-US" altLang="zh-CN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1</a:t>
            </a: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次还是读</a:t>
            </a:r>
            <a:r>
              <a:rPr lang="en-US" altLang="zh-CN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2</a:t>
            </a: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次，都是</a:t>
            </a:r>
            <a:r>
              <a:rPr lang="en-US" altLang="zh-CN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CPU</a:t>
            </a:r>
            <a:r>
              <a:rPr lang="zh-CN" altLang="en-US" sz="2800" noProof="1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自动</a:t>
            </a: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进行的；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         那么问题来了，作为程序员，应该怎么做呢？</a:t>
            </a:r>
          </a:p>
        </p:txBody>
      </p:sp>
      <p:sp>
        <p:nvSpPr>
          <p:cNvPr id="90115" name="灯片编号占位符 1">
            <a:extLst>
              <a:ext uri="{FF2B5EF4-FFF2-40B4-BE49-F238E27FC236}">
                <a16:creationId xmlns:a16="http://schemas.microsoft.com/office/drawing/2014/main" id="{C6C858AF-B382-4F0A-AE4B-6C57F36FA7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542B8DAD-2629-433E-92C8-E1ABF4B5B150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80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2FEEC9-60D8-4F52-A062-384D9E2BA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4076700"/>
            <a:ext cx="6764337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FF0000"/>
                </a:solidFill>
                <a:latin typeface="Garamond" panose="02020404030301010803" pitchFamily="18" charset="0"/>
              </a:rPr>
              <a:t>程序员的设计原则：</a:t>
            </a:r>
            <a:endParaRPr lang="en-US" altLang="zh-CN" sz="240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Garamond" panose="02020404030301010803" pitchFamily="18" charset="0"/>
              </a:rPr>
              <a:t>         </a:t>
            </a:r>
            <a:r>
              <a:rPr lang="zh-CN" altLang="en-US" sz="2400">
                <a:latin typeface="Garamond" panose="02020404030301010803" pitchFamily="18" charset="0"/>
              </a:rPr>
              <a:t>如果按字节操作，尽量把起始地址安排在偶地址开始。</a:t>
            </a:r>
            <a:endParaRPr lang="en-US" altLang="zh-CN" sz="2400">
              <a:latin typeface="Garamond" panose="020204040303010108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Garamond" panose="02020404030301010803" pitchFamily="18" charset="0"/>
              </a:rPr>
              <a:t>     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如何定义和安排变量的起始地址后面会讲解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240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3258B-C1DE-42CB-BAD6-1599E08D6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50" y="2095500"/>
            <a:ext cx="8534400" cy="18669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§</a:t>
            </a:r>
            <a:r>
              <a:rPr lang="en-US" altLang="zh-CN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</a:t>
            </a:r>
            <a:r>
              <a:rPr lang="en-US" altLang="en-US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  <a:r>
              <a:rPr lang="en-US" altLang="zh-CN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4</a:t>
            </a:r>
            <a:r>
              <a:rPr lang="en-US" altLang="en-US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8086</a:t>
            </a:r>
            <a:r>
              <a:rPr lang="zh-CN" altLang="en-US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的工作模式和</a:t>
            </a:r>
            <a:br>
              <a:rPr lang="en-US" altLang="zh-CN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</a:br>
            <a:r>
              <a:rPr lang="zh-CN" altLang="en-US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总线操作</a:t>
            </a:r>
            <a:r>
              <a:rPr lang="en-US" altLang="zh-CN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--</a:t>
            </a:r>
            <a:r>
              <a:rPr lang="zh-CN" altLang="en-US" sz="4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重点，难点</a:t>
            </a:r>
          </a:p>
        </p:txBody>
      </p:sp>
    </p:spTree>
  </p:cSld>
  <p:clrMapOvr>
    <a:masterClrMapping/>
  </p:clrMapOvr>
  <p:transition spd="slow">
    <p:wheel spokes="2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标题 1">
            <a:extLst>
              <a:ext uri="{FF2B5EF4-FFF2-40B4-BE49-F238E27FC236}">
                <a16:creationId xmlns:a16="http://schemas.microsoft.com/office/drawing/2014/main" id="{255C23B4-A5AE-437F-8336-79D09E04556B}"/>
              </a:ext>
            </a:extLst>
          </p:cNvPr>
          <p:cNvSpPr>
            <a:spLocks noGrp="1"/>
          </p:cNvSpPr>
          <p:nvPr>
            <p:ph type="title"/>
          </p:nvPr>
        </p:nvSpPr>
        <p:spPr>
          <a:extLst/>
        </p:spPr>
        <p:txBody>
          <a:bodyPr/>
          <a:lstStyle/>
          <a:p>
            <a:pPr eaLnBrk="1" hangingPunct="1">
              <a:defRPr/>
            </a:pPr>
            <a:r>
              <a:rPr lang="zh-CN" altLang="zh-CN" b="1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引子</a:t>
            </a:r>
            <a:r>
              <a:rPr lang="zh-CN" altLang="zh-CN" b="1" noProof="1">
                <a:ea typeface="宋体" panose="02010600030101010101" pitchFamily="2" charset="-122"/>
              </a:rPr>
              <a:t>：</a:t>
            </a:r>
            <a:r>
              <a:rPr lang="en-US" altLang="zh-CN" b="1" noProof="1"/>
              <a:t>8086CPU</a:t>
            </a:r>
            <a:r>
              <a:rPr lang="zh-CN" altLang="en-US" b="1" noProof="1">
                <a:ea typeface="宋体" panose="02010600030101010101" pitchFamily="2" charset="-122"/>
              </a:rPr>
              <a:t>有两种</a:t>
            </a:r>
            <a:r>
              <a:rPr lang="zh-CN" altLang="en-US" b="1" noProof="1"/>
              <a:t>工作模式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242259-C989-4E02-ACC9-D5E55BFC4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93100" cy="4740275"/>
          </a:xfrm>
        </p:spPr>
        <p:txBody>
          <a:bodyPr/>
          <a:lstStyle/>
          <a:p>
            <a:pPr marL="363538" indent="-363538" algn="just" eaLnBrk="1" hangingPunct="1">
              <a:spcBef>
                <a:spcPts val="3000"/>
              </a:spcBef>
              <a:spcAft>
                <a:spcPts val="1200"/>
              </a:spcAft>
              <a:buClr>
                <a:srgbClr val="002060"/>
              </a:buClr>
              <a:defRPr/>
            </a:pPr>
            <a:r>
              <a:rPr lang="zh-CN" altLang="en-US" sz="2400">
                <a:ea typeface="宋体" panose="02010600030101010101" pitchFamily="2" charset="-122"/>
              </a:rPr>
              <a:t>两种工作模式</a:t>
            </a:r>
            <a:r>
              <a:rPr lang="en-US" altLang="zh-CN" sz="2400">
                <a:ea typeface="宋体" panose="02010600030101010101" pitchFamily="2" charset="-122"/>
              </a:rPr>
              <a:t>:</a:t>
            </a:r>
            <a:r>
              <a:rPr lang="zh-CN" altLang="en-US" sz="2400">
                <a:solidFill>
                  <a:srgbClr val="C00000"/>
                </a:solidFill>
                <a:ea typeface="宋体" panose="02010600030101010101" pitchFamily="2" charset="-122"/>
              </a:rPr>
              <a:t>最大工作模式</a:t>
            </a:r>
            <a:r>
              <a:rPr lang="zh-CN" altLang="en-US" sz="2400">
                <a:ea typeface="宋体" panose="02010600030101010101" pitchFamily="2" charset="-122"/>
              </a:rPr>
              <a:t>和</a:t>
            </a:r>
            <a:r>
              <a:rPr lang="zh-CN" altLang="en-US" sz="2400">
                <a:solidFill>
                  <a:srgbClr val="C00000"/>
                </a:solidFill>
                <a:ea typeface="宋体" panose="02010600030101010101" pitchFamily="2" charset="-122"/>
              </a:rPr>
              <a:t>最小工作模式</a:t>
            </a:r>
          </a:p>
          <a:p>
            <a:pPr marL="363538" indent="-363538" algn="just"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rgbClr val="C00000"/>
                </a:solidFill>
                <a:ea typeface="宋体" panose="02010600030101010101" pitchFamily="2" charset="-122"/>
              </a:rPr>
              <a:t>    </a:t>
            </a:r>
            <a:r>
              <a:rPr lang="zh-CN" altLang="en-US" sz="2400">
                <a:ea typeface="宋体" panose="02010600030101010101" pitchFamily="2" charset="-122"/>
              </a:rPr>
              <a:t>输入引脚              的电平决定</a:t>
            </a: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工作在哪种模式，一般一个计算机系统的工作模式是确定的。</a:t>
            </a:r>
          </a:p>
          <a:p>
            <a:pPr marL="363538" indent="-363538" algn="just" eaLnBrk="1" hangingPunct="1">
              <a:spcBef>
                <a:spcPts val="300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最小模式</a:t>
            </a:r>
            <a:r>
              <a:rPr lang="zh-CN" altLang="en-US" sz="2400">
                <a:ea typeface="宋体" panose="02010600030101010101" pitchFamily="2" charset="-122"/>
              </a:rPr>
              <a:t>：送到存储器和</a:t>
            </a:r>
            <a:r>
              <a:rPr lang="en-US" altLang="en-US" sz="2400"/>
              <a:t>I/O</a:t>
            </a:r>
            <a:r>
              <a:rPr lang="zh-CN" altLang="en-US" sz="2400">
                <a:ea typeface="宋体" panose="02010600030101010101" pitchFamily="2" charset="-122"/>
              </a:rPr>
              <a:t>接口的所有信号都由</a:t>
            </a:r>
            <a:r>
              <a:rPr lang="en-US" altLang="en-US" sz="2400"/>
              <a:t>CPU</a:t>
            </a:r>
            <a:r>
              <a:rPr lang="zh-CN" altLang="en-US" sz="2400">
                <a:ea typeface="宋体" panose="02010600030101010101" pitchFamily="2" charset="-122"/>
              </a:rPr>
              <a:t>产生。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（重点掌握）</a:t>
            </a: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最大模式：</a:t>
            </a:r>
            <a:r>
              <a:rPr lang="zh-CN" altLang="en-US" sz="2400">
                <a:ea typeface="宋体" panose="02010600030101010101" pitchFamily="2" charset="-122"/>
              </a:rPr>
              <a:t>某些控制信号由外部</a:t>
            </a:r>
            <a:r>
              <a:rPr lang="en-US" altLang="en-US" sz="2400"/>
              <a:t>8288</a:t>
            </a:r>
            <a:r>
              <a:rPr lang="zh-CN" altLang="en-US" sz="2400">
                <a:ea typeface="宋体" panose="02010600030101010101" pitchFamily="2" charset="-122"/>
              </a:rPr>
              <a:t>总线控制器产生。</a:t>
            </a:r>
            <a:r>
              <a:rPr lang="en-US" altLang="en-US" sz="2400"/>
              <a:t>8288</a:t>
            </a:r>
            <a:r>
              <a:rPr lang="zh-CN" altLang="en-US" sz="2400">
                <a:ea typeface="宋体" panose="02010600030101010101" pitchFamily="2" charset="-122"/>
              </a:rPr>
              <a:t>需要读取</a:t>
            </a: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的一些状态。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（了解）</a:t>
            </a: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>
                <a:ea typeface="宋体" panose="02010600030101010101" pitchFamily="2" charset="-122"/>
              </a:rPr>
              <a:t>	</a:t>
            </a:r>
            <a:r>
              <a:rPr lang="zh-CN" altLang="en-US" sz="2400">
                <a:ea typeface="宋体" panose="02010600030101010101" pitchFamily="2" charset="-122"/>
              </a:rPr>
              <a:t>最大模式主要用于包含数值协处理器（</a:t>
            </a:r>
            <a:r>
              <a:rPr lang="en-US" altLang="en-US" sz="2400"/>
              <a:t>Numeric Data Processor, NDP</a:t>
            </a:r>
            <a:r>
              <a:rPr lang="zh-CN" altLang="en-US" sz="2400">
                <a:ea typeface="宋体" panose="02010600030101010101" pitchFamily="2" charset="-122"/>
              </a:rPr>
              <a:t>）</a:t>
            </a:r>
            <a:r>
              <a:rPr lang="en-US" altLang="en-US" sz="2400"/>
              <a:t>8087</a:t>
            </a:r>
            <a:r>
              <a:rPr lang="zh-CN" altLang="en-US" sz="2400">
                <a:ea typeface="宋体" panose="02010600030101010101" pitchFamily="2" charset="-122"/>
              </a:rPr>
              <a:t>的系统中。</a:t>
            </a:r>
          </a:p>
        </p:txBody>
      </p:sp>
      <p:grpSp>
        <p:nvGrpSpPr>
          <p:cNvPr id="139268" name="组合 6">
            <a:extLst>
              <a:ext uri="{FF2B5EF4-FFF2-40B4-BE49-F238E27FC236}">
                <a16:creationId xmlns:a16="http://schemas.microsoft.com/office/drawing/2014/main" id="{9720DD0D-0F1F-4938-808C-7266B17A2069}"/>
              </a:ext>
            </a:extLst>
          </p:cNvPr>
          <p:cNvGrpSpPr>
            <a:grpSpLocks/>
          </p:cNvGrpSpPr>
          <p:nvPr/>
        </p:nvGrpSpPr>
        <p:grpSpPr bwMode="auto">
          <a:xfrm>
            <a:off x="2171700" y="1866900"/>
            <a:ext cx="1566863" cy="463550"/>
            <a:chOff x="7826" y="6987"/>
            <a:chExt cx="2466" cy="731"/>
          </a:xfrm>
        </p:grpSpPr>
        <p:sp>
          <p:nvSpPr>
            <p:cNvPr id="139269" name="文本框 3">
              <a:extLst>
                <a:ext uri="{FF2B5EF4-FFF2-40B4-BE49-F238E27FC236}">
                  <a16:creationId xmlns:a16="http://schemas.microsoft.com/office/drawing/2014/main" id="{1AB26ADD-462F-46AD-88E4-EDFB281A83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6" y="6994"/>
              <a:ext cx="2466" cy="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rgbClr val="C00000"/>
                  </a:solidFill>
                </a:rPr>
                <a:t>MN/ MX</a:t>
              </a: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826FD139-5700-48A8-AC50-73D872877C57}"/>
                </a:ext>
              </a:extLst>
            </p:cNvPr>
            <p:cNvCxnSpPr/>
            <p:nvPr/>
          </p:nvCxnSpPr>
          <p:spPr>
            <a:xfrm flipV="1">
              <a:off x="9323" y="6987"/>
              <a:ext cx="827" cy="2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split orient="vert" dir="in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标题 1">
            <a:extLst>
              <a:ext uri="{FF2B5EF4-FFF2-40B4-BE49-F238E27FC236}">
                <a16:creationId xmlns:a16="http://schemas.microsoft.com/office/drawing/2014/main" id="{20D82900-9BB4-448D-8102-CC007D8D69FC}"/>
              </a:ext>
            </a:extLst>
          </p:cNvPr>
          <p:cNvSpPr>
            <a:spLocks noGrp="1"/>
          </p:cNvSpPr>
          <p:nvPr>
            <p:ph type="title"/>
          </p:nvPr>
        </p:nvSpPr>
        <p:spPr>
          <a:extLst/>
        </p:spPr>
        <p:txBody>
          <a:bodyPr/>
          <a:lstStyle/>
          <a:p>
            <a:pPr eaLnBrk="1" hangingPunct="1">
              <a:defRPr/>
            </a:pPr>
            <a:r>
              <a:rPr lang="zh-CN" altLang="zh-CN" b="1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引子</a:t>
            </a:r>
            <a:r>
              <a:rPr lang="zh-CN" altLang="zh-CN" b="1" noProof="1">
                <a:ea typeface="宋体" panose="02010600030101010101" pitchFamily="2" charset="-122"/>
              </a:rPr>
              <a:t>：</a:t>
            </a:r>
            <a:r>
              <a:rPr lang="zh-CN" altLang="en-US" b="1" noProof="1">
                <a:ea typeface="宋体" panose="02010600030101010101" pitchFamily="2" charset="-122"/>
              </a:rPr>
              <a:t>总线时序初识</a:t>
            </a:r>
          </a:p>
        </p:txBody>
      </p:sp>
      <p:sp>
        <p:nvSpPr>
          <p:cNvPr id="140291" name="内容占位符 3">
            <a:extLst>
              <a:ext uri="{FF2B5EF4-FFF2-40B4-BE49-F238E27FC236}">
                <a16:creationId xmlns:a16="http://schemas.microsoft.com/office/drawing/2014/main" id="{B55AFA66-31B2-483F-BB49-5A010FBF2C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93100" cy="4740275"/>
          </a:xfrm>
        </p:spPr>
        <p:txBody>
          <a:bodyPr/>
          <a:lstStyle/>
          <a:p>
            <a:pPr marL="363538" indent="-363538" algn="just" eaLnBrk="1" hangingPunct="1">
              <a:spcBef>
                <a:spcPts val="3000"/>
              </a:spcBef>
              <a:spcAft>
                <a:spcPts val="1200"/>
              </a:spcAft>
              <a:buClr>
                <a:srgbClr val="002060"/>
              </a:buClr>
              <a:buFont typeface="Wingdings" panose="05000000000000000000" pitchFamily="2" charset="2"/>
              <a:buChar char="l"/>
            </a:pP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基本系统由</a:t>
            </a: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和一些外围芯片构成，它们之间协调工作的基本条件是：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满足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CPU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的总线操作时序</a:t>
            </a:r>
          </a:p>
          <a:p>
            <a:pPr marL="363538" indent="-363538" algn="just" eaLnBrk="1" hangingPunct="1">
              <a:spcBef>
                <a:spcPct val="0"/>
              </a:spcBef>
              <a:spcAft>
                <a:spcPts val="1200"/>
              </a:spcAft>
              <a:buClr>
                <a:srgbClr val="002060"/>
              </a:buClr>
              <a:buFont typeface="Wingdings" panose="05000000000000000000" pitchFamily="2" charset="2"/>
              <a:buChar char="l"/>
            </a:pPr>
            <a:r>
              <a:rPr lang="zh-CN" altLang="en-US" sz="2400">
                <a:ea typeface="宋体" panose="02010600030101010101" pitchFamily="2" charset="-122"/>
              </a:rPr>
              <a:t>如果说，</a:t>
            </a:r>
            <a:r>
              <a:rPr lang="zh-CN" altLang="en-US" sz="2400">
                <a:solidFill>
                  <a:srgbClr val="C00000"/>
                </a:solidFill>
                <a:ea typeface="宋体" panose="02010600030101010101" pitchFamily="2" charset="-122"/>
              </a:rPr>
              <a:t>总线</a:t>
            </a:r>
            <a:r>
              <a:rPr lang="zh-CN" altLang="en-US" sz="2400">
                <a:ea typeface="宋体" panose="02010600030101010101" pitchFamily="2" charset="-122"/>
              </a:rPr>
              <a:t>是</a:t>
            </a: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与外部器件间的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纽带</a:t>
            </a:r>
            <a:r>
              <a:rPr lang="zh-CN" altLang="en-US" sz="2400">
                <a:ea typeface="宋体" panose="02010600030101010101" pitchFamily="2" charset="-122"/>
              </a:rPr>
              <a:t>，那么</a:t>
            </a:r>
            <a:r>
              <a:rPr lang="zh-CN" altLang="en-US" sz="2400">
                <a:solidFill>
                  <a:srgbClr val="C00000"/>
                </a:solidFill>
                <a:ea typeface="宋体" panose="02010600030101010101" pitchFamily="2" charset="-122"/>
              </a:rPr>
              <a:t>总线时序</a:t>
            </a:r>
            <a:r>
              <a:rPr lang="zh-CN" altLang="en-US" sz="2400">
                <a:ea typeface="宋体" panose="02010600030101010101" pitchFamily="2" charset="-122"/>
              </a:rPr>
              <a:t>是他们间交流的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“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语言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”</a:t>
            </a:r>
          </a:p>
        </p:txBody>
      </p:sp>
      <p:graphicFrame>
        <p:nvGraphicFramePr>
          <p:cNvPr id="140292" name="对象 5">
            <a:extLst>
              <a:ext uri="{FF2B5EF4-FFF2-40B4-BE49-F238E27FC236}">
                <a16:creationId xmlns:a16="http://schemas.microsoft.com/office/drawing/2014/main" id="{0FEABA2C-2D0F-4DDA-9224-1F67D04B1B77}"/>
              </a:ext>
            </a:extLst>
          </p:cNvPr>
          <p:cNvGraphicFramePr>
            <a:graphicFrameLocks/>
          </p:cNvGraphicFramePr>
          <p:nvPr/>
        </p:nvGraphicFramePr>
        <p:xfrm>
          <a:off x="457200" y="3522663"/>
          <a:ext cx="8189913" cy="285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16" r:id="rId3" imgW="9345329" imgH="3495238" progId="Paint.Picture">
                  <p:embed/>
                </p:oleObj>
              </mc:Choice>
              <mc:Fallback>
                <p:oleObj r:id="rId3" imgW="9345329" imgH="3495238" progId="Paint.Picture">
                  <p:embed/>
                  <p:pic>
                    <p:nvPicPr>
                      <p:cNvPr id="0" name="对象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22663"/>
                        <a:ext cx="8189913" cy="285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 dir="in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>
            <a:extLst>
              <a:ext uri="{FF2B5EF4-FFF2-40B4-BE49-F238E27FC236}">
                <a16:creationId xmlns:a16="http://schemas.microsoft.com/office/drawing/2014/main" id="{BE6F2F3E-57FA-4740-9405-7C96BBBFE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295400"/>
            <a:ext cx="8229600" cy="3949700"/>
          </a:xfrm>
          <a:extLst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2400"/>
              </a:spcBef>
              <a:defRPr/>
            </a:pPr>
            <a:r>
              <a:rPr lang="en-US" altLang="en-US" sz="40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2.4.1  </a:t>
            </a:r>
            <a:r>
              <a:rPr lang="zh-CN" altLang="en-US" sz="40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最小模式系统</a:t>
            </a:r>
            <a:br>
              <a:rPr lang="en-US" altLang="zh-CN" sz="4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altLang="en-US" sz="4000" noProof="1">
                <a:solidFill>
                  <a:schemeClr val="accent4"/>
                </a:solidFill>
              </a:rPr>
              <a:t>2.4.2  </a:t>
            </a:r>
            <a:r>
              <a:rPr lang="zh-CN" altLang="en-US" sz="4000" noProof="1">
                <a:solidFill>
                  <a:schemeClr val="accent4"/>
                </a:solidFill>
              </a:rPr>
              <a:t>最大模式系统</a:t>
            </a:r>
            <a:br>
              <a:rPr lang="en-US" altLang="zh-CN" sz="4000" dirty="0">
                <a:solidFill>
                  <a:schemeClr val="accent4"/>
                </a:solidFill>
              </a:rPr>
            </a:br>
            <a:r>
              <a:rPr lang="en-US" altLang="en-US" sz="4000" noProof="1">
                <a:solidFill>
                  <a:schemeClr val="accent4"/>
                </a:solidFill>
              </a:rPr>
              <a:t>2.4.3  </a:t>
            </a:r>
            <a:r>
              <a:rPr lang="zh-CN" altLang="en-US" sz="4000" noProof="1">
                <a:solidFill>
                  <a:schemeClr val="accent4"/>
                </a:solidFill>
              </a:rPr>
              <a:t>总线操作时序</a:t>
            </a:r>
            <a:br>
              <a:rPr lang="zh-CN" altLang="en-US" sz="4000" dirty="0">
                <a:solidFill>
                  <a:schemeClr val="accent4"/>
                </a:solidFill>
              </a:rPr>
            </a:br>
            <a:endParaRPr lang="zh-CN" altLang="en-US" sz="4000" noProof="1">
              <a:solidFill>
                <a:schemeClr val="accent4"/>
              </a:solidFill>
            </a:endParaRPr>
          </a:p>
        </p:txBody>
      </p:sp>
    </p:spTree>
  </p:cSld>
  <p:clrMapOvr>
    <a:masterClrMapping/>
  </p:clrMapOvr>
  <p:transition spd="slow">
    <p:wedg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8B3A90-0586-4C91-929B-AEEAE852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545" y="0"/>
            <a:ext cx="8229600" cy="1143000"/>
          </a:xfrm>
          <a:extLst/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2.4.1  </a:t>
            </a:r>
            <a:r>
              <a:rPr lang="zh-CN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最小模式系统</a:t>
            </a:r>
          </a:p>
        </p:txBody>
      </p:sp>
      <p:sp>
        <p:nvSpPr>
          <p:cNvPr id="142339" name="内容占位符 2">
            <a:extLst>
              <a:ext uri="{FF2B5EF4-FFF2-40B4-BE49-F238E27FC236}">
                <a16:creationId xmlns:a16="http://schemas.microsoft.com/office/drawing/2014/main" id="{7F3B362A-7822-470E-8EC9-9FCE49F239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700" y="1028700"/>
            <a:ext cx="8372475" cy="10668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000"/>
              <a:t>1. </a:t>
            </a:r>
            <a:r>
              <a:rPr lang="zh-CN" altLang="en-US" sz="3000">
                <a:ea typeface="宋体" panose="02010600030101010101" pitchFamily="2" charset="-122"/>
              </a:rPr>
              <a:t>系统配置图</a:t>
            </a:r>
          </a:p>
          <a:p>
            <a:pPr eaLnBrk="1" hangingPunct="1">
              <a:lnSpc>
                <a:spcPct val="90000"/>
              </a:lnSpc>
              <a:buClr>
                <a:srgbClr val="00B0F0"/>
              </a:buClr>
            </a:pPr>
            <a:r>
              <a:rPr lang="en-US" altLang="en-US" sz="2600"/>
              <a:t>8086</a:t>
            </a:r>
            <a:r>
              <a:rPr lang="zh-CN" altLang="en-US" sz="2600">
                <a:ea typeface="宋体" panose="02010600030101010101" pitchFamily="2" charset="-122"/>
              </a:rPr>
              <a:t>工作于最小模式时，系统配置图如图</a:t>
            </a:r>
            <a:r>
              <a:rPr lang="en-US" altLang="en-US" sz="2600"/>
              <a:t>2.10</a:t>
            </a:r>
            <a:endParaRPr lang="zh-CN" altLang="en-US" sz="2600">
              <a:ea typeface="宋体" panose="02010600030101010101" pitchFamily="2" charset="-122"/>
            </a:endParaRPr>
          </a:p>
        </p:txBody>
      </p:sp>
      <p:pic>
        <p:nvPicPr>
          <p:cNvPr id="142340" name="Picture 1">
            <a:extLst>
              <a:ext uri="{FF2B5EF4-FFF2-40B4-BE49-F238E27FC236}">
                <a16:creationId xmlns:a16="http://schemas.microsoft.com/office/drawing/2014/main" id="{7A4701C0-AFC5-408C-9B30-3CBC0B904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2095500"/>
            <a:ext cx="8151813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41" name="矩形 4">
            <a:extLst>
              <a:ext uri="{FF2B5EF4-FFF2-40B4-BE49-F238E27FC236}">
                <a16:creationId xmlns:a16="http://schemas.microsoft.com/office/drawing/2014/main" id="{6608F200-98FC-4568-9E92-709537162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6096000"/>
            <a:ext cx="890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7F7F7F"/>
                </a:solidFill>
              </a:rPr>
              <a:t>图</a:t>
            </a:r>
            <a:r>
              <a:rPr lang="en-US" altLang="en-US" sz="2000">
                <a:solidFill>
                  <a:srgbClr val="7F7F7F"/>
                </a:solidFill>
              </a:rPr>
              <a:t>2.10</a:t>
            </a:r>
            <a:endParaRPr lang="zh-CN" altLang="en-US" sz="180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9C1DC-3E70-43AA-BB96-297A64D26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2248"/>
            <a:ext cx="8229600" cy="674695"/>
          </a:xfrm>
          <a:extLst/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最小模式系统配置</a:t>
            </a:r>
          </a:p>
        </p:txBody>
      </p:sp>
      <p:sp>
        <p:nvSpPr>
          <p:cNvPr id="143363" name="内容占位符 2">
            <a:extLst>
              <a:ext uri="{FF2B5EF4-FFF2-40B4-BE49-F238E27FC236}">
                <a16:creationId xmlns:a16="http://schemas.microsoft.com/office/drawing/2014/main" id="{F32D5367-9C76-462E-B1F6-92B47E0847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0525" y="936625"/>
            <a:ext cx="8362950" cy="2054225"/>
          </a:xfrm>
        </p:spPr>
        <p:txBody>
          <a:bodyPr/>
          <a:lstStyle/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200">
                <a:ea typeface="宋体" panose="02010600030101010101" pitchFamily="2" charset="-122"/>
              </a:rPr>
              <a:t>硬件包含：</a:t>
            </a: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200">
                <a:ea typeface="宋体" panose="02010600030101010101" pitchFamily="2" charset="-122"/>
              </a:rPr>
              <a:t>	</a:t>
            </a:r>
            <a:r>
              <a:rPr lang="en-US" altLang="en-US" sz="2200"/>
              <a:t>8086 CPU</a:t>
            </a:r>
            <a:r>
              <a:rPr lang="zh-CN" altLang="en-US" sz="2200">
                <a:ea typeface="宋体" panose="02010600030101010101" pitchFamily="2" charset="-122"/>
              </a:rPr>
              <a:t>；</a:t>
            </a:r>
            <a:r>
              <a:rPr lang="en-US" altLang="zh-CN" sz="2200">
                <a:ea typeface="宋体" panose="02010600030101010101" pitchFamily="2" charset="-122"/>
              </a:rPr>
              <a:t>	   </a:t>
            </a:r>
            <a:r>
              <a:rPr lang="zh-CN" altLang="en-US" sz="2200">
                <a:ea typeface="宋体" panose="02010600030101010101" pitchFamily="2" charset="-122"/>
              </a:rPr>
              <a:t>存储器；</a:t>
            </a:r>
            <a:r>
              <a:rPr lang="en-US" altLang="zh-CN" sz="2200">
                <a:ea typeface="宋体" panose="02010600030101010101" pitchFamily="2" charset="-122"/>
              </a:rPr>
              <a:t>	</a:t>
            </a:r>
            <a:r>
              <a:rPr lang="en-US" altLang="en-US" sz="2200"/>
              <a:t>I/O</a:t>
            </a:r>
            <a:r>
              <a:rPr lang="zh-CN" altLang="en-US" sz="2200">
                <a:ea typeface="宋体" panose="02010600030101010101" pitchFamily="2" charset="-122"/>
              </a:rPr>
              <a:t>接口芯片；</a:t>
            </a: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200">
                <a:ea typeface="宋体" panose="02010600030101010101" pitchFamily="2" charset="-122"/>
              </a:rPr>
              <a:t>	1</a:t>
            </a:r>
            <a:r>
              <a:rPr lang="zh-CN" altLang="en-US" sz="2200">
                <a:ea typeface="宋体" panose="02010600030101010101" pitchFamily="2" charset="-122"/>
              </a:rPr>
              <a:t>片时钟产生器</a:t>
            </a:r>
            <a:r>
              <a:rPr lang="en-US" altLang="en-US" sz="2200"/>
              <a:t>8284A</a:t>
            </a:r>
            <a:r>
              <a:rPr lang="zh-CN" altLang="en-US" sz="2200">
                <a:ea typeface="宋体" panose="02010600030101010101" pitchFamily="2" charset="-122"/>
              </a:rPr>
              <a:t>；</a:t>
            </a: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200">
                <a:ea typeface="宋体" panose="02010600030101010101" pitchFamily="2" charset="-122"/>
              </a:rPr>
              <a:t>	3</a:t>
            </a:r>
            <a:r>
              <a:rPr lang="zh-CN" altLang="en-US" sz="2200">
                <a:ea typeface="宋体" panose="02010600030101010101" pitchFamily="2" charset="-122"/>
              </a:rPr>
              <a:t>片</a:t>
            </a:r>
            <a:r>
              <a:rPr lang="en-US" altLang="en-US" sz="2200"/>
              <a:t>8</a:t>
            </a:r>
            <a:r>
              <a:rPr lang="zh-CN" altLang="en-US" sz="2200">
                <a:ea typeface="宋体" panose="02010600030101010101" pitchFamily="2" charset="-122"/>
              </a:rPr>
              <a:t>位地址锁存器</a:t>
            </a:r>
            <a:r>
              <a:rPr lang="en-US" altLang="en-US" sz="2200"/>
              <a:t>74LS373</a:t>
            </a:r>
            <a:r>
              <a:rPr lang="zh-CN" altLang="en-US" sz="2200">
                <a:ea typeface="宋体" panose="02010600030101010101" pitchFamily="2" charset="-122"/>
              </a:rPr>
              <a:t>；</a:t>
            </a: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200">
                <a:ea typeface="宋体" panose="02010600030101010101" pitchFamily="2" charset="-122"/>
              </a:rPr>
              <a:t>	2</a:t>
            </a:r>
            <a:r>
              <a:rPr lang="zh-CN" altLang="en-US" sz="2200">
                <a:ea typeface="宋体" panose="02010600030101010101" pitchFamily="2" charset="-122"/>
              </a:rPr>
              <a:t>片</a:t>
            </a:r>
            <a:r>
              <a:rPr lang="en-US" altLang="en-US" sz="2200"/>
              <a:t>8</a:t>
            </a:r>
            <a:r>
              <a:rPr lang="zh-CN" altLang="en-US" sz="2200">
                <a:ea typeface="宋体" panose="02010600030101010101" pitchFamily="2" charset="-122"/>
              </a:rPr>
              <a:t>位双向数据总线缓冲器</a:t>
            </a:r>
            <a:r>
              <a:rPr lang="en-US" altLang="en-US" sz="2200"/>
              <a:t>74LS245</a:t>
            </a:r>
            <a:r>
              <a:rPr lang="zh-CN" altLang="en-US" sz="2200">
                <a:ea typeface="宋体" panose="02010600030101010101" pitchFamily="2" charset="-122"/>
              </a:rPr>
              <a:t>；</a:t>
            </a:r>
            <a:r>
              <a:rPr lang="en-US" altLang="zh-CN" sz="2200">
                <a:ea typeface="宋体" panose="02010600030101010101" pitchFamily="2" charset="-122"/>
              </a:rPr>
              <a:t>	</a:t>
            </a:r>
            <a:endParaRPr lang="zh-CN" altLang="en-US" sz="2200">
              <a:ea typeface="宋体" panose="02010600030101010101" pitchFamily="2" charset="-122"/>
            </a:endParaRP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endParaRPr lang="zh-CN" altLang="en-US" sz="2200">
              <a:ea typeface="宋体" panose="02010600030101010101" pitchFamily="2" charset="-122"/>
            </a:endParaRPr>
          </a:p>
          <a:p>
            <a:pPr marL="363538" indent="-363538" algn="just" eaLnBrk="1" hangingPunct="1">
              <a:buClr>
                <a:srgbClr val="FF0000"/>
              </a:buClr>
            </a:pPr>
            <a:endParaRPr lang="zh-CN" altLang="en-US" sz="2200">
              <a:ea typeface="宋体" panose="02010600030101010101" pitchFamily="2" charset="-122"/>
            </a:endParaRPr>
          </a:p>
        </p:txBody>
      </p:sp>
      <p:pic>
        <p:nvPicPr>
          <p:cNvPr id="143364" name="Picture 1">
            <a:extLst>
              <a:ext uri="{FF2B5EF4-FFF2-40B4-BE49-F238E27FC236}">
                <a16:creationId xmlns:a16="http://schemas.microsoft.com/office/drawing/2014/main" id="{5F3EF24F-97E0-47FA-8CC8-BF25E65F7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990850"/>
            <a:ext cx="6670675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u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标题 1">
            <a:extLst>
              <a:ext uri="{FF2B5EF4-FFF2-40B4-BE49-F238E27FC236}">
                <a16:creationId xmlns:a16="http://schemas.microsoft.com/office/drawing/2014/main" id="{ABEB5D3C-618C-45EF-A679-CC3325E7F5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2. </a:t>
            </a:r>
            <a:r>
              <a:rPr lang="zh-CN" altLang="en-US">
                <a:ea typeface="宋体" panose="02010600030101010101" pitchFamily="2" charset="-122"/>
              </a:rPr>
              <a:t>数据总线缓冲器</a:t>
            </a:r>
            <a:r>
              <a:rPr lang="en-US" altLang="en-US"/>
              <a:t>74LS244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en-US"/>
              <a:t>74LS245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4387" name="内容占位符 2">
            <a:extLst>
              <a:ext uri="{FF2B5EF4-FFF2-40B4-BE49-F238E27FC236}">
                <a16:creationId xmlns:a16="http://schemas.microsoft.com/office/drawing/2014/main" id="{C03A8A0C-A691-48F9-A33B-4C261E5F6D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1117600"/>
            <a:ext cx="8372475" cy="9779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00B0F0"/>
              </a:buClr>
            </a:pPr>
            <a:r>
              <a:rPr lang="en-US" altLang="en-US"/>
              <a:t>74LS 244  </a:t>
            </a:r>
            <a:r>
              <a:rPr lang="zh-CN" altLang="en-US">
                <a:ea typeface="宋体" panose="02010600030101010101" pitchFamily="2" charset="-122"/>
              </a:rPr>
              <a:t>单向数据总线缓冲器（三态门）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图</a:t>
            </a:r>
            <a:r>
              <a:rPr lang="en-US" altLang="en-US" sz="2400"/>
              <a:t>2.11  74LS 244</a:t>
            </a:r>
            <a:r>
              <a:rPr lang="zh-CN" altLang="en-US" sz="2400">
                <a:ea typeface="宋体" panose="02010600030101010101" pitchFamily="2" charset="-122"/>
              </a:rPr>
              <a:t>的逻辑功能和引脚</a:t>
            </a:r>
          </a:p>
        </p:txBody>
      </p:sp>
      <p:pic>
        <p:nvPicPr>
          <p:cNvPr id="144388" name="图片 11" descr="LF_t2.11.png">
            <a:extLst>
              <a:ext uri="{FF2B5EF4-FFF2-40B4-BE49-F238E27FC236}">
                <a16:creationId xmlns:a16="http://schemas.microsoft.com/office/drawing/2014/main" id="{609C005D-EC7B-43EB-AE2F-B529C9839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2192338"/>
            <a:ext cx="4722813" cy="44100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9" name="内容占位符 2">
            <a:extLst>
              <a:ext uri="{FF2B5EF4-FFF2-40B4-BE49-F238E27FC236}">
                <a16:creationId xmlns:a16="http://schemas.microsoft.com/office/drawing/2014/main" id="{C06FA964-BF37-420A-8481-C7A410AAA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5575" y="2192338"/>
            <a:ext cx="3273425" cy="431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sz="2200">
                <a:latin typeface="Garamond" panose="02020404030301010803" pitchFamily="18" charset="0"/>
              </a:rPr>
              <a:t>     =0, </a:t>
            </a:r>
            <a:r>
              <a:rPr lang="en-US" altLang="en-US" sz="2200">
                <a:latin typeface="Garamond" panose="02020404030301010803" pitchFamily="18" charset="0"/>
              </a:rPr>
              <a:t>1A</a:t>
            </a:r>
            <a:r>
              <a:rPr lang="en-US" altLang="en-US" sz="2200" baseline="-25000">
                <a:latin typeface="Garamond" panose="02020404030301010803" pitchFamily="18" charset="0"/>
              </a:rPr>
              <a:t>1</a:t>
            </a:r>
            <a:r>
              <a:rPr lang="en-US" altLang="en-US" sz="2200">
                <a:latin typeface="Garamond" panose="02020404030301010803" pitchFamily="18" charset="0"/>
                <a:sym typeface="Symbol" panose="05050102010706020507" pitchFamily="18" charset="2"/>
              </a:rPr>
              <a:t></a:t>
            </a:r>
            <a:r>
              <a:rPr lang="en-US" altLang="en-US" sz="2200">
                <a:latin typeface="Garamond" panose="02020404030301010803" pitchFamily="18" charset="0"/>
              </a:rPr>
              <a:t>1A</a:t>
            </a:r>
            <a:r>
              <a:rPr lang="en-US" altLang="en-US" sz="2200" baseline="-25000">
                <a:latin typeface="Garamond" panose="02020404030301010803" pitchFamily="18" charset="0"/>
              </a:rPr>
              <a:t>4</a:t>
            </a:r>
            <a:r>
              <a:rPr lang="zh-CN" altLang="en-US" sz="2200">
                <a:latin typeface="Garamond" panose="02020404030301010803" pitchFamily="18" charset="0"/>
              </a:rPr>
              <a:t>端的信号被传送到</a:t>
            </a:r>
            <a:r>
              <a:rPr lang="en-US" altLang="en-US" sz="2200">
                <a:latin typeface="Garamond" panose="02020404030301010803" pitchFamily="18" charset="0"/>
              </a:rPr>
              <a:t>1Y</a:t>
            </a:r>
            <a:r>
              <a:rPr lang="en-US" altLang="en-US" sz="2200" baseline="-25000">
                <a:latin typeface="Garamond" panose="02020404030301010803" pitchFamily="18" charset="0"/>
              </a:rPr>
              <a:t>1</a:t>
            </a:r>
            <a:r>
              <a:rPr lang="en-US" altLang="en-US" sz="2200">
                <a:latin typeface="Garamond" panose="02020404030301010803" pitchFamily="18" charset="0"/>
                <a:sym typeface="Symbol" panose="05050102010706020507" pitchFamily="18" charset="2"/>
              </a:rPr>
              <a:t></a:t>
            </a:r>
            <a:r>
              <a:rPr lang="en-US" altLang="en-US" sz="2200">
                <a:latin typeface="Garamond" panose="02020404030301010803" pitchFamily="18" charset="0"/>
              </a:rPr>
              <a:t>1Y</a:t>
            </a:r>
            <a:r>
              <a:rPr lang="en-US" altLang="en-US" sz="2200" baseline="-25000">
                <a:latin typeface="Garamond" panose="02020404030301010803" pitchFamily="18" charset="0"/>
              </a:rPr>
              <a:t>4</a:t>
            </a:r>
            <a:r>
              <a:rPr lang="zh-CN" altLang="en-US" sz="2200">
                <a:latin typeface="Garamond" panose="02020404030301010803" pitchFamily="18" charset="0"/>
              </a:rPr>
              <a:t>；</a:t>
            </a: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sz="2200">
                <a:latin typeface="Garamond" panose="02020404030301010803" pitchFamily="18" charset="0"/>
              </a:rPr>
              <a:t>    =0, </a:t>
            </a:r>
            <a:r>
              <a:rPr lang="en-US" altLang="en-US" sz="2200">
                <a:latin typeface="Garamond" panose="02020404030301010803" pitchFamily="18" charset="0"/>
              </a:rPr>
              <a:t>2A</a:t>
            </a:r>
            <a:r>
              <a:rPr lang="en-US" altLang="en-US" sz="2200" baseline="-25000">
                <a:latin typeface="Garamond" panose="02020404030301010803" pitchFamily="18" charset="0"/>
              </a:rPr>
              <a:t>1</a:t>
            </a:r>
            <a:r>
              <a:rPr lang="en-US" altLang="en-US" sz="2200">
                <a:latin typeface="Garamond" panose="02020404030301010803" pitchFamily="18" charset="0"/>
                <a:sym typeface="Symbol" panose="05050102010706020507" pitchFamily="18" charset="2"/>
              </a:rPr>
              <a:t></a:t>
            </a:r>
            <a:r>
              <a:rPr lang="en-US" altLang="en-US" sz="2200">
                <a:latin typeface="Garamond" panose="02020404030301010803" pitchFamily="18" charset="0"/>
              </a:rPr>
              <a:t>2A</a:t>
            </a:r>
            <a:r>
              <a:rPr lang="en-US" altLang="en-US" sz="2200" baseline="-25000">
                <a:latin typeface="Garamond" panose="02020404030301010803" pitchFamily="18" charset="0"/>
              </a:rPr>
              <a:t>4</a:t>
            </a:r>
            <a:r>
              <a:rPr lang="zh-CN" altLang="en-US" sz="2200">
                <a:latin typeface="Garamond" panose="02020404030301010803" pitchFamily="18" charset="0"/>
              </a:rPr>
              <a:t>端的信号被传送到</a:t>
            </a:r>
            <a:r>
              <a:rPr lang="en-US" altLang="en-US" sz="2200">
                <a:latin typeface="Garamond" panose="02020404030301010803" pitchFamily="18" charset="0"/>
              </a:rPr>
              <a:t>2Y</a:t>
            </a:r>
            <a:r>
              <a:rPr lang="en-US" altLang="en-US" sz="2200" baseline="-25000">
                <a:latin typeface="Garamond" panose="02020404030301010803" pitchFamily="18" charset="0"/>
              </a:rPr>
              <a:t>1</a:t>
            </a:r>
            <a:r>
              <a:rPr lang="en-US" altLang="en-US" sz="2200">
                <a:latin typeface="Garamond" panose="02020404030301010803" pitchFamily="18" charset="0"/>
              </a:rPr>
              <a:t>~2Y</a:t>
            </a:r>
            <a:r>
              <a:rPr lang="en-US" altLang="en-US" sz="2200" baseline="-25000">
                <a:latin typeface="Garamond" panose="02020404030301010803" pitchFamily="18" charset="0"/>
              </a:rPr>
              <a:t>4</a:t>
            </a:r>
            <a:r>
              <a:rPr lang="zh-CN" altLang="en-US" sz="2200">
                <a:latin typeface="Garamond" panose="02020404030301010803" pitchFamily="18" charset="0"/>
              </a:rPr>
              <a:t>；</a:t>
            </a: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200">
                <a:latin typeface="Garamond" panose="02020404030301010803" pitchFamily="18" charset="0"/>
              </a:rPr>
              <a:t>当    和  </a:t>
            </a:r>
            <a:r>
              <a:rPr lang="en-US" altLang="zh-CN" sz="2200">
                <a:latin typeface="Garamond" panose="02020404030301010803" pitchFamily="18" charset="0"/>
              </a:rPr>
              <a:t>  =1 </a:t>
            </a:r>
            <a:r>
              <a:rPr lang="zh-CN" altLang="en-US" sz="2200">
                <a:latin typeface="Garamond" panose="02020404030301010803" pitchFamily="18" charset="0"/>
              </a:rPr>
              <a:t>时，输出呈高阻态。</a:t>
            </a: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200">
                <a:latin typeface="Garamond" panose="02020404030301010803" pitchFamily="18" charset="0"/>
              </a:rPr>
              <a:t>常把    和     连起来，由</a:t>
            </a:r>
            <a:r>
              <a:rPr lang="en-US" altLang="zh-CN" sz="2200">
                <a:latin typeface="Garamond" panose="02020404030301010803" pitchFamily="18" charset="0"/>
              </a:rPr>
              <a:t>1</a:t>
            </a:r>
            <a:r>
              <a:rPr lang="zh-CN" altLang="en-US" sz="2200">
                <a:latin typeface="Garamond" panose="02020404030301010803" pitchFamily="18" charset="0"/>
              </a:rPr>
              <a:t>个片选信号控制，同时</a:t>
            </a:r>
            <a:r>
              <a:rPr lang="zh-CN" altLang="en-US" sz="2200">
                <a:solidFill>
                  <a:srgbClr val="C00000"/>
                </a:solidFill>
                <a:latin typeface="Garamond" panose="02020404030301010803" pitchFamily="18" charset="0"/>
              </a:rPr>
              <a:t>控制</a:t>
            </a:r>
            <a:r>
              <a:rPr lang="en-US" altLang="zh-CN" sz="2200">
                <a:solidFill>
                  <a:srgbClr val="C00000"/>
                </a:solidFill>
                <a:latin typeface="Garamond" panose="02020404030301010803" pitchFamily="18" charset="0"/>
              </a:rPr>
              <a:t>8</a:t>
            </a:r>
            <a:r>
              <a:rPr lang="zh-CN" altLang="en-US" sz="2200">
                <a:solidFill>
                  <a:srgbClr val="C00000"/>
                </a:solidFill>
                <a:latin typeface="Garamond" panose="02020404030301010803" pitchFamily="18" charset="0"/>
              </a:rPr>
              <a:t>位数据</a:t>
            </a:r>
            <a:r>
              <a:rPr lang="zh-CN" altLang="en-US" sz="2200">
                <a:latin typeface="Garamond" panose="02020404030301010803" pitchFamily="18" charset="0"/>
              </a:rPr>
              <a:t>传输。</a:t>
            </a:r>
          </a:p>
        </p:txBody>
      </p:sp>
      <p:grpSp>
        <p:nvGrpSpPr>
          <p:cNvPr id="144390" name="组合 4">
            <a:extLst>
              <a:ext uri="{FF2B5EF4-FFF2-40B4-BE49-F238E27FC236}">
                <a16:creationId xmlns:a16="http://schemas.microsoft.com/office/drawing/2014/main" id="{18428CC2-C676-40D6-A7F1-0191ADC4CCE1}"/>
              </a:ext>
            </a:extLst>
          </p:cNvPr>
          <p:cNvGrpSpPr>
            <a:grpSpLocks/>
          </p:cNvGrpSpPr>
          <p:nvPr/>
        </p:nvGrpSpPr>
        <p:grpSpPr bwMode="auto">
          <a:xfrm>
            <a:off x="6024563" y="4451350"/>
            <a:ext cx="506412" cy="368300"/>
            <a:chOff x="8562" y="3784"/>
            <a:chExt cx="796" cy="58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8E61DD5-5E5E-4095-A496-BEF4B2128A38}"/>
                </a:ext>
              </a:extLst>
            </p:cNvPr>
            <p:cNvCxnSpPr/>
            <p:nvPr/>
          </p:nvCxnSpPr>
          <p:spPr>
            <a:xfrm flipV="1">
              <a:off x="8749" y="3814"/>
              <a:ext cx="377" cy="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33CDAD0-8EAD-4CC1-B821-8526C93F74BD}"/>
                </a:ext>
              </a:extLst>
            </p:cNvPr>
            <p:cNvSpPr txBox="1"/>
            <p:nvPr/>
          </p:nvSpPr>
          <p:spPr>
            <a:xfrm>
              <a:off x="8562" y="3784"/>
              <a:ext cx="796" cy="5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noProof="1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aramond" panose="02020404030301010803" pitchFamily="2" charset="0"/>
                  <a:cs typeface="+mn-ea"/>
                  <a:sym typeface="+mn-ea"/>
                </a:rPr>
                <a:t>1G</a:t>
              </a:r>
              <a:endParaRPr lang="zh-CN" altLang="en-US" noProof="1"/>
            </a:p>
          </p:txBody>
        </p:sp>
      </p:grpSp>
      <p:grpSp>
        <p:nvGrpSpPr>
          <p:cNvPr id="144391" name="组合 5">
            <a:extLst>
              <a:ext uri="{FF2B5EF4-FFF2-40B4-BE49-F238E27FC236}">
                <a16:creationId xmlns:a16="http://schemas.microsoft.com/office/drawing/2014/main" id="{094F93F0-2616-4F30-87E1-AE73741870AE}"/>
              </a:ext>
            </a:extLst>
          </p:cNvPr>
          <p:cNvGrpSpPr>
            <a:grpSpLocks/>
          </p:cNvGrpSpPr>
          <p:nvPr/>
        </p:nvGrpSpPr>
        <p:grpSpPr bwMode="auto">
          <a:xfrm>
            <a:off x="5457825" y="3003550"/>
            <a:ext cx="504825" cy="368300"/>
            <a:chOff x="8562" y="3784"/>
            <a:chExt cx="797" cy="58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629C2D7-088E-4494-99C5-C96E47186A11}"/>
                </a:ext>
              </a:extLst>
            </p:cNvPr>
            <p:cNvCxnSpPr/>
            <p:nvPr/>
          </p:nvCxnSpPr>
          <p:spPr>
            <a:xfrm flipV="1">
              <a:off x="8750" y="3814"/>
              <a:ext cx="376" cy="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7887719-B70E-4B97-82F8-933E9BEE4542}"/>
                </a:ext>
              </a:extLst>
            </p:cNvPr>
            <p:cNvSpPr txBox="1"/>
            <p:nvPr/>
          </p:nvSpPr>
          <p:spPr>
            <a:xfrm>
              <a:off x="8562" y="3784"/>
              <a:ext cx="797" cy="5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noProof="1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aramond" panose="02020404030301010803" pitchFamily="2" charset="0"/>
                  <a:cs typeface="+mn-ea"/>
                  <a:sym typeface="+mn-ea"/>
                </a:rPr>
                <a:t>2G</a:t>
              </a:r>
              <a:endParaRPr lang="zh-CN" altLang="en-US" noProof="1"/>
            </a:p>
          </p:txBody>
        </p:sp>
      </p:grpSp>
      <p:grpSp>
        <p:nvGrpSpPr>
          <p:cNvPr id="144392" name="组合 12">
            <a:extLst>
              <a:ext uri="{FF2B5EF4-FFF2-40B4-BE49-F238E27FC236}">
                <a16:creationId xmlns:a16="http://schemas.microsoft.com/office/drawing/2014/main" id="{F70AA0AB-952B-4AA6-AB5A-99CAE19AF6A6}"/>
              </a:ext>
            </a:extLst>
          </p:cNvPr>
          <p:cNvGrpSpPr>
            <a:grpSpLocks/>
          </p:cNvGrpSpPr>
          <p:nvPr/>
        </p:nvGrpSpPr>
        <p:grpSpPr bwMode="auto">
          <a:xfrm>
            <a:off x="5753100" y="3724275"/>
            <a:ext cx="506413" cy="368300"/>
            <a:chOff x="8562" y="3784"/>
            <a:chExt cx="796" cy="580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EF920E9F-27A4-4231-AD45-82653562D297}"/>
                </a:ext>
              </a:extLst>
            </p:cNvPr>
            <p:cNvCxnSpPr/>
            <p:nvPr/>
          </p:nvCxnSpPr>
          <p:spPr>
            <a:xfrm flipV="1">
              <a:off x="8749" y="3814"/>
              <a:ext cx="377" cy="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B23B77F-66A8-4A63-B789-1BCD59BB2504}"/>
                </a:ext>
              </a:extLst>
            </p:cNvPr>
            <p:cNvSpPr txBox="1"/>
            <p:nvPr/>
          </p:nvSpPr>
          <p:spPr>
            <a:xfrm>
              <a:off x="8562" y="3784"/>
              <a:ext cx="796" cy="5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noProof="1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aramond" panose="02020404030301010803" pitchFamily="2" charset="0"/>
                  <a:cs typeface="+mn-ea"/>
                  <a:sym typeface="+mn-ea"/>
                </a:rPr>
                <a:t>1G</a:t>
              </a:r>
              <a:endParaRPr lang="zh-CN" altLang="en-US" noProof="1"/>
            </a:p>
          </p:txBody>
        </p:sp>
      </p:grpSp>
      <p:grpSp>
        <p:nvGrpSpPr>
          <p:cNvPr id="144393" name="组合 21">
            <a:extLst>
              <a:ext uri="{FF2B5EF4-FFF2-40B4-BE49-F238E27FC236}">
                <a16:creationId xmlns:a16="http://schemas.microsoft.com/office/drawing/2014/main" id="{98F519F5-5C9A-488C-83F0-EB4A0F42F4D1}"/>
              </a:ext>
            </a:extLst>
          </p:cNvPr>
          <p:cNvGrpSpPr>
            <a:grpSpLocks/>
          </p:cNvGrpSpPr>
          <p:nvPr/>
        </p:nvGrpSpPr>
        <p:grpSpPr bwMode="auto">
          <a:xfrm>
            <a:off x="6302375" y="3721100"/>
            <a:ext cx="504825" cy="368300"/>
            <a:chOff x="8562" y="3784"/>
            <a:chExt cx="797" cy="580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DD915D3-26CC-4340-9780-D0C648123467}"/>
                </a:ext>
              </a:extLst>
            </p:cNvPr>
            <p:cNvCxnSpPr/>
            <p:nvPr/>
          </p:nvCxnSpPr>
          <p:spPr>
            <a:xfrm flipV="1">
              <a:off x="8750" y="3814"/>
              <a:ext cx="376" cy="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C201A1C-6637-495A-A7CD-CED56B28A9D8}"/>
                </a:ext>
              </a:extLst>
            </p:cNvPr>
            <p:cNvSpPr txBox="1"/>
            <p:nvPr/>
          </p:nvSpPr>
          <p:spPr>
            <a:xfrm>
              <a:off x="8562" y="3784"/>
              <a:ext cx="797" cy="5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noProof="1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aramond" panose="02020404030301010803" pitchFamily="2" charset="0"/>
                  <a:cs typeface="+mn-ea"/>
                  <a:sym typeface="+mn-ea"/>
                </a:rPr>
                <a:t>2G</a:t>
              </a:r>
              <a:endParaRPr lang="zh-CN" altLang="en-US" noProof="1"/>
            </a:p>
          </p:txBody>
        </p:sp>
      </p:grpSp>
      <p:grpSp>
        <p:nvGrpSpPr>
          <p:cNvPr id="144394" name="组合 24">
            <a:extLst>
              <a:ext uri="{FF2B5EF4-FFF2-40B4-BE49-F238E27FC236}">
                <a16:creationId xmlns:a16="http://schemas.microsoft.com/office/drawing/2014/main" id="{3000959D-7EEC-4B54-868B-57ABA08390F4}"/>
              </a:ext>
            </a:extLst>
          </p:cNvPr>
          <p:cNvGrpSpPr>
            <a:grpSpLocks/>
          </p:cNvGrpSpPr>
          <p:nvPr/>
        </p:nvGrpSpPr>
        <p:grpSpPr bwMode="auto">
          <a:xfrm>
            <a:off x="6597650" y="4430713"/>
            <a:ext cx="506413" cy="368300"/>
            <a:chOff x="8562" y="3784"/>
            <a:chExt cx="797" cy="580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813885A7-5BA5-4496-BB42-AAD1DAD1AD23}"/>
                </a:ext>
              </a:extLst>
            </p:cNvPr>
            <p:cNvCxnSpPr/>
            <p:nvPr/>
          </p:nvCxnSpPr>
          <p:spPr>
            <a:xfrm flipV="1">
              <a:off x="8749" y="3814"/>
              <a:ext cx="375" cy="2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1C1DF5F-EAF1-46D2-A6BB-DBD3D515940A}"/>
                </a:ext>
              </a:extLst>
            </p:cNvPr>
            <p:cNvSpPr txBox="1"/>
            <p:nvPr/>
          </p:nvSpPr>
          <p:spPr>
            <a:xfrm>
              <a:off x="8562" y="3784"/>
              <a:ext cx="797" cy="5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noProof="1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aramond" panose="02020404030301010803" pitchFamily="2" charset="0"/>
                  <a:cs typeface="+mn-ea"/>
                  <a:sym typeface="+mn-ea"/>
                </a:rPr>
                <a:t>2G</a:t>
              </a:r>
              <a:endParaRPr lang="zh-CN" altLang="en-US" noProof="1"/>
            </a:p>
          </p:txBody>
        </p:sp>
      </p:grpSp>
      <p:grpSp>
        <p:nvGrpSpPr>
          <p:cNvPr id="144395" name="组合 27">
            <a:extLst>
              <a:ext uri="{FF2B5EF4-FFF2-40B4-BE49-F238E27FC236}">
                <a16:creationId xmlns:a16="http://schemas.microsoft.com/office/drawing/2014/main" id="{3865B977-8797-4951-91A5-FF2BC93A9566}"/>
              </a:ext>
            </a:extLst>
          </p:cNvPr>
          <p:cNvGrpSpPr>
            <a:grpSpLocks/>
          </p:cNvGrpSpPr>
          <p:nvPr/>
        </p:nvGrpSpPr>
        <p:grpSpPr bwMode="auto">
          <a:xfrm>
            <a:off x="5519738" y="2263775"/>
            <a:ext cx="506412" cy="368300"/>
            <a:chOff x="8562" y="3784"/>
            <a:chExt cx="796" cy="580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C324F7F-3269-4828-8ED8-69AE344D5CA2}"/>
                </a:ext>
              </a:extLst>
            </p:cNvPr>
            <p:cNvCxnSpPr/>
            <p:nvPr/>
          </p:nvCxnSpPr>
          <p:spPr>
            <a:xfrm flipV="1">
              <a:off x="8749" y="3814"/>
              <a:ext cx="377" cy="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EB3A487-7AD0-4D36-89BE-280632DE2038}"/>
                </a:ext>
              </a:extLst>
            </p:cNvPr>
            <p:cNvSpPr txBox="1"/>
            <p:nvPr/>
          </p:nvSpPr>
          <p:spPr>
            <a:xfrm>
              <a:off x="8562" y="3784"/>
              <a:ext cx="796" cy="5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noProof="1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aramond" panose="02020404030301010803" pitchFamily="2" charset="0"/>
                  <a:cs typeface="+mn-ea"/>
                  <a:sym typeface="+mn-ea"/>
                </a:rPr>
                <a:t>1G</a:t>
              </a:r>
              <a:endParaRPr lang="zh-CN" altLang="en-US" noProof="1"/>
            </a:p>
          </p:txBody>
        </p:sp>
      </p:grpSp>
    </p:spTree>
  </p:cSld>
  <p:clrMapOvr>
    <a:masterClrMapping/>
  </p:clrMapOvr>
  <p:transition spd="slow">
    <p:wipe dir="r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D4AFAC-4ECA-435F-9AA1-57ED2C613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17500"/>
            <a:ext cx="8372475" cy="632460"/>
          </a:xfrm>
          <a:extLst/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indent="0" eaLnBrk="1" hangingPunct="1">
              <a:buClr>
                <a:srgbClr val="00B0F0"/>
              </a:buClr>
              <a:buFont typeface="Wingdings" panose="05000000000000000000" pitchFamily="2" charset="2"/>
              <a:buNone/>
              <a:defRPr/>
            </a:pPr>
            <a:r>
              <a:rPr 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74LS 245  </a:t>
            </a: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双向数据总线缓冲器</a:t>
            </a:r>
            <a:endParaRPr lang="zh-CN" altLang="en-US" sz="24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BDEC69F-0F9A-4F3E-9EAB-B4A096DBBE07}"/>
              </a:ext>
            </a:extLst>
          </p:cNvPr>
          <p:cNvSpPr txBox="1"/>
          <p:nvPr/>
        </p:nvSpPr>
        <p:spPr bwMode="auto">
          <a:xfrm>
            <a:off x="6572250" y="1784350"/>
            <a:ext cx="2222500" cy="4311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eaLnBrk="1" hangingPunct="1"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+mn-lt"/>
                <a:cs typeface="+mn-ea"/>
              </a:rPr>
              <a:t>门控信号   ，方向控制</a:t>
            </a:r>
            <a:r>
              <a:rPr lang="en-US" sz="2400" noProof="1">
                <a:solidFill>
                  <a:srgbClr val="C00000"/>
                </a:solidFill>
                <a:latin typeface="+mn-lt"/>
                <a:cs typeface="+mn-ea"/>
              </a:rPr>
              <a:t>DIR</a:t>
            </a:r>
            <a:r>
              <a:rPr lang="zh-CN" altLang="en-US" sz="2400" noProof="1">
                <a:latin typeface="+mn-lt"/>
                <a:cs typeface="+mn-ea"/>
              </a:rPr>
              <a:t>。</a:t>
            </a:r>
            <a:endParaRPr lang="zh-CN" altLang="en-US" sz="2400" noProof="1">
              <a:latin typeface="+mn-lt"/>
            </a:endParaRPr>
          </a:p>
          <a:p>
            <a:pPr eaLnBrk="1" hangingPunct="1"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+mn-lt"/>
                <a:cs typeface="+mn-ea"/>
              </a:rPr>
              <a:t>只有 </a:t>
            </a:r>
            <a:r>
              <a:rPr lang="en-US" altLang="zh-CN" sz="2400" noProof="1">
                <a:latin typeface="+mn-lt"/>
                <a:cs typeface="+mn-ea"/>
              </a:rPr>
              <a:t>  </a:t>
            </a:r>
            <a:r>
              <a:rPr lang="en-US" sz="2400" noProof="1">
                <a:latin typeface="+mn-lt"/>
                <a:cs typeface="+mn-ea"/>
              </a:rPr>
              <a:t>=0</a:t>
            </a:r>
            <a:r>
              <a:rPr lang="zh-CN" altLang="en-US" sz="2400" noProof="1">
                <a:latin typeface="+mn-lt"/>
                <a:cs typeface="+mn-ea"/>
              </a:rPr>
              <a:t>，数据才能传输；</a:t>
            </a:r>
            <a:endParaRPr lang="zh-CN" altLang="en-US" sz="2400" noProof="1">
              <a:latin typeface="+mn-lt"/>
            </a:endParaRPr>
          </a:p>
          <a:p>
            <a:pPr eaLnBrk="1" hangingPunct="1"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+mn-ea"/>
              </a:rPr>
              <a:t>DIR</a:t>
            </a:r>
            <a:r>
              <a:rPr lang="en-US" sz="2400" noProof="1">
                <a:latin typeface="+mn-lt"/>
                <a:cs typeface="+mn-ea"/>
              </a:rPr>
              <a:t>=1, </a:t>
            </a:r>
            <a:r>
              <a:rPr lang="zh-CN" altLang="en-US" sz="2400" noProof="1">
                <a:latin typeface="+mn-lt"/>
                <a:cs typeface="+mn-ea"/>
              </a:rPr>
              <a:t>传输方向</a:t>
            </a:r>
            <a:r>
              <a:rPr lang="en-US" sz="2400" noProof="1">
                <a:solidFill>
                  <a:srgbClr val="FF0000"/>
                </a:solidFill>
                <a:latin typeface="+mn-lt"/>
                <a:cs typeface="+mn-ea"/>
              </a:rPr>
              <a:t>A</a:t>
            </a:r>
            <a:r>
              <a:rPr lang="en-US" sz="2400" noProof="1">
                <a:solidFill>
                  <a:srgbClr val="FF0000"/>
                </a:solidFill>
                <a:latin typeface="+mn-lt"/>
                <a:cs typeface="+mn-ea"/>
                <a:sym typeface="Wingdings 3" panose="05040102010807070707"/>
              </a:rPr>
              <a:t></a:t>
            </a:r>
            <a:r>
              <a:rPr lang="en-US" sz="2400" noProof="1">
                <a:solidFill>
                  <a:srgbClr val="FF0000"/>
                </a:solidFill>
                <a:latin typeface="+mn-lt"/>
                <a:cs typeface="+mn-ea"/>
              </a:rPr>
              <a:t>B</a:t>
            </a:r>
            <a:r>
              <a:rPr lang="zh-CN" altLang="en-US" sz="2400" noProof="1">
                <a:latin typeface="+mn-lt"/>
                <a:cs typeface="+mn-ea"/>
              </a:rPr>
              <a:t>；</a:t>
            </a:r>
            <a:endParaRPr lang="en-US" altLang="zh-CN" sz="2400" noProof="1">
              <a:latin typeface="+mn-lt"/>
            </a:endParaRPr>
          </a:p>
          <a:p>
            <a:pPr eaLnBrk="1" hangingPunct="1"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+mn-ea"/>
              </a:rPr>
              <a:t>DIR</a:t>
            </a:r>
            <a:r>
              <a:rPr lang="en-US" sz="2400" noProof="1">
                <a:latin typeface="+mn-lt"/>
                <a:cs typeface="+mn-ea"/>
              </a:rPr>
              <a:t>=0,</a:t>
            </a:r>
            <a:r>
              <a:rPr lang="zh-CN" altLang="en-US" sz="2400" noProof="1">
                <a:latin typeface="+mn-lt"/>
                <a:cs typeface="+mn-ea"/>
              </a:rPr>
              <a:t>传输方向</a:t>
            </a:r>
            <a:r>
              <a:rPr lang="en-US" altLang="zh-CN" sz="2400" noProof="1">
                <a:solidFill>
                  <a:srgbClr val="FF0000"/>
                </a:solidFill>
                <a:latin typeface="+mn-lt"/>
                <a:cs typeface="+mn-ea"/>
              </a:rPr>
              <a:t>A</a:t>
            </a:r>
            <a:r>
              <a:rPr lang="zh-CN" altLang="en-US" sz="2400" noProof="1">
                <a:solidFill>
                  <a:srgbClr val="FF0000"/>
                </a:solidFill>
                <a:latin typeface="+mn-lt"/>
                <a:cs typeface="+mn-ea"/>
                <a:sym typeface="Wingdings 3" panose="05040102010807070707"/>
              </a:rPr>
              <a:t></a:t>
            </a:r>
            <a:r>
              <a:rPr lang="en-US" altLang="zh-CN" sz="2400" noProof="1">
                <a:solidFill>
                  <a:srgbClr val="FF0000"/>
                </a:solidFill>
                <a:latin typeface="+mn-lt"/>
                <a:cs typeface="+mn-ea"/>
              </a:rPr>
              <a:t>B</a:t>
            </a:r>
            <a:r>
              <a:rPr lang="zh-CN" altLang="en-US" sz="2400" noProof="1">
                <a:latin typeface="+mn-lt"/>
                <a:cs typeface="+mn-ea"/>
              </a:rPr>
              <a:t>。</a:t>
            </a:r>
            <a:endParaRPr lang="zh-CN" altLang="en-US" sz="2400" noProof="1">
              <a:latin typeface="+mn-lt"/>
            </a:endParaRPr>
          </a:p>
          <a:p>
            <a:pPr marL="533400" indent="-533400">
              <a:spcBef>
                <a:spcPct val="30000"/>
              </a:spcBef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endParaRPr lang="zh-CN" altLang="en-US" kern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45412" name="图片 8" descr="LF_t2.12-m.PNG">
            <a:extLst>
              <a:ext uri="{FF2B5EF4-FFF2-40B4-BE49-F238E27FC236}">
                <a16:creationId xmlns:a16="http://schemas.microsoft.com/office/drawing/2014/main" id="{B8F4C217-8501-4CBC-8C77-70DD4EC88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818181"/>
              </a:clrFrom>
              <a:clrTo>
                <a:srgbClr val="81818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562100"/>
            <a:ext cx="5954713" cy="4775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C4BA38C-0120-4A49-BD7D-FB6D6733099D}"/>
              </a:ext>
            </a:extLst>
          </p:cNvPr>
          <p:cNvSpPr txBox="1"/>
          <p:nvPr/>
        </p:nvSpPr>
        <p:spPr>
          <a:xfrm>
            <a:off x="681990" y="1072515"/>
            <a:ext cx="4328795" cy="36765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+mn-ea"/>
                <a:sym typeface="+mn-ea"/>
              </a:rPr>
              <a:t>图</a:t>
            </a:r>
            <a:r>
              <a:rPr lang="en-US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+mn-ea"/>
                <a:sym typeface="+mn-ea"/>
              </a:rPr>
              <a:t>2.12  74LS245</a:t>
            </a:r>
            <a:r>
              <a:rPr lang="zh-CN" altLang="en-US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+mn-ea"/>
                <a:sym typeface="+mn-ea"/>
              </a:rPr>
              <a:t>的逻辑功能和引脚图</a:t>
            </a:r>
            <a:endParaRPr lang="zh-CN" altLang="en-US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sym typeface="+mn-ea"/>
            </a:endParaRPr>
          </a:p>
        </p:txBody>
      </p:sp>
      <p:grpSp>
        <p:nvGrpSpPr>
          <p:cNvPr id="145414" name="组合 6">
            <a:extLst>
              <a:ext uri="{FF2B5EF4-FFF2-40B4-BE49-F238E27FC236}">
                <a16:creationId xmlns:a16="http://schemas.microsoft.com/office/drawing/2014/main" id="{F87B4D3E-80B0-46B6-8164-4F099EB89F16}"/>
              </a:ext>
            </a:extLst>
          </p:cNvPr>
          <p:cNvGrpSpPr>
            <a:grpSpLocks/>
          </p:cNvGrpSpPr>
          <p:nvPr/>
        </p:nvGrpSpPr>
        <p:grpSpPr bwMode="auto">
          <a:xfrm>
            <a:off x="8062913" y="1797050"/>
            <a:ext cx="395287" cy="517525"/>
            <a:chOff x="11527" y="1881"/>
            <a:chExt cx="624" cy="816"/>
          </a:xfrm>
        </p:grpSpPr>
        <p:sp>
          <p:nvSpPr>
            <p:cNvPr id="145418" name="文本框 4">
              <a:extLst>
                <a:ext uri="{FF2B5EF4-FFF2-40B4-BE49-F238E27FC236}">
                  <a16:creationId xmlns:a16="http://schemas.microsoft.com/office/drawing/2014/main" id="{57D15E70-9ECB-474C-9E1A-4F3B2D2D5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7" y="1881"/>
              <a:ext cx="624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Garamond" panose="02020404030301010803" pitchFamily="18" charset="0"/>
                </a:rPr>
                <a:t>G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2D13C8E-D3E2-43D7-BDCE-3C85F8046F6C}"/>
                </a:ext>
              </a:extLst>
            </p:cNvPr>
            <p:cNvCxnSpPr/>
            <p:nvPr/>
          </p:nvCxnSpPr>
          <p:spPr>
            <a:xfrm>
              <a:off x="11610" y="1974"/>
              <a:ext cx="424" cy="1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415" name="组合 7">
            <a:extLst>
              <a:ext uri="{FF2B5EF4-FFF2-40B4-BE49-F238E27FC236}">
                <a16:creationId xmlns:a16="http://schemas.microsoft.com/office/drawing/2014/main" id="{D3F1B858-1B3A-4FCB-AE62-0DBE826CD744}"/>
              </a:ext>
            </a:extLst>
          </p:cNvPr>
          <p:cNvGrpSpPr>
            <a:grpSpLocks/>
          </p:cNvGrpSpPr>
          <p:nvPr/>
        </p:nvGrpSpPr>
        <p:grpSpPr bwMode="auto">
          <a:xfrm>
            <a:off x="7424738" y="2651125"/>
            <a:ext cx="396875" cy="517525"/>
            <a:chOff x="11527" y="1881"/>
            <a:chExt cx="624" cy="816"/>
          </a:xfrm>
        </p:grpSpPr>
        <p:sp>
          <p:nvSpPr>
            <p:cNvPr id="145416" name="文本框 8">
              <a:extLst>
                <a:ext uri="{FF2B5EF4-FFF2-40B4-BE49-F238E27FC236}">
                  <a16:creationId xmlns:a16="http://schemas.microsoft.com/office/drawing/2014/main" id="{857B0F23-A2CF-4E3E-8AC0-EA3972EED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7" y="1881"/>
              <a:ext cx="624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Garamond" panose="02020404030301010803" pitchFamily="18" charset="0"/>
                </a:rPr>
                <a:t>G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DBABB2DA-E944-4BBC-BB28-C67853E65224}"/>
                </a:ext>
              </a:extLst>
            </p:cNvPr>
            <p:cNvCxnSpPr/>
            <p:nvPr/>
          </p:nvCxnSpPr>
          <p:spPr>
            <a:xfrm>
              <a:off x="11609" y="1974"/>
              <a:ext cx="422" cy="1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wip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标题 1">
            <a:extLst>
              <a:ext uri="{FF2B5EF4-FFF2-40B4-BE49-F238E27FC236}">
                <a16:creationId xmlns:a16="http://schemas.microsoft.com/office/drawing/2014/main" id="{7496E320-5E68-4163-8224-1EBBD94F4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763" y="0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锁存器</a:t>
            </a:r>
            <a:r>
              <a:rPr lang="en-US" altLang="en-US"/>
              <a:t>74LS373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6435" name="内容占位符 2">
            <a:extLst>
              <a:ext uri="{FF2B5EF4-FFF2-40B4-BE49-F238E27FC236}">
                <a16:creationId xmlns:a16="http://schemas.microsoft.com/office/drawing/2014/main" id="{6C3C8CA9-0B8C-43EB-890A-9DE593AC35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1003300"/>
            <a:ext cx="8372475" cy="558800"/>
          </a:xfrm>
        </p:spPr>
        <p:txBody>
          <a:bodyPr/>
          <a:lstStyle/>
          <a:p>
            <a:pPr marL="363538" indent="-363538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锁存器芯片</a:t>
            </a:r>
            <a:r>
              <a:rPr lang="en-US" altLang="en-US"/>
              <a:t>74LS373</a:t>
            </a:r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146436" name="Object 1">
            <a:extLst>
              <a:ext uri="{FF2B5EF4-FFF2-40B4-BE49-F238E27FC236}">
                <a16:creationId xmlns:a16="http://schemas.microsoft.com/office/drawing/2014/main" id="{75CD6863-3CF3-41FA-9937-7072E4EDB9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2000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22" r:id="rId3" imgW="4876800" imgH="3962400" progId="Equation.DSMT4">
                  <p:embed/>
                </p:oleObj>
              </mc:Choice>
              <mc:Fallback>
                <p:oleObj r:id="rId3" imgW="4876800" imgH="3962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00025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7F74F74-FC29-44FC-A7A3-618E73FB8BBC}"/>
              </a:ext>
            </a:extLst>
          </p:cNvPr>
          <p:cNvSpPr txBox="1"/>
          <p:nvPr/>
        </p:nvSpPr>
        <p:spPr bwMode="auto">
          <a:xfrm>
            <a:off x="3571875" y="3327400"/>
            <a:ext cx="5200650" cy="3155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533400" indent="-533400">
              <a:spcBef>
                <a:spcPct val="3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endParaRPr lang="zh-CN" altLang="en-US" sz="2200" noProof="1">
              <a:solidFill>
                <a:srgbClr val="FFFF00"/>
              </a:solidFill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2" charset="0"/>
            </a:endParaRPr>
          </a:p>
        </p:txBody>
      </p:sp>
      <p:graphicFrame>
        <p:nvGraphicFramePr>
          <p:cNvPr id="146438" name="Object 3">
            <a:extLst>
              <a:ext uri="{FF2B5EF4-FFF2-40B4-BE49-F238E27FC236}">
                <a16:creationId xmlns:a16="http://schemas.microsoft.com/office/drawing/2014/main" id="{8F31B652-201B-4D48-9DE1-3E8D65E64B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28025" y="3327400"/>
          <a:ext cx="4635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23" r:id="rId5" imgW="6096000" imgH="5181600" progId="Equation.DSMT4">
                  <p:embed/>
                </p:oleObj>
              </mc:Choice>
              <mc:Fallback>
                <p:oleObj r:id="rId5" imgW="6096000" imgH="518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025" y="3327400"/>
                        <a:ext cx="4635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39" name="标题 57345">
            <a:extLst>
              <a:ext uri="{FF2B5EF4-FFF2-40B4-BE49-F238E27FC236}">
                <a16:creationId xmlns:a16="http://schemas.microsoft.com/office/drawing/2014/main" id="{2A56D939-F6F5-4199-986A-B3980469981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28638" y="1499903"/>
            <a:ext cx="546100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 b="0" dirty="0">
                <a:solidFill>
                  <a:srgbClr val="A50021"/>
                </a:solidFill>
              </a:rPr>
              <a:t>先复习知识点</a:t>
            </a:r>
            <a:r>
              <a:rPr lang="en-US" altLang="zh-CN" sz="3200" b="0" dirty="0">
                <a:solidFill>
                  <a:srgbClr val="A50021"/>
                </a:solidFill>
              </a:rPr>
              <a:t>----D</a:t>
            </a:r>
            <a:r>
              <a:rPr lang="zh-CN" altLang="en-US" sz="3200" b="0" dirty="0">
                <a:solidFill>
                  <a:srgbClr val="A50021"/>
                </a:solidFill>
              </a:rPr>
              <a:t>触发器</a:t>
            </a:r>
          </a:p>
        </p:txBody>
      </p:sp>
      <p:sp>
        <p:nvSpPr>
          <p:cNvPr id="57347" name="文本占位符 57346">
            <a:extLst>
              <a:ext uri="{FF2B5EF4-FFF2-40B4-BE49-F238E27FC236}">
                <a16:creationId xmlns:a16="http://schemas.microsoft.com/office/drawing/2014/main" id="{10668F64-DE4B-4D1B-AE49-9E9F91E32E0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28638" y="2613774"/>
            <a:ext cx="576897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zh-CN" sz="2400" dirty="0"/>
              <a:t>D</a:t>
            </a:r>
            <a:r>
              <a:rPr lang="zh-CN" altLang="en-US" sz="2400" dirty="0"/>
              <a:t>触发器：时钟 </a:t>
            </a:r>
            <a:r>
              <a:rPr lang="zh-CN" altLang="en-US" sz="2400" dirty="0">
                <a:solidFill>
                  <a:srgbClr val="C00000"/>
                </a:solidFill>
              </a:rPr>
              <a:t>上升沿 </a:t>
            </a:r>
            <a:r>
              <a:rPr lang="zh-CN" altLang="en-US" sz="2400" dirty="0"/>
              <a:t>才更新状态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zh-CN" altLang="en-US" sz="2400" dirty="0"/>
              <a:t>在时钟</a:t>
            </a:r>
            <a:r>
              <a:rPr lang="zh-CN" altLang="en-US" sz="2400" dirty="0">
                <a:solidFill>
                  <a:srgbClr val="C00000"/>
                </a:solidFill>
              </a:rPr>
              <a:t>上升沿之后</a:t>
            </a:r>
            <a:r>
              <a:rPr lang="zh-CN" altLang="en-US" sz="2400" dirty="0"/>
              <a:t>，输出为输入在时钟沿之前的状态</a:t>
            </a:r>
          </a:p>
        </p:txBody>
      </p:sp>
      <p:sp>
        <p:nvSpPr>
          <p:cNvPr id="146441" name="矩形 57348">
            <a:extLst>
              <a:ext uri="{FF2B5EF4-FFF2-40B4-BE49-F238E27FC236}">
                <a16:creationId xmlns:a16="http://schemas.microsoft.com/office/drawing/2014/main" id="{1448A28A-4564-4FD5-9006-D70DF36F3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325" y="1990725"/>
            <a:ext cx="2593975" cy="173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146442" name="组合 57349">
            <a:extLst>
              <a:ext uri="{FF2B5EF4-FFF2-40B4-BE49-F238E27FC236}">
                <a16:creationId xmlns:a16="http://schemas.microsoft.com/office/drawing/2014/main" id="{3F56F84A-016D-40A7-873B-15EA53E0A615}"/>
              </a:ext>
            </a:extLst>
          </p:cNvPr>
          <p:cNvGrpSpPr>
            <a:grpSpLocks/>
          </p:cNvGrpSpPr>
          <p:nvPr/>
        </p:nvGrpSpPr>
        <p:grpSpPr bwMode="auto">
          <a:xfrm>
            <a:off x="6754813" y="2279650"/>
            <a:ext cx="1720850" cy="946150"/>
            <a:chOff x="0" y="0"/>
            <a:chExt cx="1024" cy="720"/>
          </a:xfrm>
        </p:grpSpPr>
        <p:sp>
          <p:nvSpPr>
            <p:cNvPr id="146444" name="矩形 57350">
              <a:extLst>
                <a:ext uri="{FF2B5EF4-FFF2-40B4-BE49-F238E27FC236}">
                  <a16:creationId xmlns:a16="http://schemas.microsoft.com/office/drawing/2014/main" id="{885C5FA9-2C6C-4F8B-AF83-A3ED639CF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" y="0"/>
              <a:ext cx="480" cy="7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146445" name="直接连接符 57351">
              <a:extLst>
                <a:ext uri="{FF2B5EF4-FFF2-40B4-BE49-F238E27FC236}">
                  <a16:creationId xmlns:a16="http://schemas.microsoft.com/office/drawing/2014/main" id="{76DD2DF4-106D-4C71-B1C0-E7B9D330A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20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46" name="直接连接符 57352">
              <a:extLst>
                <a:ext uri="{FF2B5EF4-FFF2-40B4-BE49-F238E27FC236}">
                  <a16:creationId xmlns:a16="http://schemas.microsoft.com/office/drawing/2014/main" id="{BC36D8F1-930F-4C24-B27B-CFAD44215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" y="536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47" name="直接连接符 57353">
              <a:extLst>
                <a:ext uri="{FF2B5EF4-FFF2-40B4-BE49-F238E27FC236}">
                  <a16:creationId xmlns:a16="http://schemas.microsoft.com/office/drawing/2014/main" id="{5AA52A36-1DC6-4CB5-8C7D-F5B817950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144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48" name="文本框 57354">
              <a:extLst>
                <a:ext uri="{FF2B5EF4-FFF2-40B4-BE49-F238E27FC236}">
                  <a16:creationId xmlns:a16="http://schemas.microsoft.com/office/drawing/2014/main" id="{98456C82-61B8-4FA3-82B9-915172720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24"/>
              <a:ext cx="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chemeClr val="tx2"/>
                  </a:solidFill>
                  <a:latin typeface="Arial" panose="020B0604020202020204" pitchFamily="34" charset="0"/>
                </a:rPr>
                <a:t>D</a:t>
              </a:r>
              <a:endParaRPr lang="en-US" altLang="zh-CN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6449" name="文本框 57355">
              <a:extLst>
                <a:ext uri="{FF2B5EF4-FFF2-40B4-BE49-F238E27FC236}">
                  <a16:creationId xmlns:a16="http://schemas.microsoft.com/office/drawing/2014/main" id="{966E4392-AA39-4D32-B36E-995990387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415"/>
              <a:ext cx="3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chemeClr val="tx2"/>
                  </a:solidFill>
                  <a:latin typeface="Arial" panose="020B0604020202020204" pitchFamily="34" charset="0"/>
                </a:rPr>
                <a:t>Clk</a:t>
              </a:r>
              <a:endParaRPr lang="en-US" altLang="zh-CN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6450" name="文本框 57356">
              <a:extLst>
                <a:ext uri="{FF2B5EF4-FFF2-40B4-BE49-F238E27FC236}">
                  <a16:creationId xmlns:a16="http://schemas.microsoft.com/office/drawing/2014/main" id="{3492930F-5A5A-4301-83A9-6B7B9DA32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" y="24"/>
              <a:ext cx="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chemeClr val="tx2"/>
                  </a:solidFill>
                  <a:latin typeface="Arial" panose="020B0604020202020204" pitchFamily="34" charset="0"/>
                </a:rPr>
                <a:t>Q</a:t>
              </a:r>
              <a:endParaRPr lang="en-US" altLang="zh-CN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6451" name="直接连接符 57357">
              <a:extLst>
                <a:ext uri="{FF2B5EF4-FFF2-40B4-BE49-F238E27FC236}">
                  <a16:creationId xmlns:a16="http://schemas.microsoft.com/office/drawing/2014/main" id="{2BDBCADE-E603-4FCD-A71A-3308FD516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" y="490"/>
              <a:ext cx="84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52" name="直接连接符 57358">
              <a:extLst>
                <a:ext uri="{FF2B5EF4-FFF2-40B4-BE49-F238E27FC236}">
                  <a16:creationId xmlns:a16="http://schemas.microsoft.com/office/drawing/2014/main" id="{7EBD596B-A263-4164-AD72-1F999CBE0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" y="538"/>
              <a:ext cx="79" cy="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46443" name="对象 3">
            <a:extLst>
              <a:ext uri="{FF2B5EF4-FFF2-40B4-BE49-F238E27FC236}">
                <a16:creationId xmlns:a16="http://schemas.microsoft.com/office/drawing/2014/main" id="{61F24050-F7AB-4D87-8E0D-4984138A06E4}"/>
              </a:ext>
            </a:extLst>
          </p:cNvPr>
          <p:cNvGraphicFramePr>
            <a:graphicFrameLocks/>
          </p:cNvGraphicFramePr>
          <p:nvPr/>
        </p:nvGraphicFramePr>
        <p:xfrm>
          <a:off x="1047750" y="3917950"/>
          <a:ext cx="7567613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24" r:id="rId7" imgW="7563239" imgH="2139683" progId="Paint.Picture">
                  <p:embed/>
                </p:oleObj>
              </mc:Choice>
              <mc:Fallback>
                <p:oleObj r:id="rId7" imgW="7563239" imgH="2139683" progId="Paint.Picture">
                  <p:embed/>
                  <p:pic>
                    <p:nvPicPr>
                      <p:cNvPr id="0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3917950"/>
                        <a:ext cx="7567613" cy="213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4988B3D5-86BB-4A4C-B0A3-23B174D946E9}"/>
              </a:ext>
            </a:extLst>
          </p:cNvPr>
          <p:cNvSpPr/>
          <p:nvPr/>
        </p:nvSpPr>
        <p:spPr>
          <a:xfrm>
            <a:off x="523578" y="2110877"/>
            <a:ext cx="51122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9C3E"/>
                </a:solidFill>
              </a:rPr>
              <a:t>  D</a:t>
            </a:r>
            <a:r>
              <a:rPr lang="zh-CN" altLang="en-US" sz="2400" dirty="0">
                <a:solidFill>
                  <a:srgbClr val="009C3E"/>
                </a:solidFill>
              </a:rPr>
              <a:t>：输入；</a:t>
            </a:r>
            <a:r>
              <a:rPr lang="en-US" altLang="zh-CN" sz="2400" dirty="0">
                <a:solidFill>
                  <a:srgbClr val="009C3E"/>
                </a:solidFill>
              </a:rPr>
              <a:t>Q</a:t>
            </a:r>
            <a:r>
              <a:rPr lang="zh-CN" altLang="en-US" sz="2400" dirty="0">
                <a:solidFill>
                  <a:srgbClr val="009C3E"/>
                </a:solidFill>
              </a:rPr>
              <a:t>：输出；</a:t>
            </a:r>
            <a:r>
              <a:rPr lang="en-US" altLang="zh-CN" sz="2400" dirty="0">
                <a:solidFill>
                  <a:srgbClr val="009C3E"/>
                </a:solidFill>
              </a:rPr>
              <a:t>CLK</a:t>
            </a:r>
            <a:r>
              <a:rPr lang="zh-CN" altLang="en-US" sz="2400" dirty="0">
                <a:solidFill>
                  <a:srgbClr val="009C3E"/>
                </a:solidFill>
              </a:rPr>
              <a:t>：时钟</a:t>
            </a:r>
          </a:p>
        </p:txBody>
      </p:sp>
    </p:spTree>
  </p:cSld>
  <p:clrMapOvr>
    <a:masterClrMapping/>
  </p:clrMapOvr>
  <p:transition spd="slow"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uiExpand="1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标题 1">
            <a:extLst>
              <a:ext uri="{FF2B5EF4-FFF2-40B4-BE49-F238E27FC236}">
                <a16:creationId xmlns:a16="http://schemas.microsoft.com/office/drawing/2014/main" id="{3006408A-8E27-4CC9-A9E1-EFF8302A70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763" y="0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锁存器</a:t>
            </a:r>
            <a:r>
              <a:rPr lang="en-US" altLang="en-US"/>
              <a:t>74LS373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7459" name="内容占位符 2">
            <a:extLst>
              <a:ext uri="{FF2B5EF4-FFF2-40B4-BE49-F238E27FC236}">
                <a16:creationId xmlns:a16="http://schemas.microsoft.com/office/drawing/2014/main" id="{3F5307A2-8C47-443C-AE0D-29EA75E1B0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1003300"/>
            <a:ext cx="8372475" cy="558800"/>
          </a:xfrm>
        </p:spPr>
        <p:txBody>
          <a:bodyPr/>
          <a:lstStyle/>
          <a:p>
            <a:pPr marL="363538" indent="-363538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/>
              <a:t>74LS373</a:t>
            </a:r>
            <a:r>
              <a:rPr lang="zh-CN" altLang="en-US">
                <a:ea typeface="宋体" panose="02010600030101010101" pitchFamily="2" charset="-122"/>
              </a:rPr>
              <a:t>的逻辑功能图和真值表：</a:t>
            </a:r>
          </a:p>
        </p:txBody>
      </p:sp>
      <p:graphicFrame>
        <p:nvGraphicFramePr>
          <p:cNvPr id="147460" name="Object 1">
            <a:extLst>
              <a:ext uri="{FF2B5EF4-FFF2-40B4-BE49-F238E27FC236}">
                <a16:creationId xmlns:a16="http://schemas.microsoft.com/office/drawing/2014/main" id="{E8DCA9B8-E563-49B0-9793-3E57893421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2000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16" r:id="rId3" imgW="4876800" imgH="3962400" progId="Equation.DSMT4">
                  <p:embed/>
                </p:oleObj>
              </mc:Choice>
              <mc:Fallback>
                <p:oleObj r:id="rId3" imgW="4876800" imgH="3962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00025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7461" name="Picture 2">
            <a:extLst>
              <a:ext uri="{FF2B5EF4-FFF2-40B4-BE49-F238E27FC236}">
                <a16:creationId xmlns:a16="http://schemas.microsoft.com/office/drawing/2014/main" id="{0403A912-8A13-47D0-BBCB-D1B65B1BA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450" y="1473200"/>
            <a:ext cx="54102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6D7A21B-6451-45E8-8BD2-E478EF4355C7}"/>
              </a:ext>
            </a:extLst>
          </p:cNvPr>
          <p:cNvSpPr txBox="1"/>
          <p:nvPr/>
        </p:nvSpPr>
        <p:spPr bwMode="auto">
          <a:xfrm>
            <a:off x="3727450" y="3473450"/>
            <a:ext cx="4022725" cy="554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533400" indent="-533400">
              <a:spcBef>
                <a:spcPct val="3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endParaRPr lang="zh-CN" altLang="en-US" sz="2200" noProof="1">
              <a:solidFill>
                <a:srgbClr val="FFFF00"/>
              </a:solidFill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2" charset="0"/>
            </a:endParaRPr>
          </a:p>
        </p:txBody>
      </p:sp>
      <p:graphicFrame>
        <p:nvGraphicFramePr>
          <p:cNvPr id="147463" name="Object 3">
            <a:extLst>
              <a:ext uri="{FF2B5EF4-FFF2-40B4-BE49-F238E27FC236}">
                <a16:creationId xmlns:a16="http://schemas.microsoft.com/office/drawing/2014/main" id="{C918C28F-784D-4B4F-98C1-0F888DFE69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83600" y="3473450"/>
          <a:ext cx="4635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17" r:id="rId6" imgW="6096000" imgH="5181600" progId="Equation.DSMT4">
                  <p:embed/>
                </p:oleObj>
              </mc:Choice>
              <mc:Fallback>
                <p:oleObj r:id="rId6" imgW="6096000" imgH="518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3600" y="3473450"/>
                        <a:ext cx="4635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7464" name="图片 15" descr="LF_t2.13.png">
            <a:extLst>
              <a:ext uri="{FF2B5EF4-FFF2-40B4-BE49-F238E27FC236}">
                <a16:creationId xmlns:a16="http://schemas.microsoft.com/office/drawing/2014/main" id="{25ACECE7-5FA2-44E5-A2BA-E9B07A01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51000"/>
            <a:ext cx="3652838" cy="4718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7465" name="矩形 7">
            <a:extLst>
              <a:ext uri="{FF2B5EF4-FFF2-40B4-BE49-F238E27FC236}">
                <a16:creationId xmlns:a16="http://schemas.microsoft.com/office/drawing/2014/main" id="{4AEDEDB5-4086-443D-B2CA-36B22CC3B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3473450"/>
            <a:ext cx="53340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srgbClr val="C00000"/>
                </a:solidFill>
              </a:rPr>
              <a:t>输入使能端</a:t>
            </a:r>
            <a:r>
              <a:rPr lang="en-US" altLang="en-US" sz="2000">
                <a:solidFill>
                  <a:srgbClr val="C00000"/>
                </a:solidFill>
              </a:rPr>
              <a:t>G</a:t>
            </a:r>
            <a:r>
              <a:rPr lang="zh-CN" altLang="en-US" sz="2000"/>
              <a:t>和</a:t>
            </a:r>
            <a:r>
              <a:rPr lang="zh-CN" altLang="en-US" sz="2000">
                <a:solidFill>
                  <a:srgbClr val="C00000"/>
                </a:solidFill>
              </a:rPr>
              <a:t>允许输出端</a:t>
            </a: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zh-CN" altLang="en-US" sz="2000"/>
          </a:p>
        </p:txBody>
      </p:sp>
      <p:grpSp>
        <p:nvGrpSpPr>
          <p:cNvPr id="147466" name="组合 23">
            <a:extLst>
              <a:ext uri="{FF2B5EF4-FFF2-40B4-BE49-F238E27FC236}">
                <a16:creationId xmlns:a16="http://schemas.microsoft.com/office/drawing/2014/main" id="{4CAE9125-36C9-4E6F-8EB0-15E88158636B}"/>
              </a:ext>
            </a:extLst>
          </p:cNvPr>
          <p:cNvGrpSpPr>
            <a:grpSpLocks/>
          </p:cNvGrpSpPr>
          <p:nvPr/>
        </p:nvGrpSpPr>
        <p:grpSpPr bwMode="auto">
          <a:xfrm>
            <a:off x="7191375" y="3497263"/>
            <a:ext cx="563563" cy="398462"/>
            <a:chOff x="11324" y="5508"/>
            <a:chExt cx="888" cy="628"/>
          </a:xfrm>
        </p:grpSpPr>
        <p:sp>
          <p:nvSpPr>
            <p:cNvPr id="147468" name="文本框 21">
              <a:extLst>
                <a:ext uri="{FF2B5EF4-FFF2-40B4-BE49-F238E27FC236}">
                  <a16:creationId xmlns:a16="http://schemas.microsoft.com/office/drawing/2014/main" id="{3A015CB6-4478-40EF-A273-3AD3118D6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24" y="5508"/>
              <a:ext cx="888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rgbClr val="C00000"/>
                  </a:solidFill>
                  <a:latin typeface="Garamond" panose="02020404030301010803" pitchFamily="18" charset="0"/>
                </a:rPr>
                <a:t>OE</a:t>
              </a: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1581075-912E-4ED2-81B6-A6E2308FC8E2}"/>
                </a:ext>
              </a:extLst>
            </p:cNvPr>
            <p:cNvCxnSpPr/>
            <p:nvPr/>
          </p:nvCxnSpPr>
          <p:spPr>
            <a:xfrm>
              <a:off x="11449" y="5593"/>
              <a:ext cx="568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467" name="文本框 1">
            <a:extLst>
              <a:ext uri="{FF2B5EF4-FFF2-40B4-BE49-F238E27FC236}">
                <a16:creationId xmlns:a16="http://schemas.microsoft.com/office/drawing/2014/main" id="{AFBC54B8-C501-424B-B406-763ACB58C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4349750"/>
            <a:ext cx="469106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3333FF"/>
                </a:solidFill>
              </a:rPr>
              <a:t>G</a:t>
            </a:r>
            <a:r>
              <a:rPr lang="zh-CN" altLang="en-US" sz="2400" dirty="0">
                <a:solidFill>
                  <a:srgbClr val="3333FF"/>
                </a:solidFill>
              </a:rPr>
              <a:t>端为高电平：输出</a:t>
            </a:r>
            <a:r>
              <a:rPr lang="en-US" altLang="zh-CN" sz="2400" dirty="0">
                <a:solidFill>
                  <a:srgbClr val="3333FF"/>
                </a:solidFill>
              </a:rPr>
              <a:t>=</a:t>
            </a:r>
            <a:r>
              <a:rPr lang="zh-CN" altLang="en-US" sz="2400" dirty="0">
                <a:solidFill>
                  <a:srgbClr val="3333FF"/>
                </a:solidFill>
              </a:rPr>
              <a:t>输入；</a:t>
            </a:r>
            <a:endParaRPr lang="en-US" altLang="zh-CN" sz="2400" dirty="0">
              <a:solidFill>
                <a:srgbClr val="3333FF"/>
              </a:solidFill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3333FF"/>
                </a:solidFill>
              </a:rPr>
              <a:t>G</a:t>
            </a:r>
            <a:r>
              <a:rPr lang="zh-CN" altLang="en-US" sz="2400" dirty="0">
                <a:solidFill>
                  <a:srgbClr val="3333FF"/>
                </a:solidFill>
              </a:rPr>
              <a:t>端为低电平：锁存状态，即此时输出状态为</a:t>
            </a:r>
            <a:r>
              <a:rPr lang="zh-CN" altLang="en-US" sz="2400" dirty="0">
                <a:solidFill>
                  <a:srgbClr val="FF3300"/>
                </a:solidFill>
              </a:rPr>
              <a:t>下降沿前</a:t>
            </a:r>
            <a:r>
              <a:rPr lang="zh-CN" altLang="en-US" sz="2400" dirty="0">
                <a:solidFill>
                  <a:srgbClr val="3333FF"/>
                </a:solidFill>
              </a:rPr>
              <a:t>的输入状态，</a:t>
            </a:r>
            <a:r>
              <a:rPr lang="zh-CN" altLang="en-US" sz="2400" dirty="0">
                <a:solidFill>
                  <a:srgbClr val="FF0000"/>
                </a:solidFill>
              </a:rPr>
              <a:t>此时的输入状态不再影响输出</a:t>
            </a:r>
            <a:r>
              <a:rPr lang="zh-CN" altLang="en-US" sz="2400" dirty="0">
                <a:solidFill>
                  <a:srgbClr val="3333FF"/>
                </a:solidFill>
              </a:rPr>
              <a:t>。</a:t>
            </a:r>
          </a:p>
        </p:txBody>
      </p:sp>
    </p:spTree>
  </p:cSld>
  <p:clrMapOvr>
    <a:masterClrMapping/>
  </p:clrMapOvr>
  <p:transition spd="slow">
    <p:pull dir="ld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标题 1">
            <a:extLst>
              <a:ext uri="{FF2B5EF4-FFF2-40B4-BE49-F238E27FC236}">
                <a16:creationId xmlns:a16="http://schemas.microsoft.com/office/drawing/2014/main" id="{8F54A44E-72D8-4CAE-95DA-58F7689C4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763" y="0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锁存器</a:t>
            </a:r>
            <a:r>
              <a:rPr lang="en-US" altLang="en-US"/>
              <a:t>74LS373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8483" name="内容占位符 2">
            <a:extLst>
              <a:ext uri="{FF2B5EF4-FFF2-40B4-BE49-F238E27FC236}">
                <a16:creationId xmlns:a16="http://schemas.microsoft.com/office/drawing/2014/main" id="{88DA95EB-37A6-4952-8EDB-2C1291B198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1003300"/>
            <a:ext cx="8372475" cy="558800"/>
          </a:xfrm>
        </p:spPr>
        <p:txBody>
          <a:bodyPr/>
          <a:lstStyle/>
          <a:p>
            <a:pPr marL="363538" indent="-363538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/>
              <a:t>74LS373</a:t>
            </a:r>
            <a:r>
              <a:rPr lang="zh-CN" altLang="en-US">
                <a:ea typeface="宋体" panose="02010600030101010101" pitchFamily="2" charset="-122"/>
              </a:rPr>
              <a:t>在地址锁存中的应用：</a:t>
            </a:r>
          </a:p>
        </p:txBody>
      </p:sp>
      <p:graphicFrame>
        <p:nvGraphicFramePr>
          <p:cNvPr id="148484" name="Object 1">
            <a:extLst>
              <a:ext uri="{FF2B5EF4-FFF2-40B4-BE49-F238E27FC236}">
                <a16:creationId xmlns:a16="http://schemas.microsoft.com/office/drawing/2014/main" id="{8E3286F3-D764-4599-91FA-D17D474CE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2000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35" r:id="rId3" imgW="4876800" imgH="3962400" progId="Equation.DSMT4">
                  <p:embed/>
                </p:oleObj>
              </mc:Choice>
              <mc:Fallback>
                <p:oleObj r:id="rId3" imgW="4876800" imgH="3962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00025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8485" name="Picture 2">
            <a:extLst>
              <a:ext uri="{FF2B5EF4-FFF2-40B4-BE49-F238E27FC236}">
                <a16:creationId xmlns:a16="http://schemas.microsoft.com/office/drawing/2014/main" id="{2D6E030D-52AE-4AE7-A534-B56EDB2CA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1512888"/>
            <a:ext cx="54102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6D7A21B-6451-45E8-8BD2-E478EF4355C7}"/>
              </a:ext>
            </a:extLst>
          </p:cNvPr>
          <p:cNvSpPr txBox="1"/>
          <p:nvPr/>
        </p:nvSpPr>
        <p:spPr bwMode="auto">
          <a:xfrm>
            <a:off x="3727450" y="3473450"/>
            <a:ext cx="4022725" cy="554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533400" indent="-533400">
              <a:spcBef>
                <a:spcPct val="3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endParaRPr lang="zh-CN" altLang="en-US" sz="2200" noProof="1">
              <a:solidFill>
                <a:srgbClr val="FFFF00"/>
              </a:solidFill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2" charset="0"/>
            </a:endParaRPr>
          </a:p>
        </p:txBody>
      </p:sp>
      <p:graphicFrame>
        <p:nvGraphicFramePr>
          <p:cNvPr id="148487" name="Object 3">
            <a:extLst>
              <a:ext uri="{FF2B5EF4-FFF2-40B4-BE49-F238E27FC236}">
                <a16:creationId xmlns:a16="http://schemas.microsoft.com/office/drawing/2014/main" id="{08B538E3-12FF-4D63-9A38-19536F666D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83600" y="3473450"/>
          <a:ext cx="4635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36" r:id="rId6" imgW="6096000" imgH="5181600" progId="Equation.DSMT4">
                  <p:embed/>
                </p:oleObj>
              </mc:Choice>
              <mc:Fallback>
                <p:oleObj r:id="rId6" imgW="6096000" imgH="518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3600" y="3473450"/>
                        <a:ext cx="4635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8488" name="图片 2">
            <a:extLst>
              <a:ext uri="{FF2B5EF4-FFF2-40B4-BE49-F238E27FC236}">
                <a16:creationId xmlns:a16="http://schemas.microsoft.com/office/drawing/2014/main" id="{073F628F-697B-4716-AC72-4C1A78860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3867150"/>
            <a:ext cx="666750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 dir="ld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标题 1">
            <a:extLst>
              <a:ext uri="{FF2B5EF4-FFF2-40B4-BE49-F238E27FC236}">
                <a16:creationId xmlns:a16="http://schemas.microsoft.com/office/drawing/2014/main" id="{8DF61D26-460E-4807-9E40-B1E5D5058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时钟发生器</a:t>
            </a:r>
            <a:r>
              <a:rPr lang="en-US" altLang="en-US"/>
              <a:t>8284A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9507" name="内容占位符 2">
            <a:extLst>
              <a:ext uri="{FF2B5EF4-FFF2-40B4-BE49-F238E27FC236}">
                <a16:creationId xmlns:a16="http://schemas.microsoft.com/office/drawing/2014/main" id="{D27066A6-9ECD-4789-B400-8A99C43FBF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0" y="1117600"/>
            <a:ext cx="8372475" cy="558800"/>
          </a:xfrm>
        </p:spPr>
        <p:txBody>
          <a:bodyPr/>
          <a:lstStyle/>
          <a:p>
            <a:pPr marL="363538" indent="-363538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600">
                <a:ea typeface="宋体" panose="02010600030101010101" pitchFamily="2" charset="-122"/>
              </a:rPr>
              <a:t>在用</a:t>
            </a:r>
            <a:r>
              <a:rPr lang="en-US" altLang="en-US" sz="2600"/>
              <a:t>8088</a:t>
            </a:r>
            <a:r>
              <a:rPr lang="zh-CN" altLang="en-US" sz="2600">
                <a:ea typeface="宋体" panose="02010600030101010101" pitchFamily="2" charset="-122"/>
              </a:rPr>
              <a:t>设计的</a:t>
            </a:r>
            <a:r>
              <a:rPr lang="en-US" altLang="en-US" sz="2600"/>
              <a:t>PC/XT</a:t>
            </a:r>
            <a:r>
              <a:rPr lang="zh-CN" altLang="en-US" sz="2600">
                <a:ea typeface="宋体" panose="02010600030101010101" pitchFamily="2" charset="-122"/>
              </a:rPr>
              <a:t>中，</a:t>
            </a:r>
            <a:r>
              <a:rPr lang="en-US" altLang="en-US" sz="2600"/>
              <a:t>8284A</a:t>
            </a:r>
            <a:r>
              <a:rPr lang="zh-CN" altLang="en-US" sz="2600">
                <a:ea typeface="宋体" panose="02010600030101010101" pitchFamily="2" charset="-122"/>
              </a:rPr>
              <a:t>与</a:t>
            </a:r>
            <a:r>
              <a:rPr lang="en-US" altLang="en-US" sz="2600"/>
              <a:t>CPU</a:t>
            </a:r>
            <a:r>
              <a:rPr lang="zh-CN" altLang="en-US" sz="2600">
                <a:ea typeface="宋体" panose="02010600030101010101" pitchFamily="2" charset="-122"/>
              </a:rPr>
              <a:t>的连线：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5EEB72B-428B-431E-9019-6351B0C36A13}"/>
              </a:ext>
            </a:extLst>
          </p:cNvPr>
          <p:cNvSpPr txBox="1"/>
          <p:nvPr/>
        </p:nvSpPr>
        <p:spPr bwMode="auto">
          <a:xfrm>
            <a:off x="393700" y="5073650"/>
            <a:ext cx="8372475" cy="1422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63855" indent="-363855">
              <a:spcBef>
                <a:spcPct val="3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600" noProof="1">
                <a:latin typeface="Verdana" panose="020B0604030504040204" pitchFamily="2" charset="0"/>
              </a:rPr>
              <a:t>8284A</a:t>
            </a:r>
            <a:r>
              <a:rPr lang="zh-CN" altLang="en-US" sz="2600" noProof="1">
                <a:latin typeface="Verdana" panose="020B0604030504040204" pitchFamily="2" charset="0"/>
              </a:rPr>
              <a:t>为</a:t>
            </a:r>
            <a:r>
              <a:rPr lang="en-US" altLang="zh-CN" sz="2600" noProof="1">
                <a:latin typeface="Verdana" panose="020B0604030504040204" pitchFamily="2" charset="0"/>
              </a:rPr>
              <a:t>8086/8088</a:t>
            </a:r>
            <a:r>
              <a:rPr lang="zh-CN" altLang="en-US" sz="2600" noProof="1">
                <a:latin typeface="Verdana" panose="020B0604030504040204" pitchFamily="2" charset="0"/>
              </a:rPr>
              <a:t>系统提供：</a:t>
            </a:r>
            <a:endParaRPr lang="en-US" altLang="zh-CN" sz="2600" noProof="1">
              <a:latin typeface="Verdana" panose="020B0604030504040204" pitchFamily="2" charset="0"/>
            </a:endParaRPr>
          </a:p>
          <a:p>
            <a:pPr marL="363855" indent="-363855">
              <a:spcBef>
                <a:spcPct val="30000"/>
              </a:spcBef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lang="zh-CN" altLang="en-US" sz="2600" noProof="1">
                <a:latin typeface="Verdana" panose="020B0604030504040204" pitchFamily="2" charset="0"/>
              </a:rPr>
              <a:t>    系统时钟信号</a:t>
            </a:r>
            <a:r>
              <a:rPr lang="en-US" altLang="zh-CN" sz="2600" noProof="1">
                <a:latin typeface="Verdana" panose="020B0604030504040204" pitchFamily="2" charset="0"/>
              </a:rPr>
              <a:t>CLK</a:t>
            </a:r>
            <a:r>
              <a:rPr lang="zh-CN" altLang="en-US" sz="2600" noProof="1">
                <a:latin typeface="Verdana" panose="020B0604030504040204" pitchFamily="2" charset="0"/>
              </a:rPr>
              <a:t>、复位信号</a:t>
            </a:r>
            <a:r>
              <a:rPr lang="en-US" altLang="zh-CN" sz="2600" noProof="1">
                <a:latin typeface="Verdana" panose="020B0604030504040204" pitchFamily="2" charset="0"/>
              </a:rPr>
              <a:t>RESET</a:t>
            </a:r>
            <a:r>
              <a:rPr lang="zh-CN" altLang="en-US" sz="2600" noProof="1">
                <a:latin typeface="Verdana" panose="020B0604030504040204" pitchFamily="2" charset="0"/>
              </a:rPr>
              <a:t>、准备好信号</a:t>
            </a:r>
            <a:r>
              <a:rPr lang="en-US" altLang="zh-CN" sz="2600" noProof="1">
                <a:latin typeface="Verdana" panose="020B0604030504040204" pitchFamily="2" charset="0"/>
              </a:rPr>
              <a:t>READY</a:t>
            </a:r>
            <a:r>
              <a:rPr lang="zh-CN" altLang="en-US" sz="2600" noProof="1">
                <a:latin typeface="Verdana" panose="020B0604030504040204" pitchFamily="2" charset="0"/>
              </a:rPr>
              <a:t>以及供外设用的时钟信号。</a:t>
            </a:r>
            <a:endParaRPr lang="en-US" altLang="zh-CN" sz="2600" noProof="1">
              <a:latin typeface="Verdana" panose="020B0604030504040204" pitchFamily="2" charset="0"/>
            </a:endParaRPr>
          </a:p>
          <a:p>
            <a:pPr marL="363855" indent="-363855">
              <a:spcBef>
                <a:spcPct val="3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endParaRPr lang="zh-CN" altLang="en-US" sz="2600" noProof="1">
              <a:solidFill>
                <a:srgbClr val="FFFF00"/>
              </a:solidFill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2" charset="0"/>
            </a:endParaRPr>
          </a:p>
        </p:txBody>
      </p:sp>
      <p:pic>
        <p:nvPicPr>
          <p:cNvPr id="149509" name="图片 5" descr="LF_t2.14.png">
            <a:extLst>
              <a:ext uri="{FF2B5EF4-FFF2-40B4-BE49-F238E27FC236}">
                <a16:creationId xmlns:a16="http://schemas.microsoft.com/office/drawing/2014/main" id="{EDAEC71B-C2F6-41E8-AFB1-0E1B37137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1873250"/>
            <a:ext cx="8732838" cy="2774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 dir="ru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A8A1E6-8F6B-4BA7-9893-D86E8110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998844"/>
            <a:ext cx="8174990" cy="5052060"/>
          </a:xfrm>
          <a:extLst/>
        </p:spPr>
        <p:txBody>
          <a:bodyPr>
            <a:normAutofit fontScale="97500" lnSpcReduction="10000"/>
          </a:bodyPr>
          <a:lstStyle/>
          <a:p>
            <a:pPr marL="363855" indent="-363855"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400" noProof="1"/>
              <a:t>8284A</a:t>
            </a:r>
            <a:r>
              <a:rPr lang="zh-CN" altLang="en-US" sz="2400" noProof="1"/>
              <a:t>的</a:t>
            </a:r>
            <a:r>
              <a:rPr lang="zh-CN" altLang="en-US" sz="2400" noProof="1">
                <a:solidFill>
                  <a:srgbClr val="FF3300"/>
                </a:solidFill>
              </a:rPr>
              <a:t>时钟信号来源</a:t>
            </a:r>
            <a:r>
              <a:rPr lang="zh-CN" altLang="en-US" sz="2400" noProof="1"/>
              <a:t>：</a:t>
            </a:r>
          </a:p>
          <a:p>
            <a:pPr marL="363855" indent="-363855" algn="just" eaLnBrk="1" hangingPunct="1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如</a:t>
            </a:r>
            <a:r>
              <a:rPr lang="en-US" altLang="zh-CN" sz="2400" b="0" noProof="1">
                <a:solidFill>
                  <a:srgbClr val="C00000"/>
                </a:solidFill>
                <a:ea typeface="宋体" panose="02010600030101010101" pitchFamily="2" charset="-122"/>
              </a:rPr>
              <a:t>F/</a:t>
            </a:r>
            <a:r>
              <a:rPr lang="en-US" altLang="zh-CN" sz="2400" noProof="1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noProof="1">
                <a:ea typeface="宋体" panose="02010600030101010101" pitchFamily="2" charset="-122"/>
              </a:rPr>
              <a:t>  </a:t>
            </a:r>
            <a:r>
              <a:rPr lang="en-US" sz="2400" noProof="1">
                <a:ea typeface="宋体" panose="02010600030101010101" pitchFamily="2" charset="-122"/>
              </a:rPr>
              <a:t>接低电平，时钟信号</a:t>
            </a:r>
            <a:r>
              <a:rPr lang="zh-CN" altLang="en-US" sz="2400" noProof="1">
                <a:ea typeface="宋体" panose="02010600030101010101" pitchFamily="2" charset="-122"/>
              </a:rPr>
              <a:t>源</a:t>
            </a:r>
            <a:r>
              <a:rPr lang="en-US" sz="2400" noProof="1">
                <a:ea typeface="宋体" panose="02010600030101010101" pitchFamily="2" charset="-122"/>
              </a:rPr>
              <a:t>由</a:t>
            </a:r>
            <a:r>
              <a:rPr lang="en-US" sz="2400" noProof="1">
                <a:solidFill>
                  <a:srgbClr val="FF3300"/>
                </a:solidFill>
                <a:ea typeface="宋体" panose="02010600030101010101" pitchFamily="2" charset="-122"/>
              </a:rPr>
              <a:t>晶体振荡器提供</a:t>
            </a:r>
            <a:r>
              <a:rPr lang="en-US" sz="2400" noProof="1">
                <a:ea typeface="宋体" panose="02010600030101010101" pitchFamily="2" charset="-122"/>
              </a:rPr>
              <a:t>，频率为f = 14.31818MHz；</a:t>
            </a:r>
          </a:p>
          <a:p>
            <a:pPr marL="363855" indent="-363855" algn="just" eaLnBrk="1" hangingPunct="1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如</a:t>
            </a:r>
            <a:r>
              <a:rPr lang="en-US" altLang="zh-CN" sz="2400" b="0" noProof="1">
                <a:solidFill>
                  <a:srgbClr val="C00000"/>
                </a:solidFill>
                <a:ea typeface="宋体" panose="02010600030101010101" pitchFamily="2" charset="-122"/>
              </a:rPr>
              <a:t>F/</a:t>
            </a:r>
            <a:r>
              <a:rPr lang="en-US" altLang="zh-CN" sz="2400" noProof="1">
                <a:ea typeface="宋体" panose="02010600030101010101" pitchFamily="2" charset="-122"/>
              </a:rPr>
              <a:t>   </a:t>
            </a:r>
            <a:r>
              <a:rPr lang="zh-CN" altLang="en-US" sz="2400" noProof="1">
                <a:ea typeface="宋体" panose="02010600030101010101" pitchFamily="2" charset="-122"/>
              </a:rPr>
              <a:t>接高电平</a:t>
            </a:r>
            <a:r>
              <a:rPr lang="en-US" altLang="zh-CN" sz="2400" noProof="1">
                <a:ea typeface="宋体" panose="02010600030101010101" pitchFamily="2" charset="-122"/>
              </a:rPr>
              <a:t>, </a:t>
            </a:r>
            <a:r>
              <a:rPr lang="zh-CN" altLang="en-US" sz="2400" noProof="1">
                <a:ea typeface="宋体" panose="02010600030101010101" pitchFamily="2" charset="-122"/>
              </a:rPr>
              <a:t>用</a:t>
            </a:r>
            <a:r>
              <a:rPr lang="en-US" sz="2400" noProof="1">
                <a:ea typeface="宋体" panose="02010600030101010101" pitchFamily="2" charset="-122"/>
              </a:rPr>
              <a:t>EFI</a:t>
            </a:r>
            <a:r>
              <a:rPr lang="zh-CN" altLang="en-US" sz="2400" noProof="1">
                <a:ea typeface="宋体" panose="02010600030101010101" pitchFamily="2" charset="-122"/>
              </a:rPr>
              <a:t>端接入的</a:t>
            </a:r>
            <a:r>
              <a:rPr lang="zh-CN" altLang="en-US" sz="2400" noProof="1">
                <a:solidFill>
                  <a:srgbClr val="FF3300"/>
                </a:solidFill>
                <a:ea typeface="宋体" panose="02010600030101010101" pitchFamily="2" charset="-122"/>
              </a:rPr>
              <a:t>外加振荡信号</a:t>
            </a:r>
            <a:r>
              <a:rPr lang="zh-CN" altLang="en-US" sz="2400" noProof="1">
                <a:ea typeface="宋体" panose="02010600030101010101" pitchFamily="2" charset="-122"/>
              </a:rPr>
              <a:t>作时钟信号源。</a:t>
            </a:r>
            <a:endParaRPr lang="en-US" altLang="zh-CN" sz="2400" noProof="1">
              <a:ea typeface="宋体" panose="02010600030101010101" pitchFamily="2" charset="-122"/>
            </a:endParaRPr>
          </a:p>
          <a:p>
            <a:pPr marL="363855" indent="-363855" eaLnBrk="1" hangingPunct="1">
              <a:spcBef>
                <a:spcPts val="24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noProof="1"/>
              <a:t>从</a:t>
            </a:r>
            <a:r>
              <a:rPr lang="en-US" sz="2400" noProof="1"/>
              <a:t>8284A</a:t>
            </a:r>
            <a:r>
              <a:rPr lang="zh-CN" altLang="en-US" sz="2400" noProof="1"/>
              <a:t>输出端可产生的信号：</a:t>
            </a:r>
          </a:p>
          <a:p>
            <a:pPr marL="363855" indent="-363855" algn="just" eaLnBrk="1" hangingPunct="1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en-US" sz="24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CLK88</a:t>
            </a:r>
            <a:r>
              <a:rPr lang="zh-CN" altLang="en-US" sz="2400" noProof="1">
                <a:ea typeface="宋体" panose="02010600030101010101" pitchFamily="2" charset="-122"/>
              </a:rPr>
              <a:t>－频率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</a:rPr>
              <a:t>4.77MHz</a:t>
            </a:r>
            <a:r>
              <a:rPr lang="zh-CN" altLang="en-US" sz="2400" noProof="1">
                <a:ea typeface="宋体" panose="02010600030101010101" pitchFamily="2" charset="-122"/>
              </a:rPr>
              <a:t>，输入时钟</a:t>
            </a:r>
            <a:r>
              <a:rPr lang="en-US" sz="2400" noProof="1">
                <a:ea typeface="宋体" panose="02010600030101010101" pitchFamily="2" charset="-122"/>
              </a:rPr>
              <a:t>3</a:t>
            </a:r>
            <a:r>
              <a:rPr lang="zh-CN" altLang="en-US" sz="2400" noProof="1">
                <a:ea typeface="宋体" panose="02010600030101010101" pitchFamily="2" charset="-122"/>
              </a:rPr>
              <a:t>分频后得到，</a:t>
            </a:r>
            <a:r>
              <a:rPr lang="zh-CN" altLang="en-US" sz="2400" noProof="1"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可送给</a:t>
            </a:r>
            <a:r>
              <a:rPr lang="en-US" sz="2400" noProof="1"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8088CPU</a:t>
            </a:r>
            <a:r>
              <a:rPr lang="zh-CN" altLang="en-US" sz="2400" noProof="1"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或</a:t>
            </a:r>
            <a:r>
              <a:rPr lang="en-US" sz="2400" noProof="1"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8288</a:t>
            </a:r>
            <a:r>
              <a:rPr lang="zh-CN" altLang="en-US" sz="2400" noProof="1"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总线控制器作时钟脉冲</a:t>
            </a:r>
            <a:r>
              <a:rPr lang="zh-CN" altLang="en-US" sz="2400" noProof="1">
                <a:ea typeface="宋体" panose="02010600030101010101" pitchFamily="2" charset="-122"/>
              </a:rPr>
              <a:t>。</a:t>
            </a:r>
          </a:p>
          <a:p>
            <a:pPr marL="363855" indent="-363855" algn="just" eaLnBrk="1" hangingPunct="1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PCLK</a:t>
            </a:r>
            <a:r>
              <a:rPr lang="zh-CN" altLang="en-US" sz="2400" noProof="1">
                <a:ea typeface="宋体" panose="02010600030101010101" pitchFamily="2" charset="-122"/>
              </a:rPr>
              <a:t>－</a:t>
            </a:r>
            <a:r>
              <a:rPr lang="en-US" sz="2400" noProof="1">
                <a:ea typeface="宋体" panose="02010600030101010101" pitchFamily="2" charset="-122"/>
              </a:rPr>
              <a:t>CLK88 </a:t>
            </a:r>
            <a:r>
              <a:rPr lang="zh-CN" altLang="en-US" sz="2400" noProof="1">
                <a:ea typeface="宋体" panose="02010600030101010101" pitchFamily="2" charset="-122"/>
              </a:rPr>
              <a:t>经</a:t>
            </a:r>
            <a:r>
              <a:rPr lang="en-US" sz="2400" noProof="1">
                <a:ea typeface="宋体" panose="02010600030101010101" pitchFamily="2" charset="-122"/>
              </a:rPr>
              <a:t>8284A</a:t>
            </a:r>
            <a:r>
              <a:rPr lang="zh-CN" altLang="en-US" sz="2400" noProof="1">
                <a:ea typeface="宋体" panose="02010600030101010101" pitchFamily="2" charset="-122"/>
              </a:rPr>
              <a:t>内部</a:t>
            </a:r>
            <a:r>
              <a:rPr lang="en-US" sz="2400" noProof="1">
                <a:ea typeface="宋体" panose="02010600030101010101" pitchFamily="2" charset="-122"/>
              </a:rPr>
              <a:t>2</a:t>
            </a:r>
            <a:r>
              <a:rPr lang="zh-CN" altLang="en-US" sz="2400" noProof="1">
                <a:ea typeface="宋体" panose="02010600030101010101" pitchFamily="2" charset="-122"/>
              </a:rPr>
              <a:t>分频产生的脉冲信号</a:t>
            </a:r>
            <a:r>
              <a:rPr lang="en-US" altLang="zh-CN" sz="2400" noProof="1">
                <a:ea typeface="宋体" panose="02010600030101010101" pitchFamily="2" charset="-122"/>
              </a:rPr>
              <a:t>, </a:t>
            </a:r>
            <a:r>
              <a:rPr lang="zh-CN" altLang="en-US" sz="2400" noProof="1">
                <a:ea typeface="宋体" panose="02010600030101010101" pitchFamily="2" charset="-122"/>
              </a:rPr>
              <a:t>频率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</a:rPr>
              <a:t>2.385MHz</a:t>
            </a:r>
            <a:r>
              <a:rPr lang="zh-CN" altLang="en-US" sz="2400" noProof="1">
                <a:ea typeface="宋体" panose="02010600030101010101" pitchFamily="2" charset="-122"/>
              </a:rPr>
              <a:t>。</a:t>
            </a:r>
          </a:p>
          <a:p>
            <a:pPr marL="363855" indent="-363855" algn="just" eaLnBrk="1" hangingPunct="1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OSC</a:t>
            </a:r>
            <a:r>
              <a:rPr lang="zh-CN" altLang="en-US" sz="2400" noProof="1">
                <a:ea typeface="宋体" panose="02010600030101010101" pitchFamily="2" charset="-122"/>
              </a:rPr>
              <a:t>－从</a:t>
            </a:r>
            <a:r>
              <a:rPr lang="en-US" sz="2400" noProof="1">
                <a:ea typeface="宋体" panose="02010600030101010101" pitchFamily="2" charset="-122"/>
              </a:rPr>
              <a:t>OSC</a:t>
            </a:r>
            <a:r>
              <a:rPr lang="zh-CN" altLang="en-US" sz="2400" noProof="1">
                <a:ea typeface="宋体" panose="02010600030101010101" pitchFamily="2" charset="-122"/>
              </a:rPr>
              <a:t>脚输出的脉冲信号</a:t>
            </a:r>
            <a:r>
              <a:rPr lang="en-US" altLang="zh-CN" sz="2400" noProof="1">
                <a:ea typeface="宋体" panose="02010600030101010101" pitchFamily="2" charset="-122"/>
              </a:rPr>
              <a:t>, </a:t>
            </a:r>
            <a:r>
              <a:rPr lang="zh-CN" altLang="en-US" sz="2400" noProof="1">
                <a:ea typeface="宋体" panose="02010600030101010101" pitchFamily="2" charset="-122"/>
              </a:rPr>
              <a:t>频率为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</a:rPr>
              <a:t>14. 31818 MHz</a:t>
            </a:r>
            <a:endParaRPr lang="en-US" altLang="en-US" sz="240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宋体" panose="02010600030101010101" pitchFamily="2" charset="-122"/>
            </a:endParaRPr>
          </a:p>
          <a:p>
            <a:pPr marL="363855" indent="-363855" algn="just" eaLnBrk="1" hangingPunct="1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PCLK</a:t>
            </a:r>
            <a:r>
              <a:rPr lang="zh-CN" alt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和</a:t>
            </a:r>
            <a:r>
              <a:rPr 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OSC</a:t>
            </a:r>
            <a:r>
              <a:rPr lang="zh-CN" altLang="en-US" sz="2400" noProof="1">
                <a:ea typeface="宋体" panose="02010600030101010101" pitchFamily="2" charset="-122"/>
              </a:rPr>
              <a:t>信号输出到系统外部，</a:t>
            </a:r>
            <a:r>
              <a:rPr lang="zh-CN" altLang="en-US" sz="2400" noProof="1"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供外部电路（如8253）使用。</a:t>
            </a:r>
          </a:p>
        </p:txBody>
      </p:sp>
      <p:grpSp>
        <p:nvGrpSpPr>
          <p:cNvPr id="150531" name="组合 1">
            <a:extLst>
              <a:ext uri="{FF2B5EF4-FFF2-40B4-BE49-F238E27FC236}">
                <a16:creationId xmlns:a16="http://schemas.microsoft.com/office/drawing/2014/main" id="{A55F2E47-F343-4E79-AC2F-C9DFF42537A5}"/>
              </a:ext>
            </a:extLst>
          </p:cNvPr>
          <p:cNvGrpSpPr>
            <a:grpSpLocks/>
          </p:cNvGrpSpPr>
          <p:nvPr/>
        </p:nvGrpSpPr>
        <p:grpSpPr bwMode="auto">
          <a:xfrm>
            <a:off x="1504384" y="1281081"/>
            <a:ext cx="520907" cy="517525"/>
            <a:chOff x="8986" y="8950"/>
            <a:chExt cx="624" cy="816"/>
          </a:xfrm>
        </p:grpSpPr>
        <p:sp>
          <p:nvSpPr>
            <p:cNvPr id="150535" name="文本框 3">
              <a:extLst>
                <a:ext uri="{FF2B5EF4-FFF2-40B4-BE49-F238E27FC236}">
                  <a16:creationId xmlns:a16="http://schemas.microsoft.com/office/drawing/2014/main" id="{72E9EFF4-D3B8-40C0-BAA3-C3DAAFF16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6" y="8950"/>
              <a:ext cx="624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Garamond" panose="02020404030301010803" pitchFamily="18" charset="0"/>
                </a:rPr>
                <a:t>C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A7BFFF3-558D-454B-8901-4235B6508ACC}"/>
                </a:ext>
              </a:extLst>
            </p:cNvPr>
            <p:cNvCxnSpPr/>
            <p:nvPr/>
          </p:nvCxnSpPr>
          <p:spPr>
            <a:xfrm>
              <a:off x="9128" y="9070"/>
              <a:ext cx="339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0532" name="组合 4">
            <a:extLst>
              <a:ext uri="{FF2B5EF4-FFF2-40B4-BE49-F238E27FC236}">
                <a16:creationId xmlns:a16="http://schemas.microsoft.com/office/drawing/2014/main" id="{A561338C-A456-4F68-B724-CD9E304B4244}"/>
              </a:ext>
            </a:extLst>
          </p:cNvPr>
          <p:cNvGrpSpPr>
            <a:grpSpLocks/>
          </p:cNvGrpSpPr>
          <p:nvPr/>
        </p:nvGrpSpPr>
        <p:grpSpPr bwMode="auto">
          <a:xfrm>
            <a:off x="1509042" y="1916895"/>
            <a:ext cx="396875" cy="517525"/>
            <a:chOff x="8986" y="8898"/>
            <a:chExt cx="624" cy="837"/>
          </a:xfrm>
        </p:grpSpPr>
        <p:sp>
          <p:nvSpPr>
            <p:cNvPr id="150533" name="文本框 5">
              <a:extLst>
                <a:ext uri="{FF2B5EF4-FFF2-40B4-BE49-F238E27FC236}">
                  <a16:creationId xmlns:a16="http://schemas.microsoft.com/office/drawing/2014/main" id="{B3B02E86-CA9A-42A6-8F4E-E91E2F46D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6" y="8898"/>
              <a:ext cx="624" cy="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C00000"/>
                  </a:solidFill>
                  <a:latin typeface="Garamond" panose="02020404030301010803" pitchFamily="18" charset="0"/>
                </a:rPr>
                <a:t>C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E6A60482-6AD9-4FC9-A40F-3B60E53DF406}"/>
                </a:ext>
              </a:extLst>
            </p:cNvPr>
            <p:cNvCxnSpPr/>
            <p:nvPr/>
          </p:nvCxnSpPr>
          <p:spPr>
            <a:xfrm>
              <a:off x="9128" y="9068"/>
              <a:ext cx="339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ll dir="lu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E50015-6BC1-4EFE-B764-8B548A843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50" y="925500"/>
            <a:ext cx="8372475" cy="5727700"/>
          </a:xfrm>
          <a:extLst/>
        </p:spPr>
        <p:txBody>
          <a:bodyPr>
            <a:normAutofit/>
          </a:bodyPr>
          <a:lstStyle/>
          <a:p>
            <a:pPr marL="363855" indent="-363855"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noProof="1">
                <a:solidFill>
                  <a:srgbClr val="C00000"/>
                </a:solidFill>
              </a:rPr>
              <a:t>8284A</a:t>
            </a:r>
            <a:r>
              <a:rPr lang="zh-CN" altLang="en-US" noProof="1">
                <a:solidFill>
                  <a:srgbClr val="C00000"/>
                </a:solidFill>
              </a:rPr>
              <a:t>的作用：</a:t>
            </a:r>
          </a:p>
          <a:p>
            <a:pPr marL="363855" indent="-363855" algn="just" eaLnBrk="1" hangingPunct="1"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系统加电，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电源准备好信号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PWR GOOD</a:t>
            </a:r>
            <a:r>
              <a:rPr lang="zh-CN" altLang="en-US" sz="2400" noProof="1">
                <a:ea typeface="宋体" panose="02010600030101010101" pitchFamily="2" charset="-122"/>
              </a:rPr>
              <a:t>送</a:t>
            </a:r>
            <a:r>
              <a:rPr lang="en-US" sz="2400" noProof="1">
                <a:ea typeface="宋体" panose="02010600030101010101" pitchFamily="2" charset="-122"/>
              </a:rPr>
              <a:t>8284A</a:t>
            </a:r>
            <a:r>
              <a:rPr lang="zh-CN" altLang="en-US" sz="2400" noProof="1">
                <a:ea typeface="宋体" panose="02010600030101010101" pitchFamily="2" charset="-122"/>
              </a:rPr>
              <a:t>复位端</a:t>
            </a:r>
            <a:r>
              <a:rPr lang="en-US" sz="2400" noProof="1">
                <a:ea typeface="宋体" panose="02010600030101010101" pitchFamily="2" charset="-122"/>
              </a:rPr>
              <a:t>RES</a:t>
            </a:r>
            <a:r>
              <a:rPr lang="zh-CN" altLang="en-US" sz="2400" noProof="1">
                <a:ea typeface="宋体" panose="02010600030101010101" pitchFamily="2" charset="-122"/>
              </a:rPr>
              <a:t>，经它同步后形成系统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复位信号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RESET</a:t>
            </a:r>
            <a:r>
              <a:rPr lang="zh-CN" altLang="en-US" sz="2400" noProof="1">
                <a:ea typeface="宋体" panose="02010600030101010101" pitchFamily="2" charset="-122"/>
              </a:rPr>
              <a:t>。</a:t>
            </a:r>
          </a:p>
          <a:p>
            <a:pPr marL="363855" indent="-363855" algn="just" eaLnBrk="1" hangingPunct="1"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当</a:t>
            </a:r>
            <a:r>
              <a:rPr lang="en-US" sz="2400" noProof="1">
                <a:ea typeface="宋体" panose="02010600030101010101" pitchFamily="2" charset="-122"/>
              </a:rPr>
              <a:t>CPU</a:t>
            </a:r>
            <a:r>
              <a:rPr lang="zh-CN" altLang="en-US" sz="2400" noProof="1">
                <a:ea typeface="宋体" panose="02010600030101010101" pitchFamily="2" charset="-122"/>
              </a:rPr>
              <a:t>与慢速存储器或外设交换数据时，会向</a:t>
            </a:r>
            <a:r>
              <a:rPr lang="en-US" sz="2400" noProof="1">
                <a:ea typeface="宋体" panose="02010600030101010101" pitchFamily="2" charset="-122"/>
              </a:rPr>
              <a:t>8284A</a:t>
            </a:r>
            <a:r>
              <a:rPr lang="zh-CN" altLang="en-US" sz="2400" noProof="1">
                <a:ea typeface="宋体" panose="02010600030101010101" pitchFamily="2" charset="-122"/>
              </a:rPr>
              <a:t>的</a:t>
            </a:r>
            <a:r>
              <a:rPr lang="en-US" sz="2400" noProof="1">
                <a:ea typeface="宋体" panose="02010600030101010101" pitchFamily="2" charset="-122"/>
              </a:rPr>
              <a:t>RDY</a:t>
            </a:r>
            <a:r>
              <a:rPr lang="en-US" sz="2400" baseline="-25000" noProof="1">
                <a:ea typeface="宋体" panose="02010600030101010101" pitchFamily="2" charset="-122"/>
              </a:rPr>
              <a:t>1</a:t>
            </a:r>
            <a:r>
              <a:rPr lang="zh-CN" altLang="en-US" sz="2400" baseline="-25000" noProof="1">
                <a:ea typeface="宋体" panose="02010600030101010101" pitchFamily="2" charset="-122"/>
              </a:rPr>
              <a:t>、</a:t>
            </a:r>
            <a:r>
              <a:rPr lang="en-US" altLang="zh-CN" sz="2400" noProof="1">
                <a:ea typeface="宋体" panose="02010600030101010101" pitchFamily="2" charset="-122"/>
              </a:rPr>
              <a:t>        </a:t>
            </a:r>
            <a:r>
              <a:rPr lang="zh-CN" altLang="en-US" sz="2400" noProof="1">
                <a:ea typeface="宋体" panose="02010600030101010101" pitchFamily="2" charset="-122"/>
              </a:rPr>
              <a:t>输入信号，经它同步后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使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READY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变低</a:t>
            </a:r>
            <a:r>
              <a:rPr lang="zh-CN" altLang="en-US" sz="2400" noProof="1">
                <a:ea typeface="宋体" panose="02010600030101010101" pitchFamily="2" charset="-122"/>
              </a:rPr>
              <a:t>并送到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CPU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的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READY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端</a:t>
            </a:r>
            <a:r>
              <a:rPr lang="zh-CN" altLang="en-US" sz="2400" noProof="1">
                <a:ea typeface="宋体" panose="02010600030101010101" pitchFamily="2" charset="-122"/>
              </a:rPr>
              <a:t>，在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sz="2400" baseline="-250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周期后插入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1~n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个等待周期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Tw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，直至外部数据准备就绪</a:t>
            </a:r>
            <a:r>
              <a:rPr lang="zh-CN" altLang="en-US" sz="2400" noProof="1">
                <a:ea typeface="宋体" panose="02010600030101010101" pitchFamily="2" charset="-122"/>
              </a:rPr>
              <a:t>，使</a:t>
            </a:r>
            <a:r>
              <a:rPr lang="en-US" sz="2400" noProof="1">
                <a:ea typeface="宋体" panose="02010600030101010101" pitchFamily="2" charset="-122"/>
              </a:rPr>
              <a:t>READY</a:t>
            </a:r>
            <a:r>
              <a:rPr lang="zh-CN" altLang="en-US" sz="2400" noProof="1">
                <a:ea typeface="宋体" panose="02010600030101010101" pitchFamily="2" charset="-122"/>
              </a:rPr>
              <a:t>变高才进入</a:t>
            </a:r>
            <a:r>
              <a:rPr lang="en-US" sz="2400" noProof="1">
                <a:ea typeface="宋体" panose="02010600030101010101" pitchFamily="2" charset="-122"/>
              </a:rPr>
              <a:t>T</a:t>
            </a:r>
            <a:r>
              <a:rPr lang="en-US" sz="2400" baseline="-25000" noProof="1">
                <a:ea typeface="宋体" panose="02010600030101010101" pitchFamily="2" charset="-122"/>
              </a:rPr>
              <a:t>4</a:t>
            </a:r>
            <a:r>
              <a:rPr lang="zh-CN" altLang="en-US" sz="2400" noProof="1">
                <a:ea typeface="宋体" panose="02010600030101010101" pitchFamily="2" charset="-122"/>
              </a:rPr>
              <a:t>周期，完成数据传送。</a:t>
            </a:r>
          </a:p>
          <a:p>
            <a:pPr marL="363855" indent="-363855" algn="just" eaLnBrk="1" hangingPunct="1"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在</a:t>
            </a:r>
            <a:r>
              <a:rPr lang="en-US" sz="2400" noProof="1">
                <a:ea typeface="宋体" panose="02010600030101010101" pitchFamily="2" charset="-122"/>
              </a:rPr>
              <a:t>X</a:t>
            </a:r>
            <a:r>
              <a:rPr lang="en-US" sz="2400" baseline="-25000" noProof="1">
                <a:ea typeface="宋体" panose="02010600030101010101" pitchFamily="2" charset="-122"/>
              </a:rPr>
              <a:t>1</a:t>
            </a:r>
            <a:r>
              <a:rPr lang="zh-CN" altLang="en-US" sz="2400" noProof="1">
                <a:ea typeface="宋体" panose="02010600030101010101" pitchFamily="2" charset="-122"/>
              </a:rPr>
              <a:t>和</a:t>
            </a:r>
            <a:r>
              <a:rPr lang="en-US" sz="2400" noProof="1">
                <a:ea typeface="宋体" panose="02010600030101010101" pitchFamily="2" charset="-122"/>
              </a:rPr>
              <a:t>X</a:t>
            </a:r>
            <a:r>
              <a:rPr lang="en-US" sz="2400" baseline="-25000" noProof="1">
                <a:ea typeface="宋体" panose="02010600030101010101" pitchFamily="2" charset="-122"/>
              </a:rPr>
              <a:t>2</a:t>
            </a:r>
            <a:r>
              <a:rPr lang="zh-CN" altLang="en-US" sz="2400" noProof="1">
                <a:ea typeface="宋体" panose="02010600030101010101" pitchFamily="2" charset="-122"/>
              </a:rPr>
              <a:t>端接频率</a:t>
            </a:r>
            <a:r>
              <a:rPr lang="en-US" sz="2400" noProof="1">
                <a:ea typeface="宋体" panose="02010600030101010101" pitchFamily="2" charset="-122"/>
              </a:rPr>
              <a:t>15MHz</a:t>
            </a:r>
            <a:r>
              <a:rPr lang="zh-CN" altLang="en-US" sz="2400" noProof="1">
                <a:ea typeface="宋体" panose="02010600030101010101" pitchFamily="2" charset="-122"/>
              </a:rPr>
              <a:t>或</a:t>
            </a:r>
            <a:r>
              <a:rPr lang="en-US" sz="2400" noProof="1">
                <a:ea typeface="宋体" panose="02010600030101010101" pitchFamily="2" charset="-122"/>
              </a:rPr>
              <a:t>24MHz</a:t>
            </a:r>
            <a:r>
              <a:rPr lang="zh-CN" altLang="en-US" sz="2400" noProof="1">
                <a:ea typeface="宋体" panose="02010600030101010101" pitchFamily="2" charset="-122"/>
              </a:rPr>
              <a:t>晶振，则经</a:t>
            </a:r>
            <a:r>
              <a:rPr lang="en-US" sz="2400" noProof="1">
                <a:ea typeface="宋体" panose="02010600030101010101" pitchFamily="2" charset="-122"/>
              </a:rPr>
              <a:t>8284A</a:t>
            </a:r>
            <a:r>
              <a:rPr lang="zh-CN" altLang="en-US" sz="2400" noProof="1">
                <a:ea typeface="宋体" panose="02010600030101010101" pitchFamily="2" charset="-122"/>
              </a:rPr>
              <a:t>做</a:t>
            </a:r>
            <a:r>
              <a:rPr lang="en-US" sz="2400" noProof="1">
                <a:ea typeface="宋体" panose="02010600030101010101" pitchFamily="2" charset="-122"/>
              </a:rPr>
              <a:t>3</a:t>
            </a:r>
            <a:r>
              <a:rPr lang="zh-CN" altLang="en-US" sz="2400" noProof="1">
                <a:ea typeface="宋体" panose="02010600030101010101" pitchFamily="2" charset="-122"/>
              </a:rPr>
              <a:t>分频，在</a:t>
            </a:r>
            <a:r>
              <a:rPr lang="en-US" sz="2400" noProof="1">
                <a:ea typeface="宋体" panose="02010600030101010101" pitchFamily="2" charset="-122"/>
              </a:rPr>
              <a:t>CLK</a:t>
            </a:r>
            <a:r>
              <a:rPr lang="zh-CN" altLang="en-US" sz="2400" noProof="1">
                <a:ea typeface="宋体" panose="02010600030101010101" pitchFamily="2" charset="-122"/>
              </a:rPr>
              <a:t>端获得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5MHz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的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CLK86</a:t>
            </a:r>
            <a:r>
              <a:rPr lang="zh-CN" altLang="en-US" sz="2400" noProof="1">
                <a:ea typeface="宋体" panose="02010600030101010101" pitchFamily="2" charset="-122"/>
              </a:rPr>
              <a:t>或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8MHz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的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CLK86-2</a:t>
            </a:r>
            <a:r>
              <a:rPr lang="zh-CN" altLang="en-US" sz="2400" noProof="1">
                <a:ea typeface="宋体" panose="02010600030101010101" pitchFamily="2" charset="-122"/>
              </a:rPr>
              <a:t>信号，供</a:t>
            </a:r>
            <a:r>
              <a:rPr lang="en-US" sz="2400" noProof="1">
                <a:ea typeface="宋体" panose="02010600030101010101" pitchFamily="2" charset="-122"/>
              </a:rPr>
              <a:t>8086</a:t>
            </a:r>
            <a:r>
              <a:rPr lang="zh-CN" altLang="en-US" sz="2400" noProof="1">
                <a:ea typeface="宋体" panose="02010600030101010101" pitchFamily="2" charset="-122"/>
              </a:rPr>
              <a:t>或</a:t>
            </a:r>
            <a:r>
              <a:rPr lang="en-US" sz="2400" noProof="1">
                <a:ea typeface="宋体" panose="02010600030101010101" pitchFamily="2" charset="-122"/>
              </a:rPr>
              <a:t>8086-2</a:t>
            </a:r>
            <a:r>
              <a:rPr lang="zh-CN" altLang="en-US" sz="2400" noProof="1">
                <a:ea typeface="宋体" panose="02010600030101010101" pitchFamily="2" charset="-122"/>
              </a:rPr>
              <a:t>作时钟脉冲信号。</a:t>
            </a:r>
          </a:p>
        </p:txBody>
      </p:sp>
      <p:grpSp>
        <p:nvGrpSpPr>
          <p:cNvPr id="151555" name="组合 4">
            <a:extLst>
              <a:ext uri="{FF2B5EF4-FFF2-40B4-BE49-F238E27FC236}">
                <a16:creationId xmlns:a16="http://schemas.microsoft.com/office/drawing/2014/main" id="{9DEA63D1-7D47-44A1-8FA2-91D1DD3D2010}"/>
              </a:ext>
            </a:extLst>
          </p:cNvPr>
          <p:cNvGrpSpPr>
            <a:grpSpLocks/>
          </p:cNvGrpSpPr>
          <p:nvPr/>
        </p:nvGrpSpPr>
        <p:grpSpPr bwMode="auto">
          <a:xfrm>
            <a:off x="1849438" y="2600325"/>
            <a:ext cx="1063625" cy="517525"/>
            <a:chOff x="8986" y="8950"/>
            <a:chExt cx="541" cy="836"/>
          </a:xfrm>
        </p:grpSpPr>
        <p:sp>
          <p:nvSpPr>
            <p:cNvPr id="151556" name="文本框 5">
              <a:extLst>
                <a:ext uri="{FF2B5EF4-FFF2-40B4-BE49-F238E27FC236}">
                  <a16:creationId xmlns:a16="http://schemas.microsoft.com/office/drawing/2014/main" id="{3CDB8708-3459-4269-92B2-BB27923962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6" y="8950"/>
              <a:ext cx="541" cy="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Garamond" panose="02020404030301010803" pitchFamily="18" charset="0"/>
                </a:rPr>
                <a:t>AEN1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477E7171-D022-4EC9-B164-C35D156FEF05}"/>
                </a:ext>
              </a:extLst>
            </p:cNvPr>
            <p:cNvCxnSpPr/>
            <p:nvPr/>
          </p:nvCxnSpPr>
          <p:spPr>
            <a:xfrm>
              <a:off x="9026" y="9109"/>
              <a:ext cx="408" cy="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ll dir="rd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标题 1">
            <a:extLst>
              <a:ext uri="{FF2B5EF4-FFF2-40B4-BE49-F238E27FC236}">
                <a16:creationId xmlns:a16="http://schemas.microsoft.com/office/drawing/2014/main" id="{373991B5-0C8D-439E-8415-C7A7E6461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宋体" panose="02010600030101010101" pitchFamily="2" charset="-122"/>
              </a:rPr>
              <a:t>最小模式系统工作过程</a:t>
            </a:r>
            <a:r>
              <a:rPr lang="en-US" altLang="zh-CN">
                <a:ea typeface="宋体" panose="02010600030101010101" pitchFamily="2" charset="-122"/>
              </a:rPr>
              <a:t>——</a:t>
            </a:r>
            <a:r>
              <a:rPr lang="zh-CN" altLang="en-US">
                <a:solidFill>
                  <a:srgbClr val="FFFFCC"/>
                </a:solidFill>
                <a:ea typeface="宋体" panose="02010600030101010101" pitchFamily="2" charset="-122"/>
              </a:rPr>
              <a:t>读存储器过程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20C23F-ED22-44F1-AD55-09D9B089E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162050"/>
            <a:ext cx="8020685" cy="3178175"/>
          </a:xfrm>
          <a:extLst/>
        </p:spPr>
        <p:txBody>
          <a:bodyPr>
            <a:normAutofit/>
          </a:bodyPr>
          <a:lstStyle/>
          <a:p>
            <a:pPr marL="0" indent="0" algn="just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noProof="1">
                <a:ln>
                  <a:solidFill>
                    <a:schemeClr val="tx2"/>
                  </a:solidFill>
                </a:ln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 </a:t>
            </a:r>
            <a:r>
              <a:rPr lang="en-US" noProof="1"/>
              <a:t>CPU</a:t>
            </a:r>
            <a:r>
              <a:rPr lang="zh-CN" altLang="en-US" noProof="1"/>
              <a:t>送出</a:t>
            </a:r>
            <a:r>
              <a:rPr lang="en-US" noProof="1">
                <a:solidFill>
                  <a:srgbClr val="C00000"/>
                </a:solidFill>
                <a:latin typeface="Times New Roman" panose="02020603050405020304" pitchFamily="2" charset="0"/>
              </a:rPr>
              <a:t> </a:t>
            </a:r>
            <a:r>
              <a:rPr lang="en-US" noProof="1"/>
              <a:t>       </a:t>
            </a:r>
            <a:r>
              <a:rPr lang="zh-CN" altLang="en-US" noProof="1">
                <a:ea typeface="宋体" panose="02010600030101010101" pitchFamily="2" charset="-122"/>
              </a:rPr>
              <a:t>和</a:t>
            </a:r>
            <a:r>
              <a:rPr lang="en-US" noProof="1"/>
              <a:t>        </a:t>
            </a:r>
            <a:r>
              <a:rPr lang="zh-CN" altLang="en-US" noProof="1"/>
              <a:t>信号</a:t>
            </a:r>
            <a:endParaRPr lang="zh-CN" altLang="en-US" noProof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ea typeface="宋体" panose="02010600030101010101" pitchFamily="2" charset="-122"/>
            </a:endParaRPr>
          </a:p>
          <a:p>
            <a:pPr marL="363855" indent="-363855" algn="just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noProof="1">
                <a:ea typeface="宋体" panose="02010600030101010101" pitchFamily="2" charset="-122"/>
              </a:rPr>
              <a:t> </a:t>
            </a:r>
            <a:r>
              <a:rPr lang="zh-CN" altLang="en-US" sz="2400" noProof="1">
                <a:ea typeface="宋体" panose="02010600030101010101" pitchFamily="2" charset="-122"/>
              </a:rPr>
              <a:t>          </a:t>
            </a:r>
            <a:r>
              <a:rPr lang="en-US" altLang="zh-CN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</a:rPr>
              <a:t>=1</a:t>
            </a:r>
            <a:r>
              <a:rPr lang="zh-CN" altLang="en-US" sz="2400" noProof="1">
                <a:ea typeface="宋体" panose="02010600030101010101" pitchFamily="2" charset="-122"/>
              </a:rPr>
              <a:t>，选中存储器；</a:t>
            </a:r>
            <a:endParaRPr lang="en-US" altLang="zh-CN" sz="2400" noProof="1">
              <a:ea typeface="宋体" panose="02010600030101010101" pitchFamily="2" charset="-122"/>
            </a:endParaRPr>
          </a:p>
          <a:p>
            <a:pPr marL="363855" indent="-363855" algn="just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           </a:t>
            </a:r>
            <a:r>
              <a:rPr lang="en-US" altLang="zh-CN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</a:rPr>
              <a:t>=0</a:t>
            </a:r>
            <a:r>
              <a:rPr lang="zh-CN" altLang="en-US" sz="2400" noProof="1">
                <a:ea typeface="宋体" panose="02010600030101010101" pitchFamily="2" charset="-122"/>
              </a:rPr>
              <a:t>，使得</a:t>
            </a:r>
            <a:r>
              <a:rPr lang="en-US" sz="2400" noProof="1">
                <a:ea typeface="宋体" panose="02010600030101010101" pitchFamily="2" charset="-122"/>
              </a:rPr>
              <a:t>74LS245</a:t>
            </a:r>
            <a:r>
              <a:rPr lang="zh-CN" altLang="en-US" sz="2400" noProof="1">
                <a:ea typeface="宋体" panose="02010600030101010101" pitchFamily="2" charset="-122"/>
              </a:rPr>
              <a:t>的</a:t>
            </a:r>
            <a:r>
              <a:rPr lang="en-US" sz="2400" noProof="1">
                <a:ea typeface="宋体" panose="02010600030101010101" pitchFamily="2" charset="-122"/>
              </a:rPr>
              <a:t>DIR=0</a:t>
            </a:r>
            <a:r>
              <a:rPr lang="zh-CN" altLang="en-US" sz="2400" noProof="1">
                <a:ea typeface="宋体" panose="02010600030101010101" pitchFamily="2" charset="-122"/>
              </a:rPr>
              <a:t>，数据</a:t>
            </a:r>
            <a:r>
              <a:rPr lang="en-US" sz="2400" noProof="1">
                <a:ea typeface="宋体" panose="02010600030101010101" pitchFamily="2" charset="-122"/>
              </a:rPr>
              <a:t>A</a:t>
            </a:r>
            <a:r>
              <a:rPr lang="en-US" sz="2400" noProof="1">
                <a:ea typeface="宋体" panose="02010600030101010101" pitchFamily="2" charset="-122"/>
                <a:sym typeface="Wingdings 3" panose="05040102010807070707"/>
              </a:rPr>
              <a:t></a:t>
            </a:r>
            <a:r>
              <a:rPr lang="en-US" sz="2400" noProof="1">
                <a:ea typeface="宋体" panose="02010600030101010101" pitchFamily="2" charset="-122"/>
              </a:rPr>
              <a:t>B</a:t>
            </a:r>
            <a:r>
              <a:rPr lang="zh-CN" altLang="en-US" sz="2400" noProof="1">
                <a:ea typeface="宋体" panose="02010600030101010101" pitchFamily="2" charset="-122"/>
              </a:rPr>
              <a:t>，</a:t>
            </a:r>
            <a:r>
              <a:rPr lang="en-US" sz="2400" noProof="1">
                <a:ea typeface="宋体" panose="02010600030101010101" pitchFamily="2" charset="-122"/>
              </a:rPr>
              <a:t>CPU</a:t>
            </a:r>
            <a:r>
              <a:rPr lang="zh-CN" altLang="en-US" sz="2400" noProof="1">
                <a:ea typeface="宋体" panose="02010600030101010101" pitchFamily="2" charset="-122"/>
              </a:rPr>
              <a:t>准备接收内存的数据。</a:t>
            </a: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 sz="2400" noProof="1">
              <a:ea typeface="宋体" panose="02010600030101010101" pitchFamily="2" charset="-122"/>
            </a:endParaRPr>
          </a:p>
        </p:txBody>
      </p:sp>
      <p:graphicFrame>
        <p:nvGraphicFramePr>
          <p:cNvPr id="152580" name="Object 5">
            <a:extLst>
              <a:ext uri="{FF2B5EF4-FFF2-40B4-BE49-F238E27FC236}">
                <a16:creationId xmlns:a16="http://schemas.microsoft.com/office/drawing/2014/main" id="{0F481878-D9AC-41A9-9D0A-F587605A16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5288" y="5026025"/>
          <a:ext cx="62706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43" r:id="rId3" imgW="8839200" imgH="4876800" progId="Equation.DSMT4">
                  <p:embed/>
                </p:oleObj>
              </mc:Choice>
              <mc:Fallback>
                <p:oleObj r:id="rId3" imgW="8839200" imgH="487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5288" y="5026025"/>
                        <a:ext cx="627062" cy="346075"/>
                      </a:xfrm>
                      <a:prstGeom prst="rect">
                        <a:avLst/>
                      </a:prstGeom>
                      <a:solidFill>
                        <a:srgbClr val="009DD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1" name="Object 7">
            <a:extLst>
              <a:ext uri="{FF2B5EF4-FFF2-40B4-BE49-F238E27FC236}">
                <a16:creationId xmlns:a16="http://schemas.microsoft.com/office/drawing/2014/main" id="{AFB30029-E215-49DA-9328-1241890C40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7388" y="5688013"/>
          <a:ext cx="6715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44" r:id="rId5" imgW="8839200" imgH="4876800" progId="Equation.DSMT4">
                  <p:embed/>
                </p:oleObj>
              </mc:Choice>
              <mc:Fallback>
                <p:oleObj r:id="rId5" imgW="8839200" imgH="4876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7388" y="5688013"/>
                        <a:ext cx="671512" cy="371475"/>
                      </a:xfrm>
                      <a:prstGeom prst="rect">
                        <a:avLst/>
                      </a:prstGeom>
                      <a:solidFill>
                        <a:srgbClr val="009DD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2582" name="Picture 1">
            <a:extLst>
              <a:ext uri="{FF2B5EF4-FFF2-40B4-BE49-F238E27FC236}">
                <a16:creationId xmlns:a16="http://schemas.microsoft.com/office/drawing/2014/main" id="{D65E8D99-0F34-45FA-9838-B0A1204C9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3028950"/>
            <a:ext cx="6670675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2583" name="组合 1">
            <a:extLst>
              <a:ext uri="{FF2B5EF4-FFF2-40B4-BE49-F238E27FC236}">
                <a16:creationId xmlns:a16="http://schemas.microsoft.com/office/drawing/2014/main" id="{37F7A425-CDA2-4F33-A144-3BE0416222B1}"/>
              </a:ext>
            </a:extLst>
          </p:cNvPr>
          <p:cNvGrpSpPr>
            <a:grpSpLocks/>
          </p:cNvGrpSpPr>
          <p:nvPr/>
        </p:nvGrpSpPr>
        <p:grpSpPr bwMode="auto">
          <a:xfrm>
            <a:off x="2378075" y="1162050"/>
            <a:ext cx="1079500" cy="517525"/>
            <a:chOff x="12864" y="1694"/>
            <a:chExt cx="1056" cy="816"/>
          </a:xfrm>
        </p:grpSpPr>
        <p:sp>
          <p:nvSpPr>
            <p:cNvPr id="152595" name="文本框 5">
              <a:extLst>
                <a:ext uri="{FF2B5EF4-FFF2-40B4-BE49-F238E27FC236}">
                  <a16:creationId xmlns:a16="http://schemas.microsoft.com/office/drawing/2014/main" id="{19E3FC56-3A82-45EE-B926-D7E03C664F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4" y="1694"/>
              <a:ext cx="1056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Times New Roman" panose="02020603050405020304" pitchFamily="18" charset="0"/>
                </a:rPr>
                <a:t>M/IO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BFCD9B01-DEFF-4AAC-A4F8-DD3C068CA242}"/>
                </a:ext>
              </a:extLst>
            </p:cNvPr>
            <p:cNvCxnSpPr/>
            <p:nvPr/>
          </p:nvCxnSpPr>
          <p:spPr>
            <a:xfrm>
              <a:off x="13434" y="1849"/>
              <a:ext cx="281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584" name="组合 3">
            <a:extLst>
              <a:ext uri="{FF2B5EF4-FFF2-40B4-BE49-F238E27FC236}">
                <a16:creationId xmlns:a16="http://schemas.microsoft.com/office/drawing/2014/main" id="{72B60191-8866-4E1F-80AE-50C95FE43101}"/>
              </a:ext>
            </a:extLst>
          </p:cNvPr>
          <p:cNvGrpSpPr>
            <a:grpSpLocks/>
          </p:cNvGrpSpPr>
          <p:nvPr/>
        </p:nvGrpSpPr>
        <p:grpSpPr bwMode="auto">
          <a:xfrm>
            <a:off x="3687763" y="1162050"/>
            <a:ext cx="1079500" cy="517525"/>
            <a:chOff x="12876" y="1552"/>
            <a:chExt cx="1056" cy="816"/>
          </a:xfrm>
        </p:grpSpPr>
        <p:sp>
          <p:nvSpPr>
            <p:cNvPr id="152593" name="文本框 7">
              <a:extLst>
                <a:ext uri="{FF2B5EF4-FFF2-40B4-BE49-F238E27FC236}">
                  <a16:creationId xmlns:a16="http://schemas.microsoft.com/office/drawing/2014/main" id="{9FB5B362-C6B9-47A2-BE8E-EB18353CF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76" y="1552"/>
              <a:ext cx="1056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Times New Roman" panose="02020603050405020304" pitchFamily="18" charset="0"/>
                </a:rPr>
                <a:t>DT/R</a:t>
              </a: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1C94CBF-BB01-4758-BBFE-6A4AC1B49D5D}"/>
                </a:ext>
              </a:extLst>
            </p:cNvPr>
            <p:cNvCxnSpPr/>
            <p:nvPr/>
          </p:nvCxnSpPr>
          <p:spPr>
            <a:xfrm>
              <a:off x="13545" y="1695"/>
              <a:ext cx="281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585" name="组合 9">
            <a:extLst>
              <a:ext uri="{FF2B5EF4-FFF2-40B4-BE49-F238E27FC236}">
                <a16:creationId xmlns:a16="http://schemas.microsoft.com/office/drawing/2014/main" id="{73AD2971-153F-4137-9F6F-E424270D547D}"/>
              </a:ext>
            </a:extLst>
          </p:cNvPr>
          <p:cNvGrpSpPr>
            <a:grpSpLocks/>
          </p:cNvGrpSpPr>
          <p:nvPr/>
        </p:nvGrpSpPr>
        <p:grpSpPr bwMode="auto">
          <a:xfrm>
            <a:off x="815975" y="1679575"/>
            <a:ext cx="1079500" cy="457200"/>
            <a:chOff x="12864" y="1694"/>
            <a:chExt cx="1056" cy="720"/>
          </a:xfrm>
        </p:grpSpPr>
        <p:sp>
          <p:nvSpPr>
            <p:cNvPr id="152591" name="文本框 10">
              <a:extLst>
                <a:ext uri="{FF2B5EF4-FFF2-40B4-BE49-F238E27FC236}">
                  <a16:creationId xmlns:a16="http://schemas.microsoft.com/office/drawing/2014/main" id="{14E5ADC7-50E7-4688-9685-73DE6FB75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4" y="1694"/>
              <a:ext cx="1056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M/IO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382372D-BEBE-4040-925D-1D0D10500D39}"/>
                </a:ext>
              </a:extLst>
            </p:cNvPr>
            <p:cNvCxnSpPr/>
            <p:nvPr/>
          </p:nvCxnSpPr>
          <p:spPr>
            <a:xfrm>
              <a:off x="13341" y="1694"/>
              <a:ext cx="28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586" name="组合 12">
            <a:extLst>
              <a:ext uri="{FF2B5EF4-FFF2-40B4-BE49-F238E27FC236}">
                <a16:creationId xmlns:a16="http://schemas.microsoft.com/office/drawing/2014/main" id="{A2B60B43-4C21-4686-AB82-B49AA8B9C430}"/>
              </a:ext>
            </a:extLst>
          </p:cNvPr>
          <p:cNvGrpSpPr>
            <a:grpSpLocks/>
          </p:cNvGrpSpPr>
          <p:nvPr/>
        </p:nvGrpSpPr>
        <p:grpSpPr bwMode="auto">
          <a:xfrm>
            <a:off x="815975" y="2136775"/>
            <a:ext cx="1079500" cy="457200"/>
            <a:chOff x="12876" y="1552"/>
            <a:chExt cx="1056" cy="720"/>
          </a:xfrm>
        </p:grpSpPr>
        <p:sp>
          <p:nvSpPr>
            <p:cNvPr id="152589" name="文本框 13">
              <a:extLst>
                <a:ext uri="{FF2B5EF4-FFF2-40B4-BE49-F238E27FC236}">
                  <a16:creationId xmlns:a16="http://schemas.microsoft.com/office/drawing/2014/main" id="{47879000-229F-4726-99F3-47E8AF955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76" y="1552"/>
              <a:ext cx="1056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DT/R</a:t>
              </a: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BEB15726-51D4-459A-9D88-577F8A0D52C3}"/>
                </a:ext>
              </a:extLst>
            </p:cNvPr>
            <p:cNvCxnSpPr/>
            <p:nvPr/>
          </p:nvCxnSpPr>
          <p:spPr>
            <a:xfrm>
              <a:off x="13446" y="1597"/>
              <a:ext cx="189" cy="1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C532A7A-BDF7-4AA3-9FF9-8C2C6A6B0FC1}"/>
              </a:ext>
            </a:extLst>
          </p:cNvPr>
          <p:cNvSpPr txBox="1"/>
          <p:nvPr/>
        </p:nvSpPr>
        <p:spPr>
          <a:xfrm>
            <a:off x="532125" y="4877435"/>
            <a:ext cx="1646560" cy="6438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第</a:t>
            </a: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1</a:t>
            </a: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步</a:t>
            </a:r>
            <a:endParaRPr lang="zh-CN" altLang="en-US" sz="3600" noProof="1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D8CCAF-2E07-46A3-A6A4-6C0B1873CAF0}"/>
              </a:ext>
            </a:extLst>
          </p:cNvPr>
          <p:cNvSpPr txBox="1"/>
          <p:nvPr/>
        </p:nvSpPr>
        <p:spPr>
          <a:xfrm>
            <a:off x="450850" y="5624513"/>
            <a:ext cx="1809750" cy="10763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noProof="1">
                <a:solidFill>
                  <a:srgbClr val="FFFF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彻底理解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noProof="1">
                <a:solidFill>
                  <a:srgbClr val="FFFF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分时复用</a:t>
            </a:r>
          </a:p>
        </p:txBody>
      </p:sp>
    </p:spTree>
  </p:cSld>
  <p:clrMapOvr>
    <a:masterClrMapping/>
  </p:clrMapOvr>
  <p:transition spd="slow">
    <p:wheel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2" name="Picture 1">
            <a:extLst>
              <a:ext uri="{FF2B5EF4-FFF2-40B4-BE49-F238E27FC236}">
                <a16:creationId xmlns:a16="http://schemas.microsoft.com/office/drawing/2014/main" id="{E823F90A-A4E4-41B4-8843-B0E36F7B8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88" y="3005138"/>
            <a:ext cx="6670675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3" name="标题 1">
            <a:extLst>
              <a:ext uri="{FF2B5EF4-FFF2-40B4-BE49-F238E27FC236}">
                <a16:creationId xmlns:a16="http://schemas.microsoft.com/office/drawing/2014/main" id="{9F3E7640-0AA5-408B-B91A-7C0216DB94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宋体" panose="02010600030101010101" pitchFamily="2" charset="-122"/>
              </a:rPr>
              <a:t>最小模式系统工作过程</a:t>
            </a:r>
            <a:r>
              <a:rPr lang="en-US" altLang="zh-CN">
                <a:ea typeface="宋体" panose="02010600030101010101" pitchFamily="2" charset="-122"/>
              </a:rPr>
              <a:t>——</a:t>
            </a:r>
            <a:r>
              <a:rPr lang="zh-CN" altLang="en-US">
                <a:ea typeface="宋体" panose="02010600030101010101" pitchFamily="2" charset="-122"/>
              </a:rPr>
              <a:t>读存储器过程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2555C8-FE4B-482B-85F9-5C84C249E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162050"/>
            <a:ext cx="8020685" cy="3178175"/>
          </a:xfrm>
          <a:extLst/>
        </p:spPr>
        <p:txBody>
          <a:bodyPr>
            <a:normAutofit/>
          </a:bodyPr>
          <a:lstStyle/>
          <a:p>
            <a:pPr marL="0" indent="0" algn="just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noProof="1">
                <a:ln>
                  <a:solidFill>
                    <a:schemeClr val="tx2"/>
                  </a:solidFill>
                </a:ln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2) </a:t>
            </a:r>
            <a:r>
              <a:rPr lang="en-US" sz="2400" noProof="1">
                <a:sym typeface="+mn-ea"/>
              </a:rPr>
              <a:t>CPU</a:t>
            </a:r>
            <a:r>
              <a:rPr lang="zh-CN" altLang="en-US" sz="2400" noProof="1">
                <a:sym typeface="+mn-ea"/>
              </a:rPr>
              <a:t>先送出</a:t>
            </a:r>
            <a:r>
              <a:rPr lang="zh-CN" altLang="en-US" sz="2400" noProof="1">
                <a:solidFill>
                  <a:srgbClr val="C00000"/>
                </a:solidFill>
                <a:sym typeface="+mn-ea"/>
              </a:rPr>
              <a:t>地址</a:t>
            </a:r>
            <a:r>
              <a:rPr lang="zh-CN" altLang="en-US" sz="2400" noProof="1">
                <a:sym typeface="+mn-ea"/>
              </a:rPr>
              <a:t>和      </a:t>
            </a:r>
            <a:r>
              <a:rPr lang="en-US" sz="2400" noProof="1">
                <a:sym typeface="+mn-ea"/>
              </a:rPr>
              <a:t>    </a:t>
            </a:r>
            <a:r>
              <a:rPr lang="zh-CN" altLang="en-US" sz="2400" noProof="1">
                <a:sym typeface="+mn-ea"/>
              </a:rPr>
              <a:t>信号，再送出地址锁存</a:t>
            </a:r>
            <a:r>
              <a:rPr lang="en-US" sz="2400" noProof="1">
                <a:solidFill>
                  <a:srgbClr val="C00000"/>
                </a:solidFill>
                <a:sym typeface="+mn-ea"/>
              </a:rPr>
              <a:t>ALE</a:t>
            </a:r>
            <a:endParaRPr lang="en-US" altLang="en-US" sz="2400" noProof="1">
              <a:solidFill>
                <a:srgbClr val="C00000"/>
              </a:solidFill>
              <a:sym typeface="+mn-ea"/>
            </a:endParaRP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A</a:t>
            </a:r>
            <a:r>
              <a:rPr lang="en-US" sz="2200" baseline="-250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19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/S</a:t>
            </a:r>
            <a:r>
              <a:rPr lang="en-US" sz="2200" baseline="-250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~A</a:t>
            </a:r>
            <a:r>
              <a:rPr lang="en-US" sz="2200" baseline="-250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16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/S</a:t>
            </a:r>
            <a:r>
              <a:rPr lang="en-US" sz="2200" baseline="-250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、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AD</a:t>
            </a:r>
            <a:r>
              <a:rPr lang="en-US" sz="2200" baseline="-250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15</a:t>
            </a:r>
            <a:r>
              <a:rPr lang="zh-CN" alt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～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AD</a:t>
            </a:r>
            <a:r>
              <a:rPr lang="en-US" sz="2200" baseline="-250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200" baseline="-25000" noProof="1">
                <a:ea typeface="宋体" panose="02010600030101010101" pitchFamily="2" charset="-122"/>
                <a:sym typeface="+mn-ea"/>
              </a:rPr>
              <a:t>、      </a:t>
            </a:r>
            <a:r>
              <a:rPr lang="en-US" altLang="zh-CN" sz="2200" noProof="1"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连接</a:t>
            </a:r>
            <a:r>
              <a:rPr lang="en-US" sz="2200" noProof="1"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片</a:t>
            </a:r>
            <a:r>
              <a:rPr lang="en-US" sz="2200" noProof="1">
                <a:ea typeface="宋体" panose="02010600030101010101" pitchFamily="2" charset="-122"/>
                <a:sym typeface="+mn-ea"/>
              </a:rPr>
              <a:t>74LS373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输入；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当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ALE</a:t>
            </a:r>
            <a:r>
              <a:rPr lang="en-US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  <a:sym typeface="+mn-ea"/>
              </a:rPr>
              <a:t>=</a:t>
            </a:r>
            <a:r>
              <a:rPr lang="en-US" altLang="zh-CN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时</a:t>
            </a:r>
            <a:r>
              <a:rPr lang="en-US" altLang="zh-CN" sz="2200" noProof="1">
                <a:ea typeface="宋体" panose="02010600030101010101" pitchFamily="2" charset="-122"/>
                <a:sym typeface="+mn-ea"/>
              </a:rPr>
              <a:t>, 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分离出的</a:t>
            </a:r>
            <a:r>
              <a:rPr lang="en-US" sz="22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A</a:t>
            </a:r>
            <a:r>
              <a:rPr lang="en-US" sz="2200" baseline="-250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19</a:t>
            </a:r>
            <a:r>
              <a:rPr lang="en-US" sz="22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~A</a:t>
            </a:r>
            <a:r>
              <a:rPr lang="en-US" sz="2200" baseline="-250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和       进入</a:t>
            </a:r>
            <a:r>
              <a:rPr lang="en-US" sz="2200" noProof="1">
                <a:ea typeface="宋体" panose="02010600030101010101" pitchFamily="2" charset="-122"/>
                <a:sym typeface="+mn-ea"/>
              </a:rPr>
              <a:t>74LS373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；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当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ALE</a:t>
            </a:r>
            <a:r>
              <a:rPr lang="en-US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  <a:sym typeface="+mn-ea"/>
              </a:rPr>
              <a:t>=</a:t>
            </a:r>
            <a:r>
              <a:rPr lang="en-US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  <a:sym typeface="Wingdings 3" panose="05040102010807070707"/>
              </a:rPr>
              <a:t>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时</a:t>
            </a:r>
            <a:r>
              <a:rPr lang="en-US" altLang="zh-CN" sz="2200" noProof="1">
                <a:ea typeface="宋体" panose="02010600030101010101" pitchFamily="2" charset="-122"/>
                <a:sym typeface="+mn-ea"/>
              </a:rPr>
              <a:t>, </a:t>
            </a:r>
            <a:r>
              <a:rPr 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20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位地址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和</a:t>
            </a:r>
            <a:r>
              <a:rPr lang="en-US" sz="2200" noProof="1">
                <a:solidFill>
                  <a:schemeClr val="accent2"/>
                </a:solidFill>
                <a:ea typeface="宋体" panose="02010600030101010101" pitchFamily="2" charset="-122"/>
                <a:sym typeface="+mn-ea"/>
              </a:rPr>
              <a:t>       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被锁存在</a:t>
            </a:r>
            <a:r>
              <a:rPr lang="en-US" sz="2200" noProof="1">
                <a:ea typeface="宋体" panose="02010600030101010101" pitchFamily="2" charset="-122"/>
                <a:sym typeface="+mn-ea"/>
              </a:rPr>
              <a:t>74LS373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中。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                               </a:t>
            </a:r>
            <a:endParaRPr lang="zh-CN" altLang="en-US" sz="2400" noProof="1">
              <a:ea typeface="宋体" panose="02010600030101010101" pitchFamily="2" charset="-122"/>
            </a:endParaRPr>
          </a:p>
        </p:txBody>
      </p:sp>
      <p:grpSp>
        <p:nvGrpSpPr>
          <p:cNvPr id="153605" name="组合 15">
            <a:extLst>
              <a:ext uri="{FF2B5EF4-FFF2-40B4-BE49-F238E27FC236}">
                <a16:creationId xmlns:a16="http://schemas.microsoft.com/office/drawing/2014/main" id="{50F67612-25F8-4527-BC2D-71839204A1DD}"/>
              </a:ext>
            </a:extLst>
          </p:cNvPr>
          <p:cNvGrpSpPr>
            <a:grpSpLocks/>
          </p:cNvGrpSpPr>
          <p:nvPr/>
        </p:nvGrpSpPr>
        <p:grpSpPr bwMode="auto">
          <a:xfrm>
            <a:off x="3449638" y="1235075"/>
            <a:ext cx="1079500" cy="517525"/>
            <a:chOff x="13002" y="1751"/>
            <a:chExt cx="1056" cy="816"/>
          </a:xfrm>
        </p:grpSpPr>
        <p:sp>
          <p:nvSpPr>
            <p:cNvPr id="153616" name="文本框 16">
              <a:extLst>
                <a:ext uri="{FF2B5EF4-FFF2-40B4-BE49-F238E27FC236}">
                  <a16:creationId xmlns:a16="http://schemas.microsoft.com/office/drawing/2014/main" id="{B746F809-7991-4B44-ADAE-39F1570DD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02" y="1751"/>
              <a:ext cx="1056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Times New Roman" panose="02020603050405020304" pitchFamily="18" charset="0"/>
                </a:rPr>
                <a:t>BHE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CFE76AB-1C6B-4EED-972A-6B2C59A1852E}"/>
                </a:ext>
              </a:extLst>
            </p:cNvPr>
            <p:cNvCxnSpPr/>
            <p:nvPr/>
          </p:nvCxnSpPr>
          <p:spPr>
            <a:xfrm>
              <a:off x="13123" y="1826"/>
              <a:ext cx="562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606" name="组合 15">
            <a:extLst>
              <a:ext uri="{FF2B5EF4-FFF2-40B4-BE49-F238E27FC236}">
                <a16:creationId xmlns:a16="http://schemas.microsoft.com/office/drawing/2014/main" id="{B214D442-EE91-434C-9D31-649EED347673}"/>
              </a:ext>
            </a:extLst>
          </p:cNvPr>
          <p:cNvGrpSpPr>
            <a:grpSpLocks/>
          </p:cNvGrpSpPr>
          <p:nvPr/>
        </p:nvGrpSpPr>
        <p:grpSpPr bwMode="auto">
          <a:xfrm>
            <a:off x="4529138" y="2038350"/>
            <a:ext cx="1079500" cy="457200"/>
            <a:chOff x="13002" y="1751"/>
            <a:chExt cx="1056" cy="721"/>
          </a:xfrm>
        </p:grpSpPr>
        <p:sp>
          <p:nvSpPr>
            <p:cNvPr id="153614" name="文本框 16">
              <a:extLst>
                <a:ext uri="{FF2B5EF4-FFF2-40B4-BE49-F238E27FC236}">
                  <a16:creationId xmlns:a16="http://schemas.microsoft.com/office/drawing/2014/main" id="{59895E52-371E-4F36-8FE5-C281A31AA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02" y="1751"/>
              <a:ext cx="1056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BHE</a:t>
              </a: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B762B37C-2FBD-4BAE-AD06-00ADA9E4C7B9}"/>
                </a:ext>
              </a:extLst>
            </p:cNvPr>
            <p:cNvCxnSpPr/>
            <p:nvPr/>
          </p:nvCxnSpPr>
          <p:spPr>
            <a:xfrm>
              <a:off x="13123" y="1826"/>
              <a:ext cx="562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607" name="组合 15">
            <a:extLst>
              <a:ext uri="{FF2B5EF4-FFF2-40B4-BE49-F238E27FC236}">
                <a16:creationId xmlns:a16="http://schemas.microsoft.com/office/drawing/2014/main" id="{43D80154-F827-4469-B04B-B196F578411D}"/>
              </a:ext>
            </a:extLst>
          </p:cNvPr>
          <p:cNvGrpSpPr>
            <a:grpSpLocks/>
          </p:cNvGrpSpPr>
          <p:nvPr/>
        </p:nvGrpSpPr>
        <p:grpSpPr bwMode="auto">
          <a:xfrm>
            <a:off x="3829050" y="2447925"/>
            <a:ext cx="955675" cy="457200"/>
            <a:chOff x="13002" y="1751"/>
            <a:chExt cx="1056" cy="721"/>
          </a:xfrm>
        </p:grpSpPr>
        <p:sp>
          <p:nvSpPr>
            <p:cNvPr id="153612" name="文本框 16">
              <a:extLst>
                <a:ext uri="{FF2B5EF4-FFF2-40B4-BE49-F238E27FC236}">
                  <a16:creationId xmlns:a16="http://schemas.microsoft.com/office/drawing/2014/main" id="{AF19AEAD-C3BC-4521-A913-490869FF7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02" y="1751"/>
              <a:ext cx="1056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BHE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0A716D7-2403-4045-A5D3-3CF53B798EF5}"/>
                </a:ext>
              </a:extLst>
            </p:cNvPr>
            <p:cNvCxnSpPr/>
            <p:nvPr/>
          </p:nvCxnSpPr>
          <p:spPr>
            <a:xfrm>
              <a:off x="13123" y="1826"/>
              <a:ext cx="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608" name="组合 15">
            <a:extLst>
              <a:ext uri="{FF2B5EF4-FFF2-40B4-BE49-F238E27FC236}">
                <a16:creationId xmlns:a16="http://schemas.microsoft.com/office/drawing/2014/main" id="{87CB6B82-40E6-4DD4-8E65-74AD2A046039}"/>
              </a:ext>
            </a:extLst>
          </p:cNvPr>
          <p:cNvGrpSpPr>
            <a:grpSpLocks/>
          </p:cNvGrpSpPr>
          <p:nvPr/>
        </p:nvGrpSpPr>
        <p:grpSpPr bwMode="auto">
          <a:xfrm>
            <a:off x="3938588" y="1681163"/>
            <a:ext cx="1079500" cy="457200"/>
            <a:chOff x="13002" y="1751"/>
            <a:chExt cx="1056" cy="721"/>
          </a:xfrm>
        </p:grpSpPr>
        <p:sp>
          <p:nvSpPr>
            <p:cNvPr id="153610" name="文本框 16">
              <a:extLst>
                <a:ext uri="{FF2B5EF4-FFF2-40B4-BE49-F238E27FC236}">
                  <a16:creationId xmlns:a16="http://schemas.microsoft.com/office/drawing/2014/main" id="{2BFB3475-30B8-4A8B-97EC-B6760D4DD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02" y="1751"/>
              <a:ext cx="1056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BHE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BF14F47-AEA2-4149-9360-AE26CD1883EF}"/>
                </a:ext>
              </a:extLst>
            </p:cNvPr>
            <p:cNvCxnSpPr/>
            <p:nvPr/>
          </p:nvCxnSpPr>
          <p:spPr>
            <a:xfrm>
              <a:off x="13123" y="1826"/>
              <a:ext cx="562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28301264-5E48-48DE-BECD-E7DD7AEAC434}"/>
              </a:ext>
            </a:extLst>
          </p:cNvPr>
          <p:cNvSpPr txBox="1"/>
          <p:nvPr/>
        </p:nvSpPr>
        <p:spPr>
          <a:xfrm>
            <a:off x="532125" y="4962525"/>
            <a:ext cx="1646560" cy="6438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第</a:t>
            </a: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2</a:t>
            </a: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步</a:t>
            </a:r>
            <a:endParaRPr lang="zh-CN" altLang="en-US" sz="3600" noProof="1"/>
          </a:p>
        </p:txBody>
      </p:sp>
    </p:spTree>
  </p:cSld>
  <p:clrMapOvr>
    <a:masterClrMapping/>
  </p:clrMapOvr>
  <p:transition spd="slow">
    <p:wheel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26" name="Picture 1">
            <a:extLst>
              <a:ext uri="{FF2B5EF4-FFF2-40B4-BE49-F238E27FC236}">
                <a16:creationId xmlns:a16="http://schemas.microsoft.com/office/drawing/2014/main" id="{B58BCE38-C46A-446A-AA56-6DC0A8D24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88" y="3005138"/>
            <a:ext cx="6670675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627" name="标题 1">
            <a:extLst>
              <a:ext uri="{FF2B5EF4-FFF2-40B4-BE49-F238E27FC236}">
                <a16:creationId xmlns:a16="http://schemas.microsoft.com/office/drawing/2014/main" id="{45162281-7423-43FB-8909-E174A85CB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宋体" panose="02010600030101010101" pitchFamily="2" charset="-122"/>
              </a:rPr>
              <a:t>最小模式系统工作过程</a:t>
            </a:r>
            <a:r>
              <a:rPr lang="en-US" altLang="zh-CN">
                <a:ea typeface="宋体" panose="02010600030101010101" pitchFamily="2" charset="-122"/>
              </a:rPr>
              <a:t>——</a:t>
            </a:r>
            <a:r>
              <a:rPr lang="zh-CN" altLang="en-US">
                <a:ea typeface="宋体" panose="02010600030101010101" pitchFamily="2" charset="-122"/>
              </a:rPr>
              <a:t>读存储器过程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B26ECE-5175-47F4-88F5-A9494F01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162050"/>
            <a:ext cx="8382000" cy="3178175"/>
          </a:xfrm>
          <a:extLst/>
        </p:spPr>
        <p:txBody>
          <a:bodyPr>
            <a:normAutofit/>
          </a:bodyPr>
          <a:lstStyle/>
          <a:p>
            <a:pPr marL="0" indent="0" algn="just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noProof="1">
                <a:ln>
                  <a:solidFill>
                    <a:schemeClr val="tx2"/>
                  </a:solidFill>
                </a:ln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3) </a:t>
            </a:r>
            <a:r>
              <a:rPr lang="en-US" sz="2400" noProof="1"/>
              <a:t>锁存后的地址</a:t>
            </a:r>
            <a:r>
              <a:rPr lang="zh-CN" altLang="en-US" sz="2400" noProof="1">
                <a:ea typeface="宋体" panose="02010600030101010101" pitchFamily="2" charset="-122"/>
              </a:rPr>
              <a:t>和       </a:t>
            </a:r>
            <a:r>
              <a:rPr lang="en-US" sz="2400" noProof="1"/>
              <a:t>送到存储器，用于选择存储单元</a:t>
            </a:r>
            <a:endParaRPr lang="zh-CN" altLang="en-US" noProof="1">
              <a:ln>
                <a:solidFill>
                  <a:schemeClr val="tx2"/>
                </a:solidFill>
              </a:ln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74LS373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的输出允许端      恒接地，则其输出被送到</a:t>
            </a:r>
            <a:r>
              <a:rPr lang="en-US" altLang="zh-CN" sz="2200" noProof="1">
                <a:ea typeface="宋体" panose="02010600030101010101" pitchFamily="2" charset="-122"/>
                <a:sym typeface="+mn-ea"/>
              </a:rPr>
              <a:t>PC</a:t>
            </a:r>
            <a:r>
              <a:rPr lang="zh-CN" altLang="en-US" sz="2200" noProof="1">
                <a:solidFill>
                  <a:srgbClr val="FF0066"/>
                </a:solidFill>
                <a:ea typeface="宋体" panose="02010600030101010101" pitchFamily="2" charset="-122"/>
                <a:sym typeface="+mn-ea"/>
              </a:rPr>
              <a:t>地址总线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上。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而此时74LS373的</a:t>
            </a:r>
            <a:r>
              <a:rPr lang="zh-CN" alt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输入端信号端</a:t>
            </a: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的电平变化</a:t>
            </a:r>
            <a:r>
              <a:rPr lang="zh-CN" alt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不会影响地址总线</a:t>
            </a: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 sz="2400" noProof="1"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004568-05BA-4E5F-BA13-308929AE4291}"/>
              </a:ext>
            </a:extLst>
          </p:cNvPr>
          <p:cNvSpPr txBox="1"/>
          <p:nvPr/>
        </p:nvSpPr>
        <p:spPr>
          <a:xfrm>
            <a:off x="532125" y="4877435"/>
            <a:ext cx="1646560" cy="6438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第</a:t>
            </a: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3</a:t>
            </a: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步</a:t>
            </a:r>
            <a:endParaRPr lang="zh-CN" altLang="en-US" sz="3600" noProof="1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E793604-AA30-4114-8F44-ABA68A347BDD}"/>
              </a:ext>
            </a:extLst>
          </p:cNvPr>
          <p:cNvGrpSpPr/>
          <p:nvPr/>
        </p:nvGrpSpPr>
        <p:grpSpPr>
          <a:xfrm>
            <a:off x="3514786" y="1687512"/>
            <a:ext cx="585787" cy="427037"/>
            <a:chOff x="3514786" y="1687512"/>
            <a:chExt cx="585787" cy="427037"/>
          </a:xfrm>
        </p:grpSpPr>
        <p:sp>
          <p:nvSpPr>
            <p:cNvPr id="154634" name="文本框 3">
              <a:extLst>
                <a:ext uri="{FF2B5EF4-FFF2-40B4-BE49-F238E27FC236}">
                  <a16:creationId xmlns:a16="http://schemas.microsoft.com/office/drawing/2014/main" id="{4371594E-F334-47EB-A980-3EC78CBC1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786" y="1687512"/>
              <a:ext cx="585787" cy="427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OE</a:t>
              </a: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EBB1FC5E-5666-4930-A1FA-AFC369D7EA16}"/>
                </a:ext>
              </a:extLst>
            </p:cNvPr>
            <p:cNvCxnSpPr/>
            <p:nvPr/>
          </p:nvCxnSpPr>
          <p:spPr bwMode="auto">
            <a:xfrm>
              <a:off x="3627438" y="1758838"/>
              <a:ext cx="360484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631" name="组合 15">
            <a:extLst>
              <a:ext uri="{FF2B5EF4-FFF2-40B4-BE49-F238E27FC236}">
                <a16:creationId xmlns:a16="http://schemas.microsoft.com/office/drawing/2014/main" id="{75DD4C4F-8DB8-4939-AB62-23332CBA0BA6}"/>
              </a:ext>
            </a:extLst>
          </p:cNvPr>
          <p:cNvGrpSpPr>
            <a:grpSpLocks/>
          </p:cNvGrpSpPr>
          <p:nvPr/>
        </p:nvGrpSpPr>
        <p:grpSpPr bwMode="auto">
          <a:xfrm>
            <a:off x="2901950" y="1222375"/>
            <a:ext cx="836613" cy="457200"/>
            <a:chOff x="13002" y="1751"/>
            <a:chExt cx="1056" cy="721"/>
          </a:xfrm>
        </p:grpSpPr>
        <p:sp>
          <p:nvSpPr>
            <p:cNvPr id="154632" name="文本框 16">
              <a:extLst>
                <a:ext uri="{FF2B5EF4-FFF2-40B4-BE49-F238E27FC236}">
                  <a16:creationId xmlns:a16="http://schemas.microsoft.com/office/drawing/2014/main" id="{4EDF4CC3-0302-45E4-8E38-D528203BA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02" y="1751"/>
              <a:ext cx="1056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BHE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27D69A11-BF7D-4B05-9325-A31393E3E0D8}"/>
                </a:ext>
              </a:extLst>
            </p:cNvPr>
            <p:cNvCxnSpPr/>
            <p:nvPr/>
          </p:nvCxnSpPr>
          <p:spPr>
            <a:xfrm>
              <a:off x="13122" y="1826"/>
              <a:ext cx="715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wheel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50" name="Picture 1">
            <a:extLst>
              <a:ext uri="{FF2B5EF4-FFF2-40B4-BE49-F238E27FC236}">
                <a16:creationId xmlns:a16="http://schemas.microsoft.com/office/drawing/2014/main" id="{362E43A4-C201-42AB-A685-AE5A11F9F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88" y="3090863"/>
            <a:ext cx="6670675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5651" name="标题 1">
            <a:extLst>
              <a:ext uri="{FF2B5EF4-FFF2-40B4-BE49-F238E27FC236}">
                <a16:creationId xmlns:a16="http://schemas.microsoft.com/office/drawing/2014/main" id="{50507DE8-0963-4351-97E6-808894AAD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宋体" panose="02010600030101010101" pitchFamily="2" charset="-122"/>
              </a:rPr>
              <a:t>最小模式系统工作过程</a:t>
            </a:r>
            <a:r>
              <a:rPr lang="en-US" altLang="zh-CN">
                <a:ea typeface="宋体" panose="02010600030101010101" pitchFamily="2" charset="-122"/>
              </a:rPr>
              <a:t>——</a:t>
            </a:r>
            <a:r>
              <a:rPr lang="zh-CN" altLang="en-US">
                <a:ea typeface="宋体" panose="02010600030101010101" pitchFamily="2" charset="-122"/>
              </a:rPr>
              <a:t>读存储器过程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4AAF46-9EC5-40B2-BD09-FB4466D5F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028065"/>
            <a:ext cx="8350885" cy="3178175"/>
          </a:xfrm>
          <a:extLst/>
        </p:spPr>
        <p:txBody>
          <a:bodyPr>
            <a:normAutofit/>
          </a:bodyPr>
          <a:lstStyle/>
          <a:p>
            <a:pPr marL="0" indent="0" algn="just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noProof="1">
                <a:ln>
                  <a:solidFill>
                    <a:schemeClr val="tx2"/>
                  </a:solidFill>
                </a:ln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4) </a:t>
            </a:r>
            <a:r>
              <a:rPr lang="en-US" sz="2400" noProof="1">
                <a:sym typeface="+mn-ea"/>
              </a:rPr>
              <a:t>CPU</a:t>
            </a:r>
            <a:r>
              <a:rPr lang="zh-CN" altLang="en-US" sz="2400" noProof="1">
                <a:sym typeface="+mn-ea"/>
              </a:rPr>
              <a:t>使</a:t>
            </a:r>
            <a:r>
              <a:rPr lang="en-US" sz="2400" noProof="1">
                <a:sym typeface="+mn-ea"/>
              </a:rPr>
              <a:t>      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=0</a:t>
            </a:r>
            <a:r>
              <a:rPr lang="zh-CN" altLang="en-US" sz="2400" noProof="1">
                <a:sym typeface="+mn-ea"/>
              </a:rPr>
              <a:t>，     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=0</a:t>
            </a:r>
            <a:endParaRPr lang="en-US" altLang="en-US" sz="240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宋体" panose="02010600030101010101" pitchFamily="2" charset="-122"/>
              <a:sym typeface="+mn-ea"/>
            </a:endParaRP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en-US" sz="2200" noProof="1">
                <a:sym typeface="+mn-ea"/>
              </a:rPr>
              <a:t>      </a:t>
            </a:r>
            <a:r>
              <a:rPr lang="en-US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=0</a:t>
            </a: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和有效的</a:t>
            </a:r>
            <a:r>
              <a:rPr lang="en-US" altLang="zh-CN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20</a:t>
            </a: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位地址信号，使得存储器</a:t>
            </a:r>
            <a:r>
              <a:rPr lang="zh-CN" alt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选中存储单元</a:t>
            </a: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，并将</a:t>
            </a:r>
            <a:r>
              <a:rPr lang="zh-CN" alt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数据送到数据总线</a:t>
            </a: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上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。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         </a:t>
            </a:r>
            <a:r>
              <a:rPr lang="en-US" altLang="zh-CN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  <a:sym typeface="+mn-ea"/>
              </a:rPr>
              <a:t>=0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，      </a:t>
            </a:r>
            <a:r>
              <a:rPr lang="en-US" altLang="zh-CN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  <a:sym typeface="+mn-ea"/>
              </a:rPr>
              <a:t>=0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，使得</a:t>
            </a:r>
            <a:r>
              <a:rPr lang="en-US" altLang="zh-CN" sz="2200" noProof="1">
                <a:ea typeface="宋体" panose="02010600030101010101" pitchFamily="2" charset="-122"/>
                <a:sym typeface="+mn-ea"/>
              </a:rPr>
              <a:t>74LS245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数据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由数据总线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传送到</a:t>
            </a:r>
            <a:r>
              <a:rPr lang="en-US" altLang="zh-CN" sz="2200" noProof="1">
                <a:ea typeface="宋体" panose="02010600030101010101" pitchFamily="2" charset="-122"/>
                <a:sym typeface="+mn-ea"/>
              </a:rPr>
              <a:t>CPU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的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地址</a:t>
            </a:r>
            <a:r>
              <a:rPr lang="en-US" altLang="zh-CN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数据引脚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。同时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也传送到</a:t>
            </a:r>
            <a:r>
              <a:rPr lang="en-US" altLang="zh-CN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74LS373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输入端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，但由                        </a:t>
            </a:r>
          </a:p>
          <a:p>
            <a:pPr marL="0" indent="0" algn="just" eaLnBrk="1" hangingPunct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                                   于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输出已被锁定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，并不会影响地址总线。</a:t>
            </a:r>
          </a:p>
          <a:p>
            <a:pPr marL="0" indent="0" algn="just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                                   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endParaRPr lang="zh-CN" altLang="en-US" sz="2200" noProof="1">
              <a:solidFill>
                <a:srgbClr val="C00000"/>
              </a:solidFill>
              <a:latin typeface="Times New Roman" panose="02020603050405020304" pitchFamily="2" charset="0"/>
              <a:ea typeface="宋体" panose="02010600030101010101" pitchFamily="2" charset="-122"/>
              <a:sym typeface="+mn-ea"/>
            </a:endParaRP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 sz="2400" noProof="1"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098D6A-1D51-49D6-AF17-B20BA8CA2476}"/>
              </a:ext>
            </a:extLst>
          </p:cNvPr>
          <p:cNvSpPr txBox="1"/>
          <p:nvPr/>
        </p:nvSpPr>
        <p:spPr>
          <a:xfrm>
            <a:off x="532125" y="4877435"/>
            <a:ext cx="1646560" cy="6438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第</a:t>
            </a: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4</a:t>
            </a: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步</a:t>
            </a:r>
            <a:endParaRPr lang="zh-CN" altLang="en-US" sz="3600" noProof="1"/>
          </a:p>
        </p:txBody>
      </p:sp>
      <p:grpSp>
        <p:nvGrpSpPr>
          <p:cNvPr id="155654" name="组合 18">
            <a:extLst>
              <a:ext uri="{FF2B5EF4-FFF2-40B4-BE49-F238E27FC236}">
                <a16:creationId xmlns:a16="http://schemas.microsoft.com/office/drawing/2014/main" id="{D86E2C72-E169-4B88-8A51-6C4B5025D4D4}"/>
              </a:ext>
            </a:extLst>
          </p:cNvPr>
          <p:cNvGrpSpPr>
            <a:grpSpLocks/>
          </p:cNvGrpSpPr>
          <p:nvPr/>
        </p:nvGrpSpPr>
        <p:grpSpPr bwMode="auto">
          <a:xfrm>
            <a:off x="641350" y="1089025"/>
            <a:ext cx="3252788" cy="1603375"/>
            <a:chOff x="1049" y="1983"/>
            <a:chExt cx="5123" cy="2523"/>
          </a:xfrm>
        </p:grpSpPr>
        <p:grpSp>
          <p:nvGrpSpPr>
            <p:cNvPr id="155655" name="组合 15">
              <a:extLst>
                <a:ext uri="{FF2B5EF4-FFF2-40B4-BE49-F238E27FC236}">
                  <a16:creationId xmlns:a16="http://schemas.microsoft.com/office/drawing/2014/main" id="{B06ACAE2-0618-4016-8D1D-B8BEDCB253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3" y="1983"/>
              <a:ext cx="1011" cy="720"/>
              <a:chOff x="13002" y="1751"/>
              <a:chExt cx="1056" cy="721"/>
            </a:xfrm>
          </p:grpSpPr>
          <p:sp>
            <p:nvSpPr>
              <p:cNvPr id="155668" name="文本框 16">
                <a:extLst>
                  <a:ext uri="{FF2B5EF4-FFF2-40B4-BE49-F238E27FC236}">
                    <a16:creationId xmlns:a16="http://schemas.microsoft.com/office/drawing/2014/main" id="{9804295D-8933-4C21-89DD-77436E87C9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02" y="1751"/>
                <a:ext cx="1056" cy="7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RD</a:t>
                </a: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2DC1195-86E1-4C95-854F-A2A78EFDCD87}"/>
                  </a:ext>
                </a:extLst>
              </p:cNvPr>
              <p:cNvCxnSpPr/>
              <p:nvPr/>
            </p:nvCxnSpPr>
            <p:spPr>
              <a:xfrm>
                <a:off x="13123" y="1826"/>
                <a:ext cx="713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56" name="组合 15">
              <a:extLst>
                <a:ext uri="{FF2B5EF4-FFF2-40B4-BE49-F238E27FC236}">
                  <a16:creationId xmlns:a16="http://schemas.microsoft.com/office/drawing/2014/main" id="{619946BA-14D2-46B4-8C62-5589D042C0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5" y="1983"/>
              <a:ext cx="1317" cy="720"/>
              <a:chOff x="13002" y="1751"/>
              <a:chExt cx="1056" cy="721"/>
            </a:xfrm>
          </p:grpSpPr>
          <p:sp>
            <p:nvSpPr>
              <p:cNvPr id="155666" name="文本框 16">
                <a:extLst>
                  <a:ext uri="{FF2B5EF4-FFF2-40B4-BE49-F238E27FC236}">
                    <a16:creationId xmlns:a16="http://schemas.microsoft.com/office/drawing/2014/main" id="{93C091BD-BCFF-4CC3-99B4-66A4B05E34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02" y="1751"/>
                <a:ext cx="1056" cy="7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DEN</a:t>
                </a:r>
              </a:p>
            </p:txBody>
          </p:sp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4C5430E8-1EC0-4DBA-BC57-9D937D6D84F4}"/>
                  </a:ext>
                </a:extLst>
              </p:cNvPr>
              <p:cNvCxnSpPr/>
              <p:nvPr/>
            </p:nvCxnSpPr>
            <p:spPr>
              <a:xfrm>
                <a:off x="13122" y="1826"/>
                <a:ext cx="716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57" name="组合 15">
              <a:extLst>
                <a:ext uri="{FF2B5EF4-FFF2-40B4-BE49-F238E27FC236}">
                  <a16:creationId xmlns:a16="http://schemas.microsoft.com/office/drawing/2014/main" id="{1E264002-A1B3-4E24-8088-9FFCE5DE83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9" y="2590"/>
              <a:ext cx="1011" cy="672"/>
              <a:chOff x="13002" y="1751"/>
              <a:chExt cx="1056" cy="673"/>
            </a:xfrm>
          </p:grpSpPr>
          <p:sp>
            <p:nvSpPr>
              <p:cNvPr id="155664" name="文本框 16">
                <a:extLst>
                  <a:ext uri="{FF2B5EF4-FFF2-40B4-BE49-F238E27FC236}">
                    <a16:creationId xmlns:a16="http://schemas.microsoft.com/office/drawing/2014/main" id="{B03ED11D-0B5D-4502-9203-2DE8EB81D8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02" y="1751"/>
                <a:ext cx="1056" cy="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20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RD</a:t>
                </a:r>
              </a:p>
            </p:txBody>
          </p: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FD0FF489-6965-4A98-A06A-3D4FFC9B2891}"/>
                  </a:ext>
                </a:extLst>
              </p:cNvPr>
              <p:cNvCxnSpPr/>
              <p:nvPr/>
            </p:nvCxnSpPr>
            <p:spPr>
              <a:xfrm>
                <a:off x="13122" y="1826"/>
                <a:ext cx="713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58" name="组合 12">
              <a:extLst>
                <a:ext uri="{FF2B5EF4-FFF2-40B4-BE49-F238E27FC236}">
                  <a16:creationId xmlns:a16="http://schemas.microsoft.com/office/drawing/2014/main" id="{DC1340FC-1F8F-4DA3-BCE4-F1CCC787A7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9" y="3834"/>
              <a:ext cx="1373" cy="672"/>
              <a:chOff x="12876" y="1552"/>
              <a:chExt cx="853" cy="672"/>
            </a:xfrm>
          </p:grpSpPr>
          <p:sp>
            <p:nvSpPr>
              <p:cNvPr id="155662" name="文本框 13">
                <a:extLst>
                  <a:ext uri="{FF2B5EF4-FFF2-40B4-BE49-F238E27FC236}">
                    <a16:creationId xmlns:a16="http://schemas.microsoft.com/office/drawing/2014/main" id="{E1FE52AF-E083-4CDF-899D-B7BB306501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76" y="1552"/>
                <a:ext cx="853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20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DT/R</a:t>
                </a:r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E3B996F0-70EB-4777-A3D0-2D9BAEDEC08C}"/>
                  </a:ext>
                </a:extLst>
              </p:cNvPr>
              <p:cNvCxnSpPr/>
              <p:nvPr/>
            </p:nvCxnSpPr>
            <p:spPr>
              <a:xfrm>
                <a:off x="13446" y="1674"/>
                <a:ext cx="190" cy="1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59" name="组合 15">
              <a:extLst>
                <a:ext uri="{FF2B5EF4-FFF2-40B4-BE49-F238E27FC236}">
                  <a16:creationId xmlns:a16="http://schemas.microsoft.com/office/drawing/2014/main" id="{C3C31C4E-7884-4727-807A-755767BD12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4" y="3833"/>
              <a:ext cx="1317" cy="672"/>
              <a:chOff x="12952" y="1799"/>
              <a:chExt cx="1056" cy="673"/>
            </a:xfrm>
          </p:grpSpPr>
          <p:sp>
            <p:nvSpPr>
              <p:cNvPr id="155660" name="文本框 16">
                <a:extLst>
                  <a:ext uri="{FF2B5EF4-FFF2-40B4-BE49-F238E27FC236}">
                    <a16:creationId xmlns:a16="http://schemas.microsoft.com/office/drawing/2014/main" id="{417FC30E-360D-467D-A836-364EF67133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52" y="1799"/>
                <a:ext cx="1056" cy="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20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DEN</a:t>
                </a:r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6B54FCEA-43C4-464D-BACA-F160723EB4E4}"/>
                  </a:ext>
                </a:extLst>
              </p:cNvPr>
              <p:cNvCxnSpPr/>
              <p:nvPr/>
            </p:nvCxnSpPr>
            <p:spPr>
              <a:xfrm>
                <a:off x="13123" y="1925"/>
                <a:ext cx="732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 spd="slow">
    <p:wheel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标题 1">
            <a:extLst>
              <a:ext uri="{FF2B5EF4-FFF2-40B4-BE49-F238E27FC236}">
                <a16:creationId xmlns:a16="http://schemas.microsoft.com/office/drawing/2014/main" id="{D1433E6E-A540-480D-A4A0-05DC30089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9330" name="内容占位符 2">
            <a:extLst>
              <a:ext uri="{FF2B5EF4-FFF2-40B4-BE49-F238E27FC236}">
                <a16:creationId xmlns:a16="http://schemas.microsoft.com/office/drawing/2014/main" id="{938E6EDF-BDCE-4621-9ED4-819428E52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50" y="2139950"/>
            <a:ext cx="5156200" cy="2533650"/>
          </a:xfrm>
          <a:extLst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3600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2.4.1  </a:t>
            </a:r>
            <a:r>
              <a:rPr lang="zh-CN" altLang="en-US" sz="3600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最小模式系统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3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2.4.2  </a:t>
            </a:r>
            <a:r>
              <a:rPr lang="zh-CN" altLang="en-US" sz="3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最大模式系统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3600" noProof="1">
                <a:solidFill>
                  <a:srgbClr val="004398"/>
                </a:solidFill>
              </a:rPr>
              <a:t>2.4.3  </a:t>
            </a:r>
            <a:r>
              <a:rPr lang="zh-CN" altLang="en-US" sz="3600" noProof="1">
                <a:solidFill>
                  <a:srgbClr val="004398"/>
                </a:solidFill>
              </a:rPr>
              <a:t>总线操作时序</a:t>
            </a:r>
          </a:p>
        </p:txBody>
      </p:sp>
    </p:spTree>
  </p:cSld>
  <p:clrMapOvr>
    <a:masterClrMapping/>
  </p:clrMapOvr>
  <p:transition spd="slow">
    <p:wedge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标题 1">
            <a:extLst>
              <a:ext uri="{FF2B5EF4-FFF2-40B4-BE49-F238E27FC236}">
                <a16:creationId xmlns:a16="http://schemas.microsoft.com/office/drawing/2014/main" id="{3EE2E166-D39B-403A-92D1-9955F93EA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42" y="264794"/>
            <a:ext cx="8229600" cy="674689"/>
          </a:xfrm>
          <a:extLst/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2.4.2  </a:t>
            </a:r>
            <a:r>
              <a:rPr lang="zh-CN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最大模式系统</a:t>
            </a:r>
          </a:p>
        </p:txBody>
      </p:sp>
      <p:sp>
        <p:nvSpPr>
          <p:cNvPr id="157699" name="内容占位符 2">
            <a:extLst>
              <a:ext uri="{FF2B5EF4-FFF2-40B4-BE49-F238E27FC236}">
                <a16:creationId xmlns:a16="http://schemas.microsoft.com/office/drawing/2014/main" id="{7C501C19-DE41-4D7B-9AA5-AF4D522141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700" y="939800"/>
            <a:ext cx="8372475" cy="488950"/>
          </a:xfrm>
        </p:spPr>
        <p:txBody>
          <a:bodyPr/>
          <a:lstStyle/>
          <a:p>
            <a:pPr marL="363538" indent="-363538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sz="2200"/>
              <a:t>8086</a:t>
            </a:r>
            <a:r>
              <a:rPr lang="zh-CN" altLang="en-US" sz="2200">
                <a:ea typeface="宋体" panose="02010600030101010101" pitchFamily="2" charset="-122"/>
              </a:rPr>
              <a:t>工作于最大模式时，需增加一片总线控制器</a:t>
            </a:r>
            <a:r>
              <a:rPr lang="en-US" altLang="en-US" sz="2200"/>
              <a:t>8288</a:t>
            </a:r>
            <a:endParaRPr lang="zh-CN" altLang="en-US" sz="2200">
              <a:ea typeface="宋体" panose="02010600030101010101" pitchFamily="2" charset="-122"/>
            </a:endParaRPr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200">
              <a:ea typeface="宋体" panose="02010600030101010101" pitchFamily="2" charset="-122"/>
            </a:endParaRPr>
          </a:p>
        </p:txBody>
      </p:sp>
      <p:pic>
        <p:nvPicPr>
          <p:cNvPr id="157700" name="Picture 2">
            <a:extLst>
              <a:ext uri="{FF2B5EF4-FFF2-40B4-BE49-F238E27FC236}">
                <a16:creationId xmlns:a16="http://schemas.microsoft.com/office/drawing/2014/main" id="{D8C9D741-2499-4D07-9212-DD2FC83CF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473200"/>
            <a:ext cx="7788275" cy="510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标题 1">
            <a:extLst>
              <a:ext uri="{FF2B5EF4-FFF2-40B4-BE49-F238E27FC236}">
                <a16:creationId xmlns:a16="http://schemas.microsoft.com/office/drawing/2014/main" id="{BCBC2854-BC2D-4FC7-8D3E-D6E6DAC9C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426" name="内容占位符 2">
            <a:extLst>
              <a:ext uri="{FF2B5EF4-FFF2-40B4-BE49-F238E27FC236}">
                <a16:creationId xmlns:a16="http://schemas.microsoft.com/office/drawing/2014/main" id="{2CC6FD63-C43D-4D10-A550-140677D28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50" y="2139950"/>
            <a:ext cx="5156200" cy="2533650"/>
          </a:xfrm>
          <a:extLst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3600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2.4.1  </a:t>
            </a:r>
            <a:r>
              <a:rPr lang="zh-CN" altLang="en-US" sz="3600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最小模式系统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3600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2.4.2  </a:t>
            </a:r>
            <a:r>
              <a:rPr lang="zh-CN" altLang="en-US" sz="3600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最大模式系统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3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2.4.3  </a:t>
            </a:r>
            <a:r>
              <a:rPr lang="zh-CN" altLang="en-US" sz="3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总线操作时序</a:t>
            </a:r>
          </a:p>
        </p:txBody>
      </p:sp>
    </p:spTree>
  </p:cSld>
  <p:clrMapOvr>
    <a:masterClrMapping/>
  </p:clrMapOvr>
  <p:transition spd="slow">
    <p:wedge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标题 1">
            <a:extLst>
              <a:ext uri="{FF2B5EF4-FFF2-40B4-BE49-F238E27FC236}">
                <a16:creationId xmlns:a16="http://schemas.microsoft.com/office/drawing/2014/main" id="{3D9767CD-4C06-45FE-8ED0-69E8858F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275" y="0"/>
            <a:ext cx="8229600" cy="1143000"/>
          </a:xfrm>
          <a:extLst/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2.4.3  </a:t>
            </a:r>
            <a:r>
              <a:rPr lang="zh-CN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总线操作时序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53EABA-EF16-4AF0-AC08-E3FD6737F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984250"/>
            <a:ext cx="8372475" cy="5556250"/>
          </a:xfrm>
        </p:spPr>
        <p:txBody>
          <a:bodyPr/>
          <a:lstStyle/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先讲几个概念：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时序逻辑</a:t>
            </a:r>
            <a:r>
              <a:rPr lang="zh-CN" altLang="en-US" sz="26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和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组合逻辑</a:t>
            </a:r>
            <a:endParaRPr lang="zh-CN" altLang="en-US" sz="26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ea typeface="宋体" panose="02010600030101010101" pitchFamily="2" charset="-122"/>
              </a:rPr>
              <a:t>时序逻辑需要在</a:t>
            </a:r>
            <a:r>
              <a:rPr lang="zh-CN" altLang="en-US" sz="2200" dirty="0">
                <a:solidFill>
                  <a:srgbClr val="C00000"/>
                </a:solidFill>
                <a:ea typeface="宋体" panose="02010600030101010101" pitchFamily="2" charset="-122"/>
              </a:rPr>
              <a:t>时钟脉冲</a:t>
            </a:r>
            <a:r>
              <a:rPr lang="en-US" altLang="en-US" sz="2200" dirty="0">
                <a:solidFill>
                  <a:srgbClr val="C00000"/>
                </a:solidFill>
              </a:rPr>
              <a:t>CLK</a:t>
            </a:r>
            <a:r>
              <a:rPr lang="zh-CN" altLang="en-US" sz="2200" dirty="0">
                <a:solidFill>
                  <a:srgbClr val="C00000"/>
                </a:solidFill>
                <a:ea typeface="宋体" panose="02010600030101010101" pitchFamily="2" charset="-122"/>
              </a:rPr>
              <a:t>控制下</a:t>
            </a:r>
            <a:r>
              <a:rPr lang="zh-CN" altLang="en-US" sz="2200" dirty="0">
                <a:ea typeface="宋体" panose="02010600030101010101" pitchFamily="2" charset="-122"/>
              </a:rPr>
              <a:t>，一步步进行工作，计算机毫无疑问包含大量时序逻辑。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总线操作什么？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ea typeface="宋体" panose="02010600030101010101" pitchFamily="2" charset="-122"/>
              </a:rPr>
              <a:t>两类设备——存储器和I/O端口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ea typeface="宋体" panose="02010600030101010101" pitchFamily="2" charset="-122"/>
              </a:rPr>
              <a:t>CPU读写一次存储器或I/O端口的时间 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指令周期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600" dirty="0">
                <a:ea typeface="宋体" panose="02010600030101010101" pitchFamily="2" charset="-122"/>
              </a:rPr>
              <a:t>       执行</a:t>
            </a:r>
            <a:r>
              <a:rPr lang="en-US" altLang="zh-CN" sz="2600" dirty="0"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ea typeface="宋体" panose="02010600030101010101" pitchFamily="2" charset="-122"/>
              </a:rPr>
              <a:t>条指令的时间称为</a:t>
            </a:r>
            <a:r>
              <a:rPr lang="zh-CN" altLang="en-US" sz="2600" dirty="0">
                <a:solidFill>
                  <a:srgbClr val="FF0000"/>
                </a:solidFill>
                <a:ea typeface="宋体" panose="02010600030101010101" pitchFamily="2" charset="-122"/>
              </a:rPr>
              <a:t>指令周期</a:t>
            </a:r>
            <a:endParaRPr lang="zh-CN" altLang="en-US" sz="2200" dirty="0"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时钟周期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ea typeface="宋体" panose="02010600030101010101" pitchFamily="2" charset="-122"/>
              </a:rPr>
              <a:t>        系统时钟CLK的一个高低电平的周期，也称</a:t>
            </a:r>
            <a:r>
              <a:rPr lang="zh-CN" alt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T周期</a:t>
            </a:r>
            <a:r>
              <a:rPr lang="zh-CN" altLang="en-US" sz="2200" dirty="0">
                <a:ea typeface="宋体" panose="02010600030101010101" pitchFamily="2" charset="-122"/>
              </a:rPr>
              <a:t>或</a:t>
            </a:r>
            <a:r>
              <a:rPr lang="zh-CN" alt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T状态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49371CF1-6D00-4DD9-B478-461660A95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" y="2085975"/>
            <a:ext cx="6670675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标题 1">
            <a:extLst>
              <a:ext uri="{FF2B5EF4-FFF2-40B4-BE49-F238E27FC236}">
                <a16:creationId xmlns:a16="http://schemas.microsoft.com/office/drawing/2014/main" id="{F4B07AFF-782B-4A19-8ACD-683911D36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276" y="0"/>
            <a:ext cx="8229600" cy="1143000"/>
          </a:xfrm>
          <a:extLst/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2.4.3  </a:t>
            </a:r>
            <a:r>
              <a:rPr lang="zh-CN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总线操作时序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7B9CE2-B2C6-450E-9F29-6D5F0B2E9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984250"/>
            <a:ext cx="8372475" cy="5556250"/>
          </a:xfrm>
        </p:spPr>
        <p:txBody>
          <a:bodyPr/>
          <a:lstStyle/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概念：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时钟周期</a:t>
            </a:r>
            <a:r>
              <a:rPr lang="zh-CN" altLang="en-US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</a:t>
            </a:r>
            <a:r>
              <a:rPr lang="zh-CN" altLang="en-US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指令周期</a:t>
            </a:r>
            <a:r>
              <a:rPr lang="zh-CN" altLang="en-US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的关系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8086CPU</a:t>
            </a:r>
            <a:r>
              <a:rPr lang="zh-CN" altLang="en-US" sz="2400" dirty="0">
                <a:ea typeface="宋体" panose="02010600030101010101" pitchFamily="2" charset="-122"/>
              </a:rPr>
              <a:t>的一个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</a:t>
            </a:r>
            <a:r>
              <a:rPr lang="zh-CN" altLang="en-US" sz="2400" dirty="0">
                <a:ea typeface="宋体" panose="02010600030101010101" pitchFamily="2" charset="-122"/>
              </a:rPr>
              <a:t>至少包括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4个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时钟周期</a:t>
            </a:r>
            <a:r>
              <a:rPr lang="zh-CN" altLang="en-US" sz="2400" dirty="0">
                <a:ea typeface="宋体" panose="02010600030101010101" pitchFamily="2" charset="-122"/>
              </a:rPr>
              <a:t>（T周期），分别定义为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T1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T2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T3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T4</a:t>
            </a:r>
            <a:r>
              <a:rPr lang="zh-CN" altLang="en-US" sz="2400" dirty="0">
                <a:ea typeface="宋体" panose="02010600030101010101" pitchFamily="2" charset="-122"/>
              </a:rPr>
              <a:t>周期。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2400" dirty="0">
                <a:ea typeface="宋体" panose="02010600030101010101" pitchFamily="2" charset="-122"/>
              </a:rPr>
              <a:t>除此之外，还有等待周期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Tw</a:t>
            </a:r>
            <a:r>
              <a:rPr lang="zh-CN" altLang="en-US" sz="2400" dirty="0">
                <a:ea typeface="宋体" panose="02010600030101010101" pitchFamily="2" charset="-122"/>
              </a:rPr>
              <a:t>，空闲周期</a:t>
            </a:r>
            <a:r>
              <a:rPr lang="en-US" altLang="zh-CN" sz="2400" dirty="0" err="1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Ti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endParaRPr lang="zh-CN" altLang="en-US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endParaRPr lang="zh-CN" altLang="en-US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marL="0" indent="0" eaLnBrk="1" hangingPunct="1">
              <a:defRPr/>
            </a:pPr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117763" name="Object 3">
            <a:extLst>
              <a:ext uri="{FF2B5EF4-FFF2-40B4-BE49-F238E27FC236}">
                <a16:creationId xmlns:a16="http://schemas.microsoft.com/office/drawing/2014/main" id="{F9905B19-DFC7-4E38-8208-213D7AD194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688" y="3449638"/>
          <a:ext cx="8686800" cy="260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796" r:id="rId3" imgW="9301707" imgH="2773528" progId="Visio.Drawing.11">
                  <p:embed/>
                </p:oleObj>
              </mc:Choice>
              <mc:Fallback>
                <p:oleObj r:id="rId3" imgW="9301707" imgH="277352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8" y="3449638"/>
                        <a:ext cx="8686800" cy="2600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标题 1">
            <a:extLst>
              <a:ext uri="{FF2B5EF4-FFF2-40B4-BE49-F238E27FC236}">
                <a16:creationId xmlns:a16="http://schemas.microsoft.com/office/drawing/2014/main" id="{000FE0C7-FFCB-4006-AF09-2B27D8A3C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277" y="0"/>
            <a:ext cx="8229600" cy="1143000"/>
          </a:xfrm>
          <a:extLst/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2.4.3  </a:t>
            </a:r>
            <a:r>
              <a:rPr lang="zh-CN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总线操作时序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D20C60-52FD-4023-AEEB-84FE757D8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984250"/>
            <a:ext cx="8372475" cy="5556250"/>
          </a:xfrm>
        </p:spPr>
        <p:txBody>
          <a:bodyPr/>
          <a:lstStyle/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概念：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时钟周期</a:t>
            </a:r>
            <a:r>
              <a:rPr lang="zh-CN" altLang="en-US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</a:t>
            </a:r>
            <a:r>
              <a:rPr lang="zh-CN" altLang="en-US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指令周期</a:t>
            </a:r>
            <a:r>
              <a:rPr lang="zh-CN" altLang="en-US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的关系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一个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</a:t>
            </a:r>
            <a:r>
              <a:rPr lang="zh-CN" altLang="en-US" sz="2400" dirty="0">
                <a:ea typeface="宋体" panose="02010600030101010101" pitchFamily="2" charset="-122"/>
              </a:rPr>
              <a:t>至少包括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4个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时钟周期</a:t>
            </a:r>
            <a:r>
              <a:rPr lang="zh-CN" altLang="en-US" sz="2400" dirty="0">
                <a:ea typeface="宋体" panose="02010600030101010101" pitchFamily="2" charset="-122"/>
              </a:rPr>
              <a:t>（T周期），分别定义为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T1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T2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T3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T4</a:t>
            </a:r>
            <a:r>
              <a:rPr lang="zh-CN" altLang="en-US" sz="2400" dirty="0">
                <a:ea typeface="宋体" panose="02010600030101010101" pitchFamily="2" charset="-122"/>
              </a:rPr>
              <a:t>周期。还可能包含</a:t>
            </a:r>
            <a:r>
              <a:rPr lang="en-US" altLang="zh-CN" sz="2400" dirty="0"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ea typeface="宋体" panose="02010600030101010101" pitchFamily="2" charset="-122"/>
              </a:rPr>
              <a:t>个等待周期</a:t>
            </a:r>
            <a:r>
              <a:rPr lang="en-US" altLang="zh-CN" sz="2400" dirty="0">
                <a:ea typeface="宋体" panose="02010600030101010101" pitchFamily="2" charset="-122"/>
              </a:rPr>
              <a:t>Tw</a:t>
            </a:r>
            <a:r>
              <a:rPr lang="zh-CN" altLang="en-US" sz="2400" dirty="0">
                <a:ea typeface="宋体" panose="02010600030101010101" pitchFamily="2" charset="-122"/>
              </a:rPr>
              <a:t>。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endParaRPr lang="zh-CN" altLang="en-US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</a:rPr>
              <a:t>个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指令周期</a:t>
            </a:r>
            <a:r>
              <a:rPr lang="zh-CN" altLang="en-US" sz="2400" dirty="0">
                <a:ea typeface="宋体" panose="02010600030101010101" pitchFamily="2" charset="-122"/>
              </a:rPr>
              <a:t>可包含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1个</a:t>
            </a:r>
            <a:r>
              <a:rPr lang="zh-CN" altLang="en-US" sz="2400" dirty="0">
                <a:ea typeface="宋体" panose="02010600030101010101" pitchFamily="2" charset="-122"/>
              </a:rPr>
              <a:t>或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几个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总线周期，</a:t>
            </a:r>
            <a:r>
              <a:rPr lang="zh-CN" altLang="en-US" sz="2400" dirty="0">
                <a:ea typeface="宋体" panose="02010600030101010101" pitchFamily="2" charset="-122"/>
              </a:rPr>
              <a:t>也可不包含总线周期。</a:t>
            </a: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rgbClr val="FF0066"/>
                </a:solidFill>
                <a:ea typeface="宋体" panose="02010600030101010101" pitchFamily="2" charset="-122"/>
              </a:rPr>
              <a:t>这句话怎么理解？</a:t>
            </a:r>
            <a:r>
              <a:rPr lang="en-US" altLang="zh-CN" sz="2400" dirty="0">
                <a:ea typeface="宋体" panose="02010600030101010101" pitchFamily="2" charset="-122"/>
              </a:rPr>
              <a:t>)</a:t>
            </a:r>
            <a:endParaRPr lang="zh-CN" altLang="en-US" sz="2400" dirty="0"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24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ea typeface="宋体" panose="02010600030101010101" pitchFamily="2" charset="-122"/>
              </a:rPr>
              <a:t>*8086</a:t>
            </a:r>
            <a:r>
              <a:rPr lang="zh-CN" altLang="en-US" sz="2400" dirty="0">
                <a:ea typeface="宋体" panose="02010600030101010101" pitchFamily="2" charset="-122"/>
              </a:rPr>
              <a:t>工作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时钟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CLK</a:t>
            </a:r>
            <a:r>
              <a:rPr lang="zh-CN" altLang="en-US" sz="2400" dirty="0">
                <a:ea typeface="宋体" panose="02010600030101010101" pitchFamily="2" charset="-122"/>
              </a:rPr>
              <a:t>为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5MHz</a:t>
            </a:r>
            <a:r>
              <a:rPr lang="zh-CN" altLang="en-US" sz="2400" dirty="0">
                <a:ea typeface="宋体" panose="02010600030101010101" pitchFamily="2" charset="-122"/>
              </a:rPr>
              <a:t>，即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T周期</a:t>
            </a:r>
            <a:r>
              <a:rPr lang="zh-CN" altLang="en-US" sz="2400" dirty="0">
                <a:ea typeface="宋体" panose="02010600030101010101" pitchFamily="2" charset="-122"/>
              </a:rPr>
              <a:t>为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200ns</a:t>
            </a:r>
            <a:r>
              <a:rPr lang="zh-CN" altLang="en-US" sz="2400" dirty="0"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</a:t>
            </a:r>
            <a:r>
              <a:rPr lang="zh-CN" altLang="en-US" sz="2400" dirty="0">
                <a:ea typeface="宋体" panose="02010600030101010101" pitchFamily="2" charset="-122"/>
              </a:rPr>
              <a:t>为</a:t>
            </a:r>
            <a:r>
              <a:rPr lang="en-US" altLang="en-US" sz="2400" dirty="0">
                <a:ea typeface="宋体" panose="02010600030101010101" pitchFamily="2" charset="-122"/>
              </a:rPr>
              <a:t>800ns</a:t>
            </a:r>
            <a:r>
              <a:rPr lang="zh-CN" altLang="en-US" sz="2400" dirty="0">
                <a:ea typeface="宋体" panose="02010600030101010101" pitchFamily="2" charset="-122"/>
              </a:rPr>
              <a:t>。则</a:t>
            </a:r>
            <a:r>
              <a:rPr lang="en-US" altLang="en-US" sz="2400" dirty="0"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ea typeface="宋体" panose="02010600030101010101" pitchFamily="2" charset="-122"/>
              </a:rPr>
              <a:t>与内存或</a:t>
            </a:r>
            <a:r>
              <a:rPr lang="en-US" altLang="en-US" sz="2400" dirty="0"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ea typeface="宋体" panose="02010600030101010101" pitchFamily="2" charset="-122"/>
              </a:rPr>
              <a:t>接口间传送数据的最大速率可达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每秒125万次</a:t>
            </a:r>
            <a:r>
              <a:rPr lang="zh-CN" altLang="en-US" sz="2400" dirty="0">
                <a:ea typeface="宋体" panose="02010600030101010101" pitchFamily="2" charset="-122"/>
              </a:rPr>
              <a:t>。</a:t>
            </a:r>
            <a:r>
              <a:rPr lang="en-US" altLang="en-US" sz="2400" dirty="0">
                <a:ea typeface="宋体" panose="02010600030101010101" pitchFamily="2" charset="-122"/>
              </a:rPr>
              <a:t>8086-1</a:t>
            </a:r>
            <a:r>
              <a:rPr lang="zh-CN" altLang="en-US" sz="2400" dirty="0">
                <a:ea typeface="宋体" panose="02010600030101010101" pitchFamily="2" charset="-122"/>
              </a:rPr>
              <a:t>的频率为</a:t>
            </a:r>
            <a:r>
              <a:rPr lang="en-US" altLang="en-US" sz="2400" dirty="0">
                <a:solidFill>
                  <a:srgbClr val="2D8AFF"/>
                </a:solidFill>
                <a:ea typeface="宋体" panose="02010600030101010101" pitchFamily="2" charset="-122"/>
              </a:rPr>
              <a:t>10MHz</a:t>
            </a:r>
            <a:r>
              <a:rPr lang="zh-CN" altLang="en-US" sz="2400" dirty="0">
                <a:ea typeface="宋体" panose="02010600030101010101" pitchFamily="2" charset="-122"/>
              </a:rPr>
              <a:t>，每秒最多可执行</a:t>
            </a:r>
            <a:r>
              <a:rPr lang="en-US" altLang="en-US" sz="2400" dirty="0">
                <a:solidFill>
                  <a:srgbClr val="2D8AFF"/>
                </a:solidFill>
                <a:ea typeface="宋体" panose="02010600030101010101" pitchFamily="2" charset="-122"/>
              </a:rPr>
              <a:t>250</a:t>
            </a:r>
            <a:r>
              <a:rPr lang="zh-CN" altLang="en-US" sz="2400" dirty="0">
                <a:solidFill>
                  <a:srgbClr val="2D8AFF"/>
                </a:solidFill>
                <a:ea typeface="宋体" panose="02010600030101010101" pitchFamily="2" charset="-122"/>
              </a:rPr>
              <a:t>万条指令</a:t>
            </a:r>
            <a:r>
              <a:rPr lang="zh-CN" altLang="en-US" sz="2400" dirty="0">
                <a:ea typeface="宋体" panose="02010600030101010101" pitchFamily="2" charset="-122"/>
              </a:rPr>
              <a:t>，运算速度达</a:t>
            </a:r>
            <a:r>
              <a:rPr lang="en-US" altLang="en-US" sz="2400" dirty="0">
                <a:solidFill>
                  <a:srgbClr val="2D8AFF"/>
                </a:solidFill>
                <a:ea typeface="宋体" panose="02010600030101010101" pitchFamily="2" charset="-122"/>
              </a:rPr>
              <a:t>2.5 MIPS</a:t>
            </a:r>
            <a:r>
              <a:rPr lang="zh-CN" altLang="en-US" sz="2400" dirty="0">
                <a:ea typeface="宋体" panose="02010600030101010101" pitchFamily="2" charset="-122"/>
              </a:rPr>
              <a:t>（百万指令</a:t>
            </a:r>
            <a:r>
              <a:rPr lang="en-US" altLang="zh-CN" sz="2400" dirty="0"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ea typeface="宋体" panose="02010600030101010101" pitchFamily="2" charset="-122"/>
              </a:rPr>
              <a:t>秒）。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indent="0" eaLnBrk="1" hangingPunct="1">
              <a:defRPr/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heel spokes="3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00CA6-7E42-4F73-901F-2306C0A00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87019"/>
            <a:ext cx="8229600" cy="674688"/>
          </a:xfrm>
          <a:extLst/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1. </a:t>
            </a: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最小模式下的</a:t>
            </a: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读</a:t>
            </a: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总线周期</a:t>
            </a:r>
          </a:p>
        </p:txBody>
      </p:sp>
      <p:sp>
        <p:nvSpPr>
          <p:cNvPr id="162819" name="内容占位符 2">
            <a:extLst>
              <a:ext uri="{FF2B5EF4-FFF2-40B4-BE49-F238E27FC236}">
                <a16:creationId xmlns:a16="http://schemas.microsoft.com/office/drawing/2014/main" id="{2BC6B9B2-E114-4693-AED8-4D871B97EA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700" y="1117600"/>
            <a:ext cx="8372475" cy="1003300"/>
          </a:xfrm>
        </p:spPr>
        <p:txBody>
          <a:bodyPr/>
          <a:lstStyle/>
          <a:p>
            <a:pPr marL="363538" indent="-363538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读总线周期从存储器或</a:t>
            </a:r>
            <a:r>
              <a:rPr lang="en-US" altLang="en-US"/>
              <a:t>I/O</a:t>
            </a:r>
            <a:r>
              <a:rPr lang="zh-CN" altLang="en-US">
                <a:ea typeface="宋体" panose="02010600030101010101" pitchFamily="2" charset="-122"/>
              </a:rPr>
              <a:t>端口读出一个数据。</a:t>
            </a:r>
            <a:endParaRPr lang="en-US" altLang="zh-CN">
              <a:ea typeface="宋体" panose="02010600030101010101" pitchFamily="2" charset="-122"/>
            </a:endParaRPr>
          </a:p>
          <a:p>
            <a:pPr marL="363538" indent="-363538" algn="ctr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zh-CN" altLang="en-US" b="0">
              <a:ea typeface="宋体" panose="02010600030101010101" pitchFamily="2" charset="-122"/>
            </a:endParaRPr>
          </a:p>
        </p:txBody>
      </p:sp>
      <p:pic>
        <p:nvPicPr>
          <p:cNvPr id="162820" name="Picture 2">
            <a:extLst>
              <a:ext uri="{FF2B5EF4-FFF2-40B4-BE49-F238E27FC236}">
                <a16:creationId xmlns:a16="http://schemas.microsoft.com/office/drawing/2014/main" id="{BA7758C3-E6D9-4395-9A41-4C493EA87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0" y="1584325"/>
            <a:ext cx="5792788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2821" name="文本框 3">
            <a:extLst>
              <a:ext uri="{FF2B5EF4-FFF2-40B4-BE49-F238E27FC236}">
                <a16:creationId xmlns:a16="http://schemas.microsoft.com/office/drawing/2014/main" id="{F3D20322-6569-47FB-862E-DB988FDCF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5783263"/>
            <a:ext cx="38973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1800">
                <a:ea typeface="Gulim" panose="020B0600000101010101" pitchFamily="34" charset="-127"/>
              </a:rPr>
              <a:t>图</a:t>
            </a:r>
            <a:r>
              <a:rPr lang="en-US" altLang="en-US" sz="1800">
                <a:ea typeface="Gulim" panose="020B0600000101010101" pitchFamily="34" charset="-127"/>
              </a:rPr>
              <a:t>2.17  </a:t>
            </a:r>
            <a:r>
              <a:rPr lang="zh-CN" altLang="en-US" sz="1800">
                <a:ea typeface="Gulim" panose="020B0600000101010101" pitchFamily="34" charset="-127"/>
              </a:rPr>
              <a:t>最小</a:t>
            </a:r>
            <a:r>
              <a:rPr lang="zh-CN" altLang="en-US" sz="1800">
                <a:latin typeface="Garamond" panose="02020404030301010803" pitchFamily="18" charset="0"/>
              </a:rPr>
              <a:t>模式下读总线周期时序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CA667A0-034F-4D06-BAFC-A9FA498E8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3" y="1117600"/>
            <a:ext cx="7546975" cy="529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8147DBB-5BB3-43BA-81EA-2F4F606458F1}"/>
              </a:ext>
            </a:extLst>
          </p:cNvPr>
          <p:cNvSpPr txBox="1"/>
          <p:nvPr/>
        </p:nvSpPr>
        <p:spPr>
          <a:xfrm>
            <a:off x="49657" y="3624104"/>
            <a:ext cx="1646560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读：</a:t>
            </a:r>
            <a:endParaRPr lang="en-US" altLang="zh-CN" sz="3600" noProof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+mn-lt"/>
              <a:cs typeface="+mn-ea"/>
              <a:sym typeface="+mn-ea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Mem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I/O</a:t>
            </a:r>
            <a:endParaRPr lang="zh-CN" altLang="en-US" sz="3600" noProof="1"/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标题 1">
            <a:extLst>
              <a:ext uri="{FF2B5EF4-FFF2-40B4-BE49-F238E27FC236}">
                <a16:creationId xmlns:a16="http://schemas.microsoft.com/office/drawing/2014/main" id="{33087703-F72C-4DB8-9F36-2667EDD6C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2. </a:t>
            </a:r>
            <a:r>
              <a:rPr lang="zh-CN" altLang="en-US" dirty="0">
                <a:ea typeface="宋体" panose="02010600030101010101" pitchFamily="2" charset="-122"/>
              </a:rPr>
              <a:t>最小模式下的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写</a:t>
            </a:r>
            <a:r>
              <a:rPr lang="zh-CN" altLang="en-US" dirty="0">
                <a:ea typeface="宋体" panose="02010600030101010101" pitchFamily="2" charset="-122"/>
              </a:rPr>
              <a:t>总线周期</a:t>
            </a:r>
          </a:p>
        </p:txBody>
      </p:sp>
      <p:pic>
        <p:nvPicPr>
          <p:cNvPr id="163844" name="Picture 2">
            <a:extLst>
              <a:ext uri="{FF2B5EF4-FFF2-40B4-BE49-F238E27FC236}">
                <a16:creationId xmlns:a16="http://schemas.microsoft.com/office/drawing/2014/main" id="{E7DA33E3-9B34-484C-A8C6-0A9EA56C5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82" y="980830"/>
            <a:ext cx="7595035" cy="5281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5856668-3504-46FD-9287-1747DF9CDFBF}"/>
              </a:ext>
            </a:extLst>
          </p:cNvPr>
          <p:cNvSpPr txBox="1"/>
          <p:nvPr/>
        </p:nvSpPr>
        <p:spPr>
          <a:xfrm>
            <a:off x="49657" y="3624104"/>
            <a:ext cx="1646560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写：</a:t>
            </a:r>
            <a:endParaRPr lang="en-US" altLang="zh-CN" sz="3600" noProof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+mn-lt"/>
              <a:cs typeface="+mn-ea"/>
              <a:sym typeface="+mn-ea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Mem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I/O</a:t>
            </a:r>
            <a:endParaRPr lang="zh-CN" altLang="en-US" sz="3600" noProof="1"/>
          </a:p>
        </p:txBody>
      </p:sp>
    </p:spTree>
  </p:cSld>
  <p:clrMapOvr>
    <a:masterClrMapping/>
  </p:clrMapOvr>
  <p:transition spd="slow">
    <p:pull dir="d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Text Box 2">
            <a:extLst>
              <a:ext uri="{FF2B5EF4-FFF2-40B4-BE49-F238E27FC236}">
                <a16:creationId xmlns:a16="http://schemas.microsoft.com/office/drawing/2014/main" id="{5CE00378-B420-4D7C-AF2E-942008D98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917575"/>
            <a:ext cx="74168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FF9900"/>
                </a:solidFill>
                <a:latin typeface="Times New Roman" panose="02020603050405020304" pitchFamily="18" charset="0"/>
              </a:rPr>
              <a:t>假定：</a:t>
            </a:r>
            <a:r>
              <a:rPr lang="en-US" altLang="zh-CN" sz="2400">
                <a:solidFill>
                  <a:srgbClr val="FF9900"/>
                </a:solidFill>
                <a:latin typeface="Times New Roman" panose="02020603050405020304" pitchFamily="18" charset="0"/>
              </a:rPr>
              <a:t>DS=3000H, BX=500CH,  (3500CH)=9AH</a:t>
            </a:r>
            <a:r>
              <a:rPr lang="en-US" altLang="zh-CN" sz="240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b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E15E2277-7794-4C6F-84E5-EBA3A9C64AB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24525" y="1989138"/>
            <a:ext cx="3311525" cy="4800600"/>
          </a:xfrm>
        </p:spPr>
        <p:txBody>
          <a:bodyPr lIns="0" tIns="0" rIns="0" bIns="0"/>
          <a:lstStyle/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b="0">
                <a:solidFill>
                  <a:srgbClr val="3333FF"/>
                </a:solidFill>
                <a:ea typeface="宋体" panose="02010600030101010101" pitchFamily="2" charset="-122"/>
              </a:rPr>
              <a:t>1、</a:t>
            </a:r>
            <a:r>
              <a:rPr lang="zh-CN" altLang="en-US" sz="2400" b="0">
                <a:solidFill>
                  <a:schemeClr val="hlink"/>
                </a:solidFill>
                <a:ea typeface="宋体" panose="02010600030101010101" pitchFamily="2" charset="-122"/>
              </a:rPr>
              <a:t>M</a:t>
            </a:r>
            <a:r>
              <a:rPr lang="zh-CN" altLang="en-US" sz="2400" b="0">
                <a:ea typeface="宋体" panose="02010600030101010101" pitchFamily="2" charset="-122"/>
              </a:rPr>
              <a:t>/IO变高:</a:t>
            </a:r>
            <a:r>
              <a:rPr lang="zh-CN" altLang="en-US" sz="2400" b="0">
                <a:solidFill>
                  <a:srgbClr val="FF3300"/>
                </a:solidFill>
                <a:ea typeface="宋体" panose="02010600030101010101" pitchFamily="2" charset="-122"/>
              </a:rPr>
              <a:t>存储器操作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0">
                <a:ea typeface="宋体" panose="02010600030101010101" pitchFamily="2" charset="-122"/>
              </a:rPr>
              <a:t>2、A19~A0上出现地址信号</a:t>
            </a:r>
            <a:r>
              <a:rPr lang="zh-CN" altLang="en-US" sz="2400" b="0">
                <a:solidFill>
                  <a:schemeClr val="hlink"/>
                </a:solidFill>
                <a:ea typeface="宋体" panose="02010600030101010101" pitchFamily="2" charset="-122"/>
              </a:rPr>
              <a:t>0011 0101 0000 0000 1100B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b="0">
                <a:ea typeface="宋体" panose="02010600030101010101" pitchFamily="2" charset="-122"/>
              </a:rPr>
              <a:t>3、ALE上出现正脉冲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zh-CN" altLang="en-US" sz="2400" b="0">
                <a:ea typeface="宋体" panose="02010600030101010101" pitchFamily="2" charset="-122"/>
              </a:rPr>
              <a:t>     信号，T1结束下跳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b="0">
                <a:ea typeface="宋体" panose="02010600030101010101" pitchFamily="2" charset="-122"/>
              </a:rPr>
              <a:t>4、DT/R变低：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zh-CN" altLang="en-US" sz="2400" b="0">
                <a:ea typeface="宋体" panose="02010600030101010101" pitchFamily="2" charset="-122"/>
              </a:rPr>
              <a:t>      数据收发器处于接收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endParaRPr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164868" name="Line 4">
            <a:extLst>
              <a:ext uri="{FF2B5EF4-FFF2-40B4-BE49-F238E27FC236}">
                <a16:creationId xmlns:a16="http://schemas.microsoft.com/office/drawing/2014/main" id="{DFE5BFC7-3873-4970-B03D-07C86A9D2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5630" y="461391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69" name="Line 5">
            <a:extLst>
              <a:ext uri="{FF2B5EF4-FFF2-40B4-BE49-F238E27FC236}">
                <a16:creationId xmlns:a16="http://schemas.microsoft.com/office/drawing/2014/main" id="{D58B5D28-1FC0-4191-BE33-23901361E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9765" y="1989138"/>
            <a:ext cx="28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7" name="Rectangle 6">
            <a:extLst>
              <a:ext uri="{FF2B5EF4-FFF2-40B4-BE49-F238E27FC236}">
                <a16:creationId xmlns:a16="http://schemas.microsoft.com/office/drawing/2014/main" id="{CAC7B380-BC61-4A39-BE88-CDBEA324ED6B}"/>
              </a:ext>
            </a:extLst>
          </p:cNvPr>
          <p:cNvSpPr>
            <a:spLocks noGrp="1" noRot="1"/>
          </p:cNvSpPr>
          <p:nvPr>
            <p:ph type="title" idx="4294967295"/>
          </p:nvPr>
        </p:nvSpPr>
        <p:spPr>
          <a:xfrm>
            <a:off x="457200" y="276225"/>
            <a:ext cx="8051800" cy="633412"/>
          </a:xfrm>
          <a:extLst/>
        </p:spPr>
        <p:txBody>
          <a:bodyPr lIns="0" tIns="0" rIns="0" bIns="0"/>
          <a:lstStyle/>
          <a:p>
            <a:pPr eaLnBrk="1" hangingPunct="1">
              <a:defRPr/>
            </a:pPr>
            <a:r>
              <a:rPr lang="zh-CN" altLang="en-US" sz="3200" b="1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【举例】</a:t>
            </a: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执行指令</a:t>
            </a:r>
            <a:r>
              <a:rPr lang="en-US" altLang="x-none" sz="3200" b="1" noProof="1">
                <a:latin typeface="仿宋" panose="02010609060101010101" charset="-122"/>
                <a:ea typeface="仿宋" panose="02010609060101010101" charset="-122"/>
              </a:rPr>
              <a:t>MOV  AL,[BX]</a:t>
            </a: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的时序</a:t>
            </a:r>
          </a:p>
        </p:txBody>
      </p:sp>
      <p:sp>
        <p:nvSpPr>
          <p:cNvPr id="164871" name="Text Box 8">
            <a:extLst>
              <a:ext uri="{FF2B5EF4-FFF2-40B4-BE49-F238E27FC236}">
                <a16:creationId xmlns:a16="http://schemas.microsoft.com/office/drawing/2014/main" id="{C8125876-46BE-4F5D-92D5-C2FABD98EB9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44688" y="3468688"/>
            <a:ext cx="922337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>
                <a:solidFill>
                  <a:srgbClr val="FF3300"/>
                </a:solidFill>
                <a:latin typeface="Times New Roman" panose="02020603050405020304" pitchFamily="18" charset="0"/>
              </a:rPr>
              <a:t>A19~A16</a:t>
            </a:r>
            <a:endParaRPr lang="en-US" altLang="zh-CN" sz="180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872" name="Line 9">
            <a:extLst>
              <a:ext uri="{FF2B5EF4-FFF2-40B4-BE49-F238E27FC236}">
                <a16:creationId xmlns:a16="http://schemas.microsoft.com/office/drawing/2014/main" id="{F8AFB2F4-089F-44B6-BBFD-13A2765DFAE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568450" y="2260600"/>
            <a:ext cx="0" cy="4238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3" name="Line 10">
            <a:extLst>
              <a:ext uri="{FF2B5EF4-FFF2-40B4-BE49-F238E27FC236}">
                <a16:creationId xmlns:a16="http://schemas.microsoft.com/office/drawing/2014/main" id="{0448759E-1456-4A51-94F9-ED3C09029A6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106988" y="2262188"/>
            <a:ext cx="0" cy="4237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4" name="Line 11">
            <a:extLst>
              <a:ext uri="{FF2B5EF4-FFF2-40B4-BE49-F238E27FC236}">
                <a16:creationId xmlns:a16="http://schemas.microsoft.com/office/drawing/2014/main" id="{70D066BD-A33A-4726-BCC6-3CC3ABC4E61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81263" y="2270125"/>
            <a:ext cx="0" cy="4238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5" name="Line 12">
            <a:extLst>
              <a:ext uri="{FF2B5EF4-FFF2-40B4-BE49-F238E27FC236}">
                <a16:creationId xmlns:a16="http://schemas.microsoft.com/office/drawing/2014/main" id="{67018E65-C8C7-4034-989A-09BDBAA4CE2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357563" y="2262188"/>
            <a:ext cx="0" cy="4237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6" name="Line 13">
            <a:extLst>
              <a:ext uri="{FF2B5EF4-FFF2-40B4-BE49-F238E27FC236}">
                <a16:creationId xmlns:a16="http://schemas.microsoft.com/office/drawing/2014/main" id="{522876A5-4D29-4CCC-8012-D67D878FB11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241800" y="2262188"/>
            <a:ext cx="0" cy="4237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7" name="Text Box 14">
            <a:extLst>
              <a:ext uri="{FF2B5EF4-FFF2-40B4-BE49-F238E27FC236}">
                <a16:creationId xmlns:a16="http://schemas.microsoft.com/office/drawing/2014/main" id="{8FF8F6BE-2076-46DB-9C84-74469386DB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868488" y="2244725"/>
            <a:ext cx="312737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T1</a:t>
            </a:r>
          </a:p>
        </p:txBody>
      </p:sp>
      <p:sp>
        <p:nvSpPr>
          <p:cNvPr id="164878" name="Text Box 15">
            <a:extLst>
              <a:ext uri="{FF2B5EF4-FFF2-40B4-BE49-F238E27FC236}">
                <a16:creationId xmlns:a16="http://schemas.microsoft.com/office/drawing/2014/main" id="{00F8CE91-D64E-4230-BA64-2BDADF891D2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794000" y="2241550"/>
            <a:ext cx="312738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T2</a:t>
            </a:r>
          </a:p>
        </p:txBody>
      </p:sp>
      <p:sp>
        <p:nvSpPr>
          <p:cNvPr id="164879" name="Text Box 16">
            <a:extLst>
              <a:ext uri="{FF2B5EF4-FFF2-40B4-BE49-F238E27FC236}">
                <a16:creationId xmlns:a16="http://schemas.microsoft.com/office/drawing/2014/main" id="{174EC571-BEE8-4671-AA2A-92FCD6148A6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729038" y="2244725"/>
            <a:ext cx="31115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T3</a:t>
            </a:r>
          </a:p>
        </p:txBody>
      </p:sp>
      <p:sp>
        <p:nvSpPr>
          <p:cNvPr id="164880" name="Text Box 17">
            <a:extLst>
              <a:ext uri="{FF2B5EF4-FFF2-40B4-BE49-F238E27FC236}">
                <a16:creationId xmlns:a16="http://schemas.microsoft.com/office/drawing/2014/main" id="{175C0D72-D2BE-4906-A6D4-C18C2239BC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32325" y="2244725"/>
            <a:ext cx="312738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T4</a:t>
            </a:r>
          </a:p>
        </p:txBody>
      </p:sp>
      <p:sp>
        <p:nvSpPr>
          <p:cNvPr id="164881" name="Line 18">
            <a:extLst>
              <a:ext uri="{FF2B5EF4-FFF2-40B4-BE49-F238E27FC236}">
                <a16:creationId xmlns:a16="http://schemas.microsoft.com/office/drawing/2014/main" id="{A550AB00-0E92-43BF-8D69-6F0CC22215A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65238" y="2516188"/>
            <a:ext cx="3286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2" name="Line 19">
            <a:extLst>
              <a:ext uri="{FF2B5EF4-FFF2-40B4-BE49-F238E27FC236}">
                <a16:creationId xmlns:a16="http://schemas.microsoft.com/office/drawing/2014/main" id="{12DFFAD8-B968-4158-9F94-7D7132845F9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593850" y="2516188"/>
            <a:ext cx="111125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3" name="Line 20">
            <a:extLst>
              <a:ext uri="{FF2B5EF4-FFF2-40B4-BE49-F238E27FC236}">
                <a16:creationId xmlns:a16="http://schemas.microsoft.com/office/drawing/2014/main" id="{1DCF85CB-064D-44BB-BD7C-AAA6DC638A6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704975" y="275113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4" name="Line 21">
            <a:extLst>
              <a:ext uri="{FF2B5EF4-FFF2-40B4-BE49-F238E27FC236}">
                <a16:creationId xmlns:a16="http://schemas.microsoft.com/office/drawing/2014/main" id="{CF6DD9E0-4900-4D45-9CAD-FEB9A963424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035175" y="2516188"/>
            <a:ext cx="109538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5" name="Line 22">
            <a:extLst>
              <a:ext uri="{FF2B5EF4-FFF2-40B4-BE49-F238E27FC236}">
                <a16:creationId xmlns:a16="http://schemas.microsoft.com/office/drawing/2014/main" id="{70B32B30-FFFC-4DBE-8F8B-8BB3A18B6DC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44713" y="2516188"/>
            <a:ext cx="3286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6" name="Line 23">
            <a:extLst>
              <a:ext uri="{FF2B5EF4-FFF2-40B4-BE49-F238E27FC236}">
                <a16:creationId xmlns:a16="http://schemas.microsoft.com/office/drawing/2014/main" id="{FE6E6BA3-4A21-48AE-84C7-D69EBFF0626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73325" y="2516188"/>
            <a:ext cx="109538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7" name="Line 24">
            <a:extLst>
              <a:ext uri="{FF2B5EF4-FFF2-40B4-BE49-F238E27FC236}">
                <a16:creationId xmlns:a16="http://schemas.microsoft.com/office/drawing/2014/main" id="{2318AF76-E263-46D3-8331-58A851A81B7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582863" y="2751138"/>
            <a:ext cx="3286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8" name="Line 25">
            <a:extLst>
              <a:ext uri="{FF2B5EF4-FFF2-40B4-BE49-F238E27FC236}">
                <a16:creationId xmlns:a16="http://schemas.microsoft.com/office/drawing/2014/main" id="{3EB2AA9E-A77A-4BEA-A332-FF8F3ED12D2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911475" y="2516188"/>
            <a:ext cx="111125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9" name="Line 26">
            <a:extLst>
              <a:ext uri="{FF2B5EF4-FFF2-40B4-BE49-F238E27FC236}">
                <a16:creationId xmlns:a16="http://schemas.microsoft.com/office/drawing/2014/main" id="{09996C43-A251-4162-8ABD-E8548745C18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22600" y="2516188"/>
            <a:ext cx="3286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0" name="Line 27">
            <a:extLst>
              <a:ext uri="{FF2B5EF4-FFF2-40B4-BE49-F238E27FC236}">
                <a16:creationId xmlns:a16="http://schemas.microsoft.com/office/drawing/2014/main" id="{5C361E69-DBBD-45BE-B4D9-00036CD6521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351213" y="2516188"/>
            <a:ext cx="109537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1" name="Line 28">
            <a:extLst>
              <a:ext uri="{FF2B5EF4-FFF2-40B4-BE49-F238E27FC236}">
                <a16:creationId xmlns:a16="http://schemas.microsoft.com/office/drawing/2014/main" id="{3F7C47C1-AF58-40FF-9CC5-80FB37713F9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460750" y="2751138"/>
            <a:ext cx="3286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2" name="Line 29">
            <a:extLst>
              <a:ext uri="{FF2B5EF4-FFF2-40B4-BE49-F238E27FC236}">
                <a16:creationId xmlns:a16="http://schemas.microsoft.com/office/drawing/2014/main" id="{1B12475D-9219-4A41-AD4F-75819BD1958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789363" y="2516188"/>
            <a:ext cx="111125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3" name="Line 30">
            <a:extLst>
              <a:ext uri="{FF2B5EF4-FFF2-40B4-BE49-F238E27FC236}">
                <a16:creationId xmlns:a16="http://schemas.microsoft.com/office/drawing/2014/main" id="{DC90501E-1771-4BC2-BD4C-412AAD5B53F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900488" y="2516188"/>
            <a:ext cx="3286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4" name="Line 31">
            <a:extLst>
              <a:ext uri="{FF2B5EF4-FFF2-40B4-BE49-F238E27FC236}">
                <a16:creationId xmlns:a16="http://schemas.microsoft.com/office/drawing/2014/main" id="{20D515F2-2C4F-4D8D-8BF9-6685BD5EA3E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222750" y="2516188"/>
            <a:ext cx="109538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5" name="Line 32">
            <a:extLst>
              <a:ext uri="{FF2B5EF4-FFF2-40B4-BE49-F238E27FC236}">
                <a16:creationId xmlns:a16="http://schemas.microsoft.com/office/drawing/2014/main" id="{46AF41F9-DBEF-4895-B91D-0A1E26FFC4DE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662488" y="2516188"/>
            <a:ext cx="109537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6" name="Line 33">
            <a:extLst>
              <a:ext uri="{FF2B5EF4-FFF2-40B4-BE49-F238E27FC236}">
                <a16:creationId xmlns:a16="http://schemas.microsoft.com/office/drawing/2014/main" id="{15E8DDA3-9E96-4297-B67F-431CEE18322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772025" y="2516188"/>
            <a:ext cx="3286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7" name="Line 34">
            <a:extLst>
              <a:ext uri="{FF2B5EF4-FFF2-40B4-BE49-F238E27FC236}">
                <a16:creationId xmlns:a16="http://schemas.microsoft.com/office/drawing/2014/main" id="{E9780FAC-2ECD-4B24-839B-75227BD2A4F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100638" y="2516188"/>
            <a:ext cx="109537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8" name="Line 35">
            <a:extLst>
              <a:ext uri="{FF2B5EF4-FFF2-40B4-BE49-F238E27FC236}">
                <a16:creationId xmlns:a16="http://schemas.microsoft.com/office/drawing/2014/main" id="{4D72541B-1989-45DE-BA51-FC164CD4747E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529263" y="2492375"/>
            <a:ext cx="115887" cy="247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9" name="Text Box 36">
            <a:extLst>
              <a:ext uri="{FF2B5EF4-FFF2-40B4-BE49-F238E27FC236}">
                <a16:creationId xmlns:a16="http://schemas.microsoft.com/office/drawing/2014/main" id="{D3EE8E79-F116-4EF0-BABA-6B3EC5C1365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7163" y="3338513"/>
            <a:ext cx="1052512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A19~A16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/S6~S3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sp>
        <p:nvSpPr>
          <p:cNvPr id="164900" name="Text Box 37">
            <a:extLst>
              <a:ext uri="{FF2B5EF4-FFF2-40B4-BE49-F238E27FC236}">
                <a16:creationId xmlns:a16="http://schemas.microsoft.com/office/drawing/2014/main" id="{606866A9-FDD5-4C9A-B753-794C2A8443B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3700" y="2970213"/>
            <a:ext cx="784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</a:rPr>
              <a:t>M</a:t>
            </a:r>
            <a:r>
              <a:rPr lang="en-US" altLang="zh-CN" sz="2000">
                <a:latin typeface="宋体" panose="02010600030101010101" pitchFamily="2" charset="-122"/>
              </a:rPr>
              <a:t>/</a:t>
            </a:r>
            <a:r>
              <a:rPr lang="en-US" altLang="zh-CN" sz="2000">
                <a:latin typeface="Times New Roman" panose="02020603050405020304" pitchFamily="18" charset="0"/>
              </a:rPr>
              <a:t>IO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sp>
        <p:nvSpPr>
          <p:cNvPr id="164901" name="Line 38">
            <a:extLst>
              <a:ext uri="{FF2B5EF4-FFF2-40B4-BE49-F238E27FC236}">
                <a16:creationId xmlns:a16="http://schemas.microsoft.com/office/drawing/2014/main" id="{2042AF62-7F0E-4347-9B6D-057790950A9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68363" y="2973388"/>
            <a:ext cx="198437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02" name="Line 39">
            <a:extLst>
              <a:ext uri="{FF2B5EF4-FFF2-40B4-BE49-F238E27FC236}">
                <a16:creationId xmlns:a16="http://schemas.microsoft.com/office/drawing/2014/main" id="{6FA01716-3428-4C62-B276-57736DA4983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332288" y="275113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03" name="Line 40">
            <a:extLst>
              <a:ext uri="{FF2B5EF4-FFF2-40B4-BE49-F238E27FC236}">
                <a16:creationId xmlns:a16="http://schemas.microsoft.com/office/drawing/2014/main" id="{6F0CDCE3-F937-43D6-96C8-C7CEADB5556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210175" y="275113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04" name="Line 41">
            <a:extLst>
              <a:ext uri="{FF2B5EF4-FFF2-40B4-BE49-F238E27FC236}">
                <a16:creationId xmlns:a16="http://schemas.microsoft.com/office/drawing/2014/main" id="{DC1DCB80-98CB-4089-915C-D0AD067F525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63650" y="2911475"/>
            <a:ext cx="571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05" name="Line 42">
            <a:extLst>
              <a:ext uri="{FF2B5EF4-FFF2-40B4-BE49-F238E27FC236}">
                <a16:creationId xmlns:a16="http://schemas.microsoft.com/office/drawing/2014/main" id="{639A6247-8FFE-40F4-A5C4-1D637585D39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878013" y="2924175"/>
            <a:ext cx="360521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06" name="Line 43">
            <a:extLst>
              <a:ext uri="{FF2B5EF4-FFF2-40B4-BE49-F238E27FC236}">
                <a16:creationId xmlns:a16="http://schemas.microsoft.com/office/drawing/2014/main" id="{A53EBD30-904C-4D68-9594-A6B3B157BDF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65238" y="3460750"/>
            <a:ext cx="593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07" name="Line 44">
            <a:extLst>
              <a:ext uri="{FF2B5EF4-FFF2-40B4-BE49-F238E27FC236}">
                <a16:creationId xmlns:a16="http://schemas.microsoft.com/office/drawing/2014/main" id="{47D761DB-3DD7-4C5A-A3BF-6DD04C3EC9C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65238" y="3695700"/>
            <a:ext cx="593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908" name="组合 120875">
            <a:extLst>
              <a:ext uri="{FF2B5EF4-FFF2-40B4-BE49-F238E27FC236}">
                <a16:creationId xmlns:a16="http://schemas.microsoft.com/office/drawing/2014/main" id="{5ACFE8BF-6458-429A-B80B-9576685FB89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866900" y="3460750"/>
            <a:ext cx="111125" cy="234950"/>
            <a:chOff x="0" y="0"/>
            <a:chExt cx="212" cy="567"/>
          </a:xfrm>
        </p:grpSpPr>
        <p:sp>
          <p:nvSpPr>
            <p:cNvPr id="164976" name="Line 46">
              <a:extLst>
                <a:ext uri="{FF2B5EF4-FFF2-40B4-BE49-F238E27FC236}">
                  <a16:creationId xmlns:a16="http://schemas.microsoft.com/office/drawing/2014/main" id="{25C9C314-95BD-4F92-BA09-3B93946F0AD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0" y="0"/>
              <a:ext cx="210" cy="5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7" name="Line 47">
              <a:extLst>
                <a:ext uri="{FF2B5EF4-FFF2-40B4-BE49-F238E27FC236}">
                  <a16:creationId xmlns:a16="http://schemas.microsoft.com/office/drawing/2014/main" id="{DB568A05-B65F-4DDD-B8A5-4DF5C34DD64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" y="0"/>
              <a:ext cx="210" cy="5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909" name="Line 48">
            <a:extLst>
              <a:ext uri="{FF2B5EF4-FFF2-40B4-BE49-F238E27FC236}">
                <a16:creationId xmlns:a16="http://schemas.microsoft.com/office/drawing/2014/main" id="{FFFEC098-869E-48FA-A005-1374736897A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74850" y="3460750"/>
            <a:ext cx="8302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10" name="Line 49">
            <a:extLst>
              <a:ext uri="{FF2B5EF4-FFF2-40B4-BE49-F238E27FC236}">
                <a16:creationId xmlns:a16="http://schemas.microsoft.com/office/drawing/2014/main" id="{D393113B-BE80-49E8-A48B-1CF85B52B2F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95488" y="3700463"/>
            <a:ext cx="8318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911" name="组合 120880">
            <a:extLst>
              <a:ext uri="{FF2B5EF4-FFF2-40B4-BE49-F238E27FC236}">
                <a16:creationId xmlns:a16="http://schemas.microsoft.com/office/drawing/2014/main" id="{D1298120-7D84-4F97-B80F-7C6676E9A28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3050" y="3460750"/>
            <a:ext cx="111125" cy="234950"/>
            <a:chOff x="0" y="0"/>
            <a:chExt cx="212" cy="567"/>
          </a:xfrm>
        </p:grpSpPr>
        <p:sp>
          <p:nvSpPr>
            <p:cNvPr id="164974" name="Line 51">
              <a:extLst>
                <a:ext uri="{FF2B5EF4-FFF2-40B4-BE49-F238E27FC236}">
                  <a16:creationId xmlns:a16="http://schemas.microsoft.com/office/drawing/2014/main" id="{08D3F6BC-C650-44C5-AADB-FF8E2EE39D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0" y="0"/>
              <a:ext cx="210" cy="5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5" name="Line 52">
              <a:extLst>
                <a:ext uri="{FF2B5EF4-FFF2-40B4-BE49-F238E27FC236}">
                  <a16:creationId xmlns:a16="http://schemas.microsoft.com/office/drawing/2014/main" id="{6D9B7442-A2F3-4E93-A906-B0370497645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" y="0"/>
              <a:ext cx="210" cy="5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912" name="Line 53">
            <a:extLst>
              <a:ext uri="{FF2B5EF4-FFF2-40B4-BE49-F238E27FC236}">
                <a16:creationId xmlns:a16="http://schemas.microsoft.com/office/drawing/2014/main" id="{0EB4B7B9-0FB7-4BCA-AD7E-E93FAB706258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938463" y="3460750"/>
            <a:ext cx="2576512" cy="7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13" name="Line 54">
            <a:extLst>
              <a:ext uri="{FF2B5EF4-FFF2-40B4-BE49-F238E27FC236}">
                <a16:creationId xmlns:a16="http://schemas.microsoft.com/office/drawing/2014/main" id="{11838C24-B06C-4884-B1BD-4212DD687B2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928938" y="3692525"/>
            <a:ext cx="25765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914" name="组合 120885">
            <a:extLst>
              <a:ext uri="{FF2B5EF4-FFF2-40B4-BE49-F238E27FC236}">
                <a16:creationId xmlns:a16="http://schemas.microsoft.com/office/drawing/2014/main" id="{4DE33711-D240-46F2-8C18-134BCC4284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6538" y="4810125"/>
            <a:ext cx="5294312" cy="250825"/>
            <a:chOff x="0" y="0"/>
            <a:chExt cx="3335" cy="158"/>
          </a:xfrm>
        </p:grpSpPr>
        <p:sp>
          <p:nvSpPr>
            <p:cNvPr id="164967" name="Text Box 56">
              <a:extLst>
                <a:ext uri="{FF2B5EF4-FFF2-40B4-BE49-F238E27FC236}">
                  <a16:creationId xmlns:a16="http://schemas.microsoft.com/office/drawing/2014/main" id="{819F0AC5-8758-4CEE-8B57-A5833127CEA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614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A19~A0</a:t>
              </a:r>
              <a:endParaRPr lang="en-US" altLang="zh-CN" sz="18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968" name="Line 57">
              <a:extLst>
                <a:ext uri="{FF2B5EF4-FFF2-40B4-BE49-F238E27FC236}">
                  <a16:creationId xmlns:a16="http://schemas.microsoft.com/office/drawing/2014/main" id="{8BE47E3D-E0DE-4328-89BB-C814781A9B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53" y="0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9" name="Line 58">
              <a:extLst>
                <a:ext uri="{FF2B5EF4-FFF2-40B4-BE49-F238E27FC236}">
                  <a16:creationId xmlns:a16="http://schemas.microsoft.com/office/drawing/2014/main" id="{135E0888-93CA-4D78-907F-E181BBAD391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53" y="148"/>
              <a:ext cx="37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0" name="Line 59">
              <a:extLst>
                <a:ext uri="{FF2B5EF4-FFF2-40B4-BE49-F238E27FC236}">
                  <a16:creationId xmlns:a16="http://schemas.microsoft.com/office/drawing/2014/main" id="{85D0C1D4-D83B-4708-B0B9-0E52FBBB5E3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32" y="0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1" name="Line 60">
              <a:extLst>
                <a:ext uri="{FF2B5EF4-FFF2-40B4-BE49-F238E27FC236}">
                  <a16:creationId xmlns:a16="http://schemas.microsoft.com/office/drawing/2014/main" id="{296A5D23-5EE6-4077-8591-F235C67D83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033" y="0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2" name="Line 61">
              <a:extLst>
                <a:ext uri="{FF2B5EF4-FFF2-40B4-BE49-F238E27FC236}">
                  <a16:creationId xmlns:a16="http://schemas.microsoft.com/office/drawing/2014/main" id="{B78B9A88-4D19-4858-B38D-ECBCD525FFE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00" y="0"/>
              <a:ext cx="2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3" name="Line 62">
              <a:extLst>
                <a:ext uri="{FF2B5EF4-FFF2-40B4-BE49-F238E27FC236}">
                  <a16:creationId xmlns:a16="http://schemas.microsoft.com/office/drawing/2014/main" id="{B045F272-1F26-4F64-B946-5E0AA3175FF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102" y="147"/>
              <a:ext cx="22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915" name="Line 63">
            <a:extLst>
              <a:ext uri="{FF2B5EF4-FFF2-40B4-BE49-F238E27FC236}">
                <a16:creationId xmlns:a16="http://schemas.microsoft.com/office/drawing/2014/main" id="{7F02B9A9-E624-4A7E-A378-9F87276D8A3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73175" y="5321300"/>
            <a:ext cx="1289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16" name="Line 64">
            <a:extLst>
              <a:ext uri="{FF2B5EF4-FFF2-40B4-BE49-F238E27FC236}">
                <a16:creationId xmlns:a16="http://schemas.microsoft.com/office/drawing/2014/main" id="{41C004F7-4FC6-4D78-A8A2-1C48C806352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571750" y="5321300"/>
            <a:ext cx="111125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17" name="Line 65">
            <a:extLst>
              <a:ext uri="{FF2B5EF4-FFF2-40B4-BE49-F238E27FC236}">
                <a16:creationId xmlns:a16="http://schemas.microsoft.com/office/drawing/2014/main" id="{479B6AED-92BB-4298-8F4D-FA63D4C1984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689225" y="5561013"/>
            <a:ext cx="16954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18" name="Line 66">
            <a:extLst>
              <a:ext uri="{FF2B5EF4-FFF2-40B4-BE49-F238E27FC236}">
                <a16:creationId xmlns:a16="http://schemas.microsoft.com/office/drawing/2014/main" id="{E06D2714-41E2-4861-928F-73250AE2DF6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375150" y="5326063"/>
            <a:ext cx="109538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19" name="Line 67">
            <a:extLst>
              <a:ext uri="{FF2B5EF4-FFF2-40B4-BE49-F238E27FC236}">
                <a16:creationId xmlns:a16="http://schemas.microsoft.com/office/drawing/2014/main" id="{9C15FDD1-A30D-4C0C-B6C1-645091CF533D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489450" y="5337175"/>
            <a:ext cx="954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0" name="Line 68">
            <a:extLst>
              <a:ext uri="{FF2B5EF4-FFF2-40B4-BE49-F238E27FC236}">
                <a16:creationId xmlns:a16="http://schemas.microsoft.com/office/drawing/2014/main" id="{8D551B00-E1B4-403A-BC45-D3A67E1C092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95400" y="5761038"/>
            <a:ext cx="469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1" name="Line 69">
            <a:extLst>
              <a:ext uri="{FF2B5EF4-FFF2-40B4-BE49-F238E27FC236}">
                <a16:creationId xmlns:a16="http://schemas.microsoft.com/office/drawing/2014/main" id="{DE623476-2763-4285-946C-368D923D176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776413" y="5761038"/>
            <a:ext cx="109537" cy="2365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2" name="Line 70">
            <a:extLst>
              <a:ext uri="{FF2B5EF4-FFF2-40B4-BE49-F238E27FC236}">
                <a16:creationId xmlns:a16="http://schemas.microsoft.com/office/drawing/2014/main" id="{71AF680E-3974-4843-AA7A-E2B5F7A3C47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892300" y="6002338"/>
            <a:ext cx="35512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3" name="Line 71">
            <a:extLst>
              <a:ext uri="{FF2B5EF4-FFF2-40B4-BE49-F238E27FC236}">
                <a16:creationId xmlns:a16="http://schemas.microsoft.com/office/drawing/2014/main" id="{BAEB74B7-FD8B-47C5-B19B-38DDF30E231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52538" y="6218238"/>
            <a:ext cx="14033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4" name="Line 72">
            <a:extLst>
              <a:ext uri="{FF2B5EF4-FFF2-40B4-BE49-F238E27FC236}">
                <a16:creationId xmlns:a16="http://schemas.microsoft.com/office/drawing/2014/main" id="{33BF9D8B-CE73-4C3E-A841-B7D4A1D28F3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651125" y="6218238"/>
            <a:ext cx="109538" cy="2365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5" name="Line 73">
            <a:extLst>
              <a:ext uri="{FF2B5EF4-FFF2-40B4-BE49-F238E27FC236}">
                <a16:creationId xmlns:a16="http://schemas.microsoft.com/office/drawing/2014/main" id="{1E4A71F5-18D1-4B88-9563-9AD3A04BD30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782888" y="6459538"/>
            <a:ext cx="15827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6" name="Line 74">
            <a:extLst>
              <a:ext uri="{FF2B5EF4-FFF2-40B4-BE49-F238E27FC236}">
                <a16:creationId xmlns:a16="http://schemas.microsoft.com/office/drawing/2014/main" id="{B6771299-7FB2-4FDE-921F-DB1ACA1D322D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352925" y="6223000"/>
            <a:ext cx="111125" cy="2365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7" name="Line 75">
            <a:extLst>
              <a:ext uri="{FF2B5EF4-FFF2-40B4-BE49-F238E27FC236}">
                <a16:creationId xmlns:a16="http://schemas.microsoft.com/office/drawing/2014/main" id="{03A5D47A-8D4B-4839-91C6-5E74812956B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468813" y="6234113"/>
            <a:ext cx="974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8" name="Text Box 76">
            <a:extLst>
              <a:ext uri="{FF2B5EF4-FFF2-40B4-BE49-F238E27FC236}">
                <a16:creationId xmlns:a16="http://schemas.microsoft.com/office/drawing/2014/main" id="{13FCEEDE-F540-42E2-8DC9-2B5E96197ED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9613" y="5316538"/>
            <a:ext cx="533400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RD</a:t>
            </a:r>
          </a:p>
        </p:txBody>
      </p:sp>
      <p:sp>
        <p:nvSpPr>
          <p:cNvPr id="164929" name="Line 77">
            <a:extLst>
              <a:ext uri="{FF2B5EF4-FFF2-40B4-BE49-F238E27FC236}">
                <a16:creationId xmlns:a16="http://schemas.microsoft.com/office/drawing/2014/main" id="{5CC0587E-0205-4BB0-804C-8596F10A0EE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88988" y="5332413"/>
            <a:ext cx="273050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30" name="Text Box 78">
            <a:extLst>
              <a:ext uri="{FF2B5EF4-FFF2-40B4-BE49-F238E27FC236}">
                <a16:creationId xmlns:a16="http://schemas.microsoft.com/office/drawing/2014/main" id="{68666A6B-C8B4-44C1-8CF0-25333583E92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8475" y="5748338"/>
            <a:ext cx="701675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DT/R</a:t>
            </a:r>
          </a:p>
        </p:txBody>
      </p:sp>
      <p:sp>
        <p:nvSpPr>
          <p:cNvPr id="164931" name="Line 79">
            <a:extLst>
              <a:ext uri="{FF2B5EF4-FFF2-40B4-BE49-F238E27FC236}">
                <a16:creationId xmlns:a16="http://schemas.microsoft.com/office/drawing/2014/main" id="{C454FFE3-2589-4E6C-8718-9D61A2868CA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930275" y="5749925"/>
            <a:ext cx="157163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32" name="Text Box 80">
            <a:extLst>
              <a:ext uri="{FF2B5EF4-FFF2-40B4-BE49-F238E27FC236}">
                <a16:creationId xmlns:a16="http://schemas.microsoft.com/office/drawing/2014/main" id="{89D981D7-8AFB-4AB1-9A4F-5A5B2382E19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87375" y="6238875"/>
            <a:ext cx="60325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FF99"/>
                </a:solidFill>
                <a:latin typeface="Times New Roman" panose="02020603050405020304" pitchFamily="18" charset="0"/>
              </a:rPr>
              <a:t>DEN</a:t>
            </a:r>
          </a:p>
        </p:txBody>
      </p:sp>
      <p:sp>
        <p:nvSpPr>
          <p:cNvPr id="164933" name="Line 81">
            <a:extLst>
              <a:ext uri="{FF2B5EF4-FFF2-40B4-BE49-F238E27FC236}">
                <a16:creationId xmlns:a16="http://schemas.microsoft.com/office/drawing/2014/main" id="{96A37F00-DCF6-417B-9F45-6ED0BA02457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11188" y="6227763"/>
            <a:ext cx="493712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34" name="Text Box 82">
            <a:extLst>
              <a:ext uri="{FF2B5EF4-FFF2-40B4-BE49-F238E27FC236}">
                <a16:creationId xmlns:a16="http://schemas.microsoft.com/office/drawing/2014/main" id="{E97CEA55-4837-4483-97E5-B412B08BEFE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3075" y="2530475"/>
            <a:ext cx="70485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CLK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sp>
        <p:nvSpPr>
          <p:cNvPr id="164935" name="Text Box 83">
            <a:extLst>
              <a:ext uri="{FF2B5EF4-FFF2-40B4-BE49-F238E27FC236}">
                <a16:creationId xmlns:a16="http://schemas.microsoft.com/office/drawing/2014/main" id="{2A4DDF9D-31E1-4D3B-B4DF-19EC785B22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73450" y="3484563"/>
            <a:ext cx="8064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S6 ~ S3</a:t>
            </a:r>
            <a:endParaRPr lang="en-US" altLang="zh-CN" sz="18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64936" name="组合 120914">
            <a:extLst>
              <a:ext uri="{FF2B5EF4-FFF2-40B4-BE49-F238E27FC236}">
                <a16:creationId xmlns:a16="http://schemas.microsoft.com/office/drawing/2014/main" id="{43111BE6-B233-4B19-9C6A-B0EFD89F03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3917950"/>
            <a:ext cx="5443538" cy="806450"/>
            <a:chOff x="0" y="0"/>
            <a:chExt cx="3429" cy="508"/>
          </a:xfrm>
        </p:grpSpPr>
        <p:sp>
          <p:nvSpPr>
            <p:cNvPr id="164942" name="Text Box 85">
              <a:extLst>
                <a:ext uri="{FF2B5EF4-FFF2-40B4-BE49-F238E27FC236}">
                  <a16:creationId xmlns:a16="http://schemas.microsoft.com/office/drawing/2014/main" id="{5D3D343B-1AAF-435B-B996-AC2C939CA8E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73" y="36"/>
              <a:ext cx="58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solidFill>
                    <a:srgbClr val="3333FF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1600">
                  <a:latin typeface="Times New Roman" panose="02020603050405020304" pitchFamily="18" charset="0"/>
                </a:rPr>
                <a:t>D15 ~D0</a:t>
              </a:r>
            </a:p>
          </p:txBody>
        </p:sp>
        <p:sp>
          <p:nvSpPr>
            <p:cNvPr id="164943" name="Text Box 86">
              <a:extLst>
                <a:ext uri="{FF2B5EF4-FFF2-40B4-BE49-F238E27FC236}">
                  <a16:creationId xmlns:a16="http://schemas.microsoft.com/office/drawing/2014/main" id="{EF9FE9F7-5925-425C-B020-D4DDD07620B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79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AD15~AD0</a:t>
              </a:r>
              <a:endParaRPr lang="en-US" altLang="zh-CN" sz="18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944" name="Line 87">
              <a:extLst>
                <a:ext uri="{FF2B5EF4-FFF2-40B4-BE49-F238E27FC236}">
                  <a16:creationId xmlns:a16="http://schemas.microsoft.com/office/drawing/2014/main" id="{4B7000EA-86DD-4D12-A24F-69F982671D8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4" y="21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5" name="Line 88">
              <a:extLst>
                <a:ext uri="{FF2B5EF4-FFF2-40B4-BE49-F238E27FC236}">
                  <a16:creationId xmlns:a16="http://schemas.microsoft.com/office/drawing/2014/main" id="{20017850-7B43-4747-AE9B-6DA145CC788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4" y="169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6" name="Line 89">
              <a:extLst>
                <a:ext uri="{FF2B5EF4-FFF2-40B4-BE49-F238E27FC236}">
                  <a16:creationId xmlns:a16="http://schemas.microsoft.com/office/drawing/2014/main" id="{77E48B3D-34B5-4D5D-80A3-7B7F0EB00E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83" y="21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7" name="Line 90">
              <a:extLst>
                <a:ext uri="{FF2B5EF4-FFF2-40B4-BE49-F238E27FC236}">
                  <a16:creationId xmlns:a16="http://schemas.microsoft.com/office/drawing/2014/main" id="{AC439E45-7D86-4D2F-BD0B-5309EFD398D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184" y="21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8" name="Line 91">
              <a:extLst>
                <a:ext uri="{FF2B5EF4-FFF2-40B4-BE49-F238E27FC236}">
                  <a16:creationId xmlns:a16="http://schemas.microsoft.com/office/drawing/2014/main" id="{0815CB96-A1ED-4296-981D-EB0B15DC72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51" y="21"/>
              <a:ext cx="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9" name="Line 92">
              <a:extLst>
                <a:ext uri="{FF2B5EF4-FFF2-40B4-BE49-F238E27FC236}">
                  <a16:creationId xmlns:a16="http://schemas.microsoft.com/office/drawing/2014/main" id="{4A2161B9-868F-4EB9-B4B1-997AA28BD31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64" y="172"/>
              <a:ext cx="5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0" name="Line 93">
              <a:extLst>
                <a:ext uri="{FF2B5EF4-FFF2-40B4-BE49-F238E27FC236}">
                  <a16:creationId xmlns:a16="http://schemas.microsoft.com/office/drawing/2014/main" id="{2803CC54-AF44-4B4B-A423-973ED0F76A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79" y="21"/>
              <a:ext cx="39" cy="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1" name="Line 94">
              <a:extLst>
                <a:ext uri="{FF2B5EF4-FFF2-40B4-BE49-F238E27FC236}">
                  <a16:creationId xmlns:a16="http://schemas.microsoft.com/office/drawing/2014/main" id="{0EFB76AC-BF97-4AA7-993D-D0607408F40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780" y="99"/>
              <a:ext cx="32" cy="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2" name="Line 95">
              <a:extLst>
                <a:ext uri="{FF2B5EF4-FFF2-40B4-BE49-F238E27FC236}">
                  <a16:creationId xmlns:a16="http://schemas.microsoft.com/office/drawing/2014/main" id="{9687F6EA-4350-4D5A-BFBD-1D8962829D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19" y="99"/>
              <a:ext cx="4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3" name="Line 96">
              <a:extLst>
                <a:ext uri="{FF2B5EF4-FFF2-40B4-BE49-F238E27FC236}">
                  <a16:creationId xmlns:a16="http://schemas.microsoft.com/office/drawing/2014/main" id="{E9C392EE-E65A-4E51-8EBC-32E9128F8EE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95" y="99"/>
              <a:ext cx="35" cy="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4" name="Line 97">
              <a:extLst>
                <a:ext uri="{FF2B5EF4-FFF2-40B4-BE49-F238E27FC236}">
                  <a16:creationId xmlns:a16="http://schemas.microsoft.com/office/drawing/2014/main" id="{7064FFCA-F867-49B9-A9DE-4742C1338D0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93" y="24"/>
              <a:ext cx="37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5" name="Line 98">
              <a:extLst>
                <a:ext uri="{FF2B5EF4-FFF2-40B4-BE49-F238E27FC236}">
                  <a16:creationId xmlns:a16="http://schemas.microsoft.com/office/drawing/2014/main" id="{73221CF9-1766-4F52-A3FB-B1402EEBCD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26" y="25"/>
              <a:ext cx="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6" name="Line 99">
              <a:extLst>
                <a:ext uri="{FF2B5EF4-FFF2-40B4-BE49-F238E27FC236}">
                  <a16:creationId xmlns:a16="http://schemas.microsoft.com/office/drawing/2014/main" id="{096A1E95-6A0C-4FBE-93BF-1694012F81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33" y="172"/>
              <a:ext cx="6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7" name="Line 100">
              <a:extLst>
                <a:ext uri="{FF2B5EF4-FFF2-40B4-BE49-F238E27FC236}">
                  <a16:creationId xmlns:a16="http://schemas.microsoft.com/office/drawing/2014/main" id="{030D320B-0413-4F7F-9046-043894A4186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40" y="25"/>
              <a:ext cx="39" cy="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8" name="Line 101">
              <a:extLst>
                <a:ext uri="{FF2B5EF4-FFF2-40B4-BE49-F238E27FC236}">
                  <a16:creationId xmlns:a16="http://schemas.microsoft.com/office/drawing/2014/main" id="{CD05CBE3-F1EE-4AD5-849B-92B80B95BB7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41" y="104"/>
              <a:ext cx="32" cy="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9" name="Line 102">
              <a:extLst>
                <a:ext uri="{FF2B5EF4-FFF2-40B4-BE49-F238E27FC236}">
                  <a16:creationId xmlns:a16="http://schemas.microsoft.com/office/drawing/2014/main" id="{B98E5D86-05F8-4B6E-823C-E25C71B42BD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79" y="99"/>
              <a:ext cx="4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0" name="Line 103">
              <a:extLst>
                <a:ext uri="{FF2B5EF4-FFF2-40B4-BE49-F238E27FC236}">
                  <a16:creationId xmlns:a16="http://schemas.microsoft.com/office/drawing/2014/main" id="{4947A99A-1A98-46DB-A062-ABA16EDCA13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2" y="451"/>
              <a:ext cx="2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1" name="Line 104">
              <a:extLst>
                <a:ext uri="{FF2B5EF4-FFF2-40B4-BE49-F238E27FC236}">
                  <a16:creationId xmlns:a16="http://schemas.microsoft.com/office/drawing/2014/main" id="{9D4C3822-6716-424D-A892-0DDDFAD9FBF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049" y="30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2" name="Line 105">
              <a:extLst>
                <a:ext uri="{FF2B5EF4-FFF2-40B4-BE49-F238E27FC236}">
                  <a16:creationId xmlns:a16="http://schemas.microsoft.com/office/drawing/2014/main" id="{7FD6A925-8997-4AED-8619-F8A79FF043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25" y="310"/>
              <a:ext cx="3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3" name="Line 106">
              <a:extLst>
                <a:ext uri="{FF2B5EF4-FFF2-40B4-BE49-F238E27FC236}">
                  <a16:creationId xmlns:a16="http://schemas.microsoft.com/office/drawing/2014/main" id="{3BB781A4-FA89-416A-8BC0-9B46C4D025A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65" y="310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4" name="Line 107">
              <a:extLst>
                <a:ext uri="{FF2B5EF4-FFF2-40B4-BE49-F238E27FC236}">
                  <a16:creationId xmlns:a16="http://schemas.microsoft.com/office/drawing/2014/main" id="{A79F2BB1-6E1E-458B-B789-37AC1C1A17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28" y="457"/>
              <a:ext cx="19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5" name="Text Box 108">
              <a:extLst>
                <a:ext uri="{FF2B5EF4-FFF2-40B4-BE49-F238E27FC236}">
                  <a16:creationId xmlns:a16="http://schemas.microsoft.com/office/drawing/2014/main" id="{1427DEC2-A345-4E5E-AE0F-F83C2B8EC09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8" y="313"/>
              <a:ext cx="44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ALE</a:t>
              </a:r>
            </a:p>
          </p:txBody>
        </p:sp>
        <p:sp>
          <p:nvSpPr>
            <p:cNvPr id="164966" name="Text Box 109">
              <a:extLst>
                <a:ext uri="{FF2B5EF4-FFF2-40B4-BE49-F238E27FC236}">
                  <a16:creationId xmlns:a16="http://schemas.microsoft.com/office/drawing/2014/main" id="{F8481381-6848-4046-8336-398D5F8A570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64" y="31"/>
              <a:ext cx="581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A15 ~ A0</a:t>
              </a:r>
              <a:endParaRPr lang="en-US" altLang="zh-CN" sz="18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64937" name="Line 110">
            <a:extLst>
              <a:ext uri="{FF2B5EF4-FFF2-40B4-BE49-F238E27FC236}">
                <a16:creationId xmlns:a16="http://schemas.microsoft.com/office/drawing/2014/main" id="{D109BC96-00C8-4049-80BA-01FADC92F25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77938" y="3155950"/>
            <a:ext cx="4746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38" name="Line 112">
            <a:extLst>
              <a:ext uri="{FF2B5EF4-FFF2-40B4-BE49-F238E27FC236}">
                <a16:creationId xmlns:a16="http://schemas.microsoft.com/office/drawing/2014/main" id="{C0015916-90CB-4809-9386-710365A82854}"/>
              </a:ext>
            </a:extLst>
          </p:cNvPr>
          <p:cNvSpPr>
            <a:spLocks noChangeAspect="1" noChangeShapeType="1"/>
          </p:cNvSpPr>
          <p:nvPr/>
        </p:nvSpPr>
        <p:spPr bwMode="auto">
          <a:xfrm rot="2700000" flipH="1">
            <a:off x="1841500" y="2927350"/>
            <a:ext cx="0" cy="2524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43" name="矩形 120942">
            <a:extLst>
              <a:ext uri="{FF2B5EF4-FFF2-40B4-BE49-F238E27FC236}">
                <a16:creationId xmlns:a16="http://schemas.microsoft.com/office/drawing/2014/main" id="{633B1B96-D70D-48E0-BA8E-18260D40B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1484313"/>
            <a:ext cx="20875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9900"/>
                </a:solidFill>
                <a:latin typeface="Garamond" panose="02020404030301010803" pitchFamily="18" charset="0"/>
              </a:rPr>
              <a:t>在</a:t>
            </a:r>
            <a:r>
              <a:rPr lang="en-US" altLang="zh-CN">
                <a:solidFill>
                  <a:srgbClr val="FF9900"/>
                </a:solidFill>
                <a:latin typeface="Garamond" panose="02020404030301010803" pitchFamily="18" charset="0"/>
              </a:rPr>
              <a:t>T1</a:t>
            </a:r>
            <a:r>
              <a:rPr lang="zh-CN" altLang="en-US">
                <a:solidFill>
                  <a:srgbClr val="FF9900"/>
                </a:solidFill>
                <a:latin typeface="Garamond" panose="02020404030301010803" pitchFamily="18" charset="0"/>
              </a:rPr>
              <a:t>周期：</a:t>
            </a:r>
          </a:p>
        </p:txBody>
      </p:sp>
      <p:sp>
        <p:nvSpPr>
          <p:cNvPr id="164940" name="圆角矩形标注 120943">
            <a:extLst>
              <a:ext uri="{FF2B5EF4-FFF2-40B4-BE49-F238E27FC236}">
                <a16:creationId xmlns:a16="http://schemas.microsoft.com/office/drawing/2014/main" id="{522EC8A7-EBEE-4A18-B344-254B85161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1925" y="1630363"/>
            <a:ext cx="2663825" cy="358775"/>
          </a:xfrm>
          <a:prstGeom prst="wedgeRoundRectCallout">
            <a:avLst>
              <a:gd name="adj1" fmla="val 70870"/>
              <a:gd name="adj2" fmla="val -115542"/>
              <a:gd name="adj3" fmla="val 16667"/>
            </a:avLst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熟悉这种表达方式</a:t>
            </a:r>
          </a:p>
        </p:txBody>
      </p:sp>
      <p:sp>
        <p:nvSpPr>
          <p:cNvPr id="116848" name="灯片编号占位符 1">
            <a:extLst>
              <a:ext uri="{FF2B5EF4-FFF2-40B4-BE49-F238E27FC236}">
                <a16:creationId xmlns:a16="http://schemas.microsoft.com/office/drawing/2014/main" id="{12542D6E-E6B3-4BD7-8C3B-1C3E1EDA05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CF1A7E9-BA72-4403-8280-2B16C77CD549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107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209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uiExpand="1" build="p"/>
      <p:bldP spid="120943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5F4AE272-A0DB-45C6-8CB9-33BBE7EB88B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505450" y="1628775"/>
            <a:ext cx="3486150" cy="4953000"/>
          </a:xfrm>
        </p:spPr>
        <p:txBody>
          <a:bodyPr lIns="0" tIns="0" rIns="0" bIns="0"/>
          <a:lstStyle/>
          <a:p>
            <a:pPr algn="just" eaLnBrk="1" hangingPunct="1">
              <a:spcBef>
                <a:spcPct val="0"/>
              </a:spcBef>
            </a:pPr>
            <a:r>
              <a:rPr lang="zh-CN" altLang="en-US" sz="26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600" b="0">
                <a:ea typeface="宋体" panose="02010600030101010101" pitchFamily="2" charset="-122"/>
                <a:sym typeface="Arial" panose="020B0604020202020204" pitchFamily="34" charset="0"/>
              </a:rPr>
              <a:t>A19~A16上出现状态信号S6~S3=0111，表示用DS作段寄存器</a:t>
            </a:r>
          </a:p>
          <a:p>
            <a:pPr algn="just" eaLnBrk="1" hangingPunct="1">
              <a:spcBef>
                <a:spcPct val="0"/>
              </a:spcBef>
            </a:pPr>
            <a:r>
              <a:rPr lang="zh-CN" altLang="en-US" sz="2600" b="0">
                <a:ea typeface="宋体" panose="02010600030101010101" pitchFamily="2" charset="-122"/>
                <a:sym typeface="Arial" panose="020B0604020202020204" pitchFamily="34" charset="0"/>
              </a:rPr>
              <a:t>6.AD15~AD0变高阻态</a:t>
            </a:r>
          </a:p>
          <a:p>
            <a:pPr algn="just" eaLnBrk="1" hangingPunct="1">
              <a:spcBef>
                <a:spcPct val="0"/>
              </a:spcBef>
            </a:pPr>
            <a:r>
              <a:rPr lang="zh-CN" altLang="en-US" sz="2600" b="0">
                <a:ea typeface="宋体" panose="02010600030101010101" pitchFamily="2" charset="-122"/>
                <a:sym typeface="Arial" panose="020B0604020202020204" pitchFamily="34" charset="0"/>
              </a:rPr>
              <a:t>7.RD变低，CPU将进行读操作</a:t>
            </a:r>
          </a:p>
          <a:p>
            <a:pPr algn="just" eaLnBrk="1" hangingPunct="1">
              <a:spcBef>
                <a:spcPct val="0"/>
              </a:spcBef>
            </a:pPr>
            <a:r>
              <a:rPr lang="zh-CN" altLang="en-US" sz="2600" b="0">
                <a:ea typeface="宋体" panose="02010600030101010101" pitchFamily="2" charset="-122"/>
                <a:sym typeface="Arial" panose="020B0604020202020204" pitchFamily="34" charset="0"/>
              </a:rPr>
              <a:t>8. DEN 变低，允许数据收发器进行数据传送</a:t>
            </a:r>
          </a:p>
        </p:txBody>
      </p:sp>
      <p:sp>
        <p:nvSpPr>
          <p:cNvPr id="165891" name="Line 3">
            <a:extLst>
              <a:ext uri="{FF2B5EF4-FFF2-40B4-BE49-F238E27FC236}">
                <a16:creationId xmlns:a16="http://schemas.microsoft.com/office/drawing/2014/main" id="{AF59E18A-267C-4215-A37F-17F74B7F6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6650" y="4029075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892" name="Line 4">
            <a:extLst>
              <a:ext uri="{FF2B5EF4-FFF2-40B4-BE49-F238E27FC236}">
                <a16:creationId xmlns:a16="http://schemas.microsoft.com/office/drawing/2014/main" id="{9C520881-E272-43A3-B8C3-885A16CF5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788" y="4821238"/>
            <a:ext cx="7508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id="{797B5141-C545-4E2C-9ADE-93BDAD5930F5}"/>
              </a:ext>
            </a:extLst>
          </p:cNvPr>
          <p:cNvSpPr>
            <a:spLocks noGrp="1" noRot="1"/>
          </p:cNvSpPr>
          <p:nvPr>
            <p:ph type="title" idx="4294967295"/>
          </p:nvPr>
        </p:nvSpPr>
        <p:spPr>
          <a:xfrm>
            <a:off x="457200" y="274638"/>
            <a:ext cx="8229600" cy="779462"/>
          </a:xfrm>
        </p:spPr>
        <p:txBody>
          <a:bodyPr/>
          <a:lstStyle/>
          <a:p>
            <a:pPr eaLnBrk="1" hangingPunct="1">
              <a:buClr>
                <a:srgbClr val="000000"/>
              </a:buClr>
              <a:defRPr/>
            </a:pP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执行指令</a:t>
            </a:r>
            <a:r>
              <a:rPr lang="en-US" altLang="zh-CN" sz="3200" b="1" noProof="1">
                <a:latin typeface="仿宋" panose="02010609060101010101" charset="-122"/>
                <a:ea typeface="仿宋" panose="02010609060101010101" charset="-122"/>
              </a:rPr>
              <a:t>MOV  AL,[BX]</a:t>
            </a: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的时序</a:t>
            </a:r>
            <a:endParaRPr lang="zh-CN" altLang="en-US" sz="3200" b="1" noProof="1">
              <a:effectLst>
                <a:outerShdw blurRad="38100" dist="38100" dir="2700000">
                  <a:srgbClr val="C0C0C0"/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165894" name="组合 121861">
            <a:extLst>
              <a:ext uri="{FF2B5EF4-FFF2-40B4-BE49-F238E27FC236}">
                <a16:creationId xmlns:a16="http://schemas.microsoft.com/office/drawing/2014/main" id="{0B9A5FDE-ADEC-4998-902C-CFCE636E0A7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2114550"/>
            <a:ext cx="5638800" cy="4267200"/>
            <a:chOff x="0" y="0"/>
            <a:chExt cx="3552" cy="2688"/>
          </a:xfrm>
        </p:grpSpPr>
        <p:sp>
          <p:nvSpPr>
            <p:cNvPr id="165897" name="Text Box 7">
              <a:extLst>
                <a:ext uri="{FF2B5EF4-FFF2-40B4-BE49-F238E27FC236}">
                  <a16:creationId xmlns:a16="http://schemas.microsoft.com/office/drawing/2014/main" id="{35641C7E-5C39-4B23-8FD9-36DCB35ECDA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25" y="773"/>
              <a:ext cx="58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rgbClr val="3333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>
                  <a:latin typeface="Times New Roman" panose="02020603050405020304" pitchFamily="18" charset="0"/>
                </a:rPr>
                <a:t>A19~A16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5898" name="Line 8">
              <a:extLst>
                <a:ext uri="{FF2B5EF4-FFF2-40B4-BE49-F238E27FC236}">
                  <a16:creationId xmlns:a16="http://schemas.microsoft.com/office/drawing/2014/main" id="{BE480F39-B729-4599-AEBA-7E8FF514827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88" y="12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899" name="Line 9">
              <a:extLst>
                <a:ext uri="{FF2B5EF4-FFF2-40B4-BE49-F238E27FC236}">
                  <a16:creationId xmlns:a16="http://schemas.microsoft.com/office/drawing/2014/main" id="{7D533C38-2CA7-4794-A96B-293B85CBAB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7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0" name="Line 10">
              <a:extLst>
                <a:ext uri="{FF2B5EF4-FFF2-40B4-BE49-F238E27FC236}">
                  <a16:creationId xmlns:a16="http://schemas.microsoft.com/office/drawing/2014/main" id="{149AD377-7439-44A9-BBC6-9700F3E50B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63" y="18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1" name="Line 11">
              <a:extLst>
                <a:ext uri="{FF2B5EF4-FFF2-40B4-BE49-F238E27FC236}">
                  <a16:creationId xmlns:a16="http://schemas.microsoft.com/office/drawing/2014/main" id="{C0447BEB-EEE4-434E-900A-D4B5B7D7C35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5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2" name="Line 12">
              <a:extLst>
                <a:ext uri="{FF2B5EF4-FFF2-40B4-BE49-F238E27FC236}">
                  <a16:creationId xmlns:a16="http://schemas.microsoft.com/office/drawing/2014/main" id="{3644E71B-CF7B-46C8-AE0B-C2D0ABF14E3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2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3" name="Text Box 13">
              <a:extLst>
                <a:ext uri="{FF2B5EF4-FFF2-40B4-BE49-F238E27FC236}">
                  <a16:creationId xmlns:a16="http://schemas.microsoft.com/office/drawing/2014/main" id="{C8B0B3C7-EF36-4BC1-9C16-6D7A39461AC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7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T1</a:t>
              </a:r>
            </a:p>
          </p:txBody>
        </p:sp>
        <p:sp>
          <p:nvSpPr>
            <p:cNvPr id="165904" name="Text Box 14">
              <a:extLst>
                <a:ext uri="{FF2B5EF4-FFF2-40B4-BE49-F238E27FC236}">
                  <a16:creationId xmlns:a16="http://schemas.microsoft.com/office/drawing/2014/main" id="{4735C076-4501-41F0-97FD-B80D8D6A7C5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0" y="0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165905" name="Text Box 15">
              <a:extLst>
                <a:ext uri="{FF2B5EF4-FFF2-40B4-BE49-F238E27FC236}">
                  <a16:creationId xmlns:a16="http://schemas.microsoft.com/office/drawing/2014/main" id="{86643229-8058-4BE5-ACFB-CEC593C6A0C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49" y="2"/>
              <a:ext cx="19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T3</a:t>
              </a:r>
            </a:p>
          </p:txBody>
        </p:sp>
        <p:sp>
          <p:nvSpPr>
            <p:cNvPr id="165906" name="Text Box 16">
              <a:extLst>
                <a:ext uri="{FF2B5EF4-FFF2-40B4-BE49-F238E27FC236}">
                  <a16:creationId xmlns:a16="http://schemas.microsoft.com/office/drawing/2014/main" id="{CA937795-7E4E-4A1A-B8E0-4EA5757A66F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18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T4</a:t>
              </a:r>
            </a:p>
          </p:txBody>
        </p:sp>
        <p:sp>
          <p:nvSpPr>
            <p:cNvPr id="165907" name="Line 17">
              <a:extLst>
                <a:ext uri="{FF2B5EF4-FFF2-40B4-BE49-F238E27FC236}">
                  <a16:creationId xmlns:a16="http://schemas.microsoft.com/office/drawing/2014/main" id="{90215A2C-3475-4E37-8475-209E712D1B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8" name="Line 18">
              <a:extLst>
                <a:ext uri="{FF2B5EF4-FFF2-40B4-BE49-F238E27FC236}">
                  <a16:creationId xmlns:a16="http://schemas.microsoft.com/office/drawing/2014/main" id="{1A22513F-251A-4999-AECD-17ED3F721CE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0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9" name="Line 19">
              <a:extLst>
                <a:ext uri="{FF2B5EF4-FFF2-40B4-BE49-F238E27FC236}">
                  <a16:creationId xmlns:a16="http://schemas.microsoft.com/office/drawing/2014/main" id="{AC2EF095-492E-4486-BFE2-0DCFE0A2D8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74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0" name="Line 20">
              <a:extLst>
                <a:ext uri="{FF2B5EF4-FFF2-40B4-BE49-F238E27FC236}">
                  <a16:creationId xmlns:a16="http://schemas.microsoft.com/office/drawing/2014/main" id="{CC1EE51D-12DC-4C75-8000-2E264B5CC30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82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1" name="Line 21">
              <a:extLst>
                <a:ext uri="{FF2B5EF4-FFF2-40B4-BE49-F238E27FC236}">
                  <a16:creationId xmlns:a16="http://schemas.microsoft.com/office/drawing/2014/main" id="{9F2F6A1B-C0BE-452B-B0AA-D72598924A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51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2" name="Line 22">
              <a:extLst>
                <a:ext uri="{FF2B5EF4-FFF2-40B4-BE49-F238E27FC236}">
                  <a16:creationId xmlns:a16="http://schemas.microsoft.com/office/drawing/2014/main" id="{D7E76C8F-0AA3-4C73-AA29-59FF2CC9F5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58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3" name="Line 23">
              <a:extLst>
                <a:ext uri="{FF2B5EF4-FFF2-40B4-BE49-F238E27FC236}">
                  <a16:creationId xmlns:a16="http://schemas.microsoft.com/office/drawing/2014/main" id="{51FCE879-41C2-46CB-A2FD-3FC489F268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7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4" name="Line 24">
              <a:extLst>
                <a:ext uri="{FF2B5EF4-FFF2-40B4-BE49-F238E27FC236}">
                  <a16:creationId xmlns:a16="http://schemas.microsoft.com/office/drawing/2014/main" id="{DF866C5A-ACD1-4F9E-AB7D-F6B9B9D9DA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3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5" name="Line 25">
              <a:extLst>
                <a:ext uri="{FF2B5EF4-FFF2-40B4-BE49-F238E27FC236}">
                  <a16:creationId xmlns:a16="http://schemas.microsoft.com/office/drawing/2014/main" id="{1DD55EC0-06F7-496D-997C-B02CF8AF76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04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6" name="Line 26">
              <a:extLst>
                <a:ext uri="{FF2B5EF4-FFF2-40B4-BE49-F238E27FC236}">
                  <a16:creationId xmlns:a16="http://schemas.microsoft.com/office/drawing/2014/main" id="{9E082BCD-5E5C-43EE-8633-7316EE047CB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1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7" name="Line 27">
              <a:extLst>
                <a:ext uri="{FF2B5EF4-FFF2-40B4-BE49-F238E27FC236}">
                  <a16:creationId xmlns:a16="http://schemas.microsoft.com/office/drawing/2014/main" id="{F92C61DB-EED4-40C6-A45F-97227C595A4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80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8" name="Line 28">
              <a:extLst>
                <a:ext uri="{FF2B5EF4-FFF2-40B4-BE49-F238E27FC236}">
                  <a16:creationId xmlns:a16="http://schemas.microsoft.com/office/drawing/2014/main" id="{71EFE624-51BA-4229-9BF6-3D727B0F636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387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9" name="Line 29">
              <a:extLst>
                <a:ext uri="{FF2B5EF4-FFF2-40B4-BE49-F238E27FC236}">
                  <a16:creationId xmlns:a16="http://schemas.microsoft.com/office/drawing/2014/main" id="{0DD4A64B-D039-4CEC-8BC1-B3F9329223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5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0" name="Line 30">
              <a:extLst>
                <a:ext uri="{FF2B5EF4-FFF2-40B4-BE49-F238E27FC236}">
                  <a16:creationId xmlns:a16="http://schemas.microsoft.com/office/drawing/2014/main" id="{85FB3C58-DDC1-4A67-8DB1-B5E08EE3D53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60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1" name="Line 31">
              <a:extLst>
                <a:ext uri="{FF2B5EF4-FFF2-40B4-BE49-F238E27FC236}">
                  <a16:creationId xmlns:a16="http://schemas.microsoft.com/office/drawing/2014/main" id="{BAEF86EF-CD8B-4996-B7FC-C16C03A7C3C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37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2" name="Line 32">
              <a:extLst>
                <a:ext uri="{FF2B5EF4-FFF2-40B4-BE49-F238E27FC236}">
                  <a16:creationId xmlns:a16="http://schemas.microsoft.com/office/drawing/2014/main" id="{36707B52-926F-4555-9922-D7A949FE0D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06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3" name="Line 33">
              <a:extLst>
                <a:ext uri="{FF2B5EF4-FFF2-40B4-BE49-F238E27FC236}">
                  <a16:creationId xmlns:a16="http://schemas.microsoft.com/office/drawing/2014/main" id="{D69DB34B-E57D-4D23-99DF-2FBCF04217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3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4" name="Line 34">
              <a:extLst>
                <a:ext uri="{FF2B5EF4-FFF2-40B4-BE49-F238E27FC236}">
                  <a16:creationId xmlns:a16="http://schemas.microsoft.com/office/drawing/2014/main" id="{07E26FCD-68C9-496D-B1F8-6C0DAB079AA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83" y="166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5" name="Text Box 35">
              <a:extLst>
                <a:ext uri="{FF2B5EF4-FFF2-40B4-BE49-F238E27FC236}">
                  <a16:creationId xmlns:a16="http://schemas.microsoft.com/office/drawing/2014/main" id="{EE24E971-6C60-4D35-AD9B-3671CD47610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9" y="691"/>
              <a:ext cx="66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A19~A16</a:t>
              </a:r>
            </a:p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/S6~S3</a:t>
              </a:r>
              <a:endParaRPr lang="en-US" altLang="zh-CN" sz="1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5926" name="Text Box 36">
              <a:extLst>
                <a:ext uri="{FF2B5EF4-FFF2-40B4-BE49-F238E27FC236}">
                  <a16:creationId xmlns:a16="http://schemas.microsoft.com/office/drawing/2014/main" id="{38923830-023D-4384-A853-CA4405919D8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8" y="459"/>
              <a:ext cx="4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M</a:t>
              </a:r>
              <a:r>
                <a:rPr lang="en-US" altLang="zh-CN" sz="2000">
                  <a:latin typeface="宋体" panose="02010600030101010101" pitchFamily="2" charset="-122"/>
                </a:rPr>
                <a:t>/</a:t>
              </a:r>
              <a:r>
                <a:rPr lang="en-US" altLang="zh-CN" sz="2000">
                  <a:latin typeface="Times New Roman" panose="02020603050405020304" pitchFamily="18" charset="0"/>
                </a:rPr>
                <a:t>IO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65927" name="Line 37">
              <a:extLst>
                <a:ext uri="{FF2B5EF4-FFF2-40B4-BE49-F238E27FC236}">
                  <a16:creationId xmlns:a16="http://schemas.microsoft.com/office/drawing/2014/main" id="{07A4C88F-D47F-4B74-9D0D-28EFABE446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7" y="461"/>
              <a:ext cx="125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8" name="Line 38">
              <a:extLst>
                <a:ext uri="{FF2B5EF4-FFF2-40B4-BE49-F238E27FC236}">
                  <a16:creationId xmlns:a16="http://schemas.microsoft.com/office/drawing/2014/main" id="{31C12A70-DE64-424B-B0D3-780131C3189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29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9" name="Line 39">
              <a:extLst>
                <a:ext uri="{FF2B5EF4-FFF2-40B4-BE49-F238E27FC236}">
                  <a16:creationId xmlns:a16="http://schemas.microsoft.com/office/drawing/2014/main" id="{BE493778-9D85-4F81-A86F-F4929FE57ED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82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0" name="Line 40">
              <a:extLst>
                <a:ext uri="{FF2B5EF4-FFF2-40B4-BE49-F238E27FC236}">
                  <a16:creationId xmlns:a16="http://schemas.microsoft.com/office/drawing/2014/main" id="{7EFF7EBC-18CC-4E17-915D-283EF0C686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464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1" name="Line 41">
              <a:extLst>
                <a:ext uri="{FF2B5EF4-FFF2-40B4-BE49-F238E27FC236}">
                  <a16:creationId xmlns:a16="http://schemas.microsoft.com/office/drawing/2014/main" id="{83DE2C77-D191-4810-AD3D-0222CAEC7B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83" y="476"/>
              <a:ext cx="2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2" name="Line 42">
              <a:extLst>
                <a:ext uri="{FF2B5EF4-FFF2-40B4-BE49-F238E27FC236}">
                  <a16:creationId xmlns:a16="http://schemas.microsoft.com/office/drawing/2014/main" id="{15C039B8-4499-4ED7-87D5-71BF90D7E42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768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3" name="Line 43">
              <a:extLst>
                <a:ext uri="{FF2B5EF4-FFF2-40B4-BE49-F238E27FC236}">
                  <a16:creationId xmlns:a16="http://schemas.microsoft.com/office/drawing/2014/main" id="{6CCB77FE-8129-4822-A5F7-AE63181359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916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5934" name="组合 121899">
              <a:extLst>
                <a:ext uri="{FF2B5EF4-FFF2-40B4-BE49-F238E27FC236}">
                  <a16:creationId xmlns:a16="http://schemas.microsoft.com/office/drawing/2014/main" id="{FB4BF110-B76A-4A2B-A051-72016E6AA6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76" y="768"/>
              <a:ext cx="70" cy="148"/>
              <a:chOff x="0" y="0"/>
              <a:chExt cx="212" cy="567"/>
            </a:xfrm>
          </p:grpSpPr>
          <p:sp>
            <p:nvSpPr>
              <p:cNvPr id="166000" name="Line 45">
                <a:extLst>
                  <a:ext uri="{FF2B5EF4-FFF2-40B4-BE49-F238E27FC236}">
                    <a16:creationId xmlns:a16="http://schemas.microsoft.com/office/drawing/2014/main" id="{C83EDEF5-6200-45AD-B3DA-FEE859F68BB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001" name="Line 46">
                <a:extLst>
                  <a:ext uri="{FF2B5EF4-FFF2-40B4-BE49-F238E27FC236}">
                    <a16:creationId xmlns:a16="http://schemas.microsoft.com/office/drawing/2014/main" id="{096A36BA-08AD-4B07-8AD3-6AB518172E4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5935" name="Line 47">
              <a:extLst>
                <a:ext uri="{FF2B5EF4-FFF2-40B4-BE49-F238E27FC236}">
                  <a16:creationId xmlns:a16="http://schemas.microsoft.com/office/drawing/2014/main" id="{4FA57A5C-304A-4F7A-881F-8B83CB09B21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4" y="768"/>
              <a:ext cx="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6" name="Line 48">
              <a:extLst>
                <a:ext uri="{FF2B5EF4-FFF2-40B4-BE49-F238E27FC236}">
                  <a16:creationId xmlns:a16="http://schemas.microsoft.com/office/drawing/2014/main" id="{A5036C02-4E82-4077-A36C-7C6ED97AE83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57" y="919"/>
              <a:ext cx="5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5937" name="组合 121904">
              <a:extLst>
                <a:ext uri="{FF2B5EF4-FFF2-40B4-BE49-F238E27FC236}">
                  <a16:creationId xmlns:a16="http://schemas.microsoft.com/office/drawing/2014/main" id="{DD26057D-98B8-49C2-88F7-7B17E1F9F7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72" y="768"/>
              <a:ext cx="70" cy="148"/>
              <a:chOff x="0" y="0"/>
              <a:chExt cx="212" cy="567"/>
            </a:xfrm>
          </p:grpSpPr>
          <p:sp>
            <p:nvSpPr>
              <p:cNvPr id="165998" name="Line 50">
                <a:extLst>
                  <a:ext uri="{FF2B5EF4-FFF2-40B4-BE49-F238E27FC236}">
                    <a16:creationId xmlns:a16="http://schemas.microsoft.com/office/drawing/2014/main" id="{23B8D01D-4204-4945-8D4B-6375F1BEB98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99" name="Line 51">
                <a:extLst>
                  <a:ext uri="{FF2B5EF4-FFF2-40B4-BE49-F238E27FC236}">
                    <a16:creationId xmlns:a16="http://schemas.microsoft.com/office/drawing/2014/main" id="{5953E642-42F0-4FCD-8E4D-D8C0C76BD2B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5938" name="Line 52">
              <a:extLst>
                <a:ext uri="{FF2B5EF4-FFF2-40B4-BE49-F238E27FC236}">
                  <a16:creationId xmlns:a16="http://schemas.microsoft.com/office/drawing/2014/main" id="{E40770E3-79B4-4927-A043-1430E0588F0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51" y="768"/>
              <a:ext cx="1623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9" name="Line 53">
              <a:extLst>
                <a:ext uri="{FF2B5EF4-FFF2-40B4-BE49-F238E27FC236}">
                  <a16:creationId xmlns:a16="http://schemas.microsoft.com/office/drawing/2014/main" id="{7800417C-761F-49BE-AB95-4EC4BD634B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45" y="914"/>
              <a:ext cx="1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5940" name="组合 121909">
              <a:extLst>
                <a:ext uri="{FF2B5EF4-FFF2-40B4-BE49-F238E27FC236}">
                  <a16:creationId xmlns:a16="http://schemas.microsoft.com/office/drawing/2014/main" id="{A720F6F1-CF40-4387-BE80-F6AAD50DA8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9" y="1618"/>
              <a:ext cx="3335" cy="158"/>
              <a:chOff x="0" y="0"/>
              <a:chExt cx="3335" cy="158"/>
            </a:xfrm>
          </p:grpSpPr>
          <p:sp>
            <p:nvSpPr>
              <p:cNvPr id="165991" name="Text Box 55">
                <a:extLst>
                  <a:ext uri="{FF2B5EF4-FFF2-40B4-BE49-F238E27FC236}">
                    <a16:creationId xmlns:a16="http://schemas.microsoft.com/office/drawing/2014/main" id="{07CCB900-767B-48E1-B62A-5C493687109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614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A19~A0</a:t>
                </a:r>
                <a:endParaRPr lang="en-US" altLang="zh-CN" sz="1800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5992" name="Line 56">
                <a:extLst>
                  <a:ext uri="{FF2B5EF4-FFF2-40B4-BE49-F238E27FC236}">
                    <a16:creationId xmlns:a16="http://schemas.microsoft.com/office/drawing/2014/main" id="{3F17899E-E8F5-48D2-B9B6-BA37C729597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0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93" name="Line 57">
                <a:extLst>
                  <a:ext uri="{FF2B5EF4-FFF2-40B4-BE49-F238E27FC236}">
                    <a16:creationId xmlns:a16="http://schemas.microsoft.com/office/drawing/2014/main" id="{3EB42F72-E652-4D49-9CEB-88DF812FC49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148"/>
                <a:ext cx="374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94" name="Line 58">
                <a:extLst>
                  <a:ext uri="{FF2B5EF4-FFF2-40B4-BE49-F238E27FC236}">
                    <a16:creationId xmlns:a16="http://schemas.microsoft.com/office/drawing/2014/main" id="{4C935819-48C0-4CDE-AAF9-0B7D2E87953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32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95" name="Line 59">
                <a:extLst>
                  <a:ext uri="{FF2B5EF4-FFF2-40B4-BE49-F238E27FC236}">
                    <a16:creationId xmlns:a16="http://schemas.microsoft.com/office/drawing/2014/main" id="{6B93DBFE-0293-495D-AF87-1A8592AB71A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33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96" name="Line 60">
                <a:extLst>
                  <a:ext uri="{FF2B5EF4-FFF2-40B4-BE49-F238E27FC236}">
                    <a16:creationId xmlns:a16="http://schemas.microsoft.com/office/drawing/2014/main" id="{271063E9-FAE4-4279-B1C4-AC4B18865BC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00" y="0"/>
                <a:ext cx="2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97" name="Line 61">
                <a:extLst>
                  <a:ext uri="{FF2B5EF4-FFF2-40B4-BE49-F238E27FC236}">
                    <a16:creationId xmlns:a16="http://schemas.microsoft.com/office/drawing/2014/main" id="{FAA266D0-328F-4258-89B5-04CD6093B3E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02" y="147"/>
                <a:ext cx="223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5941" name="Line 62">
              <a:extLst>
                <a:ext uri="{FF2B5EF4-FFF2-40B4-BE49-F238E27FC236}">
                  <a16:creationId xmlns:a16="http://schemas.microsoft.com/office/drawing/2014/main" id="{F0B65BDE-4449-41A1-827F-0CC032E235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2" y="1940"/>
              <a:ext cx="8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2" name="Line 63">
              <a:extLst>
                <a:ext uri="{FF2B5EF4-FFF2-40B4-BE49-F238E27FC236}">
                  <a16:creationId xmlns:a16="http://schemas.microsoft.com/office/drawing/2014/main" id="{79FAE607-BFDA-4032-A30C-1E56ABA0591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0" y="1940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3" name="Line 64">
              <a:extLst>
                <a:ext uri="{FF2B5EF4-FFF2-40B4-BE49-F238E27FC236}">
                  <a16:creationId xmlns:a16="http://schemas.microsoft.com/office/drawing/2014/main" id="{EBC711EB-4715-4B15-BBA3-318B4607F03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94" y="2091"/>
              <a:ext cx="10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4" name="Line 65">
              <a:extLst>
                <a:ext uri="{FF2B5EF4-FFF2-40B4-BE49-F238E27FC236}">
                  <a16:creationId xmlns:a16="http://schemas.microsoft.com/office/drawing/2014/main" id="{C55AE8FC-FCC1-48CF-980F-D18A6BF08A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56" y="194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5" name="Line 66">
              <a:extLst>
                <a:ext uri="{FF2B5EF4-FFF2-40B4-BE49-F238E27FC236}">
                  <a16:creationId xmlns:a16="http://schemas.microsoft.com/office/drawing/2014/main" id="{ED031AE0-DCFC-43C2-A6CA-2A22AE45D70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28" y="1950"/>
              <a:ext cx="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6" name="Line 67">
              <a:extLst>
                <a:ext uri="{FF2B5EF4-FFF2-40B4-BE49-F238E27FC236}">
                  <a16:creationId xmlns:a16="http://schemas.microsoft.com/office/drawing/2014/main" id="{AC276244-9397-4886-B6EB-794BE66859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16" y="2217"/>
              <a:ext cx="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7" name="Line 68">
              <a:extLst>
                <a:ext uri="{FF2B5EF4-FFF2-40B4-BE49-F238E27FC236}">
                  <a16:creationId xmlns:a16="http://schemas.microsoft.com/office/drawing/2014/main" id="{81DF2399-4C50-4242-B533-EABF043BC46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19" y="2217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8" name="Line 69">
              <a:extLst>
                <a:ext uri="{FF2B5EF4-FFF2-40B4-BE49-F238E27FC236}">
                  <a16:creationId xmlns:a16="http://schemas.microsoft.com/office/drawing/2014/main" id="{70290929-773C-466A-9FA1-D133E129F46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92" y="2369"/>
              <a:ext cx="2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9" name="Line 70">
              <a:extLst>
                <a:ext uri="{FF2B5EF4-FFF2-40B4-BE49-F238E27FC236}">
                  <a16:creationId xmlns:a16="http://schemas.microsoft.com/office/drawing/2014/main" id="{7D59976A-7A5B-438D-9E1F-5FE72758534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2505"/>
              <a:ext cx="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0" name="Line 71">
              <a:extLst>
                <a:ext uri="{FF2B5EF4-FFF2-40B4-BE49-F238E27FC236}">
                  <a16:creationId xmlns:a16="http://schemas.microsoft.com/office/drawing/2014/main" id="{FCFE3116-497C-4B7D-9573-A45C06CACEE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70" y="2505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1" name="Line 72">
              <a:extLst>
                <a:ext uri="{FF2B5EF4-FFF2-40B4-BE49-F238E27FC236}">
                  <a16:creationId xmlns:a16="http://schemas.microsoft.com/office/drawing/2014/main" id="{29A6FC25-085E-4CF8-B13C-32105B6A012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53" y="2657"/>
              <a:ext cx="9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2" name="Line 73">
              <a:extLst>
                <a:ext uri="{FF2B5EF4-FFF2-40B4-BE49-F238E27FC236}">
                  <a16:creationId xmlns:a16="http://schemas.microsoft.com/office/drawing/2014/main" id="{43274AB8-82B1-443F-8680-C948A171E8E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42" y="2508"/>
              <a:ext cx="70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3" name="Line 74">
              <a:extLst>
                <a:ext uri="{FF2B5EF4-FFF2-40B4-BE49-F238E27FC236}">
                  <a16:creationId xmlns:a16="http://schemas.microsoft.com/office/drawing/2014/main" id="{214F147C-590F-4576-B753-06E861CFF5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15" y="2515"/>
              <a:ext cx="6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4" name="Text Box 75">
              <a:extLst>
                <a:ext uri="{FF2B5EF4-FFF2-40B4-BE49-F238E27FC236}">
                  <a16:creationId xmlns:a16="http://schemas.microsoft.com/office/drawing/2014/main" id="{D552851A-0646-42B1-94C6-160409D0DFA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7" y="1937"/>
              <a:ext cx="336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</a:p>
          </p:txBody>
        </p:sp>
        <p:sp>
          <p:nvSpPr>
            <p:cNvPr id="165955" name="Line 76">
              <a:extLst>
                <a:ext uri="{FF2B5EF4-FFF2-40B4-BE49-F238E27FC236}">
                  <a16:creationId xmlns:a16="http://schemas.microsoft.com/office/drawing/2014/main" id="{073EE538-38D2-4B8D-9234-B3495174E75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97" y="1947"/>
              <a:ext cx="172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6" name="Text Box 77">
              <a:extLst>
                <a:ext uri="{FF2B5EF4-FFF2-40B4-BE49-F238E27FC236}">
                  <a16:creationId xmlns:a16="http://schemas.microsoft.com/office/drawing/2014/main" id="{88BC35BE-BC82-4F21-9A99-11A63FC09C5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4" y="2209"/>
              <a:ext cx="44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DT/R</a:t>
              </a:r>
            </a:p>
          </p:txBody>
        </p:sp>
        <p:sp>
          <p:nvSpPr>
            <p:cNvPr id="165957" name="Line 78">
              <a:extLst>
                <a:ext uri="{FF2B5EF4-FFF2-40B4-BE49-F238E27FC236}">
                  <a16:creationId xmlns:a16="http://schemas.microsoft.com/office/drawing/2014/main" id="{C79E8C3B-B5D7-4E16-8345-56FF58A6BB0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86" y="2210"/>
              <a:ext cx="99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8" name="Text Box 79">
              <a:extLst>
                <a:ext uri="{FF2B5EF4-FFF2-40B4-BE49-F238E27FC236}">
                  <a16:creationId xmlns:a16="http://schemas.microsoft.com/office/drawing/2014/main" id="{BA452F19-6F16-4E24-A79C-21436FFAB4D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0" y="2518"/>
              <a:ext cx="38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DEN</a:t>
              </a:r>
            </a:p>
          </p:txBody>
        </p:sp>
        <p:sp>
          <p:nvSpPr>
            <p:cNvPr id="165959" name="Line 80">
              <a:extLst>
                <a:ext uri="{FF2B5EF4-FFF2-40B4-BE49-F238E27FC236}">
                  <a16:creationId xmlns:a16="http://schemas.microsoft.com/office/drawing/2014/main" id="{75E906A8-D9D5-47E3-B88D-712EA1695AD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5" y="2511"/>
              <a:ext cx="311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60" name="Text Box 81">
              <a:extLst>
                <a:ext uri="{FF2B5EF4-FFF2-40B4-BE49-F238E27FC236}">
                  <a16:creationId xmlns:a16="http://schemas.microsoft.com/office/drawing/2014/main" id="{587E947A-0ECC-4EA3-8EA6-BBC7C8EC8F3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8" y="182"/>
              <a:ext cx="44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CLK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65961" name="Text Box 82">
              <a:extLst>
                <a:ext uri="{FF2B5EF4-FFF2-40B4-BE49-F238E27FC236}">
                  <a16:creationId xmlns:a16="http://schemas.microsoft.com/office/drawing/2014/main" id="{7F70AB4F-B551-48C9-9CBC-902BF123024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88" y="783"/>
              <a:ext cx="50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S6 ~ S3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65962" name="组合 121938">
              <a:extLst>
                <a:ext uri="{FF2B5EF4-FFF2-40B4-BE49-F238E27FC236}">
                  <a16:creationId xmlns:a16="http://schemas.microsoft.com/office/drawing/2014/main" id="{7B4CC261-2F68-4135-BF54-C938E75A8B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1056"/>
              <a:ext cx="3429" cy="508"/>
              <a:chOff x="0" y="0"/>
              <a:chExt cx="3429" cy="508"/>
            </a:xfrm>
          </p:grpSpPr>
          <p:sp>
            <p:nvSpPr>
              <p:cNvPr id="165966" name="Text Box 84">
                <a:extLst>
                  <a:ext uri="{FF2B5EF4-FFF2-40B4-BE49-F238E27FC236}">
                    <a16:creationId xmlns:a16="http://schemas.microsoft.com/office/drawing/2014/main" id="{9F869F31-5608-4663-8E8C-A4D02331B5D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373" y="36"/>
                <a:ext cx="581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60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D15 ~D0</a:t>
                </a:r>
              </a:p>
            </p:txBody>
          </p:sp>
          <p:sp>
            <p:nvSpPr>
              <p:cNvPr id="165967" name="Text Box 85">
                <a:extLst>
                  <a:ext uri="{FF2B5EF4-FFF2-40B4-BE49-F238E27FC236}">
                    <a16:creationId xmlns:a16="http://schemas.microsoft.com/office/drawing/2014/main" id="{289781AA-7282-44C3-9920-C11B6501AE8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795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AD15~AD0</a:t>
                </a:r>
                <a:endParaRPr lang="en-US" altLang="zh-CN" sz="1800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5968" name="Line 86">
                <a:extLst>
                  <a:ext uri="{FF2B5EF4-FFF2-40B4-BE49-F238E27FC236}">
                    <a16:creationId xmlns:a16="http://schemas.microsoft.com/office/drawing/2014/main" id="{5D83C05F-52FE-4D86-8316-D438BF5C4E9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21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69" name="Line 87">
                <a:extLst>
                  <a:ext uri="{FF2B5EF4-FFF2-40B4-BE49-F238E27FC236}">
                    <a16:creationId xmlns:a16="http://schemas.microsoft.com/office/drawing/2014/main" id="{78AF6D72-EB2B-4216-BB6E-42CF4EEADD6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169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0" name="Line 88">
                <a:extLst>
                  <a:ext uri="{FF2B5EF4-FFF2-40B4-BE49-F238E27FC236}">
                    <a16:creationId xmlns:a16="http://schemas.microsoft.com/office/drawing/2014/main" id="{EB74C7C3-98BB-4EF2-9EFB-872A2DCF06B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83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1" name="Line 89">
                <a:extLst>
                  <a:ext uri="{FF2B5EF4-FFF2-40B4-BE49-F238E27FC236}">
                    <a16:creationId xmlns:a16="http://schemas.microsoft.com/office/drawing/2014/main" id="{ED825B43-6DC5-4146-AF93-27EC4A953AB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84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2" name="Line 90">
                <a:extLst>
                  <a:ext uri="{FF2B5EF4-FFF2-40B4-BE49-F238E27FC236}">
                    <a16:creationId xmlns:a16="http://schemas.microsoft.com/office/drawing/2014/main" id="{13EB6C5E-D573-4D43-A988-DA232AEC074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51" y="21"/>
                <a:ext cx="5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3" name="Line 91">
                <a:extLst>
                  <a:ext uri="{FF2B5EF4-FFF2-40B4-BE49-F238E27FC236}">
                    <a16:creationId xmlns:a16="http://schemas.microsoft.com/office/drawing/2014/main" id="{DA0C3F56-FACE-4882-AF4E-EEC38EA7B40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4" y="172"/>
                <a:ext cx="5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4" name="Line 92">
                <a:extLst>
                  <a:ext uri="{FF2B5EF4-FFF2-40B4-BE49-F238E27FC236}">
                    <a16:creationId xmlns:a16="http://schemas.microsoft.com/office/drawing/2014/main" id="{4C5E11CE-CA22-4A08-826D-E903014F8DE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79" y="21"/>
                <a:ext cx="39" cy="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5" name="Line 93">
                <a:extLst>
                  <a:ext uri="{FF2B5EF4-FFF2-40B4-BE49-F238E27FC236}">
                    <a16:creationId xmlns:a16="http://schemas.microsoft.com/office/drawing/2014/main" id="{357076DE-73B1-4521-B1E2-F517EC6D488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780" y="99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6" name="Line 94">
                <a:extLst>
                  <a:ext uri="{FF2B5EF4-FFF2-40B4-BE49-F238E27FC236}">
                    <a16:creationId xmlns:a16="http://schemas.microsoft.com/office/drawing/2014/main" id="{2C8AAD43-9710-4C8E-AD1A-DA0E731160F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19" y="99"/>
                <a:ext cx="4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7" name="Line 95">
                <a:extLst>
                  <a:ext uri="{FF2B5EF4-FFF2-40B4-BE49-F238E27FC236}">
                    <a16:creationId xmlns:a16="http://schemas.microsoft.com/office/drawing/2014/main" id="{F9B624EC-58A3-499F-A8E9-A04ADB7DAC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95" y="99"/>
                <a:ext cx="35" cy="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8" name="Line 96">
                <a:extLst>
                  <a:ext uri="{FF2B5EF4-FFF2-40B4-BE49-F238E27FC236}">
                    <a16:creationId xmlns:a16="http://schemas.microsoft.com/office/drawing/2014/main" id="{12CDC08D-21E1-4FE8-8002-3270E687324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93" y="24"/>
                <a:ext cx="37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9" name="Line 97">
                <a:extLst>
                  <a:ext uri="{FF2B5EF4-FFF2-40B4-BE49-F238E27FC236}">
                    <a16:creationId xmlns:a16="http://schemas.microsoft.com/office/drawing/2014/main" id="{7D01DE8E-4413-4162-848C-31AF1A662BA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26" y="25"/>
                <a:ext cx="6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0" name="Line 98">
                <a:extLst>
                  <a:ext uri="{FF2B5EF4-FFF2-40B4-BE49-F238E27FC236}">
                    <a16:creationId xmlns:a16="http://schemas.microsoft.com/office/drawing/2014/main" id="{D0B15081-C086-4759-826E-2ACDE0E97F7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33" y="172"/>
                <a:ext cx="6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1" name="Line 99">
                <a:extLst>
                  <a:ext uri="{FF2B5EF4-FFF2-40B4-BE49-F238E27FC236}">
                    <a16:creationId xmlns:a16="http://schemas.microsoft.com/office/drawing/2014/main" id="{D6A511BF-5FE9-4EFD-8420-9686FFFED76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40" y="25"/>
                <a:ext cx="39" cy="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2" name="Line 100">
                <a:extLst>
                  <a:ext uri="{FF2B5EF4-FFF2-40B4-BE49-F238E27FC236}">
                    <a16:creationId xmlns:a16="http://schemas.microsoft.com/office/drawing/2014/main" id="{CF166689-E0E9-4610-8214-EADF657F181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941" y="104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3" name="Line 101">
                <a:extLst>
                  <a:ext uri="{FF2B5EF4-FFF2-40B4-BE49-F238E27FC236}">
                    <a16:creationId xmlns:a16="http://schemas.microsoft.com/office/drawing/2014/main" id="{B5559CED-320B-44E6-BD7E-50EE8B99C08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79" y="99"/>
                <a:ext cx="45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4" name="Line 102">
                <a:extLst>
                  <a:ext uri="{FF2B5EF4-FFF2-40B4-BE49-F238E27FC236}">
                    <a16:creationId xmlns:a16="http://schemas.microsoft.com/office/drawing/2014/main" id="{A00EDA3C-4D64-4BF4-BD37-2D0B96E1146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451"/>
                <a:ext cx="24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5" name="Line 103">
                <a:extLst>
                  <a:ext uri="{FF2B5EF4-FFF2-40B4-BE49-F238E27FC236}">
                    <a16:creationId xmlns:a16="http://schemas.microsoft.com/office/drawing/2014/main" id="{13CB1FF7-B926-4371-AFFF-51CB663D29E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49" y="303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6" name="Line 104">
                <a:extLst>
                  <a:ext uri="{FF2B5EF4-FFF2-40B4-BE49-F238E27FC236}">
                    <a16:creationId xmlns:a16="http://schemas.microsoft.com/office/drawing/2014/main" id="{6A2F1190-927F-4C5A-845F-24E0B53D007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25" y="310"/>
                <a:ext cx="3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7" name="Line 105">
                <a:extLst>
                  <a:ext uri="{FF2B5EF4-FFF2-40B4-BE49-F238E27FC236}">
                    <a16:creationId xmlns:a16="http://schemas.microsoft.com/office/drawing/2014/main" id="{AD8711BE-84AC-4BC9-A8CC-9D995950B81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65" y="310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8" name="Line 106">
                <a:extLst>
                  <a:ext uri="{FF2B5EF4-FFF2-40B4-BE49-F238E27FC236}">
                    <a16:creationId xmlns:a16="http://schemas.microsoft.com/office/drawing/2014/main" id="{E216DA11-C633-4646-A144-F523D0BB2AD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28" y="457"/>
                <a:ext cx="19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9" name="Text Box 107">
                <a:extLst>
                  <a:ext uri="{FF2B5EF4-FFF2-40B4-BE49-F238E27FC236}">
                    <a16:creationId xmlns:a16="http://schemas.microsoft.com/office/drawing/2014/main" id="{F48A2D6B-7081-4F66-8B68-811C813523E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8" y="313"/>
                <a:ext cx="447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ALE</a:t>
                </a:r>
              </a:p>
            </p:txBody>
          </p:sp>
          <p:sp>
            <p:nvSpPr>
              <p:cNvPr id="165990" name="Text Box 108">
                <a:extLst>
                  <a:ext uri="{FF2B5EF4-FFF2-40B4-BE49-F238E27FC236}">
                    <a16:creationId xmlns:a16="http://schemas.microsoft.com/office/drawing/2014/main" id="{16B0F707-C5AD-430E-8361-F384053C395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64" y="31"/>
                <a:ext cx="581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A15 ~ A0</a:t>
                </a:r>
                <a:endParaRPr lang="en-US" altLang="zh-CN" sz="1800">
                  <a:solidFill>
                    <a:srgbClr val="3333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5963" name="Line 109">
              <a:extLst>
                <a:ext uri="{FF2B5EF4-FFF2-40B4-BE49-F238E27FC236}">
                  <a16:creationId xmlns:a16="http://schemas.microsoft.com/office/drawing/2014/main" id="{AB97F838-7E30-4D7C-9F3F-E6D5E9814CC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5" y="576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64" name="Line 110">
              <a:extLst>
                <a:ext uri="{FF2B5EF4-FFF2-40B4-BE49-F238E27FC236}">
                  <a16:creationId xmlns:a16="http://schemas.microsoft.com/office/drawing/2014/main" id="{8B502917-FAC7-4F5B-A66D-0EF85B23C5C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8100000" flipH="1">
              <a:off x="1152" y="430"/>
              <a:ext cx="0" cy="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65" name="Line 111">
              <a:extLst>
                <a:ext uri="{FF2B5EF4-FFF2-40B4-BE49-F238E27FC236}">
                  <a16:creationId xmlns:a16="http://schemas.microsoft.com/office/drawing/2014/main" id="{B851CCD2-6524-4D5F-AE46-19A7EA3157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 flipH="1">
              <a:off x="1121" y="439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1968" name="矩形 121967">
            <a:extLst>
              <a:ext uri="{FF2B5EF4-FFF2-40B4-BE49-F238E27FC236}">
                <a16:creationId xmlns:a16="http://schemas.microsoft.com/office/drawing/2014/main" id="{857FAA65-336C-41DE-9E4A-64804AB0A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052513"/>
            <a:ext cx="2087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6600"/>
                </a:solidFill>
                <a:latin typeface="Garamond" panose="02020404030301010803" pitchFamily="18" charset="0"/>
              </a:rPr>
              <a:t>在</a:t>
            </a:r>
            <a:r>
              <a:rPr lang="en-US" altLang="zh-CN">
                <a:solidFill>
                  <a:srgbClr val="FF6600"/>
                </a:solidFill>
                <a:latin typeface="Garamond" panose="02020404030301010803" pitchFamily="18" charset="0"/>
              </a:rPr>
              <a:t>T2</a:t>
            </a:r>
            <a:r>
              <a:rPr lang="zh-CN" altLang="en-US">
                <a:solidFill>
                  <a:srgbClr val="FF6600"/>
                </a:solidFill>
                <a:latin typeface="Garamond" panose="02020404030301010803" pitchFamily="18" charset="0"/>
              </a:rPr>
              <a:t>周期：</a:t>
            </a:r>
          </a:p>
        </p:txBody>
      </p:sp>
      <p:sp>
        <p:nvSpPr>
          <p:cNvPr id="117872" name="灯片编号占位符 1">
            <a:extLst>
              <a:ext uri="{FF2B5EF4-FFF2-40B4-BE49-F238E27FC236}">
                <a16:creationId xmlns:a16="http://schemas.microsoft.com/office/drawing/2014/main" id="{15F25CCA-DDA1-40F4-A8BD-6AEF9B40CA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079C976-56AB-4D76-B0D8-3BC48735B933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108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219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8" grpId="0" build="p"/>
      <p:bldP spid="121968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>
            <a:extLst>
              <a:ext uri="{FF2B5EF4-FFF2-40B4-BE49-F238E27FC236}">
                <a16:creationId xmlns:a16="http://schemas.microsoft.com/office/drawing/2014/main" id="{3CED648A-C7E2-48E9-97C8-849F58110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878513"/>
            <a:ext cx="663575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DS=3000H, BX=500CH, (3500CH)=9AH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07422177-0B56-4D94-8AD0-4DE0102E9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133600"/>
            <a:ext cx="32766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9.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AD7~AD0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上出现数据信号: 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10011010B，即9AH</a:t>
            </a:r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35E3F41C-0B7A-46CC-BECF-9BAF6990724A}"/>
              </a:ext>
            </a:extLst>
          </p:cNvPr>
          <p:cNvSpPr>
            <a:spLocks noGrp="1" noRot="1"/>
          </p:cNvSpPr>
          <p:nvPr>
            <p:ph type="title" idx="4294967295"/>
          </p:nvPr>
        </p:nvSpPr>
        <p:spPr>
          <a:xfrm>
            <a:off x="457200" y="276225"/>
            <a:ext cx="8229600" cy="633413"/>
          </a:xfrm>
        </p:spPr>
        <p:txBody>
          <a:bodyPr/>
          <a:lstStyle/>
          <a:p>
            <a:pPr eaLnBrk="1" hangingPunct="1">
              <a:buClr>
                <a:srgbClr val="000000"/>
              </a:buClr>
              <a:defRPr/>
            </a:pP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执行指令</a:t>
            </a:r>
            <a:r>
              <a:rPr lang="en-US" altLang="zh-CN" sz="3200" b="1" noProof="1">
                <a:latin typeface="仿宋" panose="02010609060101010101" charset="-122"/>
                <a:ea typeface="仿宋" panose="02010609060101010101" charset="-122"/>
              </a:rPr>
              <a:t>MOV  AL,[BX]</a:t>
            </a: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的时序</a:t>
            </a:r>
            <a:endParaRPr lang="zh-CN" altLang="en-US" sz="3200" b="1" noProof="1">
              <a:effectLst>
                <a:outerShdw blurRad="38100" dist="38100" dir="2700000">
                  <a:srgbClr val="C0C0C0"/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166917" name="组合 122884">
            <a:extLst>
              <a:ext uri="{FF2B5EF4-FFF2-40B4-BE49-F238E27FC236}">
                <a16:creationId xmlns:a16="http://schemas.microsoft.com/office/drawing/2014/main" id="{545C7646-8C26-4989-8346-8764D8E7921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1412875"/>
            <a:ext cx="5638800" cy="4267200"/>
            <a:chOff x="0" y="0"/>
            <a:chExt cx="3552" cy="2688"/>
          </a:xfrm>
        </p:grpSpPr>
        <p:sp>
          <p:nvSpPr>
            <p:cNvPr id="166921" name="Text Box 6">
              <a:extLst>
                <a:ext uri="{FF2B5EF4-FFF2-40B4-BE49-F238E27FC236}">
                  <a16:creationId xmlns:a16="http://schemas.microsoft.com/office/drawing/2014/main" id="{FB222067-8FEB-4C39-B984-AC0ADEACEB2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25" y="773"/>
              <a:ext cx="58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rgbClr val="3333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>
                  <a:latin typeface="Times New Roman" panose="02020603050405020304" pitchFamily="18" charset="0"/>
                </a:rPr>
                <a:t>A19~A16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6922" name="Line 7">
              <a:extLst>
                <a:ext uri="{FF2B5EF4-FFF2-40B4-BE49-F238E27FC236}">
                  <a16:creationId xmlns:a16="http://schemas.microsoft.com/office/drawing/2014/main" id="{05F29864-07E6-4DEF-AED8-8E5C69A61A0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88" y="12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23" name="Line 8">
              <a:extLst>
                <a:ext uri="{FF2B5EF4-FFF2-40B4-BE49-F238E27FC236}">
                  <a16:creationId xmlns:a16="http://schemas.microsoft.com/office/drawing/2014/main" id="{3DA11014-232A-4E83-A61D-7870B78ED0B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7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24" name="Line 9">
              <a:extLst>
                <a:ext uri="{FF2B5EF4-FFF2-40B4-BE49-F238E27FC236}">
                  <a16:creationId xmlns:a16="http://schemas.microsoft.com/office/drawing/2014/main" id="{4D9B0AFA-2F69-4100-B964-B1434757CB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63" y="18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25" name="Line 10">
              <a:extLst>
                <a:ext uri="{FF2B5EF4-FFF2-40B4-BE49-F238E27FC236}">
                  <a16:creationId xmlns:a16="http://schemas.microsoft.com/office/drawing/2014/main" id="{255A12A4-9C37-4234-9FBA-56C3475BF4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5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26" name="Line 11">
              <a:extLst>
                <a:ext uri="{FF2B5EF4-FFF2-40B4-BE49-F238E27FC236}">
                  <a16:creationId xmlns:a16="http://schemas.microsoft.com/office/drawing/2014/main" id="{89F6207B-EA8A-4DB3-8D1B-A9FA166F3F3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2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27" name="Text Box 12">
              <a:extLst>
                <a:ext uri="{FF2B5EF4-FFF2-40B4-BE49-F238E27FC236}">
                  <a16:creationId xmlns:a16="http://schemas.microsoft.com/office/drawing/2014/main" id="{74A09943-38C8-420F-B8FB-7C5F4F2C3E7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7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T1</a:t>
              </a:r>
            </a:p>
          </p:txBody>
        </p:sp>
        <p:sp>
          <p:nvSpPr>
            <p:cNvPr id="166928" name="Text Box 13">
              <a:extLst>
                <a:ext uri="{FF2B5EF4-FFF2-40B4-BE49-F238E27FC236}">
                  <a16:creationId xmlns:a16="http://schemas.microsoft.com/office/drawing/2014/main" id="{D4799601-BBD6-4141-9853-996902E5000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0" y="0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166929" name="Text Box 14">
              <a:extLst>
                <a:ext uri="{FF2B5EF4-FFF2-40B4-BE49-F238E27FC236}">
                  <a16:creationId xmlns:a16="http://schemas.microsoft.com/office/drawing/2014/main" id="{A0C19E3E-48EA-43CF-B4AF-08094072F6E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49" y="2"/>
              <a:ext cx="19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T3</a:t>
              </a:r>
            </a:p>
          </p:txBody>
        </p:sp>
        <p:sp>
          <p:nvSpPr>
            <p:cNvPr id="166930" name="Text Box 15">
              <a:extLst>
                <a:ext uri="{FF2B5EF4-FFF2-40B4-BE49-F238E27FC236}">
                  <a16:creationId xmlns:a16="http://schemas.microsoft.com/office/drawing/2014/main" id="{9DB10C2F-D74A-4649-935A-76BD49A3EF7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18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T4</a:t>
              </a:r>
            </a:p>
          </p:txBody>
        </p:sp>
        <p:sp>
          <p:nvSpPr>
            <p:cNvPr id="166931" name="Line 16">
              <a:extLst>
                <a:ext uri="{FF2B5EF4-FFF2-40B4-BE49-F238E27FC236}">
                  <a16:creationId xmlns:a16="http://schemas.microsoft.com/office/drawing/2014/main" id="{34263B3A-1760-4C95-8179-BDB5EFADA3E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2" name="Line 17">
              <a:extLst>
                <a:ext uri="{FF2B5EF4-FFF2-40B4-BE49-F238E27FC236}">
                  <a16:creationId xmlns:a16="http://schemas.microsoft.com/office/drawing/2014/main" id="{D6FC6EF7-B1FE-473C-B6B4-7444C3ACC4A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0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3" name="Line 18">
              <a:extLst>
                <a:ext uri="{FF2B5EF4-FFF2-40B4-BE49-F238E27FC236}">
                  <a16:creationId xmlns:a16="http://schemas.microsoft.com/office/drawing/2014/main" id="{684C6DEE-4929-4DCB-AAF4-95AE66553D5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74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4" name="Line 19">
              <a:extLst>
                <a:ext uri="{FF2B5EF4-FFF2-40B4-BE49-F238E27FC236}">
                  <a16:creationId xmlns:a16="http://schemas.microsoft.com/office/drawing/2014/main" id="{30199FD6-33F8-44FF-ACB0-29A6BD64AFA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82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5" name="Line 20">
              <a:extLst>
                <a:ext uri="{FF2B5EF4-FFF2-40B4-BE49-F238E27FC236}">
                  <a16:creationId xmlns:a16="http://schemas.microsoft.com/office/drawing/2014/main" id="{99A42695-B9E8-45A7-AEE0-AE57079A46F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51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6" name="Line 21">
              <a:extLst>
                <a:ext uri="{FF2B5EF4-FFF2-40B4-BE49-F238E27FC236}">
                  <a16:creationId xmlns:a16="http://schemas.microsoft.com/office/drawing/2014/main" id="{F18DA001-DF55-4A14-8B0F-1BC43A7C20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58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7" name="Line 22">
              <a:extLst>
                <a:ext uri="{FF2B5EF4-FFF2-40B4-BE49-F238E27FC236}">
                  <a16:creationId xmlns:a16="http://schemas.microsoft.com/office/drawing/2014/main" id="{FA0B0FBF-9050-420E-B688-8EECC610A0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7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8" name="Line 23">
              <a:extLst>
                <a:ext uri="{FF2B5EF4-FFF2-40B4-BE49-F238E27FC236}">
                  <a16:creationId xmlns:a16="http://schemas.microsoft.com/office/drawing/2014/main" id="{8290E504-A011-451F-AEE5-4AA8BB266E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3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9" name="Line 24">
              <a:extLst>
                <a:ext uri="{FF2B5EF4-FFF2-40B4-BE49-F238E27FC236}">
                  <a16:creationId xmlns:a16="http://schemas.microsoft.com/office/drawing/2014/main" id="{624A3F44-C2F3-433F-8EB8-5B11E8E7E7E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04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0" name="Line 25">
              <a:extLst>
                <a:ext uri="{FF2B5EF4-FFF2-40B4-BE49-F238E27FC236}">
                  <a16:creationId xmlns:a16="http://schemas.microsoft.com/office/drawing/2014/main" id="{297EA3E8-AB02-461B-9DBC-A557EAF41D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1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1" name="Line 26">
              <a:extLst>
                <a:ext uri="{FF2B5EF4-FFF2-40B4-BE49-F238E27FC236}">
                  <a16:creationId xmlns:a16="http://schemas.microsoft.com/office/drawing/2014/main" id="{7A09D8C9-2B0D-4454-958A-2841BF9621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80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2" name="Line 27">
              <a:extLst>
                <a:ext uri="{FF2B5EF4-FFF2-40B4-BE49-F238E27FC236}">
                  <a16:creationId xmlns:a16="http://schemas.microsoft.com/office/drawing/2014/main" id="{C959B062-C7F9-4AA5-9FED-5DF79FBC02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387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3" name="Line 28">
              <a:extLst>
                <a:ext uri="{FF2B5EF4-FFF2-40B4-BE49-F238E27FC236}">
                  <a16:creationId xmlns:a16="http://schemas.microsoft.com/office/drawing/2014/main" id="{B1FC8F0F-2E08-4C80-99D5-59176EAAEA3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5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4" name="Line 29">
              <a:extLst>
                <a:ext uri="{FF2B5EF4-FFF2-40B4-BE49-F238E27FC236}">
                  <a16:creationId xmlns:a16="http://schemas.microsoft.com/office/drawing/2014/main" id="{D4DAA04A-0B11-400D-BD91-CEBA45F1FE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60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5" name="Line 30">
              <a:extLst>
                <a:ext uri="{FF2B5EF4-FFF2-40B4-BE49-F238E27FC236}">
                  <a16:creationId xmlns:a16="http://schemas.microsoft.com/office/drawing/2014/main" id="{60AA63EC-A95B-4B72-81D7-5D1F5E449A8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37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6" name="Line 31">
              <a:extLst>
                <a:ext uri="{FF2B5EF4-FFF2-40B4-BE49-F238E27FC236}">
                  <a16:creationId xmlns:a16="http://schemas.microsoft.com/office/drawing/2014/main" id="{1B796D54-9142-4D6A-9821-2CB6675BDA9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06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7" name="Line 32">
              <a:extLst>
                <a:ext uri="{FF2B5EF4-FFF2-40B4-BE49-F238E27FC236}">
                  <a16:creationId xmlns:a16="http://schemas.microsoft.com/office/drawing/2014/main" id="{08619F81-624C-48DC-A8E6-6C1E0DF3D9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3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8" name="Line 33">
              <a:extLst>
                <a:ext uri="{FF2B5EF4-FFF2-40B4-BE49-F238E27FC236}">
                  <a16:creationId xmlns:a16="http://schemas.microsoft.com/office/drawing/2014/main" id="{DE9B3E46-A11C-4FE1-8953-7CEDEA2C540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83" y="166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9" name="Text Box 34">
              <a:extLst>
                <a:ext uri="{FF2B5EF4-FFF2-40B4-BE49-F238E27FC236}">
                  <a16:creationId xmlns:a16="http://schemas.microsoft.com/office/drawing/2014/main" id="{551E9306-556F-4F5C-9C70-E2509BB19F7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9" y="691"/>
              <a:ext cx="66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A19~A16</a:t>
              </a:r>
            </a:p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/S6~S3</a:t>
              </a:r>
              <a:endParaRPr lang="en-US" altLang="zh-CN" sz="1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6950" name="Text Box 35">
              <a:extLst>
                <a:ext uri="{FF2B5EF4-FFF2-40B4-BE49-F238E27FC236}">
                  <a16:creationId xmlns:a16="http://schemas.microsoft.com/office/drawing/2014/main" id="{C7161C8E-4DDD-4D49-BD61-700C9748780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8" y="459"/>
              <a:ext cx="4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M</a:t>
              </a:r>
              <a:r>
                <a:rPr lang="en-US" altLang="zh-CN" sz="2000">
                  <a:latin typeface="宋体" panose="02010600030101010101" pitchFamily="2" charset="-122"/>
                </a:rPr>
                <a:t>/</a:t>
              </a:r>
              <a:r>
                <a:rPr lang="en-US" altLang="zh-CN" sz="2000">
                  <a:latin typeface="Times New Roman" panose="02020603050405020304" pitchFamily="18" charset="0"/>
                </a:rPr>
                <a:t>IO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66951" name="Line 36">
              <a:extLst>
                <a:ext uri="{FF2B5EF4-FFF2-40B4-BE49-F238E27FC236}">
                  <a16:creationId xmlns:a16="http://schemas.microsoft.com/office/drawing/2014/main" id="{1CB31100-8FCF-4830-98EC-41775DF74B0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7" y="461"/>
              <a:ext cx="125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52" name="Line 37">
              <a:extLst>
                <a:ext uri="{FF2B5EF4-FFF2-40B4-BE49-F238E27FC236}">
                  <a16:creationId xmlns:a16="http://schemas.microsoft.com/office/drawing/2014/main" id="{D9DB5397-DB43-4E4E-BBFB-542C8249913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29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53" name="Line 38">
              <a:extLst>
                <a:ext uri="{FF2B5EF4-FFF2-40B4-BE49-F238E27FC236}">
                  <a16:creationId xmlns:a16="http://schemas.microsoft.com/office/drawing/2014/main" id="{9A17EFCA-0F2F-4873-BB04-8B81BB89C5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82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54" name="Line 39">
              <a:extLst>
                <a:ext uri="{FF2B5EF4-FFF2-40B4-BE49-F238E27FC236}">
                  <a16:creationId xmlns:a16="http://schemas.microsoft.com/office/drawing/2014/main" id="{1DEC1B02-B0F8-4C8C-A393-C90EF0B865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464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55" name="Line 40">
              <a:extLst>
                <a:ext uri="{FF2B5EF4-FFF2-40B4-BE49-F238E27FC236}">
                  <a16:creationId xmlns:a16="http://schemas.microsoft.com/office/drawing/2014/main" id="{127EE7D9-2D24-49BE-AB0D-AEB81173D0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83" y="476"/>
              <a:ext cx="2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56" name="Line 41">
              <a:extLst>
                <a:ext uri="{FF2B5EF4-FFF2-40B4-BE49-F238E27FC236}">
                  <a16:creationId xmlns:a16="http://schemas.microsoft.com/office/drawing/2014/main" id="{F27A49FB-D14A-4BA8-AAA9-5A707412879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768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57" name="Line 42">
              <a:extLst>
                <a:ext uri="{FF2B5EF4-FFF2-40B4-BE49-F238E27FC236}">
                  <a16:creationId xmlns:a16="http://schemas.microsoft.com/office/drawing/2014/main" id="{119B1122-A7BA-4BEC-92AB-43637EA386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916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6958" name="组合 122922">
              <a:extLst>
                <a:ext uri="{FF2B5EF4-FFF2-40B4-BE49-F238E27FC236}">
                  <a16:creationId xmlns:a16="http://schemas.microsoft.com/office/drawing/2014/main" id="{24844D75-3AE6-44DE-80EA-7FA7667A40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76" y="768"/>
              <a:ext cx="70" cy="148"/>
              <a:chOff x="0" y="0"/>
              <a:chExt cx="212" cy="567"/>
            </a:xfrm>
          </p:grpSpPr>
          <p:sp>
            <p:nvSpPr>
              <p:cNvPr id="167024" name="Line 44">
                <a:extLst>
                  <a:ext uri="{FF2B5EF4-FFF2-40B4-BE49-F238E27FC236}">
                    <a16:creationId xmlns:a16="http://schemas.microsoft.com/office/drawing/2014/main" id="{27DAFF2A-61EF-4E7E-B045-20EA25C14A6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25" name="Line 45">
                <a:extLst>
                  <a:ext uri="{FF2B5EF4-FFF2-40B4-BE49-F238E27FC236}">
                    <a16:creationId xmlns:a16="http://schemas.microsoft.com/office/drawing/2014/main" id="{D1BAB20F-8A2A-4F81-9FBE-31E216EF9E5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6959" name="Line 46">
              <a:extLst>
                <a:ext uri="{FF2B5EF4-FFF2-40B4-BE49-F238E27FC236}">
                  <a16:creationId xmlns:a16="http://schemas.microsoft.com/office/drawing/2014/main" id="{C694F8FC-733F-426F-8D77-BDB8318C2C4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4" y="768"/>
              <a:ext cx="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60" name="Line 47">
              <a:extLst>
                <a:ext uri="{FF2B5EF4-FFF2-40B4-BE49-F238E27FC236}">
                  <a16:creationId xmlns:a16="http://schemas.microsoft.com/office/drawing/2014/main" id="{9A71F2FD-B88E-4EDC-914B-A72CEDD695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57" y="919"/>
              <a:ext cx="5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6961" name="组合 122927">
              <a:extLst>
                <a:ext uri="{FF2B5EF4-FFF2-40B4-BE49-F238E27FC236}">
                  <a16:creationId xmlns:a16="http://schemas.microsoft.com/office/drawing/2014/main" id="{A296BC9A-4184-484E-A4D3-0B9FE26C55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72" y="768"/>
              <a:ext cx="70" cy="148"/>
              <a:chOff x="0" y="0"/>
              <a:chExt cx="212" cy="567"/>
            </a:xfrm>
          </p:grpSpPr>
          <p:sp>
            <p:nvSpPr>
              <p:cNvPr id="167022" name="Line 49">
                <a:extLst>
                  <a:ext uri="{FF2B5EF4-FFF2-40B4-BE49-F238E27FC236}">
                    <a16:creationId xmlns:a16="http://schemas.microsoft.com/office/drawing/2014/main" id="{C27C6DBA-64F2-4EA7-A2AB-412021EDF92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23" name="Line 50">
                <a:extLst>
                  <a:ext uri="{FF2B5EF4-FFF2-40B4-BE49-F238E27FC236}">
                    <a16:creationId xmlns:a16="http://schemas.microsoft.com/office/drawing/2014/main" id="{B4B3A0AE-E9C8-44F2-9E44-150DB6E0AC3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6962" name="Line 51">
              <a:extLst>
                <a:ext uri="{FF2B5EF4-FFF2-40B4-BE49-F238E27FC236}">
                  <a16:creationId xmlns:a16="http://schemas.microsoft.com/office/drawing/2014/main" id="{ABEEC7E4-82BE-45EC-8370-6B4A2A79BF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51" y="768"/>
              <a:ext cx="1623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63" name="Line 52">
              <a:extLst>
                <a:ext uri="{FF2B5EF4-FFF2-40B4-BE49-F238E27FC236}">
                  <a16:creationId xmlns:a16="http://schemas.microsoft.com/office/drawing/2014/main" id="{14BCDA68-16AB-46C7-8D4A-E7AA82A8E1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45" y="914"/>
              <a:ext cx="1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6964" name="组合 122932">
              <a:extLst>
                <a:ext uri="{FF2B5EF4-FFF2-40B4-BE49-F238E27FC236}">
                  <a16:creationId xmlns:a16="http://schemas.microsoft.com/office/drawing/2014/main" id="{72E32715-B1E9-40ED-A329-942819BBCA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9" y="1618"/>
              <a:ext cx="3335" cy="158"/>
              <a:chOff x="0" y="0"/>
              <a:chExt cx="3335" cy="158"/>
            </a:xfrm>
          </p:grpSpPr>
          <p:sp>
            <p:nvSpPr>
              <p:cNvPr id="167015" name="Text Box 54">
                <a:extLst>
                  <a:ext uri="{FF2B5EF4-FFF2-40B4-BE49-F238E27FC236}">
                    <a16:creationId xmlns:a16="http://schemas.microsoft.com/office/drawing/2014/main" id="{772273FD-3E2D-4B93-965D-88888008047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614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A19~A0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7016" name="Line 55">
                <a:extLst>
                  <a:ext uri="{FF2B5EF4-FFF2-40B4-BE49-F238E27FC236}">
                    <a16:creationId xmlns:a16="http://schemas.microsoft.com/office/drawing/2014/main" id="{F8A3D95A-EF0F-4E1E-A9C9-6FC0CB0EDA1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0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7" name="Line 56">
                <a:extLst>
                  <a:ext uri="{FF2B5EF4-FFF2-40B4-BE49-F238E27FC236}">
                    <a16:creationId xmlns:a16="http://schemas.microsoft.com/office/drawing/2014/main" id="{8DE058AD-B60B-4E3E-838A-398E778B542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148"/>
                <a:ext cx="374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8" name="Line 57">
                <a:extLst>
                  <a:ext uri="{FF2B5EF4-FFF2-40B4-BE49-F238E27FC236}">
                    <a16:creationId xmlns:a16="http://schemas.microsoft.com/office/drawing/2014/main" id="{BAF5CB6A-E9E5-4C3A-9066-67178710D4A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32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9" name="Line 58">
                <a:extLst>
                  <a:ext uri="{FF2B5EF4-FFF2-40B4-BE49-F238E27FC236}">
                    <a16:creationId xmlns:a16="http://schemas.microsoft.com/office/drawing/2014/main" id="{C445C3ED-BC70-42D9-B0C1-8EB3F8B2C52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33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20" name="Line 59">
                <a:extLst>
                  <a:ext uri="{FF2B5EF4-FFF2-40B4-BE49-F238E27FC236}">
                    <a16:creationId xmlns:a16="http://schemas.microsoft.com/office/drawing/2014/main" id="{91BE35F4-458B-41B4-B951-D40D18AA8C5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00" y="0"/>
                <a:ext cx="2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21" name="Line 60">
                <a:extLst>
                  <a:ext uri="{FF2B5EF4-FFF2-40B4-BE49-F238E27FC236}">
                    <a16:creationId xmlns:a16="http://schemas.microsoft.com/office/drawing/2014/main" id="{AEDA9442-2C98-4D96-BF80-ADFEFAD2845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02" y="147"/>
                <a:ext cx="223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6965" name="Line 61">
              <a:extLst>
                <a:ext uri="{FF2B5EF4-FFF2-40B4-BE49-F238E27FC236}">
                  <a16:creationId xmlns:a16="http://schemas.microsoft.com/office/drawing/2014/main" id="{18A0F86C-082B-4987-A02E-3548817225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2" y="1940"/>
              <a:ext cx="8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66" name="Line 62">
              <a:extLst>
                <a:ext uri="{FF2B5EF4-FFF2-40B4-BE49-F238E27FC236}">
                  <a16:creationId xmlns:a16="http://schemas.microsoft.com/office/drawing/2014/main" id="{C862B7DC-5258-4748-8B87-642E4C7B49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0" y="1940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67" name="Line 63">
              <a:extLst>
                <a:ext uri="{FF2B5EF4-FFF2-40B4-BE49-F238E27FC236}">
                  <a16:creationId xmlns:a16="http://schemas.microsoft.com/office/drawing/2014/main" id="{9D1829CB-6531-4BA6-A379-F1AE4D50A1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94" y="2091"/>
              <a:ext cx="10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68" name="Line 64">
              <a:extLst>
                <a:ext uri="{FF2B5EF4-FFF2-40B4-BE49-F238E27FC236}">
                  <a16:creationId xmlns:a16="http://schemas.microsoft.com/office/drawing/2014/main" id="{500C4E3D-ED9E-4ED5-B890-3B455CCAA8E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56" y="194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69" name="Line 65">
              <a:extLst>
                <a:ext uri="{FF2B5EF4-FFF2-40B4-BE49-F238E27FC236}">
                  <a16:creationId xmlns:a16="http://schemas.microsoft.com/office/drawing/2014/main" id="{2C5CE8D8-E3F3-425E-93BD-0C1873D5B48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28" y="1950"/>
              <a:ext cx="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0" name="Line 66">
              <a:extLst>
                <a:ext uri="{FF2B5EF4-FFF2-40B4-BE49-F238E27FC236}">
                  <a16:creationId xmlns:a16="http://schemas.microsoft.com/office/drawing/2014/main" id="{D6DC0AA0-CE14-491F-848B-FC5BC9450D7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16" y="2217"/>
              <a:ext cx="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1" name="Line 67">
              <a:extLst>
                <a:ext uri="{FF2B5EF4-FFF2-40B4-BE49-F238E27FC236}">
                  <a16:creationId xmlns:a16="http://schemas.microsoft.com/office/drawing/2014/main" id="{70A61255-CB91-4B25-BC92-97F5F0A5DD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19" y="2217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2" name="Line 68">
              <a:extLst>
                <a:ext uri="{FF2B5EF4-FFF2-40B4-BE49-F238E27FC236}">
                  <a16:creationId xmlns:a16="http://schemas.microsoft.com/office/drawing/2014/main" id="{51D037FA-5930-416F-94CB-6A38DCAA63C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92" y="2369"/>
              <a:ext cx="2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3" name="Line 69">
              <a:extLst>
                <a:ext uri="{FF2B5EF4-FFF2-40B4-BE49-F238E27FC236}">
                  <a16:creationId xmlns:a16="http://schemas.microsoft.com/office/drawing/2014/main" id="{CA4CDC22-8534-4179-99E0-8BA2C1F9B52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2505"/>
              <a:ext cx="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4" name="Line 70">
              <a:extLst>
                <a:ext uri="{FF2B5EF4-FFF2-40B4-BE49-F238E27FC236}">
                  <a16:creationId xmlns:a16="http://schemas.microsoft.com/office/drawing/2014/main" id="{2EB82E26-07FC-48ED-8D53-6DF205C666E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70" y="2505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5" name="Line 71">
              <a:extLst>
                <a:ext uri="{FF2B5EF4-FFF2-40B4-BE49-F238E27FC236}">
                  <a16:creationId xmlns:a16="http://schemas.microsoft.com/office/drawing/2014/main" id="{B28FF5C0-FEBA-4186-BCC5-A864AB45A78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53" y="2657"/>
              <a:ext cx="9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6" name="Line 72">
              <a:extLst>
                <a:ext uri="{FF2B5EF4-FFF2-40B4-BE49-F238E27FC236}">
                  <a16:creationId xmlns:a16="http://schemas.microsoft.com/office/drawing/2014/main" id="{644BAC62-6CAE-42FB-BB49-A5D8CDB8091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42" y="2508"/>
              <a:ext cx="70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7" name="Line 73">
              <a:extLst>
                <a:ext uri="{FF2B5EF4-FFF2-40B4-BE49-F238E27FC236}">
                  <a16:creationId xmlns:a16="http://schemas.microsoft.com/office/drawing/2014/main" id="{758FE793-2E6E-45A9-B0ED-7DF4208D321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15" y="2515"/>
              <a:ext cx="6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8" name="Text Box 74">
              <a:extLst>
                <a:ext uri="{FF2B5EF4-FFF2-40B4-BE49-F238E27FC236}">
                  <a16:creationId xmlns:a16="http://schemas.microsoft.com/office/drawing/2014/main" id="{9F707341-94AC-47FC-84D5-813878648EE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7" y="1937"/>
              <a:ext cx="336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</a:p>
          </p:txBody>
        </p:sp>
        <p:sp>
          <p:nvSpPr>
            <p:cNvPr id="166979" name="Line 75">
              <a:extLst>
                <a:ext uri="{FF2B5EF4-FFF2-40B4-BE49-F238E27FC236}">
                  <a16:creationId xmlns:a16="http://schemas.microsoft.com/office/drawing/2014/main" id="{5BDD0222-0223-4494-9B5C-54674975E3E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97" y="1947"/>
              <a:ext cx="172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80" name="Text Box 76">
              <a:extLst>
                <a:ext uri="{FF2B5EF4-FFF2-40B4-BE49-F238E27FC236}">
                  <a16:creationId xmlns:a16="http://schemas.microsoft.com/office/drawing/2014/main" id="{DB3982E0-85A3-4AE4-B7CA-8E8AE2E75A5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4" y="2209"/>
              <a:ext cx="44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DT/R</a:t>
              </a:r>
            </a:p>
          </p:txBody>
        </p:sp>
        <p:sp>
          <p:nvSpPr>
            <p:cNvPr id="166981" name="Line 77">
              <a:extLst>
                <a:ext uri="{FF2B5EF4-FFF2-40B4-BE49-F238E27FC236}">
                  <a16:creationId xmlns:a16="http://schemas.microsoft.com/office/drawing/2014/main" id="{527F445C-47A3-49AB-A835-B7015AE6F32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86" y="2210"/>
              <a:ext cx="99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82" name="Text Box 78">
              <a:extLst>
                <a:ext uri="{FF2B5EF4-FFF2-40B4-BE49-F238E27FC236}">
                  <a16:creationId xmlns:a16="http://schemas.microsoft.com/office/drawing/2014/main" id="{B9C9B082-9669-4821-B258-2EA3EF3CD93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0" y="2518"/>
              <a:ext cx="38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DEN</a:t>
              </a:r>
            </a:p>
          </p:txBody>
        </p:sp>
        <p:sp>
          <p:nvSpPr>
            <p:cNvPr id="166983" name="Line 79">
              <a:extLst>
                <a:ext uri="{FF2B5EF4-FFF2-40B4-BE49-F238E27FC236}">
                  <a16:creationId xmlns:a16="http://schemas.microsoft.com/office/drawing/2014/main" id="{873F2BB4-9BEC-41BD-8B92-60E445B22E9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5" y="2511"/>
              <a:ext cx="311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84" name="Text Box 80">
              <a:extLst>
                <a:ext uri="{FF2B5EF4-FFF2-40B4-BE49-F238E27FC236}">
                  <a16:creationId xmlns:a16="http://schemas.microsoft.com/office/drawing/2014/main" id="{FC1A16E5-D7FA-4627-B9AB-D04443AEDFF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8" y="182"/>
              <a:ext cx="44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CLK</a:t>
              </a:r>
            </a:p>
          </p:txBody>
        </p:sp>
        <p:sp>
          <p:nvSpPr>
            <p:cNvPr id="166985" name="Text Box 81">
              <a:extLst>
                <a:ext uri="{FF2B5EF4-FFF2-40B4-BE49-F238E27FC236}">
                  <a16:creationId xmlns:a16="http://schemas.microsoft.com/office/drawing/2014/main" id="{CF3C71D4-8FEA-4516-9B93-12F8836E118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88" y="783"/>
              <a:ext cx="50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S6 ~ S3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66986" name="组合 122961">
              <a:extLst>
                <a:ext uri="{FF2B5EF4-FFF2-40B4-BE49-F238E27FC236}">
                  <a16:creationId xmlns:a16="http://schemas.microsoft.com/office/drawing/2014/main" id="{C3E90ABF-40EC-4C70-B6B1-A793B78131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1056"/>
              <a:ext cx="3429" cy="508"/>
              <a:chOff x="0" y="0"/>
              <a:chExt cx="3429" cy="508"/>
            </a:xfrm>
          </p:grpSpPr>
          <p:sp>
            <p:nvSpPr>
              <p:cNvPr id="166990" name="Text Box 83">
                <a:extLst>
                  <a:ext uri="{FF2B5EF4-FFF2-40B4-BE49-F238E27FC236}">
                    <a16:creationId xmlns:a16="http://schemas.microsoft.com/office/drawing/2014/main" id="{629C2D18-3AAA-48EA-9E97-7A86F0704A0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373" y="36"/>
                <a:ext cx="581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60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D15 ~D0</a:t>
                </a:r>
              </a:p>
            </p:txBody>
          </p:sp>
          <p:sp>
            <p:nvSpPr>
              <p:cNvPr id="166991" name="Text Box 84">
                <a:extLst>
                  <a:ext uri="{FF2B5EF4-FFF2-40B4-BE49-F238E27FC236}">
                    <a16:creationId xmlns:a16="http://schemas.microsoft.com/office/drawing/2014/main" id="{832D9685-FCA9-4F98-AF10-CE71ED47D2C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795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AD15~AD0</a:t>
                </a:r>
              </a:p>
            </p:txBody>
          </p:sp>
          <p:sp>
            <p:nvSpPr>
              <p:cNvPr id="166992" name="Line 85">
                <a:extLst>
                  <a:ext uri="{FF2B5EF4-FFF2-40B4-BE49-F238E27FC236}">
                    <a16:creationId xmlns:a16="http://schemas.microsoft.com/office/drawing/2014/main" id="{96A0F485-2B6A-4602-A9D6-A5BFC723DCA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21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3" name="Line 86">
                <a:extLst>
                  <a:ext uri="{FF2B5EF4-FFF2-40B4-BE49-F238E27FC236}">
                    <a16:creationId xmlns:a16="http://schemas.microsoft.com/office/drawing/2014/main" id="{0805FD72-A1E2-4CA0-A53D-F065FF994DC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169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4" name="Line 87">
                <a:extLst>
                  <a:ext uri="{FF2B5EF4-FFF2-40B4-BE49-F238E27FC236}">
                    <a16:creationId xmlns:a16="http://schemas.microsoft.com/office/drawing/2014/main" id="{C9B39399-AED1-4552-B545-ED006011CD1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83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5" name="Line 88">
                <a:extLst>
                  <a:ext uri="{FF2B5EF4-FFF2-40B4-BE49-F238E27FC236}">
                    <a16:creationId xmlns:a16="http://schemas.microsoft.com/office/drawing/2014/main" id="{1A15005E-BFBB-4418-9E0D-7B4EE527DAA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84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6" name="Line 89">
                <a:extLst>
                  <a:ext uri="{FF2B5EF4-FFF2-40B4-BE49-F238E27FC236}">
                    <a16:creationId xmlns:a16="http://schemas.microsoft.com/office/drawing/2014/main" id="{5143FDFD-3CC9-475A-A08C-9618446C9FF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51" y="21"/>
                <a:ext cx="5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7" name="Line 90">
                <a:extLst>
                  <a:ext uri="{FF2B5EF4-FFF2-40B4-BE49-F238E27FC236}">
                    <a16:creationId xmlns:a16="http://schemas.microsoft.com/office/drawing/2014/main" id="{D2756122-4F8E-4EEF-B8D1-CC8F80EC550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4" y="172"/>
                <a:ext cx="5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8" name="Line 91">
                <a:extLst>
                  <a:ext uri="{FF2B5EF4-FFF2-40B4-BE49-F238E27FC236}">
                    <a16:creationId xmlns:a16="http://schemas.microsoft.com/office/drawing/2014/main" id="{5555995F-4D14-41BB-933C-17092B25A35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79" y="21"/>
                <a:ext cx="39" cy="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9" name="Line 92">
                <a:extLst>
                  <a:ext uri="{FF2B5EF4-FFF2-40B4-BE49-F238E27FC236}">
                    <a16:creationId xmlns:a16="http://schemas.microsoft.com/office/drawing/2014/main" id="{89947FFF-2494-47B6-807E-189D259A1EF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780" y="99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0" name="Line 93">
                <a:extLst>
                  <a:ext uri="{FF2B5EF4-FFF2-40B4-BE49-F238E27FC236}">
                    <a16:creationId xmlns:a16="http://schemas.microsoft.com/office/drawing/2014/main" id="{C808EFD2-1297-4E0E-B8E5-4322D8CDC3C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19" y="99"/>
                <a:ext cx="4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1" name="Line 94">
                <a:extLst>
                  <a:ext uri="{FF2B5EF4-FFF2-40B4-BE49-F238E27FC236}">
                    <a16:creationId xmlns:a16="http://schemas.microsoft.com/office/drawing/2014/main" id="{7DE477B5-0394-4811-89FB-329FAF4B838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95" y="99"/>
                <a:ext cx="35" cy="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2" name="Line 95">
                <a:extLst>
                  <a:ext uri="{FF2B5EF4-FFF2-40B4-BE49-F238E27FC236}">
                    <a16:creationId xmlns:a16="http://schemas.microsoft.com/office/drawing/2014/main" id="{FDAB62C8-EF55-48E2-A9FB-629ECDE1859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93" y="24"/>
                <a:ext cx="37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3" name="Line 96">
                <a:extLst>
                  <a:ext uri="{FF2B5EF4-FFF2-40B4-BE49-F238E27FC236}">
                    <a16:creationId xmlns:a16="http://schemas.microsoft.com/office/drawing/2014/main" id="{1667FDCB-CF83-43CF-BE3D-F8C6391A31D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26" y="25"/>
                <a:ext cx="6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4" name="Line 97">
                <a:extLst>
                  <a:ext uri="{FF2B5EF4-FFF2-40B4-BE49-F238E27FC236}">
                    <a16:creationId xmlns:a16="http://schemas.microsoft.com/office/drawing/2014/main" id="{4E99DA88-97BA-41F1-BAB6-E56AD2616F0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33" y="172"/>
                <a:ext cx="6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5" name="Line 98">
                <a:extLst>
                  <a:ext uri="{FF2B5EF4-FFF2-40B4-BE49-F238E27FC236}">
                    <a16:creationId xmlns:a16="http://schemas.microsoft.com/office/drawing/2014/main" id="{6D75879F-845C-471F-9006-EE68FD64AB2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40" y="25"/>
                <a:ext cx="39" cy="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6" name="Line 99">
                <a:extLst>
                  <a:ext uri="{FF2B5EF4-FFF2-40B4-BE49-F238E27FC236}">
                    <a16:creationId xmlns:a16="http://schemas.microsoft.com/office/drawing/2014/main" id="{A97FB5E8-1595-469E-9D3E-0531F3B6D1B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941" y="104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7" name="Line 100">
                <a:extLst>
                  <a:ext uri="{FF2B5EF4-FFF2-40B4-BE49-F238E27FC236}">
                    <a16:creationId xmlns:a16="http://schemas.microsoft.com/office/drawing/2014/main" id="{2FFE34FD-3007-4AEC-9E00-772463BD972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79" y="99"/>
                <a:ext cx="45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8" name="Line 101">
                <a:extLst>
                  <a:ext uri="{FF2B5EF4-FFF2-40B4-BE49-F238E27FC236}">
                    <a16:creationId xmlns:a16="http://schemas.microsoft.com/office/drawing/2014/main" id="{F238C3F6-F8E7-485F-8EBC-9F1AF934964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451"/>
                <a:ext cx="24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9" name="Line 102">
                <a:extLst>
                  <a:ext uri="{FF2B5EF4-FFF2-40B4-BE49-F238E27FC236}">
                    <a16:creationId xmlns:a16="http://schemas.microsoft.com/office/drawing/2014/main" id="{32FA435B-6022-40EF-9D3D-7CAFBFCF5C1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49" y="303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0" name="Line 103">
                <a:extLst>
                  <a:ext uri="{FF2B5EF4-FFF2-40B4-BE49-F238E27FC236}">
                    <a16:creationId xmlns:a16="http://schemas.microsoft.com/office/drawing/2014/main" id="{95BCCE51-A338-4392-8A31-2EFFB50B083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25" y="310"/>
                <a:ext cx="3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1" name="Line 104">
                <a:extLst>
                  <a:ext uri="{FF2B5EF4-FFF2-40B4-BE49-F238E27FC236}">
                    <a16:creationId xmlns:a16="http://schemas.microsoft.com/office/drawing/2014/main" id="{17519460-754F-4E48-ABEC-3F86FF49939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65" y="310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2" name="Line 105">
                <a:extLst>
                  <a:ext uri="{FF2B5EF4-FFF2-40B4-BE49-F238E27FC236}">
                    <a16:creationId xmlns:a16="http://schemas.microsoft.com/office/drawing/2014/main" id="{0488BE4F-751C-4F11-8A27-376CF27D047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28" y="457"/>
                <a:ext cx="19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3" name="Text Box 106">
                <a:extLst>
                  <a:ext uri="{FF2B5EF4-FFF2-40B4-BE49-F238E27FC236}">
                    <a16:creationId xmlns:a16="http://schemas.microsoft.com/office/drawing/2014/main" id="{A8C40430-4CEF-4E52-A328-95A4AA88AC4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8" y="313"/>
                <a:ext cx="447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ALE</a:t>
                </a:r>
              </a:p>
            </p:txBody>
          </p:sp>
          <p:sp>
            <p:nvSpPr>
              <p:cNvPr id="167014" name="Text Box 107">
                <a:extLst>
                  <a:ext uri="{FF2B5EF4-FFF2-40B4-BE49-F238E27FC236}">
                    <a16:creationId xmlns:a16="http://schemas.microsoft.com/office/drawing/2014/main" id="{309A3FDA-3A36-485D-822F-5C85FA0A76F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64" y="31"/>
                <a:ext cx="581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A15 ~ A0</a:t>
                </a:r>
                <a:endParaRPr lang="en-US" altLang="zh-CN" sz="1800">
                  <a:solidFill>
                    <a:srgbClr val="3333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6987" name="Line 108">
              <a:extLst>
                <a:ext uri="{FF2B5EF4-FFF2-40B4-BE49-F238E27FC236}">
                  <a16:creationId xmlns:a16="http://schemas.microsoft.com/office/drawing/2014/main" id="{F3D2A044-A838-46D4-ADF0-F32BADB54D5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5" y="576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88" name="Line 109">
              <a:extLst>
                <a:ext uri="{FF2B5EF4-FFF2-40B4-BE49-F238E27FC236}">
                  <a16:creationId xmlns:a16="http://schemas.microsoft.com/office/drawing/2014/main" id="{244C2467-6577-4767-AF92-59DE239F3A2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8100000" flipH="1">
              <a:off x="1152" y="430"/>
              <a:ext cx="0" cy="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89" name="Line 110">
              <a:extLst>
                <a:ext uri="{FF2B5EF4-FFF2-40B4-BE49-F238E27FC236}">
                  <a16:creationId xmlns:a16="http://schemas.microsoft.com/office/drawing/2014/main" id="{BDC04B27-D383-4A06-A127-802966DB468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 flipH="1">
              <a:off x="1121" y="439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991" name="矩形 122990">
            <a:extLst>
              <a:ext uri="{FF2B5EF4-FFF2-40B4-BE49-F238E27FC236}">
                <a16:creationId xmlns:a16="http://schemas.microsoft.com/office/drawing/2014/main" id="{9CB1DCF3-6A70-4D02-9613-0D82D4C34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412875"/>
            <a:ext cx="2087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9900"/>
                </a:solidFill>
                <a:latin typeface="Garamond" panose="02020404030301010803" pitchFamily="18" charset="0"/>
              </a:rPr>
              <a:t>在</a:t>
            </a:r>
            <a:r>
              <a:rPr lang="en-US" altLang="zh-CN">
                <a:solidFill>
                  <a:srgbClr val="FF9900"/>
                </a:solidFill>
                <a:latin typeface="Garamond" panose="02020404030301010803" pitchFamily="18" charset="0"/>
              </a:rPr>
              <a:t>T3</a:t>
            </a:r>
            <a:r>
              <a:rPr lang="zh-CN" altLang="en-US">
                <a:solidFill>
                  <a:srgbClr val="FF9900"/>
                </a:solidFill>
                <a:latin typeface="Garamond" panose="02020404030301010803" pitchFamily="18" charset="0"/>
              </a:rPr>
              <a:t>周期：</a:t>
            </a:r>
          </a:p>
        </p:txBody>
      </p:sp>
      <p:sp>
        <p:nvSpPr>
          <p:cNvPr id="166919" name="矩形 122991">
            <a:extLst>
              <a:ext uri="{FF2B5EF4-FFF2-40B4-BE49-F238E27FC236}">
                <a16:creationId xmlns:a16="http://schemas.microsoft.com/office/drawing/2014/main" id="{E9193800-2770-42B8-80DD-51E2B0905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292600"/>
            <a:ext cx="2447925" cy="72072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Garamond" panose="02020404030301010803" pitchFamily="18" charset="0"/>
              </a:rPr>
              <a:t>为何为</a:t>
            </a:r>
            <a:r>
              <a:rPr lang="en-US" altLang="zh-CN" sz="2400">
                <a:latin typeface="Garamond" panose="02020404030301010803" pitchFamily="18" charset="0"/>
              </a:rPr>
              <a:t>8</a:t>
            </a:r>
            <a:r>
              <a:rPr lang="zh-CN" altLang="en-US" sz="2400">
                <a:latin typeface="Garamond" panose="02020404030301010803" pitchFamily="18" charset="0"/>
              </a:rPr>
              <a:t>位数据？</a:t>
            </a:r>
          </a:p>
        </p:txBody>
      </p:sp>
      <p:sp>
        <p:nvSpPr>
          <p:cNvPr id="118896" name="灯片编号占位符 1">
            <a:extLst>
              <a:ext uri="{FF2B5EF4-FFF2-40B4-BE49-F238E27FC236}">
                <a16:creationId xmlns:a16="http://schemas.microsoft.com/office/drawing/2014/main" id="{3241E9D7-4549-47A4-85E5-D3FC2E0172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756EC861-E4B5-44DB-A13C-F3849DCAD7D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109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229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/>
      <p:bldP spid="122883" grpId="0"/>
      <p:bldP spid="122991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>
            <a:extLst>
              <a:ext uri="{FF2B5EF4-FFF2-40B4-BE49-F238E27FC236}">
                <a16:creationId xmlns:a16="http://schemas.microsoft.com/office/drawing/2014/main" id="{B66FB3B0-E049-4824-B250-A12EABF60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2349500"/>
            <a:ext cx="32766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rPr>
              <a:t>10.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RD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变高，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CPU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从数据线上读数据,数据9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AH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读到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AL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中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rPr>
              <a:t>11.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DEN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变高，数据收发器与总线断开，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AD7~AD0 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变高阻态</a:t>
            </a:r>
          </a:p>
        </p:txBody>
      </p:sp>
      <p:sp>
        <p:nvSpPr>
          <p:cNvPr id="167939" name="Line 3">
            <a:extLst>
              <a:ext uri="{FF2B5EF4-FFF2-40B4-BE49-F238E27FC236}">
                <a16:creationId xmlns:a16="http://schemas.microsoft.com/office/drawing/2014/main" id="{7C049D70-D2E6-4DC2-810F-8A2DEE020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7763" y="2492375"/>
            <a:ext cx="422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7940" name="Line 4">
            <a:extLst>
              <a:ext uri="{FF2B5EF4-FFF2-40B4-BE49-F238E27FC236}">
                <a16:creationId xmlns:a16="http://schemas.microsoft.com/office/drawing/2014/main" id="{10897CDD-1421-4239-8C46-D564F16BC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4149725"/>
            <a:ext cx="727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D127D902-E09C-4E5A-AD8D-B3BCFF959A54}"/>
              </a:ext>
            </a:extLst>
          </p:cNvPr>
          <p:cNvSpPr>
            <a:spLocks noGrp="1" noRot="1"/>
          </p:cNvSpPr>
          <p:nvPr>
            <p:ph type="title" idx="4294967295"/>
          </p:nvPr>
        </p:nvSpPr>
        <p:spPr>
          <a:xfrm>
            <a:off x="457200" y="276225"/>
            <a:ext cx="8229600" cy="561975"/>
          </a:xfrm>
        </p:spPr>
        <p:txBody>
          <a:bodyPr/>
          <a:lstStyle/>
          <a:p>
            <a:pPr eaLnBrk="1" hangingPunct="1">
              <a:buClr>
                <a:srgbClr val="000000"/>
              </a:buClr>
              <a:defRPr/>
            </a:pP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执行指令</a:t>
            </a:r>
            <a:r>
              <a:rPr lang="en-US" altLang="zh-CN" sz="3200" b="1" noProof="1">
                <a:latin typeface="仿宋" panose="02010609060101010101" charset="-122"/>
                <a:ea typeface="仿宋" panose="02010609060101010101" charset="-122"/>
              </a:rPr>
              <a:t>MOV  AL,[BX]</a:t>
            </a: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的时序</a:t>
            </a:r>
            <a:endParaRPr lang="zh-CN" altLang="en-US" sz="3200" b="1" noProof="1">
              <a:effectLst>
                <a:outerShdw blurRad="38100" dist="38100" dir="2700000">
                  <a:srgbClr val="C0C0C0"/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167942" name="组合 123909">
            <a:extLst>
              <a:ext uri="{FF2B5EF4-FFF2-40B4-BE49-F238E27FC236}">
                <a16:creationId xmlns:a16="http://schemas.microsoft.com/office/drawing/2014/main" id="{B80E451C-177E-4A6D-A7E5-8C62F2A455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1447800"/>
            <a:ext cx="5638800" cy="4267200"/>
            <a:chOff x="0" y="0"/>
            <a:chExt cx="3552" cy="2688"/>
          </a:xfrm>
        </p:grpSpPr>
        <p:sp>
          <p:nvSpPr>
            <p:cNvPr id="167945" name="Text Box 7">
              <a:extLst>
                <a:ext uri="{FF2B5EF4-FFF2-40B4-BE49-F238E27FC236}">
                  <a16:creationId xmlns:a16="http://schemas.microsoft.com/office/drawing/2014/main" id="{CDC0C616-10D7-4FD8-9E11-D8974539885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25" y="773"/>
              <a:ext cx="58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rgbClr val="3333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>
                  <a:latin typeface="Times New Roman" panose="02020603050405020304" pitchFamily="18" charset="0"/>
                </a:rPr>
                <a:t>A19~A16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7946" name="Line 8">
              <a:extLst>
                <a:ext uri="{FF2B5EF4-FFF2-40B4-BE49-F238E27FC236}">
                  <a16:creationId xmlns:a16="http://schemas.microsoft.com/office/drawing/2014/main" id="{E9BDDA83-5447-4799-80A3-A2A2BB3F2E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88" y="12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47" name="Line 9">
              <a:extLst>
                <a:ext uri="{FF2B5EF4-FFF2-40B4-BE49-F238E27FC236}">
                  <a16:creationId xmlns:a16="http://schemas.microsoft.com/office/drawing/2014/main" id="{7F6B879F-5670-4D2D-86F3-BD66896EE49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7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48" name="Line 10">
              <a:extLst>
                <a:ext uri="{FF2B5EF4-FFF2-40B4-BE49-F238E27FC236}">
                  <a16:creationId xmlns:a16="http://schemas.microsoft.com/office/drawing/2014/main" id="{E39A0676-7AB2-4438-973E-47E71E9387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63" y="18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49" name="Line 11">
              <a:extLst>
                <a:ext uri="{FF2B5EF4-FFF2-40B4-BE49-F238E27FC236}">
                  <a16:creationId xmlns:a16="http://schemas.microsoft.com/office/drawing/2014/main" id="{B6CD78B7-82DE-48F4-941C-D4AC36E1C6E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5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0" name="Line 12">
              <a:extLst>
                <a:ext uri="{FF2B5EF4-FFF2-40B4-BE49-F238E27FC236}">
                  <a16:creationId xmlns:a16="http://schemas.microsoft.com/office/drawing/2014/main" id="{BC1D5D4F-6A1A-4F56-B637-7950C1FACDC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2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1" name="Text Box 13">
              <a:extLst>
                <a:ext uri="{FF2B5EF4-FFF2-40B4-BE49-F238E27FC236}">
                  <a16:creationId xmlns:a16="http://schemas.microsoft.com/office/drawing/2014/main" id="{611BC751-B7F7-4B2E-AF4D-19852563780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7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T1</a:t>
              </a:r>
            </a:p>
          </p:txBody>
        </p:sp>
        <p:sp>
          <p:nvSpPr>
            <p:cNvPr id="167952" name="Text Box 14">
              <a:extLst>
                <a:ext uri="{FF2B5EF4-FFF2-40B4-BE49-F238E27FC236}">
                  <a16:creationId xmlns:a16="http://schemas.microsoft.com/office/drawing/2014/main" id="{60741F21-8FCD-47B6-826D-0D5A3D78B12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0" y="0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167953" name="Text Box 15">
              <a:extLst>
                <a:ext uri="{FF2B5EF4-FFF2-40B4-BE49-F238E27FC236}">
                  <a16:creationId xmlns:a16="http://schemas.microsoft.com/office/drawing/2014/main" id="{FFC616D9-4083-4D8C-A026-E059ED1E4B7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49" y="2"/>
              <a:ext cx="19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T3</a:t>
              </a:r>
            </a:p>
          </p:txBody>
        </p:sp>
        <p:sp>
          <p:nvSpPr>
            <p:cNvPr id="167954" name="Text Box 16">
              <a:extLst>
                <a:ext uri="{FF2B5EF4-FFF2-40B4-BE49-F238E27FC236}">
                  <a16:creationId xmlns:a16="http://schemas.microsoft.com/office/drawing/2014/main" id="{71C70EFA-1CD5-484E-8A51-0A89D786821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18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T4</a:t>
              </a:r>
            </a:p>
          </p:txBody>
        </p:sp>
        <p:sp>
          <p:nvSpPr>
            <p:cNvPr id="167955" name="Line 17">
              <a:extLst>
                <a:ext uri="{FF2B5EF4-FFF2-40B4-BE49-F238E27FC236}">
                  <a16:creationId xmlns:a16="http://schemas.microsoft.com/office/drawing/2014/main" id="{DCFC3FE5-AA52-4188-A084-4E628005F23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6" name="Line 18">
              <a:extLst>
                <a:ext uri="{FF2B5EF4-FFF2-40B4-BE49-F238E27FC236}">
                  <a16:creationId xmlns:a16="http://schemas.microsoft.com/office/drawing/2014/main" id="{B45BE1FF-CD06-4F6B-918B-F658951FDB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0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7" name="Line 19">
              <a:extLst>
                <a:ext uri="{FF2B5EF4-FFF2-40B4-BE49-F238E27FC236}">
                  <a16:creationId xmlns:a16="http://schemas.microsoft.com/office/drawing/2014/main" id="{66DE0503-1A4A-4B45-8023-BF2648205CF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74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8" name="Line 20">
              <a:extLst>
                <a:ext uri="{FF2B5EF4-FFF2-40B4-BE49-F238E27FC236}">
                  <a16:creationId xmlns:a16="http://schemas.microsoft.com/office/drawing/2014/main" id="{0319611B-4E3D-40E6-B67A-C9ABFDF2F6D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82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9" name="Line 21">
              <a:extLst>
                <a:ext uri="{FF2B5EF4-FFF2-40B4-BE49-F238E27FC236}">
                  <a16:creationId xmlns:a16="http://schemas.microsoft.com/office/drawing/2014/main" id="{1546B16D-A41B-4C61-B961-C15A3FAA21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51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0" name="Line 22">
              <a:extLst>
                <a:ext uri="{FF2B5EF4-FFF2-40B4-BE49-F238E27FC236}">
                  <a16:creationId xmlns:a16="http://schemas.microsoft.com/office/drawing/2014/main" id="{F7CFF6A3-A543-42A1-BF1E-6C284C7F07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58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1" name="Line 23">
              <a:extLst>
                <a:ext uri="{FF2B5EF4-FFF2-40B4-BE49-F238E27FC236}">
                  <a16:creationId xmlns:a16="http://schemas.microsoft.com/office/drawing/2014/main" id="{FFB05BCD-0FAD-465D-8FE9-8E0FA6ACBFD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7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2" name="Line 24">
              <a:extLst>
                <a:ext uri="{FF2B5EF4-FFF2-40B4-BE49-F238E27FC236}">
                  <a16:creationId xmlns:a16="http://schemas.microsoft.com/office/drawing/2014/main" id="{BE69A052-75F6-469A-9C58-383713CC6F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3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3" name="Line 25">
              <a:extLst>
                <a:ext uri="{FF2B5EF4-FFF2-40B4-BE49-F238E27FC236}">
                  <a16:creationId xmlns:a16="http://schemas.microsoft.com/office/drawing/2014/main" id="{F724B58F-BBD8-41B8-BC8E-681D6239F86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04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4" name="Line 26">
              <a:extLst>
                <a:ext uri="{FF2B5EF4-FFF2-40B4-BE49-F238E27FC236}">
                  <a16:creationId xmlns:a16="http://schemas.microsoft.com/office/drawing/2014/main" id="{36BFE167-0BCC-47BE-A281-4B5F8D34F6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1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5" name="Line 27">
              <a:extLst>
                <a:ext uri="{FF2B5EF4-FFF2-40B4-BE49-F238E27FC236}">
                  <a16:creationId xmlns:a16="http://schemas.microsoft.com/office/drawing/2014/main" id="{22877D6B-8AA7-4AEB-8B7A-DD74A1C6C2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80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6" name="Line 28">
              <a:extLst>
                <a:ext uri="{FF2B5EF4-FFF2-40B4-BE49-F238E27FC236}">
                  <a16:creationId xmlns:a16="http://schemas.microsoft.com/office/drawing/2014/main" id="{95647EAD-4D15-490B-AB1C-9B6853EB94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387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7" name="Line 29">
              <a:extLst>
                <a:ext uri="{FF2B5EF4-FFF2-40B4-BE49-F238E27FC236}">
                  <a16:creationId xmlns:a16="http://schemas.microsoft.com/office/drawing/2014/main" id="{1E9AEFF0-EBE3-4820-AF65-9C3FCE7A9F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5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8" name="Line 30">
              <a:extLst>
                <a:ext uri="{FF2B5EF4-FFF2-40B4-BE49-F238E27FC236}">
                  <a16:creationId xmlns:a16="http://schemas.microsoft.com/office/drawing/2014/main" id="{7B2EDFC0-9DAD-4A26-8C4A-BB5EFC583F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60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9" name="Line 31">
              <a:extLst>
                <a:ext uri="{FF2B5EF4-FFF2-40B4-BE49-F238E27FC236}">
                  <a16:creationId xmlns:a16="http://schemas.microsoft.com/office/drawing/2014/main" id="{F18BC854-05AF-4FD4-A673-7575FA37F19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37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0" name="Line 32">
              <a:extLst>
                <a:ext uri="{FF2B5EF4-FFF2-40B4-BE49-F238E27FC236}">
                  <a16:creationId xmlns:a16="http://schemas.microsoft.com/office/drawing/2014/main" id="{6FA2AB7F-9696-4DE5-8469-48571951C7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06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1" name="Line 33">
              <a:extLst>
                <a:ext uri="{FF2B5EF4-FFF2-40B4-BE49-F238E27FC236}">
                  <a16:creationId xmlns:a16="http://schemas.microsoft.com/office/drawing/2014/main" id="{06D212D4-DEED-441D-BF85-88A5853686D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3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2" name="Line 34">
              <a:extLst>
                <a:ext uri="{FF2B5EF4-FFF2-40B4-BE49-F238E27FC236}">
                  <a16:creationId xmlns:a16="http://schemas.microsoft.com/office/drawing/2014/main" id="{886D4572-1AD0-4652-AC4A-F4C4618599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83" y="166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3" name="Text Box 35">
              <a:extLst>
                <a:ext uri="{FF2B5EF4-FFF2-40B4-BE49-F238E27FC236}">
                  <a16:creationId xmlns:a16="http://schemas.microsoft.com/office/drawing/2014/main" id="{50485676-E86E-4864-8F10-2B5338990CC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9" y="691"/>
              <a:ext cx="66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A19~A16</a:t>
              </a:r>
            </a:p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/S6~S3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7974" name="Text Box 36">
              <a:extLst>
                <a:ext uri="{FF2B5EF4-FFF2-40B4-BE49-F238E27FC236}">
                  <a16:creationId xmlns:a16="http://schemas.microsoft.com/office/drawing/2014/main" id="{CE07DC6D-37FD-4074-AA11-E376BF9F280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8" y="459"/>
              <a:ext cx="4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>
                  <a:solidFill>
                    <a:schemeClr val="tx2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IO</a:t>
              </a:r>
              <a:endParaRPr lang="en-US" altLang="zh-CN" sz="1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7975" name="Line 37">
              <a:extLst>
                <a:ext uri="{FF2B5EF4-FFF2-40B4-BE49-F238E27FC236}">
                  <a16:creationId xmlns:a16="http://schemas.microsoft.com/office/drawing/2014/main" id="{BF67466D-3BDD-423A-AE5C-6A3B594E5B1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7" y="461"/>
              <a:ext cx="125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6" name="Line 38">
              <a:extLst>
                <a:ext uri="{FF2B5EF4-FFF2-40B4-BE49-F238E27FC236}">
                  <a16:creationId xmlns:a16="http://schemas.microsoft.com/office/drawing/2014/main" id="{9A731844-18B9-4B53-A961-6B7F677DB00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29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7" name="Line 39">
              <a:extLst>
                <a:ext uri="{FF2B5EF4-FFF2-40B4-BE49-F238E27FC236}">
                  <a16:creationId xmlns:a16="http://schemas.microsoft.com/office/drawing/2014/main" id="{544E14F8-FC33-4219-BAB6-DBF80EC7FCB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82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8" name="Line 40">
              <a:extLst>
                <a:ext uri="{FF2B5EF4-FFF2-40B4-BE49-F238E27FC236}">
                  <a16:creationId xmlns:a16="http://schemas.microsoft.com/office/drawing/2014/main" id="{202D877C-49C9-42CE-A2C0-75E58F3356B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464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9" name="Line 41">
              <a:extLst>
                <a:ext uri="{FF2B5EF4-FFF2-40B4-BE49-F238E27FC236}">
                  <a16:creationId xmlns:a16="http://schemas.microsoft.com/office/drawing/2014/main" id="{013724DF-CF00-42F0-8F43-5E1CD03B8BF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83" y="476"/>
              <a:ext cx="2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80" name="Line 42">
              <a:extLst>
                <a:ext uri="{FF2B5EF4-FFF2-40B4-BE49-F238E27FC236}">
                  <a16:creationId xmlns:a16="http://schemas.microsoft.com/office/drawing/2014/main" id="{5BAF6F84-6EDB-451A-892F-D86938C5C3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768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81" name="Line 43">
              <a:extLst>
                <a:ext uri="{FF2B5EF4-FFF2-40B4-BE49-F238E27FC236}">
                  <a16:creationId xmlns:a16="http://schemas.microsoft.com/office/drawing/2014/main" id="{D7ACD511-8CBF-4468-B8C2-7797A8915A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916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7982" name="组合 123947">
              <a:extLst>
                <a:ext uri="{FF2B5EF4-FFF2-40B4-BE49-F238E27FC236}">
                  <a16:creationId xmlns:a16="http://schemas.microsoft.com/office/drawing/2014/main" id="{989E1BD5-E6D5-4836-80F7-9261EE15B1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76" y="768"/>
              <a:ext cx="70" cy="148"/>
              <a:chOff x="0" y="0"/>
              <a:chExt cx="212" cy="567"/>
            </a:xfrm>
          </p:grpSpPr>
          <p:sp>
            <p:nvSpPr>
              <p:cNvPr id="168048" name="Line 45">
                <a:extLst>
                  <a:ext uri="{FF2B5EF4-FFF2-40B4-BE49-F238E27FC236}">
                    <a16:creationId xmlns:a16="http://schemas.microsoft.com/office/drawing/2014/main" id="{131E261E-2A38-4EB6-A754-85DA106435E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9" name="Line 46">
                <a:extLst>
                  <a:ext uri="{FF2B5EF4-FFF2-40B4-BE49-F238E27FC236}">
                    <a16:creationId xmlns:a16="http://schemas.microsoft.com/office/drawing/2014/main" id="{9BEBA970-FDDB-49CB-9971-6100E026C30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7983" name="Line 47">
              <a:extLst>
                <a:ext uri="{FF2B5EF4-FFF2-40B4-BE49-F238E27FC236}">
                  <a16:creationId xmlns:a16="http://schemas.microsoft.com/office/drawing/2014/main" id="{3BFC7E9E-CB48-4A31-8D42-CFEFE1D7710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4" y="768"/>
              <a:ext cx="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84" name="Line 48">
              <a:extLst>
                <a:ext uri="{FF2B5EF4-FFF2-40B4-BE49-F238E27FC236}">
                  <a16:creationId xmlns:a16="http://schemas.microsoft.com/office/drawing/2014/main" id="{205A47C3-3CCB-4CFF-BE01-986070826F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57" y="919"/>
              <a:ext cx="5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7985" name="组合 123952">
              <a:extLst>
                <a:ext uri="{FF2B5EF4-FFF2-40B4-BE49-F238E27FC236}">
                  <a16:creationId xmlns:a16="http://schemas.microsoft.com/office/drawing/2014/main" id="{A422029F-DC4A-4122-B1BF-049AAD58649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72" y="768"/>
              <a:ext cx="70" cy="148"/>
              <a:chOff x="0" y="0"/>
              <a:chExt cx="212" cy="567"/>
            </a:xfrm>
          </p:grpSpPr>
          <p:sp>
            <p:nvSpPr>
              <p:cNvPr id="168046" name="Line 50">
                <a:extLst>
                  <a:ext uri="{FF2B5EF4-FFF2-40B4-BE49-F238E27FC236}">
                    <a16:creationId xmlns:a16="http://schemas.microsoft.com/office/drawing/2014/main" id="{DFAEDE4E-73C6-4FD4-A666-1FD2CC3C4A9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7" name="Line 51">
                <a:extLst>
                  <a:ext uri="{FF2B5EF4-FFF2-40B4-BE49-F238E27FC236}">
                    <a16:creationId xmlns:a16="http://schemas.microsoft.com/office/drawing/2014/main" id="{286FACD6-BA51-4643-BA0F-F6D2C29F1AA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7986" name="Line 52">
              <a:extLst>
                <a:ext uri="{FF2B5EF4-FFF2-40B4-BE49-F238E27FC236}">
                  <a16:creationId xmlns:a16="http://schemas.microsoft.com/office/drawing/2014/main" id="{A77246DF-4437-4EE9-A521-6123D2874F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51" y="768"/>
              <a:ext cx="1623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87" name="Line 53">
              <a:extLst>
                <a:ext uri="{FF2B5EF4-FFF2-40B4-BE49-F238E27FC236}">
                  <a16:creationId xmlns:a16="http://schemas.microsoft.com/office/drawing/2014/main" id="{FB9ECACF-E10F-47DD-9FA0-1F96F0BFD86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45" y="914"/>
              <a:ext cx="1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7988" name="组合 123957">
              <a:extLst>
                <a:ext uri="{FF2B5EF4-FFF2-40B4-BE49-F238E27FC236}">
                  <a16:creationId xmlns:a16="http://schemas.microsoft.com/office/drawing/2014/main" id="{E3445B0B-B416-4E7C-AD84-4536FDDE94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9" y="1618"/>
              <a:ext cx="3335" cy="158"/>
              <a:chOff x="0" y="0"/>
              <a:chExt cx="3335" cy="158"/>
            </a:xfrm>
          </p:grpSpPr>
          <p:sp>
            <p:nvSpPr>
              <p:cNvPr id="168039" name="Text Box 55">
                <a:extLst>
                  <a:ext uri="{FF2B5EF4-FFF2-40B4-BE49-F238E27FC236}">
                    <a16:creationId xmlns:a16="http://schemas.microsoft.com/office/drawing/2014/main" id="{007FA8F8-F3D5-441B-A20F-2D6A96E88E8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614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A19~A0</a:t>
                </a:r>
              </a:p>
            </p:txBody>
          </p:sp>
          <p:sp>
            <p:nvSpPr>
              <p:cNvPr id="168040" name="Line 56">
                <a:extLst>
                  <a:ext uri="{FF2B5EF4-FFF2-40B4-BE49-F238E27FC236}">
                    <a16:creationId xmlns:a16="http://schemas.microsoft.com/office/drawing/2014/main" id="{E3DD2EC6-EE11-431A-979C-B3631529743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0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1" name="Line 57">
                <a:extLst>
                  <a:ext uri="{FF2B5EF4-FFF2-40B4-BE49-F238E27FC236}">
                    <a16:creationId xmlns:a16="http://schemas.microsoft.com/office/drawing/2014/main" id="{8DB5E37D-AA72-4774-A011-8BA659C2755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148"/>
                <a:ext cx="374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2" name="Line 58">
                <a:extLst>
                  <a:ext uri="{FF2B5EF4-FFF2-40B4-BE49-F238E27FC236}">
                    <a16:creationId xmlns:a16="http://schemas.microsoft.com/office/drawing/2014/main" id="{D490000C-9B58-41A1-9A79-5D9C0C5AC3B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32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3" name="Line 59">
                <a:extLst>
                  <a:ext uri="{FF2B5EF4-FFF2-40B4-BE49-F238E27FC236}">
                    <a16:creationId xmlns:a16="http://schemas.microsoft.com/office/drawing/2014/main" id="{93131B4C-43B8-4B27-B1BD-A5753E5C4DF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33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4" name="Line 60">
                <a:extLst>
                  <a:ext uri="{FF2B5EF4-FFF2-40B4-BE49-F238E27FC236}">
                    <a16:creationId xmlns:a16="http://schemas.microsoft.com/office/drawing/2014/main" id="{AA8C8E86-F210-41EC-BF5E-55C865A9F64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00" y="0"/>
                <a:ext cx="2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5" name="Line 61">
                <a:extLst>
                  <a:ext uri="{FF2B5EF4-FFF2-40B4-BE49-F238E27FC236}">
                    <a16:creationId xmlns:a16="http://schemas.microsoft.com/office/drawing/2014/main" id="{73204D52-006C-40D2-BA0D-16512722EEE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02" y="147"/>
                <a:ext cx="223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7989" name="Line 62">
              <a:extLst>
                <a:ext uri="{FF2B5EF4-FFF2-40B4-BE49-F238E27FC236}">
                  <a16:creationId xmlns:a16="http://schemas.microsoft.com/office/drawing/2014/main" id="{123E409A-2B7D-4EFA-818A-4400FC274E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2" y="1940"/>
              <a:ext cx="8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0" name="Line 63">
              <a:extLst>
                <a:ext uri="{FF2B5EF4-FFF2-40B4-BE49-F238E27FC236}">
                  <a16:creationId xmlns:a16="http://schemas.microsoft.com/office/drawing/2014/main" id="{316698C1-1BA3-4196-BC3F-49959A2688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0" y="1940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1" name="Line 64">
              <a:extLst>
                <a:ext uri="{FF2B5EF4-FFF2-40B4-BE49-F238E27FC236}">
                  <a16:creationId xmlns:a16="http://schemas.microsoft.com/office/drawing/2014/main" id="{3A4B4BA7-9861-45D5-8E66-9A148D502E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94" y="2091"/>
              <a:ext cx="10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2" name="Line 65">
              <a:extLst>
                <a:ext uri="{FF2B5EF4-FFF2-40B4-BE49-F238E27FC236}">
                  <a16:creationId xmlns:a16="http://schemas.microsoft.com/office/drawing/2014/main" id="{E78FB551-F470-4360-B742-876E7908380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56" y="194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3" name="Line 66">
              <a:extLst>
                <a:ext uri="{FF2B5EF4-FFF2-40B4-BE49-F238E27FC236}">
                  <a16:creationId xmlns:a16="http://schemas.microsoft.com/office/drawing/2014/main" id="{AB7349D4-BEB6-4CAA-AF90-2E85C02767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28" y="1950"/>
              <a:ext cx="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4" name="Line 67">
              <a:extLst>
                <a:ext uri="{FF2B5EF4-FFF2-40B4-BE49-F238E27FC236}">
                  <a16:creationId xmlns:a16="http://schemas.microsoft.com/office/drawing/2014/main" id="{B7E4298D-4D3C-46D9-B8F5-9A190C5E485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16" y="2217"/>
              <a:ext cx="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5" name="Line 68">
              <a:extLst>
                <a:ext uri="{FF2B5EF4-FFF2-40B4-BE49-F238E27FC236}">
                  <a16:creationId xmlns:a16="http://schemas.microsoft.com/office/drawing/2014/main" id="{C35B5C47-883C-4A54-B07B-0A8A7AC2AB0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19" y="2217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6" name="Line 69">
              <a:extLst>
                <a:ext uri="{FF2B5EF4-FFF2-40B4-BE49-F238E27FC236}">
                  <a16:creationId xmlns:a16="http://schemas.microsoft.com/office/drawing/2014/main" id="{1583FFC7-5B4D-41C8-8183-559A8547E49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92" y="2369"/>
              <a:ext cx="2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7" name="Line 70">
              <a:extLst>
                <a:ext uri="{FF2B5EF4-FFF2-40B4-BE49-F238E27FC236}">
                  <a16:creationId xmlns:a16="http://schemas.microsoft.com/office/drawing/2014/main" id="{67DEE1FD-5E47-4DBC-B8DE-6F7F74D972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2505"/>
              <a:ext cx="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8" name="Line 71">
              <a:extLst>
                <a:ext uri="{FF2B5EF4-FFF2-40B4-BE49-F238E27FC236}">
                  <a16:creationId xmlns:a16="http://schemas.microsoft.com/office/drawing/2014/main" id="{FB15D918-3C18-4062-BEC5-B9A589AB313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70" y="2505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9" name="Line 72">
              <a:extLst>
                <a:ext uri="{FF2B5EF4-FFF2-40B4-BE49-F238E27FC236}">
                  <a16:creationId xmlns:a16="http://schemas.microsoft.com/office/drawing/2014/main" id="{9D990A89-003C-4C49-B8E6-4C5E4C33FD2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53" y="2657"/>
              <a:ext cx="9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00" name="Line 73">
              <a:extLst>
                <a:ext uri="{FF2B5EF4-FFF2-40B4-BE49-F238E27FC236}">
                  <a16:creationId xmlns:a16="http://schemas.microsoft.com/office/drawing/2014/main" id="{BBB48AE8-F07F-4A33-9335-473BA3C6BC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42" y="2508"/>
              <a:ext cx="70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01" name="Line 74">
              <a:extLst>
                <a:ext uri="{FF2B5EF4-FFF2-40B4-BE49-F238E27FC236}">
                  <a16:creationId xmlns:a16="http://schemas.microsoft.com/office/drawing/2014/main" id="{098A5A01-E905-46B3-9483-2E72BBF21F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15" y="2515"/>
              <a:ext cx="6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02" name="Text Box 75">
              <a:extLst>
                <a:ext uri="{FF2B5EF4-FFF2-40B4-BE49-F238E27FC236}">
                  <a16:creationId xmlns:a16="http://schemas.microsoft.com/office/drawing/2014/main" id="{99579451-B745-44B6-835F-0E15BC15702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7" y="1937"/>
              <a:ext cx="336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RD</a:t>
              </a:r>
            </a:p>
          </p:txBody>
        </p:sp>
        <p:sp>
          <p:nvSpPr>
            <p:cNvPr id="168003" name="Line 76">
              <a:extLst>
                <a:ext uri="{FF2B5EF4-FFF2-40B4-BE49-F238E27FC236}">
                  <a16:creationId xmlns:a16="http://schemas.microsoft.com/office/drawing/2014/main" id="{B3C14E53-7851-445F-924E-8B19A78BCCE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97" y="1947"/>
              <a:ext cx="172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04" name="Text Box 77">
              <a:extLst>
                <a:ext uri="{FF2B5EF4-FFF2-40B4-BE49-F238E27FC236}">
                  <a16:creationId xmlns:a16="http://schemas.microsoft.com/office/drawing/2014/main" id="{D41FD44F-BBFA-4B29-BE43-D6658BB7DE2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4" y="2209"/>
              <a:ext cx="44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DT/R</a:t>
              </a:r>
            </a:p>
          </p:txBody>
        </p:sp>
        <p:sp>
          <p:nvSpPr>
            <p:cNvPr id="168005" name="Line 78">
              <a:extLst>
                <a:ext uri="{FF2B5EF4-FFF2-40B4-BE49-F238E27FC236}">
                  <a16:creationId xmlns:a16="http://schemas.microsoft.com/office/drawing/2014/main" id="{6CF56277-685F-41F0-BAD2-1D5F35541ED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86" y="2210"/>
              <a:ext cx="99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06" name="Text Box 79">
              <a:extLst>
                <a:ext uri="{FF2B5EF4-FFF2-40B4-BE49-F238E27FC236}">
                  <a16:creationId xmlns:a16="http://schemas.microsoft.com/office/drawing/2014/main" id="{4AEE9B16-4441-4014-AB21-AE21AA51C99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0" y="2518"/>
              <a:ext cx="38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DEN</a:t>
              </a:r>
            </a:p>
          </p:txBody>
        </p:sp>
        <p:sp>
          <p:nvSpPr>
            <p:cNvPr id="168007" name="Line 80">
              <a:extLst>
                <a:ext uri="{FF2B5EF4-FFF2-40B4-BE49-F238E27FC236}">
                  <a16:creationId xmlns:a16="http://schemas.microsoft.com/office/drawing/2014/main" id="{9B8AC1DE-C6CA-43AB-AEEE-B3B7AFC0D1F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5" y="2511"/>
              <a:ext cx="311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08" name="Text Box 81">
              <a:extLst>
                <a:ext uri="{FF2B5EF4-FFF2-40B4-BE49-F238E27FC236}">
                  <a16:creationId xmlns:a16="http://schemas.microsoft.com/office/drawing/2014/main" id="{F00428EF-5748-4B70-84A5-807FCE655B7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8" y="182"/>
              <a:ext cx="44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CLK</a:t>
              </a:r>
            </a:p>
          </p:txBody>
        </p:sp>
        <p:sp>
          <p:nvSpPr>
            <p:cNvPr id="168009" name="Text Box 82">
              <a:extLst>
                <a:ext uri="{FF2B5EF4-FFF2-40B4-BE49-F238E27FC236}">
                  <a16:creationId xmlns:a16="http://schemas.microsoft.com/office/drawing/2014/main" id="{3D2FCFB0-25AF-472F-8C4D-8FAE99D0D44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88" y="783"/>
              <a:ext cx="50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S6 ~ S3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68010" name="组合 123986">
              <a:extLst>
                <a:ext uri="{FF2B5EF4-FFF2-40B4-BE49-F238E27FC236}">
                  <a16:creationId xmlns:a16="http://schemas.microsoft.com/office/drawing/2014/main" id="{2C6ACDC0-F4A1-40D4-980C-E5F268F676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1056"/>
              <a:ext cx="3429" cy="508"/>
              <a:chOff x="0" y="0"/>
              <a:chExt cx="3429" cy="508"/>
            </a:xfrm>
          </p:grpSpPr>
          <p:sp>
            <p:nvSpPr>
              <p:cNvPr id="168014" name="Text Box 84">
                <a:extLst>
                  <a:ext uri="{FF2B5EF4-FFF2-40B4-BE49-F238E27FC236}">
                    <a16:creationId xmlns:a16="http://schemas.microsoft.com/office/drawing/2014/main" id="{A8165506-9503-43A8-9F07-E2E638B84A2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373" y="36"/>
                <a:ext cx="581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60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D15 ~D0</a:t>
                </a:r>
              </a:p>
            </p:txBody>
          </p:sp>
          <p:sp>
            <p:nvSpPr>
              <p:cNvPr id="168015" name="Text Box 85">
                <a:extLst>
                  <a:ext uri="{FF2B5EF4-FFF2-40B4-BE49-F238E27FC236}">
                    <a16:creationId xmlns:a16="http://schemas.microsoft.com/office/drawing/2014/main" id="{325A85F9-54E3-42E8-BC40-9FC68DD10F0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795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AD15~AD0</a:t>
                </a:r>
              </a:p>
            </p:txBody>
          </p:sp>
          <p:sp>
            <p:nvSpPr>
              <p:cNvPr id="168016" name="Line 86">
                <a:extLst>
                  <a:ext uri="{FF2B5EF4-FFF2-40B4-BE49-F238E27FC236}">
                    <a16:creationId xmlns:a16="http://schemas.microsoft.com/office/drawing/2014/main" id="{1F39594F-CCCE-41E0-B191-4EBC8AA66F6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21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17" name="Line 87">
                <a:extLst>
                  <a:ext uri="{FF2B5EF4-FFF2-40B4-BE49-F238E27FC236}">
                    <a16:creationId xmlns:a16="http://schemas.microsoft.com/office/drawing/2014/main" id="{51853153-674B-428E-A052-C6186C63B0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169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18" name="Line 88">
                <a:extLst>
                  <a:ext uri="{FF2B5EF4-FFF2-40B4-BE49-F238E27FC236}">
                    <a16:creationId xmlns:a16="http://schemas.microsoft.com/office/drawing/2014/main" id="{1274F93D-1DDD-4E3C-8CA2-7CBEE2AF36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83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19" name="Line 89">
                <a:extLst>
                  <a:ext uri="{FF2B5EF4-FFF2-40B4-BE49-F238E27FC236}">
                    <a16:creationId xmlns:a16="http://schemas.microsoft.com/office/drawing/2014/main" id="{786ECECD-3BB0-43CD-9CA8-0C24EC508CA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84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0" name="Line 90">
                <a:extLst>
                  <a:ext uri="{FF2B5EF4-FFF2-40B4-BE49-F238E27FC236}">
                    <a16:creationId xmlns:a16="http://schemas.microsoft.com/office/drawing/2014/main" id="{4D2636BA-8A13-4367-965E-AE292C9F0AC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51" y="21"/>
                <a:ext cx="5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1" name="Line 91">
                <a:extLst>
                  <a:ext uri="{FF2B5EF4-FFF2-40B4-BE49-F238E27FC236}">
                    <a16:creationId xmlns:a16="http://schemas.microsoft.com/office/drawing/2014/main" id="{D79D9161-A129-4478-A819-F619913187F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4" y="172"/>
                <a:ext cx="5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2" name="Line 92">
                <a:extLst>
                  <a:ext uri="{FF2B5EF4-FFF2-40B4-BE49-F238E27FC236}">
                    <a16:creationId xmlns:a16="http://schemas.microsoft.com/office/drawing/2014/main" id="{47326F13-2102-4566-BE56-DB23F9E415A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79" y="21"/>
                <a:ext cx="39" cy="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3" name="Line 93">
                <a:extLst>
                  <a:ext uri="{FF2B5EF4-FFF2-40B4-BE49-F238E27FC236}">
                    <a16:creationId xmlns:a16="http://schemas.microsoft.com/office/drawing/2014/main" id="{4A8DE3C3-E5E3-4A0D-9286-E048E0A73F7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780" y="99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4" name="Line 94">
                <a:extLst>
                  <a:ext uri="{FF2B5EF4-FFF2-40B4-BE49-F238E27FC236}">
                    <a16:creationId xmlns:a16="http://schemas.microsoft.com/office/drawing/2014/main" id="{6ACC8332-6080-464A-BD28-92E0DFE85C9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19" y="99"/>
                <a:ext cx="4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5" name="Line 95">
                <a:extLst>
                  <a:ext uri="{FF2B5EF4-FFF2-40B4-BE49-F238E27FC236}">
                    <a16:creationId xmlns:a16="http://schemas.microsoft.com/office/drawing/2014/main" id="{67EA9F13-FB6B-4868-AAC6-0E69B2E1F01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95" y="99"/>
                <a:ext cx="35" cy="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6" name="Line 96">
                <a:extLst>
                  <a:ext uri="{FF2B5EF4-FFF2-40B4-BE49-F238E27FC236}">
                    <a16:creationId xmlns:a16="http://schemas.microsoft.com/office/drawing/2014/main" id="{066703D7-D11B-4CDF-A627-FAB23F7FA66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93" y="24"/>
                <a:ext cx="37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7" name="Line 97">
                <a:extLst>
                  <a:ext uri="{FF2B5EF4-FFF2-40B4-BE49-F238E27FC236}">
                    <a16:creationId xmlns:a16="http://schemas.microsoft.com/office/drawing/2014/main" id="{057F92FB-6C36-4139-8287-11C9EE6F8B0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26" y="25"/>
                <a:ext cx="6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8" name="Line 98">
                <a:extLst>
                  <a:ext uri="{FF2B5EF4-FFF2-40B4-BE49-F238E27FC236}">
                    <a16:creationId xmlns:a16="http://schemas.microsoft.com/office/drawing/2014/main" id="{2FFB5BAA-2BC6-465A-850D-25E975B78E3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33" y="172"/>
                <a:ext cx="6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9" name="Line 99">
                <a:extLst>
                  <a:ext uri="{FF2B5EF4-FFF2-40B4-BE49-F238E27FC236}">
                    <a16:creationId xmlns:a16="http://schemas.microsoft.com/office/drawing/2014/main" id="{8376A700-ECFC-4D7C-AB57-341522C298A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40" y="25"/>
                <a:ext cx="39" cy="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0" name="Line 100">
                <a:extLst>
                  <a:ext uri="{FF2B5EF4-FFF2-40B4-BE49-F238E27FC236}">
                    <a16:creationId xmlns:a16="http://schemas.microsoft.com/office/drawing/2014/main" id="{E6C930D2-7EF2-4279-AFCE-820E35DC717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941" y="104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1" name="Line 101">
                <a:extLst>
                  <a:ext uri="{FF2B5EF4-FFF2-40B4-BE49-F238E27FC236}">
                    <a16:creationId xmlns:a16="http://schemas.microsoft.com/office/drawing/2014/main" id="{82D7E94B-9168-4141-8C2E-E79954BB833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79" y="99"/>
                <a:ext cx="45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2" name="Line 102">
                <a:extLst>
                  <a:ext uri="{FF2B5EF4-FFF2-40B4-BE49-F238E27FC236}">
                    <a16:creationId xmlns:a16="http://schemas.microsoft.com/office/drawing/2014/main" id="{31DD06E0-F7E6-4439-B8D1-9138D21791B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451"/>
                <a:ext cx="24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3" name="Line 103">
                <a:extLst>
                  <a:ext uri="{FF2B5EF4-FFF2-40B4-BE49-F238E27FC236}">
                    <a16:creationId xmlns:a16="http://schemas.microsoft.com/office/drawing/2014/main" id="{C859AB6A-786B-497F-80A4-3B9CB12E614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49" y="303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4" name="Line 104">
                <a:extLst>
                  <a:ext uri="{FF2B5EF4-FFF2-40B4-BE49-F238E27FC236}">
                    <a16:creationId xmlns:a16="http://schemas.microsoft.com/office/drawing/2014/main" id="{6626EBB6-038B-4BAA-A47E-24B8B0589A8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25" y="310"/>
                <a:ext cx="3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5" name="Line 105">
                <a:extLst>
                  <a:ext uri="{FF2B5EF4-FFF2-40B4-BE49-F238E27FC236}">
                    <a16:creationId xmlns:a16="http://schemas.microsoft.com/office/drawing/2014/main" id="{EDD94289-ED4E-4D2D-894C-C1C85086056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65" y="310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6" name="Line 106">
                <a:extLst>
                  <a:ext uri="{FF2B5EF4-FFF2-40B4-BE49-F238E27FC236}">
                    <a16:creationId xmlns:a16="http://schemas.microsoft.com/office/drawing/2014/main" id="{4314A7C0-5735-46A7-B9FE-0064937F769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28" y="457"/>
                <a:ext cx="19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7" name="Text Box 107">
                <a:extLst>
                  <a:ext uri="{FF2B5EF4-FFF2-40B4-BE49-F238E27FC236}">
                    <a16:creationId xmlns:a16="http://schemas.microsoft.com/office/drawing/2014/main" id="{1957F783-A3CC-4CE9-B2CD-14F5F8EBAFD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8" y="313"/>
                <a:ext cx="447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ALE</a:t>
                </a:r>
              </a:p>
            </p:txBody>
          </p:sp>
          <p:sp>
            <p:nvSpPr>
              <p:cNvPr id="168038" name="Text Box 108">
                <a:extLst>
                  <a:ext uri="{FF2B5EF4-FFF2-40B4-BE49-F238E27FC236}">
                    <a16:creationId xmlns:a16="http://schemas.microsoft.com/office/drawing/2014/main" id="{97740143-1297-43F8-9727-7FBFF7D642D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64" y="31"/>
                <a:ext cx="581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A15 ~ A0</a:t>
                </a:r>
                <a:endParaRPr lang="en-US" altLang="zh-CN" sz="1800">
                  <a:solidFill>
                    <a:srgbClr val="3333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8011" name="Line 109">
              <a:extLst>
                <a:ext uri="{FF2B5EF4-FFF2-40B4-BE49-F238E27FC236}">
                  <a16:creationId xmlns:a16="http://schemas.microsoft.com/office/drawing/2014/main" id="{A33576E4-3478-4BFF-943E-E7601DCF066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5" y="576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12" name="Line 110">
              <a:extLst>
                <a:ext uri="{FF2B5EF4-FFF2-40B4-BE49-F238E27FC236}">
                  <a16:creationId xmlns:a16="http://schemas.microsoft.com/office/drawing/2014/main" id="{C63D7400-C19C-43FB-9D3F-4B8D6440E9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8100000" flipH="1">
              <a:off x="1152" y="430"/>
              <a:ext cx="0" cy="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13" name="Line 111">
              <a:extLst>
                <a:ext uri="{FF2B5EF4-FFF2-40B4-BE49-F238E27FC236}">
                  <a16:creationId xmlns:a16="http://schemas.microsoft.com/office/drawing/2014/main" id="{1A6DDB2F-A5F9-4865-AF23-3277CA4354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 flipH="1">
              <a:off x="1121" y="439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4016" name="矩形 124015">
            <a:extLst>
              <a:ext uri="{FF2B5EF4-FFF2-40B4-BE49-F238E27FC236}">
                <a16:creationId xmlns:a16="http://schemas.microsoft.com/office/drawing/2014/main" id="{44A76BAA-70C8-4D58-9988-E279CEFC2C10}"/>
              </a:ext>
            </a:extLst>
          </p:cNvPr>
          <p:cNvSpPr/>
          <p:nvPr/>
        </p:nvSpPr>
        <p:spPr>
          <a:xfrm>
            <a:off x="6156325" y="1628775"/>
            <a:ext cx="20875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cs typeface="+mn-ea"/>
              </a:rPr>
              <a:t>在</a:t>
            </a:r>
            <a:r>
              <a:rPr lang="en-US" altLang="x-none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cs typeface="+mn-ea"/>
              </a:rPr>
              <a:t>T4</a:t>
            </a: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cs typeface="+mn-ea"/>
              </a:rPr>
              <a:t>周期：</a:t>
            </a:r>
            <a:endParaRPr lang="zh-CN" altLang="en-US" sz="28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</p:txBody>
      </p:sp>
      <p:sp>
        <p:nvSpPr>
          <p:cNvPr id="119920" name="灯片编号占位符 1">
            <a:extLst>
              <a:ext uri="{FF2B5EF4-FFF2-40B4-BE49-F238E27FC236}">
                <a16:creationId xmlns:a16="http://schemas.microsoft.com/office/drawing/2014/main" id="{AF983075-2205-4E9B-AF05-28925E84D63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B8FF037-A58B-4A38-9B8C-421BA41710A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110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1240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6" grpId="0"/>
      <p:bldP spid="124016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>
            <a:extLst>
              <a:ext uri="{FF2B5EF4-FFF2-40B4-BE49-F238E27FC236}">
                <a16:creationId xmlns:a16="http://schemas.microsoft.com/office/drawing/2014/main" id="{4C69174C-C433-43E1-9ABC-3B0F888A5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088" y="2349500"/>
            <a:ext cx="3457575" cy="360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 sz="26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rPr>
              <a:t>1）BHE</a:t>
            </a:r>
            <a:r>
              <a:rPr lang="en-US" altLang="zh-CN" sz="26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rPr>
              <a:t>/S7</a:t>
            </a:r>
            <a:r>
              <a:rPr lang="zh-CN" altLang="en-US" sz="26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rPr>
              <a:t>怎么变化？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  <a:ea typeface="楷体_GB2312" pitchFamily="49" charset="-122"/>
              </a:rPr>
              <a:t>   比如本例改为：</a:t>
            </a:r>
            <a:r>
              <a:rPr lang="en-US" altLang="zh-CN" sz="2600">
                <a:latin typeface="Times New Roman" panose="02020603050405020304" pitchFamily="18" charset="0"/>
              </a:rPr>
              <a:t>DS=3000H, BX=500</a:t>
            </a:r>
            <a:r>
              <a:rPr lang="zh-CN" altLang="en-US" sz="2600">
                <a:latin typeface="Times New Roman" panose="02020603050405020304" pitchFamily="18" charset="0"/>
              </a:rPr>
              <a:t>B</a:t>
            </a:r>
            <a:r>
              <a:rPr lang="en-US" altLang="zh-CN" sz="2600">
                <a:latin typeface="Times New Roman" panose="02020603050405020304" pitchFamily="18" charset="0"/>
              </a:rPr>
              <a:t>H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试说明总线周期内BHE信号变化。（</a:t>
            </a:r>
            <a:r>
              <a:rPr lang="zh-CN" altLang="en-US" sz="2600">
                <a:solidFill>
                  <a:srgbClr val="FF3300"/>
                </a:solidFill>
                <a:latin typeface="Times New Roman" panose="02020603050405020304" pitchFamily="18" charset="0"/>
              </a:rPr>
              <a:t>作为作业</a:t>
            </a:r>
            <a:r>
              <a:rPr lang="zh-CN" altLang="en-US" sz="2600">
                <a:latin typeface="Times New Roman" panose="02020603050405020304" pitchFamily="18" charset="0"/>
              </a:rPr>
              <a:t>）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2）执行写IO端口时时序图又该怎么样呢？</a:t>
            </a:r>
            <a:endParaRPr lang="en-US" altLang="zh-CN" sz="2600">
              <a:latin typeface="Times New Roman" panose="02020603050405020304" pitchFamily="18" charset="0"/>
            </a:endParaRPr>
          </a:p>
        </p:txBody>
      </p:sp>
      <p:sp>
        <p:nvSpPr>
          <p:cNvPr id="124931" name="Rectangle 5">
            <a:extLst>
              <a:ext uri="{FF2B5EF4-FFF2-40B4-BE49-F238E27FC236}">
                <a16:creationId xmlns:a16="http://schemas.microsoft.com/office/drawing/2014/main" id="{855FBABB-50EA-48E9-BD7E-0C3AAC17F303}"/>
              </a:ext>
            </a:extLst>
          </p:cNvPr>
          <p:cNvSpPr>
            <a:spLocks noGrp="1" noRot="1"/>
          </p:cNvSpPr>
          <p:nvPr>
            <p:ph type="title" idx="4294967295"/>
          </p:nvPr>
        </p:nvSpPr>
        <p:spPr>
          <a:xfrm>
            <a:off x="457200" y="276225"/>
            <a:ext cx="8229600" cy="561975"/>
          </a:xfrm>
        </p:spPr>
        <p:txBody>
          <a:bodyPr/>
          <a:lstStyle/>
          <a:p>
            <a:pPr eaLnBrk="1" hangingPunct="1">
              <a:buClr>
                <a:srgbClr val="000000"/>
              </a:buClr>
              <a:defRPr/>
            </a:pP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执行指令</a:t>
            </a:r>
            <a:r>
              <a:rPr lang="en-US" altLang="zh-CN" sz="3200" b="1" noProof="1">
                <a:latin typeface="仿宋" panose="02010609060101010101" charset="-122"/>
                <a:ea typeface="仿宋" panose="02010609060101010101" charset="-122"/>
              </a:rPr>
              <a:t>MOV  AL,[BX]</a:t>
            </a: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的时序</a:t>
            </a:r>
            <a:endParaRPr lang="zh-CN" altLang="en-US" sz="3200" b="1" noProof="1">
              <a:effectLst>
                <a:outerShdw blurRad="38100" dist="38100" dir="2700000">
                  <a:srgbClr val="C0C0C0"/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168964" name="组合 124931">
            <a:extLst>
              <a:ext uri="{FF2B5EF4-FFF2-40B4-BE49-F238E27FC236}">
                <a16:creationId xmlns:a16="http://schemas.microsoft.com/office/drawing/2014/main" id="{12392CD1-3240-4C12-A0FB-7BB32ABB6D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1447800"/>
            <a:ext cx="5638800" cy="4267200"/>
            <a:chOff x="0" y="0"/>
            <a:chExt cx="3552" cy="2688"/>
          </a:xfrm>
        </p:grpSpPr>
        <p:sp>
          <p:nvSpPr>
            <p:cNvPr id="168969" name="Text Box 7">
              <a:extLst>
                <a:ext uri="{FF2B5EF4-FFF2-40B4-BE49-F238E27FC236}">
                  <a16:creationId xmlns:a16="http://schemas.microsoft.com/office/drawing/2014/main" id="{7AA63122-0604-4279-9AB7-1BC4BE4ACFE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25" y="773"/>
              <a:ext cx="58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rgbClr val="3333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>
                  <a:latin typeface="Times New Roman" panose="02020603050405020304" pitchFamily="18" charset="0"/>
                </a:rPr>
                <a:t>A19~A16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8970" name="Line 8">
              <a:extLst>
                <a:ext uri="{FF2B5EF4-FFF2-40B4-BE49-F238E27FC236}">
                  <a16:creationId xmlns:a16="http://schemas.microsoft.com/office/drawing/2014/main" id="{DE708F8E-5200-47B1-A886-88C03FF2863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88" y="12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71" name="Line 9">
              <a:extLst>
                <a:ext uri="{FF2B5EF4-FFF2-40B4-BE49-F238E27FC236}">
                  <a16:creationId xmlns:a16="http://schemas.microsoft.com/office/drawing/2014/main" id="{69B61506-7E0D-4440-9A0D-976674A894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7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72" name="Line 10">
              <a:extLst>
                <a:ext uri="{FF2B5EF4-FFF2-40B4-BE49-F238E27FC236}">
                  <a16:creationId xmlns:a16="http://schemas.microsoft.com/office/drawing/2014/main" id="{25F46D60-D9D0-45D6-B2E7-E4148D8DFC0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63" y="18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73" name="Line 11">
              <a:extLst>
                <a:ext uri="{FF2B5EF4-FFF2-40B4-BE49-F238E27FC236}">
                  <a16:creationId xmlns:a16="http://schemas.microsoft.com/office/drawing/2014/main" id="{24DF3DD2-CA7D-486E-BC3A-2F0429BCD3B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5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74" name="Line 12">
              <a:extLst>
                <a:ext uri="{FF2B5EF4-FFF2-40B4-BE49-F238E27FC236}">
                  <a16:creationId xmlns:a16="http://schemas.microsoft.com/office/drawing/2014/main" id="{E070E435-2C89-496C-B72B-4410219EBAA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2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75" name="Text Box 13">
              <a:extLst>
                <a:ext uri="{FF2B5EF4-FFF2-40B4-BE49-F238E27FC236}">
                  <a16:creationId xmlns:a16="http://schemas.microsoft.com/office/drawing/2014/main" id="{97453D79-61E3-4731-B910-6674F94D269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7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T1</a:t>
              </a:r>
            </a:p>
          </p:txBody>
        </p:sp>
        <p:sp>
          <p:nvSpPr>
            <p:cNvPr id="168976" name="Text Box 14">
              <a:extLst>
                <a:ext uri="{FF2B5EF4-FFF2-40B4-BE49-F238E27FC236}">
                  <a16:creationId xmlns:a16="http://schemas.microsoft.com/office/drawing/2014/main" id="{20104E03-48AA-469E-A938-5F1264C2967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0" y="0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168977" name="Text Box 15">
              <a:extLst>
                <a:ext uri="{FF2B5EF4-FFF2-40B4-BE49-F238E27FC236}">
                  <a16:creationId xmlns:a16="http://schemas.microsoft.com/office/drawing/2014/main" id="{5A6A6BAE-FB26-4C1F-9153-7C79A68320E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49" y="2"/>
              <a:ext cx="19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T3</a:t>
              </a:r>
            </a:p>
          </p:txBody>
        </p:sp>
        <p:sp>
          <p:nvSpPr>
            <p:cNvPr id="168978" name="Text Box 16">
              <a:extLst>
                <a:ext uri="{FF2B5EF4-FFF2-40B4-BE49-F238E27FC236}">
                  <a16:creationId xmlns:a16="http://schemas.microsoft.com/office/drawing/2014/main" id="{059568FB-9238-4077-89DC-3CC4048EE81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18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T4</a:t>
              </a:r>
            </a:p>
          </p:txBody>
        </p:sp>
        <p:sp>
          <p:nvSpPr>
            <p:cNvPr id="168979" name="Line 17">
              <a:extLst>
                <a:ext uri="{FF2B5EF4-FFF2-40B4-BE49-F238E27FC236}">
                  <a16:creationId xmlns:a16="http://schemas.microsoft.com/office/drawing/2014/main" id="{36BB20BB-F390-4E52-9789-46785225967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0" name="Line 18">
              <a:extLst>
                <a:ext uri="{FF2B5EF4-FFF2-40B4-BE49-F238E27FC236}">
                  <a16:creationId xmlns:a16="http://schemas.microsoft.com/office/drawing/2014/main" id="{B1E238D5-8538-4E7B-8BD5-230ADB0EDA6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0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1" name="Line 19">
              <a:extLst>
                <a:ext uri="{FF2B5EF4-FFF2-40B4-BE49-F238E27FC236}">
                  <a16:creationId xmlns:a16="http://schemas.microsoft.com/office/drawing/2014/main" id="{F608E526-9EDB-4E3C-A7A3-F5DD852F1E4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74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2" name="Line 20">
              <a:extLst>
                <a:ext uri="{FF2B5EF4-FFF2-40B4-BE49-F238E27FC236}">
                  <a16:creationId xmlns:a16="http://schemas.microsoft.com/office/drawing/2014/main" id="{5B51B52A-2705-4F9A-8588-40FD0FC4C9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82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3" name="Line 21">
              <a:extLst>
                <a:ext uri="{FF2B5EF4-FFF2-40B4-BE49-F238E27FC236}">
                  <a16:creationId xmlns:a16="http://schemas.microsoft.com/office/drawing/2014/main" id="{3E8751E4-648B-42E3-950E-F045196CFD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51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4" name="Line 22">
              <a:extLst>
                <a:ext uri="{FF2B5EF4-FFF2-40B4-BE49-F238E27FC236}">
                  <a16:creationId xmlns:a16="http://schemas.microsoft.com/office/drawing/2014/main" id="{6F887509-C9F5-4D21-AB48-D51753F203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58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5" name="Line 23">
              <a:extLst>
                <a:ext uri="{FF2B5EF4-FFF2-40B4-BE49-F238E27FC236}">
                  <a16:creationId xmlns:a16="http://schemas.microsoft.com/office/drawing/2014/main" id="{FC242B13-77DF-4E73-8148-15E7F72B1C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7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6" name="Line 24">
              <a:extLst>
                <a:ext uri="{FF2B5EF4-FFF2-40B4-BE49-F238E27FC236}">
                  <a16:creationId xmlns:a16="http://schemas.microsoft.com/office/drawing/2014/main" id="{7B0677C9-14D5-4089-AC3E-D811EAD5EC1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3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7" name="Line 25">
              <a:extLst>
                <a:ext uri="{FF2B5EF4-FFF2-40B4-BE49-F238E27FC236}">
                  <a16:creationId xmlns:a16="http://schemas.microsoft.com/office/drawing/2014/main" id="{17DC3983-B854-44A0-B6D2-0C2FF712E61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04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8" name="Line 26">
              <a:extLst>
                <a:ext uri="{FF2B5EF4-FFF2-40B4-BE49-F238E27FC236}">
                  <a16:creationId xmlns:a16="http://schemas.microsoft.com/office/drawing/2014/main" id="{154B2673-2EF5-4171-82AE-7F325FECB8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1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9" name="Line 27">
              <a:extLst>
                <a:ext uri="{FF2B5EF4-FFF2-40B4-BE49-F238E27FC236}">
                  <a16:creationId xmlns:a16="http://schemas.microsoft.com/office/drawing/2014/main" id="{1292B9A9-3B4F-4A5F-9319-C93F26609DC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80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0" name="Line 28">
              <a:extLst>
                <a:ext uri="{FF2B5EF4-FFF2-40B4-BE49-F238E27FC236}">
                  <a16:creationId xmlns:a16="http://schemas.microsoft.com/office/drawing/2014/main" id="{1BCB9978-81C2-474C-B783-E0734D6B35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387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1" name="Line 29">
              <a:extLst>
                <a:ext uri="{FF2B5EF4-FFF2-40B4-BE49-F238E27FC236}">
                  <a16:creationId xmlns:a16="http://schemas.microsoft.com/office/drawing/2014/main" id="{CD89DA44-670E-406B-B0E4-1CB2978A96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5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2" name="Line 30">
              <a:extLst>
                <a:ext uri="{FF2B5EF4-FFF2-40B4-BE49-F238E27FC236}">
                  <a16:creationId xmlns:a16="http://schemas.microsoft.com/office/drawing/2014/main" id="{4E0C24C9-B13F-4B2E-9B3B-97CC83E55E2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60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3" name="Line 31">
              <a:extLst>
                <a:ext uri="{FF2B5EF4-FFF2-40B4-BE49-F238E27FC236}">
                  <a16:creationId xmlns:a16="http://schemas.microsoft.com/office/drawing/2014/main" id="{68156E5F-F936-4EE3-9B1D-FF721BAB3F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37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4" name="Line 32">
              <a:extLst>
                <a:ext uri="{FF2B5EF4-FFF2-40B4-BE49-F238E27FC236}">
                  <a16:creationId xmlns:a16="http://schemas.microsoft.com/office/drawing/2014/main" id="{27929384-1F34-4204-9AFA-11398261483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06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5" name="Line 33">
              <a:extLst>
                <a:ext uri="{FF2B5EF4-FFF2-40B4-BE49-F238E27FC236}">
                  <a16:creationId xmlns:a16="http://schemas.microsoft.com/office/drawing/2014/main" id="{0DD28A11-8612-4A49-BD0B-B330E808E5C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3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6" name="Line 34">
              <a:extLst>
                <a:ext uri="{FF2B5EF4-FFF2-40B4-BE49-F238E27FC236}">
                  <a16:creationId xmlns:a16="http://schemas.microsoft.com/office/drawing/2014/main" id="{632F71D1-8B07-4F25-A720-BE09F96A04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83" y="166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7" name="Text Box 35">
              <a:extLst>
                <a:ext uri="{FF2B5EF4-FFF2-40B4-BE49-F238E27FC236}">
                  <a16:creationId xmlns:a16="http://schemas.microsoft.com/office/drawing/2014/main" id="{4E2711BE-9873-4066-99DA-F18C5C93278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9" y="691"/>
              <a:ext cx="66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A19~A16</a:t>
              </a:r>
            </a:p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/S6~S3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8998" name="Text Box 36">
              <a:extLst>
                <a:ext uri="{FF2B5EF4-FFF2-40B4-BE49-F238E27FC236}">
                  <a16:creationId xmlns:a16="http://schemas.microsoft.com/office/drawing/2014/main" id="{9CE1D2FA-450D-410F-9E4E-02293333FF1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8" y="459"/>
              <a:ext cx="4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>
                  <a:solidFill>
                    <a:schemeClr val="tx2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IO</a:t>
              </a:r>
              <a:endParaRPr lang="en-US" altLang="zh-CN" sz="1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8999" name="Line 37">
              <a:extLst>
                <a:ext uri="{FF2B5EF4-FFF2-40B4-BE49-F238E27FC236}">
                  <a16:creationId xmlns:a16="http://schemas.microsoft.com/office/drawing/2014/main" id="{A13DE127-DA4D-47A0-9296-8DCD79E062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7" y="461"/>
              <a:ext cx="125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0" name="Line 38">
              <a:extLst>
                <a:ext uri="{FF2B5EF4-FFF2-40B4-BE49-F238E27FC236}">
                  <a16:creationId xmlns:a16="http://schemas.microsoft.com/office/drawing/2014/main" id="{70EB6533-7EDB-4EE7-9F5D-87C6645FF18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29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1" name="Line 39">
              <a:extLst>
                <a:ext uri="{FF2B5EF4-FFF2-40B4-BE49-F238E27FC236}">
                  <a16:creationId xmlns:a16="http://schemas.microsoft.com/office/drawing/2014/main" id="{0D5D568B-D90A-4896-862C-97C5FB90814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82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2" name="Line 40">
              <a:extLst>
                <a:ext uri="{FF2B5EF4-FFF2-40B4-BE49-F238E27FC236}">
                  <a16:creationId xmlns:a16="http://schemas.microsoft.com/office/drawing/2014/main" id="{5CB4272F-CD97-46FE-A97E-1DA3B1DB103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464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3" name="Line 41">
              <a:extLst>
                <a:ext uri="{FF2B5EF4-FFF2-40B4-BE49-F238E27FC236}">
                  <a16:creationId xmlns:a16="http://schemas.microsoft.com/office/drawing/2014/main" id="{A65B423B-ECF5-46AB-A8A8-AFBA1F7A6CA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83" y="476"/>
              <a:ext cx="2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4" name="Line 42">
              <a:extLst>
                <a:ext uri="{FF2B5EF4-FFF2-40B4-BE49-F238E27FC236}">
                  <a16:creationId xmlns:a16="http://schemas.microsoft.com/office/drawing/2014/main" id="{81689FA6-B0C4-4A37-90DD-76FE7FD01FD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768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5" name="Line 43">
              <a:extLst>
                <a:ext uri="{FF2B5EF4-FFF2-40B4-BE49-F238E27FC236}">
                  <a16:creationId xmlns:a16="http://schemas.microsoft.com/office/drawing/2014/main" id="{482C8C64-6AEA-4278-BD76-8587E79C391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916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9006" name="组合 124969">
              <a:extLst>
                <a:ext uri="{FF2B5EF4-FFF2-40B4-BE49-F238E27FC236}">
                  <a16:creationId xmlns:a16="http://schemas.microsoft.com/office/drawing/2014/main" id="{C2454F66-5B1D-4AF9-BF7D-99D6CAD309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76" y="768"/>
              <a:ext cx="70" cy="148"/>
              <a:chOff x="0" y="0"/>
              <a:chExt cx="212" cy="567"/>
            </a:xfrm>
          </p:grpSpPr>
          <p:sp>
            <p:nvSpPr>
              <p:cNvPr id="169072" name="Line 45">
                <a:extLst>
                  <a:ext uri="{FF2B5EF4-FFF2-40B4-BE49-F238E27FC236}">
                    <a16:creationId xmlns:a16="http://schemas.microsoft.com/office/drawing/2014/main" id="{E73F7379-3DAF-49B3-A0BB-E98562B3841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73" name="Line 46">
                <a:extLst>
                  <a:ext uri="{FF2B5EF4-FFF2-40B4-BE49-F238E27FC236}">
                    <a16:creationId xmlns:a16="http://schemas.microsoft.com/office/drawing/2014/main" id="{09B755B8-115E-4675-A5CA-D23522B00F9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9007" name="Line 47">
              <a:extLst>
                <a:ext uri="{FF2B5EF4-FFF2-40B4-BE49-F238E27FC236}">
                  <a16:creationId xmlns:a16="http://schemas.microsoft.com/office/drawing/2014/main" id="{895976D7-6C0F-40EE-AE46-D433DD3993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4" y="768"/>
              <a:ext cx="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8" name="Line 48">
              <a:extLst>
                <a:ext uri="{FF2B5EF4-FFF2-40B4-BE49-F238E27FC236}">
                  <a16:creationId xmlns:a16="http://schemas.microsoft.com/office/drawing/2014/main" id="{E32E44F8-8E9B-406D-858C-4578E9F040C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57" y="919"/>
              <a:ext cx="5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9009" name="组合 124974">
              <a:extLst>
                <a:ext uri="{FF2B5EF4-FFF2-40B4-BE49-F238E27FC236}">
                  <a16:creationId xmlns:a16="http://schemas.microsoft.com/office/drawing/2014/main" id="{8C335F1C-BB3A-4EB0-9C40-7893D4AA80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72" y="768"/>
              <a:ext cx="70" cy="148"/>
              <a:chOff x="0" y="0"/>
              <a:chExt cx="212" cy="567"/>
            </a:xfrm>
          </p:grpSpPr>
          <p:sp>
            <p:nvSpPr>
              <p:cNvPr id="169070" name="Line 50">
                <a:extLst>
                  <a:ext uri="{FF2B5EF4-FFF2-40B4-BE49-F238E27FC236}">
                    <a16:creationId xmlns:a16="http://schemas.microsoft.com/office/drawing/2014/main" id="{713648B1-EE74-4E3A-AC40-58B2400E4E8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71" name="Line 51">
                <a:extLst>
                  <a:ext uri="{FF2B5EF4-FFF2-40B4-BE49-F238E27FC236}">
                    <a16:creationId xmlns:a16="http://schemas.microsoft.com/office/drawing/2014/main" id="{11C87F34-4678-4152-B963-0F1C3A44A72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9010" name="Line 52">
              <a:extLst>
                <a:ext uri="{FF2B5EF4-FFF2-40B4-BE49-F238E27FC236}">
                  <a16:creationId xmlns:a16="http://schemas.microsoft.com/office/drawing/2014/main" id="{03D74233-E7D9-4135-862B-6DD91A92BA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51" y="768"/>
              <a:ext cx="1623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1" name="Line 53">
              <a:extLst>
                <a:ext uri="{FF2B5EF4-FFF2-40B4-BE49-F238E27FC236}">
                  <a16:creationId xmlns:a16="http://schemas.microsoft.com/office/drawing/2014/main" id="{D714B106-BEA7-46CC-BAD1-607B51D3DDB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45" y="914"/>
              <a:ext cx="1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9012" name="组合 124979">
              <a:extLst>
                <a:ext uri="{FF2B5EF4-FFF2-40B4-BE49-F238E27FC236}">
                  <a16:creationId xmlns:a16="http://schemas.microsoft.com/office/drawing/2014/main" id="{B7AA1C2C-F728-4BFB-941B-2A4AA26650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9" y="1618"/>
              <a:ext cx="3335" cy="158"/>
              <a:chOff x="0" y="0"/>
              <a:chExt cx="3335" cy="158"/>
            </a:xfrm>
          </p:grpSpPr>
          <p:sp>
            <p:nvSpPr>
              <p:cNvPr id="169063" name="Text Box 55">
                <a:extLst>
                  <a:ext uri="{FF2B5EF4-FFF2-40B4-BE49-F238E27FC236}">
                    <a16:creationId xmlns:a16="http://schemas.microsoft.com/office/drawing/2014/main" id="{2DE10D44-D74B-49F7-BBC7-060BFCECE02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614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A19~A0</a:t>
                </a:r>
              </a:p>
            </p:txBody>
          </p:sp>
          <p:sp>
            <p:nvSpPr>
              <p:cNvPr id="169064" name="Line 56">
                <a:extLst>
                  <a:ext uri="{FF2B5EF4-FFF2-40B4-BE49-F238E27FC236}">
                    <a16:creationId xmlns:a16="http://schemas.microsoft.com/office/drawing/2014/main" id="{50365ED1-DF15-4218-A4E4-6AFA3402629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0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5" name="Line 57">
                <a:extLst>
                  <a:ext uri="{FF2B5EF4-FFF2-40B4-BE49-F238E27FC236}">
                    <a16:creationId xmlns:a16="http://schemas.microsoft.com/office/drawing/2014/main" id="{DABFEF86-5B2E-413A-871B-45C6F8FF647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148"/>
                <a:ext cx="374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6" name="Line 58">
                <a:extLst>
                  <a:ext uri="{FF2B5EF4-FFF2-40B4-BE49-F238E27FC236}">
                    <a16:creationId xmlns:a16="http://schemas.microsoft.com/office/drawing/2014/main" id="{8A91BABB-956F-46B8-A39A-2BD6F6309AB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32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7" name="Line 59">
                <a:extLst>
                  <a:ext uri="{FF2B5EF4-FFF2-40B4-BE49-F238E27FC236}">
                    <a16:creationId xmlns:a16="http://schemas.microsoft.com/office/drawing/2014/main" id="{36BF4D79-DBB5-4056-B81A-B07F916FCDD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33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8" name="Line 60">
                <a:extLst>
                  <a:ext uri="{FF2B5EF4-FFF2-40B4-BE49-F238E27FC236}">
                    <a16:creationId xmlns:a16="http://schemas.microsoft.com/office/drawing/2014/main" id="{8DE8C60D-EFA6-4760-B224-C6EDEBBAC6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00" y="0"/>
                <a:ext cx="2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9" name="Line 61">
                <a:extLst>
                  <a:ext uri="{FF2B5EF4-FFF2-40B4-BE49-F238E27FC236}">
                    <a16:creationId xmlns:a16="http://schemas.microsoft.com/office/drawing/2014/main" id="{2CF495EE-3F9E-4C1C-B4C0-276014F934E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02" y="147"/>
                <a:ext cx="223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9013" name="Line 62">
              <a:extLst>
                <a:ext uri="{FF2B5EF4-FFF2-40B4-BE49-F238E27FC236}">
                  <a16:creationId xmlns:a16="http://schemas.microsoft.com/office/drawing/2014/main" id="{1381FBFA-8ECF-482D-9A6F-448AC4B6A42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2" y="1940"/>
              <a:ext cx="8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4" name="Line 63">
              <a:extLst>
                <a:ext uri="{FF2B5EF4-FFF2-40B4-BE49-F238E27FC236}">
                  <a16:creationId xmlns:a16="http://schemas.microsoft.com/office/drawing/2014/main" id="{68826C6A-946E-4F66-A3C0-154611E121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0" y="1940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5" name="Line 64">
              <a:extLst>
                <a:ext uri="{FF2B5EF4-FFF2-40B4-BE49-F238E27FC236}">
                  <a16:creationId xmlns:a16="http://schemas.microsoft.com/office/drawing/2014/main" id="{35B8F3A5-E662-4731-BE5C-DBB1F815752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94" y="2091"/>
              <a:ext cx="10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6" name="Line 65">
              <a:extLst>
                <a:ext uri="{FF2B5EF4-FFF2-40B4-BE49-F238E27FC236}">
                  <a16:creationId xmlns:a16="http://schemas.microsoft.com/office/drawing/2014/main" id="{8918E541-AD8D-4486-A60F-54DB65DC777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56" y="194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7" name="Line 66">
              <a:extLst>
                <a:ext uri="{FF2B5EF4-FFF2-40B4-BE49-F238E27FC236}">
                  <a16:creationId xmlns:a16="http://schemas.microsoft.com/office/drawing/2014/main" id="{E1FC2B0C-62E3-4F2E-87B4-A03238563E3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28" y="1950"/>
              <a:ext cx="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8" name="Line 67">
              <a:extLst>
                <a:ext uri="{FF2B5EF4-FFF2-40B4-BE49-F238E27FC236}">
                  <a16:creationId xmlns:a16="http://schemas.microsoft.com/office/drawing/2014/main" id="{47D0C9E1-8AD0-4CDB-A2CF-32337DA260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16" y="2217"/>
              <a:ext cx="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9" name="Line 68">
              <a:extLst>
                <a:ext uri="{FF2B5EF4-FFF2-40B4-BE49-F238E27FC236}">
                  <a16:creationId xmlns:a16="http://schemas.microsoft.com/office/drawing/2014/main" id="{C3907F37-78EF-4CD5-BA3B-D8285C03E4E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19" y="2217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0" name="Line 69">
              <a:extLst>
                <a:ext uri="{FF2B5EF4-FFF2-40B4-BE49-F238E27FC236}">
                  <a16:creationId xmlns:a16="http://schemas.microsoft.com/office/drawing/2014/main" id="{EBBEF9E3-C120-4345-B1D5-9DC898C86A9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92" y="2369"/>
              <a:ext cx="2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1" name="Line 70">
              <a:extLst>
                <a:ext uri="{FF2B5EF4-FFF2-40B4-BE49-F238E27FC236}">
                  <a16:creationId xmlns:a16="http://schemas.microsoft.com/office/drawing/2014/main" id="{9FB4F988-3F45-46B9-9826-EF67CE6903D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2505"/>
              <a:ext cx="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2" name="Line 71">
              <a:extLst>
                <a:ext uri="{FF2B5EF4-FFF2-40B4-BE49-F238E27FC236}">
                  <a16:creationId xmlns:a16="http://schemas.microsoft.com/office/drawing/2014/main" id="{16E9E861-833E-4814-ADE8-AF3FE207162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70" y="2505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3" name="Line 72">
              <a:extLst>
                <a:ext uri="{FF2B5EF4-FFF2-40B4-BE49-F238E27FC236}">
                  <a16:creationId xmlns:a16="http://schemas.microsoft.com/office/drawing/2014/main" id="{4D0C5C3D-ACD3-4464-A356-97D7AC8A9FA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53" y="2657"/>
              <a:ext cx="9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4" name="Line 73">
              <a:extLst>
                <a:ext uri="{FF2B5EF4-FFF2-40B4-BE49-F238E27FC236}">
                  <a16:creationId xmlns:a16="http://schemas.microsoft.com/office/drawing/2014/main" id="{1B3364D0-BCB0-43D9-B01B-245FC26B2B2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42" y="2508"/>
              <a:ext cx="70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5" name="Line 74">
              <a:extLst>
                <a:ext uri="{FF2B5EF4-FFF2-40B4-BE49-F238E27FC236}">
                  <a16:creationId xmlns:a16="http://schemas.microsoft.com/office/drawing/2014/main" id="{C53CD91C-02BA-4A70-9CDB-9EC9C31FA0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15" y="2515"/>
              <a:ext cx="6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6" name="Text Box 75">
              <a:extLst>
                <a:ext uri="{FF2B5EF4-FFF2-40B4-BE49-F238E27FC236}">
                  <a16:creationId xmlns:a16="http://schemas.microsoft.com/office/drawing/2014/main" id="{5CB93233-510E-444D-B734-33A175F94F3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7" y="1937"/>
              <a:ext cx="336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RD</a:t>
              </a:r>
            </a:p>
          </p:txBody>
        </p:sp>
        <p:sp>
          <p:nvSpPr>
            <p:cNvPr id="169027" name="Line 76">
              <a:extLst>
                <a:ext uri="{FF2B5EF4-FFF2-40B4-BE49-F238E27FC236}">
                  <a16:creationId xmlns:a16="http://schemas.microsoft.com/office/drawing/2014/main" id="{69F41F89-E075-4BD9-896E-29A9402FBA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97" y="1947"/>
              <a:ext cx="172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8" name="Text Box 77">
              <a:extLst>
                <a:ext uri="{FF2B5EF4-FFF2-40B4-BE49-F238E27FC236}">
                  <a16:creationId xmlns:a16="http://schemas.microsoft.com/office/drawing/2014/main" id="{BC75C78C-5B29-4F6E-BD35-5B40EDA6E9C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4" y="2209"/>
              <a:ext cx="44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DT/R</a:t>
              </a:r>
            </a:p>
          </p:txBody>
        </p:sp>
        <p:sp>
          <p:nvSpPr>
            <p:cNvPr id="169029" name="Line 78">
              <a:extLst>
                <a:ext uri="{FF2B5EF4-FFF2-40B4-BE49-F238E27FC236}">
                  <a16:creationId xmlns:a16="http://schemas.microsoft.com/office/drawing/2014/main" id="{7F07AF94-8E1A-434A-9B42-8DDEA26DAC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86" y="2210"/>
              <a:ext cx="99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30" name="Text Box 79">
              <a:extLst>
                <a:ext uri="{FF2B5EF4-FFF2-40B4-BE49-F238E27FC236}">
                  <a16:creationId xmlns:a16="http://schemas.microsoft.com/office/drawing/2014/main" id="{26C97512-156C-434D-8E04-E9947471AD5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0" y="2518"/>
              <a:ext cx="38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DEN</a:t>
              </a:r>
            </a:p>
          </p:txBody>
        </p:sp>
        <p:sp>
          <p:nvSpPr>
            <p:cNvPr id="169031" name="Line 80">
              <a:extLst>
                <a:ext uri="{FF2B5EF4-FFF2-40B4-BE49-F238E27FC236}">
                  <a16:creationId xmlns:a16="http://schemas.microsoft.com/office/drawing/2014/main" id="{F03CE031-CD56-4835-A70F-F7F7AA28BAE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5" y="2511"/>
              <a:ext cx="311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32" name="Text Box 81">
              <a:extLst>
                <a:ext uri="{FF2B5EF4-FFF2-40B4-BE49-F238E27FC236}">
                  <a16:creationId xmlns:a16="http://schemas.microsoft.com/office/drawing/2014/main" id="{7A96CCBE-219B-418A-8F66-345B1D1F696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8" y="182"/>
              <a:ext cx="44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CLK</a:t>
              </a:r>
            </a:p>
          </p:txBody>
        </p:sp>
        <p:sp>
          <p:nvSpPr>
            <p:cNvPr id="169033" name="Text Box 82">
              <a:extLst>
                <a:ext uri="{FF2B5EF4-FFF2-40B4-BE49-F238E27FC236}">
                  <a16:creationId xmlns:a16="http://schemas.microsoft.com/office/drawing/2014/main" id="{91F3A6B0-EE42-4D49-938F-AB2C7FE9B8D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88" y="783"/>
              <a:ext cx="50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S6 ~ S3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69034" name="组合 125008">
              <a:extLst>
                <a:ext uri="{FF2B5EF4-FFF2-40B4-BE49-F238E27FC236}">
                  <a16:creationId xmlns:a16="http://schemas.microsoft.com/office/drawing/2014/main" id="{ADFCD1FD-FA6C-46DB-8D9E-4FB2BF807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1056"/>
              <a:ext cx="3429" cy="508"/>
              <a:chOff x="0" y="0"/>
              <a:chExt cx="3429" cy="508"/>
            </a:xfrm>
          </p:grpSpPr>
          <p:sp>
            <p:nvSpPr>
              <p:cNvPr id="169038" name="Text Box 84">
                <a:extLst>
                  <a:ext uri="{FF2B5EF4-FFF2-40B4-BE49-F238E27FC236}">
                    <a16:creationId xmlns:a16="http://schemas.microsoft.com/office/drawing/2014/main" id="{5677FD6D-3D5D-4E9E-9AA3-367B21104EA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373" y="36"/>
                <a:ext cx="581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60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D15 ~D0</a:t>
                </a:r>
              </a:p>
            </p:txBody>
          </p:sp>
          <p:sp>
            <p:nvSpPr>
              <p:cNvPr id="169039" name="Text Box 85">
                <a:extLst>
                  <a:ext uri="{FF2B5EF4-FFF2-40B4-BE49-F238E27FC236}">
                    <a16:creationId xmlns:a16="http://schemas.microsoft.com/office/drawing/2014/main" id="{6D85D0FB-33AB-4BD6-A222-0A5D6F07903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795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AD15~AD0</a:t>
                </a:r>
              </a:p>
            </p:txBody>
          </p:sp>
          <p:sp>
            <p:nvSpPr>
              <p:cNvPr id="169040" name="Line 86">
                <a:extLst>
                  <a:ext uri="{FF2B5EF4-FFF2-40B4-BE49-F238E27FC236}">
                    <a16:creationId xmlns:a16="http://schemas.microsoft.com/office/drawing/2014/main" id="{530E48FA-9317-4122-ADDB-CCE5A319F8B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21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1" name="Line 87">
                <a:extLst>
                  <a:ext uri="{FF2B5EF4-FFF2-40B4-BE49-F238E27FC236}">
                    <a16:creationId xmlns:a16="http://schemas.microsoft.com/office/drawing/2014/main" id="{2A3212DA-36D7-42A7-83D4-B077AFD29D2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169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2" name="Line 88">
                <a:extLst>
                  <a:ext uri="{FF2B5EF4-FFF2-40B4-BE49-F238E27FC236}">
                    <a16:creationId xmlns:a16="http://schemas.microsoft.com/office/drawing/2014/main" id="{EA952577-A095-42B1-A218-4F24C7164F2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83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3" name="Line 89">
                <a:extLst>
                  <a:ext uri="{FF2B5EF4-FFF2-40B4-BE49-F238E27FC236}">
                    <a16:creationId xmlns:a16="http://schemas.microsoft.com/office/drawing/2014/main" id="{A257F15A-9E7F-4D49-B093-0E6C0BE5E6C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84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4" name="Line 90">
                <a:extLst>
                  <a:ext uri="{FF2B5EF4-FFF2-40B4-BE49-F238E27FC236}">
                    <a16:creationId xmlns:a16="http://schemas.microsoft.com/office/drawing/2014/main" id="{8D069A16-1991-4C18-A65F-A46AC9E0C29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51" y="21"/>
                <a:ext cx="5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5" name="Line 91">
                <a:extLst>
                  <a:ext uri="{FF2B5EF4-FFF2-40B4-BE49-F238E27FC236}">
                    <a16:creationId xmlns:a16="http://schemas.microsoft.com/office/drawing/2014/main" id="{0F022067-15D8-4DC6-97E2-83A1B44E741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4" y="172"/>
                <a:ext cx="5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6" name="Line 92">
                <a:extLst>
                  <a:ext uri="{FF2B5EF4-FFF2-40B4-BE49-F238E27FC236}">
                    <a16:creationId xmlns:a16="http://schemas.microsoft.com/office/drawing/2014/main" id="{39E17B3F-CD23-4DF2-BD87-D0E3436A586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79" y="21"/>
                <a:ext cx="39" cy="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7" name="Line 93">
                <a:extLst>
                  <a:ext uri="{FF2B5EF4-FFF2-40B4-BE49-F238E27FC236}">
                    <a16:creationId xmlns:a16="http://schemas.microsoft.com/office/drawing/2014/main" id="{C9208235-9895-4F32-819F-9A454D8CA10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780" y="99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8" name="Line 94">
                <a:extLst>
                  <a:ext uri="{FF2B5EF4-FFF2-40B4-BE49-F238E27FC236}">
                    <a16:creationId xmlns:a16="http://schemas.microsoft.com/office/drawing/2014/main" id="{796D23F9-81E5-460F-9E6F-566CF0B12BC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19" y="99"/>
                <a:ext cx="4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9" name="Line 95">
                <a:extLst>
                  <a:ext uri="{FF2B5EF4-FFF2-40B4-BE49-F238E27FC236}">
                    <a16:creationId xmlns:a16="http://schemas.microsoft.com/office/drawing/2014/main" id="{E2A29993-3C0C-4858-8AD7-9FE59960760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95" y="99"/>
                <a:ext cx="35" cy="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0" name="Line 96">
                <a:extLst>
                  <a:ext uri="{FF2B5EF4-FFF2-40B4-BE49-F238E27FC236}">
                    <a16:creationId xmlns:a16="http://schemas.microsoft.com/office/drawing/2014/main" id="{E146DC90-C834-4905-A3D3-163A3FF18DE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93" y="24"/>
                <a:ext cx="37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1" name="Line 97">
                <a:extLst>
                  <a:ext uri="{FF2B5EF4-FFF2-40B4-BE49-F238E27FC236}">
                    <a16:creationId xmlns:a16="http://schemas.microsoft.com/office/drawing/2014/main" id="{F909B110-3377-4D8A-A649-A7702B52508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26" y="25"/>
                <a:ext cx="6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2" name="Line 98">
                <a:extLst>
                  <a:ext uri="{FF2B5EF4-FFF2-40B4-BE49-F238E27FC236}">
                    <a16:creationId xmlns:a16="http://schemas.microsoft.com/office/drawing/2014/main" id="{43701C9C-48B4-484C-8973-0056665C06F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33" y="172"/>
                <a:ext cx="6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3" name="Line 99">
                <a:extLst>
                  <a:ext uri="{FF2B5EF4-FFF2-40B4-BE49-F238E27FC236}">
                    <a16:creationId xmlns:a16="http://schemas.microsoft.com/office/drawing/2014/main" id="{C4A7C23A-D34D-47C2-B13B-307048EEBB8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40" y="25"/>
                <a:ext cx="39" cy="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4" name="Line 100">
                <a:extLst>
                  <a:ext uri="{FF2B5EF4-FFF2-40B4-BE49-F238E27FC236}">
                    <a16:creationId xmlns:a16="http://schemas.microsoft.com/office/drawing/2014/main" id="{D721E41E-D964-49BB-9B96-DC03EC26FFD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941" y="104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5" name="Line 101">
                <a:extLst>
                  <a:ext uri="{FF2B5EF4-FFF2-40B4-BE49-F238E27FC236}">
                    <a16:creationId xmlns:a16="http://schemas.microsoft.com/office/drawing/2014/main" id="{2EAB17A1-ECDF-4F9B-9A66-9E15C01AFF4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79" y="99"/>
                <a:ext cx="45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6" name="Line 102">
                <a:extLst>
                  <a:ext uri="{FF2B5EF4-FFF2-40B4-BE49-F238E27FC236}">
                    <a16:creationId xmlns:a16="http://schemas.microsoft.com/office/drawing/2014/main" id="{D9ED4AD4-D7D0-4780-BC02-0C8D99BCB4D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451"/>
                <a:ext cx="24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7" name="Line 103">
                <a:extLst>
                  <a:ext uri="{FF2B5EF4-FFF2-40B4-BE49-F238E27FC236}">
                    <a16:creationId xmlns:a16="http://schemas.microsoft.com/office/drawing/2014/main" id="{80EF68E4-9074-4201-9A23-423D04CBC37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49" y="303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8" name="Line 104">
                <a:extLst>
                  <a:ext uri="{FF2B5EF4-FFF2-40B4-BE49-F238E27FC236}">
                    <a16:creationId xmlns:a16="http://schemas.microsoft.com/office/drawing/2014/main" id="{EB4A7609-AE07-4D0D-B9CF-D77E14F9499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25" y="310"/>
                <a:ext cx="3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9" name="Line 105">
                <a:extLst>
                  <a:ext uri="{FF2B5EF4-FFF2-40B4-BE49-F238E27FC236}">
                    <a16:creationId xmlns:a16="http://schemas.microsoft.com/office/drawing/2014/main" id="{2991414F-21C4-4BF4-9CE8-AA86E7505A3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65" y="310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0" name="Line 106">
                <a:extLst>
                  <a:ext uri="{FF2B5EF4-FFF2-40B4-BE49-F238E27FC236}">
                    <a16:creationId xmlns:a16="http://schemas.microsoft.com/office/drawing/2014/main" id="{EDB00D7A-31E8-4CD5-90F6-CAE1E05A609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28" y="457"/>
                <a:ext cx="19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1" name="Text Box 107">
                <a:extLst>
                  <a:ext uri="{FF2B5EF4-FFF2-40B4-BE49-F238E27FC236}">
                    <a16:creationId xmlns:a16="http://schemas.microsoft.com/office/drawing/2014/main" id="{BE380920-1AD4-4BD8-9FE7-8F33293972A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8" y="313"/>
                <a:ext cx="447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ALE</a:t>
                </a:r>
              </a:p>
            </p:txBody>
          </p:sp>
          <p:sp>
            <p:nvSpPr>
              <p:cNvPr id="169062" name="Text Box 108">
                <a:extLst>
                  <a:ext uri="{FF2B5EF4-FFF2-40B4-BE49-F238E27FC236}">
                    <a16:creationId xmlns:a16="http://schemas.microsoft.com/office/drawing/2014/main" id="{7DA6327D-D838-45D3-B56B-466147B032E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64" y="31"/>
                <a:ext cx="581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A15 ~ A0</a:t>
                </a:r>
                <a:endParaRPr lang="en-US" altLang="zh-CN" sz="1800">
                  <a:solidFill>
                    <a:srgbClr val="3333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9035" name="Line 109">
              <a:extLst>
                <a:ext uri="{FF2B5EF4-FFF2-40B4-BE49-F238E27FC236}">
                  <a16:creationId xmlns:a16="http://schemas.microsoft.com/office/drawing/2014/main" id="{8478E28C-2C44-4ACF-B7B0-BFCA1ACE848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5" y="576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36" name="Line 110">
              <a:extLst>
                <a:ext uri="{FF2B5EF4-FFF2-40B4-BE49-F238E27FC236}">
                  <a16:creationId xmlns:a16="http://schemas.microsoft.com/office/drawing/2014/main" id="{D10B6D22-70DD-4C25-96A5-DDD7C03CBAE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8100000" flipH="1">
              <a:off x="1152" y="430"/>
              <a:ext cx="0" cy="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37" name="Line 111">
              <a:extLst>
                <a:ext uri="{FF2B5EF4-FFF2-40B4-BE49-F238E27FC236}">
                  <a16:creationId xmlns:a16="http://schemas.microsoft.com/office/drawing/2014/main" id="{FB649058-D481-4966-AC97-636F782B35A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 flipH="1">
              <a:off x="1121" y="439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5038" name="矩形 125037">
            <a:extLst>
              <a:ext uri="{FF2B5EF4-FFF2-40B4-BE49-F238E27FC236}">
                <a16:creationId xmlns:a16="http://schemas.microsoft.com/office/drawing/2014/main" id="{66F4BEC8-6161-46BE-B284-22764CE4FB20}"/>
              </a:ext>
            </a:extLst>
          </p:cNvPr>
          <p:cNvSpPr/>
          <p:nvPr/>
        </p:nvSpPr>
        <p:spPr>
          <a:xfrm>
            <a:off x="6156325" y="1628775"/>
            <a:ext cx="2520950" cy="517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cs typeface="+mn-ea"/>
              </a:rPr>
              <a:t>余下的问题：</a:t>
            </a:r>
            <a:endParaRPr lang="zh-CN" altLang="en-US" sz="28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</p:txBody>
      </p:sp>
      <p:sp>
        <p:nvSpPr>
          <p:cNvPr id="168966" name="Line 3">
            <a:extLst>
              <a:ext uri="{FF2B5EF4-FFF2-40B4-BE49-F238E27FC236}">
                <a16:creationId xmlns:a16="http://schemas.microsoft.com/office/drawing/2014/main" id="{8F646FFC-D50D-42E6-B67D-2FF3E16BB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2453323"/>
            <a:ext cx="64770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8967" name="Line 3">
            <a:extLst>
              <a:ext uri="{FF2B5EF4-FFF2-40B4-BE49-F238E27FC236}">
                <a16:creationId xmlns:a16="http://schemas.microsoft.com/office/drawing/2014/main" id="{684C512D-1E37-4D0F-A861-23C09CB31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4213" y="3991928"/>
            <a:ext cx="647700" cy="1587"/>
          </a:xfrm>
          <a:prstGeom prst="line">
            <a:avLst/>
          </a:prstGeom>
          <a:noFill/>
          <a:ln w="25400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44" name="灯片编号占位符 1">
            <a:extLst>
              <a:ext uri="{FF2B5EF4-FFF2-40B4-BE49-F238E27FC236}">
                <a16:creationId xmlns:a16="http://schemas.microsoft.com/office/drawing/2014/main" id="{97A4F3E3-2569-4EC7-A950-E0F499217A0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725B51D2-FE10-4F88-82AD-FE5E116223DA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111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1250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/>
      <p:bldP spid="125038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394A2768-5F06-4984-A595-732A514824A5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57200" y="115888"/>
            <a:ext cx="8229600" cy="989012"/>
          </a:xfrm>
        </p:spPr>
        <p:txBody>
          <a:bodyPr/>
          <a:lstStyle/>
          <a:p>
            <a:pPr eaLnBrk="1" hangingPunct="1"/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8086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的总线等待周期和空闲周期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8CBD1FEB-8668-4FE7-89D9-4765B39DDFB7}"/>
              </a:ext>
            </a:extLst>
          </p:cNvPr>
          <p:cNvSpPr/>
          <p:nvPr/>
        </p:nvSpPr>
        <p:spPr>
          <a:xfrm>
            <a:off x="322263" y="908050"/>
            <a:ext cx="8713787" cy="5184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Tw——总线等待周期</a:t>
            </a:r>
            <a:endParaRPr lang="zh-CN" altLang="en-US" sz="2800" b="0" noProof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     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cs typeface="+mn-ea"/>
              </a:rPr>
              <a:t>在CPU的总线周期中，</a:t>
            </a:r>
            <a:r>
              <a:rPr lang="zh-CN" altLang="en-US" sz="2400" noProof="1">
                <a:solidFill>
                  <a:srgbClr val="C00000"/>
                </a:solidFill>
                <a:latin typeface="宋体" panose="02010600030101010101" pitchFamily="2" charset="-122"/>
                <a:cs typeface="+mn-ea"/>
              </a:rPr>
              <a:t>T3周期上升沿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cs typeface="+mn-ea"/>
              </a:rPr>
              <a:t>检测</a:t>
            </a:r>
            <a:r>
              <a:rPr lang="zh-CN" altLang="en-US" sz="2400" noProof="1">
                <a:solidFill>
                  <a:srgbClr val="FF0000"/>
                </a:solidFill>
                <a:latin typeface="宋体" panose="02010600030101010101" pitchFamily="2" charset="-122"/>
                <a:cs typeface="+mn-ea"/>
              </a:rPr>
              <a:t>READY信号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cs typeface="+mn-ea"/>
              </a:rPr>
              <a:t>，如果为低电平，则插入</a:t>
            </a:r>
            <a:r>
              <a:rPr lang="zh-CN" altLang="en-US" sz="2400" noProof="1">
                <a:solidFill>
                  <a:srgbClr val="C00000"/>
                </a:solidFill>
                <a:latin typeface="宋体" panose="02010600030101010101" pitchFamily="2" charset="-122"/>
                <a:cs typeface="+mn-ea"/>
              </a:rPr>
              <a:t>等待周期Tw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cs typeface="+mn-ea"/>
              </a:rPr>
              <a:t>，Tw周期的上升沿继续检测</a:t>
            </a:r>
            <a:r>
              <a:rPr lang="zh-CN" altLang="en-US" sz="2400" noProof="1">
                <a:solidFill>
                  <a:srgbClr val="FF0000"/>
                </a:solidFill>
                <a:latin typeface="宋体" panose="02010600030101010101" pitchFamily="2" charset="-122"/>
                <a:cs typeface="+mn-ea"/>
              </a:rPr>
              <a:t>READY信号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cs typeface="+mn-ea"/>
              </a:rPr>
              <a:t>，决定是否继续插入Tw周期</a:t>
            </a:r>
            <a:r>
              <a:rPr lang="zh-CN" altLang="en-US" sz="24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。</a:t>
            </a:r>
            <a:r>
              <a:rPr lang="zh-CN" altLang="en-US" sz="2400" b="0" noProof="1">
                <a:latin typeface="宋体" panose="02010600030101010101" pitchFamily="2" charset="-122"/>
                <a:cs typeface="+mn-ea"/>
              </a:rPr>
              <a:t>READY</a:t>
            </a:r>
            <a:r>
              <a:rPr lang="zh-CN" altLang="en-US" sz="24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信号由</a:t>
            </a:r>
            <a:r>
              <a:rPr lang="zh-CN" altLang="en-US" sz="2400" b="0" noProof="1">
                <a:solidFill>
                  <a:srgbClr val="0033CC"/>
                </a:solidFill>
                <a:highlight>
                  <a:srgbClr val="FFFF00"/>
                </a:highlight>
                <a:latin typeface="宋体" panose="02010600030101010101" pitchFamily="2" charset="-122"/>
                <a:cs typeface="+mn-ea"/>
              </a:rPr>
              <a:t>时钟发生器8284</a:t>
            </a:r>
            <a:r>
              <a:rPr lang="zh-CN" altLang="en-US" sz="24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传给CPU。8284接收</a:t>
            </a:r>
            <a:r>
              <a:rPr lang="zh-CN" altLang="en-US" sz="2400" b="0" noProof="1">
                <a:latin typeface="宋体" panose="02010600030101010101" pitchFamily="2" charset="-122"/>
                <a:cs typeface="+mn-ea"/>
              </a:rPr>
              <a:t>存储器或外部设备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cs typeface="+mn-ea"/>
              </a:rPr>
              <a:t>的ready信号，与时钟同步后传送给CPU</a:t>
            </a:r>
            <a:r>
              <a:rPr lang="zh-CN" altLang="en-US" sz="24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，主要是</a:t>
            </a:r>
            <a:r>
              <a:rPr lang="zh-CN" altLang="en-US" sz="2400" noProof="1">
                <a:solidFill>
                  <a:srgbClr val="FF0066"/>
                </a:solidFill>
                <a:latin typeface="宋体" panose="02010600030101010101" pitchFamily="2" charset="-122"/>
                <a:cs typeface="+mn-ea"/>
              </a:rPr>
              <a:t>为了协调慢速设备和CPU之间的数据传输</a:t>
            </a:r>
            <a:r>
              <a:rPr lang="zh-CN" altLang="en-US" sz="24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。</a:t>
            </a:r>
            <a:endParaRPr lang="zh-CN" altLang="en-US" sz="2400" b="0" noProof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     参看总线时序图。</a:t>
            </a:r>
            <a:endParaRPr lang="zh-CN" altLang="en-US" sz="2800" b="0" noProof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endParaRPr lang="zh-CN" altLang="en-US" sz="2800" b="0" noProof="1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26980" name="Object 3">
            <a:extLst>
              <a:ext uri="{FF2B5EF4-FFF2-40B4-BE49-F238E27FC236}">
                <a16:creationId xmlns:a16="http://schemas.microsoft.com/office/drawing/2014/main" id="{3F75BB29-10AF-4787-9DF7-EE07C6E188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4257675"/>
          <a:ext cx="8686800" cy="260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13" r:id="rId3" imgW="9301707" imgH="2773528" progId="Visio.Drawing.11">
                  <p:embed/>
                </p:oleObj>
              </mc:Choice>
              <mc:Fallback>
                <p:oleObj r:id="rId3" imgW="9301707" imgH="277352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257675"/>
                        <a:ext cx="8686800" cy="2600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0" name="灯片编号占位符 1">
            <a:extLst>
              <a:ext uri="{FF2B5EF4-FFF2-40B4-BE49-F238E27FC236}">
                <a16:creationId xmlns:a16="http://schemas.microsoft.com/office/drawing/2014/main" id="{5F6AF56E-95E9-4930-92F9-CCF696AF8DD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D964EC8-4D3F-4276-8EB6-C7593465C3C3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112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68D45C88-C1C6-44BF-8D9F-60D5E197A1A7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57200" y="115888"/>
            <a:ext cx="8229600" cy="989012"/>
          </a:xfrm>
        </p:spPr>
        <p:txBody>
          <a:bodyPr/>
          <a:lstStyle/>
          <a:p>
            <a:pPr eaLnBrk="1" hangingPunct="1"/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8086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的总线等待周期和空闲周期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A1C5CD1-BDE9-46AB-AD5E-617665768DC7}"/>
              </a:ext>
            </a:extLst>
          </p:cNvPr>
          <p:cNvSpPr/>
          <p:nvPr/>
        </p:nvSpPr>
        <p:spPr>
          <a:xfrm>
            <a:off x="322263" y="908050"/>
            <a:ext cx="8713787" cy="5184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Arial" panose="020B0604020202020204" pitchFamily="34" charset="0"/>
              <a:buNone/>
              <a:defRPr/>
            </a:pPr>
            <a:r>
              <a:rPr lang="zh-CN" altLang="en-US" sz="2800" b="0">
                <a:solidFill>
                  <a:schemeClr val="tx2"/>
                </a:solidFill>
                <a:latin typeface="宋体" panose="02010600030101010101" pitchFamily="2" charset="-122"/>
              </a:rPr>
              <a:t>Ti——总线空闲周期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Arial" panose="020B0604020202020204" pitchFamily="34" charset="0"/>
              <a:buNone/>
              <a:defRPr/>
            </a:pPr>
            <a:r>
              <a:rPr lang="zh-CN" altLang="en-US" sz="2800" b="0">
                <a:solidFill>
                  <a:schemeClr val="tx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b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在CPU不执行总线操作时，进入总线空闲周期Ti，Ti周期位于总线周期之间（T4之后）。 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Arial" panose="020B0604020202020204" pitchFamily="34" charset="0"/>
              <a:buNone/>
              <a:defRPr/>
            </a:pPr>
            <a:r>
              <a:rPr lang="zh-CN" altLang="en-US" sz="2400" b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    注意：</a:t>
            </a:r>
            <a:r>
              <a:rPr lang="zh-CN" altLang="en-US" sz="2400" b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Ti只是表示总线空闲，CPU可能还在工作</a:t>
            </a:r>
            <a:r>
              <a:rPr lang="zh-CN" altLang="en-US" sz="2400" b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。</a:t>
            </a:r>
          </a:p>
        </p:txBody>
      </p:sp>
      <p:graphicFrame>
        <p:nvGraphicFramePr>
          <p:cNvPr id="128004" name="Object 3">
            <a:extLst>
              <a:ext uri="{FF2B5EF4-FFF2-40B4-BE49-F238E27FC236}">
                <a16:creationId xmlns:a16="http://schemas.microsoft.com/office/drawing/2014/main" id="{B6DBF2F3-7589-46E3-81BD-8B6679948C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3644900"/>
          <a:ext cx="8686800" cy="260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37" r:id="rId3" imgW="9301707" imgH="2773528" progId="Visio.Drawing.11">
                  <p:embed/>
                </p:oleObj>
              </mc:Choice>
              <mc:Fallback>
                <p:oleObj r:id="rId3" imgW="9301707" imgH="277352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644900"/>
                        <a:ext cx="8686800" cy="2600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4" name="灯片编号占位符 1">
            <a:extLst>
              <a:ext uri="{FF2B5EF4-FFF2-40B4-BE49-F238E27FC236}">
                <a16:creationId xmlns:a16="http://schemas.microsoft.com/office/drawing/2014/main" id="{A741C997-F567-4142-9228-8CD16F6B0F7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4B10AD0-0928-48A6-9488-6A3DEF630E6B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113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标题 2">
            <a:extLst>
              <a:ext uri="{FF2B5EF4-FFF2-40B4-BE49-F238E27FC236}">
                <a16:creationId xmlns:a16="http://schemas.microsoft.com/office/drawing/2014/main" id="{EA0F1681-64EC-433A-BEBF-31994779B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88" y="3387725"/>
            <a:ext cx="8226425" cy="8731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The end of chapter 2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，</a:t>
            </a:r>
            <a:b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</a:b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and thanks for your attention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！</a:t>
            </a:r>
          </a:p>
        </p:txBody>
      </p:sp>
      <p:sp>
        <p:nvSpPr>
          <p:cNvPr id="123907" name="灯片编号占位符 1">
            <a:extLst>
              <a:ext uri="{FF2B5EF4-FFF2-40B4-BE49-F238E27FC236}">
                <a16:creationId xmlns:a16="http://schemas.microsoft.com/office/drawing/2014/main" id="{2DD83D59-7F0D-4637-A9AE-8855082F20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674D1A8-A8BF-4E9E-BF3D-E79406DC100E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114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&amp;&amp;微机原理课件模板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&amp;&amp;微机原理课件模板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&amp;&amp;微机原理课件模板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&amp;&amp;微机原理课件模板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&amp;&amp;微机原理课件模板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&amp;&amp;微机原理课件模板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&amp;&amp;微机原理课件模板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&amp;&amp;微机原理课件模板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&amp;&amp;微机原理课件模板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2_&amp;&amp;微机原理课件模板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&amp;&amp;微机原理课件模板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&amp;&amp;微机原理课件模板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&amp;&amp;微机原理课件模板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3_&amp;&amp;微机原理课件模板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&amp;&amp;微机原理课件模板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&amp;&amp;微机原理课件模板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3396</TotalTime>
  <Pages>0</Pages>
  <Words>8150</Words>
  <Characters>0</Characters>
  <Application>Microsoft Office PowerPoint</Application>
  <DocSecurity>0</DocSecurity>
  <PresentationFormat>全屏显示(4:3)</PresentationFormat>
  <Lines>0</Lines>
  <Paragraphs>1579</Paragraphs>
  <Slides>114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114</vt:i4>
      </vt:variant>
    </vt:vector>
  </HeadingPairs>
  <TitlesOfParts>
    <vt:vector size="147" baseType="lpstr">
      <vt:lpstr>Gulim</vt:lpstr>
      <vt:lpstr>Monotype Sorts</vt:lpstr>
      <vt:lpstr>仿宋</vt:lpstr>
      <vt:lpstr>仿宋_GB2312</vt:lpstr>
      <vt:lpstr>黑体</vt:lpstr>
      <vt:lpstr>华文仿宋</vt:lpstr>
      <vt:lpstr>华文琥珀</vt:lpstr>
      <vt:lpstr>华文楷体</vt:lpstr>
      <vt:lpstr>华文新魏</vt:lpstr>
      <vt:lpstr>华文行楷</vt:lpstr>
      <vt:lpstr>华文中宋</vt:lpstr>
      <vt:lpstr>楷体_GB2312</vt:lpstr>
      <vt:lpstr>宋体</vt:lpstr>
      <vt:lpstr>微软雅黑</vt:lpstr>
      <vt:lpstr>Arial</vt:lpstr>
      <vt:lpstr>Arial Narrow</vt:lpstr>
      <vt:lpstr>Garamond</vt:lpstr>
      <vt:lpstr>Lucida Sans Unicode</vt:lpstr>
      <vt:lpstr>Symbol</vt:lpstr>
      <vt:lpstr>Tahoma</vt:lpstr>
      <vt:lpstr>Times New Roman</vt:lpstr>
      <vt:lpstr>Verdana</vt:lpstr>
      <vt:lpstr>Wingdings</vt:lpstr>
      <vt:lpstr>Wingdings 3</vt:lpstr>
      <vt:lpstr>&amp;&amp;微机原理课件模板</vt:lpstr>
      <vt:lpstr>1_&amp;&amp;微机原理课件模板</vt:lpstr>
      <vt:lpstr>2_&amp;&amp;微机原理课件模板</vt:lpstr>
      <vt:lpstr>3_&amp;&amp;微机原理课件模板</vt:lpstr>
      <vt:lpstr>Equation.3</vt:lpstr>
      <vt:lpstr>Equation.DSMT4</vt:lpstr>
      <vt:lpstr>Microsoft Visio 2003-2010 Drawing</vt:lpstr>
      <vt:lpstr>Equation.KSEE3</vt:lpstr>
      <vt:lpstr>Bitmap Image</vt:lpstr>
      <vt:lpstr>第二章 8086微型计算机体系结构</vt:lpstr>
      <vt:lpstr>2.1 8086 CPU的结构</vt:lpstr>
      <vt:lpstr>2.1 8086 CPU的结构--overview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(3)BIU完成的操作</vt:lpstr>
      <vt:lpstr>PowerPoint 演示文稿</vt:lpstr>
      <vt:lpstr>      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(3)辅助进位标志位（AF）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(*)状态标志位小结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§2.3  8086的存储器组织</vt:lpstr>
      <vt:lpstr>PowerPoint 演示文稿</vt:lpstr>
      <vt:lpstr>2.3.1  段地址和偏移地址--物理和逻辑地址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2.3.1  段地址和偏移地址----默认地址寄存器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2.3.2  8086存储器的分体结构 </vt:lpstr>
      <vt:lpstr>4. 8086/8088系统中存储器与总线的连接</vt:lpstr>
      <vt:lpstr>PowerPoint 演示文稿</vt:lpstr>
      <vt:lpstr>PowerPoint 演示文稿</vt:lpstr>
      <vt:lpstr>PowerPoint 演示文稿</vt:lpstr>
      <vt:lpstr>PowerPoint 演示文稿</vt:lpstr>
      <vt:lpstr>§2.4   8086的工作模式和 总线操作--重点，难点</vt:lpstr>
      <vt:lpstr>引子：8086CPU有两种工作模式</vt:lpstr>
      <vt:lpstr>引子：总线时序初识</vt:lpstr>
      <vt:lpstr>2.4.1  最小模式系统 2.4.2  最大模式系统 2.4.3  总线操作时序 </vt:lpstr>
      <vt:lpstr>2.4.1  最小模式系统</vt:lpstr>
      <vt:lpstr>最小模式系统配置</vt:lpstr>
      <vt:lpstr>2. 数据总线缓冲器74LS244和74LS245</vt:lpstr>
      <vt:lpstr>PowerPoint 演示文稿</vt:lpstr>
      <vt:lpstr>锁存器74LS373</vt:lpstr>
      <vt:lpstr>锁存器74LS373</vt:lpstr>
      <vt:lpstr>锁存器74LS373</vt:lpstr>
      <vt:lpstr>时钟发生器8284A</vt:lpstr>
      <vt:lpstr>PowerPoint 演示文稿</vt:lpstr>
      <vt:lpstr>PowerPoint 演示文稿</vt:lpstr>
      <vt:lpstr>最小模式系统工作过程——读存储器过程</vt:lpstr>
      <vt:lpstr>最小模式系统工作过程——读存储器过程</vt:lpstr>
      <vt:lpstr>最小模式系统工作过程——读存储器过程</vt:lpstr>
      <vt:lpstr>最小模式系统工作过程——读存储器过程</vt:lpstr>
      <vt:lpstr>PowerPoint 演示文稿</vt:lpstr>
      <vt:lpstr>2.4.2  最大模式系统</vt:lpstr>
      <vt:lpstr>PowerPoint 演示文稿</vt:lpstr>
      <vt:lpstr>2.4.3  总线操作时序</vt:lpstr>
      <vt:lpstr>2.4.3  总线操作时序</vt:lpstr>
      <vt:lpstr>2.4.3  总线操作时序</vt:lpstr>
      <vt:lpstr>1. 最小模式下的读总线周期</vt:lpstr>
      <vt:lpstr>2. 最小模式下的写总线周期</vt:lpstr>
      <vt:lpstr>【举例】执行指令MOV  AL,[BX]的时序</vt:lpstr>
      <vt:lpstr>执行指令MOV  AL,[BX]的时序</vt:lpstr>
      <vt:lpstr>执行指令MOV  AL,[BX]的时序</vt:lpstr>
      <vt:lpstr>执行指令MOV  AL,[BX]的时序</vt:lpstr>
      <vt:lpstr>执行指令MOV  AL,[BX]的时序</vt:lpstr>
      <vt:lpstr>8086的总线等待周期和空闲周期</vt:lpstr>
      <vt:lpstr>8086的总线等待周期和空闲周期</vt:lpstr>
      <vt:lpstr>The end of chapter 2， and thanks for your attention！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张洪</dc:creator>
  <cp:keywords/>
  <dc:description/>
  <cp:lastModifiedBy>Hong Zhang</cp:lastModifiedBy>
  <cp:revision>834</cp:revision>
  <dcterms:created xsi:type="dcterms:W3CDTF">2014-09-19T00:23:00Z</dcterms:created>
  <dcterms:modified xsi:type="dcterms:W3CDTF">2024-03-05T11:43:02Z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
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692" r:id="rId2"/>
  </p:sldMasterIdLst>
  <p:notesMasterIdLst>
    <p:notesMasterId r:id="rId77"/>
  </p:notesMasterIdLst>
  <p:handoutMasterIdLst>
    <p:handoutMasterId r:id="rId78"/>
  </p:handoutMasterIdLst>
  <p:sldIdLst>
    <p:sldId id="574" r:id="rId3"/>
    <p:sldId id="598" r:id="rId4"/>
    <p:sldId id="754" r:id="rId5"/>
    <p:sldId id="622" r:id="rId6"/>
    <p:sldId id="698" r:id="rId7"/>
    <p:sldId id="697" r:id="rId8"/>
    <p:sldId id="812" r:id="rId9"/>
    <p:sldId id="696" r:id="rId10"/>
    <p:sldId id="695" r:id="rId11"/>
    <p:sldId id="691" r:id="rId12"/>
    <p:sldId id="693" r:id="rId13"/>
    <p:sldId id="813" r:id="rId14"/>
    <p:sldId id="692" r:id="rId15"/>
    <p:sldId id="711" r:id="rId16"/>
    <p:sldId id="710" r:id="rId17"/>
    <p:sldId id="709" r:id="rId18"/>
    <p:sldId id="708" r:id="rId19"/>
    <p:sldId id="707" r:id="rId20"/>
    <p:sldId id="699" r:id="rId21"/>
    <p:sldId id="706" r:id="rId22"/>
    <p:sldId id="705" r:id="rId23"/>
    <p:sldId id="721" r:id="rId24"/>
    <p:sldId id="732" r:id="rId25"/>
    <p:sldId id="913" r:id="rId26"/>
    <p:sldId id="723" r:id="rId27"/>
    <p:sldId id="722" r:id="rId28"/>
    <p:sldId id="731" r:id="rId29"/>
    <p:sldId id="730" r:id="rId30"/>
    <p:sldId id="729" r:id="rId31"/>
    <p:sldId id="728" r:id="rId32"/>
    <p:sldId id="726" r:id="rId33"/>
    <p:sldId id="727" r:id="rId34"/>
    <p:sldId id="733" r:id="rId35"/>
    <p:sldId id="734" r:id="rId36"/>
    <p:sldId id="735" r:id="rId37"/>
    <p:sldId id="736" r:id="rId38"/>
    <p:sldId id="737" r:id="rId39"/>
    <p:sldId id="876" r:id="rId40"/>
    <p:sldId id="745" r:id="rId41"/>
    <p:sldId id="744" r:id="rId42"/>
    <p:sldId id="780" r:id="rId43"/>
    <p:sldId id="741" r:id="rId44"/>
    <p:sldId id="781" r:id="rId45"/>
    <p:sldId id="740" r:id="rId46"/>
    <p:sldId id="739" r:id="rId47"/>
    <p:sldId id="738" r:id="rId48"/>
    <p:sldId id="746" r:id="rId49"/>
    <p:sldId id="747" r:id="rId50"/>
    <p:sldId id="748" r:id="rId51"/>
    <p:sldId id="750" r:id="rId52"/>
    <p:sldId id="751" r:id="rId53"/>
    <p:sldId id="877" r:id="rId54"/>
    <p:sldId id="749" r:id="rId55"/>
    <p:sldId id="752" r:id="rId56"/>
    <p:sldId id="753" r:id="rId57"/>
    <p:sldId id="762" r:id="rId58"/>
    <p:sldId id="761" r:id="rId59"/>
    <p:sldId id="760" r:id="rId60"/>
    <p:sldId id="759" r:id="rId61"/>
    <p:sldId id="758" r:id="rId62"/>
    <p:sldId id="757" r:id="rId63"/>
    <p:sldId id="756" r:id="rId64"/>
    <p:sldId id="755" r:id="rId65"/>
    <p:sldId id="767" r:id="rId66"/>
    <p:sldId id="783" r:id="rId67"/>
    <p:sldId id="912" r:id="rId68"/>
    <p:sldId id="773" r:id="rId69"/>
    <p:sldId id="774" r:id="rId70"/>
    <p:sldId id="782" r:id="rId71"/>
    <p:sldId id="779" r:id="rId72"/>
    <p:sldId id="775" r:id="rId73"/>
    <p:sldId id="776" r:id="rId74"/>
    <p:sldId id="777" r:id="rId75"/>
    <p:sldId id="778" r:id="rId7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3300"/>
    <a:srgbClr val="008000"/>
    <a:srgbClr val="996633"/>
    <a:srgbClr val="FF0066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3" d="100"/>
          <a:sy n="63" d="100"/>
        </p:scale>
        <p:origin x="1380" y="60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21" cy="45021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81C655-D436-401D-AD76-8D872E6FE8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71FADB-8C8A-4F32-9C83-6643A56B4D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latin typeface="Times New Roman" panose="02020603050405020304" pitchFamily="2" charset="0"/>
                <a:cs typeface="+mn-ea"/>
              </a:defRPr>
            </a:lvl1pPr>
          </a:lstStyle>
          <a:p>
            <a:fld id="{0F9B84EA-7D68-4D60-9CB1-D50884785D1C}" type="datetimeFigureOut">
              <a:rPr lang="zh-CN" altLang="en-US"/>
              <a:pPr/>
              <a:t>2023/3/20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71A1AD-5F50-4CF6-AD47-2C994A3BD3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3A0E64-72F6-4007-97BA-450FABF974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noProof="1" smtClean="0">
                <a:latin typeface="Times New Roman" panose="02020603050405020304" pitchFamily="2" charset="0"/>
                <a:cs typeface="+mn-ea"/>
              </a:defRPr>
            </a:lvl1pPr>
          </a:lstStyle>
          <a:p>
            <a:fld id="{AAEAD7E6-069A-459B-ABB9-34F53ED54464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DE9CDD-829A-4410-AED7-52CCF7528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noProof="1" dirty="0"/>
            </a:lvl1pPr>
          </a:lstStyle>
          <a:p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E8AF1F3-3ED0-4BFB-BFFE-938EA6FDE1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noProof="1" dirty="0"/>
            </a:lvl1pPr>
          </a:lstStyle>
          <a:p>
            <a:endParaRPr lang="zh-CN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3C18A22-4CC5-447C-AA1F-6D662216419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65F4940-A1E6-4CD2-913E-E80A5D0193E4}"/>
              </a:ext>
            </a:extLst>
          </p:cNvPr>
          <p:cNvSpPr>
            <a:spLocks noGrp="1" noRot="1" noChangeAspect="1" noChangeArrowheads="1" noTextEdit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单击此处编辑母版文本样式</a:t>
            </a:r>
          </a:p>
          <a:p>
            <a:r>
              <a:rPr lang="zh-CN" altLang="en-US"/>
              <a:t>第二级</a:t>
            </a:r>
          </a:p>
          <a:p>
            <a:r>
              <a:rPr lang="zh-CN" altLang="en-US"/>
              <a:t>第三级</a:t>
            </a:r>
          </a:p>
          <a:p>
            <a:r>
              <a:rPr lang="zh-CN" altLang="en-US"/>
              <a:t>第四级</a:t>
            </a:r>
          </a:p>
          <a:p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A11E89F-F4EF-4366-941E-ABC1D322B9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noProof="1" dirty="0"/>
            </a:lvl1pPr>
          </a:lstStyle>
          <a:p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EBD14E8C-936A-43C4-9066-D5440E2F0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noProof="1" dirty="0">
                <a:latin typeface="Times New Roman" panose="02020603050405020304" pitchFamily="2" charset="0"/>
                <a:cs typeface="+mn-ea"/>
              </a:defRPr>
            </a:lvl1pPr>
          </a:lstStyle>
          <a:p>
            <a:fld id="{13C71608-1994-46BB-A7CD-BEEBC27D4AC6}" type="slidenum">
              <a:rPr lang="en-US" altLang="x-none"/>
              <a:pPr/>
              <a:t>‹#›</a:t>
            </a:fld>
            <a:endParaRPr lang="en-US" altLang="x-none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lvl="1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lvl="2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lvl="3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lvl="4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6pPr>
    <a:lvl7pPr marL="2743200" lvl="6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7pPr>
    <a:lvl8pPr marL="3200400" lvl="7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8pPr>
    <a:lvl9pPr marL="3657600" lvl="8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44033">
            <a:extLst>
              <a:ext uri="{FF2B5EF4-FFF2-40B4-BE49-F238E27FC236}">
                <a16:creationId xmlns:a16="http://schemas.microsoft.com/office/drawing/2014/main" id="{C9548080-0279-4670-885B-1097A866C2C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8131" name="文本占位符 44034">
            <a:extLst>
              <a:ext uri="{FF2B5EF4-FFF2-40B4-BE49-F238E27FC236}">
                <a16:creationId xmlns:a16="http://schemas.microsoft.com/office/drawing/2014/main" id="{B2852E70-3665-4D7A-8D3E-7608A37B0B37}"/>
              </a:ext>
            </a:extLst>
          </p:cNvPr>
          <p:cNvSpPr>
            <a:spLocks noGrp="1" noRot="1" noChangeAspect="1" noChangeArrowheads="1"/>
          </p:cNvSpPr>
          <p:nvPr>
            <p:ph type="body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  <a:cs typeface="Arial" panose="020B0604020202020204" pitchFamily="34" charset="0"/>
              </a:rPr>
              <a:t>有效地址即段内偏移地址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9084509"/>
      </p:ext>
    </p:extLst>
  </p:cSld>
  <p:clrMapOvr>
    <a:masterClrMapping/>
  </p:clrMapOvr>
  <p:transition spd="slow"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47813112"/>
      </p:ext>
    </p:extLst>
  </p:cSld>
  <p:clrMapOvr>
    <a:masterClrMapping/>
  </p:clrMapOvr>
  <p:transition spd="slow"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99269368"/>
      </p:ext>
    </p:extLst>
  </p:cSld>
  <p:clrMapOvr>
    <a:masterClrMapping/>
  </p:clrMapOvr>
  <p:transition spd="slow"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5763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725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60589873"/>
      </p:ext>
    </p:extLst>
  </p:cSld>
  <p:clrMapOvr>
    <a:masterClrMapping/>
  </p:clrMapOvr>
  <p:transition spd="slow"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4369498"/>
      </p:ext>
    </p:extLst>
  </p:cSld>
  <p:clrMapOvr>
    <a:masterClrMapping/>
  </p:clrMapOvr>
  <p:transition spd="slow"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79762619"/>
      </p:ext>
    </p:extLst>
  </p:cSld>
  <p:clrMapOvr>
    <a:masterClrMapping/>
  </p:clrMapOvr>
  <p:transition spd="slow"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141300"/>
      </p:ext>
    </p:extLst>
  </p:cSld>
  <p:clrMapOvr>
    <a:masterClrMapping/>
  </p:clrMapOvr>
  <p:transition spd="slow"/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9706027"/>
      </p:ext>
    </p:extLst>
  </p:cSld>
  <p:clrMapOvr>
    <a:masterClrMapping/>
  </p:clrMapOvr>
  <p:transition spd="slow"/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64506267"/>
      </p:ext>
    </p:extLst>
  </p:cSld>
  <p:clrMapOvr>
    <a:masterClrMapping/>
  </p:clrMapOvr>
  <p:transition spd="slow"/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04735960"/>
      </p:ext>
    </p:extLst>
  </p:cSld>
  <p:clrMapOvr>
    <a:masterClrMapping/>
  </p:clrMapOvr>
  <p:transition spd="slow"/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119" y="368300"/>
            <a:ext cx="2093119" cy="6121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763" y="368300"/>
            <a:ext cx="6158016" cy="6121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4713231"/>
      </p:ext>
    </p:extLst>
  </p:cSld>
  <p:clrMapOvr>
    <a:masterClrMapping/>
  </p:clrMapOvr>
  <p:transition spd="slow"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C88DAD-1225-46CE-B5E4-CBF06A40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23E2C8-5E0B-470E-8952-6AF31016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A49838-4E4F-48D0-88D6-847D0730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8D7F16-D63B-4BF2-B8AE-BFEAD2A0433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54605"/>
      </p:ext>
    </p:extLst>
  </p:cSld>
  <p:clrMapOvr>
    <a:masterClrMapping/>
  </p:clrMapOvr>
  <p:transition spd="slow"/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DE752D-E887-41DD-8F13-F97AB6E9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E1EA84-A9CA-4E7A-8311-59CB5DA3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035979-4C99-4545-8D19-67C6AA47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07DA5-7E11-4181-834E-CB90D46E72D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551969"/>
      </p:ext>
    </p:extLst>
  </p:cSld>
  <p:clrMapOvr>
    <a:masterClrMapping/>
  </p:clrMapOvr>
  <p:transition spd="slow"/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A0BFA6-E3D6-4A6F-BCA6-23514DCC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F5D215-7556-4DC8-B3DE-BA5E92AA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56A3A6-4115-4E0E-B8A5-34B8376A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17B72C-22F6-4F26-9150-193557F67C7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75313"/>
      </p:ext>
    </p:extLst>
  </p:cSld>
  <p:clrMapOvr>
    <a:masterClrMapping/>
  </p:clrMapOvr>
  <p:transition spd="slow"/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0CF8A-357A-4FD5-88C6-219E28BC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A514E-7B3E-4FF0-97B1-22FC113B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8719A3-9E6D-4573-B3E9-89D5A465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ED4088-D871-40F6-99E9-FE3C1AA986D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146218"/>
      </p:ext>
    </p:extLst>
  </p:cSld>
  <p:clrMapOvr>
    <a:masterClrMapping/>
  </p:clrMapOvr>
  <p:transition spd="slow"/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E9D397-BDE0-464D-B703-431B8354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2783BE5-2895-4A1F-AB00-6FFD06C8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C8A506-7CF4-4513-8D69-403001FC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E7F9EA-A070-4746-8B67-CAFB0F12DB4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411682"/>
      </p:ext>
    </p:extLst>
  </p:cSld>
  <p:clrMapOvr>
    <a:masterClrMapping/>
  </p:clrMapOvr>
  <p:transition spd="slow"/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9543F14-FDFF-4DF4-ABCE-EEAF2EB2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E5DBC70-F129-471A-8C00-6EF7E59B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18D962-870D-42A2-8996-80482160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EA0ED9-CC40-48B0-844E-FE886F5CF82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817485"/>
      </p:ext>
    </p:extLst>
  </p:cSld>
  <p:clrMapOvr>
    <a:masterClrMapping/>
  </p:clrMapOvr>
  <p:transition spd="slow"/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17A018-3846-4ACC-B346-5508A759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A0AE4B-FF6C-49E2-9650-F66990C1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D1B4A5-BDFF-4955-A746-B8C63826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5DDD1A-785C-4FBC-9CF0-029E1B05909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73352"/>
      </p:ext>
    </p:extLst>
  </p:cSld>
  <p:clrMapOvr>
    <a:masterClrMapping/>
  </p:clrMapOvr>
  <p:transition spd="slow"/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44474-FE12-4D8A-BC91-D2ABF932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BB842D-4113-4E92-A120-64F752D7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D4063-624C-4D4E-9C3E-AD5B4D53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860999-41FC-4FC2-948C-590BE95DD3A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247793"/>
      </p:ext>
    </p:extLst>
  </p:cSld>
  <p:clrMapOvr>
    <a:masterClrMapping/>
  </p:clrMapOvr>
  <p:transition spd="slow"/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8C815-0593-4B13-BD56-C1F07635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CD928-B945-4B3C-8414-BC2EE373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4DD10-2AAC-47F0-AD70-C3E51E9E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19241-1DCF-4A08-8170-93235EB1C01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61450"/>
      </p:ext>
    </p:extLst>
  </p:cSld>
  <p:clrMapOvr>
    <a:masterClrMapping/>
  </p:clrMapOvr>
  <p:transition spd="slow"/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279683-BB75-464A-A8D7-183C9F32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7360F0-F15A-4E34-A528-407AC8EA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67D7AD-43CA-416F-A39D-EC24FC53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0C54-BFF6-4151-8868-CBCC931B39E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443176"/>
      </p:ext>
    </p:extLst>
  </p:cSld>
  <p:clrMapOvr>
    <a:masterClrMapping/>
  </p:clrMapOvr>
  <p:transition spd="slow"/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0C3AD7-67FC-491E-917D-B117EDAC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3F4D56-1FA0-479A-A5D9-ED4D621E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D0331D-C26A-49B8-9419-6FE882C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A312CC-2CD9-4958-A52D-E78C47950C5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478627"/>
      </p:ext>
    </p:extLst>
  </p:cSld>
  <p:clrMapOvr>
    <a:masterClrMapping/>
  </p:clrMapOvr>
  <p:transition spd="slow"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A7366DD4-6E33-43F5-A9A3-4A5DF7BFD528}"/>
              </a:ext>
            </a:extLst>
          </p:cNvPr>
          <p:cNvGrpSpPr>
            <a:grpSpLocks/>
          </p:cNvGrpSpPr>
          <p:nvPr/>
        </p:nvGrpSpPr>
        <p:grpSpPr bwMode="auto">
          <a:xfrm>
            <a:off x="0" y="7938"/>
            <a:ext cx="9140825" cy="6850062"/>
            <a:chOff x="0" y="0"/>
            <a:chExt cx="5758" cy="4315"/>
          </a:xfrm>
        </p:grpSpPr>
        <p:grpSp>
          <p:nvGrpSpPr>
            <p:cNvPr id="1027" name="组合 1026">
              <a:extLst>
                <a:ext uri="{FF2B5EF4-FFF2-40B4-BE49-F238E27FC236}">
                  <a16:creationId xmlns:a16="http://schemas.microsoft.com/office/drawing/2014/main" id="{3F61F0AD-ADC7-4F60-8A65-A39AB03E0F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230"/>
              <a:ext cx="4027" cy="2085"/>
              <a:chOff x="0" y="0"/>
              <a:chExt cx="4027" cy="2085"/>
            </a:xfrm>
          </p:grpSpPr>
          <p:sp>
            <p:nvSpPr>
              <p:cNvPr id="1028" name="Freeform 4">
                <a:extLst>
                  <a:ext uri="{FF2B5EF4-FFF2-40B4-BE49-F238E27FC236}">
                    <a16:creationId xmlns:a16="http://schemas.microsoft.com/office/drawing/2014/main" id="{45779A07-D872-470D-988E-72F019397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" name="Freeform 5">
                <a:extLst>
                  <a:ext uri="{FF2B5EF4-FFF2-40B4-BE49-F238E27FC236}">
                    <a16:creationId xmlns:a16="http://schemas.microsoft.com/office/drawing/2014/main" id="{585DC4B9-D3AB-4B2F-A624-A81C24EDD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44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" name="Freeform 6">
                <a:extLst>
                  <a:ext uri="{FF2B5EF4-FFF2-40B4-BE49-F238E27FC236}">
                    <a16:creationId xmlns:a16="http://schemas.microsoft.com/office/drawing/2014/main" id="{1FABE6A8-2CC1-4F3D-98CC-FF03CD699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" y="111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939"/>
                  </a:gs>
                  <a:gs pos="100000">
                    <a:srgbClr val="00464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7">
                <a:extLst>
                  <a:ext uri="{FF2B5EF4-FFF2-40B4-BE49-F238E27FC236}">
                    <a16:creationId xmlns:a16="http://schemas.microsoft.com/office/drawing/2014/main" id="{A98BDD92-1E92-45C2-B393-21709C79C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" name="Freeform 8">
                <a:extLst>
                  <a:ext uri="{FF2B5EF4-FFF2-40B4-BE49-F238E27FC236}">
                    <a16:creationId xmlns:a16="http://schemas.microsoft.com/office/drawing/2014/main" id="{969BB36F-7E6E-4E84-977B-989354FFC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8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D3D"/>
                  </a:gs>
                  <a:gs pos="100000">
                    <a:srgbClr val="00464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3" name="Freeform 9">
              <a:extLst>
                <a:ext uri="{FF2B5EF4-FFF2-40B4-BE49-F238E27FC236}">
                  <a16:creationId xmlns:a16="http://schemas.microsoft.com/office/drawing/2014/main" id="{AFDA4FE0-9BFD-4A77-8082-055B2D2AA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B3B"/>
                </a:gs>
                <a:gs pos="100000">
                  <a:srgbClr val="00464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Freeform 10">
              <a:extLst>
                <a:ext uri="{FF2B5EF4-FFF2-40B4-BE49-F238E27FC236}">
                  <a16:creationId xmlns:a16="http://schemas.microsoft.com/office/drawing/2014/main" id="{00D1A596-4BAE-40B5-AF05-53C701FD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00464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5" name="Rectangle 11">
            <a:extLst>
              <a:ext uri="{FF2B5EF4-FFF2-40B4-BE49-F238E27FC236}">
                <a16:creationId xmlns:a16="http://schemas.microsoft.com/office/drawing/2014/main" id="{D3074BFA-9F90-4306-A9D0-2B0724990A6F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C8AF63D5-35A2-4931-9201-E9AD530021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85763" y="1314450"/>
            <a:ext cx="837247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 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 第三级</a:t>
            </a:r>
          </a:p>
        </p:txBody>
      </p:sp>
      <p:sp>
        <p:nvSpPr>
          <p:cNvPr id="1037" name="Text Box 13">
            <a:extLst>
              <a:ext uri="{FF2B5EF4-FFF2-40B4-BE49-F238E27FC236}">
                <a16:creationId xmlns:a16="http://schemas.microsoft.com/office/drawing/2014/main" id="{2CA4A022-1EF3-45B6-8D5F-58BED2C0B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0"/>
            <a:ext cx="2555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章 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8086 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指令系统</a:t>
            </a:r>
            <a:endParaRPr lang="zh-CN" altLang="en-US" sz="2400"/>
          </a:p>
        </p:txBody>
      </p:sp>
      <p:sp>
        <p:nvSpPr>
          <p:cNvPr id="1038" name="TextBox 14">
            <a:extLst>
              <a:ext uri="{FF2B5EF4-FFF2-40B4-BE49-F238E27FC236}">
                <a16:creationId xmlns:a16="http://schemas.microsoft.com/office/drawing/2014/main" id="{9FCFC455-628A-4A36-91B2-F4EA322BC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1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3.3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指令系统</a:t>
            </a: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-2</a:t>
            </a:r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1" r:id="rId3"/>
    <p:sldLayoutId id="2147483700" r:id="rId4"/>
    <p:sldLayoutId id="2147483699" r:id="rId5"/>
    <p:sldLayoutId id="2147483698" r:id="rId6"/>
    <p:sldLayoutId id="2147483697" r:id="rId7"/>
    <p:sldLayoutId id="2147483696" r:id="rId8"/>
    <p:sldLayoutId id="2147483695" r:id="rId9"/>
    <p:sldLayoutId id="2147483694" r:id="rId10"/>
    <p:sldLayoutId id="2147483693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FFFF99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533400" indent="-5334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u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914400" lvl="1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371600" lvl="2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752600" lvl="3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209800" lvl="4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lvl="5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6pPr>
      <a:lvl7pPr marL="2971800" lvl="6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7pPr>
      <a:lvl8pPr marL="3429000" lvl="7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8pPr>
      <a:lvl9pPr marL="3886200" lvl="8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E128DB-3C3E-4DE0-AF81-A99BACD128F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B28B152-A21A-4BFE-ADD3-B1283EE575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B767CEC-DF96-4523-BFC6-88C3C9128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 dirty="0">
                <a:latin typeface="Times New Roman" panose="02020603050405020304" pitchFamily="2" charset="0"/>
              </a:defRPr>
            </a:lvl1pPr>
          </a:lstStyle>
          <a:p>
            <a:fld id="{BB962C8B-B14F-4D97-AF65-F5344CB8AC3E}" type="datetime10">
              <a:rPr lang="zh-CN" altLang="en-US"/>
              <a:pPr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00F103A-7AE0-4BD0-BCF1-51FC52A4A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/>
            </a:lvl1pPr>
          </a:lstStyle>
          <a:p>
            <a:endParaRPr lang="zh-CN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E9272BC-F8BE-4A82-B036-6B84702B0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 dirty="0">
                <a:latin typeface="Times New Roman" panose="02020603050405020304" pitchFamily="2" charset="0"/>
                <a:cs typeface="+mn-ea"/>
              </a:defRPr>
            </a:lvl1pPr>
          </a:lstStyle>
          <a:p>
            <a:fld id="{64077FBE-FFD7-486C-8CA1-3AD0B9852922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  <p:sldLayoutId id="2147483712" r:id="rId3"/>
    <p:sldLayoutId id="2147483711" r:id="rId4"/>
    <p:sldLayoutId id="2147483710" r:id="rId5"/>
    <p:sldLayoutId id="2147483709" r:id="rId6"/>
    <p:sldLayoutId id="2147483708" r:id="rId7"/>
    <p:sldLayoutId id="2147483707" r:id="rId8"/>
    <p:sldLayoutId id="2147483706" r:id="rId9"/>
    <p:sldLayoutId id="2147483705" r:id="rId10"/>
    <p:sldLayoutId id="2147483704" r:id="rId11"/>
  </p:sldLayoutIdLst>
  <p:transition spd="slow"/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8">
            <a:extLst>
              <a:ext uri="{FF2B5EF4-FFF2-40B4-BE49-F238E27FC236}">
                <a16:creationId xmlns:a16="http://schemas.microsoft.com/office/drawing/2014/main" id="{509371B6-BD78-4DCF-A602-9802B13A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0" hangingPunct="0"/>
            <a:endParaRPr lang="zh-CN" altLang="en-US" sz="2400">
              <a:solidFill>
                <a:srgbClr val="FFFFFF"/>
              </a:solidFill>
              <a:sym typeface="Times New Roman" panose="02020603050405020304" pitchFamily="18" charset="0"/>
            </a:endParaRPr>
          </a:p>
        </p:txBody>
      </p:sp>
      <p:sp>
        <p:nvSpPr>
          <p:cNvPr id="5122" name="Rectangle 9">
            <a:extLst>
              <a:ext uri="{FF2B5EF4-FFF2-40B4-BE49-F238E27FC236}">
                <a16:creationId xmlns:a16="http://schemas.microsoft.com/office/drawing/2014/main" id="{7918CDCB-EF3F-48AA-92CC-2DBC9942E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 b="1" i="1">
                <a:solidFill>
                  <a:srgbClr val="000000"/>
                </a:solidFill>
                <a:sym typeface="Times New Roman" panose="02020603050405020304" pitchFamily="18" charset="0"/>
              </a:rPr>
              <a:t>M/</a:t>
            </a:r>
            <a:endParaRPr lang="en-US" altLang="zh-CN" sz="2400"/>
          </a:p>
        </p:txBody>
      </p:sp>
      <p:sp>
        <p:nvSpPr>
          <p:cNvPr id="5123" name="Rectangle 10">
            <a:extLst>
              <a:ext uri="{FF2B5EF4-FFF2-40B4-BE49-F238E27FC236}">
                <a16:creationId xmlns:a16="http://schemas.microsoft.com/office/drawing/2014/main" id="{5136B442-6CD9-4D09-B30F-3032C13A2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100" b="1" i="1"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zh-CN" altLang="en-US" sz="2400"/>
          </a:p>
        </p:txBody>
      </p:sp>
      <p:sp>
        <p:nvSpPr>
          <p:cNvPr id="4100" name="标题 1">
            <a:extLst>
              <a:ext uri="{FF2B5EF4-FFF2-40B4-BE49-F238E27FC236}">
                <a16:creationId xmlns:a16="http://schemas.microsoft.com/office/drawing/2014/main" id="{756A24CB-669C-479F-8EAE-BE93B31F9B60}"/>
              </a:ext>
            </a:extLst>
          </p:cNvPr>
          <p:cNvSpPr>
            <a:spLocks noGrp="1"/>
          </p:cNvSpPr>
          <p:nvPr/>
        </p:nvSpPr>
        <p:spPr>
          <a:xfrm>
            <a:off x="260350" y="1028700"/>
            <a:ext cx="8534400" cy="488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endParaRPr lang="zh-CN" altLang="en-US" sz="3600" b="1" noProof="1">
              <a:solidFill>
                <a:srgbClr val="FFFF00"/>
              </a:solidFill>
              <a:latin typeface="Times New Roman" panose="02020603050405020304" pitchFamily="2" charset="0"/>
              <a:sym typeface="Times New Roman" panose="02020603050405020304" pitchFamily="2" charset="0"/>
            </a:endParaRPr>
          </a:p>
          <a:p>
            <a:pPr algn="ctr" eaLnBrk="0" hangingPunct="0"/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第3章</a:t>
            </a:r>
            <a:endParaRPr lang="zh-CN" altLang="en-US" sz="4000" b="1" noProof="1">
              <a:solidFill>
                <a:srgbClr val="FFC000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  <a:p>
            <a:pPr algn="ctr">
              <a:spcBef>
                <a:spcPts val="2400"/>
              </a:spcBef>
              <a:spcAft>
                <a:spcPts val="2400"/>
              </a:spcAft>
            </a:pPr>
            <a:r>
              <a:rPr lang="en-US" altLang="x-none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Times New Roman" panose="02020603050405020304" pitchFamily="2" charset="0"/>
              </a:rPr>
              <a:t>8086的寻址方式和指令系统</a:t>
            </a:r>
          </a:p>
          <a:p>
            <a:pPr algn="ctr">
              <a:spcBef>
                <a:spcPts val="2400"/>
              </a:spcBef>
              <a:spcAft>
                <a:spcPts val="2400"/>
              </a:spcAft>
            </a:pPr>
            <a:r>
              <a:rPr lang="en-US" altLang="x-none" sz="40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+mn-ea"/>
              </a:rPr>
              <a:t>PART2 </a:t>
            </a:r>
            <a:r>
              <a:rPr lang="zh-CN" altLang="en-US" sz="40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+mn-ea"/>
              </a:rPr>
              <a:t>指令系统（二）</a:t>
            </a:r>
            <a:endParaRPr lang="en-US" altLang="zh-CN" sz="4000" b="1" noProof="1">
              <a:solidFill>
                <a:srgbClr val="CC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  <a:ea typeface="华文中宋" panose="02010600040101010101" pitchFamily="2" charset="-122"/>
              <a:cs typeface="+mn-ea"/>
              <a:sym typeface="+mn-ea"/>
            </a:endParaRPr>
          </a:p>
          <a:p>
            <a:pPr algn="ctr">
              <a:spcBef>
                <a:spcPts val="2400"/>
              </a:spcBef>
              <a:spcAft>
                <a:spcPts val="2400"/>
              </a:spcAft>
            </a:pPr>
            <a:endParaRPr lang="en-US" altLang="x-none" sz="4800" b="1" noProof="1">
              <a:solidFill>
                <a:srgbClr val="0033CC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  <a:ea typeface="华文中宋" panose="02010600040101010101" pitchFamily="2" charset="-122"/>
              <a:cs typeface="+mn-ea"/>
            </a:endParaRPr>
          </a:p>
        </p:txBody>
      </p:sp>
      <p:sp>
        <p:nvSpPr>
          <p:cNvPr id="5125" name="日期占位符 1">
            <a:extLst>
              <a:ext uri="{FF2B5EF4-FFF2-40B4-BE49-F238E27FC236}">
                <a16:creationId xmlns:a16="http://schemas.microsoft.com/office/drawing/2014/main" id="{AB816825-71E9-4D04-AEE5-5EA2CB88905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DDC700F-C3FD-4B77-A314-11C1ADF75C96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57929FCF-A8E4-4341-A437-BE666023C95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6146" name="矩形 4">
            <a:extLst>
              <a:ext uri="{FF2B5EF4-FFF2-40B4-BE49-F238E27FC236}">
                <a16:creationId xmlns:a16="http://schemas.microsoft.com/office/drawing/2014/main" id="{737F924F-C2FA-4EA1-AE3F-8CBCB9235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008000"/>
              </a:solidFill>
            </a:endParaRPr>
          </a:p>
        </p:txBody>
      </p:sp>
      <p:sp>
        <p:nvSpPr>
          <p:cNvPr id="6147" name="日期占位符 1">
            <a:extLst>
              <a:ext uri="{FF2B5EF4-FFF2-40B4-BE49-F238E27FC236}">
                <a16:creationId xmlns:a16="http://schemas.microsoft.com/office/drawing/2014/main" id="{87B8B626-1871-46FC-80BA-078E82E7CA5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D8FCF15-7496-4FE8-A1F5-E918FD12E2D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D1C9E4E6-96B4-4913-AB79-F092BB9AE52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 dirty="0">
                <a:solidFill>
                  <a:srgbClr val="FF0066"/>
                </a:solidFill>
                <a:ea typeface="楷体_GB2312" pitchFamily="1" charset="-122"/>
              </a:rPr>
              <a:t>3.3.3  </a:t>
            </a:r>
            <a:r>
              <a:rPr lang="zh-CN" altLang="en-US" sz="3600" b="1" dirty="0">
                <a:solidFill>
                  <a:srgbClr val="FF0066"/>
                </a:solidFill>
                <a:ea typeface="楷体_GB2312" pitchFamily="1" charset="-122"/>
              </a:rPr>
              <a:t>逻辑运算和移位指令</a:t>
            </a:r>
            <a:endParaRPr lang="zh-CN" altLang="en-US" sz="4400" b="1" dirty="0">
              <a:solidFill>
                <a:srgbClr val="FF0066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F45F22DA-867B-4DA5-A056-9C54F52947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5372100"/>
          </a:xfrm>
        </p:spPr>
        <p:txBody>
          <a:bodyPr/>
          <a:lstStyle/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学习前先提几个问题，学完要能回答：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</a:t>
            </a:r>
          </a:p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1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）如何对一个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位的操作数进行：按位清零、按位置一和按位取反？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2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）程序初始化之前，常常会对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AX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寄存器清零，一般会用：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XOR AX,AX 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，而不是采用：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MOV AX,0H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，为什么呢？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</a:t>
            </a: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3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）算术移位和逻辑移位有何差别？为什么算术右移要这么设计？和补码有什么关系？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4)	TEST 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指令通常在什么情况下使用？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ransition spd="slow"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9C5CD5E2-B3FC-4660-8031-33215342DBF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3.3.3  </a:t>
            </a:r>
            <a:r>
              <a:rPr lang="zh-CN" altLang="en-US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逻辑运算和移位指令</a:t>
            </a:r>
            <a:endParaRPr lang="zh-CN" altLang="en-US" sz="4400" b="1" dirty="0">
              <a:solidFill>
                <a:schemeClr val="accent2"/>
              </a:solidFill>
            </a:endParaRPr>
          </a:p>
        </p:txBody>
      </p:sp>
      <p:sp>
        <p:nvSpPr>
          <p:cNvPr id="6147" name="内容占位符 4">
            <a:extLst>
              <a:ext uri="{FF2B5EF4-FFF2-40B4-BE49-F238E27FC236}">
                <a16:creationId xmlns:a16="http://schemas.microsoft.com/office/drawing/2014/main" id="{475F056D-7756-4C06-915B-2C204A2915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3240087" cy="251460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逻辑运算和移位指令，对字节或字操作数进行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按位操作</a:t>
            </a:r>
            <a:r>
              <a:rPr lang="zh-CN" altLang="en-US" sz="2800">
                <a:latin typeface="Times New Roman" panose="02020603050405020304" pitchFamily="18" charset="0"/>
              </a:rPr>
              <a:t>，见表</a:t>
            </a:r>
            <a:r>
              <a:rPr lang="en-US" altLang="zh-CN" sz="2800">
                <a:latin typeface="Times New Roman" panose="02020603050405020304" pitchFamily="18" charset="0"/>
              </a:rPr>
              <a:t>3.7</a:t>
            </a:r>
          </a:p>
          <a:p>
            <a:pPr algn="l"/>
            <a:endParaRPr lang="zh-CN" altLang="en-US" sz="32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A6FAA5E9-356E-4DE5-8224-B6B050847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1133475"/>
            <a:ext cx="4262438" cy="546735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15">
            <a:extLst>
              <a:ext uri="{FF2B5EF4-FFF2-40B4-BE49-F238E27FC236}">
                <a16:creationId xmlns:a16="http://schemas.microsoft.com/office/drawing/2014/main" id="{FA38E3E5-80A2-4364-9BAA-B46040E7F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294063"/>
            <a:ext cx="2968625" cy="2606675"/>
          </a:xfrm>
          <a:prstGeom prst="rect">
            <a:avLst/>
          </a:prstGeom>
          <a:pattFill prst="pct5">
            <a:fgClr>
              <a:srgbClr val="FFC0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0" anchor="ctr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Garamond" panose="02020404030301010803" pitchFamily="18" charset="0"/>
              </a:rPr>
              <a:t>记住下面几个单词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A</a:t>
            </a:r>
            <a:r>
              <a:rPr lang="en-US" altLang="zh-CN" sz="2400" b="1">
                <a:latin typeface="Garamond" panose="02020404030301010803" pitchFamily="18" charset="0"/>
              </a:rPr>
              <a:t>rithmetic</a:t>
            </a:r>
            <a:r>
              <a:rPr lang="zh-CN" altLang="en-US" sz="2400" b="1">
                <a:latin typeface="Garamond" panose="02020404030301010803" pitchFamily="18" charset="0"/>
              </a:rPr>
              <a:t>：算术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L</a:t>
            </a:r>
            <a:r>
              <a:rPr lang="en-US" altLang="zh-CN" sz="2400" b="1">
                <a:latin typeface="Garamond" panose="02020404030301010803" pitchFamily="18" charset="0"/>
              </a:rPr>
              <a:t>ogic</a:t>
            </a:r>
            <a:r>
              <a:rPr lang="zh-CN" altLang="en-US" sz="2400" b="1">
                <a:latin typeface="Garamond" panose="02020404030301010803" pitchFamily="18" charset="0"/>
              </a:rPr>
              <a:t>：逻辑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RO</a:t>
            </a:r>
            <a:r>
              <a:rPr lang="en-US" altLang="zh-CN" sz="2400" b="1">
                <a:latin typeface="Garamond" panose="02020404030301010803" pitchFamily="18" charset="0"/>
              </a:rPr>
              <a:t>tate</a:t>
            </a:r>
            <a:r>
              <a:rPr lang="zh-CN" altLang="en-US" sz="2400" b="1">
                <a:latin typeface="Garamond" panose="02020404030301010803" pitchFamily="18" charset="0"/>
              </a:rPr>
              <a:t>：循环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SH</a:t>
            </a:r>
            <a:r>
              <a:rPr lang="en-US" altLang="zh-CN" sz="2400" b="1">
                <a:latin typeface="Garamond" panose="02020404030301010803" pitchFamily="18" charset="0"/>
              </a:rPr>
              <a:t>ift</a:t>
            </a:r>
            <a:r>
              <a:rPr lang="zh-CN" altLang="en-US" sz="2400" b="1">
                <a:latin typeface="Garamond" panose="02020404030301010803" pitchFamily="18" charset="0"/>
              </a:rPr>
              <a:t>：移位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L</a:t>
            </a:r>
            <a:r>
              <a:rPr lang="en-US" altLang="zh-CN" sz="2400" b="1">
                <a:latin typeface="Garamond" panose="02020404030301010803" pitchFamily="18" charset="0"/>
              </a:rPr>
              <a:t>eft</a:t>
            </a:r>
            <a:r>
              <a:rPr lang="zh-CN" altLang="en-US" sz="2400" b="1">
                <a:latin typeface="Garamond" panose="02020404030301010803" pitchFamily="18" charset="0"/>
              </a:rPr>
              <a:t>：左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R</a:t>
            </a:r>
            <a:r>
              <a:rPr lang="en-US" altLang="zh-CN" sz="2400" b="1">
                <a:latin typeface="Garamond" panose="02020404030301010803" pitchFamily="18" charset="0"/>
              </a:rPr>
              <a:t>ight</a:t>
            </a:r>
            <a:r>
              <a:rPr lang="zh-CN" altLang="en-US" sz="2400" b="1">
                <a:latin typeface="Garamond" panose="02020404030301010803" pitchFamily="18" charset="0"/>
              </a:rPr>
              <a:t>：右</a:t>
            </a:r>
          </a:p>
        </p:txBody>
      </p:sp>
      <p:sp>
        <p:nvSpPr>
          <p:cNvPr id="7173" name="日期占位符 1">
            <a:extLst>
              <a:ext uri="{FF2B5EF4-FFF2-40B4-BE49-F238E27FC236}">
                <a16:creationId xmlns:a16="http://schemas.microsoft.com/office/drawing/2014/main" id="{EE8AB2F6-14CA-48AF-96C1-D7BE81C07B0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2714B80-8D67-4BC4-8063-3ECBDF140BC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62F511C9-674C-4772-B6D0-AC5BA6694E8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0700" y="368300"/>
            <a:ext cx="8231188" cy="6746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1. </a:t>
            </a:r>
            <a:r>
              <a:rPr lang="zh-CN" altLang="en-US" sz="3600" b="1">
                <a:solidFill>
                  <a:schemeClr val="accent2"/>
                </a:solidFill>
              </a:rPr>
              <a:t>逻辑运算指令</a:t>
            </a:r>
            <a:r>
              <a:rPr lang="en-US" altLang="zh-CN" sz="3600" b="1">
                <a:solidFill>
                  <a:schemeClr val="accent2"/>
                </a:solidFill>
              </a:rPr>
              <a:t>  (Logical Operations)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8FF2B1A4-98BC-4567-BC09-6BCD00540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850" y="1250950"/>
            <a:ext cx="8372475" cy="5175250"/>
          </a:xfrm>
        </p:spPr>
        <p:txBody>
          <a:bodyPr/>
          <a:lstStyle/>
          <a:p>
            <a:pPr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NOT  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取反指令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(Logical Not)</a:t>
            </a:r>
          </a:p>
          <a:p>
            <a:pPr algn="l"/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格式</a:t>
            </a:r>
            <a:r>
              <a:rPr lang="zh-CN" altLang="en-US" sz="2800" noProof="1">
                <a:latin typeface="Times New Roman" panose="02020603050405020304" pitchFamily="2" charset="0"/>
              </a:rPr>
              <a:t>：</a:t>
            </a: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NOT  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目的操作数</a:t>
            </a:r>
          </a:p>
          <a:p>
            <a:pPr algn="l"/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功能</a:t>
            </a:r>
            <a:r>
              <a:rPr lang="zh-CN" altLang="en-US" sz="2800" noProof="1">
                <a:latin typeface="Times New Roman" panose="02020603050405020304" pitchFamily="2" charset="0"/>
              </a:rPr>
              <a:t>：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←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目的操作数</a:t>
            </a:r>
            <a:r>
              <a:rPr lang="zh-CN" altLang="en-US" sz="28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按位取反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目的操作数可以是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位或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寄存器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存储器</a:t>
            </a:r>
            <a:r>
              <a:rPr lang="zh-CN" altLang="en-US" sz="2800" noProof="1">
                <a:latin typeface="Times New Roman" panose="02020603050405020304" pitchFamily="2" charset="0"/>
              </a:rPr>
              <a:t>，对存储器操作数要说明类型</a:t>
            </a:r>
          </a:p>
          <a:p>
            <a:pPr algn="l">
              <a:spcBef>
                <a:spcPts val="24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3.65 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NOT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指令只有一个操作数，介绍几种用法</a:t>
            </a:r>
          </a:p>
          <a:p>
            <a:pPr algn="l">
              <a:spcBef>
                <a:spcPts val="60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NOT    AX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AX←AX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取反</a:t>
            </a:r>
          </a:p>
          <a:p>
            <a:pPr algn="l">
              <a:spcBef>
                <a:spcPts val="60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NOT    BL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BL←BL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取反</a:t>
            </a:r>
          </a:p>
          <a:p>
            <a:pPr algn="l">
              <a:spcBef>
                <a:spcPts val="60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NOT   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 BYTE  PTR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</a:p>
          <a:p>
            <a:pPr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	</a:t>
            </a:r>
            <a:r>
              <a:rPr lang="zh-CN" altLang="en-US" sz="32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对存储器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字节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单元内容取反后送回该单元</a:t>
            </a:r>
            <a:r>
              <a:rPr lang="en-US" altLang="x-none" sz="2800" noProof="1"/>
              <a:t> </a:t>
            </a:r>
          </a:p>
        </p:txBody>
      </p:sp>
      <p:sp>
        <p:nvSpPr>
          <p:cNvPr id="8195" name="日期占位符 1">
            <a:extLst>
              <a:ext uri="{FF2B5EF4-FFF2-40B4-BE49-F238E27FC236}">
                <a16:creationId xmlns:a16="http://schemas.microsoft.com/office/drawing/2014/main" id="{C2C14E7C-411F-4591-9925-CE08950D3AA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F4C44C3-3951-46FC-B191-C9C93C63265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5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56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91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91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1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charRg st="11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40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1">
                                            <p:txEl>
                                              <p:charRg st="140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>
            <a:extLst>
              <a:ext uri="{FF2B5EF4-FFF2-40B4-BE49-F238E27FC236}">
                <a16:creationId xmlns:a16="http://schemas.microsoft.com/office/drawing/2014/main" id="{0CBFAE50-8038-450F-AA87-ABE8BBE8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406400"/>
            <a:ext cx="8372475" cy="6223000"/>
          </a:xfrm>
        </p:spPr>
        <p:txBody>
          <a:bodyPr/>
          <a:lstStyle/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x-none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逻辑运算指令</a:t>
            </a:r>
            <a:r>
              <a:rPr lang="en-US" altLang="x-none" sz="28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Times New Roman" panose="02020603050405020304" pitchFamily="2" charset="0"/>
              </a:rPr>
              <a:t>以下为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双操作数指令</a:t>
            </a:r>
            <a:r>
              <a:rPr lang="zh-CN" altLang="en-US" sz="2800" noProof="1">
                <a:latin typeface="Times New Roman" panose="02020603050405020304" pitchFamily="2" charset="0"/>
              </a:rPr>
              <a:t>。源操作数可以是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位立即数、寄存器、存储器，目的操作数只能是寄存器或存储器，两个操作数不能同时为存储器。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包括：</a:t>
            </a:r>
            <a:r>
              <a:rPr lang="en-US" altLang="zh-CN" sz="280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AND   </a:t>
            </a:r>
            <a:r>
              <a:rPr lang="zh-CN" altLang="en-US" sz="2800" noProof="1">
                <a:latin typeface="Times New Roman" panose="02020603050405020304" pitchFamily="2" charset="0"/>
              </a:rPr>
              <a:t>与操作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 </a:t>
            </a:r>
            <a:r>
              <a:rPr lang="en-US" altLang="zh-CN" sz="2800" noProof="1">
                <a:latin typeface="Times New Roman" panose="02020603050405020304" pitchFamily="2" charset="0"/>
              </a:rPr>
              <a:t>	 </a:t>
            </a:r>
            <a:r>
              <a:rPr lang="en-US" altLang="zh-CN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OR  </a:t>
            </a:r>
            <a:r>
              <a:rPr lang="en-US" altLang="zh-CN" sz="2800" noProof="1">
                <a:latin typeface="Times New Roman" panose="02020603050405020304" pitchFamily="2" charset="0"/>
              </a:rPr>
              <a:t>     </a:t>
            </a:r>
            <a:r>
              <a:rPr lang="zh-CN" altLang="en-US" sz="2800" noProof="1">
                <a:latin typeface="Times New Roman" panose="02020603050405020304" pitchFamily="2" charset="0"/>
              </a:rPr>
              <a:t>或操作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zh-CN" sz="2800" noProof="1">
                <a:latin typeface="Times New Roman" panose="02020603050405020304" pitchFamily="2" charset="0"/>
              </a:rPr>
              <a:t>	 </a:t>
            </a:r>
            <a:r>
              <a:rPr lang="en-US" altLang="zh-CN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XOR</a:t>
            </a:r>
            <a:r>
              <a:rPr lang="en-US" altLang="zh-CN" sz="2800" noProof="1">
                <a:latin typeface="Times New Roman" panose="02020603050405020304" pitchFamily="2" charset="0"/>
              </a:rPr>
              <a:t>	  </a:t>
            </a:r>
            <a:r>
              <a:rPr lang="zh-CN" altLang="en-US" sz="2800" noProof="1">
                <a:latin typeface="Times New Roman" panose="02020603050405020304" pitchFamily="2" charset="0"/>
              </a:rPr>
              <a:t>异或操作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zh-CN" sz="2800" noProof="1">
                <a:latin typeface="Times New Roman" panose="02020603050405020304" pitchFamily="2" charset="0"/>
              </a:rPr>
              <a:t>	 </a:t>
            </a:r>
            <a:r>
              <a:rPr lang="en-US" altLang="zh-CN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TEST</a:t>
            </a:r>
            <a:r>
              <a:rPr lang="en-US" altLang="zh-CN" sz="2800" noProof="1">
                <a:latin typeface="Times New Roman" panose="02020603050405020304" pitchFamily="2" charset="0"/>
              </a:rPr>
              <a:t>   </a:t>
            </a:r>
            <a:r>
              <a:rPr lang="zh-CN" altLang="en-US" sz="2800" noProof="1">
                <a:latin typeface="Times New Roman" panose="02020603050405020304" pitchFamily="2" charset="0"/>
              </a:rPr>
              <a:t>测试（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执行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AND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操作，不改目的操作数</a:t>
            </a:r>
            <a:r>
              <a:rPr lang="zh-CN" altLang="en-US" sz="2800" noProof="1">
                <a:latin typeface="Times New Roman" panose="02020603050405020304" pitchFamily="2" charset="0"/>
              </a:rPr>
              <a:t>）</a:t>
            </a:r>
          </a:p>
          <a:p>
            <a:pPr marL="1905" indent="11239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Char char="u"/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Times New Roman" panose="02020603050405020304" pitchFamily="2" charset="0"/>
              </a:rPr>
              <a:t>指令执行后，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均将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CF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和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OF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清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0</a:t>
            </a:r>
            <a:r>
              <a:rPr lang="zh-CN" altLang="en-US" sz="2800" noProof="1">
                <a:latin typeface="Times New Roman" panose="02020603050405020304" pitchFamily="2" charset="0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</a:rPr>
              <a:t>ZF</a:t>
            </a:r>
            <a:r>
              <a:rPr lang="zh-CN" altLang="en-US" sz="2800" noProof="1">
                <a:latin typeface="Times New Roman" panose="02020603050405020304" pitchFamily="2" charset="0"/>
              </a:rPr>
              <a:t>、</a:t>
            </a:r>
            <a:r>
              <a:rPr lang="en-US" altLang="x-none" sz="2800" noProof="1">
                <a:latin typeface="Times New Roman" panose="02020603050405020304" pitchFamily="2" charset="0"/>
              </a:rPr>
              <a:t>SF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PF</a:t>
            </a:r>
            <a:r>
              <a:rPr lang="zh-CN" altLang="en-US" sz="2800" noProof="1">
                <a:latin typeface="Times New Roman" panose="02020603050405020304" pitchFamily="2" charset="0"/>
              </a:rPr>
              <a:t>反映操作结果，</a:t>
            </a:r>
            <a:r>
              <a:rPr lang="en-US" altLang="x-none" sz="2800" noProof="1">
                <a:latin typeface="Times New Roman" panose="02020603050405020304" pitchFamily="2" charset="0"/>
              </a:rPr>
              <a:t>AF</a:t>
            </a:r>
            <a:r>
              <a:rPr lang="zh-CN" altLang="en-US" sz="2800" noProof="1">
                <a:latin typeface="Times New Roman" panose="02020603050405020304" pitchFamily="2" charset="0"/>
              </a:rPr>
              <a:t>未定义，源操作数不变</a:t>
            </a:r>
            <a:endParaRPr lang="zh-CN" altLang="en-US" sz="2800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9218" name="日期占位符 1">
            <a:extLst>
              <a:ext uri="{FF2B5EF4-FFF2-40B4-BE49-F238E27FC236}">
                <a16:creationId xmlns:a16="http://schemas.microsoft.com/office/drawing/2014/main" id="{1B49A5AA-11F7-4405-8998-747C3E70309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B126675-D40B-4BE8-968C-6C7112CA3A08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65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charRg st="65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>
            <a:extLst>
              <a:ext uri="{FF2B5EF4-FFF2-40B4-BE49-F238E27FC236}">
                <a16:creationId xmlns:a16="http://schemas.microsoft.com/office/drawing/2014/main" id="{AFA4D010-B619-4642-80CD-33B26ECFB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406400"/>
            <a:ext cx="8372475" cy="6223000"/>
          </a:xfrm>
        </p:spPr>
        <p:txBody>
          <a:bodyPr/>
          <a:lstStyle/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x-none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逻辑运算指令</a:t>
            </a:r>
            <a:r>
              <a:rPr lang="en-US" altLang="x-none" sz="28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endParaRPr lang="en-US" altLang="x-none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AND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逻辑与指令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(Logical AND)</a:t>
            </a:r>
          </a:p>
          <a:p>
            <a:pPr marL="1905" indent="-1905" algn="l">
              <a:spcBef>
                <a:spcPct val="0"/>
              </a:spcBef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-1905" algn="l">
              <a:spcBef>
                <a:spcPct val="0"/>
              </a:spcBef>
            </a:pPr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AND	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目的，源</a:t>
            </a:r>
          </a:p>
          <a:p>
            <a:pPr marL="1905" indent="-1905" algn="l">
              <a:spcBef>
                <a:spcPct val="0"/>
              </a:spcBef>
            </a:pPr>
            <a:r>
              <a:rPr lang="zh-CN" altLang="en-US" sz="2800" noProof="1">
                <a:latin typeface="Times New Roman" panose="02020603050405020304" pitchFamily="2" charset="0"/>
              </a:rPr>
              <a:t>指令功能：</a:t>
            </a: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←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∧</a:t>
            </a:r>
            <a:r>
              <a:rPr lang="zh-CN" altLang="en-US" sz="2800" noProof="1">
                <a:latin typeface="Times New Roman" panose="02020603050405020304" pitchFamily="2" charset="0"/>
              </a:rPr>
              <a:t>源 </a:t>
            </a:r>
          </a:p>
          <a:p>
            <a:pPr marL="1905" indent="-1905" algn="l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主要用于使操作数的某些位保留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“1”</a:t>
            </a:r>
            <a:r>
              <a:rPr lang="zh-CN" altLang="en-US" sz="2800" noProof="1">
                <a:latin typeface="Times New Roman" panose="02020603050405020304" pitchFamily="2" charset="0"/>
              </a:rPr>
              <a:t>相与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r>
              <a:rPr lang="zh-CN" altLang="en-US" sz="2800" noProof="1">
                <a:latin typeface="Times New Roman" panose="02020603050405020304" pitchFamily="2" charset="0"/>
              </a:rPr>
              <a:t>，而使某些位清除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“0”</a:t>
            </a:r>
            <a:r>
              <a:rPr lang="zh-CN" altLang="en-US" sz="2800" noProof="1">
                <a:latin typeface="Times New Roman" panose="02020603050405020304" pitchFamily="2" charset="0"/>
              </a:rPr>
              <a:t>相与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</a:p>
          <a:p>
            <a:pPr marL="1905" indent="-1905" algn="l">
              <a:spcBef>
                <a:spcPts val="18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3.66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中是数字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的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ASCII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码，即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AX=3538H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，将它们转换成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BCD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码，结果仍放回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。指令如下：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  AND  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0F0FH 	</a:t>
            </a:r>
            <a:r>
              <a:rPr lang="zh-CN" altLang="en-US" sz="2800" noProof="1">
                <a:solidFill>
                  <a:schemeClr val="accent2"/>
                </a:solidFill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AX←0508H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。屏蔽高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4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位，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					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；截得低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4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位</a:t>
            </a:r>
          </a:p>
        </p:txBody>
      </p:sp>
      <p:sp>
        <p:nvSpPr>
          <p:cNvPr id="10242" name="日期占位符 1">
            <a:extLst>
              <a:ext uri="{FF2B5EF4-FFF2-40B4-BE49-F238E27FC236}">
                <a16:creationId xmlns:a16="http://schemas.microsoft.com/office/drawing/2014/main" id="{D97641CB-B6D6-4CC4-B94F-50F4E77B99D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4A18DEA-CF6F-40B7-9EFA-9D4478F5A83A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09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charRg st="109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36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4">
                                            <p:txEl>
                                              <p:charRg st="136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51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194">
                                            <p:txEl>
                                              <p:charRg st="151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66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4">
                                            <p:txEl>
                                              <p:charRg st="166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05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194">
                                            <p:txEl>
                                              <p:charRg st="205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A7B09D96-8EAE-4E1D-A484-891EED0E4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250950"/>
            <a:ext cx="8372475" cy="5238750"/>
          </a:xfrm>
        </p:spPr>
        <p:txBody>
          <a:bodyPr/>
          <a:lstStyle/>
          <a:p>
            <a:pPr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3) OR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逻辑或指令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(Logical OR)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OR	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目的，源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指令功能： 目的</a:t>
            </a:r>
            <a:r>
              <a:rPr lang="en-US" altLang="x-none" sz="2800" noProof="1">
                <a:latin typeface="Times New Roman" panose="02020603050405020304" pitchFamily="2" charset="0"/>
              </a:rPr>
              <a:t>←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∨</a:t>
            </a:r>
            <a:r>
              <a:rPr lang="zh-CN" altLang="en-US" sz="2800" noProof="1">
                <a:latin typeface="Times New Roman" panose="02020603050405020304" pitchFamily="2" charset="0"/>
              </a:rPr>
              <a:t>源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它主要用于使操作数的某些位保留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“0”</a:t>
            </a:r>
            <a:r>
              <a:rPr lang="zh-CN" altLang="en-US" sz="2800" noProof="1">
                <a:latin typeface="Times New Roman" panose="02020603050405020304" pitchFamily="2" charset="0"/>
              </a:rPr>
              <a:t>相或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r>
              <a:rPr lang="zh-CN" altLang="en-US" sz="2800" noProof="1">
                <a:latin typeface="Times New Roman" panose="02020603050405020304" pitchFamily="2" charset="0"/>
              </a:rPr>
              <a:t>，而使某些位置</a:t>
            </a:r>
            <a:r>
              <a:rPr lang="en-US" altLang="x-none" sz="2800" noProof="1">
                <a:latin typeface="Times New Roman" panose="02020603050405020304" pitchFamily="2" charset="0"/>
              </a:rPr>
              <a:t>1(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“1”</a:t>
            </a:r>
            <a:r>
              <a:rPr lang="zh-CN" altLang="en-US" sz="2800" noProof="1">
                <a:latin typeface="Times New Roman" panose="02020603050405020304" pitchFamily="2" charset="0"/>
              </a:rPr>
              <a:t>相或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3.67 </a:t>
            </a:r>
            <a:r>
              <a:rPr lang="en-US" altLang="x-none" sz="2800" noProof="1">
                <a:solidFill>
                  <a:srgbClr val="23FFF8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中存有两个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BCD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数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0508H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，要将它们分别转换成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ASCII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码，结果仍在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中。可用如下指令实现：</a:t>
            </a:r>
          </a:p>
          <a:p>
            <a:pPr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OR	   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3030H	</a:t>
            </a:r>
            <a:r>
              <a:rPr lang="zh-CN" altLang="en-US" sz="2800" noProof="1">
                <a:solidFill>
                  <a:srgbClr val="008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8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</a:rPr>
              <a:t>AX←3538H</a:t>
            </a:r>
          </a:p>
          <a:p>
            <a:pPr algn="l"/>
            <a:endParaRPr lang="en-US" altLang="x-none" sz="2800" noProof="1">
              <a:solidFill>
                <a:srgbClr val="008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266" name="标题 1">
            <a:extLst>
              <a:ext uri="{FF2B5EF4-FFF2-40B4-BE49-F238E27FC236}">
                <a16:creationId xmlns:a16="http://schemas.microsoft.com/office/drawing/2014/main" id="{33E033C2-543F-467C-8039-9CA8E7C8410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4064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</a:p>
        </p:txBody>
      </p:sp>
      <p:sp>
        <p:nvSpPr>
          <p:cNvPr id="11267" name="日期占位符 1">
            <a:extLst>
              <a:ext uri="{FF2B5EF4-FFF2-40B4-BE49-F238E27FC236}">
                <a16:creationId xmlns:a16="http://schemas.microsoft.com/office/drawing/2014/main" id="{24187E3F-4287-405C-9295-18DC43A9089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3ED22B3-5AC8-4516-B1BE-EC08C4DB8992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CBE1B70F-89D6-46CE-B85D-8EA109D8E09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2EE0F000-E0F6-4A98-A520-80875E336A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028700"/>
            <a:ext cx="8372475" cy="555625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4) XOR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异或操作指令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 (Exclusive OR)</a:t>
            </a:r>
            <a:endParaRPr lang="zh-CN" altLang="en-US" sz="28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指令格式：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800" dirty="0">
                <a:latin typeface="Times New Roman" panose="02020603050405020304" pitchFamily="18" charset="0"/>
              </a:rPr>
              <a:t>	 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目的，源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指令功能： 对两个操作数进行按位逻辑异或运算，结果送回目的操作数，即：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目的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←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目的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源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☼</a:t>
            </a:r>
            <a:r>
              <a:rPr lang="zh-CN" altLang="en-US" sz="2800" dirty="0">
                <a:latin typeface="Times New Roman" panose="02020603050405020304" pitchFamily="18" charset="0"/>
              </a:rPr>
              <a:t>用于使操作数的某些位保留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“0”</a:t>
            </a:r>
            <a:r>
              <a:rPr lang="zh-CN" altLang="en-US" sz="2800" dirty="0">
                <a:latin typeface="Times New Roman" panose="02020603050405020304" pitchFamily="18" charset="0"/>
              </a:rPr>
              <a:t>相异或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，而使某些位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取反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“1”</a:t>
            </a:r>
            <a:r>
              <a:rPr lang="zh-CN" altLang="en-US" sz="2800" dirty="0">
                <a:latin typeface="Times New Roman" panose="02020603050405020304" pitchFamily="18" charset="0"/>
              </a:rPr>
              <a:t>相异或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重要！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】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3.68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若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中存有某外设端口的状态信息，其中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D1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位控制扬声器发声，要求该位在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之间来回变化，原来是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变成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，原来是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变成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，其余各位保留不变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       可用以下指令实现：</a:t>
            </a:r>
          </a:p>
          <a:p>
            <a:pPr algn="l">
              <a:spcBef>
                <a:spcPct val="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XOR    AL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00000010B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291" name="日期占位符 1">
            <a:extLst>
              <a:ext uri="{FF2B5EF4-FFF2-40B4-BE49-F238E27FC236}">
                <a16:creationId xmlns:a16="http://schemas.microsoft.com/office/drawing/2014/main" id="{C641A133-B6BC-4CE1-AD17-7A0846F5ED1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F298558-AEF8-4C96-9EB4-2C8D0302C55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EFDD0AAA-AF03-4BDB-B1AC-3A8237DF7E3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1DA4979A-65AF-4407-B546-09821529BB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5) TEST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测试指令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(Test)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TEST    </a:t>
            </a:r>
            <a:r>
              <a:rPr lang="zh-CN" altLang="en-US" sz="2800">
                <a:latin typeface="Times New Roman" panose="02020603050405020304" pitchFamily="18" charset="0"/>
              </a:rPr>
              <a:t>目的，源</a:t>
            </a: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指令功能： 目的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>
                <a:latin typeface="Times New Roman" panose="02020603050405020304" pitchFamily="18" charset="0"/>
              </a:rPr>
              <a:t>源，并修改标志位，但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不回送结果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它常用在要检测某些条件是否满足，但又不希望改变原有操作数的情况下</a:t>
            </a:r>
            <a:endParaRPr lang="zh-CN" altLang="en-US" sz="3200"/>
          </a:p>
        </p:txBody>
      </p:sp>
      <p:sp>
        <p:nvSpPr>
          <p:cNvPr id="13315" name="日期占位符 1">
            <a:extLst>
              <a:ext uri="{FF2B5EF4-FFF2-40B4-BE49-F238E27FC236}">
                <a16:creationId xmlns:a16="http://schemas.microsoft.com/office/drawing/2014/main" id="{79EA6F86-856B-4CC1-8FC9-88CF139074D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79792ED-40A4-44AB-B32E-838A6BE613C3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64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0B19A8AF-8179-45C2-9CB2-095E75A3359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  <a:r>
              <a:rPr lang="en-US" altLang="zh-CN" sz="4400" b="1">
                <a:solidFill>
                  <a:schemeClr val="accent2"/>
                </a:solidFill>
              </a:rPr>
              <a:t>（test</a:t>
            </a:r>
            <a:r>
              <a:rPr lang="zh-CN" altLang="en-US" sz="4400" b="1">
                <a:solidFill>
                  <a:schemeClr val="accent2"/>
                </a:solidFill>
              </a:rPr>
              <a:t>举例）</a:t>
            </a:r>
            <a:endParaRPr lang="en-US" altLang="zh-CN" sz="4400" b="1">
              <a:solidFill>
                <a:schemeClr val="accent2"/>
              </a:solidFill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E9719368-5F3F-4697-B477-D383F022EB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028700"/>
            <a:ext cx="8142288" cy="5461000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3.69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寄存器中存有报警标志。若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D7=1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，表示温度报警，程序要转到温度报警处理程序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T_ALARM; D6=1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，则转压力报警程序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P_ALARM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。为此，可用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TEST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指令来实现这种功能：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TEST	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80H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；查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D7=1?</a:t>
            </a:r>
            <a:endParaRPr lang="zh-CN" altLang="en-US" sz="2800">
              <a:solidFill>
                <a:schemeClr val="accent2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JNZ	T_ALARM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；是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1(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非零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)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，则转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；温度报警程序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TEST	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40H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D7=0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D6=1?</a:t>
            </a:r>
            <a:endParaRPr lang="zh-CN" altLang="en-US" sz="2800">
              <a:solidFill>
                <a:schemeClr val="accent2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JNZ	P_ALARM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；是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，转压力报警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</a:rPr>
              <a:t>JNZ</a:t>
            </a:r>
            <a:r>
              <a:rPr lang="zh-CN" altLang="en-US" sz="2800">
                <a:latin typeface="Times New Roman" panose="02020603050405020304" pitchFamily="18" charset="0"/>
              </a:rPr>
              <a:t>为条件转移指令，表示结果非</a:t>
            </a:r>
            <a:r>
              <a:rPr lang="en-US" altLang="zh-CN" sz="2800">
                <a:latin typeface="Times New Roman" panose="02020603050405020304" pitchFamily="18" charset="0"/>
              </a:rPr>
              <a:t>0(ZF=1)</a:t>
            </a:r>
            <a:r>
              <a:rPr lang="zh-CN" altLang="en-US" sz="2800">
                <a:latin typeface="Times New Roman" panose="02020603050405020304" pitchFamily="18" charset="0"/>
              </a:rPr>
              <a:t>则转移</a:t>
            </a:r>
          </a:p>
          <a:p>
            <a:pPr algn="l"/>
            <a:endParaRPr lang="zh-CN" altLang="en-US" sz="2800"/>
          </a:p>
        </p:txBody>
      </p:sp>
      <p:sp>
        <p:nvSpPr>
          <p:cNvPr id="14339" name="日期占位符 1">
            <a:extLst>
              <a:ext uri="{FF2B5EF4-FFF2-40B4-BE49-F238E27FC236}">
                <a16:creationId xmlns:a16="http://schemas.microsoft.com/office/drawing/2014/main" id="{4D7FE1DA-6905-413B-9CF7-1B7D9D41A26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2224598-41D0-46C9-9FDE-961600268698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96D95C8E-57CE-4019-8E48-E8A763005D2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  <a:r>
              <a:rPr lang="en-US" altLang="zh-CN" sz="4400" b="1">
                <a:solidFill>
                  <a:schemeClr val="accent2"/>
                </a:solidFill>
              </a:rPr>
              <a:t>  </a:t>
            </a:r>
            <a:r>
              <a:rPr lang="zh-CN" altLang="en-US" sz="4400" b="1">
                <a:solidFill>
                  <a:srgbClr val="FF0000"/>
                </a:solidFill>
              </a:rPr>
              <a:t>小结</a:t>
            </a:r>
            <a:r>
              <a:rPr lang="en-US" altLang="zh-CN" sz="4400" b="1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028AFFEA-75E4-42E7-94B3-D71C71425F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028700"/>
            <a:ext cx="8142288" cy="5461000"/>
          </a:xfrm>
        </p:spPr>
        <p:txBody>
          <a:bodyPr/>
          <a:lstStyle/>
          <a:p>
            <a:pPr algn="l" eaLnBrk="0" fontAlgn="ctr" hangingPunct="0"/>
            <a:r>
              <a:rPr lang="zh-CN" altLang="en-US" sz="2400" dirty="0">
                <a:latin typeface="Times New Roman" panose="02020603050405020304" pitchFamily="18" charset="0"/>
              </a:rPr>
              <a:t>取反的方法：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NOT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               </a:t>
            </a:r>
            <a:r>
              <a:rPr lang="en-US" altLang="zh-CN" sz="2400" dirty="0">
                <a:latin typeface="Times New Roman" panose="02020603050405020304" pitchFamily="18" charset="0"/>
              </a:rPr>
              <a:t>;AL</a:t>
            </a:r>
            <a:r>
              <a:rPr lang="zh-CN" altLang="en-US" sz="2400" dirty="0">
                <a:latin typeface="Times New Roman" panose="02020603050405020304" pitchFamily="18" charset="0"/>
              </a:rPr>
              <a:t>每一位都取反</a:t>
            </a:r>
          </a:p>
          <a:p>
            <a:pPr algn="l" eaLnBrk="0" fontAlgn="ctr" hangingPunct="0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XOR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AL,01H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</a:rPr>
              <a:t>最低位取反，其他不变</a:t>
            </a:r>
          </a:p>
          <a:p>
            <a:pPr algn="l" eaLnBrk="0" fontAlgn="ctr" hangingPunct="0"/>
            <a:r>
              <a:rPr lang="zh-CN" altLang="en-US" sz="2400" dirty="0">
                <a:latin typeface="Times New Roman" panose="02020603050405020304" pitchFamily="18" charset="0"/>
              </a:rPr>
              <a:t>置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的方法：</a:t>
            </a: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OR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AL,0FH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</a:rPr>
              <a:t> 低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位置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，高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位不变</a:t>
            </a:r>
          </a:p>
          <a:p>
            <a:pPr algn="l"/>
            <a:r>
              <a:rPr lang="zh-CN" altLang="en-US" sz="2400" dirty="0">
                <a:latin typeface="Garamond" panose="02020404030301010803" pitchFamily="18" charset="0"/>
              </a:rPr>
              <a:t>清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  <a:r>
              <a:rPr lang="zh-CN" altLang="en-US" sz="2400" dirty="0">
                <a:latin typeface="Garamond" panose="02020404030301010803" pitchFamily="18" charset="0"/>
              </a:rPr>
              <a:t>的方法：</a:t>
            </a:r>
            <a:r>
              <a:rPr lang="zh-CN" altLang="en-US" sz="2400" b="1" dirty="0">
                <a:latin typeface="Garamond" panose="02020404030301010803" pitchFamily="18" charset="0"/>
                <a:sym typeface="Arial" panose="020B0604020202020204" pitchFamily="34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AL,0FH </a:t>
            </a:r>
            <a:r>
              <a:rPr lang="en-US" altLang="zh-CN" sz="2400" dirty="0">
                <a:latin typeface="Garamond" panose="02020404030301010803" pitchFamily="18" charset="0"/>
              </a:rPr>
              <a:t>;</a:t>
            </a:r>
            <a:r>
              <a:rPr lang="zh-CN" altLang="en-US" sz="2400" dirty="0">
                <a:latin typeface="Garamond" panose="02020404030301010803" pitchFamily="18" charset="0"/>
              </a:rPr>
              <a:t> 高</a:t>
            </a:r>
            <a:r>
              <a:rPr lang="en-US" altLang="zh-CN" sz="2400" dirty="0">
                <a:latin typeface="Garamond" panose="02020404030301010803" pitchFamily="18" charset="0"/>
              </a:rPr>
              <a:t>4</a:t>
            </a:r>
            <a:r>
              <a:rPr lang="zh-CN" altLang="en-US" sz="2400" dirty="0">
                <a:latin typeface="Garamond" panose="02020404030301010803" pitchFamily="18" charset="0"/>
              </a:rPr>
              <a:t>位清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  <a:r>
              <a:rPr lang="zh-CN" altLang="en-US" sz="2400" dirty="0">
                <a:latin typeface="Garamond" panose="02020404030301010803" pitchFamily="18" charset="0"/>
              </a:rPr>
              <a:t>，低</a:t>
            </a:r>
            <a:r>
              <a:rPr lang="en-US" altLang="zh-CN" sz="2400" dirty="0">
                <a:latin typeface="Garamond" panose="02020404030301010803" pitchFamily="18" charset="0"/>
              </a:rPr>
              <a:t>4</a:t>
            </a:r>
            <a:r>
              <a:rPr lang="zh-CN" altLang="en-US" sz="2400" dirty="0">
                <a:latin typeface="Garamond" panose="02020404030301010803" pitchFamily="18" charset="0"/>
              </a:rPr>
              <a:t>位不变</a:t>
            </a:r>
          </a:p>
          <a:p>
            <a:pPr algn="l"/>
            <a:endParaRPr lang="zh-CN" altLang="en-US" sz="2400" dirty="0">
              <a:latin typeface="Garamond" panose="02020404030301010803" pitchFamily="18" charset="0"/>
            </a:endParaRPr>
          </a:p>
          <a:p>
            <a:pPr algn="l"/>
            <a:r>
              <a:rPr lang="zh-CN" altLang="en-US" sz="2400" dirty="0">
                <a:latin typeface="Garamond" panose="02020404030301010803" pitchFamily="18" charset="0"/>
              </a:rPr>
              <a:t>测试某位： 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TEST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AL,00000011B</a:t>
            </a:r>
            <a:r>
              <a:rPr lang="en-US" altLang="zh-CN" sz="2400" dirty="0">
                <a:latin typeface="Garamond" panose="02020404030301010803" pitchFamily="18" charset="0"/>
              </a:rPr>
              <a:t>;</a:t>
            </a:r>
            <a:r>
              <a:rPr lang="zh-CN" altLang="en-US" sz="2400" dirty="0">
                <a:latin typeface="Garamond" panose="02020404030301010803" pitchFamily="18" charset="0"/>
              </a:rPr>
              <a:t>测试低两位是否为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  <a:endParaRPr lang="zh-CN" altLang="en-US" sz="2400" dirty="0">
              <a:latin typeface="Garamond" panose="02020404030301010803" pitchFamily="18" charset="0"/>
            </a:endParaRPr>
          </a:p>
          <a:p>
            <a:pPr algn="l"/>
            <a:endParaRPr lang="zh-CN" altLang="en-US" sz="2400" dirty="0">
              <a:latin typeface="Garamond" panose="02020404030301010803" pitchFamily="18" charset="0"/>
            </a:endParaRPr>
          </a:p>
          <a:p>
            <a:pPr algn="l"/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</a:rPr>
              <a:t>*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</a:rPr>
              <a:t>逻辑指令对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</a:rPr>
              <a:t>CF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</a:rPr>
              <a:t>OF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</a:rPr>
              <a:t>的影响</a:t>
            </a:r>
            <a:r>
              <a:rPr lang="zh-CN" altLang="en-US" sz="2400" dirty="0">
                <a:latin typeface="Garamond" panose="02020404030301010803" pitchFamily="18" charset="0"/>
              </a:rPr>
              <a:t>：清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</a:p>
          <a:p>
            <a:pPr algn="l"/>
            <a:r>
              <a:rPr lang="en-US" altLang="zh-CN" sz="2400" dirty="0">
                <a:latin typeface="Garamond" panose="02020404030301010803" pitchFamily="18" charset="0"/>
              </a:rPr>
              <a:t>    </a:t>
            </a:r>
            <a:r>
              <a:rPr lang="zh-CN" altLang="en-US" sz="2400" dirty="0">
                <a:latin typeface="Garamond" panose="02020404030301010803" pitchFamily="18" charset="0"/>
              </a:rPr>
              <a:t>如：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AX, AX </a:t>
            </a:r>
            <a:r>
              <a:rPr lang="zh-CN" altLang="en-US" sz="2400" b="1" dirty="0">
                <a:solidFill>
                  <a:schemeClr val="hlink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  </a:t>
            </a:r>
            <a:r>
              <a:rPr lang="en-US" altLang="zh-CN" sz="2400" b="1" dirty="0">
                <a:solidFill>
                  <a:schemeClr val="hlink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 </a:t>
            </a:r>
            <a:r>
              <a:rPr lang="en-US" altLang="zh-CN" sz="2400" b="1" dirty="0">
                <a:latin typeface="Garamond" panose="02020404030301010803" pitchFamily="18" charset="0"/>
              </a:rPr>
              <a:t>;AX</a:t>
            </a:r>
            <a:r>
              <a:rPr lang="zh-CN" altLang="en-US" sz="2400" b="1" dirty="0">
                <a:latin typeface="Garamond" panose="02020404030301010803" pitchFamily="18" charset="0"/>
              </a:rPr>
              <a:t>值不变，</a:t>
            </a:r>
            <a:r>
              <a:rPr lang="en-US" altLang="zh-CN" sz="2400" b="1" dirty="0">
                <a:latin typeface="Garamond" panose="02020404030301010803" pitchFamily="18" charset="0"/>
              </a:rPr>
              <a:t>CF=0</a:t>
            </a:r>
            <a:r>
              <a:rPr lang="zh-CN" altLang="en-US" sz="2400" b="1" dirty="0">
                <a:latin typeface="Garamond" panose="02020404030301010803" pitchFamily="18" charset="0"/>
              </a:rPr>
              <a:t>，</a:t>
            </a:r>
            <a:r>
              <a:rPr lang="en-US" altLang="zh-CN" sz="2400" b="1" dirty="0">
                <a:latin typeface="Garamond" panose="02020404030301010803" pitchFamily="18" charset="0"/>
              </a:rPr>
              <a:t>OF=0</a:t>
            </a:r>
          </a:p>
          <a:p>
            <a:pPr algn="l" eaLnBrk="0" fontAlgn="ctr" hangingPunct="0"/>
            <a:r>
              <a:rPr lang="zh-CN" altLang="en-US" sz="2400" b="1" dirty="0">
                <a:latin typeface="Garamond" panose="02020404030301010803" pitchFamily="18" charset="0"/>
                <a:sym typeface="Arial" panose="020B0604020202020204" pitchFamily="34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      OR </a:t>
            </a:r>
            <a:r>
              <a:rPr lang="en-US" altLang="zh-CN" sz="2400" b="1" dirty="0">
                <a:latin typeface="Garamond" panose="02020404030301010803" pitchFamily="18" charset="0"/>
                <a:sym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AX, AX </a:t>
            </a:r>
            <a:r>
              <a:rPr lang="zh-CN" altLang="en-US" sz="2400" b="1" dirty="0">
                <a:solidFill>
                  <a:schemeClr val="hlink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   </a:t>
            </a:r>
            <a:r>
              <a:rPr lang="en-US" altLang="zh-CN" sz="2400" b="1" dirty="0">
                <a:latin typeface="Garamond" panose="02020404030301010803" pitchFamily="18" charset="0"/>
              </a:rPr>
              <a:t> ;AX</a:t>
            </a:r>
            <a:r>
              <a:rPr lang="zh-CN" altLang="en-US" sz="2400" b="1" dirty="0">
                <a:latin typeface="Garamond" panose="02020404030301010803" pitchFamily="18" charset="0"/>
              </a:rPr>
              <a:t>值不变，</a:t>
            </a:r>
            <a:r>
              <a:rPr lang="en-US" altLang="zh-CN" sz="2400" b="1" dirty="0">
                <a:latin typeface="Garamond" panose="02020404030301010803" pitchFamily="18" charset="0"/>
              </a:rPr>
              <a:t>CF=0</a:t>
            </a:r>
            <a:r>
              <a:rPr lang="zh-CN" altLang="en-US" sz="2400" b="1" dirty="0">
                <a:latin typeface="Garamond" panose="02020404030301010803" pitchFamily="18" charset="0"/>
              </a:rPr>
              <a:t>，</a:t>
            </a:r>
            <a:r>
              <a:rPr lang="en-US" altLang="zh-CN" sz="2400" b="1" dirty="0">
                <a:latin typeface="Garamond" panose="02020404030301010803" pitchFamily="18" charset="0"/>
              </a:rPr>
              <a:t>OF=0</a:t>
            </a:r>
          </a:p>
          <a:p>
            <a:pPr algn="l" eaLnBrk="0" fontAlgn="ctr" hangingPunct="0"/>
            <a:r>
              <a:rPr lang="en-US" altLang="zh-CN" sz="2400" dirty="0">
                <a:latin typeface="Garamond" panose="02020404030301010803" pitchFamily="18" charset="0"/>
              </a:rPr>
              <a:t>	</a:t>
            </a:r>
            <a:r>
              <a:rPr lang="zh-CN" altLang="en-US" sz="2400" dirty="0">
                <a:latin typeface="Garamond" panose="02020404030301010803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XOR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AX, AX </a:t>
            </a:r>
            <a:r>
              <a:rPr lang="en-US" altLang="zh-CN" sz="2400" b="1" dirty="0">
                <a:latin typeface="Garamond" panose="02020404030301010803" pitchFamily="18" charset="0"/>
              </a:rPr>
              <a:t> </a:t>
            </a:r>
            <a:r>
              <a:rPr lang="zh-CN" altLang="en-US" sz="2400" b="1" dirty="0">
                <a:latin typeface="Garamond" panose="02020404030301010803" pitchFamily="18" charset="0"/>
              </a:rPr>
              <a:t>  </a:t>
            </a:r>
            <a:r>
              <a:rPr lang="en-US" altLang="zh-CN" sz="2400" b="1" dirty="0">
                <a:latin typeface="Garamond" panose="02020404030301010803" pitchFamily="18" charset="0"/>
              </a:rPr>
              <a:t>;</a:t>
            </a:r>
            <a:r>
              <a:rPr lang="en-US" altLang="zh-CN" sz="2400" b="1" dirty="0">
                <a:latin typeface="Garamond" panose="02020404030301010803" pitchFamily="18" charset="0"/>
                <a:sym typeface="Arial" panose="020B0604020202020204" pitchFamily="34" charset="0"/>
              </a:rPr>
              <a:t>AX=0,CF=</a:t>
            </a:r>
            <a:r>
              <a:rPr lang="en-US" altLang="zh-CN" sz="2400" b="1" dirty="0">
                <a:latin typeface="Garamond" panose="02020404030301010803" pitchFamily="18" charset="0"/>
              </a:rPr>
              <a:t>0,OF=0</a:t>
            </a:r>
            <a:endParaRPr lang="zh-CN" altLang="en-US" sz="2400" dirty="0"/>
          </a:p>
        </p:txBody>
      </p:sp>
      <p:sp>
        <p:nvSpPr>
          <p:cNvPr id="15363" name="日期占位符 1">
            <a:extLst>
              <a:ext uri="{FF2B5EF4-FFF2-40B4-BE49-F238E27FC236}">
                <a16:creationId xmlns:a16="http://schemas.microsoft.com/office/drawing/2014/main" id="{0691F5FD-160C-45A3-B643-AF1074BA829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2AE4161-9006-4DE2-A464-3E1FF2121B0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17BC41B9-0558-4BC2-8B88-8B79A6447BA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495300"/>
            <a:ext cx="8229600" cy="10302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2. </a:t>
            </a:r>
            <a:r>
              <a:rPr lang="zh-CN" altLang="en-US" sz="3600" b="1">
                <a:solidFill>
                  <a:schemeClr val="accent2"/>
                </a:solidFill>
              </a:rPr>
              <a:t>算术逻辑移位指令</a:t>
            </a:r>
            <a:br>
              <a:rPr lang="zh-CN" altLang="en-US" sz="3600" b="1">
                <a:solidFill>
                  <a:schemeClr val="accent2"/>
                </a:solidFill>
              </a:rPr>
            </a:br>
            <a:r>
              <a:rPr lang="zh-CN" altLang="en-US" sz="3600" b="1">
                <a:solidFill>
                  <a:schemeClr val="accent2"/>
                </a:solidFill>
              </a:rPr>
              <a:t>    </a:t>
            </a:r>
            <a:r>
              <a:rPr lang="en-US" altLang="zh-CN" sz="3600" b="1">
                <a:solidFill>
                  <a:schemeClr val="accent2"/>
                </a:solidFill>
              </a:rPr>
              <a:t>(Shift Arithmetic and Shift Logical)</a:t>
            </a:r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7C4A6051-1ED5-45C2-9050-3FED4BE4D5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651000"/>
            <a:ext cx="8372475" cy="14668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可对寄存器或存储器中的字或字节的各位进行算术移位或逻辑移位，移动的次数由指令中的计数值决定，如图</a:t>
            </a:r>
            <a:r>
              <a:rPr lang="en-US" altLang="zh-CN" sz="2800">
                <a:latin typeface="Times New Roman" panose="02020603050405020304" pitchFamily="18" charset="0"/>
              </a:rPr>
              <a:t>3.17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zh-CN" altLang="en-US" sz="3200"/>
          </a:p>
        </p:txBody>
      </p:sp>
      <p:pic>
        <p:nvPicPr>
          <p:cNvPr id="13316" name="图片 4" descr="LF3-17.png">
            <a:extLst>
              <a:ext uri="{FF2B5EF4-FFF2-40B4-BE49-F238E27FC236}">
                <a16:creationId xmlns:a16="http://schemas.microsoft.com/office/drawing/2014/main" id="{7290DB7C-FDBA-4A37-8C7A-1DBB5BF80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3295650"/>
            <a:ext cx="8682038" cy="2933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日期占位符 1">
            <a:extLst>
              <a:ext uri="{FF2B5EF4-FFF2-40B4-BE49-F238E27FC236}">
                <a16:creationId xmlns:a16="http://schemas.microsoft.com/office/drawing/2014/main" id="{54340E2F-E820-4201-9234-B43B7366FEC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E73984F-4BB7-4DFC-816C-D92BB13A0765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642DF6-6BA8-4252-97D8-2093E65ABCA7}"/>
              </a:ext>
            </a:extLst>
          </p:cNvPr>
          <p:cNvSpPr txBox="1"/>
          <p:nvPr/>
        </p:nvSpPr>
        <p:spPr>
          <a:xfrm>
            <a:off x="2089450" y="2599185"/>
            <a:ext cx="6843713" cy="46166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移位指令的一个重要作用是简化</a:t>
            </a:r>
            <a:r>
              <a:rPr lang="en-US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2</a:t>
            </a:r>
            <a:r>
              <a:rPr lang="zh-CN" altLang="en-US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的整数倍乘除法</a:t>
            </a: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2">
            <a:extLst>
              <a:ext uri="{FF2B5EF4-FFF2-40B4-BE49-F238E27FC236}">
                <a16:creationId xmlns:a16="http://schemas.microsoft.com/office/drawing/2014/main" id="{1DF11835-FDB7-45A6-9758-2C67B4365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628650"/>
            <a:ext cx="8372475" cy="586105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SAL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算术左移指令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(Shift Arithmetic Left)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SAL 	 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目的，计数值</a:t>
            </a:r>
          </a:p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SHL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逻辑左移指令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(Shift Logic Left)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SHL 	 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目的，计数值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指令功能：以上两条指令的功能完全相同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均将目的操作数的各位左移，每移一次，最低位</a:t>
            </a:r>
            <a:r>
              <a:rPr lang="en-US" altLang="x-none" sz="2800" noProof="1">
                <a:latin typeface="Times New Roman" panose="02020603050405020304" pitchFamily="2" charset="0"/>
              </a:rPr>
              <a:t>LSB</a:t>
            </a:r>
            <a:r>
              <a:rPr lang="zh-CN" altLang="en-US" sz="2800" noProof="1">
                <a:latin typeface="Times New Roman" panose="02020603050405020304" pitchFamily="2" charset="0"/>
              </a:rPr>
              <a:t>补</a:t>
            </a:r>
            <a:r>
              <a:rPr lang="en-US" altLang="x-none" sz="2800" noProof="1">
                <a:latin typeface="Times New Roman" panose="02020603050405020304" pitchFamily="2" charset="0"/>
              </a:rPr>
              <a:t>0</a:t>
            </a:r>
            <a:r>
              <a:rPr lang="zh-CN" altLang="en-US" sz="2800" noProof="1">
                <a:latin typeface="Times New Roman" panose="02020603050405020304" pitchFamily="2" charset="0"/>
              </a:rPr>
              <a:t>，最高位</a:t>
            </a:r>
            <a:r>
              <a:rPr lang="en-US" altLang="x-none" sz="2800" noProof="1">
                <a:latin typeface="Times New Roman" panose="02020603050405020304" pitchFamily="2" charset="0"/>
              </a:rPr>
              <a:t>MSB</a:t>
            </a:r>
            <a:r>
              <a:rPr lang="zh-CN" altLang="en-US" sz="2800" noProof="1">
                <a:latin typeface="Times New Roman" panose="02020603050405020304" pitchFamily="2" charset="0"/>
              </a:rPr>
              <a:t>进标志位</a:t>
            </a: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。移动一次，相当于将目的操作数乘以</a:t>
            </a:r>
            <a:r>
              <a:rPr lang="en-US" altLang="x-none" sz="2800" noProof="1">
                <a:latin typeface="Times New Roman" panose="02020603050405020304" pitchFamily="2" charset="0"/>
              </a:rPr>
              <a:t>2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计数值表示移位次数，可以是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1</a:t>
            </a:r>
            <a:r>
              <a:rPr lang="zh-CN" altLang="en-US" sz="2800" noProof="1">
                <a:latin typeface="Times New Roman" panose="02020603050405020304" pitchFamily="2" charset="0"/>
              </a:rPr>
              <a:t>。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若大于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，则用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CL</a:t>
            </a:r>
            <a:r>
              <a:rPr lang="zh-CN" altLang="en-US" sz="2800" noProof="1">
                <a:latin typeface="Times New Roman" panose="02020603050405020304" pitchFamily="2" charset="0"/>
              </a:rPr>
              <a:t>存放，并要事先将次数存入</a:t>
            </a:r>
            <a:r>
              <a:rPr lang="en-US" altLang="x-none" sz="2800" noProof="1">
                <a:latin typeface="Times New Roman" panose="02020603050405020304" pitchFamily="2" charset="0"/>
              </a:rPr>
              <a:t>CL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移位次数最多为</a:t>
            </a:r>
            <a:r>
              <a:rPr lang="en-US" altLang="x-none" sz="2800" noProof="1">
                <a:latin typeface="Times New Roman" panose="02020603050405020304" pitchFamily="2" charset="0"/>
              </a:rPr>
              <a:t>31(</a:t>
            </a:r>
            <a:r>
              <a:rPr lang="zh-CN" altLang="en-US" sz="2800" noProof="1">
                <a:latin typeface="Times New Roman" panose="02020603050405020304" pitchFamily="2" charset="0"/>
              </a:rPr>
              <a:t>即</a:t>
            </a:r>
            <a:r>
              <a:rPr lang="en-US" altLang="x-none" sz="2800" noProof="1">
                <a:latin typeface="Times New Roman" panose="02020603050405020304" pitchFamily="2" charset="0"/>
              </a:rPr>
              <a:t>00011111B)</a:t>
            </a:r>
            <a:endParaRPr lang="zh-CN" altLang="en-US" sz="3200" noProof="1"/>
          </a:p>
        </p:txBody>
      </p:sp>
      <p:sp>
        <p:nvSpPr>
          <p:cNvPr id="17410" name="日期占位符 1">
            <a:extLst>
              <a:ext uri="{FF2B5EF4-FFF2-40B4-BE49-F238E27FC236}">
                <a16:creationId xmlns:a16="http://schemas.microsoft.com/office/drawing/2014/main" id="{CE208B94-A3DE-4B0E-B442-170CF53440A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5F0F816-EB85-4F3B-AF10-E3676BA11C01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28637307-2A77-4866-A926-D5BA8772A9B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32775" cy="676275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2. </a:t>
            </a:r>
            <a:r>
              <a:rPr lang="zh-CN" altLang="en-US" sz="3600" b="1">
                <a:solidFill>
                  <a:schemeClr val="accent2"/>
                </a:solidFill>
              </a:rPr>
              <a:t>算术逻辑移位指令</a:t>
            </a:r>
            <a:r>
              <a:rPr lang="en-US" altLang="zh-CN" sz="3600" b="1">
                <a:solidFill>
                  <a:schemeClr val="accent2"/>
                </a:solidFill>
              </a:rPr>
              <a:t>（SAL SHL</a:t>
            </a:r>
            <a:r>
              <a:rPr lang="zh-CN" altLang="en-US" sz="3600" b="1">
                <a:solidFill>
                  <a:schemeClr val="accent2"/>
                </a:solidFill>
              </a:rPr>
              <a:t>举例）</a:t>
            </a:r>
            <a:endParaRPr lang="en-US" altLang="zh-CN" sz="3600" b="1">
              <a:solidFill>
                <a:schemeClr val="accent2"/>
              </a:solidFill>
            </a:endParaRP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59D3DA40-2624-4260-B53E-D26EBCB469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339850"/>
            <a:ext cx="8372475" cy="517525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3.70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MOV	   AH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00000110B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AH=06H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SAL	   AH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		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内容左移一位后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			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AH=0CH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MOV	   CL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03H		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CL←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移位次数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3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SHL	   DI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CL		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DI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内容左移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3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次</a:t>
            </a:r>
          </a:p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SAL	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BYTE  PTR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］，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	</a:t>
            </a:r>
            <a:endParaRPr lang="zh-CN" altLang="en-US" sz="2800" b="1" dirty="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			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；将内存单元字节左移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位</a:t>
            </a:r>
          </a:p>
          <a:p>
            <a:pPr algn="l"/>
            <a:endParaRPr lang="zh-CN" altLang="en-US" sz="3200" dirty="0"/>
          </a:p>
        </p:txBody>
      </p:sp>
      <p:sp>
        <p:nvSpPr>
          <p:cNvPr id="18435" name="日期占位符 1">
            <a:extLst>
              <a:ext uri="{FF2B5EF4-FFF2-40B4-BE49-F238E27FC236}">
                <a16:creationId xmlns:a16="http://schemas.microsoft.com/office/drawing/2014/main" id="{01DA4593-C283-4260-B5FC-0D76C8FDC85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EF75532-4516-47DD-9386-6A4E7EFD9BB3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8FAF528E-3EAA-496A-93E3-F87DC215EC7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4064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算术逻辑移位指令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F7B29CCA-3A5A-4720-B08C-26E61B300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497887" cy="537210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3) SHR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逻辑右移指令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(Shift Logic Right)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SHR   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目的，计数值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指令功能：使目的操作数各位右移，每移一次，最低位进入</a:t>
            </a: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，最高位补</a:t>
            </a:r>
            <a:r>
              <a:rPr lang="en-US" altLang="x-none" sz="2800" noProof="1">
                <a:latin typeface="Times New Roman" panose="02020603050405020304" pitchFamily="2" charset="0"/>
              </a:rPr>
              <a:t>0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右移次数由计数值决定，同</a:t>
            </a:r>
            <a:r>
              <a:rPr lang="en-US" altLang="x-none" sz="2800" noProof="1">
                <a:latin typeface="Times New Roman" panose="02020603050405020304" pitchFamily="2" charset="0"/>
              </a:rPr>
              <a:t>SAL/SHL</a:t>
            </a:r>
            <a:r>
              <a:rPr lang="zh-CN" altLang="en-US" sz="2800" noProof="1">
                <a:latin typeface="Times New Roman" panose="02020603050405020304" pitchFamily="2" charset="0"/>
              </a:rPr>
              <a:t>指令一样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若目的操作数为无符号数，每右移一次，使目的操作数除以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3.71 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用右移的方法做除法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133/8=16…5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，即：</a:t>
            </a: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MOV	AL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10000101B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AL=133</a:t>
            </a:r>
          </a:p>
          <a:p>
            <a:pPr marL="1905" indent="-1905" algn="l"/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MOV	CL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	03H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CL=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移位次数</a:t>
            </a:r>
          </a:p>
          <a:p>
            <a:pPr marL="1905" indent="-1905" algn="l"/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SHR	AL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	CL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；右移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3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次，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AL=10H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，余数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丢失</a:t>
            </a:r>
          </a:p>
        </p:txBody>
      </p:sp>
      <p:sp>
        <p:nvSpPr>
          <p:cNvPr id="19459" name="日期占位符 1">
            <a:extLst>
              <a:ext uri="{FF2B5EF4-FFF2-40B4-BE49-F238E27FC236}">
                <a16:creationId xmlns:a16="http://schemas.microsoft.com/office/drawing/2014/main" id="{0DC0AC87-7054-45A4-A5D1-009A4B1A0F8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45F4B927-A2DB-4DC8-91A8-78AD619E7BBF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2A735902-F80E-4112-AF05-25645D3133B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算术逻辑移位指令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0DB17DC9-F02A-4D28-904B-FDD222C827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028700"/>
            <a:ext cx="8186738" cy="54610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4) SAR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算术右移指令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(Shift Arithmetic Right)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SAR</a:t>
            </a:r>
            <a:r>
              <a:rPr lang="zh-CN" altLang="en-US" sz="2800">
                <a:latin typeface="Times New Roman" panose="02020603050405020304" pitchFamily="18" charset="0"/>
              </a:rPr>
              <a:t>目的，计数值</a:t>
            </a: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指令功能：每移位一次，最低位进入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，但最高位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即符号位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保持不变，而不是补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。相当于对带符号数进行除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操作</a:t>
            </a:r>
          </a:p>
          <a:p>
            <a:pPr algn="l">
              <a:spcBef>
                <a:spcPts val="24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3.72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SAR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指令计算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-128/8=-16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的程序段如下：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MOV	   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10000000B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AL= 128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MOV	   CL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03H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；右移次数为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3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SAR	 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CL			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；算术右移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3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次后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AL=0F0H=-16</a:t>
            </a:r>
            <a:endParaRPr lang="zh-CN" altLang="en-US" sz="3200"/>
          </a:p>
        </p:txBody>
      </p:sp>
      <p:sp>
        <p:nvSpPr>
          <p:cNvPr id="20483" name="日期占位符 1">
            <a:extLst>
              <a:ext uri="{FF2B5EF4-FFF2-40B4-BE49-F238E27FC236}">
                <a16:creationId xmlns:a16="http://schemas.microsoft.com/office/drawing/2014/main" id="{81B71A0E-A86D-4A56-B6E3-A46C171B21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F6B3EC4-C02D-495B-89AD-5D6C7ADE59F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A14E019C-438E-410C-BB1C-479C2B600C6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循环移位指令</a:t>
            </a:r>
            <a:r>
              <a:rPr lang="en-US" altLang="zh-CN" sz="4400" b="1">
                <a:solidFill>
                  <a:schemeClr val="accent2"/>
                </a:solidFill>
              </a:rPr>
              <a:t> (Rotate)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E91681B3-E0CD-4C71-BFB4-B93276BCC9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073150"/>
            <a:ext cx="8231188" cy="5422900"/>
          </a:xfrm>
        </p:spPr>
        <p:txBody>
          <a:bodyPr/>
          <a:lstStyle/>
          <a:p>
            <a:pPr algn="l"/>
            <a:r>
              <a:rPr lang="zh-CN" altLang="en-US" sz="2800"/>
              <a:t>算术逻辑移位指令，</a:t>
            </a:r>
            <a:r>
              <a:rPr lang="zh-CN" altLang="en-US" sz="2800" b="1">
                <a:solidFill>
                  <a:srgbClr val="0000FF"/>
                </a:solidFill>
              </a:rPr>
              <a:t>移出的操作数数位均丢失</a:t>
            </a:r>
            <a:r>
              <a:rPr lang="zh-CN" altLang="en-US" sz="2800"/>
              <a:t>。循环移位指令则把数位从操作数的一端移到其另一端，从操作数中</a:t>
            </a:r>
            <a:r>
              <a:rPr lang="zh-CN" altLang="en-US" sz="2800" b="1">
                <a:solidFill>
                  <a:srgbClr val="0000FF"/>
                </a:solidFill>
              </a:rPr>
              <a:t>移走的位不会丢失</a:t>
            </a:r>
          </a:p>
          <a:p>
            <a:pPr algn="l">
              <a:spcBef>
                <a:spcPts val="12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1) ROL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循环左移指令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(Rotate Left)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ROL  </a:t>
            </a:r>
            <a:r>
              <a:rPr lang="zh-CN" altLang="en-US" sz="2800">
                <a:latin typeface="Times New Roman" panose="02020603050405020304" pitchFamily="18" charset="0"/>
              </a:rPr>
              <a:t>目的，计数值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 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endParaRPr lang="zh-CN" altLang="en-US" sz="2800"/>
          </a:p>
          <a:p>
            <a:pPr algn="l">
              <a:spcBef>
                <a:spcPts val="12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2) ROR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循环右移指令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(Rotate Right)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ROR  </a:t>
            </a:r>
            <a:r>
              <a:rPr lang="zh-CN" altLang="en-US" sz="2800">
                <a:latin typeface="Times New Roman" panose="02020603050405020304" pitchFamily="18" charset="0"/>
              </a:rPr>
              <a:t>目的，计数值</a:t>
            </a:r>
          </a:p>
          <a:p>
            <a:pPr algn="l"/>
            <a:endParaRPr lang="zh-CN" altLang="en-US" sz="2800"/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1DAFCF89-6ED4-4BF8-8D2A-0BE234A10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3473450"/>
            <a:ext cx="5734050" cy="89535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7" name="Picture 4">
            <a:extLst>
              <a:ext uri="{FF2B5EF4-FFF2-40B4-BE49-F238E27FC236}">
                <a16:creationId xmlns:a16="http://schemas.microsoft.com/office/drawing/2014/main" id="{1C64A127-D9FC-4313-9120-47AB62467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5518150"/>
            <a:ext cx="5778500" cy="96361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9" name="日期占位符 1">
            <a:extLst>
              <a:ext uri="{FF2B5EF4-FFF2-40B4-BE49-F238E27FC236}">
                <a16:creationId xmlns:a16="http://schemas.microsoft.com/office/drawing/2014/main" id="{DE78A486-A950-4224-9C30-1AE5607220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22CE6DE-E4E4-49E9-B701-61F01C4268FE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FACB0C92-D859-4CEB-9B76-646BA1DCB43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55638" y="1358900"/>
            <a:ext cx="7467600" cy="5016500"/>
          </a:xfrm>
        </p:spPr>
        <p:txBody>
          <a:bodyPr/>
          <a:lstStyle/>
          <a:p>
            <a:pPr algn="l">
              <a:spcBef>
                <a:spcPts val="6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3) RCL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通过进位位循环左移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    (Rotate through Carry Left)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RCL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目的，计数值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 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endParaRPr lang="zh-CN" altLang="en-US" sz="280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4) RCR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通过进位位循环右移</a:t>
            </a:r>
          </a:p>
          <a:p>
            <a:pPr algn="l">
              <a:spcBef>
                <a:spcPts val="6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    (Rotate through Carry Right)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RCR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目的，计数值</a:t>
            </a:r>
          </a:p>
          <a:p>
            <a:pPr algn="l"/>
            <a:endParaRPr lang="zh-CN" altLang="en-US" sz="2800"/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74DB4C90-49A3-4481-A730-42F28B54C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2940050"/>
            <a:ext cx="5911850" cy="84613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5">
            <a:extLst>
              <a:ext uri="{FF2B5EF4-FFF2-40B4-BE49-F238E27FC236}">
                <a16:creationId xmlns:a16="http://schemas.microsoft.com/office/drawing/2014/main" id="{E85C7F41-BA89-4337-BEE4-17899DF1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5518150"/>
            <a:ext cx="5967413" cy="9048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标题 1">
            <a:extLst>
              <a:ext uri="{FF2B5EF4-FFF2-40B4-BE49-F238E27FC236}">
                <a16:creationId xmlns:a16="http://schemas.microsoft.com/office/drawing/2014/main" id="{75FFE4B6-D58E-4DBC-A465-7ED15C48DA1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495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循环移位指令</a:t>
            </a:r>
            <a:r>
              <a:rPr lang="en-US" altLang="zh-CN" sz="4400" b="1">
                <a:solidFill>
                  <a:schemeClr val="accent2"/>
                </a:solidFill>
              </a:rPr>
              <a:t> (Rotate)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22533" name="日期占位符 1">
            <a:extLst>
              <a:ext uri="{FF2B5EF4-FFF2-40B4-BE49-F238E27FC236}">
                <a16:creationId xmlns:a16="http://schemas.microsoft.com/office/drawing/2014/main" id="{85D23849-8C07-4360-A029-FD8674B28D7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B8BDB46-FEED-4342-9DAB-AC6BBDEB1959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F1278992-3214-4729-81B0-802EF4DF0C1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循环移位指令</a:t>
            </a:r>
            <a:r>
              <a:rPr lang="en-US" altLang="zh-CN" sz="4400" b="1">
                <a:solidFill>
                  <a:schemeClr val="accent2"/>
                </a:solidFill>
              </a:rPr>
              <a:t> </a:t>
            </a:r>
            <a:r>
              <a:rPr lang="zh-CN" altLang="en-US" sz="4400" b="1">
                <a:solidFill>
                  <a:schemeClr val="accent2"/>
                </a:solidFill>
              </a:rPr>
              <a:t>特点</a:t>
            </a:r>
            <a:endParaRPr lang="en-US" altLang="zh-CN" sz="4400" b="1">
              <a:solidFill>
                <a:schemeClr val="accent2"/>
              </a:solidFill>
            </a:endParaRP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B4731185-9E29-4134-BFFE-55E12233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050" y="1162050"/>
            <a:ext cx="8231188" cy="5327650"/>
          </a:xfrm>
        </p:spPr>
        <p:txBody>
          <a:bodyPr/>
          <a:lstStyle/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目的操作数可以是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8/16</a:t>
            </a:r>
            <a:r>
              <a:rPr lang="zh-CN" altLang="en-US" sz="2800" noProof="1">
                <a:latin typeface="Times New Roman" panose="02020603050405020304" pitchFamily="2" charset="0"/>
              </a:rPr>
              <a:t>位的寄存器操作数或内存操作数，计数值含义同上，即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或由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CL</a:t>
            </a:r>
            <a:r>
              <a:rPr lang="zh-CN" altLang="en-US" sz="2800" noProof="1">
                <a:latin typeface="Times New Roman" panose="02020603050405020304" pitchFamily="2" charset="0"/>
              </a:rPr>
              <a:t>指定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en-US" altLang="x-none" sz="2800" noProof="1">
                <a:latin typeface="Times New Roman" panose="02020603050405020304" pitchFamily="2" charset="0"/>
              </a:rPr>
              <a:t>ROL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ROR</a:t>
            </a:r>
            <a:r>
              <a:rPr lang="zh-CN" altLang="en-US" sz="2800" noProof="1">
                <a:latin typeface="Times New Roman" panose="02020603050405020304" pitchFamily="2" charset="0"/>
              </a:rPr>
              <a:t>为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小循环移位</a:t>
            </a:r>
            <a:r>
              <a:rPr lang="zh-CN" altLang="en-US" sz="2800" noProof="1">
                <a:latin typeface="Times New Roman" panose="02020603050405020304" pitchFamily="2" charset="0"/>
              </a:rPr>
              <a:t>指令，没有把</a:t>
            </a: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包含在循环中；</a:t>
            </a:r>
            <a:r>
              <a:rPr lang="en-US" altLang="x-none" sz="2800" noProof="1">
                <a:latin typeface="Times New Roman" panose="02020603050405020304" pitchFamily="2" charset="0"/>
              </a:rPr>
              <a:t>RCL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RCR</a:t>
            </a:r>
            <a:r>
              <a:rPr lang="zh-CN" altLang="en-US" sz="2800" noProof="1">
                <a:latin typeface="Times New Roman" panose="02020603050405020304" pitchFamily="2" charset="0"/>
              </a:rPr>
              <a:t>为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大循环指令</a:t>
            </a:r>
            <a:r>
              <a:rPr lang="zh-CN" altLang="en-US" sz="2800" noProof="1">
                <a:latin typeface="Times New Roman" panose="02020603050405020304" pitchFamily="2" charset="0"/>
              </a:rPr>
              <a:t>，把</a:t>
            </a:r>
            <a:r>
              <a:rPr lang="en-US" altLang="x-none" sz="2800" noProof="1">
                <a:latin typeface="Times New Roman" panose="02020603050405020304" pitchFamily="2" charset="0"/>
              </a:rPr>
              <a:t> CF</a:t>
            </a:r>
            <a:r>
              <a:rPr lang="zh-CN" altLang="en-US" sz="2800" noProof="1">
                <a:latin typeface="Times New Roman" panose="02020603050405020304" pitchFamily="2" charset="0"/>
              </a:rPr>
              <a:t>作为整个循环的一部分参加循环移位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的值由最后一次被移出的值决定</a:t>
            </a:r>
          </a:p>
          <a:p>
            <a:pPr marL="1905" indent="-1905" algn="l">
              <a:spcBef>
                <a:spcPts val="18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3.73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ROL	 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CL			    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	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；将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中的数，不带进位位左移规定次数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ROR   WORD  PTR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SI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1     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；将内存单元的字，不带进位右移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1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次</a:t>
            </a:r>
            <a:endParaRPr lang="zh-CN" altLang="en-US" sz="3200" noProof="1">
              <a:solidFill>
                <a:srgbClr val="CC3300"/>
              </a:solidFill>
            </a:endParaRPr>
          </a:p>
        </p:txBody>
      </p:sp>
      <p:sp>
        <p:nvSpPr>
          <p:cNvPr id="23555" name="日期占位符 1">
            <a:extLst>
              <a:ext uri="{FF2B5EF4-FFF2-40B4-BE49-F238E27FC236}">
                <a16:creationId xmlns:a16="http://schemas.microsoft.com/office/drawing/2014/main" id="{49547A63-02B2-4831-BC14-DD8E7121C6F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386F93E-71CC-4AC4-8C01-43350F2EAD7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97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483">
                                            <p:txEl>
                                              <p:charRg st="197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800DB185-DE09-4DBD-8257-83B9B9DA198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07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</a:rPr>
              <a:t>循环移位指令</a:t>
            </a:r>
            <a:r>
              <a:rPr lang="en-US" altLang="zh-CN" sz="4000" b="1">
                <a:solidFill>
                  <a:schemeClr val="accent2"/>
                </a:solidFill>
              </a:rPr>
              <a:t>举例 </a:t>
            </a:r>
            <a:endParaRPr lang="zh-CN" altLang="en-US" sz="4000" b="1">
              <a:solidFill>
                <a:schemeClr val="accent2"/>
              </a:solidFill>
            </a:endParaRP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8605172A-D601-42F6-AF95-0AFF8BCD3F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60400" y="1384300"/>
            <a:ext cx="8099425" cy="5240338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3.74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CF=1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011 0100B</a:t>
            </a:r>
            <a:endParaRPr lang="zh-CN" altLang="en-US" sz="2800" b="1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ROL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AL=0110 100</a:t>
            </a:r>
            <a:r>
              <a:rPr lang="en-US" altLang="zh-CN" sz="2800" b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ROR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</a:t>
            </a:r>
            <a:r>
              <a:rPr lang="en-US" altLang="zh-CN" sz="2800" b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101 1010B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RCR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</a:t>
            </a:r>
            <a:r>
              <a:rPr lang="en-US" altLang="zh-CN" sz="2800" b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101 1010B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MOV  CL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3 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和 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RCL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CL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AL=1010 0110B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不确定</a:t>
            </a:r>
            <a:endParaRPr lang="zh-CN" altLang="en-US" sz="3200"/>
          </a:p>
        </p:txBody>
      </p:sp>
      <p:sp>
        <p:nvSpPr>
          <p:cNvPr id="24579" name="日期占位符 1">
            <a:extLst>
              <a:ext uri="{FF2B5EF4-FFF2-40B4-BE49-F238E27FC236}">
                <a16:creationId xmlns:a16="http://schemas.microsoft.com/office/drawing/2014/main" id="{E0F8377D-2377-46F6-933B-5628F7FC58B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7F1ACFF-3AAE-4729-A5C1-9EF4B6874A00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C3E2D4EC-0DBB-4176-A020-F298EB5B851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25602" name="矩形 4">
            <a:extLst>
              <a:ext uri="{FF2B5EF4-FFF2-40B4-BE49-F238E27FC236}">
                <a16:creationId xmlns:a16="http://schemas.microsoft.com/office/drawing/2014/main" id="{795F8DBD-D9A9-4B10-A610-93FC5C5E1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2168525"/>
            <a:ext cx="755015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 不需掌握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008000"/>
              </a:solidFill>
            </a:endParaRPr>
          </a:p>
        </p:txBody>
      </p:sp>
      <p:sp>
        <p:nvSpPr>
          <p:cNvPr id="25603" name="日期占位符 1">
            <a:extLst>
              <a:ext uri="{FF2B5EF4-FFF2-40B4-BE49-F238E27FC236}">
                <a16:creationId xmlns:a16="http://schemas.microsoft.com/office/drawing/2014/main" id="{52BEC0F0-73DE-4A34-ACBA-49D38F0814A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2D9D55D-BB07-43DE-9514-A4BBB0E33ED9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DCE9C3BB-75C8-4B74-8CAB-56BB07DA925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26626" name="矩形 4">
            <a:extLst>
              <a:ext uri="{FF2B5EF4-FFF2-40B4-BE49-F238E27FC236}">
                <a16:creationId xmlns:a16="http://schemas.microsoft.com/office/drawing/2014/main" id="{DA649BE7-EB5C-4A8D-99AD-345AD98C6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 dirty="0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 dirty="0">
              <a:solidFill>
                <a:srgbClr val="008000"/>
              </a:solidFill>
            </a:endParaRPr>
          </a:p>
        </p:txBody>
      </p:sp>
      <p:sp>
        <p:nvSpPr>
          <p:cNvPr id="26627" name="日期占位符 1">
            <a:extLst>
              <a:ext uri="{FF2B5EF4-FFF2-40B4-BE49-F238E27FC236}">
                <a16:creationId xmlns:a16="http://schemas.microsoft.com/office/drawing/2014/main" id="{EB553F8C-3A95-4ABB-A897-6B3EBF142EA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50766DD-657E-4A43-8560-F1081AB01612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D1C9E4E6-96B4-4913-AB79-F092BB9AE52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 dirty="0">
                <a:solidFill>
                  <a:srgbClr val="FF0066"/>
                </a:solidFill>
                <a:ea typeface="楷体_GB2312" pitchFamily="1" charset="-122"/>
              </a:rPr>
              <a:t>3.3.5  </a:t>
            </a:r>
            <a:r>
              <a:rPr lang="zh-CN" altLang="en-US" sz="3600" b="1" dirty="0">
                <a:solidFill>
                  <a:srgbClr val="FF0066"/>
                </a:solidFill>
                <a:ea typeface="楷体_GB2312" pitchFamily="1" charset="-122"/>
              </a:rPr>
              <a:t>控制转移指令</a:t>
            </a:r>
            <a:endParaRPr lang="zh-CN" altLang="en-US" sz="4400" b="1" dirty="0">
              <a:solidFill>
                <a:srgbClr val="FF0066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F45F22DA-867B-4DA5-A056-9C54F52947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5372100"/>
          </a:xfrm>
        </p:spPr>
        <p:txBody>
          <a:bodyPr/>
          <a:lstStyle/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学习前先提几个问题，学完要能回答：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1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）程序实现跳转的本质是什么？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2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JMP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CALL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RET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之间有什么共通之处？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</a:t>
            </a: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3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）条件转移指令转移的依据是什么？为何要分有符号数和无符号数的转移指令？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4)	CMP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指令和条件跳转指令有何关系？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5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）段内跳转和段间跳转有何区别？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6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）跳转有直接跳转和间接跳转，寻址方式有直接寻址和间接寻址，它们有相通之处吗？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7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）子程序调用和返回（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CALL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RET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）与中断响应和中断返回（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INT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IRET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）的异同之处在哪里？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66159"/>
      </p:ext>
    </p:extLst>
  </p:cSld>
  <p:clrMapOvr>
    <a:masterClrMapping/>
  </p:clrMapOvr>
  <p:transition spd="slow"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881199B7-2738-4757-8E4F-AD5FC3187DB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495300"/>
            <a:ext cx="8229600" cy="674688"/>
          </a:xfrm>
        </p:spPr>
        <p:txBody>
          <a:bodyPr anchor="ctr"/>
          <a:lstStyle/>
          <a:p>
            <a:pPr algn="l">
              <a:spcBef>
                <a:spcPts val="600"/>
              </a:spcBef>
            </a:pPr>
            <a:r>
              <a:rPr lang="en-US" altLang="zh-CN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3.3.5  </a:t>
            </a:r>
            <a:r>
              <a:rPr lang="zh-CN" altLang="en-US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控制转移指令</a:t>
            </a:r>
            <a:endParaRPr lang="en-US" altLang="zh-CN" sz="4400" b="1" dirty="0">
              <a:solidFill>
                <a:schemeClr val="accent2"/>
              </a:solidFill>
            </a:endParaRP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8D61A83C-2D05-40EB-9F1A-8856C19233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1588" indent="112713"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</a:rPr>
              <a:t>通常，冯诺依曼结构计算机程序的指令都是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顺序地逐条执行</a:t>
            </a:r>
            <a:r>
              <a:rPr lang="zh-CN" altLang="en-US" sz="2800" dirty="0">
                <a:latin typeface="Times New Roman" panose="02020603050405020304" pitchFamily="18" charset="0"/>
              </a:rPr>
              <a:t>的，执行顺序由</a:t>
            </a:r>
            <a:r>
              <a:rPr lang="en-US" altLang="zh-CN" sz="2800" dirty="0">
                <a:latin typeface="Times New Roman" panose="02020603050405020304" pitchFamily="18" charset="0"/>
              </a:rPr>
              <a:t>CS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IP</a:t>
            </a:r>
            <a:r>
              <a:rPr lang="zh-CN" altLang="en-US" sz="2800" dirty="0">
                <a:latin typeface="Times New Roman" panose="02020603050405020304" pitchFamily="18" charset="0"/>
              </a:rPr>
              <a:t>决定，每取出一条指令，指令指针</a:t>
            </a:r>
            <a:r>
              <a:rPr lang="en-US" altLang="zh-CN" sz="2800" dirty="0">
                <a:latin typeface="Times New Roman" panose="02020603050405020304" pitchFamily="18" charset="0"/>
              </a:rPr>
              <a:t>IP</a:t>
            </a:r>
            <a:r>
              <a:rPr lang="zh-CN" altLang="en-US" sz="2800" dirty="0">
                <a:latin typeface="Times New Roman" panose="02020603050405020304" pitchFamily="18" charset="0"/>
              </a:rPr>
              <a:t>自动进行调整，指向下一个存储单元</a:t>
            </a:r>
          </a:p>
          <a:p>
            <a:pPr marL="1588" indent="112713" algn="l">
              <a:buFont typeface="Wingdings" panose="05000000000000000000" pitchFamily="2" charset="2"/>
              <a:buChar char="l"/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 marL="1588" indent="112713"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</a:rPr>
              <a:t>利用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控制转移指令可以改变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CS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IP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的值</a:t>
            </a:r>
            <a:r>
              <a:rPr lang="zh-CN" altLang="en-US" sz="2800" dirty="0">
                <a:latin typeface="Times New Roman" panose="02020603050405020304" pitchFamily="18" charset="0"/>
              </a:rPr>
              <a:t>，从而改变指令的执行顺序。</a:t>
            </a:r>
            <a:r>
              <a:rPr lang="en-US" altLang="zh-CN" sz="2800" dirty="0">
                <a:latin typeface="Times New Roman" panose="02020603050405020304" pitchFamily="18" charset="0"/>
              </a:rPr>
              <a:t>8086</a:t>
            </a:r>
            <a:r>
              <a:rPr lang="zh-CN" altLang="en-US" sz="2800" dirty="0">
                <a:latin typeface="Times New Roman" panose="02020603050405020304" pitchFamily="18" charset="0"/>
              </a:rPr>
              <a:t>提供了</a:t>
            </a:r>
            <a:r>
              <a:rPr lang="en-US" altLang="zh-CN" sz="2800" dirty="0">
                <a:latin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</a:rPr>
              <a:t>类转移指令，如下表</a:t>
            </a:r>
            <a:r>
              <a:rPr lang="en-US" altLang="zh-CN" sz="2800" dirty="0">
                <a:latin typeface="Times New Roman" panose="02020603050405020304" pitchFamily="18" charset="0"/>
              </a:rPr>
              <a:t>3.9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588" indent="112713" algn="l">
              <a:buFont typeface="Wingdings" panose="05000000000000000000" pitchFamily="2" charset="2"/>
              <a:buChar char="l"/>
            </a:pPr>
            <a:endParaRPr lang="zh-CN" altLang="en-US" sz="3200" dirty="0"/>
          </a:p>
        </p:txBody>
      </p:sp>
      <p:sp>
        <p:nvSpPr>
          <p:cNvPr id="27651" name="日期占位符 1">
            <a:extLst>
              <a:ext uri="{FF2B5EF4-FFF2-40B4-BE49-F238E27FC236}">
                <a16:creationId xmlns:a16="http://schemas.microsoft.com/office/drawing/2014/main" id="{D9715B41-ED71-4CB2-8856-D27E2FD4914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4D71914-E278-4B9D-A51E-56AB0312C53A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6713A682-FC38-48B8-8EB5-022E7282DCA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控制转移指令</a:t>
            </a:r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4F35BF9F-96A5-4AEE-9CC3-6CA3B5FBAD7F}"/>
              </a:ext>
            </a:extLst>
          </p:cNvPr>
          <p:cNvPicPr>
            <a:picLocks noGrp="1" noChangeAspect="1" noChangeArrowheads="1"/>
          </p:cNvPicPr>
          <p:nvPr>
            <p:ph type="subTitle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0175" y="1117600"/>
            <a:ext cx="6569075" cy="5556250"/>
          </a:xfrm>
          <a:ln w="38100" cap="sq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8675" name="日期占位符 1">
            <a:extLst>
              <a:ext uri="{FF2B5EF4-FFF2-40B4-BE49-F238E27FC236}">
                <a16:creationId xmlns:a16="http://schemas.microsoft.com/office/drawing/2014/main" id="{7B8537A1-B2D5-4091-A995-F42943674AD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A6F60AE-30A1-4C26-AA5B-E483C5E3BD5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527B10B1-C7B4-4E28-A334-BD2A6EA6411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104900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1. </a:t>
            </a:r>
            <a:r>
              <a:rPr lang="zh-CN" altLang="en-US" sz="4000" b="1">
                <a:solidFill>
                  <a:schemeClr val="accent2"/>
                </a:solidFill>
              </a:rPr>
              <a:t>无条件转移和过程调用指令</a:t>
            </a:r>
            <a:br>
              <a:rPr lang="zh-CN" altLang="en-US" sz="4000" b="1">
                <a:solidFill>
                  <a:schemeClr val="accent2"/>
                </a:solidFill>
              </a:rPr>
            </a:br>
            <a:r>
              <a:rPr lang="en-US" altLang="zh-CN" sz="2400" b="1">
                <a:solidFill>
                  <a:schemeClr val="accent2"/>
                </a:solidFill>
              </a:rPr>
              <a:t>     (Unconditional Transfer and Call)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A2A67D8B-FEA7-4AB1-8483-15F8977F7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473200"/>
            <a:ext cx="8372475" cy="501650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JMP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无条件转移指令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(Jump)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JMP	   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指令功能： 无条件地转移到目的地址去执行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这类指令又分成两种类型：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段内转移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近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(NEAR)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转移</a:t>
            </a:r>
            <a:r>
              <a:rPr lang="zh-CN" altLang="en-US" sz="2800" noProof="1">
                <a:latin typeface="Times New Roman" panose="02020603050405020304" pitchFamily="2" charset="0"/>
              </a:rPr>
              <a:t>。转移指令的目的地址和</a:t>
            </a:r>
            <a:r>
              <a:rPr lang="en-US" altLang="x-none" sz="2800" noProof="1">
                <a:latin typeface="Times New Roman" panose="02020603050405020304" pitchFamily="2" charset="0"/>
              </a:rPr>
              <a:t>JMP</a:t>
            </a:r>
            <a:r>
              <a:rPr lang="zh-CN" altLang="en-US" sz="2800" noProof="1">
                <a:latin typeface="Times New Roman" panose="02020603050405020304" pitchFamily="2" charset="0"/>
              </a:rPr>
              <a:t>指令在同一代码段中，转移时仅改变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的内容，段地址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CS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的值不变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段间转移</a:t>
            </a:r>
            <a:r>
              <a:rPr lang="zh-CN" altLang="en-US" sz="2800" noProof="1">
                <a:latin typeface="Times New Roman" panose="02020603050405020304" pitchFamily="2" charset="0"/>
              </a:rPr>
              <a:t>，又称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远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(FAR)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转移</a:t>
            </a:r>
            <a:r>
              <a:rPr lang="zh-CN" altLang="en-US" sz="2800" noProof="1">
                <a:latin typeface="Times New Roman" panose="02020603050405020304" pitchFamily="2" charset="0"/>
              </a:rPr>
              <a:t>。转移指令的目的地址和</a:t>
            </a:r>
            <a:r>
              <a:rPr lang="en-US" altLang="x-none" sz="2800" noProof="1">
                <a:latin typeface="Times New Roman" panose="02020603050405020304" pitchFamily="2" charset="0"/>
              </a:rPr>
              <a:t>JMP</a:t>
            </a:r>
            <a:r>
              <a:rPr lang="zh-CN" altLang="en-US" sz="2800" noProof="1">
                <a:latin typeface="Times New Roman" panose="02020603050405020304" pitchFamily="2" charset="0"/>
              </a:rPr>
              <a:t>指令不在同一段中，转移时，</a:t>
            </a:r>
            <a:r>
              <a:rPr lang="en-US" altLang="x-none" sz="2800" noProof="1">
                <a:latin typeface="Times New Roman" panose="02020603050405020304" pitchFamily="2" charset="0"/>
              </a:rPr>
              <a:t>CS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的值都要改变，程序要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转移到另一个代码段</a:t>
            </a:r>
            <a:r>
              <a:rPr lang="zh-CN" altLang="en-US" sz="2800" noProof="1">
                <a:latin typeface="Times New Roman" panose="02020603050405020304" pitchFamily="2" charset="0"/>
              </a:rPr>
              <a:t>去执行</a:t>
            </a:r>
          </a:p>
        </p:txBody>
      </p:sp>
      <p:sp>
        <p:nvSpPr>
          <p:cNvPr id="29699" name="日期占位符 1">
            <a:extLst>
              <a:ext uri="{FF2B5EF4-FFF2-40B4-BE49-F238E27FC236}">
                <a16:creationId xmlns:a16="http://schemas.microsoft.com/office/drawing/2014/main" id="{8A3FCB70-5619-459B-B718-1E5FE1AC16B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B2F88F3-ADA4-4CA6-9FA3-C27FEBDE817E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21C0755A-5C3C-4C09-AA19-E6BD0CF271A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C353D728-5786-4024-89C2-F672DE8829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162050"/>
            <a:ext cx="8142288" cy="517525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就转移地址提供的方式而言，又可分为两种方式：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直接转移</a:t>
            </a:r>
            <a:r>
              <a:rPr lang="zh-CN" altLang="en-US" sz="2800">
                <a:latin typeface="Times New Roman" panose="02020603050405020304" pitchFamily="18" charset="0"/>
              </a:rPr>
              <a:t>。在指令码中直接给出转移的目的地址，目的操作数用一个标号来表示。它又可分为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段内直接转移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段间直接转移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间接转移</a:t>
            </a:r>
            <a:r>
              <a:rPr lang="zh-CN" altLang="en-US" sz="2800">
                <a:latin typeface="Times New Roman" panose="02020603050405020304" pitchFamily="18" charset="0"/>
              </a:rPr>
              <a:t>。目的地址包含在某个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位寄存器或存储单元中，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必须根据寄存器或存储器寻址方式，间接地求出转移地址。同样，这种转移类型又可分为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段内间接转移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段间间接转移</a:t>
            </a: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所以无条件转移指令可分成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段内直接转移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段内间接转移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段间直接转移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段间间接转移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四种不同类型和方式，如下表</a:t>
            </a:r>
            <a:r>
              <a:rPr lang="en-US" altLang="zh-CN" sz="2800">
                <a:latin typeface="Times New Roman" panose="02020603050405020304" pitchFamily="18" charset="0"/>
                <a:sym typeface="Arial" panose="020B0604020202020204" pitchFamily="34" charset="0"/>
              </a:rPr>
              <a:t>3.10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所示</a:t>
            </a:r>
          </a:p>
        </p:txBody>
      </p:sp>
      <p:sp>
        <p:nvSpPr>
          <p:cNvPr id="30723" name="日期占位符 1">
            <a:extLst>
              <a:ext uri="{FF2B5EF4-FFF2-40B4-BE49-F238E27FC236}">
                <a16:creationId xmlns:a16="http://schemas.microsoft.com/office/drawing/2014/main" id="{46BCCD37-758C-4867-A86D-ECA8993D2DB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4ABC2B3D-450D-4C1F-BA67-7786712C9256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E09A2B93-DCE9-41A0-9035-C7BB48056B8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53975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</a:t>
            </a:r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9933912F-A7DA-4756-990A-0CD3E3539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606550"/>
            <a:ext cx="8618538" cy="36544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47" name="日期占位符 1">
            <a:extLst>
              <a:ext uri="{FF2B5EF4-FFF2-40B4-BE49-F238E27FC236}">
                <a16:creationId xmlns:a16="http://schemas.microsoft.com/office/drawing/2014/main" id="{C2D2A700-E776-4D15-9045-4D8115AB0A9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FB8D711F-CE14-4666-B2ED-B68B37F8A8BA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B0D0C75B-8F6B-4003-B126-5BA07036056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BF4E7043-23A9-4D58-AE95-A343AC22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1250950"/>
            <a:ext cx="8372475" cy="5149850"/>
          </a:xfrm>
        </p:spPr>
        <p:txBody>
          <a:bodyPr/>
          <a:lstStyle/>
          <a:p>
            <a:pPr marL="1905" indent="-1905" algn="l"/>
            <a:r>
              <a:rPr lang="zh-CN" altLang="en-US" sz="2600" b="1" noProof="1">
                <a:solidFill>
                  <a:srgbClr val="CC3300"/>
                </a:solidFill>
              </a:rPr>
              <a:t> </a:t>
            </a:r>
            <a:r>
              <a:rPr lang="en-US" altLang="x-none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(1) 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段内直接转移指令</a:t>
            </a:r>
          </a:p>
          <a:p>
            <a:pPr marL="1905" indent="-1905" algn="l">
              <a:spcBef>
                <a:spcPts val="1200"/>
              </a:spcBef>
            </a:pPr>
            <a:r>
              <a:rPr lang="zh-CN" altLang="en-US" sz="2600" noProof="1">
                <a:latin typeface="Times New Roman" panose="02020603050405020304" pitchFamily="2" charset="0"/>
              </a:rPr>
              <a:t>指令格式：</a:t>
            </a: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latin typeface="Times New Roman" panose="02020603050405020304" pitchFamily="2" charset="0"/>
              </a:rPr>
              <a:t>    JMP   SHORT   </a:t>
            </a:r>
            <a:r>
              <a:rPr lang="zh-CN" altLang="en-US" sz="2600" noProof="1">
                <a:latin typeface="Times New Roman" panose="02020603050405020304" pitchFamily="2" charset="0"/>
              </a:rPr>
              <a:t>标号</a:t>
            </a: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latin typeface="Times New Roman" panose="02020603050405020304" pitchFamily="2" charset="0"/>
              </a:rPr>
              <a:t>    JMP   NEAR  PTR  </a:t>
            </a:r>
            <a:r>
              <a:rPr lang="zh-CN" altLang="en-US" sz="2600" noProof="1">
                <a:latin typeface="Times New Roman" panose="02020603050405020304" pitchFamily="2" charset="0"/>
              </a:rPr>
              <a:t>标号</a:t>
            </a:r>
            <a:r>
              <a:rPr lang="en-US" altLang="x-none" sz="2600" noProof="1">
                <a:latin typeface="Times New Roman" panose="02020603050405020304" pitchFamily="2" charset="0"/>
              </a:rPr>
              <a:t>  (</a:t>
            </a:r>
            <a:r>
              <a:rPr lang="zh-CN" altLang="en-US" sz="2600" noProof="1">
                <a:latin typeface="Times New Roman" panose="02020603050405020304" pitchFamily="2" charset="0"/>
              </a:rPr>
              <a:t>或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JMP   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标号</a:t>
            </a:r>
            <a:r>
              <a:rPr lang="en-US" altLang="x-none" sz="2600" noProof="1">
                <a:latin typeface="Times New Roman" panose="02020603050405020304" pitchFamily="2" charset="0"/>
              </a:rPr>
              <a:t>)</a:t>
            </a:r>
            <a:endParaRPr lang="zh-CN" altLang="en-US" sz="26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段内相对转移指令，目的操作数均用标号表示</a:t>
            </a: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转向的有效地址</a:t>
            </a:r>
            <a:r>
              <a:rPr lang="en-US" altLang="x-none" sz="2600" noProof="1">
                <a:latin typeface="Times New Roman" panose="02020603050405020304" pitchFamily="2" charset="0"/>
              </a:rPr>
              <a:t>=IP+8</a:t>
            </a:r>
            <a:r>
              <a:rPr lang="zh-CN" altLang="en-US" sz="2600" noProof="1">
                <a:latin typeface="Times New Roman" panose="02020603050405020304" pitchFamily="2" charset="0"/>
              </a:rPr>
              <a:t>位</a:t>
            </a:r>
            <a:r>
              <a:rPr lang="en-US" altLang="x-none" sz="2600" noProof="1">
                <a:latin typeface="Times New Roman" panose="02020603050405020304" pitchFamily="2" charset="0"/>
              </a:rPr>
              <a:t>/16</a:t>
            </a:r>
            <a:r>
              <a:rPr lang="zh-CN" altLang="en-US" sz="2600" noProof="1">
                <a:latin typeface="Times New Roman" panose="02020603050405020304" pitchFamily="2" charset="0"/>
              </a:rPr>
              <a:t>位位移量</a:t>
            </a:r>
            <a:r>
              <a:rPr lang="en-US" altLang="x-none" sz="2600" noProof="1">
                <a:latin typeface="Times New Roman" panose="02020603050405020304" pitchFamily="2" charset="0"/>
              </a:rPr>
              <a:t>(DISP)</a:t>
            </a:r>
            <a:endParaRPr lang="zh-CN" altLang="en-US" sz="26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noProof="1">
                <a:latin typeface="Times New Roman" panose="02020603050405020304" pitchFamily="2" charset="0"/>
              </a:rPr>
              <a:t>若转移范围在</a:t>
            </a:r>
            <a:r>
              <a:rPr lang="en-US" altLang="x-none" sz="2600" noProof="1">
                <a:latin typeface="Times New Roman" panose="02020603050405020304" pitchFamily="2" charset="0"/>
              </a:rPr>
              <a:t>-128~+127</a:t>
            </a:r>
            <a:r>
              <a:rPr lang="zh-CN" altLang="en-US" sz="2600" noProof="1">
                <a:latin typeface="Times New Roman" panose="02020603050405020304" pitchFamily="2" charset="0"/>
              </a:rPr>
              <a:t>字节内，称为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短转移</a:t>
            </a:r>
            <a:r>
              <a:rPr lang="zh-CN" altLang="en-US" sz="2600" noProof="1">
                <a:latin typeface="Times New Roman" panose="02020603050405020304" pitchFamily="2" charset="0"/>
              </a:rPr>
              <a:t>，指令中只需要用</a:t>
            </a:r>
            <a:r>
              <a:rPr lang="en-US" altLang="x-none" sz="2600" noProof="1">
                <a:latin typeface="Times New Roman" panose="02020603050405020304" pitchFamily="2" charset="0"/>
              </a:rPr>
              <a:t>8</a:t>
            </a:r>
            <a:r>
              <a:rPr lang="zh-CN" altLang="en-US" sz="2600" noProof="1">
                <a:latin typeface="Times New Roman" panose="02020603050405020304" pitchFamily="2" charset="0"/>
              </a:rPr>
              <a:t>位位移量，在标号前加说明符</a:t>
            </a:r>
            <a:r>
              <a:rPr lang="en-US" altLang="x-none" sz="2600" noProof="1">
                <a:latin typeface="Times New Roman" panose="02020603050405020304" pitchFamily="2" charset="0"/>
              </a:rPr>
              <a:t>SHORT</a:t>
            </a:r>
            <a:endParaRPr lang="zh-CN" altLang="en-US" sz="26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noProof="1">
                <a:latin typeface="Times New Roman" panose="02020603050405020304" pitchFamily="2" charset="0"/>
              </a:rPr>
              <a:t>若位移量是</a:t>
            </a:r>
            <a:r>
              <a:rPr lang="en-US" altLang="x-none" sz="2600" noProof="1">
                <a:latin typeface="Times New Roman" panose="02020603050405020304" pitchFamily="2" charset="0"/>
              </a:rPr>
              <a:t>16</a:t>
            </a:r>
            <a:r>
              <a:rPr lang="zh-CN" altLang="en-US" sz="2600" noProof="1">
                <a:latin typeface="Times New Roman" panose="02020603050405020304" pitchFamily="2" charset="0"/>
              </a:rPr>
              <a:t>位，称为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近转移</a:t>
            </a:r>
            <a:r>
              <a:rPr lang="zh-CN" altLang="en-US" sz="2600" noProof="1">
                <a:latin typeface="Times New Roman" panose="02020603050405020304" pitchFamily="2" charset="0"/>
              </a:rPr>
              <a:t>，目的地址与当前</a:t>
            </a:r>
            <a:r>
              <a:rPr lang="en-US" altLang="x-none" sz="2600" noProof="1">
                <a:latin typeface="Times New Roman" panose="02020603050405020304" pitchFamily="2" charset="0"/>
              </a:rPr>
              <a:t>IP</a:t>
            </a:r>
            <a:r>
              <a:rPr lang="zh-CN" altLang="en-US" sz="2600" noProof="1">
                <a:latin typeface="Times New Roman" panose="02020603050405020304" pitchFamily="2" charset="0"/>
              </a:rPr>
              <a:t>的距离在</a:t>
            </a:r>
            <a:r>
              <a:rPr lang="en-US" altLang="x-none" sz="2600" noProof="1">
                <a:latin typeface="Times New Roman" panose="02020603050405020304" pitchFamily="2" charset="0"/>
              </a:rPr>
              <a:t>-32768~+32767</a:t>
            </a:r>
            <a:r>
              <a:rPr lang="zh-CN" altLang="en-US" sz="2600" noProof="1">
                <a:latin typeface="Times New Roman" panose="02020603050405020304" pitchFamily="2" charset="0"/>
              </a:rPr>
              <a:t>字节之间。可加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说明符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NEAR  PTR</a:t>
            </a:r>
            <a:r>
              <a:rPr lang="zh-CN" altLang="en-US" sz="2600" noProof="1">
                <a:latin typeface="Times New Roman" panose="02020603050405020304" pitchFamily="2" charset="0"/>
              </a:rPr>
              <a:t>，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也可省略</a:t>
            </a:r>
            <a:r>
              <a:rPr lang="zh-CN" altLang="en-US" sz="2600" noProof="1">
                <a:latin typeface="Times New Roman" panose="02020603050405020304" pitchFamily="2" charset="0"/>
              </a:rPr>
              <a:t>。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这类指令用得最多</a:t>
            </a:r>
          </a:p>
        </p:txBody>
      </p:sp>
      <p:sp>
        <p:nvSpPr>
          <p:cNvPr id="32771" name="日期占位符 1">
            <a:extLst>
              <a:ext uri="{FF2B5EF4-FFF2-40B4-BE49-F238E27FC236}">
                <a16:creationId xmlns:a16="http://schemas.microsoft.com/office/drawing/2014/main" id="{511D856C-F332-438F-98A9-7B79540AD43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32ACD66-B787-47DB-85B0-CC8D7C08010C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045C1009-A530-4D22-A582-8A36C0CC0DF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无条件转移指令举例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79022142-F00C-4606-B0D0-9F4E73B47D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algn="l"/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3.79 </a:t>
            </a:r>
            <a:r>
              <a:rPr lang="en-US" altLang="zh-CN" sz="2600" dirty="0">
                <a:solidFill>
                  <a:srgbClr val="90FFFF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给出一个含有一条无条件转移指令的简单程序的列表文件，它是由汇编语言源程序经汇编程序翻译后产生的。即</a:t>
            </a: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en-US" altLang="zh-CN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 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      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对程序的解释请参看教材。</a:t>
            </a: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6BE77BFA-F0FB-41ED-A6F1-9D8FC6425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362200"/>
            <a:ext cx="8439150" cy="360838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6" name="日期占位符 1">
            <a:extLst>
              <a:ext uri="{FF2B5EF4-FFF2-40B4-BE49-F238E27FC236}">
                <a16:creationId xmlns:a16="http://schemas.microsoft.com/office/drawing/2014/main" id="{9E0F9E20-D719-4E5E-AD96-0C4D5F55127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A5B5775-5127-485E-93AE-4AEFA8C2E57C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AB8747F6-C3E7-42E4-A4C5-1A7E3080B01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无条件转移指令（间接转移）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C585DBAE-5B98-40FC-A865-F4C6AFB80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1905" indent="-1905" algn="l"/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（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）段内间接转移指令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转向的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位地址存放在一个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16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位寄存器或字存储器单元</a:t>
            </a:r>
            <a:r>
              <a:rPr lang="zh-CN" altLang="en-US" sz="2800" noProof="1">
                <a:latin typeface="Times New Roman" panose="02020603050405020304" pitchFamily="2" charset="0"/>
              </a:rPr>
              <a:t>中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用寄存器间接寻址的段内转移指令，转向的地址存放在寄存器中，执行操作：</a:t>
            </a:r>
            <a:r>
              <a:rPr lang="en-US" altLang="x-none" sz="2800" noProof="1">
                <a:latin typeface="Times New Roman" panose="02020603050405020304" pitchFamily="2" charset="0"/>
              </a:rPr>
              <a:t>IP←</a:t>
            </a:r>
            <a:r>
              <a:rPr lang="zh-CN" altLang="en-US" sz="2800" noProof="1">
                <a:latin typeface="Times New Roman" panose="02020603050405020304" pitchFamily="2" charset="0"/>
              </a:rPr>
              <a:t>寄存器内容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3.80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  JMP  BX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     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若指令执行前，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BX=4500H 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；</a:t>
            </a:r>
          </a:p>
          <a:p>
            <a:pPr marL="1905" indent="-1905" algn="l"/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指令执行时，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IP←4500H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，程序转到代码段内偏移地址为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4500H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</a:t>
            </a:r>
            <a:endParaRPr lang="zh-CN" altLang="en-US" sz="3200" noProof="1">
              <a:solidFill>
                <a:srgbClr val="008000"/>
              </a:solidFill>
            </a:endParaRPr>
          </a:p>
        </p:txBody>
      </p:sp>
      <p:sp>
        <p:nvSpPr>
          <p:cNvPr id="34819" name="日期占位符 1">
            <a:extLst>
              <a:ext uri="{FF2B5EF4-FFF2-40B4-BE49-F238E27FC236}">
                <a16:creationId xmlns:a16="http://schemas.microsoft.com/office/drawing/2014/main" id="{4C02B9AA-7A51-4B3B-9652-A9687802B31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2E3F686-7F40-46DB-B77C-D6267B9CB037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6EB5CF7-1565-41B5-B996-D40E73A9537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无条件转移指令（间接转移）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06043681-2491-458E-B8EC-8164B7C80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372475" cy="5461000"/>
          </a:xfrm>
        </p:spPr>
        <p:txBody>
          <a:bodyPr/>
          <a:lstStyle/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用存储器间接寻址的段内转移指令，先计算出存储单元的物理地址，再从中取一个字送到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。即</a:t>
            </a:r>
            <a:r>
              <a:rPr lang="en-US" altLang="x-none" sz="2800" noProof="1">
                <a:latin typeface="Times New Roman" panose="02020603050405020304" pitchFamily="2" charset="0"/>
              </a:rPr>
              <a:t>IP←</a:t>
            </a:r>
            <a:r>
              <a:rPr lang="zh-CN" altLang="en-US" sz="2800" noProof="1">
                <a:latin typeface="Times New Roman" panose="02020603050405020304" pitchFamily="2" charset="0"/>
              </a:rPr>
              <a:t>字存储单元内容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3.81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JMP  WORD  PTR 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 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WORD  PTR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说明是字操作</a:t>
            </a:r>
          </a:p>
          <a:p>
            <a:pPr marL="1905" indent="-1905" algn="l">
              <a:spcBef>
                <a:spcPct val="0"/>
              </a:spcBef>
            </a:pP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设指令执行前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DS=2000H,  BX=100H,  (20105H)=4F0H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则指令执行后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IP=(20000H+100H+5H) = (20105H)=4F0H</a:t>
            </a: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</a:t>
            </a: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转到段内</a:t>
            </a:r>
            <a:r>
              <a:rPr lang="en-US" altLang="x-none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IP=4F0H</a:t>
            </a: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</a:t>
            </a:r>
            <a:endParaRPr lang="zh-CN" altLang="en-US" sz="3200" b="1" noProof="1">
              <a:solidFill>
                <a:srgbClr val="008000"/>
              </a:solidFill>
            </a:endParaRPr>
          </a:p>
        </p:txBody>
      </p:sp>
      <p:sp>
        <p:nvSpPr>
          <p:cNvPr id="35843" name="日期占位符 1">
            <a:extLst>
              <a:ext uri="{FF2B5EF4-FFF2-40B4-BE49-F238E27FC236}">
                <a16:creationId xmlns:a16="http://schemas.microsoft.com/office/drawing/2014/main" id="{0D400662-9854-43E9-89AD-FDA4597065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F2F8C1B5-BFAC-4FF5-9355-486A4D5C1F0E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2D59217C-F850-44AD-B2F4-24792140DFC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无条件转移指令（段间转移）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2BFECF7B-8780-4E20-9353-8EB45118D4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1162050"/>
            <a:ext cx="8372475" cy="5511800"/>
          </a:xfrm>
        </p:spPr>
        <p:txBody>
          <a:bodyPr/>
          <a:lstStyle/>
          <a:p>
            <a:pPr algn="l"/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）段间直接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远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转移指令</a:t>
            </a:r>
          </a:p>
          <a:p>
            <a:pPr algn="l"/>
            <a:r>
              <a:rPr lang="zh-CN" altLang="en-US" sz="2600">
                <a:latin typeface="Times New Roman" panose="02020603050405020304" pitchFamily="18" charset="0"/>
              </a:rPr>
              <a:t>指令中用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远标号</a:t>
            </a:r>
            <a:r>
              <a:rPr lang="zh-CN" altLang="en-US" sz="2600">
                <a:latin typeface="Times New Roman" panose="02020603050405020304" pitchFamily="18" charset="0"/>
              </a:rPr>
              <a:t>直接给出转向的</a:t>
            </a:r>
            <a:r>
              <a:rPr lang="en-US" altLang="zh-CN" sz="2600">
                <a:latin typeface="Times New Roman" panose="02020603050405020304" pitchFamily="18" charset="0"/>
              </a:rPr>
              <a:t>CS:IP</a:t>
            </a:r>
            <a:r>
              <a:rPr lang="zh-CN" altLang="en-US" sz="2600">
                <a:latin typeface="Times New Roman" panose="02020603050405020304" pitchFamily="18" charset="0"/>
              </a:rPr>
              <a:t>，程序从一个代码段转到另一个代码段</a:t>
            </a:r>
          </a:p>
          <a:p>
            <a:pPr algn="l"/>
            <a:endParaRPr lang="zh-CN" altLang="en-US" sz="26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3.82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JMP  FAR  PTR  PROG_F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FAR  PTR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说明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PROG_F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为远标号</a:t>
            </a:r>
          </a:p>
          <a:p>
            <a:pPr algn="l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指令执行的操作：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 IP← PROG_F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的段内偏移量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 CS←PROG_F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所在段的段地址</a:t>
            </a:r>
          </a:p>
          <a:p>
            <a:pPr algn="l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设标号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PROG_F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的逻辑地址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=3500H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080AH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，则：</a:t>
            </a:r>
          </a:p>
          <a:p>
            <a:pPr algn="l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指令执行后，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IP=080AH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CS=3500H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，程序转到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3500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080AH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处执行</a:t>
            </a:r>
          </a:p>
        </p:txBody>
      </p:sp>
      <p:sp>
        <p:nvSpPr>
          <p:cNvPr id="36867" name="日期占位符 1">
            <a:extLst>
              <a:ext uri="{FF2B5EF4-FFF2-40B4-BE49-F238E27FC236}">
                <a16:creationId xmlns:a16="http://schemas.microsoft.com/office/drawing/2014/main" id="{773D3B72-9A71-497D-B4A9-CC6146DE118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A3D0089-F06C-4E14-B9EA-D1031FDEB7E2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>
            <a:extLst>
              <a:ext uri="{FF2B5EF4-FFF2-40B4-BE49-F238E27FC236}">
                <a16:creationId xmlns:a16="http://schemas.microsoft.com/office/drawing/2014/main" id="{3411B49E-9E65-481A-AB90-26D29EB20EA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无条件转移指令（段间转移）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439B72E9-E7D6-43DB-B53E-749C91C0AF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206500"/>
            <a:ext cx="8372475" cy="550545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）段间间接转移指令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操作数为存储器，要转移的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目的地址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CS:IP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存放在存储器</a:t>
            </a:r>
            <a:r>
              <a:rPr lang="zh-CN" altLang="en-US" sz="2800" dirty="0">
                <a:latin typeface="Times New Roman" panose="02020603050405020304" pitchFamily="18" charset="0"/>
              </a:rPr>
              <a:t>中。需加说明符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DWORD PTR</a:t>
            </a:r>
            <a:r>
              <a:rPr lang="zh-CN" altLang="en-US" sz="2800" dirty="0">
                <a:latin typeface="Times New Roman" panose="02020603050405020304" pitchFamily="18" charset="0"/>
              </a:rPr>
              <a:t>，表示转向地址需取双字</a:t>
            </a:r>
          </a:p>
          <a:p>
            <a:pPr algn="l"/>
            <a:endParaRPr lang="zh-CN" altLang="en-US" sz="2800" dirty="0"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3.83 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JMP  DWORD  PTR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SI+0125H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设指令执行前，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CS=1200H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IP=05H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DS=2500H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SI=1300H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；内存单元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(26425H)=4500H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(26427H)=32F0H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。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指令的执行过程如下图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3.20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3200" dirty="0"/>
          </a:p>
        </p:txBody>
      </p:sp>
      <p:sp>
        <p:nvSpPr>
          <p:cNvPr id="37891" name="日期占位符 1">
            <a:extLst>
              <a:ext uri="{FF2B5EF4-FFF2-40B4-BE49-F238E27FC236}">
                <a16:creationId xmlns:a16="http://schemas.microsoft.com/office/drawing/2014/main" id="{6E2F80ED-AA7A-4914-9A64-7A4ADD9BA06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C9D542D-7924-43B6-9E14-BA5245548E8D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内容占位符 4">
            <a:extLst>
              <a:ext uri="{FF2B5EF4-FFF2-40B4-BE49-F238E27FC236}">
                <a16:creationId xmlns:a16="http://schemas.microsoft.com/office/drawing/2014/main" id="{C4E8B823-6B41-47C6-8D71-A70941730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350" y="361950"/>
            <a:ext cx="8372475" cy="711200"/>
          </a:xfrm>
        </p:spPr>
        <p:txBody>
          <a:bodyPr/>
          <a:lstStyle/>
          <a:p>
            <a:r>
              <a:rPr lang="zh-CN" altLang="en-US" sz="32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无条件转移指令</a:t>
            </a:r>
          </a:p>
          <a:p>
            <a:r>
              <a:rPr lang="en-US" altLang="x-none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JMP  DWORD  PTR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［</a:t>
            </a:r>
            <a:r>
              <a:rPr lang="en-US" altLang="x-none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SI+0125H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］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ea typeface="楷体_GB2312" pitchFamily="1" charset="-122"/>
                <a:sym typeface="+mn-ea"/>
              </a:rPr>
              <a:t>执行过程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5BD1DBA2-7FC8-4C3C-8CA6-CFD0B9554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691" y="1485900"/>
            <a:ext cx="6646863" cy="511016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5" name="日期占位符 1">
            <a:extLst>
              <a:ext uri="{FF2B5EF4-FFF2-40B4-BE49-F238E27FC236}">
                <a16:creationId xmlns:a16="http://schemas.microsoft.com/office/drawing/2014/main" id="{F0208B04-D9CB-4150-AA6D-722EB271A87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FC3E60E-F048-4B27-9094-DBEAA8A7022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mb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>
            <a:extLst>
              <a:ext uri="{FF2B5EF4-FFF2-40B4-BE49-F238E27FC236}">
                <a16:creationId xmlns:a16="http://schemas.microsoft.com/office/drawing/2014/main" id="{0FD834FE-238A-4791-824B-123597BA37A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EEEC25BA-F346-409A-BBAE-77303EB81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372475" cy="5594350"/>
          </a:xfrm>
        </p:spPr>
        <p:txBody>
          <a:bodyPr/>
          <a:lstStyle/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过程调用和返回指令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(Call and Return)</a:t>
            </a:r>
            <a:endParaRPr lang="zh-CN" altLang="en-US" sz="24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把某些能完成特定功能又常用的程序段，编写成独立模块，称为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过程</a:t>
            </a:r>
            <a:r>
              <a:rPr lang="en-US" altLang="x-none" sz="2400" noProof="1">
                <a:latin typeface="Times New Roman" panose="02020603050405020304" pitchFamily="2" charset="0"/>
              </a:rPr>
              <a:t>(Procedure)</a:t>
            </a:r>
            <a:r>
              <a:rPr lang="zh-CN" altLang="en-US" sz="2400" noProof="1">
                <a:latin typeface="Times New Roman" panose="02020603050405020304" pitchFamily="2" charset="0"/>
              </a:rPr>
              <a:t>或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子程序</a:t>
            </a:r>
            <a:r>
              <a:rPr lang="en-US" altLang="x-none" sz="2400" noProof="1">
                <a:latin typeface="Times New Roman" panose="02020603050405020304" pitchFamily="2" charset="0"/>
              </a:rPr>
              <a:t>(Subroutine)</a:t>
            </a: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2200"/>
              </a:spcBef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在主程序中用</a:t>
            </a:r>
            <a:r>
              <a:rPr lang="en-US" altLang="x-none" sz="2400" noProof="1">
                <a:latin typeface="Times New Roman" panose="02020603050405020304" pitchFamily="2" charset="0"/>
              </a:rPr>
              <a:t>CALL</a:t>
            </a:r>
            <a:r>
              <a:rPr lang="zh-CN" altLang="en-US" sz="2400" noProof="1">
                <a:latin typeface="Times New Roman" panose="02020603050405020304" pitchFamily="2" charset="0"/>
              </a:rPr>
              <a:t>语句调用这些过程，格式为：</a:t>
            </a:r>
          </a:p>
          <a:p>
            <a:pPr algn="l">
              <a:spcBef>
                <a:spcPts val="400"/>
              </a:spcBef>
            </a:pPr>
            <a:r>
              <a:rPr lang="en-US" altLang="x-none" sz="2400" noProof="1">
                <a:latin typeface="Times New Roman" panose="02020603050405020304" pitchFamily="2" charset="0"/>
              </a:rPr>
              <a:t>	       </a:t>
            </a:r>
            <a:r>
              <a:rPr lang="en-US" altLang="x-none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  CALL  </a:t>
            </a:r>
            <a:r>
              <a:rPr lang="zh-CN" altLang="en-US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过程名</a:t>
            </a:r>
          </a:p>
          <a:p>
            <a:pPr marL="1905" indent="-1905" algn="l">
              <a:spcBef>
                <a:spcPts val="2200"/>
              </a:spcBef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过程以</a:t>
            </a:r>
            <a:r>
              <a:rPr lang="en-US" altLang="x-none" sz="2400" noProof="1">
                <a:latin typeface="Times New Roman" panose="02020603050405020304" pitchFamily="2" charset="0"/>
              </a:rPr>
              <a:t>PROC</a:t>
            </a:r>
            <a:r>
              <a:rPr lang="zh-CN" altLang="en-US" sz="2400" noProof="1">
                <a:latin typeface="Times New Roman" panose="02020603050405020304" pitchFamily="2" charset="0"/>
              </a:rPr>
              <a:t>开头</a:t>
            </a:r>
            <a:r>
              <a:rPr lang="en-US" altLang="x-none" sz="2400" noProof="1">
                <a:latin typeface="Times New Roman" panose="02020603050405020304" pitchFamily="2" charset="0"/>
              </a:rPr>
              <a:t>，ENDP</a:t>
            </a:r>
            <a:r>
              <a:rPr lang="zh-CN" altLang="en-US" sz="2400" noProof="1">
                <a:latin typeface="Times New Roman" panose="02020603050405020304" pitchFamily="2" charset="0"/>
              </a:rPr>
              <a:t>结束。过程中要安排一条返回指令</a:t>
            </a:r>
            <a:r>
              <a:rPr lang="en-US" altLang="x-none" sz="2400" noProof="1">
                <a:latin typeface="Times New Roman" panose="02020603050405020304" pitchFamily="2" charset="0"/>
              </a:rPr>
              <a:t>RET</a:t>
            </a:r>
            <a:r>
              <a:rPr lang="zh-CN" altLang="en-US" sz="2400" noProof="1">
                <a:latin typeface="Times New Roman" panose="02020603050405020304" pitchFamily="2" charset="0"/>
              </a:rPr>
              <a:t>，过程执行完后能正确返回主程序，如：</a:t>
            </a:r>
          </a:p>
          <a:p>
            <a:pPr algn="l">
              <a:spcBef>
                <a:spcPts val="400"/>
              </a:spcBef>
            </a:pPr>
            <a:r>
              <a:rPr lang="zh-CN" altLang="en-US" sz="2400" noProof="1">
                <a:latin typeface="Times New Roman" panose="02020603050405020304" pitchFamily="2" charset="0"/>
              </a:rPr>
              <a:t>         </a:t>
            </a:r>
            <a:r>
              <a:rPr lang="zh-CN" altLang="en-US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MySub</a:t>
            </a:r>
            <a:r>
              <a:rPr lang="en-US" altLang="zh-CN" sz="2200" noProof="1">
                <a:solidFill>
                  <a:srgbClr val="C00000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2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PROC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      PUSH AX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         .....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      POP AX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	   </a:t>
            </a:r>
            <a:r>
              <a:rPr lang="en-US" altLang="zh-CN" sz="22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RET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</a:t>
            </a:r>
            <a:r>
              <a:rPr lang="zh-CN" altLang="en-US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 MySub </a:t>
            </a:r>
            <a:r>
              <a:rPr lang="en-US" altLang="zh-CN" sz="22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ENDP</a:t>
            </a:r>
          </a:p>
          <a:p>
            <a:pPr marL="1905" indent="-1905" algn="l">
              <a:spcBef>
                <a:spcPts val="400"/>
              </a:spcBef>
              <a:buFont typeface="Wingdings" panose="05000000000000000000" pitchFamily="2" charset="2"/>
              <a:buChar char="l"/>
            </a:pPr>
            <a:endParaRPr lang="zh-CN" altLang="en-US" sz="2200" noProof="1"/>
          </a:p>
        </p:txBody>
      </p:sp>
      <p:sp>
        <p:nvSpPr>
          <p:cNvPr id="39939" name="日期占位符 1">
            <a:extLst>
              <a:ext uri="{FF2B5EF4-FFF2-40B4-BE49-F238E27FC236}">
                <a16:creationId xmlns:a16="http://schemas.microsoft.com/office/drawing/2014/main" id="{8F258171-195A-4B07-896F-25EDE9D1059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0EF7BF6-EE3F-4F15-90D7-900A4C705956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13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charRg st="133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>
            <a:extLst>
              <a:ext uri="{FF2B5EF4-FFF2-40B4-BE49-F238E27FC236}">
                <a16:creationId xmlns:a16="http://schemas.microsoft.com/office/drawing/2014/main" id="{4E5BE300-9D05-45CF-9D37-EDF7FB94826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78DE2C20-3A31-40BE-8032-443F6232C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5" y="1117600"/>
            <a:ext cx="8372475" cy="5594350"/>
          </a:xfrm>
        </p:spPr>
        <p:txBody>
          <a:bodyPr/>
          <a:lstStyle/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过程调用和返回指令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(Call and Return)</a:t>
            </a:r>
            <a:endParaRPr lang="zh-CN" altLang="en-US" sz="24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sym typeface="+mn-ea"/>
              </a:rPr>
              <a:t>过程嵌套:</a:t>
            </a:r>
            <a:r>
              <a:rPr lang="zh-CN" altLang="en-US" sz="2400" noProof="1">
                <a:latin typeface="Times New Roman" panose="02020603050405020304" pitchFamily="2" charset="0"/>
              </a:rPr>
              <a:t>若在过程运行中又调用另一过程，称为</a:t>
            </a:r>
            <a:r>
              <a:rPr lang="zh-CN" altLang="en-US" sz="24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过程嵌套</a:t>
            </a: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endParaRPr lang="zh-CN" altLang="en-US" sz="24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调用距离：</a:t>
            </a:r>
            <a:r>
              <a:rPr lang="zh-CN" altLang="en-US" sz="2400" noProof="1">
                <a:latin typeface="Times New Roman" panose="02020603050405020304" pitchFamily="2" charset="0"/>
              </a:rPr>
              <a:t>主程序和过程在同一代码段，称为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近调用</a:t>
            </a:r>
            <a:r>
              <a:rPr lang="zh-CN" altLang="en-US" sz="2400" noProof="1">
                <a:latin typeface="Times New Roman" panose="02020603050405020304" pitchFamily="2" charset="0"/>
              </a:rPr>
              <a:t>，不在同一段则称为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远调用</a:t>
            </a: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endParaRPr lang="zh-CN" altLang="en-US" sz="2400" b="1" noProof="1">
              <a:solidFill>
                <a:srgbClr val="0000FF"/>
              </a:solidFill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过程调用和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JMP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指令的比较</a:t>
            </a:r>
            <a:r>
              <a:rPr lang="zh-CN" altLang="en-US" sz="2400" noProof="1">
                <a:latin typeface="Times New Roman" panose="02020603050405020304" pitchFamily="2" charset="0"/>
              </a:rPr>
              <a:t>：过程调用的寻址方式与转移指令类似，但</a:t>
            </a:r>
            <a:r>
              <a:rPr lang="zh-CN" altLang="en-US" sz="24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没有段内短调用</a:t>
            </a:r>
            <a:r>
              <a:rPr lang="zh-CN" altLang="en-US" sz="2400" noProof="1">
                <a:latin typeface="Times New Roman" panose="02020603050405020304" pitchFamily="2" charset="0"/>
              </a:rPr>
              <a:t>。由于调用结束后需返回原程序继续运行，要执行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保护和恢复返址</a:t>
            </a:r>
            <a:r>
              <a:rPr lang="zh-CN" altLang="en-US" sz="2400" noProof="1">
                <a:latin typeface="Times New Roman" panose="02020603050405020304" pitchFamily="2" charset="0"/>
              </a:rPr>
              <a:t>操作（</a:t>
            </a:r>
            <a:r>
              <a:rPr lang="en-US" altLang="zh-CN" sz="24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RET</a:t>
            </a:r>
            <a:r>
              <a:rPr lang="zh-CN" altLang="en-US" sz="24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指令</a:t>
            </a:r>
            <a:r>
              <a:rPr lang="zh-CN" altLang="en-US" sz="2400" noProof="1">
                <a:latin typeface="Times New Roman" panose="02020603050405020304" pitchFamily="2" charset="0"/>
              </a:rPr>
              <a:t>），比转移复杂</a:t>
            </a:r>
            <a:r>
              <a:rPr lang="zh-CN" altLang="en-US" sz="2400" noProof="1"/>
              <a:t>                     </a:t>
            </a:r>
          </a:p>
        </p:txBody>
      </p:sp>
      <p:sp>
        <p:nvSpPr>
          <p:cNvPr id="40963" name="日期占位符 1">
            <a:extLst>
              <a:ext uri="{FF2B5EF4-FFF2-40B4-BE49-F238E27FC236}">
                <a16:creationId xmlns:a16="http://schemas.microsoft.com/office/drawing/2014/main" id="{8DA61D77-64B1-46CB-BE3D-14905B07C36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3A4D1DD-2BC0-494F-A282-999FF8005098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>
            <a:extLst>
              <a:ext uri="{FF2B5EF4-FFF2-40B4-BE49-F238E27FC236}">
                <a16:creationId xmlns:a16="http://schemas.microsoft.com/office/drawing/2014/main" id="{D8B1140A-C00B-4A92-BA78-2D1A695B075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562EAAFD-C974-4F8C-866A-AD152B197A6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250950"/>
            <a:ext cx="8188325" cy="4970463"/>
          </a:xfrm>
        </p:spPr>
        <p:txBody>
          <a:bodyPr/>
          <a:lstStyle/>
          <a:p>
            <a:pPr marL="1588" indent="-1588" algn="l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CALL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指令分两步执行</a:t>
            </a:r>
            <a:r>
              <a:rPr lang="zh-CN" altLang="en-US" sz="2400">
                <a:latin typeface="Times New Roman" panose="02020603050405020304" pitchFamily="18" charset="0"/>
              </a:rPr>
              <a:t>：</a:t>
            </a:r>
          </a:p>
          <a:p>
            <a:pPr marL="1588" indent="-1588"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第一步：</a:t>
            </a:r>
            <a:r>
              <a:rPr lang="zh-CN" altLang="en-US" sz="2400">
                <a:latin typeface="Times New Roman" panose="02020603050405020304" pitchFamily="18" charset="0"/>
              </a:rPr>
              <a:t>返址入栈，将</a:t>
            </a:r>
            <a:r>
              <a:rPr lang="en-US" altLang="zh-CN" sz="2400">
                <a:latin typeface="Times New Roman" panose="02020603050405020304" pitchFamily="18" charset="0"/>
              </a:rPr>
              <a:t>CALL</a:t>
            </a:r>
            <a:r>
              <a:rPr lang="zh-CN" altLang="en-US" sz="2400">
                <a:latin typeface="Times New Roman" panose="02020603050405020304" pitchFamily="18" charset="0"/>
              </a:rPr>
              <a:t>下面指令的地址推入堆栈</a:t>
            </a:r>
          </a:p>
          <a:p>
            <a:pPr marL="1588" indent="-1588"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 </a:t>
            </a:r>
            <a:r>
              <a:rPr lang="zh-CN" altLang="en-US" sz="2400">
                <a:latin typeface="Times New Roman" panose="02020603050405020304" pitchFamily="18" charset="0"/>
              </a:rPr>
              <a:t>近调用执行的操作：</a:t>
            </a:r>
            <a:r>
              <a:rPr lang="en-US" altLang="zh-CN" sz="2400">
                <a:latin typeface="Times New Roman" panose="02020603050405020304" pitchFamily="18" charset="0"/>
              </a:rPr>
              <a:t>SP←SP-2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入栈</a:t>
            </a:r>
          </a:p>
          <a:p>
            <a:pPr marL="1588" indent="-1588"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 </a:t>
            </a:r>
            <a:r>
              <a:rPr lang="zh-CN" altLang="en-US" sz="2400">
                <a:latin typeface="Times New Roman" panose="02020603050405020304" pitchFamily="18" charset="0"/>
              </a:rPr>
              <a:t>远调用执行的操作：</a:t>
            </a:r>
            <a:r>
              <a:rPr lang="en-US" altLang="zh-CN" sz="2400">
                <a:latin typeface="Times New Roman" panose="02020603050405020304" pitchFamily="18" charset="0"/>
              </a:rPr>
              <a:t>SP←SP-2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CS</a:t>
            </a:r>
            <a:r>
              <a:rPr lang="zh-CN" altLang="en-US" sz="2400">
                <a:latin typeface="Times New Roman" panose="02020603050405020304" pitchFamily="18" charset="0"/>
              </a:rPr>
              <a:t>入栈</a:t>
            </a:r>
          </a:p>
          <a:p>
            <a:pPr marL="1588" indent="-1588"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              		       SP←SP-2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入栈</a:t>
            </a:r>
          </a:p>
          <a:p>
            <a:pPr marL="1588" indent="-1588" algn="l">
              <a:spcBef>
                <a:spcPct val="0"/>
              </a:spcBef>
            </a:pP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第二步：</a:t>
            </a:r>
            <a:r>
              <a:rPr lang="zh-CN" altLang="en-US" sz="2400">
                <a:latin typeface="Times New Roman" panose="02020603050405020304" pitchFamily="18" charset="0"/>
              </a:rPr>
              <a:t>转到子程序入口执行相应的子程序。入口地址由</a:t>
            </a:r>
            <a:r>
              <a:rPr lang="en-US" altLang="zh-CN" sz="2400">
                <a:latin typeface="Times New Roman" panose="02020603050405020304" pitchFamily="18" charset="0"/>
              </a:rPr>
              <a:t>CALL</a:t>
            </a:r>
            <a:r>
              <a:rPr lang="zh-CN" altLang="en-US" sz="2400">
                <a:latin typeface="Times New Roman" panose="02020603050405020304" pitchFamily="18" charset="0"/>
              </a:rPr>
              <a:t>指令的目的操作数提供，寻址方法与</a:t>
            </a:r>
            <a:r>
              <a:rPr lang="en-US" altLang="zh-CN" sz="2400">
                <a:latin typeface="Times New Roman" panose="02020603050405020304" pitchFamily="18" charset="0"/>
              </a:rPr>
              <a:t>JMP</a:t>
            </a:r>
            <a:r>
              <a:rPr lang="zh-CN" altLang="en-US" sz="2400">
                <a:latin typeface="Times New Roman" panose="02020603050405020304" pitchFamily="18" charset="0"/>
              </a:rPr>
              <a:t>指令类似</a:t>
            </a:r>
          </a:p>
          <a:p>
            <a:pPr marL="1588" indent="-1588" algn="l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执行过程中的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RET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指令</a:t>
            </a:r>
            <a:r>
              <a:rPr lang="zh-CN" altLang="en-US" sz="2400">
                <a:latin typeface="Times New Roman" panose="02020603050405020304" pitchFamily="18" charset="0"/>
              </a:rPr>
              <a:t>时，从栈中弹出返址，使程序返回主程序继续执行。也有两种情况：</a:t>
            </a:r>
          </a:p>
          <a:p>
            <a:pPr marL="1588" indent="-1588" algn="l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从</a:t>
            </a:r>
            <a:r>
              <a:rPr lang="zh-CN" altLang="en-US" sz="2400" b="1">
                <a:latin typeface="Times New Roman" panose="02020603050405020304" pitchFamily="18" charset="0"/>
              </a:rPr>
              <a:t>近过程</a:t>
            </a:r>
            <a:r>
              <a:rPr lang="zh-CN" altLang="en-US" sz="2400">
                <a:latin typeface="Times New Roman" panose="02020603050405020304" pitchFamily="18" charset="0"/>
              </a:rPr>
              <a:t>返回，从栈中弹出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个字</a:t>
            </a:r>
            <a:r>
              <a:rPr lang="en-US" altLang="zh-CN" sz="2400">
                <a:latin typeface="Times New Roman" panose="02020603050405020304" pitchFamily="18" charset="0"/>
              </a:rPr>
              <a:t>→IP</a:t>
            </a:r>
            <a:r>
              <a:rPr lang="zh-CN" altLang="en-US" sz="2400">
                <a:latin typeface="Times New Roman" panose="02020603050405020304" pitchFamily="18" charset="0"/>
              </a:rPr>
              <a:t>，并且使</a:t>
            </a:r>
            <a:r>
              <a:rPr lang="en-US" altLang="zh-CN" sz="2400">
                <a:latin typeface="Times New Roman" panose="02020603050405020304" pitchFamily="18" charset="0"/>
              </a:rPr>
              <a:t>SP←SP+2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1588" indent="-1588" algn="l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从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远过程</a:t>
            </a:r>
            <a:r>
              <a:rPr lang="zh-CN" altLang="en-US" sz="2400">
                <a:latin typeface="Times New Roman" panose="02020603050405020304" pitchFamily="18" charset="0"/>
              </a:rPr>
              <a:t>返回，先从栈中弹出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个字</a:t>
            </a:r>
            <a:r>
              <a:rPr lang="en-US" altLang="zh-CN" sz="2400">
                <a:latin typeface="Times New Roman" panose="02020603050405020304" pitchFamily="18" charset="0"/>
              </a:rPr>
              <a:t>→IP</a:t>
            </a:r>
            <a:r>
              <a:rPr lang="zh-CN" altLang="en-US" sz="2400">
                <a:latin typeface="Times New Roman" panose="02020603050405020304" pitchFamily="18" charset="0"/>
              </a:rPr>
              <a:t>，并且使</a:t>
            </a:r>
            <a:r>
              <a:rPr lang="en-US" altLang="zh-CN" sz="2400">
                <a:latin typeface="Times New Roman" panose="02020603050405020304" pitchFamily="18" charset="0"/>
              </a:rPr>
              <a:t>SP←SP+2</a:t>
            </a:r>
            <a:r>
              <a:rPr lang="zh-CN" altLang="en-US" sz="2400">
                <a:latin typeface="Times New Roman" panose="02020603050405020304" pitchFamily="18" charset="0"/>
              </a:rPr>
              <a:t>；再弹出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个字</a:t>
            </a:r>
            <a:r>
              <a:rPr lang="en-US" altLang="zh-CN" sz="2400">
                <a:latin typeface="Times New Roman" panose="02020603050405020304" pitchFamily="18" charset="0"/>
              </a:rPr>
              <a:t>→CS</a:t>
            </a:r>
            <a:r>
              <a:rPr lang="zh-CN" altLang="en-US" sz="2400">
                <a:latin typeface="Times New Roman" panose="02020603050405020304" pitchFamily="18" charset="0"/>
              </a:rPr>
              <a:t>，并使</a:t>
            </a:r>
            <a:r>
              <a:rPr lang="en-US" altLang="zh-CN" sz="2400">
                <a:latin typeface="Times New Roman" panose="02020603050405020304" pitchFamily="18" charset="0"/>
              </a:rPr>
              <a:t>SP←SP+2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1987" name="日期占位符 1">
            <a:extLst>
              <a:ext uri="{FF2B5EF4-FFF2-40B4-BE49-F238E27FC236}">
                <a16:creationId xmlns:a16="http://schemas.microsoft.com/office/drawing/2014/main" id="{73279092-86B6-4614-B520-73714D1EE9C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D3DF5EB-9910-46AB-85C1-B1C851FBD917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192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charRg st="192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234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1">
                                            <p:txEl>
                                              <p:charRg st="234" end="2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264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891">
                                            <p:txEl>
                                              <p:charRg st="264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42019651-BBCF-4194-B8B6-62D185C7261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749300" y="4851400"/>
            <a:ext cx="8045450" cy="1377950"/>
          </a:xfrm>
        </p:spPr>
        <p:txBody>
          <a:bodyPr anchor="ctr"/>
          <a:lstStyle/>
          <a:p>
            <a:pPr algn="just"/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设调用前：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CS:IP=2000H:1050H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，</a:t>
            </a:r>
            <a:b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</a:b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SS:SP=5000H:0100H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PROG-N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与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CALL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指令之间的字节距离等于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1234H (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即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DISP=1234H)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3EE9873D-6924-4BA6-B2E8-F3564F054C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073150"/>
            <a:ext cx="8231188" cy="26225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下面举例说明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RET</a:t>
            </a:r>
            <a:r>
              <a:rPr lang="zh-CN" altLang="en-US" sz="2800">
                <a:latin typeface="Times New Roman" panose="02020603050405020304" pitchFamily="18" charset="0"/>
              </a:rPr>
              <a:t>指令的</a:t>
            </a:r>
            <a:r>
              <a:rPr lang="en-US" altLang="zh-CN" sz="2800"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</a:rPr>
              <a:t>种寻址方式。</a:t>
            </a:r>
          </a:p>
          <a:p>
            <a:pPr algn="l"/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）段内直接调用和返回</a:t>
            </a:r>
          </a:p>
          <a:p>
            <a:pPr algn="l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3.84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CALL   PROG-N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PROG-N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是一个近标号</a:t>
            </a: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该指令含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个字节，编码格式为：</a:t>
            </a:r>
          </a:p>
          <a:p>
            <a:pPr algn="l"/>
            <a:endParaRPr lang="zh-CN" altLang="en-US" sz="2800"/>
          </a:p>
        </p:txBody>
      </p:sp>
      <p:pic>
        <p:nvPicPr>
          <p:cNvPr id="38916" name="Picture 2">
            <a:extLst>
              <a:ext uri="{FF2B5EF4-FFF2-40B4-BE49-F238E27FC236}">
                <a16:creationId xmlns:a16="http://schemas.microsoft.com/office/drawing/2014/main" id="{DC3307C0-B19D-4462-BB22-CE54A01E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3829050"/>
            <a:ext cx="6753225" cy="8540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2" name="标题 1">
            <a:extLst>
              <a:ext uri="{FF2B5EF4-FFF2-40B4-BE49-F238E27FC236}">
                <a16:creationId xmlns:a16="http://schemas.microsoft.com/office/drawing/2014/main" id="{AA35464C-5103-422E-8AB5-5DB930AE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过程调用指令</a:t>
            </a:r>
          </a:p>
        </p:txBody>
      </p:sp>
      <p:sp>
        <p:nvSpPr>
          <p:cNvPr id="43013" name="日期占位符 1">
            <a:extLst>
              <a:ext uri="{FF2B5EF4-FFF2-40B4-BE49-F238E27FC236}">
                <a16:creationId xmlns:a16="http://schemas.microsoft.com/office/drawing/2014/main" id="{42E4F1B4-42AF-4387-B493-6B5BD89D301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909EC40-E3BF-48BD-81D9-8DB4482352B1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>
            <a:extLst>
              <a:ext uri="{FF2B5EF4-FFF2-40B4-BE49-F238E27FC236}">
                <a16:creationId xmlns:a16="http://schemas.microsoft.com/office/drawing/2014/main" id="{F8D81728-87D1-4211-A54E-2FFF4640A9F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175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3.84</a:t>
            </a:r>
            <a:endParaRPr lang="zh-CN" altLang="en-US" sz="4400" b="1">
              <a:solidFill>
                <a:srgbClr val="0000FF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2D236ABE-9D47-4E02-AD49-2FC9E7423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939800"/>
            <a:ext cx="8275638" cy="5549900"/>
          </a:xfrm>
        </p:spPr>
        <p:txBody>
          <a:bodyPr/>
          <a:lstStyle/>
          <a:p>
            <a:pPr marL="1905" indent="-1905" algn="l">
              <a:lnSpc>
                <a:spcPct val="90000"/>
              </a:lnSpc>
            </a:pPr>
            <a:r>
              <a:rPr lang="zh-CN" altLang="en-US" sz="2800" noProof="1">
                <a:latin typeface="Times New Roman" panose="02020603050405020304" pitchFamily="2" charset="0"/>
              </a:rPr>
              <a:t>则执行</a:t>
            </a:r>
            <a:r>
              <a:rPr lang="en-US" altLang="x-none" sz="2800" noProof="1">
                <a:latin typeface="Times New Roman" panose="02020603050405020304" pitchFamily="2" charset="0"/>
              </a:rPr>
              <a:t>CALL</a:t>
            </a:r>
            <a:r>
              <a:rPr lang="zh-CN" altLang="en-US" sz="2800" noProof="1">
                <a:latin typeface="Times New Roman" panose="02020603050405020304" pitchFamily="2" charset="0"/>
              </a:rPr>
              <a:t>指令的过程：</a:t>
            </a: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堆栈指针：</a:t>
            </a:r>
            <a:r>
              <a:rPr lang="zh-CN" altLang="en-US" sz="2400" noProof="1">
                <a:solidFill>
                  <a:srgbClr val="C00000"/>
                </a:solidFill>
                <a:latin typeface="Times New Roman" panose="02020603050405020304" pitchFamily="2" charset="0"/>
                <a:sym typeface="+mn-ea"/>
              </a:rPr>
              <a:t>SP←SP-2  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    ；即新的SP=0100H-2=00FEH</a:t>
            </a: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b="1" noProof="1">
                <a:solidFill>
                  <a:srgbClr val="C00000"/>
                </a:solidFill>
                <a:latin typeface="Times New Roman" panose="02020603050405020304" pitchFamily="2" charset="0"/>
                <a:sym typeface="+mn-ea"/>
              </a:rPr>
              <a:t>返回地址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的</a:t>
            </a:r>
            <a:r>
              <a:rPr lang="en-US" altLang="x-none" sz="2400" noProof="1">
                <a:latin typeface="Times New Roman" panose="02020603050405020304" pitchFamily="2" charset="0"/>
                <a:sym typeface="+mn-ea"/>
              </a:rPr>
              <a:t>IP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入栈（也称</a:t>
            </a:r>
            <a:r>
              <a:rPr lang="zh-CN" altLang="en-US" sz="2400" b="1" noProof="1">
                <a:solidFill>
                  <a:srgbClr val="C00000"/>
                </a:solidFill>
                <a:latin typeface="Times New Roman" panose="02020603050405020304" pitchFamily="2" charset="0"/>
                <a:sym typeface="+mn-ea"/>
              </a:rPr>
              <a:t>断点地址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）</a:t>
            </a: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344805" algn="l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由于存放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CALL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指令的内存首地址为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CS:IP=2000</a:t>
            </a:r>
            <a:r>
              <a:rPr lang="en-US" altLang="zh-CN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1050H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，该指令占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3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字节，所以返回地址为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2000</a:t>
            </a:r>
            <a:r>
              <a:rPr lang="en-US" altLang="zh-CN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1053H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，即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IP=1053H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。于是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1053H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被推入堆栈。</a:t>
            </a: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根据当前</a:t>
            </a:r>
            <a:r>
              <a:rPr lang="en-US" altLang="x-none" sz="2400" noProof="1">
                <a:latin typeface="Times New Roman" panose="02020603050405020304" pitchFamily="2" charset="0"/>
              </a:rPr>
              <a:t>IP</a:t>
            </a:r>
            <a:r>
              <a:rPr lang="zh-CN" altLang="en-US" sz="2400" noProof="1">
                <a:latin typeface="Times New Roman" panose="02020603050405020304" pitchFamily="2" charset="0"/>
              </a:rPr>
              <a:t>值和位移量</a:t>
            </a:r>
            <a:r>
              <a:rPr lang="en-US" altLang="x-none" sz="2400" noProof="1">
                <a:latin typeface="Times New Roman" panose="02020603050405020304" pitchFamily="2" charset="0"/>
              </a:rPr>
              <a:t>DISP</a:t>
            </a:r>
            <a:r>
              <a:rPr lang="zh-CN" altLang="en-US" sz="2400" noProof="1">
                <a:latin typeface="Times New Roman" panose="02020603050405020304" pitchFamily="2" charset="0"/>
              </a:rPr>
              <a:t>计算出新的</a:t>
            </a:r>
            <a:r>
              <a:rPr lang="en-US" altLang="x-none" sz="2400" noProof="1">
                <a:latin typeface="Times New Roman" panose="02020603050405020304" pitchFamily="2" charset="0"/>
              </a:rPr>
              <a:t>IP</a:t>
            </a:r>
            <a:r>
              <a:rPr lang="zh-CN" altLang="en-US" sz="2400" noProof="1">
                <a:latin typeface="Times New Roman" panose="02020603050405020304" pitchFamily="2" charset="0"/>
              </a:rPr>
              <a:t>值，作为子程序的</a:t>
            </a:r>
            <a:r>
              <a:rPr lang="zh-CN" altLang="en-US" sz="24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入口地址</a:t>
            </a:r>
            <a:r>
              <a:rPr lang="zh-CN" altLang="en-US" sz="2400" noProof="1">
                <a:latin typeface="Times New Roman" panose="02020603050405020304" pitchFamily="2" charset="0"/>
              </a:rPr>
              <a:t>，</a:t>
            </a:r>
            <a:r>
              <a:rPr lang="zh-CN" altLang="en-US" sz="2800" noProof="1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即</a:t>
            </a:r>
          </a:p>
          <a:p>
            <a:pPr marL="1905" indent="-344805" algn="l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	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IP = IP+DISP = 1053H+1234H = 2287H</a:t>
            </a:r>
          </a:p>
          <a:p>
            <a:pPr marL="1905" indent="-344805" algn="l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x-none" sz="2600" noProof="1">
              <a:solidFill>
                <a:srgbClr val="0080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en-US" altLang="zh-CN" sz="2400" noProof="1">
                <a:latin typeface="Times New Roman" panose="02020603050405020304" pitchFamily="2" charset="0"/>
              </a:rPr>
              <a:t>CS:IP</a:t>
            </a:r>
            <a:r>
              <a:rPr lang="zh-CN" altLang="en-US" sz="2400" noProof="1">
                <a:latin typeface="Times New Roman" panose="02020603050405020304" pitchFamily="2" charset="0"/>
              </a:rPr>
              <a:t>变化：程序转到本代码段中偏移地址为</a:t>
            </a:r>
            <a:r>
              <a:rPr lang="en-US" altLang="x-none" sz="2400" noProof="1">
                <a:latin typeface="Times New Roman" panose="02020603050405020304" pitchFamily="2" charset="0"/>
              </a:rPr>
              <a:t>2287H</a:t>
            </a:r>
            <a:r>
              <a:rPr lang="zh-CN" altLang="en-US" sz="2400" noProof="1">
                <a:latin typeface="Times New Roman" panose="02020603050405020304" pitchFamily="2" charset="0"/>
              </a:rPr>
              <a:t>处执行</a:t>
            </a:r>
          </a:p>
          <a:p>
            <a:pPr marL="1905" indent="-1905" algn="l">
              <a:lnSpc>
                <a:spcPct val="90000"/>
              </a:lnSpc>
            </a:pPr>
            <a:endParaRPr lang="zh-CN" altLang="en-US" sz="2400" noProof="1">
              <a:latin typeface="Times New Roman" panose="02020603050405020304" pitchFamily="2" charset="0"/>
            </a:endParaRPr>
          </a:p>
        </p:txBody>
      </p:sp>
      <p:sp>
        <p:nvSpPr>
          <p:cNvPr id="44035" name="日期占位符 1">
            <a:extLst>
              <a:ext uri="{FF2B5EF4-FFF2-40B4-BE49-F238E27FC236}">
                <a16:creationId xmlns:a16="http://schemas.microsoft.com/office/drawing/2014/main" id="{CE60678C-646E-4439-BF5B-92D1BF261D9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950B5F8-BC69-4BB8-87F3-EB21AC15509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5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charRg st="59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47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charRg st="147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84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charRg st="184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20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charRg st="220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1F1FBB3E-0F19-433A-97DD-8C75C9090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250950"/>
            <a:ext cx="8097838" cy="5238750"/>
          </a:xfrm>
        </p:spPr>
        <p:txBody>
          <a:bodyPr/>
          <a:lstStyle/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RET</a:t>
            </a:r>
            <a:r>
              <a:rPr lang="zh-CN" altLang="en-US" sz="2800">
                <a:latin typeface="Times New Roman" panose="02020603050405020304" pitchFamily="18" charset="0"/>
              </a:rPr>
              <a:t>指令的寻址方式与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一样，在本例中也是段内直接调用。执行过程如下：</a:t>
            </a:r>
          </a:p>
          <a:p>
            <a:pPr algn="l"/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IP←(SP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SP+1)</a:t>
            </a:r>
            <a:r>
              <a:rPr lang="zh-CN" altLang="en-US" sz="2800">
                <a:latin typeface="Times New Roman" panose="02020603050405020304" pitchFamily="18" charset="0"/>
              </a:rPr>
              <a:t>单元内容</a:t>
            </a:r>
          </a:p>
          <a:p>
            <a:pPr algn="l"/>
            <a:r>
              <a:rPr lang="zh-CN" altLang="en-US" sz="28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1" charset="-122"/>
              </a:rPr>
              <a:t>  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即返址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IP=1053H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从栈中弹出</a:t>
            </a:r>
          </a:p>
          <a:p>
            <a:pPr algn="l">
              <a:buFont typeface="Wingdings 3" panose="05040102010807070707" pitchFamily="18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SP←SP+2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r>
              <a:rPr lang="en-US" altLang="zh-CN" sz="28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  SP=00FEH+2=0100H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，即恢复原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SP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结果，返回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下面的那条指令，即从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2000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1053</a:t>
            </a:r>
            <a:r>
              <a:rPr lang="zh-CN" altLang="en-US" sz="2800">
                <a:latin typeface="Times New Roman" panose="02020603050405020304" pitchFamily="18" charset="0"/>
              </a:rPr>
              <a:t>处继续执行程序，如图</a:t>
            </a:r>
            <a:r>
              <a:rPr lang="en-US" altLang="zh-CN" sz="2800">
                <a:latin typeface="Times New Roman" panose="02020603050405020304" pitchFamily="18" charset="0"/>
              </a:rPr>
              <a:t>3.21(b)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algn="l"/>
            <a:endParaRPr lang="zh-CN" altLang="en-US" sz="3200"/>
          </a:p>
        </p:txBody>
      </p:sp>
      <p:sp>
        <p:nvSpPr>
          <p:cNvPr id="45058" name="标题 1">
            <a:extLst>
              <a:ext uri="{FF2B5EF4-FFF2-40B4-BE49-F238E27FC236}">
                <a16:creationId xmlns:a16="http://schemas.microsoft.com/office/drawing/2014/main" id="{55949917-EBEF-4A66-906D-95443C913D9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3600" b="1">
                <a:solidFill>
                  <a:schemeClr val="accent2"/>
                </a:solidFill>
              </a:rPr>
              <a:t>过程调用指令的返回（</a:t>
            </a:r>
            <a:r>
              <a:rPr lang="en-US" altLang="zh-CN" sz="3600" b="1">
                <a:solidFill>
                  <a:srgbClr val="C00000"/>
                </a:solidFill>
              </a:rPr>
              <a:t>RET</a:t>
            </a:r>
            <a:r>
              <a:rPr lang="zh-CN" altLang="en-US" sz="36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45059" name="日期占位符 1">
            <a:extLst>
              <a:ext uri="{FF2B5EF4-FFF2-40B4-BE49-F238E27FC236}">
                <a16:creationId xmlns:a16="http://schemas.microsoft.com/office/drawing/2014/main" id="{919EA993-9E64-4FBC-A29B-43E751A902C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A6A7C2A-7196-454E-86C7-77C9F036553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内容占位符 2">
            <a:extLst>
              <a:ext uri="{FF2B5EF4-FFF2-40B4-BE49-F238E27FC236}">
                <a16:creationId xmlns:a16="http://schemas.microsoft.com/office/drawing/2014/main" id="{BC5FAFA1-37B5-47E9-845B-1C4A100111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539750"/>
            <a:ext cx="8372475" cy="647700"/>
          </a:xfrm>
        </p:spPr>
        <p:txBody>
          <a:bodyPr/>
          <a:lstStyle/>
          <a:p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指令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CALL   PROG_N</a:t>
            </a: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的执行过程如图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3.21(a) </a:t>
            </a: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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95FC3239-3BB3-437A-BB57-6EDA2AB1F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117600"/>
            <a:ext cx="8694737" cy="538480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83" name="日期占位符 1">
            <a:extLst>
              <a:ext uri="{FF2B5EF4-FFF2-40B4-BE49-F238E27FC236}">
                <a16:creationId xmlns:a16="http://schemas.microsoft.com/office/drawing/2014/main" id="{D2F7D918-CC77-4E05-B715-93B74DBDF88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C84F072-EEF9-4267-AC67-C777BE5F08FF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51BC460E-28AB-4B1F-9BEA-B3693E5748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7200" y="1042988"/>
            <a:ext cx="8372475" cy="54610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C3300"/>
                </a:solidFill>
              </a:rPr>
              <a:t>（</a:t>
            </a:r>
            <a:r>
              <a:rPr lang="en-US" altLang="zh-CN" sz="2800" b="1" dirty="0">
                <a:solidFill>
                  <a:srgbClr val="CC3300"/>
                </a:solidFill>
              </a:rPr>
              <a:t>2</a:t>
            </a:r>
            <a:r>
              <a:rPr lang="zh-CN" altLang="en-US" sz="2800" b="1" dirty="0">
                <a:solidFill>
                  <a:srgbClr val="CC3300"/>
                </a:solidFill>
              </a:rPr>
              <a:t>）段内间接调用和返回</a:t>
            </a: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3.85  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下面是两条段内间接调用指令的例子，返址在寄存器或内存中。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CALL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BX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CALL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WORD  PTR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BX+SI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它们执行的操作分三步，前两步与直接调用相同，第三步不同，具体为：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 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SP←SP-2  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 IP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入栈</a:t>
            </a:r>
          </a:p>
          <a:p>
            <a:pPr algn="l"/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 IP←EA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计算出目的地址的有效地址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EA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，送入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IP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，以此转移</a:t>
            </a:r>
          </a:p>
          <a:p>
            <a:pPr algn="l"/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7106" name="标题 1">
            <a:extLst>
              <a:ext uri="{FF2B5EF4-FFF2-40B4-BE49-F238E27FC236}">
                <a16:creationId xmlns:a16="http://schemas.microsoft.com/office/drawing/2014/main" id="{D57DCDB9-8FD7-4A99-BD5D-36CB79C5189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47107" name="日期占位符 1">
            <a:extLst>
              <a:ext uri="{FF2B5EF4-FFF2-40B4-BE49-F238E27FC236}">
                <a16:creationId xmlns:a16="http://schemas.microsoft.com/office/drawing/2014/main" id="{B4031F1C-C687-4754-9FB5-6492B78A93D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8AD36D7-227F-4257-8F76-ACC7BAD01F7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>
            <a:extLst>
              <a:ext uri="{FF2B5EF4-FFF2-40B4-BE49-F238E27FC236}">
                <a16:creationId xmlns:a16="http://schemas.microsoft.com/office/drawing/2014/main" id="{6460F784-6868-4D05-B13F-34E079FE5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372475" cy="5505450"/>
          </a:xfrm>
        </p:spPr>
        <p:txBody>
          <a:bodyPr/>
          <a:lstStyle/>
          <a:p>
            <a:pPr algn="l"/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设：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DS=1000H,  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BX=200H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, SI=300H,  (10500H)=3210H</a:t>
            </a:r>
            <a:endParaRPr lang="zh-CN" altLang="en-US" sz="26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/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   CALL   </a:t>
            </a:r>
            <a:r>
              <a:rPr lang="en-US" altLang="x-none" sz="26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BX</a:t>
            </a:r>
          </a:p>
          <a:p>
            <a:pPr algn="l"/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     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转移地址在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中，此调用指令执行后，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IP←0200H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，转到段内偏移地址为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0200H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处执行。</a:t>
            </a:r>
          </a:p>
          <a:p>
            <a:pPr algn="l"/>
            <a:r>
              <a:rPr lang="en-US" altLang="x-none" sz="2600" noProof="1">
                <a:latin typeface="Times New Roman" panose="02020603050405020304" pitchFamily="2" charset="0"/>
              </a:rPr>
              <a:t>   </a:t>
            </a: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CALL   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WORD  PTR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［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BX+SI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］</a:t>
            </a:r>
          </a:p>
          <a:p>
            <a:pPr algn="l"/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子程序入口地址在内存字单元中，其值为 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(16×DS+BX+SI) = (10000H+0200H+0300H)</a:t>
            </a:r>
            <a:endParaRPr lang="zh-CN" altLang="en-US" sz="2600" noProof="1">
              <a:solidFill>
                <a:srgbClr val="008000"/>
              </a:solidFill>
              <a:latin typeface="Times New Roman" panose="02020603050405020304" pitchFamily="2" charset="0"/>
            </a:endParaRPr>
          </a:p>
          <a:p>
            <a:pPr algn="l"/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          = (10500H) = 3210H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，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即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EA=3210H</a:t>
            </a:r>
            <a:endParaRPr lang="zh-CN" altLang="en-US" sz="2600" noProof="1">
              <a:solidFill>
                <a:srgbClr val="0080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/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此指令执行后，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IP←3210H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，转到段内偏移地址为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3210H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</a:t>
            </a:r>
          </a:p>
          <a:p>
            <a:pPr algn="l"/>
            <a:r>
              <a:rPr lang="zh-CN" altLang="en-US" sz="2600" noProof="1">
                <a:latin typeface="Times New Roman" panose="02020603050405020304" pitchFamily="2" charset="0"/>
              </a:rPr>
              <a:t>对应的</a:t>
            </a:r>
            <a:r>
              <a:rPr lang="en-US" altLang="x-none" sz="2600" noProof="1">
                <a:latin typeface="Times New Roman" panose="02020603050405020304" pitchFamily="2" charset="0"/>
              </a:rPr>
              <a:t>RET</a:t>
            </a:r>
            <a:r>
              <a:rPr lang="zh-CN" altLang="en-US" sz="2600" noProof="1">
                <a:latin typeface="Times New Roman" panose="02020603050405020304" pitchFamily="2" charset="0"/>
              </a:rPr>
              <a:t>指令执行的操作与段内直接过程的返回指令类似</a:t>
            </a:r>
            <a:endParaRPr lang="zh-CN" altLang="en-US" sz="2600" noProof="1"/>
          </a:p>
        </p:txBody>
      </p:sp>
      <p:sp>
        <p:nvSpPr>
          <p:cNvPr id="49154" name="标题 1">
            <a:extLst>
              <a:ext uri="{FF2B5EF4-FFF2-40B4-BE49-F238E27FC236}">
                <a16:creationId xmlns:a16="http://schemas.microsoft.com/office/drawing/2014/main" id="{30513051-3DC0-4824-9E6D-28AEE9972EB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过程调用指令（间接调用）</a:t>
            </a:r>
          </a:p>
        </p:txBody>
      </p:sp>
      <p:sp>
        <p:nvSpPr>
          <p:cNvPr id="49155" name="日期占位符 1">
            <a:extLst>
              <a:ext uri="{FF2B5EF4-FFF2-40B4-BE49-F238E27FC236}">
                <a16:creationId xmlns:a16="http://schemas.microsoft.com/office/drawing/2014/main" id="{40E2DDC7-0BF0-40AB-ABD1-122470DFC7E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1F709F7-21AC-442B-B97D-457720F081F8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8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55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8">
                                            <p:txEl>
                                              <p:charRg st="55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107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58">
                                            <p:txEl>
                                              <p:charRg st="107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13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58">
                                            <p:txEl>
                                              <p:charRg st="131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193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058">
                                            <p:txEl>
                                              <p:charRg st="193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233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5058">
                                            <p:txEl>
                                              <p:charRg st="233" end="2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274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058">
                                            <p:txEl>
                                              <p:charRg st="274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862FCB8E-921D-40E5-BAEE-1A0B2F6B689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939800"/>
            <a:ext cx="8229600" cy="2000250"/>
          </a:xfrm>
        </p:spPr>
        <p:txBody>
          <a:bodyPr anchor="ctr"/>
          <a:lstStyle/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>
                <a:solidFill>
                  <a:srgbClr val="CC3300"/>
                </a:solidFill>
              </a:rPr>
              <a:t>（</a:t>
            </a:r>
            <a:r>
              <a:rPr lang="en-US" altLang="zh-CN" sz="2400" b="1">
                <a:solidFill>
                  <a:srgbClr val="CC3300"/>
                </a:solidFill>
              </a:rPr>
              <a:t>3</a:t>
            </a:r>
            <a:r>
              <a:rPr lang="zh-CN" altLang="en-US" sz="2400" b="1">
                <a:solidFill>
                  <a:srgbClr val="CC3300"/>
                </a:solidFill>
              </a:rPr>
              <a:t>） 段间直接调用</a:t>
            </a:r>
            <a:br>
              <a:rPr lang="zh-CN" altLang="en-US" sz="2000"/>
            </a:br>
            <a:r>
              <a:rPr lang="zh-CN" altLang="en-US" sz="2200" b="1">
                <a:solidFill>
                  <a:srgbClr val="0000FF"/>
                </a:solidFill>
              </a:rPr>
              <a:t>例</a:t>
            </a:r>
            <a:r>
              <a:rPr lang="en-US" altLang="zh-CN" sz="2200" b="1">
                <a:solidFill>
                  <a:srgbClr val="0000FF"/>
                </a:solidFill>
              </a:rPr>
              <a:t>3.86</a:t>
            </a:r>
            <a:br>
              <a:rPr lang="zh-CN" altLang="en-US" sz="2200"/>
            </a:br>
            <a:r>
              <a:rPr lang="en-US" altLang="zh-CN" sz="2200" b="1">
                <a:solidFill>
                  <a:srgbClr val="C00000"/>
                </a:solidFill>
              </a:rPr>
              <a:t>CALL</a:t>
            </a:r>
            <a:r>
              <a:rPr lang="en-US" altLang="zh-CN" sz="2200" b="1">
                <a:solidFill>
                  <a:srgbClr val="008000"/>
                </a:solidFill>
              </a:rPr>
              <a:t>   </a:t>
            </a:r>
            <a:r>
              <a:rPr lang="en-US" altLang="zh-CN" sz="2200" b="1">
                <a:solidFill>
                  <a:srgbClr val="0000FF"/>
                </a:solidFill>
              </a:rPr>
              <a:t>FAR  PTR  PROG_F</a:t>
            </a:r>
            <a:r>
              <a:rPr lang="en-US" altLang="zh-CN" sz="2200" b="1">
                <a:solidFill>
                  <a:srgbClr val="008000"/>
                </a:solidFill>
              </a:rPr>
              <a:t>   </a:t>
            </a:r>
            <a:r>
              <a:rPr lang="zh-CN" altLang="en-US" sz="2200" b="1">
                <a:solidFill>
                  <a:srgbClr val="008000"/>
                </a:solidFill>
              </a:rPr>
              <a:t>；</a:t>
            </a:r>
            <a:r>
              <a:rPr lang="en-US" altLang="zh-CN" sz="2200">
                <a:solidFill>
                  <a:schemeClr val="tx1"/>
                </a:solidFill>
              </a:rPr>
              <a:t>PROG_F</a:t>
            </a:r>
            <a:r>
              <a:rPr lang="zh-CN" altLang="en-US" sz="2200">
                <a:solidFill>
                  <a:schemeClr val="tx1"/>
                </a:solidFill>
              </a:rPr>
              <a:t>是一个远标号</a:t>
            </a:r>
            <a:br>
              <a:rPr lang="zh-CN" altLang="en-US" sz="2200">
                <a:solidFill>
                  <a:schemeClr val="tx1"/>
                </a:solidFill>
              </a:rPr>
            </a:br>
            <a:r>
              <a:rPr lang="zh-CN" altLang="en-US" sz="2200">
                <a:solidFill>
                  <a:schemeClr val="tx1"/>
                </a:solidFill>
              </a:rPr>
              <a:t>该指令含</a:t>
            </a:r>
            <a:r>
              <a:rPr lang="en-US" altLang="zh-CN" sz="2200">
                <a:solidFill>
                  <a:schemeClr val="tx1"/>
                </a:solidFill>
              </a:rPr>
              <a:t>5</a:t>
            </a:r>
            <a:r>
              <a:rPr lang="zh-CN" altLang="en-US" sz="2200">
                <a:solidFill>
                  <a:schemeClr val="tx1"/>
                </a:solidFill>
              </a:rPr>
              <a:t>个字节，编码格式为：</a:t>
            </a:r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6472F353-60C6-422C-B4F2-A7CCEEF8F6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4051300"/>
            <a:ext cx="8374062" cy="2489200"/>
          </a:xfrm>
        </p:spPr>
        <p:txBody>
          <a:bodyPr/>
          <a:lstStyle/>
          <a:p>
            <a:pPr algn="l"/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设调用前：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CS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IP=1000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205AH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SS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SP=2500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0050H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，标号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PROG-F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所在单元的地址指针</a:t>
            </a:r>
          </a:p>
          <a:p>
            <a:pPr algn="l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   CS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IP=3000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0500H</a:t>
            </a:r>
          </a:p>
          <a:p>
            <a:pPr algn="l"/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存放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CALL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指令的内存首址为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205AH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，由于该指令长度为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个字节，所以返回地址应为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205FH</a:t>
            </a:r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90F1277A-C16E-4E95-B1C9-E16C74281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3162300"/>
            <a:ext cx="8299450" cy="7270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0" name="标题 1">
            <a:extLst>
              <a:ext uri="{FF2B5EF4-FFF2-40B4-BE49-F238E27FC236}">
                <a16:creationId xmlns:a16="http://schemas.microsoft.com/office/drawing/2014/main" id="{06E6AE5C-021A-4C00-8449-6A5E15A8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过程调用指令</a:t>
            </a:r>
          </a:p>
        </p:txBody>
      </p:sp>
      <p:sp>
        <p:nvSpPr>
          <p:cNvPr id="50181" name="日期占位符 1">
            <a:extLst>
              <a:ext uri="{FF2B5EF4-FFF2-40B4-BE49-F238E27FC236}">
                <a16:creationId xmlns:a16="http://schemas.microsoft.com/office/drawing/2014/main" id="{28701B20-80D4-45AF-8F50-5F7601AD4A2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0A61A5A-23C4-4D11-B4D9-2CBA9406C88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内容占位符 2">
            <a:extLst>
              <a:ext uri="{FF2B5EF4-FFF2-40B4-BE49-F238E27FC236}">
                <a16:creationId xmlns:a16="http://schemas.microsoft.com/office/drawing/2014/main" id="{81C2557C-75B7-479B-86C6-74E3D00FF6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执行远调用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指令的过程如图</a:t>
            </a:r>
            <a:r>
              <a:rPr lang="en-US" altLang="zh-CN" sz="2800">
                <a:latin typeface="Times New Roman" panose="02020603050405020304" pitchFamily="18" charset="0"/>
              </a:rPr>
              <a:t>3.22</a:t>
            </a:r>
            <a:r>
              <a:rPr lang="zh-CN" altLang="en-US" sz="2800">
                <a:latin typeface="Times New Roman" panose="02020603050405020304" pitchFamily="18" charset="0"/>
              </a:rPr>
              <a:t>所示，具体为：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SP←SP-2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SP=0050H-2=004EH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CS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入栈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CS=1000H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入栈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SP←SP-2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SP←004CH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IP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入栈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IP=205FH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入栈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转子程序入口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PROG-F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的段地址和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偏移地址送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CS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IP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CS←3000H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IP←0500H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执行子程序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PROG-F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800"/>
          </a:p>
        </p:txBody>
      </p:sp>
      <p:sp>
        <p:nvSpPr>
          <p:cNvPr id="51202" name="标题 1">
            <a:extLst>
              <a:ext uri="{FF2B5EF4-FFF2-40B4-BE49-F238E27FC236}">
                <a16:creationId xmlns:a16="http://schemas.microsoft.com/office/drawing/2014/main" id="{5DA7FEF3-BAE9-4D3C-B5C0-B4473465B81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51203" name="日期占位符 1">
            <a:extLst>
              <a:ext uri="{FF2B5EF4-FFF2-40B4-BE49-F238E27FC236}">
                <a16:creationId xmlns:a16="http://schemas.microsoft.com/office/drawing/2014/main" id="{F462B610-92E6-4F96-B59D-9256DAAAF3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C48F76F-60AD-48C8-B2DA-1F2970D54241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>
            <a:extLst>
              <a:ext uri="{FF2B5EF4-FFF2-40B4-BE49-F238E27FC236}">
                <a16:creationId xmlns:a16="http://schemas.microsoft.com/office/drawing/2014/main" id="{FCE3BB72-1F59-40D5-807B-962F31410A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过程</a:t>
            </a:r>
            <a:r>
              <a:rPr lang="en-US" altLang="zh-CN" sz="2800">
                <a:latin typeface="Times New Roman" panose="02020603050405020304" pitchFamily="18" charset="0"/>
              </a:rPr>
              <a:t>PROG-F</a:t>
            </a:r>
            <a:r>
              <a:rPr lang="zh-CN" altLang="en-US" sz="2800">
                <a:latin typeface="Times New Roman" panose="02020603050405020304" pitchFamily="18" charset="0"/>
              </a:rPr>
              <a:t>中的</a:t>
            </a:r>
            <a:r>
              <a:rPr lang="en-US" altLang="zh-CN" sz="2800">
                <a:latin typeface="Times New Roman" panose="02020603050405020304" pitchFamily="18" charset="0"/>
              </a:rPr>
              <a:t>RET</a:t>
            </a:r>
            <a:r>
              <a:rPr lang="zh-CN" altLang="en-US" sz="2800">
                <a:latin typeface="Times New Roman" panose="02020603050405020304" pitchFamily="18" charset="0"/>
              </a:rPr>
              <a:t>指令的寻址方式也是段间直接调用，返回时执行的操作为：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SP←SP+2		      SP←004C+2=004EH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008000"/>
                </a:solidFill>
                <a:sym typeface="Wingdings 3" panose="05040102010807070707" pitchFamily="18" charset="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IP←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栈中内容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	      IP←205FH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008000"/>
                </a:solidFill>
                <a:sym typeface="Wingdings 3" panose="05040102010807070707" pitchFamily="18" charset="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SP←SP+2		     SP←004EH+2=0050H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008000"/>
                </a:solidFill>
                <a:sym typeface="Wingdings 3" panose="05040102010807070707" pitchFamily="18" charset="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CS←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栈中内容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	     CS←1000H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所以程序转返回地址</a:t>
            </a:r>
            <a:r>
              <a:rPr lang="en-US" altLang="zh-CN" sz="2800">
                <a:latin typeface="Times New Roman" panose="02020603050405020304" pitchFamily="18" charset="0"/>
              </a:rPr>
              <a:t>CS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IP=1000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205FH</a:t>
            </a:r>
            <a:r>
              <a:rPr lang="zh-CN" altLang="en-US" sz="2800">
                <a:latin typeface="Times New Roman" panose="02020603050405020304" pitchFamily="18" charset="0"/>
              </a:rPr>
              <a:t>处执行</a:t>
            </a:r>
            <a:endParaRPr lang="zh-CN" altLang="en-US" sz="2800"/>
          </a:p>
        </p:txBody>
      </p:sp>
      <p:sp>
        <p:nvSpPr>
          <p:cNvPr id="52226" name="标题 1">
            <a:extLst>
              <a:ext uri="{FF2B5EF4-FFF2-40B4-BE49-F238E27FC236}">
                <a16:creationId xmlns:a16="http://schemas.microsoft.com/office/drawing/2014/main" id="{4A3C6436-9D90-4770-AED1-2F42B674A24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74663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3200" b="1">
                <a:solidFill>
                  <a:schemeClr val="accent2"/>
                </a:solidFill>
              </a:rPr>
              <a:t>过程调用指令（远过程调用的返回指令）</a:t>
            </a:r>
          </a:p>
        </p:txBody>
      </p:sp>
      <p:sp>
        <p:nvSpPr>
          <p:cNvPr id="52227" name="日期占位符 1">
            <a:extLst>
              <a:ext uri="{FF2B5EF4-FFF2-40B4-BE49-F238E27FC236}">
                <a16:creationId xmlns:a16="http://schemas.microsoft.com/office/drawing/2014/main" id="{061283A5-0B1D-4DF7-9BD7-B6B4BBB613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5874732-DA07-4785-A0FE-055A82CB380A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2">
            <a:extLst>
              <a:ext uri="{FF2B5EF4-FFF2-40B4-BE49-F238E27FC236}">
                <a16:creationId xmlns:a16="http://schemas.microsoft.com/office/drawing/2014/main" id="{47AC2251-3B76-42C2-9D4D-9602EC78B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1117600"/>
            <a:ext cx="7138988" cy="55848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0" name="标题 1">
            <a:extLst>
              <a:ext uri="{FF2B5EF4-FFF2-40B4-BE49-F238E27FC236}">
                <a16:creationId xmlns:a16="http://schemas.microsoft.com/office/drawing/2014/main" id="{36FFE522-EB5E-4759-83EC-229471CF2BA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0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53251" name="日期占位符 1">
            <a:extLst>
              <a:ext uri="{FF2B5EF4-FFF2-40B4-BE49-F238E27FC236}">
                <a16:creationId xmlns:a16="http://schemas.microsoft.com/office/drawing/2014/main" id="{53F39869-94ED-447A-BD19-F7C4837E0CF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CCB28C8-26E4-4F35-859D-7813E40222C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2">
            <a:extLst>
              <a:ext uri="{FF2B5EF4-FFF2-40B4-BE49-F238E27FC236}">
                <a16:creationId xmlns:a16="http://schemas.microsoft.com/office/drawing/2014/main" id="{6559D9A6-330B-4FF4-8379-651B1C16E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984250"/>
            <a:ext cx="8372475" cy="5505450"/>
          </a:xfrm>
        </p:spPr>
        <p:txBody>
          <a:bodyPr/>
          <a:lstStyle/>
          <a:p>
            <a:pPr marL="1905" indent="-1905" algn="l"/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（</a:t>
            </a:r>
            <a:r>
              <a:rPr lang="en-US" altLang="x-none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） 段间间接调用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操作数必须是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存储单元</a:t>
            </a:r>
            <a:r>
              <a:rPr lang="zh-CN" altLang="en-US" sz="2600" noProof="1">
                <a:latin typeface="Times New Roman" panose="02020603050405020304" pitchFamily="2" charset="0"/>
              </a:rPr>
              <a:t>，从该单元开始存放的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双字</a:t>
            </a:r>
            <a:r>
              <a:rPr lang="zh-CN" altLang="en-US" sz="2600" noProof="1">
                <a:latin typeface="Times New Roman" panose="02020603050405020304" pitchFamily="2" charset="0"/>
              </a:rPr>
              <a:t>表示</a:t>
            </a:r>
            <a:r>
              <a:rPr lang="zh-CN" altLang="en-US" sz="26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过程的入口地址</a:t>
            </a:r>
            <a:r>
              <a:rPr lang="zh-CN" altLang="en-US" sz="2600" noProof="1">
                <a:latin typeface="Times New Roman" panose="02020603050405020304" pitchFamily="2" charset="0"/>
              </a:rPr>
              <a:t>，指令中用</a:t>
            </a:r>
            <a:r>
              <a:rPr lang="en-US" altLang="x-none" sz="2600" noProof="1">
                <a:latin typeface="Times New Roman" panose="02020603050405020304" pitchFamily="2" charset="0"/>
              </a:rPr>
              <a:t>DWORD  PTR</a:t>
            </a:r>
            <a:r>
              <a:rPr lang="zh-CN" altLang="en-US" sz="2600" noProof="1">
                <a:latin typeface="Times New Roman" panose="02020603050405020304" pitchFamily="2" charset="0"/>
              </a:rPr>
              <a:t>说明是对存储单元进行双字操作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3.87 </a:t>
            </a:r>
            <a:r>
              <a:rPr lang="en-US" altLang="x-none" sz="2600" noProof="1">
                <a:solidFill>
                  <a:srgbClr val="23FFF8"/>
                </a:solidFill>
                <a:latin typeface="Times New Roman" panose="02020603050405020304" pitchFamily="2" charset="0"/>
                <a:ea typeface="楷体_GB2312" pitchFamily="1" charset="-122"/>
              </a:rPr>
              <a:t>  </a:t>
            </a:r>
            <a:r>
              <a:rPr lang="en-US" altLang="x-none" sz="2600" noProof="1">
                <a:solidFill>
                  <a:srgbClr val="C00000"/>
                </a:solidFill>
                <a:latin typeface="Times New Roman" panose="02020603050405020304" pitchFamily="2" charset="0"/>
                <a:ea typeface="楷体_GB2312" pitchFamily="1" charset="-122"/>
              </a:rPr>
              <a:t>CALL   </a:t>
            </a:r>
            <a:r>
              <a:rPr lang="en-US" altLang="x-none" sz="26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DWORD   PTR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设调用前，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DS=1000H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BX=200H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(10200H)=31F4H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(10202H)=5200H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。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执行时先将返址的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CS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：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推入堆栈，再转向过程入口。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指令中操作数地址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=DS×16+BX=10000H+200H=10200H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从中取得的双字就是过程入口地址，即：</a:t>
            </a: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 IP←(10200H)		</a:t>
            </a:r>
            <a:r>
              <a:rPr lang="zh-CN" altLang="en-US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即</a:t>
            </a:r>
            <a:r>
              <a:rPr lang="en-US" altLang="x-none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IP=31F4H</a:t>
            </a:r>
            <a:endParaRPr lang="zh-CN" altLang="en-US" sz="2600" noProof="1">
              <a:solidFill>
                <a:srgbClr val="CC33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 CS←(10202H)		</a:t>
            </a:r>
            <a:r>
              <a:rPr lang="zh-CN" altLang="en-US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即</a:t>
            </a:r>
            <a:r>
              <a:rPr lang="en-US" altLang="x-none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CS=5200H</a:t>
            </a:r>
            <a:endParaRPr lang="zh-CN" altLang="en-US" sz="2600" noProof="1">
              <a:solidFill>
                <a:srgbClr val="CC3300"/>
              </a:solidFill>
            </a:endParaRPr>
          </a:p>
        </p:txBody>
      </p:sp>
      <p:sp>
        <p:nvSpPr>
          <p:cNvPr id="54274" name="标题 1">
            <a:extLst>
              <a:ext uri="{FF2B5EF4-FFF2-40B4-BE49-F238E27FC236}">
                <a16:creationId xmlns:a16="http://schemas.microsoft.com/office/drawing/2014/main" id="{533D8B00-22A3-42C0-B771-B88C89371C8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54275" name="日期占位符 1">
            <a:extLst>
              <a:ext uri="{FF2B5EF4-FFF2-40B4-BE49-F238E27FC236}">
                <a16:creationId xmlns:a16="http://schemas.microsoft.com/office/drawing/2014/main" id="{0BB12486-3DC1-4865-9489-629C15C000A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EF3C9D6-8F60-4565-8FCE-A506EC882002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>
            <a:extLst>
              <a:ext uri="{FF2B5EF4-FFF2-40B4-BE49-F238E27FC236}">
                <a16:creationId xmlns:a16="http://schemas.microsoft.com/office/drawing/2014/main" id="{89C2D82A-246A-446B-81AE-1D4C0068D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314450"/>
            <a:ext cx="7875587" cy="5175250"/>
          </a:xfrm>
        </p:spPr>
        <p:txBody>
          <a:bodyPr/>
          <a:lstStyle/>
          <a:p>
            <a:pPr algn="l">
              <a:buFont typeface="Wingdings" panose="05000000000000000000" pitchFamily="2" charset="2"/>
              <a:buNone/>
            </a:pPr>
            <a:r>
              <a:rPr lang="en-US" altLang="x-none" sz="2800" noProof="1">
                <a:latin typeface="Times New Roman" panose="02020603050405020304" pitchFamily="2" charset="0"/>
              </a:rPr>
              <a:t>8086</a:t>
            </a:r>
            <a:r>
              <a:rPr lang="zh-CN" altLang="en-US" sz="2800" noProof="1">
                <a:latin typeface="Times New Roman" panose="02020603050405020304" pitchFamily="2" charset="0"/>
              </a:rPr>
              <a:t>还有另一种带参数的返回指令，形式为：</a:t>
            </a:r>
          </a:p>
          <a:p>
            <a:pPr algn="l"/>
            <a:r>
              <a:rPr lang="en-US" altLang="x-none" sz="2800" noProof="1">
                <a:latin typeface="Times New Roman" panose="02020603050405020304" pitchFamily="2" charset="0"/>
              </a:rPr>
              <a:t>            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RET  n</a:t>
            </a:r>
          </a:p>
          <a:p>
            <a:pPr algn="l"/>
            <a:endParaRPr lang="en-US" altLang="x-none" sz="2800" noProof="1">
              <a:latin typeface="Times New Roman" panose="02020603050405020304" pitchFamily="2" charset="0"/>
            </a:endParaRPr>
          </a:p>
          <a:p>
            <a:pPr algn="l"/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称为弹出值，它让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在弹出返回地址后，再从堆栈中弹出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个字节的数据，也就是让</a:t>
            </a:r>
            <a:r>
              <a:rPr lang="en-US" altLang="x-none" sz="2800" noProof="1">
                <a:latin typeface="Times New Roman" panose="02020603050405020304" pitchFamily="2" charset="0"/>
              </a:rPr>
              <a:t>SP</a:t>
            </a:r>
            <a:r>
              <a:rPr lang="zh-CN" altLang="en-US" sz="2800" noProof="1">
                <a:latin typeface="Times New Roman" panose="02020603050405020304" pitchFamily="2" charset="0"/>
              </a:rPr>
              <a:t>再加上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。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0000~FFFFH</a:t>
            </a:r>
            <a:r>
              <a:rPr lang="zh-CN" altLang="en-US" sz="2800" noProof="1">
                <a:latin typeface="Times New Roman" panose="02020603050405020304" pitchFamily="2" charset="0"/>
              </a:rPr>
              <a:t>范围内的任何一个偶数</a:t>
            </a:r>
          </a:p>
          <a:p>
            <a:pPr algn="l"/>
            <a:endParaRPr lang="zh-CN" altLang="en-US" sz="2800" noProof="1">
              <a:latin typeface="Times New Roman" panose="02020603050405020304" pitchFamily="2" charset="0"/>
            </a:endParaRPr>
          </a:p>
          <a:p>
            <a:pPr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例如，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指令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RET 8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，表示从堆栈中弹出地址后，再使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SP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的值加上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8</a:t>
            </a:r>
          </a:p>
          <a:p>
            <a:pPr algn="l"/>
            <a:r>
              <a:rPr lang="zh-CN" altLang="en-US" sz="3200" noProof="1"/>
              <a:t>        </a:t>
            </a:r>
            <a:r>
              <a:rPr lang="zh-CN" altLang="en-US" sz="32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问题：这有什么用呢？</a:t>
            </a:r>
          </a:p>
        </p:txBody>
      </p:sp>
      <p:sp>
        <p:nvSpPr>
          <p:cNvPr id="55298" name="标题 1">
            <a:extLst>
              <a:ext uri="{FF2B5EF4-FFF2-40B4-BE49-F238E27FC236}">
                <a16:creationId xmlns:a16="http://schemas.microsoft.com/office/drawing/2014/main" id="{F59BD5C4-B394-425D-9E12-54CF3C08D34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  <a:r>
              <a:rPr lang="en-US" altLang="zh-CN" sz="4400" b="1">
                <a:solidFill>
                  <a:schemeClr val="accent2"/>
                </a:solidFill>
              </a:rPr>
              <a:t>(</a:t>
            </a:r>
            <a:r>
              <a:rPr lang="en-US" altLang="zh-CN" sz="4400" b="1">
                <a:solidFill>
                  <a:srgbClr val="CC3300"/>
                </a:solidFill>
                <a:latin typeface="Times New Roman" panose="02020603050405020304" pitchFamily="18" charset="0"/>
              </a:rPr>
              <a:t>RET  n</a:t>
            </a:r>
            <a:r>
              <a:rPr lang="en-US" altLang="zh-CN" sz="4400" b="1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5299" name="日期占位符 1">
            <a:extLst>
              <a:ext uri="{FF2B5EF4-FFF2-40B4-BE49-F238E27FC236}">
                <a16:creationId xmlns:a16="http://schemas.microsoft.com/office/drawing/2014/main" id="{59836F2A-C1CA-491E-8C46-8B9B6199398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28850F7-6DAF-4F7C-A678-618A8DF041A0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>
            <a:extLst>
              <a:ext uri="{FF2B5EF4-FFF2-40B4-BE49-F238E27FC236}">
                <a16:creationId xmlns:a16="http://schemas.microsoft.com/office/drawing/2014/main" id="{8EB935EF-201E-4ABF-B725-07E6FCC39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314450"/>
            <a:ext cx="7875587" cy="5175250"/>
          </a:xfrm>
        </p:spPr>
        <p:txBody>
          <a:bodyPr/>
          <a:lstStyle/>
          <a:p>
            <a:pPr marL="457200" indent="-457200" algn="l">
              <a:buFont typeface="Wingdings" panose="05000000000000000000" charset="0"/>
              <a:buChar char="l"/>
            </a:pP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RET  n  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引出的子程序参数传递问题</a:t>
            </a:r>
          </a:p>
          <a:p>
            <a:pPr algn="l"/>
            <a:r>
              <a:rPr lang="en-US" sz="2800" noProof="1">
                <a:latin typeface="Times New Roman" panose="02020603050405020304" pitchFamily="2" charset="0"/>
              </a:rPr>
              <a:t>1</a:t>
            </a:r>
            <a:r>
              <a:rPr lang="zh-CN" altLang="en-US" sz="2800" noProof="1">
                <a:latin typeface="Times New Roman" panose="02020603050405020304" pitchFamily="2" charset="0"/>
              </a:rPr>
              <a:t>）可以通过寄存器传递参数</a:t>
            </a:r>
          </a:p>
          <a:p>
            <a:pPr algn="l"/>
            <a:r>
              <a:rPr lang="en-US" altLang="zh-CN" sz="2800" noProof="1">
                <a:latin typeface="Times New Roman" panose="02020603050405020304" pitchFamily="2" charset="0"/>
              </a:rPr>
              <a:t>2</a:t>
            </a:r>
            <a:r>
              <a:rPr lang="zh-CN" altLang="en-US" sz="2800" noProof="1">
                <a:latin typeface="Times New Roman" panose="02020603050405020304" pitchFamily="2" charset="0"/>
              </a:rPr>
              <a:t>）可以通过存储器传递参数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    存储器的寻址方式都可以用到；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    通过堆栈传递是一种方便的方式，具体方法是：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       </a:t>
            </a:r>
            <a:r>
              <a:rPr lang="zh-CN" altLang="en-US" sz="2400" noProof="1">
                <a:solidFill>
                  <a:srgbClr val="0000FF"/>
                </a:solidFill>
                <a:latin typeface="Times New Roman" panose="02020603050405020304" pitchFamily="2" charset="0"/>
              </a:rPr>
              <a:t> 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在执行一些调用子程序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将参数入栈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供子程序使用，子程序用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堆栈指针（</a:t>
            </a:r>
            <a:r>
              <a:rPr lang="en-US" altLang="zh-CN" sz="2400" b="1" noProof="1">
                <a:solidFill>
                  <a:srgbClr val="C00000"/>
                </a:solidFill>
                <a:sym typeface="+mn-ea"/>
              </a:rPr>
              <a:t>SS:SP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找到这些参数。当调用子程序返回时，参数已经不会使用，所以修改指针到参数入栈前的值，这时候需要用到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400" b="1" noProof="1">
                <a:solidFill>
                  <a:srgbClr val="C00000"/>
                </a:solidFill>
                <a:sym typeface="+mn-ea"/>
              </a:rPr>
              <a:t>RET n</a:t>
            </a:r>
            <a:r>
              <a:rPr lang="zh-CN" altLang="zh-CN" sz="2400" b="1" noProof="1">
                <a:solidFill>
                  <a:srgbClr val="0000FF"/>
                </a:solidFill>
                <a:sym typeface="+mn-ea"/>
              </a:rPr>
              <a:t>，因为如果不跳过这些数据，堆栈指针就乱序了。</a:t>
            </a:r>
          </a:p>
          <a:p>
            <a:pPr algn="l"/>
            <a:endParaRPr lang="zh-CN" altLang="en-US" sz="3200" b="1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6322" name="标题 1">
            <a:extLst>
              <a:ext uri="{FF2B5EF4-FFF2-40B4-BE49-F238E27FC236}">
                <a16:creationId xmlns:a16="http://schemas.microsoft.com/office/drawing/2014/main" id="{5E158A71-EC7C-48A8-8F28-A6670E8BE0E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  <a:r>
              <a:rPr lang="en-US" altLang="zh-CN" sz="4400" b="1">
                <a:solidFill>
                  <a:schemeClr val="accent2"/>
                </a:solidFill>
              </a:rPr>
              <a:t>(</a:t>
            </a:r>
            <a:r>
              <a:rPr lang="en-US" altLang="zh-CN" sz="4400" b="1">
                <a:solidFill>
                  <a:srgbClr val="CC33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RET  n</a:t>
            </a:r>
            <a:r>
              <a:rPr lang="en-US" altLang="zh-CN" sz="4400" b="1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6323" name="日期占位符 1">
            <a:extLst>
              <a:ext uri="{FF2B5EF4-FFF2-40B4-BE49-F238E27FC236}">
                <a16:creationId xmlns:a16="http://schemas.microsoft.com/office/drawing/2014/main" id="{08498EC7-7B82-4425-88E6-FEE73ADA26C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D93FDF0-853A-47EA-A494-8CAFAB534461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>
            <a:extLst>
              <a:ext uri="{FF2B5EF4-FFF2-40B4-BE49-F238E27FC236}">
                <a16:creationId xmlns:a16="http://schemas.microsoft.com/office/drawing/2014/main" id="{AF74A301-428E-49A3-960D-B79035475E2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2. </a:t>
            </a:r>
            <a:r>
              <a:rPr lang="zh-CN" altLang="en-US" sz="3600" b="1">
                <a:solidFill>
                  <a:schemeClr val="accent2"/>
                </a:solidFill>
              </a:rPr>
              <a:t>条件转移指令</a:t>
            </a:r>
            <a:r>
              <a:rPr lang="en-US" altLang="zh-CN" sz="3600" b="1">
                <a:solidFill>
                  <a:schemeClr val="accent2"/>
                </a:solidFill>
              </a:rPr>
              <a:t> (Conditional Transfer)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021500EC-178E-4CE1-AEAE-E97BC1E55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206500"/>
            <a:ext cx="8142287" cy="5283200"/>
          </a:xfrm>
        </p:spPr>
        <p:txBody>
          <a:bodyPr/>
          <a:lstStyle/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将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上条指令执行后的状态标志</a:t>
            </a:r>
            <a:r>
              <a:rPr lang="zh-CN" altLang="en-US" sz="2800" noProof="1">
                <a:latin typeface="Times New Roman" panose="02020603050405020304" pitchFamily="2" charset="0"/>
              </a:rPr>
              <a:t>，作为测试条件，来决定是否转移。当条件成立，程序转向指令中给出的目的地址去执行；否则，仍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顺序执行</a:t>
            </a:r>
            <a:r>
              <a:rPr lang="zh-CN" altLang="en-US" sz="2800" noProof="1">
                <a:latin typeface="Times New Roman" panose="02020603050405020304" pitchFamily="2" charset="0"/>
              </a:rPr>
              <a:t>，例如：</a:t>
            </a:r>
          </a:p>
          <a:p>
            <a:pPr marL="1905" algn="l"/>
            <a:r>
              <a:rPr lang="zh-CN" altLang="en-US" sz="2800" noProof="1">
                <a:latin typeface="Times New Roman" panose="02020603050405020304" pitchFamily="2" charset="0"/>
              </a:rPr>
              <a:t>           </a:t>
            </a: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 pitchFamily="2" charset="0"/>
              </a:rPr>
              <a:t>JC</a:t>
            </a:r>
            <a:r>
              <a:rPr lang="en-US" altLang="zh-CN" sz="2800" noProof="1">
                <a:latin typeface="Times New Roman" panose="02020603050405020304" pitchFamily="2" charset="0"/>
              </a:rPr>
              <a:t>    </a:t>
            </a:r>
            <a:r>
              <a:rPr lang="en-US" altLang="zh-CN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AGAIN</a:t>
            </a:r>
            <a:r>
              <a:rPr lang="en-US" altLang="zh-CN" sz="2800" noProof="1">
                <a:latin typeface="Times New Roman" panose="02020603050405020304" pitchFamily="2" charset="0"/>
              </a:rPr>
              <a:t>   </a:t>
            </a:r>
            <a:r>
              <a:rPr lang="en-US" altLang="zh-CN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; </a:t>
            </a:r>
            <a:r>
              <a:rPr lang="zh-CN" altLang="en-US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如果</a:t>
            </a:r>
            <a:r>
              <a:rPr lang="en-US" altLang="zh-CN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CF=1,</a:t>
            </a:r>
            <a:r>
              <a:rPr lang="zh-CN" altLang="en-US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跳转到</a:t>
            </a:r>
            <a:r>
              <a:rPr lang="en-US" altLang="zh-CN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AGAIN</a:t>
            </a:r>
            <a:r>
              <a:rPr lang="zh-CN" altLang="en-US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执行</a:t>
            </a:r>
          </a:p>
          <a:p>
            <a:pPr marL="1905" algn="l"/>
            <a:endParaRPr lang="zh-CN" altLang="en-US" sz="2400" noProof="1">
              <a:solidFill>
                <a:srgbClr val="0080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条件转移均为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段内短转移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（注意！）</a:t>
            </a:r>
            <a:r>
              <a:rPr lang="zh-CN" altLang="en-US" sz="2800" noProof="1">
                <a:latin typeface="Times New Roman" panose="02020603050405020304" pitchFamily="2" charset="0"/>
              </a:rPr>
              <a:t>，转移指令与目的地址必须在同一代码段中。转移距离范围为</a:t>
            </a:r>
            <a:r>
              <a:rPr lang="en-US" altLang="x-none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-128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～</a:t>
            </a:r>
            <a:r>
              <a:rPr lang="en-US" altLang="x-none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+127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字节</a:t>
            </a:r>
            <a:r>
              <a:rPr lang="zh-CN" altLang="en-US" sz="2800" noProof="1">
                <a:latin typeface="Times New Roman" panose="02020603050405020304" pitchFamily="2" charset="0"/>
              </a:rPr>
              <a:t>。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位偏移量需用符号扩展法扩展到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位后才能与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相加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endParaRPr lang="zh-CN" altLang="en-US" sz="2400" b="1" noProof="1">
              <a:solidFill>
                <a:srgbClr val="0000FF"/>
              </a:solidFill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/>
              <a:t>条件转移指令共</a:t>
            </a:r>
            <a:r>
              <a:rPr lang="en-US" altLang="x-none" sz="2800" noProof="1"/>
              <a:t>18</a:t>
            </a:r>
            <a:r>
              <a:rPr lang="zh-CN" altLang="en-US" sz="2800" noProof="1"/>
              <a:t>条，归类成</a:t>
            </a:r>
            <a:r>
              <a:rPr lang="zh-CN" altLang="en-US" sz="2800" b="1" noProof="1">
                <a:solidFill>
                  <a:srgbClr val="CC3300"/>
                </a:solidFill>
              </a:rPr>
              <a:t>直接标志转移</a:t>
            </a:r>
            <a:r>
              <a:rPr lang="zh-CN" altLang="en-US" sz="2800" noProof="1"/>
              <a:t>和</a:t>
            </a:r>
            <a:r>
              <a:rPr lang="zh-CN" altLang="en-US" sz="2800" b="1" noProof="1">
                <a:solidFill>
                  <a:srgbClr val="CC3300"/>
                </a:solidFill>
              </a:rPr>
              <a:t>间接标志转移</a:t>
            </a:r>
            <a:r>
              <a:rPr lang="zh-CN" altLang="en-US" sz="2800" noProof="1"/>
              <a:t>两大类</a:t>
            </a:r>
          </a:p>
        </p:txBody>
      </p:sp>
      <p:sp>
        <p:nvSpPr>
          <p:cNvPr id="57347" name="日期占位符 1">
            <a:extLst>
              <a:ext uri="{FF2B5EF4-FFF2-40B4-BE49-F238E27FC236}">
                <a16:creationId xmlns:a16="http://schemas.microsoft.com/office/drawing/2014/main" id="{69724CE7-F67B-44C9-8E45-FEF01ED55F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041A926-C8EB-42B4-9873-5ACDFD869646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63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charRg st="63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174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charRg st="174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2">
            <a:extLst>
              <a:ext uri="{FF2B5EF4-FFF2-40B4-BE49-F238E27FC236}">
                <a16:creationId xmlns:a16="http://schemas.microsoft.com/office/drawing/2014/main" id="{7AE8402A-7EE4-4C40-A0A5-64FF688C9C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317500"/>
            <a:ext cx="8372475" cy="21336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chemeClr val="accent2"/>
                </a:solidFill>
              </a:rPr>
              <a:t>1) </a:t>
            </a:r>
            <a:r>
              <a:rPr lang="zh-CN" altLang="en-US" sz="2800" b="1">
                <a:solidFill>
                  <a:schemeClr val="accent2"/>
                </a:solidFill>
              </a:rPr>
              <a:t>直接标志转移指令</a:t>
            </a:r>
          </a:p>
          <a:p>
            <a:pPr algn="l">
              <a:spcBef>
                <a:spcPct val="6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助记符中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直接给出标志状态测试条件</a:t>
            </a:r>
            <a:r>
              <a:rPr lang="zh-CN" altLang="en-US" sz="2400">
                <a:latin typeface="Times New Roman" panose="02020603050405020304" pitchFamily="18" charset="0"/>
              </a:rPr>
              <a:t>，以</a:t>
            </a:r>
            <a:r>
              <a:rPr lang="en-US" altLang="zh-CN" sz="2400">
                <a:latin typeface="Times New Roman" panose="02020603050405020304" pitchFamily="18" charset="0"/>
              </a:rPr>
              <a:t>CF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ZF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SF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OF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</a:rPr>
              <a:t>PF</a:t>
            </a:r>
            <a:r>
              <a:rPr lang="zh-CN" altLang="en-US" sz="2400">
                <a:latin typeface="Times New Roman" panose="02020603050405020304" pitchFamily="18" charset="0"/>
              </a:rPr>
              <a:t>等</a:t>
            </a:r>
            <a:r>
              <a:rPr lang="en-US" altLang="zh-CN" sz="2400">
                <a:latin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</a:rPr>
              <a:t>个标志的</a:t>
            </a:r>
            <a:r>
              <a:rPr lang="en-US" altLang="zh-CN" sz="2400">
                <a:latin typeface="Times New Roman" panose="02020603050405020304" pitchFamily="18" charset="0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</a:rPr>
              <a:t>种状态为判断条件，形成</a:t>
            </a:r>
            <a:r>
              <a:rPr lang="en-US" altLang="zh-CN" sz="2400">
                <a:latin typeface="Times New Roman" panose="02020603050405020304" pitchFamily="18" charset="0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</a:rPr>
              <a:t>条指令，如表</a:t>
            </a:r>
            <a:r>
              <a:rPr lang="en-US" altLang="zh-CN" sz="2400">
                <a:latin typeface="Times New Roman" panose="02020603050405020304" pitchFamily="18" charset="0"/>
              </a:rPr>
              <a:t>3.11</a:t>
            </a:r>
            <a:r>
              <a:rPr lang="zh-CN" altLang="en-US" sz="2400">
                <a:latin typeface="Times New Roman" panose="02020603050405020304" pitchFamily="18" charset="0"/>
              </a:rPr>
              <a:t>。有的指令有两种助记符，代表同样的指令，如</a:t>
            </a:r>
            <a:r>
              <a:rPr lang="en-US" altLang="zh-CN" sz="2400">
                <a:latin typeface="Times New Roman" panose="02020603050405020304" pitchFamily="18" charset="0"/>
              </a:rPr>
              <a:t>JZ/JE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53251" name="Picture 2">
            <a:extLst>
              <a:ext uri="{FF2B5EF4-FFF2-40B4-BE49-F238E27FC236}">
                <a16:creationId xmlns:a16="http://schemas.microsoft.com/office/drawing/2014/main" id="{3D4FD469-1C2A-4CE7-A956-9821834F7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2346325"/>
            <a:ext cx="5911850" cy="42894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371" name="日期占位符 1">
            <a:extLst>
              <a:ext uri="{FF2B5EF4-FFF2-40B4-BE49-F238E27FC236}">
                <a16:creationId xmlns:a16="http://schemas.microsoft.com/office/drawing/2014/main" id="{218DB19D-3ECC-4A7F-BB09-922FCBAB114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85597DF-DA0A-48A3-BF34-E83420F2A733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>
            <a:extLst>
              <a:ext uri="{FF2B5EF4-FFF2-40B4-BE49-F238E27FC236}">
                <a16:creationId xmlns:a16="http://schemas.microsoft.com/office/drawing/2014/main" id="{E352B470-EBE4-4519-9CF2-25C881A3CB8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200" b="1">
                <a:solidFill>
                  <a:schemeClr val="accent2"/>
                </a:solidFill>
              </a:rPr>
              <a:t>2. </a:t>
            </a:r>
            <a:r>
              <a:rPr lang="zh-CN" altLang="en-US" sz="3200" b="1">
                <a:solidFill>
                  <a:schemeClr val="accent2"/>
                </a:solidFill>
              </a:rPr>
              <a:t>条件转移指令</a:t>
            </a:r>
            <a:r>
              <a:rPr lang="en-US" altLang="zh-CN" sz="3200" b="1">
                <a:solidFill>
                  <a:schemeClr val="accent2"/>
                </a:solidFill>
              </a:rPr>
              <a:t>（</a:t>
            </a:r>
            <a:r>
              <a:rPr lang="zh-CN" altLang="en-US" sz="3200" b="1">
                <a:solidFill>
                  <a:schemeClr val="accent2"/>
                </a:solidFill>
              </a:rPr>
              <a:t>直接标志转移指令举例）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73F24012-F6CD-4DAC-80DB-B81D67D8FA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719263"/>
            <a:ext cx="8372475" cy="4770437"/>
          </a:xfrm>
        </p:spPr>
        <p:txBody>
          <a:bodyPr/>
          <a:lstStyle/>
          <a:p>
            <a:pPr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3.88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求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BL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中的两数之和，若有进位，则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，否则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清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程序如下：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ADD	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BL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；两数相加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JC        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；若有进位，转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NEXT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   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；无进位，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清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   EXIT		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；往下执行</a:t>
            </a:r>
          </a:p>
          <a:p>
            <a:pPr algn="l"/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；有进位，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EXIT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…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；程序继续进行</a:t>
            </a:r>
          </a:p>
        </p:txBody>
      </p:sp>
      <p:sp>
        <p:nvSpPr>
          <p:cNvPr id="59395" name="日期占位符 1">
            <a:extLst>
              <a:ext uri="{FF2B5EF4-FFF2-40B4-BE49-F238E27FC236}">
                <a16:creationId xmlns:a16="http://schemas.microsoft.com/office/drawing/2014/main" id="{71BFB8F9-0F63-48C6-9018-D46403A9FB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2BC5B75-36EC-42F8-A20A-0E1F16400FF9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>
            <a:extLst>
              <a:ext uri="{FF2B5EF4-FFF2-40B4-BE49-F238E27FC236}">
                <a16:creationId xmlns:a16="http://schemas.microsoft.com/office/drawing/2014/main" id="{B4415FC1-9BD6-4200-8009-EEC72D412E8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条件转移指令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50BD3630-865D-465E-BEC7-8EDCD1839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449388"/>
            <a:ext cx="7956550" cy="4691062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间接标志转移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不在指令助记符中直接给出标志状态位的测试条件，但仍以某一个或几个标志的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状态组合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为测试条件</a:t>
            </a:r>
            <a:r>
              <a:rPr lang="zh-CN" altLang="en-US" sz="2800" noProof="1">
                <a:latin typeface="Times New Roman" panose="02020603050405020304" pitchFamily="2" charset="0"/>
              </a:rPr>
              <a:t>，若条件成立则转移，否则顺序往下执行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间接标志转移指令共有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条，列于表</a:t>
            </a:r>
            <a:r>
              <a:rPr lang="en-US" altLang="x-none" sz="2800" noProof="1">
                <a:latin typeface="Times New Roman" panose="02020603050405020304" pitchFamily="2" charset="0"/>
              </a:rPr>
              <a:t>3.12</a:t>
            </a:r>
            <a:r>
              <a:rPr lang="zh-CN" altLang="en-US" sz="2800" noProof="1">
                <a:latin typeface="Times New Roman" panose="02020603050405020304" pitchFamily="2" charset="0"/>
              </a:rPr>
              <a:t>中。每条指令都有两种不同的助记符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在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无符号</a:t>
            </a:r>
            <a:r>
              <a:rPr lang="zh-CN" altLang="en-US" sz="2800" noProof="1">
                <a:latin typeface="Times New Roman" panose="02020603050405020304" pitchFamily="2" charset="0"/>
              </a:rPr>
              <a:t>数比较测试指令中，指令助记符中的</a:t>
            </a:r>
            <a:r>
              <a:rPr lang="en-US" altLang="x-none" sz="2800" noProof="1">
                <a:latin typeface="Times New Roman" panose="02020603050405020304" pitchFamily="2" charset="0"/>
              </a:rPr>
              <a:t>“A”</a:t>
            </a:r>
            <a:r>
              <a:rPr lang="zh-CN" altLang="en-US" sz="2800" noProof="1">
                <a:latin typeface="Times New Roman" panose="02020603050405020304" pitchFamily="2" charset="0"/>
              </a:rPr>
              <a:t>是英文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Above</a:t>
            </a:r>
            <a:r>
              <a:rPr lang="zh-CN" altLang="en-US" sz="2800" noProof="1">
                <a:latin typeface="Times New Roman" panose="02020603050405020304" pitchFamily="2" charset="0"/>
              </a:rPr>
              <a:t>的缩写，表示</a:t>
            </a:r>
            <a:r>
              <a:rPr lang="en-US" altLang="x-none" sz="2800" noProof="1">
                <a:latin typeface="Times New Roman" panose="02020603050405020304" pitchFamily="2" charset="0"/>
              </a:rPr>
              <a:t>“</a:t>
            </a:r>
            <a:r>
              <a:rPr lang="zh-CN" altLang="en-US" sz="2800" noProof="1">
                <a:latin typeface="Times New Roman" panose="02020603050405020304" pitchFamily="2" charset="0"/>
              </a:rPr>
              <a:t>高于</a:t>
            </a:r>
            <a:r>
              <a:rPr lang="en-US" altLang="x-none" sz="2800" noProof="1">
                <a:latin typeface="Times New Roman" panose="02020603050405020304" pitchFamily="2" charset="0"/>
              </a:rPr>
              <a:t>”</a:t>
            </a:r>
            <a:r>
              <a:rPr lang="zh-CN" altLang="en-US" sz="2800" noProof="1">
                <a:latin typeface="Times New Roman" panose="02020603050405020304" pitchFamily="2" charset="0"/>
              </a:rPr>
              <a:t>之意，</a:t>
            </a:r>
            <a:r>
              <a:rPr lang="en-US" altLang="x-none" sz="2800" noProof="1">
                <a:latin typeface="Times New Roman" panose="02020603050405020304" pitchFamily="2" charset="0"/>
              </a:rPr>
              <a:t>“B”</a:t>
            </a:r>
            <a:r>
              <a:rPr lang="zh-CN" altLang="en-US" sz="2800" noProof="1">
                <a:latin typeface="Times New Roman" panose="02020603050405020304" pitchFamily="2" charset="0"/>
              </a:rPr>
              <a:t>是英文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Below</a:t>
            </a:r>
            <a:r>
              <a:rPr lang="zh-CN" altLang="en-US" sz="2800" noProof="1">
                <a:latin typeface="Times New Roman" panose="02020603050405020304" pitchFamily="2" charset="0"/>
              </a:rPr>
              <a:t>的缩写，表示</a:t>
            </a:r>
            <a:r>
              <a:rPr lang="en-US" altLang="x-none" sz="2800" noProof="1">
                <a:latin typeface="Times New Roman" panose="02020603050405020304" pitchFamily="2" charset="0"/>
              </a:rPr>
              <a:t>“</a:t>
            </a:r>
            <a:r>
              <a:rPr lang="zh-CN" altLang="en-US" sz="2800" noProof="1">
                <a:latin typeface="Times New Roman" panose="02020603050405020304" pitchFamily="2" charset="0"/>
              </a:rPr>
              <a:t>低于</a:t>
            </a:r>
            <a:r>
              <a:rPr lang="en-US" altLang="x-none" sz="2800" noProof="1">
                <a:latin typeface="Times New Roman" panose="02020603050405020304" pitchFamily="2" charset="0"/>
              </a:rPr>
              <a:t>”</a:t>
            </a:r>
            <a:r>
              <a:rPr lang="zh-CN" altLang="en-US" sz="2800" noProof="1">
                <a:latin typeface="Times New Roman" panose="02020603050405020304" pitchFamily="2" charset="0"/>
              </a:rPr>
              <a:t>之意</a:t>
            </a:r>
            <a:endParaRPr lang="zh-CN" altLang="en-US" sz="3200" noProof="1"/>
          </a:p>
        </p:txBody>
      </p:sp>
      <p:sp>
        <p:nvSpPr>
          <p:cNvPr id="60419" name="日期占位符 1">
            <a:extLst>
              <a:ext uri="{FF2B5EF4-FFF2-40B4-BE49-F238E27FC236}">
                <a16:creationId xmlns:a16="http://schemas.microsoft.com/office/drawing/2014/main" id="{DAF71D4C-A81A-442D-A435-3CC5D063290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1FFDBA0-F7A6-4B72-B3E5-C322129E4E35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>
            <a:extLst>
              <a:ext uri="{FF2B5EF4-FFF2-40B4-BE49-F238E27FC236}">
                <a16:creationId xmlns:a16="http://schemas.microsoft.com/office/drawing/2014/main" id="{5AE3C1CC-8BA6-4D18-909A-1302A1F067A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条件转移指令</a:t>
            </a:r>
          </a:p>
        </p:txBody>
      </p:sp>
      <p:sp>
        <p:nvSpPr>
          <p:cNvPr id="61442" name="内容占位符 2">
            <a:extLst>
              <a:ext uri="{FF2B5EF4-FFF2-40B4-BE49-F238E27FC236}">
                <a16:creationId xmlns:a16="http://schemas.microsoft.com/office/drawing/2014/main" id="{83CD1128-8188-4156-BFA8-9AFBC08A83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58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CC3300"/>
                </a:solidFill>
              </a:rPr>
              <a:t>间接标志条件转移指令</a:t>
            </a:r>
          </a:p>
        </p:txBody>
      </p:sp>
      <p:pic>
        <p:nvPicPr>
          <p:cNvPr id="61443" name="Picture 2">
            <a:extLst>
              <a:ext uri="{FF2B5EF4-FFF2-40B4-BE49-F238E27FC236}">
                <a16:creationId xmlns:a16="http://schemas.microsoft.com/office/drawing/2014/main" id="{61473450-3E90-4B77-B4C9-85BC02BB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95500"/>
            <a:ext cx="8559800" cy="384810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4" name="内容占位符 2">
            <a:extLst>
              <a:ext uri="{FF2B5EF4-FFF2-40B4-BE49-F238E27FC236}">
                <a16:creationId xmlns:a16="http://schemas.microsoft.com/office/drawing/2014/main" id="{026E4A65-4389-476D-8341-50A7052CD18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5763" y="6051550"/>
            <a:ext cx="83724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有符号数：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bove 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low  </a:t>
            </a:r>
            <a:r>
              <a:rPr lang="zh-CN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有符号数：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reat 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ess</a:t>
            </a:r>
          </a:p>
        </p:txBody>
      </p:sp>
      <p:sp>
        <p:nvSpPr>
          <p:cNvPr id="61445" name="日期占位符 1">
            <a:extLst>
              <a:ext uri="{FF2B5EF4-FFF2-40B4-BE49-F238E27FC236}">
                <a16:creationId xmlns:a16="http://schemas.microsoft.com/office/drawing/2014/main" id="{A218CCD7-C94C-40CB-82E9-F89CF61485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0532C3E-2A1B-4F89-997D-34F9C6EC380F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lus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>
            <a:extLst>
              <a:ext uri="{FF2B5EF4-FFF2-40B4-BE49-F238E27FC236}">
                <a16:creationId xmlns:a16="http://schemas.microsoft.com/office/drawing/2014/main" id="{12A6C3CA-0051-4C16-8629-BCD529F4923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200" b="1">
                <a:solidFill>
                  <a:schemeClr val="accent2"/>
                </a:solidFill>
              </a:rPr>
              <a:t>2. </a:t>
            </a:r>
            <a:r>
              <a:rPr lang="zh-CN" altLang="en-US" sz="3200" b="1">
                <a:solidFill>
                  <a:schemeClr val="accent2"/>
                </a:solidFill>
              </a:rPr>
              <a:t>条件转移指令</a:t>
            </a:r>
            <a:r>
              <a:rPr lang="en-US" altLang="zh-CN" sz="3200" b="1">
                <a:solidFill>
                  <a:schemeClr val="accent2"/>
                </a:solidFill>
              </a:rPr>
              <a:t>（</a:t>
            </a:r>
            <a:r>
              <a:rPr lang="zh-CN" altLang="en-US" sz="3200" b="1">
                <a:solidFill>
                  <a:schemeClr val="accent2"/>
                </a:solidFill>
              </a:rPr>
              <a:t>间接标志转移指令举例）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57347" name="内容占位符 2">
            <a:extLst>
              <a:ext uri="{FF2B5EF4-FFF2-40B4-BE49-F238E27FC236}">
                <a16:creationId xmlns:a16="http://schemas.microsoft.com/office/drawing/2014/main" id="{3BC22895-DF67-41DC-B97E-56D8628A3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50" y="1449388"/>
            <a:ext cx="8372475" cy="5040312"/>
          </a:xfrm>
        </p:spPr>
        <p:txBody>
          <a:bodyPr/>
          <a:lstStyle/>
          <a:p>
            <a:pPr marL="1905" indent="-1905" algn="l"/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3.89 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AL=F0H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BL=35H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，执行指令</a:t>
            </a:r>
          </a:p>
          <a:p>
            <a:pPr marL="1905" indent="-1905" algn="l"/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  CMP  AL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BL	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AL-BL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，但是不改变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AL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的值</a:t>
            </a:r>
          </a:p>
          <a:p>
            <a:pPr marL="1905" indent="-1905" algn="l"/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  JAE	   NEXT        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AL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大于等于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，则转到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NEXT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JAE/JNB</a:t>
            </a: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根据</a:t>
            </a:r>
            <a:r>
              <a:rPr lang="en-US" altLang="x-none" sz="26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CF</a:t>
            </a:r>
            <a:r>
              <a:rPr lang="zh-CN" altLang="en-US" sz="26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标志</a:t>
            </a: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是否为</a:t>
            </a:r>
            <a:r>
              <a:rPr lang="en-US" altLang="x-none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0</a:t>
            </a: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决定转移</a:t>
            </a:r>
            <a:r>
              <a:rPr lang="zh-CN" altLang="en-US" sz="2600" noProof="1">
                <a:latin typeface="Times New Roman" panose="02020603050405020304" pitchFamily="2" charset="0"/>
              </a:rPr>
              <a:t>。若</a:t>
            </a:r>
            <a:r>
              <a:rPr lang="en-US" altLang="x-none" sz="2600" noProof="1">
                <a:latin typeface="Times New Roman" panose="02020603050405020304" pitchFamily="2" charset="0"/>
              </a:rPr>
              <a:t>CF=0</a:t>
            </a:r>
            <a:r>
              <a:rPr lang="zh-CN" altLang="en-US" sz="2600" noProof="1">
                <a:latin typeface="Times New Roman" panose="02020603050405020304" pitchFamily="2" charset="0"/>
              </a:rPr>
              <a:t>，即无进位，则转移，这与直接标志转移指令中的</a:t>
            </a:r>
            <a:r>
              <a:rPr lang="en-US" altLang="x-none" sz="2600" noProof="1">
                <a:latin typeface="Times New Roman" panose="02020603050405020304" pitchFamily="2" charset="0"/>
              </a:rPr>
              <a:t>JNC</a:t>
            </a:r>
            <a:r>
              <a:rPr lang="zh-CN" altLang="en-US" sz="2600" noProof="1">
                <a:latin typeface="Times New Roman" panose="02020603050405020304" pitchFamily="2" charset="0"/>
              </a:rPr>
              <a:t>功能完全一样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同样，</a:t>
            </a:r>
            <a:r>
              <a:rPr lang="en-US" altLang="x-none" sz="2600" noProof="1">
                <a:latin typeface="Times New Roman" panose="02020603050405020304" pitchFamily="2" charset="0"/>
              </a:rPr>
              <a:t>JB/JNAE</a:t>
            </a:r>
            <a:r>
              <a:rPr lang="zh-CN" altLang="en-US" sz="2600" noProof="1">
                <a:latin typeface="Times New Roman" panose="02020603050405020304" pitchFamily="2" charset="0"/>
              </a:rPr>
              <a:t>与</a:t>
            </a:r>
            <a:r>
              <a:rPr lang="en-US" altLang="x-none" sz="2600" noProof="1">
                <a:latin typeface="Times New Roman" panose="02020603050405020304" pitchFamily="2" charset="0"/>
              </a:rPr>
              <a:t>JC</a:t>
            </a:r>
            <a:r>
              <a:rPr lang="zh-CN" altLang="en-US" sz="2600" noProof="1">
                <a:latin typeface="Times New Roman" panose="02020603050405020304" pitchFamily="2" charset="0"/>
              </a:rPr>
              <a:t>指令的功能相同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带符号数</a:t>
            </a:r>
            <a:r>
              <a:rPr lang="zh-CN" altLang="en-US" sz="2600" noProof="1">
                <a:latin typeface="Times New Roman" panose="02020603050405020304" pitchFamily="2" charset="0"/>
              </a:rPr>
              <a:t>进行比较时，不能仅根据</a:t>
            </a:r>
            <a:r>
              <a:rPr lang="en-US" altLang="x-none" sz="2600" noProof="1">
                <a:latin typeface="Times New Roman" panose="02020603050405020304" pitchFamily="2" charset="0"/>
              </a:rPr>
              <a:t>SF</a:t>
            </a:r>
            <a:r>
              <a:rPr lang="zh-CN" altLang="en-US" sz="2600" noProof="1">
                <a:latin typeface="Times New Roman" panose="02020603050405020304" pitchFamily="2" charset="0"/>
              </a:rPr>
              <a:t>或</a:t>
            </a:r>
            <a:r>
              <a:rPr lang="en-US" altLang="x-none" sz="2600" noProof="1">
                <a:latin typeface="Times New Roman" panose="02020603050405020304" pitchFamily="2" charset="0"/>
              </a:rPr>
              <a:t>OF</a:t>
            </a:r>
            <a:r>
              <a:rPr lang="zh-CN" altLang="en-US" sz="2600" noProof="1">
                <a:latin typeface="Times New Roman" panose="02020603050405020304" pitchFamily="2" charset="0"/>
              </a:rPr>
              <a:t>标志来判定，而要将它们组合起来考虑。指令助记符中，</a:t>
            </a: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“G”(Great than)</a:t>
            </a:r>
            <a:r>
              <a:rPr lang="zh-CN" altLang="en-US" sz="2600" noProof="1">
                <a:latin typeface="Times New Roman" panose="02020603050405020304" pitchFamily="2" charset="0"/>
              </a:rPr>
              <a:t>表示</a:t>
            </a:r>
            <a:r>
              <a:rPr lang="en-US" altLang="x-none" sz="2600" noProof="1">
                <a:latin typeface="Times New Roman" panose="02020603050405020304" pitchFamily="2" charset="0"/>
              </a:rPr>
              <a:t>“</a:t>
            </a:r>
            <a:r>
              <a:rPr lang="zh-CN" altLang="en-US" sz="2600" noProof="1">
                <a:latin typeface="Times New Roman" panose="02020603050405020304" pitchFamily="2" charset="0"/>
              </a:rPr>
              <a:t>大于</a:t>
            </a:r>
            <a:r>
              <a:rPr lang="en-US" altLang="x-none" sz="2600" noProof="1">
                <a:latin typeface="Times New Roman" panose="02020603050405020304" pitchFamily="2" charset="0"/>
              </a:rPr>
              <a:t>”</a:t>
            </a:r>
            <a:r>
              <a:rPr lang="zh-CN" altLang="en-US" sz="2600" noProof="1">
                <a:latin typeface="Times New Roman" panose="02020603050405020304" pitchFamily="2" charset="0"/>
              </a:rPr>
              <a:t>，</a:t>
            </a: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“L”(Less than)</a:t>
            </a:r>
            <a:r>
              <a:rPr lang="zh-CN" altLang="en-US" sz="2600" noProof="1">
                <a:latin typeface="Times New Roman" panose="02020603050405020304" pitchFamily="2" charset="0"/>
              </a:rPr>
              <a:t>表示</a:t>
            </a:r>
            <a:r>
              <a:rPr lang="en-US" altLang="x-none" sz="2600" noProof="1">
                <a:latin typeface="Times New Roman" panose="02020603050405020304" pitchFamily="2" charset="0"/>
              </a:rPr>
              <a:t>“</a:t>
            </a:r>
            <a:r>
              <a:rPr lang="zh-CN" altLang="en-US" sz="2600" noProof="1">
                <a:latin typeface="Times New Roman" panose="02020603050405020304" pitchFamily="2" charset="0"/>
              </a:rPr>
              <a:t>小于</a:t>
            </a:r>
            <a:r>
              <a:rPr lang="en-US" altLang="x-none" sz="2600" noProof="1">
                <a:latin typeface="Times New Roman" panose="02020603050405020304" pitchFamily="2" charset="0"/>
              </a:rPr>
              <a:t>”</a:t>
            </a:r>
          </a:p>
        </p:txBody>
      </p:sp>
      <p:sp>
        <p:nvSpPr>
          <p:cNvPr id="62467" name="日期占位符 1">
            <a:extLst>
              <a:ext uri="{FF2B5EF4-FFF2-40B4-BE49-F238E27FC236}">
                <a16:creationId xmlns:a16="http://schemas.microsoft.com/office/drawing/2014/main" id="{BDAB6525-00C0-4B30-B18D-439A11CD833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6DD493CB-3AFF-47E0-B34B-D1B7C9263019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>
            <a:extLst>
              <a:ext uri="{FF2B5EF4-FFF2-40B4-BE49-F238E27FC236}">
                <a16:creationId xmlns:a16="http://schemas.microsoft.com/office/drawing/2014/main" id="{F045D1FB-11E3-4C59-BE44-31BB42BAB7C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200" b="1" dirty="0">
                <a:solidFill>
                  <a:schemeClr val="accent2"/>
                </a:solidFill>
              </a:rPr>
              <a:t>2. </a:t>
            </a:r>
            <a:r>
              <a:rPr lang="zh-CN" altLang="en-US" sz="3200" b="1" dirty="0">
                <a:solidFill>
                  <a:schemeClr val="accent2"/>
                </a:solidFill>
              </a:rPr>
              <a:t>条件转移指令 </a:t>
            </a:r>
            <a:r>
              <a:rPr lang="en-US" altLang="zh-CN" sz="3200" b="1" dirty="0">
                <a:solidFill>
                  <a:schemeClr val="accent2"/>
                </a:solidFill>
              </a:rPr>
              <a:t>（</a:t>
            </a:r>
            <a:r>
              <a:rPr lang="zh-CN" altLang="en-US" sz="3200" b="1" dirty="0">
                <a:solidFill>
                  <a:schemeClr val="accent2"/>
                </a:solidFill>
              </a:rPr>
              <a:t>间接标志转移指令举例）</a:t>
            </a:r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5F33D884-8AE5-4914-9A81-8E5EDDC64C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62050"/>
            <a:ext cx="8372475" cy="5461000"/>
          </a:xfrm>
        </p:spPr>
        <p:txBody>
          <a:bodyPr/>
          <a:lstStyle/>
          <a:p>
            <a:pPr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3.90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设某学生的英语成绩已存放在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中，如低于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分打印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F(FAIL)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；高于或等于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85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分，打印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G(GOOD)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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84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分之间，打印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 (PASS)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。程序为</a:t>
            </a:r>
          </a:p>
          <a:p>
            <a:pPr algn="l"/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CMP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分比较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JB	     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FAIL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&lt;60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FAIL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CMP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85	 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85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分比较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JAE    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≥85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MOV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‘P’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；其它，将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AL←‘P’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JMP    PRINT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；转打印程序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FAIL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  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MOV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‘F’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AL←‘F’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JMP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PRINT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；转打印程序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MOV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‘G’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AL←‘G’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PRINT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… 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	；打印存在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中的字符</a:t>
            </a:r>
          </a:p>
        </p:txBody>
      </p:sp>
      <p:sp>
        <p:nvSpPr>
          <p:cNvPr id="63491" name="日期占位符 1">
            <a:extLst>
              <a:ext uri="{FF2B5EF4-FFF2-40B4-BE49-F238E27FC236}">
                <a16:creationId xmlns:a16="http://schemas.microsoft.com/office/drawing/2014/main" id="{8B9C8A78-C62A-477F-AB5B-A42514A2D6A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EC8C59A-9DAC-4B17-B0E5-64C5F96CBC52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>
            <a:extLst>
              <a:ext uri="{FF2B5EF4-FFF2-40B4-BE49-F238E27FC236}">
                <a16:creationId xmlns:a16="http://schemas.microsoft.com/office/drawing/2014/main" id="{E5463C1B-E677-4236-A3FC-F08713E7833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条件转移指令</a:t>
            </a:r>
            <a:r>
              <a:rPr lang="en-US" altLang="zh-CN" sz="4400" b="1">
                <a:solidFill>
                  <a:schemeClr val="accent2"/>
                </a:solidFill>
              </a:rPr>
              <a:t>（</a:t>
            </a:r>
            <a:r>
              <a:rPr lang="zh-CN" altLang="en-US" sz="4400" b="1">
                <a:solidFill>
                  <a:schemeClr val="accent2"/>
                </a:solidFill>
              </a:rPr>
              <a:t>编程举例）</a:t>
            </a:r>
            <a:endParaRPr lang="en-US" altLang="zh-CN" sz="4400" b="1">
              <a:solidFill>
                <a:schemeClr val="accent2"/>
              </a:solidFill>
            </a:endParaRPr>
          </a:p>
        </p:txBody>
      </p:sp>
      <p:sp>
        <p:nvSpPr>
          <p:cNvPr id="64514" name="内容占位符 2">
            <a:extLst>
              <a:ext uri="{FF2B5EF4-FFF2-40B4-BE49-F238E27FC236}">
                <a16:creationId xmlns:a16="http://schemas.microsoft.com/office/drawing/2014/main" id="{48D648ED-30BE-441E-846B-BC716DD004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3.91 </a:t>
            </a:r>
            <a:endParaRPr lang="zh-CN" altLang="en-US" sz="2800" b="1">
              <a:solidFill>
                <a:srgbClr val="0000FF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23FFF8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设某温度控制系统中，从温度传感器输入一个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位二进制摄氏温度值。当温度低于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100℃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时，打开加热器；温度升到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100℃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或以上时，关闭加热器。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温度传感器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端口号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1" charset="-122"/>
              </a:rPr>
              <a:t>为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320H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，控制加热器的输出信号连到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321H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的最低有效位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，当它置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加热器打开，清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则关闭。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实现上述温度控制的程序：</a:t>
            </a:r>
          </a:p>
          <a:p>
            <a:pPr algn="l"/>
            <a:endParaRPr lang="zh-CN" altLang="en-US" sz="2800"/>
          </a:p>
        </p:txBody>
      </p:sp>
      <p:sp>
        <p:nvSpPr>
          <p:cNvPr id="64515" name="日期占位符 1">
            <a:extLst>
              <a:ext uri="{FF2B5EF4-FFF2-40B4-BE49-F238E27FC236}">
                <a16:creationId xmlns:a16="http://schemas.microsoft.com/office/drawing/2014/main" id="{EB74173B-C026-4DC5-9FBF-01E1A7E825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49AB49D-C411-42B2-8A22-231B1788CE5D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内容占位符 2">
            <a:extLst>
              <a:ext uri="{FF2B5EF4-FFF2-40B4-BE49-F238E27FC236}">
                <a16:creationId xmlns:a16="http://schemas.microsoft.com/office/drawing/2014/main" id="{A6157E1C-BE0F-4919-9E96-1541972EDF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49300" y="539750"/>
            <a:ext cx="7645400" cy="6045200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GET-TEMP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320H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指向温度输入端口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     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DX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；读取温度值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CMP  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100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100 ℃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比较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JB	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HEAT_ON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&lt;100 ℃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，加热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HEAT_OFF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≥100 ℃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，停止加热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HEAT-ON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01H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，加热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321H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；加热器口地址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OUT     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；打开加热器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GET_TEMP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；继续检测温度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HEAT-OFF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00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，停止加热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321H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OUT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；关闭加热器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     …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；进行其它处理</a:t>
            </a:r>
          </a:p>
        </p:txBody>
      </p:sp>
      <p:sp>
        <p:nvSpPr>
          <p:cNvPr id="65538" name="日期占位符 1">
            <a:extLst>
              <a:ext uri="{FF2B5EF4-FFF2-40B4-BE49-F238E27FC236}">
                <a16:creationId xmlns:a16="http://schemas.microsoft.com/office/drawing/2014/main" id="{D3017FA8-F0C4-4C0E-BE76-755FC0D756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4FA1F58-D22D-47B6-8F2D-6FA754446AD9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0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04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04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04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04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4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1">
            <a:extLst>
              <a:ext uri="{FF2B5EF4-FFF2-40B4-BE49-F238E27FC236}">
                <a16:creationId xmlns:a16="http://schemas.microsoft.com/office/drawing/2014/main" id="{E6449BA1-C4FF-4CC2-B71F-5A8021DBEEB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2. </a:t>
            </a:r>
            <a:r>
              <a:rPr lang="zh-CN" altLang="en-US" sz="4000" b="1">
                <a:solidFill>
                  <a:schemeClr val="accent2"/>
                </a:solidFill>
              </a:rPr>
              <a:t>条件转移指令</a:t>
            </a:r>
            <a:r>
              <a:rPr lang="en-US" altLang="zh-CN" sz="4000" b="1">
                <a:solidFill>
                  <a:schemeClr val="accent2"/>
                </a:solidFill>
              </a:rPr>
              <a:t>（</a:t>
            </a:r>
            <a:r>
              <a:rPr lang="zh-CN" altLang="en-US" sz="4000" b="1">
                <a:solidFill>
                  <a:schemeClr val="accent2"/>
                </a:solidFill>
              </a:rPr>
              <a:t>编程举例）</a:t>
            </a:r>
            <a:endParaRPr lang="en-US" altLang="zh-CN" sz="4000" b="1">
              <a:solidFill>
                <a:schemeClr val="accent2"/>
              </a:solidFill>
            </a:endParaRP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48267352-54F4-435E-8692-FF110CA533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206500"/>
            <a:ext cx="8372475" cy="5327650"/>
          </a:xfrm>
        </p:spPr>
        <p:txBody>
          <a:bodyPr/>
          <a:lstStyle/>
          <a:p>
            <a:pPr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3.92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在首地址为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TABLE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个内存字节单元中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存放了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个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带符号数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，统计其中正数、负数和零的个数，结果存入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PLUS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NEGT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ZERO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单元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TABLE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01H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80H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0F5H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86H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74H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49H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0AFH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25H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40H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PLUS	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；存正数个数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NEGT 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；存负数个数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ZERO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；存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的个数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…						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MOV    CX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；循环变量，设为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MOV    BX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OFFSET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TABLE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；地址指针</a:t>
            </a:r>
            <a:endParaRPr lang="zh-CN" altLang="en-US" sz="2400"/>
          </a:p>
        </p:txBody>
      </p:sp>
      <p:sp>
        <p:nvSpPr>
          <p:cNvPr id="66563" name="日期占位符 1">
            <a:extLst>
              <a:ext uri="{FF2B5EF4-FFF2-40B4-BE49-F238E27FC236}">
                <a16:creationId xmlns:a16="http://schemas.microsoft.com/office/drawing/2014/main" id="{BAA3FD25-A83A-439A-891B-9ED6828AE5F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F62F83AE-B44E-4B79-82D2-1A34D2F00F91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235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charRg st="235" end="2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260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charRg st="260" end="2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">
            <a:extLst>
              <a:ext uri="{FF2B5EF4-FFF2-40B4-BE49-F238E27FC236}">
                <a16:creationId xmlns:a16="http://schemas.microsoft.com/office/drawing/2014/main" id="{5375DE2E-D474-4808-BE1F-D9DC0425111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2. </a:t>
            </a:r>
            <a:r>
              <a:rPr lang="zh-CN" altLang="en-US" sz="4000" b="1">
                <a:solidFill>
                  <a:schemeClr val="accent2"/>
                </a:solidFill>
              </a:rPr>
              <a:t>条件转移指令</a:t>
            </a:r>
            <a:r>
              <a:rPr lang="en-US" altLang="zh-CN" sz="4000" b="1">
                <a:solidFill>
                  <a:schemeClr val="accent2"/>
                </a:solidFill>
              </a:rPr>
              <a:t>（</a:t>
            </a:r>
            <a:r>
              <a:rPr lang="zh-CN" altLang="en-US" sz="4000" b="1">
                <a:solidFill>
                  <a:schemeClr val="accent2"/>
                </a:solidFill>
              </a:rPr>
              <a:t>编程举例）</a:t>
            </a:r>
            <a:endParaRPr lang="en-US" altLang="zh-CN" sz="4000" b="1">
              <a:solidFill>
                <a:schemeClr val="accent2"/>
              </a:solidFill>
            </a:endParaRP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5BF9CCE6-F804-43E3-89DD-363128CEB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028700"/>
            <a:ext cx="8194675" cy="5600700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AGAIN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CMP   [BX]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；取一个数与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比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JGE    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GRET_EQ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GRET_EQ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	NEGT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&lt;0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，负数个数加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	NEXT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；往下执行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GRET-EQ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JG	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P-INC</a:t>
            </a:r>
            <a:r>
              <a:rPr lang="en-US" altLang="zh-CN" sz="2400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&gt;0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P-INC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	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ZERO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，零个数加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；往下执行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1" charset="-122"/>
              </a:rPr>
              <a:t>P-INC</a:t>
            </a:r>
            <a:r>
              <a:rPr lang="zh-CN" altLang="en-US" sz="2400" b="1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	PLUS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；正数个数加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     	BX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；数据地址指针加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DEC    CX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；数据计数器减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JNZ	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AGAIN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；未完，继续统计</a:t>
            </a:r>
          </a:p>
        </p:txBody>
      </p:sp>
      <p:sp>
        <p:nvSpPr>
          <p:cNvPr id="67587" name="日期占位符 1">
            <a:extLst>
              <a:ext uri="{FF2B5EF4-FFF2-40B4-BE49-F238E27FC236}">
                <a16:creationId xmlns:a16="http://schemas.microsoft.com/office/drawing/2014/main" id="{E34AA971-DF55-499B-A664-727CBE863CA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E1FF2CE-527C-4ACD-824B-67C101EF8B4D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0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charRg st="10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2467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467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76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467">
                                            <p:txEl>
                                              <p:charRg st="176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84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2467">
                                            <p:txEl>
                                              <p:charRg st="184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03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2467">
                                            <p:txEl>
                                              <p:charRg st="203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09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charRg st="209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33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467">
                                            <p:txEl>
                                              <p:charRg st="233" end="2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54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2467">
                                            <p:txEl>
                                              <p:charRg st="254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>
            <a:extLst>
              <a:ext uri="{FF2B5EF4-FFF2-40B4-BE49-F238E27FC236}">
                <a16:creationId xmlns:a16="http://schemas.microsoft.com/office/drawing/2014/main" id="{CFA17F0E-D690-44AA-93C4-DC8D82454B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893888"/>
            <a:ext cx="8372475" cy="4695825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例</a:t>
            </a:r>
            <a:r>
              <a:rPr lang="en-US" altLang="zh-CN" sz="2400">
                <a:solidFill>
                  <a:srgbClr val="0000FF"/>
                </a:solidFill>
              </a:rPr>
              <a:t>3.94</a:t>
            </a:r>
            <a:r>
              <a:rPr lang="zh-CN" altLang="en-US" sz="2400">
                <a:solidFill>
                  <a:srgbClr val="0000FF"/>
                </a:solidFill>
              </a:rPr>
              <a:t>（</a:t>
            </a:r>
            <a:r>
              <a:rPr lang="zh-CN" altLang="en-US" sz="2400" b="1">
                <a:solidFill>
                  <a:srgbClr val="FF0000"/>
                </a:solidFill>
              </a:rPr>
              <a:t>改</a:t>
            </a:r>
            <a:r>
              <a:rPr lang="zh-CN" altLang="en-US" sz="2400">
                <a:solidFill>
                  <a:srgbClr val="0000FF"/>
                </a:solidFill>
              </a:rPr>
              <a:t>）</a:t>
            </a:r>
            <a:r>
              <a:rPr lang="zh-CN" altLang="en-US" sz="2400"/>
              <a:t>扬声器发声程序</a:t>
            </a:r>
            <a:r>
              <a:rPr lang="en-US" altLang="zh-CN" sz="2400"/>
              <a:t>（</a:t>
            </a:r>
            <a:r>
              <a:rPr lang="zh-CN" altLang="en-US" sz="2400"/>
              <a:t>设</a:t>
            </a:r>
            <a:r>
              <a:rPr lang="en-US" altLang="zh-CN" sz="2400">
                <a:solidFill>
                  <a:srgbClr val="C00000"/>
                </a:solidFill>
              </a:rPr>
              <a:t>61H</a:t>
            </a:r>
            <a:r>
              <a:rPr lang="zh-CN" altLang="en-US" sz="2400"/>
              <a:t>端口</a:t>
            </a:r>
            <a:r>
              <a:rPr lang="en-US" altLang="zh-CN" sz="2400">
                <a:solidFill>
                  <a:srgbClr val="C00000"/>
                </a:solidFill>
              </a:rPr>
              <a:t>D1</a:t>
            </a:r>
            <a:r>
              <a:rPr lang="zh-CN" altLang="en-US" sz="2400"/>
              <a:t>位接扬声器）</a:t>
            </a:r>
            <a:endParaRPr lang="en-US" altLang="zh-CN" sz="2400"/>
          </a:p>
          <a:p>
            <a:pPr algn="l">
              <a:spcBef>
                <a:spcPct val="0"/>
              </a:spcBef>
            </a:pPr>
            <a:r>
              <a:rPr lang="en-US" altLang="zh-CN" sz="2400"/>
              <a:t>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IN	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61H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61H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口读取数据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AND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0FCH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；保护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D7~D2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位清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MORE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XOR 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02         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触发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位使之在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间变化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OUT    61H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	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控制扬声器开关通断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MOV   CX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260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CX=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循环次数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DELAY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  </a:t>
            </a:r>
          </a:p>
          <a:p>
            <a:pPr algn="l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DEC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CX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		；循环延时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JNZ     DELAY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     MORE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；再次触发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rPr>
              <a:t>本例中，</a:t>
            </a:r>
            <a:r>
              <a:rPr lang="en-US" altLang="zh-CN" sz="2400">
                <a:solidFill>
                  <a:srgbClr val="008000"/>
                </a:solidFill>
                <a:latin typeface="Times New Roman" panose="02020603050405020304" pitchFamily="18" charset="0"/>
              </a:rPr>
              <a:t>DELAY</a:t>
            </a: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rPr>
              <a:t>循环</a:t>
            </a:r>
            <a:r>
              <a:rPr lang="en-US" altLang="zh-CN" sz="2400">
                <a:solidFill>
                  <a:srgbClr val="008000"/>
                </a:solidFill>
                <a:latin typeface="Times New Roman" panose="02020603050405020304" pitchFamily="18" charset="0"/>
              </a:rPr>
              <a:t>起延时作用，使开关通断维持一定时间。否则开关动作太快，发出的声音频率太高，人耳听不出来</a:t>
            </a: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68610" name="标题 1">
            <a:extLst>
              <a:ext uri="{FF2B5EF4-FFF2-40B4-BE49-F238E27FC236}">
                <a16:creationId xmlns:a16="http://schemas.microsoft.com/office/drawing/2014/main" id="{76F7D2F2-C1C9-4069-8FC1-A1CE2D76B18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85763" y="188913"/>
            <a:ext cx="8229600" cy="674687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</a:rPr>
              <a:t>循环控制指令（</a:t>
            </a:r>
            <a:r>
              <a:rPr lang="en-US" altLang="zh-CN" sz="4000" b="1">
                <a:solidFill>
                  <a:schemeClr val="accent2"/>
                </a:solidFill>
              </a:rPr>
              <a:t>Iteration control</a:t>
            </a:r>
            <a:r>
              <a:rPr lang="zh-CN" altLang="en-US" sz="40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844F0D-B95C-479E-8C8C-929F5DAB1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74" y="863600"/>
            <a:ext cx="81708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注：只需要掌握</a:t>
            </a:r>
            <a:r>
              <a:rPr lang="en-US" altLang="zh-CN" sz="2400" b="1" dirty="0">
                <a:solidFill>
                  <a:srgbClr val="C00000"/>
                </a:solidFill>
              </a:rPr>
              <a:t>LOOP</a:t>
            </a:r>
            <a:r>
              <a:rPr lang="zh-CN" altLang="en-US" sz="2400" b="1" dirty="0">
                <a:solidFill>
                  <a:srgbClr val="C00000"/>
                </a:solidFill>
              </a:rPr>
              <a:t>指令，条件循环控制指令不要求掌握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30F155-EEB1-4A91-B527-AB8214B5A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1374775"/>
            <a:ext cx="7332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sym typeface="宋体" panose="02010600030101010101" pitchFamily="2" charset="-122"/>
              </a:rPr>
              <a:t>下面举例介绍循环程序结构，并简介循环指令</a:t>
            </a:r>
          </a:p>
        </p:txBody>
      </p:sp>
      <p:sp>
        <p:nvSpPr>
          <p:cNvPr id="68613" name="日期占位符 3">
            <a:extLst>
              <a:ext uri="{FF2B5EF4-FFF2-40B4-BE49-F238E27FC236}">
                <a16:creationId xmlns:a16="http://schemas.microsoft.com/office/drawing/2014/main" id="{8EB82C58-92A3-4156-AF4C-12F0FD0EFC9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9B70077-01F7-4E37-B125-24F9CCE06E3B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占位符 64514">
            <a:extLst>
              <a:ext uri="{FF2B5EF4-FFF2-40B4-BE49-F238E27FC236}">
                <a16:creationId xmlns:a16="http://schemas.microsoft.com/office/drawing/2014/main" id="{8FE5909A-CA33-48C3-B0A0-E1D2CB20E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改为循环控制指令</a:t>
            </a:r>
            <a:r>
              <a:rPr lang="en-US" altLang="zh-CN" sz="2800" noProof="1">
                <a:solidFill>
                  <a:srgbClr val="FF0000"/>
                </a:solidFill>
              </a:rPr>
              <a:t>LOOP</a:t>
            </a:r>
            <a:r>
              <a:rPr lang="zh-CN" altLang="en-US" sz="2800" noProof="1">
                <a:solidFill>
                  <a:srgbClr val="0000FF"/>
                </a:solidFill>
              </a:rPr>
              <a:t>实现，程序变为</a:t>
            </a:r>
          </a:p>
          <a:p>
            <a:endParaRPr lang="zh-CN" altLang="en-US" noProof="1"/>
          </a:p>
          <a:p>
            <a:endParaRPr lang="en-US" altLang="zh-CN" noProof="1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77F7D9-8137-4A8F-81D9-4411B6F0D9E9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385763" y="188913"/>
            <a:ext cx="82296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循环控制指令（</a:t>
            </a:r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Iteration control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63490" name="内容占位符 2">
            <a:extLst>
              <a:ext uri="{FF2B5EF4-FFF2-40B4-BE49-F238E27FC236}">
                <a16:creationId xmlns:a16="http://schemas.microsoft.com/office/drawing/2014/main" id="{0E42BD97-54F1-42A3-8685-66D1F1C8EE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5763" y="1893888"/>
            <a:ext cx="8372475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3.94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改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400">
                <a:latin typeface="Arial" panose="020B0604020202020204" pitchFamily="34" charset="0"/>
              </a:rPr>
              <a:t>扬声器发声程序</a:t>
            </a:r>
            <a:r>
              <a:rPr lang="en-US" altLang="zh-CN" sz="2400">
                <a:latin typeface="Arial" panose="020B0604020202020204" pitchFamily="34" charset="0"/>
              </a:rPr>
              <a:t>（</a:t>
            </a:r>
            <a:r>
              <a:rPr lang="zh-CN" altLang="en-US" sz="2400">
                <a:latin typeface="Arial" panose="020B0604020202020204" pitchFamily="34" charset="0"/>
              </a:rPr>
              <a:t>设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</a:rPr>
              <a:t>61H</a:t>
            </a:r>
            <a:r>
              <a:rPr lang="zh-CN" altLang="en-US" sz="2400">
                <a:latin typeface="Arial" panose="020B0604020202020204" pitchFamily="34" charset="0"/>
              </a:rPr>
              <a:t>端口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</a:rPr>
              <a:t>D1</a:t>
            </a:r>
            <a:r>
              <a:rPr lang="zh-CN" altLang="en-US" sz="2400">
                <a:latin typeface="Arial" panose="020B0604020202020204" pitchFamily="34" charset="0"/>
              </a:rPr>
              <a:t>位接扬声器）</a:t>
            </a:r>
            <a:endParaRPr lang="en-US" altLang="zh-CN" sz="2400">
              <a:latin typeface="Arial" panose="020B0604020202020204" pitchFamily="34" charset="0"/>
            </a:endParaRPr>
          </a:p>
          <a:p>
            <a:r>
              <a:rPr lang="en-US" altLang="zh-CN" sz="2400">
                <a:latin typeface="Arial" panose="020B0604020202020204" pitchFamily="34" charset="0"/>
              </a:rPr>
              <a:t>	</a:t>
            </a:r>
            <a:r>
              <a:rPr lang="en-US" altLang="zh-CN" sz="2400">
                <a:ea typeface="楷体_GB2312" pitchFamily="1" charset="-122"/>
              </a:rPr>
              <a:t>IN	AL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61H	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en-US" altLang="zh-CN" sz="2400">
                <a:ea typeface="楷体_GB2312" pitchFamily="1" charset="-122"/>
              </a:rPr>
              <a:t>AL←</a:t>
            </a:r>
            <a:r>
              <a:rPr lang="zh-CN" altLang="en-US" sz="2400">
                <a:ea typeface="楷体_GB2312" pitchFamily="1" charset="-122"/>
              </a:rPr>
              <a:t>从</a:t>
            </a:r>
            <a:r>
              <a:rPr lang="en-US" altLang="zh-CN" sz="2400">
                <a:ea typeface="楷体_GB2312" pitchFamily="1" charset="-122"/>
              </a:rPr>
              <a:t>61H</a:t>
            </a:r>
            <a:r>
              <a:rPr lang="zh-CN" altLang="en-US" sz="2400">
                <a:ea typeface="楷体_GB2312" pitchFamily="1" charset="-122"/>
              </a:rPr>
              <a:t>口读取数据</a:t>
            </a:r>
          </a:p>
          <a:p>
            <a:r>
              <a:rPr lang="en-US" altLang="zh-CN" sz="2400">
                <a:ea typeface="楷体_GB2312" pitchFamily="1" charset="-122"/>
              </a:rPr>
              <a:t>	AND   AL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0FCH	</a:t>
            </a:r>
            <a:r>
              <a:rPr lang="zh-CN" altLang="en-US" sz="2400">
                <a:ea typeface="楷体_GB2312" pitchFamily="1" charset="-122"/>
              </a:rPr>
              <a:t>；保护</a:t>
            </a:r>
            <a:r>
              <a:rPr lang="en-US" altLang="zh-CN" sz="2400">
                <a:ea typeface="楷体_GB2312" pitchFamily="1" charset="-122"/>
              </a:rPr>
              <a:t>D7~D2</a:t>
            </a:r>
            <a:r>
              <a:rPr lang="zh-CN" altLang="en-US" sz="2400">
                <a:ea typeface="楷体_GB2312" pitchFamily="1" charset="-122"/>
              </a:rPr>
              <a:t>位，</a:t>
            </a:r>
            <a:r>
              <a:rPr lang="en-US" altLang="zh-CN" sz="2400">
                <a:ea typeface="楷体_GB2312" pitchFamily="1" charset="-122"/>
              </a:rPr>
              <a:t>D0</a:t>
            </a:r>
            <a:r>
              <a:rPr lang="zh-CN" altLang="en-US" sz="2400">
                <a:ea typeface="楷体_GB2312" pitchFamily="1" charset="-122"/>
              </a:rPr>
              <a:t>位清</a:t>
            </a:r>
            <a:r>
              <a:rPr lang="en-US" altLang="zh-CN" sz="2400">
                <a:ea typeface="楷体_GB2312" pitchFamily="1" charset="-122"/>
              </a:rPr>
              <a:t>0</a:t>
            </a:r>
            <a:endParaRPr lang="zh-CN" altLang="en-US" sz="2400">
              <a:ea typeface="楷体_GB2312" pitchFamily="1" charset="-122"/>
            </a:endParaRPr>
          </a:p>
          <a:p>
            <a:r>
              <a:rPr lang="en-US" altLang="zh-CN" sz="2400">
                <a:ea typeface="楷体_GB2312" pitchFamily="1" charset="-122"/>
              </a:rPr>
              <a:t>MORE</a:t>
            </a:r>
            <a:r>
              <a:rPr lang="zh-CN" altLang="en-US" sz="2400">
                <a:ea typeface="楷体_GB2312" pitchFamily="1" charset="-122"/>
              </a:rPr>
              <a:t>：</a:t>
            </a:r>
            <a:r>
              <a:rPr lang="en-US" altLang="zh-CN" sz="2400">
                <a:ea typeface="楷体_GB2312" pitchFamily="1" charset="-122"/>
              </a:rPr>
              <a:t>	</a:t>
            </a:r>
            <a:endParaRPr lang="zh-CN" altLang="en-US" sz="2400">
              <a:ea typeface="楷体_GB2312" pitchFamily="1" charset="-122"/>
            </a:endParaRPr>
          </a:p>
          <a:p>
            <a:r>
              <a:rPr lang="en-US" altLang="zh-CN" sz="2400">
                <a:ea typeface="楷体_GB2312" pitchFamily="1" charset="-122"/>
              </a:rPr>
              <a:t>	XOR    AL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02           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触发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D1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位使之在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0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间变化</a:t>
            </a:r>
          </a:p>
          <a:p>
            <a:r>
              <a:rPr lang="en-US" altLang="zh-CN" sz="2400">
                <a:ea typeface="楷体_GB2312" pitchFamily="1" charset="-122"/>
              </a:rPr>
              <a:t>	OUT    61H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AL	 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控制扬声器开关通断</a:t>
            </a:r>
          </a:p>
          <a:p>
            <a:r>
              <a:rPr lang="en-US" altLang="zh-CN" sz="2400"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00000"/>
                </a:solidFill>
                <a:ea typeface="楷体_GB2312" pitchFamily="1" charset="-122"/>
              </a:rPr>
              <a:t>MOV   CX</a:t>
            </a:r>
            <a:r>
              <a:rPr lang="zh-CN" altLang="en-US" sz="2400" b="1">
                <a:solidFill>
                  <a:srgbClr val="C00000"/>
                </a:solidFill>
                <a:ea typeface="楷体_GB2312" pitchFamily="1" charset="-122"/>
              </a:rPr>
              <a:t>，</a:t>
            </a:r>
            <a:r>
              <a:rPr lang="en-US" altLang="zh-CN" sz="2400" b="1">
                <a:solidFill>
                  <a:srgbClr val="C00000"/>
                </a:solidFill>
                <a:ea typeface="楷体_GB2312" pitchFamily="1" charset="-122"/>
              </a:rPr>
              <a:t>260</a:t>
            </a:r>
            <a:r>
              <a:rPr lang="en-US" altLang="zh-CN" sz="2400">
                <a:ea typeface="楷体_GB2312" pitchFamily="1" charset="-122"/>
              </a:rPr>
              <a:t>	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en-US" altLang="zh-CN" sz="2400">
                <a:ea typeface="楷体_GB2312" pitchFamily="1" charset="-122"/>
              </a:rPr>
              <a:t>CX=</a:t>
            </a:r>
            <a:r>
              <a:rPr lang="zh-CN" altLang="en-US" sz="2400">
                <a:ea typeface="楷体_GB2312" pitchFamily="1" charset="-122"/>
              </a:rPr>
              <a:t>循环次数</a:t>
            </a:r>
          </a:p>
          <a:p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DELAY</a:t>
            </a:r>
            <a:r>
              <a:rPr lang="zh-CN" altLang="en-US" sz="2400">
                <a:ea typeface="楷体_GB2312" pitchFamily="1" charset="-122"/>
              </a:rPr>
              <a:t>：  </a:t>
            </a:r>
          </a:p>
          <a:p>
            <a:r>
              <a:rPr lang="zh-CN" altLang="en-US" sz="2400">
                <a:ea typeface="楷体_GB2312" pitchFamily="1" charset="-122"/>
              </a:rPr>
              <a:t>	</a:t>
            </a:r>
            <a:r>
              <a:rPr lang="en-US" altLang="zh-CN" sz="2400">
                <a:ea typeface="楷体_GB2312" pitchFamily="1" charset="-122"/>
              </a:rPr>
              <a:t>LOOP </a:t>
            </a:r>
            <a:r>
              <a:rPr lang="zh-CN" altLang="en-US" sz="2400"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DELAY</a:t>
            </a:r>
            <a:r>
              <a:rPr lang="zh-CN" altLang="en-US" sz="2400">
                <a:ea typeface="楷体_GB2312" pitchFamily="1" charset="-122"/>
              </a:rPr>
              <a:t>	；循环延时</a:t>
            </a:r>
            <a:r>
              <a:rPr lang="en-US" altLang="zh-CN" sz="2400">
                <a:ea typeface="楷体_GB2312" pitchFamily="1" charset="-122"/>
              </a:rPr>
              <a:t>	</a:t>
            </a:r>
            <a:endParaRPr lang="zh-CN" altLang="en-US" sz="2400" b="1">
              <a:solidFill>
                <a:srgbClr val="0000FF"/>
              </a:solidFill>
              <a:ea typeface="楷体_GB2312" pitchFamily="1" charset="-122"/>
            </a:endParaRPr>
          </a:p>
          <a:p>
            <a:r>
              <a:rPr lang="en-US" altLang="zh-CN" sz="2400">
                <a:ea typeface="楷体_GB2312" pitchFamily="1" charset="-122"/>
              </a:rPr>
              <a:t>	JMP     MORE		</a:t>
            </a:r>
            <a:r>
              <a:rPr lang="zh-CN" altLang="en-US" sz="2400">
                <a:ea typeface="楷体_GB2312" pitchFamily="1" charset="-122"/>
              </a:rPr>
              <a:t>；再次触发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也就是说，</a:t>
            </a:r>
            <a:r>
              <a:rPr lang="en-US" altLang="zh-CN" sz="2400">
                <a:solidFill>
                  <a:srgbClr val="0000FF"/>
                </a:solidFill>
                <a:ea typeface="楷体_GB2312" pitchFamily="1" charset="-122"/>
              </a:rPr>
              <a:t>LOOP DELAY</a:t>
            </a: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，相当于做了两个指令的工作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           </a:t>
            </a:r>
            <a:r>
              <a:rPr lang="en-US" altLang="zh-CN" sz="2400">
                <a:solidFill>
                  <a:srgbClr val="CC3300"/>
                </a:solidFill>
                <a:ea typeface="楷体_GB2312" pitchFamily="1" charset="-122"/>
              </a:rPr>
              <a:t>DEC CX</a:t>
            </a: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和</a:t>
            </a:r>
            <a:r>
              <a:rPr lang="en-US" altLang="zh-CN" sz="2400">
                <a:solidFill>
                  <a:srgbClr val="CC3300"/>
                </a:solidFill>
                <a:ea typeface="楷体_GB2312" pitchFamily="1" charset="-122"/>
              </a:rPr>
              <a:t>JNE DELAY</a:t>
            </a:r>
            <a:endParaRPr lang="zh-CN" altLang="en-US" sz="2400">
              <a:solidFill>
                <a:srgbClr val="008000"/>
              </a:solidFill>
              <a:ea typeface="楷体_GB2312" pitchFamily="1" charset="-122"/>
            </a:endParaRPr>
          </a:p>
        </p:txBody>
      </p:sp>
      <p:sp>
        <p:nvSpPr>
          <p:cNvPr id="69636" name="日期占位符 2">
            <a:extLst>
              <a:ext uri="{FF2B5EF4-FFF2-40B4-BE49-F238E27FC236}">
                <a16:creationId xmlns:a16="http://schemas.microsoft.com/office/drawing/2014/main" id="{51DD0FAA-CC79-4D72-9733-3EEAC2E5C81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50F275B-D4F3-4488-A8B5-0322A846565C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占位符 64514">
            <a:extLst>
              <a:ext uri="{FF2B5EF4-FFF2-40B4-BE49-F238E27FC236}">
                <a16:creationId xmlns:a16="http://schemas.microsoft.com/office/drawing/2014/main" id="{8AC4CF25-F6AA-48E6-912D-EDCDBF356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noProof="1"/>
              <a:t>除了</a:t>
            </a:r>
            <a:r>
              <a:rPr lang="en-US" altLang="zh-CN" sz="2800" noProof="1">
                <a:solidFill>
                  <a:srgbClr val="CC3300"/>
                </a:solidFill>
              </a:rPr>
              <a:t>LOOP</a:t>
            </a:r>
            <a:r>
              <a:rPr lang="zh-CN" altLang="en-US" sz="2800" noProof="1"/>
              <a:t>，循环控制指令还有：</a:t>
            </a:r>
          </a:p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      </a:t>
            </a:r>
            <a:r>
              <a:rPr lang="en-US" altLang="zh-CN" sz="2800" noProof="1">
                <a:solidFill>
                  <a:srgbClr val="CC3300"/>
                </a:solidFill>
              </a:rPr>
              <a:t>LOOPE</a:t>
            </a:r>
            <a:r>
              <a:rPr lang="en-US" altLang="zh-CN" sz="2800" noProof="1">
                <a:solidFill>
                  <a:srgbClr val="0000FF"/>
                </a:solidFill>
              </a:rPr>
              <a:t>/</a:t>
            </a:r>
            <a:r>
              <a:rPr lang="en-US" altLang="zh-CN" sz="2800" noProof="1">
                <a:solidFill>
                  <a:srgbClr val="CC3300"/>
                </a:solidFill>
              </a:rPr>
              <a:t>LOOPZ</a:t>
            </a:r>
          </a:p>
          <a:p>
            <a:pPr marL="0" indent="0">
              <a:buFontTx/>
              <a:buNone/>
            </a:pPr>
            <a:r>
              <a:rPr lang="en-US" altLang="zh-CN" sz="2800" noProof="1">
                <a:solidFill>
                  <a:srgbClr val="0000FF"/>
                </a:solidFill>
              </a:rPr>
              <a:t>      </a:t>
            </a:r>
            <a:r>
              <a:rPr lang="en-US" altLang="zh-CN" sz="2800" noProof="1">
                <a:solidFill>
                  <a:srgbClr val="CC3300"/>
                </a:solidFill>
              </a:rPr>
              <a:t>LOOPNE</a:t>
            </a:r>
            <a:r>
              <a:rPr lang="en-US" altLang="zh-CN" sz="2800" noProof="1">
                <a:solidFill>
                  <a:srgbClr val="0000FF"/>
                </a:solidFill>
              </a:rPr>
              <a:t>/</a:t>
            </a:r>
            <a:r>
              <a:rPr lang="en-US" altLang="zh-CN" sz="2800" noProof="1">
                <a:solidFill>
                  <a:srgbClr val="CC3300"/>
                </a:solidFill>
              </a:rPr>
              <a:t>LOOPNZ</a:t>
            </a:r>
          </a:p>
          <a:p>
            <a:pPr marL="0" indent="0">
              <a:buFontTx/>
              <a:buNone/>
            </a:pPr>
            <a:r>
              <a:rPr lang="zh-CN" altLang="en-US" sz="2800" noProof="1"/>
              <a:t>增加了对</a:t>
            </a:r>
            <a:r>
              <a:rPr lang="en-US" altLang="zh-CN" sz="2800" noProof="1"/>
              <a:t>ZF</a:t>
            </a:r>
            <a:r>
              <a:rPr lang="zh-CN" altLang="en-US" sz="2800" noProof="1"/>
              <a:t>标志的判断，用于</a:t>
            </a:r>
            <a:r>
              <a:rPr lang="zh-CN" altLang="en-US" sz="2800" b="1" noProof="1">
                <a:solidFill>
                  <a:srgbClr val="0000FF"/>
                </a:solidFill>
              </a:rPr>
              <a:t>不固定循环次数</a:t>
            </a:r>
            <a:r>
              <a:rPr lang="zh-CN" altLang="en-US" sz="2800" noProof="1"/>
              <a:t>的循环程序。</a:t>
            </a:r>
          </a:p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    如：</a:t>
            </a:r>
          </a:p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          </a:t>
            </a:r>
            <a:r>
              <a:rPr lang="en-US" altLang="zh-CN" sz="2800" noProof="1"/>
              <a:t>CMP   [BX]</a:t>
            </a:r>
            <a:r>
              <a:rPr lang="zh-CN" altLang="en-US" sz="2800" noProof="1"/>
              <a:t>，</a:t>
            </a:r>
            <a:r>
              <a:rPr lang="en-US" altLang="zh-CN" sz="2800" noProof="1"/>
              <a:t>20H</a:t>
            </a:r>
          </a:p>
          <a:p>
            <a:pPr marL="0" indent="0">
              <a:buFontTx/>
              <a:buNone/>
            </a:pPr>
            <a:r>
              <a:rPr lang="en-US" altLang="zh-CN" sz="2800" noProof="1"/>
              <a:t>          </a:t>
            </a:r>
            <a:r>
              <a:rPr lang="en-US" altLang="zh-CN" sz="2800" noProof="1">
                <a:solidFill>
                  <a:srgbClr val="CC3300"/>
                </a:solidFill>
              </a:rPr>
              <a:t>LOOPNE  </a:t>
            </a:r>
            <a:r>
              <a:rPr lang="en-US" altLang="zh-CN" sz="2800" noProof="1"/>
              <a:t>NEXT</a:t>
            </a:r>
          </a:p>
          <a:p>
            <a:endParaRPr lang="zh-CN" altLang="en-US" noProof="1"/>
          </a:p>
          <a:p>
            <a:endParaRPr lang="en-US" altLang="zh-CN" noProof="1"/>
          </a:p>
        </p:txBody>
      </p:sp>
      <p:sp>
        <p:nvSpPr>
          <p:cNvPr id="70658" name="标题 1">
            <a:extLst>
              <a:ext uri="{FF2B5EF4-FFF2-40B4-BE49-F238E27FC236}">
                <a16:creationId xmlns:a16="http://schemas.microsoft.com/office/drawing/2014/main" id="{70D0DE4E-A5B6-4FC3-AAE6-628F3FB46291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385763" y="188913"/>
            <a:ext cx="82296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循环控制指令（</a:t>
            </a:r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Iteration control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70659" name="日期占位符 1">
            <a:extLst>
              <a:ext uri="{FF2B5EF4-FFF2-40B4-BE49-F238E27FC236}">
                <a16:creationId xmlns:a16="http://schemas.microsoft.com/office/drawing/2014/main" id="{8EBF810B-1649-486F-B6B5-EC1888E1628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8B03CA7-9787-4776-B245-6D86AD2EB2E4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>
            <a:extLst>
              <a:ext uri="{FF2B5EF4-FFF2-40B4-BE49-F238E27FC236}">
                <a16:creationId xmlns:a16="http://schemas.microsoft.com/office/drawing/2014/main" id="{85E546E8-F8FE-4BD4-B208-07382DAB239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4. </a:t>
            </a:r>
            <a:r>
              <a:rPr lang="zh-CN" altLang="en-US" sz="3600" b="1">
                <a:solidFill>
                  <a:schemeClr val="accent2"/>
                </a:solidFill>
              </a:rPr>
              <a:t>中断指令</a:t>
            </a:r>
            <a:r>
              <a:rPr lang="en-US" altLang="zh-CN" sz="3600" b="1">
                <a:solidFill>
                  <a:schemeClr val="accent2"/>
                </a:solidFill>
              </a:rPr>
              <a:t> (Interrupt)</a:t>
            </a:r>
          </a:p>
        </p:txBody>
      </p:sp>
      <p:sp>
        <p:nvSpPr>
          <p:cNvPr id="65539" name="内容占位符 2">
            <a:extLst>
              <a:ext uri="{FF2B5EF4-FFF2-40B4-BE49-F238E27FC236}">
                <a16:creationId xmlns:a16="http://schemas.microsoft.com/office/drawing/2014/main" id="{BC7BF37A-4A0C-4EAE-A4A6-E120501A04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marL="1588" indent="-1588" algn="l"/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1) 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中断概念</a:t>
            </a:r>
          </a:p>
          <a:p>
            <a:pPr marL="1588" indent="-1588" algn="l"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计算机在执行正常程序过程中，由于某些事件发生，需要暂时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中止当前程序的运行</a:t>
            </a:r>
            <a:r>
              <a:rPr lang="zh-CN" altLang="en-US" sz="2400">
                <a:latin typeface="Times New Roman" panose="02020603050405020304" pitchFamily="18" charset="0"/>
              </a:rPr>
              <a:t>，转到中断服务程序去为临时发生的事件服务。中断服务程序执行完，又返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回正常程序</a:t>
            </a:r>
            <a:r>
              <a:rPr lang="zh-CN" altLang="en-US" sz="2400">
                <a:latin typeface="Times New Roman" panose="02020603050405020304" pitchFamily="18" charset="0"/>
              </a:rPr>
              <a:t>继续运行。此过程称为中断</a:t>
            </a:r>
          </a:p>
          <a:p>
            <a:pPr marL="1588" indent="-1588" algn="l"/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的中断有两种：</a:t>
            </a:r>
          </a:p>
          <a:p>
            <a:pPr marL="1588" indent="-1588"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第一种，外部中断或硬件中断，</a:t>
            </a:r>
            <a:r>
              <a:rPr lang="zh-CN" altLang="en-US" sz="2400">
                <a:latin typeface="Times New Roman" panose="02020603050405020304" pitchFamily="18" charset="0"/>
              </a:rPr>
              <a:t>它们从</a:t>
            </a:r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的不可屏蔽中断引脚</a:t>
            </a:r>
            <a:r>
              <a:rPr lang="en-US" altLang="zh-CN" sz="2400">
                <a:latin typeface="Times New Roman" panose="02020603050405020304" pitchFamily="18" charset="0"/>
              </a:rPr>
              <a:t>NMI </a:t>
            </a:r>
            <a:r>
              <a:rPr lang="zh-CN" altLang="en-US" sz="2400">
                <a:latin typeface="Times New Roman" panose="02020603050405020304" pitchFamily="18" charset="0"/>
              </a:rPr>
              <a:t>或可屏蔽中断引脚</a:t>
            </a:r>
            <a:r>
              <a:rPr lang="en-US" altLang="zh-CN" sz="2400">
                <a:latin typeface="Times New Roman" panose="02020603050405020304" pitchFamily="18" charset="0"/>
              </a:rPr>
              <a:t>INTR</a:t>
            </a:r>
            <a:r>
              <a:rPr lang="zh-CN" altLang="en-US" sz="2400">
                <a:latin typeface="Times New Roman" panose="02020603050405020304" pitchFamily="18" charset="0"/>
              </a:rPr>
              <a:t>引入</a:t>
            </a:r>
          </a:p>
          <a:p>
            <a:pPr marL="1588" indent="-1588"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第二种，内部中断或软中断</a:t>
            </a:r>
            <a:r>
              <a:rPr lang="zh-CN" altLang="en-US" sz="2400">
                <a:latin typeface="Times New Roman" panose="02020603050405020304" pitchFamily="18" charset="0"/>
              </a:rPr>
              <a:t>，是为解决</a:t>
            </a:r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在运行中发生意的外情况或是为便于对程序调试而设置的</a:t>
            </a:r>
          </a:p>
          <a:p>
            <a:pPr marL="1588" indent="-1588" algn="l"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此外，也可在程序中安排一条中断指令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INT n</a:t>
            </a:r>
            <a:r>
              <a:rPr lang="zh-CN" altLang="en-US" sz="2400">
                <a:latin typeface="Times New Roman" panose="02020603050405020304" pitchFamily="18" charset="0"/>
              </a:rPr>
              <a:t>，利用它直接产生</a:t>
            </a:r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的内部中断</a:t>
            </a:r>
            <a:endParaRPr lang="zh-CN" altLang="en-US" sz="2400"/>
          </a:p>
        </p:txBody>
      </p:sp>
      <p:sp>
        <p:nvSpPr>
          <p:cNvPr id="71683" name="日期占位符 1">
            <a:extLst>
              <a:ext uri="{FF2B5EF4-FFF2-40B4-BE49-F238E27FC236}">
                <a16:creationId xmlns:a16="http://schemas.microsoft.com/office/drawing/2014/main" id="{4C5A2477-53F5-47C8-8B99-2D3B2CBC56B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E8E0481-BC00-4DAA-9E33-241730CD7ED8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>
            <a:extLst>
              <a:ext uri="{FF2B5EF4-FFF2-40B4-BE49-F238E27FC236}">
                <a16:creationId xmlns:a16="http://schemas.microsoft.com/office/drawing/2014/main" id="{495FAD5D-18BE-4715-BFBB-5E6F21D629E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中断指令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A9F5BCF9-051C-4FA9-A616-2F34B3970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150" y="1073150"/>
            <a:ext cx="8372475" cy="533400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中断指令</a:t>
            </a:r>
          </a:p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(1) INT n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软件中断指令 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(Interrupt)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软件中断指令，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为中断类型号，范围</a:t>
            </a:r>
            <a:r>
              <a:rPr lang="en-US" altLang="x-none" sz="2800" noProof="1">
                <a:latin typeface="Times New Roman" panose="02020603050405020304" pitchFamily="2" charset="0"/>
              </a:rPr>
              <a:t>0~255</a:t>
            </a:r>
            <a:r>
              <a:rPr lang="zh-CN" altLang="en-US" sz="2800" noProof="1">
                <a:latin typeface="Times New Roman" panose="02020603050405020304" pitchFamily="2" charset="0"/>
              </a:rPr>
              <a:t>。可安排在程序的任何位置上。</a:t>
            </a:r>
          </a:p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(2) INTO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溢出中断指令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(Interrupt on Overflow)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当带符号数进行算术运算后，若</a:t>
            </a:r>
            <a:r>
              <a:rPr lang="en-US" altLang="x-none" sz="2800" noProof="1">
                <a:latin typeface="Times New Roman" panose="02020603050405020304" pitchFamily="2" charset="0"/>
              </a:rPr>
              <a:t>OF=1</a:t>
            </a:r>
            <a:r>
              <a:rPr lang="zh-CN" altLang="en-US" sz="2800" noProof="1">
                <a:latin typeface="Times New Roman" panose="02020603050405020304" pitchFamily="2" charset="0"/>
              </a:rPr>
              <a:t>，则可由</a:t>
            </a:r>
            <a:r>
              <a:rPr lang="en-US" altLang="x-none" sz="2800" noProof="1">
                <a:latin typeface="Times New Roman" panose="02020603050405020304" pitchFamily="2" charset="0"/>
              </a:rPr>
              <a:t>INTO</a:t>
            </a:r>
            <a:r>
              <a:rPr lang="zh-CN" altLang="en-US" sz="2800" noProof="1">
                <a:latin typeface="Times New Roman" panose="02020603050405020304" pitchFamily="2" charset="0"/>
              </a:rPr>
              <a:t>指令产生类型为</a:t>
            </a:r>
            <a:r>
              <a:rPr lang="en-US" altLang="x-none" sz="2800" noProof="1">
                <a:latin typeface="Times New Roman" panose="02020603050405020304" pitchFamily="2" charset="0"/>
              </a:rPr>
              <a:t>4</a:t>
            </a:r>
            <a:r>
              <a:rPr lang="zh-CN" altLang="en-US" sz="2800" noProof="1">
                <a:latin typeface="Times New Roman" panose="02020603050405020304" pitchFamily="2" charset="0"/>
              </a:rPr>
              <a:t>的中断</a:t>
            </a:r>
            <a:r>
              <a:rPr lang="en-US" altLang="x-none" sz="2800" noProof="1">
                <a:latin typeface="Times New Roman" panose="02020603050405020304" pitchFamily="2" charset="0"/>
              </a:rPr>
              <a:t>; </a:t>
            </a:r>
            <a:r>
              <a:rPr lang="zh-CN" altLang="en-US" sz="2800" noProof="1">
                <a:latin typeface="Times New Roman" panose="02020603050405020304" pitchFamily="2" charset="0"/>
              </a:rPr>
              <a:t>若</a:t>
            </a:r>
            <a:r>
              <a:rPr lang="en-US" altLang="x-none" sz="2800" noProof="1">
                <a:latin typeface="Times New Roman" panose="02020603050405020304" pitchFamily="2" charset="0"/>
              </a:rPr>
              <a:t>OF=0</a:t>
            </a:r>
            <a:r>
              <a:rPr lang="zh-CN" altLang="en-US" sz="2800" noProof="1">
                <a:latin typeface="Times New Roman" panose="02020603050405020304" pitchFamily="2" charset="0"/>
              </a:rPr>
              <a:t>，则</a:t>
            </a:r>
            <a:r>
              <a:rPr lang="en-US" altLang="x-none" sz="2800" noProof="1">
                <a:latin typeface="Times New Roman" panose="02020603050405020304" pitchFamily="2" charset="0"/>
              </a:rPr>
              <a:t>INTO</a:t>
            </a:r>
            <a:r>
              <a:rPr lang="zh-CN" altLang="en-US" sz="2800" noProof="1">
                <a:latin typeface="Times New Roman" panose="02020603050405020304" pitchFamily="2" charset="0"/>
              </a:rPr>
              <a:t>指令不产生中断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为此，在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带符号数</a:t>
            </a:r>
            <a:r>
              <a:rPr lang="zh-CN" altLang="en-US" sz="2800" noProof="1">
                <a:latin typeface="Times New Roman" panose="02020603050405020304" pitchFamily="2" charset="0"/>
              </a:rPr>
              <a:t>进行加减法运算之后，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安排一条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INTO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指令</a:t>
            </a:r>
            <a:r>
              <a:rPr lang="zh-CN" altLang="en-US" sz="2800" noProof="1">
                <a:latin typeface="Times New Roman" panose="02020603050405020304" pitchFamily="2" charset="0"/>
              </a:rPr>
              <a:t>，一旦溢出就能及时向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提出中断请求，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可做出相应的处理</a:t>
            </a:r>
            <a:endParaRPr lang="zh-CN" altLang="en-US" sz="3200" noProof="1"/>
          </a:p>
        </p:txBody>
      </p:sp>
      <p:sp>
        <p:nvSpPr>
          <p:cNvPr id="72707" name="日期占位符 1">
            <a:extLst>
              <a:ext uri="{FF2B5EF4-FFF2-40B4-BE49-F238E27FC236}">
                <a16:creationId xmlns:a16="http://schemas.microsoft.com/office/drawing/2014/main" id="{31C2859A-DDBB-46D4-8751-C5938E27E0F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48DCC855-C3EC-4AEF-8873-0D2D7E580708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">
            <a:extLst>
              <a:ext uri="{FF2B5EF4-FFF2-40B4-BE49-F238E27FC236}">
                <a16:creationId xmlns:a16="http://schemas.microsoft.com/office/drawing/2014/main" id="{00B57AE0-AA58-4FF4-AB49-EDBD30CCFBF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中断指令</a:t>
            </a:r>
          </a:p>
        </p:txBody>
      </p:sp>
      <p:sp>
        <p:nvSpPr>
          <p:cNvPr id="73730" name="内容占位符 2">
            <a:extLst>
              <a:ext uri="{FF2B5EF4-FFF2-40B4-BE49-F238E27FC236}">
                <a16:creationId xmlns:a16="http://schemas.microsoft.com/office/drawing/2014/main" id="{8E03C532-96B9-49CD-A47D-601849EA55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162050"/>
            <a:ext cx="7831138" cy="517525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(3) IRET  (Interrupt Return)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      中断返回指令</a:t>
            </a:r>
            <a:r>
              <a:rPr lang="en-US" altLang="zh-CN" sz="2800" dirty="0">
                <a:latin typeface="Times New Roman" panose="02020603050405020304" pitchFamily="18" charset="0"/>
              </a:rPr>
              <a:t>IRET</a:t>
            </a:r>
            <a:r>
              <a:rPr lang="zh-CN" altLang="en-US" sz="2800" dirty="0">
                <a:latin typeface="Times New Roman" panose="02020603050405020304" pitchFamily="18" charset="0"/>
              </a:rPr>
              <a:t>。被安排在中断服务程序的出口处，指令执行后，从堆栈中依次弹出程序断点和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FLAGS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的内容</a:t>
            </a:r>
            <a:r>
              <a:rPr lang="zh-CN" altLang="en-US" sz="2800" dirty="0">
                <a:latin typeface="Times New Roman" panose="02020603050405020304" pitchFamily="18" charset="0"/>
              </a:rPr>
              <a:t>，使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继续执行原来被打断的程序。</a:t>
            </a:r>
          </a:p>
          <a:p>
            <a:pPr algn="l"/>
            <a:endParaRPr lang="zh-CN" altLang="en-US" sz="3200" dirty="0"/>
          </a:p>
        </p:txBody>
      </p:sp>
      <p:sp>
        <p:nvSpPr>
          <p:cNvPr id="73731" name="日期占位符 1">
            <a:extLst>
              <a:ext uri="{FF2B5EF4-FFF2-40B4-BE49-F238E27FC236}">
                <a16:creationId xmlns:a16="http://schemas.microsoft.com/office/drawing/2014/main" id="{8555E2CD-6EBD-4ECD-BE8B-114CA0C774B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CC7E472-C41C-43BA-9E73-85018330D12D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876E8AF6-807C-4AAB-8BD7-FF4B32F8854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 b="1">
                <a:solidFill>
                  <a:schemeClr val="accent2"/>
                </a:solidFill>
              </a:rPr>
              <a:t>§3.3  8086</a:t>
            </a:r>
            <a:r>
              <a:rPr lang="zh-CN" altLang="en-US" sz="4800" b="1">
                <a:solidFill>
                  <a:schemeClr val="accent2"/>
                </a:solidFill>
              </a:rPr>
              <a:t>的指令系统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74754" name="矩形 4">
            <a:extLst>
              <a:ext uri="{FF2B5EF4-FFF2-40B4-BE49-F238E27FC236}">
                <a16:creationId xmlns:a16="http://schemas.microsoft.com/office/drawing/2014/main" id="{EA0DBD3D-6BAD-44B6-A692-362174CB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CC3300"/>
              </a:solidFill>
            </a:endParaRPr>
          </a:p>
        </p:txBody>
      </p:sp>
      <p:sp>
        <p:nvSpPr>
          <p:cNvPr id="74755" name="日期占位符 1">
            <a:extLst>
              <a:ext uri="{FF2B5EF4-FFF2-40B4-BE49-F238E27FC236}">
                <a16:creationId xmlns:a16="http://schemas.microsoft.com/office/drawing/2014/main" id="{FE732E31-87D4-491E-882A-9F378139B25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BCB69E9-2C9D-425C-9AD7-3B53BE990D8D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>
            <a:extLst>
              <a:ext uri="{FF2B5EF4-FFF2-40B4-BE49-F238E27FC236}">
                <a16:creationId xmlns:a16="http://schemas.microsoft.com/office/drawing/2014/main" id="{E7AAB1F4-A47F-4A9E-A39A-37B26D07543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3.3.6 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处理器控制指令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75778" name="内容占位符 2">
            <a:extLst>
              <a:ext uri="{FF2B5EF4-FFF2-40B4-BE49-F238E27FC236}">
                <a16:creationId xmlns:a16="http://schemas.microsoft.com/office/drawing/2014/main" id="{C65F2331-F06C-4373-BF97-BCFA5B5AF5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49250" y="1162050"/>
            <a:ext cx="8372475" cy="184785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CC3300"/>
                </a:solidFill>
              </a:rPr>
              <a:t>1.</a:t>
            </a:r>
            <a:r>
              <a:rPr lang="zh-CN" altLang="en-US" sz="2800" b="1">
                <a:solidFill>
                  <a:srgbClr val="CC3300"/>
                </a:solidFill>
              </a:rPr>
              <a:t>标志操作指令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8086</a:t>
            </a:r>
            <a:r>
              <a:rPr lang="zh-CN" altLang="en-US" sz="2800">
                <a:latin typeface="Times New Roman" panose="02020603050405020304" pitchFamily="18" charset="0"/>
              </a:rPr>
              <a:t>提供一组标志操作指令，可直接对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</a:rPr>
              <a:t>个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标志位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标志位进行设置或清除等操作，但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不包含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TF</a:t>
            </a:r>
            <a:r>
              <a:rPr lang="zh-CN" altLang="en-US" sz="2800">
                <a:latin typeface="Times New Roman" panose="02020603050405020304" pitchFamily="18" charset="0"/>
              </a:rPr>
              <a:t>标志，如表</a:t>
            </a:r>
            <a:r>
              <a:rPr lang="en-US" altLang="zh-CN" sz="2800">
                <a:latin typeface="Times New Roman" panose="02020603050405020304" pitchFamily="18" charset="0"/>
              </a:rPr>
              <a:t>3.13</a:t>
            </a:r>
          </a:p>
          <a:p>
            <a:pPr algn="l"/>
            <a:endParaRPr lang="zh-CN" altLang="en-US" sz="3200"/>
          </a:p>
        </p:txBody>
      </p:sp>
      <p:pic>
        <p:nvPicPr>
          <p:cNvPr id="69636" name="Picture 2">
            <a:extLst>
              <a:ext uri="{FF2B5EF4-FFF2-40B4-BE49-F238E27FC236}">
                <a16:creationId xmlns:a16="http://schemas.microsoft.com/office/drawing/2014/main" id="{D9E2BAF7-C214-4C23-B7BC-924EBF178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3251200"/>
            <a:ext cx="7885113" cy="332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0" name="日期占位符 1">
            <a:extLst>
              <a:ext uri="{FF2B5EF4-FFF2-40B4-BE49-F238E27FC236}">
                <a16:creationId xmlns:a16="http://schemas.microsoft.com/office/drawing/2014/main" id="{4441DB73-5769-4D7E-8281-27461A728D3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ABADACD-EA0E-4841-A242-FB3276026F0E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>
            <a:extLst>
              <a:ext uri="{FF2B5EF4-FFF2-40B4-BE49-F238E27FC236}">
                <a16:creationId xmlns:a16="http://schemas.microsoft.com/office/drawing/2014/main" id="{F1A0F49F-3A76-41A3-B6CD-C05127B0DED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1. </a:t>
            </a:r>
            <a:r>
              <a:rPr lang="zh-CN" altLang="en-US" sz="4000" b="1">
                <a:solidFill>
                  <a:schemeClr val="accent2"/>
                </a:solidFill>
              </a:rPr>
              <a:t>标志操作指令</a:t>
            </a:r>
          </a:p>
        </p:txBody>
      </p:sp>
      <p:sp>
        <p:nvSpPr>
          <p:cNvPr id="70659" name="内容占位符 2">
            <a:extLst>
              <a:ext uri="{FF2B5EF4-FFF2-40B4-BE49-F238E27FC236}">
                <a16:creationId xmlns:a16="http://schemas.microsoft.com/office/drawing/2014/main" id="{14FECC0F-4E6C-41B9-A303-D1C5EF5B20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073150"/>
            <a:ext cx="8372475" cy="5511800"/>
          </a:xfrm>
        </p:spPr>
        <p:txBody>
          <a:bodyPr/>
          <a:lstStyle/>
          <a:p>
            <a:pPr marL="1588" indent="-1588" algn="l">
              <a:spcBef>
                <a:spcPts val="60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1) CLC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CMC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STC</a:t>
            </a:r>
            <a:endParaRPr lang="en-US" altLang="zh-CN" sz="20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利用</a:t>
            </a:r>
            <a:r>
              <a:rPr lang="en-US" altLang="zh-CN" sz="2800">
                <a:latin typeface="Times New Roman" panose="02020603050405020304" pitchFamily="18" charset="0"/>
              </a:rPr>
              <a:t>CLC</a:t>
            </a:r>
            <a:r>
              <a:rPr lang="zh-CN" altLang="en-US" sz="2800">
                <a:latin typeface="Times New Roman" panose="02020603050405020304" pitchFamily="18" charset="0"/>
              </a:rPr>
              <a:t>指令，使进位标志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CMC</a:t>
            </a:r>
            <a:r>
              <a:rPr lang="zh-CN" altLang="en-US" sz="2800">
                <a:latin typeface="Times New Roman" panose="02020603050405020304" pitchFamily="18" charset="0"/>
              </a:rPr>
              <a:t>指令使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取反，</a:t>
            </a:r>
            <a:r>
              <a:rPr lang="en-US" altLang="zh-CN" sz="2800">
                <a:latin typeface="Times New Roman" panose="02020603050405020304" pitchFamily="18" charset="0"/>
              </a:rPr>
              <a:t>STC</a:t>
            </a:r>
            <a:r>
              <a:rPr lang="zh-CN" altLang="en-US" sz="2800">
                <a:latin typeface="Times New Roman" panose="02020603050405020304" pitchFamily="18" charset="0"/>
              </a:rPr>
              <a:t>指令则使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240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2) CLD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STD</a:t>
            </a:r>
            <a:endParaRPr lang="en-US" altLang="zh-CN" sz="20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方向标志</a:t>
            </a:r>
            <a:r>
              <a:rPr lang="en-US" altLang="zh-CN" sz="2800">
                <a:latin typeface="Times New Roman" panose="02020603050405020304" pitchFamily="18" charset="0"/>
              </a:rPr>
              <a:t>DF</a:t>
            </a:r>
            <a:r>
              <a:rPr lang="zh-CN" altLang="en-US" sz="2800">
                <a:latin typeface="Times New Roman" panose="02020603050405020304" pitchFamily="18" charset="0"/>
              </a:rPr>
              <a:t>在执行字符串操作指令时用来决定地址的修改方向，</a:t>
            </a:r>
            <a:r>
              <a:rPr lang="en-US" altLang="zh-CN" sz="2800">
                <a:latin typeface="Times New Roman" panose="02020603050405020304" pitchFamily="18" charset="0"/>
              </a:rPr>
              <a:t>CLD</a:t>
            </a:r>
            <a:r>
              <a:rPr lang="zh-CN" altLang="en-US" sz="2800">
                <a:latin typeface="Times New Roman" panose="02020603050405020304" pitchFamily="18" charset="0"/>
              </a:rPr>
              <a:t>指令使</a:t>
            </a:r>
            <a:r>
              <a:rPr lang="en-US" altLang="zh-CN" sz="2800">
                <a:latin typeface="Times New Roman" panose="02020603050405020304" pitchFamily="18" charset="0"/>
              </a:rPr>
              <a:t>DF</a:t>
            </a:r>
            <a:r>
              <a:rPr lang="zh-CN" altLang="en-US" sz="2800"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，而</a:t>
            </a:r>
            <a:r>
              <a:rPr lang="en-US" altLang="zh-CN" sz="2800">
                <a:latin typeface="Times New Roman" panose="02020603050405020304" pitchFamily="18" charset="0"/>
              </a:rPr>
              <a:t>STD</a:t>
            </a:r>
            <a:r>
              <a:rPr lang="zh-CN" altLang="en-US" sz="2800">
                <a:latin typeface="Times New Roman" panose="02020603050405020304" pitchFamily="18" charset="0"/>
              </a:rPr>
              <a:t>指令则使</a:t>
            </a:r>
            <a:r>
              <a:rPr lang="en-US" altLang="zh-CN" sz="2800">
                <a:latin typeface="Times New Roman" panose="02020603050405020304" pitchFamily="18" charset="0"/>
              </a:rPr>
              <a:t>DF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240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3) CLI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STI</a:t>
            </a:r>
            <a:endParaRPr lang="en-US" altLang="zh-CN" sz="20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中断允许标志</a:t>
            </a:r>
            <a:r>
              <a:rPr lang="en-US" altLang="zh-CN" sz="2800"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决定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能否响应可屏蔽中断请求，指令</a:t>
            </a:r>
            <a:r>
              <a:rPr lang="en-US" altLang="zh-CN" sz="2800">
                <a:latin typeface="Times New Roman" panose="02020603050405020304" pitchFamily="18" charset="0"/>
              </a:rPr>
              <a:t>CLI</a:t>
            </a:r>
            <a:r>
              <a:rPr lang="zh-CN" altLang="en-US" sz="2800">
                <a:latin typeface="Times New Roman" panose="02020603050405020304" pitchFamily="18" charset="0"/>
              </a:rPr>
              <a:t>使</a:t>
            </a:r>
            <a:r>
              <a:rPr lang="en-US" altLang="zh-CN" sz="2800"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，禁止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响应这类中断。</a:t>
            </a:r>
            <a:r>
              <a:rPr lang="en-US" altLang="zh-CN" sz="2800">
                <a:latin typeface="Times New Roman" panose="02020603050405020304" pitchFamily="18" charset="0"/>
              </a:rPr>
              <a:t>STI</a:t>
            </a:r>
            <a:r>
              <a:rPr lang="zh-CN" altLang="en-US" sz="2800">
                <a:latin typeface="Times New Roman" panose="02020603050405020304" pitchFamily="18" charset="0"/>
              </a:rPr>
              <a:t>使</a:t>
            </a:r>
            <a:r>
              <a:rPr lang="en-US" altLang="zh-CN" sz="2800"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，允许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响应</a:t>
            </a:r>
          </a:p>
        </p:txBody>
      </p:sp>
      <p:sp>
        <p:nvSpPr>
          <p:cNvPr id="76803" name="日期占位符 1">
            <a:extLst>
              <a:ext uri="{FF2B5EF4-FFF2-40B4-BE49-F238E27FC236}">
                <a16:creationId xmlns:a16="http://schemas.microsoft.com/office/drawing/2014/main" id="{6FA1DBED-5A86-4869-9A09-43C6FB25CEB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C72A5E3-A2A9-4E26-91F6-CDA95461894E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>
            <a:extLst>
              <a:ext uri="{FF2B5EF4-FFF2-40B4-BE49-F238E27FC236}">
                <a16:creationId xmlns:a16="http://schemas.microsoft.com/office/drawing/2014/main" id="{2642F348-7FB8-419F-9D95-67EDBB84566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外部同步指令</a:t>
            </a:r>
          </a:p>
        </p:txBody>
      </p:sp>
      <p:sp>
        <p:nvSpPr>
          <p:cNvPr id="77826" name="内容占位符 2">
            <a:extLst>
              <a:ext uri="{FF2B5EF4-FFF2-40B4-BE49-F238E27FC236}">
                <a16:creationId xmlns:a16="http://schemas.microsoft.com/office/drawing/2014/main" id="{9B8DBABC-5943-475B-938A-CEADFB4079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809750"/>
            <a:ext cx="8283575" cy="4686300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不要求掌握</a:t>
            </a:r>
          </a:p>
        </p:txBody>
      </p:sp>
      <p:sp>
        <p:nvSpPr>
          <p:cNvPr id="77827" name="日期占位符 1">
            <a:extLst>
              <a:ext uri="{FF2B5EF4-FFF2-40B4-BE49-F238E27FC236}">
                <a16:creationId xmlns:a16="http://schemas.microsoft.com/office/drawing/2014/main" id="{0DE6AF7A-FC31-4E14-BC7A-8FAF44EC34B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B56698D-85B9-49E1-B914-DE4ACAF1C39F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1">
            <a:extLst>
              <a:ext uri="{FF2B5EF4-FFF2-40B4-BE49-F238E27FC236}">
                <a16:creationId xmlns:a16="http://schemas.microsoft.com/office/drawing/2014/main" id="{0410D270-AC25-4227-A1A0-5FB76359EA3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</a:rPr>
              <a:t>停机指令和空操作指令</a:t>
            </a:r>
          </a:p>
        </p:txBody>
      </p:sp>
      <p:sp>
        <p:nvSpPr>
          <p:cNvPr id="72707" name="内容占位符 2">
            <a:extLst>
              <a:ext uri="{FF2B5EF4-FFF2-40B4-BE49-F238E27FC236}">
                <a16:creationId xmlns:a16="http://schemas.microsoft.com/office/drawing/2014/main" id="{58A6AC89-3FFD-48E8-8091-4D8B4C247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525" y="1073150"/>
            <a:ext cx="7934325" cy="5378450"/>
          </a:xfrm>
        </p:spPr>
        <p:txBody>
          <a:bodyPr/>
          <a:lstStyle/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HLT 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停机指令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 (Halt)</a:t>
            </a:r>
            <a:endParaRPr lang="en-US" altLang="x-none" sz="20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使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进入暂停状态，当下列情况之一发生时，则脱离暂停状态：</a:t>
            </a:r>
          </a:p>
          <a:p>
            <a:pPr marL="1905" indent="-1905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2" charset="0"/>
              </a:rPr>
              <a:t>在</a:t>
            </a:r>
            <a:r>
              <a:rPr lang="en-US" altLang="x-none" sz="2800" noProof="1">
                <a:latin typeface="Times New Roman" panose="02020603050405020304" pitchFamily="2" charset="0"/>
              </a:rPr>
              <a:t>RESET</a:t>
            </a:r>
            <a:r>
              <a:rPr lang="zh-CN" altLang="en-US" sz="2800" noProof="1">
                <a:latin typeface="Times New Roman" panose="02020603050405020304" pitchFamily="2" charset="0"/>
              </a:rPr>
              <a:t>线上加复位信号；</a:t>
            </a:r>
          </a:p>
          <a:p>
            <a:pPr marL="1905" indent="-1905" algn="l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2" charset="0"/>
              </a:rPr>
              <a:t>在</a:t>
            </a:r>
            <a:r>
              <a:rPr lang="en-US" altLang="x-none" sz="2800" noProof="1">
                <a:latin typeface="Times New Roman" panose="02020603050405020304" pitchFamily="2" charset="0"/>
              </a:rPr>
              <a:t>NMI</a:t>
            </a:r>
            <a:r>
              <a:rPr lang="zh-CN" altLang="en-US" sz="2800" noProof="1">
                <a:latin typeface="Times New Roman" panose="02020603050405020304" pitchFamily="2" charset="0"/>
              </a:rPr>
              <a:t>引脚上出现中断请求信号；</a:t>
            </a:r>
          </a:p>
          <a:p>
            <a:pPr marL="1905" indent="-1905" algn="l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2" charset="0"/>
              </a:rPr>
              <a:t>在允许中断的情况下，在</a:t>
            </a:r>
            <a:r>
              <a:rPr lang="en-US" altLang="x-none" sz="2800" noProof="1">
                <a:latin typeface="Times New Roman" panose="02020603050405020304" pitchFamily="2" charset="0"/>
              </a:rPr>
              <a:t>INTR</a:t>
            </a:r>
            <a:r>
              <a:rPr lang="zh-CN" altLang="en-US" sz="2800" noProof="1">
                <a:latin typeface="Times New Roman" panose="02020603050405020304" pitchFamily="2" charset="0"/>
              </a:rPr>
              <a:t>引脚上出现中断请求信号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程序中常用</a:t>
            </a:r>
            <a:r>
              <a:rPr lang="en-US" altLang="x-none" sz="2800" noProof="1">
                <a:latin typeface="Times New Roman" panose="02020603050405020304" pitchFamily="2" charset="0"/>
              </a:rPr>
              <a:t>HLT</a:t>
            </a:r>
            <a:r>
              <a:rPr lang="zh-CN" altLang="en-US" sz="2800" noProof="1">
                <a:latin typeface="Times New Roman" panose="02020603050405020304" pitchFamily="2" charset="0"/>
              </a:rPr>
              <a:t>指令来等待中断的出现</a:t>
            </a:r>
          </a:p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 2) NOP 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空操作或无操作指令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 (No Operation)</a:t>
            </a:r>
            <a:endParaRPr lang="en-US" altLang="x-none" sz="20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单字节</a:t>
            </a:r>
            <a:r>
              <a:rPr lang="zh-CN" altLang="en-US" sz="2800" noProof="1">
                <a:latin typeface="Times New Roman" panose="02020603050405020304" pitchFamily="2" charset="0"/>
              </a:rPr>
              <a:t>指令，执行时耗费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3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个时钟周期</a:t>
            </a:r>
            <a:r>
              <a:rPr lang="zh-CN" altLang="en-US" sz="2800" noProof="1">
                <a:latin typeface="Times New Roman" panose="02020603050405020304" pitchFamily="2" charset="0"/>
              </a:rPr>
              <a:t>的时间，但不完成任何操作，可以用作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软件延时</a:t>
            </a:r>
          </a:p>
        </p:txBody>
      </p:sp>
      <p:sp>
        <p:nvSpPr>
          <p:cNvPr id="78851" name="日期占位符 1">
            <a:extLst>
              <a:ext uri="{FF2B5EF4-FFF2-40B4-BE49-F238E27FC236}">
                <a16:creationId xmlns:a16="http://schemas.microsoft.com/office/drawing/2014/main" id="{4FAE251B-E980-4CB6-9EA7-7736252CDE3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C2A91E9-0FF7-4A3C-98E9-F6625AA76CFD}" type="datetime10">
              <a:rPr lang="zh-CN" altLang="en-US" smtClean="0">
                <a:latin typeface="Times New Roman" panose="02020603050405020304" pitchFamily="18" charset="0"/>
              </a:rPr>
              <a:pPr algn="just"/>
              <a:t>08:57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165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2707">
                                            <p:txEl>
                                              <p:charRg st="165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微机模板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4646"/>
    </a:dk2>
    <a:lt2>
      <a:srgbClr val="E1F0FF"/>
    </a:lt2>
    <a:accent1>
      <a:srgbClr val="50742F"/>
    </a:accent1>
    <a:accent2>
      <a:srgbClr val="268868"/>
    </a:accent2>
    <a:accent3>
      <a:srgbClr val="AAB0B0"/>
    </a:accent3>
    <a:accent4>
      <a:srgbClr val="DADADA"/>
    </a:accent4>
    <a:accent5>
      <a:srgbClr val="B3BCAD"/>
    </a:accent5>
    <a:accent6>
      <a:srgbClr val="217B5E"/>
    </a:accent6>
    <a:hlink>
      <a:srgbClr val="D9BE02"/>
    </a:hlink>
    <a:folHlink>
      <a:srgbClr val="F900F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Pages>0</Pages>
  <Words>4230</Words>
  <Characters>0</Characters>
  <Application>Microsoft Office PowerPoint</Application>
  <DocSecurity>0</DocSecurity>
  <PresentationFormat>全屏显示(4:3)</PresentationFormat>
  <Lines>0</Lines>
  <Paragraphs>648</Paragraphs>
  <Slides>74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7" baseType="lpstr">
      <vt:lpstr>方正姚体</vt:lpstr>
      <vt:lpstr>黑体</vt:lpstr>
      <vt:lpstr>华文中宋</vt:lpstr>
      <vt:lpstr>楷体_GB2312</vt:lpstr>
      <vt:lpstr>宋体</vt:lpstr>
      <vt:lpstr>Arial</vt:lpstr>
      <vt:lpstr>Garamond</vt:lpstr>
      <vt:lpstr>Symbol</vt:lpstr>
      <vt:lpstr>Times New Roman</vt:lpstr>
      <vt:lpstr>Wingdings</vt:lpstr>
      <vt:lpstr>Wingdings 3</vt:lpstr>
      <vt:lpstr>微机模板</vt:lpstr>
      <vt:lpstr>default</vt:lpstr>
      <vt:lpstr>PowerPoint 演示文稿</vt:lpstr>
      <vt:lpstr>§3.3  8086的指令系统</vt:lpstr>
      <vt:lpstr>3.3.3  逻辑运算和移位指令</vt:lpstr>
      <vt:lpstr>3.3.3  逻辑运算和移位指令</vt:lpstr>
      <vt:lpstr>1. 逻辑运算指令  (Logical Operations)</vt:lpstr>
      <vt:lpstr>PowerPoint 演示文稿</vt:lpstr>
      <vt:lpstr>PowerPoint 演示文稿</vt:lpstr>
      <vt:lpstr>1. 逻辑运算指令</vt:lpstr>
      <vt:lpstr>1. 逻辑运算指令</vt:lpstr>
      <vt:lpstr>1. 逻辑运算指令</vt:lpstr>
      <vt:lpstr>1. 逻辑运算指令（test举例）</vt:lpstr>
      <vt:lpstr>1. 逻辑运算指令  小结*</vt:lpstr>
      <vt:lpstr>2. 算术逻辑移位指令     (Shift Arithmetic and Shift Logical)</vt:lpstr>
      <vt:lpstr>PowerPoint 演示文稿</vt:lpstr>
      <vt:lpstr>2. 算术逻辑移位指令（SAL SHL举例）</vt:lpstr>
      <vt:lpstr>2. 算术逻辑移位指令</vt:lpstr>
      <vt:lpstr>2. 算术逻辑移位指令</vt:lpstr>
      <vt:lpstr>3. 循环移位指令 (Rotate)</vt:lpstr>
      <vt:lpstr>3. 循环移位指令 (Rotate)</vt:lpstr>
      <vt:lpstr>3. 循环移位指令 特点</vt:lpstr>
      <vt:lpstr>3. 循环移位指令举例 </vt:lpstr>
      <vt:lpstr>§3.3  8086的指令系统</vt:lpstr>
      <vt:lpstr>§3.3  8086的指令系统</vt:lpstr>
      <vt:lpstr>3.3.5  控制转移指令</vt:lpstr>
      <vt:lpstr>3.3.5  控制转移指令</vt:lpstr>
      <vt:lpstr>控制转移指令</vt:lpstr>
      <vt:lpstr>1. 无条件转移和过程调用指令      (Unconditional Transfer and Call)</vt:lpstr>
      <vt:lpstr>无条件转移指令</vt:lpstr>
      <vt:lpstr>无条件转移指令</vt:lpstr>
      <vt:lpstr>无条件转移指令</vt:lpstr>
      <vt:lpstr>无条件转移指令举例</vt:lpstr>
      <vt:lpstr>无条件转移指令（间接转移）</vt:lpstr>
      <vt:lpstr>无条件转移指令（间接转移）</vt:lpstr>
      <vt:lpstr>无条件转移指令（段间转移）</vt:lpstr>
      <vt:lpstr>无条件转移指令（段间转移）</vt:lpstr>
      <vt:lpstr>PowerPoint 演示文稿</vt:lpstr>
      <vt:lpstr>过程调用指令</vt:lpstr>
      <vt:lpstr>过程调用指令</vt:lpstr>
      <vt:lpstr>过程调用指令</vt:lpstr>
      <vt:lpstr>设调用前：CS:IP=2000H:1050H， SS:SP=5000H:0100H，PROG-N与CALL指令之间的字节距离等于1234H (即DISP=1234H)</vt:lpstr>
      <vt:lpstr>例3.84</vt:lpstr>
      <vt:lpstr>过程调用指令的返回（RET）</vt:lpstr>
      <vt:lpstr>PowerPoint 演示文稿</vt:lpstr>
      <vt:lpstr>过程调用指令</vt:lpstr>
      <vt:lpstr>过程调用指令（间接调用）</vt:lpstr>
      <vt:lpstr>（3） 段间直接调用 例3.86 CALL   FAR  PTR  PROG_F   ；PROG_F是一个远标号 该指令含5个字节，编码格式为：</vt:lpstr>
      <vt:lpstr>过程调用指令</vt:lpstr>
      <vt:lpstr>过程调用指令（远过程调用的返回指令）</vt:lpstr>
      <vt:lpstr>过程调用指令</vt:lpstr>
      <vt:lpstr>过程调用指令</vt:lpstr>
      <vt:lpstr>过程调用指令(RET  n)</vt:lpstr>
      <vt:lpstr>过程调用指令(RET  n)</vt:lpstr>
      <vt:lpstr>2. 条件转移指令 (Conditional Transfer)</vt:lpstr>
      <vt:lpstr>PowerPoint 演示文稿</vt:lpstr>
      <vt:lpstr>2. 条件转移指令（直接标志转移指令举例）</vt:lpstr>
      <vt:lpstr>2. 条件转移指令</vt:lpstr>
      <vt:lpstr>2. 条件转移指令</vt:lpstr>
      <vt:lpstr>2. 条件转移指令（间接标志转移指令举例）</vt:lpstr>
      <vt:lpstr>2. 条件转移指令 （间接标志转移指令举例）</vt:lpstr>
      <vt:lpstr>2. 条件转移指令（编程举例）</vt:lpstr>
      <vt:lpstr>PowerPoint 演示文稿</vt:lpstr>
      <vt:lpstr>2. 条件转移指令（编程举例）</vt:lpstr>
      <vt:lpstr>2. 条件转移指令（编程举例）</vt:lpstr>
      <vt:lpstr>3. 循环控制指令（Iteration control）</vt:lpstr>
      <vt:lpstr>PowerPoint 演示文稿</vt:lpstr>
      <vt:lpstr>PowerPoint 演示文稿</vt:lpstr>
      <vt:lpstr>4. 中断指令 (Interrupt)</vt:lpstr>
      <vt:lpstr>4. 中断指令</vt:lpstr>
      <vt:lpstr>4. 中断指令</vt:lpstr>
      <vt:lpstr>§3.3  8086的指令系统</vt:lpstr>
      <vt:lpstr>3.3.6  处理器控制指令</vt:lpstr>
      <vt:lpstr>1. 标志操作指令</vt:lpstr>
      <vt:lpstr>2. 外部同步指令</vt:lpstr>
      <vt:lpstr>3. 停机指令和空操作指令</vt:lpstr>
    </vt:vector>
  </TitlesOfParts>
  <Manager/>
  <Company>UESTC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subject/>
  <dc:creator>冯周</dc:creator>
  <cp:keywords/>
  <dc:description/>
  <cp:lastModifiedBy>Hong Zhang</cp:lastModifiedBy>
  <cp:revision>554</cp:revision>
  <dcterms:created xsi:type="dcterms:W3CDTF">2003-06-02T01:23:00Z</dcterms:created>
  <dcterms:modified xsi:type="dcterms:W3CDTF">2023-03-20T01:01:07Z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
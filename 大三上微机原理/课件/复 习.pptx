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2"/>
  </p:notesMasterIdLst>
  <p:sldIdLst>
    <p:sldId id="257" r:id="rId2"/>
    <p:sldId id="282" r:id="rId3"/>
    <p:sldId id="288" r:id="rId4"/>
    <p:sldId id="258" r:id="rId5"/>
    <p:sldId id="278" r:id="rId6"/>
    <p:sldId id="283" r:id="rId7"/>
    <p:sldId id="279" r:id="rId8"/>
    <p:sldId id="280" r:id="rId9"/>
    <p:sldId id="284" r:id="rId10"/>
    <p:sldId id="259" r:id="rId11"/>
    <p:sldId id="260" r:id="rId12"/>
    <p:sldId id="261" r:id="rId13"/>
    <p:sldId id="263" r:id="rId14"/>
    <p:sldId id="265" r:id="rId15"/>
    <p:sldId id="306" r:id="rId16"/>
    <p:sldId id="268" r:id="rId17"/>
    <p:sldId id="266" r:id="rId18"/>
    <p:sldId id="267" r:id="rId19"/>
    <p:sldId id="287" r:id="rId20"/>
    <p:sldId id="276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32786" autoAdjust="0"/>
    <p:restoredTop sz="90929" autoAdjust="0"/>
  </p:normalViewPr>
  <p:slideViewPr>
    <p:cSldViewPr>
      <p:cViewPr varScale="1">
        <p:scale>
          <a:sx n="67" d="100"/>
          <a:sy n="67" d="100"/>
        </p:scale>
        <p:origin x="15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66463EBB-88F2-4C90-B5D3-B7043C5D53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4039892-66BD-43DD-85E8-7C5E441BF01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405A9DE-8DDE-4DF2-97FA-7E052B4B53AF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8DCFBA9E-96B0-4316-BEFA-B76DCBC3FC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E9389271-75BB-41BA-8B4C-BF8F86CB17F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40182F8B-5E64-40BC-B5ED-D3AD502127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>
                <a:latin typeface="Times New Roman" panose="02020603050405020304" pitchFamily="18" charset="0"/>
                <a:cs typeface="+mn-ea"/>
              </a:defRPr>
            </a:lvl1pPr>
          </a:lstStyle>
          <a:p>
            <a:fld id="{068DCC54-21F4-46FE-834B-6C219E828BF2}" type="slidenum">
              <a:rPr lang="zh-CN" altLang="en-US"/>
              <a:pPr/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04C96E9F-2BC9-44DB-8758-49E85A9708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68401820-E033-416D-9F68-4DEEF189F600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7C6D4DAD-1E9F-4FB4-B67F-7B2C27DCFFCE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3788C00-427B-4A0E-BF96-A62746D6EC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584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0D3792-AE26-464C-89A2-677A84F91D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0F0CD3-CC2A-4121-93F1-C84B29FAB3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769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EDB31B-F60F-4A28-A3E4-02F44EE94A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D14EB0BC-9DCD-4655-9A1C-139138AAE00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37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34510C-4214-40EC-B465-EEA97FAAD9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59907B-B606-431F-8B07-1190E07229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819A16-38EA-4721-B6D2-A292F36BFD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E000FE-2736-445D-B9DB-4379F8FBF39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36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AA21DCF-4D22-4204-89CD-4CFD9EC779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43ABBC-BB24-4A50-B0E4-220C449AD6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FFF97E-963F-4071-A5A4-44DE0877D4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CFB8B3-6221-4F59-8A3E-44CE7781959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70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559C48-A2C1-4F01-A375-20290FE5FF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B4F43-01E3-43E5-B99E-846D7A3130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86DC9F-6E78-4841-9D2C-73D1BA6809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BB743D-340F-4DE5-ACFE-987DB7958EE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7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3635CB2-8466-4255-9E5B-A5CF5A0738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F9CD952-8E4B-4D21-8C7B-C0FB7712B8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1B355B7-638E-42AE-878C-1F7D964429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B83193-05FF-493A-A8B2-91C6367C2B4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41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D3B0680-77ED-4D46-B1EC-7FF785DD36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22D31F-E793-4758-A422-15D44C53C3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0950AFA-3B55-4AE1-982D-36961B43CD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D6AE6E-B78D-4662-A1DD-77B4E072DA4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4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BB1A1E0-A70D-429A-AB1F-3783D4CFD8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67B1FA0-A763-432D-B6F4-1952BD5DCF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052FF43-491B-433A-AD98-C79733640A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E99A59-A79B-4EE4-B8DF-CF2D395278D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31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73ED7C-5B23-47E1-9AEA-A2830D1877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46DE95-98DB-4E74-95CC-EEE6F91994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BE816-48B3-49EA-8B4B-1F1B9E47E8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798BDE-DD60-4682-9241-24F4429F310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61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05943F-CAA7-45F1-B63A-CA8D82BE5A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2DAA3D-3A6B-450A-B09F-7BC2D9BF6E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B3577-2162-4DE4-9CC3-DA9851696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78369-1D45-425E-96C3-1FB9671F0A2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89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8DF10B-C61A-4DA4-B73E-C706AEC028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CB4BCF-BBA2-4077-B09E-82036A44D5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532BD6-677F-4073-AF5F-ECE525DD23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E07E82-641F-4606-A218-81939B9DFEE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133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E3557B-4ED9-4BD2-AF9D-EC3ABD538A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BDBA67-B5A6-4B76-A6F3-A4A687F786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EE8511-CBDE-40FD-A35D-EFAD2DE6B1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58C487-9E90-4A16-B9AC-4293F098718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690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F6EFB9C-DE0B-4137-AE94-30EB116A4994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3C09CCF-0F96-478A-B6A2-671A75AAC4C6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 bwMode="auto">
          <a:xfrm>
            <a:off x="304800" y="1981200"/>
            <a:ext cx="85407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5BCE1751-FBAF-4D3F-A8CF-6D37FF8A80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0A6897D6-55ED-4BE3-9011-ECB9317A48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7AA77A95-28D8-4E59-BDAE-FF103F725F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noProof="1" dirty="0">
                <a:cs typeface="+mn-ea"/>
              </a:defRPr>
            </a:lvl1pPr>
          </a:lstStyle>
          <a:p>
            <a:fld id="{770E9EE5-961F-4B27-92EE-9F00B1468B31}" type="slidenum">
              <a:rPr lang="zh-CN" altLang="en-US"/>
              <a:pPr/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3" r:id="rId3"/>
    <p:sldLayoutId id="2147483662" r:id="rId4"/>
    <p:sldLayoutId id="2147483661" r:id="rId5"/>
    <p:sldLayoutId id="2147483660" r:id="rId6"/>
    <p:sldLayoutId id="2147483659" r:id="rId7"/>
    <p:sldLayoutId id="2147483658" r:id="rId8"/>
    <p:sldLayoutId id="2147483657" r:id="rId9"/>
    <p:sldLayoutId id="2147483656" r:id="rId10"/>
    <p:sldLayoutId id="214748365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3">
            <a:extLst>
              <a:ext uri="{FF2B5EF4-FFF2-40B4-BE49-F238E27FC236}">
                <a16:creationId xmlns:a16="http://schemas.microsoft.com/office/drawing/2014/main" id="{C7E44C05-0CDD-4A95-99E8-53D92238D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8686800" cy="49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第一章 微型计算机概述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Times New Roman" panose="02020603050405020304" pitchFamily="18" charset="0"/>
              </a:rPr>
              <a:t>了解微型计算机层次结构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	微处理器 微型计算机和微型计算机系统</a:t>
            </a:r>
          </a:p>
          <a:p>
            <a:pPr lvl="2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微型计算机系统的硬件结构</a:t>
            </a:r>
          </a:p>
          <a:p>
            <a:pPr lvl="3">
              <a:spcBef>
                <a:spcPct val="20000"/>
              </a:spcBef>
              <a:buFontTx/>
              <a:buChar char="•"/>
            </a:pPr>
            <a:r>
              <a:rPr lang="zh-CN" altLang="en-US" sz="2400">
                <a:latin typeface="Times New Roman" panose="02020603050405020304" pitchFamily="18" charset="0"/>
              </a:rPr>
              <a:t>冯·诺依曼（</a:t>
            </a:r>
            <a:r>
              <a:rPr lang="en-US" altLang="zh-CN" sz="2400">
                <a:latin typeface="Times New Roman" panose="02020603050405020304" pitchFamily="18" charset="0"/>
              </a:rPr>
              <a:t>von Neuman）</a:t>
            </a:r>
            <a:r>
              <a:rPr lang="zh-CN" altLang="en-US" sz="2400">
                <a:latin typeface="Times New Roman" panose="02020603050405020304" pitchFamily="18" charset="0"/>
              </a:rPr>
              <a:t>结构</a:t>
            </a:r>
          </a:p>
          <a:p>
            <a:r>
              <a:rPr lang="zh-CN" altLang="en-US" sz="2400">
                <a:latin typeface="Times New Roman" panose="02020603050405020304" pitchFamily="18" charset="0"/>
              </a:rPr>
              <a:t>                        由运算器、控制器、存储器、输入设备和输出设</a:t>
            </a:r>
          </a:p>
          <a:p>
            <a:r>
              <a:rPr lang="zh-CN" altLang="en-US" sz="2400">
                <a:latin typeface="Times New Roman" panose="02020603050405020304" pitchFamily="18" charset="0"/>
              </a:rPr>
              <a:t>		备组成。</a:t>
            </a:r>
          </a:p>
          <a:p>
            <a:r>
              <a:rPr lang="zh-CN" altLang="en-US" sz="2400">
                <a:latin typeface="Times New Roman" panose="02020603050405020304" pitchFamily="18" charset="0"/>
              </a:rPr>
              <a:t>                    	程序指令和数据采用二进制表示</a:t>
            </a:r>
          </a:p>
          <a:p>
            <a:r>
              <a:rPr lang="zh-CN" altLang="en-US" sz="2400">
                <a:latin typeface="Times New Roman" panose="02020603050405020304" pitchFamily="18" charset="0"/>
              </a:rPr>
              <a:t>                    	实现程序存储和程序控制。</a:t>
            </a:r>
          </a:p>
          <a:p>
            <a:pPr lvl="3">
              <a:spcBef>
                <a:spcPct val="20000"/>
              </a:spcBef>
              <a:buFontTx/>
              <a:buChar char="•"/>
            </a:pPr>
            <a:r>
              <a:rPr lang="zh-CN" altLang="en-US" sz="2400">
                <a:latin typeface="宋体" panose="02010600030101010101" pitchFamily="2" charset="-122"/>
              </a:rPr>
              <a:t>早期微型计算机的三总线结构</a:t>
            </a: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zh-CN" altLang="en-US" sz="2400">
                <a:latin typeface="宋体" panose="02010600030101010101" pitchFamily="2" charset="-122"/>
              </a:rPr>
              <a:t>总线的概念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</a:p>
          <a:p>
            <a:pPr lvl="3">
              <a:spcBef>
                <a:spcPct val="2000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数据总线，地址总线和控制总线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4">
            <a:extLst>
              <a:ext uri="{FF2B5EF4-FFF2-40B4-BE49-F238E27FC236}">
                <a16:creationId xmlns:a16="http://schemas.microsoft.com/office/drawing/2014/main" id="{404B616F-D10A-4EF5-ADA6-5B049749A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836613"/>
            <a:ext cx="8208962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/>
              <a:t>微处理器的基本结构与指令执行过程</a:t>
            </a:r>
          </a:p>
          <a:p>
            <a:r>
              <a:rPr lang="zh-CN" altLang="en-US" sz="2800"/>
              <a:t>    基本组成</a:t>
            </a:r>
          </a:p>
          <a:p>
            <a:r>
              <a:rPr lang="zh-CN" altLang="en-US" sz="2800" b="1"/>
              <a:t>         </a:t>
            </a:r>
            <a:r>
              <a:rPr lang="zh-CN" altLang="en-US" sz="2800"/>
              <a:t>累加器和算术逻辑单元（</a:t>
            </a:r>
            <a:r>
              <a:rPr lang="en-US" altLang="zh-CN" sz="2800"/>
              <a:t>ALU</a:t>
            </a:r>
            <a:r>
              <a:rPr lang="zh-CN" altLang="en-US" sz="2800"/>
              <a:t>）</a:t>
            </a:r>
          </a:p>
          <a:p>
            <a:r>
              <a:rPr lang="zh-CN" altLang="en-US" sz="2800"/>
              <a:t>         寄存器阵列</a:t>
            </a:r>
          </a:p>
          <a:p>
            <a:r>
              <a:rPr lang="zh-CN" altLang="en-US" sz="2800"/>
              <a:t>         控制部件</a:t>
            </a:r>
          </a:p>
          <a:p>
            <a:r>
              <a:rPr lang="zh-CN" altLang="en-US" sz="2800" b="1" i="1">
                <a:solidFill>
                  <a:schemeClr val="hlink"/>
                </a:solidFill>
              </a:rPr>
              <a:t>     </a:t>
            </a:r>
            <a:r>
              <a:rPr lang="zh-CN" altLang="en-US" sz="2800"/>
              <a:t>执行过程</a:t>
            </a:r>
          </a:p>
          <a:p>
            <a:r>
              <a:rPr lang="zh-CN" altLang="en-US" sz="2800"/>
              <a:t>          取指令、分析指令、执行指令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/>
              <a:t>运算基础</a:t>
            </a:r>
          </a:p>
          <a:p>
            <a:r>
              <a:rPr lang="zh-CN" altLang="en-US" sz="2800"/>
              <a:t> </a:t>
            </a:r>
            <a:r>
              <a:rPr lang="en-US" altLang="zh-CN" sz="2800"/>
              <a:t>    </a:t>
            </a:r>
            <a:r>
              <a:rPr lang="zh-CN" altLang="en-US" sz="2800"/>
              <a:t>基本概念： 原码、反码和补码，</a:t>
            </a:r>
            <a:r>
              <a:rPr lang="en-US" altLang="zh-CN" sz="2800"/>
              <a:t>BCD</a:t>
            </a:r>
            <a:r>
              <a:rPr lang="zh-CN" altLang="en-US" sz="2800"/>
              <a:t>码 ，</a:t>
            </a:r>
            <a:r>
              <a:rPr lang="en-US" altLang="zh-CN" sz="2800"/>
              <a:t>ASCII</a:t>
            </a:r>
            <a:r>
              <a:rPr lang="zh-CN" altLang="en-US" sz="2800"/>
              <a:t>码</a:t>
            </a:r>
          </a:p>
          <a:p>
            <a:r>
              <a:rPr lang="zh-CN" altLang="en-US" sz="2800"/>
              <a:t>     有符号数与无符号数，符号数的表示与补码运算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4">
            <a:extLst>
              <a:ext uri="{FF2B5EF4-FFF2-40B4-BE49-F238E27FC236}">
                <a16:creationId xmlns:a16="http://schemas.microsoft.com/office/drawing/2014/main" id="{C81AFC3F-575B-436D-9D6B-C557940D8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85788"/>
            <a:ext cx="7921625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若</a:t>
            </a:r>
            <a:r>
              <a:rPr lang="en-US" altLang="zh-CN" sz="2800"/>
              <a:t>X= -107</a:t>
            </a:r>
            <a:r>
              <a:rPr lang="zh-CN" altLang="en-US" sz="2800"/>
              <a:t>，</a:t>
            </a:r>
            <a:r>
              <a:rPr lang="en-US" altLang="zh-CN" sz="2800"/>
              <a:t>Y= 74</a:t>
            </a:r>
            <a:r>
              <a:rPr lang="zh-CN" altLang="en-US" sz="2800"/>
              <a:t>为字节宽度的有符号数，那么</a:t>
            </a:r>
            <a:r>
              <a:rPr lang="en-US" altLang="zh-CN" sz="2800"/>
              <a:t>[X]</a:t>
            </a:r>
            <a:r>
              <a:rPr lang="zh-CN" altLang="en-US" sz="2800" baseline="-25000"/>
              <a:t>补</a:t>
            </a:r>
            <a:r>
              <a:rPr lang="zh-CN" altLang="en-US" sz="2800"/>
              <a:t>为</a:t>
            </a:r>
            <a:r>
              <a:rPr lang="zh-CN" altLang="en-US" sz="2800" u="sng"/>
              <a:t>        </a:t>
            </a:r>
            <a:r>
              <a:rPr lang="en-US" altLang="zh-CN" sz="2800"/>
              <a:t>H</a:t>
            </a:r>
            <a:r>
              <a:rPr lang="zh-CN" altLang="en-US" sz="2800"/>
              <a:t>， </a:t>
            </a:r>
            <a:r>
              <a:rPr lang="en-US" altLang="zh-CN" sz="2800"/>
              <a:t>[Y]</a:t>
            </a:r>
            <a:r>
              <a:rPr lang="zh-CN" altLang="en-US" sz="2800" baseline="-25000"/>
              <a:t>补</a:t>
            </a:r>
            <a:r>
              <a:rPr lang="zh-CN" altLang="en-US" sz="2800"/>
              <a:t>为</a:t>
            </a:r>
            <a:r>
              <a:rPr lang="zh-CN" altLang="en-US" sz="2800" u="sng"/>
              <a:t>        </a:t>
            </a:r>
            <a:r>
              <a:rPr lang="en-US" altLang="zh-CN" sz="2800"/>
              <a:t>H</a:t>
            </a:r>
            <a:r>
              <a:rPr lang="zh-CN" altLang="en-US" sz="2800"/>
              <a:t>，</a:t>
            </a:r>
            <a:r>
              <a:rPr lang="en-US" altLang="zh-CN" sz="2800"/>
              <a:t>[X+Y]</a:t>
            </a:r>
            <a:r>
              <a:rPr lang="zh-CN" altLang="en-US" sz="2800" baseline="-25000"/>
              <a:t>补</a:t>
            </a:r>
            <a:r>
              <a:rPr lang="zh-CN" altLang="en-US" sz="2800"/>
              <a:t>为</a:t>
            </a:r>
            <a:r>
              <a:rPr lang="zh-CN" altLang="en-US" sz="2800" u="sng"/>
              <a:t>       </a:t>
            </a:r>
            <a:r>
              <a:rPr lang="en-US" altLang="zh-CN" sz="2800"/>
              <a:t>H</a:t>
            </a:r>
            <a:r>
              <a:rPr lang="zh-CN" altLang="en-US" sz="2800"/>
              <a:t>， </a:t>
            </a:r>
            <a:r>
              <a:rPr lang="en-US" altLang="zh-CN" sz="2800"/>
              <a:t>[X-Y]</a:t>
            </a:r>
            <a:r>
              <a:rPr lang="zh-CN" altLang="en-US" sz="2800" baseline="-25000"/>
              <a:t>补</a:t>
            </a:r>
            <a:r>
              <a:rPr lang="zh-CN" altLang="en-US"/>
              <a:t>为</a:t>
            </a:r>
            <a:r>
              <a:rPr lang="zh-CN" altLang="en-US" u="sng"/>
              <a:t>        </a:t>
            </a:r>
            <a:r>
              <a:rPr lang="en-US" altLang="zh-CN"/>
              <a:t>H</a:t>
            </a:r>
            <a:r>
              <a:rPr lang="zh-CN" altLang="en-US"/>
              <a:t> </a:t>
            </a:r>
            <a:r>
              <a:rPr lang="zh-CN" altLang="en-US" sz="2800"/>
              <a:t>，若将</a:t>
            </a:r>
            <a:r>
              <a:rPr lang="en-US" altLang="zh-CN" sz="2800"/>
              <a:t>[X]</a:t>
            </a:r>
            <a:r>
              <a:rPr lang="zh-CN" altLang="en-US" sz="2800" baseline="-25000"/>
              <a:t>补</a:t>
            </a:r>
            <a:r>
              <a:rPr lang="zh-CN" altLang="en-US" sz="2800"/>
              <a:t>扩展到</a:t>
            </a:r>
            <a:r>
              <a:rPr lang="en-US" altLang="zh-CN" sz="2800"/>
              <a:t>16</a:t>
            </a:r>
            <a:r>
              <a:rPr lang="zh-CN" altLang="en-US" sz="2800"/>
              <a:t>位有符号数则为</a:t>
            </a:r>
            <a:r>
              <a:rPr lang="en-US" altLang="zh-CN" sz="2800" u="sng"/>
              <a:t>        </a:t>
            </a:r>
            <a:r>
              <a:rPr lang="en-US" altLang="zh-CN" sz="2800"/>
              <a:t>H</a:t>
            </a:r>
            <a:r>
              <a:rPr lang="zh-CN" altLang="en-US" sz="2800"/>
              <a:t>。</a:t>
            </a:r>
          </a:p>
        </p:txBody>
      </p:sp>
      <p:sp>
        <p:nvSpPr>
          <p:cNvPr id="6146" name="Text Box 5">
            <a:extLst>
              <a:ext uri="{FF2B5EF4-FFF2-40B4-BE49-F238E27FC236}">
                <a16:creationId xmlns:a16="http://schemas.microsoft.com/office/drawing/2014/main" id="{9EB255A9-DF36-4006-ABF6-1169862EC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379663"/>
            <a:ext cx="7632700" cy="441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宋体" panose="02010600030101010101" pitchFamily="2" charset="-122"/>
              </a:rPr>
              <a:t>解：</a:t>
            </a:r>
            <a:endParaRPr lang="zh-CN" altLang="en-US" sz="2400"/>
          </a:p>
          <a:p>
            <a:pPr>
              <a:spcBef>
                <a:spcPct val="50000"/>
              </a:spcBef>
            </a:pPr>
            <a:r>
              <a:rPr lang="en-US" altLang="zh-CN" sz="2400"/>
              <a:t>[X]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= 10010101B = 95H   </a:t>
            </a:r>
            <a:r>
              <a:rPr lang="zh-CN" altLang="en-US" sz="2400"/>
              <a:t>（</a:t>
            </a:r>
            <a:r>
              <a:rPr lang="en-US" altLang="zh-CN" sz="2400"/>
              <a:t>107 =01101011B</a:t>
            </a:r>
            <a:r>
              <a:rPr lang="zh-CN" altLang="en-US" sz="2400"/>
              <a:t>）</a:t>
            </a:r>
          </a:p>
          <a:p>
            <a:pPr>
              <a:spcBef>
                <a:spcPct val="50000"/>
              </a:spcBef>
            </a:pPr>
            <a:r>
              <a:rPr lang="en-US" altLang="zh-CN" sz="2400"/>
              <a:t>[Y]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= 01001010B = 4AH	</a:t>
            </a:r>
            <a:endParaRPr lang="zh-CN" altLang="en-US" sz="2400"/>
          </a:p>
          <a:p>
            <a:pPr>
              <a:spcBef>
                <a:spcPct val="50000"/>
              </a:spcBef>
            </a:pPr>
            <a:r>
              <a:rPr lang="en-US" altLang="zh-CN" sz="2400"/>
              <a:t>[X +Y]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= [X]</a:t>
            </a:r>
            <a:r>
              <a:rPr lang="zh-CN" altLang="en-US" sz="2400" baseline="-25000"/>
              <a:t>补</a:t>
            </a:r>
            <a:r>
              <a:rPr lang="en-US" altLang="zh-CN" sz="2400"/>
              <a:t>+ [Y]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 = 10010101B+ 01001010B </a:t>
            </a:r>
          </a:p>
          <a:p>
            <a:pPr>
              <a:spcBef>
                <a:spcPct val="50000"/>
              </a:spcBef>
            </a:pPr>
            <a:r>
              <a:rPr lang="en-US" altLang="zh-CN" sz="2400"/>
              <a:t>               = 11011111B = 0DFH</a:t>
            </a:r>
          </a:p>
          <a:p>
            <a:r>
              <a:rPr lang="en-US" altLang="zh-CN" sz="2400"/>
              <a:t>[-Y]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= [Y]</a:t>
            </a:r>
            <a:r>
              <a:rPr lang="zh-CN" altLang="en-US" sz="2400" baseline="-25000"/>
              <a:t>补</a:t>
            </a:r>
            <a:r>
              <a:rPr lang="zh-CN" altLang="en-US" sz="2400"/>
              <a:t>取反加</a:t>
            </a:r>
            <a:r>
              <a:rPr lang="en-US" altLang="zh-CN" sz="2400"/>
              <a:t>1 = 10110110B = 0B6H</a:t>
            </a:r>
            <a:r>
              <a:rPr lang="en-US" altLang="zh-CN"/>
              <a:t> </a:t>
            </a:r>
            <a:endParaRPr lang="en-US" altLang="zh-CN" sz="2400"/>
          </a:p>
          <a:p>
            <a:r>
              <a:rPr lang="en-US" altLang="zh-CN" sz="2400"/>
              <a:t>[X -Y]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= [X]</a:t>
            </a:r>
            <a:r>
              <a:rPr lang="zh-CN" altLang="en-US" sz="2400" baseline="-25000"/>
              <a:t>补</a:t>
            </a:r>
            <a:r>
              <a:rPr lang="en-US" altLang="zh-CN" sz="2400"/>
              <a:t>+ [-Y]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 = 10010101B+ 10110110B  </a:t>
            </a:r>
          </a:p>
          <a:p>
            <a:r>
              <a:rPr lang="en-US" altLang="zh-CN" sz="2400"/>
              <a:t>               = 1 01001011B = 4BH  </a:t>
            </a:r>
            <a:r>
              <a:rPr lang="zh-CN" altLang="en-US" sz="2400"/>
              <a:t>结果溢出</a:t>
            </a:r>
          </a:p>
          <a:p>
            <a:pPr>
              <a:spcBef>
                <a:spcPct val="50000"/>
              </a:spcBef>
            </a:pPr>
            <a:r>
              <a:rPr lang="en-US" altLang="zh-CN" sz="2400"/>
              <a:t>[X]</a:t>
            </a:r>
            <a:r>
              <a:rPr lang="zh-CN" altLang="en-US" sz="2400" baseline="-25000"/>
              <a:t>补</a:t>
            </a:r>
            <a:r>
              <a:rPr lang="en-US" altLang="zh-CN" sz="2400" baseline="-25000"/>
              <a:t>16</a:t>
            </a:r>
            <a:r>
              <a:rPr lang="en-US" altLang="zh-CN" sz="2400"/>
              <a:t> = 0FF95H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2">
            <a:extLst>
              <a:ext uri="{FF2B5EF4-FFF2-40B4-BE49-F238E27FC236}">
                <a16:creationId xmlns:a16="http://schemas.microsoft.com/office/drawing/2014/main" id="{AA6387B7-ECDA-4988-86A5-8F9EB6269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39688"/>
            <a:ext cx="8610600" cy="694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      </a:t>
            </a:r>
            <a:r>
              <a:rPr lang="zh-CN" altLang="en-US" sz="2800">
                <a:latin typeface="Times New Roman" panose="02020603050405020304" pitchFamily="18" charset="0"/>
              </a:rPr>
              <a:t>第二章  </a:t>
            </a:r>
            <a:r>
              <a:rPr lang="en-US" altLang="zh-CN" sz="2800">
                <a:latin typeface="Times New Roman" panose="02020603050405020304" pitchFamily="18" charset="0"/>
              </a:rPr>
              <a:t>8086</a:t>
            </a:r>
            <a:r>
              <a:rPr lang="zh-CN" altLang="en-US" sz="2800">
                <a:latin typeface="Times New Roman" panose="02020603050405020304" pitchFamily="18" charset="0"/>
              </a:rPr>
              <a:t>微型计算机体系结构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>
                <a:latin typeface="Times New Roman" panose="02020603050405020304" pitchFamily="18" charset="0"/>
              </a:rPr>
              <a:t>8086</a:t>
            </a:r>
            <a:r>
              <a:rPr lang="zh-CN" altLang="en-US" sz="2400">
                <a:latin typeface="Times New Roman" panose="02020603050405020304" pitchFamily="18" charset="0"/>
              </a:rPr>
              <a:t>微处理器的内部结构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        执行单元(</a:t>
            </a:r>
            <a:r>
              <a:rPr lang="en-US" altLang="zh-CN" sz="2400">
                <a:latin typeface="Times New Roman" panose="02020603050405020304" pitchFamily="18" charset="0"/>
              </a:rPr>
              <a:t>EU)</a:t>
            </a:r>
            <a:r>
              <a:rPr lang="zh-CN" altLang="en-US" sz="2400">
                <a:latin typeface="Times New Roman" panose="02020603050405020304" pitchFamily="18" charset="0"/>
              </a:rPr>
              <a:t>和总线接口单元（</a:t>
            </a:r>
            <a:r>
              <a:rPr lang="en-US" altLang="zh-CN" sz="2400">
                <a:latin typeface="Times New Roman" panose="02020603050405020304" pitchFamily="18" charset="0"/>
              </a:rPr>
              <a:t>BIU）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50000"/>
            </a:pPr>
            <a:r>
              <a:rPr lang="en-US" altLang="zh-CN" sz="2000">
                <a:latin typeface="Times New Roman" panose="02020603050405020304" pitchFamily="18" charset="0"/>
              </a:rPr>
              <a:t>	</a:t>
            </a:r>
            <a:r>
              <a:rPr lang="en-US" altLang="zh-CN" sz="2200">
                <a:latin typeface="Times New Roman" panose="02020603050405020304" pitchFamily="18" charset="0"/>
              </a:rPr>
              <a:t>EU</a:t>
            </a:r>
            <a:r>
              <a:rPr lang="zh-CN" altLang="en-US" sz="2200">
                <a:latin typeface="Times New Roman" panose="02020603050405020304" pitchFamily="18" charset="0"/>
              </a:rPr>
              <a:t>：完成算术逻辑运算，计算出要寻址的操作数地址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50000"/>
            </a:pPr>
            <a:r>
              <a:rPr lang="en-US" altLang="zh-CN" sz="2200">
                <a:latin typeface="Times New Roman" panose="02020603050405020304" pitchFamily="18" charset="0"/>
              </a:rPr>
              <a:t>	BIU</a:t>
            </a:r>
            <a:r>
              <a:rPr lang="zh-CN" altLang="en-US" sz="2200">
                <a:latin typeface="Times New Roman" panose="02020603050405020304" pitchFamily="18" charset="0"/>
              </a:rPr>
              <a:t>：完成取指令,操作数的存取，指令队列减少取指等待时间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50000"/>
            </a:pPr>
            <a:r>
              <a:rPr lang="zh-CN" altLang="en-US" sz="2200">
                <a:latin typeface="Times New Roman" panose="02020603050405020304" pitchFamily="18" charset="0"/>
              </a:rPr>
              <a:t>        取指和执行指令分开完成，实现</a:t>
            </a:r>
            <a:r>
              <a:rPr lang="en-US" altLang="zh-CN" sz="2200">
                <a:latin typeface="Times New Roman" panose="02020603050405020304" pitchFamily="18" charset="0"/>
              </a:rPr>
              <a:t>CPU</a:t>
            </a:r>
            <a:r>
              <a:rPr lang="zh-CN" altLang="en-US" sz="2200">
                <a:latin typeface="Times New Roman" panose="02020603050405020304" pitchFamily="18" charset="0"/>
              </a:rPr>
              <a:t>并行工作—两级流水线。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>
                <a:latin typeface="Times New Roman" panose="02020603050405020304" pitchFamily="18" charset="0"/>
              </a:rPr>
              <a:t>8086CPU</a:t>
            </a:r>
            <a:r>
              <a:rPr lang="zh-CN" altLang="en-US" sz="2400">
                <a:latin typeface="Times New Roman" panose="02020603050405020304" pitchFamily="18" charset="0"/>
              </a:rPr>
              <a:t>寄存器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基本寄存器：八个16位通用寄存器 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                         	</a:t>
            </a:r>
            <a:r>
              <a:rPr lang="zh-CN" altLang="en-US" sz="2200">
                <a:latin typeface="Times New Roman" panose="02020603050405020304" pitchFamily="18" charset="0"/>
              </a:rPr>
              <a:t>数据寄存器:  </a:t>
            </a:r>
            <a:r>
              <a:rPr lang="en-US" altLang="zh-CN" sz="2200">
                <a:latin typeface="Times New Roman" panose="02020603050405020304" pitchFamily="18" charset="0"/>
              </a:rPr>
              <a:t>AX(AH AL)、BX（BH BL）、					          CX(CH CL)、DX(DH DL )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                         	</a:t>
            </a:r>
            <a:r>
              <a:rPr lang="zh-CN" altLang="en-US" sz="2200">
                <a:latin typeface="Times New Roman" panose="02020603050405020304" pitchFamily="18" charset="0"/>
              </a:rPr>
              <a:t>地址指针及变址寄存器:</a:t>
            </a:r>
            <a:r>
              <a:rPr lang="en-US" altLang="zh-CN" sz="2200">
                <a:latin typeface="Times New Roman" panose="02020603050405020304" pitchFamily="18" charset="0"/>
              </a:rPr>
              <a:t>SP BP SI  DI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		     </a:t>
            </a:r>
            <a:r>
              <a:rPr lang="zh-CN" altLang="en-US" sz="2200">
                <a:latin typeface="Times New Roman" panose="02020603050405020304" pitchFamily="18" charset="0"/>
              </a:rPr>
              <a:t>控制寄存器组</a:t>
            </a:r>
          </a:p>
          <a:p>
            <a:pPr eaLnBrk="0" hangingPunct="0"/>
            <a:r>
              <a:rPr lang="zh-CN" altLang="en-US" sz="2200" b="1">
                <a:latin typeface="Times New Roman" panose="02020603050405020304" pitchFamily="18" charset="0"/>
              </a:rPr>
              <a:t>			</a:t>
            </a:r>
            <a:r>
              <a:rPr lang="zh-CN" altLang="en-US" sz="2200">
                <a:latin typeface="Times New Roman" panose="02020603050405020304" pitchFamily="18" charset="0"/>
              </a:rPr>
              <a:t>指令指针</a:t>
            </a:r>
            <a:r>
              <a:rPr lang="en-US" altLang="zh-CN" sz="2200">
                <a:latin typeface="Times New Roman" panose="02020603050405020304" pitchFamily="18" charset="0"/>
              </a:rPr>
              <a:t>IP   </a:t>
            </a:r>
            <a:r>
              <a:rPr lang="zh-CN" altLang="en-US" sz="2200">
                <a:latin typeface="Times New Roman" panose="02020603050405020304" pitchFamily="18" charset="0"/>
              </a:rPr>
              <a:t>标志寄存器</a:t>
            </a:r>
            <a:r>
              <a:rPr lang="en-US" altLang="zh-CN" sz="2200">
                <a:latin typeface="Times New Roman" panose="02020603050405020304" pitchFamily="18" charset="0"/>
              </a:rPr>
              <a:t>FLAG </a:t>
            </a:r>
          </a:p>
          <a:p>
            <a:pPr eaLnBrk="0" hangingPunct="0"/>
            <a:r>
              <a:rPr lang="en-US" altLang="zh-CN" sz="2200">
                <a:latin typeface="Times New Roman" panose="02020603050405020304" pitchFamily="18" charset="0"/>
              </a:rPr>
              <a:t>	                  </a:t>
            </a:r>
            <a:r>
              <a:rPr lang="zh-CN" altLang="en-US" sz="2200">
                <a:latin typeface="Times New Roman" panose="02020603050405020304" pitchFamily="18" charset="0"/>
              </a:rPr>
              <a:t>四个段寄存器（ 四种类型的存储器段）</a:t>
            </a:r>
            <a:endParaRPr lang="en-US" altLang="zh-CN" sz="2200">
              <a:latin typeface="Times New Roman" panose="02020603050405020304" pitchFamily="18" charset="0"/>
            </a:endParaRPr>
          </a:p>
          <a:p>
            <a:pPr eaLnBrk="0" hangingPunct="0"/>
            <a:r>
              <a:rPr lang="zh-CN" altLang="en-US" sz="2200">
                <a:latin typeface="Times New Roman" panose="02020603050405020304" pitchFamily="18" charset="0"/>
              </a:rPr>
              <a:t>                                        </a:t>
            </a:r>
            <a:r>
              <a:rPr lang="en-US" altLang="zh-CN" sz="2200">
                <a:latin typeface="Times New Roman" panose="02020603050405020304" pitchFamily="18" charset="0"/>
              </a:rPr>
              <a:t>CS DS SS ES—</a:t>
            </a:r>
            <a:r>
              <a:rPr lang="zh-CN" altLang="en-US" sz="2200">
                <a:latin typeface="Times New Roman" panose="02020603050405020304" pitchFamily="18" charset="0"/>
              </a:rPr>
              <a:t>实现存储器空间的分段管理</a:t>
            </a:r>
          </a:p>
          <a:p>
            <a:pPr eaLnBrk="0" hangingPunct="0"/>
            <a:r>
              <a:rPr lang="zh-CN" altLang="en-US" sz="2200">
                <a:latin typeface="Times New Roman" panose="02020603050405020304" pitchFamily="18" charset="0"/>
              </a:rPr>
              <a:t>       </a:t>
            </a:r>
            <a:endParaRPr lang="en-US" altLang="zh-CN" sz="22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D748C9-5CE1-4058-A248-46FD86553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25" y="4840288"/>
            <a:ext cx="5121275" cy="1322387"/>
          </a:xfrm>
          <a:prstGeom prst="rect">
            <a:avLst/>
          </a:prstGeom>
          <a:solidFill>
            <a:srgbClr val="B0FFFD"/>
          </a:solidFill>
          <a:ln w="28575">
            <a:solidFill>
              <a:srgbClr val="C00000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-3429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各种寄存器的作用和在指令中的使用方法</a:t>
            </a:r>
          </a:p>
          <a:p>
            <a:pPr eaLnBrk="0" hangingPunct="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标志寄存器各标志位的功能</a:t>
            </a:r>
          </a:p>
          <a:p>
            <a:pPr eaLnBrk="0" hangingPunct="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常用指令对标志位的影响</a:t>
            </a:r>
          </a:p>
          <a:p>
            <a:pPr eaLnBrk="0" hangingPunct="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复位后各寄存器状态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2">
            <a:extLst>
              <a:ext uri="{FF2B5EF4-FFF2-40B4-BE49-F238E27FC236}">
                <a16:creationId xmlns:a16="http://schemas.microsoft.com/office/drawing/2014/main" id="{F7CE299A-1D90-41B2-8A30-DA2A7D847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09600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1800"/>
          </a:p>
        </p:txBody>
      </p:sp>
      <p:sp>
        <p:nvSpPr>
          <p:cNvPr id="8194" name="Text Box 3">
            <a:extLst>
              <a:ext uri="{FF2B5EF4-FFF2-40B4-BE49-F238E27FC236}">
                <a16:creationId xmlns:a16="http://schemas.microsoft.com/office/drawing/2014/main" id="{F184F477-F872-4B0A-A03A-194FB8CC5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88"/>
            <a:ext cx="8534400" cy="64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zh-CN" sz="2400" dirty="0">
                <a:latin typeface="Times New Roman" panose="02020603050405020304" pitchFamily="18" charset="0"/>
              </a:rPr>
              <a:t>8086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zh-CN" sz="2400" dirty="0">
                <a:latin typeface="Times New Roman" panose="02020603050405020304" pitchFamily="18" charset="0"/>
              </a:rPr>
              <a:t>的引脚及功能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主要引脚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         地址线数据线   </a:t>
            </a:r>
            <a:r>
              <a:rPr lang="en-US" altLang="zh-CN" sz="2200" dirty="0">
                <a:latin typeface="Times New Roman" panose="02020603050405020304" pitchFamily="18" charset="0"/>
              </a:rPr>
              <a:t>AD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200" dirty="0">
                <a:latin typeface="Times New Roman" panose="02020603050405020304" pitchFamily="18" charset="0"/>
              </a:rPr>
              <a:t>~AD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15</a:t>
            </a:r>
            <a:r>
              <a:rPr lang="zh-CN" altLang="en-US" sz="2200" dirty="0">
                <a:latin typeface="Times New Roman" panose="02020603050405020304" pitchFamily="18" charset="0"/>
              </a:rPr>
              <a:t>分时复用， </a:t>
            </a:r>
            <a:r>
              <a:rPr lang="en-US" altLang="zh-CN" sz="2200" dirty="0">
                <a:latin typeface="Times New Roman" panose="02020603050405020304" pitchFamily="18" charset="0"/>
              </a:rPr>
              <a:t>A16~A19</a:t>
            </a:r>
            <a:r>
              <a:rPr lang="zh-CN" altLang="en-US" sz="2200" dirty="0">
                <a:latin typeface="Times New Roman" panose="02020603050405020304" pitchFamily="18" charset="0"/>
              </a:rPr>
              <a:t>高位地址或状态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         控制和状态线   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	总线操作： </a:t>
            </a:r>
            <a:r>
              <a:rPr lang="en-US" altLang="zh-CN" sz="2200" dirty="0">
                <a:latin typeface="Times New Roman" panose="02020603050405020304" pitchFamily="18" charset="0"/>
              </a:rPr>
              <a:t>RD,WR,READY, M/IO,ALE,BHE, </a:t>
            </a: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Times New Roman" panose="02020603050405020304" pitchFamily="18" charset="0"/>
              </a:rPr>
              <a:t>		        HOLD,HLDA , DEN, DT/R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Times New Roman" panose="02020603050405020304" pitchFamily="18" charset="0"/>
              </a:rPr>
              <a:t>	</a:t>
            </a:r>
            <a:r>
              <a:rPr lang="zh-CN" altLang="en-US" sz="2200" dirty="0">
                <a:latin typeface="Times New Roman" panose="02020603050405020304" pitchFamily="18" charset="0"/>
              </a:rPr>
              <a:t>中断与复位：</a:t>
            </a:r>
            <a:r>
              <a:rPr lang="en-US" altLang="zh-CN" sz="2200" dirty="0">
                <a:latin typeface="Times New Roman" panose="02020603050405020304" pitchFamily="18" charset="0"/>
              </a:rPr>
              <a:t>NMI,INTR,INTA,RESET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	工作方式与测试：</a:t>
            </a:r>
            <a:r>
              <a:rPr lang="en-US" altLang="zh-CN" sz="2200" dirty="0">
                <a:latin typeface="Times New Roman" panose="02020603050405020304" pitchFamily="18" charset="0"/>
              </a:rPr>
              <a:t> MN/MX,TEST 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             电源和定时线 ： </a:t>
            </a:r>
            <a:r>
              <a:rPr lang="en-US" altLang="zh-CN" sz="2200" dirty="0">
                <a:latin typeface="Times New Roman" panose="02020603050405020304" pitchFamily="18" charset="0"/>
              </a:rPr>
              <a:t>VCC,GND,CLK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各引脚功能功能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问： </a:t>
            </a: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ALE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引脚的功能是什么？</a:t>
            </a:r>
            <a:r>
              <a:rPr lang="zh-CN" altLang="en-US" sz="2200" dirty="0">
                <a:latin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如果没有</a:t>
            </a: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BHE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信号会怎么样？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</a:rPr>
              <a:t>8086</a:t>
            </a:r>
            <a:r>
              <a:rPr lang="zh-CN" altLang="en-US" sz="2400" dirty="0">
                <a:latin typeface="Times New Roman" panose="02020603050405020304" pitchFamily="18" charset="0"/>
              </a:rPr>
              <a:t>在最小模式下的典型配置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锁存器和缓冲器的工作原理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最小模式下的典型配置图</a:t>
            </a:r>
          </a:p>
        </p:txBody>
      </p:sp>
      <p:sp>
        <p:nvSpPr>
          <p:cNvPr id="8195" name="Line 8">
            <a:extLst>
              <a:ext uri="{FF2B5EF4-FFF2-40B4-BE49-F238E27FC236}">
                <a16:creationId xmlns:a16="http://schemas.microsoft.com/office/drawing/2014/main" id="{9EBED875-DD97-416D-BBB1-66E7C3F4A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2860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9">
            <a:extLst>
              <a:ext uri="{FF2B5EF4-FFF2-40B4-BE49-F238E27FC236}">
                <a16:creationId xmlns:a16="http://schemas.microsoft.com/office/drawing/2014/main" id="{DEDDF616-3945-443F-83C5-6A188E184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9650" y="22860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Line 10">
            <a:extLst>
              <a:ext uri="{FF2B5EF4-FFF2-40B4-BE49-F238E27FC236}">
                <a16:creationId xmlns:a16="http://schemas.microsoft.com/office/drawing/2014/main" id="{0B699FB9-936B-49EE-A5EB-AB89F3A43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2971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Line 11">
            <a:extLst>
              <a:ext uri="{FF2B5EF4-FFF2-40B4-BE49-F238E27FC236}">
                <a16:creationId xmlns:a16="http://schemas.microsoft.com/office/drawing/2014/main" id="{EE326EEA-E023-4083-83C6-0B5A9C11B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4950" y="22971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Line 12">
            <a:extLst>
              <a:ext uri="{FF2B5EF4-FFF2-40B4-BE49-F238E27FC236}">
                <a16:creationId xmlns:a16="http://schemas.microsoft.com/office/drawing/2014/main" id="{C45D0DA7-AF88-47A9-8623-6A744EB73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7638" y="2689225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Line 13">
            <a:extLst>
              <a:ext uri="{FF2B5EF4-FFF2-40B4-BE49-F238E27FC236}">
                <a16:creationId xmlns:a16="http://schemas.microsoft.com/office/drawing/2014/main" id="{2A55A23B-6A9D-4DA3-AB70-244BC00CB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2188" y="2643188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" name="Line 14">
            <a:extLst>
              <a:ext uri="{FF2B5EF4-FFF2-40B4-BE49-F238E27FC236}">
                <a16:creationId xmlns:a16="http://schemas.microsoft.com/office/drawing/2014/main" id="{373D448E-B041-4DAB-AA25-C66569F08A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3500438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DFB05098-29E3-4A0C-8E53-1B1CFC5C959F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304800" y="1295400"/>
            <a:ext cx="8153400" cy="4856163"/>
          </a:xfrm>
        </p:spPr>
        <p:txBody>
          <a:bodyPr/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ea typeface="楷体_GB2312" pitchFamily="49" charset="-122"/>
              </a:rPr>
              <a:t>            </a:t>
            </a:r>
          </a:p>
        </p:txBody>
      </p:sp>
      <p:grpSp>
        <p:nvGrpSpPr>
          <p:cNvPr id="9218" name="Group 3">
            <a:extLst>
              <a:ext uri="{FF2B5EF4-FFF2-40B4-BE49-F238E27FC236}">
                <a16:creationId xmlns:a16="http://schemas.microsoft.com/office/drawing/2014/main" id="{C81C82A4-8425-4331-A9D1-C0A825F512A6}"/>
              </a:ext>
            </a:extLst>
          </p:cNvPr>
          <p:cNvGrpSpPr>
            <a:grpSpLocks/>
          </p:cNvGrpSpPr>
          <p:nvPr/>
        </p:nvGrpSpPr>
        <p:grpSpPr bwMode="auto">
          <a:xfrm>
            <a:off x="2170113" y="1863725"/>
            <a:ext cx="558800" cy="654050"/>
            <a:chOff x="1536" y="1536"/>
            <a:chExt cx="336" cy="288"/>
          </a:xfrm>
        </p:grpSpPr>
        <p:sp>
          <p:nvSpPr>
            <p:cNvPr id="9219" name="Line 4">
              <a:extLst>
                <a:ext uri="{FF2B5EF4-FFF2-40B4-BE49-F238E27FC236}">
                  <a16:creationId xmlns:a16="http://schemas.microsoft.com/office/drawing/2014/main" id="{12EBE7F2-52F0-4488-93C4-051195AD3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5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" name="Line 5">
              <a:extLst>
                <a:ext uri="{FF2B5EF4-FFF2-40B4-BE49-F238E27FC236}">
                  <a16:creationId xmlns:a16="http://schemas.microsoft.com/office/drawing/2014/main" id="{AEDEB0F7-546A-424C-9AB9-12DF0F7B1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68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" name="Line 6">
              <a:extLst>
                <a:ext uri="{FF2B5EF4-FFF2-40B4-BE49-F238E27FC236}">
                  <a16:creationId xmlns:a16="http://schemas.microsoft.com/office/drawing/2014/main" id="{08629A3D-69B1-44A5-A042-0A5F37A0F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824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2" name="Rectangle 7">
            <a:extLst>
              <a:ext uri="{FF2B5EF4-FFF2-40B4-BE49-F238E27FC236}">
                <a16:creationId xmlns:a16="http://schemas.microsoft.com/office/drawing/2014/main" id="{82EC89CB-6ED5-4F5A-B304-AAE12F558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725" y="3390900"/>
            <a:ext cx="79375" cy="5445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223" name="Group 8">
            <a:extLst>
              <a:ext uri="{FF2B5EF4-FFF2-40B4-BE49-F238E27FC236}">
                <a16:creationId xmlns:a16="http://schemas.microsoft.com/office/drawing/2014/main" id="{215E265D-8FE3-4AC4-80C6-7E38835835AA}"/>
              </a:ext>
            </a:extLst>
          </p:cNvPr>
          <p:cNvGrpSpPr>
            <a:grpSpLocks/>
          </p:cNvGrpSpPr>
          <p:nvPr/>
        </p:nvGrpSpPr>
        <p:grpSpPr bwMode="auto">
          <a:xfrm>
            <a:off x="1239838" y="990600"/>
            <a:ext cx="958850" cy="1744663"/>
            <a:chOff x="977" y="1152"/>
            <a:chExt cx="576" cy="768"/>
          </a:xfrm>
        </p:grpSpPr>
        <p:sp>
          <p:nvSpPr>
            <p:cNvPr id="9224" name="Rectangle 9">
              <a:extLst>
                <a:ext uri="{FF2B5EF4-FFF2-40B4-BE49-F238E27FC236}">
                  <a16:creationId xmlns:a16="http://schemas.microsoft.com/office/drawing/2014/main" id="{CBD09CE3-7712-4E48-9D3D-CEE16F786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" y="1440"/>
              <a:ext cx="576" cy="48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1000" b="1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1600" b="1">
                  <a:latin typeface="Times New Roman" panose="02020603050405020304" pitchFamily="18" charset="0"/>
                  <a:ea typeface="楷体_GB2312" pitchFamily="49" charset="-122"/>
                </a:rPr>
                <a:t>        </a:t>
              </a:r>
              <a:r>
                <a:rPr lang="en-US" altLang="zh-CN" sz="140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1200" b="1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1600" b="1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/>
              <a:endParaRPr lang="en-US" altLang="zh-CN" sz="1600" b="1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/>
              <a:r>
                <a:rPr lang="zh-CN" altLang="en-US" sz="1600" b="1"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1600" b="1">
                  <a:latin typeface="Times New Roman" panose="02020603050405020304" pitchFamily="18" charset="0"/>
                  <a:ea typeface="楷体_GB2312" pitchFamily="49" charset="-122"/>
                </a:rPr>
                <a:t>8284A</a:t>
              </a:r>
              <a:r>
                <a:rPr lang="zh-CN" altLang="en-US" sz="1600" b="1"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9225" name="Group 10">
              <a:extLst>
                <a:ext uri="{FF2B5EF4-FFF2-40B4-BE49-F238E27FC236}">
                  <a16:creationId xmlns:a16="http://schemas.microsoft.com/office/drawing/2014/main" id="{ADE5BEE4-0619-4238-BBE5-53EEA6B07C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152"/>
              <a:ext cx="336" cy="288"/>
              <a:chOff x="1104" y="1152"/>
              <a:chExt cx="336" cy="288"/>
            </a:xfrm>
          </p:grpSpPr>
          <p:sp>
            <p:nvSpPr>
              <p:cNvPr id="9226" name="Rectangle 11">
                <a:extLst>
                  <a:ext uri="{FF2B5EF4-FFF2-40B4-BE49-F238E27FC236}">
                    <a16:creationId xmlns:a16="http://schemas.microsoft.com/office/drawing/2014/main" id="{E71FA5FD-EFD6-495D-A06B-3758AD02F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152"/>
                <a:ext cx="48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227" name="Group 12">
                <a:extLst>
                  <a:ext uri="{FF2B5EF4-FFF2-40B4-BE49-F238E27FC236}">
                    <a16:creationId xmlns:a16="http://schemas.microsoft.com/office/drawing/2014/main" id="{346D2387-754C-4A17-9543-29C3E2BF73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152"/>
                <a:ext cx="96" cy="288"/>
                <a:chOff x="1104" y="1152"/>
                <a:chExt cx="96" cy="288"/>
              </a:xfrm>
            </p:grpSpPr>
            <p:sp>
              <p:nvSpPr>
                <p:cNvPr id="9228" name="Line 13">
                  <a:extLst>
                    <a:ext uri="{FF2B5EF4-FFF2-40B4-BE49-F238E27FC236}">
                      <a16:creationId xmlns:a16="http://schemas.microsoft.com/office/drawing/2014/main" id="{C947AE3A-48E3-4353-B305-A2BBA8E9CB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1152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29" name="Line 14">
                  <a:extLst>
                    <a:ext uri="{FF2B5EF4-FFF2-40B4-BE49-F238E27FC236}">
                      <a16:creationId xmlns:a16="http://schemas.microsoft.com/office/drawing/2014/main" id="{2D355982-450E-4F49-8510-0F5F5FA6D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48"/>
                  <a:ext cx="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0" name="Line 15">
                  <a:extLst>
                    <a:ext uri="{FF2B5EF4-FFF2-40B4-BE49-F238E27FC236}">
                      <a16:creationId xmlns:a16="http://schemas.microsoft.com/office/drawing/2014/main" id="{3AB51953-4E39-44B1-8092-BA52F7729A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48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31" name="Group 16">
                <a:extLst>
                  <a:ext uri="{FF2B5EF4-FFF2-40B4-BE49-F238E27FC236}">
                    <a16:creationId xmlns:a16="http://schemas.microsoft.com/office/drawing/2014/main" id="{60D96083-5E83-407D-96F9-247E5F8FF6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344" y="1152"/>
                <a:ext cx="96" cy="288"/>
                <a:chOff x="1104" y="1152"/>
                <a:chExt cx="96" cy="288"/>
              </a:xfrm>
            </p:grpSpPr>
            <p:sp>
              <p:nvSpPr>
                <p:cNvPr id="9232" name="Line 17">
                  <a:extLst>
                    <a:ext uri="{FF2B5EF4-FFF2-40B4-BE49-F238E27FC236}">
                      <a16:creationId xmlns:a16="http://schemas.microsoft.com/office/drawing/2014/main" id="{74466A73-38C6-42B8-86FD-49947A6C92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1152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3" name="Line 18">
                  <a:extLst>
                    <a:ext uri="{FF2B5EF4-FFF2-40B4-BE49-F238E27FC236}">
                      <a16:creationId xmlns:a16="http://schemas.microsoft.com/office/drawing/2014/main" id="{9AD15B2E-8ED5-4896-BA34-A9C879C3EA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48"/>
                  <a:ext cx="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4" name="Line 19">
                  <a:extLst>
                    <a:ext uri="{FF2B5EF4-FFF2-40B4-BE49-F238E27FC236}">
                      <a16:creationId xmlns:a16="http://schemas.microsoft.com/office/drawing/2014/main" id="{2078FE21-4F79-45FD-8CA6-6451CBC4C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48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9235" name="Rectangle 20">
            <a:extLst>
              <a:ext uri="{FF2B5EF4-FFF2-40B4-BE49-F238E27FC236}">
                <a16:creationId xmlns:a16="http://schemas.microsoft.com/office/drawing/2014/main" id="{59545F42-44A6-4CD8-B8F0-528B25F5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317625"/>
            <a:ext cx="879475" cy="22907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6" name="Rectangle 21">
            <a:extLst>
              <a:ext uri="{FF2B5EF4-FFF2-40B4-BE49-F238E27FC236}">
                <a16:creationId xmlns:a16="http://schemas.microsoft.com/office/drawing/2014/main" id="{C5E438EA-6620-46BD-BFF9-6D08D2C7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427163"/>
            <a:ext cx="1327150" cy="527843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7" name="Text Box 22">
            <a:extLst>
              <a:ext uri="{FF2B5EF4-FFF2-40B4-BE49-F238E27FC236}">
                <a16:creationId xmlns:a16="http://schemas.microsoft.com/office/drawing/2014/main" id="{3DC500C4-28B2-4BFC-A4ED-438C323C9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63" y="1427163"/>
            <a:ext cx="1198562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zh-CN" altLang="en-US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zh-CN" altLang="en-US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zh-CN" altLang="en-US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4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238" name="Text Box 23">
            <a:extLst>
              <a:ext uri="{FF2B5EF4-FFF2-40B4-BE49-F238E27FC236}">
                <a16:creationId xmlns:a16="http://schemas.microsoft.com/office/drawing/2014/main" id="{E95F11EB-D169-4FD0-9BCA-FC88A4539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3608388"/>
            <a:ext cx="639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b="1">
                <a:latin typeface="Times New Roman" panose="02020603050405020304" pitchFamily="18" charset="0"/>
              </a:rPr>
              <a:t>8086</a:t>
            </a: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9239" name="Line 24">
            <a:extLst>
              <a:ext uri="{FF2B5EF4-FFF2-40B4-BE49-F238E27FC236}">
                <a16:creationId xmlns:a16="http://schemas.microsoft.com/office/drawing/2014/main" id="{8F939234-852E-446E-A5C5-5A3922095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1575" y="1555750"/>
            <a:ext cx="2397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0" name="Text Box 25">
            <a:extLst>
              <a:ext uri="{FF2B5EF4-FFF2-40B4-BE49-F238E27FC236}">
                <a16:creationId xmlns:a16="http://schemas.microsoft.com/office/drawing/2014/main" id="{E9CDBC26-9084-478D-BCB9-552DC7216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488" y="1543050"/>
            <a:ext cx="13589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楷体_GB2312" pitchFamily="49" charset="-122"/>
              </a:rPr>
              <a:t>地址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楷体_GB2312" pitchFamily="49" charset="-122"/>
              </a:rPr>
              <a:t>锁存器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9241" name="Text Box 26">
            <a:extLst>
              <a:ext uri="{FF2B5EF4-FFF2-40B4-BE49-F238E27FC236}">
                <a16:creationId xmlns:a16="http://schemas.microsoft.com/office/drawing/2014/main" id="{110F18AA-8331-44D7-AEA9-E7CE6AFC6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190750"/>
            <a:ext cx="639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STB</a:t>
            </a:r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9242" name="Text Box 27">
            <a:extLst>
              <a:ext uri="{FF2B5EF4-FFF2-40B4-BE49-F238E27FC236}">
                <a16:creationId xmlns:a16="http://schemas.microsoft.com/office/drawing/2014/main" id="{1445E6B4-25E7-41F5-88E0-F521B60F0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863" y="3171825"/>
            <a:ext cx="1279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b="1">
                <a:latin typeface="Times New Roman" panose="02020603050405020304" pitchFamily="18" charset="0"/>
              </a:rPr>
              <a:t>（</a:t>
            </a:r>
            <a:r>
              <a:rPr lang="en-US" altLang="zh-CN" sz="1400" b="1">
                <a:latin typeface="Times New Roman" panose="02020603050405020304" pitchFamily="18" charset="0"/>
              </a:rPr>
              <a:t>8282*3</a:t>
            </a:r>
            <a:r>
              <a:rPr lang="zh-CN" altLang="en-US" sz="1400" b="1">
                <a:latin typeface="Times New Roman" panose="02020603050405020304" pitchFamily="18" charset="0"/>
              </a:rPr>
              <a:t>）</a:t>
            </a:r>
            <a:endParaRPr lang="zh-CN" altLang="en-US" sz="1000">
              <a:latin typeface="Times New Roman" panose="02020603050405020304" pitchFamily="18" charset="0"/>
            </a:endParaRPr>
          </a:p>
        </p:txBody>
      </p:sp>
      <p:grpSp>
        <p:nvGrpSpPr>
          <p:cNvPr id="9243" name="Group 28">
            <a:extLst>
              <a:ext uri="{FF2B5EF4-FFF2-40B4-BE49-F238E27FC236}">
                <a16:creationId xmlns:a16="http://schemas.microsoft.com/office/drawing/2014/main" id="{1E6BDBBD-6BD9-4E2C-9341-BC95CD6348AD}"/>
              </a:ext>
            </a:extLst>
          </p:cNvPr>
          <p:cNvGrpSpPr>
            <a:grpSpLocks/>
          </p:cNvGrpSpPr>
          <p:nvPr/>
        </p:nvGrpSpPr>
        <p:grpSpPr bwMode="auto">
          <a:xfrm>
            <a:off x="4070350" y="4246563"/>
            <a:ext cx="1997075" cy="2235200"/>
            <a:chOff x="2448" y="2448"/>
            <a:chExt cx="1200" cy="1079"/>
          </a:xfrm>
        </p:grpSpPr>
        <p:sp>
          <p:nvSpPr>
            <p:cNvPr id="9244" name="Line 29">
              <a:extLst>
                <a:ext uri="{FF2B5EF4-FFF2-40B4-BE49-F238E27FC236}">
                  <a16:creationId xmlns:a16="http://schemas.microsoft.com/office/drawing/2014/main" id="{95E8553A-8DB3-4DF1-ACFB-CAADC6FF4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720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Line 30">
              <a:extLst>
                <a:ext uri="{FF2B5EF4-FFF2-40B4-BE49-F238E27FC236}">
                  <a16:creationId xmlns:a16="http://schemas.microsoft.com/office/drawing/2014/main" id="{455EC7F2-530B-44C3-B703-EBF2B5F38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527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6" name="Line 31">
              <a:extLst>
                <a:ext uri="{FF2B5EF4-FFF2-40B4-BE49-F238E27FC236}">
                  <a16:creationId xmlns:a16="http://schemas.microsoft.com/office/drawing/2014/main" id="{7BE39E2C-EF88-4541-B01E-304F78B20C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120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32">
              <a:extLst>
                <a:ext uri="{FF2B5EF4-FFF2-40B4-BE49-F238E27FC236}">
                  <a16:creationId xmlns:a16="http://schemas.microsoft.com/office/drawing/2014/main" id="{D7B2E92F-5C9C-4FE0-AE7E-2967B87C9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264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Line 33">
              <a:extLst>
                <a:ext uri="{FF2B5EF4-FFF2-40B4-BE49-F238E27FC236}">
                  <a16:creationId xmlns:a16="http://schemas.microsoft.com/office/drawing/2014/main" id="{24A7447E-54B6-4083-A708-B4DB301D60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382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Line 34">
              <a:extLst>
                <a:ext uri="{FF2B5EF4-FFF2-40B4-BE49-F238E27FC236}">
                  <a16:creationId xmlns:a16="http://schemas.microsoft.com/office/drawing/2014/main" id="{0E124919-AEFE-41C2-968A-4009C3974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867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35">
              <a:extLst>
                <a:ext uri="{FF2B5EF4-FFF2-40B4-BE49-F238E27FC236}">
                  <a16:creationId xmlns:a16="http://schemas.microsoft.com/office/drawing/2014/main" id="{3E41A83A-14D8-4FA4-9296-856498E28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992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36">
              <a:extLst>
                <a:ext uri="{FF2B5EF4-FFF2-40B4-BE49-F238E27FC236}">
                  <a16:creationId xmlns:a16="http://schemas.microsoft.com/office/drawing/2014/main" id="{F0D80909-398C-4107-9624-3CE55078C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448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Line 37">
              <a:extLst>
                <a:ext uri="{FF2B5EF4-FFF2-40B4-BE49-F238E27FC236}">
                  <a16:creationId xmlns:a16="http://schemas.microsoft.com/office/drawing/2014/main" id="{5C5BD02B-1013-44A0-AE87-26E7F7BF0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592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53" name="Rectangle 38">
            <a:extLst>
              <a:ext uri="{FF2B5EF4-FFF2-40B4-BE49-F238E27FC236}">
                <a16:creationId xmlns:a16="http://schemas.microsoft.com/office/drawing/2014/main" id="{2C4AF9F4-60DB-4D04-9FD3-B170A788F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717925"/>
            <a:ext cx="879475" cy="9810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54" name="Text Box 39">
            <a:extLst>
              <a:ext uri="{FF2B5EF4-FFF2-40B4-BE49-F238E27FC236}">
                <a16:creationId xmlns:a16="http://schemas.microsoft.com/office/drawing/2014/main" id="{7651FD94-03E5-490B-B0C4-7CF452724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863" y="3717925"/>
            <a:ext cx="127952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b="1">
                <a:latin typeface="Times New Roman" panose="02020603050405020304" pitchFamily="18" charset="0"/>
              </a:rPr>
              <a:t>（</a:t>
            </a:r>
            <a:r>
              <a:rPr lang="en-US" altLang="zh-CN" sz="1400" b="1">
                <a:latin typeface="Times New Roman" panose="02020603050405020304" pitchFamily="18" charset="0"/>
              </a:rPr>
              <a:t>8286*2</a:t>
            </a:r>
            <a:r>
              <a:rPr lang="zh-CN" altLang="en-US" sz="1400" b="1">
                <a:latin typeface="Times New Roman" panose="02020603050405020304" pitchFamily="18" charset="0"/>
              </a:rPr>
              <a:t>）</a:t>
            </a:r>
            <a:endParaRPr lang="zh-CN" altLang="en-US" sz="1000">
              <a:latin typeface="Times New Roman" panose="02020603050405020304" pitchFamily="18" charset="0"/>
            </a:endParaRPr>
          </a:p>
        </p:txBody>
      </p:sp>
      <p:sp>
        <p:nvSpPr>
          <p:cNvPr id="9255" name="Text Box 40">
            <a:extLst>
              <a:ext uri="{FF2B5EF4-FFF2-40B4-BE49-F238E27FC236}">
                <a16:creationId xmlns:a16="http://schemas.microsoft.com/office/drawing/2014/main" id="{5326E356-BBA3-4885-B40D-D7BAA7F17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409892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OE</a:t>
            </a:r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9256" name="Text Box 41">
            <a:extLst>
              <a:ext uri="{FF2B5EF4-FFF2-40B4-BE49-F238E27FC236}">
                <a16:creationId xmlns:a16="http://schemas.microsoft.com/office/drawing/2014/main" id="{0565AD22-7875-4760-AC58-7AE443633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575" y="4305300"/>
            <a:ext cx="903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latin typeface="Times New Roman" panose="02020603050405020304" pitchFamily="18" charset="0"/>
              </a:rPr>
              <a:t>（选用）</a:t>
            </a:r>
            <a:endParaRPr lang="zh-CN" altLang="en-US" sz="1000">
              <a:latin typeface="Times New Roman" panose="02020603050405020304" pitchFamily="18" charset="0"/>
            </a:endParaRPr>
          </a:p>
        </p:txBody>
      </p:sp>
      <p:sp>
        <p:nvSpPr>
          <p:cNvPr id="9257" name="Line 42">
            <a:extLst>
              <a:ext uri="{FF2B5EF4-FFF2-40B4-BE49-F238E27FC236}">
                <a16:creationId xmlns:a16="http://schemas.microsoft.com/office/drawing/2014/main" id="{1692F3C1-3DFC-4B3C-9C74-241D6F14DE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7463" y="4137025"/>
            <a:ext cx="2397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8" name="AutoShape 43">
            <a:extLst>
              <a:ext uri="{FF2B5EF4-FFF2-40B4-BE49-F238E27FC236}">
                <a16:creationId xmlns:a16="http://schemas.microsoft.com/office/drawing/2014/main" id="{B03EED84-3B7E-4677-A7D9-4B6863CD7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350" y="3281363"/>
            <a:ext cx="958850" cy="195262"/>
          </a:xfrm>
          <a:prstGeom prst="leftRightArrow">
            <a:avLst>
              <a:gd name="adj1" fmla="val 50000"/>
              <a:gd name="adj2" fmla="val 98098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59" name="AutoShape 44">
            <a:extLst>
              <a:ext uri="{FF2B5EF4-FFF2-40B4-BE49-F238E27FC236}">
                <a16:creationId xmlns:a16="http://schemas.microsoft.com/office/drawing/2014/main" id="{6A065810-4CD0-4E7D-AABD-94BD51AA5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725" y="3825875"/>
            <a:ext cx="479425" cy="219075"/>
          </a:xfrm>
          <a:prstGeom prst="rightArrow">
            <a:avLst>
              <a:gd name="adj1" fmla="val 50000"/>
              <a:gd name="adj2" fmla="val 54659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60" name="AutoShape 45">
            <a:extLst>
              <a:ext uri="{FF2B5EF4-FFF2-40B4-BE49-F238E27FC236}">
                <a16:creationId xmlns:a16="http://schemas.microsoft.com/office/drawing/2014/main" id="{75A4D412-E4F4-4AB0-A5EA-B990DA2A5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350" y="2976563"/>
            <a:ext cx="958850" cy="195262"/>
          </a:xfrm>
          <a:prstGeom prst="rightArrow">
            <a:avLst>
              <a:gd name="adj1" fmla="val 50000"/>
              <a:gd name="adj2" fmla="val 122651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61" name="Line 46">
            <a:extLst>
              <a:ext uri="{FF2B5EF4-FFF2-40B4-BE49-F238E27FC236}">
                <a16:creationId xmlns:a16="http://schemas.microsoft.com/office/drawing/2014/main" id="{1EF0B0B8-FAF7-4C90-BC0D-E600DE800C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2408238"/>
            <a:ext cx="958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62" name="Line 47">
            <a:extLst>
              <a:ext uri="{FF2B5EF4-FFF2-40B4-BE49-F238E27FC236}">
                <a16:creationId xmlns:a16="http://schemas.microsoft.com/office/drawing/2014/main" id="{FE92B2FB-CD94-4BA1-93C6-BF657D5EA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2735263"/>
            <a:ext cx="958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63" name="AutoShape 48">
            <a:extLst>
              <a:ext uri="{FF2B5EF4-FFF2-40B4-BE49-F238E27FC236}">
                <a16:creationId xmlns:a16="http://schemas.microsoft.com/office/drawing/2014/main" id="{5F5C10DF-C973-4C43-9969-316D14E17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4038600"/>
            <a:ext cx="1517650" cy="217488"/>
          </a:xfrm>
          <a:prstGeom prst="leftRightArrow">
            <a:avLst>
              <a:gd name="adj1" fmla="val 50000"/>
              <a:gd name="adj2" fmla="val 139400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64" name="AutoShape 49">
            <a:extLst>
              <a:ext uri="{FF2B5EF4-FFF2-40B4-BE49-F238E27FC236}">
                <a16:creationId xmlns:a16="http://schemas.microsoft.com/office/drawing/2014/main" id="{866BC905-FFE6-41EA-BC08-B6A2F2D3E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8675" y="2298700"/>
            <a:ext cx="1517650" cy="219075"/>
          </a:xfrm>
          <a:prstGeom prst="rightArrow">
            <a:avLst>
              <a:gd name="adj1" fmla="val 50000"/>
              <a:gd name="adj2" fmla="val 173028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65" name="Line 50">
            <a:extLst>
              <a:ext uri="{FF2B5EF4-FFF2-40B4-BE49-F238E27FC236}">
                <a16:creationId xmlns:a16="http://schemas.microsoft.com/office/drawing/2014/main" id="{9103C3AC-8A13-4093-B356-2B1E08675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8675" y="1644650"/>
            <a:ext cx="1517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66" name="Text Box 51">
            <a:extLst>
              <a:ext uri="{FF2B5EF4-FFF2-40B4-BE49-F238E27FC236}">
                <a16:creationId xmlns:a16="http://schemas.microsoft.com/office/drawing/2014/main" id="{49E28ABB-AA12-4ED3-B28D-636E80426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950" y="1427163"/>
            <a:ext cx="719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</a:rPr>
              <a:t>BHE</a:t>
            </a:r>
          </a:p>
        </p:txBody>
      </p:sp>
      <p:sp>
        <p:nvSpPr>
          <p:cNvPr id="9267" name="Text Box 52">
            <a:extLst>
              <a:ext uri="{FF2B5EF4-FFF2-40B4-BE49-F238E27FC236}">
                <a16:creationId xmlns:a16="http://schemas.microsoft.com/office/drawing/2014/main" id="{0F6CFE6B-155A-4D56-84D8-561BC12D7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950" y="2190750"/>
            <a:ext cx="1263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</a:rPr>
              <a:t>A19~A0</a:t>
            </a:r>
          </a:p>
        </p:txBody>
      </p:sp>
      <p:sp>
        <p:nvSpPr>
          <p:cNvPr id="9268" name="Text Box 53">
            <a:extLst>
              <a:ext uri="{FF2B5EF4-FFF2-40B4-BE49-F238E27FC236}">
                <a16:creationId xmlns:a16="http://schemas.microsoft.com/office/drawing/2014/main" id="{5BDC2C66-0A05-4BB3-87A8-BED97E399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950" y="3935413"/>
            <a:ext cx="1111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</a:rPr>
              <a:t>D15~D0</a:t>
            </a:r>
          </a:p>
        </p:txBody>
      </p:sp>
      <p:sp>
        <p:nvSpPr>
          <p:cNvPr id="9269" name="Text Box 54">
            <a:extLst>
              <a:ext uri="{FF2B5EF4-FFF2-40B4-BE49-F238E27FC236}">
                <a16:creationId xmlns:a16="http://schemas.microsoft.com/office/drawing/2014/main" id="{64D9A93C-D2BF-4F25-8AE1-8776C5C79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2517775"/>
            <a:ext cx="12430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楷体_GB2312" pitchFamily="49" charset="-122"/>
              </a:rPr>
              <a:t>地址总线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9270" name="Text Box 55">
            <a:extLst>
              <a:ext uri="{FF2B5EF4-FFF2-40B4-BE49-F238E27FC236}">
                <a16:creationId xmlns:a16="http://schemas.microsoft.com/office/drawing/2014/main" id="{287096F6-1D51-43DA-896D-E7328F94A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4262438"/>
            <a:ext cx="11636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楷体_GB2312" pitchFamily="49" charset="-122"/>
              </a:rPr>
              <a:t>数据总线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9271" name="Line 56">
            <a:extLst>
              <a:ext uri="{FF2B5EF4-FFF2-40B4-BE49-F238E27FC236}">
                <a16:creationId xmlns:a16="http://schemas.microsoft.com/office/drawing/2014/main" id="{BA8C6B48-903E-43F7-9F8E-354F0F0895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0350" y="1685925"/>
            <a:ext cx="4794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72" name="Text Box 57">
            <a:extLst>
              <a:ext uri="{FF2B5EF4-FFF2-40B4-BE49-F238E27FC236}">
                <a16:creationId xmlns:a16="http://schemas.microsoft.com/office/drawing/2014/main" id="{4603E93B-232F-4D69-8A99-8051F3774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263" y="1422400"/>
            <a:ext cx="958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楷体_GB2312" pitchFamily="49" charset="-122"/>
              </a:rPr>
              <a:t>+5V</a:t>
            </a:r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273" name="Text Box 58">
            <a:extLst>
              <a:ext uri="{FF2B5EF4-FFF2-40B4-BE49-F238E27FC236}">
                <a16:creationId xmlns:a16="http://schemas.microsoft.com/office/drawing/2014/main" id="{0DA94983-91B3-43CD-B278-9F2A83BF6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0" y="1579563"/>
            <a:ext cx="111918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MN/MX</a:t>
            </a:r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9274" name="Text Box 59">
            <a:extLst>
              <a:ext uri="{FF2B5EF4-FFF2-40B4-BE49-F238E27FC236}">
                <a16:creationId xmlns:a16="http://schemas.microsoft.com/office/drawing/2014/main" id="{9750E383-C3F6-438F-A8B1-0480ED230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575" y="2362200"/>
            <a:ext cx="639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CLK</a:t>
            </a:r>
          </a:p>
        </p:txBody>
      </p:sp>
      <p:sp>
        <p:nvSpPr>
          <p:cNvPr id="9275" name="Line 60">
            <a:extLst>
              <a:ext uri="{FF2B5EF4-FFF2-40B4-BE49-F238E27FC236}">
                <a16:creationId xmlns:a16="http://schemas.microsoft.com/office/drawing/2014/main" id="{7198F503-65E5-464A-B906-9C266CD8C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875" y="2081213"/>
            <a:ext cx="5603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76" name="Line 61">
            <a:extLst>
              <a:ext uri="{FF2B5EF4-FFF2-40B4-BE49-F238E27FC236}">
                <a16:creationId xmlns:a16="http://schemas.microsoft.com/office/drawing/2014/main" id="{9504C464-7A5F-46CD-8A1B-7287A7E80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875" y="2517775"/>
            <a:ext cx="5603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77" name="Text Box 62">
            <a:extLst>
              <a:ext uri="{FF2B5EF4-FFF2-40B4-BE49-F238E27FC236}">
                <a16:creationId xmlns:a16="http://schemas.microsoft.com/office/drawing/2014/main" id="{05871F5B-E901-4E11-8729-0F2B6EDA3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09800"/>
            <a:ext cx="879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RESET</a:t>
            </a:r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9278" name="Text Box 63">
            <a:extLst>
              <a:ext uri="{FF2B5EF4-FFF2-40B4-BE49-F238E27FC236}">
                <a16:creationId xmlns:a16="http://schemas.microsoft.com/office/drawing/2014/main" id="{B9DDD675-619A-4038-8904-D9358BC2A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752600"/>
            <a:ext cx="879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READY</a:t>
            </a:r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9279" name="Rectangle 64">
            <a:extLst>
              <a:ext uri="{FF2B5EF4-FFF2-40B4-BE49-F238E27FC236}">
                <a16:creationId xmlns:a16="http://schemas.microsoft.com/office/drawing/2014/main" id="{EBE5B27B-CB2F-4029-BD3D-39F999CC2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82563"/>
            <a:ext cx="54816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8086</a:t>
            </a:r>
            <a:r>
              <a:rPr lang="zh-CN" altLang="en-US" b="1">
                <a:latin typeface="Times New Roman" panose="02020603050405020304" pitchFamily="18" charset="0"/>
              </a:rPr>
              <a:t>在最小模式下的典型配置</a:t>
            </a:r>
          </a:p>
        </p:txBody>
      </p:sp>
      <p:sp>
        <p:nvSpPr>
          <p:cNvPr id="9280" name="Rectangle 65">
            <a:extLst>
              <a:ext uri="{FF2B5EF4-FFF2-40B4-BE49-F238E27FC236}">
                <a16:creationId xmlns:a16="http://schemas.microsoft.com/office/drawing/2014/main" id="{DD335562-F8ED-4E68-A237-657CBB11E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228975"/>
            <a:ext cx="9858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AD</a:t>
            </a:r>
            <a:r>
              <a:rPr lang="en-US" altLang="zh-CN" sz="1000">
                <a:latin typeface="Times New Roman" panose="02020603050405020304" pitchFamily="18" charset="0"/>
              </a:rPr>
              <a:t>15</a:t>
            </a:r>
            <a:r>
              <a:rPr lang="en-US" altLang="zh-CN" sz="1400">
                <a:latin typeface="Times New Roman" panose="02020603050405020304" pitchFamily="18" charset="0"/>
              </a:rPr>
              <a:t>~AD</a:t>
            </a:r>
            <a:r>
              <a:rPr lang="en-US" altLang="zh-CN" sz="1000">
                <a:latin typeface="Times New Roman" panose="02020603050405020304" pitchFamily="18" charset="0"/>
              </a:rPr>
              <a:t>0</a:t>
            </a:r>
            <a:endParaRPr lang="zh-CN" altLang="en-US" sz="1000">
              <a:latin typeface="Times New Roman" panose="02020603050405020304" pitchFamily="18" charset="0"/>
            </a:endParaRPr>
          </a:p>
        </p:txBody>
      </p:sp>
      <p:sp>
        <p:nvSpPr>
          <p:cNvPr id="9281" name="Rectangle 66">
            <a:extLst>
              <a:ext uri="{FF2B5EF4-FFF2-40B4-BE49-F238E27FC236}">
                <a16:creationId xmlns:a16="http://schemas.microsoft.com/office/drawing/2014/main" id="{C2CAACF1-ABCF-47BB-A1EA-8AFADD42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5" y="2895600"/>
            <a:ext cx="893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A19~A16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9282" name="Group 67">
            <a:extLst>
              <a:ext uri="{FF2B5EF4-FFF2-40B4-BE49-F238E27FC236}">
                <a16:creationId xmlns:a16="http://schemas.microsoft.com/office/drawing/2014/main" id="{8BD0B92C-E18A-4683-B07D-7DD0F016A4BD}"/>
              </a:ext>
            </a:extLst>
          </p:cNvPr>
          <p:cNvGrpSpPr>
            <a:grpSpLocks/>
          </p:cNvGrpSpPr>
          <p:nvPr/>
        </p:nvGrpSpPr>
        <p:grpSpPr bwMode="auto">
          <a:xfrm>
            <a:off x="3575050" y="4095750"/>
            <a:ext cx="549275" cy="219075"/>
            <a:chOff x="2258" y="2580"/>
            <a:chExt cx="346" cy="138"/>
          </a:xfrm>
        </p:grpSpPr>
        <p:sp>
          <p:nvSpPr>
            <p:cNvPr id="9283" name="Line 68">
              <a:extLst>
                <a:ext uri="{FF2B5EF4-FFF2-40B4-BE49-F238E27FC236}">
                  <a16:creationId xmlns:a16="http://schemas.microsoft.com/office/drawing/2014/main" id="{ECF8AEE6-C7A3-4967-A6D5-F0C964DF3D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5" y="2580"/>
              <a:ext cx="2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4" name="Rectangle 69">
              <a:extLst>
                <a:ext uri="{FF2B5EF4-FFF2-40B4-BE49-F238E27FC236}">
                  <a16:creationId xmlns:a16="http://schemas.microsoft.com/office/drawing/2014/main" id="{631F36BF-3A59-44E4-B543-D0F2A16DE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" y="2606"/>
              <a:ext cx="346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DEN</a:t>
              </a:r>
            </a:p>
          </p:txBody>
        </p:sp>
      </p:grpSp>
      <p:grpSp>
        <p:nvGrpSpPr>
          <p:cNvPr id="9285" name="Group 70">
            <a:extLst>
              <a:ext uri="{FF2B5EF4-FFF2-40B4-BE49-F238E27FC236}">
                <a16:creationId xmlns:a16="http://schemas.microsoft.com/office/drawing/2014/main" id="{371A3358-71A7-4031-9449-F02E48D7AAAE}"/>
              </a:ext>
            </a:extLst>
          </p:cNvPr>
          <p:cNvGrpSpPr>
            <a:grpSpLocks/>
          </p:cNvGrpSpPr>
          <p:nvPr/>
        </p:nvGrpSpPr>
        <p:grpSpPr bwMode="auto">
          <a:xfrm>
            <a:off x="3535363" y="4429125"/>
            <a:ext cx="588962" cy="219075"/>
            <a:chOff x="2239" y="2934"/>
            <a:chExt cx="371" cy="138"/>
          </a:xfrm>
        </p:grpSpPr>
        <p:sp>
          <p:nvSpPr>
            <p:cNvPr id="9286" name="Line 71">
              <a:extLst>
                <a:ext uri="{FF2B5EF4-FFF2-40B4-BE49-F238E27FC236}">
                  <a16:creationId xmlns:a16="http://schemas.microsoft.com/office/drawing/2014/main" id="{BE959E7E-EFC6-4305-A448-4E9021A3F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" y="2934"/>
              <a:ext cx="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7" name="Rectangle 72">
              <a:extLst>
                <a:ext uri="{FF2B5EF4-FFF2-40B4-BE49-F238E27FC236}">
                  <a16:creationId xmlns:a16="http://schemas.microsoft.com/office/drawing/2014/main" id="{F8CF9BE7-7510-48DD-8078-4CA19AAAE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9" y="2960"/>
              <a:ext cx="371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DT/R</a:t>
              </a:r>
            </a:p>
          </p:txBody>
        </p:sp>
      </p:grpSp>
      <p:grpSp>
        <p:nvGrpSpPr>
          <p:cNvPr id="9288" name="Group 73">
            <a:extLst>
              <a:ext uri="{FF2B5EF4-FFF2-40B4-BE49-F238E27FC236}">
                <a16:creationId xmlns:a16="http://schemas.microsoft.com/office/drawing/2014/main" id="{C1672F7C-8655-4CF1-84D5-5843A2C542AD}"/>
              </a:ext>
            </a:extLst>
          </p:cNvPr>
          <p:cNvGrpSpPr>
            <a:grpSpLocks/>
          </p:cNvGrpSpPr>
          <p:nvPr/>
        </p:nvGrpSpPr>
        <p:grpSpPr bwMode="auto">
          <a:xfrm>
            <a:off x="3554413" y="4657725"/>
            <a:ext cx="579437" cy="304800"/>
            <a:chOff x="2112" y="3072"/>
            <a:chExt cx="365" cy="192"/>
          </a:xfrm>
        </p:grpSpPr>
        <p:sp>
          <p:nvSpPr>
            <p:cNvPr id="9289" name="Line 74">
              <a:extLst>
                <a:ext uri="{FF2B5EF4-FFF2-40B4-BE49-F238E27FC236}">
                  <a16:creationId xmlns:a16="http://schemas.microsoft.com/office/drawing/2014/main" id="{7354F1C1-DC21-4C93-850E-C52EE7B81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3108"/>
              <a:ext cx="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0" name="Rectangle 75">
              <a:extLst>
                <a:ext uri="{FF2B5EF4-FFF2-40B4-BE49-F238E27FC236}">
                  <a16:creationId xmlns:a16="http://schemas.microsoft.com/office/drawing/2014/main" id="{49EB576A-E964-4E7B-883C-6F31F8BB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072"/>
              <a:ext cx="3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</a:rPr>
                <a:t>M/IO</a:t>
              </a:r>
              <a:endParaRPr lang="zh-CN" altLang="en-US" sz="1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291" name="Group 76">
            <a:extLst>
              <a:ext uri="{FF2B5EF4-FFF2-40B4-BE49-F238E27FC236}">
                <a16:creationId xmlns:a16="http://schemas.microsoft.com/office/drawing/2014/main" id="{73E9D3D2-F546-4E81-8DCE-9D417943A982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5000625"/>
            <a:ext cx="471488" cy="225425"/>
            <a:chOff x="433" y="2850"/>
            <a:chExt cx="297" cy="142"/>
          </a:xfrm>
        </p:grpSpPr>
        <p:sp>
          <p:nvSpPr>
            <p:cNvPr id="9292" name="Line 77">
              <a:extLst>
                <a:ext uri="{FF2B5EF4-FFF2-40B4-BE49-F238E27FC236}">
                  <a16:creationId xmlns:a16="http://schemas.microsoft.com/office/drawing/2014/main" id="{4130EBAF-22EC-45F7-9316-1CB3847DC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" y="2850"/>
              <a:ext cx="1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3" name="Rectangle 78">
              <a:extLst>
                <a:ext uri="{FF2B5EF4-FFF2-40B4-BE49-F238E27FC236}">
                  <a16:creationId xmlns:a16="http://schemas.microsoft.com/office/drawing/2014/main" id="{B696D3B4-AE8D-404F-810F-A2AED6B3C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" y="2880"/>
              <a:ext cx="297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WR</a:t>
              </a:r>
            </a:p>
          </p:txBody>
        </p:sp>
      </p:grpSp>
      <p:grpSp>
        <p:nvGrpSpPr>
          <p:cNvPr id="9294" name="Group 79">
            <a:extLst>
              <a:ext uri="{FF2B5EF4-FFF2-40B4-BE49-F238E27FC236}">
                <a16:creationId xmlns:a16="http://schemas.microsoft.com/office/drawing/2014/main" id="{AEBC4A4B-2B51-4DD3-9581-034F106C9AE2}"/>
              </a:ext>
            </a:extLst>
          </p:cNvPr>
          <p:cNvGrpSpPr>
            <a:grpSpLocks/>
          </p:cNvGrpSpPr>
          <p:nvPr/>
        </p:nvGrpSpPr>
        <p:grpSpPr bwMode="auto">
          <a:xfrm>
            <a:off x="3702050" y="5219700"/>
            <a:ext cx="431800" cy="304800"/>
            <a:chOff x="458" y="2976"/>
            <a:chExt cx="272" cy="192"/>
          </a:xfrm>
        </p:grpSpPr>
        <p:sp>
          <p:nvSpPr>
            <p:cNvPr id="9295" name="Line 80">
              <a:extLst>
                <a:ext uri="{FF2B5EF4-FFF2-40B4-BE49-F238E27FC236}">
                  <a16:creationId xmlns:a16="http://schemas.microsoft.com/office/drawing/2014/main" id="{9C3B5334-BEEF-43A0-883A-32805D99F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" y="3006"/>
              <a:ext cx="1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6" name="Rectangle 81">
              <a:extLst>
                <a:ext uri="{FF2B5EF4-FFF2-40B4-BE49-F238E27FC236}">
                  <a16:creationId xmlns:a16="http://schemas.microsoft.com/office/drawing/2014/main" id="{F34EA2DF-94CC-4180-99C6-67220612C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2976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</a:rPr>
                <a:t>RD</a:t>
              </a:r>
              <a:endParaRPr lang="zh-CN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9297" name="Rectangle 82">
            <a:extLst>
              <a:ext uri="{FF2B5EF4-FFF2-40B4-BE49-F238E27FC236}">
                <a16:creationId xmlns:a16="http://schemas.microsoft.com/office/drawing/2014/main" id="{E2D8E233-0035-4FF7-8864-3BA3FA7CF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5476875"/>
            <a:ext cx="677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HOLD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sp>
        <p:nvSpPr>
          <p:cNvPr id="9298" name="Rectangle 83">
            <a:extLst>
              <a:ext uri="{FF2B5EF4-FFF2-40B4-BE49-F238E27FC236}">
                <a16:creationId xmlns:a16="http://schemas.microsoft.com/office/drawing/2014/main" id="{798B4762-0E21-4C35-AC54-DAC26F649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13" y="573405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HLDA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sp>
        <p:nvSpPr>
          <p:cNvPr id="9299" name="Rectangle 84">
            <a:extLst>
              <a:ext uri="{FF2B5EF4-FFF2-40B4-BE49-F238E27FC236}">
                <a16:creationId xmlns:a16="http://schemas.microsoft.com/office/drawing/2014/main" id="{13EE9340-830B-402C-9895-1C9789FAC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5991225"/>
            <a:ext cx="5984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INTR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9300" name="Group 85">
            <a:extLst>
              <a:ext uri="{FF2B5EF4-FFF2-40B4-BE49-F238E27FC236}">
                <a16:creationId xmlns:a16="http://schemas.microsoft.com/office/drawing/2014/main" id="{051002B3-EF43-4FF6-BF13-0D192E7B7620}"/>
              </a:ext>
            </a:extLst>
          </p:cNvPr>
          <p:cNvGrpSpPr>
            <a:grpSpLocks/>
          </p:cNvGrpSpPr>
          <p:nvPr/>
        </p:nvGrpSpPr>
        <p:grpSpPr bwMode="auto">
          <a:xfrm>
            <a:off x="3506788" y="6346825"/>
            <a:ext cx="608012" cy="225425"/>
            <a:chOff x="347" y="3858"/>
            <a:chExt cx="383" cy="142"/>
          </a:xfrm>
        </p:grpSpPr>
        <p:sp>
          <p:nvSpPr>
            <p:cNvPr id="9301" name="Line 86">
              <a:extLst>
                <a:ext uri="{FF2B5EF4-FFF2-40B4-BE49-F238E27FC236}">
                  <a16:creationId xmlns:a16="http://schemas.microsoft.com/office/drawing/2014/main" id="{D29BB2B3-DDF8-4D06-BFCA-1C2A8E0DD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" y="3858"/>
              <a:ext cx="2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2" name="Rectangle 87">
              <a:extLst>
                <a:ext uri="{FF2B5EF4-FFF2-40B4-BE49-F238E27FC236}">
                  <a16:creationId xmlns:a16="http://schemas.microsoft.com/office/drawing/2014/main" id="{31A4FAF8-A956-4465-A75A-3D6D68576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" y="3888"/>
              <a:ext cx="383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INTA</a:t>
              </a:r>
              <a:endParaRPr lang="zh-CN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9303" name="Rectangle 88">
            <a:extLst>
              <a:ext uri="{FF2B5EF4-FFF2-40B4-BE49-F238E27FC236}">
                <a16:creationId xmlns:a16="http://schemas.microsoft.com/office/drawing/2014/main" id="{C9C2D079-BDD9-4829-AA30-BC8FB7C1D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6638" y="2257425"/>
            <a:ext cx="5286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ALE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9304" name="Group 89">
            <a:extLst>
              <a:ext uri="{FF2B5EF4-FFF2-40B4-BE49-F238E27FC236}">
                <a16:creationId xmlns:a16="http://schemas.microsoft.com/office/drawing/2014/main" id="{5B29356C-1779-45C7-89B3-263A4368A9C2}"/>
              </a:ext>
            </a:extLst>
          </p:cNvPr>
          <p:cNvGrpSpPr>
            <a:grpSpLocks/>
          </p:cNvGrpSpPr>
          <p:nvPr/>
        </p:nvGrpSpPr>
        <p:grpSpPr bwMode="auto">
          <a:xfrm>
            <a:off x="3565525" y="2609850"/>
            <a:ext cx="539750" cy="304800"/>
            <a:chOff x="1104" y="2064"/>
            <a:chExt cx="340" cy="192"/>
          </a:xfrm>
        </p:grpSpPr>
        <p:sp>
          <p:nvSpPr>
            <p:cNvPr id="9305" name="Line 90">
              <a:extLst>
                <a:ext uri="{FF2B5EF4-FFF2-40B4-BE49-F238E27FC236}">
                  <a16:creationId xmlns:a16="http://schemas.microsoft.com/office/drawing/2014/main" id="{162E6EFD-B4EE-447D-833C-63CC7C350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6" y="2094"/>
              <a:ext cx="2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6" name="Rectangle 91">
              <a:extLst>
                <a:ext uri="{FF2B5EF4-FFF2-40B4-BE49-F238E27FC236}">
                  <a16:creationId xmlns:a16="http://schemas.microsoft.com/office/drawing/2014/main" id="{B584F7CC-AC42-4D67-9D5A-FE9DEA1FA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064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</a:rPr>
                <a:t>BHE</a:t>
              </a:r>
              <a:endParaRPr lang="zh-CN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9307" name="Rectangle 92">
            <a:extLst>
              <a:ext uri="{FF2B5EF4-FFF2-40B4-BE49-F238E27FC236}">
                <a16:creationId xmlns:a16="http://schemas.microsoft.com/office/drawing/2014/main" id="{166834D7-96D5-43F0-8EF6-2BC32BF39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1733550"/>
            <a:ext cx="796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READY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sp>
        <p:nvSpPr>
          <p:cNvPr id="9308" name="Rectangle 93">
            <a:extLst>
              <a:ext uri="{FF2B5EF4-FFF2-40B4-BE49-F238E27FC236}">
                <a16:creationId xmlns:a16="http://schemas.microsoft.com/office/drawing/2014/main" id="{9AF9FDDA-E01F-4960-B931-14668DEE5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575" y="2125663"/>
            <a:ext cx="725488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RESET</a:t>
            </a:r>
          </a:p>
        </p:txBody>
      </p:sp>
      <p:sp>
        <p:nvSpPr>
          <p:cNvPr id="9309" name="Text Box 94">
            <a:extLst>
              <a:ext uri="{FF2B5EF4-FFF2-40B4-BE49-F238E27FC236}">
                <a16:creationId xmlns:a16="http://schemas.microsoft.com/office/drawing/2014/main" id="{26A9456B-8C97-460A-B136-CD300FEA2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0" y="43815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3">
            <a:extLst>
              <a:ext uri="{FF2B5EF4-FFF2-40B4-BE49-F238E27FC236}">
                <a16:creationId xmlns:a16="http://schemas.microsoft.com/office/drawing/2014/main" id="{AD0D3CAB-55C1-4B08-AD6F-5F0B687D5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549275"/>
            <a:ext cx="8332788" cy="583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4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>
                <a:latin typeface="Times New Roman" panose="02020603050405020304" pitchFamily="18" charset="0"/>
              </a:rPr>
              <a:t>8086 </a:t>
            </a:r>
            <a:r>
              <a:rPr lang="zh-CN" altLang="en-US" sz="2400">
                <a:latin typeface="Times New Roman" panose="02020603050405020304" pitchFamily="18" charset="0"/>
              </a:rPr>
              <a:t>的 存 储 器 管 理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     </a:t>
            </a:r>
            <a:r>
              <a:rPr lang="zh-CN" altLang="en-US" sz="2200">
                <a:latin typeface="Times New Roman" panose="02020603050405020304" pitchFamily="18" charset="0"/>
              </a:rPr>
              <a:t>字节(8位)和字(16位)单位的数据存储与处理，规则字和非规则字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存储器空间的分段管理（存储器空间的大小，管理方式；段的大小）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      物理地址和逻辑地址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物理地址的产生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      问：已知一个字节数据存储的物理地址是12345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H，</a:t>
            </a: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数据在数据段的偏移地址为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345H</a:t>
            </a: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，求该数据存储地址的段地址。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400">
                <a:latin typeface="Times New Roman" panose="02020603050405020304" pitchFamily="18" charset="0"/>
              </a:rPr>
              <a:t>8086 </a:t>
            </a:r>
            <a:r>
              <a:rPr lang="zh-CN" altLang="en-US" sz="2400">
                <a:latin typeface="Times New Roman" panose="02020603050405020304" pitchFamily="18" charset="0"/>
              </a:rPr>
              <a:t>的堆栈操作 </a:t>
            </a:r>
          </a:p>
          <a:p>
            <a:pPr>
              <a:spcBef>
                <a:spcPct val="20000"/>
              </a:spcBef>
            </a:pPr>
            <a:r>
              <a:rPr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200">
                <a:latin typeface="Times New Roman" panose="02020603050405020304" pitchFamily="18" charset="0"/>
              </a:rPr>
              <a:t>操作原则：后进先出，向下生成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       </a:t>
            </a: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问：已知当前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SP=80H</a:t>
            </a: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执行以下指令后，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SP</a:t>
            </a: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的值是什么？</a:t>
            </a:r>
          </a:p>
          <a:p>
            <a:pPr>
              <a:spcBef>
                <a:spcPct val="20000"/>
              </a:spcBef>
            </a:pP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		POP</a:t>
            </a: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AX </a:t>
            </a:r>
          </a:p>
          <a:p>
            <a:pPr>
              <a:spcBef>
                <a:spcPct val="20000"/>
              </a:spcBef>
            </a:pP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                          POP   BX</a:t>
            </a: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		</a:t>
            </a:r>
            <a:endParaRPr lang="en-US" altLang="zh-CN" sz="22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EECE5D89-8252-4DAF-8D73-0BEC7347F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09600"/>
            <a:ext cx="7696200" cy="427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I/O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端口组织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lang="en-US" altLang="zh-CN" sz="2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基本概念：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I/O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接口—为某种外部设备服务的电路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		 I/O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端口—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I/O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接口中的数据通道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编址方式：存储器映像编址方式和独立编址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不同编址方式的特点：空间大小、访问指令等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115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8086总线操作及时序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</a:t>
            </a:r>
            <a:r>
              <a:rPr lang="zh-CN" altLang="en-US" sz="2200" dirty="0"/>
              <a:t>总线周期：执行一个总线操作所需要的时间。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lang="zh-CN" altLang="en-US" sz="2200" dirty="0"/>
              <a:t>    时序与时序图。</a:t>
            </a:r>
            <a:endParaRPr lang="en-US" altLang="zh-CN" sz="2200" dirty="0"/>
          </a:p>
          <a:p>
            <a:pPr>
              <a:spcBef>
                <a:spcPct val="20000"/>
              </a:spcBef>
              <a:buClr>
                <a:schemeClr val="tx1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solidFill>
                  <a:schemeClr val="hlink"/>
                </a:solidFill>
                <a:latin typeface="宋体" panose="02010600030101010101" pitchFamily="2" charset="-122"/>
              </a:rPr>
              <a:t>问：基本的总线周期通常包含几个</a:t>
            </a:r>
            <a:r>
              <a:rPr lang="en-US" altLang="zh-CN" sz="2200" dirty="0">
                <a:solidFill>
                  <a:schemeClr val="hlink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200" dirty="0">
                <a:solidFill>
                  <a:schemeClr val="hlink"/>
                </a:solidFill>
                <a:latin typeface="宋体" panose="02010600030101010101" pitchFamily="2" charset="-122"/>
              </a:rPr>
              <a:t>状态，什么是等待状态，如何在总线周期中插入等待状态？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2">
            <a:extLst>
              <a:ext uri="{FF2B5EF4-FFF2-40B4-BE49-F238E27FC236}">
                <a16:creationId xmlns:a16="http://schemas.microsoft.com/office/drawing/2014/main" id="{61B383D4-45E4-4783-BB1E-86552F868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6019800"/>
            <a:ext cx="63246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DS=3000H, BX=500CH,  (3500CH)=9AH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3314" name="Rectangle 6">
            <a:extLst>
              <a:ext uri="{FF2B5EF4-FFF2-40B4-BE49-F238E27FC236}">
                <a16:creationId xmlns:a16="http://schemas.microsoft.com/office/drawing/2014/main" id="{96E22F4E-1894-4E0D-9227-D3130BDC785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333375"/>
            <a:ext cx="8356600" cy="795338"/>
          </a:xfrm>
        </p:spPr>
        <p:txBody>
          <a:bodyPr lIns="0" tIns="0" rIns="0" bIns="0"/>
          <a:lstStyle/>
          <a:p>
            <a:pPr eaLnBrk="1" hangingPunct="1"/>
            <a:r>
              <a:rPr lang="zh-CN" altLang="en-US"/>
              <a:t>执行指令</a:t>
            </a:r>
            <a:r>
              <a:rPr lang="en-US" altLang="zh-CN"/>
              <a:t>MOV  AL,[BX]</a:t>
            </a:r>
            <a:r>
              <a:rPr lang="zh-CN" altLang="en-US"/>
              <a:t>的时序图</a:t>
            </a:r>
            <a:endParaRPr lang="en-US" altLang="zh-CN"/>
          </a:p>
        </p:txBody>
      </p:sp>
      <p:grpSp>
        <p:nvGrpSpPr>
          <p:cNvPr id="13315" name="Group 7">
            <a:extLst>
              <a:ext uri="{FF2B5EF4-FFF2-40B4-BE49-F238E27FC236}">
                <a16:creationId xmlns:a16="http://schemas.microsoft.com/office/drawing/2014/main" id="{F70B35FA-F178-48BD-B806-F8F48061997A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1268413"/>
            <a:ext cx="5638800" cy="4267200"/>
            <a:chOff x="0" y="912"/>
            <a:chExt cx="3552" cy="2688"/>
          </a:xfrm>
        </p:grpSpPr>
        <p:sp>
          <p:nvSpPr>
            <p:cNvPr id="13316" name="Text Box 8">
              <a:extLst>
                <a:ext uri="{FF2B5EF4-FFF2-40B4-BE49-F238E27FC236}">
                  <a16:creationId xmlns:a16="http://schemas.microsoft.com/office/drawing/2014/main" id="{DDD2002C-9ED8-4231-8AB6-5C51B371AD0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5" y="1685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zh-CN" altLang="en-US" sz="1800" b="1">
                  <a:solidFill>
                    <a:srgbClr val="3333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latin typeface="Times New Roman" panose="02020603050405020304" pitchFamily="18" charset="0"/>
                </a:rPr>
                <a:t>A19~A16</a:t>
              </a:r>
              <a:endParaRPr lang="en-US" altLang="zh-CN" sz="1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17" name="Line 9">
              <a:extLst>
                <a:ext uri="{FF2B5EF4-FFF2-40B4-BE49-F238E27FC236}">
                  <a16:creationId xmlns:a16="http://schemas.microsoft.com/office/drawing/2014/main" id="{4965B4C7-D9D6-4030-B473-439B2F42E11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88" y="924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" name="Line 10">
              <a:extLst>
                <a:ext uri="{FF2B5EF4-FFF2-40B4-BE49-F238E27FC236}">
                  <a16:creationId xmlns:a16="http://schemas.microsoft.com/office/drawing/2014/main" id="{3D0D461F-CFD6-4E9B-9C88-C70DC53927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7" y="925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" name="Line 11">
              <a:extLst>
                <a:ext uri="{FF2B5EF4-FFF2-40B4-BE49-F238E27FC236}">
                  <a16:creationId xmlns:a16="http://schemas.microsoft.com/office/drawing/2014/main" id="{45120E1D-1EAE-400F-8D89-EC8CDB4431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63" y="930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" name="Line 12">
              <a:extLst>
                <a:ext uri="{FF2B5EF4-FFF2-40B4-BE49-F238E27FC236}">
                  <a16:creationId xmlns:a16="http://schemas.microsoft.com/office/drawing/2014/main" id="{B2DEB8D4-1B15-4045-98C4-3912FF001A5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5" y="925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" name="Line 13">
              <a:extLst>
                <a:ext uri="{FF2B5EF4-FFF2-40B4-BE49-F238E27FC236}">
                  <a16:creationId xmlns:a16="http://schemas.microsoft.com/office/drawing/2014/main" id="{75780A5E-4793-4C2E-898A-125B72CF727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2" y="925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" name="Text Box 14">
              <a:extLst>
                <a:ext uri="{FF2B5EF4-FFF2-40B4-BE49-F238E27FC236}">
                  <a16:creationId xmlns:a16="http://schemas.microsoft.com/office/drawing/2014/main" id="{91693899-A4B4-4164-80D2-C4D7FF5000A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" y="914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solidFill>
                    <a:srgbClr val="00FFFF"/>
                  </a:solidFill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13323" name="Text Box 15">
              <a:extLst>
                <a:ext uri="{FF2B5EF4-FFF2-40B4-BE49-F238E27FC236}">
                  <a16:creationId xmlns:a16="http://schemas.microsoft.com/office/drawing/2014/main" id="{F533BA3D-EABC-448E-92D0-FE94A4A32F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0" y="91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solidFill>
                    <a:srgbClr val="00FFFF"/>
                  </a:solidFill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3324" name="Text Box 16">
              <a:extLst>
                <a:ext uri="{FF2B5EF4-FFF2-40B4-BE49-F238E27FC236}">
                  <a16:creationId xmlns:a16="http://schemas.microsoft.com/office/drawing/2014/main" id="{F8E64959-AB1D-40E7-94A5-07420A4D623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49" y="914"/>
              <a:ext cx="19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solidFill>
                    <a:srgbClr val="00FFFF"/>
                  </a:solidFill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13325" name="Text Box 17">
              <a:extLst>
                <a:ext uri="{FF2B5EF4-FFF2-40B4-BE49-F238E27FC236}">
                  <a16:creationId xmlns:a16="http://schemas.microsoft.com/office/drawing/2014/main" id="{0EB660AE-650D-4A3B-AAC0-C252A78AED9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8" y="914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solidFill>
                    <a:srgbClr val="00FFFF"/>
                  </a:solidFill>
                  <a:latin typeface="Times New Roman" panose="02020603050405020304" pitchFamily="18" charset="0"/>
                </a:rPr>
                <a:t>T4</a:t>
              </a:r>
            </a:p>
          </p:txBody>
        </p:sp>
        <p:sp>
          <p:nvSpPr>
            <p:cNvPr id="13326" name="Line 18">
              <a:extLst>
                <a:ext uri="{FF2B5EF4-FFF2-40B4-BE49-F238E27FC236}">
                  <a16:creationId xmlns:a16="http://schemas.microsoft.com/office/drawing/2014/main" id="{E12D3418-DE7F-4A1E-BABC-496430CA96F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085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" name="Line 19">
              <a:extLst>
                <a:ext uri="{FF2B5EF4-FFF2-40B4-BE49-F238E27FC236}">
                  <a16:creationId xmlns:a16="http://schemas.microsoft.com/office/drawing/2014/main" id="{60D37D23-7C05-437B-9AFB-40DF09B9839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4" y="1085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" name="Line 20">
              <a:extLst>
                <a:ext uri="{FF2B5EF4-FFF2-40B4-BE49-F238E27FC236}">
                  <a16:creationId xmlns:a16="http://schemas.microsoft.com/office/drawing/2014/main" id="{AC66E0D5-FF51-4BDA-A1DD-E129CD1DD5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4" y="1233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" name="Line 21">
              <a:extLst>
                <a:ext uri="{FF2B5EF4-FFF2-40B4-BE49-F238E27FC236}">
                  <a16:creationId xmlns:a16="http://schemas.microsoft.com/office/drawing/2014/main" id="{505A2977-88B0-4532-A6E6-3932F9F47C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82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Line 22">
              <a:extLst>
                <a:ext uri="{FF2B5EF4-FFF2-40B4-BE49-F238E27FC236}">
                  <a16:creationId xmlns:a16="http://schemas.microsoft.com/office/drawing/2014/main" id="{2E0A2EBD-D89B-4636-B326-704F7AE0D1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1" y="1085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Line 23">
              <a:extLst>
                <a:ext uri="{FF2B5EF4-FFF2-40B4-BE49-F238E27FC236}">
                  <a16:creationId xmlns:a16="http://schemas.microsoft.com/office/drawing/2014/main" id="{FD456D65-0456-4BC5-B34E-A0343FDBC74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Line 24">
              <a:extLst>
                <a:ext uri="{FF2B5EF4-FFF2-40B4-BE49-F238E27FC236}">
                  <a16:creationId xmlns:a16="http://schemas.microsoft.com/office/drawing/2014/main" id="{B311C5F3-8B3E-4D81-86FD-50B0BB1DAC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7" y="123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" name="Line 25">
              <a:extLst>
                <a:ext uri="{FF2B5EF4-FFF2-40B4-BE49-F238E27FC236}">
                  <a16:creationId xmlns:a16="http://schemas.microsoft.com/office/drawing/2014/main" id="{FF6AD35A-4CE5-4C7E-AA18-CA23B369C0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34" y="1085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Line 26">
              <a:extLst>
                <a:ext uri="{FF2B5EF4-FFF2-40B4-BE49-F238E27FC236}">
                  <a16:creationId xmlns:a16="http://schemas.microsoft.com/office/drawing/2014/main" id="{969226BD-B85D-482B-B3F3-EA4C3E1F32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04" y="1085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5" name="Line 27">
              <a:extLst>
                <a:ext uri="{FF2B5EF4-FFF2-40B4-BE49-F238E27FC236}">
                  <a16:creationId xmlns:a16="http://schemas.microsoft.com/office/drawing/2014/main" id="{043713E2-EC0C-4367-8D9C-284DF88DDD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1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Line 28">
              <a:extLst>
                <a:ext uri="{FF2B5EF4-FFF2-40B4-BE49-F238E27FC236}">
                  <a16:creationId xmlns:a16="http://schemas.microsoft.com/office/drawing/2014/main" id="{5EEE03A6-1F1C-4233-81E9-7BA5350195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80" y="123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Line 29">
              <a:extLst>
                <a:ext uri="{FF2B5EF4-FFF2-40B4-BE49-F238E27FC236}">
                  <a16:creationId xmlns:a16="http://schemas.microsoft.com/office/drawing/2014/main" id="{DBDA32B6-7DE7-4E46-8D46-8494D54FD1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87" y="1085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30">
              <a:extLst>
                <a:ext uri="{FF2B5EF4-FFF2-40B4-BE49-F238E27FC236}">
                  <a16:creationId xmlns:a16="http://schemas.microsoft.com/office/drawing/2014/main" id="{74662EEA-A862-4E84-A801-E762098FDE3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7" y="1085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Line 31">
              <a:extLst>
                <a:ext uri="{FF2B5EF4-FFF2-40B4-BE49-F238E27FC236}">
                  <a16:creationId xmlns:a16="http://schemas.microsoft.com/office/drawing/2014/main" id="{DFB3ED9C-723A-4A70-9877-9F07D12B79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0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Line 32">
              <a:extLst>
                <a:ext uri="{FF2B5EF4-FFF2-40B4-BE49-F238E27FC236}">
                  <a16:creationId xmlns:a16="http://schemas.microsoft.com/office/drawing/2014/main" id="{93C1FBAF-20E0-4068-8C83-189451CF29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37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Line 33">
              <a:extLst>
                <a:ext uri="{FF2B5EF4-FFF2-40B4-BE49-F238E27FC236}">
                  <a16:creationId xmlns:a16="http://schemas.microsoft.com/office/drawing/2014/main" id="{9506BF4D-13BD-4962-A195-04159B07D07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085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Line 34">
              <a:extLst>
                <a:ext uri="{FF2B5EF4-FFF2-40B4-BE49-F238E27FC236}">
                  <a16:creationId xmlns:a16="http://schemas.microsoft.com/office/drawing/2014/main" id="{65D578D4-92AB-4BBB-A242-CE7D3C6693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3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Line 35">
              <a:extLst>
                <a:ext uri="{FF2B5EF4-FFF2-40B4-BE49-F238E27FC236}">
                  <a16:creationId xmlns:a16="http://schemas.microsoft.com/office/drawing/2014/main" id="{9263327E-01BB-415F-ABAD-936E351FEF0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83" y="1078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Text Box 36">
              <a:extLst>
                <a:ext uri="{FF2B5EF4-FFF2-40B4-BE49-F238E27FC236}">
                  <a16:creationId xmlns:a16="http://schemas.microsoft.com/office/drawing/2014/main" id="{38DE771F-F60A-46D5-BB17-632BD14108B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" y="1603"/>
              <a:ext cx="6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A19~A16</a:t>
              </a:r>
            </a:p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/S6~S3</a:t>
              </a:r>
              <a:endParaRPr lang="en-US" altLang="zh-CN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13345" name="Text Box 37">
              <a:extLst>
                <a:ext uri="{FF2B5EF4-FFF2-40B4-BE49-F238E27FC236}">
                  <a16:creationId xmlns:a16="http://schemas.microsoft.com/office/drawing/2014/main" id="{912B12B8-B080-4551-B0EA-BD7FB7EF046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8" y="1371"/>
              <a:ext cx="4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>
                  <a:latin typeface="Times New Roman" panose="02020603050405020304" pitchFamily="18" charset="0"/>
                </a:rPr>
                <a:t>M</a:t>
              </a:r>
              <a:r>
                <a:rPr lang="en-US" altLang="zh-CN" sz="2000" b="1">
                  <a:latin typeface="宋体" panose="02010600030101010101" pitchFamily="2" charset="-122"/>
                </a:rPr>
                <a:t>/</a:t>
              </a:r>
              <a:r>
                <a:rPr lang="en-US" altLang="zh-CN" sz="2000" b="1">
                  <a:latin typeface="Times New Roman" panose="02020603050405020304" pitchFamily="18" charset="0"/>
                </a:rPr>
                <a:t>IO</a:t>
              </a:r>
              <a:endParaRPr lang="en-US" altLang="zh-CN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13346" name="Line 38">
              <a:extLst>
                <a:ext uri="{FF2B5EF4-FFF2-40B4-BE49-F238E27FC236}">
                  <a16:creationId xmlns:a16="http://schemas.microsoft.com/office/drawing/2014/main" id="{7EC2A7DC-F1A8-4E63-882B-030BEA2BFE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7" y="1373"/>
              <a:ext cx="12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Line 39">
              <a:extLst>
                <a:ext uri="{FF2B5EF4-FFF2-40B4-BE49-F238E27FC236}">
                  <a16:creationId xmlns:a16="http://schemas.microsoft.com/office/drawing/2014/main" id="{32FF65C0-B567-4A20-A93B-5B57CC0BB7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9" y="1233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Line 40">
              <a:extLst>
                <a:ext uri="{FF2B5EF4-FFF2-40B4-BE49-F238E27FC236}">
                  <a16:creationId xmlns:a16="http://schemas.microsoft.com/office/drawing/2014/main" id="{C147E256-BDD7-4486-A15B-28210E557C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82" y="1233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Line 41">
              <a:extLst>
                <a:ext uri="{FF2B5EF4-FFF2-40B4-BE49-F238E27FC236}">
                  <a16:creationId xmlns:a16="http://schemas.microsoft.com/office/drawing/2014/main" id="{D4549055-F038-4C5C-B660-925CF55AC6D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1376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0" name="Line 42">
              <a:extLst>
                <a:ext uri="{FF2B5EF4-FFF2-40B4-BE49-F238E27FC236}">
                  <a16:creationId xmlns:a16="http://schemas.microsoft.com/office/drawing/2014/main" id="{E045D861-D711-453C-9451-168204F6BFA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1388"/>
              <a:ext cx="2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1" name="Line 43">
              <a:extLst>
                <a:ext uri="{FF2B5EF4-FFF2-40B4-BE49-F238E27FC236}">
                  <a16:creationId xmlns:a16="http://schemas.microsoft.com/office/drawing/2014/main" id="{B5BC231C-8328-4302-9E8E-2FAF1D5C6A1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680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2" name="Line 44">
              <a:extLst>
                <a:ext uri="{FF2B5EF4-FFF2-40B4-BE49-F238E27FC236}">
                  <a16:creationId xmlns:a16="http://schemas.microsoft.com/office/drawing/2014/main" id="{0B2BC835-BF21-4E72-9A08-84E932DB671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828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53" name="Group 45">
              <a:extLst>
                <a:ext uri="{FF2B5EF4-FFF2-40B4-BE49-F238E27FC236}">
                  <a16:creationId xmlns:a16="http://schemas.microsoft.com/office/drawing/2014/main" id="{7C00718F-CCD4-49C2-A593-6A98CB65D1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76" y="1680"/>
              <a:ext cx="70" cy="148"/>
              <a:chOff x="3320" y="5397"/>
              <a:chExt cx="212" cy="567"/>
            </a:xfrm>
          </p:grpSpPr>
          <p:sp>
            <p:nvSpPr>
              <p:cNvPr id="13354" name="Line 46">
                <a:extLst>
                  <a:ext uri="{FF2B5EF4-FFF2-40B4-BE49-F238E27FC236}">
                    <a16:creationId xmlns:a16="http://schemas.microsoft.com/office/drawing/2014/main" id="{157ABA04-E321-4D42-82A5-412D4AE3044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20" y="5397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" name="Line 47">
                <a:extLst>
                  <a:ext uri="{FF2B5EF4-FFF2-40B4-BE49-F238E27FC236}">
                    <a16:creationId xmlns:a16="http://schemas.microsoft.com/office/drawing/2014/main" id="{4EA70C37-33FA-491D-AB7A-9D9767A6D67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322" y="5397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56" name="Line 48">
              <a:extLst>
                <a:ext uri="{FF2B5EF4-FFF2-40B4-BE49-F238E27FC236}">
                  <a16:creationId xmlns:a16="http://schemas.microsoft.com/office/drawing/2014/main" id="{2E3027D1-0979-40FF-ADA0-D922D1E858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4" y="1680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7" name="Line 49">
              <a:extLst>
                <a:ext uri="{FF2B5EF4-FFF2-40B4-BE49-F238E27FC236}">
                  <a16:creationId xmlns:a16="http://schemas.microsoft.com/office/drawing/2014/main" id="{D59BA721-2C7C-488C-A55B-D14B127D2BC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7" y="1831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58" name="Group 50">
              <a:extLst>
                <a:ext uri="{FF2B5EF4-FFF2-40B4-BE49-F238E27FC236}">
                  <a16:creationId xmlns:a16="http://schemas.microsoft.com/office/drawing/2014/main" id="{8DB5AB73-FD70-41E2-955C-C142A84E3B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72" y="1680"/>
              <a:ext cx="70" cy="148"/>
              <a:chOff x="3320" y="5397"/>
              <a:chExt cx="212" cy="567"/>
            </a:xfrm>
          </p:grpSpPr>
          <p:sp>
            <p:nvSpPr>
              <p:cNvPr id="13359" name="Line 51">
                <a:extLst>
                  <a:ext uri="{FF2B5EF4-FFF2-40B4-BE49-F238E27FC236}">
                    <a16:creationId xmlns:a16="http://schemas.microsoft.com/office/drawing/2014/main" id="{67C98D22-892E-4092-B9C7-749B4647C94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20" y="5397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" name="Line 52">
                <a:extLst>
                  <a:ext uri="{FF2B5EF4-FFF2-40B4-BE49-F238E27FC236}">
                    <a16:creationId xmlns:a16="http://schemas.microsoft.com/office/drawing/2014/main" id="{D1651DAE-8DF2-4404-A11F-D2003BFB35E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322" y="5397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61" name="Line 53">
              <a:extLst>
                <a:ext uri="{FF2B5EF4-FFF2-40B4-BE49-F238E27FC236}">
                  <a16:creationId xmlns:a16="http://schemas.microsoft.com/office/drawing/2014/main" id="{76D92509-AE94-4788-B275-70281557FA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51" y="1680"/>
              <a:ext cx="162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2" name="Line 54">
              <a:extLst>
                <a:ext uri="{FF2B5EF4-FFF2-40B4-BE49-F238E27FC236}">
                  <a16:creationId xmlns:a16="http://schemas.microsoft.com/office/drawing/2014/main" id="{8E82D9DD-DA62-4DB8-8AE8-779DCCB6AE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45" y="1826"/>
              <a:ext cx="1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63" name="Group 55">
              <a:extLst>
                <a:ext uri="{FF2B5EF4-FFF2-40B4-BE49-F238E27FC236}">
                  <a16:creationId xmlns:a16="http://schemas.microsoft.com/office/drawing/2014/main" id="{116D4889-B05A-4DF4-8B87-80AD349303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" y="2530"/>
              <a:ext cx="3335" cy="158"/>
              <a:chOff x="149" y="1986"/>
              <a:chExt cx="3335" cy="158"/>
            </a:xfrm>
          </p:grpSpPr>
          <p:sp>
            <p:nvSpPr>
              <p:cNvPr id="13364" name="Text Box 56">
                <a:extLst>
                  <a:ext uri="{FF2B5EF4-FFF2-40B4-BE49-F238E27FC236}">
                    <a16:creationId xmlns:a16="http://schemas.microsoft.com/office/drawing/2014/main" id="{DC3E47F0-B9A9-4718-8A37-D9AB203A2D7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49" y="1986"/>
                <a:ext cx="614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000" b="1">
                    <a:latin typeface="Times New Roman" panose="02020603050405020304" pitchFamily="18" charset="0"/>
                  </a:rPr>
                  <a:t>A19~A0</a:t>
                </a:r>
                <a:endParaRPr lang="en-US" altLang="zh-CN" sz="1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65" name="Line 57">
                <a:extLst>
                  <a:ext uri="{FF2B5EF4-FFF2-40B4-BE49-F238E27FC236}">
                    <a16:creationId xmlns:a16="http://schemas.microsoft.com/office/drawing/2014/main" id="{8D915895-54C9-4201-8B73-7AE8E107784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1986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" name="Line 58">
                <a:extLst>
                  <a:ext uri="{FF2B5EF4-FFF2-40B4-BE49-F238E27FC236}">
                    <a16:creationId xmlns:a16="http://schemas.microsoft.com/office/drawing/2014/main" id="{562AB519-C663-41A7-B2AA-1D8E4DA6685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2134"/>
                <a:ext cx="3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" name="Line 59">
                <a:extLst>
                  <a:ext uri="{FF2B5EF4-FFF2-40B4-BE49-F238E27FC236}">
                    <a16:creationId xmlns:a16="http://schemas.microsoft.com/office/drawing/2014/main" id="{10ACD348-2AAA-4862-9CDE-A40D2D5439D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1" y="1986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" name="Line 60">
                <a:extLst>
                  <a:ext uri="{FF2B5EF4-FFF2-40B4-BE49-F238E27FC236}">
                    <a16:creationId xmlns:a16="http://schemas.microsoft.com/office/drawing/2014/main" id="{21A3D20F-665E-429C-BD4D-90EBA5FB09C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2" y="1986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" name="Line 61">
                <a:extLst>
                  <a:ext uri="{FF2B5EF4-FFF2-40B4-BE49-F238E27FC236}">
                    <a16:creationId xmlns:a16="http://schemas.microsoft.com/office/drawing/2014/main" id="{3270DD60-3AEB-472D-BB00-D06546C1F08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49" y="1986"/>
                <a:ext cx="2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" name="Line 62">
                <a:extLst>
                  <a:ext uri="{FF2B5EF4-FFF2-40B4-BE49-F238E27FC236}">
                    <a16:creationId xmlns:a16="http://schemas.microsoft.com/office/drawing/2014/main" id="{E50F6D05-4CB1-4F45-B2DF-9E61E9C3815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51" y="2133"/>
                <a:ext cx="2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71" name="Line 63">
              <a:extLst>
                <a:ext uri="{FF2B5EF4-FFF2-40B4-BE49-F238E27FC236}">
                  <a16:creationId xmlns:a16="http://schemas.microsoft.com/office/drawing/2014/main" id="{FD52E4F4-0412-49E3-94D6-B3CC825E38B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2852"/>
              <a:ext cx="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2" name="Line 64">
              <a:extLst>
                <a:ext uri="{FF2B5EF4-FFF2-40B4-BE49-F238E27FC236}">
                  <a16:creationId xmlns:a16="http://schemas.microsoft.com/office/drawing/2014/main" id="{69BAB62D-F57A-4049-B9FB-0493354FB5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0" y="2852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3" name="Line 65">
              <a:extLst>
                <a:ext uri="{FF2B5EF4-FFF2-40B4-BE49-F238E27FC236}">
                  <a16:creationId xmlns:a16="http://schemas.microsoft.com/office/drawing/2014/main" id="{D8232386-8A3B-4019-8AB7-010DB4D882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4" y="3003"/>
              <a:ext cx="10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4" name="Line 66">
              <a:extLst>
                <a:ext uri="{FF2B5EF4-FFF2-40B4-BE49-F238E27FC236}">
                  <a16:creationId xmlns:a16="http://schemas.microsoft.com/office/drawing/2014/main" id="{803A3778-41FA-4D1C-9B4F-49C689B39B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56" y="285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5" name="Line 67">
              <a:extLst>
                <a:ext uri="{FF2B5EF4-FFF2-40B4-BE49-F238E27FC236}">
                  <a16:creationId xmlns:a16="http://schemas.microsoft.com/office/drawing/2014/main" id="{2904E312-E99E-45A4-BABE-2B0DC94CB0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28" y="2862"/>
              <a:ext cx="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6" name="Line 68">
              <a:extLst>
                <a:ext uri="{FF2B5EF4-FFF2-40B4-BE49-F238E27FC236}">
                  <a16:creationId xmlns:a16="http://schemas.microsoft.com/office/drawing/2014/main" id="{B068E5CC-2FB9-4515-BFF3-069D89B4C7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16" y="3129"/>
              <a:ext cx="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7" name="Line 69">
              <a:extLst>
                <a:ext uri="{FF2B5EF4-FFF2-40B4-BE49-F238E27FC236}">
                  <a16:creationId xmlns:a16="http://schemas.microsoft.com/office/drawing/2014/main" id="{4A6D69A8-08B4-45B4-9E42-200ACE0D79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9" y="3129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8" name="Line 70">
              <a:extLst>
                <a:ext uri="{FF2B5EF4-FFF2-40B4-BE49-F238E27FC236}">
                  <a16:creationId xmlns:a16="http://schemas.microsoft.com/office/drawing/2014/main" id="{8B7F811D-F1C3-4157-AC97-43B6F15D47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92" y="3281"/>
              <a:ext cx="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9" name="Line 71">
              <a:extLst>
                <a:ext uri="{FF2B5EF4-FFF2-40B4-BE49-F238E27FC236}">
                  <a16:creationId xmlns:a16="http://schemas.microsoft.com/office/drawing/2014/main" id="{021EAFB8-AF33-4A82-AF9D-27017041C5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3417"/>
              <a:ext cx="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0" name="Line 72">
              <a:extLst>
                <a:ext uri="{FF2B5EF4-FFF2-40B4-BE49-F238E27FC236}">
                  <a16:creationId xmlns:a16="http://schemas.microsoft.com/office/drawing/2014/main" id="{7218D23F-B325-4F38-819E-5A3F397991D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70" y="3417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1" name="Line 73">
              <a:extLst>
                <a:ext uri="{FF2B5EF4-FFF2-40B4-BE49-F238E27FC236}">
                  <a16:creationId xmlns:a16="http://schemas.microsoft.com/office/drawing/2014/main" id="{3A8A8F87-D62E-44A1-807A-6D84FB6F47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3" y="3569"/>
              <a:ext cx="9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2" name="Line 74">
              <a:extLst>
                <a:ext uri="{FF2B5EF4-FFF2-40B4-BE49-F238E27FC236}">
                  <a16:creationId xmlns:a16="http://schemas.microsoft.com/office/drawing/2014/main" id="{FA7A2018-0359-4BFE-8AA9-2507992656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2" y="3420"/>
              <a:ext cx="70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3" name="Line 75">
              <a:extLst>
                <a:ext uri="{FF2B5EF4-FFF2-40B4-BE49-F238E27FC236}">
                  <a16:creationId xmlns:a16="http://schemas.microsoft.com/office/drawing/2014/main" id="{A875E9C1-247D-4481-8710-7BF4E85C07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15" y="3427"/>
              <a:ext cx="6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4" name="Text Box 76">
              <a:extLst>
                <a:ext uri="{FF2B5EF4-FFF2-40B4-BE49-F238E27FC236}">
                  <a16:creationId xmlns:a16="http://schemas.microsoft.com/office/drawing/2014/main" id="{97BA74C4-AC07-4CC7-917F-0CA2E9CF537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" y="2849"/>
              <a:ext cx="33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RD</a:t>
              </a:r>
            </a:p>
          </p:txBody>
        </p:sp>
        <p:sp>
          <p:nvSpPr>
            <p:cNvPr id="13385" name="Line 77">
              <a:extLst>
                <a:ext uri="{FF2B5EF4-FFF2-40B4-BE49-F238E27FC236}">
                  <a16:creationId xmlns:a16="http://schemas.microsoft.com/office/drawing/2014/main" id="{298B0CD8-ACE7-4F3D-8583-1421B06D56B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7" y="2859"/>
              <a:ext cx="1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6" name="Text Box 78">
              <a:extLst>
                <a:ext uri="{FF2B5EF4-FFF2-40B4-BE49-F238E27FC236}">
                  <a16:creationId xmlns:a16="http://schemas.microsoft.com/office/drawing/2014/main" id="{480A0771-101E-4877-816D-70CDF5BADA2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" y="3121"/>
              <a:ext cx="44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DT/R</a:t>
              </a:r>
            </a:p>
          </p:txBody>
        </p:sp>
        <p:sp>
          <p:nvSpPr>
            <p:cNvPr id="13387" name="Line 79">
              <a:extLst>
                <a:ext uri="{FF2B5EF4-FFF2-40B4-BE49-F238E27FC236}">
                  <a16:creationId xmlns:a16="http://schemas.microsoft.com/office/drawing/2014/main" id="{B0E7CCA1-3988-43AC-8473-9B39C018BE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6" y="3122"/>
              <a:ext cx="99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8" name="Text Box 80">
              <a:extLst>
                <a:ext uri="{FF2B5EF4-FFF2-40B4-BE49-F238E27FC236}">
                  <a16:creationId xmlns:a16="http://schemas.microsoft.com/office/drawing/2014/main" id="{3E6CEA98-EEF7-47DF-911F-A093949A136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" y="3430"/>
              <a:ext cx="38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DEN</a:t>
              </a:r>
            </a:p>
          </p:txBody>
        </p:sp>
        <p:sp>
          <p:nvSpPr>
            <p:cNvPr id="13389" name="Line 81">
              <a:extLst>
                <a:ext uri="{FF2B5EF4-FFF2-40B4-BE49-F238E27FC236}">
                  <a16:creationId xmlns:a16="http://schemas.microsoft.com/office/drawing/2014/main" id="{86D8D3DC-0A4B-47CA-99E2-D4E98F68BB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5" y="3423"/>
              <a:ext cx="311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0" name="Text Box 82">
              <a:extLst>
                <a:ext uri="{FF2B5EF4-FFF2-40B4-BE49-F238E27FC236}">
                  <a16:creationId xmlns:a16="http://schemas.microsoft.com/office/drawing/2014/main" id="{94655107-B6F9-4868-AD68-82BE7294966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8" y="1094"/>
              <a:ext cx="44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CLK</a:t>
              </a:r>
              <a:endParaRPr lang="en-US" altLang="zh-CN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13391" name="Text Box 83">
              <a:extLst>
                <a:ext uri="{FF2B5EF4-FFF2-40B4-BE49-F238E27FC236}">
                  <a16:creationId xmlns:a16="http://schemas.microsoft.com/office/drawing/2014/main" id="{B1141284-3338-4BC1-A8B3-31AF435DFCC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88" y="1695"/>
              <a:ext cx="50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1800" b="1">
                  <a:latin typeface="Times New Roman" panose="02020603050405020304" pitchFamily="18" charset="0"/>
                </a:rPr>
                <a:t>S6 ~ S3</a:t>
              </a:r>
              <a:endParaRPr lang="en-US" altLang="zh-CN" sz="1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3392" name="Group 84">
              <a:extLst>
                <a:ext uri="{FF2B5EF4-FFF2-40B4-BE49-F238E27FC236}">
                  <a16:creationId xmlns:a16="http://schemas.microsoft.com/office/drawing/2014/main" id="{51133505-8F49-4E25-80E4-7483DBBFFF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968"/>
              <a:ext cx="3429" cy="508"/>
              <a:chOff x="0" y="2261"/>
              <a:chExt cx="3429" cy="508"/>
            </a:xfrm>
          </p:grpSpPr>
          <p:sp>
            <p:nvSpPr>
              <p:cNvPr id="13393" name="Text Box 85">
                <a:extLst>
                  <a:ext uri="{FF2B5EF4-FFF2-40B4-BE49-F238E27FC236}">
                    <a16:creationId xmlns:a16="http://schemas.microsoft.com/office/drawing/2014/main" id="{F52F2F28-D0FC-436F-B1E3-429B66854FB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373" y="2297"/>
                <a:ext cx="581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zh-CN" altLang="en-US" sz="1600" b="1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1600" b="1">
                    <a:latin typeface="Times New Roman" panose="02020603050405020304" pitchFamily="18" charset="0"/>
                  </a:rPr>
                  <a:t>D15 ~D0</a:t>
                </a:r>
              </a:p>
            </p:txBody>
          </p:sp>
          <p:sp>
            <p:nvSpPr>
              <p:cNvPr id="13394" name="Text Box 86">
                <a:extLst>
                  <a:ext uri="{FF2B5EF4-FFF2-40B4-BE49-F238E27FC236}">
                    <a16:creationId xmlns:a16="http://schemas.microsoft.com/office/drawing/2014/main" id="{C83E4A99-4AC2-4F87-B08C-6D1697FA4C2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2261"/>
                <a:ext cx="795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000" b="1">
                    <a:latin typeface="Times New Roman" panose="02020603050405020304" pitchFamily="18" charset="0"/>
                  </a:rPr>
                  <a:t>AD15~AD0</a:t>
                </a:r>
                <a:endParaRPr lang="en-US" altLang="zh-CN" sz="1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95" name="Line 87">
                <a:extLst>
                  <a:ext uri="{FF2B5EF4-FFF2-40B4-BE49-F238E27FC236}">
                    <a16:creationId xmlns:a16="http://schemas.microsoft.com/office/drawing/2014/main" id="{83DAEF27-0497-4383-8928-E001EBF4CAD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282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" name="Line 88">
                <a:extLst>
                  <a:ext uri="{FF2B5EF4-FFF2-40B4-BE49-F238E27FC236}">
                    <a16:creationId xmlns:a16="http://schemas.microsoft.com/office/drawing/2014/main" id="{900BCFA2-F914-49EF-9290-04DC3F117EC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430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" name="Line 89">
                <a:extLst>
                  <a:ext uri="{FF2B5EF4-FFF2-40B4-BE49-F238E27FC236}">
                    <a16:creationId xmlns:a16="http://schemas.microsoft.com/office/drawing/2014/main" id="{3B78B91B-F89A-4975-8715-60588D6B94C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3" y="2282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" name="Line 90">
                <a:extLst>
                  <a:ext uri="{FF2B5EF4-FFF2-40B4-BE49-F238E27FC236}">
                    <a16:creationId xmlns:a16="http://schemas.microsoft.com/office/drawing/2014/main" id="{026137FB-3F59-4220-B84E-FCCA41F73D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4" y="2282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" name="Line 91">
                <a:extLst>
                  <a:ext uri="{FF2B5EF4-FFF2-40B4-BE49-F238E27FC236}">
                    <a16:creationId xmlns:a16="http://schemas.microsoft.com/office/drawing/2014/main" id="{A60B7AFE-9617-45DA-8FC1-B766AF15DB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1" y="2282"/>
                <a:ext cx="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" name="Line 92">
                <a:extLst>
                  <a:ext uri="{FF2B5EF4-FFF2-40B4-BE49-F238E27FC236}">
                    <a16:creationId xmlns:a16="http://schemas.microsoft.com/office/drawing/2014/main" id="{E2A9E4A3-2893-4F9D-93CC-56BD2F2DE9B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4" y="2433"/>
                <a:ext cx="5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" name="Line 93">
                <a:extLst>
                  <a:ext uri="{FF2B5EF4-FFF2-40B4-BE49-F238E27FC236}">
                    <a16:creationId xmlns:a16="http://schemas.microsoft.com/office/drawing/2014/main" id="{CBEA25C1-22A4-45CD-84CA-6F0CB5902A5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" y="2282"/>
                <a:ext cx="39" cy="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" name="Line 94">
                <a:extLst>
                  <a:ext uri="{FF2B5EF4-FFF2-40B4-BE49-F238E27FC236}">
                    <a16:creationId xmlns:a16="http://schemas.microsoft.com/office/drawing/2014/main" id="{061D710D-77BA-4B6D-BB05-2D9B35218CB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80" y="2360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" name="Line 95">
                <a:extLst>
                  <a:ext uri="{FF2B5EF4-FFF2-40B4-BE49-F238E27FC236}">
                    <a16:creationId xmlns:a16="http://schemas.microsoft.com/office/drawing/2014/main" id="{A0680E25-9815-4A73-A562-5935E5F68CD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9" y="2360"/>
                <a:ext cx="4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" name="Line 96">
                <a:extLst>
                  <a:ext uri="{FF2B5EF4-FFF2-40B4-BE49-F238E27FC236}">
                    <a16:creationId xmlns:a16="http://schemas.microsoft.com/office/drawing/2014/main" id="{2D09819A-3CD2-44C8-86C0-62EBDF5C23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5" y="2360"/>
                <a:ext cx="35" cy="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" name="Line 97">
                <a:extLst>
                  <a:ext uri="{FF2B5EF4-FFF2-40B4-BE49-F238E27FC236}">
                    <a16:creationId xmlns:a16="http://schemas.microsoft.com/office/drawing/2014/main" id="{91642DFC-1A9D-4FE2-BCA3-3DF4F837706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93" y="2285"/>
                <a:ext cx="37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" name="Line 98">
                <a:extLst>
                  <a:ext uri="{FF2B5EF4-FFF2-40B4-BE49-F238E27FC236}">
                    <a16:creationId xmlns:a16="http://schemas.microsoft.com/office/drawing/2014/main" id="{925FB676-0D37-4D62-B29A-2FA14A5C8BC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6" y="2286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" name="Line 99">
                <a:extLst>
                  <a:ext uri="{FF2B5EF4-FFF2-40B4-BE49-F238E27FC236}">
                    <a16:creationId xmlns:a16="http://schemas.microsoft.com/office/drawing/2014/main" id="{82549CF6-BBD1-4622-8078-0CCBEB7390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33" y="2433"/>
                <a:ext cx="6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" name="Line 100">
                <a:extLst>
                  <a:ext uri="{FF2B5EF4-FFF2-40B4-BE49-F238E27FC236}">
                    <a16:creationId xmlns:a16="http://schemas.microsoft.com/office/drawing/2014/main" id="{C6BF7DBC-4974-44E0-A1A1-E7A54E29B62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0" y="2286"/>
                <a:ext cx="39" cy="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" name="Line 101">
                <a:extLst>
                  <a:ext uri="{FF2B5EF4-FFF2-40B4-BE49-F238E27FC236}">
                    <a16:creationId xmlns:a16="http://schemas.microsoft.com/office/drawing/2014/main" id="{A9211488-19E0-4A6E-9BF4-D7AFEA452D8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41" y="2365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" name="Line 102">
                <a:extLst>
                  <a:ext uri="{FF2B5EF4-FFF2-40B4-BE49-F238E27FC236}">
                    <a16:creationId xmlns:a16="http://schemas.microsoft.com/office/drawing/2014/main" id="{D3A857D2-7D82-412C-9F80-06E87DE3694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9" y="2360"/>
                <a:ext cx="45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" name="Line 103">
                <a:extLst>
                  <a:ext uri="{FF2B5EF4-FFF2-40B4-BE49-F238E27FC236}">
                    <a16:creationId xmlns:a16="http://schemas.microsoft.com/office/drawing/2014/main" id="{68FB95A5-B8D7-49E6-BEC4-56FFBA4D02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2712"/>
                <a:ext cx="2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" name="Line 104">
                <a:extLst>
                  <a:ext uri="{FF2B5EF4-FFF2-40B4-BE49-F238E27FC236}">
                    <a16:creationId xmlns:a16="http://schemas.microsoft.com/office/drawing/2014/main" id="{F7916A9D-F3E9-43AC-A5A3-A6B5FB9454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49" y="2564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3" name="Line 105">
                <a:extLst>
                  <a:ext uri="{FF2B5EF4-FFF2-40B4-BE49-F238E27FC236}">
                    <a16:creationId xmlns:a16="http://schemas.microsoft.com/office/drawing/2014/main" id="{2CD04518-8FFC-4C87-8C08-61B60B76684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25" y="2571"/>
                <a:ext cx="3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4" name="Line 106">
                <a:extLst>
                  <a:ext uri="{FF2B5EF4-FFF2-40B4-BE49-F238E27FC236}">
                    <a16:creationId xmlns:a16="http://schemas.microsoft.com/office/drawing/2014/main" id="{51FFF67C-82F9-4FDB-8AC3-0456986DCB6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65" y="2571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5" name="Line 107">
                <a:extLst>
                  <a:ext uri="{FF2B5EF4-FFF2-40B4-BE49-F238E27FC236}">
                    <a16:creationId xmlns:a16="http://schemas.microsoft.com/office/drawing/2014/main" id="{10954D61-3055-48D4-8EB4-35B26880B66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28" y="2718"/>
                <a:ext cx="19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6" name="Text Box 108">
                <a:extLst>
                  <a:ext uri="{FF2B5EF4-FFF2-40B4-BE49-F238E27FC236}">
                    <a16:creationId xmlns:a16="http://schemas.microsoft.com/office/drawing/2014/main" id="{4979A83B-ABE9-4296-B18B-713FC6EABDF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" y="2574"/>
                <a:ext cx="447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000" b="1">
                    <a:latin typeface="Times New Roman" panose="02020603050405020304" pitchFamily="18" charset="0"/>
                  </a:rPr>
                  <a:t>ALE</a:t>
                </a:r>
              </a:p>
            </p:txBody>
          </p:sp>
          <p:sp>
            <p:nvSpPr>
              <p:cNvPr id="13417" name="Text Box 109">
                <a:extLst>
                  <a:ext uri="{FF2B5EF4-FFF2-40B4-BE49-F238E27FC236}">
                    <a16:creationId xmlns:a16="http://schemas.microsoft.com/office/drawing/2014/main" id="{9B5326E2-86B4-4D5E-802E-5C0F2C8CA6B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" y="2292"/>
                <a:ext cx="581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1600" b="1">
                    <a:latin typeface="Times New Roman" panose="02020603050405020304" pitchFamily="18" charset="0"/>
                  </a:rPr>
                  <a:t>A15 ~ A0</a:t>
                </a:r>
                <a:endParaRPr lang="en-US" altLang="zh-CN" sz="1800" b="1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418" name="Line 110">
              <a:extLst>
                <a:ext uri="{FF2B5EF4-FFF2-40B4-BE49-F238E27FC236}">
                  <a16:creationId xmlns:a16="http://schemas.microsoft.com/office/drawing/2014/main" id="{E593293B-5DE0-4AFC-84BE-520181B71C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5" y="1488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" name="Line 111">
              <a:extLst>
                <a:ext uri="{FF2B5EF4-FFF2-40B4-BE49-F238E27FC236}">
                  <a16:creationId xmlns:a16="http://schemas.microsoft.com/office/drawing/2014/main" id="{4556A692-7F73-459D-A87D-EA440C11EF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8100000" flipH="1">
              <a:off x="1055" y="1439"/>
              <a:ext cx="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0" name="Line 112">
              <a:extLst>
                <a:ext uri="{FF2B5EF4-FFF2-40B4-BE49-F238E27FC236}">
                  <a16:creationId xmlns:a16="http://schemas.microsoft.com/office/drawing/2014/main" id="{E735EFBF-AF6A-4CC9-A70F-7755B64F3B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 flipH="1">
              <a:off x="1049" y="1423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ext Box 2">
            <a:extLst>
              <a:ext uri="{FF2B5EF4-FFF2-40B4-BE49-F238E27FC236}">
                <a16:creationId xmlns:a16="http://schemas.microsoft.com/office/drawing/2014/main" id="{0A5AF969-E33F-4FAC-BE52-37C9FEDF5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5535613"/>
            <a:ext cx="63246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还有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INTA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的时序图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2">
            <a:extLst>
              <a:ext uri="{FF2B5EF4-FFF2-40B4-BE49-F238E27FC236}">
                <a16:creationId xmlns:a16="http://schemas.microsoft.com/office/drawing/2014/main" id="{EE48C088-1176-4594-AA07-67B8D4868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85344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第三章   </a:t>
            </a:r>
            <a:r>
              <a:rPr lang="en-US" altLang="zh-CN" sz="2800">
                <a:latin typeface="Times New Roman" panose="02020603050405020304" pitchFamily="18" charset="0"/>
              </a:rPr>
              <a:t>8086</a:t>
            </a:r>
            <a:r>
              <a:rPr lang="zh-CN" altLang="en-US" sz="2800">
                <a:latin typeface="Times New Roman" panose="02020603050405020304" pitchFamily="18" charset="0"/>
              </a:rPr>
              <a:t>指令系统</a:t>
            </a:r>
            <a:endParaRPr lang="zh-CN" altLang="en-US" sz="2800">
              <a:latin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Garamond" panose="02020404030301010803" pitchFamily="18" charset="0"/>
              </a:rPr>
              <a:t>8086指令系统基本概念</a:t>
            </a:r>
            <a:endParaRPr lang="en-US" altLang="zh-CN" sz="2400" b="1">
              <a:latin typeface="Garamond" panose="02020404030301010803" pitchFamily="18" charset="0"/>
            </a:endParaRPr>
          </a:p>
          <a:p>
            <a:pPr eaLnBrk="0" hangingPunct="0"/>
            <a:r>
              <a:rPr lang="zh-CN" altLang="en-US" sz="2400" b="1">
                <a:latin typeface="Garamond" panose="02020404030301010803" pitchFamily="18" charset="0"/>
              </a:rPr>
              <a:t>	指令，指令系统，汇编程序，指令格式，操作数</a:t>
            </a:r>
            <a:endParaRPr lang="en-US" altLang="zh-CN" sz="2400" b="1">
              <a:latin typeface="Garamond" panose="02020404030301010803" pitchFamily="18" charset="0"/>
            </a:endParaRPr>
          </a:p>
          <a:p>
            <a:pPr eaLnBrk="0" hangingPunct="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Garamond" panose="02020404030301010803" pitchFamily="18" charset="0"/>
              </a:rPr>
              <a:t>8086</a:t>
            </a:r>
            <a:r>
              <a:rPr lang="zh-CN" altLang="en-US" sz="2400" b="1">
                <a:latin typeface="Garamond" panose="02020404030301010803" pitchFamily="18" charset="0"/>
              </a:rPr>
              <a:t>的</a:t>
            </a:r>
            <a:r>
              <a:rPr lang="zh-CN" altLang="zh-CN" sz="2400" b="1">
                <a:latin typeface="Garamond" panose="02020404030301010803" pitchFamily="18" charset="0"/>
              </a:rPr>
              <a:t>寻址方式</a:t>
            </a:r>
            <a:endParaRPr lang="zh-CN" altLang="en-US" sz="2400" b="1">
              <a:latin typeface="Garamond" panose="02020404030301010803" pitchFamily="18" charset="0"/>
            </a:endParaRPr>
          </a:p>
          <a:p>
            <a:pPr eaLnBrk="0" hangingPunct="0"/>
            <a:r>
              <a:rPr lang="zh-CN" altLang="en-US" sz="2200" b="1">
                <a:latin typeface="Garamond" panose="02020404030301010803" pitchFamily="18" charset="0"/>
              </a:rPr>
              <a:t>     有效地址的概念及组成</a:t>
            </a:r>
          </a:p>
          <a:p>
            <a:pPr eaLnBrk="0" hangingPunct="0"/>
            <a:r>
              <a:rPr lang="zh-CN" altLang="en-US" sz="2200" b="1">
                <a:latin typeface="Garamond" panose="02020404030301010803" pitchFamily="18" charset="0"/>
              </a:rPr>
              <a:t>     寻址方式：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800" b="1">
                <a:latin typeface="Modern" pitchFamily="50"/>
              </a:rPr>
              <a:t>	立即寻址	 	</a:t>
            </a:r>
            <a:r>
              <a:rPr lang="en-US" altLang="zh-CN" sz="1800" b="1"/>
              <a:t>MOV    AL,80H</a:t>
            </a:r>
            <a:r>
              <a:rPr lang="en-US" altLang="zh-CN" sz="1800"/>
              <a:t> </a:t>
            </a:r>
            <a:endParaRPr lang="zh-CN" altLang="en-US" sz="1800" b="1">
              <a:latin typeface="Modern" pitchFamily="50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sz="1800" b="1"/>
              <a:t>	寄存器寻址	 	</a:t>
            </a:r>
            <a:r>
              <a:rPr lang="en-US" altLang="zh-CN" sz="1800" b="1"/>
              <a:t>MOV    AX,BX</a:t>
            </a:r>
            <a:r>
              <a:rPr lang="en-US" altLang="zh-CN" sz="1800"/>
              <a:t> </a:t>
            </a:r>
            <a:endParaRPr lang="zh-CN" altLang="en-US" sz="1800" b="1"/>
          </a:p>
          <a:p>
            <a:pPr eaLnBrk="0" hangingPunct="0">
              <a:spcBef>
                <a:spcPct val="20000"/>
              </a:spcBef>
            </a:pPr>
            <a:r>
              <a:rPr lang="zh-CN" altLang="en-US" sz="1800" b="1"/>
              <a:t>	直接寻址	 	</a:t>
            </a:r>
            <a:r>
              <a:rPr lang="en-US" altLang="zh-CN" sz="1800" b="1"/>
              <a:t>MOV</a:t>
            </a:r>
            <a:r>
              <a:rPr lang="en-US" altLang="zh-CN" sz="1800"/>
              <a:t>    </a:t>
            </a:r>
            <a:r>
              <a:rPr lang="en-US" altLang="zh-CN" sz="1800" b="1"/>
              <a:t>AX，[2000H]</a:t>
            </a:r>
            <a:r>
              <a:rPr lang="en-US" altLang="zh-CN" sz="1800"/>
              <a:t> </a:t>
            </a:r>
            <a:endParaRPr lang="zh-CN" altLang="en-US" sz="1800" b="1"/>
          </a:p>
          <a:p>
            <a:pPr eaLnBrk="0" hangingPunct="0">
              <a:spcBef>
                <a:spcPct val="20000"/>
              </a:spcBef>
            </a:pPr>
            <a:r>
              <a:rPr lang="zh-CN" altLang="en-US" sz="1800" b="1"/>
              <a:t>	寄存器间接寻址	 	</a:t>
            </a:r>
            <a:r>
              <a:rPr lang="en-US" altLang="zh-CN" sz="1800" b="1"/>
              <a:t>MOV</a:t>
            </a:r>
            <a:r>
              <a:rPr lang="en-US" altLang="zh-CN" sz="1800"/>
              <a:t>    </a:t>
            </a:r>
            <a:r>
              <a:rPr lang="en-US" altLang="zh-CN" sz="1800" b="1"/>
              <a:t>AX，[BX]</a:t>
            </a:r>
            <a:r>
              <a:rPr lang="en-US" altLang="zh-CN" sz="1800"/>
              <a:t> </a:t>
            </a:r>
            <a:endParaRPr lang="en-US" altLang="zh-CN" sz="1800" b="1"/>
          </a:p>
          <a:p>
            <a:pPr eaLnBrk="0" hangingPunct="0">
              <a:spcBef>
                <a:spcPct val="20000"/>
              </a:spcBef>
            </a:pPr>
            <a:r>
              <a:rPr lang="zh-CN" altLang="en-US" sz="1800" b="1"/>
              <a:t>	寄存器相对寻址	 	</a:t>
            </a:r>
            <a:r>
              <a:rPr lang="en-US" altLang="zh-CN" sz="1800" b="1"/>
              <a:t>MOV</a:t>
            </a:r>
            <a:r>
              <a:rPr lang="en-US" altLang="zh-CN" sz="1800"/>
              <a:t>    </a:t>
            </a:r>
            <a:r>
              <a:rPr lang="en-US" altLang="zh-CN" sz="1800" b="1"/>
              <a:t>AX，20H [BX]</a:t>
            </a:r>
            <a:r>
              <a:rPr lang="en-US" altLang="zh-CN" sz="1800"/>
              <a:t> </a:t>
            </a:r>
            <a:r>
              <a:rPr lang="zh-CN" altLang="en-US" sz="1800" b="1"/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800" b="1"/>
              <a:t>	基址变址寻址	 	</a:t>
            </a:r>
            <a:r>
              <a:rPr lang="en-US" altLang="zh-CN" sz="1800" b="1"/>
              <a:t>MOV    AX，[BX][SI]</a:t>
            </a:r>
            <a:r>
              <a:rPr lang="en-US" altLang="zh-CN" sz="1800"/>
              <a:t> </a:t>
            </a:r>
            <a:endParaRPr lang="zh-CN" altLang="en-US" sz="1800" b="1"/>
          </a:p>
          <a:p>
            <a:pPr eaLnBrk="0" hangingPunct="0">
              <a:spcBef>
                <a:spcPct val="20000"/>
              </a:spcBef>
            </a:pPr>
            <a:r>
              <a:rPr lang="zh-CN" altLang="en-US" sz="1800" b="1"/>
              <a:t>	相对基址变址寻址	</a:t>
            </a:r>
            <a:r>
              <a:rPr lang="en-US" altLang="zh-CN" sz="1800" b="1"/>
              <a:t>MOV</a:t>
            </a:r>
            <a:r>
              <a:rPr lang="en-US" altLang="zh-CN" sz="1800"/>
              <a:t>    </a:t>
            </a:r>
            <a:r>
              <a:rPr lang="en-US" altLang="zh-CN" sz="1800" b="1"/>
              <a:t>AX，INF [BX] [SI]</a:t>
            </a:r>
            <a:r>
              <a:rPr lang="en-US" altLang="zh-CN" sz="1800"/>
              <a:t> </a:t>
            </a:r>
            <a:r>
              <a:rPr lang="zh-CN" altLang="en-US" sz="1800" b="1"/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800" b="1"/>
              <a:t>	输入输出端口寻址	</a:t>
            </a:r>
            <a:r>
              <a:rPr lang="en-US" altLang="zh-CN" sz="1800" b="1"/>
              <a:t>IN    AL，80H</a:t>
            </a:r>
            <a:r>
              <a:rPr lang="en-US" altLang="zh-CN" sz="1800"/>
              <a:t> </a:t>
            </a:r>
            <a:endParaRPr lang="zh-CN" altLang="en-US" sz="1800" b="1"/>
          </a:p>
          <a:p>
            <a:pPr eaLnBrk="0" hangingPunct="0">
              <a:spcBef>
                <a:spcPct val="20000"/>
              </a:spcBef>
            </a:pPr>
            <a:r>
              <a:rPr lang="zh-CN" altLang="en-US" sz="1800" b="1"/>
              <a:t>	串操作指令寻址	自动修改</a:t>
            </a:r>
            <a:r>
              <a:rPr lang="en-US" altLang="zh-CN" sz="1800" b="1"/>
              <a:t>SI</a:t>
            </a:r>
            <a:r>
              <a:rPr lang="zh-CN" altLang="en-US" sz="1800" b="1"/>
              <a:t>和</a:t>
            </a:r>
            <a:r>
              <a:rPr lang="en-US" altLang="zh-CN" sz="1800" b="1"/>
              <a:t>DI</a:t>
            </a:r>
            <a:r>
              <a:rPr lang="zh-CN" altLang="en-US" sz="1800" b="1"/>
              <a:t>的内容  </a:t>
            </a:r>
            <a:r>
              <a:rPr lang="en-US" altLang="zh-CN" sz="1800" b="1"/>
              <a:t>STOSB STOSW(</a:t>
            </a:r>
            <a:r>
              <a:rPr lang="zh-CN" altLang="zh-CN" sz="1800" b="1"/>
              <a:t>不考</a:t>
            </a:r>
            <a:r>
              <a:rPr lang="en-US" altLang="zh-CN" sz="1800" b="1"/>
              <a:t>)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800" b="1">
                <a:solidFill>
                  <a:schemeClr val="hlink"/>
                </a:solidFill>
              </a:rPr>
              <a:t>问： 指令</a:t>
            </a:r>
            <a:r>
              <a:rPr lang="en-US" altLang="zh-CN" sz="1800" b="1">
                <a:solidFill>
                  <a:schemeClr val="hlink"/>
                </a:solidFill>
              </a:rPr>
              <a:t>MOV</a:t>
            </a:r>
            <a:r>
              <a:rPr lang="en-US" altLang="zh-CN" sz="1800">
                <a:solidFill>
                  <a:schemeClr val="hlink"/>
                </a:solidFill>
              </a:rPr>
              <a:t>    </a:t>
            </a:r>
            <a:r>
              <a:rPr lang="en-US" altLang="zh-CN" sz="1800" b="1">
                <a:solidFill>
                  <a:schemeClr val="hlink"/>
                </a:solidFill>
              </a:rPr>
              <a:t>AX，20H [BX]</a:t>
            </a:r>
            <a:r>
              <a:rPr lang="zh-CN" altLang="en-US" sz="1800" b="1">
                <a:solidFill>
                  <a:schemeClr val="hlink"/>
                </a:solidFill>
              </a:rPr>
              <a:t>的寻址方式是什么？该指令访问那个段？若</a:t>
            </a:r>
            <a:r>
              <a:rPr lang="en-US" altLang="zh-CN" sz="1800" b="1">
                <a:solidFill>
                  <a:schemeClr val="hlink"/>
                </a:solidFill>
              </a:rPr>
              <a:t>DS=1000H，BX=200H</a:t>
            </a:r>
            <a:r>
              <a:rPr lang="zh-CN" altLang="en-US" sz="1800" b="1">
                <a:solidFill>
                  <a:schemeClr val="hlink"/>
                </a:solidFill>
              </a:rPr>
              <a:t>， 指令操作数的物理地址是什么？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2">
            <a:extLst>
              <a:ext uri="{FF2B5EF4-FFF2-40B4-BE49-F238E27FC236}">
                <a16:creationId xmlns:a16="http://schemas.microsoft.com/office/drawing/2014/main" id="{76B5B18E-32C3-42A1-8682-C209B02F8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582613"/>
            <a:ext cx="8763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</a:rPr>
              <a:t>8086指令分类</a:t>
            </a:r>
          </a:p>
          <a:p>
            <a:pPr>
              <a:spcBef>
                <a:spcPct val="20000"/>
              </a:spcBef>
            </a:pPr>
            <a:r>
              <a:rPr lang="en-US" altLang="zh-CN" sz="2200" b="1">
                <a:latin typeface="Times New Roman" panose="02020603050405020304" pitchFamily="18" charset="0"/>
              </a:rPr>
              <a:t>        </a:t>
            </a:r>
            <a:r>
              <a:rPr lang="zh-CN" altLang="en-US" sz="2200" b="1">
                <a:latin typeface="Times New Roman" panose="02020603050405020304" pitchFamily="18" charset="0"/>
              </a:rPr>
              <a:t>数据传送指令、算术运算指令、逻辑运算指令、字符串操作指令、控制转移指令和处理器控制指令</a:t>
            </a:r>
          </a:p>
          <a:p>
            <a:pPr>
              <a:spcBef>
                <a:spcPct val="20000"/>
              </a:spcBef>
            </a:pPr>
            <a:r>
              <a:rPr lang="zh-CN" altLang="en-US" sz="2200" b="1">
                <a:latin typeface="Times New Roman" panose="02020603050405020304" pitchFamily="18" charset="0"/>
              </a:rPr>
              <a:t>要求：熟悉各种指令的功能和指令格式，能指出指令出错原因</a:t>
            </a:r>
          </a:p>
          <a:p>
            <a:pPr>
              <a:spcBef>
                <a:spcPct val="20000"/>
              </a:spcBef>
            </a:pPr>
            <a:r>
              <a:rPr lang="zh-CN" altLang="en-US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问：</a:t>
            </a:r>
            <a:r>
              <a:rPr lang="en-US" altLang="zh-CN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CBW</a:t>
            </a:r>
            <a:r>
              <a:rPr lang="zh-CN" altLang="en-US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指令的功能是什么？若</a:t>
            </a:r>
            <a:r>
              <a:rPr lang="en-US" altLang="zh-CN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AL=0A5H,</a:t>
            </a:r>
            <a:r>
              <a:rPr lang="zh-CN" altLang="en-US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执行</a:t>
            </a:r>
            <a:r>
              <a:rPr lang="en-US" altLang="zh-CN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CBW</a:t>
            </a:r>
            <a:r>
              <a:rPr lang="zh-CN" altLang="en-US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后，</a:t>
            </a:r>
            <a:r>
              <a:rPr lang="en-US" altLang="zh-CN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AX</a:t>
            </a:r>
            <a:r>
              <a:rPr lang="zh-CN" altLang="en-US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中的值是什么？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</a:rPr>
              <a:t>控制转移指令</a:t>
            </a:r>
          </a:p>
          <a:p>
            <a:pPr>
              <a:spcBef>
                <a:spcPct val="2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	程序调用和返回的过程（段内和段间调用与返回）</a:t>
            </a:r>
          </a:p>
          <a:p>
            <a:pPr>
              <a:spcBef>
                <a:spcPct val="2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	程序转移指令</a:t>
            </a:r>
          </a:p>
          <a:p>
            <a:pPr>
              <a:spcBef>
                <a:spcPct val="2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		无条件转移（段内和段间转移）</a:t>
            </a:r>
          </a:p>
          <a:p>
            <a:pPr>
              <a:spcBef>
                <a:spcPct val="2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		条件转移（哪些条件）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2">
            <a:extLst>
              <a:ext uri="{FF2B5EF4-FFF2-40B4-BE49-F238E27FC236}">
                <a16:creationId xmlns:a16="http://schemas.microsoft.com/office/drawing/2014/main" id="{A2413557-A0AD-4F6D-90DA-85ADDDE0C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92075"/>
            <a:ext cx="8153400" cy="682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第四章  汇编语言程序设计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b="1">
                <a:latin typeface="Times New Roman" panose="02020603050405020304" pitchFamily="18" charset="0"/>
              </a:rPr>
              <a:t>汇编语言的格式</a:t>
            </a:r>
            <a:endParaRPr lang="zh-CN" altLang="en-US" sz="22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200" b="1">
                <a:latin typeface="宋体" panose="02010600030101010101" pitchFamily="2" charset="-122"/>
              </a:rPr>
              <a:t>伪指令和程序结构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 程序分段及存储器分配伪指令 </a:t>
            </a:r>
            <a:r>
              <a:rPr lang="en-US" altLang="zh-CN" sz="2200">
                <a:latin typeface="Times New Roman" panose="02020603050405020304" pitchFamily="18" charset="0"/>
              </a:rPr>
              <a:t>(SEGMENT</a:t>
            </a:r>
            <a:r>
              <a:rPr lang="zh-CN" altLang="en-US" sz="2200">
                <a:latin typeface="Times New Roman" panose="02020603050405020304" pitchFamily="18" charset="0"/>
              </a:rPr>
              <a:t>和</a:t>
            </a:r>
            <a:r>
              <a:rPr lang="en-US" altLang="zh-CN" sz="2200">
                <a:latin typeface="Times New Roman" panose="02020603050405020304" pitchFamily="18" charset="0"/>
              </a:rPr>
              <a:t>ENDS ORG ASSUME )       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 变量定义及存储器申请伪指令 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(DB/DW/DD)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 过程定义伪指令</a:t>
            </a:r>
            <a:r>
              <a:rPr lang="en-US" altLang="zh-CN" sz="2200">
                <a:latin typeface="Times New Roman" panose="02020603050405020304" pitchFamily="18" charset="0"/>
              </a:rPr>
              <a:t>(PROC/ENDP FAR NEAR)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 符号定义伪指令</a:t>
            </a:r>
            <a:r>
              <a:rPr lang="en-US" altLang="zh-CN" sz="2200">
                <a:latin typeface="Times New Roman" panose="02020603050405020304" pitchFamily="18" charset="0"/>
              </a:rPr>
              <a:t>(EQU  =)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 程序模块定义/连接伪指令</a:t>
            </a:r>
            <a:r>
              <a:rPr lang="en-US" altLang="zh-CN" sz="2200">
                <a:latin typeface="Times New Roman" panose="02020603050405020304" pitchFamily="18" charset="0"/>
              </a:rPr>
              <a:t>(PUBLIC EXTERN)-</a:t>
            </a:r>
            <a:r>
              <a:rPr lang="zh-CN" altLang="en-US" sz="2200">
                <a:latin typeface="Times New Roman" panose="02020603050405020304" pitchFamily="18" charset="0"/>
              </a:rPr>
              <a:t>不考</a:t>
            </a:r>
            <a:endParaRPr lang="en-US" altLang="zh-CN" sz="22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b="1">
                <a:latin typeface="Times New Roman" panose="02020603050405020304" pitchFamily="18" charset="0"/>
              </a:rPr>
              <a:t>汇编语言运算符</a:t>
            </a:r>
          </a:p>
          <a:p>
            <a:pPr>
              <a:spcBef>
                <a:spcPts val="600"/>
              </a:spcBef>
            </a:pPr>
            <a:r>
              <a:rPr lang="zh-CN" altLang="en-US" sz="2200" b="1">
                <a:latin typeface="Times New Roman" panose="02020603050405020304" pitchFamily="18" charset="0"/>
              </a:rPr>
              <a:t>       </a:t>
            </a:r>
            <a:r>
              <a:rPr lang="zh-CN" altLang="en-US" sz="2200">
                <a:latin typeface="Times New Roman" panose="02020603050405020304" pitchFamily="18" charset="0"/>
              </a:rPr>
              <a:t>修改属性的操作符</a:t>
            </a:r>
            <a:r>
              <a:rPr lang="en-US" altLang="zh-CN" sz="2200">
                <a:latin typeface="Times New Roman" panose="02020603050405020304" pitchFamily="18" charset="0"/>
              </a:rPr>
              <a:t>(PTR)</a:t>
            </a:r>
          </a:p>
          <a:p>
            <a:pPr>
              <a:spcBef>
                <a:spcPts val="6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数值返回操作符</a:t>
            </a:r>
            <a:r>
              <a:rPr lang="en-US" altLang="zh-CN" sz="2200">
                <a:latin typeface="Times New Roman" panose="02020603050405020304" pitchFamily="18" charset="0"/>
              </a:rPr>
              <a:t>(SEG OFFSET)</a:t>
            </a:r>
          </a:p>
          <a:p>
            <a:pPr>
              <a:spcBef>
                <a:spcPts val="600"/>
              </a:spcBef>
            </a:pPr>
            <a:r>
              <a:rPr lang="en-US" altLang="zh-CN" sz="2200">
                <a:latin typeface="Times New Roman" panose="02020603050405020304" pitchFamily="18" charset="0"/>
              </a:rPr>
              <a:t>       </a:t>
            </a:r>
            <a:r>
              <a:rPr lang="zh-CN" altLang="en-US" sz="2200">
                <a:latin typeface="Times New Roman" panose="02020603050405020304" pitchFamily="18" charset="0"/>
              </a:rPr>
              <a:t>现行地址符</a:t>
            </a:r>
            <a:r>
              <a:rPr lang="en-US" altLang="zh-CN" sz="2200">
                <a:latin typeface="Times New Roman" panose="02020603050405020304" pitchFamily="18" charset="0"/>
              </a:rPr>
              <a:t>($)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b="1">
                <a:latin typeface="Times New Roman" panose="02020603050405020304" pitchFamily="18" charset="0"/>
              </a:rPr>
              <a:t>汇编语言程序设计</a:t>
            </a:r>
          </a:p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FF3300"/>
                </a:solidFill>
                <a:latin typeface="Times New Roman" panose="02020603050405020304" pitchFamily="18" charset="0"/>
              </a:rPr>
              <a:t>要求：能阅读汇编程序，分析程序的功能，写出程序的注释，画出程序流程图（程序流程图要规范） 。编写简单功能的汇编程序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2">
            <a:extLst>
              <a:ext uri="{FF2B5EF4-FFF2-40B4-BE49-F238E27FC236}">
                <a16:creationId xmlns:a16="http://schemas.microsoft.com/office/drawing/2014/main" id="{20A3C4E6-E6FC-47CE-9984-377783B62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-17463"/>
            <a:ext cx="8305800" cy="667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第五章 存储器与存储器系统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存储器概述</a:t>
            </a:r>
          </a:p>
          <a:p>
            <a:pPr>
              <a:spcBef>
                <a:spcPct val="20000"/>
              </a:spcBef>
            </a:pPr>
            <a:r>
              <a:rPr lang="zh-CN" altLang="en-US" sz="2800" dirty="0">
                <a:latin typeface="Verdana" panose="020B0604030504040204" pitchFamily="34" charset="0"/>
              </a:rPr>
              <a:t>  </a:t>
            </a:r>
            <a:r>
              <a:rPr lang="zh-CN" altLang="en-US" sz="2200" dirty="0">
                <a:latin typeface="Verdana" panose="020B0604030504040204" pitchFamily="34" charset="0"/>
              </a:rPr>
              <a:t>存储器的结构：</a:t>
            </a:r>
            <a:r>
              <a:rPr lang="zh-CN" altLang="en-US" sz="2200" dirty="0">
                <a:latin typeface="宋体" panose="02010600030101010101" pitchFamily="2" charset="-122"/>
              </a:rPr>
              <a:t>位结构方式和字结构方式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Verdana" panose="020B0604030504040204" pitchFamily="34" charset="0"/>
              </a:rPr>
              <a:t>   字节、字和指针在存储器空间中的存放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半导体存储器与存储器控制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存储器分类与存储单元译码方式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问题：各种存储器用在计算机存储器分层结构中的那一层、功能如何？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8086系统的存储器组织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宋体" panose="02010600030101010101" pitchFamily="2" charset="-122"/>
              </a:rPr>
              <a:t>存储器的容量如何确定、译码电路分析与设计（片选信号的产生74</a:t>
            </a:r>
            <a:r>
              <a:rPr lang="en-US" altLang="zh-CN" sz="2000" dirty="0">
                <a:solidFill>
                  <a:srgbClr val="FF3300"/>
                </a:solidFill>
                <a:latin typeface="宋体" panose="02010600030101010101" pitchFamily="2" charset="-122"/>
              </a:rPr>
              <a:t>LS138）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宋体" panose="02010600030101010101" pitchFamily="2" charset="-122"/>
              </a:rPr>
              <a:t>如何确定存储器系统中存储芯片的地址空间。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</a:rPr>
              <a:t>计算机存储器的分层结构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计算机存储器的分层结构由那些类型的存储单元构成，各有什么特点？（速度、容量）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问题：在计算机存储器的分层结构中哪种存储单元的容量最大，哪种存储单元的访问速度最快？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2">
            <a:extLst>
              <a:ext uri="{FF2B5EF4-FFF2-40B4-BE49-F238E27FC236}">
                <a16:creationId xmlns:a16="http://schemas.microsoft.com/office/drawing/2014/main" id="{4988B18D-607F-4237-92CC-478D18D0F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2400"/>
            <a:ext cx="8229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第六章    </a:t>
            </a:r>
            <a:r>
              <a:rPr lang="en-US" altLang="zh-CN" sz="2800">
                <a:latin typeface="Times New Roman" panose="02020603050405020304" pitchFamily="18" charset="0"/>
              </a:rPr>
              <a:t>I/O</a:t>
            </a:r>
            <a:r>
              <a:rPr lang="zh-CN" altLang="en-US" sz="2800">
                <a:latin typeface="Times New Roman" panose="02020603050405020304" pitchFamily="18" charset="0"/>
              </a:rPr>
              <a:t>接口与</a:t>
            </a:r>
            <a:r>
              <a:rPr lang="en-US" altLang="zh-CN" sz="2800">
                <a:latin typeface="Times New Roman" panose="02020603050405020304" pitchFamily="18" charset="0"/>
              </a:rPr>
              <a:t>8255</a:t>
            </a:r>
          </a:p>
        </p:txBody>
      </p:sp>
      <p:sp>
        <p:nvSpPr>
          <p:cNvPr id="18434" name="Text Box 3">
            <a:extLst>
              <a:ext uri="{FF2B5EF4-FFF2-40B4-BE49-F238E27FC236}">
                <a16:creationId xmlns:a16="http://schemas.microsoft.com/office/drawing/2014/main" id="{A2EC1469-C067-4733-B9B0-93279043D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14400"/>
            <a:ext cx="8534400" cy="495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Tahoma" panose="020B0604030504040204" pitchFamily="34" charset="0"/>
              </a:rPr>
              <a:t>基本概念</a:t>
            </a:r>
          </a:p>
          <a:p>
            <a:pPr>
              <a:spcBef>
                <a:spcPct val="2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I/O</a:t>
            </a:r>
            <a:r>
              <a:rPr lang="zh-CN" altLang="en-US" sz="2400">
                <a:latin typeface="Tahoma" panose="020B0604030504040204" pitchFamily="34" charset="0"/>
              </a:rPr>
              <a:t>接口与</a:t>
            </a:r>
            <a:r>
              <a:rPr lang="en-US" altLang="zh-CN" sz="2400">
                <a:latin typeface="Tahoma" panose="020B0604030504040204" pitchFamily="34" charset="0"/>
              </a:rPr>
              <a:t>I/O</a:t>
            </a:r>
            <a:r>
              <a:rPr lang="zh-CN" altLang="en-US" sz="2400">
                <a:latin typeface="Tahoma" panose="020B0604030504040204" pitchFamily="34" charset="0"/>
              </a:rPr>
              <a:t>端口的定义、组成与功能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400">
                <a:latin typeface="Tahoma" panose="020B0604030504040204" pitchFamily="34" charset="0"/>
              </a:rPr>
              <a:t>I/O</a:t>
            </a:r>
            <a:r>
              <a:rPr lang="zh-CN" altLang="en-US" sz="2400">
                <a:latin typeface="Tahoma" panose="020B0604030504040204" pitchFamily="34" charset="0"/>
              </a:rPr>
              <a:t>端口的寻址方式与译码电路设计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>
                <a:latin typeface="Tahoma" panose="020B0604030504040204" pitchFamily="34" charset="0"/>
              </a:rPr>
              <a:t>CPU</a:t>
            </a:r>
            <a:r>
              <a:rPr lang="zh-CN" altLang="en-US" sz="2400">
                <a:latin typeface="Tahoma" panose="020B0604030504040204" pitchFamily="34" charset="0"/>
              </a:rPr>
              <a:t>与</a:t>
            </a:r>
            <a:r>
              <a:rPr lang="en-US" altLang="zh-CN" sz="2400">
                <a:latin typeface="Tahoma" panose="020B0604030504040204" pitchFamily="34" charset="0"/>
              </a:rPr>
              <a:t>I/O</a:t>
            </a:r>
            <a:r>
              <a:rPr lang="zh-CN" altLang="en-US" sz="2400">
                <a:latin typeface="Tahoma" panose="020B0604030504040204" pitchFamily="34" charset="0"/>
              </a:rPr>
              <a:t>数据传送方式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ahoma" panose="020B0604030504040204" pitchFamily="34" charset="0"/>
              </a:rPr>
              <a:t>     </a:t>
            </a:r>
            <a:r>
              <a:rPr lang="en-US" altLang="zh-CN" sz="2400">
                <a:latin typeface="Tahoma" panose="020B0604030504040204" pitchFamily="34" charset="0"/>
              </a:rPr>
              <a:t>CPU</a:t>
            </a:r>
            <a:r>
              <a:rPr lang="zh-CN" altLang="en-US" sz="2400">
                <a:latin typeface="Tahoma" panose="020B0604030504040204" pitchFamily="34" charset="0"/>
              </a:rPr>
              <a:t>与</a:t>
            </a:r>
            <a:r>
              <a:rPr lang="en-US" altLang="zh-CN" sz="2400">
                <a:latin typeface="Tahoma" panose="020B0604030504040204" pitchFamily="34" charset="0"/>
              </a:rPr>
              <a:t>I/O</a:t>
            </a:r>
            <a:r>
              <a:rPr lang="zh-CN" altLang="en-US" sz="2400">
                <a:latin typeface="Tahoma" panose="020B0604030504040204" pitchFamily="34" charset="0"/>
              </a:rPr>
              <a:t>间的接口信号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ahoma" panose="020B0604030504040204" pitchFamily="34" charset="0"/>
              </a:rPr>
              <a:t>     </a:t>
            </a:r>
            <a:r>
              <a:rPr lang="en-US" altLang="zh-CN" sz="2400">
                <a:latin typeface="Tahoma" panose="020B0604030504040204" pitchFamily="34" charset="0"/>
              </a:rPr>
              <a:t>I/O</a:t>
            </a:r>
            <a:r>
              <a:rPr lang="zh-CN" altLang="en-US" sz="2400">
                <a:latin typeface="Tahoma" panose="020B0604030504040204" pitchFamily="34" charset="0"/>
              </a:rPr>
              <a:t>控制方式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ahoma" panose="020B0604030504040204" pitchFamily="34" charset="0"/>
              </a:rPr>
              <a:t>	 程序控制传送方式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ahoma" panose="020B0604030504040204" pitchFamily="34" charset="0"/>
              </a:rPr>
              <a:t>      		无条件传送方式（同步方式）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ahoma" panose="020B0604030504040204" pitchFamily="34" charset="0"/>
              </a:rPr>
              <a:t>      		异步查询方式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ahoma" panose="020B0604030504040204" pitchFamily="34" charset="0"/>
              </a:rPr>
              <a:t>       	中断方式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ahoma" panose="020B0604030504040204" pitchFamily="34" charset="0"/>
              </a:rPr>
              <a:t>	 直接存储器存取方式（</a:t>
            </a:r>
            <a:r>
              <a:rPr lang="en-US" altLang="zh-CN" sz="2400">
                <a:latin typeface="Tahoma" panose="020B0604030504040204" pitchFamily="34" charset="0"/>
              </a:rPr>
              <a:t>DMA）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1844BA-7833-4384-BE8B-571CEAA99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26" y="1515110"/>
            <a:ext cx="8540750" cy="38862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noProof="1">
                <a:latin typeface="Times New Roman" panose="02020603050405020304" pitchFamily="18" charset="0"/>
                <a:sym typeface="+mn-ea"/>
              </a:rPr>
              <a:t>可编程并行接口</a:t>
            </a:r>
            <a:r>
              <a:rPr lang="en-US" altLang="zh-CN" noProof="1">
                <a:latin typeface="Times New Roman" panose="02020603050405020304" pitchFamily="18" charset="0"/>
                <a:sym typeface="+mn-ea"/>
              </a:rPr>
              <a:t>8255</a:t>
            </a:r>
            <a:endParaRPr lang="zh-CN" altLang="en-US" noProof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可编程并行</a:t>
            </a:r>
            <a:r>
              <a:rPr lang="en-US" altLang="zh-CN" sz="2800" noProof="1">
                <a:latin typeface="Times New Roman" panose="02020603050405020304" pitchFamily="18" charset="0"/>
                <a:sym typeface="+mn-ea"/>
              </a:rPr>
              <a:t>I/O</a:t>
            </a: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接口8255</a:t>
            </a:r>
            <a:r>
              <a:rPr lang="en-US" altLang="zh-CN" sz="2800" noProof="1">
                <a:latin typeface="Times New Roman" panose="02020603050405020304" pitchFamily="18" charset="0"/>
                <a:sym typeface="+mn-ea"/>
              </a:rPr>
              <a:t>A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内部结构与引脚功能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端口寻址与读写控制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端口功能：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+mn-ea"/>
              </a:rPr>
              <a:t>只考方式</a:t>
            </a:r>
            <a:r>
              <a:rPr lang="en-US" altLang="zh-CN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+mn-ea"/>
              </a:rPr>
              <a:t>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8255</a:t>
            </a:r>
            <a:r>
              <a:rPr lang="en-US" altLang="zh-CN" sz="2800" noProof="1"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的控制字和初始化编程	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应用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	</a:t>
            </a:r>
            <a:r>
              <a:rPr lang="en-US" altLang="zh-CN" sz="2800" noProof="1">
                <a:latin typeface="Times New Roman" panose="02020603050405020304" pitchFamily="18" charset="0"/>
                <a:sym typeface="+mn-ea"/>
              </a:rPr>
              <a:t>LED</a:t>
            </a: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接口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	键盘显示接口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endParaRPr lang="zh-CN" altLang="en-US" sz="28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BDD2E673-C52B-4C1A-8627-9F1AA0E82887}"/>
              </a:ext>
            </a:extLst>
          </p:cNvPr>
          <p:cNvSpPr txBox="1"/>
          <p:nvPr/>
        </p:nvSpPr>
        <p:spPr>
          <a:xfrm>
            <a:off x="317500" y="1262380"/>
            <a:ext cx="8610600" cy="470898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第七章 可编程定时器计数器</a:t>
            </a:r>
            <a:r>
              <a:rPr lang="en-US" altLang="zh-CN" sz="2800" noProof="1">
                <a:latin typeface="Times New Roman" panose="02020603050405020304" pitchFamily="18" charset="0"/>
                <a:cs typeface="+mn-ea"/>
              </a:rPr>
              <a:t>8253</a:t>
            </a:r>
            <a:endParaRPr lang="en-US" altLang="zh-CN" sz="2800" noProof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定时，计数的基本概念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可编程定时器/计数器 8253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noProof="1">
                <a:latin typeface="Times New Roman" panose="02020603050405020304" pitchFamily="18" charset="0"/>
                <a:cs typeface="+mn-ea"/>
              </a:rPr>
              <a:t>            </a:t>
            </a: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82</a:t>
            </a:r>
            <a:r>
              <a:rPr lang="en-US" altLang="zh-CN" sz="2800" noProof="1">
                <a:latin typeface="Times New Roman" panose="02020603050405020304" pitchFamily="18" charset="0"/>
                <a:cs typeface="+mn-ea"/>
              </a:rPr>
              <a:t>53</a:t>
            </a: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的基本功能和内部结构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          </a:t>
            </a:r>
            <a:r>
              <a:rPr lang="en-US" altLang="zh-CN" sz="2800" noProof="1">
                <a:latin typeface="Times New Roman" panose="02020603050405020304" pitchFamily="18" charset="0"/>
                <a:cs typeface="+mn-ea"/>
              </a:rPr>
              <a:t>8253</a:t>
            </a: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的端口分配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          82</a:t>
            </a:r>
            <a:r>
              <a:rPr lang="en-US" altLang="zh-CN" sz="2800" noProof="1">
                <a:latin typeface="Times New Roman" panose="02020603050405020304" pitchFamily="18" charset="0"/>
                <a:cs typeface="+mn-ea"/>
              </a:rPr>
              <a:t>53</a:t>
            </a: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的工作方式：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+mn-ea"/>
              </a:rPr>
              <a:t>只考方式</a:t>
            </a:r>
            <a:r>
              <a:rPr lang="en-US" altLang="zh-CN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+mn-ea"/>
              </a:rPr>
              <a:t>0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+mn-ea"/>
              </a:rPr>
              <a:t>和方式</a:t>
            </a:r>
            <a:r>
              <a:rPr lang="en-US" altLang="zh-CN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+mn-ea"/>
              </a:rPr>
              <a:t>3</a:t>
            </a:r>
            <a:endParaRPr lang="en-US" altLang="zh-CN" sz="28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          82</a:t>
            </a:r>
            <a:r>
              <a:rPr lang="en-US" altLang="zh-CN" sz="2800" noProof="1">
                <a:latin typeface="Times New Roman" panose="02020603050405020304" pitchFamily="18" charset="0"/>
                <a:cs typeface="+mn-ea"/>
              </a:rPr>
              <a:t>53</a:t>
            </a: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在微机系统中的应用：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		硬件连接、计数常数计算、初始化编程         </a:t>
            </a:r>
            <a:endParaRPr lang="zh-CN" altLang="en-US" sz="2800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117F9056-FCEE-4AB7-937D-6FBC361DC5CE}"/>
              </a:ext>
            </a:extLst>
          </p:cNvPr>
          <p:cNvSpPr txBox="1"/>
          <p:nvPr/>
        </p:nvSpPr>
        <p:spPr>
          <a:xfrm>
            <a:off x="457200" y="152400"/>
            <a:ext cx="8382000" cy="60648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第八章 中断和</a:t>
            </a:r>
            <a:r>
              <a:rPr lang="en-US" altLang="zh-CN" sz="2400" noProof="1">
                <a:latin typeface="Tahoma" panose="020B0604030504040204" pitchFamily="34" charset="0"/>
                <a:cs typeface="+mn-ea"/>
              </a:rPr>
              <a:t>8259A</a:t>
            </a:r>
            <a:endParaRPr lang="en-US" altLang="zh-CN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ahoma" panose="020B0604030504040204" pitchFamily="34" charset="0"/>
                <a:cs typeface="+mn-ea"/>
              </a:rPr>
              <a:t>8259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ahoma" panose="020B0604030504040204" pitchFamily="34" charset="0"/>
                <a:cs typeface="+mn-ea"/>
              </a:rPr>
              <a:t>芯片不考</a:t>
            </a:r>
            <a:endParaRPr lang="zh-CN" altLang="en-US" sz="24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中断概念</a:t>
            </a:r>
            <a:endParaRPr lang="zh-CN" altLang="en-US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  中断的定义与分类</a:t>
            </a:r>
            <a:endParaRPr lang="zh-CN" altLang="en-US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400" noProof="1">
                <a:solidFill>
                  <a:srgbClr val="FF3300"/>
                </a:solidFill>
                <a:latin typeface="Tahoma" panose="020B0604030504040204" pitchFamily="34" charset="0"/>
                <a:cs typeface="+mn-ea"/>
              </a:rPr>
              <a:t>  问：完整的中断过程包括那些部分，各实现什么功能？</a:t>
            </a:r>
            <a:endParaRPr lang="zh-CN" altLang="en-US" sz="2400" noProof="1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000" b="1" noProof="1">
                <a:cs typeface="+mn-ea"/>
              </a:rPr>
              <a:t>               中断请求</a:t>
            </a:r>
            <a:r>
              <a:rPr lang="en-US" altLang="zh-CN" sz="2000" b="1" noProof="1">
                <a:cs typeface="+mn-ea"/>
              </a:rPr>
              <a:t>---</a:t>
            </a:r>
            <a:r>
              <a:rPr lang="zh-CN" altLang="en-US" sz="2000" b="1" noProof="1">
                <a:cs typeface="+mn-ea"/>
              </a:rPr>
              <a:t>中断排队</a:t>
            </a:r>
            <a:r>
              <a:rPr lang="en-US" altLang="zh-CN" sz="2000" b="1" noProof="1">
                <a:cs typeface="+mn-ea"/>
              </a:rPr>
              <a:t>---</a:t>
            </a:r>
            <a:r>
              <a:rPr lang="zh-CN" altLang="en-US" sz="2000" b="1" noProof="1">
                <a:cs typeface="+mn-ea"/>
              </a:rPr>
              <a:t>中断响应</a:t>
            </a:r>
            <a:r>
              <a:rPr lang="en-US" altLang="zh-CN" sz="2000" b="1" noProof="1">
                <a:cs typeface="+mn-ea"/>
              </a:rPr>
              <a:t>---</a:t>
            </a:r>
            <a:r>
              <a:rPr lang="zh-CN" altLang="en-US" sz="2000" b="1" noProof="1">
                <a:cs typeface="+mn-ea"/>
              </a:rPr>
              <a:t>中断处理</a:t>
            </a:r>
            <a:r>
              <a:rPr lang="en-US" altLang="zh-CN" sz="2000" b="1" noProof="1">
                <a:cs typeface="+mn-ea"/>
              </a:rPr>
              <a:t>---</a:t>
            </a:r>
            <a:r>
              <a:rPr lang="zh-CN" altLang="en-US" sz="2000" b="1" noProof="1">
                <a:cs typeface="+mn-ea"/>
              </a:rPr>
              <a:t>中断返回</a:t>
            </a:r>
            <a:endParaRPr lang="zh-CN" altLang="en-US" sz="2000" noProof="1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  中断源的确定及接口（查询和外部中断矢量的确定）</a:t>
            </a:r>
            <a:endParaRPr lang="zh-CN" altLang="en-US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noProof="1">
                <a:solidFill>
                  <a:srgbClr val="FF3300"/>
                </a:solidFill>
                <a:latin typeface="Tahoma" panose="020B0604030504040204" pitchFamily="34" charset="0"/>
                <a:cs typeface="+mn-ea"/>
              </a:rPr>
              <a:t>  </a:t>
            </a: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中断优先级(</a:t>
            </a:r>
            <a:r>
              <a:rPr lang="en-US" altLang="zh-CN" sz="2400" noProof="1">
                <a:latin typeface="Tahoma" panose="020B0604030504040204" pitchFamily="34" charset="0"/>
                <a:cs typeface="+mn-ea"/>
              </a:rPr>
              <a:t>Priority)</a:t>
            </a: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的判别：</a:t>
            </a:r>
            <a:endParaRPr lang="en-US" altLang="zh-CN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        软件查询和硬件中断优先权电路</a:t>
            </a:r>
            <a:endParaRPr lang="zh-CN" altLang="en-US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中断向量与中断向量表</a:t>
            </a:r>
            <a:endParaRPr lang="zh-CN" altLang="en-US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    中断向量与中断向量表的组成与存储</a:t>
            </a:r>
            <a:endParaRPr lang="en-US" altLang="zh-CN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noProof="1">
                <a:solidFill>
                  <a:srgbClr val="FF3300"/>
                </a:solidFill>
                <a:latin typeface="Tahoma" panose="020B0604030504040204" pitchFamily="34" charset="0"/>
                <a:cs typeface="+mn-ea"/>
              </a:rPr>
              <a:t>问：如何通过中断类型号获得中断服务程序的入口地址</a:t>
            </a:r>
            <a:endParaRPr lang="zh-CN" altLang="en-US" sz="2400" noProof="1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noProof="1">
                <a:solidFill>
                  <a:srgbClr val="FF3300"/>
                </a:solidFill>
                <a:latin typeface="Tahoma" panose="020B0604030504040204" pitchFamily="34" charset="0"/>
                <a:cs typeface="+mn-ea"/>
              </a:rPr>
              <a:t>问：如何用汇编程序设置中断向量？</a:t>
            </a:r>
            <a:endParaRPr lang="zh-CN" altLang="en-US" sz="2400" noProof="1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3">
            <a:extLst>
              <a:ext uri="{FF2B5EF4-FFF2-40B4-BE49-F238E27FC236}">
                <a16:creationId xmlns:a16="http://schemas.microsoft.com/office/drawing/2014/main" id="{CAAE722A-B03B-448C-B566-89C66F111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8467725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latin typeface="Tahoma" panose="020B0604030504040204" pitchFamily="34" charset="0"/>
              </a:rPr>
              <a:t>8086 的中断系统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zh-CN" altLang="en-US" sz="2400">
                <a:latin typeface="Tahoma" panose="020B0604030504040204" pitchFamily="34" charset="0"/>
              </a:rPr>
              <a:t>中断源：软件中断（指令中断与内部异常）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zh-CN" altLang="en-US" sz="2400">
                <a:latin typeface="Tahoma" panose="020B0604030504040204" pitchFamily="34" charset="0"/>
              </a:rPr>
              <a:t>	   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zh-CN" altLang="en-US" sz="2400">
                <a:latin typeface="Tahoma" panose="020B0604030504040204" pitchFamily="34" charset="0"/>
              </a:rPr>
              <a:t>外部中断的响应流程与时序。</a:t>
            </a:r>
            <a:endParaRPr lang="en-US" altLang="zh-CN" sz="2400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zh-CN" altLang="en-US" sz="2400">
                <a:latin typeface="Tahoma" panose="020B0604030504040204" pitchFamily="34" charset="0"/>
              </a:rPr>
              <a:t>中断号  中断向量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</a:pPr>
            <a:endParaRPr lang="zh-CN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4">
            <a:extLst>
              <a:ext uri="{FF2B5EF4-FFF2-40B4-BE49-F238E27FC236}">
                <a16:creationId xmlns:a16="http://schemas.microsoft.com/office/drawing/2014/main" id="{359FD1C8-0E20-48ED-B00F-63C340926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76250"/>
            <a:ext cx="8208963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某中断服务程序的入口地址为</a:t>
            </a:r>
            <a:r>
              <a:rPr lang="en-US" altLang="zh-CN" sz="2800"/>
              <a:t>23456H</a:t>
            </a:r>
            <a:r>
              <a:rPr lang="zh-CN" altLang="en-US" sz="2800"/>
              <a:t>，中断服务程序第一条指令的偏移量为</a:t>
            </a:r>
            <a:r>
              <a:rPr lang="en-US" altLang="zh-CN" sz="2800"/>
              <a:t>456H</a:t>
            </a:r>
            <a:r>
              <a:rPr lang="zh-CN" altLang="en-US" sz="2800"/>
              <a:t>，放置在中断向量表中的位置为</a:t>
            </a:r>
            <a:r>
              <a:rPr lang="en-US" altLang="zh-CN" sz="2800"/>
              <a:t>20H</a:t>
            </a:r>
            <a:r>
              <a:rPr lang="zh-CN" altLang="en-US" sz="2800"/>
              <a:t>，问此中断向量号是多少？入口地址在中断向量表中如何放置？</a:t>
            </a:r>
          </a:p>
          <a:p>
            <a:pPr>
              <a:spcBef>
                <a:spcPct val="50000"/>
              </a:spcBef>
            </a:pPr>
            <a:r>
              <a:rPr lang="zh-CN" altLang="en-US" sz="2800"/>
              <a:t>分析：</a:t>
            </a:r>
          </a:p>
          <a:p>
            <a:pPr>
              <a:spcBef>
                <a:spcPct val="50000"/>
              </a:spcBef>
            </a:pPr>
            <a:r>
              <a:rPr lang="zh-CN" altLang="en-US" sz="2800"/>
              <a:t> 中断向量号 </a:t>
            </a:r>
            <a:r>
              <a:rPr lang="en-US" altLang="zh-CN" sz="2800"/>
              <a:t>= </a:t>
            </a:r>
            <a:r>
              <a:rPr lang="zh-CN" altLang="en-US" sz="2800"/>
              <a:t>中断向量地址</a:t>
            </a:r>
            <a:r>
              <a:rPr lang="en-US" altLang="zh-CN" sz="2800"/>
              <a:t>/4 =08H</a:t>
            </a:r>
          </a:p>
          <a:p>
            <a:pPr>
              <a:spcBef>
                <a:spcPct val="50000"/>
              </a:spcBef>
            </a:pPr>
            <a:r>
              <a:rPr lang="zh-CN" altLang="en-US" sz="2800"/>
              <a:t>中断向量 </a:t>
            </a:r>
            <a:r>
              <a:rPr lang="en-US" altLang="zh-CN" sz="2800"/>
              <a:t>IP  = 456H  CS =2300H    </a:t>
            </a:r>
            <a:r>
              <a:rPr lang="en-US" altLang="zh-CN" sz="2800">
                <a:solidFill>
                  <a:srgbClr val="FF0000"/>
                </a:solidFill>
              </a:rPr>
              <a:t>2300:456H</a:t>
            </a:r>
          </a:p>
          <a:p>
            <a:pPr>
              <a:spcBef>
                <a:spcPct val="50000"/>
              </a:spcBef>
            </a:pPr>
            <a:r>
              <a:rPr lang="en-US" altLang="zh-CN" sz="2800"/>
              <a:t>20H</a:t>
            </a:r>
            <a:r>
              <a:rPr lang="zh-CN" altLang="en-US" sz="2800"/>
              <a:t>开始的四个单元的内容为：</a:t>
            </a:r>
            <a:r>
              <a:rPr lang="en-US" altLang="zh-CN" sz="2800"/>
              <a:t>56H,04H,00H,23H(</a:t>
            </a:r>
            <a:r>
              <a:rPr lang="zh-CN" altLang="en-US" sz="2800">
                <a:solidFill>
                  <a:srgbClr val="FF0000"/>
                </a:solidFill>
              </a:rPr>
              <a:t>记：低地址存</a:t>
            </a:r>
            <a:r>
              <a:rPr lang="en-US" altLang="zh-CN" sz="2800">
                <a:solidFill>
                  <a:srgbClr val="FF0000"/>
                </a:solidFill>
              </a:rPr>
              <a:t>IP</a:t>
            </a:r>
            <a:r>
              <a:rPr lang="zh-CN" altLang="en-US" sz="2800">
                <a:solidFill>
                  <a:srgbClr val="FF0000"/>
                </a:solidFill>
              </a:rPr>
              <a:t>，高地址存</a:t>
            </a:r>
            <a:r>
              <a:rPr lang="en-US" altLang="zh-CN" sz="2800">
                <a:solidFill>
                  <a:srgbClr val="FF0000"/>
                </a:solidFill>
              </a:rPr>
              <a:t>CS</a:t>
            </a:r>
            <a:r>
              <a:rPr lang="en-US" altLang="zh-CN" sz="2800"/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2D1C22E4-89C4-467E-A30E-412AFAB37B4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533400"/>
            <a:ext cx="7772400" cy="1143000"/>
          </a:xfrm>
        </p:spPr>
        <p:txBody>
          <a:bodyPr/>
          <a:lstStyle/>
          <a:p>
            <a:pPr algn="l" eaLnBrk="1" hangingPunct="1"/>
            <a:r>
              <a:rPr lang="zh-CN" altLang="en-US"/>
              <a:t>考试题型</a:t>
            </a:r>
          </a:p>
        </p:txBody>
      </p:sp>
      <p:sp>
        <p:nvSpPr>
          <p:cNvPr id="24578" name="Text Box 3">
            <a:extLst>
              <a:ext uri="{FF2B5EF4-FFF2-40B4-BE49-F238E27FC236}">
                <a16:creationId xmlns:a16="http://schemas.microsoft.com/office/drawing/2014/main" id="{B172D036-4524-4B52-8D03-33F64B54E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76400"/>
            <a:ext cx="8686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1、填空题（</a:t>
            </a:r>
            <a:r>
              <a:rPr lang="en-US" altLang="zh-CN" sz="2400">
                <a:latin typeface="Times New Roman" panose="02020603050405020304" pitchFamily="18" charset="0"/>
              </a:rPr>
              <a:t>30</a:t>
            </a:r>
            <a:r>
              <a:rPr lang="zh-CN" altLang="en-US" sz="2400">
                <a:latin typeface="Times New Roman" panose="02020603050405020304" pitchFamily="18" charset="0"/>
              </a:rPr>
              <a:t>分）</a:t>
            </a:r>
          </a:p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</a:rPr>
              <a:t>、分析题（</a:t>
            </a:r>
            <a:r>
              <a:rPr lang="en-US" altLang="zh-CN" sz="2400">
                <a:latin typeface="Times New Roman" panose="02020603050405020304" pitchFamily="18" charset="0"/>
              </a:rPr>
              <a:t>30</a:t>
            </a:r>
            <a:r>
              <a:rPr lang="zh-CN" altLang="en-US" sz="2400">
                <a:latin typeface="Times New Roman" panose="02020603050405020304" pitchFamily="18" charset="0"/>
              </a:rPr>
              <a:t>分）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3、综合应用题（</a:t>
            </a:r>
            <a:r>
              <a:rPr lang="en-US" altLang="zh-CN" sz="2400">
                <a:latin typeface="Times New Roman" panose="02020603050405020304" pitchFamily="18" charset="0"/>
              </a:rPr>
              <a:t>40</a:t>
            </a:r>
            <a:r>
              <a:rPr lang="zh-CN" altLang="en-US" sz="2400">
                <a:latin typeface="Times New Roman" panose="02020603050405020304" pitchFamily="18" charset="0"/>
              </a:rPr>
              <a:t>分）</a:t>
            </a:r>
            <a:r>
              <a:rPr lang="en-US" altLang="zh-CN" sz="2400">
                <a:latin typeface="Times New Roman" panose="02020603050405020304" pitchFamily="18" charset="0"/>
              </a:rPr>
              <a:t>---</a:t>
            </a:r>
            <a:r>
              <a:rPr lang="zh-CN" altLang="en-US" sz="2400">
                <a:latin typeface="Times New Roman" panose="02020603050405020304" pitchFamily="18" charset="0"/>
              </a:rPr>
              <a:t>存储器扩展；</a:t>
            </a:r>
            <a:r>
              <a:rPr lang="en-US" altLang="zh-CN" sz="2400">
                <a:latin typeface="Times New Roman" panose="02020603050405020304" pitchFamily="18" charset="0"/>
              </a:rPr>
              <a:t>I/O</a:t>
            </a:r>
            <a:r>
              <a:rPr lang="zh-CN" altLang="en-US" sz="2400">
                <a:latin typeface="Times New Roman" panose="02020603050405020304" pitchFamily="18" charset="0"/>
              </a:rPr>
              <a:t>接口；中断；</a:t>
            </a:r>
            <a:r>
              <a:rPr lang="en-US" altLang="zh-CN" sz="2400">
                <a:latin typeface="Times New Roman" panose="02020603050405020304" pitchFamily="18" charset="0"/>
              </a:rPr>
              <a:t>8253</a:t>
            </a:r>
            <a:r>
              <a:rPr lang="zh-CN" altLang="en-US" sz="2400">
                <a:latin typeface="Times New Roman" panose="02020603050405020304" pitchFamily="18" charset="0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</a:rPr>
              <a:t>8255</a:t>
            </a:r>
            <a:r>
              <a:rPr lang="zh-CN" altLang="en-US" sz="2400">
                <a:latin typeface="Times New Roman" panose="02020603050405020304" pitchFamily="18" charset="0"/>
              </a:rPr>
              <a:t>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2bits">
  <a:themeElements>
    <a:clrScheme name="32bits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32bit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2bits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Settings\un_land\Application Data\Microsoft\Templates\32bits.pot</Template>
  <TotalTime>10</TotalTime>
  <Pages>0</Pages>
  <Words>1271</Words>
  <Characters>0</Characters>
  <Application>Microsoft Office PowerPoint</Application>
  <DocSecurity>0</DocSecurity>
  <PresentationFormat>全屏显示(4:3)</PresentationFormat>
  <Lines>0</Lines>
  <Paragraphs>262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楷体_GB2312</vt:lpstr>
      <vt:lpstr>新宋体</vt:lpstr>
      <vt:lpstr>Garamond</vt:lpstr>
      <vt:lpstr>Modern</vt:lpstr>
      <vt:lpstr>Modern No. 20</vt:lpstr>
      <vt:lpstr>Verdana</vt:lpstr>
      <vt:lpstr>Tahoma</vt:lpstr>
      <vt:lpstr>微软雅黑</vt:lpstr>
      <vt:lpstr>Courier New</vt:lpstr>
      <vt:lpstr>Arial Unicode MS</vt:lpstr>
      <vt:lpstr>32bits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执行指令MOV  AL,[BX]的时序图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考试题型</vt:lpstr>
    </vt:vector>
  </TitlesOfParts>
  <Manager/>
  <Company>UN_LAND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 习 </dc:title>
  <dc:subject/>
  <dc:creator>un_land</dc:creator>
  <cp:keywords/>
  <dc:description/>
  <cp:lastModifiedBy>Hong Zhang</cp:lastModifiedBy>
  <cp:revision>113</cp:revision>
  <dcterms:created xsi:type="dcterms:W3CDTF">2006-12-26T12:05:07Z</dcterms:created>
  <dcterms:modified xsi:type="dcterms:W3CDTF">2021-11-24T05:26:57Z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2052-11.1.0.9208</vt:lpwstr>
  </property>
</Properties>
</file>
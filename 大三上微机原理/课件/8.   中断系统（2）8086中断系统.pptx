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2"/>
  </p:notesMasterIdLst>
  <p:handoutMasterIdLst>
    <p:handoutMasterId r:id="rId63"/>
  </p:handoutMasterIdLst>
  <p:sldIdLst>
    <p:sldId id="574" r:id="rId3"/>
    <p:sldId id="648" r:id="rId4"/>
    <p:sldId id="649" r:id="rId5"/>
    <p:sldId id="650" r:id="rId6"/>
    <p:sldId id="651" r:id="rId7"/>
    <p:sldId id="652" r:id="rId8"/>
    <p:sldId id="653" r:id="rId9"/>
    <p:sldId id="654" r:id="rId10"/>
    <p:sldId id="655" r:id="rId11"/>
    <p:sldId id="656" r:id="rId12"/>
    <p:sldId id="822" r:id="rId13"/>
    <p:sldId id="658" r:id="rId14"/>
    <p:sldId id="824" r:id="rId15"/>
    <p:sldId id="659" r:id="rId16"/>
    <p:sldId id="660" r:id="rId17"/>
    <p:sldId id="825" r:id="rId18"/>
    <p:sldId id="661" r:id="rId19"/>
    <p:sldId id="826" r:id="rId20"/>
    <p:sldId id="662" r:id="rId21"/>
    <p:sldId id="663" r:id="rId22"/>
    <p:sldId id="664" r:id="rId23"/>
    <p:sldId id="665" r:id="rId24"/>
    <p:sldId id="666" r:id="rId25"/>
    <p:sldId id="667" r:id="rId26"/>
    <p:sldId id="668" r:id="rId27"/>
    <p:sldId id="669" r:id="rId28"/>
    <p:sldId id="670" r:id="rId29"/>
    <p:sldId id="671" r:id="rId30"/>
    <p:sldId id="918" r:id="rId31"/>
    <p:sldId id="920" r:id="rId32"/>
    <p:sldId id="923" r:id="rId33"/>
    <p:sldId id="1002" r:id="rId34"/>
    <p:sldId id="919" r:id="rId35"/>
    <p:sldId id="730" r:id="rId36"/>
    <p:sldId id="731" r:id="rId37"/>
    <p:sldId id="733" r:id="rId38"/>
    <p:sldId id="734" r:id="rId39"/>
    <p:sldId id="735" r:id="rId40"/>
    <p:sldId id="736" r:id="rId41"/>
    <p:sldId id="737" r:id="rId42"/>
    <p:sldId id="738" r:id="rId43"/>
    <p:sldId id="1022" r:id="rId44"/>
    <p:sldId id="1024" r:id="rId45"/>
    <p:sldId id="740" r:id="rId46"/>
    <p:sldId id="739" r:id="rId47"/>
    <p:sldId id="741" r:id="rId48"/>
    <p:sldId id="742" r:id="rId49"/>
    <p:sldId id="743" r:id="rId50"/>
    <p:sldId id="744" r:id="rId51"/>
    <p:sldId id="745" r:id="rId52"/>
    <p:sldId id="746" r:id="rId53"/>
    <p:sldId id="1025" r:id="rId54"/>
    <p:sldId id="1026" r:id="rId55"/>
    <p:sldId id="1027" r:id="rId56"/>
    <p:sldId id="1028" r:id="rId57"/>
    <p:sldId id="1029" r:id="rId58"/>
    <p:sldId id="1030" r:id="rId59"/>
    <p:sldId id="1031" r:id="rId60"/>
    <p:sldId id="747" r:id="rId61"/>
  </p:sldIdLst>
  <p:sldSz cx="9144000" cy="6858000" type="screen4x3"/>
  <p:notesSz cx="6858000" cy="9144000"/>
  <p:defaultTextStyle>
    <a:defPPr>
      <a:defRPr lang="zh-CN"/>
    </a:defPPr>
    <a:lvl1pPr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00FF"/>
    <a:srgbClr val="33CCFF"/>
    <a:srgbClr val="0000CC"/>
    <a:srgbClr val="FFFF00"/>
    <a:srgbClr val="0766D4"/>
    <a:srgbClr val="235CCD"/>
    <a:srgbClr val="00FF00"/>
    <a:srgbClr val="B4B9BE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9" autoAdjust="0"/>
    <p:restoredTop sz="94687" autoAdjust="0"/>
  </p:normalViewPr>
  <p:slideViewPr>
    <p:cSldViewPr>
      <p:cViewPr varScale="1">
        <p:scale>
          <a:sx n="63" d="100"/>
          <a:sy n="63" d="100"/>
        </p:scale>
        <p:origin x="1180" y="52"/>
      </p:cViewPr>
      <p:guideLst>
        <p:guide orient="horz" pos="217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50"/>
    </p:cViewPr>
  </p:sorterViewPr>
  <p:notesViewPr>
    <p:cSldViewPr>
      <p:cViewPr varScale="1">
        <p:scale>
          <a:sx n="75" d="100"/>
          <a:sy n="75" d="100"/>
        </p:scale>
        <p:origin x="-1734" y="-90"/>
      </p:cViewPr>
      <p:guideLst>
        <p:guide orient="horz" pos="2902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5566480-087B-4B20-8CCE-C8E40CACD8B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BBD8278-9B0A-47F7-8E21-A5234346997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</p:spTree>
  </p:cSld>
  <p:clrMapOvr>
    <a:masterClrMapping/>
  </p:clrMapOvr>
  <p:transition spd="slow">
    <p:pull dir="ru"/>
  </p:transition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</p:spTree>
  </p:cSld>
  <p:clrMapOvr>
    <a:masterClrMapping/>
  </p:clrMapOvr>
  <p:transition spd="slow">
    <p:pull dir="ru"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996098"/>
            <a:ext cx="3048001" cy="18619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slow">
    <p:wipe dir="d"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393700" y="850900"/>
            <a:ext cx="8051800" cy="511175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4000" b="1" dirty="0">
                <a:effectLst/>
                <a:ea typeface="+mn-ea"/>
                <a:cs typeface="Times New Roman" panose="02020603050405020304" pitchFamily="18" charset="0"/>
              </a:rPr>
              <a:t>8</a:t>
            </a: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章 中断</a:t>
            </a:r>
            <a:endParaRPr lang="en-US" altLang="zh-CN" sz="4000" b="1" dirty="0">
              <a:effectLst/>
              <a:ea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zh-CN" sz="4000" b="1" dirty="0">
                <a:effectLst/>
                <a:ea typeface="+mn-ea"/>
                <a:cs typeface="Times New Roman" panose="02020603050405020304" pitchFamily="18" charset="0"/>
              </a:rPr>
              <a:t>PART2</a:t>
            </a:r>
          </a:p>
          <a:p>
            <a:pPr algn="ctr"/>
            <a:endParaRPr lang="en-US" altLang="zh-CN" sz="4000" b="1" dirty="0">
              <a:effectLst/>
              <a:ea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zh-CN" sz="4000" b="1" dirty="0">
                <a:effectLst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中断</a:t>
            </a: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  <a:sym typeface="+mn-ea"/>
              </a:rPr>
              <a:t>系统</a:t>
            </a:r>
            <a:endParaRPr lang="en-US" altLang="zh-CN" sz="4000" b="1" dirty="0">
              <a:effectLst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55766" y="155478"/>
            <a:ext cx="3441280" cy="695422"/>
            <a:chOff x="5707269" y="0"/>
            <a:chExt cx="3441280" cy="69542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544" y="0"/>
              <a:ext cx="3439005" cy="69542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7269" y="56229"/>
              <a:ext cx="839807" cy="63919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887220" algn="l"/>
              </a:tabLst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1. 8086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系统中断源和中断分类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155" y="1670685"/>
            <a:ext cx="7201960" cy="3889905"/>
          </a:xfrm>
        </p:spPr>
        <p:txBody>
          <a:bodyPr>
            <a:normAutofit fontScale="90000" lnSpcReduction="20000"/>
          </a:bodyPr>
          <a:lstStyle/>
          <a:p>
            <a:pPr algn="just"/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中断源（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Interrupt source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引起中断的原因或能</a:t>
            </a:r>
            <a:r>
              <a:rPr lang="zh-CN" altLang="en-US" sz="28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发出中断请求的来源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称为中断源。</a:t>
            </a:r>
          </a:p>
          <a:p>
            <a:pPr algn="just"/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有两类中断源：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外部中断或硬件中断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，从不可屏蔽中断引脚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NMI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和可屏蔽中断引脚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引入；</a:t>
            </a:r>
          </a:p>
          <a:p>
            <a:pPr algn="just"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内部中断或软件中断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，是为解决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运行过程中出现的一些意外事件或便于程序调试而设置的。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341530" y="1268760"/>
            <a:ext cx="6667500" cy="4924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600" b="1" i="0" u="none" strike="noStrike" cap="none" normalizeH="0" baseline="0" dirty="0">
                <a:ln>
                  <a:noFill/>
                </a:ln>
                <a:effectLst/>
                <a:ea typeface="+mn-ea"/>
                <a:cs typeface="Times New Roman" panose="02020603050405020304" pitchFamily="18" charset="0"/>
              </a:rPr>
              <a:t>IBM PC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effectLst/>
                <a:ea typeface="+mn-ea"/>
                <a:cs typeface="Times New Roman" panose="02020603050405020304" pitchFamily="18" charset="0"/>
              </a:rPr>
              <a:t>机中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effectLst/>
                <a:ea typeface="+mn-ea"/>
                <a:cs typeface="Times New Roman" panose="02020603050405020304" pitchFamily="18" charset="0"/>
              </a:rPr>
              <a:t>8086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effectLst/>
                <a:ea typeface="+mn-ea"/>
                <a:cs typeface="Times New Roman" panose="02020603050405020304" pitchFamily="18" charset="0"/>
              </a:rPr>
              <a:t>的中断分类和中断源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82600" y="368300"/>
            <a:ext cx="8229600" cy="674688"/>
          </a:xfrm>
        </p:spPr>
        <p:txBody>
          <a:bodyPr/>
          <a:lstStyle/>
          <a:p>
            <a:pPr>
              <a:tabLst>
                <a:tab pos="1887220" algn="l"/>
              </a:tabLst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pic>
        <p:nvPicPr>
          <p:cNvPr id="6758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0500" y="1962150"/>
            <a:ext cx="6317331" cy="377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72075" y="2459355"/>
            <a:ext cx="7950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外部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68145" y="2092325"/>
            <a:ext cx="7950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/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内部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1162050"/>
            <a:ext cx="8045450" cy="5168900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）外部中断</a:t>
            </a:r>
          </a:p>
          <a:p>
            <a:pPr algn="just">
              <a:lnSpc>
                <a:spcPct val="110000"/>
              </a:lnSpc>
            </a:pP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不可屏蔽中断：</a:t>
            </a:r>
            <a:r>
              <a:rPr lang="zh-CN" altLang="en-US" sz="2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连接到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NMI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不受中断标志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的影响。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处理较紧急的情况，如存储器或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校验错、掉电、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协处理器异常中断请求等，。</a:t>
            </a:r>
          </a:p>
          <a:p>
            <a:pPr algn="just">
              <a:lnSpc>
                <a:spcPct val="110000"/>
              </a:lnSpc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可屏蔽中断：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连到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IF=1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时，才允许响应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可由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8259A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来管理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外部多种屏蔽中断。</a:t>
            </a:r>
          </a:p>
          <a:p>
            <a:pPr algn="just">
              <a:lnSpc>
                <a:spcPct val="110000"/>
              </a:lnSpc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的输入引脚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~IR</a:t>
            </a:r>
            <a:r>
              <a:rPr lang="en-US" sz="2600" b="1" baseline="-25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可引入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级中断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：时钟、键盘、串行通信口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、硬盘、软盘、打印机。经芯片内部判别后，将优先级高的中断请求信号送到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，它连接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引起中断请求。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31540" y="233645"/>
            <a:ext cx="8229600" cy="900100"/>
          </a:xfrm>
        </p:spPr>
        <p:txBody>
          <a:bodyPr/>
          <a:lstStyle/>
          <a:p>
            <a:pPr>
              <a:tabLst>
                <a:tab pos="1887220" algn="l"/>
              </a:tabLst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814102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1" y="1162050"/>
            <a:ext cx="8497888" cy="4742225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）内部中断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）除法错中断</a:t>
            </a:r>
          </a:p>
          <a:p>
            <a:pPr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执行除法运算指令时，如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除数为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或商超过了结果寄存器能容纳的范围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，则产生除法错中断。</a:t>
            </a:r>
          </a:p>
          <a:p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）单步中断</a:t>
            </a:r>
          </a:p>
          <a:p>
            <a:pPr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单步标志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，指令执行完后，产生单步中断。结果是将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的内部寄存器和有关存储器的内容显示出来，便于跟踪程序的执行过程，实现动态排错。</a:t>
            </a:r>
          </a:p>
          <a:p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whee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9107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1295400"/>
            <a:ext cx="8053387" cy="484505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l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修改</a:t>
            </a:r>
            <a:r>
              <a:rPr lang="en-US" altLang="zh-CN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标志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的方法：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没有直接的指令，可使用堆栈</a:t>
            </a:r>
          </a:p>
          <a:p>
            <a:pPr lvl="1" algn="just">
              <a:buFont typeface="Wingdings" panose="05000000000000000000" pitchFamily="2" charset="2"/>
              <a:buChar char="l"/>
            </a:pPr>
            <a:endParaRPr lang="en-US" sz="227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l"/>
            </a:pP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没有直接使</a:t>
            </a:r>
            <a:r>
              <a:rPr lang="en-US" sz="2275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275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标志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或清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的指令，如何使</a:t>
            </a:r>
            <a:r>
              <a:rPr lang="en-US" altLang="zh-CN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标志置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或清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？使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标志置</a:t>
            </a:r>
            <a:r>
              <a:rPr 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的程序段：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PUSHF	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；标志寄存器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入栈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	AX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AX←FLAGS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内容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OR     	AX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0100H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（即标志寄存器）的</a:t>
            </a:r>
            <a:endParaRPr lang="en-US" altLang="zh-C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，其余位不变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PUSH   	AX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入栈</a:t>
            </a:r>
          </a:p>
          <a:p>
            <a:pPr lvl="1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POPF			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寄存器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←AX</a:t>
            </a:r>
            <a:endParaRPr lang="zh-CN" alt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9150" lvl="1" indent="-361950">
              <a:buFont typeface="Wingdings" panose="05000000000000000000" pitchFamily="2" charset="2"/>
              <a:buChar char="l"/>
            </a:pP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用类似方法将标志寄存器与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FEFFH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相与，可使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标志清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，从而禁止单步中断。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9107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1. 8086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300" y="1339850"/>
            <a:ext cx="7734300" cy="5243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）溢出中断：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溢出标志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，则可由溢出中断指令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中断类型号为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的溢出中断。若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OF=0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，不会产生中断。</a:t>
            </a:r>
          </a:p>
          <a:p>
            <a:pPr algn="just"/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带符号数加、减指令后应安排一条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，一旦溢出就能及时向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提出中断请求，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响应中断后可进行相应的处理。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主程序：                                  溢出中断服务</a:t>
            </a:r>
            <a:endParaRPr lang="en-US" altLang="zh-CN" sz="2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 AX, BX                    INTOSERV: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INTO              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OF=1                </a:t>
            </a: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……..                                        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IRET</a:t>
            </a:r>
            <a:endParaRPr lang="zh-CN" altLang="en-US" sz="2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F647491-DA41-41A3-91B6-5B15861A208F}"/>
              </a:ext>
            </a:extLst>
          </p:cNvPr>
          <p:cNvCxnSpPr/>
          <p:nvPr/>
        </p:nvCxnSpPr>
        <p:spPr>
          <a:xfrm flipV="1">
            <a:off x="3311860" y="4779150"/>
            <a:ext cx="2475275" cy="54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7B6A151-0B96-4453-B007-5BDEC0D88359}"/>
              </a:ext>
            </a:extLst>
          </p:cNvPr>
          <p:cNvCxnSpPr/>
          <p:nvPr/>
        </p:nvCxnSpPr>
        <p:spPr>
          <a:xfrm flipH="1" flipV="1">
            <a:off x="3536885" y="5409220"/>
            <a:ext cx="2430270" cy="810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1. 8086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中断源和中断分类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1295400"/>
            <a:ext cx="8190910" cy="5175250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）软件中断指令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 n</a:t>
            </a:r>
            <a:endParaRPr lang="en-US" alt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n=0~255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。它可以安排在程序的任何位置上。</a:t>
            </a: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如第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章讲到的</a:t>
            </a:r>
            <a:r>
              <a:rPr lang="en-US" altLang="zh-CN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系统服务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和</a:t>
            </a:r>
            <a:r>
              <a:rPr lang="en-US" altLang="zh-CN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BIOS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服务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都是以这种方式调用的。</a:t>
            </a: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）断点中断：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 3</a:t>
            </a: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程序运行到断点时便产生中断，像单步中断一样，查看各寄存器和有关存储单元的内容。</a:t>
            </a: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断点可设在程序任何地方并可以设多个断点，设置的方法是插入一条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指令。利用断点中断可以调试一段程序，比单步中断的调试速度快得多。</a:t>
            </a: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545" y="278650"/>
            <a:ext cx="8229600" cy="99011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  <a:r>
              <a:rPr lang="en-US" altLang="zh-CN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--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重要！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45" y="1268760"/>
            <a:ext cx="8053387" cy="5201335"/>
          </a:xfrm>
        </p:spPr>
        <p:txBody>
          <a:bodyPr>
            <a:normAutofit fontScale="97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）中断响应和返回 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 P</a:t>
            </a:r>
            <a:r>
              <a:rPr lang="en-US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 PART1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已经讲过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en-US" sz="28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响应中断时，首先要把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寄存器的值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断点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）以及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标志寄存器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的值推入堆栈保护。</a:t>
            </a:r>
          </a:p>
          <a:p>
            <a:pPr marL="361950" indent="-361950"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然后找到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入口地址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，转去执行相应的中断服务程序。</a:t>
            </a:r>
          </a:p>
          <a:p>
            <a:pPr marL="361950" indent="-361950"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中断服务程序结束时，执行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中断返回指令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IRET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返回正常程序继续执行。</a:t>
            </a:r>
          </a:p>
          <a:p>
            <a:pPr marL="361950" indent="-361950"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问题：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如何寻找中断服务程序的入口地址？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162050"/>
            <a:ext cx="7956550" cy="52197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）中断向量表</a:t>
            </a:r>
          </a:p>
          <a:p>
            <a:pPr>
              <a:buNone/>
            </a:pP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什么是向量？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一条有方向的线段。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中断向量怎么理解？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指向中断服务程序的线段</a:t>
            </a:r>
          </a:p>
          <a:p>
            <a:pPr marL="361950" indent="-361950" algn="just"/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中断向量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= 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入口地址</a:t>
            </a:r>
          </a:p>
          <a:p>
            <a:pPr marL="0" indent="0" algn="just">
              <a:buNone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= </a:t>
            </a:r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中断服务程序的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第一条指令的首地址</a:t>
            </a:r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中断向量表是什么？保存这些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中断服务程序入口地址（中断向量）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的表格</a:t>
            </a:r>
          </a:p>
          <a:p>
            <a:pPr marL="361950" indent="-361950" algn="just"/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所以：</a:t>
            </a:r>
            <a:r>
              <a:rPr lang="zh-CN" altLang="en-US" sz="2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中断向量表用来存放</a:t>
            </a:r>
            <a:r>
              <a:rPr lang="zh-CN" altLang="en-US" sz="2400" b="1" dirty="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中断服务程序的入口地址</a:t>
            </a: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162050"/>
            <a:ext cx="7956550" cy="52197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）中断向量表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入口地址的几个思考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与CALL子程序相比，中断调用是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段内调用 </a:t>
            </a:r>
          </a:p>
          <a:p>
            <a:pPr marL="0" indent="0" algn="just">
              <a:buNone/>
            </a:pP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</a:t>
            </a:r>
            <a:r>
              <a:rPr lang="en-US" altLang="zh-CN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 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段间调用？</a:t>
            </a:r>
            <a:r>
              <a:rPr lang="en-US" altLang="zh-CN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当然是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段间调用</a:t>
            </a:r>
          </a:p>
          <a:p>
            <a:pPr marL="0" indent="0" algn="just">
              <a:buNone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所以，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入口地址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应该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包括：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段地址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有效地址</a:t>
            </a:r>
          </a:p>
          <a:p>
            <a:pPr marL="0" algn="just">
              <a:buNone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因而，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中断向量包括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4个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字节</a:t>
            </a:r>
          </a:p>
          <a:p>
            <a:pPr marL="0" algn="just">
              <a:buNone/>
            </a:pP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偏移地址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放在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低地址，段地址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放在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高地址</a:t>
            </a:r>
            <a:endParaRPr lang="zh-CN" altLang="en-US" sz="2400" b="1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如何管理中断向量表？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用中断类型号（中断号）</a:t>
            </a:r>
          </a:p>
          <a:p>
            <a:pPr marL="361950" indent="-361950" algn="just"/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584" y="0"/>
            <a:ext cx="8229600" cy="1143000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必须掌握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】</a:t>
            </a:r>
            <a:endParaRPr lang="zh-CN" altLang="en-US" sz="3200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5409" y="1143270"/>
            <a:ext cx="3366969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/>
          <p:cNvSpPr txBox="1"/>
          <p:nvPr/>
        </p:nvSpPr>
        <p:spPr>
          <a:xfrm>
            <a:off x="233045" y="1143000"/>
            <a:ext cx="4952365" cy="50013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cs typeface="Times New Roman" panose="02020603050405020304" pitchFamily="18" charset="0"/>
                <a:sym typeface="+mn-ea"/>
              </a:rPr>
              <a:t>8086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可处理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256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（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0~FFH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种中断</a:t>
            </a:r>
          </a:p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每类中断的中断向量为 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个字节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，要占用 </a:t>
            </a:r>
            <a:r>
              <a:rPr lang="en-US" altLang="zh-CN" sz="2200" b="1" dirty="0">
                <a:solidFill>
                  <a:srgbClr val="0000FF"/>
                </a:solidFill>
                <a:cs typeface="Times New Roman" panose="02020603050405020304" pitchFamily="18" charset="0"/>
                <a:sym typeface="+mn-ea"/>
              </a:rPr>
              <a:t>4×256 = </a:t>
            </a:r>
            <a:r>
              <a:rPr lang="en-US" sz="2200" b="1" dirty="0">
                <a:solidFill>
                  <a:srgbClr val="0000FF"/>
                </a:solidFill>
                <a:cs typeface="Times New Roman" panose="02020603050405020304" pitchFamily="18" charset="0"/>
                <a:sym typeface="+mn-ea"/>
              </a:rPr>
              <a:t>1K 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字节</a:t>
            </a:r>
          </a:p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位于内存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00000~003FFH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的区域中</a:t>
            </a:r>
            <a:endParaRPr lang="en-US" altLang="zh-CN" sz="2200" b="1" dirty="0">
              <a:cs typeface="Times New Roman" panose="02020603050405020304" pitchFamily="18" charset="0"/>
              <a:sym typeface="+mn-ea"/>
            </a:endParaRPr>
          </a:p>
          <a:p>
            <a:pPr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200" b="1" dirty="0">
                <a:solidFill>
                  <a:srgbClr val="00B0F0"/>
                </a:solidFill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en-US" sz="2200" b="1" dirty="0">
                <a:solidFill>
                  <a:srgbClr val="0000FF"/>
                </a:solidFill>
                <a:cs typeface="Times New Roman" panose="02020603050405020304" pitchFamily="18" charset="0"/>
                <a:sym typeface="+mn-ea"/>
              </a:rPr>
              <a:t>程序和数据不能占用此区域！</a:t>
            </a:r>
            <a:r>
              <a:rPr lang="zh-CN" altLang="en-US" sz="2200" b="1" dirty="0">
                <a:solidFill>
                  <a:srgbClr val="00B0F0"/>
                </a:solidFill>
                <a:cs typeface="Times New Roman" panose="02020603050405020304" pitchFamily="18" charset="0"/>
                <a:sym typeface="+mn-ea"/>
              </a:rPr>
              <a:t>）</a:t>
            </a:r>
          </a:p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在上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（低地址）</a:t>
            </a: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,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CS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在下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（高地址）</a:t>
            </a:r>
          </a:p>
          <a:p>
            <a:pPr marL="361950" indent="-361950" algn="just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将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中断类型号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乘以</a:t>
            </a:r>
            <a:r>
              <a:rPr lang="en-US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就得到该类型的中断向量的地址，就能找到该中断向量。</a:t>
            </a:r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584" y="0"/>
            <a:ext cx="8229600" cy="1143000"/>
          </a:xfrm>
        </p:spPr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5409" y="1143270"/>
            <a:ext cx="3366969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/>
          <p:cNvSpPr txBox="1"/>
          <p:nvPr/>
        </p:nvSpPr>
        <p:spPr>
          <a:xfrm>
            <a:off x="233045" y="1143000"/>
            <a:ext cx="4952365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例：中断号 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n = 2 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中断：</a:t>
            </a:r>
            <a:endParaRPr lang="zh-CN" altLang="en-US" sz="2200" b="1" dirty="0">
              <a:cs typeface="Times New Roman" panose="02020603050405020304" pitchFamily="18" charset="0"/>
              <a:sym typeface="+mn-ea"/>
            </a:endParaRP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		</a:t>
            </a:r>
            <a:r>
              <a:rPr lang="en-US" altLang="zh-CN" sz="2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× </a:t>
            </a:r>
            <a:r>
              <a:rPr lang="en-US" altLang="zh-CN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 = 8 = 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00008H</a:t>
            </a:r>
            <a:endParaRPr lang="en-US" altLang="zh-CN" sz="2200" b="1" dirty="0">
              <a:cs typeface="Times New Roman" panose="02020603050405020304" pitchFamily="18" charset="0"/>
              <a:sym typeface="+mn-ea"/>
            </a:endParaRP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其中断服务程序入口地址应该存放在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00008H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开始的</a:t>
            </a:r>
            <a:r>
              <a:rPr lang="en-US" altLang="zh-CN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个字节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内。</a:t>
            </a:r>
          </a:p>
          <a:p>
            <a:pPr marL="361950" indent="-361950" algn="just" eaLnBrk="1" latinLnBrk="0" hangingPunct="1">
              <a:lnSpc>
                <a:spcPct val="150000"/>
              </a:lnSpc>
            </a:pPr>
            <a:endParaRPr lang="zh-CN" altLang="en-US" sz="2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Times New Roman" panose="02020603050405020304" pitchFamily="18" charset="0"/>
              <a:sym typeface="+mn-ea"/>
            </a:endParaRP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该中断向量放在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00008~0000BH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单元：   </a:t>
            </a: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altLang="zh-CN" sz="2200" b="1" dirty="0">
                <a:cs typeface="Times New Roman" panose="02020603050405020304" pitchFamily="18" charset="0"/>
                <a:sym typeface="+mn-ea"/>
              </a:rPr>
              <a:t>	        </a:t>
            </a:r>
            <a:r>
              <a:rPr 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IP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存在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00008H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开始的字单元</a:t>
            </a: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      </a:t>
            </a: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zh-CN" altLang="en-US" sz="2200" b="1" dirty="0">
                <a:cs typeface="Times New Roman" panose="02020603050405020304" pitchFamily="18" charset="0"/>
                <a:sym typeface="+mn-ea"/>
              </a:rPr>
              <a:t>             </a:t>
            </a:r>
            <a:r>
              <a:rPr 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CS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存在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0000AH</a:t>
            </a:r>
            <a:r>
              <a:rPr lang="zh-CN" altLang="en-US" sz="2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开始的字单元</a:t>
            </a:r>
            <a:endParaRPr lang="zh-CN" altLang="en-US" sz="2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1970" y="98630"/>
            <a:ext cx="8229600" cy="90010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117600"/>
            <a:ext cx="8045450" cy="2000250"/>
          </a:xfrm>
        </p:spPr>
        <p:txBody>
          <a:bodyPr>
            <a:normAutofit fontScale="90000"/>
          </a:bodyPr>
          <a:lstStyle/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再举个例子：</a:t>
            </a:r>
          </a:p>
          <a:p>
            <a:pPr marL="0" indent="0" algn="just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8.1</a:t>
            </a: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类型号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n=44H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的中断服务程序的入口地址为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3600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2000H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，它们在中断向量表中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如何存放？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441960" y="3384550"/>
            <a:ext cx="5556250" cy="2369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266700" marR="0" lvl="0" indent="-266700" algn="just" defTabSz="914400" rtl="0" eaLnBrk="0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  44H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4 =  </a:t>
            </a:r>
            <a:r>
              <a:rPr kumimoji="0" lang="en-US" sz="2600" b="1" i="0" u="none" strike="noStrike" kern="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110H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 (44H</a:t>
            </a:r>
            <a:r>
              <a:rPr kumimoji="0" lang="zh-CN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左移</a:t>
            </a:r>
            <a:r>
              <a:rPr kumimoji="0" lang="en-US" altLang="zh-CN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位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66700" marR="0" lvl="0" indent="-266700" algn="just" defTabSz="914400" rtl="0" eaLnBrk="0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      从</a:t>
            </a:r>
            <a:r>
              <a:rPr kumimoji="0" lang="en-US" sz="2600" b="1" i="0" u="none" strike="noStrike" kern="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110H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开始存放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3600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：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2000H</a:t>
            </a:r>
          </a:p>
          <a:p>
            <a:pPr marL="266700" marR="0" lvl="0" indent="-266700" algn="just" defTabSz="914400" rtl="0" eaLnBrk="0" latinLnBrk="0" hangingPunct="0">
              <a:lnSpc>
                <a:spcPct val="150000"/>
              </a:lnSpc>
              <a:spcBef>
                <a:spcPct val="30000"/>
              </a:spcBef>
              <a:buClr>
                <a:schemeClr val="tx1"/>
              </a:buClr>
              <a:buSzTx/>
              <a:buChar char="Ø"/>
              <a:defRPr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存放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顺序如右图示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——&gt;</a:t>
            </a:r>
          </a:p>
          <a:p>
            <a:pPr marL="266700" marR="0" lvl="0" indent="-266700" algn="just" defTabSz="914400" rtl="0" eaLnBrk="0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defRPr/>
            </a:pP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66FF"/>
              </a:buClr>
              <a:buSzTx/>
              <a:defRPr/>
            </a:pPr>
            <a:r>
              <a:rPr kumimoji="0" lang="en-US" altLang="zh-CN" sz="2600" b="1" kern="0" dirty="0">
                <a:solidFill>
                  <a:schemeClr val="tx1">
                    <a:lumMod val="95000"/>
                  </a:schemeClr>
                </a:solidFill>
                <a:effectLst/>
                <a:ea typeface="+mn-ea"/>
                <a:cs typeface="Times New Roman" panose="02020603050405020304" pitchFamily="18" charset="0"/>
              </a:rPr>
              <a:t>                                          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73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3681" y="3384550"/>
            <a:ext cx="2970319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r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645"/>
            <a:ext cx="8229600" cy="99011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06" y="1082626"/>
            <a:ext cx="8542338" cy="1847850"/>
          </a:xfrm>
        </p:spPr>
        <p:txBody>
          <a:bodyPr>
            <a:normAutofit fontScale="97500" lnSpcReduction="10000"/>
          </a:bodyPr>
          <a:lstStyle/>
          <a:p>
            <a:pPr marL="0" indent="0" algn="just">
              <a:buNone/>
            </a:pP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反求中断号的题：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8.2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00CC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若在中断向量表中保存某中断向量：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0040H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 240BH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0042H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 D169H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，试问该中断的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？该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中断服务程序的起始地址是什么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304800" y="3429000"/>
            <a:ext cx="5111750" cy="3067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中断服务程序的入口地址从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0040H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单元开始存放，其类型号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n=40H/4=10H</a:t>
            </a:r>
            <a:r>
              <a:rPr kumimoji="0" lang="zh-CN" alt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（右移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位）</a:t>
            </a:r>
          </a:p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由图可知，中断类型号为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10H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的中断服务程序的入口地址</a:t>
            </a: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D169</a:t>
            </a:r>
            <a:r>
              <a:rPr kumimoji="0" lang="zh-CN" alt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：</a:t>
            </a:r>
            <a:r>
              <a:rPr kumimoji="0" lang="en-US" sz="2600" b="1" i="0" u="none" strike="noStrike" kern="0" cap="none" spc="0" normalizeH="0" baseline="0" noProof="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240BH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49900" y="3340100"/>
            <a:ext cx="3196844" cy="275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645"/>
            <a:ext cx="8229600" cy="99011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中断向量表</a:t>
            </a:r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279400" y="1223645"/>
            <a:ext cx="4906010" cy="3067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b="1" i="0" u="none" strike="noStrike" kern="0" cap="none" spc="0" normalizeH="0" baseline="0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ea typeface="+mn-ea"/>
                <a:cs typeface="Times New Roman" panose="02020603050405020304" pitchFamily="18" charset="0"/>
              </a:rPr>
              <a:t>TIP: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	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kern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  <a:sym typeface="+mn-ea"/>
              </a:rPr>
              <a:t>中断向量表对于计算机系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统非常重要，如果中断向量表被破坏，则计算机系统无法正常工作。</a:t>
            </a: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如何正确写入和保护中断向量表？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——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留待后面讲述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思考：</a:t>
            </a: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kern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比较子程序的入口地址保存位置和中断向量表</a:t>
            </a:r>
          </a:p>
          <a:p>
            <a:pPr marL="360045" marR="0" lvl="0" indent="45720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kern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比较调用子程序过程和调用中断服务程序过程</a:t>
            </a:r>
          </a:p>
          <a:p>
            <a:pPr marL="360045" marR="0" lvl="0" indent="0" algn="just" defTabSz="914400" rtl="0" eaLnBrk="0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5409" y="1143270"/>
            <a:ext cx="3366969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｛引子｝</a:t>
            </a: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优先级的问题：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计算机系统有多种中断；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中断又可能是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随机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产生的；</a:t>
            </a:r>
          </a:p>
          <a:p>
            <a:pPr>
              <a:buNone/>
            </a:pP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如果同时有多个中断源提起请求怎么办？</a:t>
            </a:r>
          </a:p>
          <a:p>
            <a:pPr>
              <a:buNone/>
            </a:pP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这就是说有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中断优先级判别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的问题。</a:t>
            </a:r>
          </a:p>
          <a:p>
            <a:pPr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嵌套的问题：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当我正在响应一个中断（执行中断服务程序中）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有另外一个更高优先级的中断提起请求怎么办？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那就执行完高优先级的中断后，再完成当前中断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——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这就叫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中断嵌套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和嵌套调用子程序一个道理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）中断优先级</a:t>
            </a:r>
          </a:p>
          <a:p>
            <a:pPr marL="361950" indent="-361950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按中断源的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重要性和实时性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，排出响应中断的次序，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这种次序称为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中断优先级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中，中断优先级从高到低的次序为：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4065" fontAlgn="auto">
              <a:spcBef>
                <a:spcPts val="0"/>
              </a:spcBef>
              <a:buFont typeface="Times New Roman" panose="02020603050405020304" pitchFamily="18" charset="0"/>
              <a:buChar char="―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除法错、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；最高级，同一行的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74065" fontAlgn="auto"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；有同等优先级</a:t>
            </a:r>
          </a:p>
          <a:p>
            <a:pPr marL="774065" fontAlgn="auto">
              <a:spcBef>
                <a:spcPts val="0"/>
              </a:spcBef>
              <a:buFont typeface="Times New Roman" panose="02020603050405020304" pitchFamily="18" charset="0"/>
              <a:buChar char="―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NMI			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；次高级</a:t>
            </a:r>
          </a:p>
          <a:p>
            <a:pPr marL="774065" fontAlgn="auto">
              <a:spcBef>
                <a:spcPts val="0"/>
              </a:spcBef>
              <a:buFont typeface="Times New Roman" panose="02020603050405020304" pitchFamily="18" charset="0"/>
              <a:buChar char="―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				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；较低级（由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引入）</a:t>
            </a:r>
          </a:p>
          <a:p>
            <a:pPr marL="774065" fontAlgn="auto">
              <a:spcBef>
                <a:spcPts val="0"/>
              </a:spcBef>
              <a:buFont typeface="Times New Roman" panose="02020603050405020304" pitchFamily="18" charset="0"/>
              <a:buChar char="―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单步中断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；最低级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低级中断可以被高级中断打断，进行中断嵌套。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300" y="1428750"/>
            <a:ext cx="7786687" cy="3378200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）中断嵌套</a:t>
            </a:r>
          </a:p>
          <a:p>
            <a:pPr marL="361950" indent="-361950"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响应中断时，一般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先响应优先级高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的，后响应优先级低的中断请求。</a:t>
            </a: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正在执行中断服务程序时，有优先级较高的中断源提出请求，则将正在处理的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中断暂时挂起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，先为高级中断服务，服务完后再返回较低级中断，称为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中断嵌套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wheel spokes="2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4850" y="1339850"/>
            <a:ext cx="7697787" cy="36449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如何实现中断嵌套？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机器进入中断服务程序后，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硬件会自动关中断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IF=0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只有用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IF=1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将中断打开后，才允许高级中断进入，实现中断嵌套。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中断服程序结束前，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必须用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EOI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命令结束该级中断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(EOI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8259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的命令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IRET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指令返回到中断前的断点处去继续执行原程序。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3635"/>
            <a:ext cx="8229600" cy="99011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5029200"/>
            <a:ext cx="8186738" cy="1282700"/>
          </a:xfrm>
        </p:spPr>
        <p:txBody>
          <a:bodyPr/>
          <a:lstStyle/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中断嵌套的示意图如图所示：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）开始有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同时请求中断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，但是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优先级更高；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）在响应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的过程中，有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更高级的中断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请求。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 descr="t-8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206500"/>
            <a:ext cx="5737302" cy="37338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545" y="143635"/>
            <a:ext cx="8229600" cy="904112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中断优先级和中断嵌套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0" y="1073150"/>
            <a:ext cx="8089900" cy="5511800"/>
          </a:xfrm>
        </p:spPr>
        <p:txBody>
          <a:bodyPr>
            <a:normAutofit fontScale="82500" lnSpcReduction="20000"/>
          </a:bodyPr>
          <a:lstStyle/>
          <a:p>
            <a:pPr marL="361950" indent="-361950"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图中的中断嵌套情况的执行过程：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 algn="just" fontAlgn="auto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 algn="just" fontAlgn="auto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主程序运行中，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同时提出中断请求。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优先级高，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先为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服务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。在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的服务程序中，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要用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指令开中断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，允许更高级中断进入。</a:t>
            </a:r>
          </a:p>
          <a:p>
            <a:pPr algn="just" fontAlgn="auto">
              <a:lnSpc>
                <a:spcPct val="150000"/>
              </a:lnSpc>
              <a:buNone/>
            </a:pP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t-8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05" y="1381125"/>
            <a:ext cx="5400675" cy="35147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51955" y="2366645"/>
            <a:ext cx="2261870" cy="146304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8259A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的优先级从</a:t>
            </a:r>
          </a:p>
          <a:p>
            <a:pPr marL="361950" indent="-361950" algn="just" eaLnBrk="1" latinLnBrk="0" hangingPunct="1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高到低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排列的次序为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IR</a:t>
            </a:r>
            <a:r>
              <a:rPr lang="en-US" sz="20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~IR</a:t>
            </a:r>
            <a:r>
              <a:rPr lang="en-US" sz="20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20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。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4495800"/>
            <a:ext cx="8372475" cy="1993900"/>
          </a:xfrm>
        </p:spPr>
        <p:txBody>
          <a:bodyPr>
            <a:noAutofit/>
          </a:bodyPr>
          <a:lstStyle/>
          <a:p>
            <a:pPr marL="266700" indent="-2667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IR2服务时,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IR1提出请求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IR2被挂起,为IR1服务。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IR1结束前用EOI指令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清除IR1的服务寄存器,结束IR1中断, 并用IRET指令返回IR2服务程序, 继续运行。</a:t>
            </a:r>
          </a:p>
          <a:p>
            <a:pPr marL="266700" indent="-2667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运行至EOI命令时结束IR2的服务，可以开始响应IR4中断。</a:t>
            </a:r>
          </a:p>
        </p:txBody>
      </p:sp>
      <p:pic>
        <p:nvPicPr>
          <p:cNvPr id="4" name="图片 3" descr="t-8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50" y="539750"/>
            <a:ext cx="5942206" cy="386715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4406900"/>
            <a:ext cx="8372475" cy="2082800"/>
          </a:xfrm>
        </p:spPr>
        <p:txBody>
          <a:bodyPr/>
          <a:lstStyle/>
          <a:p>
            <a:pPr marL="266700" indent="-266700" algn="just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结束后，由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IRET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指令返回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服务程序，最后从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返回主程序。</a:t>
            </a:r>
            <a:endParaRPr lang="en-US" altLang="zh-CN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 algn="just"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Char char="u"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在中断服务程序中，如</a:t>
            </a:r>
            <a:r>
              <a:rPr lang="zh-CN" altLang="en-US" sz="2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不安排开中断指令</a:t>
            </a:r>
            <a:r>
              <a:rPr lang="en-US" sz="2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，则高级中断不能打断低级中断，也就</a:t>
            </a:r>
            <a:r>
              <a:rPr lang="zh-CN" altLang="en-US" sz="2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不能实现中断的嵌套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t-8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584200"/>
            <a:ext cx="5737302" cy="37338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540" y="1403775"/>
            <a:ext cx="8229600" cy="941388"/>
          </a:xfrm>
        </p:spPr>
        <p:txBody>
          <a:bodyPr/>
          <a:lstStyle/>
          <a:p>
            <a:r>
              <a:rPr lang="en-US" sz="5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§8.1  8086</a:t>
            </a:r>
            <a:r>
              <a:rPr lang="zh-CN" altLang="en-US" sz="5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的中断过程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276090" y="3092875"/>
            <a:ext cx="7031037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8.1.2   8086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系统中断的响应与处理过程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3625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8.1.2  8086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中断的响应与处理过程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46170" y="1169670"/>
            <a:ext cx="5331460" cy="5461000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可屏蔽中断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响应和处理流程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Bef>
                <a:spcPts val="600"/>
              </a:spcBef>
              <a:spcAft>
                <a:spcPts val="600"/>
              </a:spcAft>
            </a:pPr>
            <a:r>
              <a:rPr lang="zh-CN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查看中断请求：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都要查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有无中断请求，若无，继续取下一条指令执行；如有则响应中断</a:t>
            </a:r>
          </a:p>
          <a:p>
            <a:pPr algn="just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准备工作：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硬件自动完成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关闭中断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保护断点操作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，将下条要执行指令的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（即断点）推入堆栈；</a:t>
            </a:r>
          </a:p>
          <a:p>
            <a:pPr algn="just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执行中断服务：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然后寻找中断服务程序的入口地址，找到后就转入相应的中断服务程序。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中断返回：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恢复现场，开中断，返回断点。</a:t>
            </a:r>
          </a:p>
          <a:p>
            <a:pPr fontAlgn="auto">
              <a:spcBef>
                <a:spcPts val="600"/>
              </a:spcBef>
              <a:spcAft>
                <a:spcPts val="600"/>
              </a:spcAft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479634" y="-230832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b="1"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 descr="t-8.6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1117600"/>
            <a:ext cx="3467100" cy="5565027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split orient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520" y="405765"/>
            <a:ext cx="7872095" cy="12827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2. 8086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6525" y="1688465"/>
            <a:ext cx="6689090" cy="4508500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的中断响应与处理分为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三个部分：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中断查询：</a:t>
            </a:r>
            <a:r>
              <a:rPr lang="zh-CN" altLang="en-US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查看是否有中断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中断响应：</a:t>
            </a:r>
            <a:r>
              <a:rPr lang="zh-CN" altLang="en-US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形成中断类型号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中断处理和返回：</a:t>
            </a:r>
            <a:r>
              <a:rPr lang="zh-CN" altLang="en-US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保护断点，保护Flags，执行中断服务程序，恢复</a:t>
            </a:r>
            <a:r>
              <a:rPr lang="en-US" altLang="zh-CN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lang="zh-CN" altLang="en-US" sz="2800" b="1" dirty="0">
                <a:solidFill>
                  <a:srgbClr val="235C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，恢复断点</a:t>
            </a:r>
          </a:p>
          <a:p>
            <a:pPr marL="171450" indent="-171450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4102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36040"/>
            <a:ext cx="3055620" cy="517525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）中断查询</a:t>
            </a:r>
          </a:p>
          <a:p>
            <a:pPr marL="0" indent="0" algn="just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执行完每条指令后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顺序检查：</a:t>
            </a:r>
          </a:p>
          <a:p>
            <a:pPr algn="just"/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内部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</a:p>
          <a:p>
            <a:pPr algn="just"/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NMI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</a:p>
          <a:p>
            <a:pPr marL="361950" indent="-361950" algn="just"/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</a:p>
          <a:p>
            <a:pPr marL="361950" indent="-361950" algn="just"/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单步中断</a:t>
            </a: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如有中断，则进入中断响应过程。</a:t>
            </a: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中断查询的顺序也决定了他们的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优先级。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3960495" y="941070"/>
          <a:ext cx="5127625" cy="5471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r:id="rId3" imgW="3263265" imgH="4043045" progId="Visio.Drawing.11">
                  <p:embed/>
                </p:oleObj>
              </mc:Choice>
              <mc:Fallback>
                <p:oleObj r:id="rId3" imgW="3263265" imgH="4043045" progId="Visio.Drawing.11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0495" y="941070"/>
                        <a:ext cx="5127625" cy="5471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4102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3425" y="1089025"/>
            <a:ext cx="3268980" cy="5175250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）中断响应</a:t>
            </a:r>
          </a:p>
          <a:p>
            <a:pPr marL="361950" indent="-361950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根据中断源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中断类型码</a:t>
            </a:r>
            <a:r>
              <a:rPr lang="en-US" sz="2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，找到中断向量的指针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61950" indent="-361950" algn="just"/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4002405" y="1300480"/>
          <a:ext cx="5021580" cy="474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r:id="rId3" imgW="3451225" imgH="2832735" progId="Visio.Drawing.11">
                  <p:embed/>
                </p:oleObj>
              </mc:Choice>
              <mc:Fallback>
                <p:oleObj r:id="rId3" imgW="3451225" imgH="2832735" progId="Visio.Drawing.11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2405" y="1300480"/>
                        <a:ext cx="5021580" cy="4747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700" y="287655"/>
            <a:ext cx="4951730" cy="81407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</a:t>
            </a:r>
            <a:b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6700" y="1267460"/>
            <a:ext cx="3268980" cy="5175250"/>
          </a:xfrm>
        </p:spPr>
        <p:txBody>
          <a:bodyPr>
            <a:normAutofit fontScale="97500" lnSpcReduction="10000"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）中断处理过程</a:t>
            </a:r>
          </a:p>
          <a:p>
            <a:pPr marL="0" indent="0" algn="just">
              <a:buNone/>
            </a:pP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首先，硬件自动执行以下工作：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保护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FLAG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保证主程序正确性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暂存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TF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标志：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不允许在中断服务程序中单步运行程序，先暂存到</a:t>
            </a:r>
            <a:r>
              <a:rPr lang="en-US" altLang="zh-CN" sz="2400" b="1" dirty="0">
                <a:solidFill>
                  <a:srgbClr val="0766D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TEMP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中。</a:t>
            </a:r>
          </a:p>
          <a:p>
            <a:pPr marL="361950" indent="-361950" algn="just"/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TF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标志清零：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关中断，默认不嵌套；禁止单步执行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保护断点：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CS:IP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入栈</a:t>
            </a: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/>
          <p:nvPr/>
        </p:nvGraphicFramePr>
        <p:xfrm>
          <a:off x="3424555" y="-30480"/>
          <a:ext cx="5732145" cy="6732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r:id="rId3" imgW="4177665" imgH="4984115" progId="Visio.Drawing.11">
                  <p:embed/>
                </p:oleObj>
              </mc:Choice>
              <mc:Fallback>
                <p:oleObj r:id="rId3" imgW="4177665" imgH="4984115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4555" y="-30480"/>
                        <a:ext cx="5732145" cy="6732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6700" y="383540"/>
            <a:ext cx="3268980" cy="51752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）中断处理过程</a:t>
            </a:r>
          </a:p>
          <a:p>
            <a:pPr marL="0" indent="0" algn="just">
              <a:buNone/>
            </a:pPr>
            <a:r>
              <a:rPr lang="zh-CN" alt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接下来，</a:t>
            </a:r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进入中断服务</a:t>
            </a:r>
          </a:p>
          <a:p>
            <a:pPr marL="361950" indent="-361950" algn="just"/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把中断向量给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CS:IP</a:t>
            </a:r>
          </a:p>
          <a:p>
            <a:pPr marL="361950" indent="-361950" algn="just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如果又有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进入，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中断处理后，会清除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中锁存的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请求信号，使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加在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上的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NMI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只会被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识别一次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61950" indent="-361950" algn="just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判断</a:t>
            </a:r>
            <a:r>
              <a:rPr lang="en-US" altLang="zh-CN" sz="2000" b="1" dirty="0">
                <a:solidFill>
                  <a:srgbClr val="0766D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TEMP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保存的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TF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标志：如果本中断是单步中断，则继续调用单步中断。</a:t>
            </a:r>
          </a:p>
          <a:p>
            <a:pPr marL="361950" indent="-361950" algn="just"/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执行用户编写的中断服务程序</a:t>
            </a:r>
            <a:r>
              <a:rPr 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：具体的中断工作，比如采集数据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怎么编中断服务程序？（短小精干，保护现场）</a:t>
            </a:r>
          </a:p>
        </p:txBody>
      </p:sp>
      <p:graphicFrame>
        <p:nvGraphicFramePr>
          <p:cNvPr id="8" name="对象 7"/>
          <p:cNvGraphicFramePr/>
          <p:nvPr/>
        </p:nvGraphicFramePr>
        <p:xfrm>
          <a:off x="3424555" y="-30480"/>
          <a:ext cx="5732145" cy="6732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r:id="rId3" imgW="4177665" imgH="4984115" progId="Visio.Drawing.11">
                  <p:embed/>
                </p:oleObj>
              </mc:Choice>
              <mc:Fallback>
                <p:oleObj r:id="rId3" imgW="4177665" imgH="4984115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4555" y="-30480"/>
                        <a:ext cx="5732145" cy="6732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700" y="287655"/>
            <a:ext cx="4951730" cy="81407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8086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的中断</a:t>
            </a:r>
            <a:b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响应与处理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6700" y="1526540"/>
            <a:ext cx="3268980" cy="51752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）中断处理过程</a:t>
            </a:r>
          </a:p>
          <a:p>
            <a:pPr marL="0" indent="0" algn="just">
              <a:buNone/>
            </a:pPr>
            <a:r>
              <a:rPr lang="zh-CN" alt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最后，执行</a:t>
            </a:r>
            <a:r>
              <a:rPr lang="en-US" altLang="zh-C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IRET</a:t>
            </a:r>
          </a:p>
          <a:p>
            <a:pPr marL="361950" indent="-361950" algn="just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IRET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的功能：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堆栈保存的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断点地址给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IP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堆栈保存的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FLAGS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内容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恢复给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</a:t>
            </a:r>
          </a:p>
          <a:p>
            <a:pPr marL="361950" indent="-361950" algn="just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返回到主程序断点执行</a:t>
            </a: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/>
          <p:nvPr/>
        </p:nvGraphicFramePr>
        <p:xfrm>
          <a:off x="3424555" y="-30480"/>
          <a:ext cx="5732145" cy="6732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r:id="rId3" imgW="4177665" imgH="4984115" progId="Visio.Drawing.11">
                  <p:embed/>
                </p:oleObj>
              </mc:Choice>
              <mc:Fallback>
                <p:oleObj r:id="rId3" imgW="4177665" imgH="4984115" progId="Visio.Drawing.11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4555" y="-30480"/>
                        <a:ext cx="5732145" cy="6732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/>
          <p:nvPr/>
        </p:nvGraphicFramePr>
        <p:xfrm>
          <a:off x="1898650" y="128905"/>
          <a:ext cx="7102475" cy="6600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r:id="rId3" imgW="4977130" imgH="4907915" progId="Visio.Drawing.11">
                  <p:embed/>
                </p:oleObj>
              </mc:Choice>
              <mc:Fallback>
                <p:oleObj r:id="rId3" imgW="4977130" imgH="4907915" progId="Visio.Drawing.11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8650" y="128905"/>
                        <a:ext cx="7102475" cy="6600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205" y="1748790"/>
            <a:ext cx="3034030" cy="4508500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完整的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</a:p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中断响应</a:t>
            </a:r>
          </a:p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与处理流程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42865" y="2830830"/>
            <a:ext cx="61404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INTA</a:t>
            </a:r>
            <a:endParaRPr lang="zh-CN" altLang="en-US" sz="1400"/>
          </a:p>
        </p:txBody>
      </p:sp>
      <p:cxnSp>
        <p:nvCxnSpPr>
          <p:cNvPr id="7" name="直接连接符 6"/>
          <p:cNvCxnSpPr/>
          <p:nvPr/>
        </p:nvCxnSpPr>
        <p:spPr>
          <a:xfrm>
            <a:off x="5269865" y="2874010"/>
            <a:ext cx="3600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strips dir="l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540" y="458670"/>
            <a:ext cx="8229600" cy="896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.2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中断向量的设置和</a:t>
            </a:r>
            <a:b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中断处理程序设计实例</a:t>
            </a:r>
            <a:endParaRPr lang="zh-CN" altLang="en-US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1718810"/>
            <a:ext cx="8142287" cy="461645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中断向量的设置</a:t>
            </a:r>
          </a:p>
          <a:p>
            <a:pPr algn="just">
              <a:buFont typeface="Wingdings" panose="05000000000000000000" pitchFamily="2" charset="2"/>
              <a:buChar char="l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机对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类中断，有些已分配了固定功能，规定了中断服务程序的入口地址。</a:t>
            </a:r>
          </a:p>
          <a:p>
            <a:pPr algn="just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如类型号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n=0~4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为专用中断，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n=5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为打印屏幕中断，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n=08~FH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n=08~FH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n=70H ~ FFH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是分配给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PC/AT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机的。</a:t>
            </a:r>
          </a:p>
          <a:p>
            <a:pPr algn="just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还有一些保留给用户使用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，必须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在中断向量表中建立相应的中断向量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。常用以下两种方法设置中断向量。</a:t>
            </a: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998730"/>
            <a:ext cx="8372475" cy="5327650"/>
          </a:xfrm>
        </p:spPr>
        <p:txBody>
          <a:bodyPr/>
          <a:lstStyle/>
          <a:p>
            <a:pPr lvl="0" algn="just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）用指令直接进行设置</a:t>
            </a: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这种方法利用</a:t>
            </a: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，直接将类型为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的中断服务程序的入口地址送到中断向量表的相应单元中去。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具体做法：将中断服务程序的入口地址的偏移地址，送到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开始的字单元中，并将其基地址送到（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）开始的字单元中。</a:t>
            </a:r>
          </a:p>
          <a:p>
            <a:pPr algn="just">
              <a:spcBef>
                <a:spcPts val="18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8.15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设中断服务程序的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入口地址名为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INTR_AD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类型号为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，要求将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INTR_AD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CS:IP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）开始的单元中去，试编写汇编语言程序。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818710"/>
            <a:ext cx="8372475" cy="53276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直接用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指令设置：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ES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；目的地址基址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BX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N*4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；目的地址偏移量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INTR_AD</a:t>
            </a:r>
            <a:endParaRPr lang="en-US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[BX]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；置入偏移地址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SEG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INTR_AD</a:t>
            </a:r>
            <a:endParaRPr lang="en-US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[BX+2]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；置入段基地址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	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┆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INTR_AD:                 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┆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IRET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41563" y="5958840"/>
            <a:ext cx="5894070" cy="457200"/>
          </a:xfrm>
          <a:prstGeom prst="rect">
            <a:avLst/>
          </a:prstGeom>
          <a:noFill/>
          <a:ln w="381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TIP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这种方法并不安全，一般不建议采用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280B5F-CA51-48ED-9753-2075223C8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140" y="368660"/>
            <a:ext cx="3362325" cy="550545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）利用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功能调用设置</a:t>
            </a:r>
          </a:p>
          <a:p>
            <a:pPr marL="358775" indent="-358775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功能调用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专门提供了在中断向量表中设置和取得中断向量的手段，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功能号为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35H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0">
              <a:lnSpc>
                <a:spcPct val="110000"/>
              </a:lnSpc>
              <a:spcBef>
                <a:spcPts val="1200"/>
              </a:spcBef>
              <a:buNone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设置中断向量（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号功能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入口参数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中断向量（中断服务程序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入口地址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	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功能号）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  21H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中指定的中断类型号为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的中断向量（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）置入中断向量表中。</a:t>
            </a:r>
          </a:p>
          <a:p>
            <a:pPr lvl="0">
              <a:lnSpc>
                <a:spcPct val="110000"/>
              </a:lnSpc>
              <a:spcBef>
                <a:spcPts val="1200"/>
              </a:spcBef>
              <a:buNone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取得中断向量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35H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号功能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入口参数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功能号）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 21H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号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的中断向量从中断向量表中取到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52173" y="4611370"/>
            <a:ext cx="2527300" cy="822960"/>
          </a:xfrm>
          <a:prstGeom prst="rect">
            <a:avLst/>
          </a:prstGeom>
          <a:noFill/>
          <a:ln w="381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TIP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相对安全，</a:t>
            </a:r>
          </a:p>
          <a:p>
            <a:r>
              <a:rPr lang="zh-CN" altLang="en-US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           建议采用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8.16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功能调用，编写设置和取得中断向量的程序段。程序段如下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；中断类型号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35H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  	21H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号中断向量取到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PUSH  	ES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；将原中断向量送堆栈保存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PUSH  	BX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PUSH  	DS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；保存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SEG  INTR_AD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←用户新中断向量段基址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OFFSET  INTR_AD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←用户新中断向量偏移量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；新中断向量类型号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 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   	21H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；设置新中断向量</a:t>
            </a: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8.16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117600"/>
            <a:ext cx="8372475" cy="5175250"/>
          </a:xfrm>
        </p:spPr>
        <p:txBody>
          <a:bodyPr/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   	DS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；恢复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┆                                </a:t>
            </a:r>
            <a:r>
              <a:rPr lang="zh-CN" altLang="en-US" sz="2400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；用户的主程序，使用到该中断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POP   	DX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；恢复原中断向量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POP   	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MOV  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  	21H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INTR_AD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┆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；用户编写的中断服务程序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IRET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762000"/>
            <a:ext cx="8372475" cy="57277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8.17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将例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8.14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中，中断类型号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N=31H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的中断向量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，设置到中断向量表中。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程序如下：</a:t>
            </a: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1000H		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DS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  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←段基地址</a:t>
            </a: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2000H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←偏移地址</a:t>
            </a: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31H  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；中断类型号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   	AH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  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功能号</a:t>
            </a:r>
          </a:p>
          <a:p>
            <a:pPr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INT    	21H                  	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；设置中断向量量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8.14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中，中断类型号</a:t>
            </a:r>
            <a:r>
              <a:rPr 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N=35H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44H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45H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的中断向量也可用类似方法设置。</a:t>
            </a:r>
          </a:p>
          <a:p>
            <a:pPr>
              <a:spcBef>
                <a:spcPts val="0"/>
              </a:spcBef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4798"/>
            <a:ext cx="8229600" cy="949117"/>
          </a:xfrm>
        </p:spPr>
        <p:txBody>
          <a:bodyPr/>
          <a:lstStyle/>
          <a:p>
            <a:pPr lvl="0"/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中断处理程序设计实例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endParaRPr lang="zh-CN" altLang="en-US" b="1" baseline="3000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231187" cy="48704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8.18 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编写中断处理程序，要求主程序运行时，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每隔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钟响铃一次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上显示一行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信息“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bell is ring.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，主程序运行一定时间后停止运行。</a:t>
            </a:r>
          </a:p>
          <a:p>
            <a:pPr marL="0" indent="0" algn="just"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1200"/>
              </a:spcBef>
              <a:buFont typeface="Wingdings 3" panose="05040102010807070707" pitchFamily="18" charset="2"/>
              <a:buChar char="u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分析：任务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显示信息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中断；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任务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定时中断；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任务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响铃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控制扬声器（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8253+8255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4798"/>
            <a:ext cx="8229600" cy="949117"/>
          </a:xfrm>
        </p:spPr>
        <p:txBody>
          <a:bodyPr/>
          <a:lstStyle/>
          <a:p>
            <a:pPr lvl="0"/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中断处理程序设计实例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endParaRPr lang="zh-CN" altLang="en-US" b="1" baseline="3000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231187" cy="48704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8.18 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预备知识：（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机的定时中断</a:t>
            </a:r>
          </a:p>
          <a:p>
            <a:pPr marL="0" indent="0" algn="just">
              <a:spcBef>
                <a:spcPts val="1200"/>
              </a:spcBef>
              <a:buFont typeface="Wingdings 3" panose="05040102010807070707" pitchFamily="18" charset="2"/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6325" y="2303780"/>
            <a:ext cx="7390626" cy="420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圆角矩形 5"/>
          <p:cNvSpPr/>
          <p:nvPr/>
        </p:nvSpPr>
        <p:spPr>
          <a:xfrm>
            <a:off x="4887595" y="2842260"/>
            <a:ext cx="3194685" cy="5175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20185" y="3637915"/>
            <a:ext cx="4930140" cy="1215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8775" indent="-358775" algn="just">
              <a:spcBef>
                <a:spcPts val="0"/>
              </a:spcBef>
            </a:pP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初始化为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方式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，二进制计数；</a:t>
            </a:r>
          </a:p>
          <a:p>
            <a:pPr marL="358775" indent="-358775" algn="just">
              <a:spcBef>
                <a:spcPts val="0"/>
              </a:spcBef>
            </a:pP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初值 </a:t>
            </a:r>
            <a:r>
              <a:rPr lang="en-US" sz="16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n = 0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（</a:t>
            </a:r>
            <a:r>
              <a:rPr lang="en-US" sz="1600" b="1" dirty="0">
                <a:cs typeface="Times New Roman" panose="02020603050405020304" pitchFamily="18" charset="0"/>
                <a:sym typeface="+mn-ea"/>
              </a:rPr>
              <a:t>2</a:t>
            </a:r>
            <a:r>
              <a:rPr lang="en-US" sz="1600" b="1" baseline="30000" dirty="0">
                <a:cs typeface="Times New Roman" panose="02020603050405020304" pitchFamily="18" charset="0"/>
                <a:sym typeface="+mn-ea"/>
              </a:rPr>
              <a:t>16</a:t>
            </a:r>
            <a:r>
              <a:rPr lang="en-US" sz="1600" b="1" dirty="0">
                <a:cs typeface="Times New Roman" panose="02020603050405020304" pitchFamily="18" charset="0"/>
                <a:sym typeface="+mn-ea"/>
              </a:rPr>
              <a:t>=65536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），在</a:t>
            </a:r>
            <a:r>
              <a:rPr lang="en-US" sz="1600" b="1" dirty="0">
                <a:cs typeface="Times New Roman" panose="02020603050405020304" pitchFamily="18" charset="0"/>
                <a:sym typeface="+mn-ea"/>
              </a:rPr>
              <a:t>OUT</a:t>
            </a:r>
            <a:r>
              <a:rPr lang="en-US" sz="1600" b="1" baseline="-25000" dirty="0"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输出</a:t>
            </a:r>
            <a:r>
              <a:rPr lang="zh-CN" altLang="en-US" sz="1600" b="1" dirty="0">
                <a:solidFill>
                  <a:srgbClr val="FFFF00"/>
                </a:solidFill>
                <a:cs typeface="Times New Roman" panose="02020603050405020304" pitchFamily="18" charset="0"/>
                <a:sym typeface="+mn-ea"/>
              </a:rPr>
              <a:t>方波</a:t>
            </a:r>
            <a:r>
              <a:rPr lang="zh-CN" altLang="en-US" sz="1600" b="1" dirty="0">
                <a:cs typeface="Times New Roman" panose="02020603050405020304" pitchFamily="18" charset="0"/>
                <a:sym typeface="+mn-ea"/>
              </a:rPr>
              <a:t>，频率为</a:t>
            </a:r>
            <a:r>
              <a:rPr lang="en-US" sz="1600" b="1" dirty="0">
                <a:cs typeface="Times New Roman" panose="02020603050405020304" pitchFamily="18" charset="0"/>
                <a:sym typeface="+mn-ea"/>
              </a:rPr>
              <a:t> </a:t>
            </a:r>
          </a:p>
          <a:p>
            <a:pPr marL="358775" indent="-358775" algn="just">
              <a:spcBef>
                <a:spcPts val="0"/>
              </a:spcBef>
            </a:pPr>
            <a:r>
              <a:rPr lang="en-US" sz="1600" b="1" dirty="0">
                <a:cs typeface="Times New Roman" panose="02020603050405020304" pitchFamily="18" charset="0"/>
                <a:sym typeface="+mn-ea"/>
              </a:rPr>
              <a:t>                         f/n=1.19318MHz/65536=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18.2Hz</a:t>
            </a:r>
            <a:endParaRPr lang="en-US" sz="1600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Times New Roman" panose="02020603050405020304" pitchFamily="18" charset="0"/>
              <a:sym typeface="+mn-ea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1600" b="1" dirty="0"/>
              <a:t>周期为：</a:t>
            </a:r>
            <a:r>
              <a:rPr lang="en-US" altLang="zh-CN" sz="1600" b="1" dirty="0"/>
              <a:t>T = 1/f = </a:t>
            </a:r>
            <a:r>
              <a:rPr lang="en-US" altLang="zh-CN" sz="1600" b="1" dirty="0">
                <a:solidFill>
                  <a:srgbClr val="FFFF00"/>
                </a:solidFill>
              </a:rPr>
              <a:t>55ms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960880" y="5307330"/>
            <a:ext cx="4473575" cy="77914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8775" indent="-358775" algn="just">
              <a:spcBef>
                <a:spcPts val="0"/>
              </a:spcBef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OUT</a:t>
            </a:r>
            <a:r>
              <a:rPr lang="en-US" altLang="zh-CN" sz="16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中断的中断号为：</a:t>
            </a:r>
            <a:r>
              <a:rPr lang="en-US" altLang="zh-CN" sz="16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1CH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cs typeface="Times New Roman" panose="02020603050405020304" pitchFamily="18" charset="0"/>
              <a:sym typeface="+mn-ea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原中断服务程序啥事没做，只有一条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IRET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+mn-ea"/>
              </a:rPr>
              <a:t>指令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9" grpId="0" animBg="1"/>
      <p:bldP spid="9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8340" y="2474595"/>
            <a:ext cx="7998376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4798"/>
            <a:ext cx="8229600" cy="949117"/>
          </a:xfrm>
        </p:spPr>
        <p:txBody>
          <a:bodyPr/>
          <a:lstStyle/>
          <a:p>
            <a:pPr lvl="0"/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中断处理程序设计实例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endParaRPr lang="zh-CN" altLang="en-US" b="1" baseline="30000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231187" cy="48704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【例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8.18 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预备知识：（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机的扬声器控制</a:t>
            </a:r>
          </a:p>
          <a:p>
            <a:pPr marL="0" indent="0" algn="just">
              <a:spcBef>
                <a:spcPts val="1200"/>
              </a:spcBef>
              <a:buFont typeface="Wingdings 3" panose="05040102010807070707" pitchFamily="18" charset="2"/>
              <a:buNone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289685" y="2473960"/>
            <a:ext cx="3940175" cy="15417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057910" y="4641850"/>
            <a:ext cx="4930140" cy="191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计数器</a:t>
            </a:r>
            <a:r>
              <a:rPr 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工作于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方式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；</a:t>
            </a:r>
          </a:p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计数初值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n=533H =1331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，从</a:t>
            </a:r>
            <a:r>
              <a:rPr 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OUT</a:t>
            </a:r>
            <a:r>
              <a:rPr lang="en-US" sz="1600" b="1" baseline="-25000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输出的方波频率为  </a:t>
            </a:r>
          </a:p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US" sz="16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1.19318MHz/1331 = 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896Hz</a:t>
            </a:r>
            <a:endParaRPr lang="en-US" altLang="zh-CN" sz="1600" b="1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但</a:t>
            </a:r>
            <a:r>
              <a:rPr 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GATE</a:t>
            </a:r>
            <a:r>
              <a:rPr lang="en-US" sz="1600" b="1" baseline="-25000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受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8255A-5</a:t>
            </a: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1600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PB</a:t>
            </a:r>
            <a:r>
              <a:rPr lang="en-US" sz="1600" b="1" baseline="-25000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Times New Roman" panose="02020603050405020304" pitchFamily="18" charset="0"/>
                <a:sym typeface="+mn-ea"/>
              </a:rPr>
              <a:t>控制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：</a:t>
            </a:r>
          </a:p>
          <a:p>
            <a:pPr algn="just"/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              当</a:t>
            </a:r>
            <a:r>
              <a:rPr lang="en-US" sz="1600" b="1" dirty="0">
                <a:solidFill>
                  <a:srgbClr val="FFFF00"/>
                </a:solidFill>
                <a:cs typeface="Times New Roman" panose="02020603050405020304" pitchFamily="18" charset="0"/>
                <a:sym typeface="+mn-ea"/>
              </a:rPr>
              <a:t>PB</a:t>
            </a:r>
            <a:r>
              <a:rPr lang="en-US" sz="1600" b="1" baseline="-25000" dirty="0">
                <a:solidFill>
                  <a:srgbClr val="FFFF00"/>
                </a:solidFill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sz="1600" b="1" dirty="0">
                <a:solidFill>
                  <a:srgbClr val="FFFF00"/>
                </a:solidFill>
                <a:cs typeface="Times New Roman" panose="02020603050405020304" pitchFamily="18" charset="0"/>
                <a:sym typeface="+mn-ea"/>
              </a:rPr>
              <a:t>=1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时允许计数，使</a:t>
            </a:r>
            <a:r>
              <a:rPr 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OUT</a:t>
            </a:r>
            <a:r>
              <a:rPr lang="en-US" sz="1600" b="1" baseline="-25000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端输出方波。</a:t>
            </a:r>
          </a:p>
          <a:p>
            <a:pPr algn="just"/>
            <a:r>
              <a:rPr lang="en-US" altLang="zh-CN" sz="1600" b="1" dirty="0">
                <a:solidFill>
                  <a:srgbClr val="FFFF00"/>
                </a:solidFill>
              </a:rPr>
              <a:t> </a:t>
            </a:r>
            <a:r>
              <a:rPr lang="zh-CN" altLang="en-US" sz="1600" b="1" dirty="0">
                <a:solidFill>
                  <a:schemeClr val="bg1"/>
                </a:solidFill>
              </a:rPr>
              <a:t>扬声器还受</a:t>
            </a:r>
            <a:r>
              <a:rPr lang="en-US" altLang="zh-CN" sz="1600" b="1" dirty="0">
                <a:solidFill>
                  <a:schemeClr val="bg1"/>
                </a:solidFill>
              </a:rPr>
              <a:t>8255A</a:t>
            </a:r>
            <a:r>
              <a:rPr lang="zh-CN" altLang="en-US" sz="1600" b="1" dirty="0">
                <a:solidFill>
                  <a:schemeClr val="bg1"/>
                </a:solidFill>
              </a:rPr>
              <a:t>的</a:t>
            </a:r>
            <a:r>
              <a:rPr lang="en-US" altLang="zh-CN" sz="1600" b="1" dirty="0">
                <a:solidFill>
                  <a:schemeClr val="bg1"/>
                </a:solidFill>
              </a:rPr>
              <a:t>PB</a:t>
            </a:r>
            <a:r>
              <a:rPr lang="en-US" altLang="zh-CN" sz="1600" b="1" baseline="-25000" dirty="0">
                <a:solidFill>
                  <a:schemeClr val="bg1"/>
                </a:solidFill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</a:rPr>
              <a:t>的控制，</a:t>
            </a:r>
            <a:r>
              <a:rPr lang="en-US" altLang="zh-CN" sz="1600" b="1" dirty="0">
                <a:solidFill>
                  <a:srgbClr val="FFFF00"/>
                </a:solidFill>
              </a:rPr>
              <a:t>PB1=1</a:t>
            </a:r>
            <a:r>
              <a:rPr lang="zh-CN" altLang="en-US" sz="1600" b="1" dirty="0">
                <a:solidFill>
                  <a:schemeClr val="bg1"/>
                </a:solidFill>
              </a:rPr>
              <a:t>才能响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590" y="773430"/>
            <a:ext cx="7791450" cy="576707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主程序功能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对中断进行初始化设置。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执行软件延时程序，期间会发生中断。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延时完成后恢复原来中断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退出整个程序</a:t>
            </a:r>
          </a:p>
          <a:p>
            <a:pPr algn="just">
              <a:lnSpc>
                <a:spcPct val="120000"/>
              </a:lnSpc>
              <a:buNone/>
            </a:pP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中断服务程序的功能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每中断一次，计数变量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的值减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，中断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秒时间到，因为：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55ms/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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=10010ms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 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10s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的值减为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时，响铃一次，并显示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bell is ring.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，同时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赋值为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，开始下一次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秒定时。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05:59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68300"/>
            <a:ext cx="8229600" cy="43815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程序流程图</a:t>
            </a:r>
            <a:endParaRPr lang="zh-CN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内容占位符 3" descr="t-8.24.T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750" y="895350"/>
            <a:ext cx="7600950" cy="5671254"/>
          </a:xfr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4995" y="527050"/>
            <a:ext cx="8372475" cy="575627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SEGMENT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；数据段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   DW  1    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10s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计数器首次值置为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        DB  ‘The bell is ring.’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0DH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，‘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；要显示的信息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 ENDS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      SEGMENT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ASSUME  CS:CODE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DS:DATA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；设置数据段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;;;;;;;;;;;;;;;;;</a:t>
            </a:r>
            <a:r>
              <a:rPr 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取出原中断向量，入栈保存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MOV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1CH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；指向1CH号中断向量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MOV  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35H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；取1CH号中断向量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INT       21H    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；ES：BX←中断向量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PUSH   ES</a:t>
            </a:r>
            <a:endParaRPr lang="zh-CN" altLang="en-US" sz="24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PUSH   BX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；1CH中断向量入栈保护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;;;;;;;;;;;;;;;;;;;;;;;;;;;;;;;;;;;;;;;;;;;;;;;;;;;;;;;;;;;;;;;;;;;;;;;;;;;;;;;;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1530" y="458670"/>
            <a:ext cx="8372475" cy="57721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设置新的中断向量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;;;;;;;;;;;;;;;;;;;;;;;;;;;;;;;;;;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PUSH   DS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；保存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  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RING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；DS：DX←RING的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；基地址和偏移量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 RING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；RING的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21H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；设置RING的中断向量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      DS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；恢复DS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允许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IR0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中断请求，开中断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     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21H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；读IMR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 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0FEH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；使IMR的D0位=0，</a:t>
            </a:r>
          </a:p>
          <a:p>
            <a:pPr algn="l">
              <a:spcBef>
                <a:spcPts val="0"/>
              </a:spcBef>
              <a:buClrTx/>
              <a:buSz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    21H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；以允许IR0 中断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；开中断，等待定时中断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FF1FBD-69AC-4C03-A672-05C1C4F22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70" y="5454225"/>
            <a:ext cx="5295900" cy="117157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565" y="278650"/>
            <a:ext cx="8150225" cy="5334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软件延时，期间有中断产生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MOV     DI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20000         	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；延时一定时间</a:t>
            </a:r>
            <a:r>
              <a:rPr lang="en-US" altLang="zh-CN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(&gt;10s)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DELY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MOV     SI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30000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DELY1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   SI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JNZ       DELY1 	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   DI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buClrTx/>
              <a:buSz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JNZ       DELY             	</a:t>
            </a:r>
            <a:endParaRPr lang="zh-CN" altLang="en-US" sz="20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恢复旧的中断向量，主程序结束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    DX       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；时间到，原中断向量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；弹出到DS：DX中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    DS                 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AL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1CH   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；中断类型号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AH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    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；恢复原中断向量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 21H             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AX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4C00H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；返回DOS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 21H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；主程序结束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F23BF4-1B26-45F4-993B-F6483A7F7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030" y="1133745"/>
            <a:ext cx="2971800" cy="1619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4DF03F-6AFB-4F2A-B612-5A10964A7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32" y="5459610"/>
            <a:ext cx="2924175" cy="1133475"/>
          </a:xfrm>
          <a:prstGeom prst="rect">
            <a:avLst/>
          </a:prstGeom>
        </p:spPr>
      </p:pic>
    </p:spTree>
  </p:cSld>
  <p:clrMapOvr>
    <a:masterClrMapping/>
  </p:clrMapOvr>
  <p:transition spd="slow">
    <p:cover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715" y="503555"/>
            <a:ext cx="8372475" cy="6218555"/>
          </a:xfrm>
        </p:spPr>
        <p:txBody>
          <a:bodyPr>
            <a:normAutofit fontScale="90000"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 PROC </a:t>
            </a:r>
            <a:endParaRPr lang="zh-CN" altLang="en-US" sz="2400" b="1" dirty="0">
              <a:solidFill>
                <a:srgbClr val="33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现场保护，开中断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PUSH   DS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；保护现场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PUSH   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PUSH   CX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PUSH   DX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；设置数据段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STI         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；开中断，允许中断嵌套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;;;;;;;;;;;;;;;;;;10s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定时判断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DEC  	 COUNT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；10s计数器COUNT（初始值=1）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JNZ  	 EXIT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；非0，10s时间未到，则退出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定时时间到，显示信息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	 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 MESS	</a:t>
            </a:r>
          </a:p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；是0，10s到，显示提示信息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MOV 	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09H			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INT  	 21H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2EA164-7BAB-4B01-BADE-33C17AE16E0F}"/>
              </a:ext>
            </a:extLst>
          </p:cNvPr>
          <p:cNvSpPr txBox="1"/>
          <p:nvPr/>
        </p:nvSpPr>
        <p:spPr>
          <a:xfrm>
            <a:off x="4256785" y="135890"/>
            <a:ext cx="4500500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6600"/>
                </a:solidFill>
              </a:rPr>
              <a:t>先想一想，多少时间进一次这个中断服务程序？</a:t>
            </a:r>
          </a:p>
        </p:txBody>
      </p:sp>
    </p:spTree>
  </p:cSld>
  <p:clrMapOvr>
    <a:masterClrMapping/>
  </p:clrMapOvr>
  <p:transition spd="slow">
    <p:cover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503675"/>
            <a:ext cx="8372475" cy="594995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控制扬声器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 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；扬声器通断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 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8255A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端口地址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0FCH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SOUND: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XOR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02H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口的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位，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取反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	61H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       	             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	CX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140H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；延时使方波有一定宽度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WAIT1: 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LOOP 	WAIT1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	DX             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；通断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次了吗？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JNE    	SOUND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；没有，继续发声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重置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定时器COUNT;;;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	COUNT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；重置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用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8259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EOI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命令结束中断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20H        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；用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EOI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命令结束中断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  20H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cover dir="l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939800"/>
            <a:ext cx="8372475" cy="448627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现场保护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   DX  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；恢复现场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CX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DS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退出中断服务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IRET         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；返回主程序，等待下次中断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  ENDP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；中断服务程序结束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ENDS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；代码段结束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END    START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；程序将从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172845" y="1794510"/>
            <a:ext cx="6797675" cy="2914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思考题：</a:t>
            </a:r>
          </a:p>
          <a:p>
            <a:pPr>
              <a:spcBef>
                <a:spcPts val="0"/>
              </a:spcBef>
              <a:buNone/>
            </a:pPr>
            <a:endParaRPr lang="zh-CN" altLang="en-US" b="1" dirty="0"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如果要求响铃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次结束程序，程序怎么改？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分钟思考时间，给出解决方案。</a:t>
            </a:r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555" y="1493785"/>
            <a:ext cx="8372475" cy="5756275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SEGMENT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；数据段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   DW  1    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10s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计数器首次值置为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count0       DB 10</a:t>
            </a:r>
            <a:endParaRPr lang="zh-CN" altLang="en-US" sz="24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        DB  ‘The bell is ring.’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0DH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，‘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；要显示的信息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 ENDS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主程序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      SEGMENT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ASSUME  CS:CODE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DS:DATA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；设置数据段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;;;;;;;;;;;;;;;;;</a:t>
            </a:r>
            <a:r>
              <a:rPr 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取出原中断向量，入栈保存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MOV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1CH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；指向1CH号中断向量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MOV  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35H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；取1CH号中断向量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INT       21H    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；ES：BX←中断向量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PUSH   ES</a:t>
            </a:r>
            <a:endParaRPr lang="zh-CN" altLang="en-US" sz="24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PUSH   BX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；1CH中断向量入栈保护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;;;;;;;;;;;;;;;;;;;;;;;;;;;;;;;;;;;;;;;;;;;;;;;;;;;;;;;;;;;;;;;;;;;;;;;;;;;;;;;;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4" name="圆角矩形 7">
            <a:extLst>
              <a:ext uri="{FF2B5EF4-FFF2-40B4-BE49-F238E27FC236}">
                <a16:creationId xmlns:a16="http://schemas.microsoft.com/office/drawing/2014/main" id="{ADC94359-3D69-4DA6-814E-5F3E0445BCD6}"/>
              </a:ext>
            </a:extLst>
          </p:cNvPr>
          <p:cNvSpPr/>
          <p:nvPr/>
        </p:nvSpPr>
        <p:spPr>
          <a:xfrm>
            <a:off x="836585" y="0"/>
            <a:ext cx="6797675" cy="13695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参考：绿色代码部分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定义一个变量，初始化值为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，判断已经响铃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次后退出主循环的延时等待。</a:t>
            </a:r>
          </a:p>
        </p:txBody>
      </p:sp>
      <p:sp>
        <p:nvSpPr>
          <p:cNvPr id="5" name="箭头: 左 4">
            <a:extLst>
              <a:ext uri="{FF2B5EF4-FFF2-40B4-BE49-F238E27FC236}">
                <a16:creationId xmlns:a16="http://schemas.microsoft.com/office/drawing/2014/main" id="{A62EBB62-8E1F-4050-AD30-F56B0B0018E7}"/>
              </a:ext>
            </a:extLst>
          </p:cNvPr>
          <p:cNvSpPr/>
          <p:nvPr/>
        </p:nvSpPr>
        <p:spPr>
          <a:xfrm>
            <a:off x="3154342" y="2033844"/>
            <a:ext cx="922603" cy="315036"/>
          </a:xfrm>
          <a:prstGeom prst="lef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434834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1530" y="458670"/>
            <a:ext cx="8372475" cy="57721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设置新的中断向量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;;;;;;;;;;;;;;;;;;;;;;;;;;;;;;;;;;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PUSH   DS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；保存</a:t>
            </a: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  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RING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；DS：DX←RING的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；基地址和偏移量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 RING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；RING的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中断类型号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21H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；设置RING的中断向量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      DS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；恢复DS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允许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IR0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中断请求，开中断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     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21H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；读IMR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  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0FEH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；使IMR的D0位=0，</a:t>
            </a:r>
          </a:p>
          <a:p>
            <a:pPr algn="l">
              <a:spcBef>
                <a:spcPts val="0"/>
              </a:spcBef>
              <a:buClrTx/>
              <a:buSz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    21H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；以允许IR0 中断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；开中断，等待定时中断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FF1FBD-69AC-4C03-A672-05C1C4F22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70" y="5454225"/>
            <a:ext cx="529590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92816"/>
      </p:ext>
    </p:extLst>
  </p:cSld>
  <p:clrMapOvr>
    <a:masterClrMapping/>
  </p:clrMapOvr>
  <p:transition spd="slow">
    <p:cover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6565" y="278650"/>
            <a:ext cx="8150225" cy="5334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软件延时，期间有中断产生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MOV     DI</a:t>
            </a:r>
            <a:r>
              <a:rPr lang="zh-CN" alt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20000         	 </a:t>
            </a:r>
            <a:r>
              <a:rPr lang="zh-CN" altLang="en-US" sz="2000" b="1" strike="dblStrike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；延时一定时间</a:t>
            </a:r>
            <a:r>
              <a:rPr lang="en-US" altLang="zh-CN" sz="2000" b="1" strike="dblStrike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(&gt;10s)</a:t>
            </a:r>
            <a:endParaRPr lang="zh-CN" altLang="en-US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DELY</a:t>
            </a:r>
            <a:r>
              <a:rPr lang="zh-CN" alt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MOV     SI</a:t>
            </a:r>
            <a:r>
              <a:rPr lang="zh-CN" alt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30000</a:t>
            </a:r>
            <a:endParaRPr lang="zh-CN" altLang="en-US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DELY1</a:t>
            </a:r>
            <a:r>
              <a:rPr lang="zh-CN" alt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   SI</a:t>
            </a:r>
            <a:endParaRPr lang="zh-CN" altLang="en-US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JNZ       DELY1 	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   DI</a:t>
            </a:r>
            <a:endParaRPr lang="zh-CN" altLang="en-US" sz="2000" b="1" strike="dbl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buClrTx/>
              <a:buSzTx/>
              <a:buNone/>
            </a:pPr>
            <a:r>
              <a:rPr lang="en-US" sz="2000" b="1" strike="dbl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JNZ       DELY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en-US" sz="20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WAIT0: </a:t>
            </a:r>
            <a:r>
              <a:rPr lang="en-US" sz="2000" b="1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cmp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count0,0		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；如果最后一次响铃还没有完成</a:t>
            </a:r>
            <a:endParaRPr lang="en-US" sz="20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JNZ WAIT0</a:t>
            </a:r>
            <a:endParaRPr 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恢复旧的中断向量，主程序结束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;;;;;;;;;;;;;;;;;;;;;;;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    DX       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；时间到，原中断向量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；弹出到DS：DX中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POP       DS                 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AL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1CH   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；中断类型号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AH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25H    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；恢复原中断向量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 21H             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  AX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4C00H    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；返回DOS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       21H		  </a:t>
            </a:r>
            <a:r>
              <a:rPr lang="zh-CN" altLang="en-US" sz="20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；主程序结束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F23BF4-1B26-45F4-993B-F6483A7F7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030" y="1133745"/>
            <a:ext cx="2971800" cy="1619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4DF03F-6AFB-4F2A-B612-5A10964A7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32" y="5459610"/>
            <a:ext cx="2924175" cy="1133475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23A41512-4BE2-46BF-884A-36B4C50D9ACC}"/>
              </a:ext>
            </a:extLst>
          </p:cNvPr>
          <p:cNvSpPr/>
          <p:nvPr/>
        </p:nvSpPr>
        <p:spPr>
          <a:xfrm>
            <a:off x="3356865" y="3271482"/>
            <a:ext cx="922603" cy="315036"/>
          </a:xfrm>
          <a:prstGeom prst="lef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981662"/>
      </p:ext>
    </p:extLst>
  </p:cSld>
  <p:clrMapOvr>
    <a:masterClrMapping/>
  </p:clrMapOvr>
  <p:transition spd="slow">
    <p:cover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715" y="503555"/>
            <a:ext cx="8372475" cy="6218555"/>
          </a:xfrm>
        </p:spPr>
        <p:txBody>
          <a:bodyPr>
            <a:normAutofit fontScale="90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 PROC  NEAR</a:t>
            </a:r>
            <a:endParaRPr lang="zh-CN" altLang="en-US" sz="2400" b="1" dirty="0">
              <a:solidFill>
                <a:srgbClr val="33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现场保护，开中断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PUSH   DS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；保护现场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PUSH   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PUSH   CX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PUSH   DX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MOV  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；设置数据段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MOV    DS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STI                        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；开中断，允许中断嵌套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;;;;;;;;;;;;;;;;;;10s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定时判断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DEC  	 COUNT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；10s计数器COUNT（初始值=1）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JNZ  	 EXIT            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；非0，10s时间未到，则退出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定时时间到，显示信息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dec count0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	 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 MESS	</a:t>
            </a:r>
          </a:p>
          <a:p>
            <a:pPr marL="0" algn="l">
              <a:lnSpc>
                <a:spcPct val="11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zh-CN" altLang="en-US" sz="2400" b="1" dirty="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；是0，10s到，显示提示信息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MOV 	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09H			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INT  	 21H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2EA164-7BAB-4B01-BADE-33C17AE16E0F}"/>
              </a:ext>
            </a:extLst>
          </p:cNvPr>
          <p:cNvSpPr txBox="1"/>
          <p:nvPr/>
        </p:nvSpPr>
        <p:spPr>
          <a:xfrm>
            <a:off x="4256785" y="135890"/>
            <a:ext cx="4500500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6600"/>
                </a:solidFill>
              </a:rPr>
              <a:t>先想一想，多少时间进一次这个中断服务程序？</a:t>
            </a:r>
          </a:p>
        </p:txBody>
      </p:sp>
      <p:sp>
        <p:nvSpPr>
          <p:cNvPr id="5" name="箭头: 左 4">
            <a:extLst>
              <a:ext uri="{FF2B5EF4-FFF2-40B4-BE49-F238E27FC236}">
                <a16:creationId xmlns:a16="http://schemas.microsoft.com/office/drawing/2014/main" id="{B18EF24D-EA63-4AB9-9D09-C360F9CD733A}"/>
              </a:ext>
            </a:extLst>
          </p:cNvPr>
          <p:cNvSpPr/>
          <p:nvPr/>
        </p:nvSpPr>
        <p:spPr>
          <a:xfrm>
            <a:off x="2906815" y="4779150"/>
            <a:ext cx="922603" cy="315036"/>
          </a:xfrm>
          <a:prstGeom prst="leftArrow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44144"/>
      </p:ext>
    </p:extLst>
  </p:cSld>
  <p:clrMapOvr>
    <a:masterClrMapping/>
  </p:clrMapOvr>
  <p:transition spd="slow">
    <p:cover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503675"/>
            <a:ext cx="8372475" cy="594995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控制扬声器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MOV  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；扬声器通断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 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8255A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端口地址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0FCH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SOUND: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XOR  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02H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口的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位，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取反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	61H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       	             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	CX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140H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；延时使方波有一定宽度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WAIT1: 	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LOOP 	WAIT1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DEC   	DX             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；通断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次了吗？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JNE    	SOUND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；没有，继续发声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重置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定时器COUNT;;;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	COUNT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；重置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182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用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8259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EOI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命令结束中断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20H        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；用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EOI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命令结束中断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OUT    20H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83926"/>
      </p:ext>
    </p:extLst>
  </p:cSld>
  <p:clrMapOvr>
    <a:masterClrMapping/>
  </p:clrMapOvr>
  <p:transition spd="slow">
    <p:cover dir="l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939800"/>
            <a:ext cx="8372475" cy="448627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现场保护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   DX  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；恢复现场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CX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AX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POP    DS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退出中断服务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;;;;;;;;;;;;;;;;;;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IRET                       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；返回主程序，等待下次中断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  ENDP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；中断服务程序结束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 ENDS	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；代码段结束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 END    START	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；程序将从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644784"/>
      </p:ext>
    </p:extLst>
  </p:cSld>
  <p:clrMapOvr>
    <a:masterClrMapping/>
  </p:clrMapOvr>
  <p:transition spd="slow">
    <p:cover dir="l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6535" y="188640"/>
            <a:ext cx="8229600" cy="900100"/>
          </a:xfrm>
        </p:spPr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几点总结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93785"/>
            <a:ext cx="8372475" cy="3701433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中断请求是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发生的；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中断服务是可以</a:t>
            </a:r>
            <a:r>
              <a:rPr 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嵌套</a:t>
            </a:r>
            <a:r>
              <a:rPr 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的；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中断系统需要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软件和硬件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的支持；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只会编查询式程序的程序员是低级程序员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05:47</a:t>
            </a:fld>
            <a:endParaRPr lang="zh-CN" altLang="en-US"/>
          </a:p>
        </p:txBody>
      </p:sp>
    </p:spTree>
  </p:cSld>
  <p:clrMapOvr>
    <a:masterClrMapping/>
  </p:clrMapOvr>
  <p:transition spd="slow">
    <p:newsflash/>
  </p:transition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2836</Words>
  <Application>Microsoft Office PowerPoint</Application>
  <PresentationFormat>全屏显示(4:3)</PresentationFormat>
  <Paragraphs>617</Paragraphs>
  <Slides>59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1" baseType="lpstr">
      <vt:lpstr>华文琥珀</vt:lpstr>
      <vt:lpstr>华文楷体</vt:lpstr>
      <vt:lpstr>宋体</vt:lpstr>
      <vt:lpstr>Arial</vt:lpstr>
      <vt:lpstr>Calibri</vt:lpstr>
      <vt:lpstr>Symbol</vt:lpstr>
      <vt:lpstr>Times New Roman</vt:lpstr>
      <vt:lpstr>Wingdings</vt:lpstr>
      <vt:lpstr>Wingdings 3</vt:lpstr>
      <vt:lpstr>自定义设计方案</vt:lpstr>
      <vt:lpstr>Office 主题</vt:lpstr>
      <vt:lpstr>Microsoft Visio 2003-2010 Drawing</vt:lpstr>
      <vt:lpstr>PowerPoint 演示文稿</vt:lpstr>
      <vt:lpstr>1. 8086系统中断源和中断分类</vt:lpstr>
      <vt:lpstr>1.中断源和中断分类</vt:lpstr>
      <vt:lpstr>1. 8086中断源和中断分类</vt:lpstr>
      <vt:lpstr>1. 8086中断源和中断分类</vt:lpstr>
      <vt:lpstr>1. 8086中断源和中断分类</vt:lpstr>
      <vt:lpstr>1. 8086中断源和中断分类</vt:lpstr>
      <vt:lpstr>1. 8086中断源和中断分类</vt:lpstr>
      <vt:lpstr>2. 中断向量表--重要！</vt:lpstr>
      <vt:lpstr>2.中断向量表</vt:lpstr>
      <vt:lpstr>2.中断向量表</vt:lpstr>
      <vt:lpstr>2.中断向量表【必须掌握】</vt:lpstr>
      <vt:lpstr>2.中断向量表</vt:lpstr>
      <vt:lpstr>2.中断向量表</vt:lpstr>
      <vt:lpstr>2.中断向量表</vt:lpstr>
      <vt:lpstr>2.中断向量表</vt:lpstr>
      <vt:lpstr>3.中断优先级和中断嵌套</vt:lpstr>
      <vt:lpstr>3.中断优先级和中断嵌套</vt:lpstr>
      <vt:lpstr>3.中断优先级和中断嵌套</vt:lpstr>
      <vt:lpstr>3.中断优先级和中断嵌套</vt:lpstr>
      <vt:lpstr>3.中断优先级和中断嵌套</vt:lpstr>
      <vt:lpstr>3.中断优先级和中断嵌套</vt:lpstr>
      <vt:lpstr>PowerPoint 演示文稿</vt:lpstr>
      <vt:lpstr>PowerPoint 演示文稿</vt:lpstr>
      <vt:lpstr>§8.1  8086的中断过程</vt:lpstr>
      <vt:lpstr>8.1.2  8086中断的响应与处理过程</vt:lpstr>
      <vt:lpstr>2. 8086的中断响应与处理</vt:lpstr>
      <vt:lpstr>2、8086的中断响应与处理</vt:lpstr>
      <vt:lpstr>2、8086的中断响应与处理</vt:lpstr>
      <vt:lpstr>2、8086的中断       响应与处理</vt:lpstr>
      <vt:lpstr>PowerPoint 演示文稿</vt:lpstr>
      <vt:lpstr>2、8086的中断       响应与处理</vt:lpstr>
      <vt:lpstr>PowerPoint 演示文稿</vt:lpstr>
      <vt:lpstr>8.3.2  中断向量的设置和 中断处理程序设计实例</vt:lpstr>
      <vt:lpstr>PowerPoint 演示文稿</vt:lpstr>
      <vt:lpstr>PowerPoint 演示文稿</vt:lpstr>
      <vt:lpstr>PowerPoint 演示文稿</vt:lpstr>
      <vt:lpstr>PowerPoint 演示文稿</vt:lpstr>
      <vt:lpstr>例8.16（续）</vt:lpstr>
      <vt:lpstr>PowerPoint 演示文稿</vt:lpstr>
      <vt:lpstr>2.中断处理程序设计实例*</vt:lpstr>
      <vt:lpstr>2.中断处理程序设计实例*</vt:lpstr>
      <vt:lpstr>2.中断处理程序设计实例*</vt:lpstr>
      <vt:lpstr>PowerPoint 演示文稿</vt:lpstr>
      <vt:lpstr>程序流程图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几点总结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 8253的原理</dc:title>
  <dc:creator>冯周</dc:creator>
  <cp:lastModifiedBy>Hong Zhang</cp:lastModifiedBy>
  <cp:revision>695</cp:revision>
  <dcterms:created xsi:type="dcterms:W3CDTF">2003-06-02T09:23:00Z</dcterms:created>
  <dcterms:modified xsi:type="dcterms:W3CDTF">2023-04-23T22:35:33Z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
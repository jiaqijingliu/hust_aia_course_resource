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260" r:id="rId3"/>
    <p:sldId id="278" r:id="rId4"/>
    <p:sldId id="257" r:id="rId5"/>
    <p:sldId id="282" r:id="rId6"/>
    <p:sldId id="281" r:id="rId7"/>
    <p:sldId id="258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1:31:27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1176 53 24575,'-6'-3'0,"1"0"0,0 1 0,-1 0 0,1-1 0,-1 2 0,0-1 0,0 1 0,0-1 0,1 2 0,-9-1 0,-3-2 0,-64-9 0,0 4 0,-92 1 0,109 6 0,29 0 0,0 1 0,-44 6 0,59-2 0,1 1 0,0 0 0,0 2 0,-22 10 0,-70 43 0,87-47 0,-5 5 0,2 0 0,1 2 0,0 1 0,-31 33 0,45-44 0,1 1 0,0 1 0,1 0 0,1 0 0,0 1 0,0 0 0,2 1 0,-1 0 0,2 0 0,-9 25 0,10-14 0,1-1 0,1 1 0,1 0 0,1 0 0,3 31 0,-1-1 0,-1-47 0,1 1 0,0-1 0,1 0 0,0 1 0,0-1 0,1 0 0,-1 0 0,2 0 0,-1-1 0,1 1 0,1-1 0,-1 0 0,11 13 0,1-3 0,0-1 0,1 0 0,36 26 0,-36-31 0,0-1 0,1-1 0,0 0 0,27 9 0,82 19 0,-63-20 0,-4-2 0,83 10 0,64-4 0,-174-18 0,33 2 0,113-7 0,-139-1 0,0-3 0,0-1 0,0-2 0,39-14 0,-58 14 0,31-16 0,-18 7 0,-25 13 0,0-1 0,0 0 0,-1 0 0,0-1 0,0 0 0,8-10 0,39-51 0,-50 60 0,-1 0 0,1 0 0,-2 0 0,1-1 0,-1 1 0,0-1 0,-1 0 0,0 0 0,1-11 0,0-13 0,-2-37 0,-1 41 0,-1 0 0,-5-29 0,4 48 0,-1-1 0,0 0 0,0 1 0,-1 0 0,-1 0 0,1 0 0,-2 0 0,-9-13 0,-10-17 0,21 32 0,0 0 0,-1 1 0,0-1 0,0 1 0,0 0 0,-1 1 0,-1-1 0,-9-7 0,-25-18 0,25 19 0,0 1 0,0 1 0,-29-15 0,-72-37 340,-9-4-2045,108 60-5121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1:31:30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1169 48 24575,'-5'-3'0,"1"1"0,-1 0 0,1 0 0,-1 1 0,1-1 0,-1 1 0,0 0 0,0 0 0,0 1 0,0-1 0,1 1 0,-8 1 0,-1-2 0,-404-2 0,225 5 0,157-3 0,-43 3 0,70-1 0,-1 0 0,1 1 0,0 0 0,-1 0 0,1 1 0,-15 7 0,9-2 0,-13 6 0,0 1 0,1 1 0,-28 24 0,36-25 0,1-1 0,0 1 0,-28 32 0,41-41 0,-1 0 0,1 1 0,1-1 0,-1 1 0,1 0 0,0 0 0,0 0 0,1 0 0,0 0 0,1 0 0,-1 1 0,0 12 0,-3 37 0,3-43 0,0 1 0,1-1 0,1 0 0,0 1 0,4 20 0,-3-29 0,0 3 0,0-1 0,1 1 0,0-1 0,0 0 0,1 1 0,0-1 0,0 0 0,1 0 0,0-1 0,1 1 0,-1-1 0,10 10 0,19 19 0,-26-26 0,1-1 0,0 0 0,1 0 0,0-1 0,1-1 0,16 11 0,-14-11 0,0 0 0,1-1 0,-1-1 0,1 0 0,1-1 0,16 3 0,131 27 0,-33-6 0,-87-23 0,0-1 0,48-2 0,15 1 0,-58 1 0,149 4 0,-175-8 0,-1-2 0,1 0 0,-1-1 0,0-1 0,0-1 0,0-1 0,31-13 0,-37 12 0,0 0 0,0-1 0,-1 0 0,0-1 0,0-1 0,-1 0 0,0 0 0,-1-1 0,0 0 0,-1-1 0,14-24 0,-19 26 0,-2-1 0,1 1 0,-1-1 0,-1 0 0,0 0 0,0 0 0,-1 0 0,-3-21 0,1-4 0,2 21 0,0-18 0,-1-1 0,-1 1 0,-2 0 0,-13-55 0,10 71 0,1 0 0,-2 0 0,-1 1 0,-14-22 0,19 32 0,-12-23 0,12 22 0,0 0 0,0 0 0,0 0 0,-1 0 0,0 1 0,0-1 0,-1 1 0,0 1 0,0-1 0,-9-6 0,-19-12 257,25 17-527,-1 0-1,1 0 1,-1 1 0,-1 1-1,-11-5 1,9 5-6556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1:31:3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1010 35 24575,'-93'-6'0,"17"-1"0,-450 3 0,363 5 0,158-2 0,0 2 0,0-1 0,0 1 0,0 0 0,0 0 0,0 0 0,0 0 0,0 1 0,1 0 0,-1 0 0,1 0 0,-1 1 0,1 0 0,-7 5 0,5-2 0,0 0 0,1 0 0,0 1 0,0 0 0,0 0 0,1 0 0,0 0 0,-4 9 0,3-2 0,0 0 0,1 1 0,0-1 0,1 1 0,1 0 0,-1 18 0,5 94 0,0-59 0,-3-21 0,1-18 0,2 35 0,-1-55 0,1 1 0,0-1 0,0 0 0,1 1 0,0-1 0,0 0 0,8 13 0,4 2 0,0 0 0,2-2 0,0 0 0,1-1 0,1-1 0,36 30 0,-48-46 0,-1 1 0,1-2 0,0 1 0,1-1 0,-1 0 0,1 0 0,-1-1 0,15 3 0,69 5 0,-55-8 0,51 6 0,136 10 0,-159-16 0,93-8 0,-142 5 0,-1 0 0,1-2 0,-1 0 0,0 0 0,0-1 0,0-1 0,-1 0 0,1-1 0,-1-1 0,0 0 0,-1 0 0,0-1 0,12-11 0,-14 10 0,29-25 0,42-50 0,-70 71 0,0 0 0,-1-1 0,-1-1 0,0 0 0,-2 0 0,1 0 0,9-31 0,-7 6 0,-1-1 0,7-72 0,-14 84 0,-3-33 0,1 53 0,-1-1 0,-1 1 0,0-1 0,0 1 0,-1 0 0,0 0 0,-7-13 0,3 8 0,0 0 0,-1 1 0,-1 0 0,0 0 0,-1 1 0,0 0 0,-1 1 0,0 0 0,-1 1 0,-17-12 0,21 17 0,1 0 0,-1 1 0,0 1 0,0-1 0,-1 1 0,1 0 0,-17-2 0,4 2 0,1 2 0,-27 1 0,-68 1-1365,101-1-5461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1:31:37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9T02:30:41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FB453-4BF2-43B3-98B0-755D8822D914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26477-D5EA-4E8B-ADB3-CB61913EBC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2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示波器探头带来的短路问题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26477-D5EA-4E8B-ADB3-CB61913EBC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279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78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3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2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4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08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50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663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65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48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2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0338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035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04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606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212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63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3A3190F-9063-4DC0-9575-FC03CF8D1050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30B2F2-E5CC-411B-8C23-EE2742FEBB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27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F973C-20C6-65ED-E83D-23E8EED5C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078" y="727009"/>
            <a:ext cx="9144000" cy="751407"/>
          </a:xfrm>
        </p:spPr>
        <p:txBody>
          <a:bodyPr>
            <a:normAutofit/>
          </a:bodyPr>
          <a:lstStyle/>
          <a:p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GTO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MOSFET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GTR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IGBT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驱动与保护电路实验</a:t>
            </a:r>
            <a:endParaRPr lang="zh-CN" altLang="en-US" sz="2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D4DB3C-E6D3-E58D-8BBF-A51FF43DD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964" y="2918289"/>
            <a:ext cx="9144000" cy="510711"/>
          </a:xfrm>
        </p:spPr>
        <p:txBody>
          <a:bodyPr/>
          <a:lstStyle/>
          <a:p>
            <a:r>
              <a:rPr lang="zh-CN" altLang="en-US" dirty="0"/>
              <a:t>人工智能与自动化学院实验教学中心</a:t>
            </a:r>
          </a:p>
        </p:txBody>
      </p:sp>
    </p:spTree>
    <p:extLst>
      <p:ext uri="{BB962C8B-B14F-4D97-AF65-F5344CB8AC3E}">
        <p14:creationId xmlns:p14="http://schemas.microsoft.com/office/powerpoint/2010/main" val="300695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7283E-AAF9-5032-28FA-AF74E2CF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实验目的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C2ED04-A17A-E6CC-CC2D-AEF30B7CE0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理解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MOSFET</a:t>
            </a:r>
            <a:r>
              <a:rPr lang="zh-CN" altLang="en-US" sz="24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等电子电子</a:t>
            </a:r>
            <a:r>
              <a:rPr lang="zh-CN" altLang="zh-CN" sz="24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器件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对驱动与保护电路的要求。</a:t>
            </a:r>
          </a:p>
          <a:p>
            <a:pPr lvl="1"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熟悉自关断器件的驱动与保护电路的结构及特点。</a:t>
            </a:r>
          </a:p>
          <a:p>
            <a:pPr lvl="1" algn="just"/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掌握由自关断器件构成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PWM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直流斩波电路原理与方法。</a:t>
            </a:r>
          </a:p>
          <a:p>
            <a:pPr marL="0" lvl="0" indent="0" algn="just"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908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7283E-AAF9-5032-28FA-AF74E2CF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实验原理图</a:t>
            </a:r>
            <a:endParaRPr lang="zh-CN" altLang="en-US" dirty="0"/>
          </a:p>
        </p:txBody>
      </p:sp>
      <p:pic>
        <p:nvPicPr>
          <p:cNvPr id="4" name="图片 3" descr="自关断器件实验原理图">
            <a:extLst>
              <a:ext uri="{FF2B5EF4-FFF2-40B4-BE49-F238E27FC236}">
                <a16:creationId xmlns:a16="http://schemas.microsoft.com/office/drawing/2014/main" id="{46162FDF-B8AF-0160-18D6-6AF2A1084D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643" y="2214694"/>
            <a:ext cx="6356016" cy="34078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70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39DE-0C72-D8F7-3B64-9B7019F7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实验用到的挂件</a:t>
            </a:r>
          </a:p>
        </p:txBody>
      </p:sp>
      <p:pic>
        <p:nvPicPr>
          <p:cNvPr id="7" name="图片 6" descr="图片包含 地图&#10;&#10;描述已自动生成">
            <a:extLst>
              <a:ext uri="{FF2B5EF4-FFF2-40B4-BE49-F238E27FC236}">
                <a16:creationId xmlns:a16="http://schemas.microsoft.com/office/drawing/2014/main" id="{98C07D89-5AE8-9537-80E2-D06E0D1957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5" t="6666" r="9757"/>
          <a:stretch/>
        </p:blipFill>
        <p:spPr>
          <a:xfrm>
            <a:off x="2565068" y="1721922"/>
            <a:ext cx="6359239" cy="49141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65B2AF1-6F69-C65B-58E2-68B62D852703}"/>
                  </a:ext>
                </a:extLst>
              </p14:cNvPr>
              <p14:cNvContentPartPr/>
              <p14:nvPr/>
            </p14:nvContentPartPr>
            <p14:xfrm>
              <a:off x="2533769" y="1833344"/>
              <a:ext cx="595440" cy="3751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65B2AF1-6F69-C65B-58E2-68B62D852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5129" y="1824704"/>
                <a:ext cx="6130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98CA049-4ACD-C839-01B3-08463214EA65}"/>
                  </a:ext>
                </a:extLst>
              </p14:cNvPr>
              <p14:cNvContentPartPr/>
              <p14:nvPr/>
            </p14:nvContentPartPr>
            <p14:xfrm>
              <a:off x="4127489" y="1865024"/>
              <a:ext cx="512280" cy="3092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98CA049-4ACD-C839-01B3-08463214EA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18489" y="1856024"/>
                <a:ext cx="529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696B324-0D77-34CD-8F05-8795D5AC203F}"/>
                  </a:ext>
                </a:extLst>
              </p14:cNvPr>
              <p14:cNvContentPartPr/>
              <p14:nvPr/>
            </p14:nvContentPartPr>
            <p14:xfrm>
              <a:off x="5710409" y="1839824"/>
              <a:ext cx="495000" cy="3286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696B324-0D77-34CD-8F05-8795D5AC20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01409" y="1831184"/>
                <a:ext cx="5126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3F87B2F-1B5C-7D94-7565-120403B2B7C9}"/>
                  </a:ext>
                </a:extLst>
              </p14:cNvPr>
              <p14:cNvContentPartPr/>
              <p14:nvPr/>
            </p14:nvContentPartPr>
            <p14:xfrm>
              <a:off x="9618929" y="2701304"/>
              <a:ext cx="144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3F87B2F-1B5C-7D94-7565-120403B2B7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10289" y="2692664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B328292-115C-A3C5-0ACD-C93BCFD18AD1}"/>
                  </a:ext>
                </a:extLst>
              </p14:cNvPr>
              <p14:cNvContentPartPr/>
              <p14:nvPr/>
            </p14:nvContentPartPr>
            <p14:xfrm>
              <a:off x="5262600" y="322068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B328292-115C-A3C5-0ACD-C93BCFD18A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4960" y="320268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652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5A8CC-C383-4301-0F83-85980898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功率电子器件与负载</a:t>
            </a:r>
          </a:p>
        </p:txBody>
      </p:sp>
      <p:pic>
        <p:nvPicPr>
          <p:cNvPr id="7" name="图片 6" descr="图片包含 游戏机&#10;&#10;描述已自动生成">
            <a:extLst>
              <a:ext uri="{FF2B5EF4-FFF2-40B4-BE49-F238E27FC236}">
                <a16:creationId xmlns:a16="http://schemas.microsoft.com/office/drawing/2014/main" id="{F877299B-3FB5-C9A6-0C2C-7E5A93CB78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0" t="15903" r="11201" b="22498"/>
          <a:stretch/>
        </p:blipFill>
        <p:spPr>
          <a:xfrm>
            <a:off x="340360" y="2443480"/>
            <a:ext cx="4638040" cy="2600960"/>
          </a:xfrm>
          <a:prstGeom prst="rect">
            <a:avLst/>
          </a:prstGeom>
        </p:spPr>
      </p:pic>
      <p:pic>
        <p:nvPicPr>
          <p:cNvPr id="9" name="图片 8" descr="图片包含 室内, 小, 绿色, 显示器&#10;&#10;描述已自动生成">
            <a:extLst>
              <a:ext uri="{FF2B5EF4-FFF2-40B4-BE49-F238E27FC236}">
                <a16:creationId xmlns:a16="http://schemas.microsoft.com/office/drawing/2014/main" id="{2BD11959-67C1-05CD-16CC-16E1C2C5E81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6" r="16285"/>
          <a:stretch/>
        </p:blipFill>
        <p:spPr>
          <a:xfrm>
            <a:off x="6212840" y="2214694"/>
            <a:ext cx="3977640" cy="32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 descr="自关断器件实验原理图">
            <a:extLst>
              <a:ext uri="{FF2B5EF4-FFF2-40B4-BE49-F238E27FC236}">
                <a16:creationId xmlns:a16="http://schemas.microsoft.com/office/drawing/2014/main" id="{461F70CA-20EB-277C-446B-654FF03599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8057" y="1669855"/>
            <a:ext cx="6299887" cy="3379591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5ED6C3-5D7A-0B41-5044-515AD447E8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4389746" cy="167150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接线原则：</a:t>
            </a:r>
            <a:endParaRPr lang="en-US" altLang="zh-CN" sz="1800" dirty="0"/>
          </a:p>
          <a:p>
            <a:r>
              <a:rPr lang="en-US" altLang="zh-CN" sz="1800" dirty="0"/>
              <a:t>1. </a:t>
            </a:r>
            <a:r>
              <a:rPr lang="zh-CN" altLang="en-US" sz="1800" dirty="0"/>
              <a:t>先接控制回路，对控制回路进行调试；</a:t>
            </a:r>
            <a:endParaRPr lang="en-US" altLang="zh-CN" sz="1800" dirty="0"/>
          </a:p>
          <a:p>
            <a:r>
              <a:rPr lang="en-US" altLang="zh-CN" sz="1800" dirty="0"/>
              <a:t>2.</a:t>
            </a:r>
            <a:r>
              <a:rPr lang="zh-CN" altLang="en-US" sz="1800" dirty="0"/>
              <a:t>接主回路，检查接线</a:t>
            </a:r>
            <a:r>
              <a:rPr lang="en-US" altLang="zh-CN" sz="1800"/>
              <a:t>;</a:t>
            </a:r>
            <a:endParaRPr lang="en-US" altLang="zh-CN" sz="18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8421EF3-25FB-560A-4C30-8BFE00F8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zh-CN" altLang="en-US"/>
              <a:t>实验接线</a:t>
            </a:r>
          </a:p>
        </p:txBody>
      </p:sp>
    </p:spTree>
    <p:extLst>
      <p:ext uri="{BB962C8B-B14F-4D97-AF65-F5344CB8AC3E}">
        <p14:creationId xmlns:p14="http://schemas.microsoft.com/office/powerpoint/2010/main" val="283971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9FD29-0DFB-08E8-E0E9-FD55FA75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实验接线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B84A6E-79F6-03A3-549E-78901535AE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4" r="2781" b="7532"/>
          <a:stretch/>
        </p:blipFill>
        <p:spPr>
          <a:xfrm>
            <a:off x="1220509" y="2112754"/>
            <a:ext cx="8879455" cy="412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6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4D136-34F9-26D4-5552-9290682E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数据采集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1B73541-4D25-3AEE-05F9-D465DDD34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01948"/>
              </p:ext>
            </p:extLst>
          </p:nvPr>
        </p:nvGraphicFramePr>
        <p:xfrm>
          <a:off x="964019" y="2034364"/>
          <a:ext cx="10590026" cy="2760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8658">
                  <a:extLst>
                    <a:ext uri="{9D8B030D-6E8A-4147-A177-3AD203B41FA5}">
                      <a16:colId xmlns:a16="http://schemas.microsoft.com/office/drawing/2014/main" val="1993663986"/>
                    </a:ext>
                  </a:extLst>
                </a:gridCol>
                <a:gridCol w="799716">
                  <a:extLst>
                    <a:ext uri="{9D8B030D-6E8A-4147-A177-3AD203B41FA5}">
                      <a16:colId xmlns:a16="http://schemas.microsoft.com/office/drawing/2014/main" val="2652987423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2204045305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3320614427"/>
                    </a:ext>
                  </a:extLst>
                </a:gridCol>
                <a:gridCol w="799716">
                  <a:extLst>
                    <a:ext uri="{9D8B030D-6E8A-4147-A177-3AD203B41FA5}">
                      <a16:colId xmlns:a16="http://schemas.microsoft.com/office/drawing/2014/main" val="913725746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1653526832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1023767017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2078409568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1668635968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2386276628"/>
                    </a:ext>
                  </a:extLst>
                </a:gridCol>
                <a:gridCol w="801071">
                  <a:extLst>
                    <a:ext uri="{9D8B030D-6E8A-4147-A177-3AD203B41FA5}">
                      <a16:colId xmlns:a16="http://schemas.microsoft.com/office/drawing/2014/main" val="886243466"/>
                    </a:ext>
                  </a:extLst>
                </a:gridCol>
                <a:gridCol w="1023368">
                  <a:extLst>
                    <a:ext uri="{9D8B030D-6E8A-4147-A177-3AD203B41FA5}">
                      <a16:colId xmlns:a16="http://schemas.microsoft.com/office/drawing/2014/main" val="694519005"/>
                    </a:ext>
                  </a:extLst>
                </a:gridCol>
              </a:tblGrid>
              <a:tr h="434753">
                <a:tc gridSpan="4">
                  <a:txBody>
                    <a:bodyPr/>
                    <a:lstStyle/>
                    <a:p>
                      <a:pPr marL="36830" algn="l"/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触发信号频率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(Hz)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36830" algn="l"/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触发信号周期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s)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935405"/>
                  </a:ext>
                </a:extLst>
              </a:tr>
              <a:tr h="607236">
                <a:tc>
                  <a:txBody>
                    <a:bodyPr/>
                    <a:lstStyle/>
                    <a:p>
                      <a:pPr marL="36830" algn="l"/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给定占空比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sym typeface="Symbol" panose="05050102010706020507" pitchFamily="18" charset="2"/>
                        </a:rPr>
                        <a:t>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0.0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10.0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20.0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30.0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40.0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50.0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60.0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70.0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80.0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90.0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100.0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693439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 marL="36830" algn="l"/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直流电源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U</a:t>
                      </a:r>
                      <a:r>
                        <a:rPr lang="en-US" sz="1800" kern="0" baseline="-25000" dirty="0">
                          <a:effectLst/>
                          <a:latin typeface="+mn-ea"/>
                          <a:ea typeface="+mn-ea"/>
                        </a:rPr>
                        <a:t>DC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57905"/>
                  </a:ext>
                </a:extLst>
              </a:tr>
              <a:tr h="637954">
                <a:tc>
                  <a:txBody>
                    <a:bodyPr/>
                    <a:lstStyle/>
                    <a:p>
                      <a:pPr marL="36830" algn="l"/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正脉宽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altLang="zh-CN" sz="1800" kern="0" dirty="0"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94560"/>
                  </a:ext>
                </a:extLst>
              </a:tr>
              <a:tr h="507213">
                <a:tc>
                  <a:txBody>
                    <a:bodyPr/>
                    <a:lstStyle/>
                    <a:p>
                      <a:pPr marL="36830" algn="l"/>
                      <a:r>
                        <a:rPr lang="zh-CN" altLang="en-US" sz="1800" kern="0" dirty="0">
                          <a:effectLst/>
                          <a:latin typeface="+mn-ea"/>
                          <a:ea typeface="+mn-ea"/>
                        </a:rPr>
                        <a:t>负载两端电压</a:t>
                      </a:r>
                      <a:r>
                        <a:rPr lang="en-US" sz="1800" kern="0" dirty="0" err="1">
                          <a:effectLst/>
                          <a:latin typeface="+mn-ea"/>
                          <a:ea typeface="+mn-ea"/>
                        </a:rPr>
                        <a:t>Ua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</a:rPr>
                        <a:t>(V)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/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052835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1686BFD-9631-A996-4945-A456AFDBF504}"/>
              </a:ext>
            </a:extLst>
          </p:cNvPr>
          <p:cNvSpPr txBox="1"/>
          <p:nvPr/>
        </p:nvSpPr>
        <p:spPr>
          <a:xfrm>
            <a:off x="1270660" y="5124202"/>
            <a:ext cx="849944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注意：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/>
              <a:t>1. </a:t>
            </a:r>
            <a:r>
              <a:rPr lang="zh-CN" altLang="en-US" sz="2800" b="1" dirty="0"/>
              <a:t>不要使用示波器自带的测量功能测量周期和脉宽，</a:t>
            </a:r>
            <a:endParaRPr lang="en-US" altLang="zh-CN" sz="2800" b="1" dirty="0"/>
          </a:p>
          <a:p>
            <a:r>
              <a:rPr lang="en-US" altLang="zh-CN" sz="2800" b="1" dirty="0"/>
              <a:t>		</a:t>
            </a:r>
            <a:r>
              <a:rPr lang="zh-CN" altLang="en-US" sz="2800" b="1" dirty="0"/>
              <a:t>必须使用示波器的</a:t>
            </a:r>
            <a:r>
              <a:rPr lang="zh-CN" altLang="en-US" sz="2800" b="1" dirty="0">
                <a:solidFill>
                  <a:srgbClr val="FF0000"/>
                </a:solidFill>
              </a:rPr>
              <a:t>光标功能测量周期和脉宽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b="1" dirty="0"/>
              <a:t>2.</a:t>
            </a:r>
            <a:r>
              <a:rPr lang="zh-CN" altLang="en-US" sz="2800" b="1" dirty="0"/>
              <a:t>正脉宽：</a:t>
            </a:r>
            <a:r>
              <a:rPr lang="en-US" altLang="zh-CN" sz="2800" b="1" dirty="0">
                <a:solidFill>
                  <a:srgbClr val="0070C0"/>
                </a:solidFill>
              </a:rPr>
              <a:t>MOSFET</a:t>
            </a:r>
            <a:r>
              <a:rPr lang="zh-CN" altLang="en-US" sz="2800" b="1" dirty="0">
                <a:solidFill>
                  <a:srgbClr val="0070C0"/>
                </a:solidFill>
              </a:rPr>
              <a:t>驱动电路的输出（</a:t>
            </a:r>
            <a:r>
              <a:rPr lang="en-US" altLang="zh-CN" sz="2800" b="1" dirty="0">
                <a:solidFill>
                  <a:srgbClr val="FF0000"/>
                </a:solidFill>
              </a:rPr>
              <a:t>V</a:t>
            </a:r>
            <a:r>
              <a:rPr lang="en-US" altLang="zh-CN" sz="1600" b="1" dirty="0">
                <a:solidFill>
                  <a:srgbClr val="FF0000"/>
                </a:solidFill>
              </a:rPr>
              <a:t>GS</a:t>
            </a:r>
            <a:r>
              <a:rPr lang="zh-CN" altLang="en-US" sz="2800" b="1" dirty="0">
                <a:solidFill>
                  <a:srgbClr val="0070C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3883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0D5C7-ABAE-8FCE-3B18-F27E9062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波形采集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9F7D832-3E44-59A8-6D6F-6975440F6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084"/>
              </p:ext>
            </p:extLst>
          </p:nvPr>
        </p:nvGraphicFramePr>
        <p:xfrm>
          <a:off x="1135160" y="1983963"/>
          <a:ext cx="10041210" cy="3330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5663">
                  <a:extLst>
                    <a:ext uri="{9D8B030D-6E8A-4147-A177-3AD203B41FA5}">
                      <a16:colId xmlns:a16="http://schemas.microsoft.com/office/drawing/2014/main" val="595525892"/>
                    </a:ext>
                  </a:extLst>
                </a:gridCol>
                <a:gridCol w="3812938">
                  <a:extLst>
                    <a:ext uri="{9D8B030D-6E8A-4147-A177-3AD203B41FA5}">
                      <a16:colId xmlns:a16="http://schemas.microsoft.com/office/drawing/2014/main" val="3137525445"/>
                    </a:ext>
                  </a:extLst>
                </a:gridCol>
                <a:gridCol w="2400635">
                  <a:extLst>
                    <a:ext uri="{9D8B030D-6E8A-4147-A177-3AD203B41FA5}">
                      <a16:colId xmlns:a16="http://schemas.microsoft.com/office/drawing/2014/main" val="2556286163"/>
                    </a:ext>
                  </a:extLst>
                </a:gridCol>
                <a:gridCol w="2401974">
                  <a:extLst>
                    <a:ext uri="{9D8B030D-6E8A-4147-A177-3AD203B41FA5}">
                      <a16:colId xmlns:a16="http://schemas.microsoft.com/office/drawing/2014/main" val="2721906308"/>
                    </a:ext>
                  </a:extLst>
                </a:gridCol>
              </a:tblGrid>
              <a:tr h="621568">
                <a:tc>
                  <a:txBody>
                    <a:bodyPr/>
                    <a:lstStyle/>
                    <a:p>
                      <a:pPr algn="ctr"/>
                      <a:r>
                        <a:rPr lang="zh-CN" sz="2400" kern="0" dirty="0">
                          <a:effectLst/>
                        </a:rPr>
                        <a:t>波形序号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CH1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0" dirty="0">
                          <a:effectLst/>
                        </a:rPr>
                        <a:t>CH2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400" kern="100">
                          <a:effectLst/>
                        </a:rPr>
                        <a:t>备注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59250"/>
                  </a:ext>
                </a:extLst>
              </a:tr>
              <a:tr h="892536">
                <a:tc>
                  <a:txBody>
                    <a:bodyPr/>
                    <a:lstStyle/>
                    <a:p>
                      <a:pPr algn="ctr"/>
                      <a:r>
                        <a:rPr lang="en-US" sz="2400" kern="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MOSFET</a:t>
                      </a:r>
                      <a:r>
                        <a:rPr lang="zh-CN" sz="2400" kern="100" dirty="0">
                          <a:effectLst/>
                        </a:rPr>
                        <a:t>驱动与保护电路输入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MOSFET</a:t>
                      </a:r>
                      <a:r>
                        <a:rPr lang="zh-CN" sz="2400" kern="100" dirty="0">
                          <a:effectLst/>
                        </a:rPr>
                        <a:t>驱动与保护电路输出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00" dirty="0">
                          <a:effectLst/>
                        </a:rPr>
                        <a:t>DJK12</a:t>
                      </a:r>
                      <a:r>
                        <a:rPr lang="zh-CN" sz="2400" kern="100" dirty="0">
                          <a:effectLst/>
                        </a:rPr>
                        <a:t>挂件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998215"/>
                  </a:ext>
                </a:extLst>
              </a:tr>
              <a:tr h="908029">
                <a:tc>
                  <a:txBody>
                    <a:bodyPr/>
                    <a:lstStyle/>
                    <a:p>
                      <a:pPr algn="ctr"/>
                      <a:r>
                        <a:rPr lang="en-US" sz="2400" kern="0" dirty="0">
                          <a:effectLst/>
                        </a:rPr>
                        <a:t>2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2000" kern="1200" baseline="-25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GS</a:t>
                      </a:r>
                      <a:endParaRPr lang="zh-CN" altLang="zh-CN" sz="20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2400" kern="1200" baseline="-25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</a:t>
                      </a:r>
                      <a:endParaRPr lang="zh-CN" altLang="zh-CN" sz="24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DJK07</a:t>
                      </a:r>
                      <a:r>
                        <a:rPr lang="zh-CN" altLang="en-US" sz="24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24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DJK12</a:t>
                      </a:r>
                      <a:endParaRPr lang="zh-CN" sz="2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58385"/>
                  </a:ext>
                </a:extLst>
              </a:tr>
              <a:tr h="908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altLang="zh-CN" sz="2400" kern="100" baseline="-25000" dirty="0">
                          <a:solidFill>
                            <a:srgbClr val="FF0000"/>
                          </a:solidFill>
                          <a:effectLst/>
                        </a:rPr>
                        <a:t>DS</a:t>
                      </a:r>
                      <a:endParaRPr lang="zh-CN" altLang="zh-CN" sz="2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  <a:p>
                      <a:pPr algn="ctr"/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 err="1">
                          <a:solidFill>
                            <a:srgbClr val="FF0000"/>
                          </a:solidFill>
                          <a:effectLst/>
                        </a:rPr>
                        <a:t>Ua</a:t>
                      </a:r>
                      <a:endParaRPr lang="zh-CN" altLang="zh-CN" sz="2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  <a:p>
                      <a:pPr algn="ctr"/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DJK07</a:t>
                      </a:r>
                      <a:r>
                        <a:rPr lang="zh-CN" alt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和</a:t>
                      </a:r>
                      <a:r>
                        <a:rPr lang="en-US" alt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DJK06</a:t>
                      </a:r>
                      <a:endParaRPr lang="zh-CN" altLang="zh-CN" sz="2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  <a:p>
                      <a:pPr algn="ctr"/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2392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F29E837-3AB4-FA2A-D003-0FBCFC46324B}"/>
              </a:ext>
            </a:extLst>
          </p:cNvPr>
          <p:cNvSpPr txBox="1"/>
          <p:nvPr/>
        </p:nvSpPr>
        <p:spPr>
          <a:xfrm>
            <a:off x="2341913" y="5997440"/>
            <a:ext cx="6986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注意：只需要记录占空比为</a:t>
            </a:r>
            <a:r>
              <a:rPr lang="en-US" altLang="zh-CN" sz="2800" b="1" dirty="0">
                <a:solidFill>
                  <a:srgbClr val="FF0000"/>
                </a:solidFill>
              </a:rPr>
              <a:t>50%</a:t>
            </a:r>
            <a:r>
              <a:rPr lang="zh-CN" altLang="en-US" sz="2800" b="1" dirty="0">
                <a:solidFill>
                  <a:srgbClr val="FF0000"/>
                </a:solidFill>
              </a:rPr>
              <a:t>时的波形图</a:t>
            </a:r>
          </a:p>
        </p:txBody>
      </p:sp>
    </p:spTree>
    <p:extLst>
      <p:ext uri="{BB962C8B-B14F-4D97-AF65-F5344CB8AC3E}">
        <p14:creationId xmlns:p14="http://schemas.microsoft.com/office/powerpoint/2010/main" val="2192733310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3000</TotalTime>
  <Words>279</Words>
  <Application>Microsoft Office PowerPoint</Application>
  <PresentationFormat>宽屏</PresentationFormat>
  <Paragraphs>91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Arial</vt:lpstr>
      <vt:lpstr>Times New Roman</vt:lpstr>
      <vt:lpstr>Tw Cen MT</vt:lpstr>
      <vt:lpstr>水滴</vt:lpstr>
      <vt:lpstr>GTO、MOSFET、GTR、IGBT驱动与保护电路实验</vt:lpstr>
      <vt:lpstr>实验目的</vt:lpstr>
      <vt:lpstr>实验原理图</vt:lpstr>
      <vt:lpstr>实验用到的挂件</vt:lpstr>
      <vt:lpstr>功率电子器件与负载</vt:lpstr>
      <vt:lpstr>实验接线</vt:lpstr>
      <vt:lpstr>实验接线</vt:lpstr>
      <vt:lpstr>数据采集</vt:lpstr>
      <vt:lpstr>波形采集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功率电子与运动控制技术实验</dc:title>
  <dc:creator>zhang zhixiong</dc:creator>
  <cp:lastModifiedBy>zhixiong zhang</cp:lastModifiedBy>
  <cp:revision>66</cp:revision>
  <dcterms:created xsi:type="dcterms:W3CDTF">2023-03-14T02:14:08Z</dcterms:created>
  <dcterms:modified xsi:type="dcterms:W3CDTF">2025-04-19T08:04:47Z</dcterms:modified>
</cp:coreProperties>
</file>
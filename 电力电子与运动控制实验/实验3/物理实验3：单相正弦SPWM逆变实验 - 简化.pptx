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745" r:id="rId2"/>
    <p:sldMasterId id="2147483749" r:id="rId3"/>
  </p:sldMasterIdLst>
  <p:notesMasterIdLst>
    <p:notesMasterId r:id="rId26"/>
  </p:notesMasterIdLst>
  <p:sldIdLst>
    <p:sldId id="256" r:id="rId4"/>
    <p:sldId id="259" r:id="rId5"/>
    <p:sldId id="260" r:id="rId6"/>
    <p:sldId id="295" r:id="rId7"/>
    <p:sldId id="261" r:id="rId8"/>
    <p:sldId id="267" r:id="rId9"/>
    <p:sldId id="281" r:id="rId10"/>
    <p:sldId id="285" r:id="rId11"/>
    <p:sldId id="286" r:id="rId12"/>
    <p:sldId id="280" r:id="rId13"/>
    <p:sldId id="287" r:id="rId14"/>
    <p:sldId id="284" r:id="rId15"/>
    <p:sldId id="282" r:id="rId16"/>
    <p:sldId id="283" r:id="rId17"/>
    <p:sldId id="288" r:id="rId18"/>
    <p:sldId id="289" r:id="rId19"/>
    <p:sldId id="290" r:id="rId20"/>
    <p:sldId id="296" r:id="rId21"/>
    <p:sldId id="297" r:id="rId22"/>
    <p:sldId id="293" r:id="rId23"/>
    <p:sldId id="294" r:id="rId24"/>
    <p:sldId id="266" r:id="rId25"/>
  </p:sldIdLst>
  <p:sldSz cx="12192000" cy="6858000"/>
  <p:notesSz cx="6797675" cy="9929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4472C4"/>
    <a:srgbClr val="02549D"/>
    <a:srgbClr val="5B9FD6"/>
    <a:srgbClr val="E1E3EB"/>
    <a:srgbClr val="EDEDED"/>
    <a:srgbClr val="B2D0E0"/>
    <a:srgbClr val="0A71A2"/>
    <a:srgbClr val="0D6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45" autoAdjust="0"/>
    <p:restoredTop sz="95632" autoAdjust="0"/>
  </p:normalViewPr>
  <p:slideViewPr>
    <p:cSldViewPr snapToGrid="0" snapToObjects="1">
      <p:cViewPr varScale="1">
        <p:scale>
          <a:sx n="159" d="100"/>
          <a:sy n="159" d="100"/>
        </p:scale>
        <p:origin x="2538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0F3D6-8031-0448-83D7-1F1EC5CCDDA1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01FB4-B881-9B4E-82B2-055B631498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3291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4672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6291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3199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9859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4651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1709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8188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3363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519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1713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79129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6187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875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8628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2979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1571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5880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4536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87106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3446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01FB4-B881-9B4E-82B2-055B6314980F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673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7829-437F-498D-871A-7A04965DB337}" type="datetimeFigureOut">
              <a:rPr lang="zh-CN" altLang="en-US" smtClean="0"/>
              <a:pPr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932DB-E74B-4220-B36E-10ACE5ABAF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4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nd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19"/>
          <p:cNvSpPr/>
          <p:nvPr userDrawn="1"/>
        </p:nvSpPr>
        <p:spPr>
          <a:xfrm>
            <a:off x="0" y="840105"/>
            <a:ext cx="12191365" cy="123190"/>
          </a:xfrm>
          <a:prstGeom prst="homePlate">
            <a:avLst>
              <a:gd name="adj" fmla="val 69636"/>
            </a:avLst>
          </a:prstGeom>
          <a:gradFill>
            <a:gsLst>
              <a:gs pos="26000">
                <a:srgbClr val="004077"/>
              </a:gs>
              <a:gs pos="50000">
                <a:srgbClr val="03518B">
                  <a:alpha val="41000"/>
                </a:srgbClr>
              </a:gs>
              <a:gs pos="100000">
                <a:srgbClr val="034373">
                  <a:alpha val="0"/>
                </a:srgbClr>
              </a:gs>
            </a:gsLst>
            <a:lin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66675" y="70538"/>
            <a:ext cx="4241800" cy="663311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832817" y="56296"/>
            <a:ext cx="3114805" cy="67755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五边形 19"/>
          <p:cNvSpPr/>
          <p:nvPr userDrawn="1"/>
        </p:nvSpPr>
        <p:spPr>
          <a:xfrm>
            <a:off x="0" y="132080"/>
            <a:ext cx="6255385" cy="601980"/>
          </a:xfrm>
          <a:prstGeom prst="homePlate">
            <a:avLst/>
          </a:prstGeom>
          <a:solidFill>
            <a:srgbClr val="004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2" name="Date Placeholder 3"/>
          <p:cNvSpPr>
            <a:spLocks noGrp="1"/>
          </p:cNvSpPr>
          <p:nvPr userDrawn="1"/>
        </p:nvSpPr>
        <p:spPr>
          <a:xfrm>
            <a:off x="838200" y="6438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481244-19CB-464F-9B2F-CF92BC5AEA7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2026/5/12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Slide Number Placeholder 5"/>
          <p:cNvSpPr>
            <a:spLocks noGrp="1"/>
          </p:cNvSpPr>
          <p:nvPr userDrawn="1"/>
        </p:nvSpPr>
        <p:spPr>
          <a:xfrm>
            <a:off x="8957945" y="643890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0BEC8D-3DF7-4615-B475-275FB0E56B9E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59800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4716463"/>
          </a:xfrm>
          <a:prstGeom prst="rect">
            <a:avLst/>
          </a:prstGeom>
        </p:spPr>
        <p:txBody>
          <a:bodyPr/>
          <a:lstStyle>
            <a:lvl1pPr algn="just">
              <a:spcAft>
                <a:spcPts val="600"/>
              </a:spcAft>
              <a:defRPr sz="32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809625" indent="-352425" algn="just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u"/>
              <a:defRPr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defRPr>
            </a:lvl2pPr>
            <a:lvl3pPr algn="just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85927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438" y="161925"/>
            <a:ext cx="8589962" cy="6445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00056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554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7625ADF9-D0FD-4D35-8E3C-6BF40B69A9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463"/>
            <a:ext cx="121920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F:\My Pictures\HUST\Logo\xiaohui.png">
            <a:extLst>
              <a:ext uri="{FF2B5EF4-FFF2-40B4-BE49-F238E27FC236}">
                <a16:creationId xmlns:a16="http://schemas.microsoft.com/office/drawing/2014/main" id="{F25A08F4-9A19-4216-8D5F-D37D2087CD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44450"/>
            <a:ext cx="99853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直接连接符 7">
            <a:extLst>
              <a:ext uri="{FF2B5EF4-FFF2-40B4-BE49-F238E27FC236}">
                <a16:creationId xmlns:a16="http://schemas.microsoft.com/office/drawing/2014/main" id="{6E2412FF-D624-45FE-899E-27CDF0110F9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8738" y="801688"/>
            <a:ext cx="12120562" cy="7937"/>
          </a:xfrm>
          <a:prstGeom prst="line">
            <a:avLst/>
          </a:prstGeom>
          <a:noFill/>
          <a:ln w="19050">
            <a:solidFill>
              <a:srgbClr val="247BA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66E8A48-747E-4B74-8DFF-DF39D789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A1E01-AF98-49D6-9594-4D33541B4013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92378BB-F0D8-413A-A198-60DE46C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ADCA48E-6342-4F4A-AE28-61ABFE49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D142C-2072-4089-B858-B0D054FD56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02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AB3F2-F5F4-E844-90C1-0DFE494806CB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E91E2-8A49-7046-B288-64E97E6A50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67829-437F-498D-871A-7A04965DB337}" type="datetimeFigureOut">
              <a:rPr lang="zh-CN" altLang="en-US" smtClean="0"/>
              <a:pPr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932DB-E74B-4220-B36E-10ACE5ABAF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85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>
            <a:extLst>
              <a:ext uri="{FF2B5EF4-FFF2-40B4-BE49-F238E27FC236}">
                <a16:creationId xmlns:a16="http://schemas.microsoft.com/office/drawing/2014/main" id="{59846AB7-473B-4761-B5EE-2190260E3E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463"/>
            <a:ext cx="121920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 descr="F:\My Pictures\HUST\Logo\xiaohui.png">
            <a:extLst>
              <a:ext uri="{FF2B5EF4-FFF2-40B4-BE49-F238E27FC236}">
                <a16:creationId xmlns:a16="http://schemas.microsoft.com/office/drawing/2014/main" id="{9D1A0549-4B57-4B05-B847-8F5759D568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44450"/>
            <a:ext cx="99853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直接连接符 7">
            <a:extLst>
              <a:ext uri="{FF2B5EF4-FFF2-40B4-BE49-F238E27FC236}">
                <a16:creationId xmlns:a16="http://schemas.microsoft.com/office/drawing/2014/main" id="{36692F49-B254-40A1-B8EE-29A132B0F8D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8738" y="801688"/>
            <a:ext cx="12120562" cy="7937"/>
          </a:xfrm>
          <a:prstGeom prst="line">
            <a:avLst/>
          </a:prstGeom>
          <a:noFill/>
          <a:ln w="19050">
            <a:solidFill>
              <a:srgbClr val="247BA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8" name="日期占位符 3">
            <a:extLst>
              <a:ext uri="{FF2B5EF4-FFF2-40B4-BE49-F238E27FC236}">
                <a16:creationId xmlns:a16="http://schemas.microsoft.com/office/drawing/2014/main" id="{B2723CF9-AC4F-4F31-A15A-39E9E2497499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C55A1E01-AF98-49D6-9594-4D33541B401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等线" panose="020F0502020204030204"/>
                <a:ea typeface="等线" panose="02010600030101010101" pitchFamily="2" charset="-122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2026/5/12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9" name="页脚占位符 4">
            <a:extLst>
              <a:ext uri="{FF2B5EF4-FFF2-40B4-BE49-F238E27FC236}">
                <a16:creationId xmlns:a16="http://schemas.microsoft.com/office/drawing/2014/main" id="{640EEB0B-3B1B-493A-BD70-5846A30413C9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0EABF66A-7D98-4E27-8406-1A7BC86468B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3FED142C-2072-4089-B858-B0D054FD569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等线" panose="020F0502020204030204"/>
                <a:ea typeface="等线" panose="02010600030101010101" pitchFamily="2" charset="-122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074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zh-CN" sz="32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35000"/>
        </a:lnSpc>
        <a:spcBef>
          <a:spcPct val="0"/>
        </a:spcBef>
        <a:spcAft>
          <a:spcPct val="0"/>
        </a:spcAft>
        <a:buClr>
          <a:srgbClr val="00B050"/>
        </a:buClr>
        <a:buFont typeface="Wingdings" panose="05000000000000000000" pitchFamily="2" charset="2"/>
        <a:buChar char="n"/>
        <a:defRPr lang="zh-CN" sz="32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Times New Roman" panose="02020603050405020304" pitchFamily="18" charset="0"/>
        </a:defRPr>
      </a:lvl1pPr>
      <a:lvl2pPr marL="809625" indent="-352425" algn="l" rtl="0" eaLnBrk="0" fontAlgn="base" hangingPunct="0">
        <a:lnSpc>
          <a:spcPct val="135000"/>
        </a:lnSpc>
        <a:spcBef>
          <a:spcPct val="0"/>
        </a:spcBef>
        <a:spcAft>
          <a:spcPct val="0"/>
        </a:spcAft>
        <a:buClr>
          <a:srgbClr val="00B050"/>
        </a:buClr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marL="1143000" indent="-228600" algn="l" rtl="0" eaLnBrk="0" fontAlgn="base" hangingPunct="0">
        <a:lnSpc>
          <a:spcPct val="135000"/>
        </a:lnSpc>
        <a:spcBef>
          <a:spcPct val="0"/>
        </a:spcBef>
        <a:spcAft>
          <a:spcPct val="0"/>
        </a:spcAft>
        <a:buClr>
          <a:srgbClr val="00B050"/>
        </a:buClr>
        <a:buFont typeface="Wingdings" panose="05000000000000000000" pitchFamily="2" charset="2"/>
        <a:buChar char="ü"/>
        <a:defRPr sz="16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0" fontAlgn="base" hangingPunct="0">
        <a:lnSpc>
          <a:spcPct val="135000"/>
        </a:lnSpc>
        <a:spcBef>
          <a:spcPct val="0"/>
        </a:spcBef>
        <a:spcAft>
          <a:spcPct val="0"/>
        </a:spcAft>
        <a:buClr>
          <a:srgbClr val="00B050"/>
        </a:buClr>
        <a:buChar char="–"/>
        <a:defRPr sz="1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4.jpeg"/><Relationship Id="rId7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11" Type="http://schemas.openxmlformats.org/officeDocument/2006/relationships/slide" Target="slide21.xml"/><Relationship Id="rId5" Type="http://schemas.microsoft.com/office/2007/relationships/hdphoto" Target="../media/hdphoto1.wdp"/><Relationship Id="rId10" Type="http://schemas.openxmlformats.org/officeDocument/2006/relationships/slide" Target="slide17.xml"/><Relationship Id="rId4" Type="http://schemas.openxmlformats.org/officeDocument/2006/relationships/image" Target="../media/image5.png"/><Relationship Id="rId9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4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jpe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2.png"/><Relationship Id="rId5" Type="http://schemas.microsoft.com/office/2007/relationships/hdphoto" Target="../media/hdphoto1.wdp"/><Relationship Id="rId10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jpeg"/><Relationship Id="rId7" Type="http://schemas.openxmlformats.org/officeDocument/2006/relationships/image" Target="../media/image2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0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1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B4E22654-9114-1783-8CD4-E72914242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599" y="1106152"/>
            <a:ext cx="7924799" cy="178510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4400" b="1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itchFamily="18" charset="0"/>
                <a:sym typeface="+mn-ea"/>
              </a:rPr>
              <a:t>物理实验</a:t>
            </a:r>
            <a:r>
              <a:rPr lang="en-US" altLang="zh-CN" sz="4400" b="1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itchFamily="18" charset="0"/>
                <a:sym typeface="+mn-ea"/>
              </a:rPr>
              <a:t>3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4400" b="1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itchFamily="18" charset="0"/>
                <a:sym typeface="+mn-ea"/>
              </a:rPr>
              <a:t>单相正弦</a:t>
            </a:r>
            <a:r>
              <a:rPr lang="en-US" altLang="zh-CN" sz="4400" b="1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itchFamily="18" charset="0"/>
                <a:sym typeface="+mn-ea"/>
              </a:rPr>
              <a:t>SPWM</a:t>
            </a:r>
            <a:r>
              <a:rPr lang="zh-CN" altLang="en-US" sz="4400" b="1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itchFamily="18" charset="0"/>
                <a:sym typeface="+mn-ea"/>
              </a:rPr>
              <a:t>逆变实验</a:t>
            </a:r>
            <a:endParaRPr lang="en-US" altLang="zh-CN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Professional Template for PowerPoint 2007, 2010, 2013, 2016, 365 or new. Ideal solution for making report, plan, presentation.">
            <a:extLst>
              <a:ext uri="{FF2B5EF4-FFF2-40B4-BE49-F238E27FC236}">
                <a16:creationId xmlns:a16="http://schemas.microsoft.com/office/drawing/2014/main" id="{E0FDDFC3-87E4-F8D6-A157-DF24A64DB22B}"/>
              </a:ext>
            </a:extLst>
          </p:cNvPr>
          <p:cNvSpPr txBox="1"/>
          <p:nvPr/>
        </p:nvSpPr>
        <p:spPr>
          <a:xfrm>
            <a:off x="2311399" y="3885505"/>
            <a:ext cx="4091729" cy="56374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 algn="l">
              <a:lnSpc>
                <a:spcPct val="120000"/>
              </a:lnSpc>
              <a:defRPr sz="2600" b="0">
                <a:solidFill>
                  <a:srgbClr val="5B689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制作人：张智雄</a:t>
            </a:r>
            <a:endParaRPr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Professional Template for PowerPoint 2007, 2010, 2013, 2016, 365 or new. Ideal solution for making report, plan, presentation.">
            <a:extLst>
              <a:ext uri="{FF2B5EF4-FFF2-40B4-BE49-F238E27FC236}">
                <a16:creationId xmlns:a16="http://schemas.microsoft.com/office/drawing/2014/main" id="{6867E469-057B-58C6-5A92-6493371A3F8F}"/>
              </a:ext>
            </a:extLst>
          </p:cNvPr>
          <p:cNvSpPr txBox="1"/>
          <p:nvPr/>
        </p:nvSpPr>
        <p:spPr>
          <a:xfrm>
            <a:off x="7390309" y="3840634"/>
            <a:ext cx="4091729" cy="111024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 algn="l">
              <a:lnSpc>
                <a:spcPct val="120000"/>
              </a:lnSpc>
              <a:defRPr sz="2600" b="0">
                <a:solidFill>
                  <a:srgbClr val="5B689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人工智能与自动化学院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实验教学中心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fld id="{7D74573A-8C51-4AB3-BB16-90D89DD3C1E5}" type="datetime2">
              <a:rPr lang="zh-CN" altLang="en-US" sz="2000" b="1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2026年5月12日</a:t>
            </a:fld>
            <a:endParaRPr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5129">
            <a:extLst>
              <a:ext uri="{FF2B5EF4-FFF2-40B4-BE49-F238E27FC236}">
                <a16:creationId xmlns:a16="http://schemas.microsoft.com/office/drawing/2014/main" id="{823068F4-13BD-387D-0373-A48050C75B7D}"/>
              </a:ext>
            </a:extLst>
          </p:cNvPr>
          <p:cNvSpPr txBox="1">
            <a:spLocks noChangeArrowheads="1"/>
          </p:cNvSpPr>
          <p:nvPr/>
        </p:nvSpPr>
        <p:spPr>
          <a:xfrm>
            <a:off x="3604974" y="764704"/>
            <a:ext cx="4459292" cy="46578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实验安全要求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1776" y="1451282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标题 5129">
            <a:extLst>
              <a:ext uri="{FF2B5EF4-FFF2-40B4-BE49-F238E27FC236}">
                <a16:creationId xmlns:a16="http://schemas.microsoft.com/office/drawing/2014/main" id="{BB0060E0-8506-2418-6330-8A1EE84C8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2225382"/>
            <a:ext cx="4632330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实验方案设计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标题 5129">
            <a:extLst>
              <a:ext uri="{FF2B5EF4-FFF2-40B4-BE49-F238E27FC236}">
                <a16:creationId xmlns:a16="http://schemas.microsoft.com/office/drawing/2014/main" id="{5D856288-976C-0788-FF7B-9077F7184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3006115"/>
            <a:ext cx="4530729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实验波形记录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标题 5129">
            <a:extLst>
              <a:ext uri="{FF2B5EF4-FFF2-40B4-BE49-F238E27FC236}">
                <a16:creationId xmlns:a16="http://schemas.microsoft.com/office/drawing/2014/main" id="{0EA4DBA2-C2F7-57C9-841C-EFA42259C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3784642"/>
            <a:ext cx="4530729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五、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实验数据记录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标题 5129">
            <a:extLst>
              <a:ext uri="{FF2B5EF4-FFF2-40B4-BE49-F238E27FC236}">
                <a16:creationId xmlns:a16="http://schemas.microsoft.com/office/drawing/2014/main" id="{B756F498-14E2-4C8F-5E21-9ACF7F09C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5773" y="4565375"/>
            <a:ext cx="4530729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六、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实验思考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487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5129">
            <a:extLst>
              <a:ext uri="{FF2B5EF4-FFF2-40B4-BE49-F238E27FC236}">
                <a16:creationId xmlns:a16="http://schemas.microsoft.com/office/drawing/2014/main" id="{823068F4-13BD-387D-0373-A48050C75B7D}"/>
              </a:ext>
            </a:extLst>
          </p:cNvPr>
          <p:cNvSpPr txBox="1">
            <a:spLocks noChangeArrowheads="1"/>
          </p:cNvSpPr>
          <p:nvPr/>
        </p:nvSpPr>
        <p:spPr>
          <a:xfrm>
            <a:off x="3604974" y="452652"/>
            <a:ext cx="4459292" cy="46578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一、实验安全要求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DD20D6-8CDD-9DF8-8982-24337F896A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4974" y="1282139"/>
            <a:ext cx="3094389" cy="46752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0355473-965C-6800-736F-33062430B8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4473" y="1282139"/>
            <a:ext cx="3094390" cy="467527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B3C165A-778A-A752-3239-EEFF831012A9}"/>
              </a:ext>
            </a:extLst>
          </p:cNvPr>
          <p:cNvSpPr/>
          <p:nvPr/>
        </p:nvSpPr>
        <p:spPr>
          <a:xfrm>
            <a:off x="1214727" y="2061109"/>
            <a:ext cx="1354217" cy="2309999"/>
          </a:xfrm>
          <a:prstGeom prst="rect">
            <a:avLst/>
          </a:prstGeom>
          <a:noFill/>
          <a:ln w="76200">
            <a:solidFill>
              <a:srgbClr val="FF00FF"/>
            </a:solidFill>
            <a:miter/>
          </a:ln>
        </p:spPr>
        <p:txBody>
          <a:bodyPr vert="eaVert" wrap="square" anchor="ctr">
            <a:spAutoFit/>
          </a:bodyPr>
          <a:lstStyle/>
          <a:p>
            <a:pPr lvl="0" algn="just"/>
            <a:r>
              <a:rPr lang="zh-CN" altLang="en-US" sz="3200" b="1" kern="100" dirty="0">
                <a:solidFill>
                  <a:srgbClr val="0000FF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道路千万条安全第一条</a:t>
            </a:r>
            <a:endParaRPr lang="zh-CN" altLang="zh-CN" sz="3200" b="1" kern="100" dirty="0">
              <a:solidFill>
                <a:srgbClr val="0000FF"/>
              </a:solidFill>
              <a:effectLst/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lvl="1"/>
            <a:endParaRPr lang="zh-CN" altLang="en-US" sz="1200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898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5129">
            <a:extLst>
              <a:ext uri="{FF2B5EF4-FFF2-40B4-BE49-F238E27FC236}">
                <a16:creationId xmlns:a16="http://schemas.microsoft.com/office/drawing/2014/main" id="{823068F4-13BD-387D-0373-A48050C75B7D}"/>
              </a:ext>
            </a:extLst>
          </p:cNvPr>
          <p:cNvSpPr txBox="1">
            <a:spLocks noChangeArrowheads="1"/>
          </p:cNvSpPr>
          <p:nvPr/>
        </p:nvSpPr>
        <p:spPr>
          <a:xfrm>
            <a:off x="3604974" y="452652"/>
            <a:ext cx="4459292" cy="46578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一、实验安全要求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C1484C-728D-BC9F-580A-56F77A2CBD84}"/>
              </a:ext>
            </a:extLst>
          </p:cNvPr>
          <p:cNvSpPr/>
          <p:nvPr/>
        </p:nvSpPr>
        <p:spPr>
          <a:xfrm>
            <a:off x="568036" y="1481354"/>
            <a:ext cx="4459292" cy="3231654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solidFill>
                  <a:srgbClr val="002060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</a:rPr>
              <a:t>严格遵守</a:t>
            </a:r>
            <a:r>
              <a:rPr lang="en-US" altLang="zh-CN" sz="2400" kern="100" dirty="0">
                <a:solidFill>
                  <a:srgbClr val="002060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</a:rPr>
              <a:t>《</a:t>
            </a:r>
            <a:r>
              <a:rPr lang="zh-CN" altLang="en-US" sz="2400" kern="100" dirty="0">
                <a:solidFill>
                  <a:srgbClr val="002060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</a:rPr>
              <a:t>实验安全操作规程</a:t>
            </a:r>
            <a:r>
              <a:rPr lang="en-US" altLang="zh-CN" sz="2400" kern="100" dirty="0">
                <a:solidFill>
                  <a:srgbClr val="002060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</a:rPr>
              <a:t>》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强电实验接线</a:t>
            </a:r>
            <a:r>
              <a:rPr lang="zh-CN" altLang="en-US" sz="2400" kern="100" dirty="0">
                <a:solidFill>
                  <a:srgbClr val="002060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</a:rPr>
              <a:t>规定</a:t>
            </a:r>
            <a:endParaRPr lang="zh-CN" altLang="zh-CN" sz="2400" kern="100" dirty="0">
              <a:solidFill>
                <a:srgbClr val="002060"/>
              </a:solidFill>
              <a:effectLst/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前提条件：</a:t>
            </a:r>
            <a:r>
              <a:rPr lang="zh-CN" altLang="en-US" sz="2400" kern="100" dirty="0">
                <a:solidFill>
                  <a:srgbClr val="FF0000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</a:rPr>
              <a:t>断开强电电源开关</a:t>
            </a:r>
            <a:r>
              <a:rPr lang="zh-CN" altLang="zh-CN" sz="24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实验电路接线；</a:t>
            </a:r>
            <a:endParaRPr lang="en-US" altLang="zh-CN" sz="2400" kern="1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万用表测量接线</a:t>
            </a:r>
            <a:r>
              <a:rPr lang="zh-CN" altLang="zh-CN" sz="2400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400" kern="1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示波器信号测量接线；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endParaRPr lang="zh-CN" altLang="en-US" sz="1200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13DC0C-C2C7-8B33-F566-AB98432E372C}"/>
              </a:ext>
            </a:extLst>
          </p:cNvPr>
          <p:cNvSpPr/>
          <p:nvPr/>
        </p:nvSpPr>
        <p:spPr>
          <a:xfrm>
            <a:off x="5992090" y="1355268"/>
            <a:ext cx="4459292" cy="3693319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b="1" kern="100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电源</a:t>
            </a:r>
            <a:r>
              <a:rPr lang="zh-CN" altLang="en-US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开关顺序</a:t>
            </a:r>
            <a:r>
              <a:rPr lang="zh-CN" altLang="en-US" kern="100" dirty="0">
                <a:solidFill>
                  <a:srgbClr val="002060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</a:rPr>
              <a:t>规定</a:t>
            </a:r>
            <a:endParaRPr lang="zh-CN" altLang="zh-CN" kern="100" dirty="0">
              <a:solidFill>
                <a:srgbClr val="002060"/>
              </a:solidFill>
              <a:effectLst/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rgbClr val="00B05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上电过程</a:t>
            </a:r>
            <a:r>
              <a:rPr lang="zh-CN" altLang="en-US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</a:rPr>
              <a:t> 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先将调压器回‘零’且将可变电阻调至最大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kern="100" dirty="0">
                <a:solidFill>
                  <a:srgbClr val="00B0F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先闭合控制电源开关，再闭合强电电源；</a:t>
            </a:r>
            <a:endParaRPr lang="en-US" altLang="zh-CN" kern="100" dirty="0">
              <a:solidFill>
                <a:srgbClr val="00B0F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rgbClr val="00B05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关闭电源</a:t>
            </a:r>
            <a:r>
              <a:rPr lang="zh-CN" altLang="en-US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华文琥珀" panose="02010800040101010101" pitchFamily="2" charset="-122"/>
                <a:ea typeface="华文琥珀" panose="02010800040101010101" pitchFamily="2" charset="-122"/>
              </a:rPr>
              <a:t> 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先将调压器回‘零’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先断开强电电源，再断开控制电源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rgbClr val="92D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示波器信号测量接线规定</a:t>
            </a:r>
            <a:endParaRPr lang="zh-CN" altLang="zh-CN" kern="100" dirty="0">
              <a:solidFill>
                <a:srgbClr val="92D05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采用双踪示波器测量信号波形时，只能接</a:t>
            </a:r>
            <a:r>
              <a:rPr lang="zh-CN" altLang="en-US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同一个零电压参考点。</a:t>
            </a:r>
            <a:endParaRPr lang="en-US" altLang="zh-CN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当且仅当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需要测量的两个信号分别在两个独立系统</a:t>
            </a:r>
            <a:r>
              <a:rPr lang="en-US" altLang="zh-CN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两个系统之间没有电气连接</a:t>
            </a:r>
            <a:r>
              <a:rPr lang="en-US" altLang="zh-CN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时，才能接各自的零电压参考点。</a:t>
            </a:r>
          </a:p>
        </p:txBody>
      </p:sp>
    </p:spTree>
    <p:extLst>
      <p:ext uri="{BB962C8B-B14F-4D97-AF65-F5344CB8AC3E}">
        <p14:creationId xmlns:p14="http://schemas.microsoft.com/office/powerpoint/2010/main" val="242177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FB5417-C9CD-9F27-CC7D-1DDFECB1D956}"/>
              </a:ext>
            </a:extLst>
          </p:cNvPr>
          <p:cNvSpPr/>
          <p:nvPr/>
        </p:nvSpPr>
        <p:spPr>
          <a:xfrm>
            <a:off x="982596" y="1354662"/>
            <a:ext cx="9938941" cy="3869329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生成：直流电源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200VDC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正弦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或调制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三角载波信号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Uc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生成；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正弦调制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SPWM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生成及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脉冲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分配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及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死区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电路；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桥臂信号产生：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驱动电路；</a:t>
            </a:r>
            <a:endParaRPr lang="en-US" altLang="zh-CN" sz="2800" b="1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桥电路：工作原理；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716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FB5417-C9CD-9F27-CC7D-1DDFECB1D956}"/>
              </a:ext>
            </a:extLst>
          </p:cNvPr>
          <p:cNvSpPr/>
          <p:nvPr/>
        </p:nvSpPr>
        <p:spPr>
          <a:xfrm>
            <a:off x="1264062" y="2784319"/>
            <a:ext cx="2555416" cy="2221762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单相交流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DJK01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经调压及整流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(AC/DC)(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DJK09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得到直流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UDC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D367B-BA74-22AC-C956-3A5EA7346049}"/>
              </a:ext>
            </a:extLst>
          </p:cNvPr>
          <p:cNvSpPr/>
          <p:nvPr/>
        </p:nvSpPr>
        <p:spPr>
          <a:xfrm>
            <a:off x="1038014" y="1323360"/>
            <a:ext cx="3007513" cy="1284006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生成：直流电源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200VDC)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B5CAA4-2F02-D998-C068-590401041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088" y="1302596"/>
            <a:ext cx="6863632" cy="391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92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D367B-BA74-22AC-C956-3A5EA7346049}"/>
              </a:ext>
            </a:extLst>
          </p:cNvPr>
          <p:cNvSpPr/>
          <p:nvPr/>
        </p:nvSpPr>
        <p:spPr>
          <a:xfrm>
            <a:off x="652415" y="2569340"/>
            <a:ext cx="6565803" cy="2576667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正弦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或调制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Ur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-ICL8038;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三角载波信号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Uc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-ICL8038;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SPWM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自然采样法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：由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Ur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Uc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比较（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Ur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＞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Uc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产生。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758F3DF-B857-102D-3FED-3C344E828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869" y="959301"/>
            <a:ext cx="2378669" cy="493939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6557401-48FB-B482-2C79-FA49807F3B75}"/>
              </a:ext>
            </a:extLst>
          </p:cNvPr>
          <p:cNvSpPr/>
          <p:nvPr/>
        </p:nvSpPr>
        <p:spPr>
          <a:xfrm>
            <a:off x="697040" y="1129145"/>
            <a:ext cx="7955124" cy="1284006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正弦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或调制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三角载波信号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Uc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正弦调制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SPWM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1013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D367B-BA74-22AC-C956-3A5EA7346049}"/>
              </a:ext>
            </a:extLst>
          </p:cNvPr>
          <p:cNvSpPr/>
          <p:nvPr/>
        </p:nvSpPr>
        <p:spPr>
          <a:xfrm>
            <a:off x="652415" y="2569340"/>
            <a:ext cx="6565803" cy="2576667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正弦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或调制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Ur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-ICL8038;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三角载波信号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Uc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-ICL8038;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SPWM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自然采样法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：由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Ur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Uc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比较（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Ur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＞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Uc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产生。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758F3DF-B857-102D-3FED-3C344E828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869" y="959301"/>
            <a:ext cx="2378669" cy="493939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6557401-48FB-B482-2C79-FA49807F3B75}"/>
              </a:ext>
            </a:extLst>
          </p:cNvPr>
          <p:cNvSpPr/>
          <p:nvPr/>
        </p:nvSpPr>
        <p:spPr>
          <a:xfrm>
            <a:off x="697040" y="1129145"/>
            <a:ext cx="7955124" cy="1284006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正弦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或调制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三角载波信号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Uc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正弦调制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SPWM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7477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557401-48FB-B482-2C79-FA49807F3B75}"/>
              </a:ext>
            </a:extLst>
          </p:cNvPr>
          <p:cNvSpPr/>
          <p:nvPr/>
        </p:nvSpPr>
        <p:spPr>
          <a:xfrm>
            <a:off x="697040" y="1210236"/>
            <a:ext cx="4546905" cy="637675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正弦调制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SPWM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BC343FB-1A9C-19D6-B28E-EF5660CB6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047" y="1395633"/>
            <a:ext cx="5375276" cy="29223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30BECBC-3055-F1D0-5E07-6CD30D0D45E5}"/>
                  </a:ext>
                </a:extLst>
              </p:cNvPr>
              <p:cNvSpPr txBox="1"/>
              <p:nvPr/>
            </p:nvSpPr>
            <p:spPr>
              <a:xfrm>
                <a:off x="895350" y="2085192"/>
                <a:ext cx="4667250" cy="13622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600" i="1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𝑜𝑛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altLang="zh-CN" sz="16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华文行楷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华文行楷" panose="02010800040101010101" pitchFamily="2" charset="-122"/>
                            <a:cs typeface="Times New Roman" panose="020206030504050203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zh-CN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</m:d>
                        <m:r>
                          <a:rPr lang="en-US" altLang="zh-CN" sz="16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华文行楷" panose="0201080004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𝑐𝑚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华文行楷" panose="020108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zh-CN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𝑐𝑚</m:t>
                            </m:r>
                          </m:sub>
                        </m:sSub>
                      </m:den>
                    </m:f>
                    <m:r>
                      <a:rPr lang="en-US" altLang="zh-CN" sz="16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华文行楷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华文行楷" panose="0201080004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华文行楷" panose="020108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6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华文行楷" panose="0201080004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华文行楷" panose="02010800040101010101" pitchFamily="2" charset="-122"/>
                            <a:cs typeface="Times New Roman" panose="020206030504050203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zh-CN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</m:d>
                      </m:num>
                      <m:den>
                        <m:r>
                          <a:rPr lang="en-US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华文行楷" panose="020108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zh-CN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𝑐𝑚</m:t>
                            </m:r>
                          </m:sub>
                        </m:sSub>
                      </m:den>
                    </m:f>
                    <m:r>
                      <a:rPr lang="en-US" altLang="zh-CN" sz="16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华文行楷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华文行楷" panose="0201080004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华文行楷" panose="020108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6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华文行楷" panose="0201080004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6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</m:d>
                      </m:num>
                      <m:den>
                        <m:r>
                          <a:rPr lang="en-US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华文行楷" panose="020108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zh-CN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  <a:cs typeface="Times New Roman" panose="02020603050405020304" pitchFamily="18" charset="0"/>
                              </a:rPr>
                              <m:t>𝑐𝑚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16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16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1600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假设</a:t>
                </a:r>
                <a:r>
                  <a:rPr lang="en-US" altLang="zh-CN" sz="1600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SPWM</a:t>
                </a:r>
                <a:r>
                  <a:rPr lang="zh-CN" altLang="zh-CN" sz="1600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波的占空比</a:t>
                </a:r>
                <a:r>
                  <a:rPr lang="zh-CN" altLang="en-US" sz="1600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ρ</m:t>
                    </m:r>
                    <m:r>
                      <a:rPr lang="en-US" altLang="zh-CN" sz="1600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zh-CN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600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600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</a:rPr>
                              <m:t>𝑜𝑛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600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600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华文行楷" panose="02010800040101010101" pitchFamily="2" charset="-122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1600" kern="1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endParaRPr lang="en-US" altLang="zh-CN" sz="1600" kern="1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zh-CN" sz="1600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调制信号函数</a:t>
                </a:r>
                <a:r>
                  <a:rPr lang="zh-CN" altLang="zh-CN" sz="1600" kern="1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f</m:t>
                    </m:r>
                    <m:d>
                      <m:dPr>
                        <m:ctrlPr>
                          <a:rPr lang="zh-CN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t</m:t>
                        </m:r>
                      </m:e>
                    </m:d>
                    <m:r>
                      <a:rPr lang="en-US" altLang="zh-CN" sz="1600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zh-CN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𝑟</m:t>
                        </m:r>
                      </m:sub>
                    </m:sSub>
                    <m:r>
                      <a:rPr lang="en-US" altLang="zh-CN" sz="1600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600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t</m:t>
                    </m:r>
                    <m:r>
                      <a:rPr lang="en-US" altLang="zh-CN" sz="1600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)=</m:t>
                    </m:r>
                    <m:sSub>
                      <m:sSubPr>
                        <m:ctrlPr>
                          <a:rPr lang="zh-CN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𝑟𝑚</m:t>
                        </m:r>
                      </m:sub>
                    </m:sSub>
                    <m:func>
                      <m:funcPr>
                        <m:ctrlPr>
                          <a:rPr lang="zh-CN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sin</m:t>
                        </m:r>
                      </m:fName>
                      <m:e>
                        <m:r>
                          <a:rPr lang="en-US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𝜔</m:t>
                        </m:r>
                        <m:r>
                          <a:rPr lang="en-US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lang="en-US" altLang="zh-CN" sz="1600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</m:func>
                  </m:oMath>
                </a14:m>
                <a:r>
                  <a:rPr lang="zh-CN" altLang="zh-CN" sz="1600" kern="1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endParaRPr lang="zh-CN" altLang="zh-CN" sz="16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zh-CN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载波信号函数（峰值：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zh-CN" altLang="zh-CN" sz="16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谷值：</a:t>
                </a:r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zh-CN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zh-CN" altLang="zh-CN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）为</a:t>
                </a:r>
                <a:r>
                  <a:rPr lang="zh-CN" alt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16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30BECBC-3055-F1D0-5E07-6CD30D0D4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50" y="2085192"/>
                <a:ext cx="4667250" cy="1362232"/>
              </a:xfrm>
              <a:prstGeom prst="rect">
                <a:avLst/>
              </a:prstGeom>
              <a:blipFill>
                <a:blip r:embed="rId7"/>
                <a:stretch>
                  <a:fillRect l="-783" b="-4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77C35BC-7C54-CF1B-B3EF-62AB3BA4738D}"/>
                  </a:ext>
                </a:extLst>
              </p:cNvPr>
              <p:cNvSpPr txBox="1"/>
              <p:nvPr/>
            </p:nvSpPr>
            <p:spPr>
              <a:xfrm>
                <a:off x="778927" y="3509315"/>
                <a:ext cx="53752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𝑖𝑛𝑡𝑒𝑟𝑝</m:t>
                      </m:r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1(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0 0.5 1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zh-CN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,[−1 0 1]∗</m:t>
                      </m:r>
                      <m:sSub>
                        <m:sSubPr>
                          <m:ctrlPr>
                            <a:rPr lang="zh-CN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𝑐𝑚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𝑚𝑜𝑑</m:t>
                      </m:r>
                      <m:r>
                        <a:rPr lang="en-US" altLang="zh-C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77C35BC-7C54-CF1B-B3EF-62AB3BA47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27" y="3509315"/>
                <a:ext cx="5375276" cy="338554"/>
              </a:xfrm>
              <a:prstGeom prst="rect">
                <a:avLst/>
              </a:prstGeom>
              <a:blipFill>
                <a:blip r:embed="rId8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ACD5A3D-77E1-9B4F-AC10-43420DE458D7}"/>
                  </a:ext>
                </a:extLst>
              </p:cNvPr>
              <p:cNvSpPr txBox="1"/>
              <p:nvPr/>
            </p:nvSpPr>
            <p:spPr>
              <a:xfrm>
                <a:off x="895350" y="3848567"/>
                <a:ext cx="2967573" cy="424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令：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14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4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𝑟𝑚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4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𝑐𝑚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，即：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𝑟𝑚</m:t>
                        </m:r>
                      </m:sub>
                    </m:sSub>
                    <m:r>
                      <a:rPr lang="en-US" altLang="zh-CN" sz="14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4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sSub>
                      <m:sSubPr>
                        <m:ctrlPr>
                          <a:rPr lang="zh-CN" altLang="zh-CN" sz="1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ACD5A3D-77E1-9B4F-AC10-43420DE45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50" y="3848567"/>
                <a:ext cx="2967573" cy="424860"/>
              </a:xfrm>
              <a:prstGeom prst="rect">
                <a:avLst/>
              </a:prstGeom>
              <a:blipFill>
                <a:blip r:embed="rId9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014B7C4-16BC-35DA-FF28-5C50B24CB833}"/>
                  </a:ext>
                </a:extLst>
              </p:cNvPr>
              <p:cNvSpPr txBox="1"/>
              <p:nvPr/>
            </p:nvSpPr>
            <p:spPr>
              <a:xfrm>
                <a:off x="4773077" y="4253982"/>
                <a:ext cx="3091259" cy="816185"/>
              </a:xfrm>
              <a:prstGeom prst="rect">
                <a:avLst/>
              </a:prstGeom>
              <a:noFill/>
              <a:ln>
                <a:solidFill>
                  <a:srgbClr val="FF00FF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00B050"/>
                    </a:solidFill>
                  </a:rPr>
                  <a:t>当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载波比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足够大时，可得：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a:rPr lang="zh-CN" altLang="en-US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𝑜𝑛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zh-CN" alt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zh-CN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zh-CN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zh-CN" altLang="en-US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014B7C4-16BC-35DA-FF28-5C50B24CB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077" y="4253982"/>
                <a:ext cx="3091259" cy="816185"/>
              </a:xfrm>
              <a:prstGeom prst="rect">
                <a:avLst/>
              </a:prstGeom>
              <a:blipFill>
                <a:blip r:embed="rId10"/>
                <a:stretch>
                  <a:fillRect l="-1572" t="-3676"/>
                </a:stretch>
              </a:blipFill>
              <a:ln>
                <a:solidFill>
                  <a:srgbClr val="FF00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FD253C0-1955-99C0-A2ED-8D068AFC9FB8}"/>
                  </a:ext>
                </a:extLst>
              </p:cNvPr>
              <p:cNvSpPr txBox="1"/>
              <p:nvPr/>
            </p:nvSpPr>
            <p:spPr>
              <a:xfrm>
                <a:off x="981084" y="4273427"/>
                <a:ext cx="3613150" cy="667106"/>
              </a:xfrm>
              <a:prstGeom prst="rect">
                <a:avLst/>
              </a:prstGeom>
              <a:noFill/>
              <a:ln>
                <a:solidFill>
                  <a:srgbClr val="FF00FF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1200" dirty="0">
                    <a:solidFill>
                      <a:srgbClr val="00B0F0"/>
                    </a:solidFill>
                  </a:rPr>
                  <a:t>载波比</a:t>
                </a:r>
                <a:r>
                  <a:rPr lang="en-US" altLang="zh-CN" sz="1200" dirty="0">
                    <a:solidFill>
                      <a:srgbClr val="00B0F0"/>
                    </a:solidFill>
                  </a:rPr>
                  <a:t>(</a:t>
                </a:r>
                <a:r>
                  <a:rPr lang="zh-CN" altLang="en-US" sz="1200" dirty="0">
                    <a:solidFill>
                      <a:srgbClr val="00B0F0"/>
                    </a:solidFill>
                  </a:rPr>
                  <a:t>载波信号与正弦信号频率之比</a:t>
                </a:r>
                <a:r>
                  <a:rPr lang="en-US" altLang="zh-CN" sz="1200" dirty="0">
                    <a:solidFill>
                      <a:srgbClr val="00B0F0"/>
                    </a:solidFill>
                  </a:rPr>
                  <a:t>)</a:t>
                </a:r>
                <a:r>
                  <a:rPr lang="zh-CN" altLang="en-US" sz="1200" dirty="0"/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zh-CN" altLang="en-US" sz="1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1200" dirty="0"/>
                  <a:t>；</a:t>
                </a:r>
                <a:endParaRPr lang="en-US" altLang="zh-CN" sz="1200" dirty="0"/>
              </a:p>
              <a:p>
                <a:r>
                  <a:rPr lang="zh-CN" altLang="en-US" sz="1200" dirty="0">
                    <a:solidFill>
                      <a:srgbClr val="00B050"/>
                    </a:solidFill>
                  </a:rPr>
                  <a:t>调制比</a:t>
                </a:r>
                <a:r>
                  <a:rPr lang="en-US" altLang="zh-CN" sz="1200" dirty="0">
                    <a:solidFill>
                      <a:srgbClr val="00B050"/>
                    </a:solidFill>
                  </a:rPr>
                  <a:t>(</a:t>
                </a:r>
                <a:r>
                  <a:rPr lang="zh-CN" altLang="en-US" sz="1200" dirty="0">
                    <a:solidFill>
                      <a:srgbClr val="00B050"/>
                    </a:solidFill>
                  </a:rPr>
                  <a:t>正弦信号与载波信号幅值之比</a:t>
                </a:r>
                <a:r>
                  <a:rPr lang="en-US" altLang="zh-CN" sz="1200" dirty="0">
                    <a:solidFill>
                      <a:srgbClr val="00B050"/>
                    </a:solidFill>
                  </a:rPr>
                  <a:t>)</a:t>
                </a:r>
                <a:r>
                  <a:rPr lang="en-US" altLang="zh-CN" sz="12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1200" dirty="0"/>
                  <a:t>：</a:t>
                </a:r>
                <a:r>
                  <a:rPr lang="en-US" altLang="zh-CN" sz="1200" dirty="0">
                    <a:solidFill>
                      <a:srgbClr val="00B05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12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𝑟𝑚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𝑐𝑚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FD253C0-1955-99C0-A2ED-8D068AFC9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84" y="4273427"/>
                <a:ext cx="3613150" cy="6671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598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D367B-BA74-22AC-C956-3A5EA7346049}"/>
              </a:ext>
            </a:extLst>
          </p:cNvPr>
          <p:cNvSpPr/>
          <p:nvPr/>
        </p:nvSpPr>
        <p:spPr>
          <a:xfrm>
            <a:off x="1038014" y="1163175"/>
            <a:ext cx="4323695" cy="637675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桥电路：工作原理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CFAD204-5D3A-F4F9-5EF1-828DBBC64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212" y="4080655"/>
            <a:ext cx="5054860" cy="193049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60BC882-127C-E5CC-34AD-B93F1AE175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9583" y="1004067"/>
            <a:ext cx="6372418" cy="3045476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9CB8373-951D-9765-6A27-EF0A65641D4D}"/>
              </a:ext>
            </a:extLst>
          </p:cNvPr>
          <p:cNvSpPr/>
          <p:nvPr/>
        </p:nvSpPr>
        <p:spPr>
          <a:xfrm>
            <a:off x="1019001" y="2004318"/>
            <a:ext cx="2735582" cy="637675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理论原理分析</a:t>
            </a:r>
            <a:endParaRPr lang="en-US" altLang="zh-CN" sz="28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682EFD5-931C-61A6-38C8-D782A2A819AC}"/>
                  </a:ext>
                </a:extLst>
              </p:cNvPr>
              <p:cNvSpPr txBox="1"/>
              <p:nvPr/>
            </p:nvSpPr>
            <p:spPr>
              <a:xfrm>
                <a:off x="706582" y="2720147"/>
                <a:ext cx="5179867" cy="2348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4600"/>
                  </a:lnSpc>
                </a:pPr>
                <a:r>
                  <a:rPr lang="zh-CN" altLang="en-US" sz="1200" b="1" dirty="0">
                    <a:solidFill>
                      <a:srgbClr val="FF0000"/>
                    </a:solidFill>
                    <a:effectLst/>
                    <a:ea typeface="Cambria Math" panose="02040503050406030204" pitchFamily="18" charset="0"/>
                  </a:rPr>
                  <a:t>不考虑死区时间</a:t>
                </a:r>
                <a14:m>
                  <m:oMath xmlns:m="http://schemas.openxmlformats.org/officeDocument/2006/math">
                    <m:r>
                      <a:rPr lang="zh-CN" altLang="en-US"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即</m:t>
                    </m:r>
                    <m:sSub>
                      <m:sSubPr>
                        <m:ctrlPr>
                          <a:rPr lang="zh-CN" altLang="zh-CN" sz="12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1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𝒅</m:t>
                        </m:r>
                      </m:sub>
                    </m:sSub>
                    <m:r>
                      <a:rPr lang="en-US" altLang="zh-CN" sz="1200" b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2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en-US" sz="1200" b="1" kern="100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时：</a:t>
                </a:r>
                <a:endParaRPr lang="en-US" altLang="zh-CN" sz="1200" i="1" kern="100" dirty="0">
                  <a:solidFill>
                    <a:srgbClr val="FF0000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indent="266700" algn="just">
                  <a:lnSpc>
                    <a:spcPts val="46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1200" i="1" kern="100" smtClean="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200" i="1" kern="10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altLang="zh-CN" sz="1200" i="1" kern="10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𝑇</m:t>
                                </m:r>
                              </m:den>
                            </m:f>
                            <m:nary>
                              <m:naryPr>
                                <m:limLoc m:val="subSup"/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0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zh-CN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𝑜𝑛</m:t>
                                    </m:r>
                                  </m:sub>
                                </m:sSub>
                              </m:sup>
                              <m:e>
                                <m:sSub>
                                  <m:sSubPr>
                                    <m:ctrlPr>
                                      <a:rPr lang="zh-CN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𝑑𝑐</m:t>
                                    </m:r>
                                  </m:sub>
                                </m:sSub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𝑑𝑡</m:t>
                                </m:r>
                              </m:e>
                            </m:nary>
                            <m:r>
                              <a:rPr lang="en-US" altLang="zh-CN" sz="1200" i="1" kern="10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𝑜𝑛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𝑇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𝑑𝑐</m:t>
                                </m:r>
                              </m:sub>
                            </m:sSub>
                            <m:r>
                              <a:rPr lang="en-US" altLang="zh-CN" sz="1200" i="1" kern="10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</m:t>
                            </m:r>
                            <m:r>
                              <a:rPr lang="en-US" altLang="zh-CN" sz="1200" i="1" kern="10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𝑑𝑐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altLang="zh-CN" sz="1200" i="1" kern="10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𝑇</m:t>
                                </m:r>
                              </m:den>
                            </m:f>
                            <m:nary>
                              <m:naryPr>
                                <m:limLoc m:val="subSup"/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zh-CN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𝑜𝑛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𝑇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zh-CN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𝑑𝑐</m:t>
                                    </m:r>
                                  </m:sub>
                                </m:sSub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𝑑𝑡</m:t>
                                </m:r>
                              </m:e>
                            </m:nary>
                            <m:r>
                              <a:rPr lang="en-US" altLang="zh-CN" sz="1200" i="1" kern="10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𝑇</m:t>
                                </m:r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1200" i="1" kern="100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𝑜𝑛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𝑇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𝑑𝑐</m:t>
                                </m:r>
                              </m:sub>
                            </m:sSub>
                            <m:r>
                              <a:rPr lang="en-US" altLang="zh-CN" sz="1200" i="1" kern="10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=(1−</m:t>
                            </m:r>
                            <m:r>
                              <a:rPr lang="en-US" altLang="zh-CN" sz="1200" i="1" kern="10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𝜌</m:t>
                            </m:r>
                            <m:r>
                              <a:rPr lang="en-US" altLang="zh-CN" sz="1200" i="1" kern="10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zh-CN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𝑑𝑐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zh-CN" sz="12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;</a:t>
                </a:r>
              </a:p>
              <a:p>
                <a:pPr indent="266700" algn="just">
                  <a:lnSpc>
                    <a:spcPts val="2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𝑎𝑏</m:t>
                        </m:r>
                      </m:sub>
                    </m:sSub>
                    <m:r>
                      <a:rPr lang="en-US" altLang="zh-CN" sz="12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sz="12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12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2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𝜌</m:t>
                    </m:r>
                    <m:sSub>
                      <m:sSubPr>
                        <m:ctrlPr>
                          <a:rPr lang="zh-CN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𝑑𝑐</m:t>
                        </m:r>
                      </m:sub>
                    </m:sSub>
                    <m:r>
                      <a:rPr lang="en-US" altLang="zh-CN" sz="12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zh-CN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</m:d>
                    <m:sSub>
                      <m:sSubPr>
                        <m:ctrlPr>
                          <a:rPr lang="zh-CN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𝑑𝑐</m:t>
                        </m:r>
                      </m:sub>
                    </m:sSub>
                    <m:r>
                      <a:rPr lang="en-US" altLang="zh-CN" sz="12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=(2</m:t>
                    </m:r>
                    <m:r>
                      <a:rPr lang="en-US" altLang="zh-CN" sz="12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zh-CN" sz="12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−1)</m:t>
                    </m:r>
                    <m:sSub>
                      <m:sSubPr>
                        <m:ctrlPr>
                          <a:rPr lang="zh-CN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1200" i="1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 sz="12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  <a:endParaRPr lang="en-US" altLang="zh-CN" sz="12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7620" indent="266700" algn="just">
                  <a:lnSpc>
                    <a:spcPct val="150000"/>
                  </a:lnSpc>
                </a:pPr>
                <a:r>
                  <a:rPr lang="zh-CN" altLang="zh-CN" sz="12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采用</a:t>
                </a:r>
                <a:r>
                  <a:rPr lang="en-US" altLang="zh-CN" sz="12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SPWM</a:t>
                </a:r>
                <a:r>
                  <a:rPr lang="zh-CN" altLang="zh-CN" sz="12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脉冲控制桥臂时，对应</a:t>
                </a:r>
                <a:r>
                  <a:rPr lang="en-US" altLang="zh-CN" sz="12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H</a:t>
                </a:r>
                <a:r>
                  <a:rPr lang="zh-CN" altLang="zh-CN" sz="12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桥的输出电压：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2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altLang="zh-CN" sz="1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𝒂𝒃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1200" b="1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𝝆</m:t>
                          </m:r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  <m:sSub>
                        <m:sSubPr>
                          <m:ctrlPr>
                            <a:rPr lang="zh-CN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𝒅𝒄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zh-CN" altLang="zh-CN" sz="1200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  <m:r>
                                <a:rPr lang="en-US" altLang="zh-CN" sz="1200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𝒎𝒔𝒊𝒏</m:t>
                              </m:r>
                              <m:d>
                                <m:dPr>
                                  <m:ctrlPr>
                                    <a:rPr lang="zh-CN" altLang="zh-CN" sz="1200" b="1" i="1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1" i="1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𝝎</m:t>
                                  </m:r>
                                  <m:r>
                                    <a:rPr lang="en-US" altLang="zh-CN" sz="1200" b="1" i="1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1200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  <m:sSub>
                        <m:sSubPr>
                          <m:ctrlPr>
                            <a:rPr lang="zh-CN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altLang="zh-CN" sz="1200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𝒅𝒄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zh-CN" altLang="zh-CN" sz="1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altLang="zh-CN" sz="1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𝒅</m:t>
                          </m:r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zh-CN" altLang="zh-CN" sz="1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𝝎</m:t>
                          </m:r>
                          <m:r>
                            <a:rPr lang="en-US" altLang="zh-CN" sz="1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zh-CN" altLang="zh-CN" sz="1200" b="1" kern="1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682EFD5-931C-61A6-38C8-D782A2A81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82" y="2720147"/>
                <a:ext cx="5179867" cy="23488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5ACB63B-B334-0B84-B3AD-2F6EBCCEE40F}"/>
                  </a:ext>
                </a:extLst>
              </p:cNvPr>
              <p:cNvSpPr txBox="1"/>
              <p:nvPr/>
            </p:nvSpPr>
            <p:spPr>
              <a:xfrm>
                <a:off x="2495550" y="5074629"/>
                <a:ext cx="2114550" cy="338554"/>
              </a:xfrm>
              <a:prstGeom prst="rect">
                <a:avLst/>
              </a:prstGeom>
              <a:noFill/>
              <a:ln>
                <a:solidFill>
                  <a:srgbClr val="FF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0" lang="en-US" altLang="zh-CN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𝒂𝒃</m:t>
                          </m:r>
                        </m:sub>
                      </m:sSub>
                      <m:r>
                        <a:rPr kumimoji="0" lang="en-US" altLang="zh-CN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𝒎</m:t>
                      </m:r>
                      <m:sSub>
                        <m:sSubPr>
                          <m:ctrlPr>
                            <a:rPr kumimoji="0" lang="zh-CN" altLang="zh-CN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0" lang="en-US" altLang="zh-CN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𝒅𝒄</m:t>
                          </m:r>
                        </m:sub>
                      </m:sSub>
                      <m:r>
                        <a:rPr kumimoji="0" lang="en-US" altLang="zh-CN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𝒔𝒊𝒏</m:t>
                      </m:r>
                      <m:d>
                        <m:dPr>
                          <m:ctrlPr>
                            <a:rPr kumimoji="0" lang="zh-CN" altLang="zh-CN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𝝎</m:t>
                          </m:r>
                          <m:r>
                            <a:rPr kumimoji="0" lang="en-US" altLang="zh-CN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5ACB63B-B334-0B84-B3AD-2F6EBCCEE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550" y="5074629"/>
                <a:ext cx="211455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FF00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714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D367B-BA74-22AC-C956-3A5EA7346049}"/>
              </a:ext>
            </a:extLst>
          </p:cNvPr>
          <p:cNvSpPr/>
          <p:nvPr/>
        </p:nvSpPr>
        <p:spPr>
          <a:xfrm>
            <a:off x="1038014" y="1163175"/>
            <a:ext cx="4323695" cy="637675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桥电路：工作原理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CFAD204-5D3A-F4F9-5EF1-828DBBC64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8139" y="1482012"/>
            <a:ext cx="5054860" cy="19304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9CB8373-951D-9765-6A27-EF0A65641D4D}"/>
                  </a:ext>
                </a:extLst>
              </p:cNvPr>
              <p:cNvSpPr/>
              <p:nvPr/>
            </p:nvSpPr>
            <p:spPr>
              <a:xfrm>
                <a:off x="1019001" y="1996432"/>
                <a:ext cx="4906878" cy="653449"/>
              </a:xfrm>
              <a:prstGeom prst="rect">
                <a:avLst/>
              </a:prstGeom>
              <a:noFill/>
              <a:ln w="12700">
                <a:noFill/>
                <a:miter/>
              </a:ln>
            </p:spPr>
            <p:txBody>
              <a:bodyPr wrap="square" anchor="ctr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800" b="1" dirty="0">
                    <a:solidFill>
                      <a:srgbClr val="00B05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理论原理分析（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𝑼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𝒅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𝑼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𝒅𝒄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rgbClr val="00B05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endParaRPr lang="en-US" altLang="zh-CN" sz="2800" b="1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9CB8373-951D-9765-6A27-EF0A65641D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001" y="1996432"/>
                <a:ext cx="4906878" cy="653449"/>
              </a:xfrm>
              <a:prstGeom prst="rect">
                <a:avLst/>
              </a:prstGeom>
              <a:blipFill>
                <a:blip r:embed="rId7"/>
                <a:stretch>
                  <a:fillRect l="-2236" r="-870" b="-23148"/>
                </a:stretch>
              </a:blipFill>
              <a:ln w="127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A9B08F5-4D3D-4970-F534-11A2B2F634C6}"/>
                  </a:ext>
                </a:extLst>
              </p:cNvPr>
              <p:cNvSpPr txBox="1"/>
              <p:nvPr/>
            </p:nvSpPr>
            <p:spPr>
              <a:xfrm>
                <a:off x="936049" y="2921670"/>
                <a:ext cx="3496251" cy="3744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>
                  <a:lnSpc>
                    <a:spcPts val="2400"/>
                  </a:lnSpc>
                </a:pPr>
                <a:r>
                  <a:rPr lang="zh-CN" altLang="en-US" b="1" dirty="0">
                    <a:solidFill>
                      <a:srgbClr val="FF0000"/>
                    </a:solidFill>
                    <a:effectLst/>
                    <a:ea typeface="Cambria Math" panose="02040503050406030204" pitchFamily="18" charset="0"/>
                  </a:rPr>
                  <a:t>考虑死区时间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即</m:t>
                    </m:r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𝒅</m:t>
                        </m:r>
                      </m:sub>
                    </m:sSub>
                    <m:r>
                      <a:rPr lang="en-US" altLang="zh-CN" b="1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en-US" b="1" kern="100" dirty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时：</a:t>
                </a:r>
                <a:endParaRPr lang="zh-CN" altLang="zh-CN" sz="1200" kern="1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A9B08F5-4D3D-4970-F534-11A2B2F63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49" y="2921670"/>
                <a:ext cx="3496251" cy="374461"/>
              </a:xfrm>
              <a:prstGeom prst="rect">
                <a:avLst/>
              </a:prstGeom>
              <a:blipFill>
                <a:blip r:embed="rId8"/>
                <a:stretch>
                  <a:fillRect t="-9677" b="-20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A4997A3-3BFD-166C-579F-84FE20C474C1}"/>
                  </a:ext>
                </a:extLst>
              </p:cNvPr>
              <p:cNvSpPr txBox="1"/>
              <p:nvPr/>
            </p:nvSpPr>
            <p:spPr>
              <a:xfrm>
                <a:off x="1244339" y="3288264"/>
                <a:ext cx="1384300" cy="4571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1200" b="0" i="0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ρ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14</m:t>
                          </m:r>
                        </m:sub>
                      </m:sSub>
                      <m:r>
                        <a:rPr kumimoji="0" lang="en-US" altLang="zh-CN" sz="12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altLang="zh-CN" sz="12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ρ</m:t>
                      </m:r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zh-CN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zh-CN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行楷" panose="02010800040101010101" pitchFamily="2" charset="-122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行楷" panose="02010800040101010101" pitchFamily="2" charset="-122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行楷" panose="02010800040101010101" pitchFamily="2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1200" b="0" i="0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ρ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A4997A3-3BFD-166C-579F-84FE20C47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339" y="3288264"/>
                <a:ext cx="1384300" cy="4571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59EFE38-A007-FBA5-03C2-5F5A5972D3F7}"/>
                  </a:ext>
                </a:extLst>
              </p:cNvPr>
              <p:cNvSpPr txBox="1"/>
              <p:nvPr/>
            </p:nvSpPr>
            <p:spPr>
              <a:xfrm>
                <a:off x="1150215" y="3737510"/>
                <a:ext cx="2559050" cy="4571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1200" b="0" i="0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ρ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23</m:t>
                          </m:r>
                        </m:sub>
                      </m:sSub>
                      <m:r>
                        <a:rPr kumimoji="0" lang="en-US" altLang="zh-CN" sz="12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=1</m:t>
                      </m:r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0" lang="en-US" altLang="zh-CN" sz="12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ρ</m:t>
                      </m:r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zh-CN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zh-CN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行楷" panose="02010800040101010101" pitchFamily="2" charset="-122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行楷" panose="02010800040101010101" pitchFamily="2" charset="-122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0" lang="en-US" altLang="zh-CN" sz="12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=1</m:t>
                      </m:r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1200" b="0" i="0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ρ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−</m:t>
                      </m:r>
                      <m:r>
                        <a:rPr kumimoji="0" lang="en-US" altLang="zh-CN" sz="12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2</m:t>
                      </m:r>
                      <m:f>
                        <m:f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zh-CN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zh-CN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行楷" panose="02010800040101010101" pitchFamily="2" charset="-122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行楷" panose="02010800040101010101" pitchFamily="2" charset="-122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59EFE38-A007-FBA5-03C2-5F5A5972D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215" y="3737510"/>
                <a:ext cx="2559050" cy="4571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D425ADF-4DCA-F1AF-E723-B36BA59809E3}"/>
                  </a:ext>
                </a:extLst>
              </p:cNvPr>
              <p:cNvSpPr txBox="1"/>
              <p:nvPr/>
            </p:nvSpPr>
            <p:spPr>
              <a:xfrm>
                <a:off x="1019001" y="4217059"/>
                <a:ext cx="53053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620" marR="0" lvl="0" indent="26670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𝑈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𝑎𝑏</m:t>
                          </m:r>
                        </m:sub>
                      </m:sSub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𝑈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𝑎</m:t>
                          </m:r>
                        </m:sub>
                      </m:sSub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𝑈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𝑏</m:t>
                          </m:r>
                        </m:sub>
                      </m:sSub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𝜌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14</m:t>
                          </m:r>
                        </m:sub>
                      </m:sSub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𝑈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𝑑</m:t>
                          </m:r>
                        </m:sub>
                      </m:sSub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𝜌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𝑈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𝑑</m:t>
                          </m:r>
                        </m:sub>
                      </m:sSub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=(2</m:t>
                      </m:r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𝜌</m:t>
                      </m:r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−1)</m:t>
                      </m:r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𝑈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𝑑</m:t>
                          </m:r>
                        </m:sub>
                      </m:sSub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=(2</m:t>
                      </m:r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1200" b="0" i="0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ρ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−1+</m:t>
                      </m:r>
                      <m:r>
                        <a:rPr kumimoji="0" lang="en-US" altLang="zh-CN" sz="12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2</m:t>
                      </m:r>
                      <m:f>
                        <m:f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zh-CN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zh-CN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行楷" panose="02010800040101010101" pitchFamily="2" charset="-122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altLang="zh-CN" sz="1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行楷" panose="02010800040101010101" pitchFamily="2" charset="-122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0" lang="en-US" altLang="zh-CN" sz="1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)</m:t>
                      </m:r>
                      <m:sSub>
                        <m:sSubPr>
                          <m:ctrlPr>
                            <a:rPr kumimoji="0" lang="zh-CN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𝑈</m:t>
                          </m:r>
                        </m:e>
                        <m:sub>
                          <m:r>
                            <a:rPr kumimoji="0" lang="en-US" altLang="zh-CN" sz="1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0" lang="zh-CN" altLang="zh-CN" sz="12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D425ADF-4DCA-F1AF-E723-B36BA5980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001" y="4217059"/>
                <a:ext cx="5305339" cy="400110"/>
              </a:xfrm>
              <a:prstGeom prst="rect">
                <a:avLst/>
              </a:prstGeom>
              <a:blipFill>
                <a:blip r:embed="rId11"/>
                <a:stretch>
                  <a:fillRect t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9F741FA-2730-1E9C-5AA3-28FE35F985C6}"/>
                  </a:ext>
                </a:extLst>
              </p:cNvPr>
              <p:cNvSpPr txBox="1"/>
              <p:nvPr/>
            </p:nvSpPr>
            <p:spPr>
              <a:xfrm>
                <a:off x="7000929" y="3703892"/>
                <a:ext cx="2870200" cy="639470"/>
              </a:xfrm>
              <a:prstGeom prst="rect">
                <a:avLst/>
              </a:prstGeom>
              <a:noFill/>
              <a:ln>
                <a:solidFill>
                  <a:srgbClr val="FF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𝑎𝑏</m:t>
                          </m:r>
                        </m:sub>
                      </m:sSub>
                      <m:r>
                        <a:rPr lang="en-US" altLang="zh-CN" sz="1800" i="1" kern="1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=(2</m:t>
                      </m:r>
                      <m:sSub>
                        <m:sSubPr>
                          <m:ctrlPr>
                            <a:rPr lang="zh-CN" altLang="zh-CN" sz="1800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ρ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 kern="1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−1+</m:t>
                      </m:r>
                      <m:r>
                        <a:rPr lang="en-US" altLang="zh-CN" sz="1800" kern="1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2</m:t>
                      </m:r>
                      <m:f>
                        <m:fPr>
                          <m:ctrlPr>
                            <a:rPr lang="zh-CN" altLang="zh-CN" sz="1800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1800" i="1" kern="1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1800" i="1" kern="1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华文行楷" panose="02010800040101010101" pitchFamily="2" charset="-122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华文行楷" panose="02010800040101010101" pitchFamily="2" charset="-122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altLang="zh-CN" sz="1800" i="1" kern="1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sSub>
                        <m:sSubPr>
                          <m:ctrlPr>
                            <a:rPr lang="zh-CN" altLang="zh-CN" sz="1800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9F741FA-2730-1E9C-5AA3-28FE35F98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929" y="3703892"/>
                <a:ext cx="2870200" cy="6394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5802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D367B-BA74-22AC-C956-3A5EA7346049}"/>
              </a:ext>
            </a:extLst>
          </p:cNvPr>
          <p:cNvSpPr/>
          <p:nvPr/>
        </p:nvSpPr>
        <p:spPr>
          <a:xfrm>
            <a:off x="1038015" y="1163175"/>
            <a:ext cx="4787822" cy="637675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桥电路：工作原理分析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9EEB9C7-D659-3492-1911-5EFEB85054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700" y="2581993"/>
            <a:ext cx="6011593" cy="237860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1F210E2-80B0-5C95-32E7-40D0B729E343}"/>
              </a:ext>
            </a:extLst>
          </p:cNvPr>
          <p:cNvSpPr/>
          <p:nvPr/>
        </p:nvSpPr>
        <p:spPr>
          <a:xfrm>
            <a:off x="864833" y="2602397"/>
            <a:ext cx="2924385" cy="1930337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实验电路：工作原理分析与理论分析相同</a:t>
            </a:r>
            <a:endParaRPr lang="en-US" altLang="zh-CN" sz="2800" b="1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7908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D367B-BA74-22AC-C956-3A5EA7346049}"/>
              </a:ext>
            </a:extLst>
          </p:cNvPr>
          <p:cNvSpPr/>
          <p:nvPr/>
        </p:nvSpPr>
        <p:spPr>
          <a:xfrm>
            <a:off x="1038014" y="1163175"/>
            <a:ext cx="9938941" cy="637675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脉冲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分配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及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死区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电路分析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1741D9-2BAD-859B-11C5-D8ADBE64AD3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07742" y="1691497"/>
            <a:ext cx="1601899" cy="332640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D7183D0-DCB2-D910-5A6F-2291E73CF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64" y="3152754"/>
            <a:ext cx="3942324" cy="21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591046E-E292-6EA0-91EA-79FE0AF88679}"/>
              </a:ext>
            </a:extLst>
          </p:cNvPr>
          <p:cNvSpPr/>
          <p:nvPr/>
        </p:nvSpPr>
        <p:spPr>
          <a:xfrm>
            <a:off x="982598" y="2270345"/>
            <a:ext cx="2086184" cy="637675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教材讲解</a:t>
            </a:r>
            <a:endParaRPr lang="en-US" altLang="zh-CN" sz="2800" b="1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0F0B42-D802-661D-9891-FEC4BB04BA11}"/>
              </a:ext>
            </a:extLst>
          </p:cNvPr>
          <p:cNvSpPr/>
          <p:nvPr/>
        </p:nvSpPr>
        <p:spPr>
          <a:xfrm>
            <a:off x="6815362" y="2186941"/>
            <a:ext cx="2086184" cy="637675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实验电路</a:t>
            </a:r>
            <a:endParaRPr lang="en-US" altLang="zh-CN" sz="28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556D6F7-3659-F18D-43E9-1B68FDD082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7083" y="3088587"/>
            <a:ext cx="3852773" cy="188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12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二、实验电路原理分析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FD367B-BA74-22AC-C956-3A5EA7346049}"/>
              </a:ext>
            </a:extLst>
          </p:cNvPr>
          <p:cNvSpPr/>
          <p:nvPr/>
        </p:nvSpPr>
        <p:spPr>
          <a:xfrm>
            <a:off x="1038015" y="1163175"/>
            <a:ext cx="5451686" cy="637675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桥臂信号产生：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驱动电路分析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00E341-6EF4-D0AA-EB34-CE07612AAE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0878" y="2045584"/>
            <a:ext cx="2454326" cy="355994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BC8E2B9-EEE1-E702-E3C0-2BED26C1A320}"/>
              </a:ext>
            </a:extLst>
          </p:cNvPr>
          <p:cNvSpPr/>
          <p:nvPr/>
        </p:nvSpPr>
        <p:spPr>
          <a:xfrm>
            <a:off x="4486065" y="2712697"/>
            <a:ext cx="5451686" cy="1284006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驱动电路分析：参考</a:t>
            </a:r>
            <a:r>
              <a:rPr lang="en-US" altLang="zh-CN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M57962L</a:t>
            </a:r>
            <a:r>
              <a:rPr lang="zh-CN" altLang="en-US" sz="2800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数据手册及实验指导书。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2691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三、实验方案设计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FB5417-C9CD-9F27-CC7D-1DDFECB1D956}"/>
              </a:ext>
            </a:extLst>
          </p:cNvPr>
          <p:cNvSpPr/>
          <p:nvPr/>
        </p:nvSpPr>
        <p:spPr>
          <a:xfrm>
            <a:off x="982596" y="1379188"/>
            <a:ext cx="9938941" cy="3820277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SPWM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逆变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电路的功能：</a:t>
            </a:r>
            <a:r>
              <a:rPr lang="zh-CN" altLang="en-US" sz="28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调频、调压</a:t>
            </a:r>
            <a:endParaRPr lang="en-US" altLang="zh-CN" sz="28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调频</a:t>
            </a:r>
            <a:endParaRPr lang="en-US" altLang="zh-CN" sz="28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由理论分析及定量推导可知</a:t>
            </a:r>
            <a:r>
              <a:rPr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只能通过</a:t>
            </a:r>
            <a:r>
              <a:rPr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改变正弦信号频率来实现调频；</a:t>
            </a:r>
            <a:endParaRPr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调压</a:t>
            </a:r>
            <a:endParaRPr lang="en-US" altLang="zh-CN" sz="28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由理论分析及定量推导可知：实现调压的方法有两种</a:t>
            </a:r>
            <a:endParaRPr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改变调制比实现调压；</a:t>
            </a:r>
            <a:endParaRPr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改变</a:t>
            </a:r>
            <a:r>
              <a:rPr lang="en-US" altLang="zh-CN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桥的直流母线电压实现调压；</a:t>
            </a:r>
            <a:endParaRPr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0858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四、实验波形记录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CFB5417-C9CD-9F27-CC7D-1DDFECB1D956}"/>
                  </a:ext>
                </a:extLst>
              </p:cNvPr>
              <p:cNvSpPr/>
              <p:nvPr/>
            </p:nvSpPr>
            <p:spPr>
              <a:xfrm>
                <a:off x="901317" y="1353470"/>
                <a:ext cx="9157083" cy="453073"/>
              </a:xfrm>
              <a:prstGeom prst="rect">
                <a:avLst/>
              </a:prstGeom>
              <a:noFill/>
              <a:ln w="12700">
                <a:noFill/>
                <a:miter/>
              </a:ln>
            </p:spPr>
            <p:txBody>
              <a:bodyPr wrap="square" anchor="ctr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  <a:defRPr/>
                </a:pP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3-8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个典型波形记录（</a:t>
                </a:r>
                <a:r>
                  <a:rPr lang="zh-CN" altLang="en-US" b="1" dirty="0">
                    <a:solidFill>
                      <a:srgbClr val="FF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测试状态下</a:t>
                </a:r>
                <a:r>
                  <a:rPr lang="en-US" altLang="zh-CN" b="1" dirty="0">
                    <a:solidFill>
                      <a:srgbClr val="00B05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Ur</a:t>
                </a:r>
                <a:r>
                  <a:rPr lang="zh-CN" altLang="en-US" b="1" dirty="0">
                    <a:solidFill>
                      <a:srgbClr val="00B05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的频率</a:t>
                </a:r>
                <a:r>
                  <a:rPr lang="en-US" altLang="zh-CN" b="1" dirty="0" err="1">
                    <a:solidFill>
                      <a:srgbClr val="00B05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fr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  <m:r>
                      <a:rPr lang="en-US" altLang="zh-CN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𝑯𝒛</m:t>
                    </m:r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即：</a:t>
                </a:r>
                <a:r>
                  <a:rPr lang="zh-CN" altLang="en-US" b="1" dirty="0">
                    <a:solidFill>
                      <a:srgbClr val="FF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载波比</a:t>
                </a:r>
                <a:r>
                  <a:rPr lang="en-US" altLang="zh-CN" b="1" dirty="0">
                    <a:solidFill>
                      <a:srgbClr val="FF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λ</a:t>
                </a:r>
                <a:r>
                  <a:rPr lang="zh-CN" altLang="en-US" b="1" dirty="0">
                    <a:solidFill>
                      <a:srgbClr val="FF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≈</a:t>
                </a:r>
                <a:r>
                  <a:rPr lang="en-US" altLang="zh-CN" b="1" dirty="0">
                    <a:solidFill>
                      <a:srgbClr val="FF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9.0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endParaRPr lang="en-US" altLang="zh-CN" b="1" dirty="0">
                  <a:solidFill>
                    <a:srgbClr val="FF00FF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CFB5417-C9CD-9F27-CC7D-1DDFECB1D9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17" y="1353470"/>
                <a:ext cx="9157083" cy="453073"/>
              </a:xfrm>
              <a:prstGeom prst="rect">
                <a:avLst/>
              </a:prstGeom>
              <a:blipFill>
                <a:blip r:embed="rId6"/>
                <a:stretch>
                  <a:fillRect l="-599" b="-18919"/>
                </a:stretch>
              </a:blipFill>
              <a:ln w="127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5">
                <a:extLst>
                  <a:ext uri="{FF2B5EF4-FFF2-40B4-BE49-F238E27FC236}">
                    <a16:creationId xmlns:a16="http://schemas.microsoft.com/office/drawing/2014/main" id="{495908A2-E7D9-CE6B-98B9-1187FE5260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105848"/>
                  </p:ext>
                </p:extLst>
              </p:nvPr>
            </p:nvGraphicFramePr>
            <p:xfrm>
              <a:off x="901317" y="2040386"/>
              <a:ext cx="10255634" cy="35082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7183">
                      <a:extLst>
                        <a:ext uri="{9D8B030D-6E8A-4147-A177-3AD203B41FA5}">
                          <a16:colId xmlns:a16="http://schemas.microsoft.com/office/drawing/2014/main" val="2625938008"/>
                        </a:ext>
                      </a:extLst>
                    </a:gridCol>
                    <a:gridCol w="2462185">
                      <a:extLst>
                        <a:ext uri="{9D8B030D-6E8A-4147-A177-3AD203B41FA5}">
                          <a16:colId xmlns:a16="http://schemas.microsoft.com/office/drawing/2014/main" val="621580766"/>
                        </a:ext>
                      </a:extLst>
                    </a:gridCol>
                    <a:gridCol w="2538694">
                      <a:extLst>
                        <a:ext uri="{9D8B030D-6E8A-4147-A177-3AD203B41FA5}">
                          <a16:colId xmlns:a16="http://schemas.microsoft.com/office/drawing/2014/main" val="3662873646"/>
                        </a:ext>
                      </a:extLst>
                    </a:gridCol>
                    <a:gridCol w="4037572">
                      <a:extLst>
                        <a:ext uri="{9D8B030D-6E8A-4147-A177-3AD203B41FA5}">
                          <a16:colId xmlns:a16="http://schemas.microsoft.com/office/drawing/2014/main" val="985482151"/>
                        </a:ext>
                      </a:extLst>
                    </a:gridCol>
                  </a:tblGrid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波形序号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CH1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CH2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备注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4689315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正弦信号</a:t>
                          </a:r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Ur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三角载波信号</a:t>
                          </a: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Uc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测试状态</a:t>
                          </a:r>
                          <a:r>
                            <a:rPr lang="en-US" altLang="zh-CN" dirty="0"/>
                            <a:t>(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零电压参考点：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COM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7569380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正弦信号</a:t>
                          </a:r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Ur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Um(SPWM</a:t>
                          </a:r>
                          <a:r>
                            <a:rPr lang="zh-CN" altLang="en-US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信号</a:t>
                          </a: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)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测试状态</a:t>
                          </a:r>
                          <a:r>
                            <a:rPr lang="en-US" altLang="zh-CN" dirty="0"/>
                            <a:t>(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零电压参考点：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COM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6394563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正弦信号</a:t>
                          </a:r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Ur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SPWM2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测试状态</a:t>
                          </a:r>
                          <a:r>
                            <a:rPr lang="en-US" altLang="zh-CN" dirty="0"/>
                            <a:t>(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零电压参考点：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COM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5602470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G2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G4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测试状态</a:t>
                          </a:r>
                          <a:r>
                            <a:rPr lang="en-US" altLang="zh-CN" dirty="0"/>
                            <a:t>(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零电压参考点：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E2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或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E4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0423455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G2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G4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标识死区</a:t>
                          </a:r>
                          <a:r>
                            <a:rPr lang="en-US" altLang="zh-CN" dirty="0">
                              <a:solidFill>
                                <a:srgbClr val="00B050"/>
                              </a:solidFill>
                            </a:rPr>
                            <a:t>(</a:t>
                          </a: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上升沿、下降沿</a:t>
                          </a:r>
                          <a:r>
                            <a:rPr lang="en-US" altLang="zh-CN" dirty="0">
                              <a:solidFill>
                                <a:srgbClr val="00B050"/>
                              </a:solidFill>
                            </a:rPr>
                            <a:t>)</a:t>
                          </a: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（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运行状态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,</a:t>
                          </a:r>
                          <a:r>
                            <a:rPr lang="en-US" altLang="zh-CN" dirty="0" err="1">
                              <a:solidFill>
                                <a:srgbClr val="FF00FF"/>
                              </a:solidFill>
                            </a:rPr>
                            <a:t>fr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≈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20Hz,</a:t>
                          </a:r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死区时间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20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20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zh-CN" sz="1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=2.0</m:t>
                              </m:r>
                              <m:r>
                                <a:rPr lang="en-US" altLang="zh-CN" sz="1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±0.5</m:t>
                              </m:r>
                              <m:r>
                                <a:rPr lang="zh-CN" altLang="en-US" sz="1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1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）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1944532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负载电压</a:t>
                          </a:r>
                          <a:r>
                            <a:rPr lang="en-US" altLang="zh-CN" b="1" dirty="0" err="1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uo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运行状态</a:t>
                          </a:r>
                          <a:r>
                            <a:rPr lang="en-US" altLang="zh-CN" dirty="0">
                              <a:solidFill>
                                <a:srgbClr val="00B050"/>
                              </a:solidFill>
                            </a:rPr>
                            <a:t>(</a:t>
                          </a:r>
                          <a:r>
                            <a:rPr lang="en-US" altLang="zh-CN" dirty="0" err="1">
                              <a:solidFill>
                                <a:srgbClr val="FF00FF"/>
                              </a:solidFill>
                            </a:rPr>
                            <a:t>Ud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=100.0V,fr=50.0Hz</a:t>
                          </a:r>
                          <a:r>
                            <a:rPr lang="en-US" altLang="zh-CN" dirty="0">
                              <a:solidFill>
                                <a:srgbClr val="00B050"/>
                              </a:solidFill>
                            </a:rPr>
                            <a:t>)</a:t>
                          </a:r>
                          <a:endParaRPr lang="zh-CN" alt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85802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5">
                <a:extLst>
                  <a:ext uri="{FF2B5EF4-FFF2-40B4-BE49-F238E27FC236}">
                    <a16:creationId xmlns:a16="http://schemas.microsoft.com/office/drawing/2014/main" id="{495908A2-E7D9-CE6B-98B9-1187FE5260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4105848"/>
                  </p:ext>
                </p:extLst>
              </p:nvPr>
            </p:nvGraphicFramePr>
            <p:xfrm>
              <a:off x="901317" y="2040386"/>
              <a:ext cx="10255634" cy="35082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7183">
                      <a:extLst>
                        <a:ext uri="{9D8B030D-6E8A-4147-A177-3AD203B41FA5}">
                          <a16:colId xmlns:a16="http://schemas.microsoft.com/office/drawing/2014/main" val="2625938008"/>
                        </a:ext>
                      </a:extLst>
                    </a:gridCol>
                    <a:gridCol w="2462185">
                      <a:extLst>
                        <a:ext uri="{9D8B030D-6E8A-4147-A177-3AD203B41FA5}">
                          <a16:colId xmlns:a16="http://schemas.microsoft.com/office/drawing/2014/main" val="621580766"/>
                        </a:ext>
                      </a:extLst>
                    </a:gridCol>
                    <a:gridCol w="2538694">
                      <a:extLst>
                        <a:ext uri="{9D8B030D-6E8A-4147-A177-3AD203B41FA5}">
                          <a16:colId xmlns:a16="http://schemas.microsoft.com/office/drawing/2014/main" val="3662873646"/>
                        </a:ext>
                      </a:extLst>
                    </a:gridCol>
                    <a:gridCol w="4037572">
                      <a:extLst>
                        <a:ext uri="{9D8B030D-6E8A-4147-A177-3AD203B41FA5}">
                          <a16:colId xmlns:a16="http://schemas.microsoft.com/office/drawing/2014/main" val="985482151"/>
                        </a:ext>
                      </a:extLst>
                    </a:gridCol>
                  </a:tblGrid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波形序号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CH1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CH2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备注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4689315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正弦信号</a:t>
                          </a:r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Ur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三角载波信号</a:t>
                          </a: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Uc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测试状态</a:t>
                          </a:r>
                          <a:r>
                            <a:rPr lang="en-US" altLang="zh-CN" dirty="0"/>
                            <a:t>(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零电压参考点：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COM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7569380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正弦信号</a:t>
                          </a:r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Ur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Um(SPWM</a:t>
                          </a:r>
                          <a:r>
                            <a:rPr lang="zh-CN" altLang="en-US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信号</a:t>
                          </a: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)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测试状态</a:t>
                          </a:r>
                          <a:r>
                            <a:rPr lang="en-US" altLang="zh-CN" dirty="0"/>
                            <a:t>(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零电压参考点：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COM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6394563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正弦信号</a:t>
                          </a:r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Ur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SPWM2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测试状态</a:t>
                          </a:r>
                          <a:r>
                            <a:rPr lang="en-US" altLang="zh-CN" dirty="0"/>
                            <a:t>(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零电压参考点：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COM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5602470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G2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G4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测试状态</a:t>
                          </a:r>
                          <a:r>
                            <a:rPr lang="en-US" altLang="zh-CN" dirty="0"/>
                            <a:t>(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零电压参考点：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E2</a:t>
                          </a:r>
                          <a:r>
                            <a:rPr lang="zh-CN" altLang="en-US" dirty="0">
                              <a:solidFill>
                                <a:srgbClr val="FF00FF"/>
                              </a:solidFill>
                            </a:rPr>
                            <a:t>或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E4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042345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G2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 dirty="0">
                              <a:solidFill>
                                <a:srgbClr val="00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G4</a:t>
                          </a: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  <a:stretch>
                            <a:fillRect l="-154148" t="-379048" r="-603" b="-7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44532"/>
                      </a:ext>
                    </a:extLst>
                  </a:tr>
                  <a:tr h="4780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dirty="0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负载电压</a:t>
                          </a:r>
                          <a:r>
                            <a:rPr lang="en-US" altLang="zh-CN" b="1" dirty="0" err="1">
                              <a:solidFill>
                                <a:srgbClr val="FFFF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uo</a:t>
                          </a:r>
                          <a:endParaRPr lang="zh-CN" altLang="en-US" b="1" dirty="0">
                            <a:solidFill>
                              <a:srgbClr val="FFFF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solidFill>
                                <a:srgbClr val="00B050"/>
                              </a:solidFill>
                            </a:rPr>
                            <a:t>运行状态</a:t>
                          </a:r>
                          <a:r>
                            <a:rPr lang="en-US" altLang="zh-CN" dirty="0">
                              <a:solidFill>
                                <a:srgbClr val="00B050"/>
                              </a:solidFill>
                            </a:rPr>
                            <a:t>(</a:t>
                          </a:r>
                          <a:r>
                            <a:rPr lang="en-US" altLang="zh-CN" dirty="0" err="1">
                              <a:solidFill>
                                <a:srgbClr val="FF00FF"/>
                              </a:solidFill>
                            </a:rPr>
                            <a:t>Ud</a:t>
                          </a:r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=100.0V,fr=50.0Hz</a:t>
                          </a:r>
                          <a:r>
                            <a:rPr lang="en-US" altLang="zh-CN" dirty="0">
                              <a:solidFill>
                                <a:srgbClr val="00B050"/>
                              </a:solidFill>
                            </a:rPr>
                            <a:t>)</a:t>
                          </a:r>
                          <a:endParaRPr lang="zh-CN" alt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85802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87848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五、实验数据记录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FB5417-C9CD-9F27-CC7D-1DDFECB1D956}"/>
              </a:ext>
            </a:extLst>
          </p:cNvPr>
          <p:cNvSpPr/>
          <p:nvPr/>
        </p:nvSpPr>
        <p:spPr>
          <a:xfrm>
            <a:off x="901317" y="1139264"/>
            <a:ext cx="6591092" cy="559769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公共数据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记录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用示波器</a:t>
            </a: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光标功能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测量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" name="表格 5">
            <a:extLst>
              <a:ext uri="{FF2B5EF4-FFF2-40B4-BE49-F238E27FC236}">
                <a16:creationId xmlns:a16="http://schemas.microsoft.com/office/drawing/2014/main" id="{A5DF2D1C-C013-360C-5207-BCBE7375E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021512"/>
              </p:ext>
            </p:extLst>
          </p:nvPr>
        </p:nvGraphicFramePr>
        <p:xfrm>
          <a:off x="901317" y="3040286"/>
          <a:ext cx="10255634" cy="112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032">
                  <a:extLst>
                    <a:ext uri="{9D8B030D-6E8A-4147-A177-3AD203B41FA5}">
                      <a16:colId xmlns:a16="http://schemas.microsoft.com/office/drawing/2014/main" val="2625938008"/>
                    </a:ext>
                  </a:extLst>
                </a:gridCol>
                <a:gridCol w="1807535">
                  <a:extLst>
                    <a:ext uri="{9D8B030D-6E8A-4147-A177-3AD203B41FA5}">
                      <a16:colId xmlns:a16="http://schemas.microsoft.com/office/drawing/2014/main" val="621580766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3662873646"/>
                    </a:ext>
                  </a:extLst>
                </a:gridCol>
                <a:gridCol w="4642737">
                  <a:extLst>
                    <a:ext uri="{9D8B030D-6E8A-4147-A177-3AD203B41FA5}">
                      <a16:colId xmlns:a16="http://schemas.microsoft.com/office/drawing/2014/main" val="985482151"/>
                    </a:ext>
                  </a:extLst>
                </a:gridCol>
              </a:tblGrid>
              <a:tr h="392092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B0F0"/>
                          </a:solidFill>
                        </a:rPr>
                        <a:t>三角载波信号</a:t>
                      </a:r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uc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B050"/>
                          </a:solidFill>
                        </a:rPr>
                        <a:t>幅值</a:t>
                      </a:r>
                      <a:r>
                        <a:rPr lang="en-US" altLang="zh-CN" dirty="0" err="1">
                          <a:solidFill>
                            <a:srgbClr val="00B050"/>
                          </a:solidFill>
                        </a:rPr>
                        <a:t>Ucm</a:t>
                      </a:r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(V)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B050"/>
                          </a:solidFill>
                        </a:rPr>
                        <a:t>频率</a:t>
                      </a:r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fc(kHz)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B050"/>
                          </a:solidFill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689315"/>
                  </a:ext>
                </a:extLst>
              </a:tr>
              <a:tr h="289560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FF"/>
                          </a:solidFill>
                        </a:rPr>
                        <a:t>峰值？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FF"/>
                          </a:solidFill>
                        </a:rPr>
                        <a:t>9.5±0.5</a:t>
                      </a:r>
                      <a:endParaRPr lang="zh-CN" altLang="en-US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0B050"/>
                          </a:solidFill>
                        </a:rPr>
                        <a:t>运行状态</a:t>
                      </a:r>
                      <a:r>
                        <a:rPr lang="en-US" altLang="zh-CN" sz="1600" dirty="0">
                          <a:solidFill>
                            <a:srgbClr val="FF00FF"/>
                          </a:solidFill>
                        </a:rPr>
                        <a:t>2.0V±0.4V</a:t>
                      </a:r>
                      <a:endParaRPr lang="zh-CN" altLang="en-US" sz="1600" dirty="0">
                        <a:solidFill>
                          <a:srgbClr val="FF00FF"/>
                        </a:solidFill>
                      </a:endParaRPr>
                    </a:p>
                    <a:p>
                      <a:pPr algn="ctr"/>
                      <a:endParaRPr lang="zh-CN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569380"/>
                  </a:ext>
                </a:extLst>
              </a:tr>
              <a:tr h="28956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FF"/>
                          </a:solidFill>
                        </a:rPr>
                        <a:t>谷值？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648345"/>
                  </a:ext>
                </a:extLst>
              </a:tr>
            </a:tbl>
          </a:graphicData>
        </a:graphic>
      </p:graphicFrame>
      <p:graphicFrame>
        <p:nvGraphicFramePr>
          <p:cNvPr id="13" name="表格 5">
            <a:extLst>
              <a:ext uri="{FF2B5EF4-FFF2-40B4-BE49-F238E27FC236}">
                <a16:creationId xmlns:a16="http://schemas.microsoft.com/office/drawing/2014/main" id="{6C7B2131-BF17-0C11-AA85-0AE3D7DCF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630607"/>
              </p:ext>
            </p:extLst>
          </p:nvPr>
        </p:nvGraphicFramePr>
        <p:xfrm>
          <a:off x="901317" y="1829590"/>
          <a:ext cx="1025563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032">
                  <a:extLst>
                    <a:ext uri="{9D8B030D-6E8A-4147-A177-3AD203B41FA5}">
                      <a16:colId xmlns:a16="http://schemas.microsoft.com/office/drawing/2014/main" val="2625938008"/>
                    </a:ext>
                  </a:extLst>
                </a:gridCol>
                <a:gridCol w="1807535">
                  <a:extLst>
                    <a:ext uri="{9D8B030D-6E8A-4147-A177-3AD203B41FA5}">
                      <a16:colId xmlns:a16="http://schemas.microsoft.com/office/drawing/2014/main" val="621580766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3662873646"/>
                    </a:ext>
                  </a:extLst>
                </a:gridCol>
                <a:gridCol w="4642737">
                  <a:extLst>
                    <a:ext uri="{9D8B030D-6E8A-4147-A177-3AD203B41FA5}">
                      <a16:colId xmlns:a16="http://schemas.microsoft.com/office/drawing/2014/main" val="985482151"/>
                    </a:ext>
                  </a:extLst>
                </a:gridCol>
              </a:tblGrid>
              <a:tr h="346779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B0F0"/>
                          </a:solidFill>
                        </a:rPr>
                        <a:t>正弦信号</a:t>
                      </a:r>
                      <a:r>
                        <a:rPr lang="en-US" altLang="zh-CN" dirty="0" err="1">
                          <a:solidFill>
                            <a:srgbClr val="00B0F0"/>
                          </a:solidFill>
                        </a:rPr>
                        <a:t>ur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B050"/>
                          </a:solidFill>
                        </a:rPr>
                        <a:t>幅值</a:t>
                      </a:r>
                      <a:r>
                        <a:rPr lang="en-US" altLang="zh-CN" dirty="0" err="1">
                          <a:solidFill>
                            <a:srgbClr val="00B050"/>
                          </a:solidFill>
                        </a:rPr>
                        <a:t>Urm</a:t>
                      </a:r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(V)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B050"/>
                          </a:solidFill>
                        </a:rPr>
                        <a:t>频率</a:t>
                      </a:r>
                      <a:r>
                        <a:rPr lang="en-US" altLang="zh-CN" dirty="0" err="1">
                          <a:solidFill>
                            <a:srgbClr val="00B050"/>
                          </a:solidFill>
                        </a:rPr>
                        <a:t>fr</a:t>
                      </a:r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(Hz)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B050"/>
                          </a:solidFill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68931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FF"/>
                          </a:solidFill>
                        </a:rPr>
                        <a:t>峰值？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FF"/>
                          </a:solidFill>
                        </a:rPr>
                        <a:t>50±0.05</a:t>
                      </a:r>
                      <a:endParaRPr lang="zh-CN" altLang="en-US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00B050"/>
                          </a:solidFill>
                        </a:rPr>
                        <a:t>运行状态，选取频率为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50.0Hz</a:t>
                      </a:r>
                    </a:p>
                    <a:p>
                      <a:pPr algn="ctr"/>
                      <a:r>
                        <a:rPr lang="en-US" altLang="zh-CN" sz="1600" dirty="0">
                          <a:solidFill>
                            <a:srgbClr val="FF00FF"/>
                          </a:solidFill>
                        </a:rPr>
                        <a:t>1.4V±0.2V</a:t>
                      </a:r>
                      <a:endParaRPr lang="zh-CN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56938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FF"/>
                          </a:solidFill>
                        </a:rPr>
                        <a:t>谷值？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9596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9B9C5C39-1304-AE9A-A977-001613C359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6967915"/>
                  </p:ext>
                </p:extLst>
              </p:nvPr>
            </p:nvGraphicFramePr>
            <p:xfrm>
              <a:off x="901317" y="4259672"/>
              <a:ext cx="8384304" cy="10365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4032">
                      <a:extLst>
                        <a:ext uri="{9D8B030D-6E8A-4147-A177-3AD203B41FA5}">
                          <a16:colId xmlns:a16="http://schemas.microsoft.com/office/drawing/2014/main" val="2625938008"/>
                        </a:ext>
                      </a:extLst>
                    </a:gridCol>
                    <a:gridCol w="1807535">
                      <a:extLst>
                        <a:ext uri="{9D8B030D-6E8A-4147-A177-3AD203B41FA5}">
                          <a16:colId xmlns:a16="http://schemas.microsoft.com/office/drawing/2014/main" val="621580766"/>
                        </a:ext>
                      </a:extLst>
                    </a:gridCol>
                    <a:gridCol w="4642737">
                      <a:extLst>
                        <a:ext uri="{9D8B030D-6E8A-4147-A177-3AD203B41FA5}">
                          <a16:colId xmlns:a16="http://schemas.microsoft.com/office/drawing/2014/main" val="985482151"/>
                        </a:ext>
                      </a:extLst>
                    </a:gridCol>
                  </a:tblGrid>
                  <a:tr h="346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rgbClr val="00B0F0"/>
                              </a:solidFill>
                            </a:rPr>
                            <a:t>调制比</a:t>
                          </a:r>
                          <a:r>
                            <a:rPr lang="en-US" altLang="zh-CN" dirty="0">
                              <a:solidFill>
                                <a:srgbClr val="00B0F0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𝑟𝑚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𝑐𝑚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altLang="zh-CN" dirty="0">
                              <a:solidFill>
                                <a:srgbClr val="00B0F0"/>
                              </a:solidFill>
                            </a:rPr>
                            <a:t>)</a:t>
                          </a:r>
                          <a:endParaRPr lang="zh-CN" altLang="en-US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0.75±0.1</a:t>
                          </a:r>
                          <a:endParaRPr lang="zh-CN" altLang="en-US" dirty="0">
                            <a:solidFill>
                              <a:srgbClr val="FF00FF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solidFill>
                                <a:srgbClr val="00B050"/>
                              </a:solidFill>
                            </a:rPr>
                            <a:t>运行状态</a:t>
                          </a:r>
                          <a:endParaRPr lang="zh-CN" alt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4689315"/>
                      </a:ext>
                    </a:extLst>
                  </a:tr>
                  <a:tr h="346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rgbClr val="00B0F0"/>
                              </a:solidFill>
                            </a:rPr>
                            <a:t>载波比</a:t>
                          </a:r>
                          <a:r>
                            <a:rPr lang="en-US" altLang="zh-CN" dirty="0">
                              <a:solidFill>
                                <a:srgbClr val="00B0F0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CN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altLang="zh-CN" dirty="0">
                              <a:solidFill>
                                <a:srgbClr val="00B0F0"/>
                              </a:solidFill>
                            </a:rPr>
                            <a:t>)</a:t>
                          </a:r>
                          <a:endParaRPr lang="zh-CN" altLang="en-US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180±20</a:t>
                          </a:r>
                          <a:endParaRPr lang="zh-CN" altLang="en-US" dirty="0">
                            <a:solidFill>
                              <a:srgbClr val="FF00FF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rgbClr val="00B050"/>
                              </a:solidFill>
                            </a:rPr>
                            <a:t>运行状态，选取频率为</a:t>
                          </a:r>
                          <a:r>
                            <a:rPr lang="en-US" altLang="zh-CN" sz="1600" dirty="0">
                              <a:solidFill>
                                <a:srgbClr val="00B050"/>
                              </a:solidFill>
                            </a:rPr>
                            <a:t>50.0Hz</a:t>
                          </a:r>
                          <a:endParaRPr lang="zh-CN" alt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7569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9B9C5C39-1304-AE9A-A977-001613C359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6967915"/>
                  </p:ext>
                </p:extLst>
              </p:nvPr>
            </p:nvGraphicFramePr>
            <p:xfrm>
              <a:off x="901317" y="4259672"/>
              <a:ext cx="8384304" cy="10365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4032">
                      <a:extLst>
                        <a:ext uri="{9D8B030D-6E8A-4147-A177-3AD203B41FA5}">
                          <a16:colId xmlns:a16="http://schemas.microsoft.com/office/drawing/2014/main" val="2625938008"/>
                        </a:ext>
                      </a:extLst>
                    </a:gridCol>
                    <a:gridCol w="1807535">
                      <a:extLst>
                        <a:ext uri="{9D8B030D-6E8A-4147-A177-3AD203B41FA5}">
                          <a16:colId xmlns:a16="http://schemas.microsoft.com/office/drawing/2014/main" val="621580766"/>
                        </a:ext>
                      </a:extLst>
                    </a:gridCol>
                    <a:gridCol w="4642737">
                      <a:extLst>
                        <a:ext uri="{9D8B030D-6E8A-4147-A177-3AD203B41FA5}">
                          <a16:colId xmlns:a16="http://schemas.microsoft.com/office/drawing/2014/main" val="985482151"/>
                        </a:ext>
                      </a:extLst>
                    </a:gridCol>
                  </a:tblGrid>
                  <a:tr h="5148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14" t="-5882" r="-334277" b="-10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0.75±0.1</a:t>
                          </a:r>
                          <a:endParaRPr lang="zh-CN" altLang="en-US" dirty="0">
                            <a:solidFill>
                              <a:srgbClr val="FF00FF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solidFill>
                                <a:srgbClr val="00B050"/>
                              </a:solidFill>
                            </a:rPr>
                            <a:t>运行状态</a:t>
                          </a:r>
                          <a:endParaRPr lang="zh-CN" alt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4689315"/>
                      </a:ext>
                    </a:extLst>
                  </a:tr>
                  <a:tr h="5217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14" t="-104651" r="-334277" b="-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rgbClr val="FF00FF"/>
                              </a:solidFill>
                            </a:rPr>
                            <a:t>180±20</a:t>
                          </a:r>
                          <a:endParaRPr lang="zh-CN" altLang="en-US" dirty="0">
                            <a:solidFill>
                              <a:srgbClr val="FF00FF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rgbClr val="00B050"/>
                              </a:solidFill>
                            </a:rPr>
                            <a:t>运行状态，选取频率为</a:t>
                          </a:r>
                          <a:r>
                            <a:rPr lang="en-US" altLang="zh-CN" sz="1600" dirty="0">
                              <a:solidFill>
                                <a:srgbClr val="00B050"/>
                              </a:solidFill>
                            </a:rPr>
                            <a:t>50.0Hz</a:t>
                          </a:r>
                          <a:endParaRPr lang="zh-CN" alt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75693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43994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五、实验数据记录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CFB5417-C9CD-9F27-CC7D-1DDFECB1D956}"/>
                  </a:ext>
                </a:extLst>
              </p:cNvPr>
              <p:cNvSpPr/>
              <p:nvPr/>
            </p:nvSpPr>
            <p:spPr>
              <a:xfrm>
                <a:off x="936081" y="1082933"/>
                <a:ext cx="9755801" cy="380810"/>
              </a:xfrm>
              <a:prstGeom prst="rect">
                <a:avLst/>
              </a:prstGeom>
              <a:noFill/>
              <a:ln w="12700">
                <a:noFill/>
                <a:miter/>
              </a:ln>
            </p:spPr>
            <p:txBody>
              <a:bodyPr wrap="square" anchor="ctr">
                <a:spAutoFit/>
              </a:bodyPr>
              <a:lstStyle/>
              <a:p>
                <a:pPr algn="just">
                  <a:lnSpc>
                    <a:spcPts val="2400"/>
                  </a:lnSpc>
                  <a:spcAft>
                    <a:spcPts val="0"/>
                  </a:spcAft>
                  <a:defRPr/>
                </a:pPr>
                <a:r>
                  <a:rPr lang="zh-CN" altLang="en-US" b="1" dirty="0">
                    <a:solidFill>
                      <a:srgbClr val="FF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调频实验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记录表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1【</a:t>
                </a:r>
                <a:r>
                  <a:rPr lang="zh-CN" altLang="en-US" b="1" dirty="0">
                    <a:solidFill>
                      <a:srgbClr val="0000FF"/>
                    </a:solidFill>
                    <a:latin typeface="华文琥珀" panose="02010800040101010101" pitchFamily="2" charset="-122"/>
                    <a:ea typeface="华文琥珀" panose="02010800040101010101" pitchFamily="2" charset="-122"/>
                  </a:rPr>
                  <a:t>运行状态，纯阻性负载，</a:t>
                </a:r>
                <a:r>
                  <a:rPr lang="zh-CN" altLang="en-US" b="1" dirty="0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研究定量关系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𝒇</m:t>
                    </m:r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𝒓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】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CFB5417-C9CD-9F27-CC7D-1DDFECB1D9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81" y="1082933"/>
                <a:ext cx="9755801" cy="380810"/>
              </a:xfrm>
              <a:prstGeom prst="rect">
                <a:avLst/>
              </a:prstGeom>
              <a:blipFill>
                <a:blip r:embed="rId6"/>
                <a:stretch>
                  <a:fillRect l="-563" t="-11290" b="-29032"/>
                </a:stretch>
              </a:blipFill>
              <a:ln w="127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13">
            <a:extLst>
              <a:ext uri="{FF2B5EF4-FFF2-40B4-BE49-F238E27FC236}">
                <a16:creationId xmlns:a16="http://schemas.microsoft.com/office/drawing/2014/main" id="{52158BE9-09DD-6B2F-FD05-B7CE05374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443562"/>
              </p:ext>
            </p:extLst>
          </p:nvPr>
        </p:nvGraphicFramePr>
        <p:xfrm>
          <a:off x="1070523" y="1463743"/>
          <a:ext cx="9739086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298">
                  <a:extLst>
                    <a:ext uri="{9D8B030D-6E8A-4147-A177-3AD203B41FA5}">
                      <a16:colId xmlns:a16="http://schemas.microsoft.com/office/drawing/2014/main" val="1488091854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1798606986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3831198339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1600732004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57638391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225935097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691385007"/>
                    </a:ext>
                  </a:extLst>
                </a:gridCol>
              </a:tblGrid>
              <a:tr h="327128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H</a:t>
                      </a:r>
                      <a:r>
                        <a:rPr lang="zh-CN" altLang="en-US" sz="2000" dirty="0"/>
                        <a:t>桥直流母线电压</a:t>
                      </a:r>
                      <a:r>
                        <a:rPr lang="en-US" altLang="zh-CN" sz="2000" dirty="0" err="1"/>
                        <a:t>U</a:t>
                      </a:r>
                      <a:r>
                        <a:rPr lang="en-US" altLang="zh-CN" sz="1800" dirty="0" err="1"/>
                        <a:t>d</a:t>
                      </a:r>
                      <a:r>
                        <a:rPr lang="en-US" altLang="zh-CN" sz="18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800" dirty="0">
                          <a:solidFill>
                            <a:srgbClr val="FF00FF"/>
                          </a:solidFill>
                        </a:rPr>
                        <a:t>固定</a:t>
                      </a:r>
                      <a:r>
                        <a:rPr lang="en-US" altLang="zh-CN" sz="1800" dirty="0">
                          <a:solidFill>
                            <a:srgbClr val="FF00FF"/>
                          </a:solidFill>
                        </a:rPr>
                        <a:t>)</a:t>
                      </a:r>
                      <a:r>
                        <a:rPr lang="en-US" altLang="zh-CN" sz="2000" dirty="0">
                          <a:solidFill>
                            <a:srgbClr val="FF00FF"/>
                          </a:solidFill>
                        </a:rPr>
                        <a:t>= 100.0</a:t>
                      </a:r>
                      <a:r>
                        <a:rPr lang="en-US" altLang="zh-CN" sz="2000" dirty="0"/>
                        <a:t> (V)</a:t>
                      </a:r>
                      <a:endParaRPr lang="zh-CN" alt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985040"/>
                  </a:ext>
                </a:extLst>
              </a:tr>
              <a:tr h="3774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正弦频率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给定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)</a:t>
                      </a:r>
                      <a:r>
                        <a:rPr lang="en-US" altLang="zh-CN" sz="1200" dirty="0" err="1">
                          <a:solidFill>
                            <a:srgbClr val="FF00FF"/>
                          </a:solidFill>
                        </a:rPr>
                        <a:t>fr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（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Hz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60.0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50127"/>
                  </a:ext>
                </a:extLst>
              </a:tr>
              <a:tr h="3774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负载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电阻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)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电压的频率</a:t>
                      </a:r>
                      <a:r>
                        <a:rPr lang="en-US" altLang="zh-CN" sz="1200" dirty="0" err="1">
                          <a:solidFill>
                            <a:srgbClr val="FF00FF"/>
                          </a:solidFill>
                        </a:rPr>
                        <a:t>fo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(Hz)</a:t>
                      </a:r>
                      <a:endParaRPr lang="zh-CN" altLang="en-US" sz="12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187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0E30730-EA0C-06E6-78FF-351E7D3CD927}"/>
                  </a:ext>
                </a:extLst>
              </p:cNvPr>
              <p:cNvSpPr/>
              <p:nvPr/>
            </p:nvSpPr>
            <p:spPr>
              <a:xfrm>
                <a:off x="901315" y="3523431"/>
                <a:ext cx="9755801" cy="380810"/>
              </a:xfrm>
              <a:prstGeom prst="rect">
                <a:avLst/>
              </a:prstGeom>
              <a:noFill/>
              <a:ln w="12700">
                <a:noFill/>
                <a:miter/>
              </a:ln>
            </p:spPr>
            <p:txBody>
              <a:bodyPr wrap="square" anchor="ctr">
                <a:spAutoFit/>
              </a:bodyPr>
              <a:lstStyle/>
              <a:p>
                <a:pPr algn="just">
                  <a:lnSpc>
                    <a:spcPts val="2400"/>
                  </a:lnSpc>
                  <a:spcAft>
                    <a:spcPts val="0"/>
                  </a:spcAft>
                  <a:defRPr/>
                </a:pPr>
                <a:r>
                  <a:rPr lang="zh-CN" altLang="en-US" b="1" dirty="0">
                    <a:solidFill>
                      <a:srgbClr val="FF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调频实验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记录表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2【</a:t>
                </a:r>
                <a:r>
                  <a:rPr lang="zh-CN" altLang="en-US" b="1" dirty="0">
                    <a:solidFill>
                      <a:srgbClr val="0000FF"/>
                    </a:solidFill>
                    <a:latin typeface="华文琥珀" panose="02010800040101010101" pitchFamily="2" charset="-122"/>
                    <a:ea typeface="华文琥珀" panose="02010800040101010101" pitchFamily="2" charset="-122"/>
                  </a:rPr>
                  <a:t>运行状态，纯阻性负载，</a:t>
                </a:r>
                <a:r>
                  <a:rPr lang="zh-CN" altLang="en-US" b="1" dirty="0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研究定量关系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𝒇</m:t>
                    </m:r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𝑼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𝒅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  <m:r>
                      <a:rPr lang="zh-CN" altLang="en-US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】</a:t>
                </a: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0E30730-EA0C-06E6-78FF-351E7D3CD9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15" y="3523431"/>
                <a:ext cx="9755801" cy="380810"/>
              </a:xfrm>
              <a:prstGeom prst="rect">
                <a:avLst/>
              </a:prstGeom>
              <a:blipFill>
                <a:blip r:embed="rId7"/>
                <a:stretch>
                  <a:fillRect l="-563" t="-9677" b="-29032"/>
                </a:stretch>
              </a:blipFill>
              <a:ln w="127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13">
            <a:extLst>
              <a:ext uri="{FF2B5EF4-FFF2-40B4-BE49-F238E27FC236}">
                <a16:creationId xmlns:a16="http://schemas.microsoft.com/office/drawing/2014/main" id="{59D36473-9B48-C2E6-A943-262CF54D1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775834"/>
              </p:ext>
            </p:extLst>
          </p:nvPr>
        </p:nvGraphicFramePr>
        <p:xfrm>
          <a:off x="1046676" y="4011083"/>
          <a:ext cx="9755802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686">
                  <a:extLst>
                    <a:ext uri="{9D8B030D-6E8A-4147-A177-3AD203B41FA5}">
                      <a16:colId xmlns:a16="http://schemas.microsoft.com/office/drawing/2014/main" val="1488091854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1798606986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3831198339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1600732004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57638391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225935097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691385007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正弦信号频率</a:t>
                      </a:r>
                      <a:r>
                        <a:rPr lang="en-US" altLang="zh-CN" sz="1800" dirty="0" err="1"/>
                        <a:t>fr</a:t>
                      </a:r>
                      <a:r>
                        <a:rPr lang="en-US" altLang="zh-CN" sz="16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rgbClr val="FF00FF"/>
                          </a:solidFill>
                        </a:rPr>
                        <a:t>固定</a:t>
                      </a:r>
                      <a:r>
                        <a:rPr lang="en-US" altLang="zh-CN" sz="1600" dirty="0">
                          <a:solidFill>
                            <a:srgbClr val="FF00FF"/>
                          </a:solidFill>
                        </a:rPr>
                        <a:t>)</a:t>
                      </a:r>
                      <a:r>
                        <a:rPr lang="en-US" altLang="zh-CN" sz="1800" dirty="0">
                          <a:solidFill>
                            <a:srgbClr val="FF00FF"/>
                          </a:solidFill>
                        </a:rPr>
                        <a:t>= 50.0</a:t>
                      </a:r>
                      <a:r>
                        <a:rPr lang="en-US" altLang="zh-CN" sz="1800" dirty="0"/>
                        <a:t> (Hz)</a:t>
                      </a:r>
                      <a:endParaRPr lang="zh-CN" alt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98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U</a:t>
                      </a:r>
                      <a:r>
                        <a:rPr lang="en-US" altLang="zh-CN" sz="1200" dirty="0"/>
                        <a:t>DC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给定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) (V)</a:t>
                      </a:r>
                      <a:endParaRPr lang="zh-CN" altLang="en-US" sz="12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70.0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150.0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50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负载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电阻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)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电压的频率</a:t>
                      </a:r>
                      <a:r>
                        <a:rPr lang="en-US" altLang="zh-CN" sz="1200" dirty="0" err="1">
                          <a:solidFill>
                            <a:srgbClr val="FF00FF"/>
                          </a:solidFill>
                        </a:rPr>
                        <a:t>fo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(Hz)</a:t>
                      </a:r>
                      <a:endParaRPr lang="zh-CN" altLang="en-US" sz="12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18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365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五、实验数据记录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CFB5417-C9CD-9F27-CC7D-1DDFECB1D956}"/>
                  </a:ext>
                </a:extLst>
              </p:cNvPr>
              <p:cNvSpPr/>
              <p:nvPr/>
            </p:nvSpPr>
            <p:spPr>
              <a:xfrm>
                <a:off x="936081" y="1082933"/>
                <a:ext cx="9755801" cy="380810"/>
              </a:xfrm>
              <a:prstGeom prst="rect">
                <a:avLst/>
              </a:prstGeom>
              <a:noFill/>
              <a:ln w="12700">
                <a:noFill/>
                <a:miter/>
              </a:ln>
            </p:spPr>
            <p:txBody>
              <a:bodyPr wrap="square" anchor="ctr">
                <a:spAutoFit/>
              </a:bodyPr>
              <a:lstStyle/>
              <a:p>
                <a:pPr algn="just">
                  <a:lnSpc>
                    <a:spcPts val="2400"/>
                  </a:lnSpc>
                  <a:spcAft>
                    <a:spcPts val="0"/>
                  </a:spcAft>
                  <a:defRPr/>
                </a:pPr>
                <a:r>
                  <a:rPr lang="zh-CN" altLang="en-US" b="1" dirty="0">
                    <a:solidFill>
                      <a:srgbClr val="FF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调压实验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记录表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1【</a:t>
                </a:r>
                <a:r>
                  <a:rPr lang="zh-CN" altLang="en-US" b="1" dirty="0">
                    <a:solidFill>
                      <a:srgbClr val="0000FF"/>
                    </a:solidFill>
                    <a:latin typeface="华文琥珀" panose="02010800040101010101" pitchFamily="2" charset="-122"/>
                    <a:ea typeface="华文琥珀" panose="02010800040101010101" pitchFamily="2" charset="-122"/>
                  </a:rPr>
                  <a:t>运行状态，纯阻性负载，</a:t>
                </a:r>
                <a:r>
                  <a:rPr lang="zh-CN" altLang="en-US" b="1" dirty="0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研究定量关系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𝑼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𝒇</m:t>
                    </m:r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𝒓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】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CFB5417-C9CD-9F27-CC7D-1DDFECB1D9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81" y="1082933"/>
                <a:ext cx="9755801" cy="380810"/>
              </a:xfrm>
              <a:prstGeom prst="rect">
                <a:avLst/>
              </a:prstGeom>
              <a:blipFill>
                <a:blip r:embed="rId6"/>
                <a:stretch>
                  <a:fillRect l="-563" t="-11290" b="-29032"/>
                </a:stretch>
              </a:blipFill>
              <a:ln w="127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13">
            <a:extLst>
              <a:ext uri="{FF2B5EF4-FFF2-40B4-BE49-F238E27FC236}">
                <a16:creationId xmlns:a16="http://schemas.microsoft.com/office/drawing/2014/main" id="{52158BE9-09DD-6B2F-FD05-B7CE05374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564736"/>
              </p:ext>
            </p:extLst>
          </p:nvPr>
        </p:nvGraphicFramePr>
        <p:xfrm>
          <a:off x="1070523" y="1463743"/>
          <a:ext cx="9739086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298">
                  <a:extLst>
                    <a:ext uri="{9D8B030D-6E8A-4147-A177-3AD203B41FA5}">
                      <a16:colId xmlns:a16="http://schemas.microsoft.com/office/drawing/2014/main" val="1488091854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1798606986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3831198339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1600732004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57638391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225935097"/>
                    </a:ext>
                  </a:extLst>
                </a:gridCol>
                <a:gridCol w="1391298">
                  <a:extLst>
                    <a:ext uri="{9D8B030D-6E8A-4147-A177-3AD203B41FA5}">
                      <a16:colId xmlns:a16="http://schemas.microsoft.com/office/drawing/2014/main" val="691385007"/>
                    </a:ext>
                  </a:extLst>
                </a:gridCol>
              </a:tblGrid>
              <a:tr h="327128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H</a:t>
                      </a:r>
                      <a:r>
                        <a:rPr lang="zh-CN" altLang="en-US" sz="2000" dirty="0"/>
                        <a:t>桥直流母线电压</a:t>
                      </a:r>
                      <a:r>
                        <a:rPr lang="en-US" altLang="zh-CN" sz="2000" dirty="0" err="1"/>
                        <a:t>U</a:t>
                      </a:r>
                      <a:r>
                        <a:rPr lang="en-US" altLang="zh-CN" sz="1800" dirty="0" err="1"/>
                        <a:t>d</a:t>
                      </a:r>
                      <a:r>
                        <a:rPr lang="en-US" altLang="zh-CN" sz="18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800" dirty="0">
                          <a:solidFill>
                            <a:srgbClr val="FF00FF"/>
                          </a:solidFill>
                        </a:rPr>
                        <a:t>固定</a:t>
                      </a:r>
                      <a:r>
                        <a:rPr lang="en-US" altLang="zh-CN" sz="1800" dirty="0">
                          <a:solidFill>
                            <a:srgbClr val="FF00FF"/>
                          </a:solidFill>
                        </a:rPr>
                        <a:t>)</a:t>
                      </a:r>
                      <a:r>
                        <a:rPr lang="en-US" altLang="zh-CN" sz="2000" dirty="0">
                          <a:solidFill>
                            <a:srgbClr val="FF00FF"/>
                          </a:solidFill>
                        </a:rPr>
                        <a:t>= 100.0</a:t>
                      </a:r>
                      <a:r>
                        <a:rPr lang="en-US" altLang="zh-CN" sz="2000" dirty="0"/>
                        <a:t> (V)</a:t>
                      </a:r>
                      <a:endParaRPr lang="zh-CN" alt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985040"/>
                  </a:ext>
                </a:extLst>
              </a:tr>
              <a:tr h="3774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正弦频率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给定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)</a:t>
                      </a:r>
                      <a:r>
                        <a:rPr lang="en-US" altLang="zh-CN" sz="1200" dirty="0" err="1">
                          <a:solidFill>
                            <a:srgbClr val="FF00FF"/>
                          </a:solidFill>
                        </a:rPr>
                        <a:t>fr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（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Hz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60.0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50127"/>
                  </a:ext>
                </a:extLst>
              </a:tr>
              <a:tr h="306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负载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电阻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)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电压</a:t>
                      </a:r>
                      <a:r>
                        <a:rPr lang="en-US" altLang="zh-CN" sz="1200" dirty="0" err="1">
                          <a:solidFill>
                            <a:srgbClr val="FF00FF"/>
                          </a:solidFill>
                        </a:rPr>
                        <a:t>uo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(V)</a:t>
                      </a:r>
                      <a:endParaRPr lang="zh-CN" altLang="en-US" sz="12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5893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0E30730-EA0C-06E6-78FF-351E7D3CD927}"/>
                  </a:ext>
                </a:extLst>
              </p:cNvPr>
              <p:cNvSpPr/>
              <p:nvPr/>
            </p:nvSpPr>
            <p:spPr>
              <a:xfrm>
                <a:off x="901315" y="3523431"/>
                <a:ext cx="9755801" cy="380810"/>
              </a:xfrm>
              <a:prstGeom prst="rect">
                <a:avLst/>
              </a:prstGeom>
              <a:noFill/>
              <a:ln w="12700">
                <a:noFill/>
                <a:miter/>
              </a:ln>
            </p:spPr>
            <p:txBody>
              <a:bodyPr wrap="square" anchor="ctr">
                <a:spAutoFit/>
              </a:bodyPr>
              <a:lstStyle/>
              <a:p>
                <a:pPr algn="just">
                  <a:lnSpc>
                    <a:spcPts val="2400"/>
                  </a:lnSpc>
                  <a:spcAft>
                    <a:spcPts val="0"/>
                  </a:spcAft>
                  <a:defRPr/>
                </a:pPr>
                <a:r>
                  <a:rPr lang="zh-CN" altLang="en-US" b="1" dirty="0">
                    <a:solidFill>
                      <a:srgbClr val="FF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调压实验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记录表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2【</a:t>
                </a:r>
                <a:r>
                  <a:rPr lang="zh-CN" altLang="en-US" b="1" dirty="0">
                    <a:solidFill>
                      <a:srgbClr val="0000FF"/>
                    </a:solidFill>
                    <a:latin typeface="华文琥珀" panose="02010800040101010101" pitchFamily="2" charset="-122"/>
                    <a:ea typeface="华文琥珀" panose="02010800040101010101" pitchFamily="2" charset="-122"/>
                  </a:rPr>
                  <a:t>运行状态，纯阻性负载，</a:t>
                </a:r>
                <a:r>
                  <a:rPr lang="zh-CN" altLang="en-US" b="1" dirty="0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研究定量关系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𝑼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𝒇</m:t>
                    </m:r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𝑼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𝒅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  <m:r>
                      <a:rPr lang="zh-CN" altLang="en-US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】</a:t>
                </a: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0E30730-EA0C-06E6-78FF-351E7D3CD9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15" y="3523431"/>
                <a:ext cx="9755801" cy="380810"/>
              </a:xfrm>
              <a:prstGeom prst="rect">
                <a:avLst/>
              </a:prstGeom>
              <a:blipFill>
                <a:blip r:embed="rId7"/>
                <a:stretch>
                  <a:fillRect l="-563" t="-9677" b="-29032"/>
                </a:stretch>
              </a:blipFill>
              <a:ln w="127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13">
            <a:extLst>
              <a:ext uri="{FF2B5EF4-FFF2-40B4-BE49-F238E27FC236}">
                <a16:creationId xmlns:a16="http://schemas.microsoft.com/office/drawing/2014/main" id="{59D36473-9B48-C2E6-A943-262CF54D1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85438"/>
              </p:ext>
            </p:extLst>
          </p:nvPr>
        </p:nvGraphicFramePr>
        <p:xfrm>
          <a:off x="1046676" y="4011083"/>
          <a:ext cx="9755802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686">
                  <a:extLst>
                    <a:ext uri="{9D8B030D-6E8A-4147-A177-3AD203B41FA5}">
                      <a16:colId xmlns:a16="http://schemas.microsoft.com/office/drawing/2014/main" val="1488091854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1798606986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3831198339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1600732004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57638391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225935097"/>
                    </a:ext>
                  </a:extLst>
                </a:gridCol>
                <a:gridCol w="1393686">
                  <a:extLst>
                    <a:ext uri="{9D8B030D-6E8A-4147-A177-3AD203B41FA5}">
                      <a16:colId xmlns:a16="http://schemas.microsoft.com/office/drawing/2014/main" val="691385007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正弦信号频率</a:t>
                      </a:r>
                      <a:r>
                        <a:rPr lang="en-US" altLang="zh-CN" sz="1800" dirty="0" err="1"/>
                        <a:t>fr</a:t>
                      </a:r>
                      <a:r>
                        <a:rPr lang="en-US" altLang="zh-CN" sz="16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rgbClr val="FF00FF"/>
                          </a:solidFill>
                        </a:rPr>
                        <a:t>固定</a:t>
                      </a:r>
                      <a:r>
                        <a:rPr lang="en-US" altLang="zh-CN" sz="1600" dirty="0">
                          <a:solidFill>
                            <a:srgbClr val="FF00FF"/>
                          </a:solidFill>
                        </a:rPr>
                        <a:t>)</a:t>
                      </a:r>
                      <a:r>
                        <a:rPr lang="en-US" altLang="zh-CN" sz="1800" dirty="0">
                          <a:solidFill>
                            <a:srgbClr val="FF00FF"/>
                          </a:solidFill>
                        </a:rPr>
                        <a:t>= 50.0</a:t>
                      </a:r>
                      <a:r>
                        <a:rPr lang="en-US" altLang="zh-CN" sz="1800" dirty="0"/>
                        <a:t> (Hz)</a:t>
                      </a:r>
                      <a:endParaRPr lang="zh-CN" alt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98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U</a:t>
                      </a:r>
                      <a:r>
                        <a:rPr lang="en-US" altLang="zh-CN" sz="1200" dirty="0"/>
                        <a:t>DC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给定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) (V)</a:t>
                      </a:r>
                      <a:endParaRPr lang="zh-CN" altLang="en-US" sz="12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70.0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150.0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50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负载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电阻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)</a:t>
                      </a:r>
                      <a:r>
                        <a:rPr lang="zh-CN" altLang="en-US" sz="1200" dirty="0">
                          <a:solidFill>
                            <a:srgbClr val="FF00FF"/>
                          </a:solidFill>
                        </a:rPr>
                        <a:t>电压</a:t>
                      </a:r>
                      <a:r>
                        <a:rPr lang="en-US" altLang="zh-CN" sz="1200" dirty="0" err="1">
                          <a:solidFill>
                            <a:srgbClr val="FF00FF"/>
                          </a:solidFill>
                        </a:rPr>
                        <a:t>uo</a:t>
                      </a:r>
                      <a:r>
                        <a:rPr lang="en-US" altLang="zh-CN" sz="1200" dirty="0">
                          <a:solidFill>
                            <a:srgbClr val="FF00FF"/>
                          </a:solidFill>
                        </a:rPr>
                        <a:t>(V)</a:t>
                      </a:r>
                      <a:endParaRPr lang="zh-CN" altLang="en-US" sz="120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231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111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五、实验数据记录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FB5417-C9CD-9F27-CC7D-1DDFECB1D956}"/>
              </a:ext>
            </a:extLst>
          </p:cNvPr>
          <p:cNvSpPr/>
          <p:nvPr/>
        </p:nvSpPr>
        <p:spPr>
          <a:xfrm>
            <a:off x="2105661" y="2915044"/>
            <a:ext cx="7611819" cy="1938992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鉴于实验设备限制</a:t>
            </a:r>
            <a:endParaRPr lang="en-US" altLang="zh-CN" sz="4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indent="-57150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4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不能通过改变调制比</a:t>
            </a:r>
            <a:r>
              <a:rPr lang="en-US" altLang="zh-CN" sz="4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4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来实现调压！</a:t>
            </a:r>
            <a:endParaRPr lang="en-US" altLang="zh-CN" sz="40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56E79B-75F8-60CF-BEB8-E3563EC1B6FA}"/>
              </a:ext>
            </a:extLst>
          </p:cNvPr>
          <p:cNvSpPr/>
          <p:nvPr/>
        </p:nvSpPr>
        <p:spPr>
          <a:xfrm>
            <a:off x="2224931" y="1371917"/>
            <a:ext cx="7611819" cy="1323439"/>
          </a:xfrm>
          <a:prstGeom prst="rect">
            <a:avLst/>
          </a:prstGeom>
          <a:noFill/>
          <a:ln w="76200">
            <a:solidFill>
              <a:srgbClr val="FF00FF"/>
            </a:solidFill>
            <a:miter/>
          </a:ln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</a:t>
            </a:r>
            <a:r>
              <a:rPr lang="zh-CN" altLang="en-US" sz="4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</a:t>
            </a:r>
            <a:r>
              <a:rPr lang="en-US" altLang="zh-CN" sz="40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</a:t>
            </a:r>
            <a:r>
              <a:rPr lang="zh-CN" altLang="en-US" sz="4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40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</a:t>
            </a:r>
            <a:r>
              <a:rPr lang="zh-CN" altLang="en-US" sz="4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40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en-US" altLang="zh-CN" sz="40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CH1</a:t>
            </a:r>
            <a:r>
              <a:rPr lang="zh-CN" altLang="en-US" sz="40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轮换</a:t>
            </a:r>
            <a:r>
              <a:rPr lang="zh-CN" altLang="en-US" sz="4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测量！</a:t>
            </a:r>
            <a:endParaRPr lang="en-US" altLang="zh-CN" sz="40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0888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5129">
            <a:extLst>
              <a:ext uri="{FF2B5EF4-FFF2-40B4-BE49-F238E27FC236}">
                <a16:creationId xmlns:a16="http://schemas.microsoft.com/office/drawing/2014/main" id="{E8680910-D236-F6FF-D213-1F4977D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974" y="483149"/>
            <a:ext cx="4418016" cy="48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六、实验思考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FB5417-C9CD-9F27-CC7D-1DDFECB1D956}"/>
              </a:ext>
            </a:extLst>
          </p:cNvPr>
          <p:cNvSpPr/>
          <p:nvPr/>
        </p:nvSpPr>
        <p:spPr>
          <a:xfrm>
            <a:off x="318822" y="1704217"/>
            <a:ext cx="5835642" cy="3046988"/>
          </a:xfrm>
          <a:prstGeom prst="rect">
            <a:avLst/>
          </a:prstGeom>
          <a:noFill/>
          <a:ln w="12700">
            <a:noFill/>
            <a:miter/>
          </a:ln>
        </p:spPr>
        <p:txBody>
          <a:bodyPr wrap="square" anchor="ctr">
            <a:spAutoFit/>
          </a:bodyPr>
          <a:lstStyle/>
          <a:p>
            <a:pPr marL="571500" indent="-57150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32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32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桥输出端</a:t>
            </a:r>
            <a:r>
              <a:rPr lang="en-US" altLang="zh-CN" sz="32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LC</a:t>
            </a:r>
            <a:r>
              <a:rPr lang="zh-CN" altLang="en-US" sz="32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滤波器的参数如何选择？</a:t>
            </a:r>
            <a:endParaRPr lang="en-US" altLang="zh-CN" sz="32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indent="-57150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如何采用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MATLAB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仿真实现实验设备限制的功能？</a:t>
            </a:r>
            <a:endParaRPr lang="en-US" altLang="zh-CN" sz="32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indent="-57150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如何提高实验电路前端不控桥整流的功率因数？</a:t>
            </a:r>
            <a:endParaRPr lang="en-US" altLang="zh-CN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B7906B-DF2F-823A-BBBF-E25E59D3B5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697" y="1469897"/>
            <a:ext cx="5903448" cy="35178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FF5EA2D-FD55-101B-3498-C0F76CA4399A}"/>
              </a:ext>
            </a:extLst>
          </p:cNvPr>
          <p:cNvSpPr txBox="1"/>
          <p:nvPr/>
        </p:nvSpPr>
        <p:spPr>
          <a:xfrm>
            <a:off x="6795656" y="972955"/>
            <a:ext cx="20942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00FF"/>
                </a:solidFill>
              </a:rPr>
              <a:t>图中：</a:t>
            </a:r>
            <a:endParaRPr lang="en-US" altLang="zh-CN" sz="1600" dirty="0">
              <a:solidFill>
                <a:srgbClr val="0000FF"/>
              </a:solidFill>
            </a:endParaRPr>
          </a:p>
          <a:p>
            <a:r>
              <a:rPr lang="en-US" altLang="zh-CN" sz="1600" dirty="0">
                <a:solidFill>
                  <a:srgbClr val="0000FF"/>
                </a:solidFill>
              </a:rPr>
              <a:t>L=4.5mH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C=22μF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R=1076Ω(220V/45W</a:t>
            </a:r>
            <a:r>
              <a:rPr lang="zh-CN" altLang="en-US" sz="1600" dirty="0">
                <a:solidFill>
                  <a:srgbClr val="0000FF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64379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e044681041b47be8d0b86959dfb25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08550"/>
            <a:ext cx="12192000" cy="194945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5391" r="5890"/>
          <a:stretch>
            <a:fillRect/>
          </a:stretch>
        </p:blipFill>
        <p:spPr>
          <a:xfrm>
            <a:off x="365230" y="296820"/>
            <a:ext cx="2372811" cy="62162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700000">
            <a:off x="10826001" y="568057"/>
            <a:ext cx="79145" cy="79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 rot="2700000">
            <a:off x="10744721" y="568058"/>
            <a:ext cx="79145" cy="7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B4E22654-9114-1783-8CD4-E72914242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2230" y="1646480"/>
            <a:ext cx="7045840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6000" b="1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itchFamily="18" charset="0"/>
                <a:sym typeface="+mn-ea"/>
              </a:rPr>
              <a:t>谢谢</a:t>
            </a:r>
            <a:endParaRPr lang="en-US" altLang="zh-CN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Professional Template for PowerPoint 2007, 2010, 2013, 2016, 365 or new. Ideal solution for making report, plan, presentation.">
            <a:extLst>
              <a:ext uri="{FF2B5EF4-FFF2-40B4-BE49-F238E27FC236}">
                <a16:creationId xmlns:a16="http://schemas.microsoft.com/office/drawing/2014/main" id="{6867E469-057B-58C6-5A92-6493371A3F8F}"/>
              </a:ext>
            </a:extLst>
          </p:cNvPr>
          <p:cNvSpPr txBox="1"/>
          <p:nvPr/>
        </p:nvSpPr>
        <p:spPr>
          <a:xfrm>
            <a:off x="6915388" y="5046026"/>
            <a:ext cx="4091729" cy="74090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 algn="l">
              <a:lnSpc>
                <a:spcPct val="120000"/>
              </a:lnSpc>
              <a:defRPr sz="2600" b="0">
                <a:solidFill>
                  <a:srgbClr val="5B689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讲解人：张智雄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fld id="{7D74573A-8C51-4AB3-BB16-90D89DD3C1E5}" type="datetime2">
              <a:rPr lang="zh-CN" altLang="en-US" sz="2000" b="1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2026年5月12日</a:t>
            </a:fld>
            <a:endParaRPr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4893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8125</TotalTime>
  <Words>1477</Words>
  <Application>Microsoft Office PowerPoint</Application>
  <PresentationFormat>宽屏</PresentationFormat>
  <Paragraphs>228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等线</vt:lpstr>
      <vt:lpstr>等线 Light</vt:lpstr>
      <vt:lpstr>黑体</vt:lpstr>
      <vt:lpstr>华文琥珀</vt:lpstr>
      <vt:lpstr>华文行楷</vt:lpstr>
      <vt:lpstr>隶书</vt:lpstr>
      <vt:lpstr>宋体</vt:lpstr>
      <vt:lpstr>微软雅黑</vt:lpstr>
      <vt:lpstr>Arial</vt:lpstr>
      <vt:lpstr>Cambria Math</vt:lpstr>
      <vt:lpstr>Times New Roman</vt:lpstr>
      <vt:lpstr>Wingdings</vt:lpstr>
      <vt:lpstr>Office 主题​​</vt:lpstr>
      <vt:lpstr>自定义设计方案</vt:lpstr>
      <vt:lpstr>2_默认设计模板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郑南雁</dc:creator>
  <cp:keywords>HUSTER</cp:keywords>
  <cp:lastModifiedBy>zhixiong zhang</cp:lastModifiedBy>
  <cp:revision>580</cp:revision>
  <cp:lastPrinted>2022-05-07T07:20:09Z</cp:lastPrinted>
  <dcterms:created xsi:type="dcterms:W3CDTF">2022-01-10T04:49:00Z</dcterms:created>
  <dcterms:modified xsi:type="dcterms:W3CDTF">2026-05-11T23:42:29Z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C2647F1894EB46D69A5953B02C9FFA7E</vt:lpwstr>
  </property>
  <property fmtid="{D5CDD505-2E9C-101B-9397-08002B2CF9AE}" pid="3" name="KSOProductBuildVer">
    <vt:lpwstr>2052-11.1.0.11194</vt:lpwstr>
  </property>
</Properties>
</file>
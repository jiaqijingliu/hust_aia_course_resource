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8"/>
  </p:notesMasterIdLst>
  <p:sldIdLst>
    <p:sldId id="262" r:id="rId2"/>
    <p:sldId id="328" r:id="rId3"/>
    <p:sldId id="329" r:id="rId4"/>
    <p:sldId id="330" r:id="rId5"/>
    <p:sldId id="331" r:id="rId6"/>
    <p:sldId id="332" r:id="rId7"/>
    <p:sldId id="333" r:id="rId8"/>
    <p:sldId id="334" r:id="rId9"/>
    <p:sldId id="335" r:id="rId10"/>
    <p:sldId id="336" r:id="rId11"/>
    <p:sldId id="337" r:id="rId12"/>
    <p:sldId id="338" r:id="rId13"/>
    <p:sldId id="339" r:id="rId14"/>
    <p:sldId id="341" r:id="rId15"/>
    <p:sldId id="340" r:id="rId16"/>
    <p:sldId id="342" r:id="rId17"/>
    <p:sldId id="343" r:id="rId18"/>
    <p:sldId id="344" r:id="rId19"/>
    <p:sldId id="345" r:id="rId20"/>
    <p:sldId id="346" r:id="rId21"/>
    <p:sldId id="347" r:id="rId22"/>
    <p:sldId id="348" r:id="rId23"/>
    <p:sldId id="349" r:id="rId24"/>
    <p:sldId id="351" r:id="rId25"/>
    <p:sldId id="350" r:id="rId26"/>
    <p:sldId id="352" r:id="rId27"/>
    <p:sldId id="353" r:id="rId28"/>
    <p:sldId id="354" r:id="rId29"/>
    <p:sldId id="355" r:id="rId30"/>
    <p:sldId id="356" r:id="rId31"/>
    <p:sldId id="357" r:id="rId32"/>
    <p:sldId id="358" r:id="rId33"/>
    <p:sldId id="359" r:id="rId34"/>
    <p:sldId id="360" r:id="rId35"/>
    <p:sldId id="361" r:id="rId36"/>
    <p:sldId id="362" r:id="rId37"/>
    <p:sldId id="364" r:id="rId38"/>
    <p:sldId id="363" r:id="rId39"/>
    <p:sldId id="365" r:id="rId40"/>
    <p:sldId id="366" r:id="rId41"/>
    <p:sldId id="367" r:id="rId42"/>
    <p:sldId id="368" r:id="rId43"/>
    <p:sldId id="369" r:id="rId44"/>
    <p:sldId id="370" r:id="rId45"/>
    <p:sldId id="371" r:id="rId46"/>
    <p:sldId id="372" r:id="rId47"/>
    <p:sldId id="373" r:id="rId48"/>
    <p:sldId id="375" r:id="rId49"/>
    <p:sldId id="377" r:id="rId50"/>
    <p:sldId id="376" r:id="rId51"/>
    <p:sldId id="379" r:id="rId52"/>
    <p:sldId id="380" r:id="rId53"/>
    <p:sldId id="381" r:id="rId54"/>
    <p:sldId id="382" r:id="rId55"/>
    <p:sldId id="383" r:id="rId56"/>
    <p:sldId id="384" r:id="rId57"/>
    <p:sldId id="385" r:id="rId58"/>
    <p:sldId id="386" r:id="rId59"/>
    <p:sldId id="387" r:id="rId60"/>
    <p:sldId id="388" r:id="rId61"/>
    <p:sldId id="389" r:id="rId62"/>
    <p:sldId id="390" r:id="rId63"/>
    <p:sldId id="391" r:id="rId64"/>
    <p:sldId id="392" r:id="rId65"/>
    <p:sldId id="393" r:id="rId66"/>
    <p:sldId id="394" r:id="rId67"/>
    <p:sldId id="395" r:id="rId68"/>
    <p:sldId id="396" r:id="rId69"/>
    <p:sldId id="397" r:id="rId70"/>
    <p:sldId id="399" r:id="rId71"/>
    <p:sldId id="400" r:id="rId72"/>
    <p:sldId id="401" r:id="rId73"/>
    <p:sldId id="402" r:id="rId74"/>
    <p:sldId id="403" r:id="rId75"/>
    <p:sldId id="404" r:id="rId76"/>
    <p:sldId id="405" r:id="rId77"/>
    <p:sldId id="406" r:id="rId78"/>
    <p:sldId id="407" r:id="rId79"/>
    <p:sldId id="408" r:id="rId80"/>
    <p:sldId id="409" r:id="rId81"/>
    <p:sldId id="410" r:id="rId82"/>
    <p:sldId id="411" r:id="rId83"/>
    <p:sldId id="412" r:id="rId84"/>
    <p:sldId id="413" r:id="rId85"/>
    <p:sldId id="414" r:id="rId86"/>
    <p:sldId id="415" r:id="rId87"/>
    <p:sldId id="417" r:id="rId88"/>
    <p:sldId id="416" r:id="rId89"/>
    <p:sldId id="418" r:id="rId90"/>
    <p:sldId id="420" r:id="rId91"/>
    <p:sldId id="419" r:id="rId92"/>
    <p:sldId id="421" r:id="rId93"/>
    <p:sldId id="445" r:id="rId94"/>
    <p:sldId id="422" r:id="rId95"/>
    <p:sldId id="423" r:id="rId96"/>
    <p:sldId id="424" r:id="rId97"/>
    <p:sldId id="426" r:id="rId98"/>
    <p:sldId id="425" r:id="rId99"/>
    <p:sldId id="427" r:id="rId100"/>
    <p:sldId id="428" r:id="rId101"/>
    <p:sldId id="429" r:id="rId102"/>
    <p:sldId id="430" r:id="rId103"/>
    <p:sldId id="431" r:id="rId104"/>
    <p:sldId id="432" r:id="rId105"/>
    <p:sldId id="433" r:id="rId106"/>
    <p:sldId id="434" r:id="rId107"/>
    <p:sldId id="435" r:id="rId108"/>
    <p:sldId id="436" r:id="rId109"/>
    <p:sldId id="437" r:id="rId110"/>
    <p:sldId id="438" r:id="rId111"/>
    <p:sldId id="439" r:id="rId112"/>
    <p:sldId id="440" r:id="rId113"/>
    <p:sldId id="441" r:id="rId114"/>
    <p:sldId id="442" r:id="rId115"/>
    <p:sldId id="443" r:id="rId116"/>
    <p:sldId id="444" r:id="rId11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yesong" initials="l" lastIdx="1" clrIdx="0">
    <p:extLst>
      <p:ext uri="{19B8F6BF-5375-455C-9EA6-DF929625EA0E}">
        <p15:presenceInfo xmlns:p15="http://schemas.microsoft.com/office/powerpoint/2012/main" userId="liyes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82" autoAdjust="0"/>
    <p:restoredTop sz="89697" autoAdjust="0"/>
  </p:normalViewPr>
  <p:slideViewPr>
    <p:cSldViewPr>
      <p:cViewPr varScale="1">
        <p:scale>
          <a:sx n="59" d="100"/>
          <a:sy n="59" d="100"/>
        </p:scale>
        <p:origin x="140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commentAuthors" Target="commentAuthor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C54CF8-C170-4F58-9A30-930F9CEBAEB8}" type="datetimeFigureOut">
              <a:rPr lang="zh-CN" altLang="en-US" smtClean="0"/>
              <a:t>2025/10/14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95BF5C-1804-4D75-8402-1173C9CE030B}" type="slidenum">
              <a:rPr lang="zh-CN" altLang="en-US" smtClean="0"/>
              <a:t>‹#›</a:t>
            </a:fld>
            <a:endParaRPr lang="zh-CN" altLang="en-US"/>
          </a:p>
        </p:txBody>
      </p:sp>
    </p:spTree>
    <p:extLst>
      <p:ext uri="{BB962C8B-B14F-4D97-AF65-F5344CB8AC3E}">
        <p14:creationId xmlns:p14="http://schemas.microsoft.com/office/powerpoint/2010/main" val="979284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13</a:t>
            </a:fld>
            <a:endParaRPr lang="zh-CN" altLang="en-US"/>
          </a:p>
        </p:txBody>
      </p:sp>
    </p:spTree>
    <p:extLst>
      <p:ext uri="{BB962C8B-B14F-4D97-AF65-F5344CB8AC3E}">
        <p14:creationId xmlns:p14="http://schemas.microsoft.com/office/powerpoint/2010/main" val="1838418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14</a:t>
            </a:fld>
            <a:endParaRPr lang="zh-CN" altLang="en-US"/>
          </a:p>
        </p:txBody>
      </p:sp>
    </p:spTree>
    <p:extLst>
      <p:ext uri="{BB962C8B-B14F-4D97-AF65-F5344CB8AC3E}">
        <p14:creationId xmlns:p14="http://schemas.microsoft.com/office/powerpoint/2010/main" val="3963334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15</a:t>
            </a:fld>
            <a:endParaRPr lang="zh-CN" altLang="en-US"/>
          </a:p>
        </p:txBody>
      </p:sp>
    </p:spTree>
    <p:extLst>
      <p:ext uri="{BB962C8B-B14F-4D97-AF65-F5344CB8AC3E}">
        <p14:creationId xmlns:p14="http://schemas.microsoft.com/office/powerpoint/2010/main" val="2850877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23</a:t>
            </a:fld>
            <a:endParaRPr lang="zh-CN" altLang="en-US"/>
          </a:p>
        </p:txBody>
      </p:sp>
    </p:spTree>
    <p:extLst>
      <p:ext uri="{BB962C8B-B14F-4D97-AF65-F5344CB8AC3E}">
        <p14:creationId xmlns:p14="http://schemas.microsoft.com/office/powerpoint/2010/main" val="853041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24</a:t>
            </a:fld>
            <a:endParaRPr lang="zh-CN" altLang="en-US"/>
          </a:p>
        </p:txBody>
      </p:sp>
    </p:spTree>
    <p:extLst>
      <p:ext uri="{BB962C8B-B14F-4D97-AF65-F5344CB8AC3E}">
        <p14:creationId xmlns:p14="http://schemas.microsoft.com/office/powerpoint/2010/main" val="4003603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25</a:t>
            </a:fld>
            <a:endParaRPr lang="zh-CN" altLang="en-US"/>
          </a:p>
        </p:txBody>
      </p:sp>
    </p:spTree>
    <p:extLst>
      <p:ext uri="{BB962C8B-B14F-4D97-AF65-F5344CB8AC3E}">
        <p14:creationId xmlns:p14="http://schemas.microsoft.com/office/powerpoint/2010/main" val="196615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26</a:t>
            </a:fld>
            <a:endParaRPr lang="zh-CN" altLang="en-US"/>
          </a:p>
        </p:txBody>
      </p:sp>
    </p:spTree>
    <p:extLst>
      <p:ext uri="{BB962C8B-B14F-4D97-AF65-F5344CB8AC3E}">
        <p14:creationId xmlns:p14="http://schemas.microsoft.com/office/powerpoint/2010/main" val="3053779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27</a:t>
            </a:fld>
            <a:endParaRPr lang="zh-CN" altLang="en-US"/>
          </a:p>
        </p:txBody>
      </p:sp>
    </p:spTree>
    <p:extLst>
      <p:ext uri="{BB962C8B-B14F-4D97-AF65-F5344CB8AC3E}">
        <p14:creationId xmlns:p14="http://schemas.microsoft.com/office/powerpoint/2010/main" val="451678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28</a:t>
            </a:fld>
            <a:endParaRPr lang="zh-CN" altLang="en-US"/>
          </a:p>
        </p:txBody>
      </p:sp>
    </p:spTree>
    <p:extLst>
      <p:ext uri="{BB962C8B-B14F-4D97-AF65-F5344CB8AC3E}">
        <p14:creationId xmlns:p14="http://schemas.microsoft.com/office/powerpoint/2010/main" val="53749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29</a:t>
            </a:fld>
            <a:endParaRPr lang="zh-CN" altLang="en-US"/>
          </a:p>
        </p:txBody>
      </p:sp>
    </p:spTree>
    <p:extLst>
      <p:ext uri="{BB962C8B-B14F-4D97-AF65-F5344CB8AC3E}">
        <p14:creationId xmlns:p14="http://schemas.microsoft.com/office/powerpoint/2010/main" val="2107567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30</a:t>
            </a:fld>
            <a:endParaRPr lang="zh-CN" altLang="en-US"/>
          </a:p>
        </p:txBody>
      </p:sp>
    </p:spTree>
    <p:extLst>
      <p:ext uri="{BB962C8B-B14F-4D97-AF65-F5344CB8AC3E}">
        <p14:creationId xmlns:p14="http://schemas.microsoft.com/office/powerpoint/2010/main" val="2179222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31</a:t>
            </a:fld>
            <a:endParaRPr lang="zh-CN" altLang="en-US"/>
          </a:p>
        </p:txBody>
      </p:sp>
    </p:spTree>
    <p:extLst>
      <p:ext uri="{BB962C8B-B14F-4D97-AF65-F5344CB8AC3E}">
        <p14:creationId xmlns:p14="http://schemas.microsoft.com/office/powerpoint/2010/main" val="175666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32</a:t>
            </a:fld>
            <a:endParaRPr lang="zh-CN" altLang="en-US"/>
          </a:p>
        </p:txBody>
      </p:sp>
    </p:spTree>
    <p:extLst>
      <p:ext uri="{BB962C8B-B14F-4D97-AF65-F5344CB8AC3E}">
        <p14:creationId xmlns:p14="http://schemas.microsoft.com/office/powerpoint/2010/main" val="12485774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33</a:t>
            </a:fld>
            <a:endParaRPr lang="zh-CN" altLang="en-US"/>
          </a:p>
        </p:txBody>
      </p:sp>
    </p:spTree>
    <p:extLst>
      <p:ext uri="{BB962C8B-B14F-4D97-AF65-F5344CB8AC3E}">
        <p14:creationId xmlns:p14="http://schemas.microsoft.com/office/powerpoint/2010/main" val="2615438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34</a:t>
            </a:fld>
            <a:endParaRPr lang="zh-CN" altLang="en-US"/>
          </a:p>
        </p:txBody>
      </p:sp>
    </p:spTree>
    <p:extLst>
      <p:ext uri="{BB962C8B-B14F-4D97-AF65-F5344CB8AC3E}">
        <p14:creationId xmlns:p14="http://schemas.microsoft.com/office/powerpoint/2010/main" val="1019435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44</a:t>
            </a:fld>
            <a:endParaRPr lang="zh-CN" altLang="en-US"/>
          </a:p>
        </p:txBody>
      </p:sp>
    </p:spTree>
    <p:extLst>
      <p:ext uri="{BB962C8B-B14F-4D97-AF65-F5344CB8AC3E}">
        <p14:creationId xmlns:p14="http://schemas.microsoft.com/office/powerpoint/2010/main" val="3267807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45</a:t>
            </a:fld>
            <a:endParaRPr lang="zh-CN" altLang="en-US"/>
          </a:p>
        </p:txBody>
      </p:sp>
    </p:spTree>
    <p:extLst>
      <p:ext uri="{BB962C8B-B14F-4D97-AF65-F5344CB8AC3E}">
        <p14:creationId xmlns:p14="http://schemas.microsoft.com/office/powerpoint/2010/main" val="8638400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46</a:t>
            </a:fld>
            <a:endParaRPr lang="zh-CN" altLang="en-US"/>
          </a:p>
        </p:txBody>
      </p:sp>
    </p:spTree>
    <p:extLst>
      <p:ext uri="{BB962C8B-B14F-4D97-AF65-F5344CB8AC3E}">
        <p14:creationId xmlns:p14="http://schemas.microsoft.com/office/powerpoint/2010/main" val="39392245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47</a:t>
            </a:fld>
            <a:endParaRPr lang="zh-CN" altLang="en-US"/>
          </a:p>
        </p:txBody>
      </p:sp>
    </p:spTree>
    <p:extLst>
      <p:ext uri="{BB962C8B-B14F-4D97-AF65-F5344CB8AC3E}">
        <p14:creationId xmlns:p14="http://schemas.microsoft.com/office/powerpoint/2010/main" val="425745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48</a:t>
            </a:fld>
            <a:endParaRPr lang="zh-CN" altLang="en-US"/>
          </a:p>
        </p:txBody>
      </p:sp>
    </p:spTree>
    <p:extLst>
      <p:ext uri="{BB962C8B-B14F-4D97-AF65-F5344CB8AC3E}">
        <p14:creationId xmlns:p14="http://schemas.microsoft.com/office/powerpoint/2010/main" val="3480698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59</a:t>
            </a:fld>
            <a:endParaRPr lang="zh-CN" altLang="en-US"/>
          </a:p>
        </p:txBody>
      </p:sp>
    </p:spTree>
    <p:extLst>
      <p:ext uri="{BB962C8B-B14F-4D97-AF65-F5344CB8AC3E}">
        <p14:creationId xmlns:p14="http://schemas.microsoft.com/office/powerpoint/2010/main" val="1077383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61</a:t>
            </a:fld>
            <a:endParaRPr lang="zh-CN" altLang="en-US"/>
          </a:p>
        </p:txBody>
      </p:sp>
    </p:spTree>
    <p:extLst>
      <p:ext uri="{BB962C8B-B14F-4D97-AF65-F5344CB8AC3E}">
        <p14:creationId xmlns:p14="http://schemas.microsoft.com/office/powerpoint/2010/main" val="39960290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62</a:t>
            </a:fld>
            <a:endParaRPr lang="zh-CN" altLang="en-US"/>
          </a:p>
        </p:txBody>
      </p:sp>
    </p:spTree>
    <p:extLst>
      <p:ext uri="{BB962C8B-B14F-4D97-AF65-F5344CB8AC3E}">
        <p14:creationId xmlns:p14="http://schemas.microsoft.com/office/powerpoint/2010/main" val="16325494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63</a:t>
            </a:fld>
            <a:endParaRPr lang="zh-CN" altLang="en-US"/>
          </a:p>
        </p:txBody>
      </p:sp>
    </p:spTree>
    <p:extLst>
      <p:ext uri="{BB962C8B-B14F-4D97-AF65-F5344CB8AC3E}">
        <p14:creationId xmlns:p14="http://schemas.microsoft.com/office/powerpoint/2010/main" val="13559424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64</a:t>
            </a:fld>
            <a:endParaRPr lang="zh-CN" altLang="en-US"/>
          </a:p>
        </p:txBody>
      </p:sp>
    </p:spTree>
    <p:extLst>
      <p:ext uri="{BB962C8B-B14F-4D97-AF65-F5344CB8AC3E}">
        <p14:creationId xmlns:p14="http://schemas.microsoft.com/office/powerpoint/2010/main" val="13020559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65</a:t>
            </a:fld>
            <a:endParaRPr lang="zh-CN" altLang="en-US"/>
          </a:p>
        </p:txBody>
      </p:sp>
    </p:spTree>
    <p:extLst>
      <p:ext uri="{BB962C8B-B14F-4D97-AF65-F5344CB8AC3E}">
        <p14:creationId xmlns:p14="http://schemas.microsoft.com/office/powerpoint/2010/main" val="35247422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66</a:t>
            </a:fld>
            <a:endParaRPr lang="zh-CN" altLang="en-US"/>
          </a:p>
        </p:txBody>
      </p:sp>
    </p:spTree>
    <p:extLst>
      <p:ext uri="{BB962C8B-B14F-4D97-AF65-F5344CB8AC3E}">
        <p14:creationId xmlns:p14="http://schemas.microsoft.com/office/powerpoint/2010/main" val="1841412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67</a:t>
            </a:fld>
            <a:endParaRPr lang="zh-CN" altLang="en-US"/>
          </a:p>
        </p:txBody>
      </p:sp>
    </p:spTree>
    <p:extLst>
      <p:ext uri="{BB962C8B-B14F-4D97-AF65-F5344CB8AC3E}">
        <p14:creationId xmlns:p14="http://schemas.microsoft.com/office/powerpoint/2010/main" val="16140759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68</a:t>
            </a:fld>
            <a:endParaRPr lang="zh-CN" altLang="en-US"/>
          </a:p>
        </p:txBody>
      </p:sp>
    </p:spTree>
    <p:extLst>
      <p:ext uri="{BB962C8B-B14F-4D97-AF65-F5344CB8AC3E}">
        <p14:creationId xmlns:p14="http://schemas.microsoft.com/office/powerpoint/2010/main" val="29750764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69</a:t>
            </a:fld>
            <a:endParaRPr lang="zh-CN" altLang="en-US"/>
          </a:p>
        </p:txBody>
      </p:sp>
    </p:spTree>
    <p:extLst>
      <p:ext uri="{BB962C8B-B14F-4D97-AF65-F5344CB8AC3E}">
        <p14:creationId xmlns:p14="http://schemas.microsoft.com/office/powerpoint/2010/main" val="39389489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70</a:t>
            </a:fld>
            <a:endParaRPr lang="zh-CN" altLang="en-US"/>
          </a:p>
        </p:txBody>
      </p:sp>
    </p:spTree>
    <p:extLst>
      <p:ext uri="{BB962C8B-B14F-4D97-AF65-F5344CB8AC3E}">
        <p14:creationId xmlns:p14="http://schemas.microsoft.com/office/powerpoint/2010/main" val="37837606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71</a:t>
            </a:fld>
            <a:endParaRPr lang="zh-CN" altLang="en-US"/>
          </a:p>
        </p:txBody>
      </p:sp>
    </p:spTree>
    <p:extLst>
      <p:ext uri="{BB962C8B-B14F-4D97-AF65-F5344CB8AC3E}">
        <p14:creationId xmlns:p14="http://schemas.microsoft.com/office/powerpoint/2010/main" val="22491361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72</a:t>
            </a:fld>
            <a:endParaRPr lang="zh-CN" altLang="en-US"/>
          </a:p>
        </p:txBody>
      </p:sp>
    </p:spTree>
    <p:extLst>
      <p:ext uri="{BB962C8B-B14F-4D97-AF65-F5344CB8AC3E}">
        <p14:creationId xmlns:p14="http://schemas.microsoft.com/office/powerpoint/2010/main" val="211528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73</a:t>
            </a:fld>
            <a:endParaRPr lang="zh-CN" altLang="en-US"/>
          </a:p>
        </p:txBody>
      </p:sp>
    </p:spTree>
    <p:extLst>
      <p:ext uri="{BB962C8B-B14F-4D97-AF65-F5344CB8AC3E}">
        <p14:creationId xmlns:p14="http://schemas.microsoft.com/office/powerpoint/2010/main" val="37480887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74</a:t>
            </a:fld>
            <a:endParaRPr lang="zh-CN" altLang="en-US"/>
          </a:p>
        </p:txBody>
      </p:sp>
    </p:spTree>
    <p:extLst>
      <p:ext uri="{BB962C8B-B14F-4D97-AF65-F5344CB8AC3E}">
        <p14:creationId xmlns:p14="http://schemas.microsoft.com/office/powerpoint/2010/main" val="28889880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u="sng"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75</a:t>
            </a:fld>
            <a:endParaRPr lang="zh-CN" altLang="en-US"/>
          </a:p>
        </p:txBody>
      </p:sp>
    </p:spTree>
    <p:extLst>
      <p:ext uri="{BB962C8B-B14F-4D97-AF65-F5344CB8AC3E}">
        <p14:creationId xmlns:p14="http://schemas.microsoft.com/office/powerpoint/2010/main" val="5160504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u="sng"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76</a:t>
            </a:fld>
            <a:endParaRPr lang="zh-CN" altLang="en-US"/>
          </a:p>
        </p:txBody>
      </p:sp>
    </p:spTree>
    <p:extLst>
      <p:ext uri="{BB962C8B-B14F-4D97-AF65-F5344CB8AC3E}">
        <p14:creationId xmlns:p14="http://schemas.microsoft.com/office/powerpoint/2010/main" val="18141130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u="sng"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77</a:t>
            </a:fld>
            <a:endParaRPr lang="zh-CN" altLang="en-US"/>
          </a:p>
        </p:txBody>
      </p:sp>
    </p:spTree>
    <p:extLst>
      <p:ext uri="{BB962C8B-B14F-4D97-AF65-F5344CB8AC3E}">
        <p14:creationId xmlns:p14="http://schemas.microsoft.com/office/powerpoint/2010/main" val="10384771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u="sng"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78</a:t>
            </a:fld>
            <a:endParaRPr lang="zh-CN" altLang="en-US"/>
          </a:p>
        </p:txBody>
      </p:sp>
    </p:spTree>
    <p:extLst>
      <p:ext uri="{BB962C8B-B14F-4D97-AF65-F5344CB8AC3E}">
        <p14:creationId xmlns:p14="http://schemas.microsoft.com/office/powerpoint/2010/main" val="32629196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u="sng"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79</a:t>
            </a:fld>
            <a:endParaRPr lang="zh-CN" altLang="en-US"/>
          </a:p>
        </p:txBody>
      </p:sp>
    </p:spTree>
    <p:extLst>
      <p:ext uri="{BB962C8B-B14F-4D97-AF65-F5344CB8AC3E}">
        <p14:creationId xmlns:p14="http://schemas.microsoft.com/office/powerpoint/2010/main" val="38240600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u="sng"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80</a:t>
            </a:fld>
            <a:endParaRPr lang="zh-CN" altLang="en-US"/>
          </a:p>
        </p:txBody>
      </p:sp>
    </p:spTree>
    <p:extLst>
      <p:ext uri="{BB962C8B-B14F-4D97-AF65-F5344CB8AC3E}">
        <p14:creationId xmlns:p14="http://schemas.microsoft.com/office/powerpoint/2010/main" val="10200033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u="sng"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81</a:t>
            </a:fld>
            <a:endParaRPr lang="zh-CN" altLang="en-US"/>
          </a:p>
        </p:txBody>
      </p:sp>
    </p:spTree>
    <p:extLst>
      <p:ext uri="{BB962C8B-B14F-4D97-AF65-F5344CB8AC3E}">
        <p14:creationId xmlns:p14="http://schemas.microsoft.com/office/powerpoint/2010/main" val="22357135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u="sng"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82</a:t>
            </a:fld>
            <a:endParaRPr lang="zh-CN" altLang="en-US"/>
          </a:p>
        </p:txBody>
      </p:sp>
    </p:spTree>
    <p:extLst>
      <p:ext uri="{BB962C8B-B14F-4D97-AF65-F5344CB8AC3E}">
        <p14:creationId xmlns:p14="http://schemas.microsoft.com/office/powerpoint/2010/main" val="42060797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83</a:t>
            </a:fld>
            <a:endParaRPr lang="zh-CN" altLang="en-US"/>
          </a:p>
        </p:txBody>
      </p:sp>
    </p:spTree>
    <p:extLst>
      <p:ext uri="{BB962C8B-B14F-4D97-AF65-F5344CB8AC3E}">
        <p14:creationId xmlns:p14="http://schemas.microsoft.com/office/powerpoint/2010/main" val="5546233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85</a:t>
            </a:fld>
            <a:endParaRPr lang="zh-CN" altLang="en-US"/>
          </a:p>
        </p:txBody>
      </p:sp>
    </p:spTree>
    <p:extLst>
      <p:ext uri="{BB962C8B-B14F-4D97-AF65-F5344CB8AC3E}">
        <p14:creationId xmlns:p14="http://schemas.microsoft.com/office/powerpoint/2010/main" val="14454212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86</a:t>
            </a:fld>
            <a:endParaRPr lang="zh-CN" altLang="en-US"/>
          </a:p>
        </p:txBody>
      </p:sp>
    </p:spTree>
    <p:extLst>
      <p:ext uri="{BB962C8B-B14F-4D97-AF65-F5344CB8AC3E}">
        <p14:creationId xmlns:p14="http://schemas.microsoft.com/office/powerpoint/2010/main" val="22106795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87</a:t>
            </a:fld>
            <a:endParaRPr lang="zh-CN" altLang="en-US"/>
          </a:p>
        </p:txBody>
      </p:sp>
    </p:spTree>
    <p:extLst>
      <p:ext uri="{BB962C8B-B14F-4D97-AF65-F5344CB8AC3E}">
        <p14:creationId xmlns:p14="http://schemas.microsoft.com/office/powerpoint/2010/main" val="6781250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88</a:t>
            </a:fld>
            <a:endParaRPr lang="zh-CN" altLang="en-US"/>
          </a:p>
        </p:txBody>
      </p:sp>
    </p:spTree>
    <p:extLst>
      <p:ext uri="{BB962C8B-B14F-4D97-AF65-F5344CB8AC3E}">
        <p14:creationId xmlns:p14="http://schemas.microsoft.com/office/powerpoint/2010/main" val="35450647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89</a:t>
            </a:fld>
            <a:endParaRPr lang="zh-CN" altLang="en-US"/>
          </a:p>
        </p:txBody>
      </p:sp>
    </p:spTree>
    <p:extLst>
      <p:ext uri="{BB962C8B-B14F-4D97-AF65-F5344CB8AC3E}">
        <p14:creationId xmlns:p14="http://schemas.microsoft.com/office/powerpoint/2010/main" val="30048682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90</a:t>
            </a:fld>
            <a:endParaRPr lang="zh-CN" altLang="en-US"/>
          </a:p>
        </p:txBody>
      </p:sp>
    </p:spTree>
    <p:extLst>
      <p:ext uri="{BB962C8B-B14F-4D97-AF65-F5344CB8AC3E}">
        <p14:creationId xmlns:p14="http://schemas.microsoft.com/office/powerpoint/2010/main" val="35773449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91</a:t>
            </a:fld>
            <a:endParaRPr lang="zh-CN" altLang="en-US"/>
          </a:p>
        </p:txBody>
      </p:sp>
    </p:spTree>
    <p:extLst>
      <p:ext uri="{BB962C8B-B14F-4D97-AF65-F5344CB8AC3E}">
        <p14:creationId xmlns:p14="http://schemas.microsoft.com/office/powerpoint/2010/main" val="20162455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92</a:t>
            </a:fld>
            <a:endParaRPr lang="zh-CN" altLang="en-US"/>
          </a:p>
        </p:txBody>
      </p:sp>
    </p:spTree>
    <p:extLst>
      <p:ext uri="{BB962C8B-B14F-4D97-AF65-F5344CB8AC3E}">
        <p14:creationId xmlns:p14="http://schemas.microsoft.com/office/powerpoint/2010/main" val="26104472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96</a:t>
            </a:fld>
            <a:endParaRPr lang="zh-CN" altLang="en-US"/>
          </a:p>
        </p:txBody>
      </p:sp>
    </p:spTree>
    <p:extLst>
      <p:ext uri="{BB962C8B-B14F-4D97-AF65-F5344CB8AC3E}">
        <p14:creationId xmlns:p14="http://schemas.microsoft.com/office/powerpoint/2010/main" val="30653304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97</a:t>
            </a:fld>
            <a:endParaRPr lang="zh-CN" altLang="en-US"/>
          </a:p>
        </p:txBody>
      </p:sp>
    </p:spTree>
    <p:extLst>
      <p:ext uri="{BB962C8B-B14F-4D97-AF65-F5344CB8AC3E}">
        <p14:creationId xmlns:p14="http://schemas.microsoft.com/office/powerpoint/2010/main" val="38044083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98</a:t>
            </a:fld>
            <a:endParaRPr lang="zh-CN" altLang="en-US"/>
          </a:p>
        </p:txBody>
      </p:sp>
    </p:spTree>
    <p:extLst>
      <p:ext uri="{BB962C8B-B14F-4D97-AF65-F5344CB8AC3E}">
        <p14:creationId xmlns:p14="http://schemas.microsoft.com/office/powerpoint/2010/main" val="17642050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99</a:t>
            </a:fld>
            <a:endParaRPr lang="zh-CN" altLang="en-US"/>
          </a:p>
        </p:txBody>
      </p:sp>
    </p:spTree>
    <p:extLst>
      <p:ext uri="{BB962C8B-B14F-4D97-AF65-F5344CB8AC3E}">
        <p14:creationId xmlns:p14="http://schemas.microsoft.com/office/powerpoint/2010/main" val="395570616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100</a:t>
            </a:fld>
            <a:endParaRPr lang="zh-CN" altLang="en-US"/>
          </a:p>
        </p:txBody>
      </p:sp>
    </p:spTree>
    <p:extLst>
      <p:ext uri="{BB962C8B-B14F-4D97-AF65-F5344CB8AC3E}">
        <p14:creationId xmlns:p14="http://schemas.microsoft.com/office/powerpoint/2010/main" val="11433443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101</a:t>
            </a:fld>
            <a:endParaRPr lang="zh-CN" altLang="en-US"/>
          </a:p>
        </p:txBody>
      </p:sp>
    </p:spTree>
    <p:extLst>
      <p:ext uri="{BB962C8B-B14F-4D97-AF65-F5344CB8AC3E}">
        <p14:creationId xmlns:p14="http://schemas.microsoft.com/office/powerpoint/2010/main" val="201546120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102</a:t>
            </a:fld>
            <a:endParaRPr lang="zh-CN" altLang="en-US"/>
          </a:p>
        </p:txBody>
      </p:sp>
    </p:spTree>
    <p:extLst>
      <p:ext uri="{BB962C8B-B14F-4D97-AF65-F5344CB8AC3E}">
        <p14:creationId xmlns:p14="http://schemas.microsoft.com/office/powerpoint/2010/main" val="204877630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103</a:t>
            </a:fld>
            <a:endParaRPr lang="zh-CN" altLang="en-US"/>
          </a:p>
        </p:txBody>
      </p:sp>
    </p:spTree>
    <p:extLst>
      <p:ext uri="{BB962C8B-B14F-4D97-AF65-F5344CB8AC3E}">
        <p14:creationId xmlns:p14="http://schemas.microsoft.com/office/powerpoint/2010/main" val="14955220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104</a:t>
            </a:fld>
            <a:endParaRPr lang="zh-CN" altLang="en-US"/>
          </a:p>
        </p:txBody>
      </p:sp>
    </p:spTree>
    <p:extLst>
      <p:ext uri="{BB962C8B-B14F-4D97-AF65-F5344CB8AC3E}">
        <p14:creationId xmlns:p14="http://schemas.microsoft.com/office/powerpoint/2010/main" val="27285952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105</a:t>
            </a:fld>
            <a:endParaRPr lang="zh-CN" altLang="en-US"/>
          </a:p>
        </p:txBody>
      </p:sp>
    </p:spTree>
    <p:extLst>
      <p:ext uri="{BB962C8B-B14F-4D97-AF65-F5344CB8AC3E}">
        <p14:creationId xmlns:p14="http://schemas.microsoft.com/office/powerpoint/2010/main" val="34678718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106</a:t>
            </a:fld>
            <a:endParaRPr lang="zh-CN" altLang="en-US"/>
          </a:p>
        </p:txBody>
      </p:sp>
    </p:spTree>
    <p:extLst>
      <p:ext uri="{BB962C8B-B14F-4D97-AF65-F5344CB8AC3E}">
        <p14:creationId xmlns:p14="http://schemas.microsoft.com/office/powerpoint/2010/main" val="147049179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107</a:t>
            </a:fld>
            <a:endParaRPr lang="zh-CN" altLang="en-US"/>
          </a:p>
        </p:txBody>
      </p:sp>
    </p:spTree>
    <p:extLst>
      <p:ext uri="{BB962C8B-B14F-4D97-AF65-F5344CB8AC3E}">
        <p14:creationId xmlns:p14="http://schemas.microsoft.com/office/powerpoint/2010/main" val="9441629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108</a:t>
            </a:fld>
            <a:endParaRPr lang="zh-CN" altLang="en-US"/>
          </a:p>
        </p:txBody>
      </p:sp>
    </p:spTree>
    <p:extLst>
      <p:ext uri="{BB962C8B-B14F-4D97-AF65-F5344CB8AC3E}">
        <p14:creationId xmlns:p14="http://schemas.microsoft.com/office/powerpoint/2010/main" val="412962187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109</a:t>
            </a:fld>
            <a:endParaRPr lang="zh-CN" altLang="en-US"/>
          </a:p>
        </p:txBody>
      </p:sp>
    </p:spTree>
    <p:extLst>
      <p:ext uri="{BB962C8B-B14F-4D97-AF65-F5344CB8AC3E}">
        <p14:creationId xmlns:p14="http://schemas.microsoft.com/office/powerpoint/2010/main" val="410592329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110</a:t>
            </a:fld>
            <a:endParaRPr lang="zh-CN" altLang="en-US"/>
          </a:p>
        </p:txBody>
      </p:sp>
    </p:spTree>
    <p:extLst>
      <p:ext uri="{BB962C8B-B14F-4D97-AF65-F5344CB8AC3E}">
        <p14:creationId xmlns:p14="http://schemas.microsoft.com/office/powerpoint/2010/main" val="349628865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111</a:t>
            </a:fld>
            <a:endParaRPr lang="zh-CN" altLang="en-US"/>
          </a:p>
        </p:txBody>
      </p:sp>
    </p:spTree>
    <p:extLst>
      <p:ext uri="{BB962C8B-B14F-4D97-AF65-F5344CB8AC3E}">
        <p14:creationId xmlns:p14="http://schemas.microsoft.com/office/powerpoint/2010/main" val="340952130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112</a:t>
            </a:fld>
            <a:endParaRPr lang="zh-CN" altLang="en-US"/>
          </a:p>
        </p:txBody>
      </p:sp>
    </p:spTree>
    <p:extLst>
      <p:ext uri="{BB962C8B-B14F-4D97-AF65-F5344CB8AC3E}">
        <p14:creationId xmlns:p14="http://schemas.microsoft.com/office/powerpoint/2010/main" val="261745589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113</a:t>
            </a:fld>
            <a:endParaRPr lang="zh-CN" altLang="en-US"/>
          </a:p>
        </p:txBody>
      </p:sp>
    </p:spTree>
    <p:extLst>
      <p:ext uri="{BB962C8B-B14F-4D97-AF65-F5344CB8AC3E}">
        <p14:creationId xmlns:p14="http://schemas.microsoft.com/office/powerpoint/2010/main" val="397705468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114</a:t>
            </a:fld>
            <a:endParaRPr lang="zh-CN" altLang="en-US"/>
          </a:p>
        </p:txBody>
      </p:sp>
    </p:spTree>
    <p:extLst>
      <p:ext uri="{BB962C8B-B14F-4D97-AF65-F5344CB8AC3E}">
        <p14:creationId xmlns:p14="http://schemas.microsoft.com/office/powerpoint/2010/main" val="129051608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95BF5C-1804-4D75-8402-1173C9CE030B}" type="slidenum">
              <a:rPr lang="zh-CN" altLang="en-US" smtClean="0"/>
              <a:t>115</a:t>
            </a:fld>
            <a:endParaRPr lang="zh-CN" altLang="en-US"/>
          </a:p>
        </p:txBody>
      </p:sp>
    </p:spTree>
    <p:extLst>
      <p:ext uri="{BB962C8B-B14F-4D97-AF65-F5344CB8AC3E}">
        <p14:creationId xmlns:p14="http://schemas.microsoft.com/office/powerpoint/2010/main" val="405335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14CBEF7-F8C5-4992-8DBB-A497D4016018}" type="slidenum">
              <a:rPr lang="en-US" altLang="zh-CN"/>
              <a:pPr/>
              <a:t>‹#›</a:t>
            </a:fld>
            <a:endParaRPr lang="en-US" altLang="zh-CN"/>
          </a:p>
        </p:txBody>
      </p:sp>
    </p:spTree>
    <p:extLst>
      <p:ext uri="{BB962C8B-B14F-4D97-AF65-F5344CB8AC3E}">
        <p14:creationId xmlns:p14="http://schemas.microsoft.com/office/powerpoint/2010/main" val="1204949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73B34B3-1432-4053-90C7-E0228297BE5F}" type="slidenum">
              <a:rPr lang="en-US" altLang="zh-CN"/>
              <a:pPr/>
              <a:t>‹#›</a:t>
            </a:fld>
            <a:endParaRPr lang="en-US" altLang="zh-CN"/>
          </a:p>
        </p:txBody>
      </p:sp>
    </p:spTree>
    <p:extLst>
      <p:ext uri="{BB962C8B-B14F-4D97-AF65-F5344CB8AC3E}">
        <p14:creationId xmlns:p14="http://schemas.microsoft.com/office/powerpoint/2010/main" val="57757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88613D7-8F0F-4D97-8B77-3E474B3DDD75}" type="slidenum">
              <a:rPr lang="en-US" altLang="zh-CN"/>
              <a:pPr/>
              <a:t>‹#›</a:t>
            </a:fld>
            <a:endParaRPr lang="en-US" altLang="zh-CN"/>
          </a:p>
        </p:txBody>
      </p:sp>
    </p:spTree>
    <p:extLst>
      <p:ext uri="{BB962C8B-B14F-4D97-AF65-F5344CB8AC3E}">
        <p14:creationId xmlns:p14="http://schemas.microsoft.com/office/powerpoint/2010/main" val="2197031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8BD5AFC-BC3D-4EC6-B5B2-C76598C5654E}" type="slidenum">
              <a:rPr lang="en-US" altLang="zh-CN"/>
              <a:pPr/>
              <a:t>‹#›</a:t>
            </a:fld>
            <a:endParaRPr lang="en-US" altLang="zh-CN"/>
          </a:p>
        </p:txBody>
      </p:sp>
    </p:spTree>
    <p:extLst>
      <p:ext uri="{BB962C8B-B14F-4D97-AF65-F5344CB8AC3E}">
        <p14:creationId xmlns:p14="http://schemas.microsoft.com/office/powerpoint/2010/main" val="1220014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A8E1C6A7-CD62-42B7-8C1D-142229EE1B13}" type="slidenum">
              <a:rPr lang="en-US" altLang="zh-CN"/>
              <a:pPr/>
              <a:t>‹#›</a:t>
            </a:fld>
            <a:endParaRPr lang="en-US" altLang="zh-CN"/>
          </a:p>
        </p:txBody>
      </p:sp>
    </p:spTree>
    <p:extLst>
      <p:ext uri="{BB962C8B-B14F-4D97-AF65-F5344CB8AC3E}">
        <p14:creationId xmlns:p14="http://schemas.microsoft.com/office/powerpoint/2010/main" val="4052065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803158C3-B50C-4001-8BD0-C5647A670245}" type="slidenum">
              <a:rPr lang="en-US" altLang="zh-CN"/>
              <a:pPr/>
              <a:t>‹#›</a:t>
            </a:fld>
            <a:endParaRPr lang="en-US" altLang="zh-CN"/>
          </a:p>
        </p:txBody>
      </p:sp>
    </p:spTree>
    <p:extLst>
      <p:ext uri="{BB962C8B-B14F-4D97-AF65-F5344CB8AC3E}">
        <p14:creationId xmlns:p14="http://schemas.microsoft.com/office/powerpoint/2010/main" val="3320812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76D830B0-DF59-4281-898F-AF208100B213}" type="slidenum">
              <a:rPr lang="en-US" altLang="zh-CN"/>
              <a:pPr/>
              <a:t>‹#›</a:t>
            </a:fld>
            <a:endParaRPr lang="en-US" altLang="zh-CN"/>
          </a:p>
        </p:txBody>
      </p:sp>
    </p:spTree>
    <p:extLst>
      <p:ext uri="{BB962C8B-B14F-4D97-AF65-F5344CB8AC3E}">
        <p14:creationId xmlns:p14="http://schemas.microsoft.com/office/powerpoint/2010/main" val="2823416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9BC85226-5FCC-4AFD-B486-2748615DDC14}" type="slidenum">
              <a:rPr lang="en-US" altLang="zh-CN"/>
              <a:pPr/>
              <a:t>‹#›</a:t>
            </a:fld>
            <a:endParaRPr lang="en-US" altLang="zh-CN"/>
          </a:p>
        </p:txBody>
      </p:sp>
    </p:spTree>
    <p:extLst>
      <p:ext uri="{BB962C8B-B14F-4D97-AF65-F5344CB8AC3E}">
        <p14:creationId xmlns:p14="http://schemas.microsoft.com/office/powerpoint/2010/main" val="4274750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614CC24-EEB7-428F-937F-EF248AEFDBA1}" type="slidenum">
              <a:rPr lang="en-US" altLang="zh-CN"/>
              <a:pPr/>
              <a:t>‹#›</a:t>
            </a:fld>
            <a:endParaRPr lang="en-US" altLang="zh-CN"/>
          </a:p>
        </p:txBody>
      </p:sp>
    </p:spTree>
    <p:extLst>
      <p:ext uri="{BB962C8B-B14F-4D97-AF65-F5344CB8AC3E}">
        <p14:creationId xmlns:p14="http://schemas.microsoft.com/office/powerpoint/2010/main" val="192866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1309C11-2328-40BB-8E64-EA9C5ED3B95C}" type="slidenum">
              <a:rPr lang="en-US" altLang="zh-CN"/>
              <a:pPr/>
              <a:t>‹#›</a:t>
            </a:fld>
            <a:endParaRPr lang="en-US" altLang="zh-CN"/>
          </a:p>
        </p:txBody>
      </p:sp>
    </p:spTree>
    <p:extLst>
      <p:ext uri="{BB962C8B-B14F-4D97-AF65-F5344CB8AC3E}">
        <p14:creationId xmlns:p14="http://schemas.microsoft.com/office/powerpoint/2010/main" val="2036490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512753A-817A-416F-AB73-729B5AD08AAB}" type="slidenum">
              <a:rPr lang="en-US" altLang="zh-CN"/>
              <a:pPr/>
              <a:t>‹#›</a:t>
            </a:fld>
            <a:endParaRPr lang="en-US" altLang="zh-CN"/>
          </a:p>
        </p:txBody>
      </p:sp>
    </p:spTree>
    <p:extLst>
      <p:ext uri="{BB962C8B-B14F-4D97-AF65-F5344CB8AC3E}">
        <p14:creationId xmlns:p14="http://schemas.microsoft.com/office/powerpoint/2010/main" val="2555755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43BA562-8B01-4708-BEC9-7E69676661F2}"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7.x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7.xml"/><Relationship Id="rId5" Type="http://schemas.openxmlformats.org/officeDocument/2006/relationships/image" Target="../media/image6.w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6.bin"/><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5" Type="http://schemas.openxmlformats.org/officeDocument/2006/relationships/image" Target="../media/image9.w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image" Target="../media/image11.wmf"/><Relationship Id="rId7" Type="http://schemas.openxmlformats.org/officeDocument/2006/relationships/image" Target="../media/image15.png"/><Relationship Id="rId2"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2.wmf"/><Relationship Id="rId4"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3.wmf"/><Relationship Id="rId7" Type="http://schemas.openxmlformats.org/officeDocument/2006/relationships/image" Target="../media/image15.wmf"/><Relationship Id="rId2"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oleObject" Target="../embeddings/oleObject14.bin"/><Relationship Id="rId5" Type="http://schemas.openxmlformats.org/officeDocument/2006/relationships/image" Target="../media/image14.wmf"/><Relationship Id="rId10" Type="http://schemas.openxmlformats.org/officeDocument/2006/relationships/image" Target="../media/image21.png"/><Relationship Id="rId4" Type="http://schemas.openxmlformats.org/officeDocument/2006/relationships/oleObject" Target="../embeddings/oleObject13.bin"/><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5.bin"/><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6.bin"/><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8.wmf"/><Relationship Id="rId4" Type="http://schemas.openxmlformats.org/officeDocument/2006/relationships/oleObject" Target="../embeddings/oleObject17.bin"/></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oleObject" Target="../embeddings/oleObject18.bin"/><Relationship Id="rId7" Type="http://schemas.openxmlformats.org/officeDocument/2006/relationships/image" Target="../media/image19.w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oleObject" Target="../embeddings/oleObject19.bin"/><Relationship Id="rId5" Type="http://schemas.openxmlformats.org/officeDocument/2006/relationships/image" Target="../media/image26.png"/><Relationship Id="rId4" Type="http://schemas.openxmlformats.org/officeDocument/2006/relationships/image" Target="../media/image18.wmf"/></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0.wmf"/><Relationship Id="rId4" Type="http://schemas.openxmlformats.org/officeDocument/2006/relationships/oleObject" Target="../embeddings/oleObject20.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2.wmf"/><Relationship Id="rId5" Type="http://schemas.openxmlformats.org/officeDocument/2006/relationships/oleObject" Target="../embeddings/oleObject22.bin"/><Relationship Id="rId4" Type="http://schemas.openxmlformats.org/officeDocument/2006/relationships/image" Target="../media/image21.wmf"/></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oleObject" Target="../embeddings/oleObject23.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36.wmf"/><Relationship Id="rId3" Type="http://schemas.openxmlformats.org/officeDocument/2006/relationships/image" Target="../media/image31.wmf"/><Relationship Id="rId7" Type="http://schemas.openxmlformats.org/officeDocument/2006/relationships/image" Target="../media/image33.wmf"/><Relationship Id="rId12" Type="http://schemas.openxmlformats.org/officeDocument/2006/relationships/oleObject" Target="../embeddings/oleObject29.bin"/><Relationship Id="rId2" Type="http://schemas.openxmlformats.org/officeDocument/2006/relationships/oleObject" Target="../embeddings/oleObject24.bin"/><Relationship Id="rId1" Type="http://schemas.openxmlformats.org/officeDocument/2006/relationships/slideLayout" Target="../slideLayouts/slideLayout7.xml"/><Relationship Id="rId6" Type="http://schemas.openxmlformats.org/officeDocument/2006/relationships/oleObject" Target="../embeddings/oleObject26.bin"/><Relationship Id="rId11" Type="http://schemas.openxmlformats.org/officeDocument/2006/relationships/image" Target="../media/image35.wmf"/><Relationship Id="rId5" Type="http://schemas.openxmlformats.org/officeDocument/2006/relationships/image" Target="../media/image32.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34.wmf"/></Relationships>
</file>

<file path=ppt/slides/_rels/slide19.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30.bin"/><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image" Target="../media/image38.wmf"/><Relationship Id="rId7" Type="http://schemas.openxmlformats.org/officeDocument/2006/relationships/image" Target="../media/image40.wmf"/><Relationship Id="rId2" Type="http://schemas.openxmlformats.org/officeDocument/2006/relationships/oleObject" Target="../embeddings/oleObject31.bin"/><Relationship Id="rId1" Type="http://schemas.openxmlformats.org/officeDocument/2006/relationships/slideLayout" Target="../slideLayouts/slideLayout7.xml"/><Relationship Id="rId6" Type="http://schemas.openxmlformats.org/officeDocument/2006/relationships/oleObject" Target="../embeddings/oleObject33.bin"/><Relationship Id="rId11" Type="http://schemas.openxmlformats.org/officeDocument/2006/relationships/image" Target="../media/image42.wmf"/><Relationship Id="rId5" Type="http://schemas.openxmlformats.org/officeDocument/2006/relationships/image" Target="../media/image39.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41.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48.wmf"/><Relationship Id="rId3" Type="http://schemas.openxmlformats.org/officeDocument/2006/relationships/image" Target="../media/image43.wmf"/><Relationship Id="rId7" Type="http://schemas.openxmlformats.org/officeDocument/2006/relationships/image" Target="../media/image45.wmf"/><Relationship Id="rId12" Type="http://schemas.openxmlformats.org/officeDocument/2006/relationships/oleObject" Target="../embeddings/oleObject41.bin"/><Relationship Id="rId2" Type="http://schemas.openxmlformats.org/officeDocument/2006/relationships/oleObject" Target="../embeddings/oleObject36.bin"/><Relationship Id="rId1" Type="http://schemas.openxmlformats.org/officeDocument/2006/relationships/slideLayout" Target="../slideLayouts/slideLayout7.xml"/><Relationship Id="rId6" Type="http://schemas.openxmlformats.org/officeDocument/2006/relationships/oleObject" Target="../embeddings/oleObject38.bin"/><Relationship Id="rId11" Type="http://schemas.openxmlformats.org/officeDocument/2006/relationships/image" Target="../media/image47.wmf"/><Relationship Id="rId5" Type="http://schemas.openxmlformats.org/officeDocument/2006/relationships/image" Target="../media/image44.wmf"/><Relationship Id="rId15" Type="http://schemas.openxmlformats.org/officeDocument/2006/relationships/image" Target="../media/image49.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46.wmf"/><Relationship Id="rId14" Type="http://schemas.openxmlformats.org/officeDocument/2006/relationships/oleObject" Target="../embeddings/oleObject42.bin"/></Relationships>
</file>

<file path=ppt/slides/_rels/slide22.xml.rels><?xml version="1.0" encoding="UTF-8" standalone="yes"?>
<Relationships xmlns="http://schemas.openxmlformats.org/package/2006/relationships"><Relationship Id="rId3" Type="http://schemas.openxmlformats.org/officeDocument/2006/relationships/image" Target="../media/image50.wmf"/><Relationship Id="rId7" Type="http://schemas.openxmlformats.org/officeDocument/2006/relationships/image" Target="../media/image51.wmf"/><Relationship Id="rId2" Type="http://schemas.openxmlformats.org/officeDocument/2006/relationships/oleObject" Target="../embeddings/oleObject43.bin"/><Relationship Id="rId1" Type="http://schemas.openxmlformats.org/officeDocument/2006/relationships/slideLayout" Target="../slideLayouts/slideLayout7.xml"/><Relationship Id="rId6" Type="http://schemas.openxmlformats.org/officeDocument/2006/relationships/oleObject" Target="../embeddings/oleObject44.bin"/><Relationship Id="rId5" Type="http://schemas.openxmlformats.org/officeDocument/2006/relationships/image" Target="../media/image39.wmf"/><Relationship Id="rId4" Type="http://schemas.openxmlformats.org/officeDocument/2006/relationships/oleObject" Target="../embeddings/oleObject32.bin"/></Relationships>
</file>

<file path=ppt/slides/_rels/slide23.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3.wmf"/><Relationship Id="rId5" Type="http://schemas.openxmlformats.org/officeDocument/2006/relationships/oleObject" Target="../embeddings/oleObject46.bin"/><Relationship Id="rId4" Type="http://schemas.openxmlformats.org/officeDocument/2006/relationships/image" Target="../media/image52.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5.wmf"/></Relationships>
</file>

<file path=ppt/slides/_rels/slide25.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7.wmf"/><Relationship Id="rId5" Type="http://schemas.openxmlformats.org/officeDocument/2006/relationships/oleObject" Target="../embeddings/oleObject50.bin"/><Relationship Id="rId4" Type="http://schemas.openxmlformats.org/officeDocument/2006/relationships/image" Target="../media/image56.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0.wmf"/><Relationship Id="rId5" Type="http://schemas.openxmlformats.org/officeDocument/2006/relationships/oleObject" Target="../embeddings/oleObject53.bin"/><Relationship Id="rId4" Type="http://schemas.openxmlformats.org/officeDocument/2006/relationships/image" Target="../media/image59.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62.wmf"/><Relationship Id="rId5" Type="http://schemas.openxmlformats.org/officeDocument/2006/relationships/oleObject" Target="../embeddings/oleObject55.bin"/><Relationship Id="rId4" Type="http://schemas.openxmlformats.org/officeDocument/2006/relationships/image" Target="../media/image61.wmf"/></Relationships>
</file>

<file path=ppt/slides/_rels/slide28.x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oleObject" Target="../embeddings/oleObject61.bin"/><Relationship Id="rId18" Type="http://schemas.openxmlformats.org/officeDocument/2006/relationships/image" Target="../media/image70.wmf"/><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image" Target="../media/image67.wmf"/><Relationship Id="rId17" Type="http://schemas.openxmlformats.org/officeDocument/2006/relationships/oleObject" Target="../embeddings/oleObject63.bin"/><Relationship Id="rId2" Type="http://schemas.openxmlformats.org/officeDocument/2006/relationships/notesSlide" Target="../notesSlides/notesSlide9.xml"/><Relationship Id="rId16" Type="http://schemas.openxmlformats.org/officeDocument/2006/relationships/image" Target="../media/image69.wmf"/><Relationship Id="rId1" Type="http://schemas.openxmlformats.org/officeDocument/2006/relationships/slideLayout" Target="../slideLayouts/slideLayout7.xml"/><Relationship Id="rId6" Type="http://schemas.openxmlformats.org/officeDocument/2006/relationships/image" Target="../media/image64.wmf"/><Relationship Id="rId11" Type="http://schemas.openxmlformats.org/officeDocument/2006/relationships/oleObject" Target="../embeddings/oleObject60.bin"/><Relationship Id="rId5" Type="http://schemas.openxmlformats.org/officeDocument/2006/relationships/oleObject" Target="../embeddings/oleObject57.bin"/><Relationship Id="rId15" Type="http://schemas.openxmlformats.org/officeDocument/2006/relationships/oleObject" Target="../embeddings/oleObject62.bin"/><Relationship Id="rId10" Type="http://schemas.openxmlformats.org/officeDocument/2006/relationships/image" Target="../media/image66.wmf"/><Relationship Id="rId4" Type="http://schemas.openxmlformats.org/officeDocument/2006/relationships/image" Target="../media/image63.wmf"/><Relationship Id="rId9" Type="http://schemas.openxmlformats.org/officeDocument/2006/relationships/oleObject" Target="../embeddings/oleObject59.bin"/><Relationship Id="rId14" Type="http://schemas.openxmlformats.org/officeDocument/2006/relationships/image" Target="../media/image68.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1.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2.wmf"/></Relationships>
</file>

<file path=ppt/slides/_rels/slide31.xml.rels><?xml version="1.0" encoding="UTF-8" standalone="yes"?>
<Relationships xmlns="http://schemas.openxmlformats.org/package/2006/relationships"><Relationship Id="rId8" Type="http://schemas.openxmlformats.org/officeDocument/2006/relationships/image" Target="../media/image75.wmf"/><Relationship Id="rId13" Type="http://schemas.openxmlformats.org/officeDocument/2006/relationships/oleObject" Target="../embeddings/oleObject71.bin"/><Relationship Id="rId18" Type="http://schemas.openxmlformats.org/officeDocument/2006/relationships/image" Target="../media/image80.wmf"/><Relationship Id="rId3" Type="http://schemas.openxmlformats.org/officeDocument/2006/relationships/oleObject" Target="../embeddings/oleObject66.bin"/><Relationship Id="rId21" Type="http://schemas.openxmlformats.org/officeDocument/2006/relationships/oleObject" Target="../embeddings/oleObject75.bin"/><Relationship Id="rId7" Type="http://schemas.openxmlformats.org/officeDocument/2006/relationships/oleObject" Target="../embeddings/oleObject68.bin"/><Relationship Id="rId12" Type="http://schemas.openxmlformats.org/officeDocument/2006/relationships/image" Target="../media/image77.wmf"/><Relationship Id="rId17" Type="http://schemas.openxmlformats.org/officeDocument/2006/relationships/oleObject" Target="../embeddings/oleObject73.bin"/><Relationship Id="rId2" Type="http://schemas.openxmlformats.org/officeDocument/2006/relationships/notesSlide" Target="../notesSlides/notesSlide12.xml"/><Relationship Id="rId16" Type="http://schemas.openxmlformats.org/officeDocument/2006/relationships/image" Target="../media/image79.wmf"/><Relationship Id="rId20" Type="http://schemas.openxmlformats.org/officeDocument/2006/relationships/image" Target="../media/image81.wmf"/><Relationship Id="rId1" Type="http://schemas.openxmlformats.org/officeDocument/2006/relationships/slideLayout" Target="../slideLayouts/slideLayout7.xml"/><Relationship Id="rId6" Type="http://schemas.openxmlformats.org/officeDocument/2006/relationships/image" Target="../media/image74.wmf"/><Relationship Id="rId11" Type="http://schemas.openxmlformats.org/officeDocument/2006/relationships/oleObject" Target="../embeddings/oleObject70.bin"/><Relationship Id="rId5" Type="http://schemas.openxmlformats.org/officeDocument/2006/relationships/oleObject" Target="../embeddings/oleObject67.bin"/><Relationship Id="rId15" Type="http://schemas.openxmlformats.org/officeDocument/2006/relationships/oleObject" Target="../embeddings/oleObject72.bin"/><Relationship Id="rId10" Type="http://schemas.openxmlformats.org/officeDocument/2006/relationships/image" Target="../media/image76.wmf"/><Relationship Id="rId19" Type="http://schemas.openxmlformats.org/officeDocument/2006/relationships/oleObject" Target="../embeddings/oleObject74.bin"/><Relationship Id="rId4" Type="http://schemas.openxmlformats.org/officeDocument/2006/relationships/image" Target="../media/image73.wmf"/><Relationship Id="rId9" Type="http://schemas.openxmlformats.org/officeDocument/2006/relationships/oleObject" Target="../embeddings/oleObject69.bin"/><Relationship Id="rId14" Type="http://schemas.openxmlformats.org/officeDocument/2006/relationships/image" Target="../media/image78.wmf"/><Relationship Id="rId22" Type="http://schemas.openxmlformats.org/officeDocument/2006/relationships/image" Target="../media/image82.wmf"/></Relationships>
</file>

<file path=ppt/slides/_rels/slide32.xml.rels><?xml version="1.0" encoding="UTF-8" standalone="yes"?>
<Relationships xmlns="http://schemas.openxmlformats.org/package/2006/relationships"><Relationship Id="rId8" Type="http://schemas.openxmlformats.org/officeDocument/2006/relationships/image" Target="../media/image85.wmf"/><Relationship Id="rId13" Type="http://schemas.openxmlformats.org/officeDocument/2006/relationships/oleObject" Target="../embeddings/oleObject81.bin"/><Relationship Id="rId3" Type="http://schemas.openxmlformats.org/officeDocument/2006/relationships/oleObject" Target="../embeddings/oleObject76.bin"/><Relationship Id="rId7" Type="http://schemas.openxmlformats.org/officeDocument/2006/relationships/oleObject" Target="../embeddings/oleObject78.bin"/><Relationship Id="rId12" Type="http://schemas.openxmlformats.org/officeDocument/2006/relationships/image" Target="../media/image87.wmf"/><Relationship Id="rId2" Type="http://schemas.openxmlformats.org/officeDocument/2006/relationships/notesSlide" Target="../notesSlides/notesSlide13.xml"/><Relationship Id="rId16" Type="http://schemas.openxmlformats.org/officeDocument/2006/relationships/image" Target="../media/image89.wmf"/><Relationship Id="rId1" Type="http://schemas.openxmlformats.org/officeDocument/2006/relationships/slideLayout" Target="../slideLayouts/slideLayout7.xml"/><Relationship Id="rId6" Type="http://schemas.openxmlformats.org/officeDocument/2006/relationships/image" Target="../media/image84.wmf"/><Relationship Id="rId11" Type="http://schemas.openxmlformats.org/officeDocument/2006/relationships/oleObject" Target="../embeddings/oleObject80.bin"/><Relationship Id="rId5" Type="http://schemas.openxmlformats.org/officeDocument/2006/relationships/oleObject" Target="../embeddings/oleObject77.bin"/><Relationship Id="rId15" Type="http://schemas.openxmlformats.org/officeDocument/2006/relationships/oleObject" Target="../embeddings/oleObject82.bin"/><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79.bin"/><Relationship Id="rId14" Type="http://schemas.openxmlformats.org/officeDocument/2006/relationships/image" Target="../media/image88.wmf"/></Relationships>
</file>

<file path=ppt/slides/_rels/slide33.x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oleObject" Target="../embeddings/oleObject83.bin"/><Relationship Id="rId7" Type="http://schemas.openxmlformats.org/officeDocument/2006/relationships/oleObject" Target="../embeddings/oleObject85.bin"/><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91.wmf"/><Relationship Id="rId5" Type="http://schemas.openxmlformats.org/officeDocument/2006/relationships/oleObject" Target="../embeddings/oleObject84.bin"/><Relationship Id="rId10" Type="http://schemas.openxmlformats.org/officeDocument/2006/relationships/image" Target="../media/image93.wmf"/><Relationship Id="rId4" Type="http://schemas.openxmlformats.org/officeDocument/2006/relationships/image" Target="../media/image90.wmf"/><Relationship Id="rId9" Type="http://schemas.openxmlformats.org/officeDocument/2006/relationships/oleObject" Target="../embeddings/oleObject86.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94.wmf"/><Relationship Id="rId7" Type="http://schemas.openxmlformats.org/officeDocument/2006/relationships/image" Target="../media/image96.wmf"/><Relationship Id="rId2" Type="http://schemas.openxmlformats.org/officeDocument/2006/relationships/oleObject" Target="../embeddings/oleObject87.bin"/><Relationship Id="rId1" Type="http://schemas.openxmlformats.org/officeDocument/2006/relationships/slideLayout" Target="../slideLayouts/slideLayout7.xml"/><Relationship Id="rId6" Type="http://schemas.openxmlformats.org/officeDocument/2006/relationships/oleObject" Target="../embeddings/oleObject89.bin"/><Relationship Id="rId5" Type="http://schemas.openxmlformats.org/officeDocument/2006/relationships/image" Target="../media/image95.wmf"/><Relationship Id="rId4" Type="http://schemas.openxmlformats.org/officeDocument/2006/relationships/oleObject" Target="../embeddings/oleObject88.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93.bin"/><Relationship Id="rId3" Type="http://schemas.openxmlformats.org/officeDocument/2006/relationships/image" Target="../media/image97.wmf"/><Relationship Id="rId7" Type="http://schemas.openxmlformats.org/officeDocument/2006/relationships/image" Target="../media/image99.wmf"/><Relationship Id="rId2" Type="http://schemas.openxmlformats.org/officeDocument/2006/relationships/oleObject" Target="../embeddings/oleObject90.bin"/><Relationship Id="rId1" Type="http://schemas.openxmlformats.org/officeDocument/2006/relationships/slideLayout" Target="../slideLayouts/slideLayout7.xml"/><Relationship Id="rId6" Type="http://schemas.openxmlformats.org/officeDocument/2006/relationships/oleObject" Target="../embeddings/oleObject92.bin"/><Relationship Id="rId11" Type="http://schemas.openxmlformats.org/officeDocument/2006/relationships/image" Target="../media/image102.png"/><Relationship Id="rId5" Type="http://schemas.openxmlformats.org/officeDocument/2006/relationships/image" Target="../media/image98.wmf"/><Relationship Id="rId10" Type="http://schemas.openxmlformats.org/officeDocument/2006/relationships/image" Target="../media/image101.png"/><Relationship Id="rId4" Type="http://schemas.openxmlformats.org/officeDocument/2006/relationships/oleObject" Target="../embeddings/oleObject91.bin"/><Relationship Id="rId9" Type="http://schemas.openxmlformats.org/officeDocument/2006/relationships/image" Target="../media/image100.wmf"/></Relationships>
</file>

<file path=ppt/slides/_rels/slide37.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oleObject" Target="../embeddings/oleObject94.bin"/><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02.wmf"/><Relationship Id="rId7" Type="http://schemas.openxmlformats.org/officeDocument/2006/relationships/image" Target="../media/image104.wmf"/><Relationship Id="rId2" Type="http://schemas.openxmlformats.org/officeDocument/2006/relationships/oleObject" Target="../embeddings/oleObject95.bin"/><Relationship Id="rId1" Type="http://schemas.openxmlformats.org/officeDocument/2006/relationships/slideLayout" Target="../slideLayouts/slideLayout7.xml"/><Relationship Id="rId6" Type="http://schemas.openxmlformats.org/officeDocument/2006/relationships/oleObject" Target="../embeddings/oleObject97.bin"/><Relationship Id="rId5" Type="http://schemas.openxmlformats.org/officeDocument/2006/relationships/image" Target="../media/image103.wmf"/><Relationship Id="rId4" Type="http://schemas.openxmlformats.org/officeDocument/2006/relationships/oleObject" Target="../embeddings/oleObject96.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01.bin"/><Relationship Id="rId3" Type="http://schemas.openxmlformats.org/officeDocument/2006/relationships/image" Target="../media/image105.wmf"/><Relationship Id="rId7" Type="http://schemas.openxmlformats.org/officeDocument/2006/relationships/image" Target="../media/image107.wmf"/><Relationship Id="rId2" Type="http://schemas.openxmlformats.org/officeDocument/2006/relationships/oleObject" Target="../embeddings/oleObject98.bin"/><Relationship Id="rId1" Type="http://schemas.openxmlformats.org/officeDocument/2006/relationships/slideLayout" Target="../slideLayouts/slideLayout7.xml"/><Relationship Id="rId6" Type="http://schemas.openxmlformats.org/officeDocument/2006/relationships/oleObject" Target="../embeddings/oleObject100.bin"/><Relationship Id="rId11" Type="http://schemas.openxmlformats.org/officeDocument/2006/relationships/image" Target="../media/image109.wmf"/><Relationship Id="rId5" Type="http://schemas.openxmlformats.org/officeDocument/2006/relationships/image" Target="../media/image106.wmf"/><Relationship Id="rId10" Type="http://schemas.openxmlformats.org/officeDocument/2006/relationships/oleObject" Target="../embeddings/oleObject102.bin"/><Relationship Id="rId4" Type="http://schemas.openxmlformats.org/officeDocument/2006/relationships/oleObject" Target="../embeddings/oleObject99.bin"/><Relationship Id="rId9" Type="http://schemas.openxmlformats.org/officeDocument/2006/relationships/image" Target="../media/image108.wmf"/></Relationships>
</file>

<file path=ppt/slides/_rels/slide40.x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oleObject" Target="../embeddings/oleObject103.bin"/><Relationship Id="rId1" Type="http://schemas.openxmlformats.org/officeDocument/2006/relationships/slideLayout" Target="../slideLayouts/slideLayout7.xml"/><Relationship Id="rId5" Type="http://schemas.openxmlformats.org/officeDocument/2006/relationships/image" Target="../media/image111.wmf"/><Relationship Id="rId4" Type="http://schemas.openxmlformats.org/officeDocument/2006/relationships/oleObject" Target="../embeddings/oleObject104.bin"/></Relationships>
</file>

<file path=ppt/slides/_rels/slide41.xml.rels><?xml version="1.0" encoding="UTF-8" standalone="yes"?>
<Relationships xmlns="http://schemas.openxmlformats.org/package/2006/relationships"><Relationship Id="rId3" Type="http://schemas.openxmlformats.org/officeDocument/2006/relationships/image" Target="../media/image112.wmf"/><Relationship Id="rId7" Type="http://schemas.openxmlformats.org/officeDocument/2006/relationships/image" Target="../media/image114.wmf"/><Relationship Id="rId2" Type="http://schemas.openxmlformats.org/officeDocument/2006/relationships/oleObject" Target="../embeddings/oleObject105.bin"/><Relationship Id="rId1" Type="http://schemas.openxmlformats.org/officeDocument/2006/relationships/slideLayout" Target="../slideLayouts/slideLayout7.xml"/><Relationship Id="rId6" Type="http://schemas.openxmlformats.org/officeDocument/2006/relationships/oleObject" Target="../embeddings/oleObject107.bin"/><Relationship Id="rId5" Type="http://schemas.openxmlformats.org/officeDocument/2006/relationships/image" Target="../media/image113.wmf"/><Relationship Id="rId4" Type="http://schemas.openxmlformats.org/officeDocument/2006/relationships/oleObject" Target="../embeddings/oleObject106.bin"/></Relationships>
</file>

<file path=ppt/slides/_rels/slide42.x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oleObject" Target="../embeddings/oleObject108.bin"/><Relationship Id="rId7" Type="http://schemas.openxmlformats.org/officeDocument/2006/relationships/oleObject" Target="../embeddings/oleObject110.bin"/><Relationship Id="rId2" Type="http://schemas.openxmlformats.org/officeDocument/2006/relationships/image" Target="../media/image117.png"/><Relationship Id="rId1" Type="http://schemas.openxmlformats.org/officeDocument/2006/relationships/slideLayout" Target="../slideLayouts/slideLayout7.xml"/><Relationship Id="rId6" Type="http://schemas.openxmlformats.org/officeDocument/2006/relationships/image" Target="../media/image116.wmf"/><Relationship Id="rId5" Type="http://schemas.openxmlformats.org/officeDocument/2006/relationships/oleObject" Target="../embeddings/oleObject109.bin"/><Relationship Id="rId4" Type="http://schemas.openxmlformats.org/officeDocument/2006/relationships/image" Target="../media/image115.wmf"/></Relationships>
</file>

<file path=ppt/slides/_rels/slide43.x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oleObject" Target="../embeddings/oleObject111.bin"/><Relationship Id="rId1" Type="http://schemas.openxmlformats.org/officeDocument/2006/relationships/slideLayout" Target="../slideLayouts/slideLayout7.xml"/><Relationship Id="rId5" Type="http://schemas.openxmlformats.org/officeDocument/2006/relationships/image" Target="../media/image119.wmf"/><Relationship Id="rId4" Type="http://schemas.openxmlformats.org/officeDocument/2006/relationships/oleObject" Target="../embeddings/oleObject112.bin"/></Relationships>
</file>

<file path=ppt/slides/_rels/slide44.xml.rels><?xml version="1.0" encoding="UTF-8" standalone="yes"?>
<Relationships xmlns="http://schemas.openxmlformats.org/package/2006/relationships"><Relationship Id="rId3" Type="http://schemas.openxmlformats.org/officeDocument/2006/relationships/image" Target="../media/image123.png"/><Relationship Id="rId7" Type="http://schemas.openxmlformats.org/officeDocument/2006/relationships/image" Target="../media/image121.wmf"/><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oleObject" Target="../embeddings/oleObject114.bin"/><Relationship Id="rId5" Type="http://schemas.openxmlformats.org/officeDocument/2006/relationships/image" Target="../media/image120.wmf"/><Relationship Id="rId4" Type="http://schemas.openxmlformats.org/officeDocument/2006/relationships/oleObject" Target="../embeddings/oleObject113.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15.bin"/><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23.wmf"/><Relationship Id="rId5" Type="http://schemas.openxmlformats.org/officeDocument/2006/relationships/oleObject" Target="../embeddings/oleObject116.bin"/><Relationship Id="rId4" Type="http://schemas.openxmlformats.org/officeDocument/2006/relationships/image" Target="../media/image122.wmf"/></Relationships>
</file>

<file path=ppt/slides/_rels/slide46.xml.rels><?xml version="1.0" encoding="UTF-8" standalone="yes"?>
<Relationships xmlns="http://schemas.openxmlformats.org/package/2006/relationships"><Relationship Id="rId8" Type="http://schemas.openxmlformats.org/officeDocument/2006/relationships/image" Target="../media/image126.wmf"/><Relationship Id="rId13" Type="http://schemas.openxmlformats.org/officeDocument/2006/relationships/oleObject" Target="../embeddings/oleObject122.bin"/><Relationship Id="rId3" Type="http://schemas.openxmlformats.org/officeDocument/2006/relationships/oleObject" Target="../embeddings/oleObject117.bin"/><Relationship Id="rId7" Type="http://schemas.openxmlformats.org/officeDocument/2006/relationships/oleObject" Target="../embeddings/oleObject119.bin"/><Relationship Id="rId12" Type="http://schemas.openxmlformats.org/officeDocument/2006/relationships/image" Target="../media/image128.wmf"/><Relationship Id="rId2" Type="http://schemas.openxmlformats.org/officeDocument/2006/relationships/notesSlide" Target="../notesSlides/notesSlide18.xml"/><Relationship Id="rId16" Type="http://schemas.openxmlformats.org/officeDocument/2006/relationships/image" Target="../media/image130.wmf"/><Relationship Id="rId1" Type="http://schemas.openxmlformats.org/officeDocument/2006/relationships/slideLayout" Target="../slideLayouts/slideLayout7.xml"/><Relationship Id="rId6" Type="http://schemas.openxmlformats.org/officeDocument/2006/relationships/image" Target="../media/image125.wmf"/><Relationship Id="rId11" Type="http://schemas.openxmlformats.org/officeDocument/2006/relationships/oleObject" Target="../embeddings/oleObject121.bin"/><Relationship Id="rId5" Type="http://schemas.openxmlformats.org/officeDocument/2006/relationships/oleObject" Target="../embeddings/oleObject118.bin"/><Relationship Id="rId15" Type="http://schemas.openxmlformats.org/officeDocument/2006/relationships/oleObject" Target="../embeddings/oleObject123.bin"/><Relationship Id="rId10" Type="http://schemas.openxmlformats.org/officeDocument/2006/relationships/image" Target="../media/image127.wmf"/><Relationship Id="rId4" Type="http://schemas.openxmlformats.org/officeDocument/2006/relationships/image" Target="../media/image124.wmf"/><Relationship Id="rId9" Type="http://schemas.openxmlformats.org/officeDocument/2006/relationships/oleObject" Target="../embeddings/oleObject120.bin"/><Relationship Id="rId14" Type="http://schemas.openxmlformats.org/officeDocument/2006/relationships/image" Target="../media/image129.wmf"/></Relationships>
</file>

<file path=ppt/slides/_rels/slide47.x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oleObject" Target="../embeddings/oleObject124.bin"/><Relationship Id="rId7" Type="http://schemas.openxmlformats.org/officeDocument/2006/relationships/oleObject" Target="../embeddings/oleObject126.bin"/><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31.wmf"/><Relationship Id="rId5" Type="http://schemas.openxmlformats.org/officeDocument/2006/relationships/oleObject" Target="../embeddings/oleObject125.bin"/><Relationship Id="rId10" Type="http://schemas.openxmlformats.org/officeDocument/2006/relationships/image" Target="../media/image133.wmf"/><Relationship Id="rId4" Type="http://schemas.openxmlformats.org/officeDocument/2006/relationships/image" Target="../media/image122.wmf"/><Relationship Id="rId9" Type="http://schemas.openxmlformats.org/officeDocument/2006/relationships/oleObject" Target="../embeddings/oleObject127.bin"/></Relationships>
</file>

<file path=ppt/slides/_rels/slide48.xml.rels><?xml version="1.0" encoding="UTF-8" standalone="yes"?>
<Relationships xmlns="http://schemas.openxmlformats.org/package/2006/relationships"><Relationship Id="rId8" Type="http://schemas.openxmlformats.org/officeDocument/2006/relationships/image" Target="../media/image136.wmf"/><Relationship Id="rId3" Type="http://schemas.openxmlformats.org/officeDocument/2006/relationships/oleObject" Target="../embeddings/oleObject128.bin"/><Relationship Id="rId7" Type="http://schemas.openxmlformats.org/officeDocument/2006/relationships/oleObject" Target="../embeddings/oleObject130.bin"/><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35.wmf"/><Relationship Id="rId5" Type="http://schemas.openxmlformats.org/officeDocument/2006/relationships/oleObject" Target="../embeddings/oleObject129.bin"/><Relationship Id="rId4" Type="http://schemas.openxmlformats.org/officeDocument/2006/relationships/image" Target="../media/image134.wmf"/></Relationships>
</file>

<file path=ppt/slides/_rels/slide49.xml.rels><?xml version="1.0" encoding="UTF-8" standalone="yes"?>
<Relationships xmlns="http://schemas.openxmlformats.org/package/2006/relationships"><Relationship Id="rId3" Type="http://schemas.openxmlformats.org/officeDocument/2006/relationships/image" Target="../media/image137.wmf"/><Relationship Id="rId7" Type="http://schemas.openxmlformats.org/officeDocument/2006/relationships/image" Target="../media/image139.wmf"/><Relationship Id="rId2" Type="http://schemas.openxmlformats.org/officeDocument/2006/relationships/oleObject" Target="../embeddings/oleObject124.bin"/><Relationship Id="rId1" Type="http://schemas.openxmlformats.org/officeDocument/2006/relationships/slideLayout" Target="../slideLayouts/slideLayout7.xml"/><Relationship Id="rId6" Type="http://schemas.openxmlformats.org/officeDocument/2006/relationships/oleObject" Target="../embeddings/oleObject132.bin"/><Relationship Id="rId5" Type="http://schemas.openxmlformats.org/officeDocument/2006/relationships/image" Target="../media/image138.wmf"/><Relationship Id="rId4" Type="http://schemas.openxmlformats.org/officeDocument/2006/relationships/oleObject" Target="../embeddings/oleObject131.bin"/></Relationships>
</file>

<file path=ppt/slides/_rels/slide50.x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oleObject" Target="../embeddings/oleObject133.bin"/><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41.wmf"/><Relationship Id="rId2" Type="http://schemas.openxmlformats.org/officeDocument/2006/relationships/oleObject" Target="../embeddings/oleObject134.bin"/><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42.wmf"/><Relationship Id="rId7" Type="http://schemas.openxmlformats.org/officeDocument/2006/relationships/image" Target="../media/image144.wmf"/><Relationship Id="rId2" Type="http://schemas.openxmlformats.org/officeDocument/2006/relationships/oleObject" Target="../embeddings/oleObject135.bin"/><Relationship Id="rId1" Type="http://schemas.openxmlformats.org/officeDocument/2006/relationships/slideLayout" Target="../slideLayouts/slideLayout7.xml"/><Relationship Id="rId6" Type="http://schemas.openxmlformats.org/officeDocument/2006/relationships/oleObject" Target="../embeddings/oleObject137.bin"/><Relationship Id="rId5" Type="http://schemas.openxmlformats.org/officeDocument/2006/relationships/image" Target="../media/image143.wmf"/><Relationship Id="rId4" Type="http://schemas.openxmlformats.org/officeDocument/2006/relationships/oleObject" Target="../embeddings/oleObject136.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32.bin"/><Relationship Id="rId3" Type="http://schemas.openxmlformats.org/officeDocument/2006/relationships/image" Target="../media/image123.wmf"/><Relationship Id="rId7" Type="http://schemas.openxmlformats.org/officeDocument/2006/relationships/image" Target="../media/image146.wmf"/><Relationship Id="rId2" Type="http://schemas.openxmlformats.org/officeDocument/2006/relationships/oleObject" Target="../embeddings/oleObject116.bin"/><Relationship Id="rId1" Type="http://schemas.openxmlformats.org/officeDocument/2006/relationships/slideLayout" Target="../slideLayouts/slideLayout7.xml"/><Relationship Id="rId6" Type="http://schemas.openxmlformats.org/officeDocument/2006/relationships/oleObject" Target="../embeddings/oleObject139.bin"/><Relationship Id="rId5" Type="http://schemas.openxmlformats.org/officeDocument/2006/relationships/image" Target="../media/image145.wmf"/><Relationship Id="rId4" Type="http://schemas.openxmlformats.org/officeDocument/2006/relationships/oleObject" Target="../embeddings/oleObject138.bin"/><Relationship Id="rId9" Type="http://schemas.openxmlformats.org/officeDocument/2006/relationships/image" Target="../media/image139.wmf"/></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43.bin"/><Relationship Id="rId13" Type="http://schemas.openxmlformats.org/officeDocument/2006/relationships/image" Target="../media/image153.png"/><Relationship Id="rId3" Type="http://schemas.openxmlformats.org/officeDocument/2006/relationships/image" Target="../media/image147.wmf"/><Relationship Id="rId7" Type="http://schemas.openxmlformats.org/officeDocument/2006/relationships/image" Target="../media/image149.wmf"/><Relationship Id="rId12" Type="http://schemas.openxmlformats.org/officeDocument/2006/relationships/image" Target="../media/image152.png"/><Relationship Id="rId2" Type="http://schemas.openxmlformats.org/officeDocument/2006/relationships/oleObject" Target="../embeddings/oleObject140.bin"/><Relationship Id="rId1" Type="http://schemas.openxmlformats.org/officeDocument/2006/relationships/slideLayout" Target="../slideLayouts/slideLayout7.xml"/><Relationship Id="rId6" Type="http://schemas.openxmlformats.org/officeDocument/2006/relationships/oleObject" Target="../embeddings/oleObject142.bin"/><Relationship Id="rId11" Type="http://schemas.openxmlformats.org/officeDocument/2006/relationships/image" Target="../media/image151.wmf"/><Relationship Id="rId5" Type="http://schemas.openxmlformats.org/officeDocument/2006/relationships/image" Target="../media/image148.wmf"/><Relationship Id="rId10" Type="http://schemas.openxmlformats.org/officeDocument/2006/relationships/oleObject" Target="../embeddings/oleObject144.bin"/><Relationship Id="rId4" Type="http://schemas.openxmlformats.org/officeDocument/2006/relationships/oleObject" Target="../embeddings/oleObject141.bin"/><Relationship Id="rId9" Type="http://schemas.openxmlformats.org/officeDocument/2006/relationships/image" Target="../media/image150.w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48.bin"/><Relationship Id="rId13" Type="http://schemas.openxmlformats.org/officeDocument/2006/relationships/image" Target="../media/image157.wmf"/><Relationship Id="rId18" Type="http://schemas.openxmlformats.org/officeDocument/2006/relationships/oleObject" Target="../embeddings/oleObject153.bin"/><Relationship Id="rId3" Type="http://schemas.openxmlformats.org/officeDocument/2006/relationships/image" Target="../media/image152.wmf"/><Relationship Id="rId7" Type="http://schemas.openxmlformats.org/officeDocument/2006/relationships/image" Target="../media/image154.wmf"/><Relationship Id="rId12" Type="http://schemas.openxmlformats.org/officeDocument/2006/relationships/oleObject" Target="../embeddings/oleObject150.bin"/><Relationship Id="rId17" Type="http://schemas.openxmlformats.org/officeDocument/2006/relationships/image" Target="../media/image159.wmf"/><Relationship Id="rId2" Type="http://schemas.openxmlformats.org/officeDocument/2006/relationships/oleObject" Target="../embeddings/oleObject145.bin"/><Relationship Id="rId16" Type="http://schemas.openxmlformats.org/officeDocument/2006/relationships/oleObject" Target="../embeddings/oleObject152.bin"/><Relationship Id="rId1" Type="http://schemas.openxmlformats.org/officeDocument/2006/relationships/slideLayout" Target="../slideLayouts/slideLayout7.xml"/><Relationship Id="rId6" Type="http://schemas.openxmlformats.org/officeDocument/2006/relationships/oleObject" Target="../embeddings/oleObject147.bin"/><Relationship Id="rId11" Type="http://schemas.openxmlformats.org/officeDocument/2006/relationships/image" Target="../media/image156.wmf"/><Relationship Id="rId5" Type="http://schemas.openxmlformats.org/officeDocument/2006/relationships/image" Target="../media/image153.wmf"/><Relationship Id="rId15" Type="http://schemas.openxmlformats.org/officeDocument/2006/relationships/image" Target="../media/image158.wmf"/><Relationship Id="rId10" Type="http://schemas.openxmlformats.org/officeDocument/2006/relationships/oleObject" Target="../embeddings/oleObject149.bin"/><Relationship Id="rId19" Type="http://schemas.openxmlformats.org/officeDocument/2006/relationships/image" Target="../media/image160.wmf"/><Relationship Id="rId4" Type="http://schemas.openxmlformats.org/officeDocument/2006/relationships/oleObject" Target="../embeddings/oleObject146.bin"/><Relationship Id="rId9" Type="http://schemas.openxmlformats.org/officeDocument/2006/relationships/image" Target="../media/image155.wmf"/><Relationship Id="rId14" Type="http://schemas.openxmlformats.org/officeDocument/2006/relationships/oleObject" Target="../embeddings/oleObject151.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57.bin"/><Relationship Id="rId13" Type="http://schemas.openxmlformats.org/officeDocument/2006/relationships/image" Target="../media/image166.wmf"/><Relationship Id="rId3" Type="http://schemas.openxmlformats.org/officeDocument/2006/relationships/image" Target="../media/image161.wmf"/><Relationship Id="rId7" Type="http://schemas.openxmlformats.org/officeDocument/2006/relationships/image" Target="../media/image163.wmf"/><Relationship Id="rId12" Type="http://schemas.openxmlformats.org/officeDocument/2006/relationships/oleObject" Target="../embeddings/oleObject159.bin"/><Relationship Id="rId2" Type="http://schemas.openxmlformats.org/officeDocument/2006/relationships/oleObject" Target="../embeddings/oleObject154.bin"/><Relationship Id="rId1" Type="http://schemas.openxmlformats.org/officeDocument/2006/relationships/slideLayout" Target="../slideLayouts/slideLayout7.xml"/><Relationship Id="rId6" Type="http://schemas.openxmlformats.org/officeDocument/2006/relationships/oleObject" Target="../embeddings/oleObject156.bin"/><Relationship Id="rId11" Type="http://schemas.openxmlformats.org/officeDocument/2006/relationships/image" Target="../media/image165.wmf"/><Relationship Id="rId5" Type="http://schemas.openxmlformats.org/officeDocument/2006/relationships/image" Target="../media/image162.wmf"/><Relationship Id="rId10" Type="http://schemas.openxmlformats.org/officeDocument/2006/relationships/oleObject" Target="../embeddings/oleObject158.bin"/><Relationship Id="rId4" Type="http://schemas.openxmlformats.org/officeDocument/2006/relationships/oleObject" Target="../embeddings/oleObject155.bin"/><Relationship Id="rId9" Type="http://schemas.openxmlformats.org/officeDocument/2006/relationships/image" Target="../media/image164.wmf"/></Relationships>
</file>

<file path=ppt/slides/_rels/slide58.x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oleObject" Target="../embeddings/oleObject160.bin"/><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8" Type="http://schemas.openxmlformats.org/officeDocument/2006/relationships/image" Target="../media/image170.wmf"/><Relationship Id="rId13" Type="http://schemas.openxmlformats.org/officeDocument/2006/relationships/oleObject" Target="../embeddings/oleObject166.bin"/><Relationship Id="rId18" Type="http://schemas.openxmlformats.org/officeDocument/2006/relationships/image" Target="../media/image175.wmf"/><Relationship Id="rId3" Type="http://schemas.openxmlformats.org/officeDocument/2006/relationships/oleObject" Target="../embeddings/oleObject161.bin"/><Relationship Id="rId7" Type="http://schemas.openxmlformats.org/officeDocument/2006/relationships/oleObject" Target="../embeddings/oleObject163.bin"/><Relationship Id="rId12" Type="http://schemas.openxmlformats.org/officeDocument/2006/relationships/image" Target="../media/image172.wmf"/><Relationship Id="rId17" Type="http://schemas.openxmlformats.org/officeDocument/2006/relationships/oleObject" Target="../embeddings/oleObject168.bin"/><Relationship Id="rId2" Type="http://schemas.openxmlformats.org/officeDocument/2006/relationships/notesSlide" Target="../notesSlides/notesSlide21.xml"/><Relationship Id="rId16" Type="http://schemas.openxmlformats.org/officeDocument/2006/relationships/image" Target="../media/image174.wmf"/><Relationship Id="rId1" Type="http://schemas.openxmlformats.org/officeDocument/2006/relationships/slideLayout" Target="../slideLayouts/slideLayout7.xml"/><Relationship Id="rId6" Type="http://schemas.openxmlformats.org/officeDocument/2006/relationships/image" Target="../media/image169.wmf"/><Relationship Id="rId11" Type="http://schemas.openxmlformats.org/officeDocument/2006/relationships/oleObject" Target="../embeddings/oleObject165.bin"/><Relationship Id="rId5" Type="http://schemas.openxmlformats.org/officeDocument/2006/relationships/oleObject" Target="../embeddings/oleObject162.bin"/><Relationship Id="rId15" Type="http://schemas.openxmlformats.org/officeDocument/2006/relationships/oleObject" Target="../embeddings/oleObject167.bin"/><Relationship Id="rId10" Type="http://schemas.openxmlformats.org/officeDocument/2006/relationships/image" Target="../media/image171.wmf"/><Relationship Id="rId4" Type="http://schemas.openxmlformats.org/officeDocument/2006/relationships/image" Target="../media/image168.wmf"/><Relationship Id="rId9" Type="http://schemas.openxmlformats.org/officeDocument/2006/relationships/oleObject" Target="../embeddings/oleObject164.bin"/><Relationship Id="rId14" Type="http://schemas.openxmlformats.org/officeDocument/2006/relationships/image" Target="../media/image173.wmf"/></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72.bin"/><Relationship Id="rId3" Type="http://schemas.openxmlformats.org/officeDocument/2006/relationships/image" Target="../media/image176.wmf"/><Relationship Id="rId7" Type="http://schemas.openxmlformats.org/officeDocument/2006/relationships/image" Target="../media/image178.wmf"/><Relationship Id="rId2" Type="http://schemas.openxmlformats.org/officeDocument/2006/relationships/oleObject" Target="../embeddings/oleObject169.bin"/><Relationship Id="rId1" Type="http://schemas.openxmlformats.org/officeDocument/2006/relationships/slideLayout" Target="../slideLayouts/slideLayout7.xml"/><Relationship Id="rId6" Type="http://schemas.openxmlformats.org/officeDocument/2006/relationships/oleObject" Target="../embeddings/oleObject171.bin"/><Relationship Id="rId5" Type="http://schemas.openxmlformats.org/officeDocument/2006/relationships/image" Target="../media/image177.wmf"/><Relationship Id="rId4" Type="http://schemas.openxmlformats.org/officeDocument/2006/relationships/oleObject" Target="../embeddings/oleObject170.bin"/><Relationship Id="rId9" Type="http://schemas.openxmlformats.org/officeDocument/2006/relationships/image" Target="../media/image179.wmf"/></Relationships>
</file>

<file path=ppt/slides/_rels/slide61.xml.rels><?xml version="1.0" encoding="UTF-8" standalone="yes"?>
<Relationships xmlns="http://schemas.openxmlformats.org/package/2006/relationships"><Relationship Id="rId8" Type="http://schemas.openxmlformats.org/officeDocument/2006/relationships/image" Target="../media/image180.wmf"/><Relationship Id="rId13" Type="http://schemas.openxmlformats.org/officeDocument/2006/relationships/oleObject" Target="../embeddings/oleObject176.bin"/><Relationship Id="rId3" Type="http://schemas.openxmlformats.org/officeDocument/2006/relationships/oleObject" Target="../embeddings/oleObject169.bin"/><Relationship Id="rId7" Type="http://schemas.openxmlformats.org/officeDocument/2006/relationships/oleObject" Target="../embeddings/oleObject173.bin"/><Relationship Id="rId12" Type="http://schemas.openxmlformats.org/officeDocument/2006/relationships/image" Target="../media/image182.wmf"/><Relationship Id="rId2" Type="http://schemas.openxmlformats.org/officeDocument/2006/relationships/notesSlide" Target="../notesSlides/notesSlide22.xml"/><Relationship Id="rId16" Type="http://schemas.openxmlformats.org/officeDocument/2006/relationships/image" Target="../media/image184.wmf"/><Relationship Id="rId1" Type="http://schemas.openxmlformats.org/officeDocument/2006/relationships/slideLayout" Target="../slideLayouts/slideLayout7.xml"/><Relationship Id="rId6" Type="http://schemas.openxmlformats.org/officeDocument/2006/relationships/image" Target="../media/image177.wmf"/><Relationship Id="rId11" Type="http://schemas.openxmlformats.org/officeDocument/2006/relationships/oleObject" Target="../embeddings/oleObject175.bin"/><Relationship Id="rId5" Type="http://schemas.openxmlformats.org/officeDocument/2006/relationships/oleObject" Target="../embeddings/oleObject170.bin"/><Relationship Id="rId15" Type="http://schemas.openxmlformats.org/officeDocument/2006/relationships/oleObject" Target="../embeddings/oleObject177.bin"/><Relationship Id="rId10" Type="http://schemas.openxmlformats.org/officeDocument/2006/relationships/image" Target="../media/image181.wmf"/><Relationship Id="rId4" Type="http://schemas.openxmlformats.org/officeDocument/2006/relationships/image" Target="../media/image176.wmf"/><Relationship Id="rId9" Type="http://schemas.openxmlformats.org/officeDocument/2006/relationships/oleObject" Target="../embeddings/oleObject174.bin"/><Relationship Id="rId14" Type="http://schemas.openxmlformats.org/officeDocument/2006/relationships/image" Target="../media/image183.wmf"/></Relationships>
</file>

<file path=ppt/slides/_rels/slide62.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178.bin"/><Relationship Id="rId7" Type="http://schemas.openxmlformats.org/officeDocument/2006/relationships/oleObject" Target="../embeddings/oleObject7.bin"/><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86.wmf"/><Relationship Id="rId5" Type="http://schemas.openxmlformats.org/officeDocument/2006/relationships/oleObject" Target="../embeddings/oleObject179.bin"/><Relationship Id="rId10" Type="http://schemas.openxmlformats.org/officeDocument/2006/relationships/image" Target="../media/image187.wmf"/><Relationship Id="rId4" Type="http://schemas.openxmlformats.org/officeDocument/2006/relationships/image" Target="../media/image185.wmf"/><Relationship Id="rId9" Type="http://schemas.openxmlformats.org/officeDocument/2006/relationships/oleObject" Target="../embeddings/oleObject180.bin"/></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81.bin"/><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88.wmf"/></Relationships>
</file>

<file path=ppt/slides/_rels/slide64.xml.rels><?xml version="1.0" encoding="UTF-8" standalone="yes"?>
<Relationships xmlns="http://schemas.openxmlformats.org/package/2006/relationships"><Relationship Id="rId8" Type="http://schemas.openxmlformats.org/officeDocument/2006/relationships/image" Target="../media/image191.wmf"/><Relationship Id="rId13" Type="http://schemas.openxmlformats.org/officeDocument/2006/relationships/oleObject" Target="../embeddings/oleObject187.bin"/><Relationship Id="rId3" Type="http://schemas.openxmlformats.org/officeDocument/2006/relationships/oleObject" Target="../embeddings/oleObject182.bin"/><Relationship Id="rId7" Type="http://schemas.openxmlformats.org/officeDocument/2006/relationships/oleObject" Target="../embeddings/oleObject184.bin"/><Relationship Id="rId12" Type="http://schemas.openxmlformats.org/officeDocument/2006/relationships/image" Target="../media/image193.wmf"/><Relationship Id="rId2" Type="http://schemas.openxmlformats.org/officeDocument/2006/relationships/notesSlide" Target="../notesSlides/notesSlide25.xml"/><Relationship Id="rId16" Type="http://schemas.openxmlformats.org/officeDocument/2006/relationships/image" Target="../media/image195.wmf"/><Relationship Id="rId1" Type="http://schemas.openxmlformats.org/officeDocument/2006/relationships/slideLayout" Target="../slideLayouts/slideLayout7.xml"/><Relationship Id="rId6" Type="http://schemas.openxmlformats.org/officeDocument/2006/relationships/image" Target="../media/image190.wmf"/><Relationship Id="rId11" Type="http://schemas.openxmlformats.org/officeDocument/2006/relationships/oleObject" Target="../embeddings/oleObject186.bin"/><Relationship Id="rId5" Type="http://schemas.openxmlformats.org/officeDocument/2006/relationships/oleObject" Target="../embeddings/oleObject183.bin"/><Relationship Id="rId15" Type="http://schemas.openxmlformats.org/officeDocument/2006/relationships/oleObject" Target="../embeddings/oleObject188.bin"/><Relationship Id="rId10" Type="http://schemas.openxmlformats.org/officeDocument/2006/relationships/image" Target="../media/image192.wmf"/><Relationship Id="rId4" Type="http://schemas.openxmlformats.org/officeDocument/2006/relationships/image" Target="../media/image189.wmf"/><Relationship Id="rId9" Type="http://schemas.openxmlformats.org/officeDocument/2006/relationships/oleObject" Target="../embeddings/oleObject185.bin"/><Relationship Id="rId14" Type="http://schemas.openxmlformats.org/officeDocument/2006/relationships/image" Target="../media/image194.wmf"/></Relationships>
</file>

<file path=ppt/slides/_rels/slide65.xml.rels><?xml version="1.0" encoding="UTF-8" standalone="yes"?>
<Relationships xmlns="http://schemas.openxmlformats.org/package/2006/relationships"><Relationship Id="rId8" Type="http://schemas.openxmlformats.org/officeDocument/2006/relationships/image" Target="../media/image198.wmf"/><Relationship Id="rId13" Type="http://schemas.openxmlformats.org/officeDocument/2006/relationships/oleObject" Target="../embeddings/oleObject194.bin"/><Relationship Id="rId3" Type="http://schemas.openxmlformats.org/officeDocument/2006/relationships/oleObject" Target="../embeddings/oleObject189.bin"/><Relationship Id="rId7" Type="http://schemas.openxmlformats.org/officeDocument/2006/relationships/oleObject" Target="../embeddings/oleObject191.bin"/><Relationship Id="rId12" Type="http://schemas.openxmlformats.org/officeDocument/2006/relationships/image" Target="../media/image200.wmf"/><Relationship Id="rId2" Type="http://schemas.openxmlformats.org/officeDocument/2006/relationships/notesSlide" Target="../notesSlides/notesSlide26.xml"/><Relationship Id="rId16" Type="http://schemas.openxmlformats.org/officeDocument/2006/relationships/image" Target="../media/image202.wmf"/><Relationship Id="rId1" Type="http://schemas.openxmlformats.org/officeDocument/2006/relationships/slideLayout" Target="../slideLayouts/slideLayout7.xml"/><Relationship Id="rId6" Type="http://schemas.openxmlformats.org/officeDocument/2006/relationships/image" Target="../media/image197.wmf"/><Relationship Id="rId11" Type="http://schemas.openxmlformats.org/officeDocument/2006/relationships/oleObject" Target="../embeddings/oleObject193.bin"/><Relationship Id="rId5" Type="http://schemas.openxmlformats.org/officeDocument/2006/relationships/oleObject" Target="../embeddings/oleObject190.bin"/><Relationship Id="rId15" Type="http://schemas.openxmlformats.org/officeDocument/2006/relationships/oleObject" Target="../embeddings/oleObject195.bin"/><Relationship Id="rId10" Type="http://schemas.openxmlformats.org/officeDocument/2006/relationships/image" Target="../media/image199.wmf"/><Relationship Id="rId4" Type="http://schemas.openxmlformats.org/officeDocument/2006/relationships/image" Target="../media/image196.wmf"/><Relationship Id="rId9" Type="http://schemas.openxmlformats.org/officeDocument/2006/relationships/oleObject" Target="../embeddings/oleObject192.bin"/><Relationship Id="rId14" Type="http://schemas.openxmlformats.org/officeDocument/2006/relationships/image" Target="../media/image201.wmf"/></Relationships>
</file>

<file path=ppt/slides/_rels/slide66.x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oleObject" Target="../embeddings/oleObject196.bin"/><Relationship Id="rId7" Type="http://schemas.openxmlformats.org/officeDocument/2006/relationships/oleObject" Target="../embeddings/oleObject198.bin"/><Relationship Id="rId12" Type="http://schemas.openxmlformats.org/officeDocument/2006/relationships/image" Target="../media/image207.wmf"/><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204.wmf"/><Relationship Id="rId11" Type="http://schemas.openxmlformats.org/officeDocument/2006/relationships/oleObject" Target="../embeddings/oleObject200.bin"/><Relationship Id="rId5" Type="http://schemas.openxmlformats.org/officeDocument/2006/relationships/oleObject" Target="../embeddings/oleObject197.bin"/><Relationship Id="rId10" Type="http://schemas.openxmlformats.org/officeDocument/2006/relationships/image" Target="../media/image206.wmf"/><Relationship Id="rId4" Type="http://schemas.openxmlformats.org/officeDocument/2006/relationships/image" Target="../media/image203.emf"/><Relationship Id="rId9" Type="http://schemas.openxmlformats.org/officeDocument/2006/relationships/oleObject" Target="../embeddings/oleObject199.bin"/></Relationships>
</file>

<file path=ppt/slides/_rels/slide67.xml.rels><?xml version="1.0" encoding="UTF-8" standalone="yes"?>
<Relationships xmlns="http://schemas.openxmlformats.org/package/2006/relationships"><Relationship Id="rId8" Type="http://schemas.openxmlformats.org/officeDocument/2006/relationships/image" Target="../media/image210.wmf"/><Relationship Id="rId3" Type="http://schemas.openxmlformats.org/officeDocument/2006/relationships/oleObject" Target="../embeddings/oleObject201.bin"/><Relationship Id="rId7" Type="http://schemas.openxmlformats.org/officeDocument/2006/relationships/oleObject" Target="../embeddings/oleObject203.bin"/><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209.wmf"/><Relationship Id="rId5" Type="http://schemas.openxmlformats.org/officeDocument/2006/relationships/oleObject" Target="../embeddings/oleObject202.bin"/><Relationship Id="rId4" Type="http://schemas.openxmlformats.org/officeDocument/2006/relationships/image" Target="../media/image208.wmf"/></Relationships>
</file>

<file path=ppt/slides/_rels/slide68.xml.rels><?xml version="1.0" encoding="UTF-8" standalone="yes"?>
<Relationships xmlns="http://schemas.openxmlformats.org/package/2006/relationships"><Relationship Id="rId8" Type="http://schemas.openxmlformats.org/officeDocument/2006/relationships/image" Target="../media/image213.wmf"/><Relationship Id="rId3" Type="http://schemas.openxmlformats.org/officeDocument/2006/relationships/oleObject" Target="../embeddings/oleObject204.bin"/><Relationship Id="rId7" Type="http://schemas.openxmlformats.org/officeDocument/2006/relationships/oleObject" Target="../embeddings/oleObject206.bin"/><Relationship Id="rId12" Type="http://schemas.openxmlformats.org/officeDocument/2006/relationships/image" Target="../media/image215.wmf"/><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212.wmf"/><Relationship Id="rId11" Type="http://schemas.openxmlformats.org/officeDocument/2006/relationships/oleObject" Target="../embeddings/oleObject208.bin"/><Relationship Id="rId5" Type="http://schemas.openxmlformats.org/officeDocument/2006/relationships/oleObject" Target="../embeddings/oleObject205.bin"/><Relationship Id="rId10" Type="http://schemas.openxmlformats.org/officeDocument/2006/relationships/image" Target="../media/image214.wmf"/><Relationship Id="rId4" Type="http://schemas.openxmlformats.org/officeDocument/2006/relationships/image" Target="../media/image211.wmf"/><Relationship Id="rId9" Type="http://schemas.openxmlformats.org/officeDocument/2006/relationships/oleObject" Target="../embeddings/oleObject207.bin"/></Relationships>
</file>

<file path=ppt/slides/_rels/slide69.xml.rels><?xml version="1.0" encoding="UTF-8" standalone="yes"?>
<Relationships xmlns="http://schemas.openxmlformats.org/package/2006/relationships"><Relationship Id="rId8" Type="http://schemas.openxmlformats.org/officeDocument/2006/relationships/image" Target="../media/image218.wmf"/><Relationship Id="rId3" Type="http://schemas.openxmlformats.org/officeDocument/2006/relationships/oleObject" Target="../embeddings/oleObject209.bin"/><Relationship Id="rId7" Type="http://schemas.openxmlformats.org/officeDocument/2006/relationships/oleObject" Target="../embeddings/oleObject211.bin"/><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217.wmf"/><Relationship Id="rId5" Type="http://schemas.openxmlformats.org/officeDocument/2006/relationships/oleObject" Target="../embeddings/oleObject210.bin"/><Relationship Id="rId10" Type="http://schemas.openxmlformats.org/officeDocument/2006/relationships/image" Target="../media/image213.wmf"/><Relationship Id="rId4" Type="http://schemas.openxmlformats.org/officeDocument/2006/relationships/image" Target="../media/image216.wmf"/><Relationship Id="rId9" Type="http://schemas.openxmlformats.org/officeDocument/2006/relationships/oleObject" Target="../embeddings/oleObject206.bin"/></Relationships>
</file>

<file path=ppt/slides/_rels/slide70.xml.rels><?xml version="1.0" encoding="UTF-8" standalone="yes"?>
<Relationships xmlns="http://schemas.openxmlformats.org/package/2006/relationships"><Relationship Id="rId8" Type="http://schemas.openxmlformats.org/officeDocument/2006/relationships/image" Target="../media/image221.wmf"/><Relationship Id="rId3" Type="http://schemas.openxmlformats.org/officeDocument/2006/relationships/oleObject" Target="../embeddings/oleObject212.bin"/><Relationship Id="rId7" Type="http://schemas.openxmlformats.org/officeDocument/2006/relationships/oleObject" Target="../embeddings/oleObject214.bin"/><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220.wmf"/><Relationship Id="rId5" Type="http://schemas.openxmlformats.org/officeDocument/2006/relationships/oleObject" Target="../embeddings/oleObject213.bin"/><Relationship Id="rId10" Type="http://schemas.openxmlformats.org/officeDocument/2006/relationships/image" Target="../media/image222.wmf"/><Relationship Id="rId4" Type="http://schemas.openxmlformats.org/officeDocument/2006/relationships/image" Target="../media/image219.wmf"/><Relationship Id="rId9" Type="http://schemas.openxmlformats.org/officeDocument/2006/relationships/oleObject" Target="../embeddings/oleObject215.bin"/></Relationships>
</file>

<file path=ppt/slides/_rels/slide71.xml.rels><?xml version="1.0" encoding="UTF-8" standalone="yes"?>
<Relationships xmlns="http://schemas.openxmlformats.org/package/2006/relationships"><Relationship Id="rId8" Type="http://schemas.openxmlformats.org/officeDocument/2006/relationships/image" Target="../media/image225.wmf"/><Relationship Id="rId13" Type="http://schemas.openxmlformats.org/officeDocument/2006/relationships/oleObject" Target="../embeddings/oleObject221.bin"/><Relationship Id="rId3" Type="http://schemas.openxmlformats.org/officeDocument/2006/relationships/oleObject" Target="../embeddings/oleObject216.bin"/><Relationship Id="rId7" Type="http://schemas.openxmlformats.org/officeDocument/2006/relationships/oleObject" Target="../embeddings/oleObject218.bin"/><Relationship Id="rId12" Type="http://schemas.openxmlformats.org/officeDocument/2006/relationships/image" Target="../media/image227.wmf"/><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224.wmf"/><Relationship Id="rId11" Type="http://schemas.openxmlformats.org/officeDocument/2006/relationships/oleObject" Target="../embeddings/oleObject220.bin"/><Relationship Id="rId5" Type="http://schemas.openxmlformats.org/officeDocument/2006/relationships/oleObject" Target="../embeddings/oleObject217.bin"/><Relationship Id="rId10" Type="http://schemas.openxmlformats.org/officeDocument/2006/relationships/image" Target="../media/image226.wmf"/><Relationship Id="rId4" Type="http://schemas.openxmlformats.org/officeDocument/2006/relationships/image" Target="../media/image223.wmf"/><Relationship Id="rId9" Type="http://schemas.openxmlformats.org/officeDocument/2006/relationships/oleObject" Target="../embeddings/oleObject219.bin"/><Relationship Id="rId14" Type="http://schemas.openxmlformats.org/officeDocument/2006/relationships/image" Target="../media/image228.wmf"/></Relationships>
</file>

<file path=ppt/slides/_rels/slide72.xml.rels><?xml version="1.0" encoding="UTF-8" standalone="yes"?>
<Relationships xmlns="http://schemas.openxmlformats.org/package/2006/relationships"><Relationship Id="rId8" Type="http://schemas.openxmlformats.org/officeDocument/2006/relationships/image" Target="../media/image231.wmf"/><Relationship Id="rId13" Type="http://schemas.openxmlformats.org/officeDocument/2006/relationships/oleObject" Target="../embeddings/oleObject227.bin"/><Relationship Id="rId18" Type="http://schemas.openxmlformats.org/officeDocument/2006/relationships/image" Target="../media/image236.wmf"/><Relationship Id="rId3" Type="http://schemas.openxmlformats.org/officeDocument/2006/relationships/oleObject" Target="../embeddings/oleObject222.bin"/><Relationship Id="rId7" Type="http://schemas.openxmlformats.org/officeDocument/2006/relationships/oleObject" Target="../embeddings/oleObject224.bin"/><Relationship Id="rId12" Type="http://schemas.openxmlformats.org/officeDocument/2006/relationships/image" Target="../media/image233.wmf"/><Relationship Id="rId17" Type="http://schemas.openxmlformats.org/officeDocument/2006/relationships/oleObject" Target="../embeddings/oleObject229.bin"/><Relationship Id="rId2" Type="http://schemas.openxmlformats.org/officeDocument/2006/relationships/notesSlide" Target="../notesSlides/notesSlide33.xml"/><Relationship Id="rId16" Type="http://schemas.openxmlformats.org/officeDocument/2006/relationships/image" Target="../media/image235.wmf"/><Relationship Id="rId20" Type="http://schemas.openxmlformats.org/officeDocument/2006/relationships/image" Target="../media/image237.wmf"/><Relationship Id="rId1" Type="http://schemas.openxmlformats.org/officeDocument/2006/relationships/slideLayout" Target="../slideLayouts/slideLayout7.xml"/><Relationship Id="rId6" Type="http://schemas.openxmlformats.org/officeDocument/2006/relationships/image" Target="../media/image230.wmf"/><Relationship Id="rId11" Type="http://schemas.openxmlformats.org/officeDocument/2006/relationships/oleObject" Target="../embeddings/oleObject226.bin"/><Relationship Id="rId5" Type="http://schemas.openxmlformats.org/officeDocument/2006/relationships/oleObject" Target="../embeddings/oleObject223.bin"/><Relationship Id="rId15" Type="http://schemas.openxmlformats.org/officeDocument/2006/relationships/oleObject" Target="../embeddings/oleObject228.bin"/><Relationship Id="rId10" Type="http://schemas.openxmlformats.org/officeDocument/2006/relationships/image" Target="../media/image232.wmf"/><Relationship Id="rId19" Type="http://schemas.openxmlformats.org/officeDocument/2006/relationships/oleObject" Target="../embeddings/oleObject230.bin"/><Relationship Id="rId4" Type="http://schemas.openxmlformats.org/officeDocument/2006/relationships/image" Target="../media/image229.wmf"/><Relationship Id="rId9" Type="http://schemas.openxmlformats.org/officeDocument/2006/relationships/oleObject" Target="../embeddings/oleObject225.bin"/><Relationship Id="rId14" Type="http://schemas.openxmlformats.org/officeDocument/2006/relationships/image" Target="../media/image234.wmf"/></Relationships>
</file>

<file path=ppt/slides/_rels/slide73.xml.rels><?xml version="1.0" encoding="UTF-8" standalone="yes"?>
<Relationships xmlns="http://schemas.openxmlformats.org/package/2006/relationships"><Relationship Id="rId8" Type="http://schemas.openxmlformats.org/officeDocument/2006/relationships/image" Target="../media/image239.wmf"/><Relationship Id="rId13" Type="http://schemas.openxmlformats.org/officeDocument/2006/relationships/oleObject" Target="../embeddings/oleObject234.bin"/><Relationship Id="rId3" Type="http://schemas.openxmlformats.org/officeDocument/2006/relationships/oleObject" Target="../embeddings/oleObject229.bin"/><Relationship Id="rId7" Type="http://schemas.openxmlformats.org/officeDocument/2006/relationships/oleObject" Target="../embeddings/oleObject232.bin"/><Relationship Id="rId12" Type="http://schemas.openxmlformats.org/officeDocument/2006/relationships/image" Target="../media/image240.wmf"/><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238.wmf"/><Relationship Id="rId11" Type="http://schemas.openxmlformats.org/officeDocument/2006/relationships/oleObject" Target="../embeddings/oleObject233.bin"/><Relationship Id="rId5" Type="http://schemas.openxmlformats.org/officeDocument/2006/relationships/oleObject" Target="../embeddings/oleObject231.bin"/><Relationship Id="rId10" Type="http://schemas.openxmlformats.org/officeDocument/2006/relationships/image" Target="../media/image231.wmf"/><Relationship Id="rId4" Type="http://schemas.openxmlformats.org/officeDocument/2006/relationships/image" Target="../media/image236.wmf"/><Relationship Id="rId9" Type="http://schemas.openxmlformats.org/officeDocument/2006/relationships/oleObject" Target="../embeddings/oleObject224.bin"/><Relationship Id="rId14" Type="http://schemas.openxmlformats.org/officeDocument/2006/relationships/image" Target="../media/image241.wmf"/></Relationships>
</file>

<file path=ppt/slides/_rels/slide74.xml.rels><?xml version="1.0" encoding="UTF-8" standalone="yes"?>
<Relationships xmlns="http://schemas.openxmlformats.org/package/2006/relationships"><Relationship Id="rId8" Type="http://schemas.openxmlformats.org/officeDocument/2006/relationships/image" Target="../media/image244.wmf"/><Relationship Id="rId13" Type="http://schemas.openxmlformats.org/officeDocument/2006/relationships/oleObject" Target="../embeddings/oleObject240.bin"/><Relationship Id="rId3" Type="http://schemas.openxmlformats.org/officeDocument/2006/relationships/oleObject" Target="../embeddings/oleObject235.bin"/><Relationship Id="rId7" Type="http://schemas.openxmlformats.org/officeDocument/2006/relationships/oleObject" Target="../embeddings/oleObject237.bin"/><Relationship Id="rId12" Type="http://schemas.openxmlformats.org/officeDocument/2006/relationships/image" Target="../media/image246.wmf"/><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243.wmf"/><Relationship Id="rId11" Type="http://schemas.openxmlformats.org/officeDocument/2006/relationships/oleObject" Target="../embeddings/oleObject239.bin"/><Relationship Id="rId5" Type="http://schemas.openxmlformats.org/officeDocument/2006/relationships/oleObject" Target="../embeddings/oleObject236.bin"/><Relationship Id="rId10" Type="http://schemas.openxmlformats.org/officeDocument/2006/relationships/image" Target="../media/image245.wmf"/><Relationship Id="rId4" Type="http://schemas.openxmlformats.org/officeDocument/2006/relationships/image" Target="../media/image242.wmf"/><Relationship Id="rId9" Type="http://schemas.openxmlformats.org/officeDocument/2006/relationships/oleObject" Target="../embeddings/oleObject238.bin"/><Relationship Id="rId14" Type="http://schemas.openxmlformats.org/officeDocument/2006/relationships/image" Target="../media/image247.wmf"/></Relationships>
</file>

<file path=ppt/slides/_rels/slide75.xml.rels><?xml version="1.0" encoding="UTF-8" standalone="yes"?>
<Relationships xmlns="http://schemas.openxmlformats.org/package/2006/relationships"><Relationship Id="rId8" Type="http://schemas.openxmlformats.org/officeDocument/2006/relationships/image" Target="../media/image250.wmf"/><Relationship Id="rId13" Type="http://schemas.openxmlformats.org/officeDocument/2006/relationships/oleObject" Target="../embeddings/oleObject246.bin"/><Relationship Id="rId3" Type="http://schemas.openxmlformats.org/officeDocument/2006/relationships/oleObject" Target="../embeddings/oleObject241.bin"/><Relationship Id="rId7" Type="http://schemas.openxmlformats.org/officeDocument/2006/relationships/oleObject" Target="../embeddings/oleObject243.bin"/><Relationship Id="rId12" Type="http://schemas.openxmlformats.org/officeDocument/2006/relationships/image" Target="../media/image252.wmf"/><Relationship Id="rId2" Type="http://schemas.openxmlformats.org/officeDocument/2006/relationships/notesSlide" Target="../notesSlides/notesSlide36.xml"/><Relationship Id="rId16" Type="http://schemas.openxmlformats.org/officeDocument/2006/relationships/image" Target="../media/image230.wmf"/><Relationship Id="rId1" Type="http://schemas.openxmlformats.org/officeDocument/2006/relationships/slideLayout" Target="../slideLayouts/slideLayout7.xml"/><Relationship Id="rId6" Type="http://schemas.openxmlformats.org/officeDocument/2006/relationships/image" Target="../media/image249.wmf"/><Relationship Id="rId11" Type="http://schemas.openxmlformats.org/officeDocument/2006/relationships/oleObject" Target="../embeddings/oleObject245.bin"/><Relationship Id="rId5" Type="http://schemas.openxmlformats.org/officeDocument/2006/relationships/oleObject" Target="../embeddings/oleObject242.bin"/><Relationship Id="rId15" Type="http://schemas.openxmlformats.org/officeDocument/2006/relationships/oleObject" Target="../embeddings/oleObject247.bin"/><Relationship Id="rId10" Type="http://schemas.openxmlformats.org/officeDocument/2006/relationships/image" Target="../media/image251.wmf"/><Relationship Id="rId4" Type="http://schemas.openxmlformats.org/officeDocument/2006/relationships/image" Target="../media/image248.wmf"/><Relationship Id="rId9" Type="http://schemas.openxmlformats.org/officeDocument/2006/relationships/oleObject" Target="../embeddings/oleObject244.bin"/><Relationship Id="rId14" Type="http://schemas.openxmlformats.org/officeDocument/2006/relationships/image" Target="../media/image253.wmf"/></Relationships>
</file>

<file path=ppt/slides/_rels/slide76.xml.rels><?xml version="1.0" encoding="UTF-8" standalone="yes"?>
<Relationships xmlns="http://schemas.openxmlformats.org/package/2006/relationships"><Relationship Id="rId8" Type="http://schemas.openxmlformats.org/officeDocument/2006/relationships/image" Target="../media/image256.wmf"/><Relationship Id="rId3" Type="http://schemas.openxmlformats.org/officeDocument/2006/relationships/oleObject" Target="../embeddings/oleObject248.bin"/><Relationship Id="rId7" Type="http://schemas.openxmlformats.org/officeDocument/2006/relationships/oleObject" Target="../embeddings/oleObject250.bin"/><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255.wmf"/><Relationship Id="rId5" Type="http://schemas.openxmlformats.org/officeDocument/2006/relationships/oleObject" Target="../embeddings/oleObject249.bin"/><Relationship Id="rId4" Type="http://schemas.openxmlformats.org/officeDocument/2006/relationships/image" Target="../media/image254.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251.bin"/><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258.wmf"/><Relationship Id="rId5" Type="http://schemas.openxmlformats.org/officeDocument/2006/relationships/oleObject" Target="../embeddings/oleObject252.bin"/><Relationship Id="rId4" Type="http://schemas.openxmlformats.org/officeDocument/2006/relationships/image" Target="../media/image257.wmf"/></Relationships>
</file>

<file path=ppt/slides/_rels/slide78.xml.rels><?xml version="1.0" encoding="UTF-8" standalone="yes"?>
<Relationships xmlns="http://schemas.openxmlformats.org/package/2006/relationships"><Relationship Id="rId8" Type="http://schemas.openxmlformats.org/officeDocument/2006/relationships/image" Target="../media/image261.wmf"/><Relationship Id="rId3" Type="http://schemas.openxmlformats.org/officeDocument/2006/relationships/oleObject" Target="../embeddings/oleObject253.bin"/><Relationship Id="rId7" Type="http://schemas.openxmlformats.org/officeDocument/2006/relationships/oleObject" Target="../embeddings/oleObject255.bin"/><Relationship Id="rId12" Type="http://schemas.openxmlformats.org/officeDocument/2006/relationships/image" Target="../media/image263.wmf"/><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260.wmf"/><Relationship Id="rId11" Type="http://schemas.openxmlformats.org/officeDocument/2006/relationships/oleObject" Target="../embeddings/oleObject257.bin"/><Relationship Id="rId5" Type="http://schemas.openxmlformats.org/officeDocument/2006/relationships/oleObject" Target="../embeddings/oleObject254.bin"/><Relationship Id="rId10" Type="http://schemas.openxmlformats.org/officeDocument/2006/relationships/image" Target="../media/image262.wmf"/><Relationship Id="rId4" Type="http://schemas.openxmlformats.org/officeDocument/2006/relationships/image" Target="../media/image259.wmf"/><Relationship Id="rId9" Type="http://schemas.openxmlformats.org/officeDocument/2006/relationships/oleObject" Target="../embeddings/oleObject256.bin"/></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258.bin"/><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64.w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259.bin"/><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265.wmf"/></Relationships>
</file>

<file path=ppt/slides/_rels/slide81.xml.rels><?xml version="1.0" encoding="UTF-8" standalone="yes"?>
<Relationships xmlns="http://schemas.openxmlformats.org/package/2006/relationships"><Relationship Id="rId8" Type="http://schemas.openxmlformats.org/officeDocument/2006/relationships/image" Target="../media/image268.wmf"/><Relationship Id="rId13" Type="http://schemas.openxmlformats.org/officeDocument/2006/relationships/oleObject" Target="../embeddings/oleObject265.bin"/><Relationship Id="rId3" Type="http://schemas.openxmlformats.org/officeDocument/2006/relationships/oleObject" Target="../embeddings/oleObject260.bin"/><Relationship Id="rId7" Type="http://schemas.openxmlformats.org/officeDocument/2006/relationships/oleObject" Target="../embeddings/oleObject262.bin"/><Relationship Id="rId12" Type="http://schemas.openxmlformats.org/officeDocument/2006/relationships/image" Target="../media/image270.wmf"/><Relationship Id="rId2" Type="http://schemas.openxmlformats.org/officeDocument/2006/relationships/notesSlide" Target="../notesSlides/notesSlide42.xml"/><Relationship Id="rId16" Type="http://schemas.openxmlformats.org/officeDocument/2006/relationships/image" Target="../media/image272.wmf"/><Relationship Id="rId1" Type="http://schemas.openxmlformats.org/officeDocument/2006/relationships/slideLayout" Target="../slideLayouts/slideLayout7.xml"/><Relationship Id="rId6" Type="http://schemas.openxmlformats.org/officeDocument/2006/relationships/image" Target="../media/image267.wmf"/><Relationship Id="rId11" Type="http://schemas.openxmlformats.org/officeDocument/2006/relationships/oleObject" Target="../embeddings/oleObject264.bin"/><Relationship Id="rId5" Type="http://schemas.openxmlformats.org/officeDocument/2006/relationships/oleObject" Target="../embeddings/oleObject261.bin"/><Relationship Id="rId15" Type="http://schemas.openxmlformats.org/officeDocument/2006/relationships/oleObject" Target="../embeddings/oleObject266.bin"/><Relationship Id="rId10" Type="http://schemas.openxmlformats.org/officeDocument/2006/relationships/image" Target="../media/image269.wmf"/><Relationship Id="rId4" Type="http://schemas.openxmlformats.org/officeDocument/2006/relationships/image" Target="../media/image266.wmf"/><Relationship Id="rId9" Type="http://schemas.openxmlformats.org/officeDocument/2006/relationships/oleObject" Target="../embeddings/oleObject263.bin"/><Relationship Id="rId14" Type="http://schemas.openxmlformats.org/officeDocument/2006/relationships/image" Target="../media/image271.wmf"/></Relationships>
</file>

<file path=ppt/slides/_rels/slide82.xml.rels><?xml version="1.0" encoding="UTF-8" standalone="yes"?>
<Relationships xmlns="http://schemas.openxmlformats.org/package/2006/relationships"><Relationship Id="rId8" Type="http://schemas.openxmlformats.org/officeDocument/2006/relationships/image" Target="../media/image275.wmf"/><Relationship Id="rId3" Type="http://schemas.openxmlformats.org/officeDocument/2006/relationships/oleObject" Target="../embeddings/oleObject267.bin"/><Relationship Id="rId7" Type="http://schemas.openxmlformats.org/officeDocument/2006/relationships/oleObject" Target="../embeddings/oleObject269.bin"/><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274.wmf"/><Relationship Id="rId5" Type="http://schemas.openxmlformats.org/officeDocument/2006/relationships/oleObject" Target="../embeddings/oleObject268.bin"/><Relationship Id="rId4" Type="http://schemas.openxmlformats.org/officeDocument/2006/relationships/image" Target="../media/image273.wmf"/></Relationships>
</file>

<file path=ppt/slides/_rels/slide83.xml.rels><?xml version="1.0" encoding="UTF-8" standalone="yes"?>
<Relationships xmlns="http://schemas.openxmlformats.org/package/2006/relationships"><Relationship Id="rId8" Type="http://schemas.openxmlformats.org/officeDocument/2006/relationships/image" Target="../media/image278.wmf"/><Relationship Id="rId3" Type="http://schemas.openxmlformats.org/officeDocument/2006/relationships/oleObject" Target="../embeddings/oleObject270.bin"/><Relationship Id="rId7" Type="http://schemas.openxmlformats.org/officeDocument/2006/relationships/oleObject" Target="../embeddings/oleObject272.bin"/><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277.wmf"/><Relationship Id="rId5" Type="http://schemas.openxmlformats.org/officeDocument/2006/relationships/oleObject" Target="../embeddings/oleObject271.bin"/><Relationship Id="rId4" Type="http://schemas.openxmlformats.org/officeDocument/2006/relationships/image" Target="../media/image276.wmf"/></Relationships>
</file>

<file path=ppt/slides/_rels/slide84.xml.rels><?xml version="1.0" encoding="UTF-8" standalone="yes"?>
<Relationships xmlns="http://schemas.openxmlformats.org/package/2006/relationships"><Relationship Id="rId3" Type="http://schemas.openxmlformats.org/officeDocument/2006/relationships/image" Target="../media/image279.wmf"/><Relationship Id="rId2" Type="http://schemas.openxmlformats.org/officeDocument/2006/relationships/oleObject" Target="../embeddings/oleObject273.bin"/><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8" Type="http://schemas.openxmlformats.org/officeDocument/2006/relationships/image" Target="../media/image282.wmf"/><Relationship Id="rId13" Type="http://schemas.openxmlformats.org/officeDocument/2006/relationships/oleObject" Target="../embeddings/oleObject279.bin"/><Relationship Id="rId18" Type="http://schemas.openxmlformats.org/officeDocument/2006/relationships/image" Target="../media/image287.wmf"/><Relationship Id="rId26" Type="http://schemas.openxmlformats.org/officeDocument/2006/relationships/image" Target="../media/image291.wmf"/><Relationship Id="rId3" Type="http://schemas.openxmlformats.org/officeDocument/2006/relationships/oleObject" Target="../embeddings/oleObject274.bin"/><Relationship Id="rId21" Type="http://schemas.openxmlformats.org/officeDocument/2006/relationships/oleObject" Target="../embeddings/oleObject283.bin"/><Relationship Id="rId7" Type="http://schemas.openxmlformats.org/officeDocument/2006/relationships/oleObject" Target="../embeddings/oleObject276.bin"/><Relationship Id="rId12" Type="http://schemas.openxmlformats.org/officeDocument/2006/relationships/image" Target="../media/image284.wmf"/><Relationship Id="rId17" Type="http://schemas.openxmlformats.org/officeDocument/2006/relationships/oleObject" Target="../embeddings/oleObject281.bin"/><Relationship Id="rId25" Type="http://schemas.openxmlformats.org/officeDocument/2006/relationships/oleObject" Target="../embeddings/oleObject285.bin"/><Relationship Id="rId2" Type="http://schemas.openxmlformats.org/officeDocument/2006/relationships/notesSlide" Target="../notesSlides/notesSlide45.xml"/><Relationship Id="rId16" Type="http://schemas.openxmlformats.org/officeDocument/2006/relationships/image" Target="../media/image286.wmf"/><Relationship Id="rId20" Type="http://schemas.openxmlformats.org/officeDocument/2006/relationships/image" Target="../media/image288.wmf"/><Relationship Id="rId1" Type="http://schemas.openxmlformats.org/officeDocument/2006/relationships/slideLayout" Target="../slideLayouts/slideLayout7.xml"/><Relationship Id="rId6" Type="http://schemas.openxmlformats.org/officeDocument/2006/relationships/image" Target="../media/image281.wmf"/><Relationship Id="rId11" Type="http://schemas.openxmlformats.org/officeDocument/2006/relationships/oleObject" Target="../embeddings/oleObject278.bin"/><Relationship Id="rId24" Type="http://schemas.openxmlformats.org/officeDocument/2006/relationships/image" Target="../media/image290.wmf"/><Relationship Id="rId5" Type="http://schemas.openxmlformats.org/officeDocument/2006/relationships/oleObject" Target="../embeddings/oleObject275.bin"/><Relationship Id="rId15" Type="http://schemas.openxmlformats.org/officeDocument/2006/relationships/oleObject" Target="../embeddings/oleObject280.bin"/><Relationship Id="rId23" Type="http://schemas.openxmlformats.org/officeDocument/2006/relationships/oleObject" Target="../embeddings/oleObject284.bin"/><Relationship Id="rId10" Type="http://schemas.openxmlformats.org/officeDocument/2006/relationships/image" Target="../media/image283.wmf"/><Relationship Id="rId19" Type="http://schemas.openxmlformats.org/officeDocument/2006/relationships/oleObject" Target="../embeddings/oleObject282.bin"/><Relationship Id="rId4" Type="http://schemas.openxmlformats.org/officeDocument/2006/relationships/image" Target="../media/image280.wmf"/><Relationship Id="rId9" Type="http://schemas.openxmlformats.org/officeDocument/2006/relationships/oleObject" Target="../embeddings/oleObject277.bin"/><Relationship Id="rId14" Type="http://schemas.openxmlformats.org/officeDocument/2006/relationships/image" Target="../media/image285.wmf"/><Relationship Id="rId22" Type="http://schemas.openxmlformats.org/officeDocument/2006/relationships/image" Target="../media/image289.wmf"/></Relationships>
</file>

<file path=ppt/slides/_rels/slide86.xml.rels><?xml version="1.0" encoding="UTF-8" standalone="yes"?>
<Relationships xmlns="http://schemas.openxmlformats.org/package/2006/relationships"><Relationship Id="rId8" Type="http://schemas.openxmlformats.org/officeDocument/2006/relationships/image" Target="../media/image294.wmf"/><Relationship Id="rId13" Type="http://schemas.openxmlformats.org/officeDocument/2006/relationships/oleObject" Target="../embeddings/oleObject291.bin"/><Relationship Id="rId3" Type="http://schemas.openxmlformats.org/officeDocument/2006/relationships/oleObject" Target="../embeddings/oleObject286.bin"/><Relationship Id="rId7" Type="http://schemas.openxmlformats.org/officeDocument/2006/relationships/oleObject" Target="../embeddings/oleObject288.bin"/><Relationship Id="rId12" Type="http://schemas.openxmlformats.org/officeDocument/2006/relationships/image" Target="../media/image296.wmf"/><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293.wmf"/><Relationship Id="rId11" Type="http://schemas.openxmlformats.org/officeDocument/2006/relationships/oleObject" Target="../embeddings/oleObject290.bin"/><Relationship Id="rId5" Type="http://schemas.openxmlformats.org/officeDocument/2006/relationships/oleObject" Target="../embeddings/oleObject287.bin"/><Relationship Id="rId10" Type="http://schemas.openxmlformats.org/officeDocument/2006/relationships/image" Target="../media/image295.wmf"/><Relationship Id="rId4" Type="http://schemas.openxmlformats.org/officeDocument/2006/relationships/image" Target="../media/image292.wmf"/><Relationship Id="rId9" Type="http://schemas.openxmlformats.org/officeDocument/2006/relationships/oleObject" Target="../embeddings/oleObject289.bin"/><Relationship Id="rId14" Type="http://schemas.openxmlformats.org/officeDocument/2006/relationships/image" Target="../media/image297.wmf"/></Relationships>
</file>

<file path=ppt/slides/_rels/slide87.xml.rels><?xml version="1.0" encoding="UTF-8" standalone="yes"?>
<Relationships xmlns="http://schemas.openxmlformats.org/package/2006/relationships"><Relationship Id="rId8" Type="http://schemas.openxmlformats.org/officeDocument/2006/relationships/image" Target="../media/image299.wmf"/><Relationship Id="rId13" Type="http://schemas.openxmlformats.org/officeDocument/2006/relationships/oleObject" Target="../embeddings/oleObject296.bin"/><Relationship Id="rId3" Type="http://schemas.openxmlformats.org/officeDocument/2006/relationships/oleObject" Target="../embeddings/oleObject274.bin"/><Relationship Id="rId7" Type="http://schemas.openxmlformats.org/officeDocument/2006/relationships/oleObject" Target="../embeddings/oleObject293.bin"/><Relationship Id="rId12" Type="http://schemas.openxmlformats.org/officeDocument/2006/relationships/image" Target="../media/image301.wmf"/><Relationship Id="rId2" Type="http://schemas.openxmlformats.org/officeDocument/2006/relationships/notesSlide" Target="../notesSlides/notesSlide47.xml"/><Relationship Id="rId16" Type="http://schemas.openxmlformats.org/officeDocument/2006/relationships/image" Target="../media/image303.wmf"/><Relationship Id="rId1" Type="http://schemas.openxmlformats.org/officeDocument/2006/relationships/slideLayout" Target="../slideLayouts/slideLayout7.xml"/><Relationship Id="rId6" Type="http://schemas.openxmlformats.org/officeDocument/2006/relationships/image" Target="../media/image298.wmf"/><Relationship Id="rId11" Type="http://schemas.openxmlformats.org/officeDocument/2006/relationships/oleObject" Target="../embeddings/oleObject295.bin"/><Relationship Id="rId5" Type="http://schemas.openxmlformats.org/officeDocument/2006/relationships/oleObject" Target="../embeddings/oleObject292.bin"/><Relationship Id="rId15" Type="http://schemas.openxmlformats.org/officeDocument/2006/relationships/oleObject" Target="../embeddings/oleObject297.bin"/><Relationship Id="rId10" Type="http://schemas.openxmlformats.org/officeDocument/2006/relationships/image" Target="../media/image300.wmf"/><Relationship Id="rId4" Type="http://schemas.openxmlformats.org/officeDocument/2006/relationships/image" Target="../media/image280.wmf"/><Relationship Id="rId9" Type="http://schemas.openxmlformats.org/officeDocument/2006/relationships/oleObject" Target="../embeddings/oleObject294.bin"/><Relationship Id="rId14" Type="http://schemas.openxmlformats.org/officeDocument/2006/relationships/image" Target="../media/image302.wmf"/></Relationships>
</file>

<file path=ppt/slides/_rels/slide88.xml.rels><?xml version="1.0" encoding="UTF-8" standalone="yes"?>
<Relationships xmlns="http://schemas.openxmlformats.org/package/2006/relationships"><Relationship Id="rId8" Type="http://schemas.openxmlformats.org/officeDocument/2006/relationships/image" Target="../media/image306.wmf"/><Relationship Id="rId3" Type="http://schemas.openxmlformats.org/officeDocument/2006/relationships/oleObject" Target="../embeddings/oleObject298.bin"/><Relationship Id="rId7" Type="http://schemas.openxmlformats.org/officeDocument/2006/relationships/oleObject" Target="../embeddings/oleObject300.bin"/><Relationship Id="rId12" Type="http://schemas.openxmlformats.org/officeDocument/2006/relationships/image" Target="../media/image308.wmf"/><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305.wmf"/><Relationship Id="rId11" Type="http://schemas.openxmlformats.org/officeDocument/2006/relationships/oleObject" Target="../embeddings/oleObject302.bin"/><Relationship Id="rId5" Type="http://schemas.openxmlformats.org/officeDocument/2006/relationships/oleObject" Target="../embeddings/oleObject299.bin"/><Relationship Id="rId10" Type="http://schemas.openxmlformats.org/officeDocument/2006/relationships/image" Target="../media/image307.wmf"/><Relationship Id="rId4" Type="http://schemas.openxmlformats.org/officeDocument/2006/relationships/image" Target="../media/image304.wmf"/><Relationship Id="rId9" Type="http://schemas.openxmlformats.org/officeDocument/2006/relationships/oleObject" Target="../embeddings/oleObject301.bin"/></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303.bin"/><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image" Target="../media/image310.wmf"/><Relationship Id="rId5" Type="http://schemas.openxmlformats.org/officeDocument/2006/relationships/oleObject" Target="../embeddings/oleObject304.bin"/><Relationship Id="rId4" Type="http://schemas.openxmlformats.org/officeDocument/2006/relationships/image" Target="../media/image309.wmf"/></Relationships>
</file>

<file path=ppt/slides/_rels/slide90.xml.rels><?xml version="1.0" encoding="UTF-8" standalone="yes"?>
<Relationships xmlns="http://schemas.openxmlformats.org/package/2006/relationships"><Relationship Id="rId8" Type="http://schemas.openxmlformats.org/officeDocument/2006/relationships/image" Target="../media/image313.wmf"/><Relationship Id="rId13" Type="http://schemas.openxmlformats.org/officeDocument/2006/relationships/oleObject" Target="../embeddings/oleObject310.bin"/><Relationship Id="rId18" Type="http://schemas.openxmlformats.org/officeDocument/2006/relationships/image" Target="../media/image318.wmf"/><Relationship Id="rId3" Type="http://schemas.openxmlformats.org/officeDocument/2006/relationships/oleObject" Target="../embeddings/oleObject305.bin"/><Relationship Id="rId21" Type="http://schemas.openxmlformats.org/officeDocument/2006/relationships/oleObject" Target="../embeddings/oleObject314.bin"/><Relationship Id="rId7" Type="http://schemas.openxmlformats.org/officeDocument/2006/relationships/oleObject" Target="../embeddings/oleObject307.bin"/><Relationship Id="rId12" Type="http://schemas.openxmlformats.org/officeDocument/2006/relationships/image" Target="../media/image315.wmf"/><Relationship Id="rId17" Type="http://schemas.openxmlformats.org/officeDocument/2006/relationships/oleObject" Target="../embeddings/oleObject312.bin"/><Relationship Id="rId2" Type="http://schemas.openxmlformats.org/officeDocument/2006/relationships/notesSlide" Target="../notesSlides/notesSlide50.xml"/><Relationship Id="rId16" Type="http://schemas.openxmlformats.org/officeDocument/2006/relationships/image" Target="../media/image317.wmf"/><Relationship Id="rId20" Type="http://schemas.openxmlformats.org/officeDocument/2006/relationships/image" Target="../media/image319.wmf"/><Relationship Id="rId1" Type="http://schemas.openxmlformats.org/officeDocument/2006/relationships/slideLayout" Target="../slideLayouts/slideLayout7.xml"/><Relationship Id="rId6" Type="http://schemas.openxmlformats.org/officeDocument/2006/relationships/image" Target="../media/image312.wmf"/><Relationship Id="rId11" Type="http://schemas.openxmlformats.org/officeDocument/2006/relationships/oleObject" Target="../embeddings/oleObject309.bin"/><Relationship Id="rId5" Type="http://schemas.openxmlformats.org/officeDocument/2006/relationships/oleObject" Target="../embeddings/oleObject306.bin"/><Relationship Id="rId15" Type="http://schemas.openxmlformats.org/officeDocument/2006/relationships/oleObject" Target="../embeddings/oleObject311.bin"/><Relationship Id="rId10" Type="http://schemas.openxmlformats.org/officeDocument/2006/relationships/image" Target="../media/image314.wmf"/><Relationship Id="rId19" Type="http://schemas.openxmlformats.org/officeDocument/2006/relationships/oleObject" Target="../embeddings/oleObject313.bin"/><Relationship Id="rId4" Type="http://schemas.openxmlformats.org/officeDocument/2006/relationships/image" Target="../media/image311.wmf"/><Relationship Id="rId9" Type="http://schemas.openxmlformats.org/officeDocument/2006/relationships/oleObject" Target="../embeddings/oleObject308.bin"/><Relationship Id="rId14" Type="http://schemas.openxmlformats.org/officeDocument/2006/relationships/image" Target="../media/image316.wmf"/><Relationship Id="rId22" Type="http://schemas.openxmlformats.org/officeDocument/2006/relationships/image" Target="../media/image320.wmf"/></Relationships>
</file>

<file path=ppt/slides/_rels/slide91.xml.rels><?xml version="1.0" encoding="UTF-8" standalone="yes"?>
<Relationships xmlns="http://schemas.openxmlformats.org/package/2006/relationships"><Relationship Id="rId8" Type="http://schemas.openxmlformats.org/officeDocument/2006/relationships/image" Target="../media/image323.wmf"/><Relationship Id="rId3" Type="http://schemas.openxmlformats.org/officeDocument/2006/relationships/oleObject" Target="../embeddings/oleObject315.bin"/><Relationship Id="rId7" Type="http://schemas.openxmlformats.org/officeDocument/2006/relationships/oleObject" Target="../embeddings/oleObject317.bin"/><Relationship Id="rId12" Type="http://schemas.openxmlformats.org/officeDocument/2006/relationships/image" Target="../media/image325.wmf"/><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image" Target="../media/image322.wmf"/><Relationship Id="rId11" Type="http://schemas.openxmlformats.org/officeDocument/2006/relationships/oleObject" Target="../embeddings/oleObject319.bin"/><Relationship Id="rId5" Type="http://schemas.openxmlformats.org/officeDocument/2006/relationships/oleObject" Target="../embeddings/oleObject316.bin"/><Relationship Id="rId10" Type="http://schemas.openxmlformats.org/officeDocument/2006/relationships/image" Target="../media/image324.wmf"/><Relationship Id="rId4" Type="http://schemas.openxmlformats.org/officeDocument/2006/relationships/image" Target="../media/image321.wmf"/><Relationship Id="rId9" Type="http://schemas.openxmlformats.org/officeDocument/2006/relationships/oleObject" Target="../embeddings/oleObject318.bin"/></Relationships>
</file>

<file path=ppt/slides/_rels/slide92.xml.rels><?xml version="1.0" encoding="UTF-8" standalone="yes"?>
<Relationships xmlns="http://schemas.openxmlformats.org/package/2006/relationships"><Relationship Id="rId8" Type="http://schemas.openxmlformats.org/officeDocument/2006/relationships/image" Target="../media/image328.wmf"/><Relationship Id="rId3" Type="http://schemas.openxmlformats.org/officeDocument/2006/relationships/oleObject" Target="../embeddings/oleObject320.bin"/><Relationship Id="rId7" Type="http://schemas.openxmlformats.org/officeDocument/2006/relationships/oleObject" Target="../embeddings/oleObject322.bin"/><Relationship Id="rId12" Type="http://schemas.openxmlformats.org/officeDocument/2006/relationships/image" Target="../media/image330.wmf"/><Relationship Id="rId2" Type="http://schemas.openxmlformats.org/officeDocument/2006/relationships/notesSlide" Target="../notesSlides/notesSlide52.xml"/><Relationship Id="rId1" Type="http://schemas.openxmlformats.org/officeDocument/2006/relationships/slideLayout" Target="../slideLayouts/slideLayout7.xml"/><Relationship Id="rId6" Type="http://schemas.openxmlformats.org/officeDocument/2006/relationships/image" Target="../media/image327.wmf"/><Relationship Id="rId11" Type="http://schemas.openxmlformats.org/officeDocument/2006/relationships/oleObject" Target="../embeddings/oleObject324.bin"/><Relationship Id="rId5" Type="http://schemas.openxmlformats.org/officeDocument/2006/relationships/oleObject" Target="../embeddings/oleObject321.bin"/><Relationship Id="rId10" Type="http://schemas.openxmlformats.org/officeDocument/2006/relationships/image" Target="../media/image329.wmf"/><Relationship Id="rId4" Type="http://schemas.openxmlformats.org/officeDocument/2006/relationships/image" Target="../media/image326.wmf"/><Relationship Id="rId9" Type="http://schemas.openxmlformats.org/officeDocument/2006/relationships/oleObject" Target="../embeddings/oleObject323.bin"/></Relationships>
</file>

<file path=ppt/slides/_rels/slide93.xml.rels><?xml version="1.0" encoding="UTF-8" standalone="yes"?>
<Relationships xmlns="http://schemas.openxmlformats.org/package/2006/relationships"><Relationship Id="rId3" Type="http://schemas.openxmlformats.org/officeDocument/2006/relationships/image" Target="../media/image332.png"/><Relationship Id="rId2" Type="http://schemas.openxmlformats.org/officeDocument/2006/relationships/image" Target="../media/image331.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328.bin"/><Relationship Id="rId13" Type="http://schemas.openxmlformats.org/officeDocument/2006/relationships/image" Target="../media/image336.wmf"/><Relationship Id="rId3" Type="http://schemas.openxmlformats.org/officeDocument/2006/relationships/image" Target="../media/image331.wmf"/><Relationship Id="rId7" Type="http://schemas.openxmlformats.org/officeDocument/2006/relationships/image" Target="../media/image333.wmf"/><Relationship Id="rId12" Type="http://schemas.openxmlformats.org/officeDocument/2006/relationships/oleObject" Target="../embeddings/oleObject330.bin"/><Relationship Id="rId2" Type="http://schemas.openxmlformats.org/officeDocument/2006/relationships/oleObject" Target="../embeddings/oleObject325.bin"/><Relationship Id="rId1" Type="http://schemas.openxmlformats.org/officeDocument/2006/relationships/slideLayout" Target="../slideLayouts/slideLayout7.xml"/><Relationship Id="rId6" Type="http://schemas.openxmlformats.org/officeDocument/2006/relationships/oleObject" Target="../embeddings/oleObject327.bin"/><Relationship Id="rId11" Type="http://schemas.openxmlformats.org/officeDocument/2006/relationships/image" Target="../media/image335.wmf"/><Relationship Id="rId5" Type="http://schemas.openxmlformats.org/officeDocument/2006/relationships/image" Target="../media/image332.wmf"/><Relationship Id="rId10" Type="http://schemas.openxmlformats.org/officeDocument/2006/relationships/oleObject" Target="../embeddings/oleObject329.bin"/><Relationship Id="rId4" Type="http://schemas.openxmlformats.org/officeDocument/2006/relationships/oleObject" Target="../embeddings/oleObject326.bin"/><Relationship Id="rId9" Type="http://schemas.openxmlformats.org/officeDocument/2006/relationships/image" Target="../media/image334.wmf"/></Relationships>
</file>

<file path=ppt/slides/_rels/slide95.xml.rels><?xml version="1.0" encoding="UTF-8" standalone="yes"?>
<Relationships xmlns="http://schemas.openxmlformats.org/package/2006/relationships"><Relationship Id="rId8" Type="http://schemas.openxmlformats.org/officeDocument/2006/relationships/oleObject" Target="../embeddings/oleObject334.bin"/><Relationship Id="rId13" Type="http://schemas.openxmlformats.org/officeDocument/2006/relationships/image" Target="../media/image342.wmf"/><Relationship Id="rId18" Type="http://schemas.openxmlformats.org/officeDocument/2006/relationships/oleObject" Target="../embeddings/oleObject339.bin"/><Relationship Id="rId3" Type="http://schemas.openxmlformats.org/officeDocument/2006/relationships/image" Target="../media/image337.wmf"/><Relationship Id="rId7" Type="http://schemas.openxmlformats.org/officeDocument/2006/relationships/image" Target="../media/image339.wmf"/><Relationship Id="rId12" Type="http://schemas.openxmlformats.org/officeDocument/2006/relationships/oleObject" Target="../embeddings/oleObject336.bin"/><Relationship Id="rId17" Type="http://schemas.openxmlformats.org/officeDocument/2006/relationships/image" Target="../media/image344.wmf"/><Relationship Id="rId2" Type="http://schemas.openxmlformats.org/officeDocument/2006/relationships/oleObject" Target="../embeddings/oleObject331.bin"/><Relationship Id="rId16" Type="http://schemas.openxmlformats.org/officeDocument/2006/relationships/oleObject" Target="../embeddings/oleObject338.bin"/><Relationship Id="rId1" Type="http://schemas.openxmlformats.org/officeDocument/2006/relationships/slideLayout" Target="../slideLayouts/slideLayout7.xml"/><Relationship Id="rId6" Type="http://schemas.openxmlformats.org/officeDocument/2006/relationships/oleObject" Target="../embeddings/oleObject333.bin"/><Relationship Id="rId11" Type="http://schemas.openxmlformats.org/officeDocument/2006/relationships/image" Target="../media/image341.wmf"/><Relationship Id="rId5" Type="http://schemas.openxmlformats.org/officeDocument/2006/relationships/image" Target="../media/image338.wmf"/><Relationship Id="rId15" Type="http://schemas.openxmlformats.org/officeDocument/2006/relationships/image" Target="../media/image343.wmf"/><Relationship Id="rId10" Type="http://schemas.openxmlformats.org/officeDocument/2006/relationships/oleObject" Target="../embeddings/oleObject335.bin"/><Relationship Id="rId19" Type="http://schemas.openxmlformats.org/officeDocument/2006/relationships/image" Target="../media/image345.wmf"/><Relationship Id="rId4" Type="http://schemas.openxmlformats.org/officeDocument/2006/relationships/oleObject" Target="../embeddings/oleObject332.bin"/><Relationship Id="rId9" Type="http://schemas.openxmlformats.org/officeDocument/2006/relationships/image" Target="../media/image340.wmf"/><Relationship Id="rId14" Type="http://schemas.openxmlformats.org/officeDocument/2006/relationships/oleObject" Target="../embeddings/oleObject337.bin"/></Relationships>
</file>

<file path=ppt/slides/_rels/slide96.xml.rels><?xml version="1.0" encoding="UTF-8" standalone="yes"?>
<Relationships xmlns="http://schemas.openxmlformats.org/package/2006/relationships"><Relationship Id="rId8" Type="http://schemas.openxmlformats.org/officeDocument/2006/relationships/image" Target="../media/image347.wmf"/><Relationship Id="rId3" Type="http://schemas.openxmlformats.org/officeDocument/2006/relationships/oleObject" Target="../embeddings/oleObject301.bin"/><Relationship Id="rId7" Type="http://schemas.openxmlformats.org/officeDocument/2006/relationships/oleObject" Target="../embeddings/oleObject341.bin"/><Relationship Id="rId12" Type="http://schemas.openxmlformats.org/officeDocument/2006/relationships/image" Target="../media/image349.wmf"/><Relationship Id="rId2" Type="http://schemas.openxmlformats.org/officeDocument/2006/relationships/notesSlide" Target="../notesSlides/notesSlide53.xml"/><Relationship Id="rId1" Type="http://schemas.openxmlformats.org/officeDocument/2006/relationships/slideLayout" Target="../slideLayouts/slideLayout7.xml"/><Relationship Id="rId6" Type="http://schemas.openxmlformats.org/officeDocument/2006/relationships/image" Target="../media/image346.wmf"/><Relationship Id="rId11" Type="http://schemas.openxmlformats.org/officeDocument/2006/relationships/oleObject" Target="../embeddings/oleObject343.bin"/><Relationship Id="rId5" Type="http://schemas.openxmlformats.org/officeDocument/2006/relationships/oleObject" Target="../embeddings/oleObject340.bin"/><Relationship Id="rId10" Type="http://schemas.openxmlformats.org/officeDocument/2006/relationships/image" Target="../media/image348.wmf"/><Relationship Id="rId4" Type="http://schemas.openxmlformats.org/officeDocument/2006/relationships/image" Target="../media/image307.wmf"/><Relationship Id="rId9" Type="http://schemas.openxmlformats.org/officeDocument/2006/relationships/oleObject" Target="../embeddings/oleObject342.bin"/></Relationships>
</file>

<file path=ppt/slides/_rels/slide97.xml.rels><?xml version="1.0" encoding="UTF-8" standalone="yes"?>
<Relationships xmlns="http://schemas.openxmlformats.org/package/2006/relationships"><Relationship Id="rId8" Type="http://schemas.openxmlformats.org/officeDocument/2006/relationships/image" Target="../media/image352.wmf"/><Relationship Id="rId13" Type="http://schemas.openxmlformats.org/officeDocument/2006/relationships/oleObject" Target="../embeddings/oleObject349.bin"/><Relationship Id="rId18" Type="http://schemas.openxmlformats.org/officeDocument/2006/relationships/image" Target="../media/image357.wmf"/><Relationship Id="rId26" Type="http://schemas.openxmlformats.org/officeDocument/2006/relationships/image" Target="../media/image361.wmf"/><Relationship Id="rId3" Type="http://schemas.openxmlformats.org/officeDocument/2006/relationships/oleObject" Target="../embeddings/oleObject344.bin"/><Relationship Id="rId21" Type="http://schemas.openxmlformats.org/officeDocument/2006/relationships/oleObject" Target="../embeddings/oleObject353.bin"/><Relationship Id="rId7" Type="http://schemas.openxmlformats.org/officeDocument/2006/relationships/oleObject" Target="../embeddings/oleObject346.bin"/><Relationship Id="rId12" Type="http://schemas.openxmlformats.org/officeDocument/2006/relationships/image" Target="../media/image354.wmf"/><Relationship Id="rId17" Type="http://schemas.openxmlformats.org/officeDocument/2006/relationships/oleObject" Target="../embeddings/oleObject351.bin"/><Relationship Id="rId25" Type="http://schemas.openxmlformats.org/officeDocument/2006/relationships/oleObject" Target="../embeddings/oleObject355.bin"/><Relationship Id="rId2" Type="http://schemas.openxmlformats.org/officeDocument/2006/relationships/notesSlide" Target="../notesSlides/notesSlide54.xml"/><Relationship Id="rId16" Type="http://schemas.openxmlformats.org/officeDocument/2006/relationships/image" Target="../media/image356.wmf"/><Relationship Id="rId20" Type="http://schemas.openxmlformats.org/officeDocument/2006/relationships/image" Target="../media/image358.wmf"/><Relationship Id="rId1" Type="http://schemas.openxmlformats.org/officeDocument/2006/relationships/slideLayout" Target="../slideLayouts/slideLayout7.xml"/><Relationship Id="rId6" Type="http://schemas.openxmlformats.org/officeDocument/2006/relationships/image" Target="../media/image351.wmf"/><Relationship Id="rId11" Type="http://schemas.openxmlformats.org/officeDocument/2006/relationships/oleObject" Target="../embeddings/oleObject348.bin"/><Relationship Id="rId24" Type="http://schemas.openxmlformats.org/officeDocument/2006/relationships/image" Target="../media/image360.wmf"/><Relationship Id="rId5" Type="http://schemas.openxmlformats.org/officeDocument/2006/relationships/oleObject" Target="../embeddings/oleObject345.bin"/><Relationship Id="rId15" Type="http://schemas.openxmlformats.org/officeDocument/2006/relationships/oleObject" Target="../embeddings/oleObject350.bin"/><Relationship Id="rId23" Type="http://schemas.openxmlformats.org/officeDocument/2006/relationships/oleObject" Target="../embeddings/oleObject354.bin"/><Relationship Id="rId28" Type="http://schemas.openxmlformats.org/officeDocument/2006/relationships/image" Target="../media/image362.wmf"/><Relationship Id="rId10" Type="http://schemas.openxmlformats.org/officeDocument/2006/relationships/image" Target="../media/image353.wmf"/><Relationship Id="rId19" Type="http://schemas.openxmlformats.org/officeDocument/2006/relationships/oleObject" Target="../embeddings/oleObject352.bin"/><Relationship Id="rId4" Type="http://schemas.openxmlformats.org/officeDocument/2006/relationships/image" Target="../media/image350.wmf"/><Relationship Id="rId9" Type="http://schemas.openxmlformats.org/officeDocument/2006/relationships/oleObject" Target="../embeddings/oleObject347.bin"/><Relationship Id="rId14" Type="http://schemas.openxmlformats.org/officeDocument/2006/relationships/image" Target="../media/image355.wmf"/><Relationship Id="rId22" Type="http://schemas.openxmlformats.org/officeDocument/2006/relationships/image" Target="../media/image359.wmf"/><Relationship Id="rId27" Type="http://schemas.openxmlformats.org/officeDocument/2006/relationships/oleObject" Target="../embeddings/oleObject356.bin"/></Relationships>
</file>

<file path=ppt/slides/_rels/slide98.xml.rels><?xml version="1.0" encoding="UTF-8" standalone="yes"?>
<Relationships xmlns="http://schemas.openxmlformats.org/package/2006/relationships"><Relationship Id="rId8" Type="http://schemas.openxmlformats.org/officeDocument/2006/relationships/image" Target="../media/image363.wmf"/><Relationship Id="rId13" Type="http://schemas.openxmlformats.org/officeDocument/2006/relationships/oleObject" Target="../embeddings/oleObject355.bin"/><Relationship Id="rId3" Type="http://schemas.openxmlformats.org/officeDocument/2006/relationships/oleObject" Target="../embeddings/oleObject344.bin"/><Relationship Id="rId7" Type="http://schemas.openxmlformats.org/officeDocument/2006/relationships/oleObject" Target="../embeddings/oleObject357.bin"/><Relationship Id="rId12" Type="http://schemas.openxmlformats.org/officeDocument/2006/relationships/image" Target="../media/image365.wmf"/><Relationship Id="rId2" Type="http://schemas.openxmlformats.org/officeDocument/2006/relationships/notesSlide" Target="../notesSlides/notesSlide55.xml"/><Relationship Id="rId16" Type="http://schemas.openxmlformats.org/officeDocument/2006/relationships/image" Target="../media/image362.wmf"/><Relationship Id="rId1" Type="http://schemas.openxmlformats.org/officeDocument/2006/relationships/slideLayout" Target="../slideLayouts/slideLayout7.xml"/><Relationship Id="rId6" Type="http://schemas.openxmlformats.org/officeDocument/2006/relationships/image" Target="../media/image360.wmf"/><Relationship Id="rId11" Type="http://schemas.openxmlformats.org/officeDocument/2006/relationships/oleObject" Target="../embeddings/oleObject359.bin"/><Relationship Id="rId5" Type="http://schemas.openxmlformats.org/officeDocument/2006/relationships/oleObject" Target="../embeddings/oleObject354.bin"/><Relationship Id="rId15" Type="http://schemas.openxmlformats.org/officeDocument/2006/relationships/oleObject" Target="../embeddings/oleObject356.bin"/><Relationship Id="rId10" Type="http://schemas.openxmlformats.org/officeDocument/2006/relationships/image" Target="../media/image364.wmf"/><Relationship Id="rId4" Type="http://schemas.openxmlformats.org/officeDocument/2006/relationships/image" Target="../media/image350.wmf"/><Relationship Id="rId9" Type="http://schemas.openxmlformats.org/officeDocument/2006/relationships/oleObject" Target="../embeddings/oleObject358.bin"/><Relationship Id="rId14" Type="http://schemas.openxmlformats.org/officeDocument/2006/relationships/image" Target="../media/image361.wmf"/></Relationships>
</file>

<file path=ppt/slides/_rels/slide99.xml.rels><?xml version="1.0" encoding="UTF-8" standalone="yes"?>
<Relationships xmlns="http://schemas.openxmlformats.org/package/2006/relationships"><Relationship Id="rId8" Type="http://schemas.openxmlformats.org/officeDocument/2006/relationships/image" Target="../media/image368.wmf"/><Relationship Id="rId3" Type="http://schemas.openxmlformats.org/officeDocument/2006/relationships/oleObject" Target="../embeddings/oleObject360.bin"/><Relationship Id="rId7" Type="http://schemas.openxmlformats.org/officeDocument/2006/relationships/oleObject" Target="../embeddings/oleObject362.bin"/><Relationship Id="rId12" Type="http://schemas.openxmlformats.org/officeDocument/2006/relationships/image" Target="../media/image370.wmf"/><Relationship Id="rId2" Type="http://schemas.openxmlformats.org/officeDocument/2006/relationships/notesSlide" Target="../notesSlides/notesSlide56.xml"/><Relationship Id="rId1" Type="http://schemas.openxmlformats.org/officeDocument/2006/relationships/slideLayout" Target="../slideLayouts/slideLayout7.xml"/><Relationship Id="rId6" Type="http://schemas.openxmlformats.org/officeDocument/2006/relationships/image" Target="../media/image367.wmf"/><Relationship Id="rId11" Type="http://schemas.openxmlformats.org/officeDocument/2006/relationships/oleObject" Target="../embeddings/oleObject364.bin"/><Relationship Id="rId5" Type="http://schemas.openxmlformats.org/officeDocument/2006/relationships/oleObject" Target="../embeddings/oleObject361.bin"/><Relationship Id="rId10" Type="http://schemas.openxmlformats.org/officeDocument/2006/relationships/image" Target="../media/image369.wmf"/><Relationship Id="rId4" Type="http://schemas.openxmlformats.org/officeDocument/2006/relationships/image" Target="../media/image366.wmf"/><Relationship Id="rId9" Type="http://schemas.openxmlformats.org/officeDocument/2006/relationships/oleObject" Target="../embeddings/oleObject363.bin"/></Relationships>
</file>

<file path=ppt/slides/_rels/slide100.xml.rels><?xml version="1.0" encoding="UTF-8" standalone="yes"?>
<Relationships xmlns="http://schemas.openxmlformats.org/package/2006/relationships"><Relationship Id="rId8" Type="http://schemas.openxmlformats.org/officeDocument/2006/relationships/image" Target="../media/image373.wmf"/><Relationship Id="rId3" Type="http://schemas.openxmlformats.org/officeDocument/2006/relationships/oleObject" Target="../embeddings/oleObject365.bin"/><Relationship Id="rId7" Type="http://schemas.openxmlformats.org/officeDocument/2006/relationships/oleObject" Target="../embeddings/oleObject367.bin"/><Relationship Id="rId12" Type="http://schemas.openxmlformats.org/officeDocument/2006/relationships/image" Target="../media/image375.wmf"/><Relationship Id="rId2" Type="http://schemas.openxmlformats.org/officeDocument/2006/relationships/notesSlide" Target="../notesSlides/notesSlide57.xml"/><Relationship Id="rId1" Type="http://schemas.openxmlformats.org/officeDocument/2006/relationships/slideLayout" Target="../slideLayouts/slideLayout7.xml"/><Relationship Id="rId6" Type="http://schemas.openxmlformats.org/officeDocument/2006/relationships/image" Target="../media/image372.wmf"/><Relationship Id="rId11" Type="http://schemas.openxmlformats.org/officeDocument/2006/relationships/oleObject" Target="../embeddings/oleObject369.bin"/><Relationship Id="rId5" Type="http://schemas.openxmlformats.org/officeDocument/2006/relationships/oleObject" Target="../embeddings/oleObject366.bin"/><Relationship Id="rId10" Type="http://schemas.openxmlformats.org/officeDocument/2006/relationships/image" Target="../media/image374.wmf"/><Relationship Id="rId4" Type="http://schemas.openxmlformats.org/officeDocument/2006/relationships/image" Target="../media/image371.wmf"/><Relationship Id="rId9" Type="http://schemas.openxmlformats.org/officeDocument/2006/relationships/oleObject" Target="../embeddings/oleObject368.bin"/></Relationships>
</file>

<file path=ppt/slides/_rels/slide101.xml.rels><?xml version="1.0" encoding="UTF-8" standalone="yes"?>
<Relationships xmlns="http://schemas.openxmlformats.org/package/2006/relationships"><Relationship Id="rId8" Type="http://schemas.openxmlformats.org/officeDocument/2006/relationships/image" Target="../media/image280.wmf"/><Relationship Id="rId3" Type="http://schemas.openxmlformats.org/officeDocument/2006/relationships/oleObject" Target="../embeddings/oleObject370.bin"/><Relationship Id="rId7" Type="http://schemas.openxmlformats.org/officeDocument/2006/relationships/oleObject" Target="../embeddings/oleObject372.bin"/><Relationship Id="rId12" Type="http://schemas.openxmlformats.org/officeDocument/2006/relationships/image" Target="../media/image379.wmf"/><Relationship Id="rId2" Type="http://schemas.openxmlformats.org/officeDocument/2006/relationships/notesSlide" Target="../notesSlides/notesSlide58.xml"/><Relationship Id="rId1" Type="http://schemas.openxmlformats.org/officeDocument/2006/relationships/slideLayout" Target="../slideLayouts/slideLayout7.xml"/><Relationship Id="rId6" Type="http://schemas.openxmlformats.org/officeDocument/2006/relationships/image" Target="../media/image377.wmf"/><Relationship Id="rId11" Type="http://schemas.openxmlformats.org/officeDocument/2006/relationships/oleObject" Target="../embeddings/oleObject374.bin"/><Relationship Id="rId5" Type="http://schemas.openxmlformats.org/officeDocument/2006/relationships/oleObject" Target="../embeddings/oleObject371.bin"/><Relationship Id="rId10" Type="http://schemas.openxmlformats.org/officeDocument/2006/relationships/image" Target="../media/image378.wmf"/><Relationship Id="rId4" Type="http://schemas.openxmlformats.org/officeDocument/2006/relationships/image" Target="../media/image376.wmf"/><Relationship Id="rId9" Type="http://schemas.openxmlformats.org/officeDocument/2006/relationships/oleObject" Target="../embeddings/oleObject373.bin"/></Relationships>
</file>

<file path=ppt/slides/_rels/slide102.xml.rels><?xml version="1.0" encoding="UTF-8" standalone="yes"?>
<Relationships xmlns="http://schemas.openxmlformats.org/package/2006/relationships"><Relationship Id="rId8" Type="http://schemas.openxmlformats.org/officeDocument/2006/relationships/image" Target="../media/image382.wmf"/><Relationship Id="rId13" Type="http://schemas.openxmlformats.org/officeDocument/2006/relationships/oleObject" Target="../embeddings/oleObject379.bin"/><Relationship Id="rId18" Type="http://schemas.openxmlformats.org/officeDocument/2006/relationships/image" Target="../media/image386.wmf"/><Relationship Id="rId3" Type="http://schemas.openxmlformats.org/officeDocument/2006/relationships/oleObject" Target="../embeddings/oleObject375.bin"/><Relationship Id="rId7" Type="http://schemas.openxmlformats.org/officeDocument/2006/relationships/oleObject" Target="../embeddings/oleObject377.bin"/><Relationship Id="rId12" Type="http://schemas.openxmlformats.org/officeDocument/2006/relationships/image" Target="../media/image383.wmf"/><Relationship Id="rId17" Type="http://schemas.openxmlformats.org/officeDocument/2006/relationships/oleObject" Target="../embeddings/oleObject381.bin"/><Relationship Id="rId2" Type="http://schemas.openxmlformats.org/officeDocument/2006/relationships/notesSlide" Target="../notesSlides/notesSlide59.xml"/><Relationship Id="rId16" Type="http://schemas.openxmlformats.org/officeDocument/2006/relationships/image" Target="../media/image385.wmf"/><Relationship Id="rId1" Type="http://schemas.openxmlformats.org/officeDocument/2006/relationships/slideLayout" Target="../slideLayouts/slideLayout7.xml"/><Relationship Id="rId6" Type="http://schemas.openxmlformats.org/officeDocument/2006/relationships/image" Target="../media/image381.wmf"/><Relationship Id="rId11" Type="http://schemas.openxmlformats.org/officeDocument/2006/relationships/oleObject" Target="../embeddings/oleObject378.bin"/><Relationship Id="rId5" Type="http://schemas.openxmlformats.org/officeDocument/2006/relationships/oleObject" Target="../embeddings/oleObject376.bin"/><Relationship Id="rId15" Type="http://schemas.openxmlformats.org/officeDocument/2006/relationships/oleObject" Target="../embeddings/oleObject380.bin"/><Relationship Id="rId10" Type="http://schemas.openxmlformats.org/officeDocument/2006/relationships/image" Target="../media/image375.wmf"/><Relationship Id="rId4" Type="http://schemas.openxmlformats.org/officeDocument/2006/relationships/image" Target="../media/image380.wmf"/><Relationship Id="rId9" Type="http://schemas.openxmlformats.org/officeDocument/2006/relationships/oleObject" Target="../embeddings/oleObject369.bin"/><Relationship Id="rId14" Type="http://schemas.openxmlformats.org/officeDocument/2006/relationships/image" Target="../media/image384.wmf"/></Relationships>
</file>

<file path=ppt/slides/_rels/slide103.xml.rels><?xml version="1.0" encoding="UTF-8" standalone="yes"?>
<Relationships xmlns="http://schemas.openxmlformats.org/package/2006/relationships"><Relationship Id="rId8" Type="http://schemas.openxmlformats.org/officeDocument/2006/relationships/image" Target="../media/image389.wmf"/><Relationship Id="rId3" Type="http://schemas.openxmlformats.org/officeDocument/2006/relationships/oleObject" Target="../embeddings/oleObject382.bin"/><Relationship Id="rId7" Type="http://schemas.openxmlformats.org/officeDocument/2006/relationships/oleObject" Target="../embeddings/oleObject384.bin"/><Relationship Id="rId2" Type="http://schemas.openxmlformats.org/officeDocument/2006/relationships/notesSlide" Target="../notesSlides/notesSlide60.xml"/><Relationship Id="rId1" Type="http://schemas.openxmlformats.org/officeDocument/2006/relationships/slideLayout" Target="../slideLayouts/slideLayout7.xml"/><Relationship Id="rId6" Type="http://schemas.openxmlformats.org/officeDocument/2006/relationships/image" Target="../media/image388.wmf"/><Relationship Id="rId5" Type="http://schemas.openxmlformats.org/officeDocument/2006/relationships/oleObject" Target="../embeddings/oleObject383.bin"/><Relationship Id="rId10" Type="http://schemas.openxmlformats.org/officeDocument/2006/relationships/image" Target="../media/image390.wmf"/><Relationship Id="rId4" Type="http://schemas.openxmlformats.org/officeDocument/2006/relationships/image" Target="../media/image387.wmf"/><Relationship Id="rId9" Type="http://schemas.openxmlformats.org/officeDocument/2006/relationships/oleObject" Target="../embeddings/oleObject385.bin"/></Relationships>
</file>

<file path=ppt/slides/_rels/slide104.xml.rels><?xml version="1.0" encoding="UTF-8" standalone="yes"?>
<Relationships xmlns="http://schemas.openxmlformats.org/package/2006/relationships"><Relationship Id="rId8" Type="http://schemas.openxmlformats.org/officeDocument/2006/relationships/image" Target="../media/image393.wmf"/><Relationship Id="rId3" Type="http://schemas.openxmlformats.org/officeDocument/2006/relationships/oleObject" Target="../embeddings/oleObject386.bin"/><Relationship Id="rId7" Type="http://schemas.openxmlformats.org/officeDocument/2006/relationships/oleObject" Target="../embeddings/oleObject388.bin"/><Relationship Id="rId2" Type="http://schemas.openxmlformats.org/officeDocument/2006/relationships/notesSlide" Target="../notesSlides/notesSlide61.xml"/><Relationship Id="rId1" Type="http://schemas.openxmlformats.org/officeDocument/2006/relationships/slideLayout" Target="../slideLayouts/slideLayout7.xml"/><Relationship Id="rId6" Type="http://schemas.openxmlformats.org/officeDocument/2006/relationships/image" Target="../media/image392.wmf"/><Relationship Id="rId5" Type="http://schemas.openxmlformats.org/officeDocument/2006/relationships/oleObject" Target="../embeddings/oleObject387.bin"/><Relationship Id="rId4" Type="http://schemas.openxmlformats.org/officeDocument/2006/relationships/image" Target="../media/image391.wmf"/></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389.bin"/><Relationship Id="rId2" Type="http://schemas.openxmlformats.org/officeDocument/2006/relationships/notesSlide" Target="../notesSlides/notesSlide62.xml"/><Relationship Id="rId1" Type="http://schemas.openxmlformats.org/officeDocument/2006/relationships/slideLayout" Target="../slideLayouts/slideLayout7.xml"/><Relationship Id="rId4" Type="http://schemas.openxmlformats.org/officeDocument/2006/relationships/image" Target="../media/image394.wmf"/></Relationships>
</file>

<file path=ppt/slides/_rels/slide106.xml.rels><?xml version="1.0" encoding="UTF-8" standalone="yes"?>
<Relationships xmlns="http://schemas.openxmlformats.org/package/2006/relationships"><Relationship Id="rId8" Type="http://schemas.openxmlformats.org/officeDocument/2006/relationships/image" Target="../media/image377.wmf"/><Relationship Id="rId13" Type="http://schemas.openxmlformats.org/officeDocument/2006/relationships/oleObject" Target="../embeddings/oleObject395.bin"/><Relationship Id="rId3" Type="http://schemas.openxmlformats.org/officeDocument/2006/relationships/oleObject" Target="../embeddings/oleObject390.bin"/><Relationship Id="rId7" Type="http://schemas.openxmlformats.org/officeDocument/2006/relationships/oleObject" Target="../embeddings/oleObject392.bin"/><Relationship Id="rId12" Type="http://schemas.openxmlformats.org/officeDocument/2006/relationships/image" Target="../media/image398.wmf"/><Relationship Id="rId2" Type="http://schemas.openxmlformats.org/officeDocument/2006/relationships/notesSlide" Target="../notesSlides/notesSlide63.xml"/><Relationship Id="rId1" Type="http://schemas.openxmlformats.org/officeDocument/2006/relationships/slideLayout" Target="../slideLayouts/slideLayout7.xml"/><Relationship Id="rId6" Type="http://schemas.openxmlformats.org/officeDocument/2006/relationships/image" Target="../media/image396.wmf"/><Relationship Id="rId11" Type="http://schemas.openxmlformats.org/officeDocument/2006/relationships/oleObject" Target="../embeddings/oleObject394.bin"/><Relationship Id="rId5" Type="http://schemas.openxmlformats.org/officeDocument/2006/relationships/oleObject" Target="../embeddings/oleObject391.bin"/><Relationship Id="rId10" Type="http://schemas.openxmlformats.org/officeDocument/2006/relationships/image" Target="../media/image397.wmf"/><Relationship Id="rId4" Type="http://schemas.openxmlformats.org/officeDocument/2006/relationships/image" Target="../media/image395.wmf"/><Relationship Id="rId9" Type="http://schemas.openxmlformats.org/officeDocument/2006/relationships/oleObject" Target="../embeddings/oleObject393.bin"/><Relationship Id="rId14" Type="http://schemas.openxmlformats.org/officeDocument/2006/relationships/image" Target="../media/image399.wmf"/></Relationships>
</file>

<file path=ppt/slides/_rels/slide107.xml.rels><?xml version="1.0" encoding="UTF-8" standalone="yes"?>
<Relationships xmlns="http://schemas.openxmlformats.org/package/2006/relationships"><Relationship Id="rId8" Type="http://schemas.openxmlformats.org/officeDocument/2006/relationships/image" Target="../media/image401.wmf"/><Relationship Id="rId3" Type="http://schemas.openxmlformats.org/officeDocument/2006/relationships/oleObject" Target="../embeddings/oleObject396.bin"/><Relationship Id="rId7" Type="http://schemas.openxmlformats.org/officeDocument/2006/relationships/oleObject" Target="../embeddings/oleObject397.bin"/><Relationship Id="rId12" Type="http://schemas.openxmlformats.org/officeDocument/2006/relationships/image" Target="../media/image403.wmf"/><Relationship Id="rId2" Type="http://schemas.openxmlformats.org/officeDocument/2006/relationships/notesSlide" Target="../notesSlides/notesSlide64.xml"/><Relationship Id="rId1" Type="http://schemas.openxmlformats.org/officeDocument/2006/relationships/slideLayout" Target="../slideLayouts/slideLayout7.xml"/><Relationship Id="rId6" Type="http://schemas.openxmlformats.org/officeDocument/2006/relationships/image" Target="../media/image191.wmf"/><Relationship Id="rId11" Type="http://schemas.openxmlformats.org/officeDocument/2006/relationships/oleObject" Target="../embeddings/oleObject399.bin"/><Relationship Id="rId5" Type="http://schemas.openxmlformats.org/officeDocument/2006/relationships/oleObject" Target="../embeddings/oleObject184.bin"/><Relationship Id="rId10" Type="http://schemas.openxmlformats.org/officeDocument/2006/relationships/image" Target="../media/image402.wmf"/><Relationship Id="rId4" Type="http://schemas.openxmlformats.org/officeDocument/2006/relationships/image" Target="../media/image400.wmf"/><Relationship Id="rId9" Type="http://schemas.openxmlformats.org/officeDocument/2006/relationships/oleObject" Target="../embeddings/oleObject398.bin"/></Relationships>
</file>

<file path=ppt/slides/_rels/slide108.xml.rels><?xml version="1.0" encoding="UTF-8" standalone="yes"?>
<Relationships xmlns="http://schemas.openxmlformats.org/package/2006/relationships"><Relationship Id="rId8" Type="http://schemas.openxmlformats.org/officeDocument/2006/relationships/image" Target="../media/image399.wmf"/><Relationship Id="rId3" Type="http://schemas.openxmlformats.org/officeDocument/2006/relationships/oleObject" Target="../embeddings/oleObject301.bin"/><Relationship Id="rId7" Type="http://schemas.openxmlformats.org/officeDocument/2006/relationships/oleObject" Target="../embeddings/oleObject401.bin"/><Relationship Id="rId12" Type="http://schemas.openxmlformats.org/officeDocument/2006/relationships/image" Target="../media/image280.wmf"/><Relationship Id="rId2" Type="http://schemas.openxmlformats.org/officeDocument/2006/relationships/notesSlide" Target="../notesSlides/notesSlide65.xml"/><Relationship Id="rId1" Type="http://schemas.openxmlformats.org/officeDocument/2006/relationships/slideLayout" Target="../slideLayouts/slideLayout7.xml"/><Relationship Id="rId6" Type="http://schemas.openxmlformats.org/officeDocument/2006/relationships/image" Target="../media/image373.wmf"/><Relationship Id="rId11" Type="http://schemas.openxmlformats.org/officeDocument/2006/relationships/oleObject" Target="../embeddings/oleObject402.bin"/><Relationship Id="rId5" Type="http://schemas.openxmlformats.org/officeDocument/2006/relationships/oleObject" Target="../embeddings/oleObject400.bin"/><Relationship Id="rId10" Type="http://schemas.openxmlformats.org/officeDocument/2006/relationships/image" Target="../media/image403.wmf"/><Relationship Id="rId4" Type="http://schemas.openxmlformats.org/officeDocument/2006/relationships/image" Target="../media/image307.wmf"/><Relationship Id="rId9" Type="http://schemas.openxmlformats.org/officeDocument/2006/relationships/oleObject" Target="../embeddings/oleObject399.bin"/></Relationships>
</file>

<file path=ppt/slides/_rels/slide109.xml.rels><?xml version="1.0" encoding="UTF-8" standalone="yes"?>
<Relationships xmlns="http://schemas.openxmlformats.org/package/2006/relationships"><Relationship Id="rId8" Type="http://schemas.openxmlformats.org/officeDocument/2006/relationships/image" Target="../media/image406.wmf"/><Relationship Id="rId13" Type="http://schemas.openxmlformats.org/officeDocument/2006/relationships/oleObject" Target="../embeddings/oleObject407.bin"/><Relationship Id="rId18" Type="http://schemas.openxmlformats.org/officeDocument/2006/relationships/image" Target="../media/image410.wmf"/><Relationship Id="rId26" Type="http://schemas.openxmlformats.org/officeDocument/2006/relationships/image" Target="../media/image414.wmf"/><Relationship Id="rId3" Type="http://schemas.openxmlformats.org/officeDocument/2006/relationships/oleObject" Target="../embeddings/oleObject403.bin"/><Relationship Id="rId21" Type="http://schemas.openxmlformats.org/officeDocument/2006/relationships/oleObject" Target="../embeddings/oleObject411.bin"/><Relationship Id="rId7" Type="http://schemas.openxmlformats.org/officeDocument/2006/relationships/oleObject" Target="../embeddings/oleObject405.bin"/><Relationship Id="rId12" Type="http://schemas.openxmlformats.org/officeDocument/2006/relationships/image" Target="../media/image407.wmf"/><Relationship Id="rId17" Type="http://schemas.openxmlformats.org/officeDocument/2006/relationships/oleObject" Target="../embeddings/oleObject409.bin"/><Relationship Id="rId25" Type="http://schemas.openxmlformats.org/officeDocument/2006/relationships/oleObject" Target="../embeddings/oleObject413.bin"/><Relationship Id="rId2" Type="http://schemas.openxmlformats.org/officeDocument/2006/relationships/notesSlide" Target="../notesSlides/notesSlide66.xml"/><Relationship Id="rId16" Type="http://schemas.openxmlformats.org/officeDocument/2006/relationships/image" Target="../media/image409.wmf"/><Relationship Id="rId20" Type="http://schemas.openxmlformats.org/officeDocument/2006/relationships/image" Target="../media/image411.wmf"/><Relationship Id="rId1" Type="http://schemas.openxmlformats.org/officeDocument/2006/relationships/slideLayout" Target="../slideLayouts/slideLayout7.xml"/><Relationship Id="rId6" Type="http://schemas.openxmlformats.org/officeDocument/2006/relationships/image" Target="../media/image405.wmf"/><Relationship Id="rId11" Type="http://schemas.openxmlformats.org/officeDocument/2006/relationships/oleObject" Target="../embeddings/oleObject406.bin"/><Relationship Id="rId24" Type="http://schemas.openxmlformats.org/officeDocument/2006/relationships/image" Target="../media/image413.wmf"/><Relationship Id="rId5" Type="http://schemas.openxmlformats.org/officeDocument/2006/relationships/oleObject" Target="../embeddings/oleObject404.bin"/><Relationship Id="rId15" Type="http://schemas.openxmlformats.org/officeDocument/2006/relationships/oleObject" Target="../embeddings/oleObject408.bin"/><Relationship Id="rId23" Type="http://schemas.openxmlformats.org/officeDocument/2006/relationships/oleObject" Target="../embeddings/oleObject412.bin"/><Relationship Id="rId10" Type="http://schemas.openxmlformats.org/officeDocument/2006/relationships/image" Target="../media/image280.wmf"/><Relationship Id="rId19" Type="http://schemas.openxmlformats.org/officeDocument/2006/relationships/oleObject" Target="../embeddings/oleObject410.bin"/><Relationship Id="rId4" Type="http://schemas.openxmlformats.org/officeDocument/2006/relationships/image" Target="../media/image404.wmf"/><Relationship Id="rId9" Type="http://schemas.openxmlformats.org/officeDocument/2006/relationships/oleObject" Target="../embeddings/oleObject402.bin"/><Relationship Id="rId14" Type="http://schemas.openxmlformats.org/officeDocument/2006/relationships/image" Target="../media/image408.wmf"/><Relationship Id="rId22" Type="http://schemas.openxmlformats.org/officeDocument/2006/relationships/image" Target="../media/image412.wmf"/></Relationships>
</file>

<file path=ppt/slides/_rels/slide110.xml.rels><?xml version="1.0" encoding="UTF-8" standalone="yes"?>
<Relationships xmlns="http://schemas.openxmlformats.org/package/2006/relationships"><Relationship Id="rId8" Type="http://schemas.openxmlformats.org/officeDocument/2006/relationships/image" Target="../media/image416.wmf"/><Relationship Id="rId13" Type="http://schemas.openxmlformats.org/officeDocument/2006/relationships/oleObject" Target="../embeddings/oleObject418.bin"/><Relationship Id="rId18" Type="http://schemas.openxmlformats.org/officeDocument/2006/relationships/image" Target="../media/image421.wmf"/><Relationship Id="rId26" Type="http://schemas.openxmlformats.org/officeDocument/2006/relationships/image" Target="../media/image425.wmf"/><Relationship Id="rId3" Type="http://schemas.openxmlformats.org/officeDocument/2006/relationships/oleObject" Target="../embeddings/oleObject414.bin"/><Relationship Id="rId21" Type="http://schemas.openxmlformats.org/officeDocument/2006/relationships/oleObject" Target="../embeddings/oleObject422.bin"/><Relationship Id="rId7" Type="http://schemas.openxmlformats.org/officeDocument/2006/relationships/oleObject" Target="../embeddings/oleObject415.bin"/><Relationship Id="rId12" Type="http://schemas.openxmlformats.org/officeDocument/2006/relationships/image" Target="../media/image418.wmf"/><Relationship Id="rId17" Type="http://schemas.openxmlformats.org/officeDocument/2006/relationships/oleObject" Target="../embeddings/oleObject420.bin"/><Relationship Id="rId25" Type="http://schemas.openxmlformats.org/officeDocument/2006/relationships/oleObject" Target="../embeddings/oleObject424.bin"/><Relationship Id="rId2" Type="http://schemas.openxmlformats.org/officeDocument/2006/relationships/notesSlide" Target="../notesSlides/notesSlide67.xml"/><Relationship Id="rId16" Type="http://schemas.openxmlformats.org/officeDocument/2006/relationships/image" Target="../media/image420.wmf"/><Relationship Id="rId20" Type="http://schemas.openxmlformats.org/officeDocument/2006/relationships/image" Target="../media/image422.wmf"/><Relationship Id="rId1" Type="http://schemas.openxmlformats.org/officeDocument/2006/relationships/slideLayout" Target="../slideLayouts/slideLayout7.xml"/><Relationship Id="rId6" Type="http://schemas.openxmlformats.org/officeDocument/2006/relationships/image" Target="../media/image280.wmf"/><Relationship Id="rId11" Type="http://schemas.openxmlformats.org/officeDocument/2006/relationships/oleObject" Target="../embeddings/oleObject417.bin"/><Relationship Id="rId24" Type="http://schemas.openxmlformats.org/officeDocument/2006/relationships/image" Target="../media/image424.wmf"/><Relationship Id="rId5" Type="http://schemas.openxmlformats.org/officeDocument/2006/relationships/oleObject" Target="../embeddings/oleObject402.bin"/><Relationship Id="rId15" Type="http://schemas.openxmlformats.org/officeDocument/2006/relationships/oleObject" Target="../embeddings/oleObject419.bin"/><Relationship Id="rId23" Type="http://schemas.openxmlformats.org/officeDocument/2006/relationships/oleObject" Target="../embeddings/oleObject423.bin"/><Relationship Id="rId10" Type="http://schemas.openxmlformats.org/officeDocument/2006/relationships/image" Target="../media/image417.wmf"/><Relationship Id="rId19" Type="http://schemas.openxmlformats.org/officeDocument/2006/relationships/oleObject" Target="../embeddings/oleObject421.bin"/><Relationship Id="rId4" Type="http://schemas.openxmlformats.org/officeDocument/2006/relationships/image" Target="../media/image415.wmf"/><Relationship Id="rId9" Type="http://schemas.openxmlformats.org/officeDocument/2006/relationships/oleObject" Target="../embeddings/oleObject416.bin"/><Relationship Id="rId14" Type="http://schemas.openxmlformats.org/officeDocument/2006/relationships/image" Target="../media/image419.wmf"/><Relationship Id="rId22" Type="http://schemas.openxmlformats.org/officeDocument/2006/relationships/image" Target="../media/image423.wmf"/></Relationships>
</file>

<file path=ppt/slides/_rels/slide111.xml.rels><?xml version="1.0" encoding="UTF-8" standalone="yes"?>
<Relationships xmlns="http://schemas.openxmlformats.org/package/2006/relationships"><Relationship Id="rId8" Type="http://schemas.openxmlformats.org/officeDocument/2006/relationships/image" Target="../media/image428.wmf"/><Relationship Id="rId13" Type="http://schemas.openxmlformats.org/officeDocument/2006/relationships/image" Target="../media/image431.jpeg"/><Relationship Id="rId3" Type="http://schemas.openxmlformats.org/officeDocument/2006/relationships/oleObject" Target="../embeddings/oleObject425.bin"/><Relationship Id="rId7" Type="http://schemas.openxmlformats.org/officeDocument/2006/relationships/oleObject" Target="../embeddings/oleObject427.bin"/><Relationship Id="rId12" Type="http://schemas.openxmlformats.org/officeDocument/2006/relationships/image" Target="../media/image430.wmf"/><Relationship Id="rId2" Type="http://schemas.openxmlformats.org/officeDocument/2006/relationships/notesSlide" Target="../notesSlides/notesSlide68.xml"/><Relationship Id="rId1" Type="http://schemas.openxmlformats.org/officeDocument/2006/relationships/slideLayout" Target="../slideLayouts/slideLayout7.xml"/><Relationship Id="rId6" Type="http://schemas.openxmlformats.org/officeDocument/2006/relationships/image" Target="../media/image427.wmf"/><Relationship Id="rId11" Type="http://schemas.openxmlformats.org/officeDocument/2006/relationships/oleObject" Target="../embeddings/oleObject429.bin"/><Relationship Id="rId5" Type="http://schemas.openxmlformats.org/officeDocument/2006/relationships/oleObject" Target="../embeddings/oleObject426.bin"/><Relationship Id="rId10" Type="http://schemas.openxmlformats.org/officeDocument/2006/relationships/image" Target="../media/image429.wmf"/><Relationship Id="rId4" Type="http://schemas.openxmlformats.org/officeDocument/2006/relationships/image" Target="../media/image426.wmf"/><Relationship Id="rId9" Type="http://schemas.openxmlformats.org/officeDocument/2006/relationships/oleObject" Target="../embeddings/oleObject428.bin"/><Relationship Id="rId14" Type="http://schemas.openxmlformats.org/officeDocument/2006/relationships/image" Target="../media/image432.wmf"/></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8" Type="http://schemas.openxmlformats.org/officeDocument/2006/relationships/image" Target="../media/image435.wmf"/><Relationship Id="rId13" Type="http://schemas.openxmlformats.org/officeDocument/2006/relationships/oleObject" Target="../embeddings/oleObject435.bin"/><Relationship Id="rId18" Type="http://schemas.openxmlformats.org/officeDocument/2006/relationships/image" Target="../media/image440.wmf"/><Relationship Id="rId3" Type="http://schemas.openxmlformats.org/officeDocument/2006/relationships/oleObject" Target="../embeddings/oleObject430.bin"/><Relationship Id="rId21" Type="http://schemas.openxmlformats.org/officeDocument/2006/relationships/oleObject" Target="../embeddings/oleObject439.bin"/><Relationship Id="rId7" Type="http://schemas.openxmlformats.org/officeDocument/2006/relationships/oleObject" Target="../embeddings/oleObject432.bin"/><Relationship Id="rId12" Type="http://schemas.openxmlformats.org/officeDocument/2006/relationships/image" Target="../media/image437.wmf"/><Relationship Id="rId17" Type="http://schemas.openxmlformats.org/officeDocument/2006/relationships/oleObject" Target="../embeddings/oleObject437.bin"/><Relationship Id="rId2" Type="http://schemas.openxmlformats.org/officeDocument/2006/relationships/notesSlide" Target="../notesSlides/notesSlide70.xml"/><Relationship Id="rId16" Type="http://schemas.openxmlformats.org/officeDocument/2006/relationships/image" Target="../media/image439.wmf"/><Relationship Id="rId20" Type="http://schemas.openxmlformats.org/officeDocument/2006/relationships/image" Target="../media/image441.wmf"/><Relationship Id="rId1" Type="http://schemas.openxmlformats.org/officeDocument/2006/relationships/slideLayout" Target="../slideLayouts/slideLayout7.xml"/><Relationship Id="rId6" Type="http://schemas.openxmlformats.org/officeDocument/2006/relationships/image" Target="../media/image434.wmf"/><Relationship Id="rId11" Type="http://schemas.openxmlformats.org/officeDocument/2006/relationships/oleObject" Target="../embeddings/oleObject434.bin"/><Relationship Id="rId24" Type="http://schemas.openxmlformats.org/officeDocument/2006/relationships/image" Target="../media/image443.wmf"/><Relationship Id="rId5" Type="http://schemas.openxmlformats.org/officeDocument/2006/relationships/oleObject" Target="../embeddings/oleObject431.bin"/><Relationship Id="rId15" Type="http://schemas.openxmlformats.org/officeDocument/2006/relationships/oleObject" Target="../embeddings/oleObject436.bin"/><Relationship Id="rId23" Type="http://schemas.openxmlformats.org/officeDocument/2006/relationships/oleObject" Target="../embeddings/oleObject440.bin"/><Relationship Id="rId10" Type="http://schemas.openxmlformats.org/officeDocument/2006/relationships/image" Target="../media/image436.wmf"/><Relationship Id="rId19" Type="http://schemas.openxmlformats.org/officeDocument/2006/relationships/oleObject" Target="../embeddings/oleObject438.bin"/><Relationship Id="rId4" Type="http://schemas.openxmlformats.org/officeDocument/2006/relationships/image" Target="../media/image433.wmf"/><Relationship Id="rId9" Type="http://schemas.openxmlformats.org/officeDocument/2006/relationships/oleObject" Target="../embeddings/oleObject433.bin"/><Relationship Id="rId14" Type="http://schemas.openxmlformats.org/officeDocument/2006/relationships/image" Target="../media/image438.wmf"/><Relationship Id="rId22" Type="http://schemas.openxmlformats.org/officeDocument/2006/relationships/image" Target="../media/image442.wmf"/></Relationships>
</file>

<file path=ppt/slides/_rels/slide114.xml.rels><?xml version="1.0" encoding="UTF-8" standalone="yes"?>
<Relationships xmlns="http://schemas.openxmlformats.org/package/2006/relationships"><Relationship Id="rId8" Type="http://schemas.openxmlformats.org/officeDocument/2006/relationships/image" Target="../media/image446.wmf"/><Relationship Id="rId13" Type="http://schemas.openxmlformats.org/officeDocument/2006/relationships/oleObject" Target="../embeddings/oleObject446.bin"/><Relationship Id="rId18" Type="http://schemas.openxmlformats.org/officeDocument/2006/relationships/image" Target="../media/image451.wmf"/><Relationship Id="rId3" Type="http://schemas.openxmlformats.org/officeDocument/2006/relationships/oleObject" Target="../embeddings/oleObject441.bin"/><Relationship Id="rId21" Type="http://schemas.openxmlformats.org/officeDocument/2006/relationships/oleObject" Target="../embeddings/oleObject450.bin"/><Relationship Id="rId7" Type="http://schemas.openxmlformats.org/officeDocument/2006/relationships/oleObject" Target="../embeddings/oleObject443.bin"/><Relationship Id="rId12" Type="http://schemas.openxmlformats.org/officeDocument/2006/relationships/image" Target="../media/image448.wmf"/><Relationship Id="rId17" Type="http://schemas.openxmlformats.org/officeDocument/2006/relationships/oleObject" Target="../embeddings/oleObject448.bin"/><Relationship Id="rId2" Type="http://schemas.openxmlformats.org/officeDocument/2006/relationships/notesSlide" Target="../notesSlides/notesSlide71.xml"/><Relationship Id="rId16" Type="http://schemas.openxmlformats.org/officeDocument/2006/relationships/image" Target="../media/image450.wmf"/><Relationship Id="rId20" Type="http://schemas.openxmlformats.org/officeDocument/2006/relationships/image" Target="../media/image452.wmf"/><Relationship Id="rId1" Type="http://schemas.openxmlformats.org/officeDocument/2006/relationships/slideLayout" Target="../slideLayouts/slideLayout7.xml"/><Relationship Id="rId6" Type="http://schemas.openxmlformats.org/officeDocument/2006/relationships/image" Target="../media/image445.wmf"/><Relationship Id="rId11" Type="http://schemas.openxmlformats.org/officeDocument/2006/relationships/oleObject" Target="../embeddings/oleObject445.bin"/><Relationship Id="rId5" Type="http://schemas.openxmlformats.org/officeDocument/2006/relationships/oleObject" Target="../embeddings/oleObject442.bin"/><Relationship Id="rId15" Type="http://schemas.openxmlformats.org/officeDocument/2006/relationships/oleObject" Target="../embeddings/oleObject447.bin"/><Relationship Id="rId10" Type="http://schemas.openxmlformats.org/officeDocument/2006/relationships/image" Target="../media/image447.wmf"/><Relationship Id="rId19" Type="http://schemas.openxmlformats.org/officeDocument/2006/relationships/oleObject" Target="../embeddings/oleObject449.bin"/><Relationship Id="rId4" Type="http://schemas.openxmlformats.org/officeDocument/2006/relationships/image" Target="../media/image444.wmf"/><Relationship Id="rId9" Type="http://schemas.openxmlformats.org/officeDocument/2006/relationships/oleObject" Target="../embeddings/oleObject444.bin"/><Relationship Id="rId14" Type="http://schemas.openxmlformats.org/officeDocument/2006/relationships/image" Target="../media/image449.wmf"/><Relationship Id="rId22" Type="http://schemas.openxmlformats.org/officeDocument/2006/relationships/image" Target="../media/image453.wmf"/></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2008" y="2060849"/>
            <a:ext cx="8964488" cy="1800200"/>
          </a:xfrm>
        </p:spPr>
        <p:txBody>
          <a:bodyPr/>
          <a:lstStyle/>
          <a:p>
            <a:pPr indent="0" algn="ctr">
              <a:buNone/>
            </a:pPr>
            <a:r>
              <a:rPr lang="zh-CN" altLang="zh-CN" sz="4800" b="1" kern="100" dirty="0">
                <a:effectLst/>
                <a:latin typeface="宋体" panose="02010600030101010101" pitchFamily="2" charset="-122"/>
                <a:ea typeface="黑体" panose="02010609060101010101" pitchFamily="49" charset="-122"/>
              </a:rPr>
              <a:t>§</a:t>
            </a:r>
            <a:r>
              <a:rPr lang="en-US" altLang="zh-CN" sz="4800" b="1" kern="100" dirty="0">
                <a:latin typeface="Times New Roman" panose="02020603050405020304" pitchFamily="18" charset="0"/>
                <a:ea typeface="黑体" panose="02010609060101010101" pitchFamily="49" charset="-122"/>
              </a:rPr>
              <a:t>5</a:t>
            </a:r>
            <a:r>
              <a:rPr lang="en-US" altLang="zh-CN" sz="4800" b="1" kern="100" dirty="0">
                <a:effectLst/>
                <a:latin typeface="Times New Roman" panose="02020603050405020304" pitchFamily="18" charset="0"/>
                <a:ea typeface="黑体" panose="02010609060101010101" pitchFamily="49" charset="-122"/>
              </a:rPr>
              <a:t> </a:t>
            </a:r>
            <a:r>
              <a:rPr lang="zh-CN" altLang="en-US" sz="4800" b="1" kern="100" dirty="0">
                <a:effectLst/>
                <a:latin typeface="Times New Roman" panose="02020603050405020304" pitchFamily="18" charset="0"/>
                <a:ea typeface="黑体" panose="02010609060101010101" pitchFamily="49" charset="-122"/>
              </a:rPr>
              <a:t>异步电动机</a:t>
            </a:r>
            <a:r>
              <a:rPr lang="zh-CN" altLang="zh-CN" sz="4800" b="1" kern="100" dirty="0">
                <a:effectLst/>
                <a:latin typeface="Times New Roman" panose="02020603050405020304" pitchFamily="18" charset="0"/>
                <a:ea typeface="黑体" panose="02010609060101010101" pitchFamily="49" charset="-122"/>
              </a:rPr>
              <a:t>原理</a:t>
            </a:r>
            <a:r>
              <a:rPr lang="en-US" altLang="zh-CN" sz="4800" b="1" kern="100" dirty="0">
                <a:effectLst/>
                <a:latin typeface="Times New Roman" panose="02020603050405020304" pitchFamily="18" charset="0"/>
                <a:ea typeface="黑体" panose="02010609060101010101" pitchFamily="49" charset="-122"/>
              </a:rPr>
              <a:t>Asynchronous Motors Principle</a:t>
            </a:r>
            <a:endParaRPr lang="zh-CN" altLang="zh-CN" sz="4800" kern="100" dirty="0">
              <a:effectLst/>
              <a:latin typeface="Times New Roman" panose="02020603050405020304" pitchFamily="18" charset="0"/>
              <a:ea typeface="宋体" panose="02010600030101010101" pitchFamily="2" charset="-122"/>
            </a:endParaRPr>
          </a:p>
        </p:txBody>
      </p:sp>
      <p:sp>
        <p:nvSpPr>
          <p:cNvPr id="4" name="灯片编号占位符 3">
            <a:extLst>
              <a:ext uri="{FF2B5EF4-FFF2-40B4-BE49-F238E27FC236}">
                <a16:creationId xmlns:a16="http://schemas.microsoft.com/office/drawing/2014/main" id="{E437717D-E4F7-67E1-7C4D-8400EBC505AD}"/>
              </a:ext>
            </a:extLst>
          </p:cNvPr>
          <p:cNvSpPr>
            <a:spLocks noGrp="1"/>
          </p:cNvSpPr>
          <p:nvPr>
            <p:ph type="sldNum" sz="quarter" idx="12"/>
          </p:nvPr>
        </p:nvSpPr>
        <p:spPr/>
        <p:txBody>
          <a:bodyPr/>
          <a:lstStyle/>
          <a:p>
            <a:fld id="{B73B34B3-1432-4053-90C7-E0228297BE5F}" type="slidenum">
              <a:rPr lang="en-US" altLang="zh-CN" smtClean="0"/>
              <a:pPr/>
              <a:t>1</a:t>
            </a:fld>
            <a:endParaRPr lang="en-US" altLang="zh-CN"/>
          </a:p>
        </p:txBody>
      </p:sp>
    </p:spTree>
    <p:extLst>
      <p:ext uri="{BB962C8B-B14F-4D97-AF65-F5344CB8AC3E}">
        <p14:creationId xmlns:p14="http://schemas.microsoft.com/office/powerpoint/2010/main" val="666285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412776"/>
            <a:ext cx="8064896" cy="4104456"/>
          </a:xfrm>
        </p:spPr>
        <p:txBody>
          <a:bodyPr/>
          <a:lstStyle/>
          <a:p>
            <a:pPr marL="0" indent="0">
              <a:buNone/>
            </a:pPr>
            <a:r>
              <a:rPr lang="zh-CN" altLang="zh-CN" b="1" dirty="0">
                <a:solidFill>
                  <a:srgbClr val="C00000"/>
                </a:solidFill>
              </a:rPr>
              <a:t>思考问题：</a:t>
            </a:r>
            <a:endParaRPr lang="en-US" altLang="zh-CN" b="1" dirty="0">
              <a:solidFill>
                <a:srgbClr val="C00000"/>
              </a:solidFill>
            </a:endParaRPr>
          </a:p>
          <a:p>
            <a:r>
              <a:rPr lang="zh-CN" altLang="en-US" sz="3600" dirty="0">
                <a:solidFill>
                  <a:srgbClr val="0000CC"/>
                </a:solidFill>
                <a:latin typeface="华文楷体" panose="02010600040101010101" pitchFamily="2" charset="-122"/>
                <a:ea typeface="华文楷体" panose="02010600040101010101" pitchFamily="2" charset="-122"/>
              </a:rPr>
              <a:t>为什么要分析异步电动机的工作原理</a:t>
            </a:r>
            <a:r>
              <a:rPr lang="zh-CN" altLang="zh-CN" sz="3600" dirty="0">
                <a:solidFill>
                  <a:srgbClr val="0000CC"/>
                </a:solidFill>
                <a:latin typeface="华文楷体" panose="02010600040101010101" pitchFamily="2" charset="-122"/>
                <a:ea typeface="华文楷体" panose="02010600040101010101" pitchFamily="2" charset="-122"/>
              </a:rPr>
              <a:t>？</a:t>
            </a:r>
            <a:endParaRPr lang="en-US" altLang="zh-CN" sz="3600" dirty="0">
              <a:solidFill>
                <a:srgbClr val="0000CC"/>
              </a:solidFill>
              <a:latin typeface="华文楷体" panose="02010600040101010101" pitchFamily="2" charset="-122"/>
              <a:ea typeface="华文楷体" panose="02010600040101010101" pitchFamily="2" charset="-122"/>
            </a:endParaRPr>
          </a:p>
          <a:p>
            <a:r>
              <a:rPr lang="zh-CN" altLang="en-US" sz="3600" dirty="0">
                <a:solidFill>
                  <a:srgbClr val="0000CC"/>
                </a:solidFill>
                <a:latin typeface="华文楷体" panose="02010600040101010101" pitchFamily="2" charset="-122"/>
                <a:ea typeface="华文楷体" panose="02010600040101010101" pitchFamily="2" charset="-122"/>
              </a:rPr>
              <a:t>如何产生旋转磁场</a:t>
            </a:r>
            <a:r>
              <a:rPr lang="zh-CN" altLang="zh-CN" sz="3600" dirty="0">
                <a:solidFill>
                  <a:srgbClr val="0000CC"/>
                </a:solidFill>
                <a:latin typeface="华文楷体" panose="02010600040101010101" pitchFamily="2" charset="-122"/>
                <a:ea typeface="华文楷体" panose="02010600040101010101" pitchFamily="2" charset="-122"/>
              </a:rPr>
              <a:t>？</a:t>
            </a:r>
            <a:endParaRPr lang="en-US" altLang="zh-CN" sz="3600" dirty="0">
              <a:solidFill>
                <a:srgbClr val="0000CC"/>
              </a:solidFill>
              <a:latin typeface="华文楷体" panose="02010600040101010101" pitchFamily="2" charset="-122"/>
              <a:ea typeface="华文楷体" panose="02010600040101010101" pitchFamily="2" charset="-122"/>
            </a:endParaRPr>
          </a:p>
          <a:p>
            <a:r>
              <a:rPr lang="zh-CN" altLang="en-US" sz="3600" dirty="0">
                <a:solidFill>
                  <a:srgbClr val="0000CC"/>
                </a:solidFill>
                <a:latin typeface="华文楷体" panose="02010600040101010101" pitchFamily="2" charset="-122"/>
                <a:ea typeface="华文楷体" panose="02010600040101010101" pitchFamily="2" charset="-122"/>
              </a:rPr>
              <a:t>如何对异步电动机进行运行原理分析？</a:t>
            </a:r>
            <a:endParaRPr lang="en-US" altLang="zh-CN" sz="3600" dirty="0">
              <a:solidFill>
                <a:srgbClr val="0000CC"/>
              </a:solidFill>
              <a:latin typeface="华文楷体" panose="02010600040101010101" pitchFamily="2" charset="-122"/>
              <a:ea typeface="华文楷体" panose="02010600040101010101" pitchFamily="2" charset="-122"/>
            </a:endParaRPr>
          </a:p>
          <a:p>
            <a:r>
              <a:rPr lang="zh-CN" altLang="en-US" sz="3600" dirty="0">
                <a:solidFill>
                  <a:srgbClr val="0000CC"/>
                </a:solidFill>
                <a:latin typeface="华文楷体" panose="02010600040101010101" pitchFamily="2" charset="-122"/>
                <a:ea typeface="华文楷体" panose="02010600040101010101" pitchFamily="2" charset="-122"/>
              </a:rPr>
              <a:t>如何分析异步电动机的功率传递过程？ </a:t>
            </a:r>
          </a:p>
          <a:p>
            <a:r>
              <a:rPr lang="zh-CN" altLang="en-US" sz="3600" dirty="0">
                <a:solidFill>
                  <a:srgbClr val="0000CC"/>
                </a:solidFill>
                <a:latin typeface="华文楷体" panose="02010600040101010101" pitchFamily="2" charset="-122"/>
                <a:ea typeface="华文楷体" panose="02010600040101010101" pitchFamily="2" charset="-122"/>
              </a:rPr>
              <a:t>功率转换如何平衡？</a:t>
            </a:r>
          </a:p>
        </p:txBody>
      </p:sp>
      <p:sp>
        <p:nvSpPr>
          <p:cNvPr id="4" name="灯片编号占位符 3">
            <a:extLst>
              <a:ext uri="{FF2B5EF4-FFF2-40B4-BE49-F238E27FC236}">
                <a16:creationId xmlns:a16="http://schemas.microsoft.com/office/drawing/2014/main" id="{FF8B7C95-8BFA-8264-657E-898FF5FC4CE2}"/>
              </a:ext>
            </a:extLst>
          </p:cNvPr>
          <p:cNvSpPr>
            <a:spLocks noGrp="1"/>
          </p:cNvSpPr>
          <p:nvPr>
            <p:ph type="sldNum" sz="quarter" idx="12"/>
          </p:nvPr>
        </p:nvSpPr>
        <p:spPr/>
        <p:txBody>
          <a:bodyPr/>
          <a:lstStyle/>
          <a:p>
            <a:fld id="{B73B34B3-1432-4053-90C7-E0228297BE5F}" type="slidenum">
              <a:rPr lang="en-US" altLang="zh-CN" smtClean="0"/>
              <a:pPr/>
              <a:t>2</a:t>
            </a:fld>
            <a:endParaRPr lang="en-US" altLang="zh-CN"/>
          </a:p>
        </p:txBody>
      </p:sp>
    </p:spTree>
    <p:extLst>
      <p:ext uri="{BB962C8B-B14F-4D97-AF65-F5344CB8AC3E}">
        <p14:creationId xmlns:p14="http://schemas.microsoft.com/office/powerpoint/2010/main" val="980313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754543B-2633-4912-ADB0-89AB1A9C6570}"/>
              </a:ext>
            </a:extLst>
          </p:cNvPr>
          <p:cNvSpPr>
            <a:spLocks noChangeArrowheads="1"/>
          </p:cNvSpPr>
          <p:nvPr/>
        </p:nvSpPr>
        <p:spPr bwMode="auto">
          <a:xfrm>
            <a:off x="207697" y="980728"/>
            <a:ext cx="6524543"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5-1 </a:t>
            </a:r>
            <a:r>
              <a:rPr kumimoji="0" lang="zh-CN" altLang="en-US"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异步电动机的基本工作原理与结构</a:t>
            </a:r>
            <a:endParaRPr kumimoji="0"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 一、异步电动机</a:t>
            </a:r>
            <a:r>
              <a:rPr kumimoji="0" lang="zh-CN" altLang="en-US" sz="26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的运行</a:t>
            </a: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原理：</a:t>
            </a:r>
          </a:p>
        </p:txBody>
      </p:sp>
      <p:graphicFrame>
        <p:nvGraphicFramePr>
          <p:cNvPr id="5" name="对象 4">
            <a:extLst>
              <a:ext uri="{FF2B5EF4-FFF2-40B4-BE49-F238E27FC236}">
                <a16:creationId xmlns:a16="http://schemas.microsoft.com/office/drawing/2014/main" id="{70D22212-38F2-C2C0-C192-28B66AC9B8D0}"/>
              </a:ext>
            </a:extLst>
          </p:cNvPr>
          <p:cNvGraphicFramePr>
            <a:graphicFrameLocks noChangeAspect="1"/>
          </p:cNvGraphicFramePr>
          <p:nvPr>
            <p:extLst>
              <p:ext uri="{D42A27DB-BD31-4B8C-83A1-F6EECF244321}">
                <p14:modId xmlns:p14="http://schemas.microsoft.com/office/powerpoint/2010/main" val="2663574988"/>
              </p:ext>
            </p:extLst>
          </p:nvPr>
        </p:nvGraphicFramePr>
        <p:xfrm>
          <a:off x="971600" y="2423130"/>
          <a:ext cx="3456385" cy="3837763"/>
        </p:xfrm>
        <a:graphic>
          <a:graphicData uri="http://schemas.openxmlformats.org/presentationml/2006/ole">
            <mc:AlternateContent xmlns:mc="http://schemas.openxmlformats.org/markup-compatibility/2006">
              <mc:Choice xmlns:v="urn:schemas-microsoft-com:vml" Requires="v">
                <p:oleObj r:id="rId2" imgW="1481040" imgH="1803240" progId="">
                  <p:embed/>
                </p:oleObj>
              </mc:Choice>
              <mc:Fallback>
                <p:oleObj r:id="rId2" imgW="1481040" imgH="1803240"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423130"/>
                        <a:ext cx="3456385" cy="3837763"/>
                      </a:xfrm>
                      <a:prstGeom prst="rect">
                        <a:avLst/>
                      </a:prstGeom>
                      <a:noFill/>
                      <a:ln>
                        <a:noFill/>
                      </a:ln>
                    </p:spPr>
                  </p:pic>
                </p:oleObj>
              </mc:Fallback>
            </mc:AlternateContent>
          </a:graphicData>
        </a:graphic>
      </p:graphicFrame>
      <p:sp>
        <p:nvSpPr>
          <p:cNvPr id="7" name="文本框 6">
            <a:extLst>
              <a:ext uri="{FF2B5EF4-FFF2-40B4-BE49-F238E27FC236}">
                <a16:creationId xmlns:a16="http://schemas.microsoft.com/office/drawing/2014/main" id="{88D6A91C-F1E2-FE78-E101-A9CA53F98BDD}"/>
              </a:ext>
            </a:extLst>
          </p:cNvPr>
          <p:cNvSpPr txBox="1"/>
          <p:nvPr/>
        </p:nvSpPr>
        <p:spPr>
          <a:xfrm>
            <a:off x="4760706" y="2337077"/>
            <a:ext cx="3527673" cy="3900235"/>
          </a:xfrm>
          <a:prstGeom prst="rect">
            <a:avLst/>
          </a:prstGeom>
          <a:noFill/>
        </p:spPr>
        <p:txBody>
          <a:bodyPr wrap="square">
            <a:spAutoFit/>
          </a:bodyPr>
          <a:lstStyle/>
          <a:p>
            <a:pPr algn="l">
              <a:lnSpc>
                <a:spcPct val="150000"/>
              </a:lnSpc>
            </a:pPr>
            <a:r>
              <a:rPr lang="zh-CN" altLang="zh-CN" sz="2400" b="1" kern="100" dirty="0">
                <a:solidFill>
                  <a:srgbClr val="000000"/>
                </a:solidFill>
                <a:effectLst/>
                <a:latin typeface="Times New Roman" panose="02020603050405020304" pitchFamily="18" charset="0"/>
                <a:ea typeface="黑体" panose="02010609060101010101" pitchFamily="49" charset="-122"/>
              </a:rPr>
              <a:t>磁铁绕</a:t>
            </a:r>
            <a:r>
              <a:rPr lang="en-US" altLang="zh-CN" sz="2400" b="1" kern="100" dirty="0">
                <a:solidFill>
                  <a:srgbClr val="000000"/>
                </a:solidFill>
                <a:effectLst/>
                <a:latin typeface="Times New Roman" panose="02020603050405020304" pitchFamily="18" charset="0"/>
                <a:ea typeface="黑体" panose="02010609060101010101" pitchFamily="49" charset="-122"/>
              </a:rPr>
              <a:t>OO‘</a:t>
            </a:r>
            <a:r>
              <a:rPr lang="zh-CN" altLang="zh-CN" sz="2400" b="1" kern="100" dirty="0">
                <a:solidFill>
                  <a:srgbClr val="000000"/>
                </a:solidFill>
                <a:effectLst/>
                <a:latin typeface="Times New Roman" panose="02020603050405020304" pitchFamily="18" charset="0"/>
                <a:ea typeface="黑体" panose="02010609060101010101" pitchFamily="49" charset="-122"/>
              </a:rPr>
              <a:t>以</a:t>
            </a:r>
            <a:r>
              <a:rPr lang="en-US" altLang="zh-CN" sz="2400" b="1" kern="100" dirty="0">
                <a:solidFill>
                  <a:srgbClr val="000000"/>
                </a:solidFill>
                <a:effectLst/>
                <a:latin typeface="Times New Roman" panose="02020603050405020304" pitchFamily="18" charset="0"/>
                <a:ea typeface="黑体" panose="02010609060101010101" pitchFamily="49" charset="-122"/>
              </a:rPr>
              <a:t>n0</a:t>
            </a:r>
            <a:r>
              <a:rPr lang="zh-CN" altLang="zh-CN" sz="2400" b="1" kern="100" dirty="0">
                <a:solidFill>
                  <a:srgbClr val="000000"/>
                </a:solidFill>
                <a:effectLst/>
                <a:latin typeface="Times New Roman" panose="02020603050405020304" pitchFamily="18" charset="0"/>
                <a:ea typeface="黑体" panose="02010609060101010101" pitchFamily="49" charset="-122"/>
              </a:rPr>
              <a:t>转速旋转，则</a:t>
            </a:r>
            <a:r>
              <a:rPr lang="zh-CN" altLang="en-US" sz="2400" b="1" kern="100" dirty="0">
                <a:solidFill>
                  <a:srgbClr val="000000"/>
                </a:solidFill>
                <a:effectLst/>
                <a:latin typeface="Times New Roman" panose="02020603050405020304" pitchFamily="18" charset="0"/>
                <a:ea typeface="黑体" panose="02010609060101010101" pitchFamily="49" charset="-122"/>
              </a:rPr>
              <a:t>：</a:t>
            </a:r>
            <a:endParaRPr lang="zh-CN" altLang="zh-CN" sz="2400" kern="100" dirty="0">
              <a:effectLst/>
              <a:latin typeface="Times New Roman" panose="02020603050405020304" pitchFamily="18" charset="0"/>
              <a:ea typeface="宋体" panose="02010600030101010101" pitchFamily="2" charset="-122"/>
            </a:endParaRPr>
          </a:p>
          <a:p>
            <a:pPr algn="l">
              <a:lnSpc>
                <a:spcPct val="150000"/>
              </a:lnSpc>
            </a:pPr>
            <a:r>
              <a:rPr lang="en-US" altLang="zh-CN" sz="2400" b="1" kern="100" dirty="0">
                <a:solidFill>
                  <a:srgbClr val="000000"/>
                </a:solidFill>
                <a:effectLst/>
                <a:latin typeface="Times New Roman" panose="02020603050405020304" pitchFamily="18" charset="0"/>
                <a:ea typeface="黑体" panose="02010609060101010101" pitchFamily="49" charset="-122"/>
              </a:rPr>
              <a:t>1</a:t>
            </a:r>
            <a:r>
              <a:rPr lang="zh-CN" altLang="zh-CN" sz="2400" b="1" kern="100" dirty="0">
                <a:solidFill>
                  <a:srgbClr val="000000"/>
                </a:solidFill>
                <a:effectLst/>
                <a:latin typeface="Times New Roman" panose="02020603050405020304" pitchFamily="18" charset="0"/>
                <a:ea typeface="黑体" panose="02010609060101010101" pitchFamily="49" charset="-122"/>
              </a:rPr>
              <a:t>、磁极下导体中</a:t>
            </a:r>
            <a:r>
              <a:rPr lang="en-US" altLang="zh-CN" sz="2400" b="1" kern="100" dirty="0">
                <a:solidFill>
                  <a:srgbClr val="000000"/>
                </a:solidFill>
                <a:effectLst/>
                <a:latin typeface="Times New Roman" panose="02020603050405020304" pitchFamily="18" charset="0"/>
                <a:ea typeface="黑体" panose="02010609060101010101" pitchFamily="49" charset="-122"/>
              </a:rPr>
              <a:t> e=</a:t>
            </a:r>
            <a:r>
              <a:rPr lang="en-US" altLang="zh-CN" sz="2400" b="1" kern="100" dirty="0" err="1">
                <a:solidFill>
                  <a:srgbClr val="000000"/>
                </a:solidFill>
                <a:effectLst/>
                <a:latin typeface="Times New Roman" panose="02020603050405020304" pitchFamily="18" charset="0"/>
                <a:ea typeface="黑体" panose="02010609060101010101" pitchFamily="49" charset="-122"/>
              </a:rPr>
              <a:t>Blv</a:t>
            </a:r>
            <a:endParaRPr lang="en-US" altLang="zh-CN" sz="2400" b="1" kern="100" dirty="0">
              <a:solidFill>
                <a:srgbClr val="000000"/>
              </a:solidFill>
              <a:effectLst/>
              <a:latin typeface="Times New Roman" panose="02020603050405020304" pitchFamily="18" charset="0"/>
              <a:ea typeface="黑体" panose="02010609060101010101" pitchFamily="49" charset="-122"/>
            </a:endParaRPr>
          </a:p>
          <a:p>
            <a:pPr>
              <a:lnSpc>
                <a:spcPct val="150000"/>
              </a:lnSpc>
            </a:pPr>
            <a:r>
              <a:rPr lang="en-US" altLang="zh-CN" sz="2400" b="1" kern="100" dirty="0">
                <a:solidFill>
                  <a:srgbClr val="000000"/>
                </a:solidFill>
                <a:effectLst/>
                <a:latin typeface="Times New Roman" panose="02020603050405020304" pitchFamily="18" charset="0"/>
                <a:ea typeface="黑体" panose="02010609060101010101" pitchFamily="49" charset="-122"/>
              </a:rPr>
              <a:t>2</a:t>
            </a:r>
            <a:r>
              <a:rPr lang="zh-CN" altLang="zh-CN" sz="2400" b="1" kern="100" dirty="0">
                <a:solidFill>
                  <a:srgbClr val="000000"/>
                </a:solidFill>
                <a:effectLst/>
                <a:latin typeface="Times New Roman" panose="02020603050405020304" pitchFamily="18" charset="0"/>
                <a:ea typeface="黑体" panose="02010609060101010101" pitchFamily="49" charset="-122"/>
              </a:rPr>
              <a:t>、按</a:t>
            </a:r>
            <a:r>
              <a:rPr lang="en-US" altLang="zh-CN" sz="2400" b="1" kern="100" dirty="0">
                <a:solidFill>
                  <a:srgbClr val="000000"/>
                </a:solidFill>
                <a:effectLst/>
                <a:latin typeface="Times New Roman" panose="02020603050405020304" pitchFamily="18" charset="0"/>
                <a:ea typeface="黑体" panose="02010609060101010101" pitchFamily="49" charset="-122"/>
              </a:rPr>
              <a:t>e</a:t>
            </a:r>
            <a:r>
              <a:rPr lang="zh-CN" altLang="zh-CN" sz="2400" b="1" kern="100" dirty="0">
                <a:solidFill>
                  <a:srgbClr val="000000"/>
                </a:solidFill>
                <a:effectLst/>
                <a:latin typeface="Times New Roman" panose="02020603050405020304" pitchFamily="18" charset="0"/>
                <a:ea typeface="黑体" panose="02010609060101010101" pitchFamily="49" charset="-122"/>
              </a:rPr>
              <a:t>方向在导体回路中产生电流</a:t>
            </a:r>
            <a:r>
              <a:rPr lang="en-US" altLang="zh-CN" sz="2400" b="1" kern="100" dirty="0">
                <a:solidFill>
                  <a:srgbClr val="000000"/>
                </a:solidFill>
                <a:effectLst/>
                <a:latin typeface="Times New Roman" panose="02020603050405020304" pitchFamily="18" charset="0"/>
                <a:ea typeface="黑体" panose="02010609060101010101" pitchFamily="49" charset="-122"/>
              </a:rPr>
              <a:t>I</a:t>
            </a:r>
          </a:p>
          <a:p>
            <a:pPr>
              <a:lnSpc>
                <a:spcPct val="150000"/>
              </a:lnSpc>
            </a:pPr>
            <a:r>
              <a:rPr lang="en-US" altLang="zh-CN" sz="2400" b="1" kern="100" dirty="0">
                <a:solidFill>
                  <a:srgbClr val="000000"/>
                </a:solidFill>
                <a:effectLst/>
                <a:latin typeface="Times New Roman" panose="02020603050405020304" pitchFamily="18" charset="0"/>
                <a:ea typeface="黑体" panose="02010609060101010101" pitchFamily="49" charset="-122"/>
              </a:rPr>
              <a:t>3</a:t>
            </a:r>
            <a:r>
              <a:rPr lang="zh-CN" altLang="zh-CN" sz="2400" b="1" kern="100" dirty="0">
                <a:solidFill>
                  <a:srgbClr val="000000"/>
                </a:solidFill>
                <a:effectLst/>
                <a:latin typeface="Times New Roman" panose="02020603050405020304" pitchFamily="18" charset="0"/>
                <a:ea typeface="黑体" panose="02010609060101010101" pitchFamily="49" charset="-122"/>
              </a:rPr>
              <a:t>、导体依</a:t>
            </a:r>
            <a:r>
              <a:rPr lang="en-US" altLang="zh-CN" sz="2400" b="1" kern="100" dirty="0">
                <a:solidFill>
                  <a:srgbClr val="000000"/>
                </a:solidFill>
                <a:effectLst/>
                <a:latin typeface="Times New Roman" panose="02020603050405020304" pitchFamily="18" charset="0"/>
                <a:ea typeface="黑体" panose="02010609060101010101" pitchFamily="49" charset="-122"/>
              </a:rPr>
              <a:t>F</a:t>
            </a:r>
            <a:r>
              <a:rPr lang="zh-CN" altLang="zh-CN" sz="2400" b="1" kern="100" dirty="0">
                <a:solidFill>
                  <a:srgbClr val="000000"/>
                </a:solidFill>
                <a:effectLst/>
                <a:latin typeface="Times New Roman" panose="02020603050405020304" pitchFamily="18" charset="0"/>
                <a:ea typeface="黑体" panose="02010609060101010101" pitchFamily="49" charset="-122"/>
              </a:rPr>
              <a:t>＝</a:t>
            </a:r>
            <a:r>
              <a:rPr lang="en-US" altLang="zh-CN" sz="2400" b="1" kern="100" dirty="0" err="1">
                <a:solidFill>
                  <a:srgbClr val="000000"/>
                </a:solidFill>
                <a:effectLst/>
                <a:latin typeface="Times New Roman" panose="02020603050405020304" pitchFamily="18" charset="0"/>
                <a:ea typeface="黑体" panose="02010609060101010101" pitchFamily="49" charset="-122"/>
              </a:rPr>
              <a:t>Bli</a:t>
            </a:r>
            <a:r>
              <a:rPr lang="zh-CN" altLang="zh-CN" sz="2400" b="1" kern="100" dirty="0">
                <a:solidFill>
                  <a:srgbClr val="000000"/>
                </a:solidFill>
                <a:effectLst/>
                <a:latin typeface="Times New Roman" panose="02020603050405020304" pitchFamily="18" charset="0"/>
                <a:ea typeface="黑体" panose="02010609060101010101" pitchFamily="49" charset="-122"/>
              </a:rPr>
              <a:t>受电磁力作用</a:t>
            </a:r>
            <a:r>
              <a:rPr lang="zh-CN" altLang="en-US" sz="2400" b="1" kern="100" dirty="0">
                <a:solidFill>
                  <a:srgbClr val="000000"/>
                </a:solidFill>
                <a:effectLst/>
                <a:latin typeface="Times New Roman" panose="02020603050405020304" pitchFamily="18" charset="0"/>
                <a:ea typeface="黑体" panose="02010609060101010101" pitchFamily="49" charset="-122"/>
              </a:rPr>
              <a:t>，形成旋转运动</a:t>
            </a:r>
            <a:endParaRPr lang="zh-CN" altLang="zh-CN" sz="2400" kern="100" dirty="0">
              <a:effectLst/>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2B9D1EC5-0D4C-4D73-4A8E-9F4BE890F121}"/>
              </a:ext>
            </a:extLst>
          </p:cNvPr>
          <p:cNvSpPr txBox="1"/>
          <p:nvPr/>
        </p:nvSpPr>
        <p:spPr>
          <a:xfrm>
            <a:off x="6732240" y="1268760"/>
            <a:ext cx="2016223" cy="1200329"/>
          </a:xfrm>
          <a:prstGeom prst="rect">
            <a:avLst/>
          </a:prstGeom>
          <a:noFill/>
        </p:spPr>
        <p:txBody>
          <a:bodyPr wrap="square" rtlCol="0">
            <a:spAutoFit/>
          </a:bodyPr>
          <a:lstStyle/>
          <a:p>
            <a:r>
              <a:rPr lang="zh-CN" altLang="en-US" sz="2400" b="1" dirty="0">
                <a:solidFill>
                  <a:srgbClr val="FF0000"/>
                </a:solidFill>
              </a:rPr>
              <a:t>如果直流电机主磁极旋转会怎么样？</a:t>
            </a:r>
          </a:p>
        </p:txBody>
      </p:sp>
      <p:sp>
        <p:nvSpPr>
          <p:cNvPr id="6" name="灯片编号占位符 5">
            <a:extLst>
              <a:ext uri="{FF2B5EF4-FFF2-40B4-BE49-F238E27FC236}">
                <a16:creationId xmlns:a16="http://schemas.microsoft.com/office/drawing/2014/main" id="{CD5DDFF1-6AF9-A3A8-FFE5-82DE4B5AF6C0}"/>
              </a:ext>
            </a:extLst>
          </p:cNvPr>
          <p:cNvSpPr>
            <a:spLocks noGrp="1"/>
          </p:cNvSpPr>
          <p:nvPr>
            <p:ph type="sldNum" sz="quarter" idx="12"/>
          </p:nvPr>
        </p:nvSpPr>
        <p:spPr/>
        <p:txBody>
          <a:bodyPr/>
          <a:lstStyle/>
          <a:p>
            <a:fld id="{76D830B0-DF59-4281-898F-AF208100B213}" type="slidenum">
              <a:rPr lang="en-US" altLang="zh-CN" smtClean="0"/>
              <a:pPr/>
              <a:t>3</a:t>
            </a:fld>
            <a:endParaRPr lang="en-US" altLang="zh-CN"/>
          </a:p>
        </p:txBody>
      </p:sp>
    </p:spTree>
    <p:extLst>
      <p:ext uri="{BB962C8B-B14F-4D97-AF65-F5344CB8AC3E}">
        <p14:creationId xmlns:p14="http://schemas.microsoft.com/office/powerpoint/2010/main" val="3573988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754543B-2633-4912-ADB0-89AB1A9C6570}"/>
              </a:ext>
            </a:extLst>
          </p:cNvPr>
          <p:cNvSpPr>
            <a:spLocks noChangeArrowheads="1"/>
          </p:cNvSpPr>
          <p:nvPr/>
        </p:nvSpPr>
        <p:spPr bwMode="auto">
          <a:xfrm>
            <a:off x="467544" y="908720"/>
            <a:ext cx="792088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结论：</a:t>
            </a:r>
            <a:endParaRPr kumimoji="0" lang="en-US"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spcBef>
                <a:spcPct val="0"/>
              </a:spcBef>
              <a:spcAft>
                <a:spcPct val="0"/>
              </a:spcAft>
              <a:buClrTx/>
              <a:buSzTx/>
              <a:buFontTx/>
              <a:buNone/>
              <a:tabLst/>
            </a:pPr>
            <a:r>
              <a:rPr kumimoji="0" lang="en-US" altLang="zh-CN"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a:t>
            </a:r>
            <a:r>
              <a:rPr lang="en-US" altLang="zh-CN" sz="2400" b="1" kern="100" dirty="0">
                <a:effectLst/>
                <a:latin typeface="Times New Roman" panose="02020603050405020304" pitchFamily="18" charset="0"/>
                <a:ea typeface="黑体" panose="02010609060101010101" pitchFamily="49" charset="-122"/>
              </a:rPr>
              <a:t>F</a:t>
            </a:r>
            <a:r>
              <a:rPr lang="zh-CN"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的方向总是试图拖导体和磁场一起旋转</a:t>
            </a:r>
            <a:endParaRPr lang="en-US"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spcBef>
                <a:spcPct val="0"/>
              </a:spcBef>
              <a:spcAft>
                <a:spcPct val="0"/>
              </a:spcAft>
              <a:buClrTx/>
              <a:buSzTx/>
              <a:buFontTx/>
              <a:buNone/>
              <a:tabLst/>
            </a:pPr>
            <a:r>
              <a:rPr kumimoji="0" lang="en-US" altLang="zh-CN"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、导体线圈旋转速度越接近</a:t>
            </a:r>
            <a:r>
              <a:rPr kumimoji="0" lang="en-US" altLang="zh-CN"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n0</a:t>
            </a:r>
            <a:r>
              <a:rPr kumimoji="0" lang="zh-CN" altLang="en-US"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e</a:t>
            </a:r>
            <a:r>
              <a:rPr kumimoji="0" lang="zh-CN" altLang="en-US"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I,F</a:t>
            </a:r>
            <a:r>
              <a:rPr kumimoji="0" lang="zh-CN" altLang="en-US"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越小，</a:t>
            </a:r>
            <a:r>
              <a:rPr kumimoji="0" lang="en-US" altLang="zh-CN"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n=n0</a:t>
            </a:r>
            <a:r>
              <a:rPr kumimoji="0" lang="zh-CN" altLang="en-US"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时，</a:t>
            </a:r>
            <a:r>
              <a:rPr kumimoji="0" lang="en-US" altLang="zh-CN"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F</a:t>
            </a:r>
            <a:r>
              <a:rPr kumimoji="0" lang="zh-CN" altLang="en-US"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0</a:t>
            </a:r>
            <a:r>
              <a:rPr kumimoji="0" lang="zh-CN" altLang="en-US"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a:t>
            </a:r>
          </a:p>
          <a:p>
            <a:pPr algn="l"/>
            <a:r>
              <a:rPr lang="en-US" altLang="zh-CN" sz="2400" b="1" kern="100" dirty="0">
                <a:solidFill>
                  <a:srgbClr val="000000"/>
                </a:solidFill>
                <a:effectLst/>
                <a:latin typeface="Times New Roman" panose="02020603050405020304" pitchFamily="18" charset="0"/>
                <a:ea typeface="黑体" panose="02010609060101010101" pitchFamily="49" charset="-122"/>
              </a:rPr>
              <a:t>3</a:t>
            </a:r>
            <a:r>
              <a:rPr lang="zh-CN" altLang="en-US" sz="2400" b="1" kern="100" dirty="0">
                <a:solidFill>
                  <a:srgbClr val="000000"/>
                </a:solidFill>
                <a:effectLst/>
                <a:latin typeface="Times New Roman" panose="02020603050405020304" pitchFamily="18" charset="0"/>
                <a:ea typeface="黑体" panose="02010609060101010101" pitchFamily="49" charset="-122"/>
              </a:rPr>
              <a:t>、</a:t>
            </a:r>
            <a:r>
              <a:rPr lang="zh-CN" altLang="zh-CN" sz="2400" b="1" kern="100" dirty="0">
                <a:solidFill>
                  <a:srgbClr val="000000"/>
                </a:solidFill>
                <a:effectLst/>
                <a:latin typeface="Times New Roman" panose="02020603050405020304" pitchFamily="18" charset="0"/>
                <a:ea typeface="黑体" panose="02010609060101010101" pitchFamily="49" charset="-122"/>
              </a:rPr>
              <a:t>因</a:t>
            </a:r>
            <a:r>
              <a:rPr lang="en-US" altLang="zh-CN" sz="2400" b="1" kern="100" dirty="0">
                <a:solidFill>
                  <a:srgbClr val="000000"/>
                </a:solidFill>
                <a:effectLst/>
                <a:latin typeface="Times New Roman" panose="02020603050405020304" pitchFamily="18" charset="0"/>
                <a:ea typeface="黑体" panose="02010609060101010101" pitchFamily="49" charset="-122"/>
              </a:rPr>
              <a:t>n&lt;n0</a:t>
            </a:r>
            <a:r>
              <a:rPr lang="zh-CN" altLang="zh-CN" sz="2400" b="1" kern="100" dirty="0">
                <a:solidFill>
                  <a:srgbClr val="000000"/>
                </a:solidFill>
                <a:effectLst/>
                <a:latin typeface="Times New Roman" panose="02020603050405020304" pitchFamily="18" charset="0"/>
                <a:ea typeface="黑体" panose="02010609060101010101" pitchFamily="49" charset="-122"/>
              </a:rPr>
              <a:t>，导体</a:t>
            </a:r>
            <a:r>
              <a:rPr lang="en-US" altLang="zh-CN" sz="2400" b="1" kern="100" dirty="0">
                <a:solidFill>
                  <a:srgbClr val="000000"/>
                </a:solidFill>
                <a:effectLst/>
                <a:latin typeface="Times New Roman" panose="02020603050405020304" pitchFamily="18" charset="0"/>
                <a:ea typeface="黑体" panose="02010609060101010101" pitchFamily="49" charset="-122"/>
              </a:rPr>
              <a:t>ab</a:t>
            </a:r>
            <a:r>
              <a:rPr lang="zh-CN" altLang="zh-CN" sz="2400" b="1" kern="100" dirty="0">
                <a:solidFill>
                  <a:srgbClr val="000000"/>
                </a:solidFill>
                <a:effectLst/>
                <a:latin typeface="Times New Roman" panose="02020603050405020304" pitchFamily="18" charset="0"/>
                <a:ea typeface="黑体" panose="02010609060101010101" pitchFamily="49" charset="-122"/>
              </a:rPr>
              <a:t>会逐渐远离磁极</a:t>
            </a:r>
            <a:r>
              <a:rPr lang="en-US" altLang="zh-CN" sz="2400" b="1" kern="100" dirty="0">
                <a:solidFill>
                  <a:srgbClr val="000000"/>
                </a:solidFill>
                <a:effectLst/>
                <a:latin typeface="Times New Roman" panose="02020603050405020304" pitchFamily="18" charset="0"/>
                <a:ea typeface="黑体" panose="02010609060101010101" pitchFamily="49" charset="-122"/>
              </a:rPr>
              <a:t>N</a:t>
            </a:r>
            <a:r>
              <a:rPr lang="zh-CN" altLang="en-US" sz="2400" b="1" kern="100" dirty="0">
                <a:solidFill>
                  <a:srgbClr val="000000"/>
                </a:solidFill>
                <a:latin typeface="Times New Roman" panose="02020603050405020304" pitchFamily="18" charset="0"/>
                <a:ea typeface="黑体" panose="02010609060101010101" pitchFamily="49" charset="-122"/>
              </a:rPr>
              <a:t>，</a:t>
            </a:r>
            <a:r>
              <a:rPr lang="zh-CN" altLang="zh-CN" sz="2400" b="1" kern="100" dirty="0">
                <a:solidFill>
                  <a:srgbClr val="000000"/>
                </a:solidFill>
                <a:effectLst/>
                <a:latin typeface="Times New Roman" panose="02020603050405020304" pitchFamily="18" charset="0"/>
                <a:ea typeface="黑体" panose="02010609060101010101" pitchFamily="49" charset="-122"/>
              </a:rPr>
              <a:t>在邻近空间增加其它线圈导体接替</a:t>
            </a:r>
            <a:r>
              <a:rPr lang="en-US" altLang="zh-CN" sz="2400" b="1" kern="100" dirty="0">
                <a:solidFill>
                  <a:srgbClr val="000000"/>
                </a:solidFill>
                <a:effectLst/>
                <a:latin typeface="Times New Roman" panose="02020603050405020304" pitchFamily="18" charset="0"/>
                <a:ea typeface="黑体" panose="02010609060101010101" pitchFamily="49" charset="-122"/>
              </a:rPr>
              <a:t>ab</a:t>
            </a:r>
            <a:endParaRPr lang="zh-CN" altLang="zh-CN" sz="2400" kern="100" dirty="0">
              <a:effectLst/>
              <a:latin typeface="Times New Roman" panose="02020603050405020304" pitchFamily="18" charset="0"/>
              <a:ea typeface="宋体" panose="02010600030101010101" pitchFamily="2" charset="-122"/>
            </a:endParaRPr>
          </a:p>
        </p:txBody>
      </p:sp>
      <p:sp>
        <p:nvSpPr>
          <p:cNvPr id="13" name="Rectangle 10">
            <a:extLst>
              <a:ext uri="{FF2B5EF4-FFF2-40B4-BE49-F238E27FC236}">
                <a16:creationId xmlns:a16="http://schemas.microsoft.com/office/drawing/2014/main" id="{B3178586-C557-FC72-ADCE-7F7DEFBD2FE0}"/>
              </a:ext>
            </a:extLst>
          </p:cNvPr>
          <p:cNvSpPr>
            <a:spLocks noChangeArrowheads="1"/>
          </p:cNvSpPr>
          <p:nvPr/>
        </p:nvSpPr>
        <p:spPr bwMode="auto">
          <a:xfrm>
            <a:off x="971600" y="350100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4" name="对象 13">
            <a:extLst>
              <a:ext uri="{FF2B5EF4-FFF2-40B4-BE49-F238E27FC236}">
                <a16:creationId xmlns:a16="http://schemas.microsoft.com/office/drawing/2014/main" id="{4AAFBD11-63B1-BE2B-7216-524BDF9E49EA}"/>
              </a:ext>
            </a:extLst>
          </p:cNvPr>
          <p:cNvGraphicFramePr>
            <a:graphicFrameLocks noChangeAspect="1"/>
          </p:cNvGraphicFramePr>
          <p:nvPr>
            <p:extLst>
              <p:ext uri="{D42A27DB-BD31-4B8C-83A1-F6EECF244321}">
                <p14:modId xmlns:p14="http://schemas.microsoft.com/office/powerpoint/2010/main" val="558293428"/>
              </p:ext>
            </p:extLst>
          </p:nvPr>
        </p:nvGraphicFramePr>
        <p:xfrm>
          <a:off x="1475656" y="3345610"/>
          <a:ext cx="2529088" cy="3023217"/>
        </p:xfrm>
        <a:graphic>
          <a:graphicData uri="http://schemas.openxmlformats.org/presentationml/2006/ole">
            <mc:AlternateContent xmlns:mc="http://schemas.openxmlformats.org/markup-compatibility/2006">
              <mc:Choice xmlns:v="urn:schemas-microsoft-com:vml" Requires="v">
                <p:oleObj r:id="rId2" imgW="1509713" imgH="1803400" progId="MSDraw">
                  <p:embed/>
                </p:oleObj>
              </mc:Choice>
              <mc:Fallback>
                <p:oleObj r:id="rId2" imgW="1509713" imgH="1803400" progId="MSDraw">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3345610"/>
                        <a:ext cx="2529088" cy="3023217"/>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C8E52BBF-121C-0E2B-F911-678CF048EE25}"/>
              </a:ext>
            </a:extLst>
          </p:cNvPr>
          <p:cNvGraphicFramePr>
            <a:graphicFrameLocks noChangeAspect="1"/>
          </p:cNvGraphicFramePr>
          <p:nvPr>
            <p:extLst>
              <p:ext uri="{D42A27DB-BD31-4B8C-83A1-F6EECF244321}">
                <p14:modId xmlns:p14="http://schemas.microsoft.com/office/powerpoint/2010/main" val="1442488177"/>
              </p:ext>
            </p:extLst>
          </p:nvPr>
        </p:nvGraphicFramePr>
        <p:xfrm>
          <a:off x="4211960" y="3358111"/>
          <a:ext cx="2736304" cy="3023217"/>
        </p:xfrm>
        <a:graphic>
          <a:graphicData uri="http://schemas.openxmlformats.org/presentationml/2006/ole">
            <mc:AlternateContent xmlns:mc="http://schemas.openxmlformats.org/markup-compatibility/2006">
              <mc:Choice xmlns:v="urn:schemas-microsoft-com:vml" Requires="v">
                <p:oleObj r:id="rId4" imgW="1631950" imgH="1803400" progId="MSDraw">
                  <p:embed/>
                </p:oleObj>
              </mc:Choice>
              <mc:Fallback>
                <p:oleObj r:id="rId4" imgW="1631950" imgH="1803400" progId="MSDraw">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960" y="3358111"/>
                        <a:ext cx="2736304" cy="3023217"/>
                      </a:xfrm>
                      <a:prstGeom prst="rect">
                        <a:avLst/>
                      </a:prstGeom>
                      <a:noFill/>
                    </p:spPr>
                  </p:pic>
                </p:oleObj>
              </mc:Fallback>
            </mc:AlternateContent>
          </a:graphicData>
        </a:graphic>
      </p:graphicFrame>
      <p:sp>
        <p:nvSpPr>
          <p:cNvPr id="18" name="文本框 17">
            <a:extLst>
              <a:ext uri="{FF2B5EF4-FFF2-40B4-BE49-F238E27FC236}">
                <a16:creationId xmlns:a16="http://schemas.microsoft.com/office/drawing/2014/main" id="{A3F6B0FD-8473-2180-494E-4DE1FD337B8B}"/>
              </a:ext>
            </a:extLst>
          </p:cNvPr>
          <p:cNvSpPr txBox="1"/>
          <p:nvPr/>
        </p:nvSpPr>
        <p:spPr>
          <a:xfrm>
            <a:off x="7123880" y="4611807"/>
            <a:ext cx="1232944" cy="707886"/>
          </a:xfrm>
          <a:prstGeom prst="rect">
            <a:avLst/>
          </a:prstGeom>
          <a:noFill/>
        </p:spPr>
        <p:txBody>
          <a:bodyPr wrap="square">
            <a:spAutoFit/>
          </a:bodyPr>
          <a:lstStyle/>
          <a:p>
            <a:r>
              <a:rPr lang="zh-CN" altLang="zh-CN" sz="20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构成笼型结构转子</a:t>
            </a:r>
            <a:endParaRPr lang="zh-CN" altLang="en-US" sz="2000" dirty="0"/>
          </a:p>
        </p:txBody>
      </p:sp>
      <p:sp>
        <p:nvSpPr>
          <p:cNvPr id="19" name="箭头: 右 18">
            <a:extLst>
              <a:ext uri="{FF2B5EF4-FFF2-40B4-BE49-F238E27FC236}">
                <a16:creationId xmlns:a16="http://schemas.microsoft.com/office/drawing/2014/main" id="{0403C237-BA17-22CF-CEF7-3DC0B00F402D}"/>
              </a:ext>
            </a:extLst>
          </p:cNvPr>
          <p:cNvSpPr/>
          <p:nvPr/>
        </p:nvSpPr>
        <p:spPr>
          <a:xfrm>
            <a:off x="6428408" y="4826527"/>
            <a:ext cx="663872" cy="2586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灯片编号占位符 3">
            <a:extLst>
              <a:ext uri="{FF2B5EF4-FFF2-40B4-BE49-F238E27FC236}">
                <a16:creationId xmlns:a16="http://schemas.microsoft.com/office/drawing/2014/main" id="{48B2A698-C8C9-E3B6-42C8-72BA16A79D70}"/>
              </a:ext>
            </a:extLst>
          </p:cNvPr>
          <p:cNvSpPr>
            <a:spLocks noGrp="1"/>
          </p:cNvSpPr>
          <p:nvPr>
            <p:ph type="sldNum" sz="quarter" idx="12"/>
          </p:nvPr>
        </p:nvSpPr>
        <p:spPr/>
        <p:txBody>
          <a:bodyPr/>
          <a:lstStyle/>
          <a:p>
            <a:fld id="{76D830B0-DF59-4281-898F-AF208100B213}" type="slidenum">
              <a:rPr lang="en-US" altLang="zh-CN" smtClean="0"/>
              <a:pPr/>
              <a:t>4</a:t>
            </a:fld>
            <a:endParaRPr lang="en-US" altLang="zh-CN"/>
          </a:p>
        </p:txBody>
      </p:sp>
    </p:spTree>
    <p:extLst>
      <p:ext uri="{BB962C8B-B14F-4D97-AF65-F5344CB8AC3E}">
        <p14:creationId xmlns:p14="http://schemas.microsoft.com/office/powerpoint/2010/main" val="1390615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a:extLst>
              <a:ext uri="{FF2B5EF4-FFF2-40B4-BE49-F238E27FC236}">
                <a16:creationId xmlns:a16="http://schemas.microsoft.com/office/drawing/2014/main" id="{F473591F-ECFC-C103-CDB1-F1D205B2515F}"/>
              </a:ext>
            </a:extLst>
          </p:cNvPr>
          <p:cNvGraphicFramePr>
            <a:graphicFrameLocks noChangeAspect="1"/>
          </p:cNvGraphicFramePr>
          <p:nvPr>
            <p:extLst>
              <p:ext uri="{D42A27DB-BD31-4B8C-83A1-F6EECF244321}">
                <p14:modId xmlns:p14="http://schemas.microsoft.com/office/powerpoint/2010/main" val="384368431"/>
              </p:ext>
            </p:extLst>
          </p:nvPr>
        </p:nvGraphicFramePr>
        <p:xfrm>
          <a:off x="4716016" y="1046634"/>
          <a:ext cx="3367088" cy="438150"/>
        </p:xfrm>
        <a:graphic>
          <a:graphicData uri="http://schemas.openxmlformats.org/presentationml/2006/ole">
            <mc:AlternateContent xmlns:mc="http://schemas.openxmlformats.org/markup-compatibility/2006">
              <mc:Choice xmlns:v="urn:schemas-microsoft-com:vml" Requires="v">
                <p:oleObj name="Equation" r:id="rId2" imgW="1524000" imgH="203200" progId="Equation.DSMT4">
                  <p:embed/>
                </p:oleObj>
              </mc:Choice>
              <mc:Fallback>
                <p:oleObj name="Equation" r:id="rId2" imgW="1524000" imgH="203200" progId="Equation.DSMT4">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1046634"/>
                        <a:ext cx="3367088" cy="438150"/>
                      </a:xfrm>
                      <a:prstGeom prst="rect">
                        <a:avLst/>
                      </a:prstGeom>
                      <a:solidFill>
                        <a:srgbClr val="FFFF99"/>
                      </a:solidFill>
                    </p:spPr>
                  </p:pic>
                </p:oleObj>
              </mc:Fallback>
            </mc:AlternateContent>
          </a:graphicData>
        </a:graphic>
      </p:graphicFrame>
      <p:graphicFrame>
        <p:nvGraphicFramePr>
          <p:cNvPr id="11" name="对象 10">
            <a:extLst>
              <a:ext uri="{FF2B5EF4-FFF2-40B4-BE49-F238E27FC236}">
                <a16:creationId xmlns:a16="http://schemas.microsoft.com/office/drawing/2014/main" id="{9ED4A41E-B86A-3562-BA48-077DCF428730}"/>
              </a:ext>
            </a:extLst>
          </p:cNvPr>
          <p:cNvGraphicFramePr>
            <a:graphicFrameLocks noChangeAspect="1"/>
          </p:cNvGraphicFramePr>
          <p:nvPr>
            <p:extLst>
              <p:ext uri="{D42A27DB-BD31-4B8C-83A1-F6EECF244321}">
                <p14:modId xmlns:p14="http://schemas.microsoft.com/office/powerpoint/2010/main" val="759693429"/>
              </p:ext>
            </p:extLst>
          </p:nvPr>
        </p:nvGraphicFramePr>
        <p:xfrm>
          <a:off x="5796136" y="3501008"/>
          <a:ext cx="2219325" cy="2476500"/>
        </p:xfrm>
        <a:graphic>
          <a:graphicData uri="http://schemas.openxmlformats.org/presentationml/2006/ole">
            <mc:AlternateContent xmlns:mc="http://schemas.openxmlformats.org/markup-compatibility/2006">
              <mc:Choice xmlns:v="urn:schemas-microsoft-com:vml" Requires="v">
                <p:oleObj r:id="rId4" imgW="938213" imgH="1036638" progId="MSDraw">
                  <p:embed/>
                </p:oleObj>
              </mc:Choice>
              <mc:Fallback>
                <p:oleObj r:id="rId4" imgW="938213" imgH="1036638" progId="MSDraw">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6136" y="3501008"/>
                        <a:ext cx="2219325" cy="2476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文本框 20">
            <a:extLst>
              <a:ext uri="{FF2B5EF4-FFF2-40B4-BE49-F238E27FC236}">
                <a16:creationId xmlns:a16="http://schemas.microsoft.com/office/drawing/2014/main" id="{98E84B38-135E-8487-F741-5B8F4EC21B6F}"/>
              </a:ext>
            </a:extLst>
          </p:cNvPr>
          <p:cNvSpPr txBox="1"/>
          <p:nvPr/>
        </p:nvSpPr>
        <p:spPr>
          <a:xfrm>
            <a:off x="611560" y="982105"/>
            <a:ext cx="4320480" cy="461665"/>
          </a:xfrm>
          <a:prstGeom prst="rect">
            <a:avLst/>
          </a:prstGeom>
          <a:noFill/>
        </p:spPr>
        <p:txBody>
          <a:bodyPr wrap="square">
            <a:spAutoFit/>
          </a:bodyPr>
          <a:lstStyle/>
          <a:p>
            <a:pPr marL="0" marR="0" lvl="0" indent="0" algn="l" defTabSz="914400" rtl="0" eaLnBrk="0" fontAlgn="base" latinLnBrk="0" hangingPunct="0">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依据两个基本电磁感应定律：</a:t>
            </a:r>
            <a:endParaRPr kumimoji="0" lang="en-US"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p:txBody>
      </p:sp>
      <p:sp>
        <p:nvSpPr>
          <p:cNvPr id="23" name="文本框 22">
            <a:extLst>
              <a:ext uri="{FF2B5EF4-FFF2-40B4-BE49-F238E27FC236}">
                <a16:creationId xmlns:a16="http://schemas.microsoft.com/office/drawing/2014/main" id="{B9A719F0-E8EA-45C5-AC45-BA6E78D568CF}"/>
              </a:ext>
            </a:extLst>
          </p:cNvPr>
          <p:cNvSpPr txBox="1"/>
          <p:nvPr/>
        </p:nvSpPr>
        <p:spPr>
          <a:xfrm>
            <a:off x="596206" y="1516633"/>
            <a:ext cx="7848872" cy="2238241"/>
          </a:xfrm>
          <a:prstGeom prst="rect">
            <a:avLst/>
          </a:prstGeom>
          <a:noFill/>
        </p:spPr>
        <p:txBody>
          <a:bodyPr wrap="square">
            <a:spAutoFit/>
          </a:bodyPr>
          <a:lstStyle/>
          <a:p>
            <a:pPr eaLnBrk="0" hangingPunct="0">
              <a:lnSpc>
                <a:spcPct val="150000"/>
              </a:lnSpc>
            </a:pP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运行原理</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定子旋转磁场以速度</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n0</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切割转子导体感生</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e</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，在转子导体中形成</a:t>
            </a:r>
            <a:r>
              <a:rPr kumimoji="0" lang="en-US" altLang="zh-CN" sz="2400" b="1" i="0" u="none" strike="noStrike" cap="none" normalizeH="0" baseline="0" dirty="0" err="1">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i</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，使导体受电磁力作用形成电磁转矩，推动转子以转速</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顺</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n0</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方向旋转，并从轴上输出一定大小的机械功率。</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不能等于</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n0)</a:t>
            </a:r>
            <a:endParaRPr kumimoji="0" lang="en-US" altLang="zh-CN" sz="400" b="0" i="0" u="none" strike="noStrike" cap="none" normalizeH="0" baseline="0" dirty="0">
              <a:ln>
                <a:noFill/>
              </a:ln>
              <a:solidFill>
                <a:schemeClr val="tx1"/>
              </a:solidFill>
              <a:effectLst/>
            </a:endParaRPr>
          </a:p>
        </p:txBody>
      </p:sp>
      <p:sp>
        <p:nvSpPr>
          <p:cNvPr id="25" name="文本框 24">
            <a:extLst>
              <a:ext uri="{FF2B5EF4-FFF2-40B4-BE49-F238E27FC236}">
                <a16:creationId xmlns:a16="http://schemas.microsoft.com/office/drawing/2014/main" id="{829CA771-FAEB-7918-288E-16B0A8987F10}"/>
              </a:ext>
            </a:extLst>
          </p:cNvPr>
          <p:cNvSpPr txBox="1"/>
          <p:nvPr/>
        </p:nvSpPr>
        <p:spPr>
          <a:xfrm>
            <a:off x="611560" y="3914667"/>
            <a:ext cx="4824536" cy="2369880"/>
          </a:xfrm>
          <a:prstGeom prst="rect">
            <a:avLst/>
          </a:prstGeom>
          <a:noFill/>
        </p:spPr>
        <p:txBody>
          <a:bodyPr wrap="square">
            <a:spAutoFit/>
          </a:bodyPr>
          <a:lstStyle/>
          <a:p>
            <a:pPr eaLnBrk="0" hangingPunct="0">
              <a:lnSpc>
                <a:spcPct val="150000"/>
              </a:lnSpc>
            </a:pP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主要特点：</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电动机内必须有一个以</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n0</a:t>
            </a:r>
            <a:r>
              <a:rPr kumimoji="0" lang="zh-CN" altLang="en-US" sz="2400" b="1" i="0" u="none" strike="noStrike" cap="none" normalizeH="0" baseline="0" dirty="0">
                <a:ln>
                  <a:noFill/>
                </a:ln>
                <a:solidFill>
                  <a:srgbClr val="00B050"/>
                </a:solidFill>
                <a:effectLst/>
                <a:latin typeface="黑体" panose="02010609060101010101" pitchFamily="49" charset="-122"/>
                <a:ea typeface="黑体" panose="02010609060101010101" pitchFamily="49" charset="-122"/>
                <a:cs typeface="Times New Roman" panose="02020603050405020304" pitchFamily="18" charset="0"/>
              </a:rPr>
              <a:t>旋转的磁场</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实现能量转换的前提；必要条件</a:t>
            </a:r>
            <a:r>
              <a:rPr kumimoji="0" lang="en-US" altLang="zh-CN" sz="2400" b="1" i="0" u="none" strike="noStrike" cap="none" normalizeH="0" baseline="0" dirty="0">
                <a:ln>
                  <a:noFill/>
                </a:ln>
                <a:solidFill>
                  <a:srgbClr val="00B050"/>
                </a:solidFill>
                <a:effectLst/>
                <a:latin typeface="黑体" panose="02010609060101010101" pitchFamily="49" charset="-122"/>
                <a:ea typeface="黑体" panose="02010609060101010101" pitchFamily="49" charset="-122"/>
                <a:cs typeface="Times New Roman" panose="02020603050405020304" pitchFamily="18" charset="0"/>
              </a:rPr>
              <a:t>n&lt;n0</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；建立转矩的电流由感应产生</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感应名称的来源。</a:t>
            </a:r>
          </a:p>
          <a:p>
            <a:pPr eaLnBrk="0" hangingPunct="0"/>
            <a:endParaRPr kumimoji="0" lang="en-US" altLang="zh-CN" sz="400" b="0" i="0" u="none" strike="noStrike" cap="none" normalizeH="0" baseline="0" dirty="0">
              <a:ln>
                <a:noFill/>
              </a:ln>
              <a:solidFill>
                <a:schemeClr val="tx1"/>
              </a:solidFill>
              <a:effectLst/>
            </a:endParaRPr>
          </a:p>
        </p:txBody>
      </p:sp>
      <p:sp>
        <p:nvSpPr>
          <p:cNvPr id="3" name="灯片编号占位符 2">
            <a:extLst>
              <a:ext uri="{FF2B5EF4-FFF2-40B4-BE49-F238E27FC236}">
                <a16:creationId xmlns:a16="http://schemas.microsoft.com/office/drawing/2014/main" id="{6B0A2A46-BD49-3DB0-920B-587888C49C0B}"/>
              </a:ext>
            </a:extLst>
          </p:cNvPr>
          <p:cNvSpPr>
            <a:spLocks noGrp="1"/>
          </p:cNvSpPr>
          <p:nvPr>
            <p:ph type="sldNum" sz="quarter" idx="12"/>
          </p:nvPr>
        </p:nvSpPr>
        <p:spPr/>
        <p:txBody>
          <a:bodyPr/>
          <a:lstStyle/>
          <a:p>
            <a:fld id="{76D830B0-DF59-4281-898F-AF208100B213}" type="slidenum">
              <a:rPr lang="en-US" altLang="zh-CN" smtClean="0"/>
              <a:pPr/>
              <a:t>5</a:t>
            </a:fld>
            <a:endParaRPr lang="en-US" altLang="zh-CN"/>
          </a:p>
        </p:txBody>
      </p:sp>
    </p:spTree>
    <p:extLst>
      <p:ext uri="{BB962C8B-B14F-4D97-AF65-F5344CB8AC3E}">
        <p14:creationId xmlns:p14="http://schemas.microsoft.com/office/powerpoint/2010/main" val="1381816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1E6910-4616-167F-DA20-B3CE1C8961D9}"/>
              </a:ext>
            </a:extLst>
          </p:cNvPr>
          <p:cNvSpPr txBox="1"/>
          <p:nvPr/>
        </p:nvSpPr>
        <p:spPr>
          <a:xfrm>
            <a:off x="251520" y="1052736"/>
            <a:ext cx="4572000" cy="49244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二、旋转磁场的形成原理：</a:t>
            </a:r>
          </a:p>
        </p:txBody>
      </p:sp>
      <p:sp>
        <p:nvSpPr>
          <p:cNvPr id="5" name="文本框 4">
            <a:extLst>
              <a:ext uri="{FF2B5EF4-FFF2-40B4-BE49-F238E27FC236}">
                <a16:creationId xmlns:a16="http://schemas.microsoft.com/office/drawing/2014/main" id="{F09703E9-65C4-6CB7-4812-7D110DEB4076}"/>
              </a:ext>
            </a:extLst>
          </p:cNvPr>
          <p:cNvSpPr txBox="1"/>
          <p:nvPr/>
        </p:nvSpPr>
        <p:spPr>
          <a:xfrm>
            <a:off x="539552" y="1628800"/>
            <a:ext cx="8352928" cy="1550040"/>
          </a:xfrm>
          <a:prstGeom prst="rect">
            <a:avLst/>
          </a:prstGeom>
          <a:noFill/>
        </p:spPr>
        <p:txBody>
          <a:bodyPr wrap="square">
            <a:spAutoFit/>
          </a:bodyPr>
          <a:lstStyle/>
          <a:p>
            <a:pPr eaLnBrk="0" hangingPunct="0">
              <a:lnSpc>
                <a:spcPct val="150000"/>
              </a:lnSpc>
            </a:pPr>
            <a:r>
              <a:rPr kumimoji="0" lang="zh-CN" altLang="en-US" sz="22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特斯拉研究表明：</a:t>
            </a:r>
            <a:r>
              <a:rPr lang="zh-CN" altLang="en-US" sz="22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电机内的旋转磁场，可以由空间对称的多相绕组中通过时间对称的多相电流脉振磁场在共同的磁路上合成旋转磁势来建立形成。</a:t>
            </a:r>
            <a:endParaRPr kumimoji="0" lang="en-US" altLang="zh-CN" sz="2200" b="0" i="0" u="none" strike="noStrike" cap="none" normalizeH="0" baseline="0" dirty="0">
              <a:ln>
                <a:noFill/>
              </a:ln>
              <a:solidFill>
                <a:schemeClr val="tx1"/>
              </a:solidFill>
              <a:effectLst/>
            </a:endParaRPr>
          </a:p>
        </p:txBody>
      </p:sp>
      <p:graphicFrame>
        <p:nvGraphicFramePr>
          <p:cNvPr id="9" name="对象 8">
            <a:extLst>
              <a:ext uri="{FF2B5EF4-FFF2-40B4-BE49-F238E27FC236}">
                <a16:creationId xmlns:a16="http://schemas.microsoft.com/office/drawing/2014/main" id="{E3EC2043-8B06-348C-151B-ED8C72785F9C}"/>
              </a:ext>
            </a:extLst>
          </p:cNvPr>
          <p:cNvGraphicFramePr>
            <a:graphicFrameLocks noChangeAspect="1"/>
          </p:cNvGraphicFramePr>
          <p:nvPr>
            <p:extLst>
              <p:ext uri="{D42A27DB-BD31-4B8C-83A1-F6EECF244321}">
                <p14:modId xmlns:p14="http://schemas.microsoft.com/office/powerpoint/2010/main" val="4096431197"/>
              </p:ext>
            </p:extLst>
          </p:nvPr>
        </p:nvGraphicFramePr>
        <p:xfrm>
          <a:off x="1259632" y="3212976"/>
          <a:ext cx="6480720" cy="2739601"/>
        </p:xfrm>
        <a:graphic>
          <a:graphicData uri="http://schemas.openxmlformats.org/presentationml/2006/ole">
            <mc:AlternateContent xmlns:mc="http://schemas.openxmlformats.org/markup-compatibility/2006">
              <mc:Choice xmlns:v="urn:schemas-microsoft-com:vml" Requires="v">
                <p:oleObj r:id="rId2" imgW="3225800" imgH="1357313" progId="MSDraw">
                  <p:embed/>
                </p:oleObj>
              </mc:Choice>
              <mc:Fallback>
                <p:oleObj r:id="rId2" imgW="3225800" imgH="1357313" progId="MSDraw">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3212976"/>
                        <a:ext cx="6480720" cy="2739601"/>
                      </a:xfrm>
                      <a:prstGeom prst="rect">
                        <a:avLst/>
                      </a:prstGeom>
                      <a:noFill/>
                    </p:spPr>
                  </p:pic>
                </p:oleObj>
              </mc:Fallback>
            </mc:AlternateContent>
          </a:graphicData>
        </a:graphic>
      </p:graphicFrame>
      <p:sp>
        <p:nvSpPr>
          <p:cNvPr id="3" name="灯片编号占位符 2">
            <a:extLst>
              <a:ext uri="{FF2B5EF4-FFF2-40B4-BE49-F238E27FC236}">
                <a16:creationId xmlns:a16="http://schemas.microsoft.com/office/drawing/2014/main" id="{69E4D1D9-6CDC-5EBB-D8A1-35C7102C6C73}"/>
              </a:ext>
            </a:extLst>
          </p:cNvPr>
          <p:cNvSpPr>
            <a:spLocks noGrp="1"/>
          </p:cNvSpPr>
          <p:nvPr>
            <p:ph type="sldNum" sz="quarter" idx="12"/>
          </p:nvPr>
        </p:nvSpPr>
        <p:spPr/>
        <p:txBody>
          <a:bodyPr/>
          <a:lstStyle/>
          <a:p>
            <a:fld id="{76D830B0-DF59-4281-898F-AF208100B213}" type="slidenum">
              <a:rPr lang="en-US" altLang="zh-CN" smtClean="0"/>
              <a:pPr/>
              <a:t>6</a:t>
            </a:fld>
            <a:endParaRPr lang="en-US" altLang="zh-CN"/>
          </a:p>
        </p:txBody>
      </p:sp>
    </p:spTree>
    <p:extLst>
      <p:ext uri="{BB962C8B-B14F-4D97-AF65-F5344CB8AC3E}">
        <p14:creationId xmlns:p14="http://schemas.microsoft.com/office/powerpoint/2010/main" val="1774677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5FC16658-6F66-BBA6-1F08-52C73EAF5A62}"/>
              </a:ext>
            </a:extLst>
          </p:cNvPr>
          <p:cNvGraphicFramePr>
            <a:graphicFrameLocks noChangeAspect="1"/>
          </p:cNvGraphicFramePr>
          <p:nvPr>
            <p:extLst>
              <p:ext uri="{D42A27DB-BD31-4B8C-83A1-F6EECF244321}">
                <p14:modId xmlns:p14="http://schemas.microsoft.com/office/powerpoint/2010/main" val="2247059801"/>
              </p:ext>
            </p:extLst>
          </p:nvPr>
        </p:nvGraphicFramePr>
        <p:xfrm>
          <a:off x="1566862" y="950764"/>
          <a:ext cx="6010275" cy="2319338"/>
        </p:xfrm>
        <a:graphic>
          <a:graphicData uri="http://schemas.openxmlformats.org/presentationml/2006/ole">
            <mc:AlternateContent xmlns:mc="http://schemas.openxmlformats.org/markup-compatibility/2006">
              <mc:Choice xmlns:v="urn:schemas-microsoft-com:vml" Requires="v">
                <p:oleObj r:id="rId2" imgW="2582863" imgH="1873250" progId="MSDraw">
                  <p:embed/>
                </p:oleObj>
              </mc:Choice>
              <mc:Fallback>
                <p:oleObj r:id="rId2" imgW="2582863" imgH="1873250"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6862" y="950764"/>
                        <a:ext cx="6010275" cy="2319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68CC63D4-0613-F77B-3ADB-2F7AB5CB0934}"/>
              </a:ext>
            </a:extLst>
          </p:cNvPr>
          <p:cNvGraphicFramePr>
            <a:graphicFrameLocks noChangeAspect="1"/>
          </p:cNvGraphicFramePr>
          <p:nvPr>
            <p:extLst>
              <p:ext uri="{D42A27DB-BD31-4B8C-83A1-F6EECF244321}">
                <p14:modId xmlns:p14="http://schemas.microsoft.com/office/powerpoint/2010/main" val="794578353"/>
              </p:ext>
            </p:extLst>
          </p:nvPr>
        </p:nvGraphicFramePr>
        <p:xfrm>
          <a:off x="4802151" y="3429000"/>
          <a:ext cx="2667000" cy="3195638"/>
        </p:xfrm>
        <a:graphic>
          <a:graphicData uri="http://schemas.openxmlformats.org/presentationml/2006/ole">
            <mc:AlternateContent xmlns:mc="http://schemas.openxmlformats.org/markup-compatibility/2006">
              <mc:Choice xmlns:v="urn:schemas-microsoft-com:vml" Requires="v">
                <p:oleObj r:id="rId4" imgW="1701800" imgH="2044700" progId="MSDraw">
                  <p:embed/>
                </p:oleObj>
              </mc:Choice>
              <mc:Fallback>
                <p:oleObj r:id="rId4" imgW="1701800" imgH="2044700" progId="MSDraw">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2151" y="3429000"/>
                        <a:ext cx="2667000" cy="3195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a:extLst>
              <a:ext uri="{FF2B5EF4-FFF2-40B4-BE49-F238E27FC236}">
                <a16:creationId xmlns:a16="http://schemas.microsoft.com/office/drawing/2014/main" id="{0361E64B-2957-0C6A-4618-96C68A52AA85}"/>
              </a:ext>
            </a:extLst>
          </p:cNvPr>
          <p:cNvGraphicFramePr>
            <a:graphicFrameLocks noChangeAspect="1"/>
          </p:cNvGraphicFramePr>
          <p:nvPr>
            <p:extLst>
              <p:ext uri="{D42A27DB-BD31-4B8C-83A1-F6EECF244321}">
                <p14:modId xmlns:p14="http://schemas.microsoft.com/office/powerpoint/2010/main" val="467771080"/>
              </p:ext>
            </p:extLst>
          </p:nvPr>
        </p:nvGraphicFramePr>
        <p:xfrm>
          <a:off x="971600" y="3789337"/>
          <a:ext cx="3076575" cy="2074863"/>
        </p:xfrm>
        <a:graphic>
          <a:graphicData uri="http://schemas.openxmlformats.org/presentationml/2006/ole">
            <mc:AlternateContent xmlns:mc="http://schemas.openxmlformats.org/markup-compatibility/2006">
              <mc:Choice xmlns:v="urn:schemas-microsoft-com:vml" Requires="v">
                <p:oleObj name="Equation" r:id="rId6" imgW="1447560" imgH="990360" progId="Equation.DSMT4">
                  <p:embed/>
                </p:oleObj>
              </mc:Choice>
              <mc:Fallback>
                <p:oleObj name="Equation" r:id="rId6" imgW="1447560" imgH="990360" progId="Equation.DSMT4">
                  <p:embed/>
                  <p:pic>
                    <p:nvPicPr>
                      <p:cNvPr id="0" name="Object 5"/>
                      <p:cNvPicPr>
                        <a:picLocks noChangeAspect="1" noChangeArrowheads="1"/>
                      </p:cNvPicPr>
                      <p:nvPr/>
                    </p:nvPicPr>
                    <p:blipFill>
                      <a:blip r:embed="rId7"/>
                      <a:srcRect/>
                      <a:stretch>
                        <a:fillRect/>
                      </a:stretch>
                    </p:blipFill>
                    <p:spPr bwMode="auto">
                      <a:xfrm>
                        <a:off x="971600" y="3789337"/>
                        <a:ext cx="3076575" cy="2074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35CC055-45F3-7434-6FD2-1E262087D7D1}"/>
                  </a:ext>
                </a:extLst>
              </p:cNvPr>
              <p:cNvSpPr txBox="1"/>
              <p:nvPr/>
            </p:nvSpPr>
            <p:spPr>
              <a:xfrm>
                <a:off x="7549446" y="4365104"/>
                <a:ext cx="925114"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𝜔</m:t>
                    </m:r>
                    <m:r>
                      <a:rPr lang="zh-CN" altLang="en-US" sz="2400" i="1" smtClean="0">
                        <a:latin typeface="Cambria Math" panose="02040503050406030204" pitchFamily="18" charset="0"/>
                      </a:rPr>
                      <m:t>𝑡</m:t>
                    </m:r>
                  </m:oMath>
                </a14:m>
                <a:r>
                  <a:rPr lang="en-US" altLang="zh-CN" sz="2400" dirty="0"/>
                  <a:t>=0</a:t>
                </a:r>
                <a:endParaRPr lang="zh-CN" altLang="en-US" sz="2400" dirty="0"/>
              </a:p>
            </p:txBody>
          </p:sp>
        </mc:Choice>
        <mc:Fallback xmlns="">
          <p:sp>
            <p:nvSpPr>
              <p:cNvPr id="18" name="文本框 17">
                <a:extLst>
                  <a:ext uri="{FF2B5EF4-FFF2-40B4-BE49-F238E27FC236}">
                    <a16:creationId xmlns:a16="http://schemas.microsoft.com/office/drawing/2014/main" id="{135CC055-45F3-7434-6FD2-1E262087D7D1}"/>
                  </a:ext>
                </a:extLst>
              </p:cNvPr>
              <p:cNvSpPr txBox="1">
                <a:spLocks noRot="1" noChangeAspect="1" noMove="1" noResize="1" noEditPoints="1" noAdjustHandles="1" noChangeArrowheads="1" noChangeShapeType="1" noTextEdit="1"/>
              </p:cNvSpPr>
              <p:nvPr/>
            </p:nvSpPr>
            <p:spPr>
              <a:xfrm>
                <a:off x="7549446" y="4365104"/>
                <a:ext cx="925114" cy="461665"/>
              </a:xfrm>
              <a:prstGeom prst="rect">
                <a:avLst/>
              </a:prstGeom>
              <a:blipFill>
                <a:blip r:embed="rId8"/>
                <a:stretch>
                  <a:fillRect t="-9211" r="-5263" b="-30263"/>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29932F44-1E71-1978-9377-680C5412865D}"/>
              </a:ext>
            </a:extLst>
          </p:cNvPr>
          <p:cNvSpPr>
            <a:spLocks noGrp="1"/>
          </p:cNvSpPr>
          <p:nvPr>
            <p:ph type="sldNum" sz="quarter" idx="12"/>
          </p:nvPr>
        </p:nvSpPr>
        <p:spPr/>
        <p:txBody>
          <a:bodyPr/>
          <a:lstStyle/>
          <a:p>
            <a:fld id="{76D830B0-DF59-4281-898F-AF208100B213}" type="slidenum">
              <a:rPr lang="en-US" altLang="zh-CN" smtClean="0"/>
              <a:pPr/>
              <a:t>7</a:t>
            </a:fld>
            <a:endParaRPr lang="en-US" altLang="zh-CN"/>
          </a:p>
        </p:txBody>
      </p:sp>
    </p:spTree>
    <p:extLst>
      <p:ext uri="{BB962C8B-B14F-4D97-AF65-F5344CB8AC3E}">
        <p14:creationId xmlns:p14="http://schemas.microsoft.com/office/powerpoint/2010/main" val="2200858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对象 8">
            <a:extLst>
              <a:ext uri="{FF2B5EF4-FFF2-40B4-BE49-F238E27FC236}">
                <a16:creationId xmlns:a16="http://schemas.microsoft.com/office/drawing/2014/main" id="{48F6130C-2D53-EABE-FD12-359BD6DD8C22}"/>
              </a:ext>
            </a:extLst>
          </p:cNvPr>
          <p:cNvGraphicFramePr>
            <a:graphicFrameLocks noChangeAspect="1"/>
          </p:cNvGraphicFramePr>
          <p:nvPr>
            <p:extLst>
              <p:ext uri="{D42A27DB-BD31-4B8C-83A1-F6EECF244321}">
                <p14:modId xmlns:p14="http://schemas.microsoft.com/office/powerpoint/2010/main" val="3051552838"/>
              </p:ext>
            </p:extLst>
          </p:nvPr>
        </p:nvGraphicFramePr>
        <p:xfrm>
          <a:off x="1056543" y="2008074"/>
          <a:ext cx="2638425" cy="2986088"/>
        </p:xfrm>
        <a:graphic>
          <a:graphicData uri="http://schemas.openxmlformats.org/presentationml/2006/ole">
            <mc:AlternateContent xmlns:mc="http://schemas.openxmlformats.org/markup-compatibility/2006">
              <mc:Choice xmlns:v="urn:schemas-microsoft-com:vml" Requires="v">
                <p:oleObj r:id="rId2" imgW="1785938" imgH="2020888" progId="MSDraw">
                  <p:embed/>
                </p:oleObj>
              </mc:Choice>
              <mc:Fallback>
                <p:oleObj r:id="rId2" imgW="1785938" imgH="2020888" progId="MSDraw">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543" y="2008074"/>
                        <a:ext cx="2638425" cy="2986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a:extLst>
              <a:ext uri="{FF2B5EF4-FFF2-40B4-BE49-F238E27FC236}">
                <a16:creationId xmlns:a16="http://schemas.microsoft.com/office/drawing/2014/main" id="{7781C128-D383-37E0-A9BB-9D01D8B052DE}"/>
              </a:ext>
            </a:extLst>
          </p:cNvPr>
          <p:cNvGraphicFramePr>
            <a:graphicFrameLocks noChangeAspect="1"/>
          </p:cNvGraphicFramePr>
          <p:nvPr>
            <p:extLst>
              <p:ext uri="{D42A27DB-BD31-4B8C-83A1-F6EECF244321}">
                <p14:modId xmlns:p14="http://schemas.microsoft.com/office/powerpoint/2010/main" val="2382417849"/>
              </p:ext>
            </p:extLst>
          </p:nvPr>
        </p:nvGraphicFramePr>
        <p:xfrm>
          <a:off x="5364088" y="2108087"/>
          <a:ext cx="2552700" cy="2886075"/>
        </p:xfrm>
        <a:graphic>
          <a:graphicData uri="http://schemas.openxmlformats.org/presentationml/2006/ole">
            <mc:AlternateContent xmlns:mc="http://schemas.openxmlformats.org/markup-compatibility/2006">
              <mc:Choice xmlns:v="urn:schemas-microsoft-com:vml" Requires="v">
                <p:oleObj r:id="rId4" imgW="1785938" imgH="2020888" progId="MSDraw">
                  <p:embed/>
                </p:oleObj>
              </mc:Choice>
              <mc:Fallback>
                <p:oleObj r:id="rId4" imgW="1785938" imgH="2020888" progId="MSDraw">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4088" y="2108087"/>
                        <a:ext cx="2552700" cy="2886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19C44593-64B8-819B-CD79-5D978CDAC351}"/>
                  </a:ext>
                </a:extLst>
              </p:cNvPr>
              <p:cNvSpPr txBox="1"/>
              <p:nvPr/>
            </p:nvSpPr>
            <p:spPr>
              <a:xfrm>
                <a:off x="1763688" y="1340768"/>
                <a:ext cx="1224136"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𝜔</m:t>
                    </m:r>
                    <m:r>
                      <a:rPr lang="zh-CN" altLang="en-US" sz="2400" i="1" smtClean="0">
                        <a:latin typeface="Cambria Math" panose="02040503050406030204" pitchFamily="18" charset="0"/>
                      </a:rPr>
                      <m:t>𝑡</m:t>
                    </m:r>
                  </m:oMath>
                </a14:m>
                <a:r>
                  <a:rPr lang="en-US" altLang="zh-CN" sz="2400" dirty="0">
                    <a:latin typeface="Times New Roman" panose="02020603050405020304" pitchFamily="18" charset="0"/>
                    <a:cs typeface="Times New Roman" panose="02020603050405020304" pitchFamily="18" charset="0"/>
                  </a:rPr>
                  <a:t>=</a:t>
                </a:r>
                <a:r>
                  <a:rPr lang="el-GR" altLang="zh-CN" sz="2400" dirty="0">
                    <a:latin typeface="Times New Roman" panose="02020603050405020304" pitchFamily="18" charset="0"/>
                    <a:cs typeface="Times New Roman" panose="02020603050405020304" pitchFamily="18" charset="0"/>
                  </a:rPr>
                  <a:t>π</a:t>
                </a:r>
                <a:r>
                  <a:rPr lang="en-US" altLang="zh-CN" sz="2400" dirty="0">
                    <a:latin typeface="Times New Roman" panose="02020603050405020304" pitchFamily="18" charset="0"/>
                    <a:cs typeface="Times New Roman" panose="02020603050405020304" pitchFamily="18" charset="0"/>
                  </a:rPr>
                  <a:t>/3</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20" name="文本框 19">
                <a:extLst>
                  <a:ext uri="{FF2B5EF4-FFF2-40B4-BE49-F238E27FC236}">
                    <a16:creationId xmlns:a16="http://schemas.microsoft.com/office/drawing/2014/main" id="{19C44593-64B8-819B-CD79-5D978CDAC351}"/>
                  </a:ext>
                </a:extLst>
              </p:cNvPr>
              <p:cNvSpPr txBox="1">
                <a:spLocks noRot="1" noChangeAspect="1" noMove="1" noResize="1" noEditPoints="1" noAdjustHandles="1" noChangeArrowheads="1" noChangeShapeType="1" noTextEdit="1"/>
              </p:cNvSpPr>
              <p:nvPr/>
            </p:nvSpPr>
            <p:spPr>
              <a:xfrm>
                <a:off x="1763688" y="1340768"/>
                <a:ext cx="1224136" cy="461665"/>
              </a:xfrm>
              <a:prstGeom prst="rect">
                <a:avLst/>
              </a:prstGeom>
              <a:blipFill>
                <a:blip r:embed="rId6"/>
                <a:stretch>
                  <a:fillRect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EC97343E-DEE9-49B5-C8B7-DD9FD88A3A26}"/>
                  </a:ext>
                </a:extLst>
              </p:cNvPr>
              <p:cNvSpPr txBox="1"/>
              <p:nvPr/>
            </p:nvSpPr>
            <p:spPr>
              <a:xfrm>
                <a:off x="6012160" y="1383159"/>
                <a:ext cx="1512168"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𝜔</m:t>
                    </m:r>
                    <m:r>
                      <a:rPr lang="zh-CN" altLang="en-US" sz="2400" i="1" smtClean="0">
                        <a:latin typeface="Cambria Math" panose="02040503050406030204" pitchFamily="18" charset="0"/>
                      </a:rPr>
                      <m:t>𝑡</m:t>
                    </m:r>
                  </m:oMath>
                </a14:m>
                <a:r>
                  <a:rPr lang="en-US" altLang="zh-CN" sz="2400" dirty="0">
                    <a:latin typeface="Times New Roman" panose="02020603050405020304" pitchFamily="18" charset="0"/>
                    <a:cs typeface="Times New Roman" panose="02020603050405020304" pitchFamily="18" charset="0"/>
                  </a:rPr>
                  <a:t>=2</a:t>
                </a:r>
                <a:r>
                  <a:rPr lang="el-GR" altLang="zh-CN" sz="2400" dirty="0">
                    <a:latin typeface="Times New Roman" panose="02020603050405020304" pitchFamily="18" charset="0"/>
                    <a:cs typeface="Times New Roman" panose="02020603050405020304" pitchFamily="18" charset="0"/>
                  </a:rPr>
                  <a:t>π</a:t>
                </a:r>
                <a:r>
                  <a:rPr lang="en-US" altLang="zh-CN" sz="2400" dirty="0">
                    <a:latin typeface="Times New Roman" panose="02020603050405020304" pitchFamily="18" charset="0"/>
                    <a:cs typeface="Times New Roman" panose="02020603050405020304" pitchFamily="18" charset="0"/>
                  </a:rPr>
                  <a:t>/3</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24" name="文本框 23">
                <a:extLst>
                  <a:ext uri="{FF2B5EF4-FFF2-40B4-BE49-F238E27FC236}">
                    <a16:creationId xmlns:a16="http://schemas.microsoft.com/office/drawing/2014/main" id="{EC97343E-DEE9-49B5-C8B7-DD9FD88A3A26}"/>
                  </a:ext>
                </a:extLst>
              </p:cNvPr>
              <p:cNvSpPr txBox="1">
                <a:spLocks noRot="1" noChangeAspect="1" noMove="1" noResize="1" noEditPoints="1" noAdjustHandles="1" noChangeArrowheads="1" noChangeShapeType="1" noTextEdit="1"/>
              </p:cNvSpPr>
              <p:nvPr/>
            </p:nvSpPr>
            <p:spPr>
              <a:xfrm>
                <a:off x="6012160" y="1383159"/>
                <a:ext cx="1512168" cy="461665"/>
              </a:xfrm>
              <a:prstGeom prst="rect">
                <a:avLst/>
              </a:prstGeom>
              <a:blipFill>
                <a:blip r:embed="rId7"/>
                <a:stretch>
                  <a:fillRect t="-10526" b="-28947"/>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6EA886B5-0C2C-E811-6535-8C76D1162F5C}"/>
              </a:ext>
            </a:extLst>
          </p:cNvPr>
          <p:cNvSpPr txBox="1"/>
          <p:nvPr/>
        </p:nvSpPr>
        <p:spPr>
          <a:xfrm>
            <a:off x="1187624" y="5291970"/>
            <a:ext cx="2736304" cy="707886"/>
          </a:xfrm>
          <a:prstGeom prst="rect">
            <a:avLst/>
          </a:prstGeom>
          <a:noFill/>
        </p:spPr>
        <p:txBody>
          <a:bodyPr wrap="square" rtlCol="0">
            <a:spAutoFit/>
          </a:bodyPr>
          <a:lstStyle/>
          <a:p>
            <a:r>
              <a:rPr lang="zh-CN" altLang="en-US" sz="2000" b="1" dirty="0">
                <a:latin typeface="黑体" panose="02010609060101010101" pitchFamily="49" charset="-122"/>
                <a:ea typeface="黑体" panose="02010609060101010101" pitchFamily="49" charset="-122"/>
              </a:rPr>
              <a:t>相当于磁极</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旋转了</a:t>
            </a:r>
            <a:r>
              <a:rPr lang="el-GR" altLang="zh-CN" sz="2000" b="1" dirty="0">
                <a:latin typeface="Times New Roman" panose="02020603050405020304" pitchFamily="18" charset="0"/>
                <a:ea typeface="黑体" panose="02010609060101010101" pitchFamily="49" charset="-122"/>
                <a:cs typeface="Times New Roman" panose="02020603050405020304" pitchFamily="18" charset="0"/>
              </a:rPr>
              <a:t>π</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电角度</a:t>
            </a:r>
          </a:p>
        </p:txBody>
      </p:sp>
      <p:sp>
        <p:nvSpPr>
          <p:cNvPr id="27" name="文本框 26">
            <a:extLst>
              <a:ext uri="{FF2B5EF4-FFF2-40B4-BE49-F238E27FC236}">
                <a16:creationId xmlns:a16="http://schemas.microsoft.com/office/drawing/2014/main" id="{228636FC-2C4D-180F-A95C-348667246753}"/>
              </a:ext>
            </a:extLst>
          </p:cNvPr>
          <p:cNvSpPr txBox="1"/>
          <p:nvPr/>
        </p:nvSpPr>
        <p:spPr>
          <a:xfrm>
            <a:off x="5292080" y="5291970"/>
            <a:ext cx="2840732" cy="707886"/>
          </a:xfrm>
          <a:prstGeom prst="rect">
            <a:avLst/>
          </a:prstGeom>
          <a:noFill/>
        </p:spPr>
        <p:txBody>
          <a:bodyPr wrap="square" rtlCol="0">
            <a:spAutoFit/>
          </a:bodyPr>
          <a:lstStyle/>
          <a:p>
            <a:r>
              <a:rPr lang="zh-CN" altLang="en-US" sz="2000" b="1" dirty="0">
                <a:latin typeface="黑体" panose="02010609060101010101" pitchFamily="49" charset="-122"/>
                <a:ea typeface="黑体" panose="02010609060101010101" pitchFamily="49" charset="-122"/>
              </a:rPr>
              <a:t>相当于磁极旋转了</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2</a:t>
            </a:r>
            <a:r>
              <a:rPr lang="el-GR" altLang="zh-CN" sz="2000" b="1" dirty="0">
                <a:latin typeface="Times New Roman" panose="02020603050405020304" pitchFamily="18" charset="0"/>
                <a:ea typeface="黑体" panose="02010609060101010101" pitchFamily="49" charset="-122"/>
                <a:cs typeface="Times New Roman" panose="02020603050405020304" pitchFamily="18" charset="0"/>
              </a:rPr>
              <a:t>π</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000" b="1" dirty="0">
                <a:latin typeface="黑体" panose="02010609060101010101" pitchFamily="49" charset="-122"/>
                <a:ea typeface="黑体" panose="02010609060101010101" pitchFamily="49" charset="-122"/>
                <a:cs typeface="Times New Roman" panose="02020603050405020304" pitchFamily="18" charset="0"/>
              </a:rPr>
              <a:t>电角度</a:t>
            </a:r>
            <a:endParaRPr lang="zh-CN" altLang="en-US" sz="2000" b="1" dirty="0">
              <a:latin typeface="黑体" panose="02010609060101010101" pitchFamily="49" charset="-122"/>
              <a:ea typeface="黑体" panose="02010609060101010101" pitchFamily="49" charset="-122"/>
            </a:endParaRPr>
          </a:p>
        </p:txBody>
      </p:sp>
      <p:sp>
        <p:nvSpPr>
          <p:cNvPr id="3" name="灯片编号占位符 2">
            <a:extLst>
              <a:ext uri="{FF2B5EF4-FFF2-40B4-BE49-F238E27FC236}">
                <a16:creationId xmlns:a16="http://schemas.microsoft.com/office/drawing/2014/main" id="{FE2FBB1A-CE56-95A4-961B-0D06CAAE8309}"/>
              </a:ext>
            </a:extLst>
          </p:cNvPr>
          <p:cNvSpPr>
            <a:spLocks noGrp="1"/>
          </p:cNvSpPr>
          <p:nvPr>
            <p:ph type="sldNum" sz="quarter" idx="12"/>
          </p:nvPr>
        </p:nvSpPr>
        <p:spPr/>
        <p:txBody>
          <a:bodyPr/>
          <a:lstStyle/>
          <a:p>
            <a:fld id="{76D830B0-DF59-4281-898F-AF208100B213}" type="slidenum">
              <a:rPr lang="en-US" altLang="zh-CN" smtClean="0"/>
              <a:pPr/>
              <a:t>8</a:t>
            </a:fld>
            <a:endParaRPr lang="en-US" altLang="zh-CN"/>
          </a:p>
        </p:txBody>
      </p:sp>
    </p:spTree>
    <p:extLst>
      <p:ext uri="{BB962C8B-B14F-4D97-AF65-F5344CB8AC3E}">
        <p14:creationId xmlns:p14="http://schemas.microsoft.com/office/powerpoint/2010/main" val="1820548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对象 13">
            <a:extLst>
              <a:ext uri="{FF2B5EF4-FFF2-40B4-BE49-F238E27FC236}">
                <a16:creationId xmlns:a16="http://schemas.microsoft.com/office/drawing/2014/main" id="{034A6352-F47A-987F-E442-C1A567B70FAA}"/>
              </a:ext>
            </a:extLst>
          </p:cNvPr>
          <p:cNvGraphicFramePr>
            <a:graphicFrameLocks noChangeAspect="1"/>
          </p:cNvGraphicFramePr>
          <p:nvPr>
            <p:extLst>
              <p:ext uri="{D42A27DB-BD31-4B8C-83A1-F6EECF244321}">
                <p14:modId xmlns:p14="http://schemas.microsoft.com/office/powerpoint/2010/main" val="3412508252"/>
              </p:ext>
            </p:extLst>
          </p:nvPr>
        </p:nvGraphicFramePr>
        <p:xfrm>
          <a:off x="395536" y="1844824"/>
          <a:ext cx="2524125" cy="2905125"/>
        </p:xfrm>
        <a:graphic>
          <a:graphicData uri="http://schemas.openxmlformats.org/presentationml/2006/ole">
            <mc:AlternateContent xmlns:mc="http://schemas.openxmlformats.org/markup-compatibility/2006">
              <mc:Choice xmlns:v="urn:schemas-microsoft-com:vml" Requires="v">
                <p:oleObj r:id="rId2" imgW="1701800" imgH="1962150" progId="MSDraw">
                  <p:embed/>
                </p:oleObj>
              </mc:Choice>
              <mc:Fallback>
                <p:oleObj r:id="rId2" imgW="1701800" imgH="1962150" progId="MSDraw">
                  <p:embed/>
                  <p:pic>
                    <p:nvPicPr>
                      <p:cNvPr id="14" name="对象 13">
                        <a:extLst>
                          <a:ext uri="{FF2B5EF4-FFF2-40B4-BE49-F238E27FC236}">
                            <a16:creationId xmlns:a16="http://schemas.microsoft.com/office/drawing/2014/main" id="{034A6352-F47A-987F-E442-C1A567B70F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844824"/>
                        <a:ext cx="2524125" cy="290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a:extLst>
              <a:ext uri="{FF2B5EF4-FFF2-40B4-BE49-F238E27FC236}">
                <a16:creationId xmlns:a16="http://schemas.microsoft.com/office/drawing/2014/main" id="{472FF65D-0173-F14D-9551-BA10C0D323D2}"/>
              </a:ext>
            </a:extLst>
          </p:cNvPr>
          <p:cNvGraphicFramePr>
            <a:graphicFrameLocks noChangeAspect="1"/>
          </p:cNvGraphicFramePr>
          <p:nvPr>
            <p:extLst>
              <p:ext uri="{D42A27DB-BD31-4B8C-83A1-F6EECF244321}">
                <p14:modId xmlns:p14="http://schemas.microsoft.com/office/powerpoint/2010/main" val="1946495064"/>
              </p:ext>
            </p:extLst>
          </p:nvPr>
        </p:nvGraphicFramePr>
        <p:xfrm>
          <a:off x="3189843" y="1635000"/>
          <a:ext cx="2505075" cy="3205163"/>
        </p:xfrm>
        <a:graphic>
          <a:graphicData uri="http://schemas.openxmlformats.org/presentationml/2006/ole">
            <mc:AlternateContent xmlns:mc="http://schemas.openxmlformats.org/markup-compatibility/2006">
              <mc:Choice xmlns:v="urn:schemas-microsoft-com:vml" Requires="v">
                <p:oleObj r:id="rId4" imgW="1701800" imgH="2179638" progId="MSDraw">
                  <p:embed/>
                </p:oleObj>
              </mc:Choice>
              <mc:Fallback>
                <p:oleObj r:id="rId4" imgW="1701800" imgH="2179638" progId="MSDraw">
                  <p:embed/>
                  <p:pic>
                    <p:nvPicPr>
                      <p:cNvPr id="16" name="对象 15">
                        <a:extLst>
                          <a:ext uri="{FF2B5EF4-FFF2-40B4-BE49-F238E27FC236}">
                            <a16:creationId xmlns:a16="http://schemas.microsoft.com/office/drawing/2014/main" id="{472FF65D-0173-F14D-9551-BA10C0D323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89843" y="1635000"/>
                        <a:ext cx="2505075" cy="3205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a:extLst>
              <a:ext uri="{FF2B5EF4-FFF2-40B4-BE49-F238E27FC236}">
                <a16:creationId xmlns:a16="http://schemas.microsoft.com/office/drawing/2014/main" id="{B4775805-B32F-0C3C-B00D-4EBA6D3725AF}"/>
              </a:ext>
            </a:extLst>
          </p:cNvPr>
          <p:cNvGraphicFramePr>
            <a:graphicFrameLocks noChangeAspect="1"/>
          </p:cNvGraphicFramePr>
          <p:nvPr>
            <p:extLst>
              <p:ext uri="{D42A27DB-BD31-4B8C-83A1-F6EECF244321}">
                <p14:modId xmlns:p14="http://schemas.microsoft.com/office/powerpoint/2010/main" val="1573578597"/>
              </p:ext>
            </p:extLst>
          </p:nvPr>
        </p:nvGraphicFramePr>
        <p:xfrm>
          <a:off x="5965100" y="1900237"/>
          <a:ext cx="2700338" cy="3057525"/>
        </p:xfrm>
        <a:graphic>
          <a:graphicData uri="http://schemas.openxmlformats.org/presentationml/2006/ole">
            <mc:AlternateContent xmlns:mc="http://schemas.openxmlformats.org/markup-compatibility/2006">
              <mc:Choice xmlns:v="urn:schemas-microsoft-com:vml" Requires="v">
                <p:oleObj r:id="rId6" imgW="1789113" imgH="2027238" progId="MSDraw">
                  <p:embed/>
                </p:oleObj>
              </mc:Choice>
              <mc:Fallback>
                <p:oleObj r:id="rId6" imgW="1789113" imgH="2027238" progId="MSDraw">
                  <p:embed/>
                  <p:pic>
                    <p:nvPicPr>
                      <p:cNvPr id="18" name="对象 17">
                        <a:extLst>
                          <a:ext uri="{FF2B5EF4-FFF2-40B4-BE49-F238E27FC236}">
                            <a16:creationId xmlns:a16="http://schemas.microsoft.com/office/drawing/2014/main" id="{B4775805-B32F-0C3C-B00D-4EBA6D3725A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65100" y="1900237"/>
                        <a:ext cx="2700338" cy="305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98B5951-108E-58E7-5D7D-4A83C058586B}"/>
                  </a:ext>
                </a:extLst>
              </p:cNvPr>
              <p:cNvSpPr txBox="1"/>
              <p:nvPr/>
            </p:nvSpPr>
            <p:spPr>
              <a:xfrm>
                <a:off x="1218548" y="1268760"/>
                <a:ext cx="1049196"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𝜔</m:t>
                    </m:r>
                    <m:r>
                      <a:rPr lang="zh-CN" altLang="en-US" sz="2400" i="1" smtClean="0">
                        <a:latin typeface="Cambria Math" panose="02040503050406030204" pitchFamily="18" charset="0"/>
                      </a:rPr>
                      <m:t>𝑡</m:t>
                    </m:r>
                  </m:oMath>
                </a14:m>
                <a:r>
                  <a:rPr lang="en-US" altLang="zh-CN" sz="2400" dirty="0">
                    <a:latin typeface="Times New Roman" panose="02020603050405020304" pitchFamily="18" charset="0"/>
                    <a:cs typeface="Times New Roman" panose="02020603050405020304" pitchFamily="18" charset="0"/>
                  </a:rPr>
                  <a:t>=</a:t>
                </a:r>
                <a:r>
                  <a:rPr lang="el-GR" altLang="zh-CN" sz="2400" dirty="0">
                    <a:latin typeface="Times New Roman" panose="02020603050405020304" pitchFamily="18" charset="0"/>
                    <a:cs typeface="Times New Roman" panose="02020603050405020304" pitchFamily="18" charset="0"/>
                  </a:rPr>
                  <a:t>π</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698B5951-108E-58E7-5D7D-4A83C058586B}"/>
                  </a:ext>
                </a:extLst>
              </p:cNvPr>
              <p:cNvSpPr txBox="1">
                <a:spLocks noRot="1" noChangeAspect="1" noMove="1" noResize="1" noEditPoints="1" noAdjustHandles="1" noChangeArrowheads="1" noChangeShapeType="1" noTextEdit="1"/>
              </p:cNvSpPr>
              <p:nvPr/>
            </p:nvSpPr>
            <p:spPr>
              <a:xfrm>
                <a:off x="1218548" y="1268760"/>
                <a:ext cx="1049196" cy="461665"/>
              </a:xfrm>
              <a:prstGeom prst="rect">
                <a:avLst/>
              </a:prstGeom>
              <a:blipFill>
                <a:blip r:embed="rId8"/>
                <a:stretch>
                  <a:fillRect l="-581"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F3058D3-AF93-530F-B816-C0D6A046BB1A}"/>
                  </a:ext>
                </a:extLst>
              </p:cNvPr>
              <p:cNvSpPr txBox="1"/>
              <p:nvPr/>
            </p:nvSpPr>
            <p:spPr>
              <a:xfrm>
                <a:off x="3779912" y="1278345"/>
                <a:ext cx="1296144"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𝜔</m:t>
                    </m:r>
                    <m:r>
                      <a:rPr lang="zh-CN" altLang="en-US" sz="2400" i="1" smtClean="0">
                        <a:latin typeface="Cambria Math" panose="02040503050406030204" pitchFamily="18" charset="0"/>
                      </a:rPr>
                      <m:t>𝑡</m:t>
                    </m:r>
                  </m:oMath>
                </a14:m>
                <a:r>
                  <a:rPr lang="en-US" altLang="zh-CN" sz="2400" dirty="0">
                    <a:latin typeface="Times New Roman" panose="02020603050405020304" pitchFamily="18" charset="0"/>
                    <a:cs typeface="Times New Roman" panose="02020603050405020304" pitchFamily="18" charset="0"/>
                  </a:rPr>
                  <a:t>=4</a:t>
                </a:r>
                <a:r>
                  <a:rPr lang="el-GR" altLang="zh-CN" sz="2400" dirty="0">
                    <a:latin typeface="Times New Roman" panose="02020603050405020304" pitchFamily="18" charset="0"/>
                    <a:cs typeface="Times New Roman" panose="02020603050405020304" pitchFamily="18" charset="0"/>
                  </a:rPr>
                  <a:t>π</a:t>
                </a:r>
                <a:r>
                  <a:rPr lang="en-US" altLang="zh-CN" sz="2400" dirty="0">
                    <a:latin typeface="Times New Roman" panose="02020603050405020304" pitchFamily="18" charset="0"/>
                    <a:cs typeface="Times New Roman" panose="02020603050405020304" pitchFamily="18" charset="0"/>
                  </a:rPr>
                  <a:t>/3</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DF3058D3-AF93-530F-B816-C0D6A046BB1A}"/>
                  </a:ext>
                </a:extLst>
              </p:cNvPr>
              <p:cNvSpPr txBox="1">
                <a:spLocks noRot="1" noChangeAspect="1" noMove="1" noResize="1" noEditPoints="1" noAdjustHandles="1" noChangeArrowheads="1" noChangeShapeType="1" noTextEdit="1"/>
              </p:cNvSpPr>
              <p:nvPr/>
            </p:nvSpPr>
            <p:spPr>
              <a:xfrm>
                <a:off x="3779912" y="1278345"/>
                <a:ext cx="1296144" cy="461665"/>
              </a:xfrm>
              <a:prstGeom prst="rect">
                <a:avLst/>
              </a:prstGeom>
              <a:blipFill>
                <a:blip r:embed="rId9"/>
                <a:stretch>
                  <a:fillRect t="-10667" r="-3286" b="-30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F3F0746-EB84-99C6-72ED-1662DF747C0C}"/>
                  </a:ext>
                </a:extLst>
              </p:cNvPr>
              <p:cNvSpPr txBox="1"/>
              <p:nvPr/>
            </p:nvSpPr>
            <p:spPr>
              <a:xfrm>
                <a:off x="6775038" y="1340768"/>
                <a:ext cx="1296144"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𝜔</m:t>
                    </m:r>
                    <m:r>
                      <a:rPr lang="zh-CN" altLang="en-US" sz="2400" i="1" smtClean="0">
                        <a:latin typeface="Cambria Math" panose="02040503050406030204" pitchFamily="18" charset="0"/>
                      </a:rPr>
                      <m:t>𝑡</m:t>
                    </m:r>
                  </m:oMath>
                </a14:m>
                <a:r>
                  <a:rPr lang="en-US" altLang="zh-CN" sz="2400" dirty="0">
                    <a:latin typeface="Times New Roman" panose="02020603050405020304" pitchFamily="18" charset="0"/>
                    <a:cs typeface="Times New Roman" panose="02020603050405020304" pitchFamily="18" charset="0"/>
                  </a:rPr>
                  <a:t>=5</a:t>
                </a:r>
                <a:r>
                  <a:rPr lang="el-GR" altLang="zh-CN" sz="2400" dirty="0">
                    <a:latin typeface="Times New Roman" panose="02020603050405020304" pitchFamily="18" charset="0"/>
                    <a:cs typeface="Times New Roman" panose="02020603050405020304" pitchFamily="18" charset="0"/>
                  </a:rPr>
                  <a:t>π</a:t>
                </a:r>
                <a:r>
                  <a:rPr lang="en-US" altLang="zh-CN" sz="2400" dirty="0">
                    <a:latin typeface="Times New Roman" panose="02020603050405020304" pitchFamily="18" charset="0"/>
                    <a:cs typeface="Times New Roman" panose="02020603050405020304" pitchFamily="18" charset="0"/>
                  </a:rPr>
                  <a:t>/3</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3F3F0746-EB84-99C6-72ED-1662DF747C0C}"/>
                  </a:ext>
                </a:extLst>
              </p:cNvPr>
              <p:cNvSpPr txBox="1">
                <a:spLocks noRot="1" noChangeAspect="1" noMove="1" noResize="1" noEditPoints="1" noAdjustHandles="1" noChangeArrowheads="1" noChangeShapeType="1" noTextEdit="1"/>
              </p:cNvSpPr>
              <p:nvPr/>
            </p:nvSpPr>
            <p:spPr>
              <a:xfrm>
                <a:off x="6775038" y="1340768"/>
                <a:ext cx="1296144" cy="461665"/>
              </a:xfrm>
              <a:prstGeom prst="rect">
                <a:avLst/>
              </a:prstGeom>
              <a:blipFill>
                <a:blip r:embed="rId10"/>
                <a:stretch>
                  <a:fillRect t="-10526" r="-3286" b="-28947"/>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1B7AD917-7CF5-1EF0-274A-20E6421FAF7A}"/>
              </a:ext>
            </a:extLst>
          </p:cNvPr>
          <p:cNvSpPr txBox="1"/>
          <p:nvPr/>
        </p:nvSpPr>
        <p:spPr>
          <a:xfrm>
            <a:off x="611560" y="4941168"/>
            <a:ext cx="2035048" cy="707886"/>
          </a:xfrm>
          <a:prstGeom prst="rect">
            <a:avLst/>
          </a:prstGeom>
          <a:noFill/>
        </p:spPr>
        <p:txBody>
          <a:bodyPr wrap="square" rtlCol="0">
            <a:spAutoFit/>
          </a:bodyPr>
          <a:lstStyle/>
          <a:p>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相当于磁极旋转了</a:t>
            </a:r>
            <a:r>
              <a:rPr lang="el-GR" altLang="zh-CN" sz="2000" b="1" dirty="0">
                <a:latin typeface="Times New Roman" panose="02020603050405020304" pitchFamily="18" charset="0"/>
                <a:ea typeface="黑体" panose="02010609060101010101" pitchFamily="49" charset="-122"/>
                <a:cs typeface="Times New Roman" panose="02020603050405020304" pitchFamily="18" charset="0"/>
              </a:rPr>
              <a:t>π</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电</a:t>
            </a:r>
            <a:r>
              <a:rPr lang="zh-CN" altLang="en-US" sz="2000" b="1" dirty="0">
                <a:latin typeface="黑体" panose="02010609060101010101" pitchFamily="49" charset="-122"/>
                <a:ea typeface="黑体" panose="02010609060101010101" pitchFamily="49" charset="-122"/>
                <a:cs typeface="Times New Roman" panose="02020603050405020304" pitchFamily="18" charset="0"/>
              </a:rPr>
              <a:t>角度</a:t>
            </a:r>
            <a:endParaRPr lang="zh-CN" altLang="en-US" sz="2000" b="1" dirty="0">
              <a:latin typeface="黑体" panose="02010609060101010101" pitchFamily="49" charset="-122"/>
              <a:ea typeface="黑体" panose="02010609060101010101" pitchFamily="49" charset="-122"/>
            </a:endParaRPr>
          </a:p>
        </p:txBody>
      </p:sp>
      <p:sp>
        <p:nvSpPr>
          <p:cNvPr id="13" name="文本框 12">
            <a:extLst>
              <a:ext uri="{FF2B5EF4-FFF2-40B4-BE49-F238E27FC236}">
                <a16:creationId xmlns:a16="http://schemas.microsoft.com/office/drawing/2014/main" id="{3A43382A-95D4-1DE4-0874-01DAD363474C}"/>
              </a:ext>
            </a:extLst>
          </p:cNvPr>
          <p:cNvSpPr txBox="1"/>
          <p:nvPr/>
        </p:nvSpPr>
        <p:spPr>
          <a:xfrm>
            <a:off x="3419872" y="4960903"/>
            <a:ext cx="2160240" cy="707886"/>
          </a:xfrm>
          <a:prstGeom prst="rect">
            <a:avLst/>
          </a:prstGeom>
          <a:noFill/>
        </p:spPr>
        <p:txBody>
          <a:bodyPr wrap="square" rtlCol="0">
            <a:spAutoFit/>
          </a:bodyPr>
          <a:lstStyle/>
          <a:p>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相当于磁极旋转了</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4</a:t>
            </a:r>
            <a:r>
              <a:rPr lang="el-GR" altLang="zh-CN" sz="2000" b="1" dirty="0">
                <a:latin typeface="Times New Roman" panose="02020603050405020304" pitchFamily="18" charset="0"/>
                <a:ea typeface="黑体" panose="02010609060101010101" pitchFamily="49" charset="-122"/>
                <a:cs typeface="Times New Roman" panose="02020603050405020304" pitchFamily="18" charset="0"/>
              </a:rPr>
              <a:t>π</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000" b="1" dirty="0">
                <a:latin typeface="黑体" panose="02010609060101010101" pitchFamily="49" charset="-122"/>
                <a:ea typeface="黑体" panose="02010609060101010101" pitchFamily="49" charset="-122"/>
                <a:cs typeface="Times New Roman" panose="02020603050405020304" pitchFamily="18" charset="0"/>
              </a:rPr>
              <a:t>电角度</a:t>
            </a:r>
            <a:endParaRPr lang="zh-CN" altLang="en-US" sz="2000" b="1" dirty="0">
              <a:latin typeface="黑体" panose="02010609060101010101" pitchFamily="49" charset="-122"/>
              <a:ea typeface="黑体" panose="02010609060101010101" pitchFamily="49" charset="-122"/>
            </a:endParaRPr>
          </a:p>
        </p:txBody>
      </p:sp>
      <p:sp>
        <p:nvSpPr>
          <p:cNvPr id="17" name="文本框 16">
            <a:extLst>
              <a:ext uri="{FF2B5EF4-FFF2-40B4-BE49-F238E27FC236}">
                <a16:creationId xmlns:a16="http://schemas.microsoft.com/office/drawing/2014/main" id="{FF87FA23-35C3-8D81-94A6-75A81A3D3FF8}"/>
              </a:ext>
            </a:extLst>
          </p:cNvPr>
          <p:cNvSpPr txBox="1"/>
          <p:nvPr/>
        </p:nvSpPr>
        <p:spPr>
          <a:xfrm>
            <a:off x="6320042" y="4960903"/>
            <a:ext cx="2160240" cy="707886"/>
          </a:xfrm>
          <a:prstGeom prst="rect">
            <a:avLst/>
          </a:prstGeom>
          <a:noFill/>
        </p:spPr>
        <p:txBody>
          <a:bodyPr wrap="square" rtlCol="0">
            <a:spAutoFit/>
          </a:bodyPr>
          <a:lstStyle/>
          <a:p>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相当于磁极旋转了</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5</a:t>
            </a:r>
            <a:r>
              <a:rPr lang="el-GR" altLang="zh-CN" sz="2000" b="1" dirty="0">
                <a:latin typeface="Times New Roman" panose="02020603050405020304" pitchFamily="18" charset="0"/>
                <a:ea typeface="黑体" panose="02010609060101010101" pitchFamily="49" charset="-122"/>
                <a:cs typeface="Times New Roman" panose="02020603050405020304" pitchFamily="18" charset="0"/>
              </a:rPr>
              <a:t>π</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电</a:t>
            </a:r>
            <a:r>
              <a:rPr lang="zh-CN" altLang="en-US" sz="2000" b="1" dirty="0">
                <a:latin typeface="黑体" panose="02010609060101010101" pitchFamily="49" charset="-122"/>
                <a:ea typeface="黑体" panose="02010609060101010101" pitchFamily="49" charset="-122"/>
                <a:cs typeface="Times New Roman" panose="02020603050405020304" pitchFamily="18" charset="0"/>
              </a:rPr>
              <a:t>角度</a:t>
            </a:r>
            <a:endParaRPr lang="zh-CN" altLang="en-US" sz="2000" b="1" dirty="0">
              <a:latin typeface="黑体" panose="02010609060101010101" pitchFamily="49" charset="-122"/>
              <a:ea typeface="黑体" panose="02010609060101010101" pitchFamily="49" charset="-122"/>
            </a:endParaRPr>
          </a:p>
        </p:txBody>
      </p:sp>
      <p:sp>
        <p:nvSpPr>
          <p:cNvPr id="4" name="灯片编号占位符 3">
            <a:extLst>
              <a:ext uri="{FF2B5EF4-FFF2-40B4-BE49-F238E27FC236}">
                <a16:creationId xmlns:a16="http://schemas.microsoft.com/office/drawing/2014/main" id="{704BEBD6-87C6-6008-B758-F161865EE876}"/>
              </a:ext>
            </a:extLst>
          </p:cNvPr>
          <p:cNvSpPr>
            <a:spLocks noGrp="1"/>
          </p:cNvSpPr>
          <p:nvPr>
            <p:ph type="sldNum" sz="quarter" idx="12"/>
          </p:nvPr>
        </p:nvSpPr>
        <p:spPr/>
        <p:txBody>
          <a:bodyPr/>
          <a:lstStyle/>
          <a:p>
            <a:fld id="{76D830B0-DF59-4281-898F-AF208100B213}" type="slidenum">
              <a:rPr lang="en-US" altLang="zh-CN" smtClean="0"/>
              <a:pPr/>
              <a:t>9</a:t>
            </a:fld>
            <a:endParaRPr lang="en-US" altLang="zh-CN"/>
          </a:p>
        </p:txBody>
      </p:sp>
    </p:spTree>
    <p:extLst>
      <p:ext uri="{BB962C8B-B14F-4D97-AF65-F5344CB8AC3E}">
        <p14:creationId xmlns:p14="http://schemas.microsoft.com/office/powerpoint/2010/main" val="10598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EBAF58E-E39B-4DDA-2E65-6882D7088058}"/>
              </a:ext>
            </a:extLst>
          </p:cNvPr>
          <p:cNvSpPr>
            <a:spLocks noChangeArrowheads="1"/>
          </p:cNvSpPr>
          <p:nvPr/>
        </p:nvSpPr>
        <p:spPr bwMode="auto">
          <a:xfrm>
            <a:off x="611560" y="1052736"/>
            <a:ext cx="7920880" cy="4454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结论：</a:t>
            </a:r>
            <a:endParaRPr kumimoji="0" lang="en-US"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algn="l">
              <a:lnSpc>
                <a:spcPct val="150000"/>
              </a:lnSpc>
            </a:pPr>
            <a:r>
              <a:rPr kumimoji="0" lang="en-US" altLang="zh-CN"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a:t>
            </a:r>
            <a:r>
              <a:rPr lang="zh-CN" altLang="zh-CN" sz="2400" b="1" kern="100" dirty="0">
                <a:solidFill>
                  <a:srgbClr val="000000"/>
                </a:solidFill>
                <a:effectLst/>
                <a:latin typeface="Times New Roman" panose="02020603050405020304" pitchFamily="18" charset="0"/>
                <a:ea typeface="黑体" panose="02010609060101010101" pitchFamily="49" charset="-122"/>
              </a:rPr>
              <a:t>空间</a:t>
            </a:r>
            <a:r>
              <a:rPr lang="en-US" altLang="zh-CN" sz="2400" b="1" kern="100" dirty="0">
                <a:solidFill>
                  <a:srgbClr val="000000"/>
                </a:solidFill>
                <a:effectLst/>
                <a:latin typeface="Times New Roman" panose="02020603050405020304" pitchFamily="18" charset="0"/>
                <a:ea typeface="黑体" panose="02010609060101010101" pitchFamily="49" charset="-122"/>
              </a:rPr>
              <a:t>120</a:t>
            </a:r>
            <a:r>
              <a:rPr lang="zh-CN" altLang="zh-CN" sz="2400" b="1" kern="100" dirty="0">
                <a:solidFill>
                  <a:srgbClr val="000000"/>
                </a:solidFill>
                <a:effectLst/>
                <a:latin typeface="Times New Roman" panose="02020603050405020304" pitchFamily="18" charset="0"/>
                <a:ea typeface="黑体" panose="02010609060101010101" pitchFamily="49" charset="-122"/>
              </a:rPr>
              <a:t>度 对称分布的三相绕组</a:t>
            </a:r>
            <a:r>
              <a:rPr lang="zh-CN" altLang="en-US" sz="2400" b="1" kern="100" dirty="0">
                <a:solidFill>
                  <a:srgbClr val="00B050"/>
                </a:solidFill>
                <a:effectLst/>
                <a:latin typeface="Times New Roman" panose="02020603050405020304" pitchFamily="18" charset="0"/>
                <a:ea typeface="黑体" panose="02010609060101010101" pitchFamily="49" charset="-122"/>
              </a:rPr>
              <a:t>（磁路相同）</a:t>
            </a:r>
            <a:r>
              <a:rPr lang="zh-CN" altLang="zh-CN" sz="2400" b="1" kern="100" dirty="0">
                <a:solidFill>
                  <a:srgbClr val="000000"/>
                </a:solidFill>
                <a:effectLst/>
                <a:latin typeface="Times New Roman" panose="02020603050405020304" pitchFamily="18" charset="0"/>
                <a:ea typeface="黑体" panose="02010609060101010101" pitchFamily="49" charset="-122"/>
              </a:rPr>
              <a:t>通过三相对称的交流电流时产生的合成磁场为极对数</a:t>
            </a:r>
            <a:r>
              <a:rPr lang="en-US" altLang="zh-CN" sz="2400" b="1" kern="100" dirty="0">
                <a:solidFill>
                  <a:srgbClr val="000000"/>
                </a:solidFill>
                <a:effectLst/>
                <a:latin typeface="Times New Roman" panose="02020603050405020304" pitchFamily="18" charset="0"/>
                <a:ea typeface="黑体" panose="02010609060101010101" pitchFamily="49" charset="-122"/>
              </a:rPr>
              <a:t>p=1</a:t>
            </a:r>
            <a:r>
              <a:rPr lang="zh-CN" altLang="zh-CN" sz="2400" b="1" kern="100" dirty="0">
                <a:solidFill>
                  <a:srgbClr val="000000"/>
                </a:solidFill>
                <a:effectLst/>
                <a:latin typeface="Times New Roman" panose="02020603050405020304" pitchFamily="18" charset="0"/>
                <a:ea typeface="黑体" panose="02010609060101010101" pitchFamily="49" charset="-122"/>
              </a:rPr>
              <a:t>的空间旋转磁场，每电源周期旋转一周，即两个极距；</a:t>
            </a:r>
            <a:endParaRPr lang="en-US" altLang="zh-CN" sz="3200" b="1" kern="100" dirty="0">
              <a:effectLst/>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、某相绕组中电流达到最大值时，磁极轴线恰好旋转到该相绕组轴线上</a:t>
            </a:r>
            <a:r>
              <a:rPr kumimoji="0" lang="zh-CN" altLang="en-US" sz="2400" b="1" i="0" u="none" strike="noStrike" kern="100" cap="none" normalizeH="0" baseline="0" dirty="0">
                <a:ln>
                  <a:noFill/>
                </a:ln>
                <a:solidFill>
                  <a:srgbClr val="00B050"/>
                </a:solidFill>
                <a:latin typeface="Times New Roman" panose="02020603050405020304" pitchFamily="18" charset="0"/>
                <a:ea typeface="黑体" panose="02010609060101010101" pitchFamily="49" charset="-122"/>
                <a:cs typeface="Times New Roman" panose="02020603050405020304" pitchFamily="18" charset="0"/>
              </a:rPr>
              <a:t>（磁势幅值跟着电流幅值变化）</a:t>
            </a:r>
            <a:r>
              <a:rPr kumimoji="0" lang="zh-CN" altLang="en-US" sz="2400" b="1" i="0" u="none" strike="noStrike" kern="100" cap="none" normalizeH="0" baseline="0" dirty="0">
                <a:ln>
                  <a:noFill/>
                </a:ln>
                <a:latin typeface="Times New Roman" panose="02020603050405020304" pitchFamily="18" charset="0"/>
                <a:ea typeface="黑体" panose="02010609060101010101" pitchFamily="49" charset="-122"/>
                <a:cs typeface="Times New Roman" panose="02020603050405020304" pitchFamily="18" charset="0"/>
              </a:rPr>
              <a:t>。</a:t>
            </a:r>
          </a:p>
          <a:p>
            <a:pPr algn="l">
              <a:lnSpc>
                <a:spcPct val="150000"/>
              </a:lnSpc>
            </a:pPr>
            <a:r>
              <a:rPr lang="en-US" altLang="zh-CN" sz="2400" b="1" kern="100" dirty="0">
                <a:solidFill>
                  <a:srgbClr val="000000"/>
                </a:solidFill>
                <a:effectLst/>
                <a:latin typeface="Times New Roman" panose="02020603050405020304" pitchFamily="18" charset="0"/>
                <a:ea typeface="黑体" panose="02010609060101010101" pitchFamily="49" charset="-122"/>
              </a:rPr>
              <a:t>3</a:t>
            </a:r>
            <a:r>
              <a:rPr lang="zh-CN" altLang="en-US" sz="2400" b="1" kern="100" dirty="0">
                <a:solidFill>
                  <a:srgbClr val="000000"/>
                </a:solidFill>
                <a:effectLst/>
                <a:latin typeface="Times New Roman" panose="02020603050405020304" pitchFamily="18" charset="0"/>
                <a:ea typeface="黑体" panose="02010609060101010101" pitchFamily="49" charset="-122"/>
              </a:rPr>
              <a:t>、每相空间对称分布串联线圈数增加，合成磁场磁极对数也增加（</a:t>
            </a:r>
            <a:r>
              <a:rPr lang="zh-CN" altLang="en-US" sz="2400" b="1" kern="100" dirty="0">
                <a:solidFill>
                  <a:srgbClr val="00B050"/>
                </a:solidFill>
                <a:effectLst/>
                <a:latin typeface="Times New Roman" panose="02020603050405020304" pitchFamily="18" charset="0"/>
                <a:ea typeface="黑体" panose="02010609060101010101" pitchFamily="49" charset="-122"/>
              </a:rPr>
              <a:t>磁极对可配置</a:t>
            </a:r>
            <a:r>
              <a:rPr lang="zh-CN" altLang="en-US" sz="2400" b="1" kern="100" dirty="0">
                <a:solidFill>
                  <a:srgbClr val="000000"/>
                </a:solidFill>
                <a:effectLst/>
                <a:latin typeface="Times New Roman" panose="02020603050405020304" pitchFamily="18" charset="0"/>
                <a:ea typeface="黑体" panose="02010609060101010101" pitchFamily="49" charset="-122"/>
              </a:rPr>
              <a:t>）</a:t>
            </a:r>
            <a:r>
              <a:rPr lang="zh-CN" altLang="en-US" sz="2400" b="1" kern="100" dirty="0">
                <a:solidFill>
                  <a:srgbClr val="000000"/>
                </a:solidFill>
                <a:latin typeface="Times New Roman" panose="02020603050405020304" pitchFamily="18" charset="0"/>
                <a:ea typeface="黑体" panose="02010609060101010101" pitchFamily="49" charset="-122"/>
              </a:rPr>
              <a:t>。</a:t>
            </a:r>
            <a:endParaRPr lang="zh-CN" altLang="zh-CN" sz="2400" kern="100" dirty="0">
              <a:effectLst/>
              <a:latin typeface="Times New Roman" panose="02020603050405020304" pitchFamily="18" charset="0"/>
              <a:ea typeface="宋体" panose="02010600030101010101" pitchFamily="2" charset="-122"/>
            </a:endParaRPr>
          </a:p>
        </p:txBody>
      </p:sp>
      <p:sp>
        <p:nvSpPr>
          <p:cNvPr id="3" name="灯片编号占位符 2">
            <a:extLst>
              <a:ext uri="{FF2B5EF4-FFF2-40B4-BE49-F238E27FC236}">
                <a16:creationId xmlns:a16="http://schemas.microsoft.com/office/drawing/2014/main" id="{8EB1D80F-F16D-D00F-FAB1-A7B1DEF782FE}"/>
              </a:ext>
            </a:extLst>
          </p:cNvPr>
          <p:cNvSpPr>
            <a:spLocks noGrp="1"/>
          </p:cNvSpPr>
          <p:nvPr>
            <p:ph type="sldNum" sz="quarter" idx="12"/>
          </p:nvPr>
        </p:nvSpPr>
        <p:spPr/>
        <p:txBody>
          <a:bodyPr/>
          <a:lstStyle/>
          <a:p>
            <a:fld id="{76D830B0-DF59-4281-898F-AF208100B213}" type="slidenum">
              <a:rPr lang="en-US" altLang="zh-CN" smtClean="0"/>
              <a:pPr/>
              <a:t>10</a:t>
            </a:fld>
            <a:endParaRPr lang="en-US" altLang="zh-CN"/>
          </a:p>
        </p:txBody>
      </p:sp>
    </p:spTree>
    <p:extLst>
      <p:ext uri="{BB962C8B-B14F-4D97-AF65-F5344CB8AC3E}">
        <p14:creationId xmlns:p14="http://schemas.microsoft.com/office/powerpoint/2010/main" val="3178925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3081CF3-B5A0-8403-5138-9419F860CE30}"/>
              </a:ext>
            </a:extLst>
          </p:cNvPr>
          <p:cNvSpPr txBox="1"/>
          <p:nvPr/>
        </p:nvSpPr>
        <p:spPr>
          <a:xfrm>
            <a:off x="564469" y="1268760"/>
            <a:ext cx="7848872" cy="430887"/>
          </a:xfrm>
          <a:prstGeom prst="rect">
            <a:avLst/>
          </a:prstGeom>
          <a:noFill/>
        </p:spPr>
        <p:txBody>
          <a:bodyPr wrap="square">
            <a:spAutoFit/>
          </a:bodyPr>
          <a:lstStyle/>
          <a:p>
            <a:pPr algn="l"/>
            <a:r>
              <a:rPr lang="zh-CN" altLang="zh-CN" sz="2200" b="1" kern="100" dirty="0">
                <a:solidFill>
                  <a:srgbClr val="000000"/>
                </a:solidFill>
                <a:effectLst/>
                <a:latin typeface="Times New Roman" panose="02020603050405020304" pitchFamily="18" charset="0"/>
                <a:ea typeface="黑体" panose="02010609060101010101" pitchFamily="49" charset="-122"/>
              </a:rPr>
              <a:t>例：由</a:t>
            </a:r>
            <a:r>
              <a:rPr lang="en-US" altLang="zh-CN" sz="2200" b="1" kern="100" dirty="0">
                <a:solidFill>
                  <a:srgbClr val="000000"/>
                </a:solidFill>
                <a:effectLst/>
                <a:latin typeface="Times New Roman" panose="02020603050405020304" pitchFamily="18" charset="0"/>
                <a:ea typeface="黑体" panose="02010609060101010101" pitchFamily="49" charset="-122"/>
              </a:rPr>
              <a:t>3</a:t>
            </a:r>
            <a:r>
              <a:rPr lang="zh-CN" altLang="zh-CN" sz="2200" b="1" kern="100" dirty="0">
                <a:solidFill>
                  <a:srgbClr val="000000"/>
                </a:solidFill>
                <a:effectLst/>
                <a:latin typeface="Times New Roman" panose="02020603050405020304" pitchFamily="18" charset="0"/>
                <a:ea typeface="黑体" panose="02010609060101010101" pitchFamily="49" charset="-122"/>
              </a:rPr>
              <a:t>个线圈增加到</a:t>
            </a:r>
            <a:r>
              <a:rPr lang="en-US" altLang="zh-CN" sz="2200" b="1" kern="100" dirty="0">
                <a:solidFill>
                  <a:srgbClr val="000000"/>
                </a:solidFill>
                <a:effectLst/>
                <a:latin typeface="Times New Roman" panose="02020603050405020304" pitchFamily="18" charset="0"/>
                <a:ea typeface="黑体" panose="02010609060101010101" pitchFamily="49" charset="-122"/>
              </a:rPr>
              <a:t>6</a:t>
            </a:r>
            <a:r>
              <a:rPr lang="zh-CN" altLang="zh-CN" sz="2200" b="1" kern="100" dirty="0">
                <a:solidFill>
                  <a:srgbClr val="000000"/>
                </a:solidFill>
                <a:effectLst/>
                <a:latin typeface="Times New Roman" panose="02020603050405020304" pitchFamily="18" charset="0"/>
                <a:ea typeface="黑体" panose="02010609060101010101" pitchFamily="49" charset="-122"/>
              </a:rPr>
              <a:t>个，依次滞后</a:t>
            </a:r>
            <a:r>
              <a:rPr lang="en-US" altLang="zh-CN" sz="2200" b="1" kern="100" dirty="0">
                <a:solidFill>
                  <a:srgbClr val="000000"/>
                </a:solidFill>
                <a:effectLst/>
                <a:latin typeface="Times New Roman" panose="02020603050405020304" pitchFamily="18" charset="0"/>
                <a:ea typeface="黑体" panose="02010609060101010101" pitchFamily="49" charset="-122"/>
              </a:rPr>
              <a:t>60</a:t>
            </a:r>
            <a:r>
              <a:rPr lang="zh-CN" altLang="zh-CN" sz="2200" b="1" kern="100" dirty="0">
                <a:solidFill>
                  <a:srgbClr val="000000"/>
                </a:solidFill>
                <a:effectLst/>
                <a:latin typeface="Times New Roman" panose="02020603050405020304" pitchFamily="18" charset="0"/>
                <a:ea typeface="黑体" panose="02010609060101010101" pitchFamily="49" charset="-122"/>
              </a:rPr>
              <a:t>度机械角度对称分布：</a:t>
            </a:r>
            <a:endParaRPr lang="zh-CN" altLang="zh-CN" sz="2200" kern="100" dirty="0">
              <a:effectLst/>
              <a:latin typeface="Times New Roman" panose="02020603050405020304" pitchFamily="18" charset="0"/>
              <a:ea typeface="宋体" panose="02010600030101010101" pitchFamily="2" charset="-122"/>
            </a:endParaRPr>
          </a:p>
        </p:txBody>
      </p:sp>
      <p:graphicFrame>
        <p:nvGraphicFramePr>
          <p:cNvPr id="6" name="对象 5">
            <a:extLst>
              <a:ext uri="{FF2B5EF4-FFF2-40B4-BE49-F238E27FC236}">
                <a16:creationId xmlns:a16="http://schemas.microsoft.com/office/drawing/2014/main" id="{1D82E67C-EA8E-D93D-73AF-C018943CFD17}"/>
              </a:ext>
            </a:extLst>
          </p:cNvPr>
          <p:cNvGraphicFramePr>
            <a:graphicFrameLocks noChangeAspect="1"/>
          </p:cNvGraphicFramePr>
          <p:nvPr>
            <p:extLst>
              <p:ext uri="{D42A27DB-BD31-4B8C-83A1-F6EECF244321}">
                <p14:modId xmlns:p14="http://schemas.microsoft.com/office/powerpoint/2010/main" val="470142434"/>
              </p:ext>
            </p:extLst>
          </p:nvPr>
        </p:nvGraphicFramePr>
        <p:xfrm>
          <a:off x="395536" y="2060848"/>
          <a:ext cx="8186738" cy="3348038"/>
        </p:xfrm>
        <a:graphic>
          <a:graphicData uri="http://schemas.openxmlformats.org/presentationml/2006/ole">
            <mc:AlternateContent xmlns:mc="http://schemas.openxmlformats.org/markup-compatibility/2006">
              <mc:Choice xmlns:v="urn:schemas-microsoft-com:vml" Requires="v">
                <p:oleObj r:id="rId2" imgW="3362325" imgH="1368425" progId="MSDraw">
                  <p:embed/>
                </p:oleObj>
              </mc:Choice>
              <mc:Fallback>
                <p:oleObj r:id="rId2" imgW="3362325" imgH="1368425"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2060848"/>
                        <a:ext cx="8186738" cy="3348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a:extLst>
              <a:ext uri="{FF2B5EF4-FFF2-40B4-BE49-F238E27FC236}">
                <a16:creationId xmlns:a16="http://schemas.microsoft.com/office/drawing/2014/main" id="{C9F90DD8-4355-EACD-68E9-92A011C453C2}"/>
              </a:ext>
            </a:extLst>
          </p:cNvPr>
          <p:cNvSpPr>
            <a:spLocks noGrp="1"/>
          </p:cNvSpPr>
          <p:nvPr>
            <p:ph type="sldNum" sz="quarter" idx="12"/>
          </p:nvPr>
        </p:nvSpPr>
        <p:spPr/>
        <p:txBody>
          <a:bodyPr/>
          <a:lstStyle/>
          <a:p>
            <a:fld id="{76D830B0-DF59-4281-898F-AF208100B213}" type="slidenum">
              <a:rPr lang="en-US" altLang="zh-CN" smtClean="0"/>
              <a:pPr/>
              <a:t>11</a:t>
            </a:fld>
            <a:endParaRPr lang="en-US" altLang="zh-CN"/>
          </a:p>
        </p:txBody>
      </p:sp>
    </p:spTree>
    <p:extLst>
      <p:ext uri="{BB962C8B-B14F-4D97-AF65-F5344CB8AC3E}">
        <p14:creationId xmlns:p14="http://schemas.microsoft.com/office/powerpoint/2010/main" val="236694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3461CBDC-AD52-993A-BF5E-33AB3EE7EA8A}"/>
              </a:ext>
            </a:extLst>
          </p:cNvPr>
          <p:cNvGraphicFramePr>
            <a:graphicFrameLocks noChangeAspect="1"/>
          </p:cNvGraphicFramePr>
          <p:nvPr>
            <p:extLst>
              <p:ext uri="{D42A27DB-BD31-4B8C-83A1-F6EECF244321}">
                <p14:modId xmlns:p14="http://schemas.microsoft.com/office/powerpoint/2010/main" val="1996023106"/>
              </p:ext>
            </p:extLst>
          </p:nvPr>
        </p:nvGraphicFramePr>
        <p:xfrm>
          <a:off x="2844874" y="3372074"/>
          <a:ext cx="3271838" cy="3262313"/>
        </p:xfrm>
        <a:graphic>
          <a:graphicData uri="http://schemas.openxmlformats.org/presentationml/2006/ole">
            <mc:AlternateContent xmlns:mc="http://schemas.openxmlformats.org/markup-compatibility/2006">
              <mc:Choice xmlns:v="urn:schemas-microsoft-com:vml" Requires="v">
                <p:oleObj r:id="rId2" imgW="2182813" imgH="2176463" progId="MSDraw">
                  <p:embed/>
                </p:oleObj>
              </mc:Choice>
              <mc:Fallback>
                <p:oleObj r:id="rId2" imgW="2182813" imgH="2176463"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4874" y="3372074"/>
                        <a:ext cx="3271838" cy="3262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a:extLst>
              <a:ext uri="{FF2B5EF4-FFF2-40B4-BE49-F238E27FC236}">
                <a16:creationId xmlns:a16="http://schemas.microsoft.com/office/drawing/2014/main" id="{96E3A752-042C-2D96-3EEE-5A5E60F94948}"/>
              </a:ext>
            </a:extLst>
          </p:cNvPr>
          <p:cNvGraphicFramePr>
            <a:graphicFrameLocks noChangeAspect="1"/>
          </p:cNvGraphicFramePr>
          <p:nvPr>
            <p:extLst>
              <p:ext uri="{D42A27DB-BD31-4B8C-83A1-F6EECF244321}">
                <p14:modId xmlns:p14="http://schemas.microsoft.com/office/powerpoint/2010/main" val="3855642589"/>
              </p:ext>
            </p:extLst>
          </p:nvPr>
        </p:nvGraphicFramePr>
        <p:xfrm>
          <a:off x="1403648" y="908720"/>
          <a:ext cx="6010275" cy="2319338"/>
        </p:xfrm>
        <a:graphic>
          <a:graphicData uri="http://schemas.openxmlformats.org/presentationml/2006/ole">
            <mc:AlternateContent xmlns:mc="http://schemas.openxmlformats.org/markup-compatibility/2006">
              <mc:Choice xmlns:v="urn:schemas-microsoft-com:vml" Requires="v">
                <p:oleObj r:id="rId4" imgW="2582863" imgH="1873250" progId="MSDraw">
                  <p:embed/>
                </p:oleObj>
              </mc:Choice>
              <mc:Fallback>
                <p:oleObj r:id="rId4" imgW="2582863" imgH="1873250" progId="MSDraw">
                  <p:embed/>
                  <p:pic>
                    <p:nvPicPr>
                      <p:cNvPr id="3" name="对象 2">
                        <a:extLst>
                          <a:ext uri="{FF2B5EF4-FFF2-40B4-BE49-F238E27FC236}">
                            <a16:creationId xmlns:a16="http://schemas.microsoft.com/office/drawing/2014/main" id="{5FC16658-6F66-BBA6-1F08-52C73EAF5A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648" y="908720"/>
                        <a:ext cx="6010275" cy="2319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6127192-7366-2BD7-4491-E7C7B2C11270}"/>
                  </a:ext>
                </a:extLst>
              </p:cNvPr>
              <p:cNvSpPr txBox="1"/>
              <p:nvPr/>
            </p:nvSpPr>
            <p:spPr>
              <a:xfrm>
                <a:off x="2771800" y="6369855"/>
                <a:ext cx="925114"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𝜔</m:t>
                    </m:r>
                    <m:r>
                      <a:rPr lang="zh-CN" altLang="en-US" sz="2400" i="1" smtClean="0">
                        <a:latin typeface="Cambria Math" panose="02040503050406030204" pitchFamily="18" charset="0"/>
                      </a:rPr>
                      <m:t>𝑡</m:t>
                    </m:r>
                  </m:oMath>
                </a14:m>
                <a:r>
                  <a:rPr lang="en-US" altLang="zh-CN" sz="2400" dirty="0"/>
                  <a:t>=0</a:t>
                </a:r>
                <a:endParaRPr lang="zh-CN" altLang="en-US" sz="2400" dirty="0"/>
              </a:p>
            </p:txBody>
          </p:sp>
        </mc:Choice>
        <mc:Fallback xmlns="">
          <p:sp>
            <p:nvSpPr>
              <p:cNvPr id="11" name="文本框 10">
                <a:extLst>
                  <a:ext uri="{FF2B5EF4-FFF2-40B4-BE49-F238E27FC236}">
                    <a16:creationId xmlns:a16="http://schemas.microsoft.com/office/drawing/2014/main" id="{16127192-7366-2BD7-4491-E7C7B2C11270}"/>
                  </a:ext>
                </a:extLst>
              </p:cNvPr>
              <p:cNvSpPr txBox="1">
                <a:spLocks noRot="1" noChangeAspect="1" noMove="1" noResize="1" noEditPoints="1" noAdjustHandles="1" noChangeArrowheads="1" noChangeShapeType="1" noTextEdit="1"/>
              </p:cNvSpPr>
              <p:nvPr/>
            </p:nvSpPr>
            <p:spPr>
              <a:xfrm>
                <a:off x="2771800" y="6369855"/>
                <a:ext cx="925114" cy="461665"/>
              </a:xfrm>
              <a:prstGeom prst="rect">
                <a:avLst/>
              </a:prstGeom>
              <a:blipFill>
                <a:blip r:embed="rId6"/>
                <a:stretch>
                  <a:fillRect l="-662" t="-9211" r="-5298" b="-30263"/>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3D85CB21-7ADE-2791-31F1-FAC3999A008A}"/>
              </a:ext>
            </a:extLst>
          </p:cNvPr>
          <p:cNvSpPr txBox="1"/>
          <p:nvPr/>
        </p:nvSpPr>
        <p:spPr>
          <a:xfrm>
            <a:off x="6444208" y="4425198"/>
            <a:ext cx="1368152" cy="830997"/>
          </a:xfrm>
          <a:prstGeom prst="rect">
            <a:avLst/>
          </a:prstGeom>
          <a:noFill/>
        </p:spPr>
        <p:txBody>
          <a:bodyPr wrap="square">
            <a:spAutoFit/>
          </a:bodyPr>
          <a:lstStyle/>
          <a:p>
            <a:r>
              <a:rPr lang="zh-CN" altLang="zh-CN" sz="2400" b="1" kern="100" dirty="0">
                <a:solidFill>
                  <a:srgbClr val="000000"/>
                </a:solidFill>
                <a:effectLst/>
                <a:latin typeface="Times New Roman" panose="02020603050405020304" pitchFamily="18" charset="0"/>
                <a:ea typeface="黑体" panose="02010609060101010101" pitchFamily="49" charset="-122"/>
              </a:rPr>
              <a:t>极对数</a:t>
            </a:r>
            <a:r>
              <a:rPr lang="en-US" altLang="zh-CN" sz="2400" b="1" kern="100" dirty="0">
                <a:solidFill>
                  <a:srgbClr val="000000"/>
                </a:solidFill>
                <a:effectLst/>
                <a:latin typeface="Times New Roman" panose="02020603050405020304" pitchFamily="18" charset="0"/>
                <a:ea typeface="黑体" panose="02010609060101010101" pitchFamily="49" charset="-122"/>
              </a:rPr>
              <a:t>p=2</a:t>
            </a:r>
            <a:endParaRPr lang="zh-CN" altLang="en-US" sz="2400" dirty="0"/>
          </a:p>
        </p:txBody>
      </p:sp>
      <p:sp>
        <p:nvSpPr>
          <p:cNvPr id="3" name="灯片编号占位符 2">
            <a:extLst>
              <a:ext uri="{FF2B5EF4-FFF2-40B4-BE49-F238E27FC236}">
                <a16:creationId xmlns:a16="http://schemas.microsoft.com/office/drawing/2014/main" id="{CB100216-BE7A-E8E9-219D-920656273095}"/>
              </a:ext>
            </a:extLst>
          </p:cNvPr>
          <p:cNvSpPr>
            <a:spLocks noGrp="1"/>
          </p:cNvSpPr>
          <p:nvPr>
            <p:ph type="sldNum" sz="quarter" idx="12"/>
          </p:nvPr>
        </p:nvSpPr>
        <p:spPr/>
        <p:txBody>
          <a:bodyPr/>
          <a:lstStyle/>
          <a:p>
            <a:fld id="{76D830B0-DF59-4281-898F-AF208100B213}" type="slidenum">
              <a:rPr lang="en-US" altLang="zh-CN" smtClean="0"/>
              <a:pPr/>
              <a:t>12</a:t>
            </a:fld>
            <a:endParaRPr lang="en-US" altLang="zh-CN"/>
          </a:p>
        </p:txBody>
      </p:sp>
    </p:spTree>
    <p:extLst>
      <p:ext uri="{BB962C8B-B14F-4D97-AF65-F5344CB8AC3E}">
        <p14:creationId xmlns:p14="http://schemas.microsoft.com/office/powerpoint/2010/main" val="3013388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EBFFA1DF-A4CB-B701-7F18-3AD55E827AD5}"/>
              </a:ext>
            </a:extLst>
          </p:cNvPr>
          <p:cNvGraphicFramePr>
            <a:graphicFrameLocks noChangeAspect="1"/>
          </p:cNvGraphicFramePr>
          <p:nvPr>
            <p:extLst>
              <p:ext uri="{D42A27DB-BD31-4B8C-83A1-F6EECF244321}">
                <p14:modId xmlns:p14="http://schemas.microsoft.com/office/powerpoint/2010/main" val="1466412302"/>
              </p:ext>
            </p:extLst>
          </p:nvPr>
        </p:nvGraphicFramePr>
        <p:xfrm>
          <a:off x="467544" y="1765329"/>
          <a:ext cx="3433763" cy="3157538"/>
        </p:xfrm>
        <a:graphic>
          <a:graphicData uri="http://schemas.openxmlformats.org/presentationml/2006/ole">
            <mc:AlternateContent xmlns:mc="http://schemas.openxmlformats.org/markup-compatibility/2006">
              <mc:Choice xmlns:v="urn:schemas-microsoft-com:vml" Requires="v">
                <p:oleObj r:id="rId3" imgW="2249488" imgH="2065338" progId="MSDraw">
                  <p:embed/>
                </p:oleObj>
              </mc:Choice>
              <mc:Fallback>
                <p:oleObj r:id="rId3" imgW="2249488" imgH="2065338" progId="MSDraw">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1765329"/>
                        <a:ext cx="3433763" cy="3157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982AB1C-C982-B316-4F25-62534A77673A}"/>
                  </a:ext>
                </a:extLst>
              </p:cNvPr>
              <p:cNvSpPr txBox="1"/>
              <p:nvPr/>
            </p:nvSpPr>
            <p:spPr>
              <a:xfrm>
                <a:off x="1500349" y="1261273"/>
                <a:ext cx="1368152"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𝜔</m:t>
                    </m:r>
                    <m:r>
                      <a:rPr lang="zh-CN" altLang="en-US" sz="2400" i="1" smtClean="0">
                        <a:latin typeface="Cambria Math" panose="02040503050406030204" pitchFamily="18" charset="0"/>
                      </a:rPr>
                      <m:t>𝑡</m:t>
                    </m:r>
                  </m:oMath>
                </a14:m>
                <a:r>
                  <a:rPr lang="en-US" altLang="zh-CN" sz="2400" dirty="0">
                    <a:latin typeface="Times New Roman" panose="02020603050405020304" pitchFamily="18" charset="0"/>
                    <a:cs typeface="Times New Roman" panose="02020603050405020304" pitchFamily="18" charset="0"/>
                  </a:rPr>
                  <a:t>=2</a:t>
                </a:r>
                <a:r>
                  <a:rPr lang="el-GR" altLang="zh-CN" sz="2400" dirty="0">
                    <a:latin typeface="Times New Roman" panose="02020603050405020304" pitchFamily="18" charset="0"/>
                    <a:cs typeface="Times New Roman" panose="02020603050405020304" pitchFamily="18" charset="0"/>
                  </a:rPr>
                  <a:t>π</a:t>
                </a:r>
                <a:r>
                  <a:rPr lang="en-US" altLang="zh-CN" sz="2400" dirty="0">
                    <a:latin typeface="Times New Roman" panose="02020603050405020304" pitchFamily="18" charset="0"/>
                    <a:cs typeface="Times New Roman" panose="02020603050405020304" pitchFamily="18" charset="0"/>
                  </a:rPr>
                  <a:t>/3</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E982AB1C-C982-B316-4F25-62534A77673A}"/>
                  </a:ext>
                </a:extLst>
              </p:cNvPr>
              <p:cNvSpPr txBox="1">
                <a:spLocks noRot="1" noChangeAspect="1" noMove="1" noResize="1" noEditPoints="1" noAdjustHandles="1" noChangeArrowheads="1" noChangeShapeType="1" noTextEdit="1"/>
              </p:cNvSpPr>
              <p:nvPr/>
            </p:nvSpPr>
            <p:spPr>
              <a:xfrm>
                <a:off x="1500349" y="1261273"/>
                <a:ext cx="1368152" cy="461665"/>
              </a:xfrm>
              <a:prstGeom prst="rect">
                <a:avLst/>
              </a:prstGeom>
              <a:blipFill>
                <a:blip r:embed="rId5"/>
                <a:stretch>
                  <a:fillRect t="-10526" b="-28947"/>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30540E98-C910-3110-9A6D-42E82DAE5D72}"/>
              </a:ext>
            </a:extLst>
          </p:cNvPr>
          <p:cNvSpPr txBox="1"/>
          <p:nvPr/>
        </p:nvSpPr>
        <p:spPr>
          <a:xfrm>
            <a:off x="1306947" y="5025370"/>
            <a:ext cx="1824893" cy="707886"/>
          </a:xfrm>
          <a:prstGeom prst="rect">
            <a:avLst/>
          </a:prstGeom>
          <a:noFill/>
        </p:spPr>
        <p:txBody>
          <a:bodyPr wrap="square" rtlCol="0">
            <a:spAutoFit/>
          </a:bodyPr>
          <a:lstStyle/>
          <a:p>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磁极旋转了</a:t>
            </a:r>
            <a:r>
              <a:rPr lang="el-GR" altLang="zh-CN" sz="2000" b="1" dirty="0">
                <a:latin typeface="Times New Roman" panose="02020603050405020304" pitchFamily="18" charset="0"/>
                <a:ea typeface="黑体" panose="02010609060101010101" pitchFamily="49" charset="-122"/>
                <a:cs typeface="Times New Roman" panose="02020603050405020304" pitchFamily="18" charset="0"/>
              </a:rPr>
              <a:t>π</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000" b="1" dirty="0">
                <a:latin typeface="黑体" panose="02010609060101010101" pitchFamily="49" charset="-122"/>
                <a:ea typeface="黑体" panose="02010609060101010101" pitchFamily="49" charset="-122"/>
                <a:cs typeface="Times New Roman" panose="02020603050405020304" pitchFamily="18" charset="0"/>
              </a:rPr>
              <a:t>角度</a:t>
            </a:r>
            <a:endParaRPr lang="zh-CN" altLang="en-US" sz="2000" b="1" dirty="0">
              <a:latin typeface="黑体" panose="02010609060101010101" pitchFamily="49" charset="-122"/>
              <a:ea typeface="黑体" panose="02010609060101010101" pitchFamily="49" charset="-122"/>
            </a:endParaRPr>
          </a:p>
        </p:txBody>
      </p:sp>
      <p:graphicFrame>
        <p:nvGraphicFramePr>
          <p:cNvPr id="12" name="对象 11">
            <a:extLst>
              <a:ext uri="{FF2B5EF4-FFF2-40B4-BE49-F238E27FC236}">
                <a16:creationId xmlns:a16="http://schemas.microsoft.com/office/drawing/2014/main" id="{ACE275D5-03D7-F83C-9C38-42926B145C61}"/>
              </a:ext>
            </a:extLst>
          </p:cNvPr>
          <p:cNvGraphicFramePr>
            <a:graphicFrameLocks noChangeAspect="1"/>
          </p:cNvGraphicFramePr>
          <p:nvPr>
            <p:extLst>
              <p:ext uri="{D42A27DB-BD31-4B8C-83A1-F6EECF244321}">
                <p14:modId xmlns:p14="http://schemas.microsoft.com/office/powerpoint/2010/main" val="332636297"/>
              </p:ext>
            </p:extLst>
          </p:nvPr>
        </p:nvGraphicFramePr>
        <p:xfrm>
          <a:off x="4668157" y="1860579"/>
          <a:ext cx="3214688" cy="3062288"/>
        </p:xfrm>
        <a:graphic>
          <a:graphicData uri="http://schemas.openxmlformats.org/presentationml/2006/ole">
            <mc:AlternateContent xmlns:mc="http://schemas.openxmlformats.org/markup-compatibility/2006">
              <mc:Choice xmlns:v="urn:schemas-microsoft-com:vml" Requires="v">
                <p:oleObj r:id="rId6" imgW="2182813" imgH="2078038" progId="MSDraw">
                  <p:embed/>
                </p:oleObj>
              </mc:Choice>
              <mc:Fallback>
                <p:oleObj r:id="rId6" imgW="2182813" imgH="2078038" progId="MSDraw">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8157" y="1860579"/>
                        <a:ext cx="3214688" cy="306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75F18C1-0C10-F29E-DEB5-191233D917D2}"/>
                  </a:ext>
                </a:extLst>
              </p:cNvPr>
              <p:cNvSpPr txBox="1"/>
              <p:nvPr/>
            </p:nvSpPr>
            <p:spPr>
              <a:xfrm>
                <a:off x="5724128" y="1326591"/>
                <a:ext cx="1296144"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𝜔</m:t>
                    </m:r>
                    <m:r>
                      <a:rPr lang="zh-CN" altLang="en-US" sz="2400" i="1" smtClean="0">
                        <a:latin typeface="Cambria Math" panose="02040503050406030204" pitchFamily="18" charset="0"/>
                      </a:rPr>
                      <m:t>𝑡</m:t>
                    </m:r>
                  </m:oMath>
                </a14:m>
                <a:r>
                  <a:rPr lang="en-US" altLang="zh-CN" sz="2400" dirty="0">
                    <a:latin typeface="Times New Roman" panose="02020603050405020304" pitchFamily="18" charset="0"/>
                    <a:cs typeface="Times New Roman" panose="02020603050405020304" pitchFamily="18" charset="0"/>
                  </a:rPr>
                  <a:t>=4</a:t>
                </a:r>
                <a:r>
                  <a:rPr lang="el-GR" altLang="zh-CN" sz="2400" dirty="0">
                    <a:latin typeface="Times New Roman" panose="02020603050405020304" pitchFamily="18" charset="0"/>
                    <a:cs typeface="Times New Roman" panose="02020603050405020304" pitchFamily="18" charset="0"/>
                  </a:rPr>
                  <a:t>π</a:t>
                </a:r>
                <a:r>
                  <a:rPr lang="en-US" altLang="zh-CN" sz="2400" dirty="0">
                    <a:latin typeface="Times New Roman" panose="02020603050405020304" pitchFamily="18" charset="0"/>
                    <a:cs typeface="Times New Roman" panose="02020603050405020304" pitchFamily="18" charset="0"/>
                  </a:rPr>
                  <a:t>/3</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15" name="文本框 14">
                <a:extLst>
                  <a:ext uri="{FF2B5EF4-FFF2-40B4-BE49-F238E27FC236}">
                    <a16:creationId xmlns:a16="http://schemas.microsoft.com/office/drawing/2014/main" id="{E75F18C1-0C10-F29E-DEB5-191233D917D2}"/>
                  </a:ext>
                </a:extLst>
              </p:cNvPr>
              <p:cNvSpPr txBox="1">
                <a:spLocks noRot="1" noChangeAspect="1" noMove="1" noResize="1" noEditPoints="1" noAdjustHandles="1" noChangeArrowheads="1" noChangeShapeType="1" noTextEdit="1"/>
              </p:cNvSpPr>
              <p:nvPr/>
            </p:nvSpPr>
            <p:spPr>
              <a:xfrm>
                <a:off x="5724128" y="1326591"/>
                <a:ext cx="1296144" cy="461665"/>
              </a:xfrm>
              <a:prstGeom prst="rect">
                <a:avLst/>
              </a:prstGeom>
              <a:blipFill>
                <a:blip r:embed="rId8"/>
                <a:stretch>
                  <a:fillRect l="-469" t="-10667" r="-2817" b="-30667"/>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E21C031C-B59A-D53E-9A28-8F0C717A831F}"/>
              </a:ext>
            </a:extLst>
          </p:cNvPr>
          <p:cNvSpPr txBox="1"/>
          <p:nvPr/>
        </p:nvSpPr>
        <p:spPr>
          <a:xfrm>
            <a:off x="5364088" y="5085184"/>
            <a:ext cx="2160240" cy="707886"/>
          </a:xfrm>
          <a:prstGeom prst="rect">
            <a:avLst/>
          </a:prstGeom>
          <a:noFill/>
        </p:spPr>
        <p:txBody>
          <a:bodyPr wrap="square" rtlCol="0">
            <a:spAutoFit/>
          </a:bodyPr>
          <a:lstStyle/>
          <a:p>
            <a:r>
              <a:rPr lang="zh-CN" altLang="en-US" sz="2000" b="1" dirty="0">
                <a:latin typeface="黑体" panose="02010609060101010101" pitchFamily="49" charset="-122"/>
                <a:ea typeface="黑体" panose="02010609060101010101" pitchFamily="49" charset="-122"/>
              </a:rPr>
              <a:t>磁极</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旋转了</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2</a:t>
            </a:r>
            <a:r>
              <a:rPr lang="el-GR" altLang="zh-CN" sz="2000" b="1" dirty="0">
                <a:latin typeface="Times New Roman" panose="02020603050405020304" pitchFamily="18" charset="0"/>
                <a:ea typeface="黑体" panose="02010609060101010101" pitchFamily="49" charset="-122"/>
                <a:cs typeface="Times New Roman" panose="02020603050405020304" pitchFamily="18" charset="0"/>
              </a:rPr>
              <a:t>π</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角度</a:t>
            </a:r>
          </a:p>
        </p:txBody>
      </p:sp>
      <p:sp>
        <p:nvSpPr>
          <p:cNvPr id="4" name="灯片编号占位符 3">
            <a:extLst>
              <a:ext uri="{FF2B5EF4-FFF2-40B4-BE49-F238E27FC236}">
                <a16:creationId xmlns:a16="http://schemas.microsoft.com/office/drawing/2014/main" id="{DB597D9D-4D28-0C73-7863-2EA7E3DBE21D}"/>
              </a:ext>
            </a:extLst>
          </p:cNvPr>
          <p:cNvSpPr>
            <a:spLocks noGrp="1"/>
          </p:cNvSpPr>
          <p:nvPr>
            <p:ph type="sldNum" sz="quarter" idx="12"/>
          </p:nvPr>
        </p:nvSpPr>
        <p:spPr/>
        <p:txBody>
          <a:bodyPr/>
          <a:lstStyle/>
          <a:p>
            <a:fld id="{76D830B0-DF59-4281-898F-AF208100B213}" type="slidenum">
              <a:rPr lang="en-US" altLang="zh-CN" smtClean="0"/>
              <a:pPr/>
              <a:t>13</a:t>
            </a:fld>
            <a:endParaRPr lang="en-US" altLang="zh-CN"/>
          </a:p>
        </p:txBody>
      </p:sp>
    </p:spTree>
    <p:extLst>
      <p:ext uri="{BB962C8B-B14F-4D97-AF65-F5344CB8AC3E}">
        <p14:creationId xmlns:p14="http://schemas.microsoft.com/office/powerpoint/2010/main" val="1463445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982AB1C-C982-B316-4F25-62534A77673A}"/>
                  </a:ext>
                </a:extLst>
              </p:cNvPr>
              <p:cNvSpPr txBox="1"/>
              <p:nvPr/>
            </p:nvSpPr>
            <p:spPr>
              <a:xfrm>
                <a:off x="1691680" y="1524238"/>
                <a:ext cx="1368152"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rPr>
                      <m:t>𝜔</m:t>
                    </m:r>
                    <m:r>
                      <a:rPr lang="zh-CN" altLang="en-US" sz="2400" i="1" smtClean="0">
                        <a:latin typeface="Cambria Math" panose="02040503050406030204" pitchFamily="18" charset="0"/>
                      </a:rPr>
                      <m:t>𝑡</m:t>
                    </m:r>
                  </m:oMath>
                </a14:m>
                <a:r>
                  <a:rPr lang="en-US" altLang="zh-CN" sz="2400" dirty="0">
                    <a:latin typeface="Times New Roman" panose="02020603050405020304" pitchFamily="18" charset="0"/>
                    <a:cs typeface="Times New Roman" panose="02020603050405020304" pitchFamily="18" charset="0"/>
                  </a:rPr>
                  <a:t>=2</a:t>
                </a:r>
                <a:r>
                  <a:rPr lang="el-GR" altLang="zh-CN" sz="2400" dirty="0">
                    <a:latin typeface="Times New Roman" panose="02020603050405020304" pitchFamily="18" charset="0"/>
                    <a:cs typeface="Times New Roman" panose="02020603050405020304" pitchFamily="18" charset="0"/>
                  </a:rPr>
                  <a:t>π</a:t>
                </a:r>
                <a:endParaRPr lang="zh-CN" altLang="en-US" sz="2400" dirty="0">
                  <a:latin typeface="Times New Roman" panose="02020603050405020304" pitchFamily="18" charset="0"/>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E982AB1C-C982-B316-4F25-62534A77673A}"/>
                  </a:ext>
                </a:extLst>
              </p:cNvPr>
              <p:cNvSpPr txBox="1">
                <a:spLocks noRot="1" noChangeAspect="1" noMove="1" noResize="1" noEditPoints="1" noAdjustHandles="1" noChangeArrowheads="1" noChangeShapeType="1" noTextEdit="1"/>
              </p:cNvSpPr>
              <p:nvPr/>
            </p:nvSpPr>
            <p:spPr>
              <a:xfrm>
                <a:off x="1691680" y="1524238"/>
                <a:ext cx="1368152" cy="461665"/>
              </a:xfrm>
              <a:prstGeom prst="rect">
                <a:avLst/>
              </a:prstGeom>
              <a:blipFill>
                <a:blip r:embed="rId3"/>
                <a:stretch>
                  <a:fillRect l="-446" t="-10526" b="-28947"/>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30540E98-C910-3110-9A6D-42E82DAE5D72}"/>
              </a:ext>
            </a:extLst>
          </p:cNvPr>
          <p:cNvSpPr txBox="1"/>
          <p:nvPr/>
        </p:nvSpPr>
        <p:spPr>
          <a:xfrm>
            <a:off x="1115616" y="5333146"/>
            <a:ext cx="2448273" cy="400110"/>
          </a:xfrm>
          <a:prstGeom prst="rect">
            <a:avLst/>
          </a:prstGeom>
          <a:noFill/>
        </p:spPr>
        <p:txBody>
          <a:bodyPr wrap="square" rtlCol="0">
            <a:spAutoFit/>
          </a:bodyPr>
          <a:lstStyle/>
          <a:p>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磁极旋转了</a:t>
            </a:r>
            <a:r>
              <a:rPr lang="el-GR" altLang="zh-CN" sz="2000" b="1" dirty="0">
                <a:latin typeface="Times New Roman" panose="02020603050405020304" pitchFamily="18" charset="0"/>
                <a:ea typeface="黑体" panose="02010609060101010101" pitchFamily="49" charset="-122"/>
                <a:cs typeface="Times New Roman" panose="02020603050405020304" pitchFamily="18" charset="0"/>
              </a:rPr>
              <a:t>π</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角度</a:t>
            </a:r>
          </a:p>
        </p:txBody>
      </p:sp>
      <p:graphicFrame>
        <p:nvGraphicFramePr>
          <p:cNvPr id="4" name="对象 3">
            <a:extLst>
              <a:ext uri="{FF2B5EF4-FFF2-40B4-BE49-F238E27FC236}">
                <a16:creationId xmlns:a16="http://schemas.microsoft.com/office/drawing/2014/main" id="{2B84032E-955C-81AD-CE63-02854EBFC2B5}"/>
              </a:ext>
            </a:extLst>
          </p:cNvPr>
          <p:cNvGraphicFramePr>
            <a:graphicFrameLocks noChangeAspect="1"/>
          </p:cNvGraphicFramePr>
          <p:nvPr>
            <p:extLst>
              <p:ext uri="{D42A27DB-BD31-4B8C-83A1-F6EECF244321}">
                <p14:modId xmlns:p14="http://schemas.microsoft.com/office/powerpoint/2010/main" val="2583738758"/>
              </p:ext>
            </p:extLst>
          </p:nvPr>
        </p:nvGraphicFramePr>
        <p:xfrm>
          <a:off x="539552" y="1985903"/>
          <a:ext cx="3386138" cy="3205163"/>
        </p:xfrm>
        <a:graphic>
          <a:graphicData uri="http://schemas.openxmlformats.org/presentationml/2006/ole">
            <mc:AlternateContent xmlns:mc="http://schemas.openxmlformats.org/markup-compatibility/2006">
              <mc:Choice xmlns:v="urn:schemas-microsoft-com:vml" Requires="v">
                <p:oleObj r:id="rId4" imgW="2182813" imgH="2065338" progId="MSDraw">
                  <p:embed/>
                </p:oleObj>
              </mc:Choice>
              <mc:Fallback>
                <p:oleObj r:id="rId4" imgW="2182813" imgH="2065338" progId="MSDraw">
                  <p:embed/>
                  <p:pic>
                    <p:nvPicPr>
                      <p:cNvPr id="4" name="对象 3">
                        <a:extLst>
                          <a:ext uri="{FF2B5EF4-FFF2-40B4-BE49-F238E27FC236}">
                            <a16:creationId xmlns:a16="http://schemas.microsoft.com/office/drawing/2014/main" id="{2B84032E-955C-81AD-CE63-02854EBFC2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552" y="1985903"/>
                        <a:ext cx="3386138" cy="3205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文本框 6">
            <a:extLst>
              <a:ext uri="{FF2B5EF4-FFF2-40B4-BE49-F238E27FC236}">
                <a16:creationId xmlns:a16="http://schemas.microsoft.com/office/drawing/2014/main" id="{311B8909-72C1-EE3F-494B-A40557C9F07A}"/>
              </a:ext>
            </a:extLst>
          </p:cNvPr>
          <p:cNvSpPr txBox="1"/>
          <p:nvPr/>
        </p:nvSpPr>
        <p:spPr>
          <a:xfrm>
            <a:off x="4366675" y="1454166"/>
            <a:ext cx="4176462" cy="4269374"/>
          </a:xfrm>
          <a:prstGeom prst="rect">
            <a:avLst/>
          </a:prstGeom>
          <a:noFill/>
        </p:spPr>
        <p:txBody>
          <a:bodyPr wrap="square">
            <a:spAutoFit/>
          </a:bodyPr>
          <a:lstStyle/>
          <a:p>
            <a:pPr marL="285750" indent="-285750">
              <a:lnSpc>
                <a:spcPct val="125000"/>
              </a:lnSpc>
              <a:buFont typeface="Wingdings" panose="05000000000000000000" pitchFamily="2" charset="2"/>
              <a:buChar char="l"/>
            </a:pPr>
            <a:r>
              <a:rPr lang="en-US" altLang="zh-CN" sz="2400" b="1" kern="100" dirty="0">
                <a:solidFill>
                  <a:srgbClr val="000000"/>
                </a:solidFill>
                <a:effectLst/>
                <a:latin typeface="Times New Roman" panose="02020603050405020304" pitchFamily="18" charset="0"/>
                <a:ea typeface="黑体" panose="02010609060101010101" pitchFamily="49" charset="-122"/>
              </a:rPr>
              <a:t>p=2</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时，电源电压变化一周，磁场在空间旋转半周，即</a:t>
            </a:r>
            <a:r>
              <a:rPr lang="en-US" altLang="zh-CN" sz="2400" b="1" kern="100" dirty="0">
                <a:solidFill>
                  <a:srgbClr val="000000"/>
                </a:solidFill>
                <a:effectLst/>
                <a:latin typeface="Times New Roman" panose="02020603050405020304" pitchFamily="18" charset="0"/>
                <a:ea typeface="黑体" panose="02010609060101010101" pitchFamily="49" charset="-122"/>
              </a:rPr>
              <a:t>180</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度机械角度</a:t>
            </a:r>
            <a:r>
              <a:rPr lang="zh-CN" altLang="en-US" sz="2400" b="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，对应电角度仍为</a:t>
            </a:r>
            <a:r>
              <a:rPr lang="en-US" altLang="zh-CN" sz="2400" b="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p*180°=360°</a:t>
            </a:r>
          </a:p>
          <a:p>
            <a:pPr marL="285750" indent="-285750">
              <a:lnSpc>
                <a:spcPct val="125000"/>
              </a:lnSpc>
              <a:buFont typeface="Wingdings" panose="05000000000000000000" pitchFamily="2" charset="2"/>
              <a:buChar char="l"/>
            </a:pPr>
            <a:r>
              <a:rPr lang="zh-CN" altLang="en-US"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旋转磁场的方向：</a:t>
            </a:r>
            <a:r>
              <a:rPr lang="en-US"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n0</a:t>
            </a:r>
            <a:r>
              <a:rPr lang="zh-CN" altLang="en-US"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由电源接入时的</a:t>
            </a:r>
            <a:r>
              <a:rPr lang="en-US"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UVW</a:t>
            </a:r>
            <a:r>
              <a:rPr lang="zh-CN" altLang="en-US"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排列方向决定。</a:t>
            </a:r>
            <a:endParaRPr lang="en-US"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285750" indent="-285750">
              <a:lnSpc>
                <a:spcPct val="125000"/>
              </a:lnSpc>
              <a:buFont typeface="Wingdings" panose="05000000000000000000" pitchFamily="2" charset="2"/>
              <a:buChar char="l"/>
            </a:pPr>
            <a:r>
              <a:rPr lang="zh-CN" altLang="en-US"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交换三相接入线中的任意两相，旋转磁场改变方向</a:t>
            </a:r>
            <a:r>
              <a:rPr lang="zh-CN" altLang="en-US" sz="28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灯片编号占位符 2">
            <a:extLst>
              <a:ext uri="{FF2B5EF4-FFF2-40B4-BE49-F238E27FC236}">
                <a16:creationId xmlns:a16="http://schemas.microsoft.com/office/drawing/2014/main" id="{F8A5D8B1-CFF1-CC7C-150E-3C13DC575A74}"/>
              </a:ext>
            </a:extLst>
          </p:cNvPr>
          <p:cNvSpPr>
            <a:spLocks noGrp="1"/>
          </p:cNvSpPr>
          <p:nvPr>
            <p:ph type="sldNum" sz="quarter" idx="12"/>
          </p:nvPr>
        </p:nvSpPr>
        <p:spPr/>
        <p:txBody>
          <a:bodyPr/>
          <a:lstStyle/>
          <a:p>
            <a:fld id="{76D830B0-DF59-4281-898F-AF208100B213}" type="slidenum">
              <a:rPr lang="en-US" altLang="zh-CN" smtClean="0"/>
              <a:pPr/>
              <a:t>14</a:t>
            </a:fld>
            <a:endParaRPr lang="en-US" altLang="zh-CN"/>
          </a:p>
        </p:txBody>
      </p:sp>
    </p:spTree>
    <p:extLst>
      <p:ext uri="{BB962C8B-B14F-4D97-AF65-F5344CB8AC3E}">
        <p14:creationId xmlns:p14="http://schemas.microsoft.com/office/powerpoint/2010/main" val="2410645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2">
            <a:extLst>
              <a:ext uri="{FF2B5EF4-FFF2-40B4-BE49-F238E27FC236}">
                <a16:creationId xmlns:a16="http://schemas.microsoft.com/office/drawing/2014/main" id="{F2550A9C-484D-1864-742E-3BEBBBEA6E81}"/>
              </a:ext>
            </a:extLst>
          </p:cNvPr>
          <p:cNvSpPr>
            <a:spLocks noChangeArrowheads="1"/>
          </p:cNvSpPr>
          <p:nvPr/>
        </p:nvSpPr>
        <p:spPr bwMode="auto">
          <a:xfrm>
            <a:off x="683568" y="908720"/>
            <a:ext cx="7920880" cy="2792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结论：</a:t>
            </a:r>
            <a:endParaRPr kumimoji="0" lang="en-US"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indent="-342900" algn="l">
              <a:lnSpc>
                <a:spcPct val="150000"/>
              </a:lnSpc>
              <a:buFont typeface="Arial" panose="020B0604020202020204" pitchFamily="34" charset="0"/>
              <a:buChar char="•"/>
            </a:pPr>
            <a:r>
              <a:rPr lang="zh-CN" altLang="zh-CN" sz="2400" b="1" kern="100" dirty="0">
                <a:solidFill>
                  <a:srgbClr val="FF00FF"/>
                </a:solidFill>
                <a:effectLst/>
                <a:latin typeface="Times New Roman" panose="02020603050405020304" pitchFamily="18" charset="0"/>
                <a:ea typeface="黑体" panose="02010609060101010101" pitchFamily="49" charset="-122"/>
              </a:rPr>
              <a:t>空间对称分布</a:t>
            </a:r>
            <a:r>
              <a:rPr lang="zh-CN" altLang="zh-CN" sz="2400" b="1" kern="100" dirty="0">
                <a:solidFill>
                  <a:srgbClr val="000000"/>
                </a:solidFill>
                <a:effectLst/>
                <a:latin typeface="Times New Roman" panose="02020603050405020304" pitchFamily="18" charset="0"/>
                <a:ea typeface="黑体" panose="02010609060101010101" pitchFamily="49" charset="-122"/>
              </a:rPr>
              <a:t>的</a:t>
            </a:r>
            <a:r>
              <a:rPr lang="zh-CN" altLang="zh-CN" sz="2400" b="1" kern="100" dirty="0">
                <a:solidFill>
                  <a:srgbClr val="FF00FF"/>
                </a:solidFill>
                <a:effectLst/>
                <a:latin typeface="Times New Roman" panose="02020603050405020304" pitchFamily="18" charset="0"/>
                <a:ea typeface="黑体" panose="02010609060101010101" pitchFamily="49" charset="-122"/>
              </a:rPr>
              <a:t>多相绕组</a:t>
            </a:r>
            <a:r>
              <a:rPr lang="zh-CN" altLang="zh-CN" sz="2400" b="1" kern="100" dirty="0">
                <a:solidFill>
                  <a:srgbClr val="000000"/>
                </a:solidFill>
                <a:effectLst/>
                <a:latin typeface="Times New Roman" panose="02020603050405020304" pitchFamily="18" charset="0"/>
                <a:ea typeface="黑体" panose="02010609060101010101" pitchFamily="49" charset="-122"/>
              </a:rPr>
              <a:t>，流过</a:t>
            </a:r>
            <a:r>
              <a:rPr lang="zh-CN" altLang="zh-CN" sz="2400" b="1" kern="100" dirty="0">
                <a:solidFill>
                  <a:srgbClr val="FF0000"/>
                </a:solidFill>
                <a:effectLst/>
                <a:latin typeface="Times New Roman" panose="02020603050405020304" pitchFamily="18" charset="0"/>
                <a:ea typeface="黑体" panose="02010609060101010101" pitchFamily="49" charset="-122"/>
              </a:rPr>
              <a:t>时间上对称</a:t>
            </a:r>
            <a:r>
              <a:rPr lang="zh-CN" altLang="zh-CN" sz="2400" b="1" kern="100" dirty="0">
                <a:solidFill>
                  <a:srgbClr val="000000"/>
                </a:solidFill>
                <a:effectLst/>
                <a:latin typeface="Times New Roman" panose="02020603050405020304" pitchFamily="18" charset="0"/>
                <a:ea typeface="黑体" panose="02010609060101010101" pitchFamily="49" charset="-122"/>
              </a:rPr>
              <a:t>的</a:t>
            </a:r>
            <a:r>
              <a:rPr lang="zh-CN" altLang="zh-CN" sz="2400" b="1" kern="100" dirty="0">
                <a:solidFill>
                  <a:srgbClr val="FF0000"/>
                </a:solidFill>
                <a:effectLst/>
                <a:latin typeface="Times New Roman" panose="02020603050405020304" pitchFamily="18" charset="0"/>
                <a:ea typeface="黑体" panose="02010609060101010101" pitchFamily="49" charset="-122"/>
              </a:rPr>
              <a:t>多相电流</a:t>
            </a:r>
            <a:r>
              <a:rPr lang="zh-CN" altLang="zh-CN" sz="2400" b="1" kern="100" dirty="0">
                <a:solidFill>
                  <a:srgbClr val="000000"/>
                </a:solidFill>
                <a:effectLst/>
                <a:latin typeface="Times New Roman" panose="02020603050405020304" pitchFamily="18" charset="0"/>
                <a:ea typeface="黑体" panose="02010609060101010101" pitchFamily="49" charset="-122"/>
              </a:rPr>
              <a:t>时，</a:t>
            </a:r>
            <a:r>
              <a:rPr lang="zh-CN" altLang="zh-CN" sz="2400" b="1" kern="100" dirty="0">
                <a:solidFill>
                  <a:srgbClr val="0000FF"/>
                </a:solidFill>
                <a:effectLst/>
                <a:latin typeface="Times New Roman" panose="02020603050405020304" pitchFamily="18" charset="0"/>
                <a:ea typeface="黑体" panose="02010609060101010101" pitchFamily="49" charset="-122"/>
              </a:rPr>
              <a:t>合成</a:t>
            </a:r>
            <a:r>
              <a:rPr lang="zh-CN" altLang="zh-CN" sz="2400" b="1" kern="100" dirty="0">
                <a:solidFill>
                  <a:srgbClr val="000000"/>
                </a:solidFill>
                <a:effectLst/>
                <a:latin typeface="Times New Roman" panose="02020603050405020304" pitchFamily="18" charset="0"/>
                <a:ea typeface="黑体" panose="02010609060101010101" pitchFamily="49" charset="-122"/>
              </a:rPr>
              <a:t>磁势为</a:t>
            </a:r>
            <a:r>
              <a:rPr lang="zh-CN" altLang="zh-CN" sz="2400" b="1" kern="100" dirty="0">
                <a:solidFill>
                  <a:srgbClr val="0000FF"/>
                </a:solidFill>
                <a:effectLst/>
                <a:latin typeface="Times New Roman" panose="02020603050405020304" pitchFamily="18" charset="0"/>
                <a:ea typeface="黑体" panose="02010609060101010101" pitchFamily="49" charset="-122"/>
              </a:rPr>
              <a:t>旋转</a:t>
            </a:r>
            <a:r>
              <a:rPr lang="zh-CN" altLang="zh-CN" sz="2400" b="1" kern="100" dirty="0">
                <a:solidFill>
                  <a:srgbClr val="000000"/>
                </a:solidFill>
                <a:effectLst/>
                <a:latin typeface="Times New Roman" panose="02020603050405020304" pitchFamily="18" charset="0"/>
                <a:ea typeface="黑体" panose="02010609060101010101" pitchFamily="49" charset="-122"/>
              </a:rPr>
              <a:t>磁势，由此磁势建立的磁场为旋转磁场</a:t>
            </a:r>
            <a:r>
              <a:rPr lang="zh-CN" altLang="en-US" sz="2400" b="1" kern="100" dirty="0">
                <a:solidFill>
                  <a:srgbClr val="000000"/>
                </a:solidFill>
                <a:effectLst/>
                <a:latin typeface="Times New Roman" panose="02020603050405020304" pitchFamily="18" charset="0"/>
                <a:ea typeface="黑体" panose="02010609060101010101" pitchFamily="49" charset="-122"/>
              </a:rPr>
              <a:t>。</a:t>
            </a:r>
            <a:endParaRPr lang="en-US" altLang="zh-CN" sz="2400" b="1" kern="100" dirty="0">
              <a:solidFill>
                <a:srgbClr val="000000"/>
              </a:solidFill>
              <a:latin typeface="Times New Roman" panose="02020603050405020304" pitchFamily="18" charset="0"/>
            </a:endParaRPr>
          </a:p>
          <a:p>
            <a:pPr marL="342900" indent="-342900">
              <a:lnSpc>
                <a:spcPct val="150000"/>
              </a:lnSpc>
              <a:buFont typeface="Arial" panose="020B0604020202020204" pitchFamily="34" charset="0"/>
              <a:buChar char="•"/>
            </a:pP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定子绕组的主要功能</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：建立旋转磁势。</a:t>
            </a:r>
            <a:endParaRPr lang="en-US"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4" name="对象 13">
            <a:extLst>
              <a:ext uri="{FF2B5EF4-FFF2-40B4-BE49-F238E27FC236}">
                <a16:creationId xmlns:a16="http://schemas.microsoft.com/office/drawing/2014/main" id="{896AD555-0478-7F6E-53DF-2E2D7ABA3976}"/>
              </a:ext>
            </a:extLst>
          </p:cNvPr>
          <p:cNvGraphicFramePr>
            <a:graphicFrameLocks noChangeAspect="1"/>
          </p:cNvGraphicFramePr>
          <p:nvPr>
            <p:extLst>
              <p:ext uri="{D42A27DB-BD31-4B8C-83A1-F6EECF244321}">
                <p14:modId xmlns:p14="http://schemas.microsoft.com/office/powerpoint/2010/main" val="2608020440"/>
              </p:ext>
            </p:extLst>
          </p:nvPr>
        </p:nvGraphicFramePr>
        <p:xfrm>
          <a:off x="611560" y="4366815"/>
          <a:ext cx="114300" cy="214313"/>
        </p:xfrm>
        <a:graphic>
          <a:graphicData uri="http://schemas.openxmlformats.org/presentationml/2006/ole">
            <mc:AlternateContent xmlns:mc="http://schemas.openxmlformats.org/markup-compatibility/2006">
              <mc:Choice xmlns:v="urn:schemas-microsoft-com:vml" Requires="v">
                <p:oleObj name="Equation" r:id="rId3" imgW="114151" imgH="215619" progId="Equation.DSMT4">
                  <p:embed/>
                </p:oleObj>
              </mc:Choice>
              <mc:Fallback>
                <p:oleObj name="Equation" r:id="rId3" imgW="114151" imgH="215619"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4366815"/>
                        <a:ext cx="114300" cy="21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a:extLst>
              <a:ext uri="{FF2B5EF4-FFF2-40B4-BE49-F238E27FC236}">
                <a16:creationId xmlns:a16="http://schemas.microsoft.com/office/drawing/2014/main" id="{5696A1CD-A62F-8293-3C55-7241EE119337}"/>
              </a:ext>
            </a:extLst>
          </p:cNvPr>
          <p:cNvGraphicFramePr>
            <a:graphicFrameLocks noChangeAspect="1"/>
          </p:cNvGraphicFramePr>
          <p:nvPr>
            <p:extLst>
              <p:ext uri="{D42A27DB-BD31-4B8C-83A1-F6EECF244321}">
                <p14:modId xmlns:p14="http://schemas.microsoft.com/office/powerpoint/2010/main" val="1045982347"/>
              </p:ext>
            </p:extLst>
          </p:nvPr>
        </p:nvGraphicFramePr>
        <p:xfrm>
          <a:off x="2051720" y="4964231"/>
          <a:ext cx="2241227" cy="833992"/>
        </p:xfrm>
        <a:graphic>
          <a:graphicData uri="http://schemas.openxmlformats.org/presentationml/2006/ole">
            <mc:AlternateContent xmlns:mc="http://schemas.openxmlformats.org/markup-compatibility/2006">
              <mc:Choice xmlns:v="urn:schemas-microsoft-com:vml" Requires="v">
                <p:oleObj name="Equation" r:id="rId5" imgW="1130040" imgH="419040" progId="Equation.DSMT4">
                  <p:embed/>
                </p:oleObj>
              </mc:Choice>
              <mc:Fallback>
                <p:oleObj name="Equation" r:id="rId5" imgW="1130040" imgH="419040" progId="Equation.DSMT4">
                  <p:embed/>
                  <p:pic>
                    <p:nvPicPr>
                      <p:cNvPr id="0" name="Object 3"/>
                      <p:cNvPicPr>
                        <a:picLocks noChangeAspect="1" noChangeArrowheads="1"/>
                      </p:cNvPicPr>
                      <p:nvPr/>
                    </p:nvPicPr>
                    <p:blipFill>
                      <a:blip r:embed="rId6"/>
                      <a:srcRect/>
                      <a:stretch>
                        <a:fillRect/>
                      </a:stretch>
                    </p:blipFill>
                    <p:spPr bwMode="auto">
                      <a:xfrm>
                        <a:off x="2051720" y="4964231"/>
                        <a:ext cx="2241227" cy="833992"/>
                      </a:xfrm>
                      <a:prstGeom prst="rect">
                        <a:avLst/>
                      </a:prstGeom>
                      <a:solidFill>
                        <a:srgbClr val="00FF00"/>
                      </a:solidFill>
                    </p:spPr>
                  </p:pic>
                </p:oleObj>
              </mc:Fallback>
            </mc:AlternateContent>
          </a:graphicData>
        </a:graphic>
      </p:graphicFrame>
      <p:sp>
        <p:nvSpPr>
          <p:cNvPr id="18" name="Rectangle 5">
            <a:extLst>
              <a:ext uri="{FF2B5EF4-FFF2-40B4-BE49-F238E27FC236}">
                <a16:creationId xmlns:a16="http://schemas.microsoft.com/office/drawing/2014/main" id="{B9D371AA-9D24-E45A-C592-BDC97916194F}"/>
              </a:ext>
            </a:extLst>
          </p:cNvPr>
          <p:cNvSpPr>
            <a:spLocks noChangeArrowheads="1"/>
          </p:cNvSpPr>
          <p:nvPr/>
        </p:nvSpPr>
        <p:spPr bwMode="auto">
          <a:xfrm>
            <a:off x="1040728" y="3940946"/>
            <a:ext cx="676875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重要结论：交流电机中的合成磁场旋转速度</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0" name="Rectangle 7">
            <a:extLst>
              <a:ext uri="{FF2B5EF4-FFF2-40B4-BE49-F238E27FC236}">
                <a16:creationId xmlns:a16="http://schemas.microsoft.com/office/drawing/2014/main" id="{E66DE9EA-E27C-0BDA-49B0-328051038C0D}"/>
              </a:ext>
            </a:extLst>
          </p:cNvPr>
          <p:cNvSpPr>
            <a:spLocks noChangeArrowheads="1"/>
          </p:cNvSpPr>
          <p:nvPr/>
        </p:nvSpPr>
        <p:spPr bwMode="auto">
          <a:xfrm>
            <a:off x="3275856" y="5229200"/>
            <a:ext cx="41764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183515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,f</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为电源频率。</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 name="灯片编号占位符 2">
            <a:extLst>
              <a:ext uri="{FF2B5EF4-FFF2-40B4-BE49-F238E27FC236}">
                <a16:creationId xmlns:a16="http://schemas.microsoft.com/office/drawing/2014/main" id="{E0012521-10BD-6DFB-1715-C8CB60E12C60}"/>
              </a:ext>
            </a:extLst>
          </p:cNvPr>
          <p:cNvSpPr>
            <a:spLocks noGrp="1"/>
          </p:cNvSpPr>
          <p:nvPr>
            <p:ph type="sldNum" sz="quarter" idx="12"/>
          </p:nvPr>
        </p:nvSpPr>
        <p:spPr/>
        <p:txBody>
          <a:bodyPr/>
          <a:lstStyle/>
          <a:p>
            <a:fld id="{76D830B0-DF59-4281-898F-AF208100B213}" type="slidenum">
              <a:rPr lang="en-US" altLang="zh-CN" smtClean="0"/>
              <a:pPr/>
              <a:t>15</a:t>
            </a:fld>
            <a:endParaRPr lang="en-US" altLang="zh-CN"/>
          </a:p>
        </p:txBody>
      </p:sp>
    </p:spTree>
    <p:extLst>
      <p:ext uri="{BB962C8B-B14F-4D97-AF65-F5344CB8AC3E}">
        <p14:creationId xmlns:p14="http://schemas.microsoft.com/office/powerpoint/2010/main" val="12038953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8F16C08E-6D56-5968-99D5-5F38AD218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4077072"/>
            <a:ext cx="3886200" cy="2664296"/>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461E6910-4616-167F-DA20-B3CE1C8961D9}"/>
              </a:ext>
            </a:extLst>
          </p:cNvPr>
          <p:cNvSpPr txBox="1"/>
          <p:nvPr/>
        </p:nvSpPr>
        <p:spPr>
          <a:xfrm>
            <a:off x="251520" y="1052736"/>
            <a:ext cx="5832648" cy="49244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三、三相异步电动机的基本结构：</a:t>
            </a:r>
            <a:endParaRPr kumimoji="0" lang="zh-CN" altLang="en-US" sz="2600" b="0" i="0" u="none" strike="noStrike" cap="none" normalizeH="0" baseline="0" dirty="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F09703E9-65C4-6CB7-4812-7D110DEB4076}"/>
              </a:ext>
            </a:extLst>
          </p:cNvPr>
          <p:cNvSpPr txBox="1"/>
          <p:nvPr/>
        </p:nvSpPr>
        <p:spPr>
          <a:xfrm>
            <a:off x="539552" y="1556792"/>
            <a:ext cx="7848872" cy="1323439"/>
          </a:xfrm>
          <a:prstGeom prst="rect">
            <a:avLst/>
          </a:prstGeom>
          <a:noFill/>
        </p:spPr>
        <p:txBody>
          <a:bodyPr wrap="square">
            <a:spAutoFit/>
          </a:bodyPr>
          <a:lstStyle/>
          <a:p>
            <a:pPr eaLnBrk="0" hangingPunct="0"/>
            <a:r>
              <a:rPr kumimoji="0" lang="en-US" altLang="zh-CN" sz="20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0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、定子部分</a:t>
            </a:r>
            <a:endParaRPr kumimoji="0" lang="en-US" altLang="zh-CN" sz="20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endParaRPr>
          </a:p>
          <a:p>
            <a:pPr marL="457200" indent="-457200" eaLnBrk="0" hangingPunct="0">
              <a:buFont typeface="+mj-lt"/>
              <a:buAutoNum type="alphaLcParenR"/>
            </a:pPr>
            <a:r>
              <a:rPr kumimoji="0" lang="zh-CN" altLang="en-US" sz="2000" b="0" i="0" u="none" strike="noStrike" cap="none" normalizeH="0" baseline="0" dirty="0">
                <a:ln>
                  <a:noFill/>
                </a:ln>
                <a:effectLst/>
                <a:latin typeface="黑体" panose="02010609060101010101" pitchFamily="49" charset="-122"/>
                <a:ea typeface="黑体" panose="02010609060101010101" pitchFamily="49" charset="-122"/>
              </a:rPr>
              <a:t>定子铁心：</a:t>
            </a:r>
            <a:r>
              <a:rPr kumimoji="0" lang="zh-CN" altLang="en-US" sz="2000" b="0" i="0" u="none" strike="noStrike" cap="none" normalizeH="0" baseline="0" dirty="0">
                <a:ln>
                  <a:noFill/>
                </a:ln>
                <a:effectLst/>
                <a:latin typeface="+mn-ea"/>
                <a:ea typeface="+mn-ea"/>
              </a:rPr>
              <a:t>由</a:t>
            </a:r>
            <a:r>
              <a:rPr lang="zh-CN" altLang="en-US" sz="2000" dirty="0">
                <a:latin typeface="+mn-ea"/>
                <a:ea typeface="+mn-ea"/>
              </a:rPr>
              <a:t>导磁性能良好的硅钢片叠压而成</a:t>
            </a:r>
            <a:r>
              <a:rPr lang="en-US" altLang="zh-CN" sz="2000" dirty="0">
                <a:latin typeface="+mn-ea"/>
                <a:ea typeface="+mn-ea"/>
              </a:rPr>
              <a:t>——</a:t>
            </a:r>
            <a:r>
              <a:rPr lang="zh-CN" altLang="en-US" sz="2000" dirty="0">
                <a:latin typeface="+mn-ea"/>
                <a:ea typeface="+mn-ea"/>
              </a:rPr>
              <a:t>导磁部分</a:t>
            </a:r>
            <a:endParaRPr kumimoji="0" lang="en-US" altLang="zh-CN" sz="2000" b="0" i="0" u="none" strike="noStrike" cap="none" normalizeH="0" baseline="0" dirty="0">
              <a:ln>
                <a:noFill/>
              </a:ln>
              <a:effectLst/>
              <a:latin typeface="+mn-ea"/>
              <a:ea typeface="+mn-ea"/>
            </a:endParaRPr>
          </a:p>
          <a:p>
            <a:pPr marL="457200" indent="-457200" eaLnBrk="0" hangingPunct="0">
              <a:buFont typeface="+mj-lt"/>
              <a:buAutoNum type="alphaLcParenR"/>
            </a:pPr>
            <a:r>
              <a:rPr lang="zh-CN" altLang="en-US" sz="2000" dirty="0">
                <a:latin typeface="黑体" panose="02010609060101010101" pitchFamily="49" charset="-122"/>
                <a:ea typeface="黑体" panose="02010609060101010101" pitchFamily="49" charset="-122"/>
              </a:rPr>
              <a:t>定子绕组</a:t>
            </a:r>
            <a:r>
              <a:rPr lang="zh-CN" altLang="en-US" sz="2000" dirty="0">
                <a:latin typeface="+mn-ea"/>
                <a:ea typeface="+mn-ea"/>
              </a:rPr>
              <a:t>：放在定子铁心内圆槽内</a:t>
            </a:r>
            <a:r>
              <a:rPr lang="en-US" altLang="zh-CN" sz="2000" dirty="0">
                <a:latin typeface="+mn-ea"/>
                <a:ea typeface="+mn-ea"/>
              </a:rPr>
              <a:t>——</a:t>
            </a:r>
            <a:r>
              <a:rPr lang="zh-CN" altLang="en-US" sz="2000" dirty="0">
                <a:latin typeface="+mn-ea"/>
                <a:ea typeface="+mn-ea"/>
              </a:rPr>
              <a:t>导电部分</a:t>
            </a:r>
            <a:endParaRPr lang="en-US" altLang="zh-CN" sz="2000" dirty="0">
              <a:latin typeface="+mn-ea"/>
              <a:ea typeface="+mn-ea"/>
            </a:endParaRPr>
          </a:p>
          <a:p>
            <a:pPr marL="457200" indent="-457200" eaLnBrk="0" hangingPunct="0">
              <a:buFont typeface="+mj-lt"/>
              <a:buAutoNum type="alphaLcParenR"/>
            </a:pPr>
            <a:r>
              <a:rPr lang="zh-CN" altLang="en-US" sz="2000" dirty="0">
                <a:latin typeface="黑体" panose="02010609060101010101" pitchFamily="49" charset="-122"/>
                <a:ea typeface="黑体" panose="02010609060101010101" pitchFamily="49" charset="-122"/>
              </a:rPr>
              <a:t>机座：</a:t>
            </a:r>
            <a:r>
              <a:rPr lang="zh-CN" altLang="en-US" sz="2000" dirty="0">
                <a:latin typeface="+mn-ea"/>
                <a:ea typeface="+mn-ea"/>
              </a:rPr>
              <a:t>固定定子铁心及端盖，具有较强的机械强度和刚度</a:t>
            </a:r>
            <a:endParaRPr kumimoji="0" lang="en-US" altLang="zh-CN" sz="2000" i="0" u="none" strike="noStrike" cap="none" normalizeH="0" baseline="0" dirty="0">
              <a:ln>
                <a:noFill/>
              </a:ln>
              <a:effectLst/>
              <a:latin typeface="+mn-ea"/>
              <a:ea typeface="+mn-ea"/>
            </a:endParaRPr>
          </a:p>
        </p:txBody>
      </p:sp>
      <p:sp>
        <p:nvSpPr>
          <p:cNvPr id="6" name="文本框 5">
            <a:extLst>
              <a:ext uri="{FF2B5EF4-FFF2-40B4-BE49-F238E27FC236}">
                <a16:creationId xmlns:a16="http://schemas.microsoft.com/office/drawing/2014/main" id="{DE2942AB-5E80-2569-43DD-52702D98C8D0}"/>
              </a:ext>
            </a:extLst>
          </p:cNvPr>
          <p:cNvSpPr txBox="1"/>
          <p:nvPr/>
        </p:nvSpPr>
        <p:spPr>
          <a:xfrm>
            <a:off x="539552" y="2843064"/>
            <a:ext cx="7992888" cy="1631216"/>
          </a:xfrm>
          <a:prstGeom prst="rect">
            <a:avLst/>
          </a:prstGeom>
          <a:noFill/>
        </p:spPr>
        <p:txBody>
          <a:bodyPr wrap="square">
            <a:spAutoFit/>
          </a:bodyPr>
          <a:lstStyle/>
          <a:p>
            <a:pPr eaLnBrk="0" hangingPunct="0"/>
            <a:r>
              <a:rPr kumimoji="0" lang="en-US" altLang="zh-CN" sz="200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00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、转子部分</a:t>
            </a:r>
            <a:endParaRPr kumimoji="0" lang="en-US" altLang="zh-CN" sz="200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endParaRPr>
          </a:p>
          <a:p>
            <a:pPr marL="457200" indent="-457200" eaLnBrk="0" hangingPunct="0">
              <a:buFont typeface="+mj-lt"/>
              <a:buAutoNum type="alphaLcParenR"/>
            </a:pPr>
            <a:r>
              <a:rPr lang="zh-CN" altLang="en-US" sz="2000" dirty="0">
                <a:latin typeface="黑体" panose="02010609060101010101" pitchFamily="49" charset="-122"/>
                <a:ea typeface="黑体" panose="02010609060101010101" pitchFamily="49" charset="-122"/>
              </a:rPr>
              <a:t>转子</a:t>
            </a:r>
            <a:r>
              <a:rPr kumimoji="0" lang="zh-CN" altLang="en-US" sz="2000" i="0" u="none" strike="noStrike" cap="none" normalizeH="0" baseline="0" dirty="0">
                <a:ln>
                  <a:noFill/>
                </a:ln>
                <a:effectLst/>
                <a:latin typeface="黑体" panose="02010609060101010101" pitchFamily="49" charset="-122"/>
                <a:ea typeface="黑体" panose="02010609060101010101" pitchFamily="49" charset="-122"/>
              </a:rPr>
              <a:t>铁心</a:t>
            </a:r>
            <a:r>
              <a:rPr kumimoji="0" lang="zh-CN" altLang="en-US" sz="2000" i="0" u="none" strike="noStrike" cap="none" normalizeH="0" baseline="0" dirty="0">
                <a:ln>
                  <a:noFill/>
                </a:ln>
                <a:effectLst/>
                <a:latin typeface="+mn-ea"/>
                <a:ea typeface="+mn-ea"/>
              </a:rPr>
              <a:t>：</a:t>
            </a:r>
            <a:r>
              <a:rPr lang="zh-CN" altLang="en-US" sz="2000" dirty="0">
                <a:latin typeface="+mn-ea"/>
                <a:ea typeface="+mn-ea"/>
              </a:rPr>
              <a:t>硅钢片叠压而成，也是磁路的一部分</a:t>
            </a:r>
            <a:endParaRPr kumimoji="0" lang="en-US" altLang="zh-CN" sz="2000" i="0" u="none" strike="noStrike" cap="none" normalizeH="0" baseline="0" dirty="0">
              <a:ln>
                <a:noFill/>
              </a:ln>
              <a:effectLst/>
              <a:latin typeface="+mn-ea"/>
              <a:ea typeface="+mn-ea"/>
            </a:endParaRPr>
          </a:p>
          <a:p>
            <a:pPr marL="457200" indent="-457200" eaLnBrk="0" hangingPunct="0">
              <a:buFont typeface="+mj-lt"/>
              <a:buAutoNum type="alphaLcParenR"/>
            </a:pPr>
            <a:r>
              <a:rPr lang="zh-CN" altLang="en-US" sz="2000" dirty="0">
                <a:latin typeface="黑体" panose="02010609060101010101" pitchFamily="49" charset="-122"/>
                <a:ea typeface="黑体" panose="02010609060101010101" pitchFamily="49" charset="-122"/>
              </a:rPr>
              <a:t>转子绕组：</a:t>
            </a:r>
            <a:r>
              <a:rPr lang="zh-CN" altLang="en-US" sz="2000" b="1" dirty="0">
                <a:latin typeface="+mn-ea"/>
                <a:ea typeface="+mn-ea"/>
              </a:rPr>
              <a:t>鼠笼式转子</a:t>
            </a:r>
            <a:r>
              <a:rPr lang="en-US" altLang="zh-CN" sz="2000" dirty="0">
                <a:latin typeface="+mn-ea"/>
                <a:ea typeface="+mn-ea"/>
              </a:rPr>
              <a:t>——</a:t>
            </a:r>
            <a:r>
              <a:rPr lang="zh-CN" altLang="en-US" sz="2000" dirty="0">
                <a:latin typeface="+mn-ea"/>
                <a:ea typeface="+mn-ea"/>
              </a:rPr>
              <a:t>转子铁心的每一个槽内插入一根裸导条，形成一个多相对称短路绕组；</a:t>
            </a:r>
            <a:r>
              <a:rPr lang="zh-CN" altLang="en-US" sz="2000" b="1" dirty="0">
                <a:latin typeface="+mn-ea"/>
                <a:ea typeface="+mn-ea"/>
              </a:rPr>
              <a:t>绕线式转子</a:t>
            </a:r>
            <a:r>
              <a:rPr lang="en-US" altLang="zh-CN" sz="2000" dirty="0">
                <a:latin typeface="+mn-ea"/>
                <a:ea typeface="+mn-ea"/>
              </a:rPr>
              <a:t>——</a:t>
            </a:r>
            <a:r>
              <a:rPr lang="zh-CN" altLang="en-US" sz="2000" dirty="0">
                <a:latin typeface="+mn-ea"/>
                <a:ea typeface="+mn-ea"/>
              </a:rPr>
              <a:t>转子绕组同定子一样也是三相对称绕组，嵌放在转子铁心槽内。</a:t>
            </a:r>
            <a:endParaRPr lang="en-US" altLang="zh-CN" sz="2000" dirty="0">
              <a:latin typeface="+mn-ea"/>
              <a:ea typeface="+mn-ea"/>
            </a:endParaRPr>
          </a:p>
        </p:txBody>
      </p:sp>
      <p:sp>
        <p:nvSpPr>
          <p:cNvPr id="7" name="文本框 6">
            <a:extLst>
              <a:ext uri="{FF2B5EF4-FFF2-40B4-BE49-F238E27FC236}">
                <a16:creationId xmlns:a16="http://schemas.microsoft.com/office/drawing/2014/main" id="{FFA94007-5723-5426-0ACA-8662E29436D1}"/>
              </a:ext>
            </a:extLst>
          </p:cNvPr>
          <p:cNvSpPr txBox="1"/>
          <p:nvPr/>
        </p:nvSpPr>
        <p:spPr>
          <a:xfrm>
            <a:off x="539552" y="4437112"/>
            <a:ext cx="5544616" cy="1015663"/>
          </a:xfrm>
          <a:prstGeom prst="rect">
            <a:avLst/>
          </a:prstGeom>
          <a:noFill/>
        </p:spPr>
        <p:txBody>
          <a:bodyPr wrap="square">
            <a:spAutoFit/>
          </a:bodyPr>
          <a:lstStyle/>
          <a:p>
            <a:pPr eaLnBrk="0" hangingPunct="0"/>
            <a:r>
              <a:rPr lang="en-US" altLang="zh-CN" sz="2000" dirty="0">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00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、气隙</a:t>
            </a:r>
            <a:endParaRPr kumimoji="0" lang="en-US" altLang="zh-CN" sz="200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endParaRPr>
          </a:p>
          <a:p>
            <a:pPr eaLnBrk="0" hangingPunct="0"/>
            <a:r>
              <a:rPr lang="zh-CN" altLang="en-US" sz="2000" dirty="0">
                <a:latin typeface="+mn-ea"/>
                <a:ea typeface="+mn-ea"/>
                <a:cs typeface="Times New Roman" panose="02020603050405020304" pitchFamily="18" charset="0"/>
              </a:rPr>
              <a:t>异步电机的气隙是均匀的，大小为机械条件所允许达到的最小值。</a:t>
            </a:r>
            <a:endParaRPr lang="en-US" altLang="zh-CN" sz="2000" dirty="0">
              <a:latin typeface="+mn-ea"/>
              <a:ea typeface="+mn-ea"/>
            </a:endParaRPr>
          </a:p>
        </p:txBody>
      </p:sp>
      <p:sp>
        <p:nvSpPr>
          <p:cNvPr id="8" name="文本框 7">
            <a:extLst>
              <a:ext uri="{FF2B5EF4-FFF2-40B4-BE49-F238E27FC236}">
                <a16:creationId xmlns:a16="http://schemas.microsoft.com/office/drawing/2014/main" id="{89384ABA-5782-BF20-F1BF-5AA02113B45E}"/>
              </a:ext>
            </a:extLst>
          </p:cNvPr>
          <p:cNvSpPr txBox="1"/>
          <p:nvPr/>
        </p:nvSpPr>
        <p:spPr>
          <a:xfrm>
            <a:off x="539552" y="5517232"/>
            <a:ext cx="4608512" cy="707886"/>
          </a:xfrm>
          <a:prstGeom prst="rect">
            <a:avLst/>
          </a:prstGeom>
          <a:noFill/>
        </p:spPr>
        <p:txBody>
          <a:bodyPr wrap="square">
            <a:spAutoFit/>
          </a:bodyPr>
          <a:lstStyle/>
          <a:p>
            <a:pPr eaLnBrk="0" hangingPunct="0"/>
            <a:r>
              <a:rPr kumimoji="0" lang="en-US" altLang="zh-CN" sz="200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4</a:t>
            </a:r>
            <a:r>
              <a:rPr kumimoji="0" lang="zh-CN" altLang="en-US" sz="200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、转轴</a:t>
            </a:r>
            <a:endParaRPr kumimoji="0" lang="en-US" altLang="zh-CN" sz="2000"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endParaRPr>
          </a:p>
          <a:p>
            <a:pPr eaLnBrk="0" hangingPunct="0"/>
            <a:r>
              <a:rPr lang="zh-CN" altLang="en-US" sz="2000" dirty="0">
                <a:latin typeface="+mn-ea"/>
                <a:ea typeface="+mn-ea"/>
                <a:cs typeface="Times New Roman" panose="02020603050405020304" pitchFamily="18" charset="0"/>
              </a:rPr>
              <a:t>作用是支承转子铁心和传递机械功率。</a:t>
            </a:r>
            <a:endParaRPr lang="en-US" altLang="zh-CN" sz="2000" dirty="0">
              <a:latin typeface="+mn-ea"/>
              <a:ea typeface="+mn-ea"/>
            </a:endParaRPr>
          </a:p>
        </p:txBody>
      </p:sp>
      <p:sp>
        <p:nvSpPr>
          <p:cNvPr id="3" name="灯片编号占位符 2">
            <a:extLst>
              <a:ext uri="{FF2B5EF4-FFF2-40B4-BE49-F238E27FC236}">
                <a16:creationId xmlns:a16="http://schemas.microsoft.com/office/drawing/2014/main" id="{FC340DAE-FD79-B250-FC15-F2B5C0370884}"/>
              </a:ext>
            </a:extLst>
          </p:cNvPr>
          <p:cNvSpPr>
            <a:spLocks noGrp="1"/>
          </p:cNvSpPr>
          <p:nvPr>
            <p:ph type="sldNum" sz="quarter" idx="12"/>
          </p:nvPr>
        </p:nvSpPr>
        <p:spPr/>
        <p:txBody>
          <a:bodyPr/>
          <a:lstStyle/>
          <a:p>
            <a:fld id="{76D830B0-DF59-4281-898F-AF208100B213}" type="slidenum">
              <a:rPr lang="en-US" altLang="zh-CN" smtClean="0"/>
              <a:pPr/>
              <a:t>16</a:t>
            </a:fld>
            <a:endParaRPr lang="en-US" altLang="zh-CN"/>
          </a:p>
        </p:txBody>
      </p:sp>
    </p:spTree>
    <p:extLst>
      <p:ext uri="{BB962C8B-B14F-4D97-AF65-F5344CB8AC3E}">
        <p14:creationId xmlns:p14="http://schemas.microsoft.com/office/powerpoint/2010/main" val="1467747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id="{771F0F7B-853A-DECA-92BD-78616DFBDA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458" y="4005064"/>
            <a:ext cx="3690815" cy="2709712"/>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7ED416BE-E03E-04EF-D01F-C1F55569A5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325" y="908720"/>
            <a:ext cx="8458201" cy="331787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3" name="对象 2">
            <a:extLst>
              <a:ext uri="{FF2B5EF4-FFF2-40B4-BE49-F238E27FC236}">
                <a16:creationId xmlns:a16="http://schemas.microsoft.com/office/drawing/2014/main" id="{B0C934C0-70D8-A41F-95D2-A72E1F42D3E7}"/>
              </a:ext>
            </a:extLst>
          </p:cNvPr>
          <p:cNvGraphicFramePr>
            <a:graphicFrameLocks noChangeAspect="1"/>
          </p:cNvGraphicFramePr>
          <p:nvPr>
            <p:extLst>
              <p:ext uri="{D42A27DB-BD31-4B8C-83A1-F6EECF244321}">
                <p14:modId xmlns:p14="http://schemas.microsoft.com/office/powerpoint/2010/main" val="2049186688"/>
              </p:ext>
            </p:extLst>
          </p:nvPr>
        </p:nvGraphicFramePr>
        <p:xfrm>
          <a:off x="4283968" y="4526200"/>
          <a:ext cx="4657725" cy="1981200"/>
        </p:xfrm>
        <a:graphic>
          <a:graphicData uri="http://schemas.openxmlformats.org/presentationml/2006/ole">
            <mc:AlternateContent xmlns:mc="http://schemas.openxmlformats.org/markup-compatibility/2006">
              <mc:Choice xmlns:v="urn:schemas-microsoft-com:vml" Requires="v">
                <p:oleObj name="BMP 图像" r:id="rId4" imgW="3200000" imgH="1362265" progId="Paint.Picture">
                  <p:embed/>
                </p:oleObj>
              </mc:Choice>
              <mc:Fallback>
                <p:oleObj name="BMP 图像" r:id="rId4" imgW="3200000" imgH="1362265" progId="Paint.Picture">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3968" y="4526200"/>
                        <a:ext cx="4657725" cy="1981200"/>
                      </a:xfrm>
                      <a:prstGeom prst="rect">
                        <a:avLst/>
                      </a:prstGeom>
                      <a:noFill/>
                      <a:extLst>
                        <a:ext uri="{909E8E84-426E-40DD-AFC4-6F175D3DCCD1}">
                          <a14:hiddenFill xmlns:a14="http://schemas.microsoft.com/office/drawing/2010/main">
                            <a:solidFill>
                              <a:srgbClr val="BBE0E3"/>
                            </a:solidFill>
                          </a14:hiddenFill>
                        </a:ext>
                      </a:extLst>
                    </p:spPr>
                  </p:pic>
                </p:oleObj>
              </mc:Fallback>
            </mc:AlternateContent>
          </a:graphicData>
        </a:graphic>
      </p:graphicFrame>
      <p:sp>
        <p:nvSpPr>
          <p:cNvPr id="4" name="灯片编号占位符 3">
            <a:extLst>
              <a:ext uri="{FF2B5EF4-FFF2-40B4-BE49-F238E27FC236}">
                <a16:creationId xmlns:a16="http://schemas.microsoft.com/office/drawing/2014/main" id="{32129576-D2D3-A531-C9D4-2DAB0ED6EB3C}"/>
              </a:ext>
            </a:extLst>
          </p:cNvPr>
          <p:cNvSpPr>
            <a:spLocks noGrp="1"/>
          </p:cNvSpPr>
          <p:nvPr>
            <p:ph type="sldNum" sz="quarter" idx="12"/>
          </p:nvPr>
        </p:nvSpPr>
        <p:spPr/>
        <p:txBody>
          <a:bodyPr/>
          <a:lstStyle/>
          <a:p>
            <a:fld id="{76D830B0-DF59-4281-898F-AF208100B213}" type="slidenum">
              <a:rPr lang="en-US" altLang="zh-CN" smtClean="0"/>
              <a:pPr/>
              <a:t>17</a:t>
            </a:fld>
            <a:endParaRPr lang="en-US" altLang="zh-CN"/>
          </a:p>
        </p:txBody>
      </p:sp>
    </p:spTree>
    <p:extLst>
      <p:ext uri="{BB962C8B-B14F-4D97-AF65-F5344CB8AC3E}">
        <p14:creationId xmlns:p14="http://schemas.microsoft.com/office/powerpoint/2010/main" val="1247641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61E6910-4616-167F-DA20-B3CE1C8961D9}"/>
              </a:ext>
            </a:extLst>
          </p:cNvPr>
          <p:cNvSpPr txBox="1"/>
          <p:nvPr/>
        </p:nvSpPr>
        <p:spPr>
          <a:xfrm>
            <a:off x="251520" y="1052736"/>
            <a:ext cx="5832648" cy="49244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四、三相异步电动机的铭牌数据：</a:t>
            </a:r>
            <a:endParaRPr kumimoji="0" lang="zh-CN" altLang="en-US" sz="2600" b="0" i="0" u="none" strike="noStrike" cap="none" normalizeH="0" baseline="0" dirty="0">
              <a:ln>
                <a:noFill/>
              </a:ln>
              <a:solidFill>
                <a:schemeClr val="tx1"/>
              </a:solidFill>
              <a:effectLst/>
              <a:latin typeface="Arial" panose="020B0604020202020204" pitchFamily="34" charset="0"/>
            </a:endParaRPr>
          </a:p>
        </p:txBody>
      </p:sp>
      <p:sp>
        <p:nvSpPr>
          <p:cNvPr id="2" name="Rectangle 2">
            <a:extLst>
              <a:ext uri="{FF2B5EF4-FFF2-40B4-BE49-F238E27FC236}">
                <a16:creationId xmlns:a16="http://schemas.microsoft.com/office/drawing/2014/main" id="{5693BA28-AE39-0F61-CA26-5800B09A899B}"/>
              </a:ext>
            </a:extLst>
          </p:cNvPr>
          <p:cNvSpPr>
            <a:spLocks noChangeArrowheads="1"/>
          </p:cNvSpPr>
          <p:nvPr/>
        </p:nvSpPr>
        <p:spPr bwMode="auto">
          <a:xfrm>
            <a:off x="683568" y="1705312"/>
            <a:ext cx="16049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、额定功率</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aphicFrame>
        <p:nvGraphicFramePr>
          <p:cNvPr id="3" name="对象 2">
            <a:extLst>
              <a:ext uri="{FF2B5EF4-FFF2-40B4-BE49-F238E27FC236}">
                <a16:creationId xmlns:a16="http://schemas.microsoft.com/office/drawing/2014/main" id="{B622B7C7-64F6-4D41-72D4-F2D6F0F6C039}"/>
              </a:ext>
            </a:extLst>
          </p:cNvPr>
          <p:cNvGraphicFramePr>
            <a:graphicFrameLocks noChangeAspect="1"/>
          </p:cNvGraphicFramePr>
          <p:nvPr>
            <p:extLst>
              <p:ext uri="{D42A27DB-BD31-4B8C-83A1-F6EECF244321}">
                <p14:modId xmlns:p14="http://schemas.microsoft.com/office/powerpoint/2010/main" val="2490879251"/>
              </p:ext>
            </p:extLst>
          </p:nvPr>
        </p:nvGraphicFramePr>
        <p:xfrm>
          <a:off x="2216610" y="1726247"/>
          <a:ext cx="379176" cy="379176"/>
        </p:xfrm>
        <a:graphic>
          <a:graphicData uri="http://schemas.openxmlformats.org/presentationml/2006/ole">
            <mc:AlternateContent xmlns:mc="http://schemas.openxmlformats.org/markup-compatibility/2006">
              <mc:Choice xmlns:v="urn:schemas-microsoft-com:vml" Requires="v">
                <p:oleObj name="Equation" r:id="rId2" imgW="228600" imgH="228600" progId="Equation.DSMT4">
                  <p:embed/>
                </p:oleObj>
              </mc:Choice>
              <mc:Fallback>
                <p:oleObj name="Equation" r:id="rId2" imgW="228600" imgH="2286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6610" y="1726247"/>
                        <a:ext cx="379176" cy="379176"/>
                      </a:xfrm>
                      <a:prstGeom prst="rect">
                        <a:avLst/>
                      </a:prstGeom>
                      <a:noFill/>
                    </p:spPr>
                  </p:pic>
                </p:oleObj>
              </mc:Fallback>
            </mc:AlternateContent>
          </a:graphicData>
        </a:graphic>
      </p:graphicFrame>
      <p:sp>
        <p:nvSpPr>
          <p:cNvPr id="15" name="文本框 14">
            <a:extLst>
              <a:ext uri="{FF2B5EF4-FFF2-40B4-BE49-F238E27FC236}">
                <a16:creationId xmlns:a16="http://schemas.microsoft.com/office/drawing/2014/main" id="{DDBDF5FF-4316-B914-2284-ECD2D2260EFC}"/>
              </a:ext>
            </a:extLst>
          </p:cNvPr>
          <p:cNvSpPr txBox="1"/>
          <p:nvPr/>
        </p:nvSpPr>
        <p:spPr>
          <a:xfrm>
            <a:off x="755576" y="2060079"/>
            <a:ext cx="6048672"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i="0" u="none" strike="noStrike" cap="none" normalizeH="0" baseline="0" dirty="0">
                <a:ln>
                  <a:noFill/>
                </a:ln>
                <a:solidFill>
                  <a:srgbClr val="000000"/>
                </a:solidFill>
                <a:effectLst/>
                <a:latin typeface="+mn-ea"/>
                <a:ea typeface="+mn-ea"/>
                <a:cs typeface="Times New Roman" panose="02020603050405020304" pitchFamily="18" charset="0"/>
              </a:rPr>
              <a:t>——</a:t>
            </a:r>
            <a:r>
              <a:rPr kumimoji="0" lang="zh-CN" altLang="en-US" sz="2000" i="0" u="none" strike="noStrike" cap="none" normalizeH="0" baseline="0" dirty="0">
                <a:ln>
                  <a:noFill/>
                </a:ln>
                <a:solidFill>
                  <a:srgbClr val="000000"/>
                </a:solidFill>
                <a:effectLst/>
                <a:latin typeface="+mn-ea"/>
                <a:ea typeface="+mn-ea"/>
                <a:cs typeface="Times New Roman" panose="02020603050405020304" pitchFamily="18" charset="0"/>
              </a:rPr>
              <a:t>额定运行状态下的</a:t>
            </a:r>
            <a:r>
              <a:rPr lang="zh-CN" altLang="en-US" sz="2000" dirty="0">
                <a:solidFill>
                  <a:srgbClr val="000000"/>
                </a:solidFill>
                <a:latin typeface="+mn-ea"/>
                <a:ea typeface="+mn-ea"/>
                <a:cs typeface="Times New Roman" panose="02020603050405020304" pitchFamily="18" charset="0"/>
              </a:rPr>
              <a:t>轴</a:t>
            </a:r>
            <a:r>
              <a:rPr kumimoji="0" lang="zh-CN" altLang="en-US" sz="2000" i="0" u="none" strike="noStrike" cap="none" normalizeH="0" baseline="0" dirty="0">
                <a:ln>
                  <a:noFill/>
                </a:ln>
                <a:solidFill>
                  <a:srgbClr val="000000"/>
                </a:solidFill>
                <a:effectLst/>
                <a:latin typeface="+mn-ea"/>
                <a:ea typeface="+mn-ea"/>
                <a:cs typeface="Times New Roman" panose="02020603050405020304" pitchFamily="18" charset="0"/>
              </a:rPr>
              <a:t>上</a:t>
            </a:r>
            <a:r>
              <a:rPr kumimoji="0" lang="zh-CN" altLang="en-US" sz="2000" i="0" u="none" strike="noStrike" cap="none" normalizeH="0" baseline="0" dirty="0">
                <a:ln>
                  <a:noFill/>
                </a:ln>
                <a:solidFill>
                  <a:srgbClr val="00B050"/>
                </a:solidFill>
                <a:effectLst/>
                <a:latin typeface="+mn-ea"/>
                <a:ea typeface="+mn-ea"/>
                <a:cs typeface="Times New Roman" panose="02020603050405020304" pitchFamily="18" charset="0"/>
              </a:rPr>
              <a:t>输出功率</a:t>
            </a:r>
            <a:r>
              <a:rPr kumimoji="0" lang="zh-CN" altLang="en-US" sz="2000" i="0" u="none" strike="noStrike" cap="none" normalizeH="0" baseline="0" dirty="0">
                <a:ln>
                  <a:noFill/>
                </a:ln>
                <a:solidFill>
                  <a:srgbClr val="000000"/>
                </a:solidFill>
                <a:effectLst/>
                <a:latin typeface="+mn-ea"/>
                <a:ea typeface="+mn-ea"/>
                <a:cs typeface="Times New Roman" panose="02020603050405020304" pitchFamily="18" charset="0"/>
              </a:rPr>
              <a:t>，单位：</a:t>
            </a:r>
            <a:r>
              <a:rPr kumimoji="0" lang="en-US" altLang="zh-CN" sz="2000" i="0" u="none" strike="noStrike" cap="none" normalizeH="0" baseline="0" dirty="0">
                <a:ln>
                  <a:noFill/>
                </a:ln>
                <a:solidFill>
                  <a:srgbClr val="000000"/>
                </a:solidFill>
                <a:effectLst/>
                <a:latin typeface="+mn-ea"/>
                <a:ea typeface="+mn-ea"/>
                <a:cs typeface="Times New Roman" panose="02020603050405020304" pitchFamily="18" charset="0"/>
              </a:rPr>
              <a:t>kW</a:t>
            </a:r>
            <a:r>
              <a:rPr kumimoji="0" lang="zh-CN" altLang="en-US" sz="2000" i="0" u="none" strike="noStrike" cap="none" normalizeH="0" baseline="0" dirty="0">
                <a:ln>
                  <a:noFill/>
                </a:ln>
                <a:solidFill>
                  <a:srgbClr val="000000"/>
                </a:solidFill>
                <a:effectLst/>
                <a:latin typeface="+mn-ea"/>
                <a:ea typeface="+mn-ea"/>
                <a:cs typeface="Times New Roman" panose="02020603050405020304" pitchFamily="18" charset="0"/>
              </a:rPr>
              <a:t>。</a:t>
            </a:r>
            <a:r>
              <a:rPr kumimoji="0" lang="zh-CN" altLang="en-US" sz="2000" i="0" u="none" strike="noStrike" cap="none" normalizeH="0" baseline="0" dirty="0">
                <a:ln>
                  <a:noFill/>
                </a:ln>
                <a:solidFill>
                  <a:schemeClr val="tx1"/>
                </a:solidFill>
                <a:effectLst/>
                <a:latin typeface="+mn-ea"/>
                <a:ea typeface="+mn-ea"/>
              </a:rPr>
              <a:t> </a:t>
            </a:r>
          </a:p>
        </p:txBody>
      </p:sp>
      <p:sp>
        <p:nvSpPr>
          <p:cNvPr id="16" name="Rectangle 2">
            <a:extLst>
              <a:ext uri="{FF2B5EF4-FFF2-40B4-BE49-F238E27FC236}">
                <a16:creationId xmlns:a16="http://schemas.microsoft.com/office/drawing/2014/main" id="{276F7EED-0A35-D988-30F9-A6F2FB49B390}"/>
              </a:ext>
            </a:extLst>
          </p:cNvPr>
          <p:cNvSpPr>
            <a:spLocks noChangeArrowheads="1"/>
          </p:cNvSpPr>
          <p:nvPr/>
        </p:nvSpPr>
        <p:spPr bwMode="auto">
          <a:xfrm>
            <a:off x="683568" y="2591410"/>
            <a:ext cx="16049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、额定电压</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sp>
        <p:nvSpPr>
          <p:cNvPr id="17" name="文本框 16">
            <a:extLst>
              <a:ext uri="{FF2B5EF4-FFF2-40B4-BE49-F238E27FC236}">
                <a16:creationId xmlns:a16="http://schemas.microsoft.com/office/drawing/2014/main" id="{88C3B2D3-6FAB-E6DA-B5E2-B3D634B36004}"/>
              </a:ext>
            </a:extLst>
          </p:cNvPr>
          <p:cNvSpPr txBox="1"/>
          <p:nvPr/>
        </p:nvSpPr>
        <p:spPr>
          <a:xfrm>
            <a:off x="755576" y="2996183"/>
            <a:ext cx="6840760"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i="0" u="none" strike="noStrike" cap="none" normalizeH="0" baseline="0" dirty="0">
                <a:ln>
                  <a:noFill/>
                </a:ln>
                <a:solidFill>
                  <a:srgbClr val="000000"/>
                </a:solidFill>
                <a:effectLst/>
                <a:latin typeface="+mn-ea"/>
                <a:ea typeface="+mn-ea"/>
                <a:cs typeface="Times New Roman" panose="02020603050405020304" pitchFamily="18" charset="0"/>
              </a:rPr>
              <a:t>——</a:t>
            </a:r>
            <a:r>
              <a:rPr kumimoji="0" lang="zh-CN" altLang="en-US" sz="2000" i="0" u="none" strike="noStrike" cap="none" normalizeH="0" baseline="0" dirty="0">
                <a:ln>
                  <a:noFill/>
                </a:ln>
                <a:solidFill>
                  <a:srgbClr val="000000"/>
                </a:solidFill>
                <a:effectLst/>
                <a:latin typeface="+mn-ea"/>
                <a:ea typeface="+mn-ea"/>
                <a:cs typeface="Times New Roman" panose="02020603050405020304" pitchFamily="18" charset="0"/>
              </a:rPr>
              <a:t>额定运行状态下加在定子绕组上的</a:t>
            </a:r>
            <a:r>
              <a:rPr kumimoji="0" lang="zh-CN" altLang="en-US" sz="2000" i="0" u="none" strike="noStrike" cap="none" normalizeH="0" baseline="0" dirty="0">
                <a:ln>
                  <a:noFill/>
                </a:ln>
                <a:solidFill>
                  <a:srgbClr val="00B050"/>
                </a:solidFill>
                <a:effectLst/>
                <a:latin typeface="+mn-ea"/>
                <a:ea typeface="+mn-ea"/>
                <a:cs typeface="Times New Roman" panose="02020603050405020304" pitchFamily="18" charset="0"/>
              </a:rPr>
              <a:t>线电压</a:t>
            </a:r>
            <a:r>
              <a:rPr kumimoji="0" lang="zh-CN" altLang="en-US" sz="2000" i="0" u="none" strike="noStrike" cap="none" normalizeH="0" baseline="0" dirty="0">
                <a:ln>
                  <a:noFill/>
                </a:ln>
                <a:solidFill>
                  <a:srgbClr val="000000"/>
                </a:solidFill>
                <a:effectLst/>
                <a:latin typeface="+mn-ea"/>
                <a:ea typeface="+mn-ea"/>
                <a:cs typeface="Times New Roman" panose="02020603050405020304" pitchFamily="18" charset="0"/>
              </a:rPr>
              <a:t>，单位：</a:t>
            </a:r>
            <a:r>
              <a:rPr kumimoji="0" lang="en-US" altLang="zh-CN" sz="2000" i="0" u="none" strike="noStrike" cap="none" normalizeH="0" baseline="0" dirty="0">
                <a:ln>
                  <a:noFill/>
                </a:ln>
                <a:solidFill>
                  <a:srgbClr val="000000"/>
                </a:solidFill>
                <a:effectLst/>
                <a:latin typeface="+mn-ea"/>
                <a:ea typeface="+mn-ea"/>
                <a:cs typeface="Times New Roman" panose="02020603050405020304" pitchFamily="18" charset="0"/>
              </a:rPr>
              <a:t>V</a:t>
            </a:r>
            <a:r>
              <a:rPr kumimoji="0" lang="zh-CN" altLang="en-US" sz="2000" i="0" u="none" strike="noStrike" cap="none" normalizeH="0" baseline="0" dirty="0">
                <a:ln>
                  <a:noFill/>
                </a:ln>
                <a:solidFill>
                  <a:srgbClr val="000000"/>
                </a:solidFill>
                <a:effectLst/>
                <a:latin typeface="+mn-ea"/>
                <a:ea typeface="+mn-ea"/>
                <a:cs typeface="Times New Roman" panose="02020603050405020304" pitchFamily="18" charset="0"/>
              </a:rPr>
              <a:t>。 </a:t>
            </a:r>
            <a:endParaRPr kumimoji="0" lang="zh-CN" altLang="en-US" sz="2000" i="0" u="none" strike="noStrike" cap="none" normalizeH="0" baseline="0" dirty="0">
              <a:ln>
                <a:noFill/>
              </a:ln>
              <a:solidFill>
                <a:schemeClr val="tx1"/>
              </a:solidFill>
              <a:effectLst/>
              <a:latin typeface="+mn-ea"/>
              <a:ea typeface="+mn-ea"/>
            </a:endParaRPr>
          </a:p>
        </p:txBody>
      </p:sp>
      <p:graphicFrame>
        <p:nvGraphicFramePr>
          <p:cNvPr id="21" name="对象 20">
            <a:extLst>
              <a:ext uri="{FF2B5EF4-FFF2-40B4-BE49-F238E27FC236}">
                <a16:creationId xmlns:a16="http://schemas.microsoft.com/office/drawing/2014/main" id="{2E05E583-7C25-CBA5-E95A-C871ECDD5181}"/>
              </a:ext>
            </a:extLst>
          </p:cNvPr>
          <p:cNvGraphicFramePr>
            <a:graphicFrameLocks noChangeAspect="1"/>
          </p:cNvGraphicFramePr>
          <p:nvPr>
            <p:extLst>
              <p:ext uri="{D42A27DB-BD31-4B8C-83A1-F6EECF244321}">
                <p14:modId xmlns:p14="http://schemas.microsoft.com/office/powerpoint/2010/main" val="1024144757"/>
              </p:ext>
            </p:extLst>
          </p:nvPr>
        </p:nvGraphicFramePr>
        <p:xfrm>
          <a:off x="2195736" y="2629624"/>
          <a:ext cx="400050" cy="342900"/>
        </p:xfrm>
        <a:graphic>
          <a:graphicData uri="http://schemas.openxmlformats.org/presentationml/2006/ole">
            <mc:AlternateContent xmlns:mc="http://schemas.openxmlformats.org/markup-compatibility/2006">
              <mc:Choice xmlns:v="urn:schemas-microsoft-com:vml" Requires="v">
                <p:oleObj name="Equation" r:id="rId4" imgW="266584" imgH="228501" progId="Equation.DSMT4">
                  <p:embed/>
                </p:oleObj>
              </mc:Choice>
              <mc:Fallback>
                <p:oleObj name="Equation" r:id="rId4" imgW="266584" imgH="228501" progId="Equation.DSMT4">
                  <p:embed/>
                  <p:pic>
                    <p:nvPicPr>
                      <p:cNvPr id="19" name="对象 18">
                        <a:extLst>
                          <a:ext uri="{FF2B5EF4-FFF2-40B4-BE49-F238E27FC236}">
                            <a16:creationId xmlns:a16="http://schemas.microsoft.com/office/drawing/2014/main" id="{23481295-1748-9411-8844-229A2EEC3A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736" y="2629624"/>
                        <a:ext cx="40005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2">
            <a:extLst>
              <a:ext uri="{FF2B5EF4-FFF2-40B4-BE49-F238E27FC236}">
                <a16:creationId xmlns:a16="http://schemas.microsoft.com/office/drawing/2014/main" id="{A46F4FBB-6885-5747-7F76-3DCD94C2B44B}"/>
              </a:ext>
            </a:extLst>
          </p:cNvPr>
          <p:cNvSpPr>
            <a:spLocks noChangeArrowheads="1"/>
          </p:cNvSpPr>
          <p:nvPr/>
        </p:nvSpPr>
        <p:spPr bwMode="auto">
          <a:xfrm>
            <a:off x="683568" y="3356223"/>
            <a:ext cx="16049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、额定电流</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sp>
        <p:nvSpPr>
          <p:cNvPr id="23" name="文本框 22">
            <a:extLst>
              <a:ext uri="{FF2B5EF4-FFF2-40B4-BE49-F238E27FC236}">
                <a16:creationId xmlns:a16="http://schemas.microsoft.com/office/drawing/2014/main" id="{E23988F1-93A8-F8C0-CEFC-C89083FF6C39}"/>
              </a:ext>
            </a:extLst>
          </p:cNvPr>
          <p:cNvSpPr txBox="1"/>
          <p:nvPr/>
        </p:nvSpPr>
        <p:spPr>
          <a:xfrm>
            <a:off x="755576" y="3788271"/>
            <a:ext cx="6840760" cy="400110"/>
          </a:xfrm>
          <a:prstGeom prst="rect">
            <a:avLst/>
          </a:prstGeom>
          <a:noFill/>
        </p:spPr>
        <p:txBody>
          <a:bodyPr wrap="square">
            <a:spAutoFit/>
          </a:bodyPr>
          <a:lstStyle/>
          <a:p>
            <a:pPr eaLnBrk="0" hangingPunct="0"/>
            <a:r>
              <a:rPr kumimoji="0" lang="en-US" altLang="zh-CN" sz="2000" i="0" u="none" strike="noStrike" cap="none" normalizeH="0" baseline="0" dirty="0">
                <a:ln>
                  <a:noFill/>
                </a:ln>
                <a:solidFill>
                  <a:srgbClr val="000000"/>
                </a:solidFill>
                <a:effectLst/>
                <a:latin typeface="+mn-ea"/>
                <a:ea typeface="+mn-ea"/>
                <a:cs typeface="Times New Roman" panose="02020603050405020304" pitchFamily="18" charset="0"/>
              </a:rPr>
              <a:t>——</a:t>
            </a:r>
            <a:r>
              <a:rPr lang="zh-CN" altLang="zh-CN" sz="2000" kern="100" dirty="0">
                <a:solidFill>
                  <a:srgbClr val="000000"/>
                </a:solidFill>
                <a:effectLst/>
                <a:latin typeface="+mn-ea"/>
                <a:ea typeface="+mn-ea"/>
                <a:cs typeface="Times New Roman" panose="02020603050405020304" pitchFamily="18" charset="0"/>
              </a:rPr>
              <a:t>额定运行状态下电动机定子绕组的</a:t>
            </a:r>
            <a:r>
              <a:rPr lang="zh-CN" altLang="zh-CN" sz="2000" kern="100" dirty="0">
                <a:solidFill>
                  <a:srgbClr val="00B050"/>
                </a:solidFill>
                <a:effectLst/>
                <a:latin typeface="+mn-ea"/>
                <a:ea typeface="+mn-ea"/>
                <a:cs typeface="Times New Roman" panose="02020603050405020304" pitchFamily="18" charset="0"/>
              </a:rPr>
              <a:t>线电流</a:t>
            </a:r>
            <a:r>
              <a:rPr lang="zh-CN" altLang="zh-CN" sz="2000" kern="100" dirty="0">
                <a:solidFill>
                  <a:srgbClr val="000000"/>
                </a:solidFill>
                <a:effectLst/>
                <a:latin typeface="+mn-ea"/>
                <a:ea typeface="+mn-ea"/>
                <a:cs typeface="Times New Roman" panose="02020603050405020304" pitchFamily="18" charset="0"/>
              </a:rPr>
              <a:t>，单位：</a:t>
            </a:r>
            <a:r>
              <a:rPr lang="en-US" altLang="zh-CN" sz="2000" kern="100" dirty="0">
                <a:solidFill>
                  <a:srgbClr val="000000"/>
                </a:solidFill>
                <a:effectLst/>
                <a:latin typeface="+mn-ea"/>
                <a:ea typeface="+mn-ea"/>
              </a:rPr>
              <a:t>A</a:t>
            </a:r>
            <a:r>
              <a:rPr lang="zh-CN" altLang="zh-CN" sz="2000" kern="100" dirty="0">
                <a:solidFill>
                  <a:srgbClr val="000000"/>
                </a:solidFill>
                <a:effectLst/>
                <a:latin typeface="+mn-ea"/>
                <a:ea typeface="+mn-ea"/>
                <a:cs typeface="Times New Roman" panose="02020603050405020304" pitchFamily="18" charset="0"/>
              </a:rPr>
              <a:t>。</a:t>
            </a:r>
            <a:endParaRPr lang="zh-CN" altLang="en-US" sz="2000" dirty="0">
              <a:latin typeface="+mn-ea"/>
              <a:ea typeface="+mn-ea"/>
            </a:endParaRPr>
          </a:p>
        </p:txBody>
      </p:sp>
      <p:graphicFrame>
        <p:nvGraphicFramePr>
          <p:cNvPr id="25" name="对象 24">
            <a:extLst>
              <a:ext uri="{FF2B5EF4-FFF2-40B4-BE49-F238E27FC236}">
                <a16:creationId xmlns:a16="http://schemas.microsoft.com/office/drawing/2014/main" id="{D0353C8B-9138-59B9-D7F7-B630D42032F7}"/>
              </a:ext>
            </a:extLst>
          </p:cNvPr>
          <p:cNvGraphicFramePr>
            <a:graphicFrameLocks noChangeAspect="1"/>
          </p:cNvGraphicFramePr>
          <p:nvPr>
            <p:extLst>
              <p:ext uri="{D42A27DB-BD31-4B8C-83A1-F6EECF244321}">
                <p14:modId xmlns:p14="http://schemas.microsoft.com/office/powerpoint/2010/main" val="2219015184"/>
              </p:ext>
            </p:extLst>
          </p:nvPr>
        </p:nvGraphicFramePr>
        <p:xfrm>
          <a:off x="2195736" y="3395133"/>
          <a:ext cx="342900" cy="342900"/>
        </p:xfrm>
        <a:graphic>
          <a:graphicData uri="http://schemas.openxmlformats.org/presentationml/2006/ole">
            <mc:AlternateContent xmlns:mc="http://schemas.openxmlformats.org/markup-compatibility/2006">
              <mc:Choice xmlns:v="urn:schemas-microsoft-com:vml" Requires="v">
                <p:oleObj name="Equation" r:id="rId6" imgW="228600" imgH="228600" progId="Equation.DSMT4">
                  <p:embed/>
                </p:oleObj>
              </mc:Choice>
              <mc:Fallback>
                <p:oleObj name="Equation" r:id="rId6" imgW="228600" imgH="2286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736" y="3395133"/>
                        <a:ext cx="3429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Rectangle 2">
            <a:extLst>
              <a:ext uri="{FF2B5EF4-FFF2-40B4-BE49-F238E27FC236}">
                <a16:creationId xmlns:a16="http://schemas.microsoft.com/office/drawing/2014/main" id="{A17EA0CB-FF58-7D73-7F05-E47C760C81CC}"/>
              </a:ext>
            </a:extLst>
          </p:cNvPr>
          <p:cNvSpPr>
            <a:spLocks noChangeArrowheads="1"/>
          </p:cNvSpPr>
          <p:nvPr/>
        </p:nvSpPr>
        <p:spPr bwMode="auto">
          <a:xfrm>
            <a:off x="667222" y="4148311"/>
            <a:ext cx="16049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4</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a:t>
            </a:r>
            <a:r>
              <a:rPr lang="zh-CN" altLang="en-US"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转速</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sp>
        <p:nvSpPr>
          <p:cNvPr id="29" name="文本框 28">
            <a:extLst>
              <a:ext uri="{FF2B5EF4-FFF2-40B4-BE49-F238E27FC236}">
                <a16:creationId xmlns:a16="http://schemas.microsoft.com/office/drawing/2014/main" id="{988FED5C-6F76-5CD7-BA23-319BF9C9CC55}"/>
              </a:ext>
            </a:extLst>
          </p:cNvPr>
          <p:cNvSpPr txBox="1"/>
          <p:nvPr/>
        </p:nvSpPr>
        <p:spPr>
          <a:xfrm>
            <a:off x="739230" y="4508351"/>
            <a:ext cx="6840760" cy="400110"/>
          </a:xfrm>
          <a:prstGeom prst="rect">
            <a:avLst/>
          </a:prstGeom>
          <a:noFill/>
        </p:spPr>
        <p:txBody>
          <a:bodyPr wrap="square">
            <a:spAutoFit/>
          </a:bodyPr>
          <a:lstStyle/>
          <a:p>
            <a:pPr eaLnBrk="0" hangingPunct="0"/>
            <a:r>
              <a:rPr kumimoji="0" lang="en-US" altLang="zh-CN" sz="2000" i="0" u="none" strike="noStrike" cap="none" normalizeH="0" baseline="0" dirty="0">
                <a:ln>
                  <a:noFill/>
                </a:ln>
                <a:solidFill>
                  <a:srgbClr val="000000"/>
                </a:solidFill>
                <a:effectLst/>
                <a:latin typeface="+mn-ea"/>
                <a:ea typeface="+mn-ea"/>
                <a:cs typeface="Times New Roman" panose="02020603050405020304" pitchFamily="18" charset="0"/>
              </a:rPr>
              <a:t>——</a:t>
            </a:r>
            <a:r>
              <a:rPr lang="zh-CN" altLang="zh-CN" sz="2000" kern="100" dirty="0">
                <a:solidFill>
                  <a:srgbClr val="000000"/>
                </a:solidFill>
                <a:effectLst/>
                <a:latin typeface="+mn-ea"/>
                <a:ea typeface="+mn-ea"/>
                <a:cs typeface="Times New Roman" panose="02020603050405020304" pitchFamily="18" charset="0"/>
              </a:rPr>
              <a:t>额定运行状态下电动机的转速，单位：</a:t>
            </a:r>
            <a:r>
              <a:rPr lang="en-US" altLang="zh-CN" sz="2000" kern="100" dirty="0">
                <a:solidFill>
                  <a:srgbClr val="000000"/>
                </a:solidFill>
                <a:effectLst/>
                <a:latin typeface="+mn-ea"/>
                <a:ea typeface="+mn-ea"/>
              </a:rPr>
              <a:t>r/min</a:t>
            </a:r>
            <a:r>
              <a:rPr lang="zh-CN" altLang="zh-CN" sz="2000" kern="100" dirty="0">
                <a:solidFill>
                  <a:srgbClr val="000000"/>
                </a:solidFill>
                <a:effectLst/>
                <a:latin typeface="+mn-ea"/>
                <a:ea typeface="+mn-ea"/>
                <a:cs typeface="Times New Roman" panose="02020603050405020304" pitchFamily="18" charset="0"/>
              </a:rPr>
              <a:t>。</a:t>
            </a:r>
            <a:endParaRPr lang="zh-CN" altLang="en-US" sz="2000" dirty="0">
              <a:latin typeface="+mn-ea"/>
              <a:ea typeface="+mn-ea"/>
            </a:endParaRPr>
          </a:p>
        </p:txBody>
      </p:sp>
      <p:graphicFrame>
        <p:nvGraphicFramePr>
          <p:cNvPr id="32" name="对象 31">
            <a:extLst>
              <a:ext uri="{FF2B5EF4-FFF2-40B4-BE49-F238E27FC236}">
                <a16:creationId xmlns:a16="http://schemas.microsoft.com/office/drawing/2014/main" id="{6E74034F-7E6E-5109-7244-3F6E03124248}"/>
              </a:ext>
            </a:extLst>
          </p:cNvPr>
          <p:cNvGraphicFramePr>
            <a:graphicFrameLocks noChangeAspect="1"/>
          </p:cNvGraphicFramePr>
          <p:nvPr>
            <p:extLst>
              <p:ext uri="{D42A27DB-BD31-4B8C-83A1-F6EECF244321}">
                <p14:modId xmlns:p14="http://schemas.microsoft.com/office/powerpoint/2010/main" val="1351370308"/>
              </p:ext>
            </p:extLst>
          </p:nvPr>
        </p:nvGraphicFramePr>
        <p:xfrm>
          <a:off x="2195736" y="4181948"/>
          <a:ext cx="333375" cy="333375"/>
        </p:xfrm>
        <a:graphic>
          <a:graphicData uri="http://schemas.openxmlformats.org/presentationml/2006/ole">
            <mc:AlternateContent xmlns:mc="http://schemas.openxmlformats.org/markup-compatibility/2006">
              <mc:Choice xmlns:v="urn:schemas-microsoft-com:vml" Requires="v">
                <p:oleObj name="Equation" r:id="rId8" imgW="228600" imgH="228600" progId="Equation.DSMT4">
                  <p:embed/>
                </p:oleObj>
              </mc:Choice>
              <mc:Fallback>
                <p:oleObj name="Equation" r:id="rId8" imgW="228600" imgH="228600"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95736" y="4181948"/>
                        <a:ext cx="333375"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Rectangle 2">
            <a:extLst>
              <a:ext uri="{FF2B5EF4-FFF2-40B4-BE49-F238E27FC236}">
                <a16:creationId xmlns:a16="http://schemas.microsoft.com/office/drawing/2014/main" id="{39DC85A2-27FF-B38E-B7F9-A765BCCC8071}"/>
              </a:ext>
            </a:extLst>
          </p:cNvPr>
          <p:cNvSpPr>
            <a:spLocks noChangeArrowheads="1"/>
          </p:cNvSpPr>
          <p:nvPr/>
        </p:nvSpPr>
        <p:spPr bwMode="auto">
          <a:xfrm>
            <a:off x="667222" y="4900329"/>
            <a:ext cx="16049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5</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、额定频率</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sp>
        <p:nvSpPr>
          <p:cNvPr id="36" name="文本框 35">
            <a:extLst>
              <a:ext uri="{FF2B5EF4-FFF2-40B4-BE49-F238E27FC236}">
                <a16:creationId xmlns:a16="http://schemas.microsoft.com/office/drawing/2014/main" id="{BC94C962-BAE6-AE68-7851-A8C3EBF5D2FD}"/>
              </a:ext>
            </a:extLst>
          </p:cNvPr>
          <p:cNvSpPr txBox="1"/>
          <p:nvPr/>
        </p:nvSpPr>
        <p:spPr>
          <a:xfrm>
            <a:off x="739230" y="5300439"/>
            <a:ext cx="6840760" cy="400110"/>
          </a:xfrm>
          <a:prstGeom prst="rect">
            <a:avLst/>
          </a:prstGeom>
          <a:noFill/>
        </p:spPr>
        <p:txBody>
          <a:bodyPr wrap="square">
            <a:spAutoFit/>
          </a:bodyPr>
          <a:lstStyle/>
          <a:p>
            <a:pPr eaLnBrk="0" hangingPunct="0"/>
            <a:r>
              <a:rPr kumimoji="0" lang="en-US" altLang="zh-CN" sz="2000" i="0" u="none" strike="noStrike" cap="none" normalizeH="0" baseline="0" dirty="0">
                <a:ln>
                  <a:noFill/>
                </a:ln>
                <a:solidFill>
                  <a:srgbClr val="000000"/>
                </a:solidFill>
                <a:effectLst/>
                <a:latin typeface="+mn-ea"/>
                <a:ea typeface="+mn-ea"/>
                <a:cs typeface="Times New Roman" panose="02020603050405020304" pitchFamily="18" charset="0"/>
              </a:rPr>
              <a:t>——</a:t>
            </a:r>
            <a:r>
              <a:rPr lang="zh-CN" altLang="en-US" sz="2000" kern="100" dirty="0">
                <a:solidFill>
                  <a:srgbClr val="000000"/>
                </a:solidFill>
                <a:effectLst/>
                <a:latin typeface="+mn-ea"/>
                <a:ea typeface="+mn-ea"/>
                <a:cs typeface="Times New Roman" panose="02020603050405020304" pitchFamily="18" charset="0"/>
              </a:rPr>
              <a:t>电动机电源电压标准频率。</a:t>
            </a:r>
            <a:endParaRPr lang="zh-CN" altLang="en-US" sz="2000" dirty="0">
              <a:latin typeface="+mn-ea"/>
              <a:ea typeface="+mn-ea"/>
            </a:endParaRPr>
          </a:p>
        </p:txBody>
      </p:sp>
      <p:graphicFrame>
        <p:nvGraphicFramePr>
          <p:cNvPr id="38" name="对象 37">
            <a:extLst>
              <a:ext uri="{FF2B5EF4-FFF2-40B4-BE49-F238E27FC236}">
                <a16:creationId xmlns:a16="http://schemas.microsoft.com/office/drawing/2014/main" id="{AE7CEBBB-6DF6-37AE-6184-CD11A83C2761}"/>
              </a:ext>
            </a:extLst>
          </p:cNvPr>
          <p:cNvGraphicFramePr>
            <a:graphicFrameLocks noChangeAspect="1"/>
          </p:cNvGraphicFramePr>
          <p:nvPr>
            <p:extLst>
              <p:ext uri="{D42A27DB-BD31-4B8C-83A1-F6EECF244321}">
                <p14:modId xmlns:p14="http://schemas.microsoft.com/office/powerpoint/2010/main" val="1609139658"/>
              </p:ext>
            </p:extLst>
          </p:nvPr>
        </p:nvGraphicFramePr>
        <p:xfrm>
          <a:off x="2169369" y="4938728"/>
          <a:ext cx="342900" cy="328613"/>
        </p:xfrm>
        <a:graphic>
          <a:graphicData uri="http://schemas.openxmlformats.org/presentationml/2006/ole">
            <mc:AlternateContent xmlns:mc="http://schemas.openxmlformats.org/markup-compatibility/2006">
              <mc:Choice xmlns:v="urn:schemas-microsoft-com:vml" Requires="v">
                <p:oleObj name="Equation" r:id="rId10" imgW="241300" imgH="228600" progId="Equation.DSMT4">
                  <p:embed/>
                </p:oleObj>
              </mc:Choice>
              <mc:Fallback>
                <p:oleObj name="Equation" r:id="rId10" imgW="241300" imgH="228600" progId="Equation.DSMT4">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69369" y="4938728"/>
                        <a:ext cx="342900" cy="328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对象 40">
            <a:extLst>
              <a:ext uri="{FF2B5EF4-FFF2-40B4-BE49-F238E27FC236}">
                <a16:creationId xmlns:a16="http://schemas.microsoft.com/office/drawing/2014/main" id="{334DCC73-BA97-7DFA-301C-E99068716668}"/>
              </a:ext>
            </a:extLst>
          </p:cNvPr>
          <p:cNvGraphicFramePr>
            <a:graphicFrameLocks noChangeAspect="1"/>
          </p:cNvGraphicFramePr>
          <p:nvPr>
            <p:extLst>
              <p:ext uri="{D42A27DB-BD31-4B8C-83A1-F6EECF244321}">
                <p14:modId xmlns:p14="http://schemas.microsoft.com/office/powerpoint/2010/main" val="3520937215"/>
              </p:ext>
            </p:extLst>
          </p:nvPr>
        </p:nvGraphicFramePr>
        <p:xfrm>
          <a:off x="2627784" y="5876503"/>
          <a:ext cx="3224212" cy="504825"/>
        </p:xfrm>
        <a:graphic>
          <a:graphicData uri="http://schemas.openxmlformats.org/presentationml/2006/ole">
            <mc:AlternateContent xmlns:mc="http://schemas.openxmlformats.org/markup-compatibility/2006">
              <mc:Choice xmlns:v="urn:schemas-microsoft-com:vml" Requires="v">
                <p:oleObj name="Equation" r:id="rId12" imgW="1625400" imgH="253800" progId="Equation.DSMT4">
                  <p:embed/>
                </p:oleObj>
              </mc:Choice>
              <mc:Fallback>
                <p:oleObj name="Equation" r:id="rId12" imgW="1625400" imgH="253800" progId="Equation.DSMT4">
                  <p:embed/>
                  <p:pic>
                    <p:nvPicPr>
                      <p:cNvPr id="16" name="对象 15">
                        <a:extLst>
                          <a:ext uri="{FF2B5EF4-FFF2-40B4-BE49-F238E27FC236}">
                            <a16:creationId xmlns:a16="http://schemas.microsoft.com/office/drawing/2014/main" id="{5696A1CD-A62F-8293-3C55-7241EE119337}"/>
                          </a:ext>
                        </a:extLst>
                      </p:cNvPr>
                      <p:cNvPicPr>
                        <a:picLocks noChangeAspect="1" noChangeArrowheads="1"/>
                      </p:cNvPicPr>
                      <p:nvPr/>
                    </p:nvPicPr>
                    <p:blipFill>
                      <a:blip r:embed="rId13"/>
                      <a:srcRect/>
                      <a:stretch>
                        <a:fillRect/>
                      </a:stretch>
                    </p:blipFill>
                    <p:spPr bwMode="auto">
                      <a:xfrm>
                        <a:off x="2627784" y="5876503"/>
                        <a:ext cx="3224212" cy="504825"/>
                      </a:xfrm>
                      <a:prstGeom prst="rect">
                        <a:avLst/>
                      </a:prstGeom>
                      <a:solidFill>
                        <a:srgbClr val="00FF00"/>
                      </a:solidFill>
                    </p:spPr>
                  </p:pic>
                </p:oleObj>
              </mc:Fallback>
            </mc:AlternateContent>
          </a:graphicData>
        </a:graphic>
      </p:graphicFrame>
      <p:sp>
        <p:nvSpPr>
          <p:cNvPr id="6" name="灯片编号占位符 5">
            <a:extLst>
              <a:ext uri="{FF2B5EF4-FFF2-40B4-BE49-F238E27FC236}">
                <a16:creationId xmlns:a16="http://schemas.microsoft.com/office/drawing/2014/main" id="{1274C02A-D146-499F-F4B9-1E862051ECD6}"/>
              </a:ext>
            </a:extLst>
          </p:cNvPr>
          <p:cNvSpPr>
            <a:spLocks noGrp="1"/>
          </p:cNvSpPr>
          <p:nvPr>
            <p:ph type="sldNum" sz="quarter" idx="12"/>
          </p:nvPr>
        </p:nvSpPr>
        <p:spPr/>
        <p:txBody>
          <a:bodyPr/>
          <a:lstStyle/>
          <a:p>
            <a:fld id="{76D830B0-DF59-4281-898F-AF208100B213}" type="slidenum">
              <a:rPr lang="en-US" altLang="zh-CN" smtClean="0"/>
              <a:pPr/>
              <a:t>18</a:t>
            </a:fld>
            <a:endParaRPr lang="en-US" altLang="zh-CN"/>
          </a:p>
        </p:txBody>
      </p:sp>
    </p:spTree>
    <p:extLst>
      <p:ext uri="{BB962C8B-B14F-4D97-AF65-F5344CB8AC3E}">
        <p14:creationId xmlns:p14="http://schemas.microsoft.com/office/powerpoint/2010/main" val="1331940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754543B-2633-4912-ADB0-89AB1A9C6570}"/>
              </a:ext>
            </a:extLst>
          </p:cNvPr>
          <p:cNvSpPr>
            <a:spLocks noChangeArrowheads="1"/>
          </p:cNvSpPr>
          <p:nvPr/>
        </p:nvSpPr>
        <p:spPr bwMode="auto">
          <a:xfrm>
            <a:off x="63681" y="1124744"/>
            <a:ext cx="83327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5-2 </a:t>
            </a:r>
            <a:r>
              <a:rPr kumimoji="0" lang="zh-CN" altLang="en-US" sz="2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三相</a:t>
            </a:r>
            <a:r>
              <a:rPr kumimoji="0" lang="zh-CN" altLang="en-US"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异步电动机的</a:t>
            </a:r>
            <a:r>
              <a:rPr lang="zh-CN" altLang="en-US" sz="2800" b="1" dirty="0">
                <a:latin typeface="黑体" panose="02010609060101010101" pitchFamily="49" charset="-122"/>
                <a:ea typeface="黑体" panose="02010609060101010101" pitchFamily="49" charset="-122"/>
                <a:cs typeface="Times New Roman" panose="02020603050405020304" pitchFamily="18" charset="0"/>
              </a:rPr>
              <a:t>定子绕组</a:t>
            </a:r>
            <a:r>
              <a:rPr kumimoji="0" lang="zh-CN" altLang="en-US"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与磁势（      ）</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p:txBody>
      </p:sp>
      <p:sp>
        <p:nvSpPr>
          <p:cNvPr id="3" name="内容占位符 3">
            <a:extLst>
              <a:ext uri="{FF2B5EF4-FFF2-40B4-BE49-F238E27FC236}">
                <a16:creationId xmlns:a16="http://schemas.microsoft.com/office/drawing/2014/main" id="{924D5DE7-7DDF-34EF-BCD0-4497A81A5E7A}"/>
              </a:ext>
            </a:extLst>
          </p:cNvPr>
          <p:cNvSpPr txBox="1">
            <a:spLocks/>
          </p:cNvSpPr>
          <p:nvPr/>
        </p:nvSpPr>
        <p:spPr>
          <a:xfrm>
            <a:off x="567454" y="1868607"/>
            <a:ext cx="7560840" cy="2494925"/>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zh-CN" altLang="zh-CN" b="1" dirty="0">
                <a:solidFill>
                  <a:srgbClr val="0000CC"/>
                </a:solidFill>
                <a:latin typeface="华文楷体" panose="02010600040101010101" pitchFamily="2" charset="-122"/>
                <a:ea typeface="华文楷体" panose="02010600040101010101" pitchFamily="2" charset="-122"/>
              </a:rPr>
              <a:t>问题出发点：</a:t>
            </a:r>
            <a:endParaRPr lang="zh-CN" altLang="zh-CN" dirty="0">
              <a:solidFill>
                <a:srgbClr val="0000CC"/>
              </a:solidFill>
              <a:latin typeface="华文楷体" panose="02010600040101010101" pitchFamily="2" charset="-122"/>
              <a:ea typeface="华文楷体" panose="02010600040101010101" pitchFamily="2" charset="-122"/>
            </a:endParaRPr>
          </a:p>
          <a:p>
            <a:r>
              <a:rPr lang="zh-CN" altLang="en-US" b="1" dirty="0">
                <a:solidFill>
                  <a:srgbClr val="0000CC"/>
                </a:solidFill>
                <a:latin typeface="华文楷体" panose="02010600040101010101" pitchFamily="2" charset="-122"/>
                <a:ea typeface="华文楷体" panose="02010600040101010101" pitchFamily="2" charset="-122"/>
              </a:rPr>
              <a:t>磁场的旋转是连续平滑还是跳跃式的呢</a:t>
            </a:r>
            <a:r>
              <a:rPr lang="zh-CN" altLang="zh-CN" b="1" dirty="0">
                <a:solidFill>
                  <a:srgbClr val="0000CC"/>
                </a:solidFill>
                <a:latin typeface="华文楷体" panose="02010600040101010101" pitchFamily="2" charset="-122"/>
                <a:ea typeface="华文楷体" panose="02010600040101010101" pitchFamily="2" charset="-122"/>
              </a:rPr>
              <a:t>？</a:t>
            </a:r>
            <a:endParaRPr lang="zh-CN" altLang="zh-CN" dirty="0">
              <a:solidFill>
                <a:srgbClr val="0000CC"/>
              </a:solidFill>
              <a:latin typeface="华文楷体" panose="02010600040101010101" pitchFamily="2" charset="-122"/>
              <a:ea typeface="华文楷体" panose="02010600040101010101" pitchFamily="2" charset="-122"/>
            </a:endParaRPr>
          </a:p>
          <a:p>
            <a:r>
              <a:rPr lang="zh-CN" altLang="en-US" b="1" dirty="0">
                <a:solidFill>
                  <a:srgbClr val="0000CC"/>
                </a:solidFill>
                <a:latin typeface="华文楷体" panose="02010600040101010101" pitchFamily="2" charset="-122"/>
                <a:ea typeface="华文楷体" panose="02010600040101010101" pitchFamily="2" charset="-122"/>
              </a:rPr>
              <a:t>旋转磁场的磁场强度是恒定不变的还是会随时间按正弦规律变化呢</a:t>
            </a:r>
            <a:r>
              <a:rPr lang="zh-CN" altLang="zh-CN" b="1" dirty="0">
                <a:solidFill>
                  <a:srgbClr val="0000CC"/>
                </a:solidFill>
                <a:latin typeface="华文楷体" panose="02010600040101010101" pitchFamily="2" charset="-122"/>
                <a:ea typeface="华文楷体" panose="02010600040101010101" pitchFamily="2" charset="-122"/>
              </a:rPr>
              <a:t>？</a:t>
            </a:r>
            <a:endParaRPr lang="zh-CN" altLang="zh-CN" dirty="0">
              <a:solidFill>
                <a:srgbClr val="0000CC"/>
              </a:solidFill>
              <a:latin typeface="华文楷体" panose="02010600040101010101" pitchFamily="2" charset="-122"/>
              <a:ea typeface="华文楷体" panose="02010600040101010101" pitchFamily="2" charset="-122"/>
            </a:endParaRPr>
          </a:p>
        </p:txBody>
      </p:sp>
      <p:sp>
        <p:nvSpPr>
          <p:cNvPr id="4" name="箭头: 右 3">
            <a:extLst>
              <a:ext uri="{FF2B5EF4-FFF2-40B4-BE49-F238E27FC236}">
                <a16:creationId xmlns:a16="http://schemas.microsoft.com/office/drawing/2014/main" id="{DF64D200-226A-AD24-D640-EBB302042196}"/>
              </a:ext>
            </a:extLst>
          </p:cNvPr>
          <p:cNvSpPr/>
          <p:nvPr/>
        </p:nvSpPr>
        <p:spPr>
          <a:xfrm>
            <a:off x="395536" y="4554980"/>
            <a:ext cx="642454" cy="40011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ectangle 2">
            <a:extLst>
              <a:ext uri="{FF2B5EF4-FFF2-40B4-BE49-F238E27FC236}">
                <a16:creationId xmlns:a16="http://schemas.microsoft.com/office/drawing/2014/main" id="{B8C7E419-B031-35E2-640A-1055E56775F5}"/>
              </a:ext>
            </a:extLst>
          </p:cNvPr>
          <p:cNvSpPr>
            <a:spLocks noChangeArrowheads="1"/>
          </p:cNvSpPr>
          <p:nvPr/>
        </p:nvSpPr>
        <p:spPr bwMode="auto">
          <a:xfrm>
            <a:off x="1179522" y="4450391"/>
            <a:ext cx="694877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32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如何定量建立旋转磁场的运行模型？</a:t>
            </a:r>
            <a:endParaRPr kumimoji="0" lang="en-US" altLang="zh-CN"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11" name="对象 10">
            <a:extLst>
              <a:ext uri="{FF2B5EF4-FFF2-40B4-BE49-F238E27FC236}">
                <a16:creationId xmlns:a16="http://schemas.microsoft.com/office/drawing/2014/main" id="{F6D61EE2-0B5D-E5BD-3DAA-9E3598158F46}"/>
              </a:ext>
            </a:extLst>
          </p:cNvPr>
          <p:cNvGraphicFramePr>
            <a:graphicFrameLocks noChangeAspect="1"/>
          </p:cNvGraphicFramePr>
          <p:nvPr>
            <p:extLst>
              <p:ext uri="{D42A27DB-BD31-4B8C-83A1-F6EECF244321}">
                <p14:modId xmlns:p14="http://schemas.microsoft.com/office/powerpoint/2010/main" val="2827537591"/>
              </p:ext>
            </p:extLst>
          </p:nvPr>
        </p:nvGraphicFramePr>
        <p:xfrm>
          <a:off x="6804248" y="1162679"/>
          <a:ext cx="1101230" cy="438404"/>
        </p:xfrm>
        <a:graphic>
          <a:graphicData uri="http://schemas.openxmlformats.org/presentationml/2006/ole">
            <mc:AlternateContent xmlns:mc="http://schemas.openxmlformats.org/markup-compatibility/2006">
              <mc:Choice xmlns:v="urn:schemas-microsoft-com:vml" Requires="v">
                <p:oleObj name="Equation" r:id="rId2" imgW="558558" imgH="215806" progId="Equation.DSMT4">
                  <p:embed/>
                </p:oleObj>
              </mc:Choice>
              <mc:Fallback>
                <p:oleObj name="Equation" r:id="rId2" imgW="558558" imgH="215806"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1162679"/>
                        <a:ext cx="1101230" cy="438404"/>
                      </a:xfrm>
                      <a:prstGeom prst="rect">
                        <a:avLst/>
                      </a:prstGeom>
                      <a:noFill/>
                    </p:spPr>
                  </p:pic>
                </p:oleObj>
              </mc:Fallback>
            </mc:AlternateContent>
          </a:graphicData>
        </a:graphic>
      </p:graphicFrame>
      <p:sp>
        <p:nvSpPr>
          <p:cNvPr id="9" name="文本框 8">
            <a:extLst>
              <a:ext uri="{FF2B5EF4-FFF2-40B4-BE49-F238E27FC236}">
                <a16:creationId xmlns:a16="http://schemas.microsoft.com/office/drawing/2014/main" id="{31EF7724-974D-68C9-74B8-63E538EEF5F2}"/>
              </a:ext>
            </a:extLst>
          </p:cNvPr>
          <p:cNvSpPr txBox="1"/>
          <p:nvPr/>
        </p:nvSpPr>
        <p:spPr>
          <a:xfrm>
            <a:off x="602544" y="5301208"/>
            <a:ext cx="7200800" cy="492443"/>
          </a:xfrm>
          <a:prstGeom prst="rect">
            <a:avLst/>
          </a:prstGeom>
          <a:noFill/>
        </p:spPr>
        <p:txBody>
          <a:bodyPr wrap="square">
            <a:spAutoFit/>
          </a:bodyPr>
          <a:lstStyle/>
          <a:p>
            <a:pPr algn="l"/>
            <a:r>
              <a:rPr lang="zh-CN" altLang="zh-CN" sz="2600" b="1" kern="100" dirty="0">
                <a:solidFill>
                  <a:srgbClr val="000000"/>
                </a:solidFill>
                <a:effectLst/>
                <a:latin typeface="Times New Roman" panose="02020603050405020304" pitchFamily="18" charset="0"/>
                <a:ea typeface="黑体" panose="02010609060101010101" pitchFamily="49" charset="-122"/>
              </a:rPr>
              <a:t>目标：定量分析确定三相合成磁势的</a:t>
            </a:r>
            <a:r>
              <a:rPr lang="zh-CN" altLang="zh-CN" sz="2600" kern="100" dirty="0">
                <a:solidFill>
                  <a:srgbClr val="0000FF"/>
                </a:solidFill>
                <a:effectLst/>
                <a:latin typeface="Times New Roman" panose="02020603050405020304" pitchFamily="18" charset="0"/>
                <a:ea typeface="黑体" panose="02010609060101010101" pitchFamily="49" charset="-122"/>
              </a:rPr>
              <a:t>数学表达式</a:t>
            </a:r>
            <a:endParaRPr lang="zh-CN" altLang="zh-CN" sz="2600" kern="100" dirty="0">
              <a:effectLst/>
              <a:latin typeface="Times New Roman" panose="02020603050405020304" pitchFamily="18" charset="0"/>
              <a:ea typeface="宋体" panose="02010600030101010101" pitchFamily="2" charset="-122"/>
            </a:endParaRPr>
          </a:p>
        </p:txBody>
      </p:sp>
      <p:sp>
        <p:nvSpPr>
          <p:cNvPr id="10" name="文本框 9">
            <a:extLst>
              <a:ext uri="{FF2B5EF4-FFF2-40B4-BE49-F238E27FC236}">
                <a16:creationId xmlns:a16="http://schemas.microsoft.com/office/drawing/2014/main" id="{13EFB166-2CFA-E169-FB5A-BA58C357F9EE}"/>
              </a:ext>
            </a:extLst>
          </p:cNvPr>
          <p:cNvSpPr txBox="1"/>
          <p:nvPr/>
        </p:nvSpPr>
        <p:spPr>
          <a:xfrm>
            <a:off x="126673" y="5907642"/>
            <a:ext cx="8693799" cy="400110"/>
          </a:xfrm>
          <a:prstGeom prst="rect">
            <a:avLst/>
          </a:prstGeom>
          <a:noFill/>
        </p:spPr>
        <p:txBody>
          <a:bodyPr wrap="square">
            <a:spAutoFit/>
          </a:bodyPr>
          <a:lstStyle/>
          <a:p>
            <a:r>
              <a:rPr lang="en-US" altLang="zh-CN" sz="2000" b="1" kern="100" dirty="0">
                <a:solidFill>
                  <a:srgbClr val="000000"/>
                </a:solidFill>
                <a:effectLst/>
                <a:latin typeface="Times New Roman" panose="02020603050405020304" pitchFamily="18" charset="0"/>
                <a:ea typeface="黑体" panose="02010609060101010101" pitchFamily="49" charset="-122"/>
              </a:rPr>
              <a:t>——</a:t>
            </a:r>
            <a:r>
              <a:rPr lang="zh-CN" altLang="zh-CN" sz="2000" b="1" kern="100" dirty="0">
                <a:solidFill>
                  <a:srgbClr val="000000"/>
                </a:solidFill>
                <a:effectLst/>
                <a:latin typeface="Times New Roman" panose="02020603050405020304" pitchFamily="18" charset="0"/>
                <a:ea typeface="黑体" panose="02010609060101010101" pitchFamily="49" charset="-122"/>
              </a:rPr>
              <a:t>旋转磁场的理论定量分析，</a:t>
            </a:r>
            <a:r>
              <a:rPr lang="zh-CN" altLang="zh-CN" sz="20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为确定电动机的电磁转矩大小和方向作准备</a:t>
            </a:r>
            <a:endParaRPr lang="zh-CN" altLang="en-US" sz="2000" dirty="0"/>
          </a:p>
        </p:txBody>
      </p:sp>
      <p:sp>
        <p:nvSpPr>
          <p:cNvPr id="7" name="灯片编号占位符 6">
            <a:extLst>
              <a:ext uri="{FF2B5EF4-FFF2-40B4-BE49-F238E27FC236}">
                <a16:creationId xmlns:a16="http://schemas.microsoft.com/office/drawing/2014/main" id="{F98835B1-B2EC-5E0D-E5DC-0B82A7BF9A55}"/>
              </a:ext>
            </a:extLst>
          </p:cNvPr>
          <p:cNvSpPr>
            <a:spLocks noGrp="1"/>
          </p:cNvSpPr>
          <p:nvPr>
            <p:ph type="sldNum" sz="quarter" idx="12"/>
          </p:nvPr>
        </p:nvSpPr>
        <p:spPr/>
        <p:txBody>
          <a:bodyPr/>
          <a:lstStyle/>
          <a:p>
            <a:fld id="{76D830B0-DF59-4281-898F-AF208100B213}" type="slidenum">
              <a:rPr lang="en-US" altLang="zh-CN" smtClean="0"/>
              <a:pPr/>
              <a:t>19</a:t>
            </a:fld>
            <a:endParaRPr lang="en-US" altLang="zh-CN"/>
          </a:p>
        </p:txBody>
      </p:sp>
    </p:spTree>
    <p:extLst>
      <p:ext uri="{BB962C8B-B14F-4D97-AF65-F5344CB8AC3E}">
        <p14:creationId xmlns:p14="http://schemas.microsoft.com/office/powerpoint/2010/main" val="3888681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7C3A1FD2-A309-BCF9-7BE4-43431B219C72}"/>
              </a:ext>
            </a:extLst>
          </p:cNvPr>
          <p:cNvSpPr txBox="1"/>
          <p:nvPr/>
        </p:nvSpPr>
        <p:spPr>
          <a:xfrm>
            <a:off x="251520" y="1052736"/>
            <a:ext cx="5400600" cy="49244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一、一相定子绕组及其磁通势：</a:t>
            </a:r>
          </a:p>
        </p:txBody>
      </p:sp>
      <p:graphicFrame>
        <p:nvGraphicFramePr>
          <p:cNvPr id="3" name="对象 2">
            <a:extLst>
              <a:ext uri="{FF2B5EF4-FFF2-40B4-BE49-F238E27FC236}">
                <a16:creationId xmlns:a16="http://schemas.microsoft.com/office/drawing/2014/main" id="{3B28438F-3C01-E7CA-A521-22E0A49BBAE3}"/>
              </a:ext>
            </a:extLst>
          </p:cNvPr>
          <p:cNvGraphicFramePr>
            <a:graphicFrameLocks noChangeAspect="1"/>
          </p:cNvGraphicFramePr>
          <p:nvPr>
            <p:extLst>
              <p:ext uri="{D42A27DB-BD31-4B8C-83A1-F6EECF244321}">
                <p14:modId xmlns:p14="http://schemas.microsoft.com/office/powerpoint/2010/main" val="27388567"/>
              </p:ext>
            </p:extLst>
          </p:nvPr>
        </p:nvGraphicFramePr>
        <p:xfrm>
          <a:off x="6300192" y="1298957"/>
          <a:ext cx="2233613" cy="2243138"/>
        </p:xfrm>
        <a:graphic>
          <a:graphicData uri="http://schemas.openxmlformats.org/presentationml/2006/ole">
            <mc:AlternateContent xmlns:mc="http://schemas.openxmlformats.org/markup-compatibility/2006">
              <mc:Choice xmlns:v="urn:schemas-microsoft-com:vml" Requires="v">
                <p:oleObj r:id="rId2" imgW="944563" imgH="949325" progId="MSDraw">
                  <p:embed/>
                </p:oleObj>
              </mc:Choice>
              <mc:Fallback>
                <p:oleObj r:id="rId2" imgW="944563" imgH="949325"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192" y="1298957"/>
                        <a:ext cx="2233613" cy="2243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8865D5B5-2FE1-73D5-51FF-14E59DFA7F53}"/>
              </a:ext>
            </a:extLst>
          </p:cNvPr>
          <p:cNvGraphicFramePr>
            <a:graphicFrameLocks noChangeAspect="1"/>
          </p:cNvGraphicFramePr>
          <p:nvPr>
            <p:extLst>
              <p:ext uri="{D42A27DB-BD31-4B8C-83A1-F6EECF244321}">
                <p14:modId xmlns:p14="http://schemas.microsoft.com/office/powerpoint/2010/main" val="790674767"/>
              </p:ext>
            </p:extLst>
          </p:nvPr>
        </p:nvGraphicFramePr>
        <p:xfrm>
          <a:off x="6156176" y="3789040"/>
          <a:ext cx="2709863" cy="2271713"/>
        </p:xfrm>
        <a:graphic>
          <a:graphicData uri="http://schemas.openxmlformats.org/presentationml/2006/ole">
            <mc:AlternateContent xmlns:mc="http://schemas.openxmlformats.org/markup-compatibility/2006">
              <mc:Choice xmlns:v="urn:schemas-microsoft-com:vml" Requires="v">
                <p:oleObj r:id="rId4" imgW="1309688" imgH="1103313" progId="MSDraw">
                  <p:embed/>
                </p:oleObj>
              </mc:Choice>
              <mc:Fallback>
                <p:oleObj r:id="rId4" imgW="1309688" imgH="1103313" progId="MSDraw">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6176" y="3789040"/>
                        <a:ext cx="2709863" cy="2271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文本框 7">
            <a:extLst>
              <a:ext uri="{FF2B5EF4-FFF2-40B4-BE49-F238E27FC236}">
                <a16:creationId xmlns:a16="http://schemas.microsoft.com/office/drawing/2014/main" id="{96A955E2-4648-300F-D820-1C686EBDF844}"/>
              </a:ext>
            </a:extLst>
          </p:cNvPr>
          <p:cNvSpPr txBox="1"/>
          <p:nvPr/>
        </p:nvSpPr>
        <p:spPr>
          <a:xfrm>
            <a:off x="423835" y="2007358"/>
            <a:ext cx="3541740" cy="461665"/>
          </a:xfrm>
          <a:prstGeom prst="rect">
            <a:avLst/>
          </a:prstGeom>
          <a:noFill/>
        </p:spPr>
        <p:txBody>
          <a:bodyPr wrap="square">
            <a:spAutoFit/>
          </a:bodyPr>
          <a:lstStyle/>
          <a:p>
            <a:pPr marL="342900" indent="-342900" algn="l">
              <a:buFont typeface="Wingdings" panose="05000000000000000000" pitchFamily="2" charset="2"/>
              <a:buChar char="u"/>
            </a:pPr>
            <a:r>
              <a:rPr lang="zh-CN" altLang="zh-CN" sz="2400" b="1" kern="100" dirty="0">
                <a:solidFill>
                  <a:srgbClr val="000000"/>
                </a:solidFill>
                <a:effectLst/>
                <a:latin typeface="Times New Roman" panose="02020603050405020304" pitchFamily="18" charset="0"/>
                <a:ea typeface="黑体" panose="02010609060101010101" pitchFamily="49" charset="-122"/>
              </a:rPr>
              <a:t>取</a:t>
            </a:r>
            <a:r>
              <a:rPr lang="en-US" altLang="zh-CN" sz="2400" b="1" kern="100" dirty="0">
                <a:solidFill>
                  <a:srgbClr val="000000"/>
                </a:solidFill>
                <a:effectLst/>
                <a:latin typeface="Times New Roman" panose="02020603050405020304" pitchFamily="18" charset="0"/>
                <a:ea typeface="黑体" panose="02010609060101010101" pitchFamily="49" charset="-122"/>
              </a:rPr>
              <a:t>p=1</a:t>
            </a:r>
            <a:r>
              <a:rPr lang="zh-CN" altLang="zh-CN" sz="2400" b="1" kern="100" dirty="0">
                <a:solidFill>
                  <a:srgbClr val="000000"/>
                </a:solidFill>
                <a:effectLst/>
                <a:latin typeface="Times New Roman" panose="02020603050405020304" pitchFamily="18" charset="0"/>
                <a:ea typeface="黑体" panose="02010609060101010101" pitchFamily="49" charset="-122"/>
              </a:rPr>
              <a:t>，</a:t>
            </a:r>
            <a:r>
              <a:rPr lang="en-US" altLang="zh-CN" sz="2400" b="1" kern="100" dirty="0">
                <a:solidFill>
                  <a:srgbClr val="000000"/>
                </a:solidFill>
                <a:effectLst/>
                <a:latin typeface="Times New Roman" panose="02020603050405020304" pitchFamily="18" charset="0"/>
                <a:ea typeface="黑体" panose="02010609060101010101" pitchFamily="49" charset="-122"/>
              </a:rPr>
              <a:t>U</a:t>
            </a:r>
            <a:r>
              <a:rPr lang="zh-CN" altLang="zh-CN" sz="2400" b="1" kern="100" dirty="0">
                <a:solidFill>
                  <a:srgbClr val="000000"/>
                </a:solidFill>
                <a:effectLst/>
                <a:latin typeface="Times New Roman" panose="02020603050405020304" pitchFamily="18" charset="0"/>
                <a:ea typeface="黑体" panose="02010609060101010101" pitchFamily="49" charset="-122"/>
              </a:rPr>
              <a:t>相绕组为例</a:t>
            </a:r>
            <a:endParaRPr lang="zh-CN" altLang="zh-CN" sz="1050" kern="100" dirty="0">
              <a:effectLst/>
              <a:latin typeface="Times New Roman" panose="02020603050405020304" pitchFamily="18" charset="0"/>
              <a:ea typeface="宋体" panose="02010600030101010101" pitchFamily="2" charset="-122"/>
            </a:endParaRPr>
          </a:p>
        </p:txBody>
      </p:sp>
      <p:graphicFrame>
        <p:nvGraphicFramePr>
          <p:cNvPr id="12" name="对象 11">
            <a:extLst>
              <a:ext uri="{FF2B5EF4-FFF2-40B4-BE49-F238E27FC236}">
                <a16:creationId xmlns:a16="http://schemas.microsoft.com/office/drawing/2014/main" id="{322CC34D-E8D1-2FCE-BF33-D57B41BC4996}"/>
              </a:ext>
            </a:extLst>
          </p:cNvPr>
          <p:cNvGraphicFramePr>
            <a:graphicFrameLocks noChangeAspect="1"/>
          </p:cNvGraphicFramePr>
          <p:nvPr>
            <p:extLst>
              <p:ext uri="{D42A27DB-BD31-4B8C-83A1-F6EECF244321}">
                <p14:modId xmlns:p14="http://schemas.microsoft.com/office/powerpoint/2010/main" val="3615088324"/>
              </p:ext>
            </p:extLst>
          </p:nvPr>
        </p:nvGraphicFramePr>
        <p:xfrm>
          <a:off x="4062187" y="2723394"/>
          <a:ext cx="1862138" cy="504825"/>
        </p:xfrm>
        <a:graphic>
          <a:graphicData uri="http://schemas.openxmlformats.org/presentationml/2006/ole">
            <mc:AlternateContent xmlns:mc="http://schemas.openxmlformats.org/markup-compatibility/2006">
              <mc:Choice xmlns:v="urn:schemas-microsoft-com:vml" Requires="v">
                <p:oleObj name="Equation" r:id="rId6" imgW="876300" imgH="241300" progId="Equation.DSMT4">
                  <p:embed/>
                </p:oleObj>
              </mc:Choice>
              <mc:Fallback>
                <p:oleObj name="Equation" r:id="rId6" imgW="876300" imgH="2413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62187" y="2723394"/>
                        <a:ext cx="1862138"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8">
            <a:extLst>
              <a:ext uri="{FF2B5EF4-FFF2-40B4-BE49-F238E27FC236}">
                <a16:creationId xmlns:a16="http://schemas.microsoft.com/office/drawing/2014/main" id="{8F8EDA74-3363-D6E9-206B-EFF3B5D39948}"/>
              </a:ext>
            </a:extLst>
          </p:cNvPr>
          <p:cNvSpPr>
            <a:spLocks noChangeArrowheads="1"/>
          </p:cNvSpPr>
          <p:nvPr/>
        </p:nvSpPr>
        <p:spPr bwMode="auto">
          <a:xfrm>
            <a:off x="428190" y="3499787"/>
            <a:ext cx="42987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u"/>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每</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相</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磁感应线磁路磁势</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5" name="对象 14">
            <a:extLst>
              <a:ext uri="{FF2B5EF4-FFF2-40B4-BE49-F238E27FC236}">
                <a16:creationId xmlns:a16="http://schemas.microsoft.com/office/drawing/2014/main" id="{5C7CDCBD-5FB6-0078-E0F1-E388E361DB5C}"/>
              </a:ext>
            </a:extLst>
          </p:cNvPr>
          <p:cNvGraphicFramePr>
            <a:graphicFrameLocks noChangeAspect="1"/>
          </p:cNvGraphicFramePr>
          <p:nvPr>
            <p:extLst>
              <p:ext uri="{D42A27DB-BD31-4B8C-83A1-F6EECF244321}">
                <p14:modId xmlns:p14="http://schemas.microsoft.com/office/powerpoint/2010/main" val="1221677308"/>
              </p:ext>
            </p:extLst>
          </p:nvPr>
        </p:nvGraphicFramePr>
        <p:xfrm>
          <a:off x="4084401" y="3503687"/>
          <a:ext cx="1176338" cy="476250"/>
        </p:xfrm>
        <a:graphic>
          <a:graphicData uri="http://schemas.openxmlformats.org/presentationml/2006/ole">
            <mc:AlternateContent xmlns:mc="http://schemas.openxmlformats.org/markup-compatibility/2006">
              <mc:Choice xmlns:v="urn:schemas-microsoft-com:vml" Requires="v">
                <p:oleObj name="Equation" r:id="rId8" imgW="583947" imgH="241195" progId="Equation.DSMT4">
                  <p:embed/>
                </p:oleObj>
              </mc:Choice>
              <mc:Fallback>
                <p:oleObj name="Equation" r:id="rId8" imgW="583947" imgH="241195"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84401" y="3503687"/>
                        <a:ext cx="1176338"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文本框 17">
            <a:extLst>
              <a:ext uri="{FF2B5EF4-FFF2-40B4-BE49-F238E27FC236}">
                <a16:creationId xmlns:a16="http://schemas.microsoft.com/office/drawing/2014/main" id="{3199D41E-E5D0-E023-9E2F-710700723FFF}"/>
              </a:ext>
            </a:extLst>
          </p:cNvPr>
          <p:cNvSpPr txBox="1"/>
          <p:nvPr/>
        </p:nvSpPr>
        <p:spPr>
          <a:xfrm>
            <a:off x="396959" y="2723394"/>
            <a:ext cx="3887009" cy="461665"/>
          </a:xfrm>
          <a:prstGeom prst="rect">
            <a:avLst/>
          </a:prstGeom>
          <a:noFill/>
        </p:spPr>
        <p:txBody>
          <a:bodyPr wrap="square">
            <a:spAutoFit/>
          </a:bodyPr>
          <a:lstStyle/>
          <a:p>
            <a:pPr marL="342900" indent="-342900" algn="l">
              <a:buFont typeface="Wingdings" panose="05000000000000000000" pitchFamily="2" charset="2"/>
              <a:buChar char="u"/>
            </a:pPr>
            <a:r>
              <a:rPr lang="zh-CN" altLang="en-US" sz="2400" b="1" kern="100" dirty="0">
                <a:solidFill>
                  <a:srgbClr val="000000"/>
                </a:solidFill>
                <a:latin typeface="Times New Roman" panose="02020603050405020304" pitchFamily="18" charset="0"/>
                <a:ea typeface="黑体" panose="02010609060101010101" pitchFamily="49" charset="-122"/>
              </a:rPr>
              <a:t>绕组匝数</a:t>
            </a:r>
            <a:r>
              <a:rPr lang="en-US" altLang="zh-CN" sz="2400" b="1" kern="100" dirty="0">
                <a:solidFill>
                  <a:srgbClr val="000000"/>
                </a:solidFill>
                <a:latin typeface="Times New Roman" panose="02020603050405020304" pitchFamily="18" charset="0"/>
                <a:ea typeface="黑体" panose="02010609060101010101" pitchFamily="49" charset="-122"/>
              </a:rPr>
              <a:t>Ny, </a:t>
            </a:r>
            <a:r>
              <a:rPr lang="zh-CN" altLang="en-US" sz="2400" b="1" kern="100" dirty="0">
                <a:solidFill>
                  <a:srgbClr val="000000"/>
                </a:solidFill>
                <a:latin typeface="Times New Roman" panose="02020603050405020304" pitchFamily="18" charset="0"/>
                <a:ea typeface="黑体" panose="02010609060101010101" pitchFamily="49" charset="-122"/>
              </a:rPr>
              <a:t>通过电流：</a:t>
            </a:r>
          </a:p>
        </p:txBody>
      </p:sp>
      <p:sp>
        <p:nvSpPr>
          <p:cNvPr id="20" name="文本框 19">
            <a:extLst>
              <a:ext uri="{FF2B5EF4-FFF2-40B4-BE49-F238E27FC236}">
                <a16:creationId xmlns:a16="http://schemas.microsoft.com/office/drawing/2014/main" id="{C8B426C3-0CC1-BD3B-1FAF-E16BA68FC7FD}"/>
              </a:ext>
            </a:extLst>
          </p:cNvPr>
          <p:cNvSpPr txBox="1"/>
          <p:nvPr/>
        </p:nvSpPr>
        <p:spPr>
          <a:xfrm>
            <a:off x="423835" y="4280080"/>
            <a:ext cx="4572000" cy="1200329"/>
          </a:xfrm>
          <a:prstGeom prst="rect">
            <a:avLst/>
          </a:prstGeom>
          <a:noFill/>
        </p:spPr>
        <p:txBody>
          <a:bodyPr wrap="square">
            <a:spAutoFit/>
          </a:bodyPr>
          <a:lstStyle/>
          <a:p>
            <a:pPr marL="285750" indent="-285750">
              <a:buFont typeface="Wingdings" panose="05000000000000000000" pitchFamily="2" charset="2"/>
              <a:buChar char="u"/>
            </a:pP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忽略铁心磁压降</a:t>
            </a:r>
            <a:r>
              <a:rPr lang="zh-CN" altLang="en-US" sz="2400" b="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认为气隙均匀</a:t>
            </a:r>
            <a:r>
              <a:rPr lang="en-US" altLang="zh-CN" sz="2400" b="1" kern="100" dirty="0">
                <a:solidFill>
                  <a:srgbClr val="000000"/>
                </a:solidFill>
                <a:effectLst/>
                <a:latin typeface="Times New Roman" panose="02020603050405020304" pitchFamily="18" charset="0"/>
                <a:ea typeface="黑体" panose="02010609060101010101" pitchFamily="49" charset="-122"/>
              </a:rPr>
              <a:t>,</a:t>
            </a:r>
            <a:r>
              <a:rPr lang="zh-CN" altLang="en-US" sz="2400" b="1" kern="100" dirty="0">
                <a:solidFill>
                  <a:srgbClr val="000000"/>
                </a:solidFill>
                <a:effectLst/>
                <a:latin typeface="Times New Roman" panose="02020603050405020304" pitchFamily="18" charset="0"/>
                <a:ea typeface="黑体" panose="02010609060101010101" pitchFamily="49" charset="-122"/>
              </a:rPr>
              <a:t>线性磁路，</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则气隙中磁势处处相等</a:t>
            </a:r>
            <a:r>
              <a:rPr lang="en-US" altLang="zh-CN" sz="2400" b="1" kern="100" dirty="0">
                <a:solidFill>
                  <a:srgbClr val="000000"/>
                </a:solidFill>
                <a:effectLst/>
                <a:latin typeface="Times New Roman" panose="02020603050405020304" pitchFamily="18" charset="0"/>
                <a:ea typeface="黑体" panose="02010609060101010101" pitchFamily="49" charset="-122"/>
              </a:rPr>
              <a:t>:</a:t>
            </a:r>
            <a:endParaRPr lang="zh-CN" altLang="en-US" sz="2400" dirty="0"/>
          </a:p>
        </p:txBody>
      </p:sp>
      <p:graphicFrame>
        <p:nvGraphicFramePr>
          <p:cNvPr id="22" name="对象 21">
            <a:extLst>
              <a:ext uri="{FF2B5EF4-FFF2-40B4-BE49-F238E27FC236}">
                <a16:creationId xmlns:a16="http://schemas.microsoft.com/office/drawing/2014/main" id="{2227CB39-5481-86CB-3A20-C77A9B547EB3}"/>
              </a:ext>
            </a:extLst>
          </p:cNvPr>
          <p:cNvGraphicFramePr>
            <a:graphicFrameLocks noChangeAspect="1"/>
          </p:cNvGraphicFramePr>
          <p:nvPr>
            <p:extLst>
              <p:ext uri="{D42A27DB-BD31-4B8C-83A1-F6EECF244321}">
                <p14:modId xmlns:p14="http://schemas.microsoft.com/office/powerpoint/2010/main" val="2683064544"/>
              </p:ext>
            </p:extLst>
          </p:nvPr>
        </p:nvGraphicFramePr>
        <p:xfrm>
          <a:off x="971600" y="5293726"/>
          <a:ext cx="3805238" cy="862013"/>
        </p:xfrm>
        <a:graphic>
          <a:graphicData uri="http://schemas.openxmlformats.org/presentationml/2006/ole">
            <mc:AlternateContent xmlns:mc="http://schemas.openxmlformats.org/markup-compatibility/2006">
              <mc:Choice xmlns:v="urn:schemas-microsoft-com:vml" Requires="v">
                <p:oleObj name="Equation" r:id="rId10" imgW="1714500" imgH="393700" progId="Equation.DSMT4">
                  <p:embed/>
                </p:oleObj>
              </mc:Choice>
              <mc:Fallback>
                <p:oleObj name="Equation" r:id="rId10" imgW="1714500" imgH="39370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1600" y="5293726"/>
                        <a:ext cx="3805238"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a:extLst>
              <a:ext uri="{FF2B5EF4-FFF2-40B4-BE49-F238E27FC236}">
                <a16:creationId xmlns:a16="http://schemas.microsoft.com/office/drawing/2014/main" id="{DC4561E0-087E-2022-D73A-D4C445D02F75}"/>
              </a:ext>
            </a:extLst>
          </p:cNvPr>
          <p:cNvSpPr>
            <a:spLocks noGrp="1"/>
          </p:cNvSpPr>
          <p:nvPr>
            <p:ph type="sldNum" sz="quarter" idx="12"/>
          </p:nvPr>
        </p:nvSpPr>
        <p:spPr/>
        <p:txBody>
          <a:bodyPr/>
          <a:lstStyle/>
          <a:p>
            <a:fld id="{76D830B0-DF59-4281-898F-AF208100B213}" type="slidenum">
              <a:rPr lang="en-US" altLang="zh-CN" smtClean="0"/>
              <a:pPr/>
              <a:t>20</a:t>
            </a:fld>
            <a:endParaRPr lang="en-US" altLang="zh-CN"/>
          </a:p>
        </p:txBody>
      </p:sp>
    </p:spTree>
    <p:extLst>
      <p:ext uri="{BB962C8B-B14F-4D97-AF65-F5344CB8AC3E}">
        <p14:creationId xmlns:p14="http://schemas.microsoft.com/office/powerpoint/2010/main" val="543805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7104F4E-F625-6000-716C-55B74941B96B}"/>
              </a:ext>
            </a:extLst>
          </p:cNvPr>
          <p:cNvSpPr txBox="1"/>
          <p:nvPr/>
        </p:nvSpPr>
        <p:spPr>
          <a:xfrm>
            <a:off x="395536" y="817948"/>
            <a:ext cx="7992888" cy="1384995"/>
          </a:xfrm>
          <a:prstGeom prst="rect">
            <a:avLst/>
          </a:prstGeom>
          <a:noFill/>
        </p:spPr>
        <p:txBody>
          <a:bodyPr wrap="square">
            <a:spAutoFit/>
          </a:bodyPr>
          <a:lstStyle/>
          <a:p>
            <a:pPr algn="l"/>
            <a:r>
              <a:rPr lang="zh-CN" altLang="en-US" sz="2800" b="1" kern="100" dirty="0">
                <a:solidFill>
                  <a:srgbClr val="FF0000"/>
                </a:solidFill>
                <a:latin typeface="Times New Roman" panose="02020603050405020304" pitchFamily="18" charset="0"/>
                <a:ea typeface="黑体" panose="02010609060101010101" pitchFamily="49" charset="-122"/>
              </a:rPr>
              <a:t>特点</a:t>
            </a:r>
            <a:r>
              <a:rPr lang="zh-CN" altLang="en-US" sz="2800" b="1" kern="100" dirty="0">
                <a:solidFill>
                  <a:srgbClr val="FF0000"/>
                </a:solidFill>
                <a:effectLst/>
                <a:latin typeface="Times New Roman" panose="02020603050405020304" pitchFamily="18" charset="0"/>
                <a:ea typeface="黑体" panose="02010609060101010101" pitchFamily="49" charset="-122"/>
              </a:rPr>
              <a:t>：线性磁路（气隙）；</a:t>
            </a:r>
            <a:r>
              <a:rPr lang="zh-CN" altLang="zh-CN" sz="2800" b="1" kern="100" dirty="0">
                <a:solidFill>
                  <a:srgbClr val="000000"/>
                </a:solidFill>
                <a:effectLst/>
                <a:latin typeface="Times New Roman" panose="02020603050405020304" pitchFamily="18" charset="0"/>
                <a:ea typeface="黑体" panose="02010609060101010101" pitchFamily="49" charset="-122"/>
              </a:rPr>
              <a:t>磁势空间位置固定、幅值随电流按正弦规律不断改变其大小和符号</a:t>
            </a:r>
            <a:r>
              <a:rPr lang="en-US" altLang="zh-CN" sz="2800" b="1" kern="100" dirty="0">
                <a:solidFill>
                  <a:srgbClr val="000000"/>
                </a:solidFill>
                <a:effectLst/>
                <a:latin typeface="Times New Roman" panose="02020603050405020304" pitchFamily="18" charset="0"/>
                <a:ea typeface="黑体" panose="02010609060101010101" pitchFamily="49" charset="-122"/>
              </a:rPr>
              <a:t>——</a:t>
            </a:r>
            <a:r>
              <a:rPr lang="zh-CN" altLang="zh-CN" sz="2800" b="1" kern="100" dirty="0">
                <a:solidFill>
                  <a:srgbClr val="FF0000"/>
                </a:solidFill>
                <a:effectLst/>
                <a:latin typeface="Times New Roman" panose="02020603050405020304" pitchFamily="18" charset="0"/>
                <a:ea typeface="黑体" panose="02010609060101010101" pitchFamily="49" charset="-122"/>
              </a:rPr>
              <a:t>空间脉振磁势</a:t>
            </a:r>
            <a:r>
              <a:rPr lang="zh-CN" altLang="en-US" sz="2800" b="1" kern="100" dirty="0">
                <a:solidFill>
                  <a:srgbClr val="FF0000"/>
                </a:solidFill>
                <a:effectLst/>
                <a:latin typeface="Times New Roman" panose="02020603050405020304" pitchFamily="18" charset="0"/>
                <a:ea typeface="黑体" panose="02010609060101010101" pitchFamily="49" charset="-122"/>
              </a:rPr>
              <a:t>（区别于变压器正弦交变磁通）</a:t>
            </a:r>
            <a:endParaRPr lang="zh-CN" altLang="zh-CN" sz="1100" kern="100" dirty="0">
              <a:effectLst/>
              <a:latin typeface="Times New Roman" panose="02020603050405020304" pitchFamily="18" charset="0"/>
              <a:ea typeface="宋体" panose="02010600030101010101" pitchFamily="2" charset="-122"/>
            </a:endParaRPr>
          </a:p>
        </p:txBody>
      </p:sp>
      <p:sp>
        <p:nvSpPr>
          <p:cNvPr id="7" name="文本框 6">
            <a:extLst>
              <a:ext uri="{FF2B5EF4-FFF2-40B4-BE49-F238E27FC236}">
                <a16:creationId xmlns:a16="http://schemas.microsoft.com/office/drawing/2014/main" id="{983989C6-9414-6CC5-9671-B145CC9E3DDD}"/>
              </a:ext>
            </a:extLst>
          </p:cNvPr>
          <p:cNvSpPr txBox="1"/>
          <p:nvPr/>
        </p:nvSpPr>
        <p:spPr>
          <a:xfrm>
            <a:off x="352491" y="2193595"/>
            <a:ext cx="1844303" cy="523220"/>
          </a:xfrm>
          <a:prstGeom prst="rect">
            <a:avLst/>
          </a:prstGeom>
          <a:noFill/>
        </p:spPr>
        <p:txBody>
          <a:bodyPr wrap="square">
            <a:spAutoFit/>
          </a:bodyPr>
          <a:lstStyle/>
          <a:p>
            <a:pPr algn="l"/>
            <a:r>
              <a:rPr lang="zh-CN" altLang="zh-CN" sz="2800" kern="100" dirty="0">
                <a:solidFill>
                  <a:srgbClr val="0000FF"/>
                </a:solidFill>
                <a:effectLst/>
                <a:latin typeface="Times New Roman" panose="02020603050405020304" pitchFamily="18" charset="0"/>
                <a:ea typeface="黑体" panose="02010609060101010101" pitchFamily="49" charset="-122"/>
              </a:rPr>
              <a:t>谐波分析</a:t>
            </a:r>
            <a:r>
              <a:rPr lang="zh-CN" altLang="zh-CN" sz="2800" b="1" kern="100" dirty="0">
                <a:solidFill>
                  <a:srgbClr val="000000"/>
                </a:solidFill>
                <a:effectLst/>
                <a:latin typeface="Times New Roman" panose="02020603050405020304" pitchFamily="18" charset="0"/>
                <a:ea typeface="黑体" panose="02010609060101010101" pitchFamily="49" charset="-122"/>
              </a:rPr>
              <a:t>：</a:t>
            </a:r>
            <a:endParaRPr lang="zh-CN" altLang="zh-CN" sz="1100" kern="100" dirty="0">
              <a:solidFill>
                <a:srgbClr val="FF0000"/>
              </a:solidFill>
              <a:effectLst/>
              <a:latin typeface="Times New Roman" panose="02020603050405020304" pitchFamily="18" charset="0"/>
              <a:ea typeface="宋体" panose="02010600030101010101" pitchFamily="2" charset="-122"/>
            </a:endParaRPr>
          </a:p>
        </p:txBody>
      </p:sp>
      <p:graphicFrame>
        <p:nvGraphicFramePr>
          <p:cNvPr id="10" name="对象 9">
            <a:extLst>
              <a:ext uri="{FF2B5EF4-FFF2-40B4-BE49-F238E27FC236}">
                <a16:creationId xmlns:a16="http://schemas.microsoft.com/office/drawing/2014/main" id="{4877510D-84D2-53B5-4D1F-3DE86AD8363F}"/>
              </a:ext>
            </a:extLst>
          </p:cNvPr>
          <p:cNvGraphicFramePr>
            <a:graphicFrameLocks noChangeAspect="1"/>
          </p:cNvGraphicFramePr>
          <p:nvPr>
            <p:extLst>
              <p:ext uri="{D42A27DB-BD31-4B8C-83A1-F6EECF244321}">
                <p14:modId xmlns:p14="http://schemas.microsoft.com/office/powerpoint/2010/main" val="108626314"/>
              </p:ext>
            </p:extLst>
          </p:nvPr>
        </p:nvGraphicFramePr>
        <p:xfrm>
          <a:off x="4087750" y="2796296"/>
          <a:ext cx="376238" cy="352425"/>
        </p:xfrm>
        <a:graphic>
          <a:graphicData uri="http://schemas.openxmlformats.org/presentationml/2006/ole">
            <mc:AlternateContent xmlns:mc="http://schemas.openxmlformats.org/markup-compatibility/2006">
              <mc:Choice xmlns:v="urn:schemas-microsoft-com:vml" Requires="v">
                <p:oleObj name="Equation" r:id="rId2" imgW="190335" imgH="177646" progId="Equation.DSMT4">
                  <p:embed/>
                </p:oleObj>
              </mc:Choice>
              <mc:Fallback>
                <p:oleObj name="Equation" r:id="rId2" imgW="190335" imgH="177646"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7750" y="2796296"/>
                        <a:ext cx="376238"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a:extLst>
              <a:ext uri="{FF2B5EF4-FFF2-40B4-BE49-F238E27FC236}">
                <a16:creationId xmlns:a16="http://schemas.microsoft.com/office/drawing/2014/main" id="{F3E873DE-693D-75B8-3F3A-AEB2B86FDD57}"/>
              </a:ext>
            </a:extLst>
          </p:cNvPr>
          <p:cNvGraphicFramePr>
            <a:graphicFrameLocks noChangeAspect="1"/>
          </p:cNvGraphicFramePr>
          <p:nvPr>
            <p:extLst>
              <p:ext uri="{D42A27DB-BD31-4B8C-83A1-F6EECF244321}">
                <p14:modId xmlns:p14="http://schemas.microsoft.com/office/powerpoint/2010/main" val="3876803466"/>
              </p:ext>
            </p:extLst>
          </p:nvPr>
        </p:nvGraphicFramePr>
        <p:xfrm>
          <a:off x="6660232" y="2753433"/>
          <a:ext cx="500063" cy="438150"/>
        </p:xfrm>
        <a:graphic>
          <a:graphicData uri="http://schemas.openxmlformats.org/presentationml/2006/ole">
            <mc:AlternateContent xmlns:mc="http://schemas.openxmlformats.org/markup-compatibility/2006">
              <mc:Choice xmlns:v="urn:schemas-microsoft-com:vml" Requires="v">
                <p:oleObj name="Equation" r:id="rId4" imgW="202936" imgH="177569" progId="Equation.DSMT4">
                  <p:embed/>
                </p:oleObj>
              </mc:Choice>
              <mc:Fallback>
                <p:oleObj name="Equation" r:id="rId4" imgW="202936" imgH="177569"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0232" y="2753433"/>
                        <a:ext cx="500063" cy="438150"/>
                      </a:xfrm>
                      <a:prstGeom prst="rect">
                        <a:avLst/>
                      </a:prstGeom>
                      <a:noFill/>
                    </p:spPr>
                  </p:pic>
                </p:oleObj>
              </mc:Fallback>
            </mc:AlternateContent>
          </a:graphicData>
        </a:graphic>
      </p:graphicFrame>
      <p:sp>
        <p:nvSpPr>
          <p:cNvPr id="16" name="Rectangle 4">
            <a:extLst>
              <a:ext uri="{FF2B5EF4-FFF2-40B4-BE49-F238E27FC236}">
                <a16:creationId xmlns:a16="http://schemas.microsoft.com/office/drawing/2014/main" id="{59A59A11-6B5C-6954-CF28-7A472363B180}"/>
              </a:ext>
            </a:extLst>
          </p:cNvPr>
          <p:cNvSpPr>
            <a:spLocks noChangeArrowheads="1"/>
          </p:cNvSpPr>
          <p:nvPr/>
        </p:nvSpPr>
        <p:spPr bwMode="auto">
          <a:xfrm>
            <a:off x="251520" y="2771001"/>
            <a:ext cx="453650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u"/>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机电角度的换算：</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P=1</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6">
            <a:extLst>
              <a:ext uri="{FF2B5EF4-FFF2-40B4-BE49-F238E27FC236}">
                <a16:creationId xmlns:a16="http://schemas.microsoft.com/office/drawing/2014/main" id="{CCCF77EE-9D83-983E-B9D4-F9579F5790BA}"/>
              </a:ext>
            </a:extLst>
          </p:cNvPr>
          <p:cNvSpPr>
            <a:spLocks noChangeArrowheads="1"/>
          </p:cNvSpPr>
          <p:nvPr/>
        </p:nvSpPr>
        <p:spPr bwMode="auto">
          <a:xfrm>
            <a:off x="4105745" y="2743908"/>
            <a:ext cx="309634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06388"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机械弧度相当于</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1" name="Rectangle 7">
            <a:extLst>
              <a:ext uri="{FF2B5EF4-FFF2-40B4-BE49-F238E27FC236}">
                <a16:creationId xmlns:a16="http://schemas.microsoft.com/office/drawing/2014/main" id="{732E9C0D-8455-85CD-4EC0-4093AE5CE68E}"/>
              </a:ext>
            </a:extLst>
          </p:cNvPr>
          <p:cNvSpPr>
            <a:spLocks noChangeArrowheads="1"/>
          </p:cNvSpPr>
          <p:nvPr/>
        </p:nvSpPr>
        <p:spPr bwMode="auto">
          <a:xfrm>
            <a:off x="6804248" y="2716815"/>
            <a:ext cx="15841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06388"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电弧度</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3" name="对象 22">
            <a:extLst>
              <a:ext uri="{FF2B5EF4-FFF2-40B4-BE49-F238E27FC236}">
                <a16:creationId xmlns:a16="http://schemas.microsoft.com/office/drawing/2014/main" id="{82B870FE-AA1A-C850-9A0A-A35E4C2D7ABB}"/>
              </a:ext>
            </a:extLst>
          </p:cNvPr>
          <p:cNvGraphicFramePr>
            <a:graphicFrameLocks noChangeAspect="1"/>
          </p:cNvGraphicFramePr>
          <p:nvPr>
            <p:extLst>
              <p:ext uri="{D42A27DB-BD31-4B8C-83A1-F6EECF244321}">
                <p14:modId xmlns:p14="http://schemas.microsoft.com/office/powerpoint/2010/main" val="1202834536"/>
              </p:ext>
            </p:extLst>
          </p:nvPr>
        </p:nvGraphicFramePr>
        <p:xfrm>
          <a:off x="3846188" y="3208318"/>
          <a:ext cx="519113" cy="842963"/>
        </p:xfrm>
        <a:graphic>
          <a:graphicData uri="http://schemas.openxmlformats.org/presentationml/2006/ole">
            <mc:AlternateContent xmlns:mc="http://schemas.openxmlformats.org/markup-compatibility/2006">
              <mc:Choice xmlns:v="urn:schemas-microsoft-com:vml" Requires="v">
                <p:oleObj name="Equation" r:id="rId6" imgW="241195" imgH="393529" progId="Equation.DSMT4">
                  <p:embed/>
                </p:oleObj>
              </mc:Choice>
              <mc:Fallback>
                <p:oleObj name="Equation" r:id="rId6" imgW="241195" imgH="393529"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6188" y="3208318"/>
                        <a:ext cx="519113" cy="842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a:extLst>
              <a:ext uri="{FF2B5EF4-FFF2-40B4-BE49-F238E27FC236}">
                <a16:creationId xmlns:a16="http://schemas.microsoft.com/office/drawing/2014/main" id="{C1AEADD8-14A7-314A-1202-36619A10C8B4}"/>
              </a:ext>
            </a:extLst>
          </p:cNvPr>
          <p:cNvGraphicFramePr>
            <a:graphicFrameLocks noChangeAspect="1"/>
          </p:cNvGraphicFramePr>
          <p:nvPr>
            <p:extLst>
              <p:ext uri="{D42A27DB-BD31-4B8C-83A1-F6EECF244321}">
                <p14:modId xmlns:p14="http://schemas.microsoft.com/office/powerpoint/2010/main" val="1783283473"/>
              </p:ext>
            </p:extLst>
          </p:nvPr>
        </p:nvGraphicFramePr>
        <p:xfrm>
          <a:off x="3131840" y="3861048"/>
          <a:ext cx="257175" cy="280987"/>
        </p:xfrm>
        <a:graphic>
          <a:graphicData uri="http://schemas.openxmlformats.org/presentationml/2006/ole">
            <mc:AlternateContent xmlns:mc="http://schemas.openxmlformats.org/markup-compatibility/2006">
              <mc:Choice xmlns:v="urn:schemas-microsoft-com:vml" Requires="v">
                <p:oleObj name="Equation" r:id="rId8" imgW="126835" imgH="139518" progId="Equation.DSMT4">
                  <p:embed/>
                </p:oleObj>
              </mc:Choice>
              <mc:Fallback>
                <p:oleObj name="Equation" r:id="rId8" imgW="126835" imgH="139518"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1840" y="3861048"/>
                        <a:ext cx="257175" cy="280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10">
            <a:extLst>
              <a:ext uri="{FF2B5EF4-FFF2-40B4-BE49-F238E27FC236}">
                <a16:creationId xmlns:a16="http://schemas.microsoft.com/office/drawing/2014/main" id="{CEBC3679-BD3A-DD1C-D090-8C3C1C0815DC}"/>
              </a:ext>
            </a:extLst>
          </p:cNvPr>
          <p:cNvSpPr>
            <a:spLocks noChangeArrowheads="1"/>
          </p:cNvSpPr>
          <p:nvPr/>
        </p:nvSpPr>
        <p:spPr bwMode="auto">
          <a:xfrm>
            <a:off x="590993" y="3238405"/>
            <a:ext cx="8085463" cy="966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lnSpc>
                <a:spcPct val="125000"/>
              </a:lnSpc>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所以：</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x</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机械弧度相当于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电弧度，即机械弧度</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x</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为一个极距时电弧度等于  。</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28" name="Rectangle 14">
            <a:extLst>
              <a:ext uri="{FF2B5EF4-FFF2-40B4-BE49-F238E27FC236}">
                <a16:creationId xmlns:a16="http://schemas.microsoft.com/office/drawing/2014/main" id="{776159DB-D02A-764A-071C-81196B8008F4}"/>
              </a:ext>
            </a:extLst>
          </p:cNvPr>
          <p:cNvSpPr>
            <a:spLocks noChangeArrowheads="1"/>
          </p:cNvSpPr>
          <p:nvPr/>
        </p:nvSpPr>
        <p:spPr bwMode="auto">
          <a:xfrm>
            <a:off x="223240" y="4293096"/>
            <a:ext cx="73010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hangingPunct="0">
              <a:buFont typeface="Wingdings" panose="05000000000000000000" pitchFamily="2" charset="2"/>
              <a:buChar char="u"/>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将       瞬间的</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空间矩形波磁势</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按级</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数展开，由</a:t>
            </a:r>
          </a:p>
        </p:txBody>
      </p:sp>
      <p:graphicFrame>
        <p:nvGraphicFramePr>
          <p:cNvPr id="29" name="对象 28">
            <a:extLst>
              <a:ext uri="{FF2B5EF4-FFF2-40B4-BE49-F238E27FC236}">
                <a16:creationId xmlns:a16="http://schemas.microsoft.com/office/drawing/2014/main" id="{2D9D261E-FA53-8234-23C9-2F23265D14E4}"/>
              </a:ext>
            </a:extLst>
          </p:cNvPr>
          <p:cNvGraphicFramePr>
            <a:graphicFrameLocks noChangeAspect="1"/>
          </p:cNvGraphicFramePr>
          <p:nvPr>
            <p:extLst>
              <p:ext uri="{D42A27DB-BD31-4B8C-83A1-F6EECF244321}">
                <p14:modId xmlns:p14="http://schemas.microsoft.com/office/powerpoint/2010/main" val="2081051620"/>
              </p:ext>
            </p:extLst>
          </p:nvPr>
        </p:nvGraphicFramePr>
        <p:xfrm>
          <a:off x="1043608" y="4331351"/>
          <a:ext cx="947738" cy="490538"/>
        </p:xfrm>
        <a:graphic>
          <a:graphicData uri="http://schemas.openxmlformats.org/presentationml/2006/ole">
            <mc:AlternateContent xmlns:mc="http://schemas.openxmlformats.org/markup-compatibility/2006">
              <mc:Choice xmlns:v="urn:schemas-microsoft-com:vml" Requires="v">
                <p:oleObj name="Equation" r:id="rId10" imgW="469696" imgH="241195" progId="Equation.DSMT4">
                  <p:embed/>
                </p:oleObj>
              </mc:Choice>
              <mc:Fallback>
                <p:oleObj name="Equation" r:id="rId10" imgW="469696" imgH="241195"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43608" y="4331351"/>
                        <a:ext cx="947738"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对象 31">
            <a:extLst>
              <a:ext uri="{FF2B5EF4-FFF2-40B4-BE49-F238E27FC236}">
                <a16:creationId xmlns:a16="http://schemas.microsoft.com/office/drawing/2014/main" id="{C51832DF-42BF-FE1D-2EB9-A8CE1EA80920}"/>
              </a:ext>
            </a:extLst>
          </p:cNvPr>
          <p:cNvGraphicFramePr>
            <a:graphicFrameLocks noChangeAspect="1"/>
          </p:cNvGraphicFramePr>
          <p:nvPr>
            <p:extLst>
              <p:ext uri="{D42A27DB-BD31-4B8C-83A1-F6EECF244321}">
                <p14:modId xmlns:p14="http://schemas.microsoft.com/office/powerpoint/2010/main" val="3039300332"/>
              </p:ext>
            </p:extLst>
          </p:nvPr>
        </p:nvGraphicFramePr>
        <p:xfrm>
          <a:off x="1274643" y="4966542"/>
          <a:ext cx="6510338" cy="852488"/>
        </p:xfrm>
        <a:graphic>
          <a:graphicData uri="http://schemas.openxmlformats.org/presentationml/2006/ole">
            <mc:AlternateContent xmlns:mc="http://schemas.openxmlformats.org/markup-compatibility/2006">
              <mc:Choice xmlns:v="urn:schemas-microsoft-com:vml" Requires="v">
                <p:oleObj name="Equation" r:id="rId12" imgW="3263900" imgH="431800" progId="Equation.DSMT4">
                  <p:embed/>
                </p:oleObj>
              </mc:Choice>
              <mc:Fallback>
                <p:oleObj name="Equation" r:id="rId12" imgW="3263900" imgH="431800" progId="Equation.DSMT4">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74643" y="4966542"/>
                        <a:ext cx="6510338" cy="852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对象 33">
            <a:extLst>
              <a:ext uri="{FF2B5EF4-FFF2-40B4-BE49-F238E27FC236}">
                <a16:creationId xmlns:a16="http://schemas.microsoft.com/office/drawing/2014/main" id="{91BF40A5-07E9-6901-4E35-6AF3064E84BC}"/>
              </a:ext>
            </a:extLst>
          </p:cNvPr>
          <p:cNvGraphicFramePr>
            <a:graphicFrameLocks noChangeAspect="1"/>
          </p:cNvGraphicFramePr>
          <p:nvPr>
            <p:extLst>
              <p:ext uri="{D42A27DB-BD31-4B8C-83A1-F6EECF244321}">
                <p14:modId xmlns:p14="http://schemas.microsoft.com/office/powerpoint/2010/main" val="573973316"/>
              </p:ext>
            </p:extLst>
          </p:nvPr>
        </p:nvGraphicFramePr>
        <p:xfrm>
          <a:off x="1894619" y="5805264"/>
          <a:ext cx="5138738" cy="852488"/>
        </p:xfrm>
        <a:graphic>
          <a:graphicData uri="http://schemas.openxmlformats.org/presentationml/2006/ole">
            <mc:AlternateContent xmlns:mc="http://schemas.openxmlformats.org/markup-compatibility/2006">
              <mc:Choice xmlns:v="urn:schemas-microsoft-com:vml" Requires="v">
                <p:oleObj name="Equation" r:id="rId14" imgW="2349500" imgH="393700" progId="Equation.DSMT4">
                  <p:embed/>
                </p:oleObj>
              </mc:Choice>
              <mc:Fallback>
                <p:oleObj name="Equation" r:id="rId14" imgW="2349500" imgH="393700" progId="Equation.DSMT4">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94619" y="5805264"/>
                        <a:ext cx="5138738" cy="852488"/>
                      </a:xfrm>
                      <a:prstGeom prst="rect">
                        <a:avLst/>
                      </a:prstGeom>
                      <a:noFill/>
                    </p:spPr>
                  </p:pic>
                </p:oleObj>
              </mc:Fallback>
            </mc:AlternateContent>
          </a:graphicData>
        </a:graphic>
      </p:graphicFrame>
      <p:sp>
        <p:nvSpPr>
          <p:cNvPr id="3" name="灯片编号占位符 2">
            <a:extLst>
              <a:ext uri="{FF2B5EF4-FFF2-40B4-BE49-F238E27FC236}">
                <a16:creationId xmlns:a16="http://schemas.microsoft.com/office/drawing/2014/main" id="{C8FC7F51-F68A-CD7F-CFA1-E95470ED453E}"/>
              </a:ext>
            </a:extLst>
          </p:cNvPr>
          <p:cNvSpPr>
            <a:spLocks noGrp="1"/>
          </p:cNvSpPr>
          <p:nvPr>
            <p:ph type="sldNum" sz="quarter" idx="12"/>
          </p:nvPr>
        </p:nvSpPr>
        <p:spPr/>
        <p:txBody>
          <a:bodyPr/>
          <a:lstStyle/>
          <a:p>
            <a:fld id="{76D830B0-DF59-4281-898F-AF208100B213}" type="slidenum">
              <a:rPr lang="en-US" altLang="zh-CN" smtClean="0"/>
              <a:pPr/>
              <a:t>21</a:t>
            </a:fld>
            <a:endParaRPr lang="en-US" altLang="zh-CN"/>
          </a:p>
        </p:txBody>
      </p:sp>
    </p:spTree>
    <p:extLst>
      <p:ext uri="{BB962C8B-B14F-4D97-AF65-F5344CB8AC3E}">
        <p14:creationId xmlns:p14="http://schemas.microsoft.com/office/powerpoint/2010/main" val="3980865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98F72DA2-E9E4-BFF1-FC84-96E7E8CD3F07}"/>
              </a:ext>
            </a:extLst>
          </p:cNvPr>
          <p:cNvSpPr txBox="1"/>
          <p:nvPr/>
        </p:nvSpPr>
        <p:spPr>
          <a:xfrm>
            <a:off x="266643" y="1834932"/>
            <a:ext cx="4572000" cy="830997"/>
          </a:xfrm>
          <a:prstGeom prst="rect">
            <a:avLst/>
          </a:prstGeom>
          <a:noFill/>
        </p:spPr>
        <p:txBody>
          <a:bodyPr wrap="square">
            <a:spAutoFit/>
          </a:bodyPr>
          <a:lstStyle/>
          <a:p>
            <a:pPr algn="l"/>
            <a:r>
              <a:rPr lang="zh-CN" altLang="zh-CN" sz="2400" b="1" kern="100" dirty="0">
                <a:solidFill>
                  <a:srgbClr val="000000"/>
                </a:solidFill>
                <a:effectLst/>
                <a:latin typeface="Times New Roman" panose="02020603050405020304" pitchFamily="18" charset="0"/>
                <a:ea typeface="黑体" panose="02010609060101010101" pitchFamily="49" charset="-122"/>
              </a:rPr>
              <a:t>用电弧度表示空间位置</a:t>
            </a:r>
            <a:r>
              <a:rPr lang="zh-CN" altLang="en-US" sz="2400" b="1" kern="100" dirty="0">
                <a:solidFill>
                  <a:srgbClr val="000000"/>
                </a:solidFill>
                <a:effectLst/>
                <a:latin typeface="Times New Roman" panose="02020603050405020304" pitchFamily="18" charset="0"/>
                <a:ea typeface="黑体" panose="02010609060101010101" pitchFamily="49" charset="-122"/>
              </a:rPr>
              <a:t>（分析磁势空间分布规律）</a:t>
            </a:r>
            <a:r>
              <a:rPr lang="zh-CN" altLang="zh-CN" sz="2400" b="1" kern="100" dirty="0">
                <a:solidFill>
                  <a:srgbClr val="000000"/>
                </a:solidFill>
                <a:effectLst/>
                <a:latin typeface="Times New Roman" panose="02020603050405020304" pitchFamily="18" charset="0"/>
                <a:ea typeface="黑体" panose="02010609060101010101" pitchFamily="49" charset="-122"/>
              </a:rPr>
              <a:t>，得</a:t>
            </a:r>
            <a:r>
              <a:rPr lang="zh-CN" altLang="en-US" sz="2400" b="1" kern="100" dirty="0">
                <a:solidFill>
                  <a:srgbClr val="000000"/>
                </a:solidFill>
                <a:effectLst/>
                <a:latin typeface="Times New Roman" panose="02020603050405020304" pitchFamily="18" charset="0"/>
                <a:ea typeface="黑体" panose="02010609060101010101" pitchFamily="49" charset="-122"/>
              </a:rPr>
              <a:t>：</a:t>
            </a:r>
            <a:endParaRPr lang="zh-CN" altLang="zh-CN" sz="1050" kern="100" dirty="0">
              <a:effectLst/>
              <a:latin typeface="Times New Roman" panose="02020603050405020304" pitchFamily="18" charset="0"/>
              <a:ea typeface="宋体" panose="02010600030101010101" pitchFamily="2" charset="-122"/>
            </a:endParaRPr>
          </a:p>
        </p:txBody>
      </p:sp>
      <p:graphicFrame>
        <p:nvGraphicFramePr>
          <p:cNvPr id="9" name="对象 8">
            <a:extLst>
              <a:ext uri="{FF2B5EF4-FFF2-40B4-BE49-F238E27FC236}">
                <a16:creationId xmlns:a16="http://schemas.microsoft.com/office/drawing/2014/main" id="{6C405EB6-A931-EF39-E6DC-95A51BB26443}"/>
              </a:ext>
            </a:extLst>
          </p:cNvPr>
          <p:cNvGraphicFramePr>
            <a:graphicFrameLocks noChangeAspect="1"/>
          </p:cNvGraphicFramePr>
          <p:nvPr>
            <p:extLst>
              <p:ext uri="{D42A27DB-BD31-4B8C-83A1-F6EECF244321}">
                <p14:modId xmlns:p14="http://schemas.microsoft.com/office/powerpoint/2010/main" val="2925542442"/>
              </p:ext>
            </p:extLst>
          </p:nvPr>
        </p:nvGraphicFramePr>
        <p:xfrm>
          <a:off x="539552" y="2636912"/>
          <a:ext cx="7920880" cy="3920453"/>
        </p:xfrm>
        <a:graphic>
          <a:graphicData uri="http://schemas.openxmlformats.org/presentationml/2006/ole">
            <mc:AlternateContent xmlns:mc="http://schemas.openxmlformats.org/markup-compatibility/2006">
              <mc:Choice xmlns:v="urn:schemas-microsoft-com:vml" Requires="v">
                <p:oleObj name="Equation" r:id="rId2" imgW="4127400" imgH="2057400" progId="Equation.DSMT4">
                  <p:embed/>
                </p:oleObj>
              </mc:Choice>
              <mc:Fallback>
                <p:oleObj name="Equation" r:id="rId2" imgW="4127400" imgH="2057400" progId="Equation.DSMT4">
                  <p:embed/>
                  <p:pic>
                    <p:nvPicPr>
                      <p:cNvPr id="0" name="Object 3"/>
                      <p:cNvPicPr>
                        <a:picLocks noChangeAspect="1" noChangeArrowheads="1"/>
                      </p:cNvPicPr>
                      <p:nvPr/>
                    </p:nvPicPr>
                    <p:blipFill>
                      <a:blip r:embed="rId3"/>
                      <a:srcRect/>
                      <a:stretch>
                        <a:fillRect/>
                      </a:stretch>
                    </p:blipFill>
                    <p:spPr bwMode="auto">
                      <a:xfrm>
                        <a:off x="539552" y="2636912"/>
                        <a:ext cx="7920880" cy="3920453"/>
                      </a:xfrm>
                      <a:prstGeom prst="rect">
                        <a:avLst/>
                      </a:prstGeom>
                      <a:solidFill>
                        <a:schemeClr val="bg1"/>
                      </a:solidFill>
                    </p:spPr>
                  </p:pic>
                </p:oleObj>
              </mc:Fallback>
            </mc:AlternateContent>
          </a:graphicData>
        </a:graphic>
      </p:graphicFrame>
      <p:graphicFrame>
        <p:nvGraphicFramePr>
          <p:cNvPr id="3" name="对象 2">
            <a:extLst>
              <a:ext uri="{FF2B5EF4-FFF2-40B4-BE49-F238E27FC236}">
                <a16:creationId xmlns:a16="http://schemas.microsoft.com/office/drawing/2014/main" id="{52F3FDFC-7670-D6CB-3BA6-F5E07934C5CC}"/>
              </a:ext>
            </a:extLst>
          </p:cNvPr>
          <p:cNvGraphicFramePr>
            <a:graphicFrameLocks noChangeAspect="1"/>
          </p:cNvGraphicFramePr>
          <p:nvPr>
            <p:extLst>
              <p:ext uri="{D42A27DB-BD31-4B8C-83A1-F6EECF244321}">
                <p14:modId xmlns:p14="http://schemas.microsoft.com/office/powerpoint/2010/main" val="2831083800"/>
              </p:ext>
            </p:extLst>
          </p:nvPr>
        </p:nvGraphicFramePr>
        <p:xfrm>
          <a:off x="5904576" y="548680"/>
          <a:ext cx="3068669" cy="2572505"/>
        </p:xfrm>
        <a:graphic>
          <a:graphicData uri="http://schemas.openxmlformats.org/presentationml/2006/ole">
            <mc:AlternateContent xmlns:mc="http://schemas.openxmlformats.org/markup-compatibility/2006">
              <mc:Choice xmlns:v="urn:schemas-microsoft-com:vml" Requires="v">
                <p:oleObj r:id="rId4" imgW="1309688" imgH="1103313" progId="MSDraw">
                  <p:embed/>
                </p:oleObj>
              </mc:Choice>
              <mc:Fallback>
                <p:oleObj r:id="rId4" imgW="1309688" imgH="1103313" progId="MSDraw">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4576" y="548680"/>
                        <a:ext cx="3068669" cy="2572505"/>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6AD0F793-9DCE-BD2C-8BAD-E764F21A5DA4}"/>
              </a:ext>
            </a:extLst>
          </p:cNvPr>
          <p:cNvGraphicFramePr>
            <a:graphicFrameLocks noChangeAspect="1"/>
          </p:cNvGraphicFramePr>
          <p:nvPr>
            <p:extLst>
              <p:ext uri="{D42A27DB-BD31-4B8C-83A1-F6EECF244321}">
                <p14:modId xmlns:p14="http://schemas.microsoft.com/office/powerpoint/2010/main" val="3342616048"/>
              </p:ext>
            </p:extLst>
          </p:nvPr>
        </p:nvGraphicFramePr>
        <p:xfrm>
          <a:off x="2267744" y="1109935"/>
          <a:ext cx="3669533" cy="806897"/>
        </p:xfrm>
        <a:graphic>
          <a:graphicData uri="http://schemas.openxmlformats.org/presentationml/2006/ole">
            <mc:AlternateContent xmlns:mc="http://schemas.openxmlformats.org/markup-compatibility/2006">
              <mc:Choice xmlns:v="urn:schemas-microsoft-com:vml" Requires="v">
                <p:oleObj name="Equation" r:id="rId6" imgW="1765080" imgH="393480" progId="Equation.DSMT4">
                  <p:embed/>
                </p:oleObj>
              </mc:Choice>
              <mc:Fallback>
                <p:oleObj name="Equation" r:id="rId6" imgW="1765080" imgH="393480" progId="Equation.DSMT4">
                  <p:embed/>
                  <p:pic>
                    <p:nvPicPr>
                      <p:cNvPr id="22" name="对象 21">
                        <a:extLst>
                          <a:ext uri="{FF2B5EF4-FFF2-40B4-BE49-F238E27FC236}">
                            <a16:creationId xmlns:a16="http://schemas.microsoft.com/office/drawing/2014/main" id="{2227CB39-5481-86CB-3A20-C77A9B547EB3}"/>
                          </a:ext>
                        </a:extLst>
                      </p:cNvPr>
                      <p:cNvPicPr>
                        <a:picLocks noChangeAspect="1" noChangeArrowheads="1"/>
                      </p:cNvPicPr>
                      <p:nvPr/>
                    </p:nvPicPr>
                    <p:blipFill>
                      <a:blip r:embed="rId7"/>
                      <a:srcRect/>
                      <a:stretch>
                        <a:fillRect/>
                      </a:stretch>
                    </p:blipFill>
                    <p:spPr bwMode="auto">
                      <a:xfrm>
                        <a:off x="2267744" y="1109935"/>
                        <a:ext cx="3669533" cy="806897"/>
                      </a:xfrm>
                      <a:prstGeom prst="rect">
                        <a:avLst/>
                      </a:prstGeom>
                      <a:noFill/>
                    </p:spPr>
                  </p:pic>
                </p:oleObj>
              </mc:Fallback>
            </mc:AlternateContent>
          </a:graphicData>
        </a:graphic>
      </p:graphicFrame>
      <p:sp>
        <p:nvSpPr>
          <p:cNvPr id="26" name="文本框 25">
            <a:extLst>
              <a:ext uri="{FF2B5EF4-FFF2-40B4-BE49-F238E27FC236}">
                <a16:creationId xmlns:a16="http://schemas.microsoft.com/office/drawing/2014/main" id="{0DC9E518-5759-1AB1-AEA1-A706E40028A6}"/>
              </a:ext>
            </a:extLst>
          </p:cNvPr>
          <p:cNvSpPr txBox="1"/>
          <p:nvPr/>
        </p:nvSpPr>
        <p:spPr>
          <a:xfrm>
            <a:off x="135878" y="1297975"/>
            <a:ext cx="2520280" cy="461665"/>
          </a:xfrm>
          <a:prstGeom prst="rect">
            <a:avLst/>
          </a:prstGeom>
          <a:noFill/>
        </p:spPr>
        <p:txBody>
          <a:bodyPr wrap="square">
            <a:spAutoFit/>
          </a:bodyPr>
          <a:lstStyle/>
          <a:p>
            <a:r>
              <a:rPr lang="zh-CN" altLang="en-US" sz="2400" b="1" kern="100" dirty="0">
                <a:solidFill>
                  <a:srgbClr val="FF0000"/>
                </a:solidFill>
                <a:effectLst/>
                <a:latin typeface="Times New Roman" panose="02020603050405020304" pitchFamily="18" charset="0"/>
                <a:ea typeface="黑体" panose="02010609060101010101" pitchFamily="49" charset="-122"/>
              </a:rPr>
              <a:t>单相瞬间磁势：</a:t>
            </a:r>
            <a:endParaRPr lang="zh-CN" altLang="en-US" sz="2400" dirty="0">
              <a:solidFill>
                <a:srgbClr val="FF0000"/>
              </a:solidFill>
            </a:endParaRPr>
          </a:p>
        </p:txBody>
      </p:sp>
      <p:sp>
        <p:nvSpPr>
          <p:cNvPr id="2" name="文本框 1">
            <a:extLst>
              <a:ext uri="{FF2B5EF4-FFF2-40B4-BE49-F238E27FC236}">
                <a16:creationId xmlns:a16="http://schemas.microsoft.com/office/drawing/2014/main" id="{EABCFF24-4966-7047-D5A9-7592B4188BBD}"/>
              </a:ext>
            </a:extLst>
          </p:cNvPr>
          <p:cNvSpPr txBox="1"/>
          <p:nvPr/>
        </p:nvSpPr>
        <p:spPr>
          <a:xfrm>
            <a:off x="1411889" y="6504771"/>
            <a:ext cx="1293944" cy="369332"/>
          </a:xfrm>
          <a:prstGeom prst="rect">
            <a:avLst/>
          </a:prstGeom>
          <a:noFill/>
        </p:spPr>
        <p:txBody>
          <a:bodyPr wrap="none" rtlCol="0">
            <a:spAutoFit/>
          </a:bodyPr>
          <a:lstStyle/>
          <a:p>
            <a:r>
              <a:rPr lang="en-US" altLang="zh-CN" dirty="0"/>
              <a:t>n=1</a:t>
            </a:r>
            <a:r>
              <a:rPr lang="zh-CN" altLang="en-US" dirty="0"/>
              <a:t>，</a:t>
            </a:r>
            <a:r>
              <a:rPr lang="en-US" altLang="zh-CN" dirty="0"/>
              <a:t>2…..</a:t>
            </a:r>
            <a:endParaRPr lang="zh-CN" altLang="en-US" dirty="0"/>
          </a:p>
        </p:txBody>
      </p:sp>
      <p:sp>
        <p:nvSpPr>
          <p:cNvPr id="5" name="灯片编号占位符 4">
            <a:extLst>
              <a:ext uri="{FF2B5EF4-FFF2-40B4-BE49-F238E27FC236}">
                <a16:creationId xmlns:a16="http://schemas.microsoft.com/office/drawing/2014/main" id="{76F9E19E-4307-2229-2EA2-4AB18CE890F1}"/>
              </a:ext>
            </a:extLst>
          </p:cNvPr>
          <p:cNvSpPr>
            <a:spLocks noGrp="1"/>
          </p:cNvSpPr>
          <p:nvPr>
            <p:ph type="sldNum" sz="quarter" idx="12"/>
          </p:nvPr>
        </p:nvSpPr>
        <p:spPr/>
        <p:txBody>
          <a:bodyPr/>
          <a:lstStyle/>
          <a:p>
            <a:fld id="{76D830B0-DF59-4281-898F-AF208100B213}" type="slidenum">
              <a:rPr lang="en-US" altLang="zh-CN" smtClean="0"/>
              <a:pPr/>
              <a:t>22</a:t>
            </a:fld>
            <a:endParaRPr lang="en-US" altLang="zh-CN"/>
          </a:p>
        </p:txBody>
      </p:sp>
    </p:spTree>
    <p:extLst>
      <p:ext uri="{BB962C8B-B14F-4D97-AF65-F5344CB8AC3E}">
        <p14:creationId xmlns:p14="http://schemas.microsoft.com/office/powerpoint/2010/main" val="3337035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5EE8A55C-8E7C-1FFC-04B1-1919EB3C64C3}"/>
              </a:ext>
            </a:extLst>
          </p:cNvPr>
          <p:cNvGraphicFramePr>
            <a:graphicFrameLocks noChangeAspect="1"/>
          </p:cNvGraphicFramePr>
          <p:nvPr>
            <p:extLst>
              <p:ext uri="{D42A27DB-BD31-4B8C-83A1-F6EECF244321}">
                <p14:modId xmlns:p14="http://schemas.microsoft.com/office/powerpoint/2010/main" val="2671289985"/>
              </p:ext>
            </p:extLst>
          </p:nvPr>
        </p:nvGraphicFramePr>
        <p:xfrm>
          <a:off x="899592" y="1052736"/>
          <a:ext cx="6859329" cy="1705206"/>
        </p:xfrm>
        <a:graphic>
          <a:graphicData uri="http://schemas.openxmlformats.org/presentationml/2006/ole">
            <mc:AlternateContent xmlns:mc="http://schemas.openxmlformats.org/markup-compatibility/2006">
              <mc:Choice xmlns:v="urn:schemas-microsoft-com:vml" Requires="v">
                <p:oleObj name="Equation" r:id="rId3" imgW="3352800" imgH="838200" progId="Equation.DSMT4">
                  <p:embed/>
                </p:oleObj>
              </mc:Choice>
              <mc:Fallback>
                <p:oleObj name="Equation" r:id="rId3" imgW="3352800" imgH="8382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1052736"/>
                        <a:ext cx="6859329" cy="1705206"/>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5FB11CC0-2A25-F3E2-A39D-3069FFD76521}"/>
              </a:ext>
            </a:extLst>
          </p:cNvPr>
          <p:cNvSpPr>
            <a:spLocks noChangeArrowheads="1"/>
          </p:cNvSpPr>
          <p:nvPr/>
        </p:nvSpPr>
        <p:spPr bwMode="auto">
          <a:xfrm>
            <a:off x="472281" y="2823319"/>
            <a:ext cx="33990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6388"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其中</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I</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为电流有效值：</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对象 6">
            <a:extLst>
              <a:ext uri="{FF2B5EF4-FFF2-40B4-BE49-F238E27FC236}">
                <a16:creationId xmlns:a16="http://schemas.microsoft.com/office/drawing/2014/main" id="{C9F43F84-54F7-2BAE-79C5-9F9CE9EDF81B}"/>
              </a:ext>
            </a:extLst>
          </p:cNvPr>
          <p:cNvGraphicFramePr>
            <a:graphicFrameLocks noChangeAspect="1"/>
          </p:cNvGraphicFramePr>
          <p:nvPr>
            <p:extLst>
              <p:ext uri="{D42A27DB-BD31-4B8C-83A1-F6EECF244321}">
                <p14:modId xmlns:p14="http://schemas.microsoft.com/office/powerpoint/2010/main" val="610861388"/>
              </p:ext>
            </p:extLst>
          </p:nvPr>
        </p:nvGraphicFramePr>
        <p:xfrm>
          <a:off x="3640633" y="2837309"/>
          <a:ext cx="1795463" cy="447675"/>
        </p:xfrm>
        <a:graphic>
          <a:graphicData uri="http://schemas.openxmlformats.org/presentationml/2006/ole">
            <mc:AlternateContent xmlns:mc="http://schemas.openxmlformats.org/markup-compatibility/2006">
              <mc:Choice xmlns:v="urn:schemas-microsoft-com:vml" Requires="v">
                <p:oleObj name="Equation" r:id="rId5" imgW="888614" imgH="215806" progId="Equation.DSMT4">
                  <p:embed/>
                </p:oleObj>
              </mc:Choice>
              <mc:Fallback>
                <p:oleObj name="Equation" r:id="rId5" imgW="888614" imgH="215806"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0633" y="2837309"/>
                        <a:ext cx="1795463"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箭头: 右 9">
            <a:extLst>
              <a:ext uri="{FF2B5EF4-FFF2-40B4-BE49-F238E27FC236}">
                <a16:creationId xmlns:a16="http://schemas.microsoft.com/office/drawing/2014/main" id="{09F27821-E080-9FB4-691C-99B5D4FEE8D3}"/>
              </a:ext>
            </a:extLst>
          </p:cNvPr>
          <p:cNvSpPr/>
          <p:nvPr/>
        </p:nvSpPr>
        <p:spPr>
          <a:xfrm>
            <a:off x="215516" y="1412776"/>
            <a:ext cx="504056"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9">
            <a:extLst>
              <a:ext uri="{FF2B5EF4-FFF2-40B4-BE49-F238E27FC236}">
                <a16:creationId xmlns:a16="http://schemas.microsoft.com/office/drawing/2014/main" id="{4E726822-185C-7AAB-D1D6-55F17317FC2F}"/>
              </a:ext>
            </a:extLst>
          </p:cNvPr>
          <p:cNvSpPr>
            <a:spLocks noChangeArrowheads="1"/>
          </p:cNvSpPr>
          <p:nvPr/>
        </p:nvSpPr>
        <p:spPr bwMode="auto">
          <a:xfrm>
            <a:off x="395536" y="3284984"/>
            <a:ext cx="81800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结论</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一相</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定子绕组流过正弦电流时在气隙中产生的</a:t>
            </a:r>
            <a:r>
              <a:rPr kumimoji="0" lang="zh-CN" altLang="zh-CN"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磁势为脉振磁势</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4" name="对象 13">
            <a:extLst>
              <a:ext uri="{FF2B5EF4-FFF2-40B4-BE49-F238E27FC236}">
                <a16:creationId xmlns:a16="http://schemas.microsoft.com/office/drawing/2014/main" id="{84A83C5C-1BEC-39BB-165B-4C88F28F7FBB}"/>
              </a:ext>
            </a:extLst>
          </p:cNvPr>
          <p:cNvGraphicFramePr>
            <a:graphicFrameLocks noChangeAspect="1"/>
          </p:cNvGraphicFramePr>
          <p:nvPr>
            <p:extLst>
              <p:ext uri="{D42A27DB-BD31-4B8C-83A1-F6EECF244321}">
                <p14:modId xmlns:p14="http://schemas.microsoft.com/office/powerpoint/2010/main" val="3710733705"/>
              </p:ext>
            </p:extLst>
          </p:nvPr>
        </p:nvGraphicFramePr>
        <p:xfrm>
          <a:off x="1043608" y="4307297"/>
          <a:ext cx="7294075" cy="1344033"/>
        </p:xfrm>
        <a:graphic>
          <a:graphicData uri="http://schemas.openxmlformats.org/presentationml/2006/ole">
            <mc:AlternateContent xmlns:mc="http://schemas.openxmlformats.org/markup-compatibility/2006">
              <mc:Choice xmlns:v="urn:schemas-microsoft-com:vml" Requires="v">
                <p:oleObj name="Equation" r:id="rId7" imgW="3530600" imgH="647700" progId="Equation.DSMT4">
                  <p:embed/>
                </p:oleObj>
              </mc:Choice>
              <mc:Fallback>
                <p:oleObj name="Equation" r:id="rId7" imgW="3530600" imgH="6477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3608" y="4307297"/>
                        <a:ext cx="7294075" cy="1344033"/>
                      </a:xfrm>
                      <a:prstGeom prst="rect">
                        <a:avLst/>
                      </a:prstGeom>
                      <a:noFill/>
                    </p:spPr>
                  </p:pic>
                </p:oleObj>
              </mc:Fallback>
            </mc:AlternateContent>
          </a:graphicData>
        </a:graphic>
      </p:graphicFrame>
      <p:sp>
        <p:nvSpPr>
          <p:cNvPr id="15" name="文本框 14">
            <a:extLst>
              <a:ext uri="{FF2B5EF4-FFF2-40B4-BE49-F238E27FC236}">
                <a16:creationId xmlns:a16="http://schemas.microsoft.com/office/drawing/2014/main" id="{5C85B999-9973-1222-A8AF-23C172ACAE3D}"/>
              </a:ext>
            </a:extLst>
          </p:cNvPr>
          <p:cNvSpPr txBox="1"/>
          <p:nvPr/>
        </p:nvSpPr>
        <p:spPr>
          <a:xfrm>
            <a:off x="454494" y="5700157"/>
            <a:ext cx="8121116" cy="830997"/>
          </a:xfrm>
          <a:prstGeom prst="rect">
            <a:avLst/>
          </a:prstGeom>
          <a:noFill/>
        </p:spPr>
        <p:txBody>
          <a:bodyPr wrap="square">
            <a:spAutoFit/>
          </a:bodyPr>
          <a:lstStyle/>
          <a:p>
            <a:pPr algn="l"/>
            <a:r>
              <a:rPr lang="zh-CN" altLang="zh-CN" sz="2400" b="0" kern="100" dirty="0">
                <a:solidFill>
                  <a:srgbClr val="000000"/>
                </a:solidFill>
                <a:effectLst/>
                <a:latin typeface="Times New Roman" panose="02020603050405020304" pitchFamily="18" charset="0"/>
                <a:ea typeface="黑体" panose="02010609060101010101" pitchFamily="49" charset="-122"/>
              </a:rPr>
              <a:t>其中</a:t>
            </a:r>
            <a:r>
              <a:rPr lang="en-US" altLang="zh-CN" sz="2400" b="1" kern="100" dirty="0">
                <a:solidFill>
                  <a:srgbClr val="0000FF"/>
                </a:solidFill>
                <a:effectLst/>
                <a:latin typeface="Times New Roman" panose="02020603050405020304" pitchFamily="18" charset="0"/>
                <a:ea typeface="黑体" panose="02010609060101010101" pitchFamily="49" charset="-122"/>
              </a:rPr>
              <a:t>v</a:t>
            </a:r>
            <a:r>
              <a:rPr lang="zh-CN" altLang="zh-CN" sz="2400" b="1" kern="100" dirty="0">
                <a:solidFill>
                  <a:srgbClr val="0000FF"/>
                </a:solidFill>
                <a:effectLst/>
                <a:latin typeface="Times New Roman" panose="02020603050405020304" pitchFamily="18" charset="0"/>
                <a:ea typeface="黑体" panose="02010609060101010101" pitchFamily="49" charset="-122"/>
              </a:rPr>
              <a:t>次谐波磁势最大幅值是基波磁势最大幅值的</a:t>
            </a:r>
            <a:r>
              <a:rPr lang="en-US" altLang="zh-CN" sz="2400" b="1" kern="100" dirty="0">
                <a:solidFill>
                  <a:srgbClr val="0000FF"/>
                </a:solidFill>
                <a:effectLst/>
                <a:latin typeface="Times New Roman" panose="02020603050405020304" pitchFamily="18" charset="0"/>
                <a:ea typeface="黑体" panose="02010609060101010101" pitchFamily="49" charset="-122"/>
              </a:rPr>
              <a:t>1/v</a:t>
            </a:r>
            <a:r>
              <a:rPr lang="zh-CN" altLang="zh-CN" sz="2400" b="1" kern="100" dirty="0">
                <a:solidFill>
                  <a:srgbClr val="0000FF"/>
                </a:solidFill>
                <a:effectLst/>
                <a:latin typeface="Times New Roman" panose="02020603050405020304" pitchFamily="18" charset="0"/>
                <a:ea typeface="黑体" panose="02010609060101010101" pitchFamily="49" charset="-122"/>
              </a:rPr>
              <a:t>倍</a:t>
            </a:r>
            <a:r>
              <a:rPr lang="zh-CN" altLang="zh-CN" sz="2400" b="0" kern="100" dirty="0">
                <a:solidFill>
                  <a:srgbClr val="000000"/>
                </a:solidFill>
                <a:effectLst/>
                <a:latin typeface="Times New Roman" panose="02020603050405020304" pitchFamily="18" charset="0"/>
                <a:ea typeface="黑体" panose="02010609060101010101" pitchFamily="49" charset="-122"/>
              </a:rPr>
              <a:t>、</a:t>
            </a:r>
            <a:r>
              <a:rPr lang="zh-CN" altLang="zh-CN" sz="2400" b="1" kern="100" dirty="0">
                <a:solidFill>
                  <a:srgbClr val="0000FF"/>
                </a:solidFill>
                <a:effectLst/>
                <a:latin typeface="Times New Roman" panose="02020603050405020304" pitchFamily="18" charset="0"/>
                <a:ea typeface="黑体" panose="02010609060101010101" pitchFamily="49" charset="-122"/>
              </a:rPr>
              <a:t>脉振频率取决于电流的频率</a:t>
            </a:r>
            <a:r>
              <a:rPr lang="zh-CN" altLang="zh-CN" sz="2400" b="0" kern="100" dirty="0">
                <a:solidFill>
                  <a:srgbClr val="000000"/>
                </a:solidFill>
                <a:effectLst/>
                <a:latin typeface="Times New Roman" panose="02020603050405020304" pitchFamily="18" charset="0"/>
                <a:ea typeface="黑体" panose="02010609060101010101" pitchFamily="49" charset="-122"/>
              </a:rPr>
              <a:t>。</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sp>
        <p:nvSpPr>
          <p:cNvPr id="3" name="灯片编号占位符 2">
            <a:extLst>
              <a:ext uri="{FF2B5EF4-FFF2-40B4-BE49-F238E27FC236}">
                <a16:creationId xmlns:a16="http://schemas.microsoft.com/office/drawing/2014/main" id="{E64D0FA1-EA4B-AFE7-729C-C7C2701DA949}"/>
              </a:ext>
            </a:extLst>
          </p:cNvPr>
          <p:cNvSpPr>
            <a:spLocks noGrp="1"/>
          </p:cNvSpPr>
          <p:nvPr>
            <p:ph type="sldNum" sz="quarter" idx="12"/>
          </p:nvPr>
        </p:nvSpPr>
        <p:spPr/>
        <p:txBody>
          <a:bodyPr/>
          <a:lstStyle/>
          <a:p>
            <a:fld id="{76D830B0-DF59-4281-898F-AF208100B213}" type="slidenum">
              <a:rPr lang="en-US" altLang="zh-CN" smtClean="0"/>
              <a:pPr/>
              <a:t>23</a:t>
            </a:fld>
            <a:endParaRPr lang="en-US" altLang="zh-CN"/>
          </a:p>
        </p:txBody>
      </p:sp>
    </p:spTree>
    <p:extLst>
      <p:ext uri="{BB962C8B-B14F-4D97-AF65-F5344CB8AC3E}">
        <p14:creationId xmlns:p14="http://schemas.microsoft.com/office/powerpoint/2010/main" val="2301477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对象 14">
            <a:extLst>
              <a:ext uri="{FF2B5EF4-FFF2-40B4-BE49-F238E27FC236}">
                <a16:creationId xmlns:a16="http://schemas.microsoft.com/office/drawing/2014/main" id="{F1D86EB2-98CB-A4AF-E13E-F3F3321A9731}"/>
              </a:ext>
            </a:extLst>
          </p:cNvPr>
          <p:cNvGraphicFramePr>
            <a:graphicFrameLocks noChangeAspect="1"/>
          </p:cNvGraphicFramePr>
          <p:nvPr>
            <p:extLst>
              <p:ext uri="{D42A27DB-BD31-4B8C-83A1-F6EECF244321}">
                <p14:modId xmlns:p14="http://schemas.microsoft.com/office/powerpoint/2010/main" val="2331319942"/>
              </p:ext>
            </p:extLst>
          </p:nvPr>
        </p:nvGraphicFramePr>
        <p:xfrm>
          <a:off x="3275856" y="200016"/>
          <a:ext cx="5256584" cy="3228984"/>
        </p:xfrm>
        <a:graphic>
          <a:graphicData uri="http://schemas.openxmlformats.org/presentationml/2006/ole">
            <mc:AlternateContent xmlns:mc="http://schemas.openxmlformats.org/markup-compatibility/2006">
              <mc:Choice xmlns:v="urn:schemas-microsoft-com:vml" Requires="v">
                <p:oleObj r:id="rId3" imgW="1827213" imgH="1133475" progId="MSDraw">
                  <p:embed/>
                </p:oleObj>
              </mc:Choice>
              <mc:Fallback>
                <p:oleObj r:id="rId3" imgW="1827213" imgH="1133475" progId="MSDraw">
                  <p:embed/>
                  <p:pic>
                    <p:nvPicPr>
                      <p:cNvPr id="15" name="对象 14">
                        <a:extLst>
                          <a:ext uri="{FF2B5EF4-FFF2-40B4-BE49-F238E27FC236}">
                            <a16:creationId xmlns:a16="http://schemas.microsoft.com/office/drawing/2014/main" id="{F1D86EB2-98CB-A4AF-E13E-F3F3321A97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5856" y="200016"/>
                        <a:ext cx="5256584" cy="3228984"/>
                      </a:xfrm>
                      <a:prstGeom prst="rect">
                        <a:avLst/>
                      </a:prstGeom>
                      <a:noFill/>
                    </p:spPr>
                  </p:pic>
                </p:oleObj>
              </mc:Fallback>
            </mc:AlternateContent>
          </a:graphicData>
        </a:graphic>
      </p:graphicFrame>
      <p:sp>
        <p:nvSpPr>
          <p:cNvPr id="17" name="文本框 16">
            <a:extLst>
              <a:ext uri="{FF2B5EF4-FFF2-40B4-BE49-F238E27FC236}">
                <a16:creationId xmlns:a16="http://schemas.microsoft.com/office/drawing/2014/main" id="{0A4B9BFB-95E5-47FB-E19D-02BEB62F774B}"/>
              </a:ext>
            </a:extLst>
          </p:cNvPr>
          <p:cNvSpPr txBox="1"/>
          <p:nvPr/>
        </p:nvSpPr>
        <p:spPr>
          <a:xfrm>
            <a:off x="621904" y="3576592"/>
            <a:ext cx="8064896" cy="2906758"/>
          </a:xfrm>
          <a:prstGeom prst="rect">
            <a:avLst/>
          </a:prstGeom>
          <a:noFill/>
        </p:spPr>
        <p:txBody>
          <a:bodyPr wrap="square">
            <a:spAutoFit/>
          </a:bodyPr>
          <a:lstStyle/>
          <a:p>
            <a:pPr algn="just">
              <a:lnSpc>
                <a:spcPct val="110000"/>
              </a:lnSpc>
            </a:pPr>
            <a:r>
              <a:rPr lang="zh-CN" altLang="en-US" sz="2400" b="1" kern="100" dirty="0">
                <a:solidFill>
                  <a:srgbClr val="0000FF"/>
                </a:solidFill>
                <a:effectLst/>
                <a:latin typeface="Times New Roman" panose="02020603050405020304" pitchFamily="18" charset="0"/>
                <a:ea typeface="黑体" panose="02010609060101010101" pitchFamily="49" charset="-122"/>
              </a:rPr>
              <a:t>存在问题：</a:t>
            </a:r>
            <a:r>
              <a:rPr lang="en-US" altLang="zh-CN" sz="2400" b="1" kern="100" dirty="0">
                <a:effectLst/>
                <a:latin typeface="Times New Roman" panose="02020603050405020304" pitchFamily="18" charset="0"/>
                <a:ea typeface="黑体" panose="02010609060101010101" pitchFamily="49" charset="-122"/>
              </a:rPr>
              <a:t>1</a:t>
            </a:r>
            <a:r>
              <a:rPr lang="zh-CN" altLang="en-US" sz="2400" b="1" kern="100" dirty="0">
                <a:effectLst/>
                <a:latin typeface="Times New Roman" panose="02020603050405020304" pitchFamily="18" charset="0"/>
                <a:ea typeface="黑体" panose="02010609060101010101" pitchFamily="49" charset="-122"/>
              </a:rPr>
              <a:t>）集中整距绕组→磁势、磁场为矩形分布→</a:t>
            </a:r>
            <a:r>
              <a:rPr lang="zh-CN" altLang="en-US" sz="2400" b="0" kern="100" dirty="0">
                <a:solidFill>
                  <a:srgbClr val="000000"/>
                </a:solidFill>
                <a:effectLst/>
                <a:latin typeface="Times New Roman" panose="02020603050405020304" pitchFamily="18" charset="0"/>
                <a:ea typeface="黑体" panose="02010609060101010101" pitchFamily="49" charset="-122"/>
              </a:rPr>
              <a:t>转子感应电势畸变→性能、效率，谐波附加损耗明显增加</a:t>
            </a:r>
            <a:r>
              <a:rPr lang="en-US" altLang="zh-CN" sz="2400" b="1" kern="100" dirty="0">
                <a:solidFill>
                  <a:srgbClr val="000000"/>
                </a:solidFill>
                <a:effectLst/>
                <a:latin typeface="Times New Roman" panose="02020603050405020304" pitchFamily="18" charset="0"/>
                <a:ea typeface="黑体" panose="02010609060101010101" pitchFamily="49" charset="-122"/>
              </a:rPr>
              <a:t>,</a:t>
            </a:r>
            <a:r>
              <a:rPr lang="zh-CN" altLang="en-US" sz="2400" b="1" kern="100" dirty="0">
                <a:solidFill>
                  <a:srgbClr val="000000"/>
                </a:solidFill>
                <a:effectLst/>
                <a:latin typeface="Times New Roman" panose="02020603050405020304" pitchFamily="18" charset="0"/>
                <a:ea typeface="黑体" panose="02010609060101010101" pitchFamily="49" charset="-122"/>
              </a:rPr>
              <a:t>温升增高</a:t>
            </a:r>
            <a:r>
              <a:rPr lang="zh-CN" altLang="en-US" sz="2400" b="0" kern="100" dirty="0">
                <a:solidFill>
                  <a:srgbClr val="000000"/>
                </a:solidFill>
                <a:effectLst/>
                <a:latin typeface="Times New Roman" panose="02020603050405020304" pitchFamily="18" charset="0"/>
                <a:ea typeface="黑体" panose="02010609060101010101" pitchFamily="49" charset="-122"/>
              </a:rPr>
              <a:t>；</a:t>
            </a:r>
            <a:r>
              <a:rPr lang="en-US" altLang="zh-CN" sz="2400" b="1" kern="100" dirty="0">
                <a:effectLst/>
                <a:latin typeface="Times New Roman" panose="02020603050405020304" pitchFamily="18" charset="0"/>
                <a:ea typeface="黑体" panose="02010609060101010101" pitchFamily="49" charset="-122"/>
              </a:rPr>
              <a:t> 2</a:t>
            </a:r>
            <a:r>
              <a:rPr lang="zh-CN" altLang="en-US" sz="2400" b="1" kern="100" dirty="0">
                <a:effectLst/>
                <a:latin typeface="Times New Roman" panose="02020603050405020304" pitchFamily="18" charset="0"/>
                <a:ea typeface="黑体" panose="02010609060101010101" pitchFamily="49" charset="-122"/>
              </a:rPr>
              <a:t>）</a:t>
            </a:r>
            <a:r>
              <a:rPr lang="zh-CN" altLang="en-US" sz="2400" b="0" kern="100" dirty="0">
                <a:solidFill>
                  <a:srgbClr val="000000"/>
                </a:solidFill>
                <a:effectLst/>
                <a:latin typeface="Times New Roman" panose="02020603050405020304" pitchFamily="18" charset="0"/>
                <a:ea typeface="黑体" panose="02010609060101010101" pitchFamily="49" charset="-122"/>
              </a:rPr>
              <a:t>负序电流产生负序旋转磁场，该制动磁场降低了电机的最大转矩和过载能力，</a:t>
            </a:r>
            <a:r>
              <a:rPr lang="zh-CN" altLang="en-US" sz="2400" b="1" kern="100" dirty="0">
                <a:solidFill>
                  <a:srgbClr val="000000"/>
                </a:solidFill>
                <a:effectLst/>
                <a:latin typeface="Times New Roman" panose="02020603050405020304" pitchFamily="18" charset="0"/>
                <a:ea typeface="黑体" panose="02010609060101010101" pitchFamily="49" charset="-122"/>
              </a:rPr>
              <a:t>增加铜耗</a:t>
            </a:r>
            <a:r>
              <a:rPr lang="zh-CN" altLang="en-US" sz="2400" b="0" kern="100" dirty="0">
                <a:solidFill>
                  <a:srgbClr val="000000"/>
                </a:solidFill>
                <a:effectLst/>
                <a:latin typeface="Times New Roman" panose="02020603050405020304" pitchFamily="18" charset="0"/>
                <a:ea typeface="黑体" panose="02010609060101010101" pitchFamily="49" charset="-122"/>
              </a:rPr>
              <a:t>；</a:t>
            </a:r>
            <a:r>
              <a:rPr lang="en-US" altLang="zh-CN" sz="2400" b="1" kern="100" dirty="0">
                <a:effectLst/>
                <a:latin typeface="Times New Roman" panose="02020603050405020304" pitchFamily="18" charset="0"/>
                <a:ea typeface="黑体" panose="02010609060101010101" pitchFamily="49" charset="-122"/>
              </a:rPr>
              <a:t> 3</a:t>
            </a:r>
            <a:r>
              <a:rPr lang="zh-CN" altLang="en-US" sz="2400" b="1" kern="100" dirty="0">
                <a:effectLst/>
                <a:latin typeface="Times New Roman" panose="02020603050405020304" pitchFamily="18" charset="0"/>
                <a:ea typeface="黑体" panose="02010609060101010101" pitchFamily="49" charset="-122"/>
              </a:rPr>
              <a:t>）</a:t>
            </a:r>
            <a:r>
              <a:rPr lang="zh-CN" altLang="en-US" sz="2400" b="0" kern="100" dirty="0">
                <a:solidFill>
                  <a:srgbClr val="000000"/>
                </a:solidFill>
                <a:effectLst/>
                <a:latin typeface="Times New Roman" panose="02020603050405020304" pitchFamily="18" charset="0"/>
                <a:ea typeface="黑体" panose="02010609060101010101" pitchFamily="49" charset="-122"/>
              </a:rPr>
              <a:t>电机输电线中的高次谐波电流所产生电磁场会对通讯形成</a:t>
            </a:r>
            <a:r>
              <a:rPr lang="zh-CN" altLang="en-US" sz="2400" b="1" kern="100" dirty="0">
                <a:solidFill>
                  <a:srgbClr val="000000"/>
                </a:solidFill>
                <a:effectLst/>
                <a:latin typeface="Times New Roman" panose="02020603050405020304" pitchFamily="18" charset="0"/>
                <a:ea typeface="黑体" panose="02010609060101010101" pitchFamily="49" charset="-122"/>
              </a:rPr>
              <a:t>有害干扰源</a:t>
            </a:r>
            <a:r>
              <a:rPr lang="zh-CN" altLang="en-US" sz="2400" b="0" kern="100" dirty="0">
                <a:solidFill>
                  <a:srgbClr val="000000"/>
                </a:solidFill>
                <a:effectLst/>
                <a:latin typeface="Times New Roman" panose="02020603050405020304" pitchFamily="18" charset="0"/>
                <a:ea typeface="黑体" panose="02010609060101010101" pitchFamily="49" charset="-122"/>
              </a:rPr>
              <a:t>，并使电机运行产生</a:t>
            </a:r>
            <a:r>
              <a:rPr lang="zh-CN" altLang="en-US" sz="2400" b="1" kern="100" dirty="0">
                <a:solidFill>
                  <a:srgbClr val="000000"/>
                </a:solidFill>
                <a:effectLst/>
                <a:latin typeface="Times New Roman" panose="02020603050405020304" pitchFamily="18" charset="0"/>
                <a:ea typeface="黑体" panose="02010609060101010101" pitchFamily="49" charset="-122"/>
              </a:rPr>
              <a:t>高频噪声</a:t>
            </a:r>
            <a:r>
              <a:rPr lang="zh-CN" altLang="en-US" sz="2400" b="0" kern="100" dirty="0">
                <a:solidFill>
                  <a:srgbClr val="000000"/>
                </a:solidFill>
                <a:effectLst/>
                <a:latin typeface="Times New Roman" panose="02020603050405020304" pitchFamily="18" charset="0"/>
                <a:ea typeface="黑体" panose="02010609060101010101" pitchFamily="49" charset="-122"/>
              </a:rPr>
              <a:t>。</a:t>
            </a:r>
            <a:endParaRPr lang="en-US" altLang="zh-CN" sz="2400" b="0" kern="100" dirty="0">
              <a:solidFill>
                <a:srgbClr val="000000"/>
              </a:solidFill>
              <a:effectLst/>
              <a:latin typeface="Times New Roman" panose="02020603050405020304" pitchFamily="18" charset="0"/>
              <a:ea typeface="黑体" panose="02010609060101010101" pitchFamily="49" charset="-122"/>
            </a:endParaRPr>
          </a:p>
          <a:p>
            <a:pPr algn="just">
              <a:lnSpc>
                <a:spcPct val="110000"/>
              </a:lnSpc>
            </a:pPr>
            <a:r>
              <a:rPr lang="zh-CN" altLang="en-US" sz="2400" b="1" kern="100" dirty="0">
                <a:solidFill>
                  <a:srgbClr val="FF0000"/>
                </a:solidFill>
                <a:latin typeface="Times New Roman" panose="02020603050405020304" pitchFamily="18" charset="0"/>
                <a:ea typeface="黑体" panose="02010609060101010101" pitchFamily="49" charset="-122"/>
              </a:rPr>
              <a:t>目标</a:t>
            </a:r>
            <a:r>
              <a:rPr lang="zh-CN" altLang="en-US" sz="2400" kern="100" dirty="0">
                <a:solidFill>
                  <a:srgbClr val="000000"/>
                </a:solidFill>
                <a:latin typeface="Times New Roman" panose="02020603050405020304" pitchFamily="18" charset="0"/>
                <a:ea typeface="黑体" panose="02010609060101010101" pitchFamily="49" charset="-122"/>
              </a:rPr>
              <a:t>：建立正弦磁势</a:t>
            </a:r>
            <a:r>
              <a:rPr lang="en-US" altLang="zh-CN" sz="2400" kern="100" dirty="0">
                <a:solidFill>
                  <a:srgbClr val="000000"/>
                </a:solidFill>
                <a:latin typeface="Times New Roman" panose="02020603050405020304" pitchFamily="18" charset="0"/>
                <a:ea typeface="黑体" panose="02010609060101010101" pitchFamily="49" charset="-122"/>
              </a:rPr>
              <a:t>/</a:t>
            </a:r>
            <a:r>
              <a:rPr lang="zh-CN" altLang="en-US" sz="2400" kern="100" dirty="0">
                <a:solidFill>
                  <a:srgbClr val="000000"/>
                </a:solidFill>
                <a:latin typeface="Times New Roman" panose="02020603050405020304" pitchFamily="18" charset="0"/>
                <a:ea typeface="黑体" panose="02010609060101010101" pitchFamily="49" charset="-122"/>
              </a:rPr>
              <a:t>磁通</a:t>
            </a:r>
            <a:r>
              <a:rPr lang="en-US" altLang="zh-CN" sz="2400" kern="100" dirty="0">
                <a:solidFill>
                  <a:srgbClr val="000000"/>
                </a:solidFill>
                <a:latin typeface="Times New Roman" panose="02020603050405020304" pitchFamily="18" charset="0"/>
                <a:ea typeface="黑体" panose="02010609060101010101" pitchFamily="49" charset="-122"/>
              </a:rPr>
              <a:t>---&gt;</a:t>
            </a:r>
            <a:r>
              <a:rPr lang="zh-CN" altLang="en-US" sz="2400" kern="100" dirty="0">
                <a:solidFill>
                  <a:srgbClr val="000000"/>
                </a:solidFill>
                <a:latin typeface="Times New Roman" panose="02020603050405020304" pitchFamily="18" charset="0"/>
                <a:ea typeface="黑体" panose="02010609060101010101" pitchFamily="49" charset="-122"/>
              </a:rPr>
              <a:t>产生正弦感应电势</a:t>
            </a:r>
            <a:endParaRPr lang="zh-CN" altLang="en-US" sz="2400" b="0" kern="100" dirty="0">
              <a:solidFill>
                <a:srgbClr val="000000"/>
              </a:solidFill>
              <a:effectLst/>
              <a:latin typeface="Times New Roman" panose="02020603050405020304" pitchFamily="18" charset="0"/>
              <a:ea typeface="黑体" panose="02010609060101010101" pitchFamily="49" charset="-122"/>
            </a:endParaRPr>
          </a:p>
        </p:txBody>
      </p:sp>
      <p:sp>
        <p:nvSpPr>
          <p:cNvPr id="3" name="灯片编号占位符 2">
            <a:extLst>
              <a:ext uri="{FF2B5EF4-FFF2-40B4-BE49-F238E27FC236}">
                <a16:creationId xmlns:a16="http://schemas.microsoft.com/office/drawing/2014/main" id="{FDCA8578-EE0B-9BC0-D5E0-9FF81BD86279}"/>
              </a:ext>
            </a:extLst>
          </p:cNvPr>
          <p:cNvSpPr>
            <a:spLocks noGrp="1"/>
          </p:cNvSpPr>
          <p:nvPr>
            <p:ph type="sldNum" sz="quarter" idx="12"/>
          </p:nvPr>
        </p:nvSpPr>
        <p:spPr/>
        <p:txBody>
          <a:bodyPr/>
          <a:lstStyle/>
          <a:p>
            <a:fld id="{76D830B0-DF59-4281-898F-AF208100B213}" type="slidenum">
              <a:rPr lang="en-US" altLang="zh-CN" smtClean="0"/>
              <a:pPr/>
              <a:t>24</a:t>
            </a:fld>
            <a:endParaRPr lang="en-US" altLang="zh-CN"/>
          </a:p>
        </p:txBody>
      </p:sp>
    </p:spTree>
    <p:extLst>
      <p:ext uri="{BB962C8B-B14F-4D97-AF65-F5344CB8AC3E}">
        <p14:creationId xmlns:p14="http://schemas.microsoft.com/office/powerpoint/2010/main" val="30471227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a:extLst>
              <a:ext uri="{FF2B5EF4-FFF2-40B4-BE49-F238E27FC236}">
                <a16:creationId xmlns:a16="http://schemas.microsoft.com/office/drawing/2014/main" id="{BC2F2EB1-1DB3-D89D-BC8E-9234C95992D0}"/>
              </a:ext>
            </a:extLst>
          </p:cNvPr>
          <p:cNvSpPr txBox="1"/>
          <p:nvPr/>
        </p:nvSpPr>
        <p:spPr>
          <a:xfrm>
            <a:off x="269776" y="1114379"/>
            <a:ext cx="8604448" cy="830997"/>
          </a:xfrm>
          <a:prstGeom prst="rect">
            <a:avLst/>
          </a:prstGeom>
          <a:noFill/>
        </p:spPr>
        <p:txBody>
          <a:bodyPr wrap="square">
            <a:spAutoFit/>
          </a:bodyPr>
          <a:lstStyle/>
          <a:p>
            <a:pPr algn="l"/>
            <a:r>
              <a:rPr lang="zh-CN" altLang="zh-CN" sz="2400" b="1" kern="100" dirty="0">
                <a:solidFill>
                  <a:srgbClr val="0000FF"/>
                </a:solidFill>
                <a:effectLst/>
                <a:latin typeface="Times New Roman" panose="02020603050405020304" pitchFamily="18" charset="0"/>
                <a:ea typeface="黑体" panose="02010609060101010101" pitchFamily="49" charset="-122"/>
              </a:rPr>
              <a:t>对策</a:t>
            </a:r>
            <a:r>
              <a:rPr lang="zh-CN" altLang="zh-CN" sz="2400" b="0" kern="100" dirty="0">
                <a:solidFill>
                  <a:srgbClr val="000000"/>
                </a:solidFill>
                <a:effectLst/>
                <a:latin typeface="Times New Roman" panose="02020603050405020304" pitchFamily="18" charset="0"/>
                <a:ea typeface="黑体" panose="02010609060101010101" pitchFamily="49" charset="-122"/>
              </a:rPr>
              <a:t>：绕组</a:t>
            </a:r>
            <a:r>
              <a:rPr lang="zh-CN" altLang="en-US" sz="2400" kern="100" dirty="0">
                <a:solidFill>
                  <a:srgbClr val="000000"/>
                </a:solidFill>
                <a:latin typeface="Times New Roman" panose="02020603050405020304" pitchFamily="18" charset="0"/>
                <a:ea typeface="黑体" panose="02010609060101010101" pitchFamily="49" charset="-122"/>
              </a:rPr>
              <a:t>结构设计（双层短距）</a:t>
            </a:r>
            <a:r>
              <a:rPr lang="zh-CN" altLang="zh-CN" sz="2400" b="0" kern="100" dirty="0">
                <a:solidFill>
                  <a:srgbClr val="000000"/>
                </a:solidFill>
                <a:effectLst/>
                <a:latin typeface="Times New Roman" panose="02020603050405020304" pitchFamily="18" charset="0"/>
                <a:ea typeface="黑体" panose="02010609060101010101" pitchFamily="49" charset="-122"/>
              </a:rPr>
              <a:t>→抑制高次谐波→磁势、磁场接近正弦波：</a:t>
            </a:r>
            <a:r>
              <a:rPr lang="zh-CN" altLang="en-US" sz="2400" b="0" kern="100" dirty="0">
                <a:solidFill>
                  <a:srgbClr val="000000"/>
                </a:solidFill>
                <a:effectLst/>
                <a:latin typeface="Times New Roman" panose="02020603050405020304" pitchFamily="18" charset="0"/>
                <a:ea typeface="黑体" panose="02010609060101010101" pitchFamily="49" charset="-122"/>
              </a:rPr>
              <a:t>（分层连接）</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sp>
        <p:nvSpPr>
          <p:cNvPr id="26" name="Rectangle 9">
            <a:extLst>
              <a:ext uri="{FF2B5EF4-FFF2-40B4-BE49-F238E27FC236}">
                <a16:creationId xmlns:a16="http://schemas.microsoft.com/office/drawing/2014/main" id="{75F0A4D6-8FB0-F4B9-57DA-F5080B13C0A3}"/>
              </a:ext>
            </a:extLst>
          </p:cNvPr>
          <p:cNvSpPr>
            <a:spLocks noChangeArrowheads="1"/>
          </p:cNvSpPr>
          <p:nvPr/>
        </p:nvSpPr>
        <p:spPr bwMode="auto">
          <a:xfrm>
            <a:off x="207899" y="1895289"/>
            <a:ext cx="49808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609600" eaLnBrk="0" hangingPunct="0">
              <a:tabLst>
                <a:tab pos="228600" algn="l"/>
              </a:tabLst>
              <a:defRPr>
                <a:solidFill>
                  <a:schemeClr val="tx1"/>
                </a:solidFill>
                <a:latin typeface="Arial" panose="020B0604020202020204" pitchFamily="34" charset="0"/>
              </a:defRPr>
            </a:lvl1pPr>
            <a:lvl2pPr eaLnBrk="0" hangingPunct="0">
              <a:tabLst>
                <a:tab pos="228600" algn="l"/>
              </a:tabLst>
              <a:defRPr>
                <a:solidFill>
                  <a:schemeClr val="tx1"/>
                </a:solidFill>
                <a:latin typeface="Arial" panose="020B0604020202020204" pitchFamily="34" charset="0"/>
              </a:defRPr>
            </a:lvl2pPr>
            <a:lvl3pPr eaLnBrk="0" hangingPunct="0">
              <a:tabLst>
                <a:tab pos="228600" algn="l"/>
              </a:tabLst>
              <a:defRPr>
                <a:solidFill>
                  <a:schemeClr val="tx1"/>
                </a:solidFill>
                <a:latin typeface="Arial" panose="020B0604020202020204" pitchFamily="34" charset="0"/>
              </a:defRPr>
            </a:lvl3pPr>
            <a:lvl4pPr eaLnBrk="0" hangingPunct="0">
              <a:tabLst>
                <a:tab pos="228600" algn="l"/>
              </a:tabLst>
              <a:defRPr>
                <a:solidFill>
                  <a:schemeClr val="tx1"/>
                </a:solidFill>
                <a:latin typeface="Arial" panose="020B0604020202020204" pitchFamily="34" charset="0"/>
              </a:defRPr>
            </a:lvl4pPr>
            <a:lvl5pPr eaLnBrk="0" hangingPunct="0">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tabLst>
                <a:tab pos="228600" algn="l"/>
              </a:tabLst>
            </a:pP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单层整距</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分布</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绕组</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（错槽并联）</a:t>
            </a:r>
            <a:endParaRPr kumimoji="0" lang="zh-CN" altLang="zh-CN" sz="400" b="0" i="0" u="none" strike="noStrike" cap="none" normalizeH="0" baseline="0" dirty="0">
              <a:ln>
                <a:noFill/>
              </a:ln>
              <a:solidFill>
                <a:schemeClr val="tx1"/>
              </a:solidFill>
              <a:effectLst/>
            </a:endParaRPr>
          </a:p>
        </p:txBody>
      </p:sp>
      <p:graphicFrame>
        <p:nvGraphicFramePr>
          <p:cNvPr id="29" name="对象 28">
            <a:extLst>
              <a:ext uri="{FF2B5EF4-FFF2-40B4-BE49-F238E27FC236}">
                <a16:creationId xmlns:a16="http://schemas.microsoft.com/office/drawing/2014/main" id="{15AA7E67-90A2-CA09-0559-D1A680922C13}"/>
              </a:ext>
            </a:extLst>
          </p:cNvPr>
          <p:cNvGraphicFramePr>
            <a:graphicFrameLocks noChangeAspect="1"/>
          </p:cNvGraphicFramePr>
          <p:nvPr>
            <p:extLst>
              <p:ext uri="{D42A27DB-BD31-4B8C-83A1-F6EECF244321}">
                <p14:modId xmlns:p14="http://schemas.microsoft.com/office/powerpoint/2010/main" val="250989604"/>
              </p:ext>
            </p:extLst>
          </p:nvPr>
        </p:nvGraphicFramePr>
        <p:xfrm>
          <a:off x="490716" y="2306866"/>
          <a:ext cx="6677025" cy="3925888"/>
        </p:xfrm>
        <a:graphic>
          <a:graphicData uri="http://schemas.openxmlformats.org/presentationml/2006/ole">
            <mc:AlternateContent xmlns:mc="http://schemas.openxmlformats.org/markup-compatibility/2006">
              <mc:Choice xmlns:v="urn:schemas-microsoft-com:vml" Requires="v">
                <p:oleObj r:id="rId3" imgW="3492360" imgH="2158920" progId="">
                  <p:embed/>
                </p:oleObj>
              </mc:Choice>
              <mc:Fallback>
                <p:oleObj r:id="rId3" imgW="3492360" imgH="2158920" progId="">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716" y="2306866"/>
                        <a:ext cx="6677025" cy="392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对象 29">
            <a:extLst>
              <a:ext uri="{FF2B5EF4-FFF2-40B4-BE49-F238E27FC236}">
                <a16:creationId xmlns:a16="http://schemas.microsoft.com/office/drawing/2014/main" id="{8E1A7ECC-C7BF-AE65-0528-67FDAED58187}"/>
              </a:ext>
            </a:extLst>
          </p:cNvPr>
          <p:cNvGraphicFramePr>
            <a:graphicFrameLocks noChangeAspect="1"/>
          </p:cNvGraphicFramePr>
          <p:nvPr>
            <p:extLst>
              <p:ext uri="{D42A27DB-BD31-4B8C-83A1-F6EECF244321}">
                <p14:modId xmlns:p14="http://schemas.microsoft.com/office/powerpoint/2010/main" val="907684736"/>
              </p:ext>
            </p:extLst>
          </p:nvPr>
        </p:nvGraphicFramePr>
        <p:xfrm>
          <a:off x="7555976" y="4769449"/>
          <a:ext cx="1171691" cy="789222"/>
        </p:xfrm>
        <a:graphic>
          <a:graphicData uri="http://schemas.openxmlformats.org/presentationml/2006/ole">
            <mc:AlternateContent xmlns:mc="http://schemas.openxmlformats.org/markup-compatibility/2006">
              <mc:Choice xmlns:v="urn:schemas-microsoft-com:vml" Requires="v">
                <p:oleObj name="Equation" r:id="rId5" imgW="634725" imgH="431613" progId="Equation.DSMT4">
                  <p:embed/>
                </p:oleObj>
              </mc:Choice>
              <mc:Fallback>
                <p:oleObj name="Equation" r:id="rId5" imgW="634725" imgH="431613" progId="Equation.DSMT4">
                  <p:embed/>
                  <p:pic>
                    <p:nvPicPr>
                      <p:cNvPr id="5" name="对象 4">
                        <a:extLst>
                          <a:ext uri="{FF2B5EF4-FFF2-40B4-BE49-F238E27FC236}">
                            <a16:creationId xmlns:a16="http://schemas.microsoft.com/office/drawing/2014/main" id="{661493FF-2C1E-2470-5340-0B28911F96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5976" y="4769449"/>
                        <a:ext cx="1171691" cy="789222"/>
                      </a:xfrm>
                      <a:prstGeom prst="rect">
                        <a:avLst/>
                      </a:prstGeom>
                      <a:noFill/>
                    </p:spPr>
                  </p:pic>
                </p:oleObj>
              </mc:Fallback>
            </mc:AlternateContent>
          </a:graphicData>
        </a:graphic>
      </p:graphicFrame>
      <p:graphicFrame>
        <p:nvGraphicFramePr>
          <p:cNvPr id="31" name="对象 30">
            <a:extLst>
              <a:ext uri="{FF2B5EF4-FFF2-40B4-BE49-F238E27FC236}">
                <a16:creationId xmlns:a16="http://schemas.microsoft.com/office/drawing/2014/main" id="{8D958A1C-4620-3F6D-6ECF-5B2CC63D54B5}"/>
              </a:ext>
            </a:extLst>
          </p:cNvPr>
          <p:cNvGraphicFramePr>
            <a:graphicFrameLocks noChangeAspect="1"/>
          </p:cNvGraphicFramePr>
          <p:nvPr>
            <p:extLst>
              <p:ext uri="{D42A27DB-BD31-4B8C-83A1-F6EECF244321}">
                <p14:modId xmlns:p14="http://schemas.microsoft.com/office/powerpoint/2010/main" val="95947796"/>
              </p:ext>
            </p:extLst>
          </p:nvPr>
        </p:nvGraphicFramePr>
        <p:xfrm>
          <a:off x="7523299" y="2975616"/>
          <a:ext cx="1374775" cy="782637"/>
        </p:xfrm>
        <a:graphic>
          <a:graphicData uri="http://schemas.openxmlformats.org/presentationml/2006/ole">
            <mc:AlternateContent xmlns:mc="http://schemas.openxmlformats.org/markup-compatibility/2006">
              <mc:Choice xmlns:v="urn:schemas-microsoft-com:vml" Requires="v">
                <p:oleObj name="Equation" r:id="rId7" imgW="774360" imgH="431640" progId="Equation.DSMT4">
                  <p:embed/>
                </p:oleObj>
              </mc:Choice>
              <mc:Fallback>
                <p:oleObj name="Equation" r:id="rId7" imgW="774360" imgH="431640" progId="Equation.DSMT4">
                  <p:embed/>
                  <p:pic>
                    <p:nvPicPr>
                      <p:cNvPr id="4" name="对象 3">
                        <a:extLst>
                          <a:ext uri="{FF2B5EF4-FFF2-40B4-BE49-F238E27FC236}">
                            <a16:creationId xmlns:a16="http://schemas.microsoft.com/office/drawing/2014/main" id="{6966CA6F-4ABE-491E-30A3-B1439508D82D}"/>
                          </a:ext>
                        </a:extLst>
                      </p:cNvPr>
                      <p:cNvPicPr>
                        <a:picLocks noChangeAspect="1" noChangeArrowheads="1"/>
                      </p:cNvPicPr>
                      <p:nvPr/>
                    </p:nvPicPr>
                    <p:blipFill>
                      <a:blip r:embed="rId8"/>
                      <a:srcRect/>
                      <a:stretch>
                        <a:fillRect/>
                      </a:stretch>
                    </p:blipFill>
                    <p:spPr bwMode="auto">
                      <a:xfrm>
                        <a:off x="7523299" y="2975616"/>
                        <a:ext cx="1374775" cy="782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文本框 32">
            <a:extLst>
              <a:ext uri="{FF2B5EF4-FFF2-40B4-BE49-F238E27FC236}">
                <a16:creationId xmlns:a16="http://schemas.microsoft.com/office/drawing/2014/main" id="{C8C5A823-1E65-128E-3769-5C9FA81005B3}"/>
              </a:ext>
            </a:extLst>
          </p:cNvPr>
          <p:cNvSpPr txBox="1"/>
          <p:nvPr/>
        </p:nvSpPr>
        <p:spPr>
          <a:xfrm>
            <a:off x="7308304" y="2312226"/>
            <a:ext cx="936104" cy="646331"/>
          </a:xfrm>
          <a:prstGeom prst="rect">
            <a:avLst/>
          </a:prstGeom>
          <a:noFill/>
        </p:spPr>
        <p:txBody>
          <a:bodyPr wrap="square">
            <a:spAutoFit/>
          </a:bodyPr>
          <a:lstStyle/>
          <a:p>
            <a:r>
              <a:rPr lang="zh-CN" altLang="en-US" dirty="0">
                <a:latin typeface="黑体" panose="02010609060101010101" pitchFamily="49" charset="-122"/>
                <a:ea typeface="黑体" panose="02010609060101010101" pitchFamily="49" charset="-122"/>
              </a:rPr>
              <a:t>每极每相槽数</a:t>
            </a:r>
          </a:p>
        </p:txBody>
      </p:sp>
      <p:sp>
        <p:nvSpPr>
          <p:cNvPr id="38" name="箭头: 下 37">
            <a:extLst>
              <a:ext uri="{FF2B5EF4-FFF2-40B4-BE49-F238E27FC236}">
                <a16:creationId xmlns:a16="http://schemas.microsoft.com/office/drawing/2014/main" id="{96D9FDA9-7796-0F2F-B42F-4F097DA83820}"/>
              </a:ext>
            </a:extLst>
          </p:cNvPr>
          <p:cNvSpPr/>
          <p:nvPr/>
        </p:nvSpPr>
        <p:spPr>
          <a:xfrm rot="20139186">
            <a:off x="7704349" y="5284245"/>
            <a:ext cx="144016" cy="344453"/>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下 38">
            <a:extLst>
              <a:ext uri="{FF2B5EF4-FFF2-40B4-BE49-F238E27FC236}">
                <a16:creationId xmlns:a16="http://schemas.microsoft.com/office/drawing/2014/main" id="{712A9D2E-5CFB-CB94-B5AE-80B9941DEAD8}"/>
              </a:ext>
            </a:extLst>
          </p:cNvPr>
          <p:cNvSpPr/>
          <p:nvPr/>
        </p:nvSpPr>
        <p:spPr>
          <a:xfrm rot="10800000">
            <a:off x="7566276" y="2941498"/>
            <a:ext cx="144016" cy="2701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E229A09C-20C3-7054-0817-AFDF408B3E00}"/>
              </a:ext>
            </a:extLst>
          </p:cNvPr>
          <p:cNvSpPr txBox="1"/>
          <p:nvPr/>
        </p:nvSpPr>
        <p:spPr>
          <a:xfrm>
            <a:off x="7552254" y="5579948"/>
            <a:ext cx="936104" cy="369332"/>
          </a:xfrm>
          <a:prstGeom prst="rect">
            <a:avLst/>
          </a:prstGeom>
          <a:noFill/>
        </p:spPr>
        <p:txBody>
          <a:bodyPr wrap="square">
            <a:spAutoFit/>
          </a:bodyPr>
          <a:lstStyle/>
          <a:p>
            <a:r>
              <a:rPr kumimoji="0" lang="zh-CN" altLang="en-US" sz="18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槽距角</a:t>
            </a:r>
            <a:endParaRPr lang="zh-CN" altLang="en-US" dirty="0"/>
          </a:p>
        </p:txBody>
      </p:sp>
      <p:sp>
        <p:nvSpPr>
          <p:cNvPr id="41" name="箭头: 下 40">
            <a:extLst>
              <a:ext uri="{FF2B5EF4-FFF2-40B4-BE49-F238E27FC236}">
                <a16:creationId xmlns:a16="http://schemas.microsoft.com/office/drawing/2014/main" id="{9A886C13-C119-4217-3C28-3D3D9C635B02}"/>
              </a:ext>
            </a:extLst>
          </p:cNvPr>
          <p:cNvSpPr/>
          <p:nvPr/>
        </p:nvSpPr>
        <p:spPr>
          <a:xfrm rot="11530461">
            <a:off x="8341744" y="2688457"/>
            <a:ext cx="144016" cy="2701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44C86569-BCD7-40E7-4880-8998AF65A8CA}"/>
              </a:ext>
            </a:extLst>
          </p:cNvPr>
          <p:cNvSpPr txBox="1"/>
          <p:nvPr/>
        </p:nvSpPr>
        <p:spPr>
          <a:xfrm>
            <a:off x="8072596" y="2306866"/>
            <a:ext cx="936104" cy="369332"/>
          </a:xfrm>
          <a:prstGeom prst="rect">
            <a:avLst/>
          </a:prstGeom>
          <a:noFill/>
        </p:spPr>
        <p:txBody>
          <a:bodyPr wrap="square">
            <a:spAutoFit/>
          </a:bodyPr>
          <a:lstStyle/>
          <a:p>
            <a:r>
              <a:rPr lang="zh-CN" altLang="en-US" dirty="0">
                <a:latin typeface="黑体" panose="02010609060101010101" pitchFamily="49" charset="-122"/>
                <a:ea typeface="黑体" panose="02010609060101010101" pitchFamily="49" charset="-122"/>
              </a:rPr>
              <a:t>总槽数</a:t>
            </a:r>
          </a:p>
        </p:txBody>
      </p:sp>
      <p:sp>
        <p:nvSpPr>
          <p:cNvPr id="43" name="箭头: 下 42">
            <a:extLst>
              <a:ext uri="{FF2B5EF4-FFF2-40B4-BE49-F238E27FC236}">
                <a16:creationId xmlns:a16="http://schemas.microsoft.com/office/drawing/2014/main" id="{BB8DA577-91E7-974E-E831-B1A43D14B8C3}"/>
              </a:ext>
            </a:extLst>
          </p:cNvPr>
          <p:cNvSpPr/>
          <p:nvPr/>
        </p:nvSpPr>
        <p:spPr>
          <a:xfrm rot="2183509">
            <a:off x="7948298" y="3679384"/>
            <a:ext cx="144016" cy="2701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73702B06-B9A7-DD3D-9462-9C8C7BD103EF}"/>
              </a:ext>
            </a:extLst>
          </p:cNvPr>
          <p:cNvSpPr txBox="1"/>
          <p:nvPr/>
        </p:nvSpPr>
        <p:spPr>
          <a:xfrm>
            <a:off x="7450558" y="3900875"/>
            <a:ext cx="693817" cy="646331"/>
          </a:xfrm>
          <a:prstGeom prst="rect">
            <a:avLst/>
          </a:prstGeom>
          <a:noFill/>
        </p:spPr>
        <p:txBody>
          <a:bodyPr wrap="square">
            <a:spAutoFit/>
          </a:bodyPr>
          <a:lstStyle/>
          <a:p>
            <a:r>
              <a:rPr lang="zh-CN" altLang="en-US" dirty="0">
                <a:latin typeface="黑体" panose="02010609060101010101" pitchFamily="49" charset="-122"/>
                <a:ea typeface="黑体" panose="02010609060101010101" pitchFamily="49" charset="-122"/>
              </a:rPr>
              <a:t>磁极对数</a:t>
            </a:r>
          </a:p>
        </p:txBody>
      </p:sp>
      <p:sp>
        <p:nvSpPr>
          <p:cNvPr id="45" name="箭头: 下 44">
            <a:extLst>
              <a:ext uri="{FF2B5EF4-FFF2-40B4-BE49-F238E27FC236}">
                <a16:creationId xmlns:a16="http://schemas.microsoft.com/office/drawing/2014/main" id="{92A91BDC-2A92-7DEB-CC60-85EAAF500408}"/>
              </a:ext>
            </a:extLst>
          </p:cNvPr>
          <p:cNvSpPr/>
          <p:nvPr/>
        </p:nvSpPr>
        <p:spPr>
          <a:xfrm>
            <a:off x="8583651" y="3750175"/>
            <a:ext cx="144016" cy="27010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C61CD276-1981-935A-9D6E-09938FAEB5A3}"/>
              </a:ext>
            </a:extLst>
          </p:cNvPr>
          <p:cNvSpPr txBox="1"/>
          <p:nvPr/>
        </p:nvSpPr>
        <p:spPr>
          <a:xfrm>
            <a:off x="8330857" y="3965869"/>
            <a:ext cx="693817" cy="646331"/>
          </a:xfrm>
          <a:prstGeom prst="rect">
            <a:avLst/>
          </a:prstGeom>
          <a:noFill/>
        </p:spPr>
        <p:txBody>
          <a:bodyPr wrap="square">
            <a:spAutoFit/>
          </a:bodyPr>
          <a:lstStyle/>
          <a:p>
            <a:r>
              <a:rPr lang="zh-CN" altLang="en-US" dirty="0">
                <a:latin typeface="黑体" panose="02010609060101010101" pitchFamily="49" charset="-122"/>
                <a:ea typeface="黑体" panose="02010609060101010101" pitchFamily="49" charset="-122"/>
              </a:rPr>
              <a:t>绕组相数</a:t>
            </a:r>
          </a:p>
        </p:txBody>
      </p:sp>
      <p:sp>
        <p:nvSpPr>
          <p:cNvPr id="3" name="灯片编号占位符 2">
            <a:extLst>
              <a:ext uri="{FF2B5EF4-FFF2-40B4-BE49-F238E27FC236}">
                <a16:creationId xmlns:a16="http://schemas.microsoft.com/office/drawing/2014/main" id="{94A812F7-9A47-042D-7E05-04723963478F}"/>
              </a:ext>
            </a:extLst>
          </p:cNvPr>
          <p:cNvSpPr>
            <a:spLocks noGrp="1"/>
          </p:cNvSpPr>
          <p:nvPr>
            <p:ph type="sldNum" sz="quarter" idx="12"/>
          </p:nvPr>
        </p:nvSpPr>
        <p:spPr/>
        <p:txBody>
          <a:bodyPr/>
          <a:lstStyle/>
          <a:p>
            <a:fld id="{76D830B0-DF59-4281-898F-AF208100B213}" type="slidenum">
              <a:rPr lang="en-US" altLang="zh-CN" smtClean="0"/>
              <a:pPr/>
              <a:t>25</a:t>
            </a:fld>
            <a:endParaRPr lang="en-US" altLang="zh-CN"/>
          </a:p>
        </p:txBody>
      </p:sp>
    </p:spTree>
    <p:extLst>
      <p:ext uri="{BB962C8B-B14F-4D97-AF65-F5344CB8AC3E}">
        <p14:creationId xmlns:p14="http://schemas.microsoft.com/office/powerpoint/2010/main" val="3459435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53676208-48D9-41A0-2F7D-807B8B8A9A4D}"/>
              </a:ext>
            </a:extLst>
          </p:cNvPr>
          <p:cNvGraphicFramePr>
            <a:graphicFrameLocks noChangeAspect="1"/>
          </p:cNvGraphicFramePr>
          <p:nvPr>
            <p:extLst>
              <p:ext uri="{D42A27DB-BD31-4B8C-83A1-F6EECF244321}">
                <p14:modId xmlns:p14="http://schemas.microsoft.com/office/powerpoint/2010/main" val="1164831013"/>
              </p:ext>
            </p:extLst>
          </p:nvPr>
        </p:nvGraphicFramePr>
        <p:xfrm>
          <a:off x="1259632" y="1231486"/>
          <a:ext cx="6840760" cy="4984799"/>
        </p:xfrm>
        <a:graphic>
          <a:graphicData uri="http://schemas.openxmlformats.org/presentationml/2006/ole">
            <mc:AlternateContent xmlns:mc="http://schemas.openxmlformats.org/markup-compatibility/2006">
              <mc:Choice xmlns:v="urn:schemas-microsoft-com:vml" Requires="v">
                <p:oleObj r:id="rId3" imgW="2501900" imgH="3281363" progId="MSDraw">
                  <p:embed/>
                </p:oleObj>
              </mc:Choice>
              <mc:Fallback>
                <p:oleObj r:id="rId3" imgW="2501900" imgH="3281363" progId="MSDraw">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1231486"/>
                        <a:ext cx="6840760" cy="4984799"/>
                      </a:xfrm>
                      <a:prstGeom prst="rect">
                        <a:avLst/>
                      </a:prstGeom>
                      <a:noFill/>
                    </p:spPr>
                  </p:pic>
                </p:oleObj>
              </mc:Fallback>
            </mc:AlternateContent>
          </a:graphicData>
        </a:graphic>
      </p:graphicFrame>
      <p:sp>
        <p:nvSpPr>
          <p:cNvPr id="11" name="箭头: 右 10">
            <a:extLst>
              <a:ext uri="{FF2B5EF4-FFF2-40B4-BE49-F238E27FC236}">
                <a16:creationId xmlns:a16="http://schemas.microsoft.com/office/drawing/2014/main" id="{9F259BCF-C264-6EC1-EF11-338B25D5A817}"/>
              </a:ext>
            </a:extLst>
          </p:cNvPr>
          <p:cNvSpPr/>
          <p:nvPr/>
        </p:nvSpPr>
        <p:spPr>
          <a:xfrm>
            <a:off x="5076056" y="5349743"/>
            <a:ext cx="648072"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5B3C7D81-FCFA-68AE-7965-0AF5A80FED69}"/>
              </a:ext>
            </a:extLst>
          </p:cNvPr>
          <p:cNvSpPr txBox="1"/>
          <p:nvPr/>
        </p:nvSpPr>
        <p:spPr>
          <a:xfrm>
            <a:off x="6451179" y="5229200"/>
            <a:ext cx="1649213" cy="461665"/>
          </a:xfrm>
          <a:prstGeom prst="rect">
            <a:avLst/>
          </a:prstGeom>
          <a:noFill/>
        </p:spPr>
        <p:txBody>
          <a:bodyPr wrap="square">
            <a:spAutoFit/>
          </a:bodyPr>
          <a:lstStyle/>
          <a:p>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合成磁势</a:t>
            </a:r>
            <a:endParaRPr lang="zh-CN" altLang="en-US" sz="2400" b="1" dirty="0">
              <a:solidFill>
                <a:srgbClr val="0000FF"/>
              </a:solidFill>
            </a:endParaRPr>
          </a:p>
        </p:txBody>
      </p:sp>
      <p:graphicFrame>
        <p:nvGraphicFramePr>
          <p:cNvPr id="13" name="对象 12">
            <a:extLst>
              <a:ext uri="{FF2B5EF4-FFF2-40B4-BE49-F238E27FC236}">
                <a16:creationId xmlns:a16="http://schemas.microsoft.com/office/drawing/2014/main" id="{D3A4426D-3D41-37EE-2A5F-35AFC8492C3B}"/>
              </a:ext>
            </a:extLst>
          </p:cNvPr>
          <p:cNvGraphicFramePr>
            <a:graphicFrameLocks noChangeAspect="1"/>
          </p:cNvGraphicFramePr>
          <p:nvPr>
            <p:extLst>
              <p:ext uri="{D42A27DB-BD31-4B8C-83A1-F6EECF244321}">
                <p14:modId xmlns:p14="http://schemas.microsoft.com/office/powerpoint/2010/main" val="1500247910"/>
              </p:ext>
            </p:extLst>
          </p:nvPr>
        </p:nvGraphicFramePr>
        <p:xfrm>
          <a:off x="5859761" y="5229200"/>
          <a:ext cx="671513" cy="530225"/>
        </p:xfrm>
        <a:graphic>
          <a:graphicData uri="http://schemas.openxmlformats.org/presentationml/2006/ole">
            <mc:AlternateContent xmlns:mc="http://schemas.openxmlformats.org/markup-compatibility/2006">
              <mc:Choice xmlns:v="urn:schemas-microsoft-com:vml" Requires="v">
                <p:oleObj name="Equation" r:id="rId5" imgW="304560" imgH="241200" progId="Equation.DSMT4">
                  <p:embed/>
                </p:oleObj>
              </mc:Choice>
              <mc:Fallback>
                <p:oleObj name="Equation" r:id="rId5" imgW="304560" imgH="241200" progId="Equation.DSMT4">
                  <p:embed/>
                  <p:pic>
                    <p:nvPicPr>
                      <p:cNvPr id="9" name="对象 8">
                        <a:extLst>
                          <a:ext uri="{FF2B5EF4-FFF2-40B4-BE49-F238E27FC236}">
                            <a16:creationId xmlns:a16="http://schemas.microsoft.com/office/drawing/2014/main" id="{BD2BE614-5984-33F6-5ACE-AAD5133787AD}"/>
                          </a:ext>
                        </a:extLst>
                      </p:cNvPr>
                      <p:cNvPicPr>
                        <a:picLocks noChangeAspect="1" noChangeArrowheads="1"/>
                      </p:cNvPicPr>
                      <p:nvPr/>
                    </p:nvPicPr>
                    <p:blipFill>
                      <a:blip r:embed="rId6"/>
                      <a:srcRect/>
                      <a:stretch>
                        <a:fillRect/>
                      </a:stretch>
                    </p:blipFill>
                    <p:spPr bwMode="auto">
                      <a:xfrm>
                        <a:off x="5859761" y="5229200"/>
                        <a:ext cx="671513"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a:extLst>
              <a:ext uri="{FF2B5EF4-FFF2-40B4-BE49-F238E27FC236}">
                <a16:creationId xmlns:a16="http://schemas.microsoft.com/office/drawing/2014/main" id="{A91B983C-E112-8E0A-45ED-710C9E2AB72A}"/>
              </a:ext>
            </a:extLst>
          </p:cNvPr>
          <p:cNvSpPr>
            <a:spLocks noGrp="1"/>
          </p:cNvSpPr>
          <p:nvPr>
            <p:ph type="sldNum" sz="quarter" idx="12"/>
          </p:nvPr>
        </p:nvSpPr>
        <p:spPr/>
        <p:txBody>
          <a:bodyPr/>
          <a:lstStyle/>
          <a:p>
            <a:fld id="{76D830B0-DF59-4281-898F-AF208100B213}" type="slidenum">
              <a:rPr lang="en-US" altLang="zh-CN" smtClean="0"/>
              <a:pPr/>
              <a:t>26</a:t>
            </a:fld>
            <a:endParaRPr lang="en-US" altLang="zh-CN"/>
          </a:p>
        </p:txBody>
      </p:sp>
    </p:spTree>
    <p:extLst>
      <p:ext uri="{BB962C8B-B14F-4D97-AF65-F5344CB8AC3E}">
        <p14:creationId xmlns:p14="http://schemas.microsoft.com/office/powerpoint/2010/main" val="30682666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D09AF6A9-DEF7-3816-5315-5E48174A98D9}"/>
              </a:ext>
            </a:extLst>
          </p:cNvPr>
          <p:cNvGraphicFramePr>
            <a:graphicFrameLocks noChangeAspect="1"/>
          </p:cNvGraphicFramePr>
          <p:nvPr>
            <p:extLst>
              <p:ext uri="{D42A27DB-BD31-4B8C-83A1-F6EECF244321}">
                <p14:modId xmlns:p14="http://schemas.microsoft.com/office/powerpoint/2010/main" val="3439574358"/>
              </p:ext>
            </p:extLst>
          </p:nvPr>
        </p:nvGraphicFramePr>
        <p:xfrm>
          <a:off x="2051720" y="1108022"/>
          <a:ext cx="5256584" cy="3761138"/>
        </p:xfrm>
        <a:graphic>
          <a:graphicData uri="http://schemas.openxmlformats.org/presentationml/2006/ole">
            <mc:AlternateContent xmlns:mc="http://schemas.openxmlformats.org/markup-compatibility/2006">
              <mc:Choice xmlns:v="urn:schemas-microsoft-com:vml" Requires="v">
                <p:oleObj r:id="rId3" imgW="2582863" imgH="1847850" progId="MSDraw">
                  <p:embed/>
                </p:oleObj>
              </mc:Choice>
              <mc:Fallback>
                <p:oleObj r:id="rId3" imgW="2582863" imgH="1847850" progId="MSDraw">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1108022"/>
                        <a:ext cx="5256584" cy="3761138"/>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222EA1F2-5C19-51F2-3DD2-3203EA8B509F}"/>
              </a:ext>
            </a:extLst>
          </p:cNvPr>
          <p:cNvSpPr>
            <a:spLocks noChangeArrowheads="1"/>
          </p:cNvSpPr>
          <p:nvPr/>
        </p:nvSpPr>
        <p:spPr bwMode="auto">
          <a:xfrm>
            <a:off x="539552" y="5404595"/>
            <a:ext cx="324036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比较两式</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消去</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R</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可得</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基波磁势最大值。 </a:t>
            </a:r>
            <a:endParaRPr kumimoji="0" lang="zh-CN" altLang="en-US" sz="1800" b="1" i="0" u="none" strike="noStrike" cap="none" normalizeH="0" baseline="0" dirty="0">
              <a:ln>
                <a:noFill/>
              </a:ln>
              <a:solidFill>
                <a:schemeClr val="tx1"/>
              </a:solidFill>
              <a:effectLst/>
              <a:latin typeface="Arial" panose="020B0604020202020204" pitchFamily="34" charset="0"/>
            </a:endParaRPr>
          </a:p>
        </p:txBody>
      </p:sp>
      <p:graphicFrame>
        <p:nvGraphicFramePr>
          <p:cNvPr id="9" name="对象 8">
            <a:extLst>
              <a:ext uri="{FF2B5EF4-FFF2-40B4-BE49-F238E27FC236}">
                <a16:creationId xmlns:a16="http://schemas.microsoft.com/office/drawing/2014/main" id="{BD2BE614-5984-33F6-5ACE-AAD5133787AD}"/>
              </a:ext>
            </a:extLst>
          </p:cNvPr>
          <p:cNvGraphicFramePr>
            <a:graphicFrameLocks noChangeAspect="1"/>
          </p:cNvGraphicFramePr>
          <p:nvPr>
            <p:extLst>
              <p:ext uri="{D42A27DB-BD31-4B8C-83A1-F6EECF244321}">
                <p14:modId xmlns:p14="http://schemas.microsoft.com/office/powerpoint/2010/main" val="2363750858"/>
              </p:ext>
            </p:extLst>
          </p:nvPr>
        </p:nvGraphicFramePr>
        <p:xfrm>
          <a:off x="4173538" y="4921250"/>
          <a:ext cx="4333875" cy="1676400"/>
        </p:xfrm>
        <a:graphic>
          <a:graphicData uri="http://schemas.openxmlformats.org/presentationml/2006/ole">
            <mc:AlternateContent xmlns:mc="http://schemas.openxmlformats.org/markup-compatibility/2006">
              <mc:Choice xmlns:v="urn:schemas-microsoft-com:vml" Requires="v">
                <p:oleObj name="Equation" r:id="rId5" imgW="1968480" imgH="761760" progId="Equation.DSMT4">
                  <p:embed/>
                </p:oleObj>
              </mc:Choice>
              <mc:Fallback>
                <p:oleObj name="Equation" r:id="rId5" imgW="1968480" imgH="761760" progId="Equation.DSMT4">
                  <p:embed/>
                  <p:pic>
                    <p:nvPicPr>
                      <p:cNvPr id="0" name="Object 6"/>
                      <p:cNvPicPr>
                        <a:picLocks noChangeAspect="1" noChangeArrowheads="1"/>
                      </p:cNvPicPr>
                      <p:nvPr/>
                    </p:nvPicPr>
                    <p:blipFill>
                      <a:blip r:embed="rId6"/>
                      <a:srcRect/>
                      <a:stretch>
                        <a:fillRect/>
                      </a:stretch>
                    </p:blipFill>
                    <p:spPr bwMode="auto">
                      <a:xfrm>
                        <a:off x="4173538" y="4921250"/>
                        <a:ext cx="4333875"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箭头: 右 9">
            <a:extLst>
              <a:ext uri="{FF2B5EF4-FFF2-40B4-BE49-F238E27FC236}">
                <a16:creationId xmlns:a16="http://schemas.microsoft.com/office/drawing/2014/main" id="{F1D3D52B-52A6-CCE3-F3EA-DB4CF9EA2A5D}"/>
              </a:ext>
            </a:extLst>
          </p:cNvPr>
          <p:cNvSpPr/>
          <p:nvPr/>
        </p:nvSpPr>
        <p:spPr>
          <a:xfrm>
            <a:off x="3491880" y="5646848"/>
            <a:ext cx="648072"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a:extLst>
              <a:ext uri="{FF2B5EF4-FFF2-40B4-BE49-F238E27FC236}">
                <a16:creationId xmlns:a16="http://schemas.microsoft.com/office/drawing/2014/main" id="{F8FA6781-2BB2-CAF9-6BA5-6469E7A24BA5}"/>
              </a:ext>
            </a:extLst>
          </p:cNvPr>
          <p:cNvSpPr>
            <a:spLocks noGrp="1"/>
          </p:cNvSpPr>
          <p:nvPr>
            <p:ph type="sldNum" sz="quarter" idx="12"/>
          </p:nvPr>
        </p:nvSpPr>
        <p:spPr/>
        <p:txBody>
          <a:bodyPr/>
          <a:lstStyle/>
          <a:p>
            <a:fld id="{76D830B0-DF59-4281-898F-AF208100B213}" type="slidenum">
              <a:rPr lang="en-US" altLang="zh-CN" smtClean="0"/>
              <a:pPr/>
              <a:t>27</a:t>
            </a:fld>
            <a:endParaRPr lang="en-US" altLang="zh-CN"/>
          </a:p>
        </p:txBody>
      </p:sp>
    </p:spTree>
    <p:extLst>
      <p:ext uri="{BB962C8B-B14F-4D97-AF65-F5344CB8AC3E}">
        <p14:creationId xmlns:p14="http://schemas.microsoft.com/office/powerpoint/2010/main" val="2703610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FEA622F-2355-F8F6-D251-CBD578CB1004}"/>
              </a:ext>
            </a:extLst>
          </p:cNvPr>
          <p:cNvSpPr>
            <a:spLocks noChangeArrowheads="1"/>
          </p:cNvSpPr>
          <p:nvPr/>
        </p:nvSpPr>
        <p:spPr bwMode="auto">
          <a:xfrm>
            <a:off x="395536" y="1027584"/>
            <a:ext cx="345638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v</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次谐波磁势最大值：</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对象 2">
            <a:extLst>
              <a:ext uri="{FF2B5EF4-FFF2-40B4-BE49-F238E27FC236}">
                <a16:creationId xmlns:a16="http://schemas.microsoft.com/office/drawing/2014/main" id="{B2790EBE-B00C-FD2D-03F8-712207004881}"/>
              </a:ext>
            </a:extLst>
          </p:cNvPr>
          <p:cNvGraphicFramePr>
            <a:graphicFrameLocks noChangeAspect="1"/>
          </p:cNvGraphicFramePr>
          <p:nvPr>
            <p:extLst>
              <p:ext uri="{D42A27DB-BD31-4B8C-83A1-F6EECF244321}">
                <p14:modId xmlns:p14="http://schemas.microsoft.com/office/powerpoint/2010/main" val="1156165390"/>
              </p:ext>
            </p:extLst>
          </p:nvPr>
        </p:nvGraphicFramePr>
        <p:xfrm>
          <a:off x="1051269" y="1340768"/>
          <a:ext cx="4605338" cy="1706562"/>
        </p:xfrm>
        <a:graphic>
          <a:graphicData uri="http://schemas.openxmlformats.org/presentationml/2006/ole">
            <mc:AlternateContent xmlns:mc="http://schemas.openxmlformats.org/markup-compatibility/2006">
              <mc:Choice xmlns:v="urn:schemas-microsoft-com:vml" Requires="v">
                <p:oleObj name="Equation" r:id="rId3" imgW="2057400" imgH="761760" progId="Equation.DSMT4">
                  <p:embed/>
                </p:oleObj>
              </mc:Choice>
              <mc:Fallback>
                <p:oleObj name="Equation" r:id="rId3" imgW="2057400" imgH="761760" progId="Equation.DSMT4">
                  <p:embed/>
                  <p:pic>
                    <p:nvPicPr>
                      <p:cNvPr id="0" name="Object 1"/>
                      <p:cNvPicPr>
                        <a:picLocks noChangeAspect="1" noChangeArrowheads="1"/>
                      </p:cNvPicPr>
                      <p:nvPr/>
                    </p:nvPicPr>
                    <p:blipFill>
                      <a:blip r:embed="rId4"/>
                      <a:srcRect/>
                      <a:stretch>
                        <a:fillRect/>
                      </a:stretch>
                    </p:blipFill>
                    <p:spPr bwMode="auto">
                      <a:xfrm>
                        <a:off x="1051269" y="1340768"/>
                        <a:ext cx="4605338" cy="1706562"/>
                      </a:xfrm>
                      <a:prstGeom prst="rect">
                        <a:avLst/>
                      </a:prstGeom>
                      <a:noFill/>
                    </p:spPr>
                  </p:pic>
                </p:oleObj>
              </mc:Fallback>
            </mc:AlternateContent>
          </a:graphicData>
        </a:graphic>
      </p:graphicFrame>
      <p:sp>
        <p:nvSpPr>
          <p:cNvPr id="6" name="Rectangle 3">
            <a:extLst>
              <a:ext uri="{FF2B5EF4-FFF2-40B4-BE49-F238E27FC236}">
                <a16:creationId xmlns:a16="http://schemas.microsoft.com/office/drawing/2014/main" id="{8455AB6B-DDE3-AEAB-D65C-AFE208C4C4F3}"/>
              </a:ext>
            </a:extLst>
          </p:cNvPr>
          <p:cNvSpPr>
            <a:spLocks noChangeArrowheads="1"/>
          </p:cNvSpPr>
          <p:nvPr/>
        </p:nvSpPr>
        <p:spPr bwMode="auto">
          <a:xfrm>
            <a:off x="5441530" y="1962993"/>
            <a:ext cx="30963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2672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v=3</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5</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7</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8" name="对象 7">
            <a:extLst>
              <a:ext uri="{FF2B5EF4-FFF2-40B4-BE49-F238E27FC236}">
                <a16:creationId xmlns:a16="http://schemas.microsoft.com/office/drawing/2014/main" id="{6264DAE4-7B53-FEF2-23DB-D354A03D7813}"/>
              </a:ext>
            </a:extLst>
          </p:cNvPr>
          <p:cNvGraphicFramePr>
            <a:graphicFrameLocks noChangeAspect="1"/>
          </p:cNvGraphicFramePr>
          <p:nvPr>
            <p:extLst>
              <p:ext uri="{D42A27DB-BD31-4B8C-83A1-F6EECF244321}">
                <p14:modId xmlns:p14="http://schemas.microsoft.com/office/powerpoint/2010/main" val="937588976"/>
              </p:ext>
            </p:extLst>
          </p:nvPr>
        </p:nvGraphicFramePr>
        <p:xfrm>
          <a:off x="3038678" y="3140968"/>
          <a:ext cx="2592288" cy="1689092"/>
        </p:xfrm>
        <a:graphic>
          <a:graphicData uri="http://schemas.openxmlformats.org/presentationml/2006/ole">
            <mc:AlternateContent xmlns:mc="http://schemas.openxmlformats.org/markup-compatibility/2006">
              <mc:Choice xmlns:v="urn:schemas-microsoft-com:vml" Requires="v">
                <p:oleObj name="Equation" r:id="rId5" imgW="1167893" imgH="761669" progId="Equation.DSMT4">
                  <p:embed/>
                </p:oleObj>
              </mc:Choice>
              <mc:Fallback>
                <p:oleObj name="Equation" r:id="rId5" imgW="1167893" imgH="761669"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8678" y="3140968"/>
                        <a:ext cx="2592288" cy="1689092"/>
                      </a:xfrm>
                      <a:prstGeom prst="rect">
                        <a:avLst/>
                      </a:prstGeom>
                      <a:noFill/>
                    </p:spPr>
                  </p:pic>
                </p:oleObj>
              </mc:Fallback>
            </mc:AlternateContent>
          </a:graphicData>
        </a:graphic>
      </p:graphicFrame>
      <p:sp>
        <p:nvSpPr>
          <p:cNvPr id="13" name="Rectangle 2">
            <a:extLst>
              <a:ext uri="{FF2B5EF4-FFF2-40B4-BE49-F238E27FC236}">
                <a16:creationId xmlns:a16="http://schemas.microsoft.com/office/drawing/2014/main" id="{3B2EBF05-DD42-F013-46B5-2BFA89553BCF}"/>
              </a:ext>
            </a:extLst>
          </p:cNvPr>
          <p:cNvSpPr>
            <a:spLocks noChangeArrowheads="1"/>
          </p:cNvSpPr>
          <p:nvPr/>
        </p:nvSpPr>
        <p:spPr bwMode="auto">
          <a:xfrm>
            <a:off x="563940" y="3749401"/>
            <a:ext cx="2859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v</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次谐波</a:t>
            </a:r>
            <a:r>
              <a:rPr kumimoji="0" lang="zh-CN" altLang="en-US"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分布系数</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5" name="对象 14">
            <a:extLst>
              <a:ext uri="{FF2B5EF4-FFF2-40B4-BE49-F238E27FC236}">
                <a16:creationId xmlns:a16="http://schemas.microsoft.com/office/drawing/2014/main" id="{02B2A827-7AE3-E7BF-AA88-E28CE496A474}"/>
              </a:ext>
            </a:extLst>
          </p:cNvPr>
          <p:cNvGraphicFramePr>
            <a:graphicFrameLocks noChangeAspect="1"/>
          </p:cNvGraphicFramePr>
          <p:nvPr>
            <p:extLst>
              <p:ext uri="{D42A27DB-BD31-4B8C-83A1-F6EECF244321}">
                <p14:modId xmlns:p14="http://schemas.microsoft.com/office/powerpoint/2010/main" val="1302123557"/>
              </p:ext>
            </p:extLst>
          </p:nvPr>
        </p:nvGraphicFramePr>
        <p:xfrm>
          <a:off x="7164288" y="3240052"/>
          <a:ext cx="1584176" cy="417759"/>
        </p:xfrm>
        <a:graphic>
          <a:graphicData uri="http://schemas.openxmlformats.org/presentationml/2006/ole">
            <mc:AlternateContent xmlns:mc="http://schemas.openxmlformats.org/markup-compatibility/2006">
              <mc:Choice xmlns:v="urn:schemas-microsoft-com:vml" Requires="v">
                <p:oleObj name="Equation" r:id="rId7" imgW="863225" imgH="228501" progId="Equation.DSMT4">
                  <p:embed/>
                </p:oleObj>
              </mc:Choice>
              <mc:Fallback>
                <p:oleObj name="Equation" r:id="rId7" imgW="863225" imgH="228501"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64288" y="3240052"/>
                        <a:ext cx="1584176" cy="417759"/>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08FEE3AC-EDC2-0206-5138-102515F2BA3E}"/>
              </a:ext>
            </a:extLst>
          </p:cNvPr>
          <p:cNvGraphicFramePr>
            <a:graphicFrameLocks noChangeAspect="1"/>
          </p:cNvGraphicFramePr>
          <p:nvPr>
            <p:extLst>
              <p:ext uri="{D42A27DB-BD31-4B8C-83A1-F6EECF244321}">
                <p14:modId xmlns:p14="http://schemas.microsoft.com/office/powerpoint/2010/main" val="387262059"/>
              </p:ext>
            </p:extLst>
          </p:nvPr>
        </p:nvGraphicFramePr>
        <p:xfrm>
          <a:off x="6084168" y="3712138"/>
          <a:ext cx="1328738" cy="471488"/>
        </p:xfrm>
        <a:graphic>
          <a:graphicData uri="http://schemas.openxmlformats.org/presentationml/2006/ole">
            <mc:AlternateContent xmlns:mc="http://schemas.openxmlformats.org/markup-compatibility/2006">
              <mc:Choice xmlns:v="urn:schemas-microsoft-com:vml" Requires="v">
                <p:oleObj name="Equation" r:id="rId9" imgW="672808" imgH="241195" progId="Equation.DSMT4">
                  <p:embed/>
                </p:oleObj>
              </mc:Choice>
              <mc:Fallback>
                <p:oleObj name="Equation" r:id="rId9" imgW="672808" imgH="241195"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84168" y="3712138"/>
                        <a:ext cx="1328738" cy="471488"/>
                      </a:xfrm>
                      <a:prstGeom prst="rect">
                        <a:avLst/>
                      </a:prstGeom>
                      <a:noFill/>
                    </p:spPr>
                  </p:pic>
                </p:oleObj>
              </mc:Fallback>
            </mc:AlternateContent>
          </a:graphicData>
        </a:graphic>
      </p:graphicFrame>
      <p:graphicFrame>
        <p:nvGraphicFramePr>
          <p:cNvPr id="17" name="对象 16">
            <a:extLst>
              <a:ext uri="{FF2B5EF4-FFF2-40B4-BE49-F238E27FC236}">
                <a16:creationId xmlns:a16="http://schemas.microsoft.com/office/drawing/2014/main" id="{824FCDFC-CF14-93CC-A9D6-91CEE83F1C1B}"/>
              </a:ext>
            </a:extLst>
          </p:cNvPr>
          <p:cNvGraphicFramePr>
            <a:graphicFrameLocks noChangeAspect="1"/>
          </p:cNvGraphicFramePr>
          <p:nvPr>
            <p:extLst>
              <p:ext uri="{D42A27DB-BD31-4B8C-83A1-F6EECF244321}">
                <p14:modId xmlns:p14="http://schemas.microsoft.com/office/powerpoint/2010/main" val="3743750241"/>
              </p:ext>
            </p:extLst>
          </p:nvPr>
        </p:nvGraphicFramePr>
        <p:xfrm>
          <a:off x="7452320" y="3670502"/>
          <a:ext cx="1444849" cy="513124"/>
        </p:xfrm>
        <a:graphic>
          <a:graphicData uri="http://schemas.openxmlformats.org/presentationml/2006/ole">
            <mc:AlternateContent xmlns:mc="http://schemas.openxmlformats.org/markup-compatibility/2006">
              <mc:Choice xmlns:v="urn:schemas-microsoft-com:vml" Requires="v">
                <p:oleObj name="Equation" r:id="rId11" imgW="672808" imgH="241195" progId="Equation.DSMT4">
                  <p:embed/>
                </p:oleObj>
              </mc:Choice>
              <mc:Fallback>
                <p:oleObj name="Equation" r:id="rId11" imgW="672808" imgH="241195"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52320" y="3670502"/>
                        <a:ext cx="1444849" cy="513124"/>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15E9B4B8-B0CF-ED01-DB04-720C129CFDC7}"/>
              </a:ext>
            </a:extLst>
          </p:cNvPr>
          <p:cNvGraphicFramePr>
            <a:graphicFrameLocks noChangeAspect="1"/>
          </p:cNvGraphicFramePr>
          <p:nvPr>
            <p:extLst>
              <p:ext uri="{D42A27DB-BD31-4B8C-83A1-F6EECF244321}">
                <p14:modId xmlns:p14="http://schemas.microsoft.com/office/powerpoint/2010/main" val="1021312170"/>
              </p:ext>
            </p:extLst>
          </p:nvPr>
        </p:nvGraphicFramePr>
        <p:xfrm>
          <a:off x="6084168" y="4250560"/>
          <a:ext cx="1414463" cy="500062"/>
        </p:xfrm>
        <a:graphic>
          <a:graphicData uri="http://schemas.openxmlformats.org/presentationml/2006/ole">
            <mc:AlternateContent xmlns:mc="http://schemas.openxmlformats.org/markup-compatibility/2006">
              <mc:Choice xmlns:v="urn:schemas-microsoft-com:vml" Requires="v">
                <p:oleObj name="Equation" r:id="rId13" imgW="672808" imgH="241195" progId="Equation.DSMT4">
                  <p:embed/>
                </p:oleObj>
              </mc:Choice>
              <mc:Fallback>
                <p:oleObj name="Equation" r:id="rId13" imgW="672808" imgH="241195"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84168" y="4250560"/>
                        <a:ext cx="1414463" cy="500062"/>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8EB21996-EFF8-16B1-4ABC-9F9FEABFEE05}"/>
              </a:ext>
            </a:extLst>
          </p:cNvPr>
          <p:cNvGraphicFramePr>
            <a:graphicFrameLocks noChangeAspect="1"/>
          </p:cNvGraphicFramePr>
          <p:nvPr>
            <p:extLst>
              <p:ext uri="{D42A27DB-BD31-4B8C-83A1-F6EECF244321}">
                <p14:modId xmlns:p14="http://schemas.microsoft.com/office/powerpoint/2010/main" val="1292830201"/>
              </p:ext>
            </p:extLst>
          </p:nvPr>
        </p:nvGraphicFramePr>
        <p:xfrm>
          <a:off x="7452320" y="4244295"/>
          <a:ext cx="1414464" cy="502333"/>
        </p:xfrm>
        <a:graphic>
          <a:graphicData uri="http://schemas.openxmlformats.org/presentationml/2006/ole">
            <mc:AlternateContent xmlns:mc="http://schemas.openxmlformats.org/markup-compatibility/2006">
              <mc:Choice xmlns:v="urn:schemas-microsoft-com:vml" Requires="v">
                <p:oleObj name="Equation" r:id="rId15" imgW="672808" imgH="241195" progId="Equation.DSMT4">
                  <p:embed/>
                </p:oleObj>
              </mc:Choice>
              <mc:Fallback>
                <p:oleObj name="Equation" r:id="rId15" imgW="672808" imgH="241195" progId="Equation.DSMT4">
                  <p:embed/>
                  <p:pic>
                    <p:nvPicPr>
                      <p:cNvPr id="0" name="Object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52320" y="4244295"/>
                        <a:ext cx="1414464" cy="502333"/>
                      </a:xfrm>
                      <a:prstGeom prst="rect">
                        <a:avLst/>
                      </a:prstGeom>
                      <a:noFill/>
                    </p:spPr>
                  </p:pic>
                </p:oleObj>
              </mc:Fallback>
            </mc:AlternateContent>
          </a:graphicData>
        </a:graphic>
      </p:graphicFrame>
      <p:sp>
        <p:nvSpPr>
          <p:cNvPr id="20" name="Rectangle 12">
            <a:extLst>
              <a:ext uri="{FF2B5EF4-FFF2-40B4-BE49-F238E27FC236}">
                <a16:creationId xmlns:a16="http://schemas.microsoft.com/office/drawing/2014/main" id="{0D463BC7-525C-DA2B-7356-7DF27909CFA4}"/>
              </a:ext>
            </a:extLst>
          </p:cNvPr>
          <p:cNvSpPr>
            <a:spLocks noChangeArrowheads="1"/>
          </p:cNvSpPr>
          <p:nvPr/>
        </p:nvSpPr>
        <p:spPr bwMode="auto">
          <a:xfrm>
            <a:off x="6021141" y="3270392"/>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举例</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：设</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28" name="文本框 27">
            <a:extLst>
              <a:ext uri="{FF2B5EF4-FFF2-40B4-BE49-F238E27FC236}">
                <a16:creationId xmlns:a16="http://schemas.microsoft.com/office/drawing/2014/main" id="{8EEB2EAD-4763-038D-E392-25D3F627D44D}"/>
              </a:ext>
            </a:extLst>
          </p:cNvPr>
          <p:cNvSpPr txBox="1"/>
          <p:nvPr/>
        </p:nvSpPr>
        <p:spPr>
          <a:xfrm>
            <a:off x="566147" y="5157192"/>
            <a:ext cx="8182317" cy="1200329"/>
          </a:xfrm>
          <a:prstGeom prst="rect">
            <a:avLst/>
          </a:prstGeom>
          <a:noFill/>
        </p:spPr>
        <p:txBody>
          <a:bodyPr wrap="square">
            <a:spAutoFit/>
          </a:bodyPr>
          <a:lstStyle/>
          <a:p>
            <a:pPr algn="just"/>
            <a:r>
              <a:rPr lang="zh-CN" altLang="zh-CN" sz="2400" b="1" kern="100" dirty="0">
                <a:solidFill>
                  <a:srgbClr val="0000FF"/>
                </a:solidFill>
                <a:effectLst/>
                <a:highlight>
                  <a:srgbClr val="FFFF00"/>
                </a:highlight>
                <a:latin typeface="Times New Roman" panose="02020603050405020304" pitchFamily="18" charset="0"/>
                <a:ea typeface="黑体" panose="02010609060101010101" pitchFamily="49" charset="-122"/>
              </a:rPr>
              <a:t>结论</a:t>
            </a:r>
            <a:r>
              <a:rPr lang="zh-CN" altLang="zh-CN" sz="2400" b="0" kern="100" dirty="0">
                <a:solidFill>
                  <a:srgbClr val="000000"/>
                </a:solidFill>
                <a:effectLst/>
                <a:highlight>
                  <a:srgbClr val="FFFF00"/>
                </a:highlight>
                <a:latin typeface="Times New Roman" panose="02020603050405020304" pitchFamily="18" charset="0"/>
                <a:ea typeface="黑体" panose="02010609060101010101" pitchFamily="49" charset="-122"/>
              </a:rPr>
              <a:t>：采用整距</a:t>
            </a:r>
            <a:r>
              <a:rPr lang="zh-CN" altLang="zh-CN" sz="2400" b="1" kern="100" dirty="0">
                <a:solidFill>
                  <a:srgbClr val="FF00FF"/>
                </a:solidFill>
                <a:effectLst/>
                <a:highlight>
                  <a:srgbClr val="FFFF00"/>
                </a:highlight>
                <a:latin typeface="宋体" panose="02010600030101010101" pitchFamily="2" charset="-122"/>
                <a:ea typeface="黑体" panose="02010609060101010101" pitchFamily="49" charset="-122"/>
              </a:rPr>
              <a:t>分布</a:t>
            </a:r>
            <a:r>
              <a:rPr lang="zh-CN" altLang="zh-CN" sz="2400" b="0" kern="100" dirty="0">
                <a:solidFill>
                  <a:srgbClr val="000000"/>
                </a:solidFill>
                <a:effectLst/>
                <a:highlight>
                  <a:srgbClr val="FFFF00"/>
                </a:highlight>
                <a:latin typeface="Times New Roman" panose="02020603050405020304" pitchFamily="18" charset="0"/>
                <a:ea typeface="黑体" panose="02010609060101010101" pitchFamily="49" charset="-122"/>
              </a:rPr>
              <a:t>绕组后，线圈组基波、谐波磁势幅值均下降，</a:t>
            </a:r>
            <a:r>
              <a:rPr kumimoji="0" lang="zh-CN" altLang="zh-CN" sz="2400" b="0" i="0" u="none" strike="noStrike" cap="none" normalizeH="0" baseline="0" dirty="0">
                <a:ln>
                  <a:noFill/>
                </a:ln>
                <a:solidFill>
                  <a:srgbClr val="000000"/>
                </a:solidFill>
                <a:effectLst/>
                <a:highlight>
                  <a:srgbClr val="FFFF00"/>
                </a:highlight>
                <a:latin typeface="黑体" panose="02010609060101010101" pitchFamily="49" charset="-122"/>
                <a:ea typeface="黑体" panose="02010609060101010101" pitchFamily="49" charset="-122"/>
                <a:cs typeface="Times New Roman" panose="02020603050405020304" pitchFamily="18" charset="0"/>
              </a:rPr>
              <a:t>下降比例等于</a:t>
            </a:r>
            <a:r>
              <a:rPr kumimoji="0" lang="en-US" altLang="zh-CN" sz="2400" b="0" i="0" u="none" strike="noStrike" cap="none" normalizeH="0" baseline="0" dirty="0">
                <a:ln>
                  <a:noFill/>
                </a:ln>
                <a:solidFill>
                  <a:srgbClr val="000000"/>
                </a:solidFill>
                <a:effectLst/>
                <a:highlight>
                  <a:srgbClr val="FFFF00"/>
                </a:highligh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highlight>
                  <a:srgbClr val="FFFF00"/>
                </a:highligh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FF"/>
                </a:solidFill>
                <a:effectLst/>
                <a:highlight>
                  <a:srgbClr val="FFFF00"/>
                </a:highlight>
                <a:latin typeface="黑体" panose="02010609060101010101" pitchFamily="49" charset="-122"/>
                <a:ea typeface="黑体" panose="02010609060101010101" pitchFamily="49" charset="-122"/>
                <a:cs typeface="Times New Roman" panose="02020603050405020304" pitchFamily="18" charset="0"/>
              </a:rPr>
              <a:t>谐波磁势下降比例远大于基波</a:t>
            </a:r>
            <a:r>
              <a:rPr kumimoji="0" lang="zh-CN" altLang="zh-CN" sz="2400" b="0" i="0" u="none" strike="noStrike" cap="none" normalizeH="0" baseline="0" dirty="0">
                <a:ln>
                  <a:noFill/>
                </a:ln>
                <a:solidFill>
                  <a:srgbClr val="000000"/>
                </a:solidFill>
                <a:effectLst/>
                <a:highlight>
                  <a:srgbClr val="FFFF00"/>
                </a:highlight>
                <a:latin typeface="黑体" panose="02010609060101010101" pitchFamily="49" charset="-122"/>
                <a:ea typeface="黑体" panose="02010609060101010101" pitchFamily="49" charset="-122"/>
                <a:cs typeface="Times New Roman" panose="02020603050405020304" pitchFamily="18" charset="0"/>
              </a:rPr>
              <a:t>。合成磁势较接近正弦波。</a:t>
            </a:r>
            <a:endParaRPr kumimoji="0" lang="zh-CN" altLang="zh-CN" sz="2400" b="0" i="0" u="none" strike="noStrike" cap="none" normalizeH="0" baseline="0" dirty="0">
              <a:ln>
                <a:noFill/>
              </a:ln>
              <a:solidFill>
                <a:schemeClr val="tx1"/>
              </a:solidFill>
              <a:effectLst/>
              <a:highlight>
                <a:srgbClr val="FFFF00"/>
              </a:highlight>
              <a:latin typeface="Arial" panose="020B0604020202020204" pitchFamily="34" charset="0"/>
            </a:endParaRPr>
          </a:p>
        </p:txBody>
      </p:sp>
      <p:graphicFrame>
        <p:nvGraphicFramePr>
          <p:cNvPr id="30" name="对象 29">
            <a:extLst>
              <a:ext uri="{FF2B5EF4-FFF2-40B4-BE49-F238E27FC236}">
                <a16:creationId xmlns:a16="http://schemas.microsoft.com/office/drawing/2014/main" id="{3EF771D3-D182-9432-C709-37B1E10E1405}"/>
              </a:ext>
            </a:extLst>
          </p:cNvPr>
          <p:cNvGraphicFramePr>
            <a:graphicFrameLocks noChangeAspect="1"/>
          </p:cNvGraphicFramePr>
          <p:nvPr>
            <p:extLst>
              <p:ext uri="{D42A27DB-BD31-4B8C-83A1-F6EECF244321}">
                <p14:modId xmlns:p14="http://schemas.microsoft.com/office/powerpoint/2010/main" val="1626716689"/>
              </p:ext>
            </p:extLst>
          </p:nvPr>
        </p:nvGraphicFramePr>
        <p:xfrm>
          <a:off x="3467298" y="5539307"/>
          <a:ext cx="528638" cy="528638"/>
        </p:xfrm>
        <a:graphic>
          <a:graphicData uri="http://schemas.openxmlformats.org/presentationml/2006/ole">
            <mc:AlternateContent xmlns:mc="http://schemas.openxmlformats.org/markup-compatibility/2006">
              <mc:Choice xmlns:v="urn:schemas-microsoft-com:vml" Requires="v">
                <p:oleObj name="Equation" r:id="rId17" imgW="241195" imgH="241195" progId="Equation.DSMT4">
                  <p:embed/>
                </p:oleObj>
              </mc:Choice>
              <mc:Fallback>
                <p:oleObj name="Equation" r:id="rId17" imgW="241195" imgH="241195" progId="Equation.DSMT4">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67298" y="5539307"/>
                        <a:ext cx="528638" cy="528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箭头: 右 31">
            <a:extLst>
              <a:ext uri="{FF2B5EF4-FFF2-40B4-BE49-F238E27FC236}">
                <a16:creationId xmlns:a16="http://schemas.microsoft.com/office/drawing/2014/main" id="{0F50FF3D-65FA-1A0F-8413-C630ABF340BE}"/>
              </a:ext>
            </a:extLst>
          </p:cNvPr>
          <p:cNvSpPr/>
          <p:nvPr/>
        </p:nvSpPr>
        <p:spPr>
          <a:xfrm>
            <a:off x="5656607" y="3387313"/>
            <a:ext cx="364534" cy="2537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灯片编号占位符 4">
            <a:extLst>
              <a:ext uri="{FF2B5EF4-FFF2-40B4-BE49-F238E27FC236}">
                <a16:creationId xmlns:a16="http://schemas.microsoft.com/office/drawing/2014/main" id="{9D2CF9D2-B196-B062-2D02-F20AE198A799}"/>
              </a:ext>
            </a:extLst>
          </p:cNvPr>
          <p:cNvSpPr>
            <a:spLocks noGrp="1"/>
          </p:cNvSpPr>
          <p:nvPr>
            <p:ph type="sldNum" sz="quarter" idx="12"/>
          </p:nvPr>
        </p:nvSpPr>
        <p:spPr/>
        <p:txBody>
          <a:bodyPr/>
          <a:lstStyle/>
          <a:p>
            <a:fld id="{76D830B0-DF59-4281-898F-AF208100B213}" type="slidenum">
              <a:rPr lang="en-US" altLang="zh-CN" smtClean="0"/>
              <a:pPr/>
              <a:t>28</a:t>
            </a:fld>
            <a:endParaRPr lang="en-US" altLang="zh-CN"/>
          </a:p>
        </p:txBody>
      </p:sp>
    </p:spTree>
    <p:extLst>
      <p:ext uri="{BB962C8B-B14F-4D97-AF65-F5344CB8AC3E}">
        <p14:creationId xmlns:p14="http://schemas.microsoft.com/office/powerpoint/2010/main" val="3781195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9">
            <a:extLst>
              <a:ext uri="{FF2B5EF4-FFF2-40B4-BE49-F238E27FC236}">
                <a16:creationId xmlns:a16="http://schemas.microsoft.com/office/drawing/2014/main" id="{75F0A4D6-8FB0-F4B9-57DA-F5080B13C0A3}"/>
              </a:ext>
            </a:extLst>
          </p:cNvPr>
          <p:cNvSpPr>
            <a:spLocks noChangeArrowheads="1"/>
          </p:cNvSpPr>
          <p:nvPr/>
        </p:nvSpPr>
        <p:spPr bwMode="auto">
          <a:xfrm>
            <a:off x="269776" y="980728"/>
            <a:ext cx="69665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609600" eaLnBrk="0" hangingPunct="0">
              <a:tabLst>
                <a:tab pos="228600" algn="l"/>
              </a:tabLst>
              <a:defRPr>
                <a:solidFill>
                  <a:schemeClr val="tx1"/>
                </a:solidFill>
                <a:latin typeface="Arial" panose="020B0604020202020204" pitchFamily="34" charset="0"/>
              </a:defRPr>
            </a:lvl1pPr>
            <a:lvl2pPr eaLnBrk="0" hangingPunct="0">
              <a:tabLst>
                <a:tab pos="228600" algn="l"/>
              </a:tabLst>
              <a:defRPr>
                <a:solidFill>
                  <a:schemeClr val="tx1"/>
                </a:solidFill>
                <a:latin typeface="Arial" panose="020B0604020202020204" pitchFamily="34" charset="0"/>
              </a:defRPr>
            </a:lvl2pPr>
            <a:lvl3pPr eaLnBrk="0" hangingPunct="0">
              <a:tabLst>
                <a:tab pos="228600" algn="l"/>
              </a:tabLst>
              <a:defRPr>
                <a:solidFill>
                  <a:schemeClr val="tx1"/>
                </a:solidFill>
                <a:latin typeface="Arial" panose="020B0604020202020204" pitchFamily="34" charset="0"/>
              </a:defRPr>
            </a:lvl3pPr>
            <a:lvl4pPr eaLnBrk="0" hangingPunct="0">
              <a:tabLst>
                <a:tab pos="228600" algn="l"/>
              </a:tabLst>
              <a:defRPr>
                <a:solidFill>
                  <a:schemeClr val="tx1"/>
                </a:solidFill>
                <a:latin typeface="Arial" panose="020B0604020202020204" pitchFamily="34" charset="0"/>
              </a:defRPr>
            </a:lvl4pPr>
            <a:lvl5pPr eaLnBrk="0" hangingPunct="0">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tabLst>
                <a:tab pos="228600" algn="l"/>
              </a:tabLst>
            </a:pPr>
            <a:r>
              <a:rPr lang="en-US" altLang="zh-CN"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、双</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层</a:t>
            </a:r>
            <a:r>
              <a:rPr lang="zh-CN" altLang="zh-CN" sz="2400" b="1" kern="100" dirty="0">
                <a:solidFill>
                  <a:srgbClr val="FF00FF"/>
                </a:solidFill>
                <a:effectLst/>
                <a:latin typeface="Times New Roman" panose="02020603050405020304" pitchFamily="18" charset="0"/>
                <a:ea typeface="黑体" panose="02010609060101010101" pitchFamily="49" charset="-122"/>
                <a:cs typeface="Times New Roman" panose="02020603050405020304" pitchFamily="18" charset="0"/>
              </a:rPr>
              <a:t>短距</a:t>
            </a: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分布</a:t>
            </a:r>
            <a:r>
              <a:rPr lang="zh-CN" altLang="zh-CN"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绕组</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→进一步抑制高次谐波</a:t>
            </a:r>
            <a:endParaRPr kumimoji="0" lang="zh-CN" altLang="zh-CN" sz="400" b="1" i="0" u="none" strike="noStrike" cap="none" normalizeH="0" baseline="0" dirty="0">
              <a:ln>
                <a:noFill/>
              </a:ln>
              <a:solidFill>
                <a:schemeClr val="tx1"/>
              </a:solidFill>
              <a:effectLst/>
            </a:endParaRPr>
          </a:p>
        </p:txBody>
      </p:sp>
      <p:graphicFrame>
        <p:nvGraphicFramePr>
          <p:cNvPr id="3" name="对象 2">
            <a:extLst>
              <a:ext uri="{FF2B5EF4-FFF2-40B4-BE49-F238E27FC236}">
                <a16:creationId xmlns:a16="http://schemas.microsoft.com/office/drawing/2014/main" id="{A542C9FF-9211-14EA-FD25-7087F68EFA08}"/>
              </a:ext>
            </a:extLst>
          </p:cNvPr>
          <p:cNvGraphicFramePr>
            <a:graphicFrameLocks noChangeAspect="1"/>
          </p:cNvGraphicFramePr>
          <p:nvPr>
            <p:extLst>
              <p:ext uri="{D42A27DB-BD31-4B8C-83A1-F6EECF244321}">
                <p14:modId xmlns:p14="http://schemas.microsoft.com/office/powerpoint/2010/main" val="1171709612"/>
              </p:ext>
            </p:extLst>
          </p:nvPr>
        </p:nvGraphicFramePr>
        <p:xfrm>
          <a:off x="971600" y="1628800"/>
          <a:ext cx="7043738" cy="4946465"/>
        </p:xfrm>
        <a:graphic>
          <a:graphicData uri="http://schemas.openxmlformats.org/presentationml/2006/ole">
            <mc:AlternateContent xmlns:mc="http://schemas.openxmlformats.org/markup-compatibility/2006">
              <mc:Choice xmlns:v="urn:schemas-microsoft-com:vml" Requires="v">
                <p:oleObj r:id="rId3" imgW="2873375" imgH="2406650" progId="MSDraw">
                  <p:embed/>
                </p:oleObj>
              </mc:Choice>
              <mc:Fallback>
                <p:oleObj r:id="rId3" imgW="2873375" imgH="2406650" progId="MSDraw">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1628800"/>
                        <a:ext cx="7043738" cy="4946465"/>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76414A1C-8E2D-8EFC-FE9E-CFC73F775BB7}"/>
              </a:ext>
            </a:extLst>
          </p:cNvPr>
          <p:cNvSpPr>
            <a:spLocks noGrp="1"/>
          </p:cNvSpPr>
          <p:nvPr>
            <p:ph type="sldNum" sz="quarter" idx="12"/>
          </p:nvPr>
        </p:nvSpPr>
        <p:spPr/>
        <p:txBody>
          <a:bodyPr/>
          <a:lstStyle/>
          <a:p>
            <a:fld id="{76D830B0-DF59-4281-898F-AF208100B213}" type="slidenum">
              <a:rPr lang="en-US" altLang="zh-CN" smtClean="0"/>
              <a:pPr/>
              <a:t>29</a:t>
            </a:fld>
            <a:endParaRPr lang="en-US" altLang="zh-CN"/>
          </a:p>
        </p:txBody>
      </p:sp>
    </p:spTree>
    <p:extLst>
      <p:ext uri="{BB962C8B-B14F-4D97-AF65-F5344CB8AC3E}">
        <p14:creationId xmlns:p14="http://schemas.microsoft.com/office/powerpoint/2010/main" val="2945229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3EFD958A-8FD9-519E-4EB4-77DED83ABEFC}"/>
              </a:ext>
            </a:extLst>
          </p:cNvPr>
          <p:cNvGraphicFramePr>
            <a:graphicFrameLocks noChangeAspect="1"/>
          </p:cNvGraphicFramePr>
          <p:nvPr>
            <p:extLst>
              <p:ext uri="{D42A27DB-BD31-4B8C-83A1-F6EECF244321}">
                <p14:modId xmlns:p14="http://schemas.microsoft.com/office/powerpoint/2010/main" val="2251331246"/>
              </p:ext>
            </p:extLst>
          </p:nvPr>
        </p:nvGraphicFramePr>
        <p:xfrm>
          <a:off x="1255713" y="1125538"/>
          <a:ext cx="6815137" cy="4524375"/>
        </p:xfrm>
        <a:graphic>
          <a:graphicData uri="http://schemas.openxmlformats.org/presentationml/2006/ole">
            <mc:AlternateContent xmlns:mc="http://schemas.openxmlformats.org/markup-compatibility/2006">
              <mc:Choice xmlns:v="urn:schemas-microsoft-com:vml" Requires="v">
                <p:oleObj r:id="rId3" imgW="2844800" imgH="1892300" progId="MSDraw">
                  <p:embed/>
                </p:oleObj>
              </mc:Choice>
              <mc:Fallback>
                <p:oleObj r:id="rId3" imgW="2844800" imgH="1892300" progId="MSDraw">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5713" y="1125538"/>
                        <a:ext cx="6815137" cy="452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a:extLst>
              <a:ext uri="{FF2B5EF4-FFF2-40B4-BE49-F238E27FC236}">
                <a16:creationId xmlns:a16="http://schemas.microsoft.com/office/drawing/2014/main" id="{8732FA0B-DC07-2AE3-3AC0-042643DCA092}"/>
              </a:ext>
            </a:extLst>
          </p:cNvPr>
          <p:cNvSpPr>
            <a:spLocks noChangeArrowheads="1"/>
          </p:cNvSpPr>
          <p:nvPr/>
        </p:nvSpPr>
        <p:spPr bwMode="auto">
          <a:xfrm>
            <a:off x="1422399" y="5805264"/>
            <a:ext cx="67500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相当于两个错开</a:t>
            </a:r>
            <a:r>
              <a:rPr kumimoji="0" lang="el-GR" altLang="zh-CN"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ε</a:t>
            </a:r>
            <a:r>
              <a:rPr kumimoji="0" lang="zh-CN" altLang="en-US"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电角度的单层绕组磁势的合成。</a:t>
            </a:r>
            <a:endParaRPr kumimoji="0" lang="zh-CN" altLang="en-US" sz="1800" b="1"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endParaRPr>
          </a:p>
        </p:txBody>
      </p:sp>
      <p:sp>
        <p:nvSpPr>
          <p:cNvPr id="6" name="箭头: 右 5">
            <a:extLst>
              <a:ext uri="{FF2B5EF4-FFF2-40B4-BE49-F238E27FC236}">
                <a16:creationId xmlns:a16="http://schemas.microsoft.com/office/drawing/2014/main" id="{D6682492-FD6A-AD48-319A-9465FA7EFE33}"/>
              </a:ext>
            </a:extLst>
          </p:cNvPr>
          <p:cNvSpPr/>
          <p:nvPr/>
        </p:nvSpPr>
        <p:spPr>
          <a:xfrm>
            <a:off x="629605" y="5877271"/>
            <a:ext cx="666824" cy="3176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a:extLst>
              <a:ext uri="{FF2B5EF4-FFF2-40B4-BE49-F238E27FC236}">
                <a16:creationId xmlns:a16="http://schemas.microsoft.com/office/drawing/2014/main" id="{1B440657-52D1-2E13-36AB-73F272BD9C65}"/>
              </a:ext>
            </a:extLst>
          </p:cNvPr>
          <p:cNvSpPr>
            <a:spLocks noGrp="1"/>
          </p:cNvSpPr>
          <p:nvPr>
            <p:ph type="sldNum" sz="quarter" idx="12"/>
          </p:nvPr>
        </p:nvSpPr>
        <p:spPr/>
        <p:txBody>
          <a:bodyPr/>
          <a:lstStyle/>
          <a:p>
            <a:fld id="{76D830B0-DF59-4281-898F-AF208100B213}" type="slidenum">
              <a:rPr lang="en-US" altLang="zh-CN" smtClean="0"/>
              <a:pPr/>
              <a:t>30</a:t>
            </a:fld>
            <a:endParaRPr lang="en-US" altLang="zh-CN"/>
          </a:p>
        </p:txBody>
      </p:sp>
    </p:spTree>
    <p:extLst>
      <p:ext uri="{BB962C8B-B14F-4D97-AF65-F5344CB8AC3E}">
        <p14:creationId xmlns:p14="http://schemas.microsoft.com/office/powerpoint/2010/main" val="914274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2F25659-C21B-7E4B-4B24-3584313689E3}"/>
              </a:ext>
            </a:extLst>
          </p:cNvPr>
          <p:cNvSpPr>
            <a:spLocks noChangeArrowheads="1"/>
          </p:cNvSpPr>
          <p:nvPr/>
        </p:nvSpPr>
        <p:spPr bwMode="auto">
          <a:xfrm>
            <a:off x="685418" y="1179805"/>
            <a:ext cx="53896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短距角</a:t>
            </a:r>
            <a:r>
              <a:rPr kumimoji="0" lang="el-GR" altLang="zh-CN" sz="2400" b="1" i="1" u="none" strike="noStrike" cap="none" normalizeH="0" baseline="0" dirty="0">
                <a:ln>
                  <a:noFill/>
                </a:ln>
                <a:effectLst/>
                <a:latin typeface="Times New Roman" panose="02020603050405020304" pitchFamily="18" charset="0"/>
                <a:ea typeface="黑体" panose="02010609060101010101" pitchFamily="49" charset="-122"/>
                <a:cs typeface="Times New Roman" panose="02020603050405020304" pitchFamily="18" charset="0"/>
              </a:rPr>
              <a:t>ε</a:t>
            </a:r>
            <a:r>
              <a:rPr kumimoji="0" lang="el-GR" altLang="zh-CN" sz="2400" b="1" i="1"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：极距</a:t>
            </a:r>
            <a:r>
              <a:rPr kumimoji="0" lang="zh-CN" altLang="zh-CN" sz="2400" b="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τ</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与线圈跨距</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y1</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之差：</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 name="对象 2">
            <a:extLst>
              <a:ext uri="{FF2B5EF4-FFF2-40B4-BE49-F238E27FC236}">
                <a16:creationId xmlns:a16="http://schemas.microsoft.com/office/drawing/2014/main" id="{3C973593-0BB7-EDA4-F20D-B43256F5037A}"/>
              </a:ext>
            </a:extLst>
          </p:cNvPr>
          <p:cNvGraphicFramePr>
            <a:graphicFrameLocks noChangeAspect="1"/>
          </p:cNvGraphicFramePr>
          <p:nvPr>
            <p:extLst>
              <p:ext uri="{D42A27DB-BD31-4B8C-83A1-F6EECF244321}">
                <p14:modId xmlns:p14="http://schemas.microsoft.com/office/powerpoint/2010/main" val="2739293395"/>
              </p:ext>
            </p:extLst>
          </p:nvPr>
        </p:nvGraphicFramePr>
        <p:xfrm>
          <a:off x="2663788" y="1741035"/>
          <a:ext cx="3312368" cy="848355"/>
        </p:xfrm>
        <a:graphic>
          <a:graphicData uri="http://schemas.openxmlformats.org/presentationml/2006/ole">
            <mc:AlternateContent xmlns:mc="http://schemas.openxmlformats.org/markup-compatibility/2006">
              <mc:Choice xmlns:v="urn:schemas-microsoft-com:vml" Requires="v">
                <p:oleObj name="Equation" r:id="rId3" imgW="1676160" imgH="431640" progId="Equation.DSMT4">
                  <p:embed/>
                </p:oleObj>
              </mc:Choice>
              <mc:Fallback>
                <p:oleObj name="Equation" r:id="rId3" imgW="1676160" imgH="431640" progId="Equation.DSMT4">
                  <p:embed/>
                  <p:pic>
                    <p:nvPicPr>
                      <p:cNvPr id="0" name="Object 1"/>
                      <p:cNvPicPr>
                        <a:picLocks noChangeAspect="1" noChangeArrowheads="1"/>
                      </p:cNvPicPr>
                      <p:nvPr/>
                    </p:nvPicPr>
                    <p:blipFill>
                      <a:blip r:embed="rId4"/>
                      <a:srcRect/>
                      <a:stretch>
                        <a:fillRect/>
                      </a:stretch>
                    </p:blipFill>
                    <p:spPr bwMode="auto">
                      <a:xfrm>
                        <a:off x="2663788" y="1741035"/>
                        <a:ext cx="3312368" cy="848355"/>
                      </a:xfrm>
                      <a:prstGeom prst="rect">
                        <a:avLst/>
                      </a:prstGeom>
                      <a:noFill/>
                    </p:spPr>
                  </p:pic>
                </p:oleObj>
              </mc:Fallback>
            </mc:AlternateContent>
          </a:graphicData>
        </a:graphic>
      </p:graphicFrame>
      <p:sp>
        <p:nvSpPr>
          <p:cNvPr id="7" name="Rectangle 4">
            <a:extLst>
              <a:ext uri="{FF2B5EF4-FFF2-40B4-BE49-F238E27FC236}">
                <a16:creationId xmlns:a16="http://schemas.microsoft.com/office/drawing/2014/main" id="{1DE9738D-FC24-C2BA-CB83-DF78E1107B73}"/>
              </a:ext>
            </a:extLst>
          </p:cNvPr>
          <p:cNvSpPr>
            <a:spLocks noChangeArrowheads="1"/>
          </p:cNvSpPr>
          <p:nvPr/>
        </p:nvSpPr>
        <p:spPr bwMode="auto">
          <a:xfrm>
            <a:off x="717168" y="2752327"/>
            <a:ext cx="176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基波磁势</a:t>
            </a:r>
            <a:r>
              <a:rPr kumimoji="0" lang="zh-CN" altLang="en-US" sz="2400" b="0"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rgbClr val="0000FF"/>
              </a:solidFill>
              <a:effectLst/>
              <a:latin typeface="Arial" panose="020B0604020202020204" pitchFamily="34" charset="0"/>
            </a:endParaRPr>
          </a:p>
        </p:txBody>
      </p:sp>
      <p:graphicFrame>
        <p:nvGraphicFramePr>
          <p:cNvPr id="8" name="对象 7">
            <a:extLst>
              <a:ext uri="{FF2B5EF4-FFF2-40B4-BE49-F238E27FC236}">
                <a16:creationId xmlns:a16="http://schemas.microsoft.com/office/drawing/2014/main" id="{AC0CA046-B4D7-EC99-EE71-83D98C2EE343}"/>
              </a:ext>
            </a:extLst>
          </p:cNvPr>
          <p:cNvGraphicFramePr>
            <a:graphicFrameLocks noChangeAspect="1"/>
          </p:cNvGraphicFramePr>
          <p:nvPr>
            <p:extLst>
              <p:ext uri="{D42A27DB-BD31-4B8C-83A1-F6EECF244321}">
                <p14:modId xmlns:p14="http://schemas.microsoft.com/office/powerpoint/2010/main" val="2958866571"/>
              </p:ext>
            </p:extLst>
          </p:nvPr>
        </p:nvGraphicFramePr>
        <p:xfrm>
          <a:off x="2483768" y="2595398"/>
          <a:ext cx="3672408" cy="771058"/>
        </p:xfrm>
        <a:graphic>
          <a:graphicData uri="http://schemas.openxmlformats.org/presentationml/2006/ole">
            <mc:AlternateContent xmlns:mc="http://schemas.openxmlformats.org/markup-compatibility/2006">
              <mc:Choice xmlns:v="urn:schemas-microsoft-com:vml" Requires="v">
                <p:oleObj name="Equation" r:id="rId5" imgW="1828800" imgH="393700" progId="Equation.DSMT4">
                  <p:embed/>
                </p:oleObj>
              </mc:Choice>
              <mc:Fallback>
                <p:oleObj name="Equation" r:id="rId5" imgW="1828800" imgH="3937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3768" y="2595398"/>
                        <a:ext cx="3672408" cy="771058"/>
                      </a:xfrm>
                      <a:prstGeom prst="rect">
                        <a:avLst/>
                      </a:prstGeom>
                      <a:noFill/>
                    </p:spPr>
                  </p:pic>
                </p:oleObj>
              </mc:Fallback>
            </mc:AlternateContent>
          </a:graphicData>
        </a:graphic>
      </p:graphicFrame>
      <p:sp>
        <p:nvSpPr>
          <p:cNvPr id="9" name="Rectangle 6">
            <a:extLst>
              <a:ext uri="{FF2B5EF4-FFF2-40B4-BE49-F238E27FC236}">
                <a16:creationId xmlns:a16="http://schemas.microsoft.com/office/drawing/2014/main" id="{1CAB4503-408A-3ED1-09E7-415DA19D076B}"/>
              </a:ext>
            </a:extLst>
          </p:cNvPr>
          <p:cNvSpPr>
            <a:spLocks noChangeArrowheads="1"/>
          </p:cNvSpPr>
          <p:nvPr/>
        </p:nvSpPr>
        <p:spPr bwMode="auto">
          <a:xfrm>
            <a:off x="717169" y="3543182"/>
            <a:ext cx="24482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基波短距系数：</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0" name="对象 9">
            <a:extLst>
              <a:ext uri="{FF2B5EF4-FFF2-40B4-BE49-F238E27FC236}">
                <a16:creationId xmlns:a16="http://schemas.microsoft.com/office/drawing/2014/main" id="{048C0A19-B4CC-4988-BF58-27C6D8BBF618}"/>
              </a:ext>
            </a:extLst>
          </p:cNvPr>
          <p:cNvGraphicFramePr>
            <a:graphicFrameLocks noChangeAspect="1"/>
          </p:cNvGraphicFramePr>
          <p:nvPr>
            <p:extLst>
              <p:ext uri="{D42A27DB-BD31-4B8C-83A1-F6EECF244321}">
                <p14:modId xmlns:p14="http://schemas.microsoft.com/office/powerpoint/2010/main" val="4029516210"/>
              </p:ext>
            </p:extLst>
          </p:nvPr>
        </p:nvGraphicFramePr>
        <p:xfrm>
          <a:off x="2949416" y="3366820"/>
          <a:ext cx="1481138" cy="814388"/>
        </p:xfrm>
        <a:graphic>
          <a:graphicData uri="http://schemas.openxmlformats.org/presentationml/2006/ole">
            <mc:AlternateContent xmlns:mc="http://schemas.openxmlformats.org/markup-compatibility/2006">
              <mc:Choice xmlns:v="urn:schemas-microsoft-com:vml" Requires="v">
                <p:oleObj name="Equation" r:id="rId7" imgW="710891" imgH="393529" progId="Equation.DSMT4">
                  <p:embed/>
                </p:oleObj>
              </mc:Choice>
              <mc:Fallback>
                <p:oleObj name="Equation" r:id="rId7" imgW="710891" imgH="393529"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9416" y="3366820"/>
                        <a:ext cx="1481138" cy="814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9">
            <a:extLst>
              <a:ext uri="{FF2B5EF4-FFF2-40B4-BE49-F238E27FC236}">
                <a16:creationId xmlns:a16="http://schemas.microsoft.com/office/drawing/2014/main" id="{BDD12C63-7D45-B245-A774-2F3D4F15057E}"/>
              </a:ext>
            </a:extLst>
          </p:cNvPr>
          <p:cNvSpPr>
            <a:spLocks noChangeArrowheads="1"/>
          </p:cNvSpPr>
          <p:nvPr/>
        </p:nvSpPr>
        <p:spPr bwMode="auto">
          <a:xfrm>
            <a:off x="717168" y="4312554"/>
            <a:ext cx="331236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V</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次谐波短距系数：</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3" name="对象 12">
            <a:extLst>
              <a:ext uri="{FF2B5EF4-FFF2-40B4-BE49-F238E27FC236}">
                <a16:creationId xmlns:a16="http://schemas.microsoft.com/office/drawing/2014/main" id="{7BD4C5C7-83A0-53A4-F677-71EE7C2FBB7B}"/>
              </a:ext>
            </a:extLst>
          </p:cNvPr>
          <p:cNvGraphicFramePr>
            <a:graphicFrameLocks noChangeAspect="1"/>
          </p:cNvGraphicFramePr>
          <p:nvPr>
            <p:extLst>
              <p:ext uri="{D42A27DB-BD31-4B8C-83A1-F6EECF244321}">
                <p14:modId xmlns:p14="http://schemas.microsoft.com/office/powerpoint/2010/main" val="1587106119"/>
              </p:ext>
            </p:extLst>
          </p:nvPr>
        </p:nvGraphicFramePr>
        <p:xfrm>
          <a:off x="3426129" y="4122018"/>
          <a:ext cx="1728788" cy="819150"/>
        </p:xfrm>
        <a:graphic>
          <a:graphicData uri="http://schemas.openxmlformats.org/presentationml/2006/ole">
            <mc:AlternateContent xmlns:mc="http://schemas.openxmlformats.org/markup-compatibility/2006">
              <mc:Choice xmlns:v="urn:schemas-microsoft-com:vml" Requires="v">
                <p:oleObj name="Equation" r:id="rId9" imgW="825500" imgH="393700" progId="Equation.DSMT4">
                  <p:embed/>
                </p:oleObj>
              </mc:Choice>
              <mc:Fallback>
                <p:oleObj name="Equation" r:id="rId9" imgW="825500" imgH="3937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6129" y="4122018"/>
                        <a:ext cx="1728788"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a:extLst>
              <a:ext uri="{FF2B5EF4-FFF2-40B4-BE49-F238E27FC236}">
                <a16:creationId xmlns:a16="http://schemas.microsoft.com/office/drawing/2014/main" id="{FB56CD34-E97A-FFD7-6A30-D1DC78BB227F}"/>
              </a:ext>
            </a:extLst>
          </p:cNvPr>
          <p:cNvGraphicFramePr>
            <a:graphicFrameLocks noChangeAspect="1"/>
          </p:cNvGraphicFramePr>
          <p:nvPr>
            <p:extLst>
              <p:ext uri="{D42A27DB-BD31-4B8C-83A1-F6EECF244321}">
                <p14:modId xmlns:p14="http://schemas.microsoft.com/office/powerpoint/2010/main" val="1739587310"/>
              </p:ext>
            </p:extLst>
          </p:nvPr>
        </p:nvGraphicFramePr>
        <p:xfrm>
          <a:off x="6543758" y="3531472"/>
          <a:ext cx="1328738" cy="481013"/>
        </p:xfrm>
        <a:graphic>
          <a:graphicData uri="http://schemas.openxmlformats.org/presentationml/2006/ole">
            <mc:AlternateContent xmlns:mc="http://schemas.openxmlformats.org/markup-compatibility/2006">
              <mc:Choice xmlns:v="urn:schemas-microsoft-com:vml" Requires="v">
                <p:oleObj name="Equation" r:id="rId11" imgW="660113" imgH="241195" progId="Equation.DSMT4">
                  <p:embed/>
                </p:oleObj>
              </mc:Choice>
              <mc:Fallback>
                <p:oleObj name="Equation" r:id="rId11" imgW="660113" imgH="241195"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43758" y="3531472"/>
                        <a:ext cx="1328738"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文本框 18">
            <a:extLst>
              <a:ext uri="{FF2B5EF4-FFF2-40B4-BE49-F238E27FC236}">
                <a16:creationId xmlns:a16="http://schemas.microsoft.com/office/drawing/2014/main" id="{62F57D7A-7306-E641-C08F-204A94D204DB}"/>
              </a:ext>
            </a:extLst>
          </p:cNvPr>
          <p:cNvSpPr txBox="1"/>
          <p:nvPr/>
        </p:nvSpPr>
        <p:spPr>
          <a:xfrm>
            <a:off x="5796136" y="3531472"/>
            <a:ext cx="2844316" cy="1200329"/>
          </a:xfrm>
          <a:prstGeom prst="rect">
            <a:avLst/>
          </a:prstGeom>
          <a:noFill/>
        </p:spPr>
        <p:txBody>
          <a:bodyPr wrap="square">
            <a:spAutoFit/>
          </a:bodyPr>
          <a:lstStyle/>
          <a:p>
            <a:r>
              <a:rPr lang="zh-CN" altLang="en-US" sz="2400" dirty="0">
                <a:solidFill>
                  <a:srgbClr val="0000FF"/>
                </a:solidFill>
                <a:latin typeface="黑体" panose="02010609060101010101" pitchFamily="49" charset="-122"/>
                <a:ea typeface="黑体" panose="02010609060101010101" pitchFamily="49" charset="-122"/>
                <a:cs typeface="Times New Roman" panose="02020603050405020304" pitchFamily="18" charset="0"/>
              </a:rPr>
              <a:t>注意         ，</a:t>
            </a:r>
            <a:r>
              <a:rPr kumimoji="0" lang="zh-CN" altLang="zh-CN" sz="2400" b="0"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高次谐波磁势被进一步减小。</a:t>
            </a:r>
            <a:endParaRPr lang="zh-CN" altLang="en-US" sz="2400" dirty="0">
              <a:solidFill>
                <a:srgbClr val="0000FF"/>
              </a:solidFill>
            </a:endParaRPr>
          </a:p>
        </p:txBody>
      </p:sp>
      <p:sp>
        <p:nvSpPr>
          <p:cNvPr id="20" name="箭头: 右 19">
            <a:extLst>
              <a:ext uri="{FF2B5EF4-FFF2-40B4-BE49-F238E27FC236}">
                <a16:creationId xmlns:a16="http://schemas.microsoft.com/office/drawing/2014/main" id="{327AD06E-E596-58B2-4986-69DF32EADE71}"/>
              </a:ext>
            </a:extLst>
          </p:cNvPr>
          <p:cNvSpPr/>
          <p:nvPr/>
        </p:nvSpPr>
        <p:spPr>
          <a:xfrm>
            <a:off x="5076056" y="3761978"/>
            <a:ext cx="648072" cy="3596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1" name="对象 20">
            <a:extLst>
              <a:ext uri="{FF2B5EF4-FFF2-40B4-BE49-F238E27FC236}">
                <a16:creationId xmlns:a16="http://schemas.microsoft.com/office/drawing/2014/main" id="{3B4F0DB9-81ED-7276-8B40-40E60200BDE7}"/>
              </a:ext>
            </a:extLst>
          </p:cNvPr>
          <p:cNvGraphicFramePr>
            <a:graphicFrameLocks noChangeAspect="1"/>
          </p:cNvGraphicFramePr>
          <p:nvPr>
            <p:extLst>
              <p:ext uri="{D42A27DB-BD31-4B8C-83A1-F6EECF244321}">
                <p14:modId xmlns:p14="http://schemas.microsoft.com/office/powerpoint/2010/main" val="148475667"/>
              </p:ext>
            </p:extLst>
          </p:nvPr>
        </p:nvGraphicFramePr>
        <p:xfrm>
          <a:off x="1978353" y="5002178"/>
          <a:ext cx="1656226" cy="461665"/>
        </p:xfrm>
        <a:graphic>
          <a:graphicData uri="http://schemas.openxmlformats.org/presentationml/2006/ole">
            <mc:AlternateContent xmlns:mc="http://schemas.openxmlformats.org/markup-compatibility/2006">
              <mc:Choice xmlns:v="urn:schemas-microsoft-com:vml" Requires="v">
                <p:oleObj name="Equation" r:id="rId13" imgW="774364" imgH="215806" progId="Equation.DSMT4">
                  <p:embed/>
                </p:oleObj>
              </mc:Choice>
              <mc:Fallback>
                <p:oleObj name="Equation" r:id="rId13" imgW="774364" imgH="215806" progId="Equation.DSMT4">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78353" y="5002178"/>
                        <a:ext cx="1656226" cy="461665"/>
                      </a:xfrm>
                      <a:prstGeom prst="rect">
                        <a:avLst/>
                      </a:prstGeom>
                      <a:noFill/>
                    </p:spPr>
                  </p:pic>
                </p:oleObj>
              </mc:Fallback>
            </mc:AlternateContent>
          </a:graphicData>
        </a:graphic>
      </p:graphicFrame>
      <p:graphicFrame>
        <p:nvGraphicFramePr>
          <p:cNvPr id="22" name="对象 21">
            <a:extLst>
              <a:ext uri="{FF2B5EF4-FFF2-40B4-BE49-F238E27FC236}">
                <a16:creationId xmlns:a16="http://schemas.microsoft.com/office/drawing/2014/main" id="{8167A2BC-0051-5992-3EA1-31DC78E55624}"/>
              </a:ext>
            </a:extLst>
          </p:cNvPr>
          <p:cNvGraphicFramePr>
            <a:graphicFrameLocks noChangeAspect="1"/>
          </p:cNvGraphicFramePr>
          <p:nvPr>
            <p:extLst>
              <p:ext uri="{D42A27DB-BD31-4B8C-83A1-F6EECF244321}">
                <p14:modId xmlns:p14="http://schemas.microsoft.com/office/powerpoint/2010/main" val="513021208"/>
              </p:ext>
            </p:extLst>
          </p:nvPr>
        </p:nvGraphicFramePr>
        <p:xfrm>
          <a:off x="892175" y="5707368"/>
          <a:ext cx="1416050" cy="523875"/>
        </p:xfrm>
        <a:graphic>
          <a:graphicData uri="http://schemas.openxmlformats.org/presentationml/2006/ole">
            <mc:AlternateContent xmlns:mc="http://schemas.openxmlformats.org/markup-compatibility/2006">
              <mc:Choice xmlns:v="urn:schemas-microsoft-com:vml" Requires="v">
                <p:oleObj name="Equation" r:id="rId15" imgW="647640" imgH="241200" progId="Equation.DSMT4">
                  <p:embed/>
                </p:oleObj>
              </mc:Choice>
              <mc:Fallback>
                <p:oleObj name="Equation" r:id="rId15" imgW="647640" imgH="241200" progId="Equation.DSMT4">
                  <p:embed/>
                  <p:pic>
                    <p:nvPicPr>
                      <p:cNvPr id="0" name="Object 17"/>
                      <p:cNvPicPr>
                        <a:picLocks noChangeAspect="1" noChangeArrowheads="1"/>
                      </p:cNvPicPr>
                      <p:nvPr/>
                    </p:nvPicPr>
                    <p:blipFill>
                      <a:blip r:embed="rId16"/>
                      <a:srcRect/>
                      <a:stretch>
                        <a:fillRect/>
                      </a:stretch>
                    </p:blipFill>
                    <p:spPr bwMode="auto">
                      <a:xfrm>
                        <a:off x="892175" y="5707368"/>
                        <a:ext cx="1416050"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a:extLst>
              <a:ext uri="{FF2B5EF4-FFF2-40B4-BE49-F238E27FC236}">
                <a16:creationId xmlns:a16="http://schemas.microsoft.com/office/drawing/2014/main" id="{76F85EB9-18DE-C0A1-8D08-127909C51543}"/>
              </a:ext>
            </a:extLst>
          </p:cNvPr>
          <p:cNvGraphicFramePr>
            <a:graphicFrameLocks noChangeAspect="1"/>
          </p:cNvGraphicFramePr>
          <p:nvPr>
            <p:extLst>
              <p:ext uri="{D42A27DB-BD31-4B8C-83A1-F6EECF244321}">
                <p14:modId xmlns:p14="http://schemas.microsoft.com/office/powerpoint/2010/main" val="4178861490"/>
              </p:ext>
            </p:extLst>
          </p:nvPr>
        </p:nvGraphicFramePr>
        <p:xfrm>
          <a:off x="2615073" y="5670574"/>
          <a:ext cx="1414463" cy="566738"/>
        </p:xfrm>
        <a:graphic>
          <a:graphicData uri="http://schemas.openxmlformats.org/presentationml/2006/ole">
            <mc:AlternateContent xmlns:mc="http://schemas.openxmlformats.org/markup-compatibility/2006">
              <mc:Choice xmlns:v="urn:schemas-microsoft-com:vml" Requires="v">
                <p:oleObj name="Equation" r:id="rId17" imgW="596900" imgH="241300" progId="Equation.DSMT4">
                  <p:embed/>
                </p:oleObj>
              </mc:Choice>
              <mc:Fallback>
                <p:oleObj name="Equation" r:id="rId17" imgW="596900" imgH="241300" progId="Equation.DSMT4">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15073" y="5670574"/>
                        <a:ext cx="1414463" cy="566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a:extLst>
              <a:ext uri="{FF2B5EF4-FFF2-40B4-BE49-F238E27FC236}">
                <a16:creationId xmlns:a16="http://schemas.microsoft.com/office/drawing/2014/main" id="{4EB63B6C-199D-1CB5-94D9-31DEAB132DA3}"/>
              </a:ext>
            </a:extLst>
          </p:cNvPr>
          <p:cNvGraphicFramePr>
            <a:graphicFrameLocks noChangeAspect="1"/>
          </p:cNvGraphicFramePr>
          <p:nvPr>
            <p:extLst>
              <p:ext uri="{D42A27DB-BD31-4B8C-83A1-F6EECF244321}">
                <p14:modId xmlns:p14="http://schemas.microsoft.com/office/powerpoint/2010/main" val="2383305850"/>
              </p:ext>
            </p:extLst>
          </p:nvPr>
        </p:nvGraphicFramePr>
        <p:xfrm>
          <a:off x="4254524" y="5637568"/>
          <a:ext cx="1643063" cy="581025"/>
        </p:xfrm>
        <a:graphic>
          <a:graphicData uri="http://schemas.openxmlformats.org/presentationml/2006/ole">
            <mc:AlternateContent xmlns:mc="http://schemas.openxmlformats.org/markup-compatibility/2006">
              <mc:Choice xmlns:v="urn:schemas-microsoft-com:vml" Requires="v">
                <p:oleObj name="Equation" r:id="rId19" imgW="672808" imgH="241195" progId="Equation.DSMT4">
                  <p:embed/>
                </p:oleObj>
              </mc:Choice>
              <mc:Fallback>
                <p:oleObj name="Equation" r:id="rId19" imgW="672808" imgH="241195" progId="Equation.DSMT4">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54524" y="5637568"/>
                        <a:ext cx="1643063"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对象 24">
            <a:extLst>
              <a:ext uri="{FF2B5EF4-FFF2-40B4-BE49-F238E27FC236}">
                <a16:creationId xmlns:a16="http://schemas.microsoft.com/office/drawing/2014/main" id="{E656FA43-13C5-0BD9-32EC-7B1B62328072}"/>
              </a:ext>
            </a:extLst>
          </p:cNvPr>
          <p:cNvGraphicFramePr>
            <a:graphicFrameLocks noChangeAspect="1"/>
          </p:cNvGraphicFramePr>
          <p:nvPr>
            <p:extLst>
              <p:ext uri="{D42A27DB-BD31-4B8C-83A1-F6EECF244321}">
                <p14:modId xmlns:p14="http://schemas.microsoft.com/office/powerpoint/2010/main" val="146284906"/>
              </p:ext>
            </p:extLst>
          </p:nvPr>
        </p:nvGraphicFramePr>
        <p:xfrm>
          <a:off x="6231814" y="5570843"/>
          <a:ext cx="1952625" cy="628650"/>
        </p:xfrm>
        <a:graphic>
          <a:graphicData uri="http://schemas.openxmlformats.org/presentationml/2006/ole">
            <mc:AlternateContent xmlns:mc="http://schemas.openxmlformats.org/markup-compatibility/2006">
              <mc:Choice xmlns:v="urn:schemas-microsoft-com:vml" Requires="v">
                <p:oleObj name="Equation" r:id="rId21" imgW="749160" imgH="241200" progId="Equation.DSMT4">
                  <p:embed/>
                </p:oleObj>
              </mc:Choice>
              <mc:Fallback>
                <p:oleObj name="Equation" r:id="rId21" imgW="749160" imgH="241200" progId="Equation.DSMT4">
                  <p:embed/>
                  <p:pic>
                    <p:nvPicPr>
                      <p:cNvPr id="0" name="Object 14"/>
                      <p:cNvPicPr>
                        <a:picLocks noChangeAspect="1" noChangeArrowheads="1"/>
                      </p:cNvPicPr>
                      <p:nvPr/>
                    </p:nvPicPr>
                    <p:blipFill>
                      <a:blip r:embed="rId22"/>
                      <a:srcRect/>
                      <a:stretch>
                        <a:fillRect/>
                      </a:stretch>
                    </p:blipFill>
                    <p:spPr bwMode="auto">
                      <a:xfrm>
                        <a:off x="6231814" y="5570843"/>
                        <a:ext cx="1952625"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ectangle 19">
            <a:extLst>
              <a:ext uri="{FF2B5EF4-FFF2-40B4-BE49-F238E27FC236}">
                <a16:creationId xmlns:a16="http://schemas.microsoft.com/office/drawing/2014/main" id="{4A3EE2D3-F582-5D54-D336-35982CEDE91C}"/>
              </a:ext>
            </a:extLst>
          </p:cNvPr>
          <p:cNvSpPr>
            <a:spLocks noChangeArrowheads="1"/>
          </p:cNvSpPr>
          <p:nvPr/>
        </p:nvSpPr>
        <p:spPr bwMode="auto">
          <a:xfrm>
            <a:off x="682209" y="5003708"/>
            <a:ext cx="40318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例如</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：设</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，则：</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 name="灯片编号占位符 4">
            <a:extLst>
              <a:ext uri="{FF2B5EF4-FFF2-40B4-BE49-F238E27FC236}">
                <a16:creationId xmlns:a16="http://schemas.microsoft.com/office/drawing/2014/main" id="{CC370D0F-E8FA-976E-3A2C-357A24370295}"/>
              </a:ext>
            </a:extLst>
          </p:cNvPr>
          <p:cNvSpPr>
            <a:spLocks noGrp="1"/>
          </p:cNvSpPr>
          <p:nvPr>
            <p:ph type="sldNum" sz="quarter" idx="12"/>
          </p:nvPr>
        </p:nvSpPr>
        <p:spPr/>
        <p:txBody>
          <a:bodyPr/>
          <a:lstStyle/>
          <a:p>
            <a:fld id="{76D830B0-DF59-4281-898F-AF208100B213}" type="slidenum">
              <a:rPr lang="en-US" altLang="zh-CN" smtClean="0"/>
              <a:pPr/>
              <a:t>31</a:t>
            </a:fld>
            <a:endParaRPr lang="en-US" altLang="zh-CN"/>
          </a:p>
        </p:txBody>
      </p:sp>
    </p:spTree>
    <p:extLst>
      <p:ext uri="{BB962C8B-B14F-4D97-AF65-F5344CB8AC3E}">
        <p14:creationId xmlns:p14="http://schemas.microsoft.com/office/powerpoint/2010/main" val="7402999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2162D5E1-B3E2-4588-EED9-1D509960C511}"/>
              </a:ext>
            </a:extLst>
          </p:cNvPr>
          <p:cNvSpPr>
            <a:spLocks noChangeArrowheads="1"/>
          </p:cNvSpPr>
          <p:nvPr/>
        </p:nvSpPr>
        <p:spPr bwMode="auto">
          <a:xfrm>
            <a:off x="683568" y="1171600"/>
            <a:ext cx="612068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基波</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短距</a:t>
            </a:r>
            <a:r>
              <a:rPr kumimoji="0" lang="zh-CN" altLang="zh-CN"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分布</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绕组系数</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a:extLst>
              <a:ext uri="{FF2B5EF4-FFF2-40B4-BE49-F238E27FC236}">
                <a16:creationId xmlns:a16="http://schemas.microsoft.com/office/drawing/2014/main" id="{535A5455-2FC7-91D1-8410-2D1E4B2FDE0B}"/>
              </a:ext>
            </a:extLst>
          </p:cNvPr>
          <p:cNvGraphicFramePr>
            <a:graphicFrameLocks noChangeAspect="1"/>
          </p:cNvGraphicFramePr>
          <p:nvPr>
            <p:extLst>
              <p:ext uri="{D42A27DB-BD31-4B8C-83A1-F6EECF244321}">
                <p14:modId xmlns:p14="http://schemas.microsoft.com/office/powerpoint/2010/main" val="955592179"/>
              </p:ext>
            </p:extLst>
          </p:nvPr>
        </p:nvGraphicFramePr>
        <p:xfrm>
          <a:off x="4139464" y="1171600"/>
          <a:ext cx="2224088" cy="471488"/>
        </p:xfrm>
        <a:graphic>
          <a:graphicData uri="http://schemas.openxmlformats.org/presentationml/2006/ole">
            <mc:AlternateContent xmlns:mc="http://schemas.openxmlformats.org/markup-compatibility/2006">
              <mc:Choice xmlns:v="urn:schemas-microsoft-com:vml" Requires="v">
                <p:oleObj name="Equation" r:id="rId3" imgW="1117600" imgH="241300" progId="Equation.DSMT4">
                  <p:embed/>
                </p:oleObj>
              </mc:Choice>
              <mc:Fallback>
                <p:oleObj name="Equation" r:id="rId3" imgW="1117600" imgH="2413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464" y="1171600"/>
                        <a:ext cx="2224088" cy="471488"/>
                      </a:xfrm>
                      <a:prstGeom prst="rect">
                        <a:avLst/>
                      </a:prstGeom>
                      <a:solidFill>
                        <a:srgbClr val="FFCC00"/>
                      </a:solidFill>
                    </p:spPr>
                  </p:pic>
                </p:oleObj>
              </mc:Fallback>
            </mc:AlternateContent>
          </a:graphicData>
        </a:graphic>
      </p:graphicFrame>
      <p:sp>
        <p:nvSpPr>
          <p:cNvPr id="6" name="Rectangle 4">
            <a:extLst>
              <a:ext uri="{FF2B5EF4-FFF2-40B4-BE49-F238E27FC236}">
                <a16:creationId xmlns:a16="http://schemas.microsoft.com/office/drawing/2014/main" id="{9E86CA90-BC2E-C186-8146-4F57DEFAA09E}"/>
              </a:ext>
            </a:extLst>
          </p:cNvPr>
          <p:cNvSpPr>
            <a:spLocks noChangeArrowheads="1"/>
          </p:cNvSpPr>
          <p:nvPr/>
        </p:nvSpPr>
        <p:spPr bwMode="auto">
          <a:xfrm>
            <a:off x="698012" y="1763439"/>
            <a:ext cx="61206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采取</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双层</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短距、分布绕组后，基波磁势</a:t>
            </a:r>
            <a:r>
              <a:rPr lang="zh-CN" altLang="en-US" sz="2400" dirty="0">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endParaRPr>
          </a:p>
        </p:txBody>
      </p:sp>
      <p:graphicFrame>
        <p:nvGraphicFramePr>
          <p:cNvPr id="11" name="对象 10">
            <a:extLst>
              <a:ext uri="{FF2B5EF4-FFF2-40B4-BE49-F238E27FC236}">
                <a16:creationId xmlns:a16="http://schemas.microsoft.com/office/drawing/2014/main" id="{CEC59007-53FB-6262-5414-9747341E6AEB}"/>
              </a:ext>
            </a:extLst>
          </p:cNvPr>
          <p:cNvGraphicFramePr>
            <a:graphicFrameLocks noChangeAspect="1"/>
          </p:cNvGraphicFramePr>
          <p:nvPr>
            <p:extLst>
              <p:ext uri="{D42A27DB-BD31-4B8C-83A1-F6EECF244321}">
                <p14:modId xmlns:p14="http://schemas.microsoft.com/office/powerpoint/2010/main" val="2678547752"/>
              </p:ext>
            </p:extLst>
          </p:nvPr>
        </p:nvGraphicFramePr>
        <p:xfrm>
          <a:off x="1383986" y="2359025"/>
          <a:ext cx="6564312" cy="457200"/>
        </p:xfrm>
        <a:graphic>
          <a:graphicData uri="http://schemas.openxmlformats.org/presentationml/2006/ole">
            <mc:AlternateContent xmlns:mc="http://schemas.openxmlformats.org/markup-compatibility/2006">
              <mc:Choice xmlns:v="urn:schemas-microsoft-com:vml" Requires="v">
                <p:oleObj name="Equation" r:id="rId5" imgW="3377880" imgH="241200" progId="Equation.DSMT4">
                  <p:embed/>
                </p:oleObj>
              </mc:Choice>
              <mc:Fallback>
                <p:oleObj name="Equation" r:id="rId5" imgW="3377880" imgH="241200" progId="Equation.DSMT4">
                  <p:embed/>
                  <p:pic>
                    <p:nvPicPr>
                      <p:cNvPr id="0" name="Object 3"/>
                      <p:cNvPicPr>
                        <a:picLocks noChangeAspect="1" noChangeArrowheads="1"/>
                      </p:cNvPicPr>
                      <p:nvPr/>
                    </p:nvPicPr>
                    <p:blipFill>
                      <a:blip r:embed="rId6"/>
                      <a:srcRect/>
                      <a:stretch>
                        <a:fillRect/>
                      </a:stretch>
                    </p:blipFill>
                    <p:spPr bwMode="auto">
                      <a:xfrm>
                        <a:off x="1383986" y="2359025"/>
                        <a:ext cx="6564312"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对象 33">
            <a:extLst>
              <a:ext uri="{FF2B5EF4-FFF2-40B4-BE49-F238E27FC236}">
                <a16:creationId xmlns:a16="http://schemas.microsoft.com/office/drawing/2014/main" id="{01886404-BBD6-83EE-1D62-2B1E898118ED}"/>
              </a:ext>
            </a:extLst>
          </p:cNvPr>
          <p:cNvGraphicFramePr>
            <a:graphicFrameLocks noChangeAspect="1"/>
          </p:cNvGraphicFramePr>
          <p:nvPr>
            <p:extLst>
              <p:ext uri="{D42A27DB-BD31-4B8C-83A1-F6EECF244321}">
                <p14:modId xmlns:p14="http://schemas.microsoft.com/office/powerpoint/2010/main" val="16658107"/>
              </p:ext>
            </p:extLst>
          </p:nvPr>
        </p:nvGraphicFramePr>
        <p:xfrm>
          <a:off x="1508758" y="2946400"/>
          <a:ext cx="1785937" cy="482600"/>
        </p:xfrm>
        <a:graphic>
          <a:graphicData uri="http://schemas.openxmlformats.org/presentationml/2006/ole">
            <mc:AlternateContent xmlns:mc="http://schemas.openxmlformats.org/markup-compatibility/2006">
              <mc:Choice xmlns:v="urn:schemas-microsoft-com:vml" Requires="v">
                <p:oleObj name="Equation" r:id="rId7" imgW="876240" imgH="241200" progId="Equation.DSMT4">
                  <p:embed/>
                </p:oleObj>
              </mc:Choice>
              <mc:Fallback>
                <p:oleObj name="Equation" r:id="rId7" imgW="876240" imgH="241200" progId="Equation.DSMT4">
                  <p:embed/>
                  <p:pic>
                    <p:nvPicPr>
                      <p:cNvPr id="0" name="Object 20"/>
                      <p:cNvPicPr>
                        <a:picLocks noChangeAspect="1" noChangeArrowheads="1"/>
                      </p:cNvPicPr>
                      <p:nvPr/>
                    </p:nvPicPr>
                    <p:blipFill>
                      <a:blip r:embed="rId8"/>
                      <a:srcRect/>
                      <a:stretch>
                        <a:fillRect/>
                      </a:stretch>
                    </p:blipFill>
                    <p:spPr bwMode="auto">
                      <a:xfrm>
                        <a:off x="1508758" y="2946400"/>
                        <a:ext cx="1785937"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对象 34">
            <a:extLst>
              <a:ext uri="{FF2B5EF4-FFF2-40B4-BE49-F238E27FC236}">
                <a16:creationId xmlns:a16="http://schemas.microsoft.com/office/drawing/2014/main" id="{460AE9BF-BF63-DB4F-8754-9383A25C1A6F}"/>
              </a:ext>
            </a:extLst>
          </p:cNvPr>
          <p:cNvGraphicFramePr>
            <a:graphicFrameLocks noChangeAspect="1"/>
          </p:cNvGraphicFramePr>
          <p:nvPr>
            <p:extLst>
              <p:ext uri="{D42A27DB-BD31-4B8C-83A1-F6EECF244321}">
                <p14:modId xmlns:p14="http://schemas.microsoft.com/office/powerpoint/2010/main" val="3762057752"/>
              </p:ext>
            </p:extLst>
          </p:nvPr>
        </p:nvGraphicFramePr>
        <p:xfrm>
          <a:off x="950354" y="3549203"/>
          <a:ext cx="1443038" cy="481013"/>
        </p:xfrm>
        <a:graphic>
          <a:graphicData uri="http://schemas.openxmlformats.org/presentationml/2006/ole">
            <mc:AlternateContent xmlns:mc="http://schemas.openxmlformats.org/markup-compatibility/2006">
              <mc:Choice xmlns:v="urn:schemas-microsoft-com:vml" Requires="v">
                <p:oleObj name="Equation" r:id="rId9" imgW="672808" imgH="228501" progId="Equation.DSMT4">
                  <p:embed/>
                </p:oleObj>
              </mc:Choice>
              <mc:Fallback>
                <p:oleObj name="Equation" r:id="rId9" imgW="672808" imgH="228501" progId="Equation.DSMT4">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50354" y="3549203"/>
                        <a:ext cx="1443038"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a:extLst>
              <a:ext uri="{FF2B5EF4-FFF2-40B4-BE49-F238E27FC236}">
                <a16:creationId xmlns:a16="http://schemas.microsoft.com/office/drawing/2014/main" id="{E3A1F0D9-DBAB-9D24-0E4F-7829F317DE5A}"/>
              </a:ext>
            </a:extLst>
          </p:cNvPr>
          <p:cNvGraphicFramePr>
            <a:graphicFrameLocks noChangeAspect="1"/>
          </p:cNvGraphicFramePr>
          <p:nvPr>
            <p:extLst>
              <p:ext uri="{D42A27DB-BD31-4B8C-83A1-F6EECF244321}">
                <p14:modId xmlns:p14="http://schemas.microsoft.com/office/powerpoint/2010/main" val="4204562542"/>
              </p:ext>
            </p:extLst>
          </p:nvPr>
        </p:nvGraphicFramePr>
        <p:xfrm>
          <a:off x="2701763" y="3592066"/>
          <a:ext cx="1185863" cy="438150"/>
        </p:xfrm>
        <a:graphic>
          <a:graphicData uri="http://schemas.openxmlformats.org/presentationml/2006/ole">
            <mc:AlternateContent xmlns:mc="http://schemas.openxmlformats.org/markup-compatibility/2006">
              <mc:Choice xmlns:v="urn:schemas-microsoft-com:vml" Requires="v">
                <p:oleObj name="Equation" r:id="rId11" imgW="609600" imgH="228600" progId="Equation.DSMT4">
                  <p:embed/>
                </p:oleObj>
              </mc:Choice>
              <mc:Fallback>
                <p:oleObj name="Equation" r:id="rId11" imgW="609600" imgH="228600" progId="Equation.DSMT4">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01763" y="3592066"/>
                        <a:ext cx="1185863"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对象 36">
            <a:extLst>
              <a:ext uri="{FF2B5EF4-FFF2-40B4-BE49-F238E27FC236}">
                <a16:creationId xmlns:a16="http://schemas.microsoft.com/office/drawing/2014/main" id="{AECF9813-6507-9157-A817-C8344554BD1D}"/>
              </a:ext>
            </a:extLst>
          </p:cNvPr>
          <p:cNvGraphicFramePr>
            <a:graphicFrameLocks noChangeAspect="1"/>
          </p:cNvGraphicFramePr>
          <p:nvPr>
            <p:extLst>
              <p:ext uri="{D42A27DB-BD31-4B8C-83A1-F6EECF244321}">
                <p14:modId xmlns:p14="http://schemas.microsoft.com/office/powerpoint/2010/main" val="179022994"/>
              </p:ext>
            </p:extLst>
          </p:nvPr>
        </p:nvGraphicFramePr>
        <p:xfrm>
          <a:off x="4195997" y="3573016"/>
          <a:ext cx="1414463" cy="457200"/>
        </p:xfrm>
        <a:graphic>
          <a:graphicData uri="http://schemas.openxmlformats.org/presentationml/2006/ole">
            <mc:AlternateContent xmlns:mc="http://schemas.openxmlformats.org/markup-compatibility/2006">
              <mc:Choice xmlns:v="urn:schemas-microsoft-com:vml" Requires="v">
                <p:oleObj name="Equation" r:id="rId13" imgW="698500" imgH="228600" progId="Equation.DSMT4">
                  <p:embed/>
                </p:oleObj>
              </mc:Choice>
              <mc:Fallback>
                <p:oleObj name="Equation" r:id="rId13" imgW="698500" imgH="228600" progId="Equation.DSMT4">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5997" y="3573016"/>
                        <a:ext cx="141446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对象 37">
            <a:extLst>
              <a:ext uri="{FF2B5EF4-FFF2-40B4-BE49-F238E27FC236}">
                <a16:creationId xmlns:a16="http://schemas.microsoft.com/office/drawing/2014/main" id="{0C48C117-1895-B445-7887-6BAF2FE19358}"/>
              </a:ext>
            </a:extLst>
          </p:cNvPr>
          <p:cNvGraphicFramePr>
            <a:graphicFrameLocks noChangeAspect="1"/>
          </p:cNvGraphicFramePr>
          <p:nvPr>
            <p:extLst>
              <p:ext uri="{D42A27DB-BD31-4B8C-83A1-F6EECF244321}">
                <p14:modId xmlns:p14="http://schemas.microsoft.com/office/powerpoint/2010/main" val="4257397502"/>
              </p:ext>
            </p:extLst>
          </p:nvPr>
        </p:nvGraphicFramePr>
        <p:xfrm>
          <a:off x="5868144" y="3592066"/>
          <a:ext cx="1528763" cy="438150"/>
        </p:xfrm>
        <a:graphic>
          <a:graphicData uri="http://schemas.openxmlformats.org/presentationml/2006/ole">
            <mc:AlternateContent xmlns:mc="http://schemas.openxmlformats.org/markup-compatibility/2006">
              <mc:Choice xmlns:v="urn:schemas-microsoft-com:vml" Requires="v">
                <p:oleObj name="Equation" r:id="rId15" imgW="787400" imgH="228600" progId="Equation.DSMT4">
                  <p:embed/>
                </p:oleObj>
              </mc:Choice>
              <mc:Fallback>
                <p:oleObj name="Equation" r:id="rId15" imgW="787400" imgH="228600" progId="Equation.DSMT4">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68144" y="3592066"/>
                        <a:ext cx="1528763"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 name="Rectangle 21">
            <a:extLst>
              <a:ext uri="{FF2B5EF4-FFF2-40B4-BE49-F238E27FC236}">
                <a16:creationId xmlns:a16="http://schemas.microsoft.com/office/drawing/2014/main" id="{0CCDBD83-249B-1B37-14A0-B4C26EB37EE5}"/>
              </a:ext>
            </a:extLst>
          </p:cNvPr>
          <p:cNvSpPr>
            <a:spLocks noChangeArrowheads="1"/>
          </p:cNvSpPr>
          <p:nvPr/>
        </p:nvSpPr>
        <p:spPr bwMode="auto">
          <a:xfrm>
            <a:off x="647564" y="2937792"/>
            <a:ext cx="34163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例如</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4" name="Rectangle 26">
            <a:extLst>
              <a:ext uri="{FF2B5EF4-FFF2-40B4-BE49-F238E27FC236}">
                <a16:creationId xmlns:a16="http://schemas.microsoft.com/office/drawing/2014/main" id="{39BA3648-8FE0-7E75-BCBC-3C08E5E2A144}"/>
              </a:ext>
            </a:extLst>
          </p:cNvPr>
          <p:cNvSpPr>
            <a:spLocks noChangeArrowheads="1"/>
          </p:cNvSpPr>
          <p:nvPr/>
        </p:nvSpPr>
        <p:spPr bwMode="auto">
          <a:xfrm>
            <a:off x="647564" y="4270542"/>
            <a:ext cx="7596844" cy="825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所以</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5</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7</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次谐波受到很强抑制，</a:t>
            </a:r>
            <a:r>
              <a:rPr lang="zh-CN" altLang="zh-CN" sz="2400" kern="1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因三次谐波在三相对称绕组中合成磁势为</a:t>
            </a:r>
            <a:r>
              <a:rPr lang="en-US" altLang="zh-CN" sz="2400" kern="100" dirty="0">
                <a:solidFill>
                  <a:srgbClr val="FF0000"/>
                </a:solidFill>
                <a:effectLst/>
                <a:latin typeface="Times New Roman" panose="02020603050405020304" pitchFamily="18" charset="0"/>
                <a:ea typeface="黑体" panose="02010609060101010101" pitchFamily="49" charset="-122"/>
              </a:rPr>
              <a:t>0</a:t>
            </a:r>
            <a:r>
              <a:rPr lang="zh-CN" altLang="zh-CN"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〖后面分析〗</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46" name="文本框 45">
            <a:extLst>
              <a:ext uri="{FF2B5EF4-FFF2-40B4-BE49-F238E27FC236}">
                <a16:creationId xmlns:a16="http://schemas.microsoft.com/office/drawing/2014/main" id="{94BEDC80-10F6-3EFC-83FE-61BCE0DB9C33}"/>
              </a:ext>
            </a:extLst>
          </p:cNvPr>
          <p:cNvSpPr txBox="1"/>
          <p:nvPr/>
        </p:nvSpPr>
        <p:spPr>
          <a:xfrm>
            <a:off x="1206376" y="5336064"/>
            <a:ext cx="7038032" cy="954107"/>
          </a:xfrm>
          <a:prstGeom prst="rect">
            <a:avLst/>
          </a:prstGeom>
          <a:noFill/>
        </p:spPr>
        <p:txBody>
          <a:bodyPr wrap="square">
            <a:spAutoFit/>
          </a:bodyPr>
          <a:lstStyle/>
          <a:p>
            <a:r>
              <a:rPr lang="zh-CN" altLang="zh-CN" sz="28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故</a:t>
            </a:r>
            <a:r>
              <a:rPr lang="zh-CN" altLang="en-US" sz="28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采用</a:t>
            </a:r>
            <a:r>
              <a:rPr kumimoji="0" lang="zh-CN" altLang="zh-CN" sz="2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短距</a:t>
            </a:r>
            <a:r>
              <a:rPr kumimoji="0" lang="zh-CN" altLang="zh-CN" sz="28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分布</a:t>
            </a:r>
            <a:r>
              <a:rPr kumimoji="0" lang="zh-CN" altLang="zh-CN" sz="28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绕组</a:t>
            </a:r>
            <a:r>
              <a:rPr lang="zh-CN" altLang="en-US" sz="28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结构</a:t>
            </a:r>
            <a:r>
              <a:rPr lang="zh-CN" altLang="zh-CN" sz="28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可认为</a:t>
            </a:r>
            <a:r>
              <a:rPr lang="zh-CN" altLang="zh-CN" sz="28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一相绕组的空间磁势波</a:t>
            </a:r>
            <a:r>
              <a:rPr lang="zh-CN" altLang="en-US" sz="28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分布</a:t>
            </a:r>
            <a:r>
              <a:rPr lang="zh-CN" altLang="zh-CN" sz="28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十分接近正弦</a:t>
            </a:r>
            <a:r>
              <a:rPr lang="zh-CN" altLang="en-US" sz="28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dirty="0"/>
          </a:p>
        </p:txBody>
      </p:sp>
      <p:sp>
        <p:nvSpPr>
          <p:cNvPr id="47" name="箭头: 右 46">
            <a:extLst>
              <a:ext uri="{FF2B5EF4-FFF2-40B4-BE49-F238E27FC236}">
                <a16:creationId xmlns:a16="http://schemas.microsoft.com/office/drawing/2014/main" id="{6292543B-7FC3-D59D-1C79-CD5469C14019}"/>
              </a:ext>
            </a:extLst>
          </p:cNvPr>
          <p:cNvSpPr/>
          <p:nvPr/>
        </p:nvSpPr>
        <p:spPr>
          <a:xfrm>
            <a:off x="539552" y="5619631"/>
            <a:ext cx="666824" cy="3176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a:extLst>
              <a:ext uri="{FF2B5EF4-FFF2-40B4-BE49-F238E27FC236}">
                <a16:creationId xmlns:a16="http://schemas.microsoft.com/office/drawing/2014/main" id="{A85D1DA5-C209-F419-CF15-3A193BDC9A42}"/>
              </a:ext>
            </a:extLst>
          </p:cNvPr>
          <p:cNvSpPr>
            <a:spLocks noGrp="1"/>
          </p:cNvSpPr>
          <p:nvPr>
            <p:ph type="sldNum" sz="quarter" idx="12"/>
          </p:nvPr>
        </p:nvSpPr>
        <p:spPr/>
        <p:txBody>
          <a:bodyPr/>
          <a:lstStyle/>
          <a:p>
            <a:fld id="{76D830B0-DF59-4281-898F-AF208100B213}" type="slidenum">
              <a:rPr lang="en-US" altLang="zh-CN" smtClean="0"/>
              <a:pPr/>
              <a:t>32</a:t>
            </a:fld>
            <a:endParaRPr lang="en-US" altLang="zh-CN"/>
          </a:p>
        </p:txBody>
      </p:sp>
    </p:spTree>
    <p:extLst>
      <p:ext uri="{BB962C8B-B14F-4D97-AF65-F5344CB8AC3E}">
        <p14:creationId xmlns:p14="http://schemas.microsoft.com/office/powerpoint/2010/main" val="36454706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DEFB31EC-762C-A7B3-1723-5900AA5B600B}"/>
              </a:ext>
            </a:extLst>
          </p:cNvPr>
          <p:cNvGraphicFramePr>
            <a:graphicFrameLocks noChangeAspect="1"/>
          </p:cNvGraphicFramePr>
          <p:nvPr>
            <p:extLst>
              <p:ext uri="{D42A27DB-BD31-4B8C-83A1-F6EECF244321}">
                <p14:modId xmlns:p14="http://schemas.microsoft.com/office/powerpoint/2010/main" val="3385089248"/>
              </p:ext>
            </p:extLst>
          </p:nvPr>
        </p:nvGraphicFramePr>
        <p:xfrm>
          <a:off x="3768690" y="1934644"/>
          <a:ext cx="1656184" cy="446495"/>
        </p:xfrm>
        <a:graphic>
          <a:graphicData uri="http://schemas.openxmlformats.org/presentationml/2006/ole">
            <mc:AlternateContent xmlns:mc="http://schemas.openxmlformats.org/markup-compatibility/2006">
              <mc:Choice xmlns:v="urn:schemas-microsoft-com:vml" Requires="v">
                <p:oleObj name="Equation" r:id="rId3" imgW="876300" imgH="241300" progId="Equation.DSMT4">
                  <p:embed/>
                </p:oleObj>
              </mc:Choice>
              <mc:Fallback>
                <p:oleObj name="Equation" r:id="rId3" imgW="876300" imgH="2413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8690" y="1934644"/>
                        <a:ext cx="1656184" cy="446495"/>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29924F4C-9771-4549-E09D-D4755197E87D}"/>
              </a:ext>
            </a:extLst>
          </p:cNvPr>
          <p:cNvGraphicFramePr>
            <a:graphicFrameLocks noChangeAspect="1"/>
          </p:cNvGraphicFramePr>
          <p:nvPr>
            <p:extLst>
              <p:ext uri="{D42A27DB-BD31-4B8C-83A1-F6EECF244321}">
                <p14:modId xmlns:p14="http://schemas.microsoft.com/office/powerpoint/2010/main" val="2547999985"/>
              </p:ext>
            </p:extLst>
          </p:nvPr>
        </p:nvGraphicFramePr>
        <p:xfrm>
          <a:off x="4691435" y="2522513"/>
          <a:ext cx="528638" cy="866775"/>
        </p:xfrm>
        <a:graphic>
          <a:graphicData uri="http://schemas.openxmlformats.org/presentationml/2006/ole">
            <mc:AlternateContent xmlns:mc="http://schemas.openxmlformats.org/markup-compatibility/2006">
              <mc:Choice xmlns:v="urn:schemas-microsoft-com:vml" Requires="v">
                <p:oleObj name="Equation" r:id="rId5" imgW="253890" imgH="431613" progId="Equation.DSMT4">
                  <p:embed/>
                </p:oleObj>
              </mc:Choice>
              <mc:Fallback>
                <p:oleObj name="Equation" r:id="rId5" imgW="253890" imgH="431613"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1435" y="2522513"/>
                        <a:ext cx="528638"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1ECD2F51-3840-3ADA-4446-713F8BEE2388}"/>
              </a:ext>
            </a:extLst>
          </p:cNvPr>
          <p:cNvGraphicFramePr>
            <a:graphicFrameLocks noChangeAspect="1"/>
          </p:cNvGraphicFramePr>
          <p:nvPr>
            <p:extLst>
              <p:ext uri="{D42A27DB-BD31-4B8C-83A1-F6EECF244321}">
                <p14:modId xmlns:p14="http://schemas.microsoft.com/office/powerpoint/2010/main" val="172714100"/>
              </p:ext>
            </p:extLst>
          </p:nvPr>
        </p:nvGraphicFramePr>
        <p:xfrm>
          <a:off x="6432575" y="3386609"/>
          <a:ext cx="947738" cy="885825"/>
        </p:xfrm>
        <a:graphic>
          <a:graphicData uri="http://schemas.openxmlformats.org/presentationml/2006/ole">
            <mc:AlternateContent xmlns:mc="http://schemas.openxmlformats.org/markup-compatibility/2006">
              <mc:Choice xmlns:v="urn:schemas-microsoft-com:vml" Requires="v">
                <p:oleObj name="Equation" r:id="rId7" imgW="444307" imgH="418918" progId="Equation.DSMT4">
                  <p:embed/>
                </p:oleObj>
              </mc:Choice>
              <mc:Fallback>
                <p:oleObj name="Equation" r:id="rId7" imgW="444307" imgH="418918"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32575" y="3386609"/>
                        <a:ext cx="947738"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9CAD52E4-D393-C68C-45EF-89DAAD34C7BC}"/>
              </a:ext>
            </a:extLst>
          </p:cNvPr>
          <p:cNvGraphicFramePr>
            <a:graphicFrameLocks noChangeAspect="1"/>
          </p:cNvGraphicFramePr>
          <p:nvPr>
            <p:extLst>
              <p:ext uri="{D42A27DB-BD31-4B8C-83A1-F6EECF244321}">
                <p14:modId xmlns:p14="http://schemas.microsoft.com/office/powerpoint/2010/main" val="1881759070"/>
              </p:ext>
            </p:extLst>
          </p:nvPr>
        </p:nvGraphicFramePr>
        <p:xfrm>
          <a:off x="2207294" y="5301158"/>
          <a:ext cx="4452938" cy="1009650"/>
        </p:xfrm>
        <a:graphic>
          <a:graphicData uri="http://schemas.openxmlformats.org/presentationml/2006/ole">
            <mc:AlternateContent xmlns:mc="http://schemas.openxmlformats.org/markup-compatibility/2006">
              <mc:Choice xmlns:v="urn:schemas-microsoft-com:vml" Requires="v">
                <p:oleObj name="Equation" r:id="rId9" imgW="2044700" imgH="457200" progId="Equation.DSMT4">
                  <p:embed/>
                </p:oleObj>
              </mc:Choice>
              <mc:Fallback>
                <p:oleObj name="Equation" r:id="rId9" imgW="2044700" imgH="457200" progId="Equation.DSMT4">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07294" y="5301158"/>
                        <a:ext cx="4452938" cy="1009650"/>
                      </a:xfrm>
                      <a:prstGeom prst="rect">
                        <a:avLst/>
                      </a:prstGeom>
                      <a:solidFill>
                        <a:srgbClr val="00FF00"/>
                      </a:solidFill>
                    </p:spPr>
                  </p:pic>
                </p:oleObj>
              </mc:Fallback>
            </mc:AlternateContent>
          </a:graphicData>
        </a:graphic>
      </p:graphicFrame>
      <p:sp>
        <p:nvSpPr>
          <p:cNvPr id="9" name="Rectangle 5">
            <a:extLst>
              <a:ext uri="{FF2B5EF4-FFF2-40B4-BE49-F238E27FC236}">
                <a16:creationId xmlns:a16="http://schemas.microsoft.com/office/drawing/2014/main" id="{303652A6-4708-BF76-AA34-F675CB67D567}"/>
              </a:ext>
            </a:extLst>
          </p:cNvPr>
          <p:cNvSpPr>
            <a:spLocks noChangeArrowheads="1"/>
          </p:cNvSpPr>
          <p:nvPr/>
        </p:nvSpPr>
        <p:spPr bwMode="auto">
          <a:xfrm>
            <a:off x="221264" y="1196752"/>
            <a:ext cx="81275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已知：</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线圈匝数：</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en-US" altLang="zh-CN" sz="2400" b="0" i="0" u="none" strike="noStrike" cap="none" normalizeH="0" baseline="-3000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y</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；分布槽：</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q</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；层：</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；磁极对数：</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p</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400" b="0" i="0" u="none" strike="noStrike" cap="none" normalizeH="0" baseline="0" dirty="0">
              <a:ln>
                <a:noFill/>
              </a:ln>
              <a:solidFill>
                <a:schemeClr val="tx1"/>
              </a:solidFill>
              <a:effectLst/>
            </a:endParaRPr>
          </a:p>
        </p:txBody>
      </p:sp>
      <p:sp>
        <p:nvSpPr>
          <p:cNvPr id="10" name="Rectangle 6">
            <a:extLst>
              <a:ext uri="{FF2B5EF4-FFF2-40B4-BE49-F238E27FC236}">
                <a16:creationId xmlns:a16="http://schemas.microsoft.com/office/drawing/2014/main" id="{0AE45154-54B0-B51F-75A8-ACDB3A3C0BF7}"/>
              </a:ext>
            </a:extLst>
          </p:cNvPr>
          <p:cNvSpPr>
            <a:spLocks noChangeArrowheads="1"/>
          </p:cNvSpPr>
          <p:nvPr/>
        </p:nvSpPr>
        <p:spPr bwMode="auto">
          <a:xfrm>
            <a:off x="1267867" y="2725069"/>
            <a:ext cx="37328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属于一对磁极的匝数为：</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D72B93C6-2189-40B3-816E-52B2FB61B7D1}"/>
              </a:ext>
            </a:extLst>
          </p:cNvPr>
          <p:cNvSpPr>
            <a:spLocks noChangeArrowheads="1"/>
          </p:cNvSpPr>
          <p:nvPr/>
        </p:nvSpPr>
        <p:spPr bwMode="auto">
          <a:xfrm>
            <a:off x="1254845" y="3610316"/>
            <a:ext cx="54726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对基波折算为整距集中绕组的匝数为：</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3" name="Rectangle 8">
            <a:extLst>
              <a:ext uri="{FF2B5EF4-FFF2-40B4-BE49-F238E27FC236}">
                <a16:creationId xmlns:a16="http://schemas.microsoft.com/office/drawing/2014/main" id="{FD305559-56C0-4A21-571F-F53A552EE439}"/>
              </a:ext>
            </a:extLst>
          </p:cNvPr>
          <p:cNvSpPr>
            <a:spLocks noChangeArrowheads="1"/>
          </p:cNvSpPr>
          <p:nvPr/>
        </p:nvSpPr>
        <p:spPr bwMode="auto">
          <a:xfrm>
            <a:off x="1238652" y="4490878"/>
            <a:ext cx="7437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1336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最后结果</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一相绕组基波磁势系数</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F.</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级数展开系数）</a:t>
            </a:r>
            <a:endParaRPr kumimoji="0" lang="zh-CN" altLang="en-US" sz="400" b="0" i="0" u="none" strike="noStrike" cap="none" normalizeH="0" baseline="0" dirty="0">
              <a:ln>
                <a:noFill/>
              </a:ln>
              <a:solidFill>
                <a:schemeClr val="tx1"/>
              </a:solidFill>
              <a:effectLst/>
            </a:endParaRPr>
          </a:p>
        </p:txBody>
      </p:sp>
      <p:sp>
        <p:nvSpPr>
          <p:cNvPr id="15" name="文本框 14">
            <a:extLst>
              <a:ext uri="{FF2B5EF4-FFF2-40B4-BE49-F238E27FC236}">
                <a16:creationId xmlns:a16="http://schemas.microsoft.com/office/drawing/2014/main" id="{61C05C03-47DB-BD85-FA25-CC84C6C454CF}"/>
              </a:ext>
            </a:extLst>
          </p:cNvPr>
          <p:cNvSpPr txBox="1"/>
          <p:nvPr/>
        </p:nvSpPr>
        <p:spPr>
          <a:xfrm>
            <a:off x="1260701" y="1870266"/>
            <a:ext cx="3024336"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一相总串联匝数：</a:t>
            </a:r>
            <a:endParaRPr kumimoji="0" lang="zh-CN" altLang="en-US" i="0" u="none" strike="noStrike" cap="none" normalizeH="0" baseline="0" dirty="0">
              <a:ln>
                <a:noFill/>
              </a:ln>
              <a:solidFill>
                <a:schemeClr val="tx1"/>
              </a:solidFill>
              <a:effectLst/>
              <a:latin typeface="Arial" panose="020B0604020202020204" pitchFamily="34" charset="0"/>
            </a:endParaRPr>
          </a:p>
        </p:txBody>
      </p:sp>
      <p:sp>
        <p:nvSpPr>
          <p:cNvPr id="16" name="箭头: 右 15">
            <a:extLst>
              <a:ext uri="{FF2B5EF4-FFF2-40B4-BE49-F238E27FC236}">
                <a16:creationId xmlns:a16="http://schemas.microsoft.com/office/drawing/2014/main" id="{B913DC78-CE15-BB1D-BEC8-EBCA5B64BE84}"/>
              </a:ext>
            </a:extLst>
          </p:cNvPr>
          <p:cNvSpPr/>
          <p:nvPr/>
        </p:nvSpPr>
        <p:spPr>
          <a:xfrm>
            <a:off x="827585" y="2006652"/>
            <a:ext cx="355663" cy="2278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右 16">
            <a:extLst>
              <a:ext uri="{FF2B5EF4-FFF2-40B4-BE49-F238E27FC236}">
                <a16:creationId xmlns:a16="http://schemas.microsoft.com/office/drawing/2014/main" id="{F0CC3DE8-38B4-C813-4A49-5D9016FD0A49}"/>
              </a:ext>
            </a:extLst>
          </p:cNvPr>
          <p:cNvSpPr/>
          <p:nvPr/>
        </p:nvSpPr>
        <p:spPr>
          <a:xfrm>
            <a:off x="832591" y="2852334"/>
            <a:ext cx="355663" cy="2278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2D4138DC-2413-ABA7-4096-04F083604FF8}"/>
              </a:ext>
            </a:extLst>
          </p:cNvPr>
          <p:cNvSpPr/>
          <p:nvPr/>
        </p:nvSpPr>
        <p:spPr>
          <a:xfrm>
            <a:off x="827584" y="3717032"/>
            <a:ext cx="355663" cy="2278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a:extLst>
              <a:ext uri="{FF2B5EF4-FFF2-40B4-BE49-F238E27FC236}">
                <a16:creationId xmlns:a16="http://schemas.microsoft.com/office/drawing/2014/main" id="{21944E9F-A970-8211-F68B-178CFD4BEF91}"/>
              </a:ext>
            </a:extLst>
          </p:cNvPr>
          <p:cNvSpPr/>
          <p:nvPr/>
        </p:nvSpPr>
        <p:spPr>
          <a:xfrm>
            <a:off x="827584" y="4620051"/>
            <a:ext cx="355663" cy="2278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灯片编号占位符 4">
            <a:extLst>
              <a:ext uri="{FF2B5EF4-FFF2-40B4-BE49-F238E27FC236}">
                <a16:creationId xmlns:a16="http://schemas.microsoft.com/office/drawing/2014/main" id="{5F712286-4A48-DC64-1B15-B0D153CF64B5}"/>
              </a:ext>
            </a:extLst>
          </p:cNvPr>
          <p:cNvSpPr>
            <a:spLocks noGrp="1"/>
          </p:cNvSpPr>
          <p:nvPr>
            <p:ph type="sldNum" sz="quarter" idx="12"/>
          </p:nvPr>
        </p:nvSpPr>
        <p:spPr/>
        <p:txBody>
          <a:bodyPr/>
          <a:lstStyle/>
          <a:p>
            <a:fld id="{76D830B0-DF59-4281-898F-AF208100B213}" type="slidenum">
              <a:rPr lang="en-US" altLang="zh-CN" smtClean="0"/>
              <a:pPr/>
              <a:t>33</a:t>
            </a:fld>
            <a:endParaRPr lang="en-US" altLang="zh-CN"/>
          </a:p>
        </p:txBody>
      </p:sp>
    </p:spTree>
    <p:extLst>
      <p:ext uri="{BB962C8B-B14F-4D97-AF65-F5344CB8AC3E}">
        <p14:creationId xmlns:p14="http://schemas.microsoft.com/office/powerpoint/2010/main" val="862088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D78666E-1BAA-E49E-AB95-73C4D0DA101A}"/>
              </a:ext>
            </a:extLst>
          </p:cNvPr>
          <p:cNvSpPr txBox="1"/>
          <p:nvPr/>
        </p:nvSpPr>
        <p:spPr>
          <a:xfrm>
            <a:off x="899592" y="1556792"/>
            <a:ext cx="7344816" cy="3162404"/>
          </a:xfrm>
          <a:prstGeom prst="rect">
            <a:avLst/>
          </a:prstGeom>
          <a:noFill/>
        </p:spPr>
        <p:txBody>
          <a:bodyPr wrap="square">
            <a:spAutoFit/>
          </a:bodyPr>
          <a:lstStyle/>
          <a:p>
            <a:pPr algn="just">
              <a:spcBef>
                <a:spcPts val="1200"/>
              </a:spcBef>
              <a:spcAft>
                <a:spcPts val="300"/>
              </a:spcAft>
            </a:pPr>
            <a:r>
              <a:rPr lang="zh-CN" altLang="en-US" sz="3600" b="1"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rPr>
              <a:t>本小节讨论</a:t>
            </a:r>
            <a:r>
              <a:rPr lang="zh-CN" altLang="zh-CN" sz="3600" b="1"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rPr>
              <a:t>：</a:t>
            </a:r>
            <a:r>
              <a:rPr lang="zh-CN" altLang="en-US" sz="3600" b="1"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rPr>
              <a:t>基波磁势</a:t>
            </a:r>
            <a:endParaRPr lang="en-US" altLang="zh-CN" sz="3600" b="1" kern="100" dirty="0">
              <a:solidFill>
                <a:srgbClr val="C00000"/>
              </a:solidFill>
              <a:latin typeface="楷体" panose="02010609060101010101" pitchFamily="49" charset="-122"/>
              <a:ea typeface="楷体" panose="02010609060101010101" pitchFamily="49" charset="-122"/>
              <a:cs typeface="Times New Roman" panose="02020603050405020304" pitchFamily="18" charset="0"/>
            </a:endParaRPr>
          </a:p>
          <a:p>
            <a:pPr algn="just">
              <a:spcBef>
                <a:spcPts val="1200"/>
              </a:spcBef>
              <a:spcAft>
                <a:spcPts val="300"/>
              </a:spcAft>
            </a:pPr>
            <a:r>
              <a:rPr lang="en-US" altLang="zh-CN" sz="3200" b="1" kern="100" dirty="0">
                <a:latin typeface="楷体" panose="02010609060101010101" pitchFamily="49" charset="-122"/>
                <a:ea typeface="楷体" panose="02010609060101010101" pitchFamily="49" charset="-122"/>
                <a:cs typeface="Times New Roman" panose="02020603050405020304" pitchFamily="18" charset="0"/>
              </a:rPr>
              <a:t>1</a:t>
            </a:r>
            <a:r>
              <a:rPr lang="zh-CN" altLang="en-US" sz="3200" b="1" kern="100" dirty="0">
                <a:latin typeface="楷体" panose="02010609060101010101" pitchFamily="49" charset="-122"/>
                <a:ea typeface="楷体" panose="02010609060101010101" pitchFamily="49" charset="-122"/>
                <a:cs typeface="Times New Roman" panose="02020603050405020304" pitchFamily="18" charset="0"/>
              </a:rPr>
              <a:t>、</a:t>
            </a:r>
            <a:r>
              <a:rPr lang="en-US" altLang="zh-CN" sz="3200" b="1" kern="100" dirty="0">
                <a:latin typeface="楷体" panose="02010609060101010101" pitchFamily="49" charset="-122"/>
                <a:ea typeface="楷体" panose="02010609060101010101" pitchFamily="49" charset="-122"/>
                <a:cs typeface="Times New Roman" panose="02020603050405020304" pitchFamily="18" charset="0"/>
              </a:rPr>
              <a:t>F.</a:t>
            </a:r>
            <a:r>
              <a:rPr lang="zh-CN" altLang="zh-CN" sz="3200" b="1" kern="100" dirty="0">
                <a:latin typeface="楷体" panose="02010609060101010101" pitchFamily="49" charset="-122"/>
                <a:ea typeface="楷体" panose="02010609060101010101" pitchFamily="49" charset="-122"/>
                <a:cs typeface="Times New Roman" panose="02020603050405020304" pitchFamily="18" charset="0"/>
              </a:rPr>
              <a:t>级数展开谐波分析的作用</a:t>
            </a:r>
            <a:r>
              <a:rPr lang="zh-CN" altLang="en-US" sz="3200" b="1" kern="100" dirty="0">
                <a:latin typeface="楷体" panose="02010609060101010101" pitchFamily="49" charset="-122"/>
                <a:ea typeface="楷体" panose="02010609060101010101" pitchFamily="49" charset="-122"/>
                <a:cs typeface="Times New Roman" panose="02020603050405020304" pitchFamily="18" charset="0"/>
              </a:rPr>
              <a:t>是什么？</a:t>
            </a:r>
            <a:endParaRPr lang="en-US" altLang="zh-CN" sz="3200" b="1" kern="100" dirty="0">
              <a:latin typeface="楷体" panose="02010609060101010101" pitchFamily="49" charset="-122"/>
              <a:ea typeface="楷体" panose="02010609060101010101" pitchFamily="49" charset="-122"/>
              <a:cs typeface="Times New Roman" panose="02020603050405020304" pitchFamily="18" charset="0"/>
            </a:endParaRPr>
          </a:p>
          <a:p>
            <a:pPr algn="just">
              <a:spcBef>
                <a:spcPts val="1200"/>
              </a:spcBef>
              <a:spcAft>
                <a:spcPts val="300"/>
              </a:spcAft>
            </a:pPr>
            <a:r>
              <a:rPr lang="en-US" altLang="zh-CN" sz="3200" b="1" kern="100" dirty="0">
                <a:latin typeface="楷体" panose="02010609060101010101" pitchFamily="49" charset="-122"/>
                <a:ea typeface="楷体" panose="02010609060101010101" pitchFamily="49" charset="-122"/>
                <a:cs typeface="Times New Roman" panose="02020603050405020304" pitchFamily="18" charset="0"/>
              </a:rPr>
              <a:t>——</a:t>
            </a:r>
            <a:r>
              <a:rPr lang="zh-CN" altLang="zh-CN" sz="3000" b="1" kern="100" dirty="0">
                <a:latin typeface="楷体" panose="02010609060101010101" pitchFamily="49" charset="-122"/>
                <a:ea typeface="楷体" panose="02010609060101010101" pitchFamily="49" charset="-122"/>
                <a:cs typeface="Times New Roman" panose="02020603050405020304" pitchFamily="18" charset="0"/>
              </a:rPr>
              <a:t>可弄清每相绕组线圈采用分布、短距结构的目的和效果</a:t>
            </a:r>
            <a:endParaRPr lang="en-US" altLang="zh-CN" sz="3000" b="1" kern="100" dirty="0">
              <a:latin typeface="楷体" panose="02010609060101010101" pitchFamily="49" charset="-122"/>
              <a:ea typeface="楷体" panose="02010609060101010101" pitchFamily="49" charset="-122"/>
              <a:cs typeface="Times New Roman" panose="02020603050405020304" pitchFamily="18" charset="0"/>
            </a:endParaRPr>
          </a:p>
          <a:p>
            <a:pPr algn="just">
              <a:spcBef>
                <a:spcPts val="1200"/>
              </a:spcBef>
              <a:spcAft>
                <a:spcPts val="300"/>
              </a:spcAft>
            </a:pPr>
            <a:r>
              <a:rPr lang="en-US" altLang="zh-CN" sz="3200" b="1" kern="100" dirty="0">
                <a:latin typeface="楷体" panose="02010609060101010101" pitchFamily="49" charset="-122"/>
                <a:ea typeface="楷体" panose="02010609060101010101" pitchFamily="49" charset="-122"/>
                <a:cs typeface="Times New Roman" panose="02020603050405020304" pitchFamily="18" charset="0"/>
              </a:rPr>
              <a:t>2</a:t>
            </a:r>
            <a:r>
              <a:rPr lang="zh-CN" altLang="en-US" sz="3200" b="1" kern="100" dirty="0">
                <a:latin typeface="楷体" panose="02010609060101010101" pitchFamily="49" charset="-122"/>
                <a:ea typeface="楷体" panose="02010609060101010101" pitchFamily="49" charset="-122"/>
                <a:cs typeface="Times New Roman" panose="02020603050405020304" pitchFamily="18" charset="0"/>
              </a:rPr>
              <a:t>、</a:t>
            </a:r>
            <a:r>
              <a:rPr lang="zh-CN" altLang="zh-CN" sz="3200" b="1" kern="100" dirty="0">
                <a:latin typeface="楷体" panose="02010609060101010101" pitchFamily="49" charset="-122"/>
                <a:ea typeface="楷体" panose="02010609060101010101" pitchFamily="49" charset="-122"/>
                <a:cs typeface="Times New Roman" panose="02020603050405020304" pitchFamily="18" charset="0"/>
              </a:rPr>
              <a:t>后续分析可只考虑基波磁势。</a:t>
            </a:r>
            <a:endParaRPr lang="zh-CN" altLang="en-US" sz="3200" b="1" kern="1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3" name="灯片编号占位符 2">
            <a:extLst>
              <a:ext uri="{FF2B5EF4-FFF2-40B4-BE49-F238E27FC236}">
                <a16:creationId xmlns:a16="http://schemas.microsoft.com/office/drawing/2014/main" id="{7B060DF1-38E9-3ADC-4A2E-8626C28955AA}"/>
              </a:ext>
            </a:extLst>
          </p:cNvPr>
          <p:cNvSpPr>
            <a:spLocks noGrp="1"/>
          </p:cNvSpPr>
          <p:nvPr>
            <p:ph type="sldNum" sz="quarter" idx="12"/>
          </p:nvPr>
        </p:nvSpPr>
        <p:spPr/>
        <p:txBody>
          <a:bodyPr/>
          <a:lstStyle/>
          <a:p>
            <a:fld id="{76D830B0-DF59-4281-898F-AF208100B213}" type="slidenum">
              <a:rPr lang="en-US" altLang="zh-CN" smtClean="0"/>
              <a:pPr/>
              <a:t>34</a:t>
            </a:fld>
            <a:endParaRPr lang="en-US" altLang="zh-CN"/>
          </a:p>
        </p:txBody>
      </p:sp>
    </p:spTree>
    <p:extLst>
      <p:ext uri="{BB962C8B-B14F-4D97-AF65-F5344CB8AC3E}">
        <p14:creationId xmlns:p14="http://schemas.microsoft.com/office/powerpoint/2010/main" val="41688278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7C3A1FD2-A309-BCF9-7BE4-43431B219C72}"/>
              </a:ext>
            </a:extLst>
          </p:cNvPr>
          <p:cNvSpPr txBox="1"/>
          <p:nvPr/>
        </p:nvSpPr>
        <p:spPr>
          <a:xfrm>
            <a:off x="323528" y="1052736"/>
            <a:ext cx="8208912" cy="89255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二、交流电动机绕组磁势的性质</a:t>
            </a:r>
            <a:r>
              <a:rPr lang="en-US" altLang="zh-CN"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从单独</a:t>
            </a:r>
            <a:r>
              <a:rPr lang="en-US" altLang="zh-CN"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1</a:t>
            </a: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相静止到</a:t>
            </a:r>
            <a:r>
              <a:rPr lang="en-US" altLang="zh-CN"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3</a:t>
            </a: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相合成旋转</a:t>
            </a:r>
            <a:r>
              <a:rPr lang="en-US" altLang="zh-CN"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1" name="Rectangle 8">
            <a:extLst>
              <a:ext uri="{FF2B5EF4-FFF2-40B4-BE49-F238E27FC236}">
                <a16:creationId xmlns:a16="http://schemas.microsoft.com/office/drawing/2014/main" id="{4EC3A376-1A52-F155-A6C1-4CEF1A338FD7}"/>
              </a:ext>
            </a:extLst>
          </p:cNvPr>
          <p:cNvSpPr>
            <a:spLocks noChangeArrowheads="1"/>
          </p:cNvSpPr>
          <p:nvPr/>
        </p:nvSpPr>
        <p:spPr bwMode="auto">
          <a:xfrm>
            <a:off x="401200" y="2117660"/>
            <a:ext cx="35702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1" indent="0" algn="l" defTabSz="914400" rtl="0" eaLnBrk="0" fontAlgn="base" latinLnBrk="0" hangingPunct="0">
              <a:lnSpc>
                <a:spcPct val="100000"/>
              </a:lnSpc>
              <a:spcBef>
                <a:spcPct val="0"/>
              </a:spcBef>
              <a:spcAft>
                <a:spcPct val="0"/>
              </a:spcAft>
              <a:buClrTx/>
              <a:buSzTx/>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一相绕组基波磁势：</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6" name="对象 15">
            <a:extLst>
              <a:ext uri="{FF2B5EF4-FFF2-40B4-BE49-F238E27FC236}">
                <a16:creationId xmlns:a16="http://schemas.microsoft.com/office/drawing/2014/main" id="{B0F62098-98EA-9E96-8610-D9D41A63C514}"/>
              </a:ext>
            </a:extLst>
          </p:cNvPr>
          <p:cNvGraphicFramePr>
            <a:graphicFrameLocks noChangeAspect="1"/>
          </p:cNvGraphicFramePr>
          <p:nvPr>
            <p:extLst>
              <p:ext uri="{D42A27DB-BD31-4B8C-83A1-F6EECF244321}">
                <p14:modId xmlns:p14="http://schemas.microsoft.com/office/powerpoint/2010/main" val="3103867945"/>
              </p:ext>
            </p:extLst>
          </p:nvPr>
        </p:nvGraphicFramePr>
        <p:xfrm>
          <a:off x="3699420" y="1886658"/>
          <a:ext cx="3805238" cy="900113"/>
        </p:xfrm>
        <a:graphic>
          <a:graphicData uri="http://schemas.openxmlformats.org/presentationml/2006/ole">
            <mc:AlternateContent xmlns:mc="http://schemas.openxmlformats.org/markup-compatibility/2006">
              <mc:Choice xmlns:v="urn:schemas-microsoft-com:vml" Requires="v">
                <p:oleObj name="Equation" r:id="rId2" imgW="1650960" imgH="393480" progId="Equation.DSMT4">
                  <p:embed/>
                </p:oleObj>
              </mc:Choice>
              <mc:Fallback>
                <p:oleObj name="Equation" r:id="rId2" imgW="1650960" imgH="393480" progId="Equation.DSMT4">
                  <p:embed/>
                  <p:pic>
                    <p:nvPicPr>
                      <p:cNvPr id="0" name="Object 7"/>
                      <p:cNvPicPr>
                        <a:picLocks noChangeAspect="1" noChangeArrowheads="1"/>
                      </p:cNvPicPr>
                      <p:nvPr/>
                    </p:nvPicPr>
                    <p:blipFill>
                      <a:blip r:embed="rId3"/>
                      <a:srcRect/>
                      <a:stretch>
                        <a:fillRect/>
                      </a:stretch>
                    </p:blipFill>
                    <p:spPr bwMode="auto">
                      <a:xfrm>
                        <a:off x="3699420" y="1886658"/>
                        <a:ext cx="3805238"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9">
            <a:extLst>
              <a:ext uri="{FF2B5EF4-FFF2-40B4-BE49-F238E27FC236}">
                <a16:creationId xmlns:a16="http://schemas.microsoft.com/office/drawing/2014/main" id="{B4FE770B-828C-3B2C-D0AF-DD61D4EE6FDE}"/>
              </a:ext>
            </a:extLst>
          </p:cNvPr>
          <p:cNvSpPr>
            <a:spLocks noChangeArrowheads="1"/>
          </p:cNvSpPr>
          <p:nvPr/>
        </p:nvSpPr>
        <p:spPr bwMode="auto">
          <a:xfrm>
            <a:off x="827584" y="2834795"/>
            <a:ext cx="78488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是</a:t>
            </a:r>
            <a:r>
              <a:rPr kumimoji="0" lang="zh-CN" altLang="en-US"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空间</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呈余弦分布、幅值随</a:t>
            </a:r>
            <a:r>
              <a:rPr kumimoji="0" lang="zh-CN" altLang="en-US" sz="24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时间</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按正弦变化的脉振磁势。</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9" name="对象 18">
            <a:extLst>
              <a:ext uri="{FF2B5EF4-FFF2-40B4-BE49-F238E27FC236}">
                <a16:creationId xmlns:a16="http://schemas.microsoft.com/office/drawing/2014/main" id="{B93D70CE-C7A3-D7D4-524B-CF197C5D36FB}"/>
              </a:ext>
            </a:extLst>
          </p:cNvPr>
          <p:cNvGraphicFramePr>
            <a:graphicFrameLocks noChangeAspect="1"/>
          </p:cNvGraphicFramePr>
          <p:nvPr>
            <p:extLst>
              <p:ext uri="{D42A27DB-BD31-4B8C-83A1-F6EECF244321}">
                <p14:modId xmlns:p14="http://schemas.microsoft.com/office/powerpoint/2010/main" val="2946046070"/>
              </p:ext>
            </p:extLst>
          </p:nvPr>
        </p:nvGraphicFramePr>
        <p:xfrm>
          <a:off x="2265040" y="3991119"/>
          <a:ext cx="5405438" cy="862013"/>
        </p:xfrm>
        <a:graphic>
          <a:graphicData uri="http://schemas.openxmlformats.org/presentationml/2006/ole">
            <mc:AlternateContent xmlns:mc="http://schemas.openxmlformats.org/markup-compatibility/2006">
              <mc:Choice xmlns:v="urn:schemas-microsoft-com:vml" Requires="v">
                <p:oleObj name="Equation" r:id="rId4" imgW="2438400" imgH="393700" progId="Equation.DSMT4">
                  <p:embed/>
                </p:oleObj>
              </mc:Choice>
              <mc:Fallback>
                <p:oleObj name="Equation" r:id="rId4" imgW="2438400" imgH="393700"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5040" y="3991119"/>
                        <a:ext cx="5405438"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a:extLst>
              <a:ext uri="{FF2B5EF4-FFF2-40B4-BE49-F238E27FC236}">
                <a16:creationId xmlns:a16="http://schemas.microsoft.com/office/drawing/2014/main" id="{4342B55C-B561-04C3-9922-991C11F09DC4}"/>
              </a:ext>
            </a:extLst>
          </p:cNvPr>
          <p:cNvGraphicFramePr>
            <a:graphicFrameLocks noChangeAspect="1"/>
          </p:cNvGraphicFramePr>
          <p:nvPr>
            <p:extLst>
              <p:ext uri="{D42A27DB-BD31-4B8C-83A1-F6EECF244321}">
                <p14:modId xmlns:p14="http://schemas.microsoft.com/office/powerpoint/2010/main" val="1878025954"/>
              </p:ext>
            </p:extLst>
          </p:nvPr>
        </p:nvGraphicFramePr>
        <p:xfrm>
          <a:off x="1682750" y="4973638"/>
          <a:ext cx="6569075" cy="1571625"/>
        </p:xfrm>
        <a:graphic>
          <a:graphicData uri="http://schemas.openxmlformats.org/presentationml/2006/ole">
            <mc:AlternateContent xmlns:mc="http://schemas.openxmlformats.org/markup-compatibility/2006">
              <mc:Choice xmlns:v="urn:schemas-microsoft-com:vml" Requires="v">
                <p:oleObj name="Equation" r:id="rId6" imgW="2869920" imgH="685800" progId="Equation.DSMT4">
                  <p:embed/>
                </p:oleObj>
              </mc:Choice>
              <mc:Fallback>
                <p:oleObj name="Equation" r:id="rId6" imgW="2869920" imgH="685800" progId="Equation.DSMT4">
                  <p:embed/>
                  <p:pic>
                    <p:nvPicPr>
                      <p:cNvPr id="0" name="Object 10"/>
                      <p:cNvPicPr>
                        <a:picLocks noChangeAspect="1" noChangeArrowheads="1"/>
                      </p:cNvPicPr>
                      <p:nvPr/>
                    </p:nvPicPr>
                    <p:blipFill>
                      <a:blip r:embed="rId7"/>
                      <a:srcRect/>
                      <a:stretch>
                        <a:fillRect/>
                      </a:stretch>
                    </p:blipFill>
                    <p:spPr bwMode="auto">
                      <a:xfrm>
                        <a:off x="1682750" y="4973638"/>
                        <a:ext cx="6569075" cy="1571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12">
            <a:extLst>
              <a:ext uri="{FF2B5EF4-FFF2-40B4-BE49-F238E27FC236}">
                <a16:creationId xmlns:a16="http://schemas.microsoft.com/office/drawing/2014/main" id="{7EA19697-C127-8858-651C-A077EF85D952}"/>
              </a:ext>
            </a:extLst>
          </p:cNvPr>
          <p:cNvSpPr>
            <a:spLocks noChangeArrowheads="1"/>
          </p:cNvSpPr>
          <p:nvPr/>
        </p:nvSpPr>
        <p:spPr bwMode="auto">
          <a:xfrm>
            <a:off x="395536" y="3485895"/>
            <a:ext cx="457222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分析：利用三角公式积化和差</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4" name="Rectangle 13">
            <a:extLst>
              <a:ext uri="{FF2B5EF4-FFF2-40B4-BE49-F238E27FC236}">
                <a16:creationId xmlns:a16="http://schemas.microsoft.com/office/drawing/2014/main" id="{4EBC6ABC-2BD0-5260-B363-EC9B7D958CD8}"/>
              </a:ext>
            </a:extLst>
          </p:cNvPr>
          <p:cNvSpPr>
            <a:spLocks noChangeArrowheads="1"/>
          </p:cNvSpPr>
          <p:nvPr/>
        </p:nvSpPr>
        <p:spPr bwMode="auto">
          <a:xfrm>
            <a:off x="611560" y="4749504"/>
            <a:ext cx="11156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可得：</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8" name="箭头: 圆角右 47">
            <a:extLst>
              <a:ext uri="{FF2B5EF4-FFF2-40B4-BE49-F238E27FC236}">
                <a16:creationId xmlns:a16="http://schemas.microsoft.com/office/drawing/2014/main" id="{8095FAC1-8A03-8EC2-E06A-F9C415B778ED}"/>
              </a:ext>
            </a:extLst>
          </p:cNvPr>
          <p:cNvSpPr/>
          <p:nvPr/>
        </p:nvSpPr>
        <p:spPr>
          <a:xfrm rot="10800000">
            <a:off x="8326454" y="2348880"/>
            <a:ext cx="449245" cy="3237693"/>
          </a:xfrm>
          <a:prstGeom prst="bentArrow">
            <a:avLst>
              <a:gd name="adj1" fmla="val 25000"/>
              <a:gd name="adj2" fmla="val 25000"/>
              <a:gd name="adj3" fmla="val 25000"/>
              <a:gd name="adj4" fmla="val 4828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9" name="箭头: 右 48">
            <a:extLst>
              <a:ext uri="{FF2B5EF4-FFF2-40B4-BE49-F238E27FC236}">
                <a16:creationId xmlns:a16="http://schemas.microsoft.com/office/drawing/2014/main" id="{C94D713F-1409-2420-505C-D0BC05ADD290}"/>
              </a:ext>
            </a:extLst>
          </p:cNvPr>
          <p:cNvSpPr/>
          <p:nvPr/>
        </p:nvSpPr>
        <p:spPr>
          <a:xfrm>
            <a:off x="7576665" y="2276872"/>
            <a:ext cx="1199033" cy="25648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箭头连接符 50">
            <a:extLst>
              <a:ext uri="{FF2B5EF4-FFF2-40B4-BE49-F238E27FC236}">
                <a16:creationId xmlns:a16="http://schemas.microsoft.com/office/drawing/2014/main" id="{45660F05-C333-2189-072C-B504352A40E7}"/>
              </a:ext>
            </a:extLst>
          </p:cNvPr>
          <p:cNvCxnSpPr>
            <a:cxnSpLocks/>
          </p:cNvCxnSpPr>
          <p:nvPr/>
        </p:nvCxnSpPr>
        <p:spPr>
          <a:xfrm flipH="1">
            <a:off x="2843808" y="5661248"/>
            <a:ext cx="1440160" cy="43204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DAD1C5B5-45D8-7737-771C-19358D5A6DD6}"/>
              </a:ext>
            </a:extLst>
          </p:cNvPr>
          <p:cNvCxnSpPr>
            <a:cxnSpLocks/>
          </p:cNvCxnSpPr>
          <p:nvPr/>
        </p:nvCxnSpPr>
        <p:spPr>
          <a:xfrm flipH="1">
            <a:off x="4427984" y="5882990"/>
            <a:ext cx="2232248" cy="4263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 name="灯片编号占位符 2">
            <a:extLst>
              <a:ext uri="{FF2B5EF4-FFF2-40B4-BE49-F238E27FC236}">
                <a16:creationId xmlns:a16="http://schemas.microsoft.com/office/drawing/2014/main" id="{620757BA-612D-BA56-FB07-8CBAC98D42DC}"/>
              </a:ext>
            </a:extLst>
          </p:cNvPr>
          <p:cNvSpPr>
            <a:spLocks noGrp="1"/>
          </p:cNvSpPr>
          <p:nvPr>
            <p:ph type="sldNum" sz="quarter" idx="12"/>
          </p:nvPr>
        </p:nvSpPr>
        <p:spPr/>
        <p:txBody>
          <a:bodyPr/>
          <a:lstStyle/>
          <a:p>
            <a:fld id="{76D830B0-DF59-4281-898F-AF208100B213}" type="slidenum">
              <a:rPr lang="en-US" altLang="zh-CN" smtClean="0"/>
              <a:pPr/>
              <a:t>35</a:t>
            </a:fld>
            <a:endParaRPr lang="en-US" altLang="zh-CN"/>
          </a:p>
        </p:txBody>
      </p:sp>
    </p:spTree>
    <p:extLst>
      <p:ext uri="{BB962C8B-B14F-4D97-AF65-F5344CB8AC3E}">
        <p14:creationId xmlns:p14="http://schemas.microsoft.com/office/powerpoint/2010/main" val="33948881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4297E765-8733-85A8-CBF6-0BD579B01467}"/>
              </a:ext>
            </a:extLst>
          </p:cNvPr>
          <p:cNvGraphicFramePr>
            <a:graphicFrameLocks noChangeAspect="1"/>
          </p:cNvGraphicFramePr>
          <p:nvPr>
            <p:extLst>
              <p:ext uri="{D42A27DB-BD31-4B8C-83A1-F6EECF244321}">
                <p14:modId xmlns:p14="http://schemas.microsoft.com/office/powerpoint/2010/main" val="1581970086"/>
              </p:ext>
            </p:extLst>
          </p:nvPr>
        </p:nvGraphicFramePr>
        <p:xfrm>
          <a:off x="3278981" y="2305151"/>
          <a:ext cx="2586038" cy="1014413"/>
        </p:xfrm>
        <a:graphic>
          <a:graphicData uri="http://schemas.openxmlformats.org/presentationml/2006/ole">
            <mc:AlternateContent xmlns:mc="http://schemas.openxmlformats.org/markup-compatibility/2006">
              <mc:Choice xmlns:v="urn:schemas-microsoft-com:vml" Requires="v">
                <p:oleObj name="Equation" r:id="rId2" imgW="1104900" imgH="431800" progId="Equation.DSMT4">
                  <p:embed/>
                </p:oleObj>
              </mc:Choice>
              <mc:Fallback>
                <p:oleObj name="Equation" r:id="rId2" imgW="1104900" imgH="4318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8981" y="2305151"/>
                        <a:ext cx="2586038" cy="1014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a:extLst>
              <a:ext uri="{FF2B5EF4-FFF2-40B4-BE49-F238E27FC236}">
                <a16:creationId xmlns:a16="http://schemas.microsoft.com/office/drawing/2014/main" id="{4DD81B89-8C7F-53B3-9BD6-9B6A8FCEA9D7}"/>
              </a:ext>
            </a:extLst>
          </p:cNvPr>
          <p:cNvGraphicFramePr>
            <a:graphicFrameLocks noChangeAspect="1"/>
          </p:cNvGraphicFramePr>
          <p:nvPr>
            <p:extLst>
              <p:ext uri="{D42A27DB-BD31-4B8C-83A1-F6EECF244321}">
                <p14:modId xmlns:p14="http://schemas.microsoft.com/office/powerpoint/2010/main" val="425421385"/>
              </p:ext>
            </p:extLst>
          </p:nvPr>
        </p:nvGraphicFramePr>
        <p:xfrm>
          <a:off x="3143677" y="3356992"/>
          <a:ext cx="4668344" cy="891982"/>
        </p:xfrm>
        <a:graphic>
          <a:graphicData uri="http://schemas.openxmlformats.org/presentationml/2006/ole">
            <mc:AlternateContent xmlns:mc="http://schemas.openxmlformats.org/markup-compatibility/2006">
              <mc:Choice xmlns:v="urn:schemas-microsoft-com:vml" Requires="v">
                <p:oleObj name="Equation" r:id="rId4" imgW="2070000" imgH="393480" progId="Equation.DSMT4">
                  <p:embed/>
                </p:oleObj>
              </mc:Choice>
              <mc:Fallback>
                <p:oleObj name="Equation" r:id="rId4" imgW="2070000" imgH="393480" progId="Equation.DSMT4">
                  <p:embed/>
                  <p:pic>
                    <p:nvPicPr>
                      <p:cNvPr id="0" name="Object 3"/>
                      <p:cNvPicPr>
                        <a:picLocks noChangeAspect="1" noChangeArrowheads="1"/>
                      </p:cNvPicPr>
                      <p:nvPr/>
                    </p:nvPicPr>
                    <p:blipFill>
                      <a:blip r:embed="rId5"/>
                      <a:srcRect/>
                      <a:stretch>
                        <a:fillRect/>
                      </a:stretch>
                    </p:blipFill>
                    <p:spPr bwMode="auto">
                      <a:xfrm>
                        <a:off x="3143677" y="3356992"/>
                        <a:ext cx="4668344" cy="891982"/>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750491B7-CEB3-22DF-84A7-045D70F284EF}"/>
              </a:ext>
            </a:extLst>
          </p:cNvPr>
          <p:cNvGraphicFramePr>
            <a:graphicFrameLocks noChangeAspect="1"/>
          </p:cNvGraphicFramePr>
          <p:nvPr>
            <p:extLst>
              <p:ext uri="{D42A27DB-BD31-4B8C-83A1-F6EECF244321}">
                <p14:modId xmlns:p14="http://schemas.microsoft.com/office/powerpoint/2010/main" val="2201304235"/>
              </p:ext>
            </p:extLst>
          </p:nvPr>
        </p:nvGraphicFramePr>
        <p:xfrm>
          <a:off x="2859931" y="4481139"/>
          <a:ext cx="5024437" cy="900112"/>
        </p:xfrm>
        <a:graphic>
          <a:graphicData uri="http://schemas.openxmlformats.org/presentationml/2006/ole">
            <mc:AlternateContent xmlns:mc="http://schemas.openxmlformats.org/markup-compatibility/2006">
              <mc:Choice xmlns:v="urn:schemas-microsoft-com:vml" Requires="v">
                <p:oleObj name="Equation" r:id="rId6" imgW="2336760" imgH="419040" progId="Equation.DSMT4">
                  <p:embed/>
                </p:oleObj>
              </mc:Choice>
              <mc:Fallback>
                <p:oleObj name="Equation" r:id="rId6" imgW="2336760" imgH="419040" progId="Equation.DSMT4">
                  <p:embed/>
                  <p:pic>
                    <p:nvPicPr>
                      <p:cNvPr id="0" name="Object 2"/>
                      <p:cNvPicPr>
                        <a:picLocks noChangeAspect="1" noChangeArrowheads="1"/>
                      </p:cNvPicPr>
                      <p:nvPr/>
                    </p:nvPicPr>
                    <p:blipFill>
                      <a:blip r:embed="rId7"/>
                      <a:srcRect/>
                      <a:stretch>
                        <a:fillRect/>
                      </a:stretch>
                    </p:blipFill>
                    <p:spPr bwMode="auto">
                      <a:xfrm>
                        <a:off x="2859931" y="4481139"/>
                        <a:ext cx="5024437" cy="900112"/>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B4E19946-9639-BC45-8FB0-8A2981475032}"/>
              </a:ext>
            </a:extLst>
          </p:cNvPr>
          <p:cNvGraphicFramePr>
            <a:graphicFrameLocks noChangeAspect="1"/>
          </p:cNvGraphicFramePr>
          <p:nvPr>
            <p:extLst>
              <p:ext uri="{D42A27DB-BD31-4B8C-83A1-F6EECF244321}">
                <p14:modId xmlns:p14="http://schemas.microsoft.com/office/powerpoint/2010/main" val="340892369"/>
              </p:ext>
            </p:extLst>
          </p:nvPr>
        </p:nvGraphicFramePr>
        <p:xfrm>
          <a:off x="2859931" y="5511763"/>
          <a:ext cx="2661138" cy="858177"/>
        </p:xfrm>
        <a:graphic>
          <a:graphicData uri="http://schemas.openxmlformats.org/presentationml/2006/ole">
            <mc:AlternateContent xmlns:mc="http://schemas.openxmlformats.org/markup-compatibility/2006">
              <mc:Choice xmlns:v="urn:schemas-microsoft-com:vml" Requires="v">
                <p:oleObj name="Equation" r:id="rId8" imgW="1307880" imgH="419040" progId="Equation.DSMT4">
                  <p:embed/>
                </p:oleObj>
              </mc:Choice>
              <mc:Fallback>
                <p:oleObj name="Equation" r:id="rId8" imgW="1307880" imgH="419040" progId="Equation.DSMT4">
                  <p:embed/>
                  <p:pic>
                    <p:nvPicPr>
                      <p:cNvPr id="0" name="Object 1"/>
                      <p:cNvPicPr>
                        <a:picLocks noChangeAspect="1" noChangeArrowheads="1"/>
                      </p:cNvPicPr>
                      <p:nvPr/>
                    </p:nvPicPr>
                    <p:blipFill>
                      <a:blip r:embed="rId9"/>
                      <a:srcRect/>
                      <a:stretch>
                        <a:fillRect/>
                      </a:stretch>
                    </p:blipFill>
                    <p:spPr bwMode="auto">
                      <a:xfrm>
                        <a:off x="2859931" y="5511763"/>
                        <a:ext cx="2661138" cy="858177"/>
                      </a:xfrm>
                      <a:prstGeom prst="rect">
                        <a:avLst/>
                      </a:prstGeom>
                      <a:noFill/>
                    </p:spPr>
                  </p:pic>
                </p:oleObj>
              </mc:Fallback>
            </mc:AlternateContent>
          </a:graphicData>
        </a:graphic>
      </p:graphicFrame>
      <p:sp>
        <p:nvSpPr>
          <p:cNvPr id="6" name="Rectangle 5">
            <a:extLst>
              <a:ext uri="{FF2B5EF4-FFF2-40B4-BE49-F238E27FC236}">
                <a16:creationId xmlns:a16="http://schemas.microsoft.com/office/drawing/2014/main" id="{0A3B4785-8C73-96C6-9DCD-E87CA63CC06F}"/>
              </a:ext>
            </a:extLst>
          </p:cNvPr>
          <p:cNvSpPr>
            <a:spLocks noChangeArrowheads="1"/>
          </p:cNvSpPr>
          <p:nvPr/>
        </p:nvSpPr>
        <p:spPr bwMode="auto">
          <a:xfrm>
            <a:off x="323528" y="1136228"/>
            <a:ext cx="75608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048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06388"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性质</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：空间呈正弦分布的两个</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行波</a:t>
            </a: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，且</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幅值为常数</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p:txBody>
      </p:sp>
      <p:sp>
        <p:nvSpPr>
          <p:cNvPr id="7" name="Rectangle 6">
            <a:extLst>
              <a:ext uri="{FF2B5EF4-FFF2-40B4-BE49-F238E27FC236}">
                <a16:creationId xmlns:a16="http://schemas.microsoft.com/office/drawing/2014/main" id="{62A7BE8B-48F3-1BFD-57D8-C6844BFDFE75}"/>
              </a:ext>
            </a:extLst>
          </p:cNvPr>
          <p:cNvSpPr>
            <a:spLocks noChangeArrowheads="1"/>
          </p:cNvSpPr>
          <p:nvPr/>
        </p:nvSpPr>
        <p:spPr bwMode="auto">
          <a:xfrm>
            <a:off x="722991" y="3627025"/>
            <a:ext cx="26468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波顶运动线速度：</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75998537-09F7-EC6A-9C3F-B6C45A9C9C51}"/>
              </a:ext>
            </a:extLst>
          </p:cNvPr>
          <p:cNvSpPr>
            <a:spLocks noChangeArrowheads="1"/>
          </p:cNvSpPr>
          <p:nvPr/>
        </p:nvSpPr>
        <p:spPr bwMode="auto">
          <a:xfrm>
            <a:off x="704086" y="5066965"/>
            <a:ext cx="24482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048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波顶旋转速度：</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2" name="文本框 11">
            <a:extLst>
              <a:ext uri="{FF2B5EF4-FFF2-40B4-BE49-F238E27FC236}">
                <a16:creationId xmlns:a16="http://schemas.microsoft.com/office/drawing/2014/main" id="{229D9269-920C-ECD0-AFA8-4CAE996C486D}"/>
              </a:ext>
            </a:extLst>
          </p:cNvPr>
          <p:cNvSpPr txBox="1"/>
          <p:nvPr/>
        </p:nvSpPr>
        <p:spPr>
          <a:xfrm>
            <a:off x="683567" y="1772816"/>
            <a:ext cx="7128453" cy="461665"/>
          </a:xfrm>
          <a:prstGeom prst="rect">
            <a:avLst/>
          </a:prstGeom>
          <a:noFill/>
        </p:spPr>
        <p:txBody>
          <a:bodyPr wrap="square">
            <a:spAutoFit/>
          </a:bodyPr>
          <a:lstStyle/>
          <a:p>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若令正弦值＝</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，可得波顶（幅值）运动方程：</a:t>
            </a:r>
            <a:endParaRPr lang="zh-CN" altLang="en-US" sz="2400" dirty="0"/>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A2DE2B7-7970-9801-7CBC-B4F0073A87B5}"/>
                  </a:ext>
                </a:extLst>
              </p:cNvPr>
              <p:cNvSpPr txBox="1"/>
              <p:nvPr/>
            </p:nvSpPr>
            <p:spPr>
              <a:xfrm>
                <a:off x="6862817" y="5191180"/>
                <a:ext cx="157709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400" i="1" smtClean="0">
                              <a:solidFill>
                                <a:srgbClr val="FF0000"/>
                              </a:solidFill>
                              <a:latin typeface="Cambria Math" panose="02040503050406030204" pitchFamily="18" charset="0"/>
                            </a:rPr>
                          </m:ctrlPr>
                        </m:dPr>
                        <m:e>
                          <m:d>
                            <m:dPr>
                              <m:begChr m:val=""/>
                              <m:endChr m:val=""/>
                              <m:ctrlPr>
                                <a:rPr lang="zh-CN" altLang="en-US" sz="2400" i="1">
                                  <a:solidFill>
                                    <a:srgbClr val="FF0000"/>
                                  </a:solidFill>
                                  <a:latin typeface="Cambria Math" panose="02040503050406030204" pitchFamily="18" charset="0"/>
                                </a:rPr>
                              </m:ctrlPr>
                            </m:dPr>
                            <m:e>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𝐹</m:t>
                                  </m:r>
                                </m:e>
                                <m:sub>
                                  <m:r>
                                    <a:rPr lang="zh-CN" altLang="en-US" sz="2400" i="0">
                                      <a:solidFill>
                                        <a:srgbClr val="FF0000"/>
                                      </a:solidFill>
                                      <a:latin typeface="Cambria Math" panose="02040503050406030204" pitchFamily="18" charset="0"/>
                                    </a:rPr>
                                    <m:t>1</m:t>
                                  </m:r>
                                  <m:r>
                                    <a:rPr lang="zh-CN" altLang="en-US" sz="2400" i="1">
                                      <a:solidFill>
                                        <a:srgbClr val="FF0000"/>
                                      </a:solidFill>
                                      <a:latin typeface="Cambria Math" panose="02040503050406030204" pitchFamily="18" charset="0"/>
                                    </a:rPr>
                                    <m:t>𝐹</m:t>
                                  </m:r>
                                </m:sub>
                              </m:sSub>
                              <m:d>
                                <m:dPr>
                                  <m:begChr m:val=""/>
                                  <m:endChr m:val=""/>
                                  <m:ctrlPr>
                                    <a:rPr lang="zh-CN" altLang="en-US" sz="2400" i="1">
                                      <a:solidFill>
                                        <a:srgbClr val="FF0000"/>
                                      </a:solidFill>
                                      <a:latin typeface="Cambria Math" panose="02040503050406030204" pitchFamily="18" charset="0"/>
                                    </a:rPr>
                                  </m:ctrlPr>
                                </m:dPr>
                                <m:e>
                                  <m:r>
                                    <a:rPr lang="zh-CN" altLang="en-US" sz="2400" i="0">
                                      <a:solidFill>
                                        <a:srgbClr val="FF0000"/>
                                      </a:solidFill>
                                      <a:latin typeface="Cambria Math" panose="02040503050406030204" pitchFamily="18" charset="0"/>
                                    </a:rPr>
                                    <m:t>(</m:t>
                                  </m:r>
                                </m:e>
                              </m:d>
                              <m:r>
                                <a:rPr lang="zh-CN" altLang="en-US" sz="2400" i="1">
                                  <a:solidFill>
                                    <a:srgbClr val="FF0000"/>
                                  </a:solidFill>
                                  <a:latin typeface="Cambria Math" panose="02040503050406030204" pitchFamily="18" charset="0"/>
                                </a:rPr>
                                <m:t>𝑥</m:t>
                              </m:r>
                              <m:r>
                                <a:rPr lang="zh-CN" altLang="en-US" sz="2400" i="0">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𝑡</m:t>
                              </m:r>
                              <m:r>
                                <a:rPr lang="zh-CN" altLang="en-US" sz="2400" i="0">
                                  <a:solidFill>
                                    <a:srgbClr val="FF0000"/>
                                  </a:solidFill>
                                  <a:latin typeface="Cambria Math" panose="02040503050406030204" pitchFamily="18" charset="0"/>
                                </a:rPr>
                                <m:t>)</m:t>
                              </m:r>
                            </m:e>
                          </m:d>
                        </m:e>
                      </m:d>
                    </m:oMath>
                  </m:oMathPara>
                </a14:m>
                <a:endParaRPr lang="zh-CN" altLang="en-US" sz="2400" dirty="0">
                  <a:solidFill>
                    <a:srgbClr val="FF0000"/>
                  </a:solidFill>
                </a:endParaRPr>
              </a:p>
            </p:txBody>
          </p:sp>
        </mc:Choice>
        <mc:Fallback xmlns="">
          <p:sp>
            <p:nvSpPr>
              <p:cNvPr id="29" name="文本框 28">
                <a:extLst>
                  <a:ext uri="{FF2B5EF4-FFF2-40B4-BE49-F238E27FC236}">
                    <a16:creationId xmlns:a16="http://schemas.microsoft.com/office/drawing/2014/main" id="{7A2DE2B7-7970-9801-7CBC-B4F0073A87B5}"/>
                  </a:ext>
                </a:extLst>
              </p:cNvPr>
              <p:cNvSpPr txBox="1">
                <a:spLocks noRot="1" noChangeAspect="1" noMove="1" noResize="1" noEditPoints="1" noAdjustHandles="1" noChangeArrowheads="1" noChangeShapeType="1" noTextEdit="1"/>
              </p:cNvSpPr>
              <p:nvPr/>
            </p:nvSpPr>
            <p:spPr>
              <a:xfrm>
                <a:off x="6862817" y="5191180"/>
                <a:ext cx="1577097" cy="461665"/>
              </a:xfrm>
              <a:prstGeom prst="rect">
                <a:avLst/>
              </a:prstGeom>
              <a:blipFill>
                <a:blip r:embed="rId10"/>
                <a:stretch>
                  <a:fillRect b="-2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27B8637A-9E79-DD3D-2FBE-F4959096AB71}"/>
                  </a:ext>
                </a:extLst>
              </p:cNvPr>
              <p:cNvSpPr txBox="1"/>
              <p:nvPr/>
            </p:nvSpPr>
            <p:spPr>
              <a:xfrm>
                <a:off x="5943691" y="5940851"/>
                <a:ext cx="157709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400" i="1" smtClean="0">
                              <a:solidFill>
                                <a:srgbClr val="0000FF"/>
                              </a:solidFill>
                              <a:latin typeface="Cambria Math" panose="02040503050406030204" pitchFamily="18" charset="0"/>
                            </a:rPr>
                          </m:ctrlPr>
                        </m:dPr>
                        <m:e>
                          <m:d>
                            <m:dPr>
                              <m:begChr m:val=""/>
                              <m:endChr m:val=""/>
                              <m:ctrlPr>
                                <a:rPr lang="zh-CN" altLang="en-US" sz="2400" i="1">
                                  <a:solidFill>
                                    <a:srgbClr val="0000FF"/>
                                  </a:solidFill>
                                  <a:latin typeface="Cambria Math" panose="02040503050406030204" pitchFamily="18" charset="0"/>
                                </a:rPr>
                              </m:ctrlPr>
                            </m:dPr>
                            <m:e>
                              <m:sSub>
                                <m:sSubPr>
                                  <m:ctrlPr>
                                    <a:rPr lang="zh-CN" altLang="en-US" sz="2400" i="1">
                                      <a:solidFill>
                                        <a:srgbClr val="0000FF"/>
                                      </a:solidFill>
                                      <a:latin typeface="Cambria Math" panose="02040503050406030204" pitchFamily="18" charset="0"/>
                                    </a:rPr>
                                  </m:ctrlPr>
                                </m:sSubPr>
                                <m:e>
                                  <m:r>
                                    <a:rPr lang="zh-CN" altLang="en-US" sz="2400" i="1">
                                      <a:solidFill>
                                        <a:srgbClr val="0000FF"/>
                                      </a:solidFill>
                                      <a:latin typeface="Cambria Math" panose="02040503050406030204" pitchFamily="18" charset="0"/>
                                    </a:rPr>
                                    <m:t>𝐹</m:t>
                                  </m:r>
                                </m:e>
                                <m:sub>
                                  <m:r>
                                    <a:rPr lang="zh-CN" altLang="en-US" sz="2400" i="0">
                                      <a:solidFill>
                                        <a:srgbClr val="0000FF"/>
                                      </a:solidFill>
                                      <a:latin typeface="Cambria Math" panose="02040503050406030204" pitchFamily="18" charset="0"/>
                                    </a:rPr>
                                    <m:t>1</m:t>
                                  </m:r>
                                  <m:r>
                                    <a:rPr lang="en-US" altLang="zh-CN" sz="2400" b="0" i="1" smtClean="0">
                                      <a:solidFill>
                                        <a:srgbClr val="0000FF"/>
                                      </a:solidFill>
                                      <a:latin typeface="Cambria Math" panose="02040503050406030204" pitchFamily="18" charset="0"/>
                                    </a:rPr>
                                    <m:t>𝑅</m:t>
                                  </m:r>
                                </m:sub>
                              </m:sSub>
                              <m:d>
                                <m:dPr>
                                  <m:begChr m:val=""/>
                                  <m:endChr m:val=""/>
                                  <m:ctrlPr>
                                    <a:rPr lang="zh-CN" altLang="en-US" sz="2400" i="1">
                                      <a:solidFill>
                                        <a:srgbClr val="0000FF"/>
                                      </a:solidFill>
                                      <a:latin typeface="Cambria Math" panose="02040503050406030204" pitchFamily="18" charset="0"/>
                                    </a:rPr>
                                  </m:ctrlPr>
                                </m:dPr>
                                <m:e>
                                  <m:r>
                                    <a:rPr lang="zh-CN" altLang="en-US" sz="2400" i="0">
                                      <a:solidFill>
                                        <a:srgbClr val="0000FF"/>
                                      </a:solidFill>
                                      <a:latin typeface="Cambria Math" panose="02040503050406030204" pitchFamily="18" charset="0"/>
                                    </a:rPr>
                                    <m:t>(</m:t>
                                  </m:r>
                                </m:e>
                              </m:d>
                              <m:r>
                                <a:rPr lang="zh-CN" altLang="en-US" sz="2400" i="1">
                                  <a:solidFill>
                                    <a:srgbClr val="0000FF"/>
                                  </a:solidFill>
                                  <a:latin typeface="Cambria Math" panose="02040503050406030204" pitchFamily="18" charset="0"/>
                                </a:rPr>
                                <m:t>𝑥</m:t>
                              </m:r>
                              <m:r>
                                <a:rPr lang="zh-CN" altLang="en-US" sz="2400" i="0">
                                  <a:solidFill>
                                    <a:srgbClr val="0000FF"/>
                                  </a:solidFill>
                                  <a:latin typeface="Cambria Math" panose="02040503050406030204" pitchFamily="18" charset="0"/>
                                </a:rPr>
                                <m:t>,</m:t>
                              </m:r>
                              <m:r>
                                <a:rPr lang="zh-CN" altLang="en-US" sz="2400" i="1">
                                  <a:solidFill>
                                    <a:srgbClr val="0000FF"/>
                                  </a:solidFill>
                                  <a:latin typeface="Cambria Math" panose="02040503050406030204" pitchFamily="18" charset="0"/>
                                </a:rPr>
                                <m:t>𝑡</m:t>
                              </m:r>
                              <m:r>
                                <a:rPr lang="zh-CN" altLang="en-US" sz="2400" i="0">
                                  <a:solidFill>
                                    <a:srgbClr val="0000FF"/>
                                  </a:solidFill>
                                  <a:latin typeface="Cambria Math" panose="02040503050406030204" pitchFamily="18" charset="0"/>
                                </a:rPr>
                                <m:t>)</m:t>
                              </m:r>
                            </m:e>
                          </m:d>
                        </m:e>
                      </m:d>
                    </m:oMath>
                  </m:oMathPara>
                </a14:m>
                <a:endParaRPr lang="zh-CN" altLang="en-US" sz="2400" dirty="0">
                  <a:solidFill>
                    <a:srgbClr val="0000FF"/>
                  </a:solidFill>
                </a:endParaRPr>
              </a:p>
            </p:txBody>
          </p:sp>
        </mc:Choice>
        <mc:Fallback xmlns="">
          <p:sp>
            <p:nvSpPr>
              <p:cNvPr id="30" name="文本框 29">
                <a:extLst>
                  <a:ext uri="{FF2B5EF4-FFF2-40B4-BE49-F238E27FC236}">
                    <a16:creationId xmlns:a16="http://schemas.microsoft.com/office/drawing/2014/main" id="{27B8637A-9E79-DD3D-2FBE-F4959096AB71}"/>
                  </a:ext>
                </a:extLst>
              </p:cNvPr>
              <p:cNvSpPr txBox="1">
                <a:spLocks noRot="1" noChangeAspect="1" noMove="1" noResize="1" noEditPoints="1" noAdjustHandles="1" noChangeArrowheads="1" noChangeShapeType="1" noTextEdit="1"/>
              </p:cNvSpPr>
              <p:nvPr/>
            </p:nvSpPr>
            <p:spPr>
              <a:xfrm>
                <a:off x="5943691" y="5940851"/>
                <a:ext cx="1577097" cy="461665"/>
              </a:xfrm>
              <a:prstGeom prst="rect">
                <a:avLst/>
              </a:prstGeom>
              <a:blipFill>
                <a:blip r:embed="rId11"/>
                <a:stretch>
                  <a:fillRect b="-21333"/>
                </a:stretch>
              </a:blipFill>
            </p:spPr>
            <p:txBody>
              <a:bodyPr/>
              <a:lstStyle/>
              <a:p>
                <a:r>
                  <a:rPr lang="zh-CN" altLang="en-US">
                    <a:noFill/>
                  </a:rPr>
                  <a:t> </a:t>
                </a:r>
              </a:p>
            </p:txBody>
          </p:sp>
        </mc:Fallback>
      </mc:AlternateContent>
      <p:cxnSp>
        <p:nvCxnSpPr>
          <p:cNvPr id="31" name="直接箭头连接符 30">
            <a:extLst>
              <a:ext uri="{FF2B5EF4-FFF2-40B4-BE49-F238E27FC236}">
                <a16:creationId xmlns:a16="http://schemas.microsoft.com/office/drawing/2014/main" id="{0DC3D6EF-E665-7C0A-29FD-FEEC60702D5F}"/>
              </a:ext>
            </a:extLst>
          </p:cNvPr>
          <p:cNvCxnSpPr>
            <a:cxnSpLocks/>
          </p:cNvCxnSpPr>
          <p:nvPr/>
        </p:nvCxnSpPr>
        <p:spPr>
          <a:xfrm>
            <a:off x="6444208" y="5155694"/>
            <a:ext cx="576064" cy="24477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B5BE21DA-8B81-F4DF-A685-D88664C81D37}"/>
              </a:ext>
            </a:extLst>
          </p:cNvPr>
          <p:cNvCxnSpPr>
            <a:cxnSpLocks/>
          </p:cNvCxnSpPr>
          <p:nvPr/>
        </p:nvCxnSpPr>
        <p:spPr>
          <a:xfrm>
            <a:off x="5553572" y="5941412"/>
            <a:ext cx="549614" cy="19777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0" name="灯片编号占位符 9">
            <a:extLst>
              <a:ext uri="{FF2B5EF4-FFF2-40B4-BE49-F238E27FC236}">
                <a16:creationId xmlns:a16="http://schemas.microsoft.com/office/drawing/2014/main" id="{7D5E2F27-0C8F-0D9F-813E-8C4810A0AAD9}"/>
              </a:ext>
            </a:extLst>
          </p:cNvPr>
          <p:cNvSpPr>
            <a:spLocks noGrp="1"/>
          </p:cNvSpPr>
          <p:nvPr>
            <p:ph type="sldNum" sz="quarter" idx="12"/>
          </p:nvPr>
        </p:nvSpPr>
        <p:spPr/>
        <p:txBody>
          <a:bodyPr/>
          <a:lstStyle/>
          <a:p>
            <a:fld id="{76D830B0-DF59-4281-898F-AF208100B213}" type="slidenum">
              <a:rPr lang="en-US" altLang="zh-CN" smtClean="0"/>
              <a:pPr/>
              <a:t>36</a:t>
            </a:fld>
            <a:endParaRPr lang="en-US" altLang="zh-CN"/>
          </a:p>
        </p:txBody>
      </p:sp>
    </p:spTree>
    <p:extLst>
      <p:ext uri="{BB962C8B-B14F-4D97-AF65-F5344CB8AC3E}">
        <p14:creationId xmlns:p14="http://schemas.microsoft.com/office/powerpoint/2010/main" val="37866295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0">
            <a:extLst>
              <a:ext uri="{FF2B5EF4-FFF2-40B4-BE49-F238E27FC236}">
                <a16:creationId xmlns:a16="http://schemas.microsoft.com/office/drawing/2014/main" id="{B65DFA2B-1078-0651-12FA-DC2887304B5A}"/>
              </a:ext>
            </a:extLst>
          </p:cNvPr>
          <p:cNvSpPr>
            <a:spLocks noChangeArrowheads="1"/>
          </p:cNvSpPr>
          <p:nvPr/>
        </p:nvSpPr>
        <p:spPr bwMode="auto">
          <a:xfrm>
            <a:off x="611560" y="980728"/>
            <a:ext cx="8046894" cy="4032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53035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结论</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en-US" sz="2400" b="1" dirty="0">
                <a:latin typeface="黑体" panose="02010609060101010101" pitchFamily="49" charset="-122"/>
                <a:ea typeface="黑体" panose="02010609060101010101" pitchFamily="49" charset="-122"/>
                <a:cs typeface="Times New Roman" panose="02020603050405020304" pitchFamily="18" charset="0"/>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rPr>
              <a:t>1</a:t>
            </a:r>
            <a:r>
              <a:rPr lang="zh-CN" altLang="en-US" sz="2400" b="1" dirty="0">
                <a:latin typeface="黑体" panose="02010609060101010101" pitchFamily="49" charset="-122"/>
                <a:ea typeface="黑体" panose="02010609060101010101" pitchFamily="49" charset="-122"/>
                <a:cs typeface="Times New Roman" panose="02020603050405020304" pitchFamily="18" charset="0"/>
              </a:rPr>
              <a:t>）一相绕组中电流所建立的磁势在</a:t>
            </a:r>
            <a:r>
              <a:rPr lang="zh-CN" altLang="en-US" sz="24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忽略三次谐波</a:t>
            </a:r>
            <a:r>
              <a:rPr lang="zh-CN" altLang="en-US" sz="2400" b="1" dirty="0">
                <a:latin typeface="黑体" panose="02010609060101010101" pitchFamily="49" charset="-122"/>
                <a:ea typeface="黑体" panose="02010609060101010101" pitchFamily="49" charset="-122"/>
                <a:cs typeface="Times New Roman" panose="02020603050405020304" pitchFamily="18" charset="0"/>
              </a:rPr>
              <a:t>的条件下可近似视为一个</a:t>
            </a: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空间正弦分布</a:t>
            </a:r>
            <a:r>
              <a:rPr lang="zh-CN" altLang="en-US" sz="2400" b="1" dirty="0">
                <a:latin typeface="黑体" panose="02010609060101010101" pitchFamily="49" charset="-122"/>
                <a:ea typeface="黑体" panose="02010609060101010101" pitchFamily="49" charset="-122"/>
                <a:cs typeface="Times New Roman" panose="02020603050405020304" pitchFamily="18" charset="0"/>
              </a:rPr>
              <a:t>的</a:t>
            </a:r>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脉振磁势</a:t>
            </a:r>
            <a:r>
              <a:rPr lang="zh-CN" altLang="en-US" sz="2400" b="1" dirty="0">
                <a:latin typeface="黑体" panose="02010609060101010101" pitchFamily="49" charset="-122"/>
                <a:ea typeface="黑体" panose="02010609060101010101" pitchFamily="49" charset="-122"/>
                <a:cs typeface="Times New Roman" panose="02020603050405020304" pitchFamily="18" charset="0"/>
              </a:rPr>
              <a:t>；</a:t>
            </a:r>
            <a:endParaRPr lang="en-US" altLang="zh-CN" sz="2400" b="1" dirty="0">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en-US" sz="2400" b="1" dirty="0">
                <a:latin typeface="黑体" panose="02010609060101010101" pitchFamily="49" charset="-122"/>
                <a:ea typeface="黑体" panose="02010609060101010101" pitchFamily="49" charset="-122"/>
                <a:cs typeface="Times New Roman" panose="02020603050405020304" pitchFamily="18" charset="0"/>
              </a:rPr>
              <a:t>（</a:t>
            </a:r>
            <a:r>
              <a:rPr lang="en-US" altLang="zh-CN" sz="2400" b="1" dirty="0">
                <a:latin typeface="黑体" panose="02010609060101010101" pitchFamily="49" charset="-122"/>
                <a:ea typeface="黑体" panose="02010609060101010101" pitchFamily="49" charset="-122"/>
                <a:cs typeface="Times New Roman" panose="02020603050405020304" pitchFamily="18" charset="0"/>
              </a:rPr>
              <a:t>2</a:t>
            </a:r>
            <a:r>
              <a:rPr lang="zh-CN" altLang="en-US" sz="2400" b="1" dirty="0">
                <a:latin typeface="黑体" panose="02010609060101010101" pitchFamily="49" charset="-122"/>
                <a:ea typeface="黑体" panose="02010609060101010101" pitchFamily="49" charset="-122"/>
                <a:cs typeface="Times New Roman" panose="02020603050405020304" pitchFamily="18" charset="0"/>
              </a:rPr>
              <a:t>）这个脉振磁势可分解成两个幅值相等的</a:t>
            </a: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正弦旋转磁势</a:t>
            </a:r>
            <a:r>
              <a:rPr lang="zh-CN" altLang="en-US" sz="2400" b="1" dirty="0">
                <a:latin typeface="黑体" panose="02010609060101010101" pitchFamily="49" charset="-122"/>
                <a:ea typeface="黑体" panose="02010609060101010101" pitchFamily="49" charset="-122"/>
                <a:cs typeface="Times New Roman" panose="02020603050405020304" pitchFamily="18" charset="0"/>
              </a:rPr>
              <a:t>，其幅值均为脉振磁势最大幅值的一半；</a:t>
            </a:r>
            <a:endParaRPr lang="en-US" altLang="zh-CN" sz="2400" b="1" dirty="0">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）分解得到的两个</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磁势旋转速度相同</a:t>
            </a: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方向相反</a:t>
            </a: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400" b="1" i="0" u="none" strike="noStrike" cap="none" normalizeH="0" baseline="0" dirty="0">
              <a:ln>
                <a:noFill/>
              </a:ln>
              <a:effectLst/>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 name="对象 9">
            <a:extLst>
              <a:ext uri="{FF2B5EF4-FFF2-40B4-BE49-F238E27FC236}">
                <a16:creationId xmlns:a16="http://schemas.microsoft.com/office/drawing/2014/main" id="{A8AC2BF2-EF0B-2E66-0AA0-4E2D4078CD55}"/>
              </a:ext>
            </a:extLst>
          </p:cNvPr>
          <p:cNvGraphicFramePr>
            <a:graphicFrameLocks noChangeAspect="1"/>
          </p:cNvGraphicFramePr>
          <p:nvPr>
            <p:extLst>
              <p:ext uri="{D42A27DB-BD31-4B8C-83A1-F6EECF244321}">
                <p14:modId xmlns:p14="http://schemas.microsoft.com/office/powerpoint/2010/main" val="198366190"/>
              </p:ext>
            </p:extLst>
          </p:nvPr>
        </p:nvGraphicFramePr>
        <p:xfrm>
          <a:off x="6210182" y="3933056"/>
          <a:ext cx="1728192" cy="530834"/>
        </p:xfrm>
        <a:graphic>
          <a:graphicData uri="http://schemas.openxmlformats.org/presentationml/2006/ole">
            <mc:AlternateContent xmlns:mc="http://schemas.openxmlformats.org/markup-compatibility/2006">
              <mc:Choice xmlns:v="urn:schemas-microsoft-com:vml" Requires="v">
                <p:oleObj name="Equation" r:id="rId2" imgW="825480" imgH="253800" progId="Equation.DSMT4">
                  <p:embed/>
                </p:oleObj>
              </mc:Choice>
              <mc:Fallback>
                <p:oleObj name="Equation" r:id="rId2" imgW="825480" imgH="253800" progId="Equation.DSMT4">
                  <p:embed/>
                  <p:pic>
                    <p:nvPicPr>
                      <p:cNvPr id="0" name="Object 1"/>
                      <p:cNvPicPr>
                        <a:picLocks noChangeAspect="1" noChangeArrowheads="1"/>
                      </p:cNvPicPr>
                      <p:nvPr/>
                    </p:nvPicPr>
                    <p:blipFill>
                      <a:blip r:embed="rId3"/>
                      <a:srcRect/>
                      <a:stretch>
                        <a:fillRect/>
                      </a:stretch>
                    </p:blipFill>
                    <p:spPr bwMode="auto">
                      <a:xfrm>
                        <a:off x="6210182" y="3933056"/>
                        <a:ext cx="1728192" cy="530834"/>
                      </a:xfrm>
                      <a:prstGeom prst="rect">
                        <a:avLst/>
                      </a:prstGeom>
                      <a:solidFill>
                        <a:schemeClr val="bg1"/>
                      </a:solidFill>
                    </p:spPr>
                  </p:pic>
                </p:oleObj>
              </mc:Fallback>
            </mc:AlternateContent>
          </a:graphicData>
        </a:graphic>
      </p:graphicFrame>
      <p:sp>
        <p:nvSpPr>
          <p:cNvPr id="3" name="灯片编号占位符 2">
            <a:extLst>
              <a:ext uri="{FF2B5EF4-FFF2-40B4-BE49-F238E27FC236}">
                <a16:creationId xmlns:a16="http://schemas.microsoft.com/office/drawing/2014/main" id="{C6A0CB84-2D0D-C098-5E5F-FF1372E37E11}"/>
              </a:ext>
            </a:extLst>
          </p:cNvPr>
          <p:cNvSpPr>
            <a:spLocks noGrp="1"/>
          </p:cNvSpPr>
          <p:nvPr>
            <p:ph type="sldNum" sz="quarter" idx="12"/>
          </p:nvPr>
        </p:nvSpPr>
        <p:spPr/>
        <p:txBody>
          <a:bodyPr/>
          <a:lstStyle/>
          <a:p>
            <a:fld id="{76D830B0-DF59-4281-898F-AF208100B213}" type="slidenum">
              <a:rPr lang="en-US" altLang="zh-CN" smtClean="0"/>
              <a:pPr/>
              <a:t>37</a:t>
            </a:fld>
            <a:endParaRPr lang="en-US" altLang="zh-CN"/>
          </a:p>
        </p:txBody>
      </p:sp>
    </p:spTree>
    <p:extLst>
      <p:ext uri="{BB962C8B-B14F-4D97-AF65-F5344CB8AC3E}">
        <p14:creationId xmlns:p14="http://schemas.microsoft.com/office/powerpoint/2010/main" val="12692044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8">
            <a:extLst>
              <a:ext uri="{FF2B5EF4-FFF2-40B4-BE49-F238E27FC236}">
                <a16:creationId xmlns:a16="http://schemas.microsoft.com/office/drawing/2014/main" id="{4EC3A376-1A52-F155-A6C1-4CEF1A338FD7}"/>
              </a:ext>
            </a:extLst>
          </p:cNvPr>
          <p:cNvSpPr>
            <a:spLocks noChangeArrowheads="1"/>
          </p:cNvSpPr>
          <p:nvPr/>
        </p:nvSpPr>
        <p:spPr bwMode="auto">
          <a:xfrm>
            <a:off x="401200" y="1052736"/>
            <a:ext cx="48013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1" indent="0" algn="l" defTabSz="914400" rtl="0" eaLnBrk="0" fontAlgn="base" latinLnBrk="0" hangingPunct="0">
              <a:lnSpc>
                <a:spcPct val="100000"/>
              </a:lnSpc>
              <a:spcBef>
                <a:spcPct val="0"/>
              </a:spcBef>
              <a:spcAft>
                <a:spcPct val="0"/>
              </a:spcAft>
              <a:buClrTx/>
              <a:buSzTx/>
              <a:tabLst/>
            </a:pP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、三相绕组合成磁通势的性质</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1" i="0" u="none" strike="noStrike" cap="none" normalizeH="0" baseline="0" dirty="0">
              <a:ln>
                <a:noFill/>
              </a:ln>
              <a:solidFill>
                <a:srgbClr val="0000FF"/>
              </a:solidFill>
              <a:effectLst/>
              <a:latin typeface="Arial" panose="020B0604020202020204" pitchFamily="34" charset="0"/>
            </a:endParaRPr>
          </a:p>
        </p:txBody>
      </p:sp>
      <p:graphicFrame>
        <p:nvGraphicFramePr>
          <p:cNvPr id="2" name="对象 1">
            <a:extLst>
              <a:ext uri="{FF2B5EF4-FFF2-40B4-BE49-F238E27FC236}">
                <a16:creationId xmlns:a16="http://schemas.microsoft.com/office/drawing/2014/main" id="{3F36AC68-3CE9-809B-EAAE-64F2BBB4DDF6}"/>
              </a:ext>
            </a:extLst>
          </p:cNvPr>
          <p:cNvGraphicFramePr>
            <a:graphicFrameLocks noChangeAspect="1"/>
          </p:cNvGraphicFramePr>
          <p:nvPr>
            <p:extLst>
              <p:ext uri="{D42A27DB-BD31-4B8C-83A1-F6EECF244321}">
                <p14:modId xmlns:p14="http://schemas.microsoft.com/office/powerpoint/2010/main" val="1247136499"/>
              </p:ext>
            </p:extLst>
          </p:nvPr>
        </p:nvGraphicFramePr>
        <p:xfrm>
          <a:off x="1186769" y="1750979"/>
          <a:ext cx="4027023" cy="2496089"/>
        </p:xfrm>
        <a:graphic>
          <a:graphicData uri="http://schemas.openxmlformats.org/presentationml/2006/ole">
            <mc:AlternateContent xmlns:mc="http://schemas.openxmlformats.org/markup-compatibility/2006">
              <mc:Choice xmlns:v="urn:schemas-microsoft-com:vml" Requires="v">
                <p:oleObj r:id="rId2" imgW="1835280" imgH="1128600" progId="">
                  <p:embed/>
                </p:oleObj>
              </mc:Choice>
              <mc:Fallback>
                <p:oleObj r:id="rId2" imgW="1835280" imgH="1128600" progId="">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6769" y="1750979"/>
                        <a:ext cx="4027023" cy="2496089"/>
                      </a:xfrm>
                      <a:prstGeom prst="rect">
                        <a:avLst/>
                      </a:prstGeom>
                      <a:noFill/>
                      <a:ln>
                        <a:noFill/>
                      </a:ln>
                    </p:spPr>
                  </p:pic>
                </p:oleObj>
              </mc:Fallback>
            </mc:AlternateContent>
          </a:graphicData>
        </a:graphic>
      </p:graphicFrame>
      <p:sp>
        <p:nvSpPr>
          <p:cNvPr id="4" name="文本框 3">
            <a:extLst>
              <a:ext uri="{FF2B5EF4-FFF2-40B4-BE49-F238E27FC236}">
                <a16:creationId xmlns:a16="http://schemas.microsoft.com/office/drawing/2014/main" id="{06201514-EC86-1F9D-6E79-DFF22F53B206}"/>
              </a:ext>
            </a:extLst>
          </p:cNvPr>
          <p:cNvSpPr txBox="1"/>
          <p:nvPr/>
        </p:nvSpPr>
        <p:spPr>
          <a:xfrm>
            <a:off x="5508104" y="2126631"/>
            <a:ext cx="3105437" cy="1590692"/>
          </a:xfrm>
          <a:prstGeom prst="rect">
            <a:avLst/>
          </a:prstGeom>
          <a:noFill/>
        </p:spPr>
        <p:txBody>
          <a:bodyPr wrap="square">
            <a:spAutoFit/>
          </a:bodyPr>
          <a:lstStyle/>
          <a:p>
            <a:pPr algn="l">
              <a:lnSpc>
                <a:spcPct val="125000"/>
              </a:lnSpc>
            </a:pPr>
            <a:r>
              <a:rPr lang="zh-CN" altLang="en-US" sz="2000" b="0" kern="100" dirty="0">
                <a:solidFill>
                  <a:srgbClr val="C00000"/>
                </a:solidFill>
                <a:effectLst/>
                <a:latin typeface="Times New Roman" panose="02020603050405020304" pitchFamily="18" charset="0"/>
                <a:ea typeface="黑体" panose="02010609060101010101" pitchFamily="49" charset="-122"/>
              </a:rPr>
              <a:t>注意：</a:t>
            </a:r>
            <a:r>
              <a:rPr lang="zh-CN" altLang="zh-CN" sz="2000" b="0" kern="100" dirty="0">
                <a:solidFill>
                  <a:srgbClr val="000000"/>
                </a:solidFill>
                <a:effectLst/>
                <a:latin typeface="Times New Roman" panose="02020603050405020304" pitchFamily="18" charset="0"/>
                <a:ea typeface="黑体" panose="02010609060101010101" pitchFamily="49" charset="-122"/>
              </a:rPr>
              <a:t>旋转磁场源于空间对称分布的三相绕组中流过三相电流</a:t>
            </a:r>
            <a:r>
              <a:rPr lang="zh-CN" altLang="zh-CN" sz="20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形成的合成旋转磁势。</a:t>
            </a:r>
            <a:endParaRPr lang="zh-CN" altLang="en-US" sz="2000" dirty="0"/>
          </a:p>
        </p:txBody>
      </p:sp>
      <p:graphicFrame>
        <p:nvGraphicFramePr>
          <p:cNvPr id="6" name="对象 5">
            <a:extLst>
              <a:ext uri="{FF2B5EF4-FFF2-40B4-BE49-F238E27FC236}">
                <a16:creationId xmlns:a16="http://schemas.microsoft.com/office/drawing/2014/main" id="{B5FEA3FF-3259-42F9-D0FE-8FE8B924E830}"/>
              </a:ext>
            </a:extLst>
          </p:cNvPr>
          <p:cNvGraphicFramePr>
            <a:graphicFrameLocks noChangeAspect="1"/>
          </p:cNvGraphicFramePr>
          <p:nvPr>
            <p:extLst>
              <p:ext uri="{D42A27DB-BD31-4B8C-83A1-F6EECF244321}">
                <p14:modId xmlns:p14="http://schemas.microsoft.com/office/powerpoint/2010/main" val="613888853"/>
              </p:ext>
            </p:extLst>
          </p:nvPr>
        </p:nvGraphicFramePr>
        <p:xfrm>
          <a:off x="636588" y="4483100"/>
          <a:ext cx="2501900" cy="2041525"/>
        </p:xfrm>
        <a:graphic>
          <a:graphicData uri="http://schemas.openxmlformats.org/presentationml/2006/ole">
            <mc:AlternateContent xmlns:mc="http://schemas.openxmlformats.org/markup-compatibility/2006">
              <mc:Choice xmlns:v="urn:schemas-microsoft-com:vml" Requires="v">
                <p:oleObj name="Equation" r:id="rId4" imgW="1257120" imgH="1028520" progId="Equation.DSMT4">
                  <p:embed/>
                </p:oleObj>
              </mc:Choice>
              <mc:Fallback>
                <p:oleObj name="Equation" r:id="rId4" imgW="1257120" imgH="1028520" progId="Equation.DSMT4">
                  <p:embed/>
                  <p:pic>
                    <p:nvPicPr>
                      <p:cNvPr id="0" name="Object 2"/>
                      <p:cNvPicPr>
                        <a:picLocks noChangeAspect="1" noChangeArrowheads="1"/>
                      </p:cNvPicPr>
                      <p:nvPr/>
                    </p:nvPicPr>
                    <p:blipFill>
                      <a:blip r:embed="rId5"/>
                      <a:srcRect/>
                      <a:stretch>
                        <a:fillRect/>
                      </a:stretch>
                    </p:blipFill>
                    <p:spPr bwMode="auto">
                      <a:xfrm>
                        <a:off x="636588" y="4483100"/>
                        <a:ext cx="2501900" cy="2041525"/>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81C9E9D5-1592-EDA6-6141-63C7716A9E92}"/>
              </a:ext>
            </a:extLst>
          </p:cNvPr>
          <p:cNvGraphicFramePr>
            <a:graphicFrameLocks noChangeAspect="1"/>
          </p:cNvGraphicFramePr>
          <p:nvPr>
            <p:extLst>
              <p:ext uri="{D42A27DB-BD31-4B8C-83A1-F6EECF244321}">
                <p14:modId xmlns:p14="http://schemas.microsoft.com/office/powerpoint/2010/main" val="3107026312"/>
              </p:ext>
            </p:extLst>
          </p:nvPr>
        </p:nvGraphicFramePr>
        <p:xfrm>
          <a:off x="4273550" y="4329113"/>
          <a:ext cx="4803775" cy="2195512"/>
        </p:xfrm>
        <a:graphic>
          <a:graphicData uri="http://schemas.openxmlformats.org/presentationml/2006/ole">
            <mc:AlternateContent xmlns:mc="http://schemas.openxmlformats.org/markup-compatibility/2006">
              <mc:Choice xmlns:v="urn:schemas-microsoft-com:vml" Requires="v">
                <p:oleObj name="Equation" r:id="rId6" imgW="2654280" imgH="1218960" progId="Equation.DSMT4">
                  <p:embed/>
                </p:oleObj>
              </mc:Choice>
              <mc:Fallback>
                <p:oleObj name="Equation" r:id="rId6" imgW="2654280" imgH="1218960" progId="Equation.DSMT4">
                  <p:embed/>
                  <p:pic>
                    <p:nvPicPr>
                      <p:cNvPr id="0" name="Object 4"/>
                      <p:cNvPicPr>
                        <a:picLocks noChangeAspect="1" noChangeArrowheads="1"/>
                      </p:cNvPicPr>
                      <p:nvPr/>
                    </p:nvPicPr>
                    <p:blipFill>
                      <a:blip r:embed="rId7"/>
                      <a:srcRect/>
                      <a:stretch>
                        <a:fillRect/>
                      </a:stretch>
                    </p:blipFill>
                    <p:spPr bwMode="auto">
                      <a:xfrm>
                        <a:off x="4273550" y="4329113"/>
                        <a:ext cx="4803775" cy="2195512"/>
                      </a:xfrm>
                      <a:prstGeom prst="rect">
                        <a:avLst/>
                      </a:prstGeom>
                      <a:noFill/>
                    </p:spPr>
                  </p:pic>
                </p:oleObj>
              </mc:Fallback>
            </mc:AlternateContent>
          </a:graphicData>
        </a:graphic>
      </p:graphicFrame>
      <p:sp>
        <p:nvSpPr>
          <p:cNvPr id="9" name="箭头: 右 8">
            <a:extLst>
              <a:ext uri="{FF2B5EF4-FFF2-40B4-BE49-F238E27FC236}">
                <a16:creationId xmlns:a16="http://schemas.microsoft.com/office/drawing/2014/main" id="{2BCB90B2-0053-059B-A992-B2C53D861701}"/>
              </a:ext>
            </a:extLst>
          </p:cNvPr>
          <p:cNvSpPr/>
          <p:nvPr/>
        </p:nvSpPr>
        <p:spPr>
          <a:xfrm>
            <a:off x="3347864" y="5247341"/>
            <a:ext cx="720080"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灯片编号占位符 4">
            <a:extLst>
              <a:ext uri="{FF2B5EF4-FFF2-40B4-BE49-F238E27FC236}">
                <a16:creationId xmlns:a16="http://schemas.microsoft.com/office/drawing/2014/main" id="{4330CF96-1DE5-868D-0055-A4174D8604B8}"/>
              </a:ext>
            </a:extLst>
          </p:cNvPr>
          <p:cNvSpPr>
            <a:spLocks noGrp="1"/>
          </p:cNvSpPr>
          <p:nvPr>
            <p:ph type="sldNum" sz="quarter" idx="12"/>
          </p:nvPr>
        </p:nvSpPr>
        <p:spPr/>
        <p:txBody>
          <a:bodyPr/>
          <a:lstStyle/>
          <a:p>
            <a:fld id="{76D830B0-DF59-4281-898F-AF208100B213}" type="slidenum">
              <a:rPr lang="en-US" altLang="zh-CN" smtClean="0"/>
              <a:pPr/>
              <a:t>38</a:t>
            </a:fld>
            <a:endParaRPr lang="en-US" altLang="zh-CN"/>
          </a:p>
        </p:txBody>
      </p:sp>
    </p:spTree>
    <p:extLst>
      <p:ext uri="{BB962C8B-B14F-4D97-AF65-F5344CB8AC3E}">
        <p14:creationId xmlns:p14="http://schemas.microsoft.com/office/powerpoint/2010/main" val="34709487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A1D8F207-F99E-6D9E-6191-5F61E9DFE5FA}"/>
              </a:ext>
            </a:extLst>
          </p:cNvPr>
          <p:cNvGraphicFramePr>
            <a:graphicFrameLocks noChangeAspect="1"/>
          </p:cNvGraphicFramePr>
          <p:nvPr>
            <p:extLst>
              <p:ext uri="{D42A27DB-BD31-4B8C-83A1-F6EECF244321}">
                <p14:modId xmlns:p14="http://schemas.microsoft.com/office/powerpoint/2010/main" val="2830834604"/>
              </p:ext>
            </p:extLst>
          </p:nvPr>
        </p:nvGraphicFramePr>
        <p:xfrm>
          <a:off x="1997075" y="981075"/>
          <a:ext cx="5200650" cy="808038"/>
        </p:xfrm>
        <a:graphic>
          <a:graphicData uri="http://schemas.openxmlformats.org/presentationml/2006/ole">
            <mc:AlternateContent xmlns:mc="http://schemas.openxmlformats.org/markup-compatibility/2006">
              <mc:Choice xmlns:v="urn:schemas-microsoft-com:vml" Requires="v">
                <p:oleObj name="Equation" r:id="rId2" imgW="2946240" imgH="457200" progId="Equation.DSMT4">
                  <p:embed/>
                </p:oleObj>
              </mc:Choice>
              <mc:Fallback>
                <p:oleObj name="Equation" r:id="rId2" imgW="2946240" imgH="457200" progId="Equation.DSMT4">
                  <p:embed/>
                  <p:pic>
                    <p:nvPicPr>
                      <p:cNvPr id="0" name="Object 3"/>
                      <p:cNvPicPr>
                        <a:picLocks noChangeAspect="1" noChangeArrowheads="1"/>
                      </p:cNvPicPr>
                      <p:nvPr/>
                    </p:nvPicPr>
                    <p:blipFill>
                      <a:blip r:embed="rId3"/>
                      <a:srcRect/>
                      <a:stretch>
                        <a:fillRect/>
                      </a:stretch>
                    </p:blipFill>
                    <p:spPr bwMode="auto">
                      <a:xfrm>
                        <a:off x="1997075" y="981075"/>
                        <a:ext cx="5200650" cy="808038"/>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F3B162E3-D110-FC93-7335-0B9454FF699D}"/>
              </a:ext>
            </a:extLst>
          </p:cNvPr>
          <p:cNvGraphicFramePr>
            <a:graphicFrameLocks noChangeAspect="1"/>
          </p:cNvGraphicFramePr>
          <p:nvPr>
            <p:extLst>
              <p:ext uri="{D42A27DB-BD31-4B8C-83A1-F6EECF244321}">
                <p14:modId xmlns:p14="http://schemas.microsoft.com/office/powerpoint/2010/main" val="2340745445"/>
              </p:ext>
            </p:extLst>
          </p:nvPr>
        </p:nvGraphicFramePr>
        <p:xfrm>
          <a:off x="2012950" y="1785938"/>
          <a:ext cx="5430838" cy="757237"/>
        </p:xfrm>
        <a:graphic>
          <a:graphicData uri="http://schemas.openxmlformats.org/presentationml/2006/ole">
            <mc:AlternateContent xmlns:mc="http://schemas.openxmlformats.org/markup-compatibility/2006">
              <mc:Choice xmlns:v="urn:schemas-microsoft-com:vml" Requires="v">
                <p:oleObj name="Equation" r:id="rId4" imgW="3276360" imgH="457200" progId="Equation.DSMT4">
                  <p:embed/>
                </p:oleObj>
              </mc:Choice>
              <mc:Fallback>
                <p:oleObj name="Equation" r:id="rId4" imgW="3276360" imgH="457200" progId="Equation.DSMT4">
                  <p:embed/>
                  <p:pic>
                    <p:nvPicPr>
                      <p:cNvPr id="0" name="Object 2"/>
                      <p:cNvPicPr>
                        <a:picLocks noChangeAspect="1" noChangeArrowheads="1"/>
                      </p:cNvPicPr>
                      <p:nvPr/>
                    </p:nvPicPr>
                    <p:blipFill>
                      <a:blip r:embed="rId5"/>
                      <a:srcRect/>
                      <a:stretch>
                        <a:fillRect/>
                      </a:stretch>
                    </p:blipFill>
                    <p:spPr bwMode="auto">
                      <a:xfrm>
                        <a:off x="2012950" y="1785938"/>
                        <a:ext cx="5430838" cy="757237"/>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E5B6962C-2F59-4604-F308-3FF020214FE6}"/>
              </a:ext>
            </a:extLst>
          </p:cNvPr>
          <p:cNvGraphicFramePr>
            <a:graphicFrameLocks noChangeAspect="1"/>
          </p:cNvGraphicFramePr>
          <p:nvPr>
            <p:extLst>
              <p:ext uri="{D42A27DB-BD31-4B8C-83A1-F6EECF244321}">
                <p14:modId xmlns:p14="http://schemas.microsoft.com/office/powerpoint/2010/main" val="2138578204"/>
              </p:ext>
            </p:extLst>
          </p:nvPr>
        </p:nvGraphicFramePr>
        <p:xfrm>
          <a:off x="2009775" y="2547938"/>
          <a:ext cx="5254625" cy="733425"/>
        </p:xfrm>
        <a:graphic>
          <a:graphicData uri="http://schemas.openxmlformats.org/presentationml/2006/ole">
            <mc:AlternateContent xmlns:mc="http://schemas.openxmlformats.org/markup-compatibility/2006">
              <mc:Choice xmlns:v="urn:schemas-microsoft-com:vml" Requires="v">
                <p:oleObj name="Equation" r:id="rId6" imgW="3288960" imgH="457200" progId="Equation.DSMT4">
                  <p:embed/>
                </p:oleObj>
              </mc:Choice>
              <mc:Fallback>
                <p:oleObj name="Equation" r:id="rId6" imgW="3288960" imgH="457200" progId="Equation.DSMT4">
                  <p:embed/>
                  <p:pic>
                    <p:nvPicPr>
                      <p:cNvPr id="0" name="Object 1"/>
                      <p:cNvPicPr>
                        <a:picLocks noChangeAspect="1" noChangeArrowheads="1"/>
                      </p:cNvPicPr>
                      <p:nvPr/>
                    </p:nvPicPr>
                    <p:blipFill>
                      <a:blip r:embed="rId7"/>
                      <a:srcRect/>
                      <a:stretch>
                        <a:fillRect/>
                      </a:stretch>
                    </p:blipFill>
                    <p:spPr bwMode="auto">
                      <a:xfrm>
                        <a:off x="2009775" y="2547938"/>
                        <a:ext cx="5254625" cy="733425"/>
                      </a:xfrm>
                      <a:prstGeom prst="rect">
                        <a:avLst/>
                      </a:prstGeom>
                      <a:noFill/>
                    </p:spPr>
                  </p:pic>
                </p:oleObj>
              </mc:Fallback>
            </mc:AlternateContent>
          </a:graphicData>
        </a:graphic>
      </p:graphicFrame>
      <p:sp>
        <p:nvSpPr>
          <p:cNvPr id="14" name="Rectangle 8">
            <a:extLst>
              <a:ext uri="{FF2B5EF4-FFF2-40B4-BE49-F238E27FC236}">
                <a16:creationId xmlns:a16="http://schemas.microsoft.com/office/drawing/2014/main" id="{2F4B1E08-25ED-3A83-B37D-D9DDBDE4EDEB}"/>
              </a:ext>
            </a:extLst>
          </p:cNvPr>
          <p:cNvSpPr>
            <a:spLocks noChangeArrowheads="1"/>
          </p:cNvSpPr>
          <p:nvPr/>
        </p:nvSpPr>
        <p:spPr bwMode="auto">
          <a:xfrm>
            <a:off x="501504" y="3532847"/>
            <a:ext cx="237626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三相绕组的基波合成磁势</a:t>
            </a:r>
            <a:r>
              <a:rPr lang="zh-CN" altLang="zh-CN"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为</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graphicFrame>
        <p:nvGraphicFramePr>
          <p:cNvPr id="15" name="对象 14">
            <a:extLst>
              <a:ext uri="{FF2B5EF4-FFF2-40B4-BE49-F238E27FC236}">
                <a16:creationId xmlns:a16="http://schemas.microsoft.com/office/drawing/2014/main" id="{7458E7E8-A140-E0A2-2628-B03E353E8221}"/>
              </a:ext>
            </a:extLst>
          </p:cNvPr>
          <p:cNvGraphicFramePr>
            <a:graphicFrameLocks noChangeAspect="1"/>
          </p:cNvGraphicFramePr>
          <p:nvPr>
            <p:extLst>
              <p:ext uri="{D42A27DB-BD31-4B8C-83A1-F6EECF244321}">
                <p14:modId xmlns:p14="http://schemas.microsoft.com/office/powerpoint/2010/main" val="143645883"/>
              </p:ext>
            </p:extLst>
          </p:nvPr>
        </p:nvGraphicFramePr>
        <p:xfrm>
          <a:off x="2915816" y="3431480"/>
          <a:ext cx="4538548" cy="1192488"/>
        </p:xfrm>
        <a:graphic>
          <a:graphicData uri="http://schemas.openxmlformats.org/presentationml/2006/ole">
            <mc:AlternateContent xmlns:mc="http://schemas.openxmlformats.org/markup-compatibility/2006">
              <mc:Choice xmlns:v="urn:schemas-microsoft-com:vml" Requires="v">
                <p:oleObj name="Equation" r:id="rId8" imgW="2425680" imgH="634680" progId="Equation.DSMT4">
                  <p:embed/>
                </p:oleObj>
              </mc:Choice>
              <mc:Fallback>
                <p:oleObj name="Equation" r:id="rId8" imgW="2425680" imgH="634680" progId="Equation.DSMT4">
                  <p:embed/>
                  <p:pic>
                    <p:nvPicPr>
                      <p:cNvPr id="0" name="Object 7"/>
                      <p:cNvPicPr>
                        <a:picLocks noChangeAspect="1" noChangeArrowheads="1"/>
                      </p:cNvPicPr>
                      <p:nvPr/>
                    </p:nvPicPr>
                    <p:blipFill>
                      <a:blip r:embed="rId9"/>
                      <a:srcRect/>
                      <a:stretch>
                        <a:fillRect/>
                      </a:stretch>
                    </p:blipFill>
                    <p:spPr bwMode="auto">
                      <a:xfrm>
                        <a:off x="2915816" y="3431480"/>
                        <a:ext cx="4538548" cy="1192488"/>
                      </a:xfrm>
                      <a:prstGeom prst="rect">
                        <a:avLst/>
                      </a:prstGeom>
                      <a:solidFill>
                        <a:srgbClr val="00FF00"/>
                      </a:solidFill>
                    </p:spPr>
                  </p:pic>
                </p:oleObj>
              </mc:Fallback>
            </mc:AlternateContent>
          </a:graphicData>
        </a:graphic>
      </p:graphicFrame>
      <p:graphicFrame>
        <p:nvGraphicFramePr>
          <p:cNvPr id="17" name="对象 16">
            <a:extLst>
              <a:ext uri="{FF2B5EF4-FFF2-40B4-BE49-F238E27FC236}">
                <a16:creationId xmlns:a16="http://schemas.microsoft.com/office/drawing/2014/main" id="{99B018BF-07C8-ED2A-517E-59F66B1D6335}"/>
              </a:ext>
            </a:extLst>
          </p:cNvPr>
          <p:cNvGraphicFramePr>
            <a:graphicFrameLocks noChangeAspect="1"/>
          </p:cNvGraphicFramePr>
          <p:nvPr>
            <p:extLst>
              <p:ext uri="{D42A27DB-BD31-4B8C-83A1-F6EECF244321}">
                <p14:modId xmlns:p14="http://schemas.microsoft.com/office/powerpoint/2010/main" val="4179768897"/>
              </p:ext>
            </p:extLst>
          </p:nvPr>
        </p:nvGraphicFramePr>
        <p:xfrm>
          <a:off x="2872210" y="4654313"/>
          <a:ext cx="4752528" cy="717809"/>
        </p:xfrm>
        <a:graphic>
          <a:graphicData uri="http://schemas.openxmlformats.org/presentationml/2006/ole">
            <mc:AlternateContent xmlns:mc="http://schemas.openxmlformats.org/markup-compatibility/2006">
              <mc:Choice xmlns:v="urn:schemas-microsoft-com:vml" Requires="v">
                <p:oleObj name="Equation" r:id="rId10" imgW="2755900" imgH="419100" progId="Equation.DSMT4">
                  <p:embed/>
                </p:oleObj>
              </mc:Choice>
              <mc:Fallback>
                <p:oleObj name="Equation" r:id="rId10" imgW="2755900" imgH="419100"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72210" y="4654313"/>
                        <a:ext cx="4752528" cy="717809"/>
                      </a:xfrm>
                      <a:prstGeom prst="rect">
                        <a:avLst/>
                      </a:prstGeom>
                      <a:solidFill>
                        <a:schemeClr val="bg1"/>
                      </a:solidFill>
                    </p:spPr>
                  </p:pic>
                </p:oleObj>
              </mc:Fallback>
            </mc:AlternateContent>
          </a:graphicData>
        </a:graphic>
      </p:graphicFrame>
      <p:sp>
        <p:nvSpPr>
          <p:cNvPr id="20" name="箭头: 右 19">
            <a:extLst>
              <a:ext uri="{FF2B5EF4-FFF2-40B4-BE49-F238E27FC236}">
                <a16:creationId xmlns:a16="http://schemas.microsoft.com/office/drawing/2014/main" id="{D38B5543-F7D5-1F57-59D6-4B6AD824B687}"/>
              </a:ext>
            </a:extLst>
          </p:cNvPr>
          <p:cNvSpPr/>
          <p:nvPr/>
        </p:nvSpPr>
        <p:spPr>
          <a:xfrm>
            <a:off x="539552" y="1988922"/>
            <a:ext cx="1296144" cy="402541"/>
          </a:xfrm>
          <a:prstGeom prst="rightArrow">
            <a:avLst/>
          </a:prstGeom>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ctangle 8">
            <a:extLst>
              <a:ext uri="{FF2B5EF4-FFF2-40B4-BE49-F238E27FC236}">
                <a16:creationId xmlns:a16="http://schemas.microsoft.com/office/drawing/2014/main" id="{471A132D-F56E-1DA6-52FB-78A188690E70}"/>
              </a:ext>
            </a:extLst>
          </p:cNvPr>
          <p:cNvSpPr>
            <a:spLocks noChangeArrowheads="1"/>
          </p:cNvSpPr>
          <p:nvPr/>
        </p:nvSpPr>
        <p:spPr bwMode="auto">
          <a:xfrm>
            <a:off x="539552" y="1597656"/>
            <a:ext cx="1296144" cy="4001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可分解：</a:t>
            </a:r>
            <a:endParaRPr kumimoji="0" lang="zh-CN" altLang="zh-CN" sz="2000" b="0" i="0" u="none" strike="noStrike" cap="none" normalizeH="0" baseline="0" dirty="0">
              <a:ln>
                <a:noFill/>
              </a:ln>
              <a:solidFill>
                <a:srgbClr val="C00000"/>
              </a:solidFill>
              <a:effectLst/>
            </a:endParaRPr>
          </a:p>
        </p:txBody>
      </p:sp>
      <p:sp>
        <p:nvSpPr>
          <p:cNvPr id="25" name="文本框 24">
            <a:extLst>
              <a:ext uri="{FF2B5EF4-FFF2-40B4-BE49-F238E27FC236}">
                <a16:creationId xmlns:a16="http://schemas.microsoft.com/office/drawing/2014/main" id="{6991A4B2-3525-1698-EF27-58D2B5BD51D1}"/>
              </a:ext>
            </a:extLst>
          </p:cNvPr>
          <p:cNvSpPr txBox="1"/>
          <p:nvPr/>
        </p:nvSpPr>
        <p:spPr>
          <a:xfrm>
            <a:off x="467544" y="5445893"/>
            <a:ext cx="8240920" cy="1200329"/>
          </a:xfrm>
          <a:prstGeom prst="rect">
            <a:avLst/>
          </a:prstGeom>
          <a:noFill/>
        </p:spPr>
        <p:txBody>
          <a:bodyPr wrap="square">
            <a:spAutoFit/>
          </a:bodyPr>
          <a:lstStyle/>
          <a:p>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重要结论</a:t>
            </a:r>
            <a:r>
              <a:rPr lang="zh-CN" altLang="zh-CN"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kern="100" dirty="0">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空间对称分布</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的</a:t>
            </a:r>
            <a:r>
              <a:rPr lang="zh-CN" altLang="en-US" sz="2400" kern="100" dirty="0">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三相绕组</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通过频率为</a:t>
            </a:r>
            <a:r>
              <a:rPr lang="en-US" altLang="zh-CN"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f</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的</a:t>
            </a:r>
            <a:r>
              <a:rPr lang="zh-CN" altLang="en-US" sz="2400" kern="100" dirty="0">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三相对称正弦电流</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时，其</a:t>
            </a:r>
            <a:r>
              <a:rPr lang="zh-CN" altLang="en-US" sz="2400"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基波合成磁势</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是一个</a:t>
            </a:r>
            <a:r>
              <a:rPr lang="zh-CN" altLang="en-US" sz="2400" kern="1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空间呈正弦分布</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kern="1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幅值固定</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，并以</a:t>
            </a:r>
            <a:r>
              <a:rPr lang="zh-CN" altLang="en-US" sz="2400"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频率</a:t>
            </a:r>
            <a:r>
              <a:rPr lang="en-US" altLang="zh-CN" sz="2400"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f</a:t>
            </a:r>
            <a:r>
              <a:rPr lang="zh-CN" altLang="en-US" sz="2400"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旋转</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的</a:t>
            </a:r>
            <a:r>
              <a:rPr lang="zh-CN" altLang="en-US" sz="2400"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旋转磁势</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p>
        </p:txBody>
      </p:sp>
      <p:sp>
        <p:nvSpPr>
          <p:cNvPr id="4" name="灯片编号占位符 3">
            <a:extLst>
              <a:ext uri="{FF2B5EF4-FFF2-40B4-BE49-F238E27FC236}">
                <a16:creationId xmlns:a16="http://schemas.microsoft.com/office/drawing/2014/main" id="{BAC753B4-3AB4-D0AC-3085-306B6471B684}"/>
              </a:ext>
            </a:extLst>
          </p:cNvPr>
          <p:cNvSpPr>
            <a:spLocks noGrp="1"/>
          </p:cNvSpPr>
          <p:nvPr>
            <p:ph type="sldNum" sz="quarter" idx="12"/>
          </p:nvPr>
        </p:nvSpPr>
        <p:spPr/>
        <p:txBody>
          <a:bodyPr/>
          <a:lstStyle/>
          <a:p>
            <a:fld id="{76D830B0-DF59-4281-898F-AF208100B213}" type="slidenum">
              <a:rPr lang="en-US" altLang="zh-CN" smtClean="0"/>
              <a:pPr/>
              <a:t>39</a:t>
            </a:fld>
            <a:endParaRPr lang="en-US" altLang="zh-CN"/>
          </a:p>
        </p:txBody>
      </p:sp>
    </p:spTree>
    <p:extLst>
      <p:ext uri="{BB962C8B-B14F-4D97-AF65-F5344CB8AC3E}">
        <p14:creationId xmlns:p14="http://schemas.microsoft.com/office/powerpoint/2010/main" val="39952209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443638C-507D-85F4-52D5-3B282D09D5F2}"/>
              </a:ext>
            </a:extLst>
          </p:cNvPr>
          <p:cNvSpPr>
            <a:spLocks noChangeArrowheads="1"/>
          </p:cNvSpPr>
          <p:nvPr/>
        </p:nvSpPr>
        <p:spPr bwMode="auto">
          <a:xfrm>
            <a:off x="376843" y="1388467"/>
            <a:ext cx="7848872" cy="860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三相的三次谐波磁势</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：对应基波的一个极距，三次谐波已经是</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3</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个极距：</a:t>
            </a:r>
            <a:endParaRPr kumimoji="0" lang="zh-CN" altLang="en-US" sz="400" b="0" i="0" u="none" strike="noStrike" cap="none" normalizeH="0" baseline="0" dirty="0">
              <a:ln>
                <a:noFill/>
              </a:ln>
              <a:solidFill>
                <a:schemeClr val="tx1"/>
              </a:solidFill>
              <a:effectLst/>
            </a:endParaRPr>
          </a:p>
        </p:txBody>
      </p:sp>
      <p:graphicFrame>
        <p:nvGraphicFramePr>
          <p:cNvPr id="4" name="对象 3">
            <a:extLst>
              <a:ext uri="{FF2B5EF4-FFF2-40B4-BE49-F238E27FC236}">
                <a16:creationId xmlns:a16="http://schemas.microsoft.com/office/drawing/2014/main" id="{10105F2C-A75B-97A8-98F0-7AB6DD1319A7}"/>
              </a:ext>
            </a:extLst>
          </p:cNvPr>
          <p:cNvGraphicFramePr>
            <a:graphicFrameLocks noChangeAspect="1"/>
          </p:cNvGraphicFramePr>
          <p:nvPr>
            <p:extLst>
              <p:ext uri="{D42A27DB-BD31-4B8C-83A1-F6EECF244321}">
                <p14:modId xmlns:p14="http://schemas.microsoft.com/office/powerpoint/2010/main" val="2177007452"/>
              </p:ext>
            </p:extLst>
          </p:nvPr>
        </p:nvGraphicFramePr>
        <p:xfrm>
          <a:off x="2698022" y="1988945"/>
          <a:ext cx="4805363" cy="2165350"/>
        </p:xfrm>
        <a:graphic>
          <a:graphicData uri="http://schemas.openxmlformats.org/presentationml/2006/ole">
            <mc:AlternateContent xmlns:mc="http://schemas.openxmlformats.org/markup-compatibility/2006">
              <mc:Choice xmlns:v="urn:schemas-microsoft-com:vml" Requires="v">
                <p:oleObj name="Equation" r:id="rId2" imgW="2679480" imgH="1218960" progId="Equation.DSMT4">
                  <p:embed/>
                </p:oleObj>
              </mc:Choice>
              <mc:Fallback>
                <p:oleObj name="Equation" r:id="rId2" imgW="2679480" imgH="1218960" progId="Equation.DSMT4">
                  <p:embed/>
                  <p:pic>
                    <p:nvPicPr>
                      <p:cNvPr id="0" name="Object 1"/>
                      <p:cNvPicPr>
                        <a:picLocks noChangeAspect="1" noChangeArrowheads="1"/>
                      </p:cNvPicPr>
                      <p:nvPr/>
                    </p:nvPicPr>
                    <p:blipFill>
                      <a:blip r:embed="rId3"/>
                      <a:srcRect/>
                      <a:stretch>
                        <a:fillRect/>
                      </a:stretch>
                    </p:blipFill>
                    <p:spPr bwMode="auto">
                      <a:xfrm>
                        <a:off x="2698022" y="1988945"/>
                        <a:ext cx="4805363" cy="2165350"/>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50B7236D-D676-5B7A-CF2E-6C3B73B8662A}"/>
              </a:ext>
            </a:extLst>
          </p:cNvPr>
          <p:cNvSpPr>
            <a:spLocks noChangeArrowheads="1"/>
          </p:cNvSpPr>
          <p:nvPr/>
        </p:nvSpPr>
        <p:spPr bwMode="auto">
          <a:xfrm>
            <a:off x="1619672" y="4077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90AF6CD8-9A2D-D2B5-72B3-2BF29FCA2FDC}"/>
              </a:ext>
            </a:extLst>
          </p:cNvPr>
          <p:cNvGraphicFramePr>
            <a:graphicFrameLocks noChangeAspect="1"/>
          </p:cNvGraphicFramePr>
          <p:nvPr>
            <p:extLst>
              <p:ext uri="{D42A27DB-BD31-4B8C-83A1-F6EECF244321}">
                <p14:modId xmlns:p14="http://schemas.microsoft.com/office/powerpoint/2010/main" val="3844869119"/>
              </p:ext>
            </p:extLst>
          </p:nvPr>
        </p:nvGraphicFramePr>
        <p:xfrm>
          <a:off x="1182043" y="4279079"/>
          <a:ext cx="7580313" cy="1217612"/>
        </p:xfrm>
        <a:graphic>
          <a:graphicData uri="http://schemas.openxmlformats.org/presentationml/2006/ole">
            <mc:AlternateContent xmlns:mc="http://schemas.openxmlformats.org/markup-compatibility/2006">
              <mc:Choice xmlns:v="urn:schemas-microsoft-com:vml" Requires="v">
                <p:oleObj name="Equation" r:id="rId4" imgW="4114800" imgH="660240" progId="Equation.DSMT4">
                  <p:embed/>
                </p:oleObj>
              </mc:Choice>
              <mc:Fallback>
                <p:oleObj name="Equation" r:id="rId4" imgW="4114800" imgH="660240" progId="Equation.DSMT4">
                  <p:embed/>
                  <p:pic>
                    <p:nvPicPr>
                      <p:cNvPr id="0" name="Object 3"/>
                      <p:cNvPicPr>
                        <a:picLocks noChangeAspect="1" noChangeArrowheads="1"/>
                      </p:cNvPicPr>
                      <p:nvPr/>
                    </p:nvPicPr>
                    <p:blipFill>
                      <a:blip r:embed="rId5"/>
                      <a:srcRect/>
                      <a:stretch>
                        <a:fillRect/>
                      </a:stretch>
                    </p:blipFill>
                    <p:spPr bwMode="auto">
                      <a:xfrm>
                        <a:off x="1182043" y="4279079"/>
                        <a:ext cx="7580313" cy="1217612"/>
                      </a:xfrm>
                      <a:prstGeom prst="rect">
                        <a:avLst/>
                      </a:prstGeom>
                      <a:noFill/>
                    </p:spPr>
                  </p:pic>
                </p:oleObj>
              </mc:Fallback>
            </mc:AlternateContent>
          </a:graphicData>
        </a:graphic>
      </p:graphicFrame>
      <p:sp>
        <p:nvSpPr>
          <p:cNvPr id="10" name="文本框 9">
            <a:extLst>
              <a:ext uri="{FF2B5EF4-FFF2-40B4-BE49-F238E27FC236}">
                <a16:creationId xmlns:a16="http://schemas.microsoft.com/office/drawing/2014/main" id="{96B6DFD5-9E49-25DA-59EE-799B61C4D1A1}"/>
              </a:ext>
            </a:extLst>
          </p:cNvPr>
          <p:cNvSpPr txBox="1"/>
          <p:nvPr/>
        </p:nvSpPr>
        <p:spPr>
          <a:xfrm>
            <a:off x="358023" y="3786380"/>
            <a:ext cx="3481032" cy="461665"/>
          </a:xfrm>
          <a:prstGeom prst="rect">
            <a:avLst/>
          </a:prstGeom>
          <a:noFill/>
        </p:spPr>
        <p:txBody>
          <a:bodyPr wrap="square">
            <a:spAutoFit/>
          </a:bodyPr>
          <a:lstStyle/>
          <a:p>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合成磁势</a:t>
            </a:r>
            <a:r>
              <a:rPr lang="zh-CN" altLang="zh-CN"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为</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p>
        </p:txBody>
      </p:sp>
      <p:sp>
        <p:nvSpPr>
          <p:cNvPr id="12" name="文本框 11">
            <a:extLst>
              <a:ext uri="{FF2B5EF4-FFF2-40B4-BE49-F238E27FC236}">
                <a16:creationId xmlns:a16="http://schemas.microsoft.com/office/drawing/2014/main" id="{3B9FA81B-763C-FCB1-9655-28EC22CA6545}"/>
              </a:ext>
            </a:extLst>
          </p:cNvPr>
          <p:cNvSpPr txBox="1"/>
          <p:nvPr/>
        </p:nvSpPr>
        <p:spPr>
          <a:xfrm>
            <a:off x="381644" y="5468091"/>
            <a:ext cx="8439785" cy="1200329"/>
          </a:xfrm>
          <a:prstGeom prst="rect">
            <a:avLst/>
          </a:prstGeom>
          <a:noFill/>
        </p:spPr>
        <p:txBody>
          <a:bodyPr wrap="square">
            <a:spAutoFit/>
          </a:bodyPr>
          <a:lstStyle/>
          <a:p>
            <a:pPr algn="l"/>
            <a:r>
              <a:rPr lang="zh-CN" altLang="en-US" sz="2400" b="1" kern="100" dirty="0">
                <a:solidFill>
                  <a:srgbClr val="0000FF"/>
                </a:solidFill>
                <a:latin typeface="Times New Roman" panose="02020603050405020304" pitchFamily="18" charset="0"/>
                <a:ea typeface="黑体" panose="02010609060101010101" pitchFamily="49" charset="-122"/>
              </a:rPr>
              <a:t>结论：</a:t>
            </a:r>
            <a:r>
              <a:rPr lang="zh-CN" altLang="zh-CN" sz="2400" b="0" kern="100" dirty="0">
                <a:solidFill>
                  <a:srgbClr val="000000"/>
                </a:solidFill>
                <a:effectLst/>
                <a:latin typeface="Times New Roman" panose="02020603050405020304" pitchFamily="18" charset="0"/>
                <a:ea typeface="黑体" panose="02010609060101010101" pitchFamily="49" charset="-122"/>
              </a:rPr>
              <a:t>各相三次谐波磁势的空间位置相同，因三相电流在时间上</a:t>
            </a:r>
            <a:r>
              <a:rPr lang="zh-CN" altLang="en-US" sz="2400" b="0" kern="100" dirty="0">
                <a:solidFill>
                  <a:srgbClr val="000000"/>
                </a:solidFill>
                <a:effectLst/>
                <a:latin typeface="Times New Roman" panose="02020603050405020304" pitchFamily="18" charset="0"/>
                <a:ea typeface="黑体" panose="02010609060101010101" pitchFamily="49" charset="-122"/>
              </a:rPr>
              <a:t>；</a:t>
            </a:r>
            <a:r>
              <a:rPr lang="zh-CN" altLang="zh-CN" sz="2400" b="0" kern="100" dirty="0">
                <a:solidFill>
                  <a:srgbClr val="000000"/>
                </a:solidFill>
                <a:effectLst/>
                <a:latin typeface="Times New Roman" panose="02020603050405020304" pitchFamily="18" charset="0"/>
                <a:ea typeface="黑体" panose="02010609060101010101" pitchFamily="49" charset="-122"/>
              </a:rPr>
              <a:t>互差</a:t>
            </a:r>
            <a:r>
              <a:rPr lang="en-US" altLang="zh-CN" sz="2400" b="0" kern="100" dirty="0">
                <a:solidFill>
                  <a:srgbClr val="000000"/>
                </a:solidFill>
                <a:effectLst/>
                <a:latin typeface="Times New Roman" panose="02020603050405020304" pitchFamily="18" charset="0"/>
                <a:ea typeface="黑体" panose="02010609060101010101" pitchFamily="49" charset="-122"/>
              </a:rPr>
              <a:t>120</a:t>
            </a:r>
            <a:r>
              <a:rPr lang="zh-CN" altLang="zh-CN" sz="2400" b="0" kern="100" dirty="0">
                <a:solidFill>
                  <a:srgbClr val="000000"/>
                </a:solidFill>
                <a:effectLst/>
                <a:latin typeface="Times New Roman" panose="02020603050405020304" pitchFamily="18" charset="0"/>
                <a:ea typeface="黑体" panose="02010609060101010101" pitchFamily="49" charset="-122"/>
              </a:rPr>
              <a:t>度电角度，使</a:t>
            </a:r>
            <a:r>
              <a:rPr lang="zh-CN" altLang="zh-CN" sz="2400" b="1" kern="100" dirty="0">
                <a:solidFill>
                  <a:srgbClr val="0000FF"/>
                </a:solidFill>
                <a:effectLst/>
                <a:latin typeface="Times New Roman" panose="02020603050405020304" pitchFamily="18" charset="0"/>
                <a:ea typeface="黑体" panose="02010609060101010101" pitchFamily="49" charset="-122"/>
              </a:rPr>
              <a:t>三相合成三次谐波磁势为</a:t>
            </a:r>
            <a:r>
              <a:rPr lang="en-US" altLang="zh-CN" sz="2400" b="1" kern="100" dirty="0">
                <a:solidFill>
                  <a:srgbClr val="0000FF"/>
                </a:solidFill>
                <a:effectLst/>
                <a:latin typeface="Times New Roman" panose="02020603050405020304" pitchFamily="18" charset="0"/>
                <a:ea typeface="黑体" panose="02010609060101010101" pitchFamily="49" charset="-122"/>
              </a:rPr>
              <a:t>0</a:t>
            </a:r>
            <a:r>
              <a:rPr lang="zh-CN" altLang="en-US" sz="2400" kern="100" dirty="0">
                <a:solidFill>
                  <a:srgbClr val="000000"/>
                </a:solidFill>
                <a:latin typeface="Times New Roman" panose="02020603050405020304" pitchFamily="18" charset="0"/>
                <a:ea typeface="黑体" panose="02010609060101010101" pitchFamily="49" charset="-122"/>
              </a:rPr>
              <a:t>；</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a:p>
            <a:pPr algn="l"/>
            <a:r>
              <a:rPr lang="zh-CN" altLang="zh-CN" sz="2400" b="1" kern="100" dirty="0">
                <a:solidFill>
                  <a:srgbClr val="FF0000"/>
                </a:solidFill>
                <a:effectLst/>
                <a:latin typeface="Times New Roman" panose="02020603050405020304" pitchFamily="18" charset="0"/>
                <a:ea typeface="黑体" panose="02010609060101010101" pitchFamily="49" charset="-122"/>
              </a:rPr>
              <a:t>推论：</a:t>
            </a:r>
            <a:r>
              <a:rPr lang="zh-CN" altLang="zh-CN" sz="2400" b="1" kern="100" dirty="0">
                <a:effectLst/>
                <a:latin typeface="Times New Roman" panose="02020603050405020304" pitchFamily="18" charset="0"/>
                <a:ea typeface="黑体" panose="02010609060101010101" pitchFamily="49" charset="-122"/>
              </a:rPr>
              <a:t>三的倍数次谐波磁势都为</a:t>
            </a:r>
            <a:r>
              <a:rPr lang="en-US" altLang="zh-CN" sz="2400" b="1" kern="100" dirty="0">
                <a:effectLst/>
                <a:latin typeface="Times New Roman" panose="02020603050405020304" pitchFamily="18" charset="0"/>
                <a:ea typeface="黑体" panose="02010609060101010101" pitchFamily="49" charset="-122"/>
              </a:rPr>
              <a:t>0</a:t>
            </a:r>
            <a:r>
              <a:rPr lang="zh-CN" altLang="zh-CN" sz="2400" b="1" kern="100" dirty="0">
                <a:effectLst/>
                <a:latin typeface="Times New Roman" panose="02020603050405020304" pitchFamily="18" charset="0"/>
                <a:ea typeface="黑体" panose="02010609060101010101" pitchFamily="49" charset="-122"/>
              </a:rPr>
              <a:t>，也称为</a:t>
            </a:r>
            <a:r>
              <a:rPr lang="zh-CN" altLang="zh-CN" sz="2400" b="1" kern="100" dirty="0">
                <a:solidFill>
                  <a:srgbClr val="FF0000"/>
                </a:solidFill>
                <a:effectLst/>
                <a:latin typeface="Times New Roman" panose="02020603050405020304" pitchFamily="18" charset="0"/>
                <a:ea typeface="黑体" panose="02010609060101010101" pitchFamily="49" charset="-122"/>
              </a:rPr>
              <a:t>零序谐波</a:t>
            </a:r>
            <a:r>
              <a:rPr lang="zh-CN" altLang="zh-CN" sz="2400" b="0" kern="100" dirty="0">
                <a:effectLst/>
                <a:latin typeface="Times New Roman" panose="02020603050405020304" pitchFamily="18" charset="0"/>
                <a:ea typeface="黑体" panose="02010609060101010101" pitchFamily="49" charset="-122"/>
              </a:rPr>
              <a:t>。</a:t>
            </a:r>
            <a:endParaRPr lang="zh-CN" altLang="zh-CN" sz="2400" b="1" kern="100" dirty="0">
              <a:effectLst/>
              <a:latin typeface="Times New Roman" panose="02020603050405020304" pitchFamily="18" charset="0"/>
              <a:ea typeface="宋体" panose="02010600030101010101" pitchFamily="2" charset="-122"/>
            </a:endParaRPr>
          </a:p>
        </p:txBody>
      </p:sp>
      <p:sp>
        <p:nvSpPr>
          <p:cNvPr id="13" name="Rectangle 8">
            <a:extLst>
              <a:ext uri="{FF2B5EF4-FFF2-40B4-BE49-F238E27FC236}">
                <a16:creationId xmlns:a16="http://schemas.microsoft.com/office/drawing/2014/main" id="{46444FF0-11F2-A056-0F3B-ABD64E8DF4ED}"/>
              </a:ext>
            </a:extLst>
          </p:cNvPr>
          <p:cNvSpPr>
            <a:spLocks noChangeArrowheads="1"/>
          </p:cNvSpPr>
          <p:nvPr/>
        </p:nvSpPr>
        <p:spPr bwMode="auto">
          <a:xfrm>
            <a:off x="381644" y="941689"/>
            <a:ext cx="37433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1" indent="0" algn="l" defTabSz="914400" rtl="0" eaLnBrk="0" fontAlgn="base" latinLnBrk="0" hangingPunct="0">
              <a:lnSpc>
                <a:spcPct val="100000"/>
              </a:lnSpc>
              <a:spcBef>
                <a:spcPct val="0"/>
              </a:spcBef>
              <a:spcAft>
                <a:spcPct val="0"/>
              </a:spcAft>
              <a:buClrTx/>
              <a:buSzTx/>
              <a:tabLst/>
            </a:pP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、三相绕组谐波合成磁势</a:t>
            </a:r>
            <a:endParaRPr kumimoji="0" lang="zh-CN" altLang="en-US" sz="1800" b="1" i="0" u="none" strike="noStrike" cap="none" normalizeH="0" baseline="0" dirty="0">
              <a:ln>
                <a:noFill/>
              </a:ln>
              <a:solidFill>
                <a:srgbClr val="0000FF"/>
              </a:solidFill>
              <a:effectLst/>
              <a:latin typeface="Arial" panose="020B0604020202020204" pitchFamily="34" charset="0"/>
            </a:endParaRPr>
          </a:p>
        </p:txBody>
      </p:sp>
      <p:sp>
        <p:nvSpPr>
          <p:cNvPr id="5" name="灯片编号占位符 4">
            <a:extLst>
              <a:ext uri="{FF2B5EF4-FFF2-40B4-BE49-F238E27FC236}">
                <a16:creationId xmlns:a16="http://schemas.microsoft.com/office/drawing/2014/main" id="{622BACB6-8B7A-B829-9FD2-BEFFE26C4403}"/>
              </a:ext>
            </a:extLst>
          </p:cNvPr>
          <p:cNvSpPr>
            <a:spLocks noGrp="1"/>
          </p:cNvSpPr>
          <p:nvPr>
            <p:ph type="sldNum" sz="quarter" idx="12"/>
          </p:nvPr>
        </p:nvSpPr>
        <p:spPr/>
        <p:txBody>
          <a:bodyPr/>
          <a:lstStyle/>
          <a:p>
            <a:fld id="{76D830B0-DF59-4281-898F-AF208100B213}" type="slidenum">
              <a:rPr lang="en-US" altLang="zh-CN" smtClean="0"/>
              <a:pPr/>
              <a:t>40</a:t>
            </a:fld>
            <a:endParaRPr lang="en-US" altLang="zh-CN"/>
          </a:p>
        </p:txBody>
      </p:sp>
    </p:spTree>
    <p:extLst>
      <p:ext uri="{BB962C8B-B14F-4D97-AF65-F5344CB8AC3E}">
        <p14:creationId xmlns:p14="http://schemas.microsoft.com/office/powerpoint/2010/main" val="466015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a:extLst>
              <a:ext uri="{FF2B5EF4-FFF2-40B4-BE49-F238E27FC236}">
                <a16:creationId xmlns:a16="http://schemas.microsoft.com/office/drawing/2014/main" id="{7E1F0DC8-3DFB-E42D-08A1-20EDDCCE3563}"/>
              </a:ext>
            </a:extLst>
          </p:cNvPr>
          <p:cNvSpPr>
            <a:spLocks noChangeArrowheads="1"/>
          </p:cNvSpPr>
          <p:nvPr/>
        </p:nvSpPr>
        <p:spPr bwMode="auto">
          <a:xfrm>
            <a:off x="628426" y="980728"/>
            <a:ext cx="50957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三相</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合成磁势的</a:t>
            </a:r>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正序</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谐波磁势</a:t>
            </a:r>
            <a:endParaRPr kumimoji="0" lang="zh-CN" altLang="en-US" sz="400" b="0" i="0" u="none" strike="noStrike" cap="none" normalizeH="0" baseline="0" dirty="0">
              <a:ln>
                <a:noFill/>
              </a:ln>
              <a:solidFill>
                <a:schemeClr val="tx1"/>
              </a:solidFill>
              <a:effectLst/>
            </a:endParaRPr>
          </a:p>
        </p:txBody>
      </p:sp>
      <p:sp>
        <p:nvSpPr>
          <p:cNvPr id="14" name="文本框 13">
            <a:extLst>
              <a:ext uri="{FF2B5EF4-FFF2-40B4-BE49-F238E27FC236}">
                <a16:creationId xmlns:a16="http://schemas.microsoft.com/office/drawing/2014/main" id="{1F1C68C7-F2A8-E803-FC35-E3BE5C6E4F4D}"/>
              </a:ext>
            </a:extLst>
          </p:cNvPr>
          <p:cNvSpPr txBox="1"/>
          <p:nvPr/>
        </p:nvSpPr>
        <p:spPr>
          <a:xfrm>
            <a:off x="899592" y="1516722"/>
            <a:ext cx="6912768" cy="400110"/>
          </a:xfrm>
          <a:prstGeom prst="rect">
            <a:avLst/>
          </a:prstGeom>
          <a:noFill/>
        </p:spPr>
        <p:txBody>
          <a:bodyPr wrap="square">
            <a:spAutoFit/>
          </a:bodyPr>
          <a:lstStyle/>
          <a:p>
            <a:pPr algn="l"/>
            <a:r>
              <a:rPr lang="zh-CN"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次数为</a:t>
            </a:r>
            <a:r>
              <a:rPr lang="en-US"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7</a:t>
            </a:r>
            <a:r>
              <a:rPr lang="zh-CN"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13</a:t>
            </a:r>
            <a:r>
              <a:rPr lang="zh-CN"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19</a:t>
            </a:r>
            <a:r>
              <a:rPr lang="zh-CN"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…n=6k+1,k=1,2,3…</a:t>
            </a:r>
            <a:r>
              <a:rPr lang="zh-CN"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，的谐波，以</a:t>
            </a:r>
            <a:r>
              <a:rPr lang="en-US"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7</a:t>
            </a:r>
            <a:r>
              <a:rPr lang="zh-CN"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为代表</a:t>
            </a:r>
            <a:endParaRPr lang="zh-CN" altLang="zh-CN" sz="2000" b="1" kern="100" dirty="0">
              <a:solidFill>
                <a:srgbClr val="FF00FF"/>
              </a:solidFill>
              <a:effectLst/>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6" name="对象 15">
            <a:extLst>
              <a:ext uri="{FF2B5EF4-FFF2-40B4-BE49-F238E27FC236}">
                <a16:creationId xmlns:a16="http://schemas.microsoft.com/office/drawing/2014/main" id="{74A8446E-D77D-E059-54D8-1845894E33B9}"/>
              </a:ext>
            </a:extLst>
          </p:cNvPr>
          <p:cNvGraphicFramePr>
            <a:graphicFrameLocks noChangeAspect="1"/>
          </p:cNvGraphicFramePr>
          <p:nvPr>
            <p:extLst>
              <p:ext uri="{D42A27DB-BD31-4B8C-83A1-F6EECF244321}">
                <p14:modId xmlns:p14="http://schemas.microsoft.com/office/powerpoint/2010/main" val="3349470714"/>
              </p:ext>
            </p:extLst>
          </p:nvPr>
        </p:nvGraphicFramePr>
        <p:xfrm>
          <a:off x="2314575" y="1944688"/>
          <a:ext cx="4841875" cy="2160587"/>
        </p:xfrm>
        <a:graphic>
          <a:graphicData uri="http://schemas.openxmlformats.org/presentationml/2006/ole">
            <mc:AlternateContent xmlns:mc="http://schemas.openxmlformats.org/markup-compatibility/2006">
              <mc:Choice xmlns:v="urn:schemas-microsoft-com:vml" Requires="v">
                <p:oleObj name="Equation" r:id="rId2" imgW="2705040" imgH="1218960" progId="Equation.DSMT4">
                  <p:embed/>
                </p:oleObj>
              </mc:Choice>
              <mc:Fallback>
                <p:oleObj name="Equation" r:id="rId2" imgW="2705040" imgH="1218960" progId="Equation.DSMT4">
                  <p:embed/>
                  <p:pic>
                    <p:nvPicPr>
                      <p:cNvPr id="0" name="Object 3"/>
                      <p:cNvPicPr>
                        <a:picLocks noChangeAspect="1" noChangeArrowheads="1"/>
                      </p:cNvPicPr>
                      <p:nvPr/>
                    </p:nvPicPr>
                    <p:blipFill>
                      <a:blip r:embed="rId3"/>
                      <a:srcRect/>
                      <a:stretch>
                        <a:fillRect/>
                      </a:stretch>
                    </p:blipFill>
                    <p:spPr bwMode="auto">
                      <a:xfrm>
                        <a:off x="2314575" y="1944688"/>
                        <a:ext cx="4841875" cy="2160587"/>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28F1ECB0-1F4D-D679-9AC3-9BCF48C20CC1}"/>
              </a:ext>
            </a:extLst>
          </p:cNvPr>
          <p:cNvGraphicFramePr>
            <a:graphicFrameLocks noChangeAspect="1"/>
          </p:cNvGraphicFramePr>
          <p:nvPr>
            <p:extLst>
              <p:ext uri="{D42A27DB-BD31-4B8C-83A1-F6EECF244321}">
                <p14:modId xmlns:p14="http://schemas.microsoft.com/office/powerpoint/2010/main" val="2416321442"/>
              </p:ext>
            </p:extLst>
          </p:nvPr>
        </p:nvGraphicFramePr>
        <p:xfrm>
          <a:off x="1881188" y="4933950"/>
          <a:ext cx="5595937" cy="1174750"/>
        </p:xfrm>
        <a:graphic>
          <a:graphicData uri="http://schemas.openxmlformats.org/presentationml/2006/ole">
            <mc:AlternateContent xmlns:mc="http://schemas.openxmlformats.org/markup-compatibility/2006">
              <mc:Choice xmlns:v="urn:schemas-microsoft-com:vml" Requires="v">
                <p:oleObj name="Equation" r:id="rId4" imgW="3022560" imgH="634680" progId="Equation.DSMT4">
                  <p:embed/>
                </p:oleObj>
              </mc:Choice>
              <mc:Fallback>
                <p:oleObj name="Equation" r:id="rId4" imgW="3022560" imgH="634680" progId="Equation.DSMT4">
                  <p:embed/>
                  <p:pic>
                    <p:nvPicPr>
                      <p:cNvPr id="0" name="Object 7"/>
                      <p:cNvPicPr>
                        <a:picLocks noChangeAspect="1" noChangeArrowheads="1"/>
                      </p:cNvPicPr>
                      <p:nvPr/>
                    </p:nvPicPr>
                    <p:blipFill>
                      <a:blip r:embed="rId5"/>
                      <a:srcRect/>
                      <a:stretch>
                        <a:fillRect/>
                      </a:stretch>
                    </p:blipFill>
                    <p:spPr bwMode="auto">
                      <a:xfrm>
                        <a:off x="1881188" y="4933950"/>
                        <a:ext cx="5595937" cy="1174750"/>
                      </a:xfrm>
                      <a:prstGeom prst="rect">
                        <a:avLst/>
                      </a:prstGeom>
                      <a:noFill/>
                    </p:spPr>
                  </p:pic>
                </p:oleObj>
              </mc:Fallback>
            </mc:AlternateContent>
          </a:graphicData>
        </a:graphic>
      </p:graphicFrame>
      <p:sp>
        <p:nvSpPr>
          <p:cNvPr id="21" name="文本框 20">
            <a:extLst>
              <a:ext uri="{FF2B5EF4-FFF2-40B4-BE49-F238E27FC236}">
                <a16:creationId xmlns:a16="http://schemas.microsoft.com/office/drawing/2014/main" id="{68ACC27B-A4A3-2271-F772-AE918442E54F}"/>
              </a:ext>
            </a:extLst>
          </p:cNvPr>
          <p:cNvSpPr txBox="1"/>
          <p:nvPr/>
        </p:nvSpPr>
        <p:spPr>
          <a:xfrm>
            <a:off x="628426" y="4184269"/>
            <a:ext cx="3481032" cy="461665"/>
          </a:xfrm>
          <a:prstGeom prst="rect">
            <a:avLst/>
          </a:prstGeom>
          <a:noFill/>
        </p:spPr>
        <p:txBody>
          <a:bodyPr wrap="square">
            <a:spAutoFit/>
          </a:bodyPr>
          <a:lstStyle/>
          <a:p>
            <a:r>
              <a:rPr lang="en-US" altLang="zh-CN"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7</a:t>
            </a:r>
            <a:r>
              <a:rPr lang="zh-CN" altLang="en-US"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次谐波的</a:t>
            </a: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合成磁势</a:t>
            </a:r>
            <a:r>
              <a:rPr lang="zh-CN" altLang="zh-CN"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为</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p>
        </p:txBody>
      </p:sp>
      <p:sp>
        <p:nvSpPr>
          <p:cNvPr id="22" name="Rectangle 10">
            <a:extLst>
              <a:ext uri="{FF2B5EF4-FFF2-40B4-BE49-F238E27FC236}">
                <a16:creationId xmlns:a16="http://schemas.microsoft.com/office/drawing/2014/main" id="{08BD610B-3980-F004-2FD4-839039D31A5D}"/>
              </a:ext>
            </a:extLst>
          </p:cNvPr>
          <p:cNvSpPr>
            <a:spLocks noChangeArrowheads="1"/>
          </p:cNvSpPr>
          <p:nvPr/>
        </p:nvSpPr>
        <p:spPr bwMode="auto">
          <a:xfrm>
            <a:off x="4355976" y="4248292"/>
            <a:ext cx="23762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利用三角公式，令</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graphicFrame>
        <p:nvGraphicFramePr>
          <p:cNvPr id="23" name="对象 22">
            <a:extLst>
              <a:ext uri="{FF2B5EF4-FFF2-40B4-BE49-F238E27FC236}">
                <a16:creationId xmlns:a16="http://schemas.microsoft.com/office/drawing/2014/main" id="{7608326A-6C3A-AA94-175C-D97599D132E8}"/>
              </a:ext>
            </a:extLst>
          </p:cNvPr>
          <p:cNvGraphicFramePr>
            <a:graphicFrameLocks noChangeAspect="1"/>
          </p:cNvGraphicFramePr>
          <p:nvPr>
            <p:extLst>
              <p:ext uri="{D42A27DB-BD31-4B8C-83A1-F6EECF244321}">
                <p14:modId xmlns:p14="http://schemas.microsoft.com/office/powerpoint/2010/main" val="407782574"/>
              </p:ext>
            </p:extLst>
          </p:nvPr>
        </p:nvGraphicFramePr>
        <p:xfrm>
          <a:off x="6579827" y="4171549"/>
          <a:ext cx="592857" cy="553595"/>
        </p:xfrm>
        <a:graphic>
          <a:graphicData uri="http://schemas.openxmlformats.org/presentationml/2006/ole">
            <mc:AlternateContent xmlns:mc="http://schemas.openxmlformats.org/markup-compatibility/2006">
              <mc:Choice xmlns:v="urn:schemas-microsoft-com:vml" Requires="v">
                <p:oleObj name="Equation" r:id="rId6" imgW="418918" imgH="393529" progId="Equation.DSMT4">
                  <p:embed/>
                </p:oleObj>
              </mc:Choice>
              <mc:Fallback>
                <p:oleObj name="Equation" r:id="rId6" imgW="418918" imgH="393529"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79827" y="4171549"/>
                        <a:ext cx="592857" cy="553595"/>
                      </a:xfrm>
                      <a:prstGeom prst="rect">
                        <a:avLst/>
                      </a:prstGeom>
                      <a:noFill/>
                    </p:spPr>
                  </p:pic>
                </p:oleObj>
              </mc:Fallback>
            </mc:AlternateContent>
          </a:graphicData>
        </a:graphic>
      </p:graphicFrame>
      <p:sp>
        <p:nvSpPr>
          <p:cNvPr id="24" name="箭头: 下 23">
            <a:extLst>
              <a:ext uri="{FF2B5EF4-FFF2-40B4-BE49-F238E27FC236}">
                <a16:creationId xmlns:a16="http://schemas.microsoft.com/office/drawing/2014/main" id="{7EF01745-A656-0E51-04A6-245C9CBF5AA2}"/>
              </a:ext>
            </a:extLst>
          </p:cNvPr>
          <p:cNvSpPr/>
          <p:nvPr/>
        </p:nvSpPr>
        <p:spPr>
          <a:xfrm>
            <a:off x="4001446" y="4171548"/>
            <a:ext cx="282522" cy="68635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a:extLst>
              <a:ext uri="{FF2B5EF4-FFF2-40B4-BE49-F238E27FC236}">
                <a16:creationId xmlns:a16="http://schemas.microsoft.com/office/drawing/2014/main" id="{A1776630-110A-D94F-8288-2666984B5760}"/>
              </a:ext>
            </a:extLst>
          </p:cNvPr>
          <p:cNvSpPr>
            <a:spLocks noGrp="1"/>
          </p:cNvSpPr>
          <p:nvPr>
            <p:ph type="sldNum" sz="quarter" idx="12"/>
          </p:nvPr>
        </p:nvSpPr>
        <p:spPr/>
        <p:txBody>
          <a:bodyPr/>
          <a:lstStyle/>
          <a:p>
            <a:fld id="{76D830B0-DF59-4281-898F-AF208100B213}" type="slidenum">
              <a:rPr lang="en-US" altLang="zh-CN" smtClean="0"/>
              <a:pPr/>
              <a:t>41</a:t>
            </a:fld>
            <a:endParaRPr lang="en-US" altLang="zh-CN"/>
          </a:p>
        </p:txBody>
      </p:sp>
    </p:spTree>
    <p:extLst>
      <p:ext uri="{BB962C8B-B14F-4D97-AF65-F5344CB8AC3E}">
        <p14:creationId xmlns:p14="http://schemas.microsoft.com/office/powerpoint/2010/main" val="2447492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C18C7C5-C6C3-E98D-ACE9-12B5478E2DB5}"/>
                  </a:ext>
                </a:extLst>
              </p:cNvPr>
              <p:cNvSpPr txBox="1"/>
              <p:nvPr/>
            </p:nvSpPr>
            <p:spPr>
              <a:xfrm>
                <a:off x="539552" y="1092185"/>
                <a:ext cx="7885484" cy="968663"/>
              </a:xfrm>
              <a:prstGeom prst="rect">
                <a:avLst/>
              </a:prstGeom>
              <a:noFill/>
            </p:spPr>
            <p:txBody>
              <a:bodyPr wrap="square">
                <a:spAutoFit/>
              </a:bodyPr>
              <a:lstStyle/>
              <a:p>
                <a:pPr>
                  <a:lnSpc>
                    <a:spcPct val="125000"/>
                  </a:lnSpc>
                </a:pPr>
                <a:r>
                  <a:rPr lang="en-US" altLang="zh-CN"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7</a:t>
                </a:r>
                <a:r>
                  <a:rPr lang="zh-CN" altLang="en-US"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次谐波的</a:t>
                </a: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合成磁势</a:t>
                </a:r>
                <a14:m>
                  <m:oMath xmlns:m="http://schemas.openxmlformats.org/officeDocument/2006/math">
                    <m:d>
                      <m:dPr>
                        <m:begChr m:val=""/>
                        <m:endChr m:val=""/>
                        <m:ctrlPr>
                          <a:rPr lang="zh-CN" altLang="en-US" sz="2400" i="1" smtClean="0">
                            <a:solidFill>
                              <a:srgbClr val="0000FF"/>
                            </a:solidFill>
                            <a:latin typeface="Cambria Math" panose="02040503050406030204" pitchFamily="18" charset="0"/>
                          </a:rPr>
                        </m:ctrlPr>
                      </m:dPr>
                      <m:e>
                        <m:sSub>
                          <m:sSubPr>
                            <m:ctrlPr>
                              <a:rPr lang="zh-CN" altLang="en-US" sz="2400" i="1">
                                <a:solidFill>
                                  <a:srgbClr val="0000FF"/>
                                </a:solidFill>
                                <a:latin typeface="Cambria Math" panose="02040503050406030204" pitchFamily="18" charset="0"/>
                              </a:rPr>
                            </m:ctrlPr>
                          </m:sSubPr>
                          <m:e>
                            <m:r>
                              <a:rPr lang="zh-CN" altLang="en-US" sz="2400" i="1">
                                <a:solidFill>
                                  <a:srgbClr val="0000FF"/>
                                </a:solidFill>
                                <a:latin typeface="Cambria Math" panose="02040503050406030204" pitchFamily="18" charset="0"/>
                              </a:rPr>
                              <m:t>𝐹</m:t>
                            </m:r>
                          </m:e>
                          <m:sub>
                            <m:r>
                              <a:rPr lang="zh-CN" altLang="en-US" sz="2400" i="1">
                                <a:solidFill>
                                  <a:srgbClr val="0000FF"/>
                                </a:solidFill>
                                <a:latin typeface="Cambria Math" panose="02040503050406030204" pitchFamily="18" charset="0"/>
                              </a:rPr>
                              <m:t>𝑠</m:t>
                            </m:r>
                            <m:r>
                              <a:rPr lang="zh-CN" altLang="en-US" sz="2400" i="0">
                                <a:solidFill>
                                  <a:srgbClr val="0000FF"/>
                                </a:solidFill>
                                <a:latin typeface="Cambria Math" panose="02040503050406030204" pitchFamily="18" charset="0"/>
                              </a:rPr>
                              <m:t>7</m:t>
                            </m:r>
                          </m:sub>
                        </m:sSub>
                        <m:d>
                          <m:dPr>
                            <m:begChr m:val=""/>
                            <m:endChr m:val=""/>
                            <m:ctrlPr>
                              <a:rPr lang="zh-CN" altLang="en-US" sz="2400" i="1">
                                <a:solidFill>
                                  <a:srgbClr val="0000FF"/>
                                </a:solidFill>
                                <a:latin typeface="Cambria Math" panose="02040503050406030204" pitchFamily="18" charset="0"/>
                              </a:rPr>
                            </m:ctrlPr>
                          </m:dPr>
                          <m:e>
                            <m:r>
                              <a:rPr lang="zh-CN" altLang="en-US" sz="2400" i="0">
                                <a:solidFill>
                                  <a:srgbClr val="0000FF"/>
                                </a:solidFill>
                                <a:latin typeface="Cambria Math" panose="02040503050406030204" pitchFamily="18" charset="0"/>
                              </a:rPr>
                              <m:t>(</m:t>
                            </m:r>
                          </m:e>
                        </m:d>
                        <m:r>
                          <a:rPr lang="zh-CN" altLang="en-US" sz="2400" i="1">
                            <a:solidFill>
                              <a:srgbClr val="0000FF"/>
                            </a:solidFill>
                            <a:latin typeface="Cambria Math" panose="02040503050406030204" pitchFamily="18" charset="0"/>
                          </a:rPr>
                          <m:t>𝑥</m:t>
                        </m:r>
                        <m:r>
                          <a:rPr lang="zh-CN" altLang="en-US" sz="2400" i="0">
                            <a:solidFill>
                              <a:srgbClr val="0000FF"/>
                            </a:solidFill>
                            <a:latin typeface="Cambria Math" panose="02040503050406030204" pitchFamily="18" charset="0"/>
                          </a:rPr>
                          <m:t>,</m:t>
                        </m:r>
                        <m:r>
                          <a:rPr lang="zh-CN" altLang="en-US" sz="2400" i="1">
                            <a:solidFill>
                              <a:srgbClr val="0000FF"/>
                            </a:solidFill>
                            <a:latin typeface="Cambria Math" panose="02040503050406030204" pitchFamily="18" charset="0"/>
                          </a:rPr>
                          <m:t>𝑡</m:t>
                        </m:r>
                        <m:r>
                          <a:rPr lang="zh-CN" altLang="en-US" sz="2400" i="0">
                            <a:solidFill>
                              <a:srgbClr val="0000FF"/>
                            </a:solidFill>
                            <a:latin typeface="Cambria Math" panose="02040503050406030204" pitchFamily="18" charset="0"/>
                          </a:rPr>
                          <m:t>)</m:t>
                        </m:r>
                      </m:e>
                    </m:d>
                  </m:oMath>
                </a14:m>
                <a:r>
                  <a:rPr lang="zh-CN"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也是一个旋转磁场。对于空间固定的点</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en-US"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，磁势随时间变化，频率与基波相同；</a:t>
                </a:r>
                <a:endParaRPr lang="zh-CN" altLang="en-US" sz="400" dirty="0"/>
              </a:p>
            </p:txBody>
          </p:sp>
        </mc:Choice>
        <mc:Fallback xmlns="">
          <p:sp>
            <p:nvSpPr>
              <p:cNvPr id="3" name="文本框 2">
                <a:extLst>
                  <a:ext uri="{FF2B5EF4-FFF2-40B4-BE49-F238E27FC236}">
                    <a16:creationId xmlns:a16="http://schemas.microsoft.com/office/drawing/2014/main" id="{6C18C7C5-C6C3-E98D-ACE9-12B5478E2DB5}"/>
                  </a:ext>
                </a:extLst>
              </p:cNvPr>
              <p:cNvSpPr txBox="1">
                <a:spLocks noRot="1" noChangeAspect="1" noMove="1" noResize="1" noEditPoints="1" noAdjustHandles="1" noChangeArrowheads="1" noChangeShapeType="1" noTextEdit="1"/>
              </p:cNvSpPr>
              <p:nvPr/>
            </p:nvSpPr>
            <p:spPr>
              <a:xfrm>
                <a:off x="539552" y="1092185"/>
                <a:ext cx="7885484" cy="968663"/>
              </a:xfrm>
              <a:prstGeom prst="rect">
                <a:avLst/>
              </a:prstGeom>
              <a:blipFill>
                <a:blip r:embed="rId2"/>
                <a:stretch>
                  <a:fillRect l="-1237" t="-2516" r="-541" b="-13836"/>
                </a:stretch>
              </a:blipFill>
            </p:spPr>
            <p:txBody>
              <a:bodyPr/>
              <a:lstStyle/>
              <a:p>
                <a:r>
                  <a:rPr lang="zh-CN" altLang="en-US">
                    <a:noFill/>
                  </a:rPr>
                  <a:t> </a:t>
                </a:r>
              </a:p>
            </p:txBody>
          </p:sp>
        </mc:Fallback>
      </mc:AlternateContent>
      <p:graphicFrame>
        <p:nvGraphicFramePr>
          <p:cNvPr id="15" name="对象 14">
            <a:extLst>
              <a:ext uri="{FF2B5EF4-FFF2-40B4-BE49-F238E27FC236}">
                <a16:creationId xmlns:a16="http://schemas.microsoft.com/office/drawing/2014/main" id="{295EF3AB-7F85-A8DB-91B9-D61872E7CD45}"/>
              </a:ext>
            </a:extLst>
          </p:cNvPr>
          <p:cNvGraphicFramePr>
            <a:graphicFrameLocks noChangeAspect="1"/>
          </p:cNvGraphicFramePr>
          <p:nvPr>
            <p:extLst>
              <p:ext uri="{D42A27DB-BD31-4B8C-83A1-F6EECF244321}">
                <p14:modId xmlns:p14="http://schemas.microsoft.com/office/powerpoint/2010/main" val="3970060282"/>
              </p:ext>
            </p:extLst>
          </p:nvPr>
        </p:nvGraphicFramePr>
        <p:xfrm>
          <a:off x="971600" y="2144981"/>
          <a:ext cx="1585913" cy="690563"/>
        </p:xfrm>
        <a:graphic>
          <a:graphicData uri="http://schemas.openxmlformats.org/presentationml/2006/ole">
            <mc:AlternateContent xmlns:mc="http://schemas.openxmlformats.org/markup-compatibility/2006">
              <mc:Choice xmlns:v="urn:schemas-microsoft-com:vml" Requires="v">
                <p:oleObj name="Equation" r:id="rId3" imgW="901309" imgH="393529" progId="Equation.DSMT4">
                  <p:embed/>
                </p:oleObj>
              </mc:Choice>
              <mc:Fallback>
                <p:oleObj name="Equation" r:id="rId3" imgW="901309" imgH="393529"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2144981"/>
                        <a:ext cx="1585913"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a:extLst>
              <a:ext uri="{FF2B5EF4-FFF2-40B4-BE49-F238E27FC236}">
                <a16:creationId xmlns:a16="http://schemas.microsoft.com/office/drawing/2014/main" id="{9A6EAC5D-486A-776A-C5E8-4F685875E73D}"/>
              </a:ext>
            </a:extLst>
          </p:cNvPr>
          <p:cNvGraphicFramePr>
            <a:graphicFrameLocks noChangeAspect="1"/>
          </p:cNvGraphicFramePr>
          <p:nvPr>
            <p:extLst>
              <p:ext uri="{D42A27DB-BD31-4B8C-83A1-F6EECF244321}">
                <p14:modId xmlns:p14="http://schemas.microsoft.com/office/powerpoint/2010/main" val="847346112"/>
              </p:ext>
            </p:extLst>
          </p:nvPr>
        </p:nvGraphicFramePr>
        <p:xfrm>
          <a:off x="3559317" y="2786393"/>
          <a:ext cx="1161269" cy="712245"/>
        </p:xfrm>
        <a:graphic>
          <a:graphicData uri="http://schemas.openxmlformats.org/presentationml/2006/ole">
            <mc:AlternateContent xmlns:mc="http://schemas.openxmlformats.org/markup-compatibility/2006">
              <mc:Choice xmlns:v="urn:schemas-microsoft-com:vml" Requires="v">
                <p:oleObj name="Equation" r:id="rId5" imgW="634725" imgH="393529" progId="Equation.DSMT4">
                  <p:embed/>
                </p:oleObj>
              </mc:Choice>
              <mc:Fallback>
                <p:oleObj name="Equation" r:id="rId5" imgW="634725" imgH="393529"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9317" y="2786393"/>
                        <a:ext cx="1161269" cy="712245"/>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62CAB307-CC1F-608A-F9DD-16838981E5CD}"/>
              </a:ext>
            </a:extLst>
          </p:cNvPr>
          <p:cNvGraphicFramePr>
            <a:graphicFrameLocks noChangeAspect="1"/>
          </p:cNvGraphicFramePr>
          <p:nvPr>
            <p:extLst>
              <p:ext uri="{D42A27DB-BD31-4B8C-83A1-F6EECF244321}">
                <p14:modId xmlns:p14="http://schemas.microsoft.com/office/powerpoint/2010/main" val="3638472877"/>
              </p:ext>
            </p:extLst>
          </p:nvPr>
        </p:nvGraphicFramePr>
        <p:xfrm>
          <a:off x="6876256" y="4185646"/>
          <a:ext cx="1252537" cy="307975"/>
        </p:xfrm>
        <a:graphic>
          <a:graphicData uri="http://schemas.openxmlformats.org/presentationml/2006/ole">
            <mc:AlternateContent xmlns:mc="http://schemas.openxmlformats.org/markup-compatibility/2006">
              <mc:Choice xmlns:v="urn:schemas-microsoft-com:vml" Requires="v">
                <p:oleObj name="Equation" r:id="rId7" imgW="711000" imgH="177480" progId="Equation.DSMT4">
                  <p:embed/>
                </p:oleObj>
              </mc:Choice>
              <mc:Fallback>
                <p:oleObj name="Equation" r:id="rId7" imgW="711000" imgH="177480" progId="Equation.DSMT4">
                  <p:embed/>
                  <p:pic>
                    <p:nvPicPr>
                      <p:cNvPr id="0" name="Object 8"/>
                      <p:cNvPicPr>
                        <a:picLocks noChangeAspect="1" noChangeArrowheads="1"/>
                      </p:cNvPicPr>
                      <p:nvPr/>
                    </p:nvPicPr>
                    <p:blipFill>
                      <a:blip r:embed="rId8"/>
                      <a:srcRect/>
                      <a:stretch>
                        <a:fillRect/>
                      </a:stretch>
                    </p:blipFill>
                    <p:spPr bwMode="auto">
                      <a:xfrm>
                        <a:off x="6876256" y="4185646"/>
                        <a:ext cx="1252537"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11">
            <a:extLst>
              <a:ext uri="{FF2B5EF4-FFF2-40B4-BE49-F238E27FC236}">
                <a16:creationId xmlns:a16="http://schemas.microsoft.com/office/drawing/2014/main" id="{EFD14D5D-F32D-BA30-CAF4-6795FEE6B070}"/>
              </a:ext>
            </a:extLst>
          </p:cNvPr>
          <p:cNvSpPr>
            <a:spLocks noChangeArrowheads="1"/>
          </p:cNvSpPr>
          <p:nvPr/>
        </p:nvSpPr>
        <p:spPr bwMode="auto">
          <a:xfrm>
            <a:off x="539552" y="2211269"/>
            <a:ext cx="7200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令           ，对时间微分，得到</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7</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次谐波的转速：</a:t>
            </a:r>
          </a:p>
        </p:txBody>
      </p:sp>
      <p:sp>
        <p:nvSpPr>
          <p:cNvPr id="26" name="Rectangle 13">
            <a:extLst>
              <a:ext uri="{FF2B5EF4-FFF2-40B4-BE49-F238E27FC236}">
                <a16:creationId xmlns:a16="http://schemas.microsoft.com/office/drawing/2014/main" id="{CB650484-B3A2-A944-06B9-C7FADFC5BDFE}"/>
              </a:ext>
            </a:extLst>
          </p:cNvPr>
          <p:cNvSpPr>
            <a:spLocks noChangeArrowheads="1"/>
          </p:cNvSpPr>
          <p:nvPr/>
        </p:nvSpPr>
        <p:spPr bwMode="auto">
          <a:xfrm>
            <a:off x="539552" y="3595622"/>
            <a:ext cx="7992888" cy="235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lnSpc>
                <a:spcPct val="125000"/>
              </a:lnSpc>
            </a:pP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这</a:t>
            </a:r>
            <a:r>
              <a:rPr kumimoji="0" lang="zh-CN"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说明</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7</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次谐波的转速是基波的</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1/7</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，旋转方向与基波相同，也称为</a:t>
            </a:r>
            <a:r>
              <a:rPr kumimoji="0" lang="zh-CN" altLang="en-US"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正序谐波</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。在任何固定的瞬间，在                   </a:t>
            </a:r>
            <a:r>
              <a:rPr kumimoji="0" lang="zh-CN"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之间有</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7</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个整波，所以</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7</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次谐波的极数</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7</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倍于基波，它以</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7</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倍于基波极数和</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1/7</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基波转速的磁通滑过定子绕组，产生的谐波电势频率仍为</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f</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其它</a:t>
            </a:r>
            <a:r>
              <a:rPr kumimoji="0" lang="en-US" altLang="zh-CN"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6k+1</a:t>
            </a:r>
            <a:r>
              <a:rPr kumimoji="0" lang="zh-CN" altLang="en-US"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次谐波结论相同</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251D3FB7-8B05-0BD0-F708-084538B0BDEF}"/>
              </a:ext>
            </a:extLst>
          </p:cNvPr>
          <p:cNvSpPr>
            <a:spLocks noGrp="1"/>
          </p:cNvSpPr>
          <p:nvPr>
            <p:ph type="sldNum" sz="quarter" idx="12"/>
          </p:nvPr>
        </p:nvSpPr>
        <p:spPr/>
        <p:txBody>
          <a:bodyPr/>
          <a:lstStyle/>
          <a:p>
            <a:fld id="{76D830B0-DF59-4281-898F-AF208100B213}" type="slidenum">
              <a:rPr lang="en-US" altLang="zh-CN" smtClean="0"/>
              <a:pPr/>
              <a:t>42</a:t>
            </a:fld>
            <a:endParaRPr lang="en-US" altLang="zh-CN"/>
          </a:p>
        </p:txBody>
      </p:sp>
    </p:spTree>
    <p:extLst>
      <p:ext uri="{BB962C8B-B14F-4D97-AF65-F5344CB8AC3E}">
        <p14:creationId xmlns:p14="http://schemas.microsoft.com/office/powerpoint/2010/main" val="32334184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65F2603-E795-0A6E-219B-3920A3A19343}"/>
              </a:ext>
            </a:extLst>
          </p:cNvPr>
          <p:cNvSpPr>
            <a:spLocks noChangeArrowheads="1"/>
          </p:cNvSpPr>
          <p:nvPr/>
        </p:nvSpPr>
        <p:spPr bwMode="auto">
          <a:xfrm>
            <a:off x="628426" y="980728"/>
            <a:ext cx="50957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三相</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合成磁势的</a:t>
            </a:r>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负序</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谐波磁势</a:t>
            </a:r>
            <a:endParaRPr kumimoji="0" lang="zh-CN" altLang="en-US" sz="400" b="0" i="0" u="none" strike="noStrike" cap="none" normalizeH="0" baseline="0" dirty="0">
              <a:ln>
                <a:noFill/>
              </a:ln>
              <a:solidFill>
                <a:schemeClr val="tx1"/>
              </a:solidFill>
              <a:effectLst/>
            </a:endParaRPr>
          </a:p>
        </p:txBody>
      </p:sp>
      <p:sp>
        <p:nvSpPr>
          <p:cNvPr id="4" name="文本框 3">
            <a:extLst>
              <a:ext uri="{FF2B5EF4-FFF2-40B4-BE49-F238E27FC236}">
                <a16:creationId xmlns:a16="http://schemas.microsoft.com/office/drawing/2014/main" id="{BC6E67E6-0B6E-7884-4EB9-71C800C41074}"/>
              </a:ext>
            </a:extLst>
          </p:cNvPr>
          <p:cNvSpPr txBox="1"/>
          <p:nvPr/>
        </p:nvSpPr>
        <p:spPr>
          <a:xfrm>
            <a:off x="899592" y="1516722"/>
            <a:ext cx="6912768" cy="400110"/>
          </a:xfrm>
          <a:prstGeom prst="rect">
            <a:avLst/>
          </a:prstGeom>
          <a:noFill/>
        </p:spPr>
        <p:txBody>
          <a:bodyPr wrap="square">
            <a:spAutoFit/>
          </a:bodyPr>
          <a:lstStyle/>
          <a:p>
            <a:pPr algn="l"/>
            <a:r>
              <a:rPr lang="zh-CN"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次数为</a:t>
            </a:r>
            <a:r>
              <a:rPr lang="en-US" altLang="zh-CN" sz="2000"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5</a:t>
            </a:r>
            <a:r>
              <a:rPr lang="zh-CN"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11</a:t>
            </a:r>
            <a:r>
              <a:rPr lang="zh-CN"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17</a:t>
            </a:r>
            <a:r>
              <a:rPr lang="zh-CN"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…n=6k-1,k=1,2,3…</a:t>
            </a:r>
            <a:r>
              <a:rPr lang="zh-CN"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，的谐波，以</a:t>
            </a:r>
            <a:r>
              <a:rPr lang="en-US"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5</a:t>
            </a:r>
            <a:r>
              <a:rPr lang="zh-CN" altLang="zh-CN" sz="2000" b="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为代表</a:t>
            </a:r>
            <a:endParaRPr lang="zh-CN" altLang="zh-CN" sz="2000" b="1" kern="100" dirty="0">
              <a:solidFill>
                <a:srgbClr val="FF00FF"/>
              </a:solidFill>
              <a:effectLst/>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对象 4">
            <a:extLst>
              <a:ext uri="{FF2B5EF4-FFF2-40B4-BE49-F238E27FC236}">
                <a16:creationId xmlns:a16="http://schemas.microsoft.com/office/drawing/2014/main" id="{A865EE84-574F-D4D9-C366-549D0DDD296D}"/>
              </a:ext>
            </a:extLst>
          </p:cNvPr>
          <p:cNvGraphicFramePr>
            <a:graphicFrameLocks noChangeAspect="1"/>
          </p:cNvGraphicFramePr>
          <p:nvPr>
            <p:extLst>
              <p:ext uri="{D42A27DB-BD31-4B8C-83A1-F6EECF244321}">
                <p14:modId xmlns:p14="http://schemas.microsoft.com/office/powerpoint/2010/main" val="3152573179"/>
              </p:ext>
            </p:extLst>
          </p:nvPr>
        </p:nvGraphicFramePr>
        <p:xfrm>
          <a:off x="2425700" y="2111375"/>
          <a:ext cx="4616450" cy="1822450"/>
        </p:xfrm>
        <a:graphic>
          <a:graphicData uri="http://schemas.openxmlformats.org/presentationml/2006/ole">
            <mc:AlternateContent xmlns:mc="http://schemas.openxmlformats.org/markup-compatibility/2006">
              <mc:Choice xmlns:v="urn:schemas-microsoft-com:vml" Requires="v">
                <p:oleObj name="Equation" r:id="rId2" imgW="2577960" imgH="1028520" progId="Equation.DSMT4">
                  <p:embed/>
                </p:oleObj>
              </mc:Choice>
              <mc:Fallback>
                <p:oleObj name="Equation" r:id="rId2" imgW="2577960" imgH="1028520" progId="Equation.DSMT4">
                  <p:embed/>
                  <p:pic>
                    <p:nvPicPr>
                      <p:cNvPr id="16" name="对象 15">
                        <a:extLst>
                          <a:ext uri="{FF2B5EF4-FFF2-40B4-BE49-F238E27FC236}">
                            <a16:creationId xmlns:a16="http://schemas.microsoft.com/office/drawing/2014/main" id="{74A8446E-D77D-E059-54D8-1845894E33B9}"/>
                          </a:ext>
                        </a:extLst>
                      </p:cNvPr>
                      <p:cNvPicPr>
                        <a:picLocks noChangeAspect="1" noChangeArrowheads="1"/>
                      </p:cNvPicPr>
                      <p:nvPr/>
                    </p:nvPicPr>
                    <p:blipFill>
                      <a:blip r:embed="rId3"/>
                      <a:srcRect/>
                      <a:stretch>
                        <a:fillRect/>
                      </a:stretch>
                    </p:blipFill>
                    <p:spPr bwMode="auto">
                      <a:xfrm>
                        <a:off x="2425700" y="2111375"/>
                        <a:ext cx="4616450" cy="1822450"/>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D6254D52-73C7-630C-CD09-7445FAB86427}"/>
              </a:ext>
            </a:extLst>
          </p:cNvPr>
          <p:cNvGraphicFramePr>
            <a:graphicFrameLocks noChangeAspect="1"/>
          </p:cNvGraphicFramePr>
          <p:nvPr>
            <p:extLst>
              <p:ext uri="{D42A27DB-BD31-4B8C-83A1-F6EECF244321}">
                <p14:modId xmlns:p14="http://schemas.microsoft.com/office/powerpoint/2010/main" val="3442242473"/>
              </p:ext>
            </p:extLst>
          </p:nvPr>
        </p:nvGraphicFramePr>
        <p:xfrm>
          <a:off x="1893888" y="4846537"/>
          <a:ext cx="5630440" cy="1187383"/>
        </p:xfrm>
        <a:graphic>
          <a:graphicData uri="http://schemas.openxmlformats.org/presentationml/2006/ole">
            <mc:AlternateContent xmlns:mc="http://schemas.openxmlformats.org/markup-compatibility/2006">
              <mc:Choice xmlns:v="urn:schemas-microsoft-com:vml" Requires="v">
                <p:oleObj name="Equation" r:id="rId4" imgW="3009600" imgH="634680" progId="Equation.DSMT4">
                  <p:embed/>
                </p:oleObj>
              </mc:Choice>
              <mc:Fallback>
                <p:oleObj name="Equation" r:id="rId4" imgW="3009600" imgH="634680" progId="Equation.DSMT4">
                  <p:embed/>
                  <p:pic>
                    <p:nvPicPr>
                      <p:cNvPr id="20" name="对象 19">
                        <a:extLst>
                          <a:ext uri="{FF2B5EF4-FFF2-40B4-BE49-F238E27FC236}">
                            <a16:creationId xmlns:a16="http://schemas.microsoft.com/office/drawing/2014/main" id="{28F1ECB0-1F4D-D679-9AC3-9BCF48C20CC1}"/>
                          </a:ext>
                        </a:extLst>
                      </p:cNvPr>
                      <p:cNvPicPr>
                        <a:picLocks noChangeAspect="1" noChangeArrowheads="1"/>
                      </p:cNvPicPr>
                      <p:nvPr/>
                    </p:nvPicPr>
                    <p:blipFill>
                      <a:blip r:embed="rId5"/>
                      <a:srcRect/>
                      <a:stretch>
                        <a:fillRect/>
                      </a:stretch>
                    </p:blipFill>
                    <p:spPr bwMode="auto">
                      <a:xfrm>
                        <a:off x="1893888" y="4846537"/>
                        <a:ext cx="5630440" cy="1187383"/>
                      </a:xfrm>
                      <a:prstGeom prst="rect">
                        <a:avLst/>
                      </a:prstGeom>
                      <a:noFill/>
                    </p:spPr>
                  </p:pic>
                </p:oleObj>
              </mc:Fallback>
            </mc:AlternateContent>
          </a:graphicData>
        </a:graphic>
      </p:graphicFrame>
      <p:sp>
        <p:nvSpPr>
          <p:cNvPr id="7" name="文本框 6">
            <a:extLst>
              <a:ext uri="{FF2B5EF4-FFF2-40B4-BE49-F238E27FC236}">
                <a16:creationId xmlns:a16="http://schemas.microsoft.com/office/drawing/2014/main" id="{5CF0183C-75E3-4F34-84CF-EE617053B6C5}"/>
              </a:ext>
            </a:extLst>
          </p:cNvPr>
          <p:cNvSpPr txBox="1"/>
          <p:nvPr/>
        </p:nvSpPr>
        <p:spPr>
          <a:xfrm>
            <a:off x="628426" y="4096187"/>
            <a:ext cx="3481032" cy="461665"/>
          </a:xfrm>
          <a:prstGeom prst="rect">
            <a:avLst/>
          </a:prstGeom>
          <a:noFill/>
        </p:spPr>
        <p:txBody>
          <a:bodyPr wrap="square">
            <a:spAutoFit/>
          </a:bodyPr>
          <a:lstStyle/>
          <a:p>
            <a:r>
              <a:rPr lang="en-US" altLang="zh-CN"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5</a:t>
            </a:r>
            <a:r>
              <a:rPr lang="zh-CN" altLang="en-US"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次谐波的</a:t>
            </a: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合成磁势</a:t>
            </a:r>
            <a:r>
              <a:rPr lang="zh-CN" altLang="zh-CN"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为</a:t>
            </a:r>
            <a:r>
              <a:rPr lang="zh-CN" altLang="en-US" sz="2400"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p>
        </p:txBody>
      </p:sp>
      <p:sp>
        <p:nvSpPr>
          <p:cNvPr id="8" name="Rectangle 10">
            <a:extLst>
              <a:ext uri="{FF2B5EF4-FFF2-40B4-BE49-F238E27FC236}">
                <a16:creationId xmlns:a16="http://schemas.microsoft.com/office/drawing/2014/main" id="{B317AEE6-C9EB-ED53-5276-0B5D1C0F3FF3}"/>
              </a:ext>
            </a:extLst>
          </p:cNvPr>
          <p:cNvSpPr>
            <a:spLocks noChangeArrowheads="1"/>
          </p:cNvSpPr>
          <p:nvPr/>
        </p:nvSpPr>
        <p:spPr bwMode="auto">
          <a:xfrm>
            <a:off x="4283968" y="4145970"/>
            <a:ext cx="18722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利用三角公式</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10" name="箭头: 下 9">
            <a:extLst>
              <a:ext uri="{FF2B5EF4-FFF2-40B4-BE49-F238E27FC236}">
                <a16:creationId xmlns:a16="http://schemas.microsoft.com/office/drawing/2014/main" id="{55F7BF83-5FEC-584D-8617-150407EA8BE9}"/>
              </a:ext>
            </a:extLst>
          </p:cNvPr>
          <p:cNvSpPr/>
          <p:nvPr/>
        </p:nvSpPr>
        <p:spPr>
          <a:xfrm>
            <a:off x="4001446" y="4083466"/>
            <a:ext cx="282522" cy="68635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灯片编号占位符 8">
            <a:extLst>
              <a:ext uri="{FF2B5EF4-FFF2-40B4-BE49-F238E27FC236}">
                <a16:creationId xmlns:a16="http://schemas.microsoft.com/office/drawing/2014/main" id="{9589E1AB-B7CC-B25E-0A89-2A00CCCECBAF}"/>
              </a:ext>
            </a:extLst>
          </p:cNvPr>
          <p:cNvSpPr>
            <a:spLocks noGrp="1"/>
          </p:cNvSpPr>
          <p:nvPr>
            <p:ph type="sldNum" sz="quarter" idx="12"/>
          </p:nvPr>
        </p:nvSpPr>
        <p:spPr/>
        <p:txBody>
          <a:bodyPr/>
          <a:lstStyle/>
          <a:p>
            <a:fld id="{76D830B0-DF59-4281-898F-AF208100B213}" type="slidenum">
              <a:rPr lang="en-US" altLang="zh-CN" smtClean="0"/>
              <a:pPr/>
              <a:t>43</a:t>
            </a:fld>
            <a:endParaRPr lang="en-US" altLang="zh-CN"/>
          </a:p>
        </p:txBody>
      </p:sp>
    </p:spTree>
    <p:extLst>
      <p:ext uri="{BB962C8B-B14F-4D97-AF65-F5344CB8AC3E}">
        <p14:creationId xmlns:p14="http://schemas.microsoft.com/office/powerpoint/2010/main" val="33208529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C18C7C5-C6C3-E98D-ACE9-12B5478E2DB5}"/>
                  </a:ext>
                </a:extLst>
              </p:cNvPr>
              <p:cNvSpPr txBox="1"/>
              <p:nvPr/>
            </p:nvSpPr>
            <p:spPr>
              <a:xfrm>
                <a:off x="539552" y="1092185"/>
                <a:ext cx="7885484" cy="968663"/>
              </a:xfrm>
              <a:prstGeom prst="rect">
                <a:avLst/>
              </a:prstGeom>
              <a:noFill/>
            </p:spPr>
            <p:txBody>
              <a:bodyPr wrap="square">
                <a:spAutoFit/>
              </a:bodyPr>
              <a:lstStyle/>
              <a:p>
                <a:pPr>
                  <a:lnSpc>
                    <a:spcPct val="125000"/>
                  </a:lnSpc>
                </a:pPr>
                <a:r>
                  <a:rPr lang="en-US" altLang="zh-CN"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5</a:t>
                </a:r>
                <a:r>
                  <a:rPr lang="zh-CN" altLang="en-US"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次谐波的</a:t>
                </a: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合成磁势</a:t>
                </a:r>
                <a14:m>
                  <m:oMath xmlns:m="http://schemas.openxmlformats.org/officeDocument/2006/math">
                    <m:d>
                      <m:dPr>
                        <m:begChr m:val=""/>
                        <m:endChr m:val=""/>
                        <m:ctrlPr>
                          <a:rPr lang="zh-CN" altLang="en-US" sz="2400" i="1" smtClean="0">
                            <a:solidFill>
                              <a:srgbClr val="0000FF"/>
                            </a:solidFill>
                            <a:latin typeface="Cambria Math" panose="02040503050406030204" pitchFamily="18" charset="0"/>
                          </a:rPr>
                        </m:ctrlPr>
                      </m:dPr>
                      <m:e>
                        <m:sSub>
                          <m:sSubPr>
                            <m:ctrlPr>
                              <a:rPr lang="zh-CN" altLang="en-US" sz="2400" i="1">
                                <a:solidFill>
                                  <a:srgbClr val="0000FF"/>
                                </a:solidFill>
                                <a:latin typeface="Cambria Math" panose="02040503050406030204" pitchFamily="18" charset="0"/>
                              </a:rPr>
                            </m:ctrlPr>
                          </m:sSubPr>
                          <m:e>
                            <m:r>
                              <a:rPr lang="zh-CN" altLang="en-US" sz="2400" i="1">
                                <a:solidFill>
                                  <a:srgbClr val="0000FF"/>
                                </a:solidFill>
                                <a:latin typeface="Cambria Math" panose="02040503050406030204" pitchFamily="18" charset="0"/>
                              </a:rPr>
                              <m:t>𝐹</m:t>
                            </m:r>
                          </m:e>
                          <m:sub>
                            <m:r>
                              <a:rPr lang="zh-CN" altLang="en-US" sz="2400" i="1">
                                <a:solidFill>
                                  <a:srgbClr val="0000FF"/>
                                </a:solidFill>
                                <a:latin typeface="Cambria Math" panose="02040503050406030204" pitchFamily="18" charset="0"/>
                              </a:rPr>
                              <m:t>𝑠</m:t>
                            </m:r>
                            <m:r>
                              <a:rPr lang="en-US" altLang="zh-CN" sz="2400" b="0" i="0" smtClean="0">
                                <a:solidFill>
                                  <a:srgbClr val="0000FF"/>
                                </a:solidFill>
                                <a:latin typeface="Cambria Math" panose="02040503050406030204" pitchFamily="18" charset="0"/>
                              </a:rPr>
                              <m:t>5</m:t>
                            </m:r>
                          </m:sub>
                        </m:sSub>
                        <m:d>
                          <m:dPr>
                            <m:begChr m:val=""/>
                            <m:endChr m:val=""/>
                            <m:ctrlPr>
                              <a:rPr lang="zh-CN" altLang="en-US" sz="2400" i="1">
                                <a:solidFill>
                                  <a:srgbClr val="0000FF"/>
                                </a:solidFill>
                                <a:latin typeface="Cambria Math" panose="02040503050406030204" pitchFamily="18" charset="0"/>
                              </a:rPr>
                            </m:ctrlPr>
                          </m:dPr>
                          <m:e>
                            <m:r>
                              <a:rPr lang="zh-CN" altLang="en-US" sz="2400" i="0">
                                <a:solidFill>
                                  <a:srgbClr val="0000FF"/>
                                </a:solidFill>
                                <a:latin typeface="Cambria Math" panose="02040503050406030204" pitchFamily="18" charset="0"/>
                              </a:rPr>
                              <m:t>(</m:t>
                            </m:r>
                          </m:e>
                        </m:d>
                        <m:r>
                          <a:rPr lang="zh-CN" altLang="en-US" sz="2400" i="1">
                            <a:solidFill>
                              <a:srgbClr val="0000FF"/>
                            </a:solidFill>
                            <a:latin typeface="Cambria Math" panose="02040503050406030204" pitchFamily="18" charset="0"/>
                          </a:rPr>
                          <m:t>𝑥</m:t>
                        </m:r>
                        <m:r>
                          <a:rPr lang="zh-CN" altLang="en-US" sz="2400" i="0">
                            <a:solidFill>
                              <a:srgbClr val="0000FF"/>
                            </a:solidFill>
                            <a:latin typeface="Cambria Math" panose="02040503050406030204" pitchFamily="18" charset="0"/>
                          </a:rPr>
                          <m:t>,</m:t>
                        </m:r>
                        <m:r>
                          <a:rPr lang="zh-CN" altLang="en-US" sz="2400" i="1">
                            <a:solidFill>
                              <a:srgbClr val="0000FF"/>
                            </a:solidFill>
                            <a:latin typeface="Cambria Math" panose="02040503050406030204" pitchFamily="18" charset="0"/>
                          </a:rPr>
                          <m:t>𝑡</m:t>
                        </m:r>
                        <m:r>
                          <a:rPr lang="zh-CN" altLang="en-US" sz="2400" i="0">
                            <a:solidFill>
                              <a:srgbClr val="0000FF"/>
                            </a:solidFill>
                            <a:latin typeface="Cambria Math" panose="02040503050406030204" pitchFamily="18" charset="0"/>
                          </a:rPr>
                          <m:t>)</m:t>
                        </m:r>
                      </m:e>
                    </m:d>
                  </m:oMath>
                </a14:m>
                <a:r>
                  <a:rPr lang="zh-CN"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也是一个旋转磁场。对于空间固定的点</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，磁势随时间变化，频率与基波相同；</a:t>
                </a:r>
                <a:endParaRPr lang="zh-CN" altLang="en-US" sz="400" dirty="0">
                  <a:latin typeface="Times New Roman" panose="02020603050405020304" pitchFamily="18" charset="0"/>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6C18C7C5-C6C3-E98D-ACE9-12B5478E2DB5}"/>
                  </a:ext>
                </a:extLst>
              </p:cNvPr>
              <p:cNvSpPr txBox="1">
                <a:spLocks noRot="1" noChangeAspect="1" noMove="1" noResize="1" noEditPoints="1" noAdjustHandles="1" noChangeArrowheads="1" noChangeShapeType="1" noTextEdit="1"/>
              </p:cNvSpPr>
              <p:nvPr/>
            </p:nvSpPr>
            <p:spPr>
              <a:xfrm>
                <a:off x="539552" y="1092185"/>
                <a:ext cx="7885484" cy="968663"/>
              </a:xfrm>
              <a:prstGeom prst="rect">
                <a:avLst/>
              </a:prstGeom>
              <a:blipFill>
                <a:blip r:embed="rId3"/>
                <a:stretch>
                  <a:fillRect l="-1237" t="-2516" r="-541" b="-13836"/>
                </a:stretch>
              </a:blipFill>
            </p:spPr>
            <p:txBody>
              <a:bodyPr/>
              <a:lstStyle/>
              <a:p>
                <a:r>
                  <a:rPr lang="zh-CN" altLang="en-US">
                    <a:noFill/>
                  </a:rPr>
                  <a:t> </a:t>
                </a:r>
              </a:p>
            </p:txBody>
          </p:sp>
        </mc:Fallback>
      </mc:AlternateContent>
      <p:graphicFrame>
        <p:nvGraphicFramePr>
          <p:cNvPr id="15" name="对象 14">
            <a:extLst>
              <a:ext uri="{FF2B5EF4-FFF2-40B4-BE49-F238E27FC236}">
                <a16:creationId xmlns:a16="http://schemas.microsoft.com/office/drawing/2014/main" id="{295EF3AB-7F85-A8DB-91B9-D61872E7CD45}"/>
              </a:ext>
            </a:extLst>
          </p:cNvPr>
          <p:cNvGraphicFramePr>
            <a:graphicFrameLocks noChangeAspect="1"/>
          </p:cNvGraphicFramePr>
          <p:nvPr>
            <p:extLst>
              <p:ext uri="{D42A27DB-BD31-4B8C-83A1-F6EECF244321}">
                <p14:modId xmlns:p14="http://schemas.microsoft.com/office/powerpoint/2010/main" val="4107114765"/>
              </p:ext>
            </p:extLst>
          </p:nvPr>
        </p:nvGraphicFramePr>
        <p:xfrm>
          <a:off x="971600" y="2144981"/>
          <a:ext cx="1585913" cy="690563"/>
        </p:xfrm>
        <a:graphic>
          <a:graphicData uri="http://schemas.openxmlformats.org/presentationml/2006/ole">
            <mc:AlternateContent xmlns:mc="http://schemas.openxmlformats.org/markup-compatibility/2006">
              <mc:Choice xmlns:v="urn:schemas-microsoft-com:vml" Requires="v">
                <p:oleObj name="Equation" r:id="rId4" imgW="901440" imgH="393480" progId="Equation.DSMT4">
                  <p:embed/>
                </p:oleObj>
              </mc:Choice>
              <mc:Fallback>
                <p:oleObj name="Equation" r:id="rId4" imgW="901440" imgH="393480" progId="Equation.DSMT4">
                  <p:embed/>
                  <p:pic>
                    <p:nvPicPr>
                      <p:cNvPr id="15" name="对象 14">
                        <a:extLst>
                          <a:ext uri="{FF2B5EF4-FFF2-40B4-BE49-F238E27FC236}">
                            <a16:creationId xmlns:a16="http://schemas.microsoft.com/office/drawing/2014/main" id="{295EF3AB-7F85-A8DB-91B9-D61872E7CD45}"/>
                          </a:ext>
                        </a:extLst>
                      </p:cNvPr>
                      <p:cNvPicPr>
                        <a:picLocks noChangeAspect="1" noChangeArrowheads="1"/>
                      </p:cNvPicPr>
                      <p:nvPr/>
                    </p:nvPicPr>
                    <p:blipFill>
                      <a:blip r:embed="rId5"/>
                      <a:srcRect/>
                      <a:stretch>
                        <a:fillRect/>
                      </a:stretch>
                    </p:blipFill>
                    <p:spPr bwMode="auto">
                      <a:xfrm>
                        <a:off x="971600" y="2144981"/>
                        <a:ext cx="1585913"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a:extLst>
              <a:ext uri="{FF2B5EF4-FFF2-40B4-BE49-F238E27FC236}">
                <a16:creationId xmlns:a16="http://schemas.microsoft.com/office/drawing/2014/main" id="{9A6EAC5D-486A-776A-C5E8-4F685875E73D}"/>
              </a:ext>
            </a:extLst>
          </p:cNvPr>
          <p:cNvGraphicFramePr>
            <a:graphicFrameLocks noChangeAspect="1"/>
          </p:cNvGraphicFramePr>
          <p:nvPr>
            <p:extLst>
              <p:ext uri="{D42A27DB-BD31-4B8C-83A1-F6EECF244321}">
                <p14:modId xmlns:p14="http://schemas.microsoft.com/office/powerpoint/2010/main" val="422808477"/>
              </p:ext>
            </p:extLst>
          </p:nvPr>
        </p:nvGraphicFramePr>
        <p:xfrm>
          <a:off x="3635896" y="2835544"/>
          <a:ext cx="1347788" cy="712787"/>
        </p:xfrm>
        <a:graphic>
          <a:graphicData uri="http://schemas.openxmlformats.org/presentationml/2006/ole">
            <mc:AlternateContent xmlns:mc="http://schemas.openxmlformats.org/markup-compatibility/2006">
              <mc:Choice xmlns:v="urn:schemas-microsoft-com:vml" Requires="v">
                <p:oleObj name="Equation" r:id="rId6" imgW="736560" imgH="393480" progId="Equation.DSMT4">
                  <p:embed/>
                </p:oleObj>
              </mc:Choice>
              <mc:Fallback>
                <p:oleObj name="Equation" r:id="rId6" imgW="736560" imgH="393480" progId="Equation.DSMT4">
                  <p:embed/>
                  <p:pic>
                    <p:nvPicPr>
                      <p:cNvPr id="17" name="对象 16">
                        <a:extLst>
                          <a:ext uri="{FF2B5EF4-FFF2-40B4-BE49-F238E27FC236}">
                            <a16:creationId xmlns:a16="http://schemas.microsoft.com/office/drawing/2014/main" id="{9A6EAC5D-486A-776A-C5E8-4F685875E73D}"/>
                          </a:ext>
                        </a:extLst>
                      </p:cNvPr>
                      <p:cNvPicPr>
                        <a:picLocks noChangeAspect="1" noChangeArrowheads="1"/>
                      </p:cNvPicPr>
                      <p:nvPr/>
                    </p:nvPicPr>
                    <p:blipFill>
                      <a:blip r:embed="rId7"/>
                      <a:srcRect/>
                      <a:stretch>
                        <a:fillRect/>
                      </a:stretch>
                    </p:blipFill>
                    <p:spPr bwMode="auto">
                      <a:xfrm>
                        <a:off x="3635896" y="2835544"/>
                        <a:ext cx="1347788" cy="712787"/>
                      </a:xfrm>
                      <a:prstGeom prst="rect">
                        <a:avLst/>
                      </a:prstGeom>
                      <a:noFill/>
                    </p:spPr>
                  </p:pic>
                </p:oleObj>
              </mc:Fallback>
            </mc:AlternateContent>
          </a:graphicData>
        </a:graphic>
      </p:graphicFrame>
      <p:sp>
        <p:nvSpPr>
          <p:cNvPr id="19" name="Rectangle 11">
            <a:extLst>
              <a:ext uri="{FF2B5EF4-FFF2-40B4-BE49-F238E27FC236}">
                <a16:creationId xmlns:a16="http://schemas.microsoft.com/office/drawing/2014/main" id="{EFD14D5D-F32D-BA30-CAF4-6795FEE6B070}"/>
              </a:ext>
            </a:extLst>
          </p:cNvPr>
          <p:cNvSpPr>
            <a:spLocks noChangeArrowheads="1"/>
          </p:cNvSpPr>
          <p:nvPr/>
        </p:nvSpPr>
        <p:spPr bwMode="auto">
          <a:xfrm>
            <a:off x="539552" y="2211269"/>
            <a:ext cx="7200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令          ，对时间微分，得到</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5</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次谐波的转速：</a:t>
            </a:r>
          </a:p>
        </p:txBody>
      </p:sp>
      <p:sp>
        <p:nvSpPr>
          <p:cNvPr id="26" name="Rectangle 13">
            <a:extLst>
              <a:ext uri="{FF2B5EF4-FFF2-40B4-BE49-F238E27FC236}">
                <a16:creationId xmlns:a16="http://schemas.microsoft.com/office/drawing/2014/main" id="{CB650484-B3A2-A944-06B9-C7FADFC5BDFE}"/>
              </a:ext>
            </a:extLst>
          </p:cNvPr>
          <p:cNvSpPr>
            <a:spLocks noChangeArrowheads="1"/>
          </p:cNvSpPr>
          <p:nvPr/>
        </p:nvSpPr>
        <p:spPr bwMode="auto">
          <a:xfrm>
            <a:off x="539552" y="3826454"/>
            <a:ext cx="7992888" cy="189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lnSpc>
                <a:spcPct val="125000"/>
              </a:lnSpc>
            </a:pP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这</a:t>
            </a:r>
            <a:r>
              <a:rPr kumimoji="0" lang="zh-CN"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说明</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5</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次谐波的转速是基波的</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1/5</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，旋转方向与基波相反，也称为</a:t>
            </a:r>
            <a:r>
              <a:rPr lang="zh-CN" altLang="en-US"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负</a:t>
            </a:r>
            <a:r>
              <a:rPr kumimoji="0" lang="zh-CN" altLang="en-US"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序谐波</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。它以</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5</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倍于基波极数和</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1/5</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基波转速的磁通滑过定子绕组，产生的谐波电势频率仍为</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f</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其它</a:t>
            </a:r>
            <a:r>
              <a:rPr kumimoji="0" lang="en-US" altLang="zh-CN"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6k-1</a:t>
            </a:r>
            <a:r>
              <a:rPr kumimoji="0" lang="zh-CN" altLang="en-US" sz="2400" b="1" i="0" u="none" strike="noStrike" cap="none" normalizeH="0" baseline="0" dirty="0">
                <a:ln>
                  <a:noFill/>
                </a:ln>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次谐波结论相同</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灯片编号占位符 3">
            <a:extLst>
              <a:ext uri="{FF2B5EF4-FFF2-40B4-BE49-F238E27FC236}">
                <a16:creationId xmlns:a16="http://schemas.microsoft.com/office/drawing/2014/main" id="{F0950A11-4342-E3BD-486A-4E94021CBCBC}"/>
              </a:ext>
            </a:extLst>
          </p:cNvPr>
          <p:cNvSpPr>
            <a:spLocks noGrp="1"/>
          </p:cNvSpPr>
          <p:nvPr>
            <p:ph type="sldNum" sz="quarter" idx="12"/>
          </p:nvPr>
        </p:nvSpPr>
        <p:spPr/>
        <p:txBody>
          <a:bodyPr/>
          <a:lstStyle/>
          <a:p>
            <a:fld id="{76D830B0-DF59-4281-898F-AF208100B213}" type="slidenum">
              <a:rPr lang="en-US" altLang="zh-CN" smtClean="0"/>
              <a:pPr/>
              <a:t>44</a:t>
            </a:fld>
            <a:endParaRPr lang="en-US" altLang="zh-CN"/>
          </a:p>
        </p:txBody>
      </p:sp>
    </p:spTree>
    <p:extLst>
      <p:ext uri="{BB962C8B-B14F-4D97-AF65-F5344CB8AC3E}">
        <p14:creationId xmlns:p14="http://schemas.microsoft.com/office/powerpoint/2010/main" val="8268155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D0FE26E-9B23-F1D7-95A3-64F4A567E0C3}"/>
              </a:ext>
            </a:extLst>
          </p:cNvPr>
          <p:cNvSpPr txBox="1"/>
          <p:nvPr/>
        </p:nvSpPr>
        <p:spPr>
          <a:xfrm>
            <a:off x="755576" y="980728"/>
            <a:ext cx="7272808" cy="1430328"/>
          </a:xfrm>
          <a:prstGeom prst="rect">
            <a:avLst/>
          </a:prstGeom>
          <a:noFill/>
        </p:spPr>
        <p:txBody>
          <a:bodyPr wrap="square">
            <a:spAutoFit/>
          </a:bodyPr>
          <a:lstStyle/>
          <a:p>
            <a:pPr indent="304800" algn="l">
              <a:lnSpc>
                <a:spcPct val="125000"/>
              </a:lnSpc>
            </a:pPr>
            <a:r>
              <a:rPr lang="en-US" altLang="zh-CN" sz="2400" b="0" kern="100" dirty="0">
                <a:solidFill>
                  <a:srgbClr val="000000"/>
                </a:solidFill>
                <a:effectLst/>
                <a:latin typeface="Times New Roman" panose="02020603050405020304" pitchFamily="18" charset="0"/>
                <a:ea typeface="黑体" panose="02010609060101010101" pitchFamily="49" charset="-122"/>
              </a:rPr>
              <a:t>    </a:t>
            </a:r>
            <a:r>
              <a:rPr lang="zh-CN" altLang="zh-CN" sz="2400" b="0" kern="100" dirty="0">
                <a:solidFill>
                  <a:srgbClr val="000000"/>
                </a:solidFill>
                <a:effectLst/>
                <a:latin typeface="Times New Roman" panose="02020603050405020304" pitchFamily="18" charset="0"/>
                <a:ea typeface="黑体" panose="02010609060101010101" pitchFamily="49" charset="-122"/>
              </a:rPr>
              <a:t>由于采用</a:t>
            </a:r>
            <a:r>
              <a:rPr lang="zh-CN" altLang="zh-CN" sz="2400" b="0" kern="100" dirty="0">
                <a:solidFill>
                  <a:srgbClr val="FF0000"/>
                </a:solidFill>
                <a:effectLst/>
                <a:latin typeface="Times New Roman" panose="02020603050405020304" pitchFamily="18" charset="0"/>
                <a:ea typeface="黑体" panose="02010609060101010101" pitchFamily="49" charset="-122"/>
              </a:rPr>
              <a:t>分布</a:t>
            </a:r>
            <a:r>
              <a:rPr lang="zh-CN" altLang="zh-CN" sz="2400" b="0" kern="100" dirty="0">
                <a:solidFill>
                  <a:srgbClr val="0000FF"/>
                </a:solidFill>
                <a:effectLst/>
                <a:latin typeface="Times New Roman" panose="02020603050405020304" pitchFamily="18" charset="0"/>
                <a:ea typeface="黑体" panose="02010609060101010101" pitchFamily="49" charset="-122"/>
              </a:rPr>
              <a:t>、短距</a:t>
            </a:r>
            <a:r>
              <a:rPr lang="zh-CN" altLang="zh-CN" sz="2400" b="0" kern="100" dirty="0">
                <a:effectLst/>
                <a:latin typeface="Times New Roman" panose="02020603050405020304" pitchFamily="18" charset="0"/>
                <a:ea typeface="黑体" panose="02010609060101010101" pitchFamily="49" charset="-122"/>
              </a:rPr>
              <a:t>绕组</a:t>
            </a:r>
            <a:r>
              <a:rPr lang="zh-CN" altLang="en-US" sz="2400" kern="100" dirty="0">
                <a:solidFill>
                  <a:srgbClr val="000000"/>
                </a:solidFill>
                <a:latin typeface="Times New Roman" panose="02020603050405020304" pitchFamily="18" charset="0"/>
                <a:ea typeface="黑体" panose="02010609060101010101" pitchFamily="49" charset="-122"/>
              </a:rPr>
              <a:t>结构，</a:t>
            </a:r>
            <a:r>
              <a:rPr lang="en-US" altLang="zh-CN" sz="2400" b="0" kern="100" dirty="0">
                <a:solidFill>
                  <a:srgbClr val="000000"/>
                </a:solidFill>
                <a:effectLst/>
                <a:latin typeface="Times New Roman" panose="02020603050405020304" pitchFamily="18" charset="0"/>
                <a:ea typeface="黑体" panose="02010609060101010101" pitchFamily="49" charset="-122"/>
              </a:rPr>
              <a:t> 5</a:t>
            </a:r>
            <a:r>
              <a:rPr lang="zh-CN" altLang="zh-CN" sz="2400" b="0" kern="100" dirty="0">
                <a:solidFill>
                  <a:srgbClr val="000000"/>
                </a:solidFill>
                <a:effectLst/>
                <a:latin typeface="Times New Roman" panose="02020603050405020304" pitchFamily="18" charset="0"/>
                <a:ea typeface="黑体" panose="02010609060101010101" pitchFamily="49" charset="-122"/>
              </a:rPr>
              <a:t>、</a:t>
            </a:r>
            <a:r>
              <a:rPr lang="en-US" altLang="zh-CN" sz="2400" b="0" kern="100" dirty="0">
                <a:solidFill>
                  <a:srgbClr val="000000"/>
                </a:solidFill>
                <a:effectLst/>
                <a:latin typeface="Times New Roman" panose="02020603050405020304" pitchFamily="18" charset="0"/>
                <a:ea typeface="黑体" panose="02010609060101010101" pitchFamily="49" charset="-122"/>
              </a:rPr>
              <a:t>7</a:t>
            </a:r>
            <a:r>
              <a:rPr lang="zh-CN" altLang="zh-CN" sz="2400" b="0" kern="100" dirty="0">
                <a:solidFill>
                  <a:srgbClr val="000000"/>
                </a:solidFill>
                <a:effectLst/>
                <a:latin typeface="Times New Roman" panose="02020603050405020304" pitchFamily="18" charset="0"/>
                <a:ea typeface="黑体" panose="02010609060101010101" pitchFamily="49" charset="-122"/>
              </a:rPr>
              <a:t>次谐波磁势，已被削弱到极小，所以三相绕组产生的磁势可以忽略谐波分量。</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graphicFrame>
        <p:nvGraphicFramePr>
          <p:cNvPr id="5" name="对象 4">
            <a:extLst>
              <a:ext uri="{FF2B5EF4-FFF2-40B4-BE49-F238E27FC236}">
                <a16:creationId xmlns:a16="http://schemas.microsoft.com/office/drawing/2014/main" id="{453C6489-A1D3-AF14-1F6F-A7116A77412A}"/>
              </a:ext>
            </a:extLst>
          </p:cNvPr>
          <p:cNvGraphicFramePr>
            <a:graphicFrameLocks noChangeAspect="1"/>
          </p:cNvGraphicFramePr>
          <p:nvPr>
            <p:extLst>
              <p:ext uri="{D42A27DB-BD31-4B8C-83A1-F6EECF244321}">
                <p14:modId xmlns:p14="http://schemas.microsoft.com/office/powerpoint/2010/main" val="450214218"/>
              </p:ext>
            </p:extLst>
          </p:nvPr>
        </p:nvGraphicFramePr>
        <p:xfrm>
          <a:off x="3995936" y="2408975"/>
          <a:ext cx="1047750" cy="476250"/>
        </p:xfrm>
        <a:graphic>
          <a:graphicData uri="http://schemas.openxmlformats.org/presentationml/2006/ole">
            <mc:AlternateContent xmlns:mc="http://schemas.openxmlformats.org/markup-compatibility/2006">
              <mc:Choice xmlns:v="urn:schemas-microsoft-com:vml" Requires="v">
                <p:oleObj name="Equation" r:id="rId3" imgW="507960" imgH="228600" progId="Equation.DSMT4">
                  <p:embed/>
                </p:oleObj>
              </mc:Choice>
              <mc:Fallback>
                <p:oleObj name="Equation" r:id="rId3" imgW="507960" imgH="228600" progId="Equation.DSMT4">
                  <p:embed/>
                  <p:pic>
                    <p:nvPicPr>
                      <p:cNvPr id="0" name="Object 3"/>
                      <p:cNvPicPr>
                        <a:picLocks noChangeAspect="1" noChangeArrowheads="1"/>
                      </p:cNvPicPr>
                      <p:nvPr/>
                    </p:nvPicPr>
                    <p:blipFill>
                      <a:blip r:embed="rId4"/>
                      <a:srcRect/>
                      <a:stretch>
                        <a:fillRect/>
                      </a:stretch>
                    </p:blipFill>
                    <p:spPr bwMode="auto">
                      <a:xfrm>
                        <a:off x="3995936" y="2408975"/>
                        <a:ext cx="1047750" cy="476250"/>
                      </a:xfrm>
                      <a:prstGeom prst="rect">
                        <a:avLst/>
                      </a:prstGeom>
                      <a:solidFill>
                        <a:srgbClr val="00FF00"/>
                      </a:solidFill>
                    </p:spPr>
                  </p:pic>
                </p:oleObj>
              </mc:Fallback>
            </mc:AlternateContent>
          </a:graphicData>
        </a:graphic>
      </p:graphicFrame>
      <p:sp>
        <p:nvSpPr>
          <p:cNvPr id="9" name="Rectangle 5">
            <a:extLst>
              <a:ext uri="{FF2B5EF4-FFF2-40B4-BE49-F238E27FC236}">
                <a16:creationId xmlns:a16="http://schemas.microsoft.com/office/drawing/2014/main" id="{E6894DC7-15EC-FEFC-1881-D052B61EFC8C}"/>
              </a:ext>
            </a:extLst>
          </p:cNvPr>
          <p:cNvSpPr>
            <a:spLocks noChangeArrowheads="1"/>
          </p:cNvSpPr>
          <p:nvPr/>
        </p:nvSpPr>
        <p:spPr bwMode="auto">
          <a:xfrm>
            <a:off x="827584" y="2375191"/>
            <a:ext cx="7632848" cy="1413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25000"/>
              </a:lnSpc>
              <a:spcBef>
                <a:spcPct val="0"/>
              </a:spcBef>
              <a:spcAft>
                <a:spcPct val="0"/>
              </a:spcAft>
              <a:buClrTx/>
              <a:buSzTx/>
              <a:buFontTx/>
              <a:buNone/>
              <a:tabLst/>
            </a:pP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    三相绕组合成磁势       </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的性质</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空间正弦分布、幅值固定、以</a:t>
            </a: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n0</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旋转；某相电流达到最大值时，</a:t>
            </a:r>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它</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的幅值正好旋转到该相绕组的轴线上。</a:t>
            </a:r>
          </a:p>
        </p:txBody>
      </p:sp>
      <p:graphicFrame>
        <p:nvGraphicFramePr>
          <p:cNvPr id="14" name="对象 13">
            <a:extLst>
              <a:ext uri="{FF2B5EF4-FFF2-40B4-BE49-F238E27FC236}">
                <a16:creationId xmlns:a16="http://schemas.microsoft.com/office/drawing/2014/main" id="{08EF47E8-F3F3-2A40-7EF7-0B07039FE57E}"/>
              </a:ext>
            </a:extLst>
          </p:cNvPr>
          <p:cNvGraphicFramePr>
            <a:graphicFrameLocks noChangeAspect="1"/>
          </p:cNvGraphicFramePr>
          <p:nvPr>
            <p:extLst>
              <p:ext uri="{D42A27DB-BD31-4B8C-83A1-F6EECF244321}">
                <p14:modId xmlns:p14="http://schemas.microsoft.com/office/powerpoint/2010/main" val="2234527261"/>
              </p:ext>
            </p:extLst>
          </p:nvPr>
        </p:nvGraphicFramePr>
        <p:xfrm>
          <a:off x="1619672" y="3861048"/>
          <a:ext cx="5864121" cy="2232249"/>
        </p:xfrm>
        <a:graphic>
          <a:graphicData uri="http://schemas.openxmlformats.org/presentationml/2006/ole">
            <mc:AlternateContent xmlns:mc="http://schemas.openxmlformats.org/markup-compatibility/2006">
              <mc:Choice xmlns:v="urn:schemas-microsoft-com:vml" Requires="v">
                <p:oleObj r:id="rId5" imgW="3079750" imgH="1179513" progId="MSDraw">
                  <p:embed/>
                </p:oleObj>
              </mc:Choice>
              <mc:Fallback>
                <p:oleObj r:id="rId5" imgW="3079750" imgH="1179513" progId="MSDraw">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672" y="3861048"/>
                        <a:ext cx="5864121" cy="2232249"/>
                      </a:xfrm>
                      <a:prstGeom prst="rect">
                        <a:avLst/>
                      </a:prstGeom>
                      <a:noFill/>
                    </p:spPr>
                  </p:pic>
                </p:oleObj>
              </mc:Fallback>
            </mc:AlternateContent>
          </a:graphicData>
        </a:graphic>
      </p:graphicFrame>
      <p:sp>
        <p:nvSpPr>
          <p:cNvPr id="3" name="灯片编号占位符 2">
            <a:extLst>
              <a:ext uri="{FF2B5EF4-FFF2-40B4-BE49-F238E27FC236}">
                <a16:creationId xmlns:a16="http://schemas.microsoft.com/office/drawing/2014/main" id="{B90964BC-1779-1192-FC46-3DE136EE1152}"/>
              </a:ext>
            </a:extLst>
          </p:cNvPr>
          <p:cNvSpPr>
            <a:spLocks noGrp="1"/>
          </p:cNvSpPr>
          <p:nvPr>
            <p:ph type="sldNum" sz="quarter" idx="12"/>
          </p:nvPr>
        </p:nvSpPr>
        <p:spPr/>
        <p:txBody>
          <a:bodyPr/>
          <a:lstStyle/>
          <a:p>
            <a:fld id="{76D830B0-DF59-4281-898F-AF208100B213}" type="slidenum">
              <a:rPr lang="en-US" altLang="zh-CN" smtClean="0"/>
              <a:pPr/>
              <a:t>45</a:t>
            </a:fld>
            <a:endParaRPr lang="en-US" altLang="zh-CN"/>
          </a:p>
        </p:txBody>
      </p:sp>
    </p:spTree>
    <p:extLst>
      <p:ext uri="{BB962C8B-B14F-4D97-AF65-F5344CB8AC3E}">
        <p14:creationId xmlns:p14="http://schemas.microsoft.com/office/powerpoint/2010/main" val="42251047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7548A475-A570-B6B4-5DC5-020545DFEBDF}"/>
              </a:ext>
            </a:extLst>
          </p:cNvPr>
          <p:cNvGraphicFramePr>
            <a:graphicFrameLocks noChangeAspect="1"/>
          </p:cNvGraphicFramePr>
          <p:nvPr>
            <p:extLst>
              <p:ext uri="{D42A27DB-BD31-4B8C-83A1-F6EECF244321}">
                <p14:modId xmlns:p14="http://schemas.microsoft.com/office/powerpoint/2010/main" val="2371112093"/>
              </p:ext>
            </p:extLst>
          </p:nvPr>
        </p:nvGraphicFramePr>
        <p:xfrm>
          <a:off x="7237809" y="976337"/>
          <a:ext cx="790575" cy="652463"/>
        </p:xfrm>
        <a:graphic>
          <a:graphicData uri="http://schemas.openxmlformats.org/presentationml/2006/ole">
            <mc:AlternateContent xmlns:mc="http://schemas.openxmlformats.org/markup-compatibility/2006">
              <mc:Choice xmlns:v="urn:schemas-microsoft-com:vml" Requires="v">
                <p:oleObj name="Equation" r:id="rId3" imgW="469800" imgH="393480" progId="Equation.DSMT4">
                  <p:embed/>
                </p:oleObj>
              </mc:Choice>
              <mc:Fallback>
                <p:oleObj name="Equation" r:id="rId3" imgW="469800" imgH="393480" progId="Equation.DSMT4">
                  <p:embed/>
                  <p:pic>
                    <p:nvPicPr>
                      <p:cNvPr id="0" name="Object 2"/>
                      <p:cNvPicPr>
                        <a:picLocks noChangeAspect="1" noChangeArrowheads="1"/>
                      </p:cNvPicPr>
                      <p:nvPr/>
                    </p:nvPicPr>
                    <p:blipFill>
                      <a:blip r:embed="rId4"/>
                      <a:srcRect/>
                      <a:stretch>
                        <a:fillRect/>
                      </a:stretch>
                    </p:blipFill>
                    <p:spPr bwMode="auto">
                      <a:xfrm>
                        <a:off x="7237809" y="976337"/>
                        <a:ext cx="790575" cy="652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a:extLst>
              <a:ext uri="{FF2B5EF4-FFF2-40B4-BE49-F238E27FC236}">
                <a16:creationId xmlns:a16="http://schemas.microsoft.com/office/drawing/2014/main" id="{CC09CBCE-5B93-6D74-0B5C-2E293E61BE04}"/>
              </a:ext>
            </a:extLst>
          </p:cNvPr>
          <p:cNvGraphicFramePr>
            <a:graphicFrameLocks noChangeAspect="1"/>
          </p:cNvGraphicFramePr>
          <p:nvPr>
            <p:extLst>
              <p:ext uri="{D42A27DB-BD31-4B8C-83A1-F6EECF244321}">
                <p14:modId xmlns:p14="http://schemas.microsoft.com/office/powerpoint/2010/main" val="2598005576"/>
              </p:ext>
            </p:extLst>
          </p:nvPr>
        </p:nvGraphicFramePr>
        <p:xfrm>
          <a:off x="3081692" y="1475517"/>
          <a:ext cx="3124632" cy="816724"/>
        </p:xfrm>
        <a:graphic>
          <a:graphicData uri="http://schemas.openxmlformats.org/presentationml/2006/ole">
            <mc:AlternateContent xmlns:mc="http://schemas.openxmlformats.org/markup-compatibility/2006">
              <mc:Choice xmlns:v="urn:schemas-microsoft-com:vml" Requires="v">
                <p:oleObj name="Equation" r:id="rId5" imgW="1447172" imgH="393529" progId="Equation.DSMT4">
                  <p:embed/>
                </p:oleObj>
              </mc:Choice>
              <mc:Fallback>
                <p:oleObj name="Equation" r:id="rId5" imgW="1447172" imgH="393529"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81692" y="1475517"/>
                        <a:ext cx="3124632" cy="816724"/>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212FD094-7652-9568-60C5-0CC943085378}"/>
              </a:ext>
            </a:extLst>
          </p:cNvPr>
          <p:cNvGraphicFramePr>
            <a:graphicFrameLocks noChangeAspect="1"/>
          </p:cNvGraphicFramePr>
          <p:nvPr>
            <p:extLst>
              <p:ext uri="{D42A27DB-BD31-4B8C-83A1-F6EECF244321}">
                <p14:modId xmlns:p14="http://schemas.microsoft.com/office/powerpoint/2010/main" val="3787201885"/>
              </p:ext>
            </p:extLst>
          </p:nvPr>
        </p:nvGraphicFramePr>
        <p:xfrm>
          <a:off x="4948829" y="3914124"/>
          <a:ext cx="3812820" cy="2458379"/>
        </p:xfrm>
        <a:graphic>
          <a:graphicData uri="http://schemas.openxmlformats.org/presentationml/2006/ole">
            <mc:AlternateContent xmlns:mc="http://schemas.openxmlformats.org/markup-compatibility/2006">
              <mc:Choice xmlns:v="urn:schemas-microsoft-com:vml" Requires="v">
                <p:oleObj r:id="rId7" imgW="2230438" imgH="1438275" progId="MSDraw">
                  <p:embed/>
                </p:oleObj>
              </mc:Choice>
              <mc:Fallback>
                <p:oleObj r:id="rId7" imgW="2230438" imgH="1438275" progId="MSDraw">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48829" y="3914124"/>
                        <a:ext cx="3812820" cy="2458379"/>
                      </a:xfrm>
                      <a:prstGeom prst="rect">
                        <a:avLst/>
                      </a:prstGeom>
                      <a:noFill/>
                    </p:spPr>
                  </p:pic>
                </p:oleObj>
              </mc:Fallback>
            </mc:AlternateContent>
          </a:graphicData>
        </a:graphic>
      </p:graphicFrame>
      <p:sp>
        <p:nvSpPr>
          <p:cNvPr id="7" name="Rectangle 4">
            <a:extLst>
              <a:ext uri="{FF2B5EF4-FFF2-40B4-BE49-F238E27FC236}">
                <a16:creationId xmlns:a16="http://schemas.microsoft.com/office/drawing/2014/main" id="{459BC068-3580-907B-CF91-0E5440FCF714}"/>
              </a:ext>
            </a:extLst>
          </p:cNvPr>
          <p:cNvSpPr>
            <a:spLocks noChangeArrowheads="1"/>
          </p:cNvSpPr>
          <p:nvPr/>
        </p:nvSpPr>
        <p:spPr bwMode="auto">
          <a:xfrm>
            <a:off x="395536" y="1072183"/>
            <a:ext cx="84969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假定分别从</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Y</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型联接的定子绕组</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U</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V</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W</a:t>
            </a:r>
            <a:r>
              <a:rPr kumimoji="0" lang="zh-CN" altLang="en-US"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输入，则           ，</a:t>
            </a:r>
            <a:r>
              <a:rPr lang="zh-CN" altLang="en-US"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时</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2" name="Rectangle 9">
            <a:extLst>
              <a:ext uri="{FF2B5EF4-FFF2-40B4-BE49-F238E27FC236}">
                <a16:creationId xmlns:a16="http://schemas.microsoft.com/office/drawing/2014/main" id="{1CAA86C9-4A27-4B27-5E8D-D92E32A3340B}"/>
              </a:ext>
            </a:extLst>
          </p:cNvPr>
          <p:cNvSpPr>
            <a:spLocks noChangeArrowheads="1"/>
          </p:cNvSpPr>
          <p:nvPr/>
        </p:nvSpPr>
        <p:spPr bwMode="auto">
          <a:xfrm>
            <a:off x="395536" y="2406043"/>
            <a:ext cx="4235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在各自绕组轴线上形成磁势：</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3" name="对象 12">
            <a:extLst>
              <a:ext uri="{FF2B5EF4-FFF2-40B4-BE49-F238E27FC236}">
                <a16:creationId xmlns:a16="http://schemas.microsoft.com/office/drawing/2014/main" id="{10F39767-907D-9E27-EEAB-A9C71A2815E9}"/>
              </a:ext>
            </a:extLst>
          </p:cNvPr>
          <p:cNvGraphicFramePr>
            <a:graphicFrameLocks noChangeAspect="1"/>
          </p:cNvGraphicFramePr>
          <p:nvPr>
            <p:extLst>
              <p:ext uri="{D42A27DB-BD31-4B8C-83A1-F6EECF244321}">
                <p14:modId xmlns:p14="http://schemas.microsoft.com/office/powerpoint/2010/main" val="1974654401"/>
              </p:ext>
            </p:extLst>
          </p:nvPr>
        </p:nvGraphicFramePr>
        <p:xfrm>
          <a:off x="4355976" y="2237009"/>
          <a:ext cx="3960440" cy="759943"/>
        </p:xfrm>
        <a:graphic>
          <a:graphicData uri="http://schemas.openxmlformats.org/presentationml/2006/ole">
            <mc:AlternateContent xmlns:mc="http://schemas.openxmlformats.org/markup-compatibility/2006">
              <mc:Choice xmlns:v="urn:schemas-microsoft-com:vml" Requires="v">
                <p:oleObj name="Equation" r:id="rId9" imgW="2019240" imgH="393480" progId="Equation.DSMT4">
                  <p:embed/>
                </p:oleObj>
              </mc:Choice>
              <mc:Fallback>
                <p:oleObj name="Equation" r:id="rId9" imgW="2019240" imgH="393480" progId="Equation.DSMT4">
                  <p:embed/>
                  <p:pic>
                    <p:nvPicPr>
                      <p:cNvPr id="0" name="Object 8"/>
                      <p:cNvPicPr>
                        <a:picLocks noChangeAspect="1" noChangeArrowheads="1"/>
                      </p:cNvPicPr>
                      <p:nvPr/>
                    </p:nvPicPr>
                    <p:blipFill>
                      <a:blip r:embed="rId10"/>
                      <a:srcRect/>
                      <a:stretch>
                        <a:fillRect/>
                      </a:stretch>
                    </p:blipFill>
                    <p:spPr bwMode="auto">
                      <a:xfrm>
                        <a:off x="4355976" y="2237009"/>
                        <a:ext cx="3960440" cy="759943"/>
                      </a:xfrm>
                      <a:prstGeom prst="rect">
                        <a:avLst/>
                      </a:prstGeom>
                      <a:noFill/>
                    </p:spPr>
                  </p:pic>
                </p:oleObj>
              </mc:Fallback>
            </mc:AlternateContent>
          </a:graphicData>
        </a:graphic>
      </p:graphicFrame>
      <p:sp>
        <p:nvSpPr>
          <p:cNvPr id="16" name="Rectangle 12">
            <a:extLst>
              <a:ext uri="{FF2B5EF4-FFF2-40B4-BE49-F238E27FC236}">
                <a16:creationId xmlns:a16="http://schemas.microsoft.com/office/drawing/2014/main" id="{FB306586-9504-A68D-F01A-458FCA15F375}"/>
              </a:ext>
            </a:extLst>
          </p:cNvPr>
          <p:cNvSpPr>
            <a:spLocks noChangeArrowheads="1"/>
          </p:cNvSpPr>
          <p:nvPr/>
        </p:nvSpPr>
        <p:spPr bwMode="auto">
          <a:xfrm>
            <a:off x="395536" y="3255367"/>
            <a:ext cx="79208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矢量合成得到三相合成磁势的模为</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，与</a:t>
            </a:r>
            <a:r>
              <a:rPr kumimoji="0" lang="en-US"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F</a:t>
            </a:r>
            <a:r>
              <a:rPr kumimoji="0" lang="en-US" altLang="zh-CN" sz="2400" b="0" i="0" u="none" strike="noStrike" cap="none" normalizeH="0" baseline="-3000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u</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同方向。</a:t>
            </a:r>
            <a:endParaRPr kumimoji="0" lang="zh-CN" altLang="en-US" sz="1400" b="0" i="0" u="none" strike="noStrike" cap="none" normalizeH="0" baseline="0" dirty="0">
              <a:ln>
                <a:noFill/>
              </a:ln>
              <a:solidFill>
                <a:schemeClr val="tx1"/>
              </a:solidFill>
              <a:effectLst/>
              <a:latin typeface="Arial" panose="020B0604020202020204" pitchFamily="34" charset="0"/>
            </a:endParaRPr>
          </a:p>
        </p:txBody>
      </p:sp>
      <p:graphicFrame>
        <p:nvGraphicFramePr>
          <p:cNvPr id="17" name="对象 16">
            <a:extLst>
              <a:ext uri="{FF2B5EF4-FFF2-40B4-BE49-F238E27FC236}">
                <a16:creationId xmlns:a16="http://schemas.microsoft.com/office/drawing/2014/main" id="{F4A0FA07-E70E-3546-7F25-D3E67326B381}"/>
              </a:ext>
            </a:extLst>
          </p:cNvPr>
          <p:cNvGraphicFramePr>
            <a:graphicFrameLocks noChangeAspect="1"/>
          </p:cNvGraphicFramePr>
          <p:nvPr>
            <p:extLst>
              <p:ext uri="{D42A27DB-BD31-4B8C-83A1-F6EECF244321}">
                <p14:modId xmlns:p14="http://schemas.microsoft.com/office/powerpoint/2010/main" val="1205273144"/>
              </p:ext>
            </p:extLst>
          </p:nvPr>
        </p:nvGraphicFramePr>
        <p:xfrm>
          <a:off x="5076056" y="3058275"/>
          <a:ext cx="648072" cy="802773"/>
        </p:xfrm>
        <a:graphic>
          <a:graphicData uri="http://schemas.openxmlformats.org/presentationml/2006/ole">
            <mc:AlternateContent xmlns:mc="http://schemas.openxmlformats.org/markup-compatibility/2006">
              <mc:Choice xmlns:v="urn:schemas-microsoft-com:vml" Requires="v">
                <p:oleObj name="Equation" r:id="rId11" imgW="317160" imgH="393480" progId="Equation.DSMT4">
                  <p:embed/>
                </p:oleObj>
              </mc:Choice>
              <mc:Fallback>
                <p:oleObj name="Equation" r:id="rId11" imgW="317160" imgH="393480" progId="Equation.DSMT4">
                  <p:embed/>
                  <p:pic>
                    <p:nvPicPr>
                      <p:cNvPr id="0" name="Object 11"/>
                      <p:cNvPicPr>
                        <a:picLocks noChangeAspect="1" noChangeArrowheads="1"/>
                      </p:cNvPicPr>
                      <p:nvPr/>
                    </p:nvPicPr>
                    <p:blipFill>
                      <a:blip r:embed="rId12"/>
                      <a:srcRect/>
                      <a:stretch>
                        <a:fillRect/>
                      </a:stretch>
                    </p:blipFill>
                    <p:spPr bwMode="auto">
                      <a:xfrm>
                        <a:off x="5076056" y="3058275"/>
                        <a:ext cx="648072" cy="802773"/>
                      </a:xfrm>
                      <a:prstGeom prst="rect">
                        <a:avLst/>
                      </a:prstGeom>
                      <a:noFill/>
                    </p:spPr>
                  </p:pic>
                </p:oleObj>
              </mc:Fallback>
            </mc:AlternateContent>
          </a:graphicData>
        </a:graphic>
      </p:graphicFrame>
      <p:graphicFrame>
        <p:nvGraphicFramePr>
          <p:cNvPr id="23" name="对象 22">
            <a:extLst>
              <a:ext uri="{FF2B5EF4-FFF2-40B4-BE49-F238E27FC236}">
                <a16:creationId xmlns:a16="http://schemas.microsoft.com/office/drawing/2014/main" id="{6900A97C-9733-3C3B-C9A8-56E79C1C1428}"/>
              </a:ext>
            </a:extLst>
          </p:cNvPr>
          <p:cNvGraphicFramePr>
            <a:graphicFrameLocks noChangeAspect="1"/>
          </p:cNvGraphicFramePr>
          <p:nvPr>
            <p:extLst>
              <p:ext uri="{D42A27DB-BD31-4B8C-83A1-F6EECF244321}">
                <p14:modId xmlns:p14="http://schemas.microsoft.com/office/powerpoint/2010/main" val="1797496756"/>
              </p:ext>
            </p:extLst>
          </p:nvPr>
        </p:nvGraphicFramePr>
        <p:xfrm>
          <a:off x="781190" y="4219905"/>
          <a:ext cx="1557338" cy="695325"/>
        </p:xfrm>
        <a:graphic>
          <a:graphicData uri="http://schemas.openxmlformats.org/presentationml/2006/ole">
            <mc:AlternateContent xmlns:mc="http://schemas.openxmlformats.org/markup-compatibility/2006">
              <mc:Choice xmlns:v="urn:schemas-microsoft-com:vml" Requires="v">
                <p:oleObj name="Equation" r:id="rId13" imgW="863225" imgH="393529" progId="Equation.DSMT4">
                  <p:embed/>
                </p:oleObj>
              </mc:Choice>
              <mc:Fallback>
                <p:oleObj name="Equation" r:id="rId13" imgW="863225" imgH="393529" progId="Equation.DSMT4">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1190" y="4219905"/>
                        <a:ext cx="1557338" cy="695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a:extLst>
              <a:ext uri="{FF2B5EF4-FFF2-40B4-BE49-F238E27FC236}">
                <a16:creationId xmlns:a16="http://schemas.microsoft.com/office/drawing/2014/main" id="{97DC026A-8C81-9140-B7B1-058DBFF34CFC}"/>
              </a:ext>
            </a:extLst>
          </p:cNvPr>
          <p:cNvGraphicFramePr>
            <a:graphicFrameLocks noChangeAspect="1"/>
          </p:cNvGraphicFramePr>
          <p:nvPr>
            <p:extLst>
              <p:ext uri="{D42A27DB-BD31-4B8C-83A1-F6EECF244321}">
                <p14:modId xmlns:p14="http://schemas.microsoft.com/office/powerpoint/2010/main" val="2643055661"/>
              </p:ext>
            </p:extLst>
          </p:nvPr>
        </p:nvGraphicFramePr>
        <p:xfrm>
          <a:off x="2739693" y="4236079"/>
          <a:ext cx="1528763" cy="723900"/>
        </p:xfrm>
        <a:graphic>
          <a:graphicData uri="http://schemas.openxmlformats.org/presentationml/2006/ole">
            <mc:AlternateContent xmlns:mc="http://schemas.openxmlformats.org/markup-compatibility/2006">
              <mc:Choice xmlns:v="urn:schemas-microsoft-com:vml" Requires="v">
                <p:oleObj name="Equation" r:id="rId15" imgW="825500" imgH="393700" progId="Equation.DSMT4">
                  <p:embed/>
                </p:oleObj>
              </mc:Choice>
              <mc:Fallback>
                <p:oleObj name="Equation" r:id="rId15" imgW="825500" imgH="393700" progId="Equation.DSMT4">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39693" y="4236079"/>
                        <a:ext cx="1528763"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ectangle 17">
            <a:extLst>
              <a:ext uri="{FF2B5EF4-FFF2-40B4-BE49-F238E27FC236}">
                <a16:creationId xmlns:a16="http://schemas.microsoft.com/office/drawing/2014/main" id="{094EDB33-DA69-BC1E-A13D-6C5989031791}"/>
              </a:ext>
            </a:extLst>
          </p:cNvPr>
          <p:cNvSpPr>
            <a:spLocks noChangeArrowheads="1"/>
          </p:cNvSpPr>
          <p:nvPr/>
        </p:nvSpPr>
        <p:spPr bwMode="auto">
          <a:xfrm>
            <a:off x="395536" y="4333405"/>
            <a:ext cx="44489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当          </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和</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9" name="文本框 28">
            <a:extLst>
              <a:ext uri="{FF2B5EF4-FFF2-40B4-BE49-F238E27FC236}">
                <a16:creationId xmlns:a16="http://schemas.microsoft.com/office/drawing/2014/main" id="{07E2F541-FCFB-6B35-97EA-658AE9D1962A}"/>
              </a:ext>
            </a:extLst>
          </p:cNvPr>
          <p:cNvSpPr txBox="1"/>
          <p:nvPr/>
        </p:nvSpPr>
        <p:spPr>
          <a:xfrm>
            <a:off x="453693" y="4986569"/>
            <a:ext cx="3454723"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时情况可依同理分析。</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5" name="灯片编号占位符 4">
            <a:extLst>
              <a:ext uri="{FF2B5EF4-FFF2-40B4-BE49-F238E27FC236}">
                <a16:creationId xmlns:a16="http://schemas.microsoft.com/office/drawing/2014/main" id="{23F81143-8348-C198-AE7D-EF6B25FC91FF}"/>
              </a:ext>
            </a:extLst>
          </p:cNvPr>
          <p:cNvSpPr>
            <a:spLocks noGrp="1"/>
          </p:cNvSpPr>
          <p:nvPr>
            <p:ph type="sldNum" sz="quarter" idx="12"/>
          </p:nvPr>
        </p:nvSpPr>
        <p:spPr/>
        <p:txBody>
          <a:bodyPr/>
          <a:lstStyle/>
          <a:p>
            <a:fld id="{76D830B0-DF59-4281-898F-AF208100B213}" type="slidenum">
              <a:rPr lang="en-US" altLang="zh-CN" smtClean="0"/>
              <a:pPr/>
              <a:t>46</a:t>
            </a:fld>
            <a:endParaRPr lang="en-US" altLang="zh-CN"/>
          </a:p>
        </p:txBody>
      </p:sp>
    </p:spTree>
    <p:extLst>
      <p:ext uri="{BB962C8B-B14F-4D97-AF65-F5344CB8AC3E}">
        <p14:creationId xmlns:p14="http://schemas.microsoft.com/office/powerpoint/2010/main" val="38979605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043A2500-3C5D-1F76-D91A-6DECD17A9467}"/>
              </a:ext>
            </a:extLst>
          </p:cNvPr>
          <p:cNvGraphicFramePr>
            <a:graphicFrameLocks noChangeAspect="1"/>
          </p:cNvGraphicFramePr>
          <p:nvPr>
            <p:extLst>
              <p:ext uri="{D42A27DB-BD31-4B8C-83A1-F6EECF244321}">
                <p14:modId xmlns:p14="http://schemas.microsoft.com/office/powerpoint/2010/main" val="1513413457"/>
              </p:ext>
            </p:extLst>
          </p:nvPr>
        </p:nvGraphicFramePr>
        <p:xfrm>
          <a:off x="767003" y="1196752"/>
          <a:ext cx="1047750" cy="476250"/>
        </p:xfrm>
        <a:graphic>
          <a:graphicData uri="http://schemas.openxmlformats.org/presentationml/2006/ole">
            <mc:AlternateContent xmlns:mc="http://schemas.openxmlformats.org/markup-compatibility/2006">
              <mc:Choice xmlns:v="urn:schemas-microsoft-com:vml" Requires="v">
                <p:oleObj name="Equation" r:id="rId3" imgW="507960" imgH="228600" progId="Equation.DSMT4">
                  <p:embed/>
                </p:oleObj>
              </mc:Choice>
              <mc:Fallback>
                <p:oleObj name="Equation" r:id="rId3" imgW="507960" imgH="228600" progId="Equation.DSMT4">
                  <p:embed/>
                  <p:pic>
                    <p:nvPicPr>
                      <p:cNvPr id="5" name="对象 4">
                        <a:extLst>
                          <a:ext uri="{FF2B5EF4-FFF2-40B4-BE49-F238E27FC236}">
                            <a16:creationId xmlns:a16="http://schemas.microsoft.com/office/drawing/2014/main" id="{453C6489-A1D3-AF14-1F6F-A7116A77412A}"/>
                          </a:ext>
                        </a:extLst>
                      </p:cNvPr>
                      <p:cNvPicPr>
                        <a:picLocks noChangeAspect="1" noChangeArrowheads="1"/>
                      </p:cNvPicPr>
                      <p:nvPr/>
                    </p:nvPicPr>
                    <p:blipFill>
                      <a:blip r:embed="rId4"/>
                      <a:srcRect/>
                      <a:stretch>
                        <a:fillRect/>
                      </a:stretch>
                    </p:blipFill>
                    <p:spPr bwMode="auto">
                      <a:xfrm>
                        <a:off x="767003" y="1196752"/>
                        <a:ext cx="1047750" cy="476250"/>
                      </a:xfrm>
                      <a:prstGeom prst="rect">
                        <a:avLst/>
                      </a:prstGeom>
                      <a:solidFill>
                        <a:srgbClr val="00FF00"/>
                      </a:solidFill>
                    </p:spPr>
                  </p:pic>
                </p:oleObj>
              </mc:Fallback>
            </mc:AlternateContent>
          </a:graphicData>
        </a:graphic>
      </p:graphicFrame>
      <p:sp>
        <p:nvSpPr>
          <p:cNvPr id="8" name="文本框 7">
            <a:extLst>
              <a:ext uri="{FF2B5EF4-FFF2-40B4-BE49-F238E27FC236}">
                <a16:creationId xmlns:a16="http://schemas.microsoft.com/office/drawing/2014/main" id="{C89586D9-6FEB-E5E6-C71B-D6A981EDC658}"/>
              </a:ext>
            </a:extLst>
          </p:cNvPr>
          <p:cNvSpPr txBox="1"/>
          <p:nvPr/>
        </p:nvSpPr>
        <p:spPr>
          <a:xfrm>
            <a:off x="1775115" y="1196752"/>
            <a:ext cx="4968552" cy="461665"/>
          </a:xfrm>
          <a:prstGeom prst="rect">
            <a:avLst/>
          </a:prstGeom>
          <a:noFill/>
        </p:spPr>
        <p:txBody>
          <a:bodyPr wrap="square">
            <a:spAutoFit/>
          </a:bodyPr>
          <a:lstStyle/>
          <a:p>
            <a:pPr algn="l"/>
            <a:r>
              <a:rPr lang="zh-CN" altLang="zh-CN" sz="2400" b="1" kern="100" dirty="0">
                <a:solidFill>
                  <a:srgbClr val="0000FF"/>
                </a:solidFill>
                <a:effectLst/>
                <a:latin typeface="Times New Roman" panose="02020603050405020304" pitchFamily="18" charset="0"/>
                <a:ea typeface="黑体" panose="02010609060101010101" pitchFamily="49" charset="-122"/>
              </a:rPr>
              <a:t>的旋转方向取决于三相电流的相序</a:t>
            </a:r>
            <a:r>
              <a:rPr lang="zh-CN" altLang="zh-CN" sz="2400" b="0" kern="100" dirty="0">
                <a:solidFill>
                  <a:srgbClr val="000000"/>
                </a:solidFill>
                <a:effectLst/>
                <a:latin typeface="Times New Roman" panose="02020603050405020304" pitchFamily="18" charset="0"/>
                <a:ea typeface="黑体" panose="02010609060101010101" pitchFamily="49" charset="-122"/>
              </a:rPr>
              <a:t>。</a:t>
            </a:r>
            <a:endParaRPr lang="zh-CN" altLang="zh-CN" sz="1600" b="1" kern="100" dirty="0">
              <a:solidFill>
                <a:srgbClr val="FF00FF"/>
              </a:solidFill>
              <a:effectLst/>
              <a:latin typeface="Times New Roman" panose="02020603050405020304" pitchFamily="18" charset="0"/>
              <a:ea typeface="宋体" panose="02010600030101010101" pitchFamily="2" charset="-122"/>
            </a:endParaRPr>
          </a:p>
        </p:txBody>
      </p:sp>
      <p:sp>
        <p:nvSpPr>
          <p:cNvPr id="9" name="箭头: 右 8">
            <a:extLst>
              <a:ext uri="{FF2B5EF4-FFF2-40B4-BE49-F238E27FC236}">
                <a16:creationId xmlns:a16="http://schemas.microsoft.com/office/drawing/2014/main" id="{CB739CC8-C516-9147-8224-D68E20DAAEAD}"/>
              </a:ext>
            </a:extLst>
          </p:cNvPr>
          <p:cNvSpPr/>
          <p:nvPr/>
        </p:nvSpPr>
        <p:spPr>
          <a:xfrm>
            <a:off x="179512" y="1283568"/>
            <a:ext cx="504056"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2F068848-292B-1895-4A2E-E9F792FBEB6C}"/>
              </a:ext>
            </a:extLst>
          </p:cNvPr>
          <p:cNvSpPr txBox="1"/>
          <p:nvPr/>
        </p:nvSpPr>
        <p:spPr>
          <a:xfrm>
            <a:off x="609836" y="1887215"/>
            <a:ext cx="7564288" cy="461665"/>
          </a:xfrm>
          <a:prstGeom prst="rect">
            <a:avLst/>
          </a:prstGeom>
          <a:noFill/>
        </p:spPr>
        <p:txBody>
          <a:bodyPr wrap="square">
            <a:spAutoFit/>
          </a:bodyPr>
          <a:lstStyle/>
          <a:p>
            <a:pPr algn="l"/>
            <a:r>
              <a:rPr lang="zh-CN" altLang="zh-CN" sz="2400" b="0" kern="100" dirty="0">
                <a:solidFill>
                  <a:srgbClr val="000000"/>
                </a:solidFill>
                <a:effectLst/>
                <a:latin typeface="Times New Roman" panose="02020603050405020304" pitchFamily="18" charset="0"/>
                <a:ea typeface="黑体" panose="02010609060101010101" pitchFamily="49" charset="-122"/>
              </a:rPr>
              <a:t>若三相电流由正相序切换为负相序，则</a:t>
            </a:r>
            <a:r>
              <a:rPr lang="en-US" altLang="zh-CN" sz="2400" b="0" kern="100" dirty="0">
                <a:solidFill>
                  <a:srgbClr val="000000"/>
                </a:solidFill>
                <a:effectLst/>
                <a:latin typeface="Times New Roman" panose="02020603050405020304" pitchFamily="18" charset="0"/>
                <a:ea typeface="黑体" panose="02010609060101010101" pitchFamily="49" charset="-122"/>
              </a:rPr>
              <a:t>F</a:t>
            </a:r>
            <a:r>
              <a:rPr lang="en-US" altLang="zh-CN" sz="2400" b="0" kern="100" baseline="-25000" dirty="0">
                <a:solidFill>
                  <a:srgbClr val="000000"/>
                </a:solidFill>
                <a:effectLst/>
                <a:latin typeface="Times New Roman" panose="02020603050405020304" pitchFamily="18" charset="0"/>
                <a:ea typeface="黑体" panose="02010609060101010101" pitchFamily="49" charset="-122"/>
              </a:rPr>
              <a:t>s1</a:t>
            </a:r>
            <a:r>
              <a:rPr lang="zh-CN" altLang="zh-CN" sz="2400" b="0" kern="100" dirty="0">
                <a:solidFill>
                  <a:srgbClr val="000000"/>
                </a:solidFill>
                <a:effectLst/>
                <a:latin typeface="Times New Roman" panose="02020603050405020304" pitchFamily="18" charset="0"/>
                <a:ea typeface="黑体" panose="02010609060101010101" pitchFamily="49" charset="-122"/>
              </a:rPr>
              <a:t>改变旋转方向：</a:t>
            </a:r>
            <a:endParaRPr lang="zh-CN" altLang="zh-CN" sz="1600" b="1" kern="100" dirty="0">
              <a:solidFill>
                <a:srgbClr val="FF00FF"/>
              </a:solidFill>
              <a:effectLst/>
              <a:latin typeface="Times New Roman" panose="02020603050405020304" pitchFamily="18" charset="0"/>
              <a:ea typeface="宋体" panose="02010600030101010101" pitchFamily="2" charset="-122"/>
            </a:endParaRPr>
          </a:p>
        </p:txBody>
      </p:sp>
      <p:graphicFrame>
        <p:nvGraphicFramePr>
          <p:cNvPr id="14" name="对象 13">
            <a:extLst>
              <a:ext uri="{FF2B5EF4-FFF2-40B4-BE49-F238E27FC236}">
                <a16:creationId xmlns:a16="http://schemas.microsoft.com/office/drawing/2014/main" id="{8A0EFB4C-BC40-6655-1F67-5DC0C5C92058}"/>
              </a:ext>
            </a:extLst>
          </p:cNvPr>
          <p:cNvGraphicFramePr>
            <a:graphicFrameLocks noChangeAspect="1"/>
          </p:cNvGraphicFramePr>
          <p:nvPr>
            <p:extLst>
              <p:ext uri="{D42A27DB-BD31-4B8C-83A1-F6EECF244321}">
                <p14:modId xmlns:p14="http://schemas.microsoft.com/office/powerpoint/2010/main" val="3578798470"/>
              </p:ext>
            </p:extLst>
          </p:nvPr>
        </p:nvGraphicFramePr>
        <p:xfrm>
          <a:off x="1946361" y="2729341"/>
          <a:ext cx="2070100" cy="1685925"/>
        </p:xfrm>
        <a:graphic>
          <a:graphicData uri="http://schemas.openxmlformats.org/presentationml/2006/ole">
            <mc:AlternateContent xmlns:mc="http://schemas.openxmlformats.org/markup-compatibility/2006">
              <mc:Choice xmlns:v="urn:schemas-microsoft-com:vml" Requires="v">
                <p:oleObj name="Equation" r:id="rId5" imgW="1257120" imgH="1028520" progId="Equation.DSMT4">
                  <p:embed/>
                </p:oleObj>
              </mc:Choice>
              <mc:Fallback>
                <p:oleObj name="Equation" r:id="rId5" imgW="1257120" imgH="1028520" progId="Equation.DSMT4">
                  <p:embed/>
                  <p:pic>
                    <p:nvPicPr>
                      <p:cNvPr id="0" name="Object 2"/>
                      <p:cNvPicPr>
                        <a:picLocks noChangeAspect="1" noChangeArrowheads="1"/>
                      </p:cNvPicPr>
                      <p:nvPr/>
                    </p:nvPicPr>
                    <p:blipFill>
                      <a:blip r:embed="rId6"/>
                      <a:srcRect/>
                      <a:stretch>
                        <a:fillRect/>
                      </a:stretch>
                    </p:blipFill>
                    <p:spPr bwMode="auto">
                      <a:xfrm>
                        <a:off x="1946361" y="2729341"/>
                        <a:ext cx="2070100" cy="1685925"/>
                      </a:xfrm>
                      <a:prstGeom prst="rect">
                        <a:avLst/>
                      </a:prstGeom>
                      <a:solidFill>
                        <a:srgbClr val="FFFF99"/>
                      </a:solidFill>
                    </p:spPr>
                  </p:pic>
                </p:oleObj>
              </mc:Fallback>
            </mc:AlternateContent>
          </a:graphicData>
        </a:graphic>
      </p:graphicFrame>
      <p:graphicFrame>
        <p:nvGraphicFramePr>
          <p:cNvPr id="15" name="对象 14">
            <a:extLst>
              <a:ext uri="{FF2B5EF4-FFF2-40B4-BE49-F238E27FC236}">
                <a16:creationId xmlns:a16="http://schemas.microsoft.com/office/drawing/2014/main" id="{63DE0320-9B54-83E2-3FFB-217A1BAB0B5E}"/>
              </a:ext>
            </a:extLst>
          </p:cNvPr>
          <p:cNvGraphicFramePr>
            <a:graphicFrameLocks noChangeAspect="1"/>
          </p:cNvGraphicFramePr>
          <p:nvPr>
            <p:extLst>
              <p:ext uri="{D42A27DB-BD31-4B8C-83A1-F6EECF244321}">
                <p14:modId xmlns:p14="http://schemas.microsoft.com/office/powerpoint/2010/main" val="2434591961"/>
              </p:ext>
            </p:extLst>
          </p:nvPr>
        </p:nvGraphicFramePr>
        <p:xfrm>
          <a:off x="1414462" y="4957911"/>
          <a:ext cx="3157538" cy="1495425"/>
        </p:xfrm>
        <a:graphic>
          <a:graphicData uri="http://schemas.openxmlformats.org/presentationml/2006/ole">
            <mc:AlternateContent xmlns:mc="http://schemas.openxmlformats.org/markup-compatibility/2006">
              <mc:Choice xmlns:v="urn:schemas-microsoft-com:vml" Requires="v">
                <p:oleObj name="Equation" r:id="rId7" imgW="1765080" imgH="838080" progId="Equation.DSMT4">
                  <p:embed/>
                </p:oleObj>
              </mc:Choice>
              <mc:Fallback>
                <p:oleObj name="Equation" r:id="rId7" imgW="1765080" imgH="838080" progId="Equation.DSMT4">
                  <p:embed/>
                  <p:pic>
                    <p:nvPicPr>
                      <p:cNvPr id="0" name="Object 1"/>
                      <p:cNvPicPr>
                        <a:picLocks noChangeAspect="1" noChangeArrowheads="1"/>
                      </p:cNvPicPr>
                      <p:nvPr/>
                    </p:nvPicPr>
                    <p:blipFill>
                      <a:blip r:embed="rId8"/>
                      <a:srcRect/>
                      <a:stretch>
                        <a:fillRect/>
                      </a:stretch>
                    </p:blipFill>
                    <p:spPr bwMode="auto">
                      <a:xfrm>
                        <a:off x="1414462" y="4957911"/>
                        <a:ext cx="3157538" cy="1495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3">
            <a:extLst>
              <a:ext uri="{FF2B5EF4-FFF2-40B4-BE49-F238E27FC236}">
                <a16:creationId xmlns:a16="http://schemas.microsoft.com/office/drawing/2014/main" id="{ABEA25B7-ADB2-A1C9-0962-2DCFC6990067}"/>
              </a:ext>
            </a:extLst>
          </p:cNvPr>
          <p:cNvSpPr>
            <a:spLocks noChangeArrowheads="1"/>
          </p:cNvSpPr>
          <p:nvPr/>
        </p:nvSpPr>
        <p:spPr bwMode="auto">
          <a:xfrm>
            <a:off x="609836" y="2690752"/>
            <a:ext cx="14401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正相序：</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0" name="箭头: 右 19">
            <a:extLst>
              <a:ext uri="{FF2B5EF4-FFF2-40B4-BE49-F238E27FC236}">
                <a16:creationId xmlns:a16="http://schemas.microsoft.com/office/drawing/2014/main" id="{5DDE3E53-22BF-BE02-5558-46DEF291F7DA}"/>
              </a:ext>
            </a:extLst>
          </p:cNvPr>
          <p:cNvSpPr/>
          <p:nvPr/>
        </p:nvSpPr>
        <p:spPr>
          <a:xfrm rot="5400000">
            <a:off x="2663788" y="4643984"/>
            <a:ext cx="504056"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2" name="对象 31">
            <a:extLst>
              <a:ext uri="{FF2B5EF4-FFF2-40B4-BE49-F238E27FC236}">
                <a16:creationId xmlns:a16="http://schemas.microsoft.com/office/drawing/2014/main" id="{31F11667-9D79-262D-C1C9-7641AA5BBB9C}"/>
              </a:ext>
            </a:extLst>
          </p:cNvPr>
          <p:cNvGraphicFramePr>
            <a:graphicFrameLocks noChangeAspect="1"/>
          </p:cNvGraphicFramePr>
          <p:nvPr>
            <p:extLst>
              <p:ext uri="{D42A27DB-BD31-4B8C-83A1-F6EECF244321}">
                <p14:modId xmlns:p14="http://schemas.microsoft.com/office/powerpoint/2010/main" val="2152168116"/>
              </p:ext>
            </p:extLst>
          </p:nvPr>
        </p:nvGraphicFramePr>
        <p:xfrm>
          <a:off x="5352986" y="2663764"/>
          <a:ext cx="1962150" cy="3390900"/>
        </p:xfrm>
        <a:graphic>
          <a:graphicData uri="http://schemas.openxmlformats.org/presentationml/2006/ole">
            <mc:AlternateContent xmlns:mc="http://schemas.openxmlformats.org/markup-compatibility/2006">
              <mc:Choice xmlns:v="urn:schemas-microsoft-com:vml" Requires="v">
                <p:oleObj r:id="rId9" imgW="877888" imgH="1516063" progId="MSDraw">
                  <p:embed/>
                </p:oleObj>
              </mc:Choice>
              <mc:Fallback>
                <p:oleObj r:id="rId9" imgW="877888" imgH="1516063" progId="MSDraw">
                  <p:embed/>
                  <p:pic>
                    <p:nvPicPr>
                      <p:cNvPr id="3" name="对象 2">
                        <a:extLst>
                          <a:ext uri="{FF2B5EF4-FFF2-40B4-BE49-F238E27FC236}">
                            <a16:creationId xmlns:a16="http://schemas.microsoft.com/office/drawing/2014/main" id="{AB68F8CB-DF51-3119-C813-43AEA85F601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52986" y="2663764"/>
                        <a:ext cx="1962150" cy="339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a:extLst>
              <a:ext uri="{FF2B5EF4-FFF2-40B4-BE49-F238E27FC236}">
                <a16:creationId xmlns:a16="http://schemas.microsoft.com/office/drawing/2014/main" id="{11EAB541-B581-494E-2E00-B72EA9C1AA1E}"/>
              </a:ext>
            </a:extLst>
          </p:cNvPr>
          <p:cNvSpPr>
            <a:spLocks noGrp="1"/>
          </p:cNvSpPr>
          <p:nvPr>
            <p:ph type="sldNum" sz="quarter" idx="12"/>
          </p:nvPr>
        </p:nvSpPr>
        <p:spPr/>
        <p:txBody>
          <a:bodyPr/>
          <a:lstStyle/>
          <a:p>
            <a:fld id="{76D830B0-DF59-4281-898F-AF208100B213}" type="slidenum">
              <a:rPr lang="en-US" altLang="zh-CN" smtClean="0"/>
              <a:pPr/>
              <a:t>47</a:t>
            </a:fld>
            <a:endParaRPr lang="en-US" altLang="zh-CN"/>
          </a:p>
        </p:txBody>
      </p:sp>
    </p:spTree>
    <p:extLst>
      <p:ext uri="{BB962C8B-B14F-4D97-AF65-F5344CB8AC3E}">
        <p14:creationId xmlns:p14="http://schemas.microsoft.com/office/powerpoint/2010/main" val="6468583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对象 20">
            <a:extLst>
              <a:ext uri="{FF2B5EF4-FFF2-40B4-BE49-F238E27FC236}">
                <a16:creationId xmlns:a16="http://schemas.microsoft.com/office/drawing/2014/main" id="{1410FFBD-E82D-1239-B66B-71306DF56E09}"/>
              </a:ext>
            </a:extLst>
          </p:cNvPr>
          <p:cNvGraphicFramePr>
            <a:graphicFrameLocks noChangeAspect="1"/>
          </p:cNvGraphicFramePr>
          <p:nvPr>
            <p:extLst>
              <p:ext uri="{D42A27DB-BD31-4B8C-83A1-F6EECF244321}">
                <p14:modId xmlns:p14="http://schemas.microsoft.com/office/powerpoint/2010/main" val="33226990"/>
              </p:ext>
            </p:extLst>
          </p:nvPr>
        </p:nvGraphicFramePr>
        <p:xfrm>
          <a:off x="2200066" y="1684088"/>
          <a:ext cx="1987550" cy="1609725"/>
        </p:xfrm>
        <a:graphic>
          <a:graphicData uri="http://schemas.openxmlformats.org/presentationml/2006/ole">
            <mc:AlternateContent xmlns:mc="http://schemas.openxmlformats.org/markup-compatibility/2006">
              <mc:Choice xmlns:v="urn:schemas-microsoft-com:vml" Requires="v">
                <p:oleObj name="Equation" r:id="rId3" imgW="1269720" imgH="1028520" progId="Equation.DSMT4">
                  <p:embed/>
                </p:oleObj>
              </mc:Choice>
              <mc:Fallback>
                <p:oleObj name="Equation" r:id="rId3" imgW="1269720" imgH="1028520" progId="Equation.DSMT4">
                  <p:embed/>
                  <p:pic>
                    <p:nvPicPr>
                      <p:cNvPr id="21" name="对象 20">
                        <a:extLst>
                          <a:ext uri="{FF2B5EF4-FFF2-40B4-BE49-F238E27FC236}">
                            <a16:creationId xmlns:a16="http://schemas.microsoft.com/office/drawing/2014/main" id="{1410FFBD-E82D-1239-B66B-71306DF56E09}"/>
                          </a:ext>
                        </a:extLst>
                      </p:cNvPr>
                      <p:cNvPicPr>
                        <a:picLocks noChangeAspect="1" noChangeArrowheads="1"/>
                      </p:cNvPicPr>
                      <p:nvPr/>
                    </p:nvPicPr>
                    <p:blipFill>
                      <a:blip r:embed="rId4"/>
                      <a:srcRect/>
                      <a:stretch>
                        <a:fillRect/>
                      </a:stretch>
                    </p:blipFill>
                    <p:spPr bwMode="auto">
                      <a:xfrm>
                        <a:off x="2200066" y="1684088"/>
                        <a:ext cx="1987550" cy="1609725"/>
                      </a:xfrm>
                      <a:prstGeom prst="rect">
                        <a:avLst/>
                      </a:prstGeom>
                      <a:solidFill>
                        <a:srgbClr val="CCFFCC"/>
                      </a:solidFill>
                    </p:spPr>
                  </p:pic>
                </p:oleObj>
              </mc:Fallback>
            </mc:AlternateContent>
          </a:graphicData>
        </a:graphic>
      </p:graphicFrame>
      <p:graphicFrame>
        <p:nvGraphicFramePr>
          <p:cNvPr id="22" name="对象 21">
            <a:extLst>
              <a:ext uri="{FF2B5EF4-FFF2-40B4-BE49-F238E27FC236}">
                <a16:creationId xmlns:a16="http://schemas.microsoft.com/office/drawing/2014/main" id="{A6705D36-99AD-8801-3E2A-E414C9270EE7}"/>
              </a:ext>
            </a:extLst>
          </p:cNvPr>
          <p:cNvGraphicFramePr>
            <a:graphicFrameLocks noChangeAspect="1"/>
          </p:cNvGraphicFramePr>
          <p:nvPr>
            <p:extLst>
              <p:ext uri="{D42A27DB-BD31-4B8C-83A1-F6EECF244321}">
                <p14:modId xmlns:p14="http://schemas.microsoft.com/office/powerpoint/2010/main" val="856423500"/>
              </p:ext>
            </p:extLst>
          </p:nvPr>
        </p:nvGraphicFramePr>
        <p:xfrm>
          <a:off x="1457721" y="3963516"/>
          <a:ext cx="3273425" cy="1409700"/>
        </p:xfrm>
        <a:graphic>
          <a:graphicData uri="http://schemas.openxmlformats.org/presentationml/2006/ole">
            <mc:AlternateContent xmlns:mc="http://schemas.openxmlformats.org/markup-compatibility/2006">
              <mc:Choice xmlns:v="urn:schemas-microsoft-com:vml" Requires="v">
                <p:oleObj name="Equation" r:id="rId5" imgW="1942920" imgH="838080" progId="Equation.DSMT4">
                  <p:embed/>
                </p:oleObj>
              </mc:Choice>
              <mc:Fallback>
                <p:oleObj name="Equation" r:id="rId5" imgW="1942920" imgH="838080" progId="Equation.DSMT4">
                  <p:embed/>
                  <p:pic>
                    <p:nvPicPr>
                      <p:cNvPr id="22" name="对象 21">
                        <a:extLst>
                          <a:ext uri="{FF2B5EF4-FFF2-40B4-BE49-F238E27FC236}">
                            <a16:creationId xmlns:a16="http://schemas.microsoft.com/office/drawing/2014/main" id="{A6705D36-99AD-8801-3E2A-E414C9270EE7}"/>
                          </a:ext>
                        </a:extLst>
                      </p:cNvPr>
                      <p:cNvPicPr>
                        <a:picLocks noChangeAspect="1" noChangeArrowheads="1"/>
                      </p:cNvPicPr>
                      <p:nvPr/>
                    </p:nvPicPr>
                    <p:blipFill>
                      <a:blip r:embed="rId6"/>
                      <a:srcRect/>
                      <a:stretch>
                        <a:fillRect/>
                      </a:stretch>
                    </p:blipFill>
                    <p:spPr bwMode="auto">
                      <a:xfrm>
                        <a:off x="1457721" y="3963516"/>
                        <a:ext cx="3273425" cy="140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7">
            <a:extLst>
              <a:ext uri="{FF2B5EF4-FFF2-40B4-BE49-F238E27FC236}">
                <a16:creationId xmlns:a16="http://schemas.microsoft.com/office/drawing/2014/main" id="{89182D25-3347-0C8A-3616-EA181C88F942}"/>
              </a:ext>
            </a:extLst>
          </p:cNvPr>
          <p:cNvSpPr>
            <a:spLocks noChangeArrowheads="1"/>
          </p:cNvSpPr>
          <p:nvPr/>
        </p:nvSpPr>
        <p:spPr bwMode="auto">
          <a:xfrm>
            <a:off x="734399" y="1587127"/>
            <a:ext cx="17150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负相序：</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8" name="箭头: 右 27">
            <a:extLst>
              <a:ext uri="{FF2B5EF4-FFF2-40B4-BE49-F238E27FC236}">
                <a16:creationId xmlns:a16="http://schemas.microsoft.com/office/drawing/2014/main" id="{BDD86482-F44B-FD3F-BA92-E36842EA3564}"/>
              </a:ext>
            </a:extLst>
          </p:cNvPr>
          <p:cNvSpPr/>
          <p:nvPr/>
        </p:nvSpPr>
        <p:spPr>
          <a:xfrm rot="5400000">
            <a:off x="2842406" y="3567472"/>
            <a:ext cx="504056"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对象 1">
            <a:extLst>
              <a:ext uri="{FF2B5EF4-FFF2-40B4-BE49-F238E27FC236}">
                <a16:creationId xmlns:a16="http://schemas.microsoft.com/office/drawing/2014/main" id="{ED91F211-F4C7-01C1-90C8-EC4CFC3372FC}"/>
              </a:ext>
            </a:extLst>
          </p:cNvPr>
          <p:cNvGraphicFramePr>
            <a:graphicFrameLocks noChangeAspect="1"/>
          </p:cNvGraphicFramePr>
          <p:nvPr>
            <p:extLst>
              <p:ext uri="{D42A27DB-BD31-4B8C-83A1-F6EECF244321}">
                <p14:modId xmlns:p14="http://schemas.microsoft.com/office/powerpoint/2010/main" val="2864376154"/>
              </p:ext>
            </p:extLst>
          </p:nvPr>
        </p:nvGraphicFramePr>
        <p:xfrm>
          <a:off x="5508104" y="1557169"/>
          <a:ext cx="1962150" cy="3390900"/>
        </p:xfrm>
        <a:graphic>
          <a:graphicData uri="http://schemas.openxmlformats.org/presentationml/2006/ole">
            <mc:AlternateContent xmlns:mc="http://schemas.openxmlformats.org/markup-compatibility/2006">
              <mc:Choice xmlns:v="urn:schemas-microsoft-com:vml" Requires="v">
                <p:oleObj r:id="rId7" imgW="877888" imgH="1516063" progId="MSDraw">
                  <p:embed/>
                </p:oleObj>
              </mc:Choice>
              <mc:Fallback>
                <p:oleObj r:id="rId7" imgW="877888" imgH="1516063" progId="MSDraw">
                  <p:embed/>
                  <p:pic>
                    <p:nvPicPr>
                      <p:cNvPr id="6" name="对象 5">
                        <a:extLst>
                          <a:ext uri="{FF2B5EF4-FFF2-40B4-BE49-F238E27FC236}">
                            <a16:creationId xmlns:a16="http://schemas.microsoft.com/office/drawing/2014/main" id="{CA6C2EC4-610D-398D-5DF2-8AB371EEF6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08104" y="1557169"/>
                        <a:ext cx="1962150" cy="339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a:extLst>
              <a:ext uri="{FF2B5EF4-FFF2-40B4-BE49-F238E27FC236}">
                <a16:creationId xmlns:a16="http://schemas.microsoft.com/office/drawing/2014/main" id="{165C4363-ED34-B5E2-9BA2-37999E267CBD}"/>
              </a:ext>
            </a:extLst>
          </p:cNvPr>
          <p:cNvSpPr>
            <a:spLocks noGrp="1"/>
          </p:cNvSpPr>
          <p:nvPr>
            <p:ph type="sldNum" sz="quarter" idx="12"/>
          </p:nvPr>
        </p:nvSpPr>
        <p:spPr/>
        <p:txBody>
          <a:bodyPr/>
          <a:lstStyle/>
          <a:p>
            <a:fld id="{76D830B0-DF59-4281-898F-AF208100B213}" type="slidenum">
              <a:rPr lang="en-US" altLang="zh-CN" smtClean="0"/>
              <a:pPr/>
              <a:t>48</a:t>
            </a:fld>
            <a:endParaRPr lang="en-US" altLang="zh-CN"/>
          </a:p>
        </p:txBody>
      </p:sp>
    </p:spTree>
    <p:extLst>
      <p:ext uri="{BB962C8B-B14F-4D97-AF65-F5344CB8AC3E}">
        <p14:creationId xmlns:p14="http://schemas.microsoft.com/office/powerpoint/2010/main" val="14723198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8">
            <a:extLst>
              <a:ext uri="{FF2B5EF4-FFF2-40B4-BE49-F238E27FC236}">
                <a16:creationId xmlns:a16="http://schemas.microsoft.com/office/drawing/2014/main" id="{4EC3A376-1A52-F155-A6C1-4CEF1A338FD7}"/>
              </a:ext>
            </a:extLst>
          </p:cNvPr>
          <p:cNvSpPr>
            <a:spLocks noChangeArrowheads="1"/>
          </p:cNvSpPr>
          <p:nvPr/>
        </p:nvSpPr>
        <p:spPr bwMode="auto">
          <a:xfrm>
            <a:off x="401200" y="1052736"/>
            <a:ext cx="68371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1" indent="0" algn="l" defTabSz="914400" rtl="0" eaLnBrk="0" fontAlgn="base" latinLnBrk="0" hangingPunct="0">
              <a:lnSpc>
                <a:spcPct val="100000"/>
              </a:lnSpc>
              <a:spcBef>
                <a:spcPct val="0"/>
              </a:spcBef>
              <a:spcAft>
                <a:spcPct val="0"/>
              </a:spcAft>
              <a:buClrTx/>
              <a:buSzTx/>
              <a:tabLst/>
            </a:pP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4</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、三相磁势与每极磁通、磁密和旋转磁场的关系</a:t>
            </a:r>
            <a:endParaRPr kumimoji="0" lang="zh-CN" altLang="en-US" sz="1800" b="1" i="0" u="none" strike="noStrike" cap="none" normalizeH="0" baseline="0" dirty="0">
              <a:ln>
                <a:noFill/>
              </a:ln>
              <a:solidFill>
                <a:srgbClr val="0000FF"/>
              </a:solidFill>
              <a:effectLst/>
              <a:latin typeface="Arial" panose="020B0604020202020204" pitchFamily="34" charset="0"/>
            </a:endParaRPr>
          </a:p>
        </p:txBody>
      </p:sp>
      <p:graphicFrame>
        <p:nvGraphicFramePr>
          <p:cNvPr id="3" name="对象 2">
            <a:extLst>
              <a:ext uri="{FF2B5EF4-FFF2-40B4-BE49-F238E27FC236}">
                <a16:creationId xmlns:a16="http://schemas.microsoft.com/office/drawing/2014/main" id="{F68E2BBB-D781-C4B9-F271-F1E252C9F851}"/>
              </a:ext>
            </a:extLst>
          </p:cNvPr>
          <p:cNvGraphicFramePr>
            <a:graphicFrameLocks noChangeAspect="1"/>
          </p:cNvGraphicFramePr>
          <p:nvPr/>
        </p:nvGraphicFramePr>
        <p:xfrm>
          <a:off x="1974048" y="1715296"/>
          <a:ext cx="1023938" cy="442913"/>
        </p:xfrm>
        <a:graphic>
          <a:graphicData uri="http://schemas.openxmlformats.org/presentationml/2006/ole">
            <mc:AlternateContent xmlns:mc="http://schemas.openxmlformats.org/markup-compatibility/2006">
              <mc:Choice xmlns:v="urn:schemas-microsoft-com:vml" Requires="v">
                <p:oleObj name="Equation" r:id="rId2" imgW="533169" imgH="228501" progId="Equation.DSMT4">
                  <p:embed/>
                </p:oleObj>
              </mc:Choice>
              <mc:Fallback>
                <p:oleObj name="Equation" r:id="rId2" imgW="533169" imgH="228501" progId="Equation.DSMT4">
                  <p:embed/>
                  <p:pic>
                    <p:nvPicPr>
                      <p:cNvPr id="3" name="对象 2">
                        <a:extLst>
                          <a:ext uri="{FF2B5EF4-FFF2-40B4-BE49-F238E27FC236}">
                            <a16:creationId xmlns:a16="http://schemas.microsoft.com/office/drawing/2014/main" id="{F68E2BBB-D781-C4B9-F271-F1E252C9F8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048" y="1715296"/>
                        <a:ext cx="1023938"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4">
            <a:extLst>
              <a:ext uri="{FF2B5EF4-FFF2-40B4-BE49-F238E27FC236}">
                <a16:creationId xmlns:a16="http://schemas.microsoft.com/office/drawing/2014/main" id="{A18B4F4E-9CE7-E41F-F8A4-630FDCC10416}"/>
              </a:ext>
            </a:extLst>
          </p:cNvPr>
          <p:cNvSpPr>
            <a:spLocks noChangeArrowheads="1"/>
          </p:cNvSpPr>
          <p:nvPr/>
        </p:nvSpPr>
        <p:spPr bwMode="auto">
          <a:xfrm>
            <a:off x="3923928" y="1700808"/>
            <a:ext cx="3744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气隙中建立旋转基波磁场</a:t>
            </a:r>
            <a:endParaRPr kumimoji="0" lang="en-US" altLang="zh-CN" sz="1800" b="0" i="0" u="none" strike="noStrike" cap="none" normalizeH="0" baseline="0" dirty="0">
              <a:ln>
                <a:noFill/>
              </a:ln>
              <a:effectLst/>
              <a:latin typeface="Arial" panose="020B0604020202020204" pitchFamily="34" charset="0"/>
            </a:endParaRPr>
          </a:p>
        </p:txBody>
      </p:sp>
      <p:sp>
        <p:nvSpPr>
          <p:cNvPr id="13" name="Rectangle 4">
            <a:extLst>
              <a:ext uri="{FF2B5EF4-FFF2-40B4-BE49-F238E27FC236}">
                <a16:creationId xmlns:a16="http://schemas.microsoft.com/office/drawing/2014/main" id="{6BBB7B46-7DB2-AC43-3A1F-3C8820E6ABEC}"/>
              </a:ext>
            </a:extLst>
          </p:cNvPr>
          <p:cNvSpPr>
            <a:spLocks noChangeArrowheads="1"/>
          </p:cNvSpPr>
          <p:nvPr/>
        </p:nvSpPr>
        <p:spPr bwMode="auto">
          <a:xfrm>
            <a:off x="611560" y="1700808"/>
            <a:ext cx="15121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基波磁势</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4" name="箭头: 右 13">
            <a:extLst>
              <a:ext uri="{FF2B5EF4-FFF2-40B4-BE49-F238E27FC236}">
                <a16:creationId xmlns:a16="http://schemas.microsoft.com/office/drawing/2014/main" id="{C98CA1A3-E03C-472F-E68B-DF9A85333A50}"/>
              </a:ext>
            </a:extLst>
          </p:cNvPr>
          <p:cNvSpPr/>
          <p:nvPr/>
        </p:nvSpPr>
        <p:spPr>
          <a:xfrm>
            <a:off x="3203849" y="1830337"/>
            <a:ext cx="648072" cy="3278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对象 14">
            <a:extLst>
              <a:ext uri="{FF2B5EF4-FFF2-40B4-BE49-F238E27FC236}">
                <a16:creationId xmlns:a16="http://schemas.microsoft.com/office/drawing/2014/main" id="{2D459658-0E93-0D68-B2E9-1253D39DB195}"/>
              </a:ext>
            </a:extLst>
          </p:cNvPr>
          <p:cNvGraphicFramePr>
            <a:graphicFrameLocks noChangeAspect="1"/>
          </p:cNvGraphicFramePr>
          <p:nvPr>
            <p:extLst>
              <p:ext uri="{D42A27DB-BD31-4B8C-83A1-F6EECF244321}">
                <p14:modId xmlns:p14="http://schemas.microsoft.com/office/powerpoint/2010/main" val="2715838157"/>
              </p:ext>
            </p:extLst>
          </p:nvPr>
        </p:nvGraphicFramePr>
        <p:xfrm>
          <a:off x="2745723" y="2204864"/>
          <a:ext cx="5184576" cy="802215"/>
        </p:xfrm>
        <a:graphic>
          <a:graphicData uri="http://schemas.openxmlformats.org/presentationml/2006/ole">
            <mc:AlternateContent xmlns:mc="http://schemas.openxmlformats.org/markup-compatibility/2006">
              <mc:Choice xmlns:v="urn:schemas-microsoft-com:vml" Requires="v">
                <p:oleObj name="Equation" r:id="rId4" imgW="2539800" imgH="393480" progId="Equation.DSMT4">
                  <p:embed/>
                </p:oleObj>
              </mc:Choice>
              <mc:Fallback>
                <p:oleObj name="Equation" r:id="rId4" imgW="2539800" imgH="393480" progId="Equation.DSMT4">
                  <p:embed/>
                  <p:pic>
                    <p:nvPicPr>
                      <p:cNvPr id="15" name="对象 14">
                        <a:extLst>
                          <a:ext uri="{FF2B5EF4-FFF2-40B4-BE49-F238E27FC236}">
                            <a16:creationId xmlns:a16="http://schemas.microsoft.com/office/drawing/2014/main" id="{2D459658-0E93-0D68-B2E9-1253D39DB195}"/>
                          </a:ext>
                        </a:extLst>
                      </p:cNvPr>
                      <p:cNvPicPr>
                        <a:picLocks noChangeAspect="1" noChangeArrowheads="1"/>
                      </p:cNvPicPr>
                      <p:nvPr/>
                    </p:nvPicPr>
                    <p:blipFill>
                      <a:blip r:embed="rId5"/>
                      <a:srcRect/>
                      <a:stretch>
                        <a:fillRect/>
                      </a:stretch>
                    </p:blipFill>
                    <p:spPr bwMode="auto">
                      <a:xfrm>
                        <a:off x="2745723" y="2204864"/>
                        <a:ext cx="5184576" cy="802215"/>
                      </a:xfrm>
                      <a:prstGeom prst="rect">
                        <a:avLst/>
                      </a:prstGeom>
                      <a:noFill/>
                    </p:spPr>
                  </p:pic>
                </p:oleObj>
              </mc:Fallback>
            </mc:AlternateContent>
          </a:graphicData>
        </a:graphic>
      </p:graphicFrame>
      <p:cxnSp>
        <p:nvCxnSpPr>
          <p:cNvPr id="17" name="连接符: 肘形 16">
            <a:extLst>
              <a:ext uri="{FF2B5EF4-FFF2-40B4-BE49-F238E27FC236}">
                <a16:creationId xmlns:a16="http://schemas.microsoft.com/office/drawing/2014/main" id="{7BA90B16-406A-C1F3-C207-69A64AD3A6E7}"/>
              </a:ext>
            </a:extLst>
          </p:cNvPr>
          <p:cNvCxnSpPr>
            <a:cxnSpLocks/>
          </p:cNvCxnSpPr>
          <p:nvPr/>
        </p:nvCxnSpPr>
        <p:spPr>
          <a:xfrm>
            <a:off x="5986083" y="2866206"/>
            <a:ext cx="432048" cy="400110"/>
          </a:xfrm>
          <a:prstGeom prst="bentConnector3">
            <a:avLst>
              <a:gd name="adj1" fmla="val -207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4">
            <a:extLst>
              <a:ext uri="{FF2B5EF4-FFF2-40B4-BE49-F238E27FC236}">
                <a16:creationId xmlns:a16="http://schemas.microsoft.com/office/drawing/2014/main" id="{60B50EA8-31FC-B02D-9338-FABF2D21A4EE}"/>
              </a:ext>
            </a:extLst>
          </p:cNvPr>
          <p:cNvSpPr>
            <a:spLocks noChangeArrowheads="1"/>
          </p:cNvSpPr>
          <p:nvPr/>
        </p:nvSpPr>
        <p:spPr bwMode="auto">
          <a:xfrm>
            <a:off x="6372200" y="3037353"/>
            <a:ext cx="18002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基波磁密幅值</a:t>
            </a:r>
            <a:endParaRPr kumimoji="0" lang="en-US" altLang="zh-CN" sz="1600" b="0" i="0" u="none" strike="noStrike" cap="none" normalizeH="0" baseline="0" dirty="0">
              <a:ln>
                <a:noFill/>
              </a:ln>
              <a:solidFill>
                <a:srgbClr val="C00000"/>
              </a:solidFill>
              <a:effectLst/>
              <a:latin typeface="Arial" panose="020B0604020202020204" pitchFamily="34" charset="0"/>
            </a:endParaRPr>
          </a:p>
        </p:txBody>
      </p:sp>
      <p:sp>
        <p:nvSpPr>
          <p:cNvPr id="23" name="Rectangle 4">
            <a:extLst>
              <a:ext uri="{FF2B5EF4-FFF2-40B4-BE49-F238E27FC236}">
                <a16:creationId xmlns:a16="http://schemas.microsoft.com/office/drawing/2014/main" id="{AE8A2DEE-DEF2-0A24-0A4B-145E486ABF3D}"/>
              </a:ext>
            </a:extLst>
          </p:cNvPr>
          <p:cNvSpPr>
            <a:spLocks noChangeArrowheads="1"/>
          </p:cNvSpPr>
          <p:nvPr/>
        </p:nvSpPr>
        <p:spPr bwMode="auto">
          <a:xfrm>
            <a:off x="179512" y="3459871"/>
            <a:ext cx="92170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若气隙均匀，基波磁场也是一个沿气隙以</a:t>
            </a:r>
            <a:r>
              <a:rPr kumimoji="0" lang="en-US" altLang="zh-CN"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n0</a:t>
            </a: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旋转的圆形旋转磁场</a:t>
            </a:r>
            <a:r>
              <a:rPr lang="zh-CN" altLang="en-US" sz="2400" b="1" dirty="0">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effectLst/>
              <a:latin typeface="Arial" panose="020B0604020202020204" pitchFamily="34" charset="0"/>
            </a:endParaRPr>
          </a:p>
        </p:txBody>
      </p:sp>
      <p:sp>
        <p:nvSpPr>
          <p:cNvPr id="24" name="Rectangle 4">
            <a:extLst>
              <a:ext uri="{FF2B5EF4-FFF2-40B4-BE49-F238E27FC236}">
                <a16:creationId xmlns:a16="http://schemas.microsoft.com/office/drawing/2014/main" id="{D08E9C18-9E19-DED3-C17D-94931517E6A6}"/>
              </a:ext>
            </a:extLst>
          </p:cNvPr>
          <p:cNvSpPr>
            <a:spLocks noChangeArrowheads="1"/>
          </p:cNvSpPr>
          <p:nvPr/>
        </p:nvSpPr>
        <p:spPr bwMode="auto">
          <a:xfrm>
            <a:off x="567963" y="2349547"/>
            <a:ext cx="24657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b="1" dirty="0">
                <a:latin typeface="黑体" panose="02010609060101010101" pitchFamily="49" charset="-122"/>
                <a:ea typeface="黑体" panose="02010609060101010101" pitchFamily="49" charset="-122"/>
                <a:cs typeface="Times New Roman" panose="02020603050405020304" pitchFamily="18" charset="0"/>
              </a:rPr>
              <a:t>忽略铁心磁阻：</a:t>
            </a:r>
            <a:endParaRPr kumimoji="0" lang="en-US" altLang="zh-CN" sz="1800" b="0" i="0" u="none" strike="noStrike" cap="none" normalizeH="0" baseline="0" dirty="0">
              <a:ln>
                <a:noFill/>
              </a:ln>
              <a:effectLst/>
              <a:latin typeface="Arial" panose="020B0604020202020204" pitchFamily="34" charset="0"/>
            </a:endParaRPr>
          </a:p>
        </p:txBody>
      </p:sp>
      <p:graphicFrame>
        <p:nvGraphicFramePr>
          <p:cNvPr id="4" name="对象 3">
            <a:extLst>
              <a:ext uri="{FF2B5EF4-FFF2-40B4-BE49-F238E27FC236}">
                <a16:creationId xmlns:a16="http://schemas.microsoft.com/office/drawing/2014/main" id="{E30E9331-E758-0B46-4D0A-F8A189C8C172}"/>
              </a:ext>
            </a:extLst>
          </p:cNvPr>
          <p:cNvGraphicFramePr>
            <a:graphicFrameLocks noChangeAspect="1"/>
          </p:cNvGraphicFramePr>
          <p:nvPr>
            <p:extLst>
              <p:ext uri="{D42A27DB-BD31-4B8C-83A1-F6EECF244321}">
                <p14:modId xmlns:p14="http://schemas.microsoft.com/office/powerpoint/2010/main" val="1259448758"/>
              </p:ext>
            </p:extLst>
          </p:nvPr>
        </p:nvGraphicFramePr>
        <p:xfrm>
          <a:off x="1043608" y="3943944"/>
          <a:ext cx="6822722" cy="2669761"/>
        </p:xfrm>
        <a:graphic>
          <a:graphicData uri="http://schemas.openxmlformats.org/presentationml/2006/ole">
            <mc:AlternateContent xmlns:mc="http://schemas.openxmlformats.org/markup-compatibility/2006">
              <mc:Choice xmlns:v="urn:schemas-microsoft-com:vml" Requires="v">
                <p:oleObj r:id="rId6" imgW="5026025" imgH="1952625" progId="MSDraw">
                  <p:embed/>
                </p:oleObj>
              </mc:Choice>
              <mc:Fallback>
                <p:oleObj r:id="rId6" imgW="5026025" imgH="1952625" progId="MSDraw">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3608" y="3943944"/>
                        <a:ext cx="6822722" cy="2669761"/>
                      </a:xfrm>
                      <a:prstGeom prst="rect">
                        <a:avLst/>
                      </a:prstGeom>
                      <a:noFill/>
                    </p:spPr>
                  </p:pic>
                </p:oleObj>
              </mc:Fallback>
            </mc:AlternateContent>
          </a:graphicData>
        </a:graphic>
      </p:graphicFrame>
      <p:sp>
        <p:nvSpPr>
          <p:cNvPr id="5" name="灯片编号占位符 4">
            <a:extLst>
              <a:ext uri="{FF2B5EF4-FFF2-40B4-BE49-F238E27FC236}">
                <a16:creationId xmlns:a16="http://schemas.microsoft.com/office/drawing/2014/main" id="{570CC134-F7C9-91D1-BD88-81F0570AE7E4}"/>
              </a:ext>
            </a:extLst>
          </p:cNvPr>
          <p:cNvSpPr>
            <a:spLocks noGrp="1"/>
          </p:cNvSpPr>
          <p:nvPr>
            <p:ph type="sldNum" sz="quarter" idx="12"/>
          </p:nvPr>
        </p:nvSpPr>
        <p:spPr/>
        <p:txBody>
          <a:bodyPr/>
          <a:lstStyle/>
          <a:p>
            <a:fld id="{76D830B0-DF59-4281-898F-AF208100B213}" type="slidenum">
              <a:rPr lang="en-US" altLang="zh-CN" smtClean="0"/>
              <a:pPr/>
              <a:t>49</a:t>
            </a:fld>
            <a:endParaRPr lang="en-US" altLang="zh-CN"/>
          </a:p>
        </p:txBody>
      </p:sp>
    </p:spTree>
    <p:extLst>
      <p:ext uri="{BB962C8B-B14F-4D97-AF65-F5344CB8AC3E}">
        <p14:creationId xmlns:p14="http://schemas.microsoft.com/office/powerpoint/2010/main" val="21193381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对象 34">
            <a:extLst>
              <a:ext uri="{FF2B5EF4-FFF2-40B4-BE49-F238E27FC236}">
                <a16:creationId xmlns:a16="http://schemas.microsoft.com/office/drawing/2014/main" id="{C5758881-9F68-960B-11A9-1A380934316F}"/>
              </a:ext>
            </a:extLst>
          </p:cNvPr>
          <p:cNvGraphicFramePr>
            <a:graphicFrameLocks noChangeAspect="1"/>
          </p:cNvGraphicFramePr>
          <p:nvPr>
            <p:extLst>
              <p:ext uri="{D42A27DB-BD31-4B8C-83A1-F6EECF244321}">
                <p14:modId xmlns:p14="http://schemas.microsoft.com/office/powerpoint/2010/main" val="2255692513"/>
              </p:ext>
            </p:extLst>
          </p:nvPr>
        </p:nvGraphicFramePr>
        <p:xfrm>
          <a:off x="1693924" y="2259806"/>
          <a:ext cx="5972175" cy="2338388"/>
        </p:xfrm>
        <a:graphic>
          <a:graphicData uri="http://schemas.openxmlformats.org/presentationml/2006/ole">
            <mc:AlternateContent xmlns:mc="http://schemas.openxmlformats.org/markup-compatibility/2006">
              <mc:Choice xmlns:v="urn:schemas-microsoft-com:vml" Requires="v">
                <p:oleObj r:id="rId2" imgW="2825750" imgH="1114425" progId="MSDraw">
                  <p:embed/>
                </p:oleObj>
              </mc:Choice>
              <mc:Fallback>
                <p:oleObj r:id="rId2" imgW="2825750" imgH="1114425" progId="MSDraw">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3924" y="2259806"/>
                        <a:ext cx="5972175" cy="2338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文本框 36">
            <a:extLst>
              <a:ext uri="{FF2B5EF4-FFF2-40B4-BE49-F238E27FC236}">
                <a16:creationId xmlns:a16="http://schemas.microsoft.com/office/drawing/2014/main" id="{0F0CECBE-9DFF-4699-7AE8-2CAA1771D9F7}"/>
              </a:ext>
            </a:extLst>
          </p:cNvPr>
          <p:cNvSpPr txBox="1"/>
          <p:nvPr/>
        </p:nvSpPr>
        <p:spPr>
          <a:xfrm>
            <a:off x="611560" y="980728"/>
            <a:ext cx="8280920" cy="966996"/>
          </a:xfrm>
          <a:prstGeom prst="rect">
            <a:avLst/>
          </a:prstGeom>
          <a:noFill/>
        </p:spPr>
        <p:txBody>
          <a:bodyPr wrap="square">
            <a:spAutoFit/>
          </a:bodyPr>
          <a:lstStyle/>
          <a:p>
            <a:pPr>
              <a:lnSpc>
                <a:spcPct val="125000"/>
              </a:lnSpc>
            </a:pPr>
            <a:r>
              <a:rPr lang="zh-CN" altLang="en-US" sz="2400" b="1" kern="100" dirty="0">
                <a:effectLst/>
                <a:latin typeface="Times New Roman" panose="02020603050405020304" pitchFamily="18" charset="0"/>
                <a:ea typeface="黑体" panose="02010609060101010101" pitchFamily="49" charset="-122"/>
                <a:cs typeface="Times New Roman" panose="02020603050405020304" pitchFamily="18" charset="0"/>
              </a:rPr>
              <a:t>        对绕线转子异步电动机，</a:t>
            </a:r>
            <a:r>
              <a:rPr lang="zh-CN"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定子、转子绕组结构相同</a:t>
            </a:r>
            <a:r>
              <a:rPr lang="zh-CN" altLang="en-US" sz="2400" b="1" kern="10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结构</a:t>
            </a:r>
            <a:r>
              <a:rPr lang="zh-CN" altLang="en-US" sz="2400" b="1" kern="100" dirty="0">
                <a:effectLst/>
                <a:latin typeface="Times New Roman" panose="02020603050405020304" pitchFamily="18" charset="0"/>
                <a:ea typeface="黑体" panose="02010609060101010101" pitchFamily="49" charset="-122"/>
                <a:cs typeface="Times New Roman" panose="02020603050405020304" pitchFamily="18" charset="0"/>
              </a:rPr>
              <a:t>与</a:t>
            </a:r>
            <a:r>
              <a:rPr lang="zh-CN"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变压器相似，</a:t>
            </a:r>
            <a:r>
              <a:rPr lang="zh-CN" altLang="en-US" sz="2400" b="1" kern="100" dirty="0">
                <a:latin typeface="Times New Roman" panose="02020603050405020304" pitchFamily="18" charset="0"/>
                <a:ea typeface="黑体" panose="02010609060101010101" pitchFamily="49" charset="-122"/>
                <a:cs typeface="Times New Roman" panose="02020603050405020304" pitchFamily="18" charset="0"/>
              </a:rPr>
              <a:t>但</a:t>
            </a:r>
            <a:r>
              <a:rPr lang="zh-CN" altLang="zh-CN" sz="2400" b="1" kern="100" dirty="0">
                <a:effectLst/>
                <a:latin typeface="Times New Roman" panose="02020603050405020304" pitchFamily="18" charset="0"/>
                <a:ea typeface="黑体" panose="02010609060101010101" pitchFamily="49" charset="-122"/>
                <a:cs typeface="Times New Roman" panose="02020603050405020304" pitchFamily="18" charset="0"/>
              </a:rPr>
              <a:t>存在</a:t>
            </a: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气隙，漏抗、漏磁均大于变压器</a:t>
            </a:r>
            <a:r>
              <a:rPr lang="zh-CN" altLang="zh-CN" sz="2400" kern="100" dirty="0">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p>
        </p:txBody>
      </p:sp>
      <p:sp>
        <p:nvSpPr>
          <p:cNvPr id="39" name="文本框 38">
            <a:extLst>
              <a:ext uri="{FF2B5EF4-FFF2-40B4-BE49-F238E27FC236}">
                <a16:creationId xmlns:a16="http://schemas.microsoft.com/office/drawing/2014/main" id="{26CB239C-BC23-AF0F-2725-221FB9AA65EB}"/>
              </a:ext>
            </a:extLst>
          </p:cNvPr>
          <p:cNvSpPr txBox="1"/>
          <p:nvPr/>
        </p:nvSpPr>
        <p:spPr>
          <a:xfrm>
            <a:off x="683568" y="5013176"/>
            <a:ext cx="7920880" cy="1200329"/>
          </a:xfrm>
          <a:prstGeom prst="rect">
            <a:avLst/>
          </a:prstGeom>
          <a:noFill/>
        </p:spPr>
        <p:txBody>
          <a:bodyPr wrap="square">
            <a:spAutoFit/>
          </a:bodyPr>
          <a:lstStyle/>
          <a:p>
            <a:pPr algn="just"/>
            <a:r>
              <a:rPr lang="en-US" altLang="zh-CN" sz="2400" b="1" kern="100" dirty="0">
                <a:effectLst/>
                <a:latin typeface="Times New Roman" panose="02020603050405020304" pitchFamily="18" charset="0"/>
                <a:ea typeface="黑体" panose="02010609060101010101" pitchFamily="49" charset="-122"/>
              </a:rPr>
              <a:t>        </a:t>
            </a:r>
            <a:r>
              <a:rPr lang="zh-CN" altLang="zh-CN" sz="2400" b="1" kern="100" dirty="0">
                <a:effectLst/>
                <a:latin typeface="Times New Roman" panose="02020603050405020304" pitchFamily="18" charset="0"/>
                <a:ea typeface="黑体" panose="02010609060101010101" pitchFamily="49" charset="-122"/>
              </a:rPr>
              <a:t>主磁通与励磁电流的关系因磁路存在气隙</a:t>
            </a:r>
            <a:r>
              <a:rPr lang="zh-CN" altLang="zh-CN" sz="2400" b="1" kern="100" dirty="0">
                <a:solidFill>
                  <a:srgbClr val="FF0000"/>
                </a:solidFill>
                <a:effectLst/>
                <a:latin typeface="Times New Roman" panose="02020603050405020304" pitchFamily="18" charset="0"/>
                <a:ea typeface="黑体" panose="02010609060101010101" pitchFamily="49" charset="-122"/>
              </a:rPr>
              <a:t>基本保持线性</a:t>
            </a:r>
            <a:r>
              <a:rPr lang="zh-CN" altLang="zh-CN" sz="2400" b="1" kern="100" dirty="0">
                <a:effectLst/>
                <a:latin typeface="Times New Roman" panose="02020603050405020304" pitchFamily="18" charset="0"/>
                <a:ea typeface="黑体" panose="02010609060101010101" pitchFamily="49" charset="-122"/>
              </a:rPr>
              <a:t>，和变压器由铁心组成磁路的磁滞、饱和非线性关系有较大区别。</a:t>
            </a:r>
            <a:endParaRPr lang="zh-CN" altLang="zh-CN" sz="2400" b="1" kern="100" dirty="0">
              <a:effectLst/>
              <a:latin typeface="Times New Roman" panose="02020603050405020304" pitchFamily="18" charset="0"/>
              <a:ea typeface="宋体" panose="02010600030101010101" pitchFamily="2" charset="-122"/>
            </a:endParaRPr>
          </a:p>
        </p:txBody>
      </p:sp>
      <p:sp>
        <p:nvSpPr>
          <p:cNvPr id="3" name="灯片编号占位符 2">
            <a:extLst>
              <a:ext uri="{FF2B5EF4-FFF2-40B4-BE49-F238E27FC236}">
                <a16:creationId xmlns:a16="http://schemas.microsoft.com/office/drawing/2014/main" id="{70F36EDE-CC4B-63F7-7B42-9849C5B96630}"/>
              </a:ext>
            </a:extLst>
          </p:cNvPr>
          <p:cNvSpPr>
            <a:spLocks noGrp="1"/>
          </p:cNvSpPr>
          <p:nvPr>
            <p:ph type="sldNum" sz="quarter" idx="12"/>
          </p:nvPr>
        </p:nvSpPr>
        <p:spPr/>
        <p:txBody>
          <a:bodyPr/>
          <a:lstStyle/>
          <a:p>
            <a:fld id="{76D830B0-DF59-4281-898F-AF208100B213}" type="slidenum">
              <a:rPr lang="en-US" altLang="zh-CN" smtClean="0"/>
              <a:pPr/>
              <a:t>50</a:t>
            </a:fld>
            <a:endParaRPr lang="en-US" altLang="zh-CN"/>
          </a:p>
        </p:txBody>
      </p:sp>
    </p:spTree>
    <p:extLst>
      <p:ext uri="{BB962C8B-B14F-4D97-AF65-F5344CB8AC3E}">
        <p14:creationId xmlns:p14="http://schemas.microsoft.com/office/powerpoint/2010/main" val="39411226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754543B-2633-4912-ADB0-89AB1A9C6570}"/>
              </a:ext>
            </a:extLst>
          </p:cNvPr>
          <p:cNvSpPr>
            <a:spLocks noChangeArrowheads="1"/>
          </p:cNvSpPr>
          <p:nvPr/>
        </p:nvSpPr>
        <p:spPr bwMode="auto">
          <a:xfrm>
            <a:off x="251520" y="1088952"/>
            <a:ext cx="760657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5-3 </a:t>
            </a:r>
            <a:r>
              <a:rPr kumimoji="0" lang="zh-CN" altLang="en-US"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三相异步电动机的运行分析</a:t>
            </a:r>
            <a:r>
              <a:rPr kumimoji="0"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正弦稳态</a:t>
            </a:r>
            <a:r>
              <a:rPr kumimoji="0" lang="en-US"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p:txBody>
      </p:sp>
      <p:sp>
        <p:nvSpPr>
          <p:cNvPr id="3" name="内容占位符 3">
            <a:extLst>
              <a:ext uri="{FF2B5EF4-FFF2-40B4-BE49-F238E27FC236}">
                <a16:creationId xmlns:a16="http://schemas.microsoft.com/office/drawing/2014/main" id="{924D5DE7-7DDF-34EF-BCD0-4497A81A5E7A}"/>
              </a:ext>
            </a:extLst>
          </p:cNvPr>
          <p:cNvSpPr txBox="1">
            <a:spLocks/>
          </p:cNvSpPr>
          <p:nvPr/>
        </p:nvSpPr>
        <p:spPr>
          <a:xfrm>
            <a:off x="683568" y="1916832"/>
            <a:ext cx="7560840" cy="3359021"/>
          </a:xfrm>
          <a:prstGeom prst="rect">
            <a:avLst/>
          </a:prstGeom>
        </p:spPr>
        <p:txBody>
          <a:bodyPr/>
          <a:lst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zh-CN" altLang="zh-CN" b="1" dirty="0">
                <a:solidFill>
                  <a:srgbClr val="0000CC"/>
                </a:solidFill>
                <a:latin typeface="华文楷体" panose="02010600040101010101" pitchFamily="2" charset="-122"/>
                <a:ea typeface="华文楷体" panose="02010600040101010101" pitchFamily="2" charset="-122"/>
              </a:rPr>
              <a:t>问题出发点：</a:t>
            </a:r>
            <a:endParaRPr lang="zh-CN" altLang="zh-CN" dirty="0">
              <a:solidFill>
                <a:srgbClr val="0000CC"/>
              </a:solidFill>
              <a:latin typeface="华文楷体" panose="02010600040101010101" pitchFamily="2" charset="-122"/>
              <a:ea typeface="华文楷体" panose="02010600040101010101" pitchFamily="2" charset="-122"/>
            </a:endParaRPr>
          </a:p>
          <a:p>
            <a:r>
              <a:rPr lang="zh-CN" altLang="en-US" b="1" dirty="0">
                <a:solidFill>
                  <a:srgbClr val="0000CC"/>
                </a:solidFill>
                <a:latin typeface="华文楷体" panose="02010600040101010101" pitchFamily="2" charset="-122"/>
                <a:ea typeface="华文楷体" panose="02010600040101010101" pitchFamily="2" charset="-122"/>
              </a:rPr>
              <a:t>异步电动机与变压器的主要电磁关系相似性，如何将它们进行等效分析</a:t>
            </a:r>
            <a:r>
              <a:rPr lang="zh-CN" altLang="zh-CN" b="1" dirty="0">
                <a:solidFill>
                  <a:srgbClr val="0000CC"/>
                </a:solidFill>
                <a:latin typeface="华文楷体" panose="02010600040101010101" pitchFamily="2" charset="-122"/>
                <a:ea typeface="华文楷体" panose="02010600040101010101" pitchFamily="2" charset="-122"/>
              </a:rPr>
              <a:t>？</a:t>
            </a:r>
            <a:endParaRPr lang="en-US" altLang="zh-CN" b="1" dirty="0">
              <a:solidFill>
                <a:srgbClr val="0000CC"/>
              </a:solidFill>
              <a:latin typeface="华文楷体" panose="02010600040101010101" pitchFamily="2" charset="-122"/>
              <a:ea typeface="华文楷体" panose="02010600040101010101" pitchFamily="2" charset="-122"/>
            </a:endParaRPr>
          </a:p>
          <a:p>
            <a:r>
              <a:rPr lang="zh-CN" altLang="en-US" b="1" dirty="0">
                <a:solidFill>
                  <a:srgbClr val="0000CC"/>
                </a:solidFill>
                <a:latin typeface="华文楷体" panose="02010600040101010101" pitchFamily="2" charset="-122"/>
                <a:ea typeface="华文楷体" panose="02010600040101010101" pitchFamily="2" charset="-122"/>
              </a:rPr>
              <a:t>如果可以等效，是否可以利用与分析变压器完全相同的方法建立异步电动机的等值电路，以利于近似分析计算？</a:t>
            </a:r>
            <a:endParaRPr lang="zh-CN" altLang="zh-CN" dirty="0">
              <a:solidFill>
                <a:srgbClr val="0000CC"/>
              </a:solidFill>
              <a:latin typeface="华文楷体" panose="02010600040101010101" pitchFamily="2" charset="-122"/>
              <a:ea typeface="华文楷体" panose="02010600040101010101" pitchFamily="2" charset="-122"/>
            </a:endParaRPr>
          </a:p>
        </p:txBody>
      </p:sp>
      <p:sp>
        <p:nvSpPr>
          <p:cNvPr id="5" name="灯片编号占位符 4">
            <a:extLst>
              <a:ext uri="{FF2B5EF4-FFF2-40B4-BE49-F238E27FC236}">
                <a16:creationId xmlns:a16="http://schemas.microsoft.com/office/drawing/2014/main" id="{CCAB8867-7DE2-4EAD-07CD-1E831B07D1C9}"/>
              </a:ext>
            </a:extLst>
          </p:cNvPr>
          <p:cNvSpPr>
            <a:spLocks noGrp="1"/>
          </p:cNvSpPr>
          <p:nvPr>
            <p:ph type="sldNum" sz="quarter" idx="12"/>
          </p:nvPr>
        </p:nvSpPr>
        <p:spPr/>
        <p:txBody>
          <a:bodyPr/>
          <a:lstStyle/>
          <a:p>
            <a:fld id="{76D830B0-DF59-4281-898F-AF208100B213}" type="slidenum">
              <a:rPr lang="en-US" altLang="zh-CN" smtClean="0"/>
              <a:pPr/>
              <a:t>51</a:t>
            </a:fld>
            <a:endParaRPr lang="en-US" altLang="zh-CN"/>
          </a:p>
        </p:txBody>
      </p:sp>
    </p:spTree>
    <p:extLst>
      <p:ext uri="{BB962C8B-B14F-4D97-AF65-F5344CB8AC3E}">
        <p14:creationId xmlns:p14="http://schemas.microsoft.com/office/powerpoint/2010/main" val="19911928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7C3A1FD2-A309-BCF9-7BE4-43431B219C72}"/>
              </a:ext>
            </a:extLst>
          </p:cNvPr>
          <p:cNvSpPr txBox="1"/>
          <p:nvPr/>
        </p:nvSpPr>
        <p:spPr>
          <a:xfrm>
            <a:off x="251520" y="1052736"/>
            <a:ext cx="6984776" cy="49244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一、转子不转时异步电动机内的电磁关系</a:t>
            </a:r>
          </a:p>
        </p:txBody>
      </p:sp>
      <p:graphicFrame>
        <p:nvGraphicFramePr>
          <p:cNvPr id="4" name="对象 3">
            <a:extLst>
              <a:ext uri="{FF2B5EF4-FFF2-40B4-BE49-F238E27FC236}">
                <a16:creationId xmlns:a16="http://schemas.microsoft.com/office/drawing/2014/main" id="{B67F2620-8E45-E93E-979A-C24753C3B44A}"/>
              </a:ext>
            </a:extLst>
          </p:cNvPr>
          <p:cNvGraphicFramePr>
            <a:graphicFrameLocks noChangeAspect="1"/>
          </p:cNvGraphicFramePr>
          <p:nvPr>
            <p:extLst>
              <p:ext uri="{D42A27DB-BD31-4B8C-83A1-F6EECF244321}">
                <p14:modId xmlns:p14="http://schemas.microsoft.com/office/powerpoint/2010/main" val="860122509"/>
              </p:ext>
            </p:extLst>
          </p:nvPr>
        </p:nvGraphicFramePr>
        <p:xfrm>
          <a:off x="1403648" y="1772816"/>
          <a:ext cx="6129338" cy="3667125"/>
        </p:xfrm>
        <a:graphic>
          <a:graphicData uri="http://schemas.openxmlformats.org/presentationml/2006/ole">
            <mc:AlternateContent xmlns:mc="http://schemas.openxmlformats.org/markup-compatibility/2006">
              <mc:Choice xmlns:v="urn:schemas-microsoft-com:vml" Requires="v">
                <p:oleObj r:id="rId2" imgW="2978150" imgH="1784350" progId="MSDraw">
                  <p:embed/>
                </p:oleObj>
              </mc:Choice>
              <mc:Fallback>
                <p:oleObj r:id="rId2" imgW="2978150" imgH="1784350"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1772816"/>
                        <a:ext cx="6129338" cy="3667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文本框 5">
            <a:extLst>
              <a:ext uri="{FF2B5EF4-FFF2-40B4-BE49-F238E27FC236}">
                <a16:creationId xmlns:a16="http://schemas.microsoft.com/office/drawing/2014/main" id="{0B4F7D65-4CB4-887D-8BE6-0E350FAD6D31}"/>
              </a:ext>
            </a:extLst>
          </p:cNvPr>
          <p:cNvSpPr txBox="1"/>
          <p:nvPr/>
        </p:nvSpPr>
        <p:spPr>
          <a:xfrm>
            <a:off x="467544" y="5689732"/>
            <a:ext cx="8388424" cy="430887"/>
          </a:xfrm>
          <a:prstGeom prst="rect">
            <a:avLst/>
          </a:prstGeom>
          <a:noFill/>
        </p:spPr>
        <p:txBody>
          <a:bodyPr wrap="square">
            <a:spAutoFit/>
          </a:bodyPr>
          <a:lstStyle/>
          <a:p>
            <a:r>
              <a:rPr lang="zh-CN" altLang="zh-CN" sz="2200" b="1" kern="100" dirty="0">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假定：</a:t>
            </a:r>
            <a:r>
              <a:rPr lang="zh-CN" altLang="zh-CN" sz="22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转子绕组开路、定子绕组</a:t>
            </a:r>
            <a:r>
              <a:rPr lang="en-US" altLang="zh-CN" sz="2200" b="1" kern="100" dirty="0">
                <a:solidFill>
                  <a:srgbClr val="000000"/>
                </a:solidFill>
                <a:effectLst/>
                <a:latin typeface="Times New Roman" panose="02020603050405020304" pitchFamily="18" charset="0"/>
                <a:ea typeface="黑体" panose="02010609060101010101" pitchFamily="49" charset="-122"/>
              </a:rPr>
              <a:t>U</a:t>
            </a:r>
            <a:r>
              <a:rPr lang="zh-CN" altLang="zh-CN" sz="22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相轴线和转子绕组</a:t>
            </a:r>
            <a:r>
              <a:rPr lang="en-US" altLang="zh-CN" sz="2200" b="1" kern="100" dirty="0">
                <a:solidFill>
                  <a:srgbClr val="000000"/>
                </a:solidFill>
                <a:effectLst/>
                <a:latin typeface="Times New Roman" panose="02020603050405020304" pitchFamily="18" charset="0"/>
                <a:ea typeface="黑体" panose="02010609060101010101" pitchFamily="49" charset="-122"/>
              </a:rPr>
              <a:t>u</a:t>
            </a:r>
            <a:r>
              <a:rPr lang="zh-CN" altLang="zh-CN" sz="22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相轴线重合。</a:t>
            </a:r>
            <a:endParaRPr lang="zh-CN" altLang="en-US" sz="2200" dirty="0"/>
          </a:p>
        </p:txBody>
      </p:sp>
      <p:sp>
        <p:nvSpPr>
          <p:cNvPr id="3" name="灯片编号占位符 2">
            <a:extLst>
              <a:ext uri="{FF2B5EF4-FFF2-40B4-BE49-F238E27FC236}">
                <a16:creationId xmlns:a16="http://schemas.microsoft.com/office/drawing/2014/main" id="{75006B47-3FA0-CBFC-9227-6FFD27FF7074}"/>
              </a:ext>
            </a:extLst>
          </p:cNvPr>
          <p:cNvSpPr>
            <a:spLocks noGrp="1"/>
          </p:cNvSpPr>
          <p:nvPr>
            <p:ph type="sldNum" sz="quarter" idx="12"/>
          </p:nvPr>
        </p:nvSpPr>
        <p:spPr/>
        <p:txBody>
          <a:bodyPr/>
          <a:lstStyle/>
          <a:p>
            <a:fld id="{76D830B0-DF59-4281-898F-AF208100B213}" type="slidenum">
              <a:rPr lang="en-US" altLang="zh-CN" smtClean="0"/>
              <a:pPr/>
              <a:t>52</a:t>
            </a:fld>
            <a:endParaRPr lang="en-US" altLang="zh-CN"/>
          </a:p>
        </p:txBody>
      </p:sp>
    </p:spTree>
    <p:extLst>
      <p:ext uri="{BB962C8B-B14F-4D97-AF65-F5344CB8AC3E}">
        <p14:creationId xmlns:p14="http://schemas.microsoft.com/office/powerpoint/2010/main" val="38025425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7C3A1FD2-A309-BCF9-7BE4-43431B219C72}"/>
              </a:ext>
            </a:extLst>
          </p:cNvPr>
          <p:cNvSpPr txBox="1"/>
          <p:nvPr/>
        </p:nvSpPr>
        <p:spPr>
          <a:xfrm>
            <a:off x="251520" y="1052736"/>
            <a:ext cx="6408712" cy="492443"/>
          </a:xfrm>
          <a:prstGeom prst="rect">
            <a:avLst/>
          </a:prstGeom>
          <a:noFill/>
        </p:spPr>
        <p:txBody>
          <a:bodyPr wrap="square">
            <a:spAutoFit/>
          </a:bodyPr>
          <a:lstStyle/>
          <a:p>
            <a:pPr eaLnBrk="0" hangingPunct="0"/>
            <a:r>
              <a:rPr lang="en-US" altLang="zh-CN"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1</a:t>
            </a: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a:t>
            </a:r>
            <a:r>
              <a:rPr lang="zh-CN" altLang="zh-CN" sz="2400" b="1" kern="100" dirty="0">
                <a:solidFill>
                  <a:srgbClr val="0000FF"/>
                </a:solidFill>
                <a:effectLst/>
                <a:latin typeface="Times New Roman" panose="02020603050405020304" pitchFamily="18" charset="0"/>
                <a:ea typeface="黑体" panose="02010609060101010101" pitchFamily="49" charset="-122"/>
              </a:rPr>
              <a:t>转子绕组开路时定子电势和转子电势</a:t>
            </a:r>
            <a:endParaRPr lang="zh-CN" altLang="zh-CN" sz="1800" b="1" kern="100" dirty="0">
              <a:solidFill>
                <a:srgbClr val="0000FF"/>
              </a:solidFill>
              <a:effectLst/>
              <a:latin typeface="Times New Roman" panose="02020603050405020304" pitchFamily="18" charset="0"/>
              <a:ea typeface="黑体" panose="02010609060101010101" pitchFamily="49" charset="-122"/>
            </a:endParaRPr>
          </a:p>
        </p:txBody>
      </p:sp>
      <p:sp>
        <p:nvSpPr>
          <p:cNvPr id="6" name="文本框 5">
            <a:extLst>
              <a:ext uri="{FF2B5EF4-FFF2-40B4-BE49-F238E27FC236}">
                <a16:creationId xmlns:a16="http://schemas.microsoft.com/office/drawing/2014/main" id="{96347D91-B0D2-759F-FA4E-A8E499B6FE7B}"/>
              </a:ext>
            </a:extLst>
          </p:cNvPr>
          <p:cNvSpPr txBox="1"/>
          <p:nvPr/>
        </p:nvSpPr>
        <p:spPr>
          <a:xfrm>
            <a:off x="503548" y="1705485"/>
            <a:ext cx="7812868" cy="3883755"/>
          </a:xfrm>
          <a:prstGeom prst="rect">
            <a:avLst/>
          </a:prstGeom>
          <a:noFill/>
        </p:spPr>
        <p:txBody>
          <a:bodyPr wrap="square">
            <a:spAutoFit/>
          </a:bodyPr>
          <a:lstStyle/>
          <a:p>
            <a:pPr>
              <a:lnSpc>
                <a:spcPct val="150000"/>
              </a:lnSpc>
            </a:pPr>
            <a:r>
              <a:rPr lang="zh-CN" altLang="en-US"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当</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定子绕组接三相交流电源</a:t>
            </a:r>
            <a:r>
              <a:rPr lang="zh-CN" altLang="en-US"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则：</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定子绕组中产生三相对称正弦电流  （空载电流），形成旋转磁势   ，建立沿气隙正弦分布、幅值固定的气隙旋转磁场，</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旋转速度为</a:t>
            </a:r>
            <a:r>
              <a:rPr kumimoji="0" lang="en-US" altLang="zh-CN" sz="2400" b="1"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n0 </a:t>
            </a:r>
            <a:r>
              <a:rPr kumimoji="0" lang="en-US" altLang="zh-CN" sz="2400" b="1" i="1"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2400" b="1"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60f/p</a:t>
            </a:r>
            <a:r>
              <a:rPr kumimoji="0" lang="zh-CN" altLang="en-US" sz="2400" b="1"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sz="2400" b="1"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 </a:t>
            </a:r>
            <a:r>
              <a:rPr kumimoji="0" lang="zh-CN" altLang="en-US" sz="2400" b="1"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旋转磁场在定、转子绕组中感生频率均为</a:t>
            </a:r>
            <a:r>
              <a:rPr kumimoji="0" lang="en-US" altLang="zh-CN" sz="2400" b="1"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f</a:t>
            </a:r>
            <a:r>
              <a:rPr kumimoji="0" lang="zh-CN" altLang="en-US" sz="2400" b="1"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的正弦电动势           </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 </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假定定子、转子绕组轴线重合，则两电动势同相；</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4) </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转子绕组开路，转子绕组无电流，不能形成转矩，转子不转。</a:t>
            </a:r>
            <a:endPar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8" name="对象 7">
            <a:extLst>
              <a:ext uri="{FF2B5EF4-FFF2-40B4-BE49-F238E27FC236}">
                <a16:creationId xmlns:a16="http://schemas.microsoft.com/office/drawing/2014/main" id="{7FB795D2-AFFB-F2FA-456D-7D4215EFE2C7}"/>
              </a:ext>
            </a:extLst>
          </p:cNvPr>
          <p:cNvGraphicFramePr>
            <a:graphicFrameLocks noChangeAspect="1"/>
          </p:cNvGraphicFramePr>
          <p:nvPr>
            <p:extLst>
              <p:ext uri="{D42A27DB-BD31-4B8C-83A1-F6EECF244321}">
                <p14:modId xmlns:p14="http://schemas.microsoft.com/office/powerpoint/2010/main" val="1854934784"/>
              </p:ext>
            </p:extLst>
          </p:nvPr>
        </p:nvGraphicFramePr>
        <p:xfrm>
          <a:off x="3413770" y="2237917"/>
          <a:ext cx="438150" cy="547688"/>
        </p:xfrm>
        <a:graphic>
          <a:graphicData uri="http://schemas.openxmlformats.org/presentationml/2006/ole">
            <mc:AlternateContent xmlns:mc="http://schemas.openxmlformats.org/markup-compatibility/2006">
              <mc:Choice xmlns:v="urn:schemas-microsoft-com:vml" Requires="v">
                <p:oleObj name="Equation" r:id="rId2" imgW="228501" imgH="291973" progId="Equation.DSMT4">
                  <p:embed/>
                </p:oleObj>
              </mc:Choice>
              <mc:Fallback>
                <p:oleObj name="Equation" r:id="rId2" imgW="228501" imgH="291973"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3770" y="2237917"/>
                        <a:ext cx="438150"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a:extLst>
              <a:ext uri="{FF2B5EF4-FFF2-40B4-BE49-F238E27FC236}">
                <a16:creationId xmlns:a16="http://schemas.microsoft.com/office/drawing/2014/main" id="{411614E8-7DB0-1B3C-7B47-DBEA8357C0C7}"/>
              </a:ext>
            </a:extLst>
          </p:cNvPr>
          <p:cNvGraphicFramePr>
            <a:graphicFrameLocks noChangeAspect="1"/>
          </p:cNvGraphicFramePr>
          <p:nvPr>
            <p:extLst>
              <p:ext uri="{D42A27DB-BD31-4B8C-83A1-F6EECF244321}">
                <p14:modId xmlns:p14="http://schemas.microsoft.com/office/powerpoint/2010/main" val="3151403736"/>
              </p:ext>
            </p:extLst>
          </p:nvPr>
        </p:nvGraphicFramePr>
        <p:xfrm>
          <a:off x="7624142" y="2266492"/>
          <a:ext cx="476250" cy="519113"/>
        </p:xfrm>
        <a:graphic>
          <a:graphicData uri="http://schemas.openxmlformats.org/presentationml/2006/ole">
            <mc:AlternateContent xmlns:mc="http://schemas.openxmlformats.org/markup-compatibility/2006">
              <mc:Choice xmlns:v="urn:schemas-microsoft-com:vml" Requires="v">
                <p:oleObj name="Equation" r:id="rId4" imgW="253890" imgH="279279" progId="Equation.DSMT4">
                  <p:embed/>
                </p:oleObj>
              </mc:Choice>
              <mc:Fallback>
                <p:oleObj name="Equation" r:id="rId4" imgW="253890" imgH="279279"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4142" y="2266492"/>
                        <a:ext cx="476250"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对象 24">
            <a:extLst>
              <a:ext uri="{FF2B5EF4-FFF2-40B4-BE49-F238E27FC236}">
                <a16:creationId xmlns:a16="http://schemas.microsoft.com/office/drawing/2014/main" id="{AAB7792E-4D19-AB90-CB58-F1AF922929D8}"/>
              </a:ext>
            </a:extLst>
          </p:cNvPr>
          <p:cNvGraphicFramePr>
            <a:graphicFrameLocks noChangeAspect="1"/>
          </p:cNvGraphicFramePr>
          <p:nvPr>
            <p:extLst>
              <p:ext uri="{D42A27DB-BD31-4B8C-83A1-F6EECF244321}">
                <p14:modId xmlns:p14="http://schemas.microsoft.com/office/powerpoint/2010/main" val="957775158"/>
              </p:ext>
            </p:extLst>
          </p:nvPr>
        </p:nvGraphicFramePr>
        <p:xfrm>
          <a:off x="3420991" y="3917311"/>
          <a:ext cx="893433" cy="608459"/>
        </p:xfrm>
        <a:graphic>
          <a:graphicData uri="http://schemas.openxmlformats.org/presentationml/2006/ole">
            <mc:AlternateContent xmlns:mc="http://schemas.openxmlformats.org/markup-compatibility/2006">
              <mc:Choice xmlns:v="urn:schemas-microsoft-com:vml" Requires="v">
                <p:oleObj name="Equation" r:id="rId6" imgW="457002" imgH="317362" progId="Equation.DSMT4">
                  <p:embed/>
                </p:oleObj>
              </mc:Choice>
              <mc:Fallback>
                <p:oleObj name="Equation" r:id="rId6" imgW="457002" imgH="317362" progId="Equation.DSMT4">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0991" y="3917311"/>
                        <a:ext cx="893433" cy="608459"/>
                      </a:xfrm>
                      <a:prstGeom prst="rect">
                        <a:avLst/>
                      </a:prstGeom>
                      <a:noFill/>
                    </p:spPr>
                  </p:pic>
                </p:oleObj>
              </mc:Fallback>
            </mc:AlternateContent>
          </a:graphicData>
        </a:graphic>
      </p:graphicFrame>
      <p:sp>
        <p:nvSpPr>
          <p:cNvPr id="3" name="灯片编号占位符 2">
            <a:extLst>
              <a:ext uri="{FF2B5EF4-FFF2-40B4-BE49-F238E27FC236}">
                <a16:creationId xmlns:a16="http://schemas.microsoft.com/office/drawing/2014/main" id="{FED99E80-07E0-A3A4-23BC-788778FC1F6C}"/>
              </a:ext>
            </a:extLst>
          </p:cNvPr>
          <p:cNvSpPr>
            <a:spLocks noGrp="1"/>
          </p:cNvSpPr>
          <p:nvPr>
            <p:ph type="sldNum" sz="quarter" idx="12"/>
          </p:nvPr>
        </p:nvSpPr>
        <p:spPr/>
        <p:txBody>
          <a:bodyPr/>
          <a:lstStyle/>
          <a:p>
            <a:fld id="{76D830B0-DF59-4281-898F-AF208100B213}" type="slidenum">
              <a:rPr lang="en-US" altLang="zh-CN" smtClean="0"/>
              <a:pPr/>
              <a:t>53</a:t>
            </a:fld>
            <a:endParaRPr lang="en-US" altLang="zh-CN"/>
          </a:p>
        </p:txBody>
      </p:sp>
    </p:spTree>
    <p:extLst>
      <p:ext uri="{BB962C8B-B14F-4D97-AF65-F5344CB8AC3E}">
        <p14:creationId xmlns:p14="http://schemas.microsoft.com/office/powerpoint/2010/main" val="32319870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4B23697-7FBD-113E-3E26-CAB4D632EBBC}"/>
              </a:ext>
            </a:extLst>
          </p:cNvPr>
          <p:cNvSpPr txBox="1"/>
          <p:nvPr/>
        </p:nvSpPr>
        <p:spPr>
          <a:xfrm>
            <a:off x="467544" y="1052736"/>
            <a:ext cx="1709936" cy="461665"/>
          </a:xfrm>
          <a:prstGeom prst="rect">
            <a:avLst/>
          </a:prstGeom>
          <a:noFill/>
        </p:spPr>
        <p:txBody>
          <a:bodyPr wrap="square">
            <a:spAutoFit/>
          </a:bodyPr>
          <a:lstStyle/>
          <a:p>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定量分析</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p>
        </p:txBody>
      </p:sp>
      <p:graphicFrame>
        <p:nvGraphicFramePr>
          <p:cNvPr id="5" name="对象 4">
            <a:extLst>
              <a:ext uri="{FF2B5EF4-FFF2-40B4-BE49-F238E27FC236}">
                <a16:creationId xmlns:a16="http://schemas.microsoft.com/office/drawing/2014/main" id="{6C436711-A72C-9DDB-412D-BF18855B0E8D}"/>
              </a:ext>
            </a:extLst>
          </p:cNvPr>
          <p:cNvGraphicFramePr>
            <a:graphicFrameLocks noChangeAspect="1"/>
          </p:cNvGraphicFramePr>
          <p:nvPr>
            <p:extLst>
              <p:ext uri="{D42A27DB-BD31-4B8C-83A1-F6EECF244321}">
                <p14:modId xmlns:p14="http://schemas.microsoft.com/office/powerpoint/2010/main" val="4098971868"/>
              </p:ext>
            </p:extLst>
          </p:nvPr>
        </p:nvGraphicFramePr>
        <p:xfrm>
          <a:off x="4788026" y="1283568"/>
          <a:ext cx="4005445" cy="1525884"/>
        </p:xfrm>
        <a:graphic>
          <a:graphicData uri="http://schemas.openxmlformats.org/presentationml/2006/ole">
            <mc:AlternateContent xmlns:mc="http://schemas.openxmlformats.org/markup-compatibility/2006">
              <mc:Choice xmlns:v="urn:schemas-microsoft-com:vml" Requires="v">
                <p:oleObj r:id="rId2" imgW="3079750" imgH="1179513" progId="MSDraw">
                  <p:embed/>
                </p:oleObj>
              </mc:Choice>
              <mc:Fallback>
                <p:oleObj r:id="rId2" imgW="3079750" imgH="1179513"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6" y="1283568"/>
                        <a:ext cx="4005445" cy="1525884"/>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FC6BC736-7A89-2233-88B3-34EE3E11FDC7}"/>
              </a:ext>
            </a:extLst>
          </p:cNvPr>
          <p:cNvGraphicFramePr>
            <a:graphicFrameLocks noChangeAspect="1"/>
          </p:cNvGraphicFramePr>
          <p:nvPr>
            <p:extLst>
              <p:ext uri="{D42A27DB-BD31-4B8C-83A1-F6EECF244321}">
                <p14:modId xmlns:p14="http://schemas.microsoft.com/office/powerpoint/2010/main" val="1090054368"/>
              </p:ext>
            </p:extLst>
          </p:nvPr>
        </p:nvGraphicFramePr>
        <p:xfrm>
          <a:off x="2411760" y="3058833"/>
          <a:ext cx="5184576" cy="802215"/>
        </p:xfrm>
        <a:graphic>
          <a:graphicData uri="http://schemas.openxmlformats.org/presentationml/2006/ole">
            <mc:AlternateContent xmlns:mc="http://schemas.openxmlformats.org/markup-compatibility/2006">
              <mc:Choice xmlns:v="urn:schemas-microsoft-com:vml" Requires="v">
                <p:oleObj name="Equation" r:id="rId4" imgW="2539800" imgH="393480" progId="Equation.DSMT4">
                  <p:embed/>
                </p:oleObj>
              </mc:Choice>
              <mc:Fallback>
                <p:oleObj name="Equation" r:id="rId4" imgW="2539800" imgH="393480" progId="Equation.DSMT4">
                  <p:embed/>
                  <p:pic>
                    <p:nvPicPr>
                      <p:cNvPr id="15" name="对象 14">
                        <a:extLst>
                          <a:ext uri="{FF2B5EF4-FFF2-40B4-BE49-F238E27FC236}">
                            <a16:creationId xmlns:a16="http://schemas.microsoft.com/office/drawing/2014/main" id="{2D459658-0E93-0D68-B2E9-1253D39DB195}"/>
                          </a:ext>
                        </a:extLst>
                      </p:cNvPr>
                      <p:cNvPicPr>
                        <a:picLocks noChangeAspect="1" noChangeArrowheads="1"/>
                      </p:cNvPicPr>
                      <p:nvPr/>
                    </p:nvPicPr>
                    <p:blipFill>
                      <a:blip r:embed="rId5"/>
                      <a:srcRect/>
                      <a:stretch>
                        <a:fillRect/>
                      </a:stretch>
                    </p:blipFill>
                    <p:spPr bwMode="auto">
                      <a:xfrm>
                        <a:off x="2411760" y="3058833"/>
                        <a:ext cx="5184576" cy="802215"/>
                      </a:xfrm>
                      <a:prstGeom prst="rect">
                        <a:avLst/>
                      </a:prstGeom>
                      <a:noFill/>
                    </p:spPr>
                  </p:pic>
                </p:oleObj>
              </mc:Fallback>
            </mc:AlternateContent>
          </a:graphicData>
        </a:graphic>
      </p:graphicFrame>
      <p:graphicFrame>
        <p:nvGraphicFramePr>
          <p:cNvPr id="11" name="对象 10">
            <a:extLst>
              <a:ext uri="{FF2B5EF4-FFF2-40B4-BE49-F238E27FC236}">
                <a16:creationId xmlns:a16="http://schemas.microsoft.com/office/drawing/2014/main" id="{03E4D9AA-4088-6D9B-5D9B-407C60DF50B5}"/>
              </a:ext>
            </a:extLst>
          </p:cNvPr>
          <p:cNvGraphicFramePr>
            <a:graphicFrameLocks noChangeAspect="1"/>
          </p:cNvGraphicFramePr>
          <p:nvPr>
            <p:extLst>
              <p:ext uri="{D42A27DB-BD31-4B8C-83A1-F6EECF244321}">
                <p14:modId xmlns:p14="http://schemas.microsoft.com/office/powerpoint/2010/main" val="1729295261"/>
              </p:ext>
            </p:extLst>
          </p:nvPr>
        </p:nvGraphicFramePr>
        <p:xfrm>
          <a:off x="683568" y="1603929"/>
          <a:ext cx="3600400" cy="1330214"/>
        </p:xfrm>
        <a:graphic>
          <a:graphicData uri="http://schemas.openxmlformats.org/presentationml/2006/ole">
            <mc:AlternateContent xmlns:mc="http://schemas.openxmlformats.org/markup-compatibility/2006">
              <mc:Choice xmlns:v="urn:schemas-microsoft-com:vml" Requires="v">
                <p:oleObj name="Equation" r:id="rId6" imgW="1714320" imgH="634680" progId="Equation.DSMT4">
                  <p:embed/>
                </p:oleObj>
              </mc:Choice>
              <mc:Fallback>
                <p:oleObj name="Equation" r:id="rId6" imgW="1714320" imgH="634680" progId="Equation.DSMT4">
                  <p:embed/>
                  <p:pic>
                    <p:nvPicPr>
                      <p:cNvPr id="22" name="对象 21">
                        <a:extLst>
                          <a:ext uri="{FF2B5EF4-FFF2-40B4-BE49-F238E27FC236}">
                            <a16:creationId xmlns:a16="http://schemas.microsoft.com/office/drawing/2014/main" id="{A6705D36-99AD-8801-3E2A-E414C9270EE7}"/>
                          </a:ext>
                        </a:extLst>
                      </p:cNvPr>
                      <p:cNvPicPr>
                        <a:picLocks noChangeAspect="1" noChangeArrowheads="1"/>
                      </p:cNvPicPr>
                      <p:nvPr/>
                    </p:nvPicPr>
                    <p:blipFill>
                      <a:blip r:embed="rId7"/>
                      <a:srcRect/>
                      <a:stretch>
                        <a:fillRect/>
                      </a:stretch>
                    </p:blipFill>
                    <p:spPr bwMode="auto">
                      <a:xfrm>
                        <a:off x="683568" y="1603929"/>
                        <a:ext cx="3600400" cy="1330214"/>
                      </a:xfrm>
                      <a:prstGeom prst="rect">
                        <a:avLst/>
                      </a:prstGeom>
                      <a:noFill/>
                    </p:spPr>
                  </p:pic>
                </p:oleObj>
              </mc:Fallback>
            </mc:AlternateContent>
          </a:graphicData>
        </a:graphic>
      </p:graphicFrame>
      <p:sp>
        <p:nvSpPr>
          <p:cNvPr id="12" name="Rectangle 4">
            <a:extLst>
              <a:ext uri="{FF2B5EF4-FFF2-40B4-BE49-F238E27FC236}">
                <a16:creationId xmlns:a16="http://schemas.microsoft.com/office/drawing/2014/main" id="{0833A1C3-7103-8911-FF33-D9D5860C8ED4}"/>
              </a:ext>
            </a:extLst>
          </p:cNvPr>
          <p:cNvSpPr>
            <a:spLocks noChangeArrowheads="1"/>
          </p:cNvSpPr>
          <p:nvPr/>
        </p:nvSpPr>
        <p:spPr bwMode="auto">
          <a:xfrm>
            <a:off x="251520" y="3229109"/>
            <a:ext cx="24482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b="1" dirty="0">
                <a:latin typeface="黑体" panose="02010609060101010101" pitchFamily="49" charset="-122"/>
                <a:ea typeface="黑体" panose="02010609060101010101" pitchFamily="49" charset="-122"/>
                <a:cs typeface="Times New Roman" panose="02020603050405020304" pitchFamily="18" charset="0"/>
              </a:rPr>
              <a:t>忽略铁心磁阻：</a:t>
            </a:r>
            <a:endParaRPr kumimoji="0" lang="en-US" altLang="zh-CN" b="0" i="0" u="none" strike="noStrike" cap="none" normalizeH="0" baseline="0" dirty="0">
              <a:ln>
                <a:noFill/>
              </a:ln>
              <a:effectLst/>
              <a:latin typeface="Arial" panose="020B0604020202020204" pitchFamily="34" charset="0"/>
            </a:endParaRPr>
          </a:p>
        </p:txBody>
      </p:sp>
      <p:graphicFrame>
        <p:nvGraphicFramePr>
          <p:cNvPr id="18" name="对象 17">
            <a:extLst>
              <a:ext uri="{FF2B5EF4-FFF2-40B4-BE49-F238E27FC236}">
                <a16:creationId xmlns:a16="http://schemas.microsoft.com/office/drawing/2014/main" id="{23483916-F105-C97E-466B-BBFD459BF52C}"/>
              </a:ext>
            </a:extLst>
          </p:cNvPr>
          <p:cNvGraphicFramePr>
            <a:graphicFrameLocks noChangeAspect="1"/>
          </p:cNvGraphicFramePr>
          <p:nvPr>
            <p:extLst>
              <p:ext uri="{D42A27DB-BD31-4B8C-83A1-F6EECF244321}">
                <p14:modId xmlns:p14="http://schemas.microsoft.com/office/powerpoint/2010/main" val="304360356"/>
              </p:ext>
            </p:extLst>
          </p:nvPr>
        </p:nvGraphicFramePr>
        <p:xfrm>
          <a:off x="1259632" y="3919190"/>
          <a:ext cx="6822722" cy="2669761"/>
        </p:xfrm>
        <a:graphic>
          <a:graphicData uri="http://schemas.openxmlformats.org/presentationml/2006/ole">
            <mc:AlternateContent xmlns:mc="http://schemas.openxmlformats.org/markup-compatibility/2006">
              <mc:Choice xmlns:v="urn:schemas-microsoft-com:vml" Requires="v">
                <p:oleObj r:id="rId8" imgW="5026025" imgH="1952625" progId="MSDraw">
                  <p:embed/>
                </p:oleObj>
              </mc:Choice>
              <mc:Fallback>
                <p:oleObj r:id="rId8" imgW="5026025" imgH="1952625" progId="MSDraw">
                  <p:embed/>
                  <p:pic>
                    <p:nvPicPr>
                      <p:cNvPr id="4" name="对象 3">
                        <a:extLst>
                          <a:ext uri="{FF2B5EF4-FFF2-40B4-BE49-F238E27FC236}">
                            <a16:creationId xmlns:a16="http://schemas.microsoft.com/office/drawing/2014/main" id="{E30E9331-E758-0B46-4D0A-F8A189C8C17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9632" y="3919190"/>
                        <a:ext cx="6822722" cy="2669761"/>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6E111531-7E81-4405-F311-C094DC76F45A}"/>
              </a:ext>
            </a:extLst>
          </p:cNvPr>
          <p:cNvSpPr>
            <a:spLocks noGrp="1"/>
          </p:cNvSpPr>
          <p:nvPr>
            <p:ph type="sldNum" sz="quarter" idx="12"/>
          </p:nvPr>
        </p:nvSpPr>
        <p:spPr/>
        <p:txBody>
          <a:bodyPr/>
          <a:lstStyle/>
          <a:p>
            <a:fld id="{76D830B0-DF59-4281-898F-AF208100B213}" type="slidenum">
              <a:rPr lang="en-US" altLang="zh-CN" smtClean="0"/>
              <a:pPr/>
              <a:t>54</a:t>
            </a:fld>
            <a:endParaRPr lang="en-US" altLang="zh-CN"/>
          </a:p>
        </p:txBody>
      </p:sp>
    </p:spTree>
    <p:extLst>
      <p:ext uri="{BB962C8B-B14F-4D97-AF65-F5344CB8AC3E}">
        <p14:creationId xmlns:p14="http://schemas.microsoft.com/office/powerpoint/2010/main" val="11919420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F92CD97-D78E-C7D5-F135-0C4F91CD37DE}"/>
              </a:ext>
            </a:extLst>
          </p:cNvPr>
          <p:cNvSpPr>
            <a:spLocks noChangeArrowheads="1"/>
          </p:cNvSpPr>
          <p:nvPr/>
        </p:nvSpPr>
        <p:spPr bwMode="auto">
          <a:xfrm>
            <a:off x="539552" y="821470"/>
            <a:ext cx="7920880" cy="1479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3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记</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一个磁极下</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气隙磁通密度的</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平均值</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，则半电源周期中</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一根导体内感应电势的平均值为（绕组分布相对不变）：</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对象 3">
            <a:extLst>
              <a:ext uri="{FF2B5EF4-FFF2-40B4-BE49-F238E27FC236}">
                <a16:creationId xmlns:a16="http://schemas.microsoft.com/office/drawing/2014/main" id="{3097D78F-5887-831C-D760-80DD047D4ECC}"/>
              </a:ext>
            </a:extLst>
          </p:cNvPr>
          <p:cNvGraphicFramePr>
            <a:graphicFrameLocks noChangeAspect="1"/>
          </p:cNvGraphicFramePr>
          <p:nvPr>
            <p:extLst>
              <p:ext uri="{D42A27DB-BD31-4B8C-83A1-F6EECF244321}">
                <p14:modId xmlns:p14="http://schemas.microsoft.com/office/powerpoint/2010/main" val="1992086138"/>
              </p:ext>
            </p:extLst>
          </p:nvPr>
        </p:nvGraphicFramePr>
        <p:xfrm>
          <a:off x="6156176" y="952721"/>
          <a:ext cx="598009" cy="500063"/>
        </p:xfrm>
        <a:graphic>
          <a:graphicData uri="http://schemas.openxmlformats.org/presentationml/2006/ole">
            <mc:AlternateContent xmlns:mc="http://schemas.openxmlformats.org/markup-compatibility/2006">
              <mc:Choice xmlns:v="urn:schemas-microsoft-com:vml" Requires="v">
                <p:oleObj name="Equation" r:id="rId2" imgW="253890" imgH="228501" progId="Equation.DSMT4">
                  <p:embed/>
                </p:oleObj>
              </mc:Choice>
              <mc:Fallback>
                <p:oleObj name="Equation" r:id="rId2" imgW="253890" imgH="228501"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952721"/>
                        <a:ext cx="598009" cy="500063"/>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D2824F4E-6D9D-CA65-C218-327E114D2E0E}"/>
              </a:ext>
            </a:extLst>
          </p:cNvPr>
          <p:cNvGraphicFramePr>
            <a:graphicFrameLocks noChangeAspect="1"/>
          </p:cNvGraphicFramePr>
          <p:nvPr>
            <p:extLst>
              <p:ext uri="{D42A27DB-BD31-4B8C-83A1-F6EECF244321}">
                <p14:modId xmlns:p14="http://schemas.microsoft.com/office/powerpoint/2010/main" val="1513719671"/>
              </p:ext>
            </p:extLst>
          </p:nvPr>
        </p:nvGraphicFramePr>
        <p:xfrm>
          <a:off x="3832225" y="2195513"/>
          <a:ext cx="1557338" cy="452437"/>
        </p:xfrm>
        <a:graphic>
          <a:graphicData uri="http://schemas.openxmlformats.org/presentationml/2006/ole">
            <mc:AlternateContent xmlns:mc="http://schemas.openxmlformats.org/markup-compatibility/2006">
              <mc:Choice xmlns:v="urn:schemas-microsoft-com:vml" Requires="v">
                <p:oleObj name="Equation" r:id="rId4" imgW="787400" imgH="228600" progId="Equation.DSMT4">
                  <p:embed/>
                </p:oleObj>
              </mc:Choice>
              <mc:Fallback>
                <p:oleObj name="Equation" r:id="rId4" imgW="787400" imgH="2286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32225" y="2195513"/>
                        <a:ext cx="1557338" cy="452437"/>
                      </a:xfrm>
                      <a:prstGeom prst="rect">
                        <a:avLst/>
                      </a:prstGeom>
                      <a:noFill/>
                    </p:spPr>
                  </p:pic>
                </p:oleObj>
              </mc:Fallback>
            </mc:AlternateContent>
          </a:graphicData>
        </a:graphic>
      </p:graphicFrame>
      <p:sp>
        <p:nvSpPr>
          <p:cNvPr id="9" name="Rectangle 7">
            <a:extLst>
              <a:ext uri="{FF2B5EF4-FFF2-40B4-BE49-F238E27FC236}">
                <a16:creationId xmlns:a16="http://schemas.microsoft.com/office/drawing/2014/main" id="{40B90F34-5AFA-B05A-8B01-30C8B714B9B7}"/>
              </a:ext>
            </a:extLst>
          </p:cNvPr>
          <p:cNvSpPr>
            <a:spLocks noChangeArrowheads="1"/>
          </p:cNvSpPr>
          <p:nvPr/>
        </p:nvSpPr>
        <p:spPr bwMode="auto">
          <a:xfrm>
            <a:off x="611560" y="2660524"/>
            <a:ext cx="8280920" cy="98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3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v</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为导体切割磁场的相对速度，因旋转磁场转速       </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，转过两极距所需的时间应等于周期      ，故：</a:t>
            </a:r>
          </a:p>
        </p:txBody>
      </p:sp>
      <p:graphicFrame>
        <p:nvGraphicFramePr>
          <p:cNvPr id="13" name="对象 12">
            <a:extLst>
              <a:ext uri="{FF2B5EF4-FFF2-40B4-BE49-F238E27FC236}">
                <a16:creationId xmlns:a16="http://schemas.microsoft.com/office/drawing/2014/main" id="{02FC069A-7E2A-57B0-2242-EE494599EB88}"/>
              </a:ext>
            </a:extLst>
          </p:cNvPr>
          <p:cNvGraphicFramePr>
            <a:graphicFrameLocks noChangeAspect="1"/>
          </p:cNvGraphicFramePr>
          <p:nvPr>
            <p:extLst>
              <p:ext uri="{D42A27DB-BD31-4B8C-83A1-F6EECF244321}">
                <p14:modId xmlns:p14="http://schemas.microsoft.com/office/powerpoint/2010/main" val="4044575073"/>
              </p:ext>
            </p:extLst>
          </p:nvPr>
        </p:nvGraphicFramePr>
        <p:xfrm>
          <a:off x="7316861" y="2636912"/>
          <a:ext cx="1071563" cy="685800"/>
        </p:xfrm>
        <a:graphic>
          <a:graphicData uri="http://schemas.openxmlformats.org/presentationml/2006/ole">
            <mc:AlternateContent xmlns:mc="http://schemas.openxmlformats.org/markup-compatibility/2006">
              <mc:Choice xmlns:v="urn:schemas-microsoft-com:vml" Requires="v">
                <p:oleObj name="Equation" r:id="rId6" imgW="660400" imgH="419100" progId="Equation.DSMT4">
                  <p:embed/>
                </p:oleObj>
              </mc:Choice>
              <mc:Fallback>
                <p:oleObj name="Equation" r:id="rId6" imgW="660400" imgH="4191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16861" y="2636912"/>
                        <a:ext cx="1071563" cy="685800"/>
                      </a:xfrm>
                      <a:prstGeom prst="rect">
                        <a:avLst/>
                      </a:prstGeom>
                      <a:noFill/>
                    </p:spPr>
                  </p:pic>
                </p:oleObj>
              </mc:Fallback>
            </mc:AlternateContent>
          </a:graphicData>
        </a:graphic>
      </p:graphicFrame>
      <p:graphicFrame>
        <p:nvGraphicFramePr>
          <p:cNvPr id="15" name="对象 14">
            <a:extLst>
              <a:ext uri="{FF2B5EF4-FFF2-40B4-BE49-F238E27FC236}">
                <a16:creationId xmlns:a16="http://schemas.microsoft.com/office/drawing/2014/main" id="{C3F77EF1-8904-A2A7-5B30-C6E07DBDB614}"/>
              </a:ext>
            </a:extLst>
          </p:cNvPr>
          <p:cNvGraphicFramePr>
            <a:graphicFrameLocks noChangeAspect="1"/>
          </p:cNvGraphicFramePr>
          <p:nvPr>
            <p:extLst>
              <p:ext uri="{D42A27DB-BD31-4B8C-83A1-F6EECF244321}">
                <p14:modId xmlns:p14="http://schemas.microsoft.com/office/powerpoint/2010/main" val="1671822767"/>
              </p:ext>
            </p:extLst>
          </p:nvPr>
        </p:nvGraphicFramePr>
        <p:xfrm>
          <a:off x="5364088" y="3234531"/>
          <a:ext cx="955026" cy="410493"/>
        </p:xfrm>
        <a:graphic>
          <a:graphicData uri="http://schemas.openxmlformats.org/presentationml/2006/ole">
            <mc:AlternateContent xmlns:mc="http://schemas.openxmlformats.org/markup-compatibility/2006">
              <mc:Choice xmlns:v="urn:schemas-microsoft-com:vml" Requires="v">
                <p:oleObj name="Equation" r:id="rId8" imgW="507960" imgH="215640" progId="Equation.DSMT4">
                  <p:embed/>
                </p:oleObj>
              </mc:Choice>
              <mc:Fallback>
                <p:oleObj name="Equation" r:id="rId8" imgW="507960" imgH="215640" progId="Equation.DSMT4">
                  <p:embed/>
                  <p:pic>
                    <p:nvPicPr>
                      <p:cNvPr id="0" name="Object 10"/>
                      <p:cNvPicPr>
                        <a:picLocks noChangeAspect="1" noChangeArrowheads="1"/>
                      </p:cNvPicPr>
                      <p:nvPr/>
                    </p:nvPicPr>
                    <p:blipFill>
                      <a:blip r:embed="rId9"/>
                      <a:srcRect/>
                      <a:stretch>
                        <a:fillRect/>
                      </a:stretch>
                    </p:blipFill>
                    <p:spPr bwMode="auto">
                      <a:xfrm>
                        <a:off x="5364088" y="3234531"/>
                        <a:ext cx="955026" cy="410493"/>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F7CD4B15-C716-50D8-33F1-F120227B2D99}"/>
              </a:ext>
            </a:extLst>
          </p:cNvPr>
          <p:cNvGraphicFramePr>
            <a:graphicFrameLocks noChangeAspect="1"/>
          </p:cNvGraphicFramePr>
          <p:nvPr>
            <p:extLst>
              <p:ext uri="{D42A27DB-BD31-4B8C-83A1-F6EECF244321}">
                <p14:modId xmlns:p14="http://schemas.microsoft.com/office/powerpoint/2010/main" val="532527430"/>
              </p:ext>
            </p:extLst>
          </p:nvPr>
        </p:nvGraphicFramePr>
        <p:xfrm>
          <a:off x="3619500" y="3616743"/>
          <a:ext cx="1995488" cy="1009650"/>
        </p:xfrm>
        <a:graphic>
          <a:graphicData uri="http://schemas.openxmlformats.org/presentationml/2006/ole">
            <mc:AlternateContent xmlns:mc="http://schemas.openxmlformats.org/markup-compatibility/2006">
              <mc:Choice xmlns:v="urn:schemas-microsoft-com:vml" Requires="v">
                <p:oleObj name="Equation" r:id="rId10" imgW="875920" imgH="444307" progId="Equation.DSMT4">
                  <p:embed/>
                </p:oleObj>
              </mc:Choice>
              <mc:Fallback>
                <p:oleObj name="Equation" r:id="rId10" imgW="875920" imgH="444307"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19500" y="3616743"/>
                        <a:ext cx="1995488" cy="1009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箭头: 右 19">
            <a:extLst>
              <a:ext uri="{FF2B5EF4-FFF2-40B4-BE49-F238E27FC236}">
                <a16:creationId xmlns:a16="http://schemas.microsoft.com/office/drawing/2014/main" id="{716D4170-4E1B-A72D-D6B7-11DE373F4562}"/>
              </a:ext>
            </a:extLst>
          </p:cNvPr>
          <p:cNvSpPr/>
          <p:nvPr/>
        </p:nvSpPr>
        <p:spPr>
          <a:xfrm>
            <a:off x="1329801" y="4797152"/>
            <a:ext cx="648072"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2" name="对象 21">
                <a:extLst>
                  <a:ext uri="{FF2B5EF4-FFF2-40B4-BE49-F238E27FC236}">
                    <a16:creationId xmlns:a16="http://schemas.microsoft.com/office/drawing/2014/main" id="{0237AAF6-DA3A-9268-ED93-20FFB49D5673}"/>
                  </a:ext>
                </a:extLst>
              </p:cNvPr>
              <p:cNvSpPr txBox="1"/>
              <p:nvPr/>
            </p:nvSpPr>
            <p:spPr bwMode="auto">
              <a:xfrm>
                <a:off x="2284413" y="4569904"/>
                <a:ext cx="4665662" cy="808037"/>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400" i="1" smtClean="0">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𝐸</m:t>
                          </m:r>
                        </m:e>
                        <m:sub>
                          <m:r>
                            <m:rPr>
                              <m:nor/>
                            </m:rPr>
                            <a:rPr lang="zh-CN" altLang="en-US" sz="2400" i="0">
                              <a:solidFill>
                                <a:srgbClr val="000000"/>
                              </a:solidFill>
                              <a:latin typeface="Cambria Math" panose="02040503050406030204" pitchFamily="18" charset="0"/>
                            </a:rPr>
                            <m:t>av</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𝐵</m:t>
                          </m:r>
                        </m:e>
                        <m:sub>
                          <m:r>
                            <m:rPr>
                              <m:nor/>
                            </m:rPr>
                            <a:rPr lang="zh-CN" altLang="en-US" sz="2400" i="0">
                              <a:solidFill>
                                <a:srgbClr val="000000"/>
                              </a:solidFill>
                              <a:latin typeface="Cambria Math" panose="02040503050406030204" pitchFamily="18" charset="0"/>
                            </a:rPr>
                            <m:t>av</m:t>
                          </m:r>
                        </m:sub>
                      </m:sSub>
                      <m:r>
                        <a:rPr lang="zh-CN" altLang="en-US" sz="2400" i="1">
                          <a:solidFill>
                            <a:srgbClr val="000000"/>
                          </a:solidFill>
                          <a:latin typeface="Cambria Math" panose="02040503050406030204" pitchFamily="18" charset="0"/>
                        </a:rPr>
                        <m:t>𝑙𝑣</m:t>
                      </m:r>
                      <m:r>
                        <a:rPr lang="zh-CN" altLang="en-US" sz="2400" i="1">
                          <a:solidFill>
                            <a:srgbClr val="000000"/>
                          </a:solidFill>
                          <a:latin typeface="Cambria Math" panose="02040503050406030204" pitchFamily="18" charset="0"/>
                        </a:rPr>
                        <m:t>=2</m:t>
                      </m:r>
                      <m:r>
                        <m:rPr>
                          <m:sty m:val="p"/>
                        </m:rPr>
                        <a:rPr lang="zh-CN" altLang="en-US" sz="2400" i="0">
                          <a:solidFill>
                            <a:srgbClr val="000000"/>
                          </a:solidFill>
                          <a:latin typeface="Cambria Math" panose="02040503050406030204" pitchFamily="18" charset="0"/>
                        </a:rPr>
                        <m:t>f</m:t>
                      </m:r>
                      <m:d>
                        <m:dPr>
                          <m:ctrlPr>
                            <a:rPr lang="zh-CN" altLang="en-US" sz="2400" i="1">
                              <a:solidFill>
                                <a:srgbClr val="000000"/>
                              </a:solidFill>
                              <a:latin typeface="Cambria Math" panose="02040503050406030204" pitchFamily="18" charset="0"/>
                            </a:rPr>
                          </m:ctrlPr>
                        </m:dP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𝐵</m:t>
                              </m:r>
                            </m:e>
                            <m:sub>
                              <m:r>
                                <m:rPr>
                                  <m:nor/>
                                </m:rPr>
                                <a:rPr lang="zh-CN" altLang="en-US" sz="2400" i="0">
                                  <a:solidFill>
                                    <a:srgbClr val="000000"/>
                                  </a:solidFill>
                                  <a:latin typeface="Cambria Math" panose="02040503050406030204" pitchFamily="18" charset="0"/>
                                </a:rPr>
                                <m:t>av</m:t>
                              </m:r>
                            </m:sub>
                          </m:sSub>
                          <m:r>
                            <a:rPr lang="zh-CN" altLang="en-US" sz="2400" i="1">
                              <a:solidFill>
                                <a:srgbClr val="000000"/>
                              </a:solidFill>
                              <a:latin typeface="Cambria Math" panose="02040503050406030204" pitchFamily="18" charset="0"/>
                            </a:rPr>
                            <m:t>𝑙</m:t>
                          </m:r>
                          <m:r>
                            <a:rPr lang="zh-CN" altLang="en-US" sz="2400" i="1">
                              <a:solidFill>
                                <a:srgbClr val="000000"/>
                              </a:solidFill>
                              <a:latin typeface="Cambria Math" panose="02040503050406030204" pitchFamily="18" charset="0"/>
                            </a:rPr>
                            <m:t>𝜏</m:t>
                          </m:r>
                        </m:e>
                      </m:d>
                      <m:limUpp>
                        <m:limUppPr>
                          <m:ctrlPr>
                            <a:rPr lang="zh-CN" altLang="en-US" sz="2400" i="1">
                              <a:solidFill>
                                <a:srgbClr val="000000"/>
                              </a:solidFill>
                              <a:latin typeface="Cambria Math" panose="02040503050406030204" pitchFamily="18" charset="0"/>
                            </a:rPr>
                          </m:ctrlPr>
                        </m:limUppPr>
                        <m:e>
                          <m:r>
                            <a:rPr lang="zh-CN" altLang="en-US" sz="2400" i="1">
                              <a:solidFill>
                                <a:srgbClr val="000000"/>
                              </a:solidFill>
                              <a:latin typeface="Cambria Math" panose="02040503050406030204" pitchFamily="18" charset="0"/>
                            </a:rPr>
                            <m:t>＝</m:t>
                          </m:r>
                        </m:e>
                        <m:lim>
                          <m:r>
                            <m:rPr>
                              <m:sty m:val="p"/>
                            </m:rPr>
                            <a:rPr lang="zh-CN" altLang="en-US" sz="2400" i="1">
                              <a:solidFill>
                                <a:srgbClr val="000000"/>
                              </a:solidFill>
                              <a:latin typeface="Cambria Math" panose="02040503050406030204" pitchFamily="18" charset="0"/>
                            </a:rPr>
                            <m:t>Δ</m:t>
                          </m:r>
                        </m:lim>
                      </m:limUpp>
                      <m:r>
                        <a:rPr lang="zh-CN" altLang="en-US" sz="2400" i="1">
                          <a:solidFill>
                            <a:srgbClr val="000000"/>
                          </a:solidFill>
                          <a:latin typeface="Cambria Math" panose="02040503050406030204" pitchFamily="18" charset="0"/>
                        </a:rPr>
                        <m:t>2</m:t>
                      </m:r>
                      <m:r>
                        <m:rPr>
                          <m:sty m:val="p"/>
                        </m:rPr>
                        <a:rPr lang="zh-CN" altLang="en-US" sz="2400" i="0">
                          <a:solidFill>
                            <a:srgbClr val="000000"/>
                          </a:solidFill>
                          <a:latin typeface="Cambria Math" panose="02040503050406030204" pitchFamily="18" charset="0"/>
                        </a:rPr>
                        <m:t>f</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𝜙</m:t>
                          </m:r>
                        </m:e>
                        <m:sub>
                          <m:r>
                            <m:rPr>
                              <m:sty m:val="p"/>
                            </m:rPr>
                            <a:rPr lang="en-US" altLang="zh-CN" sz="2400" i="1">
                              <a:solidFill>
                                <a:srgbClr val="000000"/>
                              </a:solidFill>
                              <a:latin typeface="Cambria Math" panose="02040503050406030204" pitchFamily="18" charset="0"/>
                            </a:rPr>
                            <m:t>av</m:t>
                          </m:r>
                        </m:sub>
                      </m:sSub>
                    </m:oMath>
                  </m:oMathPara>
                </a14:m>
                <a:endParaRPr lang="zh-CN" altLang="en-US" sz="2400" dirty="0"/>
              </a:p>
            </p:txBody>
          </p:sp>
        </mc:Choice>
        <mc:Fallback xmlns="">
          <p:sp>
            <p:nvSpPr>
              <p:cNvPr id="22" name="对象 21">
                <a:extLst>
                  <a:ext uri="{FF2B5EF4-FFF2-40B4-BE49-F238E27FC236}">
                    <a16:creationId xmlns:a16="http://schemas.microsoft.com/office/drawing/2014/main" id="{0237AAF6-DA3A-9268-ED93-20FFB49D5673}"/>
                  </a:ext>
                </a:extLst>
              </p:cNvPr>
              <p:cNvSpPr txBox="1">
                <a:spLocks noRot="1" noChangeAspect="1" noMove="1" noResize="1" noEditPoints="1" noAdjustHandles="1" noChangeArrowheads="1" noChangeShapeType="1" noTextEdit="1"/>
              </p:cNvSpPr>
              <p:nvPr/>
            </p:nvSpPr>
            <p:spPr bwMode="auto">
              <a:xfrm>
                <a:off x="2284413" y="4569904"/>
                <a:ext cx="4665662" cy="808037"/>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对象 23">
                <a:extLst>
                  <a:ext uri="{FF2B5EF4-FFF2-40B4-BE49-F238E27FC236}">
                    <a16:creationId xmlns:a16="http://schemas.microsoft.com/office/drawing/2014/main" id="{DFE6AFAD-22CD-C14F-77C9-0E77EB2D0F85}"/>
                  </a:ext>
                </a:extLst>
              </p:cNvPr>
              <p:cNvSpPr txBox="1"/>
              <p:nvPr/>
            </p:nvSpPr>
            <p:spPr bwMode="auto">
              <a:xfrm>
                <a:off x="367695" y="5519253"/>
                <a:ext cx="1926555" cy="708049"/>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𝐵</m:t>
                          </m:r>
                        </m:e>
                        <m:sub>
                          <m:r>
                            <m:rPr>
                              <m:nor/>
                            </m:rPr>
                            <a:rPr lang="zh-CN" altLang="en-US" sz="2400" i="0">
                              <a:solidFill>
                                <a:srgbClr val="000000"/>
                              </a:solidFill>
                              <a:latin typeface="Cambria Math" panose="02040503050406030204" pitchFamily="18" charset="0"/>
                            </a:rPr>
                            <m:t>av</m:t>
                          </m:r>
                        </m:sub>
                      </m:sSub>
                      <m:r>
                        <a:rPr lang="zh-CN" altLang="en-US" sz="2400" i="1">
                          <a:solidFill>
                            <a:srgbClr val="000000"/>
                          </a:solidFill>
                          <a:latin typeface="Cambria Math" panose="02040503050406030204" pitchFamily="18" charset="0"/>
                        </a:rPr>
                        <m:t>𝑙</m:t>
                      </m:r>
                      <m:r>
                        <a:rPr lang="zh-CN" altLang="en-US" sz="2400" i="1">
                          <a:solidFill>
                            <a:srgbClr val="000000"/>
                          </a:solidFill>
                          <a:latin typeface="Cambria Math" panose="02040503050406030204" pitchFamily="18" charset="0"/>
                        </a:rPr>
                        <m:t>𝜏</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𝜙</m:t>
                          </m:r>
                        </m:e>
                        <m:sub>
                          <m:r>
                            <m:rPr>
                              <m:sty m:val="p"/>
                            </m:rPr>
                            <a:rPr lang="en-US" altLang="zh-CN" sz="2400" i="1">
                              <a:solidFill>
                                <a:srgbClr val="000000"/>
                              </a:solidFill>
                              <a:latin typeface="Cambria Math" panose="02040503050406030204" pitchFamily="18" charset="0"/>
                            </a:rPr>
                            <m:t>av</m:t>
                          </m:r>
                        </m:sub>
                      </m:sSub>
                    </m:oMath>
                  </m:oMathPara>
                </a14:m>
                <a:endParaRPr lang="zh-CN" altLang="en-US" sz="2400" dirty="0"/>
              </a:p>
            </p:txBody>
          </p:sp>
        </mc:Choice>
        <mc:Fallback xmlns="">
          <p:sp>
            <p:nvSpPr>
              <p:cNvPr id="24" name="对象 23">
                <a:extLst>
                  <a:ext uri="{FF2B5EF4-FFF2-40B4-BE49-F238E27FC236}">
                    <a16:creationId xmlns:a16="http://schemas.microsoft.com/office/drawing/2014/main" id="{DFE6AFAD-22CD-C14F-77C9-0E77EB2D0F85}"/>
                  </a:ext>
                </a:extLst>
              </p:cNvPr>
              <p:cNvSpPr txBox="1">
                <a:spLocks noRot="1" noChangeAspect="1" noMove="1" noResize="1" noEditPoints="1" noAdjustHandles="1" noChangeArrowheads="1" noChangeShapeType="1" noTextEdit="1"/>
              </p:cNvSpPr>
              <p:nvPr/>
            </p:nvSpPr>
            <p:spPr bwMode="auto">
              <a:xfrm>
                <a:off x="367695" y="5519253"/>
                <a:ext cx="1926555" cy="708049"/>
              </a:xfrm>
              <a:prstGeom prst="rect">
                <a:avLst/>
              </a:prstGeom>
              <a:blipFill>
                <a:blip r:embed="rId13"/>
                <a:stretch>
                  <a:fillRect l="-633"/>
                </a:stretch>
              </a:blipFill>
            </p:spPr>
            <p:txBody>
              <a:bodyPr/>
              <a:lstStyle/>
              <a:p>
                <a:r>
                  <a:rPr lang="zh-CN" altLang="en-US">
                    <a:noFill/>
                  </a:rPr>
                  <a:t> </a:t>
                </a:r>
              </a:p>
            </p:txBody>
          </p:sp>
        </mc:Fallback>
      </mc:AlternateContent>
      <p:sp>
        <p:nvSpPr>
          <p:cNvPr id="25" name="Rectangle 17">
            <a:extLst>
              <a:ext uri="{FF2B5EF4-FFF2-40B4-BE49-F238E27FC236}">
                <a16:creationId xmlns:a16="http://schemas.microsoft.com/office/drawing/2014/main" id="{035BD87B-651D-C90E-A4AF-18B627C950ED}"/>
              </a:ext>
            </a:extLst>
          </p:cNvPr>
          <p:cNvSpPr>
            <a:spLocks noChangeArrowheads="1"/>
          </p:cNvSpPr>
          <p:nvPr/>
        </p:nvSpPr>
        <p:spPr bwMode="auto">
          <a:xfrm>
            <a:off x="1951870" y="5528845"/>
            <a:ext cx="682443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a:t>
            </a:r>
            <a:r>
              <a:rPr kumimoji="0" lang="zh-CN" altLang="zh-CN" sz="2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一个磁极下气隙中的总磁通</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每极气隙磁通</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5" name="灯片编号占位符 4">
            <a:extLst>
              <a:ext uri="{FF2B5EF4-FFF2-40B4-BE49-F238E27FC236}">
                <a16:creationId xmlns:a16="http://schemas.microsoft.com/office/drawing/2014/main" id="{65646688-2863-BC93-A0F3-BF55030B3617}"/>
              </a:ext>
            </a:extLst>
          </p:cNvPr>
          <p:cNvSpPr>
            <a:spLocks noGrp="1"/>
          </p:cNvSpPr>
          <p:nvPr>
            <p:ph type="sldNum" sz="quarter" idx="12"/>
          </p:nvPr>
        </p:nvSpPr>
        <p:spPr/>
        <p:txBody>
          <a:bodyPr/>
          <a:lstStyle/>
          <a:p>
            <a:fld id="{76D830B0-DF59-4281-898F-AF208100B213}" type="slidenum">
              <a:rPr lang="en-US" altLang="zh-CN" smtClean="0"/>
              <a:pPr/>
              <a:t>55</a:t>
            </a:fld>
            <a:endParaRPr lang="en-US" altLang="zh-CN"/>
          </a:p>
        </p:txBody>
      </p:sp>
    </p:spTree>
    <p:extLst>
      <p:ext uri="{BB962C8B-B14F-4D97-AF65-F5344CB8AC3E}">
        <p14:creationId xmlns:p14="http://schemas.microsoft.com/office/powerpoint/2010/main" val="35212400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F361C948-DF69-E602-9046-5912341517DF}"/>
              </a:ext>
            </a:extLst>
          </p:cNvPr>
          <p:cNvGraphicFramePr>
            <a:graphicFrameLocks noChangeAspect="1"/>
          </p:cNvGraphicFramePr>
          <p:nvPr>
            <p:extLst>
              <p:ext uri="{D42A27DB-BD31-4B8C-83A1-F6EECF244321}">
                <p14:modId xmlns:p14="http://schemas.microsoft.com/office/powerpoint/2010/main" val="3931341648"/>
              </p:ext>
            </p:extLst>
          </p:nvPr>
        </p:nvGraphicFramePr>
        <p:xfrm>
          <a:off x="6342633" y="1101378"/>
          <a:ext cx="533623" cy="409958"/>
        </p:xfrm>
        <a:graphic>
          <a:graphicData uri="http://schemas.openxmlformats.org/presentationml/2006/ole">
            <mc:AlternateContent xmlns:mc="http://schemas.openxmlformats.org/markup-compatibility/2006">
              <mc:Choice xmlns:v="urn:schemas-microsoft-com:vml" Requires="v">
                <p:oleObj name="Equation" r:id="rId2" imgW="279360" imgH="215640" progId="Equation.DSMT4">
                  <p:embed/>
                </p:oleObj>
              </mc:Choice>
              <mc:Fallback>
                <p:oleObj name="Equation" r:id="rId2" imgW="279360" imgH="215640" progId="Equation.DSMT4">
                  <p:embed/>
                  <p:pic>
                    <p:nvPicPr>
                      <p:cNvPr id="0" name="Object 2"/>
                      <p:cNvPicPr>
                        <a:picLocks noChangeAspect="1" noChangeArrowheads="1"/>
                      </p:cNvPicPr>
                      <p:nvPr/>
                    </p:nvPicPr>
                    <p:blipFill>
                      <a:blip r:embed="rId3"/>
                      <a:srcRect/>
                      <a:stretch>
                        <a:fillRect/>
                      </a:stretch>
                    </p:blipFill>
                    <p:spPr bwMode="auto">
                      <a:xfrm>
                        <a:off x="6342633" y="1101378"/>
                        <a:ext cx="533623" cy="409958"/>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77EC321D-395F-E375-9209-79D08178DEF6}"/>
              </a:ext>
            </a:extLst>
          </p:cNvPr>
          <p:cNvGraphicFramePr>
            <a:graphicFrameLocks noChangeAspect="1"/>
          </p:cNvGraphicFramePr>
          <p:nvPr>
            <p:extLst>
              <p:ext uri="{D42A27DB-BD31-4B8C-83A1-F6EECF244321}">
                <p14:modId xmlns:p14="http://schemas.microsoft.com/office/powerpoint/2010/main" val="2598718942"/>
              </p:ext>
            </p:extLst>
          </p:nvPr>
        </p:nvGraphicFramePr>
        <p:xfrm>
          <a:off x="2719214" y="1556792"/>
          <a:ext cx="628650" cy="430213"/>
        </p:xfrm>
        <a:graphic>
          <a:graphicData uri="http://schemas.openxmlformats.org/presentationml/2006/ole">
            <mc:AlternateContent xmlns:mc="http://schemas.openxmlformats.org/markup-compatibility/2006">
              <mc:Choice xmlns:v="urn:schemas-microsoft-com:vml" Requires="v">
                <p:oleObj name="Equation" r:id="rId4" imgW="355320" imgH="241200" progId="Equation.DSMT4">
                  <p:embed/>
                </p:oleObj>
              </mc:Choice>
              <mc:Fallback>
                <p:oleObj name="Equation" r:id="rId4" imgW="355320" imgH="241200" progId="Equation.DSMT4">
                  <p:embed/>
                  <p:pic>
                    <p:nvPicPr>
                      <p:cNvPr id="0" name="Object 1"/>
                      <p:cNvPicPr>
                        <a:picLocks noChangeAspect="1" noChangeArrowheads="1"/>
                      </p:cNvPicPr>
                      <p:nvPr/>
                    </p:nvPicPr>
                    <p:blipFill>
                      <a:blip r:embed="rId5"/>
                      <a:srcRect/>
                      <a:stretch>
                        <a:fillRect/>
                      </a:stretch>
                    </p:blipFill>
                    <p:spPr bwMode="auto">
                      <a:xfrm>
                        <a:off x="2719214" y="1556792"/>
                        <a:ext cx="628650"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3">
            <a:extLst>
              <a:ext uri="{FF2B5EF4-FFF2-40B4-BE49-F238E27FC236}">
                <a16:creationId xmlns:a16="http://schemas.microsoft.com/office/drawing/2014/main" id="{DADF6F18-FEC9-589C-B9C6-CD0132175A63}"/>
              </a:ext>
            </a:extLst>
          </p:cNvPr>
          <p:cNvSpPr>
            <a:spLocks noChangeArrowheads="1"/>
          </p:cNvSpPr>
          <p:nvPr/>
        </p:nvSpPr>
        <p:spPr bwMode="auto">
          <a:xfrm>
            <a:off x="429770" y="987692"/>
            <a:ext cx="7920880" cy="99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lnSpc>
                <a:spcPct val="130000"/>
              </a:lnSpc>
            </a:pP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因正弦函数（半波）最大值是平均值的</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倍，</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且</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有效值是最大值的</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，故</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一根导体内</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感应电势有效值：</a:t>
            </a:r>
            <a:r>
              <a:rPr kumimoji="0" lang="zh-CN" altLang="en-US" sz="400" b="0" i="0" u="none" strike="noStrike" cap="none" normalizeH="0" baseline="0" dirty="0">
                <a:ln>
                  <a:noFill/>
                </a:ln>
                <a:solidFill>
                  <a:schemeClr val="tx1"/>
                </a:solidFill>
                <a:effectLst/>
              </a:rPr>
              <a:t> </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2" name="对象 11">
            <a:extLst>
              <a:ext uri="{FF2B5EF4-FFF2-40B4-BE49-F238E27FC236}">
                <a16:creationId xmlns:a16="http://schemas.microsoft.com/office/drawing/2014/main" id="{21FDDA3F-7AE6-6C5B-8FBF-26FA167C7778}"/>
              </a:ext>
            </a:extLst>
          </p:cNvPr>
          <p:cNvGraphicFramePr>
            <a:graphicFrameLocks noChangeAspect="1"/>
          </p:cNvGraphicFramePr>
          <p:nvPr>
            <p:extLst>
              <p:ext uri="{D42A27DB-BD31-4B8C-83A1-F6EECF244321}">
                <p14:modId xmlns:p14="http://schemas.microsoft.com/office/powerpoint/2010/main" val="1644323575"/>
              </p:ext>
            </p:extLst>
          </p:nvPr>
        </p:nvGraphicFramePr>
        <p:xfrm>
          <a:off x="2646159" y="2061248"/>
          <a:ext cx="3696474" cy="929760"/>
        </p:xfrm>
        <a:graphic>
          <a:graphicData uri="http://schemas.openxmlformats.org/presentationml/2006/ole">
            <mc:AlternateContent xmlns:mc="http://schemas.openxmlformats.org/markup-compatibility/2006">
              <mc:Choice xmlns:v="urn:schemas-microsoft-com:vml" Requires="v">
                <p:oleObj name="Equation" r:id="rId6" imgW="1663700" imgH="419100" progId="Equation.DSMT4">
                  <p:embed/>
                </p:oleObj>
              </mc:Choice>
              <mc:Fallback>
                <p:oleObj name="Equation" r:id="rId6" imgW="1663700" imgH="41910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46159" y="2061248"/>
                        <a:ext cx="3696474" cy="929760"/>
                      </a:xfrm>
                      <a:prstGeom prst="rect">
                        <a:avLst/>
                      </a:prstGeom>
                      <a:noFill/>
                    </p:spPr>
                  </p:pic>
                </p:oleObj>
              </mc:Fallback>
            </mc:AlternateContent>
          </a:graphicData>
        </a:graphic>
      </p:graphicFrame>
      <p:graphicFrame>
        <p:nvGraphicFramePr>
          <p:cNvPr id="14" name="对象 13">
            <a:extLst>
              <a:ext uri="{FF2B5EF4-FFF2-40B4-BE49-F238E27FC236}">
                <a16:creationId xmlns:a16="http://schemas.microsoft.com/office/drawing/2014/main" id="{AC039DB7-B130-7932-C923-4CFB225C0ACD}"/>
              </a:ext>
            </a:extLst>
          </p:cNvPr>
          <p:cNvGraphicFramePr>
            <a:graphicFrameLocks noChangeAspect="1"/>
          </p:cNvGraphicFramePr>
          <p:nvPr>
            <p:extLst>
              <p:ext uri="{D42A27DB-BD31-4B8C-83A1-F6EECF244321}">
                <p14:modId xmlns:p14="http://schemas.microsoft.com/office/powerpoint/2010/main" val="2249484909"/>
              </p:ext>
            </p:extLst>
          </p:nvPr>
        </p:nvGraphicFramePr>
        <p:xfrm>
          <a:off x="5940152" y="3075507"/>
          <a:ext cx="528638" cy="466725"/>
        </p:xfrm>
        <a:graphic>
          <a:graphicData uri="http://schemas.openxmlformats.org/presentationml/2006/ole">
            <mc:AlternateContent xmlns:mc="http://schemas.openxmlformats.org/markup-compatibility/2006">
              <mc:Choice xmlns:v="urn:schemas-microsoft-com:vml" Requires="v">
                <p:oleObj name="Equation" r:id="rId8" imgW="253890" imgH="228501" progId="Equation.DSMT4">
                  <p:embed/>
                </p:oleObj>
              </mc:Choice>
              <mc:Fallback>
                <p:oleObj name="Equation" r:id="rId8" imgW="253890" imgH="228501"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40152" y="3075507"/>
                        <a:ext cx="528638"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0">
            <a:extLst>
              <a:ext uri="{FF2B5EF4-FFF2-40B4-BE49-F238E27FC236}">
                <a16:creationId xmlns:a16="http://schemas.microsoft.com/office/drawing/2014/main" id="{57BC4305-5A55-3AF1-B0F9-1CE1C5DDCF80}"/>
              </a:ext>
            </a:extLst>
          </p:cNvPr>
          <p:cNvSpPr>
            <a:spLocks noChangeArrowheads="1"/>
          </p:cNvSpPr>
          <p:nvPr/>
        </p:nvSpPr>
        <p:spPr bwMode="auto">
          <a:xfrm>
            <a:off x="539552" y="2996952"/>
            <a:ext cx="7776864" cy="99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3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若</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定子绕组一个线圈组的串联匝数为</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，总导体数为    ，折算为       ，其中   为定子绕组基波系数</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3" name="对象 22">
            <a:extLst>
              <a:ext uri="{FF2B5EF4-FFF2-40B4-BE49-F238E27FC236}">
                <a16:creationId xmlns:a16="http://schemas.microsoft.com/office/drawing/2014/main" id="{035C15C7-090C-4A5F-7616-90187CF51A2C}"/>
              </a:ext>
            </a:extLst>
          </p:cNvPr>
          <p:cNvGraphicFramePr>
            <a:graphicFrameLocks noChangeAspect="1"/>
          </p:cNvGraphicFramePr>
          <p:nvPr>
            <p:extLst>
              <p:ext uri="{D42A27DB-BD31-4B8C-83A1-F6EECF244321}">
                <p14:modId xmlns:p14="http://schemas.microsoft.com/office/powerpoint/2010/main" val="4021279565"/>
              </p:ext>
            </p:extLst>
          </p:nvPr>
        </p:nvGraphicFramePr>
        <p:xfrm>
          <a:off x="932284" y="3562350"/>
          <a:ext cx="687388" cy="466725"/>
        </p:xfrm>
        <a:graphic>
          <a:graphicData uri="http://schemas.openxmlformats.org/presentationml/2006/ole">
            <mc:AlternateContent xmlns:mc="http://schemas.openxmlformats.org/markup-compatibility/2006">
              <mc:Choice xmlns:v="urn:schemas-microsoft-com:vml" Requires="v">
                <p:oleObj name="Equation" r:id="rId10" imgW="330120" imgH="228600" progId="Equation.DSMT4">
                  <p:embed/>
                </p:oleObj>
              </mc:Choice>
              <mc:Fallback>
                <p:oleObj name="Equation" r:id="rId10" imgW="330120" imgH="228600" progId="Equation.DSMT4">
                  <p:embed/>
                  <p:pic>
                    <p:nvPicPr>
                      <p:cNvPr id="14" name="对象 13">
                        <a:extLst>
                          <a:ext uri="{FF2B5EF4-FFF2-40B4-BE49-F238E27FC236}">
                            <a16:creationId xmlns:a16="http://schemas.microsoft.com/office/drawing/2014/main" id="{AC039DB7-B130-7932-C923-4CFB225C0ACD}"/>
                          </a:ext>
                        </a:extLst>
                      </p:cNvPr>
                      <p:cNvPicPr>
                        <a:picLocks noChangeAspect="1" noChangeArrowheads="1"/>
                      </p:cNvPicPr>
                      <p:nvPr/>
                    </p:nvPicPr>
                    <p:blipFill>
                      <a:blip r:embed="rId11"/>
                      <a:srcRect/>
                      <a:stretch>
                        <a:fillRect/>
                      </a:stretch>
                    </p:blipFill>
                    <p:spPr bwMode="auto">
                      <a:xfrm>
                        <a:off x="932284" y="3562350"/>
                        <a:ext cx="687388"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对象 27">
            <a:extLst>
              <a:ext uri="{FF2B5EF4-FFF2-40B4-BE49-F238E27FC236}">
                <a16:creationId xmlns:a16="http://schemas.microsoft.com/office/drawing/2014/main" id="{73B9CFD2-4A21-DC8B-FE9A-F2069FADA391}"/>
              </a:ext>
            </a:extLst>
          </p:cNvPr>
          <p:cNvGraphicFramePr>
            <a:graphicFrameLocks noChangeAspect="1"/>
          </p:cNvGraphicFramePr>
          <p:nvPr>
            <p:extLst>
              <p:ext uri="{D42A27DB-BD31-4B8C-83A1-F6EECF244321}">
                <p14:modId xmlns:p14="http://schemas.microsoft.com/office/powerpoint/2010/main" val="1216418866"/>
              </p:ext>
            </p:extLst>
          </p:nvPr>
        </p:nvGraphicFramePr>
        <p:xfrm>
          <a:off x="4716016" y="3542232"/>
          <a:ext cx="542925" cy="504825"/>
        </p:xfrm>
        <a:graphic>
          <a:graphicData uri="http://schemas.openxmlformats.org/presentationml/2006/ole">
            <mc:AlternateContent xmlns:mc="http://schemas.openxmlformats.org/markup-compatibility/2006">
              <mc:Choice xmlns:v="urn:schemas-microsoft-com:vml" Requires="v">
                <p:oleObj name="Equation" r:id="rId12" imgW="241300" imgH="228600" progId="Equation.DSMT4">
                  <p:embed/>
                </p:oleObj>
              </mc:Choice>
              <mc:Fallback>
                <p:oleObj name="Equation" r:id="rId12" imgW="241300" imgH="228600" progId="Equation.DSMT4">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16016" y="3542232"/>
                        <a:ext cx="54292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对象 32">
            <a:extLst>
              <a:ext uri="{FF2B5EF4-FFF2-40B4-BE49-F238E27FC236}">
                <a16:creationId xmlns:a16="http://schemas.microsoft.com/office/drawing/2014/main" id="{2A510761-5E2A-AF01-5239-D5B2410E9F1C}"/>
              </a:ext>
            </a:extLst>
          </p:cNvPr>
          <p:cNvGraphicFramePr>
            <a:graphicFrameLocks noChangeAspect="1"/>
          </p:cNvGraphicFramePr>
          <p:nvPr>
            <p:extLst>
              <p:ext uri="{D42A27DB-BD31-4B8C-83A1-F6EECF244321}">
                <p14:modId xmlns:p14="http://schemas.microsoft.com/office/powerpoint/2010/main" val="1456805011"/>
              </p:ext>
            </p:extLst>
          </p:nvPr>
        </p:nvGraphicFramePr>
        <p:xfrm>
          <a:off x="2767658" y="3559175"/>
          <a:ext cx="1084262" cy="466725"/>
        </p:xfrm>
        <a:graphic>
          <a:graphicData uri="http://schemas.openxmlformats.org/presentationml/2006/ole">
            <mc:AlternateContent xmlns:mc="http://schemas.openxmlformats.org/markup-compatibility/2006">
              <mc:Choice xmlns:v="urn:schemas-microsoft-com:vml" Requires="v">
                <p:oleObj name="Equation" r:id="rId14" imgW="520560" imgH="228600" progId="Equation.DSMT4">
                  <p:embed/>
                </p:oleObj>
              </mc:Choice>
              <mc:Fallback>
                <p:oleObj name="Equation" r:id="rId14" imgW="520560" imgH="228600" progId="Equation.DSMT4">
                  <p:embed/>
                  <p:pic>
                    <p:nvPicPr>
                      <p:cNvPr id="23" name="对象 22">
                        <a:extLst>
                          <a:ext uri="{FF2B5EF4-FFF2-40B4-BE49-F238E27FC236}">
                            <a16:creationId xmlns:a16="http://schemas.microsoft.com/office/drawing/2014/main" id="{035C15C7-090C-4A5F-7616-90187CF51A2C}"/>
                          </a:ext>
                        </a:extLst>
                      </p:cNvPr>
                      <p:cNvPicPr>
                        <a:picLocks noChangeAspect="1" noChangeArrowheads="1"/>
                      </p:cNvPicPr>
                      <p:nvPr/>
                    </p:nvPicPr>
                    <p:blipFill>
                      <a:blip r:embed="rId15"/>
                      <a:srcRect/>
                      <a:stretch>
                        <a:fillRect/>
                      </a:stretch>
                    </p:blipFill>
                    <p:spPr bwMode="auto">
                      <a:xfrm>
                        <a:off x="2767658" y="3559175"/>
                        <a:ext cx="1084262"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文本框 34">
            <a:extLst>
              <a:ext uri="{FF2B5EF4-FFF2-40B4-BE49-F238E27FC236}">
                <a16:creationId xmlns:a16="http://schemas.microsoft.com/office/drawing/2014/main" id="{2C461217-60C7-9669-50FD-A25796CB905F}"/>
              </a:ext>
            </a:extLst>
          </p:cNvPr>
          <p:cNvSpPr txBox="1"/>
          <p:nvPr/>
        </p:nvSpPr>
        <p:spPr>
          <a:xfrm>
            <a:off x="539552" y="4037788"/>
            <a:ext cx="7776864" cy="1479444"/>
          </a:xfrm>
          <a:prstGeom prst="rect">
            <a:avLst/>
          </a:prstGeom>
          <a:noFill/>
        </p:spPr>
        <p:txBody>
          <a:bodyPr wrap="square">
            <a:spAutoFit/>
          </a:bodyPr>
          <a:lstStyle/>
          <a:p>
            <a:pPr algn="l">
              <a:lnSpc>
                <a:spcPct val="130000"/>
              </a:lnSpc>
            </a:pPr>
            <a:r>
              <a:rPr lang="en-US" altLang="zh-CN" sz="2400" b="1" kern="100" dirty="0">
                <a:solidFill>
                  <a:srgbClr val="000000"/>
                </a:solidFill>
                <a:latin typeface="Times New Roman" panose="02020603050405020304" pitchFamily="18" charset="0"/>
                <a:ea typeface="黑体" panose="02010609060101010101" pitchFamily="49" charset="-122"/>
              </a:rPr>
              <a:t>      </a:t>
            </a:r>
            <a:r>
              <a:rPr lang="zh-CN" altLang="zh-CN" sz="2400" b="1" kern="100" dirty="0">
                <a:solidFill>
                  <a:srgbClr val="000000"/>
                </a:solidFill>
                <a:effectLst/>
                <a:latin typeface="Times New Roman" panose="02020603050405020304" pitchFamily="18" charset="0"/>
                <a:ea typeface="黑体" panose="02010609060101010101" pitchFamily="49" charset="-122"/>
              </a:rPr>
              <a:t>每相绕组中串接有</a:t>
            </a:r>
            <a:r>
              <a:rPr lang="en-US" altLang="zh-CN" sz="2400" b="1" kern="100" dirty="0">
                <a:solidFill>
                  <a:srgbClr val="000000"/>
                </a:solidFill>
                <a:effectLst/>
                <a:latin typeface="Times New Roman" panose="02020603050405020304" pitchFamily="18" charset="0"/>
                <a:ea typeface="黑体" panose="02010609060101010101" pitchFamily="49" charset="-122"/>
              </a:rPr>
              <a:t>p</a:t>
            </a:r>
            <a:r>
              <a:rPr lang="zh-CN" altLang="zh-CN" sz="2400" b="1" kern="100" dirty="0">
                <a:solidFill>
                  <a:srgbClr val="000000"/>
                </a:solidFill>
                <a:effectLst/>
                <a:latin typeface="Times New Roman" panose="02020603050405020304" pitchFamily="18" charset="0"/>
                <a:ea typeface="黑体" panose="02010609060101010101" pitchFamily="49" charset="-122"/>
              </a:rPr>
              <a:t>个这样的线圈组，</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记一相定子绕组的总串联匝数</a:t>
            </a:r>
            <a:r>
              <a:rPr lang="zh-CN" altLang="en-US" sz="2400" b="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为                  ，</a:t>
            </a:r>
            <a:r>
              <a:rPr lang="zh-CN" altLang="zh-CN" sz="2400" b="1" kern="100" dirty="0">
                <a:solidFill>
                  <a:srgbClr val="000000"/>
                </a:solidFill>
                <a:effectLst/>
                <a:latin typeface="Times New Roman" panose="02020603050405020304" pitchFamily="18" charset="0"/>
                <a:ea typeface="黑体" panose="02010609060101010101" pitchFamily="49" charset="-122"/>
              </a:rPr>
              <a:t>则最后得到</a:t>
            </a: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一相</a:t>
            </a:r>
            <a:r>
              <a:rPr lang="zh-CN" altLang="zh-CN" sz="2400" b="1" kern="100" dirty="0">
                <a:solidFill>
                  <a:srgbClr val="FF00FF"/>
                </a:solidFill>
                <a:effectLst/>
                <a:latin typeface="Times New Roman" panose="02020603050405020304" pitchFamily="18" charset="0"/>
                <a:ea typeface="黑体" panose="02010609060101010101" pitchFamily="49" charset="-122"/>
                <a:cs typeface="Times New Roman" panose="02020603050405020304" pitchFamily="18" charset="0"/>
              </a:rPr>
              <a:t>定子</a:t>
            </a: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绕组中感应电动势的</a:t>
            </a:r>
            <a:r>
              <a:rPr lang="zh-CN" altLang="zh-CN" sz="2400" b="1" kern="100" dirty="0">
                <a:solidFill>
                  <a:srgbClr val="FF00FF"/>
                </a:solidFill>
                <a:effectLst/>
                <a:latin typeface="Times New Roman" panose="02020603050405020304" pitchFamily="18" charset="0"/>
                <a:ea typeface="黑体" panose="02010609060101010101" pitchFamily="49" charset="-122"/>
                <a:cs typeface="Times New Roman" panose="02020603050405020304" pitchFamily="18" charset="0"/>
              </a:rPr>
              <a:t>有效值</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为</a:t>
            </a:r>
            <a:r>
              <a:rPr lang="zh-CN" altLang="en-US"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p>
        </p:txBody>
      </p:sp>
      <p:graphicFrame>
        <p:nvGraphicFramePr>
          <p:cNvPr id="39" name="对象 38">
            <a:extLst>
              <a:ext uri="{FF2B5EF4-FFF2-40B4-BE49-F238E27FC236}">
                <a16:creationId xmlns:a16="http://schemas.microsoft.com/office/drawing/2014/main" id="{CAA4820F-8ECB-265C-E760-667CC6A93941}"/>
              </a:ext>
            </a:extLst>
          </p:cNvPr>
          <p:cNvGraphicFramePr>
            <a:graphicFrameLocks noChangeAspect="1"/>
          </p:cNvGraphicFramePr>
          <p:nvPr>
            <p:extLst>
              <p:ext uri="{D42A27DB-BD31-4B8C-83A1-F6EECF244321}">
                <p14:modId xmlns:p14="http://schemas.microsoft.com/office/powerpoint/2010/main" val="3318114004"/>
              </p:ext>
            </p:extLst>
          </p:nvPr>
        </p:nvGraphicFramePr>
        <p:xfrm>
          <a:off x="3077270" y="4563421"/>
          <a:ext cx="1428750" cy="504825"/>
        </p:xfrm>
        <a:graphic>
          <a:graphicData uri="http://schemas.openxmlformats.org/presentationml/2006/ole">
            <mc:AlternateContent xmlns:mc="http://schemas.openxmlformats.org/markup-compatibility/2006">
              <mc:Choice xmlns:v="urn:schemas-microsoft-com:vml" Requires="v">
                <p:oleObj name="Equation" r:id="rId16" imgW="660400" imgH="228600" progId="Equation.DSMT4">
                  <p:embed/>
                </p:oleObj>
              </mc:Choice>
              <mc:Fallback>
                <p:oleObj name="Equation" r:id="rId16" imgW="660400" imgH="228600" progId="Equation.DSMT4">
                  <p:embed/>
                  <p:pic>
                    <p:nvPicPr>
                      <p:cNvPr id="0" name="Object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77270" y="4563421"/>
                        <a:ext cx="142875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对象 42">
            <a:extLst>
              <a:ext uri="{FF2B5EF4-FFF2-40B4-BE49-F238E27FC236}">
                <a16:creationId xmlns:a16="http://schemas.microsoft.com/office/drawing/2014/main" id="{988B44A7-2934-8E39-27A3-88610A268B6B}"/>
              </a:ext>
            </a:extLst>
          </p:cNvPr>
          <p:cNvGraphicFramePr>
            <a:graphicFrameLocks noChangeAspect="1"/>
          </p:cNvGraphicFramePr>
          <p:nvPr>
            <p:extLst>
              <p:ext uri="{D42A27DB-BD31-4B8C-83A1-F6EECF244321}">
                <p14:modId xmlns:p14="http://schemas.microsoft.com/office/powerpoint/2010/main" val="2638445396"/>
              </p:ext>
            </p:extLst>
          </p:nvPr>
        </p:nvGraphicFramePr>
        <p:xfrm>
          <a:off x="1475656" y="5635921"/>
          <a:ext cx="6192688" cy="523894"/>
        </p:xfrm>
        <a:graphic>
          <a:graphicData uri="http://schemas.openxmlformats.org/presentationml/2006/ole">
            <mc:AlternateContent xmlns:mc="http://schemas.openxmlformats.org/markup-compatibility/2006">
              <mc:Choice xmlns:v="urn:schemas-microsoft-com:vml" Requires="v">
                <p:oleObj name="Equation" r:id="rId18" imgW="2743200" imgH="228600" progId="Equation.DSMT4">
                  <p:embed/>
                </p:oleObj>
              </mc:Choice>
              <mc:Fallback>
                <p:oleObj name="Equation" r:id="rId18" imgW="2743200" imgH="228600" progId="Equation.DSMT4">
                  <p:embed/>
                  <p:pic>
                    <p:nvPicPr>
                      <p:cNvPr id="0" name="Object 2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475656" y="5635921"/>
                        <a:ext cx="6192688" cy="523894"/>
                      </a:xfrm>
                      <a:prstGeom prst="rect">
                        <a:avLst/>
                      </a:prstGeom>
                      <a:solidFill>
                        <a:srgbClr val="00FF00"/>
                      </a:solidFill>
                    </p:spPr>
                  </p:pic>
                </p:oleObj>
              </mc:Fallback>
            </mc:AlternateContent>
          </a:graphicData>
        </a:graphic>
      </p:graphicFrame>
      <p:sp>
        <p:nvSpPr>
          <p:cNvPr id="4" name="灯片编号占位符 3">
            <a:extLst>
              <a:ext uri="{FF2B5EF4-FFF2-40B4-BE49-F238E27FC236}">
                <a16:creationId xmlns:a16="http://schemas.microsoft.com/office/drawing/2014/main" id="{2709B4B1-80BD-9CC5-BDDB-234942195406}"/>
              </a:ext>
            </a:extLst>
          </p:cNvPr>
          <p:cNvSpPr>
            <a:spLocks noGrp="1"/>
          </p:cNvSpPr>
          <p:nvPr>
            <p:ph type="sldNum" sz="quarter" idx="12"/>
          </p:nvPr>
        </p:nvSpPr>
        <p:spPr/>
        <p:txBody>
          <a:bodyPr/>
          <a:lstStyle/>
          <a:p>
            <a:fld id="{76D830B0-DF59-4281-898F-AF208100B213}" type="slidenum">
              <a:rPr lang="en-US" altLang="zh-CN" smtClean="0"/>
              <a:pPr/>
              <a:t>56</a:t>
            </a:fld>
            <a:endParaRPr lang="en-US" altLang="zh-CN"/>
          </a:p>
        </p:txBody>
      </p:sp>
    </p:spTree>
    <p:extLst>
      <p:ext uri="{BB962C8B-B14F-4D97-AF65-F5344CB8AC3E}">
        <p14:creationId xmlns:p14="http://schemas.microsoft.com/office/powerpoint/2010/main" val="37066793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DADF6F18-FEC9-589C-B9C6-CD0132175A63}"/>
              </a:ext>
            </a:extLst>
          </p:cNvPr>
          <p:cNvSpPr>
            <a:spLocks noChangeArrowheads="1"/>
          </p:cNvSpPr>
          <p:nvPr/>
        </p:nvSpPr>
        <p:spPr bwMode="auto">
          <a:xfrm>
            <a:off x="467544" y="989924"/>
            <a:ext cx="7920880" cy="99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lnSpc>
                <a:spcPct val="130000"/>
              </a:lnSpc>
            </a:pPr>
            <a:r>
              <a:rPr lang="en-US" altLang="zh-CN" sz="2400" b="1" kern="100" dirty="0">
                <a:solidFill>
                  <a:srgbClr val="000000"/>
                </a:solidFill>
                <a:latin typeface="Times New Roman" panose="02020603050405020304" pitchFamily="18" charset="0"/>
                <a:ea typeface="黑体" panose="02010609060101010101" pitchFamily="49" charset="-122"/>
              </a:rPr>
              <a:t>        </a:t>
            </a:r>
            <a:r>
              <a:rPr lang="zh-CN" altLang="zh-CN" sz="2400" b="1" kern="100" dirty="0">
                <a:solidFill>
                  <a:srgbClr val="000000"/>
                </a:solidFill>
                <a:effectLst/>
                <a:latin typeface="Times New Roman" panose="02020603050405020304" pitchFamily="18" charset="0"/>
                <a:ea typeface="黑体" panose="02010609060101010101" pitchFamily="49" charset="-122"/>
              </a:rPr>
              <a:t>同理可得</a:t>
            </a:r>
            <a:r>
              <a:rPr lang="zh-CN" altLang="zh-CN" sz="2400" b="1" kern="100" dirty="0">
                <a:solidFill>
                  <a:srgbClr val="0000FF"/>
                </a:solidFill>
                <a:effectLst/>
                <a:latin typeface="Times New Roman" panose="02020603050405020304" pitchFamily="18" charset="0"/>
                <a:ea typeface="黑体" panose="02010609060101010101" pitchFamily="49" charset="-122"/>
              </a:rPr>
              <a:t>转子不转时一相</a:t>
            </a:r>
            <a:r>
              <a:rPr lang="zh-CN" altLang="zh-CN" sz="2400" b="1" kern="100" dirty="0">
                <a:solidFill>
                  <a:srgbClr val="FF00FF"/>
                </a:solidFill>
                <a:effectLst/>
                <a:latin typeface="Times New Roman" panose="02020603050405020304" pitchFamily="18" charset="0"/>
                <a:ea typeface="黑体" panose="02010609060101010101" pitchFamily="49" charset="-122"/>
              </a:rPr>
              <a:t>转子</a:t>
            </a:r>
            <a:r>
              <a:rPr lang="zh-CN" altLang="zh-CN" sz="2400" b="1" kern="100" dirty="0">
                <a:solidFill>
                  <a:srgbClr val="0000FF"/>
                </a:solidFill>
                <a:effectLst/>
                <a:latin typeface="Times New Roman" panose="02020603050405020304" pitchFamily="18" charset="0"/>
                <a:ea typeface="黑体" panose="02010609060101010101" pitchFamily="49" charset="-122"/>
              </a:rPr>
              <a:t>绕组中的感应电动势</a:t>
            </a:r>
            <a:r>
              <a:rPr lang="zh-CN" altLang="zh-CN" sz="2400" b="1" kern="100" dirty="0">
                <a:solidFill>
                  <a:srgbClr val="FF00FF"/>
                </a:solidFill>
                <a:effectLst/>
                <a:latin typeface="Times New Roman" panose="02020603050405020304" pitchFamily="18" charset="0"/>
                <a:ea typeface="黑体" panose="02010609060101010101" pitchFamily="49" charset="-122"/>
              </a:rPr>
              <a:t>有效值</a:t>
            </a:r>
            <a:r>
              <a:rPr lang="zh-CN" altLang="zh-CN" sz="2400" b="1" kern="100" dirty="0">
                <a:solidFill>
                  <a:srgbClr val="000000"/>
                </a:solidFill>
                <a:effectLst/>
                <a:latin typeface="Times New Roman" panose="02020603050405020304" pitchFamily="18" charset="0"/>
                <a:ea typeface="黑体" panose="02010609060101010101" pitchFamily="49" charset="-122"/>
              </a:rPr>
              <a:t>为</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rPr>
              <a:t>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graphicFrame>
        <p:nvGraphicFramePr>
          <p:cNvPr id="8" name="对象 7">
            <a:extLst>
              <a:ext uri="{FF2B5EF4-FFF2-40B4-BE49-F238E27FC236}">
                <a16:creationId xmlns:a16="http://schemas.microsoft.com/office/drawing/2014/main" id="{7D87C9A5-0110-FE02-EB40-43BBC54E509B}"/>
              </a:ext>
            </a:extLst>
          </p:cNvPr>
          <p:cNvGraphicFramePr>
            <a:graphicFrameLocks noChangeAspect="1"/>
          </p:cNvGraphicFramePr>
          <p:nvPr>
            <p:extLst>
              <p:ext uri="{D42A27DB-BD31-4B8C-83A1-F6EECF244321}">
                <p14:modId xmlns:p14="http://schemas.microsoft.com/office/powerpoint/2010/main" val="4149450313"/>
              </p:ext>
            </p:extLst>
          </p:nvPr>
        </p:nvGraphicFramePr>
        <p:xfrm>
          <a:off x="2771800" y="1988001"/>
          <a:ext cx="3096344" cy="576903"/>
        </p:xfrm>
        <a:graphic>
          <a:graphicData uri="http://schemas.openxmlformats.org/presentationml/2006/ole">
            <mc:AlternateContent xmlns:mc="http://schemas.openxmlformats.org/markup-compatibility/2006">
              <mc:Choice xmlns:v="urn:schemas-microsoft-com:vml" Requires="v">
                <p:oleObj name="Equation" r:id="rId2" imgW="1231366" imgH="228501" progId="Equation.DSMT4">
                  <p:embed/>
                </p:oleObj>
              </mc:Choice>
              <mc:Fallback>
                <p:oleObj name="Equation" r:id="rId2" imgW="1231366" imgH="228501"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1988001"/>
                        <a:ext cx="3096344" cy="576903"/>
                      </a:xfrm>
                      <a:prstGeom prst="rect">
                        <a:avLst/>
                      </a:prstGeom>
                      <a:solidFill>
                        <a:srgbClr val="00FF00"/>
                      </a:solidFill>
                    </p:spPr>
                  </p:pic>
                </p:oleObj>
              </mc:Fallback>
            </mc:AlternateContent>
          </a:graphicData>
        </a:graphic>
      </p:graphicFrame>
      <p:sp>
        <p:nvSpPr>
          <p:cNvPr id="9" name="Rectangle 6">
            <a:extLst>
              <a:ext uri="{FF2B5EF4-FFF2-40B4-BE49-F238E27FC236}">
                <a16:creationId xmlns:a16="http://schemas.microsoft.com/office/drawing/2014/main" id="{ED949E0B-41F5-06AB-2829-84F5E66B39BE}"/>
              </a:ext>
            </a:extLst>
          </p:cNvPr>
          <p:cNvSpPr>
            <a:spLocks noChangeArrowheads="1"/>
          </p:cNvSpPr>
          <p:nvPr/>
        </p:nvSpPr>
        <p:spPr bwMode="auto">
          <a:xfrm>
            <a:off x="5889419" y="2028352"/>
            <a:ext cx="273630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且</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0" name="对象 9">
            <a:extLst>
              <a:ext uri="{FF2B5EF4-FFF2-40B4-BE49-F238E27FC236}">
                <a16:creationId xmlns:a16="http://schemas.microsoft.com/office/drawing/2014/main" id="{30F24FBF-0C84-A1A1-F2C9-FAA81A84A6D1}"/>
              </a:ext>
            </a:extLst>
          </p:cNvPr>
          <p:cNvGraphicFramePr>
            <a:graphicFrameLocks noChangeAspect="1"/>
          </p:cNvGraphicFramePr>
          <p:nvPr>
            <p:extLst>
              <p:ext uri="{D42A27DB-BD31-4B8C-83A1-F6EECF244321}">
                <p14:modId xmlns:p14="http://schemas.microsoft.com/office/powerpoint/2010/main" val="1933686270"/>
              </p:ext>
            </p:extLst>
          </p:nvPr>
        </p:nvGraphicFramePr>
        <p:xfrm>
          <a:off x="6397730" y="2004991"/>
          <a:ext cx="1566863" cy="542925"/>
        </p:xfrm>
        <a:graphic>
          <a:graphicData uri="http://schemas.openxmlformats.org/presentationml/2006/ole">
            <mc:AlternateContent xmlns:mc="http://schemas.openxmlformats.org/markup-compatibility/2006">
              <mc:Choice xmlns:v="urn:schemas-microsoft-com:vml" Requires="v">
                <p:oleObj name="Equation" r:id="rId4" imgW="647700" imgH="228600" progId="Equation.DSMT4">
                  <p:embed/>
                </p:oleObj>
              </mc:Choice>
              <mc:Fallback>
                <p:oleObj name="Equation" r:id="rId4" imgW="647700" imgH="2286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7730" y="2004991"/>
                        <a:ext cx="1566863"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9">
            <a:extLst>
              <a:ext uri="{FF2B5EF4-FFF2-40B4-BE49-F238E27FC236}">
                <a16:creationId xmlns:a16="http://schemas.microsoft.com/office/drawing/2014/main" id="{989EEB6A-AC4D-3EB4-114B-2510776167EC}"/>
              </a:ext>
            </a:extLst>
          </p:cNvPr>
          <p:cNvSpPr>
            <a:spLocks noChangeArrowheads="1"/>
          </p:cNvSpPr>
          <p:nvPr/>
        </p:nvSpPr>
        <p:spPr bwMode="auto">
          <a:xfrm>
            <a:off x="962585" y="2987314"/>
            <a:ext cx="339339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电动势变比定义为：</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5" name="对象 14">
            <a:extLst>
              <a:ext uri="{FF2B5EF4-FFF2-40B4-BE49-F238E27FC236}">
                <a16:creationId xmlns:a16="http://schemas.microsoft.com/office/drawing/2014/main" id="{2746989F-F1B5-A421-DCEC-B920DF1EA591}"/>
              </a:ext>
            </a:extLst>
          </p:cNvPr>
          <p:cNvGraphicFramePr>
            <a:graphicFrameLocks noChangeAspect="1"/>
          </p:cNvGraphicFramePr>
          <p:nvPr>
            <p:extLst>
              <p:ext uri="{D42A27DB-BD31-4B8C-83A1-F6EECF244321}">
                <p14:modId xmlns:p14="http://schemas.microsoft.com/office/powerpoint/2010/main" val="3474524166"/>
              </p:ext>
            </p:extLst>
          </p:nvPr>
        </p:nvGraphicFramePr>
        <p:xfrm>
          <a:off x="3707904" y="2790354"/>
          <a:ext cx="2448272" cy="958496"/>
        </p:xfrm>
        <a:graphic>
          <a:graphicData uri="http://schemas.openxmlformats.org/presentationml/2006/ole">
            <mc:AlternateContent xmlns:mc="http://schemas.openxmlformats.org/markup-compatibility/2006">
              <mc:Choice xmlns:v="urn:schemas-microsoft-com:vml" Requires="v">
                <p:oleObj name="Equation" r:id="rId6" imgW="1104900" imgH="431800" progId="Equation.DSMT4">
                  <p:embed/>
                </p:oleObj>
              </mc:Choice>
              <mc:Fallback>
                <p:oleObj name="Equation" r:id="rId6" imgW="1104900" imgH="4318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7904" y="2790354"/>
                        <a:ext cx="2448272" cy="958496"/>
                      </a:xfrm>
                      <a:prstGeom prst="rect">
                        <a:avLst/>
                      </a:prstGeom>
                      <a:noFill/>
                    </p:spPr>
                  </p:pic>
                </p:oleObj>
              </mc:Fallback>
            </mc:AlternateContent>
          </a:graphicData>
        </a:graphic>
      </p:graphicFrame>
      <p:sp>
        <p:nvSpPr>
          <p:cNvPr id="16" name="Rectangle 10">
            <a:extLst>
              <a:ext uri="{FF2B5EF4-FFF2-40B4-BE49-F238E27FC236}">
                <a16:creationId xmlns:a16="http://schemas.microsoft.com/office/drawing/2014/main" id="{87B97925-D5D4-1403-778F-A3C67F3E71BC}"/>
              </a:ext>
            </a:extLst>
          </p:cNvPr>
          <p:cNvSpPr>
            <a:spLocks noChangeArrowheads="1"/>
          </p:cNvSpPr>
          <p:nvPr/>
        </p:nvSpPr>
        <p:spPr bwMode="auto">
          <a:xfrm>
            <a:off x="395536" y="3789040"/>
            <a:ext cx="7992888" cy="99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3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所以</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当定子与转子绕组轴线不重合时，两电势有相位差，但有效值不变。</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2" name="对象 21">
            <a:extLst>
              <a:ext uri="{FF2B5EF4-FFF2-40B4-BE49-F238E27FC236}">
                <a16:creationId xmlns:a16="http://schemas.microsoft.com/office/drawing/2014/main" id="{6D6F8362-F397-A619-C016-A902CBC065F7}"/>
              </a:ext>
            </a:extLst>
          </p:cNvPr>
          <p:cNvGraphicFramePr>
            <a:graphicFrameLocks noChangeAspect="1"/>
          </p:cNvGraphicFramePr>
          <p:nvPr>
            <p:extLst>
              <p:ext uri="{D42A27DB-BD31-4B8C-83A1-F6EECF244321}">
                <p14:modId xmlns:p14="http://schemas.microsoft.com/office/powerpoint/2010/main" val="2950471351"/>
              </p:ext>
            </p:extLst>
          </p:nvPr>
        </p:nvGraphicFramePr>
        <p:xfrm>
          <a:off x="3405983" y="4821434"/>
          <a:ext cx="2332034" cy="535141"/>
        </p:xfrm>
        <a:graphic>
          <a:graphicData uri="http://schemas.openxmlformats.org/presentationml/2006/ole">
            <mc:AlternateContent xmlns:mc="http://schemas.openxmlformats.org/markup-compatibility/2006">
              <mc:Choice xmlns:v="urn:schemas-microsoft-com:vml" Requires="v">
                <p:oleObj name="Equation" r:id="rId8" imgW="1015920" imgH="228600" progId="Equation.DSMT4">
                  <p:embed/>
                </p:oleObj>
              </mc:Choice>
              <mc:Fallback>
                <p:oleObj name="Equation" r:id="rId8" imgW="1015920" imgH="228600" progId="Equation.DSMT4">
                  <p:embed/>
                  <p:pic>
                    <p:nvPicPr>
                      <p:cNvPr id="0" name="Object 12"/>
                      <p:cNvPicPr>
                        <a:picLocks noChangeAspect="1" noChangeArrowheads="1"/>
                      </p:cNvPicPr>
                      <p:nvPr/>
                    </p:nvPicPr>
                    <p:blipFill>
                      <a:blip r:embed="rId9"/>
                      <a:srcRect/>
                      <a:stretch>
                        <a:fillRect/>
                      </a:stretch>
                    </p:blipFill>
                    <p:spPr bwMode="auto">
                      <a:xfrm>
                        <a:off x="3405983" y="4821434"/>
                        <a:ext cx="2332034" cy="535141"/>
                      </a:xfrm>
                      <a:prstGeom prst="rect">
                        <a:avLst/>
                      </a:prstGeom>
                      <a:noFill/>
                    </p:spPr>
                  </p:pic>
                </p:oleObj>
              </mc:Fallback>
            </mc:AlternateContent>
          </a:graphicData>
        </a:graphic>
      </p:graphicFrame>
      <p:graphicFrame>
        <p:nvGraphicFramePr>
          <p:cNvPr id="24" name="对象 23">
            <a:extLst>
              <a:ext uri="{FF2B5EF4-FFF2-40B4-BE49-F238E27FC236}">
                <a16:creationId xmlns:a16="http://schemas.microsoft.com/office/drawing/2014/main" id="{9393BDBD-3D71-F513-3C80-CED9FC9A5A98}"/>
              </a:ext>
            </a:extLst>
          </p:cNvPr>
          <p:cNvGraphicFramePr>
            <a:graphicFrameLocks noChangeAspect="1"/>
          </p:cNvGraphicFramePr>
          <p:nvPr>
            <p:extLst>
              <p:ext uri="{D42A27DB-BD31-4B8C-83A1-F6EECF244321}">
                <p14:modId xmlns:p14="http://schemas.microsoft.com/office/powerpoint/2010/main" val="3625944889"/>
              </p:ext>
            </p:extLst>
          </p:nvPr>
        </p:nvGraphicFramePr>
        <p:xfrm>
          <a:off x="3409131" y="5489632"/>
          <a:ext cx="2393950" cy="534988"/>
        </p:xfrm>
        <a:graphic>
          <a:graphicData uri="http://schemas.openxmlformats.org/presentationml/2006/ole">
            <mc:AlternateContent xmlns:mc="http://schemas.openxmlformats.org/markup-compatibility/2006">
              <mc:Choice xmlns:v="urn:schemas-microsoft-com:vml" Requires="v">
                <p:oleObj name="Equation" r:id="rId10" imgW="1041120" imgH="228600" progId="Equation.DSMT4">
                  <p:embed/>
                </p:oleObj>
              </mc:Choice>
              <mc:Fallback>
                <p:oleObj name="Equation" r:id="rId10" imgW="1041120" imgH="228600" progId="Equation.DSMT4">
                  <p:embed/>
                  <p:pic>
                    <p:nvPicPr>
                      <p:cNvPr id="0" name="Object 11"/>
                      <p:cNvPicPr>
                        <a:picLocks noChangeAspect="1" noChangeArrowheads="1"/>
                      </p:cNvPicPr>
                      <p:nvPr/>
                    </p:nvPicPr>
                    <p:blipFill>
                      <a:blip r:embed="rId11"/>
                      <a:srcRect/>
                      <a:stretch>
                        <a:fillRect/>
                      </a:stretch>
                    </p:blipFill>
                    <p:spPr bwMode="auto">
                      <a:xfrm>
                        <a:off x="3409131" y="5489632"/>
                        <a:ext cx="2393950" cy="534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13">
            <a:extLst>
              <a:ext uri="{FF2B5EF4-FFF2-40B4-BE49-F238E27FC236}">
                <a16:creationId xmlns:a16="http://schemas.microsoft.com/office/drawing/2014/main" id="{75669893-E692-3707-E52D-BD108C2C71C0}"/>
              </a:ext>
            </a:extLst>
          </p:cNvPr>
          <p:cNvSpPr>
            <a:spLocks noChangeArrowheads="1"/>
          </p:cNvSpPr>
          <p:nvPr/>
        </p:nvSpPr>
        <p:spPr bwMode="auto">
          <a:xfrm>
            <a:off x="899592" y="5032432"/>
            <a:ext cx="2808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变压器一相绕组：</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30" name="对象 29">
            <a:extLst>
              <a:ext uri="{FF2B5EF4-FFF2-40B4-BE49-F238E27FC236}">
                <a16:creationId xmlns:a16="http://schemas.microsoft.com/office/drawing/2014/main" id="{C2293060-C736-4E5F-0FB5-03364B27C2BB}"/>
              </a:ext>
            </a:extLst>
          </p:cNvPr>
          <p:cNvGraphicFramePr>
            <a:graphicFrameLocks noChangeAspect="1"/>
          </p:cNvGraphicFramePr>
          <p:nvPr>
            <p:extLst>
              <p:ext uri="{D42A27DB-BD31-4B8C-83A1-F6EECF244321}">
                <p14:modId xmlns:p14="http://schemas.microsoft.com/office/powerpoint/2010/main" val="4194794661"/>
              </p:ext>
            </p:extLst>
          </p:nvPr>
        </p:nvGraphicFramePr>
        <p:xfrm>
          <a:off x="5902108" y="4918766"/>
          <a:ext cx="2031504" cy="922929"/>
        </p:xfrm>
        <a:graphic>
          <a:graphicData uri="http://schemas.openxmlformats.org/presentationml/2006/ole">
            <mc:AlternateContent xmlns:mc="http://schemas.openxmlformats.org/markup-compatibility/2006">
              <mc:Choice xmlns:v="urn:schemas-microsoft-com:vml" Requires="v">
                <p:oleObj name="Equation" r:id="rId12" imgW="952087" imgH="431613" progId="Equation.DSMT4">
                  <p:embed/>
                </p:oleObj>
              </mc:Choice>
              <mc:Fallback>
                <p:oleObj name="Equation" r:id="rId12" imgW="952087" imgH="431613" progId="Equation.DSMT4">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02108" y="4918766"/>
                        <a:ext cx="2031504" cy="922929"/>
                      </a:xfrm>
                      <a:prstGeom prst="rect">
                        <a:avLst/>
                      </a:prstGeom>
                      <a:noFill/>
                    </p:spPr>
                  </p:pic>
                </p:oleObj>
              </mc:Fallback>
            </mc:AlternateContent>
          </a:graphicData>
        </a:graphic>
      </p:graphicFrame>
      <p:sp>
        <p:nvSpPr>
          <p:cNvPr id="31" name="文本框 30">
            <a:extLst>
              <a:ext uri="{FF2B5EF4-FFF2-40B4-BE49-F238E27FC236}">
                <a16:creationId xmlns:a16="http://schemas.microsoft.com/office/drawing/2014/main" id="{1A309E0D-D6E3-8AFA-AFC1-82A1358FCFB6}"/>
              </a:ext>
            </a:extLst>
          </p:cNvPr>
          <p:cNvSpPr txBox="1"/>
          <p:nvPr/>
        </p:nvSpPr>
        <p:spPr>
          <a:xfrm>
            <a:off x="848859" y="6102163"/>
            <a:ext cx="6408712" cy="461665"/>
          </a:xfrm>
          <a:prstGeom prst="rect">
            <a:avLst/>
          </a:prstGeom>
          <a:noFill/>
        </p:spPr>
        <p:txBody>
          <a:bodyPr wrap="square">
            <a:spAutoFit/>
          </a:bodyPr>
          <a:lstStyle/>
          <a:p>
            <a:pPr algn="l"/>
            <a:r>
              <a:rPr lang="zh-CN" altLang="zh-CN" sz="2400" b="1" kern="100" dirty="0">
                <a:solidFill>
                  <a:srgbClr val="0000FF"/>
                </a:solidFill>
                <a:effectLst/>
                <a:latin typeface="Times New Roman" panose="02020603050405020304" pitchFamily="18" charset="0"/>
                <a:ea typeface="黑体" panose="02010609060101010101" pitchFamily="49" charset="-122"/>
              </a:rPr>
              <a:t>与变压器比较</a:t>
            </a:r>
            <a:r>
              <a:rPr lang="zh-CN" altLang="en-US" sz="2400" b="1" kern="100" dirty="0">
                <a:solidFill>
                  <a:srgbClr val="000000"/>
                </a:solidFill>
                <a:latin typeface="Times New Roman" panose="02020603050405020304" pitchFamily="18" charset="0"/>
                <a:ea typeface="黑体" panose="02010609060101010101" pitchFamily="49" charset="-122"/>
              </a:rPr>
              <a:t>，它们的电势关系是极其相似的。</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sp>
        <p:nvSpPr>
          <p:cNvPr id="3" name="灯片编号占位符 2">
            <a:extLst>
              <a:ext uri="{FF2B5EF4-FFF2-40B4-BE49-F238E27FC236}">
                <a16:creationId xmlns:a16="http://schemas.microsoft.com/office/drawing/2014/main" id="{5D4D5466-2E63-B52E-963B-7351A60DCFD8}"/>
              </a:ext>
            </a:extLst>
          </p:cNvPr>
          <p:cNvSpPr>
            <a:spLocks noGrp="1"/>
          </p:cNvSpPr>
          <p:nvPr>
            <p:ph type="sldNum" sz="quarter" idx="12"/>
          </p:nvPr>
        </p:nvSpPr>
        <p:spPr/>
        <p:txBody>
          <a:bodyPr/>
          <a:lstStyle/>
          <a:p>
            <a:fld id="{76D830B0-DF59-4281-898F-AF208100B213}" type="slidenum">
              <a:rPr lang="en-US" altLang="zh-CN" smtClean="0"/>
              <a:pPr/>
              <a:t>57</a:t>
            </a:fld>
            <a:endParaRPr lang="en-US" altLang="zh-CN"/>
          </a:p>
        </p:txBody>
      </p:sp>
    </p:spTree>
    <p:extLst>
      <p:ext uri="{BB962C8B-B14F-4D97-AF65-F5344CB8AC3E}">
        <p14:creationId xmlns:p14="http://schemas.microsoft.com/office/powerpoint/2010/main" val="9489826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04DB5C78-985C-5CA2-6BCC-C5AC0178550E}"/>
              </a:ext>
            </a:extLst>
          </p:cNvPr>
          <p:cNvGraphicFramePr>
            <a:graphicFrameLocks noChangeAspect="1"/>
          </p:cNvGraphicFramePr>
          <p:nvPr>
            <p:extLst>
              <p:ext uri="{D42A27DB-BD31-4B8C-83A1-F6EECF244321}">
                <p14:modId xmlns:p14="http://schemas.microsoft.com/office/powerpoint/2010/main" val="2969215194"/>
              </p:ext>
            </p:extLst>
          </p:nvPr>
        </p:nvGraphicFramePr>
        <p:xfrm>
          <a:off x="1691680" y="1556792"/>
          <a:ext cx="5328592" cy="2677318"/>
        </p:xfrm>
        <a:graphic>
          <a:graphicData uri="http://schemas.openxmlformats.org/presentationml/2006/ole">
            <mc:AlternateContent xmlns:mc="http://schemas.openxmlformats.org/markup-compatibility/2006">
              <mc:Choice xmlns:v="urn:schemas-microsoft-com:vml" Requires="v">
                <p:oleObj r:id="rId2" imgW="2444750" imgH="1233488" progId="MSDraw">
                  <p:embed/>
                </p:oleObj>
              </mc:Choice>
              <mc:Fallback>
                <p:oleObj r:id="rId2" imgW="2444750" imgH="1233488"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556792"/>
                        <a:ext cx="5328592" cy="2677318"/>
                      </a:xfrm>
                      <a:prstGeom prst="rect">
                        <a:avLst/>
                      </a:prstGeom>
                      <a:noFill/>
                    </p:spPr>
                  </p:pic>
                </p:oleObj>
              </mc:Fallback>
            </mc:AlternateContent>
          </a:graphicData>
        </a:graphic>
      </p:graphicFrame>
      <p:sp>
        <p:nvSpPr>
          <p:cNvPr id="4" name="Rectangle 3">
            <a:extLst>
              <a:ext uri="{FF2B5EF4-FFF2-40B4-BE49-F238E27FC236}">
                <a16:creationId xmlns:a16="http://schemas.microsoft.com/office/drawing/2014/main" id="{FD1E2DB6-7C1E-D3B5-C543-0EB0B4E32BF5}"/>
              </a:ext>
            </a:extLst>
          </p:cNvPr>
          <p:cNvSpPr>
            <a:spLocks noChangeArrowheads="1"/>
          </p:cNvSpPr>
          <p:nvPr/>
        </p:nvSpPr>
        <p:spPr bwMode="auto">
          <a:xfrm>
            <a:off x="611560" y="4657535"/>
            <a:ext cx="8064896" cy="99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lnSpc>
                <a:spcPct val="130000"/>
              </a:lnSpc>
            </a:pP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其实一台绕线式的三相异步电动机在转子不动时，其结构就如同一台铁心含有气隙的三相变压器一样。</a:t>
            </a:r>
            <a:r>
              <a:rPr kumimoji="0" lang="zh-CN" altLang="en-US" sz="400" b="0" i="0" u="none" strike="noStrike" cap="none" normalizeH="0" baseline="0" dirty="0">
                <a:ln>
                  <a:noFill/>
                </a:ln>
                <a:solidFill>
                  <a:schemeClr val="tx1"/>
                </a:solidFill>
                <a:effectLst/>
              </a:rPr>
              <a:t> </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 name="灯片编号占位符 4">
            <a:extLst>
              <a:ext uri="{FF2B5EF4-FFF2-40B4-BE49-F238E27FC236}">
                <a16:creationId xmlns:a16="http://schemas.microsoft.com/office/drawing/2014/main" id="{02087C9C-6DA6-6968-67A7-0D5E0D07FB68}"/>
              </a:ext>
            </a:extLst>
          </p:cNvPr>
          <p:cNvSpPr>
            <a:spLocks noGrp="1"/>
          </p:cNvSpPr>
          <p:nvPr>
            <p:ph type="sldNum" sz="quarter" idx="12"/>
          </p:nvPr>
        </p:nvSpPr>
        <p:spPr/>
        <p:txBody>
          <a:bodyPr/>
          <a:lstStyle/>
          <a:p>
            <a:fld id="{76D830B0-DF59-4281-898F-AF208100B213}" type="slidenum">
              <a:rPr lang="en-US" altLang="zh-CN" smtClean="0"/>
              <a:pPr/>
              <a:t>58</a:t>
            </a:fld>
            <a:endParaRPr lang="en-US" altLang="zh-CN"/>
          </a:p>
        </p:txBody>
      </p:sp>
    </p:spTree>
    <p:extLst>
      <p:ext uri="{BB962C8B-B14F-4D97-AF65-F5344CB8AC3E}">
        <p14:creationId xmlns:p14="http://schemas.microsoft.com/office/powerpoint/2010/main" val="38842209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7C3A1FD2-A309-BCF9-7BE4-43431B219C72}"/>
              </a:ext>
            </a:extLst>
          </p:cNvPr>
          <p:cNvSpPr txBox="1"/>
          <p:nvPr/>
        </p:nvSpPr>
        <p:spPr>
          <a:xfrm>
            <a:off x="179512" y="994790"/>
            <a:ext cx="7920880" cy="461665"/>
          </a:xfrm>
          <a:prstGeom prst="rect">
            <a:avLst/>
          </a:prstGeom>
          <a:noFill/>
        </p:spPr>
        <p:txBody>
          <a:bodyPr wrap="square">
            <a:spAutoFit/>
          </a:bodyPr>
          <a:lstStyle/>
          <a:p>
            <a:pPr eaLnBrk="0" hangingPunct="0"/>
            <a:r>
              <a:rPr lang="en-US" altLang="zh-CN"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转子</a:t>
            </a: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堵转、转子绕组短路时的磁势平衡方程式</a:t>
            </a:r>
            <a:endParaRPr lang="zh-CN" altLang="zh-CN" sz="2400" b="1" kern="100" dirty="0">
              <a:solidFill>
                <a:srgbClr val="0000FF"/>
              </a:solidFill>
              <a:effectLst/>
              <a:latin typeface="Times New Roman" panose="02020603050405020304" pitchFamily="18" charset="0"/>
              <a:ea typeface="黑体" panose="02010609060101010101" pitchFamily="49" charset="-122"/>
            </a:endParaRPr>
          </a:p>
        </p:txBody>
      </p:sp>
      <p:sp>
        <p:nvSpPr>
          <p:cNvPr id="3" name="文本框 2">
            <a:extLst>
              <a:ext uri="{FF2B5EF4-FFF2-40B4-BE49-F238E27FC236}">
                <a16:creationId xmlns:a16="http://schemas.microsoft.com/office/drawing/2014/main" id="{1E144ED7-BEF4-621C-D5E8-0C6E3173F21D}"/>
              </a:ext>
            </a:extLst>
          </p:cNvPr>
          <p:cNvSpPr txBox="1"/>
          <p:nvPr/>
        </p:nvSpPr>
        <p:spPr>
          <a:xfrm>
            <a:off x="662872" y="1515234"/>
            <a:ext cx="6480720" cy="430887"/>
          </a:xfrm>
          <a:prstGeom prst="rect">
            <a:avLst/>
          </a:prstGeom>
          <a:noFill/>
        </p:spPr>
        <p:txBody>
          <a:bodyPr wrap="square">
            <a:spAutoFit/>
          </a:bodyPr>
          <a:lstStyle/>
          <a:p>
            <a:pPr algn="l"/>
            <a:r>
              <a:rPr lang="zh-CN" altLang="zh-CN" sz="2200" b="1" kern="100" dirty="0">
                <a:solidFill>
                  <a:srgbClr val="000000"/>
                </a:solidFill>
                <a:effectLst/>
                <a:latin typeface="Times New Roman" panose="02020603050405020304" pitchFamily="18" charset="0"/>
                <a:ea typeface="黑体" panose="02010609060101010101" pitchFamily="49" charset="-122"/>
              </a:rPr>
              <a:t>假定</a:t>
            </a:r>
            <a:r>
              <a:rPr lang="en-US" altLang="zh-CN" sz="2200" b="1" kern="100" dirty="0">
                <a:solidFill>
                  <a:srgbClr val="000000"/>
                </a:solidFill>
                <a:effectLst/>
                <a:latin typeface="Times New Roman" panose="02020603050405020304" pitchFamily="18" charset="0"/>
                <a:ea typeface="黑体" panose="02010609060101010101" pitchFamily="49" charset="-122"/>
              </a:rPr>
              <a:t>: </a:t>
            </a:r>
            <a:r>
              <a:rPr lang="zh-CN" altLang="zh-CN" sz="2200" b="1" kern="100" dirty="0">
                <a:solidFill>
                  <a:srgbClr val="000000"/>
                </a:solidFill>
                <a:effectLst/>
                <a:latin typeface="Times New Roman" panose="02020603050405020304" pitchFamily="18" charset="0"/>
                <a:ea typeface="黑体" panose="02010609060101010101" pitchFamily="49" charset="-122"/>
              </a:rPr>
              <a:t>定、转子绕组轴线</a:t>
            </a:r>
            <a:r>
              <a:rPr lang="en-US" altLang="zh-CN" sz="2200" b="1" kern="100" dirty="0">
                <a:solidFill>
                  <a:srgbClr val="000000"/>
                </a:solidFill>
                <a:effectLst/>
                <a:latin typeface="Times New Roman" panose="02020603050405020304" pitchFamily="18" charset="0"/>
                <a:ea typeface="黑体" panose="02010609060101010101" pitchFamily="49" charset="-122"/>
              </a:rPr>
              <a:t>U</a:t>
            </a:r>
            <a:r>
              <a:rPr lang="zh-CN" altLang="zh-CN" sz="2200" b="1" kern="100" dirty="0">
                <a:solidFill>
                  <a:srgbClr val="000000"/>
                </a:solidFill>
                <a:effectLst/>
                <a:latin typeface="Times New Roman" panose="02020603050405020304" pitchFamily="18" charset="0"/>
                <a:ea typeface="黑体" panose="02010609060101010101" pitchFamily="49" charset="-122"/>
              </a:rPr>
              <a:t>－</a:t>
            </a:r>
            <a:r>
              <a:rPr lang="en-US" altLang="zh-CN" sz="2200" b="1" kern="100" dirty="0">
                <a:solidFill>
                  <a:srgbClr val="000000"/>
                </a:solidFill>
                <a:effectLst/>
                <a:latin typeface="Times New Roman" panose="02020603050405020304" pitchFamily="18" charset="0"/>
                <a:ea typeface="黑体" panose="02010609060101010101" pitchFamily="49" charset="-122"/>
              </a:rPr>
              <a:t>U’</a:t>
            </a:r>
            <a:r>
              <a:rPr lang="zh-CN" altLang="zh-CN" sz="2200" b="1" kern="100" dirty="0">
                <a:solidFill>
                  <a:srgbClr val="000000"/>
                </a:solidFill>
                <a:effectLst/>
                <a:latin typeface="Times New Roman" panose="02020603050405020304" pitchFamily="18" charset="0"/>
                <a:ea typeface="黑体" panose="02010609060101010101" pitchFamily="49" charset="-122"/>
              </a:rPr>
              <a:t>、</a:t>
            </a:r>
            <a:r>
              <a:rPr lang="en-US" altLang="zh-CN" sz="2200" b="1" kern="100" dirty="0">
                <a:solidFill>
                  <a:srgbClr val="000000"/>
                </a:solidFill>
                <a:effectLst/>
                <a:latin typeface="Times New Roman" panose="02020603050405020304" pitchFamily="18" charset="0"/>
                <a:ea typeface="黑体" panose="02010609060101010101" pitchFamily="49" charset="-122"/>
              </a:rPr>
              <a:t>u</a:t>
            </a:r>
            <a:r>
              <a:rPr lang="zh-CN" altLang="zh-CN" sz="2200" b="1" kern="100" dirty="0">
                <a:solidFill>
                  <a:srgbClr val="000000"/>
                </a:solidFill>
                <a:effectLst/>
                <a:latin typeface="Times New Roman" panose="02020603050405020304" pitchFamily="18" charset="0"/>
                <a:ea typeface="黑体" panose="02010609060101010101" pitchFamily="49" charset="-122"/>
              </a:rPr>
              <a:t>－</a:t>
            </a:r>
            <a:r>
              <a:rPr lang="en-US" altLang="zh-CN" sz="2200" b="1" kern="100" dirty="0">
                <a:solidFill>
                  <a:srgbClr val="000000"/>
                </a:solidFill>
                <a:effectLst/>
                <a:latin typeface="Times New Roman" panose="02020603050405020304" pitchFamily="18" charset="0"/>
                <a:ea typeface="黑体" panose="02010609060101010101" pitchFamily="49" charset="-122"/>
              </a:rPr>
              <a:t>u’</a:t>
            </a:r>
            <a:r>
              <a:rPr lang="zh-CN" altLang="zh-CN" sz="2200" b="1" kern="100" dirty="0">
                <a:solidFill>
                  <a:srgbClr val="000000"/>
                </a:solidFill>
                <a:effectLst/>
                <a:latin typeface="Times New Roman" panose="02020603050405020304" pitchFamily="18" charset="0"/>
                <a:ea typeface="黑体" panose="02010609060101010101" pitchFamily="49" charset="-122"/>
              </a:rPr>
              <a:t>轴线重合；</a:t>
            </a:r>
            <a:endParaRPr lang="zh-CN" altLang="zh-CN" sz="2200" b="1" kern="100" dirty="0">
              <a:solidFill>
                <a:srgbClr val="FF00FF"/>
              </a:solidFill>
              <a:effectLst/>
              <a:latin typeface="Times New Roman" panose="02020603050405020304" pitchFamily="18" charset="0"/>
              <a:ea typeface="宋体" panose="02010600030101010101" pitchFamily="2" charset="-122"/>
            </a:endParaRPr>
          </a:p>
        </p:txBody>
      </p:sp>
      <p:sp>
        <p:nvSpPr>
          <p:cNvPr id="4" name="Rectangle 2">
            <a:extLst>
              <a:ext uri="{FF2B5EF4-FFF2-40B4-BE49-F238E27FC236}">
                <a16:creationId xmlns:a16="http://schemas.microsoft.com/office/drawing/2014/main" id="{EAC417D0-781C-1110-68CB-00467168BBFA}"/>
              </a:ext>
            </a:extLst>
          </p:cNvPr>
          <p:cNvSpPr>
            <a:spLocks noChangeArrowheads="1"/>
          </p:cNvSpPr>
          <p:nvPr/>
        </p:nvSpPr>
        <p:spPr bwMode="auto">
          <a:xfrm>
            <a:off x="755576" y="2097230"/>
            <a:ext cx="6408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转子绕组短路</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转子电流产生。</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a:extLst>
              <a:ext uri="{FF2B5EF4-FFF2-40B4-BE49-F238E27FC236}">
                <a16:creationId xmlns:a16="http://schemas.microsoft.com/office/drawing/2014/main" id="{26CA7174-BACA-46E1-6670-953A313D57AA}"/>
              </a:ext>
            </a:extLst>
          </p:cNvPr>
          <p:cNvGraphicFramePr>
            <a:graphicFrameLocks noChangeAspect="1"/>
          </p:cNvGraphicFramePr>
          <p:nvPr>
            <p:extLst>
              <p:ext uri="{D42A27DB-BD31-4B8C-83A1-F6EECF244321}">
                <p14:modId xmlns:p14="http://schemas.microsoft.com/office/powerpoint/2010/main" val="3570389796"/>
              </p:ext>
            </p:extLst>
          </p:nvPr>
        </p:nvGraphicFramePr>
        <p:xfrm>
          <a:off x="3188022" y="1953214"/>
          <a:ext cx="1095946" cy="611690"/>
        </p:xfrm>
        <a:graphic>
          <a:graphicData uri="http://schemas.openxmlformats.org/presentationml/2006/ole">
            <mc:AlternateContent xmlns:mc="http://schemas.openxmlformats.org/markup-compatibility/2006">
              <mc:Choice xmlns:v="urn:schemas-microsoft-com:vml" Requires="v">
                <p:oleObj name="Equation" r:id="rId3" imgW="508000" imgH="279400" progId="Equation.DSMT4">
                  <p:embed/>
                </p:oleObj>
              </mc:Choice>
              <mc:Fallback>
                <p:oleObj name="Equation" r:id="rId3" imgW="508000" imgH="2794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8022" y="1953214"/>
                        <a:ext cx="1095946" cy="611690"/>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9409EF98-D302-6532-EB54-A9B953D8D71D}"/>
              </a:ext>
            </a:extLst>
          </p:cNvPr>
          <p:cNvGraphicFramePr>
            <a:graphicFrameLocks noChangeAspect="1"/>
          </p:cNvGraphicFramePr>
          <p:nvPr>
            <p:extLst>
              <p:ext uri="{D42A27DB-BD31-4B8C-83A1-F6EECF244321}">
                <p14:modId xmlns:p14="http://schemas.microsoft.com/office/powerpoint/2010/main" val="2047566413"/>
              </p:ext>
            </p:extLst>
          </p:nvPr>
        </p:nvGraphicFramePr>
        <p:xfrm>
          <a:off x="471794" y="2921799"/>
          <a:ext cx="455168" cy="593725"/>
        </p:xfrm>
        <a:graphic>
          <a:graphicData uri="http://schemas.openxmlformats.org/presentationml/2006/ole">
            <mc:AlternateContent xmlns:mc="http://schemas.openxmlformats.org/markup-compatibility/2006">
              <mc:Choice xmlns:v="urn:schemas-microsoft-com:vml" Requires="v">
                <p:oleObj name="Equation" r:id="rId5" imgW="164880" imgH="279360" progId="Equation.DSMT4">
                  <p:embed/>
                </p:oleObj>
              </mc:Choice>
              <mc:Fallback>
                <p:oleObj name="Equation" r:id="rId5" imgW="164880" imgH="279360" progId="Equation.DSMT4">
                  <p:embed/>
                  <p:pic>
                    <p:nvPicPr>
                      <p:cNvPr id="0" name="Object 4"/>
                      <p:cNvPicPr>
                        <a:picLocks noChangeAspect="1" noChangeArrowheads="1"/>
                      </p:cNvPicPr>
                      <p:nvPr/>
                    </p:nvPicPr>
                    <p:blipFill>
                      <a:blip r:embed="rId6"/>
                      <a:srcRect/>
                      <a:stretch>
                        <a:fillRect/>
                      </a:stretch>
                    </p:blipFill>
                    <p:spPr bwMode="auto">
                      <a:xfrm>
                        <a:off x="471794" y="2921799"/>
                        <a:ext cx="455168" cy="593725"/>
                      </a:xfrm>
                      <a:prstGeom prst="rect">
                        <a:avLst/>
                      </a:prstGeom>
                      <a:solidFill>
                        <a:schemeClr val="accent1"/>
                      </a:solidFill>
                      <a:ln>
                        <a:solidFill>
                          <a:schemeClr val="tx1"/>
                        </a:solidFill>
                      </a:ln>
                    </p:spPr>
                  </p:pic>
                </p:oleObj>
              </mc:Fallback>
            </mc:AlternateContent>
          </a:graphicData>
        </a:graphic>
      </p:graphicFrame>
      <p:sp>
        <p:nvSpPr>
          <p:cNvPr id="11" name="Rectangle 6">
            <a:extLst>
              <a:ext uri="{FF2B5EF4-FFF2-40B4-BE49-F238E27FC236}">
                <a16:creationId xmlns:a16="http://schemas.microsoft.com/office/drawing/2014/main" id="{926425C7-08B7-4060-A4FA-FD1644DD6D4D}"/>
              </a:ext>
            </a:extLst>
          </p:cNvPr>
          <p:cNvSpPr>
            <a:spLocks noChangeArrowheads="1"/>
          </p:cNvSpPr>
          <p:nvPr/>
        </p:nvSpPr>
        <p:spPr bwMode="auto">
          <a:xfrm>
            <a:off x="468958" y="3515524"/>
            <a:ext cx="458004" cy="1569660"/>
          </a:xfrm>
          <a:prstGeom prst="rect">
            <a:avLst/>
          </a:prstGeom>
          <a:solidFill>
            <a:schemeClr val="accent1"/>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的性质：</a:t>
            </a:r>
            <a:endParaRPr kumimoji="0" lang="zh-CN" altLang="zh-CN" sz="1800" b="0" i="0" u="none" strike="noStrike" cap="none" normalizeH="0" baseline="0" dirty="0">
              <a:ln>
                <a:noFill/>
              </a:ln>
              <a:solidFill>
                <a:srgbClr val="0000FF"/>
              </a:solidFill>
              <a:effectLst/>
            </a:endParaRPr>
          </a:p>
        </p:txBody>
      </p:sp>
      <p:graphicFrame>
        <p:nvGraphicFramePr>
          <p:cNvPr id="14" name="对象 13">
            <a:extLst>
              <a:ext uri="{FF2B5EF4-FFF2-40B4-BE49-F238E27FC236}">
                <a16:creationId xmlns:a16="http://schemas.microsoft.com/office/drawing/2014/main" id="{0E126DA4-E4FB-B525-977A-8FE11ABB3148}"/>
              </a:ext>
            </a:extLst>
          </p:cNvPr>
          <p:cNvGraphicFramePr>
            <a:graphicFrameLocks noChangeAspect="1"/>
          </p:cNvGraphicFramePr>
          <p:nvPr>
            <p:extLst>
              <p:ext uri="{D42A27DB-BD31-4B8C-83A1-F6EECF244321}">
                <p14:modId xmlns:p14="http://schemas.microsoft.com/office/powerpoint/2010/main" val="1280271883"/>
              </p:ext>
            </p:extLst>
          </p:nvPr>
        </p:nvGraphicFramePr>
        <p:xfrm>
          <a:off x="4588975" y="2659413"/>
          <a:ext cx="432048" cy="600751"/>
        </p:xfrm>
        <a:graphic>
          <a:graphicData uri="http://schemas.openxmlformats.org/presentationml/2006/ole">
            <mc:AlternateContent xmlns:mc="http://schemas.openxmlformats.org/markup-compatibility/2006">
              <mc:Choice xmlns:v="urn:schemas-microsoft-com:vml" Requires="v">
                <p:oleObj name="Equation" r:id="rId7" imgW="203112" imgH="279279" progId="Equation.DSMT4">
                  <p:embed/>
                </p:oleObj>
              </mc:Choice>
              <mc:Fallback>
                <p:oleObj name="Equation" r:id="rId7" imgW="203112" imgH="279279"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88975" y="2659413"/>
                        <a:ext cx="432048" cy="600751"/>
                      </a:xfrm>
                      <a:prstGeom prst="rect">
                        <a:avLst/>
                      </a:prstGeom>
                      <a:noFill/>
                    </p:spPr>
                  </p:pic>
                </p:oleObj>
              </mc:Fallback>
            </mc:AlternateContent>
          </a:graphicData>
        </a:graphic>
      </p:graphicFrame>
      <p:sp>
        <p:nvSpPr>
          <p:cNvPr id="15" name="Rectangle 9">
            <a:extLst>
              <a:ext uri="{FF2B5EF4-FFF2-40B4-BE49-F238E27FC236}">
                <a16:creationId xmlns:a16="http://schemas.microsoft.com/office/drawing/2014/main" id="{F95F7C1F-B093-D4C9-EB9F-7CA19C32287C}"/>
              </a:ext>
            </a:extLst>
          </p:cNvPr>
          <p:cNvSpPr>
            <a:spLocks noChangeArrowheads="1"/>
          </p:cNvSpPr>
          <p:nvPr/>
        </p:nvSpPr>
        <p:spPr bwMode="auto">
          <a:xfrm>
            <a:off x="971600" y="2823319"/>
            <a:ext cx="676875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三相</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产生的合成磁势</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仍是旋转磁势</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graphicFrame>
        <p:nvGraphicFramePr>
          <p:cNvPr id="19" name="对象 18">
            <a:extLst>
              <a:ext uri="{FF2B5EF4-FFF2-40B4-BE49-F238E27FC236}">
                <a16:creationId xmlns:a16="http://schemas.microsoft.com/office/drawing/2014/main" id="{CA45E150-25EB-4331-8989-DA653708EC7B}"/>
              </a:ext>
            </a:extLst>
          </p:cNvPr>
          <p:cNvGraphicFramePr>
            <a:graphicFrameLocks noChangeAspect="1"/>
          </p:cNvGraphicFramePr>
          <p:nvPr>
            <p:extLst>
              <p:ext uri="{D42A27DB-BD31-4B8C-83A1-F6EECF244321}">
                <p14:modId xmlns:p14="http://schemas.microsoft.com/office/powerpoint/2010/main" val="1487342672"/>
              </p:ext>
            </p:extLst>
          </p:nvPr>
        </p:nvGraphicFramePr>
        <p:xfrm>
          <a:off x="2140702" y="2674304"/>
          <a:ext cx="304932" cy="593815"/>
        </p:xfrm>
        <a:graphic>
          <a:graphicData uri="http://schemas.openxmlformats.org/presentationml/2006/ole">
            <mc:AlternateContent xmlns:mc="http://schemas.openxmlformats.org/markup-compatibility/2006">
              <mc:Choice xmlns:v="urn:schemas-microsoft-com:vml" Requires="v">
                <p:oleObj name="Equation" r:id="rId9" imgW="139700" imgH="279400" progId="Equation.DSMT4">
                  <p:embed/>
                </p:oleObj>
              </mc:Choice>
              <mc:Fallback>
                <p:oleObj name="Equation" r:id="rId9" imgW="139700" imgH="279400" progId="Equation.DSMT4">
                  <p:embed/>
                  <p:pic>
                    <p:nvPicPr>
                      <p:cNvPr id="10" name="对象 9">
                        <a:extLst>
                          <a:ext uri="{FF2B5EF4-FFF2-40B4-BE49-F238E27FC236}">
                            <a16:creationId xmlns:a16="http://schemas.microsoft.com/office/drawing/2014/main" id="{9409EF98-D302-6532-EB54-A9B953D8D71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40702" y="2674304"/>
                        <a:ext cx="304932" cy="593815"/>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E355402E-9B78-2277-5801-ED6BC0151E0D}"/>
              </a:ext>
            </a:extLst>
          </p:cNvPr>
          <p:cNvGraphicFramePr>
            <a:graphicFrameLocks noChangeAspect="1"/>
          </p:cNvGraphicFramePr>
          <p:nvPr>
            <p:extLst>
              <p:ext uri="{D42A27DB-BD31-4B8C-83A1-F6EECF244321}">
                <p14:modId xmlns:p14="http://schemas.microsoft.com/office/powerpoint/2010/main" val="2411195361"/>
              </p:ext>
            </p:extLst>
          </p:nvPr>
        </p:nvGraphicFramePr>
        <p:xfrm>
          <a:off x="2140702" y="3520018"/>
          <a:ext cx="458004" cy="590243"/>
        </p:xfrm>
        <a:graphic>
          <a:graphicData uri="http://schemas.openxmlformats.org/presentationml/2006/ole">
            <mc:AlternateContent xmlns:mc="http://schemas.openxmlformats.org/markup-compatibility/2006">
              <mc:Choice xmlns:v="urn:schemas-microsoft-com:vml" Requires="v">
                <p:oleObj name="Equation" r:id="rId11" imgW="203112" imgH="279279" progId="Equation.DSMT4">
                  <p:embed/>
                </p:oleObj>
              </mc:Choice>
              <mc:Fallback>
                <p:oleObj name="Equation" r:id="rId11" imgW="203112" imgH="279279"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40702" y="3520018"/>
                        <a:ext cx="458004" cy="590243"/>
                      </a:xfrm>
                      <a:prstGeom prst="rect">
                        <a:avLst/>
                      </a:prstGeom>
                      <a:noFill/>
                    </p:spPr>
                  </p:pic>
                </p:oleObj>
              </mc:Fallback>
            </mc:AlternateContent>
          </a:graphicData>
        </a:graphic>
      </p:graphicFrame>
      <p:graphicFrame>
        <p:nvGraphicFramePr>
          <p:cNvPr id="22" name="对象 21">
            <a:extLst>
              <a:ext uri="{FF2B5EF4-FFF2-40B4-BE49-F238E27FC236}">
                <a16:creationId xmlns:a16="http://schemas.microsoft.com/office/drawing/2014/main" id="{2359FD89-3215-E6E1-921B-8005E7E2EB6D}"/>
              </a:ext>
            </a:extLst>
          </p:cNvPr>
          <p:cNvGraphicFramePr>
            <a:graphicFrameLocks noChangeAspect="1"/>
          </p:cNvGraphicFramePr>
          <p:nvPr>
            <p:extLst>
              <p:ext uri="{D42A27DB-BD31-4B8C-83A1-F6EECF244321}">
                <p14:modId xmlns:p14="http://schemas.microsoft.com/office/powerpoint/2010/main" val="2666167771"/>
              </p:ext>
            </p:extLst>
          </p:nvPr>
        </p:nvGraphicFramePr>
        <p:xfrm>
          <a:off x="4588975" y="3501008"/>
          <a:ext cx="2119313" cy="838200"/>
        </p:xfrm>
        <a:graphic>
          <a:graphicData uri="http://schemas.openxmlformats.org/presentationml/2006/ole">
            <mc:AlternateContent xmlns:mc="http://schemas.openxmlformats.org/markup-compatibility/2006">
              <mc:Choice xmlns:v="urn:schemas-microsoft-com:vml" Requires="v">
                <p:oleObj name="Equation" r:id="rId13" imgW="1054100" imgH="419100" progId="Equation.DSMT4">
                  <p:embed/>
                </p:oleObj>
              </mc:Choice>
              <mc:Fallback>
                <p:oleObj name="Equation" r:id="rId13" imgW="1054100" imgH="419100" progId="Equation.DSMT4">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88975" y="3501008"/>
                        <a:ext cx="2119313"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对象 27">
            <a:extLst>
              <a:ext uri="{FF2B5EF4-FFF2-40B4-BE49-F238E27FC236}">
                <a16:creationId xmlns:a16="http://schemas.microsoft.com/office/drawing/2014/main" id="{EBAAA5F0-6802-7592-6AFB-BDA438BB9A73}"/>
              </a:ext>
            </a:extLst>
          </p:cNvPr>
          <p:cNvGraphicFramePr>
            <a:graphicFrameLocks noChangeAspect="1"/>
          </p:cNvGraphicFramePr>
          <p:nvPr>
            <p:extLst>
              <p:ext uri="{D42A27DB-BD31-4B8C-83A1-F6EECF244321}">
                <p14:modId xmlns:p14="http://schemas.microsoft.com/office/powerpoint/2010/main" val="1216738878"/>
              </p:ext>
            </p:extLst>
          </p:nvPr>
        </p:nvGraphicFramePr>
        <p:xfrm>
          <a:off x="1417940" y="3501008"/>
          <a:ext cx="432048" cy="600751"/>
        </p:xfrm>
        <a:graphic>
          <a:graphicData uri="http://schemas.openxmlformats.org/presentationml/2006/ole">
            <mc:AlternateContent xmlns:mc="http://schemas.openxmlformats.org/markup-compatibility/2006">
              <mc:Choice xmlns:v="urn:schemas-microsoft-com:vml" Requires="v">
                <p:oleObj name="Equation" r:id="rId7" imgW="203112" imgH="279279" progId="Equation.DSMT4">
                  <p:embed/>
                </p:oleObj>
              </mc:Choice>
              <mc:Fallback>
                <p:oleObj name="Equation" r:id="rId7" imgW="203112" imgH="279279" progId="Equation.DSMT4">
                  <p:embed/>
                  <p:pic>
                    <p:nvPicPr>
                      <p:cNvPr id="14" name="对象 13">
                        <a:extLst>
                          <a:ext uri="{FF2B5EF4-FFF2-40B4-BE49-F238E27FC236}">
                            <a16:creationId xmlns:a16="http://schemas.microsoft.com/office/drawing/2014/main" id="{0E126DA4-E4FB-B525-977A-8FE11ABB314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17940" y="3501008"/>
                        <a:ext cx="432048" cy="600751"/>
                      </a:xfrm>
                      <a:prstGeom prst="rect">
                        <a:avLst/>
                      </a:prstGeom>
                      <a:noFill/>
                    </p:spPr>
                  </p:pic>
                </p:oleObj>
              </mc:Fallback>
            </mc:AlternateContent>
          </a:graphicData>
        </a:graphic>
      </p:graphicFrame>
      <p:sp>
        <p:nvSpPr>
          <p:cNvPr id="29" name="Rectangle 9">
            <a:extLst>
              <a:ext uri="{FF2B5EF4-FFF2-40B4-BE49-F238E27FC236}">
                <a16:creationId xmlns:a16="http://schemas.microsoft.com/office/drawing/2014/main" id="{CCEDD167-E2B2-DFB2-00D1-F5DE293006ED}"/>
              </a:ext>
            </a:extLst>
          </p:cNvPr>
          <p:cNvSpPr>
            <a:spLocks noChangeArrowheads="1"/>
          </p:cNvSpPr>
          <p:nvPr/>
        </p:nvSpPr>
        <p:spPr bwMode="auto">
          <a:xfrm>
            <a:off x="971600" y="3671931"/>
            <a:ext cx="71287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与   </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有相同的转速</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(n=0)</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34" name="Rectangle 9">
            <a:extLst>
              <a:ext uri="{FF2B5EF4-FFF2-40B4-BE49-F238E27FC236}">
                <a16:creationId xmlns:a16="http://schemas.microsoft.com/office/drawing/2014/main" id="{A9F3A25F-0405-A25A-A07F-17882F3A2484}"/>
              </a:ext>
            </a:extLst>
          </p:cNvPr>
          <p:cNvSpPr>
            <a:spLocks noChangeArrowheads="1"/>
          </p:cNvSpPr>
          <p:nvPr/>
        </p:nvSpPr>
        <p:spPr bwMode="auto">
          <a:xfrm>
            <a:off x="971600" y="4317783"/>
            <a:ext cx="7344816" cy="168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lnSpc>
                <a:spcPct val="150000"/>
              </a:lnSpc>
            </a:pP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）因三相定子、转子电流有相同的相序，</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所以旋转磁势</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，转向相同，</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空间相对静止：</a:t>
            </a:r>
            <a:r>
              <a:rPr lang="zh-CN" altLang="zh-CN" sz="2400" b="1" kern="100" dirty="0">
                <a:solidFill>
                  <a:srgbClr val="000000"/>
                </a:solidFill>
                <a:effectLst/>
                <a:latin typeface="Times New Roman" panose="02020603050405020304" pitchFamily="18" charset="0"/>
                <a:ea typeface="黑体" panose="02010609060101010101" pitchFamily="49" charset="-122"/>
              </a:rPr>
              <a:t>可合成矢量为</a:t>
            </a:r>
            <a:r>
              <a:rPr lang="en-US" altLang="zh-CN" sz="2400" b="1" kern="100" dirty="0">
                <a:solidFill>
                  <a:srgbClr val="000000"/>
                </a:solidFill>
                <a:effectLst/>
                <a:latin typeface="Times New Roman" panose="02020603050405020304" pitchFamily="18" charset="0"/>
                <a:ea typeface="黑体" panose="02010609060101010101" pitchFamily="49" charset="-122"/>
              </a:rPr>
              <a:t>:</a:t>
            </a:r>
            <a:r>
              <a:rPr lang="zh-CN" altLang="zh-CN" sz="2400" b="1" kern="100" dirty="0">
                <a:solidFill>
                  <a:srgbClr val="000000"/>
                </a:solidFill>
                <a:effectLst/>
                <a:latin typeface="Times New Roman" panose="02020603050405020304" pitchFamily="18" charset="0"/>
                <a:ea typeface="黑体" panose="02010609060101010101" pitchFamily="49" charset="-122"/>
              </a:rPr>
              <a:t>（假定正向按变压器负载运行</a:t>
            </a:r>
            <a:r>
              <a:rPr lang="zh-CN" altLang="en-US" sz="2400" b="1" kern="100" dirty="0">
                <a:solidFill>
                  <a:srgbClr val="000000"/>
                </a:solidFill>
                <a:latin typeface="Times New Roman" panose="02020603050405020304" pitchFamily="18" charset="0"/>
                <a:ea typeface="黑体" panose="02010609060101010101" pitchFamily="49" charset="-122"/>
              </a:rPr>
              <a:t>分析相同</a:t>
            </a:r>
            <a:r>
              <a:rPr lang="zh-CN" altLang="zh-CN" sz="2400" b="1" kern="100" dirty="0">
                <a:solidFill>
                  <a:srgbClr val="000000"/>
                </a:solidFill>
                <a:effectLst/>
                <a:latin typeface="Times New Roman" panose="02020603050405020304" pitchFamily="18" charset="0"/>
                <a:ea typeface="黑体" panose="02010609060101010101" pitchFamily="49" charset="-122"/>
              </a:rPr>
              <a:t>惯例）</a:t>
            </a:r>
            <a:endParaRPr lang="zh-CN" altLang="zh-CN" sz="1600" b="1" kern="100" dirty="0">
              <a:solidFill>
                <a:srgbClr val="FF00FF"/>
              </a:solidFill>
              <a:effectLst/>
              <a:latin typeface="Times New Roman" panose="02020603050405020304" pitchFamily="18" charset="0"/>
              <a:ea typeface="宋体" panose="02010600030101010101" pitchFamily="2" charset="-122"/>
            </a:endParaRPr>
          </a:p>
        </p:txBody>
      </p:sp>
      <p:graphicFrame>
        <p:nvGraphicFramePr>
          <p:cNvPr id="39" name="对象 38">
            <a:extLst>
              <a:ext uri="{FF2B5EF4-FFF2-40B4-BE49-F238E27FC236}">
                <a16:creationId xmlns:a16="http://schemas.microsoft.com/office/drawing/2014/main" id="{67C4D59C-3A4D-9C6A-3132-8C847C82BFE3}"/>
              </a:ext>
            </a:extLst>
          </p:cNvPr>
          <p:cNvGraphicFramePr>
            <a:graphicFrameLocks noChangeAspect="1"/>
          </p:cNvGraphicFramePr>
          <p:nvPr>
            <p:extLst>
              <p:ext uri="{D42A27DB-BD31-4B8C-83A1-F6EECF244321}">
                <p14:modId xmlns:p14="http://schemas.microsoft.com/office/powerpoint/2010/main" val="489902265"/>
              </p:ext>
            </p:extLst>
          </p:nvPr>
        </p:nvGraphicFramePr>
        <p:xfrm>
          <a:off x="1678836" y="4843427"/>
          <a:ext cx="943782" cy="632956"/>
        </p:xfrm>
        <a:graphic>
          <a:graphicData uri="http://schemas.openxmlformats.org/presentationml/2006/ole">
            <mc:AlternateContent xmlns:mc="http://schemas.openxmlformats.org/markup-compatibility/2006">
              <mc:Choice xmlns:v="urn:schemas-microsoft-com:vml" Requires="v">
                <p:oleObj name="Equation" r:id="rId15" imgW="469696" imgH="317362" progId="Equation.DSMT4">
                  <p:embed/>
                </p:oleObj>
              </mc:Choice>
              <mc:Fallback>
                <p:oleObj name="Equation" r:id="rId15" imgW="469696" imgH="317362" progId="Equation.DSMT4">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78836" y="4843427"/>
                        <a:ext cx="943782" cy="632956"/>
                      </a:xfrm>
                      <a:prstGeom prst="rect">
                        <a:avLst/>
                      </a:prstGeom>
                      <a:noFill/>
                    </p:spPr>
                  </p:pic>
                </p:oleObj>
              </mc:Fallback>
            </mc:AlternateContent>
          </a:graphicData>
        </a:graphic>
      </p:graphicFrame>
      <p:graphicFrame>
        <p:nvGraphicFramePr>
          <p:cNvPr id="56" name="对象 55">
            <a:extLst>
              <a:ext uri="{FF2B5EF4-FFF2-40B4-BE49-F238E27FC236}">
                <a16:creationId xmlns:a16="http://schemas.microsoft.com/office/drawing/2014/main" id="{BC7C6949-7569-3BD4-39CB-25EE1E00FCBD}"/>
              </a:ext>
            </a:extLst>
          </p:cNvPr>
          <p:cNvGraphicFramePr>
            <a:graphicFrameLocks noChangeAspect="1"/>
          </p:cNvGraphicFramePr>
          <p:nvPr>
            <p:extLst>
              <p:ext uri="{D42A27DB-BD31-4B8C-83A1-F6EECF244321}">
                <p14:modId xmlns:p14="http://schemas.microsoft.com/office/powerpoint/2010/main" val="3071069481"/>
              </p:ext>
            </p:extLst>
          </p:nvPr>
        </p:nvGraphicFramePr>
        <p:xfrm>
          <a:off x="6876266" y="881413"/>
          <a:ext cx="2031494" cy="2143602"/>
        </p:xfrm>
        <a:graphic>
          <a:graphicData uri="http://schemas.openxmlformats.org/presentationml/2006/ole">
            <mc:AlternateContent xmlns:mc="http://schemas.openxmlformats.org/markup-compatibility/2006">
              <mc:Choice xmlns:v="urn:schemas-microsoft-com:vml" Requires="v">
                <p:oleObj r:id="rId17" imgW="1378080" imgH="1459080" progId="">
                  <p:embed/>
                </p:oleObj>
              </mc:Choice>
              <mc:Fallback>
                <p:oleObj r:id="rId17" imgW="1378080" imgH="1459080" progId="">
                  <p:embed/>
                  <p:pic>
                    <p:nvPicPr>
                      <p:cNvPr id="0"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876266" y="881413"/>
                        <a:ext cx="2031494" cy="2143602"/>
                      </a:xfrm>
                      <a:prstGeom prst="rect">
                        <a:avLst/>
                      </a:prstGeom>
                      <a:noFill/>
                      <a:ln>
                        <a:noFill/>
                      </a:ln>
                    </p:spPr>
                  </p:pic>
                </p:oleObj>
              </mc:Fallback>
            </mc:AlternateContent>
          </a:graphicData>
        </a:graphic>
      </p:graphicFrame>
      <p:sp>
        <p:nvSpPr>
          <p:cNvPr id="6" name="灯片编号占位符 5">
            <a:extLst>
              <a:ext uri="{FF2B5EF4-FFF2-40B4-BE49-F238E27FC236}">
                <a16:creationId xmlns:a16="http://schemas.microsoft.com/office/drawing/2014/main" id="{60C56DE0-D6F2-3599-8447-7ED029C441D7}"/>
              </a:ext>
            </a:extLst>
          </p:cNvPr>
          <p:cNvSpPr>
            <a:spLocks noGrp="1"/>
          </p:cNvSpPr>
          <p:nvPr>
            <p:ph type="sldNum" sz="quarter" idx="12"/>
          </p:nvPr>
        </p:nvSpPr>
        <p:spPr/>
        <p:txBody>
          <a:bodyPr/>
          <a:lstStyle/>
          <a:p>
            <a:fld id="{76D830B0-DF59-4281-898F-AF208100B213}" type="slidenum">
              <a:rPr lang="en-US" altLang="zh-CN" smtClean="0"/>
              <a:pPr/>
              <a:t>59</a:t>
            </a:fld>
            <a:endParaRPr lang="en-US" altLang="zh-CN"/>
          </a:p>
        </p:txBody>
      </p:sp>
    </p:spTree>
    <p:extLst>
      <p:ext uri="{BB962C8B-B14F-4D97-AF65-F5344CB8AC3E}">
        <p14:creationId xmlns:p14="http://schemas.microsoft.com/office/powerpoint/2010/main" val="31126540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3004A3B1-E73F-330D-21DA-D2D6E1637DFF}"/>
              </a:ext>
            </a:extLst>
          </p:cNvPr>
          <p:cNvGraphicFramePr>
            <a:graphicFrameLocks noChangeAspect="1"/>
          </p:cNvGraphicFramePr>
          <p:nvPr>
            <p:extLst>
              <p:ext uri="{D42A27DB-BD31-4B8C-83A1-F6EECF244321}">
                <p14:modId xmlns:p14="http://schemas.microsoft.com/office/powerpoint/2010/main" val="3618130972"/>
              </p:ext>
            </p:extLst>
          </p:nvPr>
        </p:nvGraphicFramePr>
        <p:xfrm>
          <a:off x="3366342" y="4293096"/>
          <a:ext cx="290513" cy="552450"/>
        </p:xfrm>
        <a:graphic>
          <a:graphicData uri="http://schemas.openxmlformats.org/presentationml/2006/ole">
            <mc:AlternateContent xmlns:mc="http://schemas.openxmlformats.org/markup-compatibility/2006">
              <mc:Choice xmlns:v="urn:schemas-microsoft-com:vml" Requires="v">
                <p:oleObj name="Equation" r:id="rId2" imgW="139579" imgH="266469" progId="Equation.DSMT4">
                  <p:embed/>
                </p:oleObj>
              </mc:Choice>
              <mc:Fallback>
                <p:oleObj name="Equation" r:id="rId2" imgW="139579" imgH="266469"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6342" y="4293096"/>
                        <a:ext cx="290513"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FEB2518B-736C-20CE-0AC3-63309873BB13}"/>
              </a:ext>
            </a:extLst>
          </p:cNvPr>
          <p:cNvGraphicFramePr>
            <a:graphicFrameLocks noChangeAspect="1"/>
          </p:cNvGraphicFramePr>
          <p:nvPr>
            <p:extLst>
              <p:ext uri="{D42A27DB-BD31-4B8C-83A1-F6EECF244321}">
                <p14:modId xmlns:p14="http://schemas.microsoft.com/office/powerpoint/2010/main" val="1949550577"/>
              </p:ext>
            </p:extLst>
          </p:nvPr>
        </p:nvGraphicFramePr>
        <p:xfrm>
          <a:off x="5236071" y="4319681"/>
          <a:ext cx="200025" cy="528638"/>
        </p:xfrm>
        <a:graphic>
          <a:graphicData uri="http://schemas.openxmlformats.org/presentationml/2006/ole">
            <mc:AlternateContent xmlns:mc="http://schemas.openxmlformats.org/markup-compatibility/2006">
              <mc:Choice xmlns:v="urn:schemas-microsoft-com:vml" Requires="v">
                <p:oleObj name="Equation" r:id="rId4" imgW="101512" imgH="266469" progId="Equation.DSMT4">
                  <p:embed/>
                </p:oleObj>
              </mc:Choice>
              <mc:Fallback>
                <p:oleObj name="Equation" r:id="rId4" imgW="101512" imgH="266469"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6071" y="4319681"/>
                        <a:ext cx="200025" cy="528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3">
            <a:extLst>
              <a:ext uri="{FF2B5EF4-FFF2-40B4-BE49-F238E27FC236}">
                <a16:creationId xmlns:a16="http://schemas.microsoft.com/office/drawing/2014/main" id="{F347DBA4-3462-91AF-40AC-13A233AEF433}"/>
              </a:ext>
            </a:extLst>
          </p:cNvPr>
          <p:cNvSpPr>
            <a:spLocks noChangeArrowheads="1"/>
          </p:cNvSpPr>
          <p:nvPr/>
        </p:nvSpPr>
        <p:spPr bwMode="auto">
          <a:xfrm>
            <a:off x="683568" y="4007855"/>
            <a:ext cx="8106910" cy="1833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问题：能否由</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3</a:t>
            </a:r>
            <a:r>
              <a:rPr lang="en-US" altLang="zh-CN"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写出</a:t>
            </a:r>
            <a:r>
              <a:rPr lang="en-US" altLang="zh-CN"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4)</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400" b="0" i="0" u="none" strike="noStrike" cap="none" normalizeH="0" baseline="0" dirty="0">
              <a:ln>
                <a:noFill/>
              </a:ln>
              <a:solidFill>
                <a:schemeClr val="tx1"/>
              </a:solidFill>
              <a:effectLst/>
            </a:endParaRPr>
          </a:p>
          <a:p>
            <a:pPr marL="0" marR="0" lvl="0" indent="0" algn="l" defTabSz="914400" rtl="0" eaLnBrk="0" fontAlgn="base" latinLnBrk="0" hangingPunct="0">
              <a:lnSpc>
                <a:spcPct val="13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需明确空间矢量  </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和时间向量  间的关系</a:t>
            </a:r>
            <a:endParaRPr lang="en-US" altLang="zh-CN"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30000"/>
              </a:lnSpc>
              <a:spcBef>
                <a:spcPct val="0"/>
              </a:spcBef>
              <a:spcAft>
                <a:spcPct val="0"/>
              </a:spcAft>
              <a:buClrTx/>
              <a:buSzTx/>
              <a:buFontTx/>
              <a:buNone/>
              <a:tabLst/>
            </a:pP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为了与变压器分析方法类似，</a:t>
            </a:r>
            <a:r>
              <a:rPr lang="zh-CN" altLang="en-US" sz="2400" b="1" dirty="0">
                <a:latin typeface="黑体" panose="02010609060101010101" pitchFamily="49" charset="-122"/>
                <a:ea typeface="黑体" panose="02010609060101010101" pitchFamily="49" charset="-122"/>
                <a:cs typeface="Times New Roman" panose="02020603050405020304" pitchFamily="18" charset="0"/>
              </a:rPr>
              <a:t>需要从磁</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势平衡方程中分离出一相定、转子绕组间的磁势平衡方程。</a:t>
            </a:r>
          </a:p>
        </p:txBody>
      </p:sp>
      <p:sp>
        <p:nvSpPr>
          <p:cNvPr id="12" name="Rectangle 9">
            <a:extLst>
              <a:ext uri="{FF2B5EF4-FFF2-40B4-BE49-F238E27FC236}">
                <a16:creationId xmlns:a16="http://schemas.microsoft.com/office/drawing/2014/main" id="{4B852426-0250-E314-40FA-016D3B0CE06D}"/>
              </a:ext>
            </a:extLst>
          </p:cNvPr>
          <p:cNvSpPr>
            <a:spLocks noChangeArrowheads="1"/>
          </p:cNvSpPr>
          <p:nvPr/>
        </p:nvSpPr>
        <p:spPr bwMode="auto">
          <a:xfrm>
            <a:off x="683568" y="2780928"/>
            <a:ext cx="7239878" cy="504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lnSpc>
                <a:spcPct val="130000"/>
              </a:lnSpc>
            </a:pP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4</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）电机磁场由定、转子磁势共同建立：</a:t>
            </a:r>
          </a:p>
        </p:txBody>
      </p:sp>
      <p:graphicFrame>
        <p:nvGraphicFramePr>
          <p:cNvPr id="16" name="对象 15">
            <a:extLst>
              <a:ext uri="{FF2B5EF4-FFF2-40B4-BE49-F238E27FC236}">
                <a16:creationId xmlns:a16="http://schemas.microsoft.com/office/drawing/2014/main" id="{A5C2AB43-6E99-6916-23E3-D056F1AD8927}"/>
              </a:ext>
            </a:extLst>
          </p:cNvPr>
          <p:cNvGraphicFramePr>
            <a:graphicFrameLocks noChangeAspect="1"/>
          </p:cNvGraphicFramePr>
          <p:nvPr>
            <p:extLst>
              <p:ext uri="{D42A27DB-BD31-4B8C-83A1-F6EECF244321}">
                <p14:modId xmlns:p14="http://schemas.microsoft.com/office/powerpoint/2010/main" val="1572023214"/>
              </p:ext>
            </p:extLst>
          </p:nvPr>
        </p:nvGraphicFramePr>
        <p:xfrm>
          <a:off x="2390290" y="3246036"/>
          <a:ext cx="3904258" cy="666256"/>
        </p:xfrm>
        <a:graphic>
          <a:graphicData uri="http://schemas.openxmlformats.org/presentationml/2006/ole">
            <mc:AlternateContent xmlns:mc="http://schemas.openxmlformats.org/markup-compatibility/2006">
              <mc:Choice xmlns:v="urn:schemas-microsoft-com:vml" Requires="v">
                <p:oleObj name="Equation" r:id="rId6" imgW="1841500" imgH="317500" progId="Equation.DSMT4">
                  <p:embed/>
                </p:oleObj>
              </mc:Choice>
              <mc:Fallback>
                <p:oleObj name="Equation" r:id="rId6" imgW="1841500" imgH="317500" progId="Equation.DSMT4">
                  <p:embed/>
                  <p:pic>
                    <p:nvPicPr>
                      <p:cNvPr id="54" name="对象 53">
                        <a:extLst>
                          <a:ext uri="{FF2B5EF4-FFF2-40B4-BE49-F238E27FC236}">
                            <a16:creationId xmlns:a16="http://schemas.microsoft.com/office/drawing/2014/main" id="{0869FDF9-B463-88C4-CCCA-F5D6468C062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90290" y="3246036"/>
                        <a:ext cx="3904258" cy="666256"/>
                      </a:xfrm>
                      <a:prstGeom prst="rect">
                        <a:avLst/>
                      </a:prstGeom>
                      <a:noFill/>
                    </p:spPr>
                  </p:pic>
                </p:oleObj>
              </mc:Fallback>
            </mc:AlternateContent>
          </a:graphicData>
        </a:graphic>
      </p:graphicFrame>
      <p:sp>
        <p:nvSpPr>
          <p:cNvPr id="17" name="Rectangle 32">
            <a:extLst>
              <a:ext uri="{FF2B5EF4-FFF2-40B4-BE49-F238E27FC236}">
                <a16:creationId xmlns:a16="http://schemas.microsoft.com/office/drawing/2014/main" id="{890CB92A-76E2-BC04-B833-3CCDC48FDB8D}"/>
              </a:ext>
            </a:extLst>
          </p:cNvPr>
          <p:cNvSpPr>
            <a:spLocks noChangeArrowheads="1"/>
          </p:cNvSpPr>
          <p:nvPr/>
        </p:nvSpPr>
        <p:spPr bwMode="auto">
          <a:xfrm>
            <a:off x="6084168" y="3367962"/>
            <a:ext cx="27063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en-US" altLang="zh-CN" sz="2400" b="1"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时间坐标、单相</a:t>
            </a:r>
            <a:r>
              <a:rPr kumimoji="0" lang="en-US" altLang="zh-CN" sz="2400" b="1"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rgbClr val="C00000"/>
              </a:solidFill>
              <a:effectLst/>
              <a:latin typeface="Arial" panose="020B0604020202020204" pitchFamily="34" charset="0"/>
            </a:endParaRPr>
          </a:p>
        </p:txBody>
      </p:sp>
      <p:graphicFrame>
        <p:nvGraphicFramePr>
          <p:cNvPr id="20" name="对象 19">
            <a:extLst>
              <a:ext uri="{FF2B5EF4-FFF2-40B4-BE49-F238E27FC236}">
                <a16:creationId xmlns:a16="http://schemas.microsoft.com/office/drawing/2014/main" id="{300288C7-04A8-0CFE-17EF-0879B9A1E0CD}"/>
              </a:ext>
            </a:extLst>
          </p:cNvPr>
          <p:cNvGraphicFramePr>
            <a:graphicFrameLocks noChangeAspect="1"/>
          </p:cNvGraphicFramePr>
          <p:nvPr>
            <p:extLst>
              <p:ext uri="{D42A27DB-BD31-4B8C-83A1-F6EECF244321}">
                <p14:modId xmlns:p14="http://schemas.microsoft.com/office/powerpoint/2010/main" val="4243846892"/>
              </p:ext>
            </p:extLst>
          </p:nvPr>
        </p:nvGraphicFramePr>
        <p:xfrm>
          <a:off x="3883139" y="1343098"/>
          <a:ext cx="1595438" cy="671513"/>
        </p:xfrm>
        <a:graphic>
          <a:graphicData uri="http://schemas.openxmlformats.org/presentationml/2006/ole">
            <mc:AlternateContent xmlns:mc="http://schemas.openxmlformats.org/markup-compatibility/2006">
              <mc:Choice xmlns:v="urn:schemas-microsoft-com:vml" Requires="v">
                <p:oleObj name="Equation" r:id="rId8" imgW="736280" imgH="317362" progId="Equation.DSMT4">
                  <p:embed/>
                </p:oleObj>
              </mc:Choice>
              <mc:Fallback>
                <p:oleObj name="Equation" r:id="rId8" imgW="736280" imgH="317362" progId="Equation.DSMT4">
                  <p:embed/>
                  <p:pic>
                    <p:nvPicPr>
                      <p:cNvPr id="46" name="对象 45">
                        <a:extLst>
                          <a:ext uri="{FF2B5EF4-FFF2-40B4-BE49-F238E27FC236}">
                            <a16:creationId xmlns:a16="http://schemas.microsoft.com/office/drawing/2014/main" id="{C93928E2-DA77-F1EE-8AF9-CD0B38D7387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83139" y="1343098"/>
                        <a:ext cx="1595438" cy="671513"/>
                      </a:xfrm>
                      <a:prstGeom prst="rect">
                        <a:avLst/>
                      </a:prstGeom>
                      <a:solidFill>
                        <a:srgbClr val="00FF00"/>
                      </a:solidFill>
                    </p:spPr>
                  </p:pic>
                </p:oleObj>
              </mc:Fallback>
            </mc:AlternateContent>
          </a:graphicData>
        </a:graphic>
      </p:graphicFrame>
      <p:sp>
        <p:nvSpPr>
          <p:cNvPr id="23" name="Rectangle 32">
            <a:extLst>
              <a:ext uri="{FF2B5EF4-FFF2-40B4-BE49-F238E27FC236}">
                <a16:creationId xmlns:a16="http://schemas.microsoft.com/office/drawing/2014/main" id="{D70EE639-C40B-8DBC-6990-8E9AD9D7094D}"/>
              </a:ext>
            </a:extLst>
          </p:cNvPr>
          <p:cNvSpPr>
            <a:spLocks noChangeArrowheads="1"/>
          </p:cNvSpPr>
          <p:nvPr/>
        </p:nvSpPr>
        <p:spPr bwMode="auto">
          <a:xfrm>
            <a:off x="683568" y="1471499"/>
            <a:ext cx="34134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n=0</a:t>
            </a: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的磁势平衡方程：</a:t>
            </a:r>
            <a:endParaRPr kumimoji="0" lang="en-US" altLang="zh-CN" sz="1800" b="0" i="0" u="none" strike="noStrike" cap="none" normalizeH="0" baseline="0" dirty="0">
              <a:ln>
                <a:noFill/>
              </a:ln>
              <a:solidFill>
                <a:srgbClr val="FF0000"/>
              </a:solidFill>
              <a:effectLst/>
              <a:latin typeface="Arial" panose="020B0604020202020204" pitchFamily="34" charset="0"/>
            </a:endParaRPr>
          </a:p>
        </p:txBody>
      </p:sp>
      <p:cxnSp>
        <p:nvCxnSpPr>
          <p:cNvPr id="24" name="连接符: 肘形 23">
            <a:extLst>
              <a:ext uri="{FF2B5EF4-FFF2-40B4-BE49-F238E27FC236}">
                <a16:creationId xmlns:a16="http://schemas.microsoft.com/office/drawing/2014/main" id="{E76E17C0-9E6E-2E07-3080-3FF3F119EA9F}"/>
              </a:ext>
            </a:extLst>
          </p:cNvPr>
          <p:cNvCxnSpPr>
            <a:cxnSpLocks/>
          </p:cNvCxnSpPr>
          <p:nvPr/>
        </p:nvCxnSpPr>
        <p:spPr>
          <a:xfrm rot="10800000" flipV="1">
            <a:off x="3667115" y="2051096"/>
            <a:ext cx="432048" cy="147131"/>
          </a:xfrm>
          <a:prstGeom prst="bentConnector3">
            <a:avLst>
              <a:gd name="adj1" fmla="val -4674"/>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4">
            <a:extLst>
              <a:ext uri="{FF2B5EF4-FFF2-40B4-BE49-F238E27FC236}">
                <a16:creationId xmlns:a16="http://schemas.microsoft.com/office/drawing/2014/main" id="{5D5C5F9B-E69E-1D59-107A-8A23522DCD42}"/>
              </a:ext>
            </a:extLst>
          </p:cNvPr>
          <p:cNvSpPr>
            <a:spLocks noChangeArrowheads="1"/>
          </p:cNvSpPr>
          <p:nvPr/>
        </p:nvSpPr>
        <p:spPr bwMode="auto">
          <a:xfrm>
            <a:off x="2549831" y="1970610"/>
            <a:ext cx="1339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rPr>
              <a:t>励磁磁势</a:t>
            </a:r>
            <a:endParaRPr kumimoji="0" lang="en-US" altLang="zh-CN" sz="20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endParaRPr>
          </a:p>
        </p:txBody>
      </p:sp>
      <p:sp>
        <p:nvSpPr>
          <p:cNvPr id="26" name="Rectangle 32">
            <a:extLst>
              <a:ext uri="{FF2B5EF4-FFF2-40B4-BE49-F238E27FC236}">
                <a16:creationId xmlns:a16="http://schemas.microsoft.com/office/drawing/2014/main" id="{64EE4D6B-2EF0-5C6F-F3D1-36DF428FAA12}"/>
              </a:ext>
            </a:extLst>
          </p:cNvPr>
          <p:cNvSpPr>
            <a:spLocks noChangeArrowheads="1"/>
          </p:cNvSpPr>
          <p:nvPr/>
        </p:nvSpPr>
        <p:spPr bwMode="auto">
          <a:xfrm>
            <a:off x="5410579" y="1469192"/>
            <a:ext cx="27063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空间</a:t>
            </a:r>
            <a:r>
              <a:rPr kumimoji="0" lang="zh-CN" altLang="en-US" sz="24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坐标、三相</a:t>
            </a:r>
            <a:r>
              <a:rPr kumimoji="0" lang="en-US" altLang="zh-CN" sz="2400" b="1" i="0" u="none" strike="noStrike" cap="none" normalizeH="0" baseline="0" dirty="0">
                <a:ln>
                  <a:noFill/>
                </a:ln>
                <a:solidFill>
                  <a:srgbClr val="C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b="0" i="0" u="none" strike="noStrike" cap="none" normalizeH="0" baseline="0" dirty="0">
              <a:ln>
                <a:noFill/>
              </a:ln>
              <a:solidFill>
                <a:srgbClr val="C00000"/>
              </a:solidFill>
              <a:effectLst/>
            </a:endParaRPr>
          </a:p>
        </p:txBody>
      </p:sp>
      <p:sp>
        <p:nvSpPr>
          <p:cNvPr id="27" name="Rectangle 4">
            <a:extLst>
              <a:ext uri="{FF2B5EF4-FFF2-40B4-BE49-F238E27FC236}">
                <a16:creationId xmlns:a16="http://schemas.microsoft.com/office/drawing/2014/main" id="{AB448B08-5D53-A7D8-4F72-4BAC62AB5C2D}"/>
              </a:ext>
            </a:extLst>
          </p:cNvPr>
          <p:cNvSpPr>
            <a:spLocks noChangeArrowheads="1"/>
          </p:cNvSpPr>
          <p:nvPr/>
        </p:nvSpPr>
        <p:spPr bwMode="auto">
          <a:xfrm>
            <a:off x="3802138" y="2374371"/>
            <a:ext cx="18697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000" b="1" dirty="0">
                <a:latin typeface="黑体" panose="02010609060101010101" pitchFamily="49" charset="-122"/>
                <a:ea typeface="黑体" panose="02010609060101010101" pitchFamily="49" charset="-122"/>
              </a:rPr>
              <a:t>定子合成</a:t>
            </a:r>
            <a:r>
              <a:rPr kumimoji="0" lang="zh-CN" altLang="en-US" sz="2000" b="1" i="0" u="none" strike="noStrike" cap="none" normalizeH="0" baseline="0" dirty="0">
                <a:ln>
                  <a:noFill/>
                </a:ln>
                <a:effectLst/>
                <a:latin typeface="黑体" panose="02010609060101010101" pitchFamily="49" charset="-122"/>
                <a:ea typeface="黑体" panose="02010609060101010101" pitchFamily="49" charset="-122"/>
              </a:rPr>
              <a:t>磁势</a:t>
            </a:r>
            <a:endParaRPr kumimoji="0" lang="en-US" altLang="zh-CN" sz="2000" b="1" i="0" u="none" strike="noStrike" cap="none" normalizeH="0" baseline="0" dirty="0">
              <a:ln>
                <a:noFill/>
              </a:ln>
              <a:effectLst/>
              <a:latin typeface="黑体" panose="02010609060101010101" pitchFamily="49" charset="-122"/>
              <a:ea typeface="黑体" panose="02010609060101010101" pitchFamily="49" charset="-122"/>
            </a:endParaRPr>
          </a:p>
        </p:txBody>
      </p:sp>
      <p:sp>
        <p:nvSpPr>
          <p:cNvPr id="30" name="Rectangle 4">
            <a:extLst>
              <a:ext uri="{FF2B5EF4-FFF2-40B4-BE49-F238E27FC236}">
                <a16:creationId xmlns:a16="http://schemas.microsoft.com/office/drawing/2014/main" id="{AF497AF0-1012-EC7A-93BF-C6155D1E8DD7}"/>
              </a:ext>
            </a:extLst>
          </p:cNvPr>
          <p:cNvSpPr>
            <a:spLocks noChangeArrowheads="1"/>
          </p:cNvSpPr>
          <p:nvPr/>
        </p:nvSpPr>
        <p:spPr bwMode="auto">
          <a:xfrm>
            <a:off x="5655488" y="2041095"/>
            <a:ext cx="18697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000" b="1" dirty="0">
                <a:solidFill>
                  <a:srgbClr val="0000FF"/>
                </a:solidFill>
                <a:latin typeface="黑体" panose="02010609060101010101" pitchFamily="49" charset="-122"/>
                <a:ea typeface="黑体" panose="02010609060101010101" pitchFamily="49" charset="-122"/>
              </a:rPr>
              <a:t>转子合成</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rPr>
              <a:t>磁势</a:t>
            </a:r>
            <a:endParaRPr kumimoji="0" lang="en-US" altLang="zh-CN"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endParaRPr>
          </a:p>
        </p:txBody>
      </p:sp>
      <p:cxnSp>
        <p:nvCxnSpPr>
          <p:cNvPr id="32" name="直接箭头连接符 31">
            <a:extLst>
              <a:ext uri="{FF2B5EF4-FFF2-40B4-BE49-F238E27FC236}">
                <a16:creationId xmlns:a16="http://schemas.microsoft.com/office/drawing/2014/main" id="{1749C89F-B3F4-6E61-8ACF-4FF7AF7D0E33}"/>
              </a:ext>
            </a:extLst>
          </p:cNvPr>
          <p:cNvCxnSpPr>
            <a:cxnSpLocks/>
          </p:cNvCxnSpPr>
          <p:nvPr/>
        </p:nvCxnSpPr>
        <p:spPr>
          <a:xfrm flipH="1">
            <a:off x="4687228" y="1978315"/>
            <a:ext cx="35158" cy="4398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DABBE655-E337-D991-1A81-EEBA637247A1}"/>
              </a:ext>
            </a:extLst>
          </p:cNvPr>
          <p:cNvCxnSpPr>
            <a:cxnSpLocks/>
            <a:endCxn id="30" idx="1"/>
          </p:cNvCxnSpPr>
          <p:nvPr/>
        </p:nvCxnSpPr>
        <p:spPr>
          <a:xfrm>
            <a:off x="5422163" y="2001269"/>
            <a:ext cx="233325" cy="23988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 name="灯片编号占位符 3">
            <a:extLst>
              <a:ext uri="{FF2B5EF4-FFF2-40B4-BE49-F238E27FC236}">
                <a16:creationId xmlns:a16="http://schemas.microsoft.com/office/drawing/2014/main" id="{ED6144E4-EF3A-8FB7-29DB-A9D865B49099}"/>
              </a:ext>
            </a:extLst>
          </p:cNvPr>
          <p:cNvSpPr>
            <a:spLocks noGrp="1"/>
          </p:cNvSpPr>
          <p:nvPr>
            <p:ph type="sldNum" sz="quarter" idx="12"/>
          </p:nvPr>
        </p:nvSpPr>
        <p:spPr/>
        <p:txBody>
          <a:bodyPr/>
          <a:lstStyle/>
          <a:p>
            <a:fld id="{76D830B0-DF59-4281-898F-AF208100B213}" type="slidenum">
              <a:rPr lang="en-US" altLang="zh-CN" smtClean="0"/>
              <a:pPr/>
              <a:t>60</a:t>
            </a:fld>
            <a:endParaRPr lang="en-US" altLang="zh-CN"/>
          </a:p>
        </p:txBody>
      </p:sp>
    </p:spTree>
    <p:extLst>
      <p:ext uri="{BB962C8B-B14F-4D97-AF65-F5344CB8AC3E}">
        <p14:creationId xmlns:p14="http://schemas.microsoft.com/office/powerpoint/2010/main" val="36345819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7C3A1FD2-A309-BCF9-7BE4-43431B219C72}"/>
              </a:ext>
            </a:extLst>
          </p:cNvPr>
          <p:cNvSpPr txBox="1"/>
          <p:nvPr/>
        </p:nvSpPr>
        <p:spPr>
          <a:xfrm>
            <a:off x="251520" y="1023119"/>
            <a:ext cx="7920880" cy="461665"/>
          </a:xfrm>
          <a:prstGeom prst="rect">
            <a:avLst/>
          </a:prstGeom>
          <a:noFill/>
        </p:spPr>
        <p:txBody>
          <a:bodyPr wrap="square">
            <a:spAutoFit/>
          </a:bodyPr>
          <a:lstStyle/>
          <a:p>
            <a:pPr eaLnBrk="0" hangingPunct="0"/>
            <a:r>
              <a:rPr lang="en-US" altLang="zh-CN"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空间矢量</a:t>
            </a: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和时间向量</a:t>
            </a: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间的关系</a:t>
            </a:r>
            <a:r>
              <a:rPr kumimoji="0" lang="zh-CN" altLang="zh-CN"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时空矢量图</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对象 1">
            <a:extLst>
              <a:ext uri="{FF2B5EF4-FFF2-40B4-BE49-F238E27FC236}">
                <a16:creationId xmlns:a16="http://schemas.microsoft.com/office/drawing/2014/main" id="{0C17C293-0A28-CFF4-E142-0C9A67D8094C}"/>
              </a:ext>
            </a:extLst>
          </p:cNvPr>
          <p:cNvGraphicFramePr>
            <a:graphicFrameLocks noChangeAspect="1"/>
          </p:cNvGraphicFramePr>
          <p:nvPr>
            <p:extLst>
              <p:ext uri="{D42A27DB-BD31-4B8C-83A1-F6EECF244321}">
                <p14:modId xmlns:p14="http://schemas.microsoft.com/office/powerpoint/2010/main" val="3286401256"/>
              </p:ext>
            </p:extLst>
          </p:nvPr>
        </p:nvGraphicFramePr>
        <p:xfrm>
          <a:off x="2051720" y="868934"/>
          <a:ext cx="300840" cy="575023"/>
        </p:xfrm>
        <a:graphic>
          <a:graphicData uri="http://schemas.openxmlformats.org/presentationml/2006/ole">
            <mc:AlternateContent xmlns:mc="http://schemas.openxmlformats.org/markup-compatibility/2006">
              <mc:Choice xmlns:v="urn:schemas-microsoft-com:vml" Requires="v">
                <p:oleObj name="Equation" r:id="rId3" imgW="139579" imgH="266469" progId="Equation.DSMT4">
                  <p:embed/>
                </p:oleObj>
              </mc:Choice>
              <mc:Fallback>
                <p:oleObj name="Equation" r:id="rId3" imgW="139579" imgH="266469"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868934"/>
                        <a:ext cx="300840" cy="575023"/>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F791AD07-2D28-EC00-E6CB-AD98F67EDD44}"/>
              </a:ext>
            </a:extLst>
          </p:cNvPr>
          <p:cNvGraphicFramePr>
            <a:graphicFrameLocks noChangeAspect="1"/>
          </p:cNvGraphicFramePr>
          <p:nvPr>
            <p:extLst>
              <p:ext uri="{D42A27DB-BD31-4B8C-83A1-F6EECF244321}">
                <p14:modId xmlns:p14="http://schemas.microsoft.com/office/powerpoint/2010/main" val="50604768"/>
              </p:ext>
            </p:extLst>
          </p:nvPr>
        </p:nvGraphicFramePr>
        <p:xfrm>
          <a:off x="3914371" y="907736"/>
          <a:ext cx="206267" cy="542571"/>
        </p:xfrm>
        <a:graphic>
          <a:graphicData uri="http://schemas.openxmlformats.org/presentationml/2006/ole">
            <mc:AlternateContent xmlns:mc="http://schemas.openxmlformats.org/markup-compatibility/2006">
              <mc:Choice xmlns:v="urn:schemas-microsoft-com:vml" Requires="v">
                <p:oleObj name="Equation" r:id="rId5" imgW="101512" imgH="266469" progId="Equation.DSMT4">
                  <p:embed/>
                </p:oleObj>
              </mc:Choice>
              <mc:Fallback>
                <p:oleObj name="Equation" r:id="rId5" imgW="101512" imgH="266469"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14371" y="907736"/>
                        <a:ext cx="206267" cy="542571"/>
                      </a:xfrm>
                      <a:prstGeom prst="rect">
                        <a:avLst/>
                      </a:prstGeom>
                      <a:noFill/>
                    </p:spPr>
                  </p:pic>
                </p:oleObj>
              </mc:Fallback>
            </mc:AlternateContent>
          </a:graphicData>
        </a:graphic>
      </p:graphicFrame>
      <p:sp>
        <p:nvSpPr>
          <p:cNvPr id="3" name="Rectangle 2">
            <a:extLst>
              <a:ext uri="{FF2B5EF4-FFF2-40B4-BE49-F238E27FC236}">
                <a16:creationId xmlns:a16="http://schemas.microsoft.com/office/drawing/2014/main" id="{CFD6CE51-5BCC-4A01-6818-10BE8083AE11}"/>
              </a:ext>
            </a:extLst>
          </p:cNvPr>
          <p:cNvSpPr>
            <a:spLocks noChangeArrowheads="1"/>
          </p:cNvSpPr>
          <p:nvPr/>
        </p:nvSpPr>
        <p:spPr bwMode="auto">
          <a:xfrm>
            <a:off x="395536" y="1833823"/>
            <a:ext cx="849694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电流（时间）相量的性质</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：当</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U</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相电流达到最大值时，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在</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+j</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轴线上，旋转角频率</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对象 3">
            <a:extLst>
              <a:ext uri="{FF2B5EF4-FFF2-40B4-BE49-F238E27FC236}">
                <a16:creationId xmlns:a16="http://schemas.microsoft.com/office/drawing/2014/main" id="{08487241-29FB-0C1E-A7F6-73B14740FF0B}"/>
              </a:ext>
            </a:extLst>
          </p:cNvPr>
          <p:cNvGraphicFramePr>
            <a:graphicFrameLocks noChangeAspect="1"/>
          </p:cNvGraphicFramePr>
          <p:nvPr>
            <p:extLst>
              <p:ext uri="{D42A27DB-BD31-4B8C-83A1-F6EECF244321}">
                <p14:modId xmlns:p14="http://schemas.microsoft.com/office/powerpoint/2010/main" val="4016790295"/>
              </p:ext>
            </p:extLst>
          </p:nvPr>
        </p:nvGraphicFramePr>
        <p:xfrm>
          <a:off x="7677101" y="1721566"/>
          <a:ext cx="361950" cy="561975"/>
        </p:xfrm>
        <a:graphic>
          <a:graphicData uri="http://schemas.openxmlformats.org/presentationml/2006/ole">
            <mc:AlternateContent xmlns:mc="http://schemas.openxmlformats.org/markup-compatibility/2006">
              <mc:Choice xmlns:v="urn:schemas-microsoft-com:vml" Requires="v">
                <p:oleObj name="Equation" r:id="rId7" imgW="177646" imgH="279158" progId="Equation.DSMT4">
                  <p:embed/>
                </p:oleObj>
              </mc:Choice>
              <mc:Fallback>
                <p:oleObj name="Equation" r:id="rId7" imgW="177646" imgH="279158" progId="Equation.DSMT4">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77101" y="1721566"/>
                        <a:ext cx="361950"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890B24D3-393A-216A-7723-C1073AB13E4B}"/>
              </a:ext>
            </a:extLst>
          </p:cNvPr>
          <p:cNvGraphicFramePr>
            <a:graphicFrameLocks noChangeAspect="1"/>
          </p:cNvGraphicFramePr>
          <p:nvPr>
            <p:extLst>
              <p:ext uri="{D42A27DB-BD31-4B8C-83A1-F6EECF244321}">
                <p14:modId xmlns:p14="http://schemas.microsoft.com/office/powerpoint/2010/main" val="2705742877"/>
              </p:ext>
            </p:extLst>
          </p:nvPr>
        </p:nvGraphicFramePr>
        <p:xfrm>
          <a:off x="1231186" y="2872163"/>
          <a:ext cx="6622826" cy="2809684"/>
        </p:xfrm>
        <a:graphic>
          <a:graphicData uri="http://schemas.openxmlformats.org/presentationml/2006/ole">
            <mc:AlternateContent xmlns:mc="http://schemas.openxmlformats.org/markup-compatibility/2006">
              <mc:Choice xmlns:v="urn:schemas-microsoft-com:vml" Requires="v">
                <p:oleObj r:id="rId9" imgW="2190750" imgH="920750" progId="MSDraw">
                  <p:embed/>
                </p:oleObj>
              </mc:Choice>
              <mc:Fallback>
                <p:oleObj r:id="rId9" imgW="2190750" imgH="920750" progId="MSDraw">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31186" y="2872163"/>
                        <a:ext cx="6622826" cy="2809684"/>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3379185D-341C-76BD-39AA-69AEDBFC5819}"/>
              </a:ext>
            </a:extLst>
          </p:cNvPr>
          <p:cNvGraphicFramePr>
            <a:graphicFrameLocks noChangeAspect="1"/>
          </p:cNvGraphicFramePr>
          <p:nvPr>
            <p:extLst>
              <p:ext uri="{D42A27DB-BD31-4B8C-83A1-F6EECF244321}">
                <p14:modId xmlns:p14="http://schemas.microsoft.com/office/powerpoint/2010/main" val="4021533205"/>
              </p:ext>
            </p:extLst>
          </p:nvPr>
        </p:nvGraphicFramePr>
        <p:xfrm>
          <a:off x="3296856" y="2214690"/>
          <a:ext cx="1290638" cy="481013"/>
        </p:xfrm>
        <a:graphic>
          <a:graphicData uri="http://schemas.openxmlformats.org/presentationml/2006/ole">
            <mc:AlternateContent xmlns:mc="http://schemas.openxmlformats.org/markup-compatibility/2006">
              <mc:Choice xmlns:v="urn:schemas-microsoft-com:vml" Requires="v">
                <p:oleObj name="Equation" r:id="rId11" imgW="609600" imgH="228600" progId="Equation.DSMT4">
                  <p:embed/>
                </p:oleObj>
              </mc:Choice>
              <mc:Fallback>
                <p:oleObj name="Equation" r:id="rId11" imgW="609600" imgH="2286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96856" y="2214690"/>
                        <a:ext cx="1290638"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8">
            <a:extLst>
              <a:ext uri="{FF2B5EF4-FFF2-40B4-BE49-F238E27FC236}">
                <a16:creationId xmlns:a16="http://schemas.microsoft.com/office/drawing/2014/main" id="{21D81FDC-2807-60BD-55BB-8D5A35FC8556}"/>
              </a:ext>
            </a:extLst>
          </p:cNvPr>
          <p:cNvSpPr>
            <a:spLocks noChangeArrowheads="1"/>
          </p:cNvSpPr>
          <p:nvPr/>
        </p:nvSpPr>
        <p:spPr bwMode="auto">
          <a:xfrm>
            <a:off x="395536" y="616530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4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2" name="Rectangle 4">
            <a:extLst>
              <a:ext uri="{FF2B5EF4-FFF2-40B4-BE49-F238E27FC236}">
                <a16:creationId xmlns:a16="http://schemas.microsoft.com/office/drawing/2014/main" id="{E314368F-0E11-4926-16F5-9F00E3DE8537}"/>
              </a:ext>
            </a:extLst>
          </p:cNvPr>
          <p:cNvSpPr>
            <a:spLocks noChangeArrowheads="1"/>
          </p:cNvSpPr>
          <p:nvPr/>
        </p:nvSpPr>
        <p:spPr bwMode="auto">
          <a:xfrm>
            <a:off x="899592" y="5621338"/>
            <a:ext cx="7757272" cy="102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zh-CN" altLang="en-US" sz="2200" b="1" dirty="0">
                <a:solidFill>
                  <a:srgbClr val="C00000"/>
                </a:solidFill>
                <a:latin typeface="黑体" panose="02010609060101010101" pitchFamily="49" charset="-122"/>
                <a:ea typeface="黑体" panose="02010609060101010101" pitchFamily="49" charset="-122"/>
              </a:rPr>
              <a:t>符号法</a:t>
            </a:r>
            <a:r>
              <a:rPr lang="en-US" altLang="zh-CN" sz="2200" b="1" dirty="0">
                <a:solidFill>
                  <a:srgbClr val="C00000"/>
                </a:solidFill>
                <a:latin typeface="黑体" panose="02010609060101010101" pitchFamily="49" charset="-122"/>
                <a:ea typeface="黑体" panose="02010609060101010101" pitchFamily="49" charset="-122"/>
              </a:rPr>
              <a:t>:</a:t>
            </a:r>
            <a:r>
              <a:rPr lang="zh-CN" altLang="en-US" sz="2200" b="1" dirty="0">
                <a:solidFill>
                  <a:srgbClr val="C00000"/>
                </a:solidFill>
                <a:latin typeface="黑体" panose="02010609060101010101" pitchFamily="49" charset="-122"/>
                <a:ea typeface="黑体" panose="02010609060101010101" pitchFamily="49" charset="-122"/>
              </a:rPr>
              <a:t>复平面上旋转相量   的瞬时值等于该瞬间   的模在纵轴</a:t>
            </a:r>
            <a:r>
              <a:rPr lang="en-US" altLang="zh-CN" sz="2200" b="1" dirty="0">
                <a:solidFill>
                  <a:srgbClr val="C00000"/>
                </a:solidFill>
                <a:latin typeface="黑体" panose="02010609060101010101" pitchFamily="49" charset="-122"/>
                <a:ea typeface="黑体" panose="02010609060101010101" pitchFamily="49" charset="-122"/>
              </a:rPr>
              <a:t>+j</a:t>
            </a:r>
            <a:r>
              <a:rPr lang="zh-CN" altLang="en-US" sz="2200" b="1" dirty="0">
                <a:solidFill>
                  <a:srgbClr val="C00000"/>
                </a:solidFill>
                <a:latin typeface="黑体" panose="02010609060101010101" pitchFamily="49" charset="-122"/>
                <a:ea typeface="黑体" panose="02010609060101010101" pitchFamily="49" charset="-122"/>
              </a:rPr>
              <a:t>上的投影。</a:t>
            </a:r>
            <a:endParaRPr kumimoji="0" lang="en-US" altLang="zh-CN" sz="22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endParaRPr>
          </a:p>
        </p:txBody>
      </p:sp>
      <p:graphicFrame>
        <p:nvGraphicFramePr>
          <p:cNvPr id="14" name="对象 13">
            <a:extLst>
              <a:ext uri="{FF2B5EF4-FFF2-40B4-BE49-F238E27FC236}">
                <a16:creationId xmlns:a16="http://schemas.microsoft.com/office/drawing/2014/main" id="{E4B7E2C8-1A3F-BCD4-026B-2FEA2AEF8032}"/>
              </a:ext>
            </a:extLst>
          </p:cNvPr>
          <p:cNvGraphicFramePr>
            <a:graphicFrameLocks noChangeAspect="1"/>
          </p:cNvGraphicFramePr>
          <p:nvPr>
            <p:extLst>
              <p:ext uri="{D42A27DB-BD31-4B8C-83A1-F6EECF244321}">
                <p14:modId xmlns:p14="http://schemas.microsoft.com/office/powerpoint/2010/main" val="1145288777"/>
              </p:ext>
            </p:extLst>
          </p:nvPr>
        </p:nvGraphicFramePr>
        <p:xfrm>
          <a:off x="4276388" y="5587737"/>
          <a:ext cx="334963" cy="561975"/>
        </p:xfrm>
        <a:graphic>
          <a:graphicData uri="http://schemas.openxmlformats.org/presentationml/2006/ole">
            <mc:AlternateContent xmlns:mc="http://schemas.openxmlformats.org/markup-compatibility/2006">
              <mc:Choice xmlns:v="urn:schemas-microsoft-com:vml" Requires="v">
                <p:oleObj name="Equation" r:id="rId13" imgW="164880" imgH="279360" progId="Equation.DSMT4">
                  <p:embed/>
                </p:oleObj>
              </mc:Choice>
              <mc:Fallback>
                <p:oleObj name="Equation" r:id="rId13" imgW="164880" imgH="279360" progId="Equation.DSMT4">
                  <p:embed/>
                  <p:pic>
                    <p:nvPicPr>
                      <p:cNvPr id="4" name="对象 3">
                        <a:extLst>
                          <a:ext uri="{FF2B5EF4-FFF2-40B4-BE49-F238E27FC236}">
                            <a16:creationId xmlns:a16="http://schemas.microsoft.com/office/drawing/2014/main" id="{08487241-29FB-0C1E-A7F6-73B14740FF0B}"/>
                          </a:ext>
                        </a:extLst>
                      </p:cNvPr>
                      <p:cNvPicPr>
                        <a:picLocks noChangeAspect="1" noChangeArrowheads="1"/>
                      </p:cNvPicPr>
                      <p:nvPr/>
                    </p:nvPicPr>
                    <p:blipFill>
                      <a:blip r:embed="rId14"/>
                      <a:srcRect/>
                      <a:stretch>
                        <a:fillRect/>
                      </a:stretch>
                    </p:blipFill>
                    <p:spPr bwMode="auto">
                      <a:xfrm>
                        <a:off x="4276388" y="5587737"/>
                        <a:ext cx="334963"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a:extLst>
              <a:ext uri="{FF2B5EF4-FFF2-40B4-BE49-F238E27FC236}">
                <a16:creationId xmlns:a16="http://schemas.microsoft.com/office/drawing/2014/main" id="{D36BE504-645A-798E-54ED-C50ADDB560D6}"/>
              </a:ext>
            </a:extLst>
          </p:cNvPr>
          <p:cNvGraphicFramePr>
            <a:graphicFrameLocks noChangeAspect="1"/>
          </p:cNvGraphicFramePr>
          <p:nvPr>
            <p:extLst>
              <p:ext uri="{D42A27DB-BD31-4B8C-83A1-F6EECF244321}">
                <p14:modId xmlns:p14="http://schemas.microsoft.com/office/powerpoint/2010/main" val="3717970508"/>
              </p:ext>
            </p:extLst>
          </p:nvPr>
        </p:nvGraphicFramePr>
        <p:xfrm>
          <a:off x="7235825" y="5621338"/>
          <a:ext cx="334963" cy="561975"/>
        </p:xfrm>
        <a:graphic>
          <a:graphicData uri="http://schemas.openxmlformats.org/presentationml/2006/ole">
            <mc:AlternateContent xmlns:mc="http://schemas.openxmlformats.org/markup-compatibility/2006">
              <mc:Choice xmlns:v="urn:schemas-microsoft-com:vml" Requires="v">
                <p:oleObj name="Equation" r:id="rId15" imgW="164880" imgH="279360" progId="Equation.DSMT4">
                  <p:embed/>
                </p:oleObj>
              </mc:Choice>
              <mc:Fallback>
                <p:oleObj name="Equation" r:id="rId15" imgW="164880" imgH="279360" progId="Equation.DSMT4">
                  <p:embed/>
                  <p:pic>
                    <p:nvPicPr>
                      <p:cNvPr id="14" name="对象 13">
                        <a:extLst>
                          <a:ext uri="{FF2B5EF4-FFF2-40B4-BE49-F238E27FC236}">
                            <a16:creationId xmlns:a16="http://schemas.microsoft.com/office/drawing/2014/main" id="{E4B7E2C8-1A3F-BCD4-026B-2FEA2AEF8032}"/>
                          </a:ext>
                        </a:extLst>
                      </p:cNvPr>
                      <p:cNvPicPr>
                        <a:picLocks noChangeAspect="1" noChangeArrowheads="1"/>
                      </p:cNvPicPr>
                      <p:nvPr/>
                    </p:nvPicPr>
                    <p:blipFill>
                      <a:blip r:embed="rId16"/>
                      <a:srcRect/>
                      <a:stretch>
                        <a:fillRect/>
                      </a:stretch>
                    </p:blipFill>
                    <p:spPr bwMode="auto">
                      <a:xfrm>
                        <a:off x="7235825" y="5621338"/>
                        <a:ext cx="334963"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a:extLst>
              <a:ext uri="{FF2B5EF4-FFF2-40B4-BE49-F238E27FC236}">
                <a16:creationId xmlns:a16="http://schemas.microsoft.com/office/drawing/2014/main" id="{1C3EA585-1C54-C799-E286-C9A65141C9A3}"/>
              </a:ext>
            </a:extLst>
          </p:cNvPr>
          <p:cNvSpPr>
            <a:spLocks noGrp="1"/>
          </p:cNvSpPr>
          <p:nvPr>
            <p:ph type="sldNum" sz="quarter" idx="12"/>
          </p:nvPr>
        </p:nvSpPr>
        <p:spPr/>
        <p:txBody>
          <a:bodyPr/>
          <a:lstStyle/>
          <a:p>
            <a:fld id="{76D830B0-DF59-4281-898F-AF208100B213}" type="slidenum">
              <a:rPr lang="en-US" altLang="zh-CN" smtClean="0"/>
              <a:pPr/>
              <a:t>61</a:t>
            </a:fld>
            <a:endParaRPr lang="en-US" altLang="zh-CN"/>
          </a:p>
        </p:txBody>
      </p:sp>
    </p:spTree>
    <p:extLst>
      <p:ext uri="{BB962C8B-B14F-4D97-AF65-F5344CB8AC3E}">
        <p14:creationId xmlns:p14="http://schemas.microsoft.com/office/powerpoint/2010/main" val="27992574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a:extLst>
              <a:ext uri="{FF2B5EF4-FFF2-40B4-BE49-F238E27FC236}">
                <a16:creationId xmlns:a16="http://schemas.microsoft.com/office/drawing/2014/main" id="{25359B5C-5EE4-D3E2-ED6F-F6A164FDC27E}"/>
              </a:ext>
            </a:extLst>
          </p:cNvPr>
          <p:cNvGraphicFramePr>
            <a:graphicFrameLocks noChangeAspect="1"/>
          </p:cNvGraphicFramePr>
          <p:nvPr>
            <p:extLst>
              <p:ext uri="{D42A27DB-BD31-4B8C-83A1-F6EECF244321}">
                <p14:modId xmlns:p14="http://schemas.microsoft.com/office/powerpoint/2010/main" val="2805113148"/>
              </p:ext>
            </p:extLst>
          </p:nvPr>
        </p:nvGraphicFramePr>
        <p:xfrm>
          <a:off x="7728625" y="764704"/>
          <a:ext cx="515783" cy="747713"/>
        </p:xfrm>
        <a:graphic>
          <a:graphicData uri="http://schemas.openxmlformats.org/presentationml/2006/ole">
            <mc:AlternateContent xmlns:mc="http://schemas.openxmlformats.org/markup-compatibility/2006">
              <mc:Choice xmlns:v="urn:schemas-microsoft-com:vml" Requires="v">
                <p:oleObj name="Equation" r:id="rId3" imgW="177646" imgH="279158" progId="Equation.DSMT4">
                  <p:embed/>
                </p:oleObj>
              </mc:Choice>
              <mc:Fallback>
                <p:oleObj name="Equation" r:id="rId3" imgW="177646" imgH="279158"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28625" y="764704"/>
                        <a:ext cx="515783" cy="747713"/>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301628A6-55B6-AAD7-C4F2-1EE5202CDA92}"/>
              </a:ext>
            </a:extLst>
          </p:cNvPr>
          <p:cNvGraphicFramePr>
            <a:graphicFrameLocks noChangeAspect="1"/>
          </p:cNvGraphicFramePr>
          <p:nvPr>
            <p:extLst>
              <p:ext uri="{D42A27DB-BD31-4B8C-83A1-F6EECF244321}">
                <p14:modId xmlns:p14="http://schemas.microsoft.com/office/powerpoint/2010/main" val="2830058407"/>
              </p:ext>
            </p:extLst>
          </p:nvPr>
        </p:nvGraphicFramePr>
        <p:xfrm>
          <a:off x="4595829" y="1391540"/>
          <a:ext cx="1261369" cy="438150"/>
        </p:xfrm>
        <a:graphic>
          <a:graphicData uri="http://schemas.openxmlformats.org/presentationml/2006/ole">
            <mc:AlternateContent xmlns:mc="http://schemas.openxmlformats.org/markup-compatibility/2006">
              <mc:Choice xmlns:v="urn:schemas-microsoft-com:vml" Requires="v">
                <p:oleObj name="Equation" r:id="rId5" imgW="609600" imgH="228600" progId="Equation.DSMT4">
                  <p:embed/>
                </p:oleObj>
              </mc:Choice>
              <mc:Fallback>
                <p:oleObj name="Equation" r:id="rId5" imgW="609600" imgH="228600"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5829" y="1391540"/>
                        <a:ext cx="1261369" cy="438150"/>
                      </a:xfrm>
                      <a:prstGeom prst="rect">
                        <a:avLst/>
                      </a:prstGeom>
                      <a:noFill/>
                    </p:spPr>
                  </p:pic>
                </p:oleObj>
              </mc:Fallback>
            </mc:AlternateContent>
          </a:graphicData>
        </a:graphic>
      </p:graphicFrame>
      <p:sp>
        <p:nvSpPr>
          <p:cNvPr id="16" name="Rectangle 4">
            <a:extLst>
              <a:ext uri="{FF2B5EF4-FFF2-40B4-BE49-F238E27FC236}">
                <a16:creationId xmlns:a16="http://schemas.microsoft.com/office/drawing/2014/main" id="{9EDDC313-C649-93EA-0FC8-963EC70B4F80}"/>
              </a:ext>
            </a:extLst>
          </p:cNvPr>
          <p:cNvSpPr>
            <a:spLocks noChangeArrowheads="1"/>
          </p:cNvSpPr>
          <p:nvPr/>
        </p:nvSpPr>
        <p:spPr bwMode="auto">
          <a:xfrm>
            <a:off x="563416" y="998693"/>
            <a:ext cx="82809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磁势（空间）矢量的性质</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：当</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U</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相电流达到最大值时，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在</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U</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相绕组轴线上，旋转角频率        ，</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f</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：定子电流频率。</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1" name="对象 20">
            <a:extLst>
              <a:ext uri="{FF2B5EF4-FFF2-40B4-BE49-F238E27FC236}">
                <a16:creationId xmlns:a16="http://schemas.microsoft.com/office/drawing/2014/main" id="{AA7B1DF3-FD15-FCD0-4E9E-94CCC27EE2AE}"/>
              </a:ext>
            </a:extLst>
          </p:cNvPr>
          <p:cNvGraphicFramePr>
            <a:graphicFrameLocks noChangeAspect="1"/>
          </p:cNvGraphicFramePr>
          <p:nvPr>
            <p:extLst>
              <p:ext uri="{D42A27DB-BD31-4B8C-83A1-F6EECF244321}">
                <p14:modId xmlns:p14="http://schemas.microsoft.com/office/powerpoint/2010/main" val="650549559"/>
              </p:ext>
            </p:extLst>
          </p:nvPr>
        </p:nvGraphicFramePr>
        <p:xfrm>
          <a:off x="1547594" y="1946232"/>
          <a:ext cx="6096470" cy="2137831"/>
        </p:xfrm>
        <a:graphic>
          <a:graphicData uri="http://schemas.openxmlformats.org/presentationml/2006/ole">
            <mc:AlternateContent xmlns:mc="http://schemas.openxmlformats.org/markup-compatibility/2006">
              <mc:Choice xmlns:v="urn:schemas-microsoft-com:vml" Requires="v">
                <p:oleObj r:id="rId7" imgW="2582863" imgH="1873250" progId="MSDraw">
                  <p:embed/>
                </p:oleObj>
              </mc:Choice>
              <mc:Fallback>
                <p:oleObj r:id="rId7" imgW="2582863" imgH="1873250" progId="MSDraw">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594" y="1946232"/>
                        <a:ext cx="6096470" cy="2137831"/>
                      </a:xfrm>
                      <a:prstGeom prst="rect">
                        <a:avLst/>
                      </a:prstGeom>
                      <a:noFill/>
                    </p:spPr>
                  </p:pic>
                </p:oleObj>
              </mc:Fallback>
            </mc:AlternateContent>
          </a:graphicData>
        </a:graphic>
      </p:graphicFrame>
      <p:graphicFrame>
        <p:nvGraphicFramePr>
          <p:cNvPr id="25" name="对象 24">
            <a:extLst>
              <a:ext uri="{FF2B5EF4-FFF2-40B4-BE49-F238E27FC236}">
                <a16:creationId xmlns:a16="http://schemas.microsoft.com/office/drawing/2014/main" id="{B95A05F9-D5E9-B411-F712-31D037AB3844}"/>
              </a:ext>
            </a:extLst>
          </p:cNvPr>
          <p:cNvGraphicFramePr>
            <a:graphicFrameLocks noChangeAspect="1"/>
          </p:cNvGraphicFramePr>
          <p:nvPr>
            <p:extLst>
              <p:ext uri="{D42A27DB-BD31-4B8C-83A1-F6EECF244321}">
                <p14:modId xmlns:p14="http://schemas.microsoft.com/office/powerpoint/2010/main" val="3498782427"/>
              </p:ext>
            </p:extLst>
          </p:nvPr>
        </p:nvGraphicFramePr>
        <p:xfrm>
          <a:off x="1763688" y="4200605"/>
          <a:ext cx="5880376" cy="2486406"/>
        </p:xfrm>
        <a:graphic>
          <a:graphicData uri="http://schemas.openxmlformats.org/presentationml/2006/ole">
            <mc:AlternateContent xmlns:mc="http://schemas.openxmlformats.org/markup-compatibility/2006">
              <mc:Choice xmlns:v="urn:schemas-microsoft-com:vml" Requires="v">
                <p:oleObj r:id="rId9" imgW="2109788" imgH="895350" progId="MSDraw">
                  <p:embed/>
                </p:oleObj>
              </mc:Choice>
              <mc:Fallback>
                <p:oleObj r:id="rId9" imgW="2109788" imgH="895350" progId="MSDraw">
                  <p:embed/>
                  <p:pic>
                    <p:nvPicPr>
                      <p:cNvPr id="2" name="对象 1">
                        <a:extLst>
                          <a:ext uri="{FF2B5EF4-FFF2-40B4-BE49-F238E27FC236}">
                            <a16:creationId xmlns:a16="http://schemas.microsoft.com/office/drawing/2014/main" id="{2FA9255D-C688-8E90-E204-23BA926DD11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688" y="4200605"/>
                        <a:ext cx="5880376" cy="2486406"/>
                      </a:xfrm>
                      <a:prstGeom prst="rect">
                        <a:avLst/>
                      </a:prstGeom>
                      <a:noFill/>
                    </p:spPr>
                  </p:pic>
                </p:oleObj>
              </mc:Fallback>
            </mc:AlternateContent>
          </a:graphicData>
        </a:graphic>
      </p:graphicFrame>
      <p:sp>
        <p:nvSpPr>
          <p:cNvPr id="3" name="灯片编号占位符 2">
            <a:extLst>
              <a:ext uri="{FF2B5EF4-FFF2-40B4-BE49-F238E27FC236}">
                <a16:creationId xmlns:a16="http://schemas.microsoft.com/office/drawing/2014/main" id="{972B7B12-4A34-5BAB-CEDB-54FF437E8072}"/>
              </a:ext>
            </a:extLst>
          </p:cNvPr>
          <p:cNvSpPr>
            <a:spLocks noGrp="1"/>
          </p:cNvSpPr>
          <p:nvPr>
            <p:ph type="sldNum" sz="quarter" idx="12"/>
          </p:nvPr>
        </p:nvSpPr>
        <p:spPr/>
        <p:txBody>
          <a:bodyPr/>
          <a:lstStyle/>
          <a:p>
            <a:fld id="{76D830B0-DF59-4281-898F-AF208100B213}" type="slidenum">
              <a:rPr lang="en-US" altLang="zh-CN" smtClean="0"/>
              <a:pPr/>
              <a:t>62</a:t>
            </a:fld>
            <a:endParaRPr lang="en-US" altLang="zh-CN"/>
          </a:p>
        </p:txBody>
      </p:sp>
    </p:spTree>
    <p:extLst>
      <p:ext uri="{BB962C8B-B14F-4D97-AF65-F5344CB8AC3E}">
        <p14:creationId xmlns:p14="http://schemas.microsoft.com/office/powerpoint/2010/main" val="7247111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95D6996E-0B3D-F883-DF8B-756699FF30AA}"/>
              </a:ext>
            </a:extLst>
          </p:cNvPr>
          <p:cNvGraphicFramePr>
            <a:graphicFrameLocks noChangeAspect="1"/>
          </p:cNvGraphicFramePr>
          <p:nvPr>
            <p:extLst>
              <p:ext uri="{D42A27DB-BD31-4B8C-83A1-F6EECF244321}">
                <p14:modId xmlns:p14="http://schemas.microsoft.com/office/powerpoint/2010/main" val="1575982148"/>
              </p:ext>
            </p:extLst>
          </p:nvPr>
        </p:nvGraphicFramePr>
        <p:xfrm>
          <a:off x="1475656" y="1340768"/>
          <a:ext cx="5976664" cy="2490276"/>
        </p:xfrm>
        <a:graphic>
          <a:graphicData uri="http://schemas.openxmlformats.org/presentationml/2006/ole">
            <mc:AlternateContent xmlns:mc="http://schemas.openxmlformats.org/markup-compatibility/2006">
              <mc:Choice xmlns:v="urn:schemas-microsoft-com:vml" Requires="v">
                <p:oleObj r:id="rId3" imgW="2305050" imgH="949325" progId="MSDraw">
                  <p:embed/>
                </p:oleObj>
              </mc:Choice>
              <mc:Fallback>
                <p:oleObj r:id="rId3" imgW="2305050" imgH="949325" progId="MSDraw">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1340768"/>
                        <a:ext cx="5976664" cy="2490276"/>
                      </a:xfrm>
                      <a:prstGeom prst="rect">
                        <a:avLst/>
                      </a:prstGeom>
                      <a:noFill/>
                    </p:spPr>
                  </p:pic>
                </p:oleObj>
              </mc:Fallback>
            </mc:AlternateContent>
          </a:graphicData>
        </a:graphic>
      </p:graphicFrame>
      <p:sp>
        <p:nvSpPr>
          <p:cNvPr id="12" name="文本框 11">
            <a:extLst>
              <a:ext uri="{FF2B5EF4-FFF2-40B4-BE49-F238E27FC236}">
                <a16:creationId xmlns:a16="http://schemas.microsoft.com/office/drawing/2014/main" id="{F9C624D4-1E19-612C-F71D-F4F0FAB78987}"/>
              </a:ext>
            </a:extLst>
          </p:cNvPr>
          <p:cNvSpPr txBox="1"/>
          <p:nvPr/>
        </p:nvSpPr>
        <p:spPr>
          <a:xfrm>
            <a:off x="683568" y="4029249"/>
            <a:ext cx="7992888" cy="1569660"/>
          </a:xfrm>
          <a:prstGeom prst="rect">
            <a:avLst/>
          </a:prstGeom>
          <a:noFill/>
        </p:spPr>
        <p:txBody>
          <a:bodyPr wrap="square">
            <a:spAutoFit/>
          </a:bodyPr>
          <a:lstStyle/>
          <a:p>
            <a:pPr algn="l"/>
            <a:r>
              <a:rPr lang="zh-CN" altLang="zh-CN" sz="2400" b="1" kern="100" dirty="0">
                <a:solidFill>
                  <a:srgbClr val="000000"/>
                </a:solidFill>
                <a:effectLst/>
                <a:latin typeface="Times New Roman" panose="02020603050405020304" pitchFamily="18" charset="0"/>
                <a:ea typeface="黑体" panose="02010609060101010101" pitchFamily="49" charset="-122"/>
              </a:rPr>
              <a:t>取</a:t>
            </a:r>
            <a:r>
              <a:rPr lang="en-US" altLang="zh-CN" sz="2400" b="1" kern="100" dirty="0">
                <a:solidFill>
                  <a:srgbClr val="000000"/>
                </a:solidFill>
                <a:effectLst/>
                <a:latin typeface="Times New Roman" panose="02020603050405020304" pitchFamily="18" charset="0"/>
                <a:ea typeface="黑体" panose="02010609060101010101" pitchFamily="49" charset="-122"/>
              </a:rPr>
              <a:t>U</a:t>
            </a:r>
            <a:r>
              <a:rPr lang="zh-CN" altLang="zh-CN" sz="2400" b="1" kern="100" dirty="0">
                <a:solidFill>
                  <a:srgbClr val="000000"/>
                </a:solidFill>
                <a:effectLst/>
                <a:latin typeface="Times New Roman" panose="02020603050405020304" pitchFamily="18" charset="0"/>
                <a:ea typeface="黑体" panose="02010609060101010101" pitchFamily="49" charset="-122"/>
              </a:rPr>
              <a:t>相电流的</a:t>
            </a:r>
            <a:r>
              <a:rPr lang="zh-CN" altLang="zh-CN" sz="2400" b="1" kern="100" dirty="0">
                <a:solidFill>
                  <a:srgbClr val="FF0000"/>
                </a:solidFill>
                <a:effectLst/>
                <a:latin typeface="Times New Roman" panose="02020603050405020304" pitchFamily="18" charset="0"/>
                <a:ea typeface="黑体" panose="02010609060101010101" pitchFamily="49" charset="-122"/>
              </a:rPr>
              <a:t>时轴＋</a:t>
            </a:r>
            <a:r>
              <a:rPr lang="en-US" altLang="zh-CN" sz="2400" b="1" kern="100" dirty="0">
                <a:solidFill>
                  <a:srgbClr val="FF0000"/>
                </a:solidFill>
                <a:effectLst/>
                <a:latin typeface="Times New Roman" panose="02020603050405020304" pitchFamily="18" charset="0"/>
                <a:ea typeface="黑体" panose="02010609060101010101" pitchFamily="49" charset="-122"/>
              </a:rPr>
              <a:t>j</a:t>
            </a:r>
            <a:r>
              <a:rPr lang="zh-CN" altLang="zh-CN" sz="2400" b="1" kern="100" dirty="0">
                <a:solidFill>
                  <a:srgbClr val="FF0000"/>
                </a:solidFill>
                <a:effectLst/>
                <a:latin typeface="Times New Roman" panose="02020603050405020304" pitchFamily="18" charset="0"/>
                <a:ea typeface="黑体" panose="02010609060101010101" pitchFamily="49" charset="-122"/>
              </a:rPr>
              <a:t>与该相相轴</a:t>
            </a:r>
            <a:r>
              <a:rPr lang="en-US" altLang="zh-CN" sz="2400" b="1" kern="100" dirty="0">
                <a:solidFill>
                  <a:srgbClr val="FF0000"/>
                </a:solidFill>
                <a:effectLst/>
                <a:latin typeface="Times New Roman" panose="02020603050405020304" pitchFamily="18" charset="0"/>
                <a:ea typeface="黑体" panose="02010609060101010101" pitchFamily="49" charset="-122"/>
              </a:rPr>
              <a:t>+U</a:t>
            </a:r>
            <a:r>
              <a:rPr lang="zh-CN" altLang="zh-CN" sz="2400" b="1" kern="100" dirty="0">
                <a:solidFill>
                  <a:srgbClr val="FF0000"/>
                </a:solidFill>
                <a:effectLst/>
                <a:latin typeface="Times New Roman" panose="02020603050405020304" pitchFamily="18" charset="0"/>
                <a:ea typeface="黑体" panose="02010609060101010101" pitchFamily="49" charset="-122"/>
              </a:rPr>
              <a:t>重合</a:t>
            </a:r>
            <a:r>
              <a:rPr lang="zh-CN" altLang="en-US" sz="2400" b="1" kern="100" dirty="0">
                <a:solidFill>
                  <a:srgbClr val="000000"/>
                </a:solidFill>
                <a:effectLst/>
                <a:latin typeface="Times New Roman" panose="02020603050405020304" pitchFamily="18" charset="0"/>
                <a:ea typeface="黑体" panose="02010609060101010101" pitchFamily="49" charset="-122"/>
              </a:rPr>
              <a:t>（</a:t>
            </a:r>
            <a:r>
              <a:rPr lang="zh-CN" altLang="en-US" sz="2400" b="1" kern="100" dirty="0">
                <a:solidFill>
                  <a:srgbClr val="FF0000"/>
                </a:solidFill>
                <a:effectLst/>
                <a:latin typeface="Times New Roman" panose="02020603050405020304" pitchFamily="18" charset="0"/>
                <a:ea typeface="黑体" panose="02010609060101010101" pitchFamily="49" charset="-122"/>
              </a:rPr>
              <a:t>取相同相位，时间与空间统一定义在复平面上</a:t>
            </a:r>
            <a:r>
              <a:rPr lang="zh-CN" altLang="en-US" sz="2400" b="1" kern="100" dirty="0">
                <a:solidFill>
                  <a:srgbClr val="000000"/>
                </a:solidFill>
                <a:effectLst/>
                <a:latin typeface="Times New Roman" panose="02020603050405020304" pitchFamily="18" charset="0"/>
                <a:ea typeface="黑体" panose="02010609060101010101" pitchFamily="49" charset="-122"/>
              </a:rPr>
              <a:t>）</a:t>
            </a:r>
            <a:r>
              <a:rPr lang="zh-CN" altLang="zh-CN" sz="2400" b="1" kern="100" dirty="0">
                <a:solidFill>
                  <a:srgbClr val="000000"/>
                </a:solidFill>
                <a:effectLst/>
                <a:latin typeface="Times New Roman" panose="02020603050405020304" pitchFamily="18" charset="0"/>
                <a:ea typeface="黑体" panose="02010609060101010101" pitchFamily="49" charset="-122"/>
              </a:rPr>
              <a:t>，则磁势和电流有相同的初相，且在任一瞬时二者均保持相同的相位</a:t>
            </a:r>
            <a:r>
              <a:rPr lang="en-US" altLang="zh-CN" sz="2400" b="1" kern="100" dirty="0">
                <a:solidFill>
                  <a:srgbClr val="000000"/>
                </a:solidFill>
                <a:effectLst/>
                <a:latin typeface="Times New Roman" panose="02020603050405020304" pitchFamily="18" charset="0"/>
                <a:ea typeface="黑体" panose="02010609060101010101" pitchFamily="49" charset="-122"/>
              </a:rPr>
              <a:t>(</a:t>
            </a:r>
            <a:r>
              <a:rPr lang="zh-CN" altLang="zh-CN" sz="2400" b="1" kern="100" dirty="0">
                <a:solidFill>
                  <a:srgbClr val="000000"/>
                </a:solidFill>
                <a:effectLst/>
                <a:latin typeface="Times New Roman" panose="02020603050405020304" pitchFamily="18" charset="0"/>
                <a:ea typeface="黑体" panose="02010609060101010101" pitchFamily="49" charset="-122"/>
              </a:rPr>
              <a:t>转速、转向相同</a:t>
            </a:r>
            <a:r>
              <a:rPr lang="en-US" altLang="zh-CN" sz="2400" b="1" kern="100" dirty="0">
                <a:solidFill>
                  <a:srgbClr val="000000"/>
                </a:solidFill>
                <a:effectLst/>
                <a:latin typeface="Times New Roman" panose="02020603050405020304" pitchFamily="18" charset="0"/>
                <a:ea typeface="黑体" panose="02010609060101010101" pitchFamily="49" charset="-122"/>
              </a:rPr>
              <a:t>)</a:t>
            </a:r>
            <a:r>
              <a:rPr lang="zh-CN" altLang="zh-CN" sz="2400" b="1" kern="100" dirty="0">
                <a:solidFill>
                  <a:srgbClr val="000000"/>
                </a:solidFill>
                <a:effectLst/>
                <a:latin typeface="Times New Roman" panose="02020603050405020304" pitchFamily="18" charset="0"/>
                <a:ea typeface="黑体" panose="02010609060101010101" pitchFamily="49" charset="-122"/>
              </a:rPr>
              <a:t>。</a:t>
            </a:r>
            <a:r>
              <a:rPr lang="zh-CN" altLang="en-US" sz="2400" b="1" kern="100" dirty="0">
                <a:solidFill>
                  <a:srgbClr val="000000"/>
                </a:solidFill>
                <a:effectLst/>
                <a:latin typeface="Times New Roman" panose="02020603050405020304" pitchFamily="18" charset="0"/>
                <a:ea typeface="黑体" panose="02010609060101010101" pitchFamily="49" charset="-122"/>
              </a:rPr>
              <a:t>此关系不因定、转子绕组轴线不重合而改变。</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sp>
        <p:nvSpPr>
          <p:cNvPr id="14" name="文本框 13">
            <a:extLst>
              <a:ext uri="{FF2B5EF4-FFF2-40B4-BE49-F238E27FC236}">
                <a16:creationId xmlns:a16="http://schemas.microsoft.com/office/drawing/2014/main" id="{E5A2DA89-E408-3732-E6DC-805EA6CB11CD}"/>
              </a:ext>
            </a:extLst>
          </p:cNvPr>
          <p:cNvSpPr txBox="1"/>
          <p:nvPr/>
        </p:nvSpPr>
        <p:spPr>
          <a:xfrm>
            <a:off x="755576" y="5517232"/>
            <a:ext cx="7848872" cy="830997"/>
          </a:xfrm>
          <a:prstGeom prst="rect">
            <a:avLst/>
          </a:prstGeom>
          <a:noFill/>
        </p:spPr>
        <p:txBody>
          <a:bodyPr wrap="square">
            <a:spAutoFit/>
          </a:bodyPr>
          <a:lstStyle/>
          <a:p>
            <a:pPr algn="l"/>
            <a:r>
              <a:rPr lang="zh-CN" altLang="zh-CN" sz="2400" b="1" kern="100" dirty="0">
                <a:solidFill>
                  <a:srgbClr val="0000FF"/>
                </a:solidFill>
                <a:effectLst/>
                <a:latin typeface="Times New Roman" panose="02020603050405020304" pitchFamily="18" charset="0"/>
                <a:ea typeface="黑体" panose="02010609060101010101" pitchFamily="49" charset="-122"/>
              </a:rPr>
              <a:t>作用：建立</a:t>
            </a:r>
            <a:r>
              <a:rPr lang="zh-CN" altLang="zh-CN" sz="2400" b="1" kern="100" dirty="0">
                <a:solidFill>
                  <a:srgbClr val="FF0000"/>
                </a:solidFill>
                <a:effectLst/>
                <a:latin typeface="Times New Roman" panose="02020603050405020304" pitchFamily="18" charset="0"/>
                <a:ea typeface="黑体" panose="02010609060101010101" pitchFamily="49" charset="-122"/>
              </a:rPr>
              <a:t>三相合成磁势和一相电流间</a:t>
            </a:r>
            <a:r>
              <a:rPr lang="zh-CN" altLang="zh-CN" sz="2400" b="1" kern="100" dirty="0">
                <a:solidFill>
                  <a:srgbClr val="0000FF"/>
                </a:solidFill>
                <a:effectLst/>
                <a:latin typeface="Times New Roman" panose="02020603050405020304" pitchFamily="18" charset="0"/>
                <a:ea typeface="黑体" panose="02010609060101010101" pitchFamily="49" charset="-122"/>
              </a:rPr>
              <a:t>的关系，以实现相分离。</a:t>
            </a:r>
            <a:endParaRPr lang="zh-CN" altLang="zh-CN" sz="1600" b="1" kern="100" dirty="0">
              <a:solidFill>
                <a:srgbClr val="FF00FF"/>
              </a:solidFill>
              <a:effectLst/>
              <a:latin typeface="Times New Roman" panose="02020603050405020304" pitchFamily="18" charset="0"/>
              <a:ea typeface="宋体" panose="02010600030101010101" pitchFamily="2" charset="-122"/>
            </a:endParaRPr>
          </a:p>
        </p:txBody>
      </p:sp>
      <p:sp>
        <p:nvSpPr>
          <p:cNvPr id="4" name="灯片编号占位符 3">
            <a:extLst>
              <a:ext uri="{FF2B5EF4-FFF2-40B4-BE49-F238E27FC236}">
                <a16:creationId xmlns:a16="http://schemas.microsoft.com/office/drawing/2014/main" id="{54D06B82-DF80-2B74-5240-C2F1A4CB5831}"/>
              </a:ext>
            </a:extLst>
          </p:cNvPr>
          <p:cNvSpPr>
            <a:spLocks noGrp="1"/>
          </p:cNvSpPr>
          <p:nvPr>
            <p:ph type="sldNum" sz="quarter" idx="12"/>
          </p:nvPr>
        </p:nvSpPr>
        <p:spPr/>
        <p:txBody>
          <a:bodyPr/>
          <a:lstStyle/>
          <a:p>
            <a:fld id="{76D830B0-DF59-4281-898F-AF208100B213}" type="slidenum">
              <a:rPr lang="en-US" altLang="zh-CN" smtClean="0"/>
              <a:pPr/>
              <a:t>63</a:t>
            </a:fld>
            <a:endParaRPr lang="en-US" altLang="zh-CN"/>
          </a:p>
        </p:txBody>
      </p:sp>
    </p:spTree>
    <p:extLst>
      <p:ext uri="{BB962C8B-B14F-4D97-AF65-F5344CB8AC3E}">
        <p14:creationId xmlns:p14="http://schemas.microsoft.com/office/powerpoint/2010/main" val="14292786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3BF3CA8-11BB-5CAE-272C-8BFE8757FF92}"/>
              </a:ext>
            </a:extLst>
          </p:cNvPr>
          <p:cNvSpPr txBox="1"/>
          <p:nvPr/>
        </p:nvSpPr>
        <p:spPr>
          <a:xfrm>
            <a:off x="251520" y="1023119"/>
            <a:ext cx="7920880" cy="461665"/>
          </a:xfrm>
          <a:prstGeom prst="rect">
            <a:avLst/>
          </a:prstGeom>
          <a:noFill/>
        </p:spPr>
        <p:txBody>
          <a:bodyPr wrap="square">
            <a:spAutoFit/>
          </a:bodyPr>
          <a:lstStyle/>
          <a:p>
            <a:pPr eaLnBrk="0" hangingPunct="0"/>
            <a:r>
              <a:rPr lang="en-US" altLang="zh-CN"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b="1" kern="100" dirty="0">
                <a:solidFill>
                  <a:srgbClr val="FF00FF"/>
                </a:solidFill>
                <a:effectLst/>
                <a:latin typeface="Times New Roman" panose="02020603050405020304" pitchFamily="18" charset="0"/>
                <a:ea typeface="黑体" panose="02010609060101010101" pitchFamily="49" charset="-122"/>
              </a:rPr>
              <a:t>一相定、转子绕组间的磁势平衡方程</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D0C35013-76A2-73EA-D736-97C9FC825FB4}"/>
              </a:ext>
            </a:extLst>
          </p:cNvPr>
          <p:cNvSpPr txBox="1"/>
          <p:nvPr/>
        </p:nvSpPr>
        <p:spPr>
          <a:xfrm>
            <a:off x="611560" y="1556792"/>
            <a:ext cx="8280920" cy="830997"/>
          </a:xfrm>
          <a:prstGeom prst="rect">
            <a:avLst/>
          </a:prstGeom>
          <a:noFill/>
        </p:spPr>
        <p:txBody>
          <a:bodyPr wrap="square">
            <a:spAutoFit/>
          </a:bodyPr>
          <a:lstStyle/>
          <a:p>
            <a:pPr algn="l"/>
            <a:r>
              <a:rPr lang="zh-CN" altLang="zh-CN" sz="2400" b="1" kern="100" dirty="0">
                <a:solidFill>
                  <a:srgbClr val="0000FF"/>
                </a:solidFill>
                <a:effectLst/>
                <a:latin typeface="Times New Roman" panose="02020603050405020304" pitchFamily="18" charset="0"/>
                <a:ea typeface="黑体" panose="02010609060101010101" pitchFamily="49" charset="-122"/>
              </a:rPr>
              <a:t>相分离</a:t>
            </a:r>
            <a:r>
              <a:rPr lang="zh-CN" altLang="zh-CN" sz="2400" b="1" kern="100" dirty="0">
                <a:solidFill>
                  <a:srgbClr val="000000"/>
                </a:solidFill>
                <a:effectLst/>
                <a:latin typeface="Times New Roman" panose="02020603050405020304" pitchFamily="18" charset="0"/>
                <a:ea typeface="黑体" panose="02010609060101010101" pitchFamily="49" charset="-122"/>
              </a:rPr>
              <a:t>：为建立异步电动机的等值电路，须从三相合成的磁势平衡方程中分离出一相定、转子绕组间的磁势平衡方程。</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sp>
        <p:nvSpPr>
          <p:cNvPr id="6" name="Rectangle 2">
            <a:extLst>
              <a:ext uri="{FF2B5EF4-FFF2-40B4-BE49-F238E27FC236}">
                <a16:creationId xmlns:a16="http://schemas.microsoft.com/office/drawing/2014/main" id="{305899C5-5C26-550B-A880-5A81BD17145E}"/>
              </a:ext>
            </a:extLst>
          </p:cNvPr>
          <p:cNvSpPr>
            <a:spLocks noChangeArrowheads="1"/>
          </p:cNvSpPr>
          <p:nvPr/>
        </p:nvSpPr>
        <p:spPr bwMode="auto">
          <a:xfrm>
            <a:off x="623392" y="2564904"/>
            <a:ext cx="728200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已知三相定子绕组合成磁势：</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7" name="对象 6">
            <a:extLst>
              <a:ext uri="{FF2B5EF4-FFF2-40B4-BE49-F238E27FC236}">
                <a16:creationId xmlns:a16="http://schemas.microsoft.com/office/drawing/2014/main" id="{651EA892-CCE3-8325-106B-4AF1E96DA73B}"/>
              </a:ext>
            </a:extLst>
          </p:cNvPr>
          <p:cNvGraphicFramePr>
            <a:graphicFrameLocks noChangeAspect="1"/>
          </p:cNvGraphicFramePr>
          <p:nvPr>
            <p:extLst>
              <p:ext uri="{D42A27DB-BD31-4B8C-83A1-F6EECF244321}">
                <p14:modId xmlns:p14="http://schemas.microsoft.com/office/powerpoint/2010/main" val="1197889173"/>
              </p:ext>
            </p:extLst>
          </p:nvPr>
        </p:nvGraphicFramePr>
        <p:xfrm>
          <a:off x="4644008" y="2420649"/>
          <a:ext cx="2281238" cy="790575"/>
        </p:xfrm>
        <a:graphic>
          <a:graphicData uri="http://schemas.openxmlformats.org/presentationml/2006/ole">
            <mc:AlternateContent xmlns:mc="http://schemas.openxmlformats.org/markup-compatibility/2006">
              <mc:Choice xmlns:v="urn:schemas-microsoft-com:vml" Requires="v">
                <p:oleObj name="Equation" r:id="rId3" imgW="1206500" imgH="419100" progId="Equation.DSMT4">
                  <p:embed/>
                </p:oleObj>
              </mc:Choice>
              <mc:Fallback>
                <p:oleObj name="Equation" r:id="rId3" imgW="1206500" imgH="4191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4008" y="2420649"/>
                        <a:ext cx="2281238" cy="790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a:extLst>
              <a:ext uri="{FF2B5EF4-FFF2-40B4-BE49-F238E27FC236}">
                <a16:creationId xmlns:a16="http://schemas.microsoft.com/office/drawing/2014/main" id="{CF95ECD6-1737-41AA-4482-96468ADA6ACD}"/>
              </a:ext>
            </a:extLst>
          </p:cNvPr>
          <p:cNvGraphicFramePr>
            <a:graphicFrameLocks noChangeAspect="1"/>
          </p:cNvGraphicFramePr>
          <p:nvPr>
            <p:extLst>
              <p:ext uri="{D42A27DB-BD31-4B8C-83A1-F6EECF244321}">
                <p14:modId xmlns:p14="http://schemas.microsoft.com/office/powerpoint/2010/main" val="1469709456"/>
              </p:ext>
            </p:extLst>
          </p:nvPr>
        </p:nvGraphicFramePr>
        <p:xfrm>
          <a:off x="539750" y="3036888"/>
          <a:ext cx="1397000" cy="604837"/>
        </p:xfrm>
        <a:graphic>
          <a:graphicData uri="http://schemas.openxmlformats.org/presentationml/2006/ole">
            <mc:AlternateContent xmlns:mc="http://schemas.openxmlformats.org/markup-compatibility/2006">
              <mc:Choice xmlns:v="urn:schemas-microsoft-com:vml" Requires="v">
                <p:oleObj name="Equation" r:id="rId5" imgW="609480" imgH="266400" progId="Equation.DSMT4">
                  <p:embed/>
                </p:oleObj>
              </mc:Choice>
              <mc:Fallback>
                <p:oleObj name="Equation" r:id="rId5" imgW="609480" imgH="266400" progId="Equation.DSMT4">
                  <p:embed/>
                  <p:pic>
                    <p:nvPicPr>
                      <p:cNvPr id="0" name="Object 6"/>
                      <p:cNvPicPr>
                        <a:picLocks noChangeAspect="1" noChangeArrowheads="1"/>
                      </p:cNvPicPr>
                      <p:nvPr/>
                    </p:nvPicPr>
                    <p:blipFill>
                      <a:blip r:embed="rId6"/>
                      <a:srcRect/>
                      <a:stretch>
                        <a:fillRect/>
                      </a:stretch>
                    </p:blipFill>
                    <p:spPr bwMode="auto">
                      <a:xfrm>
                        <a:off x="539750" y="3036888"/>
                        <a:ext cx="1397000" cy="604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8">
            <a:extLst>
              <a:ext uri="{FF2B5EF4-FFF2-40B4-BE49-F238E27FC236}">
                <a16:creationId xmlns:a16="http://schemas.microsoft.com/office/drawing/2014/main" id="{28246EF5-83A3-7819-BFDE-FB26AA5BBB44}"/>
              </a:ext>
            </a:extLst>
          </p:cNvPr>
          <p:cNvSpPr>
            <a:spLocks noChangeArrowheads="1"/>
          </p:cNvSpPr>
          <p:nvPr/>
        </p:nvSpPr>
        <p:spPr bwMode="auto">
          <a:xfrm>
            <a:off x="683568" y="3191153"/>
            <a:ext cx="82284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在时空矢量图上有相同的相位、角频率和旋转方向</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6" name="对象 15">
            <a:extLst>
              <a:ext uri="{FF2B5EF4-FFF2-40B4-BE49-F238E27FC236}">
                <a16:creationId xmlns:a16="http://schemas.microsoft.com/office/drawing/2014/main" id="{1206BC19-519E-73DB-BE87-BD175617E46E}"/>
              </a:ext>
            </a:extLst>
          </p:cNvPr>
          <p:cNvGraphicFramePr>
            <a:graphicFrameLocks noChangeAspect="1"/>
          </p:cNvGraphicFramePr>
          <p:nvPr>
            <p:extLst>
              <p:ext uri="{D42A27DB-BD31-4B8C-83A1-F6EECF244321}">
                <p14:modId xmlns:p14="http://schemas.microsoft.com/office/powerpoint/2010/main" val="4272782931"/>
              </p:ext>
            </p:extLst>
          </p:nvPr>
        </p:nvGraphicFramePr>
        <p:xfrm>
          <a:off x="466229" y="3989027"/>
          <a:ext cx="314325" cy="271463"/>
        </p:xfrm>
        <a:graphic>
          <a:graphicData uri="http://schemas.openxmlformats.org/presentationml/2006/ole">
            <mc:AlternateContent xmlns:mc="http://schemas.openxmlformats.org/markup-compatibility/2006">
              <mc:Choice xmlns:v="urn:schemas-microsoft-com:vml" Requires="v">
                <p:oleObj name="Equation" r:id="rId7" imgW="139518" imgH="126835" progId="Equation.DSMT4">
                  <p:embed/>
                </p:oleObj>
              </mc:Choice>
              <mc:Fallback>
                <p:oleObj name="Equation" r:id="rId7" imgW="139518" imgH="126835"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229" y="3989027"/>
                        <a:ext cx="314325" cy="27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a:extLst>
              <a:ext uri="{FF2B5EF4-FFF2-40B4-BE49-F238E27FC236}">
                <a16:creationId xmlns:a16="http://schemas.microsoft.com/office/drawing/2014/main" id="{45073A0A-FC9C-0A42-5C14-8FF86CB3AAFD}"/>
              </a:ext>
            </a:extLst>
          </p:cNvPr>
          <p:cNvGraphicFramePr>
            <a:graphicFrameLocks noChangeAspect="1"/>
          </p:cNvGraphicFramePr>
          <p:nvPr>
            <p:extLst>
              <p:ext uri="{D42A27DB-BD31-4B8C-83A1-F6EECF244321}">
                <p14:modId xmlns:p14="http://schemas.microsoft.com/office/powerpoint/2010/main" val="2676695457"/>
              </p:ext>
            </p:extLst>
          </p:nvPr>
        </p:nvGraphicFramePr>
        <p:xfrm>
          <a:off x="4655367" y="3691370"/>
          <a:ext cx="2357438" cy="866775"/>
        </p:xfrm>
        <a:graphic>
          <a:graphicData uri="http://schemas.openxmlformats.org/presentationml/2006/ole">
            <mc:AlternateContent xmlns:mc="http://schemas.openxmlformats.org/markup-compatibility/2006">
              <mc:Choice xmlns:v="urn:schemas-microsoft-com:vml" Requires="v">
                <p:oleObj name="Equation" r:id="rId9" imgW="1143000" imgH="419100" progId="Equation.DSMT4">
                  <p:embed/>
                </p:oleObj>
              </mc:Choice>
              <mc:Fallback>
                <p:oleObj name="Equation" r:id="rId9" imgW="1143000" imgH="4191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55367" y="3691370"/>
                        <a:ext cx="2357438"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12">
            <a:extLst>
              <a:ext uri="{FF2B5EF4-FFF2-40B4-BE49-F238E27FC236}">
                <a16:creationId xmlns:a16="http://schemas.microsoft.com/office/drawing/2014/main" id="{64973D51-687B-CBC0-3C0B-25A75409103F}"/>
              </a:ext>
            </a:extLst>
          </p:cNvPr>
          <p:cNvSpPr>
            <a:spLocks noChangeArrowheads="1"/>
          </p:cNvSpPr>
          <p:nvPr/>
        </p:nvSpPr>
        <p:spPr bwMode="auto">
          <a:xfrm>
            <a:off x="644622" y="3874047"/>
            <a:ext cx="69656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标量方程可扩展为矢量方程</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400" b="0" i="0" u="none" strike="noStrike" cap="none" normalizeH="0" baseline="0" dirty="0">
              <a:ln>
                <a:noFill/>
              </a:ln>
              <a:solidFill>
                <a:schemeClr val="tx1"/>
              </a:solidFill>
              <a:effectLst/>
            </a:endParaRPr>
          </a:p>
        </p:txBody>
      </p:sp>
      <p:graphicFrame>
        <p:nvGraphicFramePr>
          <p:cNvPr id="21" name="对象 20">
            <a:extLst>
              <a:ext uri="{FF2B5EF4-FFF2-40B4-BE49-F238E27FC236}">
                <a16:creationId xmlns:a16="http://schemas.microsoft.com/office/drawing/2014/main" id="{8742E06B-AD77-A8F1-83A5-52BC6A376D25}"/>
              </a:ext>
            </a:extLst>
          </p:cNvPr>
          <p:cNvGraphicFramePr>
            <a:graphicFrameLocks noChangeAspect="1"/>
          </p:cNvGraphicFramePr>
          <p:nvPr>
            <p:extLst>
              <p:ext uri="{D42A27DB-BD31-4B8C-83A1-F6EECF244321}">
                <p14:modId xmlns:p14="http://schemas.microsoft.com/office/powerpoint/2010/main" val="1468465258"/>
              </p:ext>
            </p:extLst>
          </p:nvPr>
        </p:nvGraphicFramePr>
        <p:xfrm>
          <a:off x="1879676" y="4676948"/>
          <a:ext cx="2471738" cy="885825"/>
        </p:xfrm>
        <a:graphic>
          <a:graphicData uri="http://schemas.openxmlformats.org/presentationml/2006/ole">
            <mc:AlternateContent xmlns:mc="http://schemas.openxmlformats.org/markup-compatibility/2006">
              <mc:Choice xmlns:v="urn:schemas-microsoft-com:vml" Requires="v">
                <p:oleObj name="Equation" r:id="rId11" imgW="1168400" imgH="419100" progId="Equation.DSMT4">
                  <p:embed/>
                </p:oleObj>
              </mc:Choice>
              <mc:Fallback>
                <p:oleObj name="Equation" r:id="rId11" imgW="1168400" imgH="419100" progId="Equation.DSMT4">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79676" y="4676948"/>
                        <a:ext cx="2471738" cy="885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a:extLst>
              <a:ext uri="{FF2B5EF4-FFF2-40B4-BE49-F238E27FC236}">
                <a16:creationId xmlns:a16="http://schemas.microsoft.com/office/drawing/2014/main" id="{95A60DB3-AD76-274A-CF7A-DE11C7A30669}"/>
              </a:ext>
            </a:extLst>
          </p:cNvPr>
          <p:cNvGraphicFramePr>
            <a:graphicFrameLocks noChangeAspect="1"/>
          </p:cNvGraphicFramePr>
          <p:nvPr>
            <p:extLst>
              <p:ext uri="{D42A27DB-BD31-4B8C-83A1-F6EECF244321}">
                <p14:modId xmlns:p14="http://schemas.microsoft.com/office/powerpoint/2010/main" val="136683671"/>
              </p:ext>
            </p:extLst>
          </p:nvPr>
        </p:nvGraphicFramePr>
        <p:xfrm>
          <a:off x="4644008" y="4653136"/>
          <a:ext cx="2671763" cy="933450"/>
        </p:xfrm>
        <a:graphic>
          <a:graphicData uri="http://schemas.openxmlformats.org/presentationml/2006/ole">
            <mc:AlternateContent xmlns:mc="http://schemas.openxmlformats.org/markup-compatibility/2006">
              <mc:Choice xmlns:v="urn:schemas-microsoft-com:vml" Requires="v">
                <p:oleObj name="Equation" r:id="rId13" imgW="1193800" imgH="419100" progId="Equation.DSMT4">
                  <p:embed/>
                </p:oleObj>
              </mc:Choice>
              <mc:Fallback>
                <p:oleObj name="Equation" r:id="rId13" imgW="1193800" imgH="419100" progId="Equation.DSMT4">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44008" y="4653136"/>
                        <a:ext cx="2671763"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a:extLst>
              <a:ext uri="{FF2B5EF4-FFF2-40B4-BE49-F238E27FC236}">
                <a16:creationId xmlns:a16="http://schemas.microsoft.com/office/drawing/2014/main" id="{7B182A44-8B3F-ED98-14A2-97535EA34960}"/>
              </a:ext>
            </a:extLst>
          </p:cNvPr>
          <p:cNvGraphicFramePr>
            <a:graphicFrameLocks noChangeAspect="1"/>
          </p:cNvGraphicFramePr>
          <p:nvPr>
            <p:extLst>
              <p:ext uri="{D42A27DB-BD31-4B8C-83A1-F6EECF244321}">
                <p14:modId xmlns:p14="http://schemas.microsoft.com/office/powerpoint/2010/main" val="2599729579"/>
              </p:ext>
            </p:extLst>
          </p:nvPr>
        </p:nvGraphicFramePr>
        <p:xfrm>
          <a:off x="1917776" y="5615706"/>
          <a:ext cx="2395538" cy="909638"/>
        </p:xfrm>
        <a:graphic>
          <a:graphicData uri="http://schemas.openxmlformats.org/presentationml/2006/ole">
            <mc:AlternateContent xmlns:mc="http://schemas.openxmlformats.org/markup-compatibility/2006">
              <mc:Choice xmlns:v="urn:schemas-microsoft-com:vml" Requires="v">
                <p:oleObj name="Equation" r:id="rId15" imgW="1104900" imgH="419100" progId="Equation.DSMT4">
                  <p:embed/>
                </p:oleObj>
              </mc:Choice>
              <mc:Fallback>
                <p:oleObj name="Equation" r:id="rId15" imgW="1104900" imgH="419100" progId="Equation.DSMT4">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17776" y="5615706"/>
                        <a:ext cx="2395538" cy="909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Rectangle 17">
            <a:extLst>
              <a:ext uri="{FF2B5EF4-FFF2-40B4-BE49-F238E27FC236}">
                <a16:creationId xmlns:a16="http://schemas.microsoft.com/office/drawing/2014/main" id="{AAA993EF-BFC6-8778-F144-8EB082D03625}"/>
              </a:ext>
            </a:extLst>
          </p:cNvPr>
          <p:cNvSpPr>
            <a:spLocks noChangeArrowheads="1"/>
          </p:cNvSpPr>
          <p:nvPr/>
        </p:nvSpPr>
        <p:spPr bwMode="auto">
          <a:xfrm>
            <a:off x="661133" y="4852319"/>
            <a:ext cx="419367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相应有</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6" name="Rectangle 19">
            <a:extLst>
              <a:ext uri="{FF2B5EF4-FFF2-40B4-BE49-F238E27FC236}">
                <a16:creationId xmlns:a16="http://schemas.microsoft.com/office/drawing/2014/main" id="{854F1597-81B1-B6E9-9CAD-E47695818A35}"/>
              </a:ext>
            </a:extLst>
          </p:cNvPr>
          <p:cNvSpPr>
            <a:spLocks noChangeArrowheads="1"/>
          </p:cNvSpPr>
          <p:nvPr/>
        </p:nvSpPr>
        <p:spPr bwMode="auto">
          <a:xfrm>
            <a:off x="677279" y="5788697"/>
            <a:ext cx="194851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一般有：</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灯片编号占位符 3">
            <a:extLst>
              <a:ext uri="{FF2B5EF4-FFF2-40B4-BE49-F238E27FC236}">
                <a16:creationId xmlns:a16="http://schemas.microsoft.com/office/drawing/2014/main" id="{6E9C2E2B-513F-A35C-963C-2EAEBE223C25}"/>
              </a:ext>
            </a:extLst>
          </p:cNvPr>
          <p:cNvSpPr>
            <a:spLocks noGrp="1"/>
          </p:cNvSpPr>
          <p:nvPr>
            <p:ph type="sldNum" sz="quarter" idx="12"/>
          </p:nvPr>
        </p:nvSpPr>
        <p:spPr/>
        <p:txBody>
          <a:bodyPr/>
          <a:lstStyle/>
          <a:p>
            <a:fld id="{76D830B0-DF59-4281-898F-AF208100B213}" type="slidenum">
              <a:rPr lang="en-US" altLang="zh-CN" smtClean="0"/>
              <a:pPr/>
              <a:t>64</a:t>
            </a:fld>
            <a:endParaRPr lang="en-US" altLang="zh-CN"/>
          </a:p>
        </p:txBody>
      </p:sp>
    </p:spTree>
    <p:extLst>
      <p:ext uri="{BB962C8B-B14F-4D97-AF65-F5344CB8AC3E}">
        <p14:creationId xmlns:p14="http://schemas.microsoft.com/office/powerpoint/2010/main" val="9393649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对象 35">
            <a:extLst>
              <a:ext uri="{FF2B5EF4-FFF2-40B4-BE49-F238E27FC236}">
                <a16:creationId xmlns:a16="http://schemas.microsoft.com/office/drawing/2014/main" id="{CA36A02C-091A-BE84-406F-D6D0125F35BB}"/>
              </a:ext>
            </a:extLst>
          </p:cNvPr>
          <p:cNvGraphicFramePr>
            <a:graphicFrameLocks noChangeAspect="1"/>
          </p:cNvGraphicFramePr>
          <p:nvPr>
            <p:extLst>
              <p:ext uri="{D42A27DB-BD31-4B8C-83A1-F6EECF244321}">
                <p14:modId xmlns:p14="http://schemas.microsoft.com/office/powerpoint/2010/main" val="604688287"/>
              </p:ext>
            </p:extLst>
          </p:nvPr>
        </p:nvGraphicFramePr>
        <p:xfrm>
          <a:off x="2781350" y="1059002"/>
          <a:ext cx="2281238" cy="862013"/>
        </p:xfrm>
        <a:graphic>
          <a:graphicData uri="http://schemas.openxmlformats.org/presentationml/2006/ole">
            <mc:AlternateContent xmlns:mc="http://schemas.openxmlformats.org/markup-compatibility/2006">
              <mc:Choice xmlns:v="urn:schemas-microsoft-com:vml" Requires="v">
                <p:oleObj name="Equation" r:id="rId3" imgW="1104900" imgH="419100" progId="Equation.DSMT4">
                  <p:embed/>
                </p:oleObj>
              </mc:Choice>
              <mc:Fallback>
                <p:oleObj name="Equation" r:id="rId3" imgW="1104900" imgH="419100" progId="Equation.DSMT4">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1350" y="1059002"/>
                        <a:ext cx="2281238"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对象 36">
            <a:extLst>
              <a:ext uri="{FF2B5EF4-FFF2-40B4-BE49-F238E27FC236}">
                <a16:creationId xmlns:a16="http://schemas.microsoft.com/office/drawing/2014/main" id="{2CBE99F5-D603-1E84-47FA-B90085992875}"/>
              </a:ext>
            </a:extLst>
          </p:cNvPr>
          <p:cNvGraphicFramePr>
            <a:graphicFrameLocks noChangeAspect="1"/>
          </p:cNvGraphicFramePr>
          <p:nvPr>
            <p:extLst>
              <p:ext uri="{D42A27DB-BD31-4B8C-83A1-F6EECF244321}">
                <p14:modId xmlns:p14="http://schemas.microsoft.com/office/powerpoint/2010/main" val="1143630628"/>
              </p:ext>
            </p:extLst>
          </p:nvPr>
        </p:nvGraphicFramePr>
        <p:xfrm>
          <a:off x="3131840" y="1793965"/>
          <a:ext cx="2547938" cy="900112"/>
        </p:xfrm>
        <a:graphic>
          <a:graphicData uri="http://schemas.openxmlformats.org/presentationml/2006/ole">
            <mc:AlternateContent xmlns:mc="http://schemas.openxmlformats.org/markup-compatibility/2006">
              <mc:Choice xmlns:v="urn:schemas-microsoft-com:vml" Requires="v">
                <p:oleObj name="Equation" r:id="rId5" imgW="1180588" imgH="418918" progId="Equation.DSMT4">
                  <p:embed/>
                </p:oleObj>
              </mc:Choice>
              <mc:Fallback>
                <p:oleObj name="Equation" r:id="rId5" imgW="1180588" imgH="418918" progId="Equation.DSMT4">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1840" y="1793965"/>
                        <a:ext cx="2547938" cy="900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对象 37">
            <a:extLst>
              <a:ext uri="{FF2B5EF4-FFF2-40B4-BE49-F238E27FC236}">
                <a16:creationId xmlns:a16="http://schemas.microsoft.com/office/drawing/2014/main" id="{1F0A0712-CFEA-482C-5AEA-C48B7ACD2EDD}"/>
              </a:ext>
            </a:extLst>
          </p:cNvPr>
          <p:cNvGraphicFramePr>
            <a:graphicFrameLocks noChangeAspect="1"/>
          </p:cNvGraphicFramePr>
          <p:nvPr>
            <p:extLst>
              <p:ext uri="{D42A27DB-BD31-4B8C-83A1-F6EECF244321}">
                <p14:modId xmlns:p14="http://schemas.microsoft.com/office/powerpoint/2010/main" val="54291852"/>
              </p:ext>
            </p:extLst>
          </p:nvPr>
        </p:nvGraphicFramePr>
        <p:xfrm>
          <a:off x="1026966" y="2500268"/>
          <a:ext cx="1856693" cy="755089"/>
        </p:xfrm>
        <a:graphic>
          <a:graphicData uri="http://schemas.openxmlformats.org/presentationml/2006/ole">
            <mc:AlternateContent xmlns:mc="http://schemas.openxmlformats.org/markup-compatibility/2006">
              <mc:Choice xmlns:v="urn:schemas-microsoft-com:vml" Requires="v">
                <p:oleObj name="Equation" r:id="rId7" imgW="774364" imgH="317362" progId="Equation.DSMT4">
                  <p:embed/>
                </p:oleObj>
              </mc:Choice>
              <mc:Fallback>
                <p:oleObj name="Equation" r:id="rId7" imgW="774364" imgH="317362" progId="Equation.DSMT4">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6966" y="2500268"/>
                        <a:ext cx="1856693" cy="755089"/>
                      </a:xfrm>
                      <a:prstGeom prst="rect">
                        <a:avLst/>
                      </a:prstGeom>
                      <a:noFill/>
                    </p:spPr>
                  </p:pic>
                </p:oleObj>
              </mc:Fallback>
            </mc:AlternateContent>
          </a:graphicData>
        </a:graphic>
      </p:graphicFrame>
      <p:graphicFrame>
        <p:nvGraphicFramePr>
          <p:cNvPr id="39" name="对象 38">
            <a:extLst>
              <a:ext uri="{FF2B5EF4-FFF2-40B4-BE49-F238E27FC236}">
                <a16:creationId xmlns:a16="http://schemas.microsoft.com/office/drawing/2014/main" id="{8955565D-7430-924D-CD09-4D1280BA415E}"/>
              </a:ext>
            </a:extLst>
          </p:cNvPr>
          <p:cNvGraphicFramePr>
            <a:graphicFrameLocks noChangeAspect="1"/>
          </p:cNvGraphicFramePr>
          <p:nvPr>
            <p:extLst>
              <p:ext uri="{D42A27DB-BD31-4B8C-83A1-F6EECF244321}">
                <p14:modId xmlns:p14="http://schemas.microsoft.com/office/powerpoint/2010/main" val="3164476764"/>
              </p:ext>
            </p:extLst>
          </p:nvPr>
        </p:nvGraphicFramePr>
        <p:xfrm>
          <a:off x="582522" y="3304757"/>
          <a:ext cx="6357938" cy="966788"/>
        </p:xfrm>
        <a:graphic>
          <a:graphicData uri="http://schemas.openxmlformats.org/presentationml/2006/ole">
            <mc:AlternateContent xmlns:mc="http://schemas.openxmlformats.org/markup-compatibility/2006">
              <mc:Choice xmlns:v="urn:schemas-microsoft-com:vml" Requires="v">
                <p:oleObj name="Equation" r:id="rId9" imgW="2806700" imgH="431800" progId="Equation.DSMT4">
                  <p:embed/>
                </p:oleObj>
              </mc:Choice>
              <mc:Fallback>
                <p:oleObj name="Equation" r:id="rId9" imgW="2806700" imgH="431800" progId="Equation.DSMT4">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2522" y="3304757"/>
                        <a:ext cx="6357938" cy="966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Rectangle 24">
            <a:extLst>
              <a:ext uri="{FF2B5EF4-FFF2-40B4-BE49-F238E27FC236}">
                <a16:creationId xmlns:a16="http://schemas.microsoft.com/office/drawing/2014/main" id="{CD27968F-66A0-D119-53F1-BC05B67E15B6}"/>
              </a:ext>
            </a:extLst>
          </p:cNvPr>
          <p:cNvSpPr>
            <a:spLocks noChangeArrowheads="1"/>
          </p:cNvSpPr>
          <p:nvPr/>
        </p:nvSpPr>
        <p:spPr bwMode="auto">
          <a:xfrm>
            <a:off x="570521" y="1215768"/>
            <a:ext cx="289289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转子侧同理有：</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1" name="Rectangle 25">
            <a:extLst>
              <a:ext uri="{FF2B5EF4-FFF2-40B4-BE49-F238E27FC236}">
                <a16:creationId xmlns:a16="http://schemas.microsoft.com/office/drawing/2014/main" id="{5DF1AFDF-8751-6DE1-0045-71AFBCD7E202}"/>
              </a:ext>
            </a:extLst>
          </p:cNvPr>
          <p:cNvSpPr>
            <a:spLocks noChangeArrowheads="1"/>
          </p:cNvSpPr>
          <p:nvPr/>
        </p:nvSpPr>
        <p:spPr bwMode="auto">
          <a:xfrm>
            <a:off x="570318" y="1973887"/>
            <a:ext cx="27204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定子、转子合成：</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2" name="Rectangle 26">
            <a:extLst>
              <a:ext uri="{FF2B5EF4-FFF2-40B4-BE49-F238E27FC236}">
                <a16:creationId xmlns:a16="http://schemas.microsoft.com/office/drawing/2014/main" id="{438E258E-E64A-32CA-9475-3BBE473D06CB}"/>
              </a:ext>
            </a:extLst>
          </p:cNvPr>
          <p:cNvSpPr>
            <a:spLocks noChangeArrowheads="1"/>
          </p:cNvSpPr>
          <p:nvPr/>
        </p:nvSpPr>
        <p:spPr bwMode="auto">
          <a:xfrm>
            <a:off x="549904" y="2728583"/>
            <a:ext cx="51663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由</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45" name="对象 44">
            <a:extLst>
              <a:ext uri="{FF2B5EF4-FFF2-40B4-BE49-F238E27FC236}">
                <a16:creationId xmlns:a16="http://schemas.microsoft.com/office/drawing/2014/main" id="{E7E1241D-E2D4-A544-7D3C-065A89B08194}"/>
              </a:ext>
            </a:extLst>
          </p:cNvPr>
          <p:cNvGraphicFramePr>
            <a:graphicFrameLocks noChangeAspect="1"/>
          </p:cNvGraphicFramePr>
          <p:nvPr>
            <p:extLst>
              <p:ext uri="{D42A27DB-BD31-4B8C-83A1-F6EECF244321}">
                <p14:modId xmlns:p14="http://schemas.microsoft.com/office/powerpoint/2010/main" val="1459955962"/>
              </p:ext>
            </p:extLst>
          </p:nvPr>
        </p:nvGraphicFramePr>
        <p:xfrm>
          <a:off x="1678640" y="4314245"/>
          <a:ext cx="4491038" cy="790575"/>
        </p:xfrm>
        <a:graphic>
          <a:graphicData uri="http://schemas.openxmlformats.org/presentationml/2006/ole">
            <mc:AlternateContent xmlns:mc="http://schemas.openxmlformats.org/markup-compatibility/2006">
              <mc:Choice xmlns:v="urn:schemas-microsoft-com:vml" Requires="v">
                <p:oleObj name="Equation" r:id="rId11" imgW="1828800" imgH="317500" progId="Equation.DSMT4">
                  <p:embed/>
                </p:oleObj>
              </mc:Choice>
              <mc:Fallback>
                <p:oleObj name="Equation" r:id="rId11" imgW="1828800" imgH="317500" progId="Equation.DSMT4">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8640" y="4314245"/>
                        <a:ext cx="4491038" cy="790575"/>
                      </a:xfrm>
                      <a:prstGeom prst="rect">
                        <a:avLst/>
                      </a:prstGeom>
                      <a:solidFill>
                        <a:srgbClr val="00FF00"/>
                      </a:solidFill>
                    </p:spPr>
                  </p:pic>
                </p:oleObj>
              </mc:Fallback>
            </mc:AlternateContent>
          </a:graphicData>
        </a:graphic>
      </p:graphicFrame>
      <p:sp>
        <p:nvSpPr>
          <p:cNvPr id="48" name="文本框 47">
            <a:extLst>
              <a:ext uri="{FF2B5EF4-FFF2-40B4-BE49-F238E27FC236}">
                <a16:creationId xmlns:a16="http://schemas.microsoft.com/office/drawing/2014/main" id="{CAD0A681-57FB-90F7-C21C-51092B842524}"/>
              </a:ext>
            </a:extLst>
          </p:cNvPr>
          <p:cNvSpPr txBox="1"/>
          <p:nvPr/>
        </p:nvSpPr>
        <p:spPr>
          <a:xfrm>
            <a:off x="582522" y="4091124"/>
            <a:ext cx="891297" cy="461665"/>
          </a:xfrm>
          <a:prstGeom prst="rect">
            <a:avLst/>
          </a:prstGeom>
          <a:noFill/>
        </p:spPr>
        <p:txBody>
          <a:bodyPr wrap="square">
            <a:spAutoFit/>
          </a:bodyPr>
          <a:lstStyle/>
          <a:p>
            <a:r>
              <a:rPr lang="zh-CN" altLang="en-US" sz="2400" b="1" kern="1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即：</a:t>
            </a:r>
            <a:endParaRPr lang="zh-CN" altLang="en-US" sz="2400" dirty="0"/>
          </a:p>
        </p:txBody>
      </p:sp>
      <p:graphicFrame>
        <p:nvGraphicFramePr>
          <p:cNvPr id="51" name="对象 50">
            <a:extLst>
              <a:ext uri="{FF2B5EF4-FFF2-40B4-BE49-F238E27FC236}">
                <a16:creationId xmlns:a16="http://schemas.microsoft.com/office/drawing/2014/main" id="{2399C4EE-0026-0BAA-FD5D-926E0B9340AF}"/>
              </a:ext>
            </a:extLst>
          </p:cNvPr>
          <p:cNvGraphicFramePr>
            <a:graphicFrameLocks noChangeAspect="1"/>
          </p:cNvGraphicFramePr>
          <p:nvPr>
            <p:extLst>
              <p:ext uri="{D42A27DB-BD31-4B8C-83A1-F6EECF244321}">
                <p14:modId xmlns:p14="http://schemas.microsoft.com/office/powerpoint/2010/main" val="1988651503"/>
              </p:ext>
            </p:extLst>
          </p:nvPr>
        </p:nvGraphicFramePr>
        <p:xfrm>
          <a:off x="1664509" y="5295698"/>
          <a:ext cx="1925638" cy="650875"/>
        </p:xfrm>
        <a:graphic>
          <a:graphicData uri="http://schemas.openxmlformats.org/presentationml/2006/ole">
            <mc:AlternateContent xmlns:mc="http://schemas.openxmlformats.org/markup-compatibility/2006">
              <mc:Choice xmlns:v="urn:schemas-microsoft-com:vml" Requires="v">
                <p:oleObj name="Equation" r:id="rId13" imgW="838080" imgH="279360" progId="Equation.DSMT4">
                  <p:embed/>
                </p:oleObj>
              </mc:Choice>
              <mc:Fallback>
                <p:oleObj name="Equation" r:id="rId13" imgW="838080" imgH="279360" progId="Equation.DSMT4">
                  <p:embed/>
                  <p:pic>
                    <p:nvPicPr>
                      <p:cNvPr id="0" name="Object 31"/>
                      <p:cNvPicPr>
                        <a:picLocks noChangeAspect="1" noChangeArrowheads="1"/>
                      </p:cNvPicPr>
                      <p:nvPr/>
                    </p:nvPicPr>
                    <p:blipFill>
                      <a:blip r:embed="rId14"/>
                      <a:srcRect/>
                      <a:stretch>
                        <a:fillRect/>
                      </a:stretch>
                    </p:blipFill>
                    <p:spPr bwMode="auto">
                      <a:xfrm>
                        <a:off x="1664509" y="5295698"/>
                        <a:ext cx="1925638" cy="650875"/>
                      </a:xfrm>
                      <a:prstGeom prst="rect">
                        <a:avLst/>
                      </a:prstGeom>
                      <a:solidFill>
                        <a:srgbClr val="00FF00"/>
                      </a:solidFill>
                    </p:spPr>
                  </p:pic>
                </p:oleObj>
              </mc:Fallback>
            </mc:AlternateContent>
          </a:graphicData>
        </a:graphic>
      </p:graphicFrame>
      <p:graphicFrame>
        <p:nvGraphicFramePr>
          <p:cNvPr id="54" name="对象 53">
            <a:extLst>
              <a:ext uri="{FF2B5EF4-FFF2-40B4-BE49-F238E27FC236}">
                <a16:creationId xmlns:a16="http://schemas.microsoft.com/office/drawing/2014/main" id="{B0430CEC-C639-4415-4212-E3A214836E9D}"/>
              </a:ext>
            </a:extLst>
          </p:cNvPr>
          <p:cNvGraphicFramePr>
            <a:graphicFrameLocks noChangeAspect="1"/>
          </p:cNvGraphicFramePr>
          <p:nvPr>
            <p:extLst>
              <p:ext uri="{D42A27DB-BD31-4B8C-83A1-F6EECF244321}">
                <p14:modId xmlns:p14="http://schemas.microsoft.com/office/powerpoint/2010/main" val="3176386512"/>
              </p:ext>
            </p:extLst>
          </p:nvPr>
        </p:nvGraphicFramePr>
        <p:xfrm>
          <a:off x="3995936" y="5417852"/>
          <a:ext cx="2590800" cy="484188"/>
        </p:xfrm>
        <a:graphic>
          <a:graphicData uri="http://schemas.openxmlformats.org/presentationml/2006/ole">
            <mc:AlternateContent xmlns:mc="http://schemas.openxmlformats.org/markup-compatibility/2006">
              <mc:Choice xmlns:v="urn:schemas-microsoft-com:vml" Requires="v">
                <p:oleObj name="Equation" r:id="rId15" imgW="1091880" imgH="203040" progId="Equation.DSMT4">
                  <p:embed/>
                </p:oleObj>
              </mc:Choice>
              <mc:Fallback>
                <p:oleObj name="Equation" r:id="rId15" imgW="1091880" imgH="203040" progId="Equation.DSMT4">
                  <p:embed/>
                  <p:pic>
                    <p:nvPicPr>
                      <p:cNvPr id="0" name="Object 33"/>
                      <p:cNvPicPr>
                        <a:picLocks noChangeAspect="1" noChangeArrowheads="1"/>
                      </p:cNvPicPr>
                      <p:nvPr/>
                    </p:nvPicPr>
                    <p:blipFill>
                      <a:blip r:embed="rId16"/>
                      <a:srcRect/>
                      <a:stretch>
                        <a:fillRect/>
                      </a:stretch>
                    </p:blipFill>
                    <p:spPr bwMode="auto">
                      <a:xfrm>
                        <a:off x="3995936" y="5417852"/>
                        <a:ext cx="2590800" cy="484188"/>
                      </a:xfrm>
                      <a:prstGeom prst="rect">
                        <a:avLst/>
                      </a:prstGeom>
                      <a:solidFill>
                        <a:srgbClr val="00FF00"/>
                      </a:solidFill>
                    </p:spPr>
                  </p:pic>
                </p:oleObj>
              </mc:Fallback>
            </mc:AlternateContent>
          </a:graphicData>
        </a:graphic>
      </p:graphicFrame>
      <p:sp>
        <p:nvSpPr>
          <p:cNvPr id="57" name="Rectangle 37">
            <a:extLst>
              <a:ext uri="{FF2B5EF4-FFF2-40B4-BE49-F238E27FC236}">
                <a16:creationId xmlns:a16="http://schemas.microsoft.com/office/drawing/2014/main" id="{1BDE3136-65B0-DFD0-9B7B-14935029E40C}"/>
              </a:ext>
            </a:extLst>
          </p:cNvPr>
          <p:cNvSpPr>
            <a:spLocks noChangeArrowheads="1"/>
          </p:cNvSpPr>
          <p:nvPr/>
        </p:nvSpPr>
        <p:spPr bwMode="auto">
          <a:xfrm>
            <a:off x="7236637" y="5336780"/>
            <a:ext cx="1637265" cy="646331"/>
          </a:xfrm>
          <a:prstGeom prst="rect">
            <a:avLst/>
          </a:prstGeom>
          <a:noFill/>
          <a:ln w="19050">
            <a:solidFill>
              <a:srgbClr val="C0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err="1">
                <a:ln>
                  <a:noFill/>
                </a:ln>
                <a:effectLst/>
                <a:latin typeface="黑体" panose="02010609060101010101" pitchFamily="49" charset="-122"/>
                <a:ea typeface="黑体" panose="02010609060101010101" pitchFamily="49" charset="-122"/>
                <a:cs typeface="Times New Roman" panose="02020603050405020304" pitchFamily="18" charset="0"/>
              </a:rPr>
              <a:t>Ke</a:t>
            </a:r>
            <a:r>
              <a:rPr lang="zh-CN" altLang="en-US" b="1" dirty="0">
                <a:latin typeface="黑体" panose="02010609060101010101" pitchFamily="49" charset="-122"/>
                <a:ea typeface="黑体" panose="02010609060101010101" pitchFamily="49" charset="-122"/>
                <a:cs typeface="Times New Roman" panose="02020603050405020304" pitchFamily="18" charset="0"/>
              </a:rPr>
              <a:t>为</a:t>
            </a:r>
            <a:r>
              <a:rPr kumimoji="0" lang="zh-CN" altLang="en-US"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异步电机</a:t>
            </a:r>
            <a:r>
              <a:rPr kumimoji="0" lang="zh-CN" altLang="en-US" b="1" i="0" u="none" strike="noStrike" cap="none" normalizeH="0" baseline="0">
                <a:ln>
                  <a:noFill/>
                </a:ln>
                <a:effectLst/>
                <a:latin typeface="黑体" panose="02010609060101010101" pitchFamily="49" charset="-122"/>
                <a:ea typeface="黑体" panose="02010609060101010101" pitchFamily="49" charset="-122"/>
                <a:cs typeface="Times New Roman" panose="02020603050405020304" pitchFamily="18" charset="0"/>
              </a:rPr>
              <a:t>的</a:t>
            </a:r>
            <a:r>
              <a:rPr kumimoji="0" lang="zh-CN" altLang="en-US" b="1" i="0" u="none" strike="noStrike" cap="none" normalizeH="0" baseline="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电压变比</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cxnSp>
        <p:nvCxnSpPr>
          <p:cNvPr id="61" name="直接箭头连接符 60">
            <a:extLst>
              <a:ext uri="{FF2B5EF4-FFF2-40B4-BE49-F238E27FC236}">
                <a16:creationId xmlns:a16="http://schemas.microsoft.com/office/drawing/2014/main" id="{DA836AEF-B709-DBB6-CF65-E5A2069EB5C1}"/>
              </a:ext>
            </a:extLst>
          </p:cNvPr>
          <p:cNvCxnSpPr>
            <a:cxnSpLocks/>
            <a:endCxn id="63" idx="1"/>
          </p:cNvCxnSpPr>
          <p:nvPr/>
        </p:nvCxnSpPr>
        <p:spPr>
          <a:xfrm>
            <a:off x="6706139" y="3950749"/>
            <a:ext cx="540060" cy="37019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C24F5E74-7D70-4D24-325B-4784AE62AD12}"/>
              </a:ext>
            </a:extLst>
          </p:cNvPr>
          <p:cNvSpPr txBox="1"/>
          <p:nvPr/>
        </p:nvSpPr>
        <p:spPr>
          <a:xfrm>
            <a:off x="7246199" y="3720780"/>
            <a:ext cx="1627703" cy="1200329"/>
          </a:xfrm>
          <a:prstGeom prst="rect">
            <a:avLst/>
          </a:prstGeom>
          <a:noFill/>
          <a:ln w="19050">
            <a:solidFill>
              <a:srgbClr val="C00000"/>
            </a:solidFill>
            <a:prstDash val="sysDash"/>
          </a:ln>
        </p:spPr>
        <p:txBody>
          <a:bodyPr wrap="square">
            <a:spAutoFit/>
          </a:bodyPr>
          <a:lstStyle/>
          <a:p>
            <a:r>
              <a:rPr kumimoji="0" lang="zh-CN" altLang="zh-CN" sz="18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磁路线性化后的正弦励磁电流</a:t>
            </a:r>
            <a:r>
              <a:rPr kumimoji="0" lang="en-US" altLang="zh-CN" sz="18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定子电流的励磁分量。</a:t>
            </a:r>
            <a:endParaRPr lang="zh-CN" altLang="en-US" dirty="0"/>
          </a:p>
        </p:txBody>
      </p:sp>
      <p:sp>
        <p:nvSpPr>
          <p:cNvPr id="70" name="文本框 69">
            <a:extLst>
              <a:ext uri="{FF2B5EF4-FFF2-40B4-BE49-F238E27FC236}">
                <a16:creationId xmlns:a16="http://schemas.microsoft.com/office/drawing/2014/main" id="{D49BCE5D-48F3-296B-4CD8-B796D486AB0D}"/>
              </a:ext>
            </a:extLst>
          </p:cNvPr>
          <p:cNvSpPr txBox="1"/>
          <p:nvPr/>
        </p:nvSpPr>
        <p:spPr>
          <a:xfrm>
            <a:off x="683568" y="6093296"/>
            <a:ext cx="6950487" cy="492443"/>
          </a:xfrm>
          <a:prstGeom prst="rect">
            <a:avLst/>
          </a:prstGeom>
          <a:noFill/>
        </p:spPr>
        <p:txBody>
          <a:bodyPr wrap="square">
            <a:spAutoFit/>
          </a:bodyPr>
          <a:lstStyle/>
          <a:p>
            <a:r>
              <a:rPr lang="en-US" altLang="zh-CN" sz="2600" b="1" kern="100"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a:t>
            </a:r>
            <a:r>
              <a:rPr lang="zh-CN" altLang="zh-CN" sz="26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一相定、转子绕组间的磁势平衡方程</a:t>
            </a:r>
            <a:endParaRPr lang="zh-CN" altLang="en-US" sz="2600" dirty="0"/>
          </a:p>
        </p:txBody>
      </p:sp>
      <p:cxnSp>
        <p:nvCxnSpPr>
          <p:cNvPr id="71" name="直接箭头连接符 70">
            <a:extLst>
              <a:ext uri="{FF2B5EF4-FFF2-40B4-BE49-F238E27FC236}">
                <a16:creationId xmlns:a16="http://schemas.microsoft.com/office/drawing/2014/main" id="{61AE95A4-91E0-C130-9120-D5A3FBF79AF4}"/>
              </a:ext>
            </a:extLst>
          </p:cNvPr>
          <p:cNvCxnSpPr>
            <a:cxnSpLocks/>
            <a:endCxn id="57" idx="1"/>
          </p:cNvCxnSpPr>
          <p:nvPr/>
        </p:nvCxnSpPr>
        <p:spPr>
          <a:xfrm>
            <a:off x="6625446" y="5659946"/>
            <a:ext cx="611191"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4" name="箭头: 右 73">
            <a:extLst>
              <a:ext uri="{FF2B5EF4-FFF2-40B4-BE49-F238E27FC236}">
                <a16:creationId xmlns:a16="http://schemas.microsoft.com/office/drawing/2014/main" id="{CCEFD0C5-F656-7323-092B-6CFDF8FF723A}"/>
              </a:ext>
            </a:extLst>
          </p:cNvPr>
          <p:cNvSpPr/>
          <p:nvPr/>
        </p:nvSpPr>
        <p:spPr>
          <a:xfrm>
            <a:off x="866187" y="5458436"/>
            <a:ext cx="595428" cy="3756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a:extLst>
              <a:ext uri="{FF2B5EF4-FFF2-40B4-BE49-F238E27FC236}">
                <a16:creationId xmlns:a16="http://schemas.microsoft.com/office/drawing/2014/main" id="{D2CDC887-723C-0351-8429-01C73A286DC9}"/>
              </a:ext>
            </a:extLst>
          </p:cNvPr>
          <p:cNvSpPr>
            <a:spLocks noGrp="1"/>
          </p:cNvSpPr>
          <p:nvPr>
            <p:ph type="sldNum" sz="quarter" idx="12"/>
          </p:nvPr>
        </p:nvSpPr>
        <p:spPr/>
        <p:txBody>
          <a:bodyPr/>
          <a:lstStyle/>
          <a:p>
            <a:fld id="{76D830B0-DF59-4281-898F-AF208100B213}" type="slidenum">
              <a:rPr lang="en-US" altLang="zh-CN" smtClean="0"/>
              <a:pPr/>
              <a:t>65</a:t>
            </a:fld>
            <a:endParaRPr lang="en-US" altLang="zh-CN"/>
          </a:p>
        </p:txBody>
      </p:sp>
    </p:spTree>
    <p:extLst>
      <p:ext uri="{BB962C8B-B14F-4D97-AF65-F5344CB8AC3E}">
        <p14:creationId xmlns:p14="http://schemas.microsoft.com/office/powerpoint/2010/main" val="40791476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02BBC64-47F4-D40F-C6BD-98F35FFA7295}"/>
              </a:ext>
            </a:extLst>
          </p:cNvPr>
          <p:cNvSpPr txBox="1"/>
          <p:nvPr/>
        </p:nvSpPr>
        <p:spPr>
          <a:xfrm>
            <a:off x="611560" y="1052736"/>
            <a:ext cx="7776864" cy="461665"/>
          </a:xfrm>
          <a:prstGeom prst="rect">
            <a:avLst/>
          </a:prstGeom>
          <a:noFill/>
        </p:spPr>
        <p:txBody>
          <a:bodyPr wrap="square">
            <a:spAutoFit/>
          </a:bodyPr>
          <a:lstStyle/>
          <a:p>
            <a:r>
              <a:rPr lang="zh-CN" altLang="zh-CN" sz="2400" b="1" kern="100" dirty="0">
                <a:solidFill>
                  <a:srgbClr val="000000"/>
                </a:solidFill>
                <a:effectLst/>
                <a:latin typeface="Times New Roman" panose="02020603050405020304" pitchFamily="18" charset="0"/>
                <a:ea typeface="黑体" panose="02010609060101010101" pitchFamily="49" charset="-122"/>
              </a:rPr>
              <a:t>讨论：磁势平衡时空矢量图的相位关系</a:t>
            </a:r>
            <a:r>
              <a:rPr lang="en-US" altLang="zh-CN" sz="2000" b="1" kern="100" dirty="0">
                <a:solidFill>
                  <a:srgbClr val="FF0000"/>
                </a:solidFill>
                <a:latin typeface="Times New Roman" panose="02020603050405020304" pitchFamily="18" charset="0"/>
                <a:ea typeface="黑体" panose="02010609060101010101" pitchFamily="49" charset="-122"/>
              </a:rPr>
              <a:t>【</a:t>
            </a:r>
            <a:r>
              <a:rPr lang="zh-CN" altLang="zh-CN" sz="2000" b="1" kern="100" dirty="0">
                <a:solidFill>
                  <a:srgbClr val="FF0000"/>
                </a:solidFill>
                <a:effectLst/>
                <a:latin typeface="Times New Roman" panose="02020603050405020304" pitchFamily="18" charset="0"/>
                <a:ea typeface="黑体" panose="02010609060101010101" pitchFamily="49" charset="-122"/>
              </a:rPr>
              <a:t>时域，</a:t>
            </a:r>
            <a:r>
              <a:rPr lang="en-US" altLang="zh-CN" sz="2000" b="1" kern="100" dirty="0">
                <a:solidFill>
                  <a:srgbClr val="FF0000"/>
                </a:solidFill>
                <a:effectLst/>
                <a:latin typeface="Times New Roman" panose="02020603050405020304" pitchFamily="18" charset="0"/>
                <a:ea typeface="黑体" panose="02010609060101010101" pitchFamily="49" charset="-122"/>
              </a:rPr>
              <a:t>U</a:t>
            </a:r>
            <a:r>
              <a:rPr lang="zh-CN" altLang="zh-CN" sz="2000" b="1" kern="100" dirty="0">
                <a:solidFill>
                  <a:srgbClr val="FF0000"/>
                </a:solidFill>
                <a:effectLst/>
                <a:latin typeface="Times New Roman" panose="02020603050405020304" pitchFamily="18" charset="0"/>
                <a:ea typeface="黑体" panose="02010609060101010101" pitchFamily="49" charset="-122"/>
              </a:rPr>
              <a:t>相</a:t>
            </a:r>
            <a:r>
              <a:rPr lang="en-US" altLang="zh-CN" sz="2000" b="1" kern="100" dirty="0">
                <a:solidFill>
                  <a:srgbClr val="FF0000"/>
                </a:solidFill>
                <a:effectLst/>
                <a:latin typeface="Times New Roman" panose="02020603050405020304" pitchFamily="18" charset="0"/>
                <a:ea typeface="黑体" panose="02010609060101010101" pitchFamily="49" charset="-122"/>
              </a:rPr>
              <a:t>】</a:t>
            </a:r>
            <a:endParaRPr lang="zh-CN" altLang="zh-CN" sz="1100" b="1" kern="100" dirty="0">
              <a:solidFill>
                <a:srgbClr val="FF0000"/>
              </a:solidFill>
              <a:effectLst/>
              <a:latin typeface="Times New Roman" panose="02020603050405020304" pitchFamily="18" charset="0"/>
              <a:ea typeface="宋体" panose="02010600030101010101" pitchFamily="2" charset="-122"/>
            </a:endParaRPr>
          </a:p>
        </p:txBody>
      </p:sp>
      <p:graphicFrame>
        <p:nvGraphicFramePr>
          <p:cNvPr id="4" name="对象 3">
            <a:extLst>
              <a:ext uri="{FF2B5EF4-FFF2-40B4-BE49-F238E27FC236}">
                <a16:creationId xmlns:a16="http://schemas.microsoft.com/office/drawing/2014/main" id="{27F3BF6E-359D-C8DC-C248-6B14545CACEC}"/>
              </a:ext>
            </a:extLst>
          </p:cNvPr>
          <p:cNvGraphicFramePr>
            <a:graphicFrameLocks noChangeAspect="1"/>
          </p:cNvGraphicFramePr>
          <p:nvPr>
            <p:extLst>
              <p:ext uri="{D42A27DB-BD31-4B8C-83A1-F6EECF244321}">
                <p14:modId xmlns:p14="http://schemas.microsoft.com/office/powerpoint/2010/main" val="1160408797"/>
              </p:ext>
            </p:extLst>
          </p:nvPr>
        </p:nvGraphicFramePr>
        <p:xfrm>
          <a:off x="899592" y="1650727"/>
          <a:ext cx="4103687" cy="3146425"/>
        </p:xfrm>
        <a:graphic>
          <a:graphicData uri="http://schemas.openxmlformats.org/presentationml/2006/ole">
            <mc:AlternateContent xmlns:mc="http://schemas.openxmlformats.org/markup-compatibility/2006">
              <mc:Choice xmlns:v="urn:schemas-microsoft-com:vml" Requires="v">
                <p:oleObj r:id="rId3" imgW="2392200" imgH="1819440" progId="">
                  <p:embed/>
                </p:oleObj>
              </mc:Choice>
              <mc:Fallback>
                <p:oleObj r:id="rId3" imgW="2392200" imgH="181944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1650727"/>
                        <a:ext cx="4103687" cy="3146425"/>
                      </a:xfrm>
                      <a:prstGeom prst="rect">
                        <a:avLst/>
                      </a:prstGeom>
                      <a:noFill/>
                      <a:ln>
                        <a:noFill/>
                      </a:ln>
                    </p:spPr>
                  </p:pic>
                </p:oleObj>
              </mc:Fallback>
            </mc:AlternateContent>
          </a:graphicData>
        </a:graphic>
      </p:graphicFrame>
      <p:sp>
        <p:nvSpPr>
          <p:cNvPr id="8" name="文本框 7">
            <a:extLst>
              <a:ext uri="{FF2B5EF4-FFF2-40B4-BE49-F238E27FC236}">
                <a16:creationId xmlns:a16="http://schemas.microsoft.com/office/drawing/2014/main" id="{CB9F035F-6E42-77C5-4D18-DA78E5FCD54B}"/>
              </a:ext>
            </a:extLst>
          </p:cNvPr>
          <p:cNvSpPr txBox="1"/>
          <p:nvPr/>
        </p:nvSpPr>
        <p:spPr>
          <a:xfrm>
            <a:off x="4856637" y="1570821"/>
            <a:ext cx="3960440" cy="3450240"/>
          </a:xfrm>
          <a:prstGeom prst="rect">
            <a:avLst/>
          </a:prstGeom>
          <a:noFill/>
        </p:spPr>
        <p:txBody>
          <a:bodyPr wrap="square">
            <a:spAutoFit/>
          </a:bodyPr>
          <a:lstStyle/>
          <a:p>
            <a:pPr marL="285750" indent="-285750">
              <a:lnSpc>
                <a:spcPct val="110000"/>
              </a:lnSpc>
              <a:buFont typeface="Wingdings" panose="05000000000000000000" pitchFamily="2" charset="2"/>
              <a:buChar char="u"/>
            </a:pPr>
            <a:r>
              <a:rPr lang="zh-CN" altLang="zh-CN" sz="20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励磁电流分量略超前磁通一很小的铁耗角；</a:t>
            </a:r>
            <a:endParaRPr lang="en-US" altLang="zh-CN" sz="20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285750" indent="-285750">
              <a:lnSpc>
                <a:spcPct val="110000"/>
              </a:lnSpc>
              <a:buFont typeface="Wingdings" panose="05000000000000000000" pitchFamily="2" charset="2"/>
              <a:buChar char="u"/>
            </a:pPr>
            <a:r>
              <a:rPr lang="zh-CN" altLang="zh-CN" sz="2000" b="1" kern="100" dirty="0">
                <a:solidFill>
                  <a:srgbClr val="000000"/>
                </a:solidFill>
                <a:effectLst/>
                <a:latin typeface="Times New Roman" panose="02020603050405020304" pitchFamily="18" charset="0"/>
                <a:ea typeface="黑体" panose="02010609060101010101" pitchFamily="49" charset="-122"/>
              </a:rPr>
              <a:t>磁通超前转子电势</a:t>
            </a:r>
            <a:r>
              <a:rPr lang="en-US" altLang="zh-CN" sz="2000" b="1" kern="100" dirty="0">
                <a:solidFill>
                  <a:srgbClr val="000000"/>
                </a:solidFill>
                <a:effectLst/>
                <a:latin typeface="Times New Roman" panose="02020603050405020304" pitchFamily="18" charset="0"/>
                <a:ea typeface="黑体" panose="02010609060101010101" pitchFamily="49" charset="-122"/>
              </a:rPr>
              <a:t>90</a:t>
            </a:r>
            <a:r>
              <a:rPr lang="zh-CN" altLang="zh-CN" sz="2000" b="1" kern="100" dirty="0">
                <a:solidFill>
                  <a:srgbClr val="000000"/>
                </a:solidFill>
                <a:effectLst/>
                <a:latin typeface="Times New Roman" panose="02020603050405020304" pitchFamily="18" charset="0"/>
                <a:ea typeface="黑体" panose="02010609060101010101" pitchFamily="49" charset="-122"/>
              </a:rPr>
              <a:t>度角；</a:t>
            </a:r>
            <a:endParaRPr lang="zh-CN" altLang="zh-CN" sz="2000" b="1" kern="100" dirty="0">
              <a:solidFill>
                <a:srgbClr val="FF00FF"/>
              </a:solidFill>
              <a:effectLst/>
              <a:latin typeface="Times New Roman" panose="02020603050405020304" pitchFamily="18" charset="0"/>
              <a:ea typeface="宋体" panose="02010600030101010101" pitchFamily="2" charset="-122"/>
            </a:endParaRPr>
          </a:p>
          <a:p>
            <a:pPr marL="285750" indent="-285750">
              <a:lnSpc>
                <a:spcPct val="110000"/>
              </a:lnSpc>
              <a:buFont typeface="Wingdings" panose="05000000000000000000" pitchFamily="2" charset="2"/>
              <a:buChar char="u"/>
            </a:pPr>
            <a:r>
              <a:rPr lang="zh-CN" altLang="zh-CN" sz="2000" b="1" kern="100" dirty="0">
                <a:solidFill>
                  <a:srgbClr val="000000"/>
                </a:solidFill>
                <a:effectLst/>
                <a:latin typeface="Times New Roman" panose="02020603050405020304" pitchFamily="18" charset="0"/>
                <a:ea typeface="黑体" panose="02010609060101010101" pitchFamily="49" charset="-122"/>
              </a:rPr>
              <a:t>转子电流滞后转子电势</a:t>
            </a:r>
            <a:r>
              <a:rPr lang="en-US" altLang="zh-CN" sz="2000" b="1" kern="100" dirty="0">
                <a:solidFill>
                  <a:srgbClr val="000000"/>
                </a:solidFill>
                <a:effectLst/>
                <a:latin typeface="Times New Roman" panose="02020603050405020304" pitchFamily="18" charset="0"/>
                <a:ea typeface="黑体" panose="02010609060101010101" pitchFamily="49" charset="-122"/>
              </a:rPr>
              <a:t>,</a:t>
            </a:r>
            <a:r>
              <a:rPr lang="zh-CN" altLang="zh-CN" sz="20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即转子电流滞后励磁电流超过</a:t>
            </a:r>
            <a:r>
              <a:rPr lang="en-US" altLang="zh-CN" sz="2000" b="1" kern="100" dirty="0">
                <a:solidFill>
                  <a:srgbClr val="000000"/>
                </a:solidFill>
                <a:effectLst/>
                <a:latin typeface="Times New Roman" panose="02020603050405020304" pitchFamily="18" charset="0"/>
                <a:ea typeface="黑体" panose="02010609060101010101" pitchFamily="49" charset="-122"/>
              </a:rPr>
              <a:t>90</a:t>
            </a:r>
            <a:r>
              <a:rPr lang="zh-CN" altLang="zh-CN" sz="20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度角；</a:t>
            </a:r>
            <a:endParaRPr lang="en-US" altLang="zh-CN" sz="2000" b="1" kern="100" dirty="0">
              <a:solidFill>
                <a:srgbClr val="FF00FF"/>
              </a:solidFill>
              <a:latin typeface="Times New Roman" panose="02020603050405020304" pitchFamily="18" charset="0"/>
              <a:cs typeface="Times New Roman" panose="02020603050405020304" pitchFamily="18" charset="0"/>
            </a:endParaRPr>
          </a:p>
          <a:p>
            <a:pPr marL="285750" indent="-285750">
              <a:lnSpc>
                <a:spcPct val="110000"/>
              </a:lnSpc>
              <a:buFont typeface="Wingdings" panose="05000000000000000000" pitchFamily="2" charset="2"/>
              <a:buChar char="u"/>
            </a:pPr>
            <a:r>
              <a:rPr lang="en-US" altLang="zh-CN" sz="2000" b="1" kern="100" dirty="0">
                <a:solidFill>
                  <a:srgbClr val="000000"/>
                </a:solidFill>
                <a:effectLst/>
                <a:latin typeface="Times New Roman" panose="02020603050405020304" pitchFamily="18" charset="0"/>
                <a:ea typeface="黑体" panose="02010609060101010101" pitchFamily="49" charset="-122"/>
              </a:rPr>
              <a:t>[</a:t>
            </a:r>
            <a:r>
              <a:rPr lang="zh-CN" altLang="en-US" sz="2000" b="1" kern="100" dirty="0">
                <a:solidFill>
                  <a:srgbClr val="000000"/>
                </a:solidFill>
                <a:latin typeface="Times New Roman" panose="02020603050405020304" pitchFamily="18" charset="0"/>
                <a:ea typeface="黑体" panose="02010609060101010101" pitchFamily="49" charset="-122"/>
              </a:rPr>
              <a:t>时</a:t>
            </a:r>
            <a:r>
              <a:rPr lang="zh-CN" altLang="zh-CN" sz="2000" b="1" kern="100" dirty="0">
                <a:solidFill>
                  <a:srgbClr val="000000"/>
                </a:solidFill>
                <a:effectLst/>
                <a:latin typeface="Times New Roman" panose="02020603050405020304" pitchFamily="18" charset="0"/>
                <a:ea typeface="黑体" panose="02010609060101010101" pitchFamily="49" charset="-122"/>
              </a:rPr>
              <a:t>域</a:t>
            </a:r>
            <a:r>
              <a:rPr lang="en-US" altLang="zh-CN" sz="2000" b="1" kern="100" dirty="0">
                <a:solidFill>
                  <a:srgbClr val="000000"/>
                </a:solidFill>
                <a:effectLst/>
                <a:latin typeface="Times New Roman" panose="02020603050405020304" pitchFamily="18" charset="0"/>
                <a:ea typeface="黑体" panose="02010609060101010101" pitchFamily="49" charset="-122"/>
              </a:rPr>
              <a:t>]</a:t>
            </a:r>
            <a:r>
              <a:rPr lang="zh-CN" altLang="zh-CN" sz="2000" b="1" kern="100" dirty="0">
                <a:solidFill>
                  <a:srgbClr val="000000"/>
                </a:solidFill>
                <a:effectLst/>
                <a:latin typeface="Times New Roman" panose="02020603050405020304" pitchFamily="18" charset="0"/>
                <a:ea typeface="黑体" panose="02010609060101010101" pitchFamily="49" charset="-122"/>
              </a:rPr>
              <a:t>定子电流为负转子电流与励磁电流的向量和</a:t>
            </a:r>
            <a:r>
              <a:rPr lang="zh-CN" altLang="en-US" sz="2000" b="1" kern="100" dirty="0">
                <a:solidFill>
                  <a:srgbClr val="000000"/>
                </a:solidFill>
                <a:effectLst/>
                <a:latin typeface="Times New Roman" panose="02020603050405020304" pitchFamily="18" charset="0"/>
                <a:ea typeface="黑体" panose="02010609060101010101" pitchFamily="49" charset="-122"/>
              </a:rPr>
              <a:t>；</a:t>
            </a:r>
            <a:r>
              <a:rPr lang="en-US" altLang="zh-CN" sz="2000" b="1" kern="100" dirty="0">
                <a:solidFill>
                  <a:srgbClr val="000000"/>
                </a:solidFill>
                <a:effectLst/>
                <a:latin typeface="Times New Roman" panose="02020603050405020304" pitchFamily="18" charset="0"/>
                <a:ea typeface="黑体" panose="02010609060101010101" pitchFamily="49" charset="-122"/>
              </a:rPr>
              <a:t>[</a:t>
            </a:r>
            <a:r>
              <a:rPr lang="zh-CN" altLang="zh-CN" sz="2000" b="1" kern="100" dirty="0">
                <a:solidFill>
                  <a:srgbClr val="000000"/>
                </a:solidFill>
                <a:effectLst/>
                <a:latin typeface="Times New Roman" panose="02020603050405020304" pitchFamily="18" charset="0"/>
                <a:ea typeface="黑体" panose="02010609060101010101" pitchFamily="49" charset="-122"/>
              </a:rPr>
              <a:t>空域</a:t>
            </a:r>
            <a:r>
              <a:rPr lang="en-US" altLang="zh-CN" sz="2000" b="1" kern="100" dirty="0">
                <a:solidFill>
                  <a:srgbClr val="000000"/>
                </a:solidFill>
                <a:effectLst/>
                <a:latin typeface="Times New Roman" panose="02020603050405020304" pitchFamily="18" charset="0"/>
                <a:ea typeface="黑体" panose="02010609060101010101" pitchFamily="49" charset="-122"/>
              </a:rPr>
              <a:t>] </a:t>
            </a:r>
            <a:r>
              <a:rPr lang="zh-CN" altLang="zh-CN" sz="2000" b="1" kern="100" dirty="0">
                <a:solidFill>
                  <a:srgbClr val="FF0000"/>
                </a:solidFill>
                <a:effectLst/>
                <a:latin typeface="Times New Roman" panose="02020603050405020304" pitchFamily="18" charset="0"/>
                <a:ea typeface="黑体" panose="02010609060101010101" pitchFamily="49" charset="-122"/>
              </a:rPr>
              <a:t>三相合成</a:t>
            </a:r>
            <a:r>
              <a:rPr lang="zh-CN" altLang="zh-CN" sz="2000" b="1" kern="100" dirty="0">
                <a:solidFill>
                  <a:srgbClr val="000000"/>
                </a:solidFill>
                <a:effectLst/>
                <a:latin typeface="Times New Roman" panose="02020603050405020304" pitchFamily="18" charset="0"/>
                <a:ea typeface="黑体" panose="02010609060101010101" pitchFamily="49" charset="-122"/>
              </a:rPr>
              <a:t>定子</a:t>
            </a:r>
            <a:r>
              <a:rPr lang="zh-CN" altLang="zh-CN" sz="2000" b="1" kern="100" dirty="0">
                <a:solidFill>
                  <a:srgbClr val="FF0000"/>
                </a:solidFill>
                <a:effectLst/>
                <a:latin typeface="Times New Roman" panose="02020603050405020304" pitchFamily="18" charset="0"/>
                <a:ea typeface="黑体" panose="02010609060101010101" pitchFamily="49" charset="-122"/>
              </a:rPr>
              <a:t>磁势</a:t>
            </a:r>
            <a:r>
              <a:rPr lang="zh-CN" altLang="zh-CN" sz="2000" b="1" kern="100" dirty="0">
                <a:solidFill>
                  <a:srgbClr val="000000"/>
                </a:solidFill>
                <a:effectLst/>
                <a:latin typeface="Times New Roman" panose="02020603050405020304" pitchFamily="18" charset="0"/>
                <a:ea typeface="黑体" panose="02010609060101010101" pitchFamily="49" charset="-122"/>
              </a:rPr>
              <a:t>、转子磁势在时空矢量图上与时域的</a:t>
            </a:r>
            <a:r>
              <a:rPr lang="zh-CN" altLang="zh-CN" sz="2000" b="1" kern="100" dirty="0">
                <a:solidFill>
                  <a:srgbClr val="FF0000"/>
                </a:solidFill>
                <a:effectLst/>
                <a:latin typeface="Times New Roman" panose="02020603050405020304" pitchFamily="18" charset="0"/>
                <a:ea typeface="黑体" panose="02010609060101010101" pitchFamily="49" charset="-122"/>
              </a:rPr>
              <a:t>相</a:t>
            </a:r>
            <a:r>
              <a:rPr lang="zh-CN" altLang="zh-CN" sz="2000" b="1" kern="100" dirty="0">
                <a:solidFill>
                  <a:srgbClr val="000000"/>
                </a:solidFill>
                <a:effectLst/>
                <a:latin typeface="Times New Roman" panose="02020603050405020304" pitchFamily="18" charset="0"/>
                <a:ea typeface="黑体" panose="02010609060101010101" pitchFamily="49" charset="-122"/>
              </a:rPr>
              <a:t>定子励磁</a:t>
            </a:r>
            <a:r>
              <a:rPr lang="zh-CN" altLang="zh-CN" sz="2000" b="1" kern="100" dirty="0">
                <a:solidFill>
                  <a:srgbClr val="FF0000"/>
                </a:solidFill>
                <a:effectLst/>
                <a:latin typeface="Times New Roman" panose="02020603050405020304" pitchFamily="18" charset="0"/>
                <a:ea typeface="黑体" panose="02010609060101010101" pitchFamily="49" charset="-122"/>
              </a:rPr>
              <a:t>电流</a:t>
            </a:r>
            <a:r>
              <a:rPr lang="zh-CN" altLang="zh-CN" sz="2000" b="1" kern="100" dirty="0">
                <a:solidFill>
                  <a:srgbClr val="000000"/>
                </a:solidFill>
                <a:effectLst/>
                <a:latin typeface="Times New Roman" panose="02020603050405020304" pitchFamily="18" charset="0"/>
                <a:ea typeface="黑体" panose="02010609060101010101" pitchFamily="49" charset="-122"/>
              </a:rPr>
              <a:t>、转子电流相位相同。</a:t>
            </a:r>
            <a:endParaRPr lang="zh-CN" altLang="zh-CN" sz="2000" b="1" kern="100" dirty="0">
              <a:solidFill>
                <a:srgbClr val="FF00FF"/>
              </a:solidFill>
              <a:effectLst/>
              <a:latin typeface="Times New Roman" panose="02020603050405020304" pitchFamily="18" charset="0"/>
              <a:ea typeface="宋体" panose="02010600030101010101" pitchFamily="2" charset="-122"/>
            </a:endParaRPr>
          </a:p>
        </p:txBody>
      </p:sp>
      <p:sp>
        <p:nvSpPr>
          <p:cNvPr id="10" name="文本框 9">
            <a:extLst>
              <a:ext uri="{FF2B5EF4-FFF2-40B4-BE49-F238E27FC236}">
                <a16:creationId xmlns:a16="http://schemas.microsoft.com/office/drawing/2014/main" id="{5E989117-E760-D7B5-E1F0-8262DC7C6D46}"/>
              </a:ext>
            </a:extLst>
          </p:cNvPr>
          <p:cNvSpPr txBox="1"/>
          <p:nvPr/>
        </p:nvSpPr>
        <p:spPr>
          <a:xfrm>
            <a:off x="317845" y="5255973"/>
            <a:ext cx="8612425" cy="1317284"/>
          </a:xfrm>
          <a:prstGeom prst="rect">
            <a:avLst/>
          </a:prstGeom>
          <a:noFill/>
        </p:spPr>
        <p:txBody>
          <a:bodyPr wrap="square">
            <a:spAutoFit/>
          </a:bodyPr>
          <a:lstStyle/>
          <a:p>
            <a:pPr>
              <a:lnSpc>
                <a:spcPct val="125000"/>
              </a:lnSpc>
            </a:pPr>
            <a:r>
              <a:rPr lang="zh-CN" altLang="zh-CN" sz="2200" b="1" kern="100" dirty="0">
                <a:solidFill>
                  <a:srgbClr val="C00000"/>
                </a:solidFill>
                <a:effectLst/>
                <a:latin typeface="Times New Roman" panose="02020603050405020304" pitchFamily="18" charset="0"/>
                <a:ea typeface="黑体" panose="02010609060101010101" pitchFamily="49" charset="-122"/>
              </a:rPr>
              <a:t>特点：</a:t>
            </a:r>
            <a:r>
              <a:rPr lang="zh-CN" altLang="en-US" sz="2200" b="1" kern="100" dirty="0">
                <a:solidFill>
                  <a:srgbClr val="000000"/>
                </a:solidFill>
                <a:effectLst/>
                <a:latin typeface="Times New Roman" panose="02020603050405020304" pitchFamily="18" charset="0"/>
                <a:ea typeface="黑体" panose="02010609060101010101" pitchFamily="49" charset="-122"/>
              </a:rPr>
              <a:t>定子、转子磁势          ，</a:t>
            </a:r>
            <a:r>
              <a:rPr kumimoji="0" lang="zh-CN" altLang="zh-CN" sz="22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旋转方向相同、转速相等</a:t>
            </a:r>
            <a:r>
              <a:rPr kumimoji="0" lang="zh-CN" altLang="en-US" sz="22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作用在同一磁路上。二者合成的同步旋转磁势</a:t>
            </a:r>
            <a:r>
              <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产生气隙每极主磁通</a:t>
            </a:r>
            <a:r>
              <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主磁通在定转子绕组中感生电动势</a:t>
            </a:r>
            <a:r>
              <a:rPr kumimoji="0" lang="en-US" altLang="zh-CN"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2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200" b="0" i="0" u="none" strike="noStrike" cap="none" normalizeH="0" baseline="0" dirty="0">
              <a:ln>
                <a:noFill/>
              </a:ln>
              <a:solidFill>
                <a:schemeClr val="tx1"/>
              </a:solidFill>
              <a:effectLst/>
              <a:latin typeface="Arial" panose="020B0604020202020204" pitchFamily="34" charset="0"/>
            </a:endParaRPr>
          </a:p>
        </p:txBody>
      </p:sp>
      <p:graphicFrame>
        <p:nvGraphicFramePr>
          <p:cNvPr id="18" name="对象 17">
            <a:extLst>
              <a:ext uri="{FF2B5EF4-FFF2-40B4-BE49-F238E27FC236}">
                <a16:creationId xmlns:a16="http://schemas.microsoft.com/office/drawing/2014/main" id="{99730555-25D5-749D-F000-AF3A41BE7A93}"/>
              </a:ext>
            </a:extLst>
          </p:cNvPr>
          <p:cNvGraphicFramePr>
            <a:graphicFrameLocks noChangeAspect="1"/>
          </p:cNvGraphicFramePr>
          <p:nvPr>
            <p:extLst>
              <p:ext uri="{D42A27DB-BD31-4B8C-83A1-F6EECF244321}">
                <p14:modId xmlns:p14="http://schemas.microsoft.com/office/powerpoint/2010/main" val="3728756688"/>
              </p:ext>
            </p:extLst>
          </p:nvPr>
        </p:nvGraphicFramePr>
        <p:xfrm>
          <a:off x="3255906" y="5251530"/>
          <a:ext cx="733374" cy="469887"/>
        </p:xfrm>
        <a:graphic>
          <a:graphicData uri="http://schemas.openxmlformats.org/presentationml/2006/ole">
            <mc:AlternateContent xmlns:mc="http://schemas.openxmlformats.org/markup-compatibility/2006">
              <mc:Choice xmlns:v="urn:schemas-microsoft-com:vml" Requires="v">
                <p:oleObj name="Equation" r:id="rId5" imgW="355446" imgH="228501" progId="Equation.DSMT4">
                  <p:embed/>
                </p:oleObj>
              </mc:Choice>
              <mc:Fallback>
                <p:oleObj name="Equation" r:id="rId5" imgW="355446" imgH="228501"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55906" y="5251530"/>
                        <a:ext cx="733374" cy="469887"/>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CA684418-1DF2-2856-3090-728CC2B61D98}"/>
              </a:ext>
            </a:extLst>
          </p:cNvPr>
          <p:cNvGraphicFramePr>
            <a:graphicFrameLocks noChangeAspect="1"/>
          </p:cNvGraphicFramePr>
          <p:nvPr>
            <p:extLst>
              <p:ext uri="{D42A27DB-BD31-4B8C-83A1-F6EECF244321}">
                <p14:modId xmlns:p14="http://schemas.microsoft.com/office/powerpoint/2010/main" val="1453914836"/>
              </p:ext>
            </p:extLst>
          </p:nvPr>
        </p:nvGraphicFramePr>
        <p:xfrm>
          <a:off x="4899310" y="5683766"/>
          <a:ext cx="1741861" cy="461698"/>
        </p:xfrm>
        <a:graphic>
          <a:graphicData uri="http://schemas.openxmlformats.org/presentationml/2006/ole">
            <mc:AlternateContent xmlns:mc="http://schemas.openxmlformats.org/markup-compatibility/2006">
              <mc:Choice xmlns:v="urn:schemas-microsoft-com:vml" Requires="v">
                <p:oleObj name="Equation" r:id="rId7" imgW="787058" imgH="215806" progId="Equation.DSMT4">
                  <p:embed/>
                </p:oleObj>
              </mc:Choice>
              <mc:Fallback>
                <p:oleObj name="Equation" r:id="rId7" imgW="787058" imgH="215806"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99310" y="5683766"/>
                        <a:ext cx="1741861" cy="461698"/>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F46B2F32-A867-CC8E-4B0E-1552EB52FE1E}"/>
              </a:ext>
            </a:extLst>
          </p:cNvPr>
          <p:cNvGraphicFramePr>
            <a:graphicFrameLocks noChangeAspect="1"/>
          </p:cNvGraphicFramePr>
          <p:nvPr>
            <p:extLst>
              <p:ext uri="{D42A27DB-BD31-4B8C-83A1-F6EECF244321}">
                <p14:modId xmlns:p14="http://schemas.microsoft.com/office/powerpoint/2010/main" val="1631628436"/>
              </p:ext>
            </p:extLst>
          </p:nvPr>
        </p:nvGraphicFramePr>
        <p:xfrm>
          <a:off x="1268353" y="6063670"/>
          <a:ext cx="438150" cy="509587"/>
        </p:xfrm>
        <a:graphic>
          <a:graphicData uri="http://schemas.openxmlformats.org/presentationml/2006/ole">
            <mc:AlternateContent xmlns:mc="http://schemas.openxmlformats.org/markup-compatibility/2006">
              <mc:Choice xmlns:v="urn:schemas-microsoft-com:vml" Requires="v">
                <p:oleObj name="Equation" r:id="rId9" imgW="190500" imgH="228600" progId="Equation.DSMT4">
                  <p:embed/>
                </p:oleObj>
              </mc:Choice>
              <mc:Fallback>
                <p:oleObj name="Equation" r:id="rId9" imgW="190500" imgH="2286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68353" y="6063670"/>
                        <a:ext cx="438150" cy="509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对象 25">
            <a:extLst>
              <a:ext uri="{FF2B5EF4-FFF2-40B4-BE49-F238E27FC236}">
                <a16:creationId xmlns:a16="http://schemas.microsoft.com/office/drawing/2014/main" id="{60A41734-FB11-594E-0463-7EA4346FBD88}"/>
              </a:ext>
            </a:extLst>
          </p:cNvPr>
          <p:cNvGraphicFramePr>
            <a:graphicFrameLocks noChangeAspect="1"/>
          </p:cNvGraphicFramePr>
          <p:nvPr>
            <p:extLst>
              <p:ext uri="{D42A27DB-BD31-4B8C-83A1-F6EECF244321}">
                <p14:modId xmlns:p14="http://schemas.microsoft.com/office/powerpoint/2010/main" val="1471734016"/>
              </p:ext>
            </p:extLst>
          </p:nvPr>
        </p:nvGraphicFramePr>
        <p:xfrm>
          <a:off x="6426139" y="6032124"/>
          <a:ext cx="821436" cy="541134"/>
        </p:xfrm>
        <a:graphic>
          <a:graphicData uri="http://schemas.openxmlformats.org/presentationml/2006/ole">
            <mc:AlternateContent xmlns:mc="http://schemas.openxmlformats.org/markup-compatibility/2006">
              <mc:Choice xmlns:v="urn:schemas-microsoft-com:vml" Requires="v">
                <p:oleObj name="Equation" r:id="rId11" imgW="419100" imgH="279400" progId="Equation.DSMT4">
                  <p:embed/>
                </p:oleObj>
              </mc:Choice>
              <mc:Fallback>
                <p:oleObj name="Equation" r:id="rId11" imgW="419100" imgH="279400" progId="Equation.DSMT4">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26139" y="6032124"/>
                        <a:ext cx="821436" cy="541134"/>
                      </a:xfrm>
                      <a:prstGeom prst="rect">
                        <a:avLst/>
                      </a:prstGeom>
                      <a:noFill/>
                    </p:spPr>
                  </p:pic>
                </p:oleObj>
              </mc:Fallback>
            </mc:AlternateContent>
          </a:graphicData>
        </a:graphic>
      </p:graphicFrame>
      <p:graphicFrame>
        <p:nvGraphicFramePr>
          <p:cNvPr id="30" name="对象 29">
            <a:extLst>
              <a:ext uri="{FF2B5EF4-FFF2-40B4-BE49-F238E27FC236}">
                <a16:creationId xmlns:a16="http://schemas.microsoft.com/office/drawing/2014/main" id="{89308A40-8581-15EB-65E3-C37FD09CB8A2}"/>
              </a:ext>
            </a:extLst>
          </p:cNvPr>
          <p:cNvGraphicFramePr>
            <a:graphicFrameLocks noChangeAspect="1"/>
          </p:cNvGraphicFramePr>
          <p:nvPr>
            <p:extLst>
              <p:ext uri="{D42A27DB-BD31-4B8C-83A1-F6EECF244321}">
                <p14:modId xmlns:p14="http://schemas.microsoft.com/office/powerpoint/2010/main" val="3123745103"/>
              </p:ext>
            </p:extLst>
          </p:nvPr>
        </p:nvGraphicFramePr>
        <p:xfrm>
          <a:off x="1827821" y="6040099"/>
          <a:ext cx="438150" cy="509587"/>
        </p:xfrm>
        <a:graphic>
          <a:graphicData uri="http://schemas.openxmlformats.org/presentationml/2006/ole">
            <mc:AlternateContent xmlns:mc="http://schemas.openxmlformats.org/markup-compatibility/2006">
              <mc:Choice xmlns:v="urn:schemas-microsoft-com:vml" Requires="v">
                <p:oleObj name="Equation" r:id="rId9" imgW="190500" imgH="228600" progId="Equation.DSMT4">
                  <p:embed/>
                </p:oleObj>
              </mc:Choice>
              <mc:Fallback>
                <p:oleObj name="Equation" r:id="rId9" imgW="190500" imgH="228600" progId="Equation.DSMT4">
                  <p:embed/>
                  <p:pic>
                    <p:nvPicPr>
                      <p:cNvPr id="20" name="对象 19">
                        <a:extLst>
                          <a:ext uri="{FF2B5EF4-FFF2-40B4-BE49-F238E27FC236}">
                            <a16:creationId xmlns:a16="http://schemas.microsoft.com/office/drawing/2014/main" id="{F46B2F32-A867-CC8E-4B0E-1552EB52FE1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7821" y="6040099"/>
                        <a:ext cx="438150" cy="509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a:extLst>
              <a:ext uri="{FF2B5EF4-FFF2-40B4-BE49-F238E27FC236}">
                <a16:creationId xmlns:a16="http://schemas.microsoft.com/office/drawing/2014/main" id="{5CFBE461-6D70-23E6-C827-3DFB1CF2837F}"/>
              </a:ext>
            </a:extLst>
          </p:cNvPr>
          <p:cNvSpPr>
            <a:spLocks noGrp="1"/>
          </p:cNvSpPr>
          <p:nvPr>
            <p:ph type="sldNum" sz="quarter" idx="12"/>
          </p:nvPr>
        </p:nvSpPr>
        <p:spPr/>
        <p:txBody>
          <a:bodyPr/>
          <a:lstStyle/>
          <a:p>
            <a:fld id="{76D830B0-DF59-4281-898F-AF208100B213}" type="slidenum">
              <a:rPr lang="en-US" altLang="zh-CN" smtClean="0"/>
              <a:pPr/>
              <a:t>66</a:t>
            </a:fld>
            <a:endParaRPr lang="en-US" altLang="zh-CN"/>
          </a:p>
        </p:txBody>
      </p:sp>
    </p:spTree>
    <p:extLst>
      <p:ext uri="{BB962C8B-B14F-4D97-AF65-F5344CB8AC3E}">
        <p14:creationId xmlns:p14="http://schemas.microsoft.com/office/powerpoint/2010/main" val="15131061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3BF3CA8-11BB-5CAE-272C-8BFE8757FF92}"/>
              </a:ext>
            </a:extLst>
          </p:cNvPr>
          <p:cNvSpPr txBox="1"/>
          <p:nvPr/>
        </p:nvSpPr>
        <p:spPr>
          <a:xfrm>
            <a:off x="251520" y="1023119"/>
            <a:ext cx="7920880" cy="461665"/>
          </a:xfrm>
          <a:prstGeom prst="rect">
            <a:avLst/>
          </a:prstGeom>
          <a:noFill/>
        </p:spPr>
        <p:txBody>
          <a:bodyPr wrap="square">
            <a:spAutoFit/>
          </a:bodyPr>
          <a:lstStyle/>
          <a:p>
            <a:pPr eaLnBrk="0" hangingPunct="0"/>
            <a:r>
              <a:rPr lang="en-US" altLang="zh-CN"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5</a:t>
            </a:r>
            <a:r>
              <a:rPr lang="zh-CN" altLang="en-US" sz="2400" b="1" kern="1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电动势平衡方程（</a:t>
            </a:r>
            <a:r>
              <a:rPr lang="en-US" altLang="zh-CN" sz="2400" b="1" kern="100" dirty="0">
                <a:solidFill>
                  <a:srgbClr val="0000FF"/>
                </a:solidFill>
                <a:effectLst/>
                <a:latin typeface="Times New Roman" panose="02020603050405020304" pitchFamily="18" charset="0"/>
                <a:ea typeface="黑体" panose="02010609060101010101" pitchFamily="49" charset="-122"/>
              </a:rPr>
              <a:t>n=0</a:t>
            </a: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、转子绕组短路、正弦稳态）</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graphicFrame>
        <p:nvGraphicFramePr>
          <p:cNvPr id="3" name="对象 2">
            <a:extLst>
              <a:ext uri="{FF2B5EF4-FFF2-40B4-BE49-F238E27FC236}">
                <a16:creationId xmlns:a16="http://schemas.microsoft.com/office/drawing/2014/main" id="{5FF064BE-085C-1F9E-4B47-387033B99BF1}"/>
              </a:ext>
            </a:extLst>
          </p:cNvPr>
          <p:cNvGraphicFramePr>
            <a:graphicFrameLocks noChangeAspect="1"/>
          </p:cNvGraphicFramePr>
          <p:nvPr>
            <p:extLst>
              <p:ext uri="{D42A27DB-BD31-4B8C-83A1-F6EECF244321}">
                <p14:modId xmlns:p14="http://schemas.microsoft.com/office/powerpoint/2010/main" val="1850464408"/>
              </p:ext>
            </p:extLst>
          </p:nvPr>
        </p:nvGraphicFramePr>
        <p:xfrm>
          <a:off x="683568" y="1700808"/>
          <a:ext cx="4392488" cy="4433400"/>
        </p:xfrm>
        <a:graphic>
          <a:graphicData uri="http://schemas.openxmlformats.org/presentationml/2006/ole">
            <mc:AlternateContent xmlns:mc="http://schemas.openxmlformats.org/markup-compatibility/2006">
              <mc:Choice xmlns:v="urn:schemas-microsoft-com:vml" Requires="v">
                <p:oleObj r:id="rId3" imgW="2111400" imgH="2138400" progId="">
                  <p:embed/>
                </p:oleObj>
              </mc:Choice>
              <mc:Fallback>
                <p:oleObj r:id="rId3" imgW="2111400" imgH="213840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1700808"/>
                        <a:ext cx="4392488" cy="4433400"/>
                      </a:xfrm>
                      <a:prstGeom prst="rect">
                        <a:avLst/>
                      </a:prstGeom>
                      <a:noFill/>
                      <a:ln>
                        <a:noFill/>
                      </a:ln>
                    </p:spPr>
                  </p:pic>
                </p:oleObj>
              </mc:Fallback>
            </mc:AlternateContent>
          </a:graphicData>
        </a:graphic>
      </p:graphicFrame>
      <p:sp>
        <p:nvSpPr>
          <p:cNvPr id="14" name="文本框 13">
            <a:extLst>
              <a:ext uri="{FF2B5EF4-FFF2-40B4-BE49-F238E27FC236}">
                <a16:creationId xmlns:a16="http://schemas.microsoft.com/office/drawing/2014/main" id="{20439C17-6DB9-4815-3BD7-3B4B3574953A}"/>
              </a:ext>
            </a:extLst>
          </p:cNvPr>
          <p:cNvSpPr txBox="1"/>
          <p:nvPr/>
        </p:nvSpPr>
        <p:spPr>
          <a:xfrm>
            <a:off x="5076056" y="1700808"/>
            <a:ext cx="3960440" cy="2707472"/>
          </a:xfrm>
          <a:prstGeom prst="rect">
            <a:avLst/>
          </a:prstGeom>
          <a:noFill/>
        </p:spPr>
        <p:txBody>
          <a:bodyPr wrap="square">
            <a:spAutoFit/>
          </a:bodyPr>
          <a:lstStyle/>
          <a:p>
            <a:pPr marL="342900" indent="-342900">
              <a:lnSpc>
                <a:spcPct val="120000"/>
              </a:lnSpc>
              <a:buFont typeface="Wingdings" panose="05000000000000000000" pitchFamily="2" charset="2"/>
              <a:buChar char="u"/>
            </a:pPr>
            <a:r>
              <a:rPr lang="zh-CN" altLang="zh-CN" sz="2400" b="1" kern="100" dirty="0">
                <a:solidFill>
                  <a:srgbClr val="FF0000"/>
                </a:solidFill>
                <a:effectLst/>
                <a:latin typeface="Times New Roman" panose="02020603050405020304" pitchFamily="18" charset="0"/>
                <a:ea typeface="黑体" panose="02010609060101010101" pitchFamily="49" charset="-122"/>
              </a:rPr>
              <a:t>因磁势实现了相分离，故三相绕组可用一相为代表讨论</a:t>
            </a:r>
            <a:r>
              <a:rPr lang="zh-CN" altLang="en-US" sz="2400" b="1" kern="100" dirty="0">
                <a:solidFill>
                  <a:srgbClr val="FF0000"/>
                </a:solidFill>
                <a:effectLst/>
                <a:latin typeface="Times New Roman" panose="02020603050405020304" pitchFamily="18" charset="0"/>
                <a:ea typeface="黑体" panose="02010609060101010101" pitchFamily="49" charset="-122"/>
              </a:rPr>
              <a:t>；</a:t>
            </a:r>
            <a:endParaRPr lang="en-US"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342900" indent="-342900">
              <a:lnSpc>
                <a:spcPct val="120000"/>
              </a:lnSpc>
              <a:buFont typeface="Wingdings" panose="05000000000000000000" pitchFamily="2" charset="2"/>
              <a:buChar char="u"/>
            </a:pP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延用变压器负载运行各电磁量的假定正向，</a:t>
            </a:r>
            <a:r>
              <a:rPr lang="zh-CN" altLang="en-US" sz="2400" b="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定转子侧的电势平衡方程为：</a:t>
            </a:r>
            <a:endParaRPr lang="zh-CN" altLang="en-US" sz="2400" dirty="0"/>
          </a:p>
        </p:txBody>
      </p:sp>
      <p:graphicFrame>
        <p:nvGraphicFramePr>
          <p:cNvPr id="20" name="对象 19">
            <a:extLst>
              <a:ext uri="{FF2B5EF4-FFF2-40B4-BE49-F238E27FC236}">
                <a16:creationId xmlns:a16="http://schemas.microsoft.com/office/drawing/2014/main" id="{4E8C4425-D944-2BDC-801A-1310B6F61688}"/>
              </a:ext>
            </a:extLst>
          </p:cNvPr>
          <p:cNvGraphicFramePr>
            <a:graphicFrameLocks noChangeAspect="1"/>
          </p:cNvGraphicFramePr>
          <p:nvPr>
            <p:extLst>
              <p:ext uri="{D42A27DB-BD31-4B8C-83A1-F6EECF244321}">
                <p14:modId xmlns:p14="http://schemas.microsoft.com/office/powerpoint/2010/main" val="2927501268"/>
              </p:ext>
            </p:extLst>
          </p:nvPr>
        </p:nvGraphicFramePr>
        <p:xfrm>
          <a:off x="5868144" y="4497236"/>
          <a:ext cx="3014663" cy="728663"/>
        </p:xfrm>
        <a:graphic>
          <a:graphicData uri="http://schemas.openxmlformats.org/presentationml/2006/ole">
            <mc:AlternateContent xmlns:mc="http://schemas.openxmlformats.org/markup-compatibility/2006">
              <mc:Choice xmlns:v="urn:schemas-microsoft-com:vml" Requires="v">
                <p:oleObj name="Equation" r:id="rId5" imgW="1332921" imgH="317362" progId="Equation.DSMT4">
                  <p:embed/>
                </p:oleObj>
              </mc:Choice>
              <mc:Fallback>
                <p:oleObj name="Equation" r:id="rId5" imgW="1332921" imgH="317362"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8144" y="4497236"/>
                        <a:ext cx="3014663" cy="72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a:extLst>
              <a:ext uri="{FF2B5EF4-FFF2-40B4-BE49-F238E27FC236}">
                <a16:creationId xmlns:a16="http://schemas.microsoft.com/office/drawing/2014/main" id="{299D023A-569D-5A96-F1D3-3CDFB9DC7F8D}"/>
              </a:ext>
            </a:extLst>
          </p:cNvPr>
          <p:cNvGraphicFramePr>
            <a:graphicFrameLocks noChangeAspect="1"/>
          </p:cNvGraphicFramePr>
          <p:nvPr>
            <p:extLst>
              <p:ext uri="{D42A27DB-BD31-4B8C-83A1-F6EECF244321}">
                <p14:modId xmlns:p14="http://schemas.microsoft.com/office/powerpoint/2010/main" val="4002545503"/>
              </p:ext>
            </p:extLst>
          </p:nvPr>
        </p:nvGraphicFramePr>
        <p:xfrm>
          <a:off x="6228184" y="5281885"/>
          <a:ext cx="2100263" cy="671513"/>
        </p:xfrm>
        <a:graphic>
          <a:graphicData uri="http://schemas.openxmlformats.org/presentationml/2006/ole">
            <mc:AlternateContent xmlns:mc="http://schemas.openxmlformats.org/markup-compatibility/2006">
              <mc:Choice xmlns:v="urn:schemas-microsoft-com:vml" Requires="v">
                <p:oleObj name="Equation" r:id="rId7" imgW="952087" imgH="304668" progId="Equation.DSMT4">
                  <p:embed/>
                </p:oleObj>
              </mc:Choice>
              <mc:Fallback>
                <p:oleObj name="Equation" r:id="rId7" imgW="952087" imgH="304668"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28184" y="5281885"/>
                        <a:ext cx="2100263" cy="671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a:extLst>
              <a:ext uri="{FF2B5EF4-FFF2-40B4-BE49-F238E27FC236}">
                <a16:creationId xmlns:a16="http://schemas.microsoft.com/office/drawing/2014/main" id="{AD1353C7-F507-6196-F663-6D06A09556B3}"/>
              </a:ext>
            </a:extLst>
          </p:cNvPr>
          <p:cNvSpPr>
            <a:spLocks noGrp="1"/>
          </p:cNvSpPr>
          <p:nvPr>
            <p:ph type="sldNum" sz="quarter" idx="12"/>
          </p:nvPr>
        </p:nvSpPr>
        <p:spPr/>
        <p:txBody>
          <a:bodyPr/>
          <a:lstStyle/>
          <a:p>
            <a:fld id="{76D830B0-DF59-4281-898F-AF208100B213}" type="slidenum">
              <a:rPr lang="en-US" altLang="zh-CN" smtClean="0"/>
              <a:pPr/>
              <a:t>67</a:t>
            </a:fld>
            <a:endParaRPr lang="en-US" altLang="zh-CN"/>
          </a:p>
        </p:txBody>
      </p:sp>
    </p:spTree>
    <p:extLst>
      <p:ext uri="{BB962C8B-B14F-4D97-AF65-F5344CB8AC3E}">
        <p14:creationId xmlns:p14="http://schemas.microsoft.com/office/powerpoint/2010/main" val="197622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extLst>
              <a:ext uri="{FF2B5EF4-FFF2-40B4-BE49-F238E27FC236}">
                <a16:creationId xmlns:a16="http://schemas.microsoft.com/office/drawing/2014/main" id="{6E1145D1-14FE-873E-E86E-4855415ABB4F}"/>
              </a:ext>
            </a:extLst>
          </p:cNvPr>
          <p:cNvGraphicFramePr>
            <a:graphicFrameLocks noChangeAspect="1"/>
          </p:cNvGraphicFramePr>
          <p:nvPr>
            <p:extLst>
              <p:ext uri="{D42A27DB-BD31-4B8C-83A1-F6EECF244321}">
                <p14:modId xmlns:p14="http://schemas.microsoft.com/office/powerpoint/2010/main" val="3224863379"/>
              </p:ext>
            </p:extLst>
          </p:nvPr>
        </p:nvGraphicFramePr>
        <p:xfrm>
          <a:off x="3127924" y="951136"/>
          <a:ext cx="1606290" cy="685726"/>
        </p:xfrm>
        <a:graphic>
          <a:graphicData uri="http://schemas.openxmlformats.org/presentationml/2006/ole">
            <mc:AlternateContent xmlns:mc="http://schemas.openxmlformats.org/markup-compatibility/2006">
              <mc:Choice xmlns:v="urn:schemas-microsoft-com:vml" Requires="v">
                <p:oleObj name="Equation" r:id="rId3" imgW="634725" imgH="279279" progId="Equation.DSMT4">
                  <p:embed/>
                </p:oleObj>
              </mc:Choice>
              <mc:Fallback>
                <p:oleObj name="Equation" r:id="rId3" imgW="634725" imgH="279279"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7924" y="951136"/>
                        <a:ext cx="1606290" cy="685726"/>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A7FE0407-2431-3EA3-6B6D-FF4A459F1E37}"/>
              </a:ext>
            </a:extLst>
          </p:cNvPr>
          <p:cNvGraphicFramePr>
            <a:graphicFrameLocks noChangeAspect="1"/>
          </p:cNvGraphicFramePr>
          <p:nvPr>
            <p:extLst>
              <p:ext uri="{D42A27DB-BD31-4B8C-83A1-F6EECF244321}">
                <p14:modId xmlns:p14="http://schemas.microsoft.com/office/powerpoint/2010/main" val="3704978905"/>
              </p:ext>
            </p:extLst>
          </p:nvPr>
        </p:nvGraphicFramePr>
        <p:xfrm>
          <a:off x="472758" y="1696928"/>
          <a:ext cx="3476625" cy="1452562"/>
        </p:xfrm>
        <a:graphic>
          <a:graphicData uri="http://schemas.openxmlformats.org/presentationml/2006/ole">
            <mc:AlternateContent xmlns:mc="http://schemas.openxmlformats.org/markup-compatibility/2006">
              <mc:Choice xmlns:v="urn:schemas-microsoft-com:vml" Requires="v">
                <p:oleObj name="Equation" r:id="rId5" imgW="1409400" imgH="583920" progId="Equation.DSMT4">
                  <p:embed/>
                </p:oleObj>
              </mc:Choice>
              <mc:Fallback>
                <p:oleObj name="Equation" r:id="rId5" imgW="1409400" imgH="583920" progId="Equation.DSMT4">
                  <p:embed/>
                  <p:pic>
                    <p:nvPicPr>
                      <p:cNvPr id="0" name="Object 1"/>
                      <p:cNvPicPr>
                        <a:picLocks noChangeAspect="1" noChangeArrowheads="1"/>
                      </p:cNvPicPr>
                      <p:nvPr/>
                    </p:nvPicPr>
                    <p:blipFill>
                      <a:blip r:embed="rId6"/>
                      <a:srcRect/>
                      <a:stretch>
                        <a:fillRect/>
                      </a:stretch>
                    </p:blipFill>
                    <p:spPr bwMode="auto">
                      <a:xfrm>
                        <a:off x="472758" y="1696928"/>
                        <a:ext cx="3476625" cy="1452562"/>
                      </a:xfrm>
                      <a:prstGeom prst="rect">
                        <a:avLst/>
                      </a:prstGeom>
                      <a:noFill/>
                    </p:spPr>
                  </p:pic>
                </p:oleObj>
              </mc:Fallback>
            </mc:AlternateContent>
          </a:graphicData>
        </a:graphic>
      </p:graphicFrame>
      <p:sp>
        <p:nvSpPr>
          <p:cNvPr id="6" name="Rectangle 3">
            <a:extLst>
              <a:ext uri="{FF2B5EF4-FFF2-40B4-BE49-F238E27FC236}">
                <a16:creationId xmlns:a16="http://schemas.microsoft.com/office/drawing/2014/main" id="{90663349-6755-8E4C-CB89-6E3022985ECD}"/>
              </a:ext>
            </a:extLst>
          </p:cNvPr>
          <p:cNvSpPr>
            <a:spLocks noChangeArrowheads="1"/>
          </p:cNvSpPr>
          <p:nvPr/>
        </p:nvSpPr>
        <p:spPr bwMode="auto">
          <a:xfrm>
            <a:off x="205014" y="1190377"/>
            <a:ext cx="388843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以线性电抗等效代换</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4FF31773-1FD3-5172-C4D3-3DE628680C64}"/>
              </a:ext>
            </a:extLst>
          </p:cNvPr>
          <p:cNvSpPr>
            <a:spLocks noChangeArrowheads="1"/>
          </p:cNvSpPr>
          <p:nvPr/>
        </p:nvSpPr>
        <p:spPr bwMode="auto">
          <a:xfrm>
            <a:off x="4625776" y="1175197"/>
            <a:ext cx="9543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则：</a:t>
            </a:r>
            <a:endParaRPr kumimoji="0" lang="zh-CN" altLang="en-US" sz="400" b="0" i="0" u="none" strike="noStrike" cap="none" normalizeH="0" baseline="0" dirty="0">
              <a:ln>
                <a:noFill/>
              </a:ln>
              <a:solidFill>
                <a:schemeClr val="tx1"/>
              </a:solidFill>
              <a:effectLst/>
            </a:endParaRPr>
          </a:p>
        </p:txBody>
      </p:sp>
      <p:graphicFrame>
        <p:nvGraphicFramePr>
          <p:cNvPr id="8" name="对象 7">
            <a:extLst>
              <a:ext uri="{FF2B5EF4-FFF2-40B4-BE49-F238E27FC236}">
                <a16:creationId xmlns:a16="http://schemas.microsoft.com/office/drawing/2014/main" id="{D16E1FE9-8EFD-FC00-8921-BCB7C6727A51}"/>
              </a:ext>
            </a:extLst>
          </p:cNvPr>
          <p:cNvGraphicFramePr>
            <a:graphicFrameLocks noChangeAspect="1"/>
          </p:cNvGraphicFramePr>
          <p:nvPr>
            <p:extLst>
              <p:ext uri="{D42A27DB-BD31-4B8C-83A1-F6EECF244321}">
                <p14:modId xmlns:p14="http://schemas.microsoft.com/office/powerpoint/2010/main" val="4115947028"/>
              </p:ext>
            </p:extLst>
          </p:nvPr>
        </p:nvGraphicFramePr>
        <p:xfrm>
          <a:off x="4283968" y="1772816"/>
          <a:ext cx="4640262" cy="4864721"/>
        </p:xfrm>
        <a:graphic>
          <a:graphicData uri="http://schemas.openxmlformats.org/presentationml/2006/ole">
            <mc:AlternateContent xmlns:mc="http://schemas.openxmlformats.org/markup-compatibility/2006">
              <mc:Choice xmlns:v="urn:schemas-microsoft-com:vml" Requires="v">
                <p:oleObj r:id="rId7" imgW="2521080" imgH="2652840" progId="">
                  <p:embed/>
                </p:oleObj>
              </mc:Choice>
              <mc:Fallback>
                <p:oleObj r:id="rId7" imgW="2521080" imgH="2652840" progId="">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83968" y="1772816"/>
                        <a:ext cx="4640262" cy="4864721"/>
                      </a:xfrm>
                      <a:prstGeom prst="rect">
                        <a:avLst/>
                      </a:prstGeom>
                      <a:noFill/>
                      <a:ln>
                        <a:noFill/>
                      </a:ln>
                    </p:spPr>
                  </p:pic>
                </p:oleObj>
              </mc:Fallback>
            </mc:AlternateContent>
          </a:graphicData>
        </a:graphic>
      </p:graphicFrame>
      <p:graphicFrame>
        <p:nvGraphicFramePr>
          <p:cNvPr id="10" name="对象 9">
            <a:extLst>
              <a:ext uri="{FF2B5EF4-FFF2-40B4-BE49-F238E27FC236}">
                <a16:creationId xmlns:a16="http://schemas.microsoft.com/office/drawing/2014/main" id="{AF6C8CCC-AACF-8232-D9F7-5E4CF66961D6}"/>
              </a:ext>
            </a:extLst>
          </p:cNvPr>
          <p:cNvGraphicFramePr>
            <a:graphicFrameLocks noChangeAspect="1"/>
          </p:cNvGraphicFramePr>
          <p:nvPr>
            <p:extLst>
              <p:ext uri="{D42A27DB-BD31-4B8C-83A1-F6EECF244321}">
                <p14:modId xmlns:p14="http://schemas.microsoft.com/office/powerpoint/2010/main" val="1630622467"/>
              </p:ext>
            </p:extLst>
          </p:nvPr>
        </p:nvGraphicFramePr>
        <p:xfrm>
          <a:off x="472758" y="3180621"/>
          <a:ext cx="3157538" cy="638175"/>
        </p:xfrm>
        <a:graphic>
          <a:graphicData uri="http://schemas.openxmlformats.org/presentationml/2006/ole">
            <mc:AlternateContent xmlns:mc="http://schemas.openxmlformats.org/markup-compatibility/2006">
              <mc:Choice xmlns:v="urn:schemas-microsoft-com:vml" Requires="v">
                <p:oleObj name="Equation" r:id="rId9" imgW="1511300" imgH="304800" progId="Equation.DSMT4">
                  <p:embed/>
                </p:oleObj>
              </mc:Choice>
              <mc:Fallback>
                <p:oleObj name="Equation" r:id="rId9" imgW="1511300" imgH="3048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758" y="3180621"/>
                        <a:ext cx="3157538"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a:extLst>
              <a:ext uri="{FF2B5EF4-FFF2-40B4-BE49-F238E27FC236}">
                <a16:creationId xmlns:a16="http://schemas.microsoft.com/office/drawing/2014/main" id="{5F7A2172-B9FB-AB8B-504B-314A49693579}"/>
              </a:ext>
            </a:extLst>
          </p:cNvPr>
          <p:cNvGraphicFramePr>
            <a:graphicFrameLocks noChangeAspect="1"/>
          </p:cNvGraphicFramePr>
          <p:nvPr>
            <p:extLst>
              <p:ext uri="{D42A27DB-BD31-4B8C-83A1-F6EECF244321}">
                <p14:modId xmlns:p14="http://schemas.microsoft.com/office/powerpoint/2010/main" val="3295555416"/>
              </p:ext>
            </p:extLst>
          </p:nvPr>
        </p:nvGraphicFramePr>
        <p:xfrm>
          <a:off x="683568" y="3818796"/>
          <a:ext cx="2523133" cy="2937084"/>
        </p:xfrm>
        <a:graphic>
          <a:graphicData uri="http://schemas.openxmlformats.org/presentationml/2006/ole">
            <mc:AlternateContent xmlns:mc="http://schemas.openxmlformats.org/markup-compatibility/2006">
              <mc:Choice xmlns:v="urn:schemas-microsoft-com:vml" Requires="v">
                <p:oleObj name="Equation" r:id="rId11" imgW="1777680" imgH="2057400" progId="Equation.DSMT4">
                  <p:embed/>
                </p:oleObj>
              </mc:Choice>
              <mc:Fallback>
                <p:oleObj name="Equation" r:id="rId11" imgW="1777680" imgH="2057400" progId="Equation.DSMT4">
                  <p:embed/>
                  <p:pic>
                    <p:nvPicPr>
                      <p:cNvPr id="0" name="Object 8"/>
                      <p:cNvPicPr>
                        <a:picLocks noChangeAspect="1" noChangeArrowheads="1"/>
                      </p:cNvPicPr>
                      <p:nvPr/>
                    </p:nvPicPr>
                    <p:blipFill>
                      <a:blip r:embed="rId12"/>
                      <a:srcRect/>
                      <a:stretch>
                        <a:fillRect/>
                      </a:stretch>
                    </p:blipFill>
                    <p:spPr bwMode="auto">
                      <a:xfrm>
                        <a:off x="683568" y="3818796"/>
                        <a:ext cx="2523133" cy="2937084"/>
                      </a:xfrm>
                      <a:prstGeom prst="rect">
                        <a:avLst/>
                      </a:prstGeom>
                      <a:noFill/>
                    </p:spPr>
                  </p:pic>
                </p:oleObj>
              </mc:Fallback>
            </mc:AlternateContent>
          </a:graphicData>
        </a:graphic>
      </p:graphicFrame>
      <p:sp>
        <p:nvSpPr>
          <p:cNvPr id="3" name="灯片编号占位符 2">
            <a:extLst>
              <a:ext uri="{FF2B5EF4-FFF2-40B4-BE49-F238E27FC236}">
                <a16:creationId xmlns:a16="http://schemas.microsoft.com/office/drawing/2014/main" id="{3F6B4920-B6C8-EF63-0419-3AB6A1C236C6}"/>
              </a:ext>
            </a:extLst>
          </p:cNvPr>
          <p:cNvSpPr>
            <a:spLocks noGrp="1"/>
          </p:cNvSpPr>
          <p:nvPr>
            <p:ph type="sldNum" sz="quarter" idx="12"/>
          </p:nvPr>
        </p:nvSpPr>
        <p:spPr/>
        <p:txBody>
          <a:bodyPr/>
          <a:lstStyle/>
          <a:p>
            <a:fld id="{76D830B0-DF59-4281-898F-AF208100B213}" type="slidenum">
              <a:rPr lang="en-US" altLang="zh-CN" smtClean="0"/>
              <a:pPr/>
              <a:t>68</a:t>
            </a:fld>
            <a:endParaRPr lang="en-US" altLang="zh-CN"/>
          </a:p>
        </p:txBody>
      </p:sp>
    </p:spTree>
    <p:extLst>
      <p:ext uri="{BB962C8B-B14F-4D97-AF65-F5344CB8AC3E}">
        <p14:creationId xmlns:p14="http://schemas.microsoft.com/office/powerpoint/2010/main" val="19925679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8BCD6A9-7F5B-1908-C09B-ACD3D4256FC4}"/>
              </a:ext>
            </a:extLst>
          </p:cNvPr>
          <p:cNvSpPr txBox="1"/>
          <p:nvPr/>
        </p:nvSpPr>
        <p:spPr>
          <a:xfrm>
            <a:off x="438209" y="1274682"/>
            <a:ext cx="3575050" cy="830997"/>
          </a:xfrm>
          <a:prstGeom prst="rect">
            <a:avLst/>
          </a:prstGeom>
          <a:noFill/>
        </p:spPr>
        <p:txBody>
          <a:bodyPr wrap="square">
            <a:spAutoFit/>
          </a:bodyPr>
          <a:lstStyle/>
          <a:p>
            <a:r>
              <a:rPr lang="en-US" altLang="zh-CN" sz="2400" b="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n=0</a:t>
            </a:r>
            <a:r>
              <a:rPr lang="zh-CN" altLang="en-US" sz="2400" b="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异步电动机的</a:t>
            </a:r>
            <a:r>
              <a:rPr lang="en-US" altLang="zh-CN" sz="2400" b="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lang="zh-CN" altLang="en-US" sz="2400" b="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型等值电路的</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折算</a:t>
            </a:r>
            <a:r>
              <a:rPr lang="zh-CN" altLang="en-US"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处理</a:t>
            </a:r>
            <a:r>
              <a:rPr lang="en-US"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p>
        </p:txBody>
      </p:sp>
      <p:graphicFrame>
        <p:nvGraphicFramePr>
          <p:cNvPr id="9" name="对象 8">
            <a:extLst>
              <a:ext uri="{FF2B5EF4-FFF2-40B4-BE49-F238E27FC236}">
                <a16:creationId xmlns:a16="http://schemas.microsoft.com/office/drawing/2014/main" id="{C5F97822-23F6-709E-044B-4F3CC4D616F7}"/>
              </a:ext>
            </a:extLst>
          </p:cNvPr>
          <p:cNvGraphicFramePr>
            <a:graphicFrameLocks noChangeAspect="1"/>
          </p:cNvGraphicFramePr>
          <p:nvPr>
            <p:extLst>
              <p:ext uri="{D42A27DB-BD31-4B8C-83A1-F6EECF244321}">
                <p14:modId xmlns:p14="http://schemas.microsoft.com/office/powerpoint/2010/main" val="3892498264"/>
              </p:ext>
            </p:extLst>
          </p:nvPr>
        </p:nvGraphicFramePr>
        <p:xfrm>
          <a:off x="469005" y="2237253"/>
          <a:ext cx="3575050" cy="962025"/>
        </p:xfrm>
        <a:graphic>
          <a:graphicData uri="http://schemas.openxmlformats.org/presentationml/2006/ole">
            <mc:AlternateContent xmlns:mc="http://schemas.openxmlformats.org/markup-compatibility/2006">
              <mc:Choice xmlns:v="urn:schemas-microsoft-com:vml" Requires="v">
                <p:oleObj name="Equation" r:id="rId3" imgW="1701720" imgH="457200" progId="Equation.DSMT4">
                  <p:embed/>
                </p:oleObj>
              </mc:Choice>
              <mc:Fallback>
                <p:oleObj name="Equation" r:id="rId3" imgW="1701720" imgH="457200" progId="Equation.DSMT4">
                  <p:embed/>
                  <p:pic>
                    <p:nvPicPr>
                      <p:cNvPr id="0" name="Object 3"/>
                      <p:cNvPicPr>
                        <a:picLocks noChangeAspect="1" noChangeArrowheads="1"/>
                      </p:cNvPicPr>
                      <p:nvPr/>
                    </p:nvPicPr>
                    <p:blipFill>
                      <a:blip r:embed="rId4"/>
                      <a:srcRect/>
                      <a:stretch>
                        <a:fillRect/>
                      </a:stretch>
                    </p:blipFill>
                    <p:spPr bwMode="auto">
                      <a:xfrm>
                        <a:off x="469005" y="2237253"/>
                        <a:ext cx="3575050" cy="96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a:extLst>
              <a:ext uri="{FF2B5EF4-FFF2-40B4-BE49-F238E27FC236}">
                <a16:creationId xmlns:a16="http://schemas.microsoft.com/office/drawing/2014/main" id="{D5C2526C-07C5-182F-92C1-A334510D3B53}"/>
              </a:ext>
            </a:extLst>
          </p:cNvPr>
          <p:cNvGraphicFramePr>
            <a:graphicFrameLocks noChangeAspect="1"/>
          </p:cNvGraphicFramePr>
          <p:nvPr>
            <p:extLst>
              <p:ext uri="{D42A27DB-BD31-4B8C-83A1-F6EECF244321}">
                <p14:modId xmlns:p14="http://schemas.microsoft.com/office/powerpoint/2010/main" val="1781781466"/>
              </p:ext>
            </p:extLst>
          </p:nvPr>
        </p:nvGraphicFramePr>
        <p:xfrm>
          <a:off x="469005" y="3200401"/>
          <a:ext cx="2778125" cy="663575"/>
        </p:xfrm>
        <a:graphic>
          <a:graphicData uri="http://schemas.openxmlformats.org/presentationml/2006/ole">
            <mc:AlternateContent xmlns:mc="http://schemas.openxmlformats.org/markup-compatibility/2006">
              <mc:Choice xmlns:v="urn:schemas-microsoft-com:vml" Requires="v">
                <p:oleObj name="Equation" r:id="rId5" imgW="1447560" imgH="342720" progId="Equation.DSMT4">
                  <p:embed/>
                </p:oleObj>
              </mc:Choice>
              <mc:Fallback>
                <p:oleObj name="Equation" r:id="rId5" imgW="1447560" imgH="342720" progId="Equation.DSMT4">
                  <p:embed/>
                  <p:pic>
                    <p:nvPicPr>
                      <p:cNvPr id="0" name="Object 2"/>
                      <p:cNvPicPr>
                        <a:picLocks noChangeAspect="1" noChangeArrowheads="1"/>
                      </p:cNvPicPr>
                      <p:nvPr/>
                    </p:nvPicPr>
                    <p:blipFill>
                      <a:blip r:embed="rId6"/>
                      <a:srcRect/>
                      <a:stretch>
                        <a:fillRect/>
                      </a:stretch>
                    </p:blipFill>
                    <p:spPr bwMode="auto">
                      <a:xfrm>
                        <a:off x="469005" y="3200401"/>
                        <a:ext cx="2778125" cy="663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a:extLst>
              <a:ext uri="{FF2B5EF4-FFF2-40B4-BE49-F238E27FC236}">
                <a16:creationId xmlns:a16="http://schemas.microsoft.com/office/drawing/2014/main" id="{22B1FA51-1FD9-5684-0DB6-A2DECA9383BA}"/>
              </a:ext>
            </a:extLst>
          </p:cNvPr>
          <p:cNvGraphicFramePr>
            <a:graphicFrameLocks noChangeAspect="1"/>
          </p:cNvGraphicFramePr>
          <p:nvPr>
            <p:extLst>
              <p:ext uri="{D42A27DB-BD31-4B8C-83A1-F6EECF244321}">
                <p14:modId xmlns:p14="http://schemas.microsoft.com/office/powerpoint/2010/main" val="3679718101"/>
              </p:ext>
            </p:extLst>
          </p:nvPr>
        </p:nvGraphicFramePr>
        <p:xfrm>
          <a:off x="438209" y="4129370"/>
          <a:ext cx="3157537" cy="1181100"/>
        </p:xfrm>
        <a:graphic>
          <a:graphicData uri="http://schemas.openxmlformats.org/presentationml/2006/ole">
            <mc:AlternateContent xmlns:mc="http://schemas.openxmlformats.org/markup-compatibility/2006">
              <mc:Choice xmlns:v="urn:schemas-microsoft-com:vml" Requires="v">
                <p:oleObj name="Equation" r:id="rId7" imgW="1625400" imgH="609480" progId="Equation.DSMT4">
                  <p:embed/>
                </p:oleObj>
              </mc:Choice>
              <mc:Fallback>
                <p:oleObj name="Equation" r:id="rId7" imgW="1625400" imgH="609480" progId="Equation.DSMT4">
                  <p:embed/>
                  <p:pic>
                    <p:nvPicPr>
                      <p:cNvPr id="0" name="Object 1"/>
                      <p:cNvPicPr>
                        <a:picLocks noChangeAspect="1" noChangeArrowheads="1"/>
                      </p:cNvPicPr>
                      <p:nvPr/>
                    </p:nvPicPr>
                    <p:blipFill>
                      <a:blip r:embed="rId8"/>
                      <a:srcRect/>
                      <a:stretch>
                        <a:fillRect/>
                      </a:stretch>
                    </p:blipFill>
                    <p:spPr bwMode="auto">
                      <a:xfrm>
                        <a:off x="438209" y="4129370"/>
                        <a:ext cx="3157537" cy="1181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a:extLst>
              <a:ext uri="{FF2B5EF4-FFF2-40B4-BE49-F238E27FC236}">
                <a16:creationId xmlns:a16="http://schemas.microsoft.com/office/drawing/2014/main" id="{60E47CEC-35D7-4241-2C8B-62C37A5A7639}"/>
              </a:ext>
            </a:extLst>
          </p:cNvPr>
          <p:cNvGraphicFramePr>
            <a:graphicFrameLocks noChangeAspect="1"/>
          </p:cNvGraphicFramePr>
          <p:nvPr>
            <p:extLst>
              <p:ext uri="{D42A27DB-BD31-4B8C-83A1-F6EECF244321}">
                <p14:modId xmlns:p14="http://schemas.microsoft.com/office/powerpoint/2010/main" val="3819975377"/>
              </p:ext>
            </p:extLst>
          </p:nvPr>
        </p:nvGraphicFramePr>
        <p:xfrm>
          <a:off x="4211960" y="1268760"/>
          <a:ext cx="4640262" cy="4864721"/>
        </p:xfrm>
        <a:graphic>
          <a:graphicData uri="http://schemas.openxmlformats.org/presentationml/2006/ole">
            <mc:AlternateContent xmlns:mc="http://schemas.openxmlformats.org/markup-compatibility/2006">
              <mc:Choice xmlns:v="urn:schemas-microsoft-com:vml" Requires="v">
                <p:oleObj r:id="rId9" imgW="2521080" imgH="2652840" progId="">
                  <p:embed/>
                </p:oleObj>
              </mc:Choice>
              <mc:Fallback>
                <p:oleObj r:id="rId9" imgW="2521080" imgH="2652840" progId="">
                  <p:embed/>
                  <p:pic>
                    <p:nvPicPr>
                      <p:cNvPr id="8" name="对象 7">
                        <a:extLst>
                          <a:ext uri="{FF2B5EF4-FFF2-40B4-BE49-F238E27FC236}">
                            <a16:creationId xmlns:a16="http://schemas.microsoft.com/office/drawing/2014/main" id="{D16E1FE9-8EFD-FC00-8921-BCB7C6727A5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11960" y="1268760"/>
                        <a:ext cx="4640262" cy="4864721"/>
                      </a:xfrm>
                      <a:prstGeom prst="rect">
                        <a:avLst/>
                      </a:prstGeom>
                      <a:noFill/>
                      <a:ln>
                        <a:noFill/>
                      </a:ln>
                    </p:spPr>
                  </p:pic>
                </p:oleObj>
              </mc:Fallback>
            </mc:AlternateContent>
          </a:graphicData>
        </a:graphic>
      </p:graphicFrame>
      <p:sp>
        <p:nvSpPr>
          <p:cNvPr id="19" name="文本框 18">
            <a:extLst>
              <a:ext uri="{FF2B5EF4-FFF2-40B4-BE49-F238E27FC236}">
                <a16:creationId xmlns:a16="http://schemas.microsoft.com/office/drawing/2014/main" id="{171864D6-98BE-9B72-1901-9CD2A312F66B}"/>
              </a:ext>
            </a:extLst>
          </p:cNvPr>
          <p:cNvSpPr txBox="1"/>
          <p:nvPr/>
        </p:nvSpPr>
        <p:spPr>
          <a:xfrm>
            <a:off x="5292080" y="6093296"/>
            <a:ext cx="3168352" cy="400110"/>
          </a:xfrm>
          <a:prstGeom prst="rect">
            <a:avLst/>
          </a:prstGeom>
          <a:noFill/>
        </p:spPr>
        <p:txBody>
          <a:bodyPr wrap="square">
            <a:spAutoFit/>
          </a:bodyPr>
          <a:lstStyle/>
          <a:p>
            <a:r>
              <a:rPr lang="zh-CN" altLang="en-US" sz="2000" b="1" kern="100"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与变压器负载运行类似</a:t>
            </a:r>
            <a:endParaRPr lang="zh-CN" altLang="en-US" sz="2000" dirty="0">
              <a:solidFill>
                <a:srgbClr val="FF0000"/>
              </a:solidFill>
              <a:effectLst>
                <a:outerShdw blurRad="38100" dist="38100" dir="2700000" algn="tl">
                  <a:srgbClr val="000000">
                    <a:alpha val="43137"/>
                  </a:srgbClr>
                </a:outerShdw>
              </a:effectLst>
            </a:endParaRPr>
          </a:p>
        </p:txBody>
      </p:sp>
      <p:sp>
        <p:nvSpPr>
          <p:cNvPr id="4" name="灯片编号占位符 3">
            <a:extLst>
              <a:ext uri="{FF2B5EF4-FFF2-40B4-BE49-F238E27FC236}">
                <a16:creationId xmlns:a16="http://schemas.microsoft.com/office/drawing/2014/main" id="{50BB2EDE-401D-BA45-D524-8561AF378811}"/>
              </a:ext>
            </a:extLst>
          </p:cNvPr>
          <p:cNvSpPr>
            <a:spLocks noGrp="1"/>
          </p:cNvSpPr>
          <p:nvPr>
            <p:ph type="sldNum" sz="quarter" idx="12"/>
          </p:nvPr>
        </p:nvSpPr>
        <p:spPr/>
        <p:txBody>
          <a:bodyPr/>
          <a:lstStyle/>
          <a:p>
            <a:fld id="{76D830B0-DF59-4281-898F-AF208100B213}" type="slidenum">
              <a:rPr lang="en-US" altLang="zh-CN" smtClean="0"/>
              <a:pPr/>
              <a:t>69</a:t>
            </a:fld>
            <a:endParaRPr lang="en-US" altLang="zh-CN"/>
          </a:p>
        </p:txBody>
      </p:sp>
    </p:spTree>
    <p:extLst>
      <p:ext uri="{BB962C8B-B14F-4D97-AF65-F5344CB8AC3E}">
        <p14:creationId xmlns:p14="http://schemas.microsoft.com/office/powerpoint/2010/main" val="42369258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7C3A1FD2-A309-BCF9-7BE4-43431B219C72}"/>
              </a:ext>
            </a:extLst>
          </p:cNvPr>
          <p:cNvSpPr txBox="1"/>
          <p:nvPr/>
        </p:nvSpPr>
        <p:spPr>
          <a:xfrm>
            <a:off x="251520" y="1052736"/>
            <a:ext cx="7344816" cy="49244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6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二、转子旋转时异步电动机的电磁过程</a:t>
            </a:r>
            <a:r>
              <a:rPr lang="zh-CN" altLang="en-US" sz="26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r>
              <a:rPr lang="en-US" altLang="zh-CN" sz="26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n≠0</a:t>
            </a:r>
            <a:r>
              <a:rPr lang="zh-CN" altLang="en-US" sz="26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p>
        </p:txBody>
      </p:sp>
      <p:sp>
        <p:nvSpPr>
          <p:cNvPr id="9" name="文本框 8">
            <a:extLst>
              <a:ext uri="{FF2B5EF4-FFF2-40B4-BE49-F238E27FC236}">
                <a16:creationId xmlns:a16="http://schemas.microsoft.com/office/drawing/2014/main" id="{F26386FB-3BB1-02F1-F2A4-05BC47B35142}"/>
              </a:ext>
            </a:extLst>
          </p:cNvPr>
          <p:cNvSpPr txBox="1"/>
          <p:nvPr/>
        </p:nvSpPr>
        <p:spPr>
          <a:xfrm>
            <a:off x="467544" y="1628800"/>
            <a:ext cx="3024336" cy="461665"/>
          </a:xfrm>
          <a:prstGeom prst="rect">
            <a:avLst/>
          </a:prstGeom>
          <a:noFill/>
        </p:spPr>
        <p:txBody>
          <a:bodyPr wrap="square">
            <a:spAutoFit/>
          </a:bodyPr>
          <a:lstStyle/>
          <a:p>
            <a:pPr algn="l"/>
            <a:r>
              <a:rPr lang="en-US" altLang="zh-CN" sz="2400" b="1" kern="100" dirty="0">
                <a:solidFill>
                  <a:srgbClr val="0000FF"/>
                </a:solidFill>
                <a:effectLst/>
                <a:latin typeface="Times New Roman" panose="02020603050405020304" pitchFamily="18" charset="0"/>
                <a:ea typeface="黑体" panose="02010609060101010101" pitchFamily="49" charset="-122"/>
              </a:rPr>
              <a:t>1</a:t>
            </a:r>
            <a:r>
              <a:rPr lang="zh-CN" altLang="zh-CN" sz="2400" b="1" kern="100" dirty="0">
                <a:solidFill>
                  <a:srgbClr val="0000FF"/>
                </a:solidFill>
                <a:effectLst/>
                <a:latin typeface="Times New Roman" panose="02020603050405020304" pitchFamily="18" charset="0"/>
                <a:ea typeface="黑体" panose="02010609060101010101" pitchFamily="49" charset="-122"/>
              </a:rPr>
              <a:t>、转子电势的变化</a:t>
            </a:r>
            <a:endParaRPr lang="zh-CN" altLang="zh-CN" sz="1600" b="1" kern="100" dirty="0">
              <a:solidFill>
                <a:srgbClr val="FF00FF"/>
              </a:solidFill>
              <a:effectLst/>
              <a:latin typeface="Times New Roman" panose="02020603050405020304" pitchFamily="18" charset="0"/>
              <a:ea typeface="宋体" panose="02010600030101010101" pitchFamily="2" charset="-122"/>
            </a:endParaRPr>
          </a:p>
        </p:txBody>
      </p:sp>
      <p:graphicFrame>
        <p:nvGraphicFramePr>
          <p:cNvPr id="19" name="对象 18">
            <a:extLst>
              <a:ext uri="{FF2B5EF4-FFF2-40B4-BE49-F238E27FC236}">
                <a16:creationId xmlns:a16="http://schemas.microsoft.com/office/drawing/2014/main" id="{5CBF4780-1428-ECB2-5B09-C9D8A550F151}"/>
              </a:ext>
            </a:extLst>
          </p:cNvPr>
          <p:cNvGraphicFramePr>
            <a:graphicFrameLocks noChangeAspect="1"/>
          </p:cNvGraphicFramePr>
          <p:nvPr>
            <p:extLst>
              <p:ext uri="{D42A27DB-BD31-4B8C-83A1-F6EECF244321}">
                <p14:modId xmlns:p14="http://schemas.microsoft.com/office/powerpoint/2010/main" val="3825402041"/>
              </p:ext>
            </p:extLst>
          </p:nvPr>
        </p:nvGraphicFramePr>
        <p:xfrm>
          <a:off x="3419872" y="2586290"/>
          <a:ext cx="1671638" cy="581025"/>
        </p:xfrm>
        <a:graphic>
          <a:graphicData uri="http://schemas.openxmlformats.org/presentationml/2006/ole">
            <mc:AlternateContent xmlns:mc="http://schemas.openxmlformats.org/markup-compatibility/2006">
              <mc:Choice xmlns:v="urn:schemas-microsoft-com:vml" Requires="v">
                <p:oleObj name="Equation" r:id="rId3" imgW="660400" imgH="228600" progId="Equation.DSMT4">
                  <p:embed/>
                </p:oleObj>
              </mc:Choice>
              <mc:Fallback>
                <p:oleObj name="Equation" r:id="rId3" imgW="660400" imgH="2286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872" y="2586290"/>
                        <a:ext cx="1671638"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a:extLst>
              <a:ext uri="{FF2B5EF4-FFF2-40B4-BE49-F238E27FC236}">
                <a16:creationId xmlns:a16="http://schemas.microsoft.com/office/drawing/2014/main" id="{2D447E14-C1E1-55C0-4D21-1E29C94F17D4}"/>
              </a:ext>
            </a:extLst>
          </p:cNvPr>
          <p:cNvGraphicFramePr>
            <a:graphicFrameLocks noChangeAspect="1"/>
          </p:cNvGraphicFramePr>
          <p:nvPr>
            <p:extLst>
              <p:ext uri="{D42A27DB-BD31-4B8C-83A1-F6EECF244321}">
                <p14:modId xmlns:p14="http://schemas.microsoft.com/office/powerpoint/2010/main" val="4040432910"/>
              </p:ext>
            </p:extLst>
          </p:nvPr>
        </p:nvGraphicFramePr>
        <p:xfrm>
          <a:off x="3419872" y="3671989"/>
          <a:ext cx="1671638" cy="519113"/>
        </p:xfrm>
        <a:graphic>
          <a:graphicData uri="http://schemas.openxmlformats.org/presentationml/2006/ole">
            <mc:AlternateContent xmlns:mc="http://schemas.openxmlformats.org/markup-compatibility/2006">
              <mc:Choice xmlns:v="urn:schemas-microsoft-com:vml" Requires="v">
                <p:oleObj name="Equation" r:id="rId5" imgW="736600" imgH="228600" progId="Equation.DSMT4">
                  <p:embed/>
                </p:oleObj>
              </mc:Choice>
              <mc:Fallback>
                <p:oleObj name="Equation" r:id="rId5" imgW="736600" imgH="2286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872" y="3671989"/>
                        <a:ext cx="1671638"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11">
            <a:extLst>
              <a:ext uri="{FF2B5EF4-FFF2-40B4-BE49-F238E27FC236}">
                <a16:creationId xmlns:a16="http://schemas.microsoft.com/office/drawing/2014/main" id="{DCC87143-62FF-6B03-FD1E-605BF04E8E01}"/>
              </a:ext>
            </a:extLst>
          </p:cNvPr>
          <p:cNvSpPr>
            <a:spLocks noChangeArrowheads="1"/>
          </p:cNvSpPr>
          <p:nvPr/>
        </p:nvSpPr>
        <p:spPr bwMode="auto">
          <a:xfrm>
            <a:off x="683568" y="2126204"/>
            <a:ext cx="79208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转子不转时，转子、定子电势频率与电源电压频率相等：</a:t>
            </a:r>
            <a:endParaRPr kumimoji="0" lang="zh-CN" altLang="zh-CN" sz="400" b="0" i="0" u="none" strike="noStrike" cap="none" normalizeH="0" baseline="0" dirty="0">
              <a:ln>
                <a:noFill/>
              </a:ln>
              <a:solidFill>
                <a:schemeClr val="tx1"/>
              </a:solidFill>
              <a:effectLst/>
            </a:endParaRPr>
          </a:p>
        </p:txBody>
      </p:sp>
      <p:sp>
        <p:nvSpPr>
          <p:cNvPr id="22" name="Rectangle 12">
            <a:extLst>
              <a:ext uri="{FF2B5EF4-FFF2-40B4-BE49-F238E27FC236}">
                <a16:creationId xmlns:a16="http://schemas.microsoft.com/office/drawing/2014/main" id="{209287FA-4806-8945-0CF1-24E3E00321F7}"/>
              </a:ext>
            </a:extLst>
          </p:cNvPr>
          <p:cNvSpPr>
            <a:spLocks noChangeArrowheads="1"/>
          </p:cNvSpPr>
          <p:nvPr/>
        </p:nvSpPr>
        <p:spPr bwMode="auto">
          <a:xfrm>
            <a:off x="628228" y="3167315"/>
            <a:ext cx="813690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若</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转子转速为</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，则定子旋转磁场切割转子导体的相对速度下降为：</a:t>
            </a:r>
            <a:endParaRPr kumimoji="0" lang="zh-CN" altLang="en-US" sz="400" b="0" i="0" u="none" strike="noStrike" cap="none" normalizeH="0" baseline="0" dirty="0">
              <a:ln>
                <a:noFill/>
              </a:ln>
              <a:solidFill>
                <a:schemeClr val="tx1"/>
              </a:solidFill>
              <a:effectLst/>
            </a:endParaRPr>
          </a:p>
        </p:txBody>
      </p:sp>
      <p:sp>
        <p:nvSpPr>
          <p:cNvPr id="24" name="文本框 23">
            <a:extLst>
              <a:ext uri="{FF2B5EF4-FFF2-40B4-BE49-F238E27FC236}">
                <a16:creationId xmlns:a16="http://schemas.microsoft.com/office/drawing/2014/main" id="{420443BA-8635-7855-6B39-10685D2A6067}"/>
              </a:ext>
            </a:extLst>
          </p:cNvPr>
          <p:cNvSpPr txBox="1"/>
          <p:nvPr/>
        </p:nvSpPr>
        <p:spPr>
          <a:xfrm>
            <a:off x="683568" y="4256308"/>
            <a:ext cx="8081564" cy="830997"/>
          </a:xfrm>
          <a:prstGeom prst="rect">
            <a:avLst/>
          </a:prstGeom>
          <a:noFill/>
        </p:spPr>
        <p:txBody>
          <a:bodyPr wrap="square">
            <a:spAutoFit/>
          </a:bodyPr>
          <a:lstStyle/>
          <a:p>
            <a:pPr algn="l"/>
            <a:r>
              <a:rPr lang="zh-CN" altLang="zh-CN" sz="2400" b="1" kern="100" dirty="0">
                <a:solidFill>
                  <a:srgbClr val="000000"/>
                </a:solidFill>
                <a:effectLst/>
                <a:latin typeface="Times New Roman" panose="02020603050405020304" pitchFamily="18" charset="0"/>
                <a:ea typeface="黑体" panose="02010609060101010101" pitchFamily="49" charset="-122"/>
              </a:rPr>
              <a:t>转子导体扫过一对磁极空间的时间变长，使</a:t>
            </a:r>
            <a:r>
              <a:rPr lang="zh-CN" altLang="zh-CN" sz="2400" b="1" kern="100" dirty="0">
                <a:solidFill>
                  <a:srgbClr val="0000FF"/>
                </a:solidFill>
                <a:effectLst/>
                <a:latin typeface="Times New Roman" panose="02020603050405020304" pitchFamily="18" charset="0"/>
                <a:ea typeface="黑体" panose="02010609060101010101" pitchFamily="49" charset="-122"/>
              </a:rPr>
              <a:t>转子电势频率减小</a:t>
            </a:r>
            <a:r>
              <a:rPr lang="zh-CN" altLang="zh-CN" sz="2400" b="1" kern="100" dirty="0">
                <a:solidFill>
                  <a:srgbClr val="000000"/>
                </a:solidFill>
                <a:effectLst/>
                <a:latin typeface="Times New Roman" panose="02020603050405020304" pitchFamily="18" charset="0"/>
                <a:ea typeface="黑体" panose="02010609060101010101" pitchFamily="49" charset="-122"/>
              </a:rPr>
              <a:t>为</a:t>
            </a:r>
            <a:r>
              <a:rPr lang="zh-CN" altLang="en-US" sz="2400" b="1" kern="100" dirty="0">
                <a:solidFill>
                  <a:srgbClr val="000000"/>
                </a:solidFill>
                <a:effectLst/>
                <a:latin typeface="Times New Roman" panose="02020603050405020304" pitchFamily="18" charset="0"/>
                <a:ea typeface="黑体" panose="02010609060101010101" pitchFamily="49" charset="-122"/>
              </a:rPr>
              <a:t>：</a:t>
            </a:r>
            <a:endParaRPr lang="zh-CN" altLang="zh-CN" sz="1600" b="1" kern="100" dirty="0">
              <a:solidFill>
                <a:srgbClr val="FF00FF"/>
              </a:solidFill>
              <a:effectLst/>
              <a:latin typeface="Times New Roman" panose="02020603050405020304" pitchFamily="18" charset="0"/>
              <a:ea typeface="宋体" panose="02010600030101010101" pitchFamily="2" charset="-122"/>
            </a:endParaRPr>
          </a:p>
        </p:txBody>
      </p:sp>
      <p:graphicFrame>
        <p:nvGraphicFramePr>
          <p:cNvPr id="26" name="对象 25">
            <a:extLst>
              <a:ext uri="{FF2B5EF4-FFF2-40B4-BE49-F238E27FC236}">
                <a16:creationId xmlns:a16="http://schemas.microsoft.com/office/drawing/2014/main" id="{D64356A9-E41C-4E2A-7FC9-43983F4E1BF4}"/>
              </a:ext>
            </a:extLst>
          </p:cNvPr>
          <p:cNvGraphicFramePr>
            <a:graphicFrameLocks noChangeAspect="1"/>
          </p:cNvGraphicFramePr>
          <p:nvPr>
            <p:extLst>
              <p:ext uri="{D42A27DB-BD31-4B8C-83A1-F6EECF244321}">
                <p14:modId xmlns:p14="http://schemas.microsoft.com/office/powerpoint/2010/main" val="3260692534"/>
              </p:ext>
            </p:extLst>
          </p:nvPr>
        </p:nvGraphicFramePr>
        <p:xfrm>
          <a:off x="1485056" y="4942917"/>
          <a:ext cx="6478588" cy="976313"/>
        </p:xfrm>
        <a:graphic>
          <a:graphicData uri="http://schemas.openxmlformats.org/presentationml/2006/ole">
            <mc:AlternateContent xmlns:mc="http://schemas.openxmlformats.org/markup-compatibility/2006">
              <mc:Choice xmlns:v="urn:schemas-microsoft-com:vml" Requires="v">
                <p:oleObj name="Equation" r:id="rId7" imgW="2692080" imgH="406080" progId="Equation.DSMT4">
                  <p:embed/>
                </p:oleObj>
              </mc:Choice>
              <mc:Fallback>
                <p:oleObj name="Equation" r:id="rId7" imgW="2692080" imgH="406080" progId="Equation.DSMT4">
                  <p:embed/>
                  <p:pic>
                    <p:nvPicPr>
                      <p:cNvPr id="0" name="Object 13"/>
                      <p:cNvPicPr>
                        <a:picLocks noChangeAspect="1" noChangeArrowheads="1"/>
                      </p:cNvPicPr>
                      <p:nvPr/>
                    </p:nvPicPr>
                    <p:blipFill>
                      <a:blip r:embed="rId8"/>
                      <a:srcRect/>
                      <a:stretch>
                        <a:fillRect/>
                      </a:stretch>
                    </p:blipFill>
                    <p:spPr bwMode="auto">
                      <a:xfrm>
                        <a:off x="1485056" y="4942917"/>
                        <a:ext cx="6478588"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16">
            <a:extLst>
              <a:ext uri="{FF2B5EF4-FFF2-40B4-BE49-F238E27FC236}">
                <a16:creationId xmlns:a16="http://schemas.microsoft.com/office/drawing/2014/main" id="{279F94D4-3BA3-2F90-64CA-C08F1592286B}"/>
              </a:ext>
            </a:extLst>
          </p:cNvPr>
          <p:cNvSpPr>
            <a:spLocks noChangeArrowheads="1"/>
          </p:cNvSpPr>
          <p:nvPr/>
        </p:nvSpPr>
        <p:spPr bwMode="auto">
          <a:xfrm>
            <a:off x="735830" y="6013788"/>
            <a:ext cx="194421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重要定义</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8" name="对象 27">
            <a:extLst>
              <a:ext uri="{FF2B5EF4-FFF2-40B4-BE49-F238E27FC236}">
                <a16:creationId xmlns:a16="http://schemas.microsoft.com/office/drawing/2014/main" id="{7D04CE52-A38A-5B32-8081-2F232B466482}"/>
              </a:ext>
            </a:extLst>
          </p:cNvPr>
          <p:cNvGraphicFramePr>
            <a:graphicFrameLocks noChangeAspect="1"/>
          </p:cNvGraphicFramePr>
          <p:nvPr>
            <p:extLst>
              <p:ext uri="{D42A27DB-BD31-4B8C-83A1-F6EECF244321}">
                <p14:modId xmlns:p14="http://schemas.microsoft.com/office/powerpoint/2010/main" val="426637772"/>
              </p:ext>
            </p:extLst>
          </p:nvPr>
        </p:nvGraphicFramePr>
        <p:xfrm>
          <a:off x="2535155" y="5981411"/>
          <a:ext cx="1769433" cy="551758"/>
        </p:xfrm>
        <a:graphic>
          <a:graphicData uri="http://schemas.openxmlformats.org/presentationml/2006/ole">
            <mc:AlternateContent xmlns:mc="http://schemas.openxmlformats.org/markup-compatibility/2006">
              <mc:Choice xmlns:v="urn:schemas-microsoft-com:vml" Requires="v">
                <p:oleObj name="Equation" r:id="rId9" imgW="812520" imgH="253800" progId="Equation.DSMT4">
                  <p:embed/>
                </p:oleObj>
              </mc:Choice>
              <mc:Fallback>
                <p:oleObj name="Equation" r:id="rId9" imgW="812520" imgH="253800" progId="Equation.DSMT4">
                  <p:embed/>
                  <p:pic>
                    <p:nvPicPr>
                      <p:cNvPr id="0" name="Object 15"/>
                      <p:cNvPicPr>
                        <a:picLocks noChangeAspect="1" noChangeArrowheads="1"/>
                      </p:cNvPicPr>
                      <p:nvPr/>
                    </p:nvPicPr>
                    <p:blipFill>
                      <a:blip r:embed="rId10"/>
                      <a:srcRect/>
                      <a:stretch>
                        <a:fillRect/>
                      </a:stretch>
                    </p:blipFill>
                    <p:spPr bwMode="auto">
                      <a:xfrm>
                        <a:off x="2535155" y="5981411"/>
                        <a:ext cx="1769433" cy="551758"/>
                      </a:xfrm>
                      <a:prstGeom prst="rect">
                        <a:avLst/>
                      </a:prstGeom>
                      <a:solidFill>
                        <a:srgbClr val="00FF00"/>
                      </a:solidFill>
                    </p:spPr>
                  </p:pic>
                </p:oleObj>
              </mc:Fallback>
            </mc:AlternateContent>
          </a:graphicData>
        </a:graphic>
      </p:graphicFrame>
      <p:sp>
        <p:nvSpPr>
          <p:cNvPr id="29" name="Rectangle 17">
            <a:extLst>
              <a:ext uri="{FF2B5EF4-FFF2-40B4-BE49-F238E27FC236}">
                <a16:creationId xmlns:a16="http://schemas.microsoft.com/office/drawing/2014/main" id="{7D24A714-EDF6-F97D-5B3F-071994ED0E70}"/>
              </a:ext>
            </a:extLst>
          </p:cNvPr>
          <p:cNvSpPr>
            <a:spLocks noChangeArrowheads="1"/>
          </p:cNvSpPr>
          <p:nvPr/>
        </p:nvSpPr>
        <p:spPr bwMode="auto">
          <a:xfrm>
            <a:off x="4644008" y="6026458"/>
            <a:ext cx="37291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s</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为异步电动机的</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转差率</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3" name="灯片编号占位符 2">
            <a:extLst>
              <a:ext uri="{FF2B5EF4-FFF2-40B4-BE49-F238E27FC236}">
                <a16:creationId xmlns:a16="http://schemas.microsoft.com/office/drawing/2014/main" id="{A73637BF-1D6A-A80A-F8F2-7EE1E9680E07}"/>
              </a:ext>
            </a:extLst>
          </p:cNvPr>
          <p:cNvSpPr>
            <a:spLocks noGrp="1"/>
          </p:cNvSpPr>
          <p:nvPr>
            <p:ph type="sldNum" sz="quarter" idx="12"/>
          </p:nvPr>
        </p:nvSpPr>
        <p:spPr/>
        <p:txBody>
          <a:bodyPr/>
          <a:lstStyle/>
          <a:p>
            <a:fld id="{76D830B0-DF59-4281-898F-AF208100B213}" type="slidenum">
              <a:rPr lang="en-US" altLang="zh-CN" smtClean="0"/>
              <a:pPr/>
              <a:t>70</a:t>
            </a:fld>
            <a:endParaRPr lang="en-US" altLang="zh-CN"/>
          </a:p>
        </p:txBody>
      </p:sp>
    </p:spTree>
    <p:extLst>
      <p:ext uri="{BB962C8B-B14F-4D97-AF65-F5344CB8AC3E}">
        <p14:creationId xmlns:p14="http://schemas.microsoft.com/office/powerpoint/2010/main" val="22047931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F2B2A6DB-FCCB-B4D0-57C5-057D43123ED9}"/>
              </a:ext>
            </a:extLst>
          </p:cNvPr>
          <p:cNvGraphicFramePr>
            <a:graphicFrameLocks noChangeAspect="1"/>
          </p:cNvGraphicFramePr>
          <p:nvPr>
            <p:extLst>
              <p:ext uri="{D42A27DB-BD31-4B8C-83A1-F6EECF244321}">
                <p14:modId xmlns:p14="http://schemas.microsoft.com/office/powerpoint/2010/main" val="3853975390"/>
              </p:ext>
            </p:extLst>
          </p:nvPr>
        </p:nvGraphicFramePr>
        <p:xfrm>
          <a:off x="6372200" y="1124744"/>
          <a:ext cx="1397000" cy="520700"/>
        </p:xfrm>
        <a:graphic>
          <a:graphicData uri="http://schemas.openxmlformats.org/presentationml/2006/ole">
            <mc:AlternateContent xmlns:mc="http://schemas.openxmlformats.org/markup-compatibility/2006">
              <mc:Choice xmlns:v="urn:schemas-microsoft-com:vml" Requires="v">
                <p:oleObj name="Equation" r:id="rId3" imgW="647640" imgH="241200" progId="Equation.DSMT4">
                  <p:embed/>
                </p:oleObj>
              </mc:Choice>
              <mc:Fallback>
                <p:oleObj name="Equation" r:id="rId3" imgW="647640" imgH="241200" progId="Equation.DSMT4">
                  <p:embed/>
                  <p:pic>
                    <p:nvPicPr>
                      <p:cNvPr id="0" name="Object 2"/>
                      <p:cNvPicPr>
                        <a:picLocks noChangeAspect="1" noChangeArrowheads="1"/>
                      </p:cNvPicPr>
                      <p:nvPr/>
                    </p:nvPicPr>
                    <p:blipFill>
                      <a:blip r:embed="rId4"/>
                      <a:srcRect/>
                      <a:stretch>
                        <a:fillRect/>
                      </a:stretch>
                    </p:blipFill>
                    <p:spPr bwMode="auto">
                      <a:xfrm>
                        <a:off x="6372200" y="1124744"/>
                        <a:ext cx="1397000" cy="520700"/>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F5DCD89D-CF2C-3241-C199-F9DC0C479C0D}"/>
              </a:ext>
            </a:extLst>
          </p:cNvPr>
          <p:cNvGraphicFramePr>
            <a:graphicFrameLocks noChangeAspect="1"/>
          </p:cNvGraphicFramePr>
          <p:nvPr>
            <p:extLst>
              <p:ext uri="{D42A27DB-BD31-4B8C-83A1-F6EECF244321}">
                <p14:modId xmlns:p14="http://schemas.microsoft.com/office/powerpoint/2010/main" val="1933550259"/>
              </p:ext>
            </p:extLst>
          </p:nvPr>
        </p:nvGraphicFramePr>
        <p:xfrm>
          <a:off x="3131840" y="1932463"/>
          <a:ext cx="3603657" cy="917791"/>
        </p:xfrm>
        <a:graphic>
          <a:graphicData uri="http://schemas.openxmlformats.org/presentationml/2006/ole">
            <mc:AlternateContent xmlns:mc="http://schemas.openxmlformats.org/markup-compatibility/2006">
              <mc:Choice xmlns:v="urn:schemas-microsoft-com:vml" Requires="v">
                <p:oleObj name="Equation" r:id="rId5" imgW="1777680" imgH="444240" progId="Equation.DSMT4">
                  <p:embed/>
                </p:oleObj>
              </mc:Choice>
              <mc:Fallback>
                <p:oleObj name="Equation" r:id="rId5" imgW="1777680" imgH="444240" progId="Equation.DSMT4">
                  <p:embed/>
                  <p:pic>
                    <p:nvPicPr>
                      <p:cNvPr id="0" name="Object 1"/>
                      <p:cNvPicPr>
                        <a:picLocks noChangeAspect="1" noChangeArrowheads="1"/>
                      </p:cNvPicPr>
                      <p:nvPr/>
                    </p:nvPicPr>
                    <p:blipFill>
                      <a:blip r:embed="rId6"/>
                      <a:srcRect/>
                      <a:stretch>
                        <a:fillRect/>
                      </a:stretch>
                    </p:blipFill>
                    <p:spPr bwMode="auto">
                      <a:xfrm>
                        <a:off x="3131840" y="1932463"/>
                        <a:ext cx="3603657" cy="917791"/>
                      </a:xfrm>
                      <a:prstGeom prst="rect">
                        <a:avLst/>
                      </a:prstGeom>
                      <a:noFill/>
                    </p:spPr>
                  </p:pic>
                </p:oleObj>
              </mc:Fallback>
            </mc:AlternateContent>
          </a:graphicData>
        </a:graphic>
      </p:graphicFrame>
      <p:sp>
        <p:nvSpPr>
          <p:cNvPr id="4" name="Rectangle 3">
            <a:extLst>
              <a:ext uri="{FF2B5EF4-FFF2-40B4-BE49-F238E27FC236}">
                <a16:creationId xmlns:a16="http://schemas.microsoft.com/office/drawing/2014/main" id="{37A0F509-F63E-6619-418B-8BC3AADD9A39}"/>
              </a:ext>
            </a:extLst>
          </p:cNvPr>
          <p:cNvSpPr>
            <a:spLocks noChangeArrowheads="1"/>
          </p:cNvSpPr>
          <p:nvPr/>
        </p:nvSpPr>
        <p:spPr bwMode="auto">
          <a:xfrm>
            <a:off x="683568" y="1124744"/>
            <a:ext cx="799288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它转过两个极距所需的时间应当等于周期</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，所以</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导体</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切割</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定子</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磁场速度降为：</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FD800999-B2E3-FC62-905B-917F9CA6C122}"/>
              </a:ext>
            </a:extLst>
          </p:cNvPr>
          <p:cNvSpPr>
            <a:spLocks noChangeArrowheads="1"/>
          </p:cNvSpPr>
          <p:nvPr/>
        </p:nvSpPr>
        <p:spPr bwMode="auto">
          <a:xfrm>
            <a:off x="683568" y="2922712"/>
            <a:ext cx="45365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转子电势有效值</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1" name="对象 10">
            <a:extLst>
              <a:ext uri="{FF2B5EF4-FFF2-40B4-BE49-F238E27FC236}">
                <a16:creationId xmlns:a16="http://schemas.microsoft.com/office/drawing/2014/main" id="{A29A9A4F-AE95-2DB8-569E-B179BBAF4491}"/>
              </a:ext>
            </a:extLst>
          </p:cNvPr>
          <p:cNvGraphicFramePr>
            <a:graphicFrameLocks noChangeAspect="1"/>
          </p:cNvGraphicFramePr>
          <p:nvPr>
            <p:extLst>
              <p:ext uri="{D42A27DB-BD31-4B8C-83A1-F6EECF244321}">
                <p14:modId xmlns:p14="http://schemas.microsoft.com/office/powerpoint/2010/main" val="1235388595"/>
              </p:ext>
            </p:extLst>
          </p:nvPr>
        </p:nvGraphicFramePr>
        <p:xfrm>
          <a:off x="3198874" y="2903512"/>
          <a:ext cx="1481138" cy="500063"/>
        </p:xfrm>
        <a:graphic>
          <a:graphicData uri="http://schemas.openxmlformats.org/presentationml/2006/ole">
            <mc:AlternateContent xmlns:mc="http://schemas.openxmlformats.org/markup-compatibility/2006">
              <mc:Choice xmlns:v="urn:schemas-microsoft-com:vml" Requires="v">
                <p:oleObj name="Equation" r:id="rId7" imgW="787058" imgH="266584" progId="Equation.DSMT4">
                  <p:embed/>
                </p:oleObj>
              </mc:Choice>
              <mc:Fallback>
                <p:oleObj name="Equation" r:id="rId7" imgW="787058" imgH="266584"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98874" y="2903512"/>
                        <a:ext cx="1481138" cy="500063"/>
                      </a:xfrm>
                      <a:prstGeom prst="rect">
                        <a:avLst/>
                      </a:prstGeom>
                      <a:solidFill>
                        <a:srgbClr val="FFFF00"/>
                      </a:solidFill>
                    </p:spPr>
                  </p:pic>
                </p:oleObj>
              </mc:Fallback>
            </mc:AlternateContent>
          </a:graphicData>
        </a:graphic>
      </p:graphicFrame>
      <p:sp>
        <p:nvSpPr>
          <p:cNvPr id="12" name="Rectangle 11">
            <a:extLst>
              <a:ext uri="{FF2B5EF4-FFF2-40B4-BE49-F238E27FC236}">
                <a16:creationId xmlns:a16="http://schemas.microsoft.com/office/drawing/2014/main" id="{C8CB328F-2510-EDC4-E39B-673EF5590A8B}"/>
              </a:ext>
            </a:extLst>
          </p:cNvPr>
          <p:cNvSpPr>
            <a:spLocks noChangeArrowheads="1"/>
          </p:cNvSpPr>
          <p:nvPr/>
        </p:nvSpPr>
        <p:spPr bwMode="auto">
          <a:xfrm>
            <a:off x="671279" y="3576587"/>
            <a:ext cx="24482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转子漏电抗为</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4" name="对象 13">
            <a:extLst>
              <a:ext uri="{FF2B5EF4-FFF2-40B4-BE49-F238E27FC236}">
                <a16:creationId xmlns:a16="http://schemas.microsoft.com/office/drawing/2014/main" id="{BA761AE8-7776-7536-9D57-DD789AFE2E2B}"/>
              </a:ext>
            </a:extLst>
          </p:cNvPr>
          <p:cNvGraphicFramePr>
            <a:graphicFrameLocks noChangeAspect="1"/>
          </p:cNvGraphicFramePr>
          <p:nvPr>
            <p:extLst>
              <p:ext uri="{D42A27DB-BD31-4B8C-83A1-F6EECF244321}">
                <p14:modId xmlns:p14="http://schemas.microsoft.com/office/powerpoint/2010/main" val="1659130206"/>
              </p:ext>
            </p:extLst>
          </p:nvPr>
        </p:nvGraphicFramePr>
        <p:xfrm>
          <a:off x="2915816" y="3576587"/>
          <a:ext cx="1481138" cy="471488"/>
        </p:xfrm>
        <a:graphic>
          <a:graphicData uri="http://schemas.openxmlformats.org/presentationml/2006/ole">
            <mc:AlternateContent xmlns:mc="http://schemas.openxmlformats.org/markup-compatibility/2006">
              <mc:Choice xmlns:v="urn:schemas-microsoft-com:vml" Requires="v">
                <p:oleObj name="Equation" r:id="rId9" imgW="825142" imgH="266584" progId="Equation.DSMT4">
                  <p:embed/>
                </p:oleObj>
              </mc:Choice>
              <mc:Fallback>
                <p:oleObj name="Equation" r:id="rId9" imgW="825142" imgH="266584"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15816" y="3576587"/>
                        <a:ext cx="1481138" cy="471488"/>
                      </a:xfrm>
                      <a:prstGeom prst="rect">
                        <a:avLst/>
                      </a:prstGeom>
                      <a:solidFill>
                        <a:srgbClr val="FFFF00"/>
                      </a:solidFill>
                    </p:spPr>
                  </p:pic>
                </p:oleObj>
              </mc:Fallback>
            </mc:AlternateContent>
          </a:graphicData>
        </a:graphic>
      </p:graphicFrame>
      <p:sp>
        <p:nvSpPr>
          <p:cNvPr id="15" name="Rectangle 13">
            <a:extLst>
              <a:ext uri="{FF2B5EF4-FFF2-40B4-BE49-F238E27FC236}">
                <a16:creationId xmlns:a16="http://schemas.microsoft.com/office/drawing/2014/main" id="{0AD145A2-92D7-ED2F-E359-21402D7DBD1E}"/>
              </a:ext>
            </a:extLst>
          </p:cNvPr>
          <p:cNvSpPr>
            <a:spLocks noChangeArrowheads="1"/>
          </p:cNvSpPr>
          <p:nvPr/>
        </p:nvSpPr>
        <p:spPr bwMode="auto">
          <a:xfrm>
            <a:off x="4850044" y="2932311"/>
            <a:ext cx="18854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转子电流</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6" name="对象 15">
            <a:extLst>
              <a:ext uri="{FF2B5EF4-FFF2-40B4-BE49-F238E27FC236}">
                <a16:creationId xmlns:a16="http://schemas.microsoft.com/office/drawing/2014/main" id="{E9901E98-87CD-7022-37D7-8BA023276C2E}"/>
              </a:ext>
            </a:extLst>
          </p:cNvPr>
          <p:cNvGraphicFramePr>
            <a:graphicFrameLocks noChangeAspect="1"/>
          </p:cNvGraphicFramePr>
          <p:nvPr>
            <p:extLst>
              <p:ext uri="{D42A27DB-BD31-4B8C-83A1-F6EECF244321}">
                <p14:modId xmlns:p14="http://schemas.microsoft.com/office/powerpoint/2010/main" val="2780886466"/>
              </p:ext>
            </p:extLst>
          </p:nvPr>
        </p:nvGraphicFramePr>
        <p:xfrm>
          <a:off x="6501695" y="2708920"/>
          <a:ext cx="2128838" cy="1114425"/>
        </p:xfrm>
        <a:graphic>
          <a:graphicData uri="http://schemas.openxmlformats.org/presentationml/2006/ole">
            <mc:AlternateContent xmlns:mc="http://schemas.openxmlformats.org/markup-compatibility/2006">
              <mc:Choice xmlns:v="urn:schemas-microsoft-com:vml" Requires="v">
                <p:oleObj name="Equation" r:id="rId11" imgW="965200" imgH="520700" progId="Equation.DSMT4">
                  <p:embed/>
                </p:oleObj>
              </mc:Choice>
              <mc:Fallback>
                <p:oleObj name="Equation" r:id="rId11" imgW="965200" imgH="52070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01695" y="2708920"/>
                        <a:ext cx="2128838" cy="1114425"/>
                      </a:xfrm>
                      <a:prstGeom prst="rect">
                        <a:avLst/>
                      </a:prstGeom>
                      <a:solidFill>
                        <a:srgbClr val="FFFF00"/>
                      </a:solidFill>
                    </p:spPr>
                  </p:pic>
                </p:oleObj>
              </mc:Fallback>
            </mc:AlternateContent>
          </a:graphicData>
        </a:graphic>
      </p:graphicFrame>
      <p:graphicFrame>
        <p:nvGraphicFramePr>
          <p:cNvPr id="18" name="对象 17">
            <a:extLst>
              <a:ext uri="{FF2B5EF4-FFF2-40B4-BE49-F238E27FC236}">
                <a16:creationId xmlns:a16="http://schemas.microsoft.com/office/drawing/2014/main" id="{42D16971-C8BD-3ED2-1D0A-9D4EA851FF92}"/>
              </a:ext>
            </a:extLst>
          </p:cNvPr>
          <p:cNvGraphicFramePr>
            <a:graphicFrameLocks noChangeAspect="1"/>
          </p:cNvGraphicFramePr>
          <p:nvPr>
            <p:extLst>
              <p:ext uri="{D42A27DB-BD31-4B8C-83A1-F6EECF244321}">
                <p14:modId xmlns:p14="http://schemas.microsoft.com/office/powerpoint/2010/main" val="2852622715"/>
              </p:ext>
            </p:extLst>
          </p:nvPr>
        </p:nvGraphicFramePr>
        <p:xfrm>
          <a:off x="1619440" y="4230462"/>
          <a:ext cx="5905120" cy="2376264"/>
        </p:xfrm>
        <a:graphic>
          <a:graphicData uri="http://schemas.openxmlformats.org/presentationml/2006/ole">
            <mc:AlternateContent xmlns:mc="http://schemas.openxmlformats.org/markup-compatibility/2006">
              <mc:Choice xmlns:v="urn:schemas-microsoft-com:vml" Requires="v">
                <p:oleObj r:id="rId13" imgW="2605088" imgH="1128713" progId="MSDraw">
                  <p:embed/>
                </p:oleObj>
              </mc:Choice>
              <mc:Fallback>
                <p:oleObj r:id="rId13" imgW="2605088" imgH="1128713" progId="MSDraw">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19440" y="4230462"/>
                        <a:ext cx="5905120" cy="2376264"/>
                      </a:xfrm>
                      <a:prstGeom prst="rect">
                        <a:avLst/>
                      </a:prstGeom>
                      <a:noFill/>
                    </p:spPr>
                  </p:pic>
                </p:oleObj>
              </mc:Fallback>
            </mc:AlternateContent>
          </a:graphicData>
        </a:graphic>
      </p:graphicFrame>
      <p:sp>
        <p:nvSpPr>
          <p:cNvPr id="6" name="灯片编号占位符 5">
            <a:extLst>
              <a:ext uri="{FF2B5EF4-FFF2-40B4-BE49-F238E27FC236}">
                <a16:creationId xmlns:a16="http://schemas.microsoft.com/office/drawing/2014/main" id="{FA4B88CD-76EF-8B5A-6783-33BBB660B980}"/>
              </a:ext>
            </a:extLst>
          </p:cNvPr>
          <p:cNvSpPr>
            <a:spLocks noGrp="1"/>
          </p:cNvSpPr>
          <p:nvPr>
            <p:ph type="sldNum" sz="quarter" idx="12"/>
          </p:nvPr>
        </p:nvSpPr>
        <p:spPr/>
        <p:txBody>
          <a:bodyPr/>
          <a:lstStyle/>
          <a:p>
            <a:fld id="{76D830B0-DF59-4281-898F-AF208100B213}" type="slidenum">
              <a:rPr lang="en-US" altLang="zh-CN" smtClean="0"/>
              <a:pPr/>
              <a:t>71</a:t>
            </a:fld>
            <a:endParaRPr lang="en-US" altLang="zh-CN"/>
          </a:p>
        </p:txBody>
      </p:sp>
    </p:spTree>
    <p:extLst>
      <p:ext uri="{BB962C8B-B14F-4D97-AF65-F5344CB8AC3E}">
        <p14:creationId xmlns:p14="http://schemas.microsoft.com/office/powerpoint/2010/main" val="18140641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2CCBF69-8F06-F717-7EC8-87316570044B}"/>
              </a:ext>
            </a:extLst>
          </p:cNvPr>
          <p:cNvSpPr txBox="1"/>
          <p:nvPr/>
        </p:nvSpPr>
        <p:spPr>
          <a:xfrm>
            <a:off x="467544" y="1052736"/>
            <a:ext cx="6336704" cy="461665"/>
          </a:xfrm>
          <a:prstGeom prst="rect">
            <a:avLst/>
          </a:prstGeom>
          <a:noFill/>
        </p:spPr>
        <p:txBody>
          <a:bodyPr wrap="square">
            <a:spAutoFit/>
          </a:bodyPr>
          <a:lstStyle/>
          <a:p>
            <a:r>
              <a:rPr lang="en-US" altLang="zh-CN" sz="2400" b="1" kern="100" dirty="0">
                <a:solidFill>
                  <a:srgbClr val="0000FF"/>
                </a:solidFill>
                <a:effectLst/>
                <a:latin typeface="Times New Roman" panose="02020603050405020304" pitchFamily="18" charset="0"/>
                <a:ea typeface="黑体" panose="02010609060101010101" pitchFamily="49" charset="-122"/>
              </a:rPr>
              <a:t>2</a:t>
            </a:r>
            <a:r>
              <a:rPr lang="zh-CN" altLang="zh-CN" sz="2400" b="1" kern="100" dirty="0">
                <a:solidFill>
                  <a:srgbClr val="0000FF"/>
                </a:solidFill>
                <a:effectLst/>
                <a:latin typeface="Times New Roman" panose="02020603050405020304" pitchFamily="18" charset="0"/>
                <a:ea typeface="黑体" panose="02010609060101010101" pitchFamily="49" charset="-122"/>
              </a:rPr>
              <a:t>、</a:t>
            </a:r>
            <a:r>
              <a:rPr lang="en-US" altLang="zh-CN" sz="2400" b="1" kern="100" dirty="0">
                <a:solidFill>
                  <a:srgbClr val="0000FF"/>
                </a:solidFill>
                <a:effectLst/>
                <a:latin typeface="Times New Roman" panose="02020603050405020304" pitchFamily="18" charset="0"/>
                <a:ea typeface="黑体" panose="02010609060101010101" pitchFamily="49" charset="-122"/>
              </a:rPr>
              <a:t>           </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时的磁势平衡与电势平衡方程</a:t>
            </a:r>
            <a:r>
              <a:rPr kumimoji="0" lang="zh-CN" altLang="en-US" sz="400" b="0" i="0" u="none" strike="noStrike" cap="none" normalizeH="0" baseline="0" dirty="0">
                <a:ln>
                  <a:noFill/>
                </a:ln>
                <a:solidFill>
                  <a:schemeClr val="tx1"/>
                </a:solidFill>
                <a:effectLst/>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3" name="对象 12">
            <a:extLst>
              <a:ext uri="{FF2B5EF4-FFF2-40B4-BE49-F238E27FC236}">
                <a16:creationId xmlns:a16="http://schemas.microsoft.com/office/drawing/2014/main" id="{E364CF33-92FE-115D-6680-55C702721BD6}"/>
              </a:ext>
            </a:extLst>
          </p:cNvPr>
          <p:cNvGraphicFramePr>
            <a:graphicFrameLocks noChangeAspect="1"/>
          </p:cNvGraphicFramePr>
          <p:nvPr>
            <p:extLst>
              <p:ext uri="{D42A27DB-BD31-4B8C-83A1-F6EECF244321}">
                <p14:modId xmlns:p14="http://schemas.microsoft.com/office/powerpoint/2010/main" val="3564201551"/>
              </p:ext>
            </p:extLst>
          </p:nvPr>
        </p:nvGraphicFramePr>
        <p:xfrm>
          <a:off x="971600" y="1052736"/>
          <a:ext cx="856886" cy="423378"/>
        </p:xfrm>
        <a:graphic>
          <a:graphicData uri="http://schemas.openxmlformats.org/presentationml/2006/ole">
            <mc:AlternateContent xmlns:mc="http://schemas.openxmlformats.org/markup-compatibility/2006">
              <mc:Choice xmlns:v="urn:schemas-microsoft-com:vml" Requires="v">
                <p:oleObj name="Equation" r:id="rId3" imgW="355320" imgH="177480" progId="Equation.DSMT4">
                  <p:embed/>
                </p:oleObj>
              </mc:Choice>
              <mc:Fallback>
                <p:oleObj name="Equation" r:id="rId3" imgW="355320" imgH="177480" progId="Equation.DSMT4">
                  <p:embed/>
                  <p:pic>
                    <p:nvPicPr>
                      <p:cNvPr id="0" name="Object 4"/>
                      <p:cNvPicPr>
                        <a:picLocks noChangeAspect="1" noChangeArrowheads="1"/>
                      </p:cNvPicPr>
                      <p:nvPr/>
                    </p:nvPicPr>
                    <p:blipFill>
                      <a:blip r:embed="rId4"/>
                      <a:srcRect/>
                      <a:stretch>
                        <a:fillRect/>
                      </a:stretch>
                    </p:blipFill>
                    <p:spPr bwMode="auto">
                      <a:xfrm>
                        <a:off x="971600" y="1052736"/>
                        <a:ext cx="856886" cy="423378"/>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023A9C29-A24C-22AC-BBEC-F0D4AFDEF41A}"/>
              </a:ext>
            </a:extLst>
          </p:cNvPr>
          <p:cNvGraphicFramePr>
            <a:graphicFrameLocks noChangeAspect="1"/>
          </p:cNvGraphicFramePr>
          <p:nvPr>
            <p:extLst>
              <p:ext uri="{D42A27DB-BD31-4B8C-83A1-F6EECF244321}">
                <p14:modId xmlns:p14="http://schemas.microsoft.com/office/powerpoint/2010/main" val="1867553660"/>
              </p:ext>
            </p:extLst>
          </p:nvPr>
        </p:nvGraphicFramePr>
        <p:xfrm>
          <a:off x="2267744" y="1593703"/>
          <a:ext cx="719138" cy="314325"/>
        </p:xfrm>
        <a:graphic>
          <a:graphicData uri="http://schemas.openxmlformats.org/presentationml/2006/ole">
            <mc:AlternateContent xmlns:mc="http://schemas.openxmlformats.org/markup-compatibility/2006">
              <mc:Choice xmlns:v="urn:schemas-microsoft-com:vml" Requires="v">
                <p:oleObj name="Equation" r:id="rId5" imgW="457002" imgH="203112" progId="Equation.DSMT4">
                  <p:embed/>
                </p:oleObj>
              </mc:Choice>
              <mc:Fallback>
                <p:oleObj name="Equation" r:id="rId5" imgW="457002" imgH="203112"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7744" y="1593703"/>
                        <a:ext cx="719138"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对象 19">
            <a:extLst>
              <a:ext uri="{FF2B5EF4-FFF2-40B4-BE49-F238E27FC236}">
                <a16:creationId xmlns:a16="http://schemas.microsoft.com/office/drawing/2014/main" id="{5BE3E6FE-8030-5D7F-2323-4A252330FEBA}"/>
              </a:ext>
            </a:extLst>
          </p:cNvPr>
          <p:cNvGraphicFramePr>
            <a:graphicFrameLocks noChangeAspect="1"/>
          </p:cNvGraphicFramePr>
          <p:nvPr>
            <p:extLst>
              <p:ext uri="{D42A27DB-BD31-4B8C-83A1-F6EECF244321}">
                <p14:modId xmlns:p14="http://schemas.microsoft.com/office/powerpoint/2010/main" val="2218281020"/>
              </p:ext>
            </p:extLst>
          </p:nvPr>
        </p:nvGraphicFramePr>
        <p:xfrm>
          <a:off x="3492053" y="1384002"/>
          <a:ext cx="1223963" cy="604838"/>
        </p:xfrm>
        <a:graphic>
          <a:graphicData uri="http://schemas.openxmlformats.org/presentationml/2006/ole">
            <mc:AlternateContent xmlns:mc="http://schemas.openxmlformats.org/markup-compatibility/2006">
              <mc:Choice xmlns:v="urn:schemas-microsoft-com:vml" Requires="v">
                <p:oleObj name="Equation" r:id="rId7" imgW="749300" imgH="368300" progId="Equation.DSMT4">
                  <p:embed/>
                </p:oleObj>
              </mc:Choice>
              <mc:Fallback>
                <p:oleObj name="Equation" r:id="rId7" imgW="749300" imgH="3683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2053" y="1384002"/>
                        <a:ext cx="1223963"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ectangle 9">
            <a:extLst>
              <a:ext uri="{FF2B5EF4-FFF2-40B4-BE49-F238E27FC236}">
                <a16:creationId xmlns:a16="http://schemas.microsoft.com/office/drawing/2014/main" id="{A5BBCD0D-DF8C-DE59-6D03-EA61DA203059}"/>
              </a:ext>
            </a:extLst>
          </p:cNvPr>
          <p:cNvSpPr>
            <a:spLocks noChangeArrowheads="1"/>
          </p:cNvSpPr>
          <p:nvPr/>
        </p:nvSpPr>
        <p:spPr bwMode="auto">
          <a:xfrm>
            <a:off x="683568" y="1527175"/>
            <a:ext cx="68407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en-US" altLang="zh-CN" sz="2400" b="1" i="0" u="none" strike="noStrike" cap="none" normalizeH="0" baseline="0" dirty="0">
                <a:ln>
                  <a:noFill/>
                </a:ln>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latin typeface="黑体" panose="02010609060101010101" pitchFamily="49" charset="-122"/>
                <a:ea typeface="黑体" panose="02010609060101010101" pitchFamily="49" charset="-122"/>
                <a:cs typeface="Times New Roman" panose="02020603050405020304" pitchFamily="18" charset="0"/>
              </a:rPr>
              <a:t>关键在于：</a:t>
            </a:r>
            <a:r>
              <a:rPr kumimoji="0" lang="en-US" altLang="zh-CN" sz="2400" b="1" i="0" u="none" strike="noStrike" cap="none" normalizeH="0" baseline="0" dirty="0">
                <a:ln>
                  <a:noFill/>
                </a:ln>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latin typeface="黑体" panose="02010609060101010101" pitchFamily="49" charset="-122"/>
                <a:ea typeface="黑体" panose="02010609060101010101" pitchFamily="49" charset="-122"/>
                <a:cs typeface="Times New Roman" panose="02020603050405020304" pitchFamily="18" charset="0"/>
              </a:rPr>
              <a:t>时，       </a:t>
            </a:r>
            <a:r>
              <a:rPr kumimoji="0" lang="zh-CN" altLang="zh-CN" sz="2400" b="1" i="0" u="none" strike="noStrike" cap="none" normalizeH="0" baseline="0" dirty="0">
                <a:ln>
                  <a:noFill/>
                </a:ln>
                <a:solidFill>
                  <a:srgbClr val="000000"/>
                </a:solidFill>
                <a:latin typeface="黑体" panose="02010609060101010101" pitchFamily="49" charset="-122"/>
                <a:ea typeface="黑体" panose="02010609060101010101" pitchFamily="49" charset="-122"/>
                <a:cs typeface="Times New Roman" panose="02020603050405020304" pitchFamily="18" charset="0"/>
              </a:rPr>
              <a:t>是否仍相对静止。</a:t>
            </a:r>
            <a:r>
              <a:rPr kumimoji="0" lang="en-US" altLang="zh-CN" sz="2400" b="1" i="0" u="none" strike="noStrike" cap="none" normalizeH="0" baseline="0" dirty="0">
                <a:ln>
                  <a:noFill/>
                </a:ln>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ndParaRPr>
          </a:p>
        </p:txBody>
      </p:sp>
      <p:sp>
        <p:nvSpPr>
          <p:cNvPr id="25" name="文本框 24">
            <a:extLst>
              <a:ext uri="{FF2B5EF4-FFF2-40B4-BE49-F238E27FC236}">
                <a16:creationId xmlns:a16="http://schemas.microsoft.com/office/drawing/2014/main" id="{548EC8E8-D349-D3EF-FD42-4E5F870001F1}"/>
              </a:ext>
            </a:extLst>
          </p:cNvPr>
          <p:cNvSpPr txBox="1"/>
          <p:nvPr/>
        </p:nvSpPr>
        <p:spPr>
          <a:xfrm>
            <a:off x="467544" y="2083565"/>
            <a:ext cx="5167262" cy="461665"/>
          </a:xfrm>
          <a:prstGeom prst="rect">
            <a:avLst/>
          </a:prstGeom>
          <a:noFill/>
        </p:spPr>
        <p:txBody>
          <a:bodyPr wrap="square">
            <a:spAutoFit/>
          </a:bodyPr>
          <a:lstStyle/>
          <a:p>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已知三相电流产生的合成旋转磁势为：</a:t>
            </a:r>
            <a:endParaRPr lang="zh-CN" altLang="en-US" sz="2400" dirty="0"/>
          </a:p>
        </p:txBody>
      </p:sp>
      <p:graphicFrame>
        <p:nvGraphicFramePr>
          <p:cNvPr id="27" name="对象 26">
            <a:extLst>
              <a:ext uri="{FF2B5EF4-FFF2-40B4-BE49-F238E27FC236}">
                <a16:creationId xmlns:a16="http://schemas.microsoft.com/office/drawing/2014/main" id="{38227991-DC5B-7A28-669B-06C3B9EE91FE}"/>
              </a:ext>
            </a:extLst>
          </p:cNvPr>
          <p:cNvGraphicFramePr>
            <a:graphicFrameLocks noChangeAspect="1"/>
          </p:cNvGraphicFramePr>
          <p:nvPr>
            <p:extLst>
              <p:ext uri="{D42A27DB-BD31-4B8C-83A1-F6EECF244321}">
                <p14:modId xmlns:p14="http://schemas.microsoft.com/office/powerpoint/2010/main" val="670651492"/>
              </p:ext>
            </p:extLst>
          </p:nvPr>
        </p:nvGraphicFramePr>
        <p:xfrm>
          <a:off x="2964656" y="2558004"/>
          <a:ext cx="3119438" cy="795338"/>
        </p:xfrm>
        <a:graphic>
          <a:graphicData uri="http://schemas.openxmlformats.org/presentationml/2006/ole">
            <mc:AlternateContent xmlns:mc="http://schemas.openxmlformats.org/markup-compatibility/2006">
              <mc:Choice xmlns:v="urn:schemas-microsoft-com:vml" Requires="v">
                <p:oleObj name="Equation" r:id="rId9" imgW="1562100" imgH="393700" progId="Equation.DSMT4">
                  <p:embed/>
                </p:oleObj>
              </mc:Choice>
              <mc:Fallback>
                <p:oleObj name="Equation" r:id="rId9" imgW="1562100" imgH="3937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64656" y="2558004"/>
                        <a:ext cx="3119438" cy="795338"/>
                      </a:xfrm>
                      <a:prstGeom prst="rect">
                        <a:avLst/>
                      </a:prstGeom>
                      <a:solidFill>
                        <a:srgbClr val="00FF00"/>
                      </a:solidFill>
                    </p:spPr>
                  </p:pic>
                </p:oleObj>
              </mc:Fallback>
            </mc:AlternateContent>
          </a:graphicData>
        </a:graphic>
      </p:graphicFrame>
      <p:sp>
        <p:nvSpPr>
          <p:cNvPr id="28" name="Rectangle 15">
            <a:extLst>
              <a:ext uri="{FF2B5EF4-FFF2-40B4-BE49-F238E27FC236}">
                <a16:creationId xmlns:a16="http://schemas.microsoft.com/office/drawing/2014/main" id="{8CBDDC20-A9AC-2DE4-50F5-0F9654BD8D46}"/>
              </a:ext>
            </a:extLst>
          </p:cNvPr>
          <p:cNvSpPr>
            <a:spLocks noChangeArrowheads="1"/>
          </p:cNvSpPr>
          <p:nvPr/>
        </p:nvSpPr>
        <p:spPr bwMode="auto">
          <a:xfrm>
            <a:off x="467544" y="3518138"/>
            <a:ext cx="8352928" cy="1316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4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性质为：</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空间正弦分布、幅值固定、以</a:t>
            </a: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        </a:t>
            </a:r>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旋转；</a:t>
            </a:r>
            <a:endParaRPr lang="en-US" altLang="zh-CN"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endParaRPr>
          </a:p>
          <a:p>
            <a:pPr eaLnBrk="0" hangingPunct="0">
              <a:lnSpc>
                <a:spcPct val="114000"/>
              </a:lnSpc>
            </a:pPr>
            <a:r>
              <a:rPr lang="en-US" altLang="zh-CN" sz="2400" b="1" dirty="0">
                <a:latin typeface="Times New Roman" panose="02020603050405020304" pitchFamily="18" charset="0"/>
                <a:cs typeface="Times New Roman" panose="02020603050405020304" pitchFamily="18" charset="0"/>
              </a:rPr>
              <a:t>2</a:t>
            </a:r>
            <a:r>
              <a:rPr lang="zh-CN" altLang="en-US" sz="2400" b="1" dirty="0"/>
              <a:t>）</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某相电流达到最大值时，    的幅值正好旋转到该相绕组的轴线上</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rPr>
              <a:t> </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graphicFrame>
        <p:nvGraphicFramePr>
          <p:cNvPr id="29" name="对象 28">
            <a:extLst>
              <a:ext uri="{FF2B5EF4-FFF2-40B4-BE49-F238E27FC236}">
                <a16:creationId xmlns:a16="http://schemas.microsoft.com/office/drawing/2014/main" id="{2E31896C-6E84-FC8A-82AE-1CFA8102E542}"/>
              </a:ext>
            </a:extLst>
          </p:cNvPr>
          <p:cNvGraphicFramePr>
            <a:graphicFrameLocks noChangeAspect="1"/>
          </p:cNvGraphicFramePr>
          <p:nvPr>
            <p:extLst>
              <p:ext uri="{D42A27DB-BD31-4B8C-83A1-F6EECF244321}">
                <p14:modId xmlns:p14="http://schemas.microsoft.com/office/powerpoint/2010/main" val="2894345340"/>
              </p:ext>
            </p:extLst>
          </p:nvPr>
        </p:nvGraphicFramePr>
        <p:xfrm>
          <a:off x="6297041" y="3341538"/>
          <a:ext cx="1014413" cy="652463"/>
        </p:xfrm>
        <a:graphic>
          <a:graphicData uri="http://schemas.openxmlformats.org/presentationml/2006/ole">
            <mc:AlternateContent xmlns:mc="http://schemas.openxmlformats.org/markup-compatibility/2006">
              <mc:Choice xmlns:v="urn:schemas-microsoft-com:vml" Requires="v">
                <p:oleObj name="Equation" r:id="rId11" imgW="647700" imgH="419100" progId="Equation.DSMT4">
                  <p:embed/>
                </p:oleObj>
              </mc:Choice>
              <mc:Fallback>
                <p:oleObj name="Equation" r:id="rId11" imgW="647700" imgH="4191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97041" y="3341538"/>
                        <a:ext cx="1014413" cy="652463"/>
                      </a:xfrm>
                      <a:prstGeom prst="rect">
                        <a:avLst/>
                      </a:prstGeom>
                      <a:solidFill>
                        <a:srgbClr val="00FF00"/>
                      </a:solidFill>
                    </p:spPr>
                  </p:pic>
                </p:oleObj>
              </mc:Fallback>
            </mc:AlternateContent>
          </a:graphicData>
        </a:graphic>
      </p:graphicFrame>
      <p:graphicFrame>
        <p:nvGraphicFramePr>
          <p:cNvPr id="38" name="对象 37">
            <a:extLst>
              <a:ext uri="{FF2B5EF4-FFF2-40B4-BE49-F238E27FC236}">
                <a16:creationId xmlns:a16="http://schemas.microsoft.com/office/drawing/2014/main" id="{A779C5C6-52C2-1ACE-F699-DF687FDB887E}"/>
              </a:ext>
            </a:extLst>
          </p:cNvPr>
          <p:cNvGraphicFramePr>
            <a:graphicFrameLocks noChangeAspect="1"/>
          </p:cNvGraphicFramePr>
          <p:nvPr>
            <p:extLst>
              <p:ext uri="{D42A27DB-BD31-4B8C-83A1-F6EECF244321}">
                <p14:modId xmlns:p14="http://schemas.microsoft.com/office/powerpoint/2010/main" val="4274503536"/>
              </p:ext>
            </p:extLst>
          </p:nvPr>
        </p:nvGraphicFramePr>
        <p:xfrm>
          <a:off x="4260626" y="4039480"/>
          <a:ext cx="766763" cy="361950"/>
        </p:xfrm>
        <a:graphic>
          <a:graphicData uri="http://schemas.openxmlformats.org/presentationml/2006/ole">
            <mc:AlternateContent xmlns:mc="http://schemas.openxmlformats.org/markup-compatibility/2006">
              <mc:Choice xmlns:v="urn:schemas-microsoft-com:vml" Requires="v">
                <p:oleObj name="Equation" r:id="rId13" imgW="431613" imgH="203112" progId="Equation.DSMT4">
                  <p:embed/>
                </p:oleObj>
              </mc:Choice>
              <mc:Fallback>
                <p:oleObj name="Equation" r:id="rId13" imgW="431613" imgH="203112" progId="Equation.DSMT4">
                  <p:embed/>
                  <p:pic>
                    <p:nvPicPr>
                      <p:cNvPr id="0" name="Object 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60626" y="4039480"/>
                        <a:ext cx="766763"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对象 39">
            <a:extLst>
              <a:ext uri="{FF2B5EF4-FFF2-40B4-BE49-F238E27FC236}">
                <a16:creationId xmlns:a16="http://schemas.microsoft.com/office/drawing/2014/main" id="{0AEC061F-A312-5876-AF7E-4003A189BEFD}"/>
              </a:ext>
            </a:extLst>
          </p:cNvPr>
          <p:cNvGraphicFramePr>
            <a:graphicFrameLocks noChangeAspect="1"/>
          </p:cNvGraphicFramePr>
          <p:nvPr>
            <p:extLst>
              <p:ext uri="{D42A27DB-BD31-4B8C-83A1-F6EECF244321}">
                <p14:modId xmlns:p14="http://schemas.microsoft.com/office/powerpoint/2010/main" val="1257444342"/>
              </p:ext>
            </p:extLst>
          </p:nvPr>
        </p:nvGraphicFramePr>
        <p:xfrm>
          <a:off x="3274566" y="4950976"/>
          <a:ext cx="852488" cy="405537"/>
        </p:xfrm>
        <a:graphic>
          <a:graphicData uri="http://schemas.openxmlformats.org/presentationml/2006/ole">
            <mc:AlternateContent xmlns:mc="http://schemas.openxmlformats.org/markup-compatibility/2006">
              <mc:Choice xmlns:v="urn:schemas-microsoft-com:vml" Requires="v">
                <p:oleObj name="Equation" r:id="rId15" imgW="457002" imgH="215806" progId="Equation.DSMT4">
                  <p:embed/>
                </p:oleObj>
              </mc:Choice>
              <mc:Fallback>
                <p:oleObj name="Equation" r:id="rId15" imgW="457002" imgH="215806" progId="Equation.DSMT4">
                  <p:embed/>
                  <p:pic>
                    <p:nvPicPr>
                      <p:cNvPr id="0" name="Object 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74566" y="4950976"/>
                        <a:ext cx="852488" cy="405537"/>
                      </a:xfrm>
                      <a:prstGeom prst="rect">
                        <a:avLst/>
                      </a:prstGeom>
                      <a:noFill/>
                    </p:spPr>
                  </p:pic>
                </p:oleObj>
              </mc:Fallback>
            </mc:AlternateContent>
          </a:graphicData>
        </a:graphic>
      </p:graphicFrame>
      <p:graphicFrame>
        <p:nvGraphicFramePr>
          <p:cNvPr id="41" name="对象 40">
            <a:extLst>
              <a:ext uri="{FF2B5EF4-FFF2-40B4-BE49-F238E27FC236}">
                <a16:creationId xmlns:a16="http://schemas.microsoft.com/office/drawing/2014/main" id="{BC0CFC28-B80F-4CEE-9EB6-D25CD518434A}"/>
              </a:ext>
            </a:extLst>
          </p:cNvPr>
          <p:cNvGraphicFramePr>
            <a:graphicFrameLocks noChangeAspect="1"/>
          </p:cNvGraphicFramePr>
          <p:nvPr>
            <p:extLst>
              <p:ext uri="{D42A27DB-BD31-4B8C-83A1-F6EECF244321}">
                <p14:modId xmlns:p14="http://schemas.microsoft.com/office/powerpoint/2010/main" val="989845663"/>
              </p:ext>
            </p:extLst>
          </p:nvPr>
        </p:nvGraphicFramePr>
        <p:xfrm>
          <a:off x="4995924" y="4684664"/>
          <a:ext cx="485775" cy="642938"/>
        </p:xfrm>
        <a:graphic>
          <a:graphicData uri="http://schemas.openxmlformats.org/presentationml/2006/ole">
            <mc:AlternateContent xmlns:mc="http://schemas.openxmlformats.org/markup-compatibility/2006">
              <mc:Choice xmlns:v="urn:schemas-microsoft-com:vml" Requires="v">
                <p:oleObj name="Equation" r:id="rId17" imgW="266469" imgH="355292" progId="Equation.DSMT4">
                  <p:embed/>
                </p:oleObj>
              </mc:Choice>
              <mc:Fallback>
                <p:oleObj name="Equation" r:id="rId17" imgW="266469" imgH="355292" progId="Equation.DSMT4">
                  <p:embed/>
                  <p:pic>
                    <p:nvPicPr>
                      <p:cNvPr id="0"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95924" y="4684664"/>
                        <a:ext cx="485775" cy="642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 name="Rectangle 28">
            <a:extLst>
              <a:ext uri="{FF2B5EF4-FFF2-40B4-BE49-F238E27FC236}">
                <a16:creationId xmlns:a16="http://schemas.microsoft.com/office/drawing/2014/main" id="{DD1B2D1E-1E2B-57C2-BD51-C48510683014}"/>
              </a:ext>
            </a:extLst>
          </p:cNvPr>
          <p:cNvSpPr>
            <a:spLocks noChangeArrowheads="1"/>
          </p:cNvSpPr>
          <p:nvPr/>
        </p:nvSpPr>
        <p:spPr bwMode="auto">
          <a:xfrm>
            <a:off x="466254" y="4911551"/>
            <a:ext cx="79928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因转子电流频率降为     ，所以   </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在转子上的转速为：</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6" name="对象 45">
            <a:extLst>
              <a:ext uri="{FF2B5EF4-FFF2-40B4-BE49-F238E27FC236}">
                <a16:creationId xmlns:a16="http://schemas.microsoft.com/office/drawing/2014/main" id="{CB190B50-EFE0-6FE8-7813-F6D84513461E}"/>
              </a:ext>
            </a:extLst>
          </p:cNvPr>
          <p:cNvGraphicFramePr>
            <a:graphicFrameLocks noChangeAspect="1"/>
          </p:cNvGraphicFramePr>
          <p:nvPr>
            <p:extLst>
              <p:ext uri="{D42A27DB-BD31-4B8C-83A1-F6EECF244321}">
                <p14:modId xmlns:p14="http://schemas.microsoft.com/office/powerpoint/2010/main" val="611650368"/>
              </p:ext>
            </p:extLst>
          </p:nvPr>
        </p:nvGraphicFramePr>
        <p:xfrm>
          <a:off x="3029110" y="5443026"/>
          <a:ext cx="3024188" cy="823913"/>
        </p:xfrm>
        <a:graphic>
          <a:graphicData uri="http://schemas.openxmlformats.org/presentationml/2006/ole">
            <mc:AlternateContent xmlns:mc="http://schemas.openxmlformats.org/markup-compatibility/2006">
              <mc:Choice xmlns:v="urn:schemas-microsoft-com:vml" Requires="v">
                <p:oleObj name="Equation" r:id="rId19" imgW="1562100" imgH="431800" progId="Equation.DSMT4">
                  <p:embed/>
                </p:oleObj>
              </mc:Choice>
              <mc:Fallback>
                <p:oleObj name="Equation" r:id="rId19" imgW="1562100" imgH="431800" progId="Equation.DSMT4">
                  <p:embed/>
                  <p:pic>
                    <p:nvPicPr>
                      <p:cNvPr id="0" name="Object 3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29110" y="5443026"/>
                        <a:ext cx="3024188"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a:extLst>
              <a:ext uri="{FF2B5EF4-FFF2-40B4-BE49-F238E27FC236}">
                <a16:creationId xmlns:a16="http://schemas.microsoft.com/office/drawing/2014/main" id="{4BDAC221-807A-0E91-7EE4-70FC0405758B}"/>
              </a:ext>
            </a:extLst>
          </p:cNvPr>
          <p:cNvSpPr>
            <a:spLocks noGrp="1"/>
          </p:cNvSpPr>
          <p:nvPr>
            <p:ph type="sldNum" sz="quarter" idx="12"/>
          </p:nvPr>
        </p:nvSpPr>
        <p:spPr/>
        <p:txBody>
          <a:bodyPr/>
          <a:lstStyle/>
          <a:p>
            <a:fld id="{76D830B0-DF59-4281-898F-AF208100B213}" type="slidenum">
              <a:rPr lang="en-US" altLang="zh-CN" smtClean="0"/>
              <a:pPr/>
              <a:t>72</a:t>
            </a:fld>
            <a:endParaRPr lang="en-US" altLang="zh-CN"/>
          </a:p>
        </p:txBody>
      </p:sp>
    </p:spTree>
    <p:extLst>
      <p:ext uri="{BB962C8B-B14F-4D97-AF65-F5344CB8AC3E}">
        <p14:creationId xmlns:p14="http://schemas.microsoft.com/office/powerpoint/2010/main" val="22165143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F9E9157-45E7-25F2-C9BF-DED47ABB0416}"/>
              </a:ext>
            </a:extLst>
          </p:cNvPr>
          <p:cNvSpPr txBox="1"/>
          <p:nvPr/>
        </p:nvSpPr>
        <p:spPr>
          <a:xfrm>
            <a:off x="683568" y="990452"/>
            <a:ext cx="4968552" cy="830997"/>
          </a:xfrm>
          <a:prstGeom prst="rect">
            <a:avLst/>
          </a:prstGeom>
          <a:noFill/>
        </p:spPr>
        <p:txBody>
          <a:bodyPr wrap="square">
            <a:spAutoFit/>
          </a:bodyPr>
          <a:lstStyle/>
          <a:p>
            <a:r>
              <a:rPr lang="zh-CN" altLang="en-US" sz="2400" b="1" kern="100" dirty="0">
                <a:solidFill>
                  <a:srgbClr val="000000"/>
                </a:solidFill>
                <a:latin typeface="Times New Roman" panose="02020603050405020304" pitchFamily="18" charset="0"/>
                <a:ea typeface="黑体" panose="02010609060101010101" pitchFamily="49" charset="-122"/>
              </a:rPr>
              <a:t>又由于</a:t>
            </a:r>
            <a:r>
              <a:rPr lang="zh-CN" altLang="zh-CN" sz="2400" b="1" kern="100" dirty="0">
                <a:solidFill>
                  <a:srgbClr val="000000"/>
                </a:solidFill>
                <a:effectLst/>
                <a:latin typeface="Times New Roman" panose="02020603050405020304" pitchFamily="18" charset="0"/>
                <a:ea typeface="黑体" panose="02010609060101010101" pitchFamily="49" charset="-122"/>
              </a:rPr>
              <a:t>转子转速为</a:t>
            </a:r>
            <a:r>
              <a:rPr lang="en-US" altLang="zh-CN" sz="2400" b="1" kern="100" dirty="0">
                <a:solidFill>
                  <a:srgbClr val="000000"/>
                </a:solidFill>
                <a:effectLst/>
                <a:latin typeface="Times New Roman" panose="02020603050405020304" pitchFamily="18" charset="0"/>
                <a:ea typeface="黑体" panose="02010609060101010101" pitchFamily="49" charset="-122"/>
              </a:rPr>
              <a:t>n</a:t>
            </a:r>
            <a:r>
              <a:rPr lang="zh-CN" altLang="zh-CN" sz="2400" b="1" kern="100" dirty="0">
                <a:solidFill>
                  <a:srgbClr val="000000"/>
                </a:solidFill>
                <a:effectLst/>
                <a:latin typeface="Times New Roman" panose="02020603050405020304" pitchFamily="18" charset="0"/>
                <a:ea typeface="黑体" panose="02010609060101010101" pitchFamily="49" charset="-122"/>
              </a:rPr>
              <a:t>，</a:t>
            </a:r>
            <a:r>
              <a:rPr lang="en-US" altLang="zh-CN" sz="2400" b="1" kern="100" dirty="0">
                <a:solidFill>
                  <a:srgbClr val="000000"/>
                </a:solidFill>
                <a:effectLst/>
                <a:latin typeface="Times New Roman" panose="02020603050405020304" pitchFamily="18" charset="0"/>
                <a:ea typeface="黑体" panose="02010609060101010101" pitchFamily="49" charset="-122"/>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相对于定子的转速为：</a:t>
            </a:r>
            <a:r>
              <a:rPr kumimoji="0" lang="zh-CN" altLang="en-US" sz="400" b="0" i="0" u="none" strike="noStrike" cap="none" normalizeH="0" baseline="0" dirty="0">
                <a:ln>
                  <a:noFill/>
                </a:ln>
                <a:solidFill>
                  <a:schemeClr val="tx1"/>
                </a:solidFill>
                <a:effectLst/>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6" name="对象 5">
            <a:extLst>
              <a:ext uri="{FF2B5EF4-FFF2-40B4-BE49-F238E27FC236}">
                <a16:creationId xmlns:a16="http://schemas.microsoft.com/office/drawing/2014/main" id="{0CE901CF-8C77-29E6-049D-07955D50DF95}"/>
              </a:ext>
            </a:extLst>
          </p:cNvPr>
          <p:cNvGraphicFramePr>
            <a:graphicFrameLocks noChangeAspect="1"/>
          </p:cNvGraphicFramePr>
          <p:nvPr>
            <p:extLst>
              <p:ext uri="{D42A27DB-BD31-4B8C-83A1-F6EECF244321}">
                <p14:modId xmlns:p14="http://schemas.microsoft.com/office/powerpoint/2010/main" val="869212534"/>
              </p:ext>
            </p:extLst>
          </p:nvPr>
        </p:nvGraphicFramePr>
        <p:xfrm>
          <a:off x="3553023" y="836712"/>
          <a:ext cx="442913" cy="585788"/>
        </p:xfrm>
        <a:graphic>
          <a:graphicData uri="http://schemas.openxmlformats.org/presentationml/2006/ole">
            <mc:AlternateContent xmlns:mc="http://schemas.openxmlformats.org/markup-compatibility/2006">
              <mc:Choice xmlns:v="urn:schemas-microsoft-com:vml" Requires="v">
                <p:oleObj name="Equation" r:id="rId3" imgW="266469" imgH="355292" progId="Equation.DSMT4">
                  <p:embed/>
                </p:oleObj>
              </mc:Choice>
              <mc:Fallback>
                <p:oleObj name="Equation" r:id="rId3" imgW="266469" imgH="355292"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3023" y="836712"/>
                        <a:ext cx="442913" cy="585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a:extLst>
              <a:ext uri="{FF2B5EF4-FFF2-40B4-BE49-F238E27FC236}">
                <a16:creationId xmlns:a16="http://schemas.microsoft.com/office/drawing/2014/main" id="{894E0322-D061-31CD-A8C0-9B85ED3BC3DC}"/>
              </a:ext>
            </a:extLst>
          </p:cNvPr>
          <p:cNvGraphicFramePr>
            <a:graphicFrameLocks noChangeAspect="1"/>
          </p:cNvGraphicFramePr>
          <p:nvPr>
            <p:extLst>
              <p:ext uri="{D42A27DB-BD31-4B8C-83A1-F6EECF244321}">
                <p14:modId xmlns:p14="http://schemas.microsoft.com/office/powerpoint/2010/main" val="2426609151"/>
              </p:ext>
            </p:extLst>
          </p:nvPr>
        </p:nvGraphicFramePr>
        <p:xfrm>
          <a:off x="2339752" y="1598850"/>
          <a:ext cx="2660650" cy="1881188"/>
        </p:xfrm>
        <a:graphic>
          <a:graphicData uri="http://schemas.openxmlformats.org/presentationml/2006/ole">
            <mc:AlternateContent xmlns:mc="http://schemas.openxmlformats.org/markup-compatibility/2006">
              <mc:Choice xmlns:v="urn:schemas-microsoft-com:vml" Requires="v">
                <p:oleObj name="Equation" r:id="rId5" imgW="1295280" imgH="914400" progId="Equation.DSMT4">
                  <p:embed/>
                </p:oleObj>
              </mc:Choice>
              <mc:Fallback>
                <p:oleObj name="Equation" r:id="rId5" imgW="1295280" imgH="914400" progId="Equation.DSMT4">
                  <p:embed/>
                  <p:pic>
                    <p:nvPicPr>
                      <p:cNvPr id="0" name="Object 4"/>
                      <p:cNvPicPr>
                        <a:picLocks noChangeAspect="1" noChangeArrowheads="1"/>
                      </p:cNvPicPr>
                      <p:nvPr/>
                    </p:nvPicPr>
                    <p:blipFill>
                      <a:blip r:embed="rId6"/>
                      <a:srcRect/>
                      <a:stretch>
                        <a:fillRect/>
                      </a:stretch>
                    </p:blipFill>
                    <p:spPr bwMode="auto">
                      <a:xfrm>
                        <a:off x="2339752" y="1598850"/>
                        <a:ext cx="2660650" cy="1881188"/>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546511AC-8FDA-2C60-57B6-613C2A2A032D}"/>
              </a:ext>
            </a:extLst>
          </p:cNvPr>
          <p:cNvGraphicFramePr>
            <a:graphicFrameLocks noChangeAspect="1"/>
          </p:cNvGraphicFramePr>
          <p:nvPr>
            <p:extLst>
              <p:ext uri="{D42A27DB-BD31-4B8C-83A1-F6EECF244321}">
                <p14:modId xmlns:p14="http://schemas.microsoft.com/office/powerpoint/2010/main" val="789095900"/>
              </p:ext>
            </p:extLst>
          </p:nvPr>
        </p:nvGraphicFramePr>
        <p:xfrm>
          <a:off x="5616029" y="1159009"/>
          <a:ext cx="2647950" cy="2522537"/>
        </p:xfrm>
        <a:graphic>
          <a:graphicData uri="http://schemas.openxmlformats.org/presentationml/2006/ole">
            <mc:AlternateContent xmlns:mc="http://schemas.openxmlformats.org/markup-compatibility/2006">
              <mc:Choice xmlns:v="urn:schemas-microsoft-com:vml" Requires="v">
                <p:oleObj r:id="rId7" imgW="1168560" imgH="1111320" progId="">
                  <p:embed/>
                </p:oleObj>
              </mc:Choice>
              <mc:Fallback>
                <p:oleObj r:id="rId7" imgW="1168560" imgH="1111320" progId="">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16029" y="1159009"/>
                        <a:ext cx="2647950" cy="252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a:extLst>
              <a:ext uri="{FF2B5EF4-FFF2-40B4-BE49-F238E27FC236}">
                <a16:creationId xmlns:a16="http://schemas.microsoft.com/office/drawing/2014/main" id="{810B60FA-3B6C-3551-4CCC-563451949BAA}"/>
              </a:ext>
            </a:extLst>
          </p:cNvPr>
          <p:cNvGraphicFramePr>
            <a:graphicFrameLocks noChangeAspect="1"/>
          </p:cNvGraphicFramePr>
          <p:nvPr>
            <p:extLst>
              <p:ext uri="{D42A27DB-BD31-4B8C-83A1-F6EECF244321}">
                <p14:modId xmlns:p14="http://schemas.microsoft.com/office/powerpoint/2010/main" val="2200318972"/>
              </p:ext>
            </p:extLst>
          </p:nvPr>
        </p:nvGraphicFramePr>
        <p:xfrm>
          <a:off x="755576" y="3694712"/>
          <a:ext cx="1100138" cy="542925"/>
        </p:xfrm>
        <a:graphic>
          <a:graphicData uri="http://schemas.openxmlformats.org/presentationml/2006/ole">
            <mc:AlternateContent xmlns:mc="http://schemas.openxmlformats.org/markup-compatibility/2006">
              <mc:Choice xmlns:v="urn:schemas-microsoft-com:vml" Requires="v">
                <p:oleObj name="Equation" r:id="rId9" imgW="749300" imgH="368300" progId="Equation.DSMT4">
                  <p:embed/>
                </p:oleObj>
              </mc:Choice>
              <mc:Fallback>
                <p:oleObj name="Equation" r:id="rId9" imgW="749300" imgH="3683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576" y="3694712"/>
                        <a:ext cx="1100138"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2">
            <a:extLst>
              <a:ext uri="{FF2B5EF4-FFF2-40B4-BE49-F238E27FC236}">
                <a16:creationId xmlns:a16="http://schemas.microsoft.com/office/drawing/2014/main" id="{D19BA98B-06D2-403A-6BB1-BCE128EEB88F}"/>
              </a:ext>
            </a:extLst>
          </p:cNvPr>
          <p:cNvSpPr>
            <a:spLocks noChangeArrowheads="1"/>
          </p:cNvSpPr>
          <p:nvPr/>
        </p:nvSpPr>
        <p:spPr bwMode="auto">
          <a:xfrm>
            <a:off x="683568" y="3822139"/>
            <a:ext cx="806489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转速</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仍然</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相同、旋转方向一致，空间相对静止，与</a:t>
            </a:r>
            <a:r>
              <a:rPr kumimoji="0" lang="en-US" altLang="zh-CN" sz="24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n</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无关。</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2" name="对象 21">
            <a:extLst>
              <a:ext uri="{FF2B5EF4-FFF2-40B4-BE49-F238E27FC236}">
                <a16:creationId xmlns:a16="http://schemas.microsoft.com/office/drawing/2014/main" id="{44B5B69C-58A2-03CE-2C0A-49276DFD9C43}"/>
              </a:ext>
            </a:extLst>
          </p:cNvPr>
          <p:cNvGraphicFramePr>
            <a:graphicFrameLocks noChangeAspect="1"/>
          </p:cNvGraphicFramePr>
          <p:nvPr>
            <p:extLst>
              <p:ext uri="{D42A27DB-BD31-4B8C-83A1-F6EECF244321}">
                <p14:modId xmlns:p14="http://schemas.microsoft.com/office/powerpoint/2010/main" val="483405277"/>
              </p:ext>
            </p:extLst>
          </p:nvPr>
        </p:nvGraphicFramePr>
        <p:xfrm>
          <a:off x="494382" y="4770216"/>
          <a:ext cx="1785938" cy="357188"/>
        </p:xfrm>
        <a:graphic>
          <a:graphicData uri="http://schemas.openxmlformats.org/presentationml/2006/ole">
            <mc:AlternateContent xmlns:mc="http://schemas.openxmlformats.org/markup-compatibility/2006">
              <mc:Choice xmlns:v="urn:schemas-microsoft-com:vml" Requires="v">
                <p:oleObj name="Equation" r:id="rId11" imgW="1091726" imgH="215806" progId="Equation.DSMT4">
                  <p:embed/>
                </p:oleObj>
              </mc:Choice>
              <mc:Fallback>
                <p:oleObj name="Equation" r:id="rId11" imgW="1091726" imgH="215806"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4382" y="4770216"/>
                        <a:ext cx="1785938"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a:extLst>
              <a:ext uri="{FF2B5EF4-FFF2-40B4-BE49-F238E27FC236}">
                <a16:creationId xmlns:a16="http://schemas.microsoft.com/office/drawing/2014/main" id="{6EDE3001-8B51-523D-1A39-16AF19845936}"/>
              </a:ext>
            </a:extLst>
          </p:cNvPr>
          <p:cNvGraphicFramePr>
            <a:graphicFrameLocks noChangeAspect="1"/>
          </p:cNvGraphicFramePr>
          <p:nvPr>
            <p:extLst>
              <p:ext uri="{D42A27DB-BD31-4B8C-83A1-F6EECF244321}">
                <p14:modId xmlns:p14="http://schemas.microsoft.com/office/powerpoint/2010/main" val="3244392101"/>
              </p:ext>
            </p:extLst>
          </p:nvPr>
        </p:nvGraphicFramePr>
        <p:xfrm>
          <a:off x="5855593" y="4519588"/>
          <a:ext cx="1557338" cy="709612"/>
        </p:xfrm>
        <a:graphic>
          <a:graphicData uri="http://schemas.openxmlformats.org/presentationml/2006/ole">
            <mc:AlternateContent xmlns:mc="http://schemas.openxmlformats.org/markup-compatibility/2006">
              <mc:Choice xmlns:v="urn:schemas-microsoft-com:vml" Requires="v">
                <p:oleObj name="Equation" r:id="rId13" imgW="698197" imgH="317362" progId="Equation.DSMT4">
                  <p:embed/>
                </p:oleObj>
              </mc:Choice>
              <mc:Fallback>
                <p:oleObj name="Equation" r:id="rId13" imgW="698197" imgH="317362"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55593" y="4519588"/>
                        <a:ext cx="1557338" cy="709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ectangle 16">
            <a:extLst>
              <a:ext uri="{FF2B5EF4-FFF2-40B4-BE49-F238E27FC236}">
                <a16:creationId xmlns:a16="http://schemas.microsoft.com/office/drawing/2014/main" id="{9F60A203-865C-6ABA-C8E6-D3AF3FB4C873}"/>
              </a:ext>
            </a:extLst>
          </p:cNvPr>
          <p:cNvSpPr>
            <a:spLocks noChangeArrowheads="1"/>
          </p:cNvSpPr>
          <p:nvPr/>
        </p:nvSpPr>
        <p:spPr bwMode="auto">
          <a:xfrm>
            <a:off x="2190800" y="4717977"/>
            <a:ext cx="40324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，磁势平衡方程形式相同</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4" name="灯片编号占位符 3">
            <a:extLst>
              <a:ext uri="{FF2B5EF4-FFF2-40B4-BE49-F238E27FC236}">
                <a16:creationId xmlns:a16="http://schemas.microsoft.com/office/drawing/2014/main" id="{9A5F9BDB-85BF-78B7-2671-97A9C4864583}"/>
              </a:ext>
            </a:extLst>
          </p:cNvPr>
          <p:cNvSpPr>
            <a:spLocks noGrp="1"/>
          </p:cNvSpPr>
          <p:nvPr>
            <p:ph type="sldNum" sz="quarter" idx="12"/>
          </p:nvPr>
        </p:nvSpPr>
        <p:spPr/>
        <p:txBody>
          <a:bodyPr/>
          <a:lstStyle/>
          <a:p>
            <a:fld id="{76D830B0-DF59-4281-898F-AF208100B213}" type="slidenum">
              <a:rPr lang="en-US" altLang="zh-CN" smtClean="0"/>
              <a:pPr/>
              <a:t>73</a:t>
            </a:fld>
            <a:endParaRPr lang="en-US" altLang="zh-CN"/>
          </a:p>
        </p:txBody>
      </p:sp>
    </p:spTree>
    <p:extLst>
      <p:ext uri="{BB962C8B-B14F-4D97-AF65-F5344CB8AC3E}">
        <p14:creationId xmlns:p14="http://schemas.microsoft.com/office/powerpoint/2010/main" val="6410501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8">
            <a:extLst>
              <a:ext uri="{FF2B5EF4-FFF2-40B4-BE49-F238E27FC236}">
                <a16:creationId xmlns:a16="http://schemas.microsoft.com/office/drawing/2014/main" id="{A9232296-C1EA-A9E8-6929-3159599E66FC}"/>
              </a:ext>
            </a:extLst>
          </p:cNvPr>
          <p:cNvSpPr>
            <a:spLocks noChangeArrowheads="1"/>
          </p:cNvSpPr>
          <p:nvPr/>
        </p:nvSpPr>
        <p:spPr bwMode="auto">
          <a:xfrm>
            <a:off x="467544" y="1093789"/>
            <a:ext cx="84249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〖例〗有一台</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50Hz</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、三相、四极</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(p=2)</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异步电动机，若转差率</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9">
            <a:extLst>
              <a:ext uri="{FF2B5EF4-FFF2-40B4-BE49-F238E27FC236}">
                <a16:creationId xmlns:a16="http://schemas.microsoft.com/office/drawing/2014/main" id="{A07BBC0C-C12E-99EF-D068-1522D9AB819C}"/>
              </a:ext>
            </a:extLst>
          </p:cNvPr>
          <p:cNvSpPr>
            <a:spLocks noChangeArrowheads="1"/>
          </p:cNvSpPr>
          <p:nvPr/>
        </p:nvSpPr>
        <p:spPr bwMode="auto">
          <a:xfrm>
            <a:off x="539552" y="1517883"/>
            <a:ext cx="842493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试求此时：</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、转子电流的频率；</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、转子磁势相对于转子的转速；</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3</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、转子磁势在空间的转速；</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4</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、转子的转速</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5" name="对象 14">
            <a:extLst>
              <a:ext uri="{FF2B5EF4-FFF2-40B4-BE49-F238E27FC236}">
                <a16:creationId xmlns:a16="http://schemas.microsoft.com/office/drawing/2014/main" id="{37E33F70-9108-168B-3F95-6071326B81E0}"/>
              </a:ext>
            </a:extLst>
          </p:cNvPr>
          <p:cNvGraphicFramePr>
            <a:graphicFrameLocks noChangeAspect="1"/>
          </p:cNvGraphicFramePr>
          <p:nvPr>
            <p:extLst>
              <p:ext uri="{D42A27DB-BD31-4B8C-83A1-F6EECF244321}">
                <p14:modId xmlns:p14="http://schemas.microsoft.com/office/powerpoint/2010/main" val="2949588499"/>
              </p:ext>
            </p:extLst>
          </p:nvPr>
        </p:nvGraphicFramePr>
        <p:xfrm>
          <a:off x="611560" y="1533332"/>
          <a:ext cx="1195388" cy="400050"/>
        </p:xfrm>
        <a:graphic>
          <a:graphicData uri="http://schemas.openxmlformats.org/presentationml/2006/ole">
            <mc:AlternateContent xmlns:mc="http://schemas.openxmlformats.org/markup-compatibility/2006">
              <mc:Choice xmlns:v="urn:schemas-microsoft-com:vml" Requires="v">
                <p:oleObj name="Equation" r:id="rId3" imgW="520248" imgH="177646" progId="Equation.DSMT4">
                  <p:embed/>
                </p:oleObj>
              </mc:Choice>
              <mc:Fallback>
                <p:oleObj name="Equation" r:id="rId3" imgW="520248" imgH="177646" progId="Equation.DSMT4">
                  <p:embed/>
                  <p:pic>
                    <p:nvPicPr>
                      <p:cNvPr id="15" name="对象 14">
                        <a:extLst>
                          <a:ext uri="{FF2B5EF4-FFF2-40B4-BE49-F238E27FC236}">
                            <a16:creationId xmlns:a16="http://schemas.microsoft.com/office/drawing/2014/main" id="{37E33F70-9108-168B-3F95-6071326B81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1533332"/>
                        <a:ext cx="1195388" cy="400050"/>
                      </a:xfrm>
                      <a:prstGeom prst="rect">
                        <a:avLst/>
                      </a:prstGeom>
                      <a:noFill/>
                      <a:extLst>
                        <a:ext uri="{909E8E84-426E-40DD-AFC4-6F175D3DCCD1}">
                          <a14:hiddenFill xmlns:a14="http://schemas.microsoft.com/office/drawing/2010/main">
                            <a:solidFill>
                              <a:srgbClr val="00FF00"/>
                            </a:solidFill>
                          </a14:hiddenFill>
                        </a:ext>
                      </a:extLst>
                    </p:spPr>
                  </p:pic>
                </p:oleObj>
              </mc:Fallback>
            </mc:AlternateContent>
          </a:graphicData>
        </a:graphic>
      </p:graphicFrame>
      <p:graphicFrame>
        <p:nvGraphicFramePr>
          <p:cNvPr id="2" name="对象 1">
            <a:extLst>
              <a:ext uri="{FF2B5EF4-FFF2-40B4-BE49-F238E27FC236}">
                <a16:creationId xmlns:a16="http://schemas.microsoft.com/office/drawing/2014/main" id="{238F309D-4898-1A04-32C3-94156D5698F2}"/>
              </a:ext>
            </a:extLst>
          </p:cNvPr>
          <p:cNvGraphicFramePr>
            <a:graphicFrameLocks noChangeAspect="1"/>
          </p:cNvGraphicFramePr>
          <p:nvPr>
            <p:extLst>
              <p:ext uri="{D42A27DB-BD31-4B8C-83A1-F6EECF244321}">
                <p14:modId xmlns:p14="http://schemas.microsoft.com/office/powerpoint/2010/main" val="333107090"/>
              </p:ext>
            </p:extLst>
          </p:nvPr>
        </p:nvGraphicFramePr>
        <p:xfrm>
          <a:off x="2182284" y="2561814"/>
          <a:ext cx="4154289" cy="589880"/>
        </p:xfrm>
        <a:graphic>
          <a:graphicData uri="http://schemas.openxmlformats.org/presentationml/2006/ole">
            <mc:AlternateContent xmlns:mc="http://schemas.openxmlformats.org/markup-compatibility/2006">
              <mc:Choice xmlns:v="urn:schemas-microsoft-com:vml" Requires="v">
                <p:oleObj name="Equation" r:id="rId5" imgW="1714320" imgH="241200" progId="Equation.DSMT4">
                  <p:embed/>
                </p:oleObj>
              </mc:Choice>
              <mc:Fallback>
                <p:oleObj name="Equation" r:id="rId5" imgW="1714320" imgH="241200" progId="Equation.DSMT4">
                  <p:embed/>
                  <p:pic>
                    <p:nvPicPr>
                      <p:cNvPr id="0" name="Object 4"/>
                      <p:cNvPicPr>
                        <a:picLocks noChangeAspect="1" noChangeArrowheads="1"/>
                      </p:cNvPicPr>
                      <p:nvPr/>
                    </p:nvPicPr>
                    <p:blipFill>
                      <a:blip r:embed="rId6"/>
                      <a:srcRect/>
                      <a:stretch>
                        <a:fillRect/>
                      </a:stretch>
                    </p:blipFill>
                    <p:spPr bwMode="auto">
                      <a:xfrm>
                        <a:off x="2182284" y="2561814"/>
                        <a:ext cx="4154289" cy="589880"/>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E35F0B11-DE12-EA7A-E27C-2A35CD32F1A2}"/>
              </a:ext>
            </a:extLst>
          </p:cNvPr>
          <p:cNvGraphicFramePr>
            <a:graphicFrameLocks noChangeAspect="1"/>
          </p:cNvGraphicFramePr>
          <p:nvPr>
            <p:extLst>
              <p:ext uri="{D42A27DB-BD31-4B8C-83A1-F6EECF244321}">
                <p14:modId xmlns:p14="http://schemas.microsoft.com/office/powerpoint/2010/main" val="1140969354"/>
              </p:ext>
            </p:extLst>
          </p:nvPr>
        </p:nvGraphicFramePr>
        <p:xfrm>
          <a:off x="2217910" y="3143622"/>
          <a:ext cx="4584700" cy="933450"/>
        </p:xfrm>
        <a:graphic>
          <a:graphicData uri="http://schemas.openxmlformats.org/presentationml/2006/ole">
            <mc:AlternateContent xmlns:mc="http://schemas.openxmlformats.org/markup-compatibility/2006">
              <mc:Choice xmlns:v="urn:schemas-microsoft-com:vml" Requires="v">
                <p:oleObj name="Equation" r:id="rId7" imgW="2145960" imgH="444240" progId="Equation.DSMT4">
                  <p:embed/>
                </p:oleObj>
              </mc:Choice>
              <mc:Fallback>
                <p:oleObj name="Equation" r:id="rId7" imgW="2145960" imgH="444240" progId="Equation.DSMT4">
                  <p:embed/>
                  <p:pic>
                    <p:nvPicPr>
                      <p:cNvPr id="0" name="Object 3"/>
                      <p:cNvPicPr>
                        <a:picLocks noChangeAspect="1" noChangeArrowheads="1"/>
                      </p:cNvPicPr>
                      <p:nvPr/>
                    </p:nvPicPr>
                    <p:blipFill>
                      <a:blip r:embed="rId8"/>
                      <a:srcRect/>
                      <a:stretch>
                        <a:fillRect/>
                      </a:stretch>
                    </p:blipFill>
                    <p:spPr bwMode="auto">
                      <a:xfrm>
                        <a:off x="2217910" y="3143622"/>
                        <a:ext cx="4584700"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41185AEF-9F42-C4FC-74B4-C4847822F732}"/>
              </a:ext>
            </a:extLst>
          </p:cNvPr>
          <p:cNvGraphicFramePr>
            <a:graphicFrameLocks noChangeAspect="1"/>
          </p:cNvGraphicFramePr>
          <p:nvPr>
            <p:extLst>
              <p:ext uri="{D42A27DB-BD31-4B8C-83A1-F6EECF244321}">
                <p14:modId xmlns:p14="http://schemas.microsoft.com/office/powerpoint/2010/main" val="2559363703"/>
              </p:ext>
            </p:extLst>
          </p:nvPr>
        </p:nvGraphicFramePr>
        <p:xfrm>
          <a:off x="2217910" y="4083562"/>
          <a:ext cx="4392613" cy="536575"/>
        </p:xfrm>
        <a:graphic>
          <a:graphicData uri="http://schemas.openxmlformats.org/presentationml/2006/ole">
            <mc:AlternateContent xmlns:mc="http://schemas.openxmlformats.org/markup-compatibility/2006">
              <mc:Choice xmlns:v="urn:schemas-microsoft-com:vml" Requires="v">
                <p:oleObj name="Equation" r:id="rId9" imgW="2044440" imgH="253800" progId="Equation.DSMT4">
                  <p:embed/>
                </p:oleObj>
              </mc:Choice>
              <mc:Fallback>
                <p:oleObj name="Equation" r:id="rId9" imgW="2044440" imgH="253800" progId="Equation.DSMT4">
                  <p:embed/>
                  <p:pic>
                    <p:nvPicPr>
                      <p:cNvPr id="0" name="Object 2"/>
                      <p:cNvPicPr>
                        <a:picLocks noChangeAspect="1" noChangeArrowheads="1"/>
                      </p:cNvPicPr>
                      <p:nvPr/>
                    </p:nvPicPr>
                    <p:blipFill>
                      <a:blip r:embed="rId10"/>
                      <a:srcRect/>
                      <a:stretch>
                        <a:fillRect/>
                      </a:stretch>
                    </p:blipFill>
                    <p:spPr bwMode="auto">
                      <a:xfrm>
                        <a:off x="2217910" y="4083562"/>
                        <a:ext cx="4392613"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A079D233-F6C8-C290-90A7-36AE54D6C333}"/>
              </a:ext>
            </a:extLst>
          </p:cNvPr>
          <p:cNvGraphicFramePr>
            <a:graphicFrameLocks noChangeAspect="1"/>
          </p:cNvGraphicFramePr>
          <p:nvPr>
            <p:extLst>
              <p:ext uri="{D42A27DB-BD31-4B8C-83A1-F6EECF244321}">
                <p14:modId xmlns:p14="http://schemas.microsoft.com/office/powerpoint/2010/main" val="2108780892"/>
              </p:ext>
            </p:extLst>
          </p:nvPr>
        </p:nvGraphicFramePr>
        <p:xfrm>
          <a:off x="2182284" y="5527480"/>
          <a:ext cx="5774092" cy="493808"/>
        </p:xfrm>
        <a:graphic>
          <a:graphicData uri="http://schemas.openxmlformats.org/presentationml/2006/ole">
            <mc:AlternateContent xmlns:mc="http://schemas.openxmlformats.org/markup-compatibility/2006">
              <mc:Choice xmlns:v="urn:schemas-microsoft-com:vml" Requires="v">
                <p:oleObj name="Equation" r:id="rId11" imgW="2679700" imgH="228600" progId="Equation.DSMT4">
                  <p:embed/>
                </p:oleObj>
              </mc:Choice>
              <mc:Fallback>
                <p:oleObj name="Equation" r:id="rId11" imgW="2679700" imgH="228600" progId="Equation.DSMT4">
                  <p:embed/>
                  <p:pic>
                    <p:nvPicPr>
                      <p:cNvPr id="0" name="Object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82284" y="5527480"/>
                        <a:ext cx="5774092" cy="493808"/>
                      </a:xfrm>
                      <a:prstGeom prst="rect">
                        <a:avLst/>
                      </a:prstGeom>
                      <a:noFill/>
                    </p:spPr>
                  </p:pic>
                </p:oleObj>
              </mc:Fallback>
            </mc:AlternateContent>
          </a:graphicData>
        </a:graphic>
      </p:graphicFrame>
      <p:sp>
        <p:nvSpPr>
          <p:cNvPr id="8" name="Rectangle 5">
            <a:extLst>
              <a:ext uri="{FF2B5EF4-FFF2-40B4-BE49-F238E27FC236}">
                <a16:creationId xmlns:a16="http://schemas.microsoft.com/office/drawing/2014/main" id="{B1750029-4ECC-3756-E2C5-C7678E5336DE}"/>
              </a:ext>
            </a:extLst>
          </p:cNvPr>
          <p:cNvSpPr>
            <a:spLocks noChangeArrowheads="1"/>
          </p:cNvSpPr>
          <p:nvPr/>
        </p:nvSpPr>
        <p:spPr bwMode="auto">
          <a:xfrm>
            <a:off x="935526" y="2615048"/>
            <a:ext cx="648072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解：</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6">
            <a:extLst>
              <a:ext uri="{FF2B5EF4-FFF2-40B4-BE49-F238E27FC236}">
                <a16:creationId xmlns:a16="http://schemas.microsoft.com/office/drawing/2014/main" id="{2589DB6B-E9AD-6841-C76C-5047A9ADD9AF}"/>
              </a:ext>
            </a:extLst>
          </p:cNvPr>
          <p:cNvSpPr>
            <a:spLocks noChangeArrowheads="1"/>
          </p:cNvSpPr>
          <p:nvPr/>
        </p:nvSpPr>
        <p:spPr bwMode="auto">
          <a:xfrm>
            <a:off x="1235155" y="3408628"/>
            <a:ext cx="446449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2</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7">
            <a:extLst>
              <a:ext uri="{FF2B5EF4-FFF2-40B4-BE49-F238E27FC236}">
                <a16:creationId xmlns:a16="http://schemas.microsoft.com/office/drawing/2014/main" id="{3E1D5B09-DDCE-4FF8-BEE9-4A453A514D23}"/>
              </a:ext>
            </a:extLst>
          </p:cNvPr>
          <p:cNvSpPr>
            <a:spLocks noChangeArrowheads="1"/>
          </p:cNvSpPr>
          <p:nvPr/>
        </p:nvSpPr>
        <p:spPr bwMode="auto">
          <a:xfrm>
            <a:off x="1249728" y="4102147"/>
            <a:ext cx="129259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3</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8">
            <a:extLst>
              <a:ext uri="{FF2B5EF4-FFF2-40B4-BE49-F238E27FC236}">
                <a16:creationId xmlns:a16="http://schemas.microsoft.com/office/drawing/2014/main" id="{D82E4748-1B5D-CEF0-A36F-56354B0368B0}"/>
              </a:ext>
            </a:extLst>
          </p:cNvPr>
          <p:cNvSpPr>
            <a:spLocks noChangeArrowheads="1"/>
          </p:cNvSpPr>
          <p:nvPr/>
        </p:nvSpPr>
        <p:spPr bwMode="auto">
          <a:xfrm>
            <a:off x="1226609" y="5501603"/>
            <a:ext cx="150362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4</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9" name="对象 18">
            <a:extLst>
              <a:ext uri="{FF2B5EF4-FFF2-40B4-BE49-F238E27FC236}">
                <a16:creationId xmlns:a16="http://schemas.microsoft.com/office/drawing/2014/main" id="{73904195-C668-9DAC-71C0-C9E85799B7C2}"/>
              </a:ext>
            </a:extLst>
          </p:cNvPr>
          <p:cNvGraphicFramePr>
            <a:graphicFrameLocks noChangeAspect="1"/>
          </p:cNvGraphicFramePr>
          <p:nvPr>
            <p:extLst>
              <p:ext uri="{D42A27DB-BD31-4B8C-83A1-F6EECF244321}">
                <p14:modId xmlns:p14="http://schemas.microsoft.com/office/powerpoint/2010/main" val="3201866465"/>
              </p:ext>
            </p:extLst>
          </p:nvPr>
        </p:nvGraphicFramePr>
        <p:xfrm>
          <a:off x="2300887" y="4685468"/>
          <a:ext cx="4226657" cy="842012"/>
        </p:xfrm>
        <a:graphic>
          <a:graphicData uri="http://schemas.openxmlformats.org/presentationml/2006/ole">
            <mc:AlternateContent xmlns:mc="http://schemas.openxmlformats.org/markup-compatibility/2006">
              <mc:Choice xmlns:v="urn:schemas-microsoft-com:vml" Requires="v">
                <p:oleObj name="Equation" r:id="rId13" imgW="2070000" imgH="419040" progId="Equation.DSMT4">
                  <p:embed/>
                </p:oleObj>
              </mc:Choice>
              <mc:Fallback>
                <p:oleObj name="Equation" r:id="rId13" imgW="2070000" imgH="419040" progId="Equation.DSMT4">
                  <p:embed/>
                  <p:pic>
                    <p:nvPicPr>
                      <p:cNvPr id="5" name="对象 4">
                        <a:extLst>
                          <a:ext uri="{FF2B5EF4-FFF2-40B4-BE49-F238E27FC236}">
                            <a16:creationId xmlns:a16="http://schemas.microsoft.com/office/drawing/2014/main" id="{41185AEF-9F42-C4FC-74B4-C4847822F732}"/>
                          </a:ext>
                        </a:extLst>
                      </p:cNvPr>
                      <p:cNvPicPr>
                        <a:picLocks noChangeAspect="1" noChangeArrowheads="1"/>
                      </p:cNvPicPr>
                      <p:nvPr/>
                    </p:nvPicPr>
                    <p:blipFill>
                      <a:blip r:embed="rId14"/>
                      <a:srcRect/>
                      <a:stretch>
                        <a:fillRect/>
                      </a:stretch>
                    </p:blipFill>
                    <p:spPr bwMode="auto">
                      <a:xfrm>
                        <a:off x="2300887" y="4685468"/>
                        <a:ext cx="4226657" cy="842012"/>
                      </a:xfrm>
                      <a:prstGeom prst="rect">
                        <a:avLst/>
                      </a:prstGeom>
                      <a:noFill/>
                    </p:spPr>
                  </p:pic>
                </p:oleObj>
              </mc:Fallback>
            </mc:AlternateContent>
          </a:graphicData>
        </a:graphic>
      </p:graphicFrame>
      <p:sp>
        <p:nvSpPr>
          <p:cNvPr id="6" name="灯片编号占位符 5">
            <a:extLst>
              <a:ext uri="{FF2B5EF4-FFF2-40B4-BE49-F238E27FC236}">
                <a16:creationId xmlns:a16="http://schemas.microsoft.com/office/drawing/2014/main" id="{30DF1281-62FC-86C8-106C-936A54204C48}"/>
              </a:ext>
            </a:extLst>
          </p:cNvPr>
          <p:cNvSpPr>
            <a:spLocks noGrp="1"/>
          </p:cNvSpPr>
          <p:nvPr>
            <p:ph type="sldNum" sz="quarter" idx="12"/>
          </p:nvPr>
        </p:nvSpPr>
        <p:spPr/>
        <p:txBody>
          <a:bodyPr/>
          <a:lstStyle/>
          <a:p>
            <a:fld id="{76D830B0-DF59-4281-898F-AF208100B213}" type="slidenum">
              <a:rPr lang="en-US" altLang="zh-CN" smtClean="0"/>
              <a:pPr/>
              <a:t>74</a:t>
            </a:fld>
            <a:endParaRPr lang="en-US" altLang="zh-CN"/>
          </a:p>
        </p:txBody>
      </p:sp>
    </p:spTree>
    <p:extLst>
      <p:ext uri="{BB962C8B-B14F-4D97-AF65-F5344CB8AC3E}">
        <p14:creationId xmlns:p14="http://schemas.microsoft.com/office/powerpoint/2010/main" val="3454065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7642BD4F-EDBE-390D-635E-A1BAB4116036}"/>
              </a:ext>
            </a:extLst>
          </p:cNvPr>
          <p:cNvGraphicFramePr>
            <a:graphicFrameLocks noChangeAspect="1"/>
          </p:cNvGraphicFramePr>
          <p:nvPr>
            <p:extLst>
              <p:ext uri="{D42A27DB-BD31-4B8C-83A1-F6EECF244321}">
                <p14:modId xmlns:p14="http://schemas.microsoft.com/office/powerpoint/2010/main" val="261847582"/>
              </p:ext>
            </p:extLst>
          </p:nvPr>
        </p:nvGraphicFramePr>
        <p:xfrm>
          <a:off x="2334831" y="1226546"/>
          <a:ext cx="1528763" cy="695325"/>
        </p:xfrm>
        <a:graphic>
          <a:graphicData uri="http://schemas.openxmlformats.org/presentationml/2006/ole">
            <mc:AlternateContent xmlns:mc="http://schemas.openxmlformats.org/markup-compatibility/2006">
              <mc:Choice xmlns:v="urn:schemas-microsoft-com:vml" Requires="v">
                <p:oleObj name="Equation" r:id="rId3" imgW="698197" imgH="317362" progId="Equation.DSMT4">
                  <p:embed/>
                </p:oleObj>
              </mc:Choice>
              <mc:Fallback>
                <p:oleObj name="Equation" r:id="rId3" imgW="698197" imgH="317362" progId="Equation.DSMT4">
                  <p:embed/>
                  <p:pic>
                    <p:nvPicPr>
                      <p:cNvPr id="43" name="对象 42">
                        <a:extLst>
                          <a:ext uri="{FF2B5EF4-FFF2-40B4-BE49-F238E27FC236}">
                            <a16:creationId xmlns:a16="http://schemas.microsoft.com/office/drawing/2014/main" id="{1677EE73-98E2-B119-5A40-BE408231E0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4831" y="1226546"/>
                        <a:ext cx="1528763" cy="695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1B9F51B5-4B65-B21D-F12A-06B476B6D3B7}"/>
              </a:ext>
            </a:extLst>
          </p:cNvPr>
          <p:cNvGraphicFramePr>
            <a:graphicFrameLocks noChangeAspect="1"/>
          </p:cNvGraphicFramePr>
          <p:nvPr>
            <p:extLst>
              <p:ext uri="{D42A27DB-BD31-4B8C-83A1-F6EECF244321}">
                <p14:modId xmlns:p14="http://schemas.microsoft.com/office/powerpoint/2010/main" val="3546072238"/>
              </p:ext>
            </p:extLst>
          </p:nvPr>
        </p:nvGraphicFramePr>
        <p:xfrm>
          <a:off x="4074126" y="1183025"/>
          <a:ext cx="497874" cy="716280"/>
        </p:xfrm>
        <a:graphic>
          <a:graphicData uri="http://schemas.openxmlformats.org/presentationml/2006/ole">
            <mc:AlternateContent xmlns:mc="http://schemas.openxmlformats.org/markup-compatibility/2006">
              <mc:Choice xmlns:v="urn:schemas-microsoft-com:vml" Requires="v">
                <p:oleObj name="Equation" r:id="rId5" imgW="203040" imgH="291960" progId="Equation.DSMT4">
                  <p:embed/>
                </p:oleObj>
              </mc:Choice>
              <mc:Fallback>
                <p:oleObj name="Equation" r:id="rId5" imgW="203040" imgH="291960" progId="Equation.DSMT4">
                  <p:embed/>
                  <p:pic>
                    <p:nvPicPr>
                      <p:cNvPr id="44" name="对象 43">
                        <a:extLst>
                          <a:ext uri="{FF2B5EF4-FFF2-40B4-BE49-F238E27FC236}">
                            <a16:creationId xmlns:a16="http://schemas.microsoft.com/office/drawing/2014/main" id="{60ECF6A2-898D-77D9-46C1-2643E9FC9BB2}"/>
                          </a:ext>
                        </a:extLst>
                      </p:cNvPr>
                      <p:cNvPicPr>
                        <a:picLocks noChangeAspect="1" noChangeArrowheads="1"/>
                      </p:cNvPicPr>
                      <p:nvPr/>
                    </p:nvPicPr>
                    <p:blipFill>
                      <a:blip r:embed="rId6"/>
                      <a:srcRect/>
                      <a:stretch>
                        <a:fillRect/>
                      </a:stretch>
                    </p:blipFill>
                    <p:spPr bwMode="auto">
                      <a:xfrm>
                        <a:off x="4074126" y="1183025"/>
                        <a:ext cx="497874" cy="716280"/>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7F132F0A-C4C5-73C0-543F-2B7930150476}"/>
              </a:ext>
            </a:extLst>
          </p:cNvPr>
          <p:cNvGraphicFramePr>
            <a:graphicFrameLocks noChangeAspect="1"/>
          </p:cNvGraphicFramePr>
          <p:nvPr>
            <p:extLst>
              <p:ext uri="{D42A27DB-BD31-4B8C-83A1-F6EECF244321}">
                <p14:modId xmlns:p14="http://schemas.microsoft.com/office/powerpoint/2010/main" val="3353921455"/>
              </p:ext>
            </p:extLst>
          </p:nvPr>
        </p:nvGraphicFramePr>
        <p:xfrm>
          <a:off x="4860032" y="1116039"/>
          <a:ext cx="1433513" cy="985838"/>
        </p:xfrm>
        <a:graphic>
          <a:graphicData uri="http://schemas.openxmlformats.org/presentationml/2006/ole">
            <mc:AlternateContent xmlns:mc="http://schemas.openxmlformats.org/markup-compatibility/2006">
              <mc:Choice xmlns:v="urn:schemas-microsoft-com:vml" Requires="v">
                <p:oleObj name="Equation" r:id="rId7" imgW="761669" imgH="520474" progId="Equation.DSMT4">
                  <p:embed/>
                </p:oleObj>
              </mc:Choice>
              <mc:Fallback>
                <p:oleObj name="Equation" r:id="rId7" imgW="761669" imgH="520474" progId="Equation.DSMT4">
                  <p:embed/>
                  <p:pic>
                    <p:nvPicPr>
                      <p:cNvPr id="45" name="对象 44">
                        <a:extLst>
                          <a:ext uri="{FF2B5EF4-FFF2-40B4-BE49-F238E27FC236}">
                            <a16:creationId xmlns:a16="http://schemas.microsoft.com/office/drawing/2014/main" id="{0FC03754-0414-CC45-0C00-0091AE4158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0032" y="1116039"/>
                        <a:ext cx="1433513" cy="985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文本框 16">
            <a:extLst>
              <a:ext uri="{FF2B5EF4-FFF2-40B4-BE49-F238E27FC236}">
                <a16:creationId xmlns:a16="http://schemas.microsoft.com/office/drawing/2014/main" id="{C1921603-F765-C741-1942-FAA046107DEF}"/>
              </a:ext>
            </a:extLst>
          </p:cNvPr>
          <p:cNvSpPr txBox="1"/>
          <p:nvPr/>
        </p:nvSpPr>
        <p:spPr>
          <a:xfrm>
            <a:off x="827584" y="1892125"/>
            <a:ext cx="6912768" cy="830997"/>
          </a:xfrm>
          <a:prstGeom prst="rect">
            <a:avLst/>
          </a:prstGeom>
          <a:noFill/>
        </p:spPr>
        <p:txBody>
          <a:bodyPr wrap="square">
            <a:spAutoFit/>
          </a:bodyPr>
          <a:lstStyle/>
          <a:p>
            <a:pPr algn="l">
              <a:tabLst>
                <a:tab pos="5120005" algn="l"/>
              </a:tabLst>
            </a:pPr>
            <a:r>
              <a:rPr lang="zh-CN" altLang="zh-CN" sz="2400" b="1" kern="100" dirty="0">
                <a:solidFill>
                  <a:srgbClr val="0000FF"/>
                </a:solidFill>
                <a:effectLst/>
                <a:latin typeface="Times New Roman" panose="02020603050405020304" pitchFamily="18" charset="0"/>
                <a:ea typeface="黑体" panose="02010609060101010101" pitchFamily="49" charset="-122"/>
              </a:rPr>
              <a:t>问题</a:t>
            </a:r>
            <a:r>
              <a:rPr lang="zh-CN" altLang="zh-CN" sz="2400" b="1" kern="100" dirty="0">
                <a:solidFill>
                  <a:srgbClr val="000000"/>
                </a:solidFill>
                <a:effectLst/>
                <a:latin typeface="Times New Roman" panose="02020603050405020304" pitchFamily="18" charset="0"/>
                <a:ea typeface="黑体" panose="02010609060101010101" pitchFamily="49" charset="-122"/>
              </a:rPr>
              <a:t>：定、转子电流</a:t>
            </a:r>
            <a:r>
              <a:rPr lang="zh-CN" altLang="zh-CN" sz="2400" b="1" kern="100" dirty="0">
                <a:solidFill>
                  <a:srgbClr val="FF0000"/>
                </a:solidFill>
                <a:effectLst/>
                <a:latin typeface="Times New Roman" panose="02020603050405020304" pitchFamily="18" charset="0"/>
                <a:ea typeface="黑体" panose="02010609060101010101" pitchFamily="49" charset="-122"/>
              </a:rPr>
              <a:t>频率不同</a:t>
            </a:r>
            <a:r>
              <a:rPr lang="zh-CN" altLang="en-US" sz="2400" b="1" kern="100" dirty="0">
                <a:solidFill>
                  <a:srgbClr val="FF0000"/>
                </a:solidFill>
                <a:latin typeface="Times New Roman" panose="02020603050405020304" pitchFamily="18" charset="0"/>
                <a:ea typeface="黑体" panose="02010609060101010101" pitchFamily="49" charset="-122"/>
              </a:rPr>
              <a:t>相量</a:t>
            </a:r>
            <a:r>
              <a:rPr lang="zh-CN" altLang="zh-CN" sz="2400" b="1" kern="100" dirty="0">
                <a:solidFill>
                  <a:srgbClr val="FF0000"/>
                </a:solidFill>
                <a:effectLst/>
                <a:latin typeface="Times New Roman" panose="02020603050405020304" pitchFamily="18" charset="0"/>
                <a:ea typeface="黑体" panose="02010609060101010101" pitchFamily="49" charset="-122"/>
              </a:rPr>
              <a:t>不能相加</a:t>
            </a:r>
            <a:r>
              <a:rPr lang="zh-CN" altLang="zh-CN" sz="2400" b="1" kern="100" dirty="0">
                <a:solidFill>
                  <a:srgbClr val="000000"/>
                </a:solidFill>
                <a:effectLst/>
                <a:latin typeface="Times New Roman" panose="02020603050405020304" pitchFamily="18" charset="0"/>
                <a:ea typeface="黑体" panose="02010609060101010101" pitchFamily="49" charset="-122"/>
              </a:rPr>
              <a:t>。</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a:p>
            <a:pPr algn="l"/>
            <a:r>
              <a:rPr lang="zh-CN" altLang="zh-CN" sz="2400" b="1" kern="100" dirty="0">
                <a:solidFill>
                  <a:srgbClr val="000000"/>
                </a:solidFill>
                <a:effectLst/>
                <a:latin typeface="Times New Roman" panose="02020603050405020304" pitchFamily="18" charset="0"/>
                <a:ea typeface="黑体" panose="02010609060101010101" pitchFamily="49" charset="-122"/>
              </a:rPr>
              <a:t>对策：零速等效</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sp>
        <p:nvSpPr>
          <p:cNvPr id="20" name="文本框 19">
            <a:extLst>
              <a:ext uri="{FF2B5EF4-FFF2-40B4-BE49-F238E27FC236}">
                <a16:creationId xmlns:a16="http://schemas.microsoft.com/office/drawing/2014/main" id="{02967076-0366-6E6A-D81B-C1D91A7D3AAF}"/>
              </a:ext>
            </a:extLst>
          </p:cNvPr>
          <p:cNvSpPr txBox="1"/>
          <p:nvPr/>
        </p:nvSpPr>
        <p:spPr>
          <a:xfrm>
            <a:off x="683568" y="2815457"/>
            <a:ext cx="4572000" cy="461665"/>
          </a:xfrm>
          <a:prstGeom prst="rect">
            <a:avLst/>
          </a:prstGeom>
          <a:noFill/>
        </p:spPr>
        <p:txBody>
          <a:bodyPr wrap="square">
            <a:spAutoFit/>
          </a:bodyPr>
          <a:lstStyle/>
          <a:p>
            <a:pPr algn="l"/>
            <a:r>
              <a:rPr lang="en-US" altLang="zh-CN" sz="2400" b="1" kern="100" dirty="0">
                <a:solidFill>
                  <a:srgbClr val="0000FF"/>
                </a:solidFill>
                <a:effectLst/>
                <a:latin typeface="Times New Roman" panose="02020603050405020304" pitchFamily="18" charset="0"/>
                <a:ea typeface="黑体" panose="02010609060101010101" pitchFamily="49" charset="-122"/>
              </a:rPr>
              <a:t>3</a:t>
            </a:r>
            <a:r>
              <a:rPr lang="zh-CN" altLang="zh-CN" sz="2400" b="1" kern="100" dirty="0">
                <a:solidFill>
                  <a:srgbClr val="0000FF"/>
                </a:solidFill>
                <a:effectLst/>
                <a:latin typeface="Times New Roman" panose="02020603050405020304" pitchFamily="18" charset="0"/>
                <a:ea typeface="黑体" panose="02010609060101010101" pitchFamily="49" charset="-122"/>
              </a:rPr>
              <a:t>、零速等效（频率折算）</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graphicFrame>
        <p:nvGraphicFramePr>
          <p:cNvPr id="22" name="对象 21">
            <a:extLst>
              <a:ext uri="{FF2B5EF4-FFF2-40B4-BE49-F238E27FC236}">
                <a16:creationId xmlns:a16="http://schemas.microsoft.com/office/drawing/2014/main" id="{81F538FB-B07D-D81E-63BB-499FCE05AECD}"/>
              </a:ext>
            </a:extLst>
          </p:cNvPr>
          <p:cNvGraphicFramePr>
            <a:graphicFrameLocks noChangeAspect="1"/>
          </p:cNvGraphicFramePr>
          <p:nvPr>
            <p:extLst>
              <p:ext uri="{D42A27DB-BD31-4B8C-83A1-F6EECF244321}">
                <p14:modId xmlns:p14="http://schemas.microsoft.com/office/powerpoint/2010/main" val="282455133"/>
              </p:ext>
            </p:extLst>
          </p:nvPr>
        </p:nvGraphicFramePr>
        <p:xfrm>
          <a:off x="1763688" y="3164445"/>
          <a:ext cx="5100638" cy="981075"/>
        </p:xfrm>
        <a:graphic>
          <a:graphicData uri="http://schemas.openxmlformats.org/presentationml/2006/ole">
            <mc:AlternateContent xmlns:mc="http://schemas.openxmlformats.org/markup-compatibility/2006">
              <mc:Choice xmlns:v="urn:schemas-microsoft-com:vml" Requires="v">
                <p:oleObj name="Equation" r:id="rId9" imgW="2717800" imgH="520700" progId="Equation.DSMT4">
                  <p:embed/>
                </p:oleObj>
              </mc:Choice>
              <mc:Fallback>
                <p:oleObj name="Equation" r:id="rId9" imgW="2717800" imgH="520700" progId="Equation.DSMT4">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688" y="3164445"/>
                        <a:ext cx="5100638" cy="98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文本框 23">
            <a:extLst>
              <a:ext uri="{FF2B5EF4-FFF2-40B4-BE49-F238E27FC236}">
                <a16:creationId xmlns:a16="http://schemas.microsoft.com/office/drawing/2014/main" id="{0342B245-214B-9B9A-CE45-AF3580275D46}"/>
              </a:ext>
            </a:extLst>
          </p:cNvPr>
          <p:cNvSpPr txBox="1"/>
          <p:nvPr/>
        </p:nvSpPr>
        <p:spPr>
          <a:xfrm>
            <a:off x="827584" y="4298466"/>
            <a:ext cx="7296524" cy="461665"/>
          </a:xfrm>
          <a:prstGeom prst="rect">
            <a:avLst/>
          </a:prstGeom>
          <a:noFill/>
        </p:spPr>
        <p:txBody>
          <a:bodyPr wrap="square">
            <a:spAutoFit/>
          </a:bodyPr>
          <a:lstStyle/>
          <a:p>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按转子电流不变原则进行频率折算</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，将上式改写为：</a:t>
            </a:r>
            <a:endParaRPr lang="zh-CN" altLang="en-US" sz="2400" dirty="0"/>
          </a:p>
        </p:txBody>
      </p:sp>
      <p:graphicFrame>
        <p:nvGraphicFramePr>
          <p:cNvPr id="26" name="对象 25">
            <a:extLst>
              <a:ext uri="{FF2B5EF4-FFF2-40B4-BE49-F238E27FC236}">
                <a16:creationId xmlns:a16="http://schemas.microsoft.com/office/drawing/2014/main" id="{09A015A2-4E56-73C4-0F65-99CFF0CA570F}"/>
              </a:ext>
            </a:extLst>
          </p:cNvPr>
          <p:cNvGraphicFramePr>
            <a:graphicFrameLocks noChangeAspect="1"/>
          </p:cNvGraphicFramePr>
          <p:nvPr>
            <p:extLst>
              <p:ext uri="{D42A27DB-BD31-4B8C-83A1-F6EECF244321}">
                <p14:modId xmlns:p14="http://schemas.microsoft.com/office/powerpoint/2010/main" val="2520713328"/>
              </p:ext>
            </p:extLst>
          </p:nvPr>
        </p:nvGraphicFramePr>
        <p:xfrm>
          <a:off x="813317" y="4758446"/>
          <a:ext cx="7729538" cy="1266825"/>
        </p:xfrm>
        <a:graphic>
          <a:graphicData uri="http://schemas.openxmlformats.org/presentationml/2006/ole">
            <mc:AlternateContent xmlns:mc="http://schemas.openxmlformats.org/markup-compatibility/2006">
              <mc:Choice xmlns:v="urn:schemas-microsoft-com:vml" Requires="v">
                <p:oleObj name="Equation" r:id="rId11" imgW="4178300" imgH="685800" progId="Equation.DSMT4">
                  <p:embed/>
                </p:oleObj>
              </mc:Choice>
              <mc:Fallback>
                <p:oleObj name="Equation" r:id="rId11" imgW="4178300" imgH="685800"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3317" y="4758446"/>
                        <a:ext cx="7729538" cy="1266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6">
            <a:extLst>
              <a:ext uri="{FF2B5EF4-FFF2-40B4-BE49-F238E27FC236}">
                <a16:creationId xmlns:a16="http://schemas.microsoft.com/office/drawing/2014/main" id="{9B938A8B-E909-8ADF-534F-DAAFA9975A56}"/>
              </a:ext>
            </a:extLst>
          </p:cNvPr>
          <p:cNvSpPr>
            <a:spLocks noChangeArrowheads="1"/>
          </p:cNvSpPr>
          <p:nvPr/>
        </p:nvSpPr>
        <p:spPr bwMode="auto">
          <a:xfrm>
            <a:off x="899592" y="6054933"/>
            <a:ext cx="426273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转子电流频率也相应为</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8" name="对象 27">
            <a:extLst>
              <a:ext uri="{FF2B5EF4-FFF2-40B4-BE49-F238E27FC236}">
                <a16:creationId xmlns:a16="http://schemas.microsoft.com/office/drawing/2014/main" id="{FEA1ADEC-4FBD-DE92-9859-D6C0F5367779}"/>
              </a:ext>
            </a:extLst>
          </p:cNvPr>
          <p:cNvGraphicFramePr>
            <a:graphicFrameLocks noChangeAspect="1"/>
          </p:cNvGraphicFramePr>
          <p:nvPr>
            <p:extLst>
              <p:ext uri="{D42A27DB-BD31-4B8C-83A1-F6EECF244321}">
                <p14:modId xmlns:p14="http://schemas.microsoft.com/office/powerpoint/2010/main" val="2792563595"/>
              </p:ext>
            </p:extLst>
          </p:nvPr>
        </p:nvGraphicFramePr>
        <p:xfrm>
          <a:off x="4252693" y="6032086"/>
          <a:ext cx="909638" cy="519113"/>
        </p:xfrm>
        <a:graphic>
          <a:graphicData uri="http://schemas.openxmlformats.org/presentationml/2006/ole">
            <mc:AlternateContent xmlns:mc="http://schemas.openxmlformats.org/markup-compatibility/2006">
              <mc:Choice xmlns:v="urn:schemas-microsoft-com:vml" Requires="v">
                <p:oleObj name="Equation" r:id="rId13" imgW="380835" imgH="215806" progId="Equation.DSMT4">
                  <p:embed/>
                </p:oleObj>
              </mc:Choice>
              <mc:Fallback>
                <p:oleObj name="Equation" r:id="rId13" imgW="380835" imgH="215806" progId="Equation.DSMT4">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52693" y="6032086"/>
                        <a:ext cx="909638"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a:extLst>
              <a:ext uri="{FF2B5EF4-FFF2-40B4-BE49-F238E27FC236}">
                <a16:creationId xmlns:a16="http://schemas.microsoft.com/office/drawing/2014/main" id="{6A9D2075-02D2-12E7-CE0F-69F28DDD6ADA}"/>
              </a:ext>
            </a:extLst>
          </p:cNvPr>
          <p:cNvSpPr>
            <a:spLocks noGrp="1"/>
          </p:cNvSpPr>
          <p:nvPr>
            <p:ph type="sldNum" sz="quarter" idx="12"/>
          </p:nvPr>
        </p:nvSpPr>
        <p:spPr>
          <a:xfrm>
            <a:off x="6553200" y="6393692"/>
            <a:ext cx="2133600" cy="476250"/>
          </a:xfrm>
        </p:spPr>
        <p:txBody>
          <a:bodyPr/>
          <a:lstStyle/>
          <a:p>
            <a:fld id="{76D830B0-DF59-4281-898F-AF208100B213}" type="slidenum">
              <a:rPr lang="en-US" altLang="zh-CN" smtClean="0"/>
              <a:pPr/>
              <a:t>75</a:t>
            </a:fld>
            <a:endParaRPr lang="en-US" altLang="zh-CN"/>
          </a:p>
        </p:txBody>
      </p:sp>
      <p:sp>
        <p:nvSpPr>
          <p:cNvPr id="52" name="Rectangle 29">
            <a:extLst>
              <a:ext uri="{FF2B5EF4-FFF2-40B4-BE49-F238E27FC236}">
                <a16:creationId xmlns:a16="http://schemas.microsoft.com/office/drawing/2014/main" id="{F70643E4-7390-F3B2-6D5A-E01C021B41CA}"/>
              </a:ext>
            </a:extLst>
          </p:cNvPr>
          <p:cNvSpPr>
            <a:spLocks noChangeArrowheads="1"/>
          </p:cNvSpPr>
          <p:nvPr/>
        </p:nvSpPr>
        <p:spPr bwMode="auto">
          <a:xfrm>
            <a:off x="911178" y="779406"/>
            <a:ext cx="70567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同样</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也可相分离，所以</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51" name="对象 50">
            <a:extLst>
              <a:ext uri="{FF2B5EF4-FFF2-40B4-BE49-F238E27FC236}">
                <a16:creationId xmlns:a16="http://schemas.microsoft.com/office/drawing/2014/main" id="{6653D650-7B9F-2379-6431-B88960EFA864}"/>
              </a:ext>
            </a:extLst>
          </p:cNvPr>
          <p:cNvGraphicFramePr>
            <a:graphicFrameLocks noChangeAspect="1"/>
          </p:cNvGraphicFramePr>
          <p:nvPr>
            <p:extLst>
              <p:ext uri="{D42A27DB-BD31-4B8C-83A1-F6EECF244321}">
                <p14:modId xmlns:p14="http://schemas.microsoft.com/office/powerpoint/2010/main" val="2574556943"/>
              </p:ext>
            </p:extLst>
          </p:nvPr>
        </p:nvGraphicFramePr>
        <p:xfrm>
          <a:off x="1922788" y="858816"/>
          <a:ext cx="824086" cy="360298"/>
        </p:xfrm>
        <a:graphic>
          <a:graphicData uri="http://schemas.openxmlformats.org/presentationml/2006/ole">
            <mc:AlternateContent xmlns:mc="http://schemas.openxmlformats.org/markup-compatibility/2006">
              <mc:Choice xmlns:v="urn:schemas-microsoft-com:vml" Requires="v">
                <p:oleObj name="Equation" r:id="rId15" imgW="457002" imgH="203112" progId="Equation.DSMT4">
                  <p:embed/>
                </p:oleObj>
              </mc:Choice>
              <mc:Fallback>
                <p:oleObj name="Equation" r:id="rId15" imgW="457002" imgH="203112" progId="Equation.DSMT4">
                  <p:embed/>
                  <p:pic>
                    <p:nvPicPr>
                      <p:cNvPr id="51" name="对象 50">
                        <a:extLst>
                          <a:ext uri="{FF2B5EF4-FFF2-40B4-BE49-F238E27FC236}">
                            <a16:creationId xmlns:a16="http://schemas.microsoft.com/office/drawing/2014/main" id="{6653D650-7B9F-2379-6431-B88960EFA86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22788" y="858816"/>
                        <a:ext cx="824086" cy="360298"/>
                      </a:xfrm>
                      <a:prstGeom prst="rect">
                        <a:avLst/>
                      </a:prstGeom>
                      <a:noFill/>
                    </p:spPr>
                  </p:pic>
                </p:oleObj>
              </mc:Fallback>
            </mc:AlternateContent>
          </a:graphicData>
        </a:graphic>
      </p:graphicFrame>
    </p:spTree>
    <p:extLst>
      <p:ext uri="{BB962C8B-B14F-4D97-AF65-F5344CB8AC3E}">
        <p14:creationId xmlns:p14="http://schemas.microsoft.com/office/powerpoint/2010/main" val="40056703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81706D4-925E-98F1-C540-E91A75CC3D7F}"/>
              </a:ext>
            </a:extLst>
          </p:cNvPr>
          <p:cNvSpPr txBox="1"/>
          <p:nvPr/>
        </p:nvSpPr>
        <p:spPr>
          <a:xfrm>
            <a:off x="683568" y="1124744"/>
            <a:ext cx="7776864" cy="3826368"/>
          </a:xfrm>
          <a:prstGeom prst="rect">
            <a:avLst/>
          </a:prstGeom>
          <a:noFill/>
        </p:spPr>
        <p:txBody>
          <a:bodyPr wrap="square">
            <a:spAutoFit/>
          </a:bodyPr>
          <a:lstStyle/>
          <a:p>
            <a:pPr>
              <a:lnSpc>
                <a:spcPct val="120000"/>
              </a:lnSpc>
            </a:pPr>
            <a:r>
              <a:rPr lang="zh-CN" altLang="zh-CN" sz="2400" b="1" kern="100" dirty="0">
                <a:solidFill>
                  <a:srgbClr val="0000FF"/>
                </a:solidFill>
                <a:effectLst/>
                <a:latin typeface="Times New Roman" panose="02020603050405020304" pitchFamily="18" charset="0"/>
                <a:ea typeface="黑体" panose="02010609060101010101" pitchFamily="49" charset="-122"/>
              </a:rPr>
              <a:t>频率折算的物理含义</a:t>
            </a:r>
            <a:r>
              <a:rPr lang="zh-CN" altLang="zh-CN" sz="2400" b="1" kern="100" dirty="0">
                <a:solidFill>
                  <a:srgbClr val="000000"/>
                </a:solidFill>
                <a:effectLst/>
                <a:latin typeface="Times New Roman" panose="02020603050405020304" pitchFamily="18" charset="0"/>
                <a:ea typeface="黑体" panose="02010609060101010101" pitchFamily="49" charset="-122"/>
              </a:rPr>
              <a:t>：</a:t>
            </a:r>
            <a:r>
              <a:rPr kumimoji="0" lang="zh-CN" altLang="zh-CN"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用电阻为</a:t>
            </a:r>
            <a:r>
              <a:rPr kumimoji="0" lang="en-US" altLang="zh-CN"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的静止等效转子</a:t>
            </a:r>
            <a:r>
              <a:rPr kumimoji="0" lang="zh-CN" altLang="en-US"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替代电阻为   </a:t>
            </a:r>
            <a:r>
              <a:rPr kumimoji="0" lang="zh-CN" altLang="zh-CN"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的实际旋转转子</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lang="zh-CN" altLang="zh-CN" sz="2400" b="1" kern="100" dirty="0">
                <a:solidFill>
                  <a:srgbClr val="FF00FF"/>
                </a:solidFill>
                <a:effectLst/>
                <a:latin typeface="Times New Roman" panose="02020603050405020304" pitchFamily="18" charset="0"/>
                <a:ea typeface="黑体" panose="02010609060101010101" pitchFamily="49" charset="-122"/>
              </a:rPr>
              <a:t>等效转子与实际转子具有同样的转子磁势</a:t>
            </a:r>
            <a:r>
              <a:rPr lang="zh-CN" altLang="zh-CN" sz="2400" b="1" kern="100" dirty="0">
                <a:solidFill>
                  <a:srgbClr val="000000"/>
                </a:solidFill>
                <a:effectLst/>
                <a:latin typeface="Times New Roman" panose="02020603050405020304" pitchFamily="18" charset="0"/>
                <a:ea typeface="黑体" panose="02010609060101010101" pitchFamily="49" charset="-122"/>
              </a:rPr>
              <a:t>。</a:t>
            </a:r>
            <a:endParaRPr lang="en-US" altLang="zh-CN" sz="2400" b="1" kern="100" dirty="0">
              <a:solidFill>
                <a:srgbClr val="000000"/>
              </a:solidFill>
              <a:effectLst/>
              <a:latin typeface="Times New Roman" panose="02020603050405020304" pitchFamily="18" charset="0"/>
              <a:ea typeface="黑体" panose="02010609060101010101" pitchFamily="49" charset="-122"/>
            </a:endParaRPr>
          </a:p>
          <a:p>
            <a:pPr marL="171450" indent="-171450">
              <a:lnSpc>
                <a:spcPct val="110000"/>
              </a:lnSpc>
              <a:buFont typeface="Wingdings" panose="05000000000000000000" pitchFamily="2" charset="2"/>
              <a:buChar char="u"/>
            </a:pP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等效前后转子磁势转速相同；</a:t>
            </a:r>
            <a:endParaRPr lang="en-US"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p>
            <a:pPr marL="171450" indent="-171450">
              <a:lnSpc>
                <a:spcPct val="110000"/>
              </a:lnSpc>
              <a:buFont typeface="Wingdings" panose="05000000000000000000" pitchFamily="2" charset="2"/>
              <a:buChar char="u"/>
            </a:pPr>
            <a:r>
              <a:rPr lang="zh-CN" altLang="zh-CN" sz="2400" b="1" kern="100" dirty="0">
                <a:solidFill>
                  <a:srgbClr val="000000"/>
                </a:solidFill>
                <a:effectLst/>
                <a:latin typeface="Times New Roman" panose="02020603050405020304" pitchFamily="18" charset="0"/>
                <a:ea typeface="黑体" panose="02010609060101010101" pitchFamily="49" charset="-122"/>
              </a:rPr>
              <a:t>转子磁势相位相同、幅值未变（转子电流幅值及阻抗角均未变）。</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a:p>
            <a:pPr marL="171450" indent="-171450">
              <a:lnSpc>
                <a:spcPct val="110000"/>
              </a:lnSpc>
              <a:buFont typeface="Wingdings" panose="05000000000000000000" pitchFamily="2" charset="2"/>
              <a:buChar char="u"/>
            </a:pP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等效前后转子反应</a:t>
            </a:r>
            <a:r>
              <a:rPr lang="zh-CN" altLang="en-US" sz="2400" b="1" kern="1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电抗</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相同，定子侧所有物理量及传送到转子的功率均保持不变。</a:t>
            </a:r>
            <a:endParaRPr lang="en-US" altLang="zh-CN" sz="2400" b="1" kern="1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171450" indent="-171450">
              <a:lnSpc>
                <a:spcPct val="110000"/>
              </a:lnSpc>
              <a:buFont typeface="Wingdings" panose="05000000000000000000" pitchFamily="2" charset="2"/>
              <a:buChar char="u"/>
            </a:pPr>
            <a:r>
              <a:rPr lang="zh-CN" altLang="zh-CN" sz="2400" b="1" kern="1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等效后</a:t>
            </a: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定、转子电流频率相同</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graphicFrame>
        <p:nvGraphicFramePr>
          <p:cNvPr id="5" name="对象 4">
            <a:extLst>
              <a:ext uri="{FF2B5EF4-FFF2-40B4-BE49-F238E27FC236}">
                <a16:creationId xmlns:a16="http://schemas.microsoft.com/office/drawing/2014/main" id="{CF569EEB-2E3F-5D3E-A2CA-8C45F8A13A58}"/>
              </a:ext>
            </a:extLst>
          </p:cNvPr>
          <p:cNvGraphicFramePr>
            <a:graphicFrameLocks noChangeAspect="1"/>
          </p:cNvGraphicFramePr>
          <p:nvPr>
            <p:extLst>
              <p:ext uri="{D42A27DB-BD31-4B8C-83A1-F6EECF244321}">
                <p14:modId xmlns:p14="http://schemas.microsoft.com/office/powerpoint/2010/main" val="2457471820"/>
              </p:ext>
            </p:extLst>
          </p:nvPr>
        </p:nvGraphicFramePr>
        <p:xfrm>
          <a:off x="5065886" y="908720"/>
          <a:ext cx="476250" cy="795338"/>
        </p:xfrm>
        <a:graphic>
          <a:graphicData uri="http://schemas.openxmlformats.org/presentationml/2006/ole">
            <mc:AlternateContent xmlns:mc="http://schemas.openxmlformats.org/markup-compatibility/2006">
              <mc:Choice xmlns:v="urn:schemas-microsoft-com:vml" Requires="v">
                <p:oleObj name="Equation" r:id="rId3" imgW="241195" imgH="393529" progId="Equation.DSMT4">
                  <p:embed/>
                </p:oleObj>
              </mc:Choice>
              <mc:Fallback>
                <p:oleObj name="Equation" r:id="rId3" imgW="241195" imgH="393529"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5886" y="908720"/>
                        <a:ext cx="476250" cy="795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899F061C-153A-C888-4941-FD85732C1B38}"/>
              </a:ext>
            </a:extLst>
          </p:cNvPr>
          <p:cNvGraphicFramePr>
            <a:graphicFrameLocks noChangeAspect="1"/>
          </p:cNvGraphicFramePr>
          <p:nvPr>
            <p:extLst>
              <p:ext uri="{D42A27DB-BD31-4B8C-83A1-F6EECF244321}">
                <p14:modId xmlns:p14="http://schemas.microsoft.com/office/powerpoint/2010/main" val="2334935508"/>
              </p:ext>
            </p:extLst>
          </p:nvPr>
        </p:nvGraphicFramePr>
        <p:xfrm>
          <a:off x="1691680" y="1628800"/>
          <a:ext cx="400050" cy="428625"/>
        </p:xfrm>
        <a:graphic>
          <a:graphicData uri="http://schemas.openxmlformats.org/presentationml/2006/ole">
            <mc:AlternateContent xmlns:mc="http://schemas.openxmlformats.org/markup-compatibility/2006">
              <mc:Choice xmlns:v="urn:schemas-microsoft-com:vml" Requires="v">
                <p:oleObj name="Equation" r:id="rId5" imgW="203024" imgH="215713" progId="Equation.DSMT4">
                  <p:embed/>
                </p:oleObj>
              </mc:Choice>
              <mc:Fallback>
                <p:oleObj name="Equation" r:id="rId5" imgW="203024" imgH="215713"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1680" y="1628800"/>
                        <a:ext cx="400050" cy="428625"/>
                      </a:xfrm>
                      <a:prstGeom prst="rect">
                        <a:avLst/>
                      </a:prstGeom>
                      <a:noFill/>
                    </p:spPr>
                  </p:pic>
                </p:oleObj>
              </mc:Fallback>
            </mc:AlternateContent>
          </a:graphicData>
        </a:graphic>
      </p:graphicFrame>
      <p:graphicFrame>
        <p:nvGraphicFramePr>
          <p:cNvPr id="15" name="对象 14">
            <a:extLst>
              <a:ext uri="{FF2B5EF4-FFF2-40B4-BE49-F238E27FC236}">
                <a16:creationId xmlns:a16="http://schemas.microsoft.com/office/drawing/2014/main" id="{22DFE33D-65AF-0B52-CE56-41E5FFD84E3B}"/>
              </a:ext>
            </a:extLst>
          </p:cNvPr>
          <p:cNvGraphicFramePr>
            <a:graphicFrameLocks noChangeAspect="1"/>
          </p:cNvGraphicFramePr>
          <p:nvPr>
            <p:extLst>
              <p:ext uri="{D42A27DB-BD31-4B8C-83A1-F6EECF244321}">
                <p14:modId xmlns:p14="http://schemas.microsoft.com/office/powerpoint/2010/main" val="3033989237"/>
              </p:ext>
            </p:extLst>
          </p:nvPr>
        </p:nvGraphicFramePr>
        <p:xfrm>
          <a:off x="683568" y="5072980"/>
          <a:ext cx="2814638" cy="876300"/>
        </p:xfrm>
        <a:graphic>
          <a:graphicData uri="http://schemas.openxmlformats.org/presentationml/2006/ole">
            <mc:AlternateContent xmlns:mc="http://schemas.openxmlformats.org/markup-compatibility/2006">
              <mc:Choice xmlns:v="urn:schemas-microsoft-com:vml" Requires="v">
                <p:oleObj name="Equation" r:id="rId7" imgW="1307532" imgH="406224" progId="Equation.DSMT4">
                  <p:embed/>
                </p:oleObj>
              </mc:Choice>
              <mc:Fallback>
                <p:oleObj name="Equation" r:id="rId7" imgW="1307532" imgH="406224"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568" y="5072980"/>
                        <a:ext cx="2814638"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8">
            <a:extLst>
              <a:ext uri="{FF2B5EF4-FFF2-40B4-BE49-F238E27FC236}">
                <a16:creationId xmlns:a16="http://schemas.microsoft.com/office/drawing/2014/main" id="{48D0FEDE-802E-F069-F2CF-9EDAFB2AA78E}"/>
              </a:ext>
            </a:extLst>
          </p:cNvPr>
          <p:cNvSpPr>
            <a:spLocks noChangeArrowheads="1"/>
          </p:cNvSpPr>
          <p:nvPr/>
        </p:nvSpPr>
        <p:spPr bwMode="auto">
          <a:xfrm>
            <a:off x="3498206" y="5280297"/>
            <a:ext cx="49172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异步电机的一相等值电路可变为：</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 name="灯片编号占位符 2">
            <a:extLst>
              <a:ext uri="{FF2B5EF4-FFF2-40B4-BE49-F238E27FC236}">
                <a16:creationId xmlns:a16="http://schemas.microsoft.com/office/drawing/2014/main" id="{EEB812E2-950E-351A-C7ED-2DE4D729890D}"/>
              </a:ext>
            </a:extLst>
          </p:cNvPr>
          <p:cNvSpPr>
            <a:spLocks noGrp="1"/>
          </p:cNvSpPr>
          <p:nvPr>
            <p:ph type="sldNum" sz="quarter" idx="12"/>
          </p:nvPr>
        </p:nvSpPr>
        <p:spPr/>
        <p:txBody>
          <a:bodyPr/>
          <a:lstStyle/>
          <a:p>
            <a:fld id="{76D830B0-DF59-4281-898F-AF208100B213}" type="slidenum">
              <a:rPr lang="en-US" altLang="zh-CN" smtClean="0"/>
              <a:pPr/>
              <a:t>76</a:t>
            </a:fld>
            <a:endParaRPr lang="en-US" altLang="zh-CN"/>
          </a:p>
        </p:txBody>
      </p:sp>
    </p:spTree>
    <p:extLst>
      <p:ext uri="{BB962C8B-B14F-4D97-AF65-F5344CB8AC3E}">
        <p14:creationId xmlns:p14="http://schemas.microsoft.com/office/powerpoint/2010/main" val="21506060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68570BFE-2528-7FEC-616A-F1296843B295}"/>
              </a:ext>
            </a:extLst>
          </p:cNvPr>
          <p:cNvGraphicFramePr>
            <a:graphicFrameLocks noChangeAspect="1"/>
          </p:cNvGraphicFramePr>
          <p:nvPr>
            <p:extLst>
              <p:ext uri="{D42A27DB-BD31-4B8C-83A1-F6EECF244321}">
                <p14:modId xmlns:p14="http://schemas.microsoft.com/office/powerpoint/2010/main" val="1686924325"/>
              </p:ext>
            </p:extLst>
          </p:nvPr>
        </p:nvGraphicFramePr>
        <p:xfrm>
          <a:off x="935831" y="1276797"/>
          <a:ext cx="7272338" cy="2809875"/>
        </p:xfrm>
        <a:graphic>
          <a:graphicData uri="http://schemas.openxmlformats.org/presentationml/2006/ole">
            <mc:AlternateContent xmlns:mc="http://schemas.openxmlformats.org/markup-compatibility/2006">
              <mc:Choice xmlns:v="urn:schemas-microsoft-com:vml" Requires="v">
                <p:oleObj r:id="rId3" imgW="2897188" imgH="1114425" progId="MSDraw">
                  <p:embed/>
                </p:oleObj>
              </mc:Choice>
              <mc:Fallback>
                <p:oleObj r:id="rId3" imgW="2897188" imgH="1114425" progId="MSDraw">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831" y="1276797"/>
                        <a:ext cx="7272338" cy="2809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a:extLst>
              <a:ext uri="{FF2B5EF4-FFF2-40B4-BE49-F238E27FC236}">
                <a16:creationId xmlns:a16="http://schemas.microsoft.com/office/drawing/2014/main" id="{90ADAD42-08F1-1535-D729-D056A8426029}"/>
              </a:ext>
            </a:extLst>
          </p:cNvPr>
          <p:cNvSpPr>
            <a:spLocks noChangeArrowheads="1"/>
          </p:cNvSpPr>
          <p:nvPr/>
        </p:nvSpPr>
        <p:spPr bwMode="auto">
          <a:xfrm>
            <a:off x="910059" y="4583361"/>
            <a:ext cx="165618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其中，</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8" name="对象 7">
            <a:extLst>
              <a:ext uri="{FF2B5EF4-FFF2-40B4-BE49-F238E27FC236}">
                <a16:creationId xmlns:a16="http://schemas.microsoft.com/office/drawing/2014/main" id="{9652F8F0-1BCC-169A-FE70-40F777345E73}"/>
              </a:ext>
            </a:extLst>
          </p:cNvPr>
          <p:cNvGraphicFramePr>
            <a:graphicFrameLocks noChangeAspect="1"/>
          </p:cNvGraphicFramePr>
          <p:nvPr>
            <p:extLst>
              <p:ext uri="{D42A27DB-BD31-4B8C-83A1-F6EECF244321}">
                <p14:modId xmlns:p14="http://schemas.microsoft.com/office/powerpoint/2010/main" val="3745739550"/>
              </p:ext>
            </p:extLst>
          </p:nvPr>
        </p:nvGraphicFramePr>
        <p:xfrm>
          <a:off x="1846163" y="4349998"/>
          <a:ext cx="1185863" cy="923925"/>
        </p:xfrm>
        <a:graphic>
          <a:graphicData uri="http://schemas.openxmlformats.org/presentationml/2006/ole">
            <mc:AlternateContent xmlns:mc="http://schemas.openxmlformats.org/markup-compatibility/2006">
              <mc:Choice xmlns:v="urn:schemas-microsoft-com:vml" Requires="v">
                <p:oleObj name="Equation" r:id="rId5" imgW="495085" imgH="393529" progId="Equation.DSMT4">
                  <p:embed/>
                </p:oleObj>
              </mc:Choice>
              <mc:Fallback>
                <p:oleObj name="Equation" r:id="rId5" imgW="495085" imgH="393529"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6163" y="4349998"/>
                        <a:ext cx="1185863" cy="92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5">
            <a:extLst>
              <a:ext uri="{FF2B5EF4-FFF2-40B4-BE49-F238E27FC236}">
                <a16:creationId xmlns:a16="http://schemas.microsoft.com/office/drawing/2014/main" id="{6438936C-3C0D-FFD2-4B37-42310C6ADDFA}"/>
              </a:ext>
            </a:extLst>
          </p:cNvPr>
          <p:cNvSpPr>
            <a:spLocks noChangeArrowheads="1"/>
          </p:cNvSpPr>
          <p:nvPr/>
        </p:nvSpPr>
        <p:spPr bwMode="auto">
          <a:xfrm>
            <a:off x="3005882" y="4581128"/>
            <a:ext cx="3744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等效电机轴上有功功率。</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灯片编号占位符 3">
            <a:extLst>
              <a:ext uri="{FF2B5EF4-FFF2-40B4-BE49-F238E27FC236}">
                <a16:creationId xmlns:a16="http://schemas.microsoft.com/office/drawing/2014/main" id="{691807FA-F199-CDEF-0F67-E3B63EFBE111}"/>
              </a:ext>
            </a:extLst>
          </p:cNvPr>
          <p:cNvSpPr>
            <a:spLocks noGrp="1"/>
          </p:cNvSpPr>
          <p:nvPr>
            <p:ph type="sldNum" sz="quarter" idx="12"/>
          </p:nvPr>
        </p:nvSpPr>
        <p:spPr/>
        <p:txBody>
          <a:bodyPr/>
          <a:lstStyle/>
          <a:p>
            <a:fld id="{76D830B0-DF59-4281-898F-AF208100B213}" type="slidenum">
              <a:rPr lang="en-US" altLang="zh-CN" smtClean="0"/>
              <a:pPr/>
              <a:t>77</a:t>
            </a:fld>
            <a:endParaRPr lang="en-US" altLang="zh-CN"/>
          </a:p>
        </p:txBody>
      </p:sp>
    </p:spTree>
    <p:extLst>
      <p:ext uri="{BB962C8B-B14F-4D97-AF65-F5344CB8AC3E}">
        <p14:creationId xmlns:p14="http://schemas.microsoft.com/office/powerpoint/2010/main" val="37684030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8E33D31-2CBC-4498-6B7F-9D63495780E9}"/>
              </a:ext>
            </a:extLst>
          </p:cNvPr>
          <p:cNvSpPr txBox="1"/>
          <p:nvPr/>
        </p:nvSpPr>
        <p:spPr>
          <a:xfrm>
            <a:off x="467544" y="971597"/>
            <a:ext cx="3744416" cy="461665"/>
          </a:xfrm>
          <a:prstGeom prst="rect">
            <a:avLst/>
          </a:prstGeom>
          <a:noFill/>
        </p:spPr>
        <p:txBody>
          <a:bodyPr wrap="square">
            <a:spAutoFit/>
          </a:bodyPr>
          <a:lstStyle/>
          <a:p>
            <a:r>
              <a:rPr lang="en-US" altLang="zh-CN" sz="2400" b="1" kern="100" dirty="0">
                <a:solidFill>
                  <a:srgbClr val="0000FF"/>
                </a:solidFill>
                <a:latin typeface="Times New Roman" panose="02020603050405020304" pitchFamily="18" charset="0"/>
                <a:ea typeface="黑体" panose="02010609060101010101" pitchFamily="49" charset="-122"/>
              </a:rPr>
              <a:t>4</a:t>
            </a:r>
            <a:r>
              <a:rPr lang="zh-CN" altLang="zh-CN" sz="2400" b="1" kern="100" dirty="0">
                <a:solidFill>
                  <a:srgbClr val="0000FF"/>
                </a:solidFill>
                <a:effectLst/>
                <a:latin typeface="Times New Roman" panose="02020603050405020304" pitchFamily="18" charset="0"/>
                <a:ea typeface="黑体" panose="02010609060101010101" pitchFamily="49" charset="-122"/>
              </a:rPr>
              <a:t>、</a:t>
            </a:r>
            <a:r>
              <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 n≠0 </a:t>
            </a:r>
            <a:r>
              <a:rPr lang="en-US" altLang="zh-CN" sz="2400" b="1" kern="100" dirty="0">
                <a:solidFill>
                  <a:srgbClr val="0000FF"/>
                </a:solidFill>
                <a:effectLst/>
                <a:latin typeface="Times New Roman" panose="02020603050405020304" pitchFamily="18" charset="0"/>
                <a:ea typeface="黑体" panose="02010609060101010101" pitchFamily="49" charset="-122"/>
              </a:rPr>
              <a:t>T</a:t>
            </a:r>
            <a:r>
              <a:rPr lang="zh-CN" altLang="zh-CN" sz="2400" b="1" kern="100" dirty="0">
                <a:solidFill>
                  <a:srgbClr val="0000FF"/>
                </a:solidFill>
                <a:effectLst/>
                <a:latin typeface="Times New Roman" panose="02020603050405020304" pitchFamily="18" charset="0"/>
                <a:ea typeface="黑体" panose="02010609060101010101" pitchFamily="49" charset="-122"/>
              </a:rPr>
              <a:t>型等值电路</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023E82F9-6AED-CD19-4EA2-5628F423ABFA}"/>
              </a:ext>
            </a:extLst>
          </p:cNvPr>
          <p:cNvSpPr txBox="1"/>
          <p:nvPr/>
        </p:nvSpPr>
        <p:spPr>
          <a:xfrm>
            <a:off x="575556" y="1505124"/>
            <a:ext cx="7992888" cy="830997"/>
          </a:xfrm>
          <a:prstGeom prst="rect">
            <a:avLst/>
          </a:prstGeom>
          <a:noFill/>
        </p:spPr>
        <p:txBody>
          <a:bodyPr wrap="square">
            <a:spAutoFit/>
          </a:bodyPr>
          <a:lstStyle/>
          <a:p>
            <a:pPr algn="l"/>
            <a:r>
              <a:rPr lang="zh-CN" altLang="zh-CN" sz="2400" b="1" kern="100" dirty="0">
                <a:solidFill>
                  <a:srgbClr val="000000"/>
                </a:solidFill>
                <a:effectLst/>
                <a:latin typeface="Times New Roman" panose="02020603050405020304" pitchFamily="18" charset="0"/>
                <a:ea typeface="黑体" panose="02010609060101010101" pitchFamily="49" charset="-122"/>
              </a:rPr>
              <a:t>将转子绕组折算到定子侧（与变压器折算方法同），并</a:t>
            </a:r>
            <a:r>
              <a:rPr lang="zh-CN" altLang="en-US" sz="2400" b="1" kern="100" dirty="0">
                <a:solidFill>
                  <a:srgbClr val="000000"/>
                </a:solidFill>
                <a:effectLst/>
                <a:latin typeface="Times New Roman" panose="02020603050405020304" pitchFamily="18" charset="0"/>
                <a:ea typeface="黑体" panose="02010609060101010101" pitchFamily="49" charset="-122"/>
              </a:rPr>
              <a:t>将定子侧感应电势用阻抗表示为：</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graphicFrame>
        <p:nvGraphicFramePr>
          <p:cNvPr id="10" name="对象 9">
            <a:extLst>
              <a:ext uri="{FF2B5EF4-FFF2-40B4-BE49-F238E27FC236}">
                <a16:creationId xmlns:a16="http://schemas.microsoft.com/office/drawing/2014/main" id="{C9EEA58D-5CB4-4645-D635-FD6D3C7EAA02}"/>
              </a:ext>
            </a:extLst>
          </p:cNvPr>
          <p:cNvGraphicFramePr>
            <a:graphicFrameLocks noChangeAspect="1"/>
          </p:cNvGraphicFramePr>
          <p:nvPr>
            <p:extLst>
              <p:ext uri="{D42A27DB-BD31-4B8C-83A1-F6EECF244321}">
                <p14:modId xmlns:p14="http://schemas.microsoft.com/office/powerpoint/2010/main" val="2163894754"/>
              </p:ext>
            </p:extLst>
          </p:nvPr>
        </p:nvGraphicFramePr>
        <p:xfrm>
          <a:off x="2699792" y="2299238"/>
          <a:ext cx="4478263" cy="740765"/>
        </p:xfrm>
        <a:graphic>
          <a:graphicData uri="http://schemas.openxmlformats.org/presentationml/2006/ole">
            <mc:AlternateContent xmlns:mc="http://schemas.openxmlformats.org/markup-compatibility/2006">
              <mc:Choice xmlns:v="urn:schemas-microsoft-com:vml" Requires="v">
                <p:oleObj name="Equation" r:id="rId3" imgW="1917360" imgH="317160" progId="Equation.DSMT4">
                  <p:embed/>
                </p:oleObj>
              </mc:Choice>
              <mc:Fallback>
                <p:oleObj name="Equation" r:id="rId3" imgW="1917360" imgH="317160" progId="Equation.DSMT4">
                  <p:embed/>
                  <p:pic>
                    <p:nvPicPr>
                      <p:cNvPr id="0" name="Object 1"/>
                      <p:cNvPicPr>
                        <a:picLocks noChangeAspect="1" noChangeArrowheads="1"/>
                      </p:cNvPicPr>
                      <p:nvPr/>
                    </p:nvPicPr>
                    <p:blipFill>
                      <a:blip r:embed="rId4"/>
                      <a:srcRect/>
                      <a:stretch>
                        <a:fillRect/>
                      </a:stretch>
                    </p:blipFill>
                    <p:spPr bwMode="auto">
                      <a:xfrm>
                        <a:off x="2699792" y="2299238"/>
                        <a:ext cx="4478263" cy="740765"/>
                      </a:xfrm>
                      <a:prstGeom prst="rect">
                        <a:avLst/>
                      </a:prstGeom>
                      <a:noFill/>
                    </p:spPr>
                  </p:pic>
                </p:oleObj>
              </mc:Fallback>
            </mc:AlternateContent>
          </a:graphicData>
        </a:graphic>
      </p:graphicFrame>
      <p:sp>
        <p:nvSpPr>
          <p:cNvPr id="12" name="文本框 11">
            <a:extLst>
              <a:ext uri="{FF2B5EF4-FFF2-40B4-BE49-F238E27FC236}">
                <a16:creationId xmlns:a16="http://schemas.microsoft.com/office/drawing/2014/main" id="{304DBB0D-BCB3-B93E-B165-9FFFD8C99B1B}"/>
              </a:ext>
            </a:extLst>
          </p:cNvPr>
          <p:cNvSpPr txBox="1"/>
          <p:nvPr/>
        </p:nvSpPr>
        <p:spPr>
          <a:xfrm>
            <a:off x="575556" y="3340243"/>
            <a:ext cx="4572000" cy="461665"/>
          </a:xfrm>
          <a:prstGeom prst="rect">
            <a:avLst/>
          </a:prstGeom>
          <a:noFill/>
        </p:spPr>
        <p:txBody>
          <a:bodyPr wrap="square">
            <a:spAutoFit/>
          </a:bodyPr>
          <a:lstStyle/>
          <a:p>
            <a:r>
              <a:rPr lang="zh-CN" altLang="en-US"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转子侧</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向定子侧折算：</a:t>
            </a:r>
            <a:endParaRPr lang="zh-CN" altLang="en-US" sz="2400" dirty="0"/>
          </a:p>
        </p:txBody>
      </p:sp>
      <p:graphicFrame>
        <p:nvGraphicFramePr>
          <p:cNvPr id="14" name="对象 13">
            <a:extLst>
              <a:ext uri="{FF2B5EF4-FFF2-40B4-BE49-F238E27FC236}">
                <a16:creationId xmlns:a16="http://schemas.microsoft.com/office/drawing/2014/main" id="{88695C71-B393-709B-E320-C56E71EF4242}"/>
              </a:ext>
            </a:extLst>
          </p:cNvPr>
          <p:cNvGraphicFramePr>
            <a:graphicFrameLocks noChangeAspect="1"/>
          </p:cNvGraphicFramePr>
          <p:nvPr>
            <p:extLst>
              <p:ext uri="{D42A27DB-BD31-4B8C-83A1-F6EECF244321}">
                <p14:modId xmlns:p14="http://schemas.microsoft.com/office/powerpoint/2010/main" val="1361273948"/>
              </p:ext>
            </p:extLst>
          </p:nvPr>
        </p:nvGraphicFramePr>
        <p:xfrm>
          <a:off x="3936973" y="3123568"/>
          <a:ext cx="2944813" cy="1130300"/>
        </p:xfrm>
        <a:graphic>
          <a:graphicData uri="http://schemas.openxmlformats.org/presentationml/2006/ole">
            <mc:AlternateContent xmlns:mc="http://schemas.openxmlformats.org/markup-compatibility/2006">
              <mc:Choice xmlns:v="urn:schemas-microsoft-com:vml" Requires="v">
                <p:oleObj name="Equation" r:id="rId5" imgW="1346040" imgH="520560" progId="Equation.DSMT4">
                  <p:embed/>
                </p:oleObj>
              </mc:Choice>
              <mc:Fallback>
                <p:oleObj name="Equation" r:id="rId5" imgW="1346040" imgH="520560" progId="Equation.DSMT4">
                  <p:embed/>
                  <p:pic>
                    <p:nvPicPr>
                      <p:cNvPr id="0" name="Object 3"/>
                      <p:cNvPicPr>
                        <a:picLocks noChangeAspect="1" noChangeArrowheads="1"/>
                      </p:cNvPicPr>
                      <p:nvPr/>
                    </p:nvPicPr>
                    <p:blipFill>
                      <a:blip r:embed="rId6"/>
                      <a:srcRect/>
                      <a:stretch>
                        <a:fillRect/>
                      </a:stretch>
                    </p:blipFill>
                    <p:spPr bwMode="auto">
                      <a:xfrm>
                        <a:off x="3936973" y="3123568"/>
                        <a:ext cx="2944813" cy="1130300"/>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41266FDF-A592-B63D-85E4-DC044C5DCC2E}"/>
              </a:ext>
            </a:extLst>
          </p:cNvPr>
          <p:cNvGraphicFramePr>
            <a:graphicFrameLocks noChangeAspect="1"/>
          </p:cNvGraphicFramePr>
          <p:nvPr>
            <p:extLst>
              <p:ext uri="{D42A27DB-BD31-4B8C-83A1-F6EECF244321}">
                <p14:modId xmlns:p14="http://schemas.microsoft.com/office/powerpoint/2010/main" val="2530844403"/>
              </p:ext>
            </p:extLst>
          </p:nvPr>
        </p:nvGraphicFramePr>
        <p:xfrm>
          <a:off x="2339752" y="4979069"/>
          <a:ext cx="6048375" cy="889000"/>
        </p:xfrm>
        <a:graphic>
          <a:graphicData uri="http://schemas.openxmlformats.org/presentationml/2006/ole">
            <mc:AlternateContent xmlns:mc="http://schemas.openxmlformats.org/markup-compatibility/2006">
              <mc:Choice xmlns:v="urn:schemas-microsoft-com:vml" Requires="v">
                <p:oleObj name="Equation" r:id="rId7" imgW="2869920" imgH="419040" progId="Equation.DSMT4">
                  <p:embed/>
                </p:oleObj>
              </mc:Choice>
              <mc:Fallback>
                <p:oleObj name="Equation" r:id="rId7" imgW="2869920" imgH="419040" progId="Equation.DSMT4">
                  <p:embed/>
                  <p:pic>
                    <p:nvPicPr>
                      <p:cNvPr id="0" name="Object 5"/>
                      <p:cNvPicPr>
                        <a:picLocks noChangeAspect="1" noChangeArrowheads="1"/>
                      </p:cNvPicPr>
                      <p:nvPr/>
                    </p:nvPicPr>
                    <p:blipFill>
                      <a:blip r:embed="rId8"/>
                      <a:srcRect/>
                      <a:stretch>
                        <a:fillRect/>
                      </a:stretch>
                    </p:blipFill>
                    <p:spPr bwMode="auto">
                      <a:xfrm>
                        <a:off x="2339752" y="4979069"/>
                        <a:ext cx="6048375" cy="889000"/>
                      </a:xfrm>
                      <a:prstGeom prst="rect">
                        <a:avLst/>
                      </a:prstGeom>
                      <a:noFill/>
                    </p:spPr>
                  </p:pic>
                </p:oleObj>
              </mc:Fallback>
            </mc:AlternateContent>
          </a:graphicData>
        </a:graphic>
      </p:graphicFrame>
      <p:sp>
        <p:nvSpPr>
          <p:cNvPr id="17" name="文本框 16">
            <a:extLst>
              <a:ext uri="{FF2B5EF4-FFF2-40B4-BE49-F238E27FC236}">
                <a16:creationId xmlns:a16="http://schemas.microsoft.com/office/drawing/2014/main" id="{961ABE56-CA43-9863-BF06-272FAEE88336}"/>
              </a:ext>
            </a:extLst>
          </p:cNvPr>
          <p:cNvSpPr txBox="1"/>
          <p:nvPr/>
        </p:nvSpPr>
        <p:spPr>
          <a:xfrm>
            <a:off x="575556" y="4603216"/>
            <a:ext cx="4572000" cy="461665"/>
          </a:xfrm>
          <a:prstGeom prst="rect">
            <a:avLst/>
          </a:prstGeom>
          <a:noFill/>
        </p:spPr>
        <p:txBody>
          <a:bodyPr wrap="square">
            <a:spAutoFit/>
          </a:bodyPr>
          <a:lstStyle/>
          <a:p>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定</a:t>
            </a:r>
            <a:r>
              <a:rPr lang="zh-CN" altLang="en-US"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、转</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子侧折算</a:t>
            </a:r>
            <a:r>
              <a:rPr lang="zh-CN" altLang="en-US"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后方程</a:t>
            </a:r>
            <a:r>
              <a:rPr lang="zh-CN" altLang="zh-CN" sz="24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p>
        </p:txBody>
      </p:sp>
      <p:graphicFrame>
        <p:nvGraphicFramePr>
          <p:cNvPr id="20" name="对象 19">
            <a:extLst>
              <a:ext uri="{FF2B5EF4-FFF2-40B4-BE49-F238E27FC236}">
                <a16:creationId xmlns:a16="http://schemas.microsoft.com/office/drawing/2014/main" id="{9DA3E462-AF5E-9045-3F19-2D4146195609}"/>
              </a:ext>
            </a:extLst>
          </p:cNvPr>
          <p:cNvGraphicFramePr>
            <a:graphicFrameLocks noChangeAspect="1"/>
          </p:cNvGraphicFramePr>
          <p:nvPr>
            <p:extLst>
              <p:ext uri="{D42A27DB-BD31-4B8C-83A1-F6EECF244321}">
                <p14:modId xmlns:p14="http://schemas.microsoft.com/office/powerpoint/2010/main" val="630566699"/>
              </p:ext>
            </p:extLst>
          </p:nvPr>
        </p:nvGraphicFramePr>
        <p:xfrm>
          <a:off x="2765512" y="5612358"/>
          <a:ext cx="4764088" cy="728663"/>
        </p:xfrm>
        <a:graphic>
          <a:graphicData uri="http://schemas.openxmlformats.org/presentationml/2006/ole">
            <mc:AlternateContent xmlns:mc="http://schemas.openxmlformats.org/markup-compatibility/2006">
              <mc:Choice xmlns:v="urn:schemas-microsoft-com:vml" Requires="v">
                <p:oleObj name="Equation" r:id="rId9" imgW="2260440" imgH="342720" progId="Equation.DSMT4">
                  <p:embed/>
                </p:oleObj>
              </mc:Choice>
              <mc:Fallback>
                <p:oleObj name="Equation" r:id="rId9" imgW="2260440" imgH="342720" progId="Equation.DSMT4">
                  <p:embed/>
                  <p:pic>
                    <p:nvPicPr>
                      <p:cNvPr id="16" name="对象 15">
                        <a:extLst>
                          <a:ext uri="{FF2B5EF4-FFF2-40B4-BE49-F238E27FC236}">
                            <a16:creationId xmlns:a16="http://schemas.microsoft.com/office/drawing/2014/main" id="{41266FDF-A592-B63D-85E4-DC044C5DCC2E}"/>
                          </a:ext>
                        </a:extLst>
                      </p:cNvPr>
                      <p:cNvPicPr>
                        <a:picLocks noChangeAspect="1" noChangeArrowheads="1"/>
                      </p:cNvPicPr>
                      <p:nvPr/>
                    </p:nvPicPr>
                    <p:blipFill>
                      <a:blip r:embed="rId10"/>
                      <a:srcRect/>
                      <a:stretch>
                        <a:fillRect/>
                      </a:stretch>
                    </p:blipFill>
                    <p:spPr bwMode="auto">
                      <a:xfrm>
                        <a:off x="2765512" y="5612358"/>
                        <a:ext cx="4764088" cy="728663"/>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6C9706C1-140C-33AB-6A1A-630DFF92C40C}"/>
              </a:ext>
            </a:extLst>
          </p:cNvPr>
          <p:cNvGraphicFramePr>
            <a:graphicFrameLocks noChangeAspect="1"/>
          </p:cNvGraphicFramePr>
          <p:nvPr>
            <p:extLst>
              <p:ext uri="{D42A27DB-BD31-4B8C-83A1-F6EECF244321}">
                <p14:modId xmlns:p14="http://schemas.microsoft.com/office/powerpoint/2010/main" val="1890890979"/>
              </p:ext>
            </p:extLst>
          </p:nvPr>
        </p:nvGraphicFramePr>
        <p:xfrm>
          <a:off x="3936973" y="4129345"/>
          <a:ext cx="3168651" cy="522287"/>
        </p:xfrm>
        <a:graphic>
          <a:graphicData uri="http://schemas.openxmlformats.org/presentationml/2006/ole">
            <mc:AlternateContent xmlns:mc="http://schemas.openxmlformats.org/markup-compatibility/2006">
              <mc:Choice xmlns:v="urn:schemas-microsoft-com:vml" Requires="v">
                <p:oleObj name="Equation" r:id="rId11" imgW="1447560" imgH="241200" progId="Equation.DSMT4">
                  <p:embed/>
                </p:oleObj>
              </mc:Choice>
              <mc:Fallback>
                <p:oleObj name="Equation" r:id="rId11" imgW="1447560" imgH="241200" progId="Equation.DSMT4">
                  <p:embed/>
                  <p:pic>
                    <p:nvPicPr>
                      <p:cNvPr id="14" name="对象 13">
                        <a:extLst>
                          <a:ext uri="{FF2B5EF4-FFF2-40B4-BE49-F238E27FC236}">
                            <a16:creationId xmlns:a16="http://schemas.microsoft.com/office/drawing/2014/main" id="{88695C71-B393-709B-E320-C56E71EF4242}"/>
                          </a:ext>
                        </a:extLst>
                      </p:cNvPr>
                      <p:cNvPicPr>
                        <a:picLocks noChangeAspect="1" noChangeArrowheads="1"/>
                      </p:cNvPicPr>
                      <p:nvPr/>
                    </p:nvPicPr>
                    <p:blipFill>
                      <a:blip r:embed="rId12"/>
                      <a:srcRect/>
                      <a:stretch>
                        <a:fillRect/>
                      </a:stretch>
                    </p:blipFill>
                    <p:spPr bwMode="auto">
                      <a:xfrm>
                        <a:off x="3936973" y="4129345"/>
                        <a:ext cx="3168651" cy="522287"/>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F0A0965C-EB9F-06B7-CC3F-08908417A9E4}"/>
              </a:ext>
            </a:extLst>
          </p:cNvPr>
          <p:cNvSpPr>
            <a:spLocks noGrp="1"/>
          </p:cNvSpPr>
          <p:nvPr>
            <p:ph type="sldNum" sz="quarter" idx="12"/>
          </p:nvPr>
        </p:nvSpPr>
        <p:spPr/>
        <p:txBody>
          <a:bodyPr/>
          <a:lstStyle/>
          <a:p>
            <a:fld id="{76D830B0-DF59-4281-898F-AF208100B213}" type="slidenum">
              <a:rPr lang="en-US" altLang="zh-CN" smtClean="0"/>
              <a:pPr/>
              <a:t>78</a:t>
            </a:fld>
            <a:endParaRPr lang="en-US" altLang="zh-CN"/>
          </a:p>
        </p:txBody>
      </p:sp>
    </p:spTree>
    <p:extLst>
      <p:ext uri="{BB962C8B-B14F-4D97-AF65-F5344CB8AC3E}">
        <p14:creationId xmlns:p14="http://schemas.microsoft.com/office/powerpoint/2010/main" val="7153249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E436B05-80A3-3C1F-329E-153A7BD0C682}"/>
              </a:ext>
            </a:extLst>
          </p:cNvPr>
          <p:cNvSpPr txBox="1"/>
          <p:nvPr/>
        </p:nvSpPr>
        <p:spPr>
          <a:xfrm>
            <a:off x="683568" y="1124744"/>
            <a:ext cx="4572000" cy="461665"/>
          </a:xfrm>
          <a:prstGeom prst="rect">
            <a:avLst/>
          </a:prstGeom>
          <a:noFill/>
        </p:spPr>
        <p:txBody>
          <a:bodyPr wrap="square">
            <a:spAutoFit/>
          </a:bodyPr>
          <a:lstStyle/>
          <a:p>
            <a:pPr algn="l"/>
            <a:r>
              <a:rPr lang="zh-CN" altLang="en-US" sz="2400" b="1" kern="100" dirty="0">
                <a:solidFill>
                  <a:srgbClr val="000000"/>
                </a:solidFill>
                <a:effectLst/>
                <a:latin typeface="Times New Roman" panose="02020603050405020304" pitchFamily="18" charset="0"/>
                <a:ea typeface="黑体" panose="02010609060101010101" pitchFamily="49" charset="-122"/>
              </a:rPr>
              <a:t>异步电动机</a:t>
            </a:r>
            <a:r>
              <a:rPr lang="zh-CN" altLang="zh-CN" sz="2400" b="1" kern="100" dirty="0">
                <a:solidFill>
                  <a:srgbClr val="000000"/>
                </a:solidFill>
                <a:effectLst/>
                <a:latin typeface="Times New Roman" panose="02020603050405020304" pitchFamily="18" charset="0"/>
                <a:ea typeface="黑体" panose="02010609060101010101" pitchFamily="49" charset="-122"/>
              </a:rPr>
              <a:t>等值电路和相量图：</a:t>
            </a:r>
            <a:endParaRPr lang="zh-CN" altLang="zh-CN" sz="1600" b="1" kern="100" dirty="0">
              <a:solidFill>
                <a:srgbClr val="FF00FF"/>
              </a:solidFill>
              <a:effectLst/>
              <a:latin typeface="Times New Roman" panose="02020603050405020304" pitchFamily="18" charset="0"/>
              <a:ea typeface="宋体" panose="02010600030101010101" pitchFamily="2" charset="-122"/>
            </a:endParaRPr>
          </a:p>
        </p:txBody>
      </p:sp>
      <p:graphicFrame>
        <p:nvGraphicFramePr>
          <p:cNvPr id="7" name="对象 6">
            <a:extLst>
              <a:ext uri="{FF2B5EF4-FFF2-40B4-BE49-F238E27FC236}">
                <a16:creationId xmlns:a16="http://schemas.microsoft.com/office/drawing/2014/main" id="{C0C10152-2BCE-A7CC-EBC6-8050CA999E2C}"/>
              </a:ext>
            </a:extLst>
          </p:cNvPr>
          <p:cNvGraphicFramePr>
            <a:graphicFrameLocks noChangeAspect="1"/>
          </p:cNvGraphicFramePr>
          <p:nvPr>
            <p:extLst>
              <p:ext uri="{D42A27DB-BD31-4B8C-83A1-F6EECF244321}">
                <p14:modId xmlns:p14="http://schemas.microsoft.com/office/powerpoint/2010/main" val="3809598161"/>
              </p:ext>
            </p:extLst>
          </p:nvPr>
        </p:nvGraphicFramePr>
        <p:xfrm>
          <a:off x="1547664" y="1772816"/>
          <a:ext cx="6243638" cy="3443288"/>
        </p:xfrm>
        <a:graphic>
          <a:graphicData uri="http://schemas.openxmlformats.org/presentationml/2006/ole">
            <mc:AlternateContent xmlns:mc="http://schemas.openxmlformats.org/markup-compatibility/2006">
              <mc:Choice xmlns:v="urn:schemas-microsoft-com:vml" Requires="v">
                <p:oleObj r:id="rId3" imgW="3282950" imgH="1814513" progId="MSDraw">
                  <p:embed/>
                </p:oleObj>
              </mc:Choice>
              <mc:Fallback>
                <p:oleObj r:id="rId3" imgW="3282950" imgH="1814513" progId="MSDraw">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772816"/>
                        <a:ext cx="6243638" cy="3443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文本框 8">
            <a:extLst>
              <a:ext uri="{FF2B5EF4-FFF2-40B4-BE49-F238E27FC236}">
                <a16:creationId xmlns:a16="http://schemas.microsoft.com/office/drawing/2014/main" id="{FDA2D14C-3586-11EA-3D99-F3726D77582C}"/>
              </a:ext>
            </a:extLst>
          </p:cNvPr>
          <p:cNvSpPr txBox="1"/>
          <p:nvPr/>
        </p:nvSpPr>
        <p:spPr>
          <a:xfrm>
            <a:off x="467544" y="5313982"/>
            <a:ext cx="8316416" cy="461665"/>
          </a:xfrm>
          <a:prstGeom prst="rect">
            <a:avLst/>
          </a:prstGeom>
          <a:noFill/>
        </p:spPr>
        <p:txBody>
          <a:bodyPr wrap="square">
            <a:spAutoFit/>
          </a:bodyPr>
          <a:lstStyle/>
          <a:p>
            <a:pPr marL="342900" indent="-342900">
              <a:buFont typeface="Arial" panose="020B0604020202020204" pitchFamily="34" charset="0"/>
              <a:buChar char="•"/>
            </a:pP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前述</a:t>
            </a:r>
            <a:r>
              <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n=0</a:t>
            </a: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时的异步电动机等值电路是一种特例情况，即</a:t>
            </a:r>
            <a:r>
              <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s=1</a:t>
            </a: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400" dirty="0"/>
          </a:p>
        </p:txBody>
      </p:sp>
      <p:sp>
        <p:nvSpPr>
          <p:cNvPr id="11" name="文本框 10">
            <a:extLst>
              <a:ext uri="{FF2B5EF4-FFF2-40B4-BE49-F238E27FC236}">
                <a16:creationId xmlns:a16="http://schemas.microsoft.com/office/drawing/2014/main" id="{263A96F5-192E-625C-9F3A-EDE6B6CE6BFE}"/>
              </a:ext>
            </a:extLst>
          </p:cNvPr>
          <p:cNvSpPr txBox="1"/>
          <p:nvPr/>
        </p:nvSpPr>
        <p:spPr>
          <a:xfrm>
            <a:off x="467048" y="5805264"/>
            <a:ext cx="7835874" cy="461665"/>
          </a:xfrm>
          <a:prstGeom prst="rect">
            <a:avLst/>
          </a:prstGeom>
          <a:noFill/>
        </p:spPr>
        <p:txBody>
          <a:bodyPr wrap="square">
            <a:spAutoFit/>
          </a:bodyPr>
          <a:lstStyle/>
          <a:p>
            <a:pPr marL="342900" indent="-342900" algn="just">
              <a:buFont typeface="Arial" panose="020B0604020202020204" pitchFamily="34" charset="0"/>
              <a:buChar char="•"/>
            </a:pPr>
            <a:r>
              <a:rPr lang="zh-CN" altLang="zh-CN" sz="2400" b="1" kern="100" dirty="0">
                <a:solidFill>
                  <a:srgbClr val="0000FF"/>
                </a:solidFill>
                <a:effectLst/>
                <a:latin typeface="Times New Roman" panose="02020603050405020304" pitchFamily="18" charset="0"/>
                <a:ea typeface="黑体" panose="02010609060101010101" pitchFamily="49" charset="-122"/>
              </a:rPr>
              <a:t>忽略</a:t>
            </a:r>
            <a:r>
              <a:rPr lang="en-US" altLang="zh-CN" sz="2400" b="1" kern="100" dirty="0">
                <a:solidFill>
                  <a:srgbClr val="0000FF"/>
                </a:solidFill>
                <a:effectLst/>
                <a:latin typeface="Times New Roman" panose="02020603050405020304" pitchFamily="18" charset="0"/>
                <a:ea typeface="黑体" panose="02010609060101010101" pitchFamily="49" charset="-122"/>
              </a:rPr>
              <a:t>R</a:t>
            </a:r>
            <a:r>
              <a:rPr lang="en-US" altLang="zh-CN" sz="2400" b="1" kern="100" baseline="-25000" dirty="0">
                <a:solidFill>
                  <a:srgbClr val="0000FF"/>
                </a:solidFill>
                <a:effectLst/>
                <a:latin typeface="Times New Roman" panose="02020603050405020304" pitchFamily="18" charset="0"/>
                <a:ea typeface="黑体" panose="02010609060101010101" pitchFamily="49" charset="-122"/>
              </a:rPr>
              <a:t>m</a:t>
            </a:r>
            <a:r>
              <a:rPr lang="zh-CN" altLang="zh-CN" sz="2400" b="1" kern="100" dirty="0">
                <a:solidFill>
                  <a:srgbClr val="0000FF"/>
                </a:solidFill>
                <a:effectLst/>
                <a:latin typeface="Times New Roman" panose="02020603050405020304" pitchFamily="18" charset="0"/>
                <a:ea typeface="黑体" panose="02010609060101010101" pitchFamily="49" charset="-122"/>
              </a:rPr>
              <a:t>的</a:t>
            </a:r>
            <a:r>
              <a:rPr lang="en-US" altLang="zh-CN" sz="2400" b="1" kern="100" dirty="0">
                <a:solidFill>
                  <a:srgbClr val="0000FF"/>
                </a:solidFill>
                <a:effectLst/>
                <a:latin typeface="Times New Roman" panose="02020603050405020304" pitchFamily="18" charset="0"/>
                <a:ea typeface="黑体" panose="02010609060101010101" pitchFamily="49" charset="-122"/>
              </a:rPr>
              <a:t>T</a:t>
            </a:r>
            <a:r>
              <a:rPr lang="zh-CN" altLang="zh-CN" sz="2400" b="1" kern="100" dirty="0">
                <a:solidFill>
                  <a:srgbClr val="0000FF"/>
                </a:solidFill>
                <a:effectLst/>
                <a:latin typeface="Times New Roman" panose="02020603050405020304" pitchFamily="18" charset="0"/>
                <a:ea typeface="黑体" panose="02010609060101010101" pitchFamily="49" charset="-122"/>
              </a:rPr>
              <a:t>形等值电路〖现代交流调速系统分析常用〗</a:t>
            </a:r>
            <a:endParaRPr lang="zh-CN" altLang="zh-CN" sz="1600" b="1" kern="100" dirty="0">
              <a:solidFill>
                <a:srgbClr val="FF00FF"/>
              </a:solidFill>
              <a:effectLst/>
              <a:latin typeface="Times New Roman" panose="02020603050405020304" pitchFamily="18" charset="0"/>
              <a:ea typeface="宋体" panose="02010600030101010101" pitchFamily="2" charset="-122"/>
            </a:endParaRPr>
          </a:p>
        </p:txBody>
      </p:sp>
      <p:sp>
        <p:nvSpPr>
          <p:cNvPr id="3" name="灯片编号占位符 2">
            <a:extLst>
              <a:ext uri="{FF2B5EF4-FFF2-40B4-BE49-F238E27FC236}">
                <a16:creationId xmlns:a16="http://schemas.microsoft.com/office/drawing/2014/main" id="{8418C513-51B9-9794-7929-99C5CE73E8F6}"/>
              </a:ext>
            </a:extLst>
          </p:cNvPr>
          <p:cNvSpPr>
            <a:spLocks noGrp="1"/>
          </p:cNvSpPr>
          <p:nvPr>
            <p:ph type="sldNum" sz="quarter" idx="12"/>
          </p:nvPr>
        </p:nvSpPr>
        <p:spPr/>
        <p:txBody>
          <a:bodyPr/>
          <a:lstStyle/>
          <a:p>
            <a:fld id="{76D830B0-DF59-4281-898F-AF208100B213}" type="slidenum">
              <a:rPr lang="en-US" altLang="zh-CN" smtClean="0"/>
              <a:pPr/>
              <a:t>79</a:t>
            </a:fld>
            <a:endParaRPr lang="en-US" altLang="zh-CN"/>
          </a:p>
        </p:txBody>
      </p:sp>
    </p:spTree>
    <p:extLst>
      <p:ext uri="{BB962C8B-B14F-4D97-AF65-F5344CB8AC3E}">
        <p14:creationId xmlns:p14="http://schemas.microsoft.com/office/powerpoint/2010/main" val="24248968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D6C60597-2CB2-F4A6-9636-19FE7ACFEE5B}"/>
              </a:ext>
            </a:extLst>
          </p:cNvPr>
          <p:cNvGraphicFramePr>
            <a:graphicFrameLocks noChangeAspect="1"/>
          </p:cNvGraphicFramePr>
          <p:nvPr>
            <p:extLst>
              <p:ext uri="{D42A27DB-BD31-4B8C-83A1-F6EECF244321}">
                <p14:modId xmlns:p14="http://schemas.microsoft.com/office/powerpoint/2010/main" val="2750135415"/>
              </p:ext>
            </p:extLst>
          </p:nvPr>
        </p:nvGraphicFramePr>
        <p:xfrm>
          <a:off x="899592" y="836712"/>
          <a:ext cx="7416824" cy="5814288"/>
        </p:xfrm>
        <a:graphic>
          <a:graphicData uri="http://schemas.openxmlformats.org/presentationml/2006/ole">
            <mc:AlternateContent xmlns:mc="http://schemas.openxmlformats.org/markup-compatibility/2006">
              <mc:Choice xmlns:v="urn:schemas-microsoft-com:vml" Requires="v">
                <p:oleObj r:id="rId3" imgW="3657600" imgH="3821113" progId="MSDraw">
                  <p:embed/>
                </p:oleObj>
              </mc:Choice>
              <mc:Fallback>
                <p:oleObj r:id="rId3" imgW="3657600" imgH="3821113" progId="MSDraw">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836712"/>
                        <a:ext cx="7416824" cy="5814288"/>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AFE84FAE-6FA2-E5E3-2DD4-821364024C6A}"/>
              </a:ext>
            </a:extLst>
          </p:cNvPr>
          <p:cNvSpPr>
            <a:spLocks noGrp="1"/>
          </p:cNvSpPr>
          <p:nvPr>
            <p:ph type="sldNum" sz="quarter" idx="12"/>
          </p:nvPr>
        </p:nvSpPr>
        <p:spPr/>
        <p:txBody>
          <a:bodyPr/>
          <a:lstStyle/>
          <a:p>
            <a:fld id="{76D830B0-DF59-4281-898F-AF208100B213}" type="slidenum">
              <a:rPr lang="en-US" altLang="zh-CN" smtClean="0"/>
              <a:pPr/>
              <a:t>80</a:t>
            </a:fld>
            <a:endParaRPr lang="en-US" altLang="zh-CN"/>
          </a:p>
        </p:txBody>
      </p:sp>
    </p:spTree>
    <p:extLst>
      <p:ext uri="{BB962C8B-B14F-4D97-AF65-F5344CB8AC3E}">
        <p14:creationId xmlns:p14="http://schemas.microsoft.com/office/powerpoint/2010/main" val="8789345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E3B2CB2-4BC0-64E1-FCE9-D89CD06AF013}"/>
              </a:ext>
            </a:extLst>
          </p:cNvPr>
          <p:cNvSpPr>
            <a:spLocks noChangeArrowheads="1"/>
          </p:cNvSpPr>
          <p:nvPr/>
        </p:nvSpPr>
        <p:spPr bwMode="auto">
          <a:xfrm>
            <a:off x="611560" y="1001317"/>
            <a:ext cx="784887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关于</a:t>
            </a: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的讨论：</a:t>
            </a: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定子旋转磁场转速</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又称同步转速即异步电动机的理想空载转速</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，表示为：</a:t>
            </a:r>
            <a:endPar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4" name="对象 3">
            <a:extLst>
              <a:ext uri="{FF2B5EF4-FFF2-40B4-BE49-F238E27FC236}">
                <a16:creationId xmlns:a16="http://schemas.microsoft.com/office/drawing/2014/main" id="{574B3E9E-18F7-3574-4DC1-6FF25C1909AB}"/>
              </a:ext>
            </a:extLst>
          </p:cNvPr>
          <p:cNvGraphicFramePr>
            <a:graphicFrameLocks noChangeAspect="1"/>
          </p:cNvGraphicFramePr>
          <p:nvPr>
            <p:extLst>
              <p:ext uri="{D42A27DB-BD31-4B8C-83A1-F6EECF244321}">
                <p14:modId xmlns:p14="http://schemas.microsoft.com/office/powerpoint/2010/main" val="656775833"/>
              </p:ext>
            </p:extLst>
          </p:nvPr>
        </p:nvGraphicFramePr>
        <p:xfrm>
          <a:off x="1331640" y="908720"/>
          <a:ext cx="395288" cy="533400"/>
        </p:xfrm>
        <a:graphic>
          <a:graphicData uri="http://schemas.openxmlformats.org/presentationml/2006/ole">
            <mc:AlternateContent xmlns:mc="http://schemas.openxmlformats.org/markup-compatibility/2006">
              <mc:Choice xmlns:v="urn:schemas-microsoft-com:vml" Requires="v">
                <p:oleObj name="Equation" r:id="rId3" imgW="177646" imgH="241091" progId="Equation.DSMT4">
                  <p:embed/>
                </p:oleObj>
              </mc:Choice>
              <mc:Fallback>
                <p:oleObj name="Equation" r:id="rId3" imgW="177646" imgH="241091"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908720"/>
                        <a:ext cx="395288"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8E110D29-A498-ED71-F5F4-F3FBBDB3BB2A}"/>
              </a:ext>
            </a:extLst>
          </p:cNvPr>
          <p:cNvGraphicFramePr>
            <a:graphicFrameLocks noChangeAspect="1"/>
          </p:cNvGraphicFramePr>
          <p:nvPr>
            <p:extLst>
              <p:ext uri="{D42A27DB-BD31-4B8C-83A1-F6EECF244321}">
                <p14:modId xmlns:p14="http://schemas.microsoft.com/office/powerpoint/2010/main" val="811964120"/>
              </p:ext>
            </p:extLst>
          </p:nvPr>
        </p:nvGraphicFramePr>
        <p:xfrm>
          <a:off x="5292080" y="1396093"/>
          <a:ext cx="1547813" cy="482600"/>
        </p:xfrm>
        <a:graphic>
          <a:graphicData uri="http://schemas.openxmlformats.org/presentationml/2006/ole">
            <mc:AlternateContent xmlns:mc="http://schemas.openxmlformats.org/markup-compatibility/2006">
              <mc:Choice xmlns:v="urn:schemas-microsoft-com:vml" Requires="v">
                <p:oleObj name="Equation" r:id="rId5" imgW="761760" imgH="241200" progId="Equation.DSMT4">
                  <p:embed/>
                </p:oleObj>
              </mc:Choice>
              <mc:Fallback>
                <p:oleObj name="Equation" r:id="rId5" imgW="761760" imgH="241200" progId="Equation.DSMT4">
                  <p:embed/>
                  <p:pic>
                    <p:nvPicPr>
                      <p:cNvPr id="0" name="Object 4"/>
                      <p:cNvPicPr>
                        <a:picLocks noChangeAspect="1" noChangeArrowheads="1"/>
                      </p:cNvPicPr>
                      <p:nvPr/>
                    </p:nvPicPr>
                    <p:blipFill>
                      <a:blip r:embed="rId6"/>
                      <a:srcRect/>
                      <a:stretch>
                        <a:fillRect/>
                      </a:stretch>
                    </p:blipFill>
                    <p:spPr bwMode="auto">
                      <a:xfrm>
                        <a:off x="5292080" y="1396093"/>
                        <a:ext cx="1547813"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文本框 8">
            <a:extLst>
              <a:ext uri="{FF2B5EF4-FFF2-40B4-BE49-F238E27FC236}">
                <a16:creationId xmlns:a16="http://schemas.microsoft.com/office/drawing/2014/main" id="{70C94FF0-FA67-2835-809D-1CFBE7CF9E8B}"/>
              </a:ext>
            </a:extLst>
          </p:cNvPr>
          <p:cNvSpPr txBox="1"/>
          <p:nvPr/>
        </p:nvSpPr>
        <p:spPr>
          <a:xfrm>
            <a:off x="624762" y="1916832"/>
            <a:ext cx="7848872" cy="830997"/>
          </a:xfrm>
          <a:prstGeom prst="rect">
            <a:avLst/>
          </a:prstGeom>
          <a:noFill/>
        </p:spPr>
        <p:txBody>
          <a:bodyPr wrap="square">
            <a:spAutoFit/>
          </a:bodyPr>
          <a:lstStyle/>
          <a:p>
            <a:pPr algn="just"/>
            <a:r>
              <a:rPr lang="zh-CN" altLang="zh-CN" sz="2400" b="1" kern="100" dirty="0">
                <a:solidFill>
                  <a:srgbClr val="000000"/>
                </a:solidFill>
                <a:effectLst/>
                <a:latin typeface="Times New Roman" panose="02020603050405020304" pitchFamily="18" charset="0"/>
                <a:ea typeface="黑体" panose="02010609060101010101" pitchFamily="49" charset="-122"/>
              </a:rPr>
              <a:t>在非变频控制条件下，因我国普遍采用</a:t>
            </a:r>
            <a:r>
              <a:rPr lang="en-US" altLang="zh-CN" sz="2400" b="1" kern="100" dirty="0">
                <a:solidFill>
                  <a:srgbClr val="000000"/>
                </a:solidFill>
                <a:effectLst/>
                <a:latin typeface="Times New Roman" panose="02020603050405020304" pitchFamily="18" charset="0"/>
                <a:ea typeface="黑体" panose="02010609060101010101" pitchFamily="49" charset="-122"/>
              </a:rPr>
              <a:t>50Hz</a:t>
            </a:r>
            <a:r>
              <a:rPr lang="zh-CN" altLang="zh-CN" sz="2400" b="1" kern="100" dirty="0">
                <a:solidFill>
                  <a:srgbClr val="000000"/>
                </a:solidFill>
                <a:effectLst/>
                <a:latin typeface="Times New Roman" panose="02020603050405020304" pitchFamily="18" charset="0"/>
                <a:ea typeface="黑体" panose="02010609060101010101" pitchFamily="49" charset="-122"/>
              </a:rPr>
              <a:t>电源，磁极对数</a:t>
            </a:r>
            <a:r>
              <a:rPr lang="en-US" altLang="zh-CN" sz="2400" b="1" kern="100" dirty="0">
                <a:solidFill>
                  <a:srgbClr val="000000"/>
                </a:solidFill>
                <a:effectLst/>
                <a:latin typeface="Times New Roman" panose="02020603050405020304" pitchFamily="18" charset="0"/>
                <a:ea typeface="黑体" panose="02010609060101010101" pitchFamily="49" charset="-122"/>
              </a:rPr>
              <a:t>p</a:t>
            </a:r>
            <a:r>
              <a:rPr lang="zh-CN" altLang="zh-CN" sz="2400" b="1" kern="100" dirty="0">
                <a:solidFill>
                  <a:srgbClr val="000000"/>
                </a:solidFill>
                <a:effectLst/>
                <a:latin typeface="Times New Roman" panose="02020603050405020304" pitchFamily="18" charset="0"/>
                <a:ea typeface="黑体" panose="02010609060101010101" pitchFamily="49" charset="-122"/>
              </a:rPr>
              <a:t>仅可为整数，故仅可能在以下数值中选取：</a:t>
            </a:r>
            <a:endParaRPr lang="zh-CN" altLang="zh-CN" sz="2400" b="1" kern="100" dirty="0">
              <a:solidFill>
                <a:srgbClr val="FF00FF"/>
              </a:solidFill>
              <a:effectLst/>
              <a:latin typeface="Times New Roman" panose="02020603050405020304" pitchFamily="18" charset="0"/>
              <a:ea typeface="宋体" panose="02010600030101010101" pitchFamily="2" charset="-122"/>
            </a:endParaRPr>
          </a:p>
        </p:txBody>
      </p:sp>
      <p:graphicFrame>
        <p:nvGraphicFramePr>
          <p:cNvPr id="14" name="表格 13">
            <a:extLst>
              <a:ext uri="{FF2B5EF4-FFF2-40B4-BE49-F238E27FC236}">
                <a16:creationId xmlns:a16="http://schemas.microsoft.com/office/drawing/2014/main" id="{9AB5F76F-7DEC-4C0E-E9EC-6020D362353E}"/>
              </a:ext>
            </a:extLst>
          </p:cNvPr>
          <p:cNvGraphicFramePr>
            <a:graphicFrameLocks noGrp="1"/>
          </p:cNvGraphicFramePr>
          <p:nvPr>
            <p:extLst>
              <p:ext uri="{D42A27DB-BD31-4B8C-83A1-F6EECF244321}">
                <p14:modId xmlns:p14="http://schemas.microsoft.com/office/powerpoint/2010/main" val="969703989"/>
              </p:ext>
            </p:extLst>
          </p:nvPr>
        </p:nvGraphicFramePr>
        <p:xfrm>
          <a:off x="804782" y="2884620"/>
          <a:ext cx="7542841" cy="906195"/>
        </p:xfrm>
        <a:graphic>
          <a:graphicData uri="http://schemas.openxmlformats.org/drawingml/2006/table">
            <a:tbl>
              <a:tblPr/>
              <a:tblGrid>
                <a:gridCol w="2972721">
                  <a:extLst>
                    <a:ext uri="{9D8B030D-6E8A-4147-A177-3AD203B41FA5}">
                      <a16:colId xmlns:a16="http://schemas.microsoft.com/office/drawing/2014/main" val="2413886254"/>
                    </a:ext>
                  </a:extLst>
                </a:gridCol>
                <a:gridCol w="876621">
                  <a:extLst>
                    <a:ext uri="{9D8B030D-6E8A-4147-A177-3AD203B41FA5}">
                      <a16:colId xmlns:a16="http://schemas.microsoft.com/office/drawing/2014/main" val="456826817"/>
                    </a:ext>
                  </a:extLst>
                </a:gridCol>
                <a:gridCol w="794804">
                  <a:extLst>
                    <a:ext uri="{9D8B030D-6E8A-4147-A177-3AD203B41FA5}">
                      <a16:colId xmlns:a16="http://schemas.microsoft.com/office/drawing/2014/main" val="45322754"/>
                    </a:ext>
                  </a:extLst>
                </a:gridCol>
                <a:gridCol w="794804">
                  <a:extLst>
                    <a:ext uri="{9D8B030D-6E8A-4147-A177-3AD203B41FA5}">
                      <a16:colId xmlns:a16="http://schemas.microsoft.com/office/drawing/2014/main" val="1369641728"/>
                    </a:ext>
                  </a:extLst>
                </a:gridCol>
                <a:gridCol w="701297">
                  <a:extLst>
                    <a:ext uri="{9D8B030D-6E8A-4147-A177-3AD203B41FA5}">
                      <a16:colId xmlns:a16="http://schemas.microsoft.com/office/drawing/2014/main" val="3439803563"/>
                    </a:ext>
                  </a:extLst>
                </a:gridCol>
                <a:gridCol w="701297">
                  <a:extLst>
                    <a:ext uri="{9D8B030D-6E8A-4147-A177-3AD203B41FA5}">
                      <a16:colId xmlns:a16="http://schemas.microsoft.com/office/drawing/2014/main" val="3848302166"/>
                    </a:ext>
                  </a:extLst>
                </a:gridCol>
                <a:gridCol w="701297">
                  <a:extLst>
                    <a:ext uri="{9D8B030D-6E8A-4147-A177-3AD203B41FA5}">
                      <a16:colId xmlns:a16="http://schemas.microsoft.com/office/drawing/2014/main" val="675294843"/>
                    </a:ext>
                  </a:extLst>
                </a:gridCol>
              </a:tblGrid>
              <a:tr h="388852">
                <a:tc>
                  <a:txBody>
                    <a:bodyPr/>
                    <a:lstStyle/>
                    <a:p>
                      <a:pPr algn="just"/>
                      <a:r>
                        <a:rPr lang="zh-CN" sz="2400" b="1" kern="100" dirty="0">
                          <a:solidFill>
                            <a:srgbClr val="000000"/>
                          </a:solidFill>
                          <a:effectLst/>
                          <a:latin typeface="Times New Roman" panose="02020603050405020304" pitchFamily="18" charset="0"/>
                          <a:ea typeface="黑体" panose="02010609060101010101" pitchFamily="49" charset="-122"/>
                        </a:rPr>
                        <a:t>磁极对数</a:t>
                      </a:r>
                      <a:r>
                        <a:rPr lang="en-US" sz="2400" b="1" kern="100" dirty="0">
                          <a:solidFill>
                            <a:srgbClr val="000000"/>
                          </a:solidFill>
                          <a:effectLst/>
                          <a:latin typeface="Times New Roman" panose="02020603050405020304" pitchFamily="18" charset="0"/>
                          <a:ea typeface="黑体" panose="02010609060101010101" pitchFamily="49" charset="-122"/>
                        </a:rPr>
                        <a:t>p</a:t>
                      </a:r>
                      <a:endParaRPr lang="zh-CN" sz="1500" b="1" kern="100" dirty="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kern="100" dirty="0">
                          <a:solidFill>
                            <a:srgbClr val="000000"/>
                          </a:solidFill>
                          <a:effectLst/>
                          <a:latin typeface="Times New Roman" panose="02020603050405020304" pitchFamily="18" charset="0"/>
                          <a:ea typeface="黑体" panose="02010609060101010101" pitchFamily="49" charset="-122"/>
                        </a:rPr>
                        <a:t>1</a:t>
                      </a:r>
                      <a:endParaRPr lang="zh-CN" sz="1500" b="1" kern="100" dirty="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kern="100" dirty="0">
                          <a:solidFill>
                            <a:srgbClr val="000000"/>
                          </a:solidFill>
                          <a:effectLst/>
                          <a:latin typeface="Times New Roman" panose="02020603050405020304" pitchFamily="18" charset="0"/>
                          <a:ea typeface="黑体" panose="02010609060101010101" pitchFamily="49" charset="-122"/>
                        </a:rPr>
                        <a:t>2</a:t>
                      </a:r>
                      <a:endParaRPr lang="zh-CN" sz="1500" b="1" kern="100" dirty="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kern="100">
                          <a:solidFill>
                            <a:srgbClr val="000000"/>
                          </a:solidFill>
                          <a:effectLst/>
                          <a:latin typeface="Times New Roman" panose="02020603050405020304" pitchFamily="18" charset="0"/>
                          <a:ea typeface="黑体" panose="02010609060101010101" pitchFamily="49" charset="-122"/>
                        </a:rPr>
                        <a:t>3</a:t>
                      </a:r>
                      <a:endParaRPr lang="zh-CN" sz="1500" b="1" kern="10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kern="100">
                          <a:solidFill>
                            <a:srgbClr val="000000"/>
                          </a:solidFill>
                          <a:effectLst/>
                          <a:latin typeface="Times New Roman" panose="02020603050405020304" pitchFamily="18" charset="0"/>
                          <a:ea typeface="黑体" panose="02010609060101010101" pitchFamily="49" charset="-122"/>
                        </a:rPr>
                        <a:t>4</a:t>
                      </a:r>
                      <a:endParaRPr lang="zh-CN" sz="1500" b="1" kern="10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kern="100">
                          <a:solidFill>
                            <a:srgbClr val="000000"/>
                          </a:solidFill>
                          <a:effectLst/>
                          <a:latin typeface="Times New Roman" panose="02020603050405020304" pitchFamily="18" charset="0"/>
                          <a:ea typeface="黑体" panose="02010609060101010101" pitchFamily="49" charset="-122"/>
                        </a:rPr>
                        <a:t>5</a:t>
                      </a:r>
                      <a:endParaRPr lang="zh-CN" sz="1500" b="1" kern="10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kern="100">
                          <a:solidFill>
                            <a:srgbClr val="000000"/>
                          </a:solidFill>
                          <a:effectLst/>
                          <a:latin typeface="Times New Roman" panose="02020603050405020304" pitchFamily="18" charset="0"/>
                          <a:ea typeface="黑体" panose="02010609060101010101" pitchFamily="49" charset="-122"/>
                        </a:rPr>
                        <a:t>6</a:t>
                      </a:r>
                      <a:endParaRPr lang="zh-CN" sz="1500" b="1" kern="10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3853239"/>
                  </a:ext>
                </a:extLst>
              </a:tr>
              <a:tr h="517343">
                <a:tc>
                  <a:txBody>
                    <a:bodyPr/>
                    <a:lstStyle/>
                    <a:p>
                      <a:pPr algn="just"/>
                      <a:r>
                        <a:rPr lang="zh-CN" sz="2400" b="1" kern="100" dirty="0">
                          <a:solidFill>
                            <a:srgbClr val="000000"/>
                          </a:solidFill>
                          <a:effectLst/>
                          <a:latin typeface="Times New Roman" panose="02020603050405020304" pitchFamily="18" charset="0"/>
                          <a:ea typeface="黑体" panose="02010609060101010101" pitchFamily="49" charset="-122"/>
                        </a:rPr>
                        <a:t>同步转速</a:t>
                      </a:r>
                      <a:r>
                        <a:rPr lang="en-US" sz="2400" b="1" kern="100" dirty="0">
                          <a:solidFill>
                            <a:srgbClr val="000000"/>
                          </a:solidFill>
                          <a:effectLst/>
                          <a:latin typeface="Times New Roman" panose="02020603050405020304" pitchFamily="18" charset="0"/>
                          <a:ea typeface="黑体" panose="02010609060101010101" pitchFamily="49" charset="-122"/>
                        </a:rPr>
                        <a:t>n</a:t>
                      </a:r>
                      <a:r>
                        <a:rPr lang="en-US" sz="2400" b="1" kern="100" baseline="-25000" dirty="0">
                          <a:solidFill>
                            <a:srgbClr val="000000"/>
                          </a:solidFill>
                          <a:effectLst/>
                          <a:latin typeface="Times New Roman" panose="02020603050405020304" pitchFamily="18" charset="0"/>
                          <a:ea typeface="黑体" panose="02010609060101010101" pitchFamily="49" charset="-122"/>
                        </a:rPr>
                        <a:t>0</a:t>
                      </a:r>
                      <a:r>
                        <a:rPr lang="en-US" sz="2400" b="1" kern="100" dirty="0">
                          <a:solidFill>
                            <a:srgbClr val="000000"/>
                          </a:solidFill>
                          <a:effectLst/>
                          <a:latin typeface="Times New Roman" panose="02020603050405020304" pitchFamily="18" charset="0"/>
                          <a:ea typeface="黑体" panose="02010609060101010101" pitchFamily="49" charset="-122"/>
                        </a:rPr>
                        <a:t>(r/min)</a:t>
                      </a:r>
                      <a:endParaRPr lang="zh-CN" sz="1500" b="1" kern="100" dirty="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kern="100" dirty="0">
                          <a:solidFill>
                            <a:srgbClr val="000000"/>
                          </a:solidFill>
                          <a:effectLst/>
                          <a:latin typeface="Times New Roman" panose="02020603050405020304" pitchFamily="18" charset="0"/>
                          <a:ea typeface="黑体" panose="02010609060101010101" pitchFamily="49" charset="-122"/>
                        </a:rPr>
                        <a:t>3000</a:t>
                      </a:r>
                      <a:endParaRPr lang="zh-CN" sz="1500" b="1" kern="100" dirty="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kern="100" dirty="0">
                          <a:solidFill>
                            <a:srgbClr val="000000"/>
                          </a:solidFill>
                          <a:effectLst/>
                          <a:latin typeface="Times New Roman" panose="02020603050405020304" pitchFamily="18" charset="0"/>
                          <a:ea typeface="黑体" panose="02010609060101010101" pitchFamily="49" charset="-122"/>
                        </a:rPr>
                        <a:t>1500</a:t>
                      </a:r>
                      <a:endParaRPr lang="zh-CN" sz="1500" b="1" kern="100" dirty="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kern="100" dirty="0">
                          <a:solidFill>
                            <a:srgbClr val="000000"/>
                          </a:solidFill>
                          <a:effectLst/>
                          <a:latin typeface="Times New Roman" panose="02020603050405020304" pitchFamily="18" charset="0"/>
                          <a:ea typeface="黑体" panose="02010609060101010101" pitchFamily="49" charset="-122"/>
                        </a:rPr>
                        <a:t>1000</a:t>
                      </a:r>
                      <a:endParaRPr lang="zh-CN" sz="1500" b="1" kern="100" dirty="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kern="100" dirty="0">
                          <a:solidFill>
                            <a:srgbClr val="000000"/>
                          </a:solidFill>
                          <a:effectLst/>
                          <a:latin typeface="Times New Roman" panose="02020603050405020304" pitchFamily="18" charset="0"/>
                          <a:ea typeface="黑体" panose="02010609060101010101" pitchFamily="49" charset="-122"/>
                        </a:rPr>
                        <a:t>750</a:t>
                      </a:r>
                      <a:endParaRPr lang="zh-CN" sz="1500" b="1" kern="100" dirty="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kern="100" dirty="0">
                          <a:solidFill>
                            <a:srgbClr val="000000"/>
                          </a:solidFill>
                          <a:effectLst/>
                          <a:latin typeface="Times New Roman" panose="02020603050405020304" pitchFamily="18" charset="0"/>
                          <a:ea typeface="黑体" panose="02010609060101010101" pitchFamily="49" charset="-122"/>
                        </a:rPr>
                        <a:t>600</a:t>
                      </a:r>
                      <a:endParaRPr lang="zh-CN" sz="1500" b="1" kern="100" dirty="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lang="en-US" sz="2400" b="1" kern="100" dirty="0">
                          <a:solidFill>
                            <a:srgbClr val="000000"/>
                          </a:solidFill>
                          <a:effectLst/>
                          <a:latin typeface="Times New Roman" panose="02020603050405020304" pitchFamily="18" charset="0"/>
                          <a:ea typeface="黑体" panose="02010609060101010101" pitchFamily="49" charset="-122"/>
                        </a:rPr>
                        <a:t>500</a:t>
                      </a:r>
                      <a:endParaRPr lang="zh-CN" sz="1500" b="1" kern="100" dirty="0">
                        <a:solidFill>
                          <a:srgbClr val="FF00FF"/>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2789461"/>
                  </a:ext>
                </a:extLst>
              </a:tr>
            </a:tbl>
          </a:graphicData>
        </a:graphic>
      </p:graphicFrame>
      <p:sp>
        <p:nvSpPr>
          <p:cNvPr id="15" name="Rectangle 7">
            <a:extLst>
              <a:ext uri="{FF2B5EF4-FFF2-40B4-BE49-F238E27FC236}">
                <a16:creationId xmlns:a16="http://schemas.microsoft.com/office/drawing/2014/main" id="{AC111087-71EF-8EF2-95CC-E209CF7BFC77}"/>
              </a:ext>
            </a:extLst>
          </p:cNvPr>
          <p:cNvSpPr>
            <a:spLocks noChangeArrowheads="1"/>
          </p:cNvSpPr>
          <p:nvPr/>
        </p:nvSpPr>
        <p:spPr bwMode="auto">
          <a:xfrm>
            <a:off x="706370" y="3934831"/>
            <a:ext cx="58098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根据额定转速推算同步转速：</a:t>
            </a:r>
            <a:endParaRPr kumimoji="0" lang="zh-CN" altLang="zh-CN" sz="400" b="0" i="0" u="none" strike="noStrike" cap="none" normalizeH="0" baseline="0" dirty="0">
              <a:ln>
                <a:noFill/>
              </a:ln>
              <a:solidFill>
                <a:schemeClr val="tx1"/>
              </a:solidFill>
              <a:effectLst/>
            </a:endParaRPr>
          </a:p>
        </p:txBody>
      </p:sp>
      <p:graphicFrame>
        <p:nvGraphicFramePr>
          <p:cNvPr id="16" name="对象 15">
            <a:extLst>
              <a:ext uri="{FF2B5EF4-FFF2-40B4-BE49-F238E27FC236}">
                <a16:creationId xmlns:a16="http://schemas.microsoft.com/office/drawing/2014/main" id="{6BCF0FDB-8245-0C4B-DFA5-F6096611D546}"/>
              </a:ext>
            </a:extLst>
          </p:cNvPr>
          <p:cNvGraphicFramePr>
            <a:graphicFrameLocks noChangeAspect="1"/>
          </p:cNvGraphicFramePr>
          <p:nvPr>
            <p:extLst>
              <p:ext uri="{D42A27DB-BD31-4B8C-83A1-F6EECF244321}">
                <p14:modId xmlns:p14="http://schemas.microsoft.com/office/powerpoint/2010/main" val="3589683615"/>
              </p:ext>
            </p:extLst>
          </p:nvPr>
        </p:nvGraphicFramePr>
        <p:xfrm>
          <a:off x="4725987" y="3943777"/>
          <a:ext cx="3936299" cy="461665"/>
        </p:xfrm>
        <a:graphic>
          <a:graphicData uri="http://schemas.openxmlformats.org/presentationml/2006/ole">
            <mc:AlternateContent xmlns:mc="http://schemas.openxmlformats.org/markup-compatibility/2006">
              <mc:Choice xmlns:v="urn:schemas-microsoft-com:vml" Requires="v">
                <p:oleObj name="Equation" r:id="rId7" imgW="2057400" imgH="241200" progId="Equation.DSMT4">
                  <p:embed/>
                </p:oleObj>
              </mc:Choice>
              <mc:Fallback>
                <p:oleObj name="Equation" r:id="rId7" imgW="2057400" imgH="241200" progId="Equation.DSMT4">
                  <p:embed/>
                  <p:pic>
                    <p:nvPicPr>
                      <p:cNvPr id="0" name="Object 6"/>
                      <p:cNvPicPr>
                        <a:picLocks noChangeAspect="1" noChangeArrowheads="1"/>
                      </p:cNvPicPr>
                      <p:nvPr/>
                    </p:nvPicPr>
                    <p:blipFill>
                      <a:blip r:embed="rId8"/>
                      <a:srcRect/>
                      <a:stretch>
                        <a:fillRect/>
                      </a:stretch>
                    </p:blipFill>
                    <p:spPr bwMode="auto">
                      <a:xfrm>
                        <a:off x="4725987" y="3943777"/>
                        <a:ext cx="3936299" cy="461665"/>
                      </a:xfrm>
                      <a:prstGeom prst="rect">
                        <a:avLst/>
                      </a:prstGeom>
                      <a:solidFill>
                        <a:srgbClr val="FFCC00"/>
                      </a:solidFill>
                    </p:spPr>
                  </p:pic>
                </p:oleObj>
              </mc:Fallback>
            </mc:AlternateContent>
          </a:graphicData>
        </a:graphic>
      </p:graphicFrame>
      <p:sp>
        <p:nvSpPr>
          <p:cNvPr id="17" name="Rectangle 9">
            <a:extLst>
              <a:ext uri="{FF2B5EF4-FFF2-40B4-BE49-F238E27FC236}">
                <a16:creationId xmlns:a16="http://schemas.microsoft.com/office/drawing/2014/main" id="{9F7E62E6-A312-AEBF-CE71-C6BCD66A42D7}"/>
              </a:ext>
            </a:extLst>
          </p:cNvPr>
          <p:cNvSpPr>
            <a:spLocks noChangeArrowheads="1"/>
          </p:cNvSpPr>
          <p:nvPr/>
        </p:nvSpPr>
        <p:spPr bwMode="auto">
          <a:xfrm>
            <a:off x="611560" y="4473021"/>
            <a:ext cx="741682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〖例〗已知异步电动机</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8" name="对象 17">
            <a:extLst>
              <a:ext uri="{FF2B5EF4-FFF2-40B4-BE49-F238E27FC236}">
                <a16:creationId xmlns:a16="http://schemas.microsoft.com/office/drawing/2014/main" id="{B00AB1B5-B2AA-2796-129B-72368B712491}"/>
              </a:ext>
            </a:extLst>
          </p:cNvPr>
          <p:cNvGraphicFramePr>
            <a:graphicFrameLocks noChangeAspect="1"/>
          </p:cNvGraphicFramePr>
          <p:nvPr>
            <p:extLst>
              <p:ext uri="{D42A27DB-BD31-4B8C-83A1-F6EECF244321}">
                <p14:modId xmlns:p14="http://schemas.microsoft.com/office/powerpoint/2010/main" val="552962993"/>
              </p:ext>
            </p:extLst>
          </p:nvPr>
        </p:nvGraphicFramePr>
        <p:xfrm>
          <a:off x="3779912" y="4504364"/>
          <a:ext cx="2105025" cy="476250"/>
        </p:xfrm>
        <a:graphic>
          <a:graphicData uri="http://schemas.openxmlformats.org/presentationml/2006/ole">
            <mc:AlternateContent xmlns:mc="http://schemas.openxmlformats.org/markup-compatibility/2006">
              <mc:Choice xmlns:v="urn:schemas-microsoft-com:vml" Requires="v">
                <p:oleObj name="Equation" r:id="rId9" imgW="1066800" imgH="241300" progId="Equation.DSMT4">
                  <p:embed/>
                </p:oleObj>
              </mc:Choice>
              <mc:Fallback>
                <p:oleObj name="Equation" r:id="rId9" imgW="1066800" imgH="2413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79912" y="4504364"/>
                        <a:ext cx="2105025"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10">
            <a:extLst>
              <a:ext uri="{FF2B5EF4-FFF2-40B4-BE49-F238E27FC236}">
                <a16:creationId xmlns:a16="http://schemas.microsoft.com/office/drawing/2014/main" id="{759082FC-282E-4DD3-4520-900B77C95428}"/>
              </a:ext>
            </a:extLst>
          </p:cNvPr>
          <p:cNvSpPr>
            <a:spLocks noChangeArrowheads="1"/>
          </p:cNvSpPr>
          <p:nvPr/>
        </p:nvSpPr>
        <p:spPr bwMode="auto">
          <a:xfrm>
            <a:off x="5744997" y="4437112"/>
            <a:ext cx="28083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，求额定转差率。</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0" name="对象 19">
            <a:extLst>
              <a:ext uri="{FF2B5EF4-FFF2-40B4-BE49-F238E27FC236}">
                <a16:creationId xmlns:a16="http://schemas.microsoft.com/office/drawing/2014/main" id="{6F0109E9-5E27-E7FD-4834-0183C7948D8D}"/>
              </a:ext>
            </a:extLst>
          </p:cNvPr>
          <p:cNvGraphicFramePr>
            <a:graphicFrameLocks noChangeAspect="1"/>
          </p:cNvGraphicFramePr>
          <p:nvPr>
            <p:extLst>
              <p:ext uri="{D42A27DB-BD31-4B8C-83A1-F6EECF244321}">
                <p14:modId xmlns:p14="http://schemas.microsoft.com/office/powerpoint/2010/main" val="825459039"/>
              </p:ext>
            </p:extLst>
          </p:nvPr>
        </p:nvGraphicFramePr>
        <p:xfrm>
          <a:off x="2051719" y="5041447"/>
          <a:ext cx="3833218" cy="445121"/>
        </p:xfrm>
        <a:graphic>
          <a:graphicData uri="http://schemas.openxmlformats.org/presentationml/2006/ole">
            <mc:AlternateContent xmlns:mc="http://schemas.openxmlformats.org/markup-compatibility/2006">
              <mc:Choice xmlns:v="urn:schemas-microsoft-com:vml" Requires="v">
                <p:oleObj name="Equation" r:id="rId11" imgW="2070100" imgH="241300" progId="Equation.DSMT4">
                  <p:embed/>
                </p:oleObj>
              </mc:Choice>
              <mc:Fallback>
                <p:oleObj name="Equation" r:id="rId11" imgW="2070100" imgH="24130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1719" y="5041447"/>
                        <a:ext cx="3833218" cy="445121"/>
                      </a:xfrm>
                      <a:prstGeom prst="rect">
                        <a:avLst/>
                      </a:prstGeom>
                      <a:solidFill>
                        <a:srgbClr val="FFCC00"/>
                      </a:solidFill>
                    </p:spPr>
                  </p:pic>
                </p:oleObj>
              </mc:Fallback>
            </mc:AlternateContent>
          </a:graphicData>
        </a:graphic>
      </p:graphicFrame>
      <p:graphicFrame>
        <p:nvGraphicFramePr>
          <p:cNvPr id="21" name="对象 20">
            <a:extLst>
              <a:ext uri="{FF2B5EF4-FFF2-40B4-BE49-F238E27FC236}">
                <a16:creationId xmlns:a16="http://schemas.microsoft.com/office/drawing/2014/main" id="{3D6AE55F-1F17-3A8A-B024-6912F1B8EDF0}"/>
              </a:ext>
            </a:extLst>
          </p:cNvPr>
          <p:cNvGraphicFramePr>
            <a:graphicFrameLocks noChangeAspect="1"/>
          </p:cNvGraphicFramePr>
          <p:nvPr>
            <p:extLst>
              <p:ext uri="{D42A27DB-BD31-4B8C-83A1-F6EECF244321}">
                <p14:modId xmlns:p14="http://schemas.microsoft.com/office/powerpoint/2010/main" val="3231969761"/>
              </p:ext>
            </p:extLst>
          </p:nvPr>
        </p:nvGraphicFramePr>
        <p:xfrm>
          <a:off x="3307380" y="5486513"/>
          <a:ext cx="2143125" cy="528637"/>
        </p:xfrm>
        <a:graphic>
          <a:graphicData uri="http://schemas.openxmlformats.org/presentationml/2006/ole">
            <mc:AlternateContent xmlns:mc="http://schemas.openxmlformats.org/markup-compatibility/2006">
              <mc:Choice xmlns:v="urn:schemas-microsoft-com:vml" Requires="v">
                <p:oleObj name="Equation" r:id="rId13" imgW="977900" imgH="241300" progId="Equation.DSMT4">
                  <p:embed/>
                </p:oleObj>
              </mc:Choice>
              <mc:Fallback>
                <p:oleObj name="Equation" r:id="rId13" imgW="977900" imgH="241300" progId="Equation.DSMT4">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07380" y="5486513"/>
                        <a:ext cx="2143125"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13">
            <a:extLst>
              <a:ext uri="{FF2B5EF4-FFF2-40B4-BE49-F238E27FC236}">
                <a16:creationId xmlns:a16="http://schemas.microsoft.com/office/drawing/2014/main" id="{92405590-884E-2C8C-749E-0F3D3840D278}"/>
              </a:ext>
            </a:extLst>
          </p:cNvPr>
          <p:cNvSpPr>
            <a:spLocks noChangeArrowheads="1"/>
          </p:cNvSpPr>
          <p:nvPr/>
        </p:nvSpPr>
        <p:spPr bwMode="auto">
          <a:xfrm>
            <a:off x="720080" y="5023887"/>
            <a:ext cx="77038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解：根据</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3" name="Rectangle 14">
            <a:extLst>
              <a:ext uri="{FF2B5EF4-FFF2-40B4-BE49-F238E27FC236}">
                <a16:creationId xmlns:a16="http://schemas.microsoft.com/office/drawing/2014/main" id="{4A8E55FB-3AB9-C71B-6FDE-B81BD5A51498}"/>
              </a:ext>
            </a:extLst>
          </p:cNvPr>
          <p:cNvSpPr>
            <a:spLocks noChangeArrowheads="1"/>
          </p:cNvSpPr>
          <p:nvPr/>
        </p:nvSpPr>
        <p:spPr bwMode="auto">
          <a:xfrm>
            <a:off x="5753016" y="5030539"/>
            <a:ext cx="16916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，可知</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400" b="0" i="0" u="none" strike="noStrike" cap="none" normalizeH="0" baseline="0" dirty="0">
              <a:ln>
                <a:noFill/>
              </a:ln>
              <a:solidFill>
                <a:schemeClr val="tx1"/>
              </a:solidFill>
              <a:effectLst/>
            </a:endParaRPr>
          </a:p>
        </p:txBody>
      </p:sp>
      <p:sp>
        <p:nvSpPr>
          <p:cNvPr id="24" name="Rectangle 15">
            <a:extLst>
              <a:ext uri="{FF2B5EF4-FFF2-40B4-BE49-F238E27FC236}">
                <a16:creationId xmlns:a16="http://schemas.microsoft.com/office/drawing/2014/main" id="{CE76A17D-CCE9-C2AD-B406-36C580285EBD}"/>
              </a:ext>
            </a:extLst>
          </p:cNvPr>
          <p:cNvSpPr>
            <a:spLocks noChangeArrowheads="1"/>
          </p:cNvSpPr>
          <p:nvPr/>
        </p:nvSpPr>
        <p:spPr bwMode="auto">
          <a:xfrm>
            <a:off x="5417989" y="5524360"/>
            <a:ext cx="28438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，即该电动机</a:t>
            </a: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p=2</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6" name="对象 25">
            <a:extLst>
              <a:ext uri="{FF2B5EF4-FFF2-40B4-BE49-F238E27FC236}">
                <a16:creationId xmlns:a16="http://schemas.microsoft.com/office/drawing/2014/main" id="{C9594C2C-5056-0343-8132-72EFE11A0779}"/>
              </a:ext>
            </a:extLst>
          </p:cNvPr>
          <p:cNvGraphicFramePr>
            <a:graphicFrameLocks noChangeAspect="1"/>
          </p:cNvGraphicFramePr>
          <p:nvPr>
            <p:extLst>
              <p:ext uri="{D42A27DB-BD31-4B8C-83A1-F6EECF244321}">
                <p14:modId xmlns:p14="http://schemas.microsoft.com/office/powerpoint/2010/main" val="1971628933"/>
              </p:ext>
            </p:extLst>
          </p:nvPr>
        </p:nvGraphicFramePr>
        <p:xfrm>
          <a:off x="1907704" y="5877272"/>
          <a:ext cx="4781550" cy="914400"/>
        </p:xfrm>
        <a:graphic>
          <a:graphicData uri="http://schemas.openxmlformats.org/presentationml/2006/ole">
            <mc:AlternateContent xmlns:mc="http://schemas.openxmlformats.org/markup-compatibility/2006">
              <mc:Choice xmlns:v="urn:schemas-microsoft-com:vml" Requires="v">
                <p:oleObj name="Equation" r:id="rId15" imgW="2222500" imgH="431800" progId="Equation.DSMT4">
                  <p:embed/>
                </p:oleObj>
              </mc:Choice>
              <mc:Fallback>
                <p:oleObj name="Equation" r:id="rId15" imgW="2222500" imgH="431800" progId="Equation.DSMT4">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07704" y="5877272"/>
                        <a:ext cx="478155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a:extLst>
              <a:ext uri="{FF2B5EF4-FFF2-40B4-BE49-F238E27FC236}">
                <a16:creationId xmlns:a16="http://schemas.microsoft.com/office/drawing/2014/main" id="{F064CCAE-BDA5-5ECB-694D-01426AB5234A}"/>
              </a:ext>
            </a:extLst>
          </p:cNvPr>
          <p:cNvSpPr>
            <a:spLocks noGrp="1"/>
          </p:cNvSpPr>
          <p:nvPr>
            <p:ph type="sldNum" sz="quarter" idx="12"/>
          </p:nvPr>
        </p:nvSpPr>
        <p:spPr/>
        <p:txBody>
          <a:bodyPr/>
          <a:lstStyle/>
          <a:p>
            <a:fld id="{76D830B0-DF59-4281-898F-AF208100B213}" type="slidenum">
              <a:rPr lang="en-US" altLang="zh-CN" smtClean="0"/>
              <a:pPr/>
              <a:t>81</a:t>
            </a:fld>
            <a:endParaRPr lang="en-US" altLang="zh-CN"/>
          </a:p>
        </p:txBody>
      </p:sp>
    </p:spTree>
    <p:extLst>
      <p:ext uri="{BB962C8B-B14F-4D97-AF65-F5344CB8AC3E}">
        <p14:creationId xmlns:p14="http://schemas.microsoft.com/office/powerpoint/2010/main" val="20138363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11E5A444-EFDA-8B6E-F4FA-A64AD70913AB}"/>
              </a:ext>
            </a:extLst>
          </p:cNvPr>
          <p:cNvSpPr txBox="1"/>
          <p:nvPr/>
        </p:nvSpPr>
        <p:spPr>
          <a:xfrm>
            <a:off x="755576" y="1468426"/>
            <a:ext cx="4572000" cy="461665"/>
          </a:xfrm>
          <a:prstGeom prst="rect">
            <a:avLst/>
          </a:prstGeom>
          <a:noFill/>
        </p:spPr>
        <p:txBody>
          <a:bodyPr wrap="square">
            <a:spAutoFit/>
          </a:bodyPr>
          <a:lstStyle/>
          <a:p>
            <a:pPr algn="just"/>
            <a:r>
              <a:rPr lang="zh-CN" altLang="zh-CN" sz="2400" b="1" kern="100" dirty="0">
                <a:solidFill>
                  <a:srgbClr val="0000FF"/>
                </a:solidFill>
                <a:effectLst/>
                <a:latin typeface="Times New Roman" panose="02020603050405020304" pitchFamily="18" charset="0"/>
                <a:ea typeface="黑体" panose="02010609060101010101" pitchFamily="49" charset="-122"/>
              </a:rPr>
              <a:t>关于转子绕组折算的讨论</a:t>
            </a:r>
            <a:r>
              <a:rPr lang="zh-CN" altLang="zh-CN" sz="2400" b="1" kern="100" dirty="0">
                <a:solidFill>
                  <a:srgbClr val="FF00FF"/>
                </a:solidFill>
                <a:effectLst/>
                <a:latin typeface="Times New Roman" panose="02020603050405020304" pitchFamily="18" charset="0"/>
                <a:ea typeface="黑体" panose="02010609060101010101" pitchFamily="49" charset="-122"/>
              </a:rPr>
              <a:t>：</a:t>
            </a:r>
            <a:endParaRPr lang="zh-CN" altLang="zh-CN" sz="1600" b="1" kern="100" dirty="0">
              <a:solidFill>
                <a:srgbClr val="FF00FF"/>
              </a:solidFill>
              <a:effectLst/>
              <a:latin typeface="Times New Roman" panose="02020603050405020304" pitchFamily="18" charset="0"/>
              <a:ea typeface="宋体" panose="02010600030101010101" pitchFamily="2" charset="-122"/>
            </a:endParaRPr>
          </a:p>
        </p:txBody>
      </p:sp>
      <p:sp>
        <p:nvSpPr>
          <p:cNvPr id="11" name="文本框 10">
            <a:extLst>
              <a:ext uri="{FF2B5EF4-FFF2-40B4-BE49-F238E27FC236}">
                <a16:creationId xmlns:a16="http://schemas.microsoft.com/office/drawing/2014/main" id="{5DB164A4-1483-8814-174D-6AA519E71D61}"/>
              </a:ext>
            </a:extLst>
          </p:cNvPr>
          <p:cNvSpPr txBox="1"/>
          <p:nvPr/>
        </p:nvSpPr>
        <p:spPr>
          <a:xfrm>
            <a:off x="885676" y="2069520"/>
            <a:ext cx="4572000" cy="461665"/>
          </a:xfrm>
          <a:prstGeom prst="rect">
            <a:avLst/>
          </a:prstGeom>
          <a:noFill/>
        </p:spPr>
        <p:txBody>
          <a:bodyPr wrap="square">
            <a:spAutoFit/>
          </a:bodyPr>
          <a:lstStyle/>
          <a:p>
            <a:pPr marL="285750" indent="-285750">
              <a:buFont typeface="Arial" panose="020B0604020202020204" pitchFamily="34" charset="0"/>
              <a:buChar char="•"/>
            </a:pP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折算前后转子的功率关系不变</a:t>
            </a:r>
            <a:r>
              <a:rPr lang="zh-CN" altLang="en-US"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p>
        </p:txBody>
      </p:sp>
      <p:graphicFrame>
        <p:nvGraphicFramePr>
          <p:cNvPr id="12" name="对象 11">
            <a:extLst>
              <a:ext uri="{FF2B5EF4-FFF2-40B4-BE49-F238E27FC236}">
                <a16:creationId xmlns:a16="http://schemas.microsoft.com/office/drawing/2014/main" id="{67C8F6CF-1C48-B422-46D4-2955A11E867A}"/>
              </a:ext>
            </a:extLst>
          </p:cNvPr>
          <p:cNvGraphicFramePr>
            <a:graphicFrameLocks noChangeAspect="1"/>
          </p:cNvGraphicFramePr>
          <p:nvPr>
            <p:extLst>
              <p:ext uri="{D42A27DB-BD31-4B8C-83A1-F6EECF244321}">
                <p14:modId xmlns:p14="http://schemas.microsoft.com/office/powerpoint/2010/main" val="1610310121"/>
              </p:ext>
            </p:extLst>
          </p:nvPr>
        </p:nvGraphicFramePr>
        <p:xfrm>
          <a:off x="3981598" y="2617214"/>
          <a:ext cx="3576638" cy="928688"/>
        </p:xfrm>
        <a:graphic>
          <a:graphicData uri="http://schemas.openxmlformats.org/presentationml/2006/ole">
            <mc:AlternateContent xmlns:mc="http://schemas.openxmlformats.org/markup-compatibility/2006">
              <mc:Choice xmlns:v="urn:schemas-microsoft-com:vml" Requires="v">
                <p:oleObj name="Equation" r:id="rId3" imgW="1828800" imgH="482600" progId="Equation.DSMT4">
                  <p:embed/>
                </p:oleObj>
              </mc:Choice>
              <mc:Fallback>
                <p:oleObj name="Equation" r:id="rId3" imgW="1828800" imgH="482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1598" y="2617214"/>
                        <a:ext cx="3576638" cy="928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a:extLst>
              <a:ext uri="{FF2B5EF4-FFF2-40B4-BE49-F238E27FC236}">
                <a16:creationId xmlns:a16="http://schemas.microsoft.com/office/drawing/2014/main" id="{929A9B06-2269-9602-3A05-4EB988030986}"/>
              </a:ext>
            </a:extLst>
          </p:cNvPr>
          <p:cNvGraphicFramePr>
            <a:graphicFrameLocks noChangeAspect="1"/>
          </p:cNvGraphicFramePr>
          <p:nvPr>
            <p:extLst>
              <p:ext uri="{D42A27DB-BD31-4B8C-83A1-F6EECF244321}">
                <p14:modId xmlns:p14="http://schemas.microsoft.com/office/powerpoint/2010/main" val="3726331744"/>
              </p:ext>
            </p:extLst>
          </p:nvPr>
        </p:nvGraphicFramePr>
        <p:xfrm>
          <a:off x="3981598" y="3719686"/>
          <a:ext cx="3614738" cy="933450"/>
        </p:xfrm>
        <a:graphic>
          <a:graphicData uri="http://schemas.openxmlformats.org/presentationml/2006/ole">
            <mc:AlternateContent xmlns:mc="http://schemas.openxmlformats.org/markup-compatibility/2006">
              <mc:Choice xmlns:v="urn:schemas-microsoft-com:vml" Requires="v">
                <p:oleObj name="Equation" r:id="rId5" imgW="1841500" imgH="482600" progId="Equation.DSMT4">
                  <p:embed/>
                </p:oleObj>
              </mc:Choice>
              <mc:Fallback>
                <p:oleObj name="Equation" r:id="rId5" imgW="1841500" imgH="4826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1598" y="3719686"/>
                        <a:ext cx="3614738"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5">
            <a:extLst>
              <a:ext uri="{FF2B5EF4-FFF2-40B4-BE49-F238E27FC236}">
                <a16:creationId xmlns:a16="http://schemas.microsoft.com/office/drawing/2014/main" id="{FE382C76-A08D-F4FB-DC05-6CA4B17ED37B}"/>
              </a:ext>
            </a:extLst>
          </p:cNvPr>
          <p:cNvSpPr>
            <a:spLocks noChangeArrowheads="1"/>
          </p:cNvSpPr>
          <p:nvPr/>
        </p:nvSpPr>
        <p:spPr bwMode="auto">
          <a:xfrm>
            <a:off x="2421184" y="2792431"/>
            <a:ext cx="18578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转子铜耗：</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27" name="Rectangle 6">
            <a:extLst>
              <a:ext uri="{FF2B5EF4-FFF2-40B4-BE49-F238E27FC236}">
                <a16:creationId xmlns:a16="http://schemas.microsoft.com/office/drawing/2014/main" id="{7C137326-5000-0719-FAD4-F4BDC805B39A}"/>
              </a:ext>
            </a:extLst>
          </p:cNvPr>
          <p:cNvSpPr>
            <a:spLocks noChangeArrowheads="1"/>
          </p:cNvSpPr>
          <p:nvPr/>
        </p:nvSpPr>
        <p:spPr bwMode="auto">
          <a:xfrm>
            <a:off x="1173286" y="3905430"/>
            <a:ext cx="31470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转子漏抗无功功率：</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29" name="文本框 28">
            <a:extLst>
              <a:ext uri="{FF2B5EF4-FFF2-40B4-BE49-F238E27FC236}">
                <a16:creationId xmlns:a16="http://schemas.microsoft.com/office/drawing/2014/main" id="{2D31E275-687E-E488-5A56-3DA79E000C63}"/>
              </a:ext>
            </a:extLst>
          </p:cNvPr>
          <p:cNvSpPr txBox="1"/>
          <p:nvPr/>
        </p:nvSpPr>
        <p:spPr>
          <a:xfrm>
            <a:off x="885676" y="4992443"/>
            <a:ext cx="4572000" cy="461665"/>
          </a:xfrm>
          <a:prstGeom prst="rect">
            <a:avLst/>
          </a:prstGeom>
          <a:noFill/>
        </p:spPr>
        <p:txBody>
          <a:bodyPr wrap="square">
            <a:spAutoFit/>
          </a:bodyPr>
          <a:lstStyle/>
          <a:p>
            <a:pPr marL="285750" indent="-285750">
              <a:buFont typeface="Arial" panose="020B0604020202020204" pitchFamily="34" charset="0"/>
              <a:buChar char="•"/>
            </a:pPr>
            <a:r>
              <a:rPr lang="zh-CN"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转子阻抗角不变</a:t>
            </a:r>
            <a:r>
              <a:rPr lang="en-US" altLang="zh-CN" sz="24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dirty="0"/>
          </a:p>
        </p:txBody>
      </p:sp>
      <p:graphicFrame>
        <p:nvGraphicFramePr>
          <p:cNvPr id="31" name="对象 30">
            <a:extLst>
              <a:ext uri="{FF2B5EF4-FFF2-40B4-BE49-F238E27FC236}">
                <a16:creationId xmlns:a16="http://schemas.microsoft.com/office/drawing/2014/main" id="{90DA344F-6FF4-6536-BADB-E9F42EE3E149}"/>
              </a:ext>
            </a:extLst>
          </p:cNvPr>
          <p:cNvGraphicFramePr>
            <a:graphicFrameLocks noChangeAspect="1"/>
          </p:cNvGraphicFramePr>
          <p:nvPr>
            <p:extLst>
              <p:ext uri="{D42A27DB-BD31-4B8C-83A1-F6EECF244321}">
                <p14:modId xmlns:p14="http://schemas.microsoft.com/office/powerpoint/2010/main" val="3284456364"/>
              </p:ext>
            </p:extLst>
          </p:nvPr>
        </p:nvGraphicFramePr>
        <p:xfrm>
          <a:off x="3635896" y="4785301"/>
          <a:ext cx="3528392" cy="875947"/>
        </p:xfrm>
        <a:graphic>
          <a:graphicData uri="http://schemas.openxmlformats.org/presentationml/2006/ole">
            <mc:AlternateContent xmlns:mc="http://schemas.openxmlformats.org/markup-compatibility/2006">
              <mc:Choice xmlns:v="urn:schemas-microsoft-com:vml" Requires="v">
                <p:oleObj name="Equation" r:id="rId7" imgW="1816100" imgH="457200" progId="Equation.DSMT4">
                  <p:embed/>
                </p:oleObj>
              </mc:Choice>
              <mc:Fallback>
                <p:oleObj name="Equation" r:id="rId7" imgW="1816100" imgH="4572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5896" y="4785301"/>
                        <a:ext cx="3528392" cy="875947"/>
                      </a:xfrm>
                      <a:prstGeom prst="rect">
                        <a:avLst/>
                      </a:prstGeom>
                      <a:noFill/>
                    </p:spPr>
                  </p:pic>
                </p:oleObj>
              </mc:Fallback>
            </mc:AlternateContent>
          </a:graphicData>
        </a:graphic>
      </p:graphicFrame>
      <p:sp>
        <p:nvSpPr>
          <p:cNvPr id="3" name="灯片编号占位符 2">
            <a:extLst>
              <a:ext uri="{FF2B5EF4-FFF2-40B4-BE49-F238E27FC236}">
                <a16:creationId xmlns:a16="http://schemas.microsoft.com/office/drawing/2014/main" id="{BBA15AB5-5844-109D-52FE-9711B7DFC672}"/>
              </a:ext>
            </a:extLst>
          </p:cNvPr>
          <p:cNvSpPr>
            <a:spLocks noGrp="1"/>
          </p:cNvSpPr>
          <p:nvPr>
            <p:ph type="sldNum" sz="quarter" idx="12"/>
          </p:nvPr>
        </p:nvSpPr>
        <p:spPr/>
        <p:txBody>
          <a:bodyPr/>
          <a:lstStyle/>
          <a:p>
            <a:fld id="{76D830B0-DF59-4281-898F-AF208100B213}" type="slidenum">
              <a:rPr lang="en-US" altLang="zh-CN" smtClean="0"/>
              <a:pPr/>
              <a:t>82</a:t>
            </a:fld>
            <a:endParaRPr lang="en-US" altLang="zh-CN"/>
          </a:p>
        </p:txBody>
      </p:sp>
    </p:spTree>
    <p:extLst>
      <p:ext uri="{BB962C8B-B14F-4D97-AF65-F5344CB8AC3E}">
        <p14:creationId xmlns:p14="http://schemas.microsoft.com/office/powerpoint/2010/main" val="38650833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7C3A1FD2-A309-BCF9-7BE4-43431B219C72}"/>
              </a:ext>
            </a:extLst>
          </p:cNvPr>
          <p:cNvSpPr txBox="1"/>
          <p:nvPr/>
        </p:nvSpPr>
        <p:spPr>
          <a:xfrm>
            <a:off x="467544" y="1053213"/>
            <a:ext cx="5926757" cy="461665"/>
          </a:xfrm>
          <a:prstGeom prst="rect">
            <a:avLst/>
          </a:prstGeom>
          <a:noFill/>
        </p:spPr>
        <p:txBody>
          <a:bodyPr wrap="square">
            <a:spAutoFit/>
          </a:bodyPr>
          <a:lstStyle/>
          <a:p>
            <a:pPr eaLnBrk="0" hangingPunct="0"/>
            <a:r>
              <a:rPr lang="zh-CN" altLang="en-US" sz="2400" b="1" dirty="0">
                <a:latin typeface="黑体" panose="02010609060101010101" pitchFamily="49" charset="-122"/>
                <a:ea typeface="黑体" panose="02010609060101010101" pitchFamily="49" charset="-122"/>
                <a:cs typeface="Times New Roman" panose="02020603050405020304" pitchFamily="18" charset="0"/>
              </a:rPr>
              <a:t>三、</a:t>
            </a:r>
            <a:r>
              <a:rPr lang="zh-CN" altLang="zh-CN" sz="2400" b="1" kern="100" dirty="0">
                <a:effectLst/>
                <a:latin typeface="Times New Roman" panose="02020603050405020304" pitchFamily="18" charset="0"/>
                <a:ea typeface="黑体" panose="02010609060101010101" pitchFamily="49" charset="-122"/>
              </a:rPr>
              <a:t>笼型异步电动机转子的相数和极对数</a:t>
            </a:r>
            <a:endParaRPr lang="zh-CN" altLang="zh-CN" sz="2400" b="1" kern="100" dirty="0">
              <a:effectLst/>
              <a:latin typeface="Times New Roman" panose="02020603050405020304" pitchFamily="18" charset="0"/>
              <a:ea typeface="宋体" panose="02010600030101010101" pitchFamily="2" charset="-122"/>
            </a:endParaRPr>
          </a:p>
        </p:txBody>
      </p:sp>
      <p:graphicFrame>
        <p:nvGraphicFramePr>
          <p:cNvPr id="3" name="对象 2">
            <a:extLst>
              <a:ext uri="{FF2B5EF4-FFF2-40B4-BE49-F238E27FC236}">
                <a16:creationId xmlns:a16="http://schemas.microsoft.com/office/drawing/2014/main" id="{7B3C8284-EA33-7B80-9B48-C9C1D7496AF0}"/>
              </a:ext>
            </a:extLst>
          </p:cNvPr>
          <p:cNvGraphicFramePr>
            <a:graphicFrameLocks noChangeAspect="1"/>
          </p:cNvGraphicFramePr>
          <p:nvPr>
            <p:extLst>
              <p:ext uri="{D42A27DB-BD31-4B8C-83A1-F6EECF244321}">
                <p14:modId xmlns:p14="http://schemas.microsoft.com/office/powerpoint/2010/main" val="3577247186"/>
              </p:ext>
            </p:extLst>
          </p:nvPr>
        </p:nvGraphicFramePr>
        <p:xfrm>
          <a:off x="422869" y="1704873"/>
          <a:ext cx="4552950" cy="4333875"/>
        </p:xfrm>
        <a:graphic>
          <a:graphicData uri="http://schemas.openxmlformats.org/presentationml/2006/ole">
            <mc:AlternateContent xmlns:mc="http://schemas.openxmlformats.org/markup-compatibility/2006">
              <mc:Choice xmlns:v="urn:schemas-microsoft-com:vml" Requires="v">
                <p:oleObj r:id="rId3" imgW="2159000" imgH="2235200" progId="MSDraw">
                  <p:embed/>
                </p:oleObj>
              </mc:Choice>
              <mc:Fallback>
                <p:oleObj r:id="rId3" imgW="2159000" imgH="2235200" progId="MSDraw">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869" y="1704873"/>
                        <a:ext cx="4552950" cy="433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a:extLst>
              <a:ext uri="{FF2B5EF4-FFF2-40B4-BE49-F238E27FC236}">
                <a16:creationId xmlns:a16="http://schemas.microsoft.com/office/drawing/2014/main" id="{C0423352-5BC6-6207-8AFE-47463EA87500}"/>
              </a:ext>
            </a:extLst>
          </p:cNvPr>
          <p:cNvGraphicFramePr>
            <a:graphicFrameLocks noChangeAspect="1"/>
          </p:cNvGraphicFramePr>
          <p:nvPr>
            <p:extLst>
              <p:ext uri="{D42A27DB-BD31-4B8C-83A1-F6EECF244321}">
                <p14:modId xmlns:p14="http://schemas.microsoft.com/office/powerpoint/2010/main" val="2155946155"/>
              </p:ext>
            </p:extLst>
          </p:nvPr>
        </p:nvGraphicFramePr>
        <p:xfrm>
          <a:off x="5084985" y="2836773"/>
          <a:ext cx="1200150" cy="392113"/>
        </p:xfrm>
        <a:graphic>
          <a:graphicData uri="http://schemas.openxmlformats.org/presentationml/2006/ole">
            <mc:AlternateContent xmlns:mc="http://schemas.openxmlformats.org/markup-compatibility/2006">
              <mc:Choice xmlns:v="urn:schemas-microsoft-com:vml" Requires="v">
                <p:oleObj name="Equation" r:id="rId5" imgW="711000" imgH="228600" progId="Equation.DSMT4">
                  <p:embed/>
                </p:oleObj>
              </mc:Choice>
              <mc:Fallback>
                <p:oleObj name="Equation" r:id="rId5" imgW="711000" imgH="228600" progId="Equation.DSMT4">
                  <p:embed/>
                  <p:pic>
                    <p:nvPicPr>
                      <p:cNvPr id="0" name="Object 9"/>
                      <p:cNvPicPr>
                        <a:picLocks noChangeAspect="1" noChangeArrowheads="1"/>
                      </p:cNvPicPr>
                      <p:nvPr/>
                    </p:nvPicPr>
                    <p:blipFill>
                      <a:blip r:embed="rId6"/>
                      <a:srcRect/>
                      <a:stretch>
                        <a:fillRect/>
                      </a:stretch>
                    </p:blipFill>
                    <p:spPr bwMode="auto">
                      <a:xfrm>
                        <a:off x="5084985" y="2836773"/>
                        <a:ext cx="1200150"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a:extLst>
              <a:ext uri="{FF2B5EF4-FFF2-40B4-BE49-F238E27FC236}">
                <a16:creationId xmlns:a16="http://schemas.microsoft.com/office/drawing/2014/main" id="{5BA017FF-397F-49DE-4805-C10100A49F8D}"/>
              </a:ext>
            </a:extLst>
          </p:cNvPr>
          <p:cNvGraphicFramePr>
            <a:graphicFrameLocks noChangeAspect="1"/>
          </p:cNvGraphicFramePr>
          <p:nvPr>
            <p:extLst>
              <p:ext uri="{D42A27DB-BD31-4B8C-83A1-F6EECF244321}">
                <p14:modId xmlns:p14="http://schemas.microsoft.com/office/powerpoint/2010/main" val="1892649210"/>
              </p:ext>
            </p:extLst>
          </p:nvPr>
        </p:nvGraphicFramePr>
        <p:xfrm>
          <a:off x="6394301" y="2832639"/>
          <a:ext cx="385762" cy="436563"/>
        </p:xfrm>
        <a:graphic>
          <a:graphicData uri="http://schemas.openxmlformats.org/presentationml/2006/ole">
            <mc:AlternateContent xmlns:mc="http://schemas.openxmlformats.org/markup-compatibility/2006">
              <mc:Choice xmlns:v="urn:schemas-microsoft-com:vml" Requires="v">
                <p:oleObj name="Equation" r:id="rId7" imgW="203040" imgH="228600" progId="Equation.DSMT4">
                  <p:embed/>
                </p:oleObj>
              </mc:Choice>
              <mc:Fallback>
                <p:oleObj name="Equation" r:id="rId7" imgW="203040" imgH="228600" progId="Equation.DSMT4">
                  <p:embed/>
                  <p:pic>
                    <p:nvPicPr>
                      <p:cNvPr id="0" name="Object 8"/>
                      <p:cNvPicPr>
                        <a:picLocks noChangeAspect="1" noChangeArrowheads="1"/>
                      </p:cNvPicPr>
                      <p:nvPr/>
                    </p:nvPicPr>
                    <p:blipFill>
                      <a:blip r:embed="rId8"/>
                      <a:srcRect/>
                      <a:stretch>
                        <a:fillRect/>
                      </a:stretch>
                    </p:blipFill>
                    <p:spPr bwMode="auto">
                      <a:xfrm>
                        <a:off x="6394301" y="2832639"/>
                        <a:ext cx="385762" cy="436563"/>
                      </a:xfrm>
                      <a:prstGeom prst="rect">
                        <a:avLst/>
                      </a:prstGeom>
                      <a:noFill/>
                    </p:spPr>
                  </p:pic>
                </p:oleObj>
              </mc:Fallback>
            </mc:AlternateContent>
          </a:graphicData>
        </a:graphic>
      </p:graphicFrame>
      <p:sp>
        <p:nvSpPr>
          <p:cNvPr id="12" name="Rectangle 10">
            <a:extLst>
              <a:ext uri="{FF2B5EF4-FFF2-40B4-BE49-F238E27FC236}">
                <a16:creationId xmlns:a16="http://schemas.microsoft.com/office/drawing/2014/main" id="{0519AB05-F238-9B7C-7E92-358275D9B486}"/>
              </a:ext>
            </a:extLst>
          </p:cNvPr>
          <p:cNvSpPr>
            <a:spLocks noChangeArrowheads="1"/>
          </p:cNvSpPr>
          <p:nvPr/>
        </p:nvSpPr>
        <p:spPr bwMode="auto">
          <a:xfrm>
            <a:off x="5004048" y="1539503"/>
            <a:ext cx="388843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特点：</a:t>
            </a:r>
            <a:endParaRPr kumimoji="0" lang="zh-CN" altLang="zh-CN" sz="20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相数：相邻导条电势相量互差以电弧度表示的转子槽距角</a:t>
            </a:r>
            <a:r>
              <a:rPr kumimoji="0" lang="en-US" altLang="zh-CN" sz="2000" b="1" i="0" u="none" strike="noStrike" cap="none" normalizeH="0" baseline="0" dirty="0">
                <a:ln>
                  <a:noFill/>
                </a:ln>
                <a:solidFill>
                  <a:srgbClr val="000000"/>
                </a:solidFill>
                <a:effectLst/>
                <a:latin typeface="Symbol" panose="05050102010706020507" pitchFamily="18" charset="2"/>
                <a:ea typeface="黑体" panose="02010609060101010101" pitchFamily="49" charset="-122"/>
                <a:cs typeface="Times New Roman" panose="02020603050405020304" pitchFamily="18" charset="0"/>
              </a:rPr>
              <a:t>a</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；每对极下每根导条就构成</a:t>
            </a:r>
            <a:r>
              <a:rPr kumimoji="0" lang="en-US" altLang="zh-CN" sz="20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相，相数</a:t>
            </a:r>
            <a:endParaRPr kumimoji="0" lang="zh-CN" altLang="en-US" sz="2000" b="0" i="0" u="none" strike="noStrike" cap="none" normalizeH="0" baseline="0" dirty="0">
              <a:ln>
                <a:noFill/>
              </a:ln>
              <a:solidFill>
                <a:schemeClr val="tx1"/>
              </a:solidFill>
              <a:effectLst/>
              <a:latin typeface="Arial" panose="020B0604020202020204" pitchFamily="34" charset="0"/>
            </a:endParaRPr>
          </a:p>
        </p:txBody>
      </p:sp>
      <p:sp>
        <p:nvSpPr>
          <p:cNvPr id="14" name="Rectangle 11">
            <a:extLst>
              <a:ext uri="{FF2B5EF4-FFF2-40B4-BE49-F238E27FC236}">
                <a16:creationId xmlns:a16="http://schemas.microsoft.com/office/drawing/2014/main" id="{2FD22BB1-1332-BD59-EAC9-DD887DFD7DE1}"/>
              </a:ext>
            </a:extLst>
          </p:cNvPr>
          <p:cNvSpPr>
            <a:spLocks noChangeArrowheads="1"/>
          </p:cNvSpPr>
          <p:nvPr/>
        </p:nvSpPr>
        <p:spPr bwMode="auto">
          <a:xfrm>
            <a:off x="6168007" y="2787524"/>
            <a:ext cx="6155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15" name="Rectangle 12">
            <a:extLst>
              <a:ext uri="{FF2B5EF4-FFF2-40B4-BE49-F238E27FC236}">
                <a16:creationId xmlns:a16="http://schemas.microsoft.com/office/drawing/2014/main" id="{0CB09CC1-E775-1416-1C4D-B484FEFD5F10}"/>
              </a:ext>
            </a:extLst>
          </p:cNvPr>
          <p:cNvSpPr>
            <a:spLocks noChangeArrowheads="1"/>
          </p:cNvSpPr>
          <p:nvPr/>
        </p:nvSpPr>
        <p:spPr bwMode="auto">
          <a:xfrm>
            <a:off x="6669161" y="2808962"/>
            <a:ext cx="208489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为转子导条数：</a:t>
            </a:r>
            <a:endPar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p:txBody>
      </p:sp>
      <p:sp>
        <p:nvSpPr>
          <p:cNvPr id="17" name="文本框 16">
            <a:extLst>
              <a:ext uri="{FF2B5EF4-FFF2-40B4-BE49-F238E27FC236}">
                <a16:creationId xmlns:a16="http://schemas.microsoft.com/office/drawing/2014/main" id="{00BEAB75-7DC7-180A-BEFA-3971CFB4D957}"/>
              </a:ext>
            </a:extLst>
          </p:cNvPr>
          <p:cNvSpPr txBox="1"/>
          <p:nvPr/>
        </p:nvSpPr>
        <p:spPr>
          <a:xfrm>
            <a:off x="5321218" y="3172906"/>
            <a:ext cx="3309031"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笼型绕组是对称多相绕组。</a:t>
            </a:r>
            <a:endParaRPr kumimoji="0" lang="zh-CN" altLang="en-US" sz="1600" b="0" i="0" u="none" strike="noStrike" cap="none" normalizeH="0" baseline="0" dirty="0">
              <a:ln>
                <a:noFill/>
              </a:ln>
              <a:solidFill>
                <a:srgbClr val="FF0000"/>
              </a:solidFill>
              <a:effectLst>
                <a:outerShdw blurRad="38100" dist="38100" dir="2700000" algn="tl">
                  <a:srgbClr val="000000">
                    <a:alpha val="43137"/>
                  </a:srgbClr>
                </a:outerShdw>
              </a:effectLst>
            </a:endParaRPr>
          </a:p>
        </p:txBody>
      </p:sp>
      <p:sp>
        <p:nvSpPr>
          <p:cNvPr id="23" name="文本框 22">
            <a:extLst>
              <a:ext uri="{FF2B5EF4-FFF2-40B4-BE49-F238E27FC236}">
                <a16:creationId xmlns:a16="http://schemas.microsoft.com/office/drawing/2014/main" id="{435350D7-5185-F2D0-7B4C-7F0A29BC7736}"/>
              </a:ext>
            </a:extLst>
          </p:cNvPr>
          <p:cNvSpPr txBox="1"/>
          <p:nvPr/>
        </p:nvSpPr>
        <p:spPr>
          <a:xfrm>
            <a:off x="5004048" y="3588782"/>
            <a:ext cx="3870920" cy="1631216"/>
          </a:xfrm>
          <a:prstGeom prst="rect">
            <a:avLst/>
          </a:prstGeom>
          <a:noFill/>
        </p:spPr>
        <p:txBody>
          <a:bodyPr wrap="square">
            <a:spAutoFit/>
          </a:bodyPr>
          <a:lstStyle/>
          <a:p>
            <a:pPr algn="just"/>
            <a:r>
              <a:rPr lang="zh-CN" altLang="zh-CN" sz="2000" b="1" kern="100" dirty="0">
                <a:solidFill>
                  <a:srgbClr val="000000"/>
                </a:solidFill>
                <a:effectLst/>
                <a:latin typeface="Times New Roman" panose="02020603050405020304" pitchFamily="18" charset="0"/>
                <a:ea typeface="黑体" panose="02010609060101010101" pitchFamily="49" charset="-122"/>
              </a:rPr>
              <a:t>·极对数：</a:t>
            </a:r>
            <a:r>
              <a:rPr lang="zh-CN" altLang="zh-CN" sz="2000" b="1" kern="100" dirty="0">
                <a:solidFill>
                  <a:srgbClr val="0000FF"/>
                </a:solidFill>
                <a:effectLst/>
                <a:latin typeface="Times New Roman" panose="02020603050405020304" pitchFamily="18" charset="0"/>
                <a:ea typeface="黑体" panose="02010609060101010101" pitchFamily="49" charset="-122"/>
              </a:rPr>
              <a:t>转子各导条电流空间分布取决于气隙磁场的分布</a:t>
            </a:r>
            <a:r>
              <a:rPr lang="zh-CN" altLang="zh-CN" sz="2000" b="1" kern="100" dirty="0">
                <a:solidFill>
                  <a:srgbClr val="000000"/>
                </a:solidFill>
                <a:effectLst/>
                <a:latin typeface="Times New Roman" panose="02020603050405020304" pitchFamily="18" charset="0"/>
                <a:ea typeface="黑体" panose="02010609060101010101" pitchFamily="49" charset="-122"/>
              </a:rPr>
              <a:t>；</a:t>
            </a:r>
            <a:r>
              <a:rPr lang="zh-CN" altLang="zh-CN" sz="2000" b="1" kern="1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转子电流所生磁极对数和合成磁势与产生它的气隙磁场相同</a:t>
            </a:r>
            <a:r>
              <a:rPr lang="zh-CN" altLang="zh-CN" sz="20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zh-CN" sz="2000" b="1" kern="100" dirty="0">
                <a:solidFill>
                  <a:srgbClr val="0000FF"/>
                </a:solidFill>
                <a:effectLst/>
                <a:latin typeface="Times New Roman" panose="02020603050405020304" pitchFamily="18" charset="0"/>
                <a:ea typeface="黑体" panose="02010609060101010101" pitchFamily="49" charset="-122"/>
                <a:cs typeface="Times New Roman" panose="02020603050405020304" pitchFamily="18" charset="0"/>
              </a:rPr>
              <a:t>转子磁势与定子磁势</a:t>
            </a:r>
            <a:r>
              <a:rPr lang="zh-CN" altLang="zh-CN" sz="2000" b="1" kern="1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空间位置相对静止</a:t>
            </a:r>
            <a:r>
              <a:rPr lang="zh-CN" altLang="zh-CN" sz="2000" b="1" kern="1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400" b="1" kern="100" dirty="0">
              <a:solidFill>
                <a:srgbClr val="FF00FF"/>
              </a:solidFill>
              <a:effectLst/>
              <a:latin typeface="Times New Roman" panose="02020603050405020304" pitchFamily="18" charset="0"/>
              <a:ea typeface="宋体" panose="02010600030101010101" pitchFamily="2" charset="-122"/>
            </a:endParaRPr>
          </a:p>
        </p:txBody>
      </p:sp>
      <p:sp>
        <p:nvSpPr>
          <p:cNvPr id="30" name="文本框 29">
            <a:extLst>
              <a:ext uri="{FF2B5EF4-FFF2-40B4-BE49-F238E27FC236}">
                <a16:creationId xmlns:a16="http://schemas.microsoft.com/office/drawing/2014/main" id="{9ED0C769-C5C4-6FD7-094F-103096A7F459}"/>
              </a:ext>
            </a:extLst>
          </p:cNvPr>
          <p:cNvSpPr txBox="1"/>
          <p:nvPr/>
        </p:nvSpPr>
        <p:spPr>
          <a:xfrm>
            <a:off x="5026173" y="5169386"/>
            <a:ext cx="3899123" cy="707886"/>
          </a:xfrm>
          <a:prstGeom prst="rect">
            <a:avLst/>
          </a:prstGeom>
          <a:noFill/>
        </p:spPr>
        <p:txBody>
          <a:bodyPr wrap="square">
            <a:spAutoFit/>
          </a:bodyPr>
          <a:lstStyle/>
          <a:p>
            <a:pPr algn="just"/>
            <a:r>
              <a:rPr lang="zh-CN" altLang="en-US" sz="2000" b="1" kern="100" dirty="0">
                <a:solidFill>
                  <a:srgbClr val="000000"/>
                </a:solidFill>
                <a:effectLst/>
                <a:latin typeface="Times New Roman" panose="02020603050405020304" pitchFamily="18" charset="0"/>
                <a:ea typeface="黑体" panose="02010609060101010101" pitchFamily="49" charset="-122"/>
              </a:rPr>
              <a:t>因此，</a:t>
            </a:r>
            <a:r>
              <a:rPr lang="zh-CN" altLang="zh-CN" sz="2000" b="1" kern="100" dirty="0">
                <a:solidFill>
                  <a:srgbClr val="000000"/>
                </a:solidFill>
                <a:effectLst/>
                <a:latin typeface="Times New Roman" panose="02020603050405020304" pitchFamily="18" charset="0"/>
                <a:ea typeface="黑体" panose="02010609060101010101" pitchFamily="49" charset="-122"/>
              </a:rPr>
              <a:t>磁势平衡关系与绕线转子电机本质相同，绕线结论适用。</a:t>
            </a:r>
            <a:endParaRPr lang="zh-CN" altLang="zh-CN" sz="1400" b="1" kern="100" dirty="0">
              <a:solidFill>
                <a:srgbClr val="FF00FF"/>
              </a:solidFill>
              <a:effectLst/>
              <a:latin typeface="Times New Roman" panose="02020603050405020304" pitchFamily="18" charset="0"/>
              <a:ea typeface="宋体" panose="02010600030101010101" pitchFamily="2" charset="-122"/>
            </a:endParaRPr>
          </a:p>
        </p:txBody>
      </p:sp>
      <p:sp>
        <p:nvSpPr>
          <p:cNvPr id="32" name="文本框 31">
            <a:extLst>
              <a:ext uri="{FF2B5EF4-FFF2-40B4-BE49-F238E27FC236}">
                <a16:creationId xmlns:a16="http://schemas.microsoft.com/office/drawing/2014/main" id="{1CCDD678-791F-DEBB-667D-79044CEA189F}"/>
              </a:ext>
            </a:extLst>
          </p:cNvPr>
          <p:cNvSpPr txBox="1"/>
          <p:nvPr/>
        </p:nvSpPr>
        <p:spPr>
          <a:xfrm>
            <a:off x="637853" y="6200224"/>
            <a:ext cx="8237115" cy="400110"/>
          </a:xfrm>
          <a:prstGeom prst="rect">
            <a:avLst/>
          </a:prstGeom>
          <a:noFill/>
        </p:spPr>
        <p:txBody>
          <a:bodyPr wrap="square">
            <a:spAutoFit/>
          </a:bodyPr>
          <a:lstStyle/>
          <a:p>
            <a:r>
              <a:rPr lang="zh-CN" altLang="zh-CN" sz="2000" b="1" kern="100"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笼型转子的多相绕组可等效为三相绕组</a:t>
            </a:r>
            <a:r>
              <a:rPr lang="zh-CN" altLang="en-US" sz="2000" b="1" kern="100"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cs typeface="Times New Roman" panose="02020603050405020304" pitchFamily="18" charset="0"/>
              </a:rPr>
              <a:t>，且</a:t>
            </a:r>
            <a:r>
              <a:rPr lang="zh-CN" altLang="zh-CN" sz="2000" b="1" kern="100" dirty="0">
                <a:solidFill>
                  <a:srgbClr val="FF0000"/>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极对数自动跟随定子极对数。</a:t>
            </a:r>
            <a:endParaRPr lang="zh-CN" altLang="en-US" sz="2000" dirty="0">
              <a:solidFill>
                <a:srgbClr val="FF0000"/>
              </a:solidFill>
              <a:effectLst>
                <a:outerShdw blurRad="38100" dist="38100" dir="2700000" algn="tl">
                  <a:srgbClr val="000000">
                    <a:alpha val="43137"/>
                  </a:srgbClr>
                </a:outerShdw>
              </a:effectLst>
            </a:endParaRPr>
          </a:p>
        </p:txBody>
      </p:sp>
      <p:sp>
        <p:nvSpPr>
          <p:cNvPr id="4" name="灯片编号占位符 3">
            <a:extLst>
              <a:ext uri="{FF2B5EF4-FFF2-40B4-BE49-F238E27FC236}">
                <a16:creationId xmlns:a16="http://schemas.microsoft.com/office/drawing/2014/main" id="{AE2D9970-848B-1DAE-5759-B17ED2146E3E}"/>
              </a:ext>
            </a:extLst>
          </p:cNvPr>
          <p:cNvSpPr>
            <a:spLocks noGrp="1"/>
          </p:cNvSpPr>
          <p:nvPr>
            <p:ph type="sldNum" sz="quarter" idx="12"/>
          </p:nvPr>
        </p:nvSpPr>
        <p:spPr/>
        <p:txBody>
          <a:bodyPr/>
          <a:lstStyle/>
          <a:p>
            <a:fld id="{76D830B0-DF59-4281-898F-AF208100B213}" type="slidenum">
              <a:rPr lang="en-US" altLang="zh-CN" smtClean="0"/>
              <a:pPr/>
              <a:t>83</a:t>
            </a:fld>
            <a:endParaRPr lang="en-US" altLang="zh-CN"/>
          </a:p>
        </p:txBody>
      </p:sp>
    </p:spTree>
    <p:extLst>
      <p:ext uri="{BB962C8B-B14F-4D97-AF65-F5344CB8AC3E}">
        <p14:creationId xmlns:p14="http://schemas.microsoft.com/office/powerpoint/2010/main" val="358826458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754543B-2633-4912-ADB0-89AB1A9C6570}"/>
              </a:ext>
            </a:extLst>
          </p:cNvPr>
          <p:cNvSpPr>
            <a:spLocks noChangeArrowheads="1"/>
          </p:cNvSpPr>
          <p:nvPr/>
        </p:nvSpPr>
        <p:spPr bwMode="auto">
          <a:xfrm>
            <a:off x="107504" y="1052736"/>
            <a:ext cx="868859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5-4 </a:t>
            </a:r>
            <a:r>
              <a:rPr kumimoji="0" lang="zh-CN" altLang="en-US" sz="2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利用等值电路分析三相异步电动机的功率与转矩</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5" name="对象 4">
            <a:extLst>
              <a:ext uri="{FF2B5EF4-FFF2-40B4-BE49-F238E27FC236}">
                <a16:creationId xmlns:a16="http://schemas.microsoft.com/office/drawing/2014/main" id="{6A53B397-F478-D6E3-B61A-5FFEF64DE3FD}"/>
              </a:ext>
            </a:extLst>
          </p:cNvPr>
          <p:cNvGraphicFramePr>
            <a:graphicFrameLocks noChangeAspect="1"/>
          </p:cNvGraphicFramePr>
          <p:nvPr>
            <p:extLst>
              <p:ext uri="{D42A27DB-BD31-4B8C-83A1-F6EECF244321}">
                <p14:modId xmlns:p14="http://schemas.microsoft.com/office/powerpoint/2010/main" val="2284685147"/>
              </p:ext>
            </p:extLst>
          </p:nvPr>
        </p:nvGraphicFramePr>
        <p:xfrm>
          <a:off x="1187624" y="1844824"/>
          <a:ext cx="7128792" cy="4181359"/>
        </p:xfrm>
        <a:graphic>
          <a:graphicData uri="http://schemas.openxmlformats.org/presentationml/2006/ole">
            <mc:AlternateContent xmlns:mc="http://schemas.openxmlformats.org/markup-compatibility/2006">
              <mc:Choice xmlns:v="urn:schemas-microsoft-com:vml" Requires="v">
                <p:oleObj r:id="rId2" imgW="3530600" imgH="2081213" progId="MSDraw">
                  <p:embed/>
                </p:oleObj>
              </mc:Choice>
              <mc:Fallback>
                <p:oleObj r:id="rId2" imgW="3530600" imgH="2081213" progId="MSDraw">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1844824"/>
                        <a:ext cx="7128792" cy="4181359"/>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B6D54CD4-1212-9F79-F361-0E9D4B796B67}"/>
              </a:ext>
            </a:extLst>
          </p:cNvPr>
          <p:cNvSpPr>
            <a:spLocks noGrp="1"/>
          </p:cNvSpPr>
          <p:nvPr>
            <p:ph type="sldNum" sz="quarter" idx="12"/>
          </p:nvPr>
        </p:nvSpPr>
        <p:spPr/>
        <p:txBody>
          <a:bodyPr/>
          <a:lstStyle/>
          <a:p>
            <a:fld id="{76D830B0-DF59-4281-898F-AF208100B213}" type="slidenum">
              <a:rPr lang="en-US" altLang="zh-CN" smtClean="0"/>
              <a:pPr/>
              <a:t>84</a:t>
            </a:fld>
            <a:endParaRPr lang="en-US" altLang="zh-CN"/>
          </a:p>
        </p:txBody>
      </p:sp>
    </p:spTree>
    <p:extLst>
      <p:ext uri="{BB962C8B-B14F-4D97-AF65-F5344CB8AC3E}">
        <p14:creationId xmlns:p14="http://schemas.microsoft.com/office/powerpoint/2010/main" val="21379107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630B133-8C40-D66C-A6EB-9BA5DF537469}"/>
              </a:ext>
            </a:extLst>
          </p:cNvPr>
          <p:cNvSpPr txBox="1"/>
          <p:nvPr/>
        </p:nvSpPr>
        <p:spPr>
          <a:xfrm>
            <a:off x="467544" y="1052736"/>
            <a:ext cx="7344816" cy="461665"/>
          </a:xfrm>
          <a:prstGeom prst="rect">
            <a:avLst/>
          </a:prstGeom>
          <a:noFill/>
        </p:spPr>
        <p:txBody>
          <a:bodyPr wrap="square">
            <a:spAutoFit/>
          </a:bodyPr>
          <a:lstStyle/>
          <a:p>
            <a:pPr eaLnBrk="0" hangingPunct="0"/>
            <a:r>
              <a:rPr lang="zh-CN" altLang="en-US" sz="2400" b="1" dirty="0">
                <a:latin typeface="黑体" panose="02010609060101010101" pitchFamily="49" charset="-122"/>
                <a:ea typeface="黑体" panose="02010609060101010101" pitchFamily="49" charset="-122"/>
                <a:cs typeface="Times New Roman" panose="02020603050405020304" pitchFamily="18" charset="0"/>
              </a:rPr>
              <a:t>一、</a:t>
            </a:r>
            <a:r>
              <a:rPr lang="zh-CN" altLang="en-US" sz="2400" b="1" kern="100" dirty="0">
                <a:effectLst/>
                <a:latin typeface="Times New Roman" panose="02020603050405020304" pitchFamily="18" charset="0"/>
                <a:ea typeface="黑体" panose="02010609060101010101" pitchFamily="49" charset="-122"/>
              </a:rPr>
              <a:t>功率平衡方程</a:t>
            </a:r>
            <a:endParaRPr lang="zh-CN" altLang="zh-CN" sz="2400" b="1" kern="100" dirty="0">
              <a:effectLst/>
              <a:latin typeface="Times New Roman" panose="02020603050405020304" pitchFamily="18" charset="0"/>
              <a:ea typeface="宋体" panose="02010600030101010101" pitchFamily="2" charset="-122"/>
            </a:endParaRPr>
          </a:p>
        </p:txBody>
      </p:sp>
      <p:graphicFrame>
        <p:nvGraphicFramePr>
          <p:cNvPr id="4" name="对象 3">
            <a:extLst>
              <a:ext uri="{FF2B5EF4-FFF2-40B4-BE49-F238E27FC236}">
                <a16:creationId xmlns:a16="http://schemas.microsoft.com/office/drawing/2014/main" id="{4535835A-CD96-EE7B-4314-FFEE01E1DDC0}"/>
              </a:ext>
            </a:extLst>
          </p:cNvPr>
          <p:cNvGraphicFramePr>
            <a:graphicFrameLocks noChangeAspect="1"/>
          </p:cNvGraphicFramePr>
          <p:nvPr>
            <p:extLst>
              <p:ext uri="{D42A27DB-BD31-4B8C-83A1-F6EECF244321}">
                <p14:modId xmlns:p14="http://schemas.microsoft.com/office/powerpoint/2010/main" val="3148037050"/>
              </p:ext>
            </p:extLst>
          </p:nvPr>
        </p:nvGraphicFramePr>
        <p:xfrm>
          <a:off x="611560" y="1734319"/>
          <a:ext cx="114300" cy="214313"/>
        </p:xfrm>
        <a:graphic>
          <a:graphicData uri="http://schemas.openxmlformats.org/presentationml/2006/ole">
            <mc:AlternateContent xmlns:mc="http://schemas.openxmlformats.org/markup-compatibility/2006">
              <mc:Choice xmlns:v="urn:schemas-microsoft-com:vml" Requires="v">
                <p:oleObj name="Equation" r:id="rId3" imgW="114151" imgH="215619" progId="Equation.DSMT4">
                  <p:embed/>
                </p:oleObj>
              </mc:Choice>
              <mc:Fallback>
                <p:oleObj name="Equation" r:id="rId3" imgW="114151" imgH="215619"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1734319"/>
                        <a:ext cx="114300" cy="21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C8FC18F6-DC28-52C5-5A43-1BDA035E444E}"/>
              </a:ext>
            </a:extLst>
          </p:cNvPr>
          <p:cNvGraphicFramePr>
            <a:graphicFrameLocks noChangeAspect="1"/>
          </p:cNvGraphicFramePr>
          <p:nvPr>
            <p:extLst>
              <p:ext uri="{D42A27DB-BD31-4B8C-83A1-F6EECF244321}">
                <p14:modId xmlns:p14="http://schemas.microsoft.com/office/powerpoint/2010/main" val="3533270321"/>
              </p:ext>
            </p:extLst>
          </p:nvPr>
        </p:nvGraphicFramePr>
        <p:xfrm>
          <a:off x="2126581" y="1737182"/>
          <a:ext cx="2166938" cy="490537"/>
        </p:xfrm>
        <a:graphic>
          <a:graphicData uri="http://schemas.openxmlformats.org/presentationml/2006/ole">
            <mc:AlternateContent xmlns:mc="http://schemas.openxmlformats.org/markup-compatibility/2006">
              <mc:Choice xmlns:v="urn:schemas-microsoft-com:vml" Requires="v">
                <p:oleObj name="Equation" r:id="rId5" imgW="1002865" imgH="228501" progId="Equation.DSMT4">
                  <p:embed/>
                </p:oleObj>
              </mc:Choice>
              <mc:Fallback>
                <p:oleObj name="Equation" r:id="rId5" imgW="1002865" imgH="228501"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6581" y="1737182"/>
                        <a:ext cx="2166938" cy="490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C5513852-2439-FC52-1F28-475B140E1136}"/>
              </a:ext>
            </a:extLst>
          </p:cNvPr>
          <p:cNvGraphicFramePr>
            <a:graphicFrameLocks noChangeAspect="1"/>
          </p:cNvGraphicFramePr>
          <p:nvPr>
            <p:extLst>
              <p:ext uri="{D42A27DB-BD31-4B8C-83A1-F6EECF244321}">
                <p14:modId xmlns:p14="http://schemas.microsoft.com/office/powerpoint/2010/main" val="198821896"/>
              </p:ext>
            </p:extLst>
          </p:nvPr>
        </p:nvGraphicFramePr>
        <p:xfrm>
          <a:off x="2121617" y="2409071"/>
          <a:ext cx="2814638" cy="485775"/>
        </p:xfrm>
        <a:graphic>
          <a:graphicData uri="http://schemas.openxmlformats.org/presentationml/2006/ole">
            <mc:AlternateContent xmlns:mc="http://schemas.openxmlformats.org/markup-compatibility/2006">
              <mc:Choice xmlns:v="urn:schemas-microsoft-com:vml" Requires="v">
                <p:oleObj name="Equation" r:id="rId7" imgW="1346200" imgH="228600" progId="Equation.DSMT4">
                  <p:embed/>
                </p:oleObj>
              </mc:Choice>
              <mc:Fallback>
                <p:oleObj name="Equation" r:id="rId7" imgW="1346200" imgH="228600"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1617" y="2409071"/>
                        <a:ext cx="2814638"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151DF1AE-BD9D-8547-F3FB-50D7C58730A2}"/>
              </a:ext>
            </a:extLst>
          </p:cNvPr>
          <p:cNvGraphicFramePr>
            <a:graphicFrameLocks noChangeAspect="1"/>
          </p:cNvGraphicFramePr>
          <p:nvPr>
            <p:extLst>
              <p:ext uri="{D42A27DB-BD31-4B8C-83A1-F6EECF244321}">
                <p14:modId xmlns:p14="http://schemas.microsoft.com/office/powerpoint/2010/main" val="1786668373"/>
              </p:ext>
            </p:extLst>
          </p:nvPr>
        </p:nvGraphicFramePr>
        <p:xfrm>
          <a:off x="6660232" y="2410956"/>
          <a:ext cx="1656184" cy="513988"/>
        </p:xfrm>
        <a:graphic>
          <a:graphicData uri="http://schemas.openxmlformats.org/presentationml/2006/ole">
            <mc:AlternateContent xmlns:mc="http://schemas.openxmlformats.org/markup-compatibility/2006">
              <mc:Choice xmlns:v="urn:schemas-microsoft-com:vml" Requires="v">
                <p:oleObj name="Equation" r:id="rId9" imgW="774364" imgH="241195" progId="Equation.DSMT4">
                  <p:embed/>
                </p:oleObj>
              </mc:Choice>
              <mc:Fallback>
                <p:oleObj name="Equation" r:id="rId9" imgW="774364" imgH="241195" progId="Equation.DSMT4">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60232" y="2410956"/>
                        <a:ext cx="1656184" cy="513988"/>
                      </a:xfrm>
                      <a:prstGeom prst="rect">
                        <a:avLst/>
                      </a:prstGeom>
                      <a:noFill/>
                    </p:spPr>
                  </p:pic>
                </p:oleObj>
              </mc:Fallback>
            </mc:AlternateContent>
          </a:graphicData>
        </a:graphic>
      </p:graphicFrame>
      <p:sp>
        <p:nvSpPr>
          <p:cNvPr id="10" name="Rectangle 6">
            <a:extLst>
              <a:ext uri="{FF2B5EF4-FFF2-40B4-BE49-F238E27FC236}">
                <a16:creationId xmlns:a16="http://schemas.microsoft.com/office/drawing/2014/main" id="{BDB3CF64-94E7-A999-40BC-4B0292060D0B}"/>
              </a:ext>
            </a:extLst>
          </p:cNvPr>
          <p:cNvSpPr>
            <a:spLocks noChangeArrowheads="1"/>
          </p:cNvSpPr>
          <p:nvPr/>
        </p:nvSpPr>
        <p:spPr bwMode="auto">
          <a:xfrm>
            <a:off x="611560" y="1734319"/>
            <a:ext cx="18722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输入功率</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7">
            <a:extLst>
              <a:ext uri="{FF2B5EF4-FFF2-40B4-BE49-F238E27FC236}">
                <a16:creationId xmlns:a16="http://schemas.microsoft.com/office/drawing/2014/main" id="{5BE7A194-1C06-71C3-920F-7754EC2F0685}"/>
              </a:ext>
            </a:extLst>
          </p:cNvPr>
          <p:cNvSpPr>
            <a:spLocks noChangeArrowheads="1"/>
          </p:cNvSpPr>
          <p:nvPr/>
        </p:nvSpPr>
        <p:spPr bwMode="auto">
          <a:xfrm>
            <a:off x="3892377" y="1748249"/>
            <a:ext cx="48560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，式中为定子</a:t>
            </a:r>
            <a:r>
              <a:rPr kumimoji="0" lang="zh-CN" altLang="en-US"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相</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电压、</a:t>
            </a:r>
            <a:r>
              <a:rPr kumimoji="0" lang="zh-CN" altLang="en-US" sz="2400" b="1" i="0" u="none" strike="noStrike" cap="none" normalizeH="0" baseline="0" dirty="0">
                <a:ln>
                  <a:noFill/>
                </a:ln>
                <a:solidFill>
                  <a:srgbClr val="FF00FF"/>
                </a:solidFill>
                <a:effectLst/>
                <a:latin typeface="黑体" panose="02010609060101010101" pitchFamily="49" charset="-122"/>
                <a:ea typeface="黑体" panose="02010609060101010101" pitchFamily="49" charset="-122"/>
                <a:cs typeface="Times New Roman" panose="02020603050405020304" pitchFamily="18" charset="0"/>
              </a:rPr>
              <a:t>相</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电流。</a:t>
            </a:r>
            <a:endParaRPr kumimoji="0" lang="zh-CN" altLang="en-US" sz="400" b="0" i="0" u="none" strike="noStrike" cap="none" normalizeH="0" baseline="0" dirty="0">
              <a:ln>
                <a:noFill/>
              </a:ln>
              <a:solidFill>
                <a:schemeClr val="tx1"/>
              </a:solidFill>
              <a:effectLst/>
            </a:endParaRPr>
          </a:p>
        </p:txBody>
      </p:sp>
      <p:sp>
        <p:nvSpPr>
          <p:cNvPr id="12" name="Rectangle 8">
            <a:extLst>
              <a:ext uri="{FF2B5EF4-FFF2-40B4-BE49-F238E27FC236}">
                <a16:creationId xmlns:a16="http://schemas.microsoft.com/office/drawing/2014/main" id="{3B6E9BA4-4EF5-1AAB-68EB-A92814D33ADB}"/>
              </a:ext>
            </a:extLst>
          </p:cNvPr>
          <p:cNvSpPr>
            <a:spLocks noChangeArrowheads="1"/>
          </p:cNvSpPr>
          <p:nvPr/>
        </p:nvSpPr>
        <p:spPr bwMode="auto">
          <a:xfrm>
            <a:off x="4790135" y="2421125"/>
            <a:ext cx="22322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定子铜耗：</a:t>
            </a: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14" name="文本框 13">
            <a:extLst>
              <a:ext uri="{FF2B5EF4-FFF2-40B4-BE49-F238E27FC236}">
                <a16:creationId xmlns:a16="http://schemas.microsoft.com/office/drawing/2014/main" id="{8406C6C6-643C-5E0B-D18F-7A9D329D4A39}"/>
              </a:ext>
            </a:extLst>
          </p:cNvPr>
          <p:cNvSpPr txBox="1"/>
          <p:nvPr/>
        </p:nvSpPr>
        <p:spPr>
          <a:xfrm>
            <a:off x="611560" y="2405078"/>
            <a:ext cx="1720304" cy="461665"/>
          </a:xfrm>
          <a:prstGeom prst="rect">
            <a:avLst/>
          </a:prstGeom>
          <a:noFill/>
        </p:spPr>
        <p:txBody>
          <a:bodyPr wrap="square">
            <a:spAutoFit/>
          </a:bodyPr>
          <a:lstStyle/>
          <a:p>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电磁功率：</a:t>
            </a: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400" dirty="0"/>
          </a:p>
        </p:txBody>
      </p:sp>
      <p:graphicFrame>
        <p:nvGraphicFramePr>
          <p:cNvPr id="20" name="对象 19">
            <a:extLst>
              <a:ext uri="{FF2B5EF4-FFF2-40B4-BE49-F238E27FC236}">
                <a16:creationId xmlns:a16="http://schemas.microsoft.com/office/drawing/2014/main" id="{D98CA451-75F8-370E-CEED-29E01641DADC}"/>
              </a:ext>
            </a:extLst>
          </p:cNvPr>
          <p:cNvGraphicFramePr>
            <a:graphicFrameLocks noChangeAspect="1"/>
          </p:cNvGraphicFramePr>
          <p:nvPr>
            <p:extLst>
              <p:ext uri="{D42A27DB-BD31-4B8C-83A1-F6EECF244321}">
                <p14:modId xmlns:p14="http://schemas.microsoft.com/office/powerpoint/2010/main" val="2552877359"/>
              </p:ext>
            </p:extLst>
          </p:nvPr>
        </p:nvGraphicFramePr>
        <p:xfrm>
          <a:off x="2120986" y="3156977"/>
          <a:ext cx="1736367" cy="506214"/>
        </p:xfrm>
        <a:graphic>
          <a:graphicData uri="http://schemas.openxmlformats.org/presentationml/2006/ole">
            <mc:AlternateContent xmlns:mc="http://schemas.openxmlformats.org/markup-compatibility/2006">
              <mc:Choice xmlns:v="urn:schemas-microsoft-com:vml" Requires="v">
                <p:oleObj name="Equation" r:id="rId11" imgW="825500" imgH="241300" progId="Equation.DSMT4">
                  <p:embed/>
                </p:oleObj>
              </mc:Choice>
              <mc:Fallback>
                <p:oleObj name="Equation" r:id="rId11" imgW="825500" imgH="241300" progId="Equation.DSMT4">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20986" y="3156977"/>
                        <a:ext cx="1736367" cy="506214"/>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5825456F-87C2-BBAC-4F74-95C1F2CAC358}"/>
              </a:ext>
            </a:extLst>
          </p:cNvPr>
          <p:cNvGraphicFramePr>
            <a:graphicFrameLocks noChangeAspect="1"/>
          </p:cNvGraphicFramePr>
          <p:nvPr>
            <p:extLst>
              <p:ext uri="{D42A27DB-BD31-4B8C-83A1-F6EECF244321}">
                <p14:modId xmlns:p14="http://schemas.microsoft.com/office/powerpoint/2010/main" val="3969520995"/>
              </p:ext>
            </p:extLst>
          </p:nvPr>
        </p:nvGraphicFramePr>
        <p:xfrm>
          <a:off x="5476545" y="3071316"/>
          <a:ext cx="1900238" cy="628650"/>
        </p:xfrm>
        <a:graphic>
          <a:graphicData uri="http://schemas.openxmlformats.org/presentationml/2006/ole">
            <mc:AlternateContent xmlns:mc="http://schemas.openxmlformats.org/markup-compatibility/2006">
              <mc:Choice xmlns:v="urn:schemas-microsoft-com:vml" Requires="v">
                <p:oleObj name="Equation" r:id="rId13" imgW="838200" imgH="279400" progId="Equation.DSMT4">
                  <p:embed/>
                </p:oleObj>
              </mc:Choice>
              <mc:Fallback>
                <p:oleObj name="Equation" r:id="rId13" imgW="838200" imgH="279400" progId="Equation.DSMT4">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76545" y="3071316"/>
                        <a:ext cx="1900238"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16">
            <a:extLst>
              <a:ext uri="{FF2B5EF4-FFF2-40B4-BE49-F238E27FC236}">
                <a16:creationId xmlns:a16="http://schemas.microsoft.com/office/drawing/2014/main" id="{2C06F641-B1EC-A165-B50D-22574AE41D29}"/>
              </a:ext>
            </a:extLst>
          </p:cNvPr>
          <p:cNvSpPr>
            <a:spLocks noChangeArrowheads="1"/>
          </p:cNvSpPr>
          <p:nvPr/>
        </p:nvSpPr>
        <p:spPr bwMode="auto">
          <a:xfrm>
            <a:off x="622488" y="3156977"/>
            <a:ext cx="17203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8000"/>
                </a:solidFill>
                <a:effectLst/>
                <a:latin typeface="黑体" panose="02010609060101010101" pitchFamily="49" charset="-122"/>
                <a:ea typeface="黑体" panose="02010609060101010101" pitchFamily="49" charset="-122"/>
                <a:cs typeface="Times New Roman" panose="02020603050405020304" pitchFamily="18" charset="0"/>
              </a:rPr>
              <a:t>定子铁耗</a:t>
            </a:r>
            <a:r>
              <a:rPr kumimoji="0" lang="zh-CN" altLang="en-US" sz="2400" b="1" i="0" u="none" strike="noStrike" cap="none" normalizeH="0" baseline="0" dirty="0">
                <a:ln>
                  <a:noFill/>
                </a:ln>
                <a:solidFill>
                  <a:srgbClr val="008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3" name="Rectangle 17">
            <a:extLst>
              <a:ext uri="{FF2B5EF4-FFF2-40B4-BE49-F238E27FC236}">
                <a16:creationId xmlns:a16="http://schemas.microsoft.com/office/drawing/2014/main" id="{5138613F-ABF9-54E8-B912-0FC97D14A1A7}"/>
              </a:ext>
            </a:extLst>
          </p:cNvPr>
          <p:cNvSpPr>
            <a:spLocks noChangeArrowheads="1"/>
          </p:cNvSpPr>
          <p:nvPr/>
        </p:nvSpPr>
        <p:spPr bwMode="auto">
          <a:xfrm>
            <a:off x="3707904" y="3201526"/>
            <a:ext cx="27363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1430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转子铜耗</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6" name="文本框 25">
            <a:extLst>
              <a:ext uri="{FF2B5EF4-FFF2-40B4-BE49-F238E27FC236}">
                <a16:creationId xmlns:a16="http://schemas.microsoft.com/office/drawing/2014/main" id="{03D76625-9A60-CF6E-BB47-5F2F3C325579}"/>
              </a:ext>
            </a:extLst>
          </p:cNvPr>
          <p:cNvSpPr txBox="1"/>
          <p:nvPr/>
        </p:nvSpPr>
        <p:spPr>
          <a:xfrm>
            <a:off x="3865400" y="3674477"/>
            <a:ext cx="4608512" cy="369332"/>
          </a:xfrm>
          <a:prstGeom prst="rect">
            <a:avLst/>
          </a:prstGeom>
          <a:noFill/>
        </p:spPr>
        <p:txBody>
          <a:bodyPr wrap="square">
            <a:spAutoFit/>
          </a:bodyPr>
          <a:lstStyle/>
          <a:p>
            <a:pPr algn="just"/>
            <a:r>
              <a:rPr lang="zh-CN" altLang="zh-CN" sz="1800" b="1" kern="100" dirty="0">
                <a:solidFill>
                  <a:srgbClr val="FF00FF"/>
                </a:solidFill>
                <a:effectLst/>
                <a:latin typeface="Times New Roman" panose="02020603050405020304" pitchFamily="18" charset="0"/>
                <a:ea typeface="黑体" panose="02010609060101010101" pitchFamily="49" charset="-122"/>
              </a:rPr>
              <a:t>【正常工作时转差很小，转子铁耗可忽略】</a:t>
            </a:r>
            <a:endParaRPr lang="zh-CN" altLang="zh-CN" sz="1200" b="1" kern="100" dirty="0">
              <a:solidFill>
                <a:srgbClr val="FF00FF"/>
              </a:solidFill>
              <a:effectLst/>
              <a:latin typeface="Times New Roman" panose="02020603050405020304" pitchFamily="18" charset="0"/>
              <a:ea typeface="宋体" panose="02010600030101010101" pitchFamily="2" charset="-122"/>
            </a:endParaRPr>
          </a:p>
        </p:txBody>
      </p:sp>
      <p:sp>
        <p:nvSpPr>
          <p:cNvPr id="27" name="Rectangle 20">
            <a:extLst>
              <a:ext uri="{FF2B5EF4-FFF2-40B4-BE49-F238E27FC236}">
                <a16:creationId xmlns:a16="http://schemas.microsoft.com/office/drawing/2014/main" id="{CE1A1DA2-82F3-BF88-E66C-C6F631095B82}"/>
              </a:ext>
            </a:extLst>
          </p:cNvPr>
          <p:cNvSpPr>
            <a:spLocks noChangeArrowheads="1"/>
          </p:cNvSpPr>
          <p:nvPr/>
        </p:nvSpPr>
        <p:spPr bwMode="auto">
          <a:xfrm>
            <a:off x="640518" y="4198555"/>
            <a:ext cx="189485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空载损耗：</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8" name="对象 27">
            <a:extLst>
              <a:ext uri="{FF2B5EF4-FFF2-40B4-BE49-F238E27FC236}">
                <a16:creationId xmlns:a16="http://schemas.microsoft.com/office/drawing/2014/main" id="{0DF9DA60-7AB9-7002-0AAD-CC52F4FCD7B6}"/>
              </a:ext>
            </a:extLst>
          </p:cNvPr>
          <p:cNvGraphicFramePr>
            <a:graphicFrameLocks noChangeAspect="1"/>
          </p:cNvGraphicFramePr>
          <p:nvPr>
            <p:extLst>
              <p:ext uri="{D42A27DB-BD31-4B8C-83A1-F6EECF244321}">
                <p14:modId xmlns:p14="http://schemas.microsoft.com/office/powerpoint/2010/main" val="1654209107"/>
              </p:ext>
            </p:extLst>
          </p:nvPr>
        </p:nvGraphicFramePr>
        <p:xfrm>
          <a:off x="2120986" y="4184267"/>
          <a:ext cx="1633538" cy="485775"/>
        </p:xfrm>
        <a:graphic>
          <a:graphicData uri="http://schemas.openxmlformats.org/presentationml/2006/ole">
            <mc:AlternateContent xmlns:mc="http://schemas.openxmlformats.org/markup-compatibility/2006">
              <mc:Choice xmlns:v="urn:schemas-microsoft-com:vml" Requires="v">
                <p:oleObj name="Equation" r:id="rId15" imgW="749300" imgH="228600" progId="Equation.DSMT4">
                  <p:embed/>
                </p:oleObj>
              </mc:Choice>
              <mc:Fallback>
                <p:oleObj name="Equation" r:id="rId15" imgW="749300" imgH="228600" progId="Equation.DSMT4">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20986" y="4184267"/>
                        <a:ext cx="1633538"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a:extLst>
              <a:ext uri="{FF2B5EF4-FFF2-40B4-BE49-F238E27FC236}">
                <a16:creationId xmlns:a16="http://schemas.microsoft.com/office/drawing/2014/main" id="{51C0BFC6-AAD6-815D-9685-DC36868B492A}"/>
              </a:ext>
            </a:extLst>
          </p:cNvPr>
          <p:cNvGraphicFramePr>
            <a:graphicFrameLocks noChangeAspect="1"/>
          </p:cNvGraphicFramePr>
          <p:nvPr>
            <p:extLst>
              <p:ext uri="{D42A27DB-BD31-4B8C-83A1-F6EECF244321}">
                <p14:modId xmlns:p14="http://schemas.microsoft.com/office/powerpoint/2010/main" val="2988297434"/>
              </p:ext>
            </p:extLst>
          </p:nvPr>
        </p:nvGraphicFramePr>
        <p:xfrm>
          <a:off x="5651635" y="4204220"/>
          <a:ext cx="445370" cy="520924"/>
        </p:xfrm>
        <a:graphic>
          <a:graphicData uri="http://schemas.openxmlformats.org/presentationml/2006/ole">
            <mc:AlternateContent xmlns:mc="http://schemas.openxmlformats.org/markup-compatibility/2006">
              <mc:Choice xmlns:v="urn:schemas-microsoft-com:vml" Requires="v">
                <p:oleObj name="Equation" r:id="rId17" imgW="190500" imgH="228600" progId="Equation.DSMT4">
                  <p:embed/>
                </p:oleObj>
              </mc:Choice>
              <mc:Fallback>
                <p:oleObj name="Equation" r:id="rId17" imgW="190500" imgH="228600" progId="Equation.DSMT4">
                  <p:embed/>
                  <p:pic>
                    <p:nvPicPr>
                      <p:cNvPr id="0" name="Object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51635" y="4204220"/>
                        <a:ext cx="445370" cy="520924"/>
                      </a:xfrm>
                      <a:prstGeom prst="rect">
                        <a:avLst/>
                      </a:prstGeom>
                      <a:noFill/>
                    </p:spPr>
                  </p:pic>
                </p:oleObj>
              </mc:Fallback>
            </mc:AlternateContent>
          </a:graphicData>
        </a:graphic>
      </p:graphicFrame>
      <p:graphicFrame>
        <p:nvGraphicFramePr>
          <p:cNvPr id="30" name="对象 29">
            <a:extLst>
              <a:ext uri="{FF2B5EF4-FFF2-40B4-BE49-F238E27FC236}">
                <a16:creationId xmlns:a16="http://schemas.microsoft.com/office/drawing/2014/main" id="{05EFE511-5FA1-D689-9A72-A6BAA124E8D1}"/>
              </a:ext>
            </a:extLst>
          </p:cNvPr>
          <p:cNvGraphicFramePr>
            <a:graphicFrameLocks noChangeAspect="1"/>
          </p:cNvGraphicFramePr>
          <p:nvPr>
            <p:extLst>
              <p:ext uri="{D42A27DB-BD31-4B8C-83A1-F6EECF244321}">
                <p14:modId xmlns:p14="http://schemas.microsoft.com/office/powerpoint/2010/main" val="140028001"/>
              </p:ext>
            </p:extLst>
          </p:nvPr>
        </p:nvGraphicFramePr>
        <p:xfrm>
          <a:off x="7587649" y="4174225"/>
          <a:ext cx="372089" cy="520924"/>
        </p:xfrm>
        <a:graphic>
          <a:graphicData uri="http://schemas.openxmlformats.org/presentationml/2006/ole">
            <mc:AlternateContent xmlns:mc="http://schemas.openxmlformats.org/markup-compatibility/2006">
              <mc:Choice xmlns:v="urn:schemas-microsoft-com:vml" Requires="v">
                <p:oleObj name="Equation" r:id="rId19" imgW="165028" imgH="228501" progId="Equation.DSMT4">
                  <p:embed/>
                </p:oleObj>
              </mc:Choice>
              <mc:Fallback>
                <p:oleObj name="Equation" r:id="rId19" imgW="165028" imgH="228501" progId="Equation.DSMT4">
                  <p:embed/>
                  <p:pic>
                    <p:nvPicPr>
                      <p:cNvPr id="0" name="Object 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587649" y="4174225"/>
                        <a:ext cx="372089" cy="520924"/>
                      </a:xfrm>
                      <a:prstGeom prst="rect">
                        <a:avLst/>
                      </a:prstGeom>
                      <a:noFill/>
                    </p:spPr>
                  </p:pic>
                </p:oleObj>
              </mc:Fallback>
            </mc:AlternateContent>
          </a:graphicData>
        </a:graphic>
      </p:graphicFrame>
      <p:sp>
        <p:nvSpPr>
          <p:cNvPr id="31" name="Rectangle 23">
            <a:extLst>
              <a:ext uri="{FF2B5EF4-FFF2-40B4-BE49-F238E27FC236}">
                <a16:creationId xmlns:a16="http://schemas.microsoft.com/office/drawing/2014/main" id="{9A6BC7BA-2A5D-637A-0788-E9D6EB6B1F68}"/>
              </a:ext>
            </a:extLst>
          </p:cNvPr>
          <p:cNvSpPr>
            <a:spLocks noChangeArrowheads="1"/>
          </p:cNvSpPr>
          <p:nvPr/>
        </p:nvSpPr>
        <p:spPr bwMode="auto">
          <a:xfrm>
            <a:off x="3707904" y="4208377"/>
            <a:ext cx="21178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lang="en-US" altLang="zh-CN"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风摩损耗</a:t>
            </a:r>
            <a:r>
              <a:rPr kumimoji="0" lang="zh-CN"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32" name="Rectangle 24">
            <a:extLst>
              <a:ext uri="{FF2B5EF4-FFF2-40B4-BE49-F238E27FC236}">
                <a16:creationId xmlns:a16="http://schemas.microsoft.com/office/drawing/2014/main" id="{65055730-B577-4FCD-47C9-75D2E3F37DD1}"/>
              </a:ext>
            </a:extLst>
          </p:cNvPr>
          <p:cNvSpPr>
            <a:spLocks noChangeArrowheads="1"/>
          </p:cNvSpPr>
          <p:nvPr/>
        </p:nvSpPr>
        <p:spPr bwMode="auto">
          <a:xfrm>
            <a:off x="5940152" y="4201623"/>
            <a:ext cx="19273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杂散损耗</a:t>
            </a: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34" name="对象 33">
            <a:extLst>
              <a:ext uri="{FF2B5EF4-FFF2-40B4-BE49-F238E27FC236}">
                <a16:creationId xmlns:a16="http://schemas.microsoft.com/office/drawing/2014/main" id="{2C59639F-3918-576D-51CE-4493B74688AF}"/>
              </a:ext>
            </a:extLst>
          </p:cNvPr>
          <p:cNvGraphicFramePr>
            <a:graphicFrameLocks noChangeAspect="1"/>
          </p:cNvGraphicFramePr>
          <p:nvPr>
            <p:extLst>
              <p:ext uri="{D42A27DB-BD31-4B8C-83A1-F6EECF244321}">
                <p14:modId xmlns:p14="http://schemas.microsoft.com/office/powerpoint/2010/main" val="2419272660"/>
              </p:ext>
            </p:extLst>
          </p:nvPr>
        </p:nvGraphicFramePr>
        <p:xfrm>
          <a:off x="2120986" y="4885388"/>
          <a:ext cx="1946958" cy="487828"/>
        </p:xfrm>
        <a:graphic>
          <a:graphicData uri="http://schemas.openxmlformats.org/presentationml/2006/ole">
            <mc:AlternateContent xmlns:mc="http://schemas.openxmlformats.org/markup-compatibility/2006">
              <mc:Choice xmlns:v="urn:schemas-microsoft-com:vml" Requires="v">
                <p:oleObj name="Equation" r:id="rId21" imgW="927100" imgH="228600" progId="Equation.DSMT4">
                  <p:embed/>
                </p:oleObj>
              </mc:Choice>
              <mc:Fallback>
                <p:oleObj name="Equation" r:id="rId21" imgW="927100" imgH="228600" progId="Equation.DSMT4">
                  <p:embed/>
                  <p:pic>
                    <p:nvPicPr>
                      <p:cNvPr id="0" name="Object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20986" y="4885388"/>
                        <a:ext cx="1946958" cy="487828"/>
                      </a:xfrm>
                      <a:prstGeom prst="rect">
                        <a:avLst/>
                      </a:prstGeom>
                      <a:noFill/>
                    </p:spPr>
                  </p:pic>
                </p:oleObj>
              </mc:Fallback>
            </mc:AlternateContent>
          </a:graphicData>
        </a:graphic>
      </p:graphicFrame>
      <p:graphicFrame>
        <p:nvGraphicFramePr>
          <p:cNvPr id="35" name="对象 34">
            <a:extLst>
              <a:ext uri="{FF2B5EF4-FFF2-40B4-BE49-F238E27FC236}">
                <a16:creationId xmlns:a16="http://schemas.microsoft.com/office/drawing/2014/main" id="{867E8AE4-205C-D595-079C-C2FEDEC40963}"/>
              </a:ext>
            </a:extLst>
          </p:cNvPr>
          <p:cNvGraphicFramePr>
            <a:graphicFrameLocks noChangeAspect="1"/>
          </p:cNvGraphicFramePr>
          <p:nvPr>
            <p:extLst>
              <p:ext uri="{D42A27DB-BD31-4B8C-83A1-F6EECF244321}">
                <p14:modId xmlns:p14="http://schemas.microsoft.com/office/powerpoint/2010/main" val="860068858"/>
              </p:ext>
            </p:extLst>
          </p:nvPr>
        </p:nvGraphicFramePr>
        <p:xfrm>
          <a:off x="7165903" y="4898504"/>
          <a:ext cx="1071563" cy="433388"/>
        </p:xfrm>
        <a:graphic>
          <a:graphicData uri="http://schemas.openxmlformats.org/presentationml/2006/ole">
            <mc:AlternateContent xmlns:mc="http://schemas.openxmlformats.org/markup-compatibility/2006">
              <mc:Choice xmlns:v="urn:schemas-microsoft-com:vml" Requires="v">
                <p:oleObj name="Equation" r:id="rId23" imgW="571252" imgH="228501" progId="Equation.DSMT4">
                  <p:embed/>
                </p:oleObj>
              </mc:Choice>
              <mc:Fallback>
                <p:oleObj name="Equation" r:id="rId23" imgW="571252" imgH="228501" progId="Equation.DSMT4">
                  <p:embed/>
                  <p:pic>
                    <p:nvPicPr>
                      <p:cNvPr id="0" name="Object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165903" y="4898504"/>
                        <a:ext cx="1071563"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Rectangle 28">
            <a:extLst>
              <a:ext uri="{FF2B5EF4-FFF2-40B4-BE49-F238E27FC236}">
                <a16:creationId xmlns:a16="http://schemas.microsoft.com/office/drawing/2014/main" id="{8345C96D-257E-6648-180F-E66084F79DDB}"/>
              </a:ext>
            </a:extLst>
          </p:cNvPr>
          <p:cNvSpPr>
            <a:spLocks noChangeArrowheads="1"/>
          </p:cNvSpPr>
          <p:nvPr/>
        </p:nvSpPr>
        <p:spPr bwMode="auto">
          <a:xfrm>
            <a:off x="668710" y="4864148"/>
            <a:ext cx="189485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机械功率</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37" name="Rectangle 29">
            <a:extLst>
              <a:ext uri="{FF2B5EF4-FFF2-40B4-BE49-F238E27FC236}">
                <a16:creationId xmlns:a16="http://schemas.microsoft.com/office/drawing/2014/main" id="{5E3B9BE6-DB9D-30DC-D540-CB6A98B9D978}"/>
              </a:ext>
            </a:extLst>
          </p:cNvPr>
          <p:cNvSpPr>
            <a:spLocks noChangeArrowheads="1"/>
          </p:cNvSpPr>
          <p:nvPr/>
        </p:nvSpPr>
        <p:spPr bwMode="auto">
          <a:xfrm>
            <a:off x="4067931" y="4908256"/>
            <a:ext cx="45365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〖与</a:t>
            </a:r>
            <a:r>
              <a:rPr kumimoji="0" lang="en-US" altLang="zh-CN" sz="20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有区别，</a:t>
            </a:r>
            <a:r>
              <a:rPr kumimoji="0" lang="en-US" altLang="zh-CN" sz="20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DCM</a:t>
            </a:r>
            <a:r>
              <a:rPr kumimoji="0" lang="zh-CN" altLang="en-US"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中</a:t>
            </a:r>
            <a:endParaRPr kumimoji="0" lang="zh-CN" altLang="en-US" sz="1600" b="0" i="0" u="none" strike="noStrike" cap="none" normalizeH="0" baseline="0" dirty="0">
              <a:ln>
                <a:noFill/>
              </a:ln>
              <a:solidFill>
                <a:srgbClr val="FF0000"/>
              </a:solidFill>
              <a:effectLst/>
              <a:latin typeface="Arial" panose="020B0604020202020204" pitchFamily="34" charset="0"/>
            </a:endParaRPr>
          </a:p>
        </p:txBody>
      </p:sp>
      <p:sp>
        <p:nvSpPr>
          <p:cNvPr id="38" name="Rectangle 30">
            <a:extLst>
              <a:ext uri="{FF2B5EF4-FFF2-40B4-BE49-F238E27FC236}">
                <a16:creationId xmlns:a16="http://schemas.microsoft.com/office/drawing/2014/main" id="{10D08814-31DB-0913-2CAD-2FF91F87B6E6}"/>
              </a:ext>
            </a:extLst>
          </p:cNvPr>
          <p:cNvSpPr>
            <a:spLocks noChangeArrowheads="1"/>
          </p:cNvSpPr>
          <p:nvPr/>
        </p:nvSpPr>
        <p:spPr bwMode="auto">
          <a:xfrm>
            <a:off x="8078579" y="4915143"/>
            <a:ext cx="4617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600" b="0" i="0" u="none" strike="noStrike" cap="none" normalizeH="0" baseline="0" dirty="0">
              <a:ln>
                <a:noFill/>
              </a:ln>
              <a:solidFill>
                <a:srgbClr val="FF0000"/>
              </a:solidFill>
              <a:effectLst/>
            </a:endParaRPr>
          </a:p>
        </p:txBody>
      </p:sp>
      <p:sp>
        <p:nvSpPr>
          <p:cNvPr id="39" name="Rectangle 32">
            <a:extLst>
              <a:ext uri="{FF2B5EF4-FFF2-40B4-BE49-F238E27FC236}">
                <a16:creationId xmlns:a16="http://schemas.microsoft.com/office/drawing/2014/main" id="{17DAA8E3-671B-905C-7CC7-3690687A5907}"/>
              </a:ext>
            </a:extLst>
          </p:cNvPr>
          <p:cNvSpPr>
            <a:spLocks noChangeArrowheads="1"/>
          </p:cNvSpPr>
          <p:nvPr/>
        </p:nvSpPr>
        <p:spPr bwMode="auto">
          <a:xfrm>
            <a:off x="668710" y="5552808"/>
            <a:ext cx="246313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轴上输出功率</a:t>
            </a:r>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40" name="对象 39">
            <a:extLst>
              <a:ext uri="{FF2B5EF4-FFF2-40B4-BE49-F238E27FC236}">
                <a16:creationId xmlns:a16="http://schemas.microsoft.com/office/drawing/2014/main" id="{482A9876-B77F-EA52-A9B7-DD491BC41754}"/>
              </a:ext>
            </a:extLst>
          </p:cNvPr>
          <p:cNvGraphicFramePr>
            <a:graphicFrameLocks noChangeAspect="1"/>
          </p:cNvGraphicFramePr>
          <p:nvPr>
            <p:extLst>
              <p:ext uri="{D42A27DB-BD31-4B8C-83A1-F6EECF244321}">
                <p14:modId xmlns:p14="http://schemas.microsoft.com/office/powerpoint/2010/main" val="52141342"/>
              </p:ext>
            </p:extLst>
          </p:nvPr>
        </p:nvGraphicFramePr>
        <p:xfrm>
          <a:off x="2771800" y="5541527"/>
          <a:ext cx="1603524" cy="479761"/>
        </p:xfrm>
        <a:graphic>
          <a:graphicData uri="http://schemas.openxmlformats.org/presentationml/2006/ole">
            <mc:AlternateContent xmlns:mc="http://schemas.openxmlformats.org/markup-compatibility/2006">
              <mc:Choice xmlns:v="urn:schemas-microsoft-com:vml" Requires="v">
                <p:oleObj name="Equation" r:id="rId25" imgW="761669" imgH="228501" progId="Equation.DSMT4">
                  <p:embed/>
                </p:oleObj>
              </mc:Choice>
              <mc:Fallback>
                <p:oleObj name="Equation" r:id="rId25" imgW="761669" imgH="228501" progId="Equation.DSMT4">
                  <p:embed/>
                  <p:pic>
                    <p:nvPicPr>
                      <p:cNvPr id="0" name="Object 3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771800" y="5541527"/>
                        <a:ext cx="1603524" cy="479761"/>
                      </a:xfrm>
                      <a:prstGeom prst="rect">
                        <a:avLst/>
                      </a:prstGeom>
                      <a:noFill/>
                    </p:spPr>
                  </p:pic>
                </p:oleObj>
              </mc:Fallback>
            </mc:AlternateContent>
          </a:graphicData>
        </a:graphic>
      </p:graphicFrame>
      <p:sp>
        <p:nvSpPr>
          <p:cNvPr id="5" name="灯片编号占位符 4">
            <a:extLst>
              <a:ext uri="{FF2B5EF4-FFF2-40B4-BE49-F238E27FC236}">
                <a16:creationId xmlns:a16="http://schemas.microsoft.com/office/drawing/2014/main" id="{62B87A91-2D87-5A77-75A7-14BF0E02716E}"/>
              </a:ext>
            </a:extLst>
          </p:cNvPr>
          <p:cNvSpPr>
            <a:spLocks noGrp="1"/>
          </p:cNvSpPr>
          <p:nvPr>
            <p:ph type="sldNum" sz="quarter" idx="12"/>
          </p:nvPr>
        </p:nvSpPr>
        <p:spPr/>
        <p:txBody>
          <a:bodyPr/>
          <a:lstStyle/>
          <a:p>
            <a:fld id="{76D830B0-DF59-4281-898F-AF208100B213}" type="slidenum">
              <a:rPr lang="en-US" altLang="zh-CN" smtClean="0"/>
              <a:pPr/>
              <a:t>85</a:t>
            </a:fld>
            <a:endParaRPr lang="en-US" altLang="zh-CN"/>
          </a:p>
        </p:txBody>
      </p:sp>
    </p:spTree>
    <p:extLst>
      <p:ext uri="{BB962C8B-B14F-4D97-AF65-F5344CB8AC3E}">
        <p14:creationId xmlns:p14="http://schemas.microsoft.com/office/powerpoint/2010/main" val="337198267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B93E4EE-D5D9-85E4-974E-1D70CFDE23A0}"/>
              </a:ext>
            </a:extLst>
          </p:cNvPr>
          <p:cNvSpPr>
            <a:spLocks noChangeArrowheads="1"/>
          </p:cNvSpPr>
          <p:nvPr/>
        </p:nvSpPr>
        <p:spPr bwMode="auto">
          <a:xfrm>
            <a:off x="150081" y="1523282"/>
            <a:ext cx="338437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又由等值电路可知：</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a:extLst>
              <a:ext uri="{FF2B5EF4-FFF2-40B4-BE49-F238E27FC236}">
                <a16:creationId xmlns:a16="http://schemas.microsoft.com/office/drawing/2014/main" id="{D4FC3287-B859-3735-1087-A753EE1F4653}"/>
              </a:ext>
            </a:extLst>
          </p:cNvPr>
          <p:cNvGraphicFramePr>
            <a:graphicFrameLocks noChangeAspect="1"/>
          </p:cNvGraphicFramePr>
          <p:nvPr>
            <p:extLst>
              <p:ext uri="{D42A27DB-BD31-4B8C-83A1-F6EECF244321}">
                <p14:modId xmlns:p14="http://schemas.microsoft.com/office/powerpoint/2010/main" val="1895510292"/>
              </p:ext>
            </p:extLst>
          </p:nvPr>
        </p:nvGraphicFramePr>
        <p:xfrm>
          <a:off x="2781110" y="627775"/>
          <a:ext cx="6057900" cy="1771650"/>
        </p:xfrm>
        <a:graphic>
          <a:graphicData uri="http://schemas.openxmlformats.org/presentationml/2006/ole">
            <mc:AlternateContent xmlns:mc="http://schemas.openxmlformats.org/markup-compatibility/2006">
              <mc:Choice xmlns:v="urn:schemas-microsoft-com:vml" Requires="v">
                <p:oleObj name="Equation" r:id="rId3" imgW="3175000" imgH="927100" progId="Equation.DSMT4">
                  <p:embed/>
                </p:oleObj>
              </mc:Choice>
              <mc:Fallback>
                <p:oleObj name="Equation" r:id="rId3" imgW="3175000" imgH="9271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1110" y="627775"/>
                        <a:ext cx="6057900" cy="177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5">
            <a:extLst>
              <a:ext uri="{FF2B5EF4-FFF2-40B4-BE49-F238E27FC236}">
                <a16:creationId xmlns:a16="http://schemas.microsoft.com/office/drawing/2014/main" id="{7995C775-AFF3-E9E5-082F-6610A94F2C50}"/>
              </a:ext>
            </a:extLst>
          </p:cNvPr>
          <p:cNvSpPr>
            <a:spLocks noChangeArrowheads="1"/>
          </p:cNvSpPr>
          <p:nvPr/>
        </p:nvSpPr>
        <p:spPr bwMode="auto">
          <a:xfrm>
            <a:off x="150081" y="2660088"/>
            <a:ext cx="33843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电磁功率</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又可表达为</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5" name="对象 14">
            <a:extLst>
              <a:ext uri="{FF2B5EF4-FFF2-40B4-BE49-F238E27FC236}">
                <a16:creationId xmlns:a16="http://schemas.microsoft.com/office/drawing/2014/main" id="{938DF18D-6D59-DB92-2195-4D8B7E348551}"/>
              </a:ext>
            </a:extLst>
          </p:cNvPr>
          <p:cNvGraphicFramePr>
            <a:graphicFrameLocks noChangeAspect="1"/>
          </p:cNvGraphicFramePr>
          <p:nvPr>
            <p:extLst>
              <p:ext uri="{D42A27DB-BD31-4B8C-83A1-F6EECF244321}">
                <p14:modId xmlns:p14="http://schemas.microsoft.com/office/powerpoint/2010/main" val="535667615"/>
              </p:ext>
            </p:extLst>
          </p:nvPr>
        </p:nvGraphicFramePr>
        <p:xfrm>
          <a:off x="3321719" y="2401091"/>
          <a:ext cx="4833938" cy="895350"/>
        </p:xfrm>
        <a:graphic>
          <a:graphicData uri="http://schemas.openxmlformats.org/presentationml/2006/ole">
            <mc:AlternateContent xmlns:mc="http://schemas.openxmlformats.org/markup-compatibility/2006">
              <mc:Choice xmlns:v="urn:schemas-microsoft-com:vml" Requires="v">
                <p:oleObj name="Equation" r:id="rId5" imgW="2273300" imgH="419100" progId="Equation.DSMT4">
                  <p:embed/>
                </p:oleObj>
              </mc:Choice>
              <mc:Fallback>
                <p:oleObj name="Equation" r:id="rId5" imgW="2273300" imgH="4191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1719" y="2401091"/>
                        <a:ext cx="4833938" cy="895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7">
            <a:extLst>
              <a:ext uri="{FF2B5EF4-FFF2-40B4-BE49-F238E27FC236}">
                <a16:creationId xmlns:a16="http://schemas.microsoft.com/office/drawing/2014/main" id="{4C797E85-1941-B9E0-3363-7118362434AC}"/>
              </a:ext>
            </a:extLst>
          </p:cNvPr>
          <p:cNvSpPr>
            <a:spLocks noChangeArrowheads="1"/>
          </p:cNvSpPr>
          <p:nvPr/>
        </p:nvSpPr>
        <p:spPr bwMode="auto">
          <a:xfrm>
            <a:off x="251520" y="3385215"/>
            <a:ext cx="309634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故</a:t>
            </a: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机械功率：</a:t>
            </a: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7" name="对象 16">
            <a:extLst>
              <a:ext uri="{FF2B5EF4-FFF2-40B4-BE49-F238E27FC236}">
                <a16:creationId xmlns:a16="http://schemas.microsoft.com/office/drawing/2014/main" id="{747CE6A0-70C9-3ED2-5D7D-595C0FE69FBD}"/>
              </a:ext>
            </a:extLst>
          </p:cNvPr>
          <p:cNvGraphicFramePr>
            <a:graphicFrameLocks noChangeAspect="1"/>
          </p:cNvGraphicFramePr>
          <p:nvPr>
            <p:extLst>
              <p:ext uri="{D42A27DB-BD31-4B8C-83A1-F6EECF244321}">
                <p14:modId xmlns:p14="http://schemas.microsoft.com/office/powerpoint/2010/main" val="3536794365"/>
              </p:ext>
            </p:extLst>
          </p:nvPr>
        </p:nvGraphicFramePr>
        <p:xfrm>
          <a:off x="2267049" y="3197096"/>
          <a:ext cx="4033838" cy="833438"/>
        </p:xfrm>
        <a:graphic>
          <a:graphicData uri="http://schemas.openxmlformats.org/presentationml/2006/ole">
            <mc:AlternateContent xmlns:mc="http://schemas.openxmlformats.org/markup-compatibility/2006">
              <mc:Choice xmlns:v="urn:schemas-microsoft-com:vml" Requires="v">
                <p:oleObj name="Equation" r:id="rId7" imgW="1916868" imgH="393529" progId="Equation.DSMT4">
                  <p:embed/>
                </p:oleObj>
              </mc:Choice>
              <mc:Fallback>
                <p:oleObj name="Equation" r:id="rId7" imgW="1916868" imgH="393529"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7049" y="3197096"/>
                        <a:ext cx="4033838" cy="833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9">
            <a:extLst>
              <a:ext uri="{FF2B5EF4-FFF2-40B4-BE49-F238E27FC236}">
                <a16:creationId xmlns:a16="http://schemas.microsoft.com/office/drawing/2014/main" id="{CF454083-CB00-5446-13F3-A6D709A77D1A}"/>
              </a:ext>
            </a:extLst>
          </p:cNvPr>
          <p:cNvSpPr>
            <a:spLocks noChangeArrowheads="1"/>
          </p:cNvSpPr>
          <p:nvPr/>
        </p:nvSpPr>
        <p:spPr bwMode="auto">
          <a:xfrm>
            <a:off x="251033" y="4098343"/>
            <a:ext cx="34563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转子铜耗</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转差功率</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9" name="对象 18">
            <a:extLst>
              <a:ext uri="{FF2B5EF4-FFF2-40B4-BE49-F238E27FC236}">
                <a16:creationId xmlns:a16="http://schemas.microsoft.com/office/drawing/2014/main" id="{2A2D1F36-5461-60F1-9E9D-362D87D821AF}"/>
              </a:ext>
            </a:extLst>
          </p:cNvPr>
          <p:cNvGraphicFramePr>
            <a:graphicFrameLocks noChangeAspect="1"/>
          </p:cNvGraphicFramePr>
          <p:nvPr>
            <p:extLst>
              <p:ext uri="{D42A27DB-BD31-4B8C-83A1-F6EECF244321}">
                <p14:modId xmlns:p14="http://schemas.microsoft.com/office/powerpoint/2010/main" val="1654370318"/>
              </p:ext>
            </p:extLst>
          </p:nvPr>
        </p:nvGraphicFramePr>
        <p:xfrm>
          <a:off x="3251503" y="3907173"/>
          <a:ext cx="1976438" cy="681038"/>
        </p:xfrm>
        <a:graphic>
          <a:graphicData uri="http://schemas.openxmlformats.org/presentationml/2006/ole">
            <mc:AlternateContent xmlns:mc="http://schemas.openxmlformats.org/markup-compatibility/2006">
              <mc:Choice xmlns:v="urn:schemas-microsoft-com:vml" Requires="v">
                <p:oleObj name="Equation" r:id="rId9" imgW="926698" imgH="317362" progId="Equation.DSMT4">
                  <p:embed/>
                </p:oleObj>
              </mc:Choice>
              <mc:Fallback>
                <p:oleObj name="Equation" r:id="rId9" imgW="926698" imgH="317362"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51503" y="3907173"/>
                        <a:ext cx="1976438" cy="681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Rectangle 12">
            <a:extLst>
              <a:ext uri="{FF2B5EF4-FFF2-40B4-BE49-F238E27FC236}">
                <a16:creationId xmlns:a16="http://schemas.microsoft.com/office/drawing/2014/main" id="{19CB8C9D-B03A-1EDF-507F-DFCF43E148BD}"/>
              </a:ext>
            </a:extLst>
          </p:cNvPr>
          <p:cNvSpPr>
            <a:spLocks noChangeArrowheads="1"/>
          </p:cNvSpPr>
          <p:nvPr/>
        </p:nvSpPr>
        <p:spPr bwMode="auto">
          <a:xfrm>
            <a:off x="251033" y="4873053"/>
            <a:ext cx="49265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综上</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异步电动机轴上输出功率</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400" b="0" i="0" u="none" strike="noStrike" cap="none" normalizeH="0" baseline="0" dirty="0">
              <a:ln>
                <a:noFill/>
              </a:ln>
              <a:solidFill>
                <a:schemeClr val="tx1"/>
              </a:solidFill>
              <a:effectLst/>
            </a:endParaRPr>
          </a:p>
        </p:txBody>
      </p:sp>
      <p:graphicFrame>
        <p:nvGraphicFramePr>
          <p:cNvPr id="33" name="对象 32">
            <a:extLst>
              <a:ext uri="{FF2B5EF4-FFF2-40B4-BE49-F238E27FC236}">
                <a16:creationId xmlns:a16="http://schemas.microsoft.com/office/drawing/2014/main" id="{EB90DEA5-A55D-85FA-3843-41698369518F}"/>
              </a:ext>
            </a:extLst>
          </p:cNvPr>
          <p:cNvGraphicFramePr>
            <a:graphicFrameLocks noChangeAspect="1"/>
          </p:cNvGraphicFramePr>
          <p:nvPr>
            <p:extLst>
              <p:ext uri="{D42A27DB-BD31-4B8C-83A1-F6EECF244321}">
                <p14:modId xmlns:p14="http://schemas.microsoft.com/office/powerpoint/2010/main" val="275236656"/>
              </p:ext>
            </p:extLst>
          </p:nvPr>
        </p:nvGraphicFramePr>
        <p:xfrm>
          <a:off x="616773" y="5445224"/>
          <a:ext cx="4195084" cy="529186"/>
        </p:xfrm>
        <a:graphic>
          <a:graphicData uri="http://schemas.openxmlformats.org/presentationml/2006/ole">
            <mc:AlternateContent xmlns:mc="http://schemas.openxmlformats.org/markup-compatibility/2006">
              <mc:Choice xmlns:v="urn:schemas-microsoft-com:vml" Requires="v">
                <p:oleObj name="Equation" r:id="rId11" imgW="1803400" imgH="228600" progId="Equation.DSMT4">
                  <p:embed/>
                </p:oleObj>
              </mc:Choice>
              <mc:Fallback>
                <p:oleObj name="Equation" r:id="rId11" imgW="1803400" imgH="22860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6773" y="5445224"/>
                        <a:ext cx="4195084" cy="529186"/>
                      </a:xfrm>
                      <a:prstGeom prst="rect">
                        <a:avLst/>
                      </a:prstGeom>
                      <a:noFill/>
                    </p:spPr>
                  </p:pic>
                </p:oleObj>
              </mc:Fallback>
            </mc:AlternateContent>
          </a:graphicData>
        </a:graphic>
      </p:graphicFrame>
      <p:graphicFrame>
        <p:nvGraphicFramePr>
          <p:cNvPr id="41" name="对象 40">
            <a:extLst>
              <a:ext uri="{FF2B5EF4-FFF2-40B4-BE49-F238E27FC236}">
                <a16:creationId xmlns:a16="http://schemas.microsoft.com/office/drawing/2014/main" id="{EC468BD1-7FB9-0D50-1D9B-E72F6A201764}"/>
              </a:ext>
            </a:extLst>
          </p:cNvPr>
          <p:cNvGraphicFramePr>
            <a:graphicFrameLocks noChangeAspect="1"/>
          </p:cNvGraphicFramePr>
          <p:nvPr>
            <p:extLst>
              <p:ext uri="{D42A27DB-BD31-4B8C-83A1-F6EECF244321}">
                <p14:modId xmlns:p14="http://schemas.microsoft.com/office/powerpoint/2010/main" val="2737106533"/>
              </p:ext>
            </p:extLst>
          </p:nvPr>
        </p:nvGraphicFramePr>
        <p:xfrm>
          <a:off x="5292080" y="4030534"/>
          <a:ext cx="3729038" cy="2552700"/>
        </p:xfrm>
        <a:graphic>
          <a:graphicData uri="http://schemas.openxmlformats.org/presentationml/2006/ole">
            <mc:AlternateContent xmlns:mc="http://schemas.openxmlformats.org/markup-compatibility/2006">
              <mc:Choice xmlns:v="urn:schemas-microsoft-com:vml" Requires="v">
                <p:oleObj r:id="rId13" imgW="1663700" imgH="1139825" progId="MSDraw">
                  <p:embed/>
                </p:oleObj>
              </mc:Choice>
              <mc:Fallback>
                <p:oleObj r:id="rId13" imgW="1663700" imgH="1139825" progId="MSDraw">
                  <p:embed/>
                  <p:pic>
                    <p:nvPicPr>
                      <p:cNvPr id="4" name="对象 3">
                        <a:extLst>
                          <a:ext uri="{FF2B5EF4-FFF2-40B4-BE49-F238E27FC236}">
                            <a16:creationId xmlns:a16="http://schemas.microsoft.com/office/drawing/2014/main" id="{FB52300E-4273-CA50-E18A-55F59B20267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92080" y="4030534"/>
                        <a:ext cx="3729038" cy="2552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a:extLst>
              <a:ext uri="{FF2B5EF4-FFF2-40B4-BE49-F238E27FC236}">
                <a16:creationId xmlns:a16="http://schemas.microsoft.com/office/drawing/2014/main" id="{2D4DE814-D459-33C9-E2E0-4CAB49FC09F6}"/>
              </a:ext>
            </a:extLst>
          </p:cNvPr>
          <p:cNvSpPr>
            <a:spLocks noGrp="1"/>
          </p:cNvSpPr>
          <p:nvPr>
            <p:ph type="sldNum" sz="quarter" idx="12"/>
          </p:nvPr>
        </p:nvSpPr>
        <p:spPr/>
        <p:txBody>
          <a:bodyPr/>
          <a:lstStyle/>
          <a:p>
            <a:fld id="{76D830B0-DF59-4281-898F-AF208100B213}" type="slidenum">
              <a:rPr lang="en-US" altLang="zh-CN" smtClean="0"/>
              <a:pPr/>
              <a:t>86</a:t>
            </a:fld>
            <a:endParaRPr lang="en-US" altLang="zh-CN"/>
          </a:p>
        </p:txBody>
      </p:sp>
    </p:spTree>
    <p:extLst>
      <p:ext uri="{BB962C8B-B14F-4D97-AF65-F5344CB8AC3E}">
        <p14:creationId xmlns:p14="http://schemas.microsoft.com/office/powerpoint/2010/main" val="33017119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630B133-8C40-D66C-A6EB-9BA5DF537469}"/>
              </a:ext>
            </a:extLst>
          </p:cNvPr>
          <p:cNvSpPr txBox="1"/>
          <p:nvPr/>
        </p:nvSpPr>
        <p:spPr>
          <a:xfrm>
            <a:off x="539552" y="1050904"/>
            <a:ext cx="4176464" cy="461665"/>
          </a:xfrm>
          <a:prstGeom prst="rect">
            <a:avLst/>
          </a:prstGeom>
          <a:noFill/>
        </p:spPr>
        <p:txBody>
          <a:bodyPr wrap="square">
            <a:spAutoFit/>
          </a:bodyPr>
          <a:lstStyle/>
          <a:p>
            <a:pPr eaLnBrk="0" hangingPunct="0"/>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二、</a:t>
            </a:r>
            <a:r>
              <a:rPr lang="zh-CN" altLang="en-US" sz="2400" b="1" kern="100" dirty="0">
                <a:solidFill>
                  <a:srgbClr val="0000FF"/>
                </a:solidFill>
                <a:effectLst/>
                <a:latin typeface="Times New Roman" panose="02020603050405020304" pitchFamily="18" charset="0"/>
                <a:ea typeface="黑体" panose="02010609060101010101" pitchFamily="49" charset="-122"/>
              </a:rPr>
              <a:t>转矩平衡方程</a:t>
            </a:r>
            <a:endParaRPr lang="zh-CN" altLang="zh-CN" sz="2400" b="1" kern="100" dirty="0">
              <a:solidFill>
                <a:srgbClr val="0000FF"/>
              </a:solidFill>
              <a:effectLst/>
              <a:latin typeface="Times New Roman" panose="02020603050405020304" pitchFamily="18" charset="0"/>
              <a:ea typeface="宋体" panose="02010600030101010101" pitchFamily="2" charset="-122"/>
            </a:endParaRPr>
          </a:p>
        </p:txBody>
      </p:sp>
      <p:graphicFrame>
        <p:nvGraphicFramePr>
          <p:cNvPr id="4" name="对象 3">
            <a:extLst>
              <a:ext uri="{FF2B5EF4-FFF2-40B4-BE49-F238E27FC236}">
                <a16:creationId xmlns:a16="http://schemas.microsoft.com/office/drawing/2014/main" id="{4535835A-CD96-EE7B-4314-FFEE01E1DDC0}"/>
              </a:ext>
            </a:extLst>
          </p:cNvPr>
          <p:cNvGraphicFramePr>
            <a:graphicFrameLocks noChangeAspect="1"/>
          </p:cNvGraphicFramePr>
          <p:nvPr/>
        </p:nvGraphicFramePr>
        <p:xfrm>
          <a:off x="611560" y="1734319"/>
          <a:ext cx="114300" cy="214313"/>
        </p:xfrm>
        <a:graphic>
          <a:graphicData uri="http://schemas.openxmlformats.org/presentationml/2006/ole">
            <mc:AlternateContent xmlns:mc="http://schemas.openxmlformats.org/markup-compatibility/2006">
              <mc:Choice xmlns:v="urn:schemas-microsoft-com:vml" Requires="v">
                <p:oleObj name="Equation" r:id="rId3" imgW="114151" imgH="215619" progId="Equation.DSMT4">
                  <p:embed/>
                </p:oleObj>
              </mc:Choice>
              <mc:Fallback>
                <p:oleObj name="Equation" r:id="rId3" imgW="114151" imgH="215619" progId="Equation.DSMT4">
                  <p:embed/>
                  <p:pic>
                    <p:nvPicPr>
                      <p:cNvPr id="4" name="对象 3">
                        <a:extLst>
                          <a:ext uri="{FF2B5EF4-FFF2-40B4-BE49-F238E27FC236}">
                            <a16:creationId xmlns:a16="http://schemas.microsoft.com/office/drawing/2014/main" id="{4535835A-CD96-EE7B-4314-FFEE01E1DD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1734319"/>
                        <a:ext cx="114300" cy="21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6">
            <a:extLst>
              <a:ext uri="{FF2B5EF4-FFF2-40B4-BE49-F238E27FC236}">
                <a16:creationId xmlns:a16="http://schemas.microsoft.com/office/drawing/2014/main" id="{BDB3CF64-94E7-A999-40BC-4B0292060D0B}"/>
              </a:ext>
            </a:extLst>
          </p:cNvPr>
          <p:cNvSpPr>
            <a:spLocks noChangeArrowheads="1"/>
          </p:cNvSpPr>
          <p:nvPr/>
        </p:nvSpPr>
        <p:spPr bwMode="auto">
          <a:xfrm>
            <a:off x="555049" y="1533133"/>
            <a:ext cx="797739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定义：</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三相异步电机的电磁转矩</a:t>
            </a: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是指转子电流与主磁通依据电动机原理产生的电磁力的总和，因此可以表示为：</a:t>
            </a:r>
            <a:endParaRPr kumimoji="0" lang="zh-CN" altLang="en-US" sz="1800" b="0" i="0" u="none" strike="noStrike" cap="none" normalizeH="0" baseline="0" dirty="0">
              <a:ln>
                <a:noFill/>
              </a:ln>
              <a:effectLst/>
              <a:latin typeface="Arial" panose="020B0604020202020204" pitchFamily="34" charset="0"/>
            </a:endParaRPr>
          </a:p>
        </p:txBody>
      </p:sp>
      <p:graphicFrame>
        <p:nvGraphicFramePr>
          <p:cNvPr id="42" name="对象 41">
            <a:extLst>
              <a:ext uri="{FF2B5EF4-FFF2-40B4-BE49-F238E27FC236}">
                <a16:creationId xmlns:a16="http://schemas.microsoft.com/office/drawing/2014/main" id="{50CCB487-2FFF-F70B-AB65-B8B1B2A9AC8A}"/>
              </a:ext>
            </a:extLst>
          </p:cNvPr>
          <p:cNvGraphicFramePr>
            <a:graphicFrameLocks noChangeAspect="1"/>
          </p:cNvGraphicFramePr>
          <p:nvPr>
            <p:extLst>
              <p:ext uri="{D42A27DB-BD31-4B8C-83A1-F6EECF244321}">
                <p14:modId xmlns:p14="http://schemas.microsoft.com/office/powerpoint/2010/main" val="2025428903"/>
              </p:ext>
            </p:extLst>
          </p:nvPr>
        </p:nvGraphicFramePr>
        <p:xfrm>
          <a:off x="1911992" y="2340655"/>
          <a:ext cx="5320016" cy="1921553"/>
        </p:xfrm>
        <a:graphic>
          <a:graphicData uri="http://schemas.openxmlformats.org/presentationml/2006/ole">
            <mc:AlternateContent xmlns:mc="http://schemas.openxmlformats.org/markup-compatibility/2006">
              <mc:Choice xmlns:v="urn:schemas-microsoft-com:vml" Requires="v">
                <p:oleObj name="Equation" r:id="rId5" imgW="2514600" imgH="888840" progId="Equation.DSMT4">
                  <p:embed/>
                </p:oleObj>
              </mc:Choice>
              <mc:Fallback>
                <p:oleObj name="Equation" r:id="rId5" imgW="2514600" imgH="888840" progId="Equation.DSMT4">
                  <p:embed/>
                  <p:pic>
                    <p:nvPicPr>
                      <p:cNvPr id="0" name="Object 7"/>
                      <p:cNvPicPr>
                        <a:picLocks noChangeAspect="1" noChangeArrowheads="1"/>
                      </p:cNvPicPr>
                      <p:nvPr/>
                    </p:nvPicPr>
                    <p:blipFill>
                      <a:blip r:embed="rId6"/>
                      <a:srcRect/>
                      <a:stretch>
                        <a:fillRect/>
                      </a:stretch>
                    </p:blipFill>
                    <p:spPr bwMode="auto">
                      <a:xfrm>
                        <a:off x="1911992" y="2340655"/>
                        <a:ext cx="5320016" cy="1921553"/>
                      </a:xfrm>
                      <a:prstGeom prst="rect">
                        <a:avLst/>
                      </a:prstGeom>
                      <a:noFill/>
                    </p:spPr>
                  </p:pic>
                </p:oleObj>
              </mc:Fallback>
            </mc:AlternateContent>
          </a:graphicData>
        </a:graphic>
      </p:graphicFrame>
      <p:sp>
        <p:nvSpPr>
          <p:cNvPr id="43" name="Rectangle 10">
            <a:extLst>
              <a:ext uri="{FF2B5EF4-FFF2-40B4-BE49-F238E27FC236}">
                <a16:creationId xmlns:a16="http://schemas.microsoft.com/office/drawing/2014/main" id="{FE37F45A-CD2F-FB9D-EE03-0811B81E8068}"/>
              </a:ext>
            </a:extLst>
          </p:cNvPr>
          <p:cNvSpPr>
            <a:spLocks noChangeArrowheads="1"/>
          </p:cNvSpPr>
          <p:nvPr/>
        </p:nvSpPr>
        <p:spPr bwMode="auto">
          <a:xfrm>
            <a:off x="242976" y="4616543"/>
            <a:ext cx="2129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重要公式：</a:t>
            </a:r>
            <a:r>
              <a:rPr kumimoji="0" lang="zh-CN" altLang="en-US" sz="24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4" name="对象 43">
            <a:extLst>
              <a:ext uri="{FF2B5EF4-FFF2-40B4-BE49-F238E27FC236}">
                <a16:creationId xmlns:a16="http://schemas.microsoft.com/office/drawing/2014/main" id="{02C37E82-CA5E-0FAC-52CB-8646F85FEE40}"/>
              </a:ext>
            </a:extLst>
          </p:cNvPr>
          <p:cNvGraphicFramePr>
            <a:graphicFrameLocks noChangeAspect="1"/>
          </p:cNvGraphicFramePr>
          <p:nvPr>
            <p:extLst>
              <p:ext uri="{D42A27DB-BD31-4B8C-83A1-F6EECF244321}">
                <p14:modId xmlns:p14="http://schemas.microsoft.com/office/powerpoint/2010/main" val="2878036995"/>
              </p:ext>
            </p:extLst>
          </p:nvPr>
        </p:nvGraphicFramePr>
        <p:xfrm>
          <a:off x="1748486" y="4379664"/>
          <a:ext cx="1332625" cy="921544"/>
        </p:xfrm>
        <a:graphic>
          <a:graphicData uri="http://schemas.openxmlformats.org/presentationml/2006/ole">
            <mc:AlternateContent xmlns:mc="http://schemas.openxmlformats.org/markup-compatibility/2006">
              <mc:Choice xmlns:v="urn:schemas-microsoft-com:vml" Requires="v">
                <p:oleObj name="Equation" r:id="rId7" imgW="634725" imgH="431613" progId="Equation.DSMT4">
                  <p:embed/>
                </p:oleObj>
              </mc:Choice>
              <mc:Fallback>
                <p:oleObj name="Equation" r:id="rId7" imgW="634725" imgH="431613"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48486" y="4379664"/>
                        <a:ext cx="1332625" cy="921544"/>
                      </a:xfrm>
                      <a:prstGeom prst="rect">
                        <a:avLst/>
                      </a:prstGeom>
                      <a:solidFill>
                        <a:srgbClr val="FFCC00"/>
                      </a:solidFill>
                    </p:spPr>
                  </p:pic>
                </p:oleObj>
              </mc:Fallback>
            </mc:AlternateContent>
          </a:graphicData>
        </a:graphic>
      </p:graphicFrame>
      <p:sp>
        <p:nvSpPr>
          <p:cNvPr id="45" name="Rectangle 12">
            <a:extLst>
              <a:ext uri="{FF2B5EF4-FFF2-40B4-BE49-F238E27FC236}">
                <a16:creationId xmlns:a16="http://schemas.microsoft.com/office/drawing/2014/main" id="{0E0C56FE-F60B-9425-646E-2B1585C673A8}"/>
              </a:ext>
            </a:extLst>
          </p:cNvPr>
          <p:cNvSpPr>
            <a:spLocks noChangeArrowheads="1"/>
          </p:cNvSpPr>
          <p:nvPr/>
        </p:nvSpPr>
        <p:spPr bwMode="auto">
          <a:xfrm>
            <a:off x="3164733" y="4611837"/>
            <a:ext cx="233396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轴上输出转矩</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46" name="对象 45">
            <a:extLst>
              <a:ext uri="{FF2B5EF4-FFF2-40B4-BE49-F238E27FC236}">
                <a16:creationId xmlns:a16="http://schemas.microsoft.com/office/drawing/2014/main" id="{071C7497-514A-A8B4-E436-C3B1CED53867}"/>
              </a:ext>
            </a:extLst>
          </p:cNvPr>
          <p:cNvGraphicFramePr>
            <a:graphicFrameLocks noChangeAspect="1"/>
          </p:cNvGraphicFramePr>
          <p:nvPr>
            <p:extLst>
              <p:ext uri="{D42A27DB-BD31-4B8C-83A1-F6EECF244321}">
                <p14:modId xmlns:p14="http://schemas.microsoft.com/office/powerpoint/2010/main" val="1044369655"/>
              </p:ext>
            </p:extLst>
          </p:nvPr>
        </p:nvGraphicFramePr>
        <p:xfrm>
          <a:off x="5286549" y="4433040"/>
          <a:ext cx="999397" cy="866776"/>
        </p:xfrm>
        <a:graphic>
          <a:graphicData uri="http://schemas.openxmlformats.org/presentationml/2006/ole">
            <mc:AlternateContent xmlns:mc="http://schemas.openxmlformats.org/markup-compatibility/2006">
              <mc:Choice xmlns:v="urn:schemas-microsoft-com:vml" Requires="v">
                <p:oleObj name="Equation" r:id="rId9" imgW="457002" imgH="393529" progId="Equation.DSMT4">
                  <p:embed/>
                </p:oleObj>
              </mc:Choice>
              <mc:Fallback>
                <p:oleObj name="Equation" r:id="rId9" imgW="457002" imgH="393529"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86549" y="4433040"/>
                        <a:ext cx="999397" cy="866776"/>
                      </a:xfrm>
                      <a:prstGeom prst="rect">
                        <a:avLst/>
                      </a:prstGeom>
                      <a:solidFill>
                        <a:srgbClr val="FFCC00"/>
                      </a:solidFill>
                    </p:spPr>
                  </p:pic>
                </p:oleObj>
              </mc:Fallback>
            </mc:AlternateContent>
          </a:graphicData>
        </a:graphic>
      </p:graphicFrame>
      <p:sp>
        <p:nvSpPr>
          <p:cNvPr id="47" name="Rectangle 13">
            <a:extLst>
              <a:ext uri="{FF2B5EF4-FFF2-40B4-BE49-F238E27FC236}">
                <a16:creationId xmlns:a16="http://schemas.microsoft.com/office/drawing/2014/main" id="{B96FFF20-6BCE-FEF0-81A4-C811EAA19837}"/>
              </a:ext>
            </a:extLst>
          </p:cNvPr>
          <p:cNvSpPr>
            <a:spLocks noChangeArrowheads="1"/>
          </p:cNvSpPr>
          <p:nvPr/>
        </p:nvSpPr>
        <p:spPr bwMode="auto">
          <a:xfrm>
            <a:off x="6444208" y="2517361"/>
            <a:ext cx="254493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〖注意区别同步角速度与运行角速度〗</a:t>
            </a:r>
            <a:endParaRPr kumimoji="0" lang="zh-CN" altLang="zh-CN" sz="1600" b="0" i="0" u="none" strike="noStrike" cap="none" normalizeH="0" baseline="0" dirty="0">
              <a:ln>
                <a:noFill/>
              </a:ln>
              <a:solidFill>
                <a:srgbClr val="C00000"/>
              </a:solidFill>
              <a:effectLst/>
              <a:latin typeface="Arial" panose="020B0604020202020204" pitchFamily="34" charset="0"/>
            </a:endParaRPr>
          </a:p>
        </p:txBody>
      </p:sp>
      <p:sp>
        <p:nvSpPr>
          <p:cNvPr id="48" name="Rectangle 15">
            <a:extLst>
              <a:ext uri="{FF2B5EF4-FFF2-40B4-BE49-F238E27FC236}">
                <a16:creationId xmlns:a16="http://schemas.microsoft.com/office/drawing/2014/main" id="{0839C763-31B9-F039-A542-252BE991C4F3}"/>
              </a:ext>
            </a:extLst>
          </p:cNvPr>
          <p:cNvSpPr>
            <a:spLocks noChangeArrowheads="1"/>
          </p:cNvSpPr>
          <p:nvPr/>
        </p:nvSpPr>
        <p:spPr bwMode="auto">
          <a:xfrm>
            <a:off x="6435664" y="4609604"/>
            <a:ext cx="17281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空载转矩</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9" name="对象 48">
            <a:extLst>
              <a:ext uri="{FF2B5EF4-FFF2-40B4-BE49-F238E27FC236}">
                <a16:creationId xmlns:a16="http://schemas.microsoft.com/office/drawing/2014/main" id="{CA3D4203-90FA-8CC2-2C72-6665DBE30700}"/>
              </a:ext>
            </a:extLst>
          </p:cNvPr>
          <p:cNvGraphicFramePr>
            <a:graphicFrameLocks noChangeAspect="1"/>
          </p:cNvGraphicFramePr>
          <p:nvPr>
            <p:extLst>
              <p:ext uri="{D42A27DB-BD31-4B8C-83A1-F6EECF244321}">
                <p14:modId xmlns:p14="http://schemas.microsoft.com/office/powerpoint/2010/main" val="54872922"/>
              </p:ext>
            </p:extLst>
          </p:nvPr>
        </p:nvGraphicFramePr>
        <p:xfrm>
          <a:off x="7928695" y="4424742"/>
          <a:ext cx="1035793" cy="826817"/>
        </p:xfrm>
        <a:graphic>
          <a:graphicData uri="http://schemas.openxmlformats.org/presentationml/2006/ole">
            <mc:AlternateContent xmlns:mc="http://schemas.openxmlformats.org/markup-compatibility/2006">
              <mc:Choice xmlns:v="urn:schemas-microsoft-com:vml" Requires="v">
                <p:oleObj name="Equation" r:id="rId11" imgW="495085" imgH="393529" progId="Equation.DSMT4">
                  <p:embed/>
                </p:oleObj>
              </mc:Choice>
              <mc:Fallback>
                <p:oleObj name="Equation" r:id="rId11" imgW="495085" imgH="393529"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28695" y="4424742"/>
                        <a:ext cx="1035793" cy="826817"/>
                      </a:xfrm>
                      <a:prstGeom prst="rect">
                        <a:avLst/>
                      </a:prstGeom>
                      <a:noFill/>
                    </p:spPr>
                  </p:pic>
                </p:oleObj>
              </mc:Fallback>
            </mc:AlternateContent>
          </a:graphicData>
        </a:graphic>
      </p:graphicFrame>
      <p:graphicFrame>
        <p:nvGraphicFramePr>
          <p:cNvPr id="51" name="对象 50">
            <a:extLst>
              <a:ext uri="{FF2B5EF4-FFF2-40B4-BE49-F238E27FC236}">
                <a16:creationId xmlns:a16="http://schemas.microsoft.com/office/drawing/2014/main" id="{BB848100-FA95-DC09-3C25-8910B7D26B89}"/>
              </a:ext>
            </a:extLst>
          </p:cNvPr>
          <p:cNvGraphicFramePr>
            <a:graphicFrameLocks noChangeAspect="1"/>
          </p:cNvGraphicFramePr>
          <p:nvPr>
            <p:extLst>
              <p:ext uri="{D42A27DB-BD31-4B8C-83A1-F6EECF244321}">
                <p14:modId xmlns:p14="http://schemas.microsoft.com/office/powerpoint/2010/main" val="493661296"/>
              </p:ext>
            </p:extLst>
          </p:nvPr>
        </p:nvGraphicFramePr>
        <p:xfrm>
          <a:off x="353052" y="5489153"/>
          <a:ext cx="5492750" cy="892175"/>
        </p:xfrm>
        <a:graphic>
          <a:graphicData uri="http://schemas.openxmlformats.org/presentationml/2006/ole">
            <mc:AlternateContent xmlns:mc="http://schemas.openxmlformats.org/markup-compatibility/2006">
              <mc:Choice xmlns:v="urn:schemas-microsoft-com:vml" Requires="v">
                <p:oleObj name="Equation" r:id="rId13" imgW="2298600" imgH="368280" progId="Equation.DSMT4">
                  <p:embed/>
                </p:oleObj>
              </mc:Choice>
              <mc:Fallback>
                <p:oleObj name="Equation" r:id="rId13" imgW="2298600" imgH="368280" progId="Equation.DSMT4">
                  <p:embed/>
                  <p:pic>
                    <p:nvPicPr>
                      <p:cNvPr id="0" name="Object 16"/>
                      <p:cNvPicPr>
                        <a:picLocks noChangeAspect="1" noChangeArrowheads="1"/>
                      </p:cNvPicPr>
                      <p:nvPr/>
                    </p:nvPicPr>
                    <p:blipFill>
                      <a:blip r:embed="rId14"/>
                      <a:srcRect/>
                      <a:stretch>
                        <a:fillRect/>
                      </a:stretch>
                    </p:blipFill>
                    <p:spPr bwMode="auto">
                      <a:xfrm>
                        <a:off x="353052" y="5489153"/>
                        <a:ext cx="5492750" cy="892175"/>
                      </a:xfrm>
                      <a:prstGeom prst="rect">
                        <a:avLst/>
                      </a:prstGeom>
                      <a:noFill/>
                    </p:spPr>
                  </p:pic>
                </p:oleObj>
              </mc:Fallback>
            </mc:AlternateContent>
          </a:graphicData>
        </a:graphic>
      </p:graphicFrame>
      <p:sp>
        <p:nvSpPr>
          <p:cNvPr id="52" name="Rectangle 19">
            <a:extLst>
              <a:ext uri="{FF2B5EF4-FFF2-40B4-BE49-F238E27FC236}">
                <a16:creationId xmlns:a16="http://schemas.microsoft.com/office/drawing/2014/main" id="{E7F57A12-7658-5BE4-FFA7-1517A0B83302}"/>
              </a:ext>
            </a:extLst>
          </p:cNvPr>
          <p:cNvSpPr>
            <a:spLocks noChangeArrowheads="1"/>
          </p:cNvSpPr>
          <p:nvPr/>
        </p:nvSpPr>
        <p:spPr bwMode="auto">
          <a:xfrm>
            <a:off x="6041787" y="5777291"/>
            <a:ext cx="103506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即：</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53" name="对象 52">
            <a:extLst>
              <a:ext uri="{FF2B5EF4-FFF2-40B4-BE49-F238E27FC236}">
                <a16:creationId xmlns:a16="http://schemas.microsoft.com/office/drawing/2014/main" id="{8DA44FB8-9A29-771F-E4EE-D4529E728FAB}"/>
              </a:ext>
            </a:extLst>
          </p:cNvPr>
          <p:cNvGraphicFramePr>
            <a:graphicFrameLocks noChangeAspect="1"/>
          </p:cNvGraphicFramePr>
          <p:nvPr>
            <p:extLst>
              <p:ext uri="{D42A27DB-BD31-4B8C-83A1-F6EECF244321}">
                <p14:modId xmlns:p14="http://schemas.microsoft.com/office/powerpoint/2010/main" val="2502700478"/>
              </p:ext>
            </p:extLst>
          </p:nvPr>
        </p:nvGraphicFramePr>
        <p:xfrm>
          <a:off x="6771463" y="5777344"/>
          <a:ext cx="1832985" cy="539852"/>
        </p:xfrm>
        <a:graphic>
          <a:graphicData uri="http://schemas.openxmlformats.org/presentationml/2006/ole">
            <mc:AlternateContent xmlns:mc="http://schemas.openxmlformats.org/markup-compatibility/2006">
              <mc:Choice xmlns:v="urn:schemas-microsoft-com:vml" Requires="v">
                <p:oleObj name="Equation" r:id="rId15" imgW="761669" imgH="228501" progId="Equation.DSMT4">
                  <p:embed/>
                </p:oleObj>
              </mc:Choice>
              <mc:Fallback>
                <p:oleObj name="Equation" r:id="rId15" imgW="761669" imgH="228501" progId="Equation.DSMT4">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71463" y="5777344"/>
                        <a:ext cx="1832985" cy="539852"/>
                      </a:xfrm>
                      <a:prstGeom prst="rect">
                        <a:avLst/>
                      </a:prstGeom>
                      <a:noFill/>
                    </p:spPr>
                  </p:pic>
                </p:oleObj>
              </mc:Fallback>
            </mc:AlternateContent>
          </a:graphicData>
        </a:graphic>
      </p:graphicFrame>
      <p:sp>
        <p:nvSpPr>
          <p:cNvPr id="5" name="灯片编号占位符 4">
            <a:extLst>
              <a:ext uri="{FF2B5EF4-FFF2-40B4-BE49-F238E27FC236}">
                <a16:creationId xmlns:a16="http://schemas.microsoft.com/office/drawing/2014/main" id="{924422C3-F7D8-05D2-D99B-58DB01F2686D}"/>
              </a:ext>
            </a:extLst>
          </p:cNvPr>
          <p:cNvSpPr>
            <a:spLocks noGrp="1"/>
          </p:cNvSpPr>
          <p:nvPr>
            <p:ph type="sldNum" sz="quarter" idx="12"/>
          </p:nvPr>
        </p:nvSpPr>
        <p:spPr/>
        <p:txBody>
          <a:bodyPr/>
          <a:lstStyle/>
          <a:p>
            <a:fld id="{76D830B0-DF59-4281-898F-AF208100B213}" type="slidenum">
              <a:rPr lang="en-US" altLang="zh-CN" smtClean="0"/>
              <a:pPr/>
              <a:t>87</a:t>
            </a:fld>
            <a:endParaRPr lang="en-US" altLang="zh-CN"/>
          </a:p>
        </p:txBody>
      </p:sp>
    </p:spTree>
    <p:extLst>
      <p:ext uri="{BB962C8B-B14F-4D97-AF65-F5344CB8AC3E}">
        <p14:creationId xmlns:p14="http://schemas.microsoft.com/office/powerpoint/2010/main" val="5877162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对象 8">
            <a:extLst>
              <a:ext uri="{FF2B5EF4-FFF2-40B4-BE49-F238E27FC236}">
                <a16:creationId xmlns:a16="http://schemas.microsoft.com/office/drawing/2014/main" id="{5C0B7112-F03F-0AAC-3C08-4E46343F7085}"/>
              </a:ext>
            </a:extLst>
          </p:cNvPr>
          <p:cNvGraphicFramePr>
            <a:graphicFrameLocks noChangeAspect="1"/>
          </p:cNvGraphicFramePr>
          <p:nvPr>
            <p:extLst>
              <p:ext uri="{D42A27DB-BD31-4B8C-83A1-F6EECF244321}">
                <p14:modId xmlns:p14="http://schemas.microsoft.com/office/powerpoint/2010/main" val="4279885028"/>
              </p:ext>
            </p:extLst>
          </p:nvPr>
        </p:nvGraphicFramePr>
        <p:xfrm>
          <a:off x="996950" y="971550"/>
          <a:ext cx="5132388" cy="1300163"/>
        </p:xfrm>
        <a:graphic>
          <a:graphicData uri="http://schemas.openxmlformats.org/presentationml/2006/ole">
            <mc:AlternateContent xmlns:mc="http://schemas.openxmlformats.org/markup-compatibility/2006">
              <mc:Choice xmlns:v="urn:schemas-microsoft-com:vml" Requires="v">
                <p:oleObj name="Equation" r:id="rId3" imgW="2476440" imgH="622080" progId="Equation.DSMT4">
                  <p:embed/>
                </p:oleObj>
              </mc:Choice>
              <mc:Fallback>
                <p:oleObj name="Equation" r:id="rId3" imgW="2476440" imgH="622080" progId="Equation.DSMT4">
                  <p:embed/>
                  <p:pic>
                    <p:nvPicPr>
                      <p:cNvPr id="0" name="Object 5"/>
                      <p:cNvPicPr>
                        <a:picLocks noChangeAspect="1" noChangeArrowheads="1"/>
                      </p:cNvPicPr>
                      <p:nvPr/>
                    </p:nvPicPr>
                    <p:blipFill>
                      <a:blip r:embed="rId4"/>
                      <a:srcRect/>
                      <a:stretch>
                        <a:fillRect/>
                      </a:stretch>
                    </p:blipFill>
                    <p:spPr bwMode="auto">
                      <a:xfrm>
                        <a:off x="996950" y="971550"/>
                        <a:ext cx="5132388" cy="1300163"/>
                      </a:xfrm>
                      <a:prstGeom prst="rect">
                        <a:avLst/>
                      </a:prstGeom>
                      <a:noFill/>
                    </p:spPr>
                  </p:pic>
                </p:oleObj>
              </mc:Fallback>
            </mc:AlternateContent>
          </a:graphicData>
        </a:graphic>
      </p:graphicFrame>
      <p:graphicFrame>
        <p:nvGraphicFramePr>
          <p:cNvPr id="14" name="对象 13">
            <a:extLst>
              <a:ext uri="{FF2B5EF4-FFF2-40B4-BE49-F238E27FC236}">
                <a16:creationId xmlns:a16="http://schemas.microsoft.com/office/drawing/2014/main" id="{6DD15754-423E-C1FE-9747-872D7C1F7D6D}"/>
              </a:ext>
            </a:extLst>
          </p:cNvPr>
          <p:cNvGraphicFramePr>
            <a:graphicFrameLocks noChangeAspect="1"/>
          </p:cNvGraphicFramePr>
          <p:nvPr>
            <p:extLst>
              <p:ext uri="{D42A27DB-BD31-4B8C-83A1-F6EECF244321}">
                <p14:modId xmlns:p14="http://schemas.microsoft.com/office/powerpoint/2010/main" val="3215012798"/>
              </p:ext>
            </p:extLst>
          </p:nvPr>
        </p:nvGraphicFramePr>
        <p:xfrm>
          <a:off x="476213" y="2425149"/>
          <a:ext cx="8191573" cy="856169"/>
        </p:xfrm>
        <a:graphic>
          <a:graphicData uri="http://schemas.openxmlformats.org/presentationml/2006/ole">
            <mc:AlternateContent xmlns:mc="http://schemas.openxmlformats.org/markup-compatibility/2006">
              <mc:Choice xmlns:v="urn:schemas-microsoft-com:vml" Requires="v">
                <p:oleObj name="Equation" r:id="rId5" imgW="3898800" imgH="406080" progId="Equation.DSMT4">
                  <p:embed/>
                </p:oleObj>
              </mc:Choice>
              <mc:Fallback>
                <p:oleObj name="Equation" r:id="rId5" imgW="3898800" imgH="406080" progId="Equation.DSMT4">
                  <p:embed/>
                  <p:pic>
                    <p:nvPicPr>
                      <p:cNvPr id="0" name="Object 9"/>
                      <p:cNvPicPr>
                        <a:picLocks noChangeAspect="1" noChangeArrowheads="1"/>
                      </p:cNvPicPr>
                      <p:nvPr/>
                    </p:nvPicPr>
                    <p:blipFill>
                      <a:blip r:embed="rId6"/>
                      <a:srcRect/>
                      <a:stretch>
                        <a:fillRect/>
                      </a:stretch>
                    </p:blipFill>
                    <p:spPr bwMode="auto">
                      <a:xfrm>
                        <a:off x="476213" y="2425149"/>
                        <a:ext cx="8191573" cy="856169"/>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06D63F15-31FE-161F-2879-02EF113533D1}"/>
              </a:ext>
            </a:extLst>
          </p:cNvPr>
          <p:cNvGraphicFramePr>
            <a:graphicFrameLocks noChangeAspect="1"/>
          </p:cNvGraphicFramePr>
          <p:nvPr>
            <p:extLst>
              <p:ext uri="{D42A27DB-BD31-4B8C-83A1-F6EECF244321}">
                <p14:modId xmlns:p14="http://schemas.microsoft.com/office/powerpoint/2010/main" val="2794937818"/>
              </p:ext>
            </p:extLst>
          </p:nvPr>
        </p:nvGraphicFramePr>
        <p:xfrm>
          <a:off x="827584" y="3331325"/>
          <a:ext cx="5525654" cy="2247437"/>
        </p:xfrm>
        <a:graphic>
          <a:graphicData uri="http://schemas.openxmlformats.org/presentationml/2006/ole">
            <mc:AlternateContent xmlns:mc="http://schemas.openxmlformats.org/markup-compatibility/2006">
              <mc:Choice xmlns:v="urn:schemas-microsoft-com:vml" Requires="v">
                <p:oleObj name="Equation" r:id="rId7" imgW="2489200" imgH="1016000" progId="Equation.DSMT4">
                  <p:embed/>
                </p:oleObj>
              </mc:Choice>
              <mc:Fallback>
                <p:oleObj name="Equation" r:id="rId7" imgW="2489200" imgH="10160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584" y="3331325"/>
                        <a:ext cx="5525654" cy="2247437"/>
                      </a:xfrm>
                      <a:prstGeom prst="rect">
                        <a:avLst/>
                      </a:prstGeom>
                      <a:noFill/>
                    </p:spPr>
                  </p:pic>
                </p:oleObj>
              </mc:Fallback>
            </mc:AlternateContent>
          </a:graphicData>
        </a:graphic>
      </p:graphicFrame>
      <p:sp>
        <p:nvSpPr>
          <p:cNvPr id="22" name="Rectangle 14">
            <a:extLst>
              <a:ext uri="{FF2B5EF4-FFF2-40B4-BE49-F238E27FC236}">
                <a16:creationId xmlns:a16="http://schemas.microsoft.com/office/drawing/2014/main" id="{D045901B-CD53-C346-B22C-8881F01A3071}"/>
              </a:ext>
            </a:extLst>
          </p:cNvPr>
          <p:cNvSpPr>
            <a:spLocks noChangeArrowheads="1"/>
          </p:cNvSpPr>
          <p:nvPr/>
        </p:nvSpPr>
        <p:spPr bwMode="auto">
          <a:xfrm>
            <a:off x="1403648" y="5905277"/>
            <a:ext cx="129614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结论</a:t>
            </a:r>
            <a:r>
              <a:rPr kumimoji="0" lang="zh-CN" altLang="zh-CN" sz="2400" b="1"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aphicFrame>
        <p:nvGraphicFramePr>
          <p:cNvPr id="23" name="对象 22">
            <a:extLst>
              <a:ext uri="{FF2B5EF4-FFF2-40B4-BE49-F238E27FC236}">
                <a16:creationId xmlns:a16="http://schemas.microsoft.com/office/drawing/2014/main" id="{8EAC76FD-15C6-29AF-F2A9-028B2CFA9FD7}"/>
              </a:ext>
            </a:extLst>
          </p:cNvPr>
          <p:cNvGraphicFramePr>
            <a:graphicFrameLocks noChangeAspect="1"/>
          </p:cNvGraphicFramePr>
          <p:nvPr>
            <p:extLst>
              <p:ext uri="{D42A27DB-BD31-4B8C-83A1-F6EECF244321}">
                <p14:modId xmlns:p14="http://schemas.microsoft.com/office/powerpoint/2010/main" val="1129588951"/>
              </p:ext>
            </p:extLst>
          </p:nvPr>
        </p:nvGraphicFramePr>
        <p:xfrm>
          <a:off x="2411760" y="5855270"/>
          <a:ext cx="3024188" cy="557213"/>
        </p:xfrm>
        <a:graphic>
          <a:graphicData uri="http://schemas.openxmlformats.org/presentationml/2006/ole">
            <mc:AlternateContent xmlns:mc="http://schemas.openxmlformats.org/markup-compatibility/2006">
              <mc:Choice xmlns:v="urn:schemas-microsoft-com:vml" Requires="v">
                <p:oleObj name="Equation" r:id="rId9" imgW="1244600" imgH="228600" progId="Equation.DSMT4">
                  <p:embed/>
                </p:oleObj>
              </mc:Choice>
              <mc:Fallback>
                <p:oleObj name="Equation" r:id="rId9" imgW="1244600" imgH="228600"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1760" y="5855270"/>
                        <a:ext cx="3024188" cy="557213"/>
                      </a:xfrm>
                      <a:prstGeom prst="rect">
                        <a:avLst/>
                      </a:prstGeom>
                      <a:solidFill>
                        <a:srgbClr val="00FF00"/>
                      </a:solidFill>
                    </p:spPr>
                  </p:pic>
                </p:oleObj>
              </mc:Fallback>
            </mc:AlternateContent>
          </a:graphicData>
        </a:graphic>
      </p:graphicFrame>
      <p:sp>
        <p:nvSpPr>
          <p:cNvPr id="28" name="箭头: 右 27">
            <a:extLst>
              <a:ext uri="{FF2B5EF4-FFF2-40B4-BE49-F238E27FC236}">
                <a16:creationId xmlns:a16="http://schemas.microsoft.com/office/drawing/2014/main" id="{1B9B1833-C1E5-FB47-C8EA-2268353D67F8}"/>
              </a:ext>
            </a:extLst>
          </p:cNvPr>
          <p:cNvSpPr/>
          <p:nvPr/>
        </p:nvSpPr>
        <p:spPr>
          <a:xfrm>
            <a:off x="899592" y="5957948"/>
            <a:ext cx="485093"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Rectangle 2">
            <a:extLst>
              <a:ext uri="{FF2B5EF4-FFF2-40B4-BE49-F238E27FC236}">
                <a16:creationId xmlns:a16="http://schemas.microsoft.com/office/drawing/2014/main" id="{EAA77DC5-95DE-3957-86D0-8B1EA3430587}"/>
              </a:ext>
            </a:extLst>
          </p:cNvPr>
          <p:cNvSpPr>
            <a:spLocks noChangeArrowheads="1"/>
          </p:cNvSpPr>
          <p:nvPr/>
        </p:nvSpPr>
        <p:spPr bwMode="auto">
          <a:xfrm>
            <a:off x="6156176" y="5905277"/>
            <a:ext cx="1224136" cy="461665"/>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直流：</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30" name="对象 29">
            <a:extLst>
              <a:ext uri="{FF2B5EF4-FFF2-40B4-BE49-F238E27FC236}">
                <a16:creationId xmlns:a16="http://schemas.microsoft.com/office/drawing/2014/main" id="{4A74DCDA-DE42-A554-0CC5-3D8E8CE7029F}"/>
              </a:ext>
            </a:extLst>
          </p:cNvPr>
          <p:cNvGraphicFramePr>
            <a:graphicFrameLocks noChangeAspect="1"/>
          </p:cNvGraphicFramePr>
          <p:nvPr>
            <p:extLst>
              <p:ext uri="{D42A27DB-BD31-4B8C-83A1-F6EECF244321}">
                <p14:modId xmlns:p14="http://schemas.microsoft.com/office/powerpoint/2010/main" val="648020317"/>
              </p:ext>
            </p:extLst>
          </p:nvPr>
        </p:nvGraphicFramePr>
        <p:xfrm>
          <a:off x="7164288" y="5905277"/>
          <a:ext cx="1671638" cy="471488"/>
        </p:xfrm>
        <a:graphic>
          <a:graphicData uri="http://schemas.openxmlformats.org/presentationml/2006/ole">
            <mc:AlternateContent xmlns:mc="http://schemas.openxmlformats.org/markup-compatibility/2006">
              <mc:Choice xmlns:v="urn:schemas-microsoft-com:vml" Requires="v">
                <p:oleObj name="Equation" r:id="rId11" imgW="812447" imgH="228501" progId="Equation.DSMT4">
                  <p:embed/>
                </p:oleObj>
              </mc:Choice>
              <mc:Fallback>
                <p:oleObj name="Equation" r:id="rId11" imgW="812447" imgH="228501" progId="Equation.DSMT4">
                  <p:embed/>
                  <p:pic>
                    <p:nvPicPr>
                      <p:cNvPr id="5" name="对象 4">
                        <a:extLst>
                          <a:ext uri="{FF2B5EF4-FFF2-40B4-BE49-F238E27FC236}">
                            <a16:creationId xmlns:a16="http://schemas.microsoft.com/office/drawing/2014/main" id="{D6803045-901E-BEA5-93FC-34E37BF6DA5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64288" y="5905277"/>
                        <a:ext cx="1671638" cy="471488"/>
                      </a:xfrm>
                      <a:prstGeom prst="rect">
                        <a:avLst/>
                      </a:prstGeom>
                      <a:solidFill>
                        <a:srgbClr val="FFFF00"/>
                      </a:solidFill>
                    </p:spPr>
                  </p:pic>
                </p:oleObj>
              </mc:Fallback>
            </mc:AlternateContent>
          </a:graphicData>
        </a:graphic>
      </p:graphicFrame>
      <p:sp>
        <p:nvSpPr>
          <p:cNvPr id="31" name="Rectangle 2">
            <a:extLst>
              <a:ext uri="{FF2B5EF4-FFF2-40B4-BE49-F238E27FC236}">
                <a16:creationId xmlns:a16="http://schemas.microsoft.com/office/drawing/2014/main" id="{1A60A9CF-2B3E-C2AB-CE3A-F6E7F195BD92}"/>
              </a:ext>
            </a:extLst>
          </p:cNvPr>
          <p:cNvSpPr>
            <a:spLocks noChangeArrowheads="1"/>
          </p:cNvSpPr>
          <p:nvPr/>
        </p:nvSpPr>
        <p:spPr bwMode="auto">
          <a:xfrm flipH="1">
            <a:off x="5515683" y="5895454"/>
            <a:ext cx="648072" cy="46166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VS</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3" name="灯片编号占位符 2">
            <a:extLst>
              <a:ext uri="{FF2B5EF4-FFF2-40B4-BE49-F238E27FC236}">
                <a16:creationId xmlns:a16="http://schemas.microsoft.com/office/drawing/2014/main" id="{9384753C-23A2-6703-8C9B-A69AFE521775}"/>
              </a:ext>
            </a:extLst>
          </p:cNvPr>
          <p:cNvSpPr>
            <a:spLocks noGrp="1"/>
          </p:cNvSpPr>
          <p:nvPr>
            <p:ph type="sldNum" sz="quarter" idx="12"/>
          </p:nvPr>
        </p:nvSpPr>
        <p:spPr/>
        <p:txBody>
          <a:bodyPr/>
          <a:lstStyle/>
          <a:p>
            <a:fld id="{76D830B0-DF59-4281-898F-AF208100B213}" type="slidenum">
              <a:rPr lang="en-US" altLang="zh-CN" smtClean="0"/>
              <a:pPr/>
              <a:t>88</a:t>
            </a:fld>
            <a:endParaRPr lang="en-US" altLang="zh-CN"/>
          </a:p>
        </p:txBody>
      </p:sp>
    </p:spTree>
    <p:extLst>
      <p:ext uri="{BB962C8B-B14F-4D97-AF65-F5344CB8AC3E}">
        <p14:creationId xmlns:p14="http://schemas.microsoft.com/office/powerpoint/2010/main" val="9301878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C8A9644-48E0-FCEE-5A7E-46A75D90E77D}"/>
              </a:ext>
            </a:extLst>
          </p:cNvPr>
          <p:cNvSpPr txBox="1"/>
          <p:nvPr/>
        </p:nvSpPr>
        <p:spPr>
          <a:xfrm>
            <a:off x="481459" y="1409470"/>
            <a:ext cx="4572000" cy="461665"/>
          </a:xfrm>
          <a:prstGeom prst="rect">
            <a:avLst/>
          </a:prstGeom>
          <a:noFill/>
        </p:spPr>
        <p:txBody>
          <a:bodyPr wrap="square">
            <a:spAutoFit/>
          </a:bodyPr>
          <a:lstStyle/>
          <a:p>
            <a:pPr algn="just"/>
            <a:r>
              <a:rPr lang="zh-CN" altLang="zh-CN" sz="2400" b="1" dirty="0">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与他励直流电机电磁转矩比较</a:t>
            </a:r>
            <a:r>
              <a:rPr lang="zh-CN"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endParaRPr lang="zh-CN" altLang="zh-CN" sz="28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B9CC0D01-E1EF-CD5B-B448-30DFD6899C40}"/>
              </a:ext>
            </a:extLst>
          </p:cNvPr>
          <p:cNvSpPr txBox="1"/>
          <p:nvPr/>
        </p:nvSpPr>
        <p:spPr>
          <a:xfrm>
            <a:off x="539552" y="1844824"/>
            <a:ext cx="8352928" cy="389856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zh-CN"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形式基本相同</a:t>
            </a:r>
            <a:r>
              <a:rPr lang="zh-CN" altLang="en-US"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endParaRPr lang="en-US" altLang="zh-CN" sz="2800" b="1" dirty="0">
              <a:solidFill>
                <a:srgbClr val="FF0000"/>
              </a:solidFill>
              <a:latin typeface="宋体" panose="0201060003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kumimoji="0" lang="en-US" altLang="zh-CN" sz="2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DCM</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在</a:t>
            </a:r>
            <a:r>
              <a:rPr kumimoji="0" lang="en-US" altLang="zh-CN" sz="2400" b="1" i="0" u="none" strike="noStrike" cap="none" normalizeH="0" baseline="0" dirty="0">
                <a:ln>
                  <a:noFill/>
                </a:ln>
                <a:solidFill>
                  <a:srgbClr val="000000"/>
                </a:solidFill>
                <a:effectLst/>
                <a:latin typeface="Symbol" panose="05050102010706020507" pitchFamily="18" charset="2"/>
                <a:ea typeface="黑体" panose="02010609060101010101" pitchFamily="49" charset="-122"/>
                <a:cs typeface="Times New Roman" panose="02020603050405020304" pitchFamily="18" charset="0"/>
              </a:rPr>
              <a:t>f</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不变时</a:t>
            </a:r>
            <a:r>
              <a:rPr kumimoji="0" lang="en-US" altLang="zh-CN" sz="2400" b="1" i="0" u="none" strike="noStrike" cap="none" normalizeH="0" baseline="0" dirty="0">
                <a:ln>
                  <a:noFill/>
                </a:ln>
                <a:solidFill>
                  <a:srgbClr val="000000"/>
                </a:solidFill>
                <a:latin typeface="宋体" panose="02010600030101010101" pitchFamily="2"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和电枢电流成正比；</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异步</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电动</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机</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即使</a:t>
            </a:r>
            <a:r>
              <a:rPr kumimoji="0" lang="en-US" altLang="zh-CN" sz="2400" b="1" i="0" u="none" strike="noStrike" cap="none" normalizeH="0" baseline="0" dirty="0">
                <a:ln>
                  <a:noFill/>
                </a:ln>
                <a:solidFill>
                  <a:srgbClr val="000000"/>
                </a:solidFill>
                <a:effectLst/>
                <a:latin typeface="Symbol" panose="05050102010706020507" pitchFamily="18" charset="2"/>
                <a:ea typeface="黑体" panose="02010609060101010101" pitchFamily="49" charset="-122"/>
                <a:cs typeface="Times New Roman" panose="02020603050405020304" pitchFamily="18" charset="0"/>
              </a:rPr>
              <a:t>f</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不变，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仅取决于</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转子电流的有功分量</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342900" indent="-342900" algn="just">
              <a:lnSpc>
                <a:spcPct val="150000"/>
              </a:lnSpc>
              <a:buFont typeface="Arial" panose="020B0604020202020204" pitchFamily="34" charset="0"/>
              <a:buChar char="•"/>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转子功率因数角           ，是转差率</a:t>
            </a:r>
            <a:r>
              <a:rPr lang="en-US"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s</a:t>
            </a:r>
            <a:r>
              <a:rPr lang="zh-CN"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即</a:t>
            </a:r>
            <a:r>
              <a:rPr lang="en-US"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n</a:t>
            </a:r>
            <a:r>
              <a:rPr lang="zh-CN"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的函数</a:t>
            </a:r>
            <a:r>
              <a:rPr lang="zh-CN" altLang="en-US"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即使</a:t>
            </a:r>
            <a:r>
              <a:rPr kumimoji="0" lang="en-US" altLang="zh-CN" sz="2400" b="1" i="0" u="none" strike="noStrike" cap="none" normalizeH="0" baseline="0" dirty="0">
                <a:ln>
                  <a:noFill/>
                </a:ln>
                <a:solidFill>
                  <a:srgbClr val="000000"/>
                </a:solidFill>
                <a:effectLst/>
                <a:latin typeface="Symbol" panose="05050102010706020507" pitchFamily="18" charset="2"/>
                <a:ea typeface="黑体" panose="02010609060101010101" pitchFamily="49" charset="-122"/>
                <a:cs typeface="Times New Roman" panose="02020603050405020304" pitchFamily="18" charset="0"/>
              </a:rPr>
              <a:t>f</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不变，不同</a:t>
            </a:r>
            <a:r>
              <a:rPr kumimoji="0" lang="en-US" altLang="zh-CN" sz="24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n</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下同样电流得到的</a:t>
            </a:r>
            <a:r>
              <a:rPr lang="zh-CN" altLang="en-US" dirty="0">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也有很大差别</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400" b="0" i="0" u="none" strike="noStrike" cap="none" normalizeH="0" baseline="0" dirty="0">
              <a:ln>
                <a:noFill/>
              </a:ln>
              <a:solidFill>
                <a:schemeClr val="tx1"/>
              </a:solidFill>
              <a:effectLst/>
              <a:latin typeface="Arial" panose="020B0604020202020204" pitchFamily="34" charset="0"/>
            </a:endParaRPr>
          </a:p>
          <a:p>
            <a:pPr marL="342900" indent="-342900" algn="just">
              <a:lnSpc>
                <a:spcPct val="150000"/>
              </a:lnSpc>
              <a:buFont typeface="Arial" panose="020B0604020202020204" pitchFamily="34" charset="0"/>
              <a:buChar char="•"/>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包含</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转子等效电气参数，直接测量、控制困难（能控不能观）。</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graphicFrame>
        <p:nvGraphicFramePr>
          <p:cNvPr id="20" name="对象 19">
            <a:extLst>
              <a:ext uri="{FF2B5EF4-FFF2-40B4-BE49-F238E27FC236}">
                <a16:creationId xmlns:a16="http://schemas.microsoft.com/office/drawing/2014/main" id="{0DFD413F-DABB-8A97-7D3A-80C1E1ACD2CF}"/>
              </a:ext>
            </a:extLst>
          </p:cNvPr>
          <p:cNvGraphicFramePr>
            <a:graphicFrameLocks noChangeAspect="1"/>
          </p:cNvGraphicFramePr>
          <p:nvPr>
            <p:extLst>
              <p:ext uri="{D42A27DB-BD31-4B8C-83A1-F6EECF244321}">
                <p14:modId xmlns:p14="http://schemas.microsoft.com/office/powerpoint/2010/main" val="2378840464"/>
              </p:ext>
            </p:extLst>
          </p:nvPr>
        </p:nvGraphicFramePr>
        <p:xfrm>
          <a:off x="2987824" y="2492896"/>
          <a:ext cx="490538" cy="471488"/>
        </p:xfrm>
        <a:graphic>
          <a:graphicData uri="http://schemas.openxmlformats.org/presentationml/2006/ole">
            <mc:AlternateContent xmlns:mc="http://schemas.openxmlformats.org/markup-compatibility/2006">
              <mc:Choice xmlns:v="urn:schemas-microsoft-com:vml" Requires="v">
                <p:oleObj name="Equation" r:id="rId3" imgW="241300" imgH="228600" progId="Equation.DSMT4">
                  <p:embed/>
                </p:oleObj>
              </mc:Choice>
              <mc:Fallback>
                <p:oleObj name="Equation" r:id="rId3" imgW="241300" imgH="228600"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824" y="2492896"/>
                        <a:ext cx="490538"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对象 25">
            <a:extLst>
              <a:ext uri="{FF2B5EF4-FFF2-40B4-BE49-F238E27FC236}">
                <a16:creationId xmlns:a16="http://schemas.microsoft.com/office/drawing/2014/main" id="{43C5E1FE-EC13-7039-417D-2075BCF1FA92}"/>
              </a:ext>
            </a:extLst>
          </p:cNvPr>
          <p:cNvGraphicFramePr>
            <a:graphicFrameLocks noChangeAspect="1"/>
          </p:cNvGraphicFramePr>
          <p:nvPr>
            <p:extLst>
              <p:ext uri="{D42A27DB-BD31-4B8C-83A1-F6EECF244321}">
                <p14:modId xmlns:p14="http://schemas.microsoft.com/office/powerpoint/2010/main" val="3617402514"/>
              </p:ext>
            </p:extLst>
          </p:nvPr>
        </p:nvGraphicFramePr>
        <p:xfrm>
          <a:off x="1763688" y="3076177"/>
          <a:ext cx="461963" cy="447675"/>
        </p:xfrm>
        <a:graphic>
          <a:graphicData uri="http://schemas.openxmlformats.org/presentationml/2006/ole">
            <mc:AlternateContent xmlns:mc="http://schemas.openxmlformats.org/markup-compatibility/2006">
              <mc:Choice xmlns:v="urn:schemas-microsoft-com:vml" Requires="v">
                <p:oleObj name="Equation" r:id="rId3" imgW="241300" imgH="228600" progId="Equation.DSMT4">
                  <p:embed/>
                </p:oleObj>
              </mc:Choice>
              <mc:Fallback>
                <p:oleObj name="Equation" r:id="rId3" imgW="241300" imgH="228600" progId="Equation.DSMT4">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076177"/>
                        <a:ext cx="461963" cy="447675"/>
                      </a:xfrm>
                      <a:prstGeom prst="rect">
                        <a:avLst/>
                      </a:prstGeom>
                      <a:noFill/>
                    </p:spPr>
                  </p:pic>
                </p:oleObj>
              </mc:Fallback>
            </mc:AlternateContent>
          </a:graphicData>
        </a:graphic>
      </p:graphicFrame>
      <p:graphicFrame>
        <p:nvGraphicFramePr>
          <p:cNvPr id="33" name="对象 32">
            <a:extLst>
              <a:ext uri="{FF2B5EF4-FFF2-40B4-BE49-F238E27FC236}">
                <a16:creationId xmlns:a16="http://schemas.microsoft.com/office/drawing/2014/main" id="{D0464957-1DF6-7ECB-ED62-6431FA5E895D}"/>
              </a:ext>
            </a:extLst>
          </p:cNvPr>
          <p:cNvGraphicFramePr>
            <a:graphicFrameLocks noChangeAspect="1"/>
          </p:cNvGraphicFramePr>
          <p:nvPr>
            <p:extLst>
              <p:ext uri="{D42A27DB-BD31-4B8C-83A1-F6EECF244321}">
                <p14:modId xmlns:p14="http://schemas.microsoft.com/office/powerpoint/2010/main" val="3701092408"/>
              </p:ext>
            </p:extLst>
          </p:nvPr>
        </p:nvGraphicFramePr>
        <p:xfrm>
          <a:off x="3160374" y="3429000"/>
          <a:ext cx="1547813" cy="796925"/>
        </p:xfrm>
        <a:graphic>
          <a:graphicData uri="http://schemas.openxmlformats.org/presentationml/2006/ole">
            <mc:AlternateContent xmlns:mc="http://schemas.openxmlformats.org/markup-compatibility/2006">
              <mc:Choice xmlns:v="urn:schemas-microsoft-com:vml" Requires="v">
                <p:oleObj name="Equation" r:id="rId5" imgW="787320" imgH="406080" progId="Equation.DSMT4">
                  <p:embed/>
                </p:oleObj>
              </mc:Choice>
              <mc:Fallback>
                <p:oleObj name="Equation" r:id="rId5" imgW="787320" imgH="406080" progId="Equation.DSMT4">
                  <p:embed/>
                  <p:pic>
                    <p:nvPicPr>
                      <p:cNvPr id="0" name="Object 21"/>
                      <p:cNvPicPr>
                        <a:picLocks noChangeAspect="1" noChangeArrowheads="1"/>
                      </p:cNvPicPr>
                      <p:nvPr/>
                    </p:nvPicPr>
                    <p:blipFill>
                      <a:blip r:embed="rId6"/>
                      <a:srcRect/>
                      <a:stretch>
                        <a:fillRect/>
                      </a:stretch>
                    </p:blipFill>
                    <p:spPr bwMode="auto">
                      <a:xfrm>
                        <a:off x="3160374" y="3429000"/>
                        <a:ext cx="1547813" cy="796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a:extLst>
              <a:ext uri="{FF2B5EF4-FFF2-40B4-BE49-F238E27FC236}">
                <a16:creationId xmlns:a16="http://schemas.microsoft.com/office/drawing/2014/main" id="{63A98620-C266-127F-F0D8-83B44B91B8D3}"/>
              </a:ext>
            </a:extLst>
          </p:cNvPr>
          <p:cNvGraphicFramePr>
            <a:graphicFrameLocks noChangeAspect="1"/>
          </p:cNvGraphicFramePr>
          <p:nvPr>
            <p:extLst>
              <p:ext uri="{D42A27DB-BD31-4B8C-83A1-F6EECF244321}">
                <p14:modId xmlns:p14="http://schemas.microsoft.com/office/powerpoint/2010/main" val="3728911960"/>
              </p:ext>
            </p:extLst>
          </p:nvPr>
        </p:nvGraphicFramePr>
        <p:xfrm>
          <a:off x="5220072" y="4139645"/>
          <a:ext cx="461963" cy="447675"/>
        </p:xfrm>
        <a:graphic>
          <a:graphicData uri="http://schemas.openxmlformats.org/presentationml/2006/ole">
            <mc:AlternateContent xmlns:mc="http://schemas.openxmlformats.org/markup-compatibility/2006">
              <mc:Choice xmlns:v="urn:schemas-microsoft-com:vml" Requires="v">
                <p:oleObj name="Equation" r:id="rId3" imgW="241300" imgH="228600" progId="Equation.DSMT4">
                  <p:embed/>
                </p:oleObj>
              </mc:Choice>
              <mc:Fallback>
                <p:oleObj name="Equation" r:id="rId3" imgW="241300" imgH="228600" progId="Equation.DSMT4">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0072" y="4139645"/>
                        <a:ext cx="461963" cy="447675"/>
                      </a:xfrm>
                      <a:prstGeom prst="rect">
                        <a:avLst/>
                      </a:prstGeom>
                      <a:noFill/>
                    </p:spPr>
                  </p:pic>
                </p:oleObj>
              </mc:Fallback>
            </mc:AlternateContent>
          </a:graphicData>
        </a:graphic>
      </p:graphicFrame>
      <p:graphicFrame>
        <p:nvGraphicFramePr>
          <p:cNvPr id="39" name="对象 38">
            <a:extLst>
              <a:ext uri="{FF2B5EF4-FFF2-40B4-BE49-F238E27FC236}">
                <a16:creationId xmlns:a16="http://schemas.microsoft.com/office/drawing/2014/main" id="{705B469C-DADF-5F47-7D27-271775B896C6}"/>
              </a:ext>
            </a:extLst>
          </p:cNvPr>
          <p:cNvGraphicFramePr>
            <a:graphicFrameLocks noChangeAspect="1"/>
          </p:cNvGraphicFramePr>
          <p:nvPr>
            <p:extLst>
              <p:ext uri="{D42A27DB-BD31-4B8C-83A1-F6EECF244321}">
                <p14:modId xmlns:p14="http://schemas.microsoft.com/office/powerpoint/2010/main" val="2140116432"/>
              </p:ext>
            </p:extLst>
          </p:nvPr>
        </p:nvGraphicFramePr>
        <p:xfrm>
          <a:off x="899592" y="4740778"/>
          <a:ext cx="452438" cy="438150"/>
        </p:xfrm>
        <a:graphic>
          <a:graphicData uri="http://schemas.openxmlformats.org/presentationml/2006/ole">
            <mc:AlternateContent xmlns:mc="http://schemas.openxmlformats.org/markup-compatibility/2006">
              <mc:Choice xmlns:v="urn:schemas-microsoft-com:vml" Requires="v">
                <p:oleObj name="Equation" r:id="rId3" imgW="241300" imgH="228600" progId="Equation.DSMT4">
                  <p:embed/>
                </p:oleObj>
              </mc:Choice>
              <mc:Fallback>
                <p:oleObj name="Equation" r:id="rId3" imgW="241300" imgH="228600" progId="Equation.DSMT4">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4740778"/>
                        <a:ext cx="452438"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a:extLst>
              <a:ext uri="{FF2B5EF4-FFF2-40B4-BE49-F238E27FC236}">
                <a16:creationId xmlns:a16="http://schemas.microsoft.com/office/drawing/2014/main" id="{A0FD292D-8636-E8F3-8CB9-C4ADA6006825}"/>
              </a:ext>
            </a:extLst>
          </p:cNvPr>
          <p:cNvSpPr>
            <a:spLocks noGrp="1"/>
          </p:cNvSpPr>
          <p:nvPr>
            <p:ph type="sldNum" sz="quarter" idx="12"/>
          </p:nvPr>
        </p:nvSpPr>
        <p:spPr/>
        <p:txBody>
          <a:bodyPr/>
          <a:lstStyle/>
          <a:p>
            <a:fld id="{76D830B0-DF59-4281-898F-AF208100B213}" type="slidenum">
              <a:rPr lang="en-US" altLang="zh-CN" smtClean="0"/>
              <a:pPr/>
              <a:t>89</a:t>
            </a:fld>
            <a:endParaRPr lang="en-US" altLang="zh-CN"/>
          </a:p>
        </p:txBody>
      </p:sp>
    </p:spTree>
    <p:extLst>
      <p:ext uri="{BB962C8B-B14F-4D97-AF65-F5344CB8AC3E}">
        <p14:creationId xmlns:p14="http://schemas.microsoft.com/office/powerpoint/2010/main" val="10769960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文本框 55">
            <a:extLst>
              <a:ext uri="{FF2B5EF4-FFF2-40B4-BE49-F238E27FC236}">
                <a16:creationId xmlns:a16="http://schemas.microsoft.com/office/drawing/2014/main" id="{E7543A88-8B24-6367-EDF7-799332BD5610}"/>
              </a:ext>
            </a:extLst>
          </p:cNvPr>
          <p:cNvSpPr txBox="1"/>
          <p:nvPr/>
        </p:nvSpPr>
        <p:spPr>
          <a:xfrm>
            <a:off x="395536" y="1052736"/>
            <a:ext cx="8270532" cy="769441"/>
          </a:xfrm>
          <a:prstGeom prst="rect">
            <a:avLst/>
          </a:prstGeom>
          <a:noFill/>
        </p:spPr>
        <p:txBody>
          <a:bodyPr wrap="square">
            <a:spAutoFit/>
          </a:bodyPr>
          <a:lstStyle/>
          <a:p>
            <a:pPr algn="just"/>
            <a:r>
              <a:rPr lang="zh-CN" altLang="zh-CN" sz="20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计算举例：</a:t>
            </a: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已知三相异步</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50Hz</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绕线式异步电动机，</a:t>
            </a:r>
            <a:endParaRPr kumimoji="0" lang="zh-CN" altLang="en-US" sz="2000" b="0" i="0" u="none" strike="noStrike" cap="none" normalizeH="0" baseline="0" dirty="0">
              <a:ln>
                <a:noFill/>
              </a:ln>
              <a:solidFill>
                <a:schemeClr val="tx1"/>
              </a:solidFill>
              <a:effectLst/>
            </a:endParaRPr>
          </a:p>
          <a:p>
            <a:pPr algn="just"/>
            <a:endParaRPr lang="zh-CN" altLang="zh-CN" sz="24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58" name="对象 57">
            <a:extLst>
              <a:ext uri="{FF2B5EF4-FFF2-40B4-BE49-F238E27FC236}">
                <a16:creationId xmlns:a16="http://schemas.microsoft.com/office/drawing/2014/main" id="{E8B9DE56-A0EA-DF29-0ED3-C261FEA6FAF4}"/>
              </a:ext>
            </a:extLst>
          </p:cNvPr>
          <p:cNvGraphicFramePr>
            <a:graphicFrameLocks noChangeAspect="1"/>
          </p:cNvGraphicFramePr>
          <p:nvPr/>
        </p:nvGraphicFramePr>
        <p:xfrm>
          <a:off x="6444208" y="1502469"/>
          <a:ext cx="1089313" cy="426436"/>
        </p:xfrm>
        <a:graphic>
          <a:graphicData uri="http://schemas.openxmlformats.org/presentationml/2006/ole">
            <mc:AlternateContent xmlns:mc="http://schemas.openxmlformats.org/markup-compatibility/2006">
              <mc:Choice xmlns:v="urn:schemas-microsoft-com:vml" Requires="v">
                <p:oleObj name="Equation" r:id="rId3" imgW="596880" imgH="228600" progId="Equation.DSMT4">
                  <p:embed/>
                </p:oleObj>
              </mc:Choice>
              <mc:Fallback>
                <p:oleObj name="Equation" r:id="rId3" imgW="596880" imgH="228600" progId="Equation.DSMT4">
                  <p:embed/>
                  <p:pic>
                    <p:nvPicPr>
                      <p:cNvPr id="58" name="对象 57">
                        <a:extLst>
                          <a:ext uri="{FF2B5EF4-FFF2-40B4-BE49-F238E27FC236}">
                            <a16:creationId xmlns:a16="http://schemas.microsoft.com/office/drawing/2014/main" id="{E8B9DE56-A0EA-DF29-0ED3-C261FEA6FAF4}"/>
                          </a:ext>
                        </a:extLst>
                      </p:cNvPr>
                      <p:cNvPicPr>
                        <a:picLocks noChangeAspect="1" noChangeArrowheads="1"/>
                      </p:cNvPicPr>
                      <p:nvPr/>
                    </p:nvPicPr>
                    <p:blipFill>
                      <a:blip r:embed="rId4"/>
                      <a:srcRect/>
                      <a:stretch>
                        <a:fillRect/>
                      </a:stretch>
                    </p:blipFill>
                    <p:spPr bwMode="auto">
                      <a:xfrm>
                        <a:off x="6444208" y="1502469"/>
                        <a:ext cx="1089313" cy="426436"/>
                      </a:xfrm>
                      <a:prstGeom prst="rect">
                        <a:avLst/>
                      </a:prstGeom>
                      <a:noFill/>
                    </p:spPr>
                  </p:pic>
                </p:oleObj>
              </mc:Fallback>
            </mc:AlternateContent>
          </a:graphicData>
        </a:graphic>
      </p:graphicFrame>
      <p:sp>
        <p:nvSpPr>
          <p:cNvPr id="59" name="Rectangle 33">
            <a:extLst>
              <a:ext uri="{FF2B5EF4-FFF2-40B4-BE49-F238E27FC236}">
                <a16:creationId xmlns:a16="http://schemas.microsoft.com/office/drawing/2014/main" id="{6E3A2057-70E4-7DE7-BC00-76E5C5542E0F}"/>
              </a:ext>
            </a:extLst>
          </p:cNvPr>
          <p:cNvSpPr>
            <a:spLocks noChangeArrowheads="1"/>
          </p:cNvSpPr>
          <p:nvPr/>
        </p:nvSpPr>
        <p:spPr bwMode="auto">
          <a:xfrm>
            <a:off x="2276936" y="1486309"/>
            <a:ext cx="66299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，在额定转速运行时，机械摩擦损耗</a:t>
            </a:r>
            <a:r>
              <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忽略附加</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0" name="Rectangle 34">
            <a:extLst>
              <a:ext uri="{FF2B5EF4-FFF2-40B4-BE49-F238E27FC236}">
                <a16:creationId xmlns:a16="http://schemas.microsoft.com/office/drawing/2014/main" id="{8E2627C1-71B1-47B8-4DA4-EC80D8154141}"/>
              </a:ext>
            </a:extLst>
          </p:cNvPr>
          <p:cNvSpPr>
            <a:spLocks noChangeArrowheads="1"/>
          </p:cNvSpPr>
          <p:nvPr/>
        </p:nvSpPr>
        <p:spPr bwMode="auto">
          <a:xfrm>
            <a:off x="454209" y="1874750"/>
            <a:ext cx="8399143" cy="794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tab pos="457200" algn="l"/>
              </a:tabLst>
            </a:pP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损耗。求额定运行时：</a:t>
            </a:r>
            <a:r>
              <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额定转差率</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2</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、电磁功率；</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3</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、转子铜耗；</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4</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、额定电磁转矩；</a:t>
            </a:r>
            <a:r>
              <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5</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、额定输出转矩；</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6</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、空载转矩。</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aphicFrame>
        <p:nvGraphicFramePr>
          <p:cNvPr id="4" name="对象 3">
            <a:extLst>
              <a:ext uri="{FF2B5EF4-FFF2-40B4-BE49-F238E27FC236}">
                <a16:creationId xmlns:a16="http://schemas.microsoft.com/office/drawing/2014/main" id="{165DCF5F-7CB9-E72C-31A6-3823350CF200}"/>
              </a:ext>
            </a:extLst>
          </p:cNvPr>
          <p:cNvGraphicFramePr>
            <a:graphicFrameLocks noChangeAspect="1"/>
          </p:cNvGraphicFramePr>
          <p:nvPr/>
        </p:nvGraphicFramePr>
        <p:xfrm>
          <a:off x="6013897" y="1071972"/>
          <a:ext cx="2986087" cy="414337"/>
        </p:xfrm>
        <a:graphic>
          <a:graphicData uri="http://schemas.openxmlformats.org/presentationml/2006/ole">
            <mc:AlternateContent xmlns:mc="http://schemas.openxmlformats.org/markup-compatibility/2006">
              <mc:Choice xmlns:v="urn:schemas-microsoft-com:vml" Requires="v">
                <p:oleObj name="Equation" r:id="rId5" imgW="1434960" imgH="203040" progId="Equation.DSMT4">
                  <p:embed/>
                </p:oleObj>
              </mc:Choice>
              <mc:Fallback>
                <p:oleObj name="Equation" r:id="rId5" imgW="1434960" imgH="203040" progId="Equation.DSMT4">
                  <p:embed/>
                  <p:pic>
                    <p:nvPicPr>
                      <p:cNvPr id="4" name="对象 3">
                        <a:extLst>
                          <a:ext uri="{FF2B5EF4-FFF2-40B4-BE49-F238E27FC236}">
                            <a16:creationId xmlns:a16="http://schemas.microsoft.com/office/drawing/2014/main" id="{165DCF5F-7CB9-E72C-31A6-3823350CF200}"/>
                          </a:ext>
                        </a:extLst>
                      </p:cNvPr>
                      <p:cNvPicPr>
                        <a:picLocks noChangeAspect="1" noChangeArrowheads="1"/>
                      </p:cNvPicPr>
                      <p:nvPr/>
                    </p:nvPicPr>
                    <p:blipFill>
                      <a:blip r:embed="rId6"/>
                      <a:srcRect/>
                      <a:stretch>
                        <a:fillRect/>
                      </a:stretch>
                    </p:blipFill>
                    <p:spPr bwMode="auto">
                      <a:xfrm>
                        <a:off x="6013897" y="1071972"/>
                        <a:ext cx="2986087" cy="414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a:extLst>
              <a:ext uri="{FF2B5EF4-FFF2-40B4-BE49-F238E27FC236}">
                <a16:creationId xmlns:a16="http://schemas.microsoft.com/office/drawing/2014/main" id="{70B53B46-2E6E-EB86-112A-22047810C5A9}"/>
              </a:ext>
            </a:extLst>
          </p:cNvPr>
          <p:cNvGraphicFramePr>
            <a:graphicFrameLocks noChangeAspect="1"/>
          </p:cNvGraphicFramePr>
          <p:nvPr/>
        </p:nvGraphicFramePr>
        <p:xfrm>
          <a:off x="477932" y="1502469"/>
          <a:ext cx="1928813" cy="415925"/>
        </p:xfrm>
        <a:graphic>
          <a:graphicData uri="http://schemas.openxmlformats.org/presentationml/2006/ole">
            <mc:AlternateContent xmlns:mc="http://schemas.openxmlformats.org/markup-compatibility/2006">
              <mc:Choice xmlns:v="urn:schemas-microsoft-com:vml" Requires="v">
                <p:oleObj name="Equation" r:id="rId7" imgW="927000" imgH="203040" progId="Equation.DSMT4">
                  <p:embed/>
                </p:oleObj>
              </mc:Choice>
              <mc:Fallback>
                <p:oleObj name="Equation" r:id="rId7" imgW="927000" imgH="203040" progId="Equation.DSMT4">
                  <p:embed/>
                  <p:pic>
                    <p:nvPicPr>
                      <p:cNvPr id="6" name="对象 5">
                        <a:extLst>
                          <a:ext uri="{FF2B5EF4-FFF2-40B4-BE49-F238E27FC236}">
                            <a16:creationId xmlns:a16="http://schemas.microsoft.com/office/drawing/2014/main" id="{70B53B46-2E6E-EB86-112A-22047810C5A9}"/>
                          </a:ext>
                        </a:extLst>
                      </p:cNvPr>
                      <p:cNvPicPr>
                        <a:picLocks noChangeAspect="1" noChangeArrowheads="1"/>
                      </p:cNvPicPr>
                      <p:nvPr/>
                    </p:nvPicPr>
                    <p:blipFill>
                      <a:blip r:embed="rId8"/>
                      <a:srcRect/>
                      <a:stretch>
                        <a:fillRect/>
                      </a:stretch>
                    </p:blipFill>
                    <p:spPr bwMode="auto">
                      <a:xfrm>
                        <a:off x="477932" y="1502469"/>
                        <a:ext cx="1928813" cy="41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a:extLst>
              <a:ext uri="{FF2B5EF4-FFF2-40B4-BE49-F238E27FC236}">
                <a16:creationId xmlns:a16="http://schemas.microsoft.com/office/drawing/2014/main" id="{E678650B-56E5-25F9-166B-8C3B90008E6D}"/>
              </a:ext>
            </a:extLst>
          </p:cNvPr>
          <p:cNvGraphicFramePr>
            <a:graphicFrameLocks noChangeAspect="1"/>
          </p:cNvGraphicFramePr>
          <p:nvPr/>
        </p:nvGraphicFramePr>
        <p:xfrm>
          <a:off x="2019015" y="2943384"/>
          <a:ext cx="4104456" cy="793635"/>
        </p:xfrm>
        <a:graphic>
          <a:graphicData uri="http://schemas.openxmlformats.org/presentationml/2006/ole">
            <mc:AlternateContent xmlns:mc="http://schemas.openxmlformats.org/markup-compatibility/2006">
              <mc:Choice xmlns:v="urn:schemas-microsoft-com:vml" Requires="v">
                <p:oleObj name="Equation" r:id="rId9" imgW="2184400" imgH="419100" progId="Equation.DSMT4">
                  <p:embed/>
                </p:oleObj>
              </mc:Choice>
              <mc:Fallback>
                <p:oleObj name="Equation" r:id="rId9" imgW="2184400" imgH="419100" progId="Equation.DSMT4">
                  <p:embed/>
                  <p:pic>
                    <p:nvPicPr>
                      <p:cNvPr id="8" name="对象 7">
                        <a:extLst>
                          <a:ext uri="{FF2B5EF4-FFF2-40B4-BE49-F238E27FC236}">
                            <a16:creationId xmlns:a16="http://schemas.microsoft.com/office/drawing/2014/main" id="{E678650B-56E5-25F9-166B-8C3B90008E6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19015" y="2943384"/>
                        <a:ext cx="4104456" cy="793635"/>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7E98E029-ABED-DDD2-6E7E-959B07BFAFB9}"/>
              </a:ext>
            </a:extLst>
          </p:cNvPr>
          <p:cNvGraphicFramePr>
            <a:graphicFrameLocks noChangeAspect="1"/>
          </p:cNvGraphicFramePr>
          <p:nvPr/>
        </p:nvGraphicFramePr>
        <p:xfrm>
          <a:off x="6372200" y="3447213"/>
          <a:ext cx="2090738" cy="452438"/>
        </p:xfrm>
        <a:graphic>
          <a:graphicData uri="http://schemas.openxmlformats.org/presentationml/2006/ole">
            <mc:AlternateContent xmlns:mc="http://schemas.openxmlformats.org/markup-compatibility/2006">
              <mc:Choice xmlns:v="urn:schemas-microsoft-com:vml" Requires="v">
                <p:oleObj name="Equation" r:id="rId11" imgW="1054100" imgH="228600" progId="Equation.DSMT4">
                  <p:embed/>
                </p:oleObj>
              </mc:Choice>
              <mc:Fallback>
                <p:oleObj name="Equation" r:id="rId11" imgW="1054100" imgH="228600" progId="Equation.DSMT4">
                  <p:embed/>
                  <p:pic>
                    <p:nvPicPr>
                      <p:cNvPr id="9" name="对象 8">
                        <a:extLst>
                          <a:ext uri="{FF2B5EF4-FFF2-40B4-BE49-F238E27FC236}">
                            <a16:creationId xmlns:a16="http://schemas.microsoft.com/office/drawing/2014/main" id="{7E98E029-ABED-DDD2-6E7E-959B07BFAFB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72200" y="3447213"/>
                        <a:ext cx="2090738" cy="45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a:extLst>
              <a:ext uri="{FF2B5EF4-FFF2-40B4-BE49-F238E27FC236}">
                <a16:creationId xmlns:a16="http://schemas.microsoft.com/office/drawing/2014/main" id="{91D640EC-03F2-00F4-E89C-4D47165AF23B}"/>
              </a:ext>
            </a:extLst>
          </p:cNvPr>
          <p:cNvGraphicFramePr>
            <a:graphicFrameLocks noChangeAspect="1"/>
          </p:cNvGraphicFramePr>
          <p:nvPr/>
        </p:nvGraphicFramePr>
        <p:xfrm>
          <a:off x="2059774" y="3748487"/>
          <a:ext cx="3995738" cy="833437"/>
        </p:xfrm>
        <a:graphic>
          <a:graphicData uri="http://schemas.openxmlformats.org/presentationml/2006/ole">
            <mc:AlternateContent xmlns:mc="http://schemas.openxmlformats.org/markup-compatibility/2006">
              <mc:Choice xmlns:v="urn:schemas-microsoft-com:vml" Requires="v">
                <p:oleObj name="Equation" r:id="rId13" imgW="2145369" imgH="444307" progId="Equation.DSMT4">
                  <p:embed/>
                </p:oleObj>
              </mc:Choice>
              <mc:Fallback>
                <p:oleObj name="Equation" r:id="rId13" imgW="2145369" imgH="444307" progId="Equation.DSMT4">
                  <p:embed/>
                  <p:pic>
                    <p:nvPicPr>
                      <p:cNvPr id="10" name="对象 9">
                        <a:extLst>
                          <a:ext uri="{FF2B5EF4-FFF2-40B4-BE49-F238E27FC236}">
                            <a16:creationId xmlns:a16="http://schemas.microsoft.com/office/drawing/2014/main" id="{91D640EC-03F2-00F4-E89C-4D47165AF23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59774" y="3748487"/>
                        <a:ext cx="3995738" cy="833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8">
            <a:extLst>
              <a:ext uri="{FF2B5EF4-FFF2-40B4-BE49-F238E27FC236}">
                <a16:creationId xmlns:a16="http://schemas.microsoft.com/office/drawing/2014/main" id="{E8FA2979-37A2-6890-09AE-3E641930C4DB}"/>
              </a:ext>
            </a:extLst>
          </p:cNvPr>
          <p:cNvSpPr>
            <a:spLocks noChangeArrowheads="1"/>
          </p:cNvSpPr>
          <p:nvPr/>
        </p:nvSpPr>
        <p:spPr bwMode="auto">
          <a:xfrm>
            <a:off x="477932" y="2721643"/>
            <a:ext cx="16049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解：</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1</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、根据</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sp>
        <p:nvSpPr>
          <p:cNvPr id="12" name="Rectangle 9">
            <a:extLst>
              <a:ext uri="{FF2B5EF4-FFF2-40B4-BE49-F238E27FC236}">
                <a16:creationId xmlns:a16="http://schemas.microsoft.com/office/drawing/2014/main" id="{9670ABBD-BF1C-3934-B9A4-DC6E75164FCE}"/>
              </a:ext>
            </a:extLst>
          </p:cNvPr>
          <p:cNvSpPr>
            <a:spLocks noChangeArrowheads="1"/>
          </p:cNvSpPr>
          <p:nvPr/>
        </p:nvSpPr>
        <p:spPr bwMode="auto">
          <a:xfrm>
            <a:off x="6029379" y="3047103"/>
            <a:ext cx="25306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2396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，可</a:t>
            </a:r>
            <a:r>
              <a:rPr kumimoji="0" lang="zh-CN" altLang="zh-CN"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推断</a:t>
            </a: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此电机</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p=3,</a:t>
            </a:r>
            <a:endParaRPr kumimoji="0" lang="en-US" altLang="zh-CN" sz="1600" b="0" i="0" u="none" strike="noStrike" cap="none" normalizeH="0" baseline="0" dirty="0">
              <a:ln>
                <a:noFill/>
              </a:ln>
              <a:solidFill>
                <a:schemeClr val="tx1"/>
              </a:solidFill>
              <a:effectLst/>
              <a:latin typeface="Arial" panose="020B0604020202020204" pitchFamily="34" charset="0"/>
            </a:endParaRPr>
          </a:p>
        </p:txBody>
      </p:sp>
      <p:sp>
        <p:nvSpPr>
          <p:cNvPr id="13" name="Rectangle 10">
            <a:extLst>
              <a:ext uri="{FF2B5EF4-FFF2-40B4-BE49-F238E27FC236}">
                <a16:creationId xmlns:a16="http://schemas.microsoft.com/office/drawing/2014/main" id="{A0A43862-0903-A067-2239-5BFE0A0AB4C6}"/>
              </a:ext>
            </a:extLst>
          </p:cNvPr>
          <p:cNvSpPr>
            <a:spLocks noChangeArrowheads="1"/>
          </p:cNvSpPr>
          <p:nvPr/>
        </p:nvSpPr>
        <p:spPr bwMode="auto">
          <a:xfrm>
            <a:off x="514680" y="4013879"/>
            <a:ext cx="185531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2396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额定转差率</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300" b="0" i="0" u="none" strike="noStrike" cap="none" normalizeH="0" baseline="0" dirty="0">
              <a:ln>
                <a:noFill/>
              </a:ln>
              <a:solidFill>
                <a:schemeClr val="tx1"/>
              </a:solidFill>
              <a:effectLst/>
            </a:endParaRPr>
          </a:p>
        </p:txBody>
      </p:sp>
      <p:graphicFrame>
        <p:nvGraphicFramePr>
          <p:cNvPr id="14" name="对象 13">
            <a:extLst>
              <a:ext uri="{FF2B5EF4-FFF2-40B4-BE49-F238E27FC236}">
                <a16:creationId xmlns:a16="http://schemas.microsoft.com/office/drawing/2014/main" id="{38397F5C-34D5-F085-9C90-179DD67A8FB4}"/>
              </a:ext>
            </a:extLst>
          </p:cNvPr>
          <p:cNvGraphicFramePr>
            <a:graphicFrameLocks noChangeAspect="1"/>
          </p:cNvGraphicFramePr>
          <p:nvPr/>
        </p:nvGraphicFramePr>
        <p:xfrm>
          <a:off x="3563888" y="4696663"/>
          <a:ext cx="403330" cy="387196"/>
        </p:xfrm>
        <a:graphic>
          <a:graphicData uri="http://schemas.openxmlformats.org/presentationml/2006/ole">
            <mc:AlternateContent xmlns:mc="http://schemas.openxmlformats.org/markup-compatibility/2006">
              <mc:Choice xmlns:v="urn:schemas-microsoft-com:vml" Requires="v">
                <p:oleObj name="Equation" r:id="rId15" imgW="241300" imgH="228600" progId="Equation.DSMT4">
                  <p:embed/>
                </p:oleObj>
              </mc:Choice>
              <mc:Fallback>
                <p:oleObj name="Equation" r:id="rId15" imgW="241300" imgH="228600" progId="Equation.DSMT4">
                  <p:embed/>
                  <p:pic>
                    <p:nvPicPr>
                      <p:cNvPr id="14" name="对象 13">
                        <a:extLst>
                          <a:ext uri="{FF2B5EF4-FFF2-40B4-BE49-F238E27FC236}">
                            <a16:creationId xmlns:a16="http://schemas.microsoft.com/office/drawing/2014/main" id="{38397F5C-34D5-F085-9C90-179DD67A8FB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63888" y="4696663"/>
                        <a:ext cx="403330" cy="387196"/>
                      </a:xfrm>
                      <a:prstGeom prst="rect">
                        <a:avLst/>
                      </a:prstGeom>
                      <a:noFill/>
                    </p:spPr>
                  </p:pic>
                </p:oleObj>
              </mc:Fallback>
            </mc:AlternateContent>
          </a:graphicData>
        </a:graphic>
      </p:graphicFrame>
      <p:graphicFrame>
        <p:nvGraphicFramePr>
          <p:cNvPr id="15" name="对象 14">
            <a:extLst>
              <a:ext uri="{FF2B5EF4-FFF2-40B4-BE49-F238E27FC236}">
                <a16:creationId xmlns:a16="http://schemas.microsoft.com/office/drawing/2014/main" id="{0025039D-F885-DE9A-147F-925FDC251D9C}"/>
              </a:ext>
            </a:extLst>
          </p:cNvPr>
          <p:cNvGraphicFramePr>
            <a:graphicFrameLocks noChangeAspect="1"/>
          </p:cNvGraphicFramePr>
          <p:nvPr/>
        </p:nvGraphicFramePr>
        <p:xfrm>
          <a:off x="1197752" y="5220750"/>
          <a:ext cx="4984750" cy="485775"/>
        </p:xfrm>
        <a:graphic>
          <a:graphicData uri="http://schemas.openxmlformats.org/presentationml/2006/ole">
            <mc:AlternateContent xmlns:mc="http://schemas.openxmlformats.org/markup-compatibility/2006">
              <mc:Choice xmlns:v="urn:schemas-microsoft-com:vml" Requires="v">
                <p:oleObj name="Equation" r:id="rId17" imgW="2336760" imgH="228600" progId="Equation.DSMT4">
                  <p:embed/>
                </p:oleObj>
              </mc:Choice>
              <mc:Fallback>
                <p:oleObj name="Equation" r:id="rId17" imgW="2336760" imgH="228600" progId="Equation.DSMT4">
                  <p:embed/>
                  <p:pic>
                    <p:nvPicPr>
                      <p:cNvPr id="15" name="对象 14">
                        <a:extLst>
                          <a:ext uri="{FF2B5EF4-FFF2-40B4-BE49-F238E27FC236}">
                            <a16:creationId xmlns:a16="http://schemas.microsoft.com/office/drawing/2014/main" id="{0025039D-F885-DE9A-147F-925FDC251D9C}"/>
                          </a:ext>
                        </a:extLst>
                      </p:cNvPr>
                      <p:cNvPicPr>
                        <a:picLocks noChangeAspect="1" noChangeArrowheads="1"/>
                      </p:cNvPicPr>
                      <p:nvPr/>
                    </p:nvPicPr>
                    <p:blipFill>
                      <a:blip r:embed="rId18"/>
                      <a:srcRect/>
                      <a:stretch>
                        <a:fillRect/>
                      </a:stretch>
                    </p:blipFill>
                    <p:spPr bwMode="auto">
                      <a:xfrm>
                        <a:off x="1197752" y="5220750"/>
                        <a:ext cx="4984750"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5">
            <a:extLst>
              <a:ext uri="{FF2B5EF4-FFF2-40B4-BE49-F238E27FC236}">
                <a16:creationId xmlns:a16="http://schemas.microsoft.com/office/drawing/2014/main" id="{275B0547-5C9B-FA84-4D4E-77C7953A704C}"/>
              </a:ext>
            </a:extLst>
          </p:cNvPr>
          <p:cNvSpPr>
            <a:spLocks noChangeArrowheads="1"/>
          </p:cNvSpPr>
          <p:nvPr/>
        </p:nvSpPr>
        <p:spPr bwMode="auto">
          <a:xfrm>
            <a:off x="536700" y="4658729"/>
            <a:ext cx="31534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2</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、额定运行时的电磁功率</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aphicFrame>
        <p:nvGraphicFramePr>
          <p:cNvPr id="24" name="对象 23">
            <a:extLst>
              <a:ext uri="{FF2B5EF4-FFF2-40B4-BE49-F238E27FC236}">
                <a16:creationId xmlns:a16="http://schemas.microsoft.com/office/drawing/2014/main" id="{0F648C1A-9F8E-6E44-31CF-4AFE4B007F57}"/>
              </a:ext>
            </a:extLst>
          </p:cNvPr>
          <p:cNvGraphicFramePr>
            <a:graphicFrameLocks noChangeAspect="1"/>
          </p:cNvGraphicFramePr>
          <p:nvPr/>
        </p:nvGraphicFramePr>
        <p:xfrm>
          <a:off x="1187624" y="5960701"/>
          <a:ext cx="2751137" cy="466725"/>
        </p:xfrm>
        <a:graphic>
          <a:graphicData uri="http://schemas.openxmlformats.org/presentationml/2006/ole">
            <mc:AlternateContent xmlns:mc="http://schemas.openxmlformats.org/markup-compatibility/2006">
              <mc:Choice xmlns:v="urn:schemas-microsoft-com:vml" Requires="v">
                <p:oleObj name="Equation" r:id="rId19" imgW="1346040" imgH="228600" progId="Equation.DSMT4">
                  <p:embed/>
                </p:oleObj>
              </mc:Choice>
              <mc:Fallback>
                <p:oleObj name="Equation" r:id="rId19" imgW="1346040" imgH="228600" progId="Equation.DSMT4">
                  <p:embed/>
                  <p:pic>
                    <p:nvPicPr>
                      <p:cNvPr id="24" name="对象 23">
                        <a:extLst>
                          <a:ext uri="{FF2B5EF4-FFF2-40B4-BE49-F238E27FC236}">
                            <a16:creationId xmlns:a16="http://schemas.microsoft.com/office/drawing/2014/main" id="{0F648C1A-9F8E-6E44-31CF-4AFE4B007F57}"/>
                          </a:ext>
                        </a:extLst>
                      </p:cNvPr>
                      <p:cNvPicPr>
                        <a:picLocks noChangeAspect="1" noChangeArrowheads="1"/>
                      </p:cNvPicPr>
                      <p:nvPr/>
                    </p:nvPicPr>
                    <p:blipFill>
                      <a:blip r:embed="rId20"/>
                      <a:srcRect/>
                      <a:stretch>
                        <a:fillRect/>
                      </a:stretch>
                    </p:blipFill>
                    <p:spPr bwMode="auto">
                      <a:xfrm>
                        <a:off x="1187624" y="5960701"/>
                        <a:ext cx="2751137"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对象 28">
            <a:extLst>
              <a:ext uri="{FF2B5EF4-FFF2-40B4-BE49-F238E27FC236}">
                <a16:creationId xmlns:a16="http://schemas.microsoft.com/office/drawing/2014/main" id="{95B631F0-DF51-DC79-3773-F018B366A503}"/>
              </a:ext>
            </a:extLst>
          </p:cNvPr>
          <p:cNvGraphicFramePr>
            <a:graphicFrameLocks noChangeAspect="1"/>
          </p:cNvGraphicFramePr>
          <p:nvPr/>
        </p:nvGraphicFramePr>
        <p:xfrm>
          <a:off x="4642597" y="5776570"/>
          <a:ext cx="4151312" cy="850900"/>
        </p:xfrm>
        <a:graphic>
          <a:graphicData uri="http://schemas.openxmlformats.org/presentationml/2006/ole">
            <mc:AlternateContent xmlns:mc="http://schemas.openxmlformats.org/markup-compatibility/2006">
              <mc:Choice xmlns:v="urn:schemas-microsoft-com:vml" Requires="v">
                <p:oleObj name="Equation" r:id="rId21" imgW="2031840" imgH="419040" progId="Equation.DSMT4">
                  <p:embed/>
                </p:oleObj>
              </mc:Choice>
              <mc:Fallback>
                <p:oleObj name="Equation" r:id="rId21" imgW="2031840" imgH="419040" progId="Equation.DSMT4">
                  <p:embed/>
                  <p:pic>
                    <p:nvPicPr>
                      <p:cNvPr id="29" name="对象 28">
                        <a:extLst>
                          <a:ext uri="{FF2B5EF4-FFF2-40B4-BE49-F238E27FC236}">
                            <a16:creationId xmlns:a16="http://schemas.microsoft.com/office/drawing/2014/main" id="{95B631F0-DF51-DC79-3773-F018B366A503}"/>
                          </a:ext>
                        </a:extLst>
                      </p:cNvPr>
                      <p:cNvPicPr>
                        <a:picLocks noChangeAspect="1" noChangeArrowheads="1"/>
                      </p:cNvPicPr>
                      <p:nvPr/>
                    </p:nvPicPr>
                    <p:blipFill>
                      <a:blip r:embed="rId22"/>
                      <a:srcRect/>
                      <a:stretch>
                        <a:fillRect/>
                      </a:stretch>
                    </p:blipFill>
                    <p:spPr bwMode="auto">
                      <a:xfrm>
                        <a:off x="4642597" y="5776570"/>
                        <a:ext cx="4151312"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箭头: 右 29">
            <a:extLst>
              <a:ext uri="{FF2B5EF4-FFF2-40B4-BE49-F238E27FC236}">
                <a16:creationId xmlns:a16="http://schemas.microsoft.com/office/drawing/2014/main" id="{7D6847AE-266B-7F48-8ECC-0458D578178D}"/>
              </a:ext>
            </a:extLst>
          </p:cNvPr>
          <p:cNvSpPr/>
          <p:nvPr/>
        </p:nvSpPr>
        <p:spPr>
          <a:xfrm>
            <a:off x="4100426" y="6093296"/>
            <a:ext cx="439795" cy="2174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a:extLst>
              <a:ext uri="{FF2B5EF4-FFF2-40B4-BE49-F238E27FC236}">
                <a16:creationId xmlns:a16="http://schemas.microsoft.com/office/drawing/2014/main" id="{776A046F-92E1-428D-4997-E148C5C86E2F}"/>
              </a:ext>
            </a:extLst>
          </p:cNvPr>
          <p:cNvSpPr>
            <a:spLocks noGrp="1"/>
          </p:cNvSpPr>
          <p:nvPr>
            <p:ph type="sldNum" sz="quarter" idx="12"/>
          </p:nvPr>
        </p:nvSpPr>
        <p:spPr/>
        <p:txBody>
          <a:bodyPr/>
          <a:lstStyle/>
          <a:p>
            <a:fld id="{76D830B0-DF59-4281-898F-AF208100B213}" type="slidenum">
              <a:rPr lang="en-US" altLang="zh-CN" smtClean="0"/>
              <a:pPr/>
              <a:t>90</a:t>
            </a:fld>
            <a:endParaRPr lang="en-US" altLang="zh-CN"/>
          </a:p>
        </p:txBody>
      </p:sp>
    </p:spTree>
    <p:extLst>
      <p:ext uri="{BB962C8B-B14F-4D97-AF65-F5344CB8AC3E}">
        <p14:creationId xmlns:p14="http://schemas.microsoft.com/office/powerpoint/2010/main" val="41268321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6">
            <a:extLst>
              <a:ext uri="{FF2B5EF4-FFF2-40B4-BE49-F238E27FC236}">
                <a16:creationId xmlns:a16="http://schemas.microsoft.com/office/drawing/2014/main" id="{FBB3B847-9991-40D6-779D-1BDA58D8DF19}"/>
              </a:ext>
            </a:extLst>
          </p:cNvPr>
          <p:cNvSpPr>
            <a:spLocks noChangeArrowheads="1"/>
          </p:cNvSpPr>
          <p:nvPr/>
        </p:nvSpPr>
        <p:spPr bwMode="auto">
          <a:xfrm>
            <a:off x="487933" y="1568370"/>
            <a:ext cx="3411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122396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3</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、额定运行时的转子铜耗：</a:t>
            </a:r>
            <a:endParaRPr kumimoji="0" lang="zh-CN" altLang="en-US" sz="2000" b="0" i="0" u="none" strike="noStrike" cap="none" normalizeH="0" baseline="0" dirty="0">
              <a:ln>
                <a:noFill/>
              </a:ln>
              <a:solidFill>
                <a:schemeClr val="tx1"/>
              </a:solidFill>
              <a:effectLst/>
            </a:endParaRPr>
          </a:p>
        </p:txBody>
      </p:sp>
      <p:graphicFrame>
        <p:nvGraphicFramePr>
          <p:cNvPr id="32" name="对象 31">
            <a:extLst>
              <a:ext uri="{FF2B5EF4-FFF2-40B4-BE49-F238E27FC236}">
                <a16:creationId xmlns:a16="http://schemas.microsoft.com/office/drawing/2014/main" id="{90A0DD57-1742-FA9B-8390-1C41AD85A307}"/>
              </a:ext>
            </a:extLst>
          </p:cNvPr>
          <p:cNvGraphicFramePr>
            <a:graphicFrameLocks noChangeAspect="1"/>
          </p:cNvGraphicFramePr>
          <p:nvPr>
            <p:extLst>
              <p:ext uri="{D42A27DB-BD31-4B8C-83A1-F6EECF244321}">
                <p14:modId xmlns:p14="http://schemas.microsoft.com/office/powerpoint/2010/main" val="2606267958"/>
              </p:ext>
            </p:extLst>
          </p:nvPr>
        </p:nvGraphicFramePr>
        <p:xfrm>
          <a:off x="3711625" y="1612334"/>
          <a:ext cx="4098180" cy="408862"/>
        </p:xfrm>
        <a:graphic>
          <a:graphicData uri="http://schemas.openxmlformats.org/presentationml/2006/ole">
            <mc:AlternateContent xmlns:mc="http://schemas.openxmlformats.org/markup-compatibility/2006">
              <mc:Choice xmlns:v="urn:schemas-microsoft-com:vml" Requires="v">
                <p:oleObj name="Equation" r:id="rId3" imgW="1981080" imgH="203040" progId="Equation.DSMT4">
                  <p:embed/>
                </p:oleObj>
              </mc:Choice>
              <mc:Fallback>
                <p:oleObj name="Equation" r:id="rId3" imgW="1981080" imgH="203040" progId="Equation.DSMT4">
                  <p:embed/>
                  <p:pic>
                    <p:nvPicPr>
                      <p:cNvPr id="0" name="Object 25"/>
                      <p:cNvPicPr>
                        <a:picLocks noChangeAspect="1" noChangeArrowheads="1"/>
                      </p:cNvPicPr>
                      <p:nvPr/>
                    </p:nvPicPr>
                    <p:blipFill>
                      <a:blip r:embed="rId4"/>
                      <a:srcRect/>
                      <a:stretch>
                        <a:fillRect/>
                      </a:stretch>
                    </p:blipFill>
                    <p:spPr bwMode="auto">
                      <a:xfrm>
                        <a:off x="3711625" y="1612334"/>
                        <a:ext cx="4098180" cy="408862"/>
                      </a:xfrm>
                      <a:prstGeom prst="rect">
                        <a:avLst/>
                      </a:prstGeom>
                      <a:noFill/>
                    </p:spPr>
                  </p:pic>
                </p:oleObj>
              </mc:Fallback>
            </mc:AlternateContent>
          </a:graphicData>
        </a:graphic>
      </p:graphicFrame>
      <p:sp>
        <p:nvSpPr>
          <p:cNvPr id="34" name="Rectangle 28">
            <a:extLst>
              <a:ext uri="{FF2B5EF4-FFF2-40B4-BE49-F238E27FC236}">
                <a16:creationId xmlns:a16="http://schemas.microsoft.com/office/drawing/2014/main" id="{A416E6E1-1212-62D2-9128-8E28819CF97A}"/>
              </a:ext>
            </a:extLst>
          </p:cNvPr>
          <p:cNvSpPr>
            <a:spLocks noChangeArrowheads="1"/>
          </p:cNvSpPr>
          <p:nvPr/>
        </p:nvSpPr>
        <p:spPr bwMode="auto">
          <a:xfrm>
            <a:off x="511644" y="2476691"/>
            <a:ext cx="25090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4</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、额定电磁转矩：</a:t>
            </a:r>
            <a:r>
              <a:rPr kumimoji="0" lang="zh-CN" altLang="en-US"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aphicFrame>
        <p:nvGraphicFramePr>
          <p:cNvPr id="35" name="对象 34">
            <a:extLst>
              <a:ext uri="{FF2B5EF4-FFF2-40B4-BE49-F238E27FC236}">
                <a16:creationId xmlns:a16="http://schemas.microsoft.com/office/drawing/2014/main" id="{1DD2CCA9-C8EE-0213-3CFA-D250A719D6C3}"/>
              </a:ext>
            </a:extLst>
          </p:cNvPr>
          <p:cNvGraphicFramePr>
            <a:graphicFrameLocks noChangeAspect="1"/>
          </p:cNvGraphicFramePr>
          <p:nvPr>
            <p:extLst>
              <p:ext uri="{D42A27DB-BD31-4B8C-83A1-F6EECF244321}">
                <p14:modId xmlns:p14="http://schemas.microsoft.com/office/powerpoint/2010/main" val="893221180"/>
              </p:ext>
            </p:extLst>
          </p:nvPr>
        </p:nvGraphicFramePr>
        <p:xfrm>
          <a:off x="2720156" y="2290657"/>
          <a:ext cx="5956300" cy="1077913"/>
        </p:xfrm>
        <a:graphic>
          <a:graphicData uri="http://schemas.openxmlformats.org/presentationml/2006/ole">
            <mc:AlternateContent xmlns:mc="http://schemas.openxmlformats.org/markup-compatibility/2006">
              <mc:Choice xmlns:v="urn:schemas-microsoft-com:vml" Requires="v">
                <p:oleObj name="Equation" r:id="rId5" imgW="3009600" imgH="545760" progId="Equation.DSMT4">
                  <p:embed/>
                </p:oleObj>
              </mc:Choice>
              <mc:Fallback>
                <p:oleObj name="Equation" r:id="rId5" imgW="3009600" imgH="545760" progId="Equation.DSMT4">
                  <p:embed/>
                  <p:pic>
                    <p:nvPicPr>
                      <p:cNvPr id="0" name="Object 27"/>
                      <p:cNvPicPr>
                        <a:picLocks noChangeAspect="1" noChangeArrowheads="1"/>
                      </p:cNvPicPr>
                      <p:nvPr/>
                    </p:nvPicPr>
                    <p:blipFill>
                      <a:blip r:embed="rId6"/>
                      <a:srcRect/>
                      <a:stretch>
                        <a:fillRect/>
                      </a:stretch>
                    </p:blipFill>
                    <p:spPr bwMode="auto">
                      <a:xfrm>
                        <a:off x="2720156" y="2290657"/>
                        <a:ext cx="5956300" cy="1077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ectangle 30">
            <a:extLst>
              <a:ext uri="{FF2B5EF4-FFF2-40B4-BE49-F238E27FC236}">
                <a16:creationId xmlns:a16="http://schemas.microsoft.com/office/drawing/2014/main" id="{9E195FB0-00BF-3FB4-F37E-DB7044BAF75C}"/>
              </a:ext>
            </a:extLst>
          </p:cNvPr>
          <p:cNvSpPr>
            <a:spLocks noChangeArrowheads="1"/>
          </p:cNvSpPr>
          <p:nvPr/>
        </p:nvSpPr>
        <p:spPr bwMode="auto">
          <a:xfrm>
            <a:off x="514082" y="3616532"/>
            <a:ext cx="23791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3810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5</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、额定输出转矩：</a:t>
            </a:r>
          </a:p>
        </p:txBody>
      </p:sp>
      <p:graphicFrame>
        <p:nvGraphicFramePr>
          <p:cNvPr id="38" name="对象 37">
            <a:extLst>
              <a:ext uri="{FF2B5EF4-FFF2-40B4-BE49-F238E27FC236}">
                <a16:creationId xmlns:a16="http://schemas.microsoft.com/office/drawing/2014/main" id="{D10C0FA3-E46C-90EB-69E3-7F0DAC5A8E0E}"/>
              </a:ext>
            </a:extLst>
          </p:cNvPr>
          <p:cNvGraphicFramePr>
            <a:graphicFrameLocks noChangeAspect="1"/>
          </p:cNvGraphicFramePr>
          <p:nvPr>
            <p:extLst>
              <p:ext uri="{D42A27DB-BD31-4B8C-83A1-F6EECF244321}">
                <p14:modId xmlns:p14="http://schemas.microsoft.com/office/powerpoint/2010/main" val="205792248"/>
              </p:ext>
            </p:extLst>
          </p:nvPr>
        </p:nvGraphicFramePr>
        <p:xfrm>
          <a:off x="2635175" y="3515686"/>
          <a:ext cx="4527550" cy="788988"/>
        </p:xfrm>
        <a:graphic>
          <a:graphicData uri="http://schemas.openxmlformats.org/presentationml/2006/ole">
            <mc:AlternateContent xmlns:mc="http://schemas.openxmlformats.org/markup-compatibility/2006">
              <mc:Choice xmlns:v="urn:schemas-microsoft-com:vml" Requires="v">
                <p:oleObj name="Equation" r:id="rId7" imgW="2323800" imgH="406080" progId="Equation.DSMT4">
                  <p:embed/>
                </p:oleObj>
              </mc:Choice>
              <mc:Fallback>
                <p:oleObj name="Equation" r:id="rId7" imgW="2323800" imgH="406080" progId="Equation.DSMT4">
                  <p:embed/>
                  <p:pic>
                    <p:nvPicPr>
                      <p:cNvPr id="0" name="Object 29"/>
                      <p:cNvPicPr>
                        <a:picLocks noChangeAspect="1" noChangeArrowheads="1"/>
                      </p:cNvPicPr>
                      <p:nvPr/>
                    </p:nvPicPr>
                    <p:blipFill>
                      <a:blip r:embed="rId8"/>
                      <a:srcRect/>
                      <a:stretch>
                        <a:fillRect/>
                      </a:stretch>
                    </p:blipFill>
                    <p:spPr bwMode="auto">
                      <a:xfrm>
                        <a:off x="2635175" y="3515686"/>
                        <a:ext cx="4527550" cy="788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 name="Rectangle 36">
            <a:extLst>
              <a:ext uri="{FF2B5EF4-FFF2-40B4-BE49-F238E27FC236}">
                <a16:creationId xmlns:a16="http://schemas.microsoft.com/office/drawing/2014/main" id="{28C66B05-6BDE-A462-F5D5-1DB84AE889D9}"/>
              </a:ext>
            </a:extLst>
          </p:cNvPr>
          <p:cNvSpPr>
            <a:spLocks noChangeArrowheads="1"/>
          </p:cNvSpPr>
          <p:nvPr/>
        </p:nvSpPr>
        <p:spPr bwMode="auto">
          <a:xfrm>
            <a:off x="489624" y="4696652"/>
            <a:ext cx="3411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6</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、额定运行时的空载转矩：</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aphicFrame>
        <p:nvGraphicFramePr>
          <p:cNvPr id="48" name="对象 47">
            <a:extLst>
              <a:ext uri="{FF2B5EF4-FFF2-40B4-BE49-F238E27FC236}">
                <a16:creationId xmlns:a16="http://schemas.microsoft.com/office/drawing/2014/main" id="{740EE5C3-E2E1-24AE-37BB-213A9B5C359B}"/>
              </a:ext>
            </a:extLst>
          </p:cNvPr>
          <p:cNvGraphicFramePr>
            <a:graphicFrameLocks noChangeAspect="1"/>
          </p:cNvGraphicFramePr>
          <p:nvPr>
            <p:extLst>
              <p:ext uri="{D42A27DB-BD31-4B8C-83A1-F6EECF244321}">
                <p14:modId xmlns:p14="http://schemas.microsoft.com/office/powerpoint/2010/main" val="1125721561"/>
              </p:ext>
            </p:extLst>
          </p:nvPr>
        </p:nvGraphicFramePr>
        <p:xfrm>
          <a:off x="3708141" y="4687201"/>
          <a:ext cx="4412040" cy="409561"/>
        </p:xfrm>
        <a:graphic>
          <a:graphicData uri="http://schemas.openxmlformats.org/presentationml/2006/ole">
            <mc:AlternateContent xmlns:mc="http://schemas.openxmlformats.org/markup-compatibility/2006">
              <mc:Choice xmlns:v="urn:schemas-microsoft-com:vml" Requires="v">
                <p:oleObj name="Equation" r:id="rId9" imgW="2158920" imgH="203040" progId="Equation.DSMT4">
                  <p:embed/>
                </p:oleObj>
              </mc:Choice>
              <mc:Fallback>
                <p:oleObj name="Equation" r:id="rId9" imgW="2158920" imgH="203040" progId="Equation.DSMT4">
                  <p:embed/>
                  <p:pic>
                    <p:nvPicPr>
                      <p:cNvPr id="0" name="Object 35"/>
                      <p:cNvPicPr>
                        <a:picLocks noChangeAspect="1" noChangeArrowheads="1"/>
                      </p:cNvPicPr>
                      <p:nvPr/>
                    </p:nvPicPr>
                    <p:blipFill>
                      <a:blip r:embed="rId10"/>
                      <a:srcRect/>
                      <a:stretch>
                        <a:fillRect/>
                      </a:stretch>
                    </p:blipFill>
                    <p:spPr bwMode="auto">
                      <a:xfrm>
                        <a:off x="3708141" y="4687201"/>
                        <a:ext cx="4412040" cy="409561"/>
                      </a:xfrm>
                      <a:prstGeom prst="rect">
                        <a:avLst/>
                      </a:prstGeom>
                      <a:noFill/>
                    </p:spPr>
                  </p:pic>
                </p:oleObj>
              </mc:Fallback>
            </mc:AlternateContent>
          </a:graphicData>
        </a:graphic>
      </p:graphicFrame>
      <p:graphicFrame>
        <p:nvGraphicFramePr>
          <p:cNvPr id="50" name="对象 49">
            <a:extLst>
              <a:ext uri="{FF2B5EF4-FFF2-40B4-BE49-F238E27FC236}">
                <a16:creationId xmlns:a16="http://schemas.microsoft.com/office/drawing/2014/main" id="{BC77C1D5-F7EC-9696-B7AF-50F8D0704743}"/>
              </a:ext>
            </a:extLst>
          </p:cNvPr>
          <p:cNvGraphicFramePr>
            <a:graphicFrameLocks noChangeAspect="1"/>
          </p:cNvGraphicFramePr>
          <p:nvPr>
            <p:extLst>
              <p:ext uri="{D42A27DB-BD31-4B8C-83A1-F6EECF244321}">
                <p14:modId xmlns:p14="http://schemas.microsoft.com/office/powerpoint/2010/main" val="1246413615"/>
              </p:ext>
            </p:extLst>
          </p:nvPr>
        </p:nvGraphicFramePr>
        <p:xfrm>
          <a:off x="3731989" y="5229200"/>
          <a:ext cx="4376467" cy="792088"/>
        </p:xfrm>
        <a:graphic>
          <a:graphicData uri="http://schemas.openxmlformats.org/presentationml/2006/ole">
            <mc:AlternateContent xmlns:mc="http://schemas.openxmlformats.org/markup-compatibility/2006">
              <mc:Choice xmlns:v="urn:schemas-microsoft-com:vml" Requires="v">
                <p:oleObj name="Equation" r:id="rId11" imgW="2323800" imgH="419040" progId="Equation.DSMT4">
                  <p:embed/>
                </p:oleObj>
              </mc:Choice>
              <mc:Fallback>
                <p:oleObj name="Equation" r:id="rId11" imgW="2323800" imgH="419040" progId="Equation.DSMT4">
                  <p:embed/>
                  <p:pic>
                    <p:nvPicPr>
                      <p:cNvPr id="0" name="Object 37"/>
                      <p:cNvPicPr>
                        <a:picLocks noChangeAspect="1" noChangeArrowheads="1"/>
                      </p:cNvPicPr>
                      <p:nvPr/>
                    </p:nvPicPr>
                    <p:blipFill>
                      <a:blip r:embed="rId12"/>
                      <a:srcRect/>
                      <a:stretch>
                        <a:fillRect/>
                      </a:stretch>
                    </p:blipFill>
                    <p:spPr bwMode="auto">
                      <a:xfrm>
                        <a:off x="3731989" y="5229200"/>
                        <a:ext cx="4376467" cy="792088"/>
                      </a:xfrm>
                      <a:prstGeom prst="rect">
                        <a:avLst/>
                      </a:prstGeom>
                      <a:noFill/>
                    </p:spPr>
                  </p:pic>
                </p:oleObj>
              </mc:Fallback>
            </mc:AlternateContent>
          </a:graphicData>
        </a:graphic>
      </p:graphicFrame>
      <p:sp>
        <p:nvSpPr>
          <p:cNvPr id="51" name="Rectangle 36">
            <a:extLst>
              <a:ext uri="{FF2B5EF4-FFF2-40B4-BE49-F238E27FC236}">
                <a16:creationId xmlns:a16="http://schemas.microsoft.com/office/drawing/2014/main" id="{96286F3A-FB73-E9FF-AF16-70CA56DE0823}"/>
              </a:ext>
            </a:extLst>
          </p:cNvPr>
          <p:cNvSpPr>
            <a:spLocks noChangeArrowheads="1"/>
          </p:cNvSpPr>
          <p:nvPr/>
        </p:nvSpPr>
        <p:spPr bwMode="auto">
          <a:xfrm>
            <a:off x="3384105" y="5406435"/>
            <a:ext cx="6480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lang="zh-CN" altLang="en-US" sz="2000" b="1" dirty="0">
                <a:solidFill>
                  <a:srgbClr val="000000"/>
                </a:solidFill>
                <a:latin typeface="宋体" panose="02010600030101010101" pitchFamily="2" charset="-122"/>
                <a:ea typeface="黑体" panose="02010609060101010101" pitchFamily="49" charset="-122"/>
                <a:cs typeface="Times New Roman" panose="02020603050405020304" pitchFamily="18" charset="0"/>
              </a:rPr>
              <a:t>或</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sp>
        <p:nvSpPr>
          <p:cNvPr id="3" name="灯片编号占位符 2">
            <a:extLst>
              <a:ext uri="{FF2B5EF4-FFF2-40B4-BE49-F238E27FC236}">
                <a16:creationId xmlns:a16="http://schemas.microsoft.com/office/drawing/2014/main" id="{5723078F-874B-E8F6-4F4E-0D435E6B8328}"/>
              </a:ext>
            </a:extLst>
          </p:cNvPr>
          <p:cNvSpPr>
            <a:spLocks noGrp="1"/>
          </p:cNvSpPr>
          <p:nvPr>
            <p:ph type="sldNum" sz="quarter" idx="12"/>
          </p:nvPr>
        </p:nvSpPr>
        <p:spPr/>
        <p:txBody>
          <a:bodyPr/>
          <a:lstStyle/>
          <a:p>
            <a:fld id="{76D830B0-DF59-4281-898F-AF208100B213}" type="slidenum">
              <a:rPr lang="en-US" altLang="zh-CN" smtClean="0"/>
              <a:pPr/>
              <a:t>91</a:t>
            </a:fld>
            <a:endParaRPr lang="en-US" altLang="zh-CN"/>
          </a:p>
        </p:txBody>
      </p:sp>
    </p:spTree>
    <p:extLst>
      <p:ext uri="{BB962C8B-B14F-4D97-AF65-F5344CB8AC3E}">
        <p14:creationId xmlns:p14="http://schemas.microsoft.com/office/powerpoint/2010/main" val="158706161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754543B-2633-4912-ADB0-89AB1A9C6570}"/>
              </a:ext>
            </a:extLst>
          </p:cNvPr>
          <p:cNvSpPr>
            <a:spLocks noChangeArrowheads="1"/>
          </p:cNvSpPr>
          <p:nvPr/>
        </p:nvSpPr>
        <p:spPr bwMode="auto">
          <a:xfrm>
            <a:off x="483676" y="1047733"/>
            <a:ext cx="47211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5-5 </a:t>
            </a:r>
            <a:r>
              <a:rPr kumimoji="0" lang="zh-CN" altLang="en-US" sz="2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异步电动机的机械特性</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4" name="对象 3">
            <a:extLst>
              <a:ext uri="{FF2B5EF4-FFF2-40B4-BE49-F238E27FC236}">
                <a16:creationId xmlns:a16="http://schemas.microsoft.com/office/drawing/2014/main" id="{5BCCB7FE-A554-43A4-74F1-78C3FDD9367A}"/>
              </a:ext>
            </a:extLst>
          </p:cNvPr>
          <p:cNvGraphicFramePr>
            <a:graphicFrameLocks noChangeAspect="1"/>
          </p:cNvGraphicFramePr>
          <p:nvPr>
            <p:extLst>
              <p:ext uri="{D42A27DB-BD31-4B8C-83A1-F6EECF244321}">
                <p14:modId xmlns:p14="http://schemas.microsoft.com/office/powerpoint/2010/main" val="2404444907"/>
              </p:ext>
            </p:extLst>
          </p:nvPr>
        </p:nvGraphicFramePr>
        <p:xfrm>
          <a:off x="1177973" y="1770260"/>
          <a:ext cx="6442027" cy="523219"/>
        </p:xfrm>
        <a:graphic>
          <a:graphicData uri="http://schemas.openxmlformats.org/presentationml/2006/ole">
            <mc:AlternateContent xmlns:mc="http://schemas.openxmlformats.org/markup-compatibility/2006">
              <mc:Choice xmlns:v="urn:schemas-microsoft-com:vml" Requires="v">
                <p:oleObj name="Equation" r:id="rId3" imgW="3035160" imgH="241200" progId="Equation.DSMT4">
                  <p:embed/>
                </p:oleObj>
              </mc:Choice>
              <mc:Fallback>
                <p:oleObj name="Equation" r:id="rId3" imgW="3035160" imgH="241200" progId="Equation.DSMT4">
                  <p:embed/>
                  <p:pic>
                    <p:nvPicPr>
                      <p:cNvPr id="0" name="Object 1"/>
                      <p:cNvPicPr>
                        <a:picLocks noChangeAspect="1" noChangeArrowheads="1"/>
                      </p:cNvPicPr>
                      <p:nvPr/>
                    </p:nvPicPr>
                    <p:blipFill>
                      <a:blip r:embed="rId4"/>
                      <a:srcRect/>
                      <a:stretch>
                        <a:fillRect/>
                      </a:stretch>
                    </p:blipFill>
                    <p:spPr bwMode="auto">
                      <a:xfrm>
                        <a:off x="1177973" y="1770260"/>
                        <a:ext cx="6442027" cy="523219"/>
                      </a:xfrm>
                      <a:prstGeom prst="rect">
                        <a:avLst/>
                      </a:prstGeom>
                      <a:noFill/>
                    </p:spPr>
                  </p:pic>
                </p:oleObj>
              </mc:Fallback>
            </mc:AlternateContent>
          </a:graphicData>
        </a:graphic>
      </p:graphicFrame>
      <p:sp>
        <p:nvSpPr>
          <p:cNvPr id="9" name="文本框 8">
            <a:extLst>
              <a:ext uri="{FF2B5EF4-FFF2-40B4-BE49-F238E27FC236}">
                <a16:creationId xmlns:a16="http://schemas.microsoft.com/office/drawing/2014/main" id="{7DF1FB61-D306-E3AB-73C3-56EC00F1D21F}"/>
              </a:ext>
            </a:extLst>
          </p:cNvPr>
          <p:cNvSpPr txBox="1"/>
          <p:nvPr/>
        </p:nvSpPr>
        <p:spPr>
          <a:xfrm>
            <a:off x="331453" y="2597256"/>
            <a:ext cx="1990311" cy="461665"/>
          </a:xfrm>
          <a:prstGeom prst="rect">
            <a:avLst/>
          </a:prstGeom>
          <a:noFill/>
        </p:spPr>
        <p:txBody>
          <a:bodyPr wrap="square">
            <a:spAutoFit/>
          </a:bodyPr>
          <a:lstStyle/>
          <a:p>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知识复习</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 name="对象 9">
            <a:extLst>
              <a:ext uri="{FF2B5EF4-FFF2-40B4-BE49-F238E27FC236}">
                <a16:creationId xmlns:a16="http://schemas.microsoft.com/office/drawing/2014/main" id="{D1CB4DB7-A647-720D-501E-7B23FC5242E4}"/>
              </a:ext>
            </a:extLst>
          </p:cNvPr>
          <p:cNvGraphicFramePr>
            <a:graphicFrameLocks noChangeAspect="1"/>
          </p:cNvGraphicFramePr>
          <p:nvPr>
            <p:extLst>
              <p:ext uri="{D42A27DB-BD31-4B8C-83A1-F6EECF244321}">
                <p14:modId xmlns:p14="http://schemas.microsoft.com/office/powerpoint/2010/main" val="2152719216"/>
              </p:ext>
            </p:extLst>
          </p:nvPr>
        </p:nvGraphicFramePr>
        <p:xfrm>
          <a:off x="321227" y="3131590"/>
          <a:ext cx="3012659" cy="2160240"/>
        </p:xfrm>
        <a:graphic>
          <a:graphicData uri="http://schemas.openxmlformats.org/presentationml/2006/ole">
            <mc:AlternateContent xmlns:mc="http://schemas.openxmlformats.org/markup-compatibility/2006">
              <mc:Choice xmlns:v="urn:schemas-microsoft-com:vml" Requires="v">
                <p:oleObj r:id="rId5" imgW="2457360" imgH="1766880" progId="">
                  <p:embed/>
                </p:oleObj>
              </mc:Choice>
              <mc:Fallback>
                <p:oleObj r:id="rId5" imgW="2457360" imgH="1766880" progId="">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227" y="3131590"/>
                        <a:ext cx="3012659" cy="2160240"/>
                      </a:xfrm>
                      <a:prstGeom prst="rect">
                        <a:avLst/>
                      </a:prstGeom>
                      <a:noFill/>
                      <a:ln>
                        <a:noFill/>
                      </a:ln>
                    </p:spPr>
                  </p:pic>
                </p:oleObj>
              </mc:Fallback>
            </mc:AlternateContent>
          </a:graphicData>
        </a:graphic>
      </p:graphicFrame>
      <p:sp>
        <p:nvSpPr>
          <p:cNvPr id="12" name="文本框 11">
            <a:extLst>
              <a:ext uri="{FF2B5EF4-FFF2-40B4-BE49-F238E27FC236}">
                <a16:creationId xmlns:a16="http://schemas.microsoft.com/office/drawing/2014/main" id="{3A1B77DD-D0A8-C1E2-7EB1-CB56B1EC4290}"/>
              </a:ext>
            </a:extLst>
          </p:cNvPr>
          <p:cNvSpPr txBox="1"/>
          <p:nvPr/>
        </p:nvSpPr>
        <p:spPr>
          <a:xfrm>
            <a:off x="3718248" y="2695854"/>
            <a:ext cx="3744416" cy="461665"/>
          </a:xfrm>
          <a:prstGeom prst="rect">
            <a:avLst/>
          </a:prstGeom>
          <a:noFill/>
        </p:spPr>
        <p:txBody>
          <a:bodyPr wrap="square">
            <a:spAutoFit/>
          </a:bodyPr>
          <a:lstStyle/>
          <a:p>
            <a:r>
              <a:rPr lang="zh-CN"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功率因数</a:t>
            </a:r>
            <a:r>
              <a:rPr lang="en-US"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[power factor]</a:t>
            </a:r>
            <a:r>
              <a:rPr lang="zh-CN"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endParaRPr lang="zh-CN" altLang="en-US" sz="2400" dirty="0"/>
          </a:p>
        </p:txBody>
      </p:sp>
      <p:graphicFrame>
        <p:nvGraphicFramePr>
          <p:cNvPr id="14" name="对象 13">
            <a:extLst>
              <a:ext uri="{FF2B5EF4-FFF2-40B4-BE49-F238E27FC236}">
                <a16:creationId xmlns:a16="http://schemas.microsoft.com/office/drawing/2014/main" id="{9A8E112E-D901-E1D4-CD63-A1BF73430A26}"/>
              </a:ext>
            </a:extLst>
          </p:cNvPr>
          <p:cNvGraphicFramePr>
            <a:graphicFrameLocks noChangeAspect="1"/>
          </p:cNvGraphicFramePr>
          <p:nvPr>
            <p:extLst>
              <p:ext uri="{D42A27DB-BD31-4B8C-83A1-F6EECF244321}">
                <p14:modId xmlns:p14="http://schemas.microsoft.com/office/powerpoint/2010/main" val="1741769657"/>
              </p:ext>
            </p:extLst>
          </p:nvPr>
        </p:nvGraphicFramePr>
        <p:xfrm>
          <a:off x="4222304" y="3249491"/>
          <a:ext cx="3767138" cy="709613"/>
        </p:xfrm>
        <a:graphic>
          <a:graphicData uri="http://schemas.openxmlformats.org/presentationml/2006/ole">
            <mc:AlternateContent xmlns:mc="http://schemas.openxmlformats.org/markup-compatibility/2006">
              <mc:Choice xmlns:v="urn:schemas-microsoft-com:vml" Requires="v">
                <p:oleObj name="Equation" r:id="rId7" imgW="2247900" imgH="419100" progId="Equation.DSMT4">
                  <p:embed/>
                </p:oleObj>
              </mc:Choice>
              <mc:Fallback>
                <p:oleObj name="Equation" r:id="rId7" imgW="2247900" imgH="4191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2304" y="3249491"/>
                        <a:ext cx="3767138" cy="709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7">
            <a:extLst>
              <a:ext uri="{FF2B5EF4-FFF2-40B4-BE49-F238E27FC236}">
                <a16:creationId xmlns:a16="http://schemas.microsoft.com/office/drawing/2014/main" id="{E37F8AA5-73BA-095C-7385-70622CD13AE8}"/>
              </a:ext>
            </a:extLst>
          </p:cNvPr>
          <p:cNvSpPr>
            <a:spLocks noChangeArrowheads="1"/>
          </p:cNvSpPr>
          <p:nvPr/>
        </p:nvSpPr>
        <p:spPr bwMode="auto">
          <a:xfrm>
            <a:off x="3718248" y="4064211"/>
            <a:ext cx="496855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Symbol" panose="05050102010706020507" pitchFamily="18" charset="2"/>
                <a:ea typeface="黑体" panose="02010609060101010101" pitchFamily="49" charset="-122"/>
                <a:cs typeface="Times New Roman" panose="02020603050405020304" pitchFamily="18" charset="0"/>
              </a:rPr>
              <a:t>其中</a:t>
            </a:r>
            <a:r>
              <a:rPr kumimoji="0" lang="en-US" altLang="zh-CN" sz="2400" b="1" i="0" u="none" strike="noStrike" cap="none" normalizeH="0" baseline="0" dirty="0">
                <a:ln>
                  <a:noFill/>
                </a:ln>
                <a:solidFill>
                  <a:srgbClr val="000000"/>
                </a:solidFill>
                <a:effectLst/>
                <a:latin typeface="Symbol" panose="05050102010706020507" pitchFamily="18" charset="2"/>
                <a:ea typeface="黑体" panose="02010609060101010101" pitchFamily="49" charset="-122"/>
                <a:cs typeface="Times New Roman" panose="02020603050405020304" pitchFamily="18" charset="0"/>
              </a:rPr>
              <a:t>f</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为电压与电流间的相角</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有功功率</a:t>
            </a:r>
            <a:r>
              <a:rPr kumimoji="0" lang="en-US" altLang="zh-CN" sz="24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P</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交流平均功率。</a:t>
            </a:r>
            <a:endParaRPr kumimoji="0" lang="zh-CN" altLang="en-US" sz="2400" b="0" i="0" u="none" strike="noStrike" cap="none" normalizeH="0" baseline="0" dirty="0">
              <a:ln>
                <a:noFill/>
              </a:ln>
              <a:solidFill>
                <a:schemeClr val="tx1"/>
              </a:solidFill>
              <a:effectLst/>
            </a:endParaRPr>
          </a:p>
        </p:txBody>
      </p:sp>
      <p:graphicFrame>
        <p:nvGraphicFramePr>
          <p:cNvPr id="16" name="对象 15">
            <a:extLst>
              <a:ext uri="{FF2B5EF4-FFF2-40B4-BE49-F238E27FC236}">
                <a16:creationId xmlns:a16="http://schemas.microsoft.com/office/drawing/2014/main" id="{2160CC51-F7CD-BCAB-0293-8B4EF9EF0E7F}"/>
              </a:ext>
            </a:extLst>
          </p:cNvPr>
          <p:cNvGraphicFramePr>
            <a:graphicFrameLocks noChangeAspect="1"/>
          </p:cNvGraphicFramePr>
          <p:nvPr>
            <p:extLst>
              <p:ext uri="{D42A27DB-BD31-4B8C-83A1-F6EECF244321}">
                <p14:modId xmlns:p14="http://schemas.microsoft.com/office/powerpoint/2010/main" val="3419096746"/>
              </p:ext>
            </p:extLst>
          </p:nvPr>
        </p:nvGraphicFramePr>
        <p:xfrm>
          <a:off x="4125646" y="5049939"/>
          <a:ext cx="1381125" cy="381000"/>
        </p:xfrm>
        <a:graphic>
          <a:graphicData uri="http://schemas.openxmlformats.org/presentationml/2006/ole">
            <mc:AlternateContent xmlns:mc="http://schemas.openxmlformats.org/markup-compatibility/2006">
              <mc:Choice xmlns:v="urn:schemas-microsoft-com:vml" Requires="v">
                <p:oleObj name="Equation" r:id="rId9" imgW="723586" imgH="203112" progId="Equation.DSMT4">
                  <p:embed/>
                </p:oleObj>
              </mc:Choice>
              <mc:Fallback>
                <p:oleObj name="Equation" r:id="rId9" imgW="723586" imgH="203112"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25646" y="5049939"/>
                        <a:ext cx="13811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文本框 17">
            <a:extLst>
              <a:ext uri="{FF2B5EF4-FFF2-40B4-BE49-F238E27FC236}">
                <a16:creationId xmlns:a16="http://schemas.microsoft.com/office/drawing/2014/main" id="{3336B14C-54B6-3488-A77E-934436671E0C}"/>
              </a:ext>
            </a:extLst>
          </p:cNvPr>
          <p:cNvSpPr txBox="1"/>
          <p:nvPr/>
        </p:nvSpPr>
        <p:spPr>
          <a:xfrm>
            <a:off x="2494112" y="5009607"/>
            <a:ext cx="2028998"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FF0000"/>
                </a:solidFill>
                <a:effectLst/>
                <a:latin typeface="宋体" panose="02010600030101010101" pitchFamily="2"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无功功率：</a:t>
            </a:r>
            <a:endParaRPr kumimoji="0" lang="zh-CN" altLang="en-US" sz="2400" b="0" i="0" u="none" strike="noStrike" cap="none" normalizeH="0" baseline="0" dirty="0">
              <a:ln>
                <a:noFill/>
              </a:ln>
              <a:solidFill>
                <a:schemeClr val="tx1"/>
              </a:solidFill>
              <a:effectLst/>
              <a:latin typeface="Arial" panose="020B0604020202020204" pitchFamily="34" charset="0"/>
            </a:endParaRPr>
          </a:p>
        </p:txBody>
      </p:sp>
      <p:sp>
        <p:nvSpPr>
          <p:cNvPr id="19" name="Rectangle 9">
            <a:extLst>
              <a:ext uri="{FF2B5EF4-FFF2-40B4-BE49-F238E27FC236}">
                <a16:creationId xmlns:a16="http://schemas.microsoft.com/office/drawing/2014/main" id="{BE23F1CF-5F9E-B030-FDAC-87B973F65208}"/>
              </a:ext>
            </a:extLst>
          </p:cNvPr>
          <p:cNvSpPr>
            <a:spLocks noChangeArrowheads="1"/>
          </p:cNvSpPr>
          <p:nvPr/>
        </p:nvSpPr>
        <p:spPr bwMode="auto">
          <a:xfrm>
            <a:off x="5454269" y="4940342"/>
            <a:ext cx="18722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视在功率</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0" name="对象 19">
            <a:extLst>
              <a:ext uri="{FF2B5EF4-FFF2-40B4-BE49-F238E27FC236}">
                <a16:creationId xmlns:a16="http://schemas.microsoft.com/office/drawing/2014/main" id="{69041CD5-78D5-0057-905A-B332D1FCB348}"/>
              </a:ext>
            </a:extLst>
          </p:cNvPr>
          <p:cNvGraphicFramePr>
            <a:graphicFrameLocks noChangeAspect="1"/>
          </p:cNvGraphicFramePr>
          <p:nvPr>
            <p:extLst>
              <p:ext uri="{D42A27DB-BD31-4B8C-83A1-F6EECF244321}">
                <p14:modId xmlns:p14="http://schemas.microsoft.com/office/powerpoint/2010/main" val="724879152"/>
              </p:ext>
            </p:extLst>
          </p:nvPr>
        </p:nvGraphicFramePr>
        <p:xfrm>
          <a:off x="6884994" y="4921838"/>
          <a:ext cx="2041525" cy="500063"/>
        </p:xfrm>
        <a:graphic>
          <a:graphicData uri="http://schemas.openxmlformats.org/presentationml/2006/ole">
            <mc:AlternateContent xmlns:mc="http://schemas.openxmlformats.org/markup-compatibility/2006">
              <mc:Choice xmlns:v="urn:schemas-microsoft-com:vml" Requires="v">
                <p:oleObj name="Equation" r:id="rId11" imgW="1079280" imgH="266400" progId="Equation.DSMT4">
                  <p:embed/>
                </p:oleObj>
              </mc:Choice>
              <mc:Fallback>
                <p:oleObj name="Equation" r:id="rId11" imgW="1079280" imgH="266400" progId="Equation.DSMT4">
                  <p:embed/>
                  <p:pic>
                    <p:nvPicPr>
                      <p:cNvPr id="0" name="Object 8"/>
                      <p:cNvPicPr>
                        <a:picLocks noChangeAspect="1" noChangeArrowheads="1"/>
                      </p:cNvPicPr>
                      <p:nvPr/>
                    </p:nvPicPr>
                    <p:blipFill>
                      <a:blip r:embed="rId12"/>
                      <a:srcRect/>
                      <a:stretch>
                        <a:fillRect/>
                      </a:stretch>
                    </p:blipFill>
                    <p:spPr bwMode="auto">
                      <a:xfrm>
                        <a:off x="6884994" y="4921838"/>
                        <a:ext cx="2041525"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a:extLst>
              <a:ext uri="{FF2B5EF4-FFF2-40B4-BE49-F238E27FC236}">
                <a16:creationId xmlns:a16="http://schemas.microsoft.com/office/drawing/2014/main" id="{DAB17FA9-D86B-5C73-4CD5-18CA9EF8CB05}"/>
              </a:ext>
            </a:extLst>
          </p:cNvPr>
          <p:cNvSpPr>
            <a:spLocks noGrp="1"/>
          </p:cNvSpPr>
          <p:nvPr>
            <p:ph type="sldNum" sz="quarter" idx="12"/>
          </p:nvPr>
        </p:nvSpPr>
        <p:spPr/>
        <p:txBody>
          <a:bodyPr/>
          <a:lstStyle/>
          <a:p>
            <a:fld id="{76D830B0-DF59-4281-898F-AF208100B213}" type="slidenum">
              <a:rPr lang="en-US" altLang="zh-CN" smtClean="0"/>
              <a:pPr/>
              <a:t>92</a:t>
            </a:fld>
            <a:endParaRPr lang="en-US" altLang="zh-CN"/>
          </a:p>
        </p:txBody>
      </p:sp>
    </p:spTree>
    <p:extLst>
      <p:ext uri="{BB962C8B-B14F-4D97-AF65-F5344CB8AC3E}">
        <p14:creationId xmlns:p14="http://schemas.microsoft.com/office/powerpoint/2010/main" val="40621229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216DD35-4D86-DCD8-04C3-676E420C8D97}"/>
              </a:ext>
            </a:extLst>
          </p:cNvPr>
          <p:cNvSpPr>
            <a:spLocks noGrp="1"/>
          </p:cNvSpPr>
          <p:nvPr>
            <p:ph type="sldNum" sz="quarter" idx="12"/>
          </p:nvPr>
        </p:nvSpPr>
        <p:spPr/>
        <p:txBody>
          <a:bodyPr/>
          <a:lstStyle/>
          <a:p>
            <a:fld id="{76D830B0-DF59-4281-898F-AF208100B213}" type="slidenum">
              <a:rPr lang="en-US" altLang="zh-CN" smtClean="0"/>
              <a:pPr/>
              <a:t>93</a:t>
            </a:fld>
            <a:endParaRPr lang="en-US" altLang="zh-CN"/>
          </a:p>
        </p:txBody>
      </p:sp>
      <p:sp>
        <p:nvSpPr>
          <p:cNvPr id="3" name="文本框 2">
            <a:extLst>
              <a:ext uri="{FF2B5EF4-FFF2-40B4-BE49-F238E27FC236}">
                <a16:creationId xmlns:a16="http://schemas.microsoft.com/office/drawing/2014/main" id="{A2A16558-14AA-8D6C-AD9C-7B9ACC2A647A}"/>
              </a:ext>
            </a:extLst>
          </p:cNvPr>
          <p:cNvSpPr txBox="1"/>
          <p:nvPr/>
        </p:nvSpPr>
        <p:spPr>
          <a:xfrm>
            <a:off x="353677" y="1376902"/>
            <a:ext cx="8070751" cy="954107"/>
          </a:xfrm>
          <a:prstGeom prst="rect">
            <a:avLst/>
          </a:prstGeom>
          <a:noFill/>
        </p:spPr>
        <p:txBody>
          <a:bodyPr wrap="square">
            <a:spAutoFit/>
          </a:bodyPr>
          <a:lstStyle/>
          <a:p>
            <a:r>
              <a:rPr lang="zh-CN" altLang="zh-CN" sz="2800" b="1" dirty="0">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例</a:t>
            </a:r>
            <a:r>
              <a:rPr lang="zh-CN" altLang="zh-CN" sz="28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：一台</a:t>
            </a:r>
            <a:r>
              <a:rPr lang="en-US" altLang="zh-CN" sz="28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460V</a:t>
            </a:r>
            <a:r>
              <a:rPr lang="zh-CN" altLang="zh-CN" sz="28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lang="en-US" altLang="zh-CN" sz="28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25</a:t>
            </a:r>
            <a:r>
              <a:rPr lang="zh-CN" altLang="zh-CN" sz="28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马力，</a:t>
            </a:r>
            <a:r>
              <a:rPr lang="en-US" altLang="zh-CN" sz="28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60Hz</a:t>
            </a:r>
            <a:r>
              <a:rPr lang="zh-CN" altLang="zh-CN" sz="28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lang="en-US" altLang="zh-CN" sz="28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2</a:t>
            </a:r>
            <a:r>
              <a:rPr lang="zh-CN" altLang="zh-CN" sz="28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对极，</a:t>
            </a:r>
            <a:r>
              <a:rPr lang="en-US" altLang="zh-CN" sz="28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Y</a:t>
            </a:r>
            <a:r>
              <a:rPr lang="zh-CN" altLang="zh-CN" sz="28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联接异步电动机，等值电路参数为：</a:t>
            </a:r>
            <a:endParaRPr lang="zh-CN" altLang="en-US" sz="2800" dirty="0"/>
          </a:p>
        </p:txBody>
      </p:sp>
      <mc:AlternateContent xmlns:mc="http://schemas.openxmlformats.org/markup-compatibility/2006" xmlns:a14="http://schemas.microsoft.com/office/drawing/2010/main">
        <mc:Choice Requires="a14">
          <p:sp>
            <p:nvSpPr>
              <p:cNvPr id="4" name="对象 3">
                <a:extLst>
                  <a:ext uri="{FF2B5EF4-FFF2-40B4-BE49-F238E27FC236}">
                    <a16:creationId xmlns:a16="http://schemas.microsoft.com/office/drawing/2014/main" id="{C21E5D5F-AC20-5FE3-EEF0-AF33274CDF04}"/>
                  </a:ext>
                </a:extLst>
              </p:cNvPr>
              <p:cNvSpPr txBox="1"/>
              <p:nvPr/>
            </p:nvSpPr>
            <p:spPr bwMode="auto">
              <a:xfrm>
                <a:off x="608950" y="2526702"/>
                <a:ext cx="7273925" cy="41433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𝑅</m:t>
                          </m:r>
                        </m:e>
                        <m:sub>
                          <m:r>
                            <a:rPr lang="zh-CN" altLang="en-US" sz="2800" i="1">
                              <a:solidFill>
                                <a:srgbClr val="000000"/>
                              </a:solidFill>
                              <a:latin typeface="Cambria Math" panose="02040503050406030204" pitchFamily="18" charset="0"/>
                            </a:rPr>
                            <m:t>𝑠</m:t>
                          </m:r>
                        </m:sub>
                      </m:sSub>
                      <m:r>
                        <a:rPr lang="zh-CN" altLang="en-US" sz="2800" i="1">
                          <a:solidFill>
                            <a:srgbClr val="000000"/>
                          </a:solidFill>
                          <a:latin typeface="Cambria Math" panose="02040503050406030204" pitchFamily="18" charset="0"/>
                        </a:rPr>
                        <m:t>=0.641</m:t>
                      </m:r>
                      <m:r>
                        <m:rPr>
                          <m:sty m:val="p"/>
                        </m:rPr>
                        <a:rPr lang="zh-CN" altLang="en-US" sz="2800" i="1">
                          <a:solidFill>
                            <a:srgbClr val="000000"/>
                          </a:solidFill>
                          <a:latin typeface="Cambria Math" panose="02040503050406030204" pitchFamily="18" charset="0"/>
                        </a:rPr>
                        <m:t>Ω</m:t>
                      </m:r>
                      <m:r>
                        <a:rPr lang="zh-CN" altLang="en-US" sz="2800" i="1">
                          <a:solidFill>
                            <a:srgbClr val="000000"/>
                          </a:solidFill>
                          <a:latin typeface="Cambria Math" panose="02040503050406030204" pitchFamily="18" charset="0"/>
                        </a:rPr>
                        <m:t>,</m:t>
                      </m:r>
                      <m:r>
                        <m:rPr>
                          <m:nor/>
                        </m:rPr>
                        <a:rPr lang="zh-CN" altLang="en-US" sz="2800" i="0">
                          <a:solidFill>
                            <a:srgbClr val="000000"/>
                          </a:solidFill>
                          <a:latin typeface="Cambria Math" panose="02040503050406030204" pitchFamily="18" charset="0"/>
                        </a:rPr>
                        <m:t>  </m:t>
                      </m:r>
                      <m:sSubSup>
                        <m:sSubSupPr>
                          <m:ctrlPr>
                            <a:rPr lang="zh-CN" altLang="en-US" sz="2800" i="1">
                              <a:solidFill>
                                <a:srgbClr val="000000"/>
                              </a:solidFill>
                              <a:latin typeface="Cambria Math" panose="02040503050406030204" pitchFamily="18" charset="0"/>
                            </a:rPr>
                          </m:ctrlPr>
                        </m:sSubSupPr>
                        <m:e>
                          <m:r>
                            <a:rPr lang="zh-CN" altLang="en-US" sz="2800" i="1">
                              <a:solidFill>
                                <a:srgbClr val="000000"/>
                              </a:solidFill>
                              <a:latin typeface="Cambria Math" panose="02040503050406030204" pitchFamily="18" charset="0"/>
                            </a:rPr>
                            <m:t>𝑅</m:t>
                          </m:r>
                        </m:e>
                        <m:sub>
                          <m:r>
                            <a:rPr lang="zh-CN" altLang="en-US" sz="2800" i="1">
                              <a:solidFill>
                                <a:srgbClr val="000000"/>
                              </a:solidFill>
                              <a:latin typeface="Cambria Math" panose="02040503050406030204" pitchFamily="18" charset="0"/>
                            </a:rPr>
                            <m:t>𝑟</m:t>
                          </m:r>
                        </m:sub>
                        <m:sup>
                          <m:r>
                            <a:rPr lang="zh-CN" altLang="en-US" sz="2800" i="1">
                              <a:solidFill>
                                <a:srgbClr val="000000"/>
                              </a:solidFill>
                              <a:latin typeface="Cambria Math" panose="02040503050406030204" pitchFamily="18" charset="0"/>
                            </a:rPr>
                            <m:t>′</m:t>
                          </m:r>
                        </m:sup>
                      </m:sSubSup>
                      <m:r>
                        <a:rPr lang="zh-CN" altLang="en-US" sz="2800" i="1">
                          <a:solidFill>
                            <a:srgbClr val="000000"/>
                          </a:solidFill>
                          <a:latin typeface="Cambria Math" panose="02040503050406030204" pitchFamily="18" charset="0"/>
                        </a:rPr>
                        <m:t>=0.332</m:t>
                      </m:r>
                      <m:r>
                        <m:rPr>
                          <m:sty m:val="p"/>
                        </m:rPr>
                        <a:rPr lang="zh-CN" altLang="en-US" sz="2800" i="1">
                          <a:solidFill>
                            <a:srgbClr val="000000"/>
                          </a:solidFill>
                          <a:latin typeface="Cambria Math" panose="02040503050406030204" pitchFamily="18" charset="0"/>
                        </a:rPr>
                        <m:t>Ω</m:t>
                      </m:r>
                      <m:r>
                        <a:rPr lang="zh-CN" altLang="en-US" sz="2800" i="1">
                          <a:solidFill>
                            <a:srgbClr val="000000"/>
                          </a:solidFill>
                          <a:latin typeface="Cambria Math" panose="02040503050406030204" pitchFamily="18" charset="0"/>
                        </a:rPr>
                        <m:t>, </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𝑋</m:t>
                          </m:r>
                        </m:e>
                        <m:sub>
                          <m:r>
                            <a:rPr lang="zh-CN" altLang="en-US" sz="2800" i="1">
                              <a:solidFill>
                                <a:srgbClr val="000000"/>
                              </a:solidFill>
                              <a:latin typeface="Cambria Math" panose="02040503050406030204" pitchFamily="18" charset="0"/>
                            </a:rPr>
                            <m:t>𝑠</m:t>
                          </m:r>
                        </m:sub>
                      </m:sSub>
                      <m:r>
                        <a:rPr lang="zh-CN" altLang="en-US" sz="2800" i="1">
                          <a:solidFill>
                            <a:srgbClr val="000000"/>
                          </a:solidFill>
                          <a:latin typeface="Cambria Math" panose="02040503050406030204" pitchFamily="18" charset="0"/>
                        </a:rPr>
                        <m:t>=1.106</m:t>
                      </m:r>
                      <m:r>
                        <m:rPr>
                          <m:sty m:val="p"/>
                        </m:rPr>
                        <a:rPr lang="zh-CN" altLang="en-US" sz="2800" i="1">
                          <a:solidFill>
                            <a:srgbClr val="000000"/>
                          </a:solidFill>
                          <a:latin typeface="Cambria Math" panose="02040503050406030204" pitchFamily="18" charset="0"/>
                        </a:rPr>
                        <m:t>Ω</m:t>
                      </m:r>
                      <m:r>
                        <a:rPr lang="zh-CN" altLang="en-US" sz="2800" i="1">
                          <a:solidFill>
                            <a:srgbClr val="000000"/>
                          </a:solidFill>
                          <a:latin typeface="Cambria Math" panose="02040503050406030204" pitchFamily="18" charset="0"/>
                        </a:rPr>
                        <m:t>,</m:t>
                      </m:r>
                      <m:r>
                        <m:rPr>
                          <m:nor/>
                        </m:rPr>
                        <a:rPr lang="zh-CN" altLang="en-US" sz="2800" i="0">
                          <a:solidFill>
                            <a:srgbClr val="000000"/>
                          </a:solidFill>
                          <a:latin typeface="Cambria Math" panose="02040503050406030204" pitchFamily="18" charset="0"/>
                        </a:rPr>
                        <m:t>  </m:t>
                      </m:r>
                      <m:sSubSup>
                        <m:sSubSupPr>
                          <m:ctrlPr>
                            <a:rPr lang="zh-CN" altLang="en-US" sz="2800" i="1">
                              <a:solidFill>
                                <a:srgbClr val="000000"/>
                              </a:solidFill>
                              <a:latin typeface="Cambria Math" panose="02040503050406030204" pitchFamily="18" charset="0"/>
                            </a:rPr>
                          </m:ctrlPr>
                        </m:sSubSupPr>
                        <m:e>
                          <m:r>
                            <m:rPr>
                              <m:nor/>
                            </m:rPr>
                            <a:rPr lang="zh-CN" altLang="en-US" sz="2800" i="0">
                              <a:solidFill>
                                <a:srgbClr val="000000"/>
                              </a:solidFill>
                              <a:latin typeface="Cambria Math" panose="02040503050406030204" pitchFamily="18" charset="0"/>
                            </a:rPr>
                            <m:t>X</m:t>
                          </m:r>
                        </m:e>
                        <m:sub>
                          <m:r>
                            <a:rPr lang="zh-CN" altLang="en-US" sz="2800" i="1">
                              <a:solidFill>
                                <a:srgbClr val="000000"/>
                              </a:solidFill>
                              <a:latin typeface="Cambria Math" panose="02040503050406030204" pitchFamily="18" charset="0"/>
                            </a:rPr>
                            <m:t>𝑟</m:t>
                          </m:r>
                        </m:sub>
                        <m:sup>
                          <m:r>
                            <a:rPr lang="zh-CN" altLang="en-US" sz="2800" i="1">
                              <a:solidFill>
                                <a:srgbClr val="000000"/>
                              </a:solidFill>
                              <a:latin typeface="Cambria Math" panose="02040503050406030204" pitchFamily="18" charset="0"/>
                            </a:rPr>
                            <m:t>′</m:t>
                          </m:r>
                        </m:sup>
                      </m:sSubSup>
                      <m:r>
                        <a:rPr lang="zh-CN" altLang="en-US" sz="2800" i="1">
                          <a:solidFill>
                            <a:srgbClr val="000000"/>
                          </a:solidFill>
                          <a:latin typeface="Cambria Math" panose="02040503050406030204" pitchFamily="18" charset="0"/>
                        </a:rPr>
                        <m:t>=0.464</m:t>
                      </m:r>
                      <m:r>
                        <m:rPr>
                          <m:sty m:val="p"/>
                        </m:rPr>
                        <a:rPr lang="zh-CN" altLang="en-US" sz="2800" i="1">
                          <a:solidFill>
                            <a:srgbClr val="000000"/>
                          </a:solidFill>
                          <a:latin typeface="Cambria Math" panose="02040503050406030204" pitchFamily="18" charset="0"/>
                        </a:rPr>
                        <m:t>Ω</m:t>
                      </m:r>
                      <m:r>
                        <a:rPr lang="zh-CN" altLang="en-US" sz="2800" i="1">
                          <a:solidFill>
                            <a:srgbClr val="000000"/>
                          </a:solidFill>
                          <a:latin typeface="Cambria Math" panose="02040503050406030204" pitchFamily="18" charset="0"/>
                        </a:rPr>
                        <m:t>, </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𝑋</m:t>
                          </m:r>
                        </m:e>
                        <m:sub>
                          <m:r>
                            <a:rPr lang="zh-CN" altLang="en-US" sz="2800" i="1">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=26.3</m:t>
                      </m:r>
                      <m:r>
                        <m:rPr>
                          <m:sty m:val="p"/>
                        </m:rPr>
                        <a:rPr lang="zh-CN" altLang="en-US" sz="2800" i="1">
                          <a:solidFill>
                            <a:srgbClr val="000000"/>
                          </a:solidFill>
                          <a:latin typeface="Cambria Math" panose="02040503050406030204" pitchFamily="18" charset="0"/>
                        </a:rPr>
                        <m:t>Ω</m:t>
                      </m:r>
                    </m:oMath>
                  </m:oMathPara>
                </a14:m>
                <a:endParaRPr lang="zh-CN" altLang="en-US" sz="2800" dirty="0"/>
              </a:p>
            </p:txBody>
          </p:sp>
        </mc:Choice>
        <mc:Fallback xmlns="">
          <p:sp>
            <p:nvSpPr>
              <p:cNvPr id="4" name="对象 3">
                <a:extLst>
                  <a:ext uri="{FF2B5EF4-FFF2-40B4-BE49-F238E27FC236}">
                    <a16:creationId xmlns:a16="http://schemas.microsoft.com/office/drawing/2014/main" id="{C21E5D5F-AC20-5FE3-EEF0-AF33274CDF04}"/>
                  </a:ext>
                </a:extLst>
              </p:cNvPr>
              <p:cNvSpPr txBox="1">
                <a:spLocks noRot="1" noChangeAspect="1" noMove="1" noResize="1" noEditPoints="1" noAdjustHandles="1" noChangeArrowheads="1" noChangeShapeType="1" noTextEdit="1"/>
              </p:cNvSpPr>
              <p:nvPr/>
            </p:nvSpPr>
            <p:spPr bwMode="auto">
              <a:xfrm>
                <a:off x="608950" y="2526702"/>
                <a:ext cx="7273925" cy="414337"/>
              </a:xfrm>
              <a:prstGeom prst="rect">
                <a:avLst/>
              </a:prstGeom>
              <a:blipFill>
                <a:blip r:embed="rId2"/>
                <a:stretch>
                  <a:fillRect b="-114706"/>
                </a:stretch>
              </a:blipFill>
            </p:spPr>
            <p:txBody>
              <a:bodyPr/>
              <a:lstStyle/>
              <a:p>
                <a:r>
                  <a:rPr lang="zh-CN" altLang="en-US">
                    <a:noFill/>
                  </a:rPr>
                  <a:t> </a:t>
                </a:r>
              </a:p>
            </p:txBody>
          </p:sp>
        </mc:Fallback>
      </mc:AlternateContent>
      <p:sp>
        <p:nvSpPr>
          <p:cNvPr id="5" name="Rectangle 14">
            <a:extLst>
              <a:ext uri="{FF2B5EF4-FFF2-40B4-BE49-F238E27FC236}">
                <a16:creationId xmlns:a16="http://schemas.microsoft.com/office/drawing/2014/main" id="{27389816-4AC7-A355-BA83-08C471A9B802}"/>
              </a:ext>
            </a:extLst>
          </p:cNvPr>
          <p:cNvSpPr>
            <a:spLocks noChangeArrowheads="1"/>
          </p:cNvSpPr>
          <p:nvPr/>
        </p:nvSpPr>
        <p:spPr bwMode="auto">
          <a:xfrm>
            <a:off x="638732" y="3649103"/>
            <a:ext cx="7560840" cy="1651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25000"/>
              </a:lnSpc>
              <a:spcBef>
                <a:spcPct val="0"/>
              </a:spcBef>
              <a:spcAft>
                <a:spcPct val="0"/>
              </a:spcAft>
              <a:buClrTx/>
              <a:buSzTx/>
              <a:buFontTx/>
              <a:buNone/>
              <a:tabLst/>
            </a:pPr>
            <a:r>
              <a:rPr kumimoji="0" lang="zh-CN" altLang="zh-CN" sz="28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铁耗归并到空载损耗中。空载损耗为</a:t>
            </a:r>
            <a:r>
              <a:rPr kumimoji="0" lang="en-US" altLang="zh-CN" sz="28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1100W</a:t>
            </a:r>
            <a:r>
              <a:rPr kumimoji="0" lang="zh-CN" altLang="en-US" sz="28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。如果在额定电压、额定频率运行时，电动机的转差率为</a:t>
            </a:r>
            <a:endParaRPr kumimoji="0" lang="zh-CN" altLang="en-US" sz="2800" b="0" i="0" u="none" strike="noStrike" cap="none" normalizeH="0" baseline="0" dirty="0">
              <a:ln>
                <a:noFill/>
              </a:ln>
              <a:solidFill>
                <a:schemeClr val="tx1"/>
              </a:solidFill>
              <a:effectLst/>
            </a:endParaRPr>
          </a:p>
        </p:txBody>
      </p:sp>
      <mc:AlternateContent xmlns:mc="http://schemas.openxmlformats.org/markup-compatibility/2006" xmlns:a14="http://schemas.microsoft.com/office/drawing/2010/main">
        <mc:Choice Requires="a14">
          <p:sp>
            <p:nvSpPr>
              <p:cNvPr id="6" name="对象 5">
                <a:extLst>
                  <a:ext uri="{FF2B5EF4-FFF2-40B4-BE49-F238E27FC236}">
                    <a16:creationId xmlns:a16="http://schemas.microsoft.com/office/drawing/2014/main" id="{710F759F-C497-7060-CB7A-BC7C6D1611AB}"/>
                  </a:ext>
                </a:extLst>
              </p:cNvPr>
              <p:cNvSpPr txBox="1"/>
              <p:nvPr/>
            </p:nvSpPr>
            <p:spPr bwMode="auto">
              <a:xfrm>
                <a:off x="1944913" y="4797152"/>
                <a:ext cx="2444139" cy="42030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𝑠</m:t>
                      </m:r>
                      <m:r>
                        <a:rPr lang="zh-CN" altLang="en-US" sz="2800" i="1">
                          <a:solidFill>
                            <a:srgbClr val="000000"/>
                          </a:solidFill>
                          <a:latin typeface="Cambria Math" panose="02040503050406030204" pitchFamily="18" charset="0"/>
                        </a:rPr>
                        <m:t>=0.022</m:t>
                      </m:r>
                    </m:oMath>
                  </m:oMathPara>
                </a14:m>
                <a:endParaRPr lang="zh-CN" altLang="en-US" sz="2800" dirty="0"/>
              </a:p>
            </p:txBody>
          </p:sp>
        </mc:Choice>
        <mc:Fallback xmlns="">
          <p:sp>
            <p:nvSpPr>
              <p:cNvPr id="6" name="对象 5">
                <a:extLst>
                  <a:ext uri="{FF2B5EF4-FFF2-40B4-BE49-F238E27FC236}">
                    <a16:creationId xmlns:a16="http://schemas.microsoft.com/office/drawing/2014/main" id="{710F759F-C497-7060-CB7A-BC7C6D1611AB}"/>
                  </a:ext>
                </a:extLst>
              </p:cNvPr>
              <p:cNvSpPr txBox="1">
                <a:spLocks noRot="1" noChangeAspect="1" noMove="1" noResize="1" noEditPoints="1" noAdjustHandles="1" noChangeArrowheads="1" noChangeShapeType="1" noTextEdit="1"/>
              </p:cNvSpPr>
              <p:nvPr/>
            </p:nvSpPr>
            <p:spPr bwMode="auto">
              <a:xfrm>
                <a:off x="1944913" y="4797152"/>
                <a:ext cx="2444139" cy="420307"/>
              </a:xfrm>
              <a:prstGeom prst="rect">
                <a:avLst/>
              </a:prstGeom>
              <a:blipFill>
                <a:blip r:embed="rId3"/>
                <a:stretch>
                  <a:fillRect/>
                </a:stretch>
              </a:blipFill>
            </p:spPr>
            <p:txBody>
              <a:bodyPr/>
              <a:lstStyle/>
              <a:p>
                <a:r>
                  <a:rPr lang="zh-CN" altLang="en-US">
                    <a:noFill/>
                  </a:rPr>
                  <a:t> </a:t>
                </a:r>
              </a:p>
            </p:txBody>
          </p:sp>
        </mc:Fallback>
      </mc:AlternateContent>
      <p:sp>
        <p:nvSpPr>
          <p:cNvPr id="7" name="Rectangle 15">
            <a:extLst>
              <a:ext uri="{FF2B5EF4-FFF2-40B4-BE49-F238E27FC236}">
                <a16:creationId xmlns:a16="http://schemas.microsoft.com/office/drawing/2014/main" id="{D63FE71D-9219-0691-BD4A-11324CB714C2}"/>
              </a:ext>
            </a:extLst>
          </p:cNvPr>
          <p:cNvSpPr>
            <a:spLocks noChangeArrowheads="1"/>
          </p:cNvSpPr>
          <p:nvPr/>
        </p:nvSpPr>
        <p:spPr bwMode="auto">
          <a:xfrm>
            <a:off x="3538524" y="4759867"/>
            <a:ext cx="441785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，计算：</a:t>
            </a:r>
            <a:endParaRPr kumimoji="0" lang="zh-CN" altLang="zh-CN" sz="2800" b="0" i="0" u="none" strike="noStrike" cap="none" normalizeH="0" baseline="0" dirty="0">
              <a:ln>
                <a:noFill/>
              </a:ln>
              <a:solidFill>
                <a:schemeClr val="tx1"/>
              </a:solidFill>
              <a:effectLst/>
            </a:endParaRPr>
          </a:p>
        </p:txBody>
      </p:sp>
      <p:sp>
        <p:nvSpPr>
          <p:cNvPr id="12" name="文本框 11">
            <a:extLst>
              <a:ext uri="{FF2B5EF4-FFF2-40B4-BE49-F238E27FC236}">
                <a16:creationId xmlns:a16="http://schemas.microsoft.com/office/drawing/2014/main" id="{BB5F49A6-54BB-8A3C-00AF-AD29875B81FB}"/>
              </a:ext>
            </a:extLst>
          </p:cNvPr>
          <p:cNvSpPr txBox="1"/>
          <p:nvPr/>
        </p:nvSpPr>
        <p:spPr>
          <a:xfrm>
            <a:off x="627146" y="5389318"/>
            <a:ext cx="7758855" cy="954107"/>
          </a:xfrm>
          <a:prstGeom prst="rect">
            <a:avLst/>
          </a:prstGeom>
          <a:noFill/>
        </p:spPr>
        <p:txBody>
          <a:bodyPr wrap="none" rtlCol="0">
            <a:spAutoFit/>
          </a:bodyPr>
          <a:lstStyle/>
          <a:p>
            <a:r>
              <a:rPr kumimoji="0" lang="zh-CN" altLang="en-US" sz="28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电动机的转速、定子电流、功率因数、</a:t>
            </a:r>
            <a:r>
              <a:rPr lang="zh-CN" altLang="zh-CN" sz="2800" b="1" dirty="0">
                <a:effectLst/>
                <a:latin typeface="宋体" panose="02010600030101010101" pitchFamily="2" charset="-122"/>
                <a:ea typeface="黑体" panose="02010609060101010101" pitchFamily="49" charset="-122"/>
                <a:cs typeface="Times New Roman" panose="02020603050405020304" pitchFamily="18" charset="0"/>
              </a:rPr>
              <a:t>机械功率</a:t>
            </a:r>
            <a:endParaRPr lang="en-US" altLang="zh-CN" sz="2800" b="1" dirty="0">
              <a:effectLst/>
              <a:latin typeface="宋体" panose="02010600030101010101" pitchFamily="2" charset="-122"/>
              <a:ea typeface="黑体" panose="02010609060101010101" pitchFamily="49" charset="-122"/>
              <a:cs typeface="Times New Roman" panose="02020603050405020304" pitchFamily="18" charset="0"/>
            </a:endParaRPr>
          </a:p>
          <a:p>
            <a:r>
              <a:rPr lang="zh-CN" altLang="zh-CN" sz="2800" b="1" dirty="0">
                <a:effectLst/>
                <a:latin typeface="宋体" panose="02010600030101010101" pitchFamily="2" charset="-122"/>
                <a:ea typeface="黑体" panose="02010609060101010101" pitchFamily="49" charset="-122"/>
                <a:cs typeface="Times New Roman" panose="02020603050405020304" pitchFamily="18" charset="0"/>
              </a:rPr>
              <a:t>和输出功率</a:t>
            </a:r>
            <a:r>
              <a:rPr lang="zh-CN" altLang="en-US" sz="2800" b="1" dirty="0">
                <a:effectLst/>
                <a:latin typeface="宋体" panose="02010600030101010101" pitchFamily="2" charset="-122"/>
                <a:ea typeface="黑体" panose="02010609060101010101" pitchFamily="49" charset="-122"/>
                <a:cs typeface="Times New Roman" panose="02020603050405020304" pitchFamily="18" charset="0"/>
              </a:rPr>
              <a:t>、</a:t>
            </a:r>
            <a:r>
              <a:rPr lang="zh-CN" altLang="zh-CN" sz="2800" b="1" dirty="0">
                <a:effectLst/>
                <a:latin typeface="宋体" panose="02010600030101010101" pitchFamily="2" charset="-122"/>
                <a:ea typeface="黑体" panose="02010609060101010101" pitchFamily="49" charset="-122"/>
                <a:cs typeface="Times New Roman" panose="02020603050405020304" pitchFamily="18" charset="0"/>
              </a:rPr>
              <a:t>电磁转矩和输出转矩</a:t>
            </a:r>
            <a:r>
              <a:rPr lang="zh-CN" altLang="en-US" sz="2800" b="1" dirty="0">
                <a:effectLst/>
                <a:latin typeface="宋体" panose="02010600030101010101" pitchFamily="2" charset="-122"/>
                <a:ea typeface="黑体" panose="02010609060101010101" pitchFamily="49" charset="-122"/>
                <a:cs typeface="Times New Roman" panose="02020603050405020304" pitchFamily="18" charset="0"/>
              </a:rPr>
              <a:t>、效率</a:t>
            </a:r>
            <a:endParaRPr lang="zh-CN" altLang="en-US" sz="2800" dirty="0"/>
          </a:p>
        </p:txBody>
      </p:sp>
    </p:spTree>
    <p:extLst>
      <p:ext uri="{BB962C8B-B14F-4D97-AF65-F5344CB8AC3E}">
        <p14:creationId xmlns:p14="http://schemas.microsoft.com/office/powerpoint/2010/main" val="310192641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DD787942-BBE6-8954-89F8-119CC9F02179}"/>
              </a:ext>
            </a:extLst>
          </p:cNvPr>
          <p:cNvGraphicFramePr>
            <a:graphicFrameLocks noChangeAspect="1"/>
          </p:cNvGraphicFramePr>
          <p:nvPr>
            <p:extLst>
              <p:ext uri="{D42A27DB-BD31-4B8C-83A1-F6EECF244321}">
                <p14:modId xmlns:p14="http://schemas.microsoft.com/office/powerpoint/2010/main" val="184179399"/>
              </p:ext>
            </p:extLst>
          </p:nvPr>
        </p:nvGraphicFramePr>
        <p:xfrm>
          <a:off x="2915816" y="1058822"/>
          <a:ext cx="3528392" cy="765005"/>
        </p:xfrm>
        <a:graphic>
          <a:graphicData uri="http://schemas.openxmlformats.org/presentationml/2006/ole">
            <mc:AlternateContent xmlns:mc="http://schemas.openxmlformats.org/markup-compatibility/2006">
              <mc:Choice xmlns:v="urn:schemas-microsoft-com:vml" Requires="v">
                <p:oleObj name="Equation" r:id="rId2" imgW="1943100" imgH="419100" progId="Equation.DSMT4">
                  <p:embed/>
                </p:oleObj>
              </mc:Choice>
              <mc:Fallback>
                <p:oleObj name="Equation" r:id="rId2" imgW="1943100" imgH="419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1058822"/>
                        <a:ext cx="3528392" cy="765005"/>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8B048C70-C5F5-8943-B3BD-2A9793F6BFA1}"/>
              </a:ext>
            </a:extLst>
          </p:cNvPr>
          <p:cNvGraphicFramePr>
            <a:graphicFrameLocks noChangeAspect="1"/>
          </p:cNvGraphicFramePr>
          <p:nvPr>
            <p:extLst>
              <p:ext uri="{D42A27DB-BD31-4B8C-83A1-F6EECF244321}">
                <p14:modId xmlns:p14="http://schemas.microsoft.com/office/powerpoint/2010/main" val="2462352778"/>
              </p:ext>
            </p:extLst>
          </p:nvPr>
        </p:nvGraphicFramePr>
        <p:xfrm>
          <a:off x="2915816" y="1909210"/>
          <a:ext cx="3168352" cy="444950"/>
        </p:xfrm>
        <a:graphic>
          <a:graphicData uri="http://schemas.openxmlformats.org/presentationml/2006/ole">
            <mc:AlternateContent xmlns:mc="http://schemas.openxmlformats.org/markup-compatibility/2006">
              <mc:Choice xmlns:v="urn:schemas-microsoft-com:vml" Requires="v">
                <p:oleObj name="Equation" r:id="rId4" imgW="1625600" imgH="228600" progId="Equation.DSMT4">
                  <p:embed/>
                </p:oleObj>
              </mc:Choice>
              <mc:Fallback>
                <p:oleObj name="Equation" r:id="rId4" imgW="1625600" imgH="22860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5816" y="1909210"/>
                        <a:ext cx="3168352" cy="444950"/>
                      </a:xfrm>
                      <a:prstGeom prst="rect">
                        <a:avLst/>
                      </a:prstGeom>
                      <a:noFill/>
                    </p:spPr>
                  </p:pic>
                </p:oleObj>
              </mc:Fallback>
            </mc:AlternateContent>
          </a:graphicData>
        </a:graphic>
      </p:graphicFrame>
      <p:sp>
        <p:nvSpPr>
          <p:cNvPr id="6" name="Rectangle 3">
            <a:extLst>
              <a:ext uri="{FF2B5EF4-FFF2-40B4-BE49-F238E27FC236}">
                <a16:creationId xmlns:a16="http://schemas.microsoft.com/office/drawing/2014/main" id="{EAABBB77-B59A-66F9-3D22-F2CEE6B04BDF}"/>
              </a:ext>
            </a:extLst>
          </p:cNvPr>
          <p:cNvSpPr>
            <a:spLocks noChangeArrowheads="1"/>
          </p:cNvSpPr>
          <p:nvPr/>
        </p:nvSpPr>
        <p:spPr bwMode="auto">
          <a:xfrm>
            <a:off x="683568" y="1202798"/>
            <a:ext cx="21210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228600" algn="l"/>
              </a:tabLst>
              <a:defRPr>
                <a:solidFill>
                  <a:schemeClr val="tx1"/>
                </a:solidFill>
                <a:latin typeface="Arial" panose="020B0604020202020204" pitchFamily="34" charset="0"/>
              </a:defRPr>
            </a:lvl1pPr>
            <a:lvl2pPr eaLnBrk="0" hangingPunct="0">
              <a:tabLst>
                <a:tab pos="228600" algn="l"/>
              </a:tabLst>
              <a:defRPr>
                <a:solidFill>
                  <a:schemeClr val="tx1"/>
                </a:solidFill>
                <a:latin typeface="Arial" panose="020B0604020202020204" pitchFamily="34" charset="0"/>
              </a:defRPr>
            </a:lvl2pPr>
            <a:lvl3pPr eaLnBrk="0" hangingPunct="0">
              <a:tabLst>
                <a:tab pos="228600" algn="l"/>
              </a:tabLst>
              <a:defRPr>
                <a:solidFill>
                  <a:schemeClr val="tx1"/>
                </a:solidFill>
                <a:latin typeface="Arial" panose="020B0604020202020204" pitchFamily="34" charset="0"/>
              </a:defRPr>
            </a:lvl3pPr>
            <a:lvl4pPr eaLnBrk="0" hangingPunct="0">
              <a:tabLst>
                <a:tab pos="228600" algn="l"/>
              </a:tabLst>
              <a:defRPr>
                <a:solidFill>
                  <a:schemeClr val="tx1"/>
                </a:solidFill>
                <a:latin typeface="Arial" panose="020B0604020202020204" pitchFamily="34" charset="0"/>
              </a:defRPr>
            </a:lvl4pPr>
            <a:lvl5pPr eaLnBrk="0" hangingPunct="0">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228600" algn="l"/>
              </a:tabLst>
            </a:pPr>
            <a:r>
              <a:rPr kumimoji="0" lang="en-US" altLang="zh-CN"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电动机的转速</a:t>
            </a:r>
            <a:endParaRPr kumimoji="0" lang="zh-CN" altLang="zh-CN" sz="300" b="0" i="0" u="none" strike="noStrike" cap="none" normalizeH="0" baseline="0" dirty="0">
              <a:ln>
                <a:noFill/>
              </a:ln>
              <a:solidFill>
                <a:schemeClr val="tx1"/>
              </a:solidFill>
              <a:effectLst/>
            </a:endParaRPr>
          </a:p>
        </p:txBody>
      </p:sp>
      <p:graphicFrame>
        <p:nvGraphicFramePr>
          <p:cNvPr id="11" name="对象 10">
            <a:extLst>
              <a:ext uri="{FF2B5EF4-FFF2-40B4-BE49-F238E27FC236}">
                <a16:creationId xmlns:a16="http://schemas.microsoft.com/office/drawing/2014/main" id="{2FFC919A-1CD8-5FD4-DED9-767BD07E44A8}"/>
              </a:ext>
            </a:extLst>
          </p:cNvPr>
          <p:cNvGraphicFramePr>
            <a:graphicFrameLocks noChangeAspect="1"/>
          </p:cNvGraphicFramePr>
          <p:nvPr>
            <p:extLst>
              <p:ext uri="{D42A27DB-BD31-4B8C-83A1-F6EECF244321}">
                <p14:modId xmlns:p14="http://schemas.microsoft.com/office/powerpoint/2010/main" val="2814864308"/>
              </p:ext>
            </p:extLst>
          </p:nvPr>
        </p:nvGraphicFramePr>
        <p:xfrm>
          <a:off x="2394420" y="2518757"/>
          <a:ext cx="5722296" cy="797034"/>
        </p:xfrm>
        <a:graphic>
          <a:graphicData uri="http://schemas.openxmlformats.org/presentationml/2006/ole">
            <mc:AlternateContent xmlns:mc="http://schemas.openxmlformats.org/markup-compatibility/2006">
              <mc:Choice xmlns:v="urn:schemas-microsoft-com:vml" Requires="v">
                <p:oleObj name="Equation" r:id="rId6" imgW="3009900" imgH="419100" progId="Equation.DSMT4">
                  <p:embed/>
                </p:oleObj>
              </mc:Choice>
              <mc:Fallback>
                <p:oleObj name="Equation" r:id="rId6" imgW="3009900" imgH="41910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94420" y="2518757"/>
                        <a:ext cx="5722296" cy="797034"/>
                      </a:xfrm>
                      <a:prstGeom prst="rect">
                        <a:avLst/>
                      </a:prstGeom>
                      <a:noFill/>
                    </p:spPr>
                  </p:pic>
                </p:oleObj>
              </mc:Fallback>
            </mc:AlternateContent>
          </a:graphicData>
        </a:graphic>
      </p:graphicFrame>
      <p:graphicFrame>
        <p:nvGraphicFramePr>
          <p:cNvPr id="13" name="对象 12">
            <a:extLst>
              <a:ext uri="{FF2B5EF4-FFF2-40B4-BE49-F238E27FC236}">
                <a16:creationId xmlns:a16="http://schemas.microsoft.com/office/drawing/2014/main" id="{5A6BC920-BF31-46C3-FCED-2A610D64488E}"/>
              </a:ext>
            </a:extLst>
          </p:cNvPr>
          <p:cNvGraphicFramePr>
            <a:graphicFrameLocks noChangeAspect="1"/>
          </p:cNvGraphicFramePr>
          <p:nvPr>
            <p:extLst>
              <p:ext uri="{D42A27DB-BD31-4B8C-83A1-F6EECF244321}">
                <p14:modId xmlns:p14="http://schemas.microsoft.com/office/powerpoint/2010/main" val="3180663990"/>
              </p:ext>
            </p:extLst>
          </p:nvPr>
        </p:nvGraphicFramePr>
        <p:xfrm>
          <a:off x="1462038" y="3515551"/>
          <a:ext cx="6976423" cy="1153809"/>
        </p:xfrm>
        <a:graphic>
          <a:graphicData uri="http://schemas.openxmlformats.org/presentationml/2006/ole">
            <mc:AlternateContent xmlns:mc="http://schemas.openxmlformats.org/markup-compatibility/2006">
              <mc:Choice xmlns:v="urn:schemas-microsoft-com:vml" Requires="v">
                <p:oleObj name="Equation" r:id="rId8" imgW="3746500" imgH="622300" progId="Equation.DSMT4">
                  <p:embed/>
                </p:oleObj>
              </mc:Choice>
              <mc:Fallback>
                <p:oleObj name="Equation" r:id="rId8" imgW="3746500" imgH="62230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62038" y="3515551"/>
                        <a:ext cx="6976423" cy="1153809"/>
                      </a:xfrm>
                      <a:prstGeom prst="rect">
                        <a:avLst/>
                      </a:prstGeom>
                      <a:noFill/>
                    </p:spPr>
                  </p:pic>
                </p:oleObj>
              </mc:Fallback>
            </mc:AlternateContent>
          </a:graphicData>
        </a:graphic>
      </p:graphicFrame>
      <p:graphicFrame>
        <p:nvGraphicFramePr>
          <p:cNvPr id="17" name="对象 16">
            <a:extLst>
              <a:ext uri="{FF2B5EF4-FFF2-40B4-BE49-F238E27FC236}">
                <a16:creationId xmlns:a16="http://schemas.microsoft.com/office/drawing/2014/main" id="{8AC0A7C8-B5A9-1927-6BF0-86F5B1F47446}"/>
              </a:ext>
            </a:extLst>
          </p:cNvPr>
          <p:cNvGraphicFramePr>
            <a:graphicFrameLocks noChangeAspect="1"/>
          </p:cNvGraphicFramePr>
          <p:nvPr>
            <p:extLst>
              <p:ext uri="{D42A27DB-BD31-4B8C-83A1-F6EECF244321}">
                <p14:modId xmlns:p14="http://schemas.microsoft.com/office/powerpoint/2010/main" val="3992835947"/>
              </p:ext>
            </p:extLst>
          </p:nvPr>
        </p:nvGraphicFramePr>
        <p:xfrm>
          <a:off x="1458787" y="4783482"/>
          <a:ext cx="6976423" cy="481704"/>
        </p:xfrm>
        <a:graphic>
          <a:graphicData uri="http://schemas.openxmlformats.org/presentationml/2006/ole">
            <mc:AlternateContent xmlns:mc="http://schemas.openxmlformats.org/markup-compatibility/2006">
              <mc:Choice xmlns:v="urn:schemas-microsoft-com:vml" Requires="v">
                <p:oleObj name="Equation" r:id="rId10" imgW="3733800" imgH="254000" progId="Equation.DSMT4">
                  <p:embed/>
                </p:oleObj>
              </mc:Choice>
              <mc:Fallback>
                <p:oleObj name="Equation" r:id="rId10" imgW="3733800" imgH="254000"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58787" y="4783482"/>
                        <a:ext cx="6976423" cy="481704"/>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977C11D5-C4C6-816D-709E-26E1B7C3AE69}"/>
              </a:ext>
            </a:extLst>
          </p:cNvPr>
          <p:cNvGraphicFramePr>
            <a:graphicFrameLocks noChangeAspect="1"/>
          </p:cNvGraphicFramePr>
          <p:nvPr>
            <p:extLst>
              <p:ext uri="{D42A27DB-BD31-4B8C-83A1-F6EECF244321}">
                <p14:modId xmlns:p14="http://schemas.microsoft.com/office/powerpoint/2010/main" val="2501956126"/>
              </p:ext>
            </p:extLst>
          </p:nvPr>
        </p:nvGraphicFramePr>
        <p:xfrm>
          <a:off x="1331640" y="5379308"/>
          <a:ext cx="5517342" cy="1018725"/>
        </p:xfrm>
        <a:graphic>
          <a:graphicData uri="http://schemas.openxmlformats.org/presentationml/2006/ole">
            <mc:AlternateContent xmlns:mc="http://schemas.openxmlformats.org/markup-compatibility/2006">
              <mc:Choice xmlns:v="urn:schemas-microsoft-com:vml" Requires="v">
                <p:oleObj name="Equation" r:id="rId12" imgW="2628900" imgH="482600" progId="Equation.DSMT4">
                  <p:embed/>
                </p:oleObj>
              </mc:Choice>
              <mc:Fallback>
                <p:oleObj name="Equation" r:id="rId12" imgW="2628900" imgH="482600" progId="Equation.DSMT4">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31640" y="5379308"/>
                        <a:ext cx="5517342" cy="1018725"/>
                      </a:xfrm>
                      <a:prstGeom prst="rect">
                        <a:avLst/>
                      </a:prstGeom>
                      <a:noFill/>
                    </p:spPr>
                  </p:pic>
                </p:oleObj>
              </mc:Fallback>
            </mc:AlternateContent>
          </a:graphicData>
        </a:graphic>
      </p:graphicFrame>
      <p:sp>
        <p:nvSpPr>
          <p:cNvPr id="22" name="Rectangle 10">
            <a:extLst>
              <a:ext uri="{FF2B5EF4-FFF2-40B4-BE49-F238E27FC236}">
                <a16:creationId xmlns:a16="http://schemas.microsoft.com/office/drawing/2014/main" id="{F548174B-3CD5-1D12-DFB4-5B66AC9A11DC}"/>
              </a:ext>
            </a:extLst>
          </p:cNvPr>
          <p:cNvSpPr>
            <a:spLocks noChangeArrowheads="1"/>
          </p:cNvSpPr>
          <p:nvPr/>
        </p:nvSpPr>
        <p:spPr bwMode="auto">
          <a:xfrm>
            <a:off x="689336" y="2679233"/>
            <a:ext cx="16049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hangingPunct="0">
              <a:tabLst>
                <a:tab pos="228600" algn="l"/>
              </a:tabLst>
              <a:defRPr>
                <a:solidFill>
                  <a:schemeClr val="tx1"/>
                </a:solidFill>
                <a:latin typeface="Arial" panose="020B0604020202020204" pitchFamily="34" charset="0"/>
              </a:defRPr>
            </a:lvl1pPr>
            <a:lvl2pPr eaLnBrk="0" hangingPunct="0">
              <a:tabLst>
                <a:tab pos="228600" algn="l"/>
              </a:tabLst>
              <a:defRPr>
                <a:solidFill>
                  <a:schemeClr val="tx1"/>
                </a:solidFill>
                <a:latin typeface="Arial" panose="020B0604020202020204" pitchFamily="34" charset="0"/>
              </a:defRPr>
            </a:lvl2pPr>
            <a:lvl3pPr eaLnBrk="0" hangingPunct="0">
              <a:tabLst>
                <a:tab pos="228600" algn="l"/>
              </a:tabLst>
              <a:defRPr>
                <a:solidFill>
                  <a:schemeClr val="tx1"/>
                </a:solidFill>
                <a:latin typeface="Arial" panose="020B0604020202020204" pitchFamily="34" charset="0"/>
              </a:defRPr>
            </a:lvl3pPr>
            <a:lvl4pPr eaLnBrk="0" hangingPunct="0">
              <a:tabLst>
                <a:tab pos="228600" algn="l"/>
              </a:tabLst>
              <a:defRPr>
                <a:solidFill>
                  <a:schemeClr val="tx1"/>
                </a:solidFill>
                <a:latin typeface="Arial" panose="020B0604020202020204" pitchFamily="34" charset="0"/>
              </a:defRPr>
            </a:lvl4pPr>
            <a:lvl5pPr eaLnBrk="0" hangingPunct="0">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228600" algn="l"/>
              </a:tabLst>
            </a:pPr>
            <a:r>
              <a:rPr lang="en-US" altLang="zh-CN"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2</a:t>
            </a:r>
            <a:r>
              <a:rPr lang="zh-CN" altLang="en-US"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a:t>
            </a:r>
            <a:r>
              <a:rPr kumimoji="0" lang="zh-CN" altLang="zh-CN"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定子电流</a:t>
            </a:r>
            <a:endParaRPr kumimoji="0" lang="zh-CN" altLang="zh-CN" sz="2000" b="0" i="0" u="none" strike="noStrike" cap="none" normalizeH="0" baseline="0" dirty="0">
              <a:ln>
                <a:noFill/>
              </a:ln>
              <a:solidFill>
                <a:schemeClr val="tx1"/>
              </a:solidFill>
              <a:effectLst/>
            </a:endParaRPr>
          </a:p>
        </p:txBody>
      </p:sp>
      <p:sp>
        <p:nvSpPr>
          <p:cNvPr id="31" name="Rectangle 14">
            <a:extLst>
              <a:ext uri="{FF2B5EF4-FFF2-40B4-BE49-F238E27FC236}">
                <a16:creationId xmlns:a16="http://schemas.microsoft.com/office/drawing/2014/main" id="{298371F5-3450-1FEF-26D2-DC94D101AFE5}"/>
              </a:ext>
            </a:extLst>
          </p:cNvPr>
          <p:cNvSpPr>
            <a:spLocks noChangeArrowheads="1"/>
          </p:cNvSpPr>
          <p:nvPr/>
        </p:nvSpPr>
        <p:spPr bwMode="auto">
          <a:xfrm>
            <a:off x="683568" y="798805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灯片编号占位符 3">
            <a:extLst>
              <a:ext uri="{FF2B5EF4-FFF2-40B4-BE49-F238E27FC236}">
                <a16:creationId xmlns:a16="http://schemas.microsoft.com/office/drawing/2014/main" id="{AA85CB31-89AC-609F-5A9D-A9F1AB93CDDE}"/>
              </a:ext>
            </a:extLst>
          </p:cNvPr>
          <p:cNvSpPr>
            <a:spLocks noGrp="1"/>
          </p:cNvSpPr>
          <p:nvPr>
            <p:ph type="sldNum" sz="quarter" idx="12"/>
          </p:nvPr>
        </p:nvSpPr>
        <p:spPr/>
        <p:txBody>
          <a:bodyPr/>
          <a:lstStyle/>
          <a:p>
            <a:fld id="{76D830B0-DF59-4281-898F-AF208100B213}" type="slidenum">
              <a:rPr lang="en-US" altLang="zh-CN" smtClean="0"/>
              <a:pPr/>
              <a:t>94</a:t>
            </a:fld>
            <a:endParaRPr lang="en-US" altLang="zh-CN"/>
          </a:p>
        </p:txBody>
      </p:sp>
    </p:spTree>
    <p:extLst>
      <p:ext uri="{BB962C8B-B14F-4D97-AF65-F5344CB8AC3E}">
        <p14:creationId xmlns:p14="http://schemas.microsoft.com/office/powerpoint/2010/main" val="3391890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EAABBB77-B59A-66F9-3D22-F2CEE6B04BDF}"/>
              </a:ext>
            </a:extLst>
          </p:cNvPr>
          <p:cNvSpPr>
            <a:spLocks noChangeArrowheads="1"/>
          </p:cNvSpPr>
          <p:nvPr/>
        </p:nvSpPr>
        <p:spPr bwMode="auto">
          <a:xfrm>
            <a:off x="683568" y="1202798"/>
            <a:ext cx="16561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228600" algn="l"/>
              </a:tabLst>
              <a:defRPr>
                <a:solidFill>
                  <a:schemeClr val="tx1"/>
                </a:solidFill>
                <a:latin typeface="Arial" panose="020B0604020202020204" pitchFamily="34" charset="0"/>
              </a:defRPr>
            </a:lvl1pPr>
            <a:lvl2pPr eaLnBrk="0" hangingPunct="0">
              <a:tabLst>
                <a:tab pos="228600" algn="l"/>
              </a:tabLst>
              <a:defRPr>
                <a:solidFill>
                  <a:schemeClr val="tx1"/>
                </a:solidFill>
                <a:latin typeface="Arial" panose="020B0604020202020204" pitchFamily="34" charset="0"/>
              </a:defRPr>
            </a:lvl2pPr>
            <a:lvl3pPr eaLnBrk="0" hangingPunct="0">
              <a:tabLst>
                <a:tab pos="228600" algn="l"/>
              </a:tabLst>
              <a:defRPr>
                <a:solidFill>
                  <a:schemeClr val="tx1"/>
                </a:solidFill>
                <a:latin typeface="Arial" panose="020B0604020202020204" pitchFamily="34" charset="0"/>
              </a:defRPr>
            </a:lvl3pPr>
            <a:lvl4pPr eaLnBrk="0" hangingPunct="0">
              <a:tabLst>
                <a:tab pos="228600" algn="l"/>
              </a:tabLst>
              <a:defRPr>
                <a:solidFill>
                  <a:schemeClr val="tx1"/>
                </a:solidFill>
                <a:latin typeface="Arial" panose="020B0604020202020204" pitchFamily="34" charset="0"/>
              </a:defRPr>
            </a:lvl4pPr>
            <a:lvl5pPr eaLnBrk="0" hangingPunct="0">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r>
              <a:rPr kumimoji="0" lang="en-US" altLang="zh-CN"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r>
              <a:rPr lang="zh-CN" altLang="zh-CN" sz="2000" b="1" dirty="0">
                <a:solidFill>
                  <a:srgbClr val="FF0000"/>
                </a:solidFill>
                <a:effectLst/>
                <a:latin typeface="宋体" panose="02010600030101010101" pitchFamily="2" charset="-122"/>
                <a:ea typeface="黑体" panose="02010609060101010101" pitchFamily="49" charset="-122"/>
                <a:cs typeface="Times New Roman" panose="02020603050405020304" pitchFamily="18" charset="0"/>
              </a:rPr>
              <a:t>功率因数</a:t>
            </a:r>
            <a:endParaRPr lang="zh-CN" alt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4" name="对象 3">
            <a:extLst>
              <a:ext uri="{FF2B5EF4-FFF2-40B4-BE49-F238E27FC236}">
                <a16:creationId xmlns:a16="http://schemas.microsoft.com/office/drawing/2014/main" id="{0C4B49F6-0D94-E860-A45D-1782B9081240}"/>
              </a:ext>
            </a:extLst>
          </p:cNvPr>
          <p:cNvGraphicFramePr>
            <a:graphicFrameLocks noChangeAspect="1"/>
          </p:cNvGraphicFramePr>
          <p:nvPr>
            <p:extLst>
              <p:ext uri="{D42A27DB-BD31-4B8C-83A1-F6EECF244321}">
                <p14:modId xmlns:p14="http://schemas.microsoft.com/office/powerpoint/2010/main" val="1080441467"/>
              </p:ext>
            </p:extLst>
          </p:nvPr>
        </p:nvGraphicFramePr>
        <p:xfrm>
          <a:off x="2555776" y="1215832"/>
          <a:ext cx="3323985" cy="400110"/>
        </p:xfrm>
        <a:graphic>
          <a:graphicData uri="http://schemas.openxmlformats.org/presentationml/2006/ole">
            <mc:AlternateContent xmlns:mc="http://schemas.openxmlformats.org/markup-compatibility/2006">
              <mc:Choice xmlns:v="urn:schemas-microsoft-com:vml" Requires="v">
                <p:oleObj name="Equation" r:id="rId2" imgW="1815312" imgH="215806" progId="Equation.DSMT4">
                  <p:embed/>
                </p:oleObj>
              </mc:Choice>
              <mc:Fallback>
                <p:oleObj name="Equation" r:id="rId2" imgW="1815312" imgH="215806"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1215832"/>
                        <a:ext cx="3323985" cy="400110"/>
                      </a:xfrm>
                      <a:prstGeom prst="rect">
                        <a:avLst/>
                      </a:prstGeom>
                      <a:noFill/>
                    </p:spPr>
                  </p:pic>
                </p:oleObj>
              </mc:Fallback>
            </mc:AlternateContent>
          </a:graphicData>
        </a:graphic>
      </p:graphicFrame>
      <p:sp>
        <p:nvSpPr>
          <p:cNvPr id="7" name="Rectangle 3">
            <a:extLst>
              <a:ext uri="{FF2B5EF4-FFF2-40B4-BE49-F238E27FC236}">
                <a16:creationId xmlns:a16="http://schemas.microsoft.com/office/drawing/2014/main" id="{B6F77641-8554-499F-1399-016E511DF104}"/>
              </a:ext>
            </a:extLst>
          </p:cNvPr>
          <p:cNvSpPr>
            <a:spLocks noChangeArrowheads="1"/>
          </p:cNvSpPr>
          <p:nvPr/>
        </p:nvSpPr>
        <p:spPr bwMode="auto">
          <a:xfrm>
            <a:off x="683568" y="1700808"/>
            <a:ext cx="468052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228600" algn="l"/>
              </a:tabLst>
              <a:defRPr>
                <a:solidFill>
                  <a:schemeClr val="tx1"/>
                </a:solidFill>
                <a:latin typeface="Arial" panose="020B0604020202020204" pitchFamily="34" charset="0"/>
              </a:defRPr>
            </a:lvl1pPr>
            <a:lvl2pPr eaLnBrk="0" hangingPunct="0">
              <a:tabLst>
                <a:tab pos="228600" algn="l"/>
              </a:tabLst>
              <a:defRPr>
                <a:solidFill>
                  <a:schemeClr val="tx1"/>
                </a:solidFill>
                <a:latin typeface="Arial" panose="020B0604020202020204" pitchFamily="34" charset="0"/>
              </a:defRPr>
            </a:lvl2pPr>
            <a:lvl3pPr eaLnBrk="0" hangingPunct="0">
              <a:tabLst>
                <a:tab pos="228600" algn="l"/>
              </a:tabLst>
              <a:defRPr>
                <a:solidFill>
                  <a:schemeClr val="tx1"/>
                </a:solidFill>
                <a:latin typeface="Arial" panose="020B0604020202020204" pitchFamily="34" charset="0"/>
              </a:defRPr>
            </a:lvl3pPr>
            <a:lvl4pPr eaLnBrk="0" hangingPunct="0">
              <a:tabLst>
                <a:tab pos="228600" algn="l"/>
              </a:tabLst>
              <a:defRPr>
                <a:solidFill>
                  <a:schemeClr val="tx1"/>
                </a:solidFill>
                <a:latin typeface="Arial" panose="020B0604020202020204" pitchFamily="34" charset="0"/>
              </a:defRPr>
            </a:lvl4pPr>
            <a:lvl5pPr eaLnBrk="0" hangingPunct="0">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r>
              <a:rPr lang="en-US" altLang="zh-CN"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4</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lang="zh-CN" altLang="zh-CN" sz="2000" b="1" dirty="0">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机械功率和输出功率</a:t>
            </a:r>
            <a:endParaRPr lang="zh-CN" altLang="zh-CN" sz="2000" b="1" dirty="0">
              <a:solidFill>
                <a:srgbClr val="0000FF"/>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10" name="对象 9">
            <a:extLst>
              <a:ext uri="{FF2B5EF4-FFF2-40B4-BE49-F238E27FC236}">
                <a16:creationId xmlns:a16="http://schemas.microsoft.com/office/drawing/2014/main" id="{AB8A69ED-FF81-EA6A-ED5D-BF6944973A9C}"/>
              </a:ext>
            </a:extLst>
          </p:cNvPr>
          <p:cNvGraphicFramePr>
            <a:graphicFrameLocks noChangeAspect="1"/>
          </p:cNvGraphicFramePr>
          <p:nvPr>
            <p:extLst>
              <p:ext uri="{D42A27DB-BD31-4B8C-83A1-F6EECF244321}">
                <p14:modId xmlns:p14="http://schemas.microsoft.com/office/powerpoint/2010/main" val="1028434055"/>
              </p:ext>
            </p:extLst>
          </p:nvPr>
        </p:nvGraphicFramePr>
        <p:xfrm>
          <a:off x="1083837" y="2234255"/>
          <a:ext cx="5976664" cy="484906"/>
        </p:xfrm>
        <a:graphic>
          <a:graphicData uri="http://schemas.openxmlformats.org/presentationml/2006/ole">
            <mc:AlternateContent xmlns:mc="http://schemas.openxmlformats.org/markup-compatibility/2006">
              <mc:Choice xmlns:v="urn:schemas-microsoft-com:vml" Requires="v">
                <p:oleObj name="Equation" r:id="rId4" imgW="3175000" imgH="254000" progId="Equation.DSMT4">
                  <p:embed/>
                </p:oleObj>
              </mc:Choice>
              <mc:Fallback>
                <p:oleObj name="Equation" r:id="rId4" imgW="3175000" imgH="2540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3837" y="2234255"/>
                        <a:ext cx="5976664" cy="484906"/>
                      </a:xfrm>
                      <a:prstGeom prst="rect">
                        <a:avLst/>
                      </a:prstGeom>
                      <a:noFill/>
                    </p:spPr>
                  </p:pic>
                </p:oleObj>
              </mc:Fallback>
            </mc:AlternateContent>
          </a:graphicData>
        </a:graphic>
      </p:graphicFrame>
      <p:graphicFrame>
        <p:nvGraphicFramePr>
          <p:cNvPr id="14" name="对象 13">
            <a:extLst>
              <a:ext uri="{FF2B5EF4-FFF2-40B4-BE49-F238E27FC236}">
                <a16:creationId xmlns:a16="http://schemas.microsoft.com/office/drawing/2014/main" id="{B4DAD822-E712-681E-A630-36F1F078485F}"/>
              </a:ext>
            </a:extLst>
          </p:cNvPr>
          <p:cNvGraphicFramePr>
            <a:graphicFrameLocks noChangeAspect="1"/>
          </p:cNvGraphicFramePr>
          <p:nvPr>
            <p:extLst>
              <p:ext uri="{D42A27DB-BD31-4B8C-83A1-F6EECF244321}">
                <p14:modId xmlns:p14="http://schemas.microsoft.com/office/powerpoint/2010/main" val="2140997715"/>
              </p:ext>
            </p:extLst>
          </p:nvPr>
        </p:nvGraphicFramePr>
        <p:xfrm>
          <a:off x="1019222" y="2798905"/>
          <a:ext cx="4860539" cy="467522"/>
        </p:xfrm>
        <a:graphic>
          <a:graphicData uri="http://schemas.openxmlformats.org/presentationml/2006/ole">
            <mc:AlternateContent xmlns:mc="http://schemas.openxmlformats.org/markup-compatibility/2006">
              <mc:Choice xmlns:v="urn:schemas-microsoft-com:vml" Requires="v">
                <p:oleObj name="Equation" r:id="rId6" imgW="2476500" imgH="241300" progId="Equation.DSMT4">
                  <p:embed/>
                </p:oleObj>
              </mc:Choice>
              <mc:Fallback>
                <p:oleObj name="Equation" r:id="rId6" imgW="2476500" imgH="2413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9222" y="2798905"/>
                        <a:ext cx="4860539" cy="467522"/>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0E34D468-2679-2C71-E296-84730F2AC5A6}"/>
              </a:ext>
            </a:extLst>
          </p:cNvPr>
          <p:cNvGraphicFramePr>
            <a:graphicFrameLocks noChangeAspect="1"/>
          </p:cNvGraphicFramePr>
          <p:nvPr>
            <p:extLst>
              <p:ext uri="{D42A27DB-BD31-4B8C-83A1-F6EECF244321}">
                <p14:modId xmlns:p14="http://schemas.microsoft.com/office/powerpoint/2010/main" val="441124629"/>
              </p:ext>
            </p:extLst>
          </p:nvPr>
        </p:nvGraphicFramePr>
        <p:xfrm>
          <a:off x="5911903" y="2784412"/>
          <a:ext cx="2980577" cy="446720"/>
        </p:xfrm>
        <a:graphic>
          <a:graphicData uri="http://schemas.openxmlformats.org/presentationml/2006/ole">
            <mc:AlternateContent xmlns:mc="http://schemas.openxmlformats.org/markup-compatibility/2006">
              <mc:Choice xmlns:v="urn:schemas-microsoft-com:vml" Requires="v">
                <p:oleObj name="Equation" r:id="rId8" imgW="1524000" imgH="228600" progId="Equation.DSMT4">
                  <p:embed/>
                </p:oleObj>
              </mc:Choice>
              <mc:Fallback>
                <p:oleObj name="Equation" r:id="rId8" imgW="1524000" imgH="2286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11903" y="2784412"/>
                        <a:ext cx="2980577" cy="446720"/>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E70F386C-A80D-6F2C-D4F2-2C892A619DCB}"/>
              </a:ext>
            </a:extLst>
          </p:cNvPr>
          <p:cNvGraphicFramePr>
            <a:graphicFrameLocks noChangeAspect="1"/>
          </p:cNvGraphicFramePr>
          <p:nvPr>
            <p:extLst>
              <p:ext uri="{D42A27DB-BD31-4B8C-83A1-F6EECF244321}">
                <p14:modId xmlns:p14="http://schemas.microsoft.com/office/powerpoint/2010/main" val="2039880605"/>
              </p:ext>
            </p:extLst>
          </p:nvPr>
        </p:nvGraphicFramePr>
        <p:xfrm>
          <a:off x="1054316" y="3480868"/>
          <a:ext cx="3088672" cy="452188"/>
        </p:xfrm>
        <a:graphic>
          <a:graphicData uri="http://schemas.openxmlformats.org/presentationml/2006/ole">
            <mc:AlternateContent xmlns:mc="http://schemas.openxmlformats.org/markup-compatibility/2006">
              <mc:Choice xmlns:v="urn:schemas-microsoft-com:vml" Requires="v">
                <p:oleObj name="Equation" r:id="rId10" imgW="1574640" imgH="228600" progId="Equation.DSMT4">
                  <p:embed/>
                </p:oleObj>
              </mc:Choice>
              <mc:Fallback>
                <p:oleObj name="Equation" r:id="rId10" imgW="1574640" imgH="228600" progId="Equation.DSMT4">
                  <p:embed/>
                  <p:pic>
                    <p:nvPicPr>
                      <p:cNvPr id="0" name="Object 9"/>
                      <p:cNvPicPr>
                        <a:picLocks noChangeAspect="1" noChangeArrowheads="1"/>
                      </p:cNvPicPr>
                      <p:nvPr/>
                    </p:nvPicPr>
                    <p:blipFill>
                      <a:blip r:embed="rId11"/>
                      <a:srcRect/>
                      <a:stretch>
                        <a:fillRect/>
                      </a:stretch>
                    </p:blipFill>
                    <p:spPr bwMode="auto">
                      <a:xfrm>
                        <a:off x="1054316" y="3480868"/>
                        <a:ext cx="3088672" cy="452188"/>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F4054BDD-918D-B3C2-133B-9263D9A8B8A1}"/>
              </a:ext>
            </a:extLst>
          </p:cNvPr>
          <p:cNvGraphicFramePr>
            <a:graphicFrameLocks noChangeAspect="1"/>
          </p:cNvGraphicFramePr>
          <p:nvPr>
            <p:extLst>
              <p:ext uri="{D42A27DB-BD31-4B8C-83A1-F6EECF244321}">
                <p14:modId xmlns:p14="http://schemas.microsoft.com/office/powerpoint/2010/main" val="2569520785"/>
              </p:ext>
            </p:extLst>
          </p:nvPr>
        </p:nvGraphicFramePr>
        <p:xfrm>
          <a:off x="4222668" y="3449507"/>
          <a:ext cx="2728226" cy="438199"/>
        </p:xfrm>
        <a:graphic>
          <a:graphicData uri="http://schemas.openxmlformats.org/presentationml/2006/ole">
            <mc:AlternateContent xmlns:mc="http://schemas.openxmlformats.org/markup-compatibility/2006">
              <mc:Choice xmlns:v="urn:schemas-microsoft-com:vml" Requires="v">
                <p:oleObj name="Equation" r:id="rId12" imgW="1434960" imgH="228600" progId="Equation.DSMT4">
                  <p:embed/>
                </p:oleObj>
              </mc:Choice>
              <mc:Fallback>
                <p:oleObj name="Equation" r:id="rId12" imgW="1434960" imgH="228600" progId="Equation.DSMT4">
                  <p:embed/>
                  <p:pic>
                    <p:nvPicPr>
                      <p:cNvPr id="19" name="对象 18">
                        <a:extLst>
                          <a:ext uri="{FF2B5EF4-FFF2-40B4-BE49-F238E27FC236}">
                            <a16:creationId xmlns:a16="http://schemas.microsoft.com/office/drawing/2014/main" id="{E70F386C-A80D-6F2C-D4F2-2C892A619DCB}"/>
                          </a:ext>
                        </a:extLst>
                      </p:cNvPr>
                      <p:cNvPicPr>
                        <a:picLocks noChangeAspect="1" noChangeArrowheads="1"/>
                      </p:cNvPicPr>
                      <p:nvPr/>
                    </p:nvPicPr>
                    <p:blipFill>
                      <a:blip r:embed="rId13"/>
                      <a:srcRect/>
                      <a:stretch>
                        <a:fillRect/>
                      </a:stretch>
                    </p:blipFill>
                    <p:spPr bwMode="auto">
                      <a:xfrm>
                        <a:off x="4222668" y="3449507"/>
                        <a:ext cx="2728226" cy="438199"/>
                      </a:xfrm>
                      <a:prstGeom prst="rect">
                        <a:avLst/>
                      </a:prstGeom>
                      <a:noFill/>
                    </p:spPr>
                  </p:pic>
                </p:oleObj>
              </mc:Fallback>
            </mc:AlternateContent>
          </a:graphicData>
        </a:graphic>
      </p:graphicFrame>
      <p:sp>
        <p:nvSpPr>
          <p:cNvPr id="23" name="Rectangle 3">
            <a:extLst>
              <a:ext uri="{FF2B5EF4-FFF2-40B4-BE49-F238E27FC236}">
                <a16:creationId xmlns:a16="http://schemas.microsoft.com/office/drawing/2014/main" id="{8C10FFCF-0528-D909-5CA4-CB458084FEAE}"/>
              </a:ext>
            </a:extLst>
          </p:cNvPr>
          <p:cNvSpPr>
            <a:spLocks noChangeArrowheads="1"/>
          </p:cNvSpPr>
          <p:nvPr/>
        </p:nvSpPr>
        <p:spPr bwMode="auto">
          <a:xfrm>
            <a:off x="707070" y="4005064"/>
            <a:ext cx="66012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228600" algn="l"/>
              </a:tabLst>
              <a:defRPr>
                <a:solidFill>
                  <a:schemeClr val="tx1"/>
                </a:solidFill>
                <a:latin typeface="Arial" panose="020B0604020202020204" pitchFamily="34" charset="0"/>
              </a:defRPr>
            </a:lvl1pPr>
            <a:lvl2pPr eaLnBrk="0" hangingPunct="0">
              <a:tabLst>
                <a:tab pos="228600" algn="l"/>
              </a:tabLst>
              <a:defRPr>
                <a:solidFill>
                  <a:schemeClr val="tx1"/>
                </a:solidFill>
                <a:latin typeface="Arial" panose="020B0604020202020204" pitchFamily="34" charset="0"/>
              </a:defRPr>
            </a:lvl2pPr>
            <a:lvl3pPr eaLnBrk="0" hangingPunct="0">
              <a:tabLst>
                <a:tab pos="228600" algn="l"/>
              </a:tabLst>
              <a:defRPr>
                <a:solidFill>
                  <a:schemeClr val="tx1"/>
                </a:solidFill>
                <a:latin typeface="Arial" panose="020B0604020202020204" pitchFamily="34" charset="0"/>
              </a:defRPr>
            </a:lvl3pPr>
            <a:lvl4pPr eaLnBrk="0" hangingPunct="0">
              <a:tabLst>
                <a:tab pos="228600" algn="l"/>
              </a:tabLst>
              <a:defRPr>
                <a:solidFill>
                  <a:schemeClr val="tx1"/>
                </a:solidFill>
                <a:latin typeface="Arial" panose="020B0604020202020204" pitchFamily="34" charset="0"/>
              </a:defRPr>
            </a:lvl4pPr>
            <a:lvl5pPr eaLnBrk="0" hangingPunct="0">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r>
              <a:rPr lang="en-US" altLang="zh-CN"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5</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lang="zh-CN" altLang="zh-CN" sz="2000" b="1" dirty="0">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电磁转矩和输出转矩</a:t>
            </a:r>
            <a:endParaRPr lang="zh-CN" altLang="zh-CN" sz="18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25" name="对象 24">
            <a:extLst>
              <a:ext uri="{FF2B5EF4-FFF2-40B4-BE49-F238E27FC236}">
                <a16:creationId xmlns:a16="http://schemas.microsoft.com/office/drawing/2014/main" id="{923BDFFB-A44B-09DD-62DE-555E725430EF}"/>
              </a:ext>
            </a:extLst>
          </p:cNvPr>
          <p:cNvGraphicFramePr>
            <a:graphicFrameLocks noChangeAspect="1"/>
          </p:cNvGraphicFramePr>
          <p:nvPr>
            <p:extLst>
              <p:ext uri="{D42A27DB-BD31-4B8C-83A1-F6EECF244321}">
                <p14:modId xmlns:p14="http://schemas.microsoft.com/office/powerpoint/2010/main" val="4141040222"/>
              </p:ext>
            </p:extLst>
          </p:nvPr>
        </p:nvGraphicFramePr>
        <p:xfrm>
          <a:off x="1104616" y="4386261"/>
          <a:ext cx="2765397" cy="863613"/>
        </p:xfrm>
        <a:graphic>
          <a:graphicData uri="http://schemas.openxmlformats.org/presentationml/2006/ole">
            <mc:AlternateContent xmlns:mc="http://schemas.openxmlformats.org/markup-compatibility/2006">
              <mc:Choice xmlns:v="urn:schemas-microsoft-com:vml" Requires="v">
                <p:oleObj name="Equation" r:id="rId14" imgW="1371600" imgH="431640" progId="Equation.DSMT4">
                  <p:embed/>
                </p:oleObj>
              </mc:Choice>
              <mc:Fallback>
                <p:oleObj name="Equation" r:id="rId14" imgW="1371600" imgH="431640" progId="Equation.DSMT4">
                  <p:embed/>
                  <p:pic>
                    <p:nvPicPr>
                      <p:cNvPr id="0" name="Object 12"/>
                      <p:cNvPicPr>
                        <a:picLocks noChangeAspect="1" noChangeArrowheads="1"/>
                      </p:cNvPicPr>
                      <p:nvPr/>
                    </p:nvPicPr>
                    <p:blipFill>
                      <a:blip r:embed="rId15"/>
                      <a:srcRect/>
                      <a:stretch>
                        <a:fillRect/>
                      </a:stretch>
                    </p:blipFill>
                    <p:spPr bwMode="auto">
                      <a:xfrm>
                        <a:off x="1104616" y="4386261"/>
                        <a:ext cx="2765397" cy="863613"/>
                      </a:xfrm>
                      <a:prstGeom prst="rect">
                        <a:avLst/>
                      </a:prstGeom>
                      <a:noFill/>
                    </p:spPr>
                  </p:pic>
                </p:oleObj>
              </mc:Fallback>
            </mc:AlternateContent>
          </a:graphicData>
        </a:graphic>
      </p:graphicFrame>
      <p:graphicFrame>
        <p:nvGraphicFramePr>
          <p:cNvPr id="26" name="对象 25">
            <a:extLst>
              <a:ext uri="{FF2B5EF4-FFF2-40B4-BE49-F238E27FC236}">
                <a16:creationId xmlns:a16="http://schemas.microsoft.com/office/drawing/2014/main" id="{0944FF65-BDA8-1E15-ADFE-612E4F9F2594}"/>
              </a:ext>
            </a:extLst>
          </p:cNvPr>
          <p:cNvGraphicFramePr>
            <a:graphicFrameLocks noChangeAspect="1"/>
          </p:cNvGraphicFramePr>
          <p:nvPr>
            <p:extLst>
              <p:ext uri="{D42A27DB-BD31-4B8C-83A1-F6EECF244321}">
                <p14:modId xmlns:p14="http://schemas.microsoft.com/office/powerpoint/2010/main" val="3250129686"/>
              </p:ext>
            </p:extLst>
          </p:nvPr>
        </p:nvGraphicFramePr>
        <p:xfrm>
          <a:off x="4163540" y="4386261"/>
          <a:ext cx="2415145" cy="775232"/>
        </p:xfrm>
        <a:graphic>
          <a:graphicData uri="http://schemas.openxmlformats.org/presentationml/2006/ole">
            <mc:AlternateContent xmlns:mc="http://schemas.openxmlformats.org/markup-compatibility/2006">
              <mc:Choice xmlns:v="urn:schemas-microsoft-com:vml" Requires="v">
                <p:oleObj name="Equation" r:id="rId16" imgW="1218671" imgH="393529" progId="Equation.DSMT4">
                  <p:embed/>
                </p:oleObj>
              </mc:Choice>
              <mc:Fallback>
                <p:oleObj name="Equation" r:id="rId16" imgW="1218671" imgH="393529" progId="Equation.DSMT4">
                  <p:embed/>
                  <p:pic>
                    <p:nvPicPr>
                      <p:cNvPr id="0"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63540" y="4386261"/>
                        <a:ext cx="2415145" cy="775232"/>
                      </a:xfrm>
                      <a:prstGeom prst="rect">
                        <a:avLst/>
                      </a:prstGeom>
                      <a:noFill/>
                    </p:spPr>
                  </p:pic>
                </p:oleObj>
              </mc:Fallback>
            </mc:AlternateContent>
          </a:graphicData>
        </a:graphic>
      </p:graphicFrame>
      <p:sp>
        <p:nvSpPr>
          <p:cNvPr id="32" name="Rectangle 3">
            <a:extLst>
              <a:ext uri="{FF2B5EF4-FFF2-40B4-BE49-F238E27FC236}">
                <a16:creationId xmlns:a16="http://schemas.microsoft.com/office/drawing/2014/main" id="{E59D310A-06CE-302B-7E4F-718909A25DF3}"/>
              </a:ext>
            </a:extLst>
          </p:cNvPr>
          <p:cNvSpPr>
            <a:spLocks noChangeArrowheads="1"/>
          </p:cNvSpPr>
          <p:nvPr/>
        </p:nvSpPr>
        <p:spPr bwMode="auto">
          <a:xfrm>
            <a:off x="698713" y="5155324"/>
            <a:ext cx="13446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228600" algn="l"/>
              </a:tabLst>
              <a:defRPr>
                <a:solidFill>
                  <a:schemeClr val="tx1"/>
                </a:solidFill>
                <a:latin typeface="Arial" panose="020B0604020202020204" pitchFamily="34" charset="0"/>
              </a:defRPr>
            </a:lvl1pPr>
            <a:lvl2pPr eaLnBrk="0" hangingPunct="0">
              <a:tabLst>
                <a:tab pos="228600" algn="l"/>
              </a:tabLst>
              <a:defRPr>
                <a:solidFill>
                  <a:schemeClr val="tx1"/>
                </a:solidFill>
                <a:latin typeface="Arial" panose="020B0604020202020204" pitchFamily="34" charset="0"/>
              </a:defRPr>
            </a:lvl2pPr>
            <a:lvl3pPr eaLnBrk="0" hangingPunct="0">
              <a:tabLst>
                <a:tab pos="228600" algn="l"/>
              </a:tabLst>
              <a:defRPr>
                <a:solidFill>
                  <a:schemeClr val="tx1"/>
                </a:solidFill>
                <a:latin typeface="Arial" panose="020B0604020202020204" pitchFamily="34" charset="0"/>
              </a:defRPr>
            </a:lvl3pPr>
            <a:lvl4pPr eaLnBrk="0" hangingPunct="0">
              <a:tabLst>
                <a:tab pos="228600" algn="l"/>
              </a:tabLst>
              <a:defRPr>
                <a:solidFill>
                  <a:schemeClr val="tx1"/>
                </a:solidFill>
                <a:latin typeface="Arial" panose="020B0604020202020204" pitchFamily="34" charset="0"/>
              </a:defRPr>
            </a:lvl4pPr>
            <a:lvl5pPr eaLnBrk="0" hangingPunct="0">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r>
              <a:rPr lang="en-US" altLang="zh-CN"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6</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lang="zh-CN" altLang="zh-CN" sz="2000" b="1" dirty="0">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效率</a:t>
            </a:r>
            <a:endParaRPr lang="zh-CN" altLang="zh-CN" sz="18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34" name="对象 33">
            <a:extLst>
              <a:ext uri="{FF2B5EF4-FFF2-40B4-BE49-F238E27FC236}">
                <a16:creationId xmlns:a16="http://schemas.microsoft.com/office/drawing/2014/main" id="{2E438506-DA89-130F-FCB5-0BD1B1ECA993}"/>
              </a:ext>
            </a:extLst>
          </p:cNvPr>
          <p:cNvGraphicFramePr>
            <a:graphicFrameLocks noChangeAspect="1"/>
          </p:cNvGraphicFramePr>
          <p:nvPr>
            <p:extLst>
              <p:ext uri="{D42A27DB-BD31-4B8C-83A1-F6EECF244321}">
                <p14:modId xmlns:p14="http://schemas.microsoft.com/office/powerpoint/2010/main" val="3340974309"/>
              </p:ext>
            </p:extLst>
          </p:nvPr>
        </p:nvGraphicFramePr>
        <p:xfrm>
          <a:off x="2043363" y="5045332"/>
          <a:ext cx="2520280" cy="766875"/>
        </p:xfrm>
        <a:graphic>
          <a:graphicData uri="http://schemas.openxmlformats.org/presentationml/2006/ole">
            <mc:AlternateContent xmlns:mc="http://schemas.openxmlformats.org/markup-compatibility/2006">
              <mc:Choice xmlns:v="urn:schemas-microsoft-com:vml" Requires="v">
                <p:oleObj name="Equation" r:id="rId18" imgW="1422400" imgH="431800" progId="Equation.DSMT4">
                  <p:embed/>
                </p:oleObj>
              </mc:Choice>
              <mc:Fallback>
                <p:oleObj name="Equation" r:id="rId18" imgW="1422400" imgH="431800" progId="Equation.DSMT4">
                  <p:embed/>
                  <p:pic>
                    <p:nvPicPr>
                      <p:cNvPr id="0" name="Object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43363" y="5045332"/>
                        <a:ext cx="2520280" cy="766875"/>
                      </a:xfrm>
                      <a:prstGeom prst="rect">
                        <a:avLst/>
                      </a:prstGeom>
                      <a:noFill/>
                    </p:spPr>
                  </p:pic>
                </p:oleObj>
              </mc:Fallback>
            </mc:AlternateContent>
          </a:graphicData>
        </a:graphic>
      </p:graphicFrame>
      <p:sp>
        <p:nvSpPr>
          <p:cNvPr id="3" name="灯片编号占位符 2">
            <a:extLst>
              <a:ext uri="{FF2B5EF4-FFF2-40B4-BE49-F238E27FC236}">
                <a16:creationId xmlns:a16="http://schemas.microsoft.com/office/drawing/2014/main" id="{7DCF2856-F4D7-01D9-78C8-843CE3D5F620}"/>
              </a:ext>
            </a:extLst>
          </p:cNvPr>
          <p:cNvSpPr>
            <a:spLocks noGrp="1"/>
          </p:cNvSpPr>
          <p:nvPr>
            <p:ph type="sldNum" sz="quarter" idx="12"/>
          </p:nvPr>
        </p:nvSpPr>
        <p:spPr/>
        <p:txBody>
          <a:bodyPr/>
          <a:lstStyle/>
          <a:p>
            <a:fld id="{76D830B0-DF59-4281-898F-AF208100B213}" type="slidenum">
              <a:rPr lang="en-US" altLang="zh-CN" smtClean="0"/>
              <a:pPr/>
              <a:t>95</a:t>
            </a:fld>
            <a:endParaRPr lang="en-US" altLang="zh-CN"/>
          </a:p>
        </p:txBody>
      </p:sp>
    </p:spTree>
    <p:extLst>
      <p:ext uri="{BB962C8B-B14F-4D97-AF65-F5344CB8AC3E}">
        <p14:creationId xmlns:p14="http://schemas.microsoft.com/office/powerpoint/2010/main" val="24695090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ED55075-E9BE-3DEE-ADED-399E1424776F}"/>
              </a:ext>
            </a:extLst>
          </p:cNvPr>
          <p:cNvSpPr txBox="1"/>
          <p:nvPr/>
        </p:nvSpPr>
        <p:spPr>
          <a:xfrm>
            <a:off x="467544" y="980728"/>
            <a:ext cx="5616624" cy="461665"/>
          </a:xfrm>
          <a:prstGeom prst="rect">
            <a:avLst/>
          </a:prstGeom>
          <a:noFill/>
        </p:spPr>
        <p:txBody>
          <a:bodyPr wrap="square">
            <a:spAutoFit/>
          </a:bodyPr>
          <a:lstStyle/>
          <a:p>
            <a:pPr algn="l"/>
            <a:r>
              <a:rPr lang="zh-CN" altLang="zh-CN" sz="2400" b="1" dirty="0">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异步电动机机械特性有三种表达式</a:t>
            </a:r>
            <a:endParaRPr lang="zh-CN" altLang="zh-CN" sz="28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5" name="Rectangle 2">
            <a:extLst>
              <a:ext uri="{FF2B5EF4-FFF2-40B4-BE49-F238E27FC236}">
                <a16:creationId xmlns:a16="http://schemas.microsoft.com/office/drawing/2014/main" id="{D6F5D24F-4DEF-E8F1-5B70-82B078F1C9E8}"/>
              </a:ext>
            </a:extLst>
          </p:cNvPr>
          <p:cNvSpPr>
            <a:spLocks noChangeArrowheads="1"/>
          </p:cNvSpPr>
          <p:nvPr/>
        </p:nvSpPr>
        <p:spPr bwMode="auto">
          <a:xfrm>
            <a:off x="467544" y="1631032"/>
            <a:ext cx="244827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一、物理表达式</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8" name="对象 7">
            <a:extLst>
              <a:ext uri="{FF2B5EF4-FFF2-40B4-BE49-F238E27FC236}">
                <a16:creationId xmlns:a16="http://schemas.microsoft.com/office/drawing/2014/main" id="{5AA4CD18-6DB1-4825-6FB7-C87843CC61A8}"/>
              </a:ext>
            </a:extLst>
          </p:cNvPr>
          <p:cNvGraphicFramePr>
            <a:graphicFrameLocks noChangeAspect="1"/>
          </p:cNvGraphicFramePr>
          <p:nvPr>
            <p:extLst>
              <p:ext uri="{D42A27DB-BD31-4B8C-83A1-F6EECF244321}">
                <p14:modId xmlns:p14="http://schemas.microsoft.com/office/powerpoint/2010/main" val="3967359634"/>
              </p:ext>
            </p:extLst>
          </p:nvPr>
        </p:nvGraphicFramePr>
        <p:xfrm>
          <a:off x="2794423" y="2154769"/>
          <a:ext cx="3073721" cy="565282"/>
        </p:xfrm>
        <a:graphic>
          <a:graphicData uri="http://schemas.openxmlformats.org/presentationml/2006/ole">
            <mc:AlternateContent xmlns:mc="http://schemas.openxmlformats.org/markup-compatibility/2006">
              <mc:Choice xmlns:v="urn:schemas-microsoft-com:vml" Requires="v">
                <p:oleObj name="Equation" r:id="rId3" imgW="1244600" imgH="228600" progId="Equation.DSMT4">
                  <p:embed/>
                </p:oleObj>
              </mc:Choice>
              <mc:Fallback>
                <p:oleObj name="Equation" r:id="rId3" imgW="1244600" imgH="228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4423" y="2154769"/>
                        <a:ext cx="3073721" cy="565282"/>
                      </a:xfrm>
                      <a:prstGeom prst="rect">
                        <a:avLst/>
                      </a:prstGeom>
                      <a:solidFill>
                        <a:srgbClr val="00FF00"/>
                      </a:solidFill>
                    </p:spPr>
                  </p:pic>
                </p:oleObj>
              </mc:Fallback>
            </mc:AlternateContent>
          </a:graphicData>
        </a:graphic>
      </p:graphicFrame>
      <p:graphicFrame>
        <p:nvGraphicFramePr>
          <p:cNvPr id="9" name="对象 8">
            <a:extLst>
              <a:ext uri="{FF2B5EF4-FFF2-40B4-BE49-F238E27FC236}">
                <a16:creationId xmlns:a16="http://schemas.microsoft.com/office/drawing/2014/main" id="{51449050-3DEC-541E-470B-413A74D596EB}"/>
              </a:ext>
            </a:extLst>
          </p:cNvPr>
          <p:cNvGraphicFramePr>
            <a:graphicFrameLocks noChangeAspect="1"/>
          </p:cNvGraphicFramePr>
          <p:nvPr>
            <p:extLst>
              <p:ext uri="{D42A27DB-BD31-4B8C-83A1-F6EECF244321}">
                <p14:modId xmlns:p14="http://schemas.microsoft.com/office/powerpoint/2010/main" val="400248045"/>
              </p:ext>
            </p:extLst>
          </p:nvPr>
        </p:nvGraphicFramePr>
        <p:xfrm>
          <a:off x="6775758" y="1975611"/>
          <a:ext cx="2073204" cy="1512168"/>
        </p:xfrm>
        <a:graphic>
          <a:graphicData uri="http://schemas.openxmlformats.org/presentationml/2006/ole">
            <mc:AlternateContent xmlns:mc="http://schemas.openxmlformats.org/markup-compatibility/2006">
              <mc:Choice xmlns:v="urn:schemas-microsoft-com:vml" Requires="v">
                <p:oleObj r:id="rId5" imgW="984240" imgH="717480" progId="">
                  <p:embed/>
                </p:oleObj>
              </mc:Choice>
              <mc:Fallback>
                <p:oleObj r:id="rId5" imgW="984240" imgH="717480" progId="">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75758" y="1975611"/>
                        <a:ext cx="2073204" cy="1512168"/>
                      </a:xfrm>
                      <a:prstGeom prst="rect">
                        <a:avLst/>
                      </a:prstGeom>
                      <a:noFill/>
                      <a:ln>
                        <a:noFill/>
                      </a:ln>
                    </p:spPr>
                  </p:pic>
                </p:oleObj>
              </mc:Fallback>
            </mc:AlternateContent>
          </a:graphicData>
        </a:graphic>
      </p:graphicFrame>
      <p:graphicFrame>
        <p:nvGraphicFramePr>
          <p:cNvPr id="12" name="对象 11">
            <a:extLst>
              <a:ext uri="{FF2B5EF4-FFF2-40B4-BE49-F238E27FC236}">
                <a16:creationId xmlns:a16="http://schemas.microsoft.com/office/drawing/2014/main" id="{9D770439-4864-D84D-7029-38790B1C3C7B}"/>
              </a:ext>
            </a:extLst>
          </p:cNvPr>
          <p:cNvGraphicFramePr>
            <a:graphicFrameLocks noChangeAspect="1"/>
          </p:cNvGraphicFramePr>
          <p:nvPr>
            <p:extLst>
              <p:ext uri="{D42A27DB-BD31-4B8C-83A1-F6EECF244321}">
                <p14:modId xmlns:p14="http://schemas.microsoft.com/office/powerpoint/2010/main" val="3684420002"/>
              </p:ext>
            </p:extLst>
          </p:nvPr>
        </p:nvGraphicFramePr>
        <p:xfrm>
          <a:off x="1763688" y="2888327"/>
          <a:ext cx="4248472" cy="1456491"/>
        </p:xfrm>
        <a:graphic>
          <a:graphicData uri="http://schemas.openxmlformats.org/presentationml/2006/ole">
            <mc:AlternateContent xmlns:mc="http://schemas.openxmlformats.org/markup-compatibility/2006">
              <mc:Choice xmlns:v="urn:schemas-microsoft-com:vml" Requires="v">
                <p:oleObj name="Equation" r:id="rId7" imgW="2235200" imgH="762000" progId="Equation.DSMT4">
                  <p:embed/>
                </p:oleObj>
              </mc:Choice>
              <mc:Fallback>
                <p:oleObj name="Equation" r:id="rId7" imgW="2235200" imgH="7620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3688" y="2888327"/>
                        <a:ext cx="4248472" cy="1456491"/>
                      </a:xfrm>
                      <a:prstGeom prst="rect">
                        <a:avLst/>
                      </a:prstGeom>
                      <a:noFill/>
                    </p:spPr>
                  </p:pic>
                </p:oleObj>
              </mc:Fallback>
            </mc:AlternateContent>
          </a:graphicData>
        </a:graphic>
      </p:graphicFrame>
      <p:graphicFrame>
        <p:nvGraphicFramePr>
          <p:cNvPr id="15" name="对象 14">
            <a:extLst>
              <a:ext uri="{FF2B5EF4-FFF2-40B4-BE49-F238E27FC236}">
                <a16:creationId xmlns:a16="http://schemas.microsoft.com/office/drawing/2014/main" id="{FD1B4C20-227D-23A2-968B-3C2CAB5ECC95}"/>
              </a:ext>
            </a:extLst>
          </p:cNvPr>
          <p:cNvGraphicFramePr>
            <a:graphicFrameLocks noChangeAspect="1"/>
          </p:cNvGraphicFramePr>
          <p:nvPr>
            <p:extLst>
              <p:ext uri="{D42A27DB-BD31-4B8C-83A1-F6EECF244321}">
                <p14:modId xmlns:p14="http://schemas.microsoft.com/office/powerpoint/2010/main" val="2676984871"/>
              </p:ext>
            </p:extLst>
          </p:nvPr>
        </p:nvGraphicFramePr>
        <p:xfrm>
          <a:off x="1619672" y="4077072"/>
          <a:ext cx="6624736" cy="1851634"/>
        </p:xfrm>
        <a:graphic>
          <a:graphicData uri="http://schemas.openxmlformats.org/presentationml/2006/ole">
            <mc:AlternateContent xmlns:mc="http://schemas.openxmlformats.org/markup-compatibility/2006">
              <mc:Choice xmlns:v="urn:schemas-microsoft-com:vml" Requires="v">
                <p:oleObj name="Equation" r:id="rId9" imgW="3365500" imgH="939800" progId="Equation.DSMT4">
                  <p:embed/>
                </p:oleObj>
              </mc:Choice>
              <mc:Fallback>
                <p:oleObj name="Equation" r:id="rId9" imgW="3365500" imgH="9398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9672" y="4077072"/>
                        <a:ext cx="6624736" cy="1851634"/>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204AB37B-4EF4-CB04-3A6E-36A1A15814DF}"/>
              </a:ext>
            </a:extLst>
          </p:cNvPr>
          <p:cNvGraphicFramePr>
            <a:graphicFrameLocks noChangeAspect="1"/>
          </p:cNvGraphicFramePr>
          <p:nvPr>
            <p:extLst>
              <p:ext uri="{D42A27DB-BD31-4B8C-83A1-F6EECF244321}">
                <p14:modId xmlns:p14="http://schemas.microsoft.com/office/powerpoint/2010/main" val="2539267399"/>
              </p:ext>
            </p:extLst>
          </p:nvPr>
        </p:nvGraphicFramePr>
        <p:xfrm>
          <a:off x="1763688" y="6077778"/>
          <a:ext cx="1780923" cy="511760"/>
        </p:xfrm>
        <a:graphic>
          <a:graphicData uri="http://schemas.openxmlformats.org/presentationml/2006/ole">
            <mc:AlternateContent xmlns:mc="http://schemas.openxmlformats.org/markup-compatibility/2006">
              <mc:Choice xmlns:v="urn:schemas-microsoft-com:vml" Requires="v">
                <p:oleObj name="Equation" r:id="rId11" imgW="800100" imgH="228600" progId="Equation.DSMT4">
                  <p:embed/>
                </p:oleObj>
              </mc:Choice>
              <mc:Fallback>
                <p:oleObj name="Equation" r:id="rId11" imgW="800100" imgH="2286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63688" y="6077778"/>
                        <a:ext cx="1780923" cy="511760"/>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FA68A36B-FF47-79A8-B6D6-548EACD979AB}"/>
              </a:ext>
            </a:extLst>
          </p:cNvPr>
          <p:cNvSpPr>
            <a:spLocks noGrp="1"/>
          </p:cNvSpPr>
          <p:nvPr>
            <p:ph type="sldNum" sz="quarter" idx="12"/>
          </p:nvPr>
        </p:nvSpPr>
        <p:spPr/>
        <p:txBody>
          <a:bodyPr/>
          <a:lstStyle/>
          <a:p>
            <a:fld id="{76D830B0-DF59-4281-898F-AF208100B213}" type="slidenum">
              <a:rPr lang="en-US" altLang="zh-CN" smtClean="0"/>
              <a:pPr/>
              <a:t>96</a:t>
            </a:fld>
            <a:endParaRPr lang="en-US" altLang="zh-CN"/>
          </a:p>
        </p:txBody>
      </p:sp>
    </p:spTree>
    <p:extLst>
      <p:ext uri="{BB962C8B-B14F-4D97-AF65-F5344CB8AC3E}">
        <p14:creationId xmlns:p14="http://schemas.microsoft.com/office/powerpoint/2010/main" val="52523019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15">
            <a:extLst>
              <a:ext uri="{FF2B5EF4-FFF2-40B4-BE49-F238E27FC236}">
                <a16:creationId xmlns:a16="http://schemas.microsoft.com/office/drawing/2014/main" id="{899C7A5D-23C8-3077-ACBD-5951338DD961}"/>
              </a:ext>
            </a:extLst>
          </p:cNvPr>
          <p:cNvSpPr>
            <a:spLocks noChangeArrowheads="1"/>
          </p:cNvSpPr>
          <p:nvPr/>
        </p:nvSpPr>
        <p:spPr bwMode="auto">
          <a:xfrm rot="10800000" flipV="1">
            <a:off x="4212704" y="1584738"/>
            <a:ext cx="475178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n</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下降，转子电势随</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s</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正比增长；开始时</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s</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较小，与电阻相比，   </a:t>
            </a: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可忽略，电流随</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s</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正比增长；随着</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n</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继续减小、</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s</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增大， 变大。从不可忽略到渐成为分母主要部分，电流增长逐渐减缓。	</a:t>
            </a:r>
          </a:p>
        </p:txBody>
      </p:sp>
      <p:graphicFrame>
        <p:nvGraphicFramePr>
          <p:cNvPr id="2" name="对象 1">
            <a:extLst>
              <a:ext uri="{FF2B5EF4-FFF2-40B4-BE49-F238E27FC236}">
                <a16:creationId xmlns:a16="http://schemas.microsoft.com/office/drawing/2014/main" id="{12A16970-4D6A-2669-B63A-FB34D92D840A}"/>
              </a:ext>
            </a:extLst>
          </p:cNvPr>
          <p:cNvGraphicFramePr>
            <a:graphicFrameLocks noChangeAspect="1"/>
          </p:cNvGraphicFramePr>
          <p:nvPr>
            <p:extLst>
              <p:ext uri="{D42A27DB-BD31-4B8C-83A1-F6EECF244321}">
                <p14:modId xmlns:p14="http://schemas.microsoft.com/office/powerpoint/2010/main" val="3167315956"/>
              </p:ext>
            </p:extLst>
          </p:nvPr>
        </p:nvGraphicFramePr>
        <p:xfrm>
          <a:off x="618316" y="1204932"/>
          <a:ext cx="3313112" cy="3130550"/>
        </p:xfrm>
        <a:graphic>
          <a:graphicData uri="http://schemas.openxmlformats.org/presentationml/2006/ole">
            <mc:AlternateContent xmlns:mc="http://schemas.openxmlformats.org/markup-compatibility/2006">
              <mc:Choice xmlns:v="urn:schemas-microsoft-com:vml" Requires="v">
                <p:oleObj r:id="rId3" imgW="1554120" imgH="1467000" progId="">
                  <p:embed/>
                </p:oleObj>
              </mc:Choice>
              <mc:Fallback>
                <p:oleObj r:id="rId3" imgW="1554120" imgH="1467000" progId="">
                  <p:embed/>
                  <p:pic>
                    <p:nvPicPr>
                      <p:cNvPr id="2" name="对象 1">
                        <a:extLst>
                          <a:ext uri="{FF2B5EF4-FFF2-40B4-BE49-F238E27FC236}">
                            <a16:creationId xmlns:a16="http://schemas.microsoft.com/office/drawing/2014/main" id="{12A16970-4D6A-2669-B63A-FB34D92D84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316" y="1204932"/>
                        <a:ext cx="3313112" cy="3130550"/>
                      </a:xfrm>
                      <a:prstGeom prst="rect">
                        <a:avLst/>
                      </a:prstGeom>
                      <a:noFill/>
                      <a:ln>
                        <a:noFill/>
                      </a:ln>
                    </p:spPr>
                  </p:pic>
                </p:oleObj>
              </mc:Fallback>
            </mc:AlternateContent>
          </a:graphicData>
        </a:graphic>
      </p:graphicFrame>
      <p:graphicFrame>
        <p:nvGraphicFramePr>
          <p:cNvPr id="11" name="对象 10">
            <a:extLst>
              <a:ext uri="{FF2B5EF4-FFF2-40B4-BE49-F238E27FC236}">
                <a16:creationId xmlns:a16="http://schemas.microsoft.com/office/drawing/2014/main" id="{4FB8E4DB-ADED-67FA-6586-9043DE93CE81}"/>
              </a:ext>
            </a:extLst>
          </p:cNvPr>
          <p:cNvGraphicFramePr>
            <a:graphicFrameLocks noChangeAspect="1"/>
          </p:cNvGraphicFramePr>
          <p:nvPr>
            <p:extLst>
              <p:ext uri="{D42A27DB-BD31-4B8C-83A1-F6EECF244321}">
                <p14:modId xmlns:p14="http://schemas.microsoft.com/office/powerpoint/2010/main" val="913361875"/>
              </p:ext>
            </p:extLst>
          </p:nvPr>
        </p:nvGraphicFramePr>
        <p:xfrm>
          <a:off x="4264660" y="1221730"/>
          <a:ext cx="1093788" cy="488950"/>
        </p:xfrm>
        <a:graphic>
          <a:graphicData uri="http://schemas.openxmlformats.org/presentationml/2006/ole">
            <mc:AlternateContent xmlns:mc="http://schemas.openxmlformats.org/markup-compatibility/2006">
              <mc:Choice xmlns:v="urn:schemas-microsoft-com:vml" Requires="v">
                <p:oleObj name="Equation" r:id="rId5" imgW="583920" imgH="266400" progId="Equation.DSMT4">
                  <p:embed/>
                </p:oleObj>
              </mc:Choice>
              <mc:Fallback>
                <p:oleObj name="Equation" r:id="rId5" imgW="583920" imgH="266400" progId="Equation.DSMT4">
                  <p:embed/>
                  <p:pic>
                    <p:nvPicPr>
                      <p:cNvPr id="11" name="对象 10">
                        <a:extLst>
                          <a:ext uri="{FF2B5EF4-FFF2-40B4-BE49-F238E27FC236}">
                            <a16:creationId xmlns:a16="http://schemas.microsoft.com/office/drawing/2014/main" id="{4FB8E4DB-ADED-67FA-6586-9043DE93CE81}"/>
                          </a:ext>
                        </a:extLst>
                      </p:cNvPr>
                      <p:cNvPicPr>
                        <a:picLocks noChangeAspect="1" noChangeArrowheads="1"/>
                      </p:cNvPicPr>
                      <p:nvPr/>
                    </p:nvPicPr>
                    <p:blipFill>
                      <a:blip r:embed="rId6"/>
                      <a:srcRect/>
                      <a:stretch>
                        <a:fillRect/>
                      </a:stretch>
                    </p:blipFill>
                    <p:spPr bwMode="auto">
                      <a:xfrm>
                        <a:off x="4264660" y="1221730"/>
                        <a:ext cx="1093788" cy="488950"/>
                      </a:xfrm>
                      <a:prstGeom prst="rect">
                        <a:avLst/>
                      </a:prstGeom>
                      <a:noFill/>
                    </p:spPr>
                  </p:pic>
                </p:oleObj>
              </mc:Fallback>
            </mc:AlternateContent>
          </a:graphicData>
        </a:graphic>
      </p:graphicFrame>
      <p:graphicFrame>
        <p:nvGraphicFramePr>
          <p:cNvPr id="13" name="对象 12">
            <a:extLst>
              <a:ext uri="{FF2B5EF4-FFF2-40B4-BE49-F238E27FC236}">
                <a16:creationId xmlns:a16="http://schemas.microsoft.com/office/drawing/2014/main" id="{EAAAFD22-17B5-1C5B-8911-65D65DAC3D9A}"/>
              </a:ext>
            </a:extLst>
          </p:cNvPr>
          <p:cNvGraphicFramePr>
            <a:graphicFrameLocks noChangeAspect="1"/>
          </p:cNvGraphicFramePr>
          <p:nvPr>
            <p:extLst>
              <p:ext uri="{D42A27DB-BD31-4B8C-83A1-F6EECF244321}">
                <p14:modId xmlns:p14="http://schemas.microsoft.com/office/powerpoint/2010/main" val="3224922685"/>
              </p:ext>
            </p:extLst>
          </p:nvPr>
        </p:nvGraphicFramePr>
        <p:xfrm>
          <a:off x="5963129" y="1229777"/>
          <a:ext cx="1580134" cy="447207"/>
        </p:xfrm>
        <a:graphic>
          <a:graphicData uri="http://schemas.openxmlformats.org/presentationml/2006/ole">
            <mc:AlternateContent xmlns:mc="http://schemas.openxmlformats.org/markup-compatibility/2006">
              <mc:Choice xmlns:v="urn:schemas-microsoft-com:vml" Requires="v">
                <p:oleObj name="Equation" r:id="rId7" imgW="800100" imgH="228600" progId="Equation.DSMT4">
                  <p:embed/>
                </p:oleObj>
              </mc:Choice>
              <mc:Fallback>
                <p:oleObj name="Equation" r:id="rId7" imgW="800100" imgH="228600" progId="Equation.DSMT4">
                  <p:embed/>
                  <p:pic>
                    <p:nvPicPr>
                      <p:cNvPr id="13" name="对象 12">
                        <a:extLst>
                          <a:ext uri="{FF2B5EF4-FFF2-40B4-BE49-F238E27FC236}">
                            <a16:creationId xmlns:a16="http://schemas.microsoft.com/office/drawing/2014/main" id="{EAAAFD22-17B5-1C5B-8911-65D65DAC3D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63129" y="1229777"/>
                        <a:ext cx="1580134" cy="447207"/>
                      </a:xfrm>
                      <a:prstGeom prst="rect">
                        <a:avLst/>
                      </a:prstGeom>
                      <a:noFill/>
                    </p:spPr>
                  </p:pic>
                </p:oleObj>
              </mc:Fallback>
            </mc:AlternateContent>
          </a:graphicData>
        </a:graphic>
      </p:graphicFrame>
      <p:graphicFrame>
        <p:nvGraphicFramePr>
          <p:cNvPr id="14" name="对象 13">
            <a:extLst>
              <a:ext uri="{FF2B5EF4-FFF2-40B4-BE49-F238E27FC236}">
                <a16:creationId xmlns:a16="http://schemas.microsoft.com/office/drawing/2014/main" id="{DDDEF9A5-D8D3-E287-922E-A7A436620517}"/>
              </a:ext>
            </a:extLst>
          </p:cNvPr>
          <p:cNvGraphicFramePr>
            <a:graphicFrameLocks noChangeAspect="1"/>
          </p:cNvGraphicFramePr>
          <p:nvPr>
            <p:extLst>
              <p:ext uri="{D42A27DB-BD31-4B8C-83A1-F6EECF244321}">
                <p14:modId xmlns:p14="http://schemas.microsoft.com/office/powerpoint/2010/main" val="744404267"/>
              </p:ext>
            </p:extLst>
          </p:nvPr>
        </p:nvGraphicFramePr>
        <p:xfrm>
          <a:off x="7954457" y="1208658"/>
          <a:ext cx="774699" cy="426254"/>
        </p:xfrm>
        <a:graphic>
          <a:graphicData uri="http://schemas.openxmlformats.org/presentationml/2006/ole">
            <mc:AlternateContent xmlns:mc="http://schemas.openxmlformats.org/markup-compatibility/2006">
              <mc:Choice xmlns:v="urn:schemas-microsoft-com:vml" Requires="v">
                <p:oleObj name="Equation" r:id="rId9" imgW="406224" imgH="228501" progId="Equation.DSMT4">
                  <p:embed/>
                </p:oleObj>
              </mc:Choice>
              <mc:Fallback>
                <p:oleObj name="Equation" r:id="rId9" imgW="406224" imgH="228501" progId="Equation.DSMT4">
                  <p:embed/>
                  <p:pic>
                    <p:nvPicPr>
                      <p:cNvPr id="14" name="对象 13">
                        <a:extLst>
                          <a:ext uri="{FF2B5EF4-FFF2-40B4-BE49-F238E27FC236}">
                            <a16:creationId xmlns:a16="http://schemas.microsoft.com/office/drawing/2014/main" id="{DDDEF9A5-D8D3-E287-922E-A7A43662051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54457" y="1208658"/>
                        <a:ext cx="774699" cy="426254"/>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3366659D-5E47-D0C7-39B4-3A90FDACE92F}"/>
              </a:ext>
            </a:extLst>
          </p:cNvPr>
          <p:cNvGraphicFramePr>
            <a:graphicFrameLocks noChangeAspect="1"/>
          </p:cNvGraphicFramePr>
          <p:nvPr>
            <p:extLst>
              <p:ext uri="{D42A27DB-BD31-4B8C-83A1-F6EECF244321}">
                <p14:modId xmlns:p14="http://schemas.microsoft.com/office/powerpoint/2010/main" val="885532917"/>
              </p:ext>
            </p:extLst>
          </p:nvPr>
        </p:nvGraphicFramePr>
        <p:xfrm>
          <a:off x="6494906" y="1944381"/>
          <a:ext cx="434050" cy="374059"/>
        </p:xfrm>
        <a:graphic>
          <a:graphicData uri="http://schemas.openxmlformats.org/presentationml/2006/ole">
            <mc:AlternateContent xmlns:mc="http://schemas.openxmlformats.org/markup-compatibility/2006">
              <mc:Choice xmlns:v="urn:schemas-microsoft-com:vml" Requires="v">
                <p:oleObj name="Equation" r:id="rId11" imgW="266584" imgH="228501" progId="Equation.DSMT4">
                  <p:embed/>
                </p:oleObj>
              </mc:Choice>
              <mc:Fallback>
                <p:oleObj name="Equation" r:id="rId11" imgW="266584" imgH="228501" progId="Equation.DSMT4">
                  <p:embed/>
                  <p:pic>
                    <p:nvPicPr>
                      <p:cNvPr id="16" name="对象 15">
                        <a:extLst>
                          <a:ext uri="{FF2B5EF4-FFF2-40B4-BE49-F238E27FC236}">
                            <a16:creationId xmlns:a16="http://schemas.microsoft.com/office/drawing/2014/main" id="{3366659D-5E47-D0C7-39B4-3A90FDACE92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94906" y="1944381"/>
                        <a:ext cx="434050" cy="374059"/>
                      </a:xfrm>
                      <a:prstGeom prst="rect">
                        <a:avLst/>
                      </a:prstGeom>
                      <a:noFill/>
                    </p:spPr>
                  </p:pic>
                </p:oleObj>
              </mc:Fallback>
            </mc:AlternateContent>
          </a:graphicData>
        </a:graphic>
      </p:graphicFrame>
      <p:graphicFrame>
        <p:nvGraphicFramePr>
          <p:cNvPr id="17" name="对象 16">
            <a:extLst>
              <a:ext uri="{FF2B5EF4-FFF2-40B4-BE49-F238E27FC236}">
                <a16:creationId xmlns:a16="http://schemas.microsoft.com/office/drawing/2014/main" id="{C2B4CE4D-9789-6FE9-5F66-E4740641660F}"/>
              </a:ext>
            </a:extLst>
          </p:cNvPr>
          <p:cNvGraphicFramePr>
            <a:graphicFrameLocks noChangeAspect="1"/>
          </p:cNvGraphicFramePr>
          <p:nvPr>
            <p:extLst>
              <p:ext uri="{D42A27DB-BD31-4B8C-83A1-F6EECF244321}">
                <p14:modId xmlns:p14="http://schemas.microsoft.com/office/powerpoint/2010/main" val="3557669970"/>
              </p:ext>
            </p:extLst>
          </p:nvPr>
        </p:nvGraphicFramePr>
        <p:xfrm>
          <a:off x="8359710" y="2239058"/>
          <a:ext cx="434050" cy="370838"/>
        </p:xfrm>
        <a:graphic>
          <a:graphicData uri="http://schemas.openxmlformats.org/presentationml/2006/ole">
            <mc:AlternateContent xmlns:mc="http://schemas.openxmlformats.org/markup-compatibility/2006">
              <mc:Choice xmlns:v="urn:schemas-microsoft-com:vml" Requires="v">
                <p:oleObj name="Equation" r:id="rId11" imgW="266584" imgH="228501" progId="Equation.DSMT4">
                  <p:embed/>
                </p:oleObj>
              </mc:Choice>
              <mc:Fallback>
                <p:oleObj name="Equation" r:id="rId11" imgW="266584" imgH="228501" progId="Equation.DSMT4">
                  <p:embed/>
                  <p:pic>
                    <p:nvPicPr>
                      <p:cNvPr id="17" name="对象 16">
                        <a:extLst>
                          <a:ext uri="{FF2B5EF4-FFF2-40B4-BE49-F238E27FC236}">
                            <a16:creationId xmlns:a16="http://schemas.microsoft.com/office/drawing/2014/main" id="{C2B4CE4D-9789-6FE9-5F66-E4740641660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59710" y="2239058"/>
                        <a:ext cx="434050" cy="370838"/>
                      </a:xfrm>
                      <a:prstGeom prst="rect">
                        <a:avLst/>
                      </a:prstGeom>
                      <a:noFill/>
                    </p:spPr>
                  </p:pic>
                </p:oleObj>
              </mc:Fallback>
            </mc:AlternateContent>
          </a:graphicData>
        </a:graphic>
      </p:graphicFrame>
      <p:sp>
        <p:nvSpPr>
          <p:cNvPr id="20" name="Rectangle 13">
            <a:extLst>
              <a:ext uri="{FF2B5EF4-FFF2-40B4-BE49-F238E27FC236}">
                <a16:creationId xmlns:a16="http://schemas.microsoft.com/office/drawing/2014/main" id="{6FB4013D-079C-C811-EA15-728B06EBB93E}"/>
              </a:ext>
            </a:extLst>
          </p:cNvPr>
          <p:cNvSpPr>
            <a:spLocks noChangeArrowheads="1"/>
          </p:cNvSpPr>
          <p:nvPr/>
        </p:nvSpPr>
        <p:spPr bwMode="auto">
          <a:xfrm>
            <a:off x="5229432" y="1234802"/>
            <a:ext cx="15493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特点：</a:t>
            </a:r>
            <a:endParaRPr kumimoji="0" lang="zh-CN" altLang="zh-CN" sz="1600" b="0" i="0" u="none" strike="noStrike" cap="none" normalizeH="0" baseline="0" dirty="0">
              <a:ln>
                <a:noFill/>
              </a:ln>
              <a:solidFill>
                <a:srgbClr val="0000FF"/>
              </a:solidFill>
              <a:effectLst/>
              <a:latin typeface="Arial" panose="020B0604020202020204" pitchFamily="34" charset="0"/>
            </a:endParaRPr>
          </a:p>
        </p:txBody>
      </p:sp>
      <p:sp>
        <p:nvSpPr>
          <p:cNvPr id="21" name="Rectangle 14">
            <a:extLst>
              <a:ext uri="{FF2B5EF4-FFF2-40B4-BE49-F238E27FC236}">
                <a16:creationId xmlns:a16="http://schemas.microsoft.com/office/drawing/2014/main" id="{7697A527-E6B1-8033-36D0-E46C106CF839}"/>
              </a:ext>
            </a:extLst>
          </p:cNvPr>
          <p:cNvSpPr>
            <a:spLocks noChangeArrowheads="1"/>
          </p:cNvSpPr>
          <p:nvPr/>
        </p:nvSpPr>
        <p:spPr bwMode="auto">
          <a:xfrm>
            <a:off x="7469664" y="1226897"/>
            <a:ext cx="9013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25" name="Rectangle 14">
            <a:extLst>
              <a:ext uri="{FF2B5EF4-FFF2-40B4-BE49-F238E27FC236}">
                <a16:creationId xmlns:a16="http://schemas.microsoft.com/office/drawing/2014/main" id="{A19095E3-0CA6-B953-C18B-9729FC50B98B}"/>
              </a:ext>
            </a:extLst>
          </p:cNvPr>
          <p:cNvSpPr>
            <a:spLocks noChangeArrowheads="1"/>
          </p:cNvSpPr>
          <p:nvPr/>
        </p:nvSpPr>
        <p:spPr bwMode="auto">
          <a:xfrm>
            <a:off x="8588278" y="1221730"/>
            <a:ext cx="1614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graphicFrame>
        <p:nvGraphicFramePr>
          <p:cNvPr id="26" name="对象 25">
            <a:extLst>
              <a:ext uri="{FF2B5EF4-FFF2-40B4-BE49-F238E27FC236}">
                <a16:creationId xmlns:a16="http://schemas.microsoft.com/office/drawing/2014/main" id="{E8583860-D046-8ACF-3AC0-59B9D70E6716}"/>
              </a:ext>
            </a:extLst>
          </p:cNvPr>
          <p:cNvGraphicFramePr>
            <a:graphicFrameLocks noChangeAspect="1"/>
          </p:cNvGraphicFramePr>
          <p:nvPr>
            <p:extLst>
              <p:ext uri="{D42A27DB-BD31-4B8C-83A1-F6EECF244321}">
                <p14:modId xmlns:p14="http://schemas.microsoft.com/office/powerpoint/2010/main" val="4108008984"/>
              </p:ext>
            </p:extLst>
          </p:nvPr>
        </p:nvGraphicFramePr>
        <p:xfrm>
          <a:off x="4317702" y="3619258"/>
          <a:ext cx="1481137" cy="477837"/>
        </p:xfrm>
        <a:graphic>
          <a:graphicData uri="http://schemas.openxmlformats.org/presentationml/2006/ole">
            <mc:AlternateContent xmlns:mc="http://schemas.openxmlformats.org/markup-compatibility/2006">
              <mc:Choice xmlns:v="urn:schemas-microsoft-com:vml" Requires="v">
                <p:oleObj name="Equation" r:id="rId13" imgW="812520" imgH="266400" progId="Equation.DSMT4">
                  <p:embed/>
                </p:oleObj>
              </mc:Choice>
              <mc:Fallback>
                <p:oleObj name="Equation" r:id="rId13" imgW="812520" imgH="266400" progId="Equation.DSMT4">
                  <p:embed/>
                  <p:pic>
                    <p:nvPicPr>
                      <p:cNvPr id="26" name="对象 25">
                        <a:extLst>
                          <a:ext uri="{FF2B5EF4-FFF2-40B4-BE49-F238E27FC236}">
                            <a16:creationId xmlns:a16="http://schemas.microsoft.com/office/drawing/2014/main" id="{E8583860-D046-8ACF-3AC0-59B9D70E6716}"/>
                          </a:ext>
                        </a:extLst>
                      </p:cNvPr>
                      <p:cNvPicPr>
                        <a:picLocks noChangeAspect="1" noChangeArrowheads="1"/>
                      </p:cNvPicPr>
                      <p:nvPr/>
                    </p:nvPicPr>
                    <p:blipFill>
                      <a:blip r:embed="rId14"/>
                      <a:srcRect/>
                      <a:stretch>
                        <a:fillRect/>
                      </a:stretch>
                    </p:blipFill>
                    <p:spPr bwMode="auto">
                      <a:xfrm>
                        <a:off x="4317702" y="3619258"/>
                        <a:ext cx="1481137" cy="477837"/>
                      </a:xfrm>
                      <a:prstGeom prst="rect">
                        <a:avLst/>
                      </a:prstGeom>
                      <a:noFill/>
                    </p:spPr>
                  </p:pic>
                </p:oleObj>
              </mc:Fallback>
            </mc:AlternateContent>
          </a:graphicData>
        </a:graphic>
      </p:graphicFrame>
      <p:graphicFrame>
        <p:nvGraphicFramePr>
          <p:cNvPr id="28" name="对象 27">
            <a:extLst>
              <a:ext uri="{FF2B5EF4-FFF2-40B4-BE49-F238E27FC236}">
                <a16:creationId xmlns:a16="http://schemas.microsoft.com/office/drawing/2014/main" id="{296F91EF-466A-2205-4333-960EA5FAE2D9}"/>
              </a:ext>
            </a:extLst>
          </p:cNvPr>
          <p:cNvGraphicFramePr>
            <a:graphicFrameLocks noChangeAspect="1"/>
          </p:cNvGraphicFramePr>
          <p:nvPr>
            <p:extLst>
              <p:ext uri="{D42A27DB-BD31-4B8C-83A1-F6EECF244321}">
                <p14:modId xmlns:p14="http://schemas.microsoft.com/office/powerpoint/2010/main" val="3363682570"/>
              </p:ext>
            </p:extLst>
          </p:nvPr>
        </p:nvGraphicFramePr>
        <p:xfrm>
          <a:off x="4357974" y="3952215"/>
          <a:ext cx="1157524" cy="400854"/>
        </p:xfrm>
        <a:graphic>
          <a:graphicData uri="http://schemas.openxmlformats.org/presentationml/2006/ole">
            <mc:AlternateContent xmlns:mc="http://schemas.openxmlformats.org/markup-compatibility/2006">
              <mc:Choice xmlns:v="urn:schemas-microsoft-com:vml" Requires="v">
                <p:oleObj name="Equation" r:id="rId15" imgW="622030" imgH="215806" progId="Equation.DSMT4">
                  <p:embed/>
                </p:oleObj>
              </mc:Choice>
              <mc:Fallback>
                <p:oleObj name="Equation" r:id="rId15" imgW="622030" imgH="215806" progId="Equation.DSMT4">
                  <p:embed/>
                  <p:pic>
                    <p:nvPicPr>
                      <p:cNvPr id="28" name="对象 27">
                        <a:extLst>
                          <a:ext uri="{FF2B5EF4-FFF2-40B4-BE49-F238E27FC236}">
                            <a16:creationId xmlns:a16="http://schemas.microsoft.com/office/drawing/2014/main" id="{296F91EF-466A-2205-4333-960EA5FAE2D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57974" y="3952215"/>
                        <a:ext cx="1157524" cy="400854"/>
                      </a:xfrm>
                      <a:prstGeom prst="rect">
                        <a:avLst/>
                      </a:prstGeom>
                      <a:noFill/>
                    </p:spPr>
                  </p:pic>
                </p:oleObj>
              </mc:Fallback>
            </mc:AlternateContent>
          </a:graphicData>
        </a:graphic>
      </p:graphicFrame>
      <p:graphicFrame>
        <p:nvGraphicFramePr>
          <p:cNvPr id="29" name="对象 28">
            <a:extLst>
              <a:ext uri="{FF2B5EF4-FFF2-40B4-BE49-F238E27FC236}">
                <a16:creationId xmlns:a16="http://schemas.microsoft.com/office/drawing/2014/main" id="{3F47C822-C1F9-522E-8BF1-BCB4B2F2A2CA}"/>
              </a:ext>
            </a:extLst>
          </p:cNvPr>
          <p:cNvGraphicFramePr>
            <a:graphicFrameLocks noChangeAspect="1"/>
          </p:cNvGraphicFramePr>
          <p:nvPr>
            <p:extLst>
              <p:ext uri="{D42A27DB-BD31-4B8C-83A1-F6EECF244321}">
                <p14:modId xmlns:p14="http://schemas.microsoft.com/office/powerpoint/2010/main" val="821972129"/>
              </p:ext>
            </p:extLst>
          </p:nvPr>
        </p:nvGraphicFramePr>
        <p:xfrm>
          <a:off x="7521472" y="3924504"/>
          <a:ext cx="719409" cy="402381"/>
        </p:xfrm>
        <a:graphic>
          <a:graphicData uri="http://schemas.openxmlformats.org/presentationml/2006/ole">
            <mc:AlternateContent xmlns:mc="http://schemas.openxmlformats.org/markup-compatibility/2006">
              <mc:Choice xmlns:v="urn:schemas-microsoft-com:vml" Requires="v">
                <p:oleObj name="Equation" r:id="rId17" imgW="393359" imgH="215713" progId="Equation.DSMT4">
                  <p:embed/>
                </p:oleObj>
              </mc:Choice>
              <mc:Fallback>
                <p:oleObj name="Equation" r:id="rId17" imgW="393359" imgH="215713" progId="Equation.DSMT4">
                  <p:embed/>
                  <p:pic>
                    <p:nvPicPr>
                      <p:cNvPr id="29" name="对象 28">
                        <a:extLst>
                          <a:ext uri="{FF2B5EF4-FFF2-40B4-BE49-F238E27FC236}">
                            <a16:creationId xmlns:a16="http://schemas.microsoft.com/office/drawing/2014/main" id="{3F47C822-C1F9-522E-8BF1-BCB4B2F2A2C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21472" y="3924504"/>
                        <a:ext cx="719409" cy="402381"/>
                      </a:xfrm>
                      <a:prstGeom prst="rect">
                        <a:avLst/>
                      </a:prstGeom>
                      <a:noFill/>
                    </p:spPr>
                  </p:pic>
                </p:oleObj>
              </mc:Fallback>
            </mc:AlternateContent>
          </a:graphicData>
        </a:graphic>
      </p:graphicFrame>
      <p:graphicFrame>
        <p:nvGraphicFramePr>
          <p:cNvPr id="30" name="对象 29">
            <a:extLst>
              <a:ext uri="{FF2B5EF4-FFF2-40B4-BE49-F238E27FC236}">
                <a16:creationId xmlns:a16="http://schemas.microsoft.com/office/drawing/2014/main" id="{4644F4F6-5179-0A71-9B4C-7C8C0DEE7282}"/>
              </a:ext>
            </a:extLst>
          </p:cNvPr>
          <p:cNvGraphicFramePr>
            <a:graphicFrameLocks noChangeAspect="1"/>
          </p:cNvGraphicFramePr>
          <p:nvPr>
            <p:extLst>
              <p:ext uri="{D42A27DB-BD31-4B8C-83A1-F6EECF244321}">
                <p14:modId xmlns:p14="http://schemas.microsoft.com/office/powerpoint/2010/main" val="2817068217"/>
              </p:ext>
            </p:extLst>
          </p:nvPr>
        </p:nvGraphicFramePr>
        <p:xfrm>
          <a:off x="4993877" y="4335482"/>
          <a:ext cx="1328738" cy="409575"/>
        </p:xfrm>
        <a:graphic>
          <a:graphicData uri="http://schemas.openxmlformats.org/presentationml/2006/ole">
            <mc:AlternateContent xmlns:mc="http://schemas.openxmlformats.org/markup-compatibility/2006">
              <mc:Choice xmlns:v="urn:schemas-microsoft-com:vml" Requires="v">
                <p:oleObj name="Equation" r:id="rId19" imgW="672808" imgH="203112" progId="Equation.DSMT4">
                  <p:embed/>
                </p:oleObj>
              </mc:Choice>
              <mc:Fallback>
                <p:oleObj name="Equation" r:id="rId19" imgW="672808" imgH="203112" progId="Equation.DSMT4">
                  <p:embed/>
                  <p:pic>
                    <p:nvPicPr>
                      <p:cNvPr id="30" name="对象 29">
                        <a:extLst>
                          <a:ext uri="{FF2B5EF4-FFF2-40B4-BE49-F238E27FC236}">
                            <a16:creationId xmlns:a16="http://schemas.microsoft.com/office/drawing/2014/main" id="{4644F4F6-5179-0A71-9B4C-7C8C0DEE728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93877" y="4335482"/>
                        <a:ext cx="1328738" cy="409575"/>
                      </a:xfrm>
                      <a:prstGeom prst="rect">
                        <a:avLst/>
                      </a:prstGeom>
                      <a:noFill/>
                    </p:spPr>
                  </p:pic>
                </p:oleObj>
              </mc:Fallback>
            </mc:AlternateContent>
          </a:graphicData>
        </a:graphic>
      </p:graphicFrame>
      <p:graphicFrame>
        <p:nvGraphicFramePr>
          <p:cNvPr id="31" name="对象 30">
            <a:extLst>
              <a:ext uri="{FF2B5EF4-FFF2-40B4-BE49-F238E27FC236}">
                <a16:creationId xmlns:a16="http://schemas.microsoft.com/office/drawing/2014/main" id="{3D5EF3C5-E021-EFC9-75DD-8806E6E47B8A}"/>
              </a:ext>
            </a:extLst>
          </p:cNvPr>
          <p:cNvGraphicFramePr>
            <a:graphicFrameLocks noChangeAspect="1"/>
          </p:cNvGraphicFramePr>
          <p:nvPr>
            <p:extLst>
              <p:ext uri="{D42A27DB-BD31-4B8C-83A1-F6EECF244321}">
                <p14:modId xmlns:p14="http://schemas.microsoft.com/office/powerpoint/2010/main" val="1049083237"/>
              </p:ext>
            </p:extLst>
          </p:nvPr>
        </p:nvGraphicFramePr>
        <p:xfrm>
          <a:off x="6703971" y="4331518"/>
          <a:ext cx="2051538" cy="394365"/>
        </p:xfrm>
        <a:graphic>
          <a:graphicData uri="http://schemas.openxmlformats.org/presentationml/2006/ole">
            <mc:AlternateContent xmlns:mc="http://schemas.openxmlformats.org/markup-compatibility/2006">
              <mc:Choice xmlns:v="urn:schemas-microsoft-com:vml" Requires="v">
                <p:oleObj name="Equation" r:id="rId21" imgW="1104421" imgH="215806" progId="Equation.DSMT4">
                  <p:embed/>
                </p:oleObj>
              </mc:Choice>
              <mc:Fallback>
                <p:oleObj name="Equation" r:id="rId21" imgW="1104421" imgH="215806" progId="Equation.DSMT4">
                  <p:embed/>
                  <p:pic>
                    <p:nvPicPr>
                      <p:cNvPr id="31" name="对象 30">
                        <a:extLst>
                          <a:ext uri="{FF2B5EF4-FFF2-40B4-BE49-F238E27FC236}">
                            <a16:creationId xmlns:a16="http://schemas.microsoft.com/office/drawing/2014/main" id="{3D5EF3C5-E021-EFC9-75DD-8806E6E47B8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703971" y="4331518"/>
                        <a:ext cx="2051538" cy="394365"/>
                      </a:xfrm>
                      <a:prstGeom prst="rect">
                        <a:avLst/>
                      </a:prstGeom>
                      <a:noFill/>
                    </p:spPr>
                  </p:pic>
                </p:oleObj>
              </mc:Fallback>
            </mc:AlternateContent>
          </a:graphicData>
        </a:graphic>
      </p:graphicFrame>
      <p:sp>
        <p:nvSpPr>
          <p:cNvPr id="33" name="Rectangle 25">
            <a:extLst>
              <a:ext uri="{FF2B5EF4-FFF2-40B4-BE49-F238E27FC236}">
                <a16:creationId xmlns:a16="http://schemas.microsoft.com/office/drawing/2014/main" id="{BA1FB643-0B5C-6FAF-3A9B-FDF1D6C7AA8D}"/>
              </a:ext>
            </a:extLst>
          </p:cNvPr>
          <p:cNvSpPr>
            <a:spLocks noChangeArrowheads="1"/>
          </p:cNvSpPr>
          <p:nvPr/>
        </p:nvSpPr>
        <p:spPr bwMode="auto">
          <a:xfrm>
            <a:off x="5693615" y="3655654"/>
            <a:ext cx="10253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特点：</a:t>
            </a:r>
            <a:endParaRPr kumimoji="0" lang="zh-CN" altLang="zh-CN" sz="2000" b="0" i="0" u="none" strike="noStrike" cap="none" normalizeH="0" baseline="0" dirty="0">
              <a:ln>
                <a:noFill/>
              </a:ln>
              <a:solidFill>
                <a:srgbClr val="FF0000"/>
              </a:solidFill>
              <a:effectLst/>
            </a:endParaRPr>
          </a:p>
        </p:txBody>
      </p:sp>
      <p:sp>
        <p:nvSpPr>
          <p:cNvPr id="35" name="Rectangle 27">
            <a:extLst>
              <a:ext uri="{FF2B5EF4-FFF2-40B4-BE49-F238E27FC236}">
                <a16:creationId xmlns:a16="http://schemas.microsoft.com/office/drawing/2014/main" id="{A6F900BB-E153-5590-0F0B-497C00A1D1D7}"/>
              </a:ext>
            </a:extLst>
          </p:cNvPr>
          <p:cNvSpPr>
            <a:spLocks noChangeArrowheads="1"/>
          </p:cNvSpPr>
          <p:nvPr/>
        </p:nvSpPr>
        <p:spPr bwMode="auto">
          <a:xfrm>
            <a:off x="4291013" y="3984205"/>
            <a:ext cx="469982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；随着</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n</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逐渐下降，    </a:t>
            </a: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逐渐减小</a:t>
            </a:r>
            <a:r>
              <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a:t>
            </a:r>
            <a:endParaRPr kumimoji="0" lang="zh-CN" altLang="zh-CN" sz="300" b="0" i="0" u="none" strike="noStrike" cap="none" normalizeH="0" baseline="0" dirty="0">
              <a:ln>
                <a:noFill/>
              </a:ln>
              <a:solidFill>
                <a:schemeClr val="tx1"/>
              </a:solidFill>
              <a:effectLst/>
            </a:endParaRPr>
          </a:p>
        </p:txBody>
      </p:sp>
      <p:graphicFrame>
        <p:nvGraphicFramePr>
          <p:cNvPr id="43" name="对象 42">
            <a:extLst>
              <a:ext uri="{FF2B5EF4-FFF2-40B4-BE49-F238E27FC236}">
                <a16:creationId xmlns:a16="http://schemas.microsoft.com/office/drawing/2014/main" id="{E5532FBE-1AB0-B802-5534-BDB967226079}"/>
              </a:ext>
            </a:extLst>
          </p:cNvPr>
          <p:cNvGraphicFramePr>
            <a:graphicFrameLocks noChangeAspect="1"/>
          </p:cNvGraphicFramePr>
          <p:nvPr>
            <p:extLst>
              <p:ext uri="{D42A27DB-BD31-4B8C-83A1-F6EECF244321}">
                <p14:modId xmlns:p14="http://schemas.microsoft.com/office/powerpoint/2010/main" val="2469780727"/>
              </p:ext>
            </p:extLst>
          </p:nvPr>
        </p:nvGraphicFramePr>
        <p:xfrm>
          <a:off x="6395933" y="3632876"/>
          <a:ext cx="1580134" cy="447207"/>
        </p:xfrm>
        <a:graphic>
          <a:graphicData uri="http://schemas.openxmlformats.org/presentationml/2006/ole">
            <mc:AlternateContent xmlns:mc="http://schemas.openxmlformats.org/markup-compatibility/2006">
              <mc:Choice xmlns:v="urn:schemas-microsoft-com:vml" Requires="v">
                <p:oleObj name="Equation" r:id="rId7" imgW="800100" imgH="228600" progId="Equation.DSMT4">
                  <p:embed/>
                </p:oleObj>
              </mc:Choice>
              <mc:Fallback>
                <p:oleObj name="Equation" r:id="rId7" imgW="800100" imgH="228600" progId="Equation.DSMT4">
                  <p:embed/>
                  <p:pic>
                    <p:nvPicPr>
                      <p:cNvPr id="43" name="对象 42">
                        <a:extLst>
                          <a:ext uri="{FF2B5EF4-FFF2-40B4-BE49-F238E27FC236}">
                            <a16:creationId xmlns:a16="http://schemas.microsoft.com/office/drawing/2014/main" id="{E5532FBE-1AB0-B802-5534-BDB9672260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95933" y="3632876"/>
                        <a:ext cx="1580134" cy="447207"/>
                      </a:xfrm>
                      <a:prstGeom prst="rect">
                        <a:avLst/>
                      </a:prstGeom>
                      <a:noFill/>
                    </p:spPr>
                  </p:pic>
                </p:oleObj>
              </mc:Fallback>
            </mc:AlternateContent>
          </a:graphicData>
        </a:graphic>
      </p:graphicFrame>
      <p:sp>
        <p:nvSpPr>
          <p:cNvPr id="44" name="Rectangle 14">
            <a:extLst>
              <a:ext uri="{FF2B5EF4-FFF2-40B4-BE49-F238E27FC236}">
                <a16:creationId xmlns:a16="http://schemas.microsoft.com/office/drawing/2014/main" id="{936EC8E3-EE53-4329-F178-73FBF252DDD9}"/>
              </a:ext>
            </a:extLst>
          </p:cNvPr>
          <p:cNvSpPr>
            <a:spLocks noChangeArrowheads="1"/>
          </p:cNvSpPr>
          <p:nvPr/>
        </p:nvSpPr>
        <p:spPr bwMode="auto">
          <a:xfrm>
            <a:off x="7902468" y="3629996"/>
            <a:ext cx="9013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46" name="文本框 45">
            <a:extLst>
              <a:ext uri="{FF2B5EF4-FFF2-40B4-BE49-F238E27FC236}">
                <a16:creationId xmlns:a16="http://schemas.microsoft.com/office/drawing/2014/main" id="{BA5318A1-7FE7-F15F-2078-81438044655B}"/>
              </a:ext>
            </a:extLst>
          </p:cNvPr>
          <p:cNvSpPr txBox="1"/>
          <p:nvPr/>
        </p:nvSpPr>
        <p:spPr>
          <a:xfrm>
            <a:off x="842882" y="5460342"/>
            <a:ext cx="7700452" cy="769441"/>
          </a:xfrm>
          <a:prstGeom prst="rect">
            <a:avLst/>
          </a:prstGeom>
          <a:noFill/>
        </p:spPr>
        <p:txBody>
          <a:bodyPr wrap="square">
            <a:spAutoFit/>
          </a:bodyPr>
          <a:lstStyle/>
          <a:p>
            <a:pPr algn="just"/>
            <a:r>
              <a:rPr lang="en-US" altLang="zh-CN" sz="2200" b="1" dirty="0">
                <a:solidFill>
                  <a:srgbClr val="FF0000"/>
                </a:solidFill>
                <a:effectLst/>
                <a:latin typeface="宋体" panose="02010600030101010101" pitchFamily="2" charset="-122"/>
                <a:ea typeface="黑体" panose="02010609060101010101" pitchFamily="49" charset="-122"/>
                <a:cs typeface="Times New Roman" panose="02020603050405020304" pitchFamily="18" charset="0"/>
              </a:rPr>
              <a:t>    </a:t>
            </a:r>
            <a:r>
              <a:rPr lang="zh-CN" altLang="zh-CN" sz="2200" b="1" dirty="0">
                <a:solidFill>
                  <a:srgbClr val="FF0000"/>
                </a:solidFill>
                <a:effectLst/>
                <a:latin typeface="宋体" panose="02010600030101010101" pitchFamily="2" charset="-122"/>
                <a:ea typeface="黑体" panose="02010609060101010101" pitchFamily="49" charset="-122"/>
                <a:cs typeface="Times New Roman" panose="02020603050405020304" pitchFamily="18" charset="0"/>
              </a:rPr>
              <a:t>两曲线相乘并乘以转矩常数即得到异步电动机的固有机械特性曲线。</a:t>
            </a:r>
            <a:endParaRPr lang="zh-CN" altLang="zh-CN" sz="22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12" name="对象 11">
            <a:extLst>
              <a:ext uri="{FF2B5EF4-FFF2-40B4-BE49-F238E27FC236}">
                <a16:creationId xmlns:a16="http://schemas.microsoft.com/office/drawing/2014/main" id="{CE00A6EF-116E-79B2-B93F-12D2B6C145BE}"/>
              </a:ext>
            </a:extLst>
          </p:cNvPr>
          <p:cNvGraphicFramePr>
            <a:graphicFrameLocks noChangeAspect="1"/>
          </p:cNvGraphicFramePr>
          <p:nvPr>
            <p:extLst>
              <p:ext uri="{D42A27DB-BD31-4B8C-83A1-F6EECF244321}">
                <p14:modId xmlns:p14="http://schemas.microsoft.com/office/powerpoint/2010/main" val="3088215569"/>
              </p:ext>
            </p:extLst>
          </p:nvPr>
        </p:nvGraphicFramePr>
        <p:xfrm>
          <a:off x="806907" y="4186961"/>
          <a:ext cx="972361" cy="400110"/>
        </p:xfrm>
        <a:graphic>
          <a:graphicData uri="http://schemas.openxmlformats.org/presentationml/2006/ole">
            <mc:AlternateContent xmlns:mc="http://schemas.openxmlformats.org/markup-compatibility/2006">
              <mc:Choice xmlns:v="urn:schemas-microsoft-com:vml" Requires="v">
                <p:oleObj name="Equation" r:id="rId23" imgW="545863" imgH="228501" progId="Equation.DSMT4">
                  <p:embed/>
                </p:oleObj>
              </mc:Choice>
              <mc:Fallback>
                <p:oleObj name="Equation" r:id="rId23" imgW="545863" imgH="228501" progId="Equation.DSMT4">
                  <p:embed/>
                  <p:pic>
                    <p:nvPicPr>
                      <p:cNvPr id="78" name="对象 77">
                        <a:extLst>
                          <a:ext uri="{FF2B5EF4-FFF2-40B4-BE49-F238E27FC236}">
                            <a16:creationId xmlns:a16="http://schemas.microsoft.com/office/drawing/2014/main" id="{524E0C74-4916-F5E4-9C48-31AE198B63A2}"/>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06907" y="4186961"/>
                        <a:ext cx="972361" cy="400110"/>
                      </a:xfrm>
                      <a:prstGeom prst="rect">
                        <a:avLst/>
                      </a:prstGeom>
                      <a:noFill/>
                    </p:spPr>
                  </p:pic>
                </p:oleObj>
              </mc:Fallback>
            </mc:AlternateContent>
          </a:graphicData>
        </a:graphic>
      </p:graphicFrame>
      <p:graphicFrame>
        <p:nvGraphicFramePr>
          <p:cNvPr id="15" name="对象 14">
            <a:extLst>
              <a:ext uri="{FF2B5EF4-FFF2-40B4-BE49-F238E27FC236}">
                <a16:creationId xmlns:a16="http://schemas.microsoft.com/office/drawing/2014/main" id="{0628BFE9-84D2-EAEE-7311-AA9652C29DD9}"/>
              </a:ext>
            </a:extLst>
          </p:cNvPr>
          <p:cNvGraphicFramePr>
            <a:graphicFrameLocks noChangeAspect="1"/>
          </p:cNvGraphicFramePr>
          <p:nvPr>
            <p:extLst>
              <p:ext uri="{D42A27DB-BD31-4B8C-83A1-F6EECF244321}">
                <p14:modId xmlns:p14="http://schemas.microsoft.com/office/powerpoint/2010/main" val="1179291992"/>
              </p:ext>
            </p:extLst>
          </p:nvPr>
        </p:nvGraphicFramePr>
        <p:xfrm>
          <a:off x="1955444" y="4181553"/>
          <a:ext cx="1462980" cy="413548"/>
        </p:xfrm>
        <a:graphic>
          <a:graphicData uri="http://schemas.openxmlformats.org/presentationml/2006/ole">
            <mc:AlternateContent xmlns:mc="http://schemas.openxmlformats.org/markup-compatibility/2006">
              <mc:Choice xmlns:v="urn:schemas-microsoft-com:vml" Requires="v">
                <p:oleObj name="Equation" r:id="rId25" imgW="800100" imgH="228600" progId="Equation.DSMT4">
                  <p:embed/>
                </p:oleObj>
              </mc:Choice>
              <mc:Fallback>
                <p:oleObj name="Equation" r:id="rId25" imgW="800100" imgH="228600" progId="Equation.DSMT4">
                  <p:embed/>
                  <p:pic>
                    <p:nvPicPr>
                      <p:cNvPr id="79" name="对象 78">
                        <a:extLst>
                          <a:ext uri="{FF2B5EF4-FFF2-40B4-BE49-F238E27FC236}">
                            <a16:creationId xmlns:a16="http://schemas.microsoft.com/office/drawing/2014/main" id="{68A7CBB7-4E5E-225E-6B58-1012635702B8}"/>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55444" y="4181553"/>
                        <a:ext cx="1462980" cy="413548"/>
                      </a:xfrm>
                      <a:prstGeom prst="rect">
                        <a:avLst/>
                      </a:prstGeom>
                      <a:noFill/>
                    </p:spPr>
                  </p:pic>
                </p:oleObj>
              </mc:Fallback>
            </mc:AlternateContent>
          </a:graphicData>
        </a:graphic>
      </p:graphicFrame>
      <p:sp>
        <p:nvSpPr>
          <p:cNvPr id="18" name="Rectangle 6">
            <a:extLst>
              <a:ext uri="{FF2B5EF4-FFF2-40B4-BE49-F238E27FC236}">
                <a16:creationId xmlns:a16="http://schemas.microsoft.com/office/drawing/2014/main" id="{FAEACF39-9FD8-45D0-9134-81963B426EFB}"/>
              </a:ext>
            </a:extLst>
          </p:cNvPr>
          <p:cNvSpPr>
            <a:spLocks noChangeArrowheads="1"/>
          </p:cNvSpPr>
          <p:nvPr/>
        </p:nvSpPr>
        <p:spPr bwMode="auto">
          <a:xfrm>
            <a:off x="1673249" y="4197614"/>
            <a:ext cx="576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19" name="Rectangle 6">
            <a:extLst>
              <a:ext uri="{FF2B5EF4-FFF2-40B4-BE49-F238E27FC236}">
                <a16:creationId xmlns:a16="http://schemas.microsoft.com/office/drawing/2014/main" id="{D350019F-089B-DCA7-99A7-1EBE38922011}"/>
              </a:ext>
            </a:extLst>
          </p:cNvPr>
          <p:cNvSpPr>
            <a:spLocks noChangeArrowheads="1"/>
          </p:cNvSpPr>
          <p:nvPr/>
        </p:nvSpPr>
        <p:spPr bwMode="auto">
          <a:xfrm>
            <a:off x="719776" y="4595101"/>
            <a:ext cx="576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与</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graphicFrame>
        <p:nvGraphicFramePr>
          <p:cNvPr id="23" name="对象 22">
            <a:extLst>
              <a:ext uri="{FF2B5EF4-FFF2-40B4-BE49-F238E27FC236}">
                <a16:creationId xmlns:a16="http://schemas.microsoft.com/office/drawing/2014/main" id="{0DFC5EBA-9337-04E6-D937-CDCFC7343DA1}"/>
              </a:ext>
            </a:extLst>
          </p:cNvPr>
          <p:cNvGraphicFramePr>
            <a:graphicFrameLocks noChangeAspect="1"/>
          </p:cNvGraphicFramePr>
          <p:nvPr>
            <p:extLst>
              <p:ext uri="{D42A27DB-BD31-4B8C-83A1-F6EECF244321}">
                <p14:modId xmlns:p14="http://schemas.microsoft.com/office/powerpoint/2010/main" val="3828273898"/>
              </p:ext>
            </p:extLst>
          </p:nvPr>
        </p:nvGraphicFramePr>
        <p:xfrm>
          <a:off x="1101486" y="4528700"/>
          <a:ext cx="1307736" cy="532912"/>
        </p:xfrm>
        <a:graphic>
          <a:graphicData uri="http://schemas.openxmlformats.org/presentationml/2006/ole">
            <mc:AlternateContent xmlns:mc="http://schemas.openxmlformats.org/markup-compatibility/2006">
              <mc:Choice xmlns:v="urn:schemas-microsoft-com:vml" Requires="v">
                <p:oleObj name="Equation" r:id="rId27" imgW="647640" imgH="266400" progId="Equation.DSMT4">
                  <p:embed/>
                </p:oleObj>
              </mc:Choice>
              <mc:Fallback>
                <p:oleObj name="Equation" r:id="rId27" imgW="647640" imgH="266400" progId="Equation.DSMT4">
                  <p:embed/>
                  <p:pic>
                    <p:nvPicPr>
                      <p:cNvPr id="82" name="对象 81">
                        <a:extLst>
                          <a:ext uri="{FF2B5EF4-FFF2-40B4-BE49-F238E27FC236}">
                            <a16:creationId xmlns:a16="http://schemas.microsoft.com/office/drawing/2014/main" id="{F70EE03B-659A-F4EB-E615-CBADA4812647}"/>
                          </a:ext>
                        </a:extLst>
                      </p:cNvPr>
                      <p:cNvPicPr>
                        <a:picLocks noChangeAspect="1" noChangeArrowheads="1"/>
                      </p:cNvPicPr>
                      <p:nvPr/>
                    </p:nvPicPr>
                    <p:blipFill>
                      <a:blip r:embed="rId28"/>
                      <a:srcRect/>
                      <a:stretch>
                        <a:fillRect/>
                      </a:stretch>
                    </p:blipFill>
                    <p:spPr bwMode="auto">
                      <a:xfrm>
                        <a:off x="1101486" y="4528700"/>
                        <a:ext cx="1307736" cy="532912"/>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C6A82444-CCB0-2F09-C033-3AE294EB4EE8}"/>
              </a:ext>
            </a:extLst>
          </p:cNvPr>
          <p:cNvSpPr>
            <a:spLocks noGrp="1"/>
          </p:cNvSpPr>
          <p:nvPr>
            <p:ph type="sldNum" sz="quarter" idx="12"/>
          </p:nvPr>
        </p:nvSpPr>
        <p:spPr/>
        <p:txBody>
          <a:bodyPr/>
          <a:lstStyle/>
          <a:p>
            <a:fld id="{76D830B0-DF59-4281-898F-AF208100B213}" type="slidenum">
              <a:rPr lang="en-US" altLang="zh-CN" smtClean="0"/>
              <a:pPr/>
              <a:t>97</a:t>
            </a:fld>
            <a:endParaRPr lang="en-US" altLang="zh-CN"/>
          </a:p>
        </p:txBody>
      </p:sp>
    </p:spTree>
    <p:extLst>
      <p:ext uri="{BB962C8B-B14F-4D97-AF65-F5344CB8AC3E}">
        <p14:creationId xmlns:p14="http://schemas.microsoft.com/office/powerpoint/2010/main" val="56227378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12A16970-4D6A-2669-B63A-FB34D92D840A}"/>
              </a:ext>
            </a:extLst>
          </p:cNvPr>
          <p:cNvGraphicFramePr>
            <a:graphicFrameLocks noChangeAspect="1"/>
          </p:cNvGraphicFramePr>
          <p:nvPr>
            <p:extLst>
              <p:ext uri="{D42A27DB-BD31-4B8C-83A1-F6EECF244321}">
                <p14:modId xmlns:p14="http://schemas.microsoft.com/office/powerpoint/2010/main" val="1975292697"/>
              </p:ext>
            </p:extLst>
          </p:nvPr>
        </p:nvGraphicFramePr>
        <p:xfrm>
          <a:off x="5750499" y="961803"/>
          <a:ext cx="3048290" cy="2880320"/>
        </p:xfrm>
        <a:graphic>
          <a:graphicData uri="http://schemas.openxmlformats.org/presentationml/2006/ole">
            <mc:AlternateContent xmlns:mc="http://schemas.openxmlformats.org/markup-compatibility/2006">
              <mc:Choice xmlns:v="urn:schemas-microsoft-com:vml" Requires="v">
                <p:oleObj r:id="rId3" imgW="1554120" imgH="1467000" progId="">
                  <p:embed/>
                </p:oleObj>
              </mc:Choice>
              <mc:Fallback>
                <p:oleObj r:id="rId3" imgW="1554120" imgH="146700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0499" y="961803"/>
                        <a:ext cx="3048290" cy="2880320"/>
                      </a:xfrm>
                      <a:prstGeom prst="rect">
                        <a:avLst/>
                      </a:prstGeom>
                      <a:noFill/>
                      <a:ln>
                        <a:noFill/>
                      </a:ln>
                    </p:spPr>
                  </p:pic>
                </p:oleObj>
              </mc:Fallback>
            </mc:AlternateContent>
          </a:graphicData>
        </a:graphic>
      </p:graphicFrame>
      <p:graphicFrame>
        <p:nvGraphicFramePr>
          <p:cNvPr id="47" name="对象 46">
            <a:extLst>
              <a:ext uri="{FF2B5EF4-FFF2-40B4-BE49-F238E27FC236}">
                <a16:creationId xmlns:a16="http://schemas.microsoft.com/office/drawing/2014/main" id="{DB70B04F-F53F-E5E5-5356-C8FCF294AA17}"/>
              </a:ext>
            </a:extLst>
          </p:cNvPr>
          <p:cNvGraphicFramePr>
            <a:graphicFrameLocks noChangeAspect="1"/>
          </p:cNvGraphicFramePr>
          <p:nvPr>
            <p:extLst>
              <p:ext uri="{D42A27DB-BD31-4B8C-83A1-F6EECF244321}">
                <p14:modId xmlns:p14="http://schemas.microsoft.com/office/powerpoint/2010/main" val="1696458159"/>
              </p:ext>
            </p:extLst>
          </p:nvPr>
        </p:nvGraphicFramePr>
        <p:xfrm>
          <a:off x="1331640" y="1109618"/>
          <a:ext cx="1214438" cy="500063"/>
        </p:xfrm>
        <a:graphic>
          <a:graphicData uri="http://schemas.openxmlformats.org/presentationml/2006/ole">
            <mc:AlternateContent xmlns:mc="http://schemas.openxmlformats.org/markup-compatibility/2006">
              <mc:Choice xmlns:v="urn:schemas-microsoft-com:vml" Requires="v">
                <p:oleObj name="Equation" r:id="rId5" imgW="545863" imgH="228501" progId="Equation.DSMT4">
                  <p:embed/>
                </p:oleObj>
              </mc:Choice>
              <mc:Fallback>
                <p:oleObj name="Equation" r:id="rId5" imgW="545863" imgH="228501" progId="Equation.DSMT4">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640" y="1109618"/>
                        <a:ext cx="1214438"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 name="对象 47">
            <a:extLst>
              <a:ext uri="{FF2B5EF4-FFF2-40B4-BE49-F238E27FC236}">
                <a16:creationId xmlns:a16="http://schemas.microsoft.com/office/drawing/2014/main" id="{F41FC4B1-178F-EDB3-EB6D-AC74DD583C5B}"/>
              </a:ext>
            </a:extLst>
          </p:cNvPr>
          <p:cNvGraphicFramePr>
            <a:graphicFrameLocks noChangeAspect="1"/>
          </p:cNvGraphicFramePr>
          <p:nvPr>
            <p:extLst>
              <p:ext uri="{D42A27DB-BD31-4B8C-83A1-F6EECF244321}">
                <p14:modId xmlns:p14="http://schemas.microsoft.com/office/powerpoint/2010/main" val="2598926425"/>
              </p:ext>
            </p:extLst>
          </p:nvPr>
        </p:nvGraphicFramePr>
        <p:xfrm>
          <a:off x="2948412" y="1123904"/>
          <a:ext cx="1185863" cy="471487"/>
        </p:xfrm>
        <a:graphic>
          <a:graphicData uri="http://schemas.openxmlformats.org/presentationml/2006/ole">
            <mc:AlternateContent xmlns:mc="http://schemas.openxmlformats.org/markup-compatibility/2006">
              <mc:Choice xmlns:v="urn:schemas-microsoft-com:vml" Requires="v">
                <p:oleObj name="Equation" r:id="rId7" imgW="545626" imgH="215713" progId="Equation.DSMT4">
                  <p:embed/>
                </p:oleObj>
              </mc:Choice>
              <mc:Fallback>
                <p:oleObj name="Equation" r:id="rId7" imgW="545626" imgH="215713" progId="Equation.DSMT4">
                  <p:embed/>
                  <p:pic>
                    <p:nvPicPr>
                      <p:cNvPr id="0"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8412" y="1123904"/>
                        <a:ext cx="1185863" cy="471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 name="Rectangle 32">
            <a:extLst>
              <a:ext uri="{FF2B5EF4-FFF2-40B4-BE49-F238E27FC236}">
                <a16:creationId xmlns:a16="http://schemas.microsoft.com/office/drawing/2014/main" id="{874409A2-156B-482B-75A7-6075B2F9B5F5}"/>
              </a:ext>
            </a:extLst>
          </p:cNvPr>
          <p:cNvSpPr>
            <a:spLocks noChangeArrowheads="1"/>
          </p:cNvSpPr>
          <p:nvPr/>
        </p:nvSpPr>
        <p:spPr bwMode="auto">
          <a:xfrm>
            <a:off x="395536" y="1137024"/>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特点</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50" name="Rectangle 33">
            <a:extLst>
              <a:ext uri="{FF2B5EF4-FFF2-40B4-BE49-F238E27FC236}">
                <a16:creationId xmlns:a16="http://schemas.microsoft.com/office/drawing/2014/main" id="{D36ADDBF-4E02-D971-9A62-F7792EC0452F}"/>
              </a:ext>
            </a:extLst>
          </p:cNvPr>
          <p:cNvSpPr>
            <a:spLocks noChangeArrowheads="1"/>
          </p:cNvSpPr>
          <p:nvPr/>
        </p:nvSpPr>
        <p:spPr bwMode="auto">
          <a:xfrm>
            <a:off x="2512950" y="1128816"/>
            <a:ext cx="8709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和</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51" name="Rectangle 34">
            <a:extLst>
              <a:ext uri="{FF2B5EF4-FFF2-40B4-BE49-F238E27FC236}">
                <a16:creationId xmlns:a16="http://schemas.microsoft.com/office/drawing/2014/main" id="{EBE8622D-365A-9624-B45C-A024F8050333}"/>
              </a:ext>
            </a:extLst>
          </p:cNvPr>
          <p:cNvSpPr>
            <a:spLocks noChangeArrowheads="1"/>
          </p:cNvSpPr>
          <p:nvPr/>
        </p:nvSpPr>
        <p:spPr bwMode="auto">
          <a:xfrm>
            <a:off x="467544" y="1070417"/>
            <a:ext cx="5184576" cy="3150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lnSpc>
                <a:spcPct val="120000"/>
              </a:lnSpc>
            </a:pP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的形状不同，不成正比；</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n=0</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时电流虽很大但由于功率因数较小，转矩并不很大；</a:t>
            </a:r>
            <a:r>
              <a:rPr kumimoji="0" lang="en-US" altLang="zh-CN" sz="24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n</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从</a:t>
            </a:r>
            <a:r>
              <a:rPr kumimoji="0" lang="en-US" altLang="zh-CN" sz="24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n0</a:t>
            </a:r>
            <a:r>
              <a:rPr kumimoji="0" lang="zh-CN" altLang="en-US" sz="24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逐渐减小时，电流增加很快，此时功率因数数值较大，转矩增加很快；</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在</a:t>
            </a:r>
            <a:r>
              <a:rPr kumimoji="0" lang="en-US" altLang="zh-CN" sz="24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n</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从</a:t>
            </a:r>
            <a:r>
              <a:rPr kumimoji="0" lang="en-US" altLang="zh-CN" sz="24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到</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n0</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间转矩出现一个最大值，称为异步机的最大转矩</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74" name="对象 73">
            <a:extLst>
              <a:ext uri="{FF2B5EF4-FFF2-40B4-BE49-F238E27FC236}">
                <a16:creationId xmlns:a16="http://schemas.microsoft.com/office/drawing/2014/main" id="{374CFB7C-7C05-8B86-3F84-CD33F3614FE3}"/>
              </a:ext>
            </a:extLst>
          </p:cNvPr>
          <p:cNvGraphicFramePr>
            <a:graphicFrameLocks noChangeAspect="1"/>
          </p:cNvGraphicFramePr>
          <p:nvPr>
            <p:extLst>
              <p:ext uri="{D42A27DB-BD31-4B8C-83A1-F6EECF244321}">
                <p14:modId xmlns:p14="http://schemas.microsoft.com/office/powerpoint/2010/main" val="1198114287"/>
              </p:ext>
            </p:extLst>
          </p:nvPr>
        </p:nvGraphicFramePr>
        <p:xfrm>
          <a:off x="4231481" y="3701975"/>
          <a:ext cx="681038" cy="519113"/>
        </p:xfrm>
        <a:graphic>
          <a:graphicData uri="http://schemas.openxmlformats.org/presentationml/2006/ole">
            <mc:AlternateContent xmlns:mc="http://schemas.openxmlformats.org/markup-compatibility/2006">
              <mc:Choice xmlns:v="urn:schemas-microsoft-com:vml" Requires="v">
                <p:oleObj name="Equation" r:id="rId9" imgW="291973" imgH="228501" progId="Equation.DSMT4">
                  <p:embed/>
                </p:oleObj>
              </mc:Choice>
              <mc:Fallback>
                <p:oleObj name="Equation" r:id="rId9" imgW="291973" imgH="228501" progId="Equation.DSMT4">
                  <p:embed/>
                  <p:pic>
                    <p:nvPicPr>
                      <p:cNvPr id="0" name="Object 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31481" y="3701975"/>
                        <a:ext cx="681038"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 name="Rectangle 59">
            <a:extLst>
              <a:ext uri="{FF2B5EF4-FFF2-40B4-BE49-F238E27FC236}">
                <a16:creationId xmlns:a16="http://schemas.microsoft.com/office/drawing/2014/main" id="{A383A228-A520-173B-1EA6-F3CC6F82E697}"/>
              </a:ext>
            </a:extLst>
          </p:cNvPr>
          <p:cNvSpPr>
            <a:spLocks noChangeArrowheads="1"/>
          </p:cNvSpPr>
          <p:nvPr/>
        </p:nvSpPr>
        <p:spPr bwMode="auto">
          <a:xfrm>
            <a:off x="490173" y="4532651"/>
            <a:ext cx="205590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物理表达式</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76" name="对象 75">
            <a:extLst>
              <a:ext uri="{FF2B5EF4-FFF2-40B4-BE49-F238E27FC236}">
                <a16:creationId xmlns:a16="http://schemas.microsoft.com/office/drawing/2014/main" id="{0CFE42F1-BAE1-70C2-A25B-C6B252AB7726}"/>
              </a:ext>
            </a:extLst>
          </p:cNvPr>
          <p:cNvGraphicFramePr>
            <a:graphicFrameLocks noChangeAspect="1"/>
          </p:cNvGraphicFramePr>
          <p:nvPr>
            <p:extLst>
              <p:ext uri="{D42A27DB-BD31-4B8C-83A1-F6EECF244321}">
                <p14:modId xmlns:p14="http://schemas.microsoft.com/office/powerpoint/2010/main" val="2561453675"/>
              </p:ext>
            </p:extLst>
          </p:nvPr>
        </p:nvGraphicFramePr>
        <p:xfrm>
          <a:off x="2327565" y="4518363"/>
          <a:ext cx="2614613" cy="485775"/>
        </p:xfrm>
        <a:graphic>
          <a:graphicData uri="http://schemas.openxmlformats.org/presentationml/2006/ole">
            <mc:AlternateContent xmlns:mc="http://schemas.openxmlformats.org/markup-compatibility/2006">
              <mc:Choice xmlns:v="urn:schemas-microsoft-com:vml" Requires="v">
                <p:oleObj name="Equation" r:id="rId11" imgW="1244600" imgH="228600" progId="Equation.DSMT4">
                  <p:embed/>
                </p:oleObj>
              </mc:Choice>
              <mc:Fallback>
                <p:oleObj name="Equation" r:id="rId11" imgW="1244600" imgH="228600" progId="Equation.DSMT4">
                  <p:embed/>
                  <p:pic>
                    <p:nvPicPr>
                      <p:cNvPr id="0" name="Object 5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27565" y="4518363"/>
                        <a:ext cx="2614613" cy="485775"/>
                      </a:xfrm>
                      <a:prstGeom prst="rect">
                        <a:avLst/>
                      </a:prstGeom>
                      <a:noFill/>
                      <a:extLst>
                        <a:ext uri="{909E8E84-426E-40DD-AFC4-6F175D3DCCD1}">
                          <a14:hiddenFill xmlns:a14="http://schemas.microsoft.com/office/drawing/2010/main">
                            <a:solidFill>
                              <a:srgbClr val="00FF00"/>
                            </a:solidFill>
                          </a14:hiddenFill>
                        </a:ext>
                      </a:extLst>
                    </p:spPr>
                  </p:pic>
                </p:oleObj>
              </mc:Fallback>
            </mc:AlternateContent>
          </a:graphicData>
        </a:graphic>
      </p:graphicFrame>
      <p:sp>
        <p:nvSpPr>
          <p:cNvPr id="77" name="Rectangle 60">
            <a:extLst>
              <a:ext uri="{FF2B5EF4-FFF2-40B4-BE49-F238E27FC236}">
                <a16:creationId xmlns:a16="http://schemas.microsoft.com/office/drawing/2014/main" id="{F1566C5E-4F42-6E61-ED09-C3F7053F7EC8}"/>
              </a:ext>
            </a:extLst>
          </p:cNvPr>
          <p:cNvSpPr>
            <a:spLocks noChangeArrowheads="1"/>
          </p:cNvSpPr>
          <p:nvPr/>
        </p:nvSpPr>
        <p:spPr bwMode="auto">
          <a:xfrm>
            <a:off x="490173" y="5035340"/>
            <a:ext cx="854632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反映了</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不同转速</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转矩</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与</a:t>
            </a: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磁通</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及</a:t>
            </a:r>
            <a:r>
              <a:rPr kumimoji="0" lang="zh-CN" altLang="en-US" sz="24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rPr>
              <a:t>转子电流有功分量</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间的关系，在形式上与直流电机的转矩表达式相似，用于在</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物理上分析</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电机在各种运行状态下转矩与磁通及转子电流有功分量间的</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方向关系</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较为方便，在矢量控制技术出现后更具应用意义。</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8" name="对象 77">
            <a:extLst>
              <a:ext uri="{FF2B5EF4-FFF2-40B4-BE49-F238E27FC236}">
                <a16:creationId xmlns:a16="http://schemas.microsoft.com/office/drawing/2014/main" id="{524E0C74-4916-F5E4-9C48-31AE198B63A2}"/>
              </a:ext>
            </a:extLst>
          </p:cNvPr>
          <p:cNvGraphicFramePr>
            <a:graphicFrameLocks noChangeAspect="1"/>
          </p:cNvGraphicFramePr>
          <p:nvPr>
            <p:extLst>
              <p:ext uri="{D42A27DB-BD31-4B8C-83A1-F6EECF244321}">
                <p14:modId xmlns:p14="http://schemas.microsoft.com/office/powerpoint/2010/main" val="1145837288"/>
              </p:ext>
            </p:extLst>
          </p:nvPr>
        </p:nvGraphicFramePr>
        <p:xfrm>
          <a:off x="5898046" y="3690725"/>
          <a:ext cx="972361" cy="400110"/>
        </p:xfrm>
        <a:graphic>
          <a:graphicData uri="http://schemas.openxmlformats.org/presentationml/2006/ole">
            <mc:AlternateContent xmlns:mc="http://schemas.openxmlformats.org/markup-compatibility/2006">
              <mc:Choice xmlns:v="urn:schemas-microsoft-com:vml" Requires="v">
                <p:oleObj name="Equation" r:id="rId5" imgW="545863" imgH="228501" progId="Equation.DSMT4">
                  <p:embed/>
                </p:oleObj>
              </mc:Choice>
              <mc:Fallback>
                <p:oleObj name="Equation" r:id="rId5" imgW="545863" imgH="228501" progId="Equation.DSMT4">
                  <p:embed/>
                  <p:pic>
                    <p:nvPicPr>
                      <p:cNvPr id="4" name="对象 3">
                        <a:extLst>
                          <a:ext uri="{FF2B5EF4-FFF2-40B4-BE49-F238E27FC236}">
                            <a16:creationId xmlns:a16="http://schemas.microsoft.com/office/drawing/2014/main" id="{9D407245-8352-8733-1581-8FFDE7A4C3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8046" y="3690725"/>
                        <a:ext cx="972361" cy="400110"/>
                      </a:xfrm>
                      <a:prstGeom prst="rect">
                        <a:avLst/>
                      </a:prstGeom>
                      <a:noFill/>
                    </p:spPr>
                  </p:pic>
                </p:oleObj>
              </mc:Fallback>
            </mc:AlternateContent>
          </a:graphicData>
        </a:graphic>
      </p:graphicFrame>
      <p:graphicFrame>
        <p:nvGraphicFramePr>
          <p:cNvPr id="79" name="对象 78">
            <a:extLst>
              <a:ext uri="{FF2B5EF4-FFF2-40B4-BE49-F238E27FC236}">
                <a16:creationId xmlns:a16="http://schemas.microsoft.com/office/drawing/2014/main" id="{68A7CBB7-4E5E-225E-6B58-1012635702B8}"/>
              </a:ext>
            </a:extLst>
          </p:cNvPr>
          <p:cNvGraphicFramePr>
            <a:graphicFrameLocks noChangeAspect="1"/>
          </p:cNvGraphicFramePr>
          <p:nvPr>
            <p:extLst>
              <p:ext uri="{D42A27DB-BD31-4B8C-83A1-F6EECF244321}">
                <p14:modId xmlns:p14="http://schemas.microsoft.com/office/powerpoint/2010/main" val="1249330769"/>
              </p:ext>
            </p:extLst>
          </p:nvPr>
        </p:nvGraphicFramePr>
        <p:xfrm>
          <a:off x="7046583" y="3685317"/>
          <a:ext cx="1462980" cy="413548"/>
        </p:xfrm>
        <a:graphic>
          <a:graphicData uri="http://schemas.openxmlformats.org/presentationml/2006/ole">
            <mc:AlternateContent xmlns:mc="http://schemas.openxmlformats.org/markup-compatibility/2006">
              <mc:Choice xmlns:v="urn:schemas-microsoft-com:vml" Requires="v">
                <p:oleObj name="Equation" r:id="rId13" imgW="800100" imgH="228600" progId="Equation.DSMT4">
                  <p:embed/>
                </p:oleObj>
              </mc:Choice>
              <mc:Fallback>
                <p:oleObj name="Equation" r:id="rId13" imgW="800100" imgH="228600" progId="Equation.DSMT4">
                  <p:embed/>
                  <p:pic>
                    <p:nvPicPr>
                      <p:cNvPr id="6" name="对象 5">
                        <a:extLst>
                          <a:ext uri="{FF2B5EF4-FFF2-40B4-BE49-F238E27FC236}">
                            <a16:creationId xmlns:a16="http://schemas.microsoft.com/office/drawing/2014/main" id="{CFFCB833-D790-A4DB-93DC-7AF86B99B7A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46583" y="3685317"/>
                        <a:ext cx="1462980" cy="413548"/>
                      </a:xfrm>
                      <a:prstGeom prst="rect">
                        <a:avLst/>
                      </a:prstGeom>
                      <a:noFill/>
                    </p:spPr>
                  </p:pic>
                </p:oleObj>
              </mc:Fallback>
            </mc:AlternateContent>
          </a:graphicData>
        </a:graphic>
      </p:graphicFrame>
      <p:sp>
        <p:nvSpPr>
          <p:cNvPr id="80" name="Rectangle 6">
            <a:extLst>
              <a:ext uri="{FF2B5EF4-FFF2-40B4-BE49-F238E27FC236}">
                <a16:creationId xmlns:a16="http://schemas.microsoft.com/office/drawing/2014/main" id="{EED3A442-C78A-39B2-7F93-915D160A392B}"/>
              </a:ext>
            </a:extLst>
          </p:cNvPr>
          <p:cNvSpPr>
            <a:spLocks noChangeArrowheads="1"/>
          </p:cNvSpPr>
          <p:nvPr/>
        </p:nvSpPr>
        <p:spPr bwMode="auto">
          <a:xfrm>
            <a:off x="6764388" y="3701378"/>
            <a:ext cx="576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81" name="Rectangle 6">
            <a:extLst>
              <a:ext uri="{FF2B5EF4-FFF2-40B4-BE49-F238E27FC236}">
                <a16:creationId xmlns:a16="http://schemas.microsoft.com/office/drawing/2014/main" id="{CE4CE189-27D3-493E-2F45-1B1F7CA64B84}"/>
              </a:ext>
            </a:extLst>
          </p:cNvPr>
          <p:cNvSpPr>
            <a:spLocks noChangeArrowheads="1"/>
          </p:cNvSpPr>
          <p:nvPr/>
        </p:nvSpPr>
        <p:spPr bwMode="auto">
          <a:xfrm>
            <a:off x="5810915" y="4098865"/>
            <a:ext cx="576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与</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graphicFrame>
        <p:nvGraphicFramePr>
          <p:cNvPr id="82" name="对象 81">
            <a:extLst>
              <a:ext uri="{FF2B5EF4-FFF2-40B4-BE49-F238E27FC236}">
                <a16:creationId xmlns:a16="http://schemas.microsoft.com/office/drawing/2014/main" id="{F70EE03B-659A-F4EB-E615-CBADA4812647}"/>
              </a:ext>
            </a:extLst>
          </p:cNvPr>
          <p:cNvGraphicFramePr>
            <a:graphicFrameLocks noChangeAspect="1"/>
          </p:cNvGraphicFramePr>
          <p:nvPr>
            <p:extLst>
              <p:ext uri="{D42A27DB-BD31-4B8C-83A1-F6EECF244321}">
                <p14:modId xmlns:p14="http://schemas.microsoft.com/office/powerpoint/2010/main" val="3947066833"/>
              </p:ext>
            </p:extLst>
          </p:nvPr>
        </p:nvGraphicFramePr>
        <p:xfrm>
          <a:off x="6192625" y="4032464"/>
          <a:ext cx="1307736" cy="532912"/>
        </p:xfrm>
        <a:graphic>
          <a:graphicData uri="http://schemas.openxmlformats.org/presentationml/2006/ole">
            <mc:AlternateContent xmlns:mc="http://schemas.openxmlformats.org/markup-compatibility/2006">
              <mc:Choice xmlns:v="urn:schemas-microsoft-com:vml" Requires="v">
                <p:oleObj name="Equation" r:id="rId15" imgW="647640" imgH="266400" progId="Equation.DSMT4">
                  <p:embed/>
                </p:oleObj>
              </mc:Choice>
              <mc:Fallback>
                <p:oleObj name="Equation" r:id="rId15" imgW="647640" imgH="266400" progId="Equation.DSMT4">
                  <p:embed/>
                  <p:pic>
                    <p:nvPicPr>
                      <p:cNvPr id="79" name="对象 78">
                        <a:extLst>
                          <a:ext uri="{FF2B5EF4-FFF2-40B4-BE49-F238E27FC236}">
                            <a16:creationId xmlns:a16="http://schemas.microsoft.com/office/drawing/2014/main" id="{68A7CBB7-4E5E-225E-6B58-1012635702B8}"/>
                          </a:ext>
                        </a:extLst>
                      </p:cNvPr>
                      <p:cNvPicPr>
                        <a:picLocks noChangeAspect="1" noChangeArrowheads="1"/>
                      </p:cNvPicPr>
                      <p:nvPr/>
                    </p:nvPicPr>
                    <p:blipFill>
                      <a:blip r:embed="rId16"/>
                      <a:srcRect/>
                      <a:stretch>
                        <a:fillRect/>
                      </a:stretch>
                    </p:blipFill>
                    <p:spPr bwMode="auto">
                      <a:xfrm>
                        <a:off x="6192625" y="4032464"/>
                        <a:ext cx="1307736" cy="532912"/>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DB7C371C-9676-DBB8-C68E-723805678366}"/>
              </a:ext>
            </a:extLst>
          </p:cNvPr>
          <p:cNvSpPr>
            <a:spLocks noGrp="1"/>
          </p:cNvSpPr>
          <p:nvPr>
            <p:ph type="sldNum" sz="quarter" idx="12"/>
          </p:nvPr>
        </p:nvSpPr>
        <p:spPr/>
        <p:txBody>
          <a:bodyPr/>
          <a:lstStyle/>
          <a:p>
            <a:fld id="{76D830B0-DF59-4281-898F-AF208100B213}" type="slidenum">
              <a:rPr lang="en-US" altLang="zh-CN" smtClean="0"/>
              <a:pPr/>
              <a:t>98</a:t>
            </a:fld>
            <a:endParaRPr lang="en-US" altLang="zh-CN"/>
          </a:p>
        </p:txBody>
      </p:sp>
    </p:spTree>
    <p:extLst>
      <p:ext uri="{BB962C8B-B14F-4D97-AF65-F5344CB8AC3E}">
        <p14:creationId xmlns:p14="http://schemas.microsoft.com/office/powerpoint/2010/main" val="97431636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A935C76-13E9-9A13-A187-F13F7CBF4CD2}"/>
              </a:ext>
            </a:extLst>
          </p:cNvPr>
          <p:cNvSpPr txBox="1"/>
          <p:nvPr/>
        </p:nvSpPr>
        <p:spPr>
          <a:xfrm>
            <a:off x="467543" y="1161798"/>
            <a:ext cx="4572000" cy="461665"/>
          </a:xfrm>
          <a:prstGeom prst="rect">
            <a:avLst/>
          </a:prstGeom>
          <a:noFill/>
        </p:spPr>
        <p:txBody>
          <a:bodyPr wrap="square">
            <a:spAutoFit/>
          </a:bodyPr>
          <a:lstStyle/>
          <a:p>
            <a:pPr marL="266700" algn="l"/>
            <a:r>
              <a:rPr lang="zh-CN" altLang="zh-CN" sz="2400" b="1" dirty="0">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二、机械特性的参数表达式</a:t>
            </a:r>
            <a:endParaRPr lang="zh-CN" altLang="zh-CN" sz="28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5" name="对象 4">
            <a:extLst>
              <a:ext uri="{FF2B5EF4-FFF2-40B4-BE49-F238E27FC236}">
                <a16:creationId xmlns:a16="http://schemas.microsoft.com/office/drawing/2014/main" id="{2F8DA218-0A23-4AE2-0888-F91CDAF80F45}"/>
              </a:ext>
            </a:extLst>
          </p:cNvPr>
          <p:cNvGraphicFramePr>
            <a:graphicFrameLocks noChangeAspect="1"/>
          </p:cNvGraphicFramePr>
          <p:nvPr>
            <p:extLst>
              <p:ext uri="{D42A27DB-BD31-4B8C-83A1-F6EECF244321}">
                <p14:modId xmlns:p14="http://schemas.microsoft.com/office/powerpoint/2010/main" val="2936314044"/>
              </p:ext>
            </p:extLst>
          </p:nvPr>
        </p:nvGraphicFramePr>
        <p:xfrm>
          <a:off x="4788024" y="822287"/>
          <a:ext cx="4092214" cy="2706687"/>
        </p:xfrm>
        <a:graphic>
          <a:graphicData uri="http://schemas.openxmlformats.org/presentationml/2006/ole">
            <mc:AlternateContent xmlns:mc="http://schemas.openxmlformats.org/markup-compatibility/2006">
              <mc:Choice xmlns:v="urn:schemas-microsoft-com:vml" Requires="v">
                <p:oleObj r:id="rId3" imgW="2482920" imgH="1649520" progId="">
                  <p:embed/>
                </p:oleObj>
              </mc:Choice>
              <mc:Fallback>
                <p:oleObj r:id="rId3" imgW="2482920" imgH="164952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8024" y="822287"/>
                        <a:ext cx="4092214" cy="2706687"/>
                      </a:xfrm>
                      <a:prstGeom prst="rect">
                        <a:avLst/>
                      </a:prstGeom>
                      <a:noFill/>
                      <a:ln>
                        <a:noFill/>
                      </a:ln>
                    </p:spPr>
                  </p:pic>
                </p:oleObj>
              </mc:Fallback>
            </mc:AlternateContent>
          </a:graphicData>
        </a:graphic>
      </p:graphicFrame>
      <p:graphicFrame>
        <p:nvGraphicFramePr>
          <p:cNvPr id="7" name="对象 6">
            <a:extLst>
              <a:ext uri="{FF2B5EF4-FFF2-40B4-BE49-F238E27FC236}">
                <a16:creationId xmlns:a16="http://schemas.microsoft.com/office/drawing/2014/main" id="{2132736C-9BB6-F0F8-A150-B51318CC1929}"/>
              </a:ext>
            </a:extLst>
          </p:cNvPr>
          <p:cNvGraphicFramePr>
            <a:graphicFrameLocks noChangeAspect="1"/>
          </p:cNvGraphicFramePr>
          <p:nvPr>
            <p:extLst>
              <p:ext uri="{D42A27DB-BD31-4B8C-83A1-F6EECF244321}">
                <p14:modId xmlns:p14="http://schemas.microsoft.com/office/powerpoint/2010/main" val="2838295739"/>
              </p:ext>
            </p:extLst>
          </p:nvPr>
        </p:nvGraphicFramePr>
        <p:xfrm>
          <a:off x="539552" y="1950465"/>
          <a:ext cx="3600400" cy="1367657"/>
        </p:xfrm>
        <a:graphic>
          <a:graphicData uri="http://schemas.openxmlformats.org/presentationml/2006/ole">
            <mc:AlternateContent xmlns:mc="http://schemas.openxmlformats.org/markup-compatibility/2006">
              <mc:Choice xmlns:v="urn:schemas-microsoft-com:vml" Requires="v">
                <p:oleObj name="Equation" r:id="rId5" imgW="1955800" imgH="736600" progId="Equation.DSMT4">
                  <p:embed/>
                </p:oleObj>
              </mc:Choice>
              <mc:Fallback>
                <p:oleObj name="Equation" r:id="rId5" imgW="1955800" imgH="7366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552" y="1950465"/>
                        <a:ext cx="3600400" cy="1367657"/>
                      </a:xfrm>
                      <a:prstGeom prst="rect">
                        <a:avLst/>
                      </a:prstGeom>
                      <a:noFill/>
                    </p:spPr>
                  </p:pic>
                </p:oleObj>
              </mc:Fallback>
            </mc:AlternateContent>
          </a:graphicData>
        </a:graphic>
      </p:graphicFrame>
      <p:graphicFrame>
        <p:nvGraphicFramePr>
          <p:cNvPr id="14" name="对象 13">
            <a:extLst>
              <a:ext uri="{FF2B5EF4-FFF2-40B4-BE49-F238E27FC236}">
                <a16:creationId xmlns:a16="http://schemas.microsoft.com/office/drawing/2014/main" id="{0159AA49-499E-FE75-A3BC-BDF9899B1AA7}"/>
              </a:ext>
            </a:extLst>
          </p:cNvPr>
          <p:cNvGraphicFramePr>
            <a:graphicFrameLocks noChangeAspect="1"/>
          </p:cNvGraphicFramePr>
          <p:nvPr>
            <p:extLst>
              <p:ext uri="{D42A27DB-BD31-4B8C-83A1-F6EECF244321}">
                <p14:modId xmlns:p14="http://schemas.microsoft.com/office/powerpoint/2010/main" val="607873320"/>
              </p:ext>
            </p:extLst>
          </p:nvPr>
        </p:nvGraphicFramePr>
        <p:xfrm>
          <a:off x="353822" y="3213233"/>
          <a:ext cx="4685721" cy="1615405"/>
        </p:xfrm>
        <a:graphic>
          <a:graphicData uri="http://schemas.openxmlformats.org/presentationml/2006/ole">
            <mc:AlternateContent xmlns:mc="http://schemas.openxmlformats.org/markup-compatibility/2006">
              <mc:Choice xmlns:v="urn:schemas-microsoft-com:vml" Requires="v">
                <p:oleObj name="Equation" r:id="rId7" imgW="2387520" imgH="825480" progId="Equation.DSMT4">
                  <p:embed/>
                </p:oleObj>
              </mc:Choice>
              <mc:Fallback>
                <p:oleObj name="Equation" r:id="rId7" imgW="2387520" imgH="825480" progId="Equation.DSMT4">
                  <p:embed/>
                  <p:pic>
                    <p:nvPicPr>
                      <p:cNvPr id="0" name="Object 7"/>
                      <p:cNvPicPr>
                        <a:picLocks noChangeAspect="1" noChangeArrowheads="1"/>
                      </p:cNvPicPr>
                      <p:nvPr/>
                    </p:nvPicPr>
                    <p:blipFill>
                      <a:blip r:embed="rId8"/>
                      <a:srcRect/>
                      <a:stretch>
                        <a:fillRect/>
                      </a:stretch>
                    </p:blipFill>
                    <p:spPr bwMode="auto">
                      <a:xfrm>
                        <a:off x="353822" y="3213233"/>
                        <a:ext cx="4685721" cy="1615405"/>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E85AFB1A-1C52-E2F9-4CEE-2307B71ECEC7}"/>
              </a:ext>
            </a:extLst>
          </p:cNvPr>
          <p:cNvGraphicFramePr>
            <a:graphicFrameLocks noChangeAspect="1"/>
          </p:cNvGraphicFramePr>
          <p:nvPr>
            <p:extLst>
              <p:ext uri="{D42A27DB-BD31-4B8C-83A1-F6EECF244321}">
                <p14:modId xmlns:p14="http://schemas.microsoft.com/office/powerpoint/2010/main" val="683649710"/>
              </p:ext>
            </p:extLst>
          </p:nvPr>
        </p:nvGraphicFramePr>
        <p:xfrm>
          <a:off x="5220072" y="3667280"/>
          <a:ext cx="3803825" cy="796469"/>
        </p:xfrm>
        <a:graphic>
          <a:graphicData uri="http://schemas.openxmlformats.org/presentationml/2006/ole">
            <mc:AlternateContent xmlns:mc="http://schemas.openxmlformats.org/markup-compatibility/2006">
              <mc:Choice xmlns:v="urn:schemas-microsoft-com:vml" Requires="v">
                <p:oleObj name="Equation" r:id="rId9" imgW="2006600" imgH="419100" progId="Equation.DSMT4">
                  <p:embed/>
                </p:oleObj>
              </mc:Choice>
              <mc:Fallback>
                <p:oleObj name="Equation" r:id="rId9" imgW="2006600" imgH="41910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20072" y="3667280"/>
                        <a:ext cx="3803825" cy="796469"/>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87FBFADB-5398-DC4E-D104-B80BC59BDE93}"/>
              </a:ext>
            </a:extLst>
          </p:cNvPr>
          <p:cNvGraphicFramePr>
            <a:graphicFrameLocks noChangeAspect="1"/>
          </p:cNvGraphicFramePr>
          <p:nvPr>
            <p:extLst>
              <p:ext uri="{D42A27DB-BD31-4B8C-83A1-F6EECF244321}">
                <p14:modId xmlns:p14="http://schemas.microsoft.com/office/powerpoint/2010/main" val="3896099332"/>
              </p:ext>
            </p:extLst>
          </p:nvPr>
        </p:nvGraphicFramePr>
        <p:xfrm>
          <a:off x="684213" y="4967288"/>
          <a:ext cx="7634287" cy="1539875"/>
        </p:xfrm>
        <a:graphic>
          <a:graphicData uri="http://schemas.openxmlformats.org/presentationml/2006/ole">
            <mc:AlternateContent xmlns:mc="http://schemas.openxmlformats.org/markup-compatibility/2006">
              <mc:Choice xmlns:v="urn:schemas-microsoft-com:vml" Requires="v">
                <p:oleObj name="Equation" r:id="rId11" imgW="4063680" imgH="825480" progId="Equation.DSMT4">
                  <p:embed/>
                </p:oleObj>
              </mc:Choice>
              <mc:Fallback>
                <p:oleObj name="Equation" r:id="rId11" imgW="4063680" imgH="825480" progId="Equation.DSMT4">
                  <p:embed/>
                  <p:pic>
                    <p:nvPicPr>
                      <p:cNvPr id="0" name="Object 11"/>
                      <p:cNvPicPr>
                        <a:picLocks noChangeAspect="1" noChangeArrowheads="1"/>
                      </p:cNvPicPr>
                      <p:nvPr/>
                    </p:nvPicPr>
                    <p:blipFill>
                      <a:blip r:embed="rId12"/>
                      <a:srcRect/>
                      <a:stretch>
                        <a:fillRect/>
                      </a:stretch>
                    </p:blipFill>
                    <p:spPr bwMode="auto">
                      <a:xfrm>
                        <a:off x="684213" y="4967288"/>
                        <a:ext cx="7634287" cy="1539875"/>
                      </a:xfrm>
                      <a:prstGeom prst="rect">
                        <a:avLst/>
                      </a:prstGeom>
                      <a:noFill/>
                    </p:spPr>
                  </p:pic>
                </p:oleObj>
              </mc:Fallback>
            </mc:AlternateContent>
          </a:graphicData>
        </a:graphic>
      </p:graphicFrame>
      <p:sp>
        <p:nvSpPr>
          <p:cNvPr id="3" name="灯片编号占位符 2">
            <a:extLst>
              <a:ext uri="{FF2B5EF4-FFF2-40B4-BE49-F238E27FC236}">
                <a16:creationId xmlns:a16="http://schemas.microsoft.com/office/drawing/2014/main" id="{248BA818-CE78-01CE-601F-BB01F956F040}"/>
              </a:ext>
            </a:extLst>
          </p:cNvPr>
          <p:cNvSpPr>
            <a:spLocks noGrp="1"/>
          </p:cNvSpPr>
          <p:nvPr>
            <p:ph type="sldNum" sz="quarter" idx="12"/>
          </p:nvPr>
        </p:nvSpPr>
        <p:spPr/>
        <p:txBody>
          <a:bodyPr/>
          <a:lstStyle/>
          <a:p>
            <a:fld id="{76D830B0-DF59-4281-898F-AF208100B213}" type="slidenum">
              <a:rPr lang="en-US" altLang="zh-CN" smtClean="0"/>
              <a:pPr/>
              <a:t>99</a:t>
            </a:fld>
            <a:endParaRPr lang="en-US" altLang="zh-CN"/>
          </a:p>
        </p:txBody>
      </p:sp>
    </p:spTree>
    <p:extLst>
      <p:ext uri="{BB962C8B-B14F-4D97-AF65-F5344CB8AC3E}">
        <p14:creationId xmlns:p14="http://schemas.microsoft.com/office/powerpoint/2010/main" val="38178489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5D99B03B-A1CA-B2F9-AA1B-A9E3CD0646E0}"/>
              </a:ext>
            </a:extLst>
          </p:cNvPr>
          <p:cNvSpPr>
            <a:spLocks noChangeArrowheads="1"/>
          </p:cNvSpPr>
          <p:nvPr/>
        </p:nvSpPr>
        <p:spPr bwMode="auto">
          <a:xfrm>
            <a:off x="611560" y="1019090"/>
            <a:ext cx="7920880" cy="111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将</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代入，可得机械特性           </a:t>
            </a:r>
            <a:r>
              <a:rPr lang="zh-CN" altLang="en-US" sz="24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，显然机械特性形状应与物理表达式的相同。</a:t>
            </a:r>
            <a:endPar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2" name="对象 1">
            <a:extLst>
              <a:ext uri="{FF2B5EF4-FFF2-40B4-BE49-F238E27FC236}">
                <a16:creationId xmlns:a16="http://schemas.microsoft.com/office/drawing/2014/main" id="{457F85E0-C9E2-2A92-1437-2DCEA2CA3C7F}"/>
              </a:ext>
            </a:extLst>
          </p:cNvPr>
          <p:cNvGraphicFramePr>
            <a:graphicFrameLocks noChangeAspect="1"/>
          </p:cNvGraphicFramePr>
          <p:nvPr>
            <p:extLst>
              <p:ext uri="{D42A27DB-BD31-4B8C-83A1-F6EECF244321}">
                <p14:modId xmlns:p14="http://schemas.microsoft.com/office/powerpoint/2010/main" val="1309804056"/>
              </p:ext>
            </p:extLst>
          </p:nvPr>
        </p:nvGraphicFramePr>
        <p:xfrm>
          <a:off x="1759099" y="1019090"/>
          <a:ext cx="1228725" cy="814388"/>
        </p:xfrm>
        <a:graphic>
          <a:graphicData uri="http://schemas.openxmlformats.org/presentationml/2006/ole">
            <mc:AlternateContent xmlns:mc="http://schemas.openxmlformats.org/markup-compatibility/2006">
              <mc:Choice xmlns:v="urn:schemas-microsoft-com:vml" Requires="v">
                <p:oleObj name="Equation" r:id="rId3" imgW="672808" imgH="444307" progId="Equation.DSMT4">
                  <p:embed/>
                </p:oleObj>
              </mc:Choice>
              <mc:Fallback>
                <p:oleObj name="Equation" r:id="rId3" imgW="672808" imgH="444307"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9099" y="1019090"/>
                        <a:ext cx="1228725" cy="814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a:extLst>
              <a:ext uri="{FF2B5EF4-FFF2-40B4-BE49-F238E27FC236}">
                <a16:creationId xmlns:a16="http://schemas.microsoft.com/office/drawing/2014/main" id="{C8F3A03C-1CA7-30AE-A37E-15914E45FD37}"/>
              </a:ext>
            </a:extLst>
          </p:cNvPr>
          <p:cNvGraphicFramePr>
            <a:graphicFrameLocks noChangeAspect="1"/>
          </p:cNvGraphicFramePr>
          <p:nvPr>
            <p:extLst>
              <p:ext uri="{D42A27DB-BD31-4B8C-83A1-F6EECF244321}">
                <p14:modId xmlns:p14="http://schemas.microsoft.com/office/powerpoint/2010/main" val="3003328849"/>
              </p:ext>
            </p:extLst>
          </p:nvPr>
        </p:nvGraphicFramePr>
        <p:xfrm>
          <a:off x="5872731" y="1115407"/>
          <a:ext cx="1579589" cy="517103"/>
        </p:xfrm>
        <a:graphic>
          <a:graphicData uri="http://schemas.openxmlformats.org/presentationml/2006/ole">
            <mc:AlternateContent xmlns:mc="http://schemas.openxmlformats.org/markup-compatibility/2006">
              <mc:Choice xmlns:v="urn:schemas-microsoft-com:vml" Requires="v">
                <p:oleObj name="Equation" r:id="rId5" imgW="698500" imgH="228600" progId="Equation.DSMT4">
                  <p:embed/>
                </p:oleObj>
              </mc:Choice>
              <mc:Fallback>
                <p:oleObj name="Equation" r:id="rId5" imgW="698500" imgH="228600"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2731" y="1115407"/>
                        <a:ext cx="1579589" cy="517103"/>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88F74814-5216-3A91-9E07-311138906923}"/>
              </a:ext>
            </a:extLst>
          </p:cNvPr>
          <p:cNvGraphicFramePr>
            <a:graphicFrameLocks noChangeAspect="1"/>
          </p:cNvGraphicFramePr>
          <p:nvPr>
            <p:extLst>
              <p:ext uri="{D42A27DB-BD31-4B8C-83A1-F6EECF244321}">
                <p14:modId xmlns:p14="http://schemas.microsoft.com/office/powerpoint/2010/main" val="1813999579"/>
              </p:ext>
            </p:extLst>
          </p:nvPr>
        </p:nvGraphicFramePr>
        <p:xfrm>
          <a:off x="1165274" y="2300659"/>
          <a:ext cx="4414838" cy="1776413"/>
        </p:xfrm>
        <a:graphic>
          <a:graphicData uri="http://schemas.openxmlformats.org/presentationml/2006/ole">
            <mc:AlternateContent xmlns:mc="http://schemas.openxmlformats.org/markup-compatibility/2006">
              <mc:Choice xmlns:v="urn:schemas-microsoft-com:vml" Requires="v">
                <p:oleObj name="Equation" r:id="rId7" imgW="2235200" imgH="901700" progId="Equation.DSMT4">
                  <p:embed/>
                </p:oleObj>
              </mc:Choice>
              <mc:Fallback>
                <p:oleObj name="Equation" r:id="rId7" imgW="2235200" imgH="9017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65274" y="2300659"/>
                        <a:ext cx="4414838" cy="1776413"/>
                      </a:xfrm>
                      <a:prstGeom prst="rect">
                        <a:avLst/>
                      </a:prstGeom>
                      <a:solidFill>
                        <a:srgbClr val="00FF00"/>
                      </a:solidFill>
                    </p:spPr>
                  </p:pic>
                </p:oleObj>
              </mc:Fallback>
            </mc:AlternateContent>
          </a:graphicData>
        </a:graphic>
      </p:graphicFrame>
      <p:sp>
        <p:nvSpPr>
          <p:cNvPr id="12" name="文本框 11">
            <a:extLst>
              <a:ext uri="{FF2B5EF4-FFF2-40B4-BE49-F238E27FC236}">
                <a16:creationId xmlns:a16="http://schemas.microsoft.com/office/drawing/2014/main" id="{FA9EAB11-4CC4-DF26-BD91-4E6851906151}"/>
              </a:ext>
            </a:extLst>
          </p:cNvPr>
          <p:cNvSpPr txBox="1"/>
          <p:nvPr/>
        </p:nvSpPr>
        <p:spPr>
          <a:xfrm>
            <a:off x="6289419" y="2588700"/>
            <a:ext cx="2088232" cy="1200329"/>
          </a:xfrm>
          <a:prstGeom prst="rect">
            <a:avLst/>
          </a:prstGeom>
          <a:noFill/>
        </p:spPr>
        <p:txBody>
          <a:bodyPr wrap="square">
            <a:spAutoFit/>
          </a:bodyPr>
          <a:lstStyle/>
          <a:p>
            <a:pPr algn="just"/>
            <a:r>
              <a:rPr lang="zh-CN"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称为异步电动机机械特性的</a:t>
            </a:r>
            <a:r>
              <a:rPr lang="zh-CN" altLang="zh-CN" sz="2400" b="1" dirty="0">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参数表达式</a:t>
            </a:r>
            <a:r>
              <a:rPr lang="zh-CN"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endParaRPr lang="zh-CN" altLang="zh-CN" sz="28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13" name="箭头: 右 12">
            <a:extLst>
              <a:ext uri="{FF2B5EF4-FFF2-40B4-BE49-F238E27FC236}">
                <a16:creationId xmlns:a16="http://schemas.microsoft.com/office/drawing/2014/main" id="{EDFCDBC5-B049-CB04-7136-0CD3E30C043C}"/>
              </a:ext>
            </a:extLst>
          </p:cNvPr>
          <p:cNvSpPr/>
          <p:nvPr/>
        </p:nvSpPr>
        <p:spPr>
          <a:xfrm>
            <a:off x="5724128" y="3008846"/>
            <a:ext cx="432048"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1" name="对象 20">
            <a:extLst>
              <a:ext uri="{FF2B5EF4-FFF2-40B4-BE49-F238E27FC236}">
                <a16:creationId xmlns:a16="http://schemas.microsoft.com/office/drawing/2014/main" id="{1FCBF486-F893-4053-CC2A-D7EE0A8C16F6}"/>
              </a:ext>
            </a:extLst>
          </p:cNvPr>
          <p:cNvGraphicFramePr>
            <a:graphicFrameLocks noChangeAspect="1"/>
          </p:cNvGraphicFramePr>
          <p:nvPr>
            <p:extLst>
              <p:ext uri="{D42A27DB-BD31-4B8C-83A1-F6EECF244321}">
                <p14:modId xmlns:p14="http://schemas.microsoft.com/office/powerpoint/2010/main" val="1104371194"/>
              </p:ext>
            </p:extLst>
          </p:nvPr>
        </p:nvGraphicFramePr>
        <p:xfrm>
          <a:off x="1138957" y="4206871"/>
          <a:ext cx="2232248" cy="2535067"/>
        </p:xfrm>
        <a:graphic>
          <a:graphicData uri="http://schemas.openxmlformats.org/presentationml/2006/ole">
            <mc:AlternateContent xmlns:mc="http://schemas.openxmlformats.org/markup-compatibility/2006">
              <mc:Choice xmlns:v="urn:schemas-microsoft-com:vml" Requires="v">
                <p:oleObj r:id="rId9" imgW="1189080" imgH="1347840" progId="">
                  <p:embed/>
                </p:oleObj>
              </mc:Choice>
              <mc:Fallback>
                <p:oleObj r:id="rId9" imgW="1189080" imgH="1347840" progId="">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38957" y="4206871"/>
                        <a:ext cx="2232248" cy="2535067"/>
                      </a:xfrm>
                      <a:prstGeom prst="rect">
                        <a:avLst/>
                      </a:prstGeom>
                      <a:noFill/>
                      <a:ln>
                        <a:noFill/>
                      </a:ln>
                    </p:spPr>
                  </p:pic>
                </p:oleObj>
              </mc:Fallback>
            </mc:AlternateContent>
          </a:graphicData>
        </a:graphic>
      </p:graphicFrame>
      <p:graphicFrame>
        <p:nvGraphicFramePr>
          <p:cNvPr id="23" name="对象 22">
            <a:extLst>
              <a:ext uri="{FF2B5EF4-FFF2-40B4-BE49-F238E27FC236}">
                <a16:creationId xmlns:a16="http://schemas.microsoft.com/office/drawing/2014/main" id="{90E96D37-3307-453A-FEE0-55609F72016E}"/>
              </a:ext>
            </a:extLst>
          </p:cNvPr>
          <p:cNvGraphicFramePr>
            <a:graphicFrameLocks noChangeAspect="1"/>
          </p:cNvGraphicFramePr>
          <p:nvPr>
            <p:extLst>
              <p:ext uri="{D42A27DB-BD31-4B8C-83A1-F6EECF244321}">
                <p14:modId xmlns:p14="http://schemas.microsoft.com/office/powerpoint/2010/main" val="3268809135"/>
              </p:ext>
            </p:extLst>
          </p:nvPr>
        </p:nvGraphicFramePr>
        <p:xfrm>
          <a:off x="3995936" y="4300713"/>
          <a:ext cx="4176965" cy="2347385"/>
        </p:xfrm>
        <a:graphic>
          <a:graphicData uri="http://schemas.openxmlformats.org/presentationml/2006/ole">
            <mc:AlternateContent xmlns:mc="http://schemas.openxmlformats.org/markup-compatibility/2006">
              <mc:Choice xmlns:v="urn:schemas-microsoft-com:vml" Requires="v">
                <p:oleObj r:id="rId11" imgW="2346325" imgH="1322388" progId="MSDraw">
                  <p:embed/>
                </p:oleObj>
              </mc:Choice>
              <mc:Fallback>
                <p:oleObj r:id="rId11" imgW="2346325" imgH="1322388" progId="MSDraw">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95936" y="4300713"/>
                        <a:ext cx="4176965" cy="2347385"/>
                      </a:xfrm>
                      <a:prstGeom prst="rect">
                        <a:avLst/>
                      </a:prstGeom>
                      <a:noFill/>
                    </p:spPr>
                  </p:pic>
                </p:oleObj>
              </mc:Fallback>
            </mc:AlternateContent>
          </a:graphicData>
        </a:graphic>
      </p:graphicFrame>
      <p:sp>
        <p:nvSpPr>
          <p:cNvPr id="5" name="灯片编号占位符 4">
            <a:extLst>
              <a:ext uri="{FF2B5EF4-FFF2-40B4-BE49-F238E27FC236}">
                <a16:creationId xmlns:a16="http://schemas.microsoft.com/office/drawing/2014/main" id="{ABDFDE33-FD0A-0FCF-972A-B8190508C65B}"/>
              </a:ext>
            </a:extLst>
          </p:cNvPr>
          <p:cNvSpPr>
            <a:spLocks noGrp="1"/>
          </p:cNvSpPr>
          <p:nvPr>
            <p:ph type="sldNum" sz="quarter" idx="12"/>
          </p:nvPr>
        </p:nvSpPr>
        <p:spPr/>
        <p:txBody>
          <a:bodyPr/>
          <a:lstStyle/>
          <a:p>
            <a:fld id="{76D830B0-DF59-4281-898F-AF208100B213}" type="slidenum">
              <a:rPr lang="en-US" altLang="zh-CN" smtClean="0"/>
              <a:pPr/>
              <a:t>100</a:t>
            </a:fld>
            <a:endParaRPr lang="en-US" altLang="zh-CN"/>
          </a:p>
        </p:txBody>
      </p:sp>
    </p:spTree>
    <p:extLst>
      <p:ext uri="{BB962C8B-B14F-4D97-AF65-F5344CB8AC3E}">
        <p14:creationId xmlns:p14="http://schemas.microsoft.com/office/powerpoint/2010/main" val="37551144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F119162-8E6B-B342-3DFB-454044C065CB}"/>
              </a:ext>
            </a:extLst>
          </p:cNvPr>
          <p:cNvSpPr>
            <a:spLocks noChangeArrowheads="1"/>
          </p:cNvSpPr>
          <p:nvPr/>
        </p:nvSpPr>
        <p:spPr bwMode="auto">
          <a:xfrm>
            <a:off x="683568" y="997148"/>
            <a:ext cx="56886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令</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，得</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临界转差率</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a:extLst>
              <a:ext uri="{FF2B5EF4-FFF2-40B4-BE49-F238E27FC236}">
                <a16:creationId xmlns:a16="http://schemas.microsoft.com/office/drawing/2014/main" id="{1DF53931-34A4-F7A0-AC80-FCC6C6DE6826}"/>
              </a:ext>
            </a:extLst>
          </p:cNvPr>
          <p:cNvGraphicFramePr>
            <a:graphicFrameLocks noChangeAspect="1"/>
          </p:cNvGraphicFramePr>
          <p:nvPr>
            <p:extLst>
              <p:ext uri="{D42A27DB-BD31-4B8C-83A1-F6EECF244321}">
                <p14:modId xmlns:p14="http://schemas.microsoft.com/office/powerpoint/2010/main" val="859230379"/>
              </p:ext>
            </p:extLst>
          </p:nvPr>
        </p:nvGraphicFramePr>
        <p:xfrm>
          <a:off x="1259632" y="889842"/>
          <a:ext cx="819150" cy="676275"/>
        </p:xfrm>
        <a:graphic>
          <a:graphicData uri="http://schemas.openxmlformats.org/presentationml/2006/ole">
            <mc:AlternateContent xmlns:mc="http://schemas.openxmlformats.org/markup-compatibility/2006">
              <mc:Choice xmlns:v="urn:schemas-microsoft-com:vml" Requires="v">
                <p:oleObj name="Equation" r:id="rId3" imgW="469696" imgH="393529" progId="Equation.DSMT4">
                  <p:embed/>
                </p:oleObj>
              </mc:Choice>
              <mc:Fallback>
                <p:oleObj name="Equation" r:id="rId3" imgW="469696" imgH="393529"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889842"/>
                        <a:ext cx="819150"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a:extLst>
              <a:ext uri="{FF2B5EF4-FFF2-40B4-BE49-F238E27FC236}">
                <a16:creationId xmlns:a16="http://schemas.microsoft.com/office/drawing/2014/main" id="{DCA33F08-6F63-010D-10A4-65BB9DC2602E}"/>
              </a:ext>
            </a:extLst>
          </p:cNvPr>
          <p:cNvGraphicFramePr>
            <a:graphicFrameLocks noChangeAspect="1"/>
          </p:cNvGraphicFramePr>
          <p:nvPr>
            <p:extLst>
              <p:ext uri="{D42A27DB-BD31-4B8C-83A1-F6EECF244321}">
                <p14:modId xmlns:p14="http://schemas.microsoft.com/office/powerpoint/2010/main" val="2688820569"/>
              </p:ext>
            </p:extLst>
          </p:nvPr>
        </p:nvGraphicFramePr>
        <p:xfrm>
          <a:off x="3159695" y="1587131"/>
          <a:ext cx="3248025" cy="1057275"/>
        </p:xfrm>
        <a:graphic>
          <a:graphicData uri="http://schemas.openxmlformats.org/presentationml/2006/ole">
            <mc:AlternateContent xmlns:mc="http://schemas.openxmlformats.org/markup-compatibility/2006">
              <mc:Choice xmlns:v="urn:schemas-microsoft-com:vml" Requires="v">
                <p:oleObj name="Equation" r:id="rId5" imgW="1625600" imgH="533400" progId="Equation.DSMT4">
                  <p:embed/>
                </p:oleObj>
              </mc:Choice>
              <mc:Fallback>
                <p:oleObj name="Equation" r:id="rId5" imgW="1625600" imgH="5334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9695" y="1587131"/>
                        <a:ext cx="3248025" cy="1057275"/>
                      </a:xfrm>
                      <a:prstGeom prst="rect">
                        <a:avLst/>
                      </a:prstGeom>
                      <a:solidFill>
                        <a:srgbClr val="00FF00"/>
                      </a:solidFill>
                    </p:spPr>
                  </p:pic>
                </p:oleObj>
              </mc:Fallback>
            </mc:AlternateContent>
          </a:graphicData>
        </a:graphic>
      </p:graphicFrame>
      <p:sp>
        <p:nvSpPr>
          <p:cNvPr id="14" name="文本框 13">
            <a:extLst>
              <a:ext uri="{FF2B5EF4-FFF2-40B4-BE49-F238E27FC236}">
                <a16:creationId xmlns:a16="http://schemas.microsoft.com/office/drawing/2014/main" id="{F0ED24AB-F0B9-A0E2-0F02-24AF1FFCC05A}"/>
              </a:ext>
            </a:extLst>
          </p:cNvPr>
          <p:cNvSpPr txBox="1"/>
          <p:nvPr/>
        </p:nvSpPr>
        <p:spPr>
          <a:xfrm>
            <a:off x="6523881" y="1828575"/>
            <a:ext cx="2520280" cy="646331"/>
          </a:xfrm>
          <a:prstGeom prst="rect">
            <a:avLst/>
          </a:prstGeom>
          <a:noFill/>
        </p:spPr>
        <p:txBody>
          <a:bodyPr wrap="square">
            <a:spAutoFit/>
          </a:bodyPr>
          <a:lstStyle/>
          <a:p>
            <a:pPr algn="just"/>
            <a:r>
              <a:rPr lang="zh-CN" altLang="zh-CN" sz="1800" b="1" dirty="0">
                <a:solidFill>
                  <a:srgbClr val="C00000"/>
                </a:solidFill>
                <a:effectLst/>
                <a:latin typeface="宋体" panose="02010600030101010101" pitchFamily="2" charset="-122"/>
                <a:ea typeface="黑体" panose="02010609060101010101" pitchFamily="49" charset="-122"/>
                <a:cs typeface="Times New Roman" panose="02020603050405020304" pitchFamily="18" charset="0"/>
              </a:rPr>
              <a:t>（正号对应电动机状态，负号对应发电机状态）</a:t>
            </a:r>
            <a:endParaRPr lang="zh-CN" altLang="zh-CN" sz="2000" b="1" dirty="0">
              <a:solidFill>
                <a:srgbClr val="C0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15" name="对象 14">
            <a:extLst>
              <a:ext uri="{FF2B5EF4-FFF2-40B4-BE49-F238E27FC236}">
                <a16:creationId xmlns:a16="http://schemas.microsoft.com/office/drawing/2014/main" id="{35C36C27-C7CC-A1A4-2999-8760D1D4F977}"/>
              </a:ext>
            </a:extLst>
          </p:cNvPr>
          <p:cNvGraphicFramePr>
            <a:graphicFrameLocks noChangeAspect="1"/>
          </p:cNvGraphicFramePr>
          <p:nvPr>
            <p:extLst>
              <p:ext uri="{D42A27DB-BD31-4B8C-83A1-F6EECF244321}">
                <p14:modId xmlns:p14="http://schemas.microsoft.com/office/powerpoint/2010/main" val="2894732132"/>
              </p:ext>
            </p:extLst>
          </p:nvPr>
        </p:nvGraphicFramePr>
        <p:xfrm>
          <a:off x="116556" y="3625144"/>
          <a:ext cx="114300" cy="214313"/>
        </p:xfrm>
        <a:graphic>
          <a:graphicData uri="http://schemas.openxmlformats.org/presentationml/2006/ole">
            <mc:AlternateContent xmlns:mc="http://schemas.openxmlformats.org/markup-compatibility/2006">
              <mc:Choice xmlns:v="urn:schemas-microsoft-com:vml" Requires="v">
                <p:oleObj name="Equation" r:id="rId7" imgW="114151" imgH="215619" progId="Equation.DSMT4">
                  <p:embed/>
                </p:oleObj>
              </mc:Choice>
              <mc:Fallback>
                <p:oleObj name="Equation" r:id="rId7" imgW="114151" imgH="215619"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6556" y="3625144"/>
                        <a:ext cx="114300" cy="21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a:extLst>
              <a:ext uri="{FF2B5EF4-FFF2-40B4-BE49-F238E27FC236}">
                <a16:creationId xmlns:a16="http://schemas.microsoft.com/office/drawing/2014/main" id="{10B4FB1A-9D7F-BA0D-8FA6-006EF20230F0}"/>
              </a:ext>
            </a:extLst>
          </p:cNvPr>
          <p:cNvGraphicFramePr>
            <a:graphicFrameLocks noChangeAspect="1"/>
          </p:cNvGraphicFramePr>
          <p:nvPr>
            <p:extLst>
              <p:ext uri="{D42A27DB-BD31-4B8C-83A1-F6EECF244321}">
                <p14:modId xmlns:p14="http://schemas.microsoft.com/office/powerpoint/2010/main" val="3745400955"/>
              </p:ext>
            </p:extLst>
          </p:nvPr>
        </p:nvGraphicFramePr>
        <p:xfrm>
          <a:off x="2748024" y="3429000"/>
          <a:ext cx="4395788" cy="1019175"/>
        </p:xfrm>
        <a:graphic>
          <a:graphicData uri="http://schemas.openxmlformats.org/presentationml/2006/ole">
            <mc:AlternateContent xmlns:mc="http://schemas.openxmlformats.org/markup-compatibility/2006">
              <mc:Choice xmlns:v="urn:schemas-microsoft-com:vml" Requires="v">
                <p:oleObj name="Equation" r:id="rId9" imgW="2298700" imgH="533400" progId="Equation.DSMT4">
                  <p:embed/>
                </p:oleObj>
              </mc:Choice>
              <mc:Fallback>
                <p:oleObj name="Equation" r:id="rId9" imgW="2298700" imgH="5334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8024" y="3429000"/>
                        <a:ext cx="4395788" cy="1019175"/>
                      </a:xfrm>
                      <a:prstGeom prst="rect">
                        <a:avLst/>
                      </a:prstGeom>
                      <a:solidFill>
                        <a:srgbClr val="00FF00"/>
                      </a:solidFill>
                    </p:spPr>
                  </p:pic>
                </p:oleObj>
              </mc:Fallback>
            </mc:AlternateContent>
          </a:graphicData>
        </a:graphic>
      </p:graphicFrame>
      <p:sp>
        <p:nvSpPr>
          <p:cNvPr id="17" name="Rectangle 8">
            <a:extLst>
              <a:ext uri="{FF2B5EF4-FFF2-40B4-BE49-F238E27FC236}">
                <a16:creationId xmlns:a16="http://schemas.microsoft.com/office/drawing/2014/main" id="{E4CFEB51-C692-D152-59D9-A7E90C2CD6FD}"/>
              </a:ext>
            </a:extLst>
          </p:cNvPr>
          <p:cNvSpPr>
            <a:spLocks noChangeArrowheads="1"/>
          </p:cNvSpPr>
          <p:nvPr/>
        </p:nvSpPr>
        <p:spPr bwMode="auto">
          <a:xfrm>
            <a:off x="668109" y="2855355"/>
            <a:ext cx="45365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对电动机状态</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，它的</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最大转矩</a:t>
            </a: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9" name="Rectangle 11">
            <a:extLst>
              <a:ext uri="{FF2B5EF4-FFF2-40B4-BE49-F238E27FC236}">
                <a16:creationId xmlns:a16="http://schemas.microsoft.com/office/drawing/2014/main" id="{247FA504-C6AB-B195-16CA-0930B23A48BC}"/>
              </a:ext>
            </a:extLst>
          </p:cNvPr>
          <p:cNvSpPr>
            <a:spLocks noChangeArrowheads="1"/>
          </p:cNvSpPr>
          <p:nvPr/>
        </p:nvSpPr>
        <p:spPr bwMode="auto">
          <a:xfrm>
            <a:off x="611560" y="4713562"/>
            <a:ext cx="834429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特点：</a:t>
            </a:r>
            <a:endParaRPr kumimoji="0" lang="zh-CN" altLang="zh-CN" sz="400" b="1" i="0" u="none" strike="noStrike" cap="none" normalizeH="0" baseline="0" dirty="0">
              <a:ln>
                <a:noFill/>
              </a:ln>
              <a:solidFill>
                <a:srgbClr val="C00000"/>
              </a:solidFill>
              <a:effectLs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当电机各参数及电源频率不变时，最大转矩与</a:t>
            </a:r>
            <a:r>
              <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成正比；</a:t>
            </a:r>
          </a:p>
          <a:p>
            <a:pPr marL="342900" indent="-342900" eaLnBrk="0" hangingPunct="0">
              <a:buFont typeface="Wingdings" panose="05000000000000000000" pitchFamily="2" charset="2"/>
              <a:buChar char="Ø"/>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临界转差率与电源电压无关。</a:t>
            </a:r>
            <a:endParaRPr kumimoji="0" lang="zh-CN" altLang="zh-CN"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最大转矩与转子电阻大小无关</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zh-CN" altLang="zh-CN"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临界转差率与转子电阻成正比</a:t>
            </a:r>
            <a:r>
              <a:rPr kumimoji="0" lang="zh-CN" altLang="en-US" sz="24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graphicFrame>
        <p:nvGraphicFramePr>
          <p:cNvPr id="20" name="对象 19">
            <a:extLst>
              <a:ext uri="{FF2B5EF4-FFF2-40B4-BE49-F238E27FC236}">
                <a16:creationId xmlns:a16="http://schemas.microsoft.com/office/drawing/2014/main" id="{28FC3844-4E93-4C9B-E8AE-B15E0BB1EF20}"/>
              </a:ext>
            </a:extLst>
          </p:cNvPr>
          <p:cNvGraphicFramePr>
            <a:graphicFrameLocks noChangeAspect="1"/>
          </p:cNvGraphicFramePr>
          <p:nvPr>
            <p:extLst>
              <p:ext uri="{D42A27DB-BD31-4B8C-83A1-F6EECF244321}">
                <p14:modId xmlns:p14="http://schemas.microsoft.com/office/powerpoint/2010/main" val="2764145729"/>
              </p:ext>
            </p:extLst>
          </p:nvPr>
        </p:nvGraphicFramePr>
        <p:xfrm>
          <a:off x="7158957" y="5101990"/>
          <a:ext cx="457200" cy="504825"/>
        </p:xfrm>
        <a:graphic>
          <a:graphicData uri="http://schemas.openxmlformats.org/presentationml/2006/ole">
            <mc:AlternateContent xmlns:mc="http://schemas.openxmlformats.org/markup-compatibility/2006">
              <mc:Choice xmlns:v="urn:schemas-microsoft-com:vml" Requires="v">
                <p:oleObj name="Equation" r:id="rId11" imgW="215713" imgH="241091" progId="Equation.DSMT4">
                  <p:embed/>
                </p:oleObj>
              </mc:Choice>
              <mc:Fallback>
                <p:oleObj name="Equation" r:id="rId11" imgW="215713" imgH="241091"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58957" y="5101990"/>
                        <a:ext cx="45720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灯片编号占位符 2">
            <a:extLst>
              <a:ext uri="{FF2B5EF4-FFF2-40B4-BE49-F238E27FC236}">
                <a16:creationId xmlns:a16="http://schemas.microsoft.com/office/drawing/2014/main" id="{8ACAD773-8469-58FE-8D48-D0172FB7E6FF}"/>
              </a:ext>
            </a:extLst>
          </p:cNvPr>
          <p:cNvSpPr>
            <a:spLocks noGrp="1"/>
          </p:cNvSpPr>
          <p:nvPr>
            <p:ph type="sldNum" sz="quarter" idx="12"/>
          </p:nvPr>
        </p:nvSpPr>
        <p:spPr/>
        <p:txBody>
          <a:bodyPr/>
          <a:lstStyle/>
          <a:p>
            <a:fld id="{76D830B0-DF59-4281-898F-AF208100B213}" type="slidenum">
              <a:rPr lang="en-US" altLang="zh-CN" smtClean="0"/>
              <a:pPr/>
              <a:t>101</a:t>
            </a:fld>
            <a:endParaRPr lang="en-US" altLang="zh-CN"/>
          </a:p>
        </p:txBody>
      </p:sp>
    </p:spTree>
    <p:extLst>
      <p:ext uri="{BB962C8B-B14F-4D97-AF65-F5344CB8AC3E}">
        <p14:creationId xmlns:p14="http://schemas.microsoft.com/office/powerpoint/2010/main" val="382252853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14">
            <a:extLst>
              <a:ext uri="{FF2B5EF4-FFF2-40B4-BE49-F238E27FC236}">
                <a16:creationId xmlns:a16="http://schemas.microsoft.com/office/drawing/2014/main" id="{968A33A8-8C07-8CC5-DD00-0F79C9EA8B2E}"/>
              </a:ext>
            </a:extLst>
          </p:cNvPr>
          <p:cNvSpPr>
            <a:spLocks noChangeArrowheads="1"/>
          </p:cNvSpPr>
          <p:nvPr/>
        </p:nvSpPr>
        <p:spPr bwMode="auto">
          <a:xfrm>
            <a:off x="395536" y="3896389"/>
            <a:ext cx="82089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介于</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间的线段称为稳定运行段，特点为：</a:t>
            </a:r>
          </a:p>
        </p:txBody>
      </p:sp>
      <p:graphicFrame>
        <p:nvGraphicFramePr>
          <p:cNvPr id="2" name="对象 1">
            <a:extLst>
              <a:ext uri="{FF2B5EF4-FFF2-40B4-BE49-F238E27FC236}">
                <a16:creationId xmlns:a16="http://schemas.microsoft.com/office/drawing/2014/main" id="{CF2F2604-9F19-C637-A27C-767E82932E79}"/>
              </a:ext>
            </a:extLst>
          </p:cNvPr>
          <p:cNvGraphicFramePr>
            <a:graphicFrameLocks noChangeAspect="1"/>
          </p:cNvGraphicFramePr>
          <p:nvPr>
            <p:extLst>
              <p:ext uri="{D42A27DB-BD31-4B8C-83A1-F6EECF244321}">
                <p14:modId xmlns:p14="http://schemas.microsoft.com/office/powerpoint/2010/main" val="1424544072"/>
              </p:ext>
            </p:extLst>
          </p:nvPr>
        </p:nvGraphicFramePr>
        <p:xfrm>
          <a:off x="478365" y="1748874"/>
          <a:ext cx="4300538" cy="1038225"/>
        </p:xfrm>
        <a:graphic>
          <a:graphicData uri="http://schemas.openxmlformats.org/presentationml/2006/ole">
            <mc:AlternateContent xmlns:mc="http://schemas.openxmlformats.org/markup-compatibility/2006">
              <mc:Choice xmlns:v="urn:schemas-microsoft-com:vml" Requires="v">
                <p:oleObj name="Equation" r:id="rId3" imgW="2032000" imgH="482600" progId="Equation.DSMT4">
                  <p:embed/>
                </p:oleObj>
              </mc:Choice>
              <mc:Fallback>
                <p:oleObj name="Equation" r:id="rId3" imgW="2032000" imgH="4826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365" y="1748874"/>
                        <a:ext cx="4300538" cy="1038225"/>
                      </a:xfrm>
                      <a:prstGeom prst="rect">
                        <a:avLst/>
                      </a:prstGeom>
                      <a:solidFill>
                        <a:srgbClr val="00FF00"/>
                      </a:solidFill>
                    </p:spPr>
                  </p:pic>
                </p:oleObj>
              </mc:Fallback>
            </mc:AlternateContent>
          </a:graphicData>
        </a:graphic>
      </p:graphicFrame>
      <p:sp>
        <p:nvSpPr>
          <p:cNvPr id="6" name="Rectangle 3">
            <a:extLst>
              <a:ext uri="{FF2B5EF4-FFF2-40B4-BE49-F238E27FC236}">
                <a16:creationId xmlns:a16="http://schemas.microsoft.com/office/drawing/2014/main" id="{99F00A0A-21E0-B840-1F7E-53DAB648AB93}"/>
              </a:ext>
            </a:extLst>
          </p:cNvPr>
          <p:cNvSpPr>
            <a:spLocks noChangeArrowheads="1"/>
          </p:cNvSpPr>
          <p:nvPr/>
        </p:nvSpPr>
        <p:spPr bwMode="auto">
          <a:xfrm>
            <a:off x="314573" y="881530"/>
            <a:ext cx="430053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令参数表达式中</a:t>
            </a:r>
            <a:r>
              <a:rPr kumimoji="0" lang="en-US" altLang="zh-CN" sz="24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s=1</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，可得到异步电动机的</a:t>
            </a:r>
            <a:r>
              <a:rPr kumimoji="0" lang="zh-CN" altLang="en-US" sz="2400" b="0"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起动转矩</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p:txBody>
      </p:sp>
      <p:sp>
        <p:nvSpPr>
          <p:cNvPr id="11" name="Rectangle 7">
            <a:extLst>
              <a:ext uri="{FF2B5EF4-FFF2-40B4-BE49-F238E27FC236}">
                <a16:creationId xmlns:a16="http://schemas.microsoft.com/office/drawing/2014/main" id="{10E8CA5B-17B4-BD59-C9DF-723432F63C8B}"/>
              </a:ext>
            </a:extLst>
          </p:cNvPr>
          <p:cNvSpPr>
            <a:spLocks noChangeArrowheads="1"/>
          </p:cNvSpPr>
          <p:nvPr/>
        </p:nvSpPr>
        <p:spPr bwMode="auto">
          <a:xfrm>
            <a:off x="395104" y="2846851"/>
            <a:ext cx="597564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转矩过载倍数：</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2" name="对象 11">
            <a:extLst>
              <a:ext uri="{FF2B5EF4-FFF2-40B4-BE49-F238E27FC236}">
                <a16:creationId xmlns:a16="http://schemas.microsoft.com/office/drawing/2014/main" id="{6FB96003-5FA8-B97F-CBBB-C2BDCB61A73E}"/>
              </a:ext>
            </a:extLst>
          </p:cNvPr>
          <p:cNvGraphicFramePr>
            <a:graphicFrameLocks noChangeAspect="1"/>
          </p:cNvGraphicFramePr>
          <p:nvPr>
            <p:extLst>
              <p:ext uri="{D42A27DB-BD31-4B8C-83A1-F6EECF244321}">
                <p14:modId xmlns:p14="http://schemas.microsoft.com/office/powerpoint/2010/main" val="2245423540"/>
              </p:ext>
            </p:extLst>
          </p:nvPr>
        </p:nvGraphicFramePr>
        <p:xfrm>
          <a:off x="2462224" y="2883198"/>
          <a:ext cx="1470227" cy="410002"/>
        </p:xfrm>
        <a:graphic>
          <a:graphicData uri="http://schemas.openxmlformats.org/presentationml/2006/ole">
            <mc:AlternateContent xmlns:mc="http://schemas.openxmlformats.org/markup-compatibility/2006">
              <mc:Choice xmlns:v="urn:schemas-microsoft-com:vml" Requires="v">
                <p:oleObj name="Equation" r:id="rId5" imgW="736560" imgH="203040" progId="Equation.DSMT4">
                  <p:embed/>
                </p:oleObj>
              </mc:Choice>
              <mc:Fallback>
                <p:oleObj name="Equation" r:id="rId5" imgW="736560" imgH="203040" progId="Equation.DSMT4">
                  <p:embed/>
                  <p:pic>
                    <p:nvPicPr>
                      <p:cNvPr id="0" name="Object 6"/>
                      <p:cNvPicPr>
                        <a:picLocks noChangeAspect="1" noChangeArrowheads="1"/>
                      </p:cNvPicPr>
                      <p:nvPr/>
                    </p:nvPicPr>
                    <p:blipFill>
                      <a:blip r:embed="rId6"/>
                      <a:srcRect/>
                      <a:stretch>
                        <a:fillRect/>
                      </a:stretch>
                    </p:blipFill>
                    <p:spPr bwMode="auto">
                      <a:xfrm>
                        <a:off x="2462224" y="2883198"/>
                        <a:ext cx="1470227" cy="410002"/>
                      </a:xfrm>
                      <a:prstGeom prst="rect">
                        <a:avLst/>
                      </a:prstGeom>
                      <a:noFill/>
                    </p:spPr>
                  </p:pic>
                </p:oleObj>
              </mc:Fallback>
            </mc:AlternateContent>
          </a:graphicData>
        </a:graphic>
      </p:graphicFrame>
      <p:sp>
        <p:nvSpPr>
          <p:cNvPr id="13" name="Rectangle 8">
            <a:extLst>
              <a:ext uri="{FF2B5EF4-FFF2-40B4-BE49-F238E27FC236}">
                <a16:creationId xmlns:a16="http://schemas.microsoft.com/office/drawing/2014/main" id="{9F24F848-8470-7B5D-E2DB-7A83DF299B7B}"/>
              </a:ext>
            </a:extLst>
          </p:cNvPr>
          <p:cNvSpPr>
            <a:spLocks noChangeArrowheads="1"/>
          </p:cNvSpPr>
          <p:nvPr/>
        </p:nvSpPr>
        <p:spPr bwMode="auto">
          <a:xfrm>
            <a:off x="3788435" y="2826412"/>
            <a:ext cx="33123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一般为</a:t>
            </a:r>
            <a:r>
              <a:rPr kumimoji="0" lang="en-US" altLang="zh-CN" sz="24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1.6~2.2</a:t>
            </a:r>
            <a:r>
              <a:rPr kumimoji="0" lang="zh-CN" altLang="en-US" sz="24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sp>
        <p:nvSpPr>
          <p:cNvPr id="21" name="Rectangle 10">
            <a:extLst>
              <a:ext uri="{FF2B5EF4-FFF2-40B4-BE49-F238E27FC236}">
                <a16:creationId xmlns:a16="http://schemas.microsoft.com/office/drawing/2014/main" id="{DDF99CCB-0F48-21A1-B0F8-8CECA8720D9A}"/>
              </a:ext>
            </a:extLst>
          </p:cNvPr>
          <p:cNvSpPr>
            <a:spLocks noChangeArrowheads="1"/>
          </p:cNvSpPr>
          <p:nvPr/>
        </p:nvSpPr>
        <p:spPr bwMode="auto">
          <a:xfrm>
            <a:off x="2447080" y="3264410"/>
            <a:ext cx="387862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起动转矩倍数：</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2" name="对象 21">
            <a:extLst>
              <a:ext uri="{FF2B5EF4-FFF2-40B4-BE49-F238E27FC236}">
                <a16:creationId xmlns:a16="http://schemas.microsoft.com/office/drawing/2014/main" id="{1FF9998B-030B-FE4B-DB15-2BAD4B1403D9}"/>
              </a:ext>
            </a:extLst>
          </p:cNvPr>
          <p:cNvGraphicFramePr>
            <a:graphicFrameLocks noChangeAspect="1"/>
          </p:cNvGraphicFramePr>
          <p:nvPr>
            <p:extLst>
              <p:ext uri="{D42A27DB-BD31-4B8C-83A1-F6EECF244321}">
                <p14:modId xmlns:p14="http://schemas.microsoft.com/office/powerpoint/2010/main" val="3535820093"/>
              </p:ext>
            </p:extLst>
          </p:nvPr>
        </p:nvGraphicFramePr>
        <p:xfrm>
          <a:off x="4475244" y="3291071"/>
          <a:ext cx="1260470" cy="430539"/>
        </p:xfrm>
        <a:graphic>
          <a:graphicData uri="http://schemas.openxmlformats.org/presentationml/2006/ole">
            <mc:AlternateContent xmlns:mc="http://schemas.openxmlformats.org/markup-compatibility/2006">
              <mc:Choice xmlns:v="urn:schemas-microsoft-com:vml" Requires="v">
                <p:oleObj name="Equation" r:id="rId7" imgW="609480" imgH="203040" progId="Equation.DSMT4">
                  <p:embed/>
                </p:oleObj>
              </mc:Choice>
              <mc:Fallback>
                <p:oleObj name="Equation" r:id="rId7" imgW="609480" imgH="203040" progId="Equation.DSMT4">
                  <p:embed/>
                  <p:pic>
                    <p:nvPicPr>
                      <p:cNvPr id="0" name="Object 9"/>
                      <p:cNvPicPr>
                        <a:picLocks noChangeAspect="1" noChangeArrowheads="1"/>
                      </p:cNvPicPr>
                      <p:nvPr/>
                    </p:nvPicPr>
                    <p:blipFill>
                      <a:blip r:embed="rId8"/>
                      <a:srcRect/>
                      <a:stretch>
                        <a:fillRect/>
                      </a:stretch>
                    </p:blipFill>
                    <p:spPr bwMode="auto">
                      <a:xfrm>
                        <a:off x="4475244" y="3291071"/>
                        <a:ext cx="1260470" cy="430539"/>
                      </a:xfrm>
                      <a:prstGeom prst="rect">
                        <a:avLst/>
                      </a:prstGeom>
                      <a:noFill/>
                    </p:spPr>
                  </p:pic>
                </p:oleObj>
              </mc:Fallback>
            </mc:AlternateContent>
          </a:graphicData>
        </a:graphic>
      </p:graphicFrame>
      <p:sp>
        <p:nvSpPr>
          <p:cNvPr id="23" name="Rectangle 11">
            <a:extLst>
              <a:ext uri="{FF2B5EF4-FFF2-40B4-BE49-F238E27FC236}">
                <a16:creationId xmlns:a16="http://schemas.microsoft.com/office/drawing/2014/main" id="{24E0BCEF-A2BF-4E17-A8DA-4C352861AB1C}"/>
              </a:ext>
            </a:extLst>
          </p:cNvPr>
          <p:cNvSpPr>
            <a:spLocks noChangeArrowheads="1"/>
          </p:cNvSpPr>
          <p:nvPr/>
        </p:nvSpPr>
        <p:spPr bwMode="auto">
          <a:xfrm>
            <a:off x="5628441" y="3237096"/>
            <a:ext cx="28705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dirty="0">
                <a:solidFill>
                  <a:srgbClr val="000000"/>
                </a:solidFill>
                <a:latin typeface="宋体" panose="02010600030101010101" pitchFamily="2"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一般为</a:t>
            </a:r>
            <a:r>
              <a:rPr kumimoji="0" lang="en-US" altLang="zh-CN" sz="24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0.8~1.2</a:t>
            </a:r>
            <a:r>
              <a:rPr kumimoji="0" lang="zh-CN" altLang="en-US" sz="24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4" name="对象 23">
            <a:extLst>
              <a:ext uri="{FF2B5EF4-FFF2-40B4-BE49-F238E27FC236}">
                <a16:creationId xmlns:a16="http://schemas.microsoft.com/office/drawing/2014/main" id="{91D5286F-A442-DC42-3489-EBDABFA0FCA8}"/>
              </a:ext>
            </a:extLst>
          </p:cNvPr>
          <p:cNvGraphicFramePr>
            <a:graphicFrameLocks noChangeAspect="1"/>
          </p:cNvGraphicFramePr>
          <p:nvPr>
            <p:extLst>
              <p:ext uri="{D42A27DB-BD31-4B8C-83A1-F6EECF244321}">
                <p14:modId xmlns:p14="http://schemas.microsoft.com/office/powerpoint/2010/main" val="4027926673"/>
              </p:ext>
            </p:extLst>
          </p:nvPr>
        </p:nvGraphicFramePr>
        <p:xfrm>
          <a:off x="4845802" y="552775"/>
          <a:ext cx="4176965" cy="2347385"/>
        </p:xfrm>
        <a:graphic>
          <a:graphicData uri="http://schemas.openxmlformats.org/presentationml/2006/ole">
            <mc:AlternateContent xmlns:mc="http://schemas.openxmlformats.org/markup-compatibility/2006">
              <mc:Choice xmlns:v="urn:schemas-microsoft-com:vml" Requires="v">
                <p:oleObj r:id="rId9" imgW="2346325" imgH="1322388" progId="MSDraw">
                  <p:embed/>
                </p:oleObj>
              </mc:Choice>
              <mc:Fallback>
                <p:oleObj r:id="rId9" imgW="2346325" imgH="1322388" progId="MSDraw">
                  <p:embed/>
                  <p:pic>
                    <p:nvPicPr>
                      <p:cNvPr id="23" name="对象 22">
                        <a:extLst>
                          <a:ext uri="{FF2B5EF4-FFF2-40B4-BE49-F238E27FC236}">
                            <a16:creationId xmlns:a16="http://schemas.microsoft.com/office/drawing/2014/main" id="{90E96D37-3307-453A-FEE0-55609F72016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45802" y="552775"/>
                        <a:ext cx="4176965" cy="2347385"/>
                      </a:xfrm>
                      <a:prstGeom prst="rect">
                        <a:avLst/>
                      </a:prstGeom>
                      <a:noFill/>
                    </p:spPr>
                  </p:pic>
                </p:oleObj>
              </mc:Fallback>
            </mc:AlternateContent>
          </a:graphicData>
        </a:graphic>
      </p:graphicFrame>
      <p:sp>
        <p:nvSpPr>
          <p:cNvPr id="26" name="文本框 25">
            <a:extLst>
              <a:ext uri="{FF2B5EF4-FFF2-40B4-BE49-F238E27FC236}">
                <a16:creationId xmlns:a16="http://schemas.microsoft.com/office/drawing/2014/main" id="{9D5214F5-EEBC-190A-FE58-B5732FE1A128}"/>
              </a:ext>
            </a:extLst>
          </p:cNvPr>
          <p:cNvSpPr txBox="1"/>
          <p:nvPr/>
        </p:nvSpPr>
        <p:spPr>
          <a:xfrm>
            <a:off x="298865" y="3429000"/>
            <a:ext cx="2519430" cy="461665"/>
          </a:xfrm>
          <a:prstGeom prst="rect">
            <a:avLst/>
          </a:prstGeom>
          <a:noFill/>
        </p:spPr>
        <p:txBody>
          <a:bodyPr wrap="square">
            <a:spAutoFit/>
          </a:bodyPr>
          <a:lstStyle/>
          <a:p>
            <a:pPr algn="just"/>
            <a:r>
              <a:rPr lang="zh-CN" altLang="zh-CN" sz="2400" b="1" dirty="0">
                <a:solidFill>
                  <a:srgbClr val="FF0000"/>
                </a:solidFill>
                <a:effectLst/>
                <a:latin typeface="宋体" panose="02010600030101010101" pitchFamily="2" charset="-122"/>
                <a:ea typeface="黑体" panose="02010609060101010101" pitchFamily="49" charset="-122"/>
                <a:cs typeface="Times New Roman" panose="02020603050405020304" pitchFamily="18" charset="0"/>
              </a:rPr>
              <a:t>两个运行段</a:t>
            </a:r>
            <a:r>
              <a:rPr lang="zh-CN" altLang="en-US" sz="2400" b="1" dirty="0">
                <a:solidFill>
                  <a:srgbClr val="FF0000"/>
                </a:solidFill>
                <a:effectLst/>
                <a:latin typeface="宋体" panose="02010600030101010101" pitchFamily="2" charset="-122"/>
                <a:ea typeface="黑体" panose="02010609060101010101" pitchFamily="49" charset="-122"/>
                <a:cs typeface="Times New Roman" panose="02020603050405020304" pitchFamily="18" charset="0"/>
              </a:rPr>
              <a:t>：</a:t>
            </a:r>
            <a:endParaRPr lang="zh-CN" altLang="zh-CN" sz="28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27" name="对象 26">
            <a:extLst>
              <a:ext uri="{FF2B5EF4-FFF2-40B4-BE49-F238E27FC236}">
                <a16:creationId xmlns:a16="http://schemas.microsoft.com/office/drawing/2014/main" id="{2DB3FFDD-773C-77A8-EB20-BEA654E8129D}"/>
              </a:ext>
            </a:extLst>
          </p:cNvPr>
          <p:cNvGraphicFramePr>
            <a:graphicFrameLocks noChangeAspect="1"/>
          </p:cNvGraphicFramePr>
          <p:nvPr>
            <p:extLst>
              <p:ext uri="{D42A27DB-BD31-4B8C-83A1-F6EECF244321}">
                <p14:modId xmlns:p14="http://schemas.microsoft.com/office/powerpoint/2010/main" val="3352711613"/>
              </p:ext>
            </p:extLst>
          </p:nvPr>
        </p:nvGraphicFramePr>
        <p:xfrm>
          <a:off x="1473069" y="3953995"/>
          <a:ext cx="2054432" cy="452596"/>
        </p:xfrm>
        <a:graphic>
          <a:graphicData uri="http://schemas.openxmlformats.org/presentationml/2006/ole">
            <mc:AlternateContent xmlns:mc="http://schemas.openxmlformats.org/markup-compatibility/2006">
              <mc:Choice xmlns:v="urn:schemas-microsoft-com:vml" Requires="v">
                <p:oleObj name="Equation" r:id="rId11" imgW="1028700" imgH="228600" progId="Equation.DSMT4">
                  <p:embed/>
                </p:oleObj>
              </mc:Choice>
              <mc:Fallback>
                <p:oleObj name="Equation" r:id="rId11" imgW="1028700" imgH="228600"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73069" y="3953995"/>
                        <a:ext cx="2054432" cy="452596"/>
                      </a:xfrm>
                      <a:prstGeom prst="rect">
                        <a:avLst/>
                      </a:prstGeom>
                      <a:noFill/>
                    </p:spPr>
                  </p:pic>
                </p:oleObj>
              </mc:Fallback>
            </mc:AlternateContent>
          </a:graphicData>
        </a:graphic>
      </p:graphicFrame>
      <p:graphicFrame>
        <p:nvGraphicFramePr>
          <p:cNvPr id="28" name="对象 27">
            <a:extLst>
              <a:ext uri="{FF2B5EF4-FFF2-40B4-BE49-F238E27FC236}">
                <a16:creationId xmlns:a16="http://schemas.microsoft.com/office/drawing/2014/main" id="{C36B90A9-C279-82CD-92C1-6F6FB5C4C70E}"/>
              </a:ext>
            </a:extLst>
          </p:cNvPr>
          <p:cNvGraphicFramePr>
            <a:graphicFrameLocks noChangeAspect="1"/>
          </p:cNvGraphicFramePr>
          <p:nvPr>
            <p:extLst>
              <p:ext uri="{D42A27DB-BD31-4B8C-83A1-F6EECF244321}">
                <p14:modId xmlns:p14="http://schemas.microsoft.com/office/powerpoint/2010/main" val="1530077084"/>
              </p:ext>
            </p:extLst>
          </p:nvPr>
        </p:nvGraphicFramePr>
        <p:xfrm>
          <a:off x="827584" y="4238475"/>
          <a:ext cx="6488629" cy="816209"/>
        </p:xfrm>
        <a:graphic>
          <a:graphicData uri="http://schemas.openxmlformats.org/presentationml/2006/ole">
            <mc:AlternateContent xmlns:mc="http://schemas.openxmlformats.org/markup-compatibility/2006">
              <mc:Choice xmlns:v="urn:schemas-microsoft-com:vml" Requires="v">
                <p:oleObj name="Equation" r:id="rId13" imgW="3276600" imgH="419100" progId="Equation.DSMT4">
                  <p:embed/>
                </p:oleObj>
              </mc:Choice>
              <mc:Fallback>
                <p:oleObj name="Equation" r:id="rId13" imgW="3276600" imgH="419100" progId="Equation.DSMT4">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7584" y="4238475"/>
                        <a:ext cx="6488629" cy="816209"/>
                      </a:xfrm>
                      <a:prstGeom prst="rect">
                        <a:avLst/>
                      </a:prstGeom>
                      <a:noFill/>
                    </p:spPr>
                  </p:pic>
                </p:oleObj>
              </mc:Fallback>
            </mc:AlternateContent>
          </a:graphicData>
        </a:graphic>
      </p:graphicFrame>
      <p:sp>
        <p:nvSpPr>
          <p:cNvPr id="31" name="Rectangle 14">
            <a:extLst>
              <a:ext uri="{FF2B5EF4-FFF2-40B4-BE49-F238E27FC236}">
                <a16:creationId xmlns:a16="http://schemas.microsoft.com/office/drawing/2014/main" id="{43B40979-4AF9-A0FF-FD67-6CD9FC3BCA8C}"/>
              </a:ext>
            </a:extLst>
          </p:cNvPr>
          <p:cNvSpPr>
            <a:spLocks noChangeArrowheads="1"/>
          </p:cNvSpPr>
          <p:nvPr/>
        </p:nvSpPr>
        <p:spPr bwMode="auto">
          <a:xfrm>
            <a:off x="361297" y="4935104"/>
            <a:ext cx="8281960" cy="180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介于</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间的线段称为非稳定运行段，特点为：对恒转矩、恒功率负载均不能稳定运行</a:t>
            </a:r>
            <a:r>
              <a:rPr lang="en-US" altLang="zh-CN" sz="24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无稳定工作点</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不大，仅通风机负载可在此区间稳定运行，且起动转矩大于负载转矩，才能起动。</a:t>
            </a:r>
          </a:p>
        </p:txBody>
      </p:sp>
      <p:graphicFrame>
        <p:nvGraphicFramePr>
          <p:cNvPr id="36" name="对象 35">
            <a:extLst>
              <a:ext uri="{FF2B5EF4-FFF2-40B4-BE49-F238E27FC236}">
                <a16:creationId xmlns:a16="http://schemas.microsoft.com/office/drawing/2014/main" id="{AE35D37E-6099-E830-C83B-256A54AEB8A0}"/>
              </a:ext>
            </a:extLst>
          </p:cNvPr>
          <p:cNvGraphicFramePr>
            <a:graphicFrameLocks noChangeAspect="1"/>
          </p:cNvGraphicFramePr>
          <p:nvPr>
            <p:extLst>
              <p:ext uri="{D42A27DB-BD31-4B8C-83A1-F6EECF244321}">
                <p14:modId xmlns:p14="http://schemas.microsoft.com/office/powerpoint/2010/main" val="2278872345"/>
              </p:ext>
            </p:extLst>
          </p:nvPr>
        </p:nvGraphicFramePr>
        <p:xfrm>
          <a:off x="1398824" y="5033104"/>
          <a:ext cx="2223203" cy="469574"/>
        </p:xfrm>
        <a:graphic>
          <a:graphicData uri="http://schemas.openxmlformats.org/presentationml/2006/ole">
            <mc:AlternateContent xmlns:mc="http://schemas.openxmlformats.org/markup-compatibility/2006">
              <mc:Choice xmlns:v="urn:schemas-microsoft-com:vml" Requires="v">
                <p:oleObj name="Equation" r:id="rId15" imgW="1066800" imgH="228600" progId="Equation.DSMT4">
                  <p:embed/>
                </p:oleObj>
              </mc:Choice>
              <mc:Fallback>
                <p:oleObj name="Equation" r:id="rId15" imgW="1066800" imgH="228600" progId="Equation.DSMT4">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98824" y="5033104"/>
                        <a:ext cx="2223203" cy="469574"/>
                      </a:xfrm>
                      <a:prstGeom prst="rect">
                        <a:avLst/>
                      </a:prstGeom>
                      <a:noFill/>
                    </p:spPr>
                  </p:pic>
                </p:oleObj>
              </mc:Fallback>
            </mc:AlternateContent>
          </a:graphicData>
        </a:graphic>
      </p:graphicFrame>
      <p:graphicFrame>
        <p:nvGraphicFramePr>
          <p:cNvPr id="39" name="对象 38">
            <a:extLst>
              <a:ext uri="{FF2B5EF4-FFF2-40B4-BE49-F238E27FC236}">
                <a16:creationId xmlns:a16="http://schemas.microsoft.com/office/drawing/2014/main" id="{50503521-C467-01E9-2ADC-2774D018FB4E}"/>
              </a:ext>
            </a:extLst>
          </p:cNvPr>
          <p:cNvGraphicFramePr>
            <a:graphicFrameLocks noChangeAspect="1"/>
          </p:cNvGraphicFramePr>
          <p:nvPr>
            <p:extLst>
              <p:ext uri="{D42A27DB-BD31-4B8C-83A1-F6EECF244321}">
                <p14:modId xmlns:p14="http://schemas.microsoft.com/office/powerpoint/2010/main" val="4163437703"/>
              </p:ext>
            </p:extLst>
          </p:nvPr>
        </p:nvGraphicFramePr>
        <p:xfrm>
          <a:off x="1455805" y="5724621"/>
          <a:ext cx="3647451" cy="594272"/>
        </p:xfrm>
        <a:graphic>
          <a:graphicData uri="http://schemas.openxmlformats.org/presentationml/2006/ole">
            <mc:AlternateContent xmlns:mc="http://schemas.openxmlformats.org/markup-compatibility/2006">
              <mc:Choice xmlns:v="urn:schemas-microsoft-com:vml" Requires="v">
                <p:oleObj name="Equation" r:id="rId17" imgW="1752600" imgH="279400" progId="Equation.DSMT4">
                  <p:embed/>
                </p:oleObj>
              </mc:Choice>
              <mc:Fallback>
                <p:oleObj name="Equation" r:id="rId17" imgW="1752600" imgH="279400" progId="Equation.DSMT4">
                  <p:embed/>
                  <p:pic>
                    <p:nvPicPr>
                      <p:cNvPr id="0" name="Object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55805" y="5724621"/>
                        <a:ext cx="3647451" cy="594272"/>
                      </a:xfrm>
                      <a:prstGeom prst="rect">
                        <a:avLst/>
                      </a:prstGeom>
                      <a:noFill/>
                    </p:spPr>
                  </p:pic>
                </p:oleObj>
              </mc:Fallback>
            </mc:AlternateContent>
          </a:graphicData>
        </a:graphic>
      </p:graphicFrame>
      <p:sp>
        <p:nvSpPr>
          <p:cNvPr id="4" name="灯片编号占位符 3">
            <a:extLst>
              <a:ext uri="{FF2B5EF4-FFF2-40B4-BE49-F238E27FC236}">
                <a16:creationId xmlns:a16="http://schemas.microsoft.com/office/drawing/2014/main" id="{3FAD3F32-D899-E81B-6587-6208896F5689}"/>
              </a:ext>
            </a:extLst>
          </p:cNvPr>
          <p:cNvSpPr>
            <a:spLocks noGrp="1"/>
          </p:cNvSpPr>
          <p:nvPr>
            <p:ph type="sldNum" sz="quarter" idx="12"/>
          </p:nvPr>
        </p:nvSpPr>
        <p:spPr/>
        <p:txBody>
          <a:bodyPr/>
          <a:lstStyle/>
          <a:p>
            <a:fld id="{76D830B0-DF59-4281-898F-AF208100B213}" type="slidenum">
              <a:rPr lang="en-US" altLang="zh-CN" smtClean="0"/>
              <a:pPr/>
              <a:t>102</a:t>
            </a:fld>
            <a:endParaRPr lang="en-US" altLang="zh-CN"/>
          </a:p>
        </p:txBody>
      </p:sp>
    </p:spTree>
    <p:extLst>
      <p:ext uri="{BB962C8B-B14F-4D97-AF65-F5344CB8AC3E}">
        <p14:creationId xmlns:p14="http://schemas.microsoft.com/office/powerpoint/2010/main" val="277726603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8D7D50B-93F5-355F-DE20-A72FB2CB7121}"/>
              </a:ext>
            </a:extLst>
          </p:cNvPr>
          <p:cNvSpPr txBox="1"/>
          <p:nvPr/>
        </p:nvSpPr>
        <p:spPr>
          <a:xfrm>
            <a:off x="431540" y="980728"/>
            <a:ext cx="8280920" cy="1015663"/>
          </a:xfrm>
          <a:prstGeom prst="rect">
            <a:avLst/>
          </a:prstGeom>
          <a:noFill/>
        </p:spPr>
        <p:txBody>
          <a:bodyPr wrap="square">
            <a:spAutoFit/>
          </a:bodyPr>
          <a:lstStyle/>
          <a:p>
            <a:pPr algn="just"/>
            <a:r>
              <a:rPr lang="en-US"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r>
              <a:rPr lang="zh-CN"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参数表达式利于分析讨论转矩与电动机参数间的关系，适用于对电机运行与控制作理论分析</a:t>
            </a:r>
            <a:r>
              <a:rPr lang="zh-CN" altLang="en-US"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lang="zh-CN"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但一般电动机产品目录中无定、转子参数，使用不够方便。</a:t>
            </a:r>
            <a:endParaRPr lang="zh-CN" altLang="zh-CN" sz="24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FEE9578A-637D-52C5-D7C4-4D6E45E40F7C}"/>
              </a:ext>
            </a:extLst>
          </p:cNvPr>
          <p:cNvSpPr txBox="1"/>
          <p:nvPr/>
        </p:nvSpPr>
        <p:spPr>
          <a:xfrm>
            <a:off x="377523" y="2276210"/>
            <a:ext cx="8280920" cy="369332"/>
          </a:xfrm>
          <a:prstGeom prst="rect">
            <a:avLst/>
          </a:prstGeom>
          <a:noFill/>
        </p:spPr>
        <p:txBody>
          <a:bodyPr wrap="square">
            <a:spAutoFit/>
          </a:bodyPr>
          <a:lstStyle/>
          <a:p>
            <a:pPr algn="just"/>
            <a:r>
              <a:rPr lang="zh-CN" altLang="zh-CN"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计算举例：</a:t>
            </a:r>
            <a:r>
              <a:rPr lang="zh-CN" altLang="zh-CN"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已知三相笼型电机</a:t>
            </a:r>
            <a:r>
              <a:rPr lang="zh-CN" altLang="zh-CN" sz="18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endParaRPr lang="zh-CN" alt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9" name="对象 8">
            <a:extLst>
              <a:ext uri="{FF2B5EF4-FFF2-40B4-BE49-F238E27FC236}">
                <a16:creationId xmlns:a16="http://schemas.microsoft.com/office/drawing/2014/main" id="{52E53DD6-4BC1-83ED-1EF5-D84BC1146C47}"/>
              </a:ext>
            </a:extLst>
          </p:cNvPr>
          <p:cNvGraphicFramePr>
            <a:graphicFrameLocks noChangeAspect="1"/>
          </p:cNvGraphicFramePr>
          <p:nvPr>
            <p:extLst>
              <p:ext uri="{D42A27DB-BD31-4B8C-83A1-F6EECF244321}">
                <p14:modId xmlns:p14="http://schemas.microsoft.com/office/powerpoint/2010/main" val="2792392452"/>
              </p:ext>
            </p:extLst>
          </p:nvPr>
        </p:nvGraphicFramePr>
        <p:xfrm>
          <a:off x="3509871" y="2286042"/>
          <a:ext cx="5328592" cy="359500"/>
        </p:xfrm>
        <a:graphic>
          <a:graphicData uri="http://schemas.openxmlformats.org/presentationml/2006/ole">
            <mc:AlternateContent xmlns:mc="http://schemas.openxmlformats.org/markup-compatibility/2006">
              <mc:Choice xmlns:v="urn:schemas-microsoft-com:vml" Requires="v">
                <p:oleObj name="Equation" r:id="rId3" imgW="3327400" imgH="228600" progId="Equation.DSMT4">
                  <p:embed/>
                </p:oleObj>
              </mc:Choice>
              <mc:Fallback>
                <p:oleObj name="Equation" r:id="rId3" imgW="3327400" imgH="228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9871" y="2286042"/>
                        <a:ext cx="5328592" cy="359500"/>
                      </a:xfrm>
                      <a:prstGeom prst="rect">
                        <a:avLst/>
                      </a:prstGeom>
                      <a:noFill/>
                    </p:spPr>
                  </p:pic>
                </p:oleObj>
              </mc:Fallback>
            </mc:AlternateContent>
          </a:graphicData>
        </a:graphic>
      </p:graphicFrame>
      <p:sp>
        <p:nvSpPr>
          <p:cNvPr id="10" name="Rectangle 4">
            <a:extLst>
              <a:ext uri="{FF2B5EF4-FFF2-40B4-BE49-F238E27FC236}">
                <a16:creationId xmlns:a16="http://schemas.microsoft.com/office/drawing/2014/main" id="{86F2F3F6-8281-7413-0ED2-A454A816932A}"/>
              </a:ext>
            </a:extLst>
          </p:cNvPr>
          <p:cNvSpPr>
            <a:spLocks noChangeArrowheads="1"/>
          </p:cNvSpPr>
          <p:nvPr/>
        </p:nvSpPr>
        <p:spPr bwMode="auto">
          <a:xfrm>
            <a:off x="449531" y="2645542"/>
            <a:ext cx="83610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00000"/>
                </a:solidFill>
                <a:effectLst/>
                <a:latin typeface="Symbol" panose="05050102010706020507" pitchFamily="18" charset="2"/>
                <a:ea typeface="黑体" panose="02010609060101010101" pitchFamily="49" charset="-122"/>
                <a:cs typeface="Times New Roman" panose="02020603050405020304" pitchFamily="18" charset="0"/>
              </a:rPr>
              <a:t>D</a:t>
            </a:r>
            <a:r>
              <a:rPr kumimoji="0" lang="zh-CN" altLang="en-US"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联接，                                            ，忽略</a:t>
            </a:r>
            <a:r>
              <a:rPr kumimoji="0" lang="en-US" altLang="zh-CN" b="0" i="0" u="none" strike="noStrike" cap="none" normalizeH="0" baseline="0" dirty="0" err="1">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Zm</a:t>
            </a:r>
            <a:r>
              <a:rPr lang="zh-CN" altLang="en-US"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kumimoji="0" lang="zh-CN" altLang="en-US"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试求：</a:t>
            </a:r>
          </a:p>
        </p:txBody>
      </p:sp>
      <p:graphicFrame>
        <p:nvGraphicFramePr>
          <p:cNvPr id="14" name="对象 13">
            <a:extLst>
              <a:ext uri="{FF2B5EF4-FFF2-40B4-BE49-F238E27FC236}">
                <a16:creationId xmlns:a16="http://schemas.microsoft.com/office/drawing/2014/main" id="{4083B6B8-ED46-41C7-3181-D6EA93315B88}"/>
              </a:ext>
            </a:extLst>
          </p:cNvPr>
          <p:cNvGraphicFramePr>
            <a:graphicFrameLocks noChangeAspect="1"/>
          </p:cNvGraphicFramePr>
          <p:nvPr>
            <p:extLst>
              <p:ext uri="{D42A27DB-BD31-4B8C-83A1-F6EECF244321}">
                <p14:modId xmlns:p14="http://schemas.microsoft.com/office/powerpoint/2010/main" val="1639508479"/>
              </p:ext>
            </p:extLst>
          </p:nvPr>
        </p:nvGraphicFramePr>
        <p:xfrm>
          <a:off x="1285737" y="2633413"/>
          <a:ext cx="5112568" cy="393589"/>
        </p:xfrm>
        <a:graphic>
          <a:graphicData uri="http://schemas.openxmlformats.org/presentationml/2006/ole">
            <mc:AlternateContent xmlns:mc="http://schemas.openxmlformats.org/markup-compatibility/2006">
              <mc:Choice xmlns:v="urn:schemas-microsoft-com:vml" Requires="v">
                <p:oleObj name="Equation" r:id="rId5" imgW="3098800" imgH="241300" progId="Equation.DSMT4">
                  <p:embed/>
                </p:oleObj>
              </mc:Choice>
              <mc:Fallback>
                <p:oleObj name="Equation" r:id="rId5" imgW="3098800" imgH="2413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5737" y="2633413"/>
                        <a:ext cx="5112568" cy="393589"/>
                      </a:xfrm>
                      <a:prstGeom prst="rect">
                        <a:avLst/>
                      </a:prstGeom>
                      <a:noFill/>
                    </p:spPr>
                  </p:pic>
                </p:oleObj>
              </mc:Fallback>
            </mc:AlternateContent>
          </a:graphicData>
        </a:graphic>
      </p:graphicFrame>
      <p:sp>
        <p:nvSpPr>
          <p:cNvPr id="17" name="文本框 16">
            <a:extLst>
              <a:ext uri="{FF2B5EF4-FFF2-40B4-BE49-F238E27FC236}">
                <a16:creationId xmlns:a16="http://schemas.microsoft.com/office/drawing/2014/main" id="{F3DDCF88-E612-1661-5C03-628A068B1B4B}"/>
              </a:ext>
            </a:extLst>
          </p:cNvPr>
          <p:cNvSpPr txBox="1"/>
          <p:nvPr/>
        </p:nvSpPr>
        <p:spPr>
          <a:xfrm>
            <a:off x="377523" y="2992913"/>
            <a:ext cx="8532948" cy="369332"/>
          </a:xfrm>
          <a:prstGeom prst="rect">
            <a:avLst/>
          </a:prstGeom>
          <a:noFill/>
        </p:spPr>
        <p:txBody>
          <a:bodyPr wrap="square">
            <a:spAutoFit/>
          </a:bodyPr>
          <a:lstStyle/>
          <a:p>
            <a:pPr lvl="0" algn="just"/>
            <a:r>
              <a:rPr lang="en-US" altLang="zh-CN" dirty="0">
                <a:solidFill>
                  <a:srgbClr val="000000"/>
                </a:solidFill>
                <a:latin typeface="宋体" panose="02010600030101010101" pitchFamily="2" charset="-122"/>
                <a:ea typeface="黑体" panose="02010609060101010101" pitchFamily="49" charset="-122"/>
                <a:cs typeface="Times New Roman" panose="02020603050405020304" pitchFamily="18" charset="0"/>
              </a:rPr>
              <a:t>1 </a:t>
            </a:r>
            <a:r>
              <a:rPr lang="zh-CN"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额定转差率</a:t>
            </a:r>
            <a:r>
              <a:rPr lang="zh-CN" altLang="en-US" dirty="0">
                <a:solidFill>
                  <a:srgbClr val="000000"/>
                </a:solidFill>
                <a:latin typeface="宋体" panose="02010600030101010101" pitchFamily="2" charset="-122"/>
                <a:ea typeface="黑体" panose="02010609060101010101" pitchFamily="49" charset="-122"/>
                <a:cs typeface="Times New Roman" panose="02020603050405020304" pitchFamily="18" charset="0"/>
              </a:rPr>
              <a:t>；</a:t>
            </a:r>
            <a:r>
              <a:rPr lang="en-US"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2 </a:t>
            </a:r>
            <a:r>
              <a:rPr lang="zh-CN"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额定转速时的电磁转矩</a:t>
            </a:r>
            <a:r>
              <a:rPr lang="zh-CN" altLang="en-US"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lang="en-US"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3 </a:t>
            </a:r>
            <a:r>
              <a:rPr lang="zh-CN"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最大转矩</a:t>
            </a:r>
            <a:r>
              <a:rPr lang="zh-CN" altLang="en-US" dirty="0">
                <a:solidFill>
                  <a:srgbClr val="000000"/>
                </a:solidFill>
                <a:latin typeface="宋体" panose="02010600030101010101" pitchFamily="2" charset="-122"/>
                <a:ea typeface="黑体" panose="02010609060101010101" pitchFamily="49" charset="-122"/>
                <a:cs typeface="Times New Roman" panose="02020603050405020304" pitchFamily="18" charset="0"/>
              </a:rPr>
              <a:t>；</a:t>
            </a:r>
            <a:r>
              <a:rPr lang="en-US"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4 </a:t>
            </a:r>
            <a:r>
              <a:rPr lang="zh-CN"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起动电流</a:t>
            </a:r>
            <a:r>
              <a:rPr lang="zh-CN" altLang="en-US" dirty="0">
                <a:solidFill>
                  <a:srgbClr val="000000"/>
                </a:solidFill>
                <a:latin typeface="宋体" panose="02010600030101010101" pitchFamily="2" charset="-122"/>
                <a:ea typeface="黑体" panose="02010609060101010101" pitchFamily="49" charset="-122"/>
                <a:cs typeface="Times New Roman" panose="02020603050405020304" pitchFamily="18" charset="0"/>
              </a:rPr>
              <a:t>；</a:t>
            </a:r>
            <a:r>
              <a:rPr lang="en-US"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5 </a:t>
            </a:r>
            <a:r>
              <a:rPr lang="zh-CN"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起动转矩</a:t>
            </a:r>
            <a:endParaRPr lang="zh-CN" alt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18" name="Rectangle 7">
            <a:extLst>
              <a:ext uri="{FF2B5EF4-FFF2-40B4-BE49-F238E27FC236}">
                <a16:creationId xmlns:a16="http://schemas.microsoft.com/office/drawing/2014/main" id="{92479C44-5920-7FD2-01EC-D3985C4CFE3D}"/>
              </a:ext>
            </a:extLst>
          </p:cNvPr>
          <p:cNvSpPr>
            <a:spLocks noChangeArrowheads="1"/>
          </p:cNvSpPr>
          <p:nvPr/>
        </p:nvSpPr>
        <p:spPr bwMode="auto">
          <a:xfrm>
            <a:off x="493490" y="3524950"/>
            <a:ext cx="48245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解：</a:t>
            </a:r>
            <a:r>
              <a:rPr kumimoji="0" lang="en-US" altLang="zh-CN"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1</a:t>
            </a:r>
            <a:r>
              <a:rPr kumimoji="0" lang="zh-CN" altLang="en-US"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400" b="0" i="0" u="none" strike="noStrike" cap="none" normalizeH="0" baseline="0" dirty="0">
              <a:ln>
                <a:noFill/>
              </a:ln>
              <a:solidFill>
                <a:schemeClr val="tx1"/>
              </a:solidFill>
              <a:effectLst/>
              <a:latin typeface="Arial" panose="020B0604020202020204" pitchFamily="34" charset="0"/>
            </a:endParaRPr>
          </a:p>
        </p:txBody>
      </p:sp>
      <p:graphicFrame>
        <p:nvGraphicFramePr>
          <p:cNvPr id="19" name="对象 18">
            <a:extLst>
              <a:ext uri="{FF2B5EF4-FFF2-40B4-BE49-F238E27FC236}">
                <a16:creationId xmlns:a16="http://schemas.microsoft.com/office/drawing/2014/main" id="{DD927C61-2B49-9F13-C2CC-C8E4635A12F7}"/>
              </a:ext>
            </a:extLst>
          </p:cNvPr>
          <p:cNvGraphicFramePr>
            <a:graphicFrameLocks noChangeAspect="1"/>
          </p:cNvGraphicFramePr>
          <p:nvPr>
            <p:extLst>
              <p:ext uri="{D42A27DB-BD31-4B8C-83A1-F6EECF244321}">
                <p14:modId xmlns:p14="http://schemas.microsoft.com/office/powerpoint/2010/main" val="2784740792"/>
              </p:ext>
            </p:extLst>
          </p:nvPr>
        </p:nvGraphicFramePr>
        <p:xfrm>
          <a:off x="1457643" y="3421143"/>
          <a:ext cx="3659555" cy="711457"/>
        </p:xfrm>
        <a:graphic>
          <a:graphicData uri="http://schemas.openxmlformats.org/presentationml/2006/ole">
            <mc:AlternateContent xmlns:mc="http://schemas.openxmlformats.org/markup-compatibility/2006">
              <mc:Choice xmlns:v="urn:schemas-microsoft-com:vml" Requires="v">
                <p:oleObj name="Equation" r:id="rId7" imgW="2209800" imgH="431800" progId="Equation.DSMT4">
                  <p:embed/>
                </p:oleObj>
              </mc:Choice>
              <mc:Fallback>
                <p:oleObj name="Equation" r:id="rId7" imgW="2209800" imgH="4318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57643" y="3421143"/>
                        <a:ext cx="3659555" cy="711457"/>
                      </a:xfrm>
                      <a:prstGeom prst="rect">
                        <a:avLst/>
                      </a:prstGeom>
                      <a:noFill/>
                    </p:spPr>
                  </p:pic>
                </p:oleObj>
              </mc:Fallback>
            </mc:AlternateContent>
          </a:graphicData>
        </a:graphic>
      </p:graphicFrame>
      <p:sp>
        <p:nvSpPr>
          <p:cNvPr id="20" name="Rectangle 9">
            <a:extLst>
              <a:ext uri="{FF2B5EF4-FFF2-40B4-BE49-F238E27FC236}">
                <a16:creationId xmlns:a16="http://schemas.microsoft.com/office/drawing/2014/main" id="{9295E365-D196-84D2-2B52-F8D0FC9B4981}"/>
              </a:ext>
            </a:extLst>
          </p:cNvPr>
          <p:cNvSpPr>
            <a:spLocks noChangeArrowheads="1"/>
          </p:cNvSpPr>
          <p:nvPr/>
        </p:nvSpPr>
        <p:spPr bwMode="auto">
          <a:xfrm>
            <a:off x="953587" y="4126208"/>
            <a:ext cx="35317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2</a:t>
            </a:r>
            <a:r>
              <a:rPr kumimoji="0" lang="zh-CN" altLang="en-US"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、三角联接，相电压＝线电压：</a:t>
            </a:r>
            <a:endParaRPr kumimoji="0" lang="zh-CN" altLang="en-US" sz="200" b="0" i="0" u="none" strike="noStrike" cap="none" normalizeH="0" baseline="0" dirty="0">
              <a:ln>
                <a:noFill/>
              </a:ln>
              <a:solidFill>
                <a:schemeClr val="tx1"/>
              </a:solidFill>
              <a:effectLst/>
            </a:endParaRPr>
          </a:p>
        </p:txBody>
      </p:sp>
      <p:graphicFrame>
        <p:nvGraphicFramePr>
          <p:cNvPr id="25" name="对象 24">
            <a:extLst>
              <a:ext uri="{FF2B5EF4-FFF2-40B4-BE49-F238E27FC236}">
                <a16:creationId xmlns:a16="http://schemas.microsoft.com/office/drawing/2014/main" id="{F639CE93-651A-46B0-4370-251E095E77E8}"/>
              </a:ext>
            </a:extLst>
          </p:cNvPr>
          <p:cNvGraphicFramePr>
            <a:graphicFrameLocks noChangeAspect="1"/>
          </p:cNvGraphicFramePr>
          <p:nvPr>
            <p:extLst>
              <p:ext uri="{D42A27DB-BD31-4B8C-83A1-F6EECF244321}">
                <p14:modId xmlns:p14="http://schemas.microsoft.com/office/powerpoint/2010/main" val="2275835897"/>
              </p:ext>
            </p:extLst>
          </p:nvPr>
        </p:nvGraphicFramePr>
        <p:xfrm>
          <a:off x="363538" y="4473575"/>
          <a:ext cx="8618537" cy="1824038"/>
        </p:xfrm>
        <a:graphic>
          <a:graphicData uri="http://schemas.openxmlformats.org/presentationml/2006/ole">
            <mc:AlternateContent xmlns:mc="http://schemas.openxmlformats.org/markup-compatibility/2006">
              <mc:Choice xmlns:v="urn:schemas-microsoft-com:vml" Requires="v">
                <p:oleObj name="Equation" r:id="rId9" imgW="4902120" imgH="1041120" progId="Equation.DSMT4">
                  <p:embed/>
                </p:oleObj>
              </mc:Choice>
              <mc:Fallback>
                <p:oleObj name="Equation" r:id="rId9" imgW="4902120" imgH="1041120" progId="Equation.DSMT4">
                  <p:embed/>
                  <p:pic>
                    <p:nvPicPr>
                      <p:cNvPr id="0" name="Object 8"/>
                      <p:cNvPicPr>
                        <a:picLocks noChangeAspect="1" noChangeArrowheads="1"/>
                      </p:cNvPicPr>
                      <p:nvPr/>
                    </p:nvPicPr>
                    <p:blipFill>
                      <a:blip r:embed="rId10"/>
                      <a:srcRect/>
                      <a:stretch>
                        <a:fillRect/>
                      </a:stretch>
                    </p:blipFill>
                    <p:spPr bwMode="auto">
                      <a:xfrm>
                        <a:off x="363538" y="4473575"/>
                        <a:ext cx="8618537" cy="1824038"/>
                      </a:xfrm>
                      <a:prstGeom prst="rect">
                        <a:avLst/>
                      </a:prstGeom>
                      <a:noFill/>
                      <a:extLst>
                        <a:ext uri="{909E8E84-426E-40DD-AFC4-6F175D3DCCD1}">
                          <a14:hiddenFill xmlns:a14="http://schemas.microsoft.com/office/drawing/2010/main">
                            <a:solidFill>
                              <a:srgbClr val="00FF00"/>
                            </a:solidFill>
                          </a14:hiddenFill>
                        </a:ext>
                      </a:extLst>
                    </p:spPr>
                  </p:pic>
                </p:oleObj>
              </mc:Fallback>
            </mc:AlternateContent>
          </a:graphicData>
        </a:graphic>
      </p:graphicFrame>
      <p:sp>
        <p:nvSpPr>
          <p:cNvPr id="3" name="灯片编号占位符 2">
            <a:extLst>
              <a:ext uri="{FF2B5EF4-FFF2-40B4-BE49-F238E27FC236}">
                <a16:creationId xmlns:a16="http://schemas.microsoft.com/office/drawing/2014/main" id="{BC3A28AC-6226-5ABA-6432-E4CCE48C3B32}"/>
              </a:ext>
            </a:extLst>
          </p:cNvPr>
          <p:cNvSpPr>
            <a:spLocks noGrp="1"/>
          </p:cNvSpPr>
          <p:nvPr>
            <p:ph type="sldNum" sz="quarter" idx="12"/>
          </p:nvPr>
        </p:nvSpPr>
        <p:spPr/>
        <p:txBody>
          <a:bodyPr/>
          <a:lstStyle/>
          <a:p>
            <a:fld id="{76D830B0-DF59-4281-898F-AF208100B213}" type="slidenum">
              <a:rPr lang="en-US" altLang="zh-CN" smtClean="0"/>
              <a:pPr/>
              <a:t>103</a:t>
            </a:fld>
            <a:endParaRPr lang="en-US" altLang="zh-CN"/>
          </a:p>
        </p:txBody>
      </p:sp>
    </p:spTree>
    <p:extLst>
      <p:ext uri="{BB962C8B-B14F-4D97-AF65-F5344CB8AC3E}">
        <p14:creationId xmlns:p14="http://schemas.microsoft.com/office/powerpoint/2010/main" val="40289058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EA1AF76-E423-3583-D540-AF36755F574C}"/>
              </a:ext>
            </a:extLst>
          </p:cNvPr>
          <p:cNvSpPr>
            <a:spLocks noChangeArrowheads="1"/>
          </p:cNvSpPr>
          <p:nvPr/>
        </p:nvSpPr>
        <p:spPr bwMode="auto">
          <a:xfrm>
            <a:off x="467544" y="1215534"/>
            <a:ext cx="14542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3</a:t>
            </a:r>
            <a:r>
              <a:rPr kumimoji="0" lang="zh-CN" altLang="en-US"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、最大转矩</a:t>
            </a:r>
            <a:endParaRPr kumimoji="0" lang="zh-CN" altLang="en-US"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3" name="对象 2">
            <a:extLst>
              <a:ext uri="{FF2B5EF4-FFF2-40B4-BE49-F238E27FC236}">
                <a16:creationId xmlns:a16="http://schemas.microsoft.com/office/drawing/2014/main" id="{6F168A74-E680-3DA2-4EC0-68CAFF76278C}"/>
              </a:ext>
            </a:extLst>
          </p:cNvPr>
          <p:cNvGraphicFramePr>
            <a:graphicFrameLocks noChangeAspect="1"/>
          </p:cNvGraphicFramePr>
          <p:nvPr>
            <p:extLst>
              <p:ext uri="{D42A27DB-BD31-4B8C-83A1-F6EECF244321}">
                <p14:modId xmlns:p14="http://schemas.microsoft.com/office/powerpoint/2010/main" val="1070489615"/>
              </p:ext>
            </p:extLst>
          </p:nvPr>
        </p:nvGraphicFramePr>
        <p:xfrm>
          <a:off x="934975" y="1699540"/>
          <a:ext cx="7978720" cy="1241739"/>
        </p:xfrm>
        <a:graphic>
          <a:graphicData uri="http://schemas.openxmlformats.org/presentationml/2006/ole">
            <mc:AlternateContent xmlns:mc="http://schemas.openxmlformats.org/markup-compatibility/2006">
              <mc:Choice xmlns:v="urn:schemas-microsoft-com:vml" Requires="v">
                <p:oleObj name="Equation" r:id="rId3" imgW="4724280" imgH="736560" progId="Equation.DSMT4">
                  <p:embed/>
                </p:oleObj>
              </mc:Choice>
              <mc:Fallback>
                <p:oleObj name="Equation" r:id="rId3" imgW="4724280" imgH="736560" progId="Equation.DSMT4">
                  <p:embed/>
                  <p:pic>
                    <p:nvPicPr>
                      <p:cNvPr id="0" name="Object 1"/>
                      <p:cNvPicPr>
                        <a:picLocks noChangeAspect="1" noChangeArrowheads="1"/>
                      </p:cNvPicPr>
                      <p:nvPr/>
                    </p:nvPicPr>
                    <p:blipFill>
                      <a:blip r:embed="rId4"/>
                      <a:srcRect/>
                      <a:stretch>
                        <a:fillRect/>
                      </a:stretch>
                    </p:blipFill>
                    <p:spPr bwMode="auto">
                      <a:xfrm>
                        <a:off x="934975" y="1699540"/>
                        <a:ext cx="7978720" cy="1241739"/>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4581152E-D7AA-0FD5-7767-5470367CEB6A}"/>
              </a:ext>
            </a:extLst>
          </p:cNvPr>
          <p:cNvSpPr>
            <a:spLocks noChangeArrowheads="1"/>
          </p:cNvSpPr>
          <p:nvPr/>
        </p:nvSpPr>
        <p:spPr bwMode="auto">
          <a:xfrm>
            <a:off x="467544" y="3148789"/>
            <a:ext cx="14542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4</a:t>
            </a:r>
            <a:r>
              <a:rPr kumimoji="0" lang="zh-CN" altLang="en-US"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、起动电流</a:t>
            </a:r>
            <a:endParaRPr kumimoji="0" lang="zh-CN" altLang="en-US" sz="200" b="0" i="0" u="none" strike="noStrike" cap="none" normalizeH="0" baseline="0" dirty="0">
              <a:ln>
                <a:noFill/>
              </a:ln>
              <a:solidFill>
                <a:schemeClr val="tx1"/>
              </a:solidFill>
              <a:effectLst/>
            </a:endParaRPr>
          </a:p>
        </p:txBody>
      </p:sp>
      <p:graphicFrame>
        <p:nvGraphicFramePr>
          <p:cNvPr id="6" name="对象 5">
            <a:extLst>
              <a:ext uri="{FF2B5EF4-FFF2-40B4-BE49-F238E27FC236}">
                <a16:creationId xmlns:a16="http://schemas.microsoft.com/office/drawing/2014/main" id="{C69AE9BC-FB02-70E0-18B5-747D3A75DB7C}"/>
              </a:ext>
            </a:extLst>
          </p:cNvPr>
          <p:cNvGraphicFramePr>
            <a:graphicFrameLocks noChangeAspect="1"/>
          </p:cNvGraphicFramePr>
          <p:nvPr>
            <p:extLst>
              <p:ext uri="{D42A27DB-BD31-4B8C-83A1-F6EECF244321}">
                <p14:modId xmlns:p14="http://schemas.microsoft.com/office/powerpoint/2010/main" val="80166158"/>
              </p:ext>
            </p:extLst>
          </p:nvPr>
        </p:nvGraphicFramePr>
        <p:xfrm>
          <a:off x="934974" y="3518121"/>
          <a:ext cx="7658049" cy="1412181"/>
        </p:xfrm>
        <a:graphic>
          <a:graphicData uri="http://schemas.openxmlformats.org/presentationml/2006/ole">
            <mc:AlternateContent xmlns:mc="http://schemas.openxmlformats.org/markup-compatibility/2006">
              <mc:Choice xmlns:v="urn:schemas-microsoft-com:vml" Requires="v">
                <p:oleObj name="Equation" r:id="rId5" imgW="3949560" imgH="723600" progId="Equation.DSMT4">
                  <p:embed/>
                </p:oleObj>
              </mc:Choice>
              <mc:Fallback>
                <p:oleObj name="Equation" r:id="rId5" imgW="3949560" imgH="723600" progId="Equation.DSMT4">
                  <p:embed/>
                  <p:pic>
                    <p:nvPicPr>
                      <p:cNvPr id="0" name="Object 3"/>
                      <p:cNvPicPr>
                        <a:picLocks noChangeAspect="1" noChangeArrowheads="1"/>
                      </p:cNvPicPr>
                      <p:nvPr/>
                    </p:nvPicPr>
                    <p:blipFill>
                      <a:blip r:embed="rId6"/>
                      <a:srcRect/>
                      <a:stretch>
                        <a:fillRect/>
                      </a:stretch>
                    </p:blipFill>
                    <p:spPr bwMode="auto">
                      <a:xfrm>
                        <a:off x="934974" y="3518121"/>
                        <a:ext cx="7658049" cy="1412181"/>
                      </a:xfrm>
                      <a:prstGeom prst="rect">
                        <a:avLst/>
                      </a:prstGeom>
                      <a:noFill/>
                    </p:spPr>
                  </p:pic>
                </p:oleObj>
              </mc:Fallback>
            </mc:AlternateContent>
          </a:graphicData>
        </a:graphic>
      </p:graphicFrame>
      <p:sp>
        <p:nvSpPr>
          <p:cNvPr id="13" name="Rectangle 9">
            <a:extLst>
              <a:ext uri="{FF2B5EF4-FFF2-40B4-BE49-F238E27FC236}">
                <a16:creationId xmlns:a16="http://schemas.microsoft.com/office/drawing/2014/main" id="{0FFCDC6B-7A80-D088-A1C9-492916A5A301}"/>
              </a:ext>
            </a:extLst>
          </p:cNvPr>
          <p:cNvSpPr>
            <a:spLocks noChangeArrowheads="1"/>
          </p:cNvSpPr>
          <p:nvPr/>
        </p:nvSpPr>
        <p:spPr bwMode="auto">
          <a:xfrm>
            <a:off x="316969" y="4930302"/>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9144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5</a:t>
            </a:r>
            <a:r>
              <a:rPr kumimoji="0" lang="zh-CN" altLang="en-US"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、起动转矩</a:t>
            </a:r>
            <a:endParaRPr kumimoji="0" lang="zh-CN" altLang="en-US" sz="200" b="0" i="0" u="none" strike="noStrike" cap="none" normalizeH="0" baseline="0" dirty="0">
              <a:ln>
                <a:noFill/>
              </a:ln>
              <a:solidFill>
                <a:schemeClr val="tx1"/>
              </a:solidFill>
              <a:effectLst/>
            </a:endParaRPr>
          </a:p>
        </p:txBody>
      </p:sp>
      <p:graphicFrame>
        <p:nvGraphicFramePr>
          <p:cNvPr id="15" name="对象 14">
            <a:extLst>
              <a:ext uri="{FF2B5EF4-FFF2-40B4-BE49-F238E27FC236}">
                <a16:creationId xmlns:a16="http://schemas.microsoft.com/office/drawing/2014/main" id="{40BDAC9D-53F9-D4E7-FF0C-B729F69E479C}"/>
              </a:ext>
            </a:extLst>
          </p:cNvPr>
          <p:cNvGraphicFramePr>
            <a:graphicFrameLocks noChangeAspect="1"/>
          </p:cNvGraphicFramePr>
          <p:nvPr>
            <p:extLst>
              <p:ext uri="{D42A27DB-BD31-4B8C-83A1-F6EECF244321}">
                <p14:modId xmlns:p14="http://schemas.microsoft.com/office/powerpoint/2010/main" val="1628375375"/>
              </p:ext>
            </p:extLst>
          </p:nvPr>
        </p:nvGraphicFramePr>
        <p:xfrm>
          <a:off x="755576" y="5373216"/>
          <a:ext cx="8089900" cy="1268412"/>
        </p:xfrm>
        <a:graphic>
          <a:graphicData uri="http://schemas.openxmlformats.org/presentationml/2006/ole">
            <mc:AlternateContent xmlns:mc="http://schemas.openxmlformats.org/markup-compatibility/2006">
              <mc:Choice xmlns:v="urn:schemas-microsoft-com:vml" Requires="v">
                <p:oleObj name="Equation" r:id="rId7" imgW="4940280" imgH="761760" progId="Equation.DSMT4">
                  <p:embed/>
                </p:oleObj>
              </mc:Choice>
              <mc:Fallback>
                <p:oleObj name="Equation" r:id="rId7" imgW="4940280" imgH="761760" progId="Equation.DSMT4">
                  <p:embed/>
                  <p:pic>
                    <p:nvPicPr>
                      <p:cNvPr id="0" name="Object 8"/>
                      <p:cNvPicPr>
                        <a:picLocks noChangeAspect="1" noChangeArrowheads="1"/>
                      </p:cNvPicPr>
                      <p:nvPr/>
                    </p:nvPicPr>
                    <p:blipFill>
                      <a:blip r:embed="rId8"/>
                      <a:srcRect/>
                      <a:stretch>
                        <a:fillRect/>
                      </a:stretch>
                    </p:blipFill>
                    <p:spPr bwMode="auto">
                      <a:xfrm>
                        <a:off x="755576" y="5373216"/>
                        <a:ext cx="8089900" cy="1268412"/>
                      </a:xfrm>
                      <a:prstGeom prst="rect">
                        <a:avLst/>
                      </a:prstGeom>
                      <a:noFill/>
                    </p:spPr>
                  </p:pic>
                </p:oleObj>
              </mc:Fallback>
            </mc:AlternateContent>
          </a:graphicData>
        </a:graphic>
      </p:graphicFrame>
      <p:sp>
        <p:nvSpPr>
          <p:cNvPr id="7" name="灯片编号占位符 6">
            <a:extLst>
              <a:ext uri="{FF2B5EF4-FFF2-40B4-BE49-F238E27FC236}">
                <a16:creationId xmlns:a16="http://schemas.microsoft.com/office/drawing/2014/main" id="{9E3EC557-AE15-386A-EE06-DAFAEAA75679}"/>
              </a:ext>
            </a:extLst>
          </p:cNvPr>
          <p:cNvSpPr>
            <a:spLocks noGrp="1"/>
          </p:cNvSpPr>
          <p:nvPr>
            <p:ph type="sldNum" sz="quarter" idx="12"/>
          </p:nvPr>
        </p:nvSpPr>
        <p:spPr/>
        <p:txBody>
          <a:bodyPr/>
          <a:lstStyle/>
          <a:p>
            <a:fld id="{76D830B0-DF59-4281-898F-AF208100B213}" type="slidenum">
              <a:rPr lang="en-US" altLang="zh-CN" smtClean="0"/>
              <a:pPr/>
              <a:t>104</a:t>
            </a:fld>
            <a:endParaRPr lang="en-US" altLang="zh-CN"/>
          </a:p>
        </p:txBody>
      </p:sp>
    </p:spTree>
    <p:extLst>
      <p:ext uri="{BB962C8B-B14F-4D97-AF65-F5344CB8AC3E}">
        <p14:creationId xmlns:p14="http://schemas.microsoft.com/office/powerpoint/2010/main" val="248864239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A935C76-13E9-9A13-A187-F13F7CBF4CD2}"/>
              </a:ext>
            </a:extLst>
          </p:cNvPr>
          <p:cNvSpPr txBox="1"/>
          <p:nvPr/>
        </p:nvSpPr>
        <p:spPr>
          <a:xfrm>
            <a:off x="395536" y="1052736"/>
            <a:ext cx="4896546" cy="461665"/>
          </a:xfrm>
          <a:prstGeom prst="rect">
            <a:avLst/>
          </a:prstGeom>
          <a:noFill/>
        </p:spPr>
        <p:txBody>
          <a:bodyPr wrap="square">
            <a:spAutoFit/>
          </a:bodyPr>
          <a:lstStyle/>
          <a:p>
            <a:pPr marL="266700" algn="l"/>
            <a:r>
              <a:rPr lang="zh-CN" altLang="en-US" sz="2400" b="1" dirty="0">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三</a:t>
            </a:r>
            <a:r>
              <a:rPr lang="zh-CN" altLang="zh-CN" sz="2400" b="1" dirty="0">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a:t>
            </a:r>
            <a:r>
              <a:rPr lang="zh-CN" altLang="en-US" sz="2400" b="1" dirty="0">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机械特性的实用表达式</a:t>
            </a:r>
            <a:endParaRPr lang="zh-CN" altLang="zh-CN" sz="28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3" name="对象 2">
            <a:extLst>
              <a:ext uri="{FF2B5EF4-FFF2-40B4-BE49-F238E27FC236}">
                <a16:creationId xmlns:a16="http://schemas.microsoft.com/office/drawing/2014/main" id="{A65658EA-E649-EA10-4AB5-65CE7AD8C81A}"/>
              </a:ext>
            </a:extLst>
          </p:cNvPr>
          <p:cNvGraphicFramePr>
            <a:graphicFrameLocks noChangeAspect="1"/>
          </p:cNvGraphicFramePr>
          <p:nvPr>
            <p:extLst>
              <p:ext uri="{D42A27DB-BD31-4B8C-83A1-F6EECF244321}">
                <p14:modId xmlns:p14="http://schemas.microsoft.com/office/powerpoint/2010/main" val="1897888694"/>
              </p:ext>
            </p:extLst>
          </p:nvPr>
        </p:nvGraphicFramePr>
        <p:xfrm>
          <a:off x="383073" y="1514401"/>
          <a:ext cx="8572500" cy="4914900"/>
        </p:xfrm>
        <a:graphic>
          <a:graphicData uri="http://schemas.openxmlformats.org/presentationml/2006/ole">
            <mc:AlternateContent xmlns:mc="http://schemas.openxmlformats.org/markup-compatibility/2006">
              <mc:Choice xmlns:v="urn:schemas-microsoft-com:vml" Requires="v">
                <p:oleObj name="Equation" r:id="rId3" imgW="4470120" imgH="2577960" progId="Equation.DSMT4">
                  <p:embed/>
                </p:oleObj>
              </mc:Choice>
              <mc:Fallback>
                <p:oleObj name="Equation" r:id="rId3" imgW="4470120" imgH="2577960" progId="Equation.DSMT4">
                  <p:embed/>
                  <p:pic>
                    <p:nvPicPr>
                      <p:cNvPr id="0" name="Object 1"/>
                      <p:cNvPicPr>
                        <a:picLocks noChangeAspect="1" noChangeArrowheads="1"/>
                      </p:cNvPicPr>
                      <p:nvPr/>
                    </p:nvPicPr>
                    <p:blipFill>
                      <a:blip r:embed="rId4"/>
                      <a:srcRect/>
                      <a:stretch>
                        <a:fillRect/>
                      </a:stretch>
                    </p:blipFill>
                    <p:spPr bwMode="auto">
                      <a:xfrm>
                        <a:off x="383073" y="1514401"/>
                        <a:ext cx="8572500" cy="491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灯片编号占位符 4">
            <a:extLst>
              <a:ext uri="{FF2B5EF4-FFF2-40B4-BE49-F238E27FC236}">
                <a16:creationId xmlns:a16="http://schemas.microsoft.com/office/drawing/2014/main" id="{105E28C0-F670-25EF-9FFE-5D38897D2577}"/>
              </a:ext>
            </a:extLst>
          </p:cNvPr>
          <p:cNvSpPr>
            <a:spLocks noGrp="1"/>
          </p:cNvSpPr>
          <p:nvPr>
            <p:ph type="sldNum" sz="quarter" idx="12"/>
          </p:nvPr>
        </p:nvSpPr>
        <p:spPr/>
        <p:txBody>
          <a:bodyPr/>
          <a:lstStyle/>
          <a:p>
            <a:fld id="{76D830B0-DF59-4281-898F-AF208100B213}" type="slidenum">
              <a:rPr lang="en-US" altLang="zh-CN" smtClean="0"/>
              <a:pPr/>
              <a:t>105</a:t>
            </a:fld>
            <a:endParaRPr lang="en-US" altLang="zh-CN"/>
          </a:p>
        </p:txBody>
      </p:sp>
    </p:spTree>
    <p:extLst>
      <p:ext uri="{BB962C8B-B14F-4D97-AF65-F5344CB8AC3E}">
        <p14:creationId xmlns:p14="http://schemas.microsoft.com/office/powerpoint/2010/main" val="117343541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7">
            <a:extLst>
              <a:ext uri="{FF2B5EF4-FFF2-40B4-BE49-F238E27FC236}">
                <a16:creationId xmlns:a16="http://schemas.microsoft.com/office/drawing/2014/main" id="{FFB5B4CF-ED1E-47E7-5B43-351CD9C991D5}"/>
              </a:ext>
            </a:extLst>
          </p:cNvPr>
          <p:cNvSpPr>
            <a:spLocks noChangeArrowheads="1"/>
          </p:cNvSpPr>
          <p:nvPr/>
        </p:nvSpPr>
        <p:spPr bwMode="auto">
          <a:xfrm>
            <a:off x="323528" y="3502063"/>
            <a:ext cx="8496944" cy="966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25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考虑普通异步电动机</a:t>
            </a:r>
            <a:r>
              <a:rPr kumimoji="0" lang="en-US"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若</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忽略</a:t>
            </a: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400" b="1" i="0" u="none" strike="noStrike" cap="none" normalizeH="0" baseline="0" dirty="0">
                <a:ln>
                  <a:noFill/>
                </a:ln>
                <a:effectLst/>
                <a:latin typeface="黑体" panose="02010609060101010101" pitchFamily="49" charset="-122"/>
                <a:ea typeface="黑体" panose="02010609060101010101" pitchFamily="49" charset="-122"/>
                <a:cs typeface="Times New Roman" panose="02020603050405020304" pitchFamily="18" charset="0"/>
              </a:rPr>
              <a:t>，机械特性的表达式可近似为：</a:t>
            </a:r>
            <a:endParaRPr kumimoji="0" lang="zh-CN" altLang="zh-CN" sz="2400" b="0" i="0" u="none" strike="noStrike" cap="none" normalizeH="0" baseline="0" dirty="0">
              <a:ln>
                <a:noFill/>
              </a:ln>
              <a:effectLst/>
              <a:latin typeface="Arial" panose="020B0604020202020204" pitchFamily="34" charset="0"/>
            </a:endParaRPr>
          </a:p>
        </p:txBody>
      </p:sp>
      <p:sp>
        <p:nvSpPr>
          <p:cNvPr id="7" name="Rectangle 5">
            <a:extLst>
              <a:ext uri="{FF2B5EF4-FFF2-40B4-BE49-F238E27FC236}">
                <a16:creationId xmlns:a16="http://schemas.microsoft.com/office/drawing/2014/main" id="{67DD7777-6767-9F2A-A35A-8F9CCB99F88E}"/>
              </a:ext>
            </a:extLst>
          </p:cNvPr>
          <p:cNvSpPr>
            <a:spLocks noChangeArrowheads="1"/>
          </p:cNvSpPr>
          <p:nvPr/>
        </p:nvSpPr>
        <p:spPr bwMode="auto">
          <a:xfrm>
            <a:off x="611560" y="1052736"/>
            <a:ext cx="72728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上式同除   ，又因                   ，所以有：</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8" name="对象 7">
            <a:extLst>
              <a:ext uri="{FF2B5EF4-FFF2-40B4-BE49-F238E27FC236}">
                <a16:creationId xmlns:a16="http://schemas.microsoft.com/office/drawing/2014/main" id="{2F51E216-31F9-0162-0555-7A8B22274B4F}"/>
              </a:ext>
            </a:extLst>
          </p:cNvPr>
          <p:cNvGraphicFramePr>
            <a:graphicFrameLocks noChangeAspect="1"/>
          </p:cNvGraphicFramePr>
          <p:nvPr/>
        </p:nvGraphicFramePr>
        <p:xfrm>
          <a:off x="1907704" y="1022467"/>
          <a:ext cx="442913" cy="466725"/>
        </p:xfrm>
        <a:graphic>
          <a:graphicData uri="http://schemas.openxmlformats.org/presentationml/2006/ole">
            <mc:AlternateContent xmlns:mc="http://schemas.openxmlformats.org/markup-compatibility/2006">
              <mc:Choice xmlns:v="urn:schemas-microsoft-com:vml" Requires="v">
                <p:oleObj name="Equation" r:id="rId3" imgW="253780" imgH="266469" progId="Equation.DSMT4">
                  <p:embed/>
                </p:oleObj>
              </mc:Choice>
              <mc:Fallback>
                <p:oleObj name="Equation" r:id="rId3" imgW="253780" imgH="266469" progId="Equation.DSMT4">
                  <p:embed/>
                  <p:pic>
                    <p:nvPicPr>
                      <p:cNvPr id="8" name="对象 7">
                        <a:extLst>
                          <a:ext uri="{FF2B5EF4-FFF2-40B4-BE49-F238E27FC236}">
                            <a16:creationId xmlns:a16="http://schemas.microsoft.com/office/drawing/2014/main" id="{2F51E216-31F9-0162-0555-7A8B22274B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1022467"/>
                        <a:ext cx="442913"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a:extLst>
              <a:ext uri="{FF2B5EF4-FFF2-40B4-BE49-F238E27FC236}">
                <a16:creationId xmlns:a16="http://schemas.microsoft.com/office/drawing/2014/main" id="{EDF11103-B7DE-06A8-18D3-967E5FADE861}"/>
              </a:ext>
            </a:extLst>
          </p:cNvPr>
          <p:cNvGraphicFramePr>
            <a:graphicFrameLocks noChangeAspect="1"/>
          </p:cNvGraphicFramePr>
          <p:nvPr/>
        </p:nvGraphicFramePr>
        <p:xfrm>
          <a:off x="450849" y="1871113"/>
          <a:ext cx="8242301" cy="1458912"/>
        </p:xfrm>
        <a:graphic>
          <a:graphicData uri="http://schemas.openxmlformats.org/presentationml/2006/ole">
            <mc:AlternateContent xmlns:mc="http://schemas.openxmlformats.org/markup-compatibility/2006">
              <mc:Choice xmlns:v="urn:schemas-microsoft-com:vml" Requires="v">
                <p:oleObj name="Equation" r:id="rId5" imgW="4406760" imgH="774360" progId="Equation.DSMT4">
                  <p:embed/>
                </p:oleObj>
              </mc:Choice>
              <mc:Fallback>
                <p:oleObj name="Equation" r:id="rId5" imgW="4406760" imgH="774360" progId="Equation.DSMT4">
                  <p:embed/>
                  <p:pic>
                    <p:nvPicPr>
                      <p:cNvPr id="11" name="对象 10">
                        <a:extLst>
                          <a:ext uri="{FF2B5EF4-FFF2-40B4-BE49-F238E27FC236}">
                            <a16:creationId xmlns:a16="http://schemas.microsoft.com/office/drawing/2014/main" id="{EDF11103-B7DE-06A8-18D3-967E5FADE861}"/>
                          </a:ext>
                        </a:extLst>
                      </p:cNvPr>
                      <p:cNvPicPr>
                        <a:picLocks noChangeAspect="1" noChangeArrowheads="1"/>
                      </p:cNvPicPr>
                      <p:nvPr/>
                    </p:nvPicPr>
                    <p:blipFill>
                      <a:blip r:embed="rId6"/>
                      <a:srcRect/>
                      <a:stretch>
                        <a:fillRect/>
                      </a:stretch>
                    </p:blipFill>
                    <p:spPr bwMode="auto">
                      <a:xfrm>
                        <a:off x="450849" y="1871113"/>
                        <a:ext cx="8242301" cy="1458912"/>
                      </a:xfrm>
                      <a:prstGeom prst="rect">
                        <a:avLst/>
                      </a:prstGeom>
                      <a:solidFill>
                        <a:srgbClr val="FFFF99"/>
                      </a:solidFill>
                    </p:spPr>
                  </p:pic>
                </p:oleObj>
              </mc:Fallback>
            </mc:AlternateContent>
          </a:graphicData>
        </a:graphic>
      </p:graphicFrame>
      <p:graphicFrame>
        <p:nvGraphicFramePr>
          <p:cNvPr id="13" name="对象 12">
            <a:extLst>
              <a:ext uri="{FF2B5EF4-FFF2-40B4-BE49-F238E27FC236}">
                <a16:creationId xmlns:a16="http://schemas.microsoft.com/office/drawing/2014/main" id="{A891E270-5CDD-D5CD-344B-1B8A2F182F77}"/>
              </a:ext>
            </a:extLst>
          </p:cNvPr>
          <p:cNvGraphicFramePr>
            <a:graphicFrameLocks noChangeAspect="1"/>
          </p:cNvGraphicFramePr>
          <p:nvPr/>
        </p:nvGraphicFramePr>
        <p:xfrm>
          <a:off x="3275856" y="836712"/>
          <a:ext cx="2881312" cy="938212"/>
        </p:xfrm>
        <a:graphic>
          <a:graphicData uri="http://schemas.openxmlformats.org/presentationml/2006/ole">
            <mc:AlternateContent xmlns:mc="http://schemas.openxmlformats.org/markup-compatibility/2006">
              <mc:Choice xmlns:v="urn:schemas-microsoft-com:vml" Requires="v">
                <p:oleObj name="Equation" r:id="rId7" imgW="1625600" imgH="533400" progId="Equation.DSMT4">
                  <p:embed/>
                </p:oleObj>
              </mc:Choice>
              <mc:Fallback>
                <p:oleObj name="Equation" r:id="rId7" imgW="1625600" imgH="533400" progId="Equation.DSMT4">
                  <p:embed/>
                  <p:pic>
                    <p:nvPicPr>
                      <p:cNvPr id="13" name="对象 12">
                        <a:extLst>
                          <a:ext uri="{FF2B5EF4-FFF2-40B4-BE49-F238E27FC236}">
                            <a16:creationId xmlns:a16="http://schemas.microsoft.com/office/drawing/2014/main" id="{A891E270-5CDD-D5CD-344B-1B8A2F182F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5856" y="836712"/>
                        <a:ext cx="2881312" cy="938212"/>
                      </a:xfrm>
                      <a:prstGeom prst="rect">
                        <a:avLst/>
                      </a:prstGeom>
                      <a:noFill/>
                      <a:extLst>
                        <a:ext uri="{909E8E84-426E-40DD-AFC4-6F175D3DCCD1}">
                          <a14:hiddenFill xmlns:a14="http://schemas.microsoft.com/office/drawing/2010/main">
                            <a:solidFill>
                              <a:srgbClr val="00FF00"/>
                            </a:solidFill>
                          </a14:hiddenFill>
                        </a:ext>
                      </a:extLst>
                    </p:spPr>
                  </p:pic>
                </p:oleObj>
              </mc:Fallback>
            </mc:AlternateContent>
          </a:graphicData>
        </a:graphic>
      </p:graphicFrame>
      <p:graphicFrame>
        <p:nvGraphicFramePr>
          <p:cNvPr id="18" name="对象 17">
            <a:extLst>
              <a:ext uri="{FF2B5EF4-FFF2-40B4-BE49-F238E27FC236}">
                <a16:creationId xmlns:a16="http://schemas.microsoft.com/office/drawing/2014/main" id="{E45862A9-DA37-D9CC-13F2-4A962BBEF4D9}"/>
              </a:ext>
            </a:extLst>
          </p:cNvPr>
          <p:cNvGraphicFramePr>
            <a:graphicFrameLocks noChangeAspect="1"/>
          </p:cNvGraphicFramePr>
          <p:nvPr/>
        </p:nvGraphicFramePr>
        <p:xfrm>
          <a:off x="3813224" y="3576726"/>
          <a:ext cx="1766888" cy="447675"/>
        </p:xfrm>
        <a:graphic>
          <a:graphicData uri="http://schemas.openxmlformats.org/presentationml/2006/ole">
            <mc:AlternateContent xmlns:mc="http://schemas.openxmlformats.org/markup-compatibility/2006">
              <mc:Choice xmlns:v="urn:schemas-microsoft-com:vml" Requires="v">
                <p:oleObj name="Equation" r:id="rId9" imgW="901309" imgH="228501" progId="Equation.DSMT4">
                  <p:embed/>
                </p:oleObj>
              </mc:Choice>
              <mc:Fallback>
                <p:oleObj name="Equation" r:id="rId9" imgW="901309" imgH="228501" progId="Equation.DSMT4">
                  <p:embed/>
                  <p:pic>
                    <p:nvPicPr>
                      <p:cNvPr id="18" name="对象 17">
                        <a:extLst>
                          <a:ext uri="{FF2B5EF4-FFF2-40B4-BE49-F238E27FC236}">
                            <a16:creationId xmlns:a16="http://schemas.microsoft.com/office/drawing/2014/main" id="{E45862A9-DA37-D9CC-13F2-4A962BBEF4D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3224" y="3576726"/>
                        <a:ext cx="1766888"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a:extLst>
              <a:ext uri="{FF2B5EF4-FFF2-40B4-BE49-F238E27FC236}">
                <a16:creationId xmlns:a16="http://schemas.microsoft.com/office/drawing/2014/main" id="{C7247412-162F-F729-4B93-6DB88EE21F7A}"/>
              </a:ext>
            </a:extLst>
          </p:cNvPr>
          <p:cNvGraphicFramePr>
            <a:graphicFrameLocks noChangeAspect="1"/>
          </p:cNvGraphicFramePr>
          <p:nvPr/>
        </p:nvGraphicFramePr>
        <p:xfrm>
          <a:off x="6843861" y="3356992"/>
          <a:ext cx="752475" cy="823913"/>
        </p:xfrm>
        <a:graphic>
          <a:graphicData uri="http://schemas.openxmlformats.org/presentationml/2006/ole">
            <mc:AlternateContent xmlns:mc="http://schemas.openxmlformats.org/markup-compatibility/2006">
              <mc:Choice xmlns:v="urn:schemas-microsoft-com:vml" Requires="v">
                <p:oleObj name="Equation" r:id="rId11" imgW="406224" imgH="431613" progId="Equation.DSMT4">
                  <p:embed/>
                </p:oleObj>
              </mc:Choice>
              <mc:Fallback>
                <p:oleObj name="Equation" r:id="rId11" imgW="406224" imgH="431613" progId="Equation.DSMT4">
                  <p:embed/>
                  <p:pic>
                    <p:nvPicPr>
                      <p:cNvPr id="19" name="对象 18">
                        <a:extLst>
                          <a:ext uri="{FF2B5EF4-FFF2-40B4-BE49-F238E27FC236}">
                            <a16:creationId xmlns:a16="http://schemas.microsoft.com/office/drawing/2014/main" id="{C7247412-162F-F729-4B93-6DB88EE21F7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43861" y="3356992"/>
                        <a:ext cx="752475"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a:extLst>
              <a:ext uri="{FF2B5EF4-FFF2-40B4-BE49-F238E27FC236}">
                <a16:creationId xmlns:a16="http://schemas.microsoft.com/office/drawing/2014/main" id="{4B35ED8F-26E5-C0A5-371B-C1B79982695E}"/>
              </a:ext>
            </a:extLst>
          </p:cNvPr>
          <p:cNvGraphicFramePr>
            <a:graphicFrameLocks noChangeAspect="1"/>
          </p:cNvGraphicFramePr>
          <p:nvPr/>
        </p:nvGraphicFramePr>
        <p:xfrm>
          <a:off x="3813224" y="4221088"/>
          <a:ext cx="2088232" cy="1280159"/>
        </p:xfrm>
        <a:graphic>
          <a:graphicData uri="http://schemas.openxmlformats.org/presentationml/2006/ole">
            <mc:AlternateContent xmlns:mc="http://schemas.openxmlformats.org/markup-compatibility/2006">
              <mc:Choice xmlns:v="urn:schemas-microsoft-com:vml" Requires="v">
                <p:oleObj name="Equation" r:id="rId13" imgW="1040948" imgH="634725" progId="Equation.DSMT4">
                  <p:embed/>
                </p:oleObj>
              </mc:Choice>
              <mc:Fallback>
                <p:oleObj name="Equation" r:id="rId13" imgW="1040948" imgH="634725" progId="Equation.DSMT4">
                  <p:embed/>
                  <p:pic>
                    <p:nvPicPr>
                      <p:cNvPr id="24" name="对象 23">
                        <a:extLst>
                          <a:ext uri="{FF2B5EF4-FFF2-40B4-BE49-F238E27FC236}">
                            <a16:creationId xmlns:a16="http://schemas.microsoft.com/office/drawing/2014/main" id="{4B35ED8F-26E5-C0A5-371B-C1B79982695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13224" y="4221088"/>
                        <a:ext cx="2088232" cy="1280159"/>
                      </a:xfrm>
                      <a:prstGeom prst="rect">
                        <a:avLst/>
                      </a:prstGeom>
                      <a:solidFill>
                        <a:srgbClr val="00FF00"/>
                      </a:solidFill>
                    </p:spPr>
                  </p:pic>
                </p:oleObj>
              </mc:Fallback>
            </mc:AlternateContent>
          </a:graphicData>
        </a:graphic>
      </p:graphicFrame>
      <p:sp>
        <p:nvSpPr>
          <p:cNvPr id="28" name="文本框 27">
            <a:extLst>
              <a:ext uri="{FF2B5EF4-FFF2-40B4-BE49-F238E27FC236}">
                <a16:creationId xmlns:a16="http://schemas.microsoft.com/office/drawing/2014/main" id="{10711F68-F0A2-6E3F-A978-F437D68ADF82}"/>
              </a:ext>
            </a:extLst>
          </p:cNvPr>
          <p:cNvSpPr txBox="1"/>
          <p:nvPr/>
        </p:nvSpPr>
        <p:spPr>
          <a:xfrm>
            <a:off x="359531" y="5646146"/>
            <a:ext cx="8424936" cy="830997"/>
          </a:xfrm>
          <a:prstGeom prst="rect">
            <a:avLst/>
          </a:prstGeom>
          <a:noFill/>
          <a:ln w="19050">
            <a:noFill/>
            <a:prstDash val="dash"/>
          </a:ln>
        </p:spPr>
        <p:txBody>
          <a:bodyPr wrap="square">
            <a:spAutoFit/>
          </a:bodyPr>
          <a:lstStyle/>
          <a:p>
            <a:pPr algn="just"/>
            <a:r>
              <a:rPr lang="en-US" altLang="zh-CN" sz="24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r>
              <a:rPr lang="zh-CN" altLang="en-US" sz="24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上述</a:t>
            </a:r>
            <a:r>
              <a:rPr lang="zh-CN" altLang="zh-CN" sz="24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表达式因最大转矩、临界转差率可由电动机产品目录中查得的数据求得，</a:t>
            </a:r>
            <a:r>
              <a:rPr lang="zh-CN" altLang="zh-CN" sz="24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故较实用，称为</a:t>
            </a:r>
            <a:r>
              <a:rPr lang="zh-CN" altLang="zh-CN" sz="2400" b="1" dirty="0">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实用表达式</a:t>
            </a:r>
            <a:r>
              <a:rPr lang="zh-CN" altLang="zh-CN" sz="24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endParaRPr lang="zh-CN" altLang="en-US" sz="2400" dirty="0"/>
          </a:p>
        </p:txBody>
      </p:sp>
      <p:sp>
        <p:nvSpPr>
          <p:cNvPr id="3" name="灯片编号占位符 2">
            <a:extLst>
              <a:ext uri="{FF2B5EF4-FFF2-40B4-BE49-F238E27FC236}">
                <a16:creationId xmlns:a16="http://schemas.microsoft.com/office/drawing/2014/main" id="{A5DC634E-39A3-D538-4336-A5006616ACCD}"/>
              </a:ext>
            </a:extLst>
          </p:cNvPr>
          <p:cNvSpPr>
            <a:spLocks noGrp="1"/>
          </p:cNvSpPr>
          <p:nvPr>
            <p:ph type="sldNum" sz="quarter" idx="12"/>
          </p:nvPr>
        </p:nvSpPr>
        <p:spPr/>
        <p:txBody>
          <a:bodyPr/>
          <a:lstStyle/>
          <a:p>
            <a:fld id="{76D830B0-DF59-4281-898F-AF208100B213}" type="slidenum">
              <a:rPr lang="en-US" altLang="zh-CN" smtClean="0"/>
              <a:pPr/>
              <a:t>106</a:t>
            </a:fld>
            <a:endParaRPr lang="en-US" altLang="zh-CN"/>
          </a:p>
        </p:txBody>
      </p:sp>
    </p:spTree>
    <p:extLst>
      <p:ext uri="{BB962C8B-B14F-4D97-AF65-F5344CB8AC3E}">
        <p14:creationId xmlns:p14="http://schemas.microsoft.com/office/powerpoint/2010/main" val="14957415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643D2E8A-4B9C-87C8-B9CE-84CED1BCE46A}"/>
              </a:ext>
            </a:extLst>
          </p:cNvPr>
          <p:cNvGraphicFramePr>
            <a:graphicFrameLocks noChangeAspect="1"/>
          </p:cNvGraphicFramePr>
          <p:nvPr>
            <p:extLst>
              <p:ext uri="{D42A27DB-BD31-4B8C-83A1-F6EECF244321}">
                <p14:modId xmlns:p14="http://schemas.microsoft.com/office/powerpoint/2010/main" val="2010582239"/>
              </p:ext>
            </p:extLst>
          </p:nvPr>
        </p:nvGraphicFramePr>
        <p:xfrm>
          <a:off x="1237933" y="1204820"/>
          <a:ext cx="5372834" cy="1199920"/>
        </p:xfrm>
        <a:graphic>
          <a:graphicData uri="http://schemas.openxmlformats.org/presentationml/2006/ole">
            <mc:AlternateContent xmlns:mc="http://schemas.openxmlformats.org/markup-compatibility/2006">
              <mc:Choice xmlns:v="urn:schemas-microsoft-com:vml" Requires="v">
                <p:oleObj name="Equation" r:id="rId3" imgW="2577960" imgH="583920" progId="Equation.DSMT4">
                  <p:embed/>
                </p:oleObj>
              </mc:Choice>
              <mc:Fallback>
                <p:oleObj name="Equation" r:id="rId3" imgW="2577960" imgH="583920" progId="Equation.DSMT4">
                  <p:embed/>
                  <p:pic>
                    <p:nvPicPr>
                      <p:cNvPr id="0" name="Object 1"/>
                      <p:cNvPicPr>
                        <a:picLocks noChangeAspect="1" noChangeArrowheads="1"/>
                      </p:cNvPicPr>
                      <p:nvPr/>
                    </p:nvPicPr>
                    <p:blipFill>
                      <a:blip r:embed="rId4"/>
                      <a:srcRect/>
                      <a:stretch>
                        <a:fillRect/>
                      </a:stretch>
                    </p:blipFill>
                    <p:spPr bwMode="auto">
                      <a:xfrm>
                        <a:off x="1237933" y="1204820"/>
                        <a:ext cx="5372834" cy="1199920"/>
                      </a:xfrm>
                      <a:prstGeom prst="rect">
                        <a:avLst/>
                      </a:prstGeom>
                      <a:noFill/>
                    </p:spPr>
                  </p:pic>
                </p:oleObj>
              </mc:Fallback>
            </mc:AlternateContent>
          </a:graphicData>
        </a:graphic>
      </p:graphicFrame>
      <p:graphicFrame>
        <p:nvGraphicFramePr>
          <p:cNvPr id="12" name="对象 11">
            <a:extLst>
              <a:ext uri="{FF2B5EF4-FFF2-40B4-BE49-F238E27FC236}">
                <a16:creationId xmlns:a16="http://schemas.microsoft.com/office/drawing/2014/main" id="{00EC4FC0-2F4C-2C06-4788-D5279C2FE7C0}"/>
              </a:ext>
            </a:extLst>
          </p:cNvPr>
          <p:cNvGraphicFramePr>
            <a:graphicFrameLocks noChangeAspect="1"/>
          </p:cNvGraphicFramePr>
          <p:nvPr>
            <p:extLst>
              <p:ext uri="{D42A27DB-BD31-4B8C-83A1-F6EECF244321}">
                <p14:modId xmlns:p14="http://schemas.microsoft.com/office/powerpoint/2010/main" val="3202114004"/>
              </p:ext>
            </p:extLst>
          </p:nvPr>
        </p:nvGraphicFramePr>
        <p:xfrm>
          <a:off x="1231628" y="2702397"/>
          <a:ext cx="314325" cy="271463"/>
        </p:xfrm>
        <a:graphic>
          <a:graphicData uri="http://schemas.openxmlformats.org/presentationml/2006/ole">
            <mc:AlternateContent xmlns:mc="http://schemas.openxmlformats.org/markup-compatibility/2006">
              <mc:Choice xmlns:v="urn:schemas-microsoft-com:vml" Requires="v">
                <p:oleObj name="Equation" r:id="rId5" imgW="139518" imgH="126835" progId="Equation.DSMT4">
                  <p:embed/>
                </p:oleObj>
              </mc:Choice>
              <mc:Fallback>
                <p:oleObj name="Equation" r:id="rId5" imgW="139518" imgH="126835" progId="Equation.DSMT4">
                  <p:embed/>
                  <p:pic>
                    <p:nvPicPr>
                      <p:cNvPr id="16" name="对象 15">
                        <a:extLst>
                          <a:ext uri="{FF2B5EF4-FFF2-40B4-BE49-F238E27FC236}">
                            <a16:creationId xmlns:a16="http://schemas.microsoft.com/office/drawing/2014/main" id="{1206BC19-519E-73DB-BE87-BD175617E4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1628" y="2702397"/>
                        <a:ext cx="314325" cy="27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文本框 14">
            <a:extLst>
              <a:ext uri="{FF2B5EF4-FFF2-40B4-BE49-F238E27FC236}">
                <a16:creationId xmlns:a16="http://schemas.microsoft.com/office/drawing/2014/main" id="{03A1A82E-AC75-CD39-D96C-10BA162A813A}"/>
              </a:ext>
            </a:extLst>
          </p:cNvPr>
          <p:cNvSpPr txBox="1"/>
          <p:nvPr/>
        </p:nvSpPr>
        <p:spPr>
          <a:xfrm>
            <a:off x="1403648" y="2607295"/>
            <a:ext cx="2646040" cy="461665"/>
          </a:xfrm>
          <a:prstGeom prst="rect">
            <a:avLst/>
          </a:prstGeom>
          <a:noFill/>
        </p:spPr>
        <p:txBody>
          <a:bodyPr wrap="square">
            <a:spAutoFit/>
          </a:bodyPr>
          <a:lstStyle/>
          <a:p>
            <a:pPr algn="just"/>
            <a:r>
              <a:rPr lang="zh-CN" altLang="zh-CN" sz="24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可得</a:t>
            </a:r>
            <a:r>
              <a:rPr lang="zh-CN" altLang="zh-CN" sz="24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临界转差率</a:t>
            </a:r>
            <a:r>
              <a:rPr lang="zh-CN" altLang="en-US" sz="24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endParaRPr lang="zh-CN" altLang="en-US" sz="2400" dirty="0"/>
          </a:p>
        </p:txBody>
      </p:sp>
      <p:graphicFrame>
        <p:nvGraphicFramePr>
          <p:cNvPr id="17" name="对象 16">
            <a:extLst>
              <a:ext uri="{FF2B5EF4-FFF2-40B4-BE49-F238E27FC236}">
                <a16:creationId xmlns:a16="http://schemas.microsoft.com/office/drawing/2014/main" id="{08E47BCB-6342-375A-9F40-7B35F2B2D2D3}"/>
              </a:ext>
            </a:extLst>
          </p:cNvPr>
          <p:cNvGraphicFramePr>
            <a:graphicFrameLocks noChangeAspect="1"/>
          </p:cNvGraphicFramePr>
          <p:nvPr>
            <p:extLst>
              <p:ext uri="{D42A27DB-BD31-4B8C-83A1-F6EECF244321}">
                <p14:modId xmlns:p14="http://schemas.microsoft.com/office/powerpoint/2010/main" val="2443317496"/>
              </p:ext>
            </p:extLst>
          </p:nvPr>
        </p:nvGraphicFramePr>
        <p:xfrm>
          <a:off x="3924350" y="2522680"/>
          <a:ext cx="2646040" cy="546279"/>
        </p:xfrm>
        <a:graphic>
          <a:graphicData uri="http://schemas.openxmlformats.org/presentationml/2006/ole">
            <mc:AlternateContent xmlns:mc="http://schemas.openxmlformats.org/markup-compatibility/2006">
              <mc:Choice xmlns:v="urn:schemas-microsoft-com:vml" Requires="v">
                <p:oleObj name="Equation" r:id="rId7" imgW="1333500" imgH="279400" progId="Equation.DSMT4">
                  <p:embed/>
                </p:oleObj>
              </mc:Choice>
              <mc:Fallback>
                <p:oleObj name="Equation" r:id="rId7" imgW="1333500" imgH="2794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4350" y="2522680"/>
                        <a:ext cx="2646040" cy="546279"/>
                      </a:xfrm>
                      <a:prstGeom prst="rect">
                        <a:avLst/>
                      </a:prstGeom>
                      <a:solidFill>
                        <a:srgbClr val="FFFF99"/>
                      </a:solidFill>
                    </p:spPr>
                  </p:pic>
                </p:oleObj>
              </mc:Fallback>
            </mc:AlternateContent>
          </a:graphicData>
        </a:graphic>
      </p:graphicFrame>
      <p:sp>
        <p:nvSpPr>
          <p:cNvPr id="21" name="Rectangle 11">
            <a:extLst>
              <a:ext uri="{FF2B5EF4-FFF2-40B4-BE49-F238E27FC236}">
                <a16:creationId xmlns:a16="http://schemas.microsoft.com/office/drawing/2014/main" id="{33B77EEE-9C0E-03AA-2AD9-46061FA4939E}"/>
              </a:ext>
            </a:extLst>
          </p:cNvPr>
          <p:cNvSpPr>
            <a:spLocks noChangeArrowheads="1"/>
          </p:cNvSpPr>
          <p:nvPr/>
        </p:nvSpPr>
        <p:spPr bwMode="auto">
          <a:xfrm>
            <a:off x="683568" y="3279583"/>
            <a:ext cx="7920880" cy="1128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在</a:t>
            </a:r>
            <a:r>
              <a:rPr kumimoji="0" lang="zh-CN"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稳定运行段的额定转矩范围内</a:t>
            </a:r>
            <a:r>
              <a:rPr kumimoji="0" lang="zh-CN" altLang="zh-CN" sz="24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4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s&lt;0.06</a:t>
            </a:r>
            <a:r>
              <a:rPr kumimoji="0" lang="zh-CN" altLang="en-US" sz="24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，分析正常运行段特性时可用更简化的近似表达式：</a:t>
            </a:r>
            <a:r>
              <a:rPr kumimoji="0" lang="en-US" altLang="zh-CN" sz="24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22" name="对象 21">
            <a:extLst>
              <a:ext uri="{FF2B5EF4-FFF2-40B4-BE49-F238E27FC236}">
                <a16:creationId xmlns:a16="http://schemas.microsoft.com/office/drawing/2014/main" id="{61BAF9AD-587A-8431-E1C4-676EF7B5AB4F}"/>
              </a:ext>
            </a:extLst>
          </p:cNvPr>
          <p:cNvGraphicFramePr>
            <a:graphicFrameLocks noChangeAspect="1"/>
          </p:cNvGraphicFramePr>
          <p:nvPr>
            <p:extLst>
              <p:ext uri="{D42A27DB-BD31-4B8C-83A1-F6EECF244321}">
                <p14:modId xmlns:p14="http://schemas.microsoft.com/office/powerpoint/2010/main" val="2115811832"/>
              </p:ext>
            </p:extLst>
          </p:nvPr>
        </p:nvGraphicFramePr>
        <p:xfrm>
          <a:off x="6473502" y="3155533"/>
          <a:ext cx="1268462" cy="857968"/>
        </p:xfrm>
        <a:graphic>
          <a:graphicData uri="http://schemas.openxmlformats.org/presentationml/2006/ole">
            <mc:AlternateContent xmlns:mc="http://schemas.openxmlformats.org/markup-compatibility/2006">
              <mc:Choice xmlns:v="urn:schemas-microsoft-com:vml" Requires="v">
                <p:oleObj name="Equation" r:id="rId9" imgW="660113" imgH="444307" progId="Equation.DSMT4">
                  <p:embed/>
                </p:oleObj>
              </mc:Choice>
              <mc:Fallback>
                <p:oleObj name="Equation" r:id="rId9" imgW="660113" imgH="444307"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73502" y="3155533"/>
                        <a:ext cx="1268462" cy="857968"/>
                      </a:xfrm>
                      <a:prstGeom prst="rect">
                        <a:avLst/>
                      </a:prstGeom>
                      <a:noFill/>
                    </p:spPr>
                  </p:pic>
                </p:oleObj>
              </mc:Fallback>
            </mc:AlternateContent>
          </a:graphicData>
        </a:graphic>
      </p:graphicFrame>
      <p:sp>
        <p:nvSpPr>
          <p:cNvPr id="23" name="Rectangle 13">
            <a:extLst>
              <a:ext uri="{FF2B5EF4-FFF2-40B4-BE49-F238E27FC236}">
                <a16:creationId xmlns:a16="http://schemas.microsoft.com/office/drawing/2014/main" id="{95B57F6F-A548-4405-DD49-DD11847912F1}"/>
              </a:ext>
            </a:extLst>
          </p:cNvPr>
          <p:cNvSpPr>
            <a:spLocks noChangeArrowheads="1"/>
          </p:cNvSpPr>
          <p:nvPr/>
        </p:nvSpPr>
        <p:spPr bwMode="auto">
          <a:xfrm>
            <a:off x="2123728" y="4982817"/>
            <a:ext cx="194421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重要公式</a:t>
            </a:r>
            <a:r>
              <a:rPr kumimoji="0" lang="zh-CN" altLang="en-US" sz="2400" b="0" i="0" u="none" strike="noStrike" cap="none" normalizeH="0" baseline="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25" name="对象 24">
            <a:extLst>
              <a:ext uri="{FF2B5EF4-FFF2-40B4-BE49-F238E27FC236}">
                <a16:creationId xmlns:a16="http://schemas.microsoft.com/office/drawing/2014/main" id="{69F0F700-AC95-898A-79F1-35832707B7CA}"/>
              </a:ext>
            </a:extLst>
          </p:cNvPr>
          <p:cNvGraphicFramePr>
            <a:graphicFrameLocks noChangeAspect="1"/>
          </p:cNvGraphicFramePr>
          <p:nvPr>
            <p:extLst>
              <p:ext uri="{D42A27DB-BD31-4B8C-83A1-F6EECF244321}">
                <p14:modId xmlns:p14="http://schemas.microsoft.com/office/powerpoint/2010/main" val="2067464896"/>
              </p:ext>
            </p:extLst>
          </p:nvPr>
        </p:nvGraphicFramePr>
        <p:xfrm>
          <a:off x="3707904" y="4685161"/>
          <a:ext cx="1690688" cy="1052513"/>
        </p:xfrm>
        <a:graphic>
          <a:graphicData uri="http://schemas.openxmlformats.org/presentationml/2006/ole">
            <mc:AlternateContent xmlns:mc="http://schemas.openxmlformats.org/markup-compatibility/2006">
              <mc:Choice xmlns:v="urn:schemas-microsoft-com:vml" Requires="v">
                <p:oleObj name="Equation" r:id="rId11" imgW="723586" imgH="444307" progId="Equation.DSMT4">
                  <p:embed/>
                </p:oleObj>
              </mc:Choice>
              <mc:Fallback>
                <p:oleObj name="Equation" r:id="rId11" imgW="723586" imgH="444307"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07904" y="4685161"/>
                        <a:ext cx="1690688" cy="1052513"/>
                      </a:xfrm>
                      <a:prstGeom prst="rect">
                        <a:avLst/>
                      </a:prstGeom>
                      <a:solidFill>
                        <a:srgbClr val="00FF00"/>
                      </a:solidFill>
                    </p:spPr>
                  </p:pic>
                </p:oleObj>
              </mc:Fallback>
            </mc:AlternateContent>
          </a:graphicData>
        </a:graphic>
      </p:graphicFrame>
      <p:sp>
        <p:nvSpPr>
          <p:cNvPr id="4" name="灯片编号占位符 3">
            <a:extLst>
              <a:ext uri="{FF2B5EF4-FFF2-40B4-BE49-F238E27FC236}">
                <a16:creationId xmlns:a16="http://schemas.microsoft.com/office/drawing/2014/main" id="{8A870078-8D8A-674C-1D68-F8F6BF9C85D2}"/>
              </a:ext>
            </a:extLst>
          </p:cNvPr>
          <p:cNvSpPr>
            <a:spLocks noGrp="1"/>
          </p:cNvSpPr>
          <p:nvPr>
            <p:ph type="sldNum" sz="quarter" idx="12"/>
          </p:nvPr>
        </p:nvSpPr>
        <p:spPr/>
        <p:txBody>
          <a:bodyPr/>
          <a:lstStyle/>
          <a:p>
            <a:fld id="{76D830B0-DF59-4281-898F-AF208100B213}" type="slidenum">
              <a:rPr lang="en-US" altLang="zh-CN" smtClean="0"/>
              <a:pPr/>
              <a:t>107</a:t>
            </a:fld>
            <a:endParaRPr lang="en-US" altLang="zh-CN"/>
          </a:p>
        </p:txBody>
      </p:sp>
    </p:spTree>
    <p:extLst>
      <p:ext uri="{BB962C8B-B14F-4D97-AF65-F5344CB8AC3E}">
        <p14:creationId xmlns:p14="http://schemas.microsoft.com/office/powerpoint/2010/main" val="215027874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9B76D43B-3E11-0AAA-950A-B9F9DC601F11}"/>
              </a:ext>
            </a:extLst>
          </p:cNvPr>
          <p:cNvGraphicFramePr>
            <a:graphicFrameLocks noChangeAspect="1"/>
          </p:cNvGraphicFramePr>
          <p:nvPr>
            <p:extLst>
              <p:ext uri="{D42A27DB-BD31-4B8C-83A1-F6EECF244321}">
                <p14:modId xmlns:p14="http://schemas.microsoft.com/office/powerpoint/2010/main" val="1032394408"/>
              </p:ext>
            </p:extLst>
          </p:nvPr>
        </p:nvGraphicFramePr>
        <p:xfrm>
          <a:off x="3419872" y="1158838"/>
          <a:ext cx="2175603" cy="400111"/>
        </p:xfrm>
        <a:graphic>
          <a:graphicData uri="http://schemas.openxmlformats.org/presentationml/2006/ole">
            <mc:AlternateContent xmlns:mc="http://schemas.openxmlformats.org/markup-compatibility/2006">
              <mc:Choice xmlns:v="urn:schemas-microsoft-com:vml" Requires="v">
                <p:oleObj name="Equation" r:id="rId3" imgW="1244600" imgH="228600" progId="Equation.DSMT4">
                  <p:embed/>
                </p:oleObj>
              </mc:Choice>
              <mc:Fallback>
                <p:oleObj name="Equation" r:id="rId3" imgW="1244600" imgH="228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872" y="1158838"/>
                        <a:ext cx="2175603" cy="400111"/>
                      </a:xfrm>
                      <a:prstGeom prst="rect">
                        <a:avLst/>
                      </a:prstGeom>
                      <a:solidFill>
                        <a:srgbClr val="00FF00"/>
                      </a:solidFill>
                    </p:spPr>
                  </p:pic>
                </p:oleObj>
              </mc:Fallback>
            </mc:AlternateContent>
          </a:graphicData>
        </a:graphic>
      </p:graphicFrame>
      <p:graphicFrame>
        <p:nvGraphicFramePr>
          <p:cNvPr id="4" name="对象 3">
            <a:extLst>
              <a:ext uri="{FF2B5EF4-FFF2-40B4-BE49-F238E27FC236}">
                <a16:creationId xmlns:a16="http://schemas.microsoft.com/office/drawing/2014/main" id="{84EA6916-087A-11F4-D78F-B2DADCA60C56}"/>
              </a:ext>
            </a:extLst>
          </p:cNvPr>
          <p:cNvGraphicFramePr>
            <a:graphicFrameLocks noChangeAspect="1"/>
          </p:cNvGraphicFramePr>
          <p:nvPr>
            <p:extLst>
              <p:ext uri="{D42A27DB-BD31-4B8C-83A1-F6EECF244321}">
                <p14:modId xmlns:p14="http://schemas.microsoft.com/office/powerpoint/2010/main" val="2905928946"/>
              </p:ext>
            </p:extLst>
          </p:nvPr>
        </p:nvGraphicFramePr>
        <p:xfrm>
          <a:off x="3400574" y="1692666"/>
          <a:ext cx="3528392" cy="1419731"/>
        </p:xfrm>
        <a:graphic>
          <a:graphicData uri="http://schemas.openxmlformats.org/presentationml/2006/ole">
            <mc:AlternateContent xmlns:mc="http://schemas.openxmlformats.org/markup-compatibility/2006">
              <mc:Choice xmlns:v="urn:schemas-microsoft-com:vml" Requires="v">
                <p:oleObj name="Equation" r:id="rId5" imgW="2235200" imgH="901700" progId="Equation.DSMT4">
                  <p:embed/>
                </p:oleObj>
              </mc:Choice>
              <mc:Fallback>
                <p:oleObj name="Equation" r:id="rId5" imgW="2235200" imgH="9017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0574" y="1692666"/>
                        <a:ext cx="3528392" cy="1419731"/>
                      </a:xfrm>
                      <a:prstGeom prst="rect">
                        <a:avLst/>
                      </a:prstGeom>
                      <a:solidFill>
                        <a:srgbClr val="00FF00"/>
                      </a:solidFill>
                    </p:spPr>
                  </p:pic>
                </p:oleObj>
              </mc:Fallback>
            </mc:AlternateContent>
          </a:graphicData>
        </a:graphic>
      </p:graphicFrame>
      <p:graphicFrame>
        <p:nvGraphicFramePr>
          <p:cNvPr id="5" name="对象 4">
            <a:extLst>
              <a:ext uri="{FF2B5EF4-FFF2-40B4-BE49-F238E27FC236}">
                <a16:creationId xmlns:a16="http://schemas.microsoft.com/office/drawing/2014/main" id="{D264DB29-EF7C-BB0C-BED4-59BA108E751D}"/>
              </a:ext>
            </a:extLst>
          </p:cNvPr>
          <p:cNvGraphicFramePr>
            <a:graphicFrameLocks noChangeAspect="1"/>
          </p:cNvGraphicFramePr>
          <p:nvPr>
            <p:extLst>
              <p:ext uri="{D42A27DB-BD31-4B8C-83A1-F6EECF244321}">
                <p14:modId xmlns:p14="http://schemas.microsoft.com/office/powerpoint/2010/main" val="1992391999"/>
              </p:ext>
            </p:extLst>
          </p:nvPr>
        </p:nvGraphicFramePr>
        <p:xfrm>
          <a:off x="3398664" y="3246114"/>
          <a:ext cx="2033290" cy="1246476"/>
        </p:xfrm>
        <a:graphic>
          <a:graphicData uri="http://schemas.openxmlformats.org/presentationml/2006/ole">
            <mc:AlternateContent xmlns:mc="http://schemas.openxmlformats.org/markup-compatibility/2006">
              <mc:Choice xmlns:v="urn:schemas-microsoft-com:vml" Requires="v">
                <p:oleObj name="Equation" r:id="rId7" imgW="1040948" imgH="634725" progId="Equation.DSMT4">
                  <p:embed/>
                </p:oleObj>
              </mc:Choice>
              <mc:Fallback>
                <p:oleObj name="Equation" r:id="rId7" imgW="1040948" imgH="634725"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98664" y="3246114"/>
                        <a:ext cx="2033290" cy="1246476"/>
                      </a:xfrm>
                      <a:prstGeom prst="rect">
                        <a:avLst/>
                      </a:prstGeom>
                      <a:solidFill>
                        <a:srgbClr val="00FF00"/>
                      </a:solidFill>
                    </p:spPr>
                  </p:pic>
                </p:oleObj>
              </mc:Fallback>
            </mc:AlternateContent>
          </a:graphicData>
        </a:graphic>
      </p:graphicFrame>
      <p:graphicFrame>
        <p:nvGraphicFramePr>
          <p:cNvPr id="6" name="对象 5">
            <a:extLst>
              <a:ext uri="{FF2B5EF4-FFF2-40B4-BE49-F238E27FC236}">
                <a16:creationId xmlns:a16="http://schemas.microsoft.com/office/drawing/2014/main" id="{60092A1B-64E9-C003-4D10-0BBC8A40BA9D}"/>
              </a:ext>
            </a:extLst>
          </p:cNvPr>
          <p:cNvGraphicFramePr>
            <a:graphicFrameLocks noChangeAspect="1"/>
          </p:cNvGraphicFramePr>
          <p:nvPr>
            <p:extLst>
              <p:ext uri="{D42A27DB-BD31-4B8C-83A1-F6EECF244321}">
                <p14:modId xmlns:p14="http://schemas.microsoft.com/office/powerpoint/2010/main" val="1135956601"/>
              </p:ext>
            </p:extLst>
          </p:nvPr>
        </p:nvGraphicFramePr>
        <p:xfrm>
          <a:off x="6740202" y="3341582"/>
          <a:ext cx="1371521" cy="853820"/>
        </p:xfrm>
        <a:graphic>
          <a:graphicData uri="http://schemas.openxmlformats.org/presentationml/2006/ole">
            <mc:AlternateContent xmlns:mc="http://schemas.openxmlformats.org/markup-compatibility/2006">
              <mc:Choice xmlns:v="urn:schemas-microsoft-com:vml" Requires="v">
                <p:oleObj name="Equation" r:id="rId9" imgW="723586" imgH="444307" progId="Equation.DSMT4">
                  <p:embed/>
                </p:oleObj>
              </mc:Choice>
              <mc:Fallback>
                <p:oleObj name="Equation" r:id="rId9" imgW="723586" imgH="444307" progId="Equation.DSMT4">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40202" y="3341582"/>
                        <a:ext cx="1371521" cy="853820"/>
                      </a:xfrm>
                      <a:prstGeom prst="rect">
                        <a:avLst/>
                      </a:prstGeom>
                      <a:solidFill>
                        <a:srgbClr val="00FF00"/>
                      </a:solidFill>
                    </p:spPr>
                  </p:pic>
                </p:oleObj>
              </mc:Fallback>
            </mc:AlternateContent>
          </a:graphicData>
        </a:graphic>
      </p:graphicFrame>
      <p:sp>
        <p:nvSpPr>
          <p:cNvPr id="7" name="Rectangle 5">
            <a:extLst>
              <a:ext uri="{FF2B5EF4-FFF2-40B4-BE49-F238E27FC236}">
                <a16:creationId xmlns:a16="http://schemas.microsoft.com/office/drawing/2014/main" id="{FA6D740B-BD38-2036-2605-81CFC196B646}"/>
              </a:ext>
            </a:extLst>
          </p:cNvPr>
          <p:cNvSpPr>
            <a:spLocks noChangeArrowheads="1"/>
          </p:cNvSpPr>
          <p:nvPr/>
        </p:nvSpPr>
        <p:spPr bwMode="auto">
          <a:xfrm>
            <a:off x="539552" y="1158839"/>
            <a:ext cx="48965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机械特性物理表达式</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000" b="1" i="0" u="none" strike="noStrike" cap="none" normalizeH="0" baseline="0" dirty="0">
                <a:ln>
                  <a:noFill/>
                </a:ln>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     </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sp>
        <p:nvSpPr>
          <p:cNvPr id="8" name="Rectangle 6">
            <a:extLst>
              <a:ext uri="{FF2B5EF4-FFF2-40B4-BE49-F238E27FC236}">
                <a16:creationId xmlns:a16="http://schemas.microsoft.com/office/drawing/2014/main" id="{548B6002-243E-D9A0-18DF-9BBEC70F29DE}"/>
              </a:ext>
            </a:extLst>
          </p:cNvPr>
          <p:cNvSpPr>
            <a:spLocks noChangeArrowheads="1"/>
          </p:cNvSpPr>
          <p:nvPr/>
        </p:nvSpPr>
        <p:spPr bwMode="auto">
          <a:xfrm>
            <a:off x="513036" y="2096145"/>
            <a:ext cx="32403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机械特性的参数表达式</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000" b="1" i="0" u="none" strike="noStrike" cap="none" normalizeH="0" baseline="0" dirty="0">
                <a:ln>
                  <a:noFill/>
                </a:ln>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   </a:t>
            </a:r>
            <a:endParaRPr kumimoji="0" lang="zh-CN" altLang="en-US" sz="1600" b="0" i="0" u="none" strike="noStrike" cap="none" normalizeH="0" baseline="0" dirty="0">
              <a:ln>
                <a:noFill/>
              </a:ln>
              <a:solidFill>
                <a:srgbClr val="0000FF"/>
              </a:solidFill>
              <a:effectLst/>
              <a:latin typeface="Arial" panose="020B0604020202020204" pitchFamily="34" charset="0"/>
            </a:endParaRPr>
          </a:p>
        </p:txBody>
      </p:sp>
      <p:sp>
        <p:nvSpPr>
          <p:cNvPr id="9" name="Rectangle 7">
            <a:extLst>
              <a:ext uri="{FF2B5EF4-FFF2-40B4-BE49-F238E27FC236}">
                <a16:creationId xmlns:a16="http://schemas.microsoft.com/office/drawing/2014/main" id="{4F101782-336F-A642-BF35-821AAB5C5277}"/>
              </a:ext>
            </a:extLst>
          </p:cNvPr>
          <p:cNvSpPr>
            <a:spLocks noChangeArrowheads="1"/>
          </p:cNvSpPr>
          <p:nvPr/>
        </p:nvSpPr>
        <p:spPr bwMode="auto">
          <a:xfrm>
            <a:off x="539552" y="3362528"/>
            <a:ext cx="31683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机械特性的实用表达式</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000" b="1" i="0" u="none" strike="noStrike" cap="none" normalizeH="0" baseline="0" dirty="0">
                <a:ln>
                  <a:noFill/>
                </a:ln>
                <a:solidFill>
                  <a:srgbClr val="0000FF"/>
                </a:solidFill>
                <a:effectLst/>
                <a:latin typeface="宋体" panose="02010600030101010101" pitchFamily="2" charset="-122"/>
                <a:ea typeface="黑体" panose="02010609060101010101" pitchFamily="49" charset="-122"/>
                <a:cs typeface="Times New Roman" panose="02020603050405020304" pitchFamily="18" charset="0"/>
              </a:rPr>
              <a:t>             </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E4D71B38-3395-A2D5-A4AE-D37A69591705}"/>
              </a:ext>
            </a:extLst>
          </p:cNvPr>
          <p:cNvSpPr>
            <a:spLocks noChangeArrowheads="1"/>
          </p:cNvSpPr>
          <p:nvPr/>
        </p:nvSpPr>
        <p:spPr bwMode="auto">
          <a:xfrm>
            <a:off x="6840066" y="4155661"/>
            <a:ext cx="12716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重要公式</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sp>
        <p:nvSpPr>
          <p:cNvPr id="13" name="箭头: 右 12">
            <a:extLst>
              <a:ext uri="{FF2B5EF4-FFF2-40B4-BE49-F238E27FC236}">
                <a16:creationId xmlns:a16="http://schemas.microsoft.com/office/drawing/2014/main" id="{AF66CCCE-1E57-1B42-3A7F-7AE2884DFBC5}"/>
              </a:ext>
            </a:extLst>
          </p:cNvPr>
          <p:cNvSpPr/>
          <p:nvPr/>
        </p:nvSpPr>
        <p:spPr>
          <a:xfrm>
            <a:off x="5615930" y="3602419"/>
            <a:ext cx="1008112" cy="4067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8">
            <a:extLst>
              <a:ext uri="{FF2B5EF4-FFF2-40B4-BE49-F238E27FC236}">
                <a16:creationId xmlns:a16="http://schemas.microsoft.com/office/drawing/2014/main" id="{9AEC96E8-2AC9-7028-709F-D878C461EECA}"/>
              </a:ext>
            </a:extLst>
          </p:cNvPr>
          <p:cNvSpPr>
            <a:spLocks noChangeArrowheads="1"/>
          </p:cNvSpPr>
          <p:nvPr/>
        </p:nvSpPr>
        <p:spPr bwMode="auto">
          <a:xfrm>
            <a:off x="5759946" y="3583826"/>
            <a:ext cx="11521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rgbClr val="C00000"/>
                </a:solidFill>
                <a:effectLst/>
                <a:latin typeface="黑体" panose="02010609060101010101" pitchFamily="49" charset="-122"/>
                <a:ea typeface="黑体" panose="02010609060101010101" pitchFamily="49" charset="-122"/>
                <a:cs typeface="Times New Roman" panose="02020603050405020304" pitchFamily="18" charset="0"/>
              </a:rPr>
              <a:t>简化</a:t>
            </a:r>
            <a:endParaRPr kumimoji="0" lang="zh-CN" altLang="en-US" sz="1400" b="0" i="0" u="none" strike="noStrike" cap="none" normalizeH="0" baseline="0" dirty="0">
              <a:ln>
                <a:noFill/>
              </a:ln>
              <a:solidFill>
                <a:srgbClr val="C00000"/>
              </a:solidFill>
              <a:effectLst/>
              <a:latin typeface="Arial" panose="020B0604020202020204" pitchFamily="34" charset="0"/>
            </a:endParaRPr>
          </a:p>
        </p:txBody>
      </p:sp>
      <p:sp>
        <p:nvSpPr>
          <p:cNvPr id="16" name="Rectangle 11">
            <a:extLst>
              <a:ext uri="{FF2B5EF4-FFF2-40B4-BE49-F238E27FC236}">
                <a16:creationId xmlns:a16="http://schemas.microsoft.com/office/drawing/2014/main" id="{EFD3F2E8-439D-5B07-DE12-1C6303E10338}"/>
              </a:ext>
            </a:extLst>
          </p:cNvPr>
          <p:cNvSpPr>
            <a:spLocks noChangeArrowheads="1"/>
          </p:cNvSpPr>
          <p:nvPr/>
        </p:nvSpPr>
        <p:spPr bwMode="auto">
          <a:xfrm>
            <a:off x="224086" y="4311816"/>
            <a:ext cx="8800132" cy="2259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a:lnSpc>
                <a:spcPct val="120000"/>
              </a:lnSpc>
            </a:pPr>
            <a:r>
              <a:rPr kumimoji="0" lang="zh-CN" altLang="zh-CN"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特点：</a:t>
            </a:r>
            <a:endParaRPr kumimoji="0" lang="en-US" altLang="zh-CN"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a:lnSpc>
                <a:spcPct val="120000"/>
              </a:lnSpc>
            </a:pPr>
            <a:r>
              <a:rPr kumimoji="0" lang="en-US" altLang="zh-CN"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异步机在额定负载范围以下运行时</a:t>
            </a:r>
            <a:r>
              <a:rPr kumimoji="0" lang="en-US" altLang="zh-CN" sz="2000" b="1"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kumimoji="0" lang="zh-CN" altLang="en-US"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机</a:t>
            </a:r>
            <a:r>
              <a:rPr lang="zh-CN" altLang="en-US"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械特性近似为一直线，</a:t>
            </a:r>
            <a:r>
              <a:rPr lang="en-US" altLang="zh-CN"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T</a:t>
            </a:r>
            <a:r>
              <a:rPr lang="zh-CN" altLang="en-US"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与</a:t>
            </a:r>
            <a:r>
              <a:rPr lang="en-US" altLang="zh-CN"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s(</a:t>
            </a:r>
            <a:r>
              <a:rPr lang="zh-CN" altLang="en-US"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速降</a:t>
            </a:r>
            <a:r>
              <a:rPr lang="en-US" altLang="zh-CN"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成正比，与</a:t>
            </a:r>
            <a:r>
              <a:rPr lang="en-US" altLang="zh-CN"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DCM</a:t>
            </a:r>
            <a:r>
              <a:rPr lang="zh-CN" altLang="en-US"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机械特性相似，但非稳定运行段特性与直流电机有很大差别；</a:t>
            </a:r>
            <a:endParaRPr lang="en-US" altLang="zh-CN"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a:lnSpc>
                <a:spcPct val="120000"/>
              </a:lnSpc>
            </a:pPr>
            <a:r>
              <a:rPr lang="en-US" altLang="zh-CN"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2</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改变电源电压不能改变</a:t>
            </a:r>
            <a:r>
              <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n0</a:t>
            </a:r>
            <a:r>
              <a:rPr kumimoji="0" lang="zh-CN"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，而他励直流电机可通过调压改变</a:t>
            </a:r>
            <a:r>
              <a:rPr kumimoji="0" lang="en-US" altLang="zh-CN" sz="20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n0;</a:t>
            </a:r>
            <a:endParaRPr lang="en-US" altLang="zh-CN" sz="2000" b="1"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a:lnSpc>
                <a:spcPct val="120000"/>
              </a:lnSpc>
            </a:pPr>
            <a:r>
              <a:rPr lang="en-US" altLang="zh-CN"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r>
              <a:rPr lang="zh-CN" altLang="zh-CN" sz="20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降低电源电压将导致异步机最大电磁转矩和起动转矩的大幅下降，使电机负载工作区缩小</a:t>
            </a:r>
            <a:r>
              <a:rPr lang="en-US" altLang="zh-CN" sz="20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lang="zh-CN" altLang="en-US" sz="20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而</a:t>
            </a:r>
            <a:r>
              <a:rPr lang="zh-CN" altLang="zh-CN" sz="20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他励直流电机在调速范围内调压时不会出现这种情况</a:t>
            </a:r>
            <a:r>
              <a:rPr lang="zh-CN"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endParaRPr lang="zh-CN" alt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18" name="对象 17">
            <a:extLst>
              <a:ext uri="{FF2B5EF4-FFF2-40B4-BE49-F238E27FC236}">
                <a16:creationId xmlns:a16="http://schemas.microsoft.com/office/drawing/2014/main" id="{4E8BE682-16AE-D4E6-FBC2-FE9EB0B4DE19}"/>
              </a:ext>
            </a:extLst>
          </p:cNvPr>
          <p:cNvGraphicFramePr>
            <a:graphicFrameLocks noChangeAspect="1"/>
          </p:cNvGraphicFramePr>
          <p:nvPr>
            <p:extLst>
              <p:ext uri="{D42A27DB-BD31-4B8C-83A1-F6EECF244321}">
                <p14:modId xmlns:p14="http://schemas.microsoft.com/office/powerpoint/2010/main" val="3147277438"/>
              </p:ext>
            </p:extLst>
          </p:nvPr>
        </p:nvGraphicFramePr>
        <p:xfrm>
          <a:off x="166936" y="5452806"/>
          <a:ext cx="114300" cy="214313"/>
        </p:xfrm>
        <a:graphic>
          <a:graphicData uri="http://schemas.openxmlformats.org/presentationml/2006/ole">
            <mc:AlternateContent xmlns:mc="http://schemas.openxmlformats.org/markup-compatibility/2006">
              <mc:Choice xmlns:v="urn:schemas-microsoft-com:vml" Requires="v">
                <p:oleObj name="Equation" r:id="rId11" imgW="114151" imgH="215619" progId="Equation.DSMT4">
                  <p:embed/>
                </p:oleObj>
              </mc:Choice>
              <mc:Fallback>
                <p:oleObj name="Equation" r:id="rId11" imgW="114151" imgH="215619"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6936" y="5452806"/>
                        <a:ext cx="114300" cy="21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灯片编号占位符 10">
            <a:extLst>
              <a:ext uri="{FF2B5EF4-FFF2-40B4-BE49-F238E27FC236}">
                <a16:creationId xmlns:a16="http://schemas.microsoft.com/office/drawing/2014/main" id="{90142498-35CB-8D50-E1A0-B063F53A5EE9}"/>
              </a:ext>
            </a:extLst>
          </p:cNvPr>
          <p:cNvSpPr>
            <a:spLocks noGrp="1"/>
          </p:cNvSpPr>
          <p:nvPr>
            <p:ph type="sldNum" sz="quarter" idx="12"/>
          </p:nvPr>
        </p:nvSpPr>
        <p:spPr/>
        <p:txBody>
          <a:bodyPr/>
          <a:lstStyle/>
          <a:p>
            <a:fld id="{76D830B0-DF59-4281-898F-AF208100B213}" type="slidenum">
              <a:rPr lang="en-US" altLang="zh-CN" smtClean="0"/>
              <a:pPr/>
              <a:t>108</a:t>
            </a:fld>
            <a:endParaRPr lang="en-US" altLang="zh-CN"/>
          </a:p>
        </p:txBody>
      </p:sp>
    </p:spTree>
    <p:extLst>
      <p:ext uri="{BB962C8B-B14F-4D97-AF65-F5344CB8AC3E}">
        <p14:creationId xmlns:p14="http://schemas.microsoft.com/office/powerpoint/2010/main" val="214697390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11">
            <a:extLst>
              <a:ext uri="{FF2B5EF4-FFF2-40B4-BE49-F238E27FC236}">
                <a16:creationId xmlns:a16="http://schemas.microsoft.com/office/drawing/2014/main" id="{7288FD30-FE56-FAA9-9E6A-8358480E0F4F}"/>
              </a:ext>
            </a:extLst>
          </p:cNvPr>
          <p:cNvSpPr>
            <a:spLocks noChangeArrowheads="1"/>
          </p:cNvSpPr>
          <p:nvPr/>
        </p:nvSpPr>
        <p:spPr bwMode="auto">
          <a:xfrm>
            <a:off x="4310224" y="2132856"/>
            <a:ext cx="4621088" cy="1756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04800"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10000"/>
              </a:lnSpc>
              <a:spcBef>
                <a:spcPct val="0"/>
              </a:spcBef>
              <a:spcAft>
                <a:spcPct val="0"/>
              </a:spcAft>
              <a:buClrTx/>
              <a:buSzTx/>
              <a:buFont typeface="Wingdings" panose="05000000000000000000" pitchFamily="2" charset="2"/>
              <a:buChar char="Ø"/>
              <a:tabLst>
                <a:tab pos="457200" algn="l"/>
              </a:tabLst>
            </a:pP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转子绕组短路，并把转子卡住，不使其旋转；</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从                     开始，逐步降低电压，直到      ；记录   、定子绕组电流   和定子三相输入功率   ；</a:t>
            </a:r>
            <a:endParaRPr kumimoji="0" lang="zh-CN" altLang="zh-CN" sz="2000" b="0" i="0" u="none" strike="noStrike" cap="none" normalizeH="0" baseline="0" dirty="0">
              <a:ln>
                <a:noFill/>
              </a:ln>
              <a:solidFill>
                <a:schemeClr val="tx1"/>
              </a:solidFill>
              <a:effectLst/>
            </a:endParaRPr>
          </a:p>
        </p:txBody>
      </p:sp>
      <p:sp>
        <p:nvSpPr>
          <p:cNvPr id="2" name="Rectangle 2">
            <a:extLst>
              <a:ext uri="{FF2B5EF4-FFF2-40B4-BE49-F238E27FC236}">
                <a16:creationId xmlns:a16="http://schemas.microsoft.com/office/drawing/2014/main" id="{4754543B-2633-4912-ADB0-89AB1A9C6570}"/>
              </a:ext>
            </a:extLst>
          </p:cNvPr>
          <p:cNvSpPr>
            <a:spLocks noChangeArrowheads="1"/>
          </p:cNvSpPr>
          <p:nvPr/>
        </p:nvSpPr>
        <p:spPr bwMode="auto">
          <a:xfrm>
            <a:off x="483676" y="1047733"/>
            <a:ext cx="61045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5-6 </a:t>
            </a:r>
            <a:r>
              <a:rPr kumimoji="0" lang="zh-CN" altLang="en-US" sz="2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三相异步电动机的参数测定</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p:txBody>
      </p:sp>
      <p:sp>
        <p:nvSpPr>
          <p:cNvPr id="3" name="Rectangle 2">
            <a:extLst>
              <a:ext uri="{FF2B5EF4-FFF2-40B4-BE49-F238E27FC236}">
                <a16:creationId xmlns:a16="http://schemas.microsoft.com/office/drawing/2014/main" id="{788497AD-CCA1-E91A-DF0F-C2387C029A02}"/>
              </a:ext>
            </a:extLst>
          </p:cNvPr>
          <p:cNvSpPr>
            <a:spLocks noChangeArrowheads="1"/>
          </p:cNvSpPr>
          <p:nvPr/>
        </p:nvSpPr>
        <p:spPr bwMode="auto">
          <a:xfrm>
            <a:off x="516220" y="1628800"/>
            <a:ext cx="610454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一、短路（堵转）试验（测定         </a:t>
            </a: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对象 4">
            <a:extLst>
              <a:ext uri="{FF2B5EF4-FFF2-40B4-BE49-F238E27FC236}">
                <a16:creationId xmlns:a16="http://schemas.microsoft.com/office/drawing/2014/main" id="{4BD0A070-A61E-41E9-1405-0B8D72B0FC2F}"/>
              </a:ext>
            </a:extLst>
          </p:cNvPr>
          <p:cNvGraphicFramePr>
            <a:graphicFrameLocks noChangeAspect="1"/>
          </p:cNvGraphicFramePr>
          <p:nvPr>
            <p:extLst>
              <p:ext uri="{D42A27DB-BD31-4B8C-83A1-F6EECF244321}">
                <p14:modId xmlns:p14="http://schemas.microsoft.com/office/powerpoint/2010/main" val="3510181198"/>
              </p:ext>
            </p:extLst>
          </p:nvPr>
        </p:nvGraphicFramePr>
        <p:xfrm>
          <a:off x="4644008" y="1644675"/>
          <a:ext cx="1195387" cy="425450"/>
        </p:xfrm>
        <a:graphic>
          <a:graphicData uri="http://schemas.openxmlformats.org/presentationml/2006/ole">
            <mc:AlternateContent xmlns:mc="http://schemas.openxmlformats.org/markup-compatibility/2006">
              <mc:Choice xmlns:v="urn:schemas-microsoft-com:vml" Requires="v">
                <p:oleObj name="Equation" r:id="rId3" imgW="596880" imgH="215640" progId="Equation.DSMT4">
                  <p:embed/>
                </p:oleObj>
              </mc:Choice>
              <mc:Fallback>
                <p:oleObj name="Equation" r:id="rId3" imgW="596880" imgH="215640" progId="Equation.DSMT4">
                  <p:embed/>
                  <p:pic>
                    <p:nvPicPr>
                      <p:cNvPr id="0" name="Object 1"/>
                      <p:cNvPicPr>
                        <a:picLocks noChangeAspect="1" noChangeArrowheads="1"/>
                      </p:cNvPicPr>
                      <p:nvPr/>
                    </p:nvPicPr>
                    <p:blipFill>
                      <a:blip r:embed="rId4"/>
                      <a:srcRect/>
                      <a:stretch>
                        <a:fillRect/>
                      </a:stretch>
                    </p:blipFill>
                    <p:spPr bwMode="auto">
                      <a:xfrm>
                        <a:off x="4644008" y="1644675"/>
                        <a:ext cx="1195387"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a:extLst>
              <a:ext uri="{FF2B5EF4-FFF2-40B4-BE49-F238E27FC236}">
                <a16:creationId xmlns:a16="http://schemas.microsoft.com/office/drawing/2014/main" id="{1C1BF0D0-112A-1825-DDB9-718B67417E76}"/>
              </a:ext>
            </a:extLst>
          </p:cNvPr>
          <p:cNvGraphicFramePr>
            <a:graphicFrameLocks noChangeAspect="1"/>
          </p:cNvGraphicFramePr>
          <p:nvPr>
            <p:extLst>
              <p:ext uri="{D42A27DB-BD31-4B8C-83A1-F6EECF244321}">
                <p14:modId xmlns:p14="http://schemas.microsoft.com/office/powerpoint/2010/main" val="3591285849"/>
              </p:ext>
            </p:extLst>
          </p:nvPr>
        </p:nvGraphicFramePr>
        <p:xfrm>
          <a:off x="813829" y="2143287"/>
          <a:ext cx="3041471" cy="2005233"/>
        </p:xfrm>
        <a:graphic>
          <a:graphicData uri="http://schemas.openxmlformats.org/presentationml/2006/ole">
            <mc:AlternateContent xmlns:mc="http://schemas.openxmlformats.org/markup-compatibility/2006">
              <mc:Choice xmlns:v="urn:schemas-microsoft-com:vml" Requires="v">
                <p:oleObj r:id="rId5" imgW="2173320" imgH="1440000" progId="">
                  <p:embed/>
                </p:oleObj>
              </mc:Choice>
              <mc:Fallback>
                <p:oleObj r:id="rId5" imgW="2173320" imgH="1440000" progId="">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3829" y="2143287"/>
                        <a:ext cx="3041471" cy="2005233"/>
                      </a:xfrm>
                      <a:prstGeom prst="rect">
                        <a:avLst/>
                      </a:prstGeom>
                      <a:noFill/>
                      <a:ln>
                        <a:noFill/>
                      </a:ln>
                    </p:spPr>
                  </p:pic>
                </p:oleObj>
              </mc:Fallback>
            </mc:AlternateContent>
          </a:graphicData>
        </a:graphic>
      </p:graphicFrame>
      <p:graphicFrame>
        <p:nvGraphicFramePr>
          <p:cNvPr id="11" name="对象 10">
            <a:extLst>
              <a:ext uri="{FF2B5EF4-FFF2-40B4-BE49-F238E27FC236}">
                <a16:creationId xmlns:a16="http://schemas.microsoft.com/office/drawing/2014/main" id="{2DB4E52F-060E-DE4F-FA12-0E3129DEB291}"/>
              </a:ext>
            </a:extLst>
          </p:cNvPr>
          <p:cNvGraphicFramePr>
            <a:graphicFrameLocks noChangeAspect="1"/>
          </p:cNvGraphicFramePr>
          <p:nvPr>
            <p:extLst>
              <p:ext uri="{D42A27DB-BD31-4B8C-83A1-F6EECF244321}">
                <p14:modId xmlns:p14="http://schemas.microsoft.com/office/powerpoint/2010/main" val="2188497797"/>
              </p:ext>
            </p:extLst>
          </p:nvPr>
        </p:nvGraphicFramePr>
        <p:xfrm>
          <a:off x="672093" y="4696932"/>
          <a:ext cx="4187939" cy="1985963"/>
        </p:xfrm>
        <a:graphic>
          <a:graphicData uri="http://schemas.openxmlformats.org/presentationml/2006/ole">
            <mc:AlternateContent xmlns:mc="http://schemas.openxmlformats.org/markup-compatibility/2006">
              <mc:Choice xmlns:v="urn:schemas-microsoft-com:vml" Requires="v">
                <p:oleObj r:id="rId7" imgW="3225800" imgH="1547813" progId="MSDraw">
                  <p:embed/>
                </p:oleObj>
              </mc:Choice>
              <mc:Fallback>
                <p:oleObj r:id="rId7" imgW="3225800" imgH="1547813" progId="MSDraw">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2093" y="4696932"/>
                        <a:ext cx="4187939" cy="1985963"/>
                      </a:xfrm>
                      <a:prstGeom prst="rect">
                        <a:avLst/>
                      </a:prstGeom>
                      <a:noFill/>
                    </p:spPr>
                  </p:pic>
                </p:oleObj>
              </mc:Fallback>
            </mc:AlternateContent>
          </a:graphicData>
        </a:graphic>
      </p:graphicFrame>
      <p:graphicFrame>
        <p:nvGraphicFramePr>
          <p:cNvPr id="13" name="对象 12">
            <a:extLst>
              <a:ext uri="{FF2B5EF4-FFF2-40B4-BE49-F238E27FC236}">
                <a16:creationId xmlns:a16="http://schemas.microsoft.com/office/drawing/2014/main" id="{13F1BD02-9417-8B83-1732-8D1B51F9C25C}"/>
              </a:ext>
            </a:extLst>
          </p:cNvPr>
          <p:cNvGraphicFramePr>
            <a:graphicFrameLocks noChangeAspect="1"/>
          </p:cNvGraphicFramePr>
          <p:nvPr>
            <p:extLst>
              <p:ext uri="{D42A27DB-BD31-4B8C-83A1-F6EECF244321}">
                <p14:modId xmlns:p14="http://schemas.microsoft.com/office/powerpoint/2010/main" val="4255382094"/>
              </p:ext>
            </p:extLst>
          </p:nvPr>
        </p:nvGraphicFramePr>
        <p:xfrm>
          <a:off x="4310224" y="2681268"/>
          <a:ext cx="114300" cy="214313"/>
        </p:xfrm>
        <a:graphic>
          <a:graphicData uri="http://schemas.openxmlformats.org/presentationml/2006/ole">
            <mc:AlternateContent xmlns:mc="http://schemas.openxmlformats.org/markup-compatibility/2006">
              <mc:Choice xmlns:v="urn:schemas-microsoft-com:vml" Requires="v">
                <p:oleObj name="Equation" r:id="rId9" imgW="114151" imgH="215619" progId="Equation.DSMT4">
                  <p:embed/>
                </p:oleObj>
              </mc:Choice>
              <mc:Fallback>
                <p:oleObj name="Equation" r:id="rId9" imgW="114151" imgH="215619"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10224" y="2681268"/>
                        <a:ext cx="114300" cy="21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a:extLst>
              <a:ext uri="{FF2B5EF4-FFF2-40B4-BE49-F238E27FC236}">
                <a16:creationId xmlns:a16="http://schemas.microsoft.com/office/drawing/2014/main" id="{E427F591-3574-D76F-18D0-DC53BD5E306E}"/>
              </a:ext>
            </a:extLst>
          </p:cNvPr>
          <p:cNvGraphicFramePr>
            <a:graphicFrameLocks noChangeAspect="1"/>
          </p:cNvGraphicFramePr>
          <p:nvPr>
            <p:extLst>
              <p:ext uri="{D42A27DB-BD31-4B8C-83A1-F6EECF244321}">
                <p14:modId xmlns:p14="http://schemas.microsoft.com/office/powerpoint/2010/main" val="2694353932"/>
              </p:ext>
            </p:extLst>
          </p:nvPr>
        </p:nvGraphicFramePr>
        <p:xfrm>
          <a:off x="4310224" y="2895581"/>
          <a:ext cx="114300" cy="214312"/>
        </p:xfrm>
        <a:graphic>
          <a:graphicData uri="http://schemas.openxmlformats.org/presentationml/2006/ole">
            <mc:AlternateContent xmlns:mc="http://schemas.openxmlformats.org/markup-compatibility/2006">
              <mc:Choice xmlns:v="urn:schemas-microsoft-com:vml" Requires="v">
                <p:oleObj name="Equation" r:id="rId9" imgW="114151" imgH="215619" progId="Equation.DSMT4">
                  <p:embed/>
                </p:oleObj>
              </mc:Choice>
              <mc:Fallback>
                <p:oleObj name="Equation" r:id="rId9" imgW="114151" imgH="215619"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10224" y="2895581"/>
                        <a:ext cx="114300" cy="214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a:extLst>
              <a:ext uri="{FF2B5EF4-FFF2-40B4-BE49-F238E27FC236}">
                <a16:creationId xmlns:a16="http://schemas.microsoft.com/office/drawing/2014/main" id="{0D824909-FC71-7866-3888-3A82B1D994DF}"/>
              </a:ext>
            </a:extLst>
          </p:cNvPr>
          <p:cNvGraphicFramePr>
            <a:graphicFrameLocks noChangeAspect="1"/>
          </p:cNvGraphicFramePr>
          <p:nvPr>
            <p:extLst>
              <p:ext uri="{D42A27DB-BD31-4B8C-83A1-F6EECF244321}">
                <p14:modId xmlns:p14="http://schemas.microsoft.com/office/powerpoint/2010/main" val="3372321447"/>
              </p:ext>
            </p:extLst>
          </p:nvPr>
        </p:nvGraphicFramePr>
        <p:xfrm>
          <a:off x="6084168" y="2452667"/>
          <a:ext cx="2776538" cy="358775"/>
        </p:xfrm>
        <a:graphic>
          <a:graphicData uri="http://schemas.openxmlformats.org/presentationml/2006/ole">
            <mc:AlternateContent xmlns:mc="http://schemas.openxmlformats.org/markup-compatibility/2006">
              <mc:Choice xmlns:v="urn:schemas-microsoft-com:vml" Requires="v">
                <p:oleObj name="Equation" r:id="rId11" imgW="1600200" imgH="215640" progId="Equation.DSMT4">
                  <p:embed/>
                </p:oleObj>
              </mc:Choice>
              <mc:Fallback>
                <p:oleObj name="Equation" r:id="rId11" imgW="1600200" imgH="215640" progId="Equation.DSMT4">
                  <p:embed/>
                  <p:pic>
                    <p:nvPicPr>
                      <p:cNvPr id="0" name="Object 8"/>
                      <p:cNvPicPr>
                        <a:picLocks noChangeAspect="1" noChangeArrowheads="1"/>
                      </p:cNvPicPr>
                      <p:nvPr/>
                    </p:nvPicPr>
                    <p:blipFill>
                      <a:blip r:embed="rId12"/>
                      <a:srcRect/>
                      <a:stretch>
                        <a:fillRect/>
                      </a:stretch>
                    </p:blipFill>
                    <p:spPr bwMode="auto">
                      <a:xfrm>
                        <a:off x="6084168" y="2452667"/>
                        <a:ext cx="2776538" cy="358775"/>
                      </a:xfrm>
                      <a:prstGeom prst="rect">
                        <a:avLst/>
                      </a:prstGeom>
                      <a:noFill/>
                    </p:spPr>
                  </p:pic>
                </p:oleObj>
              </mc:Fallback>
            </mc:AlternateContent>
          </a:graphicData>
        </a:graphic>
      </p:graphicFrame>
      <p:graphicFrame>
        <p:nvGraphicFramePr>
          <p:cNvPr id="36" name="对象 35">
            <a:extLst>
              <a:ext uri="{FF2B5EF4-FFF2-40B4-BE49-F238E27FC236}">
                <a16:creationId xmlns:a16="http://schemas.microsoft.com/office/drawing/2014/main" id="{67B4C2FC-E4FF-CD4E-BA0D-8BFF48BAD990}"/>
              </a:ext>
            </a:extLst>
          </p:cNvPr>
          <p:cNvGraphicFramePr>
            <a:graphicFrameLocks noChangeAspect="1"/>
          </p:cNvGraphicFramePr>
          <p:nvPr>
            <p:extLst>
              <p:ext uri="{D42A27DB-BD31-4B8C-83A1-F6EECF244321}">
                <p14:modId xmlns:p14="http://schemas.microsoft.com/office/powerpoint/2010/main" val="738127146"/>
              </p:ext>
            </p:extLst>
          </p:nvPr>
        </p:nvGraphicFramePr>
        <p:xfrm>
          <a:off x="7777669" y="2748629"/>
          <a:ext cx="792088" cy="380060"/>
        </p:xfrm>
        <a:graphic>
          <a:graphicData uri="http://schemas.openxmlformats.org/presentationml/2006/ole">
            <mc:AlternateContent xmlns:mc="http://schemas.openxmlformats.org/markup-compatibility/2006">
              <mc:Choice xmlns:v="urn:schemas-microsoft-com:vml" Requires="v">
                <p:oleObj name="Equation" r:id="rId13" imgW="469900" imgH="228600" progId="Equation.DSMT4">
                  <p:embed/>
                </p:oleObj>
              </mc:Choice>
              <mc:Fallback>
                <p:oleObj name="Equation" r:id="rId13" imgW="469900" imgH="228600" progId="Equation.DSMT4">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7669" y="2748629"/>
                        <a:ext cx="792088" cy="380060"/>
                      </a:xfrm>
                      <a:prstGeom prst="rect">
                        <a:avLst/>
                      </a:prstGeom>
                      <a:noFill/>
                    </p:spPr>
                  </p:pic>
                </p:oleObj>
              </mc:Fallback>
            </mc:AlternateContent>
          </a:graphicData>
        </a:graphic>
      </p:graphicFrame>
      <p:graphicFrame>
        <p:nvGraphicFramePr>
          <p:cNvPr id="44" name="对象 43">
            <a:extLst>
              <a:ext uri="{FF2B5EF4-FFF2-40B4-BE49-F238E27FC236}">
                <a16:creationId xmlns:a16="http://schemas.microsoft.com/office/drawing/2014/main" id="{85CEE1EC-A489-236A-5B11-D386DEACB055}"/>
              </a:ext>
            </a:extLst>
          </p:cNvPr>
          <p:cNvGraphicFramePr>
            <a:graphicFrameLocks noChangeAspect="1"/>
          </p:cNvGraphicFramePr>
          <p:nvPr>
            <p:extLst>
              <p:ext uri="{D42A27DB-BD31-4B8C-83A1-F6EECF244321}">
                <p14:modId xmlns:p14="http://schemas.microsoft.com/office/powerpoint/2010/main" val="3056164396"/>
              </p:ext>
            </p:extLst>
          </p:nvPr>
        </p:nvGraphicFramePr>
        <p:xfrm>
          <a:off x="5220072" y="3199031"/>
          <a:ext cx="410419" cy="353695"/>
        </p:xfrm>
        <a:graphic>
          <a:graphicData uri="http://schemas.openxmlformats.org/presentationml/2006/ole">
            <mc:AlternateContent xmlns:mc="http://schemas.openxmlformats.org/markup-compatibility/2006">
              <mc:Choice xmlns:v="urn:schemas-microsoft-com:vml" Requires="v">
                <p:oleObj name="Equation" r:id="rId15" imgW="266584" imgH="228501" progId="Equation.DSMT4">
                  <p:embed/>
                </p:oleObj>
              </mc:Choice>
              <mc:Fallback>
                <p:oleObj name="Equation" r:id="rId15" imgW="266584" imgH="228501" progId="Equation.DSMT4">
                  <p:embed/>
                  <p:pic>
                    <p:nvPicPr>
                      <p:cNvPr id="0" name="Object 2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20072" y="3199031"/>
                        <a:ext cx="410419" cy="353695"/>
                      </a:xfrm>
                      <a:prstGeom prst="rect">
                        <a:avLst/>
                      </a:prstGeom>
                      <a:noFill/>
                    </p:spPr>
                  </p:pic>
                </p:oleObj>
              </mc:Fallback>
            </mc:AlternateContent>
          </a:graphicData>
        </a:graphic>
      </p:graphicFrame>
      <p:graphicFrame>
        <p:nvGraphicFramePr>
          <p:cNvPr id="45" name="对象 44">
            <a:extLst>
              <a:ext uri="{FF2B5EF4-FFF2-40B4-BE49-F238E27FC236}">
                <a16:creationId xmlns:a16="http://schemas.microsoft.com/office/drawing/2014/main" id="{F43809DC-C52E-3B97-50B2-2E969AC77474}"/>
              </a:ext>
            </a:extLst>
          </p:cNvPr>
          <p:cNvGraphicFramePr>
            <a:graphicFrameLocks noChangeAspect="1"/>
          </p:cNvGraphicFramePr>
          <p:nvPr>
            <p:extLst>
              <p:ext uri="{D42A27DB-BD31-4B8C-83A1-F6EECF244321}">
                <p14:modId xmlns:p14="http://schemas.microsoft.com/office/powerpoint/2010/main" val="2725860943"/>
              </p:ext>
            </p:extLst>
          </p:nvPr>
        </p:nvGraphicFramePr>
        <p:xfrm>
          <a:off x="7417629" y="3144770"/>
          <a:ext cx="360040" cy="427972"/>
        </p:xfrm>
        <a:graphic>
          <a:graphicData uri="http://schemas.openxmlformats.org/presentationml/2006/ole">
            <mc:AlternateContent xmlns:mc="http://schemas.openxmlformats.org/markup-compatibility/2006">
              <mc:Choice xmlns:v="urn:schemas-microsoft-com:vml" Requires="v">
                <p:oleObj name="Equation" r:id="rId17" imgW="190500" imgH="228600" progId="Equation.DSMT4">
                  <p:embed/>
                </p:oleObj>
              </mc:Choice>
              <mc:Fallback>
                <p:oleObj name="Equation" r:id="rId17" imgW="190500" imgH="228600" progId="Equation.DSMT4">
                  <p:embed/>
                  <p:pic>
                    <p:nvPicPr>
                      <p:cNvPr id="0"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417629" y="3144770"/>
                        <a:ext cx="360040" cy="427972"/>
                      </a:xfrm>
                      <a:prstGeom prst="rect">
                        <a:avLst/>
                      </a:prstGeom>
                      <a:noFill/>
                    </p:spPr>
                  </p:pic>
                </p:oleObj>
              </mc:Fallback>
            </mc:AlternateContent>
          </a:graphicData>
        </a:graphic>
      </p:graphicFrame>
      <p:graphicFrame>
        <p:nvGraphicFramePr>
          <p:cNvPr id="52" name="对象 51">
            <a:extLst>
              <a:ext uri="{FF2B5EF4-FFF2-40B4-BE49-F238E27FC236}">
                <a16:creationId xmlns:a16="http://schemas.microsoft.com/office/drawing/2014/main" id="{8BA73998-DFA2-134B-1D16-545311E60F6E}"/>
              </a:ext>
            </a:extLst>
          </p:cNvPr>
          <p:cNvGraphicFramePr>
            <a:graphicFrameLocks noChangeAspect="1"/>
          </p:cNvGraphicFramePr>
          <p:nvPr>
            <p:extLst>
              <p:ext uri="{D42A27DB-BD31-4B8C-83A1-F6EECF244321}">
                <p14:modId xmlns:p14="http://schemas.microsoft.com/office/powerpoint/2010/main" val="2184610359"/>
              </p:ext>
            </p:extLst>
          </p:nvPr>
        </p:nvGraphicFramePr>
        <p:xfrm>
          <a:off x="6010484" y="3479746"/>
          <a:ext cx="410419" cy="437269"/>
        </p:xfrm>
        <a:graphic>
          <a:graphicData uri="http://schemas.openxmlformats.org/presentationml/2006/ole">
            <mc:AlternateContent xmlns:mc="http://schemas.openxmlformats.org/markup-compatibility/2006">
              <mc:Choice xmlns:v="urn:schemas-microsoft-com:vml" Requires="v">
                <p:oleObj name="Equation" r:id="rId19" imgW="215806" imgH="228501" progId="Equation.DSMT4">
                  <p:embed/>
                </p:oleObj>
              </mc:Choice>
              <mc:Fallback>
                <p:oleObj name="Equation" r:id="rId19" imgW="215806" imgH="228501" progId="Equation.DSMT4">
                  <p:embed/>
                  <p:pic>
                    <p:nvPicPr>
                      <p:cNvPr id="0"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010484" y="3479746"/>
                        <a:ext cx="410419" cy="437269"/>
                      </a:xfrm>
                      <a:prstGeom prst="rect">
                        <a:avLst/>
                      </a:prstGeom>
                      <a:noFill/>
                    </p:spPr>
                  </p:pic>
                </p:oleObj>
              </mc:Fallback>
            </mc:AlternateContent>
          </a:graphicData>
        </a:graphic>
      </p:graphicFrame>
      <p:sp>
        <p:nvSpPr>
          <p:cNvPr id="54" name="文本框 53">
            <a:extLst>
              <a:ext uri="{FF2B5EF4-FFF2-40B4-BE49-F238E27FC236}">
                <a16:creationId xmlns:a16="http://schemas.microsoft.com/office/drawing/2014/main" id="{9A1EB367-122D-24CA-848F-784A48E6D677}"/>
              </a:ext>
            </a:extLst>
          </p:cNvPr>
          <p:cNvSpPr txBox="1"/>
          <p:nvPr/>
        </p:nvSpPr>
        <p:spPr>
          <a:xfrm>
            <a:off x="4764460" y="3796993"/>
            <a:ext cx="4104456" cy="369332"/>
          </a:xfrm>
          <a:prstGeom prst="rect">
            <a:avLst/>
          </a:prstGeom>
          <a:noFill/>
        </p:spPr>
        <p:txBody>
          <a:bodyPr wrap="square">
            <a:spAutoFit/>
          </a:bodyPr>
          <a:lstStyle/>
          <a:p>
            <a:r>
              <a:rPr lang="zh-CN" altLang="zh-CN" sz="1800" b="1" dirty="0">
                <a:solidFill>
                  <a:srgbClr val="C00000"/>
                </a:solidFill>
                <a:effectLst/>
                <a:latin typeface="宋体" panose="02010600030101010101" pitchFamily="2" charset="-122"/>
                <a:ea typeface="黑体" panose="02010609060101010101" pitchFamily="49" charset="-122"/>
                <a:cs typeface="Times New Roman" panose="02020603050405020304" pitchFamily="18" charset="0"/>
              </a:rPr>
              <a:t>〖为避免绕组过热，实验应尽快进行〗</a:t>
            </a:r>
            <a:endParaRPr lang="zh-CN" altLang="en-US" b="1" dirty="0">
              <a:solidFill>
                <a:srgbClr val="C00000"/>
              </a:solidFill>
            </a:endParaRPr>
          </a:p>
        </p:txBody>
      </p:sp>
      <p:sp>
        <p:nvSpPr>
          <p:cNvPr id="55" name="Rectangle 11">
            <a:extLst>
              <a:ext uri="{FF2B5EF4-FFF2-40B4-BE49-F238E27FC236}">
                <a16:creationId xmlns:a16="http://schemas.microsoft.com/office/drawing/2014/main" id="{DD65E9B2-BB07-C8B2-2F86-94CEC9A13E49}"/>
              </a:ext>
            </a:extLst>
          </p:cNvPr>
          <p:cNvSpPr>
            <a:spLocks noChangeArrowheads="1"/>
          </p:cNvSpPr>
          <p:nvPr/>
        </p:nvSpPr>
        <p:spPr bwMode="auto">
          <a:xfrm>
            <a:off x="4327569" y="4149080"/>
            <a:ext cx="4621088" cy="389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04800"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342900" indent="-342900">
              <a:lnSpc>
                <a:spcPct val="110000"/>
              </a:lnSpc>
              <a:buFont typeface="Wingdings" panose="05000000000000000000" pitchFamily="2" charset="2"/>
              <a:buChar char="Ø"/>
            </a:pP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绘制短路特性</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p>
        </p:txBody>
      </p:sp>
      <p:graphicFrame>
        <p:nvGraphicFramePr>
          <p:cNvPr id="56" name="对象 55">
            <a:extLst>
              <a:ext uri="{FF2B5EF4-FFF2-40B4-BE49-F238E27FC236}">
                <a16:creationId xmlns:a16="http://schemas.microsoft.com/office/drawing/2014/main" id="{2C25D0AC-F931-7F0A-F98F-69A087DB91FE}"/>
              </a:ext>
            </a:extLst>
          </p:cNvPr>
          <p:cNvGraphicFramePr>
            <a:graphicFrameLocks noChangeAspect="1"/>
          </p:cNvGraphicFramePr>
          <p:nvPr>
            <p:extLst>
              <p:ext uri="{D42A27DB-BD31-4B8C-83A1-F6EECF244321}">
                <p14:modId xmlns:p14="http://schemas.microsoft.com/office/powerpoint/2010/main" val="1740131195"/>
              </p:ext>
            </p:extLst>
          </p:nvPr>
        </p:nvGraphicFramePr>
        <p:xfrm>
          <a:off x="6292105" y="4190368"/>
          <a:ext cx="1316996" cy="382717"/>
        </p:xfrm>
        <a:graphic>
          <a:graphicData uri="http://schemas.openxmlformats.org/presentationml/2006/ole">
            <mc:AlternateContent xmlns:mc="http://schemas.openxmlformats.org/markup-compatibility/2006">
              <mc:Choice xmlns:v="urn:schemas-microsoft-com:vml" Requires="v">
                <p:oleObj name="Equation" r:id="rId21" imgW="774364" imgH="228501" progId="Equation.DSMT4">
                  <p:embed/>
                </p:oleObj>
              </mc:Choice>
              <mc:Fallback>
                <p:oleObj name="Equation" r:id="rId21" imgW="774364" imgH="228501" progId="Equation.DSMT4">
                  <p:embed/>
                  <p:pic>
                    <p:nvPicPr>
                      <p:cNvPr id="0" name="Object 3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292105" y="4190368"/>
                        <a:ext cx="1316996" cy="382717"/>
                      </a:xfrm>
                      <a:prstGeom prst="rect">
                        <a:avLst/>
                      </a:prstGeom>
                      <a:noFill/>
                    </p:spPr>
                  </p:pic>
                </p:oleObj>
              </mc:Fallback>
            </mc:AlternateContent>
          </a:graphicData>
        </a:graphic>
      </p:graphicFrame>
      <p:graphicFrame>
        <p:nvGraphicFramePr>
          <p:cNvPr id="57" name="对象 56">
            <a:extLst>
              <a:ext uri="{FF2B5EF4-FFF2-40B4-BE49-F238E27FC236}">
                <a16:creationId xmlns:a16="http://schemas.microsoft.com/office/drawing/2014/main" id="{69FD9C0D-F267-B0D8-D5E1-420B1BAD6BD6}"/>
              </a:ext>
            </a:extLst>
          </p:cNvPr>
          <p:cNvGraphicFramePr>
            <a:graphicFrameLocks noChangeAspect="1"/>
          </p:cNvGraphicFramePr>
          <p:nvPr>
            <p:extLst>
              <p:ext uri="{D42A27DB-BD31-4B8C-83A1-F6EECF244321}">
                <p14:modId xmlns:p14="http://schemas.microsoft.com/office/powerpoint/2010/main" val="4150306465"/>
              </p:ext>
            </p:extLst>
          </p:nvPr>
        </p:nvGraphicFramePr>
        <p:xfrm>
          <a:off x="7675166" y="4186084"/>
          <a:ext cx="1311720" cy="363686"/>
        </p:xfrm>
        <a:graphic>
          <a:graphicData uri="http://schemas.openxmlformats.org/presentationml/2006/ole">
            <mc:AlternateContent xmlns:mc="http://schemas.openxmlformats.org/markup-compatibility/2006">
              <mc:Choice xmlns:v="urn:schemas-microsoft-com:vml" Requires="v">
                <p:oleObj name="Equation" r:id="rId23" imgW="800100" imgH="228600" progId="Equation.DSMT4">
                  <p:embed/>
                </p:oleObj>
              </mc:Choice>
              <mc:Fallback>
                <p:oleObj name="Equation" r:id="rId23" imgW="800100" imgH="228600" progId="Equation.DSMT4">
                  <p:embed/>
                  <p:pic>
                    <p:nvPicPr>
                      <p:cNvPr id="0" name="Object 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75166" y="4186084"/>
                        <a:ext cx="1311720" cy="363686"/>
                      </a:xfrm>
                      <a:prstGeom prst="rect">
                        <a:avLst/>
                      </a:prstGeom>
                      <a:noFill/>
                    </p:spPr>
                  </p:pic>
                </p:oleObj>
              </mc:Fallback>
            </mc:AlternateContent>
          </a:graphicData>
        </a:graphic>
      </p:graphicFrame>
      <p:graphicFrame>
        <p:nvGraphicFramePr>
          <p:cNvPr id="65" name="对象 64">
            <a:extLst>
              <a:ext uri="{FF2B5EF4-FFF2-40B4-BE49-F238E27FC236}">
                <a16:creationId xmlns:a16="http://schemas.microsoft.com/office/drawing/2014/main" id="{1C392184-320B-B14C-480F-C06D0B9189E5}"/>
              </a:ext>
            </a:extLst>
          </p:cNvPr>
          <p:cNvGraphicFramePr>
            <a:graphicFrameLocks noChangeAspect="1"/>
          </p:cNvGraphicFramePr>
          <p:nvPr>
            <p:extLst>
              <p:ext uri="{D42A27DB-BD31-4B8C-83A1-F6EECF244321}">
                <p14:modId xmlns:p14="http://schemas.microsoft.com/office/powerpoint/2010/main" val="4239822330"/>
              </p:ext>
            </p:extLst>
          </p:nvPr>
        </p:nvGraphicFramePr>
        <p:xfrm>
          <a:off x="5872036" y="4742175"/>
          <a:ext cx="1725613" cy="1895475"/>
        </p:xfrm>
        <a:graphic>
          <a:graphicData uri="http://schemas.openxmlformats.org/presentationml/2006/ole">
            <mc:AlternateContent xmlns:mc="http://schemas.openxmlformats.org/markup-compatibility/2006">
              <mc:Choice xmlns:v="urn:schemas-microsoft-com:vml" Requires="v">
                <p:oleObj r:id="rId25" imgW="1244520" imgH="1370160" progId="">
                  <p:embed/>
                </p:oleObj>
              </mc:Choice>
              <mc:Fallback>
                <p:oleObj r:id="rId25" imgW="1244520" imgH="1370160" progId="">
                  <p:embed/>
                  <p:pic>
                    <p:nvPicPr>
                      <p:cNvPr id="0" name="Object 4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872036" y="4742175"/>
                        <a:ext cx="1725613"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灯片编号占位符 5">
            <a:extLst>
              <a:ext uri="{FF2B5EF4-FFF2-40B4-BE49-F238E27FC236}">
                <a16:creationId xmlns:a16="http://schemas.microsoft.com/office/drawing/2014/main" id="{2AD47C59-2867-77DE-A89C-3C6AA752FC1E}"/>
              </a:ext>
            </a:extLst>
          </p:cNvPr>
          <p:cNvSpPr>
            <a:spLocks noGrp="1"/>
          </p:cNvSpPr>
          <p:nvPr>
            <p:ph type="sldNum" sz="quarter" idx="12"/>
          </p:nvPr>
        </p:nvSpPr>
        <p:spPr/>
        <p:txBody>
          <a:bodyPr/>
          <a:lstStyle/>
          <a:p>
            <a:fld id="{76D830B0-DF59-4281-898F-AF208100B213}" type="slidenum">
              <a:rPr lang="en-US" altLang="zh-CN" smtClean="0"/>
              <a:pPr/>
              <a:t>109</a:t>
            </a:fld>
            <a:endParaRPr lang="en-US" altLang="zh-CN"/>
          </a:p>
        </p:txBody>
      </p:sp>
    </p:spTree>
    <p:extLst>
      <p:ext uri="{BB962C8B-B14F-4D97-AF65-F5344CB8AC3E}">
        <p14:creationId xmlns:p14="http://schemas.microsoft.com/office/powerpoint/2010/main" val="23683991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34">
            <a:extLst>
              <a:ext uri="{FF2B5EF4-FFF2-40B4-BE49-F238E27FC236}">
                <a16:creationId xmlns:a16="http://schemas.microsoft.com/office/drawing/2014/main" id="{D2EE2CE0-9BE6-8E68-17AB-592FBE39F600}"/>
              </a:ext>
            </a:extLst>
          </p:cNvPr>
          <p:cNvSpPr>
            <a:spLocks noChangeArrowheads="1"/>
          </p:cNvSpPr>
          <p:nvPr/>
        </p:nvSpPr>
        <p:spPr bwMode="auto">
          <a:xfrm>
            <a:off x="539553" y="4053580"/>
            <a:ext cx="828091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对大中型电机，可认为</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，计算工作特性时，采用      段数据，</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计算起动特性时采用</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数据；</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额定电流范围内，定子转子漏抗基本为常数；高转差时，定子转子电流比额定值大很多，会使漏磁回路中的铁磁部分饱和，使漏抗变小，漏磁阻变大。</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p>
        </p:txBody>
      </p:sp>
      <p:sp>
        <p:nvSpPr>
          <p:cNvPr id="10" name="Rectangle 5">
            <a:extLst>
              <a:ext uri="{FF2B5EF4-FFF2-40B4-BE49-F238E27FC236}">
                <a16:creationId xmlns:a16="http://schemas.microsoft.com/office/drawing/2014/main" id="{B6C27075-7E4F-FB4A-D01B-770C640A5B85}"/>
              </a:ext>
            </a:extLst>
          </p:cNvPr>
          <p:cNvSpPr>
            <a:spLocks noChangeArrowheads="1"/>
          </p:cNvSpPr>
          <p:nvPr/>
        </p:nvSpPr>
        <p:spPr bwMode="auto">
          <a:xfrm>
            <a:off x="467544" y="980728"/>
            <a:ext cx="820891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因试验中电压较低，励磁电流较小，</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铁耗和励磁电流可忽略，且转子无运动，</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输入功率全部消耗在定、转子电阻上：</a:t>
            </a:r>
            <a:endParaRPr kumimoji="0" lang="zh-CN" altLang="zh-CN" sz="300" b="0" i="0" u="none" strike="noStrike" cap="none" normalizeH="0" baseline="0" dirty="0">
              <a:ln>
                <a:noFill/>
              </a:ln>
              <a:solidFill>
                <a:schemeClr val="tx1"/>
              </a:solidFill>
              <a:effectLst/>
            </a:endParaRPr>
          </a:p>
        </p:txBody>
      </p:sp>
      <p:graphicFrame>
        <p:nvGraphicFramePr>
          <p:cNvPr id="16" name="对象 15">
            <a:extLst>
              <a:ext uri="{FF2B5EF4-FFF2-40B4-BE49-F238E27FC236}">
                <a16:creationId xmlns:a16="http://schemas.microsoft.com/office/drawing/2014/main" id="{4C46661B-DE1B-F5D7-DEB6-083871FD5825}"/>
              </a:ext>
            </a:extLst>
          </p:cNvPr>
          <p:cNvGraphicFramePr>
            <a:graphicFrameLocks noChangeAspect="1"/>
          </p:cNvGraphicFramePr>
          <p:nvPr>
            <p:extLst>
              <p:ext uri="{D42A27DB-BD31-4B8C-83A1-F6EECF244321}">
                <p14:modId xmlns:p14="http://schemas.microsoft.com/office/powerpoint/2010/main" val="3018266309"/>
              </p:ext>
            </p:extLst>
          </p:nvPr>
        </p:nvGraphicFramePr>
        <p:xfrm>
          <a:off x="3096979" y="1649417"/>
          <a:ext cx="3888432" cy="477082"/>
        </p:xfrm>
        <a:graphic>
          <a:graphicData uri="http://schemas.openxmlformats.org/presentationml/2006/ole">
            <mc:AlternateContent xmlns:mc="http://schemas.openxmlformats.org/markup-compatibility/2006">
              <mc:Choice xmlns:v="urn:schemas-microsoft-com:vml" Requires="v">
                <p:oleObj name="Equation" r:id="rId3" imgW="2235200" imgH="279400" progId="Equation.DSMT4">
                  <p:embed/>
                </p:oleObj>
              </mc:Choice>
              <mc:Fallback>
                <p:oleObj name="Equation" r:id="rId3" imgW="2235200" imgH="2794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6979" y="1649417"/>
                        <a:ext cx="3888432" cy="477082"/>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564287F4-1AAC-9DD3-E856-8897588E79CA}"/>
              </a:ext>
            </a:extLst>
          </p:cNvPr>
          <p:cNvGraphicFramePr>
            <a:graphicFrameLocks noChangeAspect="1"/>
          </p:cNvGraphicFramePr>
          <p:nvPr>
            <p:extLst>
              <p:ext uri="{D42A27DB-BD31-4B8C-83A1-F6EECF244321}">
                <p14:modId xmlns:p14="http://schemas.microsoft.com/office/powerpoint/2010/main" val="2355679772"/>
              </p:ext>
            </p:extLst>
          </p:nvPr>
        </p:nvGraphicFramePr>
        <p:xfrm>
          <a:off x="1272208" y="2052187"/>
          <a:ext cx="114300" cy="214313"/>
        </p:xfrm>
        <a:graphic>
          <a:graphicData uri="http://schemas.openxmlformats.org/presentationml/2006/ole">
            <mc:AlternateContent xmlns:mc="http://schemas.openxmlformats.org/markup-compatibility/2006">
              <mc:Choice xmlns:v="urn:schemas-microsoft-com:vml" Requires="v">
                <p:oleObj name="Equation" r:id="rId5" imgW="114151" imgH="215619" progId="Equation.DSMT4">
                  <p:embed/>
                </p:oleObj>
              </mc:Choice>
              <mc:Fallback>
                <p:oleObj name="Equation" r:id="rId5" imgW="114151" imgH="215619"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2208" y="2052187"/>
                        <a:ext cx="114300" cy="21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a:extLst>
              <a:ext uri="{FF2B5EF4-FFF2-40B4-BE49-F238E27FC236}">
                <a16:creationId xmlns:a16="http://schemas.microsoft.com/office/drawing/2014/main" id="{B12CC912-3058-8168-B59A-C7A62CDD87CA}"/>
              </a:ext>
            </a:extLst>
          </p:cNvPr>
          <p:cNvGraphicFramePr>
            <a:graphicFrameLocks noChangeAspect="1"/>
          </p:cNvGraphicFramePr>
          <p:nvPr>
            <p:extLst>
              <p:ext uri="{D42A27DB-BD31-4B8C-83A1-F6EECF244321}">
                <p14:modId xmlns:p14="http://schemas.microsoft.com/office/powerpoint/2010/main" val="3549361750"/>
              </p:ext>
            </p:extLst>
          </p:nvPr>
        </p:nvGraphicFramePr>
        <p:xfrm>
          <a:off x="1277219" y="2126499"/>
          <a:ext cx="1800200" cy="740508"/>
        </p:xfrm>
        <a:graphic>
          <a:graphicData uri="http://schemas.openxmlformats.org/presentationml/2006/ole">
            <mc:AlternateContent xmlns:mc="http://schemas.openxmlformats.org/markup-compatibility/2006">
              <mc:Choice xmlns:v="urn:schemas-microsoft-com:vml" Requires="v">
                <p:oleObj name="Equation" r:id="rId7" imgW="1079032" imgH="444307" progId="Equation.DSMT4">
                  <p:embed/>
                </p:oleObj>
              </mc:Choice>
              <mc:Fallback>
                <p:oleObj name="Equation" r:id="rId7" imgW="1079032" imgH="444307"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7219" y="2126499"/>
                        <a:ext cx="1800200" cy="740508"/>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46B17DC0-C253-B85C-9751-E96F67DA4682}"/>
              </a:ext>
            </a:extLst>
          </p:cNvPr>
          <p:cNvGraphicFramePr>
            <a:graphicFrameLocks noChangeAspect="1"/>
          </p:cNvGraphicFramePr>
          <p:nvPr>
            <p:extLst>
              <p:ext uri="{D42A27DB-BD31-4B8C-83A1-F6EECF244321}">
                <p14:modId xmlns:p14="http://schemas.microsoft.com/office/powerpoint/2010/main" val="1052933517"/>
              </p:ext>
            </p:extLst>
          </p:nvPr>
        </p:nvGraphicFramePr>
        <p:xfrm>
          <a:off x="4860032" y="2151506"/>
          <a:ext cx="1224136" cy="712374"/>
        </p:xfrm>
        <a:graphic>
          <a:graphicData uri="http://schemas.openxmlformats.org/presentationml/2006/ole">
            <mc:AlternateContent xmlns:mc="http://schemas.openxmlformats.org/markup-compatibility/2006">
              <mc:Choice xmlns:v="urn:schemas-microsoft-com:vml" Requires="v">
                <p:oleObj name="Equation" r:id="rId9" imgW="723586" imgH="418918" progId="Equation.DSMT4">
                  <p:embed/>
                </p:oleObj>
              </mc:Choice>
              <mc:Fallback>
                <p:oleObj name="Equation" r:id="rId9" imgW="723586" imgH="418918"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60032" y="2151506"/>
                        <a:ext cx="1224136" cy="712374"/>
                      </a:xfrm>
                      <a:prstGeom prst="rect">
                        <a:avLst/>
                      </a:prstGeom>
                      <a:solidFill>
                        <a:srgbClr val="FFFF00"/>
                      </a:solidFill>
                    </p:spPr>
                  </p:pic>
                </p:oleObj>
              </mc:Fallback>
            </mc:AlternateContent>
          </a:graphicData>
        </a:graphic>
      </p:graphicFrame>
      <p:sp>
        <p:nvSpPr>
          <p:cNvPr id="25" name="Rectangle 15">
            <a:extLst>
              <a:ext uri="{FF2B5EF4-FFF2-40B4-BE49-F238E27FC236}">
                <a16:creationId xmlns:a16="http://schemas.microsoft.com/office/drawing/2014/main" id="{E632CE59-A670-BA12-94F0-15B9C3B1991E}"/>
              </a:ext>
            </a:extLst>
          </p:cNvPr>
          <p:cNvSpPr>
            <a:spLocks noChangeArrowheads="1"/>
          </p:cNvSpPr>
          <p:nvPr/>
        </p:nvSpPr>
        <p:spPr bwMode="auto">
          <a:xfrm>
            <a:off x="3000400" y="2251708"/>
            <a:ext cx="27237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US" altLang="zh-CN" sz="20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定子</a:t>
            </a:r>
            <a:r>
              <a:rPr kumimoji="0" lang="en-US" altLang="zh-CN" sz="20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Y</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联接时</a:t>
            </a:r>
            <a:r>
              <a:rPr kumimoji="0" lang="en-US" altLang="zh-CN" sz="20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000" b="0" i="0" u="none" strike="noStrike" cap="none" normalizeH="0" baseline="0" dirty="0">
              <a:ln>
                <a:noFill/>
              </a:ln>
              <a:solidFill>
                <a:schemeClr val="tx1"/>
              </a:solidFill>
              <a:effectLst/>
            </a:endParaRPr>
          </a:p>
        </p:txBody>
      </p:sp>
      <p:graphicFrame>
        <p:nvGraphicFramePr>
          <p:cNvPr id="27" name="对象 26">
            <a:extLst>
              <a:ext uri="{FF2B5EF4-FFF2-40B4-BE49-F238E27FC236}">
                <a16:creationId xmlns:a16="http://schemas.microsoft.com/office/drawing/2014/main" id="{F86C469D-4A5F-91FC-1A97-88275CF67253}"/>
              </a:ext>
            </a:extLst>
          </p:cNvPr>
          <p:cNvGraphicFramePr>
            <a:graphicFrameLocks noChangeAspect="1"/>
          </p:cNvGraphicFramePr>
          <p:nvPr>
            <p:extLst>
              <p:ext uri="{D42A27DB-BD31-4B8C-83A1-F6EECF244321}">
                <p14:modId xmlns:p14="http://schemas.microsoft.com/office/powerpoint/2010/main" val="3521021959"/>
              </p:ext>
            </p:extLst>
          </p:nvPr>
        </p:nvGraphicFramePr>
        <p:xfrm>
          <a:off x="1152128" y="2926655"/>
          <a:ext cx="114300" cy="214313"/>
        </p:xfrm>
        <a:graphic>
          <a:graphicData uri="http://schemas.openxmlformats.org/presentationml/2006/ole">
            <mc:AlternateContent xmlns:mc="http://schemas.openxmlformats.org/markup-compatibility/2006">
              <mc:Choice xmlns:v="urn:schemas-microsoft-com:vml" Requires="v">
                <p:oleObj name="Equation" r:id="rId5" imgW="114151" imgH="215619" progId="Equation.DSMT4">
                  <p:embed/>
                </p:oleObj>
              </mc:Choice>
              <mc:Fallback>
                <p:oleObj name="Equation" r:id="rId5" imgW="114151" imgH="215619" progId="Equation.DSMT4">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128" y="2926655"/>
                        <a:ext cx="114300" cy="21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对象 27">
            <a:extLst>
              <a:ext uri="{FF2B5EF4-FFF2-40B4-BE49-F238E27FC236}">
                <a16:creationId xmlns:a16="http://schemas.microsoft.com/office/drawing/2014/main" id="{7F6C2205-C4CB-0389-2864-7F6E406F531C}"/>
              </a:ext>
            </a:extLst>
          </p:cNvPr>
          <p:cNvGraphicFramePr>
            <a:graphicFrameLocks noChangeAspect="1"/>
          </p:cNvGraphicFramePr>
          <p:nvPr>
            <p:extLst>
              <p:ext uri="{D42A27DB-BD31-4B8C-83A1-F6EECF244321}">
                <p14:modId xmlns:p14="http://schemas.microsoft.com/office/powerpoint/2010/main" val="1335508558"/>
              </p:ext>
            </p:extLst>
          </p:nvPr>
        </p:nvGraphicFramePr>
        <p:xfrm>
          <a:off x="2724784" y="2912503"/>
          <a:ext cx="1728192" cy="456930"/>
        </p:xfrm>
        <a:graphic>
          <a:graphicData uri="http://schemas.openxmlformats.org/presentationml/2006/ole">
            <mc:AlternateContent xmlns:mc="http://schemas.openxmlformats.org/markup-compatibility/2006">
              <mc:Choice xmlns:v="urn:schemas-microsoft-com:vml" Requires="v">
                <p:oleObj name="Equation" r:id="rId11" imgW="1028700" imgH="279400" progId="Equation.DSMT4">
                  <p:embed/>
                </p:oleObj>
              </mc:Choice>
              <mc:Fallback>
                <p:oleObj name="Equation" r:id="rId11" imgW="1028700" imgH="279400" progId="Equation.DSMT4">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24784" y="2912503"/>
                        <a:ext cx="1728192" cy="456930"/>
                      </a:xfrm>
                      <a:prstGeom prst="rect">
                        <a:avLst/>
                      </a:prstGeom>
                      <a:noFill/>
                    </p:spPr>
                  </p:pic>
                </p:oleObj>
              </mc:Fallback>
            </mc:AlternateContent>
          </a:graphicData>
        </a:graphic>
      </p:graphicFrame>
      <p:graphicFrame>
        <p:nvGraphicFramePr>
          <p:cNvPr id="29" name="对象 28">
            <a:extLst>
              <a:ext uri="{FF2B5EF4-FFF2-40B4-BE49-F238E27FC236}">
                <a16:creationId xmlns:a16="http://schemas.microsoft.com/office/drawing/2014/main" id="{36DA8BEF-4A16-9D02-2674-DBCF23D2D5D9}"/>
              </a:ext>
            </a:extLst>
          </p:cNvPr>
          <p:cNvGraphicFramePr>
            <a:graphicFrameLocks noChangeAspect="1"/>
          </p:cNvGraphicFramePr>
          <p:nvPr>
            <p:extLst>
              <p:ext uri="{D42A27DB-BD31-4B8C-83A1-F6EECF244321}">
                <p14:modId xmlns:p14="http://schemas.microsoft.com/office/powerpoint/2010/main" val="2896952440"/>
              </p:ext>
            </p:extLst>
          </p:nvPr>
        </p:nvGraphicFramePr>
        <p:xfrm>
          <a:off x="6300192" y="2245048"/>
          <a:ext cx="1532388" cy="413430"/>
        </p:xfrm>
        <a:graphic>
          <a:graphicData uri="http://schemas.openxmlformats.org/presentationml/2006/ole">
            <mc:AlternateContent xmlns:mc="http://schemas.openxmlformats.org/markup-compatibility/2006">
              <mc:Choice xmlns:v="urn:schemas-microsoft-com:vml" Requires="v">
                <p:oleObj name="Equation" r:id="rId13" imgW="888614" imgH="241195" progId="Equation.DSMT4">
                  <p:embed/>
                </p:oleObj>
              </mc:Choice>
              <mc:Fallback>
                <p:oleObj name="Equation" r:id="rId13" imgW="888614" imgH="241195" progId="Equation.DSMT4">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00192" y="2245048"/>
                        <a:ext cx="1532388" cy="413430"/>
                      </a:xfrm>
                      <a:prstGeom prst="rect">
                        <a:avLst/>
                      </a:prstGeom>
                      <a:noFill/>
                    </p:spPr>
                  </p:pic>
                </p:oleObj>
              </mc:Fallback>
            </mc:AlternateContent>
          </a:graphicData>
        </a:graphic>
      </p:graphicFrame>
      <p:graphicFrame>
        <p:nvGraphicFramePr>
          <p:cNvPr id="30" name="对象 29">
            <a:extLst>
              <a:ext uri="{FF2B5EF4-FFF2-40B4-BE49-F238E27FC236}">
                <a16:creationId xmlns:a16="http://schemas.microsoft.com/office/drawing/2014/main" id="{84750AC4-4E32-BB5B-CE2F-4EAA786D29F0}"/>
              </a:ext>
            </a:extLst>
          </p:cNvPr>
          <p:cNvGraphicFramePr>
            <a:graphicFrameLocks noChangeAspect="1"/>
          </p:cNvGraphicFramePr>
          <p:nvPr>
            <p:extLst>
              <p:ext uri="{D42A27DB-BD31-4B8C-83A1-F6EECF244321}">
                <p14:modId xmlns:p14="http://schemas.microsoft.com/office/powerpoint/2010/main" val="4210212249"/>
              </p:ext>
            </p:extLst>
          </p:nvPr>
        </p:nvGraphicFramePr>
        <p:xfrm>
          <a:off x="1061944" y="2956003"/>
          <a:ext cx="1572656" cy="413430"/>
        </p:xfrm>
        <a:graphic>
          <a:graphicData uri="http://schemas.openxmlformats.org/presentationml/2006/ole">
            <mc:AlternateContent xmlns:mc="http://schemas.openxmlformats.org/markup-compatibility/2006">
              <mc:Choice xmlns:v="urn:schemas-microsoft-com:vml" Requires="v">
                <p:oleObj name="Equation" r:id="rId15" imgW="888614" imgH="241195" progId="Equation.DSMT4">
                  <p:embed/>
                </p:oleObj>
              </mc:Choice>
              <mc:Fallback>
                <p:oleObj name="Equation" r:id="rId15" imgW="888614" imgH="241195" progId="Equation.DSMT4">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1944" y="2956003"/>
                        <a:ext cx="1572656" cy="413430"/>
                      </a:xfrm>
                      <a:prstGeom prst="rect">
                        <a:avLst/>
                      </a:prstGeom>
                      <a:noFill/>
                    </p:spPr>
                  </p:pic>
                </p:oleObj>
              </mc:Fallback>
            </mc:AlternateContent>
          </a:graphicData>
        </a:graphic>
      </p:graphicFrame>
      <p:graphicFrame>
        <p:nvGraphicFramePr>
          <p:cNvPr id="31" name="对象 30">
            <a:extLst>
              <a:ext uri="{FF2B5EF4-FFF2-40B4-BE49-F238E27FC236}">
                <a16:creationId xmlns:a16="http://schemas.microsoft.com/office/drawing/2014/main" id="{C50FACC7-CCA3-6DB4-204C-D0FE526C1B1D}"/>
              </a:ext>
            </a:extLst>
          </p:cNvPr>
          <p:cNvGraphicFramePr>
            <a:graphicFrameLocks noChangeAspect="1"/>
          </p:cNvGraphicFramePr>
          <p:nvPr>
            <p:extLst>
              <p:ext uri="{D42A27DB-BD31-4B8C-83A1-F6EECF244321}">
                <p14:modId xmlns:p14="http://schemas.microsoft.com/office/powerpoint/2010/main" val="1134737258"/>
              </p:ext>
            </p:extLst>
          </p:nvPr>
        </p:nvGraphicFramePr>
        <p:xfrm>
          <a:off x="4878360" y="2704390"/>
          <a:ext cx="3633788" cy="809625"/>
        </p:xfrm>
        <a:graphic>
          <a:graphicData uri="http://schemas.openxmlformats.org/presentationml/2006/ole">
            <mc:AlternateContent xmlns:mc="http://schemas.openxmlformats.org/markup-compatibility/2006">
              <mc:Choice xmlns:v="urn:schemas-microsoft-com:vml" Requires="v">
                <p:oleObj name="Equation" r:id="rId17" imgW="2171700" imgH="495300" progId="Equation.DSMT4">
                  <p:embed/>
                </p:oleObj>
              </mc:Choice>
              <mc:Fallback>
                <p:oleObj name="Equation" r:id="rId17" imgW="2171700" imgH="495300" progId="Equation.DSMT4">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78360" y="2704390"/>
                        <a:ext cx="3633788"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对象 31">
            <a:extLst>
              <a:ext uri="{FF2B5EF4-FFF2-40B4-BE49-F238E27FC236}">
                <a16:creationId xmlns:a16="http://schemas.microsoft.com/office/drawing/2014/main" id="{EAA4EC37-DCBE-F113-F397-B2EAED2E9CA8}"/>
              </a:ext>
            </a:extLst>
          </p:cNvPr>
          <p:cNvGraphicFramePr>
            <a:graphicFrameLocks noChangeAspect="1"/>
          </p:cNvGraphicFramePr>
          <p:nvPr>
            <p:extLst>
              <p:ext uri="{D42A27DB-BD31-4B8C-83A1-F6EECF244321}">
                <p14:modId xmlns:p14="http://schemas.microsoft.com/office/powerpoint/2010/main" val="3279615091"/>
              </p:ext>
            </p:extLst>
          </p:nvPr>
        </p:nvGraphicFramePr>
        <p:xfrm>
          <a:off x="4911244" y="3307352"/>
          <a:ext cx="1633538" cy="438150"/>
        </p:xfrm>
        <a:graphic>
          <a:graphicData uri="http://schemas.openxmlformats.org/presentationml/2006/ole">
            <mc:AlternateContent xmlns:mc="http://schemas.openxmlformats.org/markup-compatibility/2006">
              <mc:Choice xmlns:v="urn:schemas-microsoft-com:vml" Requires="v">
                <p:oleObj name="Equation" r:id="rId19" imgW="914400" imgH="254000" progId="Equation.DSMT4">
                  <p:embed/>
                </p:oleObj>
              </mc:Choice>
              <mc:Fallback>
                <p:oleObj name="Equation" r:id="rId19" imgW="914400" imgH="254000" progId="Equation.DSMT4">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11244" y="3307352"/>
                        <a:ext cx="1633538"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 name="Rectangle 15">
            <a:extLst>
              <a:ext uri="{FF2B5EF4-FFF2-40B4-BE49-F238E27FC236}">
                <a16:creationId xmlns:a16="http://schemas.microsoft.com/office/drawing/2014/main" id="{4E61ADDC-FF1C-8565-C95B-C49F6ACBABE8}"/>
              </a:ext>
            </a:extLst>
          </p:cNvPr>
          <p:cNvSpPr>
            <a:spLocks noChangeArrowheads="1"/>
          </p:cNvSpPr>
          <p:nvPr/>
        </p:nvSpPr>
        <p:spPr bwMode="auto">
          <a:xfrm>
            <a:off x="4452976" y="2944500"/>
            <a:ext cx="5510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zh-CN" altLang="en-US" sz="20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或</a:t>
            </a:r>
            <a:endParaRPr kumimoji="0" lang="zh-CN" altLang="en-US" sz="2000" b="0" i="0" u="none" strike="noStrike" cap="none" normalizeH="0" baseline="0" dirty="0">
              <a:ln>
                <a:noFill/>
              </a:ln>
              <a:solidFill>
                <a:schemeClr val="tx1"/>
              </a:solidFill>
              <a:effectLst/>
            </a:endParaRPr>
          </a:p>
        </p:txBody>
      </p:sp>
      <p:sp>
        <p:nvSpPr>
          <p:cNvPr id="42" name="文本框 41">
            <a:extLst>
              <a:ext uri="{FF2B5EF4-FFF2-40B4-BE49-F238E27FC236}">
                <a16:creationId xmlns:a16="http://schemas.microsoft.com/office/drawing/2014/main" id="{656B59BE-CCF0-DF65-AE30-1BF77EAFAA1E}"/>
              </a:ext>
            </a:extLst>
          </p:cNvPr>
          <p:cNvSpPr txBox="1"/>
          <p:nvPr/>
        </p:nvSpPr>
        <p:spPr>
          <a:xfrm>
            <a:off x="791418" y="3707462"/>
            <a:ext cx="7885037" cy="400110"/>
          </a:xfrm>
          <a:prstGeom prst="rect">
            <a:avLst/>
          </a:prstGeom>
          <a:noFill/>
        </p:spPr>
        <p:txBody>
          <a:bodyPr wrap="square">
            <a:spAutoFit/>
          </a:bodyPr>
          <a:lstStyle/>
          <a:p>
            <a:pPr marL="228600" algn="just">
              <a:tabLst>
                <a:tab pos="457200" algn="l"/>
              </a:tabLst>
            </a:pPr>
            <a:r>
              <a:rPr lang="zh-CN"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即认为堵转电抗可由感性无功功率计算，堵转电阻由有功功率计算。</a:t>
            </a:r>
            <a:endParaRPr lang="zh-CN" alt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43" name="对象 42">
            <a:extLst>
              <a:ext uri="{FF2B5EF4-FFF2-40B4-BE49-F238E27FC236}">
                <a16:creationId xmlns:a16="http://schemas.microsoft.com/office/drawing/2014/main" id="{361E06AB-A19B-F23E-986D-FAF68044FED7}"/>
              </a:ext>
            </a:extLst>
          </p:cNvPr>
          <p:cNvGraphicFramePr>
            <a:graphicFrameLocks noChangeAspect="1"/>
          </p:cNvGraphicFramePr>
          <p:nvPr>
            <p:extLst>
              <p:ext uri="{D42A27DB-BD31-4B8C-83A1-F6EECF244321}">
                <p14:modId xmlns:p14="http://schemas.microsoft.com/office/powerpoint/2010/main" val="3026192054"/>
              </p:ext>
            </p:extLst>
          </p:nvPr>
        </p:nvGraphicFramePr>
        <p:xfrm>
          <a:off x="791418" y="4005064"/>
          <a:ext cx="114300" cy="214313"/>
        </p:xfrm>
        <a:graphic>
          <a:graphicData uri="http://schemas.openxmlformats.org/presentationml/2006/ole">
            <mc:AlternateContent xmlns:mc="http://schemas.openxmlformats.org/markup-compatibility/2006">
              <mc:Choice xmlns:v="urn:schemas-microsoft-com:vml" Requires="v">
                <p:oleObj name="Equation" r:id="rId5" imgW="114151" imgH="215619" progId="Equation.DSMT4">
                  <p:embed/>
                </p:oleObj>
              </mc:Choice>
              <mc:Fallback>
                <p:oleObj name="Equation" r:id="rId5" imgW="114151" imgH="215619" progId="Equation.DSMT4">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1418" y="4005064"/>
                        <a:ext cx="114300" cy="214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 name="对象 46">
            <a:extLst>
              <a:ext uri="{FF2B5EF4-FFF2-40B4-BE49-F238E27FC236}">
                <a16:creationId xmlns:a16="http://schemas.microsoft.com/office/drawing/2014/main" id="{A9A92552-CE47-E69C-C2F7-94C005625D93}"/>
              </a:ext>
            </a:extLst>
          </p:cNvPr>
          <p:cNvGraphicFramePr>
            <a:graphicFrameLocks noChangeAspect="1"/>
          </p:cNvGraphicFramePr>
          <p:nvPr>
            <p:extLst>
              <p:ext uri="{D42A27DB-BD31-4B8C-83A1-F6EECF244321}">
                <p14:modId xmlns:p14="http://schemas.microsoft.com/office/powerpoint/2010/main" val="755549340"/>
              </p:ext>
            </p:extLst>
          </p:nvPr>
        </p:nvGraphicFramePr>
        <p:xfrm>
          <a:off x="3681412" y="4082099"/>
          <a:ext cx="890588" cy="395287"/>
        </p:xfrm>
        <a:graphic>
          <a:graphicData uri="http://schemas.openxmlformats.org/presentationml/2006/ole">
            <mc:AlternateContent xmlns:mc="http://schemas.openxmlformats.org/markup-compatibility/2006">
              <mc:Choice xmlns:v="urn:schemas-microsoft-com:vml" Requires="v">
                <p:oleObj name="Equation" r:id="rId21" imgW="545863" imgH="241195" progId="Equation.DSMT4">
                  <p:embed/>
                </p:oleObj>
              </mc:Choice>
              <mc:Fallback>
                <p:oleObj name="Equation" r:id="rId21" imgW="545863" imgH="241195" progId="Equation.DSMT4">
                  <p:embed/>
                  <p:pic>
                    <p:nvPicPr>
                      <p:cNvPr id="0" name="Object 3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681412" y="4082099"/>
                        <a:ext cx="890588"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 name="对象 47">
            <a:extLst>
              <a:ext uri="{FF2B5EF4-FFF2-40B4-BE49-F238E27FC236}">
                <a16:creationId xmlns:a16="http://schemas.microsoft.com/office/drawing/2014/main" id="{7B98ED4B-8E1B-FEC5-97B5-7678E67C4AED}"/>
              </a:ext>
            </a:extLst>
          </p:cNvPr>
          <p:cNvGraphicFramePr>
            <a:graphicFrameLocks noChangeAspect="1"/>
          </p:cNvGraphicFramePr>
          <p:nvPr>
            <p:extLst>
              <p:ext uri="{D42A27DB-BD31-4B8C-83A1-F6EECF244321}">
                <p14:modId xmlns:p14="http://schemas.microsoft.com/office/powerpoint/2010/main" val="2856067133"/>
              </p:ext>
            </p:extLst>
          </p:nvPr>
        </p:nvGraphicFramePr>
        <p:xfrm>
          <a:off x="7335146" y="4107118"/>
          <a:ext cx="797967" cy="352628"/>
        </p:xfrm>
        <a:graphic>
          <a:graphicData uri="http://schemas.openxmlformats.org/presentationml/2006/ole">
            <mc:AlternateContent xmlns:mc="http://schemas.openxmlformats.org/markup-compatibility/2006">
              <mc:Choice xmlns:v="urn:schemas-microsoft-com:vml" Requires="v">
                <p:oleObj name="Equation" r:id="rId23" imgW="457200" imgH="203040" progId="Equation.DSMT4">
                  <p:embed/>
                </p:oleObj>
              </mc:Choice>
              <mc:Fallback>
                <p:oleObj name="Equation" r:id="rId23" imgW="457200" imgH="203040" progId="Equation.DSMT4">
                  <p:embed/>
                  <p:pic>
                    <p:nvPicPr>
                      <p:cNvPr id="0" name="Object 30"/>
                      <p:cNvPicPr>
                        <a:picLocks noChangeAspect="1" noChangeArrowheads="1"/>
                      </p:cNvPicPr>
                      <p:nvPr/>
                    </p:nvPicPr>
                    <p:blipFill>
                      <a:blip r:embed="rId24"/>
                      <a:srcRect/>
                      <a:stretch>
                        <a:fillRect/>
                      </a:stretch>
                    </p:blipFill>
                    <p:spPr bwMode="auto">
                      <a:xfrm>
                        <a:off x="7335146" y="4107118"/>
                        <a:ext cx="797967" cy="352628"/>
                      </a:xfrm>
                      <a:prstGeom prst="rect">
                        <a:avLst/>
                      </a:prstGeom>
                      <a:noFill/>
                    </p:spPr>
                  </p:pic>
                </p:oleObj>
              </mc:Fallback>
            </mc:AlternateContent>
          </a:graphicData>
        </a:graphic>
      </p:graphicFrame>
      <p:graphicFrame>
        <p:nvGraphicFramePr>
          <p:cNvPr id="49" name="对象 48">
            <a:extLst>
              <a:ext uri="{FF2B5EF4-FFF2-40B4-BE49-F238E27FC236}">
                <a16:creationId xmlns:a16="http://schemas.microsoft.com/office/drawing/2014/main" id="{88172CB4-54ED-767E-2225-0E0093083C63}"/>
              </a:ext>
            </a:extLst>
          </p:cNvPr>
          <p:cNvGraphicFramePr>
            <a:graphicFrameLocks noChangeAspect="1"/>
          </p:cNvGraphicFramePr>
          <p:nvPr>
            <p:extLst>
              <p:ext uri="{D42A27DB-BD31-4B8C-83A1-F6EECF244321}">
                <p14:modId xmlns:p14="http://schemas.microsoft.com/office/powerpoint/2010/main" val="3720721676"/>
              </p:ext>
            </p:extLst>
          </p:nvPr>
        </p:nvGraphicFramePr>
        <p:xfrm>
          <a:off x="3449728" y="4387802"/>
          <a:ext cx="1003248" cy="402183"/>
        </p:xfrm>
        <a:graphic>
          <a:graphicData uri="http://schemas.openxmlformats.org/presentationml/2006/ole">
            <mc:AlternateContent xmlns:mc="http://schemas.openxmlformats.org/markup-compatibility/2006">
              <mc:Choice xmlns:v="urn:schemas-microsoft-com:vml" Requires="v">
                <p:oleObj name="Equation" r:id="rId25" imgW="558800" imgH="228600" progId="Equation.DSMT4">
                  <p:embed/>
                </p:oleObj>
              </mc:Choice>
              <mc:Fallback>
                <p:oleObj name="Equation" r:id="rId25" imgW="558800" imgH="228600" progId="Equation.DSMT4">
                  <p:embed/>
                  <p:pic>
                    <p:nvPicPr>
                      <p:cNvPr id="0" name="Object 2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449728" y="4387802"/>
                        <a:ext cx="1003248" cy="402183"/>
                      </a:xfrm>
                      <a:prstGeom prst="rect">
                        <a:avLst/>
                      </a:prstGeom>
                      <a:noFill/>
                    </p:spPr>
                  </p:pic>
                </p:oleObj>
              </mc:Fallback>
            </mc:AlternateContent>
          </a:graphicData>
        </a:graphic>
      </p:graphicFrame>
      <p:sp>
        <p:nvSpPr>
          <p:cNvPr id="50" name="Rectangle 33">
            <a:extLst>
              <a:ext uri="{FF2B5EF4-FFF2-40B4-BE49-F238E27FC236}">
                <a16:creationId xmlns:a16="http://schemas.microsoft.com/office/drawing/2014/main" id="{8723D755-9A73-CE3F-B2C9-261E3600756C}"/>
              </a:ext>
            </a:extLst>
          </p:cNvPr>
          <p:cNvSpPr>
            <a:spLocks noChangeArrowheads="1"/>
          </p:cNvSpPr>
          <p:nvPr/>
        </p:nvSpPr>
        <p:spPr bwMode="auto">
          <a:xfrm>
            <a:off x="791418" y="3616069"/>
            <a:ext cx="802905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63" name="文本框 62">
            <a:extLst>
              <a:ext uri="{FF2B5EF4-FFF2-40B4-BE49-F238E27FC236}">
                <a16:creationId xmlns:a16="http://schemas.microsoft.com/office/drawing/2014/main" id="{5C22E620-31CB-2A80-6D82-B7587F9DA390}"/>
              </a:ext>
            </a:extLst>
          </p:cNvPr>
          <p:cNvSpPr txBox="1"/>
          <p:nvPr/>
        </p:nvSpPr>
        <p:spPr>
          <a:xfrm>
            <a:off x="466902" y="5365665"/>
            <a:ext cx="8353570" cy="1015663"/>
          </a:xfrm>
          <a:prstGeom prst="rect">
            <a:avLst/>
          </a:prstGeom>
          <a:noFill/>
        </p:spPr>
        <p:txBody>
          <a:bodyPr wrap="square">
            <a:spAutoFit/>
          </a:bodyPr>
          <a:lstStyle/>
          <a:p>
            <a:pPr>
              <a:tabLst>
                <a:tab pos="457200" algn="l"/>
              </a:tabLst>
            </a:pPr>
            <a:r>
              <a:rPr lang="en-US"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r>
              <a:rPr lang="zh-CN" altLang="en-US"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根据</a:t>
            </a:r>
            <a:r>
              <a:rPr lang="en-US"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IEEE</a:t>
            </a:r>
            <a:r>
              <a:rPr lang="zh-CN"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lang="en-US"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The Institute of Electrical and Electronics Engineers </a:t>
            </a:r>
            <a:r>
              <a:rPr lang="zh-CN"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电气与电子工程师学会〗</a:t>
            </a:r>
            <a:r>
              <a:rPr lang="en-US"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Standard 112 </a:t>
            </a:r>
            <a:r>
              <a:rPr lang="zh-CN"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推荐的感应电动机漏电抗分配经验值： </a:t>
            </a:r>
            <a:endParaRPr lang="zh-CN" altLang="zh-CN" sz="24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3" name="灯片编号占位符 2">
            <a:extLst>
              <a:ext uri="{FF2B5EF4-FFF2-40B4-BE49-F238E27FC236}">
                <a16:creationId xmlns:a16="http://schemas.microsoft.com/office/drawing/2014/main" id="{C26ACFCB-A5BE-C05D-2571-B674974065E6}"/>
              </a:ext>
            </a:extLst>
          </p:cNvPr>
          <p:cNvSpPr>
            <a:spLocks noGrp="1"/>
          </p:cNvSpPr>
          <p:nvPr>
            <p:ph type="sldNum" sz="quarter" idx="12"/>
          </p:nvPr>
        </p:nvSpPr>
        <p:spPr/>
        <p:txBody>
          <a:bodyPr/>
          <a:lstStyle/>
          <a:p>
            <a:fld id="{76D830B0-DF59-4281-898F-AF208100B213}" type="slidenum">
              <a:rPr lang="en-US" altLang="zh-CN" smtClean="0"/>
              <a:pPr/>
              <a:t>110</a:t>
            </a:fld>
            <a:endParaRPr lang="en-US" altLang="zh-CN"/>
          </a:p>
        </p:txBody>
      </p:sp>
    </p:spTree>
    <p:extLst>
      <p:ext uri="{BB962C8B-B14F-4D97-AF65-F5344CB8AC3E}">
        <p14:creationId xmlns:p14="http://schemas.microsoft.com/office/powerpoint/2010/main" val="365409531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3">
            <a:extLst>
              <a:ext uri="{FF2B5EF4-FFF2-40B4-BE49-F238E27FC236}">
                <a16:creationId xmlns:a16="http://schemas.microsoft.com/office/drawing/2014/main" id="{C5BC61A2-EAA9-530B-10DA-89F8B317FD86}"/>
              </a:ext>
            </a:extLst>
          </p:cNvPr>
          <p:cNvSpPr>
            <a:spLocks noChangeArrowheads="1"/>
          </p:cNvSpPr>
          <p:nvPr/>
        </p:nvSpPr>
        <p:spPr bwMode="auto">
          <a:xfrm>
            <a:off x="720143" y="3655245"/>
            <a:ext cx="770371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可由</a:t>
            </a:r>
            <a:r>
              <a:rPr kumimoji="0" lang="zh-CN" altLang="zh-CN"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直流伏安法</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测定：</a:t>
            </a:r>
            <a:r>
              <a:rPr lang="zh-CN"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定子绕组加直流电压，分级逐步加大直到额定电流为止，记录各级直流电压、电流，计算绕组电阻，取平均值。</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按国家标准，测出的电阻应换算</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到</a:t>
            </a:r>
            <a:r>
              <a:rPr kumimoji="0" lang="en-US" altLang="zh-CN" sz="20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75</a:t>
            </a:r>
            <a:r>
              <a:rPr kumimoji="0" lang="en-US" altLang="zh-CN" sz="2000" b="0" i="0" u="none" strike="noStrike" cap="none" normalizeH="0" baseline="3000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a:t>
            </a:r>
            <a:r>
              <a:rPr kumimoji="0" lang="en-US" altLang="zh-CN" sz="20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C</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时的数值：</a:t>
            </a:r>
            <a:endParaRPr lang="zh-CN" alt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10766AD5-5F24-78C0-3A95-8D4B9C9D5D44}"/>
              </a:ext>
            </a:extLst>
          </p:cNvPr>
          <p:cNvGraphicFramePr>
            <a:graphicFrameLocks noGrp="1"/>
          </p:cNvGraphicFramePr>
          <p:nvPr>
            <p:extLst>
              <p:ext uri="{D42A27DB-BD31-4B8C-83A1-F6EECF244321}">
                <p14:modId xmlns:p14="http://schemas.microsoft.com/office/powerpoint/2010/main" val="3568127587"/>
              </p:ext>
            </p:extLst>
          </p:nvPr>
        </p:nvGraphicFramePr>
        <p:xfrm>
          <a:off x="1187624" y="1052736"/>
          <a:ext cx="6948521" cy="2520280"/>
        </p:xfrm>
        <a:graphic>
          <a:graphicData uri="http://schemas.openxmlformats.org/drawingml/2006/table">
            <a:tbl>
              <a:tblPr/>
              <a:tblGrid>
                <a:gridCol w="1384759">
                  <a:extLst>
                    <a:ext uri="{9D8B030D-6E8A-4147-A177-3AD203B41FA5}">
                      <a16:colId xmlns:a16="http://schemas.microsoft.com/office/drawing/2014/main" val="555976858"/>
                    </a:ext>
                  </a:extLst>
                </a:gridCol>
                <a:gridCol w="4451010">
                  <a:extLst>
                    <a:ext uri="{9D8B030D-6E8A-4147-A177-3AD203B41FA5}">
                      <a16:colId xmlns:a16="http://schemas.microsoft.com/office/drawing/2014/main" val="2285786052"/>
                    </a:ext>
                  </a:extLst>
                </a:gridCol>
                <a:gridCol w="516966">
                  <a:extLst>
                    <a:ext uri="{9D8B030D-6E8A-4147-A177-3AD203B41FA5}">
                      <a16:colId xmlns:a16="http://schemas.microsoft.com/office/drawing/2014/main" val="1448109466"/>
                    </a:ext>
                  </a:extLst>
                </a:gridCol>
                <a:gridCol w="595786">
                  <a:extLst>
                    <a:ext uri="{9D8B030D-6E8A-4147-A177-3AD203B41FA5}">
                      <a16:colId xmlns:a16="http://schemas.microsoft.com/office/drawing/2014/main" val="2563454033"/>
                    </a:ext>
                  </a:extLst>
                </a:gridCol>
              </a:tblGrid>
              <a:tr h="418168">
                <a:tc>
                  <a:txBody>
                    <a:bodyPr/>
                    <a:lstStyle/>
                    <a:p>
                      <a:pPr algn="ctr">
                        <a:tabLst>
                          <a:tab pos="457200" algn="l"/>
                        </a:tabLst>
                      </a:pPr>
                      <a:r>
                        <a:rPr 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电动机类别</a:t>
                      </a:r>
                      <a:endParaRPr 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zh-CN"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描述</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Xs</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Xr'</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8557665"/>
                  </a:ext>
                </a:extLst>
              </a:tr>
              <a:tr h="418168">
                <a:tc>
                  <a:txBody>
                    <a:bodyPr/>
                    <a:lstStyle/>
                    <a:p>
                      <a:pPr algn="ctr">
                        <a:tabLst>
                          <a:tab pos="457200" algn="l"/>
                        </a:tabLst>
                      </a:pPr>
                      <a:r>
                        <a:rPr lang="en-US"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a:t>
                      </a:r>
                      <a:endParaRPr 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zh-CN"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额定起动转矩、额定起动电流</a:t>
                      </a: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lang="zh-CN"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低转差率</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0.5</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0.5</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2890397"/>
                  </a:ext>
                </a:extLst>
              </a:tr>
              <a:tr h="418168">
                <a:tc>
                  <a:txBody>
                    <a:bodyPr/>
                    <a:lstStyle/>
                    <a:p>
                      <a:pPr algn="ctr">
                        <a:tabLst>
                          <a:tab pos="457200" algn="l"/>
                        </a:tabLst>
                      </a:pPr>
                      <a:r>
                        <a:rPr lang="en-US"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B</a:t>
                      </a:r>
                      <a:endParaRPr 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zh-CN"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额定起动转矩，</a:t>
                      </a: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75%</a:t>
                      </a:r>
                      <a:r>
                        <a:rPr lang="zh-CN"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起动电流，低转差率</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0.4</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0.6</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2628971"/>
                  </a:ext>
                </a:extLst>
              </a:tr>
              <a:tr h="418168">
                <a:tc>
                  <a:txBody>
                    <a:bodyPr/>
                    <a:lstStyle/>
                    <a:p>
                      <a:pPr algn="ctr">
                        <a:tabLst>
                          <a:tab pos="457200" algn="l"/>
                        </a:tabLst>
                      </a:pPr>
                      <a:r>
                        <a:rPr lang="en-US"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C</a:t>
                      </a:r>
                      <a:endParaRPr 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zh-CN"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高起动转矩，低起动电流，较高转差率</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0.3</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0.7</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665907"/>
                  </a:ext>
                </a:extLst>
              </a:tr>
              <a:tr h="282536">
                <a:tc>
                  <a:txBody>
                    <a:bodyPr/>
                    <a:lstStyle/>
                    <a:p>
                      <a:pPr algn="ctr">
                        <a:tabLst>
                          <a:tab pos="457200" algn="l"/>
                        </a:tabLst>
                      </a:pPr>
                      <a:r>
                        <a:rPr lang="en-US"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D</a:t>
                      </a:r>
                      <a:endParaRPr 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高起动转矩，高转差率</a:t>
                      </a:r>
                      <a:r>
                        <a:rPr lang="en-US"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endParaRPr 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0.5</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0.5</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1081610"/>
                  </a:ext>
                </a:extLst>
              </a:tr>
              <a:tr h="282536">
                <a:tc>
                  <a:txBody>
                    <a:bodyPr/>
                    <a:lstStyle/>
                    <a:p>
                      <a:pPr algn="ctr">
                        <a:tabLst>
                          <a:tab pos="457200" algn="l"/>
                        </a:tabLst>
                      </a:pPr>
                      <a:r>
                        <a:rPr 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绕线转子</a:t>
                      </a:r>
                      <a:endParaRPr 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zh-CN"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性能随转子电阻变化</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0.5</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0.5</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5087562"/>
                  </a:ext>
                </a:extLst>
              </a:tr>
              <a:tr h="282536">
                <a:tc>
                  <a:txBody>
                    <a:bodyPr/>
                    <a:lstStyle/>
                    <a:p>
                      <a:pPr algn="ctr">
                        <a:tabLst>
                          <a:tab pos="457200" algn="l"/>
                        </a:tabLst>
                      </a:pPr>
                      <a:r>
                        <a:rPr 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未知类别</a:t>
                      </a:r>
                      <a:endParaRPr 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0.5</a:t>
                      </a:r>
                      <a:endParaRPr lang="zh-CN" sz="2000" b="1">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tabLst>
                          <a:tab pos="457200" algn="l"/>
                        </a:tabLst>
                      </a:pPr>
                      <a:r>
                        <a:rPr lang="en-US"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0.5</a:t>
                      </a:r>
                      <a:endParaRPr 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txBody>
                  <a:tcPr marL="42431" marR="424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9005337"/>
                  </a:ext>
                </a:extLst>
              </a:tr>
            </a:tbl>
          </a:graphicData>
        </a:graphic>
      </p:graphicFrame>
      <p:graphicFrame>
        <p:nvGraphicFramePr>
          <p:cNvPr id="5" name="对象 4">
            <a:extLst>
              <a:ext uri="{FF2B5EF4-FFF2-40B4-BE49-F238E27FC236}">
                <a16:creationId xmlns:a16="http://schemas.microsoft.com/office/drawing/2014/main" id="{D51B7D60-6D08-6F74-9206-B9066033C146}"/>
              </a:ext>
            </a:extLst>
          </p:cNvPr>
          <p:cNvGraphicFramePr>
            <a:graphicFrameLocks noChangeAspect="1"/>
          </p:cNvGraphicFramePr>
          <p:nvPr>
            <p:extLst>
              <p:ext uri="{D42A27DB-BD31-4B8C-83A1-F6EECF244321}">
                <p14:modId xmlns:p14="http://schemas.microsoft.com/office/powerpoint/2010/main" val="421103558"/>
              </p:ext>
            </p:extLst>
          </p:nvPr>
        </p:nvGraphicFramePr>
        <p:xfrm>
          <a:off x="4932040" y="2492728"/>
          <a:ext cx="1656184" cy="323809"/>
        </p:xfrm>
        <a:graphic>
          <a:graphicData uri="http://schemas.openxmlformats.org/presentationml/2006/ole">
            <mc:AlternateContent xmlns:mc="http://schemas.openxmlformats.org/markup-compatibility/2006">
              <mc:Choice xmlns:v="urn:schemas-microsoft-com:vml" Requires="v">
                <p:oleObj name="Equation" r:id="rId3" imgW="1041120" imgH="203040" progId="Equation.DSMT4">
                  <p:embed/>
                </p:oleObj>
              </mc:Choice>
              <mc:Fallback>
                <p:oleObj name="Equation" r:id="rId3" imgW="1041120" imgH="203040" progId="Equation.DSMT4">
                  <p:embed/>
                  <p:pic>
                    <p:nvPicPr>
                      <p:cNvPr id="0" name="Object 2"/>
                      <p:cNvPicPr>
                        <a:picLocks noChangeAspect="1" noChangeArrowheads="1"/>
                      </p:cNvPicPr>
                      <p:nvPr/>
                    </p:nvPicPr>
                    <p:blipFill>
                      <a:blip r:embed="rId4"/>
                      <a:srcRect/>
                      <a:stretch>
                        <a:fillRect/>
                      </a:stretch>
                    </p:blipFill>
                    <p:spPr bwMode="auto">
                      <a:xfrm>
                        <a:off x="4932040" y="2492728"/>
                        <a:ext cx="1656184" cy="323809"/>
                      </a:xfrm>
                      <a:prstGeom prst="rect">
                        <a:avLst/>
                      </a:prstGeom>
                      <a:noFill/>
                    </p:spPr>
                  </p:pic>
                </p:oleObj>
              </mc:Fallback>
            </mc:AlternateContent>
          </a:graphicData>
        </a:graphic>
      </p:graphicFrame>
      <p:graphicFrame>
        <p:nvGraphicFramePr>
          <p:cNvPr id="17" name="对象 16">
            <a:extLst>
              <a:ext uri="{FF2B5EF4-FFF2-40B4-BE49-F238E27FC236}">
                <a16:creationId xmlns:a16="http://schemas.microsoft.com/office/drawing/2014/main" id="{9F452875-52B1-E855-20EF-F13BDBD640A4}"/>
              </a:ext>
            </a:extLst>
          </p:cNvPr>
          <p:cNvGraphicFramePr>
            <a:graphicFrameLocks noChangeAspect="1"/>
          </p:cNvGraphicFramePr>
          <p:nvPr>
            <p:extLst>
              <p:ext uri="{D42A27DB-BD31-4B8C-83A1-F6EECF244321}">
                <p14:modId xmlns:p14="http://schemas.microsoft.com/office/powerpoint/2010/main" val="187969515"/>
              </p:ext>
            </p:extLst>
          </p:nvPr>
        </p:nvGraphicFramePr>
        <p:xfrm>
          <a:off x="1187624" y="3709790"/>
          <a:ext cx="311935" cy="340292"/>
        </p:xfrm>
        <a:graphic>
          <a:graphicData uri="http://schemas.openxmlformats.org/presentationml/2006/ole">
            <mc:AlternateContent xmlns:mc="http://schemas.openxmlformats.org/markup-compatibility/2006">
              <mc:Choice xmlns:v="urn:schemas-microsoft-com:vml" Requires="v">
                <p:oleObj name="Equation" r:id="rId5" imgW="203112" imgH="228501" progId="Equation.DSMT4">
                  <p:embed/>
                </p:oleObj>
              </mc:Choice>
              <mc:Fallback>
                <p:oleObj name="Equation" r:id="rId5" imgW="203112" imgH="228501"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624" y="3709790"/>
                        <a:ext cx="311935" cy="340292"/>
                      </a:xfrm>
                      <a:prstGeom prst="rect">
                        <a:avLst/>
                      </a:prstGeom>
                      <a:noFill/>
                    </p:spPr>
                  </p:pic>
                </p:oleObj>
              </mc:Fallback>
            </mc:AlternateContent>
          </a:graphicData>
        </a:graphic>
      </p:graphicFrame>
      <p:graphicFrame>
        <p:nvGraphicFramePr>
          <p:cNvPr id="35" name="对象 34">
            <a:extLst>
              <a:ext uri="{FF2B5EF4-FFF2-40B4-BE49-F238E27FC236}">
                <a16:creationId xmlns:a16="http://schemas.microsoft.com/office/drawing/2014/main" id="{36550A0F-419B-93CD-98AF-4AD0BA791425}"/>
              </a:ext>
            </a:extLst>
          </p:cNvPr>
          <p:cNvGraphicFramePr>
            <a:graphicFrameLocks noChangeAspect="1"/>
          </p:cNvGraphicFramePr>
          <p:nvPr>
            <p:extLst>
              <p:ext uri="{D42A27DB-BD31-4B8C-83A1-F6EECF244321}">
                <p14:modId xmlns:p14="http://schemas.microsoft.com/office/powerpoint/2010/main" val="131888977"/>
              </p:ext>
            </p:extLst>
          </p:nvPr>
        </p:nvGraphicFramePr>
        <p:xfrm>
          <a:off x="2003343" y="4895667"/>
          <a:ext cx="2052638" cy="676275"/>
        </p:xfrm>
        <a:graphic>
          <a:graphicData uri="http://schemas.openxmlformats.org/presentationml/2006/ole">
            <mc:AlternateContent xmlns:mc="http://schemas.openxmlformats.org/markup-compatibility/2006">
              <mc:Choice xmlns:v="urn:schemas-microsoft-com:vml" Requires="v">
                <p:oleObj name="Equation" r:id="rId7" imgW="1180588" imgH="393529" progId="Equation.DSMT4">
                  <p:embed/>
                </p:oleObj>
              </mc:Choice>
              <mc:Fallback>
                <p:oleObj name="Equation" r:id="rId7" imgW="1180588" imgH="393529" progId="Equation.DSMT4">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3343" y="4895667"/>
                        <a:ext cx="2052638"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 name="对象 35">
            <a:extLst>
              <a:ext uri="{FF2B5EF4-FFF2-40B4-BE49-F238E27FC236}">
                <a16:creationId xmlns:a16="http://schemas.microsoft.com/office/drawing/2014/main" id="{6FB7EC6C-2D09-178B-6E2D-1DC0A5E46BB4}"/>
              </a:ext>
            </a:extLst>
          </p:cNvPr>
          <p:cNvGraphicFramePr>
            <a:graphicFrameLocks noChangeAspect="1"/>
          </p:cNvGraphicFramePr>
          <p:nvPr>
            <p:extLst>
              <p:ext uri="{D42A27DB-BD31-4B8C-83A1-F6EECF244321}">
                <p14:modId xmlns:p14="http://schemas.microsoft.com/office/powerpoint/2010/main" val="3939723870"/>
              </p:ext>
            </p:extLst>
          </p:nvPr>
        </p:nvGraphicFramePr>
        <p:xfrm>
          <a:off x="827584" y="5591019"/>
          <a:ext cx="214313" cy="295275"/>
        </p:xfrm>
        <a:graphic>
          <a:graphicData uri="http://schemas.openxmlformats.org/presentationml/2006/ole">
            <mc:AlternateContent xmlns:mc="http://schemas.openxmlformats.org/markup-compatibility/2006">
              <mc:Choice xmlns:v="urn:schemas-microsoft-com:vml" Requires="v">
                <p:oleObj name="Equation" r:id="rId9" imgW="126725" imgH="177415" progId="Equation.DSMT4">
                  <p:embed/>
                </p:oleObj>
              </mc:Choice>
              <mc:Fallback>
                <p:oleObj name="Equation" r:id="rId9" imgW="126725" imgH="177415" progId="Equation.DSMT4">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584" y="5591019"/>
                        <a:ext cx="214313" cy="295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Rectangle 25">
            <a:extLst>
              <a:ext uri="{FF2B5EF4-FFF2-40B4-BE49-F238E27FC236}">
                <a16:creationId xmlns:a16="http://schemas.microsoft.com/office/drawing/2014/main" id="{7CC6C56F-851B-3B69-7A71-F2B6E0E5A52C}"/>
              </a:ext>
            </a:extLst>
          </p:cNvPr>
          <p:cNvSpPr>
            <a:spLocks noChangeArrowheads="1"/>
          </p:cNvSpPr>
          <p:nvPr/>
        </p:nvSpPr>
        <p:spPr bwMode="auto">
          <a:xfrm>
            <a:off x="956962" y="5524314"/>
            <a:ext cx="23762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04800"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为测试时的室温</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endParaRPr>
          </a:p>
        </p:txBody>
      </p:sp>
      <p:sp>
        <p:nvSpPr>
          <p:cNvPr id="44" name="Rectangle 27">
            <a:extLst>
              <a:ext uri="{FF2B5EF4-FFF2-40B4-BE49-F238E27FC236}">
                <a16:creationId xmlns:a16="http://schemas.microsoft.com/office/drawing/2014/main" id="{88F39988-01B9-6913-DFE2-AFEDC69DDD44}"/>
              </a:ext>
            </a:extLst>
          </p:cNvPr>
          <p:cNvSpPr>
            <a:spLocks noChangeArrowheads="1"/>
          </p:cNvSpPr>
          <p:nvPr/>
        </p:nvSpPr>
        <p:spPr bwMode="auto">
          <a:xfrm>
            <a:off x="755576" y="6074340"/>
            <a:ext cx="31341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假定定子绕组为</a:t>
            </a:r>
            <a:r>
              <a:rPr kumimoji="0" lang="en-US" altLang="zh-CN" sz="20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Y</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联接，则</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aphicFrame>
        <p:nvGraphicFramePr>
          <p:cNvPr id="45" name="对象 44">
            <a:extLst>
              <a:ext uri="{FF2B5EF4-FFF2-40B4-BE49-F238E27FC236}">
                <a16:creationId xmlns:a16="http://schemas.microsoft.com/office/drawing/2014/main" id="{E788745B-105E-CFB3-2D0A-2DE4B42395EE}"/>
              </a:ext>
            </a:extLst>
          </p:cNvPr>
          <p:cNvGraphicFramePr>
            <a:graphicFrameLocks noChangeAspect="1"/>
          </p:cNvGraphicFramePr>
          <p:nvPr>
            <p:extLst>
              <p:ext uri="{D42A27DB-BD31-4B8C-83A1-F6EECF244321}">
                <p14:modId xmlns:p14="http://schemas.microsoft.com/office/powerpoint/2010/main" val="801137718"/>
              </p:ext>
            </p:extLst>
          </p:nvPr>
        </p:nvGraphicFramePr>
        <p:xfrm>
          <a:off x="3850731" y="5964833"/>
          <a:ext cx="776288" cy="619125"/>
        </p:xfrm>
        <a:graphic>
          <a:graphicData uri="http://schemas.openxmlformats.org/presentationml/2006/ole">
            <mc:AlternateContent xmlns:mc="http://schemas.openxmlformats.org/markup-compatibility/2006">
              <mc:Choice xmlns:v="urn:schemas-microsoft-com:vml" Requires="v">
                <p:oleObj name="Equation" r:id="rId11" imgW="482391" imgH="393529" progId="Equation.DSMT4">
                  <p:embed/>
                </p:oleObj>
              </mc:Choice>
              <mc:Fallback>
                <p:oleObj name="Equation" r:id="rId11" imgW="482391" imgH="393529" progId="Equation.DSMT4">
                  <p:embed/>
                  <p:pic>
                    <p:nvPicPr>
                      <p:cNvPr id="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50731" y="5964833"/>
                        <a:ext cx="776288"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1234" name="Picture 34">
            <a:extLst>
              <a:ext uri="{FF2B5EF4-FFF2-40B4-BE49-F238E27FC236}">
                <a16:creationId xmlns:a16="http://schemas.microsoft.com/office/drawing/2014/main" id="{D747C4F4-7ADD-82F7-208E-5BA447FC6630}"/>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435639" y="4470114"/>
            <a:ext cx="3098565" cy="220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1" name="Picture 1">
            <a:extLst>
              <a:ext uri="{FF2B5EF4-FFF2-40B4-BE49-F238E27FC236}">
                <a16:creationId xmlns:a16="http://schemas.microsoft.com/office/drawing/2014/main" id="{A10520C7-719D-6FEF-EE60-EADD8F71E2CC}"/>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0"/>
            <a:ext cx="1781175" cy="371475"/>
          </a:xfrm>
          <a:prstGeom prst="rect">
            <a:avLst/>
          </a:prstGeom>
          <a:noFill/>
          <a:extLst>
            <a:ext uri="{909E8E84-426E-40DD-AFC4-6F175D3DCCD1}">
              <a14:hiddenFill xmlns:a14="http://schemas.microsoft.com/office/drawing/2010/main">
                <a:solidFill>
                  <a:srgbClr val="FFFFFF"/>
                </a:solidFill>
              </a14:hiddenFill>
            </a:ext>
          </a:extLst>
        </p:spPr>
      </p:pic>
      <p:sp>
        <p:nvSpPr>
          <p:cNvPr id="3" name="灯片编号占位符 2">
            <a:extLst>
              <a:ext uri="{FF2B5EF4-FFF2-40B4-BE49-F238E27FC236}">
                <a16:creationId xmlns:a16="http://schemas.microsoft.com/office/drawing/2014/main" id="{6FF79862-9493-2E86-7557-522261F77B5E}"/>
              </a:ext>
            </a:extLst>
          </p:cNvPr>
          <p:cNvSpPr>
            <a:spLocks noGrp="1"/>
          </p:cNvSpPr>
          <p:nvPr>
            <p:ph type="sldNum" sz="quarter" idx="12"/>
          </p:nvPr>
        </p:nvSpPr>
        <p:spPr/>
        <p:txBody>
          <a:bodyPr/>
          <a:lstStyle/>
          <a:p>
            <a:fld id="{76D830B0-DF59-4281-898F-AF208100B213}" type="slidenum">
              <a:rPr lang="en-US" altLang="zh-CN" smtClean="0"/>
              <a:pPr/>
              <a:t>111</a:t>
            </a:fld>
            <a:endParaRPr lang="en-US" altLang="zh-CN"/>
          </a:p>
        </p:txBody>
      </p:sp>
    </p:spTree>
    <p:extLst>
      <p:ext uri="{BB962C8B-B14F-4D97-AF65-F5344CB8AC3E}">
        <p14:creationId xmlns:p14="http://schemas.microsoft.com/office/powerpoint/2010/main" val="386671005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508DF76-3258-E1B9-1C4A-6121B41B6C3A}"/>
              </a:ext>
            </a:extLst>
          </p:cNvPr>
          <p:cNvSpPr txBox="1"/>
          <p:nvPr/>
        </p:nvSpPr>
        <p:spPr>
          <a:xfrm>
            <a:off x="539552" y="1351508"/>
            <a:ext cx="7848872" cy="4645502"/>
          </a:xfrm>
          <a:prstGeom prst="rect">
            <a:avLst/>
          </a:prstGeom>
          <a:noFill/>
        </p:spPr>
        <p:txBody>
          <a:bodyPr wrap="square">
            <a:spAutoFit/>
          </a:bodyPr>
          <a:lstStyle/>
          <a:p>
            <a:pPr algn="just">
              <a:lnSpc>
                <a:spcPct val="125000"/>
              </a:lnSpc>
              <a:tabLst>
                <a:tab pos="457200" algn="l"/>
              </a:tabLst>
            </a:pPr>
            <a:r>
              <a:rPr lang="zh-CN"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【讨论】</a:t>
            </a:r>
            <a:endParaRPr lang="en-US"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endParaRPr>
          </a:p>
          <a:p>
            <a:pPr algn="just">
              <a:lnSpc>
                <a:spcPct val="125000"/>
              </a:lnSpc>
              <a:tabLst>
                <a:tab pos="457200" algn="l"/>
              </a:tabLst>
            </a:pPr>
            <a:r>
              <a:rPr lang="en-US" altLang="zh-CN" sz="2400" b="1" dirty="0">
                <a:effectLst/>
                <a:latin typeface="宋体" panose="02010600030101010101" pitchFamily="2" charset="-122"/>
                <a:ea typeface="黑体" panose="02010609060101010101" pitchFamily="49" charset="-122"/>
                <a:cs typeface="Times New Roman" panose="02020603050405020304" pitchFamily="18" charset="0"/>
              </a:rPr>
              <a:t>1</a:t>
            </a:r>
            <a:r>
              <a:rPr lang="zh-CN" altLang="zh-CN" sz="2400" b="1" dirty="0">
                <a:effectLst/>
                <a:latin typeface="宋体" panose="02010600030101010101" pitchFamily="2" charset="-122"/>
                <a:ea typeface="黑体" panose="02010609060101010101" pitchFamily="49" charset="-122"/>
                <a:cs typeface="Times New Roman" panose="02020603050405020304" pitchFamily="18" charset="0"/>
              </a:rPr>
              <a:t>、采用直流伏安法测定的定子电阻值还不能完全反映电机实际运行时的定子电阻值。因为它忽略了电机交流运行时绕组导体的趋肤效应。</a:t>
            </a:r>
            <a:endParaRPr lang="en-US" altLang="zh-CN" sz="2400" b="1" dirty="0">
              <a:latin typeface="宋体" panose="02010600030101010101" pitchFamily="2" charset="-122"/>
              <a:cs typeface="Times New Roman" panose="02020603050405020304" pitchFamily="18" charset="0"/>
            </a:endParaRPr>
          </a:p>
          <a:p>
            <a:pPr algn="just">
              <a:lnSpc>
                <a:spcPct val="125000"/>
              </a:lnSpc>
              <a:tabLst>
                <a:tab pos="457200" algn="l"/>
              </a:tabLst>
            </a:pPr>
            <a:r>
              <a:rPr lang="en-US" altLang="zh-CN" sz="2400" b="1" dirty="0">
                <a:latin typeface="宋体" panose="02010600030101010101" pitchFamily="2" charset="-122"/>
                <a:ea typeface="黑体" panose="02010609060101010101" pitchFamily="49" charset="-122"/>
                <a:cs typeface="Times New Roman" panose="02020603050405020304" pitchFamily="18" charset="0"/>
              </a:rPr>
              <a:t>2</a:t>
            </a:r>
            <a:r>
              <a:rPr lang="zh-CN" altLang="en-US" sz="2400" b="1" dirty="0">
                <a:latin typeface="宋体" panose="02010600030101010101" pitchFamily="2" charset="-122"/>
                <a:ea typeface="黑体" panose="02010609060101010101" pitchFamily="49" charset="-122"/>
                <a:cs typeface="Times New Roman" panose="02020603050405020304" pitchFamily="18" charset="0"/>
              </a:rPr>
              <a:t>、</a:t>
            </a:r>
            <a:r>
              <a:rPr lang="zh-CN" altLang="zh-CN" sz="2400" b="1" dirty="0">
                <a:effectLst/>
                <a:latin typeface="宋体" panose="02010600030101010101" pitchFamily="2" charset="-122"/>
                <a:ea typeface="黑体" panose="02010609060101010101" pitchFamily="49" charset="-122"/>
                <a:cs typeface="Times New Roman" panose="02020603050405020304" pitchFamily="18" charset="0"/>
              </a:rPr>
              <a:t>堵转实验时，定转子都运行在额定频率下，而实际电机运行时，转子电势、电流频率很低，因此堵转实验测定的转子电阻数值因趋肤效应影响与实际电机运行时的阻值存在一定误差。</a:t>
            </a:r>
            <a:endParaRPr lang="zh-CN" altLang="en-US" sz="2400" b="1" dirty="0">
              <a:effectLst/>
              <a:latin typeface="宋体" panose="02010600030101010101" pitchFamily="2" charset="-122"/>
              <a:ea typeface="黑体" panose="02010609060101010101" pitchFamily="49" charset="-122"/>
              <a:cs typeface="Times New Roman" panose="02020603050405020304" pitchFamily="18" charset="0"/>
            </a:endParaRPr>
          </a:p>
          <a:p>
            <a:pPr algn="just">
              <a:lnSpc>
                <a:spcPct val="125000"/>
              </a:lnSpc>
            </a:pPr>
            <a:r>
              <a:rPr lang="en-US" altLang="zh-CN" sz="2400" b="1" dirty="0">
                <a:effectLst/>
                <a:latin typeface="宋体" panose="02010600030101010101" pitchFamily="2" charset="-122"/>
                <a:ea typeface="黑体" panose="02010609060101010101" pitchFamily="49" charset="-122"/>
                <a:cs typeface="Times New Roman" panose="02020603050405020304" pitchFamily="18" charset="0"/>
              </a:rPr>
              <a:t>    </a:t>
            </a:r>
            <a:r>
              <a:rPr lang="zh-CN" altLang="zh-CN" sz="2400" b="1" dirty="0">
                <a:effectLst/>
                <a:latin typeface="宋体" panose="02010600030101010101" pitchFamily="2" charset="-122"/>
                <a:ea typeface="黑体" panose="02010609060101010101" pitchFamily="49" charset="-122"/>
                <a:cs typeface="Times New Roman" panose="02020603050405020304" pitchFamily="18" charset="0"/>
              </a:rPr>
              <a:t>因电机参数对运行有较大影响，近年来</a:t>
            </a:r>
            <a:r>
              <a:rPr lang="zh-CN" altLang="zh-CN" sz="2400" b="1" dirty="0">
                <a:solidFill>
                  <a:srgbClr val="FF0000"/>
                </a:solidFill>
                <a:effectLst/>
                <a:latin typeface="宋体" panose="02010600030101010101" pitchFamily="2" charset="-122"/>
                <a:ea typeface="黑体" panose="02010609060101010101" pitchFamily="49" charset="-122"/>
                <a:cs typeface="Times New Roman" panose="02020603050405020304" pitchFamily="18" charset="0"/>
              </a:rPr>
              <a:t>交流电机的定转子参数在线辨识</a:t>
            </a:r>
            <a:r>
              <a:rPr lang="zh-CN" altLang="zh-CN" sz="2400" b="1"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成为研究的一个热点。</a:t>
            </a:r>
            <a:endParaRPr lang="zh-CN" altLang="zh-CN" sz="24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A858D65-3BEA-F297-BA1C-B32AC28F3637}"/>
              </a:ext>
            </a:extLst>
          </p:cNvPr>
          <p:cNvSpPr>
            <a:spLocks noGrp="1"/>
          </p:cNvSpPr>
          <p:nvPr>
            <p:ph type="sldNum" sz="quarter" idx="12"/>
          </p:nvPr>
        </p:nvSpPr>
        <p:spPr/>
        <p:txBody>
          <a:bodyPr/>
          <a:lstStyle/>
          <a:p>
            <a:fld id="{76D830B0-DF59-4281-898F-AF208100B213}" type="slidenum">
              <a:rPr lang="en-US" altLang="zh-CN" smtClean="0"/>
              <a:pPr/>
              <a:t>112</a:t>
            </a:fld>
            <a:endParaRPr lang="en-US" altLang="zh-CN"/>
          </a:p>
        </p:txBody>
      </p:sp>
    </p:spTree>
    <p:extLst>
      <p:ext uri="{BB962C8B-B14F-4D97-AF65-F5344CB8AC3E}">
        <p14:creationId xmlns:p14="http://schemas.microsoft.com/office/powerpoint/2010/main" val="57410806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13">
            <a:extLst>
              <a:ext uri="{FF2B5EF4-FFF2-40B4-BE49-F238E27FC236}">
                <a16:creationId xmlns:a16="http://schemas.microsoft.com/office/drawing/2014/main" id="{E5FEE9F6-17A4-06D2-37FB-4BD57A9BEFF5}"/>
              </a:ext>
            </a:extLst>
          </p:cNvPr>
          <p:cNvSpPr>
            <a:spLocks noChangeArrowheads="1"/>
          </p:cNvSpPr>
          <p:nvPr/>
        </p:nvSpPr>
        <p:spPr bwMode="auto">
          <a:xfrm>
            <a:off x="826211" y="1893091"/>
            <a:ext cx="633807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空载、</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开始逐渐降低，直到电动机转速有明显下降为止；</a:t>
            </a:r>
            <a:endPar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记录   、  、三相输入总功率   。</a:t>
            </a:r>
            <a:endParaRPr lang="zh-CN"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3" name="Rectangle 2">
            <a:extLst>
              <a:ext uri="{FF2B5EF4-FFF2-40B4-BE49-F238E27FC236}">
                <a16:creationId xmlns:a16="http://schemas.microsoft.com/office/drawing/2014/main" id="{788497AD-CCA1-E91A-DF0F-C2387C029A02}"/>
              </a:ext>
            </a:extLst>
          </p:cNvPr>
          <p:cNvSpPr>
            <a:spLocks noChangeArrowheads="1"/>
          </p:cNvSpPr>
          <p:nvPr/>
        </p:nvSpPr>
        <p:spPr bwMode="auto">
          <a:xfrm>
            <a:off x="516220" y="1025352"/>
            <a:ext cx="75841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二</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、空载试验</a:t>
            </a:r>
            <a:r>
              <a:rPr kumimoji="0" lang="en-US" altLang="zh-CN" sz="2400" b="1" i="0" u="none" strike="noStrike" cap="none" normalizeH="0" baseline="0" dirty="0">
                <a:ln>
                  <a:noFill/>
                </a:ln>
                <a:solidFill>
                  <a:srgbClr val="0000FF"/>
                </a:solidFill>
                <a:effectLst/>
                <a:latin typeface="宋体" panose="02010600030101010101" pitchFamily="2" charset="-122"/>
                <a:ea typeface="宋体" panose="02010600030101010101" pitchFamily="2" charset="-122"/>
                <a:cs typeface="Times New Roman" panose="02020603050405020304" pitchFamily="18" charset="0"/>
              </a:rPr>
              <a:t>[No-load test](</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测定</a:t>
            </a:r>
            <a:r>
              <a:rPr kumimoji="0" lang="zh-CN" altLang="en-US" sz="400" b="0" i="0" u="none" strike="noStrike" cap="none" normalizeH="0" baseline="0" dirty="0">
                <a:ln>
                  <a:noFill/>
                </a:ln>
                <a:solidFill>
                  <a:schemeClr val="tx1"/>
                </a:solidFill>
                <a:effectLst/>
              </a:rPr>
              <a:t> </a:t>
            </a:r>
            <a:r>
              <a:rPr kumimoji="0" lang="zh-CN" altLang="en-US"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en-US" altLang="zh-CN" sz="24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A7356C48-08D9-0A5F-99CF-BB579531A084}"/>
              </a:ext>
            </a:extLst>
          </p:cNvPr>
          <p:cNvSpPr>
            <a:spLocks noChangeArrowheads="1"/>
          </p:cNvSpPr>
          <p:nvPr/>
        </p:nvSpPr>
        <p:spPr bwMode="auto">
          <a:xfrm>
            <a:off x="971600" y="1387624"/>
            <a:ext cx="448163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306388" algn="l" defTabSz="914400" rtl="0" eaLnBrk="0" fontAlgn="base" latinLnBrk="0" hangingPunct="0">
              <a:lnSpc>
                <a:spcPct val="100000"/>
              </a:lnSpc>
              <a:spcBef>
                <a:spcPct val="0"/>
              </a:spcBef>
              <a:spcAft>
                <a:spcPct val="0"/>
              </a:spcAft>
              <a:buClrTx/>
              <a:buSzTx/>
              <a:buFontTx/>
              <a:buNone/>
              <a:tabLst>
                <a:tab pos="457200" algn="l"/>
              </a:tabLst>
            </a:pPr>
            <a:r>
              <a:rPr kumimoji="0" lang="zh-CN"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〖等值电路参数为</a:t>
            </a:r>
            <a:r>
              <a:rPr kumimoji="0" lang="en-US" altLang="zh-CN" sz="2400" b="1" i="0" u="none" strike="noStrike" cap="none" normalizeH="0" baseline="0" dirty="0">
                <a:ln>
                  <a:noFill/>
                </a:ln>
                <a:solidFill>
                  <a:srgbClr val="FF0000"/>
                </a:solidFill>
                <a:effectLst/>
                <a:latin typeface="宋体" panose="02010600030101010101" pitchFamily="2" charset="-122"/>
                <a:ea typeface="黑体" panose="02010609060101010101" pitchFamily="49" charset="-122"/>
                <a:cs typeface="Times New Roman" panose="02020603050405020304" pitchFamily="18" charset="0"/>
              </a:rPr>
              <a:t>1</a:t>
            </a:r>
            <a:r>
              <a:rPr kumimoji="0" lang="zh-CN" altLang="en-US"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相参数</a:t>
            </a:r>
            <a:r>
              <a:rPr kumimoji="0" lang="en-US" altLang="zh-CN" sz="2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p:txBody>
      </p:sp>
      <p:graphicFrame>
        <p:nvGraphicFramePr>
          <p:cNvPr id="10" name="对象 9">
            <a:extLst>
              <a:ext uri="{FF2B5EF4-FFF2-40B4-BE49-F238E27FC236}">
                <a16:creationId xmlns:a16="http://schemas.microsoft.com/office/drawing/2014/main" id="{DF142C34-A575-D761-4220-BAC5F911CEC0}"/>
              </a:ext>
            </a:extLst>
          </p:cNvPr>
          <p:cNvGraphicFramePr>
            <a:graphicFrameLocks noChangeAspect="1"/>
          </p:cNvGraphicFramePr>
          <p:nvPr>
            <p:extLst>
              <p:ext uri="{D42A27DB-BD31-4B8C-83A1-F6EECF244321}">
                <p14:modId xmlns:p14="http://schemas.microsoft.com/office/powerpoint/2010/main" val="2632993296"/>
              </p:ext>
            </p:extLst>
          </p:nvPr>
        </p:nvGraphicFramePr>
        <p:xfrm>
          <a:off x="5724128" y="1063154"/>
          <a:ext cx="1843088" cy="423863"/>
        </p:xfrm>
        <a:graphic>
          <a:graphicData uri="http://schemas.openxmlformats.org/presentationml/2006/ole">
            <mc:AlternateContent xmlns:mc="http://schemas.openxmlformats.org/markup-compatibility/2006">
              <mc:Choice xmlns:v="urn:schemas-microsoft-com:vml" Requires="v">
                <p:oleObj name="Equation" r:id="rId3" imgW="990600" imgH="228600" progId="Equation.DSMT4">
                  <p:embed/>
                </p:oleObj>
              </mc:Choice>
              <mc:Fallback>
                <p:oleObj name="Equation" r:id="rId3" imgW="990600" imgH="228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1063154"/>
                        <a:ext cx="1843088"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a:extLst>
              <a:ext uri="{FF2B5EF4-FFF2-40B4-BE49-F238E27FC236}">
                <a16:creationId xmlns:a16="http://schemas.microsoft.com/office/drawing/2014/main" id="{0F052D15-B847-6BAD-F852-EBCB70237653}"/>
              </a:ext>
            </a:extLst>
          </p:cNvPr>
          <p:cNvGraphicFramePr>
            <a:graphicFrameLocks noChangeAspect="1"/>
          </p:cNvGraphicFramePr>
          <p:nvPr>
            <p:extLst>
              <p:ext uri="{D42A27DB-BD31-4B8C-83A1-F6EECF244321}">
                <p14:modId xmlns:p14="http://schemas.microsoft.com/office/powerpoint/2010/main" val="2904580813"/>
              </p:ext>
            </p:extLst>
          </p:nvPr>
        </p:nvGraphicFramePr>
        <p:xfrm>
          <a:off x="7191515" y="1387624"/>
          <a:ext cx="1536680" cy="1991866"/>
        </p:xfrm>
        <a:graphic>
          <a:graphicData uri="http://schemas.openxmlformats.org/presentationml/2006/ole">
            <mc:AlternateContent xmlns:mc="http://schemas.openxmlformats.org/markup-compatibility/2006">
              <mc:Choice xmlns:v="urn:schemas-microsoft-com:vml" Requires="v">
                <p:oleObj r:id="rId5" imgW="1106640" imgH="1440000" progId="">
                  <p:embed/>
                </p:oleObj>
              </mc:Choice>
              <mc:Fallback>
                <p:oleObj r:id="rId5" imgW="1106640" imgH="1440000" progId="">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91515" y="1387624"/>
                        <a:ext cx="1536680" cy="1991866"/>
                      </a:xfrm>
                      <a:prstGeom prst="rect">
                        <a:avLst/>
                      </a:prstGeom>
                      <a:noFill/>
                      <a:ln>
                        <a:noFill/>
                      </a:ln>
                    </p:spPr>
                  </p:pic>
                </p:oleObj>
              </mc:Fallback>
            </mc:AlternateContent>
          </a:graphicData>
        </a:graphic>
      </p:graphicFrame>
      <p:graphicFrame>
        <p:nvGraphicFramePr>
          <p:cNvPr id="14" name="对象 13">
            <a:extLst>
              <a:ext uri="{FF2B5EF4-FFF2-40B4-BE49-F238E27FC236}">
                <a16:creationId xmlns:a16="http://schemas.microsoft.com/office/drawing/2014/main" id="{66419C5B-7362-9276-76D7-3F408CA2547D}"/>
              </a:ext>
            </a:extLst>
          </p:cNvPr>
          <p:cNvGraphicFramePr>
            <a:graphicFrameLocks noChangeAspect="1"/>
          </p:cNvGraphicFramePr>
          <p:nvPr>
            <p:extLst>
              <p:ext uri="{D42A27DB-BD31-4B8C-83A1-F6EECF244321}">
                <p14:modId xmlns:p14="http://schemas.microsoft.com/office/powerpoint/2010/main" val="2824353308"/>
              </p:ext>
            </p:extLst>
          </p:nvPr>
        </p:nvGraphicFramePr>
        <p:xfrm>
          <a:off x="1890977" y="1949566"/>
          <a:ext cx="1257300" cy="376238"/>
        </p:xfrm>
        <a:graphic>
          <a:graphicData uri="http://schemas.openxmlformats.org/presentationml/2006/ole">
            <mc:AlternateContent xmlns:mc="http://schemas.openxmlformats.org/markup-compatibility/2006">
              <mc:Choice xmlns:v="urn:schemas-microsoft-com:vml" Requires="v">
                <p:oleObj name="Equation" r:id="rId7" imgW="749300" imgH="228600" progId="Equation.DSMT4">
                  <p:embed/>
                </p:oleObj>
              </mc:Choice>
              <mc:Fallback>
                <p:oleObj name="Equation" r:id="rId7" imgW="749300" imgH="228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0977" y="1949566"/>
                        <a:ext cx="1257300"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a:extLst>
              <a:ext uri="{FF2B5EF4-FFF2-40B4-BE49-F238E27FC236}">
                <a16:creationId xmlns:a16="http://schemas.microsoft.com/office/drawing/2014/main" id="{34794E0B-7202-EF8F-23B7-36B9832B59D8}"/>
              </a:ext>
            </a:extLst>
          </p:cNvPr>
          <p:cNvGraphicFramePr>
            <a:graphicFrameLocks noChangeAspect="1"/>
          </p:cNvGraphicFramePr>
          <p:nvPr>
            <p:extLst>
              <p:ext uri="{D42A27DB-BD31-4B8C-83A1-F6EECF244321}">
                <p14:modId xmlns:p14="http://schemas.microsoft.com/office/powerpoint/2010/main" val="1175286575"/>
              </p:ext>
            </p:extLst>
          </p:nvPr>
        </p:nvGraphicFramePr>
        <p:xfrm>
          <a:off x="1746961" y="2530394"/>
          <a:ext cx="441699" cy="360040"/>
        </p:xfrm>
        <a:graphic>
          <a:graphicData uri="http://schemas.openxmlformats.org/presentationml/2006/ole">
            <mc:AlternateContent xmlns:mc="http://schemas.openxmlformats.org/markup-compatibility/2006">
              <mc:Choice xmlns:v="urn:schemas-microsoft-com:vml" Requires="v">
                <p:oleObj name="Equation" r:id="rId9" imgW="266584" imgH="228501" progId="Equation.DSMT4">
                  <p:embed/>
                </p:oleObj>
              </mc:Choice>
              <mc:Fallback>
                <p:oleObj name="Equation" r:id="rId9" imgW="266584" imgH="228501"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46961" y="2530394"/>
                        <a:ext cx="441699" cy="360040"/>
                      </a:xfrm>
                      <a:prstGeom prst="rect">
                        <a:avLst/>
                      </a:prstGeom>
                      <a:noFill/>
                    </p:spPr>
                  </p:pic>
                </p:oleObj>
              </mc:Fallback>
            </mc:AlternateContent>
          </a:graphicData>
        </a:graphic>
      </p:graphicFrame>
      <p:graphicFrame>
        <p:nvGraphicFramePr>
          <p:cNvPr id="16" name="对象 15">
            <a:extLst>
              <a:ext uri="{FF2B5EF4-FFF2-40B4-BE49-F238E27FC236}">
                <a16:creationId xmlns:a16="http://schemas.microsoft.com/office/drawing/2014/main" id="{DADB9D0E-CFB3-2780-1394-B215120DA407}"/>
              </a:ext>
            </a:extLst>
          </p:cNvPr>
          <p:cNvGraphicFramePr>
            <a:graphicFrameLocks noChangeAspect="1"/>
          </p:cNvGraphicFramePr>
          <p:nvPr>
            <p:extLst>
              <p:ext uri="{D42A27DB-BD31-4B8C-83A1-F6EECF244321}">
                <p14:modId xmlns:p14="http://schemas.microsoft.com/office/powerpoint/2010/main" val="565396804"/>
              </p:ext>
            </p:extLst>
          </p:nvPr>
        </p:nvGraphicFramePr>
        <p:xfrm>
          <a:off x="2263954" y="2506613"/>
          <a:ext cx="360040" cy="418331"/>
        </p:xfrm>
        <a:graphic>
          <a:graphicData uri="http://schemas.openxmlformats.org/presentationml/2006/ole">
            <mc:AlternateContent xmlns:mc="http://schemas.openxmlformats.org/markup-compatibility/2006">
              <mc:Choice xmlns:v="urn:schemas-microsoft-com:vml" Requires="v">
                <p:oleObj name="Equation" r:id="rId11" imgW="190500" imgH="228600" progId="Equation.DSMT4">
                  <p:embed/>
                </p:oleObj>
              </mc:Choice>
              <mc:Fallback>
                <p:oleObj name="Equation" r:id="rId11" imgW="190500" imgH="2286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63954" y="2506613"/>
                        <a:ext cx="360040" cy="418331"/>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D6A2B4C0-C032-9B45-3247-C814DF3AC8A3}"/>
              </a:ext>
            </a:extLst>
          </p:cNvPr>
          <p:cNvGraphicFramePr>
            <a:graphicFrameLocks noChangeAspect="1"/>
          </p:cNvGraphicFramePr>
          <p:nvPr>
            <p:extLst>
              <p:ext uri="{D42A27DB-BD31-4B8C-83A1-F6EECF244321}">
                <p14:modId xmlns:p14="http://schemas.microsoft.com/office/powerpoint/2010/main" val="3934997126"/>
              </p:ext>
            </p:extLst>
          </p:nvPr>
        </p:nvGraphicFramePr>
        <p:xfrm>
          <a:off x="4695756" y="2514621"/>
          <a:ext cx="363573" cy="392494"/>
        </p:xfrm>
        <a:graphic>
          <a:graphicData uri="http://schemas.openxmlformats.org/presentationml/2006/ole">
            <mc:AlternateContent xmlns:mc="http://schemas.openxmlformats.org/markup-compatibility/2006">
              <mc:Choice xmlns:v="urn:schemas-microsoft-com:vml" Requires="v">
                <p:oleObj name="Equation" r:id="rId13" imgW="203112" imgH="228501" progId="Equation.DSMT4">
                  <p:embed/>
                </p:oleObj>
              </mc:Choice>
              <mc:Fallback>
                <p:oleObj name="Equation" r:id="rId13" imgW="203112" imgH="228501"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95756" y="2514621"/>
                        <a:ext cx="363573" cy="392494"/>
                      </a:xfrm>
                      <a:prstGeom prst="rect">
                        <a:avLst/>
                      </a:prstGeom>
                      <a:noFill/>
                    </p:spPr>
                  </p:pic>
                </p:oleObj>
              </mc:Fallback>
            </mc:AlternateContent>
          </a:graphicData>
        </a:graphic>
      </p:graphicFrame>
      <p:sp>
        <p:nvSpPr>
          <p:cNvPr id="28" name="Rectangle 19">
            <a:extLst>
              <a:ext uri="{FF2B5EF4-FFF2-40B4-BE49-F238E27FC236}">
                <a16:creationId xmlns:a16="http://schemas.microsoft.com/office/drawing/2014/main" id="{4C37DB3E-F018-5FB1-4D7E-636E3AEC0688}"/>
              </a:ext>
            </a:extLst>
          </p:cNvPr>
          <p:cNvSpPr>
            <a:spLocks noChangeArrowheads="1"/>
          </p:cNvSpPr>
          <p:nvPr/>
        </p:nvSpPr>
        <p:spPr bwMode="auto">
          <a:xfrm>
            <a:off x="683568" y="3441194"/>
            <a:ext cx="80766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异步机空载时，转差率</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，输入电功率用于定子铜耗、铁耗、风摩损耗和附加损耗</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得：</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graphicFrame>
        <p:nvGraphicFramePr>
          <p:cNvPr id="29" name="对象 28">
            <a:extLst>
              <a:ext uri="{FF2B5EF4-FFF2-40B4-BE49-F238E27FC236}">
                <a16:creationId xmlns:a16="http://schemas.microsoft.com/office/drawing/2014/main" id="{7AD27B42-B32A-2A8B-6FDE-43AD787219C5}"/>
              </a:ext>
            </a:extLst>
          </p:cNvPr>
          <p:cNvGraphicFramePr>
            <a:graphicFrameLocks noChangeAspect="1"/>
          </p:cNvGraphicFramePr>
          <p:nvPr>
            <p:extLst>
              <p:ext uri="{D42A27DB-BD31-4B8C-83A1-F6EECF244321}">
                <p14:modId xmlns:p14="http://schemas.microsoft.com/office/powerpoint/2010/main" val="2376465320"/>
              </p:ext>
            </p:extLst>
          </p:nvPr>
        </p:nvGraphicFramePr>
        <p:xfrm>
          <a:off x="3857861" y="3428403"/>
          <a:ext cx="1362211" cy="422755"/>
        </p:xfrm>
        <a:graphic>
          <a:graphicData uri="http://schemas.openxmlformats.org/presentationml/2006/ole">
            <mc:AlternateContent xmlns:mc="http://schemas.openxmlformats.org/markup-compatibility/2006">
              <mc:Choice xmlns:v="urn:schemas-microsoft-com:vml" Requires="v">
                <p:oleObj name="Equation" r:id="rId15" imgW="749300" imgH="228600" progId="Equation.DSMT4">
                  <p:embed/>
                </p:oleObj>
              </mc:Choice>
              <mc:Fallback>
                <p:oleObj name="Equation" r:id="rId15" imgW="749300" imgH="228600" progId="Equation.DSMT4">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57861" y="3428403"/>
                        <a:ext cx="1362211" cy="422755"/>
                      </a:xfrm>
                      <a:prstGeom prst="rect">
                        <a:avLst/>
                      </a:prstGeom>
                      <a:noFill/>
                    </p:spPr>
                  </p:pic>
                </p:oleObj>
              </mc:Fallback>
            </mc:AlternateContent>
          </a:graphicData>
        </a:graphic>
      </p:graphicFrame>
      <p:graphicFrame>
        <p:nvGraphicFramePr>
          <p:cNvPr id="32" name="对象 31">
            <a:extLst>
              <a:ext uri="{FF2B5EF4-FFF2-40B4-BE49-F238E27FC236}">
                <a16:creationId xmlns:a16="http://schemas.microsoft.com/office/drawing/2014/main" id="{6767B0D4-237C-B8BD-0875-E9E3E164B346}"/>
              </a:ext>
            </a:extLst>
          </p:cNvPr>
          <p:cNvGraphicFramePr>
            <a:graphicFrameLocks noChangeAspect="1"/>
          </p:cNvGraphicFramePr>
          <p:nvPr>
            <p:extLst>
              <p:ext uri="{D42A27DB-BD31-4B8C-83A1-F6EECF244321}">
                <p14:modId xmlns:p14="http://schemas.microsoft.com/office/powerpoint/2010/main" val="1334160306"/>
              </p:ext>
            </p:extLst>
          </p:nvPr>
        </p:nvGraphicFramePr>
        <p:xfrm>
          <a:off x="2810888" y="4127112"/>
          <a:ext cx="3067305" cy="480592"/>
        </p:xfrm>
        <a:graphic>
          <a:graphicData uri="http://schemas.openxmlformats.org/presentationml/2006/ole">
            <mc:AlternateContent xmlns:mc="http://schemas.openxmlformats.org/markup-compatibility/2006">
              <mc:Choice xmlns:v="urn:schemas-microsoft-com:vml" Requires="v">
                <p:oleObj name="Equation" r:id="rId17" imgW="1511300" imgH="241300" progId="Equation.DSMT4">
                  <p:embed/>
                </p:oleObj>
              </mc:Choice>
              <mc:Fallback>
                <p:oleObj name="Equation" r:id="rId17" imgW="1511300" imgH="241300" progId="Equation.DSMT4">
                  <p:embed/>
                  <p:pic>
                    <p:nvPicPr>
                      <p:cNvPr id="0"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10888" y="4127112"/>
                        <a:ext cx="3067305" cy="480592"/>
                      </a:xfrm>
                      <a:prstGeom prst="rect">
                        <a:avLst/>
                      </a:prstGeom>
                      <a:noFill/>
                    </p:spPr>
                  </p:pic>
                </p:oleObj>
              </mc:Fallback>
            </mc:AlternateContent>
          </a:graphicData>
        </a:graphic>
      </p:graphicFrame>
      <p:sp>
        <p:nvSpPr>
          <p:cNvPr id="33" name="Rectangle 24">
            <a:extLst>
              <a:ext uri="{FF2B5EF4-FFF2-40B4-BE49-F238E27FC236}">
                <a16:creationId xmlns:a16="http://schemas.microsoft.com/office/drawing/2014/main" id="{7E1A785E-04E9-8549-7DAA-7C46E145BC53}"/>
              </a:ext>
            </a:extLst>
          </p:cNvPr>
          <p:cNvSpPr>
            <a:spLocks noChangeArrowheads="1"/>
          </p:cNvSpPr>
          <p:nvPr/>
        </p:nvSpPr>
        <p:spPr bwMode="auto">
          <a:xfrm>
            <a:off x="2076206" y="4758847"/>
            <a:ext cx="14401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即：</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graphicFrame>
        <p:nvGraphicFramePr>
          <p:cNvPr id="34" name="对象 33">
            <a:extLst>
              <a:ext uri="{FF2B5EF4-FFF2-40B4-BE49-F238E27FC236}">
                <a16:creationId xmlns:a16="http://schemas.microsoft.com/office/drawing/2014/main" id="{226F94E7-BE82-96BC-8498-D56FC27D5071}"/>
              </a:ext>
            </a:extLst>
          </p:cNvPr>
          <p:cNvGraphicFramePr>
            <a:graphicFrameLocks noChangeAspect="1"/>
          </p:cNvGraphicFramePr>
          <p:nvPr>
            <p:extLst>
              <p:ext uri="{D42A27DB-BD31-4B8C-83A1-F6EECF244321}">
                <p14:modId xmlns:p14="http://schemas.microsoft.com/office/powerpoint/2010/main" val="4212244067"/>
              </p:ext>
            </p:extLst>
          </p:nvPr>
        </p:nvGraphicFramePr>
        <p:xfrm>
          <a:off x="2810888" y="4716757"/>
          <a:ext cx="3151361" cy="480592"/>
        </p:xfrm>
        <a:graphic>
          <a:graphicData uri="http://schemas.openxmlformats.org/presentationml/2006/ole">
            <mc:AlternateContent xmlns:mc="http://schemas.openxmlformats.org/markup-compatibility/2006">
              <mc:Choice xmlns:v="urn:schemas-microsoft-com:vml" Requires="v">
                <p:oleObj name="Equation" r:id="rId19" imgW="1524000" imgH="241300" progId="Equation.DSMT4">
                  <p:embed/>
                </p:oleObj>
              </mc:Choice>
              <mc:Fallback>
                <p:oleObj name="Equation" r:id="rId19" imgW="1524000" imgH="241300" progId="Equation.DSMT4">
                  <p:embed/>
                  <p:pic>
                    <p:nvPicPr>
                      <p:cNvPr id="0" name="Object 2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10888" y="4716757"/>
                        <a:ext cx="3151361" cy="480592"/>
                      </a:xfrm>
                      <a:prstGeom prst="rect">
                        <a:avLst/>
                      </a:prstGeom>
                      <a:noFill/>
                    </p:spPr>
                  </p:pic>
                </p:oleObj>
              </mc:Fallback>
            </mc:AlternateContent>
          </a:graphicData>
        </a:graphic>
      </p:graphicFrame>
      <p:sp>
        <p:nvSpPr>
          <p:cNvPr id="37" name="文本框 36">
            <a:extLst>
              <a:ext uri="{FF2B5EF4-FFF2-40B4-BE49-F238E27FC236}">
                <a16:creationId xmlns:a16="http://schemas.microsoft.com/office/drawing/2014/main" id="{3E354940-0F13-A365-0F9F-53A2975F390E}"/>
              </a:ext>
            </a:extLst>
          </p:cNvPr>
          <p:cNvSpPr txBox="1"/>
          <p:nvPr/>
        </p:nvSpPr>
        <p:spPr>
          <a:xfrm>
            <a:off x="827585" y="5251541"/>
            <a:ext cx="5976663" cy="1207318"/>
          </a:xfrm>
          <a:prstGeom prst="rect">
            <a:avLst/>
          </a:prstGeom>
          <a:noFill/>
        </p:spPr>
        <p:txBody>
          <a:bodyPr wrap="square">
            <a:spAutoFit/>
          </a:bodyPr>
          <a:lstStyle/>
          <a:p>
            <a:pPr>
              <a:lnSpc>
                <a:spcPct val="125000"/>
              </a:lnSpc>
            </a:pPr>
            <a:r>
              <a:rPr lang="en-US" altLang="zh-CN" sz="20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   </a:t>
            </a:r>
            <a:r>
              <a:rPr lang="zh-CN" altLang="zh-CN" sz="20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因铁耗与磁通密度平方成正比、即与端电压平方成正比</a:t>
            </a:r>
            <a:r>
              <a:rPr lang="en-US" altLang="zh-CN" sz="20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lang="zh-CN" altLang="en-US" sz="200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绘制：                 的关系曲线，</a:t>
            </a:r>
            <a:r>
              <a:rPr lang="zh-CN"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延长交于直轴</a:t>
            </a:r>
            <a:r>
              <a:rPr lang="en-US"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a:t>
            </a:r>
            <a:r>
              <a:rPr lang="en-US" altLang="zh-CN" sz="2000" b="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，过</a:t>
            </a:r>
            <a:r>
              <a:rPr lang="en-US"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0</a:t>
            </a:r>
            <a:r>
              <a:rPr lang="en-US" altLang="zh-CN" sz="2000" b="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zh-CN" sz="20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作水平虚线。</a:t>
            </a:r>
            <a:endParaRPr lang="zh-CN" altLang="zh-CN" sz="24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39" name="对象 38">
            <a:extLst>
              <a:ext uri="{FF2B5EF4-FFF2-40B4-BE49-F238E27FC236}">
                <a16:creationId xmlns:a16="http://schemas.microsoft.com/office/drawing/2014/main" id="{7332EBFC-8B05-4C8E-A594-59253C3034FC}"/>
              </a:ext>
            </a:extLst>
          </p:cNvPr>
          <p:cNvGraphicFramePr>
            <a:graphicFrameLocks noChangeAspect="1"/>
          </p:cNvGraphicFramePr>
          <p:nvPr>
            <p:extLst>
              <p:ext uri="{D42A27DB-BD31-4B8C-83A1-F6EECF244321}">
                <p14:modId xmlns:p14="http://schemas.microsoft.com/office/powerpoint/2010/main" val="344692625"/>
              </p:ext>
            </p:extLst>
          </p:nvPr>
        </p:nvGraphicFramePr>
        <p:xfrm>
          <a:off x="2436178" y="5706907"/>
          <a:ext cx="2259578" cy="408228"/>
        </p:xfrm>
        <a:graphic>
          <a:graphicData uri="http://schemas.openxmlformats.org/presentationml/2006/ole">
            <mc:AlternateContent xmlns:mc="http://schemas.openxmlformats.org/markup-compatibility/2006">
              <mc:Choice xmlns:v="urn:schemas-microsoft-com:vml" Requires="v">
                <p:oleObj name="Equation" r:id="rId21" imgW="1295400" imgH="241300" progId="Equation.DSMT4">
                  <p:embed/>
                </p:oleObj>
              </mc:Choice>
              <mc:Fallback>
                <p:oleObj name="Equation" r:id="rId21" imgW="1295400" imgH="241300" progId="Equation.DSMT4">
                  <p:embed/>
                  <p:pic>
                    <p:nvPicPr>
                      <p:cNvPr id="0" name="Object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36178" y="5706907"/>
                        <a:ext cx="2259578" cy="408228"/>
                      </a:xfrm>
                      <a:prstGeom prst="rect">
                        <a:avLst/>
                      </a:prstGeom>
                      <a:noFill/>
                    </p:spPr>
                  </p:pic>
                </p:oleObj>
              </mc:Fallback>
            </mc:AlternateContent>
          </a:graphicData>
        </a:graphic>
      </p:graphicFrame>
      <p:graphicFrame>
        <p:nvGraphicFramePr>
          <p:cNvPr id="41" name="对象 40">
            <a:extLst>
              <a:ext uri="{FF2B5EF4-FFF2-40B4-BE49-F238E27FC236}">
                <a16:creationId xmlns:a16="http://schemas.microsoft.com/office/drawing/2014/main" id="{076CA008-EDC1-4079-8509-9B1B3AC24AF9}"/>
              </a:ext>
            </a:extLst>
          </p:cNvPr>
          <p:cNvGraphicFramePr>
            <a:graphicFrameLocks noChangeAspect="1"/>
          </p:cNvGraphicFramePr>
          <p:nvPr>
            <p:extLst>
              <p:ext uri="{D42A27DB-BD31-4B8C-83A1-F6EECF244321}">
                <p14:modId xmlns:p14="http://schemas.microsoft.com/office/powerpoint/2010/main" val="2635279601"/>
              </p:ext>
            </p:extLst>
          </p:nvPr>
        </p:nvGraphicFramePr>
        <p:xfrm>
          <a:off x="6911584" y="4367408"/>
          <a:ext cx="1893820" cy="1933674"/>
        </p:xfrm>
        <a:graphic>
          <a:graphicData uri="http://schemas.openxmlformats.org/presentationml/2006/ole">
            <mc:AlternateContent xmlns:mc="http://schemas.openxmlformats.org/markup-compatibility/2006">
              <mc:Choice xmlns:v="urn:schemas-microsoft-com:vml" Requires="v">
                <p:oleObj r:id="rId23" imgW="1177920" imgH="1047600" progId="">
                  <p:embed/>
                </p:oleObj>
              </mc:Choice>
              <mc:Fallback>
                <p:oleObj r:id="rId23" imgW="1177920" imgH="1047600" progId="">
                  <p:embed/>
                  <p:pic>
                    <p:nvPicPr>
                      <p:cNvPr id="0" name="Object 2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911584" y="4367408"/>
                        <a:ext cx="1893820" cy="1933674"/>
                      </a:xfrm>
                      <a:prstGeom prst="rect">
                        <a:avLst/>
                      </a:prstGeom>
                      <a:noFill/>
                      <a:ln>
                        <a:noFill/>
                      </a:ln>
                    </p:spPr>
                  </p:pic>
                </p:oleObj>
              </mc:Fallback>
            </mc:AlternateContent>
          </a:graphicData>
        </a:graphic>
      </p:graphicFrame>
      <p:sp>
        <p:nvSpPr>
          <p:cNvPr id="5" name="灯片编号占位符 4">
            <a:extLst>
              <a:ext uri="{FF2B5EF4-FFF2-40B4-BE49-F238E27FC236}">
                <a16:creationId xmlns:a16="http://schemas.microsoft.com/office/drawing/2014/main" id="{2FCC955C-EC0E-94B4-E52E-1CD340D3A2FB}"/>
              </a:ext>
            </a:extLst>
          </p:cNvPr>
          <p:cNvSpPr>
            <a:spLocks noGrp="1"/>
          </p:cNvSpPr>
          <p:nvPr>
            <p:ph type="sldNum" sz="quarter" idx="12"/>
          </p:nvPr>
        </p:nvSpPr>
        <p:spPr/>
        <p:txBody>
          <a:bodyPr/>
          <a:lstStyle/>
          <a:p>
            <a:fld id="{76D830B0-DF59-4281-898F-AF208100B213}" type="slidenum">
              <a:rPr lang="en-US" altLang="zh-CN" smtClean="0"/>
              <a:pPr/>
              <a:t>113</a:t>
            </a:fld>
            <a:endParaRPr lang="en-US" altLang="zh-CN"/>
          </a:p>
        </p:txBody>
      </p:sp>
    </p:spTree>
    <p:extLst>
      <p:ext uri="{BB962C8B-B14F-4D97-AF65-F5344CB8AC3E}">
        <p14:creationId xmlns:p14="http://schemas.microsoft.com/office/powerpoint/2010/main" val="153242174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FF3C5285-88D5-AF2D-C9C2-6A4D1E1E6C03}"/>
              </a:ext>
            </a:extLst>
          </p:cNvPr>
          <p:cNvSpPr>
            <a:spLocks noChangeArrowheads="1"/>
          </p:cNvSpPr>
          <p:nvPr/>
        </p:nvSpPr>
        <p:spPr bwMode="auto">
          <a:xfrm>
            <a:off x="611560" y="1052736"/>
            <a:ext cx="7717432" cy="808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25000"/>
              </a:lnSpc>
              <a:spcBef>
                <a:spcPct val="0"/>
              </a:spcBef>
              <a:spcAft>
                <a:spcPct val="0"/>
              </a:spcAft>
              <a:buClrTx/>
              <a:buSzTx/>
              <a:buFontTx/>
              <a:buNone/>
              <a:tabLst>
                <a:tab pos="457200" algn="l"/>
              </a:tabLst>
            </a:pP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因风摩损耗仅与转速有关，空载下转速</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，近似为常数，虚线下代表风摩损耗，虚线上部表示对应   大小的铁耗和附加损耗。</a:t>
            </a:r>
          </a:p>
        </p:txBody>
      </p:sp>
      <p:graphicFrame>
        <p:nvGraphicFramePr>
          <p:cNvPr id="2" name="对象 1">
            <a:extLst>
              <a:ext uri="{FF2B5EF4-FFF2-40B4-BE49-F238E27FC236}">
                <a16:creationId xmlns:a16="http://schemas.microsoft.com/office/drawing/2014/main" id="{8BD25397-868B-3AC8-065B-350F51B8E451}"/>
              </a:ext>
            </a:extLst>
          </p:cNvPr>
          <p:cNvGraphicFramePr>
            <a:graphicFrameLocks noChangeAspect="1"/>
          </p:cNvGraphicFramePr>
          <p:nvPr>
            <p:extLst>
              <p:ext uri="{D42A27DB-BD31-4B8C-83A1-F6EECF244321}">
                <p14:modId xmlns:p14="http://schemas.microsoft.com/office/powerpoint/2010/main" val="2691853912"/>
              </p:ext>
            </p:extLst>
          </p:nvPr>
        </p:nvGraphicFramePr>
        <p:xfrm>
          <a:off x="5436096" y="1068883"/>
          <a:ext cx="757238" cy="404813"/>
        </p:xfrm>
        <a:graphic>
          <a:graphicData uri="http://schemas.openxmlformats.org/presentationml/2006/ole">
            <mc:AlternateContent xmlns:mc="http://schemas.openxmlformats.org/markup-compatibility/2006">
              <mc:Choice xmlns:v="urn:schemas-microsoft-com:vml" Requires="v">
                <p:oleObj name="Equation" r:id="rId3" imgW="431613" imgH="228501" progId="Equation.DSMT4">
                  <p:embed/>
                </p:oleObj>
              </mc:Choice>
              <mc:Fallback>
                <p:oleObj name="Equation" r:id="rId3" imgW="431613" imgH="228501"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6096" y="1068883"/>
                        <a:ext cx="757238"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CEADA460-0EEA-5578-1526-F2E1F5BBC715}"/>
              </a:ext>
            </a:extLst>
          </p:cNvPr>
          <p:cNvGraphicFramePr>
            <a:graphicFrameLocks noChangeAspect="1"/>
          </p:cNvGraphicFramePr>
          <p:nvPr>
            <p:extLst>
              <p:ext uri="{D42A27DB-BD31-4B8C-83A1-F6EECF244321}">
                <p14:modId xmlns:p14="http://schemas.microsoft.com/office/powerpoint/2010/main" val="1417186512"/>
              </p:ext>
            </p:extLst>
          </p:nvPr>
        </p:nvGraphicFramePr>
        <p:xfrm>
          <a:off x="4994855" y="1473696"/>
          <a:ext cx="468030" cy="387916"/>
        </p:xfrm>
        <a:graphic>
          <a:graphicData uri="http://schemas.openxmlformats.org/presentationml/2006/ole">
            <mc:AlternateContent xmlns:mc="http://schemas.openxmlformats.org/markup-compatibility/2006">
              <mc:Choice xmlns:v="urn:schemas-microsoft-com:vml" Requires="v">
                <p:oleObj name="Equation" r:id="rId5" imgW="266584" imgH="228501" progId="Equation.DSMT4">
                  <p:embed/>
                </p:oleObj>
              </mc:Choice>
              <mc:Fallback>
                <p:oleObj name="Equation" r:id="rId5" imgW="266584" imgH="228501"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4855" y="1473696"/>
                        <a:ext cx="468030" cy="387916"/>
                      </a:xfrm>
                      <a:prstGeom prst="rect">
                        <a:avLst/>
                      </a:prstGeom>
                      <a:noFill/>
                    </p:spPr>
                  </p:pic>
                </p:oleObj>
              </mc:Fallback>
            </mc:AlternateContent>
          </a:graphicData>
        </a:graphic>
      </p:graphicFrame>
      <p:sp>
        <p:nvSpPr>
          <p:cNvPr id="9" name="Rectangle 7">
            <a:extLst>
              <a:ext uri="{FF2B5EF4-FFF2-40B4-BE49-F238E27FC236}">
                <a16:creationId xmlns:a16="http://schemas.microsoft.com/office/drawing/2014/main" id="{4050E5CC-5C76-2643-9A76-436CEDDA8591}"/>
              </a:ext>
            </a:extLst>
          </p:cNvPr>
          <p:cNvSpPr>
            <a:spLocks noChangeArrowheads="1"/>
          </p:cNvSpPr>
          <p:nvPr/>
        </p:nvSpPr>
        <p:spPr bwMode="auto">
          <a:xfrm>
            <a:off x="971600" y="2100113"/>
            <a:ext cx="5400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由</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曲线，可求得</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graphicFrame>
        <p:nvGraphicFramePr>
          <p:cNvPr id="11" name="对象 10">
            <a:extLst>
              <a:ext uri="{FF2B5EF4-FFF2-40B4-BE49-F238E27FC236}">
                <a16:creationId xmlns:a16="http://schemas.microsoft.com/office/drawing/2014/main" id="{1FE2FD39-56CF-AFCD-4E17-E0F663F41FA2}"/>
              </a:ext>
            </a:extLst>
          </p:cNvPr>
          <p:cNvGraphicFramePr>
            <a:graphicFrameLocks noChangeAspect="1"/>
          </p:cNvGraphicFramePr>
          <p:nvPr>
            <p:extLst>
              <p:ext uri="{D42A27DB-BD31-4B8C-83A1-F6EECF244321}">
                <p14:modId xmlns:p14="http://schemas.microsoft.com/office/powerpoint/2010/main" val="55507868"/>
              </p:ext>
            </p:extLst>
          </p:nvPr>
        </p:nvGraphicFramePr>
        <p:xfrm>
          <a:off x="1331640" y="2118995"/>
          <a:ext cx="1374904" cy="407545"/>
        </p:xfrm>
        <a:graphic>
          <a:graphicData uri="http://schemas.openxmlformats.org/presentationml/2006/ole">
            <mc:AlternateContent xmlns:mc="http://schemas.openxmlformats.org/markup-compatibility/2006">
              <mc:Choice xmlns:v="urn:schemas-microsoft-com:vml" Requires="v">
                <p:oleObj name="Equation" r:id="rId7" imgW="774364" imgH="228501" progId="Equation.DSMT4">
                  <p:embed/>
                </p:oleObj>
              </mc:Choice>
              <mc:Fallback>
                <p:oleObj name="Equation" r:id="rId7" imgW="774364" imgH="228501"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640" y="2118995"/>
                        <a:ext cx="1374904" cy="407545"/>
                      </a:xfrm>
                      <a:prstGeom prst="rect">
                        <a:avLst/>
                      </a:prstGeom>
                      <a:noFill/>
                    </p:spPr>
                  </p:pic>
                </p:oleObj>
              </mc:Fallback>
            </mc:AlternateContent>
          </a:graphicData>
        </a:graphic>
      </p:graphicFrame>
      <p:graphicFrame>
        <p:nvGraphicFramePr>
          <p:cNvPr id="17" name="对象 16">
            <a:extLst>
              <a:ext uri="{FF2B5EF4-FFF2-40B4-BE49-F238E27FC236}">
                <a16:creationId xmlns:a16="http://schemas.microsoft.com/office/drawing/2014/main" id="{64926A49-F82E-A276-6B73-4F3C5840DAC0}"/>
              </a:ext>
            </a:extLst>
          </p:cNvPr>
          <p:cNvGraphicFramePr>
            <a:graphicFrameLocks noChangeAspect="1"/>
          </p:cNvGraphicFramePr>
          <p:nvPr>
            <p:extLst>
              <p:ext uri="{D42A27DB-BD31-4B8C-83A1-F6EECF244321}">
                <p14:modId xmlns:p14="http://schemas.microsoft.com/office/powerpoint/2010/main" val="3072512385"/>
              </p:ext>
            </p:extLst>
          </p:nvPr>
        </p:nvGraphicFramePr>
        <p:xfrm>
          <a:off x="5462885" y="1981248"/>
          <a:ext cx="2341743" cy="2280971"/>
        </p:xfrm>
        <a:graphic>
          <a:graphicData uri="http://schemas.openxmlformats.org/presentationml/2006/ole">
            <mc:AlternateContent xmlns:mc="http://schemas.openxmlformats.org/markup-compatibility/2006">
              <mc:Choice xmlns:v="urn:schemas-microsoft-com:vml" Requires="v">
                <p:oleObj r:id="rId9" imgW="1146240" imgH="1122480" progId="">
                  <p:embed/>
                </p:oleObj>
              </mc:Choice>
              <mc:Fallback>
                <p:oleObj r:id="rId9" imgW="1146240" imgH="1122480" progId="">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62885" y="1981248"/>
                        <a:ext cx="2341743" cy="2280971"/>
                      </a:xfrm>
                      <a:prstGeom prst="rect">
                        <a:avLst/>
                      </a:prstGeom>
                      <a:noFill/>
                      <a:ln>
                        <a:noFill/>
                      </a:ln>
                    </p:spPr>
                  </p:pic>
                </p:oleObj>
              </mc:Fallback>
            </mc:AlternateContent>
          </a:graphicData>
        </a:graphic>
      </p:graphicFrame>
      <p:graphicFrame>
        <p:nvGraphicFramePr>
          <p:cNvPr id="20" name="对象 19">
            <a:extLst>
              <a:ext uri="{FF2B5EF4-FFF2-40B4-BE49-F238E27FC236}">
                <a16:creationId xmlns:a16="http://schemas.microsoft.com/office/drawing/2014/main" id="{9FA73ADF-483B-136C-C501-656856172818}"/>
              </a:ext>
            </a:extLst>
          </p:cNvPr>
          <p:cNvGraphicFramePr>
            <a:graphicFrameLocks noChangeAspect="1"/>
          </p:cNvGraphicFramePr>
          <p:nvPr>
            <p:extLst>
              <p:ext uri="{D42A27DB-BD31-4B8C-83A1-F6EECF244321}">
                <p14:modId xmlns:p14="http://schemas.microsoft.com/office/powerpoint/2010/main" val="2047058591"/>
              </p:ext>
            </p:extLst>
          </p:nvPr>
        </p:nvGraphicFramePr>
        <p:xfrm>
          <a:off x="2733336" y="2865695"/>
          <a:ext cx="2023492" cy="818594"/>
        </p:xfrm>
        <a:graphic>
          <a:graphicData uri="http://schemas.openxmlformats.org/presentationml/2006/ole">
            <mc:AlternateContent xmlns:mc="http://schemas.openxmlformats.org/markup-compatibility/2006">
              <mc:Choice xmlns:v="urn:schemas-microsoft-com:vml" Requires="v">
                <p:oleObj name="Equation" r:id="rId11" imgW="1091726" imgH="444307" progId="Equation.DSMT4">
                  <p:embed/>
                </p:oleObj>
              </mc:Choice>
              <mc:Fallback>
                <p:oleObj name="Equation" r:id="rId11" imgW="1091726" imgH="444307"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33336" y="2865695"/>
                        <a:ext cx="2023492" cy="818594"/>
                      </a:xfrm>
                      <a:prstGeom prst="rect">
                        <a:avLst/>
                      </a:prstGeom>
                      <a:noFill/>
                    </p:spPr>
                  </p:pic>
                </p:oleObj>
              </mc:Fallback>
            </mc:AlternateContent>
          </a:graphicData>
        </a:graphic>
      </p:graphicFrame>
      <p:sp>
        <p:nvSpPr>
          <p:cNvPr id="23" name="文本框 22">
            <a:extLst>
              <a:ext uri="{FF2B5EF4-FFF2-40B4-BE49-F238E27FC236}">
                <a16:creationId xmlns:a16="http://schemas.microsoft.com/office/drawing/2014/main" id="{1B941DB0-BF10-0326-8B93-ACA8AEC19220}"/>
              </a:ext>
            </a:extLst>
          </p:cNvPr>
          <p:cNvSpPr txBox="1"/>
          <p:nvPr/>
        </p:nvSpPr>
        <p:spPr>
          <a:xfrm>
            <a:off x="807190" y="3062949"/>
            <a:ext cx="2023492" cy="369332"/>
          </a:xfrm>
          <a:prstGeom prst="rect">
            <a:avLst/>
          </a:prstGeom>
          <a:noFill/>
        </p:spPr>
        <p:txBody>
          <a:bodyPr wrap="square">
            <a:spAutoFit/>
          </a:bodyPr>
          <a:lstStyle/>
          <a:p>
            <a:pPr marL="228600" algn="just">
              <a:tabLst>
                <a:tab pos="457200" algn="l"/>
              </a:tabLst>
            </a:pPr>
            <a:r>
              <a:rPr lang="en-US"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r>
              <a:rPr lang="zh-CN"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定子</a:t>
            </a:r>
            <a:r>
              <a:rPr lang="en-US"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Y</a:t>
            </a:r>
            <a:r>
              <a:rPr lang="zh-CN"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联接时</a:t>
            </a:r>
            <a:r>
              <a:rPr lang="en-US" altLang="zh-CN" sz="1800" b="0" dirty="0">
                <a:solidFill>
                  <a:srgbClr val="000000"/>
                </a:solidFill>
                <a:effectLst/>
                <a:latin typeface="宋体" panose="02010600030101010101" pitchFamily="2" charset="-122"/>
                <a:ea typeface="黑体" panose="02010609060101010101" pitchFamily="49" charset="-122"/>
                <a:cs typeface="Times New Roman" panose="02020603050405020304" pitchFamily="18" charset="0"/>
              </a:rPr>
              <a:t>]</a:t>
            </a:r>
            <a:endParaRPr lang="zh-CN" altLang="zh-CN" sz="2000" b="1"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24" name="对象 23">
            <a:extLst>
              <a:ext uri="{FF2B5EF4-FFF2-40B4-BE49-F238E27FC236}">
                <a16:creationId xmlns:a16="http://schemas.microsoft.com/office/drawing/2014/main" id="{499210A8-B232-6E58-5790-FC6EDE0DC121}"/>
              </a:ext>
            </a:extLst>
          </p:cNvPr>
          <p:cNvGraphicFramePr>
            <a:graphicFrameLocks noChangeAspect="1"/>
          </p:cNvGraphicFramePr>
          <p:nvPr>
            <p:extLst>
              <p:ext uri="{D42A27DB-BD31-4B8C-83A1-F6EECF244321}">
                <p14:modId xmlns:p14="http://schemas.microsoft.com/office/powerpoint/2010/main" val="1592872920"/>
              </p:ext>
            </p:extLst>
          </p:nvPr>
        </p:nvGraphicFramePr>
        <p:xfrm>
          <a:off x="1424228" y="4114511"/>
          <a:ext cx="1695450" cy="819150"/>
        </p:xfrm>
        <a:graphic>
          <a:graphicData uri="http://schemas.openxmlformats.org/presentationml/2006/ole">
            <mc:AlternateContent xmlns:mc="http://schemas.openxmlformats.org/markup-compatibility/2006">
              <mc:Choice xmlns:v="urn:schemas-microsoft-com:vml" Requires="v">
                <p:oleObj name="Equation" r:id="rId13" imgW="901309" imgH="431613" progId="Equation.DSMT4">
                  <p:embed/>
                </p:oleObj>
              </mc:Choice>
              <mc:Fallback>
                <p:oleObj name="Equation" r:id="rId13" imgW="901309" imgH="431613" progId="Equation.DSMT4">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24228" y="4114511"/>
                        <a:ext cx="1695450"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对象 24">
            <a:extLst>
              <a:ext uri="{FF2B5EF4-FFF2-40B4-BE49-F238E27FC236}">
                <a16:creationId xmlns:a16="http://schemas.microsoft.com/office/drawing/2014/main" id="{0A63D255-E581-2BF5-10A2-61AF002EAFCE}"/>
              </a:ext>
            </a:extLst>
          </p:cNvPr>
          <p:cNvGraphicFramePr>
            <a:graphicFrameLocks noChangeAspect="1"/>
          </p:cNvGraphicFramePr>
          <p:nvPr>
            <p:extLst>
              <p:ext uri="{D42A27DB-BD31-4B8C-83A1-F6EECF244321}">
                <p14:modId xmlns:p14="http://schemas.microsoft.com/office/powerpoint/2010/main" val="2555419833"/>
              </p:ext>
            </p:extLst>
          </p:nvPr>
        </p:nvGraphicFramePr>
        <p:xfrm>
          <a:off x="4361346" y="4335914"/>
          <a:ext cx="1267018" cy="400111"/>
        </p:xfrm>
        <a:graphic>
          <a:graphicData uri="http://schemas.openxmlformats.org/presentationml/2006/ole">
            <mc:AlternateContent xmlns:mc="http://schemas.openxmlformats.org/markup-compatibility/2006">
              <mc:Choice xmlns:v="urn:schemas-microsoft-com:vml" Requires="v">
                <p:oleObj name="Equation" r:id="rId15" imgW="711200" imgH="228600" progId="Equation.DSMT4">
                  <p:embed/>
                </p:oleObj>
              </mc:Choice>
              <mc:Fallback>
                <p:oleObj name="Equation" r:id="rId15" imgW="711200" imgH="228600" progId="Equation.DSMT4">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61346" y="4335914"/>
                        <a:ext cx="1267018" cy="400111"/>
                      </a:xfrm>
                      <a:prstGeom prst="rect">
                        <a:avLst/>
                      </a:prstGeom>
                      <a:noFill/>
                    </p:spPr>
                  </p:pic>
                </p:oleObj>
              </mc:Fallback>
            </mc:AlternateContent>
          </a:graphicData>
        </a:graphic>
      </p:graphicFrame>
      <p:graphicFrame>
        <p:nvGraphicFramePr>
          <p:cNvPr id="26" name="对象 25">
            <a:extLst>
              <a:ext uri="{FF2B5EF4-FFF2-40B4-BE49-F238E27FC236}">
                <a16:creationId xmlns:a16="http://schemas.microsoft.com/office/drawing/2014/main" id="{5768C6C8-CC21-AA1D-80D8-CFD801935F2C}"/>
              </a:ext>
            </a:extLst>
          </p:cNvPr>
          <p:cNvGraphicFramePr>
            <a:graphicFrameLocks noChangeAspect="1"/>
          </p:cNvGraphicFramePr>
          <p:nvPr>
            <p:extLst>
              <p:ext uri="{D42A27DB-BD31-4B8C-83A1-F6EECF244321}">
                <p14:modId xmlns:p14="http://schemas.microsoft.com/office/powerpoint/2010/main" val="3049734159"/>
              </p:ext>
            </p:extLst>
          </p:nvPr>
        </p:nvGraphicFramePr>
        <p:xfrm>
          <a:off x="1396461" y="5053390"/>
          <a:ext cx="1857375" cy="542925"/>
        </p:xfrm>
        <a:graphic>
          <a:graphicData uri="http://schemas.openxmlformats.org/presentationml/2006/ole">
            <mc:AlternateContent xmlns:mc="http://schemas.openxmlformats.org/markup-compatibility/2006">
              <mc:Choice xmlns:v="urn:schemas-microsoft-com:vml" Requires="v">
                <p:oleObj name="Equation" r:id="rId17" imgW="1016000" imgH="292100" progId="Equation.DSMT4">
                  <p:embed/>
                </p:oleObj>
              </mc:Choice>
              <mc:Fallback>
                <p:oleObj name="Equation" r:id="rId17" imgW="1016000" imgH="292100" progId="Equation.DSMT4">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96461" y="5053390"/>
                        <a:ext cx="1857375"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对象 26">
            <a:extLst>
              <a:ext uri="{FF2B5EF4-FFF2-40B4-BE49-F238E27FC236}">
                <a16:creationId xmlns:a16="http://schemas.microsoft.com/office/drawing/2014/main" id="{2535A32E-E11F-698A-8071-238A83592C6F}"/>
              </a:ext>
            </a:extLst>
          </p:cNvPr>
          <p:cNvGraphicFramePr>
            <a:graphicFrameLocks noChangeAspect="1"/>
          </p:cNvGraphicFramePr>
          <p:nvPr>
            <p:extLst>
              <p:ext uri="{D42A27DB-BD31-4B8C-83A1-F6EECF244321}">
                <p14:modId xmlns:p14="http://schemas.microsoft.com/office/powerpoint/2010/main" val="2790248289"/>
              </p:ext>
            </p:extLst>
          </p:nvPr>
        </p:nvGraphicFramePr>
        <p:xfrm>
          <a:off x="2233282" y="5852120"/>
          <a:ext cx="1790700" cy="457200"/>
        </p:xfrm>
        <a:graphic>
          <a:graphicData uri="http://schemas.openxmlformats.org/presentationml/2006/ole">
            <mc:AlternateContent xmlns:mc="http://schemas.openxmlformats.org/markup-compatibility/2006">
              <mc:Choice xmlns:v="urn:schemas-microsoft-com:vml" Requires="v">
                <p:oleObj name="Equation" r:id="rId19" imgW="927100" imgH="241300" progId="Equation.DSMT4">
                  <p:embed/>
                </p:oleObj>
              </mc:Choice>
              <mc:Fallback>
                <p:oleObj name="Equation" r:id="rId19" imgW="927100" imgH="241300" progId="Equation.DSMT4">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33282" y="5852120"/>
                        <a:ext cx="17907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对象 29">
            <a:extLst>
              <a:ext uri="{FF2B5EF4-FFF2-40B4-BE49-F238E27FC236}">
                <a16:creationId xmlns:a16="http://schemas.microsoft.com/office/drawing/2014/main" id="{92C2E8E6-07AE-E2CD-0FFE-BD601CE02296}"/>
              </a:ext>
            </a:extLst>
          </p:cNvPr>
          <p:cNvGraphicFramePr>
            <a:graphicFrameLocks noChangeAspect="1"/>
          </p:cNvGraphicFramePr>
          <p:nvPr>
            <p:extLst>
              <p:ext uri="{D42A27DB-BD31-4B8C-83A1-F6EECF244321}">
                <p14:modId xmlns:p14="http://schemas.microsoft.com/office/powerpoint/2010/main" val="213831791"/>
              </p:ext>
            </p:extLst>
          </p:nvPr>
        </p:nvGraphicFramePr>
        <p:xfrm>
          <a:off x="4359501" y="5843432"/>
          <a:ext cx="1638300" cy="423863"/>
        </p:xfrm>
        <a:graphic>
          <a:graphicData uri="http://schemas.openxmlformats.org/presentationml/2006/ole">
            <mc:AlternateContent xmlns:mc="http://schemas.openxmlformats.org/markup-compatibility/2006">
              <mc:Choice xmlns:v="urn:schemas-microsoft-com:vml" Requires="v">
                <p:oleObj name="Equation" r:id="rId21" imgW="914400" imgH="241300" progId="Equation.DSMT4">
                  <p:embed/>
                </p:oleObj>
              </mc:Choice>
              <mc:Fallback>
                <p:oleObj name="Equation" r:id="rId21" imgW="914400" imgH="241300" progId="Equation.DSMT4">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59501" y="5843432"/>
                        <a:ext cx="163830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Rectangle 17">
            <a:extLst>
              <a:ext uri="{FF2B5EF4-FFF2-40B4-BE49-F238E27FC236}">
                <a16:creationId xmlns:a16="http://schemas.microsoft.com/office/drawing/2014/main" id="{B7BA033A-0632-E451-D492-B6141833386B}"/>
              </a:ext>
            </a:extLst>
          </p:cNvPr>
          <p:cNvSpPr>
            <a:spLocks noChangeArrowheads="1"/>
          </p:cNvSpPr>
          <p:nvPr/>
        </p:nvSpPr>
        <p:spPr bwMode="auto">
          <a:xfrm>
            <a:off x="971600" y="4317527"/>
            <a:ext cx="60486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zh-CN"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而</a:t>
            </a:r>
            <a:r>
              <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计算采用</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          </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数据</a:t>
            </a: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38" name="Rectangle 20">
            <a:extLst>
              <a:ext uri="{FF2B5EF4-FFF2-40B4-BE49-F238E27FC236}">
                <a16:creationId xmlns:a16="http://schemas.microsoft.com/office/drawing/2014/main" id="{95140628-0AC2-67FA-AFA2-B51CC33532F0}"/>
              </a:ext>
            </a:extLst>
          </p:cNvPr>
          <p:cNvSpPr>
            <a:spLocks noChangeArrowheads="1"/>
          </p:cNvSpPr>
          <p:nvPr/>
        </p:nvSpPr>
        <p:spPr bwMode="auto">
          <a:xfrm>
            <a:off x="899592" y="5898422"/>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最后得到：</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4" name="灯片编号占位符 3">
            <a:extLst>
              <a:ext uri="{FF2B5EF4-FFF2-40B4-BE49-F238E27FC236}">
                <a16:creationId xmlns:a16="http://schemas.microsoft.com/office/drawing/2014/main" id="{354FC972-814A-EDA5-5B44-265FC31AF216}"/>
              </a:ext>
            </a:extLst>
          </p:cNvPr>
          <p:cNvSpPr>
            <a:spLocks noGrp="1"/>
          </p:cNvSpPr>
          <p:nvPr>
            <p:ph type="sldNum" sz="quarter" idx="12"/>
          </p:nvPr>
        </p:nvSpPr>
        <p:spPr/>
        <p:txBody>
          <a:bodyPr/>
          <a:lstStyle/>
          <a:p>
            <a:fld id="{76D830B0-DF59-4281-898F-AF208100B213}" type="slidenum">
              <a:rPr lang="en-US" altLang="zh-CN" smtClean="0"/>
              <a:pPr/>
              <a:t>114</a:t>
            </a:fld>
            <a:endParaRPr lang="en-US" altLang="zh-CN"/>
          </a:p>
        </p:txBody>
      </p:sp>
    </p:spTree>
    <p:extLst>
      <p:ext uri="{BB962C8B-B14F-4D97-AF65-F5344CB8AC3E}">
        <p14:creationId xmlns:p14="http://schemas.microsoft.com/office/powerpoint/2010/main" val="79559306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FF3C5285-88D5-AF2D-C9C2-6A4D1E1E6C03}"/>
              </a:ext>
            </a:extLst>
          </p:cNvPr>
          <p:cNvSpPr>
            <a:spLocks noChangeArrowheads="1"/>
          </p:cNvSpPr>
          <p:nvPr/>
        </p:nvSpPr>
        <p:spPr bwMode="auto">
          <a:xfrm>
            <a:off x="881590" y="836712"/>
            <a:ext cx="7380820" cy="5810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tabLst>
                <a:tab pos="457200" algn="l"/>
              </a:tabLst>
              <a:defRPr>
                <a:solidFill>
                  <a:schemeClr val="tx1"/>
                </a:solidFill>
                <a:latin typeface="Arial" panose="020B0604020202020204" pitchFamily="34" charset="0"/>
              </a:defRPr>
            </a:lvl1pPr>
            <a:lvl2pPr eaLnBrk="0" hangingPunct="0">
              <a:tabLst>
                <a:tab pos="457200" algn="l"/>
              </a:tabLst>
              <a:defRPr>
                <a:solidFill>
                  <a:schemeClr val="tx1"/>
                </a:solidFill>
                <a:latin typeface="Arial" panose="020B0604020202020204" pitchFamily="34" charset="0"/>
              </a:defRPr>
            </a:lvl2pPr>
            <a:lvl3pPr eaLnBrk="0" hangingPunct="0">
              <a:tabLst>
                <a:tab pos="457200" algn="l"/>
              </a:tabLst>
              <a:defRPr>
                <a:solidFill>
                  <a:schemeClr val="tx1"/>
                </a:solidFill>
                <a:latin typeface="Arial" panose="020B0604020202020204" pitchFamily="34" charset="0"/>
              </a:defRPr>
            </a:lvl3pPr>
            <a:lvl4pPr eaLnBrk="0" hangingPunct="0">
              <a:tabLst>
                <a:tab pos="457200" algn="l"/>
              </a:tabLst>
              <a:defRPr>
                <a:solidFill>
                  <a:schemeClr val="tx1"/>
                </a:solidFill>
                <a:latin typeface="Arial" panose="020B0604020202020204" pitchFamily="34" charset="0"/>
              </a:defRPr>
            </a:lvl4pPr>
            <a:lvl5pPr eaLnBrk="0" hangingPunct="0">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25000"/>
              </a:lnSpc>
              <a:spcBef>
                <a:spcPct val="0"/>
              </a:spcBef>
              <a:spcAft>
                <a:spcPct val="0"/>
              </a:spcAft>
              <a:buClrTx/>
              <a:buSzTx/>
              <a:buFontTx/>
              <a:buNone/>
              <a:tabLst>
                <a:tab pos="457200" algn="l"/>
              </a:tabLst>
            </a:pP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本章小节：</a:t>
            </a:r>
            <a:endPar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25000"/>
              </a:lnSpc>
              <a:spcBef>
                <a:spcPct val="0"/>
              </a:spcBef>
              <a:spcAft>
                <a:spcPct val="0"/>
              </a:spcAft>
              <a:buClrTx/>
              <a:buSzTx/>
              <a:buFontTx/>
              <a:buNone/>
              <a:tabLst>
                <a:tab pos="457200" algn="l"/>
              </a:tabLst>
            </a:pP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1</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、三相异步电动机从基本原理来看与变压器的很相似，但形成的磁场不同；</a:t>
            </a:r>
            <a:endPar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25000"/>
              </a:lnSpc>
              <a:spcBef>
                <a:spcPct val="0"/>
              </a:spcBef>
              <a:spcAft>
                <a:spcPct val="0"/>
              </a:spcAft>
              <a:buClrTx/>
              <a:buSzTx/>
              <a:buFontTx/>
              <a:buNone/>
              <a:tabLst>
                <a:tab pos="457200" algn="l"/>
              </a:tabLst>
            </a:pPr>
            <a:r>
              <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2</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、三相异步电动机磁场旋转的方向与电流注入的相序相关；</a:t>
            </a:r>
            <a:endPar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25000"/>
              </a:lnSpc>
              <a:spcBef>
                <a:spcPct val="0"/>
              </a:spcBef>
              <a:spcAft>
                <a:spcPct val="0"/>
              </a:spcAft>
              <a:buClrTx/>
              <a:buSzTx/>
              <a:buFontTx/>
              <a:buNone/>
              <a:tabLst>
                <a:tab pos="457200" algn="l"/>
              </a:tabLst>
            </a:pP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3</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、异步电动机电动运行时转速与磁场旋转速度之间存在转差；</a:t>
            </a:r>
            <a:endPar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25000"/>
              </a:lnSpc>
              <a:spcBef>
                <a:spcPct val="0"/>
              </a:spcBef>
              <a:spcAft>
                <a:spcPct val="0"/>
              </a:spcAft>
              <a:buClrTx/>
              <a:buSzTx/>
              <a:buFontTx/>
              <a:buNone/>
              <a:tabLst>
                <a:tab pos="457200" algn="l"/>
              </a:tabLst>
            </a:pPr>
            <a:r>
              <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4</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0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空间对称分布</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的多相绕组中</a:t>
            </a:r>
            <a:r>
              <a:rPr lang="zh-CN" altLang="en-US"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流过时间对称</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的多相电流是旋转磁场产生的充要条件。</a:t>
            </a:r>
            <a:endPar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25000"/>
              </a:lnSpc>
              <a:spcBef>
                <a:spcPct val="0"/>
              </a:spcBef>
              <a:spcAft>
                <a:spcPct val="0"/>
              </a:spcAft>
              <a:buClrTx/>
              <a:buSzTx/>
              <a:buFontTx/>
              <a:buNone/>
              <a:tabLst>
                <a:tab pos="457200" algn="l"/>
              </a:tabLst>
            </a:pPr>
            <a:r>
              <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5</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、三相异步电动机的定子绕组采取“</a:t>
            </a:r>
            <a:r>
              <a:rPr lang="zh-CN" altLang="en-US" sz="2000" b="1" dirty="0">
                <a:solidFill>
                  <a:srgbClr val="0000FF"/>
                </a:solidFill>
                <a:latin typeface="黑体" panose="02010609060101010101" pitchFamily="49" charset="-122"/>
                <a:ea typeface="黑体" panose="02010609060101010101" pitchFamily="49" charset="-122"/>
                <a:cs typeface="Times New Roman" panose="02020603050405020304" pitchFamily="18" charset="0"/>
              </a:rPr>
              <a:t>分布</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”和“</a:t>
            </a:r>
            <a:r>
              <a:rPr lang="zh-CN" altLang="en-US" sz="20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双层短距</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”结构尽可能削弱谐波分量，使气隙磁场呈正弦分布；</a:t>
            </a:r>
            <a:endPar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25000"/>
              </a:lnSpc>
              <a:spcBef>
                <a:spcPct val="0"/>
              </a:spcBef>
              <a:spcAft>
                <a:spcPct val="0"/>
              </a:spcAft>
              <a:buClrTx/>
              <a:buSzTx/>
              <a:buFontTx/>
              <a:buNone/>
              <a:tabLst>
                <a:tab pos="457200" algn="l"/>
              </a:tabLst>
            </a:pP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6</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、利用</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时空矢量图</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，实现异步电机磁势平衡方程的</a:t>
            </a:r>
            <a:r>
              <a:rPr kumimoji="0" lang="zh-CN" altLang="en-US"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相分离</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25000"/>
              </a:lnSpc>
              <a:spcBef>
                <a:spcPct val="0"/>
              </a:spcBef>
              <a:spcAft>
                <a:spcPct val="0"/>
              </a:spcAft>
              <a:buClrTx/>
              <a:buSzTx/>
              <a:buFontTx/>
              <a:buNone/>
              <a:tabLst>
                <a:tab pos="457200" algn="l"/>
              </a:tabLst>
            </a:pPr>
            <a:r>
              <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7</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、三相异步电机的</a:t>
            </a:r>
            <a:r>
              <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T</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型等值电路是通过</a:t>
            </a:r>
            <a:r>
              <a:rPr lang="zh-CN" altLang="en-US" sz="20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频率折算和转子电参量折算</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得出的；</a:t>
            </a:r>
            <a:endPar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25000"/>
              </a:lnSpc>
              <a:spcBef>
                <a:spcPct val="0"/>
              </a:spcBef>
              <a:spcAft>
                <a:spcPct val="0"/>
              </a:spcAft>
              <a:buClrTx/>
              <a:buSzTx/>
              <a:buFontTx/>
              <a:buNone/>
              <a:tabLst>
                <a:tab pos="457200" algn="l"/>
              </a:tabLst>
            </a:pPr>
            <a:r>
              <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8</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、三相异步电机的</a:t>
            </a:r>
            <a:r>
              <a:rPr kumimoji="0" lang="zh-CN" altLang="en-US"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电磁转矩三种表达式</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和一个简化</a:t>
            </a:r>
            <a:r>
              <a:rPr kumimoji="0" lang="zh-CN" altLang="en-US" sz="2000" b="1" i="0" u="none" strike="noStrike" cap="none" normalizeH="0" baseline="0" dirty="0">
                <a:ln>
                  <a:noFill/>
                </a:ln>
                <a:solidFill>
                  <a:srgbClr val="0000FF"/>
                </a:solidFill>
                <a:effectLst/>
                <a:latin typeface="黑体" panose="02010609060101010101" pitchFamily="49" charset="-122"/>
                <a:ea typeface="黑体" panose="02010609060101010101" pitchFamily="49" charset="-122"/>
                <a:cs typeface="Times New Roman" panose="02020603050405020304" pitchFamily="18" charset="0"/>
              </a:rPr>
              <a:t>重要公式</a:t>
            </a:r>
            <a:r>
              <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en-US" altLang="zh-CN"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25000"/>
              </a:lnSpc>
              <a:spcBef>
                <a:spcPct val="0"/>
              </a:spcBef>
              <a:spcAft>
                <a:spcPct val="0"/>
              </a:spcAft>
              <a:buClrTx/>
              <a:buSzTx/>
              <a:buFontTx/>
              <a:buNone/>
              <a:tabLst>
                <a:tab pos="457200" algn="l"/>
              </a:tabLst>
            </a:pPr>
            <a:r>
              <a:rPr lang="en-US" altLang="zh-CN"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9</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、异步电机的机械特性不是一条直线，以临界转差率对应的最大电磁转矩为为</a:t>
            </a:r>
            <a:r>
              <a:rPr lang="zh-CN" altLang="en-US" sz="20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两个运行段</a:t>
            </a:r>
            <a:r>
              <a:rPr lang="zh-CN" altLang="en-US" sz="20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a:t>
            </a:r>
            <a:endParaRPr kumimoji="0" lang="zh-CN" altLang="en-US" sz="20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p:txBody>
      </p:sp>
      <p:sp>
        <p:nvSpPr>
          <p:cNvPr id="3" name="灯片编号占位符 2">
            <a:extLst>
              <a:ext uri="{FF2B5EF4-FFF2-40B4-BE49-F238E27FC236}">
                <a16:creationId xmlns:a16="http://schemas.microsoft.com/office/drawing/2014/main" id="{7843148D-63AB-6DA7-EABB-1F81F2B58C5F}"/>
              </a:ext>
            </a:extLst>
          </p:cNvPr>
          <p:cNvSpPr>
            <a:spLocks noGrp="1"/>
          </p:cNvSpPr>
          <p:nvPr>
            <p:ph type="sldNum" sz="quarter" idx="12"/>
          </p:nvPr>
        </p:nvSpPr>
        <p:spPr/>
        <p:txBody>
          <a:bodyPr/>
          <a:lstStyle/>
          <a:p>
            <a:fld id="{76D830B0-DF59-4281-898F-AF208100B213}" type="slidenum">
              <a:rPr lang="en-US" altLang="zh-CN" smtClean="0"/>
              <a:pPr/>
              <a:t>115</a:t>
            </a:fld>
            <a:endParaRPr lang="en-US" altLang="zh-CN"/>
          </a:p>
        </p:txBody>
      </p:sp>
    </p:spTree>
    <p:extLst>
      <p:ext uri="{BB962C8B-B14F-4D97-AF65-F5344CB8AC3E}">
        <p14:creationId xmlns:p14="http://schemas.microsoft.com/office/powerpoint/2010/main" val="395871038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5BDFD30A-421F-1333-458F-5FB0AA7C41BF}"/>
              </a:ext>
            </a:extLst>
          </p:cNvPr>
          <p:cNvSpPr>
            <a:spLocks noGrp="1"/>
          </p:cNvSpPr>
          <p:nvPr>
            <p:ph type="subTitle" idx="1"/>
          </p:nvPr>
        </p:nvSpPr>
        <p:spPr/>
        <p:txBody>
          <a:bodyPr/>
          <a:lstStyle/>
          <a:p>
            <a:endParaRPr lang="zh-CN" altLang="en-US"/>
          </a:p>
        </p:txBody>
      </p:sp>
      <p:sp>
        <p:nvSpPr>
          <p:cNvPr id="36" name="标题 35">
            <a:extLst>
              <a:ext uri="{FF2B5EF4-FFF2-40B4-BE49-F238E27FC236}">
                <a16:creationId xmlns:a16="http://schemas.microsoft.com/office/drawing/2014/main" id="{ABB19740-EABD-9D95-CD9C-410B5918842C}"/>
              </a:ext>
            </a:extLst>
          </p:cNvPr>
          <p:cNvSpPr txBox="1">
            <a:spLocks noGrp="1"/>
          </p:cNvSpPr>
          <p:nvPr>
            <p:ph type="ctrTitle"/>
          </p:nvPr>
        </p:nvSpPr>
        <p:spPr>
          <a:xfrm>
            <a:off x="1143000" y="1755637"/>
            <a:ext cx="6858000" cy="1754326"/>
          </a:xfrm>
          <a:prstGeom prst="rect">
            <a:avLst/>
          </a:prstGeom>
          <a:noFill/>
        </p:spPr>
        <p:txBody>
          <a:bodyPr wrap="square">
            <a:spAutoFit/>
          </a:bodyPr>
          <a:lstStyle/>
          <a:p>
            <a:pPr algn="just"/>
            <a:r>
              <a:rPr lang="zh-CN"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习题：</a:t>
            </a:r>
            <a:r>
              <a:rPr lang="en-US"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5</a:t>
            </a:r>
            <a:r>
              <a:rPr lang="zh-CN"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r>
              <a:rPr lang="en-US"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3</a:t>
            </a:r>
            <a:r>
              <a:rPr lang="zh-CN"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r>
              <a:rPr lang="en-US"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5</a:t>
            </a:r>
            <a:r>
              <a:rPr lang="zh-CN"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r>
              <a:rPr lang="en-US"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8</a:t>
            </a:r>
            <a:r>
              <a:rPr lang="zh-CN"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r>
              <a:rPr lang="en-US"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5</a:t>
            </a:r>
            <a:r>
              <a:rPr lang="zh-CN"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r>
              <a:rPr lang="en-US"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16, 5</a:t>
            </a:r>
            <a:r>
              <a:rPr lang="zh-CN"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r>
              <a:rPr lang="en-US"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19,5</a:t>
            </a:r>
            <a:r>
              <a:rPr lang="zh-CN"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a:t>
            </a:r>
            <a:r>
              <a:rPr lang="en-US"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20</a:t>
            </a:r>
            <a:endParaRPr lang="zh-CN" altLang="zh-CN" sz="5400" b="1" dirty="0">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1296994C-3C9D-7B12-4CFB-F8F20DDE7069}"/>
              </a:ext>
            </a:extLst>
          </p:cNvPr>
          <p:cNvSpPr>
            <a:spLocks noGrp="1"/>
          </p:cNvSpPr>
          <p:nvPr>
            <p:ph type="sldNum" sz="quarter" idx="12"/>
          </p:nvPr>
        </p:nvSpPr>
        <p:spPr/>
        <p:txBody>
          <a:bodyPr/>
          <a:lstStyle/>
          <a:p>
            <a:fld id="{514CBEF7-F8C5-4992-8DBB-A497D4016018}" type="slidenum">
              <a:rPr lang="en-US" altLang="zh-CN" smtClean="0"/>
              <a:pPr/>
              <a:t>116</a:t>
            </a:fld>
            <a:endParaRPr lang="en-US" altLang="zh-CN"/>
          </a:p>
        </p:txBody>
      </p:sp>
    </p:spTree>
    <p:extLst>
      <p:ext uri="{BB962C8B-B14F-4D97-AF65-F5344CB8AC3E}">
        <p14:creationId xmlns:p14="http://schemas.microsoft.com/office/powerpoint/2010/main" val="3528376033"/>
      </p:ext>
    </p:extLst>
  </p:cSld>
  <p:clrMapOvr>
    <a:masterClrMapping/>
  </p:clrMapOvr>
</p:sld>
</file>

<file path=ppt/theme/theme1.xml><?xml version="1.0" encoding="utf-8"?>
<a:theme xmlns:a="http://schemas.openxmlformats.org/drawingml/2006/main" name="Office 主题">
  <a:themeElements>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主题">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主题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主题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主题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主题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主题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主题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主题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华中科技大学专用幻灯片模板</Template>
  <TotalTime>6974</TotalTime>
  <Words>6899</Words>
  <Application>Microsoft Office PowerPoint</Application>
  <PresentationFormat>全屏显示(4:3)</PresentationFormat>
  <Paragraphs>747</Paragraphs>
  <Slides>116</Slides>
  <Notes>72</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116</vt:i4>
      </vt:variant>
    </vt:vector>
  </HeadingPairs>
  <TitlesOfParts>
    <vt:vector size="130" baseType="lpstr">
      <vt:lpstr>等线</vt:lpstr>
      <vt:lpstr>黑体</vt:lpstr>
      <vt:lpstr>华文楷体</vt:lpstr>
      <vt:lpstr>楷体</vt:lpstr>
      <vt:lpstr>宋体</vt:lpstr>
      <vt:lpstr>Arial</vt:lpstr>
      <vt:lpstr>Cambria Math</vt:lpstr>
      <vt:lpstr>Symbol</vt:lpstr>
      <vt:lpstr>Times New Roman</vt:lpstr>
      <vt:lpstr>Wingdings</vt:lpstr>
      <vt:lpstr>Office 主题</vt:lpstr>
      <vt:lpstr>MSDraw</vt:lpstr>
      <vt:lpstr>Equation</vt:lpstr>
      <vt:lpstr>BMP 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习题：5－3，5－8，5－16, 5－19,5－20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liyesong</dc:creator>
  <cp:lastModifiedBy>xm li</cp:lastModifiedBy>
  <cp:revision>386</cp:revision>
  <cp:lastPrinted>1601-01-01T00:00:00Z</cp:lastPrinted>
  <dcterms:created xsi:type="dcterms:W3CDTF">2020-10-12T07:29:00Z</dcterms:created>
  <dcterms:modified xsi:type="dcterms:W3CDTF">2025-10-14T07:15:30Z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
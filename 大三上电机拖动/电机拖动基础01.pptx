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3"/>
  </p:notesMasterIdLst>
  <p:handoutMasterIdLst>
    <p:handoutMasterId r:id="rId84"/>
  </p:handoutMasterIdLst>
  <p:sldIdLst>
    <p:sldId id="298" r:id="rId2"/>
    <p:sldId id="299" r:id="rId3"/>
    <p:sldId id="300" r:id="rId4"/>
    <p:sldId id="301" r:id="rId5"/>
    <p:sldId id="367" r:id="rId6"/>
    <p:sldId id="303" r:id="rId7"/>
    <p:sldId id="304" r:id="rId8"/>
    <p:sldId id="305" r:id="rId9"/>
    <p:sldId id="306" r:id="rId10"/>
    <p:sldId id="366" r:id="rId11"/>
    <p:sldId id="307" r:id="rId12"/>
    <p:sldId id="308" r:id="rId13"/>
    <p:sldId id="309" r:id="rId14"/>
    <p:sldId id="310" r:id="rId15"/>
    <p:sldId id="285" r:id="rId16"/>
    <p:sldId id="290" r:id="rId17"/>
    <p:sldId id="286" r:id="rId18"/>
    <p:sldId id="291" r:id="rId19"/>
    <p:sldId id="287" r:id="rId20"/>
    <p:sldId id="288" r:id="rId21"/>
    <p:sldId id="289" r:id="rId22"/>
    <p:sldId id="292" r:id="rId23"/>
    <p:sldId id="293" r:id="rId24"/>
    <p:sldId id="294" r:id="rId25"/>
    <p:sldId id="295" r:id="rId26"/>
    <p:sldId id="296" r:id="rId27"/>
    <p:sldId id="311" r:id="rId28"/>
    <p:sldId id="312" r:id="rId29"/>
    <p:sldId id="313" r:id="rId30"/>
    <p:sldId id="314" r:id="rId31"/>
    <p:sldId id="315" r:id="rId32"/>
    <p:sldId id="316" r:id="rId33"/>
    <p:sldId id="317" r:id="rId34"/>
    <p:sldId id="318" r:id="rId35"/>
    <p:sldId id="319" r:id="rId36"/>
    <p:sldId id="320" r:id="rId37"/>
    <p:sldId id="321" r:id="rId38"/>
    <p:sldId id="322" r:id="rId39"/>
    <p:sldId id="323" r:id="rId40"/>
    <p:sldId id="324" r:id="rId41"/>
    <p:sldId id="325" r:id="rId42"/>
    <p:sldId id="326" r:id="rId43"/>
    <p:sldId id="327" r:id="rId44"/>
    <p:sldId id="328" r:id="rId45"/>
    <p:sldId id="329" r:id="rId46"/>
    <p:sldId id="330" r:id="rId47"/>
    <p:sldId id="331" r:id="rId48"/>
    <p:sldId id="332" r:id="rId49"/>
    <p:sldId id="333" r:id="rId50"/>
    <p:sldId id="334" r:id="rId51"/>
    <p:sldId id="335" r:id="rId52"/>
    <p:sldId id="336" r:id="rId53"/>
    <p:sldId id="337" r:id="rId54"/>
    <p:sldId id="338" r:id="rId55"/>
    <p:sldId id="339" r:id="rId56"/>
    <p:sldId id="340" r:id="rId57"/>
    <p:sldId id="341" r:id="rId58"/>
    <p:sldId id="342" r:id="rId59"/>
    <p:sldId id="343" r:id="rId60"/>
    <p:sldId id="344" r:id="rId61"/>
    <p:sldId id="345" r:id="rId62"/>
    <p:sldId id="346" r:id="rId63"/>
    <p:sldId id="347" r:id="rId64"/>
    <p:sldId id="348" r:id="rId65"/>
    <p:sldId id="349" r:id="rId66"/>
    <p:sldId id="350" r:id="rId67"/>
    <p:sldId id="351" r:id="rId68"/>
    <p:sldId id="352" r:id="rId69"/>
    <p:sldId id="353" r:id="rId70"/>
    <p:sldId id="354" r:id="rId71"/>
    <p:sldId id="355" r:id="rId72"/>
    <p:sldId id="356" r:id="rId73"/>
    <p:sldId id="357" r:id="rId74"/>
    <p:sldId id="358" r:id="rId75"/>
    <p:sldId id="359" r:id="rId76"/>
    <p:sldId id="360" r:id="rId77"/>
    <p:sldId id="361" r:id="rId78"/>
    <p:sldId id="362" r:id="rId79"/>
    <p:sldId id="363" r:id="rId80"/>
    <p:sldId id="364" r:id="rId81"/>
    <p:sldId id="365" r:id="rId82"/>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yesong" initials="l" lastIdx="1" clrIdx="0">
    <p:extLst>
      <p:ext uri="{19B8F6BF-5375-455C-9EA6-DF929625EA0E}">
        <p15:presenceInfo xmlns:p15="http://schemas.microsoft.com/office/powerpoint/2012/main" userId="liyeso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443" autoAdjust="0"/>
    <p:restoredTop sz="87086" autoAdjust="0"/>
  </p:normalViewPr>
  <p:slideViewPr>
    <p:cSldViewPr>
      <p:cViewPr varScale="1">
        <p:scale>
          <a:sx n="57" d="100"/>
          <a:sy n="57" d="100"/>
        </p:scale>
        <p:origin x="744" y="4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handoutMaster" Target="handoutMasters/handoutMaster1.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4061E676-335A-D281-7051-2490C3D8BCB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B2179814-23CC-0CFE-9A16-DCF914B98BB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A2551C7-7632-47A6-A7CD-DF04A426E843}" type="datetime10">
              <a:rPr lang="zh-CN" altLang="en-US" smtClean="0"/>
              <a:t>16:53</a:t>
            </a:fld>
            <a:endParaRPr lang="zh-CN" altLang="en-US"/>
          </a:p>
        </p:txBody>
      </p:sp>
      <p:sp>
        <p:nvSpPr>
          <p:cNvPr id="4" name="页脚占位符 3">
            <a:extLst>
              <a:ext uri="{FF2B5EF4-FFF2-40B4-BE49-F238E27FC236}">
                <a16:creationId xmlns:a16="http://schemas.microsoft.com/office/drawing/2014/main" id="{752FDAFB-8F8E-9C5C-14CA-E332EDD4D49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1EDCB6E4-78A9-1C75-76D4-5DEDF8D9D37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FCD661B-F58B-41E3-ADE1-8928677D473E}" type="slidenum">
              <a:rPr lang="zh-CN" altLang="en-US" smtClean="0"/>
              <a:t>‹#›</a:t>
            </a:fld>
            <a:endParaRPr lang="zh-CN" altLang="en-US"/>
          </a:p>
        </p:txBody>
      </p:sp>
    </p:spTree>
    <p:extLst>
      <p:ext uri="{BB962C8B-B14F-4D97-AF65-F5344CB8AC3E}">
        <p14:creationId xmlns:p14="http://schemas.microsoft.com/office/powerpoint/2010/main" val="2551123038"/>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572419-CE39-4E93-8C41-1936C2F98932}" type="datetime10">
              <a:rPr lang="zh-CN" altLang="en-US" smtClean="0"/>
              <a:t>16:53</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DE4478-3C1B-47B8-87E5-B9363134E872}" type="slidenum">
              <a:rPr lang="zh-CN" altLang="en-US" smtClean="0"/>
              <a:t>‹#›</a:t>
            </a:fld>
            <a:endParaRPr lang="zh-CN" altLang="en-US"/>
          </a:p>
        </p:txBody>
      </p:sp>
    </p:spTree>
    <p:extLst>
      <p:ext uri="{BB962C8B-B14F-4D97-AF65-F5344CB8AC3E}">
        <p14:creationId xmlns:p14="http://schemas.microsoft.com/office/powerpoint/2010/main" val="234587008"/>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EDE4478-3C1B-47B8-87E5-B9363134E872}" type="slidenum">
              <a:rPr lang="zh-CN" altLang="en-US" smtClean="0"/>
              <a:t>75</a:t>
            </a:fld>
            <a:endParaRPr lang="zh-CN" altLang="en-US"/>
          </a:p>
        </p:txBody>
      </p:sp>
      <p:sp>
        <p:nvSpPr>
          <p:cNvPr id="6" name="日期占位符 5">
            <a:extLst>
              <a:ext uri="{FF2B5EF4-FFF2-40B4-BE49-F238E27FC236}">
                <a16:creationId xmlns:a16="http://schemas.microsoft.com/office/drawing/2014/main" id="{37275FF0-B7B0-F953-AECE-32705A00A380}"/>
              </a:ext>
            </a:extLst>
          </p:cNvPr>
          <p:cNvSpPr>
            <a:spLocks noGrp="1"/>
          </p:cNvSpPr>
          <p:nvPr>
            <p:ph type="dt" idx="1"/>
          </p:nvPr>
        </p:nvSpPr>
        <p:spPr/>
        <p:txBody>
          <a:bodyPr/>
          <a:lstStyle/>
          <a:p>
            <a:fld id="{1A99EB44-B919-415D-98EE-EB07746ED6BD}" type="datetime10">
              <a:rPr lang="zh-CN" altLang="en-US" smtClean="0"/>
              <a:t>16:53</a:t>
            </a:fld>
            <a:endParaRPr lang="zh-CN" altLang="en-US"/>
          </a:p>
        </p:txBody>
      </p:sp>
    </p:spTree>
    <p:extLst>
      <p:ext uri="{BB962C8B-B14F-4D97-AF65-F5344CB8AC3E}">
        <p14:creationId xmlns:p14="http://schemas.microsoft.com/office/powerpoint/2010/main" val="3933205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EDE4478-3C1B-47B8-87E5-B9363134E872}" type="slidenum">
              <a:rPr lang="zh-CN" altLang="en-US" smtClean="0"/>
              <a:t>80</a:t>
            </a:fld>
            <a:endParaRPr lang="zh-CN" altLang="en-US"/>
          </a:p>
        </p:txBody>
      </p:sp>
      <p:sp>
        <p:nvSpPr>
          <p:cNvPr id="6" name="日期占位符 5">
            <a:extLst>
              <a:ext uri="{FF2B5EF4-FFF2-40B4-BE49-F238E27FC236}">
                <a16:creationId xmlns:a16="http://schemas.microsoft.com/office/drawing/2014/main" id="{85AAF1A4-F6B0-7957-3E58-CCC460F23047}"/>
              </a:ext>
            </a:extLst>
          </p:cNvPr>
          <p:cNvSpPr>
            <a:spLocks noGrp="1"/>
          </p:cNvSpPr>
          <p:nvPr>
            <p:ph type="dt" idx="1"/>
          </p:nvPr>
        </p:nvSpPr>
        <p:spPr/>
        <p:txBody>
          <a:bodyPr/>
          <a:lstStyle/>
          <a:p>
            <a:fld id="{ADC91555-020B-459A-AABB-94A7CDC523E0}" type="datetime10">
              <a:rPr lang="zh-CN" altLang="en-US" smtClean="0"/>
              <a:t>16:53</a:t>
            </a:fld>
            <a:endParaRPr lang="zh-CN" altLang="en-US"/>
          </a:p>
        </p:txBody>
      </p:sp>
    </p:spTree>
    <p:extLst>
      <p:ext uri="{BB962C8B-B14F-4D97-AF65-F5344CB8AC3E}">
        <p14:creationId xmlns:p14="http://schemas.microsoft.com/office/powerpoint/2010/main" val="40463841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fld id="{E87A4F50-C5BC-4AEA-9FA9-939DD17B32CA}" type="datetime10">
              <a:rPr lang="en-US" altLang="zh-CN" smtClean="0"/>
              <a:t>16:53</a:t>
            </a:fld>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514CBEF7-F8C5-4992-8DBB-A497D4016018}" type="slidenum">
              <a:rPr lang="en-US" altLang="zh-CN"/>
              <a:pPr/>
              <a:t>‹#›</a:t>
            </a:fld>
            <a:endParaRPr lang="en-US" altLang="zh-CN"/>
          </a:p>
        </p:txBody>
      </p:sp>
    </p:spTree>
    <p:extLst>
      <p:ext uri="{BB962C8B-B14F-4D97-AF65-F5344CB8AC3E}">
        <p14:creationId xmlns:p14="http://schemas.microsoft.com/office/powerpoint/2010/main" val="1204949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9694C7F4-1F3B-4FEB-883A-A628B0D8847D}" type="datetime10">
              <a:rPr lang="en-US" altLang="zh-CN" smtClean="0"/>
              <a:t>16:53</a:t>
            </a:fld>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73B34B3-1432-4053-90C7-E0228297BE5F}" type="slidenum">
              <a:rPr lang="en-US" altLang="zh-CN"/>
              <a:pPr/>
              <a:t>‹#›</a:t>
            </a:fld>
            <a:endParaRPr lang="en-US" altLang="zh-CN"/>
          </a:p>
        </p:txBody>
      </p:sp>
    </p:spTree>
    <p:extLst>
      <p:ext uri="{BB962C8B-B14F-4D97-AF65-F5344CB8AC3E}">
        <p14:creationId xmlns:p14="http://schemas.microsoft.com/office/powerpoint/2010/main" val="57757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fld id="{604EAE18-0DDC-4DBD-BA70-A8BC1546D8B3}" type="datetime10">
              <a:rPr lang="en-US" altLang="zh-CN" smtClean="0"/>
              <a:t>16:53</a:t>
            </a:fld>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E88613D7-8F0F-4D97-8B77-3E474B3DDD75}" type="slidenum">
              <a:rPr lang="en-US" altLang="zh-CN"/>
              <a:pPr/>
              <a:t>‹#›</a:t>
            </a:fld>
            <a:endParaRPr lang="en-US" altLang="zh-CN"/>
          </a:p>
        </p:txBody>
      </p:sp>
    </p:spTree>
    <p:extLst>
      <p:ext uri="{BB962C8B-B14F-4D97-AF65-F5344CB8AC3E}">
        <p14:creationId xmlns:p14="http://schemas.microsoft.com/office/powerpoint/2010/main" val="2197031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fld id="{023CE4C5-2E05-4B32-8BE1-72CB66193D29}" type="datetime10">
              <a:rPr lang="en-US" altLang="zh-CN" smtClean="0"/>
              <a:t>16:53</a:t>
            </a:fld>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28BD5AFC-BC3D-4EC6-B5B2-C76598C5654E}" type="slidenum">
              <a:rPr lang="en-US" altLang="zh-CN"/>
              <a:pPr/>
              <a:t>‹#›</a:t>
            </a:fld>
            <a:endParaRPr lang="en-US" altLang="zh-CN"/>
          </a:p>
        </p:txBody>
      </p:sp>
    </p:spTree>
    <p:extLst>
      <p:ext uri="{BB962C8B-B14F-4D97-AF65-F5344CB8AC3E}">
        <p14:creationId xmlns:p14="http://schemas.microsoft.com/office/powerpoint/2010/main" val="1220014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fld id="{45025868-9CC1-4B06-8865-53EE01EAFDBF}" type="datetime10">
              <a:rPr lang="en-US" altLang="zh-CN" smtClean="0"/>
              <a:t>16:53</a:t>
            </a:fld>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A8E1C6A7-CD62-42B7-8C1D-142229EE1B13}" type="slidenum">
              <a:rPr lang="en-US" altLang="zh-CN"/>
              <a:pPr/>
              <a:t>‹#›</a:t>
            </a:fld>
            <a:endParaRPr lang="en-US" altLang="zh-CN"/>
          </a:p>
        </p:txBody>
      </p:sp>
    </p:spTree>
    <p:extLst>
      <p:ext uri="{BB962C8B-B14F-4D97-AF65-F5344CB8AC3E}">
        <p14:creationId xmlns:p14="http://schemas.microsoft.com/office/powerpoint/2010/main" val="40520656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fld id="{3AA49C64-0ED7-445E-A37A-C21535475708}" type="datetime10">
              <a:rPr lang="en-US" altLang="zh-CN" smtClean="0"/>
              <a:t>16:53</a:t>
            </a:fld>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803158C3-B50C-4001-8BD0-C5647A670245}" type="slidenum">
              <a:rPr lang="en-US" altLang="zh-CN"/>
              <a:pPr/>
              <a:t>‹#›</a:t>
            </a:fld>
            <a:endParaRPr lang="en-US" altLang="zh-CN"/>
          </a:p>
        </p:txBody>
      </p:sp>
    </p:spTree>
    <p:extLst>
      <p:ext uri="{BB962C8B-B14F-4D97-AF65-F5344CB8AC3E}">
        <p14:creationId xmlns:p14="http://schemas.microsoft.com/office/powerpoint/2010/main" val="33208124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D2186772-2772-466A-9934-A0E133A4225C}" type="datetime10">
              <a:rPr lang="en-US" altLang="zh-CN" smtClean="0"/>
              <a:t>16:53</a:t>
            </a:fld>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76D830B0-DF59-4281-898F-AF208100B213}" type="slidenum">
              <a:rPr lang="en-US" altLang="zh-CN"/>
              <a:pPr/>
              <a:t>‹#›</a:t>
            </a:fld>
            <a:endParaRPr lang="en-US" altLang="zh-CN"/>
          </a:p>
        </p:txBody>
      </p:sp>
    </p:spTree>
    <p:extLst>
      <p:ext uri="{BB962C8B-B14F-4D97-AF65-F5344CB8AC3E}">
        <p14:creationId xmlns:p14="http://schemas.microsoft.com/office/powerpoint/2010/main" val="2823416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FD88C837-F429-4EBD-BBDA-8FBB7C3D3B90}" type="datetime10">
              <a:rPr lang="en-US" altLang="zh-CN" smtClean="0"/>
              <a:t>16:53</a:t>
            </a:fld>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9BC85226-5FCC-4AFD-B486-2748615DDC14}" type="slidenum">
              <a:rPr lang="en-US" altLang="zh-CN"/>
              <a:pPr/>
              <a:t>‹#›</a:t>
            </a:fld>
            <a:endParaRPr lang="en-US" altLang="zh-CN"/>
          </a:p>
        </p:txBody>
      </p:sp>
    </p:spTree>
    <p:extLst>
      <p:ext uri="{BB962C8B-B14F-4D97-AF65-F5344CB8AC3E}">
        <p14:creationId xmlns:p14="http://schemas.microsoft.com/office/powerpoint/2010/main" val="4274750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D7D5B5C5-41DA-4363-8493-5D34E2B47E46}" type="datetime10">
              <a:rPr lang="en-US" altLang="zh-CN" smtClean="0"/>
              <a:t>16:53</a:t>
            </a:fld>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3614CC24-EEB7-428F-937F-EF248AEFDBA1}" type="slidenum">
              <a:rPr lang="en-US" altLang="zh-CN"/>
              <a:pPr/>
              <a:t>‹#›</a:t>
            </a:fld>
            <a:endParaRPr lang="en-US" altLang="zh-CN"/>
          </a:p>
        </p:txBody>
      </p:sp>
    </p:spTree>
    <p:extLst>
      <p:ext uri="{BB962C8B-B14F-4D97-AF65-F5344CB8AC3E}">
        <p14:creationId xmlns:p14="http://schemas.microsoft.com/office/powerpoint/2010/main" val="192866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0157B79B-E507-4325-A13C-77CE5C8113DF}" type="datetime10">
              <a:rPr lang="en-US" altLang="zh-CN" smtClean="0"/>
              <a:t>16:53</a:t>
            </a:fld>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41309C11-2328-40BB-8E64-EA9C5ED3B95C}" type="slidenum">
              <a:rPr lang="en-US" altLang="zh-CN"/>
              <a:pPr/>
              <a:t>‹#›</a:t>
            </a:fld>
            <a:endParaRPr lang="en-US" altLang="zh-CN"/>
          </a:p>
        </p:txBody>
      </p:sp>
    </p:spTree>
    <p:extLst>
      <p:ext uri="{BB962C8B-B14F-4D97-AF65-F5344CB8AC3E}">
        <p14:creationId xmlns:p14="http://schemas.microsoft.com/office/powerpoint/2010/main" val="2036490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0E29AEC8-C08A-4061-9591-A6516A3489AA}" type="datetime10">
              <a:rPr lang="en-US" altLang="zh-CN" smtClean="0"/>
              <a:t>16:53</a:t>
            </a:fld>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512753A-817A-416F-AB73-729B5AD08AAB}" type="slidenum">
              <a:rPr lang="en-US" altLang="zh-CN"/>
              <a:pPr/>
              <a:t>‹#›</a:t>
            </a:fld>
            <a:endParaRPr lang="en-US" altLang="zh-CN"/>
          </a:p>
        </p:txBody>
      </p:sp>
    </p:spTree>
    <p:extLst>
      <p:ext uri="{BB962C8B-B14F-4D97-AF65-F5344CB8AC3E}">
        <p14:creationId xmlns:p14="http://schemas.microsoft.com/office/powerpoint/2010/main" val="2555755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fld id="{82AF9ACC-7DAE-428B-9FE5-BB411F838A3A}" type="datetime10">
              <a:rPr lang="en-US" altLang="zh-CN" smtClean="0"/>
              <a:t>16:53</a:t>
            </a:fld>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943BA562-8B01-4708-BEC9-7E69676661F2}"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1.jpeg"/><Relationship Id="rId13" Type="http://schemas.openxmlformats.org/officeDocument/2006/relationships/image" Target="../media/image16.png"/><Relationship Id="rId18" Type="http://schemas.openxmlformats.org/officeDocument/2006/relationships/image" Target="../media/image21.jpeg"/><Relationship Id="rId3" Type="http://schemas.openxmlformats.org/officeDocument/2006/relationships/image" Target="../media/image6.jpeg"/><Relationship Id="rId7" Type="http://schemas.openxmlformats.org/officeDocument/2006/relationships/image" Target="../media/image10.jpeg"/><Relationship Id="rId12" Type="http://schemas.openxmlformats.org/officeDocument/2006/relationships/image" Target="../media/image15.png"/><Relationship Id="rId17" Type="http://schemas.openxmlformats.org/officeDocument/2006/relationships/image" Target="../media/image20.jpeg"/><Relationship Id="rId2" Type="http://schemas.openxmlformats.org/officeDocument/2006/relationships/image" Target="../media/image5.jpeg"/><Relationship Id="rId16" Type="http://schemas.openxmlformats.org/officeDocument/2006/relationships/image" Target="../media/image19.jpeg"/><Relationship Id="rId1" Type="http://schemas.openxmlformats.org/officeDocument/2006/relationships/slideLayout" Target="../slideLayouts/slideLayout6.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jpeg"/><Relationship Id="rId15" Type="http://schemas.openxmlformats.org/officeDocument/2006/relationships/image" Target="../media/image18.gif"/><Relationship Id="rId10" Type="http://schemas.openxmlformats.org/officeDocument/2006/relationships/image" Target="../media/image13.png"/><Relationship Id="rId4" Type="http://schemas.openxmlformats.org/officeDocument/2006/relationships/image" Target="../media/image7.jpeg"/><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22.png"/><Relationship Id="rId7" Type="http://schemas.openxmlformats.org/officeDocument/2006/relationships/image" Target="../media/image24.png"/><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oleObject" Target="../embeddings/oleObject3.bin"/><Relationship Id="rId11" Type="http://schemas.openxmlformats.org/officeDocument/2006/relationships/image" Target="../media/image27.jpeg"/><Relationship Id="rId5" Type="http://schemas.openxmlformats.org/officeDocument/2006/relationships/image" Target="../media/image23.png"/><Relationship Id="rId10" Type="http://schemas.openxmlformats.org/officeDocument/2006/relationships/image" Target="../media/image26.png"/><Relationship Id="rId4" Type="http://schemas.openxmlformats.org/officeDocument/2006/relationships/oleObject" Target="../embeddings/oleObject2.bin"/><Relationship Id="rId9"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8.bin"/><Relationship Id="rId13" Type="http://schemas.openxmlformats.org/officeDocument/2006/relationships/image" Target="../media/image33.wmf"/><Relationship Id="rId3" Type="http://schemas.openxmlformats.org/officeDocument/2006/relationships/image" Target="../media/image28.wmf"/><Relationship Id="rId7" Type="http://schemas.openxmlformats.org/officeDocument/2006/relationships/image" Target="../media/image30.wmf"/><Relationship Id="rId12" Type="http://schemas.openxmlformats.org/officeDocument/2006/relationships/oleObject" Target="../embeddings/oleObject10.bin"/><Relationship Id="rId2" Type="http://schemas.openxmlformats.org/officeDocument/2006/relationships/oleObject" Target="../embeddings/oleObject5.bin"/><Relationship Id="rId1" Type="http://schemas.openxmlformats.org/officeDocument/2006/relationships/slideLayout" Target="../slideLayouts/slideLayout2.xml"/><Relationship Id="rId6" Type="http://schemas.openxmlformats.org/officeDocument/2006/relationships/oleObject" Target="../embeddings/oleObject7.bin"/><Relationship Id="rId11" Type="http://schemas.openxmlformats.org/officeDocument/2006/relationships/image" Target="../media/image32.wmf"/><Relationship Id="rId5" Type="http://schemas.openxmlformats.org/officeDocument/2006/relationships/image" Target="../media/image29.wmf"/><Relationship Id="rId15" Type="http://schemas.openxmlformats.org/officeDocument/2006/relationships/image" Target="../media/image34.wmf"/><Relationship Id="rId10" Type="http://schemas.openxmlformats.org/officeDocument/2006/relationships/oleObject" Target="../embeddings/oleObject9.bin"/><Relationship Id="rId4" Type="http://schemas.openxmlformats.org/officeDocument/2006/relationships/oleObject" Target="../embeddings/oleObject6.bin"/><Relationship Id="rId9" Type="http://schemas.openxmlformats.org/officeDocument/2006/relationships/image" Target="../media/image31.wmf"/><Relationship Id="rId14" Type="http://schemas.openxmlformats.org/officeDocument/2006/relationships/oleObject" Target="../embeddings/oleObject11.bin"/></Relationships>
</file>

<file path=ppt/slides/_rels/slide21.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12.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6.wmf"/><Relationship Id="rId7" Type="http://schemas.openxmlformats.org/officeDocument/2006/relationships/image" Target="../media/image38.png"/><Relationship Id="rId2" Type="http://schemas.openxmlformats.org/officeDocument/2006/relationships/oleObject" Target="../embeddings/oleObject13.bin"/><Relationship Id="rId1" Type="http://schemas.openxmlformats.org/officeDocument/2006/relationships/slideLayout" Target="../slideLayouts/slideLayout2.xml"/><Relationship Id="rId6" Type="http://schemas.openxmlformats.org/officeDocument/2006/relationships/oleObject" Target="../embeddings/oleObject15.bin"/><Relationship Id="rId5" Type="http://schemas.openxmlformats.org/officeDocument/2006/relationships/image" Target="../media/image37.wmf"/><Relationship Id="rId4" Type="http://schemas.openxmlformats.org/officeDocument/2006/relationships/oleObject" Target="../embeddings/oleObject14.bin"/></Relationships>
</file>

<file path=ppt/slides/_rels/slide23.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oleObject" Target="../embeddings/oleObject16.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oleObject" Target="../embeddings/oleObject17.bin"/><Relationship Id="rId1" Type="http://schemas.openxmlformats.org/officeDocument/2006/relationships/slideLayout" Target="../slideLayouts/slideLayout2.xml"/><Relationship Id="rId5" Type="http://schemas.openxmlformats.org/officeDocument/2006/relationships/image" Target="../media/image41.wmf"/><Relationship Id="rId4" Type="http://schemas.openxmlformats.org/officeDocument/2006/relationships/oleObject" Target="../embeddings/oleObject18.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48.jpeg"/><Relationship Id="rId3" Type="http://schemas.openxmlformats.org/officeDocument/2006/relationships/image" Target="../media/image43.png"/><Relationship Id="rId7" Type="http://schemas.openxmlformats.org/officeDocument/2006/relationships/image" Target="../media/image47.jpeg"/><Relationship Id="rId2" Type="http://schemas.openxmlformats.org/officeDocument/2006/relationships/image" Target="../media/image42.jpe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jpeg"/><Relationship Id="rId4" Type="http://schemas.openxmlformats.org/officeDocument/2006/relationships/image" Target="../media/image44.jpeg"/></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22.bin"/><Relationship Id="rId13" Type="http://schemas.openxmlformats.org/officeDocument/2006/relationships/image" Target="../media/image54.wmf"/><Relationship Id="rId3" Type="http://schemas.openxmlformats.org/officeDocument/2006/relationships/image" Target="../media/image49.wmf"/><Relationship Id="rId7" Type="http://schemas.openxmlformats.org/officeDocument/2006/relationships/image" Target="../media/image51.wmf"/><Relationship Id="rId12" Type="http://schemas.openxmlformats.org/officeDocument/2006/relationships/oleObject" Target="../embeddings/oleObject24.bin"/><Relationship Id="rId2" Type="http://schemas.openxmlformats.org/officeDocument/2006/relationships/oleObject" Target="../embeddings/oleObject19.bin"/><Relationship Id="rId1" Type="http://schemas.openxmlformats.org/officeDocument/2006/relationships/slideLayout" Target="../slideLayouts/slideLayout2.xml"/><Relationship Id="rId6" Type="http://schemas.openxmlformats.org/officeDocument/2006/relationships/oleObject" Target="../embeddings/oleObject21.bin"/><Relationship Id="rId11" Type="http://schemas.openxmlformats.org/officeDocument/2006/relationships/image" Target="../media/image53.wmf"/><Relationship Id="rId5" Type="http://schemas.openxmlformats.org/officeDocument/2006/relationships/image" Target="../media/image50.wmf"/><Relationship Id="rId15" Type="http://schemas.openxmlformats.org/officeDocument/2006/relationships/image" Target="../media/image55.wmf"/><Relationship Id="rId10" Type="http://schemas.openxmlformats.org/officeDocument/2006/relationships/oleObject" Target="../embeddings/oleObject23.bin"/><Relationship Id="rId4" Type="http://schemas.openxmlformats.org/officeDocument/2006/relationships/oleObject" Target="../embeddings/oleObject20.bin"/><Relationship Id="rId9" Type="http://schemas.openxmlformats.org/officeDocument/2006/relationships/image" Target="../media/image52.wmf"/><Relationship Id="rId14" Type="http://schemas.openxmlformats.org/officeDocument/2006/relationships/oleObject" Target="../embeddings/oleObject25.bin"/></Relationships>
</file>

<file path=ppt/slides/_rels/slide31.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oleObject" Target="../embeddings/oleObject26.bin"/><Relationship Id="rId1" Type="http://schemas.openxmlformats.org/officeDocument/2006/relationships/slideLayout" Target="../slideLayouts/slideLayout2.xml"/><Relationship Id="rId5" Type="http://schemas.openxmlformats.org/officeDocument/2006/relationships/image" Target="../media/image57.wmf"/><Relationship Id="rId4" Type="http://schemas.openxmlformats.org/officeDocument/2006/relationships/oleObject" Target="../embeddings/oleObject27.bin"/></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31.bin"/><Relationship Id="rId13" Type="http://schemas.openxmlformats.org/officeDocument/2006/relationships/image" Target="../media/image63.wmf"/><Relationship Id="rId3" Type="http://schemas.openxmlformats.org/officeDocument/2006/relationships/image" Target="../media/image58.wmf"/><Relationship Id="rId7" Type="http://schemas.openxmlformats.org/officeDocument/2006/relationships/image" Target="../media/image60.wmf"/><Relationship Id="rId12" Type="http://schemas.openxmlformats.org/officeDocument/2006/relationships/oleObject" Target="../embeddings/oleObject33.bin"/><Relationship Id="rId17" Type="http://schemas.openxmlformats.org/officeDocument/2006/relationships/image" Target="../media/image65.wmf"/><Relationship Id="rId2" Type="http://schemas.openxmlformats.org/officeDocument/2006/relationships/oleObject" Target="../embeddings/oleObject28.bin"/><Relationship Id="rId16" Type="http://schemas.openxmlformats.org/officeDocument/2006/relationships/oleObject" Target="../embeddings/oleObject35.bin"/><Relationship Id="rId1" Type="http://schemas.openxmlformats.org/officeDocument/2006/relationships/slideLayout" Target="../slideLayouts/slideLayout2.xml"/><Relationship Id="rId6" Type="http://schemas.openxmlformats.org/officeDocument/2006/relationships/oleObject" Target="../embeddings/oleObject30.bin"/><Relationship Id="rId11" Type="http://schemas.openxmlformats.org/officeDocument/2006/relationships/image" Target="../media/image62.wmf"/><Relationship Id="rId5" Type="http://schemas.openxmlformats.org/officeDocument/2006/relationships/image" Target="../media/image59.wmf"/><Relationship Id="rId15" Type="http://schemas.openxmlformats.org/officeDocument/2006/relationships/image" Target="../media/image64.wmf"/><Relationship Id="rId10" Type="http://schemas.openxmlformats.org/officeDocument/2006/relationships/oleObject" Target="../embeddings/oleObject32.bin"/><Relationship Id="rId4" Type="http://schemas.openxmlformats.org/officeDocument/2006/relationships/oleObject" Target="../embeddings/oleObject29.bin"/><Relationship Id="rId9" Type="http://schemas.openxmlformats.org/officeDocument/2006/relationships/image" Target="../media/image61.wmf"/><Relationship Id="rId14" Type="http://schemas.openxmlformats.org/officeDocument/2006/relationships/oleObject" Target="../embeddings/oleObject34.bin"/></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39.bin"/><Relationship Id="rId3" Type="http://schemas.openxmlformats.org/officeDocument/2006/relationships/image" Target="../media/image66.wmf"/><Relationship Id="rId7" Type="http://schemas.openxmlformats.org/officeDocument/2006/relationships/image" Target="../media/image68.wmf"/><Relationship Id="rId2" Type="http://schemas.openxmlformats.org/officeDocument/2006/relationships/oleObject" Target="../embeddings/oleObject36.bin"/><Relationship Id="rId1" Type="http://schemas.openxmlformats.org/officeDocument/2006/relationships/slideLayout" Target="../slideLayouts/slideLayout2.xml"/><Relationship Id="rId6" Type="http://schemas.openxmlformats.org/officeDocument/2006/relationships/oleObject" Target="../embeddings/oleObject38.bin"/><Relationship Id="rId5" Type="http://schemas.openxmlformats.org/officeDocument/2006/relationships/image" Target="../media/image67.wmf"/><Relationship Id="rId4" Type="http://schemas.openxmlformats.org/officeDocument/2006/relationships/oleObject" Target="../embeddings/oleObject37.bin"/><Relationship Id="rId9" Type="http://schemas.openxmlformats.org/officeDocument/2006/relationships/image" Target="../media/image69.wmf"/></Relationships>
</file>

<file path=ppt/slides/_rels/slide34.x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oleObject" Target="../embeddings/oleObject40.bin"/><Relationship Id="rId1" Type="http://schemas.openxmlformats.org/officeDocument/2006/relationships/slideLayout" Target="../slideLayouts/slideLayout2.xml"/><Relationship Id="rId5" Type="http://schemas.openxmlformats.org/officeDocument/2006/relationships/image" Target="../media/image71.wmf"/><Relationship Id="rId4" Type="http://schemas.openxmlformats.org/officeDocument/2006/relationships/oleObject" Target="../embeddings/oleObject41.bin"/></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45.bin"/><Relationship Id="rId13" Type="http://schemas.openxmlformats.org/officeDocument/2006/relationships/image" Target="../media/image77.wmf"/><Relationship Id="rId3" Type="http://schemas.openxmlformats.org/officeDocument/2006/relationships/image" Target="../media/image72.wmf"/><Relationship Id="rId7" Type="http://schemas.openxmlformats.org/officeDocument/2006/relationships/image" Target="../media/image74.wmf"/><Relationship Id="rId12" Type="http://schemas.openxmlformats.org/officeDocument/2006/relationships/oleObject" Target="../embeddings/oleObject47.bin"/><Relationship Id="rId2" Type="http://schemas.openxmlformats.org/officeDocument/2006/relationships/oleObject" Target="../embeddings/oleObject42.bin"/><Relationship Id="rId1" Type="http://schemas.openxmlformats.org/officeDocument/2006/relationships/slideLayout" Target="../slideLayouts/slideLayout2.xml"/><Relationship Id="rId6" Type="http://schemas.openxmlformats.org/officeDocument/2006/relationships/oleObject" Target="../embeddings/oleObject44.bin"/><Relationship Id="rId11" Type="http://schemas.openxmlformats.org/officeDocument/2006/relationships/image" Target="../media/image76.wmf"/><Relationship Id="rId5" Type="http://schemas.openxmlformats.org/officeDocument/2006/relationships/image" Target="../media/image73.wmf"/><Relationship Id="rId10" Type="http://schemas.openxmlformats.org/officeDocument/2006/relationships/oleObject" Target="../embeddings/oleObject46.bin"/><Relationship Id="rId4" Type="http://schemas.openxmlformats.org/officeDocument/2006/relationships/oleObject" Target="../embeddings/oleObject43.bin"/><Relationship Id="rId9" Type="http://schemas.openxmlformats.org/officeDocument/2006/relationships/image" Target="../media/image75.wmf"/></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51.bin"/><Relationship Id="rId3" Type="http://schemas.openxmlformats.org/officeDocument/2006/relationships/image" Target="../media/image78.wmf"/><Relationship Id="rId7" Type="http://schemas.openxmlformats.org/officeDocument/2006/relationships/image" Target="../media/image80.wmf"/><Relationship Id="rId2" Type="http://schemas.openxmlformats.org/officeDocument/2006/relationships/oleObject" Target="../embeddings/oleObject48.bin"/><Relationship Id="rId1" Type="http://schemas.openxmlformats.org/officeDocument/2006/relationships/slideLayout" Target="../slideLayouts/slideLayout2.xml"/><Relationship Id="rId6" Type="http://schemas.openxmlformats.org/officeDocument/2006/relationships/oleObject" Target="../embeddings/oleObject50.bin"/><Relationship Id="rId5" Type="http://schemas.openxmlformats.org/officeDocument/2006/relationships/image" Target="../media/image79.wmf"/><Relationship Id="rId4" Type="http://schemas.openxmlformats.org/officeDocument/2006/relationships/oleObject" Target="../embeddings/oleObject49.bin"/><Relationship Id="rId9" Type="http://schemas.openxmlformats.org/officeDocument/2006/relationships/image" Target="../media/image81.wmf"/></Relationships>
</file>

<file path=ppt/slides/_rels/slide37.x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oleObject" Target="../embeddings/oleObject52.bin"/><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3.wmf"/><Relationship Id="rId2" Type="http://schemas.openxmlformats.org/officeDocument/2006/relationships/oleObject" Target="../embeddings/oleObject53.bin"/><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oleObject" Target="../embeddings/oleObject54.bin"/><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oleObject" Target="../embeddings/oleObject55.bin"/><Relationship Id="rId1" Type="http://schemas.openxmlformats.org/officeDocument/2006/relationships/slideLayout" Target="../slideLayouts/slideLayout2.xml"/><Relationship Id="rId5" Type="http://schemas.openxmlformats.org/officeDocument/2006/relationships/image" Target="../media/image86.wmf"/><Relationship Id="rId4" Type="http://schemas.openxmlformats.org/officeDocument/2006/relationships/oleObject" Target="../embeddings/oleObject56.bin"/></Relationships>
</file>

<file path=ppt/slides/_rels/slide42.x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oleObject" Target="../embeddings/oleObject57.bin"/><Relationship Id="rId1" Type="http://schemas.openxmlformats.org/officeDocument/2006/relationships/slideLayout" Target="../slideLayouts/slideLayout2.xml"/><Relationship Id="rId5" Type="http://schemas.openxmlformats.org/officeDocument/2006/relationships/image" Target="../media/image88.wmf"/><Relationship Id="rId4" Type="http://schemas.openxmlformats.org/officeDocument/2006/relationships/oleObject" Target="../embeddings/oleObject58.bin"/></Relationships>
</file>

<file path=ppt/slides/_rels/slide43.xml.rels><?xml version="1.0" encoding="UTF-8" standalone="yes"?>
<Relationships xmlns="http://schemas.openxmlformats.org/package/2006/relationships"><Relationship Id="rId3" Type="http://schemas.openxmlformats.org/officeDocument/2006/relationships/image" Target="../media/image89.wmf"/><Relationship Id="rId2" Type="http://schemas.openxmlformats.org/officeDocument/2006/relationships/oleObject" Target="../embeddings/oleObject59.bin"/><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63.bin"/><Relationship Id="rId13" Type="http://schemas.openxmlformats.org/officeDocument/2006/relationships/image" Target="../media/image95.png"/><Relationship Id="rId3" Type="http://schemas.openxmlformats.org/officeDocument/2006/relationships/image" Target="../media/image90.png"/><Relationship Id="rId7" Type="http://schemas.openxmlformats.org/officeDocument/2006/relationships/image" Target="../media/image92.png"/><Relationship Id="rId12" Type="http://schemas.openxmlformats.org/officeDocument/2006/relationships/oleObject" Target="../embeddings/oleObject65.bin"/><Relationship Id="rId2" Type="http://schemas.openxmlformats.org/officeDocument/2006/relationships/oleObject" Target="../embeddings/oleObject60.bin"/><Relationship Id="rId1" Type="http://schemas.openxmlformats.org/officeDocument/2006/relationships/slideLayout" Target="../slideLayouts/slideLayout2.xml"/><Relationship Id="rId6" Type="http://schemas.openxmlformats.org/officeDocument/2006/relationships/oleObject" Target="../embeddings/oleObject62.bin"/><Relationship Id="rId11" Type="http://schemas.openxmlformats.org/officeDocument/2006/relationships/image" Target="../media/image94.png"/><Relationship Id="rId5" Type="http://schemas.openxmlformats.org/officeDocument/2006/relationships/image" Target="../media/image91.png"/><Relationship Id="rId15" Type="http://schemas.openxmlformats.org/officeDocument/2006/relationships/image" Target="../media/image96.wmf"/><Relationship Id="rId10" Type="http://schemas.openxmlformats.org/officeDocument/2006/relationships/oleObject" Target="../embeddings/oleObject64.bin"/><Relationship Id="rId4" Type="http://schemas.openxmlformats.org/officeDocument/2006/relationships/oleObject" Target="../embeddings/oleObject61.bin"/><Relationship Id="rId9" Type="http://schemas.openxmlformats.org/officeDocument/2006/relationships/image" Target="../media/image93.png"/><Relationship Id="rId14" Type="http://schemas.openxmlformats.org/officeDocument/2006/relationships/oleObject" Target="../embeddings/oleObject66.bin"/></Relationships>
</file>

<file path=ppt/slides/_rels/slide45.x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oleObject" Target="../embeddings/oleObject67.bin"/><Relationship Id="rId1" Type="http://schemas.openxmlformats.org/officeDocument/2006/relationships/slideLayout" Target="../slideLayouts/slideLayout2.xml"/><Relationship Id="rId5" Type="http://schemas.openxmlformats.org/officeDocument/2006/relationships/image" Target="../media/image98.wmf"/><Relationship Id="rId4" Type="http://schemas.openxmlformats.org/officeDocument/2006/relationships/oleObject" Target="../embeddings/oleObject68.bin"/></Relationships>
</file>

<file path=ppt/slides/_rels/slide46.xml.rels><?xml version="1.0" encoding="UTF-8" standalone="yes"?>
<Relationships xmlns="http://schemas.openxmlformats.org/package/2006/relationships"><Relationship Id="rId3" Type="http://schemas.openxmlformats.org/officeDocument/2006/relationships/image" Target="../media/image99.wmf"/><Relationship Id="rId7" Type="http://schemas.openxmlformats.org/officeDocument/2006/relationships/image" Target="../media/image101.wmf"/><Relationship Id="rId2" Type="http://schemas.openxmlformats.org/officeDocument/2006/relationships/oleObject" Target="../embeddings/oleObject69.bin"/><Relationship Id="rId1" Type="http://schemas.openxmlformats.org/officeDocument/2006/relationships/slideLayout" Target="../slideLayouts/slideLayout2.xml"/><Relationship Id="rId6" Type="http://schemas.openxmlformats.org/officeDocument/2006/relationships/oleObject" Target="../embeddings/oleObject71.bin"/><Relationship Id="rId5" Type="http://schemas.openxmlformats.org/officeDocument/2006/relationships/image" Target="../media/image100.wmf"/><Relationship Id="rId4" Type="http://schemas.openxmlformats.org/officeDocument/2006/relationships/oleObject" Target="../embeddings/oleObject70.bin"/></Relationships>
</file>

<file path=ppt/slides/_rels/slide47.xml.rels><?xml version="1.0" encoding="UTF-8" standalone="yes"?>
<Relationships xmlns="http://schemas.openxmlformats.org/package/2006/relationships"><Relationship Id="rId3" Type="http://schemas.openxmlformats.org/officeDocument/2006/relationships/image" Target="../media/image102.wmf"/><Relationship Id="rId2" Type="http://schemas.openxmlformats.org/officeDocument/2006/relationships/oleObject" Target="../embeddings/oleObject72.bin"/><Relationship Id="rId1" Type="http://schemas.openxmlformats.org/officeDocument/2006/relationships/slideLayout" Target="../slideLayouts/slideLayout2.xml"/><Relationship Id="rId5" Type="http://schemas.openxmlformats.org/officeDocument/2006/relationships/image" Target="../media/image103.wmf"/><Relationship Id="rId4" Type="http://schemas.openxmlformats.org/officeDocument/2006/relationships/oleObject" Target="../embeddings/oleObject73.bin"/></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77.bin"/><Relationship Id="rId3" Type="http://schemas.openxmlformats.org/officeDocument/2006/relationships/image" Target="../media/image104.wmf"/><Relationship Id="rId7" Type="http://schemas.openxmlformats.org/officeDocument/2006/relationships/image" Target="../media/image106.wmf"/><Relationship Id="rId2" Type="http://schemas.openxmlformats.org/officeDocument/2006/relationships/oleObject" Target="../embeddings/oleObject74.bin"/><Relationship Id="rId1" Type="http://schemas.openxmlformats.org/officeDocument/2006/relationships/slideLayout" Target="../slideLayouts/slideLayout2.xml"/><Relationship Id="rId6" Type="http://schemas.openxmlformats.org/officeDocument/2006/relationships/oleObject" Target="../embeddings/oleObject76.bin"/><Relationship Id="rId11" Type="http://schemas.openxmlformats.org/officeDocument/2006/relationships/image" Target="../media/image108.wmf"/><Relationship Id="rId5" Type="http://schemas.openxmlformats.org/officeDocument/2006/relationships/image" Target="../media/image105.wmf"/><Relationship Id="rId10" Type="http://schemas.openxmlformats.org/officeDocument/2006/relationships/oleObject" Target="../embeddings/oleObject78.bin"/><Relationship Id="rId4" Type="http://schemas.openxmlformats.org/officeDocument/2006/relationships/oleObject" Target="../embeddings/oleObject75.bin"/><Relationship Id="rId9" Type="http://schemas.openxmlformats.org/officeDocument/2006/relationships/image" Target="../media/image107.wmf"/></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82.bin"/><Relationship Id="rId3" Type="http://schemas.openxmlformats.org/officeDocument/2006/relationships/image" Target="../media/image109.wmf"/><Relationship Id="rId7" Type="http://schemas.openxmlformats.org/officeDocument/2006/relationships/image" Target="../media/image111.wmf"/><Relationship Id="rId2" Type="http://schemas.openxmlformats.org/officeDocument/2006/relationships/oleObject" Target="../embeddings/oleObject79.bin"/><Relationship Id="rId1" Type="http://schemas.openxmlformats.org/officeDocument/2006/relationships/slideLayout" Target="../slideLayouts/slideLayout2.xml"/><Relationship Id="rId6" Type="http://schemas.openxmlformats.org/officeDocument/2006/relationships/oleObject" Target="../embeddings/oleObject81.bin"/><Relationship Id="rId11" Type="http://schemas.openxmlformats.org/officeDocument/2006/relationships/image" Target="../media/image113.wmf"/><Relationship Id="rId5" Type="http://schemas.openxmlformats.org/officeDocument/2006/relationships/image" Target="../media/image110.wmf"/><Relationship Id="rId10" Type="http://schemas.openxmlformats.org/officeDocument/2006/relationships/oleObject" Target="../embeddings/oleObject83.bin"/><Relationship Id="rId4" Type="http://schemas.openxmlformats.org/officeDocument/2006/relationships/oleObject" Target="../embeddings/oleObject80.bin"/><Relationship Id="rId9" Type="http://schemas.openxmlformats.org/officeDocument/2006/relationships/image" Target="../media/image112.wmf"/></Relationships>
</file>

<file path=ppt/slides/_rels/slide50.xml.rels><?xml version="1.0" encoding="UTF-8" standalone="yes"?>
<Relationships xmlns="http://schemas.openxmlformats.org/package/2006/relationships"><Relationship Id="rId3" Type="http://schemas.openxmlformats.org/officeDocument/2006/relationships/image" Target="../media/image114.wmf"/><Relationship Id="rId2" Type="http://schemas.openxmlformats.org/officeDocument/2006/relationships/oleObject" Target="../embeddings/oleObject84.bin"/><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15.wmf"/><Relationship Id="rId2" Type="http://schemas.openxmlformats.org/officeDocument/2006/relationships/oleObject" Target="../embeddings/oleObject85.bin"/><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89.bin"/><Relationship Id="rId3" Type="http://schemas.openxmlformats.org/officeDocument/2006/relationships/image" Target="../media/image116.wmf"/><Relationship Id="rId7" Type="http://schemas.openxmlformats.org/officeDocument/2006/relationships/image" Target="../media/image118.wmf"/><Relationship Id="rId2" Type="http://schemas.openxmlformats.org/officeDocument/2006/relationships/oleObject" Target="../embeddings/oleObject86.bin"/><Relationship Id="rId1" Type="http://schemas.openxmlformats.org/officeDocument/2006/relationships/slideLayout" Target="../slideLayouts/slideLayout2.xml"/><Relationship Id="rId6" Type="http://schemas.openxmlformats.org/officeDocument/2006/relationships/oleObject" Target="../embeddings/oleObject88.bin"/><Relationship Id="rId5" Type="http://schemas.openxmlformats.org/officeDocument/2006/relationships/image" Target="../media/image117.wmf"/><Relationship Id="rId4" Type="http://schemas.openxmlformats.org/officeDocument/2006/relationships/oleObject" Target="../embeddings/oleObject87.bin"/><Relationship Id="rId9" Type="http://schemas.openxmlformats.org/officeDocument/2006/relationships/image" Target="../media/image119.wmf"/></Relationships>
</file>

<file path=ppt/slides/_rels/slide53.xml.rels><?xml version="1.0" encoding="UTF-8" standalone="yes"?>
<Relationships xmlns="http://schemas.openxmlformats.org/package/2006/relationships"><Relationship Id="rId3" Type="http://schemas.openxmlformats.org/officeDocument/2006/relationships/image" Target="../media/image120.wmf"/><Relationship Id="rId2" Type="http://schemas.openxmlformats.org/officeDocument/2006/relationships/oleObject" Target="../embeddings/oleObject90.bin"/><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21.wmf"/><Relationship Id="rId2" Type="http://schemas.openxmlformats.org/officeDocument/2006/relationships/oleObject" Target="../embeddings/oleObject91.bin"/><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22.wmf"/><Relationship Id="rId7" Type="http://schemas.openxmlformats.org/officeDocument/2006/relationships/image" Target="../media/image124.wmf"/><Relationship Id="rId2" Type="http://schemas.openxmlformats.org/officeDocument/2006/relationships/oleObject" Target="../embeddings/oleObject92.bin"/><Relationship Id="rId1" Type="http://schemas.openxmlformats.org/officeDocument/2006/relationships/slideLayout" Target="../slideLayouts/slideLayout2.xml"/><Relationship Id="rId6" Type="http://schemas.openxmlformats.org/officeDocument/2006/relationships/oleObject" Target="../embeddings/oleObject94.bin"/><Relationship Id="rId5" Type="http://schemas.openxmlformats.org/officeDocument/2006/relationships/image" Target="../media/image123.wmf"/><Relationship Id="rId4" Type="http://schemas.openxmlformats.org/officeDocument/2006/relationships/oleObject" Target="../embeddings/oleObject93.bin"/></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98.bin"/><Relationship Id="rId13" Type="http://schemas.openxmlformats.org/officeDocument/2006/relationships/image" Target="../media/image130.wmf"/><Relationship Id="rId3" Type="http://schemas.openxmlformats.org/officeDocument/2006/relationships/image" Target="../media/image125.wmf"/><Relationship Id="rId7" Type="http://schemas.openxmlformats.org/officeDocument/2006/relationships/image" Target="../media/image127.wmf"/><Relationship Id="rId12" Type="http://schemas.openxmlformats.org/officeDocument/2006/relationships/oleObject" Target="../embeddings/oleObject100.bin"/><Relationship Id="rId2" Type="http://schemas.openxmlformats.org/officeDocument/2006/relationships/oleObject" Target="../embeddings/oleObject95.bin"/><Relationship Id="rId1" Type="http://schemas.openxmlformats.org/officeDocument/2006/relationships/slideLayout" Target="../slideLayouts/slideLayout6.xml"/><Relationship Id="rId6" Type="http://schemas.openxmlformats.org/officeDocument/2006/relationships/oleObject" Target="../embeddings/oleObject97.bin"/><Relationship Id="rId11" Type="http://schemas.openxmlformats.org/officeDocument/2006/relationships/image" Target="../media/image129.wmf"/><Relationship Id="rId5" Type="http://schemas.openxmlformats.org/officeDocument/2006/relationships/image" Target="../media/image126.wmf"/><Relationship Id="rId10" Type="http://schemas.openxmlformats.org/officeDocument/2006/relationships/oleObject" Target="../embeddings/oleObject99.bin"/><Relationship Id="rId4" Type="http://schemas.openxmlformats.org/officeDocument/2006/relationships/oleObject" Target="../embeddings/oleObject96.bin"/><Relationship Id="rId9" Type="http://schemas.openxmlformats.org/officeDocument/2006/relationships/image" Target="../media/image128.wmf"/></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104.bin"/><Relationship Id="rId3" Type="http://schemas.openxmlformats.org/officeDocument/2006/relationships/image" Target="../media/image131.wmf"/><Relationship Id="rId7" Type="http://schemas.openxmlformats.org/officeDocument/2006/relationships/image" Target="../media/image133.wmf"/><Relationship Id="rId2" Type="http://schemas.openxmlformats.org/officeDocument/2006/relationships/oleObject" Target="../embeddings/oleObject101.bin"/><Relationship Id="rId1" Type="http://schemas.openxmlformats.org/officeDocument/2006/relationships/slideLayout" Target="../slideLayouts/slideLayout6.xml"/><Relationship Id="rId6" Type="http://schemas.openxmlformats.org/officeDocument/2006/relationships/oleObject" Target="../embeddings/oleObject103.bin"/><Relationship Id="rId11" Type="http://schemas.openxmlformats.org/officeDocument/2006/relationships/image" Target="../media/image135.wmf"/><Relationship Id="rId5" Type="http://schemas.openxmlformats.org/officeDocument/2006/relationships/image" Target="../media/image132.wmf"/><Relationship Id="rId10" Type="http://schemas.openxmlformats.org/officeDocument/2006/relationships/oleObject" Target="../embeddings/oleObject105.bin"/><Relationship Id="rId4" Type="http://schemas.openxmlformats.org/officeDocument/2006/relationships/oleObject" Target="../embeddings/oleObject102.bin"/><Relationship Id="rId9" Type="http://schemas.openxmlformats.org/officeDocument/2006/relationships/image" Target="../media/image134.wmf"/></Relationships>
</file>

<file path=ppt/slides/_rels/slide59.xml.rels><?xml version="1.0" encoding="UTF-8" standalone="yes"?>
<Relationships xmlns="http://schemas.openxmlformats.org/package/2006/relationships"><Relationship Id="rId3" Type="http://schemas.openxmlformats.org/officeDocument/2006/relationships/image" Target="../media/image136.wmf"/><Relationship Id="rId7" Type="http://schemas.openxmlformats.org/officeDocument/2006/relationships/image" Target="../media/image137.wmf"/><Relationship Id="rId2" Type="http://schemas.openxmlformats.org/officeDocument/2006/relationships/oleObject" Target="../embeddings/oleObject106.bin"/><Relationship Id="rId1" Type="http://schemas.openxmlformats.org/officeDocument/2006/relationships/slideLayout" Target="../slideLayouts/slideLayout7.xml"/><Relationship Id="rId6" Type="http://schemas.openxmlformats.org/officeDocument/2006/relationships/oleObject" Target="../embeddings/oleObject107.bin"/><Relationship Id="rId5" Type="http://schemas.openxmlformats.org/officeDocument/2006/relationships/image" Target="../media/image132.wmf"/><Relationship Id="rId4" Type="http://schemas.openxmlformats.org/officeDocument/2006/relationships/oleObject" Target="../embeddings/oleObject102.bin"/></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111.bin"/><Relationship Id="rId13" Type="http://schemas.openxmlformats.org/officeDocument/2006/relationships/image" Target="../media/image143.wmf"/><Relationship Id="rId3" Type="http://schemas.openxmlformats.org/officeDocument/2006/relationships/image" Target="../media/image138.wmf"/><Relationship Id="rId7" Type="http://schemas.openxmlformats.org/officeDocument/2006/relationships/image" Target="../media/image140.wmf"/><Relationship Id="rId12" Type="http://schemas.openxmlformats.org/officeDocument/2006/relationships/oleObject" Target="../embeddings/oleObject113.bin"/><Relationship Id="rId2" Type="http://schemas.openxmlformats.org/officeDocument/2006/relationships/oleObject" Target="../embeddings/oleObject108.bin"/><Relationship Id="rId1" Type="http://schemas.openxmlformats.org/officeDocument/2006/relationships/slideLayout" Target="../slideLayouts/slideLayout7.xml"/><Relationship Id="rId6" Type="http://schemas.openxmlformats.org/officeDocument/2006/relationships/oleObject" Target="../embeddings/oleObject110.bin"/><Relationship Id="rId11" Type="http://schemas.openxmlformats.org/officeDocument/2006/relationships/image" Target="../media/image142.wmf"/><Relationship Id="rId5" Type="http://schemas.openxmlformats.org/officeDocument/2006/relationships/image" Target="../media/image139.wmf"/><Relationship Id="rId10" Type="http://schemas.openxmlformats.org/officeDocument/2006/relationships/oleObject" Target="../embeddings/oleObject112.bin"/><Relationship Id="rId4" Type="http://schemas.openxmlformats.org/officeDocument/2006/relationships/oleObject" Target="../embeddings/oleObject109.bin"/><Relationship Id="rId9" Type="http://schemas.openxmlformats.org/officeDocument/2006/relationships/image" Target="../media/image141.wmf"/></Relationships>
</file>

<file path=ppt/slides/_rels/slide61.xml.rels><?xml version="1.0" encoding="UTF-8" standalone="yes"?>
<Relationships xmlns="http://schemas.openxmlformats.org/package/2006/relationships"><Relationship Id="rId8" Type="http://schemas.openxmlformats.org/officeDocument/2006/relationships/oleObject" Target="../embeddings/oleObject117.bin"/><Relationship Id="rId3" Type="http://schemas.openxmlformats.org/officeDocument/2006/relationships/image" Target="../media/image96.wmf"/><Relationship Id="rId7" Type="http://schemas.openxmlformats.org/officeDocument/2006/relationships/image" Target="../media/image145.wmf"/><Relationship Id="rId2" Type="http://schemas.openxmlformats.org/officeDocument/2006/relationships/oleObject" Target="../embeddings/oleObject114.bin"/><Relationship Id="rId1" Type="http://schemas.openxmlformats.org/officeDocument/2006/relationships/slideLayout" Target="../slideLayouts/slideLayout2.xml"/><Relationship Id="rId6" Type="http://schemas.openxmlformats.org/officeDocument/2006/relationships/oleObject" Target="../embeddings/oleObject116.bin"/><Relationship Id="rId5" Type="http://schemas.openxmlformats.org/officeDocument/2006/relationships/image" Target="../media/image144.wmf"/><Relationship Id="rId4" Type="http://schemas.openxmlformats.org/officeDocument/2006/relationships/oleObject" Target="../embeddings/oleObject115.bin"/><Relationship Id="rId9" Type="http://schemas.openxmlformats.org/officeDocument/2006/relationships/image" Target="../media/image146.wmf"/></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121.bin"/><Relationship Id="rId13" Type="http://schemas.openxmlformats.org/officeDocument/2006/relationships/image" Target="../media/image152.wmf"/><Relationship Id="rId3" Type="http://schemas.openxmlformats.org/officeDocument/2006/relationships/image" Target="../media/image147.wmf"/><Relationship Id="rId7" Type="http://schemas.openxmlformats.org/officeDocument/2006/relationships/image" Target="../media/image149.wmf"/><Relationship Id="rId12" Type="http://schemas.openxmlformats.org/officeDocument/2006/relationships/oleObject" Target="../embeddings/oleObject123.bin"/><Relationship Id="rId17" Type="http://schemas.openxmlformats.org/officeDocument/2006/relationships/image" Target="../media/image154.wmf"/><Relationship Id="rId2" Type="http://schemas.openxmlformats.org/officeDocument/2006/relationships/oleObject" Target="../embeddings/oleObject118.bin"/><Relationship Id="rId16" Type="http://schemas.openxmlformats.org/officeDocument/2006/relationships/oleObject" Target="../embeddings/oleObject125.bin"/><Relationship Id="rId1" Type="http://schemas.openxmlformats.org/officeDocument/2006/relationships/slideLayout" Target="../slideLayouts/slideLayout7.xml"/><Relationship Id="rId6" Type="http://schemas.openxmlformats.org/officeDocument/2006/relationships/oleObject" Target="../embeddings/oleObject120.bin"/><Relationship Id="rId11" Type="http://schemas.openxmlformats.org/officeDocument/2006/relationships/image" Target="../media/image151.wmf"/><Relationship Id="rId5" Type="http://schemas.openxmlformats.org/officeDocument/2006/relationships/image" Target="../media/image148.wmf"/><Relationship Id="rId15" Type="http://schemas.openxmlformats.org/officeDocument/2006/relationships/image" Target="../media/image153.wmf"/><Relationship Id="rId10" Type="http://schemas.openxmlformats.org/officeDocument/2006/relationships/oleObject" Target="../embeddings/oleObject122.bin"/><Relationship Id="rId4" Type="http://schemas.openxmlformats.org/officeDocument/2006/relationships/oleObject" Target="../embeddings/oleObject119.bin"/><Relationship Id="rId9" Type="http://schemas.openxmlformats.org/officeDocument/2006/relationships/image" Target="../media/image150.wmf"/><Relationship Id="rId14" Type="http://schemas.openxmlformats.org/officeDocument/2006/relationships/oleObject" Target="../embeddings/oleObject124.bin"/></Relationships>
</file>

<file path=ppt/slides/_rels/slide63.xml.rels><?xml version="1.0" encoding="UTF-8" standalone="yes"?>
<Relationships xmlns="http://schemas.openxmlformats.org/package/2006/relationships"><Relationship Id="rId8" Type="http://schemas.openxmlformats.org/officeDocument/2006/relationships/oleObject" Target="../embeddings/oleObject129.bin"/><Relationship Id="rId3" Type="http://schemas.openxmlformats.org/officeDocument/2006/relationships/image" Target="../media/image155.wmf"/><Relationship Id="rId7" Type="http://schemas.openxmlformats.org/officeDocument/2006/relationships/image" Target="../media/image157.wmf"/><Relationship Id="rId2" Type="http://schemas.openxmlformats.org/officeDocument/2006/relationships/oleObject" Target="../embeddings/oleObject126.bin"/><Relationship Id="rId1" Type="http://schemas.openxmlformats.org/officeDocument/2006/relationships/slideLayout" Target="../slideLayouts/slideLayout7.xml"/><Relationship Id="rId6" Type="http://schemas.openxmlformats.org/officeDocument/2006/relationships/oleObject" Target="../embeddings/oleObject128.bin"/><Relationship Id="rId11" Type="http://schemas.openxmlformats.org/officeDocument/2006/relationships/image" Target="../media/image159.wmf"/><Relationship Id="rId5" Type="http://schemas.openxmlformats.org/officeDocument/2006/relationships/image" Target="../media/image156.wmf"/><Relationship Id="rId10" Type="http://schemas.openxmlformats.org/officeDocument/2006/relationships/oleObject" Target="../embeddings/oleObject130.bin"/><Relationship Id="rId4" Type="http://schemas.openxmlformats.org/officeDocument/2006/relationships/oleObject" Target="../embeddings/oleObject127.bin"/><Relationship Id="rId9" Type="http://schemas.openxmlformats.org/officeDocument/2006/relationships/image" Target="../media/image158.wmf"/></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160.wmf"/><Relationship Id="rId7" Type="http://schemas.openxmlformats.org/officeDocument/2006/relationships/image" Target="../media/image162.wmf"/><Relationship Id="rId2" Type="http://schemas.openxmlformats.org/officeDocument/2006/relationships/oleObject" Target="../embeddings/oleObject131.bin"/><Relationship Id="rId1" Type="http://schemas.openxmlformats.org/officeDocument/2006/relationships/slideLayout" Target="../slideLayouts/slideLayout7.xml"/><Relationship Id="rId6" Type="http://schemas.openxmlformats.org/officeDocument/2006/relationships/oleObject" Target="../embeddings/oleObject133.bin"/><Relationship Id="rId5" Type="http://schemas.openxmlformats.org/officeDocument/2006/relationships/image" Target="../media/image161.wmf"/><Relationship Id="rId4" Type="http://schemas.openxmlformats.org/officeDocument/2006/relationships/oleObject" Target="../embeddings/oleObject132.bin"/></Relationships>
</file>

<file path=ppt/slides/_rels/slide66.xml.rels><?xml version="1.0" encoding="UTF-8" standalone="yes"?>
<Relationships xmlns="http://schemas.openxmlformats.org/package/2006/relationships"><Relationship Id="rId8" Type="http://schemas.openxmlformats.org/officeDocument/2006/relationships/oleObject" Target="../embeddings/oleObject137.bin"/><Relationship Id="rId13" Type="http://schemas.openxmlformats.org/officeDocument/2006/relationships/image" Target="../media/image168.wmf"/><Relationship Id="rId18" Type="http://schemas.openxmlformats.org/officeDocument/2006/relationships/oleObject" Target="../embeddings/oleObject142.bin"/><Relationship Id="rId3" Type="http://schemas.openxmlformats.org/officeDocument/2006/relationships/image" Target="../media/image163.wmf"/><Relationship Id="rId21" Type="http://schemas.openxmlformats.org/officeDocument/2006/relationships/image" Target="../media/image172.wmf"/><Relationship Id="rId7" Type="http://schemas.openxmlformats.org/officeDocument/2006/relationships/image" Target="../media/image165.wmf"/><Relationship Id="rId12" Type="http://schemas.openxmlformats.org/officeDocument/2006/relationships/oleObject" Target="../embeddings/oleObject139.bin"/><Relationship Id="rId17" Type="http://schemas.openxmlformats.org/officeDocument/2006/relationships/image" Target="../media/image170.wmf"/><Relationship Id="rId25" Type="http://schemas.openxmlformats.org/officeDocument/2006/relationships/image" Target="../media/image174.wmf"/><Relationship Id="rId2" Type="http://schemas.openxmlformats.org/officeDocument/2006/relationships/oleObject" Target="../embeddings/oleObject134.bin"/><Relationship Id="rId16" Type="http://schemas.openxmlformats.org/officeDocument/2006/relationships/oleObject" Target="../embeddings/oleObject141.bin"/><Relationship Id="rId20" Type="http://schemas.openxmlformats.org/officeDocument/2006/relationships/oleObject" Target="../embeddings/oleObject143.bin"/><Relationship Id="rId1" Type="http://schemas.openxmlformats.org/officeDocument/2006/relationships/slideLayout" Target="../slideLayouts/slideLayout7.xml"/><Relationship Id="rId6" Type="http://schemas.openxmlformats.org/officeDocument/2006/relationships/oleObject" Target="../embeddings/oleObject136.bin"/><Relationship Id="rId11" Type="http://schemas.openxmlformats.org/officeDocument/2006/relationships/image" Target="../media/image167.wmf"/><Relationship Id="rId24" Type="http://schemas.openxmlformats.org/officeDocument/2006/relationships/oleObject" Target="../embeddings/oleObject145.bin"/><Relationship Id="rId5" Type="http://schemas.openxmlformats.org/officeDocument/2006/relationships/image" Target="../media/image164.wmf"/><Relationship Id="rId15" Type="http://schemas.openxmlformats.org/officeDocument/2006/relationships/image" Target="../media/image169.wmf"/><Relationship Id="rId23" Type="http://schemas.openxmlformats.org/officeDocument/2006/relationships/image" Target="../media/image173.wmf"/><Relationship Id="rId10" Type="http://schemas.openxmlformats.org/officeDocument/2006/relationships/oleObject" Target="../embeddings/oleObject138.bin"/><Relationship Id="rId19" Type="http://schemas.openxmlformats.org/officeDocument/2006/relationships/image" Target="../media/image171.wmf"/><Relationship Id="rId4" Type="http://schemas.openxmlformats.org/officeDocument/2006/relationships/oleObject" Target="../embeddings/oleObject135.bin"/><Relationship Id="rId9" Type="http://schemas.openxmlformats.org/officeDocument/2006/relationships/image" Target="../media/image166.wmf"/><Relationship Id="rId14" Type="http://schemas.openxmlformats.org/officeDocument/2006/relationships/oleObject" Target="../embeddings/oleObject140.bin"/><Relationship Id="rId22" Type="http://schemas.openxmlformats.org/officeDocument/2006/relationships/oleObject" Target="../embeddings/oleObject144.bin"/></Relationships>
</file>

<file path=ppt/slides/_rels/slide67.xml.rels><?xml version="1.0" encoding="UTF-8" standalone="yes"?>
<Relationships xmlns="http://schemas.openxmlformats.org/package/2006/relationships"><Relationship Id="rId8" Type="http://schemas.openxmlformats.org/officeDocument/2006/relationships/oleObject" Target="../embeddings/oleObject149.bin"/><Relationship Id="rId13" Type="http://schemas.openxmlformats.org/officeDocument/2006/relationships/image" Target="../media/image180.wmf"/><Relationship Id="rId18" Type="http://schemas.openxmlformats.org/officeDocument/2006/relationships/oleObject" Target="../embeddings/oleObject154.bin"/><Relationship Id="rId3" Type="http://schemas.openxmlformats.org/officeDocument/2006/relationships/image" Target="../media/image175.wmf"/><Relationship Id="rId21" Type="http://schemas.openxmlformats.org/officeDocument/2006/relationships/image" Target="../media/image184.wmf"/><Relationship Id="rId7" Type="http://schemas.openxmlformats.org/officeDocument/2006/relationships/image" Target="../media/image177.wmf"/><Relationship Id="rId12" Type="http://schemas.openxmlformats.org/officeDocument/2006/relationships/oleObject" Target="../embeddings/oleObject151.bin"/><Relationship Id="rId17" Type="http://schemas.openxmlformats.org/officeDocument/2006/relationships/image" Target="../media/image182.wmf"/><Relationship Id="rId2" Type="http://schemas.openxmlformats.org/officeDocument/2006/relationships/oleObject" Target="../embeddings/oleObject146.bin"/><Relationship Id="rId16" Type="http://schemas.openxmlformats.org/officeDocument/2006/relationships/oleObject" Target="../embeddings/oleObject153.bin"/><Relationship Id="rId20" Type="http://schemas.openxmlformats.org/officeDocument/2006/relationships/oleObject" Target="../embeddings/oleObject155.bin"/><Relationship Id="rId1" Type="http://schemas.openxmlformats.org/officeDocument/2006/relationships/slideLayout" Target="../slideLayouts/slideLayout7.xml"/><Relationship Id="rId6" Type="http://schemas.openxmlformats.org/officeDocument/2006/relationships/oleObject" Target="../embeddings/oleObject148.bin"/><Relationship Id="rId11" Type="http://schemas.openxmlformats.org/officeDocument/2006/relationships/image" Target="../media/image179.wmf"/><Relationship Id="rId5" Type="http://schemas.openxmlformats.org/officeDocument/2006/relationships/image" Target="../media/image176.wmf"/><Relationship Id="rId15" Type="http://schemas.openxmlformats.org/officeDocument/2006/relationships/image" Target="../media/image181.wmf"/><Relationship Id="rId10" Type="http://schemas.openxmlformats.org/officeDocument/2006/relationships/oleObject" Target="../embeddings/oleObject150.bin"/><Relationship Id="rId19" Type="http://schemas.openxmlformats.org/officeDocument/2006/relationships/image" Target="../media/image183.wmf"/><Relationship Id="rId4" Type="http://schemas.openxmlformats.org/officeDocument/2006/relationships/oleObject" Target="../embeddings/oleObject147.bin"/><Relationship Id="rId9" Type="http://schemas.openxmlformats.org/officeDocument/2006/relationships/image" Target="../media/image178.wmf"/><Relationship Id="rId14" Type="http://schemas.openxmlformats.org/officeDocument/2006/relationships/oleObject" Target="../embeddings/oleObject152.bin"/></Relationships>
</file>

<file path=ppt/slides/_rels/slide68.xml.rels><?xml version="1.0" encoding="UTF-8" standalone="yes"?>
<Relationships xmlns="http://schemas.openxmlformats.org/package/2006/relationships"><Relationship Id="rId8" Type="http://schemas.openxmlformats.org/officeDocument/2006/relationships/oleObject" Target="../embeddings/oleObject159.bin"/><Relationship Id="rId3" Type="http://schemas.openxmlformats.org/officeDocument/2006/relationships/image" Target="../media/image185.wmf"/><Relationship Id="rId7" Type="http://schemas.openxmlformats.org/officeDocument/2006/relationships/image" Target="../media/image187.wmf"/><Relationship Id="rId2" Type="http://schemas.openxmlformats.org/officeDocument/2006/relationships/oleObject" Target="../embeddings/oleObject156.bin"/><Relationship Id="rId1" Type="http://schemas.openxmlformats.org/officeDocument/2006/relationships/slideLayout" Target="../slideLayouts/slideLayout7.xml"/><Relationship Id="rId6" Type="http://schemas.openxmlformats.org/officeDocument/2006/relationships/oleObject" Target="../embeddings/oleObject158.bin"/><Relationship Id="rId5" Type="http://schemas.openxmlformats.org/officeDocument/2006/relationships/image" Target="../media/image186.wmf"/><Relationship Id="rId4" Type="http://schemas.openxmlformats.org/officeDocument/2006/relationships/oleObject" Target="../embeddings/oleObject157.bin"/><Relationship Id="rId9" Type="http://schemas.openxmlformats.org/officeDocument/2006/relationships/image" Target="../media/image188.wmf"/></Relationships>
</file>

<file path=ppt/slides/_rels/slide69.xml.rels><?xml version="1.0" encoding="UTF-8" standalone="yes"?>
<Relationships xmlns="http://schemas.openxmlformats.org/package/2006/relationships"><Relationship Id="rId8" Type="http://schemas.openxmlformats.org/officeDocument/2006/relationships/oleObject" Target="../embeddings/oleObject163.bin"/><Relationship Id="rId3" Type="http://schemas.openxmlformats.org/officeDocument/2006/relationships/image" Target="../media/image189.wmf"/><Relationship Id="rId7" Type="http://schemas.openxmlformats.org/officeDocument/2006/relationships/image" Target="../media/image191.wmf"/><Relationship Id="rId2" Type="http://schemas.openxmlformats.org/officeDocument/2006/relationships/oleObject" Target="../embeddings/oleObject160.bin"/><Relationship Id="rId1" Type="http://schemas.openxmlformats.org/officeDocument/2006/relationships/slideLayout" Target="../slideLayouts/slideLayout7.xml"/><Relationship Id="rId6" Type="http://schemas.openxmlformats.org/officeDocument/2006/relationships/oleObject" Target="../embeddings/oleObject162.bin"/><Relationship Id="rId5" Type="http://schemas.openxmlformats.org/officeDocument/2006/relationships/image" Target="../media/image190.wmf"/><Relationship Id="rId4" Type="http://schemas.openxmlformats.org/officeDocument/2006/relationships/oleObject" Target="../embeddings/oleObject161.bin"/><Relationship Id="rId9" Type="http://schemas.openxmlformats.org/officeDocument/2006/relationships/image" Target="../media/image192.wmf"/></Relationships>
</file>

<file path=ppt/slides/_rels/slide70.xml.rels><?xml version="1.0" encoding="UTF-8" standalone="yes"?>
<Relationships xmlns="http://schemas.openxmlformats.org/package/2006/relationships"><Relationship Id="rId8" Type="http://schemas.openxmlformats.org/officeDocument/2006/relationships/oleObject" Target="../embeddings/oleObject167.bin"/><Relationship Id="rId13" Type="http://schemas.openxmlformats.org/officeDocument/2006/relationships/image" Target="../media/image198.wmf"/><Relationship Id="rId3" Type="http://schemas.openxmlformats.org/officeDocument/2006/relationships/image" Target="../media/image193.wmf"/><Relationship Id="rId7" Type="http://schemas.openxmlformats.org/officeDocument/2006/relationships/image" Target="../media/image195.wmf"/><Relationship Id="rId12" Type="http://schemas.openxmlformats.org/officeDocument/2006/relationships/oleObject" Target="../embeddings/oleObject169.bin"/><Relationship Id="rId17" Type="http://schemas.openxmlformats.org/officeDocument/2006/relationships/image" Target="../media/image200.wmf"/><Relationship Id="rId2" Type="http://schemas.openxmlformats.org/officeDocument/2006/relationships/oleObject" Target="../embeddings/oleObject164.bin"/><Relationship Id="rId16" Type="http://schemas.openxmlformats.org/officeDocument/2006/relationships/oleObject" Target="../embeddings/oleObject171.bin"/><Relationship Id="rId1" Type="http://schemas.openxmlformats.org/officeDocument/2006/relationships/slideLayout" Target="../slideLayouts/slideLayout7.xml"/><Relationship Id="rId6" Type="http://schemas.openxmlformats.org/officeDocument/2006/relationships/oleObject" Target="../embeddings/oleObject166.bin"/><Relationship Id="rId11" Type="http://schemas.openxmlformats.org/officeDocument/2006/relationships/image" Target="../media/image197.wmf"/><Relationship Id="rId5" Type="http://schemas.openxmlformats.org/officeDocument/2006/relationships/image" Target="../media/image194.wmf"/><Relationship Id="rId15" Type="http://schemas.openxmlformats.org/officeDocument/2006/relationships/image" Target="../media/image199.wmf"/><Relationship Id="rId10" Type="http://schemas.openxmlformats.org/officeDocument/2006/relationships/oleObject" Target="../embeddings/oleObject168.bin"/><Relationship Id="rId4" Type="http://schemas.openxmlformats.org/officeDocument/2006/relationships/oleObject" Target="../embeddings/oleObject165.bin"/><Relationship Id="rId9" Type="http://schemas.openxmlformats.org/officeDocument/2006/relationships/image" Target="../media/image196.wmf"/><Relationship Id="rId14" Type="http://schemas.openxmlformats.org/officeDocument/2006/relationships/oleObject" Target="../embeddings/oleObject170.bin"/></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8" Type="http://schemas.openxmlformats.org/officeDocument/2006/relationships/image" Target="../media/image203.wmf"/><Relationship Id="rId3" Type="http://schemas.openxmlformats.org/officeDocument/2006/relationships/image" Target="../media/image201.wmf"/><Relationship Id="rId7" Type="http://schemas.openxmlformats.org/officeDocument/2006/relationships/oleObject" Target="../embeddings/oleObject174.bin"/><Relationship Id="rId12" Type="http://schemas.openxmlformats.org/officeDocument/2006/relationships/image" Target="../media/image205.wmf"/><Relationship Id="rId2" Type="http://schemas.openxmlformats.org/officeDocument/2006/relationships/oleObject" Target="../embeddings/oleObject172.bin"/><Relationship Id="rId1" Type="http://schemas.openxmlformats.org/officeDocument/2006/relationships/slideLayout" Target="../slideLayouts/slideLayout7.xml"/><Relationship Id="rId6" Type="http://schemas.openxmlformats.org/officeDocument/2006/relationships/image" Target="../media/image202.wmf"/><Relationship Id="rId11" Type="http://schemas.openxmlformats.org/officeDocument/2006/relationships/oleObject" Target="../embeddings/oleObject176.bin"/><Relationship Id="rId5" Type="http://schemas.openxmlformats.org/officeDocument/2006/relationships/oleObject" Target="../embeddings/oleObject173.bin"/><Relationship Id="rId10" Type="http://schemas.openxmlformats.org/officeDocument/2006/relationships/image" Target="../media/image204.wmf"/><Relationship Id="rId4" Type="http://schemas.openxmlformats.org/officeDocument/2006/relationships/image" Target="../media/image203.png"/><Relationship Id="rId9" Type="http://schemas.openxmlformats.org/officeDocument/2006/relationships/oleObject" Target="../embeddings/oleObject175.bin"/></Relationships>
</file>

<file path=ppt/slides/_rels/slide74.xml.rels><?xml version="1.0" encoding="UTF-8" standalone="yes"?>
<Relationships xmlns="http://schemas.openxmlformats.org/package/2006/relationships"><Relationship Id="rId3" Type="http://schemas.openxmlformats.org/officeDocument/2006/relationships/image" Target="../media/image206.wmf"/><Relationship Id="rId7" Type="http://schemas.openxmlformats.org/officeDocument/2006/relationships/image" Target="../media/image208.wmf"/><Relationship Id="rId2" Type="http://schemas.openxmlformats.org/officeDocument/2006/relationships/oleObject" Target="../embeddings/oleObject177.bin"/><Relationship Id="rId1" Type="http://schemas.openxmlformats.org/officeDocument/2006/relationships/slideLayout" Target="../slideLayouts/slideLayout7.xml"/><Relationship Id="rId6" Type="http://schemas.openxmlformats.org/officeDocument/2006/relationships/oleObject" Target="../embeddings/oleObject179.bin"/><Relationship Id="rId5" Type="http://schemas.openxmlformats.org/officeDocument/2006/relationships/image" Target="../media/image207.wmf"/><Relationship Id="rId4" Type="http://schemas.openxmlformats.org/officeDocument/2006/relationships/oleObject" Target="../embeddings/oleObject178.bin"/></Relationships>
</file>

<file path=ppt/slides/_rels/slide75.xml.rels><?xml version="1.0" encoding="UTF-8" standalone="yes"?>
<Relationships xmlns="http://schemas.openxmlformats.org/package/2006/relationships"><Relationship Id="rId8" Type="http://schemas.openxmlformats.org/officeDocument/2006/relationships/image" Target="../media/image211.wmf"/><Relationship Id="rId13" Type="http://schemas.openxmlformats.org/officeDocument/2006/relationships/oleObject" Target="../embeddings/oleObject185.bin"/><Relationship Id="rId18" Type="http://schemas.openxmlformats.org/officeDocument/2006/relationships/image" Target="../media/image218.png"/><Relationship Id="rId3" Type="http://schemas.openxmlformats.org/officeDocument/2006/relationships/oleObject" Target="../embeddings/oleObject180.bin"/><Relationship Id="rId21" Type="http://schemas.openxmlformats.org/officeDocument/2006/relationships/oleObject" Target="../embeddings/oleObject188.bin"/><Relationship Id="rId7" Type="http://schemas.openxmlformats.org/officeDocument/2006/relationships/oleObject" Target="../embeddings/oleObject182.bin"/><Relationship Id="rId12" Type="http://schemas.openxmlformats.org/officeDocument/2006/relationships/image" Target="../media/image213.wmf"/><Relationship Id="rId2" Type="http://schemas.openxmlformats.org/officeDocument/2006/relationships/notesSlide" Target="../notesSlides/notesSlide1.xml"/><Relationship Id="rId16" Type="http://schemas.openxmlformats.org/officeDocument/2006/relationships/image" Target="../media/image215.wmf"/><Relationship Id="rId20" Type="http://schemas.openxmlformats.org/officeDocument/2006/relationships/image" Target="../media/image216.wmf"/><Relationship Id="rId1" Type="http://schemas.openxmlformats.org/officeDocument/2006/relationships/slideLayout" Target="../slideLayouts/slideLayout7.xml"/><Relationship Id="rId6" Type="http://schemas.openxmlformats.org/officeDocument/2006/relationships/image" Target="../media/image210.wmf"/><Relationship Id="rId11" Type="http://schemas.openxmlformats.org/officeDocument/2006/relationships/oleObject" Target="../embeddings/oleObject184.bin"/><Relationship Id="rId24" Type="http://schemas.openxmlformats.org/officeDocument/2006/relationships/image" Target="../media/image218.wmf"/><Relationship Id="rId5" Type="http://schemas.openxmlformats.org/officeDocument/2006/relationships/oleObject" Target="../embeddings/oleObject181.bin"/><Relationship Id="rId15" Type="http://schemas.openxmlformats.org/officeDocument/2006/relationships/oleObject" Target="../embeddings/oleObject186.bin"/><Relationship Id="rId23" Type="http://schemas.openxmlformats.org/officeDocument/2006/relationships/oleObject" Target="../embeddings/oleObject189.bin"/><Relationship Id="rId10" Type="http://schemas.openxmlformats.org/officeDocument/2006/relationships/image" Target="../media/image212.wmf"/><Relationship Id="rId19" Type="http://schemas.openxmlformats.org/officeDocument/2006/relationships/oleObject" Target="../embeddings/oleObject187.bin"/><Relationship Id="rId4" Type="http://schemas.openxmlformats.org/officeDocument/2006/relationships/image" Target="../media/image209.wmf"/><Relationship Id="rId9" Type="http://schemas.openxmlformats.org/officeDocument/2006/relationships/oleObject" Target="../embeddings/oleObject183.bin"/><Relationship Id="rId14" Type="http://schemas.openxmlformats.org/officeDocument/2006/relationships/image" Target="../media/image214.wmf"/><Relationship Id="rId22" Type="http://schemas.openxmlformats.org/officeDocument/2006/relationships/image" Target="../media/image217.wmf"/></Relationships>
</file>

<file path=ppt/slides/_rels/slide76.xml.rels><?xml version="1.0" encoding="UTF-8" standalone="yes"?>
<Relationships xmlns="http://schemas.openxmlformats.org/package/2006/relationships"><Relationship Id="rId8" Type="http://schemas.openxmlformats.org/officeDocument/2006/relationships/oleObject" Target="../embeddings/oleObject193.bin"/><Relationship Id="rId13" Type="http://schemas.openxmlformats.org/officeDocument/2006/relationships/image" Target="../media/image224.wmf"/><Relationship Id="rId3" Type="http://schemas.openxmlformats.org/officeDocument/2006/relationships/image" Target="../media/image219.wmf"/><Relationship Id="rId7" Type="http://schemas.openxmlformats.org/officeDocument/2006/relationships/image" Target="../media/image221.wmf"/><Relationship Id="rId12" Type="http://schemas.openxmlformats.org/officeDocument/2006/relationships/oleObject" Target="../embeddings/oleObject195.bin"/><Relationship Id="rId2" Type="http://schemas.openxmlformats.org/officeDocument/2006/relationships/oleObject" Target="../embeddings/oleObject190.bin"/><Relationship Id="rId1" Type="http://schemas.openxmlformats.org/officeDocument/2006/relationships/slideLayout" Target="../slideLayouts/slideLayout7.xml"/><Relationship Id="rId6" Type="http://schemas.openxmlformats.org/officeDocument/2006/relationships/oleObject" Target="../embeddings/oleObject192.bin"/><Relationship Id="rId11" Type="http://schemas.openxmlformats.org/officeDocument/2006/relationships/image" Target="../media/image223.wmf"/><Relationship Id="rId5" Type="http://schemas.openxmlformats.org/officeDocument/2006/relationships/image" Target="../media/image220.wmf"/><Relationship Id="rId10" Type="http://schemas.openxmlformats.org/officeDocument/2006/relationships/oleObject" Target="../embeddings/oleObject194.bin"/><Relationship Id="rId4" Type="http://schemas.openxmlformats.org/officeDocument/2006/relationships/oleObject" Target="../embeddings/oleObject191.bin"/><Relationship Id="rId9" Type="http://schemas.openxmlformats.org/officeDocument/2006/relationships/image" Target="../media/image222.wmf"/></Relationships>
</file>

<file path=ppt/slides/_rels/slide77.xml.rels><?xml version="1.0" encoding="UTF-8" standalone="yes"?>
<Relationships xmlns="http://schemas.openxmlformats.org/package/2006/relationships"><Relationship Id="rId3" Type="http://schemas.openxmlformats.org/officeDocument/2006/relationships/image" Target="../media/image225.wmf"/><Relationship Id="rId7" Type="http://schemas.openxmlformats.org/officeDocument/2006/relationships/image" Target="../media/image227.wmf"/><Relationship Id="rId2" Type="http://schemas.openxmlformats.org/officeDocument/2006/relationships/oleObject" Target="../embeddings/oleObject196.bin"/><Relationship Id="rId1" Type="http://schemas.openxmlformats.org/officeDocument/2006/relationships/slideLayout" Target="../slideLayouts/slideLayout7.xml"/><Relationship Id="rId6" Type="http://schemas.openxmlformats.org/officeDocument/2006/relationships/oleObject" Target="../embeddings/oleObject198.bin"/><Relationship Id="rId5" Type="http://schemas.openxmlformats.org/officeDocument/2006/relationships/image" Target="../media/image226.wmf"/><Relationship Id="rId4" Type="http://schemas.openxmlformats.org/officeDocument/2006/relationships/oleObject" Target="../embeddings/oleObject197.bin"/></Relationships>
</file>

<file path=ppt/slides/_rels/slide78.xml.rels><?xml version="1.0" encoding="UTF-8" standalone="yes"?>
<Relationships xmlns="http://schemas.openxmlformats.org/package/2006/relationships"><Relationship Id="rId3" Type="http://schemas.openxmlformats.org/officeDocument/2006/relationships/image" Target="../media/image228.wmf"/><Relationship Id="rId7" Type="http://schemas.openxmlformats.org/officeDocument/2006/relationships/image" Target="../media/image230.wmf"/><Relationship Id="rId2" Type="http://schemas.openxmlformats.org/officeDocument/2006/relationships/oleObject" Target="../embeddings/oleObject199.bin"/><Relationship Id="rId1" Type="http://schemas.openxmlformats.org/officeDocument/2006/relationships/slideLayout" Target="../slideLayouts/slideLayout7.xml"/><Relationship Id="rId6" Type="http://schemas.openxmlformats.org/officeDocument/2006/relationships/oleObject" Target="../embeddings/oleObject201.bin"/><Relationship Id="rId5" Type="http://schemas.openxmlformats.org/officeDocument/2006/relationships/image" Target="../media/image229.wmf"/><Relationship Id="rId4" Type="http://schemas.openxmlformats.org/officeDocument/2006/relationships/oleObject" Target="../embeddings/oleObject200.bin"/></Relationships>
</file>

<file path=ppt/slides/_rels/slide79.xml.rels><?xml version="1.0" encoding="UTF-8" standalone="yes"?>
<Relationships xmlns="http://schemas.openxmlformats.org/package/2006/relationships"><Relationship Id="rId8" Type="http://schemas.openxmlformats.org/officeDocument/2006/relationships/oleObject" Target="../embeddings/oleObject205.bin"/><Relationship Id="rId13" Type="http://schemas.openxmlformats.org/officeDocument/2006/relationships/image" Target="../media/image236.wmf"/><Relationship Id="rId18" Type="http://schemas.openxmlformats.org/officeDocument/2006/relationships/oleObject" Target="../embeddings/oleObject210.bin"/><Relationship Id="rId26" Type="http://schemas.openxmlformats.org/officeDocument/2006/relationships/oleObject" Target="../embeddings/oleObject214.bin"/><Relationship Id="rId3" Type="http://schemas.openxmlformats.org/officeDocument/2006/relationships/image" Target="../media/image231.wmf"/><Relationship Id="rId21" Type="http://schemas.openxmlformats.org/officeDocument/2006/relationships/image" Target="../media/image240.wmf"/><Relationship Id="rId7" Type="http://schemas.openxmlformats.org/officeDocument/2006/relationships/image" Target="../media/image233.wmf"/><Relationship Id="rId12" Type="http://schemas.openxmlformats.org/officeDocument/2006/relationships/oleObject" Target="../embeddings/oleObject207.bin"/><Relationship Id="rId17" Type="http://schemas.openxmlformats.org/officeDocument/2006/relationships/image" Target="../media/image238.wmf"/><Relationship Id="rId25" Type="http://schemas.openxmlformats.org/officeDocument/2006/relationships/image" Target="../media/image242.wmf"/><Relationship Id="rId2" Type="http://schemas.openxmlformats.org/officeDocument/2006/relationships/oleObject" Target="../embeddings/oleObject202.bin"/><Relationship Id="rId16" Type="http://schemas.openxmlformats.org/officeDocument/2006/relationships/oleObject" Target="../embeddings/oleObject209.bin"/><Relationship Id="rId20" Type="http://schemas.openxmlformats.org/officeDocument/2006/relationships/oleObject" Target="../embeddings/oleObject211.bin"/><Relationship Id="rId29" Type="http://schemas.openxmlformats.org/officeDocument/2006/relationships/image" Target="../media/image244.wmf"/><Relationship Id="rId1" Type="http://schemas.openxmlformats.org/officeDocument/2006/relationships/slideLayout" Target="../slideLayouts/slideLayout7.xml"/><Relationship Id="rId6" Type="http://schemas.openxmlformats.org/officeDocument/2006/relationships/oleObject" Target="../embeddings/oleObject204.bin"/><Relationship Id="rId11" Type="http://schemas.openxmlformats.org/officeDocument/2006/relationships/image" Target="../media/image235.wmf"/><Relationship Id="rId24" Type="http://schemas.openxmlformats.org/officeDocument/2006/relationships/oleObject" Target="../embeddings/oleObject213.bin"/><Relationship Id="rId5" Type="http://schemas.openxmlformats.org/officeDocument/2006/relationships/image" Target="../media/image232.wmf"/><Relationship Id="rId15" Type="http://schemas.openxmlformats.org/officeDocument/2006/relationships/image" Target="../media/image237.wmf"/><Relationship Id="rId23" Type="http://schemas.openxmlformats.org/officeDocument/2006/relationships/image" Target="../media/image241.wmf"/><Relationship Id="rId28" Type="http://schemas.openxmlformats.org/officeDocument/2006/relationships/oleObject" Target="../embeddings/oleObject215.bin"/><Relationship Id="rId10" Type="http://schemas.openxmlformats.org/officeDocument/2006/relationships/oleObject" Target="../embeddings/oleObject206.bin"/><Relationship Id="rId19" Type="http://schemas.openxmlformats.org/officeDocument/2006/relationships/image" Target="../media/image239.wmf"/><Relationship Id="rId31" Type="http://schemas.openxmlformats.org/officeDocument/2006/relationships/image" Target="../media/image245.wmf"/><Relationship Id="rId4" Type="http://schemas.openxmlformats.org/officeDocument/2006/relationships/oleObject" Target="../embeddings/oleObject203.bin"/><Relationship Id="rId9" Type="http://schemas.openxmlformats.org/officeDocument/2006/relationships/image" Target="../media/image234.wmf"/><Relationship Id="rId14" Type="http://schemas.openxmlformats.org/officeDocument/2006/relationships/oleObject" Target="../embeddings/oleObject208.bin"/><Relationship Id="rId22" Type="http://schemas.openxmlformats.org/officeDocument/2006/relationships/oleObject" Target="../embeddings/oleObject212.bin"/><Relationship Id="rId27" Type="http://schemas.openxmlformats.org/officeDocument/2006/relationships/image" Target="../media/image243.wmf"/><Relationship Id="rId30" Type="http://schemas.openxmlformats.org/officeDocument/2006/relationships/oleObject" Target="../embeddings/oleObject216.bin"/></Relationships>
</file>

<file path=ppt/slides/_rels/slide80.xml.rels><?xml version="1.0" encoding="UTF-8" standalone="yes"?>
<Relationships xmlns="http://schemas.openxmlformats.org/package/2006/relationships"><Relationship Id="rId13" Type="http://schemas.openxmlformats.org/officeDocument/2006/relationships/oleObject" Target="../embeddings/oleObject222.bin"/><Relationship Id="rId18" Type="http://schemas.openxmlformats.org/officeDocument/2006/relationships/image" Target="../media/image253.wmf"/><Relationship Id="rId26" Type="http://schemas.openxmlformats.org/officeDocument/2006/relationships/image" Target="../media/image257.wmf"/><Relationship Id="rId39" Type="http://schemas.openxmlformats.org/officeDocument/2006/relationships/oleObject" Target="../embeddings/oleObject235.bin"/><Relationship Id="rId21" Type="http://schemas.openxmlformats.org/officeDocument/2006/relationships/oleObject" Target="../embeddings/oleObject226.bin"/><Relationship Id="rId34" Type="http://schemas.openxmlformats.org/officeDocument/2006/relationships/image" Target="../media/image261.wmf"/><Relationship Id="rId42" Type="http://schemas.openxmlformats.org/officeDocument/2006/relationships/image" Target="../media/image265.wmf"/><Relationship Id="rId47" Type="http://schemas.openxmlformats.org/officeDocument/2006/relationships/oleObject" Target="../embeddings/oleObject239.bin"/><Relationship Id="rId50" Type="http://schemas.openxmlformats.org/officeDocument/2006/relationships/image" Target="../media/image269.wmf"/><Relationship Id="rId55" Type="http://schemas.openxmlformats.org/officeDocument/2006/relationships/oleObject" Target="../embeddings/oleObject243.bin"/><Relationship Id="rId7" Type="http://schemas.openxmlformats.org/officeDocument/2006/relationships/oleObject" Target="../embeddings/oleObject219.bin"/><Relationship Id="rId2" Type="http://schemas.openxmlformats.org/officeDocument/2006/relationships/notesSlide" Target="../notesSlides/notesSlide2.xml"/><Relationship Id="rId16" Type="http://schemas.openxmlformats.org/officeDocument/2006/relationships/image" Target="../media/image252.wmf"/><Relationship Id="rId29" Type="http://schemas.openxmlformats.org/officeDocument/2006/relationships/oleObject" Target="../embeddings/oleObject230.bin"/><Relationship Id="rId11" Type="http://schemas.openxmlformats.org/officeDocument/2006/relationships/oleObject" Target="../embeddings/oleObject221.bin"/><Relationship Id="rId24" Type="http://schemas.openxmlformats.org/officeDocument/2006/relationships/image" Target="../media/image256.wmf"/><Relationship Id="rId32" Type="http://schemas.openxmlformats.org/officeDocument/2006/relationships/image" Target="../media/image260.wmf"/><Relationship Id="rId37" Type="http://schemas.openxmlformats.org/officeDocument/2006/relationships/oleObject" Target="../embeddings/oleObject234.bin"/><Relationship Id="rId40" Type="http://schemas.openxmlformats.org/officeDocument/2006/relationships/image" Target="../media/image264.wmf"/><Relationship Id="rId45" Type="http://schemas.openxmlformats.org/officeDocument/2006/relationships/oleObject" Target="../embeddings/oleObject238.bin"/><Relationship Id="rId53" Type="http://schemas.openxmlformats.org/officeDocument/2006/relationships/oleObject" Target="../embeddings/oleObject242.bin"/><Relationship Id="rId5" Type="http://schemas.openxmlformats.org/officeDocument/2006/relationships/oleObject" Target="../embeddings/oleObject218.bin"/><Relationship Id="rId10" Type="http://schemas.openxmlformats.org/officeDocument/2006/relationships/image" Target="../media/image249.wmf"/><Relationship Id="rId19" Type="http://schemas.openxmlformats.org/officeDocument/2006/relationships/oleObject" Target="../embeddings/oleObject225.bin"/><Relationship Id="rId31" Type="http://schemas.openxmlformats.org/officeDocument/2006/relationships/oleObject" Target="../embeddings/oleObject231.bin"/><Relationship Id="rId44" Type="http://schemas.openxmlformats.org/officeDocument/2006/relationships/image" Target="../media/image266.wmf"/><Relationship Id="rId52" Type="http://schemas.openxmlformats.org/officeDocument/2006/relationships/image" Target="../media/image270.wmf"/><Relationship Id="rId4" Type="http://schemas.openxmlformats.org/officeDocument/2006/relationships/image" Target="../media/image246.wmf"/><Relationship Id="rId9" Type="http://schemas.openxmlformats.org/officeDocument/2006/relationships/oleObject" Target="../embeddings/oleObject220.bin"/><Relationship Id="rId14" Type="http://schemas.openxmlformats.org/officeDocument/2006/relationships/image" Target="../media/image251.wmf"/><Relationship Id="rId22" Type="http://schemas.openxmlformats.org/officeDocument/2006/relationships/image" Target="../media/image255.wmf"/><Relationship Id="rId27" Type="http://schemas.openxmlformats.org/officeDocument/2006/relationships/oleObject" Target="../embeddings/oleObject229.bin"/><Relationship Id="rId30" Type="http://schemas.openxmlformats.org/officeDocument/2006/relationships/image" Target="../media/image259.wmf"/><Relationship Id="rId35" Type="http://schemas.openxmlformats.org/officeDocument/2006/relationships/oleObject" Target="../embeddings/oleObject233.bin"/><Relationship Id="rId43" Type="http://schemas.openxmlformats.org/officeDocument/2006/relationships/oleObject" Target="../embeddings/oleObject237.bin"/><Relationship Id="rId48" Type="http://schemas.openxmlformats.org/officeDocument/2006/relationships/image" Target="../media/image268.wmf"/><Relationship Id="rId56" Type="http://schemas.openxmlformats.org/officeDocument/2006/relationships/image" Target="../media/image272.wmf"/><Relationship Id="rId8" Type="http://schemas.openxmlformats.org/officeDocument/2006/relationships/image" Target="../media/image248.wmf"/><Relationship Id="rId51" Type="http://schemas.openxmlformats.org/officeDocument/2006/relationships/oleObject" Target="../embeddings/oleObject241.bin"/><Relationship Id="rId3" Type="http://schemas.openxmlformats.org/officeDocument/2006/relationships/oleObject" Target="../embeddings/oleObject217.bin"/><Relationship Id="rId12" Type="http://schemas.openxmlformats.org/officeDocument/2006/relationships/image" Target="../media/image250.wmf"/><Relationship Id="rId17" Type="http://schemas.openxmlformats.org/officeDocument/2006/relationships/oleObject" Target="../embeddings/oleObject224.bin"/><Relationship Id="rId25" Type="http://schemas.openxmlformats.org/officeDocument/2006/relationships/oleObject" Target="../embeddings/oleObject228.bin"/><Relationship Id="rId33" Type="http://schemas.openxmlformats.org/officeDocument/2006/relationships/oleObject" Target="../embeddings/oleObject232.bin"/><Relationship Id="rId38" Type="http://schemas.openxmlformats.org/officeDocument/2006/relationships/image" Target="../media/image263.wmf"/><Relationship Id="rId46" Type="http://schemas.openxmlformats.org/officeDocument/2006/relationships/image" Target="../media/image267.wmf"/><Relationship Id="rId20" Type="http://schemas.openxmlformats.org/officeDocument/2006/relationships/image" Target="../media/image254.wmf"/><Relationship Id="rId41" Type="http://schemas.openxmlformats.org/officeDocument/2006/relationships/oleObject" Target="../embeddings/oleObject236.bin"/><Relationship Id="rId54" Type="http://schemas.openxmlformats.org/officeDocument/2006/relationships/image" Target="../media/image271.wmf"/><Relationship Id="rId1" Type="http://schemas.openxmlformats.org/officeDocument/2006/relationships/slideLayout" Target="../slideLayouts/slideLayout7.xml"/><Relationship Id="rId6" Type="http://schemas.openxmlformats.org/officeDocument/2006/relationships/image" Target="../media/image247.wmf"/><Relationship Id="rId15" Type="http://schemas.openxmlformats.org/officeDocument/2006/relationships/oleObject" Target="../embeddings/oleObject223.bin"/><Relationship Id="rId23" Type="http://schemas.openxmlformats.org/officeDocument/2006/relationships/oleObject" Target="../embeddings/oleObject227.bin"/><Relationship Id="rId28" Type="http://schemas.openxmlformats.org/officeDocument/2006/relationships/image" Target="../media/image258.wmf"/><Relationship Id="rId36" Type="http://schemas.openxmlformats.org/officeDocument/2006/relationships/image" Target="../media/image262.wmf"/><Relationship Id="rId49" Type="http://schemas.openxmlformats.org/officeDocument/2006/relationships/oleObject" Target="../embeddings/oleObject240.bin"/></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6" descr="绕线转子电机"/>
          <p:cNvPicPr>
            <a:picLocks noChangeAspect="1" noChangeArrowheads="1"/>
          </p:cNvPicPr>
          <p:nvPr/>
        </p:nvPicPr>
        <p:blipFill>
          <a:blip r:embed="rId2">
            <a:lum bright="30000" contrast="-30000"/>
            <a:extLst>
              <a:ext uri="{28A0092B-C50C-407E-A947-70E740481C1C}">
                <a14:useLocalDpi xmlns:a14="http://schemas.microsoft.com/office/drawing/2010/main" val="0"/>
              </a:ext>
            </a:extLst>
          </a:blip>
          <a:srcRect/>
          <a:stretch>
            <a:fillRect/>
          </a:stretch>
        </p:blipFill>
        <p:spPr bwMode="auto">
          <a:xfrm>
            <a:off x="6019800" y="381000"/>
            <a:ext cx="1828800" cy="146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Rectangle 2"/>
          <p:cNvSpPr>
            <a:spLocks noGrp="1" noChangeArrowheads="1"/>
          </p:cNvSpPr>
          <p:nvPr>
            <p:ph type="ctrTitle"/>
          </p:nvPr>
        </p:nvSpPr>
        <p:spPr>
          <a:xfrm>
            <a:off x="450056" y="1814042"/>
            <a:ext cx="7710487" cy="1066800"/>
          </a:xfrm>
        </p:spPr>
        <p:txBody>
          <a:bodyPr/>
          <a:lstStyle/>
          <a:p>
            <a:pPr eaLnBrk="1" hangingPunct="1"/>
            <a:r>
              <a:rPr lang="zh-CN" altLang="en-US" sz="6000" b="1" dirty="0">
                <a:ea typeface="楷体_GB2312" pitchFamily="49" charset="-122"/>
              </a:rPr>
              <a:t>电机拖动与控制</a:t>
            </a:r>
          </a:p>
        </p:txBody>
      </p:sp>
      <p:sp>
        <p:nvSpPr>
          <p:cNvPr id="5124" name="Rectangle 3"/>
          <p:cNvSpPr>
            <a:spLocks noGrp="1" noChangeArrowheads="1"/>
          </p:cNvSpPr>
          <p:nvPr>
            <p:ph type="subTitle" idx="1"/>
          </p:nvPr>
        </p:nvSpPr>
        <p:spPr>
          <a:xfrm>
            <a:off x="827584" y="4221088"/>
            <a:ext cx="7086600" cy="1600200"/>
          </a:xfrm>
        </p:spPr>
        <p:txBody>
          <a:bodyPr/>
          <a:lstStyle/>
          <a:p>
            <a:pPr eaLnBrk="1" hangingPunct="1"/>
            <a:r>
              <a:rPr lang="zh-CN" altLang="en-US" sz="2800" dirty="0">
                <a:latin typeface="华文行楷" panose="02010800040101010101" pitchFamily="2" charset="-122"/>
                <a:ea typeface="华文行楷" panose="02010800040101010101" pitchFamily="2" charset="-122"/>
              </a:rPr>
              <a:t>控制科学与工程系</a:t>
            </a:r>
          </a:p>
          <a:p>
            <a:pPr eaLnBrk="1" hangingPunct="1"/>
            <a:r>
              <a:rPr lang="zh-CN" altLang="en-US" sz="2800" dirty="0">
                <a:latin typeface="华文行楷" panose="02010800040101010101" pitchFamily="2" charset="-122"/>
                <a:ea typeface="华文行楷" panose="02010800040101010101" pitchFamily="2" charset="-122"/>
              </a:rPr>
              <a:t>李叶松</a:t>
            </a:r>
            <a:endParaRPr lang="en-US" altLang="zh-CN" sz="2800" dirty="0">
              <a:latin typeface="华文行楷" panose="02010800040101010101" pitchFamily="2" charset="-122"/>
              <a:ea typeface="华文行楷" panose="02010800040101010101" pitchFamily="2" charset="-122"/>
            </a:endParaRPr>
          </a:p>
          <a:p>
            <a:pPr eaLnBrk="1" hangingPunct="1"/>
            <a:r>
              <a:rPr lang="zh-CN" altLang="en-US" sz="2800" dirty="0">
                <a:latin typeface="华文行楷" panose="02010800040101010101" pitchFamily="2" charset="-122"/>
                <a:ea typeface="华文行楷" panose="02010800040101010101" pitchFamily="2" charset="-122"/>
              </a:rPr>
              <a:t>东二楼</a:t>
            </a:r>
            <a:r>
              <a:rPr lang="en-US" altLang="zh-CN" sz="2800" dirty="0">
                <a:latin typeface="华文行楷" panose="02010800040101010101" pitchFamily="2" charset="-122"/>
                <a:ea typeface="华文行楷" panose="02010800040101010101" pitchFamily="2" charset="-122"/>
              </a:rPr>
              <a:t>309</a:t>
            </a:r>
          </a:p>
          <a:p>
            <a:pPr eaLnBrk="1" hangingPunct="1"/>
            <a:r>
              <a:rPr lang="en-US" altLang="zh-CN" sz="2800" dirty="0">
                <a:latin typeface="仿宋" panose="02010609060101010101" pitchFamily="49" charset="-122"/>
                <a:ea typeface="仿宋" panose="02010609060101010101" pitchFamily="49" charset="-122"/>
              </a:rPr>
              <a:t>yesongli@hust.edu.cn</a:t>
            </a:r>
            <a:endParaRPr lang="en-US" altLang="zh-CN" dirty="0">
              <a:latin typeface="仿宋" panose="02010609060101010101" pitchFamily="49" charset="-122"/>
              <a:ea typeface="仿宋" panose="02010609060101010101" pitchFamily="49" charset="-122"/>
            </a:endParaRPr>
          </a:p>
        </p:txBody>
      </p:sp>
      <p:sp>
        <p:nvSpPr>
          <p:cNvPr id="5126" name="Text Box 5"/>
          <p:cNvSpPr txBox="1">
            <a:spLocks noChangeArrowheads="1"/>
          </p:cNvSpPr>
          <p:nvPr/>
        </p:nvSpPr>
        <p:spPr bwMode="auto">
          <a:xfrm>
            <a:off x="1258888" y="3429000"/>
            <a:ext cx="7346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800" b="1" i="1">
                <a:latin typeface="Bookman Old Style" panose="02050604050505020204" pitchFamily="18" charset="0"/>
              </a:rPr>
              <a:t>Electrical </a:t>
            </a:r>
            <a:r>
              <a:rPr lang="en-US" altLang="zh-CN" sz="2400" b="1" i="1"/>
              <a:t>Machines</a:t>
            </a:r>
            <a:r>
              <a:rPr lang="en-US" altLang="zh-CN" sz="2800" b="1" i="1">
                <a:latin typeface="Bookman Old Style" panose="02050604050505020204" pitchFamily="18" charset="0"/>
              </a:rPr>
              <a:t> Drive and Control </a:t>
            </a:r>
          </a:p>
        </p:txBody>
      </p:sp>
      <p:sp>
        <p:nvSpPr>
          <p:cNvPr id="6" name="日期占位符 5">
            <a:extLst>
              <a:ext uri="{FF2B5EF4-FFF2-40B4-BE49-F238E27FC236}">
                <a16:creationId xmlns:a16="http://schemas.microsoft.com/office/drawing/2014/main" id="{F9105A5E-EEDF-1EAB-0C58-B3ABC07206CF}"/>
              </a:ext>
            </a:extLst>
          </p:cNvPr>
          <p:cNvSpPr>
            <a:spLocks noGrp="1"/>
          </p:cNvSpPr>
          <p:nvPr>
            <p:ph type="dt" sz="half" idx="10"/>
          </p:nvPr>
        </p:nvSpPr>
        <p:spPr/>
        <p:txBody>
          <a:bodyPr/>
          <a:lstStyle/>
          <a:p>
            <a:fld id="{7BC601AA-64FE-499D-9FE2-5207DFE67CCB}" type="datetime10">
              <a:rPr lang="en-US" altLang="zh-CN" smtClean="0"/>
              <a:t>16:53</a:t>
            </a:fld>
            <a:endParaRPr lang="en-US" altLang="zh-CN"/>
          </a:p>
        </p:txBody>
      </p:sp>
      <p:sp>
        <p:nvSpPr>
          <p:cNvPr id="7" name="灯片编号占位符 6">
            <a:extLst>
              <a:ext uri="{FF2B5EF4-FFF2-40B4-BE49-F238E27FC236}">
                <a16:creationId xmlns:a16="http://schemas.microsoft.com/office/drawing/2014/main" id="{30D2A6B1-2BB9-AC65-5D8F-35132F7170EC}"/>
              </a:ext>
            </a:extLst>
          </p:cNvPr>
          <p:cNvSpPr>
            <a:spLocks noGrp="1"/>
          </p:cNvSpPr>
          <p:nvPr>
            <p:ph type="sldNum" sz="quarter" idx="12"/>
          </p:nvPr>
        </p:nvSpPr>
        <p:spPr/>
        <p:txBody>
          <a:bodyPr/>
          <a:lstStyle/>
          <a:p>
            <a:fld id="{514CBEF7-F8C5-4992-8DBB-A497D4016018}" type="slidenum">
              <a:rPr lang="en-US" altLang="zh-CN" smtClean="0"/>
              <a:pPr/>
              <a:t>1</a:t>
            </a:fld>
            <a:endParaRPr lang="en-US" altLang="zh-CN"/>
          </a:p>
        </p:txBody>
      </p:sp>
    </p:spTree>
    <p:extLst>
      <p:ext uri="{BB962C8B-B14F-4D97-AF65-F5344CB8AC3E}">
        <p14:creationId xmlns:p14="http://schemas.microsoft.com/office/powerpoint/2010/main" val="1838123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6D796B5E-410F-45A8-9F6C-4C8292A9B69C}" type="slidenum">
              <a:rPr kumimoji="0" lang="en-US" altLang="zh-CN" sz="1400"/>
              <a:pPr>
                <a:spcBef>
                  <a:spcPct val="0"/>
                </a:spcBef>
                <a:buClrTx/>
                <a:buSzTx/>
                <a:buFontTx/>
                <a:buNone/>
              </a:pPr>
              <a:t>2</a:t>
            </a:fld>
            <a:endParaRPr kumimoji="0" lang="en-US" altLang="zh-CN" sz="1400"/>
          </a:p>
        </p:txBody>
      </p:sp>
      <p:pic>
        <p:nvPicPr>
          <p:cNvPr id="115718" name="Picture 6" descr="电机与系统"/>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2057400"/>
            <a:ext cx="280035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717" name="Picture 5" descr="电机原理"/>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2057400"/>
            <a:ext cx="2497138"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9" name="Rectangle 2"/>
          <p:cNvSpPr>
            <a:spLocks noGrp="1" noChangeArrowheads="1"/>
          </p:cNvSpPr>
          <p:nvPr>
            <p:ph type="title"/>
          </p:nvPr>
        </p:nvSpPr>
        <p:spPr>
          <a:xfrm>
            <a:off x="381000" y="519112"/>
            <a:ext cx="8229600" cy="1143000"/>
          </a:xfrm>
        </p:spPr>
        <p:txBody>
          <a:bodyPr/>
          <a:lstStyle/>
          <a:p>
            <a:pPr eaLnBrk="1" hangingPunct="1"/>
            <a:r>
              <a:rPr lang="zh-CN" altLang="en-US" dirty="0">
                <a:latin typeface="华文楷体" panose="02010600040101010101" pitchFamily="2" charset="-122"/>
                <a:ea typeface="华文楷体" panose="02010600040101010101" pitchFamily="2" charset="-122"/>
              </a:rPr>
              <a:t>教材与参考书</a:t>
            </a:r>
          </a:p>
        </p:txBody>
      </p:sp>
      <p:sp>
        <p:nvSpPr>
          <p:cNvPr id="6150" name="Rectangle 3"/>
          <p:cNvSpPr>
            <a:spLocks noGrp="1" noChangeArrowheads="1"/>
          </p:cNvSpPr>
          <p:nvPr>
            <p:ph type="body" idx="1"/>
          </p:nvPr>
        </p:nvSpPr>
        <p:spPr>
          <a:xfrm>
            <a:off x="468313" y="1371600"/>
            <a:ext cx="8218487" cy="1295400"/>
          </a:xfrm>
        </p:spPr>
        <p:txBody>
          <a:bodyPr/>
          <a:lstStyle/>
          <a:p>
            <a:pPr eaLnBrk="1" hangingPunct="1">
              <a:buFont typeface="Wingdings" panose="05000000000000000000" pitchFamily="2" charset="2"/>
              <a:buNone/>
            </a:pPr>
            <a:r>
              <a:rPr lang="zh-CN" altLang="en-US" b="1" dirty="0">
                <a:latin typeface="华文楷体" panose="02010600040101010101" pitchFamily="2" charset="-122"/>
                <a:ea typeface="华文楷体" panose="02010600040101010101" pitchFamily="2" charset="-122"/>
              </a:rPr>
              <a:t>教材</a:t>
            </a:r>
            <a:r>
              <a:rPr lang="zh-CN" altLang="en-US" sz="2800" b="1" dirty="0">
                <a:latin typeface="华文楷体" panose="02010600040101010101" pitchFamily="2" charset="-122"/>
                <a:ea typeface="华文楷体" panose="02010600040101010101" pitchFamily="2" charset="-122"/>
              </a:rPr>
              <a:t>：  电机与电力拖动基础   </a:t>
            </a:r>
          </a:p>
          <a:p>
            <a:pPr eaLnBrk="1" hangingPunct="1">
              <a:buFont typeface="Wingdings" panose="05000000000000000000" pitchFamily="2" charset="2"/>
              <a:buNone/>
            </a:pPr>
            <a:r>
              <a:rPr lang="zh-CN" altLang="en-US" sz="2800" b="1" dirty="0">
                <a:latin typeface="华文楷体" panose="02010600040101010101" pitchFamily="2" charset="-122"/>
                <a:ea typeface="华文楷体" panose="02010600040101010101" pitchFamily="2" charset="-122"/>
              </a:rPr>
              <a:t>            尹泉、周永鹏等  华科大出版社</a:t>
            </a:r>
            <a:r>
              <a:rPr lang="en-US" altLang="zh-CN" sz="2800" b="1" dirty="0">
                <a:latin typeface="华文楷体" panose="02010600040101010101" pitchFamily="2" charset="-122"/>
                <a:ea typeface="华文楷体" panose="02010600040101010101" pitchFamily="2" charset="-122"/>
              </a:rPr>
              <a:t>【2012】</a:t>
            </a:r>
          </a:p>
        </p:txBody>
      </p:sp>
      <p:sp>
        <p:nvSpPr>
          <p:cNvPr id="115721" name="Text Box 9"/>
          <p:cNvSpPr txBox="1">
            <a:spLocks noChangeArrowheads="1"/>
          </p:cNvSpPr>
          <p:nvPr/>
        </p:nvSpPr>
        <p:spPr bwMode="auto">
          <a:xfrm>
            <a:off x="381000" y="2844036"/>
            <a:ext cx="8763000" cy="525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zh-CN" altLang="en-US" sz="2800" b="1" dirty="0">
                <a:latin typeface="华文楷体" panose="02010600040101010101" pitchFamily="2" charset="-122"/>
                <a:ea typeface="华文楷体" panose="02010600040101010101" pitchFamily="2" charset="-122"/>
              </a:rPr>
              <a:t>参考书</a:t>
            </a:r>
            <a:r>
              <a:rPr lang="zh-CN" altLang="en-US" sz="2800" dirty="0">
                <a:latin typeface="华文楷体" panose="02010600040101010101" pitchFamily="2" charset="-122"/>
                <a:ea typeface="华文楷体" panose="02010600040101010101" pitchFamily="2" charset="-122"/>
              </a:rPr>
              <a:t>：</a:t>
            </a:r>
            <a:r>
              <a:rPr lang="en-US" altLang="zh-CN" sz="2800" b="1" dirty="0">
                <a:latin typeface="华文楷体" panose="02010600040101010101" pitchFamily="2" charset="-122"/>
                <a:ea typeface="华文楷体" panose="02010600040101010101" pitchFamily="2" charset="-122"/>
              </a:rPr>
              <a:t>1</a:t>
            </a:r>
            <a:r>
              <a:rPr lang="zh-CN" altLang="en-US" sz="2800" b="1" dirty="0">
                <a:latin typeface="华文楷体" panose="02010600040101010101" pitchFamily="2" charset="-122"/>
                <a:ea typeface="华文楷体" panose="02010600040101010101" pitchFamily="2" charset="-122"/>
              </a:rPr>
              <a:t>、电机与拖动基础， 顾绳谷 机械工业出版社</a:t>
            </a:r>
          </a:p>
        </p:txBody>
      </p:sp>
      <p:sp>
        <p:nvSpPr>
          <p:cNvPr id="115722" name="Text Box 10"/>
          <p:cNvSpPr txBox="1">
            <a:spLocks noChangeArrowheads="1"/>
          </p:cNvSpPr>
          <p:nvPr/>
        </p:nvSpPr>
        <p:spPr bwMode="auto">
          <a:xfrm>
            <a:off x="442913" y="3733800"/>
            <a:ext cx="8167687" cy="525401"/>
          </a:xfrm>
          <a:prstGeom prst="rect">
            <a:avLst/>
          </a:prstGeom>
          <a:noFill/>
          <a:ln>
            <a:noFill/>
          </a:ln>
          <a:effectLst/>
        </p:spPr>
        <p:txBody>
          <a:bodyPr wrap="square" lIns="90000" tIns="46800" rIns="90000" bIns="46800">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defRPr/>
            </a:pPr>
            <a:r>
              <a:rPr lang="en-US" altLang="zh-CN" sz="2400" b="1" dirty="0">
                <a:latin typeface="华文楷体" panose="02010600040101010101" pitchFamily="2" charset="-122"/>
                <a:ea typeface="华文楷体" panose="02010600040101010101" pitchFamily="2" charset="-122"/>
              </a:rPr>
              <a:t>2</a:t>
            </a:r>
            <a:r>
              <a:rPr lang="zh-CN" altLang="en-US" sz="2800" b="1" dirty="0">
                <a:latin typeface="华文楷体" panose="02010600040101010101" pitchFamily="2" charset="-122"/>
                <a:ea typeface="华文楷体" panose="02010600040101010101" pitchFamily="2" charset="-122"/>
              </a:rPr>
              <a:t>、电机与运动控制系统，杨耕   清华大学出版社</a:t>
            </a:r>
          </a:p>
        </p:txBody>
      </p:sp>
      <p:sp>
        <p:nvSpPr>
          <p:cNvPr id="115723" name="Text Box 11"/>
          <p:cNvSpPr txBox="1">
            <a:spLocks noChangeArrowheads="1"/>
          </p:cNvSpPr>
          <p:nvPr/>
        </p:nvSpPr>
        <p:spPr bwMode="auto">
          <a:xfrm>
            <a:off x="519113" y="4800600"/>
            <a:ext cx="8624887" cy="1473353"/>
          </a:xfrm>
          <a:prstGeom prst="rect">
            <a:avLst/>
          </a:prstGeom>
          <a:noFill/>
          <a:ln>
            <a:noFill/>
          </a:ln>
          <a:effectLst/>
        </p:spPr>
        <p:txBody>
          <a:bodyPr wrap="square" lIns="90000" tIns="46800" rIns="90000" bIns="46800">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defRPr/>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电机原理及驱动（第四版）清华版双语教材</a:t>
            </a:r>
          </a:p>
          <a:p>
            <a:pPr eaLnBrk="1" hangingPunct="1">
              <a:buFont typeface="Wingdings" panose="05000000000000000000" pitchFamily="2" charset="2"/>
              <a:buNone/>
              <a:defRPr/>
            </a:pP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Electrical Machinery Fundamentals   Stephen J. </a:t>
            </a:r>
            <a:r>
              <a:rPr lang="en-US" altLang="zh-CN" sz="2800" b="1" dirty="0" err="1">
                <a:latin typeface="Times New Roman" panose="02020603050405020304" pitchFamily="18" charset="0"/>
                <a:ea typeface="华文楷体" panose="02010600040101010101" pitchFamily="2" charset="-122"/>
                <a:cs typeface="Times New Roman" panose="02020603050405020304" pitchFamily="18" charset="0"/>
              </a:rPr>
              <a:t>Chanman</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原著    </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满永奎编译    清华大学出版社</a:t>
            </a:r>
          </a:p>
        </p:txBody>
      </p:sp>
      <p:sp>
        <p:nvSpPr>
          <p:cNvPr id="5" name="日期占位符 4">
            <a:extLst>
              <a:ext uri="{FF2B5EF4-FFF2-40B4-BE49-F238E27FC236}">
                <a16:creationId xmlns:a16="http://schemas.microsoft.com/office/drawing/2014/main" id="{798FDB88-96C4-1777-4418-603964930386}"/>
              </a:ext>
            </a:extLst>
          </p:cNvPr>
          <p:cNvSpPr>
            <a:spLocks noGrp="1"/>
          </p:cNvSpPr>
          <p:nvPr>
            <p:ph type="dt" sz="half" idx="10"/>
          </p:nvPr>
        </p:nvSpPr>
        <p:spPr/>
        <p:txBody>
          <a:bodyPr/>
          <a:lstStyle/>
          <a:p>
            <a:fld id="{60AC4D7F-5C23-4B03-9521-B1E0D2B915BC}" type="datetime10">
              <a:rPr lang="en-US" altLang="zh-CN" smtClean="0"/>
              <a:t>16:53</a:t>
            </a:fld>
            <a:endParaRPr lang="en-US" altLang="zh-CN"/>
          </a:p>
        </p:txBody>
      </p:sp>
    </p:spTree>
    <p:extLst>
      <p:ext uri="{BB962C8B-B14F-4D97-AF65-F5344CB8AC3E}">
        <p14:creationId xmlns:p14="http://schemas.microsoft.com/office/powerpoint/2010/main" val="890081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924B3E4A-070B-4702-BE18-9B9DFB7BB9E7}" type="slidenum">
              <a:rPr kumimoji="0" lang="en-US" altLang="zh-CN" sz="1400"/>
              <a:pPr>
                <a:spcBef>
                  <a:spcPct val="0"/>
                </a:spcBef>
                <a:buClrTx/>
                <a:buSzTx/>
                <a:buFontTx/>
                <a:buNone/>
              </a:pPr>
              <a:t>3</a:t>
            </a:fld>
            <a:endParaRPr kumimoji="0" lang="en-US" altLang="zh-CN" sz="1400" dirty="0"/>
          </a:p>
        </p:txBody>
      </p:sp>
      <p:sp>
        <p:nvSpPr>
          <p:cNvPr id="7171" name="Rectangle 1026"/>
          <p:cNvSpPr>
            <a:spLocks noGrp="1" noChangeArrowheads="1"/>
          </p:cNvSpPr>
          <p:nvPr>
            <p:ph type="title"/>
          </p:nvPr>
        </p:nvSpPr>
        <p:spPr>
          <a:xfrm>
            <a:off x="-18256" y="851283"/>
            <a:ext cx="8229600" cy="752823"/>
          </a:xfrm>
        </p:spPr>
        <p:txBody>
          <a:bodyPr/>
          <a:lstStyle/>
          <a:p>
            <a:pPr eaLnBrk="1" hangingPunct="1"/>
            <a:r>
              <a:rPr lang="zh-CN" altLang="en-US" dirty="0">
                <a:latin typeface="华文楷体" panose="02010600040101010101" pitchFamily="2" charset="-122"/>
                <a:ea typeface="华文楷体" panose="02010600040101010101" pitchFamily="2" charset="-122"/>
              </a:rPr>
              <a:t>电力拖动</a:t>
            </a:r>
            <a:r>
              <a:rPr lang="en-US" altLang="zh-CN" dirty="0">
                <a:latin typeface="华文楷体" panose="02010600040101010101" pitchFamily="2" charset="-122"/>
                <a:ea typeface="华文楷体" panose="02010600040101010101" pitchFamily="2" charset="-122"/>
              </a:rPr>
              <a:t>(Electrical Drives)</a:t>
            </a:r>
          </a:p>
        </p:txBody>
      </p:sp>
      <p:sp>
        <p:nvSpPr>
          <p:cNvPr id="7172" name="Rectangle 1027"/>
          <p:cNvSpPr>
            <a:spLocks noGrp="1" noChangeArrowheads="1"/>
          </p:cNvSpPr>
          <p:nvPr>
            <p:ph type="body" idx="1"/>
          </p:nvPr>
        </p:nvSpPr>
        <p:spPr>
          <a:xfrm>
            <a:off x="179387" y="1644650"/>
            <a:ext cx="8528050" cy="1008062"/>
          </a:xfrm>
        </p:spPr>
        <p:txBody>
          <a:bodyPr/>
          <a:lstStyle/>
          <a:p>
            <a:pPr eaLnBrk="1" hangingPunct="1">
              <a:buFont typeface="Wingdings" panose="05000000000000000000" pitchFamily="2" charset="2"/>
              <a:buNone/>
            </a:pPr>
            <a:r>
              <a:rPr lang="en-US" altLang="zh-CN" sz="2800" b="1" dirty="0">
                <a:latin typeface="楷体_GB2312" pitchFamily="49" charset="-122"/>
                <a:ea typeface="楷体_GB2312" pitchFamily="49" charset="-122"/>
              </a:rPr>
              <a:t>     </a:t>
            </a:r>
            <a:r>
              <a:rPr lang="zh-CN" altLang="en-US" sz="2800" b="1" dirty="0">
                <a:latin typeface="楷体_GB2312" pitchFamily="49" charset="-122"/>
                <a:ea typeface="楷体_GB2312" pitchFamily="49" charset="-122"/>
              </a:rPr>
              <a:t>用电动机作为动力的拖动。将电能高效率地转换成机械能，反之亦可。</a:t>
            </a:r>
          </a:p>
        </p:txBody>
      </p:sp>
      <p:sp>
        <p:nvSpPr>
          <p:cNvPr id="116740" name="Text Box 1028"/>
          <p:cNvSpPr txBox="1">
            <a:spLocks noChangeArrowheads="1"/>
          </p:cNvSpPr>
          <p:nvPr/>
        </p:nvSpPr>
        <p:spPr bwMode="auto">
          <a:xfrm>
            <a:off x="250826" y="2521744"/>
            <a:ext cx="8713787" cy="311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lang="en-US" altLang="zh-CN" sz="2800" b="1" dirty="0"/>
              <a:t>      In general, a electrical drive can be </a:t>
            </a:r>
            <a:r>
              <a:rPr lang="en-US" altLang="zh-CN" sz="2800" b="1" i="1" dirty="0">
                <a:solidFill>
                  <a:srgbClr val="3333CC"/>
                </a:solidFill>
                <a:latin typeface="楷体_GB2312" pitchFamily="49" charset="-122"/>
                <a:ea typeface="楷体_GB2312" pitchFamily="49" charset="-122"/>
              </a:rPr>
              <a:t>defined</a:t>
            </a:r>
            <a:r>
              <a:rPr lang="en-US" altLang="zh-CN" sz="2800" b="1" dirty="0"/>
              <a:t> as a </a:t>
            </a:r>
            <a:r>
              <a:rPr lang="en-US" altLang="zh-CN" sz="2800" b="1" dirty="0">
                <a:solidFill>
                  <a:srgbClr val="FF0000"/>
                </a:solidFill>
              </a:rPr>
              <a:t>power conversion means</a:t>
            </a:r>
            <a:r>
              <a:rPr lang="en-US" altLang="zh-CN" sz="2800" b="1" dirty="0"/>
              <a:t> characterized by its capability to efficiently </a:t>
            </a:r>
            <a:r>
              <a:rPr lang="en-US" altLang="zh-CN" sz="2800" b="1" i="1" dirty="0">
                <a:solidFill>
                  <a:srgbClr val="3333CC"/>
                </a:solidFill>
                <a:latin typeface="楷体_GB2312" pitchFamily="49" charset="-122"/>
                <a:ea typeface="楷体_GB2312" pitchFamily="49" charset="-122"/>
              </a:rPr>
              <a:t>convert electrical power from an electrical power source (voltage and current) into mechanical power (torque and speed) to control a mechanical load or process.</a:t>
            </a:r>
            <a:r>
              <a:rPr lang="en-US" altLang="zh-CN" sz="2800" b="1" dirty="0"/>
              <a:t> </a:t>
            </a:r>
          </a:p>
        </p:txBody>
      </p:sp>
      <p:sp>
        <p:nvSpPr>
          <p:cNvPr id="116741" name="Text Box 1029"/>
          <p:cNvSpPr txBox="1">
            <a:spLocks noChangeArrowheads="1"/>
          </p:cNvSpPr>
          <p:nvPr/>
        </p:nvSpPr>
        <p:spPr bwMode="auto">
          <a:xfrm>
            <a:off x="339725" y="5502275"/>
            <a:ext cx="8207375" cy="95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400" b="1"/>
              <a:t>      </a:t>
            </a:r>
            <a:r>
              <a:rPr lang="en-US" altLang="zh-CN" sz="2800" b="1"/>
              <a:t>In some case, this power flow is reversed or can even be </a:t>
            </a:r>
            <a:r>
              <a:rPr lang="en-US" altLang="zh-CN" sz="2800" b="1" i="1">
                <a:solidFill>
                  <a:srgbClr val="3333CC"/>
                </a:solidFill>
              </a:rPr>
              <a:t>bi-directional</a:t>
            </a:r>
            <a:r>
              <a:rPr lang="en-US" altLang="zh-CN" sz="2800" b="1"/>
              <a:t>.</a:t>
            </a:r>
          </a:p>
        </p:txBody>
      </p:sp>
      <p:sp>
        <p:nvSpPr>
          <p:cNvPr id="2" name="文本框 1">
            <a:extLst>
              <a:ext uri="{FF2B5EF4-FFF2-40B4-BE49-F238E27FC236}">
                <a16:creationId xmlns:a16="http://schemas.microsoft.com/office/drawing/2014/main" id="{625CAF4D-8CE6-B237-F912-DE72244B4EF0}"/>
              </a:ext>
            </a:extLst>
          </p:cNvPr>
          <p:cNvSpPr txBox="1"/>
          <p:nvPr/>
        </p:nvSpPr>
        <p:spPr>
          <a:xfrm>
            <a:off x="4452174" y="-35666"/>
            <a:ext cx="1422184" cy="830997"/>
          </a:xfrm>
          <a:prstGeom prst="rect">
            <a:avLst/>
          </a:prstGeom>
          <a:noFill/>
        </p:spPr>
        <p:txBody>
          <a:bodyPr wrap="none" rtlCol="0">
            <a:spAutoFit/>
          </a:bodyPr>
          <a:lstStyle/>
          <a:p>
            <a:r>
              <a:rPr lang="zh-CN" altLang="en-US" sz="4800" b="1" dirty="0"/>
              <a:t>绪论</a:t>
            </a:r>
          </a:p>
        </p:txBody>
      </p:sp>
      <p:sp>
        <p:nvSpPr>
          <p:cNvPr id="6" name="日期占位符 5">
            <a:extLst>
              <a:ext uri="{FF2B5EF4-FFF2-40B4-BE49-F238E27FC236}">
                <a16:creationId xmlns:a16="http://schemas.microsoft.com/office/drawing/2014/main" id="{17B61E62-AAF5-0ECE-1A4F-8C43D8D99794}"/>
              </a:ext>
            </a:extLst>
          </p:cNvPr>
          <p:cNvSpPr>
            <a:spLocks noGrp="1"/>
          </p:cNvSpPr>
          <p:nvPr>
            <p:ph type="dt" sz="half" idx="10"/>
          </p:nvPr>
        </p:nvSpPr>
        <p:spPr/>
        <p:txBody>
          <a:bodyPr/>
          <a:lstStyle/>
          <a:p>
            <a:fld id="{EE9E2C3C-BFA0-44C0-8B03-3CAC773D3457}" type="datetime10">
              <a:rPr lang="en-US" altLang="zh-CN" smtClean="0"/>
              <a:t>16:53</a:t>
            </a:fld>
            <a:endParaRPr lang="en-US" altLang="zh-CN"/>
          </a:p>
        </p:txBody>
      </p:sp>
    </p:spTree>
    <p:extLst>
      <p:ext uri="{BB962C8B-B14F-4D97-AF65-F5344CB8AC3E}">
        <p14:creationId xmlns:p14="http://schemas.microsoft.com/office/powerpoint/2010/main" val="26957318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6740"/>
                                        </p:tgtEl>
                                        <p:attrNameLst>
                                          <p:attrName>style.visibility</p:attrName>
                                        </p:attrNameLst>
                                      </p:cBhvr>
                                      <p:to>
                                        <p:strVal val="visible"/>
                                      </p:to>
                                    </p:set>
                                    <p:animEffect transition="in" filter="blinds(horizontal)">
                                      <p:cBhvr>
                                        <p:cTn id="7" dur="500"/>
                                        <p:tgtEl>
                                          <p:spTgt spid="1167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116741"/>
                                        </p:tgtEl>
                                        <p:attrNameLst>
                                          <p:attrName>style.visibility</p:attrName>
                                        </p:attrNameLst>
                                      </p:cBhvr>
                                      <p:to>
                                        <p:strVal val="visible"/>
                                      </p:to>
                                    </p:set>
                                    <p:animEffect transition="in" filter="barn(outHorizontal)">
                                      <p:cBhvr>
                                        <p:cTn id="12" dur="500"/>
                                        <p:tgtEl>
                                          <p:spTgt spid="1167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0" grpId="0" autoUpdateAnimBg="0"/>
      <p:bldP spid="116741"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noChangeArrowheads="1"/>
          </p:cNvSpPr>
          <p:nvPr>
            <p:ph type="title"/>
          </p:nvPr>
        </p:nvSpPr>
        <p:spPr>
          <a:xfrm>
            <a:off x="481064" y="731838"/>
            <a:ext cx="8632773" cy="838200"/>
          </a:xfrm>
        </p:spPr>
        <p:txBody>
          <a:bodyPr/>
          <a:lstStyle/>
          <a:p>
            <a:r>
              <a:rPr lang="zh-CN" altLang="en-US" b="1" dirty="0"/>
              <a:t>常见电机类型：旋转型和直线型</a:t>
            </a:r>
          </a:p>
        </p:txBody>
      </p:sp>
      <p:sp>
        <p:nvSpPr>
          <p:cNvPr id="8195" name="灯片编号占位符 2"/>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2A1E5130-9E96-419F-B341-D63074007E9E}" type="slidenum">
              <a:rPr kumimoji="0" lang="en-US" altLang="zh-CN" sz="1400"/>
              <a:pPr>
                <a:spcBef>
                  <a:spcPct val="0"/>
                </a:spcBef>
                <a:buClrTx/>
                <a:buSzTx/>
                <a:buFontTx/>
                <a:buNone/>
              </a:pPr>
              <a:t>4</a:t>
            </a:fld>
            <a:endParaRPr kumimoji="0" lang="en-US" altLang="zh-CN" sz="1400"/>
          </a:p>
        </p:txBody>
      </p:sp>
      <p:grpSp>
        <p:nvGrpSpPr>
          <p:cNvPr id="8196" name="组合 38"/>
          <p:cNvGrpSpPr>
            <a:grpSpLocks/>
          </p:cNvGrpSpPr>
          <p:nvPr/>
        </p:nvGrpSpPr>
        <p:grpSpPr bwMode="auto">
          <a:xfrm>
            <a:off x="3781425" y="3138488"/>
            <a:ext cx="0" cy="0"/>
            <a:chOff x="3781708" y="3138562"/>
            <a:chExt cx="0" cy="0"/>
          </a:xfrm>
        </p:grpSpPr>
        <p:pic>
          <p:nvPicPr>
            <p:cNvPr id="8220" name="图片 39" descr="3副本"/>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00" y="54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21" name="图片 40" descr="3副本"/>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00" y="54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22" name="图片 41" descr="3副本"/>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00" y="54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23" name="图片 42" descr="3副本"/>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00" y="54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5" name="组合 54"/>
          <p:cNvGrpSpPr>
            <a:grpSpLocks/>
          </p:cNvGrpSpPr>
          <p:nvPr/>
        </p:nvGrpSpPr>
        <p:grpSpPr bwMode="auto">
          <a:xfrm>
            <a:off x="31750" y="3290888"/>
            <a:ext cx="9082088" cy="1333500"/>
            <a:chOff x="112" y="5766"/>
            <a:chExt cx="14302" cy="2100"/>
          </a:xfrm>
        </p:grpSpPr>
        <p:pic>
          <p:nvPicPr>
            <p:cNvPr id="8214" name="Picture 15" descr="GK60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2" y="5766"/>
              <a:ext cx="2410" cy="2100"/>
            </a:xfrm>
            <a:prstGeom prst="rect">
              <a:avLst/>
            </a:prstGeom>
            <a:noFill/>
            <a:ln w="9525">
              <a:solidFill>
                <a:srgbClr val="C0C0C0"/>
              </a:solidFill>
              <a:miter lim="800000"/>
              <a:headEnd/>
              <a:tailEnd/>
            </a:ln>
            <a:extLst>
              <a:ext uri="{909E8E84-426E-40DD-AFC4-6F175D3DCCD1}">
                <a14:hiddenFill xmlns:a14="http://schemas.microsoft.com/office/drawing/2010/main">
                  <a:solidFill>
                    <a:srgbClr val="FFFFFF"/>
                  </a:solidFill>
                </a14:hiddenFill>
              </a:ext>
            </a:extLst>
          </p:spPr>
        </p:pic>
        <p:pic>
          <p:nvPicPr>
            <p:cNvPr id="8215" name="Picture 30" descr="GK613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 y="5766"/>
              <a:ext cx="2410" cy="2100"/>
            </a:xfrm>
            <a:prstGeom prst="rect">
              <a:avLst/>
            </a:prstGeom>
            <a:noFill/>
            <a:ln w="9525">
              <a:solidFill>
                <a:srgbClr val="C0C0C0"/>
              </a:solidFill>
              <a:miter lim="800000"/>
              <a:headEnd/>
              <a:tailEnd/>
            </a:ln>
            <a:extLst>
              <a:ext uri="{909E8E84-426E-40DD-AFC4-6F175D3DCCD1}">
                <a14:hiddenFill xmlns:a14="http://schemas.microsoft.com/office/drawing/2010/main">
                  <a:solidFill>
                    <a:srgbClr val="FFFFFF"/>
                  </a:solidFill>
                </a14:hiddenFill>
              </a:ext>
            </a:extLst>
          </p:spPr>
        </p:pic>
        <p:pic>
          <p:nvPicPr>
            <p:cNvPr id="8216" name="Picture 8"/>
            <p:cNvPicPr>
              <a:picLocks noChangeArrowheads="1"/>
            </p:cNvPicPr>
            <p:nvPr/>
          </p:nvPicPr>
          <p:blipFill>
            <a:blip r:embed="rId5">
              <a:extLst>
                <a:ext uri="{28A0092B-C50C-407E-A947-70E740481C1C}">
                  <a14:useLocalDpi xmlns:a14="http://schemas.microsoft.com/office/drawing/2010/main" val="0"/>
                </a:ext>
              </a:extLst>
            </a:blip>
            <a:srcRect l="33041" t="23764" r="29558" b="30000"/>
            <a:stretch>
              <a:fillRect/>
            </a:stretch>
          </p:blipFill>
          <p:spPr bwMode="auto">
            <a:xfrm>
              <a:off x="12004" y="5766"/>
              <a:ext cx="2410" cy="2100"/>
            </a:xfrm>
            <a:prstGeom prst="rect">
              <a:avLst/>
            </a:prstGeom>
            <a:noFill/>
            <a:ln w="9525">
              <a:solidFill>
                <a:srgbClr val="C0C0C0"/>
              </a:solidFill>
              <a:miter lim="800000"/>
              <a:headEnd/>
              <a:tailEnd/>
            </a:ln>
            <a:extLst>
              <a:ext uri="{909E8E84-426E-40DD-AFC4-6F175D3DCCD1}">
                <a14:hiddenFill xmlns:a14="http://schemas.microsoft.com/office/drawing/2010/main">
                  <a:solidFill>
                    <a:srgbClr val="FFFFFF"/>
                  </a:solidFill>
                </a14:hiddenFill>
              </a:ext>
            </a:extLst>
          </p:spPr>
        </p:pic>
        <p:pic>
          <p:nvPicPr>
            <p:cNvPr id="8217" name="Picture 1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73" y="5766"/>
              <a:ext cx="2410" cy="21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kx="-3284103" algn="br" rotWithShape="0">
                      <a:srgbClr val="737373">
                        <a:alpha val="50000"/>
                      </a:srgbClr>
                    </a:outerShdw>
                  </a:effectLst>
                </a14:hiddenEffects>
              </a:ext>
            </a:extLst>
          </p:spPr>
        </p:pic>
        <p:pic>
          <p:nvPicPr>
            <p:cNvPr id="8218" name="Picture 32" descr="GZ6166"/>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583" y="5766"/>
              <a:ext cx="2410" cy="2100"/>
            </a:xfrm>
            <a:prstGeom prst="rect">
              <a:avLst/>
            </a:prstGeom>
            <a:noFill/>
            <a:ln w="9525">
              <a:solidFill>
                <a:srgbClr val="C0C0C0"/>
              </a:solidFill>
              <a:miter lim="800000"/>
              <a:headEnd/>
              <a:tailEnd/>
            </a:ln>
            <a:extLst>
              <a:ext uri="{909E8E84-426E-40DD-AFC4-6F175D3DCCD1}">
                <a14:hiddenFill xmlns:a14="http://schemas.microsoft.com/office/drawing/2010/main">
                  <a:solidFill>
                    <a:srgbClr val="FFFFFF"/>
                  </a:solidFill>
                </a14:hiddenFill>
              </a:ext>
            </a:extLst>
          </p:spPr>
        </p:pic>
        <p:pic>
          <p:nvPicPr>
            <p:cNvPr id="8219" name="Picture 28" descr="GK6180"/>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22" y="5766"/>
              <a:ext cx="2410" cy="2100"/>
            </a:xfrm>
            <a:prstGeom prst="rect">
              <a:avLst/>
            </a:prstGeom>
            <a:noFill/>
            <a:ln w="9525">
              <a:solidFill>
                <a:srgbClr val="C0C0C0"/>
              </a:solidFill>
              <a:miter lim="800000"/>
              <a:headEnd/>
              <a:tailEnd/>
            </a:ln>
            <a:extLst>
              <a:ext uri="{909E8E84-426E-40DD-AFC4-6F175D3DCCD1}">
                <a14:hiddenFill xmlns:a14="http://schemas.microsoft.com/office/drawing/2010/main">
                  <a:solidFill>
                    <a:srgbClr val="FFFFFF"/>
                  </a:solidFill>
                </a14:hiddenFill>
              </a:ext>
            </a:extLst>
          </p:spPr>
        </p:pic>
      </p:grpSp>
      <p:grpSp>
        <p:nvGrpSpPr>
          <p:cNvPr id="62" name="组合 61"/>
          <p:cNvGrpSpPr>
            <a:grpSpLocks/>
          </p:cNvGrpSpPr>
          <p:nvPr/>
        </p:nvGrpSpPr>
        <p:grpSpPr bwMode="auto">
          <a:xfrm>
            <a:off x="66675" y="4868863"/>
            <a:ext cx="9082088" cy="1333500"/>
            <a:chOff x="112" y="8727"/>
            <a:chExt cx="14302" cy="2100"/>
          </a:xfrm>
        </p:grpSpPr>
        <p:pic>
          <p:nvPicPr>
            <p:cNvPr id="8208" name="Picture 9"/>
            <p:cNvPicPr>
              <a:picLocks noChangeArrowheads="1"/>
            </p:cNvPicPr>
            <p:nvPr/>
          </p:nvPicPr>
          <p:blipFill>
            <a:blip r:embed="rId9">
              <a:extLst>
                <a:ext uri="{28A0092B-C50C-407E-A947-70E740481C1C}">
                  <a14:useLocalDpi xmlns:a14="http://schemas.microsoft.com/office/drawing/2010/main" val="0"/>
                </a:ext>
              </a:extLst>
            </a:blip>
            <a:srcRect t="1370"/>
            <a:stretch>
              <a:fillRect/>
            </a:stretch>
          </p:blipFill>
          <p:spPr bwMode="auto">
            <a:xfrm>
              <a:off x="12004" y="8727"/>
              <a:ext cx="2410" cy="2100"/>
            </a:xfrm>
            <a:prstGeom prst="rect">
              <a:avLst/>
            </a:prstGeom>
            <a:noFill/>
            <a:ln w="9525">
              <a:solidFill>
                <a:srgbClr val="C0C0C0"/>
              </a:solidFill>
              <a:miter lim="800000"/>
              <a:headEnd/>
              <a:tailEnd/>
            </a:ln>
            <a:extLst>
              <a:ext uri="{909E8E84-426E-40DD-AFC4-6F175D3DCCD1}">
                <a14:hiddenFill xmlns:a14="http://schemas.microsoft.com/office/drawing/2010/main">
                  <a:solidFill>
                    <a:srgbClr val="FFFFFF"/>
                  </a:solidFill>
                </a14:hiddenFill>
              </a:ext>
            </a:extLst>
          </p:spPr>
        </p:pic>
        <p:pic>
          <p:nvPicPr>
            <p:cNvPr id="8209" name="Picture 12"/>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22" y="8727"/>
              <a:ext cx="2410" cy="21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kx="-3284103" algn="br" rotWithShape="0">
                      <a:srgbClr val="737373">
                        <a:alpha val="50000"/>
                      </a:srgbClr>
                    </a:outerShdw>
                  </a:effectLst>
                </a14:hiddenEffects>
              </a:ext>
            </a:extLst>
          </p:spPr>
        </p:pic>
        <p:pic>
          <p:nvPicPr>
            <p:cNvPr id="8210" name="Picture 1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22" y="8727"/>
              <a:ext cx="2410" cy="21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kx="-3284103" algn="br" rotWithShape="0">
                      <a:srgbClr val="737373">
                        <a:alpha val="50000"/>
                      </a:srgbClr>
                    </a:outerShdw>
                  </a:effectLst>
                </a14:hiddenEffects>
              </a:ext>
            </a:extLst>
          </p:spPr>
        </p:pic>
        <p:pic>
          <p:nvPicPr>
            <p:cNvPr id="8211" name="Picture 17"/>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2" y="8727"/>
              <a:ext cx="2410" cy="21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kx="-3284103" algn="br" rotWithShape="0">
                      <a:srgbClr val="737373">
                        <a:alpha val="50000"/>
                      </a:srgbClr>
                    </a:outerShdw>
                  </a:effectLst>
                </a14:hiddenEffects>
              </a:ext>
            </a:extLst>
          </p:spPr>
        </p:pic>
        <p:pic>
          <p:nvPicPr>
            <p:cNvPr id="8212" name="Picture 20"/>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232" y="8727"/>
              <a:ext cx="2410" cy="21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kx="-3284103" algn="br" rotWithShape="0">
                      <a:srgbClr val="737373">
                        <a:alpha val="50000"/>
                      </a:srgbClr>
                    </a:outerShdw>
                  </a:effectLst>
                </a14:hiddenEffects>
              </a:ext>
            </a:extLst>
          </p:spPr>
        </p:pic>
        <p:pic>
          <p:nvPicPr>
            <p:cNvPr id="8213" name="Picture 21"/>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583" y="8727"/>
              <a:ext cx="2410" cy="21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kx="-3284103" algn="br" rotWithShape="0">
                      <a:srgbClr val="737373">
                        <a:alpha val="50000"/>
                      </a:srgbClr>
                    </a:outerShdw>
                  </a:effectLst>
                </a14:hiddenEffects>
              </a:ext>
            </a:extLst>
          </p:spPr>
        </p:pic>
      </p:grpSp>
      <p:grpSp>
        <p:nvGrpSpPr>
          <p:cNvPr id="8199" name="组合 68"/>
          <p:cNvGrpSpPr>
            <a:grpSpLocks/>
          </p:cNvGrpSpPr>
          <p:nvPr/>
        </p:nvGrpSpPr>
        <p:grpSpPr bwMode="auto">
          <a:xfrm>
            <a:off x="3933825" y="3290888"/>
            <a:ext cx="0" cy="0"/>
            <a:chOff x="3934108" y="3290962"/>
            <a:chExt cx="0" cy="0"/>
          </a:xfrm>
        </p:grpSpPr>
        <p:pic>
          <p:nvPicPr>
            <p:cNvPr id="8204" name="图片 69" descr="3副本"/>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00" y="54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5" name="图片 70" descr="3副本"/>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00" y="54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6" name="图片 71" descr="3副本"/>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00" y="54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7" name="图片 72" descr="3副本"/>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00" y="54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8200" name="图片 2"/>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179388" y="1674813"/>
            <a:ext cx="1417637" cy="1417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1" name="图片 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835150" y="1674813"/>
            <a:ext cx="1890713" cy="1417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2" name="图片 8"/>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4030663" y="1674813"/>
            <a:ext cx="1927225"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3" name="图片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262688" y="1717675"/>
            <a:ext cx="1927225" cy="142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53565C79-4C8D-8381-F993-48FEC6E55C34}"/>
              </a:ext>
            </a:extLst>
          </p:cNvPr>
          <p:cNvSpPr txBox="1">
            <a:spLocks noChangeArrowheads="1"/>
          </p:cNvSpPr>
          <p:nvPr/>
        </p:nvSpPr>
        <p:spPr bwMode="auto">
          <a:xfrm>
            <a:off x="1186044" y="6259810"/>
            <a:ext cx="665919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dirty="0"/>
              <a:t>电机通过机械传动环节联接运动体构成机电系统</a:t>
            </a:r>
          </a:p>
        </p:txBody>
      </p:sp>
      <p:sp>
        <p:nvSpPr>
          <p:cNvPr id="6" name="日期占位符 5">
            <a:extLst>
              <a:ext uri="{FF2B5EF4-FFF2-40B4-BE49-F238E27FC236}">
                <a16:creationId xmlns:a16="http://schemas.microsoft.com/office/drawing/2014/main" id="{3B299474-F59F-C2AA-328E-0769592B3381}"/>
              </a:ext>
            </a:extLst>
          </p:cNvPr>
          <p:cNvSpPr>
            <a:spLocks noGrp="1"/>
          </p:cNvSpPr>
          <p:nvPr>
            <p:ph type="dt" sz="half" idx="10"/>
          </p:nvPr>
        </p:nvSpPr>
        <p:spPr/>
        <p:txBody>
          <a:bodyPr/>
          <a:lstStyle/>
          <a:p>
            <a:fld id="{AF50CB9E-7502-466E-91E9-EB3D4DCABD17}" type="datetime10">
              <a:rPr lang="en-US" altLang="zh-CN" smtClean="0"/>
              <a:t>16:53</a:t>
            </a:fld>
            <a:endParaRPr lang="en-US" altLang="zh-CN"/>
          </a:p>
        </p:txBody>
      </p:sp>
    </p:spTree>
    <p:extLst>
      <p:ext uri="{BB962C8B-B14F-4D97-AF65-F5344CB8AC3E}">
        <p14:creationId xmlns:p14="http://schemas.microsoft.com/office/powerpoint/2010/main" val="27404274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additive="base">
                                        <p:cTn id="7" dur="500" fill="hold"/>
                                        <p:tgtEl>
                                          <p:spTgt spid="55"/>
                                        </p:tgtEl>
                                        <p:attrNameLst>
                                          <p:attrName>ppt_x</p:attrName>
                                        </p:attrNameLst>
                                      </p:cBhvr>
                                      <p:tavLst>
                                        <p:tav tm="0">
                                          <p:val>
                                            <p:strVal val="#ppt_x"/>
                                          </p:val>
                                        </p:tav>
                                        <p:tav tm="100000">
                                          <p:val>
                                            <p:strVal val="#ppt_x"/>
                                          </p:val>
                                        </p:tav>
                                      </p:tavLst>
                                    </p:anim>
                                    <p:anim calcmode="lin" valueType="num">
                                      <p:cBhvr additive="base">
                                        <p:cTn id="8" dur="500" fill="hold"/>
                                        <p:tgtEl>
                                          <p:spTgt spid="5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additive="base">
                                        <p:cTn id="11" dur="500" fill="hold"/>
                                        <p:tgtEl>
                                          <p:spTgt spid="55"/>
                                        </p:tgtEl>
                                        <p:attrNameLst>
                                          <p:attrName>ppt_x</p:attrName>
                                        </p:attrNameLst>
                                      </p:cBhvr>
                                      <p:tavLst>
                                        <p:tav tm="0">
                                          <p:val>
                                            <p:strVal val="#ppt_x"/>
                                          </p:val>
                                        </p:tav>
                                        <p:tav tm="100000">
                                          <p:val>
                                            <p:strVal val="#ppt_x"/>
                                          </p:val>
                                        </p:tav>
                                      </p:tavLst>
                                    </p:anim>
                                    <p:anim calcmode="lin" valueType="num">
                                      <p:cBhvr additive="base">
                                        <p:cTn id="12"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62"/>
                                        </p:tgtEl>
                                        <p:attrNameLst>
                                          <p:attrName>style.visibility</p:attrName>
                                        </p:attrNameLst>
                                      </p:cBhvr>
                                      <p:to>
                                        <p:strVal val="visible"/>
                                      </p:to>
                                    </p:set>
                                    <p:anim calcmode="lin" valueType="num">
                                      <p:cBhvr additive="base">
                                        <p:cTn id="17" dur="500" fill="hold"/>
                                        <p:tgtEl>
                                          <p:spTgt spid="62"/>
                                        </p:tgtEl>
                                        <p:attrNameLst>
                                          <p:attrName>ppt_x</p:attrName>
                                        </p:attrNameLst>
                                      </p:cBhvr>
                                      <p:tavLst>
                                        <p:tav tm="0">
                                          <p:val>
                                            <p:strVal val="#ppt_x"/>
                                          </p:val>
                                        </p:tav>
                                        <p:tav tm="100000">
                                          <p:val>
                                            <p:strVal val="#ppt_x"/>
                                          </p:val>
                                        </p:tav>
                                      </p:tavLst>
                                    </p:anim>
                                    <p:anim calcmode="lin" valueType="num">
                                      <p:cBhvr additive="base">
                                        <p:cTn id="18"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562A24-A427-73B9-1BEA-F734A5ABF079}"/>
              </a:ext>
            </a:extLst>
          </p:cNvPr>
          <p:cNvSpPr>
            <a:spLocks noGrp="1"/>
          </p:cNvSpPr>
          <p:nvPr>
            <p:ph type="title"/>
          </p:nvPr>
        </p:nvSpPr>
        <p:spPr>
          <a:xfrm>
            <a:off x="1554378" y="332656"/>
            <a:ext cx="8229600" cy="576064"/>
          </a:xfrm>
        </p:spPr>
        <p:txBody>
          <a:bodyPr/>
          <a:lstStyle/>
          <a:p>
            <a:r>
              <a:rPr lang="zh-CN" altLang="en-US" b="1" dirty="0"/>
              <a:t>电机分类</a:t>
            </a:r>
          </a:p>
        </p:txBody>
      </p:sp>
      <p:sp>
        <p:nvSpPr>
          <p:cNvPr id="3" name="日期占位符 2">
            <a:extLst>
              <a:ext uri="{FF2B5EF4-FFF2-40B4-BE49-F238E27FC236}">
                <a16:creationId xmlns:a16="http://schemas.microsoft.com/office/drawing/2014/main" id="{D350A7AA-E843-6F93-CE91-17F0D5D67821}"/>
              </a:ext>
            </a:extLst>
          </p:cNvPr>
          <p:cNvSpPr>
            <a:spLocks noGrp="1"/>
          </p:cNvSpPr>
          <p:nvPr>
            <p:ph type="dt" sz="half" idx="10"/>
          </p:nvPr>
        </p:nvSpPr>
        <p:spPr/>
        <p:txBody>
          <a:bodyPr/>
          <a:lstStyle/>
          <a:p>
            <a:fld id="{3AA49C64-0ED7-445E-A37A-C21535475708}" type="datetime10">
              <a:rPr lang="en-US" altLang="zh-CN" smtClean="0"/>
              <a:t>16:53</a:t>
            </a:fld>
            <a:endParaRPr lang="en-US" altLang="zh-CN"/>
          </a:p>
        </p:txBody>
      </p:sp>
      <p:sp>
        <p:nvSpPr>
          <p:cNvPr id="4" name="灯片编号占位符 3">
            <a:extLst>
              <a:ext uri="{FF2B5EF4-FFF2-40B4-BE49-F238E27FC236}">
                <a16:creationId xmlns:a16="http://schemas.microsoft.com/office/drawing/2014/main" id="{34A9DA51-9FFC-A645-FD19-99651CA103BD}"/>
              </a:ext>
            </a:extLst>
          </p:cNvPr>
          <p:cNvSpPr>
            <a:spLocks noGrp="1"/>
          </p:cNvSpPr>
          <p:nvPr>
            <p:ph type="sldNum" sz="quarter" idx="12"/>
          </p:nvPr>
        </p:nvSpPr>
        <p:spPr/>
        <p:txBody>
          <a:bodyPr/>
          <a:lstStyle/>
          <a:p>
            <a:fld id="{803158C3-B50C-4001-8BD0-C5647A670245}" type="slidenum">
              <a:rPr lang="en-US" altLang="zh-CN" smtClean="0"/>
              <a:pPr/>
              <a:t>5</a:t>
            </a:fld>
            <a:endParaRPr lang="en-US" altLang="zh-CN"/>
          </a:p>
        </p:txBody>
      </p:sp>
      <p:sp>
        <p:nvSpPr>
          <p:cNvPr id="5" name="文本框 4">
            <a:extLst>
              <a:ext uri="{FF2B5EF4-FFF2-40B4-BE49-F238E27FC236}">
                <a16:creationId xmlns:a16="http://schemas.microsoft.com/office/drawing/2014/main" id="{290ADC22-661C-8734-EFCC-61DDE63E7588}"/>
              </a:ext>
            </a:extLst>
          </p:cNvPr>
          <p:cNvSpPr txBox="1"/>
          <p:nvPr/>
        </p:nvSpPr>
        <p:spPr>
          <a:xfrm>
            <a:off x="475002" y="956828"/>
            <a:ext cx="8561494" cy="5693866"/>
          </a:xfrm>
          <a:prstGeom prst="rect">
            <a:avLst/>
          </a:prstGeom>
          <a:noFill/>
        </p:spPr>
        <p:txBody>
          <a:bodyPr wrap="square" rtlCol="0">
            <a:spAutoFit/>
          </a:bodyPr>
          <a:lstStyle/>
          <a:p>
            <a:r>
              <a:rPr lang="zh-CN" altLang="en-US" sz="2800" dirty="0">
                <a:latin typeface="华光楷体一_CNKI" panose="02000500000000000000" pitchFamily="2" charset="-122"/>
                <a:ea typeface="华光楷体一_CNKI" panose="02000500000000000000" pitchFamily="2" charset="-122"/>
              </a:rPr>
              <a:t>（</a:t>
            </a:r>
            <a:r>
              <a:rPr lang="en-US" altLang="zh-CN" sz="2800" dirty="0">
                <a:latin typeface="华光楷体一_CNKI" panose="02000500000000000000" pitchFamily="2" charset="-122"/>
                <a:ea typeface="华光楷体一_CNKI" panose="02000500000000000000" pitchFamily="2" charset="-122"/>
              </a:rPr>
              <a:t>1</a:t>
            </a:r>
            <a:r>
              <a:rPr lang="zh-CN" altLang="en-US" sz="2800" dirty="0">
                <a:latin typeface="华光楷体一_CNKI" panose="02000500000000000000" pitchFamily="2" charset="-122"/>
                <a:ea typeface="华光楷体一_CNKI" panose="02000500000000000000" pitchFamily="2" charset="-122"/>
              </a:rPr>
              <a:t>）根据电源供电场合：直流电机、交流电机</a:t>
            </a:r>
            <a:endParaRPr lang="en-US" altLang="zh-CN" sz="2800" dirty="0">
              <a:latin typeface="华光楷体一_CNKI" panose="02000500000000000000" pitchFamily="2" charset="-122"/>
              <a:ea typeface="华光楷体一_CNKI" panose="02000500000000000000" pitchFamily="2" charset="-122"/>
            </a:endParaRPr>
          </a:p>
          <a:p>
            <a:r>
              <a:rPr lang="zh-CN" altLang="en-US" sz="2800" dirty="0">
                <a:latin typeface="华光楷体一_CNKI" panose="02000500000000000000" pitchFamily="2" charset="-122"/>
                <a:ea typeface="华光楷体一_CNKI" panose="02000500000000000000" pitchFamily="2" charset="-122"/>
              </a:rPr>
              <a:t>（</a:t>
            </a:r>
            <a:r>
              <a:rPr lang="en-US" altLang="zh-CN" sz="2800" dirty="0">
                <a:latin typeface="华光楷体一_CNKI" panose="02000500000000000000" pitchFamily="2" charset="-122"/>
                <a:ea typeface="华光楷体一_CNKI" panose="02000500000000000000" pitchFamily="2" charset="-122"/>
              </a:rPr>
              <a:t>2</a:t>
            </a:r>
            <a:r>
              <a:rPr lang="zh-CN" altLang="en-US" sz="2800" dirty="0">
                <a:latin typeface="华光楷体一_CNKI" panose="02000500000000000000" pitchFamily="2" charset="-122"/>
                <a:ea typeface="华光楷体一_CNKI" panose="02000500000000000000" pitchFamily="2" charset="-122"/>
              </a:rPr>
              <a:t>）根据运动型式：旋转电机、直线电机</a:t>
            </a:r>
            <a:endParaRPr lang="en-US" altLang="zh-CN" sz="2800" dirty="0">
              <a:latin typeface="华光楷体一_CNKI" panose="02000500000000000000" pitchFamily="2" charset="-122"/>
              <a:ea typeface="华光楷体一_CNKI" panose="02000500000000000000" pitchFamily="2" charset="-122"/>
            </a:endParaRPr>
          </a:p>
          <a:p>
            <a:r>
              <a:rPr lang="zh-CN" altLang="en-US" sz="2800" dirty="0">
                <a:latin typeface="华光楷体一_CNKI" panose="02000500000000000000" pitchFamily="2" charset="-122"/>
                <a:ea typeface="华光楷体一_CNKI" panose="02000500000000000000" pitchFamily="2" charset="-122"/>
              </a:rPr>
              <a:t>（</a:t>
            </a:r>
            <a:r>
              <a:rPr lang="en-US" altLang="zh-CN" sz="2800" dirty="0">
                <a:latin typeface="华光楷体一_CNKI" panose="02000500000000000000" pitchFamily="2" charset="-122"/>
                <a:ea typeface="华光楷体一_CNKI" panose="02000500000000000000" pitchFamily="2" charset="-122"/>
              </a:rPr>
              <a:t>3</a:t>
            </a:r>
            <a:r>
              <a:rPr lang="zh-CN" altLang="en-US" sz="2800" dirty="0">
                <a:latin typeface="华光楷体一_CNKI" panose="02000500000000000000" pitchFamily="2" charset="-122"/>
                <a:ea typeface="华光楷体一_CNKI" panose="02000500000000000000" pitchFamily="2" charset="-122"/>
              </a:rPr>
              <a:t>）根据能量转换的方式：发电机、电动机、变压器</a:t>
            </a:r>
            <a:endParaRPr lang="en-US" altLang="zh-CN" sz="2800" dirty="0">
              <a:latin typeface="华光楷体一_CNKI" panose="02000500000000000000" pitchFamily="2" charset="-122"/>
              <a:ea typeface="华光楷体一_CNKI" panose="02000500000000000000" pitchFamily="2" charset="-122"/>
            </a:endParaRPr>
          </a:p>
          <a:p>
            <a:r>
              <a:rPr lang="zh-CN" altLang="en-US" sz="2800" dirty="0">
                <a:latin typeface="华光楷体一_CNKI" panose="02000500000000000000" pitchFamily="2" charset="-122"/>
                <a:ea typeface="华光楷体一_CNKI" panose="02000500000000000000" pitchFamily="2" charset="-122"/>
              </a:rPr>
              <a:t>（</a:t>
            </a:r>
            <a:r>
              <a:rPr lang="en-US" altLang="zh-CN" sz="2800" dirty="0">
                <a:latin typeface="华光楷体一_CNKI" panose="02000500000000000000" pitchFamily="2" charset="-122"/>
                <a:ea typeface="华光楷体一_CNKI" panose="02000500000000000000" pitchFamily="2" charset="-122"/>
              </a:rPr>
              <a:t>4</a:t>
            </a:r>
            <a:r>
              <a:rPr lang="zh-CN" altLang="en-US" sz="2800" dirty="0">
                <a:latin typeface="华光楷体一_CNKI" panose="02000500000000000000" pitchFamily="2" charset="-122"/>
                <a:ea typeface="华光楷体一_CNKI" panose="02000500000000000000" pitchFamily="2" charset="-122"/>
              </a:rPr>
              <a:t>）根据应用特性的特征：机电传动系统的电机（发电机、电动机）、信号传感测量（旋转变压器、感应同步器、磁编码器）</a:t>
            </a:r>
            <a:endParaRPr lang="en-US" altLang="zh-CN" sz="2800" dirty="0">
              <a:latin typeface="华光楷体一_CNKI" panose="02000500000000000000" pitchFamily="2" charset="-122"/>
              <a:ea typeface="华光楷体一_CNKI" panose="02000500000000000000" pitchFamily="2" charset="-122"/>
            </a:endParaRPr>
          </a:p>
          <a:p>
            <a:r>
              <a:rPr lang="zh-CN" altLang="en-US" sz="2800" dirty="0">
                <a:latin typeface="华光楷体一_CNKI" panose="02000500000000000000" pitchFamily="2" charset="-122"/>
                <a:ea typeface="华光楷体一_CNKI" panose="02000500000000000000" pitchFamily="2" charset="-122"/>
              </a:rPr>
              <a:t>（</a:t>
            </a:r>
            <a:r>
              <a:rPr lang="en-US" altLang="zh-CN" sz="2800" dirty="0">
                <a:latin typeface="华光楷体一_CNKI" panose="02000500000000000000" pitchFamily="2" charset="-122"/>
                <a:ea typeface="华光楷体一_CNKI" panose="02000500000000000000" pitchFamily="2" charset="-122"/>
              </a:rPr>
              <a:t>5</a:t>
            </a:r>
            <a:r>
              <a:rPr lang="zh-CN" altLang="en-US" sz="2800" dirty="0">
                <a:latin typeface="华光楷体一_CNKI" panose="02000500000000000000" pitchFamily="2" charset="-122"/>
                <a:ea typeface="华光楷体一_CNKI" panose="02000500000000000000" pitchFamily="2" charset="-122"/>
              </a:rPr>
              <a:t>）根据应用场景的特征：闭环控制用电机（步进电机、伺服电动机、音圈电机），开环控制效率型大功率电机（交流感应电机、交流同步直驱电机、磁悬浮交流电机）</a:t>
            </a:r>
            <a:endParaRPr lang="en-US" altLang="zh-CN" sz="2800" dirty="0">
              <a:latin typeface="华光楷体一_CNKI" panose="02000500000000000000" pitchFamily="2" charset="-122"/>
              <a:ea typeface="华光楷体一_CNKI" panose="02000500000000000000" pitchFamily="2" charset="-122"/>
            </a:endParaRPr>
          </a:p>
          <a:p>
            <a:r>
              <a:rPr lang="zh-CN" altLang="en-US" sz="2800" dirty="0">
                <a:latin typeface="华光楷体一_CNKI" panose="02000500000000000000" pitchFamily="2" charset="-122"/>
                <a:ea typeface="华光楷体一_CNKI" panose="02000500000000000000" pitchFamily="2" charset="-122"/>
              </a:rPr>
              <a:t>（</a:t>
            </a:r>
            <a:r>
              <a:rPr lang="en-US" altLang="zh-CN" sz="2800" dirty="0">
                <a:latin typeface="华光楷体一_CNKI" panose="02000500000000000000" pitchFamily="2" charset="-122"/>
                <a:ea typeface="华光楷体一_CNKI" panose="02000500000000000000" pitchFamily="2" charset="-122"/>
              </a:rPr>
              <a:t>6</a:t>
            </a:r>
            <a:r>
              <a:rPr lang="zh-CN" altLang="en-US" sz="2800" dirty="0">
                <a:latin typeface="华光楷体一_CNKI" panose="02000500000000000000" pitchFamily="2" charset="-122"/>
                <a:ea typeface="华光楷体一_CNKI" panose="02000500000000000000" pitchFamily="2" charset="-122"/>
              </a:rPr>
              <a:t>）根据结构和运行特征：定转子结构（空心杯电机、无框电机、盘式无铁芯电机），磁场结构（径向磁通电机、轴向磁通电机）</a:t>
            </a:r>
          </a:p>
        </p:txBody>
      </p:sp>
    </p:spTree>
    <p:extLst>
      <p:ext uri="{BB962C8B-B14F-4D97-AF65-F5344CB8AC3E}">
        <p14:creationId xmlns:p14="http://schemas.microsoft.com/office/powerpoint/2010/main" val="3794497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CD58A52D-69A2-4517-9748-E945812AF265}" type="slidenum">
              <a:rPr kumimoji="0" lang="en-US" altLang="zh-CN" sz="1400"/>
              <a:pPr>
                <a:spcBef>
                  <a:spcPct val="0"/>
                </a:spcBef>
                <a:buClrTx/>
                <a:buSzTx/>
                <a:buFontTx/>
                <a:buNone/>
              </a:pPr>
              <a:t>6</a:t>
            </a:fld>
            <a:endParaRPr kumimoji="0" lang="en-US" altLang="zh-CN" sz="1400"/>
          </a:p>
        </p:txBody>
      </p:sp>
      <p:sp>
        <p:nvSpPr>
          <p:cNvPr id="10243" name="Rectangle 2"/>
          <p:cNvSpPr>
            <a:spLocks noGrp="1" noChangeArrowheads="1"/>
          </p:cNvSpPr>
          <p:nvPr>
            <p:ph type="title"/>
          </p:nvPr>
        </p:nvSpPr>
        <p:spPr>
          <a:xfrm>
            <a:off x="1075804" y="548680"/>
            <a:ext cx="7632700" cy="1079500"/>
          </a:xfrm>
        </p:spPr>
        <p:txBody>
          <a:bodyPr/>
          <a:lstStyle/>
          <a:p>
            <a:pPr eaLnBrk="1" hangingPunct="1"/>
            <a:r>
              <a:rPr lang="en-US" altLang="zh-CN" sz="3600" b="1" dirty="0"/>
              <a:t>0.1</a:t>
            </a:r>
            <a:r>
              <a:rPr lang="zh-CN" altLang="en-US" sz="3600" b="1" dirty="0">
                <a:ea typeface="楷体_GB2312" pitchFamily="49" charset="-122"/>
              </a:rPr>
              <a:t>电机及电力拖动技术的发展概况</a:t>
            </a:r>
            <a:r>
              <a:rPr lang="zh-CN" altLang="en-US" dirty="0"/>
              <a:t> </a:t>
            </a:r>
          </a:p>
        </p:txBody>
      </p:sp>
      <p:sp>
        <p:nvSpPr>
          <p:cNvPr id="82947" name="Rectangle 3"/>
          <p:cNvSpPr>
            <a:spLocks noGrp="1" noChangeArrowheads="1"/>
          </p:cNvSpPr>
          <p:nvPr>
            <p:ph type="body" idx="1"/>
          </p:nvPr>
        </p:nvSpPr>
        <p:spPr>
          <a:xfrm>
            <a:off x="684213" y="1484313"/>
            <a:ext cx="8135937" cy="3097212"/>
          </a:xfrm>
        </p:spPr>
        <p:txBody>
          <a:bodyPr/>
          <a:lstStyle/>
          <a:p>
            <a:pPr>
              <a:buFont typeface="Wingdings" panose="05000000000000000000" pitchFamily="2" charset="2"/>
              <a:buChar char="n"/>
              <a:defRPr/>
            </a:pPr>
            <a:r>
              <a:rPr lang="zh-CN" altLang="en-US" sz="2400" dirty="0">
                <a:latin typeface="华文楷体" panose="02010600040101010101" pitchFamily="2" charset="-122"/>
                <a:ea typeface="华文楷体" panose="02010600040101010101" pitchFamily="2" charset="-122"/>
              </a:rPr>
              <a:t>作为一种</a:t>
            </a:r>
            <a:r>
              <a:rPr lang="zh-CN" altLang="en-US" sz="2400" b="1" dirty="0">
                <a:latin typeface="华文楷体" panose="02010600040101010101" pitchFamily="2" charset="-122"/>
                <a:ea typeface="华文楷体" panose="02010600040101010101" pitchFamily="2" charset="-122"/>
              </a:rPr>
              <a:t>易生产、易传输、易分配、易使用、易控制、低污染</a:t>
            </a:r>
            <a:r>
              <a:rPr lang="zh-CN" altLang="en-US" sz="2400" dirty="0">
                <a:latin typeface="华文楷体" panose="02010600040101010101" pitchFamily="2" charset="-122"/>
                <a:ea typeface="华文楷体" panose="02010600040101010101" pitchFamily="2" charset="-122"/>
              </a:rPr>
              <a:t>的能源，电能是现代最大量应用的一种能量形式。作为一种</a:t>
            </a:r>
            <a:r>
              <a:rPr lang="zh-CN" altLang="en-US" sz="2400" b="1" dirty="0">
                <a:latin typeface="华文楷体" panose="02010600040101010101" pitchFamily="2" charset="-122"/>
                <a:ea typeface="华文楷体" panose="02010600040101010101" pitchFamily="2" charset="-122"/>
              </a:rPr>
              <a:t>高效的机电能量转换工具</a:t>
            </a:r>
            <a:r>
              <a:rPr lang="zh-CN" altLang="en-US" sz="2400" dirty="0">
                <a:latin typeface="华文楷体" panose="02010600040101010101" pitchFamily="2" charset="-122"/>
                <a:ea typeface="华文楷体" panose="02010600040101010101" pitchFamily="2" charset="-122"/>
              </a:rPr>
              <a:t>，</a:t>
            </a:r>
            <a:r>
              <a:rPr lang="zh-CN" altLang="en-US" sz="2400" b="1" dirty="0">
                <a:latin typeface="华文楷体" panose="02010600040101010101" pitchFamily="2" charset="-122"/>
                <a:ea typeface="华文楷体" panose="02010600040101010101" pitchFamily="2" charset="-122"/>
              </a:rPr>
              <a:t>电机及其拖动控制系统</a:t>
            </a:r>
            <a:r>
              <a:rPr lang="zh-CN" altLang="en-US" sz="2400" dirty="0">
                <a:latin typeface="华文楷体" panose="02010600040101010101" pitchFamily="2" charset="-122"/>
                <a:ea typeface="华文楷体" panose="02010600040101010101" pitchFamily="2" charset="-122"/>
              </a:rPr>
              <a:t>在国民经济、国防装备的现代化发展和社会生活中发挥着越来越重要的作用，是</a:t>
            </a:r>
            <a:r>
              <a:rPr lang="zh-CN" altLang="en-US" sz="2400" b="1" dirty="0">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第二次工业革命的标志</a:t>
            </a:r>
            <a:r>
              <a:rPr lang="zh-CN" altLang="en-US" sz="2400" dirty="0">
                <a:latin typeface="华文楷体" panose="02010600040101010101" pitchFamily="2" charset="-122"/>
                <a:ea typeface="华文楷体" panose="02010600040101010101" pitchFamily="2" charset="-122"/>
              </a:rPr>
              <a:t>。</a:t>
            </a:r>
            <a:endParaRPr lang="en-US" altLang="zh-CN" sz="2400" dirty="0">
              <a:latin typeface="华文楷体" panose="02010600040101010101" pitchFamily="2" charset="-122"/>
              <a:ea typeface="华文楷体" panose="02010600040101010101" pitchFamily="2" charset="-122"/>
            </a:endParaRPr>
          </a:p>
          <a:p>
            <a:pPr marL="0" indent="0">
              <a:buNone/>
              <a:defRPr/>
            </a:pPr>
            <a:r>
              <a:rPr lang="en-US" altLang="zh-CN" sz="2400" b="1" dirty="0">
                <a:solidFill>
                  <a:srgbClr val="FF0000"/>
                </a:solidFill>
                <a:latin typeface="华文楷体" panose="02010600040101010101" pitchFamily="2" charset="-122"/>
                <a:ea typeface="华文楷体" panose="02010600040101010101" pitchFamily="2" charset="-122"/>
              </a:rPr>
              <a:t>     50%</a:t>
            </a:r>
            <a:r>
              <a:rPr lang="zh-CN" altLang="en-US" sz="2400" b="1" dirty="0">
                <a:solidFill>
                  <a:srgbClr val="FF0000"/>
                </a:solidFill>
                <a:latin typeface="华文楷体" panose="02010600040101010101" pitchFamily="2" charset="-122"/>
                <a:ea typeface="华文楷体" panose="02010600040101010101" pitchFamily="2" charset="-122"/>
              </a:rPr>
              <a:t>的电能通过电机转换。</a:t>
            </a:r>
          </a:p>
        </p:txBody>
      </p:sp>
      <p:sp>
        <p:nvSpPr>
          <p:cNvPr id="82953" name="Text Box 9"/>
          <p:cNvSpPr txBox="1">
            <a:spLocks noChangeArrowheads="1"/>
          </p:cNvSpPr>
          <p:nvPr/>
        </p:nvSpPr>
        <p:spPr bwMode="auto">
          <a:xfrm>
            <a:off x="665163" y="4305300"/>
            <a:ext cx="8097837" cy="194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342900" indent="-342900">
              <a:spcBef>
                <a:spcPct val="0"/>
              </a:spcBef>
              <a:buClr>
                <a:srgbClr val="0066FF"/>
              </a:buClr>
              <a:buSzTx/>
            </a:pPr>
            <a:r>
              <a:rPr lang="zh-CN" altLang="en-US" sz="2400" dirty="0">
                <a:latin typeface="华文楷体" panose="02010600040101010101" pitchFamily="2" charset="-122"/>
                <a:ea typeface="华文楷体" panose="02010600040101010101" pitchFamily="2" charset="-122"/>
              </a:rPr>
              <a:t>最先制成电动机的人，据说是</a:t>
            </a:r>
            <a:r>
              <a:rPr lang="zh-CN" altLang="en-US" sz="2400" b="1" dirty="0">
                <a:latin typeface="华文楷体" panose="02010600040101010101" pitchFamily="2" charset="-122"/>
                <a:ea typeface="华文楷体" panose="02010600040101010101" pitchFamily="2" charset="-122"/>
              </a:rPr>
              <a:t>德国的雅可比</a:t>
            </a:r>
            <a:r>
              <a:rPr lang="zh-CN" altLang="en-US" sz="2400" dirty="0">
                <a:latin typeface="华文楷体" panose="02010600040101010101" pitchFamily="2" charset="-122"/>
                <a:ea typeface="华文楷体" panose="02010600040101010101" pitchFamily="2" charset="-122"/>
              </a:rPr>
              <a:t>。他于</a:t>
            </a:r>
            <a:r>
              <a:rPr lang="en-US" altLang="zh-CN" sz="2400" b="1" dirty="0">
                <a:solidFill>
                  <a:srgbClr val="3333CC"/>
                </a:solidFill>
                <a:latin typeface="华文楷体" panose="02010600040101010101" pitchFamily="2" charset="-122"/>
                <a:ea typeface="华文楷体" panose="02010600040101010101" pitchFamily="2" charset="-122"/>
              </a:rPr>
              <a:t>1834</a:t>
            </a:r>
            <a:r>
              <a:rPr lang="zh-CN" altLang="en-US" sz="2400" dirty="0">
                <a:latin typeface="华文楷体" panose="02010600040101010101" pitchFamily="2" charset="-122"/>
                <a:ea typeface="华文楷体" panose="02010600040101010101" pitchFamily="2" charset="-122"/>
              </a:rPr>
              <a:t>年前后成了一种简单的装置：在两个</a:t>
            </a:r>
            <a:r>
              <a:rPr lang="en-US" altLang="zh-CN" sz="2400" dirty="0">
                <a:latin typeface="华文楷体" panose="02010600040101010101" pitchFamily="2" charset="-122"/>
                <a:ea typeface="华文楷体" panose="02010600040101010101" pitchFamily="2" charset="-122"/>
              </a:rPr>
              <a:t>U</a:t>
            </a:r>
            <a:r>
              <a:rPr lang="zh-CN" altLang="en-US" sz="2400" dirty="0">
                <a:latin typeface="华文楷体" panose="02010600040101010101" pitchFamily="2" charset="-122"/>
                <a:ea typeface="华文楷体" panose="02010600040101010101" pitchFamily="2" charset="-122"/>
              </a:rPr>
              <a:t>型电磁铁中间，装一六臂轮，每臂带两根棒型磁铁。通电后，棒型磁铁与</a:t>
            </a:r>
            <a:r>
              <a:rPr lang="en-US" altLang="zh-CN" sz="2400" dirty="0">
                <a:latin typeface="华文楷体" panose="02010600040101010101" pitchFamily="2" charset="-122"/>
                <a:ea typeface="华文楷体" panose="02010600040101010101" pitchFamily="2" charset="-122"/>
              </a:rPr>
              <a:t>U</a:t>
            </a:r>
            <a:r>
              <a:rPr lang="zh-CN" altLang="en-US" sz="2400" dirty="0">
                <a:latin typeface="华文楷体" panose="02010600040101010101" pitchFamily="2" charset="-122"/>
                <a:ea typeface="华文楷体" panose="02010600040101010101" pitchFamily="2" charset="-122"/>
              </a:rPr>
              <a:t>型磁铁之间产生相互吸引和排斥作用 ，带动轮轴转动，这是直流电机的雏形。 </a:t>
            </a:r>
          </a:p>
        </p:txBody>
      </p:sp>
      <p:sp>
        <p:nvSpPr>
          <p:cNvPr id="5" name="日期占位符 4">
            <a:extLst>
              <a:ext uri="{FF2B5EF4-FFF2-40B4-BE49-F238E27FC236}">
                <a16:creationId xmlns:a16="http://schemas.microsoft.com/office/drawing/2014/main" id="{BF21EA5A-88EF-7F1E-EC75-07DB595441D1}"/>
              </a:ext>
            </a:extLst>
          </p:cNvPr>
          <p:cNvSpPr>
            <a:spLocks noGrp="1"/>
          </p:cNvSpPr>
          <p:nvPr>
            <p:ph type="dt" sz="half" idx="10"/>
          </p:nvPr>
        </p:nvSpPr>
        <p:spPr/>
        <p:txBody>
          <a:bodyPr/>
          <a:lstStyle/>
          <a:p>
            <a:fld id="{8A08F31E-89F2-46AD-A75E-E9653E2AF1C4}" type="datetime10">
              <a:rPr lang="en-US" altLang="zh-CN" smtClean="0"/>
              <a:t>16:53</a:t>
            </a:fld>
            <a:endParaRPr lang="en-US" altLang="zh-CN"/>
          </a:p>
        </p:txBody>
      </p:sp>
    </p:spTree>
    <p:extLst>
      <p:ext uri="{BB962C8B-B14F-4D97-AF65-F5344CB8AC3E}">
        <p14:creationId xmlns:p14="http://schemas.microsoft.com/office/powerpoint/2010/main" val="9559371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2947">
                                            <p:txEl>
                                              <p:pRg st="0" end="0"/>
                                            </p:txEl>
                                          </p:spTgt>
                                        </p:tgtEl>
                                        <p:attrNameLst>
                                          <p:attrName>style.visibility</p:attrName>
                                        </p:attrNameLst>
                                      </p:cBhvr>
                                      <p:to>
                                        <p:strVal val="visible"/>
                                      </p:to>
                                    </p:set>
                                    <p:anim calcmode="lin" valueType="num">
                                      <p:cBhvr additive="base">
                                        <p:cTn id="7" dur="500" fill="hold"/>
                                        <p:tgtEl>
                                          <p:spTgt spid="829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29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2947">
                                            <p:txEl>
                                              <p:pRg st="1" end="1"/>
                                            </p:txEl>
                                          </p:spTgt>
                                        </p:tgtEl>
                                        <p:attrNameLst>
                                          <p:attrName>style.visibility</p:attrName>
                                        </p:attrNameLst>
                                      </p:cBhvr>
                                      <p:to>
                                        <p:strVal val="visible"/>
                                      </p:to>
                                    </p:set>
                                    <p:anim calcmode="lin" valueType="num">
                                      <p:cBhvr additive="base">
                                        <p:cTn id="13" dur="500" fill="hold"/>
                                        <p:tgtEl>
                                          <p:spTgt spid="8294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29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6" presetClass="entr" presetSubtype="42" fill="hold" grpId="0" nodeType="clickEffect">
                                  <p:stCondLst>
                                    <p:cond delay="0"/>
                                  </p:stCondLst>
                                  <p:childTnLst>
                                    <p:set>
                                      <p:cBhvr>
                                        <p:cTn id="18" dur="1" fill="hold">
                                          <p:stCondLst>
                                            <p:cond delay="0"/>
                                          </p:stCondLst>
                                        </p:cTn>
                                        <p:tgtEl>
                                          <p:spTgt spid="82953"/>
                                        </p:tgtEl>
                                        <p:attrNameLst>
                                          <p:attrName>style.visibility</p:attrName>
                                        </p:attrNameLst>
                                      </p:cBhvr>
                                      <p:to>
                                        <p:strVal val="visible"/>
                                      </p:to>
                                    </p:set>
                                    <p:animEffect transition="in" filter="barn(outHorizontal)">
                                      <p:cBhvr>
                                        <p:cTn id="19" dur="500"/>
                                        <p:tgtEl>
                                          <p:spTgt spid="829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7" grpId="0" build="p" autoUpdateAnimBg="0"/>
      <p:bldP spid="82953"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113BB4E0-429B-4878-AFE7-312678308822}" type="slidenum">
              <a:rPr kumimoji="0" lang="en-US" altLang="zh-CN" sz="1400"/>
              <a:pPr>
                <a:spcBef>
                  <a:spcPct val="0"/>
                </a:spcBef>
                <a:buClrTx/>
                <a:buSzTx/>
                <a:buFontTx/>
                <a:buNone/>
              </a:pPr>
              <a:t>7</a:t>
            </a:fld>
            <a:endParaRPr kumimoji="0" lang="en-US" altLang="zh-CN" sz="1400"/>
          </a:p>
        </p:txBody>
      </p:sp>
      <p:sp>
        <p:nvSpPr>
          <p:cNvPr id="11267" name="Rectangle 2"/>
          <p:cNvSpPr>
            <a:spLocks noGrp="1" noChangeArrowheads="1"/>
          </p:cNvSpPr>
          <p:nvPr>
            <p:ph type="title"/>
          </p:nvPr>
        </p:nvSpPr>
        <p:spPr>
          <a:xfrm>
            <a:off x="7734300" y="333375"/>
            <a:ext cx="1182688" cy="962025"/>
          </a:xfrm>
        </p:spPr>
        <p:txBody>
          <a:bodyPr/>
          <a:lstStyle/>
          <a:p>
            <a:pPr eaLnBrk="1" hangingPunct="1"/>
            <a:r>
              <a:rPr lang="zh-CN" altLang="en-US" sz="3600" b="1" dirty="0">
                <a:ea typeface="楷体_GB2312" pitchFamily="49" charset="-122"/>
              </a:rPr>
              <a:t>发展概况</a:t>
            </a:r>
          </a:p>
        </p:txBody>
      </p:sp>
      <p:sp>
        <p:nvSpPr>
          <p:cNvPr id="11268" name="Rectangle 3"/>
          <p:cNvSpPr>
            <a:spLocks noGrp="1" noChangeArrowheads="1"/>
          </p:cNvSpPr>
          <p:nvPr>
            <p:ph type="body" idx="1"/>
          </p:nvPr>
        </p:nvSpPr>
        <p:spPr>
          <a:xfrm>
            <a:off x="251520" y="995365"/>
            <a:ext cx="7776864" cy="1655763"/>
          </a:xfrm>
        </p:spPr>
        <p:txBody>
          <a:bodyPr/>
          <a:lstStyle/>
          <a:p>
            <a:pPr eaLnBrk="1" hangingPunct="1">
              <a:buClr>
                <a:srgbClr val="3333CC"/>
              </a:buClr>
              <a:buFont typeface="Wingdings" panose="05000000000000000000" pitchFamily="2" charset="2"/>
              <a:buChar char="Ø"/>
            </a:pPr>
            <a:r>
              <a:rPr lang="zh-CN" altLang="en-US" sz="2400" b="1" dirty="0">
                <a:ea typeface="楷体_GB2312" pitchFamily="49" charset="-122"/>
              </a:rPr>
              <a:t>雅可比</a:t>
            </a:r>
            <a:r>
              <a:rPr lang="zh-CN" altLang="en-US" sz="2400" dirty="0"/>
              <a:t>做了一具大型的装置，安在小艇上，用</a:t>
            </a:r>
            <a:r>
              <a:rPr lang="en-US" altLang="zh-CN" sz="2400" dirty="0"/>
              <a:t>320</a:t>
            </a:r>
            <a:r>
              <a:rPr lang="zh-CN" altLang="en-US" sz="2400" dirty="0"/>
              <a:t>个丹尼尔电池（铜锌）供电，</a:t>
            </a:r>
            <a:r>
              <a:rPr lang="en-US" altLang="zh-CN" sz="2400" i="1" dirty="0">
                <a:solidFill>
                  <a:srgbClr val="3333CC"/>
                </a:solidFill>
              </a:rPr>
              <a:t>1</a:t>
            </a:r>
            <a:r>
              <a:rPr lang="en-US" altLang="zh-CN" sz="2400" b="1" i="1" dirty="0">
                <a:solidFill>
                  <a:srgbClr val="3333CC"/>
                </a:solidFill>
              </a:rPr>
              <a:t>838</a:t>
            </a:r>
            <a:r>
              <a:rPr lang="zh-CN" altLang="en-US" sz="2400" dirty="0"/>
              <a:t>年小艇在易北河上首次航行，时速只有</a:t>
            </a:r>
            <a:r>
              <a:rPr lang="en-US" altLang="zh-CN" sz="2400" b="1" dirty="0"/>
              <a:t>2.2</a:t>
            </a:r>
            <a:r>
              <a:rPr lang="zh-CN" altLang="en-US" sz="2400" b="1" dirty="0"/>
              <a:t>公里</a:t>
            </a:r>
            <a:r>
              <a:rPr lang="zh-CN" altLang="en-US" sz="2400" dirty="0"/>
              <a:t>。</a:t>
            </a:r>
            <a:r>
              <a:rPr lang="zh-CN" altLang="en-US" sz="2800" dirty="0"/>
              <a:t> </a:t>
            </a:r>
          </a:p>
        </p:txBody>
      </p:sp>
      <p:sp>
        <p:nvSpPr>
          <p:cNvPr id="107524" name="Text Box 4"/>
          <p:cNvSpPr txBox="1">
            <a:spLocks noChangeArrowheads="1"/>
          </p:cNvSpPr>
          <p:nvPr/>
        </p:nvSpPr>
        <p:spPr bwMode="auto">
          <a:xfrm>
            <a:off x="259778" y="2328096"/>
            <a:ext cx="8551961" cy="12025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342900" indent="-342900">
              <a:spcBef>
                <a:spcPct val="0"/>
              </a:spcBef>
              <a:buClrTx/>
              <a:buSzTx/>
            </a:pPr>
            <a:r>
              <a:rPr lang="en-US" altLang="zh-CN" sz="2400" dirty="0">
                <a:ea typeface="华文中宋" panose="02010600040101010101" pitchFamily="2" charset="-122"/>
              </a:rPr>
              <a:t> </a:t>
            </a:r>
            <a:r>
              <a:rPr lang="zh-CN" altLang="en-US" sz="2400" dirty="0">
                <a:ea typeface="华文中宋" panose="02010600040101010101" pitchFamily="2" charset="-122"/>
              </a:rPr>
              <a:t>美国的</a:t>
            </a:r>
            <a:r>
              <a:rPr lang="zh-CN" altLang="en-US" sz="2400" b="1" dirty="0">
                <a:ea typeface="楷体_GB2312" pitchFamily="49" charset="-122"/>
              </a:rPr>
              <a:t>达文波特</a:t>
            </a:r>
            <a:r>
              <a:rPr lang="zh-CN" altLang="en-US" sz="2400" dirty="0">
                <a:ea typeface="华文中宋" panose="02010600040101010101" pitchFamily="2" charset="-122"/>
              </a:rPr>
              <a:t>也成功地制出了驱动印刷机的电动机，印刷过美国电学期刑</a:t>
            </a:r>
            <a:r>
              <a:rPr lang="en-US" altLang="zh-CN" sz="2400" dirty="0">
                <a:ea typeface="华文中宋" panose="02010600040101010101" pitchFamily="2" charset="-122"/>
              </a:rPr>
              <a:t>《</a:t>
            </a:r>
            <a:r>
              <a:rPr lang="zh-CN" altLang="en-US" sz="2400" dirty="0">
                <a:ea typeface="华文中宋" panose="02010600040101010101" pitchFamily="2" charset="-122"/>
              </a:rPr>
              <a:t>电磁和机械情报</a:t>
            </a:r>
            <a:r>
              <a:rPr lang="en-US" altLang="zh-CN" sz="2400" dirty="0">
                <a:ea typeface="华文中宋" panose="02010600040101010101" pitchFamily="2" charset="-122"/>
              </a:rPr>
              <a:t>》</a:t>
            </a:r>
            <a:r>
              <a:rPr lang="zh-CN" altLang="en-US" sz="2400" dirty="0">
                <a:ea typeface="华文中宋" panose="02010600040101010101" pitchFamily="2" charset="-122"/>
              </a:rPr>
              <a:t>。但这两种电动机都没有多大商业价值，用电池作电源，成本太高、不实用。</a:t>
            </a:r>
            <a:r>
              <a:rPr lang="zh-CN" altLang="en-US" sz="2400" dirty="0"/>
              <a:t> </a:t>
            </a:r>
          </a:p>
        </p:txBody>
      </p:sp>
      <p:sp>
        <p:nvSpPr>
          <p:cNvPr id="107525" name="Text Box 5"/>
          <p:cNvSpPr txBox="1">
            <a:spLocks noChangeArrowheads="1"/>
          </p:cNvSpPr>
          <p:nvPr/>
        </p:nvSpPr>
        <p:spPr bwMode="auto">
          <a:xfrm>
            <a:off x="259778" y="3671889"/>
            <a:ext cx="8507985" cy="12025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342900" indent="-342900">
              <a:spcBef>
                <a:spcPct val="0"/>
              </a:spcBef>
              <a:buClrTx/>
              <a:buSzTx/>
            </a:pPr>
            <a:r>
              <a:rPr lang="en-US" altLang="zh-CN" sz="2400" dirty="0"/>
              <a:t>    </a:t>
            </a:r>
            <a:r>
              <a:rPr lang="en-US" altLang="zh-CN" sz="2400" b="1" dirty="0">
                <a:solidFill>
                  <a:srgbClr val="3333CC"/>
                </a:solidFill>
              </a:rPr>
              <a:t>1870</a:t>
            </a:r>
            <a:r>
              <a:rPr lang="zh-CN" altLang="en-US" sz="2400" dirty="0"/>
              <a:t>年比利时工程师</a:t>
            </a:r>
            <a:r>
              <a:rPr lang="zh-CN" altLang="en-US" sz="2400" b="1" dirty="0">
                <a:ea typeface="楷体_GB2312" pitchFamily="49" charset="-122"/>
              </a:rPr>
              <a:t>格拉姆</a:t>
            </a:r>
            <a:r>
              <a:rPr lang="zh-CN" altLang="en-US" sz="2400" dirty="0"/>
              <a:t>发明了直流发电机。格拉姆证明向直流发电机输入电流，其转子会象电动机一样旋转。于是，这种格拉姆型电动机大量制造出来。效率也不断提高。 </a:t>
            </a:r>
          </a:p>
        </p:txBody>
      </p:sp>
      <p:sp>
        <p:nvSpPr>
          <p:cNvPr id="107526" name="Text Box 6"/>
          <p:cNvSpPr txBox="1">
            <a:spLocks noChangeArrowheads="1"/>
          </p:cNvSpPr>
          <p:nvPr/>
        </p:nvSpPr>
        <p:spPr bwMode="auto">
          <a:xfrm>
            <a:off x="259779" y="5152622"/>
            <a:ext cx="8173294" cy="12025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342900" indent="-342900">
              <a:spcBef>
                <a:spcPct val="0"/>
              </a:spcBef>
              <a:buClrTx/>
              <a:buSzTx/>
            </a:pPr>
            <a:r>
              <a:rPr lang="en-US" altLang="zh-CN" sz="2400" dirty="0"/>
              <a:t>   </a:t>
            </a:r>
            <a:r>
              <a:rPr lang="zh-CN" altLang="en-US" sz="2400" dirty="0"/>
              <a:t>德国的</a:t>
            </a:r>
            <a:r>
              <a:rPr lang="zh-CN" altLang="en-US" sz="2400" b="1" dirty="0">
                <a:ea typeface="楷体_GB2312" pitchFamily="49" charset="-122"/>
              </a:rPr>
              <a:t>西门子</a:t>
            </a:r>
            <a:r>
              <a:rPr lang="zh-CN" altLang="en-US" sz="2400" dirty="0"/>
              <a:t>制造出更好的发电机，</a:t>
            </a:r>
            <a:r>
              <a:rPr lang="en-US" altLang="zh-CN" sz="2400" dirty="0"/>
              <a:t>1</a:t>
            </a:r>
            <a:r>
              <a:rPr lang="en-US" altLang="zh-CN" sz="2400" b="1" dirty="0">
                <a:solidFill>
                  <a:srgbClr val="3333CC"/>
                </a:solidFill>
              </a:rPr>
              <a:t>879</a:t>
            </a:r>
            <a:r>
              <a:rPr lang="zh-CN" altLang="en-US" sz="2400" dirty="0"/>
              <a:t>年，在柏林工业展览会上，西门子公司制造的无烟排放的电动车引起关注。</a:t>
            </a:r>
          </a:p>
        </p:txBody>
      </p:sp>
      <p:sp>
        <p:nvSpPr>
          <p:cNvPr id="7" name="日期占位符 6">
            <a:extLst>
              <a:ext uri="{FF2B5EF4-FFF2-40B4-BE49-F238E27FC236}">
                <a16:creationId xmlns:a16="http://schemas.microsoft.com/office/drawing/2014/main" id="{2BC935CA-BA98-7F98-B300-8E6633F85836}"/>
              </a:ext>
            </a:extLst>
          </p:cNvPr>
          <p:cNvSpPr>
            <a:spLocks noGrp="1"/>
          </p:cNvSpPr>
          <p:nvPr>
            <p:ph type="dt" sz="half" idx="10"/>
          </p:nvPr>
        </p:nvSpPr>
        <p:spPr/>
        <p:txBody>
          <a:bodyPr/>
          <a:lstStyle/>
          <a:p>
            <a:fld id="{B5C129AC-7516-4C2D-9DB4-06ABBC5CEA4A}" type="datetime10">
              <a:rPr lang="en-US" altLang="zh-CN" smtClean="0"/>
              <a:t>16:53</a:t>
            </a:fld>
            <a:endParaRPr lang="en-US" altLang="zh-CN"/>
          </a:p>
        </p:txBody>
      </p:sp>
    </p:spTree>
    <p:extLst>
      <p:ext uri="{BB962C8B-B14F-4D97-AF65-F5344CB8AC3E}">
        <p14:creationId xmlns:p14="http://schemas.microsoft.com/office/powerpoint/2010/main" val="23331420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07524"/>
                                        </p:tgtEl>
                                        <p:attrNameLst>
                                          <p:attrName>style.visibility</p:attrName>
                                        </p:attrNameLst>
                                      </p:cBhvr>
                                      <p:to>
                                        <p:strVal val="visible"/>
                                      </p:to>
                                    </p:set>
                                    <p:anim calcmode="lin" valueType="num">
                                      <p:cBhvr>
                                        <p:cTn id="7" dur="500" fill="hold"/>
                                        <p:tgtEl>
                                          <p:spTgt spid="107524"/>
                                        </p:tgtEl>
                                        <p:attrNameLst>
                                          <p:attrName>ppt_w</p:attrName>
                                        </p:attrNameLst>
                                      </p:cBhvr>
                                      <p:tavLst>
                                        <p:tav tm="0">
                                          <p:val>
                                            <p:fltVal val="0"/>
                                          </p:val>
                                        </p:tav>
                                        <p:tav tm="100000">
                                          <p:val>
                                            <p:strVal val="#ppt_w"/>
                                          </p:val>
                                        </p:tav>
                                      </p:tavLst>
                                    </p:anim>
                                    <p:anim calcmode="lin" valueType="num">
                                      <p:cBhvr>
                                        <p:cTn id="8" dur="500" fill="hold"/>
                                        <p:tgtEl>
                                          <p:spTgt spid="107524"/>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07525"/>
                                        </p:tgtEl>
                                        <p:attrNameLst>
                                          <p:attrName>style.visibility</p:attrName>
                                        </p:attrNameLst>
                                      </p:cBhvr>
                                      <p:to>
                                        <p:strVal val="visible"/>
                                      </p:to>
                                    </p:set>
                                    <p:animEffect transition="in" filter="dissolve">
                                      <p:cBhvr>
                                        <p:cTn id="13" dur="500"/>
                                        <p:tgtEl>
                                          <p:spTgt spid="10752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107526"/>
                                        </p:tgtEl>
                                        <p:attrNameLst>
                                          <p:attrName>style.visibility</p:attrName>
                                        </p:attrNameLst>
                                      </p:cBhvr>
                                      <p:to>
                                        <p:strVal val="visible"/>
                                      </p:to>
                                    </p:set>
                                    <p:animEffect transition="in" filter="slide(fromBottom)">
                                      <p:cBhvr>
                                        <p:cTn id="18" dur="500"/>
                                        <p:tgtEl>
                                          <p:spTgt spid="1075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4" grpId="0" autoUpdateAnimBg="0"/>
      <p:bldP spid="107525" grpId="0" autoUpdateAnimBg="0"/>
      <p:bldP spid="107526"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FADB1DF1-6E25-4D2E-BF0A-10741C0D491D}" type="slidenum">
              <a:rPr kumimoji="0" lang="en-US" altLang="zh-CN" sz="1400"/>
              <a:pPr>
                <a:spcBef>
                  <a:spcPct val="0"/>
                </a:spcBef>
                <a:buClrTx/>
                <a:buSzTx/>
                <a:buFontTx/>
                <a:buNone/>
              </a:pPr>
              <a:t>8</a:t>
            </a:fld>
            <a:endParaRPr kumimoji="0" lang="en-US" altLang="zh-CN" sz="1400"/>
          </a:p>
        </p:txBody>
      </p:sp>
      <p:sp>
        <p:nvSpPr>
          <p:cNvPr id="12291" name="Rectangle 2"/>
          <p:cNvSpPr>
            <a:spLocks noGrp="1" noChangeArrowheads="1"/>
          </p:cNvSpPr>
          <p:nvPr>
            <p:ph type="title"/>
          </p:nvPr>
        </p:nvSpPr>
        <p:spPr>
          <a:xfrm>
            <a:off x="7667625" y="260350"/>
            <a:ext cx="1296988" cy="1223963"/>
          </a:xfrm>
        </p:spPr>
        <p:txBody>
          <a:bodyPr/>
          <a:lstStyle/>
          <a:p>
            <a:pPr eaLnBrk="1" hangingPunct="1"/>
            <a:r>
              <a:rPr lang="zh-CN" altLang="en-US" sz="3600" b="1">
                <a:ea typeface="楷体_GB2312" pitchFamily="49" charset="-122"/>
              </a:rPr>
              <a:t>发展概况</a:t>
            </a:r>
          </a:p>
        </p:txBody>
      </p:sp>
      <p:sp>
        <p:nvSpPr>
          <p:cNvPr id="12292" name="Rectangle 3"/>
          <p:cNvSpPr>
            <a:spLocks noGrp="1" noChangeArrowheads="1"/>
          </p:cNvSpPr>
          <p:nvPr>
            <p:ph type="body" idx="1"/>
          </p:nvPr>
        </p:nvSpPr>
        <p:spPr>
          <a:xfrm>
            <a:off x="250826" y="853281"/>
            <a:ext cx="7705550" cy="1223963"/>
          </a:xfrm>
        </p:spPr>
        <p:txBody>
          <a:bodyPr/>
          <a:lstStyle/>
          <a:p>
            <a:pPr eaLnBrk="1" hangingPunct="1">
              <a:lnSpc>
                <a:spcPct val="90000"/>
              </a:lnSpc>
              <a:buClr>
                <a:srgbClr val="0066FF"/>
              </a:buClr>
              <a:buFont typeface="Wingdings" panose="05000000000000000000" pitchFamily="2" charset="2"/>
              <a:buChar char="Ø"/>
            </a:pPr>
            <a:r>
              <a:rPr lang="zh-CN" altLang="en-US" sz="2400" b="1" dirty="0"/>
              <a:t>西门子</a:t>
            </a:r>
            <a:r>
              <a:rPr lang="zh-CN" altLang="en-US" sz="2400" dirty="0"/>
              <a:t>电机车当时只有</a:t>
            </a:r>
            <a:r>
              <a:rPr lang="en-US" altLang="zh-CN" sz="2400" dirty="0"/>
              <a:t>3</a:t>
            </a:r>
            <a:r>
              <a:rPr lang="zh-CN" altLang="en-US" sz="2400" dirty="0"/>
              <a:t>马力，后来美国</a:t>
            </a:r>
            <a:r>
              <a:rPr lang="zh-CN" altLang="en-US" sz="2400" b="1" dirty="0"/>
              <a:t>爱迪生</a:t>
            </a:r>
            <a:r>
              <a:rPr lang="zh-CN" altLang="en-US" sz="2400" dirty="0"/>
              <a:t>的电机车达</a:t>
            </a:r>
            <a:r>
              <a:rPr lang="en-US" altLang="zh-CN" sz="2400" dirty="0"/>
              <a:t>12</a:t>
            </a:r>
            <a:r>
              <a:rPr lang="en-US" altLang="zh-CN" sz="2400" dirty="0">
                <a:latin typeface="Times New Roman" panose="02020603050405020304" pitchFamily="18" charset="0"/>
              </a:rPr>
              <a:t>—</a:t>
            </a:r>
            <a:r>
              <a:rPr lang="en-US" altLang="zh-CN" sz="2400" dirty="0"/>
              <a:t>15</a:t>
            </a:r>
            <a:r>
              <a:rPr lang="zh-CN" altLang="en-US" sz="2400" dirty="0"/>
              <a:t>马力。但全是直流电机，只限于驱动电车。 </a:t>
            </a:r>
          </a:p>
        </p:txBody>
      </p:sp>
      <p:sp>
        <p:nvSpPr>
          <p:cNvPr id="108548" name="Text Box 4"/>
          <p:cNvSpPr txBox="1">
            <a:spLocks noChangeArrowheads="1"/>
          </p:cNvSpPr>
          <p:nvPr/>
        </p:nvSpPr>
        <p:spPr bwMode="auto">
          <a:xfrm>
            <a:off x="250825" y="1878013"/>
            <a:ext cx="8713788" cy="12025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342900" indent="-342900">
              <a:spcBef>
                <a:spcPct val="0"/>
              </a:spcBef>
              <a:buClrTx/>
              <a:buSzTx/>
            </a:pPr>
            <a:r>
              <a:rPr lang="en-US" altLang="zh-CN" sz="2400" dirty="0"/>
              <a:t>    </a:t>
            </a:r>
            <a:r>
              <a:rPr lang="en-US" altLang="zh-CN" sz="2400" b="1" dirty="0">
                <a:solidFill>
                  <a:srgbClr val="3333CC"/>
                </a:solidFill>
              </a:rPr>
              <a:t>1883</a:t>
            </a:r>
            <a:r>
              <a:rPr lang="zh-CN" altLang="en-US" sz="2400" dirty="0"/>
              <a:t>年</a:t>
            </a:r>
            <a:r>
              <a:rPr lang="zh-CN" altLang="en-US" sz="2400" b="1" dirty="0">
                <a:solidFill>
                  <a:srgbClr val="3333CC"/>
                </a:solidFill>
                <a:ea typeface="楷体_GB2312" pitchFamily="49" charset="-122"/>
              </a:rPr>
              <a:t>特斯拉</a:t>
            </a:r>
            <a:r>
              <a:rPr lang="zh-CN" altLang="en-US" sz="2400" dirty="0"/>
              <a:t>发明了交流电动机。它是根据电磁感应原理制成，又称感应电动机，这种电动机结构简单，使用交流电，无需整流，无火花，因此被广泛应用于工业和家庭电器中。 </a:t>
            </a:r>
          </a:p>
        </p:txBody>
      </p:sp>
      <p:sp>
        <p:nvSpPr>
          <p:cNvPr id="108549" name="Text Box 5"/>
          <p:cNvSpPr txBox="1">
            <a:spLocks noChangeArrowheads="1"/>
          </p:cNvSpPr>
          <p:nvPr/>
        </p:nvSpPr>
        <p:spPr bwMode="auto">
          <a:xfrm>
            <a:off x="250825" y="3429000"/>
            <a:ext cx="8569325" cy="12025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342900" indent="-342900">
              <a:spcBef>
                <a:spcPct val="0"/>
              </a:spcBef>
              <a:buClrTx/>
              <a:buSzTx/>
            </a:pPr>
            <a:r>
              <a:rPr lang="en-US" altLang="zh-CN" sz="2400" dirty="0"/>
              <a:t>     </a:t>
            </a:r>
            <a:r>
              <a:rPr lang="zh-CN" altLang="en-US" sz="2400" b="1" dirty="0"/>
              <a:t>直流电动机</a:t>
            </a:r>
            <a:r>
              <a:rPr lang="zh-CN" altLang="en-US" sz="2400" dirty="0"/>
              <a:t>良好的控制特性，一直在要求高控制性能（宽范围调速、高精度转速、转矩、转角控制）的</a:t>
            </a:r>
            <a:r>
              <a:rPr lang="zh-CN" altLang="en-US" sz="2400" b="1" dirty="0"/>
              <a:t>电力拖动领域中占据着主要地位</a:t>
            </a:r>
            <a:r>
              <a:rPr lang="zh-CN" altLang="en-US" sz="2400" dirty="0"/>
              <a:t>。</a:t>
            </a:r>
          </a:p>
        </p:txBody>
      </p:sp>
      <p:sp>
        <p:nvSpPr>
          <p:cNvPr id="108550" name="Text Box 6"/>
          <p:cNvSpPr txBox="1">
            <a:spLocks noChangeArrowheads="1"/>
          </p:cNvSpPr>
          <p:nvPr/>
        </p:nvSpPr>
        <p:spPr bwMode="auto">
          <a:xfrm>
            <a:off x="250825" y="4737100"/>
            <a:ext cx="8497888" cy="1571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342900" indent="-342900">
              <a:spcBef>
                <a:spcPct val="0"/>
              </a:spcBef>
              <a:buClrTx/>
              <a:buSzTx/>
            </a:pPr>
            <a:r>
              <a:rPr lang="zh-CN" altLang="en-US" sz="2400" dirty="0"/>
              <a:t>   在</a:t>
            </a:r>
            <a:r>
              <a:rPr lang="en-US" altLang="zh-CN" sz="2400" b="1" dirty="0">
                <a:solidFill>
                  <a:srgbClr val="3333CC"/>
                </a:solidFill>
              </a:rPr>
              <a:t>20</a:t>
            </a:r>
            <a:r>
              <a:rPr lang="zh-CN" altLang="en-US" sz="2400" b="1" dirty="0">
                <a:solidFill>
                  <a:srgbClr val="3333CC"/>
                </a:solidFill>
              </a:rPr>
              <a:t>世纪晚期</a:t>
            </a:r>
            <a:r>
              <a:rPr lang="zh-CN" altLang="en-US" sz="2400" dirty="0"/>
              <a:t>由于</a:t>
            </a:r>
            <a:r>
              <a:rPr lang="zh-CN" altLang="en-US" sz="2400" b="1" dirty="0"/>
              <a:t>交流电动机控制方法（</a:t>
            </a:r>
            <a:r>
              <a:rPr lang="zh-CN" altLang="en-US" sz="2400" b="1" dirty="0">
                <a:solidFill>
                  <a:srgbClr val="3333CC"/>
                </a:solidFill>
                <a:ea typeface="楷体_GB2312" pitchFamily="49" charset="-122"/>
              </a:rPr>
              <a:t>矢量控制</a:t>
            </a:r>
            <a:r>
              <a:rPr lang="zh-CN" altLang="en-US" sz="2400" dirty="0"/>
              <a:t>技术和</a:t>
            </a:r>
            <a:r>
              <a:rPr lang="zh-CN" altLang="en-US" sz="2400" b="1" dirty="0">
                <a:solidFill>
                  <a:srgbClr val="3333CC"/>
                </a:solidFill>
                <a:ea typeface="楷体_GB2312" pitchFamily="49" charset="-122"/>
              </a:rPr>
              <a:t>交流变频、调压</a:t>
            </a:r>
            <a:r>
              <a:rPr lang="zh-CN" altLang="en-US" sz="2400" dirty="0"/>
              <a:t>技术）在理论和实现上的突破和功率电子技术、微处理器技术的进步使控制的实现变得容易，而发生了根本性的转变。 </a:t>
            </a:r>
          </a:p>
        </p:txBody>
      </p:sp>
      <p:sp>
        <p:nvSpPr>
          <p:cNvPr id="5" name="日期占位符 4">
            <a:extLst>
              <a:ext uri="{FF2B5EF4-FFF2-40B4-BE49-F238E27FC236}">
                <a16:creationId xmlns:a16="http://schemas.microsoft.com/office/drawing/2014/main" id="{5C329C16-100C-27F8-917B-EBE881ED9182}"/>
              </a:ext>
            </a:extLst>
          </p:cNvPr>
          <p:cNvSpPr>
            <a:spLocks noGrp="1"/>
          </p:cNvSpPr>
          <p:nvPr>
            <p:ph type="dt" sz="half" idx="10"/>
          </p:nvPr>
        </p:nvSpPr>
        <p:spPr/>
        <p:txBody>
          <a:bodyPr/>
          <a:lstStyle/>
          <a:p>
            <a:fld id="{3F8FDFAA-085C-44D1-9A10-50659E56AF8D}" type="datetime10">
              <a:rPr lang="en-US" altLang="zh-CN" smtClean="0"/>
              <a:t>16:53</a:t>
            </a:fld>
            <a:endParaRPr lang="en-US" altLang="zh-CN"/>
          </a:p>
        </p:txBody>
      </p:sp>
    </p:spTree>
    <p:extLst>
      <p:ext uri="{BB962C8B-B14F-4D97-AF65-F5344CB8AC3E}">
        <p14:creationId xmlns:p14="http://schemas.microsoft.com/office/powerpoint/2010/main" val="21981337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8548"/>
                                        </p:tgtEl>
                                        <p:attrNameLst>
                                          <p:attrName>style.visibility</p:attrName>
                                        </p:attrNameLst>
                                      </p:cBhvr>
                                      <p:to>
                                        <p:strVal val="visible"/>
                                      </p:to>
                                    </p:set>
                                    <p:anim calcmode="lin" valueType="num">
                                      <p:cBhvr additive="base">
                                        <p:cTn id="7" dur="500" fill="hold"/>
                                        <p:tgtEl>
                                          <p:spTgt spid="108548"/>
                                        </p:tgtEl>
                                        <p:attrNameLst>
                                          <p:attrName>ppt_x</p:attrName>
                                        </p:attrNameLst>
                                      </p:cBhvr>
                                      <p:tavLst>
                                        <p:tav tm="0">
                                          <p:val>
                                            <p:strVal val="#ppt_x"/>
                                          </p:val>
                                        </p:tav>
                                        <p:tav tm="100000">
                                          <p:val>
                                            <p:strVal val="#ppt_x"/>
                                          </p:val>
                                        </p:tav>
                                      </p:tavLst>
                                    </p:anim>
                                    <p:anim calcmode="lin" valueType="num">
                                      <p:cBhvr additive="base">
                                        <p:cTn id="8" dur="500" fill="hold"/>
                                        <p:tgtEl>
                                          <p:spTgt spid="10854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6" presetClass="entr" presetSubtype="42" fill="hold" grpId="0" nodeType="clickEffect">
                                  <p:stCondLst>
                                    <p:cond delay="0"/>
                                  </p:stCondLst>
                                  <p:childTnLst>
                                    <p:set>
                                      <p:cBhvr>
                                        <p:cTn id="12" dur="1" fill="hold">
                                          <p:stCondLst>
                                            <p:cond delay="0"/>
                                          </p:stCondLst>
                                        </p:cTn>
                                        <p:tgtEl>
                                          <p:spTgt spid="108549"/>
                                        </p:tgtEl>
                                        <p:attrNameLst>
                                          <p:attrName>style.visibility</p:attrName>
                                        </p:attrNameLst>
                                      </p:cBhvr>
                                      <p:to>
                                        <p:strVal val="visible"/>
                                      </p:to>
                                    </p:set>
                                    <p:animEffect transition="in" filter="barn(outHorizontal)">
                                      <p:cBhvr>
                                        <p:cTn id="13" dur="500"/>
                                        <p:tgtEl>
                                          <p:spTgt spid="10854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08550"/>
                                        </p:tgtEl>
                                        <p:attrNameLst>
                                          <p:attrName>style.visibility</p:attrName>
                                        </p:attrNameLst>
                                      </p:cBhvr>
                                      <p:to>
                                        <p:strVal val="visible"/>
                                      </p:to>
                                    </p:set>
                                    <p:anim calcmode="lin" valueType="num">
                                      <p:cBhvr>
                                        <p:cTn id="18" dur="500" fill="hold"/>
                                        <p:tgtEl>
                                          <p:spTgt spid="108550"/>
                                        </p:tgtEl>
                                        <p:attrNameLst>
                                          <p:attrName>ppt_w</p:attrName>
                                        </p:attrNameLst>
                                      </p:cBhvr>
                                      <p:tavLst>
                                        <p:tav tm="0">
                                          <p:val>
                                            <p:fltVal val="0"/>
                                          </p:val>
                                        </p:tav>
                                        <p:tav tm="100000">
                                          <p:val>
                                            <p:strVal val="#ppt_w"/>
                                          </p:val>
                                        </p:tav>
                                      </p:tavLst>
                                    </p:anim>
                                    <p:anim calcmode="lin" valueType="num">
                                      <p:cBhvr>
                                        <p:cTn id="19" dur="500" fill="hold"/>
                                        <p:tgtEl>
                                          <p:spTgt spid="10855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8" grpId="0" autoUpdateAnimBg="0"/>
      <p:bldP spid="108549" grpId="0" autoUpdateAnimBg="0"/>
      <p:bldP spid="108550"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7812088" y="404813"/>
            <a:ext cx="1152525" cy="1152525"/>
          </a:xfrm>
        </p:spPr>
        <p:txBody>
          <a:bodyPr/>
          <a:lstStyle/>
          <a:p>
            <a:pPr eaLnBrk="1" hangingPunct="1"/>
            <a:r>
              <a:rPr lang="zh-CN" altLang="en-US" sz="3600" b="1">
                <a:ea typeface="楷体_GB2312" pitchFamily="49" charset="-122"/>
              </a:rPr>
              <a:t>发展概况</a:t>
            </a:r>
          </a:p>
        </p:txBody>
      </p:sp>
      <p:sp>
        <p:nvSpPr>
          <p:cNvPr id="109572" name="Text Box 4"/>
          <p:cNvSpPr txBox="1">
            <a:spLocks noChangeArrowheads="1"/>
          </p:cNvSpPr>
          <p:nvPr/>
        </p:nvSpPr>
        <p:spPr bwMode="auto">
          <a:xfrm>
            <a:off x="14247" y="5119026"/>
            <a:ext cx="8793609" cy="907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342900" indent="-342900">
              <a:lnSpc>
                <a:spcPct val="110000"/>
              </a:lnSpc>
              <a:spcBef>
                <a:spcPct val="0"/>
              </a:spcBef>
              <a:buClrTx/>
              <a:buSzTx/>
            </a:pPr>
            <a:r>
              <a:rPr lang="en-US" altLang="zh-CN" sz="2400" dirty="0"/>
              <a:t>      </a:t>
            </a:r>
            <a:r>
              <a:rPr lang="zh-CN" altLang="en-US" sz="2400" dirty="0"/>
              <a:t>而传统的直流拖动系统在各种如舰船、车辆、卫星、太空探测等移动设备中仍然占有一定地位。 </a:t>
            </a:r>
          </a:p>
        </p:txBody>
      </p:sp>
      <p:sp>
        <p:nvSpPr>
          <p:cNvPr id="109573" name="Text Box 5"/>
          <p:cNvSpPr txBox="1">
            <a:spLocks noChangeArrowheads="1"/>
          </p:cNvSpPr>
          <p:nvPr/>
        </p:nvSpPr>
        <p:spPr bwMode="auto">
          <a:xfrm>
            <a:off x="-26141" y="1484784"/>
            <a:ext cx="8568184" cy="17195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342900" indent="-342900">
              <a:lnSpc>
                <a:spcPct val="110000"/>
              </a:lnSpc>
              <a:spcBef>
                <a:spcPct val="0"/>
              </a:spcBef>
              <a:buClrTx/>
              <a:buSzTx/>
            </a:pPr>
            <a:r>
              <a:rPr lang="en-US" altLang="zh-CN" sz="2400" dirty="0"/>
              <a:t>      </a:t>
            </a:r>
            <a:r>
              <a:rPr lang="zh-CN" altLang="en-US" sz="2400" dirty="0"/>
              <a:t>以</a:t>
            </a:r>
            <a:r>
              <a:rPr lang="zh-CN" altLang="en-US" sz="2400" b="1" dirty="0"/>
              <a:t>交流电动机构成的电力拖动系统</a:t>
            </a:r>
            <a:r>
              <a:rPr lang="zh-CN" altLang="en-US" sz="2400" dirty="0"/>
              <a:t>及相关的</a:t>
            </a:r>
            <a:r>
              <a:rPr lang="zh-CN" altLang="en-US" sz="2400" b="1" dirty="0"/>
              <a:t>变频调速</a:t>
            </a:r>
            <a:r>
              <a:rPr lang="zh-CN" altLang="en-US" sz="2400" dirty="0"/>
              <a:t>与</a:t>
            </a:r>
            <a:r>
              <a:rPr lang="zh-CN" altLang="en-US" sz="2400" b="1" dirty="0"/>
              <a:t>位置伺服控制</a:t>
            </a:r>
            <a:r>
              <a:rPr lang="zh-CN" altLang="en-US" sz="2400" dirty="0"/>
              <a:t>成为现代电力拖动应用研究的主流，各种现代控制理论方法、现代电力电子器件和高性能微电子器件、微处理器的成功应用，使交流拖动系统的性能不断获得提高。</a:t>
            </a:r>
          </a:p>
        </p:txBody>
      </p:sp>
      <p:sp>
        <p:nvSpPr>
          <p:cNvPr id="109574" name="Text Box 6"/>
          <p:cNvSpPr txBox="1">
            <a:spLocks noChangeArrowheads="1"/>
          </p:cNvSpPr>
          <p:nvPr/>
        </p:nvSpPr>
        <p:spPr bwMode="auto">
          <a:xfrm>
            <a:off x="0" y="3499470"/>
            <a:ext cx="8641209" cy="1571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342900" indent="-342900">
              <a:spcBef>
                <a:spcPct val="0"/>
              </a:spcBef>
              <a:buClrTx/>
              <a:buSzTx/>
            </a:pPr>
            <a:r>
              <a:rPr lang="en-US" altLang="zh-CN" sz="2400"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目前，以绿色能源为标志的新能源发电技术、绿色交通技术发展迅速，交流发电机、电动机控制作为诸如风力发电、电动汽车、机器人、无人系统的核心技术，也成为广泛应用热点</a:t>
            </a:r>
            <a:r>
              <a:rPr lang="zh-CN" altLang="en-US" sz="2400" dirty="0">
                <a:latin typeface="楷体_GB2312" pitchFamily="49" charset="-122"/>
                <a:ea typeface="楷体_GB2312" pitchFamily="49" charset="-122"/>
              </a:rPr>
              <a:t>。</a:t>
            </a:r>
          </a:p>
        </p:txBody>
      </p:sp>
      <p:sp>
        <p:nvSpPr>
          <p:cNvPr id="6" name="日期占位符 5">
            <a:extLst>
              <a:ext uri="{FF2B5EF4-FFF2-40B4-BE49-F238E27FC236}">
                <a16:creationId xmlns:a16="http://schemas.microsoft.com/office/drawing/2014/main" id="{E8D66DB1-7613-AFE1-7635-78745ECC6F91}"/>
              </a:ext>
            </a:extLst>
          </p:cNvPr>
          <p:cNvSpPr>
            <a:spLocks noGrp="1"/>
          </p:cNvSpPr>
          <p:nvPr>
            <p:ph type="dt" sz="half" idx="10"/>
          </p:nvPr>
        </p:nvSpPr>
        <p:spPr/>
        <p:txBody>
          <a:bodyPr/>
          <a:lstStyle/>
          <a:p>
            <a:fld id="{693F3C27-994A-4858-AC8B-106307F9EF09}" type="datetime10">
              <a:rPr lang="en-US" altLang="zh-CN" smtClean="0"/>
              <a:t>16:53</a:t>
            </a:fld>
            <a:endParaRPr lang="en-US" altLang="zh-CN" dirty="0"/>
          </a:p>
        </p:txBody>
      </p:sp>
      <p:sp>
        <p:nvSpPr>
          <p:cNvPr id="7" name="灯片编号占位符 6">
            <a:extLst>
              <a:ext uri="{FF2B5EF4-FFF2-40B4-BE49-F238E27FC236}">
                <a16:creationId xmlns:a16="http://schemas.microsoft.com/office/drawing/2014/main" id="{F4EC702E-1BF7-AA68-F612-A9BADFB631F5}"/>
              </a:ext>
            </a:extLst>
          </p:cNvPr>
          <p:cNvSpPr>
            <a:spLocks noGrp="1"/>
          </p:cNvSpPr>
          <p:nvPr>
            <p:ph type="sldNum" sz="quarter" idx="12"/>
          </p:nvPr>
        </p:nvSpPr>
        <p:spPr/>
        <p:txBody>
          <a:bodyPr/>
          <a:lstStyle/>
          <a:p>
            <a:fld id="{B73B34B3-1432-4053-90C7-E0228297BE5F}" type="slidenum">
              <a:rPr lang="en-US" altLang="zh-CN" smtClean="0"/>
              <a:pPr/>
              <a:t>9</a:t>
            </a:fld>
            <a:endParaRPr lang="en-US" altLang="zh-CN"/>
          </a:p>
        </p:txBody>
      </p:sp>
    </p:spTree>
    <p:extLst>
      <p:ext uri="{BB962C8B-B14F-4D97-AF65-F5344CB8AC3E}">
        <p14:creationId xmlns:p14="http://schemas.microsoft.com/office/powerpoint/2010/main" val="42547485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9573"/>
                                        </p:tgtEl>
                                        <p:attrNameLst>
                                          <p:attrName>style.visibility</p:attrName>
                                        </p:attrNameLst>
                                      </p:cBhvr>
                                      <p:to>
                                        <p:strVal val="visible"/>
                                      </p:to>
                                    </p:set>
                                    <p:animEffect transition="in" filter="dissolve">
                                      <p:cBhvr>
                                        <p:cTn id="7" dur="500"/>
                                        <p:tgtEl>
                                          <p:spTgt spid="1095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109574"/>
                                        </p:tgtEl>
                                        <p:attrNameLst>
                                          <p:attrName>style.visibility</p:attrName>
                                        </p:attrNameLst>
                                      </p:cBhvr>
                                      <p:to>
                                        <p:strVal val="visible"/>
                                      </p:to>
                                    </p:set>
                                    <p:anim calcmode="lin" valueType="num">
                                      <p:cBhvr>
                                        <p:cTn id="12" dur="500" fill="hold"/>
                                        <p:tgtEl>
                                          <p:spTgt spid="109574"/>
                                        </p:tgtEl>
                                        <p:attrNameLst>
                                          <p:attrName>ppt_w</p:attrName>
                                        </p:attrNameLst>
                                      </p:cBhvr>
                                      <p:tavLst>
                                        <p:tav tm="0">
                                          <p:val>
                                            <p:fltVal val="0"/>
                                          </p:val>
                                        </p:tav>
                                        <p:tav tm="100000">
                                          <p:val>
                                            <p:strVal val="#ppt_w"/>
                                          </p:val>
                                        </p:tav>
                                      </p:tavLst>
                                    </p:anim>
                                    <p:anim calcmode="lin" valueType="num">
                                      <p:cBhvr>
                                        <p:cTn id="13" dur="500" fill="hold"/>
                                        <p:tgtEl>
                                          <p:spTgt spid="109574"/>
                                        </p:tgtEl>
                                        <p:attrNameLst>
                                          <p:attrName>ppt_h</p:attrName>
                                        </p:attrNameLst>
                                      </p:cBhvr>
                                      <p:tavLst>
                                        <p:tav tm="0">
                                          <p:val>
                                            <p:strVal val="#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6" presetClass="entr" presetSubtype="26" fill="hold" grpId="0" nodeType="clickEffect">
                                  <p:stCondLst>
                                    <p:cond delay="0"/>
                                  </p:stCondLst>
                                  <p:childTnLst>
                                    <p:set>
                                      <p:cBhvr>
                                        <p:cTn id="17" dur="1" fill="hold">
                                          <p:stCondLst>
                                            <p:cond delay="0"/>
                                          </p:stCondLst>
                                        </p:cTn>
                                        <p:tgtEl>
                                          <p:spTgt spid="109572"/>
                                        </p:tgtEl>
                                        <p:attrNameLst>
                                          <p:attrName>style.visibility</p:attrName>
                                        </p:attrNameLst>
                                      </p:cBhvr>
                                      <p:to>
                                        <p:strVal val="visible"/>
                                      </p:to>
                                    </p:set>
                                    <p:animEffect transition="in" filter="barn(inHorizontal)">
                                      <p:cBhvr>
                                        <p:cTn id="18" dur="500"/>
                                        <p:tgtEl>
                                          <p:spTgt spid="1095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2" grpId="0" autoUpdateAnimBg="0"/>
      <p:bldP spid="109573" grpId="0" autoUpdateAnimBg="0"/>
      <p:bldP spid="109574"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a:xfrm>
            <a:off x="6563544" y="5769769"/>
            <a:ext cx="2133600" cy="476250"/>
          </a:xfrm>
        </p:spPr>
        <p:txBody>
          <a:bodyPr/>
          <a:lstStyle/>
          <a:p>
            <a:fld id="{21C97BA4-E0F0-4475-9184-4167CF2D3FDC}" type="slidenum">
              <a:rPr lang="en-US" altLang="zh-CN"/>
              <a:pPr/>
              <a:t>10</a:t>
            </a:fld>
            <a:endParaRPr lang="en-US" altLang="zh-CN"/>
          </a:p>
        </p:txBody>
      </p:sp>
      <p:sp>
        <p:nvSpPr>
          <p:cNvPr id="5" name="Rectangle 3"/>
          <p:cNvSpPr txBox="1">
            <a:spLocks noChangeArrowheads="1"/>
          </p:cNvSpPr>
          <p:nvPr/>
        </p:nvSpPr>
        <p:spPr>
          <a:xfrm>
            <a:off x="457200" y="841578"/>
            <a:ext cx="8229600" cy="3847902"/>
          </a:xfrm>
          <a:prstGeom prst="rect">
            <a:avLst/>
          </a:prstGeom>
        </p:spPr>
        <p:txBody>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b="1" dirty="0">
                <a:ea typeface=""/>
                <a:cs typeface=""/>
              </a:rPr>
              <a:t>   </a:t>
            </a:r>
            <a:r>
              <a:rPr lang="zh-CN" altLang="en-US" sz="2400" dirty="0">
                <a:latin typeface="宋体" panose="02010600030101010101" pitchFamily="2" charset="-122"/>
                <a:ea typeface="宋体" panose="02010600030101010101" pitchFamily="2" charset="-122"/>
                <a:cs typeface=""/>
              </a:rPr>
              <a:t>磁悬浮列车         </a:t>
            </a:r>
            <a:r>
              <a:rPr lang="zh-CN" altLang="en-US" sz="2400" dirty="0">
                <a:latin typeface="+mn-ea"/>
                <a:cs typeface=""/>
              </a:rPr>
              <a:t>大型数控机床         电动汽车</a:t>
            </a:r>
          </a:p>
        </p:txBody>
      </p:sp>
      <p:graphicFrame>
        <p:nvGraphicFramePr>
          <p:cNvPr id="6" name="Object 4"/>
          <p:cNvGraphicFramePr>
            <a:graphicFrameLocks noChangeAspect="1"/>
          </p:cNvGraphicFramePr>
          <p:nvPr>
            <p:extLst>
              <p:ext uri="{D42A27DB-BD31-4B8C-83A1-F6EECF244321}">
                <p14:modId xmlns:p14="http://schemas.microsoft.com/office/powerpoint/2010/main" val="3483511889"/>
              </p:ext>
            </p:extLst>
          </p:nvPr>
        </p:nvGraphicFramePr>
        <p:xfrm>
          <a:off x="762690" y="1346403"/>
          <a:ext cx="2664296" cy="2374023"/>
        </p:xfrm>
        <a:graphic>
          <a:graphicData uri="http://schemas.openxmlformats.org/presentationml/2006/ole">
            <mc:AlternateContent xmlns:mc="http://schemas.openxmlformats.org/markup-compatibility/2006">
              <mc:Choice xmlns:v="urn:schemas-microsoft-com:vml" Requires="v">
                <p:oleObj name="Image" r:id="rId2" imgW="4295161" imgH="3829420" progId="Photoshop.Image.6">
                  <p:embed/>
                </p:oleObj>
              </mc:Choice>
              <mc:Fallback>
                <p:oleObj name="Image" r:id="rId2" imgW="4295161" imgH="3829420" progId="Photoshop.Image.6">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690" y="1346403"/>
                        <a:ext cx="2664296" cy="2374023"/>
                      </a:xfrm>
                      <a:prstGeom prst="rect">
                        <a:avLst/>
                      </a:prstGeom>
                      <a:noFill/>
                      <a:ln>
                        <a:noFill/>
                      </a:ln>
                      <a:effectLst/>
                    </p:spPr>
                  </p:pic>
                </p:oleObj>
              </mc:Fallback>
            </mc:AlternateContent>
          </a:graphicData>
        </a:graphic>
      </p:graphicFrame>
      <p:graphicFrame>
        <p:nvGraphicFramePr>
          <p:cNvPr id="7" name="Object 5"/>
          <p:cNvGraphicFramePr>
            <a:graphicFrameLocks noChangeAspect="1"/>
          </p:cNvGraphicFramePr>
          <p:nvPr>
            <p:extLst>
              <p:ext uri="{D42A27DB-BD31-4B8C-83A1-F6EECF244321}">
                <p14:modId xmlns:p14="http://schemas.microsoft.com/office/powerpoint/2010/main" val="4120225053"/>
              </p:ext>
            </p:extLst>
          </p:nvPr>
        </p:nvGraphicFramePr>
        <p:xfrm>
          <a:off x="3438060" y="1332327"/>
          <a:ext cx="2376264" cy="2376263"/>
        </p:xfrm>
        <a:graphic>
          <a:graphicData uri="http://schemas.openxmlformats.org/presentationml/2006/ole">
            <mc:AlternateContent xmlns:mc="http://schemas.openxmlformats.org/markup-compatibility/2006">
              <mc:Choice xmlns:v="urn:schemas-microsoft-com:vml" Requires="v">
                <p:oleObj name="Image" r:id="rId4" imgW="4139914" imgH="4139914" progId="Photoshop.Image.6">
                  <p:embed/>
                </p:oleObj>
              </mc:Choice>
              <mc:Fallback>
                <p:oleObj name="Image" r:id="rId4" imgW="4139914" imgH="4139914" progId="Photoshop.Image.6">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38060" y="1332327"/>
                        <a:ext cx="2376264" cy="2376263"/>
                      </a:xfrm>
                      <a:prstGeom prst="rect">
                        <a:avLst/>
                      </a:prstGeom>
                      <a:noFill/>
                      <a:ln>
                        <a:noFill/>
                      </a:ln>
                      <a:effectLst/>
                    </p:spPr>
                  </p:pic>
                </p:oleObj>
              </mc:Fallback>
            </mc:AlternateContent>
          </a:graphicData>
        </a:graphic>
      </p:graphicFrame>
      <p:graphicFrame>
        <p:nvGraphicFramePr>
          <p:cNvPr id="9" name="Object 4"/>
          <p:cNvGraphicFramePr>
            <a:graphicFrameLocks noChangeAspect="1"/>
          </p:cNvGraphicFramePr>
          <p:nvPr>
            <p:extLst>
              <p:ext uri="{D42A27DB-BD31-4B8C-83A1-F6EECF244321}">
                <p14:modId xmlns:p14="http://schemas.microsoft.com/office/powerpoint/2010/main" val="1234682838"/>
              </p:ext>
            </p:extLst>
          </p:nvPr>
        </p:nvGraphicFramePr>
        <p:xfrm>
          <a:off x="3342700" y="4239680"/>
          <a:ext cx="2931157" cy="2384577"/>
        </p:xfrm>
        <a:graphic>
          <a:graphicData uri="http://schemas.openxmlformats.org/presentationml/2006/ole">
            <mc:AlternateContent xmlns:mc="http://schemas.openxmlformats.org/markup-compatibility/2006">
              <mc:Choice xmlns:v="urn:schemas-microsoft-com:vml" Requires="v">
                <p:oleObj name="Image" r:id="rId6" imgW="4605654" imgH="3518927" progId="Photoshop.Image.6">
                  <p:embed/>
                </p:oleObj>
              </mc:Choice>
              <mc:Fallback>
                <p:oleObj name="Image" r:id="rId6" imgW="4605654" imgH="3518927" progId="Photoshop.Image.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42700" y="4239680"/>
                        <a:ext cx="2931157" cy="2384577"/>
                      </a:xfrm>
                      <a:prstGeom prst="rect">
                        <a:avLst/>
                      </a:prstGeom>
                      <a:noFill/>
                      <a:ln>
                        <a:noFill/>
                      </a:ln>
                      <a:effectLst/>
                    </p:spPr>
                  </p:pic>
                </p:oleObj>
              </mc:Fallback>
            </mc:AlternateContent>
          </a:graphicData>
        </a:graphic>
      </p:graphicFrame>
      <p:graphicFrame>
        <p:nvGraphicFramePr>
          <p:cNvPr id="10" name="Object 5"/>
          <p:cNvGraphicFramePr>
            <a:graphicFrameLocks noChangeAspect="1"/>
          </p:cNvGraphicFramePr>
          <p:nvPr>
            <p:extLst>
              <p:ext uri="{D42A27DB-BD31-4B8C-83A1-F6EECF244321}">
                <p14:modId xmlns:p14="http://schemas.microsoft.com/office/powerpoint/2010/main" val="949975998"/>
              </p:ext>
            </p:extLst>
          </p:nvPr>
        </p:nvGraphicFramePr>
        <p:xfrm>
          <a:off x="842865" y="4252375"/>
          <a:ext cx="2503947" cy="2503947"/>
        </p:xfrm>
        <a:graphic>
          <a:graphicData uri="http://schemas.openxmlformats.org/presentationml/2006/ole">
            <mc:AlternateContent xmlns:mc="http://schemas.openxmlformats.org/markup-compatibility/2006">
              <mc:Choice xmlns:v="urn:schemas-microsoft-com:vml" Requires="v">
                <p:oleObj name="Image" r:id="rId8" imgW="3518927" imgH="3518927" progId="Photoshop.Image.6">
                  <p:embed/>
                </p:oleObj>
              </mc:Choice>
              <mc:Fallback>
                <p:oleObj name="Image" r:id="rId8" imgW="3518927" imgH="3518927" progId="Photoshop.Image.6">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2865" y="4252375"/>
                        <a:ext cx="2503947" cy="2503947"/>
                      </a:xfrm>
                      <a:prstGeom prst="rect">
                        <a:avLst/>
                      </a:prstGeom>
                      <a:noFill/>
                      <a:ln>
                        <a:noFill/>
                      </a:ln>
                      <a:effectLst/>
                    </p:spPr>
                  </p:pic>
                </p:oleObj>
              </mc:Fallback>
            </mc:AlternateContent>
          </a:graphicData>
        </a:graphic>
      </p:graphicFrame>
      <p:sp>
        <p:nvSpPr>
          <p:cNvPr id="11" name="矩形 10"/>
          <p:cNvSpPr/>
          <p:nvPr/>
        </p:nvSpPr>
        <p:spPr>
          <a:xfrm>
            <a:off x="3833377" y="3840655"/>
            <a:ext cx="1723549" cy="461665"/>
          </a:xfrm>
          <a:prstGeom prst="rect">
            <a:avLst/>
          </a:prstGeom>
        </p:spPr>
        <p:txBody>
          <a:bodyPr wrap="none">
            <a:spAutoFit/>
          </a:bodyPr>
          <a:lstStyle/>
          <a:p>
            <a:pPr algn="just"/>
            <a:r>
              <a:rPr lang="zh-CN" altLang="en-US" sz="2400" dirty="0">
                <a:latin typeface="+mn-ea"/>
                <a:ea typeface="+mn-ea"/>
              </a:rPr>
              <a:t>爬行机器人</a:t>
            </a:r>
          </a:p>
        </p:txBody>
      </p:sp>
      <p:sp>
        <p:nvSpPr>
          <p:cNvPr id="12" name="矩形 11"/>
          <p:cNvSpPr/>
          <p:nvPr/>
        </p:nvSpPr>
        <p:spPr>
          <a:xfrm>
            <a:off x="812584" y="3801734"/>
            <a:ext cx="2185214" cy="461665"/>
          </a:xfrm>
          <a:prstGeom prst="rect">
            <a:avLst/>
          </a:prstGeom>
        </p:spPr>
        <p:txBody>
          <a:bodyPr wrap="none">
            <a:spAutoFit/>
          </a:bodyPr>
          <a:lstStyle/>
          <a:p>
            <a:pPr algn="just"/>
            <a:r>
              <a:rPr lang="en-US" altLang="zh-CN" sz="2400" dirty="0">
                <a:latin typeface="+mn-ea"/>
                <a:ea typeface="+mn-ea"/>
              </a:rPr>
              <a:t>AGV</a:t>
            </a:r>
            <a:r>
              <a:rPr lang="zh-CN" altLang="en-US" sz="2400" dirty="0">
                <a:latin typeface="+mn-ea"/>
                <a:ea typeface="+mn-ea"/>
              </a:rPr>
              <a:t>机器人小车</a:t>
            </a:r>
          </a:p>
        </p:txBody>
      </p:sp>
      <p:pic>
        <p:nvPicPr>
          <p:cNvPr id="3" name="图片 2">
            <a:extLst>
              <a:ext uri="{FF2B5EF4-FFF2-40B4-BE49-F238E27FC236}">
                <a16:creationId xmlns:a16="http://schemas.microsoft.com/office/drawing/2014/main" id="{8D9AAA16-46FD-1221-CBA7-887B2F797146}"/>
              </a:ext>
            </a:extLst>
          </p:cNvPr>
          <p:cNvPicPr>
            <a:picLocks noChangeAspect="1"/>
          </p:cNvPicPr>
          <p:nvPr/>
        </p:nvPicPr>
        <p:blipFill>
          <a:blip r:embed="rId10"/>
          <a:stretch>
            <a:fillRect/>
          </a:stretch>
        </p:blipFill>
        <p:spPr>
          <a:xfrm>
            <a:off x="5916278" y="1939210"/>
            <a:ext cx="3227722" cy="1274391"/>
          </a:xfrm>
          <a:prstGeom prst="rect">
            <a:avLst/>
          </a:prstGeom>
        </p:spPr>
      </p:pic>
      <p:sp>
        <p:nvSpPr>
          <p:cNvPr id="8" name="文本框 7">
            <a:extLst>
              <a:ext uri="{FF2B5EF4-FFF2-40B4-BE49-F238E27FC236}">
                <a16:creationId xmlns:a16="http://schemas.microsoft.com/office/drawing/2014/main" id="{24C12D92-F6EB-5B11-864A-EB9F780D6721}"/>
              </a:ext>
            </a:extLst>
          </p:cNvPr>
          <p:cNvSpPr txBox="1"/>
          <p:nvPr/>
        </p:nvSpPr>
        <p:spPr>
          <a:xfrm>
            <a:off x="6831324" y="3821775"/>
            <a:ext cx="1415772" cy="461665"/>
          </a:xfrm>
          <a:prstGeom prst="rect">
            <a:avLst/>
          </a:prstGeom>
          <a:noFill/>
        </p:spPr>
        <p:txBody>
          <a:bodyPr wrap="none" rtlCol="0">
            <a:spAutoFit/>
          </a:bodyPr>
          <a:lstStyle/>
          <a:p>
            <a:r>
              <a:rPr lang="zh-CN" altLang="en-US" sz="2400" dirty="0"/>
              <a:t>武器装备</a:t>
            </a:r>
          </a:p>
        </p:txBody>
      </p:sp>
      <p:pic>
        <p:nvPicPr>
          <p:cNvPr id="2089" name="Picture 41">
            <a:extLst>
              <a:ext uri="{FF2B5EF4-FFF2-40B4-BE49-F238E27FC236}">
                <a16:creationId xmlns:a16="http://schemas.microsoft.com/office/drawing/2014/main" id="{EF22EE20-8097-DA2E-22FB-080FCA3D976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283894" y="4217722"/>
            <a:ext cx="2747808" cy="2252302"/>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86A35D85-E781-4CA3-BE33-0C5914D0DB6F}"/>
              </a:ext>
            </a:extLst>
          </p:cNvPr>
          <p:cNvSpPr txBox="1"/>
          <p:nvPr/>
        </p:nvSpPr>
        <p:spPr>
          <a:xfrm>
            <a:off x="4572907" y="93351"/>
            <a:ext cx="3262432" cy="707886"/>
          </a:xfrm>
          <a:prstGeom prst="rect">
            <a:avLst/>
          </a:prstGeom>
          <a:noFill/>
        </p:spPr>
        <p:txBody>
          <a:bodyPr wrap="none" rtlCol="0">
            <a:spAutoFit/>
          </a:bodyPr>
          <a:lstStyle/>
          <a:p>
            <a:r>
              <a:rPr lang="zh-CN" altLang="en-US" sz="4000" dirty="0"/>
              <a:t>应用场景示例</a:t>
            </a:r>
          </a:p>
        </p:txBody>
      </p:sp>
      <p:sp>
        <p:nvSpPr>
          <p:cNvPr id="16" name="日期占位符 15">
            <a:extLst>
              <a:ext uri="{FF2B5EF4-FFF2-40B4-BE49-F238E27FC236}">
                <a16:creationId xmlns:a16="http://schemas.microsoft.com/office/drawing/2014/main" id="{F934C193-EDBE-A73F-6508-04163FFEB866}"/>
              </a:ext>
            </a:extLst>
          </p:cNvPr>
          <p:cNvSpPr>
            <a:spLocks noGrp="1"/>
          </p:cNvSpPr>
          <p:nvPr>
            <p:ph type="dt" sz="half" idx="10"/>
          </p:nvPr>
        </p:nvSpPr>
        <p:spPr/>
        <p:txBody>
          <a:bodyPr/>
          <a:lstStyle/>
          <a:p>
            <a:fld id="{92734207-9D03-4D31-8E47-9124E0939B87}" type="datetime10">
              <a:rPr lang="en-US" altLang="zh-CN" smtClean="0"/>
              <a:t>16:53</a:t>
            </a:fld>
            <a:endParaRPr lang="en-US" altLang="zh-CN"/>
          </a:p>
        </p:txBody>
      </p:sp>
    </p:spTree>
    <p:extLst>
      <p:ext uri="{BB962C8B-B14F-4D97-AF65-F5344CB8AC3E}">
        <p14:creationId xmlns:p14="http://schemas.microsoft.com/office/powerpoint/2010/main" val="1678191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B2BE1E0C-7083-49B3-8528-1966F6AD595B}" type="slidenum">
              <a:rPr kumimoji="0" lang="en-US" altLang="zh-CN" sz="1400"/>
              <a:pPr>
                <a:spcBef>
                  <a:spcPct val="0"/>
                </a:spcBef>
                <a:buClrTx/>
                <a:buSzTx/>
                <a:buFontTx/>
                <a:buNone/>
              </a:pPr>
              <a:t>11</a:t>
            </a:fld>
            <a:endParaRPr kumimoji="0" lang="en-US" altLang="zh-CN" sz="1400"/>
          </a:p>
        </p:txBody>
      </p:sp>
      <p:sp>
        <p:nvSpPr>
          <p:cNvPr id="14339" name="Rectangle 2"/>
          <p:cNvSpPr>
            <a:spLocks noGrp="1" noChangeArrowheads="1"/>
          </p:cNvSpPr>
          <p:nvPr>
            <p:ph type="title"/>
          </p:nvPr>
        </p:nvSpPr>
        <p:spPr>
          <a:xfrm>
            <a:off x="621209" y="601960"/>
            <a:ext cx="8065591" cy="1081088"/>
          </a:xfrm>
        </p:spPr>
        <p:txBody>
          <a:bodyPr/>
          <a:lstStyle/>
          <a:p>
            <a:pPr algn="l" eaLnBrk="1" hangingPunct="1"/>
            <a:r>
              <a:rPr lang="en-US" altLang="zh-CN" sz="3200" b="1" dirty="0"/>
              <a:t>  </a:t>
            </a:r>
            <a:r>
              <a:rPr lang="zh-CN" altLang="en-US" sz="3200" b="1" dirty="0"/>
              <a:t>电机及电力拖动在自动化学科中的地位</a:t>
            </a:r>
          </a:p>
        </p:txBody>
      </p:sp>
      <p:sp>
        <p:nvSpPr>
          <p:cNvPr id="14340" name="Rectangle 3"/>
          <p:cNvSpPr>
            <a:spLocks noGrp="1" noChangeArrowheads="1"/>
          </p:cNvSpPr>
          <p:nvPr>
            <p:ph type="body" idx="1"/>
          </p:nvPr>
        </p:nvSpPr>
        <p:spPr>
          <a:xfrm>
            <a:off x="468313" y="1412875"/>
            <a:ext cx="8207375" cy="1872109"/>
          </a:xfrm>
        </p:spPr>
        <p:txBody>
          <a:bodyPr/>
          <a:lstStyle/>
          <a:p>
            <a:pPr eaLnBrk="1" hangingPunct="1">
              <a:buFont typeface="Wingdings" panose="05000000000000000000" pitchFamily="2" charset="2"/>
              <a:buChar char="Ø"/>
            </a:pPr>
            <a:r>
              <a:rPr lang="zh-CN" altLang="en-US" sz="2400" dirty="0"/>
              <a:t>最早期的自动控制系统甚至可以追朔到公元前，那时的自动化是以水力作动力的。第一个在工业过程中应用的自动化系统被认为是</a:t>
            </a:r>
            <a:r>
              <a:rPr lang="en-US" altLang="zh-CN" sz="2400" dirty="0"/>
              <a:t>James Watt</a:t>
            </a:r>
            <a:r>
              <a:rPr lang="zh-CN" altLang="en-US" sz="2400" dirty="0"/>
              <a:t>在</a:t>
            </a:r>
            <a:r>
              <a:rPr lang="en-US" altLang="zh-CN" sz="2400" b="1" dirty="0">
                <a:solidFill>
                  <a:srgbClr val="3333CC"/>
                </a:solidFill>
              </a:rPr>
              <a:t>1769</a:t>
            </a:r>
            <a:r>
              <a:rPr lang="zh-CN" altLang="en-US" sz="2400" dirty="0"/>
              <a:t>年发明的蒸气机速度调节器，它也不是以电能为动力的。所以自动化一般可以划分为</a:t>
            </a:r>
            <a:r>
              <a:rPr lang="zh-CN" altLang="en-US" sz="2400" b="1" dirty="0">
                <a:solidFill>
                  <a:srgbClr val="3333CC"/>
                </a:solidFill>
                <a:ea typeface="楷体_GB2312" pitchFamily="49" charset="-122"/>
              </a:rPr>
              <a:t>电类、非电类</a:t>
            </a:r>
            <a:r>
              <a:rPr lang="zh-CN" altLang="en-US" sz="2400" dirty="0"/>
              <a:t>两大类。 </a:t>
            </a:r>
          </a:p>
        </p:txBody>
      </p:sp>
      <p:sp>
        <p:nvSpPr>
          <p:cNvPr id="111620" name="Text Box 4"/>
          <p:cNvSpPr txBox="1">
            <a:spLocks noChangeArrowheads="1"/>
          </p:cNvSpPr>
          <p:nvPr/>
        </p:nvSpPr>
        <p:spPr bwMode="auto">
          <a:xfrm>
            <a:off x="539948" y="3434557"/>
            <a:ext cx="815498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
                <a:srgbClr val="FF6600"/>
              </a:buClr>
              <a:buSzTx/>
              <a:buFont typeface="Wingdings" panose="05000000000000000000" pitchFamily="2" charset="2"/>
              <a:buChar char="Ø"/>
            </a:pPr>
            <a:r>
              <a:rPr lang="zh-CN" altLang="en-US" sz="2400" dirty="0"/>
              <a:t>而电类自动化又可按其组成结构、研究重点分为</a:t>
            </a:r>
            <a:r>
              <a:rPr lang="zh-CN" altLang="en-US" sz="2400" b="1" dirty="0">
                <a:solidFill>
                  <a:srgbClr val="3333CC"/>
                </a:solidFill>
                <a:ea typeface="楷体_GB2312" pitchFamily="49" charset="-122"/>
              </a:rPr>
              <a:t>过程自动化</a:t>
            </a:r>
            <a:r>
              <a:rPr lang="zh-CN" altLang="en-US" sz="2400" dirty="0"/>
              <a:t>和</a:t>
            </a:r>
            <a:r>
              <a:rPr lang="zh-CN" altLang="en-US" sz="2400" b="1" dirty="0">
                <a:solidFill>
                  <a:srgbClr val="3333CC"/>
                </a:solidFill>
                <a:ea typeface="楷体_GB2312" pitchFamily="49" charset="-122"/>
              </a:rPr>
              <a:t>单机自动化</a:t>
            </a:r>
            <a:r>
              <a:rPr lang="zh-CN" altLang="en-US" sz="2400" dirty="0"/>
              <a:t>。 </a:t>
            </a:r>
          </a:p>
        </p:txBody>
      </p:sp>
      <p:sp>
        <p:nvSpPr>
          <p:cNvPr id="111621" name="Text Box 5"/>
          <p:cNvSpPr txBox="1">
            <a:spLocks noChangeArrowheads="1"/>
          </p:cNvSpPr>
          <p:nvPr/>
        </p:nvSpPr>
        <p:spPr bwMode="auto">
          <a:xfrm>
            <a:off x="533400" y="4277471"/>
            <a:ext cx="8153400" cy="833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
                <a:srgbClr val="FF6600"/>
              </a:buClr>
              <a:buSzTx/>
              <a:buFont typeface="Wingdings" panose="05000000000000000000" pitchFamily="2" charset="2"/>
              <a:buChar char="Ø"/>
            </a:pPr>
            <a:r>
              <a:rPr lang="zh-CN" altLang="en-US" sz="2400" dirty="0"/>
              <a:t>在单机自动化中，按照控制系统构成方式，还可进一步划分为</a:t>
            </a:r>
            <a:r>
              <a:rPr lang="zh-CN" altLang="en-US" sz="2400" b="1" dirty="0">
                <a:solidFill>
                  <a:srgbClr val="3333CC"/>
                </a:solidFill>
                <a:ea typeface="楷体_GB2312" pitchFamily="49" charset="-122"/>
              </a:rPr>
              <a:t>开环（电器控制）</a:t>
            </a:r>
            <a:r>
              <a:rPr lang="zh-CN" altLang="en-US" sz="2400" dirty="0"/>
              <a:t>和</a:t>
            </a:r>
            <a:r>
              <a:rPr lang="zh-CN" altLang="en-US" sz="2400" b="1" dirty="0">
                <a:solidFill>
                  <a:srgbClr val="3333CC"/>
                </a:solidFill>
                <a:ea typeface="楷体_GB2312" pitchFamily="49" charset="-122"/>
              </a:rPr>
              <a:t>闭环（电气控制）</a:t>
            </a:r>
            <a:r>
              <a:rPr lang="zh-CN" altLang="en-US" sz="2400" dirty="0"/>
              <a:t>控制两大类型。 </a:t>
            </a:r>
          </a:p>
        </p:txBody>
      </p:sp>
      <p:sp>
        <p:nvSpPr>
          <p:cNvPr id="111622" name="Text Box 6"/>
          <p:cNvSpPr txBox="1">
            <a:spLocks noChangeArrowheads="1"/>
          </p:cNvSpPr>
          <p:nvPr/>
        </p:nvSpPr>
        <p:spPr bwMode="auto">
          <a:xfrm>
            <a:off x="468313" y="5157788"/>
            <a:ext cx="8442325" cy="1571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
                <a:srgbClr val="FF0066"/>
              </a:buClr>
              <a:buSzTx/>
              <a:buFont typeface="Wingdings" panose="05000000000000000000" pitchFamily="2" charset="2"/>
              <a:buChar char="Ø"/>
            </a:pPr>
            <a:r>
              <a:rPr lang="zh-CN" altLang="en-US" sz="2400" dirty="0"/>
              <a:t>电机是现代电类自动化系统中机电能量转换不可或缺的工具（重要被控对象）。用电机拖动机械运动称为</a:t>
            </a:r>
            <a:r>
              <a:rPr lang="zh-CN" altLang="en-US" sz="2400" b="1" dirty="0">
                <a:solidFill>
                  <a:srgbClr val="FF0066"/>
                </a:solidFill>
                <a:ea typeface="楷体_GB2312" pitchFamily="49" charset="-122"/>
              </a:rPr>
              <a:t>电力拖动</a:t>
            </a:r>
            <a:r>
              <a:rPr lang="zh-CN" altLang="en-US" sz="2400" dirty="0"/>
              <a:t>，也称为电气传动。电机及其拖动技术是电气自动化技术的重要基石之一，它是自动化专业中的一门</a:t>
            </a:r>
            <a:r>
              <a:rPr lang="zh-CN" altLang="en-US" sz="2400" b="1" dirty="0">
                <a:solidFill>
                  <a:srgbClr val="FF0066"/>
                </a:solidFill>
                <a:ea typeface="楷体_GB2312" pitchFamily="49" charset="-122"/>
              </a:rPr>
              <a:t>核心专业基础</a:t>
            </a:r>
            <a:r>
              <a:rPr lang="zh-CN" altLang="en-US" sz="2400" dirty="0"/>
              <a:t>课程。 </a:t>
            </a:r>
          </a:p>
        </p:txBody>
      </p:sp>
      <p:sp>
        <p:nvSpPr>
          <p:cNvPr id="5" name="日期占位符 4">
            <a:extLst>
              <a:ext uri="{FF2B5EF4-FFF2-40B4-BE49-F238E27FC236}">
                <a16:creationId xmlns:a16="http://schemas.microsoft.com/office/drawing/2014/main" id="{6380679D-DF78-95E1-74EC-01366A6D5CDD}"/>
              </a:ext>
            </a:extLst>
          </p:cNvPr>
          <p:cNvSpPr>
            <a:spLocks noGrp="1"/>
          </p:cNvSpPr>
          <p:nvPr>
            <p:ph type="dt" sz="half" idx="10"/>
          </p:nvPr>
        </p:nvSpPr>
        <p:spPr/>
        <p:txBody>
          <a:bodyPr/>
          <a:lstStyle/>
          <a:p>
            <a:fld id="{C3463947-0DEB-437C-8A0A-1AAF459BFDC7}" type="datetime10">
              <a:rPr lang="en-US" altLang="zh-CN" smtClean="0"/>
              <a:t>16:53</a:t>
            </a:fld>
            <a:endParaRPr lang="en-US" altLang="zh-CN"/>
          </a:p>
        </p:txBody>
      </p:sp>
    </p:spTree>
    <p:extLst>
      <p:ext uri="{BB962C8B-B14F-4D97-AF65-F5344CB8AC3E}">
        <p14:creationId xmlns:p14="http://schemas.microsoft.com/office/powerpoint/2010/main" val="18639051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1620"/>
                                        </p:tgtEl>
                                        <p:attrNameLst>
                                          <p:attrName>style.visibility</p:attrName>
                                        </p:attrNameLst>
                                      </p:cBhvr>
                                      <p:to>
                                        <p:strVal val="visible"/>
                                      </p:to>
                                    </p:set>
                                    <p:animEffect transition="in" filter="blinds(horizontal)">
                                      <p:cBhvr>
                                        <p:cTn id="7" dur="500"/>
                                        <p:tgtEl>
                                          <p:spTgt spid="1116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111621"/>
                                        </p:tgtEl>
                                        <p:attrNameLst>
                                          <p:attrName>style.visibility</p:attrName>
                                        </p:attrNameLst>
                                      </p:cBhvr>
                                      <p:to>
                                        <p:strVal val="visible"/>
                                      </p:to>
                                    </p:set>
                                    <p:animEffect transition="in" filter="barn(outHorizontal)">
                                      <p:cBhvr>
                                        <p:cTn id="12" dur="500"/>
                                        <p:tgtEl>
                                          <p:spTgt spid="11162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10" fill="hold" grpId="0" nodeType="clickEffect">
                                  <p:stCondLst>
                                    <p:cond delay="0"/>
                                  </p:stCondLst>
                                  <p:childTnLst>
                                    <p:set>
                                      <p:cBhvr>
                                        <p:cTn id="16" dur="1" fill="hold">
                                          <p:stCondLst>
                                            <p:cond delay="0"/>
                                          </p:stCondLst>
                                        </p:cTn>
                                        <p:tgtEl>
                                          <p:spTgt spid="111622"/>
                                        </p:tgtEl>
                                        <p:attrNameLst>
                                          <p:attrName>style.visibility</p:attrName>
                                        </p:attrNameLst>
                                      </p:cBhvr>
                                      <p:to>
                                        <p:strVal val="visible"/>
                                      </p:to>
                                    </p:set>
                                    <p:anim calcmode="lin" valueType="num">
                                      <p:cBhvr>
                                        <p:cTn id="17" dur="500" fill="hold"/>
                                        <p:tgtEl>
                                          <p:spTgt spid="111622"/>
                                        </p:tgtEl>
                                        <p:attrNameLst>
                                          <p:attrName>ppt_w</p:attrName>
                                        </p:attrNameLst>
                                      </p:cBhvr>
                                      <p:tavLst>
                                        <p:tav tm="0">
                                          <p:val>
                                            <p:fltVal val="0"/>
                                          </p:val>
                                        </p:tav>
                                        <p:tav tm="100000">
                                          <p:val>
                                            <p:strVal val="#ppt_w"/>
                                          </p:val>
                                        </p:tav>
                                      </p:tavLst>
                                    </p:anim>
                                    <p:anim calcmode="lin" valueType="num">
                                      <p:cBhvr>
                                        <p:cTn id="18" dur="500" fill="hold"/>
                                        <p:tgtEl>
                                          <p:spTgt spid="11162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0" grpId="0" autoUpdateAnimBg="0"/>
      <p:bldP spid="111621" grpId="0" autoUpdateAnimBg="0"/>
      <p:bldP spid="111622"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title"/>
          </p:nvPr>
        </p:nvSpPr>
        <p:spPr>
          <a:xfrm>
            <a:off x="4211960" y="122239"/>
            <a:ext cx="4932040" cy="1119187"/>
          </a:xfrm>
        </p:spPr>
        <p:txBody>
          <a:bodyPr anchor="ctr"/>
          <a:lstStyle/>
          <a:p>
            <a:pPr algn="just" eaLnBrk="1" fontAlgn="t" hangingPunct="1">
              <a:defRPr/>
            </a:pPr>
            <a:r>
              <a:rPr lang="zh-CN" altLang="en-US" sz="2800" b="1" dirty="0">
                <a:latin typeface="楷体_GB2312" pitchFamily="49" charset="-122"/>
                <a:ea typeface="楷体_GB2312" pitchFamily="49" charset="-122"/>
              </a:rPr>
              <a:t>工程中的自动化</a:t>
            </a:r>
            <a:r>
              <a:rPr lang="zh-CN" altLang="en-US" sz="2800" b="1" dirty="0">
                <a:solidFill>
                  <a:schemeClr val="accent6"/>
                </a:solidFill>
                <a:latin typeface="楷体_GB2312" pitchFamily="49" charset="-122"/>
                <a:ea typeface="楷体_GB2312" pitchFamily="49" charset="-122"/>
              </a:rPr>
              <a:t>运动控制</a:t>
            </a:r>
            <a:r>
              <a:rPr lang="zh-CN" altLang="en-US" sz="2800" b="1" dirty="0">
                <a:latin typeface="楷体_GB2312" pitchFamily="49" charset="-122"/>
                <a:ea typeface="楷体_GB2312" pitchFamily="49" charset="-122"/>
              </a:rPr>
              <a:t>系统</a:t>
            </a:r>
            <a:br>
              <a:rPr lang="zh-CN" altLang="en-US" sz="2800" b="1" dirty="0">
                <a:latin typeface="楷体_GB2312" pitchFamily="49" charset="-122"/>
                <a:ea typeface="楷体_GB2312" pitchFamily="49" charset="-122"/>
              </a:rPr>
            </a:br>
            <a:r>
              <a:rPr lang="zh-CN" altLang="en-US" sz="2800" b="1" dirty="0">
                <a:latin typeface="楷体_GB2312" pitchFamily="49" charset="-122"/>
                <a:ea typeface="楷体_GB2312" pitchFamily="49" charset="-122"/>
              </a:rPr>
              <a:t>与自动化专业课程设置的关系</a:t>
            </a:r>
          </a:p>
        </p:txBody>
      </p:sp>
      <p:sp>
        <p:nvSpPr>
          <p:cNvPr id="15363" name="Text Box 5"/>
          <p:cNvSpPr txBox="1">
            <a:spLocks noChangeArrowheads="1"/>
          </p:cNvSpPr>
          <p:nvPr/>
        </p:nvSpPr>
        <p:spPr bwMode="auto">
          <a:xfrm>
            <a:off x="7467600" y="3124200"/>
            <a:ext cx="914400" cy="822325"/>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400" b="1">
                <a:latin typeface="Times New Roman" panose="02020603050405020304" pitchFamily="18" charset="0"/>
                <a:ea typeface="楷体_GB2312" pitchFamily="49" charset="-122"/>
              </a:rPr>
              <a:t>执行机械</a:t>
            </a:r>
          </a:p>
        </p:txBody>
      </p:sp>
      <p:grpSp>
        <p:nvGrpSpPr>
          <p:cNvPr id="113670" name="Group 6"/>
          <p:cNvGrpSpPr>
            <a:grpSpLocks/>
          </p:cNvGrpSpPr>
          <p:nvPr/>
        </p:nvGrpSpPr>
        <p:grpSpPr bwMode="auto">
          <a:xfrm>
            <a:off x="6019800" y="3124200"/>
            <a:ext cx="1447800" cy="822325"/>
            <a:chOff x="3792" y="1968"/>
            <a:chExt cx="912" cy="518"/>
          </a:xfrm>
        </p:grpSpPr>
        <p:sp>
          <p:nvSpPr>
            <p:cNvPr id="15393" name="Text Box 7"/>
            <p:cNvSpPr txBox="1">
              <a:spLocks noChangeArrowheads="1"/>
            </p:cNvSpPr>
            <p:nvPr/>
          </p:nvSpPr>
          <p:spPr bwMode="auto">
            <a:xfrm>
              <a:off x="3792" y="1968"/>
              <a:ext cx="624" cy="518"/>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400" b="1">
                  <a:latin typeface="Times New Roman" panose="02020603050405020304" pitchFamily="18" charset="0"/>
                  <a:ea typeface="楷体_GB2312" pitchFamily="49" charset="-122"/>
                </a:rPr>
                <a:t>执行电机</a:t>
              </a:r>
            </a:p>
          </p:txBody>
        </p:sp>
        <p:sp>
          <p:nvSpPr>
            <p:cNvPr id="15394" name="AutoShape 8"/>
            <p:cNvSpPr>
              <a:spLocks noChangeArrowheads="1"/>
            </p:cNvSpPr>
            <p:nvPr/>
          </p:nvSpPr>
          <p:spPr bwMode="auto">
            <a:xfrm>
              <a:off x="4416" y="2112"/>
              <a:ext cx="288" cy="240"/>
            </a:xfrm>
            <a:prstGeom prst="rightArrow">
              <a:avLst>
                <a:gd name="adj1" fmla="val 50000"/>
                <a:gd name="adj2" fmla="val 3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sp>
        <p:nvSpPr>
          <p:cNvPr id="113673" name="AutoShape 9"/>
          <p:cNvSpPr>
            <a:spLocks noChangeArrowheads="1"/>
          </p:cNvSpPr>
          <p:nvPr/>
        </p:nvSpPr>
        <p:spPr bwMode="auto">
          <a:xfrm>
            <a:off x="6172200" y="1524000"/>
            <a:ext cx="1905000" cy="990600"/>
          </a:xfrm>
          <a:prstGeom prst="wedgeRoundRectCallout">
            <a:avLst>
              <a:gd name="adj1" fmla="val -28500"/>
              <a:gd name="adj2" fmla="val 108972"/>
              <a:gd name="adj3" fmla="val 16667"/>
            </a:avLst>
          </a:prstGeom>
          <a:solidFill>
            <a:srgbClr val="FF99CC">
              <a:alpha val="50195"/>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400" b="1">
                <a:latin typeface="Times New Roman" panose="02020603050405020304" pitchFamily="18" charset="0"/>
                <a:ea typeface="楷体_GB2312" pitchFamily="49" charset="-122"/>
              </a:rPr>
              <a:t>电机拖动与电气控制</a:t>
            </a:r>
          </a:p>
        </p:txBody>
      </p:sp>
      <p:grpSp>
        <p:nvGrpSpPr>
          <p:cNvPr id="113674" name="Group 10"/>
          <p:cNvGrpSpPr>
            <a:grpSpLocks/>
          </p:cNvGrpSpPr>
          <p:nvPr/>
        </p:nvGrpSpPr>
        <p:grpSpPr bwMode="auto">
          <a:xfrm>
            <a:off x="4114800" y="2971800"/>
            <a:ext cx="1905000" cy="1187450"/>
            <a:chOff x="2592" y="1872"/>
            <a:chExt cx="1200" cy="748"/>
          </a:xfrm>
        </p:grpSpPr>
        <p:sp>
          <p:nvSpPr>
            <p:cNvPr id="15391" name="Text Box 11"/>
            <p:cNvSpPr txBox="1">
              <a:spLocks noChangeArrowheads="1"/>
            </p:cNvSpPr>
            <p:nvPr/>
          </p:nvSpPr>
          <p:spPr bwMode="auto">
            <a:xfrm>
              <a:off x="2592" y="1872"/>
              <a:ext cx="912" cy="748"/>
            </a:xfrm>
            <a:prstGeom prst="rect">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400" b="1">
                  <a:latin typeface="Times New Roman" panose="02020603050405020304" pitchFamily="18" charset="0"/>
                  <a:ea typeface="楷体_GB2312" pitchFamily="49" charset="-122"/>
                </a:rPr>
                <a:t>电功率</a:t>
              </a:r>
            </a:p>
            <a:p>
              <a:pPr eaLnBrk="1" hangingPunct="1">
                <a:spcBef>
                  <a:spcPct val="0"/>
                </a:spcBef>
                <a:buClrTx/>
                <a:buSzTx/>
                <a:buFontTx/>
                <a:buNone/>
              </a:pPr>
              <a:r>
                <a:rPr lang="zh-CN" altLang="en-US" sz="2400" b="1">
                  <a:latin typeface="Times New Roman" panose="02020603050405020304" pitchFamily="18" charset="0"/>
                  <a:ea typeface="楷体_GB2312" pitchFamily="49" charset="-122"/>
                </a:rPr>
                <a:t>放大、</a:t>
              </a:r>
            </a:p>
            <a:p>
              <a:pPr eaLnBrk="1" hangingPunct="1">
                <a:spcBef>
                  <a:spcPct val="0"/>
                </a:spcBef>
                <a:buClrTx/>
                <a:buSzTx/>
                <a:buFontTx/>
                <a:buNone/>
              </a:pPr>
              <a:r>
                <a:rPr lang="zh-CN" altLang="en-US" sz="2400" b="1">
                  <a:latin typeface="Times New Roman" panose="02020603050405020304" pitchFamily="18" charset="0"/>
                  <a:ea typeface="楷体_GB2312" pitchFamily="49" charset="-122"/>
                </a:rPr>
                <a:t>变流装置</a:t>
              </a:r>
            </a:p>
          </p:txBody>
        </p:sp>
        <p:sp>
          <p:nvSpPr>
            <p:cNvPr id="15392" name="AutoShape 12"/>
            <p:cNvSpPr>
              <a:spLocks noChangeArrowheads="1"/>
            </p:cNvSpPr>
            <p:nvPr/>
          </p:nvSpPr>
          <p:spPr bwMode="auto">
            <a:xfrm>
              <a:off x="3504" y="2112"/>
              <a:ext cx="288" cy="240"/>
            </a:xfrm>
            <a:prstGeom prst="rightArrow">
              <a:avLst>
                <a:gd name="adj1" fmla="val 50000"/>
                <a:gd name="adj2" fmla="val 3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sp>
        <p:nvSpPr>
          <p:cNvPr id="113677" name="AutoShape 13"/>
          <p:cNvSpPr>
            <a:spLocks noChangeArrowheads="1"/>
          </p:cNvSpPr>
          <p:nvPr/>
        </p:nvSpPr>
        <p:spPr bwMode="auto">
          <a:xfrm>
            <a:off x="4648200" y="1524000"/>
            <a:ext cx="1371600" cy="762000"/>
          </a:xfrm>
          <a:prstGeom prst="wedgeRectCallout">
            <a:avLst>
              <a:gd name="adj1" fmla="val -30093"/>
              <a:gd name="adj2" fmla="val 142708"/>
            </a:avLst>
          </a:prstGeom>
          <a:solidFill>
            <a:srgbClr val="00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400" b="1">
                <a:solidFill>
                  <a:schemeClr val="bg1"/>
                </a:solidFill>
                <a:latin typeface="Times New Roman" panose="02020603050405020304" pitchFamily="18" charset="0"/>
                <a:ea typeface="楷体_GB2312" pitchFamily="49" charset="-122"/>
              </a:rPr>
              <a:t>功率电子技术</a:t>
            </a:r>
          </a:p>
        </p:txBody>
      </p:sp>
      <p:grpSp>
        <p:nvGrpSpPr>
          <p:cNvPr id="113678" name="Group 14"/>
          <p:cNvGrpSpPr>
            <a:grpSpLocks/>
          </p:cNvGrpSpPr>
          <p:nvPr/>
        </p:nvGrpSpPr>
        <p:grpSpPr bwMode="auto">
          <a:xfrm>
            <a:off x="2286000" y="2743200"/>
            <a:ext cx="1828800" cy="1311275"/>
            <a:chOff x="1440" y="1728"/>
            <a:chExt cx="1152" cy="826"/>
          </a:xfrm>
        </p:grpSpPr>
        <p:sp>
          <p:nvSpPr>
            <p:cNvPr id="15389" name="Text Box 15"/>
            <p:cNvSpPr txBox="1">
              <a:spLocks noChangeArrowheads="1"/>
            </p:cNvSpPr>
            <p:nvPr/>
          </p:nvSpPr>
          <p:spPr bwMode="auto">
            <a:xfrm>
              <a:off x="1440" y="1728"/>
              <a:ext cx="912" cy="826"/>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000" b="1">
                  <a:latin typeface="Times New Roman" panose="02020603050405020304" pitchFamily="18" charset="0"/>
                  <a:ea typeface="楷体_GB2312" pitchFamily="49" charset="-122"/>
                </a:rPr>
                <a:t>  </a:t>
              </a:r>
              <a:r>
                <a:rPr lang="zh-CN" altLang="en-US" sz="2000" b="1">
                  <a:latin typeface="Times New Roman" panose="02020603050405020304" pitchFamily="18" charset="0"/>
                  <a:ea typeface="楷体_GB2312" pitchFamily="49" charset="-122"/>
                </a:rPr>
                <a:t>控制器</a:t>
              </a:r>
            </a:p>
            <a:p>
              <a:pPr eaLnBrk="1" hangingPunct="1">
                <a:spcBef>
                  <a:spcPct val="0"/>
                </a:spcBef>
                <a:buClrTx/>
                <a:buSzTx/>
                <a:buFontTx/>
                <a:buNone/>
              </a:pPr>
              <a:r>
                <a:rPr lang="zh-CN" altLang="en-US" sz="2000" b="1">
                  <a:latin typeface="Times New Roman" panose="02020603050405020304" pitchFamily="18" charset="0"/>
                  <a:ea typeface="楷体_GB2312" pitchFamily="49" charset="-122"/>
                </a:rPr>
                <a:t>微处理器，</a:t>
              </a:r>
            </a:p>
            <a:p>
              <a:pPr eaLnBrk="1" hangingPunct="1">
                <a:spcBef>
                  <a:spcPct val="0"/>
                </a:spcBef>
                <a:buClrTx/>
                <a:buSzTx/>
                <a:buFontTx/>
                <a:buNone/>
              </a:pPr>
              <a:r>
                <a:rPr lang="zh-CN" altLang="en-US" sz="2000" b="1">
                  <a:latin typeface="Times New Roman" panose="02020603050405020304" pitchFamily="18" charset="0"/>
                  <a:ea typeface="楷体_GB2312" pitchFamily="49" charset="-122"/>
                </a:rPr>
                <a:t>数模器件控制电器</a:t>
              </a:r>
            </a:p>
          </p:txBody>
        </p:sp>
        <p:sp>
          <p:nvSpPr>
            <p:cNvPr id="15390" name="AutoShape 16"/>
            <p:cNvSpPr>
              <a:spLocks noChangeArrowheads="1"/>
            </p:cNvSpPr>
            <p:nvPr/>
          </p:nvSpPr>
          <p:spPr bwMode="auto">
            <a:xfrm>
              <a:off x="2352" y="2112"/>
              <a:ext cx="240" cy="240"/>
            </a:xfrm>
            <a:prstGeom prst="rightArrow">
              <a:avLst>
                <a:gd name="adj1" fmla="val 50000"/>
                <a:gd name="adj2"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113681" name="Group 17"/>
          <p:cNvGrpSpPr>
            <a:grpSpLocks/>
          </p:cNvGrpSpPr>
          <p:nvPr/>
        </p:nvGrpSpPr>
        <p:grpSpPr bwMode="auto">
          <a:xfrm>
            <a:off x="457200" y="3124200"/>
            <a:ext cx="1828800" cy="822325"/>
            <a:chOff x="288" y="1968"/>
            <a:chExt cx="1152" cy="518"/>
          </a:xfrm>
        </p:grpSpPr>
        <p:sp>
          <p:nvSpPr>
            <p:cNvPr id="15387" name="Text Box 18"/>
            <p:cNvSpPr txBox="1">
              <a:spLocks noChangeArrowheads="1"/>
            </p:cNvSpPr>
            <p:nvPr/>
          </p:nvSpPr>
          <p:spPr bwMode="auto">
            <a:xfrm>
              <a:off x="288" y="1968"/>
              <a:ext cx="912" cy="518"/>
            </a:xfrm>
            <a:prstGeom prst="rect">
              <a:avLst/>
            </a:prstGeom>
            <a:solidFill>
              <a:srgbClr val="FF33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400" b="1">
                  <a:latin typeface="Times New Roman" panose="02020603050405020304" pitchFamily="18" charset="0"/>
                  <a:ea typeface="楷体_GB2312" pitchFamily="49" charset="-122"/>
                </a:rPr>
                <a:t>计算机</a:t>
              </a:r>
            </a:p>
            <a:p>
              <a:pPr eaLnBrk="1" hangingPunct="1">
                <a:spcBef>
                  <a:spcPct val="0"/>
                </a:spcBef>
                <a:buClrTx/>
                <a:buSzTx/>
                <a:buFontTx/>
                <a:buNone/>
              </a:pPr>
              <a:r>
                <a:rPr lang="zh-CN" altLang="en-US" sz="2400" b="1">
                  <a:latin typeface="Times New Roman" panose="02020603050405020304" pitchFamily="18" charset="0"/>
                  <a:ea typeface="楷体_GB2312" pitchFamily="49" charset="-122"/>
                </a:rPr>
                <a:t>指令系统</a:t>
              </a:r>
            </a:p>
          </p:txBody>
        </p:sp>
        <p:sp>
          <p:nvSpPr>
            <p:cNvPr id="15388" name="AutoShape 19"/>
            <p:cNvSpPr>
              <a:spLocks noChangeArrowheads="1"/>
            </p:cNvSpPr>
            <p:nvPr/>
          </p:nvSpPr>
          <p:spPr bwMode="auto">
            <a:xfrm>
              <a:off x="1200" y="2112"/>
              <a:ext cx="240" cy="240"/>
            </a:xfrm>
            <a:prstGeom prst="rightArrow">
              <a:avLst>
                <a:gd name="adj1" fmla="val 50000"/>
                <a:gd name="adj2"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113684" name="Group 20"/>
          <p:cNvGrpSpPr>
            <a:grpSpLocks/>
          </p:cNvGrpSpPr>
          <p:nvPr/>
        </p:nvGrpSpPr>
        <p:grpSpPr bwMode="auto">
          <a:xfrm>
            <a:off x="2286000" y="3962400"/>
            <a:ext cx="5819775" cy="1108075"/>
            <a:chOff x="1440" y="2496"/>
            <a:chExt cx="3666" cy="698"/>
          </a:xfrm>
        </p:grpSpPr>
        <p:sp>
          <p:nvSpPr>
            <p:cNvPr id="15382" name="Text Box 21"/>
            <p:cNvSpPr txBox="1">
              <a:spLocks noChangeArrowheads="1"/>
            </p:cNvSpPr>
            <p:nvPr/>
          </p:nvSpPr>
          <p:spPr bwMode="auto">
            <a:xfrm>
              <a:off x="1440" y="2906"/>
              <a:ext cx="3648" cy="288"/>
            </a:xfrm>
            <a:prstGeom prst="rect">
              <a:avLst/>
            </a:prstGeom>
            <a:solidFill>
              <a:srgbClr val="9933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400" b="1">
                  <a:solidFill>
                    <a:schemeClr val="bg1"/>
                  </a:solidFill>
                  <a:latin typeface="Times New Roman" panose="02020603050405020304" pitchFamily="18" charset="0"/>
                  <a:ea typeface="楷体_GB2312" pitchFamily="49" charset="-122"/>
                </a:rPr>
                <a:t>                       </a:t>
              </a:r>
              <a:r>
                <a:rPr lang="zh-CN" altLang="en-US" sz="2400" b="1">
                  <a:solidFill>
                    <a:schemeClr val="bg1"/>
                  </a:solidFill>
                  <a:latin typeface="Times New Roman" panose="02020603050405020304" pitchFamily="18" charset="0"/>
                  <a:ea typeface="楷体_GB2312" pitchFamily="49" charset="-122"/>
                </a:rPr>
                <a:t>反馈检测装置          </a:t>
              </a:r>
            </a:p>
          </p:txBody>
        </p:sp>
        <p:sp>
          <p:nvSpPr>
            <p:cNvPr id="15383" name="AutoShape 22"/>
            <p:cNvSpPr>
              <a:spLocks noChangeArrowheads="1"/>
            </p:cNvSpPr>
            <p:nvPr/>
          </p:nvSpPr>
          <p:spPr bwMode="auto">
            <a:xfrm>
              <a:off x="2928" y="2592"/>
              <a:ext cx="306" cy="336"/>
            </a:xfrm>
            <a:prstGeom prst="downArrow">
              <a:avLst>
                <a:gd name="adj1" fmla="val 50000"/>
                <a:gd name="adj2" fmla="val 2745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5384" name="AutoShape 23"/>
            <p:cNvSpPr>
              <a:spLocks noChangeArrowheads="1"/>
            </p:cNvSpPr>
            <p:nvPr/>
          </p:nvSpPr>
          <p:spPr bwMode="auto">
            <a:xfrm>
              <a:off x="3936" y="2496"/>
              <a:ext cx="288" cy="432"/>
            </a:xfrm>
            <a:prstGeom prst="downArrow">
              <a:avLst>
                <a:gd name="adj1" fmla="val 50000"/>
                <a:gd name="adj2" fmla="val 375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5385" name="AutoShape 24"/>
            <p:cNvSpPr>
              <a:spLocks noChangeArrowheads="1"/>
            </p:cNvSpPr>
            <p:nvPr/>
          </p:nvSpPr>
          <p:spPr bwMode="auto">
            <a:xfrm>
              <a:off x="4800" y="2496"/>
              <a:ext cx="306" cy="432"/>
            </a:xfrm>
            <a:prstGeom prst="downArrow">
              <a:avLst>
                <a:gd name="adj1" fmla="val 50000"/>
                <a:gd name="adj2" fmla="val 35294"/>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5386" name="AutoShape 25"/>
            <p:cNvSpPr>
              <a:spLocks noChangeArrowheads="1"/>
            </p:cNvSpPr>
            <p:nvPr/>
          </p:nvSpPr>
          <p:spPr bwMode="auto">
            <a:xfrm>
              <a:off x="1728" y="2554"/>
              <a:ext cx="306" cy="374"/>
            </a:xfrm>
            <a:prstGeom prst="upArrow">
              <a:avLst>
                <a:gd name="adj1" fmla="val 50000"/>
                <a:gd name="adj2" fmla="val 2499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sp>
        <p:nvSpPr>
          <p:cNvPr id="113690" name="AutoShape 26"/>
          <p:cNvSpPr>
            <a:spLocks noChangeArrowheads="1"/>
          </p:cNvSpPr>
          <p:nvPr/>
        </p:nvSpPr>
        <p:spPr bwMode="auto">
          <a:xfrm>
            <a:off x="5486400" y="5410200"/>
            <a:ext cx="1752600" cy="727075"/>
          </a:xfrm>
          <a:prstGeom prst="wedgeRectCallout">
            <a:avLst>
              <a:gd name="adj1" fmla="val -55625"/>
              <a:gd name="adj2" fmla="val -13541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000" b="1">
                <a:latin typeface="Times New Roman" panose="02020603050405020304" pitchFamily="18" charset="0"/>
                <a:ea typeface="楷体_GB2312" pitchFamily="49" charset="-122"/>
              </a:rPr>
              <a:t>传感器技术、信号检测技术</a:t>
            </a:r>
          </a:p>
        </p:txBody>
      </p:sp>
      <p:sp>
        <p:nvSpPr>
          <p:cNvPr id="113691" name="AutoShape 27"/>
          <p:cNvSpPr>
            <a:spLocks noChangeArrowheads="1"/>
          </p:cNvSpPr>
          <p:nvPr/>
        </p:nvSpPr>
        <p:spPr bwMode="auto">
          <a:xfrm>
            <a:off x="0" y="1295400"/>
            <a:ext cx="4572000" cy="1295400"/>
          </a:xfrm>
          <a:prstGeom prst="wedgeRectCallout">
            <a:avLst>
              <a:gd name="adj1" fmla="val -2162"/>
              <a:gd name="adj2" fmla="val 63194"/>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000" b="1" dirty="0">
                <a:solidFill>
                  <a:schemeClr val="accent2"/>
                </a:solidFill>
                <a:latin typeface="Times New Roman" panose="02020603050405020304" pitchFamily="18" charset="0"/>
                <a:ea typeface="华文新魏" panose="02010800040101010101" pitchFamily="2" charset="-122"/>
              </a:rPr>
              <a:t>控制理论</a:t>
            </a:r>
            <a:r>
              <a:rPr lang="zh-CN" altLang="en-US" sz="2000" dirty="0">
                <a:latin typeface="Times New Roman" panose="02020603050405020304" pitchFamily="18" charset="0"/>
              </a:rPr>
              <a:t>、</a:t>
            </a:r>
            <a:r>
              <a:rPr lang="zh-CN" altLang="en-US" sz="2000" b="1" dirty="0">
                <a:latin typeface="华光魏体_CNKI" panose="02000500000000000000" pitchFamily="2" charset="-122"/>
                <a:ea typeface="华光魏体_CNKI" panose="02000500000000000000" pitchFamily="2" charset="-122"/>
              </a:rPr>
              <a:t>微机原理、计算机控制技术、实时嵌入式系统</a:t>
            </a:r>
            <a:r>
              <a:rPr lang="zh-CN" altLang="en-US" sz="2000" b="1" dirty="0">
                <a:latin typeface="华光楷体_CNKI" panose="02000500000000000000" pitchFamily="2" charset="-122"/>
                <a:ea typeface="华光楷体_CNKI" panose="02000500000000000000" pitchFamily="2" charset="-122"/>
              </a:rPr>
              <a:t>、</a:t>
            </a:r>
            <a:r>
              <a:rPr lang="zh-CN" altLang="en-US" sz="2000" b="1" dirty="0">
                <a:solidFill>
                  <a:srgbClr val="006600"/>
                </a:solidFill>
                <a:latin typeface="华光楷体_CNKI" panose="02000500000000000000" pitchFamily="2" charset="-122"/>
                <a:ea typeface="华光楷体_CNKI" panose="02000500000000000000" pitchFamily="2" charset="-122"/>
              </a:rPr>
              <a:t>电路理论</a:t>
            </a:r>
            <a:r>
              <a:rPr lang="zh-CN" altLang="en-US" sz="2000" b="1" dirty="0">
                <a:latin typeface="华光楷体_CNKI" panose="02000500000000000000" pitchFamily="2" charset="-122"/>
                <a:ea typeface="华光楷体_CNKI" panose="02000500000000000000" pitchFamily="2" charset="-122"/>
              </a:rPr>
              <a:t>、数电、模电、</a:t>
            </a:r>
            <a:r>
              <a:rPr lang="zh-CN" altLang="en-US" sz="2000" b="1" dirty="0">
                <a:latin typeface="华文行楷" panose="02010800040101010101" pitchFamily="2" charset="-122"/>
                <a:ea typeface="华文行楷" panose="02010800040101010101" pitchFamily="2" charset="-122"/>
              </a:rPr>
              <a:t>电器控制、</a:t>
            </a:r>
            <a:r>
              <a:rPr lang="zh-CN" altLang="en-US" sz="2000" b="1" dirty="0">
                <a:solidFill>
                  <a:srgbClr val="990033"/>
                </a:solidFill>
                <a:latin typeface="华文新魏" panose="02010800040101010101" pitchFamily="2" charset="-122"/>
                <a:ea typeface="华文新魏" panose="02010800040101010101" pitchFamily="2" charset="-122"/>
              </a:rPr>
              <a:t>数字信号处理、人工智能技术</a:t>
            </a:r>
          </a:p>
        </p:txBody>
      </p:sp>
      <p:sp>
        <p:nvSpPr>
          <p:cNvPr id="113692" name="AutoShape 28"/>
          <p:cNvSpPr>
            <a:spLocks noChangeArrowheads="1"/>
          </p:cNvSpPr>
          <p:nvPr/>
        </p:nvSpPr>
        <p:spPr bwMode="auto">
          <a:xfrm>
            <a:off x="0" y="4613275"/>
            <a:ext cx="2314575" cy="1939925"/>
          </a:xfrm>
          <a:prstGeom prst="wedgeRectCallout">
            <a:avLst>
              <a:gd name="adj1" fmla="val 2095"/>
              <a:gd name="adj2" fmla="val -82308"/>
            </a:avLst>
          </a:prstGeom>
          <a:solidFill>
            <a:srgbClr val="FFFF99"/>
          </a:solidFill>
          <a:ln w="9525">
            <a:solidFill>
              <a:schemeClr val="tx1"/>
            </a:solidFill>
            <a:miter lim="800000"/>
            <a:headEnd/>
            <a:tailEnd/>
          </a:ln>
          <a:effec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defRPr/>
            </a:pPr>
            <a:r>
              <a:rPr lang="zh-CN" altLang="en-US" sz="2000" b="1" dirty="0">
                <a:latin typeface="华光魏体_CNKI" panose="02000500000000000000" pitchFamily="2" charset="-122"/>
                <a:ea typeface="华光魏体_CNKI" panose="02000500000000000000" pitchFamily="2" charset="-122"/>
              </a:rPr>
              <a:t>计算机原理、</a:t>
            </a:r>
            <a:r>
              <a:rPr lang="zh-CN" altLang="en-US" sz="2000" b="1" dirty="0">
                <a:solidFill>
                  <a:schemeClr val="accent2"/>
                </a:solidFill>
                <a:latin typeface="华光魏体_CNKI" panose="02000500000000000000" pitchFamily="2" charset="-122"/>
                <a:ea typeface="华光魏体_CNKI" panose="02000500000000000000" pitchFamily="2" charset="-122"/>
              </a:rPr>
              <a:t>微机控制技术</a:t>
            </a:r>
            <a:r>
              <a:rPr lang="zh-CN" altLang="en-US" sz="2000" b="1" dirty="0">
                <a:latin typeface="华光魏体_CNKI" panose="02000500000000000000" pitchFamily="2" charset="-122"/>
                <a:ea typeface="华光魏体_CNKI" panose="02000500000000000000" pitchFamily="2" charset="-122"/>
              </a:rPr>
              <a:t>、</a:t>
            </a:r>
            <a:r>
              <a:rPr lang="en-US" altLang="zh-CN" sz="2000" b="1" dirty="0">
                <a:latin typeface="华光魏体_CNKI" panose="02000500000000000000" pitchFamily="2" charset="-122"/>
                <a:ea typeface="华光魏体_CNKI" panose="02000500000000000000" pitchFamily="2" charset="-122"/>
              </a:rPr>
              <a:t>C</a:t>
            </a:r>
            <a:r>
              <a:rPr lang="zh-CN" altLang="en-US" sz="2000" b="1" dirty="0">
                <a:latin typeface="华光魏体_CNKI" panose="02000500000000000000" pitchFamily="2" charset="-122"/>
                <a:ea typeface="华光魏体_CNKI" panose="02000500000000000000" pitchFamily="2" charset="-122"/>
              </a:rPr>
              <a:t>语言、计算机网络与通信技术、</a:t>
            </a:r>
            <a:r>
              <a:rPr lang="en-US" altLang="zh-CN" sz="2000" b="1" dirty="0">
                <a:latin typeface="华光魏体_CNKI" panose="02000500000000000000" pitchFamily="2" charset="-122"/>
                <a:ea typeface="华光魏体_CNKI" panose="02000500000000000000" pitchFamily="2" charset="-122"/>
              </a:rPr>
              <a:t>PLC</a:t>
            </a:r>
            <a:r>
              <a:rPr lang="zh-CN" altLang="en-US" sz="2000" b="1" dirty="0">
                <a:latin typeface="华光魏体_CNKI" panose="02000500000000000000" pitchFamily="2" charset="-122"/>
                <a:ea typeface="华光魏体_CNKI" panose="02000500000000000000" pitchFamily="2" charset="-122"/>
              </a:rPr>
              <a:t>、图像视觉技术、工业现场总线</a:t>
            </a:r>
          </a:p>
        </p:txBody>
      </p:sp>
      <p:grpSp>
        <p:nvGrpSpPr>
          <p:cNvPr id="113693" name="Group 29"/>
          <p:cNvGrpSpPr>
            <a:grpSpLocks/>
          </p:cNvGrpSpPr>
          <p:nvPr/>
        </p:nvGrpSpPr>
        <p:grpSpPr bwMode="auto">
          <a:xfrm>
            <a:off x="2819400" y="5181600"/>
            <a:ext cx="4267200" cy="1412875"/>
            <a:chOff x="1776" y="3264"/>
            <a:chExt cx="2688" cy="890"/>
          </a:xfrm>
        </p:grpSpPr>
        <p:sp>
          <p:nvSpPr>
            <p:cNvPr id="15380" name="Text Box 30"/>
            <p:cNvSpPr txBox="1">
              <a:spLocks noChangeArrowheads="1"/>
            </p:cNvSpPr>
            <p:nvPr/>
          </p:nvSpPr>
          <p:spPr bwMode="auto">
            <a:xfrm>
              <a:off x="1776" y="3866"/>
              <a:ext cx="2688" cy="288"/>
            </a:xfrm>
            <a:prstGeom prst="rect">
              <a:avLst/>
            </a:prstGeom>
            <a:solidFill>
              <a:srgbClr val="FF66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400" b="1">
                  <a:solidFill>
                    <a:schemeClr val="bg1"/>
                  </a:solidFill>
                  <a:latin typeface="Times New Roman" panose="02020603050405020304" pitchFamily="18" charset="0"/>
                </a:rPr>
                <a:t>           </a:t>
              </a:r>
              <a:r>
                <a:rPr lang="zh-CN" altLang="en-US" sz="2400" b="1">
                  <a:solidFill>
                    <a:schemeClr val="bg1"/>
                  </a:solidFill>
                  <a:latin typeface="Times New Roman" panose="02020603050405020304" pitchFamily="18" charset="0"/>
                </a:rPr>
                <a:t>运 动 控 制 系 统                 </a:t>
              </a:r>
            </a:p>
          </p:txBody>
        </p:sp>
        <p:sp>
          <p:nvSpPr>
            <p:cNvPr id="15381" name="AutoShape 31"/>
            <p:cNvSpPr>
              <a:spLocks noChangeArrowheads="1"/>
            </p:cNvSpPr>
            <p:nvPr/>
          </p:nvSpPr>
          <p:spPr bwMode="auto">
            <a:xfrm>
              <a:off x="2400" y="3264"/>
              <a:ext cx="1152" cy="567"/>
            </a:xfrm>
            <a:prstGeom prst="downArrow">
              <a:avLst>
                <a:gd name="adj1" fmla="val 50000"/>
                <a:gd name="adj2" fmla="val 25000"/>
              </a:avLst>
            </a:prstGeom>
            <a:solidFill>
              <a:srgbClr val="33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sp>
        <p:nvSpPr>
          <p:cNvPr id="113696" name="AutoShape 32"/>
          <p:cNvSpPr>
            <a:spLocks noChangeArrowheads="1"/>
          </p:cNvSpPr>
          <p:nvPr/>
        </p:nvSpPr>
        <p:spPr bwMode="auto">
          <a:xfrm>
            <a:off x="8229600" y="4289426"/>
            <a:ext cx="914400" cy="1273174"/>
          </a:xfrm>
          <a:prstGeom prst="wedgeRoundRectCallout">
            <a:avLst>
              <a:gd name="adj1" fmla="val -40972"/>
              <a:gd name="adj2" fmla="val -120995"/>
              <a:gd name="adj3" fmla="val 16667"/>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400" b="1" dirty="0">
                <a:latin typeface="Times New Roman" panose="02020603050405020304" pitchFamily="18" charset="0"/>
                <a:ea typeface="楷体_GB2312" pitchFamily="49" charset="-122"/>
              </a:rPr>
              <a:t>运动控制目标</a:t>
            </a:r>
          </a:p>
        </p:txBody>
      </p:sp>
      <p:sp>
        <p:nvSpPr>
          <p:cNvPr id="113697" name="AutoShape 33"/>
          <p:cNvSpPr>
            <a:spLocks noChangeArrowheads="1"/>
          </p:cNvSpPr>
          <p:nvPr/>
        </p:nvSpPr>
        <p:spPr bwMode="auto">
          <a:xfrm>
            <a:off x="8229600" y="1828800"/>
            <a:ext cx="914400" cy="838200"/>
          </a:xfrm>
          <a:prstGeom prst="wedgeRoundRectCallout">
            <a:avLst>
              <a:gd name="adj1" fmla="val -192361"/>
              <a:gd name="adj2" fmla="val 90343"/>
              <a:gd name="adj3" fmla="val 16667"/>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400" b="1">
                <a:latin typeface="Times New Roman" panose="02020603050405020304" pitchFamily="18" charset="0"/>
                <a:ea typeface="楷体_GB2312" pitchFamily="49" charset="-122"/>
              </a:rPr>
              <a:t>控制对象</a:t>
            </a:r>
          </a:p>
        </p:txBody>
      </p:sp>
      <p:sp>
        <p:nvSpPr>
          <p:cNvPr id="113698" name="AutoShape 34"/>
          <p:cNvSpPr>
            <a:spLocks noChangeArrowheads="1"/>
          </p:cNvSpPr>
          <p:nvPr/>
        </p:nvSpPr>
        <p:spPr bwMode="auto">
          <a:xfrm>
            <a:off x="2638425" y="5181600"/>
            <a:ext cx="1066800" cy="838200"/>
          </a:xfrm>
          <a:prstGeom prst="wedgeRoundRectCallout">
            <a:avLst>
              <a:gd name="adj1" fmla="val -156546"/>
              <a:gd name="adj2" fmla="val -192991"/>
              <a:gd name="adj3" fmla="val 16667"/>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400" b="1">
                <a:latin typeface="Times New Roman" panose="02020603050405020304" pitchFamily="18" charset="0"/>
                <a:ea typeface="楷体_GB2312" pitchFamily="49" charset="-122"/>
              </a:rPr>
              <a:t>控制命令</a:t>
            </a:r>
          </a:p>
        </p:txBody>
      </p:sp>
      <p:sp>
        <p:nvSpPr>
          <p:cNvPr id="113699" name="AutoShape 35"/>
          <p:cNvSpPr>
            <a:spLocks noChangeArrowheads="1"/>
          </p:cNvSpPr>
          <p:nvPr/>
        </p:nvSpPr>
        <p:spPr bwMode="auto">
          <a:xfrm>
            <a:off x="1017910" y="-1587"/>
            <a:ext cx="1644650" cy="1179512"/>
          </a:xfrm>
          <a:prstGeom prst="wedgeRoundRectCallout">
            <a:avLst>
              <a:gd name="adj1" fmla="val 108333"/>
              <a:gd name="adj2" fmla="val 220644"/>
              <a:gd name="adj3" fmla="val 16667"/>
            </a:avLst>
          </a:prstGeom>
          <a:solidFill>
            <a:srgbClr val="FF99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400" b="1" dirty="0">
                <a:latin typeface="Times New Roman" panose="02020603050405020304" pitchFamily="18" charset="0"/>
                <a:ea typeface="楷体_GB2312" pitchFamily="49" charset="-122"/>
              </a:rPr>
              <a:t>控制策略算法与实现手段</a:t>
            </a:r>
          </a:p>
        </p:txBody>
      </p:sp>
      <p:sp>
        <p:nvSpPr>
          <p:cNvPr id="113700" name="AutoShape 36"/>
          <p:cNvSpPr>
            <a:spLocks noChangeArrowheads="1"/>
          </p:cNvSpPr>
          <p:nvPr/>
        </p:nvSpPr>
        <p:spPr bwMode="auto">
          <a:xfrm>
            <a:off x="7239000" y="5715000"/>
            <a:ext cx="1600200" cy="838200"/>
          </a:xfrm>
          <a:prstGeom prst="wedgeRoundRectCallout">
            <a:avLst>
              <a:gd name="adj1" fmla="val -159125"/>
              <a:gd name="adj2" fmla="val -229356"/>
              <a:gd name="adj3" fmla="val 16667"/>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400" b="1">
                <a:latin typeface="Times New Roman" panose="02020603050405020304" pitchFamily="18" charset="0"/>
                <a:ea typeface="楷体_GB2312" pitchFamily="49" charset="-122"/>
              </a:rPr>
              <a:t>弱电到强电转换</a:t>
            </a:r>
          </a:p>
        </p:txBody>
      </p:sp>
      <p:sp>
        <p:nvSpPr>
          <p:cNvPr id="6" name="日期占位符 5">
            <a:extLst>
              <a:ext uri="{FF2B5EF4-FFF2-40B4-BE49-F238E27FC236}">
                <a16:creationId xmlns:a16="http://schemas.microsoft.com/office/drawing/2014/main" id="{AA380033-35C9-FC09-A420-C72AB583E77A}"/>
              </a:ext>
            </a:extLst>
          </p:cNvPr>
          <p:cNvSpPr>
            <a:spLocks noGrp="1"/>
          </p:cNvSpPr>
          <p:nvPr>
            <p:ph type="dt" sz="half" idx="10"/>
          </p:nvPr>
        </p:nvSpPr>
        <p:spPr/>
        <p:txBody>
          <a:bodyPr/>
          <a:lstStyle/>
          <a:p>
            <a:fld id="{4E79F0C1-49E7-46C3-9DF0-FF8D1D3B93FE}" type="datetime10">
              <a:rPr lang="en-US" altLang="zh-CN" smtClean="0"/>
              <a:t>16:53</a:t>
            </a:fld>
            <a:endParaRPr lang="en-US" altLang="zh-CN" dirty="0"/>
          </a:p>
        </p:txBody>
      </p:sp>
      <p:sp>
        <p:nvSpPr>
          <p:cNvPr id="7" name="灯片编号占位符 6">
            <a:extLst>
              <a:ext uri="{FF2B5EF4-FFF2-40B4-BE49-F238E27FC236}">
                <a16:creationId xmlns:a16="http://schemas.microsoft.com/office/drawing/2014/main" id="{932AAD9C-5FC5-E991-5841-D5275367F776}"/>
              </a:ext>
            </a:extLst>
          </p:cNvPr>
          <p:cNvSpPr>
            <a:spLocks noGrp="1"/>
          </p:cNvSpPr>
          <p:nvPr>
            <p:ph type="sldNum" sz="quarter" idx="12"/>
          </p:nvPr>
        </p:nvSpPr>
        <p:spPr/>
        <p:txBody>
          <a:bodyPr/>
          <a:lstStyle/>
          <a:p>
            <a:fld id="{B73B34B3-1432-4053-90C7-E0228297BE5F}" type="slidenum">
              <a:rPr lang="en-US" altLang="zh-CN" smtClean="0"/>
              <a:pPr/>
              <a:t>12</a:t>
            </a:fld>
            <a:endParaRPr lang="en-US" altLang="zh-CN"/>
          </a:p>
        </p:txBody>
      </p:sp>
    </p:spTree>
    <p:extLst>
      <p:ext uri="{BB962C8B-B14F-4D97-AF65-F5344CB8AC3E}">
        <p14:creationId xmlns:p14="http://schemas.microsoft.com/office/powerpoint/2010/main" val="18815900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113696"/>
                                        </p:tgtEl>
                                        <p:attrNameLst>
                                          <p:attrName>style.visibility</p:attrName>
                                        </p:attrNameLst>
                                      </p:cBhvr>
                                      <p:to>
                                        <p:strVal val="visible"/>
                                      </p:to>
                                    </p:set>
                                    <p:animEffect transition="in" filter="barn(outHorizontal)">
                                      <p:cBhvr>
                                        <p:cTn id="7" dur="500"/>
                                        <p:tgtEl>
                                          <p:spTgt spid="1136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nodeType="clickEffect">
                                  <p:stCondLst>
                                    <p:cond delay="0"/>
                                  </p:stCondLst>
                                  <p:childTnLst>
                                    <p:set>
                                      <p:cBhvr>
                                        <p:cTn id="11" dur="1" fill="hold">
                                          <p:stCondLst>
                                            <p:cond delay="0"/>
                                          </p:stCondLst>
                                        </p:cTn>
                                        <p:tgtEl>
                                          <p:spTgt spid="113670"/>
                                        </p:tgtEl>
                                        <p:attrNameLst>
                                          <p:attrName>style.visibility</p:attrName>
                                        </p:attrNameLst>
                                      </p:cBhvr>
                                      <p:to>
                                        <p:strVal val="visible"/>
                                      </p:to>
                                    </p:set>
                                    <p:anim calcmode="lin" valueType="num">
                                      <p:cBhvr>
                                        <p:cTn id="12" dur="500" fill="hold"/>
                                        <p:tgtEl>
                                          <p:spTgt spid="113670"/>
                                        </p:tgtEl>
                                        <p:attrNameLst>
                                          <p:attrName>ppt_w</p:attrName>
                                        </p:attrNameLst>
                                      </p:cBhvr>
                                      <p:tavLst>
                                        <p:tav tm="0">
                                          <p:val>
                                            <p:fltVal val="0"/>
                                          </p:val>
                                        </p:tav>
                                        <p:tav tm="100000">
                                          <p:val>
                                            <p:strVal val="#ppt_w"/>
                                          </p:val>
                                        </p:tav>
                                      </p:tavLst>
                                    </p:anim>
                                    <p:anim calcmode="lin" valueType="num">
                                      <p:cBhvr>
                                        <p:cTn id="13" dur="500" fill="hold"/>
                                        <p:tgtEl>
                                          <p:spTgt spid="113670"/>
                                        </p:tgtEl>
                                        <p:attrNameLst>
                                          <p:attrName>ppt_h</p:attrName>
                                        </p:attrNameLst>
                                      </p:cBhvr>
                                      <p:tavLst>
                                        <p:tav tm="0">
                                          <p:val>
                                            <p:strVal val="#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6" presetClass="entr" presetSubtype="42" fill="hold" grpId="0" nodeType="clickEffect">
                                  <p:stCondLst>
                                    <p:cond delay="0"/>
                                  </p:stCondLst>
                                  <p:childTnLst>
                                    <p:set>
                                      <p:cBhvr>
                                        <p:cTn id="17" dur="1" fill="hold">
                                          <p:stCondLst>
                                            <p:cond delay="0"/>
                                          </p:stCondLst>
                                        </p:cTn>
                                        <p:tgtEl>
                                          <p:spTgt spid="113697"/>
                                        </p:tgtEl>
                                        <p:attrNameLst>
                                          <p:attrName>style.visibility</p:attrName>
                                        </p:attrNameLst>
                                      </p:cBhvr>
                                      <p:to>
                                        <p:strVal val="visible"/>
                                      </p:to>
                                    </p:set>
                                    <p:animEffect transition="in" filter="barn(outHorizontal)">
                                      <p:cBhvr>
                                        <p:cTn id="18" dur="500"/>
                                        <p:tgtEl>
                                          <p:spTgt spid="11369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6" presetClass="entr" presetSubtype="26" fill="hold" grpId="0" nodeType="clickEffect">
                                  <p:stCondLst>
                                    <p:cond delay="0"/>
                                  </p:stCondLst>
                                  <p:childTnLst>
                                    <p:set>
                                      <p:cBhvr>
                                        <p:cTn id="22" dur="1" fill="hold">
                                          <p:stCondLst>
                                            <p:cond delay="0"/>
                                          </p:stCondLst>
                                        </p:cTn>
                                        <p:tgtEl>
                                          <p:spTgt spid="113673"/>
                                        </p:tgtEl>
                                        <p:attrNameLst>
                                          <p:attrName>style.visibility</p:attrName>
                                        </p:attrNameLst>
                                      </p:cBhvr>
                                      <p:to>
                                        <p:strVal val="visible"/>
                                      </p:to>
                                    </p:set>
                                    <p:animEffect transition="in" filter="barn(inHorizontal)">
                                      <p:cBhvr>
                                        <p:cTn id="23" dur="500"/>
                                        <p:tgtEl>
                                          <p:spTgt spid="11367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8" fill="hold" nodeType="clickEffect">
                                  <p:stCondLst>
                                    <p:cond delay="0"/>
                                  </p:stCondLst>
                                  <p:childTnLst>
                                    <p:set>
                                      <p:cBhvr>
                                        <p:cTn id="27" dur="1" fill="hold">
                                          <p:stCondLst>
                                            <p:cond delay="0"/>
                                          </p:stCondLst>
                                        </p:cTn>
                                        <p:tgtEl>
                                          <p:spTgt spid="113674"/>
                                        </p:tgtEl>
                                        <p:attrNameLst>
                                          <p:attrName>style.visibility</p:attrName>
                                        </p:attrNameLst>
                                      </p:cBhvr>
                                      <p:to>
                                        <p:strVal val="visible"/>
                                      </p:to>
                                    </p:set>
                                    <p:anim calcmode="lin" valueType="num">
                                      <p:cBhvr additive="base">
                                        <p:cTn id="28" dur="500" fill="hold"/>
                                        <p:tgtEl>
                                          <p:spTgt spid="113674"/>
                                        </p:tgtEl>
                                        <p:attrNameLst>
                                          <p:attrName>ppt_x</p:attrName>
                                        </p:attrNameLst>
                                      </p:cBhvr>
                                      <p:tavLst>
                                        <p:tav tm="0">
                                          <p:val>
                                            <p:strVal val="0-#ppt_w/2"/>
                                          </p:val>
                                        </p:tav>
                                        <p:tav tm="100000">
                                          <p:val>
                                            <p:strVal val="#ppt_x"/>
                                          </p:val>
                                        </p:tav>
                                      </p:tavLst>
                                    </p:anim>
                                    <p:anim calcmode="lin" valueType="num">
                                      <p:cBhvr additive="base">
                                        <p:cTn id="29" dur="500" fill="hold"/>
                                        <p:tgtEl>
                                          <p:spTgt spid="113674"/>
                                        </p:tgtEl>
                                        <p:attrNameLst>
                                          <p:attrName>ppt_y</p:attrName>
                                        </p:attrNameLst>
                                      </p:cBhvr>
                                      <p:tavLst>
                                        <p:tav tm="0">
                                          <p:val>
                                            <p:strVal val="#ppt_y"/>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113700"/>
                                        </p:tgtEl>
                                        <p:attrNameLst>
                                          <p:attrName>style.visibility</p:attrName>
                                        </p:attrNameLst>
                                      </p:cBhvr>
                                      <p:to>
                                        <p:strVal val="visible"/>
                                      </p:to>
                                    </p:set>
                                    <p:animEffect transition="in" filter="blinds(horizontal)">
                                      <p:cBhvr>
                                        <p:cTn id="34" dur="500"/>
                                        <p:tgtEl>
                                          <p:spTgt spid="11370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6" presetClass="entr" presetSubtype="42" fill="hold" grpId="0" nodeType="clickEffect">
                                  <p:stCondLst>
                                    <p:cond delay="0"/>
                                  </p:stCondLst>
                                  <p:childTnLst>
                                    <p:set>
                                      <p:cBhvr>
                                        <p:cTn id="38" dur="1" fill="hold">
                                          <p:stCondLst>
                                            <p:cond delay="0"/>
                                          </p:stCondLst>
                                        </p:cTn>
                                        <p:tgtEl>
                                          <p:spTgt spid="113677"/>
                                        </p:tgtEl>
                                        <p:attrNameLst>
                                          <p:attrName>style.visibility</p:attrName>
                                        </p:attrNameLst>
                                      </p:cBhvr>
                                      <p:to>
                                        <p:strVal val="visible"/>
                                      </p:to>
                                    </p:set>
                                    <p:animEffect transition="in" filter="barn(outHorizontal)">
                                      <p:cBhvr>
                                        <p:cTn id="39" dur="500"/>
                                        <p:tgtEl>
                                          <p:spTgt spid="113677"/>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8" fill="hold" nodeType="clickEffect">
                                  <p:stCondLst>
                                    <p:cond delay="0"/>
                                  </p:stCondLst>
                                  <p:childTnLst>
                                    <p:set>
                                      <p:cBhvr>
                                        <p:cTn id="43" dur="1" fill="hold">
                                          <p:stCondLst>
                                            <p:cond delay="0"/>
                                          </p:stCondLst>
                                        </p:cTn>
                                        <p:tgtEl>
                                          <p:spTgt spid="113678"/>
                                        </p:tgtEl>
                                        <p:attrNameLst>
                                          <p:attrName>style.visibility</p:attrName>
                                        </p:attrNameLst>
                                      </p:cBhvr>
                                      <p:to>
                                        <p:strVal val="visible"/>
                                      </p:to>
                                    </p:set>
                                    <p:anim calcmode="lin" valueType="num">
                                      <p:cBhvr additive="base">
                                        <p:cTn id="44" dur="500" fill="hold"/>
                                        <p:tgtEl>
                                          <p:spTgt spid="113678"/>
                                        </p:tgtEl>
                                        <p:attrNameLst>
                                          <p:attrName>ppt_x</p:attrName>
                                        </p:attrNameLst>
                                      </p:cBhvr>
                                      <p:tavLst>
                                        <p:tav tm="0">
                                          <p:val>
                                            <p:strVal val="0-#ppt_w/2"/>
                                          </p:val>
                                        </p:tav>
                                        <p:tav tm="100000">
                                          <p:val>
                                            <p:strVal val="#ppt_x"/>
                                          </p:val>
                                        </p:tav>
                                      </p:tavLst>
                                    </p:anim>
                                    <p:anim calcmode="lin" valueType="num">
                                      <p:cBhvr additive="base">
                                        <p:cTn id="45" dur="500" fill="hold"/>
                                        <p:tgtEl>
                                          <p:spTgt spid="113678"/>
                                        </p:tgtEl>
                                        <p:attrNameLst>
                                          <p:attrName>ppt_y</p:attrName>
                                        </p:attrNameLst>
                                      </p:cBhvr>
                                      <p:tavLst>
                                        <p:tav tm="0">
                                          <p:val>
                                            <p:strVal val="#ppt_y"/>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13699"/>
                                        </p:tgtEl>
                                        <p:attrNameLst>
                                          <p:attrName>style.visibility</p:attrName>
                                        </p:attrNameLst>
                                      </p:cBhvr>
                                      <p:to>
                                        <p:strVal val="visible"/>
                                      </p:to>
                                    </p:set>
                                    <p:animEffect transition="in" filter="blinds(horizontal)">
                                      <p:cBhvr>
                                        <p:cTn id="50" dur="500"/>
                                        <p:tgtEl>
                                          <p:spTgt spid="113699"/>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6" presetClass="entr" presetSubtype="42" fill="hold" grpId="0" nodeType="clickEffect">
                                  <p:stCondLst>
                                    <p:cond delay="0"/>
                                  </p:stCondLst>
                                  <p:childTnLst>
                                    <p:set>
                                      <p:cBhvr>
                                        <p:cTn id="54" dur="1" fill="hold">
                                          <p:stCondLst>
                                            <p:cond delay="0"/>
                                          </p:stCondLst>
                                        </p:cTn>
                                        <p:tgtEl>
                                          <p:spTgt spid="113691"/>
                                        </p:tgtEl>
                                        <p:attrNameLst>
                                          <p:attrName>style.visibility</p:attrName>
                                        </p:attrNameLst>
                                      </p:cBhvr>
                                      <p:to>
                                        <p:strVal val="visible"/>
                                      </p:to>
                                    </p:set>
                                    <p:animEffect transition="in" filter="barn(outHorizontal)">
                                      <p:cBhvr>
                                        <p:cTn id="55" dur="500"/>
                                        <p:tgtEl>
                                          <p:spTgt spid="113691"/>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 presetClass="entr" presetSubtype="4" fill="hold" nodeType="clickEffect">
                                  <p:stCondLst>
                                    <p:cond delay="0"/>
                                  </p:stCondLst>
                                  <p:childTnLst>
                                    <p:set>
                                      <p:cBhvr>
                                        <p:cTn id="59" dur="1" fill="hold">
                                          <p:stCondLst>
                                            <p:cond delay="0"/>
                                          </p:stCondLst>
                                        </p:cTn>
                                        <p:tgtEl>
                                          <p:spTgt spid="113684"/>
                                        </p:tgtEl>
                                        <p:attrNameLst>
                                          <p:attrName>style.visibility</p:attrName>
                                        </p:attrNameLst>
                                      </p:cBhvr>
                                      <p:to>
                                        <p:strVal val="visible"/>
                                      </p:to>
                                    </p:set>
                                    <p:anim calcmode="lin" valueType="num">
                                      <p:cBhvr additive="base">
                                        <p:cTn id="60" dur="500" fill="hold"/>
                                        <p:tgtEl>
                                          <p:spTgt spid="113684"/>
                                        </p:tgtEl>
                                        <p:attrNameLst>
                                          <p:attrName>ppt_x</p:attrName>
                                        </p:attrNameLst>
                                      </p:cBhvr>
                                      <p:tavLst>
                                        <p:tav tm="0">
                                          <p:val>
                                            <p:strVal val="#ppt_x"/>
                                          </p:val>
                                        </p:tav>
                                        <p:tav tm="100000">
                                          <p:val>
                                            <p:strVal val="#ppt_x"/>
                                          </p:val>
                                        </p:tav>
                                      </p:tavLst>
                                    </p:anim>
                                    <p:anim calcmode="lin" valueType="num">
                                      <p:cBhvr additive="base">
                                        <p:cTn id="61" dur="500" fill="hold"/>
                                        <p:tgtEl>
                                          <p:spTgt spid="113684"/>
                                        </p:tgtEl>
                                        <p:attrNameLst>
                                          <p:attrName>ppt_y</p:attrName>
                                        </p:attrNameLst>
                                      </p:cBhvr>
                                      <p:tavLst>
                                        <p:tav tm="0">
                                          <p:val>
                                            <p:strVal val="1+#ppt_h/2"/>
                                          </p:val>
                                        </p:tav>
                                        <p:tav tm="100000">
                                          <p:val>
                                            <p:strVal val="#ppt_y"/>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113690"/>
                                        </p:tgtEl>
                                        <p:attrNameLst>
                                          <p:attrName>style.visibility</p:attrName>
                                        </p:attrNameLst>
                                      </p:cBhvr>
                                      <p:to>
                                        <p:strVal val="visible"/>
                                      </p:to>
                                    </p:set>
                                    <p:animEffect transition="in" filter="blinds(horizontal)">
                                      <p:cBhvr>
                                        <p:cTn id="66" dur="500"/>
                                        <p:tgtEl>
                                          <p:spTgt spid="113690"/>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 presetClass="entr" presetSubtype="8" fill="hold" nodeType="clickEffect">
                                  <p:stCondLst>
                                    <p:cond delay="0"/>
                                  </p:stCondLst>
                                  <p:childTnLst>
                                    <p:set>
                                      <p:cBhvr>
                                        <p:cTn id="70" dur="1" fill="hold">
                                          <p:stCondLst>
                                            <p:cond delay="0"/>
                                          </p:stCondLst>
                                        </p:cTn>
                                        <p:tgtEl>
                                          <p:spTgt spid="113681"/>
                                        </p:tgtEl>
                                        <p:attrNameLst>
                                          <p:attrName>style.visibility</p:attrName>
                                        </p:attrNameLst>
                                      </p:cBhvr>
                                      <p:to>
                                        <p:strVal val="visible"/>
                                      </p:to>
                                    </p:set>
                                    <p:anim calcmode="lin" valueType="num">
                                      <p:cBhvr additive="base">
                                        <p:cTn id="71" dur="500" fill="hold"/>
                                        <p:tgtEl>
                                          <p:spTgt spid="113681"/>
                                        </p:tgtEl>
                                        <p:attrNameLst>
                                          <p:attrName>ppt_x</p:attrName>
                                        </p:attrNameLst>
                                      </p:cBhvr>
                                      <p:tavLst>
                                        <p:tav tm="0">
                                          <p:val>
                                            <p:strVal val="0-#ppt_w/2"/>
                                          </p:val>
                                        </p:tav>
                                        <p:tav tm="100000">
                                          <p:val>
                                            <p:strVal val="#ppt_x"/>
                                          </p:val>
                                        </p:tav>
                                      </p:tavLst>
                                    </p:anim>
                                    <p:anim calcmode="lin" valueType="num">
                                      <p:cBhvr additive="base">
                                        <p:cTn id="72" dur="500" fill="hold"/>
                                        <p:tgtEl>
                                          <p:spTgt spid="113681"/>
                                        </p:tgtEl>
                                        <p:attrNameLst>
                                          <p:attrName>ppt_y</p:attrName>
                                        </p:attrNameLst>
                                      </p:cBhvr>
                                      <p:tavLst>
                                        <p:tav tm="0">
                                          <p:val>
                                            <p:strVal val="#ppt_y"/>
                                          </p:val>
                                        </p:tav>
                                        <p:tav tm="100000">
                                          <p:val>
                                            <p:strVal val="#ppt_y"/>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113698"/>
                                        </p:tgtEl>
                                        <p:attrNameLst>
                                          <p:attrName>style.visibility</p:attrName>
                                        </p:attrNameLst>
                                      </p:cBhvr>
                                      <p:to>
                                        <p:strVal val="visible"/>
                                      </p:to>
                                    </p:set>
                                    <p:animEffect transition="in" filter="dissolve">
                                      <p:cBhvr>
                                        <p:cTn id="77" dur="500"/>
                                        <p:tgtEl>
                                          <p:spTgt spid="113698"/>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6" presetClass="entr" presetSubtype="42" fill="hold" grpId="0" nodeType="clickEffect">
                                  <p:stCondLst>
                                    <p:cond delay="0"/>
                                  </p:stCondLst>
                                  <p:childTnLst>
                                    <p:set>
                                      <p:cBhvr>
                                        <p:cTn id="81" dur="1" fill="hold">
                                          <p:stCondLst>
                                            <p:cond delay="0"/>
                                          </p:stCondLst>
                                        </p:cTn>
                                        <p:tgtEl>
                                          <p:spTgt spid="113692"/>
                                        </p:tgtEl>
                                        <p:attrNameLst>
                                          <p:attrName>style.visibility</p:attrName>
                                        </p:attrNameLst>
                                      </p:cBhvr>
                                      <p:to>
                                        <p:strVal val="visible"/>
                                      </p:to>
                                    </p:set>
                                    <p:animEffect transition="in" filter="barn(outHorizontal)">
                                      <p:cBhvr>
                                        <p:cTn id="82" dur="500"/>
                                        <p:tgtEl>
                                          <p:spTgt spid="113692"/>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 presetClass="entr" presetSubtype="4" fill="hold" nodeType="clickEffect">
                                  <p:stCondLst>
                                    <p:cond delay="0"/>
                                  </p:stCondLst>
                                  <p:childTnLst>
                                    <p:set>
                                      <p:cBhvr>
                                        <p:cTn id="86" dur="1" fill="hold">
                                          <p:stCondLst>
                                            <p:cond delay="0"/>
                                          </p:stCondLst>
                                        </p:cTn>
                                        <p:tgtEl>
                                          <p:spTgt spid="113693"/>
                                        </p:tgtEl>
                                        <p:attrNameLst>
                                          <p:attrName>style.visibility</p:attrName>
                                        </p:attrNameLst>
                                      </p:cBhvr>
                                      <p:to>
                                        <p:strVal val="visible"/>
                                      </p:to>
                                    </p:set>
                                    <p:anim calcmode="lin" valueType="num">
                                      <p:cBhvr additive="base">
                                        <p:cTn id="87" dur="500" fill="hold"/>
                                        <p:tgtEl>
                                          <p:spTgt spid="113693"/>
                                        </p:tgtEl>
                                        <p:attrNameLst>
                                          <p:attrName>ppt_x</p:attrName>
                                        </p:attrNameLst>
                                      </p:cBhvr>
                                      <p:tavLst>
                                        <p:tav tm="0">
                                          <p:val>
                                            <p:strVal val="#ppt_x"/>
                                          </p:val>
                                        </p:tav>
                                        <p:tav tm="100000">
                                          <p:val>
                                            <p:strVal val="#ppt_x"/>
                                          </p:val>
                                        </p:tav>
                                      </p:tavLst>
                                    </p:anim>
                                    <p:anim calcmode="lin" valueType="num">
                                      <p:cBhvr additive="base">
                                        <p:cTn id="88" dur="500" fill="hold"/>
                                        <p:tgtEl>
                                          <p:spTgt spid="11369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73" grpId="0" animBg="1" autoUpdateAnimBg="0"/>
      <p:bldP spid="113677" grpId="0" animBg="1" autoUpdateAnimBg="0"/>
      <p:bldP spid="113690" grpId="0" animBg="1" autoUpdateAnimBg="0"/>
      <p:bldP spid="113691" grpId="0" animBg="1" autoUpdateAnimBg="0"/>
      <p:bldP spid="113692" grpId="0" animBg="1" autoUpdateAnimBg="0"/>
      <p:bldP spid="113696" grpId="0" animBg="1" autoUpdateAnimBg="0"/>
      <p:bldP spid="113697" grpId="0" animBg="1" autoUpdateAnimBg="0"/>
      <p:bldP spid="113698" grpId="0" animBg="1" autoUpdateAnimBg="0"/>
      <p:bldP spid="113699" grpId="0" animBg="1" autoUpdateAnimBg="0"/>
      <p:bldP spid="113700"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654BC0D1-00A9-4893-8A82-4BFB6B13C205}" type="slidenum">
              <a:rPr kumimoji="0" lang="en-US" altLang="zh-CN" sz="1400"/>
              <a:pPr>
                <a:spcBef>
                  <a:spcPct val="0"/>
                </a:spcBef>
                <a:buClrTx/>
                <a:buSzTx/>
                <a:buFontTx/>
                <a:buNone/>
              </a:pPr>
              <a:t>13</a:t>
            </a:fld>
            <a:endParaRPr kumimoji="0" lang="en-US" altLang="zh-CN" sz="1400"/>
          </a:p>
        </p:txBody>
      </p:sp>
      <p:sp>
        <p:nvSpPr>
          <p:cNvPr id="16387" name="Rectangle 2"/>
          <p:cNvSpPr>
            <a:spLocks noGrp="1" noChangeArrowheads="1"/>
          </p:cNvSpPr>
          <p:nvPr>
            <p:ph type="title"/>
          </p:nvPr>
        </p:nvSpPr>
        <p:spPr>
          <a:xfrm>
            <a:off x="446088" y="620688"/>
            <a:ext cx="8229600" cy="1143000"/>
          </a:xfrm>
        </p:spPr>
        <p:txBody>
          <a:bodyPr/>
          <a:lstStyle/>
          <a:p>
            <a:pPr eaLnBrk="1" hangingPunct="1"/>
            <a:r>
              <a:rPr lang="zh-CN" altLang="en-US" sz="3600" b="1" dirty="0"/>
              <a:t>课程学习特点</a:t>
            </a:r>
          </a:p>
        </p:txBody>
      </p:sp>
      <p:sp>
        <p:nvSpPr>
          <p:cNvPr id="16388" name="Rectangle 3"/>
          <p:cNvSpPr>
            <a:spLocks noGrp="1" noChangeArrowheads="1"/>
          </p:cNvSpPr>
          <p:nvPr>
            <p:ph type="body" idx="1"/>
          </p:nvPr>
        </p:nvSpPr>
        <p:spPr>
          <a:xfrm>
            <a:off x="527720" y="1539874"/>
            <a:ext cx="8280400" cy="2825230"/>
          </a:xfrm>
        </p:spPr>
        <p:txBody>
          <a:bodyPr/>
          <a:lstStyle/>
          <a:p>
            <a:pPr eaLnBrk="1" hangingPunct="1"/>
            <a:r>
              <a:rPr lang="zh-CN" altLang="en-US" sz="2400" dirty="0">
                <a:latin typeface="华文中宋" panose="02010600040101010101" pitchFamily="2" charset="-122"/>
                <a:ea typeface="华文中宋" panose="02010600040101010101" pitchFamily="2" charset="-122"/>
              </a:rPr>
              <a:t>电力拖动是一门既带专业性又带基础性的课程。在电机拖动中要求</a:t>
            </a:r>
            <a:r>
              <a:rPr lang="zh-CN" altLang="en-US" sz="2400" b="1" dirty="0">
                <a:solidFill>
                  <a:schemeClr val="accent2"/>
                </a:solidFill>
                <a:latin typeface="华文中宋" panose="02010600040101010101" pitchFamily="2" charset="-122"/>
                <a:ea typeface="华文中宋" panose="02010600040101010101" pitchFamily="2" charset="-122"/>
              </a:rPr>
              <a:t>运用理论分析来解决实际问题</a:t>
            </a:r>
            <a:r>
              <a:rPr lang="zh-CN" altLang="en-US" sz="2400" dirty="0">
                <a:latin typeface="华文中宋" panose="02010600040101010101" pitchFamily="2" charset="-122"/>
                <a:ea typeface="华文中宋" panose="02010600040101010101" pitchFamily="2" charset="-122"/>
              </a:rPr>
              <a:t>，而实际问题的客观情况常常是比较复杂、综合的。因此在分析时，有必要</a:t>
            </a:r>
            <a:r>
              <a:rPr lang="zh-CN" altLang="en-US" sz="2400" b="1" dirty="0">
                <a:solidFill>
                  <a:srgbClr val="FF3300"/>
                </a:solidFill>
                <a:latin typeface="楷体_GB2312" pitchFamily="49" charset="-122"/>
                <a:ea typeface="楷体_GB2312" pitchFamily="49" charset="-122"/>
              </a:rPr>
              <a:t>先将问题简单化，找出主要矛盾</a:t>
            </a:r>
            <a:r>
              <a:rPr lang="zh-CN" altLang="en-US" sz="2400" dirty="0">
                <a:latin typeface="华文中宋" panose="02010600040101010101" pitchFamily="2" charset="-122"/>
                <a:ea typeface="华文中宋" panose="02010600040101010101" pitchFamily="2" charset="-122"/>
              </a:rPr>
              <a:t>，运用理论加以解决，这样得到的结论已经足以正确反映客观规律，当然还有一定程度的近似性。有需要时，再深入分析较次要的矛盾，得到更精确的解答。</a:t>
            </a:r>
            <a:r>
              <a:rPr lang="zh-CN" altLang="en-US" dirty="0">
                <a:latin typeface="华文中宋" panose="02010600040101010101" pitchFamily="2" charset="-122"/>
                <a:ea typeface="华文中宋" panose="02010600040101010101" pitchFamily="2" charset="-122"/>
              </a:rPr>
              <a:t> </a:t>
            </a:r>
          </a:p>
        </p:txBody>
      </p:sp>
      <p:sp>
        <p:nvSpPr>
          <p:cNvPr id="112644" name="Text Box 4"/>
          <p:cNvSpPr txBox="1">
            <a:spLocks noChangeArrowheads="1"/>
          </p:cNvSpPr>
          <p:nvPr/>
        </p:nvSpPr>
        <p:spPr bwMode="auto">
          <a:xfrm>
            <a:off x="520700" y="4541837"/>
            <a:ext cx="8154988" cy="194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400" b="1" dirty="0">
                <a:ea typeface="楷体_GB2312" pitchFamily="49" charset="-122"/>
              </a:rPr>
              <a:t>在学习课程时要处处从实际出发考虑，不要仅仅满足于公式中数学上的关系，必须</a:t>
            </a:r>
            <a:r>
              <a:rPr lang="zh-CN" altLang="en-US" sz="2400" b="1" dirty="0">
                <a:solidFill>
                  <a:srgbClr val="3333CC"/>
                </a:solidFill>
                <a:ea typeface="楷体_GB2312" pitchFamily="49" charset="-122"/>
              </a:rPr>
              <a:t>通过公式的符号看到它们所代表的物理量之间的关系</a:t>
            </a:r>
            <a:r>
              <a:rPr lang="zh-CN" altLang="en-US" sz="2400" b="1" dirty="0">
                <a:ea typeface="楷体_GB2312" pitchFamily="49" charset="-122"/>
              </a:rPr>
              <a:t>，同时</a:t>
            </a:r>
            <a:r>
              <a:rPr lang="zh-CN" altLang="en-US" sz="2400" b="1" dirty="0">
                <a:solidFill>
                  <a:srgbClr val="FF3300"/>
                </a:solidFill>
                <a:ea typeface="楷体_GB2312" pitchFamily="49" charset="-122"/>
              </a:rPr>
              <a:t>重视数学计算，重视实验</a:t>
            </a:r>
            <a:r>
              <a:rPr lang="zh-CN" altLang="en-US" sz="2400" b="1" dirty="0">
                <a:ea typeface="楷体_GB2312" pitchFamily="49" charset="-122"/>
              </a:rPr>
              <a:t>。</a:t>
            </a:r>
            <a:endParaRPr lang="en-US" altLang="zh-CN" sz="2400" b="1" dirty="0">
              <a:ea typeface="楷体_GB2312" pitchFamily="49" charset="-122"/>
            </a:endParaRPr>
          </a:p>
          <a:p>
            <a:pPr eaLnBrk="1" hangingPunct="1">
              <a:spcBef>
                <a:spcPct val="0"/>
              </a:spcBef>
              <a:buClrTx/>
              <a:buSzTx/>
              <a:buFontTx/>
              <a:buNone/>
            </a:pPr>
            <a:endParaRPr lang="en-US" altLang="zh-CN" sz="2400" b="1" dirty="0">
              <a:ea typeface="楷体_GB2312" pitchFamily="49" charset="-122"/>
            </a:endParaRPr>
          </a:p>
          <a:p>
            <a:pPr eaLnBrk="1" hangingPunct="1">
              <a:spcBef>
                <a:spcPct val="0"/>
              </a:spcBef>
              <a:buClrTx/>
              <a:buSzTx/>
              <a:buFontTx/>
              <a:buNone/>
            </a:pPr>
            <a:r>
              <a:rPr lang="zh-CN" altLang="en-US" sz="2400" b="1" dirty="0">
                <a:ea typeface="楷体_GB2312" pitchFamily="49" charset="-122"/>
              </a:rPr>
              <a:t>思维方式和常识活化的历练</a:t>
            </a:r>
            <a:r>
              <a:rPr lang="en-US" altLang="zh-CN" sz="2400" b="1" dirty="0">
                <a:ea typeface="楷体_GB2312" pitchFamily="49" charset="-122"/>
              </a:rPr>
              <a:t>----</a:t>
            </a:r>
            <a:r>
              <a:rPr lang="zh-CN" altLang="en-US" sz="2400" b="1" dirty="0">
                <a:ea typeface="楷体_GB2312" pitchFamily="49" charset="-122"/>
              </a:rPr>
              <a:t>电机与拖动。</a:t>
            </a:r>
          </a:p>
        </p:txBody>
      </p:sp>
      <p:sp>
        <p:nvSpPr>
          <p:cNvPr id="5" name="日期占位符 4">
            <a:extLst>
              <a:ext uri="{FF2B5EF4-FFF2-40B4-BE49-F238E27FC236}">
                <a16:creationId xmlns:a16="http://schemas.microsoft.com/office/drawing/2014/main" id="{B3227F08-13F5-747A-33B4-D08E5353063F}"/>
              </a:ext>
            </a:extLst>
          </p:cNvPr>
          <p:cNvSpPr>
            <a:spLocks noGrp="1"/>
          </p:cNvSpPr>
          <p:nvPr>
            <p:ph type="dt" sz="half" idx="10"/>
          </p:nvPr>
        </p:nvSpPr>
        <p:spPr/>
        <p:txBody>
          <a:bodyPr/>
          <a:lstStyle/>
          <a:p>
            <a:fld id="{79204E1D-CDBF-42A7-BAA8-FA3750DC2370}" type="datetime10">
              <a:rPr lang="en-US" altLang="zh-CN" smtClean="0"/>
              <a:t>16:53</a:t>
            </a:fld>
            <a:endParaRPr lang="en-US" altLang="zh-CN"/>
          </a:p>
        </p:txBody>
      </p:sp>
    </p:spTree>
    <p:extLst>
      <p:ext uri="{BB962C8B-B14F-4D97-AF65-F5344CB8AC3E}">
        <p14:creationId xmlns:p14="http://schemas.microsoft.com/office/powerpoint/2010/main" val="3673034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2644"/>
                                        </p:tgtEl>
                                        <p:attrNameLst>
                                          <p:attrName>style.visibility</p:attrName>
                                        </p:attrNameLst>
                                      </p:cBhvr>
                                      <p:to>
                                        <p:strVal val="visible"/>
                                      </p:to>
                                    </p:set>
                                    <p:animEffect transition="in" filter="blinds(horizontal)">
                                      <p:cBhvr>
                                        <p:cTn id="7" dur="500"/>
                                        <p:tgtEl>
                                          <p:spTgt spid="1126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4"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15DB6766-AE85-4A83-83BE-1523A0119BB8}" type="slidenum">
              <a:rPr kumimoji="0" lang="en-US" altLang="zh-CN" sz="1400"/>
              <a:pPr>
                <a:spcBef>
                  <a:spcPct val="0"/>
                </a:spcBef>
                <a:buClrTx/>
                <a:buSzTx/>
                <a:buFontTx/>
                <a:buNone/>
              </a:pPr>
              <a:t>14</a:t>
            </a:fld>
            <a:endParaRPr kumimoji="0" lang="en-US" altLang="zh-CN" sz="1400" dirty="0"/>
          </a:p>
        </p:txBody>
      </p:sp>
      <p:sp>
        <p:nvSpPr>
          <p:cNvPr id="17411" name="Rectangle 2"/>
          <p:cNvSpPr>
            <a:spLocks noGrp="1" noChangeArrowheads="1"/>
          </p:cNvSpPr>
          <p:nvPr>
            <p:ph type="title"/>
          </p:nvPr>
        </p:nvSpPr>
        <p:spPr>
          <a:xfrm>
            <a:off x="457200" y="549276"/>
            <a:ext cx="8229600" cy="1143000"/>
          </a:xfrm>
        </p:spPr>
        <p:txBody>
          <a:bodyPr/>
          <a:lstStyle/>
          <a:p>
            <a:pPr eaLnBrk="1" hangingPunct="1"/>
            <a:r>
              <a:rPr lang="zh-CN" altLang="en-US" sz="3600" b="1" dirty="0"/>
              <a:t>学习重点</a:t>
            </a:r>
          </a:p>
        </p:txBody>
      </p:sp>
      <p:sp>
        <p:nvSpPr>
          <p:cNvPr id="17412" name="Rectangle 3"/>
          <p:cNvSpPr>
            <a:spLocks noGrp="1" noChangeArrowheads="1"/>
          </p:cNvSpPr>
          <p:nvPr>
            <p:ph type="body" idx="1"/>
          </p:nvPr>
        </p:nvSpPr>
        <p:spPr>
          <a:xfrm>
            <a:off x="755650" y="1544638"/>
            <a:ext cx="8064500" cy="4752975"/>
          </a:xfrm>
        </p:spPr>
        <p:txBody>
          <a:bodyPr/>
          <a:lstStyle/>
          <a:p>
            <a:pPr>
              <a:lnSpc>
                <a:spcPct val="90000"/>
              </a:lnSpc>
              <a:defRPr/>
            </a:pPr>
            <a:r>
              <a:rPr lang="zh-CN" altLang="en-US" sz="2800" dirty="0">
                <a:latin typeface="华文楷体" panose="02010600040101010101" pitchFamily="2" charset="-122"/>
                <a:ea typeface="华文楷体" panose="02010600040101010101" pitchFamily="2" charset="-122"/>
              </a:rPr>
              <a:t>本课程是自动化专业的</a:t>
            </a:r>
            <a:r>
              <a:rPr lang="zh-CN" altLang="en-US" sz="2800" dirty="0">
                <a:solidFill>
                  <a:srgbClr val="FF0000"/>
                </a:solidFill>
                <a:latin typeface="华文楷体" panose="02010600040101010101" pitchFamily="2" charset="-122"/>
                <a:ea typeface="华文楷体" panose="02010600040101010101" pitchFamily="2" charset="-122"/>
              </a:rPr>
              <a:t>基础</a:t>
            </a:r>
            <a:r>
              <a:rPr lang="zh-CN" altLang="en-US" sz="2800" dirty="0">
                <a:latin typeface="华文楷体" panose="02010600040101010101" pitchFamily="2" charset="-122"/>
                <a:ea typeface="华文楷体" panose="02010600040101010101" pitchFamily="2" charset="-122"/>
              </a:rPr>
              <a:t>，描述</a:t>
            </a:r>
            <a:r>
              <a:rPr lang="zh-CN" altLang="en-US" sz="2800" dirty="0">
                <a:solidFill>
                  <a:srgbClr val="FF0000"/>
                </a:solidFill>
                <a:latin typeface="华文楷体" panose="02010600040101010101" pitchFamily="2" charset="-122"/>
                <a:ea typeface="华文楷体" panose="02010600040101010101" pitchFamily="2" charset="-122"/>
              </a:rPr>
              <a:t>问题或对象进行认知思辨分析的过程</a:t>
            </a:r>
            <a:r>
              <a:rPr lang="zh-CN" altLang="en-US" sz="2800" dirty="0">
                <a:latin typeface="华文楷体" panose="02010600040101010101" pitchFamily="2" charset="-122"/>
                <a:ea typeface="华文楷体" panose="02010600040101010101" pitchFamily="2" charset="-122"/>
              </a:rPr>
              <a:t>，突出</a:t>
            </a:r>
            <a:r>
              <a:rPr lang="zh-CN" altLang="en-US" sz="2800" b="1" dirty="0">
                <a:solidFill>
                  <a:srgbClr val="FF0000"/>
                </a:solidFill>
                <a:latin typeface="华文楷体" panose="02010600040101010101" pitchFamily="2" charset="-122"/>
                <a:ea typeface="华文楷体" panose="02010600040101010101" pitchFamily="2" charset="-122"/>
              </a:rPr>
              <a:t>实现控制</a:t>
            </a:r>
            <a:r>
              <a:rPr lang="zh-CN" altLang="en-US" sz="2800" dirty="0">
                <a:latin typeface="华文楷体" panose="02010600040101010101" pitchFamily="2" charset="-122"/>
                <a:ea typeface="华文楷体" panose="02010600040101010101" pitchFamily="2" charset="-122"/>
              </a:rPr>
              <a:t>的特点，侧重点放在</a:t>
            </a:r>
            <a:r>
              <a:rPr lang="zh-CN" altLang="en-US" sz="2800" b="1" dirty="0">
                <a:solidFill>
                  <a:srgbClr val="3333CC"/>
                </a:solidFill>
                <a:latin typeface="华文楷体" panose="02010600040101010101" pitchFamily="2" charset="-122"/>
                <a:ea typeface="华文楷体" panose="02010600040101010101" pitchFamily="2" charset="-122"/>
              </a:rPr>
              <a:t>电机运行原理、模型、相关电磁与机械参数关系、电动机能量变换与机电特性</a:t>
            </a:r>
            <a:r>
              <a:rPr lang="zh-CN" altLang="en-US" sz="2800" b="1" dirty="0">
                <a:latin typeface="华文楷体" panose="02010600040101010101" pitchFamily="2" charset="-122"/>
                <a:ea typeface="华文楷体" panose="02010600040101010101" pitchFamily="2" charset="-122"/>
              </a:rPr>
              <a:t>、</a:t>
            </a:r>
            <a:r>
              <a:rPr lang="zh-CN" altLang="en-US" sz="2800" b="1" dirty="0">
                <a:solidFill>
                  <a:srgbClr val="3333CC"/>
                </a:solidFill>
                <a:latin typeface="华文楷体" panose="02010600040101010101" pitchFamily="2" charset="-122"/>
                <a:ea typeface="华文楷体" panose="02010600040101010101" pitchFamily="2" charset="-122"/>
              </a:rPr>
              <a:t>控制特性和方法的分析</a:t>
            </a:r>
            <a:r>
              <a:rPr lang="zh-CN" altLang="en-US" sz="2800" dirty="0">
                <a:latin typeface="华文楷体" panose="02010600040101010101" pitchFamily="2" charset="-122"/>
                <a:ea typeface="华文楷体" panose="02010600040101010101" pitchFamily="2" charset="-122"/>
              </a:rPr>
              <a:t>方面，对交、直流电机作为电动机用作电力拖动运行时的</a:t>
            </a:r>
            <a:r>
              <a:rPr lang="zh-CN" altLang="en-US" sz="2800" b="1" dirty="0">
                <a:solidFill>
                  <a:srgbClr val="3333CC"/>
                </a:solidFill>
                <a:latin typeface="华文楷体" panose="02010600040101010101" pitchFamily="2" charset="-122"/>
                <a:ea typeface="华文楷体" panose="02010600040101010101" pitchFamily="2" charset="-122"/>
              </a:rPr>
              <a:t>运行原理、动、静态数学模型、开环状态下电动机的起动、调速和快速制动的基本方法</a:t>
            </a:r>
            <a:r>
              <a:rPr lang="zh-CN" altLang="en-US" sz="2800" dirty="0">
                <a:latin typeface="华文楷体" panose="02010600040101010101" pitchFamily="2" charset="-122"/>
                <a:ea typeface="华文楷体" panose="02010600040101010101" pitchFamily="2" charset="-122"/>
              </a:rPr>
              <a:t>作深入、详细讨论，为实现它们的自动化闭环控制奠定基础。 </a:t>
            </a:r>
            <a:endParaRPr lang="en-US" altLang="zh-CN" sz="2800" dirty="0">
              <a:latin typeface="华文楷体" panose="02010600040101010101" pitchFamily="2" charset="-122"/>
              <a:ea typeface="华文楷体" panose="02010600040101010101" pitchFamily="2" charset="-122"/>
            </a:endParaRPr>
          </a:p>
          <a:p>
            <a:pPr eaLnBrk="1" hangingPunct="1">
              <a:lnSpc>
                <a:spcPct val="90000"/>
              </a:lnSpc>
              <a:defRPr/>
            </a:pPr>
            <a:r>
              <a:rPr lang="zh-CN" altLang="en-US" sz="2800" dirty="0">
                <a:latin typeface="华文楷体" panose="02010600040101010101" pitchFamily="2" charset="-122"/>
                <a:ea typeface="华文楷体" panose="02010600040101010101" pitchFamily="2" charset="-122"/>
              </a:rPr>
              <a:t>学习思考问题的方法：</a:t>
            </a:r>
            <a:r>
              <a:rPr lang="en-US" altLang="zh-CN" sz="2800" dirty="0">
                <a:latin typeface="华文楷体" panose="02010600040101010101" pitchFamily="2" charset="-122"/>
                <a:ea typeface="华文楷体" panose="02010600040101010101" pitchFamily="2" charset="-122"/>
              </a:rPr>
              <a:t>where</a:t>
            </a:r>
            <a:r>
              <a:rPr lang="zh-CN" altLang="en-US" sz="2800" dirty="0">
                <a:latin typeface="华文楷体" panose="02010600040101010101" pitchFamily="2" charset="-122"/>
                <a:ea typeface="华文楷体" panose="02010600040101010101" pitchFamily="2" charset="-122"/>
              </a:rPr>
              <a:t>（发现描述问题）、</a:t>
            </a:r>
            <a:r>
              <a:rPr lang="en-US" altLang="zh-CN" sz="2800" dirty="0">
                <a:latin typeface="华文楷体" panose="02010600040101010101" pitchFamily="2" charset="-122"/>
                <a:ea typeface="华文楷体" panose="02010600040101010101" pitchFamily="2" charset="-122"/>
              </a:rPr>
              <a:t>what</a:t>
            </a:r>
            <a:r>
              <a:rPr lang="zh-CN" altLang="en-US" sz="2800" dirty="0">
                <a:latin typeface="华文楷体" panose="02010600040101010101" pitchFamily="2" charset="-122"/>
                <a:ea typeface="华文楷体" panose="02010600040101010101" pitchFamily="2" charset="-122"/>
              </a:rPr>
              <a:t>（视角认识问题）、</a:t>
            </a:r>
            <a:r>
              <a:rPr lang="en-US" altLang="zh-CN" sz="2800" dirty="0">
                <a:latin typeface="华文楷体" panose="02010600040101010101" pitchFamily="2" charset="-122"/>
                <a:ea typeface="华文楷体" panose="02010600040101010101" pitchFamily="2" charset="-122"/>
              </a:rPr>
              <a:t>how</a:t>
            </a:r>
            <a:r>
              <a:rPr lang="zh-CN" altLang="en-US" sz="2800" dirty="0">
                <a:latin typeface="华文楷体" panose="02010600040101010101" pitchFamily="2" charset="-122"/>
                <a:ea typeface="华文楷体" panose="02010600040101010101" pitchFamily="2" charset="-122"/>
              </a:rPr>
              <a:t>（工具分析问题）。</a:t>
            </a:r>
          </a:p>
        </p:txBody>
      </p:sp>
      <p:sp>
        <p:nvSpPr>
          <p:cNvPr id="5" name="日期占位符 4">
            <a:extLst>
              <a:ext uri="{FF2B5EF4-FFF2-40B4-BE49-F238E27FC236}">
                <a16:creationId xmlns:a16="http://schemas.microsoft.com/office/drawing/2014/main" id="{5FA129C6-4593-37AA-A52E-E66A4BD98925}"/>
              </a:ext>
            </a:extLst>
          </p:cNvPr>
          <p:cNvSpPr>
            <a:spLocks noGrp="1"/>
          </p:cNvSpPr>
          <p:nvPr>
            <p:ph type="dt" sz="half" idx="10"/>
          </p:nvPr>
        </p:nvSpPr>
        <p:spPr/>
        <p:txBody>
          <a:bodyPr/>
          <a:lstStyle/>
          <a:p>
            <a:fld id="{35120147-1277-4A55-83BF-68CA85819F49}" type="datetime10">
              <a:rPr lang="en-US" altLang="zh-CN" smtClean="0"/>
              <a:t>16:53</a:t>
            </a:fld>
            <a:endParaRPr lang="en-US" altLang="zh-CN"/>
          </a:p>
        </p:txBody>
      </p:sp>
    </p:spTree>
    <p:extLst>
      <p:ext uri="{BB962C8B-B14F-4D97-AF65-F5344CB8AC3E}">
        <p14:creationId xmlns:p14="http://schemas.microsoft.com/office/powerpoint/2010/main" val="24566748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1844824"/>
            <a:ext cx="9144000" cy="2409131"/>
          </a:xfrm>
        </p:spPr>
        <p:txBody>
          <a:bodyPr/>
          <a:lstStyle/>
          <a:p>
            <a:pPr marL="0" indent="0" algn="ctr">
              <a:buNone/>
            </a:pPr>
            <a:r>
              <a:rPr lang="zh-CN" altLang="zh-CN" sz="4800" b="1" dirty="0"/>
              <a:t>§</a:t>
            </a:r>
            <a:r>
              <a:rPr lang="en-US" altLang="zh-CN" sz="4800" b="1" dirty="0"/>
              <a:t>2</a:t>
            </a:r>
            <a:r>
              <a:rPr lang="zh-CN" altLang="zh-CN" sz="4800" b="1" dirty="0"/>
              <a:t>直流电动机原理</a:t>
            </a:r>
            <a:r>
              <a:rPr lang="en-US" altLang="zh-CN" sz="4800" dirty="0"/>
              <a:t>                     </a:t>
            </a:r>
            <a:r>
              <a:rPr lang="en-US" altLang="zh-CN" sz="4800" b="1" dirty="0"/>
              <a:t> </a:t>
            </a:r>
            <a:r>
              <a:rPr lang="en-US" altLang="zh-CN" sz="4400" b="1" dirty="0"/>
              <a:t>(Direct-Current Motors Principle)</a:t>
            </a:r>
            <a:endParaRPr lang="zh-CN" altLang="zh-CN" sz="4400" dirty="0"/>
          </a:p>
        </p:txBody>
      </p:sp>
      <p:sp>
        <p:nvSpPr>
          <p:cNvPr id="7" name="日期占位符 6">
            <a:extLst>
              <a:ext uri="{FF2B5EF4-FFF2-40B4-BE49-F238E27FC236}">
                <a16:creationId xmlns:a16="http://schemas.microsoft.com/office/drawing/2014/main" id="{8B5E9E91-9230-9927-D81B-295D06F9AEAF}"/>
              </a:ext>
            </a:extLst>
          </p:cNvPr>
          <p:cNvSpPr>
            <a:spLocks noGrp="1"/>
          </p:cNvSpPr>
          <p:nvPr>
            <p:ph type="dt" sz="half" idx="10"/>
          </p:nvPr>
        </p:nvSpPr>
        <p:spPr/>
        <p:txBody>
          <a:bodyPr/>
          <a:lstStyle/>
          <a:p>
            <a:fld id="{E9694A9B-A0A9-4483-A40B-87B4CEF70F1A}" type="datetime10">
              <a:rPr lang="en-US" altLang="zh-CN" smtClean="0"/>
              <a:t>16:53</a:t>
            </a:fld>
            <a:endParaRPr lang="en-US" altLang="zh-CN"/>
          </a:p>
        </p:txBody>
      </p:sp>
      <p:sp>
        <p:nvSpPr>
          <p:cNvPr id="8" name="灯片编号占位符 7">
            <a:extLst>
              <a:ext uri="{FF2B5EF4-FFF2-40B4-BE49-F238E27FC236}">
                <a16:creationId xmlns:a16="http://schemas.microsoft.com/office/drawing/2014/main" id="{59E9F5BB-2F02-B5FC-176D-7F2BB04591CB}"/>
              </a:ext>
            </a:extLst>
          </p:cNvPr>
          <p:cNvSpPr>
            <a:spLocks noGrp="1"/>
          </p:cNvSpPr>
          <p:nvPr>
            <p:ph type="sldNum" sz="quarter" idx="12"/>
          </p:nvPr>
        </p:nvSpPr>
        <p:spPr/>
        <p:txBody>
          <a:bodyPr/>
          <a:lstStyle/>
          <a:p>
            <a:fld id="{B73B34B3-1432-4053-90C7-E0228297BE5F}" type="slidenum">
              <a:rPr lang="en-US" altLang="zh-CN" smtClean="0"/>
              <a:pPr/>
              <a:t>15</a:t>
            </a:fld>
            <a:endParaRPr lang="en-US" altLang="zh-CN"/>
          </a:p>
        </p:txBody>
      </p:sp>
    </p:spTree>
    <p:extLst>
      <p:ext uri="{BB962C8B-B14F-4D97-AF65-F5344CB8AC3E}">
        <p14:creationId xmlns:p14="http://schemas.microsoft.com/office/powerpoint/2010/main" val="31176893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lgn="ctr">
              <a:buNone/>
            </a:pPr>
            <a:r>
              <a:rPr lang="zh-CN" altLang="zh-CN" sz="5400" b="1" dirty="0">
                <a:solidFill>
                  <a:srgbClr val="C00000"/>
                </a:solidFill>
              </a:rPr>
              <a:t>思考问题：</a:t>
            </a:r>
            <a:endParaRPr lang="en-US" altLang="zh-CN" sz="5400" b="1" dirty="0">
              <a:solidFill>
                <a:srgbClr val="C00000"/>
              </a:solidFill>
            </a:endParaRPr>
          </a:p>
          <a:p>
            <a:r>
              <a:rPr lang="zh-CN" altLang="zh-CN" sz="4000" dirty="0">
                <a:solidFill>
                  <a:srgbClr val="0000CC"/>
                </a:solidFill>
                <a:latin typeface="华文楷体" panose="02010600040101010101" pitchFamily="2" charset="-122"/>
                <a:ea typeface="华文楷体" panose="02010600040101010101" pitchFamily="2" charset="-122"/>
              </a:rPr>
              <a:t>为什么大部分电机是旋转运动的？</a:t>
            </a:r>
            <a:endParaRPr lang="en-US" altLang="zh-CN" sz="4000" dirty="0">
              <a:solidFill>
                <a:srgbClr val="0000CC"/>
              </a:solidFill>
              <a:latin typeface="华文楷体" panose="02010600040101010101" pitchFamily="2" charset="-122"/>
              <a:ea typeface="华文楷体" panose="02010600040101010101" pitchFamily="2" charset="-122"/>
            </a:endParaRPr>
          </a:p>
          <a:p>
            <a:r>
              <a:rPr lang="zh-CN" altLang="zh-CN" sz="4000" dirty="0">
                <a:solidFill>
                  <a:srgbClr val="0000CC"/>
                </a:solidFill>
                <a:latin typeface="华文楷体" panose="02010600040101010101" pitchFamily="2" charset="-122"/>
                <a:ea typeface="华文楷体" panose="02010600040101010101" pitchFamily="2" charset="-122"/>
              </a:rPr>
              <a:t>如何深入认识这个问题的</a:t>
            </a:r>
            <a:r>
              <a:rPr lang="zh-CN" altLang="en-US" sz="4000" dirty="0">
                <a:solidFill>
                  <a:srgbClr val="0000CC"/>
                </a:solidFill>
                <a:latin typeface="华文楷体" panose="02010600040101010101" pitchFamily="2" charset="-122"/>
                <a:ea typeface="华文楷体" panose="02010600040101010101" pitchFamily="2" charset="-122"/>
              </a:rPr>
              <a:t>需求</a:t>
            </a:r>
            <a:r>
              <a:rPr lang="zh-CN" altLang="zh-CN" sz="4000" dirty="0">
                <a:solidFill>
                  <a:srgbClr val="0000CC"/>
                </a:solidFill>
                <a:latin typeface="华文楷体" panose="02010600040101010101" pitchFamily="2" charset="-122"/>
                <a:ea typeface="华文楷体" panose="02010600040101010101" pitchFamily="2" charset="-122"/>
              </a:rPr>
              <a:t>特征？</a:t>
            </a:r>
            <a:endParaRPr lang="en-US" altLang="zh-CN" sz="4000" dirty="0">
              <a:solidFill>
                <a:srgbClr val="0000CC"/>
              </a:solidFill>
              <a:latin typeface="华文楷体" panose="02010600040101010101" pitchFamily="2" charset="-122"/>
              <a:ea typeface="华文楷体" panose="02010600040101010101" pitchFamily="2" charset="-122"/>
            </a:endParaRPr>
          </a:p>
          <a:p>
            <a:r>
              <a:rPr lang="zh-CN" altLang="zh-CN" sz="4000" dirty="0">
                <a:solidFill>
                  <a:srgbClr val="0000CC"/>
                </a:solidFill>
                <a:latin typeface="华文楷体" panose="02010600040101010101" pitchFamily="2" charset="-122"/>
                <a:ea typeface="华文楷体" panose="02010600040101010101" pitchFamily="2" charset="-122"/>
              </a:rPr>
              <a:t>如何</a:t>
            </a:r>
            <a:r>
              <a:rPr lang="zh-CN" altLang="en-US" sz="4000" dirty="0">
                <a:solidFill>
                  <a:srgbClr val="0000CC"/>
                </a:solidFill>
                <a:latin typeface="华文楷体" panose="02010600040101010101" pitchFamily="2" charset="-122"/>
                <a:ea typeface="华文楷体" panose="02010600040101010101" pitchFamily="2" charset="-122"/>
              </a:rPr>
              <a:t>分析</a:t>
            </a:r>
            <a:r>
              <a:rPr lang="zh-CN" altLang="zh-CN" sz="4000" dirty="0">
                <a:solidFill>
                  <a:srgbClr val="0000CC"/>
                </a:solidFill>
                <a:latin typeface="华文楷体" panose="02010600040101010101" pitchFamily="2" charset="-122"/>
                <a:ea typeface="华文楷体" panose="02010600040101010101" pitchFamily="2" charset="-122"/>
              </a:rPr>
              <a:t>解决这一问题的关键因素？</a:t>
            </a:r>
            <a:endParaRPr lang="zh-CN" altLang="en-US" sz="4000" dirty="0">
              <a:solidFill>
                <a:srgbClr val="0000CC"/>
              </a:solidFill>
              <a:latin typeface="华文楷体" panose="02010600040101010101" pitchFamily="2" charset="-122"/>
              <a:ea typeface="华文楷体" panose="02010600040101010101" pitchFamily="2" charset="-122"/>
            </a:endParaRPr>
          </a:p>
        </p:txBody>
      </p:sp>
      <p:sp>
        <p:nvSpPr>
          <p:cNvPr id="7" name="日期占位符 6">
            <a:extLst>
              <a:ext uri="{FF2B5EF4-FFF2-40B4-BE49-F238E27FC236}">
                <a16:creationId xmlns:a16="http://schemas.microsoft.com/office/drawing/2014/main" id="{A4BAA32F-20E0-0D9E-8B3E-E557D487E940}"/>
              </a:ext>
            </a:extLst>
          </p:cNvPr>
          <p:cNvSpPr>
            <a:spLocks noGrp="1"/>
          </p:cNvSpPr>
          <p:nvPr>
            <p:ph type="dt" sz="half" idx="10"/>
          </p:nvPr>
        </p:nvSpPr>
        <p:spPr/>
        <p:txBody>
          <a:bodyPr/>
          <a:lstStyle/>
          <a:p>
            <a:fld id="{EE4CF342-B836-4853-9894-BDA855B4ED42}" type="datetime10">
              <a:rPr lang="en-US" altLang="zh-CN" smtClean="0"/>
              <a:t>16:53</a:t>
            </a:fld>
            <a:endParaRPr lang="en-US" altLang="zh-CN"/>
          </a:p>
        </p:txBody>
      </p:sp>
      <p:sp>
        <p:nvSpPr>
          <p:cNvPr id="8" name="灯片编号占位符 7">
            <a:extLst>
              <a:ext uri="{FF2B5EF4-FFF2-40B4-BE49-F238E27FC236}">
                <a16:creationId xmlns:a16="http://schemas.microsoft.com/office/drawing/2014/main" id="{C2AC3BA3-D052-CCD5-3ED9-267CAC626FB7}"/>
              </a:ext>
            </a:extLst>
          </p:cNvPr>
          <p:cNvSpPr>
            <a:spLocks noGrp="1"/>
          </p:cNvSpPr>
          <p:nvPr>
            <p:ph type="sldNum" sz="quarter" idx="12"/>
          </p:nvPr>
        </p:nvSpPr>
        <p:spPr/>
        <p:txBody>
          <a:bodyPr/>
          <a:lstStyle/>
          <a:p>
            <a:fld id="{B73B34B3-1432-4053-90C7-E0228297BE5F}" type="slidenum">
              <a:rPr lang="en-US" altLang="zh-CN" smtClean="0"/>
              <a:pPr/>
              <a:t>16</a:t>
            </a:fld>
            <a:endParaRPr lang="en-US" altLang="zh-CN"/>
          </a:p>
        </p:txBody>
      </p:sp>
    </p:spTree>
    <p:extLst>
      <p:ext uri="{BB962C8B-B14F-4D97-AF65-F5344CB8AC3E}">
        <p14:creationId xmlns:p14="http://schemas.microsoft.com/office/powerpoint/2010/main" val="9803130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6828" y="908720"/>
            <a:ext cx="8229600" cy="1143000"/>
          </a:xfrm>
        </p:spPr>
        <p:txBody>
          <a:bodyPr/>
          <a:lstStyle/>
          <a:p>
            <a:r>
              <a:rPr lang="zh-CN" altLang="zh-CN" sz="3600" b="1" dirty="0"/>
              <a:t>§</a:t>
            </a:r>
            <a:r>
              <a:rPr lang="en-US" altLang="zh-CN" sz="3600" b="1" dirty="0"/>
              <a:t>2</a:t>
            </a:r>
            <a:r>
              <a:rPr lang="zh-CN" altLang="zh-CN" sz="3600" b="1" dirty="0"/>
              <a:t>－</a:t>
            </a:r>
            <a:r>
              <a:rPr lang="en-US" altLang="zh-CN" sz="3600" b="1" dirty="0"/>
              <a:t>1 DCM</a:t>
            </a:r>
            <a:r>
              <a:rPr lang="zh-CN" altLang="zh-CN" sz="3600" b="1" dirty="0"/>
              <a:t>的基本工作原理、结构和额定数据</a:t>
            </a:r>
            <a:endParaRPr lang="zh-CN" altLang="en-US" sz="3600" dirty="0"/>
          </a:p>
        </p:txBody>
      </p:sp>
      <p:sp>
        <p:nvSpPr>
          <p:cNvPr id="4" name="内容占位符 3"/>
          <p:cNvSpPr>
            <a:spLocks noGrp="1"/>
          </p:cNvSpPr>
          <p:nvPr>
            <p:ph idx="1"/>
          </p:nvPr>
        </p:nvSpPr>
        <p:spPr>
          <a:xfrm>
            <a:off x="456828" y="2051720"/>
            <a:ext cx="8229600" cy="4525963"/>
          </a:xfrm>
        </p:spPr>
        <p:txBody>
          <a:bodyPr/>
          <a:lstStyle/>
          <a:p>
            <a:pPr marL="0" indent="0">
              <a:buNone/>
            </a:pPr>
            <a:r>
              <a:rPr lang="zh-CN" altLang="zh-CN" sz="4400" b="1" dirty="0">
                <a:solidFill>
                  <a:srgbClr val="0000CC"/>
                </a:solidFill>
                <a:latin typeface="华文楷体" panose="02010600040101010101" pitchFamily="2" charset="-122"/>
                <a:ea typeface="华文楷体" panose="02010600040101010101" pitchFamily="2" charset="-122"/>
              </a:rPr>
              <a:t>问题出发点：</a:t>
            </a:r>
            <a:endParaRPr lang="zh-CN" altLang="zh-CN" sz="4400" dirty="0">
              <a:solidFill>
                <a:srgbClr val="0000CC"/>
              </a:solidFill>
              <a:latin typeface="华文楷体" panose="02010600040101010101" pitchFamily="2" charset="-122"/>
              <a:ea typeface="华文楷体" panose="02010600040101010101" pitchFamily="2" charset="-122"/>
            </a:endParaRPr>
          </a:p>
          <a:p>
            <a:pPr lvl="0"/>
            <a:r>
              <a:rPr lang="zh-CN" altLang="zh-CN" sz="4400" b="1" dirty="0">
                <a:solidFill>
                  <a:srgbClr val="0000CC"/>
                </a:solidFill>
                <a:latin typeface="华文楷体" panose="02010600040101010101" pitchFamily="2" charset="-122"/>
                <a:ea typeface="华文楷体" panose="02010600040101010101" pitchFamily="2" charset="-122"/>
              </a:rPr>
              <a:t>电机实现能量转换的现实要求与关键因素是什么？电机结构是怎么回事？</a:t>
            </a:r>
            <a:endParaRPr lang="zh-CN" altLang="zh-CN" sz="4400" dirty="0">
              <a:solidFill>
                <a:srgbClr val="0000CC"/>
              </a:solidFill>
              <a:latin typeface="华文楷体" panose="02010600040101010101" pitchFamily="2" charset="-122"/>
              <a:ea typeface="华文楷体" panose="02010600040101010101" pitchFamily="2" charset="-122"/>
            </a:endParaRPr>
          </a:p>
          <a:p>
            <a:pPr lvl="0"/>
            <a:r>
              <a:rPr lang="zh-CN" altLang="zh-CN" sz="4400" b="1" dirty="0">
                <a:solidFill>
                  <a:srgbClr val="0000CC"/>
                </a:solidFill>
                <a:latin typeface="华文楷体" panose="02010600040101010101" pitchFamily="2" charset="-122"/>
                <a:ea typeface="华文楷体" panose="02010600040101010101" pitchFamily="2" charset="-122"/>
              </a:rPr>
              <a:t>电机结构设计分析的关键问题是什么？如何认识？</a:t>
            </a:r>
            <a:endParaRPr lang="zh-CN" altLang="zh-CN" sz="4400" dirty="0">
              <a:solidFill>
                <a:srgbClr val="0000CC"/>
              </a:solidFill>
              <a:latin typeface="华文楷体" panose="02010600040101010101" pitchFamily="2" charset="-122"/>
              <a:ea typeface="华文楷体" panose="02010600040101010101" pitchFamily="2" charset="-122"/>
            </a:endParaRPr>
          </a:p>
          <a:p>
            <a:endParaRPr lang="zh-CN" altLang="en-US" dirty="0"/>
          </a:p>
        </p:txBody>
      </p:sp>
      <p:sp>
        <p:nvSpPr>
          <p:cNvPr id="8" name="日期占位符 7">
            <a:extLst>
              <a:ext uri="{FF2B5EF4-FFF2-40B4-BE49-F238E27FC236}">
                <a16:creationId xmlns:a16="http://schemas.microsoft.com/office/drawing/2014/main" id="{36BF8968-CEDE-C154-1EAA-BCE3B57174A3}"/>
              </a:ext>
            </a:extLst>
          </p:cNvPr>
          <p:cNvSpPr>
            <a:spLocks noGrp="1"/>
          </p:cNvSpPr>
          <p:nvPr>
            <p:ph type="dt" sz="half" idx="10"/>
          </p:nvPr>
        </p:nvSpPr>
        <p:spPr/>
        <p:txBody>
          <a:bodyPr/>
          <a:lstStyle/>
          <a:p>
            <a:fld id="{D4673A4D-472B-4A1C-A5F7-1544E1ED5008}" type="datetime10">
              <a:rPr lang="en-US" altLang="zh-CN" smtClean="0"/>
              <a:t>16:53</a:t>
            </a:fld>
            <a:endParaRPr lang="en-US" altLang="zh-CN"/>
          </a:p>
        </p:txBody>
      </p:sp>
      <p:sp>
        <p:nvSpPr>
          <p:cNvPr id="9" name="灯片编号占位符 8">
            <a:extLst>
              <a:ext uri="{FF2B5EF4-FFF2-40B4-BE49-F238E27FC236}">
                <a16:creationId xmlns:a16="http://schemas.microsoft.com/office/drawing/2014/main" id="{CD08DF98-BF36-99D7-C8DF-E97E30580AD3}"/>
              </a:ext>
            </a:extLst>
          </p:cNvPr>
          <p:cNvSpPr>
            <a:spLocks noGrp="1"/>
          </p:cNvSpPr>
          <p:nvPr>
            <p:ph type="sldNum" sz="quarter" idx="12"/>
          </p:nvPr>
        </p:nvSpPr>
        <p:spPr/>
        <p:txBody>
          <a:bodyPr/>
          <a:lstStyle/>
          <a:p>
            <a:fld id="{B73B34B3-1432-4053-90C7-E0228297BE5F}" type="slidenum">
              <a:rPr lang="en-US" altLang="zh-CN" smtClean="0"/>
              <a:pPr/>
              <a:t>17</a:t>
            </a:fld>
            <a:endParaRPr lang="en-US" altLang="zh-CN"/>
          </a:p>
        </p:txBody>
      </p:sp>
    </p:spTree>
    <p:extLst>
      <p:ext uri="{BB962C8B-B14F-4D97-AF65-F5344CB8AC3E}">
        <p14:creationId xmlns:p14="http://schemas.microsoft.com/office/powerpoint/2010/main" val="36316208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a:spLocks/>
          </p:cNvSpPr>
          <p:nvPr/>
        </p:nvSpPr>
        <p:spPr bwMode="auto">
          <a:xfrm>
            <a:off x="395536" y="1124744"/>
            <a:ext cx="8229600" cy="5256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Tx/>
              <a:buNone/>
            </a:pPr>
            <a:r>
              <a:rPr lang="zh-CN" altLang="en-US" b="1" dirty="0"/>
              <a:t>一</a:t>
            </a:r>
            <a:r>
              <a:rPr lang="zh-CN" altLang="zh-CN" b="1" dirty="0"/>
              <a:t>、基本原理</a:t>
            </a:r>
            <a:endParaRPr lang="zh-CN" altLang="zh-CN" dirty="0"/>
          </a:p>
          <a:p>
            <a:pPr marL="0" indent="0">
              <a:buFontTx/>
              <a:buNone/>
            </a:pPr>
            <a:r>
              <a:rPr lang="zh-CN" altLang="zh-CN" b="1" dirty="0"/>
              <a:t>两个重要公式：</a:t>
            </a:r>
            <a:endParaRPr lang="zh-CN" altLang="zh-CN" dirty="0"/>
          </a:p>
          <a:p>
            <a:pPr marL="0" indent="0">
              <a:buFontTx/>
              <a:buNone/>
            </a:pPr>
            <a:r>
              <a:rPr lang="zh-CN" altLang="en-US" b="1" dirty="0"/>
              <a:t>（</a:t>
            </a:r>
            <a:r>
              <a:rPr lang="en-US" altLang="zh-CN" b="1" dirty="0"/>
              <a:t>1</a:t>
            </a:r>
            <a:r>
              <a:rPr lang="zh-CN" altLang="en-US" b="1" dirty="0"/>
              <a:t>）</a:t>
            </a:r>
            <a:r>
              <a:rPr lang="zh-CN" altLang="zh-CN" b="1" dirty="0"/>
              <a:t>法拉弟电磁感应定律－发电机原理：</a:t>
            </a:r>
            <a:r>
              <a:rPr lang="en-US" altLang="zh-CN" b="1" i="1" dirty="0">
                <a:solidFill>
                  <a:srgbClr val="0000CC"/>
                </a:solidFill>
              </a:rPr>
              <a:t>e = </a:t>
            </a:r>
            <a:r>
              <a:rPr lang="en-US" altLang="zh-CN" b="1" i="1" dirty="0" err="1">
                <a:solidFill>
                  <a:srgbClr val="0000CC"/>
                </a:solidFill>
              </a:rPr>
              <a:t>Blv</a:t>
            </a:r>
            <a:r>
              <a:rPr lang="en-US" altLang="zh-CN" b="1" i="1" dirty="0"/>
              <a:t> </a:t>
            </a:r>
            <a:r>
              <a:rPr lang="en-US" altLang="zh-CN" b="1" dirty="0"/>
              <a:t>(</a:t>
            </a:r>
            <a:r>
              <a:rPr lang="en-US" altLang="zh-CN" b="1" dirty="0" err="1"/>
              <a:t>Faraday</a:t>
            </a:r>
            <a:r>
              <a:rPr lang="en-US" altLang="zh-CN" b="1" baseline="30000" dirty="0" err="1"/>
              <a:t>,</a:t>
            </a:r>
            <a:r>
              <a:rPr lang="en-US" altLang="zh-CN" b="1" dirty="0" err="1"/>
              <a:t>s</a:t>
            </a:r>
            <a:r>
              <a:rPr lang="en-US" altLang="zh-CN" b="1" dirty="0"/>
              <a:t> law of electromagnetic induction </a:t>
            </a:r>
            <a:r>
              <a:rPr lang="zh-CN" altLang="zh-CN" b="1" dirty="0"/>
              <a:t>，</a:t>
            </a:r>
            <a:r>
              <a:rPr lang="en-US" altLang="zh-CN" b="1" dirty="0"/>
              <a:t>In 1831)</a:t>
            </a:r>
          </a:p>
          <a:p>
            <a:pPr marL="0" indent="0">
              <a:buFontTx/>
              <a:buNone/>
            </a:pPr>
            <a:r>
              <a:rPr lang="zh-CN" altLang="zh-CN" dirty="0">
                <a:solidFill>
                  <a:srgbClr val="0000CC"/>
                </a:solidFill>
              </a:rPr>
              <a:t>有效长度</a:t>
            </a:r>
            <a:r>
              <a:rPr lang="zh-CN" altLang="zh-CN" dirty="0"/>
              <a:t>为</a:t>
            </a:r>
            <a:r>
              <a:rPr lang="en-US" altLang="zh-CN" i="1" dirty="0"/>
              <a:t>l</a:t>
            </a:r>
            <a:r>
              <a:rPr lang="zh-CN" altLang="zh-CN" dirty="0"/>
              <a:t>的导体以</a:t>
            </a:r>
            <a:r>
              <a:rPr lang="zh-CN" altLang="zh-CN" dirty="0">
                <a:solidFill>
                  <a:srgbClr val="0000CC"/>
                </a:solidFill>
              </a:rPr>
              <a:t>线速度</a:t>
            </a:r>
            <a:r>
              <a:rPr lang="en-US" altLang="zh-CN" dirty="0"/>
              <a:t>v</a:t>
            </a:r>
            <a:r>
              <a:rPr lang="zh-CN" altLang="zh-CN" dirty="0"/>
              <a:t>在</a:t>
            </a:r>
            <a:r>
              <a:rPr lang="zh-CN" altLang="zh-CN" dirty="0">
                <a:solidFill>
                  <a:srgbClr val="0000CC"/>
                </a:solidFill>
              </a:rPr>
              <a:t>磁通密度</a:t>
            </a:r>
            <a:r>
              <a:rPr lang="zh-CN" altLang="zh-CN" dirty="0"/>
              <a:t>为</a:t>
            </a:r>
            <a:r>
              <a:rPr lang="en-US" altLang="zh-CN" dirty="0"/>
              <a:t>B</a:t>
            </a:r>
            <a:r>
              <a:rPr lang="zh-CN" altLang="zh-CN" dirty="0"/>
              <a:t>的磁场中运动时，导体内将产生感应电动势</a:t>
            </a:r>
            <a:r>
              <a:rPr lang="en-US" altLang="zh-CN" dirty="0"/>
              <a:t>e </a:t>
            </a:r>
            <a:r>
              <a:rPr lang="zh-CN" altLang="zh-CN" dirty="0"/>
              <a:t>，若</a:t>
            </a:r>
            <a:r>
              <a:rPr lang="en-US" altLang="zh-CN" dirty="0">
                <a:solidFill>
                  <a:srgbClr val="0000CC"/>
                </a:solidFill>
              </a:rPr>
              <a:t>B</a:t>
            </a:r>
            <a:r>
              <a:rPr lang="zh-CN" altLang="zh-CN" dirty="0">
                <a:solidFill>
                  <a:srgbClr val="0000CC"/>
                </a:solidFill>
              </a:rPr>
              <a:t>、</a:t>
            </a:r>
            <a:r>
              <a:rPr lang="en-US" altLang="zh-CN" dirty="0">
                <a:solidFill>
                  <a:srgbClr val="0000CC"/>
                </a:solidFill>
              </a:rPr>
              <a:t>l</a:t>
            </a:r>
            <a:r>
              <a:rPr lang="zh-CN" altLang="zh-CN" dirty="0">
                <a:solidFill>
                  <a:srgbClr val="0000CC"/>
                </a:solidFill>
              </a:rPr>
              <a:t>、</a:t>
            </a:r>
            <a:r>
              <a:rPr lang="en-US" altLang="zh-CN" dirty="0">
                <a:solidFill>
                  <a:srgbClr val="0000CC"/>
                </a:solidFill>
              </a:rPr>
              <a:t>v</a:t>
            </a:r>
            <a:r>
              <a:rPr lang="zh-CN" altLang="zh-CN" dirty="0">
                <a:solidFill>
                  <a:srgbClr val="0000CC"/>
                </a:solidFill>
              </a:rPr>
              <a:t>在空间相互垂直</a:t>
            </a:r>
            <a:r>
              <a:rPr lang="zh-CN" altLang="zh-CN" dirty="0"/>
              <a:t>，则</a:t>
            </a:r>
            <a:r>
              <a:rPr lang="en-US" altLang="zh-CN" dirty="0"/>
              <a:t>e</a:t>
            </a:r>
            <a:r>
              <a:rPr lang="zh-CN" altLang="zh-CN" dirty="0"/>
              <a:t>的</a:t>
            </a:r>
            <a:r>
              <a:rPr lang="zh-CN" altLang="zh-CN" dirty="0">
                <a:solidFill>
                  <a:srgbClr val="0000CC"/>
                </a:solidFill>
              </a:rPr>
              <a:t>大小</a:t>
            </a:r>
            <a:r>
              <a:rPr lang="zh-CN" altLang="zh-CN" dirty="0"/>
              <a:t>等于三者的乘积，</a:t>
            </a:r>
            <a:r>
              <a:rPr lang="zh-CN" altLang="zh-CN" dirty="0">
                <a:solidFill>
                  <a:srgbClr val="0000CC"/>
                </a:solidFill>
              </a:rPr>
              <a:t>方向</a:t>
            </a:r>
            <a:r>
              <a:rPr lang="zh-CN" altLang="zh-CN" dirty="0"/>
              <a:t>由</a:t>
            </a:r>
            <a:r>
              <a:rPr lang="zh-CN" altLang="zh-CN" b="1" dirty="0">
                <a:solidFill>
                  <a:srgbClr val="FF0000"/>
                </a:solidFill>
              </a:rPr>
              <a:t>右手定则</a:t>
            </a:r>
            <a:r>
              <a:rPr lang="zh-CN" altLang="zh-CN" dirty="0"/>
              <a:t>确定。</a:t>
            </a:r>
            <a:r>
              <a:rPr lang="en-US" altLang="zh-CN" dirty="0"/>
              <a:t>B</a:t>
            </a:r>
            <a:r>
              <a:rPr lang="zh-CN" altLang="zh-CN" dirty="0"/>
              <a:t>为媒介，</a:t>
            </a:r>
            <a:r>
              <a:rPr lang="zh-CN" altLang="zh-CN" b="1" dirty="0">
                <a:solidFill>
                  <a:srgbClr val="FF0000"/>
                </a:solidFill>
              </a:rPr>
              <a:t>机</a:t>
            </a:r>
            <a:r>
              <a:rPr lang="zh-CN" altLang="en-US" b="1" dirty="0">
                <a:solidFill>
                  <a:srgbClr val="FF0000"/>
                </a:solidFill>
              </a:rPr>
              <a:t>械能</a:t>
            </a:r>
            <a:r>
              <a:rPr lang="zh-CN" altLang="zh-CN" b="1" dirty="0">
                <a:solidFill>
                  <a:srgbClr val="FF0000"/>
                </a:solidFill>
              </a:rPr>
              <a:t>－电</a:t>
            </a:r>
            <a:r>
              <a:rPr lang="zh-CN" altLang="en-US" b="1" dirty="0">
                <a:solidFill>
                  <a:srgbClr val="FF0000"/>
                </a:solidFill>
              </a:rPr>
              <a:t>能</a:t>
            </a:r>
            <a:r>
              <a:rPr lang="zh-CN" altLang="zh-CN" b="1" dirty="0">
                <a:solidFill>
                  <a:srgbClr val="FF0000"/>
                </a:solidFill>
              </a:rPr>
              <a:t>转换</a:t>
            </a:r>
            <a:r>
              <a:rPr lang="zh-CN" altLang="zh-CN" dirty="0"/>
              <a:t>数学描述。</a:t>
            </a:r>
          </a:p>
          <a:p>
            <a:pPr marL="0" indent="0">
              <a:buFontTx/>
              <a:buNone/>
            </a:pPr>
            <a:endParaRPr lang="zh-CN" altLang="zh-CN" dirty="0"/>
          </a:p>
          <a:p>
            <a:endParaRPr lang="zh-CN" altLang="en-US" dirty="0"/>
          </a:p>
        </p:txBody>
      </p:sp>
      <p:sp>
        <p:nvSpPr>
          <p:cNvPr id="7" name="日期占位符 6">
            <a:extLst>
              <a:ext uri="{FF2B5EF4-FFF2-40B4-BE49-F238E27FC236}">
                <a16:creationId xmlns:a16="http://schemas.microsoft.com/office/drawing/2014/main" id="{E44707B3-B244-7466-7BD0-CEE9AD28CDC0}"/>
              </a:ext>
            </a:extLst>
          </p:cNvPr>
          <p:cNvSpPr>
            <a:spLocks noGrp="1"/>
          </p:cNvSpPr>
          <p:nvPr>
            <p:ph type="dt" sz="half" idx="10"/>
          </p:nvPr>
        </p:nvSpPr>
        <p:spPr/>
        <p:txBody>
          <a:bodyPr/>
          <a:lstStyle/>
          <a:p>
            <a:fld id="{2FDC134C-A107-4B38-B7B1-F21CDE2C9809}" type="datetime10">
              <a:rPr lang="en-US" altLang="zh-CN" smtClean="0"/>
              <a:t>16:53</a:t>
            </a:fld>
            <a:endParaRPr lang="en-US" altLang="zh-CN"/>
          </a:p>
        </p:txBody>
      </p:sp>
      <p:sp>
        <p:nvSpPr>
          <p:cNvPr id="8" name="灯片编号占位符 7">
            <a:extLst>
              <a:ext uri="{FF2B5EF4-FFF2-40B4-BE49-F238E27FC236}">
                <a16:creationId xmlns:a16="http://schemas.microsoft.com/office/drawing/2014/main" id="{25F17BA5-31C1-5BE3-59C8-E338F47DCE0F}"/>
              </a:ext>
            </a:extLst>
          </p:cNvPr>
          <p:cNvSpPr>
            <a:spLocks noGrp="1"/>
          </p:cNvSpPr>
          <p:nvPr>
            <p:ph type="sldNum" sz="quarter" idx="12"/>
          </p:nvPr>
        </p:nvSpPr>
        <p:spPr/>
        <p:txBody>
          <a:bodyPr/>
          <a:lstStyle/>
          <a:p>
            <a:fld id="{B73B34B3-1432-4053-90C7-E0228297BE5F}" type="slidenum">
              <a:rPr lang="en-US" altLang="zh-CN" smtClean="0"/>
              <a:pPr/>
              <a:t>18</a:t>
            </a:fld>
            <a:endParaRPr lang="en-US" altLang="zh-CN"/>
          </a:p>
        </p:txBody>
      </p:sp>
    </p:spTree>
    <p:extLst>
      <p:ext uri="{BB962C8B-B14F-4D97-AF65-F5344CB8AC3E}">
        <p14:creationId xmlns:p14="http://schemas.microsoft.com/office/powerpoint/2010/main" val="33038292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lgn="just">
              <a:spcAft>
                <a:spcPts val="0"/>
              </a:spcAft>
              <a:buNone/>
            </a:pPr>
            <a:r>
              <a:rPr lang="zh-CN" altLang="en-US" b="1" kern="100" dirty="0">
                <a:solidFill>
                  <a:srgbClr val="000000"/>
                </a:solidFill>
                <a:latin typeface="Times New Roman" panose="02020603050405020304" pitchFamily="18" charset="0"/>
                <a:ea typeface="黑体" panose="02010609060101010101" pitchFamily="49" charset="-122"/>
              </a:rPr>
              <a:t>（</a:t>
            </a:r>
            <a:r>
              <a:rPr lang="en-US" altLang="zh-CN" b="1" kern="100" dirty="0">
                <a:solidFill>
                  <a:srgbClr val="000000"/>
                </a:solidFill>
                <a:latin typeface="Times New Roman" panose="02020603050405020304" pitchFamily="18" charset="0"/>
                <a:ea typeface="黑体" panose="02010609060101010101" pitchFamily="49" charset="-122"/>
              </a:rPr>
              <a:t>2</a:t>
            </a:r>
            <a:r>
              <a:rPr lang="zh-CN" altLang="en-US" b="1" kern="100" dirty="0">
                <a:solidFill>
                  <a:srgbClr val="000000"/>
                </a:solidFill>
                <a:latin typeface="Times New Roman" panose="02020603050405020304" pitchFamily="18" charset="0"/>
                <a:ea typeface="黑体" panose="02010609060101010101" pitchFamily="49" charset="-122"/>
              </a:rPr>
              <a:t>）</a:t>
            </a:r>
            <a:r>
              <a:rPr lang="zh-CN" altLang="zh-CN" b="1" kern="100" dirty="0">
                <a:solidFill>
                  <a:srgbClr val="000000"/>
                </a:solidFill>
                <a:latin typeface="Times New Roman" panose="02020603050405020304" pitchFamily="18" charset="0"/>
                <a:ea typeface="黑体" panose="02010609060101010101" pitchFamily="49" charset="-122"/>
              </a:rPr>
              <a:t>洛伦兹电磁力</a:t>
            </a:r>
            <a:r>
              <a:rPr lang="en-US" altLang="zh-CN" b="1" kern="100" dirty="0">
                <a:solidFill>
                  <a:srgbClr val="000000"/>
                </a:solidFill>
                <a:latin typeface="Times New Roman" panose="02020603050405020304" pitchFamily="18" charset="0"/>
                <a:ea typeface="黑体" panose="02010609060101010101" pitchFamily="49" charset="-122"/>
              </a:rPr>
              <a:t>(</a:t>
            </a:r>
            <a:r>
              <a:rPr lang="zh-CN" altLang="zh-CN" b="1" kern="100" dirty="0">
                <a:solidFill>
                  <a:srgbClr val="000000"/>
                </a:solidFill>
                <a:latin typeface="Times New Roman" panose="02020603050405020304" pitchFamily="18" charset="0"/>
                <a:ea typeface="黑体" panose="02010609060101010101" pitchFamily="49" charset="-122"/>
              </a:rPr>
              <a:t>安培</a:t>
            </a:r>
            <a:r>
              <a:rPr lang="en-US" altLang="zh-CN" b="1" kern="100" dirty="0">
                <a:solidFill>
                  <a:srgbClr val="000000"/>
                </a:solidFill>
                <a:latin typeface="Times New Roman" panose="02020603050405020304" pitchFamily="18" charset="0"/>
                <a:ea typeface="黑体" panose="02010609060101010101" pitchFamily="49" charset="-122"/>
              </a:rPr>
              <a:t>)</a:t>
            </a:r>
            <a:r>
              <a:rPr lang="zh-CN" altLang="zh-CN" b="1" kern="100" dirty="0">
                <a:solidFill>
                  <a:srgbClr val="000000"/>
                </a:solidFill>
                <a:latin typeface="Times New Roman" panose="02020603050405020304" pitchFamily="18" charset="0"/>
                <a:ea typeface="黑体" panose="02010609060101010101" pitchFamily="49" charset="-122"/>
              </a:rPr>
              <a:t>定律 －电动机原理：</a:t>
            </a:r>
            <a:r>
              <a:rPr lang="en-US" altLang="zh-CN" sz="3600" b="1" i="1" kern="100" dirty="0">
                <a:solidFill>
                  <a:srgbClr val="0000FF"/>
                </a:solidFill>
                <a:latin typeface="Times New Roman" panose="02020603050405020304" pitchFamily="18" charset="0"/>
                <a:ea typeface="黑体" panose="02010609060101010101" pitchFamily="49" charset="-122"/>
              </a:rPr>
              <a:t>F </a:t>
            </a:r>
            <a:r>
              <a:rPr lang="zh-CN" altLang="zh-CN" sz="3600" b="1" i="1" kern="100" dirty="0">
                <a:solidFill>
                  <a:srgbClr val="0000FF"/>
                </a:solidFill>
                <a:latin typeface="Times New Roman" panose="02020603050405020304" pitchFamily="18" charset="0"/>
                <a:ea typeface="黑体" panose="02010609060101010101" pitchFamily="49" charset="-122"/>
              </a:rPr>
              <a:t>＝</a:t>
            </a:r>
            <a:r>
              <a:rPr lang="en-US" altLang="zh-CN" sz="3600" b="1" i="1" kern="100" dirty="0">
                <a:solidFill>
                  <a:srgbClr val="0000FF"/>
                </a:solidFill>
                <a:latin typeface="Times New Roman" panose="02020603050405020304" pitchFamily="18" charset="0"/>
                <a:ea typeface="黑体" panose="02010609060101010101" pitchFamily="49" charset="-122"/>
              </a:rPr>
              <a:t> </a:t>
            </a:r>
            <a:r>
              <a:rPr lang="en-US" altLang="zh-CN" sz="3600" b="1" i="1" kern="100" dirty="0" err="1">
                <a:solidFill>
                  <a:srgbClr val="0000FF"/>
                </a:solidFill>
                <a:latin typeface="Times New Roman" panose="02020603050405020304" pitchFamily="18" charset="0"/>
                <a:ea typeface="黑体" panose="02010609060101010101" pitchFamily="49" charset="-122"/>
              </a:rPr>
              <a:t>Bli</a:t>
            </a:r>
            <a:r>
              <a:rPr lang="en-US" altLang="zh-CN" sz="3600" b="1" i="1" kern="100" dirty="0">
                <a:solidFill>
                  <a:srgbClr val="0000FF"/>
                </a:solidFill>
                <a:latin typeface="Times New Roman" panose="02020603050405020304" pitchFamily="18" charset="0"/>
                <a:ea typeface="黑体" panose="02010609060101010101" pitchFamily="49" charset="-122"/>
              </a:rPr>
              <a:t>   </a:t>
            </a:r>
            <a:r>
              <a:rPr lang="en-US" altLang="zh-CN" b="1" kern="100" dirty="0">
                <a:solidFill>
                  <a:srgbClr val="000000"/>
                </a:solidFill>
                <a:latin typeface="Times New Roman" panose="02020603050405020304" pitchFamily="18" charset="0"/>
                <a:ea typeface="黑体" panose="02010609060101010101" pitchFamily="49" charset="-122"/>
              </a:rPr>
              <a:t>(Lorentz electromagnetic force law, In 1895)</a:t>
            </a:r>
            <a:endParaRPr lang="zh-CN" altLang="zh-CN" sz="1200" kern="100" dirty="0">
              <a:latin typeface="Times New Roman" panose="02020603050405020304" pitchFamily="18" charset="0"/>
            </a:endParaRPr>
          </a:p>
          <a:p>
            <a:pPr indent="0" algn="just">
              <a:spcAft>
                <a:spcPts val="0"/>
              </a:spcAft>
              <a:buNone/>
            </a:pPr>
            <a:r>
              <a:rPr lang="zh-CN" altLang="zh-CN" kern="100" dirty="0">
                <a:solidFill>
                  <a:srgbClr val="0000FF"/>
                </a:solidFill>
                <a:latin typeface="Times New Roman" panose="02020603050405020304" pitchFamily="18" charset="0"/>
                <a:ea typeface="黑体" panose="02010609060101010101" pitchFamily="49" charset="-122"/>
              </a:rPr>
              <a:t>有效长度</a:t>
            </a:r>
            <a:r>
              <a:rPr lang="zh-CN" altLang="zh-CN" kern="100" dirty="0">
                <a:solidFill>
                  <a:srgbClr val="000000"/>
                </a:solidFill>
                <a:latin typeface="Times New Roman" panose="02020603050405020304" pitchFamily="18" charset="0"/>
                <a:ea typeface="黑体" panose="02010609060101010101" pitchFamily="49" charset="-122"/>
              </a:rPr>
              <a:t>为</a:t>
            </a:r>
            <a:r>
              <a:rPr lang="en-US" altLang="zh-CN" i="1" kern="100" dirty="0">
                <a:solidFill>
                  <a:srgbClr val="000000"/>
                </a:solidFill>
                <a:latin typeface="Times New Roman" panose="02020603050405020304" pitchFamily="18" charset="0"/>
                <a:ea typeface="黑体" panose="02010609060101010101" pitchFamily="49" charset="-122"/>
              </a:rPr>
              <a:t>l</a:t>
            </a:r>
            <a:r>
              <a:rPr lang="zh-CN" altLang="zh-CN" kern="100" dirty="0">
                <a:solidFill>
                  <a:srgbClr val="000000"/>
                </a:solidFill>
                <a:latin typeface="Times New Roman" panose="02020603050405020304" pitchFamily="18" charset="0"/>
                <a:ea typeface="黑体" panose="02010609060101010101" pitchFamily="49" charset="-122"/>
              </a:rPr>
              <a:t>并</a:t>
            </a:r>
            <a:r>
              <a:rPr lang="zh-CN" altLang="zh-CN" kern="100" dirty="0">
                <a:solidFill>
                  <a:srgbClr val="0000FF"/>
                </a:solidFill>
                <a:latin typeface="Times New Roman" panose="02020603050405020304" pitchFamily="18" charset="0"/>
                <a:ea typeface="黑体" panose="02010609060101010101" pitchFamily="49" charset="-122"/>
              </a:rPr>
              <a:t>载有电流</a:t>
            </a:r>
            <a:r>
              <a:rPr lang="en-US" altLang="zh-CN" kern="100" dirty="0" err="1">
                <a:solidFill>
                  <a:srgbClr val="000000"/>
                </a:solidFill>
                <a:latin typeface="Times New Roman" panose="02020603050405020304" pitchFamily="18" charset="0"/>
                <a:ea typeface="黑体" panose="02010609060101010101" pitchFamily="49" charset="-122"/>
              </a:rPr>
              <a:t>i</a:t>
            </a:r>
            <a:r>
              <a:rPr lang="zh-CN" altLang="zh-CN" kern="100" dirty="0">
                <a:solidFill>
                  <a:srgbClr val="000000"/>
                </a:solidFill>
                <a:latin typeface="Times New Roman" panose="02020603050405020304" pitchFamily="18" charset="0"/>
                <a:ea typeface="黑体" panose="02010609060101010101" pitchFamily="49" charset="-122"/>
              </a:rPr>
              <a:t>的导体在</a:t>
            </a:r>
            <a:r>
              <a:rPr lang="zh-CN" altLang="zh-CN" kern="100" dirty="0">
                <a:solidFill>
                  <a:srgbClr val="0000FF"/>
                </a:solidFill>
                <a:latin typeface="Times New Roman" panose="02020603050405020304" pitchFamily="18" charset="0"/>
                <a:ea typeface="黑体" panose="02010609060101010101" pitchFamily="49" charset="-122"/>
              </a:rPr>
              <a:t>磁通密度</a:t>
            </a:r>
            <a:r>
              <a:rPr lang="zh-CN" altLang="zh-CN" kern="100" dirty="0">
                <a:solidFill>
                  <a:srgbClr val="000000"/>
                </a:solidFill>
                <a:latin typeface="Times New Roman" panose="02020603050405020304" pitchFamily="18" charset="0"/>
                <a:ea typeface="黑体" panose="02010609060101010101" pitchFamily="49" charset="-122"/>
              </a:rPr>
              <a:t>为</a:t>
            </a:r>
            <a:r>
              <a:rPr lang="en-US" altLang="zh-CN" kern="100" dirty="0">
                <a:solidFill>
                  <a:srgbClr val="000000"/>
                </a:solidFill>
                <a:latin typeface="Times New Roman" panose="02020603050405020304" pitchFamily="18" charset="0"/>
                <a:ea typeface="黑体" panose="02010609060101010101" pitchFamily="49" charset="-122"/>
              </a:rPr>
              <a:t>B</a:t>
            </a:r>
            <a:r>
              <a:rPr lang="zh-CN" altLang="zh-CN" kern="100" dirty="0">
                <a:solidFill>
                  <a:srgbClr val="000000"/>
                </a:solidFill>
                <a:latin typeface="Times New Roman" panose="02020603050405020304" pitchFamily="18" charset="0"/>
                <a:ea typeface="黑体" panose="02010609060101010101" pitchFamily="49" charset="-122"/>
              </a:rPr>
              <a:t>的磁场中时，导体上将受到电磁力</a:t>
            </a:r>
            <a:r>
              <a:rPr lang="en-US" altLang="zh-CN" kern="100" dirty="0">
                <a:solidFill>
                  <a:srgbClr val="000000"/>
                </a:solidFill>
                <a:latin typeface="Times New Roman" panose="02020603050405020304" pitchFamily="18" charset="0"/>
                <a:ea typeface="黑体" panose="02010609060101010101" pitchFamily="49" charset="-122"/>
              </a:rPr>
              <a:t>F</a:t>
            </a:r>
            <a:r>
              <a:rPr lang="zh-CN" altLang="zh-CN" kern="100" dirty="0">
                <a:solidFill>
                  <a:srgbClr val="000000"/>
                </a:solidFill>
                <a:latin typeface="Times New Roman" panose="02020603050405020304" pitchFamily="18" charset="0"/>
                <a:ea typeface="黑体" panose="02010609060101010101" pitchFamily="49" charset="-122"/>
              </a:rPr>
              <a:t>的作用 ，</a:t>
            </a:r>
            <a:r>
              <a:rPr lang="zh-CN" altLang="zh-CN" kern="100" dirty="0">
                <a:solidFill>
                  <a:srgbClr val="0000FF"/>
                </a:solidFill>
                <a:latin typeface="Times New Roman" panose="02020603050405020304" pitchFamily="18" charset="0"/>
                <a:ea typeface="黑体" panose="02010609060101010101" pitchFamily="49" charset="-122"/>
              </a:rPr>
              <a:t>若</a:t>
            </a:r>
            <a:r>
              <a:rPr lang="en-US" altLang="zh-CN" kern="100" dirty="0">
                <a:solidFill>
                  <a:srgbClr val="0000FF"/>
                </a:solidFill>
                <a:latin typeface="Times New Roman" panose="02020603050405020304" pitchFamily="18" charset="0"/>
                <a:ea typeface="黑体" panose="02010609060101010101" pitchFamily="49" charset="-122"/>
              </a:rPr>
              <a:t>B</a:t>
            </a:r>
            <a:r>
              <a:rPr lang="zh-CN" altLang="zh-CN" kern="100" dirty="0">
                <a:solidFill>
                  <a:srgbClr val="0000FF"/>
                </a:solidFill>
                <a:latin typeface="Times New Roman" panose="02020603050405020304" pitchFamily="18" charset="0"/>
                <a:ea typeface="黑体" panose="02010609060101010101" pitchFamily="49" charset="-122"/>
              </a:rPr>
              <a:t>、</a:t>
            </a:r>
            <a:r>
              <a:rPr lang="en-US" altLang="zh-CN" kern="100" dirty="0">
                <a:solidFill>
                  <a:srgbClr val="0000FF"/>
                </a:solidFill>
                <a:latin typeface="Times New Roman" panose="02020603050405020304" pitchFamily="18" charset="0"/>
                <a:ea typeface="黑体" panose="02010609060101010101" pitchFamily="49" charset="-122"/>
              </a:rPr>
              <a:t>l</a:t>
            </a:r>
            <a:r>
              <a:rPr lang="zh-CN" altLang="zh-CN" kern="100" dirty="0">
                <a:solidFill>
                  <a:srgbClr val="0000FF"/>
                </a:solidFill>
                <a:latin typeface="Times New Roman" panose="02020603050405020304" pitchFamily="18" charset="0"/>
                <a:ea typeface="黑体" panose="02010609060101010101" pitchFamily="49" charset="-122"/>
              </a:rPr>
              <a:t>在空间相互垂直</a:t>
            </a:r>
            <a:r>
              <a:rPr lang="zh-CN" altLang="zh-CN" kern="100" dirty="0">
                <a:solidFill>
                  <a:srgbClr val="000000"/>
                </a:solidFill>
                <a:latin typeface="Times New Roman" panose="02020603050405020304" pitchFamily="18" charset="0"/>
                <a:ea typeface="黑体" panose="02010609060101010101" pitchFamily="49" charset="-122"/>
              </a:rPr>
              <a:t>，则</a:t>
            </a:r>
            <a:r>
              <a:rPr lang="en-US" altLang="zh-CN" kern="100" dirty="0">
                <a:solidFill>
                  <a:srgbClr val="000000"/>
                </a:solidFill>
                <a:latin typeface="Times New Roman" panose="02020603050405020304" pitchFamily="18" charset="0"/>
                <a:ea typeface="黑体" panose="02010609060101010101" pitchFamily="49" charset="-122"/>
              </a:rPr>
              <a:t>F</a:t>
            </a:r>
            <a:r>
              <a:rPr lang="zh-CN" altLang="zh-CN" kern="100" dirty="0">
                <a:solidFill>
                  <a:srgbClr val="000000"/>
                </a:solidFill>
                <a:latin typeface="Times New Roman" panose="02020603050405020304" pitchFamily="18" charset="0"/>
                <a:ea typeface="黑体" panose="02010609060101010101" pitchFamily="49" charset="-122"/>
              </a:rPr>
              <a:t>的</a:t>
            </a:r>
            <a:r>
              <a:rPr lang="zh-CN" altLang="zh-CN" kern="100" dirty="0">
                <a:solidFill>
                  <a:srgbClr val="0000FF"/>
                </a:solidFill>
                <a:latin typeface="Times New Roman" panose="02020603050405020304" pitchFamily="18" charset="0"/>
                <a:ea typeface="黑体" panose="02010609060101010101" pitchFamily="49" charset="-122"/>
              </a:rPr>
              <a:t>大小</a:t>
            </a:r>
            <a:r>
              <a:rPr lang="zh-CN" altLang="zh-CN" kern="100" dirty="0">
                <a:solidFill>
                  <a:srgbClr val="000000"/>
                </a:solidFill>
                <a:latin typeface="Times New Roman" panose="02020603050405020304" pitchFamily="18" charset="0"/>
                <a:ea typeface="黑体" panose="02010609060101010101" pitchFamily="49" charset="-122"/>
              </a:rPr>
              <a:t>等于三者的乘积，</a:t>
            </a:r>
            <a:r>
              <a:rPr lang="zh-CN" altLang="zh-CN" kern="100" dirty="0">
                <a:solidFill>
                  <a:srgbClr val="0000FF"/>
                </a:solidFill>
                <a:latin typeface="Times New Roman" panose="02020603050405020304" pitchFamily="18" charset="0"/>
                <a:ea typeface="黑体" panose="02010609060101010101" pitchFamily="49" charset="-122"/>
              </a:rPr>
              <a:t>方向</a:t>
            </a:r>
            <a:r>
              <a:rPr lang="zh-CN" altLang="zh-CN" kern="100" dirty="0">
                <a:solidFill>
                  <a:srgbClr val="000000"/>
                </a:solidFill>
                <a:latin typeface="Times New Roman" panose="02020603050405020304" pitchFamily="18" charset="0"/>
                <a:ea typeface="黑体" panose="02010609060101010101" pitchFamily="49" charset="-122"/>
              </a:rPr>
              <a:t>由</a:t>
            </a:r>
            <a:r>
              <a:rPr lang="zh-CN" altLang="zh-CN" b="1" kern="100" dirty="0">
                <a:solidFill>
                  <a:srgbClr val="FF0000"/>
                </a:solidFill>
                <a:latin typeface="Times New Roman" panose="02020603050405020304" pitchFamily="18" charset="0"/>
                <a:ea typeface="黑体" panose="02010609060101010101" pitchFamily="49" charset="-122"/>
              </a:rPr>
              <a:t>左手定则</a:t>
            </a:r>
            <a:r>
              <a:rPr lang="zh-CN" altLang="zh-CN" kern="100" dirty="0">
                <a:solidFill>
                  <a:srgbClr val="000000"/>
                </a:solidFill>
                <a:latin typeface="Times New Roman" panose="02020603050405020304" pitchFamily="18" charset="0"/>
                <a:ea typeface="黑体" panose="02010609060101010101" pitchFamily="49" charset="-122"/>
              </a:rPr>
              <a:t>确定。</a:t>
            </a:r>
            <a:r>
              <a:rPr lang="en-US" altLang="zh-CN" kern="100" dirty="0">
                <a:solidFill>
                  <a:srgbClr val="000000"/>
                </a:solidFill>
                <a:latin typeface="Times New Roman" panose="02020603050405020304" pitchFamily="18" charset="0"/>
                <a:ea typeface="黑体" panose="02010609060101010101" pitchFamily="49" charset="-122"/>
              </a:rPr>
              <a:t>B</a:t>
            </a:r>
            <a:r>
              <a:rPr lang="zh-CN" altLang="zh-CN" kern="100" dirty="0">
                <a:solidFill>
                  <a:srgbClr val="000000"/>
                </a:solidFill>
                <a:latin typeface="Times New Roman" panose="02020603050405020304" pitchFamily="18" charset="0"/>
                <a:ea typeface="黑体" panose="02010609060101010101" pitchFamily="49" charset="-122"/>
              </a:rPr>
              <a:t>为媒介，</a:t>
            </a:r>
            <a:r>
              <a:rPr lang="zh-CN" altLang="zh-CN" kern="100" dirty="0">
                <a:solidFill>
                  <a:srgbClr val="FF0000"/>
                </a:solidFill>
                <a:latin typeface="Times New Roman" panose="02020603050405020304" pitchFamily="18" charset="0"/>
                <a:ea typeface="黑体" panose="02010609060101010101" pitchFamily="49" charset="-122"/>
              </a:rPr>
              <a:t>电</a:t>
            </a:r>
            <a:r>
              <a:rPr lang="zh-CN" altLang="en-US" kern="100" dirty="0">
                <a:solidFill>
                  <a:srgbClr val="FF0000"/>
                </a:solidFill>
                <a:latin typeface="Times New Roman" panose="02020603050405020304" pitchFamily="18" charset="0"/>
                <a:ea typeface="黑体" panose="02010609060101010101" pitchFamily="49" charset="-122"/>
              </a:rPr>
              <a:t>能</a:t>
            </a:r>
            <a:r>
              <a:rPr lang="zh-CN" altLang="zh-CN" kern="100" dirty="0">
                <a:solidFill>
                  <a:srgbClr val="FF0000"/>
                </a:solidFill>
                <a:latin typeface="Times New Roman" panose="02020603050405020304" pitchFamily="18" charset="0"/>
                <a:ea typeface="黑体" panose="02010609060101010101" pitchFamily="49" charset="-122"/>
              </a:rPr>
              <a:t>－机</a:t>
            </a:r>
            <a:r>
              <a:rPr lang="zh-CN" altLang="en-US" kern="100" dirty="0">
                <a:solidFill>
                  <a:srgbClr val="FF0000"/>
                </a:solidFill>
                <a:latin typeface="Times New Roman" panose="02020603050405020304" pitchFamily="18" charset="0"/>
                <a:ea typeface="黑体" panose="02010609060101010101" pitchFamily="49" charset="-122"/>
              </a:rPr>
              <a:t>械能</a:t>
            </a:r>
            <a:r>
              <a:rPr lang="zh-CN" altLang="zh-CN" kern="100" dirty="0">
                <a:solidFill>
                  <a:srgbClr val="FF0000"/>
                </a:solidFill>
                <a:latin typeface="Times New Roman" panose="02020603050405020304" pitchFamily="18" charset="0"/>
                <a:ea typeface="黑体" panose="02010609060101010101" pitchFamily="49" charset="-122"/>
              </a:rPr>
              <a:t>转换 </a:t>
            </a:r>
            <a:r>
              <a:rPr lang="zh-CN" altLang="zh-CN" kern="100" dirty="0">
                <a:solidFill>
                  <a:srgbClr val="000000"/>
                </a:solidFill>
                <a:latin typeface="Times New Roman" panose="02020603050405020304" pitchFamily="18" charset="0"/>
                <a:ea typeface="黑体" panose="02010609060101010101" pitchFamily="49" charset="-122"/>
              </a:rPr>
              <a:t>数学描述。</a:t>
            </a:r>
            <a:endParaRPr lang="zh-CN" altLang="zh-CN" sz="1200" kern="100" dirty="0">
              <a:latin typeface="Times New Roman" panose="02020603050405020304" pitchFamily="18" charset="0"/>
            </a:endParaRPr>
          </a:p>
          <a:p>
            <a:endParaRPr lang="zh-CN" altLang="en-US" dirty="0"/>
          </a:p>
        </p:txBody>
      </p:sp>
      <p:sp>
        <p:nvSpPr>
          <p:cNvPr id="8" name="日期占位符 7">
            <a:extLst>
              <a:ext uri="{FF2B5EF4-FFF2-40B4-BE49-F238E27FC236}">
                <a16:creationId xmlns:a16="http://schemas.microsoft.com/office/drawing/2014/main" id="{1D0657FC-03BE-99D3-928B-3AB60BB80B70}"/>
              </a:ext>
            </a:extLst>
          </p:cNvPr>
          <p:cNvSpPr>
            <a:spLocks noGrp="1"/>
          </p:cNvSpPr>
          <p:nvPr>
            <p:ph type="dt" sz="half" idx="10"/>
          </p:nvPr>
        </p:nvSpPr>
        <p:spPr/>
        <p:txBody>
          <a:bodyPr/>
          <a:lstStyle/>
          <a:p>
            <a:fld id="{44C93DFB-703E-4947-B870-7FFB90119875}" type="datetime10">
              <a:rPr lang="en-US" altLang="zh-CN" smtClean="0"/>
              <a:t>16:53</a:t>
            </a:fld>
            <a:endParaRPr lang="en-US" altLang="zh-CN"/>
          </a:p>
        </p:txBody>
      </p:sp>
      <p:sp>
        <p:nvSpPr>
          <p:cNvPr id="9" name="灯片编号占位符 8">
            <a:extLst>
              <a:ext uri="{FF2B5EF4-FFF2-40B4-BE49-F238E27FC236}">
                <a16:creationId xmlns:a16="http://schemas.microsoft.com/office/drawing/2014/main" id="{3B76C440-44CE-9EB2-E9EA-C48DF084A070}"/>
              </a:ext>
            </a:extLst>
          </p:cNvPr>
          <p:cNvSpPr>
            <a:spLocks noGrp="1"/>
          </p:cNvSpPr>
          <p:nvPr>
            <p:ph type="sldNum" sz="quarter" idx="12"/>
          </p:nvPr>
        </p:nvSpPr>
        <p:spPr/>
        <p:txBody>
          <a:bodyPr/>
          <a:lstStyle/>
          <a:p>
            <a:fld id="{B73B34B3-1432-4053-90C7-E0228297BE5F}" type="slidenum">
              <a:rPr lang="en-US" altLang="zh-CN" smtClean="0"/>
              <a:pPr/>
              <a:t>19</a:t>
            </a:fld>
            <a:endParaRPr lang="en-US" altLang="zh-CN"/>
          </a:p>
        </p:txBody>
      </p:sp>
    </p:spTree>
    <p:extLst>
      <p:ext uri="{BB962C8B-B14F-4D97-AF65-F5344CB8AC3E}">
        <p14:creationId xmlns:p14="http://schemas.microsoft.com/office/powerpoint/2010/main" val="27033502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33174"/>
            <a:ext cx="8229600" cy="4525963"/>
          </a:xfrm>
        </p:spPr>
        <p:txBody>
          <a:bodyPr/>
          <a:lstStyle/>
          <a:p>
            <a:pPr marL="0" indent="0">
              <a:buNone/>
            </a:pPr>
            <a:r>
              <a:rPr lang="zh-CN" altLang="en-US" dirty="0"/>
              <a:t>洛伦兹电磁力定律的原型：</a:t>
            </a:r>
          </a:p>
          <a:p>
            <a:r>
              <a:rPr lang="zh-CN" altLang="en-US" sz="2400" dirty="0"/>
              <a:t>电磁场中电荷</a:t>
            </a:r>
            <a:r>
              <a:rPr lang="en-US" altLang="zh-CN" sz="2400" dirty="0"/>
              <a:t>q</a:t>
            </a:r>
            <a:r>
              <a:rPr lang="zh-CN" altLang="en-US" sz="2400" dirty="0"/>
              <a:t>所受到的电磁力为   </a:t>
            </a:r>
          </a:p>
          <a:p>
            <a:pPr marL="0" indent="0">
              <a:buNone/>
            </a:pPr>
            <a:r>
              <a:rPr lang="en-US" altLang="zh-CN" sz="2400" dirty="0"/>
              <a:t>v</a:t>
            </a:r>
            <a:r>
              <a:rPr lang="zh-CN" altLang="en-US" sz="2400" dirty="0"/>
              <a:t>：电荷在电磁场中的运动速度。</a:t>
            </a:r>
          </a:p>
          <a:p>
            <a:r>
              <a:rPr lang="zh-CN" altLang="en-US" sz="2400" b="1" dirty="0">
                <a:solidFill>
                  <a:srgbClr val="0000CC"/>
                </a:solidFill>
              </a:rPr>
              <a:t>纯电场</a:t>
            </a:r>
            <a:r>
              <a:rPr lang="zh-CN" altLang="en-US" sz="2400" dirty="0"/>
              <a:t>中 ，             方向与电场强度方向一致，与电荷运动方向无关。</a:t>
            </a:r>
          </a:p>
          <a:p>
            <a:r>
              <a:rPr lang="zh-CN" altLang="en-US" sz="2400" b="1" dirty="0">
                <a:solidFill>
                  <a:srgbClr val="0000CC"/>
                </a:solidFill>
              </a:rPr>
              <a:t>纯磁场</a:t>
            </a:r>
            <a:r>
              <a:rPr lang="zh-CN" altLang="en-US" sz="2400" dirty="0"/>
              <a:t>中 ，              力的方向总是同时与电荷运动方向和磁场强度方向正交。</a:t>
            </a:r>
          </a:p>
          <a:p>
            <a:r>
              <a:rPr lang="zh-CN" altLang="en-US" sz="2400" dirty="0"/>
              <a:t>对大量运动电荷，引入电荷密度</a:t>
            </a:r>
            <a:r>
              <a:rPr lang="en-US" altLang="zh-CN" sz="2400" dirty="0"/>
              <a:t>ρ[</a:t>
            </a:r>
            <a:r>
              <a:rPr lang="zh-CN" altLang="en-US" sz="2400" dirty="0"/>
              <a:t>库仑</a:t>
            </a:r>
            <a:r>
              <a:rPr lang="en-US" altLang="zh-CN" sz="2400" dirty="0"/>
              <a:t>/</a:t>
            </a:r>
            <a:r>
              <a:rPr lang="zh-CN" altLang="en-US" sz="2400" dirty="0"/>
              <a:t>立方米</a:t>
            </a:r>
            <a:r>
              <a:rPr lang="en-US" altLang="zh-CN" sz="2400" dirty="0"/>
              <a:t>]</a:t>
            </a:r>
            <a:r>
              <a:rPr lang="zh-CN" altLang="en-US" sz="2400" dirty="0"/>
              <a:t>：力密度 表示单位体积电荷所受的力</a:t>
            </a:r>
          </a:p>
          <a:p>
            <a:pPr marL="0" indent="0">
              <a:buNone/>
            </a:pPr>
            <a:r>
              <a:rPr lang="zh-CN" altLang="en-US" sz="2400" dirty="0"/>
              <a:t>乘积       称为电流密度</a:t>
            </a:r>
            <a:r>
              <a:rPr lang="en-US" altLang="zh-CN" sz="2400" dirty="0"/>
              <a:t>【</a:t>
            </a:r>
            <a:r>
              <a:rPr lang="zh-CN" altLang="en-US" sz="2400" dirty="0"/>
              <a:t>安培</a:t>
            </a:r>
            <a:r>
              <a:rPr lang="en-US" altLang="zh-CN" sz="2400" dirty="0"/>
              <a:t>/</a:t>
            </a:r>
            <a:r>
              <a:rPr lang="zh-CN" altLang="en-US" sz="2400" dirty="0"/>
              <a:t>平方米</a:t>
            </a:r>
            <a:r>
              <a:rPr lang="en-US" altLang="zh-CN" sz="2400" dirty="0"/>
              <a:t>】</a:t>
            </a:r>
          </a:p>
          <a:p>
            <a:r>
              <a:rPr lang="zh-CN" altLang="en-US" sz="2400" dirty="0"/>
              <a:t>由于导体截面积乘以电流密度等于电流</a:t>
            </a:r>
            <a:r>
              <a:rPr lang="en-US" altLang="zh-CN" sz="2400" b="1" i="1" dirty="0"/>
              <a:t>I</a:t>
            </a:r>
            <a:r>
              <a:rPr lang="zh-CN" altLang="en-US" sz="2400" dirty="0"/>
              <a:t>，所以磁场系统中作用载流导体长为</a:t>
            </a:r>
            <a:r>
              <a:rPr lang="en-US" altLang="zh-CN" sz="2400" dirty="0"/>
              <a:t>l</a:t>
            </a:r>
            <a:r>
              <a:rPr lang="zh-CN" altLang="en-US" sz="2400" dirty="0"/>
              <a:t>：                       ，又称为安培定律</a:t>
            </a:r>
            <a:r>
              <a:rPr lang="en-US" altLang="zh-CN" sz="2400" dirty="0"/>
              <a:t>〗</a:t>
            </a:r>
          </a:p>
          <a:p>
            <a:r>
              <a:rPr lang="en-US" altLang="zh-CN" sz="2400" dirty="0"/>
              <a:t>【</a:t>
            </a:r>
            <a:r>
              <a:rPr lang="zh-CN" altLang="en-US" sz="2400" dirty="0"/>
              <a:t>不考虑电场力时，运动电荷在磁场中所受的力称为洛伦兹力，载流导体在磁场中所受的力称为安培力</a:t>
            </a:r>
            <a:r>
              <a:rPr lang="en-US" altLang="zh-CN" sz="2400" dirty="0"/>
              <a:t>】</a:t>
            </a:r>
          </a:p>
          <a:p>
            <a:endParaRPr lang="zh-CN" altLang="en-US" dirty="0"/>
          </a:p>
        </p:txBody>
      </p:sp>
      <p:sp>
        <p:nvSpPr>
          <p:cNvPr id="46" name="Rectangle 4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7" name="对象 46"/>
          <p:cNvGraphicFramePr>
            <a:graphicFrameLocks noChangeAspect="1"/>
          </p:cNvGraphicFramePr>
          <p:nvPr>
            <p:extLst>
              <p:ext uri="{D42A27DB-BD31-4B8C-83A1-F6EECF244321}">
                <p14:modId xmlns:p14="http://schemas.microsoft.com/office/powerpoint/2010/main" val="1967885748"/>
              </p:ext>
            </p:extLst>
          </p:nvPr>
        </p:nvGraphicFramePr>
        <p:xfrm>
          <a:off x="5455171" y="1395970"/>
          <a:ext cx="2267744" cy="453549"/>
        </p:xfrm>
        <a:graphic>
          <a:graphicData uri="http://schemas.openxmlformats.org/presentationml/2006/ole">
            <mc:AlternateContent xmlns:mc="http://schemas.openxmlformats.org/markup-compatibility/2006">
              <mc:Choice xmlns:v="urn:schemas-microsoft-com:vml" Requires="v">
                <p:oleObj name="公式" r:id="rId2" imgW="1002865" imgH="203112" progId="Equation.3">
                  <p:embed/>
                </p:oleObj>
              </mc:Choice>
              <mc:Fallback>
                <p:oleObj name="公式" r:id="rId2" imgW="1002865" imgH="203112" progId="Equation.3">
                  <p:embed/>
                  <p:pic>
                    <p:nvPicPr>
                      <p:cNvPr id="0" name="Object 4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55171" y="1395970"/>
                        <a:ext cx="2267744" cy="453549"/>
                      </a:xfrm>
                      <a:prstGeom prst="rect">
                        <a:avLst/>
                      </a:prstGeom>
                      <a:solidFill>
                        <a:srgbClr val="CCFFFF"/>
                      </a:solidFill>
                    </p:spPr>
                  </p:pic>
                </p:oleObj>
              </mc:Fallback>
            </mc:AlternateContent>
          </a:graphicData>
        </a:graphic>
      </p:graphicFrame>
      <p:sp>
        <p:nvSpPr>
          <p:cNvPr id="48" name="Rectangle 50"/>
          <p:cNvSpPr>
            <a:spLocks noChangeArrowheads="1"/>
          </p:cNvSpPr>
          <p:nvPr/>
        </p:nvSpPr>
        <p:spPr bwMode="auto">
          <a:xfrm>
            <a:off x="2483768" y="278092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9" name="对象 48"/>
          <p:cNvGraphicFramePr>
            <a:graphicFrameLocks noChangeAspect="1"/>
          </p:cNvGraphicFramePr>
          <p:nvPr>
            <p:extLst>
              <p:ext uri="{D42A27DB-BD31-4B8C-83A1-F6EECF244321}">
                <p14:modId xmlns:p14="http://schemas.microsoft.com/office/powerpoint/2010/main" val="2452612680"/>
              </p:ext>
            </p:extLst>
          </p:nvPr>
        </p:nvGraphicFramePr>
        <p:xfrm>
          <a:off x="2339752" y="2273482"/>
          <a:ext cx="1162050" cy="485775"/>
        </p:xfrm>
        <a:graphic>
          <a:graphicData uri="http://schemas.openxmlformats.org/presentationml/2006/ole">
            <mc:AlternateContent xmlns:mc="http://schemas.openxmlformats.org/markup-compatibility/2006">
              <mc:Choice xmlns:v="urn:schemas-microsoft-com:vml" Requires="v">
                <p:oleObj name="公式" r:id="rId4" imgW="482391" imgH="203112" progId="Equation.3">
                  <p:embed/>
                </p:oleObj>
              </mc:Choice>
              <mc:Fallback>
                <p:oleObj name="公式" r:id="rId4" imgW="482391" imgH="203112" progId="Equation.3">
                  <p:embed/>
                  <p:pic>
                    <p:nvPicPr>
                      <p:cNvPr id="0" name="Object 4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9752" y="2273482"/>
                        <a:ext cx="1162050" cy="485775"/>
                      </a:xfrm>
                      <a:prstGeom prst="rect">
                        <a:avLst/>
                      </a:prstGeom>
                      <a:solidFill>
                        <a:srgbClr val="CCFFFF"/>
                      </a:solidFill>
                    </p:spPr>
                  </p:pic>
                </p:oleObj>
              </mc:Fallback>
            </mc:AlternateContent>
          </a:graphicData>
        </a:graphic>
      </p:graphicFrame>
      <p:sp>
        <p:nvSpPr>
          <p:cNvPr id="50" name="Rectangle 5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1" name="对象 50"/>
          <p:cNvGraphicFramePr>
            <a:graphicFrameLocks noChangeAspect="1"/>
          </p:cNvGraphicFramePr>
          <p:nvPr>
            <p:extLst>
              <p:ext uri="{D42A27DB-BD31-4B8C-83A1-F6EECF244321}">
                <p14:modId xmlns:p14="http://schemas.microsoft.com/office/powerpoint/2010/main" val="3681119955"/>
              </p:ext>
            </p:extLst>
          </p:nvPr>
        </p:nvGraphicFramePr>
        <p:xfrm>
          <a:off x="2339752" y="3076778"/>
          <a:ext cx="1368490" cy="410547"/>
        </p:xfrm>
        <a:graphic>
          <a:graphicData uri="http://schemas.openxmlformats.org/presentationml/2006/ole">
            <mc:AlternateContent xmlns:mc="http://schemas.openxmlformats.org/markup-compatibility/2006">
              <mc:Choice xmlns:v="urn:schemas-microsoft-com:vml" Requires="v">
                <p:oleObj name="公式" r:id="rId6" imgW="825500" imgH="203200" progId="Equation.3">
                  <p:embed/>
                </p:oleObj>
              </mc:Choice>
              <mc:Fallback>
                <p:oleObj name="公式" r:id="rId6" imgW="825500" imgH="203200" progId="Equation.3">
                  <p:embed/>
                  <p:pic>
                    <p:nvPicPr>
                      <p:cNvPr id="0" name="Object 5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39752" y="3076778"/>
                        <a:ext cx="1368490" cy="410547"/>
                      </a:xfrm>
                      <a:prstGeom prst="rect">
                        <a:avLst/>
                      </a:prstGeom>
                      <a:solidFill>
                        <a:srgbClr val="CCFFFF"/>
                      </a:solidFill>
                    </p:spPr>
                  </p:pic>
                </p:oleObj>
              </mc:Fallback>
            </mc:AlternateContent>
          </a:graphicData>
        </a:graphic>
      </p:graphicFrame>
      <p:sp>
        <p:nvSpPr>
          <p:cNvPr id="52" name="Rectangle 54"/>
          <p:cNvSpPr>
            <a:spLocks noChangeArrowheads="1"/>
          </p:cNvSpPr>
          <p:nvPr/>
        </p:nvSpPr>
        <p:spPr bwMode="auto">
          <a:xfrm>
            <a:off x="5868144" y="443711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3" name="对象 52"/>
          <p:cNvGraphicFramePr>
            <a:graphicFrameLocks noChangeAspect="1"/>
          </p:cNvGraphicFramePr>
          <p:nvPr>
            <p:extLst>
              <p:ext uri="{D42A27DB-BD31-4B8C-83A1-F6EECF244321}">
                <p14:modId xmlns:p14="http://schemas.microsoft.com/office/powerpoint/2010/main" val="90221759"/>
              </p:ext>
            </p:extLst>
          </p:nvPr>
        </p:nvGraphicFramePr>
        <p:xfrm>
          <a:off x="5060008" y="4259242"/>
          <a:ext cx="2724150" cy="533400"/>
        </p:xfrm>
        <a:graphic>
          <a:graphicData uri="http://schemas.openxmlformats.org/presentationml/2006/ole">
            <mc:AlternateContent xmlns:mc="http://schemas.openxmlformats.org/markup-compatibility/2006">
              <mc:Choice xmlns:v="urn:schemas-microsoft-com:vml" Requires="v">
                <p:oleObj name="公式" r:id="rId8" imgW="1130300" imgH="228600" progId="Equation.3">
                  <p:embed/>
                </p:oleObj>
              </mc:Choice>
              <mc:Fallback>
                <p:oleObj name="公式" r:id="rId8" imgW="1130300" imgH="228600" progId="Equation.3">
                  <p:embed/>
                  <p:pic>
                    <p:nvPicPr>
                      <p:cNvPr id="0" name="Object 5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60008" y="4259242"/>
                        <a:ext cx="2724150" cy="533400"/>
                      </a:xfrm>
                      <a:prstGeom prst="rect">
                        <a:avLst/>
                      </a:prstGeom>
                      <a:solidFill>
                        <a:srgbClr val="CCFFFF"/>
                      </a:solidFill>
                    </p:spPr>
                  </p:pic>
                </p:oleObj>
              </mc:Fallback>
            </mc:AlternateContent>
          </a:graphicData>
        </a:graphic>
      </p:graphicFrame>
      <p:sp>
        <p:nvSpPr>
          <p:cNvPr id="54" name="Rectangle 56"/>
          <p:cNvSpPr>
            <a:spLocks noChangeArrowheads="1"/>
          </p:cNvSpPr>
          <p:nvPr/>
        </p:nvSpPr>
        <p:spPr bwMode="auto">
          <a:xfrm>
            <a:off x="2017043" y="434682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5" name="对象 54"/>
          <p:cNvGraphicFramePr>
            <a:graphicFrameLocks noChangeAspect="1"/>
          </p:cNvGraphicFramePr>
          <p:nvPr>
            <p:extLst>
              <p:ext uri="{D42A27DB-BD31-4B8C-83A1-F6EECF244321}">
                <p14:modId xmlns:p14="http://schemas.microsoft.com/office/powerpoint/2010/main" val="3436355527"/>
              </p:ext>
            </p:extLst>
          </p:nvPr>
        </p:nvGraphicFramePr>
        <p:xfrm>
          <a:off x="457200" y="4185245"/>
          <a:ext cx="466725" cy="542925"/>
        </p:xfrm>
        <a:graphic>
          <a:graphicData uri="http://schemas.openxmlformats.org/presentationml/2006/ole">
            <mc:AlternateContent xmlns:mc="http://schemas.openxmlformats.org/markup-compatibility/2006">
              <mc:Choice xmlns:v="urn:schemas-microsoft-com:vml" Requires="v">
                <p:oleObj name="公式" r:id="rId10" imgW="190500" imgH="228600" progId="Equation.3">
                  <p:embed/>
                </p:oleObj>
              </mc:Choice>
              <mc:Fallback>
                <p:oleObj name="公式" r:id="rId10" imgW="190500" imgH="228600" progId="Equation.3">
                  <p:embed/>
                  <p:pic>
                    <p:nvPicPr>
                      <p:cNvPr id="0" name="Object 5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7200" y="4185245"/>
                        <a:ext cx="466725" cy="542925"/>
                      </a:xfrm>
                      <a:prstGeom prst="rect">
                        <a:avLst/>
                      </a:prstGeom>
                      <a:solidFill>
                        <a:srgbClr val="FFFFFF"/>
                      </a:solidFill>
                    </p:spPr>
                  </p:pic>
                </p:oleObj>
              </mc:Fallback>
            </mc:AlternateContent>
          </a:graphicData>
        </a:graphic>
      </p:graphicFrame>
      <p:sp>
        <p:nvSpPr>
          <p:cNvPr id="56" name="Rectangle 5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7" name="对象 56"/>
          <p:cNvGraphicFramePr>
            <a:graphicFrameLocks noChangeAspect="1"/>
          </p:cNvGraphicFramePr>
          <p:nvPr>
            <p:extLst>
              <p:ext uri="{D42A27DB-BD31-4B8C-83A1-F6EECF244321}">
                <p14:modId xmlns:p14="http://schemas.microsoft.com/office/powerpoint/2010/main" val="262488046"/>
              </p:ext>
            </p:extLst>
          </p:nvPr>
        </p:nvGraphicFramePr>
        <p:xfrm>
          <a:off x="1126183" y="4669135"/>
          <a:ext cx="514350" cy="400050"/>
        </p:xfrm>
        <a:graphic>
          <a:graphicData uri="http://schemas.openxmlformats.org/presentationml/2006/ole">
            <mc:AlternateContent xmlns:mc="http://schemas.openxmlformats.org/markup-compatibility/2006">
              <mc:Choice xmlns:v="urn:schemas-microsoft-com:vml" Requires="v">
                <p:oleObj name="公式" r:id="rId12" imgW="203024" imgH="164957" progId="Equation.3">
                  <p:embed/>
                </p:oleObj>
              </mc:Choice>
              <mc:Fallback>
                <p:oleObj name="公式" r:id="rId12" imgW="203024" imgH="164957" progId="Equation.3">
                  <p:embed/>
                  <p:pic>
                    <p:nvPicPr>
                      <p:cNvPr id="0" name="Object 5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26183" y="4669135"/>
                        <a:ext cx="514350" cy="400050"/>
                      </a:xfrm>
                      <a:prstGeom prst="rect">
                        <a:avLst/>
                      </a:prstGeom>
                      <a:solidFill>
                        <a:srgbClr val="CCFFFF"/>
                      </a:solidFill>
                    </p:spPr>
                  </p:pic>
                </p:oleObj>
              </mc:Fallback>
            </mc:AlternateContent>
          </a:graphicData>
        </a:graphic>
      </p:graphicFrame>
      <p:sp>
        <p:nvSpPr>
          <p:cNvPr id="58" name="Rectangle 66"/>
          <p:cNvSpPr>
            <a:spLocks noChangeArrowheads="1"/>
          </p:cNvSpPr>
          <p:nvPr/>
        </p:nvSpPr>
        <p:spPr bwMode="auto">
          <a:xfrm>
            <a:off x="5887368" y="569840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0" name="Rectangle 6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1" name="对象 60"/>
          <p:cNvGraphicFramePr>
            <a:graphicFrameLocks noChangeAspect="1"/>
          </p:cNvGraphicFramePr>
          <p:nvPr>
            <p:extLst>
              <p:ext uri="{D42A27DB-BD31-4B8C-83A1-F6EECF244321}">
                <p14:modId xmlns:p14="http://schemas.microsoft.com/office/powerpoint/2010/main" val="3856013480"/>
              </p:ext>
            </p:extLst>
          </p:nvPr>
        </p:nvGraphicFramePr>
        <p:xfrm>
          <a:off x="4067944" y="5536217"/>
          <a:ext cx="1571625" cy="381000"/>
        </p:xfrm>
        <a:graphic>
          <a:graphicData uri="http://schemas.openxmlformats.org/presentationml/2006/ole">
            <mc:AlternateContent xmlns:mc="http://schemas.openxmlformats.org/markup-compatibility/2006">
              <mc:Choice xmlns:v="urn:schemas-microsoft-com:vml" Requires="v">
                <p:oleObj name="公式" r:id="rId14" imgW="698197" imgH="177723" progId="Equation.3">
                  <p:embed/>
                </p:oleObj>
              </mc:Choice>
              <mc:Fallback>
                <p:oleObj name="公式" r:id="rId14" imgW="698197" imgH="177723" progId="Equation.3">
                  <p:embed/>
                  <p:pic>
                    <p:nvPicPr>
                      <p:cNvPr id="0" name="Object 6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067944" y="5536217"/>
                        <a:ext cx="1571625" cy="381000"/>
                      </a:xfrm>
                      <a:prstGeom prst="rect">
                        <a:avLst/>
                      </a:prstGeom>
                      <a:solidFill>
                        <a:srgbClr val="CCFFFF"/>
                      </a:solidFill>
                    </p:spPr>
                  </p:pic>
                </p:oleObj>
              </mc:Fallback>
            </mc:AlternateContent>
          </a:graphicData>
        </a:graphic>
      </p:graphicFrame>
      <p:sp>
        <p:nvSpPr>
          <p:cNvPr id="7" name="日期占位符 6">
            <a:extLst>
              <a:ext uri="{FF2B5EF4-FFF2-40B4-BE49-F238E27FC236}">
                <a16:creationId xmlns:a16="http://schemas.microsoft.com/office/drawing/2014/main" id="{83D40270-CBC0-7FEA-749F-62ABFC45D5E4}"/>
              </a:ext>
            </a:extLst>
          </p:cNvPr>
          <p:cNvSpPr>
            <a:spLocks noGrp="1"/>
          </p:cNvSpPr>
          <p:nvPr>
            <p:ph type="dt" sz="half" idx="10"/>
          </p:nvPr>
        </p:nvSpPr>
        <p:spPr/>
        <p:txBody>
          <a:bodyPr/>
          <a:lstStyle/>
          <a:p>
            <a:fld id="{A828F7D8-A256-4F6D-B0F4-2AC11DC5D53D}" type="datetime10">
              <a:rPr lang="en-US" altLang="zh-CN" smtClean="0"/>
              <a:t>16:53</a:t>
            </a:fld>
            <a:endParaRPr lang="en-US" altLang="zh-CN"/>
          </a:p>
        </p:txBody>
      </p:sp>
      <p:sp>
        <p:nvSpPr>
          <p:cNvPr id="8" name="灯片编号占位符 7">
            <a:extLst>
              <a:ext uri="{FF2B5EF4-FFF2-40B4-BE49-F238E27FC236}">
                <a16:creationId xmlns:a16="http://schemas.microsoft.com/office/drawing/2014/main" id="{599E8191-9164-35CD-643C-F77AE5679CE6}"/>
              </a:ext>
            </a:extLst>
          </p:cNvPr>
          <p:cNvSpPr>
            <a:spLocks noGrp="1"/>
          </p:cNvSpPr>
          <p:nvPr>
            <p:ph type="sldNum" sz="quarter" idx="12"/>
          </p:nvPr>
        </p:nvSpPr>
        <p:spPr/>
        <p:txBody>
          <a:bodyPr/>
          <a:lstStyle/>
          <a:p>
            <a:fld id="{B73B34B3-1432-4053-90C7-E0228297BE5F}" type="slidenum">
              <a:rPr lang="en-US" altLang="zh-CN" smtClean="0"/>
              <a:pPr/>
              <a:t>20</a:t>
            </a:fld>
            <a:endParaRPr lang="en-US" altLang="zh-CN"/>
          </a:p>
        </p:txBody>
      </p:sp>
    </p:spTree>
    <p:extLst>
      <p:ext uri="{BB962C8B-B14F-4D97-AF65-F5344CB8AC3E}">
        <p14:creationId xmlns:p14="http://schemas.microsoft.com/office/powerpoint/2010/main" val="13204748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solidFill>
                  <a:srgbClr val="0000CC"/>
                </a:solidFill>
              </a:rPr>
              <a:t>由原理分析能量转换关系示意</a:t>
            </a:r>
          </a:p>
        </p:txBody>
      </p:sp>
      <p:sp>
        <p:nvSpPr>
          <p:cNvPr id="4" name="Rectangle 2"/>
          <p:cNvSpPr>
            <a:spLocks noChangeArrowheads="1"/>
          </p:cNvSpPr>
          <p:nvPr/>
        </p:nvSpPr>
        <p:spPr bwMode="auto">
          <a:xfrm>
            <a:off x="457200" y="1417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339888415"/>
              </p:ext>
            </p:extLst>
          </p:nvPr>
        </p:nvGraphicFramePr>
        <p:xfrm>
          <a:off x="457200" y="2420888"/>
          <a:ext cx="8058150" cy="3095625"/>
        </p:xfrm>
        <a:graphic>
          <a:graphicData uri="http://schemas.openxmlformats.org/presentationml/2006/ole">
            <mc:AlternateContent xmlns:mc="http://schemas.openxmlformats.org/markup-compatibility/2006">
              <mc:Choice xmlns:v="urn:schemas-microsoft-com:vml" Requires="v">
                <p:oleObj r:id="rId2" imgW="3225800" imgH="1244600" progId="MSDraw">
                  <p:embed/>
                </p:oleObj>
              </mc:Choice>
              <mc:Fallback>
                <p:oleObj r:id="rId2" imgW="3225800" imgH="1244600" progId="MSDraw">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420888"/>
                        <a:ext cx="8058150" cy="3095625"/>
                      </a:xfrm>
                      <a:prstGeom prst="rect">
                        <a:avLst/>
                      </a:prstGeom>
                      <a:solidFill>
                        <a:srgbClr val="0000FF"/>
                      </a:solidFill>
                    </p:spPr>
                  </p:pic>
                </p:oleObj>
              </mc:Fallback>
            </mc:AlternateContent>
          </a:graphicData>
        </a:graphic>
      </p:graphicFrame>
      <p:sp>
        <p:nvSpPr>
          <p:cNvPr id="9" name="日期占位符 8">
            <a:extLst>
              <a:ext uri="{FF2B5EF4-FFF2-40B4-BE49-F238E27FC236}">
                <a16:creationId xmlns:a16="http://schemas.microsoft.com/office/drawing/2014/main" id="{DF6EBC3F-3914-5882-3288-87A272426AB0}"/>
              </a:ext>
            </a:extLst>
          </p:cNvPr>
          <p:cNvSpPr>
            <a:spLocks noGrp="1"/>
          </p:cNvSpPr>
          <p:nvPr>
            <p:ph type="dt" sz="half" idx="10"/>
          </p:nvPr>
        </p:nvSpPr>
        <p:spPr/>
        <p:txBody>
          <a:bodyPr/>
          <a:lstStyle/>
          <a:p>
            <a:fld id="{D7D1C67D-F6BD-41F2-BCEC-ED96444B1BBD}" type="datetime10">
              <a:rPr lang="en-US" altLang="zh-CN" smtClean="0"/>
              <a:t>16:53</a:t>
            </a:fld>
            <a:endParaRPr lang="en-US" altLang="zh-CN"/>
          </a:p>
        </p:txBody>
      </p:sp>
      <p:sp>
        <p:nvSpPr>
          <p:cNvPr id="10" name="灯片编号占位符 9">
            <a:extLst>
              <a:ext uri="{FF2B5EF4-FFF2-40B4-BE49-F238E27FC236}">
                <a16:creationId xmlns:a16="http://schemas.microsoft.com/office/drawing/2014/main" id="{F613CAFB-936F-598B-2EDB-721AB4743BB4}"/>
              </a:ext>
            </a:extLst>
          </p:cNvPr>
          <p:cNvSpPr>
            <a:spLocks noGrp="1"/>
          </p:cNvSpPr>
          <p:nvPr>
            <p:ph type="sldNum" sz="quarter" idx="12"/>
          </p:nvPr>
        </p:nvSpPr>
        <p:spPr/>
        <p:txBody>
          <a:bodyPr/>
          <a:lstStyle/>
          <a:p>
            <a:fld id="{B73B34B3-1432-4053-90C7-E0228297BE5F}" type="slidenum">
              <a:rPr lang="en-US" altLang="zh-CN" smtClean="0"/>
              <a:pPr/>
              <a:t>21</a:t>
            </a:fld>
            <a:endParaRPr lang="en-US" altLang="zh-CN"/>
          </a:p>
        </p:txBody>
      </p:sp>
    </p:spTree>
    <p:extLst>
      <p:ext uri="{BB962C8B-B14F-4D97-AF65-F5344CB8AC3E}">
        <p14:creationId xmlns:p14="http://schemas.microsoft.com/office/powerpoint/2010/main" val="19620384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394867"/>
            <a:ext cx="8229600" cy="360040"/>
          </a:xfrm>
        </p:spPr>
        <p:txBody>
          <a:bodyPr/>
          <a:lstStyle/>
          <a:p>
            <a:pPr lvl="0"/>
            <a:r>
              <a:rPr lang="en-US" altLang="zh-CN" sz="2800" b="1"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DCM</a:t>
            </a:r>
            <a:r>
              <a:rPr lang="zh-CN" altLang="en-US" sz="2800" b="1" dirty="0">
                <a:solidFill>
                  <a:srgbClr val="FF6600"/>
                </a:solidFill>
                <a:latin typeface="黑体" panose="02010609060101010101" pitchFamily="49" charset="-122"/>
                <a:ea typeface="黑体" panose="02010609060101010101" pitchFamily="49" charset="-122"/>
                <a:cs typeface="Times New Roman" panose="02020603050405020304" pitchFamily="18" charset="0"/>
              </a:rPr>
              <a:t>的物理模型：从原理认识电机的结构特征</a:t>
            </a:r>
            <a:br>
              <a:rPr lang="zh-CN" altLang="en-US" sz="1100" dirty="0">
                <a:solidFill>
                  <a:schemeClr val="tx1"/>
                </a:solidFill>
              </a:rPr>
            </a:br>
            <a:endParaRPr lang="zh-CN" altLang="en-US" dirty="0"/>
          </a:p>
        </p:txBody>
      </p:sp>
      <p:graphicFrame>
        <p:nvGraphicFramePr>
          <p:cNvPr id="5" name="对象 4"/>
          <p:cNvGraphicFramePr>
            <a:graphicFrameLocks noChangeAspect="1"/>
          </p:cNvGraphicFramePr>
          <p:nvPr>
            <p:extLst>
              <p:ext uri="{D42A27DB-BD31-4B8C-83A1-F6EECF244321}">
                <p14:modId xmlns:p14="http://schemas.microsoft.com/office/powerpoint/2010/main" val="3801338710"/>
              </p:ext>
            </p:extLst>
          </p:nvPr>
        </p:nvGraphicFramePr>
        <p:xfrm>
          <a:off x="183815" y="1698897"/>
          <a:ext cx="3590925" cy="3324225"/>
        </p:xfrm>
        <a:graphic>
          <a:graphicData uri="http://schemas.openxmlformats.org/presentationml/2006/ole">
            <mc:AlternateContent xmlns:mc="http://schemas.openxmlformats.org/markup-compatibility/2006">
              <mc:Choice xmlns:v="urn:schemas-microsoft-com:vml" Requires="v">
                <p:oleObj r:id="rId2" imgW="2032000" imgH="1890713" progId="MSDraw">
                  <p:embed/>
                </p:oleObj>
              </mc:Choice>
              <mc:Fallback>
                <p:oleObj r:id="rId2" imgW="2032000" imgH="1890713" progId="MSDraw">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815" y="1698897"/>
                        <a:ext cx="3590925" cy="3324225"/>
                      </a:xfrm>
                      <a:prstGeom prst="rect">
                        <a:avLst/>
                      </a:prstGeom>
                      <a:solidFill>
                        <a:srgbClr val="FFFFFF"/>
                      </a:solidFill>
                    </p:spPr>
                  </p:pic>
                </p:oleObj>
              </mc:Fallback>
            </mc:AlternateContent>
          </a:graphicData>
        </a:graphic>
      </p:graphicFrame>
      <p:sp>
        <p:nvSpPr>
          <p:cNvPr id="6" name="Rectangle 4"/>
          <p:cNvSpPr>
            <a:spLocks noChangeArrowheads="1"/>
          </p:cNvSpPr>
          <p:nvPr/>
        </p:nvSpPr>
        <p:spPr bwMode="auto">
          <a:xfrm>
            <a:off x="4716016" y="191683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2741308543"/>
              </p:ext>
            </p:extLst>
          </p:nvPr>
        </p:nvGraphicFramePr>
        <p:xfrm>
          <a:off x="4695924" y="1561245"/>
          <a:ext cx="3543300" cy="3276600"/>
        </p:xfrm>
        <a:graphic>
          <a:graphicData uri="http://schemas.openxmlformats.org/presentationml/2006/ole">
            <mc:AlternateContent xmlns:mc="http://schemas.openxmlformats.org/markup-compatibility/2006">
              <mc:Choice xmlns:v="urn:schemas-microsoft-com:vml" Requires="v">
                <p:oleObj r:id="rId4" imgW="2032000" imgH="1890713" progId="MSDraw">
                  <p:embed/>
                </p:oleObj>
              </mc:Choice>
              <mc:Fallback>
                <p:oleObj r:id="rId4" imgW="2032000" imgH="1890713" progId="MSDraw">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95924" y="1561245"/>
                        <a:ext cx="3543300" cy="3276600"/>
                      </a:xfrm>
                      <a:prstGeom prst="rect">
                        <a:avLst/>
                      </a:prstGeom>
                      <a:solidFill>
                        <a:srgbClr val="FFFFFF"/>
                      </a:solidFill>
                    </p:spPr>
                  </p:pic>
                </p:oleObj>
              </mc:Fallback>
            </mc:AlternateContent>
          </a:graphicData>
        </a:graphic>
      </p:graphicFrame>
      <p:sp>
        <p:nvSpPr>
          <p:cNvPr id="8" name="Rectangle 6"/>
          <p:cNvSpPr>
            <a:spLocks noChangeArrowheads="1"/>
          </p:cNvSpPr>
          <p:nvPr/>
        </p:nvSpPr>
        <p:spPr bwMode="auto">
          <a:xfrm>
            <a:off x="2339752" y="3361011"/>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9" name="对象 8"/>
          <p:cNvGraphicFramePr>
            <a:graphicFrameLocks noChangeAspect="1"/>
          </p:cNvGraphicFramePr>
          <p:nvPr>
            <p:extLst>
              <p:ext uri="{D42A27DB-BD31-4B8C-83A1-F6EECF244321}">
                <p14:modId xmlns:p14="http://schemas.microsoft.com/office/powerpoint/2010/main" val="2495784203"/>
              </p:ext>
            </p:extLst>
          </p:nvPr>
        </p:nvGraphicFramePr>
        <p:xfrm>
          <a:off x="2096641" y="1962031"/>
          <a:ext cx="5238750" cy="3648075"/>
        </p:xfrm>
        <a:graphic>
          <a:graphicData uri="http://schemas.openxmlformats.org/presentationml/2006/ole">
            <mc:AlternateContent xmlns:mc="http://schemas.openxmlformats.org/markup-compatibility/2006">
              <mc:Choice xmlns:v="urn:schemas-microsoft-com:vml" Requires="v">
                <p:oleObj r:id="rId6" imgW="3933333" imgH="3648584" progId="MSPhotoEd.3">
                  <p:embed/>
                </p:oleObj>
              </mc:Choice>
              <mc:Fallback>
                <p:oleObj r:id="rId6" imgW="3933333" imgH="3648584" progId="MSPhotoEd.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96641" y="1962031"/>
                        <a:ext cx="5238750" cy="3648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矩形 9"/>
          <p:cNvSpPr/>
          <p:nvPr/>
        </p:nvSpPr>
        <p:spPr>
          <a:xfrm>
            <a:off x="1187624" y="5913659"/>
            <a:ext cx="7499176" cy="461665"/>
          </a:xfrm>
          <a:prstGeom prst="rect">
            <a:avLst/>
          </a:prstGeom>
        </p:spPr>
        <p:txBody>
          <a:bodyPr wrap="square">
            <a:spAutoFit/>
          </a:bodyPr>
          <a:lstStyle/>
          <a:p>
            <a:pPr algn="just">
              <a:spcAft>
                <a:spcPts val="0"/>
              </a:spcAft>
            </a:pPr>
            <a:r>
              <a:rPr lang="zh-CN" altLang="zh-CN" sz="2400" b="1" kern="100" dirty="0">
                <a:solidFill>
                  <a:srgbClr val="0000FF"/>
                </a:solidFill>
                <a:latin typeface="Times New Roman" panose="02020603050405020304" pitchFamily="18" charset="0"/>
                <a:ea typeface="黑体" panose="02010609060101010101" pitchFamily="49" charset="-122"/>
              </a:rPr>
              <a:t>特点：每个磁极下的线圈元件边中电流方向固定不变。</a:t>
            </a:r>
            <a:endParaRPr lang="zh-CN" altLang="zh-CN" sz="2400" b="1" kern="100" dirty="0">
              <a:solidFill>
                <a:srgbClr val="0000FF"/>
              </a:solidFill>
              <a:effectLst/>
              <a:latin typeface="Times New Roman" panose="02020603050405020304" pitchFamily="18" charset="0"/>
            </a:endParaRPr>
          </a:p>
        </p:txBody>
      </p:sp>
      <p:sp>
        <p:nvSpPr>
          <p:cNvPr id="13" name="日期占位符 12">
            <a:extLst>
              <a:ext uri="{FF2B5EF4-FFF2-40B4-BE49-F238E27FC236}">
                <a16:creationId xmlns:a16="http://schemas.microsoft.com/office/drawing/2014/main" id="{F8634563-D5BB-67C4-E9F9-DA4F2B65A96D}"/>
              </a:ext>
            </a:extLst>
          </p:cNvPr>
          <p:cNvSpPr>
            <a:spLocks noGrp="1"/>
          </p:cNvSpPr>
          <p:nvPr>
            <p:ph type="dt" sz="half" idx="10"/>
          </p:nvPr>
        </p:nvSpPr>
        <p:spPr/>
        <p:txBody>
          <a:bodyPr/>
          <a:lstStyle/>
          <a:p>
            <a:fld id="{AD5633F5-AEDF-45D0-9AB7-8AB8D2BB599D}" type="datetime10">
              <a:rPr lang="en-US" altLang="zh-CN" smtClean="0"/>
              <a:t>16:53</a:t>
            </a:fld>
            <a:endParaRPr lang="en-US" altLang="zh-CN"/>
          </a:p>
        </p:txBody>
      </p:sp>
      <p:sp>
        <p:nvSpPr>
          <p:cNvPr id="14" name="灯片编号占位符 13">
            <a:extLst>
              <a:ext uri="{FF2B5EF4-FFF2-40B4-BE49-F238E27FC236}">
                <a16:creationId xmlns:a16="http://schemas.microsoft.com/office/drawing/2014/main" id="{36C27FC4-0374-4F93-AA50-A50B58DBCC41}"/>
              </a:ext>
            </a:extLst>
          </p:cNvPr>
          <p:cNvSpPr>
            <a:spLocks noGrp="1"/>
          </p:cNvSpPr>
          <p:nvPr>
            <p:ph type="sldNum" sz="quarter" idx="12"/>
          </p:nvPr>
        </p:nvSpPr>
        <p:spPr/>
        <p:txBody>
          <a:bodyPr/>
          <a:lstStyle/>
          <a:p>
            <a:fld id="{B73B34B3-1432-4053-90C7-E0228297BE5F}" type="slidenum">
              <a:rPr lang="en-US" altLang="zh-CN" smtClean="0"/>
              <a:pPr/>
              <a:t>22</a:t>
            </a:fld>
            <a:endParaRPr lang="en-US" altLang="zh-CN"/>
          </a:p>
        </p:txBody>
      </p:sp>
    </p:spTree>
    <p:extLst>
      <p:ext uri="{BB962C8B-B14F-4D97-AF65-F5344CB8AC3E}">
        <p14:creationId xmlns:p14="http://schemas.microsoft.com/office/powerpoint/2010/main" val="3382058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endParaRPr lang="zh-CN" altLang="en-US" dirty="0"/>
          </a:p>
        </p:txBody>
      </p:sp>
      <p:sp>
        <p:nvSpPr>
          <p:cNvPr id="4" name="Rectangle 2"/>
          <p:cNvSpPr>
            <a:spLocks noChangeArrowheads="1"/>
          </p:cNvSpPr>
          <p:nvPr/>
        </p:nvSpPr>
        <p:spPr bwMode="auto">
          <a:xfrm>
            <a:off x="457572" y="940713"/>
            <a:ext cx="6800260"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3200" b="1" i="0" u="none" strike="noStrike" cap="none" normalizeH="0" baseline="0" dirty="0">
                <a:ln>
                  <a:noFill/>
                </a:ln>
                <a:solidFill>
                  <a:srgbClr val="0000CC"/>
                </a:solidFill>
                <a:effectLst/>
                <a:latin typeface="黑体" panose="02010609060101010101" pitchFamily="49" charset="-122"/>
                <a:ea typeface="黑体" panose="02010609060101010101" pitchFamily="49" charset="-122"/>
                <a:cs typeface="Times New Roman" panose="02020603050405020304" pitchFamily="18" charset="0"/>
              </a:rPr>
              <a:t>直流发电机</a:t>
            </a:r>
            <a:r>
              <a:rPr kumimoji="0" lang="en-US" altLang="zh-CN" sz="3200" b="1" i="0" u="none" strike="noStrike" cap="none" normalizeH="0" baseline="0" dirty="0">
                <a:ln>
                  <a:noFill/>
                </a:ln>
                <a:solidFill>
                  <a:srgbClr val="0000CC"/>
                </a:solidFill>
                <a:effectLst/>
                <a:latin typeface="Times New Roman" panose="02020603050405020304" pitchFamily="18" charset="0"/>
                <a:ea typeface="黑体" panose="02010609060101010101" pitchFamily="49" charset="-122"/>
                <a:cs typeface="Times New Roman" panose="02020603050405020304" pitchFamily="18" charset="0"/>
              </a:rPr>
              <a:t>(dc generator)</a:t>
            </a:r>
            <a:r>
              <a:rPr kumimoji="0" lang="zh-CN" altLang="en-US" sz="3200" b="1" i="0" u="none" strike="noStrike" cap="none" normalizeH="0" baseline="0" dirty="0">
                <a:ln>
                  <a:noFill/>
                </a:ln>
                <a:solidFill>
                  <a:srgbClr val="0000CC"/>
                </a:solidFill>
                <a:effectLst/>
                <a:latin typeface="黑体" panose="02010609060101010101" pitchFamily="49" charset="-122"/>
                <a:ea typeface="黑体" panose="02010609060101010101" pitchFamily="49" charset="-122"/>
                <a:cs typeface="Times New Roman" panose="02020603050405020304" pitchFamily="18" charset="0"/>
              </a:rPr>
              <a:t>的物理模型</a:t>
            </a:r>
            <a:endParaRPr kumimoji="0" lang="zh-CN" altLang="en-US" sz="3200" b="0" i="0" u="none" strike="noStrike" cap="none" normalizeH="0" baseline="0" dirty="0">
              <a:ln>
                <a:noFill/>
              </a:ln>
              <a:solidFill>
                <a:srgbClr val="0000CC"/>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248840570"/>
              </p:ext>
            </p:extLst>
          </p:nvPr>
        </p:nvGraphicFramePr>
        <p:xfrm>
          <a:off x="871429" y="1728575"/>
          <a:ext cx="4733925" cy="3752850"/>
        </p:xfrm>
        <a:graphic>
          <a:graphicData uri="http://schemas.openxmlformats.org/presentationml/2006/ole">
            <mc:AlternateContent xmlns:mc="http://schemas.openxmlformats.org/markup-compatibility/2006">
              <mc:Choice xmlns:v="urn:schemas-microsoft-com:vml" Requires="v">
                <p:oleObj r:id="rId2" imgW="2414588" imgH="1917700" progId="MSDraw">
                  <p:embed/>
                </p:oleObj>
              </mc:Choice>
              <mc:Fallback>
                <p:oleObj r:id="rId2" imgW="2414588" imgH="1917700" progId="MSDraw">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1429" y="1728575"/>
                        <a:ext cx="4733925" cy="3752850"/>
                      </a:xfrm>
                      <a:prstGeom prst="rect">
                        <a:avLst/>
                      </a:prstGeom>
                      <a:solidFill>
                        <a:srgbClr val="FFFFFF"/>
                      </a:solidFill>
                    </p:spPr>
                  </p:pic>
                </p:oleObj>
              </mc:Fallback>
            </mc:AlternateContent>
          </a:graphicData>
        </a:graphic>
      </p:graphicFrame>
      <p:sp>
        <p:nvSpPr>
          <p:cNvPr id="6" name="Rectangle 3"/>
          <p:cNvSpPr>
            <a:spLocks noChangeArrowheads="1"/>
          </p:cNvSpPr>
          <p:nvPr/>
        </p:nvSpPr>
        <p:spPr bwMode="auto">
          <a:xfrm>
            <a:off x="107504" y="5674510"/>
            <a:ext cx="8840882"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8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特点：电枢旋转方向不变时，电刷上的电压极性恒定，</a:t>
            </a:r>
            <a:endParaRPr kumimoji="0" lang="en-US" altLang="zh-CN" sz="28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sz="28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感应电动势是交流变化的</a:t>
            </a:r>
            <a:r>
              <a:rPr kumimoji="0" lang="zh-CN" sz="2800" b="0"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sz="2800" b="0" i="0" u="none" strike="noStrike" cap="none" normalizeH="0" baseline="0" dirty="0">
              <a:ln>
                <a:noFill/>
              </a:ln>
              <a:solidFill>
                <a:schemeClr val="tx1"/>
              </a:solidFill>
              <a:effectLst/>
            </a:endParaRPr>
          </a:p>
        </p:txBody>
      </p:sp>
      <p:sp>
        <p:nvSpPr>
          <p:cNvPr id="10" name="日期占位符 9">
            <a:extLst>
              <a:ext uri="{FF2B5EF4-FFF2-40B4-BE49-F238E27FC236}">
                <a16:creationId xmlns:a16="http://schemas.microsoft.com/office/drawing/2014/main" id="{C4D0EE34-9103-E140-88E1-8F9FA056F739}"/>
              </a:ext>
            </a:extLst>
          </p:cNvPr>
          <p:cNvSpPr>
            <a:spLocks noGrp="1"/>
          </p:cNvSpPr>
          <p:nvPr>
            <p:ph type="dt" sz="half" idx="10"/>
          </p:nvPr>
        </p:nvSpPr>
        <p:spPr/>
        <p:txBody>
          <a:bodyPr/>
          <a:lstStyle/>
          <a:p>
            <a:fld id="{2F622CF0-4C9F-4D20-A72E-41A4B85848C4}" type="datetime10">
              <a:rPr lang="en-US" altLang="zh-CN" smtClean="0"/>
              <a:t>16:53</a:t>
            </a:fld>
            <a:endParaRPr lang="en-US" altLang="zh-CN"/>
          </a:p>
        </p:txBody>
      </p:sp>
      <p:sp>
        <p:nvSpPr>
          <p:cNvPr id="11" name="灯片编号占位符 10">
            <a:extLst>
              <a:ext uri="{FF2B5EF4-FFF2-40B4-BE49-F238E27FC236}">
                <a16:creationId xmlns:a16="http://schemas.microsoft.com/office/drawing/2014/main" id="{52622D10-EB96-8576-C575-D6777E8E9F73}"/>
              </a:ext>
            </a:extLst>
          </p:cNvPr>
          <p:cNvSpPr>
            <a:spLocks noGrp="1"/>
          </p:cNvSpPr>
          <p:nvPr>
            <p:ph type="sldNum" sz="quarter" idx="12"/>
          </p:nvPr>
        </p:nvSpPr>
        <p:spPr/>
        <p:txBody>
          <a:bodyPr/>
          <a:lstStyle/>
          <a:p>
            <a:fld id="{B73B34B3-1432-4053-90C7-E0228297BE5F}" type="slidenum">
              <a:rPr lang="en-US" altLang="zh-CN" smtClean="0"/>
              <a:pPr/>
              <a:t>23</a:t>
            </a:fld>
            <a:endParaRPr lang="en-US" altLang="zh-CN"/>
          </a:p>
        </p:txBody>
      </p:sp>
    </p:spTree>
    <p:extLst>
      <p:ext uri="{BB962C8B-B14F-4D97-AF65-F5344CB8AC3E}">
        <p14:creationId xmlns:p14="http://schemas.microsoft.com/office/powerpoint/2010/main" val="13761628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endParaRPr lang="zh-CN" altLang="en-US"/>
          </a:p>
        </p:txBody>
      </p:sp>
      <p:graphicFrame>
        <p:nvGraphicFramePr>
          <p:cNvPr id="4" name="对象 3"/>
          <p:cNvGraphicFramePr>
            <a:graphicFrameLocks noChangeAspect="1"/>
          </p:cNvGraphicFramePr>
          <p:nvPr>
            <p:extLst>
              <p:ext uri="{D42A27DB-BD31-4B8C-83A1-F6EECF244321}">
                <p14:modId xmlns:p14="http://schemas.microsoft.com/office/powerpoint/2010/main" val="3456528116"/>
              </p:ext>
            </p:extLst>
          </p:nvPr>
        </p:nvGraphicFramePr>
        <p:xfrm>
          <a:off x="611560" y="1131912"/>
          <a:ext cx="3409950" cy="3609975"/>
        </p:xfrm>
        <a:graphic>
          <a:graphicData uri="http://schemas.openxmlformats.org/presentationml/2006/ole">
            <mc:AlternateContent xmlns:mc="http://schemas.openxmlformats.org/markup-compatibility/2006">
              <mc:Choice xmlns:v="urn:schemas-microsoft-com:vml" Requires="v">
                <p:oleObj r:id="rId2" imgW="1778000" imgH="1890713" progId="MSDraw">
                  <p:embed/>
                </p:oleObj>
              </mc:Choice>
              <mc:Fallback>
                <p:oleObj r:id="rId2" imgW="1778000" imgH="1890713" progId="MSDraw">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1131912"/>
                        <a:ext cx="3409950" cy="3609975"/>
                      </a:xfrm>
                      <a:prstGeom prst="rect">
                        <a:avLst/>
                      </a:prstGeom>
                      <a:solidFill>
                        <a:srgbClr val="FFFFFF"/>
                      </a:solid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061555888"/>
              </p:ext>
            </p:extLst>
          </p:nvPr>
        </p:nvGraphicFramePr>
        <p:xfrm>
          <a:off x="4558432" y="1009699"/>
          <a:ext cx="3362325" cy="3629025"/>
        </p:xfrm>
        <a:graphic>
          <a:graphicData uri="http://schemas.openxmlformats.org/presentationml/2006/ole">
            <mc:AlternateContent xmlns:mc="http://schemas.openxmlformats.org/markup-compatibility/2006">
              <mc:Choice xmlns:v="urn:schemas-microsoft-com:vml" Requires="v">
                <p:oleObj r:id="rId4" imgW="1751013" imgH="1890713" progId="MSDraw">
                  <p:embed/>
                </p:oleObj>
              </mc:Choice>
              <mc:Fallback>
                <p:oleObj r:id="rId4" imgW="1751013" imgH="1890713" progId="MSDraw">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58432" y="1009699"/>
                        <a:ext cx="3362325" cy="3629025"/>
                      </a:xfrm>
                      <a:prstGeom prst="rect">
                        <a:avLst/>
                      </a:prstGeom>
                      <a:solidFill>
                        <a:srgbClr val="FFFFFF"/>
                      </a:solidFill>
                    </p:spPr>
                  </p:pic>
                </p:oleObj>
              </mc:Fallback>
            </mc:AlternateContent>
          </a:graphicData>
        </a:graphic>
      </p:graphicFrame>
      <p:sp>
        <p:nvSpPr>
          <p:cNvPr id="6" name="Rectangle 3"/>
          <p:cNvSpPr>
            <a:spLocks noChangeArrowheads="1"/>
          </p:cNvSpPr>
          <p:nvPr/>
        </p:nvSpPr>
        <p:spPr bwMode="auto">
          <a:xfrm>
            <a:off x="899592" y="369937"/>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4"/>
          <p:cNvSpPr>
            <a:spLocks noChangeArrowheads="1"/>
          </p:cNvSpPr>
          <p:nvPr/>
        </p:nvSpPr>
        <p:spPr bwMode="auto">
          <a:xfrm>
            <a:off x="7889" y="4588057"/>
            <a:ext cx="8812584"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800" b="0" i="0" u="none" strike="noStrike" cap="none" normalizeH="0" baseline="0" dirty="0">
                <a:ln>
                  <a:noFill/>
                </a:ln>
                <a:solidFill>
                  <a:srgbClr val="0000CC"/>
                </a:solidFill>
                <a:effectLst/>
                <a:latin typeface="华文楷体" panose="02010600040101010101" pitchFamily="2" charset="-122"/>
                <a:ea typeface="华文楷体" panose="02010600040101010101" pitchFamily="2" charset="-122"/>
                <a:cs typeface="Times New Roman" panose="02020603050405020304" pitchFamily="18" charset="0"/>
              </a:rPr>
              <a:t>同一直流电机可作发电机运行，也可作电动机运行，关键在</a:t>
            </a:r>
            <a:r>
              <a:rPr kumimoji="0" lang="zh-CN" altLang="en-US" sz="2800" b="0" i="0" u="none" strike="noStrike" cap="none" normalizeH="0" baseline="0" dirty="0">
                <a:ln>
                  <a:noFill/>
                </a:ln>
                <a:solidFill>
                  <a:srgbClr val="0000CC"/>
                </a:solidFill>
                <a:effectLst/>
                <a:latin typeface="华文楷体" panose="02010600040101010101" pitchFamily="2" charset="-122"/>
                <a:ea typeface="华文楷体" panose="02010600040101010101" pitchFamily="2" charset="-122"/>
                <a:cs typeface="Times New Roman" panose="02020603050405020304" pitchFamily="18" charset="0"/>
              </a:rPr>
              <a:t>于</a:t>
            </a:r>
            <a:r>
              <a:rPr kumimoji="0" lang="zh-CN" sz="2800" b="1" i="0" u="none" strike="noStrike" cap="none" normalizeH="0" baseline="0" dirty="0">
                <a:ln>
                  <a:noFill/>
                </a:ln>
                <a:solidFill>
                  <a:srgbClr val="0000CC"/>
                </a:solidFill>
                <a:effectLst/>
                <a:latin typeface="华文楷体" panose="02010600040101010101" pitchFamily="2" charset="-122"/>
                <a:ea typeface="华文楷体" panose="02010600040101010101" pitchFamily="2" charset="-122"/>
                <a:cs typeface="Times New Roman" panose="02020603050405020304" pitchFamily="18" charset="0"/>
              </a:rPr>
              <a:t>输入功率的性质</a:t>
            </a:r>
            <a:r>
              <a:rPr kumimoji="0" lang="zh-CN" sz="2800" b="0" i="0" u="none" strike="noStrike" cap="none" normalizeH="0" baseline="0" dirty="0">
                <a:ln>
                  <a:noFill/>
                </a:ln>
                <a:solidFill>
                  <a:srgbClr val="0000CC"/>
                </a:solidFill>
                <a:effectLst/>
                <a:latin typeface="华文楷体" panose="02010600040101010101" pitchFamily="2" charset="-122"/>
                <a:ea typeface="华文楷体" panose="02010600040101010101" pitchFamily="2" charset="-122"/>
                <a:cs typeface="Times New Roman" panose="02020603050405020304" pitchFamily="18" charset="0"/>
              </a:rPr>
              <a:t>；</a:t>
            </a:r>
            <a:endParaRPr kumimoji="0" lang="zh-CN" sz="2800" b="0" i="0" u="none" strike="noStrike" cap="none" normalizeH="0" baseline="0" dirty="0">
              <a:ln>
                <a:noFill/>
              </a:ln>
              <a:solidFill>
                <a:srgbClr val="0000CC"/>
              </a:solidFill>
              <a:effectLst/>
              <a:latin typeface="华文楷体" panose="02010600040101010101" pitchFamily="2" charset="-122"/>
              <a:ea typeface="华文楷体" panose="0201060004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0" i="0" u="none" strike="noStrike" cap="none" normalizeH="0" baseline="0" dirty="0">
                <a:ln>
                  <a:noFill/>
                </a:ln>
                <a:solidFill>
                  <a:srgbClr val="000000"/>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zh-CN" sz="2800" b="1" i="0" u="none" strike="noStrike" cap="none" normalizeH="0" baseline="0" dirty="0">
                <a:ln>
                  <a:noFill/>
                </a:ln>
                <a:solidFill>
                  <a:srgbClr val="FF0000"/>
                </a:solidFill>
                <a:effectLst/>
                <a:latin typeface="华文楷体" panose="02010600040101010101" pitchFamily="2" charset="-122"/>
                <a:ea typeface="华文楷体" panose="02010600040101010101" pitchFamily="2" charset="-122"/>
                <a:cs typeface="Times New Roman" panose="02020603050405020304" pitchFamily="18" charset="0"/>
              </a:rPr>
              <a:t>发电机原理和电动机原理总是同时出现的，这是实现能量转换平衡的关键</a:t>
            </a:r>
            <a:r>
              <a:rPr kumimoji="0" lang="zh-CN" sz="2800" b="0" i="0" u="none" strike="noStrike" cap="none" normalizeH="0" baseline="0" dirty="0">
                <a:ln>
                  <a:noFill/>
                </a:ln>
                <a:solidFill>
                  <a:srgbClr val="000000"/>
                </a:solidFill>
                <a:effectLst/>
                <a:latin typeface="华文楷体" panose="02010600040101010101" pitchFamily="2" charset="-122"/>
                <a:ea typeface="华文楷体" panose="02010600040101010101" pitchFamily="2" charset="-122"/>
                <a:cs typeface="Times New Roman" panose="02020603050405020304" pitchFamily="18" charset="0"/>
              </a:rPr>
              <a:t>。</a:t>
            </a:r>
            <a:endParaRPr kumimoji="0" lang="zh-CN" sz="28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endParaRPr>
          </a:p>
        </p:txBody>
      </p:sp>
      <p:sp>
        <p:nvSpPr>
          <p:cNvPr id="11" name="日期占位符 10">
            <a:extLst>
              <a:ext uri="{FF2B5EF4-FFF2-40B4-BE49-F238E27FC236}">
                <a16:creationId xmlns:a16="http://schemas.microsoft.com/office/drawing/2014/main" id="{99082445-A592-4EC7-3DF2-EED713E2A785}"/>
              </a:ext>
            </a:extLst>
          </p:cNvPr>
          <p:cNvSpPr>
            <a:spLocks noGrp="1"/>
          </p:cNvSpPr>
          <p:nvPr>
            <p:ph type="dt" sz="half" idx="10"/>
          </p:nvPr>
        </p:nvSpPr>
        <p:spPr/>
        <p:txBody>
          <a:bodyPr/>
          <a:lstStyle/>
          <a:p>
            <a:fld id="{9341041F-7177-44C9-B61C-3512A6AB337C}" type="datetime10">
              <a:rPr lang="en-US" altLang="zh-CN" smtClean="0"/>
              <a:t>16:53</a:t>
            </a:fld>
            <a:endParaRPr lang="en-US" altLang="zh-CN"/>
          </a:p>
        </p:txBody>
      </p:sp>
      <p:sp>
        <p:nvSpPr>
          <p:cNvPr id="12" name="灯片编号占位符 11">
            <a:extLst>
              <a:ext uri="{FF2B5EF4-FFF2-40B4-BE49-F238E27FC236}">
                <a16:creationId xmlns:a16="http://schemas.microsoft.com/office/drawing/2014/main" id="{584078A0-ACD4-590C-B62B-37F90C3440BC}"/>
              </a:ext>
            </a:extLst>
          </p:cNvPr>
          <p:cNvSpPr>
            <a:spLocks noGrp="1"/>
          </p:cNvSpPr>
          <p:nvPr>
            <p:ph type="sldNum" sz="quarter" idx="12"/>
          </p:nvPr>
        </p:nvSpPr>
        <p:spPr/>
        <p:txBody>
          <a:bodyPr/>
          <a:lstStyle/>
          <a:p>
            <a:fld id="{B73B34B3-1432-4053-90C7-E0228297BE5F}" type="slidenum">
              <a:rPr lang="en-US" altLang="zh-CN" smtClean="0"/>
              <a:pPr/>
              <a:t>24</a:t>
            </a:fld>
            <a:endParaRPr lang="en-US" altLang="zh-CN"/>
          </a:p>
        </p:txBody>
      </p:sp>
    </p:spTree>
    <p:extLst>
      <p:ext uri="{BB962C8B-B14F-4D97-AF65-F5344CB8AC3E}">
        <p14:creationId xmlns:p14="http://schemas.microsoft.com/office/powerpoint/2010/main" val="17374031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2920" y="1196752"/>
            <a:ext cx="8229600" cy="4525963"/>
          </a:xfrm>
        </p:spPr>
        <p:txBody>
          <a:bodyPr/>
          <a:lstStyle/>
          <a:p>
            <a:r>
              <a:rPr lang="zh-CN" altLang="zh-CN" b="1" dirty="0">
                <a:solidFill>
                  <a:srgbClr val="0000CC"/>
                </a:solidFill>
                <a:latin typeface="华文楷体" panose="02010600040101010101" pitchFamily="2" charset="-122"/>
                <a:ea typeface="华文楷体" panose="02010600040101010101" pitchFamily="2" charset="-122"/>
              </a:rPr>
              <a:t>发电</a:t>
            </a:r>
            <a:r>
              <a:rPr lang="zh-CN" altLang="zh-CN" dirty="0">
                <a:solidFill>
                  <a:srgbClr val="0000CC"/>
                </a:solidFill>
                <a:latin typeface="华文楷体" panose="02010600040101010101" pitchFamily="2" charset="-122"/>
                <a:ea typeface="华文楷体" panose="02010600040101010101" pitchFamily="2" charset="-122"/>
              </a:rPr>
              <a:t>：输出电功率同时，导体元件中产生电流</a:t>
            </a:r>
            <a:r>
              <a:rPr lang="en-US" altLang="zh-CN" dirty="0">
                <a:solidFill>
                  <a:srgbClr val="0000CC"/>
                </a:solidFill>
                <a:latin typeface="华文楷体" panose="02010600040101010101" pitchFamily="2" charset="-122"/>
                <a:ea typeface="华文楷体" panose="02010600040101010101" pitchFamily="2" charset="-122"/>
              </a:rPr>
              <a:t> </a:t>
            </a:r>
            <a:r>
              <a:rPr lang="zh-CN" altLang="zh-CN" dirty="0">
                <a:solidFill>
                  <a:srgbClr val="0000CC"/>
                </a:solidFill>
                <a:latin typeface="华文楷体" panose="02010600040101010101" pitchFamily="2" charset="-122"/>
                <a:ea typeface="华文楷体" panose="02010600040101010101" pitchFamily="2" charset="-122"/>
              </a:rPr>
              <a:t>依</a:t>
            </a:r>
            <a:r>
              <a:rPr lang="en-US" altLang="zh-CN" b="1" i="1" dirty="0">
                <a:solidFill>
                  <a:srgbClr val="0000CC"/>
                </a:solidFill>
                <a:latin typeface="华文楷体" panose="02010600040101010101" pitchFamily="2" charset="-122"/>
                <a:ea typeface="华文楷体" panose="02010600040101010101" pitchFamily="2" charset="-122"/>
              </a:rPr>
              <a:t>F</a:t>
            </a:r>
            <a:r>
              <a:rPr lang="zh-CN" altLang="zh-CN" b="1" i="1" dirty="0">
                <a:solidFill>
                  <a:srgbClr val="0000CC"/>
                </a:solidFill>
                <a:latin typeface="华文楷体" panose="02010600040101010101" pitchFamily="2" charset="-122"/>
                <a:ea typeface="华文楷体" panose="02010600040101010101" pitchFamily="2" charset="-122"/>
              </a:rPr>
              <a:t>＝</a:t>
            </a:r>
            <a:r>
              <a:rPr lang="en-US" altLang="zh-CN" b="1" i="1" dirty="0" err="1">
                <a:solidFill>
                  <a:srgbClr val="0000CC"/>
                </a:solidFill>
                <a:latin typeface="华文楷体" panose="02010600040101010101" pitchFamily="2" charset="-122"/>
                <a:ea typeface="华文楷体" panose="02010600040101010101" pitchFamily="2" charset="-122"/>
              </a:rPr>
              <a:t>Bli</a:t>
            </a:r>
            <a:r>
              <a:rPr lang="zh-CN" altLang="zh-CN" dirty="0">
                <a:solidFill>
                  <a:srgbClr val="0000CC"/>
                </a:solidFill>
                <a:latin typeface="华文楷体" panose="02010600040101010101" pitchFamily="2" charset="-122"/>
                <a:ea typeface="华文楷体" panose="02010600040101010101" pitchFamily="2" charset="-122"/>
              </a:rPr>
              <a:t>产生 反转矩</a:t>
            </a:r>
            <a:r>
              <a:rPr lang="en-US" altLang="zh-CN" dirty="0">
                <a:solidFill>
                  <a:srgbClr val="0000CC"/>
                </a:solidFill>
                <a:latin typeface="华文楷体" panose="02010600040101010101" pitchFamily="2" charset="-122"/>
                <a:ea typeface="华文楷体" panose="02010600040101010101" pitchFamily="2" charset="-122"/>
              </a:rPr>
              <a:t>(opposite electromagnetic torque)</a:t>
            </a:r>
            <a:r>
              <a:rPr lang="zh-CN" altLang="zh-CN" dirty="0">
                <a:solidFill>
                  <a:srgbClr val="0000CC"/>
                </a:solidFill>
                <a:latin typeface="华文楷体" panose="02010600040101010101" pitchFamily="2" charset="-122"/>
                <a:ea typeface="华文楷体" panose="02010600040101010101" pitchFamily="2" charset="-122"/>
              </a:rPr>
              <a:t>；</a:t>
            </a:r>
            <a:r>
              <a:rPr lang="en-US" altLang="zh-CN" dirty="0">
                <a:solidFill>
                  <a:srgbClr val="0000CC"/>
                </a:solidFill>
                <a:latin typeface="华文楷体" panose="02010600040101010101" pitchFamily="2" charset="-122"/>
                <a:ea typeface="华文楷体" panose="02010600040101010101" pitchFamily="2" charset="-122"/>
              </a:rPr>
              <a:t> </a:t>
            </a:r>
            <a:r>
              <a:rPr lang="zh-CN" altLang="zh-CN" b="1" dirty="0">
                <a:solidFill>
                  <a:srgbClr val="0000CC"/>
                </a:solidFill>
                <a:latin typeface="华文楷体" panose="02010600040101010101" pitchFamily="2" charset="-122"/>
                <a:ea typeface="华文楷体" panose="02010600040101010101" pitchFamily="2" charset="-122"/>
              </a:rPr>
              <a:t>平衡原动机拖动转矩，使发电机转速稳定</a:t>
            </a:r>
            <a:r>
              <a:rPr lang="zh-CN" altLang="en-US" b="1" dirty="0">
                <a:solidFill>
                  <a:srgbClr val="0000CC"/>
                </a:solidFill>
                <a:latin typeface="华文楷体" panose="02010600040101010101" pitchFamily="2" charset="-122"/>
                <a:ea typeface="华文楷体" panose="02010600040101010101" pitchFamily="2" charset="-122"/>
              </a:rPr>
              <a:t>（外在表现）</a:t>
            </a:r>
            <a:r>
              <a:rPr lang="zh-CN" altLang="zh-CN" b="1" dirty="0">
                <a:solidFill>
                  <a:srgbClr val="0000CC"/>
                </a:solidFill>
                <a:latin typeface="华文楷体" panose="02010600040101010101" pitchFamily="2" charset="-122"/>
                <a:ea typeface="华文楷体" panose="02010600040101010101" pitchFamily="2" charset="-122"/>
              </a:rPr>
              <a:t>。</a:t>
            </a:r>
            <a:endParaRPr lang="zh-CN" altLang="zh-CN" dirty="0">
              <a:solidFill>
                <a:srgbClr val="0000CC"/>
              </a:solidFill>
              <a:latin typeface="华文楷体" panose="02010600040101010101" pitchFamily="2" charset="-122"/>
              <a:ea typeface="华文楷体" panose="02010600040101010101" pitchFamily="2" charset="-122"/>
            </a:endParaRPr>
          </a:p>
          <a:p>
            <a:r>
              <a:rPr lang="en-US" altLang="zh-CN" dirty="0">
                <a:solidFill>
                  <a:srgbClr val="0000CC"/>
                </a:solidFill>
                <a:latin typeface="华文楷体" panose="02010600040101010101" pitchFamily="2" charset="-122"/>
                <a:ea typeface="华文楷体" panose="02010600040101010101" pitchFamily="2" charset="-122"/>
              </a:rPr>
              <a:t> </a:t>
            </a:r>
            <a:r>
              <a:rPr lang="zh-CN" altLang="zh-CN" b="1" dirty="0">
                <a:solidFill>
                  <a:srgbClr val="0000CC"/>
                </a:solidFill>
                <a:latin typeface="华文楷体" panose="02010600040101010101" pitchFamily="2" charset="-122"/>
                <a:ea typeface="华文楷体" panose="02010600040101010101" pitchFamily="2" charset="-122"/>
              </a:rPr>
              <a:t>电动：</a:t>
            </a:r>
            <a:r>
              <a:rPr lang="zh-CN" altLang="zh-CN" dirty="0">
                <a:solidFill>
                  <a:srgbClr val="0000CC"/>
                </a:solidFill>
                <a:latin typeface="华文楷体" panose="02010600040101010101" pitchFamily="2" charset="-122"/>
                <a:ea typeface="华文楷体" panose="02010600040101010101" pitchFamily="2" charset="-122"/>
              </a:rPr>
              <a:t>轴上输出机械功率同时导体元件在主磁极下运动</a:t>
            </a:r>
            <a:r>
              <a:rPr lang="zh-CN" altLang="en-US" dirty="0">
                <a:solidFill>
                  <a:srgbClr val="0000CC"/>
                </a:solidFill>
                <a:latin typeface="华文楷体" panose="02010600040101010101" pitchFamily="2" charset="-122"/>
                <a:ea typeface="华文楷体" panose="02010600040101010101" pitchFamily="2" charset="-122"/>
              </a:rPr>
              <a:t>，</a:t>
            </a:r>
            <a:r>
              <a:rPr lang="zh-CN" altLang="zh-CN" dirty="0">
                <a:solidFill>
                  <a:srgbClr val="0000CC"/>
                </a:solidFill>
                <a:latin typeface="华文楷体" panose="02010600040101010101" pitchFamily="2" charset="-122"/>
                <a:ea typeface="华文楷体" panose="02010600040101010101" pitchFamily="2" charset="-122"/>
              </a:rPr>
              <a:t>依</a:t>
            </a:r>
            <a:r>
              <a:rPr lang="en-US" altLang="zh-CN" b="1" i="1" dirty="0">
                <a:solidFill>
                  <a:srgbClr val="0000CC"/>
                </a:solidFill>
                <a:latin typeface="华文楷体" panose="02010600040101010101" pitchFamily="2" charset="-122"/>
                <a:ea typeface="华文楷体" panose="02010600040101010101" pitchFamily="2" charset="-122"/>
              </a:rPr>
              <a:t>e =</a:t>
            </a:r>
            <a:r>
              <a:rPr lang="en-US" altLang="zh-CN" b="1" i="1" dirty="0" err="1">
                <a:solidFill>
                  <a:srgbClr val="0000CC"/>
                </a:solidFill>
                <a:latin typeface="华文楷体" panose="02010600040101010101" pitchFamily="2" charset="-122"/>
                <a:ea typeface="华文楷体" panose="02010600040101010101" pitchFamily="2" charset="-122"/>
              </a:rPr>
              <a:t>Blv</a:t>
            </a:r>
            <a:r>
              <a:rPr lang="zh-CN" altLang="zh-CN" dirty="0">
                <a:solidFill>
                  <a:srgbClr val="0000CC"/>
                </a:solidFill>
                <a:latin typeface="华文楷体" panose="02010600040101010101" pitchFamily="2" charset="-122"/>
                <a:ea typeface="华文楷体" panose="02010600040101010101" pitchFamily="2" charset="-122"/>
              </a:rPr>
              <a:t>产生 </a:t>
            </a:r>
            <a:r>
              <a:rPr lang="zh-CN" altLang="zh-CN" b="1" dirty="0">
                <a:solidFill>
                  <a:srgbClr val="0000CC"/>
                </a:solidFill>
                <a:latin typeface="华文楷体" panose="02010600040101010101" pitchFamily="2" charset="-122"/>
                <a:ea typeface="华文楷体" panose="02010600040101010101" pitchFamily="2" charset="-122"/>
              </a:rPr>
              <a:t>反电动势</a:t>
            </a:r>
            <a:r>
              <a:rPr lang="en-US" altLang="zh-CN" dirty="0">
                <a:solidFill>
                  <a:srgbClr val="0000CC"/>
                </a:solidFill>
                <a:latin typeface="华文楷体" panose="02010600040101010101" pitchFamily="2" charset="-122"/>
                <a:ea typeface="华文楷体" panose="02010600040101010101" pitchFamily="2" charset="-122"/>
              </a:rPr>
              <a:t>(counter-electromotive force, </a:t>
            </a:r>
            <a:r>
              <a:rPr lang="en-US" altLang="zh-CN" dirty="0" err="1">
                <a:solidFill>
                  <a:srgbClr val="0000CC"/>
                </a:solidFill>
                <a:latin typeface="华文楷体" panose="02010600040101010101" pitchFamily="2" charset="-122"/>
                <a:ea typeface="华文楷体" panose="02010600040101010101" pitchFamily="2" charset="-122"/>
              </a:rPr>
              <a:t>cemf</a:t>
            </a:r>
            <a:r>
              <a:rPr lang="en-US" altLang="zh-CN" dirty="0">
                <a:solidFill>
                  <a:srgbClr val="0000CC"/>
                </a:solidFill>
                <a:latin typeface="华文楷体" panose="02010600040101010101" pitchFamily="2" charset="-122"/>
                <a:ea typeface="华文楷体" panose="02010600040101010101" pitchFamily="2" charset="-122"/>
              </a:rPr>
              <a:t>)</a:t>
            </a:r>
            <a:r>
              <a:rPr lang="zh-CN" altLang="en-US" dirty="0">
                <a:solidFill>
                  <a:srgbClr val="0000CC"/>
                </a:solidFill>
                <a:latin typeface="华文楷体" panose="02010600040101010101" pitchFamily="2" charset="-122"/>
                <a:ea typeface="华文楷体" panose="02010600040101010101" pitchFamily="2" charset="-122"/>
              </a:rPr>
              <a:t>；</a:t>
            </a:r>
            <a:r>
              <a:rPr lang="en-US" altLang="zh-CN" dirty="0">
                <a:solidFill>
                  <a:srgbClr val="0000CC"/>
                </a:solidFill>
                <a:latin typeface="华文楷体" panose="02010600040101010101" pitchFamily="2" charset="-122"/>
                <a:ea typeface="华文楷体" panose="02010600040101010101" pitchFamily="2" charset="-122"/>
              </a:rPr>
              <a:t> </a:t>
            </a:r>
            <a:r>
              <a:rPr lang="zh-CN" altLang="zh-CN" dirty="0">
                <a:solidFill>
                  <a:srgbClr val="0000CC"/>
                </a:solidFill>
                <a:latin typeface="华文楷体" panose="02010600040101010101" pitchFamily="2" charset="-122"/>
                <a:ea typeface="华文楷体" panose="02010600040101010101" pitchFamily="2" charset="-122"/>
              </a:rPr>
              <a:t>平衡外加电源电压，限制导体元件电流和电动机电磁转矩，</a:t>
            </a:r>
            <a:r>
              <a:rPr lang="zh-CN" altLang="zh-CN" b="1" dirty="0">
                <a:solidFill>
                  <a:srgbClr val="0000CC"/>
                </a:solidFill>
                <a:latin typeface="华文楷体" panose="02010600040101010101" pitchFamily="2" charset="-122"/>
                <a:ea typeface="华文楷体" panose="02010600040101010101" pitchFamily="2" charset="-122"/>
              </a:rPr>
              <a:t>平衡负载转矩，使电动机转速稳定</a:t>
            </a:r>
            <a:r>
              <a:rPr lang="zh-CN" altLang="en-US" b="1" dirty="0">
                <a:solidFill>
                  <a:srgbClr val="0000CC"/>
                </a:solidFill>
                <a:latin typeface="华文楷体" panose="02010600040101010101" pitchFamily="2" charset="-122"/>
                <a:ea typeface="华文楷体" panose="02010600040101010101" pitchFamily="2" charset="-122"/>
              </a:rPr>
              <a:t>（外在表现） </a:t>
            </a:r>
            <a:r>
              <a:rPr lang="zh-CN" altLang="zh-CN" b="1" dirty="0">
                <a:solidFill>
                  <a:srgbClr val="0000CC"/>
                </a:solidFill>
                <a:latin typeface="华文楷体" panose="02010600040101010101" pitchFamily="2" charset="-122"/>
                <a:ea typeface="华文楷体" panose="02010600040101010101" pitchFamily="2" charset="-122"/>
              </a:rPr>
              <a:t>。</a:t>
            </a:r>
            <a:endParaRPr lang="zh-CN" altLang="zh-CN" dirty="0">
              <a:solidFill>
                <a:srgbClr val="0000CC"/>
              </a:solidFill>
              <a:latin typeface="华文楷体" panose="02010600040101010101" pitchFamily="2" charset="-122"/>
              <a:ea typeface="华文楷体" panose="02010600040101010101" pitchFamily="2" charset="-122"/>
            </a:endParaRPr>
          </a:p>
          <a:p>
            <a:endParaRPr lang="zh-CN" altLang="en-US" dirty="0"/>
          </a:p>
        </p:txBody>
      </p:sp>
      <p:sp>
        <p:nvSpPr>
          <p:cNvPr id="7" name="日期占位符 6">
            <a:extLst>
              <a:ext uri="{FF2B5EF4-FFF2-40B4-BE49-F238E27FC236}">
                <a16:creationId xmlns:a16="http://schemas.microsoft.com/office/drawing/2014/main" id="{0A1285C9-8A1A-B920-E9FC-B5FA76A5FF40}"/>
              </a:ext>
            </a:extLst>
          </p:cNvPr>
          <p:cNvSpPr>
            <a:spLocks noGrp="1"/>
          </p:cNvSpPr>
          <p:nvPr>
            <p:ph type="dt" sz="half" idx="10"/>
          </p:nvPr>
        </p:nvSpPr>
        <p:spPr/>
        <p:txBody>
          <a:bodyPr/>
          <a:lstStyle/>
          <a:p>
            <a:fld id="{009E68D4-ACE7-4A01-A0DF-F5186A0C0903}" type="datetime10">
              <a:rPr lang="en-US" altLang="zh-CN" smtClean="0"/>
              <a:t>16:53</a:t>
            </a:fld>
            <a:endParaRPr lang="en-US" altLang="zh-CN"/>
          </a:p>
        </p:txBody>
      </p:sp>
      <p:sp>
        <p:nvSpPr>
          <p:cNvPr id="8" name="灯片编号占位符 7">
            <a:extLst>
              <a:ext uri="{FF2B5EF4-FFF2-40B4-BE49-F238E27FC236}">
                <a16:creationId xmlns:a16="http://schemas.microsoft.com/office/drawing/2014/main" id="{EB86C0D2-7F27-7554-EAEB-87AD771490D9}"/>
              </a:ext>
            </a:extLst>
          </p:cNvPr>
          <p:cNvSpPr>
            <a:spLocks noGrp="1"/>
          </p:cNvSpPr>
          <p:nvPr>
            <p:ph type="sldNum" sz="quarter" idx="12"/>
          </p:nvPr>
        </p:nvSpPr>
        <p:spPr/>
        <p:txBody>
          <a:bodyPr/>
          <a:lstStyle/>
          <a:p>
            <a:fld id="{B73B34B3-1432-4053-90C7-E0228297BE5F}" type="slidenum">
              <a:rPr lang="en-US" altLang="zh-CN" smtClean="0"/>
              <a:pPr/>
              <a:t>25</a:t>
            </a:fld>
            <a:endParaRPr lang="en-US" altLang="zh-CN"/>
          </a:p>
        </p:txBody>
      </p:sp>
    </p:spTree>
    <p:extLst>
      <p:ext uri="{BB962C8B-B14F-4D97-AF65-F5344CB8AC3E}">
        <p14:creationId xmlns:p14="http://schemas.microsoft.com/office/powerpoint/2010/main" val="39552098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1600200"/>
            <a:ext cx="8507288" cy="4525963"/>
          </a:xfrm>
        </p:spPr>
        <p:txBody>
          <a:bodyPr/>
          <a:lstStyle/>
          <a:p>
            <a:pPr marL="0" lvl="0" indent="0" eaLnBrk="0" hangingPunct="0">
              <a:spcBef>
                <a:spcPct val="0"/>
              </a:spcBef>
              <a:buNone/>
            </a:pPr>
            <a:endParaRPr lang="en-US" altLang="zh-CN"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a:p>
            <a:pPr marL="0" lvl="0" indent="0" eaLnBrk="0" hangingPunct="0">
              <a:spcBef>
                <a:spcPct val="0"/>
              </a:spcBef>
              <a:buNone/>
            </a:pPr>
            <a:endParaRPr lang="en-US" altLang="zh-CN"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a:p>
            <a:pPr marL="0" lvl="0" indent="0" eaLnBrk="0" hangingPunct="0">
              <a:spcBef>
                <a:spcPct val="0"/>
              </a:spcBef>
              <a:buNone/>
            </a:pPr>
            <a:endParaRPr lang="en-US" altLang="zh-CN"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a:p>
            <a:pPr marL="0" lvl="0" indent="0" eaLnBrk="0" hangingPunct="0">
              <a:spcBef>
                <a:spcPct val="0"/>
              </a:spcBef>
              <a:buNone/>
            </a:pPr>
            <a:endParaRPr lang="en-US" altLang="zh-CN"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a:p>
            <a:pPr marL="0" lvl="0" indent="0" eaLnBrk="0" hangingPunct="0">
              <a:spcBef>
                <a:spcPct val="0"/>
              </a:spcBef>
              <a:buNone/>
            </a:pPr>
            <a:endParaRPr lang="en-US" altLang="zh-CN" sz="2800" b="1"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endParaRPr>
          </a:p>
          <a:p>
            <a:pPr marL="0" lvl="0" indent="0" eaLnBrk="0" hangingPunct="0">
              <a:spcBef>
                <a:spcPct val="0"/>
              </a:spcBef>
              <a:buNone/>
            </a:pPr>
            <a:r>
              <a:rPr lang="zh-CN" altLang="zh-CN" sz="2800" b="1"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思考</a:t>
            </a:r>
            <a:r>
              <a:rPr lang="zh-CN" altLang="zh-CN" sz="28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：直流电机为什么要保证</a:t>
            </a:r>
            <a:r>
              <a:rPr lang="zh-CN" altLang="zh-CN" sz="2800" dirty="0">
                <a:latin typeface="华文楷体" panose="02010600040101010101" pitchFamily="2" charset="-122"/>
                <a:ea typeface="华文楷体" panose="02010600040101010101" pitchFamily="2" charset="-122"/>
                <a:cs typeface="Times New Roman" panose="02020603050405020304" pitchFamily="18" charset="0"/>
              </a:rPr>
              <a:t>每个磁极下的线圈元件边中电流方向固定不变？一对磁极时线圈空间旋转一周，线圈中的电流方向要改变几次？如果线圈旋转速度为</a:t>
            </a:r>
            <a:r>
              <a:rPr lang="en-US" altLang="zh-CN" sz="2800" dirty="0">
                <a:latin typeface="华文楷体" panose="02010600040101010101" pitchFamily="2" charset="-122"/>
                <a:ea typeface="华文楷体" panose="02010600040101010101" pitchFamily="2" charset="-122"/>
                <a:cs typeface="Times New Roman" panose="02020603050405020304" pitchFamily="18" charset="0"/>
              </a:rPr>
              <a:t>1200</a:t>
            </a:r>
            <a:r>
              <a:rPr lang="zh-CN" altLang="en-US" sz="2800" dirty="0">
                <a:latin typeface="华文楷体" panose="02010600040101010101" pitchFamily="2" charset="-122"/>
                <a:ea typeface="华文楷体" panose="02010600040101010101" pitchFamily="2" charset="-122"/>
                <a:cs typeface="Times New Roman" panose="02020603050405020304" pitchFamily="18" charset="0"/>
              </a:rPr>
              <a:t>转</a:t>
            </a:r>
            <a:r>
              <a:rPr lang="en-US" altLang="zh-CN" sz="2800" dirty="0">
                <a:latin typeface="华文楷体" panose="02010600040101010101" pitchFamily="2" charset="-122"/>
                <a:ea typeface="华文楷体" panose="02010600040101010101" pitchFamily="2" charset="-122"/>
                <a:cs typeface="Times New Roman" panose="02020603050405020304" pitchFamily="18" charset="0"/>
              </a:rPr>
              <a:t>/</a:t>
            </a:r>
            <a:r>
              <a:rPr lang="zh-CN" altLang="en-US" sz="2800" dirty="0">
                <a:latin typeface="华文楷体" panose="02010600040101010101" pitchFamily="2" charset="-122"/>
                <a:ea typeface="华文楷体" panose="02010600040101010101" pitchFamily="2" charset="-122"/>
                <a:cs typeface="Times New Roman" panose="02020603050405020304" pitchFamily="18" charset="0"/>
              </a:rPr>
              <a:t>分，则线圈中电流每秒要改变几次方向？</a:t>
            </a:r>
            <a:endParaRPr lang="zh-CN" altLang="en-US" sz="2800" dirty="0">
              <a:latin typeface="华文楷体" panose="02010600040101010101" pitchFamily="2" charset="-122"/>
              <a:ea typeface="华文楷体" panose="02010600040101010101" pitchFamily="2" charset="-122"/>
            </a:endParaRPr>
          </a:p>
          <a:p>
            <a:endParaRPr lang="zh-CN" altLang="en-US" sz="2800" dirty="0"/>
          </a:p>
        </p:txBody>
      </p:sp>
      <p:sp>
        <p:nvSpPr>
          <p:cNvPr id="4" name="Rectangle 17"/>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5" name="Group 1"/>
          <p:cNvGrpSpPr>
            <a:grpSpLocks noChangeAspect="1"/>
          </p:cNvGrpSpPr>
          <p:nvPr/>
        </p:nvGrpSpPr>
        <p:grpSpPr bwMode="auto">
          <a:xfrm>
            <a:off x="1475656" y="951344"/>
            <a:ext cx="5273675" cy="2450892"/>
            <a:chOff x="3922" y="2339"/>
            <a:chExt cx="10562" cy="4907"/>
          </a:xfrm>
        </p:grpSpPr>
        <p:sp>
          <p:nvSpPr>
            <p:cNvPr id="6" name="AutoShape 16"/>
            <p:cNvSpPr>
              <a:spLocks noChangeAspect="1" noChangeArrowheads="1"/>
            </p:cNvSpPr>
            <p:nvPr/>
          </p:nvSpPr>
          <p:spPr bwMode="auto">
            <a:xfrm>
              <a:off x="3922" y="2542"/>
              <a:ext cx="10562" cy="470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Text Box 15"/>
            <p:cNvSpPr txBox="1">
              <a:spLocks noChangeArrowheads="1"/>
            </p:cNvSpPr>
            <p:nvPr/>
          </p:nvSpPr>
          <p:spPr bwMode="auto">
            <a:xfrm>
              <a:off x="4208" y="3927"/>
              <a:ext cx="1348" cy="125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BBE0E3"/>
                  </a:solidFill>
                </a14:hiddenFill>
              </a:ext>
            </a:extLst>
          </p:spPr>
          <p:txBody>
            <a:bodyPr vert="horz" wrap="square" lIns="62179" tIns="31090" rIns="62179" bIns="31090" numCol="1" anchor="t"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sz="1600" b="1" i="0" u="none" strike="noStrike" cap="none" normalizeH="0" baseline="0">
                  <a:ln>
                    <a:noFill/>
                  </a:ln>
                  <a:solidFill>
                    <a:srgbClr val="006600"/>
                  </a:solidFill>
                  <a:effectLst/>
                  <a:latin typeface="Times New Roman" panose="02020603050405020304" pitchFamily="18" charset="0"/>
                  <a:ea typeface="宋体" panose="02010600030101010101" pitchFamily="2" charset="-122"/>
                  <a:cs typeface="宋体" panose="02010600030101010101" pitchFamily="2" charset="-122"/>
                </a:rPr>
                <a:t>直流电流</a:t>
              </a:r>
              <a:endParaRPr kumimoji="0" lang="zh-CN" sz="1800" b="0" i="0" u="none" strike="noStrike" cap="none" normalizeH="0" baseline="0">
                <a:ln>
                  <a:noFill/>
                </a:ln>
                <a:solidFill>
                  <a:schemeClr val="tx1"/>
                </a:solidFill>
                <a:effectLst/>
                <a:latin typeface="Arial" panose="020B0604020202020204" pitchFamily="34" charset="0"/>
              </a:endParaRPr>
            </a:p>
          </p:txBody>
        </p:sp>
        <p:sp>
          <p:nvSpPr>
            <p:cNvPr id="8" name="Text Box 14"/>
            <p:cNvSpPr txBox="1">
              <a:spLocks noChangeArrowheads="1"/>
            </p:cNvSpPr>
            <p:nvPr/>
          </p:nvSpPr>
          <p:spPr bwMode="auto">
            <a:xfrm>
              <a:off x="6777" y="3929"/>
              <a:ext cx="1198" cy="125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BBE0E3"/>
                  </a:solidFill>
                </a14:hiddenFill>
              </a:ext>
            </a:extLst>
          </p:spPr>
          <p:txBody>
            <a:bodyPr vert="horz" wrap="square" lIns="62179" tIns="31090" rIns="62179" bIns="31090" numCol="1" anchor="t"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sz="1600" b="1" i="0" u="none" strike="noStrike" cap="none" normalizeH="0" baseline="0">
                  <a:ln>
                    <a:noFill/>
                  </a:ln>
                  <a:solidFill>
                    <a:srgbClr val="CC3300"/>
                  </a:solidFill>
                  <a:effectLst/>
                  <a:latin typeface="Times New Roman" panose="02020603050405020304" pitchFamily="18" charset="0"/>
                  <a:ea typeface="宋体" panose="02010600030101010101" pitchFamily="2" charset="-122"/>
                  <a:cs typeface="宋体" panose="02010600030101010101" pitchFamily="2" charset="-122"/>
                </a:rPr>
                <a:t>交变电流</a:t>
              </a:r>
              <a:endParaRPr kumimoji="0" lang="zh-CN" sz="1800" b="0" i="0" u="none" strike="noStrike" cap="none" normalizeH="0" baseline="0">
                <a:ln>
                  <a:noFill/>
                </a:ln>
                <a:solidFill>
                  <a:schemeClr val="tx1"/>
                </a:solidFill>
                <a:effectLst/>
                <a:latin typeface="Arial" panose="020B0604020202020204" pitchFamily="34" charset="0"/>
              </a:endParaRPr>
            </a:p>
          </p:txBody>
        </p:sp>
        <p:sp>
          <p:nvSpPr>
            <p:cNvPr id="9" name="Text Box 13"/>
            <p:cNvSpPr txBox="1">
              <a:spLocks noChangeArrowheads="1"/>
            </p:cNvSpPr>
            <p:nvPr/>
          </p:nvSpPr>
          <p:spPr bwMode="auto">
            <a:xfrm>
              <a:off x="9147" y="3929"/>
              <a:ext cx="2726" cy="125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BBE0E3"/>
                  </a:solidFill>
                </a14:hiddenFill>
              </a:ext>
            </a:extLst>
          </p:spPr>
          <p:txBody>
            <a:bodyPr vert="horz" wrap="square" lIns="62179" tIns="31090" rIns="62179" bIns="31090" numCol="1" anchor="t"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sz="1600" b="1"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宋体" panose="02010600030101010101" pitchFamily="2" charset="-122"/>
                </a:rPr>
                <a:t>电磁转矩</a:t>
              </a:r>
              <a:endParaRPr kumimoji="0" lang="zh-CN" sz="800" b="0" i="0" u="none" strike="noStrike" cap="none" normalizeH="0" baseline="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宋体" panose="02010600030101010101" pitchFamily="2" charset="-122"/>
                </a:rPr>
                <a:t>(</a:t>
              </a:r>
              <a:r>
                <a:rPr kumimoji="0" lang="zh-CN" altLang="en-US" sz="1600" b="1"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宋体" panose="02010600030101010101" pitchFamily="2" charset="-122"/>
                </a:rPr>
                <a:t>拖动转矩</a:t>
              </a:r>
              <a:r>
                <a:rPr kumimoji="0" lang="en-US" altLang="zh-CN" sz="1600" b="1"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宋体" panose="02010600030101010101" pitchFamily="2" charset="-122"/>
                </a:rPr>
                <a:t>)</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0" name="AutoShape 12"/>
            <p:cNvSpPr>
              <a:spLocks noChangeArrowheads="1"/>
            </p:cNvSpPr>
            <p:nvPr/>
          </p:nvSpPr>
          <p:spPr bwMode="auto">
            <a:xfrm rot="-5400000">
              <a:off x="5513" y="4149"/>
              <a:ext cx="1307" cy="1222"/>
            </a:xfrm>
            <a:prstGeom prst="downArrow">
              <a:avLst>
                <a:gd name="adj1" fmla="val 50000"/>
                <a:gd name="adj2" fmla="val 25000"/>
              </a:avLst>
            </a:prstGeom>
            <a:gradFill rotWithShape="1">
              <a:gsLst>
                <a:gs pos="0">
                  <a:srgbClr val="CC99FF">
                    <a:gamma/>
                    <a:shade val="46275"/>
                    <a:invGamma/>
                  </a:srgbClr>
                </a:gs>
                <a:gs pos="50000">
                  <a:srgbClr val="CC99FF"/>
                </a:gs>
                <a:gs pos="100000">
                  <a:srgbClr val="CC99FF">
                    <a:gamma/>
                    <a:shade val="46275"/>
                    <a:invGamma/>
                  </a:srgbClr>
                </a:gs>
              </a:gsLst>
              <a:lin ang="5400000" scaled="1"/>
            </a:gradFill>
            <a:ln>
              <a:noFill/>
            </a:ln>
            <a:extLst>
              <a:ext uri="{91240B29-F687-4F45-9708-019B960494DF}">
                <a14:hiddenLine xmlns:a14="http://schemas.microsoft.com/office/drawing/2010/main" w="9525">
                  <a:solidFill>
                    <a:srgbClr val="FF8913"/>
                  </a:solidFill>
                  <a:miter lim="800000"/>
                  <a:headEnd/>
                  <a:tailEnd/>
                </a14:hiddenLine>
              </a:ext>
            </a:extLst>
          </p:spPr>
          <p:txBody>
            <a:bodyPr vert="eaVert" wrap="square" lIns="62179" tIns="31090" rIns="62179" bIns="3109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sz="13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换向</a:t>
              </a:r>
              <a:endParaRPr kumimoji="0" lang="zh-CN" sz="1800" b="0" i="0" u="none" strike="noStrike" cap="none" normalizeH="0" baseline="0">
                <a:ln>
                  <a:noFill/>
                </a:ln>
                <a:solidFill>
                  <a:schemeClr val="tx1"/>
                </a:solidFill>
                <a:effectLst/>
                <a:latin typeface="Arial" panose="020B0604020202020204" pitchFamily="34" charset="0"/>
              </a:endParaRPr>
            </a:p>
          </p:txBody>
        </p:sp>
        <p:sp>
          <p:nvSpPr>
            <p:cNvPr id="11" name="Text Box 11"/>
            <p:cNvSpPr txBox="1">
              <a:spLocks noChangeArrowheads="1"/>
            </p:cNvSpPr>
            <p:nvPr/>
          </p:nvSpPr>
          <p:spPr bwMode="auto">
            <a:xfrm>
              <a:off x="13184" y="3927"/>
              <a:ext cx="1300" cy="125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BBE0E3"/>
                  </a:solidFill>
                </a14:hiddenFill>
              </a:ext>
            </a:extLst>
          </p:spPr>
          <p:txBody>
            <a:bodyPr vert="horz" wrap="square" lIns="62179" tIns="31090" rIns="62179" bIns="31090" numCol="1" anchor="t"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sz="1600" b="1" i="0" u="none" strike="noStrike" cap="none" normalizeH="0" baseline="0">
                  <a:ln>
                    <a:noFill/>
                  </a:ln>
                  <a:solidFill>
                    <a:srgbClr val="006600"/>
                  </a:solidFill>
                  <a:effectLst/>
                  <a:latin typeface="Times New Roman" panose="02020603050405020304" pitchFamily="18" charset="0"/>
                  <a:ea typeface="宋体" panose="02010600030101010101" pitchFamily="2" charset="-122"/>
                  <a:cs typeface="宋体" panose="02010600030101010101" pitchFamily="2" charset="-122"/>
                </a:rPr>
                <a:t>机械负载</a:t>
              </a:r>
              <a:endParaRPr kumimoji="0" lang="zh-CN" sz="1800" b="0" i="0" u="none" strike="noStrike" cap="none" normalizeH="0" baseline="0">
                <a:ln>
                  <a:noFill/>
                </a:ln>
                <a:solidFill>
                  <a:schemeClr val="tx1"/>
                </a:solidFill>
                <a:effectLst/>
                <a:latin typeface="Arial" panose="020B0604020202020204" pitchFamily="34" charset="0"/>
              </a:endParaRPr>
            </a:p>
          </p:txBody>
        </p:sp>
        <p:sp>
          <p:nvSpPr>
            <p:cNvPr id="12" name="AutoShape 10"/>
            <p:cNvSpPr>
              <a:spLocks noChangeArrowheads="1"/>
            </p:cNvSpPr>
            <p:nvPr/>
          </p:nvSpPr>
          <p:spPr bwMode="auto">
            <a:xfrm rot="-5400000">
              <a:off x="7855" y="4217"/>
              <a:ext cx="1435" cy="1149"/>
            </a:xfrm>
            <a:prstGeom prst="downArrow">
              <a:avLst>
                <a:gd name="adj1" fmla="val 50000"/>
                <a:gd name="adj2" fmla="val 25000"/>
              </a:avLst>
            </a:prstGeom>
            <a:gradFill rotWithShape="0">
              <a:gsLst>
                <a:gs pos="0">
                  <a:srgbClr val="FFCC99"/>
                </a:gs>
                <a:gs pos="100000">
                  <a:srgbClr val="FFCC99">
                    <a:gamma/>
                    <a:shade val="46275"/>
                    <a:invGamma/>
                  </a:srgbClr>
                </a:gs>
              </a:gsLst>
              <a:lin ang="0" scaled="1"/>
            </a:gradFill>
            <a:ln>
              <a:noFill/>
            </a:ln>
            <a:extLst>
              <a:ext uri="{91240B29-F687-4F45-9708-019B960494DF}">
                <a14:hiddenLine xmlns:a14="http://schemas.microsoft.com/office/drawing/2010/main" w="9525">
                  <a:solidFill>
                    <a:srgbClr val="FF8913"/>
                  </a:solidFill>
                  <a:miter lim="800000"/>
                  <a:headEnd/>
                  <a:tailEnd/>
                </a14:hiddenLine>
              </a:ext>
            </a:extLst>
          </p:spPr>
          <p:txBody>
            <a:bodyPr vert="eaVert" wrap="square" lIns="62179" tIns="31090" rIns="62179" bIns="3109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300" b="1" i="1"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Φ</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3" name="AutoShape 9"/>
            <p:cNvSpPr>
              <a:spLocks noChangeArrowheads="1"/>
            </p:cNvSpPr>
            <p:nvPr/>
          </p:nvSpPr>
          <p:spPr bwMode="auto">
            <a:xfrm rot="-5400000">
              <a:off x="11801" y="3887"/>
              <a:ext cx="1459" cy="1307"/>
            </a:xfrm>
            <a:prstGeom prst="downArrow">
              <a:avLst>
                <a:gd name="adj1" fmla="val 50000"/>
                <a:gd name="adj2" fmla="val 25000"/>
              </a:avLst>
            </a:prstGeom>
            <a:gradFill rotWithShape="0">
              <a:gsLst>
                <a:gs pos="0">
                  <a:srgbClr val="FFCC99"/>
                </a:gs>
                <a:gs pos="100000">
                  <a:srgbClr val="FFCC99">
                    <a:gamma/>
                    <a:shade val="46275"/>
                    <a:invGamma/>
                  </a:srgbClr>
                </a:gs>
              </a:gsLst>
              <a:lin ang="0" scaled="1"/>
            </a:gradFill>
            <a:ln>
              <a:noFill/>
            </a:ln>
            <a:extLst>
              <a:ext uri="{91240B29-F687-4F45-9708-019B960494DF}">
                <a14:hiddenLine xmlns:a14="http://schemas.microsoft.com/office/drawing/2010/main" w="9525">
                  <a:solidFill>
                    <a:srgbClr val="FF8913"/>
                  </a:solidFill>
                  <a:miter lim="800000"/>
                  <a:headEnd/>
                  <a:tailEnd/>
                </a14:hiddenLine>
              </a:ext>
            </a:extLst>
          </p:spPr>
          <p:txBody>
            <a:bodyPr vert="eaVert" wrap="square" lIns="62179" tIns="31090" rIns="62179" bIns="3109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sz="13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旋转</a:t>
              </a:r>
              <a:endParaRPr kumimoji="0" lang="zh-CN" sz="1800" b="0" i="0" u="none" strike="noStrike" cap="none" normalizeH="0" baseline="0">
                <a:ln>
                  <a:noFill/>
                </a:ln>
                <a:solidFill>
                  <a:schemeClr val="tx1"/>
                </a:solidFill>
                <a:effectLst/>
                <a:latin typeface="Arial" panose="020B0604020202020204" pitchFamily="34" charset="0"/>
              </a:endParaRPr>
            </a:p>
          </p:txBody>
        </p:sp>
        <p:sp>
          <p:nvSpPr>
            <p:cNvPr id="14" name="AutoShape 8"/>
            <p:cNvSpPr>
              <a:spLocks noChangeArrowheads="1"/>
            </p:cNvSpPr>
            <p:nvPr/>
          </p:nvSpPr>
          <p:spPr bwMode="auto">
            <a:xfrm>
              <a:off x="12167" y="4907"/>
              <a:ext cx="707" cy="739"/>
            </a:xfrm>
            <a:prstGeom prst="downArrow">
              <a:avLst>
                <a:gd name="adj1" fmla="val 50000"/>
                <a:gd name="adj2" fmla="val 26132"/>
              </a:avLst>
            </a:prstGeom>
            <a:gradFill rotWithShape="0">
              <a:gsLst>
                <a:gs pos="0">
                  <a:srgbClr val="FFCC99"/>
                </a:gs>
                <a:gs pos="100000">
                  <a:srgbClr val="FFCC99">
                    <a:gamma/>
                    <a:shade val="46275"/>
                    <a:invGamma/>
                  </a:srgbClr>
                </a:gs>
              </a:gsLst>
              <a:lin ang="0" scaled="1"/>
            </a:gradFill>
            <a:ln>
              <a:noFill/>
            </a:ln>
            <a:extLst>
              <a:ext uri="{91240B29-F687-4F45-9708-019B960494DF}">
                <a14:hiddenLine xmlns:a14="http://schemas.microsoft.com/office/drawing/2010/main" w="9525">
                  <a:solidFill>
                    <a:srgbClr val="FF8913"/>
                  </a:solidFill>
                  <a:miter lim="800000"/>
                  <a:headEnd/>
                  <a:tailEnd/>
                </a14:hiddenLine>
              </a:ext>
            </a:extLst>
          </p:spPr>
          <p:txBody>
            <a:bodyPr vert="horz" wrap="none" lIns="62179" tIns="31090" rIns="62179" bIns="31090" numCol="1" anchor="ctr" anchorCtr="0" compatLnSpc="1">
              <a:prstTxWarp prst="textNoShape">
                <a:avLst/>
              </a:prstTxWarp>
            </a:bodyPr>
            <a:lstStyle/>
            <a:p>
              <a:endParaRPr lang="zh-CN" altLang="en-US"/>
            </a:p>
          </p:txBody>
        </p:sp>
        <p:sp>
          <p:nvSpPr>
            <p:cNvPr id="15" name="AutoShape 7"/>
            <p:cNvSpPr>
              <a:spLocks noChangeArrowheads="1"/>
            </p:cNvSpPr>
            <p:nvPr/>
          </p:nvSpPr>
          <p:spPr bwMode="auto">
            <a:xfrm>
              <a:off x="13051" y="5675"/>
              <a:ext cx="1305" cy="1487"/>
            </a:xfrm>
            <a:custGeom>
              <a:avLst/>
              <a:gdLst>
                <a:gd name="G0" fmla="+- 9257 0 0"/>
                <a:gd name="G1" fmla="+- 19576 0 0"/>
                <a:gd name="G2" fmla="+- 6882 0 0"/>
                <a:gd name="G3" fmla="*/ 9257 1 2"/>
                <a:gd name="G4" fmla="+- G3 10800 0"/>
                <a:gd name="G5" fmla="+- 21600 9257 19576"/>
                <a:gd name="G6" fmla="+- 19576 6882 0"/>
                <a:gd name="G7" fmla="*/ G6 1 2"/>
                <a:gd name="G8" fmla="*/ 19576 2 1"/>
                <a:gd name="G9" fmla="+- G8 0 21600"/>
                <a:gd name="G10" fmla="*/ 21600 G0 G1"/>
                <a:gd name="G11" fmla="*/ 21600 G4 G1"/>
                <a:gd name="G12" fmla="*/ 21600 G5 G1"/>
                <a:gd name="G13" fmla="*/ 21600 G7 G1"/>
                <a:gd name="G14" fmla="*/ 19576 1 2"/>
                <a:gd name="G15" fmla="+- G5 0 G4"/>
                <a:gd name="G16" fmla="+- G0 0 G4"/>
                <a:gd name="G17" fmla="*/ G2 G15 G16"/>
                <a:gd name="T0" fmla="*/ 15429 w 21600"/>
                <a:gd name="T1" fmla="*/ 0 h 21600"/>
                <a:gd name="T2" fmla="*/ 9257 w 21600"/>
                <a:gd name="T3" fmla="*/ 6882 h 21600"/>
                <a:gd name="T4" fmla="*/ 0 w 21600"/>
                <a:gd name="T5" fmla="*/ 17024 h 21600"/>
                <a:gd name="T6" fmla="*/ 9788 w 21600"/>
                <a:gd name="T7" fmla="*/ 21600 h 21600"/>
                <a:gd name="T8" fmla="*/ 19576 w 21600"/>
                <a:gd name="T9" fmla="*/ 14597 h 21600"/>
                <a:gd name="T10" fmla="*/ 21600 w 21600"/>
                <a:gd name="T11" fmla="*/ 6882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6882"/>
                  </a:lnTo>
                  <a:lnTo>
                    <a:pt x="11281" y="6882"/>
                  </a:lnTo>
                  <a:lnTo>
                    <a:pt x="11281" y="12447"/>
                  </a:lnTo>
                  <a:lnTo>
                    <a:pt x="0" y="12447"/>
                  </a:lnTo>
                  <a:lnTo>
                    <a:pt x="0" y="21600"/>
                  </a:lnTo>
                  <a:lnTo>
                    <a:pt x="19576" y="21600"/>
                  </a:lnTo>
                  <a:lnTo>
                    <a:pt x="19576" y="6882"/>
                  </a:lnTo>
                  <a:lnTo>
                    <a:pt x="21600" y="6882"/>
                  </a:lnTo>
                  <a:close/>
                </a:path>
              </a:pathLst>
            </a:custGeom>
            <a:gradFill rotWithShape="1">
              <a:gsLst>
                <a:gs pos="0">
                  <a:srgbClr val="00FFFF">
                    <a:gamma/>
                    <a:shade val="46275"/>
                    <a:invGamma/>
                  </a:srgbClr>
                </a:gs>
                <a:gs pos="100000">
                  <a:srgbClr val="00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2179" tIns="31090" rIns="62179" bIns="3109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13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做功</a:t>
              </a:r>
              <a:endParaRPr kumimoji="0" lang="zh-CN" sz="1800" b="0" i="0" u="none" strike="noStrike" cap="none" normalizeH="0" baseline="0">
                <a:ln>
                  <a:noFill/>
                </a:ln>
                <a:solidFill>
                  <a:schemeClr val="tx1"/>
                </a:solidFill>
                <a:effectLst/>
                <a:latin typeface="Arial" panose="020B0604020202020204" pitchFamily="34" charset="0"/>
              </a:endParaRPr>
            </a:p>
          </p:txBody>
        </p:sp>
        <p:sp>
          <p:nvSpPr>
            <p:cNvPr id="16" name="Text Box 6"/>
            <p:cNvSpPr txBox="1">
              <a:spLocks noChangeArrowheads="1"/>
            </p:cNvSpPr>
            <p:nvPr/>
          </p:nvSpPr>
          <p:spPr bwMode="auto">
            <a:xfrm>
              <a:off x="3922" y="2339"/>
              <a:ext cx="9951" cy="1235"/>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FFCC99"/>
                  </a:solidFill>
                  <a:miter lim="800000"/>
                  <a:headEnd/>
                  <a:tailEnd/>
                </a14:hiddenLine>
              </a:ext>
            </a:extLst>
          </p:spPr>
          <p:txBody>
            <a:bodyPr vert="horz" wrap="square" lIns="62179" tIns="31090" rIns="62179" bIns="3109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zh-CN" sz="3600" b="1" i="0" u="none" strike="noStrike" cap="none" normalizeH="0" baseline="0" dirty="0">
                  <a:ln>
                    <a:noFill/>
                  </a:ln>
                  <a:solidFill>
                    <a:srgbClr val="000000"/>
                  </a:solidFill>
                  <a:effectLst/>
                  <a:latin typeface="华文楷体" panose="02010600040101010101" pitchFamily="2" charset="-122"/>
                  <a:ea typeface="华文楷体" panose="02010600040101010101" pitchFamily="2" charset="-122"/>
                  <a:cs typeface="宋体" panose="02010600030101010101" pitchFamily="2" charset="-122"/>
                </a:rPr>
                <a:t>电动机电磁平衡关系</a:t>
              </a:r>
              <a:endParaRPr kumimoji="0" lang="zh-CN" sz="36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endParaRPr>
            </a:p>
          </p:txBody>
        </p:sp>
        <p:sp>
          <p:nvSpPr>
            <p:cNvPr id="17" name="Rectangle 5"/>
            <p:cNvSpPr>
              <a:spLocks noChangeArrowheads="1"/>
            </p:cNvSpPr>
            <p:nvPr/>
          </p:nvSpPr>
          <p:spPr bwMode="auto">
            <a:xfrm>
              <a:off x="4475" y="6435"/>
              <a:ext cx="7431" cy="782"/>
            </a:xfrm>
            <a:prstGeom prst="rect">
              <a:avLst/>
            </a:prstGeom>
            <a:gradFill rotWithShape="1">
              <a:gsLst>
                <a:gs pos="0">
                  <a:srgbClr val="FFFF00">
                    <a:gamma/>
                    <a:shade val="46275"/>
                    <a:invGamma/>
                  </a:srgbClr>
                </a:gs>
                <a:gs pos="50000">
                  <a:srgbClr val="FFFF00"/>
                </a:gs>
                <a:gs pos="100000">
                  <a:srgbClr val="FFFF00">
                    <a:gamma/>
                    <a:shade val="46275"/>
                    <a:invGamma/>
                  </a:srgbClr>
                </a:gs>
              </a:gsLst>
              <a:lin ang="5400000" scaled="1"/>
            </a:gradFill>
            <a:ln w="9525">
              <a:solidFill>
                <a:srgbClr val="BBE0E3"/>
              </a:solidFill>
              <a:miter lim="800000"/>
              <a:headEnd/>
              <a:tailEnd/>
            </a:ln>
          </p:spPr>
          <p:txBody>
            <a:bodyPr vert="horz" wrap="square" lIns="91440" tIns="45720" rIns="91440" bIns="45720" numCol="1" anchor="ctr" anchorCtr="0" compatLnSpc="1">
              <a:prstTxWarp prst="textNoShape">
                <a:avLst/>
              </a:prstTxWarp>
            </a:bodyPr>
            <a:lstStyle/>
            <a:p>
              <a:endParaRPr lang="zh-CN" altLang="en-US"/>
            </a:p>
          </p:txBody>
        </p:sp>
        <p:sp>
          <p:nvSpPr>
            <p:cNvPr id="18" name="Text Box 4"/>
            <p:cNvSpPr txBox="1">
              <a:spLocks noChangeArrowheads="1"/>
            </p:cNvSpPr>
            <p:nvPr/>
          </p:nvSpPr>
          <p:spPr bwMode="auto">
            <a:xfrm>
              <a:off x="6778" y="6277"/>
              <a:ext cx="3477" cy="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控制电流变化</a:t>
              </a:r>
              <a:endParaRPr kumimoji="0" lang="zh-CN" sz="1800" b="0" i="0" u="none" strike="noStrike" cap="none" normalizeH="0" baseline="0">
                <a:ln>
                  <a:noFill/>
                </a:ln>
                <a:solidFill>
                  <a:schemeClr val="tx1"/>
                </a:solidFill>
                <a:effectLst/>
                <a:latin typeface="Arial" panose="020B0604020202020204" pitchFamily="34" charset="0"/>
              </a:endParaRPr>
            </a:p>
          </p:txBody>
        </p:sp>
        <p:sp>
          <p:nvSpPr>
            <p:cNvPr id="19" name="Text Box 3"/>
            <p:cNvSpPr txBox="1">
              <a:spLocks noChangeArrowheads="1"/>
            </p:cNvSpPr>
            <p:nvPr/>
          </p:nvSpPr>
          <p:spPr bwMode="auto">
            <a:xfrm>
              <a:off x="11858" y="5635"/>
              <a:ext cx="1193" cy="1582"/>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BBE0E3"/>
                  </a:solidFill>
                </a14:hiddenFill>
              </a:ext>
            </a:extLst>
          </p:spPr>
          <p:txBody>
            <a:bodyPr vert="horz" wrap="square" lIns="62179" tIns="31090" rIns="62179" bIns="3109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反电动势</a:t>
              </a:r>
              <a:endParaRPr kumimoji="0" lang="zh-CN" sz="1800" b="0" i="0" u="none" strike="noStrike" cap="none" normalizeH="0" baseline="0">
                <a:ln>
                  <a:noFill/>
                </a:ln>
                <a:solidFill>
                  <a:schemeClr val="tx1"/>
                </a:solidFill>
                <a:effectLst/>
                <a:latin typeface="Arial" panose="020B0604020202020204" pitchFamily="34" charset="0"/>
              </a:endParaRPr>
            </a:p>
          </p:txBody>
        </p:sp>
        <p:sp>
          <p:nvSpPr>
            <p:cNvPr id="20" name="AutoShape 2"/>
            <p:cNvSpPr>
              <a:spLocks noChangeArrowheads="1"/>
            </p:cNvSpPr>
            <p:nvPr/>
          </p:nvSpPr>
          <p:spPr bwMode="auto">
            <a:xfrm rot="16200000">
              <a:off x="4189" y="5286"/>
              <a:ext cx="1306" cy="1088"/>
            </a:xfrm>
            <a:prstGeom prst="rightArrow">
              <a:avLst>
                <a:gd name="adj1" fmla="val 61491"/>
                <a:gd name="adj2" fmla="val 10185"/>
              </a:avLst>
            </a:prstGeom>
            <a:gradFill rotWithShape="1">
              <a:gsLst>
                <a:gs pos="0">
                  <a:srgbClr val="FFFF00">
                    <a:gamma/>
                    <a:shade val="46275"/>
                    <a:invGamma/>
                  </a:srgbClr>
                </a:gs>
                <a:gs pos="50000">
                  <a:srgbClr val="FFFF00"/>
                </a:gs>
                <a:gs pos="100000">
                  <a:srgbClr val="FFFF00">
                    <a:gamma/>
                    <a:shade val="46275"/>
                    <a:invGamma/>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2179" tIns="31090" rIns="62179" bIns="31090" numCol="1" anchor="ctr" anchorCtr="0" compatLnSpc="1">
              <a:prstTxWarp prst="textNoShape">
                <a:avLst/>
              </a:prstTxWarp>
            </a:bodyPr>
            <a:lstStyle/>
            <a:p>
              <a:endParaRPr lang="zh-CN" altLang="en-US"/>
            </a:p>
          </p:txBody>
        </p:sp>
      </p:grpSp>
      <p:sp>
        <p:nvSpPr>
          <p:cNvPr id="24" name="日期占位符 23">
            <a:extLst>
              <a:ext uri="{FF2B5EF4-FFF2-40B4-BE49-F238E27FC236}">
                <a16:creationId xmlns:a16="http://schemas.microsoft.com/office/drawing/2014/main" id="{3284C28B-448D-B95A-3517-B78E3B6AB0AE}"/>
              </a:ext>
            </a:extLst>
          </p:cNvPr>
          <p:cNvSpPr>
            <a:spLocks noGrp="1"/>
          </p:cNvSpPr>
          <p:nvPr>
            <p:ph type="dt" sz="half" idx="10"/>
          </p:nvPr>
        </p:nvSpPr>
        <p:spPr/>
        <p:txBody>
          <a:bodyPr/>
          <a:lstStyle/>
          <a:p>
            <a:fld id="{A1D2F166-EAB2-4CDB-A7E2-7BEBBF691BED}" type="datetime10">
              <a:rPr lang="en-US" altLang="zh-CN" smtClean="0"/>
              <a:t>16:53</a:t>
            </a:fld>
            <a:endParaRPr lang="en-US" altLang="zh-CN"/>
          </a:p>
        </p:txBody>
      </p:sp>
      <p:sp>
        <p:nvSpPr>
          <p:cNvPr id="25" name="灯片编号占位符 24">
            <a:extLst>
              <a:ext uri="{FF2B5EF4-FFF2-40B4-BE49-F238E27FC236}">
                <a16:creationId xmlns:a16="http://schemas.microsoft.com/office/drawing/2014/main" id="{C700012A-2308-25AB-CD99-58DE73DAB791}"/>
              </a:ext>
            </a:extLst>
          </p:cNvPr>
          <p:cNvSpPr>
            <a:spLocks noGrp="1"/>
          </p:cNvSpPr>
          <p:nvPr>
            <p:ph type="sldNum" sz="quarter" idx="12"/>
          </p:nvPr>
        </p:nvSpPr>
        <p:spPr/>
        <p:txBody>
          <a:bodyPr/>
          <a:lstStyle/>
          <a:p>
            <a:fld id="{B73B34B3-1432-4053-90C7-E0228297BE5F}" type="slidenum">
              <a:rPr lang="en-US" altLang="zh-CN" smtClean="0"/>
              <a:pPr/>
              <a:t>26</a:t>
            </a:fld>
            <a:endParaRPr lang="en-US" altLang="zh-CN"/>
          </a:p>
        </p:txBody>
      </p:sp>
    </p:spTree>
    <p:extLst>
      <p:ext uri="{BB962C8B-B14F-4D97-AF65-F5344CB8AC3E}">
        <p14:creationId xmlns:p14="http://schemas.microsoft.com/office/powerpoint/2010/main" val="21638893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836712"/>
            <a:ext cx="8229600" cy="580926"/>
          </a:xfrm>
        </p:spPr>
        <p:txBody>
          <a:bodyPr/>
          <a:lstStyle/>
          <a:p>
            <a:r>
              <a:rPr lang="zh-CN" altLang="en-US" sz="3200" b="1" dirty="0">
                <a:solidFill>
                  <a:srgbClr val="FF0000"/>
                </a:solidFill>
              </a:rPr>
              <a:t>电机基本理论分析小结</a:t>
            </a:r>
          </a:p>
        </p:txBody>
      </p:sp>
      <p:sp>
        <p:nvSpPr>
          <p:cNvPr id="3" name="内容占位符 2"/>
          <p:cNvSpPr>
            <a:spLocks noGrp="1"/>
          </p:cNvSpPr>
          <p:nvPr>
            <p:ph idx="1"/>
          </p:nvPr>
        </p:nvSpPr>
        <p:spPr>
          <a:xfrm>
            <a:off x="457200" y="1446238"/>
            <a:ext cx="8229600" cy="4525963"/>
          </a:xfrm>
        </p:spPr>
        <p:txBody>
          <a:bodyPr/>
          <a:lstStyle/>
          <a:p>
            <a:r>
              <a:rPr lang="zh-CN" altLang="zh-CN" sz="2800" dirty="0">
                <a:solidFill>
                  <a:srgbClr val="0000CC"/>
                </a:solidFill>
              </a:rPr>
              <a:t>电磁感应定律</a:t>
            </a:r>
            <a:r>
              <a:rPr lang="zh-CN" altLang="zh-CN" sz="2800" dirty="0"/>
              <a:t>（法拉第、洛伦兹）</a:t>
            </a:r>
            <a:r>
              <a:rPr lang="en-US" altLang="zh-CN" sz="2800" dirty="0">
                <a:sym typeface="Wingdings" panose="05000000000000000000" pitchFamily="2" charset="2"/>
              </a:rPr>
              <a:t></a:t>
            </a:r>
            <a:r>
              <a:rPr lang="zh-CN" altLang="zh-CN" sz="2800" dirty="0">
                <a:solidFill>
                  <a:srgbClr val="0000CC"/>
                </a:solidFill>
              </a:rPr>
              <a:t>能量转换的实际特征</a:t>
            </a:r>
            <a:r>
              <a:rPr lang="en-US" altLang="zh-CN" sz="2800" dirty="0">
                <a:sym typeface="Wingdings" panose="05000000000000000000" pitchFamily="2" charset="2"/>
              </a:rPr>
              <a:t></a:t>
            </a:r>
            <a:r>
              <a:rPr lang="zh-CN" altLang="zh-CN" sz="2800" dirty="0"/>
              <a:t>电机电磁场设计、电机</a:t>
            </a:r>
            <a:r>
              <a:rPr lang="zh-CN" altLang="en-US" sz="2800" dirty="0"/>
              <a:t>绕组</a:t>
            </a:r>
            <a:r>
              <a:rPr lang="zh-CN" altLang="zh-CN" sz="2800" dirty="0"/>
              <a:t>结构设计</a:t>
            </a:r>
          </a:p>
          <a:p>
            <a:r>
              <a:rPr lang="zh-CN" altLang="zh-CN" sz="2800" dirty="0"/>
              <a:t>直流电动机为例：运动可持续</a:t>
            </a:r>
            <a:r>
              <a:rPr lang="en-US" altLang="zh-CN" sz="2800" dirty="0">
                <a:sym typeface="Wingdings" panose="05000000000000000000" pitchFamily="2" charset="2"/>
              </a:rPr>
              <a:t></a:t>
            </a:r>
            <a:r>
              <a:rPr lang="zh-CN" altLang="zh-CN" sz="2800" dirty="0"/>
              <a:t>转动结构</a:t>
            </a:r>
            <a:r>
              <a:rPr lang="en-US" altLang="zh-CN" sz="2800" dirty="0">
                <a:sym typeface="Wingdings" panose="05000000000000000000" pitchFamily="2" charset="2"/>
              </a:rPr>
              <a:t></a:t>
            </a:r>
            <a:r>
              <a:rPr lang="zh-CN" altLang="zh-CN" sz="2800" dirty="0"/>
              <a:t>换向换流问题</a:t>
            </a:r>
            <a:r>
              <a:rPr lang="en-US" altLang="zh-CN" sz="2800" dirty="0">
                <a:sym typeface="Wingdings" panose="05000000000000000000" pitchFamily="2" charset="2"/>
              </a:rPr>
              <a:t></a:t>
            </a:r>
            <a:r>
              <a:rPr lang="zh-CN" altLang="zh-CN" sz="2800" dirty="0"/>
              <a:t>电刷、换向器结构</a:t>
            </a:r>
          </a:p>
          <a:p>
            <a:pPr marL="0" indent="0">
              <a:buNone/>
            </a:pPr>
            <a:r>
              <a:rPr lang="zh-CN" altLang="zh-CN" sz="2800" b="1" dirty="0">
                <a:solidFill>
                  <a:srgbClr val="0000CC"/>
                </a:solidFill>
              </a:rPr>
              <a:t>问题：</a:t>
            </a:r>
            <a:endParaRPr lang="en-US" altLang="zh-CN" sz="2800" b="1" dirty="0">
              <a:solidFill>
                <a:srgbClr val="0000CC"/>
              </a:solidFill>
            </a:endParaRPr>
          </a:p>
          <a:p>
            <a:pPr marL="0" indent="0">
              <a:buNone/>
            </a:pPr>
            <a:r>
              <a:rPr lang="zh-CN" altLang="zh-CN" sz="2800" dirty="0"/>
              <a:t>（</a:t>
            </a:r>
            <a:r>
              <a:rPr lang="en-US" altLang="zh-CN" sz="2800" dirty="0"/>
              <a:t>1</a:t>
            </a:r>
            <a:r>
              <a:rPr lang="zh-CN" altLang="zh-CN" sz="2800" dirty="0"/>
              <a:t>）能量转换过程是如何平衡的？是为了满足什么需求？</a:t>
            </a:r>
          </a:p>
          <a:p>
            <a:pPr marL="0" indent="0">
              <a:buNone/>
            </a:pPr>
            <a:r>
              <a:rPr lang="zh-CN" altLang="zh-CN" sz="2800" dirty="0"/>
              <a:t>（</a:t>
            </a:r>
            <a:r>
              <a:rPr lang="en-US" altLang="zh-CN" sz="2800" dirty="0"/>
              <a:t>2</a:t>
            </a:r>
            <a:r>
              <a:rPr lang="zh-CN" altLang="zh-CN" sz="2800" dirty="0"/>
              <a:t>）电机实现能量转换传输的关键物理量是什么？</a:t>
            </a:r>
          </a:p>
          <a:p>
            <a:pPr marL="0" indent="0">
              <a:buNone/>
            </a:pPr>
            <a:r>
              <a:rPr lang="zh-CN" altLang="zh-CN" sz="2800" dirty="0"/>
              <a:t>（</a:t>
            </a:r>
            <a:r>
              <a:rPr lang="en-US" altLang="zh-CN" sz="2800" dirty="0"/>
              <a:t>3</a:t>
            </a:r>
            <a:r>
              <a:rPr lang="zh-CN" altLang="zh-CN" sz="2800" dirty="0"/>
              <a:t>）直流电动机动</a:t>
            </a:r>
            <a:r>
              <a:rPr lang="zh-CN" altLang="en-US" sz="2800" dirty="0"/>
              <a:t>、</a:t>
            </a:r>
            <a:r>
              <a:rPr lang="zh-CN" altLang="zh-CN" sz="2800" dirty="0"/>
              <a:t>静态运行时，磁场和绕组有效导体之间的空间关系是什么样的？</a:t>
            </a:r>
          </a:p>
          <a:p>
            <a:pPr marL="0" indent="0">
              <a:buNone/>
            </a:pPr>
            <a:r>
              <a:rPr lang="zh-CN" altLang="zh-CN" sz="2800" dirty="0"/>
              <a:t>（</a:t>
            </a:r>
            <a:r>
              <a:rPr lang="en-US" altLang="zh-CN" sz="2800" dirty="0"/>
              <a:t>4</a:t>
            </a:r>
            <a:r>
              <a:rPr lang="zh-CN" altLang="zh-CN" sz="2800" dirty="0"/>
              <a:t>）电机主磁场如何实现封闭性？</a:t>
            </a:r>
          </a:p>
          <a:p>
            <a:endParaRPr lang="zh-CN" altLang="en-US" dirty="0"/>
          </a:p>
        </p:txBody>
      </p:sp>
      <p:sp>
        <p:nvSpPr>
          <p:cNvPr id="8" name="日期占位符 7">
            <a:extLst>
              <a:ext uri="{FF2B5EF4-FFF2-40B4-BE49-F238E27FC236}">
                <a16:creationId xmlns:a16="http://schemas.microsoft.com/office/drawing/2014/main" id="{A6F23E96-4330-06C3-8C43-353F1E325D66}"/>
              </a:ext>
            </a:extLst>
          </p:cNvPr>
          <p:cNvSpPr>
            <a:spLocks noGrp="1"/>
          </p:cNvSpPr>
          <p:nvPr>
            <p:ph type="dt" sz="half" idx="10"/>
          </p:nvPr>
        </p:nvSpPr>
        <p:spPr/>
        <p:txBody>
          <a:bodyPr/>
          <a:lstStyle/>
          <a:p>
            <a:fld id="{BFFDE7ED-F014-40C5-B5C4-388FA4440219}" type="datetime10">
              <a:rPr lang="en-US" altLang="zh-CN" smtClean="0"/>
              <a:t>16:53</a:t>
            </a:fld>
            <a:endParaRPr lang="en-US" altLang="zh-CN"/>
          </a:p>
        </p:txBody>
      </p:sp>
      <p:sp>
        <p:nvSpPr>
          <p:cNvPr id="9" name="灯片编号占位符 8">
            <a:extLst>
              <a:ext uri="{FF2B5EF4-FFF2-40B4-BE49-F238E27FC236}">
                <a16:creationId xmlns:a16="http://schemas.microsoft.com/office/drawing/2014/main" id="{FEA2A0C1-213F-6378-E9FC-5F0FBB6D5DCC}"/>
              </a:ext>
            </a:extLst>
          </p:cNvPr>
          <p:cNvSpPr>
            <a:spLocks noGrp="1"/>
          </p:cNvSpPr>
          <p:nvPr>
            <p:ph type="sldNum" sz="quarter" idx="12"/>
          </p:nvPr>
        </p:nvSpPr>
        <p:spPr/>
        <p:txBody>
          <a:bodyPr/>
          <a:lstStyle/>
          <a:p>
            <a:fld id="{B73B34B3-1432-4053-90C7-E0228297BE5F}" type="slidenum">
              <a:rPr lang="en-US" altLang="zh-CN" smtClean="0"/>
              <a:pPr/>
              <a:t>27</a:t>
            </a:fld>
            <a:endParaRPr lang="en-US" altLang="zh-CN"/>
          </a:p>
        </p:txBody>
      </p:sp>
    </p:spTree>
    <p:extLst>
      <p:ext uri="{BB962C8B-B14F-4D97-AF65-F5344CB8AC3E}">
        <p14:creationId xmlns:p14="http://schemas.microsoft.com/office/powerpoint/2010/main" val="39854193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764704"/>
            <a:ext cx="8229600" cy="706090"/>
          </a:xfrm>
        </p:spPr>
        <p:txBody>
          <a:bodyPr/>
          <a:lstStyle/>
          <a:p>
            <a:r>
              <a:rPr lang="zh-CN" altLang="en-US" sz="3600" dirty="0"/>
              <a:t>二</a:t>
            </a:r>
            <a:r>
              <a:rPr lang="zh-CN" altLang="zh-CN" sz="3600" dirty="0"/>
              <a:t>、基本结构（阅读）</a:t>
            </a:r>
            <a:endParaRPr lang="zh-CN" altLang="en-US" sz="3600" dirty="0"/>
          </a:p>
        </p:txBody>
      </p:sp>
      <p:sp>
        <p:nvSpPr>
          <p:cNvPr id="3" name="内容占位符 2"/>
          <p:cNvSpPr>
            <a:spLocks noGrp="1"/>
          </p:cNvSpPr>
          <p:nvPr>
            <p:ph idx="1"/>
          </p:nvPr>
        </p:nvSpPr>
        <p:spPr/>
        <p:txBody>
          <a:bodyPr/>
          <a:lstStyle/>
          <a:p>
            <a:pPr marL="0" lvl="0" indent="0">
              <a:buNone/>
            </a:pPr>
            <a:r>
              <a:rPr lang="en-US" altLang="zh-CN" dirty="0"/>
              <a:t>1</a:t>
            </a:r>
            <a:r>
              <a:rPr lang="zh-CN" altLang="en-US" dirty="0"/>
              <a:t>、</a:t>
            </a:r>
            <a:r>
              <a:rPr lang="zh-CN" altLang="zh-CN" dirty="0"/>
              <a:t>主磁极</a:t>
            </a:r>
            <a:r>
              <a:rPr lang="en-US" altLang="zh-CN" dirty="0"/>
              <a:t>(main poles) </a:t>
            </a:r>
          </a:p>
          <a:p>
            <a:pPr marL="0" lvl="0" indent="0">
              <a:buNone/>
            </a:pPr>
            <a:r>
              <a:rPr lang="en-US" altLang="zh-CN" dirty="0"/>
              <a:t>2</a:t>
            </a:r>
            <a:r>
              <a:rPr lang="zh-CN" altLang="zh-CN" dirty="0"/>
              <a:t>、电枢</a:t>
            </a:r>
            <a:r>
              <a:rPr lang="en-US" altLang="zh-CN" dirty="0"/>
              <a:t>(armature)</a:t>
            </a:r>
            <a:r>
              <a:rPr lang="zh-CN" altLang="zh-CN" dirty="0"/>
              <a:t>绕组</a:t>
            </a:r>
            <a:r>
              <a:rPr lang="en-US" altLang="zh-CN" dirty="0"/>
              <a:t> </a:t>
            </a:r>
          </a:p>
          <a:p>
            <a:pPr marL="0" lvl="0" indent="0">
              <a:buNone/>
            </a:pPr>
            <a:r>
              <a:rPr lang="en-US" altLang="zh-CN" dirty="0"/>
              <a:t>3</a:t>
            </a:r>
            <a:r>
              <a:rPr lang="zh-CN" altLang="zh-CN" dirty="0"/>
              <a:t>、电枢铁心</a:t>
            </a:r>
            <a:r>
              <a:rPr lang="en-US" altLang="zh-CN" dirty="0"/>
              <a:t>(core) </a:t>
            </a:r>
          </a:p>
          <a:p>
            <a:pPr marL="0" lvl="0" indent="0">
              <a:buNone/>
            </a:pPr>
            <a:r>
              <a:rPr lang="en-US" altLang="zh-CN" dirty="0"/>
              <a:t>4</a:t>
            </a:r>
            <a:r>
              <a:rPr lang="zh-CN" altLang="zh-CN" dirty="0"/>
              <a:t>、换向器（</a:t>
            </a:r>
            <a:r>
              <a:rPr lang="en-US" altLang="zh-CN" dirty="0" err="1"/>
              <a:t>commutator</a:t>
            </a:r>
            <a:r>
              <a:rPr lang="en-US" altLang="zh-CN" dirty="0"/>
              <a:t>) </a:t>
            </a:r>
            <a:endParaRPr lang="zh-CN" altLang="zh-CN" dirty="0"/>
          </a:p>
          <a:p>
            <a:pPr marL="0" indent="0">
              <a:buNone/>
            </a:pPr>
            <a:r>
              <a:rPr lang="en-US" altLang="zh-CN" dirty="0"/>
              <a:t>5</a:t>
            </a:r>
            <a:r>
              <a:rPr lang="zh-CN" altLang="zh-CN" dirty="0"/>
              <a:t>、换向极</a:t>
            </a:r>
            <a:r>
              <a:rPr lang="en-US" altLang="zh-CN" dirty="0"/>
              <a:t>(commutating poles) </a:t>
            </a:r>
          </a:p>
          <a:p>
            <a:pPr marL="0" indent="0">
              <a:buNone/>
            </a:pPr>
            <a:r>
              <a:rPr lang="en-US" altLang="zh-CN" dirty="0"/>
              <a:t>6</a:t>
            </a:r>
            <a:r>
              <a:rPr lang="zh-CN" altLang="zh-CN" dirty="0"/>
              <a:t>、电刷</a:t>
            </a:r>
            <a:r>
              <a:rPr lang="en-US" altLang="zh-CN" dirty="0"/>
              <a:t>(brushes)</a:t>
            </a:r>
            <a:r>
              <a:rPr lang="zh-CN" altLang="zh-CN" dirty="0"/>
              <a:t>装置</a:t>
            </a:r>
            <a:endParaRPr lang="en-US" altLang="zh-CN" dirty="0"/>
          </a:p>
          <a:p>
            <a:pPr marL="0" indent="0">
              <a:buNone/>
            </a:pPr>
            <a:r>
              <a:rPr lang="en-US" altLang="zh-CN" dirty="0"/>
              <a:t>7</a:t>
            </a:r>
            <a:r>
              <a:rPr lang="zh-CN" altLang="zh-CN" dirty="0"/>
              <a:t>、机座</a:t>
            </a:r>
          </a:p>
          <a:p>
            <a:endParaRPr lang="zh-CN" altLang="en-US" dirty="0"/>
          </a:p>
        </p:txBody>
      </p:sp>
      <p:sp>
        <p:nvSpPr>
          <p:cNvPr id="8" name="日期占位符 7">
            <a:extLst>
              <a:ext uri="{FF2B5EF4-FFF2-40B4-BE49-F238E27FC236}">
                <a16:creationId xmlns:a16="http://schemas.microsoft.com/office/drawing/2014/main" id="{96E35F15-0D7B-71E7-42D3-7B23E472905D}"/>
              </a:ext>
            </a:extLst>
          </p:cNvPr>
          <p:cNvSpPr>
            <a:spLocks noGrp="1"/>
          </p:cNvSpPr>
          <p:nvPr>
            <p:ph type="dt" sz="half" idx="10"/>
          </p:nvPr>
        </p:nvSpPr>
        <p:spPr/>
        <p:txBody>
          <a:bodyPr/>
          <a:lstStyle/>
          <a:p>
            <a:fld id="{5FD8C860-F11A-400E-97DC-5B89E6D13DE9}" type="datetime10">
              <a:rPr lang="en-US" altLang="zh-CN" smtClean="0"/>
              <a:t>16:53</a:t>
            </a:fld>
            <a:endParaRPr lang="en-US" altLang="zh-CN"/>
          </a:p>
        </p:txBody>
      </p:sp>
      <p:sp>
        <p:nvSpPr>
          <p:cNvPr id="9" name="灯片编号占位符 8">
            <a:extLst>
              <a:ext uri="{FF2B5EF4-FFF2-40B4-BE49-F238E27FC236}">
                <a16:creationId xmlns:a16="http://schemas.microsoft.com/office/drawing/2014/main" id="{6EBA3CB6-F40C-EA5A-D71A-5D50DE761BCA}"/>
              </a:ext>
            </a:extLst>
          </p:cNvPr>
          <p:cNvSpPr>
            <a:spLocks noGrp="1"/>
          </p:cNvSpPr>
          <p:nvPr>
            <p:ph type="sldNum" sz="quarter" idx="12"/>
          </p:nvPr>
        </p:nvSpPr>
        <p:spPr/>
        <p:txBody>
          <a:bodyPr/>
          <a:lstStyle/>
          <a:p>
            <a:fld id="{B73B34B3-1432-4053-90C7-E0228297BE5F}" type="slidenum">
              <a:rPr lang="en-US" altLang="zh-CN" smtClean="0"/>
              <a:pPr/>
              <a:t>28</a:t>
            </a:fld>
            <a:endParaRPr lang="en-US" altLang="zh-CN"/>
          </a:p>
        </p:txBody>
      </p:sp>
    </p:spTree>
    <p:extLst>
      <p:ext uri="{BB962C8B-B14F-4D97-AF65-F5344CB8AC3E}">
        <p14:creationId xmlns:p14="http://schemas.microsoft.com/office/powerpoint/2010/main" val="16044866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79512" y="98072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8193" name="Picture 1" descr="rotor-st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980728"/>
            <a:ext cx="3713163" cy="295232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a:spLocks noChangeArrowheads="1"/>
          </p:cNvSpPr>
          <p:nvPr/>
        </p:nvSpPr>
        <p:spPr bwMode="auto">
          <a:xfrm>
            <a:off x="4067944" y="126876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2566" y="764704"/>
            <a:ext cx="3851275" cy="2206625"/>
          </a:xfrm>
          <a:prstGeom prst="rect">
            <a:avLst/>
          </a:prstGeom>
          <a:noFill/>
          <a:extLst>
            <a:ext uri="{909E8E84-426E-40DD-AFC4-6F175D3DCCD1}">
              <a14:hiddenFill xmlns:a14="http://schemas.microsoft.com/office/drawing/2010/main">
                <a:solidFill>
                  <a:srgbClr val="FFFFFF"/>
                </a:solidFill>
              </a14:hiddenFill>
            </a:ext>
          </a:extLst>
        </p:spPr>
      </p:pic>
      <p:pic>
        <p:nvPicPr>
          <p:cNvPr id="8197" name="Picture 5" descr="tim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512" y="4180087"/>
            <a:ext cx="3713163" cy="2561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8" name="图片 1" descr="http://img.qy6.com/new5/xtzwq/1314284009.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2778" y="4998734"/>
            <a:ext cx="2324415" cy="1742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9" name="Picture 7" descr="直流电机定子和绕组"/>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26425" y="2856517"/>
            <a:ext cx="2005301" cy="1932192"/>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descr="clos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20272" y="3187353"/>
            <a:ext cx="1487488" cy="1111250"/>
          </a:xfrm>
          <a:prstGeom prst="rect">
            <a:avLst/>
          </a:prstGeom>
          <a:noFill/>
          <a:extLst>
            <a:ext uri="{909E8E84-426E-40DD-AFC4-6F175D3DCCD1}">
              <a14:hiddenFill xmlns:a14="http://schemas.microsoft.com/office/drawing/2010/main">
                <a:solidFill>
                  <a:srgbClr val="FFFFFF"/>
                </a:solidFill>
              </a14:hiddenFill>
            </a:ext>
          </a:extLst>
        </p:spPr>
      </p:pic>
      <p:pic>
        <p:nvPicPr>
          <p:cNvPr id="8201" name="图片 1" descr="http://img.atobo.com/ProductImg/Product/1/7/1/3/710/1713710/Middle2/2010_3_28_13_43_52_598.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48004" y="4998734"/>
            <a:ext cx="1835150" cy="151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日期占位符 7">
            <a:extLst>
              <a:ext uri="{FF2B5EF4-FFF2-40B4-BE49-F238E27FC236}">
                <a16:creationId xmlns:a16="http://schemas.microsoft.com/office/drawing/2014/main" id="{EF0A2183-57EC-F93E-AC63-563B2429D219}"/>
              </a:ext>
            </a:extLst>
          </p:cNvPr>
          <p:cNvSpPr>
            <a:spLocks noGrp="1"/>
          </p:cNvSpPr>
          <p:nvPr>
            <p:ph type="dt" sz="half" idx="10"/>
          </p:nvPr>
        </p:nvSpPr>
        <p:spPr/>
        <p:txBody>
          <a:bodyPr/>
          <a:lstStyle/>
          <a:p>
            <a:fld id="{FFCFFC4B-DE7A-4D07-A9B3-09170F213AB2}" type="datetime10">
              <a:rPr lang="en-US" altLang="zh-CN" smtClean="0"/>
              <a:t>16:53</a:t>
            </a:fld>
            <a:endParaRPr lang="en-US" altLang="zh-CN"/>
          </a:p>
        </p:txBody>
      </p:sp>
      <p:sp>
        <p:nvSpPr>
          <p:cNvPr id="9" name="灯片编号占位符 8">
            <a:extLst>
              <a:ext uri="{FF2B5EF4-FFF2-40B4-BE49-F238E27FC236}">
                <a16:creationId xmlns:a16="http://schemas.microsoft.com/office/drawing/2014/main" id="{1CE81B72-5AA7-9FDD-18CC-2D894C509CCE}"/>
              </a:ext>
            </a:extLst>
          </p:cNvPr>
          <p:cNvSpPr>
            <a:spLocks noGrp="1"/>
          </p:cNvSpPr>
          <p:nvPr>
            <p:ph type="sldNum" sz="quarter" idx="12"/>
          </p:nvPr>
        </p:nvSpPr>
        <p:spPr/>
        <p:txBody>
          <a:bodyPr/>
          <a:lstStyle/>
          <a:p>
            <a:fld id="{B73B34B3-1432-4053-90C7-E0228297BE5F}" type="slidenum">
              <a:rPr lang="en-US" altLang="zh-CN" smtClean="0"/>
              <a:pPr/>
              <a:t>29</a:t>
            </a:fld>
            <a:endParaRPr lang="en-US" altLang="zh-CN"/>
          </a:p>
        </p:txBody>
      </p:sp>
    </p:spTree>
    <p:extLst>
      <p:ext uri="{BB962C8B-B14F-4D97-AF65-F5344CB8AC3E}">
        <p14:creationId xmlns:p14="http://schemas.microsoft.com/office/powerpoint/2010/main" val="11509701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108731" y="848485"/>
            <a:ext cx="8783749" cy="523220"/>
          </a:xfrm>
          <a:prstGeom prst="rect">
            <a:avLst/>
          </a:prstGeom>
        </p:spPr>
        <p:txBody>
          <a:bodyPr wrap="square">
            <a:spAutoFit/>
          </a:bodyPr>
          <a:lstStyle/>
          <a:p>
            <a:r>
              <a:rPr lang="zh-CN" altLang="zh-CN" sz="2800" b="1" kern="100" dirty="0">
                <a:solidFill>
                  <a:srgbClr val="FF6600"/>
                </a:solidFill>
                <a:latin typeface="Times New Roman" panose="02020603050405020304" pitchFamily="18" charset="0"/>
                <a:ea typeface="黑体" panose="02010609060101010101" pitchFamily="49" charset="-122"/>
                <a:cs typeface="Times New Roman" panose="02020603050405020304" pitchFamily="18" charset="0"/>
              </a:rPr>
              <a:t>直流电动机的额定参数：在特定旋转结构下的参数定义</a:t>
            </a:r>
            <a:endParaRPr lang="zh-CN" altLang="en-US" sz="2800" dirty="0"/>
          </a:p>
        </p:txBody>
      </p:sp>
      <p:graphicFrame>
        <p:nvGraphicFramePr>
          <p:cNvPr id="29" name="对象 28"/>
          <p:cNvGraphicFramePr>
            <a:graphicFrameLocks noChangeAspect="1"/>
          </p:cNvGraphicFramePr>
          <p:nvPr>
            <p:extLst>
              <p:ext uri="{D42A27DB-BD31-4B8C-83A1-F6EECF244321}">
                <p14:modId xmlns:p14="http://schemas.microsoft.com/office/powerpoint/2010/main" val="3758675959"/>
              </p:ext>
            </p:extLst>
          </p:nvPr>
        </p:nvGraphicFramePr>
        <p:xfrm>
          <a:off x="4067944" y="3156316"/>
          <a:ext cx="2114550" cy="514350"/>
        </p:xfrm>
        <a:graphic>
          <a:graphicData uri="http://schemas.openxmlformats.org/presentationml/2006/ole">
            <mc:AlternateContent xmlns:mc="http://schemas.openxmlformats.org/markup-compatibility/2006">
              <mc:Choice xmlns:v="urn:schemas-microsoft-com:vml" Requires="v">
                <p:oleObj name="公式" r:id="rId2" imgW="939800" imgH="228600" progId="Equation.3">
                  <p:embed/>
                </p:oleObj>
              </mc:Choice>
              <mc:Fallback>
                <p:oleObj name="公式" r:id="rId2" imgW="939800" imgH="228600" progId="Equation.3">
                  <p:embed/>
                  <p:pic>
                    <p:nvPicPr>
                      <p:cNvPr id="0" name="Object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944" y="3156316"/>
                        <a:ext cx="2114550" cy="514350"/>
                      </a:xfrm>
                      <a:prstGeom prst="rect">
                        <a:avLst/>
                      </a:prstGeom>
                      <a:solidFill>
                        <a:srgbClr val="FFFF00"/>
                      </a:solidFill>
                    </p:spPr>
                  </p:pic>
                </p:oleObj>
              </mc:Fallback>
            </mc:AlternateContent>
          </a:graphicData>
        </a:graphic>
      </p:graphicFrame>
      <p:graphicFrame>
        <p:nvGraphicFramePr>
          <p:cNvPr id="30" name="对象 29"/>
          <p:cNvGraphicFramePr>
            <a:graphicFrameLocks noChangeAspect="1"/>
          </p:cNvGraphicFramePr>
          <p:nvPr>
            <p:extLst>
              <p:ext uri="{D42A27DB-BD31-4B8C-83A1-F6EECF244321}">
                <p14:modId xmlns:p14="http://schemas.microsoft.com/office/powerpoint/2010/main" val="1537079621"/>
              </p:ext>
            </p:extLst>
          </p:nvPr>
        </p:nvGraphicFramePr>
        <p:xfrm>
          <a:off x="-17339" y="3586296"/>
          <a:ext cx="409575" cy="533400"/>
        </p:xfrm>
        <a:graphic>
          <a:graphicData uri="http://schemas.openxmlformats.org/presentationml/2006/ole">
            <mc:AlternateContent xmlns:mc="http://schemas.openxmlformats.org/markup-compatibility/2006">
              <mc:Choice xmlns:v="urn:schemas-microsoft-com:vml" Requires="v">
                <p:oleObj name="公式" r:id="rId4" imgW="241091" imgH="317225" progId="Equation.3">
                  <p:embed/>
                </p:oleObj>
              </mc:Choice>
              <mc:Fallback>
                <p:oleObj name="公式" r:id="rId4" imgW="241091" imgH="317225" progId="Equation.3">
                  <p:embed/>
                  <p:pic>
                    <p:nvPicPr>
                      <p:cNvPr id="0" name="Object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339" y="3586296"/>
                        <a:ext cx="409575" cy="533400"/>
                      </a:xfrm>
                      <a:prstGeom prst="rect">
                        <a:avLst/>
                      </a:prstGeom>
                      <a:solidFill>
                        <a:srgbClr val="FFFFFF"/>
                      </a:solidFill>
                    </p:spPr>
                  </p:pic>
                </p:oleObj>
              </mc:Fallback>
            </mc:AlternateContent>
          </a:graphicData>
        </a:graphic>
      </p:graphicFrame>
      <p:graphicFrame>
        <p:nvGraphicFramePr>
          <p:cNvPr id="31" name="对象 30"/>
          <p:cNvGraphicFramePr>
            <a:graphicFrameLocks noChangeAspect="1"/>
          </p:cNvGraphicFramePr>
          <p:nvPr>
            <p:extLst>
              <p:ext uri="{D42A27DB-BD31-4B8C-83A1-F6EECF244321}">
                <p14:modId xmlns:p14="http://schemas.microsoft.com/office/powerpoint/2010/main" val="505427899"/>
              </p:ext>
            </p:extLst>
          </p:nvPr>
        </p:nvGraphicFramePr>
        <p:xfrm>
          <a:off x="1290514" y="4026768"/>
          <a:ext cx="371475" cy="485775"/>
        </p:xfrm>
        <a:graphic>
          <a:graphicData uri="http://schemas.openxmlformats.org/presentationml/2006/ole">
            <mc:AlternateContent xmlns:mc="http://schemas.openxmlformats.org/markup-compatibility/2006">
              <mc:Choice xmlns:v="urn:schemas-microsoft-com:vml" Requires="v">
                <p:oleObj name="公式" r:id="rId6" imgW="241091" imgH="317225" progId="Equation.3">
                  <p:embed/>
                </p:oleObj>
              </mc:Choice>
              <mc:Fallback>
                <p:oleObj name="公式" r:id="rId6" imgW="241091" imgH="317225" progId="Equation.3">
                  <p:embed/>
                  <p:pic>
                    <p:nvPicPr>
                      <p:cNvPr id="0" name="Object 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90514" y="4026768"/>
                        <a:ext cx="371475" cy="485775"/>
                      </a:xfrm>
                      <a:prstGeom prst="rect">
                        <a:avLst/>
                      </a:prstGeom>
                      <a:solidFill>
                        <a:srgbClr val="FFFFFF"/>
                      </a:solidFill>
                    </p:spPr>
                  </p:pic>
                </p:oleObj>
              </mc:Fallback>
            </mc:AlternateContent>
          </a:graphicData>
        </a:graphic>
      </p:graphicFrame>
      <p:graphicFrame>
        <p:nvGraphicFramePr>
          <p:cNvPr id="32" name="对象 31"/>
          <p:cNvGraphicFramePr>
            <a:graphicFrameLocks noChangeAspect="1"/>
          </p:cNvGraphicFramePr>
          <p:nvPr>
            <p:extLst>
              <p:ext uri="{D42A27DB-BD31-4B8C-83A1-F6EECF244321}">
                <p14:modId xmlns:p14="http://schemas.microsoft.com/office/powerpoint/2010/main" val="4157319899"/>
              </p:ext>
            </p:extLst>
          </p:nvPr>
        </p:nvGraphicFramePr>
        <p:xfrm>
          <a:off x="1293127" y="4525728"/>
          <a:ext cx="371475" cy="371475"/>
        </p:xfrm>
        <a:graphic>
          <a:graphicData uri="http://schemas.openxmlformats.org/presentationml/2006/ole">
            <mc:AlternateContent xmlns:mc="http://schemas.openxmlformats.org/markup-compatibility/2006">
              <mc:Choice xmlns:v="urn:schemas-microsoft-com:vml" Requires="v">
                <p:oleObj name="公式" r:id="rId8" imgW="228600" imgH="228600" progId="Equation.3">
                  <p:embed/>
                </p:oleObj>
              </mc:Choice>
              <mc:Fallback>
                <p:oleObj name="公式" r:id="rId8" imgW="228600" imgH="228600" progId="Equation.3">
                  <p:embed/>
                  <p:pic>
                    <p:nvPicPr>
                      <p:cNvPr id="0" name="Object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93127" y="4525728"/>
                        <a:ext cx="371475" cy="371475"/>
                      </a:xfrm>
                      <a:prstGeom prst="rect">
                        <a:avLst/>
                      </a:prstGeom>
                      <a:solidFill>
                        <a:srgbClr val="FFFFFF"/>
                      </a:solidFill>
                    </p:spPr>
                  </p:pic>
                </p:oleObj>
              </mc:Fallback>
            </mc:AlternateContent>
          </a:graphicData>
        </a:graphic>
      </p:graphicFrame>
      <p:graphicFrame>
        <p:nvGraphicFramePr>
          <p:cNvPr id="33" name="对象 32"/>
          <p:cNvGraphicFramePr>
            <a:graphicFrameLocks noChangeAspect="1"/>
          </p:cNvGraphicFramePr>
          <p:nvPr>
            <p:extLst>
              <p:ext uri="{D42A27DB-BD31-4B8C-83A1-F6EECF244321}">
                <p14:modId xmlns:p14="http://schemas.microsoft.com/office/powerpoint/2010/main" val="1505627469"/>
              </p:ext>
            </p:extLst>
          </p:nvPr>
        </p:nvGraphicFramePr>
        <p:xfrm>
          <a:off x="4139952" y="4891970"/>
          <a:ext cx="1771650" cy="838200"/>
        </p:xfrm>
        <a:graphic>
          <a:graphicData uri="http://schemas.openxmlformats.org/presentationml/2006/ole">
            <mc:AlternateContent xmlns:mc="http://schemas.openxmlformats.org/markup-compatibility/2006">
              <mc:Choice xmlns:v="urn:schemas-microsoft-com:vml" Requires="v">
                <p:oleObj name="公式" r:id="rId10" imgW="952087" imgH="444307" progId="Equation.3">
                  <p:embed/>
                </p:oleObj>
              </mc:Choice>
              <mc:Fallback>
                <p:oleObj name="公式" r:id="rId10" imgW="952087" imgH="444307" progId="Equation.3">
                  <p:embed/>
                  <p:pic>
                    <p:nvPicPr>
                      <p:cNvPr id="0" name="Object 2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39952" y="4891970"/>
                        <a:ext cx="1771650" cy="838200"/>
                      </a:xfrm>
                      <a:prstGeom prst="rect">
                        <a:avLst/>
                      </a:prstGeom>
                      <a:solidFill>
                        <a:srgbClr val="FFFF00"/>
                      </a:solidFill>
                    </p:spPr>
                  </p:pic>
                </p:oleObj>
              </mc:Fallback>
            </mc:AlternateContent>
          </a:graphicData>
        </a:graphic>
      </p:graphicFrame>
      <p:graphicFrame>
        <p:nvGraphicFramePr>
          <p:cNvPr id="34" name="对象 33"/>
          <p:cNvGraphicFramePr>
            <a:graphicFrameLocks noChangeAspect="1"/>
          </p:cNvGraphicFramePr>
          <p:nvPr>
            <p:extLst>
              <p:ext uri="{D42A27DB-BD31-4B8C-83A1-F6EECF244321}">
                <p14:modId xmlns:p14="http://schemas.microsoft.com/office/powerpoint/2010/main" val="666429456"/>
              </p:ext>
            </p:extLst>
          </p:nvPr>
        </p:nvGraphicFramePr>
        <p:xfrm>
          <a:off x="216024" y="5612681"/>
          <a:ext cx="352425" cy="371475"/>
        </p:xfrm>
        <a:graphic>
          <a:graphicData uri="http://schemas.openxmlformats.org/presentationml/2006/ole">
            <mc:AlternateContent xmlns:mc="http://schemas.openxmlformats.org/markup-compatibility/2006">
              <mc:Choice xmlns:v="urn:schemas-microsoft-com:vml" Requires="v">
                <p:oleObj name="公式" r:id="rId12" imgW="215806" imgH="228501" progId="Equation.3">
                  <p:embed/>
                </p:oleObj>
              </mc:Choice>
              <mc:Fallback>
                <p:oleObj name="公式" r:id="rId12" imgW="215806" imgH="228501" progId="Equation.3">
                  <p:embed/>
                  <p:pic>
                    <p:nvPicPr>
                      <p:cNvPr id="0" name="Object 2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6024" y="5612681"/>
                        <a:ext cx="352425" cy="371475"/>
                      </a:xfrm>
                      <a:prstGeom prst="rect">
                        <a:avLst/>
                      </a:prstGeom>
                      <a:solidFill>
                        <a:srgbClr val="FFFFFF"/>
                      </a:solidFill>
                    </p:spPr>
                  </p:pic>
                </p:oleObj>
              </mc:Fallback>
            </mc:AlternateContent>
          </a:graphicData>
        </a:graphic>
      </p:graphicFrame>
      <p:graphicFrame>
        <p:nvGraphicFramePr>
          <p:cNvPr id="35" name="对象 34"/>
          <p:cNvGraphicFramePr>
            <a:graphicFrameLocks noChangeAspect="1"/>
          </p:cNvGraphicFramePr>
          <p:nvPr>
            <p:extLst>
              <p:ext uri="{D42A27DB-BD31-4B8C-83A1-F6EECF244321}">
                <p14:modId xmlns:p14="http://schemas.microsoft.com/office/powerpoint/2010/main" val="2630327793"/>
              </p:ext>
            </p:extLst>
          </p:nvPr>
        </p:nvGraphicFramePr>
        <p:xfrm>
          <a:off x="4502860" y="5838809"/>
          <a:ext cx="3648075" cy="628650"/>
        </p:xfrm>
        <a:graphic>
          <a:graphicData uri="http://schemas.openxmlformats.org/presentationml/2006/ole">
            <mc:AlternateContent xmlns:mc="http://schemas.openxmlformats.org/markup-compatibility/2006">
              <mc:Choice xmlns:v="urn:schemas-microsoft-com:vml" Requires="v">
                <p:oleObj name="公式" r:id="rId14" imgW="2463800" imgH="419100" progId="Equation.3">
                  <p:embed/>
                </p:oleObj>
              </mc:Choice>
              <mc:Fallback>
                <p:oleObj name="公式" r:id="rId14" imgW="2463800" imgH="419100" progId="Equation.3">
                  <p:embed/>
                  <p:pic>
                    <p:nvPicPr>
                      <p:cNvPr id="0" name="Object 2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502860" y="5838809"/>
                        <a:ext cx="3648075" cy="628650"/>
                      </a:xfrm>
                      <a:prstGeom prst="rect">
                        <a:avLst/>
                      </a:prstGeom>
                      <a:solidFill>
                        <a:srgbClr val="FFFFFF"/>
                      </a:solidFill>
                    </p:spPr>
                  </p:pic>
                </p:oleObj>
              </mc:Fallback>
            </mc:AlternateContent>
          </a:graphicData>
        </a:graphic>
      </p:graphicFrame>
      <p:sp>
        <p:nvSpPr>
          <p:cNvPr id="36" name="Rectangle 31"/>
          <p:cNvSpPr>
            <a:spLocks noChangeArrowheads="1"/>
          </p:cNvSpPr>
          <p:nvPr/>
        </p:nvSpPr>
        <p:spPr bwMode="auto">
          <a:xfrm>
            <a:off x="108731" y="1543518"/>
            <a:ext cx="899753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正常工作的限制条件</a:t>
            </a:r>
            <a:endParaRPr kumimoji="0" lang="zh-CN" sz="800" b="0" i="0" u="none" strike="noStrike" cap="none" normalizeH="0" baseline="0" dirty="0">
              <a:ln>
                <a:noFill/>
              </a:ln>
              <a:solidFill>
                <a:schemeClr val="tx1"/>
              </a:solidFill>
              <a:effectLst/>
            </a:endParaRPr>
          </a:p>
          <a:p>
            <a:pPr eaLnBrk="0" hangingPunct="0"/>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额定电压</a:t>
            </a:r>
            <a:r>
              <a:rPr lang="en-US"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U</a:t>
            </a:r>
            <a:r>
              <a:rPr lang="en-US" altLang="zh-CN" dirty="0">
                <a:solidFill>
                  <a:srgbClr val="000000"/>
                </a:solidFill>
                <a:latin typeface="黑体" panose="02010609060101010101" pitchFamily="49" charset="-122"/>
                <a:ea typeface="黑体" panose="02010609060101010101" pitchFamily="49" charset="-122"/>
                <a:cs typeface="Times New Roman" panose="02020603050405020304" pitchFamily="18" charset="0"/>
              </a:rPr>
              <a:t>N</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lang="zh-CN" altLang="zh-CN" sz="2400" dirty="0">
                <a:solidFill>
                  <a:srgbClr val="0000CC"/>
                </a:solidFill>
                <a:latin typeface="黑体" panose="02010609060101010101" pitchFamily="49" charset="-122"/>
                <a:ea typeface="黑体" panose="02010609060101010101" pitchFamily="49" charset="-122"/>
                <a:cs typeface="Times New Roman" panose="02020603050405020304" pitchFamily="18" charset="0"/>
              </a:rPr>
              <a:t>额定工况</a:t>
            </a:r>
            <a:r>
              <a:rPr lang="zh-CN"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下加在电枢绕组上的工作电压。（</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V</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kV</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sz="800" dirty="0"/>
          </a:p>
          <a:p>
            <a:pPr eaLnBrk="0" hangingPunct="0"/>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额定电流</a:t>
            </a:r>
            <a:r>
              <a:rPr lang="en-US"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I</a:t>
            </a:r>
            <a:r>
              <a:rPr lang="en-US" altLang="zh-CN" dirty="0">
                <a:solidFill>
                  <a:srgbClr val="000000"/>
                </a:solidFill>
                <a:latin typeface="黑体" panose="02010609060101010101" pitchFamily="49" charset="-122"/>
                <a:ea typeface="黑体" panose="02010609060101010101" pitchFamily="49" charset="-122"/>
                <a:cs typeface="Times New Roman" panose="02020603050405020304" pitchFamily="18" charset="0"/>
              </a:rPr>
              <a:t>N</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lang="zh-CN" altLang="zh-CN" sz="2400" dirty="0">
                <a:solidFill>
                  <a:srgbClr val="0000CC"/>
                </a:solidFill>
                <a:latin typeface="黑体" panose="02010609060101010101" pitchFamily="49" charset="-122"/>
                <a:ea typeface="黑体" panose="02010609060101010101" pitchFamily="49" charset="-122"/>
                <a:cs typeface="Times New Roman" panose="02020603050405020304" pitchFamily="18" charset="0"/>
              </a:rPr>
              <a:t>额定工况</a:t>
            </a:r>
            <a:r>
              <a:rPr lang="zh-CN"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下长期运行的最大电枢电流。（</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endParaRPr lang="en-US"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a:p>
            <a:pPr eaLnBrk="0" hangingPunct="0"/>
            <a:endParaRPr lang="zh-CN" altLang="en-US" sz="600" dirty="0"/>
          </a:p>
          <a:p>
            <a:pPr lvl="0" eaLnBrk="0" hangingPunct="0"/>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额定功率</a:t>
            </a:r>
            <a:r>
              <a:rPr lang="en-US"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P</a:t>
            </a:r>
            <a:r>
              <a:rPr lang="en-US" altLang="zh-CN" dirty="0">
                <a:solidFill>
                  <a:srgbClr val="000000"/>
                </a:solidFill>
                <a:latin typeface="黑体" panose="02010609060101010101" pitchFamily="49" charset="-122"/>
                <a:ea typeface="黑体" panose="02010609060101010101" pitchFamily="49" charset="-122"/>
                <a:cs typeface="Times New Roman" panose="02020603050405020304" pitchFamily="18" charset="0"/>
              </a:rPr>
              <a:t>N</a:t>
            </a:r>
            <a:r>
              <a:rPr lang="zh-CN" altLang="en-US"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lang="zh-CN" altLang="zh-CN" sz="2400" dirty="0">
                <a:solidFill>
                  <a:srgbClr val="0000CC"/>
                </a:solidFill>
                <a:latin typeface="黑体" panose="02010609060101010101" pitchFamily="49" charset="-122"/>
                <a:ea typeface="黑体" panose="02010609060101010101" pitchFamily="49" charset="-122"/>
                <a:cs typeface="Times New Roman" panose="02020603050405020304" pitchFamily="18" charset="0"/>
              </a:rPr>
              <a:t>额定工况</a:t>
            </a:r>
            <a:r>
              <a:rPr lang="zh-CN"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下电机</a:t>
            </a:r>
            <a:r>
              <a:rPr lang="zh-CN" altLang="zh-CN" sz="24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轴上</a:t>
            </a:r>
            <a:r>
              <a:rPr lang="zh-CN"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允许长期</a:t>
            </a:r>
            <a:r>
              <a:rPr lang="zh-CN" altLang="zh-CN"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输出</a:t>
            </a:r>
            <a:r>
              <a:rPr lang="zh-CN"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的最大机械功率。（</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W</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kW</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endParaRPr kumimoji="0" lang="zh-CN" sz="2400" b="0" i="0" u="none" strike="noStrike" cap="none" normalizeH="0" baseline="0" dirty="0">
              <a:ln>
                <a:noFill/>
              </a:ln>
              <a:solidFill>
                <a:schemeClr val="tx1"/>
              </a:solidFill>
              <a:effectLst/>
            </a:endParaRPr>
          </a:p>
        </p:txBody>
      </p:sp>
      <p:sp>
        <p:nvSpPr>
          <p:cNvPr id="40" name="Rectangle 35"/>
          <p:cNvSpPr>
            <a:spLocks noChangeArrowheads="1"/>
          </p:cNvSpPr>
          <p:nvPr/>
        </p:nvSpPr>
        <p:spPr bwMode="auto">
          <a:xfrm>
            <a:off x="35496" y="388389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41" name="Rectangle 36"/>
          <p:cNvSpPr>
            <a:spLocks noChangeArrowheads="1"/>
          </p:cNvSpPr>
          <p:nvPr/>
        </p:nvSpPr>
        <p:spPr bwMode="auto">
          <a:xfrm>
            <a:off x="216024" y="3659719"/>
            <a:ext cx="541686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sz="2400" b="0" i="0" u="none" strike="noStrike" cap="none" normalizeH="0" baseline="0" dirty="0">
                <a:ln>
                  <a:noFill/>
                </a:ln>
                <a:solidFill>
                  <a:srgbClr val="0000CC"/>
                </a:solidFill>
                <a:effectLst/>
                <a:latin typeface="黑体" panose="02010609060101010101" pitchFamily="49" charset="-122"/>
                <a:ea typeface="黑体" panose="02010609060101010101" pitchFamily="49" charset="-122"/>
                <a:cs typeface="Times New Roman" panose="02020603050405020304" pitchFamily="18" charset="0"/>
              </a:rPr>
              <a:t>额定工况</a:t>
            </a: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下直流电动机的工作效率。</a:t>
            </a:r>
            <a:endParaRPr kumimoji="0" lang="zh-CN" sz="800" b="0" i="0" u="none" strike="noStrike" cap="none" normalizeH="0" baseline="0" dirty="0">
              <a:ln>
                <a:noFill/>
              </a:ln>
              <a:solidFill>
                <a:schemeClr val="tx1"/>
              </a:solidFill>
              <a:effectLst/>
            </a:endParaRPr>
          </a:p>
        </p:txBody>
      </p:sp>
      <p:sp>
        <p:nvSpPr>
          <p:cNvPr id="42" name="Rectangle 37"/>
          <p:cNvSpPr>
            <a:spLocks noChangeArrowheads="1"/>
          </p:cNvSpPr>
          <p:nvPr/>
        </p:nvSpPr>
        <p:spPr bwMode="auto">
          <a:xfrm>
            <a:off x="-61434" y="4082817"/>
            <a:ext cx="8233834"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额定转速   ：</a:t>
            </a:r>
            <a:r>
              <a:rPr kumimoji="0" lang="zh-CN" sz="2400" b="0" i="0" u="none" strike="noStrike" cap="none" normalizeH="0" baseline="0" dirty="0">
                <a:ln>
                  <a:noFill/>
                </a:ln>
                <a:solidFill>
                  <a:srgbClr val="0000CC"/>
                </a:solidFill>
                <a:effectLst/>
                <a:latin typeface="黑体" panose="02010609060101010101" pitchFamily="49" charset="-122"/>
                <a:ea typeface="黑体" panose="02010609060101010101" pitchFamily="49" charset="-122"/>
                <a:cs typeface="Times New Roman" panose="02020603050405020304" pitchFamily="18" charset="0"/>
              </a:rPr>
              <a:t>额定工况</a:t>
            </a: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下电动机的运行速度。（</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r/min</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800" b="0" i="0" u="none" strike="noStrike" cap="none" normalizeH="0" baseline="0" dirty="0">
              <a:ln>
                <a:noFill/>
              </a:ln>
              <a:solidFill>
                <a:schemeClr val="tx1"/>
              </a:solidFill>
              <a:effectLst/>
            </a:endParaRPr>
          </a:p>
          <a:p>
            <a:pPr eaLnBrk="0" hangingPunct="0"/>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额定转矩   ：</a:t>
            </a:r>
            <a:r>
              <a:rPr lang="zh-CN" altLang="zh-CN" sz="2400" dirty="0">
                <a:solidFill>
                  <a:srgbClr val="0000CC"/>
                </a:solidFill>
                <a:latin typeface="黑体" panose="02010609060101010101" pitchFamily="49" charset="-122"/>
                <a:ea typeface="黑体" panose="02010609060101010101" pitchFamily="49" charset="-122"/>
                <a:cs typeface="Times New Roman" panose="02020603050405020304" pitchFamily="18" charset="0"/>
              </a:rPr>
              <a:t>额定工况</a:t>
            </a:r>
            <a:r>
              <a:rPr lang="zh-CN"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下电动机</a:t>
            </a:r>
            <a:r>
              <a:rPr lang="zh-CN" altLang="zh-CN" sz="24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轴上</a:t>
            </a:r>
            <a:r>
              <a:rPr lang="zh-CN"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的</a:t>
            </a:r>
            <a:r>
              <a:rPr lang="zh-CN" altLang="zh-CN"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输出</a:t>
            </a:r>
            <a:r>
              <a:rPr lang="zh-CN"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转矩。（</a:t>
            </a:r>
            <a:r>
              <a:rPr lang="en-US" altLang="zh-CN" sz="2400"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N·m</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sz="24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45" name="Rectangle 40"/>
          <p:cNvSpPr>
            <a:spLocks noChangeArrowheads="1"/>
          </p:cNvSpPr>
          <p:nvPr/>
        </p:nvSpPr>
        <p:spPr bwMode="auto">
          <a:xfrm>
            <a:off x="187448" y="5603601"/>
            <a:ext cx="559823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的单位为</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kW</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说明：（若功率单位用</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W</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，则</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46" name="Rectangle 41"/>
          <p:cNvSpPr>
            <a:spLocks noChangeArrowheads="1"/>
          </p:cNvSpPr>
          <p:nvPr/>
        </p:nvSpPr>
        <p:spPr bwMode="auto">
          <a:xfrm>
            <a:off x="216024" y="711286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8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 name="日期占位符 5">
            <a:extLst>
              <a:ext uri="{FF2B5EF4-FFF2-40B4-BE49-F238E27FC236}">
                <a16:creationId xmlns:a16="http://schemas.microsoft.com/office/drawing/2014/main" id="{B15355CD-2B0A-70EA-35CC-68FB0F1FB307}"/>
              </a:ext>
            </a:extLst>
          </p:cNvPr>
          <p:cNvSpPr>
            <a:spLocks noGrp="1"/>
          </p:cNvSpPr>
          <p:nvPr>
            <p:ph type="dt" sz="half" idx="10"/>
          </p:nvPr>
        </p:nvSpPr>
        <p:spPr/>
        <p:txBody>
          <a:bodyPr/>
          <a:lstStyle/>
          <a:p>
            <a:fld id="{A8EEDD57-C183-4637-A704-ED2420CAC471}" type="datetime10">
              <a:rPr lang="en-US" altLang="zh-CN" smtClean="0"/>
              <a:t>16:53</a:t>
            </a:fld>
            <a:endParaRPr lang="en-US" altLang="zh-CN"/>
          </a:p>
        </p:txBody>
      </p:sp>
      <p:sp>
        <p:nvSpPr>
          <p:cNvPr id="7" name="灯片编号占位符 6">
            <a:extLst>
              <a:ext uri="{FF2B5EF4-FFF2-40B4-BE49-F238E27FC236}">
                <a16:creationId xmlns:a16="http://schemas.microsoft.com/office/drawing/2014/main" id="{465114E9-1760-C29C-EC59-2E210923020F}"/>
              </a:ext>
            </a:extLst>
          </p:cNvPr>
          <p:cNvSpPr>
            <a:spLocks noGrp="1"/>
          </p:cNvSpPr>
          <p:nvPr>
            <p:ph type="sldNum" sz="quarter" idx="12"/>
          </p:nvPr>
        </p:nvSpPr>
        <p:spPr/>
        <p:txBody>
          <a:bodyPr/>
          <a:lstStyle/>
          <a:p>
            <a:fld id="{B73B34B3-1432-4053-90C7-E0228297BE5F}" type="slidenum">
              <a:rPr lang="en-US" altLang="zh-CN" smtClean="0"/>
              <a:pPr/>
              <a:t>30</a:t>
            </a:fld>
            <a:endParaRPr lang="en-US" altLang="zh-CN"/>
          </a:p>
        </p:txBody>
      </p:sp>
    </p:spTree>
    <p:extLst>
      <p:ext uri="{BB962C8B-B14F-4D97-AF65-F5344CB8AC3E}">
        <p14:creationId xmlns:p14="http://schemas.microsoft.com/office/powerpoint/2010/main" val="25972772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836712"/>
            <a:ext cx="8229600" cy="634082"/>
          </a:xfrm>
        </p:spPr>
        <p:txBody>
          <a:bodyPr/>
          <a:lstStyle/>
          <a:p>
            <a:r>
              <a:rPr lang="zh-CN" altLang="zh-CN" sz="3200" b="1" dirty="0"/>
              <a:t>§</a:t>
            </a:r>
            <a:r>
              <a:rPr lang="en-US" altLang="zh-CN" sz="3200" b="1" dirty="0"/>
              <a:t>2</a:t>
            </a:r>
            <a:r>
              <a:rPr lang="zh-CN" altLang="zh-CN" sz="3200" b="1" dirty="0"/>
              <a:t>－</a:t>
            </a:r>
            <a:r>
              <a:rPr lang="en-US" altLang="zh-CN" sz="3200" b="1" dirty="0"/>
              <a:t>2  DC</a:t>
            </a:r>
            <a:r>
              <a:rPr lang="zh-CN" altLang="zh-CN" sz="3200" b="1" dirty="0"/>
              <a:t>电动机的结构特征与工作特性</a:t>
            </a:r>
            <a:endParaRPr lang="zh-CN" altLang="en-US" sz="3200" dirty="0"/>
          </a:p>
        </p:txBody>
      </p:sp>
      <p:sp>
        <p:nvSpPr>
          <p:cNvPr id="3" name="内容占位符 2"/>
          <p:cNvSpPr>
            <a:spLocks noGrp="1"/>
          </p:cNvSpPr>
          <p:nvPr>
            <p:ph idx="1"/>
          </p:nvPr>
        </p:nvSpPr>
        <p:spPr>
          <a:xfrm>
            <a:off x="107504" y="1600200"/>
            <a:ext cx="8579296" cy="4525963"/>
          </a:xfrm>
        </p:spPr>
        <p:txBody>
          <a:bodyPr/>
          <a:lstStyle/>
          <a:p>
            <a:pPr marL="0" indent="0">
              <a:buNone/>
            </a:pPr>
            <a:r>
              <a:rPr lang="zh-CN" altLang="zh-CN" sz="2400" dirty="0">
                <a:solidFill>
                  <a:srgbClr val="FF0000"/>
                </a:solidFill>
              </a:rPr>
              <a:t>新问题：</a:t>
            </a:r>
            <a:r>
              <a:rPr lang="zh-CN" altLang="zh-CN" sz="2400" dirty="0">
                <a:solidFill>
                  <a:srgbClr val="0000CC"/>
                </a:solidFill>
              </a:rPr>
              <a:t>如何以抽象化的数学形式表达电机的运行特征</a:t>
            </a:r>
            <a:r>
              <a:rPr lang="en-US" altLang="zh-CN" sz="2400" dirty="0">
                <a:solidFill>
                  <a:srgbClr val="0000CC"/>
                </a:solidFill>
              </a:rPr>
              <a:t>?</a:t>
            </a:r>
            <a:endParaRPr lang="zh-CN" altLang="zh-CN" sz="2400" dirty="0">
              <a:solidFill>
                <a:srgbClr val="0000CC"/>
              </a:solidFill>
            </a:endParaRPr>
          </a:p>
          <a:p>
            <a:pPr marL="0" indent="0">
              <a:buNone/>
            </a:pPr>
            <a:r>
              <a:rPr lang="zh-CN" altLang="zh-CN" sz="2400" b="1" dirty="0"/>
              <a:t>物理概念和定律的复习</a:t>
            </a:r>
            <a:r>
              <a:rPr lang="zh-CN" altLang="zh-CN" sz="2400" dirty="0"/>
              <a:t>：分析电机对象机电特性的基础</a:t>
            </a:r>
            <a:endParaRPr lang="en-US" altLang="zh-CN" sz="2400" dirty="0"/>
          </a:p>
          <a:p>
            <a:pPr marL="0" indent="0">
              <a:buNone/>
            </a:pPr>
            <a:r>
              <a:rPr lang="en-US" altLang="zh-CN" sz="2000" b="1" dirty="0"/>
              <a:t>1</a:t>
            </a:r>
            <a:r>
              <a:rPr lang="zh-CN" altLang="en-US" sz="2000" b="1" dirty="0"/>
              <a:t>、</a:t>
            </a:r>
            <a:r>
              <a:rPr lang="zh-CN" altLang="zh-CN" sz="2000" b="1" dirty="0">
                <a:solidFill>
                  <a:srgbClr val="0000CC"/>
                </a:solidFill>
              </a:rPr>
              <a:t>磁通密度</a:t>
            </a:r>
            <a:r>
              <a:rPr lang="en-US" altLang="zh-CN" sz="2000" b="1" dirty="0">
                <a:solidFill>
                  <a:srgbClr val="0000CC"/>
                </a:solidFill>
              </a:rPr>
              <a:t>B </a:t>
            </a:r>
            <a:r>
              <a:rPr lang="en-US" altLang="zh-CN" sz="2000" dirty="0">
                <a:solidFill>
                  <a:srgbClr val="0000CC"/>
                </a:solidFill>
              </a:rPr>
              <a:t>[</a:t>
            </a:r>
            <a:r>
              <a:rPr lang="en-US" altLang="zh-CN" sz="2000" dirty="0" err="1">
                <a:solidFill>
                  <a:srgbClr val="0000CC"/>
                </a:solidFill>
              </a:rPr>
              <a:t>Wb</a:t>
            </a:r>
            <a:r>
              <a:rPr lang="en-US" altLang="zh-CN" sz="2000" dirty="0">
                <a:solidFill>
                  <a:srgbClr val="0000CC"/>
                </a:solidFill>
              </a:rPr>
              <a:t>/m</a:t>
            </a:r>
            <a:r>
              <a:rPr lang="en-US" altLang="zh-CN" sz="2000" baseline="30000" dirty="0">
                <a:solidFill>
                  <a:srgbClr val="0000CC"/>
                </a:solidFill>
              </a:rPr>
              <a:t>2</a:t>
            </a:r>
            <a:r>
              <a:rPr lang="en-US" altLang="zh-CN" sz="2000" dirty="0">
                <a:solidFill>
                  <a:srgbClr val="0000CC"/>
                </a:solidFill>
              </a:rPr>
              <a:t>,T]</a:t>
            </a:r>
            <a:r>
              <a:rPr lang="zh-CN" altLang="zh-CN" sz="2000" dirty="0"/>
              <a:t>：</a:t>
            </a:r>
            <a:r>
              <a:rPr lang="en-US" altLang="zh-CN" sz="2000" dirty="0"/>
              <a:t>(</a:t>
            </a:r>
            <a:r>
              <a:rPr lang="en-US" altLang="zh-CN" sz="2000" dirty="0" err="1"/>
              <a:t>Wb</a:t>
            </a:r>
            <a:r>
              <a:rPr lang="en-US" altLang="zh-CN" sz="2000" dirty="0"/>
              <a:t>=</a:t>
            </a:r>
            <a:r>
              <a:rPr lang="en-US" altLang="zh-CN" sz="2000" dirty="0" err="1"/>
              <a:t>weber,T</a:t>
            </a:r>
            <a:r>
              <a:rPr lang="en-US" altLang="zh-CN" sz="2000" dirty="0"/>
              <a:t>=tesla)(Magnetic Flux Density)</a:t>
            </a:r>
            <a:endParaRPr lang="zh-CN" altLang="zh-CN" sz="2000" dirty="0"/>
          </a:p>
          <a:p>
            <a:pPr marL="0" indent="0">
              <a:buNone/>
            </a:pPr>
            <a:r>
              <a:rPr lang="zh-CN" altLang="zh-CN" sz="2000" dirty="0"/>
              <a:t>单位截面积上的磁通，描述磁场强弱及方向，可以具有</a:t>
            </a:r>
            <a:r>
              <a:rPr lang="zh-CN" altLang="zh-CN" sz="2000" dirty="0">
                <a:solidFill>
                  <a:srgbClr val="0000CC"/>
                </a:solidFill>
              </a:rPr>
              <a:t>时间和空间</a:t>
            </a:r>
            <a:r>
              <a:rPr lang="zh-CN" altLang="zh-CN" sz="2000" dirty="0"/>
              <a:t>的特性。</a:t>
            </a:r>
          </a:p>
          <a:p>
            <a:pPr marL="0" indent="0">
              <a:buNone/>
            </a:pPr>
            <a:r>
              <a:rPr lang="zh-CN" altLang="zh-CN" sz="2000" dirty="0"/>
              <a:t>在空</a:t>
            </a:r>
            <a:r>
              <a:rPr lang="zh-CN" altLang="en-US" sz="2000" dirty="0"/>
              <a:t>间</a:t>
            </a:r>
            <a:r>
              <a:rPr lang="zh-CN" altLang="zh-CN" sz="2000" dirty="0"/>
              <a:t>磁感应强度服从叠加原理：某一给定的电流分布在空间某点所产生的磁感应强度等于组成这电流分布的各电流元分别地在这同一点上所产生的磁感应强度的</a:t>
            </a:r>
            <a:r>
              <a:rPr lang="zh-CN" altLang="zh-CN" sz="2000" dirty="0">
                <a:solidFill>
                  <a:srgbClr val="0000CC"/>
                </a:solidFill>
              </a:rPr>
              <a:t>矢量和</a:t>
            </a:r>
            <a:r>
              <a:rPr lang="zh-CN" altLang="zh-CN" sz="2000" dirty="0"/>
              <a:t>。磁力线方向与电流</a:t>
            </a:r>
            <a:r>
              <a:rPr lang="zh-CN" altLang="zh-CN" sz="2000" dirty="0">
                <a:solidFill>
                  <a:srgbClr val="0000CC"/>
                </a:solidFill>
              </a:rPr>
              <a:t>方向满足右手螺旋</a:t>
            </a:r>
            <a:r>
              <a:rPr lang="zh-CN" altLang="zh-CN" sz="2000" dirty="0"/>
              <a:t>关系。</a:t>
            </a:r>
            <a:endParaRPr lang="en-US" altLang="zh-CN" sz="2000" dirty="0"/>
          </a:p>
          <a:p>
            <a:pPr marL="0" indent="0">
              <a:buNone/>
            </a:pPr>
            <a:endParaRPr lang="en-US" altLang="zh-CN" sz="2000" b="1" dirty="0">
              <a:solidFill>
                <a:srgbClr val="0000FF"/>
              </a:solidFill>
              <a:latin typeface="黑体" panose="02010609060101010101" pitchFamily="49" charset="-122"/>
              <a:ea typeface="黑体" panose="02010609060101010101" pitchFamily="49" charset="-122"/>
              <a:cs typeface="Times New Roman" panose="02020603050405020304" pitchFamily="18" charset="0"/>
            </a:endParaRPr>
          </a:p>
          <a:p>
            <a:pPr marL="0" indent="0">
              <a:buNone/>
            </a:pPr>
            <a:r>
              <a:rPr lang="en-US" altLang="zh-CN" sz="20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2</a:t>
            </a:r>
            <a:r>
              <a:rPr lang="zh-CN" altLang="en-US" sz="20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a:t>
            </a:r>
            <a:r>
              <a:rPr lang="zh-CN" altLang="zh-CN" sz="20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磁感应通量（磁通）φ</a:t>
            </a:r>
            <a:r>
              <a:rPr lang="en-US" altLang="zh-CN" sz="2000"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lang="en-US" altLang="zh-CN" sz="2000" b="1" dirty="0" err="1">
                <a:solidFill>
                  <a:srgbClr val="000000"/>
                </a:solidFill>
                <a:latin typeface="宋体" panose="02010600030101010101" pitchFamily="2" charset="-122"/>
                <a:ea typeface="宋体" panose="02010600030101010101" pitchFamily="2" charset="-122"/>
                <a:cs typeface="Times New Roman" panose="02020603050405020304" pitchFamily="18" charset="0"/>
              </a:rPr>
              <a:t>Wb</a:t>
            </a:r>
            <a:r>
              <a:rPr lang="en-US" altLang="zh-CN" sz="2000"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lang="zh-CN" altLang="en-US"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(Magnetic Flux)</a:t>
            </a:r>
            <a:endParaRPr lang="en-US" altLang="zh-CN" sz="2000" dirty="0"/>
          </a:p>
          <a:p>
            <a:pPr marL="0" lvl="0" indent="476250" eaLnBrk="0" hangingPunct="0">
              <a:spcBef>
                <a:spcPct val="0"/>
              </a:spcBef>
              <a:buNone/>
              <a:tabLst>
                <a:tab pos="723900" algn="l"/>
              </a:tabLst>
            </a:pPr>
            <a:r>
              <a:rPr lang="zh-CN" altLang="en-US"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穿过某截面</a:t>
            </a:r>
            <a:r>
              <a:rPr lang="en-US" altLang="zh-CN" sz="2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a:t>
            </a:r>
            <a:r>
              <a:rPr lang="zh-CN" altLang="en-US"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的磁感应强度</a:t>
            </a:r>
            <a:r>
              <a:rPr lang="en-US" altLang="zh-CN" sz="2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B</a:t>
            </a:r>
            <a:r>
              <a:rPr lang="zh-CN" altLang="en-US"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的通量</a:t>
            </a:r>
            <a:endParaRPr lang="zh-CN" altLang="en-US" sz="2000" dirty="0"/>
          </a:p>
          <a:p>
            <a:pPr marL="0" lvl="1" indent="0">
              <a:buNone/>
            </a:pPr>
            <a:endParaRPr lang="zh-CN" altLang="en-US" sz="2000" dirty="0"/>
          </a:p>
          <a:p>
            <a:pPr marL="0" indent="0">
              <a:buNone/>
            </a:pPr>
            <a:endParaRPr lang="zh-CN" altLang="en-US" sz="2000" dirty="0"/>
          </a:p>
        </p:txBody>
      </p:sp>
      <p:sp>
        <p:nvSpPr>
          <p:cNvPr id="4" name="Rectangle 2"/>
          <p:cNvSpPr>
            <a:spLocks noChangeArrowheads="1"/>
          </p:cNvSpPr>
          <p:nvPr/>
        </p:nvSpPr>
        <p:spPr bwMode="auto">
          <a:xfrm>
            <a:off x="0" y="-2233"/>
            <a:ext cx="12682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476250" eaLnBrk="0" hangingPunct="0">
              <a:tabLst>
                <a:tab pos="723900" algn="l"/>
              </a:tabLst>
              <a:defRPr>
                <a:solidFill>
                  <a:schemeClr val="tx1"/>
                </a:solidFill>
                <a:latin typeface="Arial" panose="020B0604020202020204" pitchFamily="34" charset="0"/>
              </a:defRPr>
            </a:lvl1pPr>
            <a:lvl2pPr eaLnBrk="0" hangingPunct="0">
              <a:tabLst>
                <a:tab pos="723900" algn="l"/>
              </a:tabLst>
              <a:defRPr>
                <a:solidFill>
                  <a:schemeClr val="tx1"/>
                </a:solidFill>
                <a:latin typeface="Arial" panose="020B0604020202020204" pitchFamily="34" charset="0"/>
              </a:defRPr>
            </a:lvl2pPr>
            <a:lvl3pPr eaLnBrk="0" hangingPunct="0">
              <a:tabLst>
                <a:tab pos="723900" algn="l"/>
              </a:tabLst>
              <a:defRPr>
                <a:solidFill>
                  <a:schemeClr val="tx1"/>
                </a:solidFill>
                <a:latin typeface="Arial" panose="020B0604020202020204" pitchFamily="34" charset="0"/>
              </a:defRPr>
            </a:lvl3pPr>
            <a:lvl4pPr eaLnBrk="0" hangingPunct="0">
              <a:tabLst>
                <a:tab pos="723900" algn="l"/>
              </a:tabLst>
              <a:defRPr>
                <a:solidFill>
                  <a:schemeClr val="tx1"/>
                </a:solidFill>
                <a:latin typeface="Arial" panose="020B0604020202020204" pitchFamily="34" charset="0"/>
              </a:defRPr>
            </a:lvl4pPr>
            <a:lvl5pPr eaLnBrk="0" hangingPunct="0">
              <a:tabLst>
                <a:tab pos="723900" algn="l"/>
              </a:tabLst>
              <a:defRPr>
                <a:solidFill>
                  <a:schemeClr val="tx1"/>
                </a:solidFill>
                <a:latin typeface="Arial" panose="020B0604020202020204" pitchFamily="34" charset="0"/>
              </a:defRPr>
            </a:lvl5pPr>
            <a:lvl6pPr eaLnBrk="0" fontAlgn="base" hangingPunct="0">
              <a:spcBef>
                <a:spcPct val="0"/>
              </a:spcBef>
              <a:spcAft>
                <a:spcPct val="0"/>
              </a:spcAft>
              <a:tabLst>
                <a:tab pos="723900" algn="l"/>
              </a:tabLst>
              <a:defRPr>
                <a:solidFill>
                  <a:schemeClr val="tx1"/>
                </a:solidFill>
                <a:latin typeface="Arial" panose="020B0604020202020204" pitchFamily="34" charset="0"/>
              </a:defRPr>
            </a:lvl6pPr>
            <a:lvl7pPr eaLnBrk="0" fontAlgn="base" hangingPunct="0">
              <a:spcBef>
                <a:spcPct val="0"/>
              </a:spcBef>
              <a:spcAft>
                <a:spcPct val="0"/>
              </a:spcAft>
              <a:tabLst>
                <a:tab pos="723900" algn="l"/>
              </a:tabLst>
              <a:defRPr>
                <a:solidFill>
                  <a:schemeClr val="tx1"/>
                </a:solidFill>
                <a:latin typeface="Arial" panose="020B0604020202020204" pitchFamily="34" charset="0"/>
              </a:defRPr>
            </a:lvl7pPr>
            <a:lvl8pPr eaLnBrk="0" fontAlgn="base" hangingPunct="0">
              <a:spcBef>
                <a:spcPct val="0"/>
              </a:spcBef>
              <a:spcAft>
                <a:spcPct val="0"/>
              </a:spcAft>
              <a:tabLst>
                <a:tab pos="723900" algn="l"/>
              </a:tabLst>
              <a:defRPr>
                <a:solidFill>
                  <a:schemeClr val="tx1"/>
                </a:solidFill>
                <a:latin typeface="Arial" panose="020B0604020202020204" pitchFamily="34" charset="0"/>
              </a:defRPr>
            </a:lvl8pPr>
            <a:lvl9pPr eaLnBrk="0" fontAlgn="base" hangingPunct="0">
              <a:spcBef>
                <a:spcPct val="0"/>
              </a:spcBef>
              <a:spcAft>
                <a:spcPct val="0"/>
              </a:spcAft>
              <a:tabLst>
                <a:tab pos="723900" algn="l"/>
              </a:tabLst>
              <a:defRPr>
                <a:solidFill>
                  <a:schemeClr val="tx1"/>
                </a:solidFill>
                <a:latin typeface="Arial" panose="020B0604020202020204" pitchFamily="34" charset="0"/>
              </a:defRPr>
            </a:lvl9pPr>
          </a:lstStyle>
          <a:p>
            <a:pPr marL="0" marR="0" lvl="0" indent="476250" algn="l" defTabSz="914400" rtl="0" eaLnBrk="0" fontAlgn="base" latinLnBrk="0" hangingPunct="0">
              <a:lnSpc>
                <a:spcPct val="100000"/>
              </a:lnSpc>
              <a:spcBef>
                <a:spcPct val="0"/>
              </a:spcBef>
              <a:spcAft>
                <a:spcPct val="0"/>
              </a:spcAft>
              <a:buClrTx/>
              <a:buSzTx/>
              <a:buFontTx/>
              <a:buNone/>
              <a:tabLst>
                <a:tab pos="723900" algn="l"/>
              </a:tabLst>
            </a:pPr>
            <a:r>
              <a:rPr kumimoji="0" lang="zh-CN" altLang="en-US" sz="1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139362107"/>
              </p:ext>
            </p:extLst>
          </p:nvPr>
        </p:nvGraphicFramePr>
        <p:xfrm>
          <a:off x="1043608" y="5330539"/>
          <a:ext cx="2133600" cy="695325"/>
        </p:xfrm>
        <a:graphic>
          <a:graphicData uri="http://schemas.openxmlformats.org/presentationml/2006/ole">
            <mc:AlternateContent xmlns:mc="http://schemas.openxmlformats.org/markup-compatibility/2006">
              <mc:Choice xmlns:v="urn:schemas-microsoft-com:vml" Requires="v">
                <p:oleObj name="公式" r:id="rId2" imgW="850531" imgH="279279" progId="Equation.3">
                  <p:embed/>
                </p:oleObj>
              </mc:Choice>
              <mc:Fallback>
                <p:oleObj name="公式" r:id="rId2" imgW="850531" imgH="279279"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5330539"/>
                        <a:ext cx="2133600" cy="695325"/>
                      </a:xfrm>
                      <a:prstGeom prst="rect">
                        <a:avLst/>
                      </a:prstGeom>
                      <a:solidFill>
                        <a:srgbClr val="FFFFFF"/>
                      </a:solidFill>
                    </p:spPr>
                  </p:pic>
                </p:oleObj>
              </mc:Fallback>
            </mc:AlternateContent>
          </a:graphicData>
        </a:graphic>
      </p:graphicFrame>
      <p:sp>
        <p:nvSpPr>
          <p:cNvPr id="6" name="Rectangle 3"/>
          <p:cNvSpPr>
            <a:spLocks noChangeArrowheads="1"/>
          </p:cNvSpPr>
          <p:nvPr/>
        </p:nvSpPr>
        <p:spPr bwMode="auto">
          <a:xfrm>
            <a:off x="179512" y="6055514"/>
            <a:ext cx="508344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476250" algn="l" defTabSz="914400" rtl="0" eaLnBrk="0" fontAlgn="base" latinLnBrk="0" hangingPunct="0">
              <a:lnSpc>
                <a:spcPct val="100000"/>
              </a:lnSpc>
              <a:spcBef>
                <a:spcPct val="0"/>
              </a:spcBef>
              <a:spcAft>
                <a:spcPct val="0"/>
              </a:spcAft>
              <a:buClrTx/>
              <a:buSzTx/>
              <a:buFontTx/>
              <a:buNone/>
              <a:tabLst/>
            </a:pPr>
            <a:r>
              <a:rPr kumimoji="0" 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在均匀磁场中，如果截面</a:t>
            </a:r>
            <a:r>
              <a:rPr kumimoji="0" lang="en-US" altLang="zh-CN" sz="20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S</a:t>
            </a:r>
            <a:r>
              <a:rPr kumimoji="0" lang="zh-CN" altLang="en-US"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与</a:t>
            </a:r>
            <a:r>
              <a:rPr kumimoji="0" lang="en-US" altLang="zh-CN" sz="20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B</a:t>
            </a:r>
            <a:r>
              <a:rPr kumimoji="0" lang="zh-CN" altLang="en-US"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垂直，则</a:t>
            </a:r>
            <a:endParaRPr kumimoji="0" lang="zh-CN" altLang="en-US" sz="2000" b="0" i="0" u="none" strike="noStrike" cap="none" normalizeH="0" baseline="0" dirty="0">
              <a:ln>
                <a:noFill/>
              </a:ln>
              <a:solidFill>
                <a:schemeClr val="tx1"/>
              </a:solidFill>
              <a:effectLst/>
            </a:endParaRPr>
          </a:p>
        </p:txBody>
      </p:sp>
      <p:sp>
        <p:nvSpPr>
          <p:cNvPr id="7" name="Rectangle 5"/>
          <p:cNvSpPr>
            <a:spLocks noChangeArrowheads="1"/>
          </p:cNvSpPr>
          <p:nvPr/>
        </p:nvSpPr>
        <p:spPr bwMode="auto">
          <a:xfrm>
            <a:off x="6662006" y="59305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2999432815"/>
              </p:ext>
            </p:extLst>
          </p:nvPr>
        </p:nvGraphicFramePr>
        <p:xfrm>
          <a:off x="5724128" y="5981337"/>
          <a:ext cx="1562100" cy="666750"/>
        </p:xfrm>
        <a:graphic>
          <a:graphicData uri="http://schemas.openxmlformats.org/presentationml/2006/ole">
            <mc:AlternateContent xmlns:mc="http://schemas.openxmlformats.org/markup-compatibility/2006">
              <mc:Choice xmlns:v="urn:schemas-microsoft-com:vml" Requires="v">
                <p:oleObj name="公式" r:id="rId4" imgW="469696" imgH="203112" progId="Equation.3">
                  <p:embed/>
                </p:oleObj>
              </mc:Choice>
              <mc:Fallback>
                <p:oleObj name="公式" r:id="rId4" imgW="469696" imgH="203112"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24128" y="5981337"/>
                        <a:ext cx="1562100" cy="666750"/>
                      </a:xfrm>
                      <a:prstGeom prst="rect">
                        <a:avLst/>
                      </a:prstGeom>
                      <a:solidFill>
                        <a:srgbClr val="FFFF00"/>
                      </a:solidFill>
                    </p:spPr>
                  </p:pic>
                </p:oleObj>
              </mc:Fallback>
            </mc:AlternateContent>
          </a:graphicData>
        </a:graphic>
      </p:graphicFrame>
      <p:sp>
        <p:nvSpPr>
          <p:cNvPr id="13" name="日期占位符 12">
            <a:extLst>
              <a:ext uri="{FF2B5EF4-FFF2-40B4-BE49-F238E27FC236}">
                <a16:creationId xmlns:a16="http://schemas.microsoft.com/office/drawing/2014/main" id="{E4377289-5AB2-4602-210D-9692A30F0D51}"/>
              </a:ext>
            </a:extLst>
          </p:cNvPr>
          <p:cNvSpPr>
            <a:spLocks noGrp="1"/>
          </p:cNvSpPr>
          <p:nvPr>
            <p:ph type="dt" sz="half" idx="10"/>
          </p:nvPr>
        </p:nvSpPr>
        <p:spPr/>
        <p:txBody>
          <a:bodyPr/>
          <a:lstStyle/>
          <a:p>
            <a:fld id="{929458D4-8399-416D-A827-EE4C037821C4}" type="datetime10">
              <a:rPr lang="en-US" altLang="zh-CN" smtClean="0"/>
              <a:t>16:53</a:t>
            </a:fld>
            <a:endParaRPr lang="en-US" altLang="zh-CN"/>
          </a:p>
        </p:txBody>
      </p:sp>
      <p:sp>
        <p:nvSpPr>
          <p:cNvPr id="14" name="灯片编号占位符 13">
            <a:extLst>
              <a:ext uri="{FF2B5EF4-FFF2-40B4-BE49-F238E27FC236}">
                <a16:creationId xmlns:a16="http://schemas.microsoft.com/office/drawing/2014/main" id="{637949A4-3F52-03C6-9A8D-079A36FAE76A}"/>
              </a:ext>
            </a:extLst>
          </p:cNvPr>
          <p:cNvSpPr>
            <a:spLocks noGrp="1"/>
          </p:cNvSpPr>
          <p:nvPr>
            <p:ph type="sldNum" sz="quarter" idx="12"/>
          </p:nvPr>
        </p:nvSpPr>
        <p:spPr/>
        <p:txBody>
          <a:bodyPr/>
          <a:lstStyle/>
          <a:p>
            <a:fld id="{B73B34B3-1432-4053-90C7-E0228297BE5F}" type="slidenum">
              <a:rPr lang="en-US" altLang="zh-CN" smtClean="0"/>
              <a:pPr/>
              <a:t>31</a:t>
            </a:fld>
            <a:endParaRPr lang="en-US" altLang="zh-CN"/>
          </a:p>
        </p:txBody>
      </p:sp>
    </p:spTree>
    <p:extLst>
      <p:ext uri="{BB962C8B-B14F-4D97-AF65-F5344CB8AC3E}">
        <p14:creationId xmlns:p14="http://schemas.microsoft.com/office/powerpoint/2010/main" val="17081304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8520" y="969529"/>
            <a:ext cx="8229600" cy="3888432"/>
          </a:xfrm>
        </p:spPr>
        <p:txBody>
          <a:bodyPr/>
          <a:lstStyle/>
          <a:p>
            <a:pPr marL="457200" lvl="1" indent="0">
              <a:buNone/>
            </a:pPr>
            <a:r>
              <a:rPr lang="en-US" altLang="zh-CN" sz="2000" b="1" dirty="0">
                <a:solidFill>
                  <a:srgbClr val="0000CC"/>
                </a:solidFill>
              </a:rPr>
              <a:t>3</a:t>
            </a:r>
            <a:r>
              <a:rPr lang="zh-CN" altLang="en-US" sz="2000" b="1" dirty="0">
                <a:solidFill>
                  <a:srgbClr val="0000CC"/>
                </a:solidFill>
              </a:rPr>
              <a:t>、</a:t>
            </a:r>
            <a:r>
              <a:rPr lang="zh-CN" altLang="zh-CN" sz="2000" b="1" dirty="0">
                <a:solidFill>
                  <a:srgbClr val="0000CC"/>
                </a:solidFill>
              </a:rPr>
              <a:t>磁场强度</a:t>
            </a:r>
            <a:r>
              <a:rPr lang="en-US" altLang="zh-CN" sz="2000" b="1" dirty="0">
                <a:solidFill>
                  <a:srgbClr val="0000CC"/>
                </a:solidFill>
              </a:rPr>
              <a:t>H</a:t>
            </a:r>
            <a:r>
              <a:rPr lang="en-US" altLang="zh-CN" sz="2000" dirty="0">
                <a:solidFill>
                  <a:srgbClr val="0000CC"/>
                </a:solidFill>
              </a:rPr>
              <a:t> </a:t>
            </a:r>
            <a:r>
              <a:rPr lang="en-US" altLang="zh-CN" sz="2000" dirty="0"/>
              <a:t>[</a:t>
            </a:r>
            <a:r>
              <a:rPr lang="zh-CN" altLang="zh-CN" sz="2000" dirty="0"/>
              <a:t>安培</a:t>
            </a:r>
            <a:r>
              <a:rPr lang="en-US" altLang="zh-CN" sz="2000" dirty="0"/>
              <a:t>/</a:t>
            </a:r>
            <a:r>
              <a:rPr lang="zh-CN" altLang="zh-CN" sz="2000" dirty="0"/>
              <a:t>米</a:t>
            </a:r>
            <a:r>
              <a:rPr lang="en-US" altLang="zh-CN" sz="2000" dirty="0"/>
              <a:t>]</a:t>
            </a:r>
            <a:r>
              <a:rPr lang="zh-CN" altLang="zh-CN" sz="2000" dirty="0"/>
              <a:t>：</a:t>
            </a:r>
            <a:r>
              <a:rPr lang="en-US" altLang="zh-CN" sz="2000" dirty="0"/>
              <a:t>(Magnetic Field Intensity)</a:t>
            </a:r>
            <a:r>
              <a:rPr lang="zh-CN" altLang="en-US" sz="2000" dirty="0"/>
              <a:t>，</a:t>
            </a:r>
            <a:r>
              <a:rPr lang="zh-CN" altLang="zh-CN" sz="2000" dirty="0"/>
              <a:t>计算导磁物质中的磁场用</a:t>
            </a:r>
            <a:r>
              <a:rPr lang="zh-CN" altLang="zh-CN" sz="2000" b="1" dirty="0">
                <a:solidFill>
                  <a:srgbClr val="FF0000"/>
                </a:solidFill>
              </a:rPr>
              <a:t>辅助</a:t>
            </a:r>
            <a:r>
              <a:rPr lang="zh-CN" altLang="zh-CN" sz="2000" dirty="0"/>
              <a:t>物理量</a:t>
            </a:r>
            <a:endParaRPr lang="en-US" altLang="zh-CN" sz="2000" dirty="0"/>
          </a:p>
          <a:p>
            <a:pPr marL="457200" lvl="1" indent="0">
              <a:buNone/>
            </a:pPr>
            <a:r>
              <a:rPr lang="zh-CN" altLang="zh-CN"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μ </a:t>
            </a:r>
            <a:r>
              <a:rPr lang="zh-CN" altLang="zh-CN" sz="2000" dirty="0"/>
              <a:t>：</a:t>
            </a:r>
            <a:r>
              <a:rPr lang="zh-CN" altLang="zh-CN"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导磁物质磁导率。空气的磁导率为</a:t>
            </a:r>
            <a:endParaRPr lang="zh-CN" altLang="zh-CN" sz="2000" dirty="0">
              <a:latin typeface="Arial" panose="020B0604020202020204" pitchFamily="34" charset="0"/>
            </a:endParaRPr>
          </a:p>
          <a:p>
            <a:pPr marL="457200" lvl="1" indent="0">
              <a:buNone/>
            </a:pPr>
            <a:r>
              <a:rPr lang="zh-CN" altLang="zh-CN"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铁磁材料的</a:t>
            </a:r>
            <a:r>
              <a:rPr lang="en-US" altLang="zh-CN"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                   </a:t>
            </a:r>
            <a:r>
              <a:rPr lang="zh-CN" altLang="zh-CN"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（几千～几万倍，通常不是常数）</a:t>
            </a:r>
            <a:endParaRPr lang="en-US" altLang="zh-CN"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a:p>
            <a:pPr marL="457200" lvl="1" indent="0">
              <a:buNone/>
            </a:pPr>
            <a:r>
              <a:rPr lang="en-US" altLang="zh-CN" sz="2000" b="1" dirty="0">
                <a:solidFill>
                  <a:srgbClr val="0000CC"/>
                </a:solidFill>
              </a:rPr>
              <a:t>4</a:t>
            </a:r>
            <a:r>
              <a:rPr lang="zh-CN" altLang="en-US" sz="2000" b="1" dirty="0">
                <a:solidFill>
                  <a:srgbClr val="0000CC"/>
                </a:solidFill>
              </a:rPr>
              <a:t>、</a:t>
            </a:r>
            <a:r>
              <a:rPr lang="zh-CN" altLang="zh-CN" sz="2000" b="1" dirty="0">
                <a:solidFill>
                  <a:srgbClr val="0000CC"/>
                </a:solidFill>
              </a:rPr>
              <a:t>安培环路定律</a:t>
            </a:r>
            <a:r>
              <a:rPr lang="zh-CN" altLang="zh-CN" sz="2000" dirty="0"/>
              <a:t>：（</a:t>
            </a:r>
            <a:r>
              <a:rPr lang="zh-CN" altLang="zh-CN" sz="2000" b="1" dirty="0">
                <a:solidFill>
                  <a:srgbClr val="FF0000"/>
                </a:solidFill>
              </a:rPr>
              <a:t>全电流定律）磁路概念的认识</a:t>
            </a:r>
          </a:p>
          <a:p>
            <a:pPr marL="0" indent="0">
              <a:buNone/>
            </a:pPr>
            <a:r>
              <a:rPr lang="en-US" altLang="zh-CN" sz="2000" dirty="0"/>
              <a:t>      </a:t>
            </a:r>
            <a:r>
              <a:rPr lang="zh-CN" altLang="zh-CN" sz="2000" dirty="0"/>
              <a:t>磁场强度矢量</a:t>
            </a:r>
            <a:r>
              <a:rPr lang="en-US" altLang="zh-CN" sz="2000" dirty="0">
                <a:solidFill>
                  <a:srgbClr val="FF0000"/>
                </a:solidFill>
              </a:rPr>
              <a:t>H</a:t>
            </a:r>
            <a:r>
              <a:rPr lang="zh-CN" altLang="zh-CN" sz="2000" dirty="0">
                <a:solidFill>
                  <a:srgbClr val="FF0000"/>
                </a:solidFill>
              </a:rPr>
              <a:t>沿</a:t>
            </a:r>
            <a:r>
              <a:rPr lang="zh-CN" altLang="zh-CN" sz="2000" b="1" dirty="0">
                <a:solidFill>
                  <a:srgbClr val="FF0000"/>
                </a:solidFill>
              </a:rPr>
              <a:t>任何闭合路径</a:t>
            </a:r>
            <a:r>
              <a:rPr lang="zh-CN" altLang="zh-CN" sz="2000" dirty="0"/>
              <a:t>的线积分等于该回路所环链的所有电流的代数和</a:t>
            </a:r>
            <a:endParaRPr lang="zh-CN" altLang="zh-CN" sz="2000" dirty="0">
              <a:latin typeface="Arial" panose="020B0604020202020204" pitchFamily="34" charset="0"/>
            </a:endParaRPr>
          </a:p>
          <a:p>
            <a:pPr marL="457200" lvl="1" indent="0">
              <a:buNone/>
            </a:pPr>
            <a:endParaRPr lang="en-US" altLang="zh-CN" sz="2000" dirty="0"/>
          </a:p>
          <a:p>
            <a:pPr marL="457200" lvl="1" indent="0">
              <a:buNone/>
            </a:pPr>
            <a:endParaRPr lang="en-US" altLang="zh-CN" sz="2000" dirty="0"/>
          </a:p>
        </p:txBody>
      </p:sp>
      <p:graphicFrame>
        <p:nvGraphicFramePr>
          <p:cNvPr id="4" name="对象 3"/>
          <p:cNvGraphicFramePr>
            <a:graphicFrameLocks noChangeAspect="1"/>
          </p:cNvGraphicFramePr>
          <p:nvPr>
            <p:extLst>
              <p:ext uri="{D42A27DB-BD31-4B8C-83A1-F6EECF244321}">
                <p14:modId xmlns:p14="http://schemas.microsoft.com/office/powerpoint/2010/main" val="4081253743"/>
              </p:ext>
            </p:extLst>
          </p:nvPr>
        </p:nvGraphicFramePr>
        <p:xfrm>
          <a:off x="5258190" y="1556792"/>
          <a:ext cx="422471" cy="486916"/>
        </p:xfrm>
        <a:graphic>
          <a:graphicData uri="http://schemas.openxmlformats.org/presentationml/2006/ole">
            <mc:AlternateContent xmlns:mc="http://schemas.openxmlformats.org/markup-compatibility/2006">
              <mc:Choice xmlns:v="urn:schemas-microsoft-com:vml" Requires="v">
                <p:oleObj name="公式" r:id="rId2" imgW="203112" imgH="228501" progId="Equation.3">
                  <p:embed/>
                </p:oleObj>
              </mc:Choice>
              <mc:Fallback>
                <p:oleObj name="公式" r:id="rId2" imgW="203112" imgH="228501"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8190" y="1556792"/>
                        <a:ext cx="422471" cy="486916"/>
                      </a:xfrm>
                      <a:prstGeom prst="rect">
                        <a:avLst/>
                      </a:prstGeom>
                      <a:solidFill>
                        <a:srgbClr val="FFFFFF"/>
                      </a:solid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45526514"/>
              </p:ext>
            </p:extLst>
          </p:nvPr>
        </p:nvGraphicFramePr>
        <p:xfrm>
          <a:off x="2051720" y="1991101"/>
          <a:ext cx="1200440" cy="429787"/>
        </p:xfrm>
        <a:graphic>
          <a:graphicData uri="http://schemas.openxmlformats.org/presentationml/2006/ole">
            <mc:AlternateContent xmlns:mc="http://schemas.openxmlformats.org/markup-compatibility/2006">
              <mc:Choice xmlns:v="urn:schemas-microsoft-com:vml" Requires="v">
                <p:oleObj name="公式" r:id="rId4" imgW="634725" imgH="228501" progId="Equation.3">
                  <p:embed/>
                </p:oleObj>
              </mc:Choice>
              <mc:Fallback>
                <p:oleObj name="公式" r:id="rId4" imgW="634725" imgH="228501"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1720" y="1991101"/>
                        <a:ext cx="1200440" cy="429787"/>
                      </a:xfrm>
                      <a:prstGeom prst="rect">
                        <a:avLst/>
                      </a:prstGeom>
                      <a:solidFill>
                        <a:srgbClr val="FFFFFF"/>
                      </a:solidFill>
                    </p:spPr>
                  </p:pic>
                </p:oleObj>
              </mc:Fallback>
            </mc:AlternateContent>
          </a:graphicData>
        </a:graphic>
      </p:graphicFrame>
      <p:sp>
        <p:nvSpPr>
          <p:cNvPr id="12" name="Rectangle 11"/>
          <p:cNvSpPr>
            <a:spLocks noChangeArrowheads="1"/>
          </p:cNvSpPr>
          <p:nvPr/>
        </p:nvSpPr>
        <p:spPr bwMode="auto">
          <a:xfrm flipV="1">
            <a:off x="7567650" y="1038434"/>
            <a:ext cx="426714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13" name="对象 12"/>
          <p:cNvGraphicFramePr>
            <a:graphicFrameLocks noChangeAspect="1"/>
          </p:cNvGraphicFramePr>
          <p:nvPr>
            <p:extLst>
              <p:ext uri="{D42A27DB-BD31-4B8C-83A1-F6EECF244321}">
                <p14:modId xmlns:p14="http://schemas.microsoft.com/office/powerpoint/2010/main" val="728186982"/>
              </p:ext>
            </p:extLst>
          </p:nvPr>
        </p:nvGraphicFramePr>
        <p:xfrm>
          <a:off x="3419872" y="1326467"/>
          <a:ext cx="813969" cy="321568"/>
        </p:xfrm>
        <a:graphic>
          <a:graphicData uri="http://schemas.openxmlformats.org/presentationml/2006/ole">
            <mc:AlternateContent xmlns:mc="http://schemas.openxmlformats.org/markup-compatibility/2006">
              <mc:Choice xmlns:v="urn:schemas-microsoft-com:vml" Requires="v">
                <p:oleObj name="公式" r:id="rId6" imgW="507780" imgH="203112" progId="Equation.3">
                  <p:embed/>
                </p:oleObj>
              </mc:Choice>
              <mc:Fallback>
                <p:oleObj name="公式" r:id="rId6" imgW="507780" imgH="203112" progId="Equation.3">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19872" y="1326467"/>
                        <a:ext cx="813969" cy="321568"/>
                      </a:xfrm>
                      <a:prstGeom prst="rect">
                        <a:avLst/>
                      </a:prstGeom>
                      <a:solidFill>
                        <a:srgbClr val="FFFF00"/>
                      </a:solidFill>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54338589"/>
              </p:ext>
            </p:extLst>
          </p:nvPr>
        </p:nvGraphicFramePr>
        <p:xfrm>
          <a:off x="1327845" y="3099055"/>
          <a:ext cx="1447750" cy="393286"/>
        </p:xfrm>
        <a:graphic>
          <a:graphicData uri="http://schemas.openxmlformats.org/presentationml/2006/ole">
            <mc:AlternateContent xmlns:mc="http://schemas.openxmlformats.org/markup-compatibility/2006">
              <mc:Choice xmlns:v="urn:schemas-microsoft-com:vml" Requires="v">
                <p:oleObj name="公式" r:id="rId8" imgW="1028700" imgH="279400" progId="Equation.3">
                  <p:embed/>
                </p:oleObj>
              </mc:Choice>
              <mc:Fallback>
                <p:oleObj name="公式" r:id="rId8" imgW="1028700" imgH="279400" progId="Equation.3">
                  <p:embed/>
                  <p:pic>
                    <p:nvPicPr>
                      <p:cNvPr id="0" name="Object 2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27845" y="3099055"/>
                        <a:ext cx="1447750" cy="393286"/>
                      </a:xfrm>
                      <a:prstGeom prst="rect">
                        <a:avLst/>
                      </a:prstGeom>
                      <a:solidFill>
                        <a:srgbClr val="FFFF00"/>
                      </a:solidFill>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730191584"/>
              </p:ext>
            </p:extLst>
          </p:nvPr>
        </p:nvGraphicFramePr>
        <p:xfrm>
          <a:off x="110322" y="3573016"/>
          <a:ext cx="3265987" cy="1100062"/>
        </p:xfrm>
        <a:graphic>
          <a:graphicData uri="http://schemas.openxmlformats.org/presentationml/2006/ole">
            <mc:AlternateContent xmlns:mc="http://schemas.openxmlformats.org/markup-compatibility/2006">
              <mc:Choice xmlns:v="urn:schemas-microsoft-com:vml" Requires="v">
                <p:oleObj r:id="rId10" imgW="3679825" imgH="1241425" progId="MSDraw">
                  <p:embed/>
                </p:oleObj>
              </mc:Choice>
              <mc:Fallback>
                <p:oleObj r:id="rId10" imgW="3679825" imgH="1241425" progId="MSDraw">
                  <p:embed/>
                  <p:pic>
                    <p:nvPicPr>
                      <p:cNvPr id="0" name="Object 1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0322" y="3573016"/>
                        <a:ext cx="3265987" cy="1100062"/>
                      </a:xfrm>
                      <a:prstGeom prst="rect">
                        <a:avLst/>
                      </a:prstGeom>
                      <a:solidFill>
                        <a:srgbClr val="FFFFFF"/>
                      </a:solidFill>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3291450392"/>
              </p:ext>
            </p:extLst>
          </p:nvPr>
        </p:nvGraphicFramePr>
        <p:xfrm>
          <a:off x="4263945" y="3707554"/>
          <a:ext cx="3716272" cy="319189"/>
        </p:xfrm>
        <a:graphic>
          <a:graphicData uri="http://schemas.openxmlformats.org/presentationml/2006/ole">
            <mc:AlternateContent xmlns:mc="http://schemas.openxmlformats.org/markup-compatibility/2006">
              <mc:Choice xmlns:v="urn:schemas-microsoft-com:vml" Requires="v">
                <p:oleObj name="公式" r:id="rId12" imgW="3213100" imgH="279400" progId="Equation.3">
                  <p:embed/>
                </p:oleObj>
              </mc:Choice>
              <mc:Fallback>
                <p:oleObj name="公式" r:id="rId12" imgW="3213100" imgH="279400" progId="Equation.3">
                  <p:embed/>
                  <p:pic>
                    <p:nvPicPr>
                      <p:cNvPr id="0" name="Object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63945" y="3707554"/>
                        <a:ext cx="3716272" cy="319189"/>
                      </a:xfrm>
                      <a:prstGeom prst="rect">
                        <a:avLst/>
                      </a:prstGeom>
                      <a:solidFill>
                        <a:srgbClr val="FFFFFF"/>
                      </a:solidFill>
                    </p:spPr>
                  </p:pic>
                </p:oleObj>
              </mc:Fallback>
            </mc:AlternateContent>
          </a:graphicData>
        </a:graphic>
      </p:graphicFrame>
      <p:sp>
        <p:nvSpPr>
          <p:cNvPr id="23" name="Rectangle 21"/>
          <p:cNvSpPr>
            <a:spLocks noChangeArrowheads="1"/>
          </p:cNvSpPr>
          <p:nvPr/>
        </p:nvSpPr>
        <p:spPr bwMode="auto">
          <a:xfrm>
            <a:off x="3672188" y="154817"/>
            <a:ext cx="547181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91440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代数和：</a:t>
            </a:r>
            <a:endParaRPr kumimoji="0" lang="zh-CN" sz="1800" b="0" i="0" u="none" strike="noStrike" cap="none" normalizeH="0" baseline="0">
              <a:ln>
                <a:noFill/>
              </a:ln>
              <a:solidFill>
                <a:schemeClr val="tx1"/>
              </a:solidFill>
              <a:effectLst/>
              <a:latin typeface="Arial" panose="020B0604020202020204" pitchFamily="34" charset="0"/>
            </a:endParaRPr>
          </a:p>
        </p:txBody>
      </p:sp>
      <p:sp>
        <p:nvSpPr>
          <p:cNvPr id="24" name="Rectangle 22"/>
          <p:cNvSpPr>
            <a:spLocks noChangeArrowheads="1"/>
          </p:cNvSpPr>
          <p:nvPr/>
        </p:nvSpPr>
        <p:spPr bwMode="auto">
          <a:xfrm>
            <a:off x="3672188" y="1428525"/>
            <a:ext cx="5471811" cy="143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25" name="Rectangle 23"/>
          <p:cNvSpPr>
            <a:spLocks noChangeArrowheads="1"/>
          </p:cNvSpPr>
          <p:nvPr/>
        </p:nvSpPr>
        <p:spPr bwMode="auto">
          <a:xfrm>
            <a:off x="3672188" y="3724050"/>
            <a:ext cx="5471811" cy="143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26" name="矩形 25"/>
          <p:cNvSpPr/>
          <p:nvPr/>
        </p:nvSpPr>
        <p:spPr>
          <a:xfrm>
            <a:off x="340746" y="4907777"/>
            <a:ext cx="4572000" cy="646331"/>
          </a:xfrm>
          <a:prstGeom prst="rect">
            <a:avLst/>
          </a:prstGeom>
        </p:spPr>
        <p:txBody>
          <a:bodyPr>
            <a:spAutoFit/>
          </a:bodyPr>
          <a:lstStyle/>
          <a:p>
            <a:r>
              <a:rPr lang="zh-CN" altLang="zh-CN"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设各段磁路中磁通均匀分布，</a:t>
            </a:r>
            <a:r>
              <a:rPr lang="en-US" altLang="zh-CN" i="1" kern="100" dirty="0">
                <a:solidFill>
                  <a:srgbClr val="000000"/>
                </a:solidFill>
                <a:latin typeface="Times New Roman" panose="02020603050405020304" pitchFamily="18" charset="0"/>
                <a:ea typeface="黑体" panose="02010609060101010101" pitchFamily="49" charset="-122"/>
              </a:rPr>
              <a:t>l</a:t>
            </a:r>
            <a:r>
              <a:rPr lang="zh-CN" altLang="zh-CN"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为磁路平均长度，则上式简化为</a:t>
            </a:r>
            <a:endParaRPr lang="zh-CN" altLang="en-US" dirty="0"/>
          </a:p>
        </p:txBody>
      </p:sp>
      <p:sp>
        <p:nvSpPr>
          <p:cNvPr id="27" name="Rectangle 25"/>
          <p:cNvSpPr>
            <a:spLocks noChangeArrowheads="1"/>
          </p:cNvSpPr>
          <p:nvPr/>
        </p:nvSpPr>
        <p:spPr bwMode="auto">
          <a:xfrm flipV="1">
            <a:off x="2816755" y="4930435"/>
            <a:ext cx="488287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28" name="对象 27"/>
          <p:cNvGraphicFramePr>
            <a:graphicFrameLocks noChangeAspect="1"/>
          </p:cNvGraphicFramePr>
          <p:nvPr>
            <p:extLst>
              <p:ext uri="{D42A27DB-BD31-4B8C-83A1-F6EECF244321}">
                <p14:modId xmlns:p14="http://schemas.microsoft.com/office/powerpoint/2010/main" val="2402370603"/>
              </p:ext>
            </p:extLst>
          </p:nvPr>
        </p:nvGraphicFramePr>
        <p:xfrm>
          <a:off x="2987824" y="5233408"/>
          <a:ext cx="2360054" cy="310266"/>
        </p:xfrm>
        <a:graphic>
          <a:graphicData uri="http://schemas.openxmlformats.org/presentationml/2006/ole">
            <mc:AlternateContent xmlns:mc="http://schemas.openxmlformats.org/markup-compatibility/2006">
              <mc:Choice xmlns:v="urn:schemas-microsoft-com:vml" Requires="v">
                <p:oleObj name="公式" r:id="rId14" imgW="1954951" imgH="253890" progId="Equation.3">
                  <p:embed/>
                </p:oleObj>
              </mc:Choice>
              <mc:Fallback>
                <p:oleObj name="公式" r:id="rId14" imgW="1954951" imgH="253890" progId="Equation.3">
                  <p:embed/>
                  <p:pic>
                    <p:nvPicPr>
                      <p:cNvPr id="0" name="Object 2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987824" y="5233408"/>
                        <a:ext cx="2360054" cy="310266"/>
                      </a:xfrm>
                      <a:prstGeom prst="rect">
                        <a:avLst/>
                      </a:prstGeom>
                      <a:solidFill>
                        <a:srgbClr val="FFFFFF"/>
                      </a:solidFill>
                    </p:spPr>
                  </p:pic>
                </p:oleObj>
              </mc:Fallback>
            </mc:AlternateContent>
          </a:graphicData>
        </a:graphic>
      </p:graphicFrame>
      <p:graphicFrame>
        <p:nvGraphicFramePr>
          <p:cNvPr id="30" name="对象 29"/>
          <p:cNvGraphicFramePr>
            <a:graphicFrameLocks noChangeAspect="1"/>
          </p:cNvGraphicFramePr>
          <p:nvPr>
            <p:extLst>
              <p:ext uri="{D42A27DB-BD31-4B8C-83A1-F6EECF244321}">
                <p14:modId xmlns:p14="http://schemas.microsoft.com/office/powerpoint/2010/main" val="3171035464"/>
              </p:ext>
            </p:extLst>
          </p:nvPr>
        </p:nvGraphicFramePr>
        <p:xfrm>
          <a:off x="6300192" y="5311778"/>
          <a:ext cx="760944" cy="292148"/>
        </p:xfrm>
        <a:graphic>
          <a:graphicData uri="http://schemas.openxmlformats.org/presentationml/2006/ole">
            <mc:AlternateContent xmlns:mc="http://schemas.openxmlformats.org/markup-compatibility/2006">
              <mc:Choice xmlns:v="urn:schemas-microsoft-com:vml" Requires="v">
                <p:oleObj name="公式" r:id="rId16" imgW="596900" imgH="228600" progId="Equation.3">
                  <p:embed/>
                </p:oleObj>
              </mc:Choice>
              <mc:Fallback>
                <p:oleObj name="公式" r:id="rId16" imgW="596900" imgH="228600" progId="Equation.3">
                  <p:embed/>
                  <p:pic>
                    <p:nvPicPr>
                      <p:cNvPr id="0" name="Object 3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300192" y="5311778"/>
                        <a:ext cx="760944" cy="292148"/>
                      </a:xfrm>
                      <a:prstGeom prst="rect">
                        <a:avLst/>
                      </a:prstGeom>
                      <a:solidFill>
                        <a:srgbClr val="FFFFFF"/>
                      </a:solidFill>
                    </p:spPr>
                  </p:pic>
                </p:oleObj>
              </mc:Fallback>
            </mc:AlternateContent>
          </a:graphicData>
        </a:graphic>
      </p:graphicFrame>
      <p:sp>
        <p:nvSpPr>
          <p:cNvPr id="31" name="Rectangle 35"/>
          <p:cNvSpPr>
            <a:spLocks noChangeArrowheads="1"/>
          </p:cNvSpPr>
          <p:nvPr/>
        </p:nvSpPr>
        <p:spPr bwMode="auto">
          <a:xfrm>
            <a:off x="5157510" y="5272452"/>
            <a:ext cx="271741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indent="476250" eaLnBrk="0" hangingPunct="0"/>
            <a:r>
              <a:rPr lang="zh-CN" altLang="zh-CN" sz="16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其中</a:t>
            </a:r>
            <a:endParaRPr lang="zh-CN" altLang="zh-CN" sz="1600" b="1" dirty="0"/>
          </a:p>
          <a:p>
            <a:pPr marL="0" marR="0" lvl="0" indent="476250" algn="l" defTabSz="914400" rtl="0" eaLnBrk="0" fontAlgn="base" latinLnBrk="0" hangingPunct="0">
              <a:lnSpc>
                <a:spcPct val="100000"/>
              </a:lnSpc>
              <a:spcBef>
                <a:spcPct val="0"/>
              </a:spcBef>
              <a:spcAft>
                <a:spcPct val="0"/>
              </a:spcAft>
              <a:buClrTx/>
              <a:buSzTx/>
              <a:buFontTx/>
              <a:buNone/>
              <a:tabLst/>
            </a:pPr>
            <a:r>
              <a:rPr kumimoji="0" lang="zh-CN" sz="16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称为该段磁路的磁压</a:t>
            </a:r>
            <a:r>
              <a:rPr kumimoji="0" lang="zh-CN" sz="16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sz="1600" b="0" i="0" u="none" strike="noStrike" cap="none" normalizeH="0" baseline="0" dirty="0">
              <a:ln>
                <a:noFill/>
              </a:ln>
              <a:solidFill>
                <a:schemeClr val="tx1"/>
              </a:solidFill>
              <a:effectLst/>
            </a:endParaRPr>
          </a:p>
        </p:txBody>
      </p:sp>
      <p:sp>
        <p:nvSpPr>
          <p:cNvPr id="32" name="矩形 31"/>
          <p:cNvSpPr/>
          <p:nvPr/>
        </p:nvSpPr>
        <p:spPr>
          <a:xfrm>
            <a:off x="0" y="5690589"/>
            <a:ext cx="5004048" cy="646331"/>
          </a:xfrm>
          <a:prstGeom prst="rect">
            <a:avLst/>
          </a:prstGeom>
        </p:spPr>
        <p:txBody>
          <a:bodyPr wrap="square">
            <a:spAutoFit/>
          </a:bodyPr>
          <a:lstStyle/>
          <a:p>
            <a:pPr marL="266700" indent="476250" algn="just">
              <a:spcAft>
                <a:spcPts val="0"/>
              </a:spcAft>
            </a:pPr>
            <a:r>
              <a:rPr lang="en-US" altLang="zh-CN" b="1" i="1" kern="100" dirty="0">
                <a:solidFill>
                  <a:srgbClr val="0000FF"/>
                </a:solidFill>
                <a:latin typeface="Times New Roman" panose="02020603050405020304" pitchFamily="18" charset="0"/>
                <a:ea typeface="黑体" panose="02010609060101010101" pitchFamily="49" charset="-122"/>
              </a:rPr>
              <a:t>F</a:t>
            </a:r>
            <a:r>
              <a:rPr lang="zh-CN" altLang="zh-CN" b="1" i="1" kern="100" dirty="0">
                <a:solidFill>
                  <a:srgbClr val="0000FF"/>
                </a:solidFill>
                <a:latin typeface="Times New Roman" panose="02020603050405020304" pitchFamily="18" charset="0"/>
                <a:ea typeface="黑体" panose="02010609060101010101" pitchFamily="49" charset="-122"/>
              </a:rPr>
              <a:t>＝</a:t>
            </a:r>
            <a:r>
              <a:rPr lang="en-US" altLang="zh-CN" b="1" i="1" kern="100" dirty="0">
                <a:solidFill>
                  <a:srgbClr val="0000FF"/>
                </a:solidFill>
                <a:latin typeface="Times New Roman" panose="02020603050405020304" pitchFamily="18" charset="0"/>
                <a:ea typeface="黑体" panose="02010609060101010101" pitchFamily="49" charset="-122"/>
              </a:rPr>
              <a:t>Ni</a:t>
            </a:r>
            <a:r>
              <a:rPr lang="zh-CN" altLang="zh-CN" kern="100" dirty="0">
                <a:solidFill>
                  <a:srgbClr val="000000"/>
                </a:solidFill>
                <a:latin typeface="Times New Roman" panose="02020603050405020304" pitchFamily="18" charset="0"/>
                <a:ea typeface="黑体" panose="02010609060101010101" pitchFamily="49" charset="-122"/>
              </a:rPr>
              <a:t>称为磁通势（</a:t>
            </a:r>
            <a:r>
              <a:rPr lang="zh-CN" altLang="zh-CN" b="1" kern="100" dirty="0">
                <a:solidFill>
                  <a:srgbClr val="0000FF"/>
                </a:solidFill>
                <a:latin typeface="Times New Roman" panose="02020603050405020304" pitchFamily="18" charset="0"/>
                <a:ea typeface="黑体" panose="02010609060101010101" pitchFamily="49" charset="-122"/>
              </a:rPr>
              <a:t>磁势、磁动势【</a:t>
            </a:r>
            <a:r>
              <a:rPr lang="en-US" altLang="zh-CN" b="1" kern="100" dirty="0" err="1">
                <a:solidFill>
                  <a:srgbClr val="0000FF"/>
                </a:solidFill>
                <a:latin typeface="Times New Roman" panose="02020603050405020304" pitchFamily="18" charset="0"/>
                <a:ea typeface="黑体" panose="02010609060101010101" pitchFamily="49" charset="-122"/>
              </a:rPr>
              <a:t>magnetomotive</a:t>
            </a:r>
            <a:r>
              <a:rPr lang="en-US" altLang="zh-CN" b="1" kern="100" dirty="0">
                <a:solidFill>
                  <a:srgbClr val="0000FF"/>
                </a:solidFill>
                <a:latin typeface="Times New Roman" panose="02020603050405020304" pitchFamily="18" charset="0"/>
                <a:ea typeface="黑体" panose="02010609060101010101" pitchFamily="49" charset="-122"/>
              </a:rPr>
              <a:t> force</a:t>
            </a:r>
            <a:r>
              <a:rPr lang="zh-CN" altLang="zh-CN" b="1" kern="100" dirty="0">
                <a:solidFill>
                  <a:srgbClr val="0000FF"/>
                </a:solidFill>
                <a:latin typeface="Times New Roman" panose="02020603050405020304" pitchFamily="18" charset="0"/>
                <a:ea typeface="黑体" panose="02010609060101010101" pitchFamily="49" charset="-122"/>
              </a:rPr>
              <a:t>】</a:t>
            </a:r>
            <a:r>
              <a:rPr lang="zh-CN" altLang="zh-CN" kern="100" dirty="0">
                <a:solidFill>
                  <a:srgbClr val="000000"/>
                </a:solidFill>
                <a:latin typeface="Times New Roman" panose="02020603050405020304" pitchFamily="18" charset="0"/>
                <a:ea typeface="黑体" panose="02010609060101010101" pitchFamily="49" charset="-122"/>
              </a:rPr>
              <a:t>）。</a:t>
            </a:r>
            <a:r>
              <a:rPr lang="en-US" altLang="zh-CN" kern="100" dirty="0">
                <a:solidFill>
                  <a:srgbClr val="000000"/>
                </a:solidFill>
                <a:latin typeface="Times New Roman" panose="02020603050405020304" pitchFamily="18" charset="0"/>
                <a:ea typeface="黑体" panose="02010609060101010101" pitchFamily="49" charset="-122"/>
              </a:rPr>
              <a:t>N</a:t>
            </a:r>
            <a:r>
              <a:rPr lang="zh-CN" altLang="zh-CN" kern="100" dirty="0">
                <a:solidFill>
                  <a:srgbClr val="000000"/>
                </a:solidFill>
                <a:latin typeface="Times New Roman" panose="02020603050405020304" pitchFamily="18" charset="0"/>
                <a:ea typeface="黑体" panose="02010609060101010101" pitchFamily="49" charset="-122"/>
              </a:rPr>
              <a:t>为线圈匝数</a:t>
            </a:r>
            <a:endParaRPr lang="zh-CN" altLang="zh-CN" sz="900" kern="100" dirty="0">
              <a:latin typeface="Times New Roman" panose="02020603050405020304" pitchFamily="18" charset="0"/>
            </a:endParaRPr>
          </a:p>
        </p:txBody>
      </p:sp>
      <p:sp>
        <p:nvSpPr>
          <p:cNvPr id="9" name="日期占位符 8">
            <a:extLst>
              <a:ext uri="{FF2B5EF4-FFF2-40B4-BE49-F238E27FC236}">
                <a16:creationId xmlns:a16="http://schemas.microsoft.com/office/drawing/2014/main" id="{4A94B204-1612-3A63-B417-1115EB2C24E5}"/>
              </a:ext>
            </a:extLst>
          </p:cNvPr>
          <p:cNvSpPr>
            <a:spLocks noGrp="1"/>
          </p:cNvSpPr>
          <p:nvPr>
            <p:ph type="dt" sz="half" idx="10"/>
          </p:nvPr>
        </p:nvSpPr>
        <p:spPr>
          <a:xfrm>
            <a:off x="169024" y="6483350"/>
            <a:ext cx="2133600" cy="476250"/>
          </a:xfrm>
        </p:spPr>
        <p:txBody>
          <a:bodyPr/>
          <a:lstStyle/>
          <a:p>
            <a:fld id="{3CCCEBEF-D985-4B0B-9454-BAD20D98BCAE}" type="datetime10">
              <a:rPr lang="en-US" altLang="zh-CN" smtClean="0"/>
              <a:t>16:53</a:t>
            </a:fld>
            <a:endParaRPr lang="en-US" altLang="zh-CN" dirty="0"/>
          </a:p>
        </p:txBody>
      </p:sp>
      <p:sp>
        <p:nvSpPr>
          <p:cNvPr id="10" name="灯片编号占位符 9">
            <a:extLst>
              <a:ext uri="{FF2B5EF4-FFF2-40B4-BE49-F238E27FC236}">
                <a16:creationId xmlns:a16="http://schemas.microsoft.com/office/drawing/2014/main" id="{DD779168-D897-2EDF-07FC-EEFF3F598077}"/>
              </a:ext>
            </a:extLst>
          </p:cNvPr>
          <p:cNvSpPr>
            <a:spLocks noGrp="1"/>
          </p:cNvSpPr>
          <p:nvPr>
            <p:ph type="sldNum" sz="quarter" idx="12"/>
          </p:nvPr>
        </p:nvSpPr>
        <p:spPr/>
        <p:txBody>
          <a:bodyPr/>
          <a:lstStyle/>
          <a:p>
            <a:fld id="{B73B34B3-1432-4053-90C7-E0228297BE5F}" type="slidenum">
              <a:rPr lang="en-US" altLang="zh-CN" smtClean="0"/>
              <a:pPr/>
              <a:t>32</a:t>
            </a:fld>
            <a:endParaRPr lang="en-US" altLang="zh-CN"/>
          </a:p>
        </p:txBody>
      </p:sp>
    </p:spTree>
    <p:extLst>
      <p:ext uri="{BB962C8B-B14F-4D97-AF65-F5344CB8AC3E}">
        <p14:creationId xmlns:p14="http://schemas.microsoft.com/office/powerpoint/2010/main" val="1972436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5716" y="980728"/>
            <a:ext cx="2630848" cy="400110"/>
          </a:xfrm>
          <a:prstGeom prst="rect">
            <a:avLst/>
          </a:prstGeom>
        </p:spPr>
        <p:txBody>
          <a:bodyPr wrap="none">
            <a:spAutoFit/>
          </a:bodyPr>
          <a:lstStyle/>
          <a:p>
            <a:pPr algn="just">
              <a:spcAft>
                <a:spcPts val="0"/>
              </a:spcAft>
            </a:pPr>
            <a:r>
              <a:rPr lang="en-US" altLang="zh-CN" sz="2000" kern="100" dirty="0">
                <a:solidFill>
                  <a:srgbClr val="000000"/>
                </a:solidFill>
                <a:latin typeface="Times New Roman" panose="02020603050405020304" pitchFamily="18" charset="0"/>
                <a:ea typeface="黑体" panose="02010609060101010101" pitchFamily="49" charset="-122"/>
              </a:rPr>
              <a:t>5</a:t>
            </a:r>
            <a:r>
              <a:rPr lang="zh-CN" altLang="zh-CN" sz="2000" kern="100" dirty="0">
                <a:solidFill>
                  <a:srgbClr val="000000"/>
                </a:solidFill>
                <a:latin typeface="Times New Roman" panose="02020603050405020304" pitchFamily="18" charset="0"/>
                <a:ea typeface="黑体" panose="02010609060101010101" pitchFamily="49" charset="-122"/>
              </a:rPr>
              <a:t>、</a:t>
            </a:r>
            <a:r>
              <a:rPr lang="en-US" altLang="zh-CN" sz="2000" kern="100" dirty="0">
                <a:solidFill>
                  <a:srgbClr val="000000"/>
                </a:solidFill>
                <a:latin typeface="Times New Roman" panose="02020603050405020304" pitchFamily="18" charset="0"/>
                <a:ea typeface="黑体" panose="02010609060101010101" pitchFamily="49" charset="-122"/>
              </a:rPr>
              <a:t>  </a:t>
            </a:r>
            <a:r>
              <a:rPr lang="en-US" altLang="zh-CN" sz="2000" b="1" kern="100" dirty="0">
                <a:solidFill>
                  <a:srgbClr val="000000"/>
                </a:solidFill>
                <a:latin typeface="Times New Roman" panose="02020603050405020304" pitchFamily="18" charset="0"/>
                <a:ea typeface="黑体" panose="02010609060101010101" pitchFamily="49" charset="-122"/>
              </a:rPr>
              <a:t> </a:t>
            </a:r>
            <a:r>
              <a:rPr lang="en-US" altLang="zh-CN" sz="2000" b="1" kern="100" dirty="0">
                <a:solidFill>
                  <a:srgbClr val="0000FF"/>
                </a:solidFill>
                <a:latin typeface="Times New Roman" panose="02020603050405020304" pitchFamily="18" charset="0"/>
                <a:ea typeface="黑体" panose="02010609060101010101" pitchFamily="49" charset="-122"/>
              </a:rPr>
              <a:t> </a:t>
            </a:r>
            <a:r>
              <a:rPr lang="zh-CN" altLang="zh-CN" sz="2000" b="1" kern="100" dirty="0">
                <a:solidFill>
                  <a:srgbClr val="0000FF"/>
                </a:solidFill>
                <a:latin typeface="Times New Roman" panose="02020603050405020304" pitchFamily="18" charset="0"/>
                <a:ea typeface="黑体" panose="02010609060101010101" pitchFamily="49" charset="-122"/>
              </a:rPr>
              <a:t>磁路欧姆定律</a:t>
            </a:r>
            <a:r>
              <a:rPr lang="zh-CN" altLang="zh-CN" sz="2000" kern="100" dirty="0">
                <a:solidFill>
                  <a:srgbClr val="0000FF"/>
                </a:solidFill>
                <a:latin typeface="Times New Roman" panose="02020603050405020304" pitchFamily="18" charset="0"/>
                <a:ea typeface="黑体" panose="02010609060101010101" pitchFamily="49" charset="-122"/>
              </a:rPr>
              <a:t>：</a:t>
            </a:r>
            <a:endParaRPr lang="zh-CN" altLang="zh-CN" sz="2000" kern="100" dirty="0">
              <a:latin typeface="Times New Roman" panose="02020603050405020304" pitchFamily="18" charset="0"/>
            </a:endParaRPr>
          </a:p>
        </p:txBody>
      </p:sp>
      <p:sp>
        <p:nvSpPr>
          <p:cNvPr id="5" name="Rectangle 2"/>
          <p:cNvSpPr>
            <a:spLocks noChangeArrowheads="1"/>
          </p:cNvSpPr>
          <p:nvPr/>
        </p:nvSpPr>
        <p:spPr bwMode="auto">
          <a:xfrm>
            <a:off x="358709" y="1380837"/>
            <a:ext cx="673023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1844119829"/>
              </p:ext>
            </p:extLst>
          </p:nvPr>
        </p:nvGraphicFramePr>
        <p:xfrm>
          <a:off x="358709" y="1380838"/>
          <a:ext cx="3421203" cy="988503"/>
        </p:xfrm>
        <a:graphic>
          <a:graphicData uri="http://schemas.openxmlformats.org/presentationml/2006/ole">
            <mc:AlternateContent xmlns:mc="http://schemas.openxmlformats.org/markup-compatibility/2006">
              <mc:Choice xmlns:v="urn:schemas-microsoft-com:vml" Requires="v">
                <p:oleObj name="公式" r:id="rId2" imgW="2082800" imgH="609600" progId="Equation.3">
                  <p:embed/>
                </p:oleObj>
              </mc:Choice>
              <mc:Fallback>
                <p:oleObj name="公式" r:id="rId2" imgW="2082800" imgH="60960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709" y="1380838"/>
                        <a:ext cx="3421203" cy="988503"/>
                      </a:xfrm>
                      <a:prstGeom prst="rect">
                        <a:avLst/>
                      </a:prstGeom>
                      <a:solidFill>
                        <a:srgbClr val="FFFFFF"/>
                      </a:solidFill>
                    </p:spPr>
                  </p:pic>
                </p:oleObj>
              </mc:Fallback>
            </mc:AlternateContent>
          </a:graphicData>
        </a:graphic>
      </p:graphicFrame>
      <p:sp>
        <p:nvSpPr>
          <p:cNvPr id="7" name="Rectangle 4"/>
          <p:cNvSpPr>
            <a:spLocks noChangeArrowheads="1"/>
          </p:cNvSpPr>
          <p:nvPr/>
        </p:nvSpPr>
        <p:spPr bwMode="auto">
          <a:xfrm>
            <a:off x="5076056" y="142655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37215189"/>
              </p:ext>
            </p:extLst>
          </p:nvPr>
        </p:nvGraphicFramePr>
        <p:xfrm>
          <a:off x="5076056" y="1426556"/>
          <a:ext cx="1447800" cy="571500"/>
        </p:xfrm>
        <a:graphic>
          <a:graphicData uri="http://schemas.openxmlformats.org/presentationml/2006/ole">
            <mc:AlternateContent xmlns:mc="http://schemas.openxmlformats.org/markup-compatibility/2006">
              <mc:Choice xmlns:v="urn:schemas-microsoft-com:vml" Requires="v">
                <p:oleObj name="公式" r:id="rId4" imgW="545626" imgH="215713" progId="Equation.3">
                  <p:embed/>
                </p:oleObj>
              </mc:Choice>
              <mc:Fallback>
                <p:oleObj name="公式" r:id="rId4" imgW="545626" imgH="215713"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6056" y="1426556"/>
                        <a:ext cx="1447800" cy="571500"/>
                      </a:xfrm>
                      <a:prstGeom prst="rect">
                        <a:avLst/>
                      </a:prstGeom>
                      <a:solidFill>
                        <a:srgbClr val="FFFF00"/>
                      </a:solidFill>
                    </p:spPr>
                  </p:pic>
                </p:oleObj>
              </mc:Fallback>
            </mc:AlternateContent>
          </a:graphicData>
        </a:graphic>
      </p:graphicFrame>
      <p:sp>
        <p:nvSpPr>
          <p:cNvPr id="9" name="文本框 8"/>
          <p:cNvSpPr txBox="1"/>
          <p:nvPr/>
        </p:nvSpPr>
        <p:spPr>
          <a:xfrm>
            <a:off x="4303219" y="1528616"/>
            <a:ext cx="441146" cy="400110"/>
          </a:xfrm>
          <a:prstGeom prst="rect">
            <a:avLst/>
          </a:prstGeom>
          <a:noFill/>
        </p:spPr>
        <p:txBody>
          <a:bodyPr wrap="none" rtlCol="0">
            <a:spAutoFit/>
          </a:bodyPr>
          <a:lstStyle/>
          <a:p>
            <a:r>
              <a:rPr lang="zh-CN" altLang="en-US" sz="2000" dirty="0"/>
              <a:t>或</a:t>
            </a:r>
          </a:p>
        </p:txBody>
      </p:sp>
      <p:sp>
        <p:nvSpPr>
          <p:cNvPr id="10" name="矩形 9"/>
          <p:cNvSpPr/>
          <p:nvPr/>
        </p:nvSpPr>
        <p:spPr>
          <a:xfrm>
            <a:off x="321980" y="2564904"/>
            <a:ext cx="4459875" cy="400110"/>
          </a:xfrm>
          <a:prstGeom prst="rect">
            <a:avLst/>
          </a:prstGeom>
        </p:spPr>
        <p:txBody>
          <a:bodyPr wrap="none">
            <a:spAutoFit/>
          </a:bodyPr>
          <a:lstStyle/>
          <a:p>
            <a:r>
              <a:rPr lang="zh-CN" altLang="zh-CN" sz="20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其中定义磁阻</a:t>
            </a:r>
            <a:r>
              <a:rPr lang="en-US" altLang="zh-CN" sz="2000" kern="100" dirty="0">
                <a:solidFill>
                  <a:srgbClr val="000000"/>
                </a:solidFill>
                <a:latin typeface="Times New Roman" panose="02020603050405020304" pitchFamily="18" charset="0"/>
                <a:ea typeface="黑体" panose="02010609060101010101" pitchFamily="49" charset="-122"/>
              </a:rPr>
              <a:t>(magnetic reluctance)</a:t>
            </a:r>
            <a:r>
              <a:rPr lang="zh-CN" altLang="zh-CN" sz="20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为</a:t>
            </a:r>
            <a:r>
              <a:rPr lang="zh-CN" altLang="en-US" sz="20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000" dirty="0"/>
          </a:p>
        </p:txBody>
      </p:sp>
      <p:sp>
        <p:nvSpPr>
          <p:cNvPr id="11" name="Rectangle 6"/>
          <p:cNvSpPr>
            <a:spLocks noChangeArrowheads="1"/>
          </p:cNvSpPr>
          <p:nvPr/>
        </p:nvSpPr>
        <p:spPr bwMode="auto">
          <a:xfrm flipV="1">
            <a:off x="4741135" y="2276871"/>
            <a:ext cx="7298884"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12" name="对象 11"/>
          <p:cNvGraphicFramePr>
            <a:graphicFrameLocks noChangeAspect="1"/>
          </p:cNvGraphicFramePr>
          <p:nvPr>
            <p:extLst>
              <p:ext uri="{D42A27DB-BD31-4B8C-83A1-F6EECF244321}">
                <p14:modId xmlns:p14="http://schemas.microsoft.com/office/powerpoint/2010/main" val="826848957"/>
              </p:ext>
            </p:extLst>
          </p:nvPr>
        </p:nvGraphicFramePr>
        <p:xfrm>
          <a:off x="4741135" y="2446008"/>
          <a:ext cx="1703073" cy="669064"/>
        </p:xfrm>
        <a:graphic>
          <a:graphicData uri="http://schemas.openxmlformats.org/presentationml/2006/ole">
            <mc:AlternateContent xmlns:mc="http://schemas.openxmlformats.org/markup-compatibility/2006">
              <mc:Choice xmlns:v="urn:schemas-microsoft-com:vml" Requires="v">
                <p:oleObj name="公式" r:id="rId6" imgW="1079500" imgH="419100" progId="Equation.3">
                  <p:embed/>
                </p:oleObj>
              </mc:Choice>
              <mc:Fallback>
                <p:oleObj name="公式" r:id="rId6" imgW="1079500" imgH="4191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41135" y="2446008"/>
                        <a:ext cx="1703073" cy="669064"/>
                      </a:xfrm>
                      <a:prstGeom prst="rect">
                        <a:avLst/>
                      </a:prstGeom>
                      <a:solidFill>
                        <a:srgbClr val="FFFFFF"/>
                      </a:solidFill>
                    </p:spPr>
                  </p:pic>
                </p:oleObj>
              </mc:Fallback>
            </mc:AlternateContent>
          </a:graphicData>
        </a:graphic>
      </p:graphicFrame>
      <p:sp>
        <p:nvSpPr>
          <p:cNvPr id="13" name="矩形 12"/>
          <p:cNvSpPr/>
          <p:nvPr/>
        </p:nvSpPr>
        <p:spPr>
          <a:xfrm>
            <a:off x="380123" y="3103816"/>
            <a:ext cx="1723549" cy="400110"/>
          </a:xfrm>
          <a:prstGeom prst="rect">
            <a:avLst/>
          </a:prstGeom>
        </p:spPr>
        <p:txBody>
          <a:bodyPr wrap="none">
            <a:spAutoFit/>
          </a:bodyPr>
          <a:lstStyle/>
          <a:p>
            <a:r>
              <a:rPr lang="zh-CN" altLang="zh-CN" sz="20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定义磁导为：</a:t>
            </a:r>
            <a:endParaRPr lang="zh-CN" altLang="en-US" sz="2000" dirty="0"/>
          </a:p>
        </p:txBody>
      </p:sp>
      <p:sp>
        <p:nvSpPr>
          <p:cNvPr id="14" name="Rectangle 8"/>
          <p:cNvSpPr>
            <a:spLocks noChangeArrowheads="1"/>
          </p:cNvSpPr>
          <p:nvPr/>
        </p:nvSpPr>
        <p:spPr bwMode="auto">
          <a:xfrm>
            <a:off x="2145332" y="2965013"/>
            <a:ext cx="694802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15" name="对象 14"/>
          <p:cNvGraphicFramePr>
            <a:graphicFrameLocks noChangeAspect="1"/>
          </p:cNvGraphicFramePr>
          <p:nvPr>
            <p:extLst>
              <p:ext uri="{D42A27DB-BD31-4B8C-83A1-F6EECF244321}">
                <p14:modId xmlns:p14="http://schemas.microsoft.com/office/powerpoint/2010/main" val="1622030863"/>
              </p:ext>
            </p:extLst>
          </p:nvPr>
        </p:nvGraphicFramePr>
        <p:xfrm>
          <a:off x="2145332" y="2965015"/>
          <a:ext cx="1418556" cy="644140"/>
        </p:xfrm>
        <a:graphic>
          <a:graphicData uri="http://schemas.openxmlformats.org/presentationml/2006/ole">
            <mc:AlternateContent xmlns:mc="http://schemas.openxmlformats.org/markup-compatibility/2006">
              <mc:Choice xmlns:v="urn:schemas-microsoft-com:vml" Requires="v">
                <p:oleObj name="公式" r:id="rId8" imgW="965200" imgH="431800" progId="Equation.3">
                  <p:embed/>
                </p:oleObj>
              </mc:Choice>
              <mc:Fallback>
                <p:oleObj name="公式" r:id="rId8" imgW="965200" imgH="43180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45332" y="2965015"/>
                        <a:ext cx="1418556" cy="644140"/>
                      </a:xfrm>
                      <a:prstGeom prst="rect">
                        <a:avLst/>
                      </a:prstGeom>
                      <a:solidFill>
                        <a:srgbClr val="FFFFFF"/>
                      </a:solidFill>
                    </p:spPr>
                  </p:pic>
                </p:oleObj>
              </mc:Fallback>
            </mc:AlternateContent>
          </a:graphicData>
        </a:graphic>
      </p:graphicFrame>
      <p:sp>
        <p:nvSpPr>
          <p:cNvPr id="16" name="矩形 15"/>
          <p:cNvSpPr/>
          <p:nvPr/>
        </p:nvSpPr>
        <p:spPr>
          <a:xfrm>
            <a:off x="179512" y="3725649"/>
            <a:ext cx="8784976" cy="2677656"/>
          </a:xfrm>
          <a:prstGeom prst="rect">
            <a:avLst/>
          </a:prstGeom>
        </p:spPr>
        <p:txBody>
          <a:bodyPr wrap="square">
            <a:spAutoFit/>
          </a:bodyPr>
          <a:lstStyle/>
          <a:p>
            <a:pPr marL="266700" indent="476250" algn="just">
              <a:spcAft>
                <a:spcPts val="0"/>
              </a:spcAft>
            </a:pPr>
            <a:r>
              <a:rPr lang="zh-CN" altLang="zh-CN" sz="2400" kern="100" dirty="0">
                <a:solidFill>
                  <a:srgbClr val="000000"/>
                </a:solidFill>
                <a:latin typeface="Times New Roman" panose="02020603050405020304" pitchFamily="18" charset="0"/>
                <a:ea typeface="黑体" panose="02010609060101010101" pitchFamily="49" charset="-122"/>
              </a:rPr>
              <a:t>思考题</a:t>
            </a:r>
            <a:endParaRPr lang="en-US" altLang="zh-CN" sz="2400" kern="100" dirty="0">
              <a:solidFill>
                <a:srgbClr val="000000"/>
              </a:solidFill>
              <a:latin typeface="Times New Roman" panose="02020603050405020304" pitchFamily="18" charset="0"/>
              <a:ea typeface="黑体" panose="02010609060101010101" pitchFamily="49" charset="-122"/>
            </a:endParaRPr>
          </a:p>
          <a:p>
            <a:pPr marL="266700" indent="476250" algn="just">
              <a:spcAft>
                <a:spcPts val="0"/>
              </a:spcAft>
            </a:pPr>
            <a:r>
              <a:rPr lang="zh-CN" altLang="en-US" sz="2400" kern="100" dirty="0">
                <a:solidFill>
                  <a:srgbClr val="000000"/>
                </a:solidFill>
                <a:latin typeface="Times New Roman" panose="02020603050405020304" pitchFamily="18" charset="0"/>
                <a:ea typeface="黑体" panose="02010609060101010101" pitchFamily="49" charset="-122"/>
                <a:sym typeface="Wingdings" panose="05000000000000000000" pitchFamily="2" charset="2"/>
              </a:rPr>
              <a:t>（</a:t>
            </a:r>
            <a:r>
              <a:rPr lang="en-US" altLang="zh-CN" sz="2400" kern="100" dirty="0">
                <a:solidFill>
                  <a:srgbClr val="000000"/>
                </a:solidFill>
                <a:latin typeface="Times New Roman" panose="02020603050405020304" pitchFamily="18" charset="0"/>
                <a:ea typeface="黑体" panose="02010609060101010101" pitchFamily="49" charset="-122"/>
                <a:sym typeface="Wingdings" panose="05000000000000000000" pitchFamily="2" charset="2"/>
              </a:rPr>
              <a:t>1</a:t>
            </a:r>
            <a:r>
              <a:rPr lang="zh-CN" altLang="en-US" sz="2400" kern="100" dirty="0">
                <a:solidFill>
                  <a:srgbClr val="000000"/>
                </a:solidFill>
                <a:latin typeface="Times New Roman" panose="02020603050405020304" pitchFamily="18" charset="0"/>
                <a:ea typeface="黑体" panose="02010609060101010101" pitchFamily="49" charset="-122"/>
                <a:sym typeface="Wingdings" panose="05000000000000000000" pitchFamily="2" charset="2"/>
              </a:rPr>
              <a:t>）</a:t>
            </a:r>
            <a:r>
              <a:rPr lang="zh-CN" altLang="zh-CN" sz="2400" kern="100" dirty="0">
                <a:solidFill>
                  <a:srgbClr val="000000"/>
                </a:solidFill>
                <a:latin typeface="Times New Roman" panose="02020603050405020304" pitchFamily="18" charset="0"/>
                <a:ea typeface="黑体" panose="02010609060101010101" pitchFamily="49" charset="-122"/>
              </a:rPr>
              <a:t>什么是安培定律？什么是磁场强度？什么是磁通密度？它们之间有什么关系？</a:t>
            </a:r>
            <a:r>
              <a:rPr lang="zh-CN" altLang="en-US" sz="2400" kern="100" dirty="0">
                <a:solidFill>
                  <a:srgbClr val="000000"/>
                </a:solidFill>
                <a:latin typeface="Times New Roman" panose="02020603050405020304" pitchFamily="18" charset="0"/>
                <a:ea typeface="黑体" panose="02010609060101010101" pitchFamily="49" charset="-122"/>
              </a:rPr>
              <a:t>（</a:t>
            </a:r>
            <a:r>
              <a:rPr lang="en-US" altLang="zh-CN" sz="2400" kern="100" dirty="0">
                <a:solidFill>
                  <a:srgbClr val="000000"/>
                </a:solidFill>
                <a:latin typeface="Times New Roman" panose="02020603050405020304" pitchFamily="18" charset="0"/>
                <a:ea typeface="黑体" panose="02010609060101010101" pitchFamily="49" charset="-122"/>
              </a:rPr>
              <a:t>2</a:t>
            </a:r>
            <a:r>
              <a:rPr lang="zh-CN" altLang="en-US" sz="2400" kern="100" dirty="0">
                <a:solidFill>
                  <a:srgbClr val="000000"/>
                </a:solidFill>
                <a:latin typeface="Times New Roman" panose="02020603050405020304" pitchFamily="18" charset="0"/>
                <a:ea typeface="黑体" panose="02010609060101010101" pitchFamily="49" charset="-122"/>
              </a:rPr>
              <a:t>）</a:t>
            </a:r>
            <a:r>
              <a:rPr lang="zh-CN" altLang="zh-CN" sz="2400" kern="100" dirty="0">
                <a:solidFill>
                  <a:srgbClr val="000000"/>
                </a:solidFill>
                <a:latin typeface="Times New Roman" panose="02020603050405020304" pitchFamily="18" charset="0"/>
                <a:ea typeface="黑体" panose="02010609060101010101" pitchFamily="49" charset="-122"/>
              </a:rPr>
              <a:t>什么是</a:t>
            </a:r>
            <a:r>
              <a:rPr lang="en-US" altLang="zh-CN" sz="2400" kern="100" dirty="0">
                <a:solidFill>
                  <a:srgbClr val="000000"/>
                </a:solidFill>
                <a:latin typeface="Times New Roman" panose="02020603050405020304" pitchFamily="18" charset="0"/>
                <a:ea typeface="黑体" panose="02010609060101010101" pitchFamily="49" charset="-122"/>
              </a:rPr>
              <a:t>Faraday</a:t>
            </a:r>
            <a:r>
              <a:rPr lang="zh-CN" altLang="zh-CN" sz="2400" kern="100" dirty="0">
                <a:solidFill>
                  <a:srgbClr val="000000"/>
                </a:solidFill>
                <a:latin typeface="Times New Roman" panose="02020603050405020304" pitchFamily="18" charset="0"/>
                <a:ea typeface="黑体" panose="02010609060101010101" pitchFamily="49" charset="-122"/>
              </a:rPr>
              <a:t>定律？</a:t>
            </a:r>
            <a:r>
              <a:rPr lang="zh-CN" altLang="zh-CN" sz="2400" b="1" kern="100" dirty="0">
                <a:solidFill>
                  <a:srgbClr val="0000FF"/>
                </a:solidFill>
                <a:latin typeface="Times New Roman" panose="02020603050405020304" pitchFamily="18" charset="0"/>
              </a:rPr>
              <a:t>在一个闭合电路中，感应出的电动势与该电路所交链磁通的变化率成比例，电动势的方向可由楞次定律确定。</a:t>
            </a:r>
            <a:endParaRPr lang="zh-CN" altLang="zh-CN" sz="2400" kern="100" dirty="0">
              <a:latin typeface="Times New Roman" panose="02020603050405020304" pitchFamily="18" charset="0"/>
            </a:endParaRPr>
          </a:p>
          <a:p>
            <a:pPr algn="just">
              <a:spcAft>
                <a:spcPts val="0"/>
              </a:spcAft>
            </a:pPr>
            <a:r>
              <a:rPr lang="en-US" altLang="zh-CN" sz="2400" kern="100" dirty="0">
                <a:solidFill>
                  <a:srgbClr val="000000"/>
                </a:solidFill>
                <a:latin typeface="Times New Roman" panose="02020603050405020304" pitchFamily="18" charset="0"/>
                <a:ea typeface="黑体" panose="02010609060101010101" pitchFamily="49" charset="-122"/>
              </a:rPr>
              <a:t>     </a:t>
            </a:r>
            <a:r>
              <a:rPr lang="zh-CN" altLang="en-US" sz="2400" kern="100" dirty="0">
                <a:solidFill>
                  <a:srgbClr val="000000"/>
                </a:solidFill>
                <a:latin typeface="Times New Roman" panose="02020603050405020304" pitchFamily="18" charset="0"/>
                <a:ea typeface="黑体" panose="02010609060101010101" pitchFamily="49" charset="-122"/>
              </a:rPr>
              <a:t>（</a:t>
            </a:r>
            <a:r>
              <a:rPr lang="en-US" altLang="zh-CN" sz="2400" kern="100" dirty="0">
                <a:solidFill>
                  <a:srgbClr val="000000"/>
                </a:solidFill>
                <a:latin typeface="Times New Roman" panose="02020603050405020304" pitchFamily="18" charset="0"/>
                <a:ea typeface="黑体" panose="02010609060101010101" pitchFamily="49" charset="-122"/>
              </a:rPr>
              <a:t>3</a:t>
            </a:r>
            <a:r>
              <a:rPr lang="zh-CN" altLang="en-US" sz="2400" kern="100" dirty="0">
                <a:solidFill>
                  <a:srgbClr val="000000"/>
                </a:solidFill>
                <a:latin typeface="Times New Roman" panose="02020603050405020304" pitchFamily="18" charset="0"/>
                <a:ea typeface="黑体" panose="02010609060101010101" pitchFamily="49" charset="-122"/>
              </a:rPr>
              <a:t>）</a:t>
            </a:r>
            <a:r>
              <a:rPr lang="zh-CN" altLang="zh-CN" sz="2400" kern="100" dirty="0">
                <a:solidFill>
                  <a:srgbClr val="000000"/>
                </a:solidFill>
                <a:latin typeface="Times New Roman" panose="02020603050405020304" pitchFamily="18" charset="0"/>
                <a:ea typeface="黑体" panose="02010609060101010101" pitchFamily="49" charset="-122"/>
              </a:rPr>
              <a:t>磁场对磁场中的导体产生力的必要条件是什么？</a:t>
            </a:r>
            <a:endParaRPr lang="zh-CN" altLang="zh-CN" sz="2400" kern="100" dirty="0">
              <a:latin typeface="Times New Roman" panose="02020603050405020304" pitchFamily="18" charset="0"/>
            </a:endParaRPr>
          </a:p>
          <a:p>
            <a:pPr algn="just">
              <a:spcAft>
                <a:spcPts val="0"/>
              </a:spcAft>
            </a:pPr>
            <a:r>
              <a:rPr lang="en-US" altLang="zh-CN" sz="2400" kern="100" dirty="0">
                <a:solidFill>
                  <a:srgbClr val="000000"/>
                </a:solidFill>
                <a:latin typeface="Times New Roman" panose="02020603050405020304" pitchFamily="18" charset="0"/>
                <a:ea typeface="黑体" panose="02010609060101010101" pitchFamily="49" charset="-122"/>
              </a:rPr>
              <a:t>     </a:t>
            </a:r>
            <a:r>
              <a:rPr lang="zh-CN" altLang="en-US" sz="2400" kern="100" dirty="0">
                <a:solidFill>
                  <a:srgbClr val="000000"/>
                </a:solidFill>
                <a:latin typeface="Times New Roman" panose="02020603050405020304" pitchFamily="18" charset="0"/>
                <a:ea typeface="黑体" panose="02010609060101010101" pitchFamily="49" charset="-122"/>
              </a:rPr>
              <a:t>（</a:t>
            </a:r>
            <a:r>
              <a:rPr lang="en-US" altLang="zh-CN" sz="2400" kern="100" dirty="0">
                <a:solidFill>
                  <a:srgbClr val="000000"/>
                </a:solidFill>
                <a:latin typeface="Times New Roman" panose="02020603050405020304" pitchFamily="18" charset="0"/>
                <a:ea typeface="黑体" panose="02010609060101010101" pitchFamily="49" charset="-122"/>
              </a:rPr>
              <a:t>4</a:t>
            </a:r>
            <a:r>
              <a:rPr lang="zh-CN" altLang="en-US" sz="2400" kern="100" dirty="0">
                <a:solidFill>
                  <a:srgbClr val="000000"/>
                </a:solidFill>
                <a:latin typeface="Times New Roman" panose="02020603050405020304" pitchFamily="18" charset="0"/>
                <a:ea typeface="黑体" panose="02010609060101010101" pitchFamily="49" charset="-122"/>
              </a:rPr>
              <a:t>）</a:t>
            </a:r>
            <a:r>
              <a:rPr lang="zh-CN" altLang="zh-CN" sz="2400" kern="100" dirty="0">
                <a:solidFill>
                  <a:srgbClr val="000000"/>
                </a:solidFill>
                <a:latin typeface="Times New Roman" panose="02020603050405020304" pitchFamily="18" charset="0"/>
                <a:ea typeface="黑体" panose="02010609060101010101" pitchFamily="49" charset="-122"/>
              </a:rPr>
              <a:t>使磁场中的导体上产生电压的必要条件是什么？</a:t>
            </a:r>
            <a:endParaRPr lang="zh-CN" altLang="zh-CN" sz="2400" kern="100" dirty="0">
              <a:latin typeface="Times New Roman" panose="02020603050405020304" pitchFamily="18" charset="0"/>
            </a:endParaRPr>
          </a:p>
        </p:txBody>
      </p:sp>
      <p:sp>
        <p:nvSpPr>
          <p:cNvPr id="19" name="日期占位符 18">
            <a:extLst>
              <a:ext uri="{FF2B5EF4-FFF2-40B4-BE49-F238E27FC236}">
                <a16:creationId xmlns:a16="http://schemas.microsoft.com/office/drawing/2014/main" id="{B62EC74D-25D9-102B-F0FB-A134910DEB73}"/>
              </a:ext>
            </a:extLst>
          </p:cNvPr>
          <p:cNvSpPr>
            <a:spLocks noGrp="1"/>
          </p:cNvSpPr>
          <p:nvPr>
            <p:ph type="dt" sz="half" idx="10"/>
          </p:nvPr>
        </p:nvSpPr>
        <p:spPr/>
        <p:txBody>
          <a:bodyPr/>
          <a:lstStyle/>
          <a:p>
            <a:fld id="{30DBAF97-7985-4699-874F-DDD15F8C3A95}" type="datetime10">
              <a:rPr lang="en-US" altLang="zh-CN" smtClean="0"/>
              <a:t>16:53</a:t>
            </a:fld>
            <a:endParaRPr lang="en-US" altLang="zh-CN"/>
          </a:p>
        </p:txBody>
      </p:sp>
      <p:sp>
        <p:nvSpPr>
          <p:cNvPr id="20" name="灯片编号占位符 19">
            <a:extLst>
              <a:ext uri="{FF2B5EF4-FFF2-40B4-BE49-F238E27FC236}">
                <a16:creationId xmlns:a16="http://schemas.microsoft.com/office/drawing/2014/main" id="{18794F22-0C30-3768-BD5A-9F88FA86BEB2}"/>
              </a:ext>
            </a:extLst>
          </p:cNvPr>
          <p:cNvSpPr>
            <a:spLocks noGrp="1"/>
          </p:cNvSpPr>
          <p:nvPr>
            <p:ph type="sldNum" sz="quarter" idx="12"/>
          </p:nvPr>
        </p:nvSpPr>
        <p:spPr/>
        <p:txBody>
          <a:bodyPr/>
          <a:lstStyle/>
          <a:p>
            <a:fld id="{B73B34B3-1432-4053-90C7-E0228297BE5F}" type="slidenum">
              <a:rPr lang="en-US" altLang="zh-CN" smtClean="0"/>
              <a:pPr/>
              <a:t>33</a:t>
            </a:fld>
            <a:endParaRPr lang="en-US" altLang="zh-CN"/>
          </a:p>
        </p:txBody>
      </p:sp>
    </p:spTree>
    <p:extLst>
      <p:ext uri="{BB962C8B-B14F-4D97-AF65-F5344CB8AC3E}">
        <p14:creationId xmlns:p14="http://schemas.microsoft.com/office/powerpoint/2010/main" val="17206564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1116" y="1475519"/>
            <a:ext cx="8229600" cy="346050"/>
          </a:xfrm>
        </p:spPr>
        <p:txBody>
          <a:bodyPr/>
          <a:lstStyle/>
          <a:p>
            <a:pPr lvl="0" algn="l"/>
            <a:r>
              <a:rPr lang="zh-CN" altLang="en-US" sz="3200" b="1" dirty="0"/>
              <a:t>一、</a:t>
            </a:r>
            <a:r>
              <a:rPr lang="zh-CN" altLang="zh-CN" sz="3200" b="1" dirty="0"/>
              <a:t>主磁极与主极磁场</a:t>
            </a:r>
            <a:r>
              <a:rPr lang="en-US" altLang="zh-CN" sz="3200" b="1" dirty="0"/>
              <a:t> main field poles,   main poles magnetic field</a:t>
            </a:r>
            <a:br>
              <a:rPr lang="zh-CN" altLang="zh-CN" dirty="0"/>
            </a:br>
            <a:endParaRPr lang="zh-CN" altLang="en-US" dirty="0"/>
          </a:p>
        </p:txBody>
      </p:sp>
      <p:sp>
        <p:nvSpPr>
          <p:cNvPr id="3" name="内容占位符 2"/>
          <p:cNvSpPr>
            <a:spLocks noGrp="1"/>
          </p:cNvSpPr>
          <p:nvPr>
            <p:ph idx="1"/>
          </p:nvPr>
        </p:nvSpPr>
        <p:spPr>
          <a:xfrm>
            <a:off x="440722" y="1701971"/>
            <a:ext cx="8229600" cy="4525963"/>
          </a:xfrm>
        </p:spPr>
        <p:txBody>
          <a:bodyPr/>
          <a:lstStyle/>
          <a:p>
            <a:r>
              <a:rPr lang="zh-CN" altLang="zh-CN" dirty="0">
                <a:solidFill>
                  <a:srgbClr val="FF0000"/>
                </a:solidFill>
              </a:rPr>
              <a:t>问题：如何构造并分析直流电机磁场？</a:t>
            </a:r>
          </a:p>
          <a:p>
            <a:endParaRPr lang="zh-CN" altLang="en-US" dirty="0"/>
          </a:p>
        </p:txBody>
      </p:sp>
      <p:sp>
        <p:nvSpPr>
          <p:cNvPr id="4" name="Rectangle 2"/>
          <p:cNvSpPr>
            <a:spLocks noChangeArrowheads="1"/>
          </p:cNvSpPr>
          <p:nvPr/>
        </p:nvSpPr>
        <p:spPr bwMode="auto">
          <a:xfrm>
            <a:off x="432556" y="234888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349344499"/>
              </p:ext>
            </p:extLst>
          </p:nvPr>
        </p:nvGraphicFramePr>
        <p:xfrm>
          <a:off x="432556" y="2348880"/>
          <a:ext cx="6886575" cy="2124075"/>
        </p:xfrm>
        <a:graphic>
          <a:graphicData uri="http://schemas.openxmlformats.org/presentationml/2006/ole">
            <mc:AlternateContent xmlns:mc="http://schemas.openxmlformats.org/markup-compatibility/2006">
              <mc:Choice xmlns:v="urn:schemas-microsoft-com:vml" Requires="v">
                <p:oleObj r:id="rId2" imgW="3554413" imgH="1095375" progId="MSDraw">
                  <p:embed/>
                </p:oleObj>
              </mc:Choice>
              <mc:Fallback>
                <p:oleObj r:id="rId2" imgW="3554413" imgH="1095375" progId="MSDraw">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556" y="2348880"/>
                        <a:ext cx="6886575" cy="2124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4"/>
          <p:cNvSpPr>
            <a:spLocks noChangeArrowheads="1"/>
          </p:cNvSpPr>
          <p:nvPr/>
        </p:nvSpPr>
        <p:spPr bwMode="auto">
          <a:xfrm>
            <a:off x="1259632" y="234888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3343971697"/>
              </p:ext>
            </p:extLst>
          </p:nvPr>
        </p:nvGraphicFramePr>
        <p:xfrm>
          <a:off x="1259632" y="2348880"/>
          <a:ext cx="7038975" cy="4505325"/>
        </p:xfrm>
        <a:graphic>
          <a:graphicData uri="http://schemas.openxmlformats.org/presentationml/2006/ole">
            <mc:AlternateContent xmlns:mc="http://schemas.openxmlformats.org/markup-compatibility/2006">
              <mc:Choice xmlns:v="urn:schemas-microsoft-com:vml" Requires="v">
                <p:oleObj r:id="rId4" imgW="4687888" imgH="3000375" progId="MSDraw">
                  <p:embed/>
                </p:oleObj>
              </mc:Choice>
              <mc:Fallback>
                <p:oleObj r:id="rId4" imgW="4687888" imgH="3000375" progId="MSDraw">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9632" y="2348880"/>
                        <a:ext cx="7038975" cy="4505325"/>
                      </a:xfrm>
                      <a:prstGeom prst="rect">
                        <a:avLst/>
                      </a:prstGeom>
                      <a:solidFill>
                        <a:srgbClr val="FFFFFF"/>
                      </a:solidFill>
                    </p:spPr>
                  </p:pic>
                </p:oleObj>
              </mc:Fallback>
            </mc:AlternateContent>
          </a:graphicData>
        </a:graphic>
      </p:graphicFrame>
      <p:sp>
        <p:nvSpPr>
          <p:cNvPr id="12" name="日期占位符 11">
            <a:extLst>
              <a:ext uri="{FF2B5EF4-FFF2-40B4-BE49-F238E27FC236}">
                <a16:creationId xmlns:a16="http://schemas.microsoft.com/office/drawing/2014/main" id="{F5AFFAFB-DF20-F69E-12F4-D8022A0ABAC9}"/>
              </a:ext>
            </a:extLst>
          </p:cNvPr>
          <p:cNvSpPr>
            <a:spLocks noGrp="1"/>
          </p:cNvSpPr>
          <p:nvPr>
            <p:ph type="dt" sz="half" idx="10"/>
          </p:nvPr>
        </p:nvSpPr>
        <p:spPr/>
        <p:txBody>
          <a:bodyPr/>
          <a:lstStyle/>
          <a:p>
            <a:fld id="{96DF9529-81D6-4BAF-B3A5-E7E3CE483A35}" type="datetime10">
              <a:rPr lang="en-US" altLang="zh-CN" smtClean="0"/>
              <a:t>16:53</a:t>
            </a:fld>
            <a:endParaRPr lang="en-US" altLang="zh-CN"/>
          </a:p>
        </p:txBody>
      </p:sp>
      <p:sp>
        <p:nvSpPr>
          <p:cNvPr id="13" name="灯片编号占位符 12">
            <a:extLst>
              <a:ext uri="{FF2B5EF4-FFF2-40B4-BE49-F238E27FC236}">
                <a16:creationId xmlns:a16="http://schemas.microsoft.com/office/drawing/2014/main" id="{1D4B7066-0809-5414-FCC0-B07CA9B1155E}"/>
              </a:ext>
            </a:extLst>
          </p:cNvPr>
          <p:cNvSpPr>
            <a:spLocks noGrp="1"/>
          </p:cNvSpPr>
          <p:nvPr>
            <p:ph type="sldNum" sz="quarter" idx="12"/>
          </p:nvPr>
        </p:nvSpPr>
        <p:spPr/>
        <p:txBody>
          <a:bodyPr/>
          <a:lstStyle/>
          <a:p>
            <a:fld id="{B73B34B3-1432-4053-90C7-E0228297BE5F}" type="slidenum">
              <a:rPr lang="en-US" altLang="zh-CN" smtClean="0"/>
              <a:pPr/>
              <a:t>34</a:t>
            </a:fld>
            <a:endParaRPr lang="en-US" altLang="zh-CN"/>
          </a:p>
        </p:txBody>
      </p:sp>
    </p:spTree>
    <p:extLst>
      <p:ext uri="{BB962C8B-B14F-4D97-AF65-F5344CB8AC3E}">
        <p14:creationId xmlns:p14="http://schemas.microsoft.com/office/powerpoint/2010/main" val="1720703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79220"/>
            <a:ext cx="8229600" cy="4525963"/>
          </a:xfrm>
        </p:spPr>
        <p:txBody>
          <a:bodyPr/>
          <a:lstStyle/>
          <a:p>
            <a:r>
              <a:rPr lang="zh-CN" altLang="zh-CN" sz="2400" b="1" dirty="0">
                <a:solidFill>
                  <a:srgbClr val="FF0000"/>
                </a:solidFill>
              </a:rPr>
              <a:t>主磁极：套装有励磁绕组的电磁铁或经过充磁的稀土永磁磁铁。</a:t>
            </a:r>
          </a:p>
          <a:p>
            <a:pPr lvl="0"/>
            <a:r>
              <a:rPr lang="zh-CN" altLang="zh-CN" sz="2400" b="1" dirty="0"/>
              <a:t>磁路的等效简化</a:t>
            </a:r>
            <a:r>
              <a:rPr lang="zh-CN" altLang="zh-CN" sz="2400" dirty="0"/>
              <a:t>：</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设</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个主极的励磁磁通势、主磁通量分别为</a:t>
            </a:r>
            <a:endParaRPr lang="zh-CN" altLang="en-US" sz="1800" dirty="0">
              <a:latin typeface="Arial" panose="020B0604020202020204" pitchFamily="34" charset="0"/>
            </a:endParaRPr>
          </a:p>
          <a:p>
            <a:pPr marL="0" indent="0">
              <a:buNone/>
            </a:pPr>
            <a:r>
              <a:rPr lang="en-US" altLang="zh-CN" sz="2400" dirty="0"/>
              <a:t>         </a:t>
            </a:r>
            <a:r>
              <a:rPr lang="zh-CN" altLang="zh-CN" sz="2400" dirty="0"/>
              <a:t>为主磁极磁感应线所经路径上的总磁阻。则有：</a:t>
            </a:r>
            <a:endParaRPr lang="en-US" altLang="zh-CN" sz="2400" dirty="0"/>
          </a:p>
          <a:p>
            <a:pPr lvl="0"/>
            <a:r>
              <a:rPr lang="zh-CN"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磁路特点</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：具有一定饱和特性；包含气隙。</a:t>
            </a:r>
            <a:endParaRPr lang="zh-CN" altLang="en-US" sz="2400" dirty="0">
              <a:latin typeface="Arial" panose="020B0604020202020204" pitchFamily="34" charset="0"/>
            </a:endParaRPr>
          </a:p>
          <a:p>
            <a:endParaRPr lang="zh-CN" altLang="en-US" sz="800" dirty="0"/>
          </a:p>
          <a:p>
            <a:pPr marL="0" indent="0">
              <a:buNone/>
            </a:pPr>
            <a:endParaRPr lang="zh-CN" altLang="en-US" sz="2400" dirty="0"/>
          </a:p>
        </p:txBody>
      </p:sp>
      <p:graphicFrame>
        <p:nvGraphicFramePr>
          <p:cNvPr id="4" name="对象 3"/>
          <p:cNvGraphicFramePr>
            <a:graphicFrameLocks noChangeAspect="1"/>
          </p:cNvGraphicFramePr>
          <p:nvPr>
            <p:extLst>
              <p:ext uri="{D42A27DB-BD31-4B8C-83A1-F6EECF244321}">
                <p14:modId xmlns:p14="http://schemas.microsoft.com/office/powerpoint/2010/main" val="2194871961"/>
              </p:ext>
            </p:extLst>
          </p:nvPr>
        </p:nvGraphicFramePr>
        <p:xfrm>
          <a:off x="1547664" y="2060848"/>
          <a:ext cx="390525" cy="476250"/>
        </p:xfrm>
        <a:graphic>
          <a:graphicData uri="http://schemas.openxmlformats.org/presentationml/2006/ole">
            <mc:AlternateContent xmlns:mc="http://schemas.openxmlformats.org/markup-compatibility/2006">
              <mc:Choice xmlns:v="urn:schemas-microsoft-com:vml" Requires="v">
                <p:oleObj name="公式" r:id="rId2" imgW="190500" imgH="228600" progId="Equation.3">
                  <p:embed/>
                </p:oleObj>
              </mc:Choice>
              <mc:Fallback>
                <p:oleObj name="公式" r:id="rId2" imgW="190500" imgH="2286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664" y="2060848"/>
                        <a:ext cx="390525" cy="476250"/>
                      </a:xfrm>
                      <a:prstGeom prst="rect">
                        <a:avLst/>
                      </a:prstGeom>
                      <a:solidFill>
                        <a:srgbClr val="FFFFFF"/>
                      </a:solid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800013924"/>
              </p:ext>
            </p:extLst>
          </p:nvPr>
        </p:nvGraphicFramePr>
        <p:xfrm>
          <a:off x="2051720" y="2060848"/>
          <a:ext cx="352425" cy="447675"/>
        </p:xfrm>
        <a:graphic>
          <a:graphicData uri="http://schemas.openxmlformats.org/presentationml/2006/ole">
            <mc:AlternateContent xmlns:mc="http://schemas.openxmlformats.org/markup-compatibility/2006">
              <mc:Choice xmlns:v="urn:schemas-microsoft-com:vml" Requires="v">
                <p:oleObj name="公式" r:id="rId4" imgW="177646" imgH="228402" progId="Equation.3">
                  <p:embed/>
                </p:oleObj>
              </mc:Choice>
              <mc:Fallback>
                <p:oleObj name="公式" r:id="rId4" imgW="177646" imgH="228402"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1720" y="2060848"/>
                        <a:ext cx="352425" cy="447675"/>
                      </a:xfrm>
                      <a:prstGeom prst="rect">
                        <a:avLst/>
                      </a:prstGeom>
                      <a:solidFill>
                        <a:srgbClr val="FFFFFF"/>
                      </a:solidFill>
                    </p:spPr>
                  </p:pic>
                </p:oleObj>
              </mc:Fallback>
            </mc:AlternateContent>
          </a:graphicData>
        </a:graphic>
      </p:graphicFrame>
      <p:sp>
        <p:nvSpPr>
          <p:cNvPr id="9" name="Rectangle 7"/>
          <p:cNvSpPr>
            <a:spLocks noChangeArrowheads="1"/>
          </p:cNvSpPr>
          <p:nvPr/>
        </p:nvSpPr>
        <p:spPr bwMode="auto">
          <a:xfrm>
            <a:off x="850032" y="252132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extLst>
              <p:ext uri="{D42A27DB-BD31-4B8C-83A1-F6EECF244321}">
                <p14:modId xmlns:p14="http://schemas.microsoft.com/office/powerpoint/2010/main" val="1394594949"/>
              </p:ext>
            </p:extLst>
          </p:nvPr>
        </p:nvGraphicFramePr>
        <p:xfrm>
          <a:off x="850031" y="2521327"/>
          <a:ext cx="423661" cy="423661"/>
        </p:xfrm>
        <a:graphic>
          <a:graphicData uri="http://schemas.openxmlformats.org/presentationml/2006/ole">
            <mc:AlternateContent xmlns:mc="http://schemas.openxmlformats.org/markup-compatibility/2006">
              <mc:Choice xmlns:v="urn:schemas-microsoft-com:vml" Requires="v">
                <p:oleObj name="公式" r:id="rId6" imgW="228600" imgH="228600" progId="Equation.3">
                  <p:embed/>
                </p:oleObj>
              </mc:Choice>
              <mc:Fallback>
                <p:oleObj name="公式" r:id="rId6" imgW="228600" imgH="2286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0031" y="2521327"/>
                        <a:ext cx="423661" cy="423661"/>
                      </a:xfrm>
                      <a:prstGeom prst="rect">
                        <a:avLst/>
                      </a:prstGeom>
                      <a:solidFill>
                        <a:srgbClr val="FFFFFF"/>
                      </a:solidFill>
                    </p:spPr>
                  </p:pic>
                </p:oleObj>
              </mc:Fallback>
            </mc:AlternateContent>
          </a:graphicData>
        </a:graphic>
      </p:graphicFrame>
      <p:sp>
        <p:nvSpPr>
          <p:cNvPr id="13" name="Rectangle 14"/>
          <p:cNvSpPr>
            <a:spLocks noChangeArrowheads="1"/>
          </p:cNvSpPr>
          <p:nvPr/>
        </p:nvSpPr>
        <p:spPr bwMode="auto">
          <a:xfrm>
            <a:off x="6876256" y="2944989"/>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4" name="对象 13"/>
          <p:cNvGraphicFramePr>
            <a:graphicFrameLocks noChangeAspect="1"/>
          </p:cNvGraphicFramePr>
          <p:nvPr>
            <p:extLst>
              <p:ext uri="{D42A27DB-BD31-4B8C-83A1-F6EECF244321}">
                <p14:modId xmlns:p14="http://schemas.microsoft.com/office/powerpoint/2010/main" val="2554484953"/>
              </p:ext>
            </p:extLst>
          </p:nvPr>
        </p:nvGraphicFramePr>
        <p:xfrm>
          <a:off x="6876256" y="2944989"/>
          <a:ext cx="1562100" cy="457200"/>
        </p:xfrm>
        <a:graphic>
          <a:graphicData uri="http://schemas.openxmlformats.org/presentationml/2006/ole">
            <mc:AlternateContent xmlns:mc="http://schemas.openxmlformats.org/markup-compatibility/2006">
              <mc:Choice xmlns:v="urn:schemas-microsoft-com:vml" Requires="v">
                <p:oleObj name="公式" r:id="rId8" imgW="787400" imgH="228600" progId="Equation.3">
                  <p:embed/>
                </p:oleObj>
              </mc:Choice>
              <mc:Fallback>
                <p:oleObj name="公式" r:id="rId8" imgW="787400" imgH="228600" progId="Equation.3">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76256" y="2944989"/>
                        <a:ext cx="1562100" cy="457200"/>
                      </a:xfrm>
                      <a:prstGeom prst="rect">
                        <a:avLst/>
                      </a:prstGeom>
                      <a:solidFill>
                        <a:srgbClr val="FFFF99"/>
                      </a:solidFill>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2488538609"/>
              </p:ext>
            </p:extLst>
          </p:nvPr>
        </p:nvGraphicFramePr>
        <p:xfrm>
          <a:off x="329602" y="3665162"/>
          <a:ext cx="1791200" cy="2115043"/>
        </p:xfrm>
        <a:graphic>
          <a:graphicData uri="http://schemas.openxmlformats.org/presentationml/2006/ole">
            <mc:AlternateContent xmlns:mc="http://schemas.openxmlformats.org/markup-compatibility/2006">
              <mc:Choice xmlns:v="urn:schemas-microsoft-com:vml" Requires="v">
                <p:oleObj r:id="rId10" imgW="1317625" imgH="1555750" progId="MSDraw">
                  <p:embed/>
                </p:oleObj>
              </mc:Choice>
              <mc:Fallback>
                <p:oleObj r:id="rId10" imgW="1317625" imgH="1555750" progId="MSDraw">
                  <p:embed/>
                  <p:pic>
                    <p:nvPicPr>
                      <p:cNvPr id="0" name="Object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9602" y="3665162"/>
                        <a:ext cx="1791200" cy="2115043"/>
                      </a:xfrm>
                      <a:prstGeom prst="rect">
                        <a:avLst/>
                      </a:prstGeom>
                      <a:noFill/>
                    </p:spPr>
                  </p:pic>
                </p:oleObj>
              </mc:Fallback>
            </mc:AlternateContent>
          </a:graphicData>
        </a:graphic>
      </p:graphicFrame>
      <p:sp>
        <p:nvSpPr>
          <p:cNvPr id="17" name="Rectangle 17"/>
          <p:cNvSpPr>
            <a:spLocks noChangeArrowheads="1"/>
          </p:cNvSpPr>
          <p:nvPr/>
        </p:nvSpPr>
        <p:spPr bwMode="auto">
          <a:xfrm>
            <a:off x="0" y="226368"/>
            <a:ext cx="36420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8" name="矩形 17"/>
          <p:cNvSpPr/>
          <p:nvPr/>
        </p:nvSpPr>
        <p:spPr>
          <a:xfrm>
            <a:off x="2875164" y="3536379"/>
            <a:ext cx="3136996" cy="3046988"/>
          </a:xfrm>
          <a:prstGeom prst="rect">
            <a:avLst/>
          </a:prstGeom>
        </p:spPr>
        <p:txBody>
          <a:bodyPr wrap="square">
            <a:spAutoFit/>
          </a:bodyPr>
          <a:lstStyle/>
          <a:p>
            <a:pPr algn="just">
              <a:spcAft>
                <a:spcPts val="0"/>
              </a:spcAft>
            </a:pPr>
            <a:r>
              <a:rPr lang="zh-CN" altLang="zh-CN" sz="2400" kern="100" dirty="0">
                <a:solidFill>
                  <a:srgbClr val="000000"/>
                </a:solidFill>
                <a:latin typeface="Times New Roman" panose="02020603050405020304" pitchFamily="18" charset="0"/>
                <a:ea typeface="黑体" panose="02010609060101010101" pitchFamily="49" charset="-122"/>
              </a:rPr>
              <a:t>由两个基本公式：</a:t>
            </a:r>
            <a:r>
              <a:rPr lang="en-US" altLang="zh-CN" sz="2400" i="1" kern="100" dirty="0">
                <a:solidFill>
                  <a:srgbClr val="000000"/>
                </a:solidFill>
                <a:latin typeface="Times New Roman" panose="02020603050405020304" pitchFamily="18" charset="0"/>
                <a:ea typeface="黑体" panose="02010609060101010101" pitchFamily="49" charset="-122"/>
              </a:rPr>
              <a:t>F=</a:t>
            </a:r>
            <a:r>
              <a:rPr lang="en-US" altLang="zh-CN" sz="2400" i="1" kern="100" dirty="0" err="1">
                <a:solidFill>
                  <a:srgbClr val="000000"/>
                </a:solidFill>
                <a:latin typeface="Times New Roman" panose="02020603050405020304" pitchFamily="18" charset="0"/>
                <a:ea typeface="黑体" panose="02010609060101010101" pitchFamily="49" charset="-122"/>
              </a:rPr>
              <a:t>Bli</a:t>
            </a:r>
            <a:r>
              <a:rPr lang="zh-CN" altLang="zh-CN" sz="2400" i="1" kern="100" dirty="0">
                <a:solidFill>
                  <a:srgbClr val="000000"/>
                </a:solidFill>
                <a:latin typeface="Times New Roman" panose="02020603050405020304" pitchFamily="18" charset="0"/>
                <a:ea typeface="黑体" panose="02010609060101010101" pitchFamily="49" charset="-122"/>
              </a:rPr>
              <a:t>、</a:t>
            </a:r>
            <a:r>
              <a:rPr lang="en-US" altLang="zh-CN" sz="2400" i="1" kern="100" dirty="0">
                <a:solidFill>
                  <a:srgbClr val="000000"/>
                </a:solidFill>
                <a:latin typeface="Times New Roman" panose="02020603050405020304" pitchFamily="18" charset="0"/>
                <a:ea typeface="黑体" panose="02010609060101010101" pitchFamily="49" charset="-122"/>
              </a:rPr>
              <a:t>e=</a:t>
            </a:r>
            <a:r>
              <a:rPr lang="en-US" altLang="zh-CN" sz="2400" i="1" kern="100" dirty="0" err="1">
                <a:solidFill>
                  <a:srgbClr val="000000"/>
                </a:solidFill>
                <a:latin typeface="Times New Roman" panose="02020603050405020304" pitchFamily="18" charset="0"/>
                <a:ea typeface="黑体" panose="02010609060101010101" pitchFamily="49" charset="-122"/>
              </a:rPr>
              <a:t>Blv</a:t>
            </a:r>
            <a:endParaRPr lang="zh-CN" altLang="zh-CN" sz="2400" kern="100" dirty="0">
              <a:latin typeface="Times New Roman" panose="02020603050405020304" pitchFamily="18" charset="0"/>
            </a:endParaRPr>
          </a:p>
          <a:p>
            <a:pPr algn="just">
              <a:spcAft>
                <a:spcPts val="0"/>
              </a:spcAft>
            </a:pPr>
            <a:r>
              <a:rPr lang="zh-CN" altLang="zh-CN" sz="2400" kern="100" dirty="0">
                <a:solidFill>
                  <a:srgbClr val="000000"/>
                </a:solidFill>
                <a:latin typeface="Times New Roman" panose="02020603050405020304" pitchFamily="18" charset="0"/>
                <a:ea typeface="黑体" panose="02010609060101010101" pitchFamily="49" charset="-122"/>
              </a:rPr>
              <a:t>为了知道</a:t>
            </a:r>
            <a:r>
              <a:rPr lang="en-US" altLang="zh-CN" sz="2400" i="1" kern="100" dirty="0">
                <a:solidFill>
                  <a:srgbClr val="000000"/>
                </a:solidFill>
                <a:latin typeface="Times New Roman" panose="02020603050405020304" pitchFamily="18" charset="0"/>
                <a:ea typeface="黑体" panose="02010609060101010101" pitchFamily="49" charset="-122"/>
              </a:rPr>
              <a:t>F</a:t>
            </a:r>
            <a:r>
              <a:rPr lang="zh-CN" altLang="zh-CN" sz="2400" i="1" kern="100" dirty="0">
                <a:solidFill>
                  <a:srgbClr val="000000"/>
                </a:solidFill>
                <a:latin typeface="Times New Roman" panose="02020603050405020304" pitchFamily="18" charset="0"/>
                <a:ea typeface="黑体" panose="02010609060101010101" pitchFamily="49" charset="-122"/>
              </a:rPr>
              <a:t>、</a:t>
            </a:r>
            <a:r>
              <a:rPr lang="en-US" altLang="zh-CN" sz="2400" i="1" kern="100" dirty="0">
                <a:solidFill>
                  <a:srgbClr val="000000"/>
                </a:solidFill>
                <a:latin typeface="Times New Roman" panose="02020603050405020304" pitchFamily="18" charset="0"/>
                <a:ea typeface="黑体" panose="02010609060101010101" pitchFamily="49" charset="-122"/>
              </a:rPr>
              <a:t>e</a:t>
            </a:r>
            <a:r>
              <a:rPr lang="zh-CN" altLang="zh-CN" sz="2400" kern="100" dirty="0">
                <a:solidFill>
                  <a:srgbClr val="000000"/>
                </a:solidFill>
                <a:latin typeface="Times New Roman" panose="02020603050405020304" pitchFamily="18" charset="0"/>
                <a:ea typeface="黑体" panose="02010609060101010101" pitchFamily="49" charset="-122"/>
              </a:rPr>
              <a:t>的大小，必须知道</a:t>
            </a:r>
            <a:endParaRPr lang="zh-CN" altLang="zh-CN" sz="2400" kern="100" dirty="0">
              <a:latin typeface="Times New Roman" panose="02020603050405020304" pitchFamily="18" charset="0"/>
            </a:endParaRPr>
          </a:p>
          <a:p>
            <a:r>
              <a:rPr lang="zh-CN" altLang="zh-CN" sz="2400"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电枢铁心表面</a:t>
            </a:r>
            <a:r>
              <a:rPr lang="en-US" altLang="zh-CN" sz="2400" kern="100" dirty="0">
                <a:solidFill>
                  <a:srgbClr val="000000"/>
                </a:solidFill>
                <a:latin typeface="Times New Roman" panose="02020603050405020304" pitchFamily="18" charset="0"/>
                <a:ea typeface="黑体" panose="02010609060101010101" pitchFamily="49" charset="-122"/>
              </a:rPr>
              <a:t>B</a:t>
            </a:r>
            <a:r>
              <a:rPr lang="zh-CN" altLang="zh-CN" sz="24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的大小，</a:t>
            </a:r>
            <a:r>
              <a:rPr lang="zh-CN" altLang="zh-CN" sz="2400" b="1" dirty="0"/>
              <a:t>因为产生电磁力矩的载流导体都分布于此</a:t>
            </a:r>
            <a:r>
              <a:rPr lang="zh-CN" altLang="zh-CN" sz="2400" dirty="0"/>
              <a:t>。</a:t>
            </a:r>
          </a:p>
        </p:txBody>
      </p:sp>
      <p:graphicFrame>
        <p:nvGraphicFramePr>
          <p:cNvPr id="19" name="对象 18"/>
          <p:cNvGraphicFramePr>
            <a:graphicFrameLocks noChangeAspect="1"/>
          </p:cNvGraphicFramePr>
          <p:nvPr>
            <p:extLst>
              <p:ext uri="{D42A27DB-BD31-4B8C-83A1-F6EECF244321}">
                <p14:modId xmlns:p14="http://schemas.microsoft.com/office/powerpoint/2010/main" val="1027719158"/>
              </p:ext>
            </p:extLst>
          </p:nvPr>
        </p:nvGraphicFramePr>
        <p:xfrm>
          <a:off x="6156175" y="3651966"/>
          <a:ext cx="2658223" cy="3206033"/>
        </p:xfrm>
        <a:graphic>
          <a:graphicData uri="http://schemas.openxmlformats.org/presentationml/2006/ole">
            <mc:AlternateContent xmlns:mc="http://schemas.openxmlformats.org/markup-compatibility/2006">
              <mc:Choice xmlns:v="urn:schemas-microsoft-com:vml" Requires="v">
                <p:oleObj r:id="rId12" imgW="4734000" imgH="5727600" progId="">
                  <p:embed/>
                </p:oleObj>
              </mc:Choice>
              <mc:Fallback>
                <p:oleObj r:id="rId12" imgW="4734000" imgH="5727600" progId="">
                  <p:embed/>
                  <p:pic>
                    <p:nvPicPr>
                      <p:cNvPr id="0" name="Object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156175" y="3651966"/>
                        <a:ext cx="2658223" cy="3206033"/>
                      </a:xfrm>
                      <a:prstGeom prst="rect">
                        <a:avLst/>
                      </a:prstGeom>
                      <a:solidFill>
                        <a:srgbClr val="FFFFFF"/>
                      </a:solidFill>
                      <a:ln>
                        <a:noFill/>
                      </a:ln>
                    </p:spPr>
                  </p:pic>
                </p:oleObj>
              </mc:Fallback>
            </mc:AlternateContent>
          </a:graphicData>
        </a:graphic>
      </p:graphicFrame>
      <p:sp>
        <p:nvSpPr>
          <p:cNvPr id="11" name="日期占位符 10">
            <a:extLst>
              <a:ext uri="{FF2B5EF4-FFF2-40B4-BE49-F238E27FC236}">
                <a16:creationId xmlns:a16="http://schemas.microsoft.com/office/drawing/2014/main" id="{A4A628F0-BF3F-1C73-4AB5-C7E99C4C910A}"/>
              </a:ext>
            </a:extLst>
          </p:cNvPr>
          <p:cNvSpPr>
            <a:spLocks noGrp="1"/>
          </p:cNvSpPr>
          <p:nvPr>
            <p:ph type="dt" sz="half" idx="10"/>
          </p:nvPr>
        </p:nvSpPr>
        <p:spPr/>
        <p:txBody>
          <a:bodyPr/>
          <a:lstStyle/>
          <a:p>
            <a:fld id="{9B7A9E42-EF52-414D-950B-F5C93FD846E6}" type="datetime10">
              <a:rPr lang="en-US" altLang="zh-CN" smtClean="0"/>
              <a:t>16:53</a:t>
            </a:fld>
            <a:endParaRPr lang="en-US" altLang="zh-CN"/>
          </a:p>
        </p:txBody>
      </p:sp>
      <p:sp>
        <p:nvSpPr>
          <p:cNvPr id="12" name="灯片编号占位符 11">
            <a:extLst>
              <a:ext uri="{FF2B5EF4-FFF2-40B4-BE49-F238E27FC236}">
                <a16:creationId xmlns:a16="http://schemas.microsoft.com/office/drawing/2014/main" id="{1AB5E00E-C4E1-5ED8-20DF-66B7F125F328}"/>
              </a:ext>
            </a:extLst>
          </p:cNvPr>
          <p:cNvSpPr>
            <a:spLocks noGrp="1"/>
          </p:cNvSpPr>
          <p:nvPr>
            <p:ph type="sldNum" sz="quarter" idx="12"/>
          </p:nvPr>
        </p:nvSpPr>
        <p:spPr/>
        <p:txBody>
          <a:bodyPr/>
          <a:lstStyle/>
          <a:p>
            <a:fld id="{B73B34B3-1432-4053-90C7-E0228297BE5F}" type="slidenum">
              <a:rPr lang="en-US" altLang="zh-CN" smtClean="0"/>
              <a:pPr/>
              <a:t>35</a:t>
            </a:fld>
            <a:endParaRPr lang="en-US" altLang="zh-CN"/>
          </a:p>
        </p:txBody>
      </p:sp>
    </p:spTree>
    <p:extLst>
      <p:ext uri="{BB962C8B-B14F-4D97-AF65-F5344CB8AC3E}">
        <p14:creationId xmlns:p14="http://schemas.microsoft.com/office/powerpoint/2010/main" val="9754611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980728"/>
            <a:ext cx="8229600" cy="4525963"/>
          </a:xfrm>
        </p:spPr>
        <p:txBody>
          <a:bodyPr/>
          <a:lstStyle/>
          <a:p>
            <a:r>
              <a:rPr lang="zh-CN" altLang="zh-CN" sz="2400" b="1" dirty="0"/>
              <a:t>在磁极下</a:t>
            </a:r>
            <a:r>
              <a:rPr lang="zh-CN" altLang="zh-CN" sz="2400" dirty="0"/>
              <a:t>：</a:t>
            </a:r>
            <a:endParaRPr lang="en-US" altLang="zh-CN" sz="2400" dirty="0"/>
          </a:p>
          <a:p>
            <a:endParaRPr lang="en-US" altLang="zh-CN" sz="2400" dirty="0"/>
          </a:p>
          <a:p>
            <a:r>
              <a:rPr lang="zh-CN" altLang="zh-CN" sz="2400" b="1" dirty="0"/>
              <a:t>铁心磁阻</a:t>
            </a:r>
            <a:endParaRPr lang="en-US" altLang="zh-CN" sz="2400" b="1" dirty="0"/>
          </a:p>
          <a:p>
            <a:endParaRPr lang="en-US" altLang="zh-CN" sz="2400" b="1" dirty="0"/>
          </a:p>
          <a:p>
            <a:endParaRPr lang="en-US" altLang="zh-CN" sz="2400" b="1" dirty="0"/>
          </a:p>
          <a:p>
            <a:r>
              <a:rPr lang="zh-CN" altLang="zh-CN" sz="2400" b="1" dirty="0"/>
              <a:t>在极靴外</a:t>
            </a:r>
            <a:r>
              <a:rPr lang="zh-CN" altLang="zh-CN" sz="2400" dirty="0"/>
              <a:t>，</a:t>
            </a:r>
            <a:r>
              <a:rPr lang="en-US" altLang="zh-CN" sz="2400" dirty="0"/>
              <a:t>                           </a:t>
            </a:r>
            <a:r>
              <a:rPr lang="zh-CN" altLang="zh-CN" sz="2400" dirty="0"/>
              <a:t>并在两极分界处降为</a:t>
            </a:r>
            <a:r>
              <a:rPr lang="en-US" altLang="zh-CN" sz="2400" dirty="0"/>
              <a:t>0</a:t>
            </a:r>
            <a:r>
              <a:rPr lang="zh-CN" altLang="zh-CN" sz="2400" dirty="0"/>
              <a:t>。</a:t>
            </a:r>
          </a:p>
          <a:p>
            <a:endParaRPr lang="en-US" altLang="zh-CN" sz="2400" b="1" dirty="0"/>
          </a:p>
          <a:p>
            <a:r>
              <a:rPr lang="zh-CN" altLang="zh-CN" sz="2400" b="1" dirty="0">
                <a:solidFill>
                  <a:srgbClr val="FF0000"/>
                </a:solidFill>
              </a:rPr>
              <a:t>几何中性线</a:t>
            </a:r>
            <a:r>
              <a:rPr lang="zh-CN" altLang="zh-CN" sz="2400" dirty="0"/>
              <a:t>：与主磁极轴线正交的电枢径向轴线（结构相关）；</a:t>
            </a:r>
          </a:p>
          <a:p>
            <a:r>
              <a:rPr lang="zh-CN" altLang="zh-CN" sz="2400" b="1" dirty="0">
                <a:solidFill>
                  <a:srgbClr val="FF0000"/>
                </a:solidFill>
              </a:rPr>
              <a:t>磁场中性线、物理中性线</a:t>
            </a:r>
            <a:r>
              <a:rPr lang="zh-CN" altLang="zh-CN" sz="2400" dirty="0"/>
              <a:t>：电枢表面</a:t>
            </a:r>
            <a:r>
              <a:rPr lang="en-US" altLang="zh-CN" sz="2400" dirty="0"/>
              <a:t>B</a:t>
            </a:r>
            <a:r>
              <a:rPr lang="zh-CN" altLang="zh-CN" sz="2400" dirty="0"/>
              <a:t>＝</a:t>
            </a:r>
            <a:r>
              <a:rPr lang="en-US" altLang="zh-CN" sz="2400" dirty="0"/>
              <a:t>0</a:t>
            </a:r>
            <a:r>
              <a:rPr lang="zh-CN" altLang="zh-CN" sz="2400" dirty="0"/>
              <a:t>处的电枢径向轴线（磁场相关）。</a:t>
            </a:r>
          </a:p>
          <a:p>
            <a:r>
              <a:rPr lang="zh-CN" altLang="zh-CN" sz="2400" dirty="0"/>
              <a:t>仅存在主磁通时二者重合。</a:t>
            </a:r>
            <a:endParaRPr lang="zh-CN" altLang="en-US" sz="2400" b="1" dirty="0"/>
          </a:p>
        </p:txBody>
      </p:sp>
      <p:sp>
        <p:nvSpPr>
          <p:cNvPr id="4" name="Rectangle 2"/>
          <p:cNvSpPr>
            <a:spLocks noChangeArrowheads="1"/>
          </p:cNvSpPr>
          <p:nvPr/>
        </p:nvSpPr>
        <p:spPr bwMode="auto">
          <a:xfrm>
            <a:off x="2699792" y="90872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544469272"/>
              </p:ext>
            </p:extLst>
          </p:nvPr>
        </p:nvGraphicFramePr>
        <p:xfrm>
          <a:off x="2699792" y="908720"/>
          <a:ext cx="2905125" cy="723900"/>
        </p:xfrm>
        <a:graphic>
          <a:graphicData uri="http://schemas.openxmlformats.org/presentationml/2006/ole">
            <mc:AlternateContent xmlns:mc="http://schemas.openxmlformats.org/markup-compatibility/2006">
              <mc:Choice xmlns:v="urn:schemas-microsoft-com:vml" Requires="v">
                <p:oleObj name="公式" r:id="rId2" imgW="1892300" imgH="444500" progId="Equation.3">
                  <p:embed/>
                </p:oleObj>
              </mc:Choice>
              <mc:Fallback>
                <p:oleObj name="公式" r:id="rId2" imgW="1892300" imgH="44450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9792" y="908720"/>
                        <a:ext cx="2905125" cy="723900"/>
                      </a:xfrm>
                      <a:prstGeom prst="rect">
                        <a:avLst/>
                      </a:prstGeom>
                      <a:solidFill>
                        <a:srgbClr val="FFFFFF"/>
                      </a:solidFill>
                    </p:spPr>
                  </p:pic>
                </p:oleObj>
              </mc:Fallback>
            </mc:AlternateContent>
          </a:graphicData>
        </a:graphic>
      </p:graphicFrame>
      <p:sp>
        <p:nvSpPr>
          <p:cNvPr id="6" name="Rectangle 4"/>
          <p:cNvSpPr>
            <a:spLocks noChangeArrowheads="1"/>
          </p:cNvSpPr>
          <p:nvPr/>
        </p:nvSpPr>
        <p:spPr bwMode="auto">
          <a:xfrm>
            <a:off x="2699792" y="163262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1795517575"/>
              </p:ext>
            </p:extLst>
          </p:nvPr>
        </p:nvGraphicFramePr>
        <p:xfrm>
          <a:off x="2699792" y="1632620"/>
          <a:ext cx="4352925" cy="781050"/>
        </p:xfrm>
        <a:graphic>
          <a:graphicData uri="http://schemas.openxmlformats.org/presentationml/2006/ole">
            <mc:AlternateContent xmlns:mc="http://schemas.openxmlformats.org/markup-compatibility/2006">
              <mc:Choice xmlns:v="urn:schemas-microsoft-com:vml" Requires="v">
                <p:oleObj name="公式" r:id="rId4" imgW="2400300" imgH="431800" progId="Equation.3">
                  <p:embed/>
                </p:oleObj>
              </mc:Choice>
              <mc:Fallback>
                <p:oleObj name="公式" r:id="rId4" imgW="2400300" imgH="4318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99792" y="1632620"/>
                        <a:ext cx="4352925" cy="781050"/>
                      </a:xfrm>
                      <a:prstGeom prst="rect">
                        <a:avLst/>
                      </a:prstGeom>
                      <a:solidFill>
                        <a:srgbClr val="FFFFFF"/>
                      </a:solidFill>
                    </p:spPr>
                  </p:pic>
                </p:oleObj>
              </mc:Fallback>
            </mc:AlternateContent>
          </a:graphicData>
        </a:graphic>
      </p:graphicFrame>
      <p:sp>
        <p:nvSpPr>
          <p:cNvPr id="10" name="Rectangle 8"/>
          <p:cNvSpPr>
            <a:spLocks noChangeArrowheads="1"/>
          </p:cNvSpPr>
          <p:nvPr/>
        </p:nvSpPr>
        <p:spPr bwMode="auto">
          <a:xfrm>
            <a:off x="2123728" y="239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 name="对象 10"/>
          <p:cNvGraphicFramePr>
            <a:graphicFrameLocks noChangeAspect="1"/>
          </p:cNvGraphicFramePr>
          <p:nvPr>
            <p:extLst>
              <p:ext uri="{D42A27DB-BD31-4B8C-83A1-F6EECF244321}">
                <p14:modId xmlns:p14="http://schemas.microsoft.com/office/powerpoint/2010/main" val="299176973"/>
              </p:ext>
            </p:extLst>
          </p:nvPr>
        </p:nvGraphicFramePr>
        <p:xfrm>
          <a:off x="2123728" y="2392400"/>
          <a:ext cx="2981325" cy="895350"/>
        </p:xfrm>
        <a:graphic>
          <a:graphicData uri="http://schemas.openxmlformats.org/presentationml/2006/ole">
            <mc:AlternateContent xmlns:mc="http://schemas.openxmlformats.org/markup-compatibility/2006">
              <mc:Choice xmlns:v="urn:schemas-microsoft-com:vml" Requires="v">
                <p:oleObj name="公式" r:id="rId6" imgW="1371600" imgH="406400" progId="Equation.3">
                  <p:embed/>
                </p:oleObj>
              </mc:Choice>
              <mc:Fallback>
                <p:oleObj name="公式" r:id="rId6" imgW="1371600" imgH="4064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23728" y="2392400"/>
                        <a:ext cx="2981325" cy="895350"/>
                      </a:xfrm>
                      <a:prstGeom prst="rect">
                        <a:avLst/>
                      </a:prstGeom>
                      <a:solidFill>
                        <a:srgbClr val="FFFFFF"/>
                      </a:solidFill>
                    </p:spPr>
                  </p:pic>
                </p:oleObj>
              </mc:Fallback>
            </mc:AlternateContent>
          </a:graphicData>
        </a:graphic>
      </p:graphicFrame>
      <p:sp>
        <p:nvSpPr>
          <p:cNvPr id="12" name="Rectangle 10"/>
          <p:cNvSpPr>
            <a:spLocks noChangeArrowheads="1"/>
          </p:cNvSpPr>
          <p:nvPr/>
        </p:nvSpPr>
        <p:spPr bwMode="auto">
          <a:xfrm>
            <a:off x="2627784" y="3287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3" name="对象 12"/>
          <p:cNvGraphicFramePr>
            <a:graphicFrameLocks noChangeAspect="1"/>
          </p:cNvGraphicFramePr>
          <p:nvPr>
            <p:extLst>
              <p:ext uri="{D42A27DB-BD31-4B8C-83A1-F6EECF244321}">
                <p14:modId xmlns:p14="http://schemas.microsoft.com/office/powerpoint/2010/main" val="151612249"/>
              </p:ext>
            </p:extLst>
          </p:nvPr>
        </p:nvGraphicFramePr>
        <p:xfrm>
          <a:off x="2627784" y="3287750"/>
          <a:ext cx="1962150" cy="609600"/>
        </p:xfrm>
        <a:graphic>
          <a:graphicData uri="http://schemas.openxmlformats.org/presentationml/2006/ole">
            <mc:AlternateContent xmlns:mc="http://schemas.openxmlformats.org/markup-compatibility/2006">
              <mc:Choice xmlns:v="urn:schemas-microsoft-com:vml" Requires="v">
                <p:oleObj name="公式" r:id="rId8" imgW="774364" imgH="241195" progId="Equation.3">
                  <p:embed/>
                </p:oleObj>
              </mc:Choice>
              <mc:Fallback>
                <p:oleObj name="公式" r:id="rId8" imgW="774364" imgH="241195" progId="Equation.3">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27784" y="3287750"/>
                        <a:ext cx="1962150" cy="609600"/>
                      </a:xfrm>
                      <a:prstGeom prst="rect">
                        <a:avLst/>
                      </a:prstGeom>
                      <a:solidFill>
                        <a:srgbClr val="FFFFFF"/>
                      </a:solidFill>
                    </p:spPr>
                  </p:pic>
                </p:oleObj>
              </mc:Fallback>
            </mc:AlternateContent>
          </a:graphicData>
        </a:graphic>
      </p:graphicFrame>
      <p:sp>
        <p:nvSpPr>
          <p:cNvPr id="15" name="日期占位符 14">
            <a:extLst>
              <a:ext uri="{FF2B5EF4-FFF2-40B4-BE49-F238E27FC236}">
                <a16:creationId xmlns:a16="http://schemas.microsoft.com/office/drawing/2014/main" id="{9391E44D-38AE-EA4E-A7C5-8DACE9C24E13}"/>
              </a:ext>
            </a:extLst>
          </p:cNvPr>
          <p:cNvSpPr>
            <a:spLocks noGrp="1"/>
          </p:cNvSpPr>
          <p:nvPr>
            <p:ph type="dt" sz="half" idx="10"/>
          </p:nvPr>
        </p:nvSpPr>
        <p:spPr/>
        <p:txBody>
          <a:bodyPr/>
          <a:lstStyle/>
          <a:p>
            <a:fld id="{0377C7EA-90B9-4802-96EE-A2BAEFC94BD8}" type="datetime10">
              <a:rPr lang="en-US" altLang="zh-CN" smtClean="0"/>
              <a:t>16:53</a:t>
            </a:fld>
            <a:endParaRPr lang="en-US" altLang="zh-CN"/>
          </a:p>
        </p:txBody>
      </p:sp>
      <p:sp>
        <p:nvSpPr>
          <p:cNvPr id="16" name="灯片编号占位符 15">
            <a:extLst>
              <a:ext uri="{FF2B5EF4-FFF2-40B4-BE49-F238E27FC236}">
                <a16:creationId xmlns:a16="http://schemas.microsoft.com/office/drawing/2014/main" id="{E75481C5-38C8-E2AA-34C5-4660A0B398FA}"/>
              </a:ext>
            </a:extLst>
          </p:cNvPr>
          <p:cNvSpPr>
            <a:spLocks noGrp="1"/>
          </p:cNvSpPr>
          <p:nvPr>
            <p:ph type="sldNum" sz="quarter" idx="12"/>
          </p:nvPr>
        </p:nvSpPr>
        <p:spPr/>
        <p:txBody>
          <a:bodyPr/>
          <a:lstStyle/>
          <a:p>
            <a:fld id="{B73B34B3-1432-4053-90C7-E0228297BE5F}" type="slidenum">
              <a:rPr lang="en-US" altLang="zh-CN" smtClean="0"/>
              <a:pPr/>
              <a:t>36</a:t>
            </a:fld>
            <a:endParaRPr lang="en-US" altLang="zh-CN"/>
          </a:p>
        </p:txBody>
      </p:sp>
    </p:spTree>
    <p:extLst>
      <p:ext uri="{BB962C8B-B14F-4D97-AF65-F5344CB8AC3E}">
        <p14:creationId xmlns:p14="http://schemas.microsoft.com/office/powerpoint/2010/main" val="15958359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980728"/>
            <a:ext cx="8229600" cy="4525963"/>
          </a:xfrm>
        </p:spPr>
        <p:txBody>
          <a:bodyPr/>
          <a:lstStyle/>
          <a:p>
            <a:r>
              <a:rPr lang="zh-CN" altLang="en-US" sz="2400" b="1" dirty="0">
                <a:solidFill>
                  <a:srgbClr val="FF0000"/>
                </a:solidFill>
              </a:rPr>
              <a:t>磁场分布特性</a:t>
            </a:r>
            <a:endParaRPr lang="en-US" altLang="zh-CN" sz="2400" b="1" dirty="0">
              <a:solidFill>
                <a:srgbClr val="FF0000"/>
              </a:solidFill>
            </a:endParaRPr>
          </a:p>
          <a:p>
            <a:pPr marL="0" indent="0">
              <a:buNone/>
            </a:pPr>
            <a:r>
              <a:rPr lang="zh-CN" altLang="en-US" sz="2400" dirty="0"/>
              <a:t>（</a:t>
            </a:r>
            <a:r>
              <a:rPr lang="en-US" altLang="zh-CN" sz="2400" dirty="0"/>
              <a:t>1</a:t>
            </a:r>
            <a:r>
              <a:rPr lang="zh-CN" altLang="en-US" sz="2400" dirty="0"/>
              <a:t>）</a:t>
            </a:r>
            <a:r>
              <a:rPr lang="zh-CN" altLang="zh-CN" sz="2400" dirty="0"/>
              <a:t>取磁力线穿出电枢表面的</a:t>
            </a:r>
            <a:r>
              <a:rPr lang="en-US" altLang="zh-CN" sz="2400" dirty="0"/>
              <a:t>B</a:t>
            </a:r>
            <a:r>
              <a:rPr lang="zh-CN" altLang="zh-CN" sz="2400" dirty="0"/>
              <a:t>为正。</a:t>
            </a:r>
          </a:p>
          <a:p>
            <a:pPr marL="0" indent="0">
              <a:buNone/>
            </a:pPr>
            <a:r>
              <a:rPr lang="zh-CN" altLang="en-US" sz="2400" dirty="0"/>
              <a:t>（</a:t>
            </a:r>
            <a:r>
              <a:rPr lang="en-US" altLang="zh-CN" sz="2400" dirty="0"/>
              <a:t>2</a:t>
            </a:r>
            <a:r>
              <a:rPr lang="zh-CN" altLang="en-US" sz="2400" dirty="0"/>
              <a:t>）</a:t>
            </a:r>
            <a:r>
              <a:rPr lang="zh-CN" altLang="zh-CN" sz="2400" dirty="0"/>
              <a:t>相邻两主磁极轴线间的距离称为</a:t>
            </a:r>
            <a:r>
              <a:rPr lang="zh-CN" altLang="zh-CN" sz="2400" b="1" dirty="0"/>
              <a:t>极距τ</a:t>
            </a:r>
            <a:r>
              <a:rPr lang="zh-CN" altLang="zh-CN" sz="2400" dirty="0"/>
              <a:t>。</a:t>
            </a:r>
            <a:endParaRPr lang="zh-CN" altLang="en-US" sz="2400" dirty="0"/>
          </a:p>
        </p:txBody>
      </p:sp>
      <p:sp>
        <p:nvSpPr>
          <p:cNvPr id="4" name="Rectangle 2"/>
          <p:cNvSpPr>
            <a:spLocks noChangeArrowheads="1"/>
          </p:cNvSpPr>
          <p:nvPr/>
        </p:nvSpPr>
        <p:spPr bwMode="auto">
          <a:xfrm>
            <a:off x="3635896" y="1124744"/>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761389603"/>
              </p:ext>
            </p:extLst>
          </p:nvPr>
        </p:nvGraphicFramePr>
        <p:xfrm>
          <a:off x="1907704" y="2636912"/>
          <a:ext cx="5132164" cy="3619526"/>
        </p:xfrm>
        <a:graphic>
          <a:graphicData uri="http://schemas.openxmlformats.org/presentationml/2006/ole">
            <mc:AlternateContent xmlns:mc="http://schemas.openxmlformats.org/markup-compatibility/2006">
              <mc:Choice xmlns:v="urn:schemas-microsoft-com:vml" Requires="v">
                <p:oleObj r:id="rId2" imgW="2559050" imgH="1800225" progId="MSDraw">
                  <p:embed/>
                </p:oleObj>
              </mc:Choice>
              <mc:Fallback>
                <p:oleObj r:id="rId2" imgW="2559050" imgH="1800225" progId="MSDraw">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2636912"/>
                        <a:ext cx="5132164" cy="3619526"/>
                      </a:xfrm>
                      <a:prstGeom prst="rect">
                        <a:avLst/>
                      </a:prstGeom>
                      <a:noFill/>
                    </p:spPr>
                  </p:pic>
                </p:oleObj>
              </mc:Fallback>
            </mc:AlternateContent>
          </a:graphicData>
        </a:graphic>
      </p:graphicFrame>
      <p:sp>
        <p:nvSpPr>
          <p:cNvPr id="9" name="日期占位符 8">
            <a:extLst>
              <a:ext uri="{FF2B5EF4-FFF2-40B4-BE49-F238E27FC236}">
                <a16:creationId xmlns:a16="http://schemas.microsoft.com/office/drawing/2014/main" id="{589D833D-8B32-DA21-5313-9246083D45BC}"/>
              </a:ext>
            </a:extLst>
          </p:cNvPr>
          <p:cNvSpPr>
            <a:spLocks noGrp="1"/>
          </p:cNvSpPr>
          <p:nvPr>
            <p:ph type="dt" sz="half" idx="10"/>
          </p:nvPr>
        </p:nvSpPr>
        <p:spPr/>
        <p:txBody>
          <a:bodyPr/>
          <a:lstStyle/>
          <a:p>
            <a:fld id="{BC5B7900-6E29-43CB-AA4D-0B106DCE2581}" type="datetime10">
              <a:rPr lang="en-US" altLang="zh-CN" smtClean="0"/>
              <a:t>16:53</a:t>
            </a:fld>
            <a:endParaRPr lang="en-US" altLang="zh-CN"/>
          </a:p>
        </p:txBody>
      </p:sp>
      <p:sp>
        <p:nvSpPr>
          <p:cNvPr id="10" name="灯片编号占位符 9">
            <a:extLst>
              <a:ext uri="{FF2B5EF4-FFF2-40B4-BE49-F238E27FC236}">
                <a16:creationId xmlns:a16="http://schemas.microsoft.com/office/drawing/2014/main" id="{AD2AEC8C-9FAF-743F-3A36-831EEF2A9EE6}"/>
              </a:ext>
            </a:extLst>
          </p:cNvPr>
          <p:cNvSpPr>
            <a:spLocks noGrp="1"/>
          </p:cNvSpPr>
          <p:nvPr>
            <p:ph type="sldNum" sz="quarter" idx="12"/>
          </p:nvPr>
        </p:nvSpPr>
        <p:spPr/>
        <p:txBody>
          <a:bodyPr/>
          <a:lstStyle/>
          <a:p>
            <a:fld id="{B73B34B3-1432-4053-90C7-E0228297BE5F}" type="slidenum">
              <a:rPr lang="en-US" altLang="zh-CN" smtClean="0"/>
              <a:pPr/>
              <a:t>37</a:t>
            </a:fld>
            <a:endParaRPr lang="en-US" altLang="zh-CN"/>
          </a:p>
        </p:txBody>
      </p:sp>
    </p:spTree>
    <p:extLst>
      <p:ext uri="{BB962C8B-B14F-4D97-AF65-F5344CB8AC3E}">
        <p14:creationId xmlns:p14="http://schemas.microsoft.com/office/powerpoint/2010/main" val="19421820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1391171"/>
            <a:ext cx="8229600" cy="418058"/>
          </a:xfrm>
        </p:spPr>
        <p:txBody>
          <a:bodyPr/>
          <a:lstStyle/>
          <a:p>
            <a:pPr lvl="0"/>
            <a:r>
              <a:rPr lang="zh-CN" altLang="en-US" sz="3200" dirty="0"/>
              <a:t>二、</a:t>
            </a:r>
            <a:r>
              <a:rPr lang="zh-CN" altLang="zh-CN" sz="3200" b="1" dirty="0"/>
              <a:t>电枢绕组</a:t>
            </a:r>
            <a:r>
              <a:rPr lang="zh-CN" altLang="zh-CN" sz="3200" dirty="0"/>
              <a:t>（</a:t>
            </a:r>
            <a:r>
              <a:rPr lang="en-US" altLang="zh-CN" sz="3200" i="1" dirty="0"/>
              <a:t>l</a:t>
            </a:r>
            <a:r>
              <a:rPr lang="zh-CN" altLang="zh-CN" sz="3200" dirty="0"/>
              <a:t>）</a:t>
            </a:r>
            <a:r>
              <a:rPr lang="en-US" altLang="zh-CN" sz="3200" dirty="0"/>
              <a:t>Armature coils</a:t>
            </a:r>
            <a:r>
              <a:rPr lang="zh-CN" altLang="zh-CN" sz="3200" dirty="0"/>
              <a:t>：保证在同一主磁极下电流方向不变。</a:t>
            </a:r>
            <a:br>
              <a:rPr lang="zh-CN" altLang="zh-CN" dirty="0"/>
            </a:br>
            <a:endParaRPr lang="zh-CN" altLang="en-US" dirty="0"/>
          </a:p>
        </p:txBody>
      </p:sp>
      <p:sp>
        <p:nvSpPr>
          <p:cNvPr id="3" name="内容占位符 2"/>
          <p:cNvSpPr>
            <a:spLocks noGrp="1"/>
          </p:cNvSpPr>
          <p:nvPr>
            <p:ph idx="1"/>
          </p:nvPr>
        </p:nvSpPr>
        <p:spPr>
          <a:xfrm>
            <a:off x="179512" y="1834508"/>
            <a:ext cx="8385992" cy="4525963"/>
          </a:xfrm>
        </p:spPr>
        <p:txBody>
          <a:bodyPr/>
          <a:lstStyle/>
          <a:p>
            <a:r>
              <a:rPr lang="zh-CN" altLang="zh-CN" sz="2400" dirty="0"/>
              <a:t>由于</a:t>
            </a:r>
            <a:r>
              <a:rPr lang="zh-CN" altLang="zh-CN" sz="2400" dirty="0">
                <a:solidFill>
                  <a:srgbClr val="0000CC"/>
                </a:solidFill>
              </a:rPr>
              <a:t>磁力线具有垂直出入介质表面的性质，</a:t>
            </a:r>
            <a:r>
              <a:rPr lang="zh-CN" altLang="zh-CN" sz="2400" dirty="0"/>
              <a:t>两个基本公式</a:t>
            </a:r>
            <a:r>
              <a:rPr lang="en-US" altLang="zh-CN" sz="2400" i="1" dirty="0"/>
              <a:t>F=</a:t>
            </a:r>
            <a:r>
              <a:rPr lang="en-US" altLang="zh-CN" sz="2400" i="1" dirty="0" err="1"/>
              <a:t>Bli</a:t>
            </a:r>
            <a:r>
              <a:rPr lang="zh-CN" altLang="zh-CN" sz="2400" i="1" dirty="0"/>
              <a:t>、</a:t>
            </a:r>
            <a:r>
              <a:rPr lang="en-US" altLang="zh-CN" sz="2400" i="1" dirty="0"/>
              <a:t>e=</a:t>
            </a:r>
            <a:r>
              <a:rPr lang="en-US" altLang="zh-CN" sz="2400" i="1" dirty="0" err="1"/>
              <a:t>Blv</a:t>
            </a:r>
            <a:r>
              <a:rPr lang="zh-CN" altLang="zh-CN" sz="2400" dirty="0"/>
              <a:t>的正交条件成立。</a:t>
            </a:r>
          </a:p>
          <a:p>
            <a:r>
              <a:rPr lang="zh-CN" altLang="zh-CN" sz="2400" dirty="0"/>
              <a:t>当绕组元件中</a:t>
            </a:r>
            <a:r>
              <a:rPr lang="en-US" altLang="zh-CN" sz="2400" dirty="0"/>
              <a:t>I=</a:t>
            </a:r>
            <a:r>
              <a:rPr lang="zh-CN" altLang="zh-CN" sz="2400" dirty="0"/>
              <a:t>常数时，元件边受电磁力</a:t>
            </a:r>
            <a:r>
              <a:rPr lang="en-US" altLang="zh-CN" sz="2400" i="1" dirty="0"/>
              <a:t>F</a:t>
            </a:r>
            <a:r>
              <a:rPr lang="zh-CN" altLang="zh-CN" sz="2400" dirty="0"/>
              <a:t>的大小决定于元件边所在</a:t>
            </a:r>
            <a:r>
              <a:rPr lang="zh-CN" altLang="zh-CN" sz="2400" dirty="0">
                <a:solidFill>
                  <a:srgbClr val="0000CC"/>
                </a:solidFill>
              </a:rPr>
              <a:t>空间位置上</a:t>
            </a:r>
            <a:r>
              <a:rPr lang="en-US" altLang="zh-CN" sz="2400" dirty="0">
                <a:solidFill>
                  <a:srgbClr val="0000CC"/>
                </a:solidFill>
              </a:rPr>
              <a:t>B</a:t>
            </a:r>
            <a:r>
              <a:rPr lang="zh-CN" altLang="zh-CN" sz="2400" dirty="0">
                <a:solidFill>
                  <a:srgbClr val="0000CC"/>
                </a:solidFill>
              </a:rPr>
              <a:t>的大小</a:t>
            </a:r>
            <a:r>
              <a:rPr lang="zh-CN" altLang="zh-CN" sz="2400" dirty="0"/>
              <a:t>。</a:t>
            </a:r>
          </a:p>
          <a:p>
            <a:r>
              <a:rPr lang="zh-CN" altLang="zh-CN" sz="2400" dirty="0"/>
              <a:t>当电枢作匀速旋转时，</a:t>
            </a:r>
            <a:r>
              <a:rPr lang="en-US" altLang="zh-CN" sz="2400" b="1" i="1" dirty="0">
                <a:solidFill>
                  <a:srgbClr val="FF0000"/>
                </a:solidFill>
              </a:rPr>
              <a:t>F(t)</a:t>
            </a:r>
            <a:r>
              <a:rPr lang="zh-CN" altLang="zh-CN" sz="2400" b="1" dirty="0">
                <a:solidFill>
                  <a:srgbClr val="FF0000"/>
                </a:solidFill>
              </a:rPr>
              <a:t>的变化规律与</a:t>
            </a:r>
            <a:r>
              <a:rPr lang="en-US" altLang="zh-CN" sz="2400" b="1" dirty="0">
                <a:solidFill>
                  <a:srgbClr val="FF0000"/>
                </a:solidFill>
              </a:rPr>
              <a:t>B(x)</a:t>
            </a:r>
            <a:r>
              <a:rPr lang="zh-CN" altLang="zh-CN" sz="2400" b="1" dirty="0">
                <a:solidFill>
                  <a:srgbClr val="FF0000"/>
                </a:solidFill>
              </a:rPr>
              <a:t>的空间分布规律一致</a:t>
            </a:r>
            <a:r>
              <a:rPr lang="zh-CN" altLang="zh-CN" sz="2400" dirty="0"/>
              <a:t>，但因电刷和换向片的作用，</a:t>
            </a:r>
            <a:r>
              <a:rPr lang="en-US" altLang="zh-CN" sz="2400" i="1" dirty="0"/>
              <a:t>F</a:t>
            </a:r>
            <a:r>
              <a:rPr lang="zh-CN" altLang="zh-CN" sz="2400" dirty="0"/>
              <a:t>的方向不变：</a:t>
            </a:r>
          </a:p>
          <a:p>
            <a:endParaRPr lang="en-US" altLang="zh-CN" sz="2400" b="1" dirty="0">
              <a:solidFill>
                <a:srgbClr val="FF0000"/>
              </a:solidFill>
            </a:endParaRPr>
          </a:p>
          <a:p>
            <a:r>
              <a:rPr lang="zh-CN" altLang="zh-CN" sz="2400" b="1" dirty="0">
                <a:solidFill>
                  <a:srgbClr val="FF0000"/>
                </a:solidFill>
              </a:rPr>
              <a:t>存在问题：</a:t>
            </a:r>
            <a:r>
              <a:rPr lang="zh-CN" altLang="zh-CN" sz="2400" dirty="0">
                <a:solidFill>
                  <a:srgbClr val="0000CC"/>
                </a:solidFill>
              </a:rPr>
              <a:t>转矩小、</a:t>
            </a:r>
            <a:endParaRPr lang="en-US" altLang="zh-CN" sz="2400" dirty="0">
              <a:solidFill>
                <a:srgbClr val="0000CC"/>
              </a:solidFill>
            </a:endParaRPr>
          </a:p>
          <a:p>
            <a:pPr marL="0" indent="0">
              <a:buNone/>
            </a:pPr>
            <a:r>
              <a:rPr lang="zh-CN" altLang="zh-CN" sz="2400" dirty="0">
                <a:solidFill>
                  <a:srgbClr val="0000CC"/>
                </a:solidFill>
              </a:rPr>
              <a:t>波动大、有零转矩点</a:t>
            </a:r>
            <a:r>
              <a:rPr lang="zh-CN" altLang="zh-CN" sz="2400" dirty="0"/>
              <a:t>。</a:t>
            </a:r>
          </a:p>
          <a:p>
            <a:r>
              <a:rPr lang="zh-CN" altLang="zh-CN" sz="2400" b="1" dirty="0">
                <a:solidFill>
                  <a:srgbClr val="FF0000"/>
                </a:solidFill>
              </a:rPr>
              <a:t>对策：</a:t>
            </a:r>
            <a:r>
              <a:rPr lang="zh-CN" altLang="zh-CN" sz="2400" dirty="0">
                <a:solidFill>
                  <a:srgbClr val="0000CC"/>
                </a:solidFill>
              </a:rPr>
              <a:t>增加绕组元件数、</a:t>
            </a:r>
            <a:endParaRPr lang="en-US" altLang="zh-CN" sz="2400" dirty="0">
              <a:solidFill>
                <a:srgbClr val="0000CC"/>
              </a:solidFill>
            </a:endParaRPr>
          </a:p>
          <a:p>
            <a:pPr marL="0" indent="0">
              <a:buNone/>
            </a:pPr>
            <a:r>
              <a:rPr lang="zh-CN" altLang="zh-CN" sz="2400" dirty="0">
                <a:solidFill>
                  <a:srgbClr val="0000CC"/>
                </a:solidFill>
              </a:rPr>
              <a:t>合理联接，增大转矩、减小脉动</a:t>
            </a:r>
            <a:r>
              <a:rPr lang="zh-CN" altLang="zh-CN" sz="2400" dirty="0"/>
              <a:t>。</a:t>
            </a:r>
          </a:p>
          <a:p>
            <a:endParaRPr lang="zh-CN" altLang="en-US" dirty="0"/>
          </a:p>
        </p:txBody>
      </p:sp>
      <p:sp>
        <p:nvSpPr>
          <p:cNvPr id="4" name="Rectangle 2"/>
          <p:cNvSpPr>
            <a:spLocks noChangeArrowheads="1"/>
          </p:cNvSpPr>
          <p:nvPr/>
        </p:nvSpPr>
        <p:spPr bwMode="auto">
          <a:xfrm flipV="1">
            <a:off x="4044718" y="2838449"/>
            <a:ext cx="578284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850800296"/>
              </p:ext>
            </p:extLst>
          </p:nvPr>
        </p:nvGraphicFramePr>
        <p:xfrm>
          <a:off x="4850344" y="4283745"/>
          <a:ext cx="3716685" cy="2542044"/>
        </p:xfrm>
        <a:graphic>
          <a:graphicData uri="http://schemas.openxmlformats.org/presentationml/2006/ole">
            <mc:AlternateContent xmlns:mc="http://schemas.openxmlformats.org/markup-compatibility/2006">
              <mc:Choice xmlns:v="urn:schemas-microsoft-com:vml" Requires="v">
                <p:oleObj r:id="rId2" imgW="2711450" imgH="1857375" progId="MSDraw">
                  <p:embed/>
                </p:oleObj>
              </mc:Choice>
              <mc:Fallback>
                <p:oleObj r:id="rId2" imgW="2711450" imgH="1857375" progId="MSDraw">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0344" y="4283745"/>
                        <a:ext cx="3716685" cy="2542044"/>
                      </a:xfrm>
                      <a:prstGeom prst="rect">
                        <a:avLst/>
                      </a:prstGeom>
                      <a:noFill/>
                    </p:spPr>
                  </p:pic>
                </p:oleObj>
              </mc:Fallback>
            </mc:AlternateContent>
          </a:graphicData>
        </a:graphic>
      </p:graphicFrame>
      <p:sp>
        <p:nvSpPr>
          <p:cNvPr id="10" name="日期占位符 9">
            <a:extLst>
              <a:ext uri="{FF2B5EF4-FFF2-40B4-BE49-F238E27FC236}">
                <a16:creationId xmlns:a16="http://schemas.microsoft.com/office/drawing/2014/main" id="{5B1D2CCF-44D7-8B95-D4F4-787C7AFCDEF8}"/>
              </a:ext>
            </a:extLst>
          </p:cNvPr>
          <p:cNvSpPr>
            <a:spLocks noGrp="1"/>
          </p:cNvSpPr>
          <p:nvPr>
            <p:ph type="dt" sz="half" idx="10"/>
          </p:nvPr>
        </p:nvSpPr>
        <p:spPr/>
        <p:txBody>
          <a:bodyPr/>
          <a:lstStyle/>
          <a:p>
            <a:fld id="{36F7160A-0034-4F4C-A9B9-388A94BCAA0D}" type="datetime10">
              <a:rPr lang="en-US" altLang="zh-CN" smtClean="0"/>
              <a:t>16:53</a:t>
            </a:fld>
            <a:endParaRPr lang="en-US" altLang="zh-CN"/>
          </a:p>
        </p:txBody>
      </p:sp>
      <p:sp>
        <p:nvSpPr>
          <p:cNvPr id="11" name="灯片编号占位符 10">
            <a:extLst>
              <a:ext uri="{FF2B5EF4-FFF2-40B4-BE49-F238E27FC236}">
                <a16:creationId xmlns:a16="http://schemas.microsoft.com/office/drawing/2014/main" id="{2E9D1BBB-A3CD-F8F5-C10C-597B9856AD76}"/>
              </a:ext>
            </a:extLst>
          </p:cNvPr>
          <p:cNvSpPr>
            <a:spLocks noGrp="1"/>
          </p:cNvSpPr>
          <p:nvPr>
            <p:ph type="sldNum" sz="quarter" idx="12"/>
          </p:nvPr>
        </p:nvSpPr>
        <p:spPr/>
        <p:txBody>
          <a:bodyPr/>
          <a:lstStyle/>
          <a:p>
            <a:fld id="{B73B34B3-1432-4053-90C7-E0228297BE5F}" type="slidenum">
              <a:rPr lang="en-US" altLang="zh-CN" smtClean="0"/>
              <a:pPr/>
              <a:t>38</a:t>
            </a:fld>
            <a:endParaRPr lang="en-US" altLang="zh-CN"/>
          </a:p>
        </p:txBody>
      </p:sp>
    </p:spTree>
    <p:extLst>
      <p:ext uri="{BB962C8B-B14F-4D97-AF65-F5344CB8AC3E}">
        <p14:creationId xmlns:p14="http://schemas.microsoft.com/office/powerpoint/2010/main" val="15126838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980728"/>
            <a:ext cx="8229600" cy="4525963"/>
          </a:xfrm>
        </p:spPr>
        <p:txBody>
          <a:bodyPr/>
          <a:lstStyle/>
          <a:p>
            <a:pPr marL="0" indent="0">
              <a:buNone/>
            </a:pPr>
            <a:r>
              <a:rPr lang="zh-CN" altLang="en-US" b="1" dirty="0">
                <a:solidFill>
                  <a:srgbClr val="0000CC"/>
                </a:solidFill>
              </a:rPr>
              <a:t>分析思考</a:t>
            </a:r>
            <a:r>
              <a:rPr lang="zh-CN" altLang="zh-CN" b="1" dirty="0">
                <a:solidFill>
                  <a:srgbClr val="0000CC"/>
                </a:solidFill>
              </a:rPr>
              <a:t>小结</a:t>
            </a:r>
            <a:r>
              <a:rPr lang="zh-CN" altLang="zh-CN" dirty="0"/>
              <a:t>：</a:t>
            </a:r>
          </a:p>
          <a:p>
            <a:pPr lvl="0"/>
            <a:r>
              <a:rPr lang="zh-CN" altLang="zh-CN" sz="2400" dirty="0">
                <a:solidFill>
                  <a:srgbClr val="0000CC"/>
                </a:solidFill>
              </a:rPr>
              <a:t>电磁感应原理 </a:t>
            </a:r>
            <a:r>
              <a:rPr lang="en-US" altLang="zh-CN" sz="2400" dirty="0">
                <a:solidFill>
                  <a:srgbClr val="0000CC"/>
                </a:solidFill>
                <a:sym typeface="Wingdings" panose="05000000000000000000" pitchFamily="2" charset="2"/>
              </a:rPr>
              <a:t></a:t>
            </a:r>
            <a:r>
              <a:rPr lang="en-US" altLang="zh-CN" sz="2400" dirty="0">
                <a:solidFill>
                  <a:srgbClr val="0000CC"/>
                </a:solidFill>
              </a:rPr>
              <a:t> </a:t>
            </a:r>
            <a:r>
              <a:rPr lang="zh-CN" altLang="zh-CN" sz="2400" dirty="0">
                <a:solidFill>
                  <a:srgbClr val="0000CC"/>
                </a:solidFill>
              </a:rPr>
              <a:t>电机结构分析、组成定义、参数定义 </a:t>
            </a:r>
            <a:r>
              <a:rPr lang="en-US" altLang="zh-CN" sz="2400" dirty="0">
                <a:solidFill>
                  <a:srgbClr val="0000CC"/>
                </a:solidFill>
                <a:sym typeface="Wingdings" panose="05000000000000000000" pitchFamily="2" charset="2"/>
              </a:rPr>
              <a:t></a:t>
            </a:r>
            <a:r>
              <a:rPr lang="en-US" altLang="zh-CN" sz="2400" dirty="0">
                <a:solidFill>
                  <a:srgbClr val="0000CC"/>
                </a:solidFill>
              </a:rPr>
              <a:t> </a:t>
            </a:r>
            <a:r>
              <a:rPr lang="zh-CN" altLang="zh-CN" sz="2400" dirty="0">
                <a:solidFill>
                  <a:srgbClr val="0000CC"/>
                </a:solidFill>
              </a:rPr>
              <a:t>电磁感应原理再认识</a:t>
            </a:r>
          </a:p>
          <a:p>
            <a:pPr lvl="0"/>
            <a:r>
              <a:rPr lang="en-US" altLang="zh-CN" sz="2400" dirty="0">
                <a:solidFill>
                  <a:srgbClr val="0000CC"/>
                </a:solidFill>
              </a:rPr>
              <a:t>B</a:t>
            </a:r>
            <a:r>
              <a:rPr lang="zh-CN" altLang="zh-CN" sz="2400" dirty="0">
                <a:solidFill>
                  <a:srgbClr val="0000CC"/>
                </a:solidFill>
              </a:rPr>
              <a:t>以及</a:t>
            </a:r>
            <a:r>
              <a:rPr lang="en-US" altLang="zh-CN" sz="2400" dirty="0">
                <a:solidFill>
                  <a:srgbClr val="0000CC"/>
                </a:solidFill>
              </a:rPr>
              <a:t>B</a:t>
            </a:r>
            <a:r>
              <a:rPr lang="zh-CN" altLang="zh-CN" sz="2400" dirty="0">
                <a:solidFill>
                  <a:srgbClr val="0000CC"/>
                </a:solidFill>
              </a:rPr>
              <a:t>和</a:t>
            </a:r>
            <a:r>
              <a:rPr lang="en-US" altLang="zh-CN" sz="2400" dirty="0">
                <a:solidFill>
                  <a:srgbClr val="0000CC"/>
                </a:solidFill>
              </a:rPr>
              <a:t>L</a:t>
            </a:r>
            <a:r>
              <a:rPr lang="zh-CN" altLang="zh-CN" sz="2400" dirty="0">
                <a:solidFill>
                  <a:srgbClr val="0000CC"/>
                </a:solidFill>
              </a:rPr>
              <a:t>的空间关系，是精确认识描述电机工作特性的关键</a:t>
            </a:r>
          </a:p>
          <a:p>
            <a:r>
              <a:rPr lang="zh-CN" altLang="zh-CN" sz="2400" dirty="0">
                <a:solidFill>
                  <a:srgbClr val="0000CC"/>
                </a:solidFill>
              </a:rPr>
              <a:t>用电磁的分析方法分析电机的工作原理，电磁概念与磁路分析方法</a:t>
            </a:r>
            <a:endParaRPr lang="en-US" altLang="zh-CN" sz="2400" dirty="0">
              <a:solidFill>
                <a:srgbClr val="0000CC"/>
              </a:solidFill>
            </a:endParaRPr>
          </a:p>
          <a:p>
            <a:pPr marL="0" indent="0">
              <a:buNone/>
            </a:pPr>
            <a:endParaRPr lang="en-US" altLang="zh-CN" sz="2400" b="1" dirty="0">
              <a:solidFill>
                <a:srgbClr val="C00000"/>
              </a:solidFill>
            </a:endParaRPr>
          </a:p>
          <a:p>
            <a:pPr marL="0" indent="0">
              <a:buNone/>
            </a:pPr>
            <a:r>
              <a:rPr lang="zh-CN" altLang="en-US" sz="2400" b="1" dirty="0">
                <a:solidFill>
                  <a:srgbClr val="C00000"/>
                </a:solidFill>
              </a:rPr>
              <a:t>思考问题：</a:t>
            </a:r>
            <a:endParaRPr lang="en-US" altLang="zh-CN" sz="2400" b="1" dirty="0">
              <a:solidFill>
                <a:srgbClr val="C00000"/>
              </a:solidFill>
            </a:endParaRPr>
          </a:p>
          <a:p>
            <a:pPr marL="0" indent="0">
              <a:buNone/>
            </a:pPr>
            <a:r>
              <a:rPr lang="zh-CN" altLang="zh-CN" sz="2400" dirty="0"/>
              <a:t>（</a:t>
            </a:r>
            <a:r>
              <a:rPr lang="en-US" altLang="zh-CN" sz="2400" dirty="0"/>
              <a:t>1</a:t>
            </a:r>
            <a:r>
              <a:rPr lang="zh-CN" altLang="zh-CN" sz="2400" dirty="0"/>
              <a:t>）主磁场的结构特点？电机电磁场分析的切入点是什么？如何进行？</a:t>
            </a:r>
            <a:r>
              <a:rPr lang="zh-CN" altLang="en-US" sz="2400" dirty="0"/>
              <a:t>（气隙磁场、磁路）</a:t>
            </a:r>
            <a:endParaRPr lang="zh-CN" altLang="zh-CN" sz="2400" dirty="0"/>
          </a:p>
          <a:p>
            <a:pPr marL="0" indent="0">
              <a:buNone/>
            </a:pPr>
            <a:r>
              <a:rPr lang="zh-CN" altLang="zh-CN" sz="2400" dirty="0"/>
              <a:t>（</a:t>
            </a:r>
            <a:r>
              <a:rPr lang="en-US" altLang="zh-CN" sz="2400" dirty="0"/>
              <a:t>2</a:t>
            </a:r>
            <a:r>
              <a:rPr lang="zh-CN" altLang="zh-CN" sz="2400" dirty="0"/>
              <a:t>）转子结构如何适应主磁场结构以及导体簇（电枢绕组）的特点？</a:t>
            </a:r>
            <a:r>
              <a:rPr lang="zh-CN" altLang="en-US" sz="2400" dirty="0"/>
              <a:t>（空间对称均匀分布）</a:t>
            </a:r>
            <a:endParaRPr lang="zh-CN" altLang="zh-CN" sz="2400" dirty="0"/>
          </a:p>
          <a:p>
            <a:pPr marL="0" indent="0">
              <a:buNone/>
            </a:pPr>
            <a:endParaRPr lang="zh-CN" altLang="en-US" sz="2400" b="1" dirty="0">
              <a:solidFill>
                <a:srgbClr val="C00000"/>
              </a:solidFill>
            </a:endParaRPr>
          </a:p>
        </p:txBody>
      </p:sp>
      <p:sp>
        <p:nvSpPr>
          <p:cNvPr id="7" name="日期占位符 6">
            <a:extLst>
              <a:ext uri="{FF2B5EF4-FFF2-40B4-BE49-F238E27FC236}">
                <a16:creationId xmlns:a16="http://schemas.microsoft.com/office/drawing/2014/main" id="{0942661B-F5FC-CA4A-E5EF-6F188420F427}"/>
              </a:ext>
            </a:extLst>
          </p:cNvPr>
          <p:cNvSpPr>
            <a:spLocks noGrp="1"/>
          </p:cNvSpPr>
          <p:nvPr>
            <p:ph type="dt" sz="half" idx="10"/>
          </p:nvPr>
        </p:nvSpPr>
        <p:spPr/>
        <p:txBody>
          <a:bodyPr/>
          <a:lstStyle/>
          <a:p>
            <a:fld id="{03510767-B684-436D-B90C-49AA4368C039}" type="datetime10">
              <a:rPr lang="en-US" altLang="zh-CN" smtClean="0"/>
              <a:t>16:53</a:t>
            </a:fld>
            <a:endParaRPr lang="en-US" altLang="zh-CN"/>
          </a:p>
        </p:txBody>
      </p:sp>
      <p:sp>
        <p:nvSpPr>
          <p:cNvPr id="8" name="灯片编号占位符 7">
            <a:extLst>
              <a:ext uri="{FF2B5EF4-FFF2-40B4-BE49-F238E27FC236}">
                <a16:creationId xmlns:a16="http://schemas.microsoft.com/office/drawing/2014/main" id="{23589302-E7A0-1903-EF2B-B003F7AD800C}"/>
              </a:ext>
            </a:extLst>
          </p:cNvPr>
          <p:cNvSpPr>
            <a:spLocks noGrp="1"/>
          </p:cNvSpPr>
          <p:nvPr>
            <p:ph type="sldNum" sz="quarter" idx="12"/>
          </p:nvPr>
        </p:nvSpPr>
        <p:spPr/>
        <p:txBody>
          <a:bodyPr/>
          <a:lstStyle/>
          <a:p>
            <a:fld id="{B73B34B3-1432-4053-90C7-E0228297BE5F}" type="slidenum">
              <a:rPr lang="en-US" altLang="zh-CN" smtClean="0"/>
              <a:pPr/>
              <a:t>39</a:t>
            </a:fld>
            <a:endParaRPr lang="en-US" altLang="zh-CN"/>
          </a:p>
        </p:txBody>
      </p:sp>
    </p:spTree>
    <p:extLst>
      <p:ext uri="{BB962C8B-B14F-4D97-AF65-F5344CB8AC3E}">
        <p14:creationId xmlns:p14="http://schemas.microsoft.com/office/powerpoint/2010/main" val="7657458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08720"/>
            <a:ext cx="8229600" cy="5217443"/>
          </a:xfrm>
        </p:spPr>
        <p:txBody>
          <a:bodyPr/>
          <a:lstStyle/>
          <a:p>
            <a:pPr marL="0" indent="0">
              <a:buNone/>
            </a:pPr>
            <a:r>
              <a:rPr lang="zh-CN" altLang="zh-CN" sz="2400" b="1" dirty="0">
                <a:solidFill>
                  <a:srgbClr val="C00000"/>
                </a:solidFill>
              </a:rPr>
              <a:t>问题</a:t>
            </a:r>
            <a:r>
              <a:rPr lang="zh-CN" altLang="zh-CN" sz="2400" dirty="0"/>
              <a:t>：</a:t>
            </a:r>
            <a:r>
              <a:rPr lang="zh-CN" altLang="en-US" sz="2400" dirty="0"/>
              <a:t>改善电磁转矩，需要</a:t>
            </a:r>
            <a:r>
              <a:rPr lang="zh-CN" altLang="en-US" sz="2400" b="1" dirty="0">
                <a:solidFill>
                  <a:srgbClr val="FF0000"/>
                </a:solidFill>
              </a:rPr>
              <a:t>增加</a:t>
            </a:r>
            <a:r>
              <a:rPr lang="zh-CN" altLang="en-US" sz="2400" dirty="0"/>
              <a:t>磁极下电枢通电导体元件，</a:t>
            </a:r>
            <a:r>
              <a:rPr lang="zh-CN" altLang="zh-CN" sz="2400" dirty="0"/>
              <a:t>如何</a:t>
            </a:r>
            <a:r>
              <a:rPr lang="zh-CN" altLang="zh-CN" sz="2400" b="1" dirty="0">
                <a:solidFill>
                  <a:srgbClr val="FF0000"/>
                </a:solidFill>
              </a:rPr>
              <a:t>连接</a:t>
            </a:r>
            <a:r>
              <a:rPr lang="zh-CN" altLang="zh-CN" sz="2400" dirty="0"/>
              <a:t>电枢绕组元件</a:t>
            </a:r>
            <a:r>
              <a:rPr lang="zh-CN" altLang="zh-CN" dirty="0"/>
              <a:t>？</a:t>
            </a:r>
            <a:r>
              <a:rPr lang="en-US" altLang="zh-CN" dirty="0"/>
              <a:t>-----</a:t>
            </a:r>
            <a:r>
              <a:rPr lang="zh-CN" altLang="en-US" sz="2400" b="1" dirty="0">
                <a:solidFill>
                  <a:srgbClr val="FF0000"/>
                </a:solidFill>
              </a:rPr>
              <a:t>绕组结构设计</a:t>
            </a:r>
            <a:endParaRPr lang="zh-CN" altLang="zh-CN" sz="2400" b="1" dirty="0">
              <a:solidFill>
                <a:srgbClr val="FF0000"/>
              </a:solidFill>
            </a:endParaRPr>
          </a:p>
          <a:p>
            <a:r>
              <a:rPr lang="zh-CN" altLang="zh-CN" sz="2400" dirty="0"/>
              <a:t>例：</a:t>
            </a:r>
            <a:r>
              <a:rPr lang="en-US" altLang="zh-CN" sz="2400" dirty="0"/>
              <a:t>1</a:t>
            </a:r>
            <a:r>
              <a:rPr lang="zh-CN" altLang="zh-CN" sz="2400" dirty="0"/>
              <a:t>对磁极、</a:t>
            </a:r>
            <a:r>
              <a:rPr lang="en-US" altLang="zh-CN" sz="2400" dirty="0"/>
              <a:t>6</a:t>
            </a:r>
            <a:r>
              <a:rPr lang="zh-CN" altLang="zh-CN" sz="2400" dirty="0"/>
              <a:t>绕组元件模型</a:t>
            </a:r>
            <a:r>
              <a:rPr lang="zh-CN" altLang="zh-CN" dirty="0"/>
              <a:t>：</a:t>
            </a:r>
          </a:p>
          <a:p>
            <a:endParaRPr lang="zh-CN" altLang="en-US" dirty="0"/>
          </a:p>
        </p:txBody>
      </p:sp>
      <p:sp>
        <p:nvSpPr>
          <p:cNvPr id="4" name="Rectangle 2"/>
          <p:cNvSpPr>
            <a:spLocks noChangeArrowheads="1"/>
          </p:cNvSpPr>
          <p:nvPr/>
        </p:nvSpPr>
        <p:spPr bwMode="auto">
          <a:xfrm>
            <a:off x="27765" y="263691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689677241"/>
              </p:ext>
            </p:extLst>
          </p:nvPr>
        </p:nvGraphicFramePr>
        <p:xfrm>
          <a:off x="27765" y="2636912"/>
          <a:ext cx="9077325" cy="4010025"/>
        </p:xfrm>
        <a:graphic>
          <a:graphicData uri="http://schemas.openxmlformats.org/presentationml/2006/ole">
            <mc:AlternateContent xmlns:mc="http://schemas.openxmlformats.org/markup-compatibility/2006">
              <mc:Choice xmlns:v="urn:schemas-microsoft-com:vml" Requires="v">
                <p:oleObj r:id="rId2" imgW="4649788" imgH="2054225" progId="MSDraw">
                  <p:embed/>
                </p:oleObj>
              </mc:Choice>
              <mc:Fallback>
                <p:oleObj r:id="rId2" imgW="4649788" imgH="2054225" progId="MSDraw">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65" y="2636912"/>
                        <a:ext cx="9077325" cy="4010025"/>
                      </a:xfrm>
                      <a:prstGeom prst="rect">
                        <a:avLst/>
                      </a:prstGeom>
                      <a:solidFill>
                        <a:srgbClr val="FFFFFF"/>
                      </a:solidFill>
                    </p:spPr>
                  </p:pic>
                </p:oleObj>
              </mc:Fallback>
            </mc:AlternateContent>
          </a:graphicData>
        </a:graphic>
      </p:graphicFrame>
      <p:sp>
        <p:nvSpPr>
          <p:cNvPr id="9" name="日期占位符 8">
            <a:extLst>
              <a:ext uri="{FF2B5EF4-FFF2-40B4-BE49-F238E27FC236}">
                <a16:creationId xmlns:a16="http://schemas.microsoft.com/office/drawing/2014/main" id="{BF06C3B2-4CD3-E1A1-F737-36D5E3E2154D}"/>
              </a:ext>
            </a:extLst>
          </p:cNvPr>
          <p:cNvSpPr>
            <a:spLocks noGrp="1"/>
          </p:cNvSpPr>
          <p:nvPr>
            <p:ph type="dt" sz="half" idx="10"/>
          </p:nvPr>
        </p:nvSpPr>
        <p:spPr/>
        <p:txBody>
          <a:bodyPr/>
          <a:lstStyle/>
          <a:p>
            <a:fld id="{3C121680-3FB2-4351-8642-05CB4D16FE98}" type="datetime10">
              <a:rPr lang="en-US" altLang="zh-CN" smtClean="0"/>
              <a:t>16:53</a:t>
            </a:fld>
            <a:endParaRPr lang="en-US" altLang="zh-CN"/>
          </a:p>
        </p:txBody>
      </p:sp>
      <p:sp>
        <p:nvSpPr>
          <p:cNvPr id="10" name="灯片编号占位符 9">
            <a:extLst>
              <a:ext uri="{FF2B5EF4-FFF2-40B4-BE49-F238E27FC236}">
                <a16:creationId xmlns:a16="http://schemas.microsoft.com/office/drawing/2014/main" id="{C3B0D215-FE28-15E3-BBF5-7DADF1E21C60}"/>
              </a:ext>
            </a:extLst>
          </p:cNvPr>
          <p:cNvSpPr>
            <a:spLocks noGrp="1"/>
          </p:cNvSpPr>
          <p:nvPr>
            <p:ph type="sldNum" sz="quarter" idx="12"/>
          </p:nvPr>
        </p:nvSpPr>
        <p:spPr/>
        <p:txBody>
          <a:bodyPr/>
          <a:lstStyle/>
          <a:p>
            <a:fld id="{B73B34B3-1432-4053-90C7-E0228297BE5F}" type="slidenum">
              <a:rPr lang="en-US" altLang="zh-CN" smtClean="0"/>
              <a:pPr/>
              <a:t>40</a:t>
            </a:fld>
            <a:endParaRPr lang="en-US" altLang="zh-CN"/>
          </a:p>
        </p:txBody>
      </p:sp>
    </p:spTree>
    <p:extLst>
      <p:ext uri="{BB962C8B-B14F-4D97-AF65-F5344CB8AC3E}">
        <p14:creationId xmlns:p14="http://schemas.microsoft.com/office/powerpoint/2010/main" val="41449779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eaLnBrk="0" hangingPunct="0">
              <a:spcBef>
                <a:spcPct val="0"/>
              </a:spcBef>
              <a:buNone/>
            </a:pP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分析：</a:t>
            </a:r>
            <a:r>
              <a:rPr lang="zh-CN"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电枢以线速度</a:t>
            </a:r>
            <a:r>
              <a:rPr lang="en-US" altLang="zh-CN" sz="2400"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Va</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运动时，绕</a:t>
            </a:r>
            <a:r>
              <a:rPr lang="zh-CN"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组元件和电刷</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的换接顺序为</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3</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4</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5</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6</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sz="2400" dirty="0"/>
          </a:p>
          <a:p>
            <a:pPr marL="0" lvl="0" indent="0" eaLnBrk="0" hangingPunct="0">
              <a:spcBef>
                <a:spcPct val="0"/>
              </a:spcBef>
              <a:buNone/>
            </a:pP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换接后仍保持使</a:t>
            </a:r>
            <a:r>
              <a:rPr lang="zh-CN" altLang="en-US"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同一磁极下的电流方向不变</a:t>
            </a:r>
            <a:r>
              <a:rPr lang="zh-CN" altLang="en-US"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sz="2400" dirty="0">
              <a:latin typeface="Arial" panose="020B0604020202020204" pitchFamily="34" charset="0"/>
            </a:endParaRPr>
          </a:p>
          <a:p>
            <a:endParaRPr lang="zh-CN" altLang="en-US" dirty="0"/>
          </a:p>
        </p:txBody>
      </p:sp>
      <p:graphicFrame>
        <p:nvGraphicFramePr>
          <p:cNvPr id="5" name="对象 4"/>
          <p:cNvGraphicFramePr>
            <a:graphicFrameLocks noChangeAspect="1"/>
          </p:cNvGraphicFramePr>
          <p:nvPr>
            <p:extLst>
              <p:ext uri="{D42A27DB-BD31-4B8C-83A1-F6EECF244321}">
                <p14:modId xmlns:p14="http://schemas.microsoft.com/office/powerpoint/2010/main" val="1491726988"/>
              </p:ext>
            </p:extLst>
          </p:nvPr>
        </p:nvGraphicFramePr>
        <p:xfrm>
          <a:off x="216726" y="4077072"/>
          <a:ext cx="4346032" cy="1440160"/>
        </p:xfrm>
        <a:graphic>
          <a:graphicData uri="http://schemas.openxmlformats.org/presentationml/2006/ole">
            <mc:AlternateContent xmlns:mc="http://schemas.openxmlformats.org/markup-compatibility/2006">
              <mc:Choice xmlns:v="urn:schemas-microsoft-com:vml" Requires="v">
                <p:oleObj r:id="rId2" imgW="1968500" imgH="649288" progId="MSDraw">
                  <p:embed/>
                </p:oleObj>
              </mc:Choice>
              <mc:Fallback>
                <p:oleObj r:id="rId2" imgW="1968500" imgH="649288" progId="MSDraw">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726" y="4077072"/>
                        <a:ext cx="4346032" cy="1440160"/>
                      </a:xfrm>
                      <a:prstGeom prst="rect">
                        <a:avLst/>
                      </a:prstGeom>
                      <a:solidFill>
                        <a:srgbClr val="CCFFFF"/>
                      </a:solidFill>
                    </p:spPr>
                  </p:pic>
                </p:oleObj>
              </mc:Fallback>
            </mc:AlternateContent>
          </a:graphicData>
        </a:graphic>
      </p:graphicFrame>
      <p:sp>
        <p:nvSpPr>
          <p:cNvPr id="6" name="Rectangle 3"/>
          <p:cNvSpPr>
            <a:spLocks noChangeArrowheads="1"/>
          </p:cNvSpPr>
          <p:nvPr/>
        </p:nvSpPr>
        <p:spPr bwMode="auto">
          <a:xfrm>
            <a:off x="0" y="334090"/>
            <a:ext cx="21672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1965178568"/>
              </p:ext>
            </p:extLst>
          </p:nvPr>
        </p:nvGraphicFramePr>
        <p:xfrm>
          <a:off x="4716016" y="2877096"/>
          <a:ext cx="3240360" cy="3885638"/>
        </p:xfrm>
        <a:graphic>
          <a:graphicData uri="http://schemas.openxmlformats.org/presentationml/2006/ole">
            <mc:AlternateContent xmlns:mc="http://schemas.openxmlformats.org/markup-compatibility/2006">
              <mc:Choice xmlns:v="urn:schemas-microsoft-com:vml" Requires="v">
                <p:oleObj r:id="rId4" imgW="2781360" imgH="3333600" progId="">
                  <p:embed/>
                </p:oleObj>
              </mc:Choice>
              <mc:Fallback>
                <p:oleObj r:id="rId4" imgW="2781360" imgH="3333600" progId="">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16016" y="2877096"/>
                        <a:ext cx="3240360" cy="3885638"/>
                      </a:xfrm>
                      <a:prstGeom prst="rect">
                        <a:avLst/>
                      </a:prstGeom>
                      <a:noFill/>
                      <a:ln>
                        <a:noFill/>
                      </a:ln>
                    </p:spPr>
                  </p:pic>
                </p:oleObj>
              </mc:Fallback>
            </mc:AlternateContent>
          </a:graphicData>
        </a:graphic>
      </p:graphicFrame>
      <p:sp>
        <p:nvSpPr>
          <p:cNvPr id="10" name="日期占位符 9">
            <a:extLst>
              <a:ext uri="{FF2B5EF4-FFF2-40B4-BE49-F238E27FC236}">
                <a16:creationId xmlns:a16="http://schemas.microsoft.com/office/drawing/2014/main" id="{F10F73C3-3CC9-F0B6-69C3-95D28FC24DDF}"/>
              </a:ext>
            </a:extLst>
          </p:cNvPr>
          <p:cNvSpPr>
            <a:spLocks noGrp="1"/>
          </p:cNvSpPr>
          <p:nvPr>
            <p:ph type="dt" sz="half" idx="10"/>
          </p:nvPr>
        </p:nvSpPr>
        <p:spPr/>
        <p:txBody>
          <a:bodyPr/>
          <a:lstStyle/>
          <a:p>
            <a:fld id="{FAD23200-C0B6-4FEF-A15C-9263BFC5CB48}" type="datetime10">
              <a:rPr lang="en-US" altLang="zh-CN" smtClean="0"/>
              <a:t>16:53</a:t>
            </a:fld>
            <a:endParaRPr lang="en-US" altLang="zh-CN"/>
          </a:p>
        </p:txBody>
      </p:sp>
      <p:sp>
        <p:nvSpPr>
          <p:cNvPr id="11" name="灯片编号占位符 10">
            <a:extLst>
              <a:ext uri="{FF2B5EF4-FFF2-40B4-BE49-F238E27FC236}">
                <a16:creationId xmlns:a16="http://schemas.microsoft.com/office/drawing/2014/main" id="{781FA5E8-0502-2E82-EE28-F5B810561CB0}"/>
              </a:ext>
            </a:extLst>
          </p:cNvPr>
          <p:cNvSpPr>
            <a:spLocks noGrp="1"/>
          </p:cNvSpPr>
          <p:nvPr>
            <p:ph type="sldNum" sz="quarter" idx="12"/>
          </p:nvPr>
        </p:nvSpPr>
        <p:spPr/>
        <p:txBody>
          <a:bodyPr/>
          <a:lstStyle/>
          <a:p>
            <a:fld id="{B73B34B3-1432-4053-90C7-E0228297BE5F}" type="slidenum">
              <a:rPr lang="en-US" altLang="zh-CN" smtClean="0"/>
              <a:pPr/>
              <a:t>41</a:t>
            </a:fld>
            <a:endParaRPr lang="en-US" altLang="zh-CN"/>
          </a:p>
        </p:txBody>
      </p:sp>
    </p:spTree>
    <p:extLst>
      <p:ext uri="{BB962C8B-B14F-4D97-AF65-F5344CB8AC3E}">
        <p14:creationId xmlns:p14="http://schemas.microsoft.com/office/powerpoint/2010/main" val="23948183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80728"/>
            <a:ext cx="8229600" cy="4525963"/>
          </a:xfrm>
        </p:spPr>
        <p:txBody>
          <a:bodyPr/>
          <a:lstStyle/>
          <a:p>
            <a:r>
              <a:rPr lang="zh-CN" altLang="zh-CN" b="1" dirty="0">
                <a:solidFill>
                  <a:srgbClr val="0000CC"/>
                </a:solidFill>
              </a:rPr>
              <a:t>特点：</a:t>
            </a:r>
          </a:p>
          <a:p>
            <a:pPr marL="0" indent="0">
              <a:buNone/>
            </a:pPr>
            <a:r>
              <a:rPr lang="en-US" altLang="zh-CN" sz="2400" dirty="0"/>
              <a:t>1</a:t>
            </a:r>
            <a:r>
              <a:rPr lang="zh-CN" altLang="zh-CN" sz="2400" dirty="0"/>
              <a:t>、元件头尾相接，自成</a:t>
            </a:r>
            <a:r>
              <a:rPr lang="zh-CN" altLang="zh-CN" sz="2400" b="1" dirty="0">
                <a:solidFill>
                  <a:srgbClr val="FF0000"/>
                </a:solidFill>
              </a:rPr>
              <a:t>闭合回路</a:t>
            </a:r>
            <a:r>
              <a:rPr lang="zh-CN" altLang="zh-CN" sz="2400" dirty="0"/>
              <a:t>。</a:t>
            </a:r>
          </a:p>
          <a:p>
            <a:pPr marL="0" indent="0">
              <a:buNone/>
            </a:pPr>
            <a:r>
              <a:rPr lang="en-US" altLang="zh-CN" sz="2400" dirty="0"/>
              <a:t>2</a:t>
            </a:r>
            <a:r>
              <a:rPr lang="zh-CN" altLang="zh-CN" sz="2400" dirty="0"/>
              <a:t>、加上电刷后，变成两条并联支路。</a:t>
            </a:r>
            <a:endParaRPr lang="en-US" altLang="zh-CN" sz="2400" dirty="0"/>
          </a:p>
          <a:p>
            <a:pPr marL="0" indent="0">
              <a:buNone/>
            </a:pPr>
            <a:r>
              <a:rPr lang="zh-CN" altLang="zh-CN" sz="800" dirty="0"/>
              <a:t> </a:t>
            </a:r>
            <a:r>
              <a:rPr lang="zh-CN" altLang="en-US" sz="2400" dirty="0"/>
              <a:t> </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为</a:t>
            </a:r>
            <a:r>
              <a:rPr lang="zh-CN" altLang="en-US" sz="24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并联支路对数（等于磁极对数</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sz="2400" dirty="0">
              <a:latin typeface="Arial" panose="020B0604020202020204" pitchFamily="34" charset="0"/>
            </a:endParaRPr>
          </a:p>
          <a:p>
            <a:pPr marL="0" indent="0">
              <a:buNone/>
            </a:pPr>
            <a:r>
              <a:rPr lang="en-US" altLang="zh-CN" sz="2400" dirty="0"/>
              <a:t>3</a:t>
            </a:r>
            <a:r>
              <a:rPr lang="zh-CN" altLang="zh-CN" sz="2400" dirty="0"/>
              <a:t>、同支路绕组元件上层边均在同主磁极下</a:t>
            </a:r>
          </a:p>
          <a:p>
            <a:pPr marL="0" indent="0">
              <a:buNone/>
            </a:pPr>
            <a:r>
              <a:rPr lang="en-US" altLang="zh-CN" sz="2400" dirty="0"/>
              <a:t>4</a:t>
            </a:r>
            <a:r>
              <a:rPr lang="zh-CN" altLang="zh-CN" sz="2400" dirty="0"/>
              <a:t>、</a:t>
            </a:r>
            <a:r>
              <a:rPr lang="zh-CN" altLang="zh-CN" sz="2400" b="1" dirty="0"/>
              <a:t>电刷位于主磁极轴线通过的换向片上</a:t>
            </a:r>
            <a:endParaRPr lang="zh-CN" altLang="zh-CN" sz="2400" dirty="0"/>
          </a:p>
          <a:p>
            <a:pPr marL="0" indent="0">
              <a:buNone/>
            </a:pPr>
            <a:r>
              <a:rPr lang="en-US" altLang="zh-CN" sz="2400" dirty="0"/>
              <a:t>5</a:t>
            </a:r>
            <a:r>
              <a:rPr lang="zh-CN" altLang="zh-CN" sz="2400" dirty="0"/>
              <a:t>、并联支路对称，电枢旋转不改变特点。</a:t>
            </a:r>
            <a:endParaRPr lang="en-US" altLang="zh-CN" sz="2400" dirty="0"/>
          </a:p>
          <a:p>
            <a:pPr marL="0" lvl="0" indent="0">
              <a:buNone/>
            </a:pP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6</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、电磁转矩等于各绕组元件建立的</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T</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之和：幅值增加，脉动减小，零转矩消除。</a:t>
            </a:r>
            <a:endParaRPr lang="en-US"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a:p>
            <a:pPr marL="0" lvl="0" indent="0">
              <a:buNone/>
            </a:pP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7</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、进一步增加绕组元件数，     </a:t>
            </a:r>
            <a:r>
              <a:rPr lang="zh-CN" altLang="zh-CN" sz="2400" dirty="0"/>
              <a:t>脉动↓</a:t>
            </a:r>
            <a:endParaRPr lang="zh-CN" altLang="en-US" sz="2400" dirty="0">
              <a:latin typeface="Arial" panose="020B0604020202020204" pitchFamily="34" charset="0"/>
            </a:endParaRPr>
          </a:p>
          <a:p>
            <a:pPr lvl="0"/>
            <a:endParaRPr lang="zh-CN" altLang="en-US"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endParaRPr lang="zh-CN" altLang="zh-CN" dirty="0"/>
          </a:p>
          <a:p>
            <a:pPr marL="0" indent="0">
              <a:buNone/>
            </a:pPr>
            <a:endParaRPr lang="zh-CN" altLang="zh-CN" dirty="0"/>
          </a:p>
          <a:p>
            <a:endParaRPr lang="zh-CN" altLang="en-US" dirty="0"/>
          </a:p>
        </p:txBody>
      </p:sp>
      <p:sp>
        <p:nvSpPr>
          <p:cNvPr id="11"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p:cNvGraphicFramePr>
            <a:graphicFrameLocks noChangeAspect="1"/>
          </p:cNvGraphicFramePr>
          <p:nvPr>
            <p:extLst>
              <p:ext uri="{D42A27DB-BD31-4B8C-83A1-F6EECF244321}">
                <p14:modId xmlns:p14="http://schemas.microsoft.com/office/powerpoint/2010/main" val="417063606"/>
              </p:ext>
            </p:extLst>
          </p:nvPr>
        </p:nvGraphicFramePr>
        <p:xfrm>
          <a:off x="5580112" y="2005633"/>
          <a:ext cx="1266825" cy="466725"/>
        </p:xfrm>
        <a:graphic>
          <a:graphicData uri="http://schemas.openxmlformats.org/presentationml/2006/ole">
            <mc:AlternateContent xmlns:mc="http://schemas.openxmlformats.org/markup-compatibility/2006">
              <mc:Choice xmlns:v="urn:schemas-microsoft-com:vml" Requires="v">
                <p:oleObj name="公式" r:id="rId2" imgW="622030" imgH="228501" progId="Equation.3">
                  <p:embed/>
                </p:oleObj>
              </mc:Choice>
              <mc:Fallback>
                <p:oleObj name="公式" r:id="rId2" imgW="622030" imgH="228501" progId="Equation.3">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0112" y="2005633"/>
                        <a:ext cx="1266825" cy="466725"/>
                      </a:xfrm>
                      <a:prstGeom prst="rect">
                        <a:avLst/>
                      </a:prstGeom>
                      <a:solidFill>
                        <a:srgbClr val="FFFFFF"/>
                      </a:solidFill>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1557317403"/>
              </p:ext>
            </p:extLst>
          </p:nvPr>
        </p:nvGraphicFramePr>
        <p:xfrm>
          <a:off x="4355976" y="4922651"/>
          <a:ext cx="695325" cy="571500"/>
        </p:xfrm>
        <a:graphic>
          <a:graphicData uri="http://schemas.openxmlformats.org/presentationml/2006/ole">
            <mc:AlternateContent xmlns:mc="http://schemas.openxmlformats.org/markup-compatibility/2006">
              <mc:Choice xmlns:v="urn:schemas-microsoft-com:vml" Requires="v">
                <p:oleObj name="公式" r:id="rId4" imgW="330200" imgH="279400" progId="Equation.3">
                  <p:embed/>
                </p:oleObj>
              </mc:Choice>
              <mc:Fallback>
                <p:oleObj name="公式" r:id="rId4" imgW="330200" imgH="279400"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55976" y="4922651"/>
                        <a:ext cx="695325" cy="571500"/>
                      </a:xfrm>
                      <a:prstGeom prst="rect">
                        <a:avLst/>
                      </a:prstGeom>
                      <a:solidFill>
                        <a:srgbClr val="FFFFFF"/>
                      </a:solidFill>
                    </p:spPr>
                  </p:pic>
                </p:oleObj>
              </mc:Fallback>
            </mc:AlternateContent>
          </a:graphicData>
        </a:graphic>
      </p:graphicFrame>
      <p:sp>
        <p:nvSpPr>
          <p:cNvPr id="7" name="日期占位符 6">
            <a:extLst>
              <a:ext uri="{FF2B5EF4-FFF2-40B4-BE49-F238E27FC236}">
                <a16:creationId xmlns:a16="http://schemas.microsoft.com/office/drawing/2014/main" id="{21BBFB64-6355-62D7-B616-E4D1E6E24417}"/>
              </a:ext>
            </a:extLst>
          </p:cNvPr>
          <p:cNvSpPr>
            <a:spLocks noGrp="1"/>
          </p:cNvSpPr>
          <p:nvPr>
            <p:ph type="dt" sz="half" idx="10"/>
          </p:nvPr>
        </p:nvSpPr>
        <p:spPr/>
        <p:txBody>
          <a:bodyPr/>
          <a:lstStyle/>
          <a:p>
            <a:fld id="{D5DF2DFE-5E56-4181-BDED-8CC61609F9AA}" type="datetime10">
              <a:rPr lang="en-US" altLang="zh-CN" smtClean="0"/>
              <a:t>16:53</a:t>
            </a:fld>
            <a:endParaRPr lang="en-US" altLang="zh-CN"/>
          </a:p>
        </p:txBody>
      </p:sp>
      <p:sp>
        <p:nvSpPr>
          <p:cNvPr id="8" name="灯片编号占位符 7">
            <a:extLst>
              <a:ext uri="{FF2B5EF4-FFF2-40B4-BE49-F238E27FC236}">
                <a16:creationId xmlns:a16="http://schemas.microsoft.com/office/drawing/2014/main" id="{640A4BA9-976E-C7AD-CFDB-C0FCB9A4B2E7}"/>
              </a:ext>
            </a:extLst>
          </p:cNvPr>
          <p:cNvSpPr>
            <a:spLocks noGrp="1"/>
          </p:cNvSpPr>
          <p:nvPr>
            <p:ph type="sldNum" sz="quarter" idx="12"/>
          </p:nvPr>
        </p:nvSpPr>
        <p:spPr/>
        <p:txBody>
          <a:bodyPr/>
          <a:lstStyle/>
          <a:p>
            <a:fld id="{B73B34B3-1432-4053-90C7-E0228297BE5F}" type="slidenum">
              <a:rPr lang="en-US" altLang="zh-CN" smtClean="0"/>
              <a:pPr/>
              <a:t>42</a:t>
            </a:fld>
            <a:endParaRPr lang="en-US" altLang="zh-CN"/>
          </a:p>
        </p:txBody>
      </p:sp>
    </p:spTree>
    <p:extLst>
      <p:ext uri="{BB962C8B-B14F-4D97-AF65-F5344CB8AC3E}">
        <p14:creationId xmlns:p14="http://schemas.microsoft.com/office/powerpoint/2010/main" val="34034657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268760"/>
            <a:ext cx="8229600" cy="202034"/>
          </a:xfrm>
        </p:spPr>
        <p:txBody>
          <a:bodyPr/>
          <a:lstStyle/>
          <a:p>
            <a:r>
              <a:rPr lang="zh-CN" altLang="zh-CN" sz="2800" dirty="0"/>
              <a:t>实际电枢的常用绕组结构：叠绕</a:t>
            </a:r>
            <a:r>
              <a:rPr lang="en-US" altLang="zh-CN" sz="2800" dirty="0"/>
              <a:t>(a=p)</a:t>
            </a:r>
            <a:r>
              <a:rPr lang="zh-CN" altLang="zh-CN" sz="2800" dirty="0"/>
              <a:t>、波绕</a:t>
            </a:r>
            <a:r>
              <a:rPr lang="en-US" altLang="zh-CN" sz="2800" dirty="0"/>
              <a:t>(a=1)</a:t>
            </a:r>
            <a:r>
              <a:rPr lang="zh-CN" altLang="zh-CN" sz="2800" dirty="0"/>
              <a:t>：</a:t>
            </a:r>
            <a:br>
              <a:rPr lang="zh-CN" altLang="zh-CN" dirty="0"/>
            </a:br>
            <a:endParaRPr lang="zh-CN" altLang="en-US" dirty="0"/>
          </a:p>
        </p:txBody>
      </p:sp>
      <p:sp>
        <p:nvSpPr>
          <p:cNvPr id="4" name="Rectangle 2"/>
          <p:cNvSpPr>
            <a:spLocks noChangeArrowheads="1"/>
          </p:cNvSpPr>
          <p:nvPr/>
        </p:nvSpPr>
        <p:spPr bwMode="auto">
          <a:xfrm>
            <a:off x="-1" y="-1"/>
            <a:ext cx="8974601" cy="48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922477182"/>
              </p:ext>
            </p:extLst>
          </p:nvPr>
        </p:nvGraphicFramePr>
        <p:xfrm>
          <a:off x="1474384" y="1268760"/>
          <a:ext cx="7500216" cy="5511209"/>
        </p:xfrm>
        <a:graphic>
          <a:graphicData uri="http://schemas.openxmlformats.org/presentationml/2006/ole">
            <mc:AlternateContent xmlns:mc="http://schemas.openxmlformats.org/markup-compatibility/2006">
              <mc:Choice xmlns:v="urn:schemas-microsoft-com:vml" Requires="v">
                <p:oleObj r:id="rId2" imgW="5264150" imgH="3868738" progId="MSDraw">
                  <p:embed/>
                </p:oleObj>
              </mc:Choice>
              <mc:Fallback>
                <p:oleObj r:id="rId2" imgW="5264150" imgH="3868738" progId="MSDraw">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4384" y="1268760"/>
                        <a:ext cx="7500216" cy="5511209"/>
                      </a:xfrm>
                      <a:prstGeom prst="rect">
                        <a:avLst/>
                      </a:prstGeom>
                      <a:solidFill>
                        <a:srgbClr val="FFFFFF"/>
                      </a:solidFill>
                    </p:spPr>
                  </p:pic>
                </p:oleObj>
              </mc:Fallback>
            </mc:AlternateContent>
          </a:graphicData>
        </a:graphic>
      </p:graphicFrame>
      <p:sp>
        <p:nvSpPr>
          <p:cNvPr id="6" name="文本框 5"/>
          <p:cNvSpPr txBox="1"/>
          <p:nvPr/>
        </p:nvSpPr>
        <p:spPr>
          <a:xfrm>
            <a:off x="0" y="3813319"/>
            <a:ext cx="2016223" cy="2954655"/>
          </a:xfrm>
          <a:prstGeom prst="rect">
            <a:avLst/>
          </a:prstGeom>
          <a:noFill/>
        </p:spPr>
        <p:txBody>
          <a:bodyPr wrap="square" rtlCol="0">
            <a:spAutoFit/>
          </a:bodyPr>
          <a:lstStyle/>
          <a:p>
            <a:r>
              <a:rPr lang="zh-CN" altLang="zh-CN" sz="2400" dirty="0">
                <a:solidFill>
                  <a:srgbClr val="0000CC"/>
                </a:solidFill>
              </a:rPr>
              <a:t>磁极与电刷空间相对静止，电枢绕组连同换向片相对它们是运动的</a:t>
            </a:r>
            <a:r>
              <a:rPr lang="zh-CN" altLang="zh-CN" sz="2400" dirty="0"/>
              <a:t>。</a:t>
            </a:r>
            <a:r>
              <a:rPr lang="zh-CN" altLang="zh-CN" sz="2400" dirty="0">
                <a:solidFill>
                  <a:srgbClr val="0000CC"/>
                </a:solidFill>
              </a:rPr>
              <a:t>磁极均匀分布，中心距为</a:t>
            </a:r>
            <a:r>
              <a:rPr lang="en-US" altLang="zh-CN" sz="2400" dirty="0">
                <a:solidFill>
                  <a:srgbClr val="0000CC"/>
                </a:solidFill>
              </a:rPr>
              <a:t>ԏ</a:t>
            </a:r>
            <a:r>
              <a:rPr lang="zh-CN" altLang="zh-CN" sz="2400" dirty="0">
                <a:solidFill>
                  <a:srgbClr val="0000CC"/>
                </a:solidFill>
              </a:rPr>
              <a:t>。</a:t>
            </a:r>
          </a:p>
          <a:p>
            <a:endParaRPr lang="zh-CN" altLang="en-US" dirty="0"/>
          </a:p>
        </p:txBody>
      </p:sp>
      <p:sp>
        <p:nvSpPr>
          <p:cNvPr id="10" name="日期占位符 9">
            <a:extLst>
              <a:ext uri="{FF2B5EF4-FFF2-40B4-BE49-F238E27FC236}">
                <a16:creationId xmlns:a16="http://schemas.microsoft.com/office/drawing/2014/main" id="{2B9EC34B-953E-1FC7-0917-AACADDF632A2}"/>
              </a:ext>
            </a:extLst>
          </p:cNvPr>
          <p:cNvSpPr>
            <a:spLocks noGrp="1"/>
          </p:cNvSpPr>
          <p:nvPr>
            <p:ph type="dt" sz="half" idx="10"/>
          </p:nvPr>
        </p:nvSpPr>
        <p:spPr/>
        <p:txBody>
          <a:bodyPr/>
          <a:lstStyle/>
          <a:p>
            <a:fld id="{87AF4C1B-06CB-4EEB-81EA-02751445BFEA}" type="datetime10">
              <a:rPr lang="en-US" altLang="zh-CN" smtClean="0"/>
              <a:t>16:53</a:t>
            </a:fld>
            <a:endParaRPr lang="en-US" altLang="zh-CN"/>
          </a:p>
        </p:txBody>
      </p:sp>
      <p:sp>
        <p:nvSpPr>
          <p:cNvPr id="11" name="灯片编号占位符 10">
            <a:extLst>
              <a:ext uri="{FF2B5EF4-FFF2-40B4-BE49-F238E27FC236}">
                <a16:creationId xmlns:a16="http://schemas.microsoft.com/office/drawing/2014/main" id="{697C758F-F559-C1C7-B9A2-DD25B8DA7F9F}"/>
              </a:ext>
            </a:extLst>
          </p:cNvPr>
          <p:cNvSpPr>
            <a:spLocks noGrp="1"/>
          </p:cNvSpPr>
          <p:nvPr>
            <p:ph type="sldNum" sz="quarter" idx="12"/>
          </p:nvPr>
        </p:nvSpPr>
        <p:spPr/>
        <p:txBody>
          <a:bodyPr/>
          <a:lstStyle/>
          <a:p>
            <a:fld id="{B73B34B3-1432-4053-90C7-E0228297BE5F}" type="slidenum">
              <a:rPr lang="en-US" altLang="zh-CN" smtClean="0"/>
              <a:pPr/>
              <a:t>43</a:t>
            </a:fld>
            <a:endParaRPr lang="en-US" altLang="zh-CN"/>
          </a:p>
        </p:txBody>
      </p:sp>
    </p:spTree>
    <p:extLst>
      <p:ext uri="{BB962C8B-B14F-4D97-AF65-F5344CB8AC3E}">
        <p14:creationId xmlns:p14="http://schemas.microsoft.com/office/powerpoint/2010/main" val="16270515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3676682301"/>
              </p:ext>
            </p:extLst>
          </p:nvPr>
        </p:nvGraphicFramePr>
        <p:xfrm>
          <a:off x="696317" y="1162305"/>
          <a:ext cx="1990725" cy="2009775"/>
        </p:xfrm>
        <a:graphic>
          <a:graphicData uri="http://schemas.openxmlformats.org/presentationml/2006/ole">
            <mc:AlternateContent xmlns:mc="http://schemas.openxmlformats.org/markup-compatibility/2006">
              <mc:Choice xmlns:v="urn:schemas-microsoft-com:vml" Requires="v">
                <p:oleObj r:id="rId2" imgW="4580952" imgH="4629796" progId="MSPhotoEd.3">
                  <p:embed/>
                </p:oleObj>
              </mc:Choice>
              <mc:Fallback>
                <p:oleObj r:id="rId2" imgW="4580952" imgH="4629796" progId="MSPhotoEd.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317" y="1162305"/>
                        <a:ext cx="1990725" cy="2009775"/>
                      </a:xfrm>
                      <a:prstGeom prst="rect">
                        <a:avLst/>
                      </a:prstGeom>
                      <a:solidFill>
                        <a:srgbClr val="CC99FF"/>
                      </a:solid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233766328"/>
              </p:ext>
            </p:extLst>
          </p:nvPr>
        </p:nvGraphicFramePr>
        <p:xfrm>
          <a:off x="3239492" y="1162305"/>
          <a:ext cx="2333625" cy="2057400"/>
        </p:xfrm>
        <a:graphic>
          <a:graphicData uri="http://schemas.openxmlformats.org/presentationml/2006/ole">
            <mc:AlternateContent xmlns:mc="http://schemas.openxmlformats.org/markup-compatibility/2006">
              <mc:Choice xmlns:v="urn:schemas-microsoft-com:vml" Requires="v">
                <p:oleObj r:id="rId4" imgW="4133333" imgH="3677163" progId="MSPhotoEd.3">
                  <p:embed/>
                </p:oleObj>
              </mc:Choice>
              <mc:Fallback>
                <p:oleObj r:id="rId4" imgW="4133333" imgH="3677163" progId="MSPhotoEd.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9492" y="1162305"/>
                        <a:ext cx="2333625" cy="205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750392963"/>
              </p:ext>
            </p:extLst>
          </p:nvPr>
        </p:nvGraphicFramePr>
        <p:xfrm>
          <a:off x="6233919" y="1181355"/>
          <a:ext cx="2400300" cy="1990725"/>
        </p:xfrm>
        <a:graphic>
          <a:graphicData uri="http://schemas.openxmlformats.org/presentationml/2006/ole">
            <mc:AlternateContent xmlns:mc="http://schemas.openxmlformats.org/markup-compatibility/2006">
              <mc:Choice xmlns:v="urn:schemas-microsoft-com:vml" Requires="v">
                <p:oleObj r:id="rId6" imgW="4791744" imgH="3982006" progId="MSPhotoEd.3">
                  <p:embed/>
                </p:oleObj>
              </mc:Choice>
              <mc:Fallback>
                <p:oleObj r:id="rId6" imgW="4791744" imgH="3982006" progId="MSPhotoEd.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33919" y="1181355"/>
                        <a:ext cx="2400300" cy="1990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456722207"/>
              </p:ext>
            </p:extLst>
          </p:nvPr>
        </p:nvGraphicFramePr>
        <p:xfrm>
          <a:off x="467543" y="3922938"/>
          <a:ext cx="2337407" cy="2227734"/>
        </p:xfrm>
        <a:graphic>
          <a:graphicData uri="http://schemas.openxmlformats.org/presentationml/2006/ole">
            <mc:AlternateContent xmlns:mc="http://schemas.openxmlformats.org/markup-compatibility/2006">
              <mc:Choice xmlns:v="urn:schemas-microsoft-com:vml" Requires="v">
                <p:oleObj r:id="rId8" imgW="8040222" imgH="7659169" progId="MSPhotoEd.3">
                  <p:embed/>
                </p:oleObj>
              </mc:Choice>
              <mc:Fallback>
                <p:oleObj r:id="rId8" imgW="8040222" imgH="7659169" progId="MSPhotoEd.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7543" y="3922938"/>
                        <a:ext cx="2337407" cy="2227734"/>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667018590"/>
              </p:ext>
            </p:extLst>
          </p:nvPr>
        </p:nvGraphicFramePr>
        <p:xfrm>
          <a:off x="3042127" y="3987084"/>
          <a:ext cx="2530990" cy="2163588"/>
        </p:xfrm>
        <a:graphic>
          <a:graphicData uri="http://schemas.openxmlformats.org/presentationml/2006/ole">
            <mc:AlternateContent xmlns:mc="http://schemas.openxmlformats.org/markup-compatibility/2006">
              <mc:Choice xmlns:v="urn:schemas-microsoft-com:vml" Requires="v">
                <p:oleObj r:id="rId10" imgW="7876190" imgH="6752381" progId="MSPhotoEd.3">
                  <p:embed/>
                </p:oleObj>
              </mc:Choice>
              <mc:Fallback>
                <p:oleObj r:id="rId10" imgW="7876190" imgH="6752381" progId="MSPhotoEd.3">
                  <p:embed/>
                  <p:pic>
                    <p:nvPicPr>
                      <p:cNvPr id="0" name="Object 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42127" y="3987084"/>
                        <a:ext cx="2530990" cy="2163588"/>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004729667"/>
              </p:ext>
            </p:extLst>
          </p:nvPr>
        </p:nvGraphicFramePr>
        <p:xfrm>
          <a:off x="5886256" y="4018256"/>
          <a:ext cx="3095625" cy="2171700"/>
        </p:xfrm>
        <a:graphic>
          <a:graphicData uri="http://schemas.openxmlformats.org/presentationml/2006/ole">
            <mc:AlternateContent xmlns:mc="http://schemas.openxmlformats.org/markup-compatibility/2006">
              <mc:Choice xmlns:v="urn:schemas-microsoft-com:vml" Requires="v">
                <p:oleObj r:id="rId12" imgW="5630061" imgH="3943901" progId="MSPhotoEd.3">
                  <p:embed/>
                </p:oleObj>
              </mc:Choice>
              <mc:Fallback>
                <p:oleObj r:id="rId12" imgW="5630061" imgH="3943901" progId="MSPhotoEd.3">
                  <p:embed/>
                  <p:pic>
                    <p:nvPicPr>
                      <p:cNvPr id="0" name="Object 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886256" y="4018256"/>
                        <a:ext cx="3095625" cy="2171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817591196"/>
              </p:ext>
            </p:extLst>
          </p:nvPr>
        </p:nvGraphicFramePr>
        <p:xfrm>
          <a:off x="2210262" y="2782412"/>
          <a:ext cx="4981575" cy="3771900"/>
        </p:xfrm>
        <a:graphic>
          <a:graphicData uri="http://schemas.openxmlformats.org/presentationml/2006/ole">
            <mc:AlternateContent xmlns:mc="http://schemas.openxmlformats.org/markup-compatibility/2006">
              <mc:Choice xmlns:v="urn:schemas-microsoft-com:vml" Requires="v">
                <p:oleObj r:id="rId14" imgW="2924175" imgH="2206625" progId="MSDraw">
                  <p:embed/>
                </p:oleObj>
              </mc:Choice>
              <mc:Fallback>
                <p:oleObj r:id="rId14" imgW="2924175" imgH="2206625" progId="MSDraw">
                  <p:embed/>
                  <p:pic>
                    <p:nvPicPr>
                      <p:cNvPr id="0" name="Object 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210262" y="2782412"/>
                        <a:ext cx="4981575" cy="3771900"/>
                      </a:xfrm>
                      <a:prstGeom prst="rect">
                        <a:avLst/>
                      </a:prstGeom>
                      <a:solidFill>
                        <a:srgbClr val="FFFFFF"/>
                      </a:solidFill>
                    </p:spPr>
                  </p:pic>
                </p:oleObj>
              </mc:Fallback>
            </mc:AlternateContent>
          </a:graphicData>
        </a:graphic>
      </p:graphicFrame>
      <p:sp>
        <p:nvSpPr>
          <p:cNvPr id="11" name="Rectangle 8"/>
          <p:cNvSpPr>
            <a:spLocks noChangeArrowheads="1"/>
          </p:cNvSpPr>
          <p:nvPr/>
        </p:nvSpPr>
        <p:spPr bwMode="auto">
          <a:xfrm>
            <a:off x="1691680" y="189168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9"/>
          <p:cNvSpPr>
            <a:spLocks noChangeArrowheads="1"/>
          </p:cNvSpPr>
          <p:nvPr/>
        </p:nvSpPr>
        <p:spPr bwMode="auto">
          <a:xfrm>
            <a:off x="1691680" y="840678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Rectangle 10"/>
          <p:cNvSpPr>
            <a:spLocks noChangeArrowheads="1"/>
          </p:cNvSpPr>
          <p:nvPr/>
        </p:nvSpPr>
        <p:spPr bwMode="auto">
          <a:xfrm>
            <a:off x="1691680" y="1498855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11"/>
          <p:cNvSpPr>
            <a:spLocks noChangeArrowheads="1"/>
          </p:cNvSpPr>
          <p:nvPr/>
        </p:nvSpPr>
        <p:spPr bwMode="auto">
          <a:xfrm>
            <a:off x="1691680" y="1761745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12"/>
          <p:cNvSpPr>
            <a:spLocks noChangeArrowheads="1"/>
          </p:cNvSpPr>
          <p:nvPr/>
        </p:nvSpPr>
        <p:spPr bwMode="auto">
          <a:xfrm>
            <a:off x="1691680" y="2184655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文本框 15"/>
          <p:cNvSpPr txBox="1"/>
          <p:nvPr/>
        </p:nvSpPr>
        <p:spPr>
          <a:xfrm>
            <a:off x="1082249" y="3362843"/>
            <a:ext cx="1107996" cy="369332"/>
          </a:xfrm>
          <a:prstGeom prst="rect">
            <a:avLst/>
          </a:prstGeom>
          <a:noFill/>
        </p:spPr>
        <p:txBody>
          <a:bodyPr wrap="none" rtlCol="0">
            <a:spAutoFit/>
          </a:bodyPr>
          <a:lstStyle/>
          <a:p>
            <a:r>
              <a:rPr lang="zh-CN" altLang="en-US" dirty="0"/>
              <a:t>转子冲片</a:t>
            </a:r>
          </a:p>
        </p:txBody>
      </p:sp>
      <p:sp>
        <p:nvSpPr>
          <p:cNvPr id="17" name="文本框 16"/>
          <p:cNvSpPr txBox="1"/>
          <p:nvPr/>
        </p:nvSpPr>
        <p:spPr>
          <a:xfrm>
            <a:off x="3621474" y="3366624"/>
            <a:ext cx="1569660" cy="369332"/>
          </a:xfrm>
          <a:prstGeom prst="rect">
            <a:avLst/>
          </a:prstGeom>
          <a:noFill/>
        </p:spPr>
        <p:txBody>
          <a:bodyPr wrap="none" rtlCol="0">
            <a:spAutoFit/>
          </a:bodyPr>
          <a:lstStyle/>
          <a:p>
            <a:r>
              <a:rPr lang="zh-CN" altLang="en-US" dirty="0"/>
              <a:t>冲片槽和绕组</a:t>
            </a:r>
          </a:p>
        </p:txBody>
      </p:sp>
      <p:sp>
        <p:nvSpPr>
          <p:cNvPr id="18" name="文本框 17"/>
          <p:cNvSpPr txBox="1"/>
          <p:nvPr/>
        </p:nvSpPr>
        <p:spPr>
          <a:xfrm>
            <a:off x="6882745" y="3362843"/>
            <a:ext cx="877163" cy="369332"/>
          </a:xfrm>
          <a:prstGeom prst="rect">
            <a:avLst/>
          </a:prstGeom>
          <a:noFill/>
        </p:spPr>
        <p:txBody>
          <a:bodyPr wrap="none" rtlCol="0">
            <a:spAutoFit/>
          </a:bodyPr>
          <a:lstStyle/>
          <a:p>
            <a:r>
              <a:rPr lang="zh-CN" altLang="en-US" dirty="0"/>
              <a:t>示意图</a:t>
            </a:r>
          </a:p>
        </p:txBody>
      </p:sp>
      <p:sp>
        <p:nvSpPr>
          <p:cNvPr id="19" name="文本框 18"/>
          <p:cNvSpPr txBox="1"/>
          <p:nvPr/>
        </p:nvSpPr>
        <p:spPr>
          <a:xfrm>
            <a:off x="971600" y="6401800"/>
            <a:ext cx="1569660" cy="369332"/>
          </a:xfrm>
          <a:prstGeom prst="rect">
            <a:avLst/>
          </a:prstGeom>
          <a:noFill/>
        </p:spPr>
        <p:txBody>
          <a:bodyPr wrap="none" rtlCol="0">
            <a:spAutoFit/>
          </a:bodyPr>
          <a:lstStyle/>
          <a:p>
            <a:r>
              <a:rPr lang="zh-CN" altLang="en-US" dirty="0"/>
              <a:t>转子实际结构</a:t>
            </a:r>
          </a:p>
        </p:txBody>
      </p:sp>
      <p:sp>
        <p:nvSpPr>
          <p:cNvPr id="20" name="文本框 19"/>
          <p:cNvSpPr txBox="1"/>
          <p:nvPr/>
        </p:nvSpPr>
        <p:spPr>
          <a:xfrm>
            <a:off x="3621474" y="6401567"/>
            <a:ext cx="1569660" cy="369332"/>
          </a:xfrm>
          <a:prstGeom prst="rect">
            <a:avLst/>
          </a:prstGeom>
          <a:noFill/>
        </p:spPr>
        <p:txBody>
          <a:bodyPr wrap="none" rtlCol="0">
            <a:spAutoFit/>
          </a:bodyPr>
          <a:lstStyle/>
          <a:p>
            <a:r>
              <a:rPr lang="zh-CN" altLang="en-US" dirty="0"/>
              <a:t>换向片和电刷</a:t>
            </a:r>
          </a:p>
        </p:txBody>
      </p:sp>
      <p:sp>
        <p:nvSpPr>
          <p:cNvPr id="21" name="文本框 20"/>
          <p:cNvSpPr txBox="1"/>
          <p:nvPr/>
        </p:nvSpPr>
        <p:spPr>
          <a:xfrm>
            <a:off x="6948264" y="6405189"/>
            <a:ext cx="1107996" cy="369332"/>
          </a:xfrm>
          <a:prstGeom prst="rect">
            <a:avLst/>
          </a:prstGeom>
          <a:noFill/>
        </p:spPr>
        <p:txBody>
          <a:bodyPr wrap="none" rtlCol="0">
            <a:spAutoFit/>
          </a:bodyPr>
          <a:lstStyle/>
          <a:p>
            <a:r>
              <a:rPr lang="zh-CN" altLang="en-US" dirty="0"/>
              <a:t>绕组叠放</a:t>
            </a:r>
          </a:p>
        </p:txBody>
      </p:sp>
      <p:sp>
        <p:nvSpPr>
          <p:cNvPr id="24" name="日期占位符 23">
            <a:extLst>
              <a:ext uri="{FF2B5EF4-FFF2-40B4-BE49-F238E27FC236}">
                <a16:creationId xmlns:a16="http://schemas.microsoft.com/office/drawing/2014/main" id="{4FBB3870-9BD3-92BB-BFF9-7FD5579EAF7C}"/>
              </a:ext>
            </a:extLst>
          </p:cNvPr>
          <p:cNvSpPr>
            <a:spLocks noGrp="1"/>
          </p:cNvSpPr>
          <p:nvPr>
            <p:ph type="dt" sz="half" idx="10"/>
          </p:nvPr>
        </p:nvSpPr>
        <p:spPr/>
        <p:txBody>
          <a:bodyPr/>
          <a:lstStyle/>
          <a:p>
            <a:fld id="{CF4C101F-77A9-4CAA-A03A-FC17BB5F07FC}" type="datetime10">
              <a:rPr lang="en-US" altLang="zh-CN" smtClean="0"/>
              <a:t>16:53</a:t>
            </a:fld>
            <a:endParaRPr lang="en-US" altLang="zh-CN"/>
          </a:p>
        </p:txBody>
      </p:sp>
      <p:sp>
        <p:nvSpPr>
          <p:cNvPr id="25" name="灯片编号占位符 24">
            <a:extLst>
              <a:ext uri="{FF2B5EF4-FFF2-40B4-BE49-F238E27FC236}">
                <a16:creationId xmlns:a16="http://schemas.microsoft.com/office/drawing/2014/main" id="{2871100C-BB3E-93C5-E355-E51C2DA430A2}"/>
              </a:ext>
            </a:extLst>
          </p:cNvPr>
          <p:cNvSpPr>
            <a:spLocks noGrp="1"/>
          </p:cNvSpPr>
          <p:nvPr>
            <p:ph type="sldNum" sz="quarter" idx="12"/>
          </p:nvPr>
        </p:nvSpPr>
        <p:spPr/>
        <p:txBody>
          <a:bodyPr/>
          <a:lstStyle/>
          <a:p>
            <a:fld id="{B73B34B3-1432-4053-90C7-E0228297BE5F}" type="slidenum">
              <a:rPr lang="en-US" altLang="zh-CN" smtClean="0"/>
              <a:pPr/>
              <a:t>44</a:t>
            </a:fld>
            <a:endParaRPr lang="en-US" altLang="zh-CN"/>
          </a:p>
        </p:txBody>
      </p:sp>
    </p:spTree>
    <p:extLst>
      <p:ext uri="{BB962C8B-B14F-4D97-AF65-F5344CB8AC3E}">
        <p14:creationId xmlns:p14="http://schemas.microsoft.com/office/powerpoint/2010/main" val="3566229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08720"/>
            <a:ext cx="8229600" cy="5217443"/>
          </a:xfrm>
        </p:spPr>
        <p:txBody>
          <a:bodyPr/>
          <a:lstStyle/>
          <a:p>
            <a:r>
              <a:rPr lang="zh-CN" altLang="zh-CN" sz="2400" b="1" dirty="0">
                <a:solidFill>
                  <a:srgbClr val="C00000"/>
                </a:solidFill>
              </a:rPr>
              <a:t>问题：</a:t>
            </a:r>
            <a:r>
              <a:rPr lang="zh-CN" altLang="zh-CN" sz="2400" dirty="0"/>
              <a:t>直流电机是否存在特殊问题需要分析与认识？</a:t>
            </a:r>
          </a:p>
          <a:p>
            <a:pPr marL="0" indent="0">
              <a:buNone/>
            </a:pPr>
            <a:r>
              <a:rPr lang="zh-CN" altLang="en-US" sz="2400" b="1" dirty="0"/>
              <a:t>三</a:t>
            </a:r>
            <a:r>
              <a:rPr lang="zh-CN" altLang="zh-CN" sz="2400" b="1" dirty="0"/>
              <a:t>、电枢反应</a:t>
            </a:r>
            <a:r>
              <a:rPr lang="en-US" altLang="zh-CN" sz="2400" b="1" dirty="0"/>
              <a:t>[armature reaction]</a:t>
            </a:r>
            <a:r>
              <a:rPr lang="zh-CN" altLang="zh-CN" sz="2400" dirty="0"/>
              <a:t>（</a:t>
            </a:r>
            <a:r>
              <a:rPr lang="en-US" altLang="zh-CN" sz="2400" dirty="0"/>
              <a:t>B</a:t>
            </a:r>
            <a:r>
              <a:rPr lang="zh-CN" altLang="zh-CN" sz="2400" dirty="0"/>
              <a:t>，</a:t>
            </a:r>
            <a:r>
              <a:rPr lang="en-US" altLang="zh-CN" sz="2400" i="1" dirty="0"/>
              <a:t>l</a:t>
            </a:r>
            <a:r>
              <a:rPr lang="zh-CN" altLang="zh-CN" sz="2400" dirty="0"/>
              <a:t>） ：</a:t>
            </a:r>
          </a:p>
          <a:p>
            <a:r>
              <a:rPr lang="en-US" altLang="zh-CN" sz="2400" dirty="0"/>
              <a:t>  </a:t>
            </a:r>
            <a:r>
              <a:rPr lang="zh-CN" altLang="zh-CN" sz="2400" dirty="0"/>
              <a:t>电枢电流产生磁场的影响</a:t>
            </a:r>
          </a:p>
          <a:p>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401229128"/>
              </p:ext>
            </p:extLst>
          </p:nvPr>
        </p:nvGraphicFramePr>
        <p:xfrm>
          <a:off x="107173" y="2383965"/>
          <a:ext cx="3500590" cy="3538699"/>
        </p:xfrm>
        <a:graphic>
          <a:graphicData uri="http://schemas.openxmlformats.org/presentationml/2006/ole">
            <mc:AlternateContent xmlns:mc="http://schemas.openxmlformats.org/markup-compatibility/2006">
              <mc:Choice xmlns:v="urn:schemas-microsoft-com:vml" Requires="v">
                <p:oleObj r:id="rId2" imgW="4648320" imgH="5727600" progId="">
                  <p:embed/>
                </p:oleObj>
              </mc:Choice>
              <mc:Fallback>
                <p:oleObj r:id="rId2" imgW="4648320" imgH="5727600"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173" y="2383965"/>
                        <a:ext cx="3500590" cy="3538699"/>
                      </a:xfrm>
                      <a:prstGeom prst="rect">
                        <a:avLst/>
                      </a:prstGeom>
                      <a:solidFill>
                        <a:srgbClr val="FFFFFF"/>
                      </a:solidFill>
                      <a:ln>
                        <a:noFill/>
                      </a:ln>
                    </p:spPr>
                  </p:pic>
                </p:oleObj>
              </mc:Fallback>
            </mc:AlternateContent>
          </a:graphicData>
        </a:graphic>
      </p:graphicFrame>
      <p:sp>
        <p:nvSpPr>
          <p:cNvPr id="5" name="Rectangle 4"/>
          <p:cNvSpPr>
            <a:spLocks noChangeArrowheads="1"/>
          </p:cNvSpPr>
          <p:nvPr/>
        </p:nvSpPr>
        <p:spPr bwMode="auto">
          <a:xfrm>
            <a:off x="4572000" y="198884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2344273947"/>
              </p:ext>
            </p:extLst>
          </p:nvPr>
        </p:nvGraphicFramePr>
        <p:xfrm>
          <a:off x="4572000" y="1988840"/>
          <a:ext cx="2686050" cy="3933825"/>
        </p:xfrm>
        <a:graphic>
          <a:graphicData uri="http://schemas.openxmlformats.org/presentationml/2006/ole">
            <mc:AlternateContent xmlns:mc="http://schemas.openxmlformats.org/markup-compatibility/2006">
              <mc:Choice xmlns:v="urn:schemas-microsoft-com:vml" Requires="v">
                <p:oleObj r:id="rId4" imgW="3625850" imgH="5334000" progId="MSDraw">
                  <p:embed/>
                </p:oleObj>
              </mc:Choice>
              <mc:Fallback>
                <p:oleObj r:id="rId4" imgW="3625850" imgH="5334000" progId="MSDraw">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1988840"/>
                        <a:ext cx="2686050" cy="3933825"/>
                      </a:xfrm>
                      <a:prstGeom prst="rect">
                        <a:avLst/>
                      </a:prstGeom>
                      <a:solidFill>
                        <a:srgbClr val="FFFFFF"/>
                      </a:solidFill>
                    </p:spPr>
                  </p:pic>
                </p:oleObj>
              </mc:Fallback>
            </mc:AlternateContent>
          </a:graphicData>
        </a:graphic>
      </p:graphicFrame>
      <p:sp>
        <p:nvSpPr>
          <p:cNvPr id="10" name="日期占位符 9">
            <a:extLst>
              <a:ext uri="{FF2B5EF4-FFF2-40B4-BE49-F238E27FC236}">
                <a16:creationId xmlns:a16="http://schemas.microsoft.com/office/drawing/2014/main" id="{2BBDA2DD-CFB0-048F-366D-06AEA4A8067D}"/>
              </a:ext>
            </a:extLst>
          </p:cNvPr>
          <p:cNvSpPr>
            <a:spLocks noGrp="1"/>
          </p:cNvSpPr>
          <p:nvPr>
            <p:ph type="dt" sz="half" idx="10"/>
          </p:nvPr>
        </p:nvSpPr>
        <p:spPr/>
        <p:txBody>
          <a:bodyPr/>
          <a:lstStyle/>
          <a:p>
            <a:fld id="{5A24B9F1-E48E-494C-97BC-BC438AD2EC44}" type="datetime10">
              <a:rPr lang="en-US" altLang="zh-CN" smtClean="0"/>
              <a:t>16:53</a:t>
            </a:fld>
            <a:endParaRPr lang="en-US" altLang="zh-CN"/>
          </a:p>
        </p:txBody>
      </p:sp>
      <p:sp>
        <p:nvSpPr>
          <p:cNvPr id="11" name="灯片编号占位符 10">
            <a:extLst>
              <a:ext uri="{FF2B5EF4-FFF2-40B4-BE49-F238E27FC236}">
                <a16:creationId xmlns:a16="http://schemas.microsoft.com/office/drawing/2014/main" id="{7A0E5C54-8EC8-9186-8C92-21072F3EF7AE}"/>
              </a:ext>
            </a:extLst>
          </p:cNvPr>
          <p:cNvSpPr>
            <a:spLocks noGrp="1"/>
          </p:cNvSpPr>
          <p:nvPr>
            <p:ph type="sldNum" sz="quarter" idx="12"/>
          </p:nvPr>
        </p:nvSpPr>
        <p:spPr/>
        <p:txBody>
          <a:bodyPr/>
          <a:lstStyle/>
          <a:p>
            <a:fld id="{B73B34B3-1432-4053-90C7-E0228297BE5F}" type="slidenum">
              <a:rPr lang="en-US" altLang="zh-CN" smtClean="0"/>
              <a:pPr/>
              <a:t>45</a:t>
            </a:fld>
            <a:endParaRPr lang="en-US" altLang="zh-CN"/>
          </a:p>
        </p:txBody>
      </p:sp>
    </p:spTree>
    <p:extLst>
      <p:ext uri="{BB962C8B-B14F-4D97-AF65-F5344CB8AC3E}">
        <p14:creationId xmlns:p14="http://schemas.microsoft.com/office/powerpoint/2010/main" val="39273991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836712"/>
            <a:ext cx="8229600" cy="508918"/>
          </a:xfrm>
        </p:spPr>
        <p:txBody>
          <a:bodyPr/>
          <a:lstStyle/>
          <a:p>
            <a:r>
              <a:rPr lang="zh-CN" altLang="zh-CN" sz="2800" dirty="0"/>
              <a:t>电枢反应磁势的空间分布：</a:t>
            </a:r>
            <a:endParaRPr lang="zh-CN" altLang="en-US" sz="2800"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582197112"/>
              </p:ext>
            </p:extLst>
          </p:nvPr>
        </p:nvGraphicFramePr>
        <p:xfrm>
          <a:off x="952500" y="1369457"/>
          <a:ext cx="7239000" cy="4029075"/>
        </p:xfrm>
        <a:graphic>
          <a:graphicData uri="http://schemas.openxmlformats.org/presentationml/2006/ole">
            <mc:AlternateContent xmlns:mc="http://schemas.openxmlformats.org/markup-compatibility/2006">
              <mc:Choice xmlns:v="urn:schemas-microsoft-com:vml" Requires="v">
                <p:oleObj r:id="rId2" imgW="9398000" imgH="5270500" progId="MSDraw">
                  <p:embed/>
                </p:oleObj>
              </mc:Choice>
              <mc:Fallback>
                <p:oleObj r:id="rId2" imgW="9398000" imgH="5270500" progId="MSDraw">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500" y="1369457"/>
                        <a:ext cx="7239000" cy="4029075"/>
                      </a:xfrm>
                      <a:prstGeom prst="rect">
                        <a:avLst/>
                      </a:prstGeom>
                      <a:solidFill>
                        <a:srgbClr val="FFFFFF"/>
                      </a:solid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4271000268"/>
              </p:ext>
            </p:extLst>
          </p:nvPr>
        </p:nvGraphicFramePr>
        <p:xfrm>
          <a:off x="1691680" y="5733256"/>
          <a:ext cx="3468124" cy="504056"/>
        </p:xfrm>
        <a:graphic>
          <a:graphicData uri="http://schemas.openxmlformats.org/presentationml/2006/ole">
            <mc:AlternateContent xmlns:mc="http://schemas.openxmlformats.org/markup-compatibility/2006">
              <mc:Choice xmlns:v="urn:schemas-microsoft-com:vml" Requires="v">
                <p:oleObj name="公式" r:id="rId4" imgW="2717640" imgH="330120" progId="Equation.3">
                  <p:embed/>
                </p:oleObj>
              </mc:Choice>
              <mc:Fallback>
                <p:oleObj name="公式" r:id="rId4" imgW="2717640" imgH="33012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1680" y="5733256"/>
                        <a:ext cx="3468124" cy="504056"/>
                      </a:xfrm>
                      <a:prstGeom prst="rect">
                        <a:avLst/>
                      </a:prstGeom>
                      <a:solidFill>
                        <a:srgbClr val="FFFFFF"/>
                      </a:solidFill>
                      <a:ln>
                        <a:noFill/>
                      </a:ln>
                    </p:spPr>
                  </p:pic>
                </p:oleObj>
              </mc:Fallback>
            </mc:AlternateContent>
          </a:graphicData>
        </a:graphic>
      </p:graphicFrame>
      <p:sp>
        <p:nvSpPr>
          <p:cNvPr id="7"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6"/>
          <p:cNvSpPr>
            <a:spLocks noChangeArrowheads="1"/>
          </p:cNvSpPr>
          <p:nvPr/>
        </p:nvSpPr>
        <p:spPr bwMode="auto">
          <a:xfrm>
            <a:off x="5580112" y="5975702"/>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1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b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0" name="矩形 9"/>
          <p:cNvSpPr/>
          <p:nvPr/>
        </p:nvSpPr>
        <p:spPr>
          <a:xfrm>
            <a:off x="5159804" y="5398532"/>
            <a:ext cx="3732676" cy="1200329"/>
          </a:xfrm>
          <a:prstGeom prst="rect">
            <a:avLst/>
          </a:prstGeom>
        </p:spPr>
        <p:txBody>
          <a:bodyPr wrap="square">
            <a:spAutoFit/>
          </a:bodyPr>
          <a:lstStyle/>
          <a:p>
            <a:pPr lvl="0" eaLnBrk="0" hangingPunct="0"/>
            <a:r>
              <a:rPr lang="zh-CN" altLang="zh-CN"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结论：宽度为</a:t>
            </a:r>
            <a:r>
              <a:rPr lang="en-US" altLang="zh-CN"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个极距的元件所产生的电枢磁势在空间的分布为</a:t>
            </a:r>
            <a:endParaRPr lang="zh-CN" altLang="en-US"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lvl="0" eaLnBrk="0" hangingPunct="0"/>
            <a:r>
              <a:rPr lang="zh-CN" altLang="en-US"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一个以两个极距为周期，幅值为</a:t>
            </a:r>
            <a:r>
              <a:rPr lang="en-US" altLang="zh-CN"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1/2NyIa</a:t>
            </a:r>
            <a:r>
              <a:rPr lang="zh-CN" altLang="en-US"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的矩形波</a:t>
            </a:r>
            <a:r>
              <a:rPr lang="zh-CN" altLang="en-US" sz="600" dirty="0"/>
              <a:t> </a:t>
            </a:r>
            <a:endParaRPr lang="zh-CN" altLang="en-US" sz="1400" dirty="0"/>
          </a:p>
        </p:txBody>
      </p:sp>
      <p:sp>
        <p:nvSpPr>
          <p:cNvPr id="11" name="Rectangle 8"/>
          <p:cNvSpPr>
            <a:spLocks noChangeArrowheads="1"/>
          </p:cNvSpPr>
          <p:nvPr/>
        </p:nvSpPr>
        <p:spPr bwMode="auto">
          <a:xfrm>
            <a:off x="179512" y="140228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p:cNvGraphicFramePr>
            <a:graphicFrameLocks noChangeAspect="1"/>
          </p:cNvGraphicFramePr>
          <p:nvPr>
            <p:extLst>
              <p:ext uri="{D42A27DB-BD31-4B8C-83A1-F6EECF244321}">
                <p14:modId xmlns:p14="http://schemas.microsoft.com/office/powerpoint/2010/main" val="620543091"/>
              </p:ext>
            </p:extLst>
          </p:nvPr>
        </p:nvGraphicFramePr>
        <p:xfrm>
          <a:off x="179512" y="1402285"/>
          <a:ext cx="4667250" cy="5398531"/>
        </p:xfrm>
        <a:graphic>
          <a:graphicData uri="http://schemas.openxmlformats.org/presentationml/2006/ole">
            <mc:AlternateContent xmlns:mc="http://schemas.openxmlformats.org/markup-compatibility/2006">
              <mc:Choice xmlns:v="urn:schemas-microsoft-com:vml" Requires="v">
                <p:oleObj r:id="rId6" imgW="4606925" imgH="5676900" progId="MSDraw">
                  <p:embed/>
                </p:oleObj>
              </mc:Choice>
              <mc:Fallback>
                <p:oleObj r:id="rId6" imgW="4606925" imgH="5676900" progId="MSDraw">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9512" y="1402285"/>
                        <a:ext cx="4667250" cy="5398531"/>
                      </a:xfrm>
                      <a:prstGeom prst="rect">
                        <a:avLst/>
                      </a:prstGeom>
                      <a:solidFill>
                        <a:srgbClr val="FFFFFF"/>
                      </a:solidFill>
                    </p:spPr>
                  </p:pic>
                </p:oleObj>
              </mc:Fallback>
            </mc:AlternateContent>
          </a:graphicData>
        </a:graphic>
      </p:graphicFrame>
      <p:sp>
        <p:nvSpPr>
          <p:cNvPr id="13" name="矩形 12"/>
          <p:cNvSpPr/>
          <p:nvPr/>
        </p:nvSpPr>
        <p:spPr>
          <a:xfrm>
            <a:off x="214148" y="5944035"/>
            <a:ext cx="4339650" cy="369332"/>
          </a:xfrm>
          <a:prstGeom prst="rect">
            <a:avLst/>
          </a:prstGeom>
        </p:spPr>
        <p:txBody>
          <a:bodyPr wrap="none">
            <a:spAutoFit/>
          </a:bodyPr>
          <a:lstStyle/>
          <a:p>
            <a:pPr algn="just">
              <a:spcAft>
                <a:spcPts val="0"/>
              </a:spcAft>
            </a:pPr>
            <a:r>
              <a:rPr lang="zh-CN" altLang="zh-CN" kern="100" dirty="0">
                <a:solidFill>
                  <a:srgbClr val="C00000"/>
                </a:solidFill>
                <a:latin typeface="Times New Roman" panose="02020603050405020304" pitchFamily="18" charset="0"/>
                <a:ea typeface="黑体" panose="02010609060101010101" pitchFamily="49" charset="-122"/>
              </a:rPr>
              <a:t>元件数</a:t>
            </a:r>
            <a:r>
              <a:rPr lang="zh-CN" altLang="zh-CN" kern="100" dirty="0">
                <a:solidFill>
                  <a:srgbClr val="C00000"/>
                </a:solidFill>
                <a:latin typeface="宋体" panose="02010600030101010101" pitchFamily="2" charset="-122"/>
                <a:ea typeface="黑体" panose="02010609060101010101" pitchFamily="49" charset="-122"/>
              </a:rPr>
              <a:t>↑→</a:t>
            </a:r>
            <a:r>
              <a:rPr lang="zh-CN" altLang="zh-CN" kern="100" dirty="0">
                <a:solidFill>
                  <a:srgbClr val="C00000"/>
                </a:solidFill>
                <a:latin typeface="Times New Roman" panose="02020603050405020304" pitchFamily="18" charset="0"/>
                <a:ea typeface="黑体" panose="02010609060101010101" pitchFamily="49" charset="-122"/>
              </a:rPr>
              <a:t>电枢磁势分布波形逼近三角波</a:t>
            </a:r>
            <a:endParaRPr lang="zh-CN" altLang="zh-CN" sz="900" kern="100" dirty="0">
              <a:solidFill>
                <a:srgbClr val="C00000"/>
              </a:solidFill>
              <a:latin typeface="Times New Roman" panose="02020603050405020304" pitchFamily="18" charset="0"/>
            </a:endParaRPr>
          </a:p>
        </p:txBody>
      </p:sp>
      <p:sp>
        <p:nvSpPr>
          <p:cNvPr id="16" name="日期占位符 15">
            <a:extLst>
              <a:ext uri="{FF2B5EF4-FFF2-40B4-BE49-F238E27FC236}">
                <a16:creationId xmlns:a16="http://schemas.microsoft.com/office/drawing/2014/main" id="{4BE81AAB-4205-2996-D7C0-BA267A0FF3BE}"/>
              </a:ext>
            </a:extLst>
          </p:cNvPr>
          <p:cNvSpPr>
            <a:spLocks noGrp="1"/>
          </p:cNvSpPr>
          <p:nvPr>
            <p:ph type="dt" sz="half" idx="10"/>
          </p:nvPr>
        </p:nvSpPr>
        <p:spPr/>
        <p:txBody>
          <a:bodyPr/>
          <a:lstStyle/>
          <a:p>
            <a:fld id="{987B6F91-67A4-4B4C-A5BA-4BD24D586F1D}" type="datetime10">
              <a:rPr lang="en-US" altLang="zh-CN" smtClean="0"/>
              <a:t>16:53</a:t>
            </a:fld>
            <a:endParaRPr lang="en-US" altLang="zh-CN"/>
          </a:p>
        </p:txBody>
      </p:sp>
      <p:sp>
        <p:nvSpPr>
          <p:cNvPr id="17" name="灯片编号占位符 16">
            <a:extLst>
              <a:ext uri="{FF2B5EF4-FFF2-40B4-BE49-F238E27FC236}">
                <a16:creationId xmlns:a16="http://schemas.microsoft.com/office/drawing/2014/main" id="{F8726512-CE98-60D6-76DE-A89485E7A969}"/>
              </a:ext>
            </a:extLst>
          </p:cNvPr>
          <p:cNvSpPr>
            <a:spLocks noGrp="1"/>
          </p:cNvSpPr>
          <p:nvPr>
            <p:ph type="sldNum" sz="quarter" idx="12"/>
          </p:nvPr>
        </p:nvSpPr>
        <p:spPr/>
        <p:txBody>
          <a:bodyPr/>
          <a:lstStyle/>
          <a:p>
            <a:fld id="{B73B34B3-1432-4053-90C7-E0228297BE5F}" type="slidenum">
              <a:rPr lang="en-US" altLang="zh-CN" smtClean="0"/>
              <a:pPr/>
              <a:t>46</a:t>
            </a:fld>
            <a:endParaRPr lang="en-US" altLang="zh-CN"/>
          </a:p>
        </p:txBody>
      </p:sp>
    </p:spTree>
    <p:extLst>
      <p:ext uri="{BB962C8B-B14F-4D97-AF65-F5344CB8AC3E}">
        <p14:creationId xmlns:p14="http://schemas.microsoft.com/office/powerpoint/2010/main" val="3023611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3779912" y="2348880"/>
            <a:ext cx="5364088" cy="3323987"/>
          </a:xfrm>
          <a:prstGeom prst="rect">
            <a:avLst/>
          </a:prstGeom>
          <a:noFill/>
        </p:spPr>
        <p:txBody>
          <a:bodyPr wrap="square" rtlCol="0">
            <a:spAutoFit/>
          </a:bodyPr>
          <a:lstStyle/>
          <a:p>
            <a:pPr lvl="0" eaLnBrk="0" hangingPunct="0"/>
            <a:r>
              <a:rPr lang="zh-CN"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合成磁通使主磁极轴线扭曲；</a:t>
            </a:r>
            <a:endParaRPr lang="zh-CN" altLang="zh-CN" sz="2400" dirty="0"/>
          </a:p>
          <a:p>
            <a:pPr lvl="0" eaLnBrk="0" hangingPunct="0"/>
            <a:r>
              <a:rPr lang="en-US" altLang="zh-CN" sz="2400"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b,d</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附近</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B</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增加，</a:t>
            </a:r>
            <a:r>
              <a:rPr lang="en-US" altLang="zh-CN" sz="2400"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a,c</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附近</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B</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减小。</a:t>
            </a:r>
            <a:endParaRPr lang="zh-CN" altLang="en-US" sz="2400" dirty="0"/>
          </a:p>
          <a:p>
            <a:pPr lvl="0" eaLnBrk="0" hangingPunct="0"/>
            <a:r>
              <a:rPr lang="zh-CN" altLang="en-US" sz="24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饱和特</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性使增加值小于减小值，导致</a:t>
            </a:r>
            <a:endParaRPr lang="zh-CN" altLang="en-US" sz="2400" dirty="0"/>
          </a:p>
          <a:p>
            <a:pPr lvl="0" eaLnBrk="0" hangingPunct="0"/>
            <a:r>
              <a:rPr lang="zh-CN" altLang="en-US" sz="24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每极总磁通量随电枢电流增加而下降</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sz="2400" dirty="0"/>
          </a:p>
          <a:p>
            <a:pPr lvl="0" eaLnBrk="0" hangingPunct="0"/>
            <a:r>
              <a:rPr lang="zh-CN" altLang="en-US" sz="24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电枢反应具有去磁作用</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sz="2400" dirty="0"/>
          </a:p>
          <a:p>
            <a:pPr lvl="0" eaLnBrk="0" hangingPunct="0"/>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可能影响运行的稳定，使</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B</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表达更加复杂。</a:t>
            </a:r>
            <a:endParaRPr lang="zh-CN" altLang="en-US" sz="2400" dirty="0"/>
          </a:p>
          <a:p>
            <a:endParaRPr lang="zh-CN" altLang="en-US" dirty="0"/>
          </a:p>
        </p:txBody>
      </p:sp>
      <p:sp>
        <p:nvSpPr>
          <p:cNvPr id="3" name="内容占位符 2"/>
          <p:cNvSpPr>
            <a:spLocks noGrp="1"/>
          </p:cNvSpPr>
          <p:nvPr>
            <p:ph idx="1"/>
          </p:nvPr>
        </p:nvSpPr>
        <p:spPr>
          <a:xfrm>
            <a:off x="323528" y="908720"/>
            <a:ext cx="8229600" cy="4525963"/>
          </a:xfrm>
        </p:spPr>
        <p:txBody>
          <a:bodyPr/>
          <a:lstStyle/>
          <a:p>
            <a:r>
              <a:rPr lang="zh-CN" altLang="zh-CN" sz="2800" b="1" dirty="0">
                <a:solidFill>
                  <a:srgbClr val="C00000"/>
                </a:solidFill>
              </a:rPr>
              <a:t>直流电机的电枢反应</a:t>
            </a:r>
            <a:endParaRPr lang="zh-CN" altLang="zh-CN" sz="2800" dirty="0">
              <a:solidFill>
                <a:srgbClr val="C00000"/>
              </a:solidFill>
            </a:endParaRPr>
          </a:p>
          <a:p>
            <a:endParaRPr lang="zh-CN" altLang="en-US" dirty="0"/>
          </a:p>
        </p:txBody>
      </p:sp>
      <p:sp>
        <p:nvSpPr>
          <p:cNvPr id="4" name="Rectangle 2"/>
          <p:cNvSpPr>
            <a:spLocks noChangeArrowheads="1"/>
          </p:cNvSpPr>
          <p:nvPr/>
        </p:nvSpPr>
        <p:spPr bwMode="auto">
          <a:xfrm flipV="1">
            <a:off x="3917789" y="328259"/>
            <a:ext cx="6760181" cy="514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4131952747"/>
              </p:ext>
            </p:extLst>
          </p:nvPr>
        </p:nvGraphicFramePr>
        <p:xfrm>
          <a:off x="3779912" y="1814629"/>
          <a:ext cx="5226211" cy="4392488"/>
        </p:xfrm>
        <a:graphic>
          <a:graphicData uri="http://schemas.openxmlformats.org/presentationml/2006/ole">
            <mc:AlternateContent xmlns:mc="http://schemas.openxmlformats.org/markup-compatibility/2006">
              <mc:Choice xmlns:v="urn:schemas-microsoft-com:vml" Requires="v">
                <p:oleObj r:id="rId2" imgW="2640013" imgH="2219325" progId="MSDraw">
                  <p:embed/>
                </p:oleObj>
              </mc:Choice>
              <mc:Fallback>
                <p:oleObj r:id="rId2" imgW="2640013" imgH="2219325" progId="MSDraw">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9912" y="1814629"/>
                        <a:ext cx="5226211" cy="4392488"/>
                      </a:xfrm>
                      <a:prstGeom prst="rect">
                        <a:avLst/>
                      </a:prstGeom>
                      <a:solidFill>
                        <a:srgbClr val="FFFFFF"/>
                      </a:solidFill>
                    </p:spPr>
                  </p:pic>
                </p:oleObj>
              </mc:Fallback>
            </mc:AlternateContent>
          </a:graphicData>
        </a:graphic>
      </p:graphicFrame>
      <p:sp>
        <p:nvSpPr>
          <p:cNvPr id="6" name="矩形 5"/>
          <p:cNvSpPr/>
          <p:nvPr/>
        </p:nvSpPr>
        <p:spPr>
          <a:xfrm>
            <a:off x="323528" y="1875039"/>
            <a:ext cx="3003389" cy="1200329"/>
          </a:xfrm>
          <a:prstGeom prst="rect">
            <a:avLst/>
          </a:prstGeom>
        </p:spPr>
        <p:txBody>
          <a:bodyPr wrap="square">
            <a:spAutoFit/>
          </a:bodyPr>
          <a:lstStyle/>
          <a:p>
            <a:pPr algn="just">
              <a:spcAft>
                <a:spcPts val="0"/>
              </a:spcAft>
            </a:pPr>
            <a:r>
              <a:rPr lang="zh-CN" altLang="zh-CN" sz="2400" kern="100" dirty="0">
                <a:solidFill>
                  <a:srgbClr val="000000"/>
                </a:solidFill>
                <a:latin typeface="Times New Roman" panose="02020603050405020304" pitchFamily="18" charset="0"/>
                <a:ea typeface="黑体" panose="02010609060101010101" pitchFamily="49" charset="-122"/>
              </a:rPr>
              <a:t>电枢反应磁势</a:t>
            </a:r>
            <a:r>
              <a:rPr lang="en-US" altLang="zh-CN" sz="2400" kern="100" dirty="0" err="1">
                <a:solidFill>
                  <a:srgbClr val="000000"/>
                </a:solidFill>
                <a:latin typeface="Times New Roman" panose="02020603050405020304" pitchFamily="18" charset="0"/>
                <a:ea typeface="黑体" panose="02010609060101010101" pitchFamily="49" charset="-122"/>
              </a:rPr>
              <a:t>Fa</a:t>
            </a:r>
            <a:r>
              <a:rPr lang="zh-CN" altLang="zh-CN" sz="2400" kern="100" dirty="0">
                <a:solidFill>
                  <a:srgbClr val="000000"/>
                </a:solidFill>
                <a:latin typeface="Times New Roman" panose="02020603050405020304" pitchFamily="18" charset="0"/>
                <a:ea typeface="黑体" panose="02010609060101010101" pitchFamily="49" charset="-122"/>
              </a:rPr>
              <a:t>的性质：空间静止；与</a:t>
            </a:r>
            <a:r>
              <a:rPr lang="en-US" altLang="zh-CN" sz="2400" kern="100" dirty="0">
                <a:solidFill>
                  <a:srgbClr val="000000"/>
                </a:solidFill>
                <a:latin typeface="Times New Roman" panose="02020603050405020304" pitchFamily="18" charset="0"/>
                <a:ea typeface="黑体" panose="02010609060101010101" pitchFamily="49" charset="-122"/>
              </a:rPr>
              <a:t>F</a:t>
            </a:r>
            <a:r>
              <a:rPr lang="en-US" altLang="zh-CN" sz="2400" kern="100" baseline="-25000" dirty="0">
                <a:solidFill>
                  <a:srgbClr val="000000"/>
                </a:solidFill>
                <a:latin typeface="Times New Roman" panose="02020603050405020304" pitchFamily="18" charset="0"/>
                <a:ea typeface="黑体" panose="02010609060101010101" pitchFamily="49" charset="-122"/>
              </a:rPr>
              <a:t>0</a:t>
            </a:r>
            <a:r>
              <a:rPr lang="zh-CN" altLang="zh-CN" sz="2400" kern="100" dirty="0">
                <a:solidFill>
                  <a:srgbClr val="000000"/>
                </a:solidFill>
                <a:latin typeface="Times New Roman" panose="02020603050405020304" pitchFamily="18" charset="0"/>
                <a:ea typeface="黑体" panose="02010609060101010101" pitchFamily="49" charset="-122"/>
              </a:rPr>
              <a:t>相交链。</a:t>
            </a:r>
            <a:endParaRPr lang="zh-CN" altLang="zh-CN" sz="2400" kern="100" dirty="0">
              <a:latin typeface="Times New Roman" panose="02020603050405020304" pitchFamily="18" charset="0"/>
            </a:endParaRPr>
          </a:p>
        </p:txBody>
      </p:sp>
      <p:sp>
        <p:nvSpPr>
          <p:cNvPr id="7" name="Rectangle 4"/>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1071781038"/>
              </p:ext>
            </p:extLst>
          </p:nvPr>
        </p:nvGraphicFramePr>
        <p:xfrm>
          <a:off x="467544" y="3152737"/>
          <a:ext cx="2954338" cy="2592388"/>
        </p:xfrm>
        <a:graphic>
          <a:graphicData uri="http://schemas.openxmlformats.org/presentationml/2006/ole">
            <mc:AlternateContent xmlns:mc="http://schemas.openxmlformats.org/markup-compatibility/2006">
              <mc:Choice xmlns:v="urn:schemas-microsoft-com:vml" Requires="v">
                <p:oleObj r:id="rId4" imgW="4749800" imgH="5418138" progId="MSDraw">
                  <p:embed/>
                </p:oleObj>
              </mc:Choice>
              <mc:Fallback>
                <p:oleObj r:id="rId4" imgW="4749800" imgH="5418138" progId="MSDraw">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7544" y="3152737"/>
                        <a:ext cx="2954338" cy="2592388"/>
                      </a:xfrm>
                      <a:prstGeom prst="rect">
                        <a:avLst/>
                      </a:prstGeom>
                      <a:solidFill>
                        <a:srgbClr val="FFFFFF"/>
                      </a:solidFill>
                    </p:spPr>
                  </p:pic>
                </p:oleObj>
              </mc:Fallback>
            </mc:AlternateContent>
          </a:graphicData>
        </a:graphic>
      </p:graphicFrame>
      <p:sp>
        <p:nvSpPr>
          <p:cNvPr id="9" name="Rectangle 5"/>
          <p:cNvSpPr>
            <a:spLocks noChangeArrowheads="1"/>
          </p:cNvSpPr>
          <p:nvPr/>
        </p:nvSpPr>
        <p:spPr bwMode="auto">
          <a:xfrm>
            <a:off x="0" y="272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4" name="日期占位符 13">
            <a:extLst>
              <a:ext uri="{FF2B5EF4-FFF2-40B4-BE49-F238E27FC236}">
                <a16:creationId xmlns:a16="http://schemas.microsoft.com/office/drawing/2014/main" id="{D0E9F59B-7C49-555F-6392-EAE89AEC9DEE}"/>
              </a:ext>
            </a:extLst>
          </p:cNvPr>
          <p:cNvSpPr>
            <a:spLocks noGrp="1"/>
          </p:cNvSpPr>
          <p:nvPr>
            <p:ph type="dt" sz="half" idx="10"/>
          </p:nvPr>
        </p:nvSpPr>
        <p:spPr/>
        <p:txBody>
          <a:bodyPr/>
          <a:lstStyle/>
          <a:p>
            <a:fld id="{71F4F268-3A77-46A8-A395-57E0DA2683DC}" type="datetime10">
              <a:rPr lang="en-US" altLang="zh-CN" smtClean="0"/>
              <a:t>16:53</a:t>
            </a:fld>
            <a:endParaRPr lang="en-US" altLang="zh-CN"/>
          </a:p>
        </p:txBody>
      </p:sp>
      <p:sp>
        <p:nvSpPr>
          <p:cNvPr id="15" name="灯片编号占位符 14">
            <a:extLst>
              <a:ext uri="{FF2B5EF4-FFF2-40B4-BE49-F238E27FC236}">
                <a16:creationId xmlns:a16="http://schemas.microsoft.com/office/drawing/2014/main" id="{30C1BA61-CEF8-D0E4-E1C4-5C5C1566EBC6}"/>
              </a:ext>
            </a:extLst>
          </p:cNvPr>
          <p:cNvSpPr>
            <a:spLocks noGrp="1"/>
          </p:cNvSpPr>
          <p:nvPr>
            <p:ph type="sldNum" sz="quarter" idx="12"/>
          </p:nvPr>
        </p:nvSpPr>
        <p:spPr/>
        <p:txBody>
          <a:bodyPr/>
          <a:lstStyle/>
          <a:p>
            <a:fld id="{B73B34B3-1432-4053-90C7-E0228297BE5F}" type="slidenum">
              <a:rPr lang="en-US" altLang="zh-CN" smtClean="0"/>
              <a:pPr/>
              <a:t>47</a:t>
            </a:fld>
            <a:endParaRPr lang="en-US" altLang="zh-CN"/>
          </a:p>
        </p:txBody>
      </p:sp>
    </p:spTree>
    <p:extLst>
      <p:ext uri="{BB962C8B-B14F-4D97-AF65-F5344CB8AC3E}">
        <p14:creationId xmlns:p14="http://schemas.microsoft.com/office/powerpoint/2010/main" val="3393919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80729"/>
            <a:ext cx="8229600" cy="1368152"/>
          </a:xfrm>
        </p:spPr>
        <p:txBody>
          <a:bodyPr/>
          <a:lstStyle/>
          <a:p>
            <a:pPr marL="0" indent="0">
              <a:buNone/>
            </a:pPr>
            <a:r>
              <a:rPr lang="zh-CN" altLang="en-US" sz="2800" b="1" dirty="0">
                <a:solidFill>
                  <a:srgbClr val="FF0000"/>
                </a:solidFill>
              </a:rPr>
              <a:t>四</a:t>
            </a:r>
            <a:r>
              <a:rPr lang="zh-CN" altLang="zh-CN" sz="2800" b="1" dirty="0">
                <a:solidFill>
                  <a:srgbClr val="FF0000"/>
                </a:solidFill>
              </a:rPr>
              <a:t>、换向</a:t>
            </a:r>
            <a:r>
              <a:rPr lang="zh-CN" altLang="zh-CN" sz="2800" dirty="0">
                <a:solidFill>
                  <a:srgbClr val="FF0000"/>
                </a:solidFill>
              </a:rPr>
              <a:t>：</a:t>
            </a:r>
          </a:p>
          <a:p>
            <a:pPr marL="0" indent="0">
              <a:buNone/>
            </a:pPr>
            <a:r>
              <a:rPr lang="en-US" altLang="zh-CN" sz="2400" b="1" dirty="0"/>
              <a:t>1</a:t>
            </a:r>
            <a:r>
              <a:rPr lang="zh-CN" altLang="zh-CN" sz="2400" b="1" dirty="0"/>
              <a:t>）线圈电感的影响</a:t>
            </a:r>
            <a:endParaRPr lang="zh-CN" altLang="zh-CN" sz="2400" dirty="0"/>
          </a:p>
          <a:p>
            <a:r>
              <a:rPr lang="zh-CN" altLang="zh-CN" sz="2400" b="1" dirty="0"/>
              <a:t>理想换向过程</a:t>
            </a:r>
            <a:endParaRPr lang="zh-CN" altLang="zh-CN" sz="2400" dirty="0"/>
          </a:p>
          <a:p>
            <a:endParaRPr lang="zh-CN" altLang="en-US" dirty="0"/>
          </a:p>
        </p:txBody>
      </p:sp>
      <p:sp>
        <p:nvSpPr>
          <p:cNvPr id="4" name="Rectangle 2"/>
          <p:cNvSpPr>
            <a:spLocks noChangeArrowheads="1"/>
          </p:cNvSpPr>
          <p:nvPr/>
        </p:nvSpPr>
        <p:spPr bwMode="auto">
          <a:xfrm flipV="1">
            <a:off x="0" y="1761369"/>
            <a:ext cx="683327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186690243"/>
              </p:ext>
            </p:extLst>
          </p:nvPr>
        </p:nvGraphicFramePr>
        <p:xfrm>
          <a:off x="99120" y="2413664"/>
          <a:ext cx="3964723" cy="1950331"/>
        </p:xfrm>
        <a:graphic>
          <a:graphicData uri="http://schemas.openxmlformats.org/presentationml/2006/ole">
            <mc:AlternateContent xmlns:mc="http://schemas.openxmlformats.org/markup-compatibility/2006">
              <mc:Choice xmlns:v="urn:schemas-microsoft-com:vml" Requires="v">
                <p:oleObj r:id="rId2" imgW="2000250" imgH="984250" progId="MSDraw">
                  <p:embed/>
                </p:oleObj>
              </mc:Choice>
              <mc:Fallback>
                <p:oleObj r:id="rId2" imgW="2000250" imgH="984250" progId="MSDraw">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120" y="2413664"/>
                        <a:ext cx="3964723" cy="1950331"/>
                      </a:xfrm>
                      <a:prstGeom prst="rect">
                        <a:avLst/>
                      </a:prstGeom>
                      <a:noFill/>
                    </p:spPr>
                  </p:pic>
                </p:oleObj>
              </mc:Fallback>
            </mc:AlternateContent>
          </a:graphicData>
        </a:graphic>
      </p:graphicFrame>
      <p:sp>
        <p:nvSpPr>
          <p:cNvPr id="6" name="Rectangle 4"/>
          <p:cNvSpPr>
            <a:spLocks noChangeArrowheads="1"/>
          </p:cNvSpPr>
          <p:nvPr/>
        </p:nvSpPr>
        <p:spPr bwMode="auto">
          <a:xfrm flipV="1">
            <a:off x="4067944" y="1671543"/>
            <a:ext cx="698373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3427942200"/>
              </p:ext>
            </p:extLst>
          </p:nvPr>
        </p:nvGraphicFramePr>
        <p:xfrm>
          <a:off x="179512" y="4590242"/>
          <a:ext cx="3964723" cy="2655273"/>
        </p:xfrm>
        <a:graphic>
          <a:graphicData uri="http://schemas.openxmlformats.org/presentationml/2006/ole">
            <mc:AlternateContent xmlns:mc="http://schemas.openxmlformats.org/markup-compatibility/2006">
              <mc:Choice xmlns:v="urn:schemas-microsoft-com:vml" Requires="v">
                <p:oleObj r:id="rId4" imgW="2132013" imgH="1428750" progId="MSDraw">
                  <p:embed/>
                </p:oleObj>
              </mc:Choice>
              <mc:Fallback>
                <p:oleObj r:id="rId4" imgW="2132013" imgH="1428750" progId="MSDraw">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512" y="4590242"/>
                        <a:ext cx="3964723" cy="2655273"/>
                      </a:xfrm>
                      <a:prstGeom prst="rect">
                        <a:avLst/>
                      </a:prstGeom>
                      <a:noFill/>
                    </p:spPr>
                  </p:pic>
                </p:oleObj>
              </mc:Fallback>
            </mc:AlternateContent>
          </a:graphicData>
        </a:graphic>
      </p:graphicFrame>
      <p:sp>
        <p:nvSpPr>
          <p:cNvPr id="8" name="Rectangle 6"/>
          <p:cNvSpPr>
            <a:spLocks noChangeArrowheads="1"/>
          </p:cNvSpPr>
          <p:nvPr/>
        </p:nvSpPr>
        <p:spPr bwMode="auto">
          <a:xfrm>
            <a:off x="35495" y="4457871"/>
            <a:ext cx="710302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9" name="对象 8"/>
          <p:cNvGraphicFramePr>
            <a:graphicFrameLocks noChangeAspect="1"/>
          </p:cNvGraphicFramePr>
          <p:nvPr>
            <p:extLst>
              <p:ext uri="{D42A27DB-BD31-4B8C-83A1-F6EECF244321}">
                <p14:modId xmlns:p14="http://schemas.microsoft.com/office/powerpoint/2010/main" val="3753445785"/>
              </p:ext>
            </p:extLst>
          </p:nvPr>
        </p:nvGraphicFramePr>
        <p:xfrm>
          <a:off x="4582344" y="260648"/>
          <a:ext cx="4032448" cy="2012525"/>
        </p:xfrm>
        <a:graphic>
          <a:graphicData uri="http://schemas.openxmlformats.org/presentationml/2006/ole">
            <mc:AlternateContent xmlns:mc="http://schemas.openxmlformats.org/markup-compatibility/2006">
              <mc:Choice xmlns:v="urn:schemas-microsoft-com:vml" Requires="v">
                <p:oleObj r:id="rId6" imgW="2028825" imgH="1014413" progId="MSDraw">
                  <p:embed/>
                </p:oleObj>
              </mc:Choice>
              <mc:Fallback>
                <p:oleObj r:id="rId6" imgW="2028825" imgH="1014413" progId="MSDraw">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82344" y="260648"/>
                        <a:ext cx="4032448" cy="2012525"/>
                      </a:xfrm>
                      <a:prstGeom prst="rect">
                        <a:avLst/>
                      </a:prstGeom>
                      <a:noFill/>
                    </p:spPr>
                  </p:pic>
                </p:oleObj>
              </mc:Fallback>
            </mc:AlternateContent>
          </a:graphicData>
        </a:graphic>
      </p:graphicFrame>
      <p:sp>
        <p:nvSpPr>
          <p:cNvPr id="10"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 name="对象 10"/>
          <p:cNvGraphicFramePr>
            <a:graphicFrameLocks noChangeAspect="1"/>
          </p:cNvGraphicFramePr>
          <p:nvPr>
            <p:extLst>
              <p:ext uri="{D42A27DB-BD31-4B8C-83A1-F6EECF244321}">
                <p14:modId xmlns:p14="http://schemas.microsoft.com/office/powerpoint/2010/main" val="971049823"/>
              </p:ext>
            </p:extLst>
          </p:nvPr>
        </p:nvGraphicFramePr>
        <p:xfrm>
          <a:off x="4744616" y="2420888"/>
          <a:ext cx="3707904" cy="1906127"/>
        </p:xfrm>
        <a:graphic>
          <a:graphicData uri="http://schemas.openxmlformats.org/presentationml/2006/ole">
            <mc:AlternateContent xmlns:mc="http://schemas.openxmlformats.org/markup-compatibility/2006">
              <mc:Choice xmlns:v="urn:schemas-microsoft-com:vml" Requires="v">
                <p:oleObj r:id="rId8" imgW="1995488" imgH="1028700" progId="MSDraw">
                  <p:embed/>
                </p:oleObj>
              </mc:Choice>
              <mc:Fallback>
                <p:oleObj r:id="rId8" imgW="1995488" imgH="1028700" progId="MSDraw">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44616" y="2420888"/>
                        <a:ext cx="3707904" cy="1906127"/>
                      </a:xfrm>
                      <a:prstGeom prst="rect">
                        <a:avLst/>
                      </a:prstGeom>
                      <a:noFill/>
                    </p:spPr>
                  </p:pic>
                </p:oleObj>
              </mc:Fallback>
            </mc:AlternateContent>
          </a:graphicData>
        </a:graphic>
      </p:graphicFrame>
      <p:sp>
        <p:nvSpPr>
          <p:cNvPr id="12" name="Rectangle 10"/>
          <p:cNvSpPr>
            <a:spLocks noChangeArrowheads="1"/>
          </p:cNvSpPr>
          <p:nvPr/>
        </p:nvSpPr>
        <p:spPr bwMode="auto">
          <a:xfrm flipV="1">
            <a:off x="4556829" y="3566994"/>
            <a:ext cx="6505880" cy="54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13" name="对象 12"/>
          <p:cNvGraphicFramePr>
            <a:graphicFrameLocks noChangeAspect="1"/>
          </p:cNvGraphicFramePr>
          <p:nvPr>
            <p:extLst>
              <p:ext uri="{D42A27DB-BD31-4B8C-83A1-F6EECF244321}">
                <p14:modId xmlns:p14="http://schemas.microsoft.com/office/powerpoint/2010/main" val="3821635747"/>
              </p:ext>
            </p:extLst>
          </p:nvPr>
        </p:nvGraphicFramePr>
        <p:xfrm>
          <a:off x="4556830" y="4399022"/>
          <a:ext cx="4075906" cy="2198329"/>
        </p:xfrm>
        <a:graphic>
          <a:graphicData uri="http://schemas.openxmlformats.org/presentationml/2006/ole">
            <mc:AlternateContent xmlns:mc="http://schemas.openxmlformats.org/markup-compatibility/2006">
              <mc:Choice xmlns:v="urn:schemas-microsoft-com:vml" Requires="v">
                <p:oleObj r:id="rId10" imgW="1933575" imgH="1044575" progId="MSDraw">
                  <p:embed/>
                </p:oleObj>
              </mc:Choice>
              <mc:Fallback>
                <p:oleObj r:id="rId10" imgW="1933575" imgH="1044575" progId="MSDraw">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56830" y="4399022"/>
                        <a:ext cx="4075906" cy="2198329"/>
                      </a:xfrm>
                      <a:prstGeom prst="rect">
                        <a:avLst/>
                      </a:prstGeom>
                      <a:solidFill>
                        <a:srgbClr val="FFFFFF"/>
                      </a:solidFill>
                    </p:spPr>
                  </p:pic>
                </p:oleObj>
              </mc:Fallback>
            </mc:AlternateContent>
          </a:graphicData>
        </a:graphic>
      </p:graphicFrame>
      <p:sp>
        <p:nvSpPr>
          <p:cNvPr id="17" name="日期占位符 16">
            <a:extLst>
              <a:ext uri="{FF2B5EF4-FFF2-40B4-BE49-F238E27FC236}">
                <a16:creationId xmlns:a16="http://schemas.microsoft.com/office/drawing/2014/main" id="{E780461B-64ED-807D-815A-5FB6F191435D}"/>
              </a:ext>
            </a:extLst>
          </p:cNvPr>
          <p:cNvSpPr>
            <a:spLocks noGrp="1"/>
          </p:cNvSpPr>
          <p:nvPr>
            <p:ph type="dt" sz="half" idx="10"/>
          </p:nvPr>
        </p:nvSpPr>
        <p:spPr/>
        <p:txBody>
          <a:bodyPr/>
          <a:lstStyle/>
          <a:p>
            <a:fld id="{02B76B27-8DF4-46D1-B5A2-149644A9F2ED}" type="datetime10">
              <a:rPr lang="en-US" altLang="zh-CN" smtClean="0"/>
              <a:t>16:53</a:t>
            </a:fld>
            <a:endParaRPr lang="en-US" altLang="zh-CN"/>
          </a:p>
        </p:txBody>
      </p:sp>
      <p:sp>
        <p:nvSpPr>
          <p:cNvPr id="18" name="灯片编号占位符 17">
            <a:extLst>
              <a:ext uri="{FF2B5EF4-FFF2-40B4-BE49-F238E27FC236}">
                <a16:creationId xmlns:a16="http://schemas.microsoft.com/office/drawing/2014/main" id="{32B4DADD-247D-454A-8600-749DC803D73F}"/>
              </a:ext>
            </a:extLst>
          </p:cNvPr>
          <p:cNvSpPr>
            <a:spLocks noGrp="1"/>
          </p:cNvSpPr>
          <p:nvPr>
            <p:ph type="sldNum" sz="quarter" idx="12"/>
          </p:nvPr>
        </p:nvSpPr>
        <p:spPr/>
        <p:txBody>
          <a:bodyPr/>
          <a:lstStyle/>
          <a:p>
            <a:fld id="{B73B34B3-1432-4053-90C7-E0228297BE5F}" type="slidenum">
              <a:rPr lang="en-US" altLang="zh-CN" smtClean="0"/>
              <a:pPr/>
              <a:t>48</a:t>
            </a:fld>
            <a:endParaRPr lang="en-US" altLang="zh-CN"/>
          </a:p>
        </p:txBody>
      </p:sp>
    </p:spTree>
    <p:extLst>
      <p:ext uri="{BB962C8B-B14F-4D97-AF65-F5344CB8AC3E}">
        <p14:creationId xmlns:p14="http://schemas.microsoft.com/office/powerpoint/2010/main" val="38746008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08721"/>
            <a:ext cx="8229600" cy="648072"/>
          </a:xfrm>
        </p:spPr>
        <p:txBody>
          <a:bodyPr/>
          <a:lstStyle/>
          <a:p>
            <a:r>
              <a:rPr lang="zh-CN" altLang="zh-CN" sz="2400" b="1" dirty="0"/>
              <a:t>实际换向过程</a:t>
            </a:r>
            <a:endParaRPr lang="zh-CN" altLang="en-US" sz="2400" dirty="0"/>
          </a:p>
        </p:txBody>
      </p:sp>
      <p:graphicFrame>
        <p:nvGraphicFramePr>
          <p:cNvPr id="4" name="对象 3"/>
          <p:cNvGraphicFramePr>
            <a:graphicFrameLocks noChangeAspect="1"/>
          </p:cNvGraphicFramePr>
          <p:nvPr>
            <p:extLst>
              <p:ext uri="{D42A27DB-BD31-4B8C-83A1-F6EECF244321}">
                <p14:modId xmlns:p14="http://schemas.microsoft.com/office/powerpoint/2010/main" val="1009633333"/>
              </p:ext>
            </p:extLst>
          </p:nvPr>
        </p:nvGraphicFramePr>
        <p:xfrm>
          <a:off x="60280" y="1457325"/>
          <a:ext cx="4095745" cy="2077429"/>
        </p:xfrm>
        <a:graphic>
          <a:graphicData uri="http://schemas.openxmlformats.org/presentationml/2006/ole">
            <mc:AlternateContent xmlns:mc="http://schemas.openxmlformats.org/markup-compatibility/2006">
              <mc:Choice xmlns:v="urn:schemas-microsoft-com:vml" Requires="v">
                <p:oleObj r:id="rId2" imgW="1933575" imgH="984250" progId="MSDraw">
                  <p:embed/>
                </p:oleObj>
              </mc:Choice>
              <mc:Fallback>
                <p:oleObj r:id="rId2" imgW="1933575" imgH="984250" progId="MSDraw">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80" y="1457325"/>
                        <a:ext cx="4095745" cy="2077429"/>
                      </a:xfrm>
                      <a:prstGeom prst="rect">
                        <a:avLst/>
                      </a:prstGeom>
                      <a:no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917460263"/>
              </p:ext>
            </p:extLst>
          </p:nvPr>
        </p:nvGraphicFramePr>
        <p:xfrm>
          <a:off x="60280" y="3492973"/>
          <a:ext cx="4191166" cy="2215204"/>
        </p:xfrm>
        <a:graphic>
          <a:graphicData uri="http://schemas.openxmlformats.org/presentationml/2006/ole">
            <mc:AlternateContent xmlns:mc="http://schemas.openxmlformats.org/markup-compatibility/2006">
              <mc:Choice xmlns:v="urn:schemas-microsoft-com:vml" Requires="v">
                <p:oleObj r:id="rId4" imgW="1933575" imgH="1023938" progId="MSDraw">
                  <p:embed/>
                </p:oleObj>
              </mc:Choice>
              <mc:Fallback>
                <p:oleObj r:id="rId4" imgW="1933575" imgH="1023938" progId="MSDraw">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280" y="3492973"/>
                        <a:ext cx="4191166" cy="2215204"/>
                      </a:xfrm>
                      <a:prstGeom prst="rect">
                        <a:avLst/>
                      </a:prstGeom>
                      <a:no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763031149"/>
              </p:ext>
            </p:extLst>
          </p:nvPr>
        </p:nvGraphicFramePr>
        <p:xfrm>
          <a:off x="4773517" y="188640"/>
          <a:ext cx="4172368" cy="2150705"/>
        </p:xfrm>
        <a:graphic>
          <a:graphicData uri="http://schemas.openxmlformats.org/presentationml/2006/ole">
            <mc:AlternateContent xmlns:mc="http://schemas.openxmlformats.org/markup-compatibility/2006">
              <mc:Choice xmlns:v="urn:schemas-microsoft-com:vml" Requires="v">
                <p:oleObj r:id="rId6" imgW="1962150" imgH="1014413" progId="MSDraw">
                  <p:embed/>
                </p:oleObj>
              </mc:Choice>
              <mc:Fallback>
                <p:oleObj r:id="rId6" imgW="1962150" imgH="1014413" progId="MSDraw">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73517" y="188640"/>
                        <a:ext cx="4172368" cy="2150705"/>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873673483"/>
              </p:ext>
            </p:extLst>
          </p:nvPr>
        </p:nvGraphicFramePr>
        <p:xfrm>
          <a:off x="4834918" y="2458407"/>
          <a:ext cx="4278740" cy="2238375"/>
        </p:xfrm>
        <a:graphic>
          <a:graphicData uri="http://schemas.openxmlformats.org/presentationml/2006/ole">
            <mc:AlternateContent xmlns:mc="http://schemas.openxmlformats.org/markup-compatibility/2006">
              <mc:Choice xmlns:v="urn:schemas-microsoft-com:vml" Requires="v">
                <p:oleObj r:id="rId8" imgW="2001838" imgH="1047750" progId="MSDraw">
                  <p:embed/>
                </p:oleObj>
              </mc:Choice>
              <mc:Fallback>
                <p:oleObj r:id="rId8" imgW="2001838" imgH="1047750" progId="MSDraw">
                  <p:embed/>
                  <p:pic>
                    <p:nvPicPr>
                      <p:cNvPr id="0" name="Object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34918" y="2458407"/>
                        <a:ext cx="4278740" cy="2238375"/>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865353651"/>
              </p:ext>
            </p:extLst>
          </p:nvPr>
        </p:nvGraphicFramePr>
        <p:xfrm>
          <a:off x="4804576" y="4696782"/>
          <a:ext cx="4215032" cy="2242223"/>
        </p:xfrm>
        <a:graphic>
          <a:graphicData uri="http://schemas.openxmlformats.org/presentationml/2006/ole">
            <mc:AlternateContent xmlns:mc="http://schemas.openxmlformats.org/markup-compatibility/2006">
              <mc:Choice xmlns:v="urn:schemas-microsoft-com:vml" Requires="v">
                <p:oleObj r:id="rId10" imgW="1955800" imgH="1044575" progId="MSDraw">
                  <p:embed/>
                </p:oleObj>
              </mc:Choice>
              <mc:Fallback>
                <p:oleObj r:id="rId10" imgW="1955800" imgH="1044575" progId="MSDraw">
                  <p:embed/>
                  <p:pic>
                    <p:nvPicPr>
                      <p:cNvPr id="0" name="Object 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04576" y="4696782"/>
                        <a:ext cx="4215032" cy="2242223"/>
                      </a:xfrm>
                      <a:prstGeom prst="rect">
                        <a:avLst/>
                      </a:prstGeom>
                      <a:noFill/>
                    </p:spPr>
                  </p:pic>
                </p:oleObj>
              </mc:Fallback>
            </mc:AlternateContent>
          </a:graphicData>
        </a:graphic>
      </p:graphicFrame>
      <p:sp>
        <p:nvSpPr>
          <p:cNvPr id="9" name="Rectangle 6"/>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7"/>
          <p:cNvSpPr>
            <a:spLocks noChangeArrowheads="1"/>
          </p:cNvSpPr>
          <p:nvPr/>
        </p:nvSpPr>
        <p:spPr bwMode="auto">
          <a:xfrm>
            <a:off x="0" y="280035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8"/>
          <p:cNvSpPr>
            <a:spLocks noChangeArrowheads="1"/>
          </p:cNvSpPr>
          <p:nvPr/>
        </p:nvSpPr>
        <p:spPr bwMode="auto">
          <a:xfrm>
            <a:off x="0" y="56388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9"/>
          <p:cNvSpPr>
            <a:spLocks noChangeArrowheads="1"/>
          </p:cNvSpPr>
          <p:nvPr/>
        </p:nvSpPr>
        <p:spPr bwMode="auto">
          <a:xfrm>
            <a:off x="0" y="847725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Rectangle 10"/>
          <p:cNvSpPr>
            <a:spLocks noChangeArrowheads="1"/>
          </p:cNvSpPr>
          <p:nvPr/>
        </p:nvSpPr>
        <p:spPr bwMode="auto">
          <a:xfrm>
            <a:off x="0" y="114109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矩形 13"/>
          <p:cNvSpPr/>
          <p:nvPr/>
        </p:nvSpPr>
        <p:spPr>
          <a:xfrm>
            <a:off x="60280" y="5916004"/>
            <a:ext cx="3935656" cy="923330"/>
          </a:xfrm>
          <a:prstGeom prst="rect">
            <a:avLst/>
          </a:prstGeom>
        </p:spPr>
        <p:txBody>
          <a:bodyPr wrap="square">
            <a:spAutoFit/>
          </a:bodyPr>
          <a:lstStyle/>
          <a:p>
            <a:pPr algn="just">
              <a:spcAft>
                <a:spcPts val="0"/>
              </a:spcAft>
            </a:pPr>
            <a:r>
              <a:rPr lang="zh-CN" altLang="zh-CN" kern="100" dirty="0">
                <a:solidFill>
                  <a:srgbClr val="C00000"/>
                </a:solidFill>
                <a:latin typeface="Times New Roman" panose="02020603050405020304" pitchFamily="18" charset="0"/>
                <a:ea typeface="黑体" panose="02010609060101010101" pitchFamily="49" charset="-122"/>
              </a:rPr>
              <a:t>结果：</a:t>
            </a:r>
            <a:r>
              <a:rPr lang="en-US" altLang="zh-CN" kern="100" dirty="0">
                <a:solidFill>
                  <a:srgbClr val="C00000"/>
                </a:solidFill>
                <a:latin typeface="Times New Roman" panose="02020603050405020304" pitchFamily="18" charset="0"/>
                <a:ea typeface="黑体" panose="02010609060101010101" pitchFamily="49" charset="-122"/>
              </a:rPr>
              <a:t>DCM</a:t>
            </a:r>
            <a:r>
              <a:rPr lang="zh-CN" altLang="zh-CN" kern="100" dirty="0">
                <a:solidFill>
                  <a:srgbClr val="C00000"/>
                </a:solidFill>
                <a:latin typeface="Times New Roman" panose="02020603050405020304" pitchFamily="18" charset="0"/>
                <a:ea typeface="黑体" panose="02010609060101010101" pitchFamily="49" charset="-122"/>
              </a:rPr>
              <a:t>在高速大功率（大电流）领域应用受限：换向困难、换向器很容易损坏。</a:t>
            </a:r>
            <a:endParaRPr lang="zh-CN" altLang="zh-CN" sz="900" kern="100" dirty="0">
              <a:solidFill>
                <a:srgbClr val="C00000"/>
              </a:solidFill>
              <a:latin typeface="Times New Roman" panose="02020603050405020304" pitchFamily="18" charset="0"/>
            </a:endParaRPr>
          </a:p>
        </p:txBody>
      </p:sp>
      <p:sp>
        <p:nvSpPr>
          <p:cNvPr id="18" name="日期占位符 17">
            <a:extLst>
              <a:ext uri="{FF2B5EF4-FFF2-40B4-BE49-F238E27FC236}">
                <a16:creationId xmlns:a16="http://schemas.microsoft.com/office/drawing/2014/main" id="{75325FC4-1B6E-268E-D5B5-460A296E07EB}"/>
              </a:ext>
            </a:extLst>
          </p:cNvPr>
          <p:cNvSpPr>
            <a:spLocks noGrp="1"/>
          </p:cNvSpPr>
          <p:nvPr>
            <p:ph type="dt" sz="half" idx="10"/>
          </p:nvPr>
        </p:nvSpPr>
        <p:spPr/>
        <p:txBody>
          <a:bodyPr/>
          <a:lstStyle/>
          <a:p>
            <a:fld id="{854EB95D-CEE9-4F36-AC64-CC0119D35542}" type="datetime10">
              <a:rPr lang="en-US" altLang="zh-CN" smtClean="0"/>
              <a:t>16:53</a:t>
            </a:fld>
            <a:endParaRPr lang="en-US" altLang="zh-CN"/>
          </a:p>
        </p:txBody>
      </p:sp>
      <p:sp>
        <p:nvSpPr>
          <p:cNvPr id="19" name="灯片编号占位符 18">
            <a:extLst>
              <a:ext uri="{FF2B5EF4-FFF2-40B4-BE49-F238E27FC236}">
                <a16:creationId xmlns:a16="http://schemas.microsoft.com/office/drawing/2014/main" id="{0E372998-6D1F-6EEF-D9A2-4029235BFB54}"/>
              </a:ext>
            </a:extLst>
          </p:cNvPr>
          <p:cNvSpPr>
            <a:spLocks noGrp="1"/>
          </p:cNvSpPr>
          <p:nvPr>
            <p:ph type="sldNum" sz="quarter" idx="12"/>
          </p:nvPr>
        </p:nvSpPr>
        <p:spPr/>
        <p:txBody>
          <a:bodyPr/>
          <a:lstStyle/>
          <a:p>
            <a:fld id="{B73B34B3-1432-4053-90C7-E0228297BE5F}" type="slidenum">
              <a:rPr lang="en-US" altLang="zh-CN" smtClean="0"/>
              <a:pPr/>
              <a:t>49</a:t>
            </a:fld>
            <a:endParaRPr lang="en-US" altLang="zh-CN"/>
          </a:p>
        </p:txBody>
      </p:sp>
    </p:spTree>
    <p:extLst>
      <p:ext uri="{BB962C8B-B14F-4D97-AF65-F5344CB8AC3E}">
        <p14:creationId xmlns:p14="http://schemas.microsoft.com/office/powerpoint/2010/main" val="32166583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80728"/>
            <a:ext cx="8229600" cy="4525963"/>
          </a:xfrm>
        </p:spPr>
        <p:txBody>
          <a:bodyPr/>
          <a:lstStyle/>
          <a:p>
            <a:pPr marL="0" indent="0">
              <a:buNone/>
            </a:pPr>
            <a:r>
              <a:rPr lang="en-US" altLang="zh-CN" sz="2800" dirty="0"/>
              <a:t>2</a:t>
            </a:r>
            <a:r>
              <a:rPr lang="zh-CN" altLang="zh-CN" sz="2800" dirty="0"/>
              <a:t>）电枢</a:t>
            </a:r>
            <a:r>
              <a:rPr lang="zh-CN" altLang="zh-CN" sz="2800" b="1" dirty="0"/>
              <a:t>反应的影响</a:t>
            </a:r>
            <a:endParaRPr lang="zh-CN" altLang="zh-CN" sz="2800" dirty="0"/>
          </a:p>
          <a:p>
            <a:endParaRPr lang="zh-CN" altLang="en-US" dirty="0"/>
          </a:p>
        </p:txBody>
      </p:sp>
      <p:sp>
        <p:nvSpPr>
          <p:cNvPr id="4" name="Rectangle 2"/>
          <p:cNvSpPr>
            <a:spLocks noChangeArrowheads="1"/>
          </p:cNvSpPr>
          <p:nvPr/>
        </p:nvSpPr>
        <p:spPr bwMode="auto">
          <a:xfrm flipV="1">
            <a:off x="7069258" y="-891482"/>
            <a:ext cx="3426784"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048571488"/>
              </p:ext>
            </p:extLst>
          </p:nvPr>
        </p:nvGraphicFramePr>
        <p:xfrm>
          <a:off x="1475656" y="1792288"/>
          <a:ext cx="5688632" cy="4511674"/>
        </p:xfrm>
        <a:graphic>
          <a:graphicData uri="http://schemas.openxmlformats.org/presentationml/2006/ole">
            <mc:AlternateContent xmlns:mc="http://schemas.openxmlformats.org/markup-compatibility/2006">
              <mc:Choice xmlns:v="urn:schemas-microsoft-com:vml" Requires="v">
                <p:oleObj r:id="rId2" imgW="1962150" imgH="1549400" progId="MSDraw">
                  <p:embed/>
                </p:oleObj>
              </mc:Choice>
              <mc:Fallback>
                <p:oleObj r:id="rId2" imgW="1962150" imgH="1549400" progId="MSDraw">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1792288"/>
                        <a:ext cx="5688632" cy="4511674"/>
                      </a:xfrm>
                      <a:prstGeom prst="rect">
                        <a:avLst/>
                      </a:prstGeom>
                      <a:noFill/>
                    </p:spPr>
                  </p:pic>
                </p:oleObj>
              </mc:Fallback>
            </mc:AlternateContent>
          </a:graphicData>
        </a:graphic>
      </p:graphicFrame>
      <p:sp>
        <p:nvSpPr>
          <p:cNvPr id="9" name="日期占位符 8">
            <a:extLst>
              <a:ext uri="{FF2B5EF4-FFF2-40B4-BE49-F238E27FC236}">
                <a16:creationId xmlns:a16="http://schemas.microsoft.com/office/drawing/2014/main" id="{411A7C0B-37BB-1153-8708-9683953F552D}"/>
              </a:ext>
            </a:extLst>
          </p:cNvPr>
          <p:cNvSpPr>
            <a:spLocks noGrp="1"/>
          </p:cNvSpPr>
          <p:nvPr>
            <p:ph type="dt" sz="half" idx="10"/>
          </p:nvPr>
        </p:nvSpPr>
        <p:spPr/>
        <p:txBody>
          <a:bodyPr/>
          <a:lstStyle/>
          <a:p>
            <a:fld id="{6AADFE6E-375D-4792-91A8-50DAB26B874F}" type="datetime10">
              <a:rPr lang="en-US" altLang="zh-CN" smtClean="0"/>
              <a:t>16:53</a:t>
            </a:fld>
            <a:endParaRPr lang="en-US" altLang="zh-CN"/>
          </a:p>
        </p:txBody>
      </p:sp>
      <p:sp>
        <p:nvSpPr>
          <p:cNvPr id="10" name="灯片编号占位符 9">
            <a:extLst>
              <a:ext uri="{FF2B5EF4-FFF2-40B4-BE49-F238E27FC236}">
                <a16:creationId xmlns:a16="http://schemas.microsoft.com/office/drawing/2014/main" id="{5CE245DA-2FA8-D974-3488-6922919B6ACD}"/>
              </a:ext>
            </a:extLst>
          </p:cNvPr>
          <p:cNvSpPr>
            <a:spLocks noGrp="1"/>
          </p:cNvSpPr>
          <p:nvPr>
            <p:ph type="sldNum" sz="quarter" idx="12"/>
          </p:nvPr>
        </p:nvSpPr>
        <p:spPr/>
        <p:txBody>
          <a:bodyPr/>
          <a:lstStyle/>
          <a:p>
            <a:fld id="{B73B34B3-1432-4053-90C7-E0228297BE5F}" type="slidenum">
              <a:rPr lang="en-US" altLang="zh-CN" smtClean="0"/>
              <a:pPr/>
              <a:t>50</a:t>
            </a:fld>
            <a:endParaRPr lang="en-US" altLang="zh-CN"/>
          </a:p>
        </p:txBody>
      </p:sp>
    </p:spTree>
    <p:extLst>
      <p:ext uri="{BB962C8B-B14F-4D97-AF65-F5344CB8AC3E}">
        <p14:creationId xmlns:p14="http://schemas.microsoft.com/office/powerpoint/2010/main" val="12216098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980728"/>
            <a:ext cx="6048672" cy="4525963"/>
          </a:xfrm>
        </p:spPr>
        <p:txBody>
          <a:bodyPr/>
          <a:lstStyle/>
          <a:p>
            <a:pPr marL="0" indent="0">
              <a:buNone/>
            </a:pPr>
            <a:r>
              <a:rPr lang="zh-CN" altLang="zh-CN" sz="2400" b="1" dirty="0">
                <a:solidFill>
                  <a:srgbClr val="C00000"/>
                </a:solidFill>
              </a:rPr>
              <a:t>两点结论：</a:t>
            </a:r>
          </a:p>
          <a:p>
            <a:r>
              <a:rPr lang="zh-CN" altLang="zh-CN" sz="2400" dirty="0">
                <a:solidFill>
                  <a:srgbClr val="0000CC"/>
                </a:solidFill>
              </a:rPr>
              <a:t>换向器是电机中最薄弱的环节，限制</a:t>
            </a:r>
            <a:r>
              <a:rPr lang="en-US" altLang="zh-CN" sz="2400" dirty="0">
                <a:solidFill>
                  <a:srgbClr val="0000CC"/>
                </a:solidFill>
              </a:rPr>
              <a:t>DC M</a:t>
            </a:r>
            <a:r>
              <a:rPr lang="zh-CN" altLang="zh-CN" sz="2400" dirty="0">
                <a:solidFill>
                  <a:srgbClr val="0000CC"/>
                </a:solidFill>
              </a:rPr>
              <a:t>的容量、转速、过载能力、最大</a:t>
            </a:r>
            <a:r>
              <a:rPr lang="en-US" altLang="zh-CN" sz="2400" dirty="0" err="1">
                <a:solidFill>
                  <a:srgbClr val="0000CC"/>
                </a:solidFill>
              </a:rPr>
              <a:t>Ia</a:t>
            </a:r>
            <a:endParaRPr lang="zh-CN" altLang="zh-CN" sz="2400" dirty="0">
              <a:solidFill>
                <a:srgbClr val="0000CC"/>
              </a:solidFill>
            </a:endParaRPr>
          </a:p>
          <a:p>
            <a:r>
              <a:rPr lang="zh-CN" altLang="zh-CN" sz="2400" dirty="0">
                <a:solidFill>
                  <a:srgbClr val="0000CC"/>
                </a:solidFill>
              </a:rPr>
              <a:t>改善换向削弱电枢反应的影响：增设换向极，利用</a:t>
            </a:r>
            <a:r>
              <a:rPr lang="en-US" altLang="zh-CN" sz="2400" dirty="0" err="1">
                <a:solidFill>
                  <a:srgbClr val="0000CC"/>
                </a:solidFill>
              </a:rPr>
              <a:t>Ia</a:t>
            </a:r>
            <a:r>
              <a:rPr lang="zh-CN" altLang="zh-CN" sz="2400" dirty="0">
                <a:solidFill>
                  <a:srgbClr val="0000CC"/>
                </a:solidFill>
              </a:rPr>
              <a:t>励磁产生磁通抵销电枢反应磁通。</a:t>
            </a:r>
            <a:endParaRPr lang="en-US" altLang="zh-CN" sz="2400" dirty="0">
              <a:solidFill>
                <a:srgbClr val="0000CC"/>
              </a:solidFill>
            </a:endParaRPr>
          </a:p>
          <a:p>
            <a:pPr marL="0" indent="0">
              <a:buNone/>
            </a:pPr>
            <a:r>
              <a:rPr lang="zh-CN" altLang="zh-CN" sz="2400" b="1" dirty="0">
                <a:solidFill>
                  <a:srgbClr val="0000CC"/>
                </a:solidFill>
              </a:rPr>
              <a:t>小结：</a:t>
            </a:r>
          </a:p>
          <a:p>
            <a:pPr lvl="0"/>
            <a:r>
              <a:rPr lang="zh-CN" altLang="zh-CN" sz="2400" dirty="0"/>
              <a:t>改善转矩特性产生了电枢结构设计的问题</a:t>
            </a:r>
          </a:p>
          <a:p>
            <a:pPr lvl="0"/>
            <a:r>
              <a:rPr lang="zh-CN" altLang="zh-CN" sz="2400" dirty="0"/>
              <a:t>多绕组元件的设计产生了电枢反应问题，如何认识和理解</a:t>
            </a:r>
          </a:p>
          <a:p>
            <a:pPr lvl="0"/>
            <a:r>
              <a:rPr lang="zh-CN" altLang="zh-CN" sz="2400" dirty="0"/>
              <a:t>电枢反应问题的特征分析方法与改善措施</a:t>
            </a:r>
          </a:p>
          <a:p>
            <a:pPr lvl="0"/>
            <a:r>
              <a:rPr lang="zh-CN" altLang="zh-CN" sz="2400" dirty="0"/>
              <a:t>换向问题的认识</a:t>
            </a:r>
          </a:p>
          <a:p>
            <a:endParaRPr lang="zh-CN" altLang="zh-CN" dirty="0"/>
          </a:p>
          <a:p>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900317560"/>
              </p:ext>
            </p:extLst>
          </p:nvPr>
        </p:nvGraphicFramePr>
        <p:xfrm>
          <a:off x="3275856" y="980728"/>
          <a:ext cx="5822295" cy="5328592"/>
        </p:xfrm>
        <a:graphic>
          <a:graphicData uri="http://schemas.openxmlformats.org/presentationml/2006/ole">
            <mc:AlternateContent xmlns:mc="http://schemas.openxmlformats.org/markup-compatibility/2006">
              <mc:Choice xmlns:v="urn:schemas-microsoft-com:vml" Requires="v">
                <p:oleObj r:id="rId2" imgW="5686425" imgH="5232400" progId="MSDraw">
                  <p:embed/>
                </p:oleObj>
              </mc:Choice>
              <mc:Fallback>
                <p:oleObj r:id="rId2" imgW="5686425" imgH="5232400" progId="MSDraw">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5856" y="980728"/>
                        <a:ext cx="5822295" cy="5328592"/>
                      </a:xfrm>
                      <a:prstGeom prst="rect">
                        <a:avLst/>
                      </a:prstGeom>
                      <a:solidFill>
                        <a:srgbClr val="FFFFFF"/>
                      </a:solidFill>
                    </p:spPr>
                  </p:pic>
                </p:oleObj>
              </mc:Fallback>
            </mc:AlternateContent>
          </a:graphicData>
        </a:graphic>
      </p:graphicFrame>
      <p:sp>
        <p:nvSpPr>
          <p:cNvPr id="9" name="日期占位符 8">
            <a:extLst>
              <a:ext uri="{FF2B5EF4-FFF2-40B4-BE49-F238E27FC236}">
                <a16:creationId xmlns:a16="http://schemas.microsoft.com/office/drawing/2014/main" id="{F85D0C72-748B-6E24-F03F-5D3874F56DED}"/>
              </a:ext>
            </a:extLst>
          </p:cNvPr>
          <p:cNvSpPr>
            <a:spLocks noGrp="1"/>
          </p:cNvSpPr>
          <p:nvPr>
            <p:ph type="dt" sz="half" idx="10"/>
          </p:nvPr>
        </p:nvSpPr>
        <p:spPr/>
        <p:txBody>
          <a:bodyPr/>
          <a:lstStyle/>
          <a:p>
            <a:fld id="{2B2C0B5D-7FBE-4C79-993B-F40498B607B0}" type="datetime10">
              <a:rPr lang="en-US" altLang="zh-CN" smtClean="0"/>
              <a:t>16:53</a:t>
            </a:fld>
            <a:endParaRPr lang="en-US" altLang="zh-CN"/>
          </a:p>
        </p:txBody>
      </p:sp>
      <p:sp>
        <p:nvSpPr>
          <p:cNvPr id="10" name="灯片编号占位符 9">
            <a:extLst>
              <a:ext uri="{FF2B5EF4-FFF2-40B4-BE49-F238E27FC236}">
                <a16:creationId xmlns:a16="http://schemas.microsoft.com/office/drawing/2014/main" id="{1833DF6C-E426-85AE-7DCA-0B1A6738E715}"/>
              </a:ext>
            </a:extLst>
          </p:cNvPr>
          <p:cNvSpPr>
            <a:spLocks noGrp="1"/>
          </p:cNvSpPr>
          <p:nvPr>
            <p:ph type="sldNum" sz="quarter" idx="12"/>
          </p:nvPr>
        </p:nvSpPr>
        <p:spPr/>
        <p:txBody>
          <a:bodyPr/>
          <a:lstStyle/>
          <a:p>
            <a:fld id="{B73B34B3-1432-4053-90C7-E0228297BE5F}" type="slidenum">
              <a:rPr lang="en-US" altLang="zh-CN" smtClean="0"/>
              <a:pPr/>
              <a:t>51</a:t>
            </a:fld>
            <a:endParaRPr lang="en-US" altLang="zh-CN"/>
          </a:p>
        </p:txBody>
      </p:sp>
    </p:spTree>
    <p:extLst>
      <p:ext uri="{BB962C8B-B14F-4D97-AF65-F5344CB8AC3E}">
        <p14:creationId xmlns:p14="http://schemas.microsoft.com/office/powerpoint/2010/main" val="2851972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1137316"/>
            <a:ext cx="8229600" cy="4525963"/>
          </a:xfrm>
        </p:spPr>
        <p:txBody>
          <a:bodyPr/>
          <a:lstStyle/>
          <a:p>
            <a:r>
              <a:rPr lang="zh-CN" altLang="zh-CN" sz="2800" b="1" dirty="0"/>
              <a:t>附录阅读材料：直流电机名词术语介绍</a:t>
            </a:r>
            <a:endParaRPr lang="en-US" altLang="zh-CN" sz="2800" b="1" dirty="0"/>
          </a:p>
          <a:p>
            <a:pPr marL="0" indent="0">
              <a:buNone/>
            </a:pPr>
            <a:r>
              <a:rPr lang="zh-CN" altLang="zh-CN" sz="2000" b="1" dirty="0"/>
              <a:t>（</a:t>
            </a:r>
            <a:r>
              <a:rPr lang="en-US" altLang="zh-CN" sz="2000" b="1" dirty="0"/>
              <a:t>1</a:t>
            </a:r>
            <a:r>
              <a:rPr lang="zh-CN" altLang="zh-CN" sz="2000" b="1" dirty="0"/>
              <a:t>）极轴线：磁极的中心线；</a:t>
            </a:r>
            <a:endParaRPr lang="zh-CN" altLang="zh-CN" sz="2000" dirty="0"/>
          </a:p>
          <a:p>
            <a:pPr marL="0" indent="0">
              <a:buNone/>
            </a:pPr>
            <a:r>
              <a:rPr lang="zh-CN" altLang="zh-CN" sz="2000" b="1" dirty="0"/>
              <a:t>（</a:t>
            </a:r>
            <a:r>
              <a:rPr lang="en-US" altLang="zh-CN" sz="2000" b="1" dirty="0"/>
              <a:t>2</a:t>
            </a:r>
            <a:r>
              <a:rPr lang="zh-CN" altLang="zh-CN" sz="2000" b="1" dirty="0"/>
              <a:t>）几何中性线：磁极之间的平分线，物理中性线：</a:t>
            </a:r>
            <a:r>
              <a:rPr lang="en-US" altLang="zh-CN" sz="2000" b="1" dirty="0"/>
              <a:t>B</a:t>
            </a:r>
            <a:r>
              <a:rPr lang="zh-CN" altLang="zh-CN" sz="2000" b="1" dirty="0"/>
              <a:t>＝</a:t>
            </a:r>
            <a:r>
              <a:rPr lang="en-US" altLang="zh-CN" sz="2000" b="1" dirty="0"/>
              <a:t>0</a:t>
            </a:r>
            <a:r>
              <a:rPr lang="zh-CN" altLang="zh-CN" sz="2000" b="1" dirty="0"/>
              <a:t>的直线；</a:t>
            </a:r>
            <a:endParaRPr lang="en-US" altLang="zh-CN" sz="2000" b="1" dirty="0"/>
          </a:p>
          <a:p>
            <a:pPr marL="0" indent="0">
              <a:buNone/>
            </a:pPr>
            <a:r>
              <a:rPr lang="zh-CN" altLang="en-US" sz="2000" b="1" dirty="0"/>
              <a:t>（</a:t>
            </a:r>
            <a:r>
              <a:rPr lang="en-US" altLang="zh-CN"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3</a:t>
            </a:r>
            <a:r>
              <a:rPr lang="zh-CN" altLang="en-US"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0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P </a:t>
            </a:r>
            <a:r>
              <a:rPr lang="en-US" altLang="zh-CN"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0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：极对数，</a:t>
            </a:r>
            <a:r>
              <a:rPr lang="en-US" altLang="zh-CN"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a:t>
            </a:r>
            <a:r>
              <a:rPr lang="zh-CN" altLang="en-US" sz="20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：由电刷和换向器连接的绕组并联回路对数；</a:t>
            </a:r>
            <a:endParaRPr lang="zh-CN" altLang="zh-CN" sz="2000" dirty="0"/>
          </a:p>
          <a:p>
            <a:pPr marL="0" indent="0">
              <a:buNone/>
            </a:pPr>
            <a:r>
              <a:rPr lang="zh-CN" altLang="en-US" sz="2000" b="1" dirty="0"/>
              <a:t>（</a:t>
            </a:r>
            <a:r>
              <a:rPr lang="en-US" altLang="zh-CN" sz="2000" b="1" dirty="0"/>
              <a:t>4</a:t>
            </a:r>
            <a:r>
              <a:rPr lang="zh-CN" altLang="zh-CN" sz="2000" b="1" dirty="0"/>
              <a:t>）</a:t>
            </a:r>
            <a:r>
              <a:rPr lang="en-US" altLang="zh-CN" sz="2000" b="1" dirty="0"/>
              <a:t>    </a:t>
            </a:r>
            <a:r>
              <a:rPr lang="zh-CN" altLang="zh-CN" sz="2000" b="1" dirty="0"/>
              <a:t>极距：在电枢铁心表面上，一个极所占的距离。可用槽数表示， </a:t>
            </a:r>
            <a:r>
              <a:rPr lang="az-Cyrl-AZ" altLang="zh-CN" sz="2000" b="1" dirty="0"/>
              <a:t>ԏ</a:t>
            </a:r>
            <a:r>
              <a:rPr lang="en-US" altLang="zh-CN" sz="2000" b="1" dirty="0"/>
              <a:t>=Z/P</a:t>
            </a:r>
            <a:r>
              <a:rPr lang="zh-CN" altLang="zh-CN" sz="2000" b="1" dirty="0"/>
              <a:t>，式中</a:t>
            </a:r>
            <a:r>
              <a:rPr lang="en-US" altLang="zh-CN" sz="2000" b="1" dirty="0"/>
              <a:t>Z</a:t>
            </a:r>
            <a:r>
              <a:rPr lang="zh-CN" altLang="zh-CN" sz="2000" b="1" dirty="0"/>
              <a:t>为电枢总槽数；</a:t>
            </a:r>
            <a:endParaRPr lang="en-US" altLang="zh-CN" sz="2000" b="1" dirty="0"/>
          </a:p>
          <a:p>
            <a:pPr marL="0" indent="0">
              <a:buNone/>
            </a:pPr>
            <a:r>
              <a:rPr lang="zh-CN" altLang="zh-CN" sz="2000" b="1" dirty="0"/>
              <a:t>（</a:t>
            </a:r>
            <a:r>
              <a:rPr lang="en-US" altLang="zh-CN" sz="2000" b="1" dirty="0"/>
              <a:t>5</a:t>
            </a:r>
            <a:r>
              <a:rPr lang="zh-CN" altLang="zh-CN" sz="2000" b="1" dirty="0"/>
              <a:t>）元件（线圈）：是绕组的一个基本单元，可为单匝，也可为多匝；</a:t>
            </a:r>
            <a:endParaRPr lang="en-US" altLang="zh-CN" sz="2000" b="1" dirty="0"/>
          </a:p>
          <a:p>
            <a:pPr marL="0" indent="0">
              <a:buNone/>
            </a:pPr>
            <a:r>
              <a:rPr lang="zh-CN" altLang="en-US" sz="2000" b="1" dirty="0"/>
              <a:t>（</a:t>
            </a:r>
            <a:r>
              <a:rPr lang="en-US" altLang="zh-CN" sz="2000" b="1" dirty="0"/>
              <a:t>6</a:t>
            </a:r>
            <a:r>
              <a:rPr lang="zh-CN" altLang="en-US" sz="2000" b="1" dirty="0"/>
              <a:t>）</a:t>
            </a:r>
            <a:r>
              <a:rPr lang="zh-CN" altLang="zh-CN" sz="2000" b="1" dirty="0"/>
              <a:t>元件节距 </a:t>
            </a:r>
            <a:r>
              <a:rPr lang="en-US" altLang="zh-CN" sz="2000" b="1" dirty="0"/>
              <a:t>Y1</a:t>
            </a:r>
            <a:r>
              <a:rPr lang="zh-CN" altLang="zh-CN" sz="2000" b="1" dirty="0"/>
              <a:t>（第一节距）：元件两条边的距离，以槽数计，总是整数</a:t>
            </a:r>
            <a:r>
              <a:rPr lang="en-US" altLang="zh-CN" sz="2000" b="1" dirty="0"/>
              <a:t>,                         </a:t>
            </a:r>
            <a:r>
              <a:rPr lang="zh-CN" altLang="zh-CN" sz="2000" b="1" dirty="0"/>
              <a:t>整数</a:t>
            </a:r>
            <a:r>
              <a:rPr lang="en-US" altLang="zh-CN" sz="2000" b="1" dirty="0"/>
              <a:t>     :</a:t>
            </a:r>
            <a:r>
              <a:rPr lang="zh-CN" altLang="zh-CN" sz="2000" b="1" dirty="0"/>
              <a:t>是使凑成整数的分数。</a:t>
            </a:r>
            <a:endParaRPr lang="en-US" altLang="zh-CN" sz="2000" b="1" dirty="0"/>
          </a:p>
          <a:p>
            <a:pPr marL="0" indent="0">
              <a:buNone/>
            </a:pPr>
            <a:endParaRPr lang="en-US" altLang="zh-CN" sz="2000" b="1" dirty="0"/>
          </a:p>
          <a:p>
            <a:pPr marL="0" indent="0">
              <a:buNone/>
            </a:pPr>
            <a:r>
              <a:rPr lang="zh-CN" altLang="zh-CN" sz="2000" b="1" dirty="0"/>
              <a:t>（</a:t>
            </a:r>
            <a:r>
              <a:rPr lang="en-US" altLang="zh-CN" sz="2000" b="1" dirty="0"/>
              <a:t>7</a:t>
            </a:r>
            <a:r>
              <a:rPr lang="zh-CN" altLang="zh-CN" sz="2000" b="1" dirty="0"/>
              <a:t>）合成节距 </a:t>
            </a:r>
            <a:r>
              <a:rPr lang="en-US" altLang="zh-CN" sz="2000" b="1" dirty="0"/>
              <a:t>Y</a:t>
            </a:r>
            <a:r>
              <a:rPr lang="zh-CN" altLang="zh-CN" sz="2000" b="1" dirty="0"/>
              <a:t>：相串联两个元件的对应边在电枢表面上的距离，称为合成节距，通常也用槽数来表示；</a:t>
            </a:r>
            <a:endParaRPr lang="en-US" altLang="zh-CN" sz="2000" b="1" dirty="0"/>
          </a:p>
          <a:p>
            <a:pPr marL="0" indent="0">
              <a:buNone/>
            </a:pPr>
            <a:r>
              <a:rPr lang="zh-CN" altLang="zh-CN" sz="2000" b="1" dirty="0"/>
              <a:t>（</a:t>
            </a:r>
            <a:r>
              <a:rPr lang="en-US" altLang="zh-CN" sz="2000" b="1" dirty="0"/>
              <a:t>8</a:t>
            </a:r>
            <a:r>
              <a:rPr lang="zh-CN" altLang="zh-CN" sz="2000" b="1" dirty="0"/>
              <a:t>）换向器节距</a:t>
            </a:r>
            <a:r>
              <a:rPr lang="en-US" altLang="zh-CN" sz="2000" b="1" dirty="0"/>
              <a:t>  </a:t>
            </a:r>
            <a:r>
              <a:rPr lang="en-US" altLang="zh-CN" sz="2000" b="1" dirty="0" err="1"/>
              <a:t>Yk</a:t>
            </a:r>
            <a:r>
              <a:rPr lang="en-US" altLang="zh-CN" sz="2000" b="1" dirty="0"/>
              <a:t>    </a:t>
            </a:r>
            <a:r>
              <a:rPr lang="zh-CN" altLang="zh-CN" sz="2000" b="1" dirty="0"/>
              <a:t>通常用换向片数</a:t>
            </a:r>
            <a:r>
              <a:rPr lang="en-US" altLang="zh-CN" sz="2000" b="1" dirty="0"/>
              <a:t>K</a:t>
            </a:r>
            <a:r>
              <a:rPr lang="zh-CN" altLang="zh-CN" sz="2000" b="1" dirty="0"/>
              <a:t>来表示。</a:t>
            </a:r>
            <a:endParaRPr lang="en-US" altLang="zh-CN" sz="2000" b="1" dirty="0"/>
          </a:p>
          <a:p>
            <a:pPr marL="0" indent="0">
              <a:buNone/>
            </a:pPr>
            <a:r>
              <a:rPr lang="zh-CN" altLang="zh-CN" sz="2000" b="1" dirty="0"/>
              <a:t>（</a:t>
            </a:r>
            <a:r>
              <a:rPr lang="en-US" altLang="zh-CN" sz="2000" b="1" dirty="0"/>
              <a:t>9</a:t>
            </a:r>
            <a:r>
              <a:rPr lang="zh-CN" altLang="zh-CN" sz="2000" b="1" dirty="0"/>
              <a:t>）有效导体：绕组元件链接主磁场的部分；</a:t>
            </a:r>
            <a:endParaRPr lang="zh-CN" altLang="zh-CN" sz="2000" dirty="0"/>
          </a:p>
          <a:p>
            <a:pPr marL="0" indent="0">
              <a:buNone/>
            </a:pPr>
            <a:endParaRPr lang="zh-CN" altLang="zh-CN" sz="2000" dirty="0"/>
          </a:p>
          <a:p>
            <a:pPr marL="0" indent="0">
              <a:buNone/>
            </a:pPr>
            <a:endParaRPr lang="zh-CN" altLang="zh-CN" sz="2000" dirty="0"/>
          </a:p>
          <a:p>
            <a:pPr marL="0" indent="0">
              <a:buNone/>
            </a:pPr>
            <a:endParaRPr lang="zh-CN" altLang="en-US" sz="2000" dirty="0"/>
          </a:p>
        </p:txBody>
      </p:sp>
      <p:graphicFrame>
        <p:nvGraphicFramePr>
          <p:cNvPr id="13" name="对象 12"/>
          <p:cNvGraphicFramePr>
            <a:graphicFrameLocks noChangeAspect="1"/>
          </p:cNvGraphicFramePr>
          <p:nvPr>
            <p:extLst>
              <p:ext uri="{D42A27DB-BD31-4B8C-83A1-F6EECF244321}">
                <p14:modId xmlns:p14="http://schemas.microsoft.com/office/powerpoint/2010/main" val="3002121712"/>
              </p:ext>
            </p:extLst>
          </p:nvPr>
        </p:nvGraphicFramePr>
        <p:xfrm>
          <a:off x="10750352" y="1125067"/>
          <a:ext cx="1114425" cy="968375"/>
        </p:xfrm>
        <a:graphic>
          <a:graphicData uri="http://schemas.openxmlformats.org/presentationml/2006/ole">
            <mc:AlternateContent xmlns:mc="http://schemas.openxmlformats.org/markup-compatibility/2006">
              <mc:Choice xmlns:v="urn:schemas-microsoft-com:vml" Requires="v">
                <p:oleObj name="公式" r:id="rId2" imgW="482391" imgH="418918" progId="Equation.3">
                  <p:embed/>
                </p:oleObj>
              </mc:Choice>
              <mc:Fallback>
                <p:oleObj name="公式" r:id="rId2" imgW="482391" imgH="418918" progId="Equation.3">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0352" y="1125067"/>
                        <a:ext cx="1114425" cy="968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330130930"/>
              </p:ext>
            </p:extLst>
          </p:nvPr>
        </p:nvGraphicFramePr>
        <p:xfrm>
          <a:off x="1429925" y="2780928"/>
          <a:ext cx="317178" cy="348433"/>
        </p:xfrm>
        <a:graphic>
          <a:graphicData uri="http://schemas.openxmlformats.org/presentationml/2006/ole">
            <mc:AlternateContent xmlns:mc="http://schemas.openxmlformats.org/markup-compatibility/2006">
              <mc:Choice xmlns:v="urn:schemas-microsoft-com:vml" Requires="v">
                <p:oleObj name="公式" r:id="rId4" imgW="126720" imgH="139680" progId="Equation.3">
                  <p:embed/>
                </p:oleObj>
              </mc:Choice>
              <mc:Fallback>
                <p:oleObj name="公式" r:id="rId4" imgW="126720" imgH="139680" progId="Equation.3">
                  <p:embed/>
                  <p:pic>
                    <p:nvPicPr>
                      <p:cNvPr id="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29925" y="2780928"/>
                        <a:ext cx="317178" cy="348433"/>
                      </a:xfrm>
                      <a:prstGeom prst="rect">
                        <a:avLst/>
                      </a:prstGeom>
                      <a:noFill/>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1218885372"/>
              </p:ext>
            </p:extLst>
          </p:nvPr>
        </p:nvGraphicFramePr>
        <p:xfrm>
          <a:off x="1588514" y="4041565"/>
          <a:ext cx="1184449" cy="598719"/>
        </p:xfrm>
        <a:graphic>
          <a:graphicData uri="http://schemas.openxmlformats.org/presentationml/2006/ole">
            <mc:AlternateContent xmlns:mc="http://schemas.openxmlformats.org/markup-compatibility/2006">
              <mc:Choice xmlns:v="urn:schemas-microsoft-com:vml" Requires="v">
                <p:oleObj name="公式" r:id="rId6" imgW="1180800" imgH="596880" progId="Equation.3">
                  <p:embed/>
                </p:oleObj>
              </mc:Choice>
              <mc:Fallback>
                <p:oleObj name="公式" r:id="rId6" imgW="1180800" imgH="596880" progId="Equation.3">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88514" y="4041565"/>
                        <a:ext cx="1184449" cy="598719"/>
                      </a:xfrm>
                      <a:prstGeom prst="rect">
                        <a:avLst/>
                      </a:prstGeom>
                      <a:noFill/>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1370643241"/>
              </p:ext>
            </p:extLst>
          </p:nvPr>
        </p:nvGraphicFramePr>
        <p:xfrm>
          <a:off x="3644430" y="4057977"/>
          <a:ext cx="320353" cy="353104"/>
        </p:xfrm>
        <a:graphic>
          <a:graphicData uri="http://schemas.openxmlformats.org/presentationml/2006/ole">
            <mc:AlternateContent xmlns:mc="http://schemas.openxmlformats.org/markup-compatibility/2006">
              <mc:Choice xmlns:v="urn:schemas-microsoft-com:vml" Requires="v">
                <p:oleObj name="公式" r:id="rId8" imgW="126720" imgH="139680" progId="Equation.3">
                  <p:embed/>
                </p:oleObj>
              </mc:Choice>
              <mc:Fallback>
                <p:oleObj name="公式" r:id="rId8" imgW="126720" imgH="139680" progId="Equation.3">
                  <p:embed/>
                  <p:pic>
                    <p:nvPicPr>
                      <p:cNvPr id="0" name="Object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44430" y="4057977"/>
                        <a:ext cx="320353" cy="353104"/>
                      </a:xfrm>
                      <a:prstGeom prst="rect">
                        <a:avLst/>
                      </a:prstGeom>
                      <a:noFill/>
                    </p:spPr>
                  </p:pic>
                </p:oleObj>
              </mc:Fallback>
            </mc:AlternateContent>
          </a:graphicData>
        </a:graphic>
      </p:graphicFrame>
      <p:sp>
        <p:nvSpPr>
          <p:cNvPr id="7" name="日期占位符 6">
            <a:extLst>
              <a:ext uri="{FF2B5EF4-FFF2-40B4-BE49-F238E27FC236}">
                <a16:creationId xmlns:a16="http://schemas.microsoft.com/office/drawing/2014/main" id="{BBAA2B15-53DB-4A3C-63FA-DE92BCA2744C}"/>
              </a:ext>
            </a:extLst>
          </p:cNvPr>
          <p:cNvSpPr>
            <a:spLocks noGrp="1"/>
          </p:cNvSpPr>
          <p:nvPr>
            <p:ph type="dt" sz="half" idx="10"/>
          </p:nvPr>
        </p:nvSpPr>
        <p:spPr/>
        <p:txBody>
          <a:bodyPr/>
          <a:lstStyle/>
          <a:p>
            <a:fld id="{BB3A7A3A-EC17-457F-BCFD-6009050C4E71}" type="datetime10">
              <a:rPr lang="en-US" altLang="zh-CN" smtClean="0"/>
              <a:t>16:53</a:t>
            </a:fld>
            <a:endParaRPr lang="en-US" altLang="zh-CN"/>
          </a:p>
        </p:txBody>
      </p:sp>
      <p:sp>
        <p:nvSpPr>
          <p:cNvPr id="8" name="灯片编号占位符 7">
            <a:extLst>
              <a:ext uri="{FF2B5EF4-FFF2-40B4-BE49-F238E27FC236}">
                <a16:creationId xmlns:a16="http://schemas.microsoft.com/office/drawing/2014/main" id="{B801D3A7-8D4E-FAF0-28F3-AB79C055BA4A}"/>
              </a:ext>
            </a:extLst>
          </p:cNvPr>
          <p:cNvSpPr>
            <a:spLocks noGrp="1"/>
          </p:cNvSpPr>
          <p:nvPr>
            <p:ph type="sldNum" sz="quarter" idx="12"/>
          </p:nvPr>
        </p:nvSpPr>
        <p:spPr/>
        <p:txBody>
          <a:bodyPr/>
          <a:lstStyle/>
          <a:p>
            <a:fld id="{B73B34B3-1432-4053-90C7-E0228297BE5F}" type="slidenum">
              <a:rPr lang="en-US" altLang="zh-CN" smtClean="0"/>
              <a:pPr/>
              <a:t>52</a:t>
            </a:fld>
            <a:endParaRPr lang="en-US" altLang="zh-CN"/>
          </a:p>
        </p:txBody>
      </p:sp>
    </p:spTree>
    <p:extLst>
      <p:ext uri="{BB962C8B-B14F-4D97-AF65-F5344CB8AC3E}">
        <p14:creationId xmlns:p14="http://schemas.microsoft.com/office/powerpoint/2010/main" val="16952239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836712"/>
            <a:ext cx="8229600" cy="562074"/>
          </a:xfrm>
        </p:spPr>
        <p:txBody>
          <a:bodyPr/>
          <a:lstStyle/>
          <a:p>
            <a:r>
              <a:rPr lang="zh-CN" altLang="en-US" sz="3200" dirty="0"/>
              <a:t>五</a:t>
            </a:r>
            <a:r>
              <a:rPr lang="zh-CN" altLang="zh-CN" sz="3200" dirty="0"/>
              <a:t>、</a:t>
            </a:r>
            <a:r>
              <a:rPr lang="zh-CN" altLang="zh-CN" sz="3200" b="1" dirty="0"/>
              <a:t>励磁方式及电枢供电电路</a:t>
            </a:r>
            <a:endParaRPr lang="zh-CN" altLang="en-US" sz="3200" dirty="0"/>
          </a:p>
        </p:txBody>
      </p:sp>
      <p:sp>
        <p:nvSpPr>
          <p:cNvPr id="4" name="Rectangle 2"/>
          <p:cNvSpPr>
            <a:spLocks noChangeArrowheads="1"/>
          </p:cNvSpPr>
          <p:nvPr/>
        </p:nvSpPr>
        <p:spPr bwMode="auto">
          <a:xfrm>
            <a:off x="4932040" y="170080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915245941"/>
              </p:ext>
            </p:extLst>
          </p:nvPr>
        </p:nvGraphicFramePr>
        <p:xfrm>
          <a:off x="1736032" y="1556792"/>
          <a:ext cx="5260575" cy="5190381"/>
        </p:xfrm>
        <a:graphic>
          <a:graphicData uri="http://schemas.openxmlformats.org/presentationml/2006/ole">
            <mc:AlternateContent xmlns:mc="http://schemas.openxmlformats.org/markup-compatibility/2006">
              <mc:Choice xmlns:v="urn:schemas-microsoft-com:vml" Requires="v">
                <p:oleObj r:id="rId2" imgW="6435725" imgH="6415088" progId="MSDraw">
                  <p:embed/>
                </p:oleObj>
              </mc:Choice>
              <mc:Fallback>
                <p:oleObj r:id="rId2" imgW="6435725" imgH="6415088" progId="MSDraw">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6032" y="1556792"/>
                        <a:ext cx="5260575" cy="5190381"/>
                      </a:xfrm>
                      <a:prstGeom prst="rect">
                        <a:avLst/>
                      </a:prstGeom>
                      <a:noFill/>
                    </p:spPr>
                  </p:pic>
                </p:oleObj>
              </mc:Fallback>
            </mc:AlternateContent>
          </a:graphicData>
        </a:graphic>
      </p:graphicFrame>
      <p:sp>
        <p:nvSpPr>
          <p:cNvPr id="9" name="日期占位符 8">
            <a:extLst>
              <a:ext uri="{FF2B5EF4-FFF2-40B4-BE49-F238E27FC236}">
                <a16:creationId xmlns:a16="http://schemas.microsoft.com/office/drawing/2014/main" id="{7412C48E-3F36-94E8-A461-57CAC0613F3E}"/>
              </a:ext>
            </a:extLst>
          </p:cNvPr>
          <p:cNvSpPr>
            <a:spLocks noGrp="1"/>
          </p:cNvSpPr>
          <p:nvPr>
            <p:ph type="dt" sz="half" idx="10"/>
          </p:nvPr>
        </p:nvSpPr>
        <p:spPr/>
        <p:txBody>
          <a:bodyPr/>
          <a:lstStyle/>
          <a:p>
            <a:fld id="{8D15D105-F218-42D5-8358-30EEFB8177D1}" type="datetime10">
              <a:rPr lang="en-US" altLang="zh-CN" smtClean="0"/>
              <a:t>16:53</a:t>
            </a:fld>
            <a:endParaRPr lang="en-US" altLang="zh-CN"/>
          </a:p>
        </p:txBody>
      </p:sp>
      <p:sp>
        <p:nvSpPr>
          <p:cNvPr id="10" name="灯片编号占位符 9">
            <a:extLst>
              <a:ext uri="{FF2B5EF4-FFF2-40B4-BE49-F238E27FC236}">
                <a16:creationId xmlns:a16="http://schemas.microsoft.com/office/drawing/2014/main" id="{9D314B96-9C74-2F42-98CD-471F1BF2AA1A}"/>
              </a:ext>
            </a:extLst>
          </p:cNvPr>
          <p:cNvSpPr>
            <a:spLocks noGrp="1"/>
          </p:cNvSpPr>
          <p:nvPr>
            <p:ph type="sldNum" sz="quarter" idx="12"/>
          </p:nvPr>
        </p:nvSpPr>
        <p:spPr/>
        <p:txBody>
          <a:bodyPr/>
          <a:lstStyle/>
          <a:p>
            <a:fld id="{B73B34B3-1432-4053-90C7-E0228297BE5F}" type="slidenum">
              <a:rPr lang="en-US" altLang="zh-CN" smtClean="0"/>
              <a:pPr/>
              <a:t>53</a:t>
            </a:fld>
            <a:endParaRPr lang="en-US" altLang="zh-CN"/>
          </a:p>
        </p:txBody>
      </p:sp>
    </p:spTree>
    <p:extLst>
      <p:ext uri="{BB962C8B-B14F-4D97-AF65-F5344CB8AC3E}">
        <p14:creationId xmlns:p14="http://schemas.microsoft.com/office/powerpoint/2010/main" val="39386623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764704"/>
            <a:ext cx="8229600" cy="562074"/>
          </a:xfrm>
        </p:spPr>
        <p:txBody>
          <a:bodyPr/>
          <a:lstStyle/>
          <a:p>
            <a:r>
              <a:rPr lang="zh-CN" altLang="en-US" sz="3200" b="1" dirty="0">
                <a:solidFill>
                  <a:srgbClr val="0000CC"/>
                </a:solidFill>
              </a:rPr>
              <a:t>概念回顾</a:t>
            </a:r>
          </a:p>
        </p:txBody>
      </p:sp>
      <p:sp>
        <p:nvSpPr>
          <p:cNvPr id="3" name="内容占位符 2"/>
          <p:cNvSpPr>
            <a:spLocks noGrp="1"/>
          </p:cNvSpPr>
          <p:nvPr>
            <p:ph idx="1"/>
          </p:nvPr>
        </p:nvSpPr>
        <p:spPr>
          <a:xfrm>
            <a:off x="467544" y="1359280"/>
            <a:ext cx="8229600" cy="4525963"/>
          </a:xfrm>
        </p:spPr>
        <p:txBody>
          <a:bodyPr/>
          <a:lstStyle/>
          <a:p>
            <a:r>
              <a:rPr lang="zh-CN" altLang="zh-CN" sz="2400" b="1" dirty="0">
                <a:solidFill>
                  <a:srgbClr val="C00000"/>
                </a:solidFill>
              </a:rPr>
              <a:t>空载磁场：</a:t>
            </a:r>
            <a:r>
              <a:rPr lang="zh-CN" altLang="zh-CN" sz="2400" b="1" dirty="0"/>
              <a:t>发电机出线端没有电流输出，电动机轴上不带机械负载，即电枢电流为零的状态。这时的气隙磁场，只由主极的励磁电流所建立，所以直流电机空载时的气隙磁场，又称励磁磁场。</a:t>
            </a:r>
            <a:endParaRPr lang="zh-CN" altLang="zh-CN" sz="2400" dirty="0"/>
          </a:p>
          <a:p>
            <a:r>
              <a:rPr lang="zh-CN" altLang="zh-CN" sz="2400" b="1" dirty="0">
                <a:solidFill>
                  <a:srgbClr val="C00000"/>
                </a:solidFill>
              </a:rPr>
              <a:t>主磁通：</a:t>
            </a:r>
            <a:r>
              <a:rPr lang="zh-CN" altLang="zh-CN" sz="2400" b="1" dirty="0"/>
              <a:t>经过主磁极、气隙、电枢铁心及机座构成磁回路。它同时与励磁绕组及电枢绕组交链，能在电枢绕组中感应电动势和产生电磁转矩，称为主磁通， </a:t>
            </a:r>
            <a:endParaRPr lang="zh-CN" altLang="zh-CN" sz="2400" dirty="0"/>
          </a:p>
          <a:p>
            <a:r>
              <a:rPr lang="zh-CN" altLang="zh-CN" sz="2400" b="1" dirty="0">
                <a:solidFill>
                  <a:srgbClr val="C00000"/>
                </a:solidFill>
              </a:rPr>
              <a:t>漏磁通：</a:t>
            </a:r>
            <a:r>
              <a:rPr lang="zh-CN" altLang="zh-CN" sz="2400" b="1" dirty="0"/>
              <a:t>仅交链励磁绕组本身，不进入电枢铁心，不和电枢绕组相交链，不能在电枢绕组中感应电动势及产生电磁转矩，称为漏磁通。</a:t>
            </a:r>
            <a:endParaRPr lang="zh-CN" altLang="zh-CN" sz="2400" dirty="0"/>
          </a:p>
          <a:p>
            <a:r>
              <a:rPr lang="zh-CN" altLang="zh-CN" sz="2400" b="1" dirty="0">
                <a:solidFill>
                  <a:srgbClr val="C00000"/>
                </a:solidFill>
              </a:rPr>
              <a:t>磁滞损耗：</a:t>
            </a:r>
            <a:r>
              <a:rPr lang="zh-CN" altLang="zh-CN" sz="2400" b="1" dirty="0"/>
              <a:t>在加至铁芯的每个交流电流周期中使磁畴完成重新定向所消耗的能量。（磁化损耗）。</a:t>
            </a:r>
            <a:endParaRPr lang="zh-CN" altLang="zh-CN" sz="2400" dirty="0"/>
          </a:p>
          <a:p>
            <a:r>
              <a:rPr lang="zh-CN" altLang="zh-CN" sz="2400" b="1" dirty="0">
                <a:solidFill>
                  <a:srgbClr val="C00000"/>
                </a:solidFill>
              </a:rPr>
              <a:t>涡流损耗：</a:t>
            </a:r>
            <a:r>
              <a:rPr lang="zh-CN" altLang="zh-CN" sz="2400" b="1" dirty="0"/>
              <a:t>感应电势产生</a:t>
            </a:r>
            <a:r>
              <a:rPr lang="zh-CN" altLang="zh-CN" sz="2400" dirty="0"/>
              <a:t>涡流流过具有电阻的铁芯，产生的能量损耗。</a:t>
            </a:r>
          </a:p>
          <a:p>
            <a:endParaRPr lang="zh-CN" altLang="en-US" dirty="0"/>
          </a:p>
        </p:txBody>
      </p:sp>
      <p:sp>
        <p:nvSpPr>
          <p:cNvPr id="8" name="日期占位符 7">
            <a:extLst>
              <a:ext uri="{FF2B5EF4-FFF2-40B4-BE49-F238E27FC236}">
                <a16:creationId xmlns:a16="http://schemas.microsoft.com/office/drawing/2014/main" id="{C6CAAE84-43C1-8B04-6C5D-51B54C62DBBC}"/>
              </a:ext>
            </a:extLst>
          </p:cNvPr>
          <p:cNvSpPr>
            <a:spLocks noGrp="1"/>
          </p:cNvSpPr>
          <p:nvPr>
            <p:ph type="dt" sz="half" idx="10"/>
          </p:nvPr>
        </p:nvSpPr>
        <p:spPr/>
        <p:txBody>
          <a:bodyPr/>
          <a:lstStyle/>
          <a:p>
            <a:fld id="{487AE60E-9DF2-4ECD-B181-064C501A498C}" type="datetime10">
              <a:rPr lang="en-US" altLang="zh-CN" smtClean="0"/>
              <a:t>16:53</a:t>
            </a:fld>
            <a:endParaRPr lang="en-US" altLang="zh-CN"/>
          </a:p>
        </p:txBody>
      </p:sp>
      <p:sp>
        <p:nvSpPr>
          <p:cNvPr id="9" name="灯片编号占位符 8">
            <a:extLst>
              <a:ext uri="{FF2B5EF4-FFF2-40B4-BE49-F238E27FC236}">
                <a16:creationId xmlns:a16="http://schemas.microsoft.com/office/drawing/2014/main" id="{FEFD1F9A-4A38-98C6-25A8-0DB0FC8225B3}"/>
              </a:ext>
            </a:extLst>
          </p:cNvPr>
          <p:cNvSpPr>
            <a:spLocks noGrp="1"/>
          </p:cNvSpPr>
          <p:nvPr>
            <p:ph type="sldNum" sz="quarter" idx="12"/>
          </p:nvPr>
        </p:nvSpPr>
        <p:spPr/>
        <p:txBody>
          <a:bodyPr/>
          <a:lstStyle/>
          <a:p>
            <a:fld id="{B73B34B3-1432-4053-90C7-E0228297BE5F}" type="slidenum">
              <a:rPr lang="en-US" altLang="zh-CN" smtClean="0"/>
              <a:pPr/>
              <a:t>54</a:t>
            </a:fld>
            <a:endParaRPr lang="en-US" altLang="zh-CN"/>
          </a:p>
        </p:txBody>
      </p:sp>
    </p:spTree>
    <p:extLst>
      <p:ext uri="{BB962C8B-B14F-4D97-AF65-F5344CB8AC3E}">
        <p14:creationId xmlns:p14="http://schemas.microsoft.com/office/powerpoint/2010/main" val="11177993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836712"/>
            <a:ext cx="8229600" cy="634082"/>
          </a:xfrm>
        </p:spPr>
        <p:txBody>
          <a:bodyPr/>
          <a:lstStyle/>
          <a:p>
            <a:r>
              <a:rPr lang="zh-CN" altLang="zh-CN" sz="3600" b="1" dirty="0"/>
              <a:t>§</a:t>
            </a:r>
            <a:r>
              <a:rPr lang="en-US" altLang="zh-CN" sz="3600" b="1" dirty="0"/>
              <a:t>2-3 </a:t>
            </a:r>
            <a:r>
              <a:rPr lang="zh-CN" altLang="zh-CN" sz="3600" b="1" dirty="0"/>
              <a:t>电磁转矩与电枢电动势</a:t>
            </a:r>
            <a:endParaRPr lang="zh-CN" altLang="en-US" sz="3600" dirty="0"/>
          </a:p>
        </p:txBody>
      </p:sp>
      <p:sp>
        <p:nvSpPr>
          <p:cNvPr id="3" name="内容占位符 2"/>
          <p:cNvSpPr>
            <a:spLocks noGrp="1"/>
          </p:cNvSpPr>
          <p:nvPr>
            <p:ph idx="1"/>
          </p:nvPr>
        </p:nvSpPr>
        <p:spPr>
          <a:xfrm>
            <a:off x="457200" y="4374645"/>
            <a:ext cx="8229600" cy="2620888"/>
          </a:xfrm>
        </p:spPr>
        <p:txBody>
          <a:bodyPr/>
          <a:lstStyle/>
          <a:p>
            <a:pPr marL="0" indent="0">
              <a:buNone/>
            </a:pPr>
            <a:r>
              <a:rPr lang="zh-CN" altLang="en-US" sz="2800" dirty="0">
                <a:solidFill>
                  <a:srgbClr val="FF0000"/>
                </a:solidFill>
              </a:rPr>
              <a:t>问题：</a:t>
            </a:r>
            <a:r>
              <a:rPr lang="zh-CN" altLang="zh-CN" sz="2800" dirty="0">
                <a:solidFill>
                  <a:srgbClr val="FF0000"/>
                </a:solidFill>
              </a:rPr>
              <a:t>怎样对电机建模？重要的逻辑概念关系与认知步骤，精确简明的数学模型表达。</a:t>
            </a:r>
          </a:p>
          <a:p>
            <a:pPr lvl="0"/>
            <a:r>
              <a:rPr lang="zh-CN" altLang="zh-CN" sz="2800" dirty="0">
                <a:solidFill>
                  <a:srgbClr val="FF0000"/>
                </a:solidFill>
              </a:rPr>
              <a:t>能量转换关系的表达</a:t>
            </a:r>
          </a:p>
          <a:p>
            <a:pPr lvl="0"/>
            <a:r>
              <a:rPr lang="zh-CN" altLang="zh-CN" sz="2800" dirty="0">
                <a:solidFill>
                  <a:srgbClr val="FF0000"/>
                </a:solidFill>
              </a:rPr>
              <a:t>运行平衡关系的表达</a:t>
            </a:r>
          </a:p>
          <a:p>
            <a:pPr lvl="0"/>
            <a:r>
              <a:rPr lang="zh-CN" altLang="zh-CN" sz="2800" dirty="0">
                <a:solidFill>
                  <a:srgbClr val="FF0000"/>
                </a:solidFill>
              </a:rPr>
              <a:t>功率转换过程的表达</a:t>
            </a:r>
          </a:p>
          <a:p>
            <a:endParaRPr lang="zh-CN" altLang="en-US" dirty="0"/>
          </a:p>
        </p:txBody>
      </p:sp>
      <p:sp>
        <p:nvSpPr>
          <p:cNvPr id="4" name="Rectangle 2"/>
          <p:cNvSpPr>
            <a:spLocks noChangeArrowheads="1"/>
          </p:cNvSpPr>
          <p:nvPr/>
        </p:nvSpPr>
        <p:spPr bwMode="auto">
          <a:xfrm>
            <a:off x="0" y="1268627"/>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926152041"/>
              </p:ext>
            </p:extLst>
          </p:nvPr>
        </p:nvGraphicFramePr>
        <p:xfrm>
          <a:off x="755576" y="1490712"/>
          <a:ext cx="6600825" cy="2857500"/>
        </p:xfrm>
        <a:graphic>
          <a:graphicData uri="http://schemas.openxmlformats.org/presentationml/2006/ole">
            <mc:AlternateContent xmlns:mc="http://schemas.openxmlformats.org/markup-compatibility/2006">
              <mc:Choice xmlns:v="urn:schemas-microsoft-com:vml" Requires="v">
                <p:oleObj r:id="rId2" imgW="3616325" imgH="1565275" progId="MSDraw">
                  <p:embed/>
                </p:oleObj>
              </mc:Choice>
              <mc:Fallback>
                <p:oleObj r:id="rId2" imgW="3616325" imgH="1565275" progId="MSDraw">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1490712"/>
                        <a:ext cx="6600825" cy="285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日期占位符 9">
            <a:extLst>
              <a:ext uri="{FF2B5EF4-FFF2-40B4-BE49-F238E27FC236}">
                <a16:creationId xmlns:a16="http://schemas.microsoft.com/office/drawing/2014/main" id="{C0DB6BE5-7BFD-904B-B0D1-C68D32D85969}"/>
              </a:ext>
            </a:extLst>
          </p:cNvPr>
          <p:cNvSpPr>
            <a:spLocks noGrp="1"/>
          </p:cNvSpPr>
          <p:nvPr>
            <p:ph type="dt" sz="half" idx="10"/>
          </p:nvPr>
        </p:nvSpPr>
        <p:spPr/>
        <p:txBody>
          <a:bodyPr/>
          <a:lstStyle/>
          <a:p>
            <a:fld id="{6195C38C-C593-4CFB-93CE-725C5B553CAA}" type="datetime10">
              <a:rPr lang="en-US" altLang="zh-CN" smtClean="0"/>
              <a:t>16:53</a:t>
            </a:fld>
            <a:endParaRPr lang="en-US" altLang="zh-CN"/>
          </a:p>
        </p:txBody>
      </p:sp>
      <p:sp>
        <p:nvSpPr>
          <p:cNvPr id="11" name="灯片编号占位符 10">
            <a:extLst>
              <a:ext uri="{FF2B5EF4-FFF2-40B4-BE49-F238E27FC236}">
                <a16:creationId xmlns:a16="http://schemas.microsoft.com/office/drawing/2014/main" id="{D3ED2787-0F01-3A7D-BF9F-18E6182544B1}"/>
              </a:ext>
            </a:extLst>
          </p:cNvPr>
          <p:cNvSpPr>
            <a:spLocks noGrp="1"/>
          </p:cNvSpPr>
          <p:nvPr>
            <p:ph type="sldNum" sz="quarter" idx="12"/>
          </p:nvPr>
        </p:nvSpPr>
        <p:spPr/>
        <p:txBody>
          <a:bodyPr/>
          <a:lstStyle/>
          <a:p>
            <a:fld id="{B73B34B3-1432-4053-90C7-E0228297BE5F}" type="slidenum">
              <a:rPr lang="en-US" altLang="zh-CN" smtClean="0"/>
              <a:pPr/>
              <a:t>55</a:t>
            </a:fld>
            <a:endParaRPr lang="en-US" altLang="zh-CN"/>
          </a:p>
        </p:txBody>
      </p:sp>
    </p:spTree>
    <p:extLst>
      <p:ext uri="{BB962C8B-B14F-4D97-AF65-F5344CB8AC3E}">
        <p14:creationId xmlns:p14="http://schemas.microsoft.com/office/powerpoint/2010/main" val="39629977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4" name="对象 3"/>
          <p:cNvGraphicFramePr>
            <a:graphicFrameLocks noChangeAspect="1"/>
          </p:cNvGraphicFramePr>
          <p:nvPr>
            <p:extLst>
              <p:ext uri="{D42A27DB-BD31-4B8C-83A1-F6EECF244321}">
                <p14:modId xmlns:p14="http://schemas.microsoft.com/office/powerpoint/2010/main" val="3271076634"/>
              </p:ext>
            </p:extLst>
          </p:nvPr>
        </p:nvGraphicFramePr>
        <p:xfrm>
          <a:off x="2991818" y="1019472"/>
          <a:ext cx="600075" cy="514350"/>
        </p:xfrm>
        <a:graphic>
          <a:graphicData uri="http://schemas.openxmlformats.org/presentationml/2006/ole">
            <mc:AlternateContent xmlns:mc="http://schemas.openxmlformats.org/markup-compatibility/2006">
              <mc:Choice xmlns:v="urn:schemas-microsoft-com:vml" Requires="v">
                <p:oleObj name="公式" r:id="rId2" imgW="253890" imgH="228501" progId="Equation.3">
                  <p:embed/>
                </p:oleObj>
              </mc:Choice>
              <mc:Fallback>
                <p:oleObj name="公式" r:id="rId2" imgW="253890" imgH="228501"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1818" y="1019472"/>
                        <a:ext cx="600075" cy="514350"/>
                      </a:xfrm>
                      <a:prstGeom prst="rect">
                        <a:avLst/>
                      </a:prstGeom>
                      <a:solidFill>
                        <a:srgbClr val="FFFFFF"/>
                      </a:solid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464106094"/>
              </p:ext>
            </p:extLst>
          </p:nvPr>
        </p:nvGraphicFramePr>
        <p:xfrm>
          <a:off x="7263280" y="3537151"/>
          <a:ext cx="1857375" cy="1381125"/>
        </p:xfrm>
        <a:graphic>
          <a:graphicData uri="http://schemas.openxmlformats.org/presentationml/2006/ole">
            <mc:AlternateContent xmlns:mc="http://schemas.openxmlformats.org/markup-compatibility/2006">
              <mc:Choice xmlns:v="urn:schemas-microsoft-com:vml" Requires="v">
                <p:oleObj name="公式" r:id="rId4" imgW="787058" imgH="583947" progId="Equation.3">
                  <p:embed/>
                </p:oleObj>
              </mc:Choice>
              <mc:Fallback>
                <p:oleObj name="公式" r:id="rId4" imgW="787058" imgH="583947"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63280" y="3537151"/>
                        <a:ext cx="1857375" cy="1381125"/>
                      </a:xfrm>
                      <a:prstGeom prst="rect">
                        <a:avLst/>
                      </a:prstGeom>
                      <a:solidFill>
                        <a:srgbClr val="FFFFFF"/>
                      </a:solid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044018668"/>
              </p:ext>
            </p:extLst>
          </p:nvPr>
        </p:nvGraphicFramePr>
        <p:xfrm>
          <a:off x="6128865" y="4898764"/>
          <a:ext cx="1962150" cy="600075"/>
        </p:xfrm>
        <a:graphic>
          <a:graphicData uri="http://schemas.openxmlformats.org/presentationml/2006/ole">
            <mc:AlternateContent xmlns:mc="http://schemas.openxmlformats.org/markup-compatibility/2006">
              <mc:Choice xmlns:v="urn:schemas-microsoft-com:vml" Requires="v">
                <p:oleObj name="公式" r:id="rId6" imgW="749300" imgH="228600" progId="Equation.3">
                  <p:embed/>
                </p:oleObj>
              </mc:Choice>
              <mc:Fallback>
                <p:oleObj name="公式" r:id="rId6" imgW="749300" imgH="228600" progId="Equation.3">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28865" y="4898764"/>
                        <a:ext cx="1962150" cy="600075"/>
                      </a:xfrm>
                      <a:prstGeom prst="rect">
                        <a:avLst/>
                      </a:prstGeom>
                      <a:solidFill>
                        <a:srgbClr val="FFFFFF"/>
                      </a:solidFill>
                    </p:spPr>
                  </p:pic>
                </p:oleObj>
              </mc:Fallback>
            </mc:AlternateContent>
          </a:graphicData>
        </a:graphic>
      </p:graphicFrame>
      <p:sp>
        <p:nvSpPr>
          <p:cNvPr id="7" name="Rectangle 4"/>
          <p:cNvSpPr>
            <a:spLocks noChangeArrowheads="1"/>
          </p:cNvSpPr>
          <p:nvPr/>
        </p:nvSpPr>
        <p:spPr bwMode="auto">
          <a:xfrm>
            <a:off x="862680" y="1053013"/>
            <a:ext cx="21178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一、</a:t>
            </a:r>
            <a:r>
              <a:rPr kumimoji="0" 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电磁转矩</a:t>
            </a:r>
            <a:r>
              <a:rPr kumimoji="0" lang="zh-CN" sz="2400" b="0" i="0" u="none" strike="noStrike" cap="none" normalizeH="0" baseline="0" dirty="0">
                <a:ln>
                  <a:noFill/>
                </a:ln>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8" name="Rectangle 5"/>
          <p:cNvSpPr>
            <a:spLocks noChangeArrowheads="1"/>
          </p:cNvSpPr>
          <p:nvPr/>
        </p:nvSpPr>
        <p:spPr bwMode="auto">
          <a:xfrm>
            <a:off x="862680" y="1847941"/>
            <a:ext cx="6348213"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rgbClr val="333399"/>
                </a:solidFill>
                <a:effectLst/>
                <a:latin typeface="黑体" panose="02010609060101010101" pitchFamily="49" charset="-122"/>
                <a:ea typeface="黑体" panose="02010609060101010101" pitchFamily="49" charset="-122"/>
                <a:cs typeface="Times New Roman" panose="02020603050405020304" pitchFamily="18" charset="0"/>
              </a:rPr>
              <a:t>分析的思路</a:t>
            </a: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B(x)</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是</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x</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的函数</a:t>
            </a:r>
            <a:endParaRPr kumimoji="0" lang="zh-CN"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en-US" altLang="zh-CN" sz="2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zh-CN" sz="2400" dirty="0">
                <a:solidFill>
                  <a:srgbClr val="000000"/>
                </a:solidFill>
                <a:latin typeface="宋体" panose="02010600030101010101" pitchFamily="2" charset="-122"/>
                <a:cs typeface="Times New Roman" panose="02020603050405020304" pitchFamily="18" charset="0"/>
              </a:rPr>
              <a:t>  </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→某</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一根</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导体的</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T(x)</a:t>
            </a:r>
            <a:endParaRPr kumimoji="0" lang="en-US" alt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zh-CN" sz="2400" dirty="0">
                <a:solidFill>
                  <a:srgbClr val="000000"/>
                </a:solidFill>
                <a:latin typeface="宋体" panose="02010600030101010101" pitchFamily="2" charset="-122"/>
                <a:cs typeface="Times New Roman" panose="02020603050405020304" pitchFamily="18" charset="0"/>
              </a:rPr>
              <a:t>  </a:t>
            </a: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1"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dx</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弧长内</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导体所建立的</a:t>
            </a:r>
            <a:r>
              <a:rPr kumimoji="0" lang="en-US" altLang="zh-CN" sz="2400" b="0" i="0" u="none" strike="noStrike" cap="none" normalizeH="0" baseline="0" dirty="0" err="1">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dT</a:t>
            </a:r>
            <a:endParaRPr kumimoji="0" lang="en-US" alt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zh-CN" sz="2400" dirty="0">
                <a:solidFill>
                  <a:srgbClr val="000000"/>
                </a:solidFill>
                <a:latin typeface="宋体" panose="02010600030101010101" pitchFamily="2" charset="-122"/>
                <a:cs typeface="Times New Roman" panose="02020603050405020304" pitchFamily="18" charset="0"/>
              </a:rPr>
              <a:t>  </a:t>
            </a: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一个极距上</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的所有导体所建立的电磁转矩</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6"/>
          <p:cNvSpPr>
            <a:spLocks noChangeArrowheads="1"/>
          </p:cNvSpPr>
          <p:nvPr/>
        </p:nvSpPr>
        <p:spPr bwMode="auto">
          <a:xfrm>
            <a:off x="862680" y="4502778"/>
            <a:ext cx="526618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zh-CN" sz="2400" dirty="0">
                <a:solidFill>
                  <a:srgbClr val="000000"/>
                </a:solidFill>
                <a:latin typeface="宋体" panose="02010600030101010101" pitchFamily="2" charset="-122"/>
                <a:cs typeface="Times New Roman" panose="02020603050405020304" pitchFamily="18" charset="0"/>
              </a:rPr>
              <a:t>  </a:t>
            </a: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电枢</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全部</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导体所建立的电磁转矩</a:t>
            </a:r>
            <a:r>
              <a:rPr kumimoji="0" lang="zh-CN" altLang="en-US" sz="2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3" name="日期占位符 12">
            <a:extLst>
              <a:ext uri="{FF2B5EF4-FFF2-40B4-BE49-F238E27FC236}">
                <a16:creationId xmlns:a16="http://schemas.microsoft.com/office/drawing/2014/main" id="{989902AD-A417-B481-F2B0-EFE7966F3B26}"/>
              </a:ext>
            </a:extLst>
          </p:cNvPr>
          <p:cNvSpPr>
            <a:spLocks noGrp="1"/>
          </p:cNvSpPr>
          <p:nvPr>
            <p:ph type="dt" sz="half" idx="10"/>
          </p:nvPr>
        </p:nvSpPr>
        <p:spPr/>
        <p:txBody>
          <a:bodyPr/>
          <a:lstStyle/>
          <a:p>
            <a:fld id="{399E98B2-7C9C-4814-83DB-A4BB1F4C5EBB}" type="datetime10">
              <a:rPr lang="en-US" altLang="zh-CN" smtClean="0"/>
              <a:t>16:53</a:t>
            </a:fld>
            <a:endParaRPr lang="en-US" altLang="zh-CN"/>
          </a:p>
        </p:txBody>
      </p:sp>
      <p:sp>
        <p:nvSpPr>
          <p:cNvPr id="14" name="灯片编号占位符 13">
            <a:extLst>
              <a:ext uri="{FF2B5EF4-FFF2-40B4-BE49-F238E27FC236}">
                <a16:creationId xmlns:a16="http://schemas.microsoft.com/office/drawing/2014/main" id="{CE7C7ED6-A1F9-0D47-26CC-AE4A526F8C92}"/>
              </a:ext>
            </a:extLst>
          </p:cNvPr>
          <p:cNvSpPr>
            <a:spLocks noGrp="1"/>
          </p:cNvSpPr>
          <p:nvPr>
            <p:ph type="sldNum" sz="quarter" idx="12"/>
          </p:nvPr>
        </p:nvSpPr>
        <p:spPr/>
        <p:txBody>
          <a:bodyPr/>
          <a:lstStyle/>
          <a:p>
            <a:fld id="{B73B34B3-1432-4053-90C7-E0228297BE5F}" type="slidenum">
              <a:rPr lang="en-US" altLang="zh-CN" smtClean="0"/>
              <a:pPr/>
              <a:t>56</a:t>
            </a:fld>
            <a:endParaRPr lang="en-US" altLang="zh-CN"/>
          </a:p>
        </p:txBody>
      </p:sp>
    </p:spTree>
    <p:extLst>
      <p:ext uri="{BB962C8B-B14F-4D97-AF65-F5344CB8AC3E}">
        <p14:creationId xmlns:p14="http://schemas.microsoft.com/office/powerpoint/2010/main" val="422436700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648000121"/>
              </p:ext>
            </p:extLst>
          </p:nvPr>
        </p:nvGraphicFramePr>
        <p:xfrm>
          <a:off x="1723549" y="910907"/>
          <a:ext cx="6808891" cy="904875"/>
        </p:xfrm>
        <a:graphic>
          <a:graphicData uri="http://schemas.openxmlformats.org/presentationml/2006/ole">
            <mc:AlternateContent xmlns:mc="http://schemas.openxmlformats.org/markup-compatibility/2006">
              <mc:Choice xmlns:v="urn:schemas-microsoft-com:vml" Requires="v">
                <p:oleObj name="公式" r:id="rId2" imgW="2628900" imgH="406400" progId="Equation.3">
                  <p:embed/>
                </p:oleObj>
              </mc:Choice>
              <mc:Fallback>
                <p:oleObj name="公式" r:id="rId2" imgW="2628900" imgH="4064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3549" y="910907"/>
                        <a:ext cx="6808891" cy="904875"/>
                      </a:xfrm>
                      <a:prstGeom prst="rect">
                        <a:avLst/>
                      </a:prstGeom>
                      <a:solidFill>
                        <a:srgbClr val="FFFFFF"/>
                      </a:solid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682932366"/>
              </p:ext>
            </p:extLst>
          </p:nvPr>
        </p:nvGraphicFramePr>
        <p:xfrm>
          <a:off x="7812565" y="1805879"/>
          <a:ext cx="1076325" cy="895350"/>
        </p:xfrm>
        <a:graphic>
          <a:graphicData uri="http://schemas.openxmlformats.org/presentationml/2006/ole">
            <mc:AlternateContent xmlns:mc="http://schemas.openxmlformats.org/markup-compatibility/2006">
              <mc:Choice xmlns:v="urn:schemas-microsoft-com:vml" Requires="v">
                <p:oleObj name="公式" r:id="rId4" imgW="520474" imgH="431613" progId="Equation.3">
                  <p:embed/>
                </p:oleObj>
              </mc:Choice>
              <mc:Fallback>
                <p:oleObj name="公式" r:id="rId4" imgW="520474" imgH="431613"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12565" y="1805879"/>
                        <a:ext cx="1076325" cy="895350"/>
                      </a:xfrm>
                      <a:prstGeom prst="rect">
                        <a:avLst/>
                      </a:prstGeom>
                      <a:solidFill>
                        <a:srgbClr val="FFFFFF"/>
                      </a:solid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65275269"/>
              </p:ext>
            </p:extLst>
          </p:nvPr>
        </p:nvGraphicFramePr>
        <p:xfrm>
          <a:off x="3509962" y="2739641"/>
          <a:ext cx="4276725" cy="923925"/>
        </p:xfrm>
        <a:graphic>
          <a:graphicData uri="http://schemas.openxmlformats.org/presentationml/2006/ole">
            <mc:AlternateContent xmlns:mc="http://schemas.openxmlformats.org/markup-compatibility/2006">
              <mc:Choice xmlns:v="urn:schemas-microsoft-com:vml" Requires="v">
                <p:oleObj name="公式" r:id="rId6" imgW="1993900" imgH="431800" progId="Equation.3">
                  <p:embed/>
                </p:oleObj>
              </mc:Choice>
              <mc:Fallback>
                <p:oleObj name="公式" r:id="rId6" imgW="1993900" imgH="4318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09962" y="2739641"/>
                        <a:ext cx="4276725" cy="923925"/>
                      </a:xfrm>
                      <a:prstGeom prst="rect">
                        <a:avLst/>
                      </a:prstGeom>
                      <a:solidFill>
                        <a:srgbClr val="FFFFFF"/>
                      </a:solidFill>
                    </p:spPr>
                  </p:pic>
                </p:oleObj>
              </mc:Fallback>
            </mc:AlternateContent>
          </a:graphicData>
        </a:graphic>
      </p:graphicFrame>
      <p:graphicFrame>
        <p:nvGraphicFramePr>
          <p:cNvPr id="6" name="对象 5"/>
          <p:cNvGraphicFramePr>
            <a:graphicFrameLocks noChangeAspect="1"/>
          </p:cNvGraphicFramePr>
          <p:nvPr/>
        </p:nvGraphicFramePr>
        <p:xfrm>
          <a:off x="0" y="4095750"/>
          <a:ext cx="5648325" cy="1381125"/>
        </p:xfrm>
        <a:graphic>
          <a:graphicData uri="http://schemas.openxmlformats.org/presentationml/2006/ole">
            <mc:AlternateContent xmlns:mc="http://schemas.openxmlformats.org/markup-compatibility/2006">
              <mc:Choice xmlns:v="urn:schemas-microsoft-com:vml" Requires="v">
                <p:oleObj name="公式" r:id="rId8" imgW="2387600" imgH="584200" progId="Equation.3">
                  <p:embed/>
                </p:oleObj>
              </mc:Choice>
              <mc:Fallback>
                <p:oleObj name="公式" r:id="rId8" imgW="2387600" imgH="584200" progId="Equation.3">
                  <p:embed/>
                  <p:pic>
                    <p:nvPicPr>
                      <p:cNvPr id="0" name="Object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4095750"/>
                        <a:ext cx="5648325" cy="1381125"/>
                      </a:xfrm>
                      <a:prstGeom prst="rect">
                        <a:avLst/>
                      </a:prstGeom>
                      <a:solidFill>
                        <a:srgbClr val="00FF00"/>
                      </a:solid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795453179"/>
              </p:ext>
            </p:extLst>
          </p:nvPr>
        </p:nvGraphicFramePr>
        <p:xfrm>
          <a:off x="1023937" y="5572256"/>
          <a:ext cx="1800225" cy="1162050"/>
        </p:xfrm>
        <a:graphic>
          <a:graphicData uri="http://schemas.openxmlformats.org/presentationml/2006/ole">
            <mc:AlternateContent xmlns:mc="http://schemas.openxmlformats.org/markup-compatibility/2006">
              <mc:Choice xmlns:v="urn:schemas-microsoft-com:vml" Requires="v">
                <p:oleObj name="公式" r:id="rId10" imgW="914400" imgH="584200" progId="Equation.3">
                  <p:embed/>
                </p:oleObj>
              </mc:Choice>
              <mc:Fallback>
                <p:oleObj name="公式" r:id="rId10" imgW="914400" imgH="584200" progId="Equation.3">
                  <p:embed/>
                  <p:pic>
                    <p:nvPicPr>
                      <p:cNvPr id="0" name="Object 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23937" y="5572256"/>
                        <a:ext cx="1800225" cy="1162050"/>
                      </a:xfrm>
                      <a:prstGeom prst="rect">
                        <a:avLst/>
                      </a:prstGeom>
                      <a:solidFill>
                        <a:srgbClr val="FFFF00"/>
                      </a:solidFill>
                    </p:spPr>
                  </p:pic>
                </p:oleObj>
              </mc:Fallback>
            </mc:AlternateContent>
          </a:graphicData>
        </a:graphic>
      </p:graphicFrame>
      <p:sp>
        <p:nvSpPr>
          <p:cNvPr id="8" name="Rectangle 6"/>
          <p:cNvSpPr>
            <a:spLocks noChangeArrowheads="1"/>
          </p:cNvSpPr>
          <p:nvPr/>
        </p:nvSpPr>
        <p:spPr bwMode="auto">
          <a:xfrm>
            <a:off x="0" y="-1433393"/>
            <a:ext cx="1723549"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tabLst>
                <a:tab pos="457200" algn="l"/>
              </a:tabLst>
              <a:defRPr>
                <a:solidFill>
                  <a:schemeClr val="tx1"/>
                </a:solidFill>
                <a:latin typeface="Arial" panose="020B0604020202020204" pitchFamily="34" charset="0"/>
              </a:defRPr>
            </a:lvl1pPr>
            <a:lvl2pPr eaLnBrk="0" hangingPunct="0">
              <a:tabLst>
                <a:tab pos="457200" algn="l"/>
              </a:tabLst>
              <a:defRPr>
                <a:solidFill>
                  <a:schemeClr val="tx1"/>
                </a:solidFill>
                <a:latin typeface="Arial" panose="020B0604020202020204" pitchFamily="34" charset="0"/>
              </a:defRPr>
            </a:lvl2pPr>
            <a:lvl3pPr eaLnBrk="0" hangingPunct="0">
              <a:tabLst>
                <a:tab pos="457200" algn="l"/>
              </a:tabLst>
              <a:defRPr>
                <a:solidFill>
                  <a:schemeClr val="tx1"/>
                </a:solidFill>
                <a:latin typeface="Arial" panose="020B0604020202020204" pitchFamily="34" charset="0"/>
              </a:defRPr>
            </a:lvl3pPr>
            <a:lvl4pPr eaLnBrk="0" hangingPunct="0">
              <a:tabLst>
                <a:tab pos="457200" algn="l"/>
              </a:tabLst>
              <a:defRPr>
                <a:solidFill>
                  <a:schemeClr val="tx1"/>
                </a:solidFill>
                <a:latin typeface="Arial" panose="020B0604020202020204" pitchFamily="34" charset="0"/>
              </a:defRPr>
            </a:lvl4pPr>
            <a:lvl5pPr eaLnBrk="0" hangingPunct="0">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en-US" altLang="zh-CN" sz="2400" b="0" i="1" u="none" strike="noStrike" cap="none" normalizeH="0" baseline="0" dirty="0">
              <a:ln>
                <a:noFill/>
              </a:ln>
              <a:solidFill>
                <a:srgbClr val="8000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lang="en-US" altLang="zh-CN" sz="2400" i="1" dirty="0">
              <a:solidFill>
                <a:srgbClr val="800000"/>
              </a:solidFill>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en-US" altLang="zh-CN" sz="2400" b="0" i="1" u="none" strike="noStrike" cap="none" normalizeH="0" baseline="0" dirty="0">
              <a:ln>
                <a:noFill/>
              </a:ln>
              <a:solidFill>
                <a:srgbClr val="8000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lang="en-US" altLang="zh-CN" sz="2400" i="1" dirty="0">
              <a:solidFill>
                <a:srgbClr val="800000"/>
              </a:solidFill>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en-US" altLang="zh-CN" sz="2400" b="0" i="1" u="none" strike="noStrike" cap="none" normalizeH="0" baseline="0" dirty="0">
              <a:ln>
                <a:noFill/>
              </a:ln>
              <a:solidFill>
                <a:srgbClr val="8000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lang="en-US" altLang="zh-CN" sz="2400" i="1" dirty="0">
              <a:solidFill>
                <a:srgbClr val="800000"/>
              </a:solidFill>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zh-CN" sz="2400" b="0" i="1" u="none" strike="noStrike" cap="none" normalizeH="0" baseline="0" dirty="0">
                <a:ln>
                  <a:noFill/>
                </a:ln>
                <a:solidFill>
                  <a:srgbClr val="800000"/>
                </a:solidFill>
                <a:effectLst/>
                <a:latin typeface="黑体" panose="02010609060101010101" pitchFamily="49" charset="-122"/>
                <a:ea typeface="黑体" panose="02010609060101010101" pitchFamily="49" charset="-122"/>
                <a:cs typeface="Times New Roman" panose="02020603050405020304" pitchFamily="18" charset="0"/>
              </a:rPr>
              <a:t>分析</a:t>
            </a: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US" altLang="zh-CN" sz="2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1</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根导体：</a:t>
            </a:r>
            <a:endParaRPr kumimoji="0" lang="zh-CN"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7"/>
          <p:cNvSpPr>
            <a:spLocks noChangeArrowheads="1"/>
          </p:cNvSpPr>
          <p:nvPr/>
        </p:nvSpPr>
        <p:spPr bwMode="auto">
          <a:xfrm>
            <a:off x="0" y="1845399"/>
            <a:ext cx="8168175"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76250" eaLnBrk="0" hangingPunct="0">
              <a:tabLst>
                <a:tab pos="457200" algn="l"/>
              </a:tabLst>
              <a:defRPr>
                <a:solidFill>
                  <a:schemeClr val="tx1"/>
                </a:solidFill>
                <a:latin typeface="Arial" panose="020B0604020202020204" pitchFamily="34" charset="0"/>
              </a:defRPr>
            </a:lvl1pPr>
            <a:lvl2pPr eaLnBrk="0" hangingPunct="0">
              <a:tabLst>
                <a:tab pos="457200" algn="l"/>
              </a:tabLst>
              <a:defRPr>
                <a:solidFill>
                  <a:schemeClr val="tx1"/>
                </a:solidFill>
                <a:latin typeface="Arial" panose="020B0604020202020204" pitchFamily="34" charset="0"/>
              </a:defRPr>
            </a:lvl2pPr>
            <a:lvl3pPr eaLnBrk="0" hangingPunct="0">
              <a:tabLst>
                <a:tab pos="457200" algn="l"/>
              </a:tabLst>
              <a:defRPr>
                <a:solidFill>
                  <a:schemeClr val="tx1"/>
                </a:solidFill>
                <a:latin typeface="Arial" panose="020B0604020202020204" pitchFamily="34" charset="0"/>
              </a:defRPr>
            </a:lvl3pPr>
            <a:lvl4pPr eaLnBrk="0" hangingPunct="0">
              <a:tabLst>
                <a:tab pos="457200" algn="l"/>
              </a:tabLst>
              <a:defRPr>
                <a:solidFill>
                  <a:schemeClr val="tx1"/>
                </a:solidFill>
                <a:latin typeface="Arial" panose="020B0604020202020204" pitchFamily="34" charset="0"/>
              </a:defRPr>
            </a:lvl4pPr>
            <a:lvl5pPr eaLnBrk="0" hangingPunct="0">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tab pos="457200" algn="l"/>
              </a:tabLst>
            </a:pPr>
            <a:r>
              <a:rPr kumimoji="0" lang="en-US" altLang="zh-CN" sz="2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dx</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弧长中的导体数（假设导体在电枢表面均分，总数</a:t>
            </a:r>
            <a:r>
              <a:rPr kumimoji="0" lang="en-US" altLang="zh-CN" sz="2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N</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800" b="0" i="0" u="none" strike="noStrike" cap="none" normalizeH="0" baseline="0" dirty="0">
              <a:ln>
                <a:noFill/>
              </a:ln>
              <a:solidFill>
                <a:schemeClr val="tx1"/>
              </a:solidFill>
              <a:effectLst/>
            </a:endParaRPr>
          </a:p>
          <a:p>
            <a:pPr marL="0" marR="0" lvl="0" indent="476250" algn="l" defTabSz="914400" rtl="0" eaLnBrk="0" fontAlgn="base" latinLnBrk="0" hangingPunct="0">
              <a:lnSpc>
                <a:spcPct val="100000"/>
              </a:lnSpc>
              <a:spcBef>
                <a:spcPct val="0"/>
              </a:spcBef>
              <a:spcAft>
                <a:spcPct val="0"/>
              </a:spcAft>
              <a:buClrTx/>
              <a:buSzTx/>
              <a:buFontTx/>
              <a:buNone/>
              <a:tabLst>
                <a:tab pos="457200" algn="l"/>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8"/>
          <p:cNvSpPr>
            <a:spLocks noChangeArrowheads="1"/>
          </p:cNvSpPr>
          <p:nvPr/>
        </p:nvSpPr>
        <p:spPr bwMode="auto">
          <a:xfrm>
            <a:off x="0" y="257989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476250" eaLnBrk="0" hangingPunct="0">
              <a:tabLst>
                <a:tab pos="457200" algn="l"/>
              </a:tabLst>
              <a:defRPr>
                <a:solidFill>
                  <a:schemeClr val="tx1"/>
                </a:solidFill>
                <a:latin typeface="Arial" panose="020B0604020202020204" pitchFamily="34" charset="0"/>
              </a:defRPr>
            </a:lvl1pPr>
            <a:lvl2pPr eaLnBrk="0" hangingPunct="0">
              <a:tabLst>
                <a:tab pos="457200" algn="l"/>
              </a:tabLst>
              <a:defRPr>
                <a:solidFill>
                  <a:schemeClr val="tx1"/>
                </a:solidFill>
                <a:latin typeface="Arial" panose="020B0604020202020204" pitchFamily="34" charset="0"/>
              </a:defRPr>
            </a:lvl2pPr>
            <a:lvl3pPr eaLnBrk="0" hangingPunct="0">
              <a:tabLst>
                <a:tab pos="457200" algn="l"/>
              </a:tabLst>
              <a:defRPr>
                <a:solidFill>
                  <a:schemeClr val="tx1"/>
                </a:solidFill>
                <a:latin typeface="Arial" panose="020B0604020202020204" pitchFamily="34" charset="0"/>
              </a:defRPr>
            </a:lvl3pPr>
            <a:lvl4pPr eaLnBrk="0" hangingPunct="0">
              <a:tabLst>
                <a:tab pos="457200" algn="l"/>
              </a:tabLst>
              <a:defRPr>
                <a:solidFill>
                  <a:schemeClr val="tx1"/>
                </a:solidFill>
                <a:latin typeface="Arial" panose="020B0604020202020204" pitchFamily="34" charset="0"/>
              </a:defRPr>
            </a:lvl4pPr>
            <a:lvl5pPr eaLnBrk="0" hangingPunct="0">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476250" algn="l" defTabSz="914400" rtl="0" eaLnBrk="0" fontAlgn="base" latinLnBrk="0" hangingPunct="0">
              <a:lnSpc>
                <a:spcPct val="100000"/>
              </a:lnSpc>
              <a:spcBef>
                <a:spcPct val="0"/>
              </a:spcBef>
              <a:spcAft>
                <a:spcPct val="0"/>
              </a:spcAft>
              <a:buClrTx/>
              <a:buSzTx/>
              <a:buFontTx/>
              <a:buChar char="•"/>
              <a:tabLst>
                <a:tab pos="457200" algn="l"/>
              </a:tabLst>
            </a:pPr>
            <a:r>
              <a:rPr kumimoji="0" lang="en-US" altLang="zh-CN" sz="2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dx</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区间内导体所建立的转矩：</a:t>
            </a:r>
            <a:endParaRPr kumimoji="0" lang="zh-CN" altLang="en-US" sz="800" b="0" i="0" u="none" strike="noStrike" cap="none" normalizeH="0" baseline="0" dirty="0">
              <a:ln>
                <a:noFill/>
              </a:ln>
              <a:solidFill>
                <a:schemeClr val="tx1"/>
              </a:solidFill>
              <a:effectLst/>
            </a:endParaRPr>
          </a:p>
          <a:p>
            <a:pPr marL="0" marR="0" lvl="0" indent="476250" algn="l" defTabSz="914400" rtl="0" eaLnBrk="0" fontAlgn="base" latinLnBrk="0" hangingPunct="0">
              <a:lnSpc>
                <a:spcPct val="100000"/>
              </a:lnSpc>
              <a:spcBef>
                <a:spcPct val="0"/>
              </a:spcBef>
              <a:spcAft>
                <a:spcPct val="0"/>
              </a:spcAft>
              <a:buClrTx/>
              <a:buSzTx/>
              <a:buFontTx/>
              <a:buNone/>
              <a:tabLst>
                <a:tab pos="457200" algn="l"/>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9"/>
          <p:cNvSpPr>
            <a:spLocks noChangeArrowheads="1"/>
          </p:cNvSpPr>
          <p:nvPr/>
        </p:nvSpPr>
        <p:spPr bwMode="auto">
          <a:xfrm>
            <a:off x="-4646" y="3762244"/>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476250" eaLnBrk="0" hangingPunct="0">
              <a:tabLst>
                <a:tab pos="457200" algn="l"/>
              </a:tabLst>
              <a:defRPr>
                <a:solidFill>
                  <a:schemeClr val="tx1"/>
                </a:solidFill>
                <a:latin typeface="Arial" panose="020B0604020202020204" pitchFamily="34" charset="0"/>
              </a:defRPr>
            </a:lvl1pPr>
            <a:lvl2pPr eaLnBrk="0" hangingPunct="0">
              <a:tabLst>
                <a:tab pos="457200" algn="l"/>
              </a:tabLst>
              <a:defRPr>
                <a:solidFill>
                  <a:schemeClr val="tx1"/>
                </a:solidFill>
                <a:latin typeface="Arial" panose="020B0604020202020204" pitchFamily="34" charset="0"/>
              </a:defRPr>
            </a:lvl2pPr>
            <a:lvl3pPr eaLnBrk="0" hangingPunct="0">
              <a:tabLst>
                <a:tab pos="457200" algn="l"/>
              </a:tabLst>
              <a:defRPr>
                <a:solidFill>
                  <a:schemeClr val="tx1"/>
                </a:solidFill>
                <a:latin typeface="Arial" panose="020B0604020202020204" pitchFamily="34" charset="0"/>
              </a:defRPr>
            </a:lvl3pPr>
            <a:lvl4pPr eaLnBrk="0" hangingPunct="0">
              <a:tabLst>
                <a:tab pos="457200" algn="l"/>
              </a:tabLst>
              <a:defRPr>
                <a:solidFill>
                  <a:schemeClr val="tx1"/>
                </a:solidFill>
                <a:latin typeface="Arial" panose="020B0604020202020204" pitchFamily="34" charset="0"/>
              </a:defRPr>
            </a:lvl4pPr>
            <a:lvl5pPr eaLnBrk="0" hangingPunct="0">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476250" algn="l" defTabSz="914400" rtl="0" eaLnBrk="0" fontAlgn="base" latinLnBrk="0" hangingPunct="0">
              <a:lnSpc>
                <a:spcPct val="100000"/>
              </a:lnSpc>
              <a:spcBef>
                <a:spcPct val="0"/>
              </a:spcBef>
              <a:spcAft>
                <a:spcPct val="0"/>
              </a:spcAft>
              <a:buClrTx/>
              <a:buSzTx/>
              <a:buFontTx/>
              <a:buChar char="•"/>
              <a:tabLst>
                <a:tab pos="457200" algn="l"/>
              </a:tabLst>
            </a:pP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一个主极下导体产生的转矩：</a:t>
            </a:r>
            <a:endParaRPr kumimoji="0" lang="zh-CN" sz="800" b="0" i="0" u="none" strike="noStrike" cap="none" normalizeH="0" baseline="0" dirty="0">
              <a:ln>
                <a:noFill/>
              </a:ln>
              <a:solidFill>
                <a:schemeClr val="tx1"/>
              </a:solidFill>
              <a:effectLst/>
            </a:endParaRPr>
          </a:p>
          <a:p>
            <a:pPr marL="0" marR="0" lvl="0" indent="476250" algn="l" defTabSz="914400" rtl="0" eaLnBrk="0" fontAlgn="base" latinLnBrk="0" hangingPunct="0">
              <a:lnSpc>
                <a:spcPct val="100000"/>
              </a:lnSpc>
              <a:spcBef>
                <a:spcPct val="0"/>
              </a:spcBef>
              <a:spcAft>
                <a:spcPct val="0"/>
              </a:spcAft>
              <a:buClrTx/>
              <a:buSzTx/>
              <a:buFontTx/>
              <a:buNone/>
              <a:tabLst>
                <a:tab pos="457200" algn="l"/>
              </a:tabLst>
            </a:pP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2" name="Rectangle 10"/>
          <p:cNvSpPr>
            <a:spLocks noChangeArrowheads="1"/>
          </p:cNvSpPr>
          <p:nvPr/>
        </p:nvSpPr>
        <p:spPr bwMode="auto">
          <a:xfrm>
            <a:off x="0" y="54768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其中</a:t>
            </a:r>
            <a:endParaRPr kumimoji="0" lang="zh-CN" sz="1800" b="0" i="0" u="none" strike="noStrike" cap="none" normalizeH="0" baseline="0">
              <a:ln>
                <a:noFill/>
              </a:ln>
              <a:solidFill>
                <a:schemeClr val="tx1"/>
              </a:solidFill>
              <a:effectLst/>
              <a:latin typeface="Arial" panose="020B0604020202020204" pitchFamily="34" charset="0"/>
            </a:endParaRPr>
          </a:p>
        </p:txBody>
      </p:sp>
      <p:sp>
        <p:nvSpPr>
          <p:cNvPr id="13" name="Rectangle 11"/>
          <p:cNvSpPr>
            <a:spLocks noChangeArrowheads="1"/>
          </p:cNvSpPr>
          <p:nvPr/>
        </p:nvSpPr>
        <p:spPr bwMode="auto">
          <a:xfrm>
            <a:off x="2992529" y="5625647"/>
            <a:ext cx="282481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为</a:t>
            </a:r>
            <a:r>
              <a:rPr kumimoji="0" lang="en-US" altLang="zh-CN" sz="2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DCM</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的</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每极磁通</a:t>
            </a:r>
            <a:endParaRPr kumimoji="0" lang="en-US"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[flux per pole]</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4" name="矩形 13"/>
          <p:cNvSpPr/>
          <p:nvPr/>
        </p:nvSpPr>
        <p:spPr>
          <a:xfrm>
            <a:off x="5111807" y="1557886"/>
            <a:ext cx="1935145" cy="369332"/>
          </a:xfrm>
          <a:prstGeom prst="rect">
            <a:avLst/>
          </a:prstGeom>
        </p:spPr>
        <p:txBody>
          <a:bodyPr wrap="none">
            <a:spAutoFit/>
          </a:bodyPr>
          <a:lstStyle/>
          <a:p>
            <a:pPr lvl="0" indent="476250" eaLnBrk="0" hangingPunct="0">
              <a:tabLst>
                <a:tab pos="457200" algn="l"/>
              </a:tabLst>
            </a:pPr>
            <a:r>
              <a:rPr lang="en-US" altLang="zh-CN" dirty="0">
                <a:solidFill>
                  <a:srgbClr val="000000"/>
                </a:solidFill>
                <a:latin typeface="宋体" panose="02010600030101010101" pitchFamily="2" charset="-122"/>
                <a:cs typeface="Times New Roman" panose="02020603050405020304" pitchFamily="18" charset="0"/>
              </a:rPr>
              <a:t>Da=</a:t>
            </a:r>
            <a:r>
              <a:rPr lang="zh-CN" altLang="en-US"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电枢直径</a:t>
            </a:r>
            <a:endParaRPr lang="zh-CN" altLang="en-US" sz="600" dirty="0"/>
          </a:p>
        </p:txBody>
      </p:sp>
      <p:sp>
        <p:nvSpPr>
          <p:cNvPr id="15" name="Rectangle 18"/>
          <p:cNvSpPr>
            <a:spLocks noChangeArrowheads="1"/>
          </p:cNvSpPr>
          <p:nvPr/>
        </p:nvSpPr>
        <p:spPr bwMode="auto">
          <a:xfrm flipV="1">
            <a:off x="9743851" y="1152127"/>
            <a:ext cx="2443053"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16" name="对象 15"/>
          <p:cNvGraphicFramePr>
            <a:graphicFrameLocks noChangeAspect="1"/>
          </p:cNvGraphicFramePr>
          <p:nvPr>
            <p:extLst>
              <p:ext uri="{D42A27DB-BD31-4B8C-83A1-F6EECF244321}">
                <p14:modId xmlns:p14="http://schemas.microsoft.com/office/powerpoint/2010/main" val="1629174313"/>
              </p:ext>
            </p:extLst>
          </p:nvPr>
        </p:nvGraphicFramePr>
        <p:xfrm>
          <a:off x="5799099" y="3578209"/>
          <a:ext cx="3363143" cy="2746995"/>
        </p:xfrm>
        <a:graphic>
          <a:graphicData uri="http://schemas.openxmlformats.org/presentationml/2006/ole">
            <mc:AlternateContent xmlns:mc="http://schemas.openxmlformats.org/markup-compatibility/2006">
              <mc:Choice xmlns:v="urn:schemas-microsoft-com:vml" Requires="v">
                <p:oleObj r:id="rId12" imgW="2636838" imgH="2152650" progId="MSDraw">
                  <p:embed/>
                </p:oleObj>
              </mc:Choice>
              <mc:Fallback>
                <p:oleObj r:id="rId12" imgW="2636838" imgH="2152650" progId="MSDraw">
                  <p:embed/>
                  <p:pic>
                    <p:nvPicPr>
                      <p:cNvPr id="0" name="Object 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799099" y="3578209"/>
                        <a:ext cx="3363143" cy="2746995"/>
                      </a:xfrm>
                      <a:prstGeom prst="rect">
                        <a:avLst/>
                      </a:prstGeom>
                      <a:solidFill>
                        <a:srgbClr val="FFFFFF"/>
                      </a:solidFill>
                    </p:spPr>
                  </p:pic>
                </p:oleObj>
              </mc:Fallback>
            </mc:AlternateContent>
          </a:graphicData>
        </a:graphic>
      </p:graphicFrame>
      <p:sp>
        <p:nvSpPr>
          <p:cNvPr id="20" name="日期占位符 19">
            <a:extLst>
              <a:ext uri="{FF2B5EF4-FFF2-40B4-BE49-F238E27FC236}">
                <a16:creationId xmlns:a16="http://schemas.microsoft.com/office/drawing/2014/main" id="{7CC46A69-A766-D496-82DE-B403F852AAA7}"/>
              </a:ext>
            </a:extLst>
          </p:cNvPr>
          <p:cNvSpPr>
            <a:spLocks noGrp="1"/>
          </p:cNvSpPr>
          <p:nvPr>
            <p:ph type="dt" sz="half" idx="10"/>
          </p:nvPr>
        </p:nvSpPr>
        <p:spPr/>
        <p:txBody>
          <a:bodyPr/>
          <a:lstStyle/>
          <a:p>
            <a:fld id="{172F44D9-798E-4B32-BF03-98332F9D05BB}" type="datetime10">
              <a:rPr lang="en-US" altLang="zh-CN" smtClean="0"/>
              <a:t>16:53</a:t>
            </a:fld>
            <a:endParaRPr lang="en-US" altLang="zh-CN"/>
          </a:p>
        </p:txBody>
      </p:sp>
      <p:sp>
        <p:nvSpPr>
          <p:cNvPr id="21" name="灯片编号占位符 20">
            <a:extLst>
              <a:ext uri="{FF2B5EF4-FFF2-40B4-BE49-F238E27FC236}">
                <a16:creationId xmlns:a16="http://schemas.microsoft.com/office/drawing/2014/main" id="{5733E27A-C478-9019-77D6-35C5AF265AEC}"/>
              </a:ext>
            </a:extLst>
          </p:cNvPr>
          <p:cNvSpPr>
            <a:spLocks noGrp="1"/>
          </p:cNvSpPr>
          <p:nvPr>
            <p:ph type="sldNum" sz="quarter" idx="12"/>
          </p:nvPr>
        </p:nvSpPr>
        <p:spPr/>
        <p:txBody>
          <a:bodyPr/>
          <a:lstStyle/>
          <a:p>
            <a:fld id="{803158C3-B50C-4001-8BD0-C5647A670245}" type="slidenum">
              <a:rPr lang="en-US" altLang="zh-CN" smtClean="0"/>
              <a:pPr/>
              <a:t>57</a:t>
            </a:fld>
            <a:endParaRPr lang="en-US" altLang="zh-CN"/>
          </a:p>
        </p:txBody>
      </p:sp>
    </p:spTree>
    <p:extLst>
      <p:ext uri="{BB962C8B-B14F-4D97-AF65-F5344CB8AC3E}">
        <p14:creationId xmlns:p14="http://schemas.microsoft.com/office/powerpoint/2010/main" val="412498404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712116754"/>
              </p:ext>
            </p:extLst>
          </p:nvPr>
        </p:nvGraphicFramePr>
        <p:xfrm>
          <a:off x="1196939" y="903710"/>
          <a:ext cx="1485900" cy="847725"/>
        </p:xfrm>
        <a:graphic>
          <a:graphicData uri="http://schemas.openxmlformats.org/presentationml/2006/ole">
            <mc:AlternateContent xmlns:mc="http://schemas.openxmlformats.org/markup-compatibility/2006">
              <mc:Choice xmlns:v="urn:schemas-microsoft-com:vml" Requires="v">
                <p:oleObj name="公式" r:id="rId2" imgW="685800" imgH="393700" progId="Equation.3">
                  <p:embed/>
                </p:oleObj>
              </mc:Choice>
              <mc:Fallback>
                <p:oleObj name="公式" r:id="rId2" imgW="685800" imgH="3937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6939" y="903710"/>
                        <a:ext cx="1485900" cy="847725"/>
                      </a:xfrm>
                      <a:prstGeom prst="rect">
                        <a:avLst/>
                      </a:prstGeom>
                      <a:solidFill>
                        <a:srgbClr val="FFFFFF"/>
                      </a:solid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029117096"/>
              </p:ext>
            </p:extLst>
          </p:nvPr>
        </p:nvGraphicFramePr>
        <p:xfrm>
          <a:off x="3805203" y="958118"/>
          <a:ext cx="1447800" cy="533400"/>
        </p:xfrm>
        <a:graphic>
          <a:graphicData uri="http://schemas.openxmlformats.org/presentationml/2006/ole">
            <mc:AlternateContent xmlns:mc="http://schemas.openxmlformats.org/markup-compatibility/2006">
              <mc:Choice xmlns:v="urn:schemas-microsoft-com:vml" Requires="v">
                <p:oleObj name="公式" r:id="rId4" imgW="622030" imgH="228501" progId="Equation.3">
                  <p:embed/>
                </p:oleObj>
              </mc:Choice>
              <mc:Fallback>
                <p:oleObj name="公式" r:id="rId4" imgW="622030" imgH="228501"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05203" y="958118"/>
                        <a:ext cx="1447800" cy="533400"/>
                      </a:xfrm>
                      <a:prstGeom prst="rect">
                        <a:avLst/>
                      </a:prstGeom>
                      <a:solidFill>
                        <a:srgbClr val="FFFFFF"/>
                      </a:solid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968391383"/>
              </p:ext>
            </p:extLst>
          </p:nvPr>
        </p:nvGraphicFramePr>
        <p:xfrm>
          <a:off x="107504" y="2729085"/>
          <a:ext cx="6677025" cy="952500"/>
        </p:xfrm>
        <a:graphic>
          <a:graphicData uri="http://schemas.openxmlformats.org/presentationml/2006/ole">
            <mc:AlternateContent xmlns:mc="http://schemas.openxmlformats.org/markup-compatibility/2006">
              <mc:Choice xmlns:v="urn:schemas-microsoft-com:vml" Requires="v">
                <p:oleObj name="公式" r:id="rId6" imgW="3073400" imgH="431800" progId="Equation.3">
                  <p:embed/>
                </p:oleObj>
              </mc:Choice>
              <mc:Fallback>
                <p:oleObj name="公式" r:id="rId6" imgW="3073400" imgH="4318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7504" y="2729085"/>
                        <a:ext cx="6677025" cy="952500"/>
                      </a:xfrm>
                      <a:prstGeom prst="rect">
                        <a:avLst/>
                      </a:prstGeom>
                      <a:solidFill>
                        <a:srgbClr val="00FF00"/>
                      </a:solid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570877263"/>
              </p:ext>
            </p:extLst>
          </p:nvPr>
        </p:nvGraphicFramePr>
        <p:xfrm>
          <a:off x="107504" y="4227934"/>
          <a:ext cx="2162175" cy="857250"/>
        </p:xfrm>
        <a:graphic>
          <a:graphicData uri="http://schemas.openxmlformats.org/presentationml/2006/ole">
            <mc:AlternateContent xmlns:mc="http://schemas.openxmlformats.org/markup-compatibility/2006">
              <mc:Choice xmlns:v="urn:schemas-microsoft-com:vml" Requires="v">
                <p:oleObj name="公式" r:id="rId8" imgW="914003" imgH="355446" progId="Equation.3">
                  <p:embed/>
                </p:oleObj>
              </mc:Choice>
              <mc:Fallback>
                <p:oleObj name="公式" r:id="rId8" imgW="914003" imgH="355446" progId="Equation.3">
                  <p:embed/>
                  <p:pic>
                    <p:nvPicPr>
                      <p:cNvPr id="0" name="Object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7504" y="4227934"/>
                        <a:ext cx="2162175" cy="857250"/>
                      </a:xfrm>
                      <a:prstGeom prst="rect">
                        <a:avLst/>
                      </a:prstGeom>
                      <a:solidFill>
                        <a:srgbClr val="FFCC00"/>
                      </a:solid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4064364325"/>
              </p:ext>
            </p:extLst>
          </p:nvPr>
        </p:nvGraphicFramePr>
        <p:xfrm>
          <a:off x="107504" y="5542384"/>
          <a:ext cx="1400175" cy="819150"/>
        </p:xfrm>
        <a:graphic>
          <a:graphicData uri="http://schemas.openxmlformats.org/presentationml/2006/ole">
            <mc:AlternateContent xmlns:mc="http://schemas.openxmlformats.org/markup-compatibility/2006">
              <mc:Choice xmlns:v="urn:schemas-microsoft-com:vml" Requires="v">
                <p:oleObj name="公式" r:id="rId10" imgW="672808" imgH="393529" progId="Equation.3">
                  <p:embed/>
                </p:oleObj>
              </mc:Choice>
              <mc:Fallback>
                <p:oleObj name="公式" r:id="rId10" imgW="672808" imgH="393529" progId="Equation.3">
                  <p:embed/>
                  <p:pic>
                    <p:nvPicPr>
                      <p:cNvPr id="0" name="Object 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7504" y="5542384"/>
                        <a:ext cx="1400175" cy="819150"/>
                      </a:xfrm>
                      <a:prstGeom prst="rect">
                        <a:avLst/>
                      </a:prstGeom>
                      <a:solidFill>
                        <a:srgbClr val="FFCC00"/>
                      </a:solidFill>
                    </p:spPr>
                  </p:pic>
                </p:oleObj>
              </mc:Fallback>
            </mc:AlternateContent>
          </a:graphicData>
        </a:graphic>
      </p:graphicFrame>
      <p:sp>
        <p:nvSpPr>
          <p:cNvPr id="8" name="Rectangle 6"/>
          <p:cNvSpPr>
            <a:spLocks noChangeArrowheads="1"/>
          </p:cNvSpPr>
          <p:nvPr/>
        </p:nvSpPr>
        <p:spPr bwMode="auto">
          <a:xfrm>
            <a:off x="107504" y="979909"/>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5</a:t>
            </a:r>
            <a:r>
              <a:rPr kumimoji="0" lang="zh-CN" altLang="en-US" sz="24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、由</a:t>
            </a:r>
            <a:endParaRPr kumimoji="0" lang="zh-CN" altLang="en-US" sz="1800" b="0" i="0" u="none" strike="noStrike" cap="none" normalizeH="0" baseline="0">
              <a:ln>
                <a:noFill/>
              </a:ln>
              <a:solidFill>
                <a:schemeClr val="tx1"/>
              </a:solidFill>
              <a:effectLst/>
              <a:latin typeface="Arial" panose="020B0604020202020204" pitchFamily="34" charset="0"/>
            </a:endParaRPr>
          </a:p>
        </p:txBody>
      </p:sp>
      <p:sp>
        <p:nvSpPr>
          <p:cNvPr id="9" name="Rectangle 7"/>
          <p:cNvSpPr>
            <a:spLocks noChangeArrowheads="1"/>
          </p:cNvSpPr>
          <p:nvPr/>
        </p:nvSpPr>
        <p:spPr bwMode="auto">
          <a:xfrm>
            <a:off x="2682839" y="1208509"/>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，因</a:t>
            </a: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0" name="Rectangle 8"/>
          <p:cNvSpPr>
            <a:spLocks noChangeArrowheads="1"/>
          </p:cNvSpPr>
          <p:nvPr/>
        </p:nvSpPr>
        <p:spPr bwMode="auto">
          <a:xfrm>
            <a:off x="107504" y="1748716"/>
            <a:ext cx="572464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p</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为磁极对数，</a:t>
            </a:r>
            <a:r>
              <a:rPr kumimoji="0" lang="en-US" altLang="zh-CN" sz="2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为电枢绕组并联支路对数</a:t>
            </a:r>
            <a:endParaRPr kumimoji="0" lang="zh-CN"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则电枢全部导体产生的电磁转矩为：</a:t>
            </a:r>
            <a:endParaRPr kumimoji="0" lang="zh-CN"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9"/>
          <p:cNvSpPr>
            <a:spLocks noChangeArrowheads="1"/>
          </p:cNvSpPr>
          <p:nvPr/>
        </p:nvSpPr>
        <p:spPr bwMode="auto">
          <a:xfrm>
            <a:off x="107504" y="3770734"/>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1" i="0" u="none" strike="noStrike" cap="none" normalizeH="0" baseline="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重要结论</a:t>
            </a:r>
            <a:r>
              <a:rPr kumimoji="0" 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sz="1800" b="0" i="0" u="none" strike="noStrike" cap="none" normalizeH="0" baseline="0">
              <a:ln>
                <a:noFill/>
              </a:ln>
              <a:solidFill>
                <a:schemeClr val="tx1"/>
              </a:solidFill>
              <a:effectLst/>
              <a:latin typeface="Arial" panose="020B0604020202020204" pitchFamily="34" charset="0"/>
            </a:endParaRPr>
          </a:p>
        </p:txBody>
      </p:sp>
      <p:sp>
        <p:nvSpPr>
          <p:cNvPr id="12" name="Rectangle 10"/>
          <p:cNvSpPr>
            <a:spLocks noChangeArrowheads="1"/>
          </p:cNvSpPr>
          <p:nvPr/>
        </p:nvSpPr>
        <p:spPr bwMode="auto">
          <a:xfrm>
            <a:off x="107504" y="5085184"/>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其中转矩系数、</a:t>
            </a:r>
            <a:r>
              <a:rPr kumimoji="0" lang="zh-CN" sz="2400" b="0" i="0" u="none" strike="noStrike" cap="none" normalizeH="0" baseline="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转矩常数</a:t>
            </a:r>
            <a:endParaRPr kumimoji="0" lang="zh-CN" sz="1800" b="0" i="0" u="none" strike="noStrike" cap="none" normalizeH="0" baseline="0">
              <a:ln>
                <a:noFill/>
              </a:ln>
              <a:solidFill>
                <a:schemeClr val="tx1"/>
              </a:solidFill>
              <a:effectLst/>
              <a:latin typeface="Arial" panose="020B0604020202020204" pitchFamily="34" charset="0"/>
            </a:endParaRPr>
          </a:p>
        </p:txBody>
      </p:sp>
      <p:sp>
        <p:nvSpPr>
          <p:cNvPr id="16" name="日期占位符 15">
            <a:extLst>
              <a:ext uri="{FF2B5EF4-FFF2-40B4-BE49-F238E27FC236}">
                <a16:creationId xmlns:a16="http://schemas.microsoft.com/office/drawing/2014/main" id="{19F2926A-A631-0B49-BD46-8F73421FD3DE}"/>
              </a:ext>
            </a:extLst>
          </p:cNvPr>
          <p:cNvSpPr>
            <a:spLocks noGrp="1"/>
          </p:cNvSpPr>
          <p:nvPr>
            <p:ph type="dt" sz="half" idx="10"/>
          </p:nvPr>
        </p:nvSpPr>
        <p:spPr/>
        <p:txBody>
          <a:bodyPr/>
          <a:lstStyle/>
          <a:p>
            <a:fld id="{F71F3D5E-3666-46D2-946D-E2E6951823D3}" type="datetime10">
              <a:rPr lang="en-US" altLang="zh-CN" smtClean="0"/>
              <a:t>16:53</a:t>
            </a:fld>
            <a:endParaRPr lang="en-US" altLang="zh-CN"/>
          </a:p>
        </p:txBody>
      </p:sp>
      <p:sp>
        <p:nvSpPr>
          <p:cNvPr id="17" name="灯片编号占位符 16">
            <a:extLst>
              <a:ext uri="{FF2B5EF4-FFF2-40B4-BE49-F238E27FC236}">
                <a16:creationId xmlns:a16="http://schemas.microsoft.com/office/drawing/2014/main" id="{4F889D60-6488-74BA-D9EC-A312133A951C}"/>
              </a:ext>
            </a:extLst>
          </p:cNvPr>
          <p:cNvSpPr>
            <a:spLocks noGrp="1"/>
          </p:cNvSpPr>
          <p:nvPr>
            <p:ph type="sldNum" sz="quarter" idx="12"/>
          </p:nvPr>
        </p:nvSpPr>
        <p:spPr/>
        <p:txBody>
          <a:bodyPr/>
          <a:lstStyle/>
          <a:p>
            <a:fld id="{803158C3-B50C-4001-8BD0-C5647A670245}" type="slidenum">
              <a:rPr lang="en-US" altLang="zh-CN" smtClean="0"/>
              <a:pPr/>
              <a:t>58</a:t>
            </a:fld>
            <a:endParaRPr lang="en-US" altLang="zh-CN"/>
          </a:p>
        </p:txBody>
      </p:sp>
    </p:spTree>
    <p:extLst>
      <p:ext uri="{BB962C8B-B14F-4D97-AF65-F5344CB8AC3E}">
        <p14:creationId xmlns:p14="http://schemas.microsoft.com/office/powerpoint/2010/main" val="35574301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147879258"/>
              </p:ext>
            </p:extLst>
          </p:nvPr>
        </p:nvGraphicFramePr>
        <p:xfrm>
          <a:off x="755576" y="2419939"/>
          <a:ext cx="4201591" cy="779263"/>
        </p:xfrm>
        <a:graphic>
          <a:graphicData uri="http://schemas.openxmlformats.org/presentationml/2006/ole">
            <mc:AlternateContent xmlns:mc="http://schemas.openxmlformats.org/markup-compatibility/2006">
              <mc:Choice xmlns:v="urn:schemas-microsoft-com:vml" Requires="v">
                <p:oleObj name="公式" r:id="rId2" imgW="1916868" imgH="355446" progId="Equation.3">
                  <p:embed/>
                </p:oleObj>
              </mc:Choice>
              <mc:Fallback>
                <p:oleObj name="公式" r:id="rId2" imgW="1916868" imgH="355446"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2419939"/>
                        <a:ext cx="4201591" cy="779263"/>
                      </a:xfrm>
                      <a:prstGeom prst="rect">
                        <a:avLst/>
                      </a:prstGeom>
                      <a:solidFill>
                        <a:srgbClr val="00FF00"/>
                      </a:solidFill>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052774572"/>
              </p:ext>
            </p:extLst>
          </p:nvPr>
        </p:nvGraphicFramePr>
        <p:xfrm>
          <a:off x="5076056" y="5810195"/>
          <a:ext cx="1209675" cy="447675"/>
        </p:xfrm>
        <a:graphic>
          <a:graphicData uri="http://schemas.openxmlformats.org/presentationml/2006/ole">
            <mc:AlternateContent xmlns:mc="http://schemas.openxmlformats.org/markup-compatibility/2006">
              <mc:Choice xmlns:v="urn:schemas-microsoft-com:vml" Requires="v">
                <p:oleObj name="公式" r:id="rId4" imgW="622030" imgH="228501" progId="Equation.3">
                  <p:embed/>
                </p:oleObj>
              </mc:Choice>
              <mc:Fallback>
                <p:oleObj name="公式" r:id="rId4" imgW="622030" imgH="228501"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6056" y="5810195"/>
                        <a:ext cx="1209675" cy="447675"/>
                      </a:xfrm>
                      <a:prstGeom prst="rect">
                        <a:avLst/>
                      </a:prstGeom>
                      <a:solidFill>
                        <a:srgbClr val="FFFFFF"/>
                      </a:solid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034383608"/>
              </p:ext>
            </p:extLst>
          </p:nvPr>
        </p:nvGraphicFramePr>
        <p:xfrm>
          <a:off x="6660232" y="5758017"/>
          <a:ext cx="1343025" cy="466725"/>
        </p:xfrm>
        <a:graphic>
          <a:graphicData uri="http://schemas.openxmlformats.org/presentationml/2006/ole">
            <mc:AlternateContent xmlns:mc="http://schemas.openxmlformats.org/markup-compatibility/2006">
              <mc:Choice xmlns:v="urn:schemas-microsoft-com:vml" Requires="v">
                <p:oleObj name="公式" r:id="rId6" imgW="685800" imgH="241300" progId="Equation.3">
                  <p:embed/>
                </p:oleObj>
              </mc:Choice>
              <mc:Fallback>
                <p:oleObj name="公式" r:id="rId6" imgW="685800" imgH="241300" progId="Equation.3">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60232" y="5758017"/>
                        <a:ext cx="1343025" cy="466725"/>
                      </a:xfrm>
                      <a:prstGeom prst="rect">
                        <a:avLst/>
                      </a:prstGeom>
                      <a:solidFill>
                        <a:srgbClr val="FFFFFF"/>
                      </a:solidFill>
                    </p:spPr>
                  </p:pic>
                </p:oleObj>
              </mc:Fallback>
            </mc:AlternateContent>
          </a:graphicData>
        </a:graphic>
      </p:graphicFrame>
      <p:sp>
        <p:nvSpPr>
          <p:cNvPr id="5" name="Rectangle 4"/>
          <p:cNvSpPr>
            <a:spLocks noChangeArrowheads="1"/>
          </p:cNvSpPr>
          <p:nvPr/>
        </p:nvSpPr>
        <p:spPr bwMode="auto">
          <a:xfrm>
            <a:off x="251520" y="1138610"/>
            <a:ext cx="8494633" cy="1692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特点：</a:t>
            </a:r>
            <a:endParaRPr kumimoji="0" 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a:t>
            </a: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直流电动机电磁转矩与每极磁通和电枢电流的乘积成正比。</a:t>
            </a:r>
            <a:endPar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a:t>
            </a: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对他励</a:t>
            </a:r>
            <a:r>
              <a:rPr kumimoji="0" lang="en-US" altLang="zh-CN" sz="2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DCM</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，不考虑电枢反应影响时、励磁电流恒定时，有</a:t>
            </a:r>
            <a:endParaRPr kumimoji="0" lang="zh-CN"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5"/>
          <p:cNvSpPr>
            <a:spLocks noChangeArrowheads="1"/>
          </p:cNvSpPr>
          <p:nvPr/>
        </p:nvSpPr>
        <p:spPr bwMode="auto">
          <a:xfrm>
            <a:off x="1" y="1086416"/>
            <a:ext cx="9036496" cy="5139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zh-CN" sz="2400" b="1"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zh-CN" sz="24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zh-CN" sz="24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                               </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有量纲</a:t>
            </a:r>
            <a:r>
              <a:rPr kumimoji="0" 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1"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kumimoji="0" lang="en-US" altLang="zh-CN" sz="2400" b="1" i="0" u="none" strike="noStrike" cap="none" normalizeH="0" baseline="0" dirty="0" err="1">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Wb</a:t>
            </a:r>
            <a:r>
              <a:rPr kumimoji="0" lang="en-US" altLang="zh-CN" sz="2400" b="1"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或</a:t>
            </a:r>
            <a:r>
              <a:rPr kumimoji="0" lang="en-US" altLang="zh-CN" sz="2400" b="1"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Nm/A</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zh-CN" sz="2400" b="1" dirty="0">
              <a:solidFill>
                <a:srgbClr val="000000"/>
              </a:solidFill>
              <a:latin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优点：</a:t>
            </a:r>
            <a:endPar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直流电动机的电磁转矩直接受电枢电流控制</a:t>
            </a: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线性、能观能控</a:t>
            </a: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8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对单叠绕组</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p=a</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，增加</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p</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并不影响转矩常数。</a:t>
            </a:r>
            <a:endParaRPr kumimoji="0" lang="zh-CN" altLang="en-US" sz="8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在直流电机中，增加磁极主要用于减小电机尺寸，改善大电机性能。</a:t>
            </a:r>
            <a:endParaRPr kumimoji="0" lang="zh-CN"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一般电机越大，磁极对数越多。</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[p=a,</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7" name="Rectangle 6"/>
          <p:cNvSpPr>
            <a:spLocks noChangeArrowheads="1"/>
          </p:cNvSpPr>
          <p:nvPr/>
        </p:nvSpPr>
        <p:spPr bwMode="auto">
          <a:xfrm>
            <a:off x="6285731" y="603403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2" name="日期占位符 11">
            <a:extLst>
              <a:ext uri="{FF2B5EF4-FFF2-40B4-BE49-F238E27FC236}">
                <a16:creationId xmlns:a16="http://schemas.microsoft.com/office/drawing/2014/main" id="{269D2B48-D37A-43AA-0876-3D427C0B1BF7}"/>
              </a:ext>
            </a:extLst>
          </p:cNvPr>
          <p:cNvSpPr>
            <a:spLocks noGrp="1"/>
          </p:cNvSpPr>
          <p:nvPr>
            <p:ph type="dt" sz="half" idx="10"/>
          </p:nvPr>
        </p:nvSpPr>
        <p:spPr/>
        <p:txBody>
          <a:bodyPr/>
          <a:lstStyle/>
          <a:p>
            <a:fld id="{3AB516E5-2180-46E6-9740-9CBC9CF4F0F2}" type="datetime10">
              <a:rPr lang="en-US" altLang="zh-CN" smtClean="0"/>
              <a:t>16:53</a:t>
            </a:fld>
            <a:endParaRPr lang="en-US" altLang="zh-CN"/>
          </a:p>
        </p:txBody>
      </p:sp>
      <p:sp>
        <p:nvSpPr>
          <p:cNvPr id="13" name="灯片编号占位符 12">
            <a:extLst>
              <a:ext uri="{FF2B5EF4-FFF2-40B4-BE49-F238E27FC236}">
                <a16:creationId xmlns:a16="http://schemas.microsoft.com/office/drawing/2014/main" id="{90EC4BF2-61A4-19A1-5976-7778295CE6A5}"/>
              </a:ext>
            </a:extLst>
          </p:cNvPr>
          <p:cNvSpPr>
            <a:spLocks noGrp="1"/>
          </p:cNvSpPr>
          <p:nvPr>
            <p:ph type="sldNum" sz="quarter" idx="12"/>
          </p:nvPr>
        </p:nvSpPr>
        <p:spPr/>
        <p:txBody>
          <a:bodyPr/>
          <a:lstStyle/>
          <a:p>
            <a:fld id="{76D830B0-DF59-4281-898F-AF208100B213}" type="slidenum">
              <a:rPr lang="en-US" altLang="zh-CN" smtClean="0"/>
              <a:pPr/>
              <a:t>59</a:t>
            </a:fld>
            <a:endParaRPr lang="en-US" altLang="zh-CN"/>
          </a:p>
        </p:txBody>
      </p:sp>
    </p:spTree>
    <p:extLst>
      <p:ext uri="{BB962C8B-B14F-4D97-AF65-F5344CB8AC3E}">
        <p14:creationId xmlns:p14="http://schemas.microsoft.com/office/powerpoint/2010/main" val="147845965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970943316"/>
              </p:ext>
            </p:extLst>
          </p:nvPr>
        </p:nvGraphicFramePr>
        <p:xfrm>
          <a:off x="1652139" y="2305114"/>
          <a:ext cx="400050" cy="485775"/>
        </p:xfrm>
        <a:graphic>
          <a:graphicData uri="http://schemas.openxmlformats.org/presentationml/2006/ole">
            <mc:AlternateContent xmlns:mc="http://schemas.openxmlformats.org/markup-compatibility/2006">
              <mc:Choice xmlns:v="urn:schemas-microsoft-com:vml" Requires="v">
                <p:oleObj name="公式" r:id="rId2" imgW="190500" imgH="228600" progId="Equation.3">
                  <p:embed/>
                </p:oleObj>
              </mc:Choice>
              <mc:Fallback>
                <p:oleObj name="公式" r:id="rId2" imgW="190500" imgH="228600"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2139" y="2305114"/>
                        <a:ext cx="400050" cy="485775"/>
                      </a:xfrm>
                      <a:prstGeom prst="rect">
                        <a:avLst/>
                      </a:prstGeom>
                      <a:solidFill>
                        <a:srgbClr val="FFFFFF"/>
                      </a:solidFill>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699365952"/>
              </p:ext>
            </p:extLst>
          </p:nvPr>
        </p:nvGraphicFramePr>
        <p:xfrm>
          <a:off x="2527079" y="2770361"/>
          <a:ext cx="400050" cy="400050"/>
        </p:xfrm>
        <a:graphic>
          <a:graphicData uri="http://schemas.openxmlformats.org/presentationml/2006/ole">
            <mc:AlternateContent xmlns:mc="http://schemas.openxmlformats.org/markup-compatibility/2006">
              <mc:Choice xmlns:v="urn:schemas-microsoft-com:vml" Requires="v">
                <p:oleObj name="公式" r:id="rId4" imgW="164885" imgH="164885" progId="Equation.3">
                  <p:embed/>
                </p:oleObj>
              </mc:Choice>
              <mc:Fallback>
                <p:oleObj name="公式" r:id="rId4" imgW="164885" imgH="164885"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27079" y="2770361"/>
                        <a:ext cx="400050" cy="400050"/>
                      </a:xfrm>
                      <a:prstGeom prst="rect">
                        <a:avLst/>
                      </a:prstGeom>
                      <a:solidFill>
                        <a:srgbClr val="FFFF00"/>
                      </a:solid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535346637"/>
              </p:ext>
            </p:extLst>
          </p:nvPr>
        </p:nvGraphicFramePr>
        <p:xfrm>
          <a:off x="1826991" y="2845179"/>
          <a:ext cx="600075" cy="685800"/>
        </p:xfrm>
        <a:graphic>
          <a:graphicData uri="http://schemas.openxmlformats.org/presentationml/2006/ole">
            <mc:AlternateContent xmlns:mc="http://schemas.openxmlformats.org/markup-compatibility/2006">
              <mc:Choice xmlns:v="urn:schemas-microsoft-com:vml" Requires="v">
                <p:oleObj name="公式" r:id="rId6" imgW="342751" imgH="393529" progId="Equation.3">
                  <p:embed/>
                </p:oleObj>
              </mc:Choice>
              <mc:Fallback>
                <p:oleObj name="公式" r:id="rId6" imgW="342751" imgH="393529"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26991" y="2845179"/>
                        <a:ext cx="600075" cy="685800"/>
                      </a:xfrm>
                      <a:prstGeom prst="rect">
                        <a:avLst/>
                      </a:prstGeom>
                      <a:solidFill>
                        <a:srgbClr val="FFFF00"/>
                      </a:solid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439550634"/>
              </p:ext>
            </p:extLst>
          </p:nvPr>
        </p:nvGraphicFramePr>
        <p:xfrm>
          <a:off x="1223514" y="4226758"/>
          <a:ext cx="428625" cy="523875"/>
        </p:xfrm>
        <a:graphic>
          <a:graphicData uri="http://schemas.openxmlformats.org/presentationml/2006/ole">
            <mc:AlternateContent xmlns:mc="http://schemas.openxmlformats.org/markup-compatibility/2006">
              <mc:Choice xmlns:v="urn:schemas-microsoft-com:vml" Requires="v">
                <p:oleObj name="公式" r:id="rId8" imgW="177646" imgH="228402" progId="Equation.3">
                  <p:embed/>
                </p:oleObj>
              </mc:Choice>
              <mc:Fallback>
                <p:oleObj name="公式" r:id="rId8" imgW="177646" imgH="228402" progId="Equation.3">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23514" y="4226758"/>
                        <a:ext cx="428625" cy="523875"/>
                      </a:xfrm>
                      <a:prstGeom prst="rect">
                        <a:avLst/>
                      </a:prstGeom>
                      <a:solidFill>
                        <a:srgbClr val="FFFFFF"/>
                      </a:solid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487827195"/>
              </p:ext>
            </p:extLst>
          </p:nvPr>
        </p:nvGraphicFramePr>
        <p:xfrm>
          <a:off x="2051720" y="4944589"/>
          <a:ext cx="1447800" cy="523875"/>
        </p:xfrm>
        <a:graphic>
          <a:graphicData uri="http://schemas.openxmlformats.org/presentationml/2006/ole">
            <mc:AlternateContent xmlns:mc="http://schemas.openxmlformats.org/markup-compatibility/2006">
              <mc:Choice xmlns:v="urn:schemas-microsoft-com:vml" Requires="v">
                <p:oleObj name="公式" r:id="rId10" imgW="634725" imgH="228501" progId="Equation.3">
                  <p:embed/>
                </p:oleObj>
              </mc:Choice>
              <mc:Fallback>
                <p:oleObj name="公式" r:id="rId10" imgW="634725" imgH="228501" progId="Equation.3">
                  <p:embed/>
                  <p:pic>
                    <p:nvPicPr>
                      <p:cNvPr id="0" name="Object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51720" y="4944589"/>
                        <a:ext cx="1447800" cy="523875"/>
                      </a:xfrm>
                      <a:prstGeom prst="rect">
                        <a:avLst/>
                      </a:prstGeom>
                      <a:solidFill>
                        <a:srgbClr val="FFFF00"/>
                      </a:solid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871224271"/>
              </p:ext>
            </p:extLst>
          </p:nvPr>
        </p:nvGraphicFramePr>
        <p:xfrm>
          <a:off x="2121570" y="5601170"/>
          <a:ext cx="2514600" cy="923925"/>
        </p:xfrm>
        <a:graphic>
          <a:graphicData uri="http://schemas.openxmlformats.org/presentationml/2006/ole">
            <mc:AlternateContent xmlns:mc="http://schemas.openxmlformats.org/markup-compatibility/2006">
              <mc:Choice xmlns:v="urn:schemas-microsoft-com:vml" Requires="v">
                <p:oleObj name="公式" r:id="rId12" imgW="1054100" imgH="393700" progId="Equation.3">
                  <p:embed/>
                </p:oleObj>
              </mc:Choice>
              <mc:Fallback>
                <p:oleObj name="公式" r:id="rId12" imgW="1054100" imgH="393700" progId="Equation.3">
                  <p:embed/>
                  <p:pic>
                    <p:nvPicPr>
                      <p:cNvPr id="0" name="Object 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21570" y="5601170"/>
                        <a:ext cx="2514600" cy="923925"/>
                      </a:xfrm>
                      <a:prstGeom prst="rect">
                        <a:avLst/>
                      </a:prstGeom>
                      <a:solidFill>
                        <a:srgbClr val="FFCC00"/>
                      </a:solidFill>
                    </p:spPr>
                  </p:pic>
                </p:oleObj>
              </mc:Fallback>
            </mc:AlternateContent>
          </a:graphicData>
        </a:graphic>
      </p:graphicFrame>
      <p:sp>
        <p:nvSpPr>
          <p:cNvPr id="8" name="Rectangle 7"/>
          <p:cNvSpPr>
            <a:spLocks noChangeArrowheads="1"/>
          </p:cNvSpPr>
          <p:nvPr/>
        </p:nvSpPr>
        <p:spPr bwMode="auto">
          <a:xfrm>
            <a:off x="161504" y="835907"/>
            <a:ext cx="7643183"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tabLst>
                <a:tab pos="685800" algn="l"/>
              </a:tabLst>
              <a:defRPr>
                <a:solidFill>
                  <a:schemeClr val="tx1"/>
                </a:solidFill>
                <a:latin typeface="Arial" panose="020B0604020202020204" pitchFamily="34" charset="0"/>
              </a:defRPr>
            </a:lvl1pPr>
            <a:lvl2pPr eaLnBrk="0" hangingPunct="0">
              <a:tabLst>
                <a:tab pos="685800" algn="l"/>
              </a:tabLst>
              <a:defRPr>
                <a:solidFill>
                  <a:schemeClr val="tx1"/>
                </a:solidFill>
                <a:latin typeface="Arial" panose="020B0604020202020204" pitchFamily="34" charset="0"/>
              </a:defRPr>
            </a:lvl2pPr>
            <a:lvl3pPr eaLnBrk="0" hangingPunct="0">
              <a:tabLst>
                <a:tab pos="685800" algn="l"/>
              </a:tabLst>
              <a:defRPr>
                <a:solidFill>
                  <a:schemeClr val="tx1"/>
                </a:solidFill>
                <a:latin typeface="Arial" panose="020B0604020202020204" pitchFamily="34" charset="0"/>
              </a:defRPr>
            </a:lvl3pPr>
            <a:lvl4pPr eaLnBrk="0" hangingPunct="0">
              <a:tabLst>
                <a:tab pos="685800" algn="l"/>
              </a:tabLst>
              <a:defRPr>
                <a:solidFill>
                  <a:schemeClr val="tx1"/>
                </a:solidFill>
                <a:latin typeface="Arial" panose="020B0604020202020204" pitchFamily="34" charset="0"/>
              </a:defRPr>
            </a:lvl4pPr>
            <a:lvl5pPr eaLnBrk="0" hangingPunct="0">
              <a:tabLst>
                <a:tab pos="685800" algn="l"/>
              </a:tabLst>
              <a:defRPr>
                <a:solidFill>
                  <a:schemeClr val="tx1"/>
                </a:solidFill>
                <a:latin typeface="Arial" panose="020B0604020202020204" pitchFamily="34" charset="0"/>
              </a:defRPr>
            </a:lvl5pPr>
            <a:lvl6pPr eaLnBrk="0" fontAlgn="base" hangingPunct="0">
              <a:spcBef>
                <a:spcPct val="0"/>
              </a:spcBef>
              <a:spcAft>
                <a:spcPct val="0"/>
              </a:spcAft>
              <a:tabLst>
                <a:tab pos="685800" algn="l"/>
              </a:tabLst>
              <a:defRPr>
                <a:solidFill>
                  <a:schemeClr val="tx1"/>
                </a:solidFill>
                <a:latin typeface="Arial" panose="020B0604020202020204" pitchFamily="34" charset="0"/>
              </a:defRPr>
            </a:lvl6pPr>
            <a:lvl7pPr eaLnBrk="0" fontAlgn="base" hangingPunct="0">
              <a:spcBef>
                <a:spcPct val="0"/>
              </a:spcBef>
              <a:spcAft>
                <a:spcPct val="0"/>
              </a:spcAft>
              <a:tabLst>
                <a:tab pos="685800" algn="l"/>
              </a:tabLst>
              <a:defRPr>
                <a:solidFill>
                  <a:schemeClr val="tx1"/>
                </a:solidFill>
                <a:latin typeface="Arial" panose="020B0604020202020204" pitchFamily="34" charset="0"/>
              </a:defRPr>
            </a:lvl7pPr>
            <a:lvl8pPr eaLnBrk="0" fontAlgn="base" hangingPunct="0">
              <a:spcBef>
                <a:spcPct val="0"/>
              </a:spcBef>
              <a:spcAft>
                <a:spcPct val="0"/>
              </a:spcAft>
              <a:tabLst>
                <a:tab pos="685800" algn="l"/>
              </a:tabLst>
              <a:defRPr>
                <a:solidFill>
                  <a:schemeClr val="tx1"/>
                </a:solidFill>
                <a:latin typeface="Arial" panose="020B0604020202020204" pitchFamily="34" charset="0"/>
              </a:defRPr>
            </a:lvl8pPr>
            <a:lvl9pPr eaLnBrk="0" fontAlgn="base" hangingPunct="0">
              <a:spcBef>
                <a:spcPct val="0"/>
              </a:spcBef>
              <a:spcAft>
                <a:spcPct val="0"/>
              </a:spcAft>
              <a:tabLst>
                <a:tab pos="6858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tab pos="685800" algn="l"/>
              </a:tabLst>
            </a:pPr>
            <a:r>
              <a:rPr kumimoji="0" lang="zh-CN" altLang="en-US" sz="2400" b="1" i="0" u="none" strike="noStrike" cap="none" normalizeH="0" baseline="0" dirty="0">
                <a:ln>
                  <a:noFill/>
                </a:ln>
                <a:solidFill>
                  <a:srgbClr val="3366FF"/>
                </a:solidFill>
                <a:effectLst/>
                <a:latin typeface="黑体" panose="02010609060101010101" pitchFamily="49" charset="-122"/>
                <a:ea typeface="黑体" panose="02010609060101010101" pitchFamily="49" charset="-122"/>
                <a:cs typeface="Times New Roman" panose="02020603050405020304" pitchFamily="18" charset="0"/>
              </a:rPr>
              <a:t>二、</a:t>
            </a:r>
            <a:r>
              <a:rPr kumimoji="0" lang="zh-CN" sz="2400" b="1" i="0" u="none" strike="noStrike" cap="none" normalizeH="0" baseline="0" dirty="0">
                <a:ln>
                  <a:noFill/>
                </a:ln>
                <a:solidFill>
                  <a:srgbClr val="3366FF"/>
                </a:solidFill>
                <a:effectLst/>
                <a:latin typeface="黑体" panose="02010609060101010101" pitchFamily="49" charset="-122"/>
                <a:ea typeface="黑体" panose="02010609060101010101" pitchFamily="49" charset="-122"/>
                <a:cs typeface="Times New Roman" panose="02020603050405020304" pitchFamily="18" charset="0"/>
              </a:rPr>
              <a:t>电枢电动势</a:t>
            </a:r>
            <a:r>
              <a:rPr kumimoji="0" lang="zh-CN" altLang="en-US" sz="2400" b="1" i="0" u="none" strike="noStrike" cap="none" normalizeH="0" baseline="0" dirty="0">
                <a:ln>
                  <a:noFill/>
                </a:ln>
                <a:solidFill>
                  <a:srgbClr val="3366FF"/>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en-US" altLang="zh-CN" sz="2400" b="1" i="0" u="none" strike="noStrike" cap="none" normalizeH="0" baseline="0" dirty="0">
                <a:ln>
                  <a:noFill/>
                </a:ln>
                <a:solidFill>
                  <a:srgbClr val="3366FF"/>
                </a:solidFill>
                <a:effectLst/>
                <a:latin typeface="Times New Roman" panose="02020603050405020304" pitchFamily="18" charset="0"/>
                <a:ea typeface="黑体" panose="02010609060101010101" pitchFamily="49" charset="-122"/>
                <a:cs typeface="Times New Roman" panose="02020603050405020304" pitchFamily="18" charset="0"/>
              </a:rPr>
              <a:t>Armature Counter-Electromotive Force</a:t>
            </a:r>
            <a:endParaRPr kumimoji="0" lang="en-US" alt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685800" algn="l"/>
              </a:tabLst>
            </a:pP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685800" algn="l"/>
              </a:tabLst>
            </a:pP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基本概念：电角度和机械角度</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685800" algn="l"/>
              </a:tabLst>
            </a:pPr>
            <a:endPar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685800" algn="l"/>
              </a:tabLst>
            </a:pP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机械角度</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8"/>
          <p:cNvSpPr>
            <a:spLocks noChangeArrowheads="1"/>
          </p:cNvSpPr>
          <p:nvPr/>
        </p:nvSpPr>
        <p:spPr bwMode="auto">
          <a:xfrm>
            <a:off x="2051720" y="2233191"/>
            <a:ext cx="69557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：电枢旋转一周，机械角度变化</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360</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度或</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2</a:t>
            </a: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π</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弧度。</a:t>
            </a:r>
            <a:endParaRPr kumimoji="0" lang="zh-CN" altLang="en-US" sz="800" b="0" i="0" u="none" strike="noStrike" cap="none" normalizeH="0" baseline="0" dirty="0">
              <a:ln>
                <a:noFill/>
              </a:ln>
              <a:solidFill>
                <a:schemeClr val="tx1"/>
              </a:solidFill>
              <a:effectLst/>
            </a:endParaRPr>
          </a:p>
        </p:txBody>
      </p:sp>
      <p:sp>
        <p:nvSpPr>
          <p:cNvPr id="10" name="Rectangle 9"/>
          <p:cNvSpPr>
            <a:spLocks noChangeArrowheads="1"/>
          </p:cNvSpPr>
          <p:nvPr/>
        </p:nvSpPr>
        <p:spPr bwMode="auto">
          <a:xfrm>
            <a:off x="179512" y="316981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弧度</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秒</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11" name="Rectangle 10"/>
          <p:cNvSpPr>
            <a:spLocks noChangeArrowheads="1"/>
          </p:cNvSpPr>
          <p:nvPr/>
        </p:nvSpPr>
        <p:spPr bwMode="auto">
          <a:xfrm>
            <a:off x="164456" y="4260096"/>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电角度</a:t>
            </a: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2" name="Rectangle 11"/>
          <p:cNvSpPr>
            <a:spLocks noChangeArrowheads="1"/>
          </p:cNvSpPr>
          <p:nvPr/>
        </p:nvSpPr>
        <p:spPr bwMode="auto">
          <a:xfrm>
            <a:off x="288103" y="3811137"/>
            <a:ext cx="918730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2192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1219200" algn="l" defTabSz="914400" rtl="0" eaLnBrk="0" fontAlgn="base" latinLnBrk="0" hangingPunct="0">
              <a:lnSpc>
                <a:spcPct val="100000"/>
              </a:lnSpc>
              <a:spcBef>
                <a:spcPct val="0"/>
              </a:spcBef>
              <a:spcAft>
                <a:spcPct val="0"/>
              </a:spcAft>
              <a:buClrTx/>
              <a:buSzTx/>
              <a:buFontTx/>
              <a:buNone/>
              <a:tabLst/>
            </a:pPr>
            <a:endPar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121920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：电枢旋转经过</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2</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个极距，电角度变化</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360</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度或</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2</a:t>
            </a: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π</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弧度</a:t>
            </a:r>
            <a:endPar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121920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。（用于描述电枢链接的磁感应强度</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B</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的周期变化范围）</a:t>
            </a:r>
            <a:endParaRPr kumimoji="0" lang="zh-CN" altLang="en-US" sz="800" b="0" i="0" u="none" strike="noStrike" cap="none" normalizeH="0" baseline="0" dirty="0">
              <a:ln>
                <a:noFill/>
              </a:ln>
              <a:solidFill>
                <a:schemeClr val="tx1"/>
              </a:solidFill>
              <a:effectLst/>
            </a:endParaRPr>
          </a:p>
          <a:p>
            <a:pPr marL="0" marR="0" lvl="0" indent="121920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3" name="Rectangle 12"/>
          <p:cNvSpPr>
            <a:spLocks noChangeArrowheads="1"/>
          </p:cNvSpPr>
          <p:nvPr/>
        </p:nvSpPr>
        <p:spPr bwMode="auto">
          <a:xfrm>
            <a:off x="309757" y="577863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电角速度</a:t>
            </a:r>
            <a:endParaRPr kumimoji="0" lang="zh-CN" sz="1800" b="0" i="0" u="none" strike="noStrike" cap="none" normalizeH="0" baseline="0">
              <a:ln>
                <a:noFill/>
              </a:ln>
              <a:solidFill>
                <a:schemeClr val="tx1"/>
              </a:solidFill>
              <a:effectLst/>
              <a:latin typeface="Arial" panose="020B0604020202020204" pitchFamily="34" charset="0"/>
            </a:endParaRPr>
          </a:p>
        </p:txBody>
      </p:sp>
      <p:sp>
        <p:nvSpPr>
          <p:cNvPr id="15" name="矩形 14"/>
          <p:cNvSpPr/>
          <p:nvPr/>
        </p:nvSpPr>
        <p:spPr>
          <a:xfrm>
            <a:off x="3131840" y="2704207"/>
            <a:ext cx="2038810" cy="461665"/>
          </a:xfrm>
          <a:prstGeom prst="rect">
            <a:avLst/>
          </a:prstGeom>
        </p:spPr>
        <p:txBody>
          <a:bodyPr wrap="square">
            <a:spAutoFit/>
          </a:bodyPr>
          <a:lstStyle/>
          <a:p>
            <a:pPr lvl="0" eaLnBrk="0" hangingPunct="0"/>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机械角速度</a:t>
            </a:r>
            <a:endParaRPr lang="zh-CN" altLang="en-US" sz="2400" dirty="0"/>
          </a:p>
        </p:txBody>
      </p:sp>
      <p:sp>
        <p:nvSpPr>
          <p:cNvPr id="19" name="日期占位符 18">
            <a:extLst>
              <a:ext uri="{FF2B5EF4-FFF2-40B4-BE49-F238E27FC236}">
                <a16:creationId xmlns:a16="http://schemas.microsoft.com/office/drawing/2014/main" id="{40C8F88C-54F9-13A3-D8A7-E77BF1F7424F}"/>
              </a:ext>
            </a:extLst>
          </p:cNvPr>
          <p:cNvSpPr>
            <a:spLocks noGrp="1"/>
          </p:cNvSpPr>
          <p:nvPr>
            <p:ph type="dt" sz="half" idx="10"/>
          </p:nvPr>
        </p:nvSpPr>
        <p:spPr>
          <a:xfrm>
            <a:off x="8357592" y="0"/>
            <a:ext cx="658416" cy="476250"/>
          </a:xfrm>
        </p:spPr>
        <p:txBody>
          <a:bodyPr/>
          <a:lstStyle/>
          <a:p>
            <a:fld id="{455D485C-72B5-4570-B4D5-F4DC0300C46B}" type="datetime10">
              <a:rPr lang="en-US" altLang="zh-CN" smtClean="0"/>
              <a:t>16:53</a:t>
            </a:fld>
            <a:endParaRPr lang="en-US" altLang="zh-CN" dirty="0"/>
          </a:p>
        </p:txBody>
      </p:sp>
      <p:sp>
        <p:nvSpPr>
          <p:cNvPr id="20" name="灯片编号占位符 19">
            <a:extLst>
              <a:ext uri="{FF2B5EF4-FFF2-40B4-BE49-F238E27FC236}">
                <a16:creationId xmlns:a16="http://schemas.microsoft.com/office/drawing/2014/main" id="{6955294F-610F-DE0C-4312-692339332164}"/>
              </a:ext>
            </a:extLst>
          </p:cNvPr>
          <p:cNvSpPr>
            <a:spLocks noGrp="1"/>
          </p:cNvSpPr>
          <p:nvPr>
            <p:ph type="sldNum" sz="quarter" idx="12"/>
          </p:nvPr>
        </p:nvSpPr>
        <p:spPr/>
        <p:txBody>
          <a:bodyPr/>
          <a:lstStyle/>
          <a:p>
            <a:fld id="{76D830B0-DF59-4281-898F-AF208100B213}" type="slidenum">
              <a:rPr lang="en-US" altLang="zh-CN" smtClean="0"/>
              <a:pPr/>
              <a:t>60</a:t>
            </a:fld>
            <a:endParaRPr lang="en-US" altLang="zh-CN"/>
          </a:p>
        </p:txBody>
      </p:sp>
    </p:spTree>
    <p:extLst>
      <p:ext uri="{BB962C8B-B14F-4D97-AF65-F5344CB8AC3E}">
        <p14:creationId xmlns:p14="http://schemas.microsoft.com/office/powerpoint/2010/main" val="18525319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80728"/>
            <a:ext cx="8229600" cy="4525963"/>
          </a:xfrm>
        </p:spPr>
        <p:txBody>
          <a:bodyPr/>
          <a:lstStyle/>
          <a:p>
            <a:pPr lvl="0" eaLnBrk="0" hangingPunct="0">
              <a:spcBef>
                <a:spcPct val="0"/>
              </a:spcBef>
              <a:buFont typeface="Arial" panose="020B0604020202020204" pitchFamily="34" charset="0"/>
              <a:buChar char="•"/>
            </a:pPr>
            <a:r>
              <a:rPr lang="zh-CN" altLang="zh-CN" sz="28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电枢电动势（反电势）</a:t>
            </a:r>
            <a:endParaRPr lang="zh-CN" altLang="zh-CN" sz="2800" dirty="0"/>
          </a:p>
          <a:p>
            <a:pPr marL="0" lvl="0" indent="0" eaLnBrk="0" hangingPunct="0">
              <a:spcBef>
                <a:spcPct val="0"/>
              </a:spcBef>
              <a:buNone/>
            </a:pPr>
            <a:r>
              <a:rPr lang="en-US" altLang="zh-CN" sz="28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Ea</a:t>
            </a:r>
            <a:r>
              <a:rPr lang="zh-CN" altLang="en-US" sz="28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为支路各串联绕组元件内感应电动势之和</a:t>
            </a: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sz="2800" dirty="0">
              <a:latin typeface="Arial" panose="020B0604020202020204" pitchFamily="34" charset="0"/>
            </a:endParaRPr>
          </a:p>
          <a:p>
            <a:endParaRPr lang="zh-CN" altLang="en-US" dirty="0"/>
          </a:p>
        </p:txBody>
      </p:sp>
      <p:sp>
        <p:nvSpPr>
          <p:cNvPr id="4" name="Rectangle 2"/>
          <p:cNvSpPr>
            <a:spLocks noChangeArrowheads="1"/>
          </p:cNvSpPr>
          <p:nvPr/>
        </p:nvSpPr>
        <p:spPr bwMode="auto">
          <a:xfrm>
            <a:off x="323528" y="263691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606356940"/>
              </p:ext>
            </p:extLst>
          </p:nvPr>
        </p:nvGraphicFramePr>
        <p:xfrm>
          <a:off x="34647" y="1938734"/>
          <a:ext cx="4560676" cy="3453208"/>
        </p:xfrm>
        <a:graphic>
          <a:graphicData uri="http://schemas.openxmlformats.org/presentationml/2006/ole">
            <mc:AlternateContent xmlns:mc="http://schemas.openxmlformats.org/markup-compatibility/2006">
              <mc:Choice xmlns:v="urn:schemas-microsoft-com:vml" Requires="v">
                <p:oleObj r:id="rId2" imgW="2924175" imgH="2206625" progId="MSDraw">
                  <p:embed/>
                </p:oleObj>
              </mc:Choice>
              <mc:Fallback>
                <p:oleObj r:id="rId2" imgW="2924175" imgH="2206625" progId="MSDraw">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47" y="1938734"/>
                        <a:ext cx="4560676" cy="3453208"/>
                      </a:xfrm>
                      <a:prstGeom prst="rect">
                        <a:avLst/>
                      </a:prstGeom>
                      <a:solidFill>
                        <a:srgbClr val="FFFFFF"/>
                      </a:solidFill>
                    </p:spPr>
                  </p:pic>
                </p:oleObj>
              </mc:Fallback>
            </mc:AlternateContent>
          </a:graphicData>
        </a:graphic>
      </p:graphicFrame>
      <p:sp>
        <p:nvSpPr>
          <p:cNvPr id="6" name="Rectangle 4"/>
          <p:cNvSpPr>
            <a:spLocks noChangeArrowheads="1"/>
          </p:cNvSpPr>
          <p:nvPr/>
        </p:nvSpPr>
        <p:spPr bwMode="auto">
          <a:xfrm>
            <a:off x="4162425" y="261520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3882064047"/>
              </p:ext>
            </p:extLst>
          </p:nvPr>
        </p:nvGraphicFramePr>
        <p:xfrm>
          <a:off x="4460527" y="1912600"/>
          <a:ext cx="4683473" cy="3393951"/>
        </p:xfrm>
        <a:graphic>
          <a:graphicData uri="http://schemas.openxmlformats.org/presentationml/2006/ole">
            <mc:AlternateContent xmlns:mc="http://schemas.openxmlformats.org/markup-compatibility/2006">
              <mc:Choice xmlns:v="urn:schemas-microsoft-com:vml" Requires="v">
                <p:oleObj r:id="rId4" imgW="2924175" imgH="2112963" progId="MSDraw">
                  <p:embed/>
                </p:oleObj>
              </mc:Choice>
              <mc:Fallback>
                <p:oleObj r:id="rId4" imgW="2924175" imgH="2112963" progId="MSDraw">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60527" y="1912600"/>
                        <a:ext cx="4683473" cy="3393951"/>
                      </a:xfrm>
                      <a:prstGeom prst="rect">
                        <a:avLst/>
                      </a:prstGeom>
                      <a:solidFill>
                        <a:srgbClr val="CCFFFF"/>
                      </a:solid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511537677"/>
              </p:ext>
            </p:extLst>
          </p:nvPr>
        </p:nvGraphicFramePr>
        <p:xfrm>
          <a:off x="3192339" y="5420516"/>
          <a:ext cx="1057275" cy="419100"/>
        </p:xfrm>
        <a:graphic>
          <a:graphicData uri="http://schemas.openxmlformats.org/presentationml/2006/ole">
            <mc:AlternateContent xmlns:mc="http://schemas.openxmlformats.org/markup-compatibility/2006">
              <mc:Choice xmlns:v="urn:schemas-microsoft-com:vml" Requires="v">
                <p:oleObj name="公式" r:id="rId6" imgW="507780" imgH="203112" progId="Equation.3">
                  <p:embed/>
                </p:oleObj>
              </mc:Choice>
              <mc:Fallback>
                <p:oleObj name="公式" r:id="rId6" imgW="507780" imgH="203112"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92339" y="5420516"/>
                        <a:ext cx="1057275" cy="419100"/>
                      </a:xfrm>
                      <a:prstGeom prst="rect">
                        <a:avLst/>
                      </a:prstGeom>
                      <a:solidFill>
                        <a:srgbClr val="FFFFFF"/>
                      </a:solid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622967239"/>
              </p:ext>
            </p:extLst>
          </p:nvPr>
        </p:nvGraphicFramePr>
        <p:xfrm>
          <a:off x="294953" y="6268243"/>
          <a:ext cx="1028700" cy="476250"/>
        </p:xfrm>
        <a:graphic>
          <a:graphicData uri="http://schemas.openxmlformats.org/presentationml/2006/ole">
            <mc:AlternateContent xmlns:mc="http://schemas.openxmlformats.org/markup-compatibility/2006">
              <mc:Choice xmlns:v="urn:schemas-microsoft-com:vml" Requires="v">
                <p:oleObj name="公式" r:id="rId8" imgW="495085" imgH="228501" progId="Equation.3">
                  <p:embed/>
                </p:oleObj>
              </mc:Choice>
              <mc:Fallback>
                <p:oleObj name="公式" r:id="rId8" imgW="495085" imgH="228501"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4953" y="6268243"/>
                        <a:ext cx="1028700" cy="476250"/>
                      </a:xfrm>
                      <a:prstGeom prst="rect">
                        <a:avLst/>
                      </a:prstGeom>
                      <a:solidFill>
                        <a:srgbClr val="FFFFFF"/>
                      </a:solidFill>
                    </p:spPr>
                  </p:pic>
                </p:oleObj>
              </mc:Fallback>
            </mc:AlternateContent>
          </a:graphicData>
        </a:graphic>
      </p:graphicFrame>
      <p:sp>
        <p:nvSpPr>
          <p:cNvPr id="10" name="Rectangle 7"/>
          <p:cNvSpPr>
            <a:spLocks noChangeArrowheads="1"/>
          </p:cNvSpPr>
          <p:nvPr/>
        </p:nvSpPr>
        <p:spPr bwMode="auto">
          <a:xfrm>
            <a:off x="294953" y="5389711"/>
            <a:ext cx="299312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任一元件转过</a:t>
            </a: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τ</a:t>
            </a: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1" name="Rectangle 8"/>
          <p:cNvSpPr>
            <a:spLocks noChangeArrowheads="1"/>
          </p:cNvSpPr>
          <p:nvPr/>
        </p:nvSpPr>
        <p:spPr bwMode="auto">
          <a:xfrm>
            <a:off x="4011167" y="5502424"/>
            <a:ext cx="480131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，每元件内感应电势瞬时值不同，</a:t>
            </a: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2" name="Rectangle 9"/>
          <p:cNvSpPr>
            <a:spLocks noChangeArrowheads="1"/>
          </p:cNvSpPr>
          <p:nvPr/>
        </p:nvSpPr>
        <p:spPr bwMode="auto">
          <a:xfrm>
            <a:off x="1323653" y="6320981"/>
            <a:ext cx="81153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任一元件转过一极距的感应电势平均值</a:t>
            </a: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支路串联元件数。</a:t>
            </a: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3" name="矩形 12"/>
          <p:cNvSpPr/>
          <p:nvPr/>
        </p:nvSpPr>
        <p:spPr>
          <a:xfrm>
            <a:off x="281261" y="5901736"/>
            <a:ext cx="8848972" cy="461665"/>
          </a:xfrm>
          <a:prstGeom prst="rect">
            <a:avLst/>
          </a:prstGeom>
        </p:spPr>
        <p:txBody>
          <a:bodyPr wrap="square">
            <a:spAutoFit/>
          </a:bodyPr>
          <a:lstStyle/>
          <a:p>
            <a:pPr lvl="0" eaLnBrk="0" hangingPunct="0"/>
            <a:r>
              <a:rPr lang="zh-CN"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但任何瞬时</a:t>
            </a:r>
            <a:r>
              <a:rPr lang="zh-CN" altLang="zh-CN" sz="24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支路构成情况不变，</a:t>
            </a:r>
            <a:r>
              <a:rPr lang="zh-CN" altLang="zh-CN" sz="2400" b="1" dirty="0">
                <a:solidFill>
                  <a:srgbClr val="800000"/>
                </a:solidFill>
                <a:latin typeface="黑体" panose="02010609060101010101" pitchFamily="49" charset="-122"/>
                <a:ea typeface="黑体" panose="02010609060101010101" pitchFamily="49" charset="-122"/>
                <a:cs typeface="Times New Roman" panose="02020603050405020304" pitchFamily="18" charset="0"/>
              </a:rPr>
              <a:t>支路各元件电势瞬时值总和不变</a:t>
            </a:r>
            <a:endParaRPr lang="zh-CN" altLang="zh-CN" sz="2400" dirty="0"/>
          </a:p>
        </p:txBody>
      </p:sp>
      <p:sp>
        <p:nvSpPr>
          <p:cNvPr id="17" name="日期占位符 16">
            <a:extLst>
              <a:ext uri="{FF2B5EF4-FFF2-40B4-BE49-F238E27FC236}">
                <a16:creationId xmlns:a16="http://schemas.microsoft.com/office/drawing/2014/main" id="{20878329-BDC6-C925-0540-37ECCA0F0E94}"/>
              </a:ext>
            </a:extLst>
          </p:cNvPr>
          <p:cNvSpPr>
            <a:spLocks noGrp="1"/>
          </p:cNvSpPr>
          <p:nvPr>
            <p:ph type="dt" sz="half" idx="10"/>
          </p:nvPr>
        </p:nvSpPr>
        <p:spPr>
          <a:xfrm>
            <a:off x="8406930" y="11456"/>
            <a:ext cx="717357" cy="476250"/>
          </a:xfrm>
        </p:spPr>
        <p:txBody>
          <a:bodyPr/>
          <a:lstStyle/>
          <a:p>
            <a:fld id="{7BA17D80-79EB-448F-B3C0-A9A4058ED8D0}" type="datetime10">
              <a:rPr lang="en-US" altLang="zh-CN" smtClean="0"/>
              <a:t>16:53</a:t>
            </a:fld>
            <a:endParaRPr lang="en-US" altLang="zh-CN" dirty="0"/>
          </a:p>
        </p:txBody>
      </p:sp>
      <p:sp>
        <p:nvSpPr>
          <p:cNvPr id="18" name="灯片编号占位符 17">
            <a:extLst>
              <a:ext uri="{FF2B5EF4-FFF2-40B4-BE49-F238E27FC236}">
                <a16:creationId xmlns:a16="http://schemas.microsoft.com/office/drawing/2014/main" id="{C9671AB0-99BF-E752-8CEE-A8B4B716E4AA}"/>
              </a:ext>
            </a:extLst>
          </p:cNvPr>
          <p:cNvSpPr>
            <a:spLocks noGrp="1"/>
          </p:cNvSpPr>
          <p:nvPr>
            <p:ph type="sldNum" sz="quarter" idx="12"/>
          </p:nvPr>
        </p:nvSpPr>
        <p:spPr/>
        <p:txBody>
          <a:bodyPr/>
          <a:lstStyle/>
          <a:p>
            <a:fld id="{B73B34B3-1432-4053-90C7-E0228297BE5F}" type="slidenum">
              <a:rPr lang="en-US" altLang="zh-CN" smtClean="0"/>
              <a:pPr/>
              <a:t>61</a:t>
            </a:fld>
            <a:endParaRPr lang="en-US" altLang="zh-CN"/>
          </a:p>
        </p:txBody>
      </p:sp>
    </p:spTree>
    <p:extLst>
      <p:ext uri="{BB962C8B-B14F-4D97-AF65-F5344CB8AC3E}">
        <p14:creationId xmlns:p14="http://schemas.microsoft.com/office/powerpoint/2010/main" val="12766339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092782988"/>
              </p:ext>
            </p:extLst>
          </p:nvPr>
        </p:nvGraphicFramePr>
        <p:xfrm>
          <a:off x="2987824" y="932707"/>
          <a:ext cx="1666875" cy="838200"/>
        </p:xfrm>
        <a:graphic>
          <a:graphicData uri="http://schemas.openxmlformats.org/presentationml/2006/ole">
            <mc:AlternateContent xmlns:mc="http://schemas.openxmlformats.org/markup-compatibility/2006">
              <mc:Choice xmlns:v="urn:schemas-microsoft-com:vml" Requires="v">
                <p:oleObj name="公式" r:id="rId2" imgW="774364" imgH="393529" progId="Equation.3">
                  <p:embed/>
                </p:oleObj>
              </mc:Choice>
              <mc:Fallback>
                <p:oleObj name="公式" r:id="rId2" imgW="774364" imgH="393529"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7824" y="932707"/>
                        <a:ext cx="1666875" cy="838200"/>
                      </a:xfrm>
                      <a:prstGeom prst="rect">
                        <a:avLst/>
                      </a:prstGeom>
                      <a:solidFill>
                        <a:srgbClr val="FFFFFF"/>
                      </a:solidFill>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688070403"/>
              </p:ext>
            </p:extLst>
          </p:nvPr>
        </p:nvGraphicFramePr>
        <p:xfrm>
          <a:off x="4932040" y="1070076"/>
          <a:ext cx="438150" cy="485775"/>
        </p:xfrm>
        <a:graphic>
          <a:graphicData uri="http://schemas.openxmlformats.org/presentationml/2006/ole">
            <mc:AlternateContent xmlns:mc="http://schemas.openxmlformats.org/markup-compatibility/2006">
              <mc:Choice xmlns:v="urn:schemas-microsoft-com:vml" Requires="v">
                <p:oleObj name="公式" r:id="rId4" imgW="203112" imgH="228501" progId="Equation.3">
                  <p:embed/>
                </p:oleObj>
              </mc:Choice>
              <mc:Fallback>
                <p:oleObj name="公式" r:id="rId4" imgW="203112" imgH="228501"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2040" y="1070076"/>
                        <a:ext cx="438150" cy="485775"/>
                      </a:xfrm>
                      <a:prstGeom prst="rect">
                        <a:avLst/>
                      </a:prstGeom>
                      <a:solidFill>
                        <a:srgbClr val="FFFFFF"/>
                      </a:solid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993420919"/>
              </p:ext>
            </p:extLst>
          </p:nvPr>
        </p:nvGraphicFramePr>
        <p:xfrm>
          <a:off x="2905472" y="2561883"/>
          <a:ext cx="2057400" cy="552450"/>
        </p:xfrm>
        <a:graphic>
          <a:graphicData uri="http://schemas.openxmlformats.org/presentationml/2006/ole">
            <mc:AlternateContent xmlns:mc="http://schemas.openxmlformats.org/markup-compatibility/2006">
              <mc:Choice xmlns:v="urn:schemas-microsoft-com:vml" Requires="v">
                <p:oleObj name="公式" r:id="rId6" imgW="850900" imgH="228600" progId="Equation.3">
                  <p:embed/>
                </p:oleObj>
              </mc:Choice>
              <mc:Fallback>
                <p:oleObj name="公式" r:id="rId6" imgW="850900" imgH="2286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05472" y="2561883"/>
                        <a:ext cx="2057400" cy="552450"/>
                      </a:xfrm>
                      <a:prstGeom prst="rect">
                        <a:avLst/>
                      </a:prstGeom>
                      <a:solidFill>
                        <a:srgbClr val="FFFFFF"/>
                      </a:solid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384098204"/>
              </p:ext>
            </p:extLst>
          </p:nvPr>
        </p:nvGraphicFramePr>
        <p:xfrm>
          <a:off x="6180014" y="2476158"/>
          <a:ext cx="923925" cy="723900"/>
        </p:xfrm>
        <a:graphic>
          <a:graphicData uri="http://schemas.openxmlformats.org/presentationml/2006/ole">
            <mc:AlternateContent xmlns:mc="http://schemas.openxmlformats.org/markup-compatibility/2006">
              <mc:Choice xmlns:v="urn:schemas-microsoft-com:vml" Requires="v">
                <p:oleObj name="公式" r:id="rId8" imgW="482391" imgH="393529" progId="Equation.3">
                  <p:embed/>
                </p:oleObj>
              </mc:Choice>
              <mc:Fallback>
                <p:oleObj name="公式" r:id="rId8" imgW="482391" imgH="393529" progId="Equation.3">
                  <p:embed/>
                  <p:pic>
                    <p:nvPicPr>
                      <p:cNvPr id="0" name="Object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80014" y="2476158"/>
                        <a:ext cx="923925" cy="723900"/>
                      </a:xfrm>
                      <a:prstGeom prst="rect">
                        <a:avLst/>
                      </a:prstGeom>
                      <a:solidFill>
                        <a:srgbClr val="FFFFFF"/>
                      </a:solid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765761887"/>
              </p:ext>
            </p:extLst>
          </p:nvPr>
        </p:nvGraphicFramePr>
        <p:xfrm>
          <a:off x="251520" y="3109570"/>
          <a:ext cx="6477000" cy="1666875"/>
        </p:xfrm>
        <a:graphic>
          <a:graphicData uri="http://schemas.openxmlformats.org/presentationml/2006/ole">
            <mc:AlternateContent xmlns:mc="http://schemas.openxmlformats.org/markup-compatibility/2006">
              <mc:Choice xmlns:v="urn:schemas-microsoft-com:vml" Requires="v">
                <p:oleObj name="公式" r:id="rId10" imgW="3060700" imgH="787400" progId="Equation.3">
                  <p:embed/>
                </p:oleObj>
              </mc:Choice>
              <mc:Fallback>
                <p:oleObj name="公式" r:id="rId10" imgW="3060700" imgH="787400" progId="Equation.3">
                  <p:embed/>
                  <p:pic>
                    <p:nvPicPr>
                      <p:cNvPr id="0" name="Object 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1520" y="3109570"/>
                        <a:ext cx="6477000" cy="1666875"/>
                      </a:xfrm>
                      <a:prstGeom prst="rect">
                        <a:avLst/>
                      </a:prstGeom>
                      <a:solidFill>
                        <a:srgbClr val="FFFFFF"/>
                      </a:solidFill>
                    </p:spPr>
                  </p:pic>
                </p:oleObj>
              </mc:Fallback>
            </mc:AlternateContent>
          </a:graphicData>
        </a:graphic>
      </p:graphicFrame>
      <p:sp>
        <p:nvSpPr>
          <p:cNvPr id="7" name="Rectangle 6"/>
          <p:cNvSpPr>
            <a:spLocks noChangeArrowheads="1"/>
          </p:cNvSpPr>
          <p:nvPr/>
        </p:nvSpPr>
        <p:spPr bwMode="auto">
          <a:xfrm>
            <a:off x="251520" y="1063824"/>
            <a:ext cx="299312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由电磁感应定律：</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8"/>
          <p:cNvSpPr>
            <a:spLocks noChangeArrowheads="1"/>
          </p:cNvSpPr>
          <p:nvPr/>
        </p:nvSpPr>
        <p:spPr bwMode="auto">
          <a:xfrm>
            <a:off x="5370190" y="1063824"/>
            <a:ext cx="357020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为每个绕组元件的匝数。</a:t>
            </a:r>
            <a:endPar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p:txBody>
      </p:sp>
      <p:sp>
        <p:nvSpPr>
          <p:cNvPr id="10" name="Rectangle 9"/>
          <p:cNvSpPr>
            <a:spLocks noChangeArrowheads="1"/>
          </p:cNvSpPr>
          <p:nvPr/>
        </p:nvSpPr>
        <p:spPr bwMode="auto">
          <a:xfrm>
            <a:off x="5151115" y="283810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即</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0"/>
          <p:cNvSpPr>
            <a:spLocks noChangeArrowheads="1"/>
          </p:cNvSpPr>
          <p:nvPr/>
        </p:nvSpPr>
        <p:spPr bwMode="auto">
          <a:xfrm>
            <a:off x="251520" y="3894981"/>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2" name="矩形 11"/>
          <p:cNvSpPr/>
          <p:nvPr/>
        </p:nvSpPr>
        <p:spPr>
          <a:xfrm>
            <a:off x="251520" y="1857256"/>
            <a:ext cx="8136904" cy="1200329"/>
          </a:xfrm>
          <a:prstGeom prst="rect">
            <a:avLst/>
          </a:prstGeom>
        </p:spPr>
        <p:txBody>
          <a:bodyPr wrap="square">
            <a:spAutoFit/>
          </a:bodyPr>
          <a:lstStyle/>
          <a:p>
            <a:pPr marL="342900" lvl="0" indent="-342900" eaLnBrk="0" hangingPunct="0">
              <a:buFont typeface="Arial" panose="020B0604020202020204" pitchFamily="34" charset="0"/>
              <a:buChar char="•"/>
            </a:pPr>
            <a:r>
              <a:rPr lang="zh-CN" altLang="en-US" sz="24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一元件</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转过一极距后感应电势的平均值（数值）：</a:t>
            </a:r>
            <a:r>
              <a:rPr lang="zh-CN" altLang="en-US" sz="2400" dirty="0">
                <a:solidFill>
                  <a:srgbClr val="000000"/>
                </a:solidFill>
                <a:latin typeface="宋体" panose="02010600030101010101" pitchFamily="2" charset="-122"/>
                <a:cs typeface="Times New Roman" panose="02020603050405020304" pitchFamily="18" charset="0"/>
              </a:rPr>
              <a:t>  </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转</a:t>
            </a:r>
            <a:endParaRPr lang="en-US"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a:p>
            <a:pPr lvl="0" eaLnBrk="0" hangingPunct="0"/>
            <a:endParaRPr lang="en-US"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a:p>
            <a:pPr lvl="0" eaLnBrk="0" hangingPunct="0"/>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过一极距：电角度</a:t>
            </a:r>
            <a:endParaRPr lang="zh-CN" altLang="en-US" sz="2400" dirty="0"/>
          </a:p>
        </p:txBody>
      </p:sp>
      <p:graphicFrame>
        <p:nvGraphicFramePr>
          <p:cNvPr id="13" name="对象 12"/>
          <p:cNvGraphicFramePr>
            <a:graphicFrameLocks noChangeAspect="1"/>
          </p:cNvGraphicFramePr>
          <p:nvPr>
            <p:extLst>
              <p:ext uri="{D42A27DB-BD31-4B8C-83A1-F6EECF244321}">
                <p14:modId xmlns:p14="http://schemas.microsoft.com/office/powerpoint/2010/main" val="2057794942"/>
              </p:ext>
            </p:extLst>
          </p:nvPr>
        </p:nvGraphicFramePr>
        <p:xfrm>
          <a:off x="6884864" y="4566013"/>
          <a:ext cx="438150" cy="742950"/>
        </p:xfrm>
        <a:graphic>
          <a:graphicData uri="http://schemas.openxmlformats.org/presentationml/2006/ole">
            <mc:AlternateContent xmlns:mc="http://schemas.openxmlformats.org/markup-compatibility/2006">
              <mc:Choice xmlns:v="urn:schemas-microsoft-com:vml" Requires="v">
                <p:oleObj name="公式" r:id="rId12" imgW="228501" imgH="393529" progId="Equation.3">
                  <p:embed/>
                </p:oleObj>
              </mc:Choice>
              <mc:Fallback>
                <p:oleObj name="公式" r:id="rId12" imgW="228501" imgH="393529" progId="Equation.3">
                  <p:embed/>
                  <p:pic>
                    <p:nvPicPr>
                      <p:cNvPr id="0" name="Object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884864" y="4566013"/>
                        <a:ext cx="438150" cy="742950"/>
                      </a:xfrm>
                      <a:prstGeom prst="rect">
                        <a:avLst/>
                      </a:prstGeom>
                      <a:solidFill>
                        <a:srgbClr val="FFFFFF"/>
                      </a:solidFill>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765112937"/>
              </p:ext>
            </p:extLst>
          </p:nvPr>
        </p:nvGraphicFramePr>
        <p:xfrm>
          <a:off x="3769990" y="5195750"/>
          <a:ext cx="1600200" cy="561975"/>
        </p:xfrm>
        <a:graphic>
          <a:graphicData uri="http://schemas.openxmlformats.org/presentationml/2006/ole">
            <mc:AlternateContent xmlns:mc="http://schemas.openxmlformats.org/markup-compatibility/2006">
              <mc:Choice xmlns:v="urn:schemas-microsoft-com:vml" Requires="v">
                <p:oleObj name="公式" r:id="rId14" imgW="660400" imgH="228600" progId="Equation.3">
                  <p:embed/>
                </p:oleObj>
              </mc:Choice>
              <mc:Fallback>
                <p:oleObj name="公式" r:id="rId14" imgW="660400" imgH="228600" progId="Equation.3">
                  <p:embed/>
                  <p:pic>
                    <p:nvPicPr>
                      <p:cNvPr id="0" name="Object 1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769990" y="5195750"/>
                        <a:ext cx="1600200" cy="561975"/>
                      </a:xfrm>
                      <a:prstGeom prst="rect">
                        <a:avLst/>
                      </a:prstGeom>
                      <a:solidFill>
                        <a:srgbClr val="FFFFFF"/>
                      </a:solidFill>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3971990462"/>
              </p:ext>
            </p:extLst>
          </p:nvPr>
        </p:nvGraphicFramePr>
        <p:xfrm>
          <a:off x="2149549" y="5861580"/>
          <a:ext cx="6238875" cy="847725"/>
        </p:xfrm>
        <a:graphic>
          <a:graphicData uri="http://schemas.openxmlformats.org/presentationml/2006/ole">
            <mc:AlternateContent xmlns:mc="http://schemas.openxmlformats.org/markup-compatibility/2006">
              <mc:Choice xmlns:v="urn:schemas-microsoft-com:vml" Requires="v">
                <p:oleObj name="公式" r:id="rId16" imgW="2895600" imgH="393700" progId="Equation.3">
                  <p:embed/>
                </p:oleObj>
              </mc:Choice>
              <mc:Fallback>
                <p:oleObj name="公式" r:id="rId16" imgW="2895600" imgH="393700" progId="Equation.3">
                  <p:embed/>
                  <p:pic>
                    <p:nvPicPr>
                      <p:cNvPr id="0" name="Object 1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149549" y="5861580"/>
                        <a:ext cx="6238875" cy="847725"/>
                      </a:xfrm>
                      <a:prstGeom prst="rect">
                        <a:avLst/>
                      </a:prstGeom>
                      <a:solidFill>
                        <a:srgbClr val="FFFFFF"/>
                      </a:solidFill>
                    </p:spPr>
                  </p:pic>
                </p:oleObj>
              </mc:Fallback>
            </mc:AlternateContent>
          </a:graphicData>
        </a:graphic>
      </p:graphicFrame>
      <p:sp>
        <p:nvSpPr>
          <p:cNvPr id="16" name="Rectangle 19"/>
          <p:cNvSpPr>
            <a:spLocks noChangeArrowheads="1"/>
          </p:cNvSpPr>
          <p:nvPr/>
        </p:nvSpPr>
        <p:spPr bwMode="auto">
          <a:xfrm>
            <a:off x="251520" y="4721022"/>
            <a:ext cx="655019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电枢绕组总元件数为</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S</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，每支路串联元件数为</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20"/>
          <p:cNvSpPr>
            <a:spLocks noChangeArrowheads="1"/>
          </p:cNvSpPr>
          <p:nvPr/>
        </p:nvSpPr>
        <p:spPr bwMode="auto">
          <a:xfrm>
            <a:off x="251520" y="5273075"/>
            <a:ext cx="36086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电枢表面总导体匝数：</a:t>
            </a: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8" name="Rectangle 21"/>
          <p:cNvSpPr>
            <a:spLocks noChangeArrowheads="1"/>
          </p:cNvSpPr>
          <p:nvPr/>
        </p:nvSpPr>
        <p:spPr bwMode="auto">
          <a:xfrm>
            <a:off x="251520" y="6006480"/>
            <a:ext cx="176202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电枢电势</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22"/>
          <p:cNvSpPr>
            <a:spLocks noChangeArrowheads="1"/>
          </p:cNvSpPr>
          <p:nvPr/>
        </p:nvSpPr>
        <p:spPr bwMode="auto">
          <a:xfrm>
            <a:off x="251520" y="8235924"/>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8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3" name="日期占位符 22">
            <a:extLst>
              <a:ext uri="{FF2B5EF4-FFF2-40B4-BE49-F238E27FC236}">
                <a16:creationId xmlns:a16="http://schemas.microsoft.com/office/drawing/2014/main" id="{449D487A-A48A-7AB7-8183-6A8616F31356}"/>
              </a:ext>
            </a:extLst>
          </p:cNvPr>
          <p:cNvSpPr>
            <a:spLocks noGrp="1"/>
          </p:cNvSpPr>
          <p:nvPr>
            <p:ph type="dt" sz="half" idx="10"/>
          </p:nvPr>
        </p:nvSpPr>
        <p:spPr>
          <a:xfrm>
            <a:off x="8286259" y="59138"/>
            <a:ext cx="801082" cy="476250"/>
          </a:xfrm>
        </p:spPr>
        <p:txBody>
          <a:bodyPr/>
          <a:lstStyle/>
          <a:p>
            <a:fld id="{37A62429-0EA2-43D2-A03A-5FB74E4E5E37}" type="datetime10">
              <a:rPr lang="en-US" altLang="zh-CN" smtClean="0"/>
              <a:t>16:53</a:t>
            </a:fld>
            <a:endParaRPr lang="en-US" altLang="zh-CN" dirty="0"/>
          </a:p>
        </p:txBody>
      </p:sp>
      <p:sp>
        <p:nvSpPr>
          <p:cNvPr id="24" name="灯片编号占位符 23">
            <a:extLst>
              <a:ext uri="{FF2B5EF4-FFF2-40B4-BE49-F238E27FC236}">
                <a16:creationId xmlns:a16="http://schemas.microsoft.com/office/drawing/2014/main" id="{F9E20956-EA8C-8198-4D06-5CD18FD36632}"/>
              </a:ext>
            </a:extLst>
          </p:cNvPr>
          <p:cNvSpPr>
            <a:spLocks noGrp="1"/>
          </p:cNvSpPr>
          <p:nvPr>
            <p:ph type="sldNum" sz="quarter" idx="12"/>
          </p:nvPr>
        </p:nvSpPr>
        <p:spPr/>
        <p:txBody>
          <a:bodyPr/>
          <a:lstStyle/>
          <a:p>
            <a:fld id="{76D830B0-DF59-4281-898F-AF208100B213}" type="slidenum">
              <a:rPr lang="en-US" altLang="zh-CN" smtClean="0"/>
              <a:pPr/>
              <a:t>62</a:t>
            </a:fld>
            <a:endParaRPr lang="en-US" altLang="zh-CN"/>
          </a:p>
        </p:txBody>
      </p:sp>
    </p:spTree>
    <p:extLst>
      <p:ext uri="{BB962C8B-B14F-4D97-AF65-F5344CB8AC3E}">
        <p14:creationId xmlns:p14="http://schemas.microsoft.com/office/powerpoint/2010/main" val="26290299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92647618"/>
              </p:ext>
            </p:extLst>
          </p:nvPr>
        </p:nvGraphicFramePr>
        <p:xfrm>
          <a:off x="2119805" y="908720"/>
          <a:ext cx="3206953" cy="734767"/>
        </p:xfrm>
        <a:graphic>
          <a:graphicData uri="http://schemas.openxmlformats.org/presentationml/2006/ole">
            <mc:AlternateContent xmlns:mc="http://schemas.openxmlformats.org/markup-compatibility/2006">
              <mc:Choice xmlns:v="urn:schemas-microsoft-com:vml" Requires="v">
                <p:oleObj name="公式" r:id="rId2" imgW="1701800" imgH="393700" progId="Equation.3">
                  <p:embed/>
                </p:oleObj>
              </mc:Choice>
              <mc:Fallback>
                <p:oleObj name="公式" r:id="rId2" imgW="1701800" imgH="3937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9805" y="908720"/>
                        <a:ext cx="3206953" cy="734767"/>
                      </a:xfrm>
                      <a:prstGeom prst="rect">
                        <a:avLst/>
                      </a:prstGeom>
                      <a:solidFill>
                        <a:srgbClr val="FFFF00"/>
                      </a:solidFill>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848108973"/>
              </p:ext>
            </p:extLst>
          </p:nvPr>
        </p:nvGraphicFramePr>
        <p:xfrm>
          <a:off x="3802817" y="2683695"/>
          <a:ext cx="4495413" cy="511024"/>
        </p:xfrm>
        <a:graphic>
          <a:graphicData uri="http://schemas.openxmlformats.org/presentationml/2006/ole">
            <mc:AlternateContent xmlns:mc="http://schemas.openxmlformats.org/markup-compatibility/2006">
              <mc:Choice xmlns:v="urn:schemas-microsoft-com:vml" Requires="v">
                <p:oleObj name="公式" r:id="rId4" imgW="2057400" imgH="228600" progId="Equation.3">
                  <p:embed/>
                </p:oleObj>
              </mc:Choice>
              <mc:Fallback>
                <p:oleObj name="公式" r:id="rId4" imgW="2057400" imgH="2286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02817" y="2683695"/>
                        <a:ext cx="4495413" cy="511024"/>
                      </a:xfrm>
                      <a:prstGeom prst="rect">
                        <a:avLst/>
                      </a:prstGeom>
                      <a:solidFill>
                        <a:srgbClr val="00FF00"/>
                      </a:solid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274358216"/>
              </p:ext>
            </p:extLst>
          </p:nvPr>
        </p:nvGraphicFramePr>
        <p:xfrm>
          <a:off x="251520" y="3044994"/>
          <a:ext cx="4562475" cy="1905000"/>
        </p:xfrm>
        <a:graphic>
          <a:graphicData uri="http://schemas.openxmlformats.org/presentationml/2006/ole">
            <mc:AlternateContent xmlns:mc="http://schemas.openxmlformats.org/markup-compatibility/2006">
              <mc:Choice xmlns:v="urn:schemas-microsoft-com:vml" Requires="v">
                <p:oleObj name="公式" r:id="rId6" imgW="1828800" imgH="762000" progId="Equation.3">
                  <p:embed/>
                </p:oleObj>
              </mc:Choice>
              <mc:Fallback>
                <p:oleObj name="公式" r:id="rId6" imgW="1828800" imgH="7620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1520" y="3044994"/>
                        <a:ext cx="4562475" cy="1905000"/>
                      </a:xfrm>
                      <a:prstGeom prst="rect">
                        <a:avLst/>
                      </a:prstGeom>
                      <a:solidFill>
                        <a:srgbClr val="FFFFFF"/>
                      </a:solid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705991933"/>
              </p:ext>
            </p:extLst>
          </p:nvPr>
        </p:nvGraphicFramePr>
        <p:xfrm>
          <a:off x="409454" y="5338287"/>
          <a:ext cx="5143500" cy="971550"/>
        </p:xfrm>
        <a:graphic>
          <a:graphicData uri="http://schemas.openxmlformats.org/presentationml/2006/ole">
            <mc:AlternateContent xmlns:mc="http://schemas.openxmlformats.org/markup-compatibility/2006">
              <mc:Choice xmlns:v="urn:schemas-microsoft-com:vml" Requires="v">
                <p:oleObj name="公式" r:id="rId8" imgW="2070100" imgH="393700" progId="Equation.3">
                  <p:embed/>
                </p:oleObj>
              </mc:Choice>
              <mc:Fallback>
                <p:oleObj name="公式" r:id="rId8" imgW="2070100" imgH="393700" progId="Equation.3">
                  <p:embed/>
                  <p:pic>
                    <p:nvPicPr>
                      <p:cNvPr id="0" name="Object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9454" y="5338287"/>
                        <a:ext cx="5143500" cy="971550"/>
                      </a:xfrm>
                      <a:prstGeom prst="rect">
                        <a:avLst/>
                      </a:prstGeom>
                      <a:solidFill>
                        <a:srgbClr val="FFFFFF"/>
                      </a:solid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679652684"/>
              </p:ext>
            </p:extLst>
          </p:nvPr>
        </p:nvGraphicFramePr>
        <p:xfrm>
          <a:off x="4326498" y="6185570"/>
          <a:ext cx="3448050" cy="533400"/>
        </p:xfrm>
        <a:graphic>
          <a:graphicData uri="http://schemas.openxmlformats.org/presentationml/2006/ole">
            <mc:AlternateContent xmlns:mc="http://schemas.openxmlformats.org/markup-compatibility/2006">
              <mc:Choice xmlns:v="urn:schemas-microsoft-com:vml" Requires="v">
                <p:oleObj name="公式" r:id="rId10" imgW="1447800" imgH="228600" progId="Equation.3">
                  <p:embed/>
                </p:oleObj>
              </mc:Choice>
              <mc:Fallback>
                <p:oleObj name="公式" r:id="rId10" imgW="1447800" imgH="228600" progId="Equation.3">
                  <p:embed/>
                  <p:pic>
                    <p:nvPicPr>
                      <p:cNvPr id="0" name="Object 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26498" y="6185570"/>
                        <a:ext cx="3448050" cy="533400"/>
                      </a:xfrm>
                      <a:prstGeom prst="rect">
                        <a:avLst/>
                      </a:prstGeom>
                      <a:solidFill>
                        <a:srgbClr val="FFFF00"/>
                      </a:solidFill>
                    </p:spPr>
                  </p:pic>
                </p:oleObj>
              </mc:Fallback>
            </mc:AlternateContent>
          </a:graphicData>
        </a:graphic>
      </p:graphicFrame>
      <p:sp>
        <p:nvSpPr>
          <p:cNvPr id="7" name="Rectangle 6"/>
          <p:cNvSpPr>
            <a:spLocks noChangeArrowheads="1"/>
          </p:cNvSpPr>
          <p:nvPr/>
        </p:nvSpPr>
        <p:spPr bwMode="auto">
          <a:xfrm>
            <a:off x="107504" y="90872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600" b="1" i="0" u="none" strike="noStrike" cap="none" normalizeH="0" baseline="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重要结论</a:t>
            </a:r>
            <a:r>
              <a:rPr kumimoji="0" lang="zh-CN" sz="24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sz="1800" b="0" i="0" u="none" strike="noStrike" cap="none" normalizeH="0" baseline="0">
              <a:ln>
                <a:noFill/>
              </a:ln>
              <a:solidFill>
                <a:schemeClr val="tx1"/>
              </a:solidFill>
              <a:effectLst/>
              <a:latin typeface="Arial" panose="020B0604020202020204" pitchFamily="34" charset="0"/>
            </a:endParaRPr>
          </a:p>
        </p:txBody>
      </p:sp>
      <p:sp>
        <p:nvSpPr>
          <p:cNvPr id="8" name="Rectangle 7"/>
          <p:cNvSpPr>
            <a:spLocks noChangeArrowheads="1"/>
          </p:cNvSpPr>
          <p:nvPr/>
        </p:nvSpPr>
        <p:spPr bwMode="auto">
          <a:xfrm>
            <a:off x="251520" y="1454421"/>
            <a:ext cx="804671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特点：</a:t>
            </a:r>
            <a:endParaRPr kumimoji="0" lang="zh-CN" sz="8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DCM</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的反电势与磁通和电机转速的乘积成正比。</a:t>
            </a:r>
            <a:endParaRPr kumimoji="0" lang="zh-CN" altLang="en-US" sz="8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电动工作时，反电势的方向与电枢电流方向相反</a:t>
            </a:r>
            <a:endParaRPr kumimoji="0" lang="zh-CN" altLang="en-US" sz="8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对他励，磁通不变时，</a:t>
            </a:r>
            <a:endParaRPr kumimoji="0" lang="zh-CN"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8"/>
          <p:cNvSpPr>
            <a:spLocks noChangeArrowheads="1"/>
          </p:cNvSpPr>
          <p:nvPr/>
        </p:nvSpPr>
        <p:spPr bwMode="auto">
          <a:xfrm>
            <a:off x="4572000" y="357301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有量纲</a:t>
            </a: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en-US" altLang="zh-CN" sz="2400" b="0" i="0" u="none" strike="noStrike" cap="none" normalizeH="0" baseline="0" dirty="0" err="1">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Wb</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或</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[V/r/min]</a:t>
            </a: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en-US" alt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10" name="Rectangle 9"/>
          <p:cNvSpPr>
            <a:spLocks noChangeArrowheads="1"/>
          </p:cNvSpPr>
          <p:nvPr/>
        </p:nvSpPr>
        <p:spPr bwMode="auto">
          <a:xfrm>
            <a:off x="107504" y="5030811"/>
            <a:ext cx="576311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方程代表电动机机电能量的转换关系：</a:t>
            </a:r>
            <a:endParaRPr kumimoji="0" 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0"/>
          <p:cNvSpPr>
            <a:spLocks noChangeArrowheads="1"/>
          </p:cNvSpPr>
          <p:nvPr/>
        </p:nvSpPr>
        <p:spPr bwMode="auto">
          <a:xfrm>
            <a:off x="107504" y="6221438"/>
            <a:ext cx="412164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两边同乘电枢电流：</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电能</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12" name="Rectangle 11"/>
          <p:cNvSpPr>
            <a:spLocks noChangeArrowheads="1"/>
          </p:cNvSpPr>
          <p:nvPr/>
        </p:nvSpPr>
        <p:spPr bwMode="auto">
          <a:xfrm>
            <a:off x="7774548" y="641484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机</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13" name="矩形 12"/>
          <p:cNvSpPr/>
          <p:nvPr/>
        </p:nvSpPr>
        <p:spPr>
          <a:xfrm>
            <a:off x="5573792" y="859752"/>
            <a:ext cx="3570208" cy="461665"/>
          </a:xfrm>
          <a:prstGeom prst="rect">
            <a:avLst/>
          </a:prstGeom>
        </p:spPr>
        <p:txBody>
          <a:bodyPr wrap="none">
            <a:spAutoFit/>
          </a:bodyPr>
          <a:lstStyle/>
          <a:p>
            <a:pPr lvl="0" eaLnBrk="0" hangingPunct="0"/>
            <a:r>
              <a:rPr lang="zh-CN"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（电势系数、电势常数）</a:t>
            </a:r>
            <a:endParaRPr lang="zh-CN" altLang="zh-CN" sz="2400" dirty="0"/>
          </a:p>
        </p:txBody>
      </p:sp>
      <p:sp>
        <p:nvSpPr>
          <p:cNvPr id="18" name="日期占位符 17">
            <a:extLst>
              <a:ext uri="{FF2B5EF4-FFF2-40B4-BE49-F238E27FC236}">
                <a16:creationId xmlns:a16="http://schemas.microsoft.com/office/drawing/2014/main" id="{95F99E5D-B471-55F9-D35E-7D109E4713B4}"/>
              </a:ext>
            </a:extLst>
          </p:cNvPr>
          <p:cNvSpPr>
            <a:spLocks noGrp="1"/>
          </p:cNvSpPr>
          <p:nvPr>
            <p:ph type="dt" sz="half" idx="10"/>
          </p:nvPr>
        </p:nvSpPr>
        <p:spPr>
          <a:xfrm>
            <a:off x="8028384" y="41068"/>
            <a:ext cx="792088" cy="476250"/>
          </a:xfrm>
        </p:spPr>
        <p:txBody>
          <a:bodyPr/>
          <a:lstStyle/>
          <a:p>
            <a:fld id="{103F8127-CBBD-4EF6-A663-C0D45FFE19FB}" type="datetime10">
              <a:rPr lang="en-US" altLang="zh-CN" smtClean="0"/>
              <a:t>16:53</a:t>
            </a:fld>
            <a:endParaRPr lang="en-US" altLang="zh-CN" dirty="0"/>
          </a:p>
        </p:txBody>
      </p:sp>
      <p:sp>
        <p:nvSpPr>
          <p:cNvPr id="19" name="灯片编号占位符 18">
            <a:extLst>
              <a:ext uri="{FF2B5EF4-FFF2-40B4-BE49-F238E27FC236}">
                <a16:creationId xmlns:a16="http://schemas.microsoft.com/office/drawing/2014/main" id="{B948CBCF-0CAF-05EC-860C-747CEBE9E253}"/>
              </a:ext>
            </a:extLst>
          </p:cNvPr>
          <p:cNvSpPr>
            <a:spLocks noGrp="1"/>
          </p:cNvSpPr>
          <p:nvPr>
            <p:ph type="sldNum" sz="quarter" idx="12"/>
          </p:nvPr>
        </p:nvSpPr>
        <p:spPr/>
        <p:txBody>
          <a:bodyPr/>
          <a:lstStyle/>
          <a:p>
            <a:fld id="{76D830B0-DF59-4281-898F-AF208100B213}" type="slidenum">
              <a:rPr lang="en-US" altLang="zh-CN" smtClean="0"/>
              <a:pPr/>
              <a:t>63</a:t>
            </a:fld>
            <a:endParaRPr lang="en-US" altLang="zh-CN"/>
          </a:p>
        </p:txBody>
      </p:sp>
    </p:spTree>
    <p:extLst>
      <p:ext uri="{BB962C8B-B14F-4D97-AF65-F5344CB8AC3E}">
        <p14:creationId xmlns:p14="http://schemas.microsoft.com/office/powerpoint/2010/main" val="407447388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7768" y="1052736"/>
            <a:ext cx="8746232" cy="4893647"/>
          </a:xfrm>
          <a:prstGeom prst="rect">
            <a:avLst/>
          </a:prstGeom>
        </p:spPr>
        <p:txBody>
          <a:bodyPr wrap="square">
            <a:spAutoFit/>
          </a:bodyPr>
          <a:lstStyle/>
          <a:p>
            <a:pPr algn="just">
              <a:spcAft>
                <a:spcPts val="0"/>
              </a:spcAft>
            </a:pPr>
            <a:r>
              <a:rPr lang="zh-CN" altLang="zh-CN" sz="3200" b="1" kern="100" dirty="0">
                <a:solidFill>
                  <a:srgbClr val="FF0000"/>
                </a:solidFill>
                <a:latin typeface="楷体" panose="02010609060101010101" pitchFamily="49" charset="-122"/>
                <a:ea typeface="楷体" panose="02010609060101010101" pitchFamily="49" charset="-122"/>
              </a:rPr>
              <a:t>思考题：</a:t>
            </a:r>
          </a:p>
          <a:p>
            <a:pPr marL="457200" indent="-457200" algn="just">
              <a:spcAft>
                <a:spcPts val="0"/>
              </a:spcAft>
              <a:buFont typeface="Arial" panose="020B0604020202020204" pitchFamily="34" charset="0"/>
              <a:buChar char="•"/>
            </a:pPr>
            <a:r>
              <a:rPr lang="zh-CN" altLang="zh-CN" sz="2800" b="1" kern="100" dirty="0">
                <a:solidFill>
                  <a:srgbClr val="0000CC"/>
                </a:solidFill>
                <a:latin typeface="楷体" panose="02010609060101010101" pitchFamily="49" charset="-122"/>
                <a:ea typeface="楷体" panose="02010609060101010101" pitchFamily="49" charset="-122"/>
              </a:rPr>
              <a:t>什么是</a:t>
            </a:r>
            <a:r>
              <a:rPr lang="zh-CN" altLang="en-US" sz="2800" b="1" kern="100" dirty="0">
                <a:solidFill>
                  <a:srgbClr val="0000CC"/>
                </a:solidFill>
                <a:latin typeface="楷体" panose="02010609060101010101" pitchFamily="49" charset="-122"/>
                <a:ea typeface="楷体" panose="02010609060101010101" pitchFamily="49" charset="-122"/>
              </a:rPr>
              <a:t>电磁</a:t>
            </a:r>
            <a:r>
              <a:rPr lang="zh-CN" altLang="zh-CN" sz="2800" b="1" kern="100" dirty="0">
                <a:solidFill>
                  <a:srgbClr val="0000CC"/>
                </a:solidFill>
                <a:latin typeface="楷体" panose="02010609060101010101" pitchFamily="49" charset="-122"/>
                <a:ea typeface="楷体" panose="02010609060101010101" pitchFamily="49" charset="-122"/>
              </a:rPr>
              <a:t>转矩？它在电机旋转运动中扮演什么角色？</a:t>
            </a:r>
            <a:endParaRPr lang="en-US" altLang="zh-CN" sz="2800" b="1" kern="100" dirty="0">
              <a:solidFill>
                <a:srgbClr val="0000CC"/>
              </a:solidFill>
              <a:latin typeface="楷体" panose="02010609060101010101" pitchFamily="49" charset="-122"/>
              <a:ea typeface="楷体" panose="02010609060101010101" pitchFamily="49" charset="-122"/>
            </a:endParaRPr>
          </a:p>
          <a:p>
            <a:pPr marL="457200" indent="-457200" algn="just">
              <a:spcAft>
                <a:spcPts val="0"/>
              </a:spcAft>
              <a:buFont typeface="Arial" panose="020B0604020202020204" pitchFamily="34" charset="0"/>
              <a:buChar char="•"/>
            </a:pPr>
            <a:r>
              <a:rPr lang="zh-CN" altLang="zh-CN" sz="2800" b="1" kern="100" dirty="0">
                <a:solidFill>
                  <a:srgbClr val="0000CC"/>
                </a:solidFill>
                <a:latin typeface="楷体" panose="02010609060101010101" pitchFamily="49" charset="-122"/>
                <a:ea typeface="楷体" panose="02010609060101010101" pitchFamily="49" charset="-122"/>
              </a:rPr>
              <a:t>什么是换向？换向器为什么要将外部的直流电压转换成电枢绕组元件上的交流电压？</a:t>
            </a:r>
            <a:endParaRPr lang="en-US" altLang="zh-CN" sz="2800" b="1" kern="100" dirty="0">
              <a:solidFill>
                <a:srgbClr val="0000CC"/>
              </a:solidFill>
              <a:latin typeface="楷体" panose="02010609060101010101" pitchFamily="49" charset="-122"/>
              <a:ea typeface="楷体" panose="02010609060101010101" pitchFamily="49" charset="-122"/>
            </a:endParaRPr>
          </a:p>
          <a:p>
            <a:pPr marL="457200" indent="-457200" algn="just">
              <a:spcAft>
                <a:spcPts val="0"/>
              </a:spcAft>
              <a:buFont typeface="Arial" panose="020B0604020202020204" pitchFamily="34" charset="0"/>
              <a:buChar char="•"/>
            </a:pPr>
            <a:r>
              <a:rPr lang="zh-CN" altLang="zh-CN" sz="2800" b="1" kern="100" dirty="0">
                <a:solidFill>
                  <a:srgbClr val="0000CC"/>
                </a:solidFill>
                <a:latin typeface="楷体" panose="02010609060101010101" pitchFamily="49" charset="-122"/>
                <a:ea typeface="楷体" panose="02010609060101010101" pitchFamily="49" charset="-122"/>
              </a:rPr>
              <a:t>什么是电角度？它和机械角度有什么关系？</a:t>
            </a:r>
            <a:r>
              <a:rPr lang="zh-CN" altLang="en-US" sz="2800" b="1" kern="100" dirty="0">
                <a:solidFill>
                  <a:srgbClr val="0000CC"/>
                </a:solidFill>
                <a:latin typeface="楷体" panose="02010609060101010101" pitchFamily="49" charset="-122"/>
                <a:ea typeface="楷体" panose="02010609060101010101" pitchFamily="49" charset="-122"/>
              </a:rPr>
              <a:t>反映了什么物理量的变化？和什么有关？</a:t>
            </a:r>
            <a:endParaRPr lang="en-US" altLang="zh-CN" sz="2800" b="1" kern="100" dirty="0">
              <a:solidFill>
                <a:srgbClr val="0000CC"/>
              </a:solidFill>
              <a:latin typeface="楷体" panose="02010609060101010101" pitchFamily="49" charset="-122"/>
              <a:ea typeface="楷体" panose="02010609060101010101" pitchFamily="49" charset="-122"/>
            </a:endParaRPr>
          </a:p>
          <a:p>
            <a:pPr marL="457200" indent="-457200" algn="just">
              <a:spcAft>
                <a:spcPts val="0"/>
              </a:spcAft>
              <a:buFont typeface="Arial" panose="020B0604020202020204" pitchFamily="34" charset="0"/>
              <a:buChar char="•"/>
            </a:pPr>
            <a:r>
              <a:rPr lang="zh-CN" altLang="zh-CN" sz="2800" b="1" kern="100" dirty="0">
                <a:solidFill>
                  <a:srgbClr val="0000CC"/>
                </a:solidFill>
                <a:latin typeface="楷体" panose="02010609060101010101" pitchFamily="49" charset="-122"/>
                <a:ea typeface="楷体" panose="02010609060101010101" pitchFamily="49" charset="-122"/>
              </a:rPr>
              <a:t>什么是反电势？</a:t>
            </a:r>
            <a:r>
              <a:rPr lang="zh-CN" altLang="en-US" sz="2800" b="1" kern="100" dirty="0">
                <a:solidFill>
                  <a:srgbClr val="0000CC"/>
                </a:solidFill>
                <a:latin typeface="楷体" panose="02010609060101010101" pitchFamily="49" charset="-122"/>
                <a:ea typeface="楷体" panose="02010609060101010101" pitchFamily="49" charset="-122"/>
              </a:rPr>
              <a:t>其作用</a:t>
            </a:r>
            <a:r>
              <a:rPr lang="zh-CN" altLang="en-US" sz="2800" b="1" kern="100">
                <a:solidFill>
                  <a:srgbClr val="0000CC"/>
                </a:solidFill>
                <a:latin typeface="楷体" panose="02010609060101010101" pitchFamily="49" charset="-122"/>
                <a:ea typeface="楷体" panose="02010609060101010101" pitchFamily="49" charset="-122"/>
              </a:rPr>
              <a:t>如何理解？</a:t>
            </a:r>
            <a:r>
              <a:rPr lang="zh-CN" altLang="zh-CN" sz="2800" b="1" kern="100">
                <a:solidFill>
                  <a:srgbClr val="0000CC"/>
                </a:solidFill>
                <a:latin typeface="楷体" panose="02010609060101010101" pitchFamily="49" charset="-122"/>
                <a:ea typeface="楷体" panose="02010609060101010101" pitchFamily="49" charset="-122"/>
              </a:rPr>
              <a:t>它</a:t>
            </a:r>
            <a:r>
              <a:rPr lang="zh-CN" altLang="zh-CN" sz="2800" b="1" kern="100" dirty="0">
                <a:solidFill>
                  <a:srgbClr val="0000CC"/>
                </a:solidFill>
                <a:latin typeface="楷体" panose="02010609060101010101" pitchFamily="49" charset="-122"/>
                <a:ea typeface="楷体" panose="02010609060101010101" pitchFamily="49" charset="-122"/>
              </a:rPr>
              <a:t>的大小和方向如何确定？</a:t>
            </a:r>
            <a:endParaRPr lang="en-US" altLang="zh-CN" sz="2800" b="1" kern="100" dirty="0">
              <a:solidFill>
                <a:srgbClr val="0000CC"/>
              </a:solidFill>
              <a:latin typeface="楷体" panose="02010609060101010101" pitchFamily="49" charset="-122"/>
              <a:ea typeface="楷体" panose="02010609060101010101" pitchFamily="49" charset="-122"/>
            </a:endParaRPr>
          </a:p>
          <a:p>
            <a:pPr marL="457200" indent="-457200">
              <a:buFont typeface="Arial" panose="020B0604020202020204" pitchFamily="34" charset="0"/>
              <a:buChar char="•"/>
            </a:pPr>
            <a:r>
              <a:rPr lang="zh-CN" altLang="zh-CN" sz="2800" b="1" kern="100" dirty="0">
                <a:solidFill>
                  <a:srgbClr val="0000CC"/>
                </a:solidFill>
                <a:latin typeface="楷体" panose="02010609060101010101" pitchFamily="49" charset="-122"/>
                <a:ea typeface="楷体" panose="02010609060101010101" pitchFamily="49" charset="-122"/>
                <a:cs typeface="Times New Roman" panose="02020603050405020304" pitchFamily="18" charset="0"/>
              </a:rPr>
              <a:t>如何揭示电机模型的输入和输出定量数学关系？（特殊的实际和一般的理论）</a:t>
            </a:r>
            <a:endParaRPr lang="zh-CN" altLang="en-US" sz="2800" b="1" dirty="0">
              <a:solidFill>
                <a:srgbClr val="0000CC"/>
              </a:solidFill>
              <a:latin typeface="楷体" panose="02010609060101010101" pitchFamily="49" charset="-122"/>
              <a:ea typeface="楷体" panose="02010609060101010101" pitchFamily="49" charset="-122"/>
            </a:endParaRPr>
          </a:p>
        </p:txBody>
      </p:sp>
      <p:sp>
        <p:nvSpPr>
          <p:cNvPr id="7" name="日期占位符 6">
            <a:extLst>
              <a:ext uri="{FF2B5EF4-FFF2-40B4-BE49-F238E27FC236}">
                <a16:creationId xmlns:a16="http://schemas.microsoft.com/office/drawing/2014/main" id="{36786F07-223B-F2BB-6FBD-70E210FB4C6B}"/>
              </a:ext>
            </a:extLst>
          </p:cNvPr>
          <p:cNvSpPr>
            <a:spLocks noGrp="1"/>
          </p:cNvSpPr>
          <p:nvPr>
            <p:ph type="dt" sz="half" idx="10"/>
          </p:nvPr>
        </p:nvSpPr>
        <p:spPr>
          <a:xfrm>
            <a:off x="8316416" y="542"/>
            <a:ext cx="720080" cy="476250"/>
          </a:xfrm>
        </p:spPr>
        <p:txBody>
          <a:bodyPr/>
          <a:lstStyle/>
          <a:p>
            <a:fld id="{F3CF15C0-C931-4DC0-97C1-B685B47350C0}" type="datetime10">
              <a:rPr lang="en-US" altLang="zh-CN" smtClean="0"/>
              <a:t>16:53</a:t>
            </a:fld>
            <a:endParaRPr lang="en-US" altLang="zh-CN" dirty="0"/>
          </a:p>
        </p:txBody>
      </p:sp>
      <p:sp>
        <p:nvSpPr>
          <p:cNvPr id="8" name="灯片编号占位符 7">
            <a:extLst>
              <a:ext uri="{FF2B5EF4-FFF2-40B4-BE49-F238E27FC236}">
                <a16:creationId xmlns:a16="http://schemas.microsoft.com/office/drawing/2014/main" id="{4E79A955-F3D8-1706-AA50-5A05CB9002EB}"/>
              </a:ext>
            </a:extLst>
          </p:cNvPr>
          <p:cNvSpPr>
            <a:spLocks noGrp="1"/>
          </p:cNvSpPr>
          <p:nvPr>
            <p:ph type="sldNum" sz="quarter" idx="12"/>
          </p:nvPr>
        </p:nvSpPr>
        <p:spPr/>
        <p:txBody>
          <a:bodyPr/>
          <a:lstStyle/>
          <a:p>
            <a:fld id="{76D830B0-DF59-4281-898F-AF208100B213}" type="slidenum">
              <a:rPr lang="en-US" altLang="zh-CN" smtClean="0"/>
              <a:pPr/>
              <a:t>64</a:t>
            </a:fld>
            <a:endParaRPr lang="en-US" altLang="zh-CN"/>
          </a:p>
        </p:txBody>
      </p:sp>
    </p:spTree>
    <p:extLst>
      <p:ext uri="{BB962C8B-B14F-4D97-AF65-F5344CB8AC3E}">
        <p14:creationId xmlns:p14="http://schemas.microsoft.com/office/powerpoint/2010/main" val="219170193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021654703"/>
              </p:ext>
            </p:extLst>
          </p:nvPr>
        </p:nvGraphicFramePr>
        <p:xfrm>
          <a:off x="3465066" y="4370941"/>
          <a:ext cx="2428875" cy="1219200"/>
        </p:xfrm>
        <a:graphic>
          <a:graphicData uri="http://schemas.openxmlformats.org/presentationml/2006/ole">
            <mc:AlternateContent xmlns:mc="http://schemas.openxmlformats.org/markup-compatibility/2006">
              <mc:Choice xmlns:v="urn:schemas-microsoft-com:vml" Requires="v">
                <p:oleObj name="公式" r:id="rId2" imgW="977476" imgH="482391" progId="Equation.3">
                  <p:embed/>
                </p:oleObj>
              </mc:Choice>
              <mc:Fallback>
                <p:oleObj name="公式" r:id="rId2" imgW="977476" imgH="482391"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5066" y="4370941"/>
                        <a:ext cx="2428875" cy="1219200"/>
                      </a:xfrm>
                      <a:prstGeom prst="rect">
                        <a:avLst/>
                      </a:prstGeom>
                      <a:solidFill>
                        <a:srgbClr val="FFFF00"/>
                      </a:solidFill>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820593246"/>
              </p:ext>
            </p:extLst>
          </p:nvPr>
        </p:nvGraphicFramePr>
        <p:xfrm>
          <a:off x="135577" y="5450237"/>
          <a:ext cx="428625" cy="485775"/>
        </p:xfrm>
        <a:graphic>
          <a:graphicData uri="http://schemas.openxmlformats.org/presentationml/2006/ole">
            <mc:AlternateContent xmlns:mc="http://schemas.openxmlformats.org/markup-compatibility/2006">
              <mc:Choice xmlns:v="urn:schemas-microsoft-com:vml" Requires="v">
                <p:oleObj name="公式" r:id="rId4" imgW="203112" imgH="228501" progId="Equation.3">
                  <p:embed/>
                </p:oleObj>
              </mc:Choice>
              <mc:Fallback>
                <p:oleObj name="公式" r:id="rId4" imgW="203112" imgH="228501"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5577" y="5450237"/>
                        <a:ext cx="428625" cy="48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049577055"/>
              </p:ext>
            </p:extLst>
          </p:nvPr>
        </p:nvGraphicFramePr>
        <p:xfrm>
          <a:off x="6017687" y="1287882"/>
          <a:ext cx="2959961" cy="3083059"/>
        </p:xfrm>
        <a:graphic>
          <a:graphicData uri="http://schemas.openxmlformats.org/presentationml/2006/ole">
            <mc:AlternateContent xmlns:mc="http://schemas.openxmlformats.org/markup-compatibility/2006">
              <mc:Choice xmlns:v="urn:schemas-microsoft-com:vml" Requires="v">
                <p:oleObj name="Picture" r:id="rId6" imgW="1505712" imgH="1563624" progId="Word.Picture.8">
                  <p:embed/>
                </p:oleObj>
              </mc:Choice>
              <mc:Fallback>
                <p:oleObj name="Picture" r:id="rId6" imgW="1505712" imgH="1563624" progId="Word.Picture.8">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17687" y="1287882"/>
                        <a:ext cx="2959961" cy="3083059"/>
                      </a:xfrm>
                      <a:prstGeom prst="rect">
                        <a:avLst/>
                      </a:prstGeom>
                      <a:noFill/>
                    </p:spPr>
                  </p:pic>
                </p:oleObj>
              </mc:Fallback>
            </mc:AlternateContent>
          </a:graphicData>
        </a:graphic>
      </p:graphicFrame>
      <p:sp>
        <p:nvSpPr>
          <p:cNvPr id="5" name="Rectangle 4"/>
          <p:cNvSpPr>
            <a:spLocks noChangeArrowheads="1"/>
          </p:cNvSpPr>
          <p:nvPr/>
        </p:nvSpPr>
        <p:spPr bwMode="auto">
          <a:xfrm>
            <a:off x="107504" y="802890"/>
            <a:ext cx="7285969" cy="1354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3200" b="0" i="0" u="none" strike="noStrike" cap="none" normalizeH="0" baseline="0" dirty="0">
                <a:ln>
                  <a:noFill/>
                </a:ln>
                <a:solidFill>
                  <a:srgbClr val="9933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3200" b="0" i="0" u="none" strike="noStrike" cap="none" normalizeH="0" baseline="0" dirty="0">
                <a:ln>
                  <a:noFill/>
                </a:ln>
                <a:solidFill>
                  <a:srgbClr val="993300"/>
                </a:solidFill>
                <a:effectLst/>
                <a:latin typeface="Times New Roman" panose="02020603050405020304" pitchFamily="18" charset="0"/>
                <a:ea typeface="黑体" panose="02010609060101010101" pitchFamily="49" charset="-122"/>
                <a:cs typeface="Times New Roman" panose="02020603050405020304" pitchFamily="18" charset="0"/>
              </a:rPr>
              <a:t>2</a:t>
            </a:r>
            <a:r>
              <a:rPr kumimoji="0" lang="zh-CN" altLang="en-US" sz="3200" b="0" i="0" u="none" strike="noStrike" cap="none" normalizeH="0" baseline="0" dirty="0">
                <a:ln>
                  <a:noFill/>
                </a:ln>
                <a:solidFill>
                  <a:srgbClr val="9933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3200" b="0" i="0" u="none" strike="noStrike" cap="none" normalizeH="0" baseline="0" dirty="0">
                <a:ln>
                  <a:noFill/>
                </a:ln>
                <a:solidFill>
                  <a:srgbClr val="993300"/>
                </a:solidFill>
                <a:effectLst/>
                <a:latin typeface="Times New Roman" panose="02020603050405020304" pitchFamily="18" charset="0"/>
                <a:ea typeface="黑体" panose="02010609060101010101" pitchFamily="49" charset="-122"/>
                <a:cs typeface="Times New Roman" panose="02020603050405020304" pitchFamily="18" charset="0"/>
              </a:rPr>
              <a:t>4 </a:t>
            </a:r>
            <a:r>
              <a:rPr kumimoji="0" lang="zh-CN" altLang="en-US" sz="3200" b="1" i="0" u="none" strike="noStrike" cap="none" normalizeH="0" baseline="0" dirty="0">
                <a:ln>
                  <a:noFill/>
                </a:ln>
                <a:solidFill>
                  <a:srgbClr val="993300"/>
                </a:solidFill>
                <a:effectLst/>
                <a:latin typeface="黑体" panose="02010609060101010101" pitchFamily="49" charset="-122"/>
                <a:ea typeface="黑体" panose="02010609060101010101" pitchFamily="49" charset="-122"/>
                <a:cs typeface="Times New Roman" panose="02020603050405020304" pitchFamily="18" charset="0"/>
              </a:rPr>
              <a:t>电动势平衡方程与功率平衡方程</a:t>
            </a:r>
            <a:endParaRPr kumimoji="0" lang="en-US" altLang="zh-CN" sz="3200" b="1" i="0" u="none" strike="noStrike" cap="none" normalizeH="0" baseline="0" dirty="0">
              <a:ln>
                <a:noFill/>
              </a:ln>
              <a:solidFill>
                <a:srgbClr val="9933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8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他励直流电动机的原理电路</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稳态</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7" name="Rectangle 6"/>
          <p:cNvSpPr>
            <a:spLocks noChangeArrowheads="1"/>
          </p:cNvSpPr>
          <p:nvPr/>
        </p:nvSpPr>
        <p:spPr bwMode="auto">
          <a:xfrm>
            <a:off x="107504" y="3645024"/>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7"/>
          <p:cNvSpPr>
            <a:spLocks noChangeArrowheads="1"/>
          </p:cNvSpPr>
          <p:nvPr/>
        </p:nvSpPr>
        <p:spPr bwMode="auto">
          <a:xfrm>
            <a:off x="175239" y="5450237"/>
            <a:ext cx="880241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为包括电刷电阻在内的电动机电枢绕组电阻，与外电路无关。</a:t>
            </a:r>
            <a:endPar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rgbClr val="C00000"/>
                </a:solidFill>
                <a:effectLst/>
                <a:latin typeface="黑体" panose="02010609060101010101" pitchFamily="49" charset="-122"/>
                <a:ea typeface="黑体" panose="02010609060101010101" pitchFamily="49" charset="-122"/>
                <a:cs typeface="Times New Roman" panose="02020603050405020304" pitchFamily="18" charset="0"/>
              </a:rPr>
              <a:t>需要注意物理量纲的一致性。</a:t>
            </a:r>
            <a:endParaRPr kumimoji="0" lang="zh-CN" sz="1800" b="0" i="0" u="none" strike="noStrike" cap="none" normalizeH="0" baseline="0" dirty="0">
              <a:ln>
                <a:noFill/>
              </a:ln>
              <a:solidFill>
                <a:srgbClr val="C00000"/>
              </a:solidFill>
              <a:effectLst/>
            </a:endParaRPr>
          </a:p>
        </p:txBody>
      </p:sp>
      <p:sp>
        <p:nvSpPr>
          <p:cNvPr id="9" name="矩形 8"/>
          <p:cNvSpPr/>
          <p:nvPr/>
        </p:nvSpPr>
        <p:spPr>
          <a:xfrm>
            <a:off x="-1460608" y="1859340"/>
            <a:ext cx="8118648" cy="1299909"/>
          </a:xfrm>
          <a:prstGeom prst="rect">
            <a:avLst/>
          </a:prstGeom>
        </p:spPr>
        <p:txBody>
          <a:bodyPr>
            <a:noAutofit/>
          </a:bodyPr>
          <a:lstStyle/>
          <a:p>
            <a:pPr lvl="0" indent="1524000" algn="just" eaLnBrk="0" hangingPunct="0"/>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Ra</a:t>
            </a:r>
            <a:r>
              <a:rPr lang="zh-CN" altLang="en-US" sz="2400" dirty="0">
                <a:latin typeface="黑体" panose="02010609060101010101" pitchFamily="49" charset="-122"/>
                <a:ea typeface="黑体" panose="02010609060101010101" pitchFamily="49" charset="-122"/>
                <a:cs typeface="Times New Roman" panose="02020603050405020304" pitchFamily="18" charset="0"/>
              </a:rPr>
              <a:t>为电动机电枢绕组和换向器总电阻</a:t>
            </a:r>
            <a:endParaRPr lang="en-US" altLang="zh-CN" sz="2400" dirty="0">
              <a:latin typeface="黑体" panose="02010609060101010101" pitchFamily="49" charset="-122"/>
              <a:ea typeface="黑体" panose="02010609060101010101" pitchFamily="49" charset="-122"/>
              <a:cs typeface="Times New Roman" panose="02020603050405020304" pitchFamily="18" charset="0"/>
            </a:endParaRPr>
          </a:p>
          <a:p>
            <a:pPr lvl="0" indent="1524000" algn="just" eaLnBrk="0" hangingPunct="0"/>
            <a:endParaRPr lang="en-US" altLang="zh-CN" sz="2400" dirty="0">
              <a:latin typeface="黑体" panose="02010609060101010101" pitchFamily="49" charset="-122"/>
              <a:ea typeface="黑体" panose="02010609060101010101" pitchFamily="49" charset="-122"/>
              <a:cs typeface="Times New Roman" panose="02020603050405020304" pitchFamily="18" charset="0"/>
            </a:endParaRPr>
          </a:p>
          <a:p>
            <a:pPr lvl="0" indent="1524000" algn="just" eaLnBrk="0" hangingPunct="0"/>
            <a:r>
              <a:rPr lang="zh-CN" altLang="en-US" sz="2400" dirty="0">
                <a:latin typeface="黑体" panose="02010609060101010101" pitchFamily="49" charset="-122"/>
                <a:ea typeface="黑体" panose="02010609060101010101" pitchFamily="49" charset="-122"/>
                <a:cs typeface="Times New Roman" panose="02020603050405020304" pitchFamily="18" charset="0"/>
              </a:rPr>
              <a:t>各电量</a:t>
            </a:r>
            <a:r>
              <a:rPr lang="zh-CN" altLang="en-US" sz="24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假定正向</a:t>
            </a:r>
            <a:r>
              <a:rPr lang="zh-CN" altLang="en-US" sz="2400" dirty="0">
                <a:latin typeface="黑体" panose="02010609060101010101" pitchFamily="49" charset="-122"/>
                <a:ea typeface="黑体" panose="02010609060101010101" pitchFamily="49" charset="-122"/>
                <a:cs typeface="Times New Roman" panose="02020603050405020304" pitchFamily="18" charset="0"/>
              </a:rPr>
              <a:t>按</a:t>
            </a:r>
            <a:r>
              <a:rPr lang="zh-CN" altLang="en-US"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电动机惯例</a:t>
            </a:r>
            <a:r>
              <a:rPr lang="zh-CN" altLang="en-US" sz="2400" dirty="0">
                <a:latin typeface="黑体" panose="02010609060101010101" pitchFamily="49" charset="-122"/>
                <a:ea typeface="黑体" panose="02010609060101010101" pitchFamily="49" charset="-122"/>
                <a:cs typeface="Times New Roman" panose="02020603050405020304" pitchFamily="18" charset="0"/>
              </a:rPr>
              <a:t>：</a:t>
            </a:r>
            <a:endParaRPr lang="en-US" altLang="zh-CN" sz="2400" dirty="0">
              <a:latin typeface="黑体" panose="02010609060101010101" pitchFamily="49" charset="-122"/>
              <a:ea typeface="黑体" panose="02010609060101010101" pitchFamily="49" charset="-122"/>
              <a:cs typeface="Times New Roman" panose="02020603050405020304" pitchFamily="18" charset="0"/>
            </a:endParaRPr>
          </a:p>
          <a:p>
            <a:pPr lvl="0" indent="1524000" algn="just" eaLnBrk="0" hangingPunct="0"/>
            <a:r>
              <a:rPr lang="zh-CN" altLang="en-US" sz="24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与电动机正常运行状态下的实际方向一致</a:t>
            </a:r>
            <a:endParaRPr lang="zh-CN" altLang="en-US" sz="2400" dirty="0"/>
          </a:p>
          <a:p>
            <a:pPr lvl="0" indent="1524000" algn="just" eaLnBrk="0" hangingPunct="0"/>
            <a:endParaRPr lang="en-US" altLang="zh-CN" b="1" dirty="0">
              <a:latin typeface="黑体" panose="02010609060101010101" pitchFamily="49" charset="-122"/>
              <a:ea typeface="黑体" panose="02010609060101010101" pitchFamily="49" charset="-122"/>
              <a:cs typeface="Times New Roman" panose="02020603050405020304" pitchFamily="18" charset="0"/>
            </a:endParaRPr>
          </a:p>
        </p:txBody>
      </p:sp>
      <p:sp>
        <p:nvSpPr>
          <p:cNvPr id="10" name="矩形 9"/>
          <p:cNvSpPr/>
          <p:nvPr/>
        </p:nvSpPr>
        <p:spPr>
          <a:xfrm>
            <a:off x="0" y="3283253"/>
            <a:ext cx="6192688" cy="830997"/>
          </a:xfrm>
          <a:prstGeom prst="rect">
            <a:avLst/>
          </a:prstGeom>
        </p:spPr>
        <p:txBody>
          <a:bodyPr wrap="square">
            <a:spAutoFit/>
          </a:bodyPr>
          <a:lstStyle/>
          <a:p>
            <a:pPr lvl="0" indent="1524000" algn="just" eaLnBrk="0" hangingPunct="0"/>
            <a:r>
              <a:rPr lang="zh-CN" altLang="en-US" sz="2400" b="1" dirty="0">
                <a:solidFill>
                  <a:srgbClr val="0000CC"/>
                </a:solidFill>
                <a:latin typeface="黑体" panose="02010609060101010101" pitchFamily="49" charset="-122"/>
                <a:ea typeface="黑体" panose="02010609060101010101" pitchFamily="49" charset="-122"/>
                <a:cs typeface="Times New Roman" panose="02020603050405020304" pitchFamily="18" charset="0"/>
              </a:rPr>
              <a:t>重要结论</a:t>
            </a:r>
            <a:r>
              <a:rPr lang="zh-CN" altLang="en-US" sz="2400" dirty="0">
                <a:solidFill>
                  <a:srgbClr val="0000CC"/>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sz="2400" dirty="0">
              <a:solidFill>
                <a:srgbClr val="0000CC"/>
              </a:solidFill>
            </a:endParaRPr>
          </a:p>
          <a:p>
            <a:pPr lvl="0" algn="just" eaLnBrk="0" hangingPunct="0"/>
            <a:r>
              <a:rPr lang="zh-CN" altLang="en-US"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一、稳态电动势平衡方程（</a:t>
            </a:r>
            <a:r>
              <a:rPr lang="zh-CN" altLang="en-US" sz="2400" b="1" dirty="0">
                <a:solidFill>
                  <a:srgbClr val="002060"/>
                </a:solidFill>
                <a:latin typeface="黑体" panose="02010609060101010101" pitchFamily="49" charset="-122"/>
                <a:ea typeface="黑体" panose="02010609060101010101" pitchFamily="49" charset="-122"/>
                <a:cs typeface="Times New Roman" panose="02020603050405020304" pitchFamily="18" charset="0"/>
              </a:rPr>
              <a:t>等效</a:t>
            </a:r>
            <a:r>
              <a:rPr lang="zh-CN" altLang="en-US"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电枢回路）</a:t>
            </a:r>
            <a:endParaRPr lang="zh-CN" altLang="en-US" sz="2400" dirty="0"/>
          </a:p>
        </p:txBody>
      </p:sp>
      <p:sp>
        <p:nvSpPr>
          <p:cNvPr id="14" name="日期占位符 13">
            <a:extLst>
              <a:ext uri="{FF2B5EF4-FFF2-40B4-BE49-F238E27FC236}">
                <a16:creationId xmlns:a16="http://schemas.microsoft.com/office/drawing/2014/main" id="{BF83997F-0D57-60A1-6B1E-A8F2F087D8D5}"/>
              </a:ext>
            </a:extLst>
          </p:cNvPr>
          <p:cNvSpPr>
            <a:spLocks noGrp="1"/>
          </p:cNvSpPr>
          <p:nvPr>
            <p:ph type="dt" sz="half" idx="10"/>
          </p:nvPr>
        </p:nvSpPr>
        <p:spPr>
          <a:xfrm>
            <a:off x="7589890" y="0"/>
            <a:ext cx="1302590" cy="476250"/>
          </a:xfrm>
        </p:spPr>
        <p:txBody>
          <a:bodyPr/>
          <a:lstStyle/>
          <a:p>
            <a:fld id="{2A5C1748-344F-45FB-AB69-62FE114E4B65}" type="datetime10">
              <a:rPr lang="en-US" altLang="zh-CN" smtClean="0"/>
              <a:t>16:53</a:t>
            </a:fld>
            <a:endParaRPr lang="en-US" altLang="zh-CN" dirty="0"/>
          </a:p>
        </p:txBody>
      </p:sp>
      <p:sp>
        <p:nvSpPr>
          <p:cNvPr id="15" name="灯片编号占位符 14">
            <a:extLst>
              <a:ext uri="{FF2B5EF4-FFF2-40B4-BE49-F238E27FC236}">
                <a16:creationId xmlns:a16="http://schemas.microsoft.com/office/drawing/2014/main" id="{7456F995-08BF-51D9-341A-BD084050FBF4}"/>
              </a:ext>
            </a:extLst>
          </p:cNvPr>
          <p:cNvSpPr>
            <a:spLocks noGrp="1"/>
          </p:cNvSpPr>
          <p:nvPr>
            <p:ph type="sldNum" sz="quarter" idx="12"/>
          </p:nvPr>
        </p:nvSpPr>
        <p:spPr/>
        <p:txBody>
          <a:bodyPr/>
          <a:lstStyle/>
          <a:p>
            <a:fld id="{76D830B0-DF59-4281-898F-AF208100B213}" type="slidenum">
              <a:rPr lang="en-US" altLang="zh-CN" smtClean="0"/>
              <a:pPr/>
              <a:t>65</a:t>
            </a:fld>
            <a:endParaRPr lang="en-US" altLang="zh-CN"/>
          </a:p>
        </p:txBody>
      </p:sp>
    </p:spTree>
    <p:extLst>
      <p:ext uri="{BB962C8B-B14F-4D97-AF65-F5344CB8AC3E}">
        <p14:creationId xmlns:p14="http://schemas.microsoft.com/office/powerpoint/2010/main" val="270076574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73520917"/>
              </p:ext>
            </p:extLst>
          </p:nvPr>
        </p:nvGraphicFramePr>
        <p:xfrm>
          <a:off x="3751163" y="893326"/>
          <a:ext cx="847725" cy="361950"/>
        </p:xfrm>
        <a:graphic>
          <a:graphicData uri="http://schemas.openxmlformats.org/presentationml/2006/ole">
            <mc:AlternateContent xmlns:mc="http://schemas.openxmlformats.org/markup-compatibility/2006">
              <mc:Choice xmlns:v="urn:schemas-microsoft-com:vml" Requires="v">
                <p:oleObj name="公式" r:id="rId2" imgW="533169" imgH="228501" progId="Equation.3">
                  <p:embed/>
                </p:oleObj>
              </mc:Choice>
              <mc:Fallback>
                <p:oleObj name="公式" r:id="rId2" imgW="533169" imgH="228501"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1163" y="893326"/>
                        <a:ext cx="847725"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199603908"/>
              </p:ext>
            </p:extLst>
          </p:nvPr>
        </p:nvGraphicFramePr>
        <p:xfrm>
          <a:off x="4838784" y="933355"/>
          <a:ext cx="1447800" cy="276225"/>
        </p:xfrm>
        <a:graphic>
          <a:graphicData uri="http://schemas.openxmlformats.org/presentationml/2006/ole">
            <mc:AlternateContent xmlns:mc="http://schemas.openxmlformats.org/markup-compatibility/2006">
              <mc:Choice xmlns:v="urn:schemas-microsoft-com:vml" Requires="v">
                <p:oleObj name="公式" r:id="rId4" imgW="914003" imgH="177723" progId="Equation.3">
                  <p:embed/>
                </p:oleObj>
              </mc:Choice>
              <mc:Fallback>
                <p:oleObj name="公式" r:id="rId4" imgW="914003" imgH="177723"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38784" y="933355"/>
                        <a:ext cx="1447800" cy="276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962590649"/>
              </p:ext>
            </p:extLst>
          </p:nvPr>
        </p:nvGraphicFramePr>
        <p:xfrm>
          <a:off x="6839533" y="903315"/>
          <a:ext cx="1009650" cy="361950"/>
        </p:xfrm>
        <a:graphic>
          <a:graphicData uri="http://schemas.openxmlformats.org/presentationml/2006/ole">
            <mc:AlternateContent xmlns:mc="http://schemas.openxmlformats.org/markup-compatibility/2006">
              <mc:Choice xmlns:v="urn:schemas-microsoft-com:vml" Requires="v">
                <p:oleObj name="公式" r:id="rId6" imgW="634725" imgH="228501" progId="Equation.3">
                  <p:embed/>
                </p:oleObj>
              </mc:Choice>
              <mc:Fallback>
                <p:oleObj name="公式" r:id="rId6" imgW="634725" imgH="228501" progId="Equation.3">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39533" y="903315"/>
                        <a:ext cx="1009650"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868140571"/>
              </p:ext>
            </p:extLst>
          </p:nvPr>
        </p:nvGraphicFramePr>
        <p:xfrm>
          <a:off x="4293493" y="3116080"/>
          <a:ext cx="323850" cy="361950"/>
        </p:xfrm>
        <a:graphic>
          <a:graphicData uri="http://schemas.openxmlformats.org/presentationml/2006/ole">
            <mc:AlternateContent xmlns:mc="http://schemas.openxmlformats.org/markup-compatibility/2006">
              <mc:Choice xmlns:v="urn:schemas-microsoft-com:vml" Requires="v">
                <p:oleObj name="公式" r:id="rId8" imgW="203112" imgH="228501" progId="Equation.3">
                  <p:embed/>
                </p:oleObj>
              </mc:Choice>
              <mc:Fallback>
                <p:oleObj name="公式" r:id="rId8" imgW="203112" imgH="228501" progId="Equation.3">
                  <p:embed/>
                  <p:pic>
                    <p:nvPicPr>
                      <p:cNvPr id="0" name="Object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93493" y="3116080"/>
                        <a:ext cx="323850"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5"/>
          <p:cNvSpPr>
            <a:spLocks noChangeArrowheads="1"/>
          </p:cNvSpPr>
          <p:nvPr/>
        </p:nvSpPr>
        <p:spPr bwMode="auto">
          <a:xfrm>
            <a:off x="268660" y="823059"/>
            <a:ext cx="69557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例：设某他励直流电动机</a:t>
            </a:r>
            <a:r>
              <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时</a:t>
            </a:r>
            <a:r>
              <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  </a:t>
            </a: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0" name="Rectangle 8"/>
          <p:cNvSpPr>
            <a:spLocks noChangeArrowheads="1"/>
          </p:cNvSpPr>
          <p:nvPr/>
        </p:nvSpPr>
        <p:spPr bwMode="auto">
          <a:xfrm>
            <a:off x="179512" y="1236471"/>
            <a:ext cx="8551812"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如果</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U</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150V</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，计算：</a:t>
            </a:r>
            <a:endParaRPr kumimoji="0" lang="zh-CN"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起动电流；</a:t>
            </a:r>
            <a:endParaRPr kumimoji="0" lang="zh-CN"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b.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电动机在</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1000r/min</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和</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1460r/min</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时的反电动势；</a:t>
            </a:r>
            <a:endParaRPr kumimoji="0" lang="zh-CN"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．在</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1000r/min</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和</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1460r/min</a:t>
            </a: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稳定运行</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时的电枢电流。</a:t>
            </a:r>
            <a:endParaRPr kumimoji="0" lang="zh-CN"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解：</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依据运动变化规律，起动瞬间电枢是静止的，</a:t>
            </a:r>
            <a:endPar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eaLnBrk="0" hangingPunct="0"/>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反电动势为</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0V</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，起动电流仅受  </a:t>
            </a:r>
            <a:r>
              <a:rPr lang="zh-CN" altLang="zh-CN" sz="2400" dirty="0">
                <a:latin typeface="黑体" panose="02010609060101010101" pitchFamily="49" charset="-122"/>
                <a:ea typeface="黑体" panose="02010609060101010101" pitchFamily="49" charset="-122"/>
                <a:cs typeface="Times New Roman" panose="02020603050405020304" pitchFamily="18" charset="0"/>
              </a:rPr>
              <a:t>限制</a:t>
            </a:r>
            <a:endParaRPr lang="zh-CN" altLang="zh-CN"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15"/>
          <p:cNvSpPr>
            <a:spLocks noChangeArrowheads="1"/>
          </p:cNvSpPr>
          <p:nvPr/>
        </p:nvSpPr>
        <p:spPr bwMode="auto">
          <a:xfrm>
            <a:off x="1232545" y="3881244"/>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3" name="对象 12"/>
          <p:cNvGraphicFramePr>
            <a:graphicFrameLocks noChangeAspect="1"/>
          </p:cNvGraphicFramePr>
          <p:nvPr>
            <p:extLst>
              <p:ext uri="{D42A27DB-BD31-4B8C-83A1-F6EECF244321}">
                <p14:modId xmlns:p14="http://schemas.microsoft.com/office/powerpoint/2010/main" val="4177377943"/>
              </p:ext>
            </p:extLst>
          </p:nvPr>
        </p:nvGraphicFramePr>
        <p:xfrm>
          <a:off x="5436096" y="3155915"/>
          <a:ext cx="3069258" cy="421601"/>
        </p:xfrm>
        <a:graphic>
          <a:graphicData uri="http://schemas.openxmlformats.org/presentationml/2006/ole">
            <mc:AlternateContent xmlns:mc="http://schemas.openxmlformats.org/markup-compatibility/2006">
              <mc:Choice xmlns:v="urn:schemas-microsoft-com:vml" Requires="v">
                <p:oleObj name="公式" r:id="rId10" imgW="1676400" imgH="228600" progId="Equation.3">
                  <p:embed/>
                </p:oleObj>
              </mc:Choice>
              <mc:Fallback>
                <p:oleObj name="公式" r:id="rId10" imgW="1676400" imgH="228600" progId="Equation.3">
                  <p:embed/>
                  <p:pic>
                    <p:nvPicPr>
                      <p:cNvPr id="0"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36096" y="3155915"/>
                        <a:ext cx="3069258" cy="421601"/>
                      </a:xfrm>
                      <a:prstGeom prst="rect">
                        <a:avLst/>
                      </a:prstGeom>
                      <a:noFill/>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756754572"/>
              </p:ext>
            </p:extLst>
          </p:nvPr>
        </p:nvGraphicFramePr>
        <p:xfrm>
          <a:off x="6835839" y="3847131"/>
          <a:ext cx="1669515" cy="332321"/>
        </p:xfrm>
        <a:graphic>
          <a:graphicData uri="http://schemas.openxmlformats.org/presentationml/2006/ole">
            <mc:AlternateContent xmlns:mc="http://schemas.openxmlformats.org/markup-compatibility/2006">
              <mc:Choice xmlns:v="urn:schemas-microsoft-com:vml" Requires="v">
                <p:oleObj name="公式" r:id="rId4" imgW="914003" imgH="177723" progId="Equation.3">
                  <p:embed/>
                </p:oleObj>
              </mc:Choice>
              <mc:Fallback>
                <p:oleObj name="公式" r:id="rId4" imgW="914003" imgH="177723" progId="Equation.3">
                  <p:embed/>
                  <p:pic>
                    <p:nvPicPr>
                      <p:cNvPr id="0" name="Object 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35839" y="3847131"/>
                        <a:ext cx="1669515" cy="332321"/>
                      </a:xfrm>
                      <a:prstGeom prst="rect">
                        <a:avLst/>
                      </a:prstGeom>
                      <a:noFill/>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1617316151"/>
              </p:ext>
            </p:extLst>
          </p:nvPr>
        </p:nvGraphicFramePr>
        <p:xfrm>
          <a:off x="1356479" y="4186843"/>
          <a:ext cx="1295400" cy="466725"/>
        </p:xfrm>
        <a:graphic>
          <a:graphicData uri="http://schemas.openxmlformats.org/presentationml/2006/ole">
            <mc:AlternateContent xmlns:mc="http://schemas.openxmlformats.org/markup-compatibility/2006">
              <mc:Choice xmlns:v="urn:schemas-microsoft-com:vml" Requires="v">
                <p:oleObj name="公式" r:id="rId6" imgW="634725" imgH="228501" progId="Equation.3">
                  <p:embed/>
                </p:oleObj>
              </mc:Choice>
              <mc:Fallback>
                <p:oleObj name="公式" r:id="rId6" imgW="634725" imgH="228501" progId="Equation.3">
                  <p:embed/>
                  <p:pic>
                    <p:nvPicPr>
                      <p:cNvPr id="0" name="Object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56479" y="4186843"/>
                        <a:ext cx="1295400"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185249512"/>
              </p:ext>
            </p:extLst>
          </p:nvPr>
        </p:nvGraphicFramePr>
        <p:xfrm>
          <a:off x="3774932" y="4108385"/>
          <a:ext cx="4562475" cy="742950"/>
        </p:xfrm>
        <a:graphic>
          <a:graphicData uri="http://schemas.openxmlformats.org/presentationml/2006/ole">
            <mc:AlternateContent xmlns:mc="http://schemas.openxmlformats.org/markup-compatibility/2006">
              <mc:Choice xmlns:v="urn:schemas-microsoft-com:vml" Requires="v">
                <p:oleObj name="公式" r:id="rId12" imgW="2425700" imgH="393700" progId="Equation.3">
                  <p:embed/>
                </p:oleObj>
              </mc:Choice>
              <mc:Fallback>
                <p:oleObj name="公式" r:id="rId12" imgW="2425700" imgH="393700" progId="Equation.3">
                  <p:embed/>
                  <p:pic>
                    <p:nvPicPr>
                      <p:cNvPr id="0" name="Object 2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74932" y="4108385"/>
                        <a:ext cx="4562475"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1414921294"/>
              </p:ext>
            </p:extLst>
          </p:nvPr>
        </p:nvGraphicFramePr>
        <p:xfrm>
          <a:off x="1012244" y="4789033"/>
          <a:ext cx="1971675" cy="361950"/>
        </p:xfrm>
        <a:graphic>
          <a:graphicData uri="http://schemas.openxmlformats.org/presentationml/2006/ole">
            <mc:AlternateContent xmlns:mc="http://schemas.openxmlformats.org/markup-compatibility/2006">
              <mc:Choice xmlns:v="urn:schemas-microsoft-com:vml" Requires="v">
                <p:oleObj name="公式" r:id="rId14" imgW="977476" imgH="177723" progId="Equation.3">
                  <p:embed/>
                </p:oleObj>
              </mc:Choice>
              <mc:Fallback>
                <p:oleObj name="公式" r:id="rId14" imgW="977476" imgH="177723" progId="Equation.3">
                  <p:embed/>
                  <p:pic>
                    <p:nvPicPr>
                      <p:cNvPr id="0" name="Object 2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12244" y="4789033"/>
                        <a:ext cx="1971675"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742580604"/>
              </p:ext>
            </p:extLst>
          </p:nvPr>
        </p:nvGraphicFramePr>
        <p:xfrm>
          <a:off x="3774932" y="4804587"/>
          <a:ext cx="3763262" cy="462155"/>
        </p:xfrm>
        <a:graphic>
          <a:graphicData uri="http://schemas.openxmlformats.org/presentationml/2006/ole">
            <mc:AlternateContent xmlns:mc="http://schemas.openxmlformats.org/markup-compatibility/2006">
              <mc:Choice xmlns:v="urn:schemas-microsoft-com:vml" Requires="v">
                <p:oleObj name="公式" r:id="rId16" imgW="1841500" imgH="228600" progId="Equation.3">
                  <p:embed/>
                </p:oleObj>
              </mc:Choice>
              <mc:Fallback>
                <p:oleObj name="公式" r:id="rId16" imgW="1841500" imgH="228600" progId="Equation.3">
                  <p:embed/>
                  <p:pic>
                    <p:nvPicPr>
                      <p:cNvPr id="0" name="Object 2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774932" y="4804587"/>
                        <a:ext cx="3763262" cy="462155"/>
                      </a:xfrm>
                      <a:prstGeom prst="rect">
                        <a:avLst/>
                      </a:prstGeom>
                      <a:noFill/>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346290116"/>
              </p:ext>
            </p:extLst>
          </p:nvPr>
        </p:nvGraphicFramePr>
        <p:xfrm>
          <a:off x="1011443" y="5215109"/>
          <a:ext cx="2095500" cy="381000"/>
        </p:xfrm>
        <a:graphic>
          <a:graphicData uri="http://schemas.openxmlformats.org/presentationml/2006/ole">
            <mc:AlternateContent xmlns:mc="http://schemas.openxmlformats.org/markup-compatibility/2006">
              <mc:Choice xmlns:v="urn:schemas-microsoft-com:vml" Requires="v">
                <p:oleObj name="公式" r:id="rId18" imgW="977476" imgH="177723" progId="Equation.3">
                  <p:embed/>
                </p:oleObj>
              </mc:Choice>
              <mc:Fallback>
                <p:oleObj name="公式" r:id="rId18" imgW="977476" imgH="177723" progId="Equation.3">
                  <p:embed/>
                  <p:pic>
                    <p:nvPicPr>
                      <p:cNvPr id="0" name="Object 1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011443" y="5215109"/>
                        <a:ext cx="20955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2150594968"/>
              </p:ext>
            </p:extLst>
          </p:nvPr>
        </p:nvGraphicFramePr>
        <p:xfrm>
          <a:off x="3833542" y="5258306"/>
          <a:ext cx="3724129" cy="462717"/>
        </p:xfrm>
        <a:graphic>
          <a:graphicData uri="http://schemas.openxmlformats.org/presentationml/2006/ole">
            <mc:AlternateContent xmlns:mc="http://schemas.openxmlformats.org/markup-compatibility/2006">
              <mc:Choice xmlns:v="urn:schemas-microsoft-com:vml" Requires="v">
                <p:oleObj name="公式" r:id="rId20" imgW="1841500" imgH="228600" progId="Equation.3">
                  <p:embed/>
                </p:oleObj>
              </mc:Choice>
              <mc:Fallback>
                <p:oleObj name="公式" r:id="rId20" imgW="1841500" imgH="228600" progId="Equation.3">
                  <p:embed/>
                  <p:pic>
                    <p:nvPicPr>
                      <p:cNvPr id="0" name="Object 1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833542" y="5258306"/>
                        <a:ext cx="3724129" cy="462717"/>
                      </a:xfrm>
                      <a:prstGeom prst="rect">
                        <a:avLst/>
                      </a:prstGeom>
                      <a:noFill/>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3693952262"/>
              </p:ext>
            </p:extLst>
          </p:nvPr>
        </p:nvGraphicFramePr>
        <p:xfrm>
          <a:off x="3400497" y="5744146"/>
          <a:ext cx="4771904" cy="434527"/>
        </p:xfrm>
        <a:graphic>
          <a:graphicData uri="http://schemas.openxmlformats.org/presentationml/2006/ole">
            <mc:AlternateContent xmlns:mc="http://schemas.openxmlformats.org/markup-compatibility/2006">
              <mc:Choice xmlns:v="urn:schemas-microsoft-com:vml" Requires="v">
                <p:oleObj name="公式" r:id="rId22" imgW="2501900" imgH="228600" progId="Equation.3">
                  <p:embed/>
                </p:oleObj>
              </mc:Choice>
              <mc:Fallback>
                <p:oleObj name="公式" r:id="rId22" imgW="2501900" imgH="228600" progId="Equation.3">
                  <p:embed/>
                  <p:pic>
                    <p:nvPicPr>
                      <p:cNvPr id="0" name="Object 17"/>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400497" y="5744146"/>
                        <a:ext cx="4771904" cy="434527"/>
                      </a:xfrm>
                      <a:prstGeom prst="rect">
                        <a:avLst/>
                      </a:prstGeom>
                      <a:noFill/>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1097298438"/>
              </p:ext>
            </p:extLst>
          </p:nvPr>
        </p:nvGraphicFramePr>
        <p:xfrm>
          <a:off x="3386768" y="6221323"/>
          <a:ext cx="4950639" cy="461718"/>
        </p:xfrm>
        <a:graphic>
          <a:graphicData uri="http://schemas.openxmlformats.org/presentationml/2006/ole">
            <mc:AlternateContent xmlns:mc="http://schemas.openxmlformats.org/markup-compatibility/2006">
              <mc:Choice xmlns:v="urn:schemas-microsoft-com:vml" Requires="v">
                <p:oleObj name="公式" r:id="rId24" imgW="2438400" imgH="228600" progId="Equation.3">
                  <p:embed/>
                </p:oleObj>
              </mc:Choice>
              <mc:Fallback>
                <p:oleObj name="公式" r:id="rId24" imgW="2438400" imgH="228600" progId="Equation.3">
                  <p:embed/>
                  <p:pic>
                    <p:nvPicPr>
                      <p:cNvPr id="0" name="Object 16"/>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386768" y="6221323"/>
                        <a:ext cx="4950639" cy="461718"/>
                      </a:xfrm>
                      <a:prstGeom prst="rect">
                        <a:avLst/>
                      </a:prstGeom>
                      <a:noFill/>
                    </p:spPr>
                  </p:pic>
                </p:oleObj>
              </mc:Fallback>
            </mc:AlternateContent>
          </a:graphicData>
        </a:graphic>
      </p:graphicFrame>
      <p:sp>
        <p:nvSpPr>
          <p:cNvPr id="23" name="Rectangle 25"/>
          <p:cNvSpPr>
            <a:spLocks noChangeArrowheads="1"/>
          </p:cNvSpPr>
          <p:nvPr/>
        </p:nvSpPr>
        <p:spPr bwMode="auto">
          <a:xfrm>
            <a:off x="938304" y="3780609"/>
            <a:ext cx="6032421"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b.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因励磁不变，反电动势与转速成正比，由</a:t>
            </a:r>
            <a:endPar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zh-CN" altLang="en-US" sz="2400" dirty="0">
                <a:latin typeface="黑体" panose="02010609060101010101" pitchFamily="49" charset="-122"/>
                <a:ea typeface="黑体" panose="02010609060101010101" pitchFamily="49" charset="-122"/>
                <a:cs typeface="Times New Roman" panose="02020603050405020304" pitchFamily="18" charset="0"/>
              </a:rPr>
              <a:t>时        ，可得</a:t>
            </a:r>
            <a:endParaRPr kumimoji="0" lang="zh-CN"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26" name="Rectangle 28"/>
          <p:cNvSpPr>
            <a:spLocks noChangeArrowheads="1"/>
          </p:cNvSpPr>
          <p:nvPr/>
        </p:nvSpPr>
        <p:spPr bwMode="auto">
          <a:xfrm>
            <a:off x="322060" y="6654899"/>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27" name="Rectangle 29"/>
          <p:cNvSpPr>
            <a:spLocks noChangeArrowheads="1"/>
          </p:cNvSpPr>
          <p:nvPr/>
        </p:nvSpPr>
        <p:spPr bwMode="auto">
          <a:xfrm>
            <a:off x="3000387" y="4745242"/>
            <a:ext cx="80021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时</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29" name="Rectangle 31"/>
          <p:cNvSpPr>
            <a:spLocks noChangeArrowheads="1"/>
          </p:cNvSpPr>
          <p:nvPr/>
        </p:nvSpPr>
        <p:spPr bwMode="auto">
          <a:xfrm>
            <a:off x="3016855" y="5169308"/>
            <a:ext cx="80021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时</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30" name="Rectangle 32"/>
          <p:cNvSpPr>
            <a:spLocks noChangeArrowheads="1"/>
          </p:cNvSpPr>
          <p:nvPr/>
        </p:nvSpPr>
        <p:spPr bwMode="auto">
          <a:xfrm>
            <a:off x="578062" y="5543199"/>
            <a:ext cx="3063659"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在</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1000r/min</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时，</a:t>
            </a:r>
            <a:endParaRPr kumimoji="0" lang="zh-CN"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31" name="Rectangle 33"/>
          <p:cNvSpPr>
            <a:spLocks noChangeArrowheads="1"/>
          </p:cNvSpPr>
          <p:nvPr/>
        </p:nvSpPr>
        <p:spPr bwMode="auto">
          <a:xfrm>
            <a:off x="683568" y="6542671"/>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在</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1460r/min</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时，</a:t>
            </a:r>
            <a:endPar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24" name="日期占位符 23">
            <a:extLst>
              <a:ext uri="{FF2B5EF4-FFF2-40B4-BE49-F238E27FC236}">
                <a16:creationId xmlns:a16="http://schemas.microsoft.com/office/drawing/2014/main" id="{B9796B69-4F60-03B0-0B34-A9B2ABA3A6A0}"/>
              </a:ext>
            </a:extLst>
          </p:cNvPr>
          <p:cNvSpPr>
            <a:spLocks noGrp="1"/>
          </p:cNvSpPr>
          <p:nvPr>
            <p:ph type="dt" sz="half" idx="10"/>
          </p:nvPr>
        </p:nvSpPr>
        <p:spPr>
          <a:xfrm>
            <a:off x="8399260" y="-13295"/>
            <a:ext cx="637236" cy="476250"/>
          </a:xfrm>
        </p:spPr>
        <p:txBody>
          <a:bodyPr/>
          <a:lstStyle/>
          <a:p>
            <a:fld id="{714B9ABB-4EB2-4631-AAD0-C36E32DFB64A}" type="datetime10">
              <a:rPr lang="en-US" altLang="zh-CN" smtClean="0"/>
              <a:t>16:53</a:t>
            </a:fld>
            <a:endParaRPr lang="en-US" altLang="zh-CN" dirty="0"/>
          </a:p>
        </p:txBody>
      </p:sp>
      <p:sp>
        <p:nvSpPr>
          <p:cNvPr id="25" name="灯片编号占位符 24">
            <a:extLst>
              <a:ext uri="{FF2B5EF4-FFF2-40B4-BE49-F238E27FC236}">
                <a16:creationId xmlns:a16="http://schemas.microsoft.com/office/drawing/2014/main" id="{699437D3-148C-746D-E301-07C52FFDA7C5}"/>
              </a:ext>
            </a:extLst>
          </p:cNvPr>
          <p:cNvSpPr>
            <a:spLocks noGrp="1"/>
          </p:cNvSpPr>
          <p:nvPr>
            <p:ph type="sldNum" sz="quarter" idx="12"/>
          </p:nvPr>
        </p:nvSpPr>
        <p:spPr/>
        <p:txBody>
          <a:bodyPr/>
          <a:lstStyle/>
          <a:p>
            <a:fld id="{76D830B0-DF59-4281-898F-AF208100B213}" type="slidenum">
              <a:rPr lang="en-US" altLang="zh-CN" smtClean="0"/>
              <a:pPr/>
              <a:t>66</a:t>
            </a:fld>
            <a:endParaRPr lang="en-US" altLang="zh-CN"/>
          </a:p>
        </p:txBody>
      </p:sp>
    </p:spTree>
    <p:extLst>
      <p:ext uri="{BB962C8B-B14F-4D97-AF65-F5344CB8AC3E}">
        <p14:creationId xmlns:p14="http://schemas.microsoft.com/office/powerpoint/2010/main" val="306970942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对象 19"/>
          <p:cNvGraphicFramePr>
            <a:graphicFrameLocks noChangeAspect="1"/>
          </p:cNvGraphicFramePr>
          <p:nvPr>
            <p:extLst>
              <p:ext uri="{D42A27DB-BD31-4B8C-83A1-F6EECF244321}">
                <p14:modId xmlns:p14="http://schemas.microsoft.com/office/powerpoint/2010/main" val="1242029620"/>
              </p:ext>
            </p:extLst>
          </p:nvPr>
        </p:nvGraphicFramePr>
        <p:xfrm>
          <a:off x="0" y="1202353"/>
          <a:ext cx="2314575" cy="533400"/>
        </p:xfrm>
        <a:graphic>
          <a:graphicData uri="http://schemas.openxmlformats.org/presentationml/2006/ole">
            <mc:AlternateContent xmlns:mc="http://schemas.openxmlformats.org/markup-compatibility/2006">
              <mc:Choice xmlns:v="urn:schemas-microsoft-com:vml" Requires="v">
                <p:oleObj name="公式" r:id="rId2" imgW="1016000" imgH="228600" progId="Equation.3">
                  <p:embed/>
                </p:oleObj>
              </mc:Choice>
              <mc:Fallback>
                <p:oleObj name="公式" r:id="rId2" imgW="1016000" imgH="228600" progId="Equation.3">
                  <p:embed/>
                  <p:pic>
                    <p:nvPicPr>
                      <p:cNvPr id="0" name="Object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02353"/>
                        <a:ext cx="2314575" cy="533400"/>
                      </a:xfrm>
                      <a:prstGeom prst="rect">
                        <a:avLst/>
                      </a:prstGeom>
                      <a:noFill/>
                      <a:extLst>
                        <a:ext uri="{909E8E84-426E-40DD-AFC4-6F175D3DCCD1}">
                          <a14:hiddenFill xmlns:a14="http://schemas.microsoft.com/office/drawing/2010/main">
                            <a:solidFill>
                              <a:srgbClr val="FFFF00"/>
                            </a:solidFill>
                          </a14:hiddenFill>
                        </a:ext>
                      </a:extLst>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284333971"/>
              </p:ext>
            </p:extLst>
          </p:nvPr>
        </p:nvGraphicFramePr>
        <p:xfrm>
          <a:off x="0" y="1526203"/>
          <a:ext cx="3343275" cy="647700"/>
        </p:xfrm>
        <a:graphic>
          <a:graphicData uri="http://schemas.openxmlformats.org/presentationml/2006/ole">
            <mc:AlternateContent xmlns:mc="http://schemas.openxmlformats.org/markup-compatibility/2006">
              <mc:Choice xmlns:v="urn:schemas-microsoft-com:vml" Requires="v">
                <p:oleObj name="公式" r:id="rId4" imgW="1371600" imgH="266700" progId="Equation.3">
                  <p:embed/>
                </p:oleObj>
              </mc:Choice>
              <mc:Fallback>
                <p:oleObj name="公式" r:id="rId4" imgW="1371600" imgH="266700" progId="Equation.3">
                  <p:embed/>
                  <p:pic>
                    <p:nvPicPr>
                      <p:cNvPr id="0" name="Object 2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526203"/>
                        <a:ext cx="3343275" cy="647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2774607863"/>
              </p:ext>
            </p:extLst>
          </p:nvPr>
        </p:nvGraphicFramePr>
        <p:xfrm>
          <a:off x="7596336" y="1447800"/>
          <a:ext cx="1095375" cy="476250"/>
        </p:xfrm>
        <a:graphic>
          <a:graphicData uri="http://schemas.openxmlformats.org/presentationml/2006/ole">
            <mc:AlternateContent xmlns:mc="http://schemas.openxmlformats.org/markup-compatibility/2006">
              <mc:Choice xmlns:v="urn:schemas-microsoft-com:vml" Requires="v">
                <p:oleObj name="公式" r:id="rId6" imgW="520700" imgH="228600" progId="Equation.3">
                  <p:embed/>
                </p:oleObj>
              </mc:Choice>
              <mc:Fallback>
                <p:oleObj name="公式" r:id="rId6" imgW="520700" imgH="228600" progId="Equation.3">
                  <p:embed/>
                  <p:pic>
                    <p:nvPicPr>
                      <p:cNvPr id="0" name="Object 2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96336" y="1447800"/>
                        <a:ext cx="1095375" cy="47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1892255826"/>
              </p:ext>
            </p:extLst>
          </p:nvPr>
        </p:nvGraphicFramePr>
        <p:xfrm>
          <a:off x="1157287" y="2114550"/>
          <a:ext cx="1485900" cy="552450"/>
        </p:xfrm>
        <a:graphic>
          <a:graphicData uri="http://schemas.openxmlformats.org/presentationml/2006/ole">
            <mc:AlternateContent xmlns:mc="http://schemas.openxmlformats.org/markup-compatibility/2006">
              <mc:Choice xmlns:v="urn:schemas-microsoft-com:vml" Requires="v">
                <p:oleObj name="公式" r:id="rId8" imgW="736280" imgH="266584" progId="Equation.3">
                  <p:embed/>
                </p:oleObj>
              </mc:Choice>
              <mc:Fallback>
                <p:oleObj name="公式" r:id="rId8" imgW="736280" imgH="266584" progId="Equation.3">
                  <p:embed/>
                  <p:pic>
                    <p:nvPicPr>
                      <p:cNvPr id="0" name="Object 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57287" y="2114550"/>
                        <a:ext cx="1485900" cy="552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1082676916"/>
              </p:ext>
            </p:extLst>
          </p:nvPr>
        </p:nvGraphicFramePr>
        <p:xfrm>
          <a:off x="1567180" y="2548706"/>
          <a:ext cx="6924675" cy="904875"/>
        </p:xfrm>
        <a:graphic>
          <a:graphicData uri="http://schemas.openxmlformats.org/presentationml/2006/ole">
            <mc:AlternateContent xmlns:mc="http://schemas.openxmlformats.org/markup-compatibility/2006">
              <mc:Choice xmlns:v="urn:schemas-microsoft-com:vml" Requires="v">
                <p:oleObj name="公式" r:id="rId10" imgW="3327400" imgH="431800" progId="Equation.3">
                  <p:embed/>
                </p:oleObj>
              </mc:Choice>
              <mc:Fallback>
                <p:oleObj name="公式" r:id="rId10" imgW="3327400" imgH="431800" progId="Equation.3">
                  <p:embed/>
                  <p:pic>
                    <p:nvPicPr>
                      <p:cNvPr id="0" name="Object 2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67180" y="2548706"/>
                        <a:ext cx="6924675" cy="904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1547092441"/>
              </p:ext>
            </p:extLst>
          </p:nvPr>
        </p:nvGraphicFramePr>
        <p:xfrm>
          <a:off x="6012160" y="3816348"/>
          <a:ext cx="1247775" cy="504825"/>
        </p:xfrm>
        <a:graphic>
          <a:graphicData uri="http://schemas.openxmlformats.org/presentationml/2006/ole">
            <mc:AlternateContent xmlns:mc="http://schemas.openxmlformats.org/markup-compatibility/2006">
              <mc:Choice xmlns:v="urn:schemas-microsoft-com:vml" Requires="v">
                <p:oleObj name="公式" r:id="rId12" imgW="583947" imgH="228501" progId="Equation.3">
                  <p:embed/>
                </p:oleObj>
              </mc:Choice>
              <mc:Fallback>
                <p:oleObj name="公式" r:id="rId12" imgW="583947" imgH="228501" progId="Equation.3">
                  <p:embed/>
                  <p:pic>
                    <p:nvPicPr>
                      <p:cNvPr id="0" name="Object 2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012160" y="3816348"/>
                        <a:ext cx="1247775"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 name="对象 25"/>
          <p:cNvGraphicFramePr>
            <a:graphicFrameLocks noChangeAspect="1"/>
          </p:cNvGraphicFramePr>
          <p:nvPr>
            <p:extLst>
              <p:ext uri="{D42A27DB-BD31-4B8C-83A1-F6EECF244321}">
                <p14:modId xmlns:p14="http://schemas.microsoft.com/office/powerpoint/2010/main" val="214545891"/>
              </p:ext>
            </p:extLst>
          </p:nvPr>
        </p:nvGraphicFramePr>
        <p:xfrm>
          <a:off x="555982" y="4281325"/>
          <a:ext cx="409575" cy="447675"/>
        </p:xfrm>
        <a:graphic>
          <a:graphicData uri="http://schemas.openxmlformats.org/presentationml/2006/ole">
            <mc:AlternateContent xmlns:mc="http://schemas.openxmlformats.org/markup-compatibility/2006">
              <mc:Choice xmlns:v="urn:schemas-microsoft-com:vml" Requires="v">
                <p:oleObj name="公式" r:id="rId14" imgW="203024" imgH="215713" progId="Equation.3">
                  <p:embed/>
                </p:oleObj>
              </mc:Choice>
              <mc:Fallback>
                <p:oleObj name="公式" r:id="rId14" imgW="203024" imgH="215713" progId="Equation.3">
                  <p:embed/>
                  <p:pic>
                    <p:nvPicPr>
                      <p:cNvPr id="0" name="Object 2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55982" y="4281325"/>
                        <a:ext cx="409575" cy="447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对象 26"/>
          <p:cNvGraphicFramePr>
            <a:graphicFrameLocks noChangeAspect="1"/>
          </p:cNvGraphicFramePr>
          <p:nvPr>
            <p:extLst>
              <p:ext uri="{D42A27DB-BD31-4B8C-83A1-F6EECF244321}">
                <p14:modId xmlns:p14="http://schemas.microsoft.com/office/powerpoint/2010/main" val="3528832796"/>
              </p:ext>
            </p:extLst>
          </p:nvPr>
        </p:nvGraphicFramePr>
        <p:xfrm>
          <a:off x="1952625" y="4835326"/>
          <a:ext cx="4257675" cy="942975"/>
        </p:xfrm>
        <a:graphic>
          <a:graphicData uri="http://schemas.openxmlformats.org/presentationml/2006/ole">
            <mc:AlternateContent xmlns:mc="http://schemas.openxmlformats.org/markup-compatibility/2006">
              <mc:Choice xmlns:v="urn:schemas-microsoft-com:vml" Requires="v">
                <p:oleObj name="公式" r:id="rId16" imgW="1917700" imgH="419100" progId="Equation.3">
                  <p:embed/>
                </p:oleObj>
              </mc:Choice>
              <mc:Fallback>
                <p:oleObj name="公式" r:id="rId16" imgW="1917700" imgH="419100" progId="Equation.3">
                  <p:embed/>
                  <p:pic>
                    <p:nvPicPr>
                      <p:cNvPr id="0" name="Object 2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52625" y="4835326"/>
                        <a:ext cx="4257675" cy="942975"/>
                      </a:xfrm>
                      <a:prstGeom prst="rect">
                        <a:avLst/>
                      </a:prstGeom>
                      <a:solidFill>
                        <a:srgbClr val="FFFF00"/>
                      </a:solidFill>
                    </p:spPr>
                  </p:pic>
                </p:oleObj>
              </mc:Fallback>
            </mc:AlternateContent>
          </a:graphicData>
        </a:graphic>
      </p:graphicFrame>
      <p:graphicFrame>
        <p:nvGraphicFramePr>
          <p:cNvPr id="28" name="对象 27"/>
          <p:cNvGraphicFramePr>
            <a:graphicFrameLocks noChangeAspect="1"/>
          </p:cNvGraphicFramePr>
          <p:nvPr>
            <p:extLst>
              <p:ext uri="{D42A27DB-BD31-4B8C-83A1-F6EECF244321}">
                <p14:modId xmlns:p14="http://schemas.microsoft.com/office/powerpoint/2010/main" val="2520260214"/>
              </p:ext>
            </p:extLst>
          </p:nvPr>
        </p:nvGraphicFramePr>
        <p:xfrm>
          <a:off x="1357630" y="5730701"/>
          <a:ext cx="419100" cy="495300"/>
        </p:xfrm>
        <a:graphic>
          <a:graphicData uri="http://schemas.openxmlformats.org/presentationml/2006/ole">
            <mc:AlternateContent xmlns:mc="http://schemas.openxmlformats.org/markup-compatibility/2006">
              <mc:Choice xmlns:v="urn:schemas-microsoft-com:vml" Requires="v">
                <p:oleObj name="公式" r:id="rId18" imgW="190500" imgH="228600" progId="Equation.3">
                  <p:embed/>
                </p:oleObj>
              </mc:Choice>
              <mc:Fallback>
                <p:oleObj name="公式" r:id="rId18" imgW="190500" imgH="228600" progId="Equation.3">
                  <p:embed/>
                  <p:pic>
                    <p:nvPicPr>
                      <p:cNvPr id="0" name="Object 2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357630" y="5730701"/>
                        <a:ext cx="419100"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对象 28"/>
          <p:cNvGraphicFramePr>
            <a:graphicFrameLocks noChangeAspect="1"/>
          </p:cNvGraphicFramePr>
          <p:nvPr>
            <p:extLst>
              <p:ext uri="{D42A27DB-BD31-4B8C-83A1-F6EECF244321}">
                <p14:modId xmlns:p14="http://schemas.microsoft.com/office/powerpoint/2010/main" val="3083717438"/>
              </p:ext>
            </p:extLst>
          </p:nvPr>
        </p:nvGraphicFramePr>
        <p:xfrm>
          <a:off x="2643187" y="6214028"/>
          <a:ext cx="1952625" cy="514350"/>
        </p:xfrm>
        <a:graphic>
          <a:graphicData uri="http://schemas.openxmlformats.org/presentationml/2006/ole">
            <mc:AlternateContent xmlns:mc="http://schemas.openxmlformats.org/markup-compatibility/2006">
              <mc:Choice xmlns:v="urn:schemas-microsoft-com:vml" Requires="v">
                <p:oleObj name="公式" r:id="rId20" imgW="876300" imgH="228600" progId="Equation.3">
                  <p:embed/>
                </p:oleObj>
              </mc:Choice>
              <mc:Fallback>
                <p:oleObj name="公式" r:id="rId20" imgW="876300" imgH="228600" progId="Equation.3">
                  <p:embed/>
                  <p:pic>
                    <p:nvPicPr>
                      <p:cNvPr id="0" name="Object 1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643187" y="6214028"/>
                        <a:ext cx="1952625"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Rectangle 29"/>
          <p:cNvSpPr>
            <a:spLocks noChangeArrowheads="1"/>
          </p:cNvSpPr>
          <p:nvPr/>
        </p:nvSpPr>
        <p:spPr bwMode="auto">
          <a:xfrm>
            <a:off x="78224" y="786051"/>
            <a:ext cx="3430747"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dirty="0">
                <a:ln>
                  <a:noFill/>
                </a:ln>
                <a:solidFill>
                  <a:srgbClr val="FF0000"/>
                </a:solidFill>
                <a:effectLst/>
                <a:latin typeface="楷体" panose="02010609060101010101" pitchFamily="49" charset="-122"/>
                <a:ea typeface="楷体" panose="02010609060101010101" pitchFamily="49" charset="-122"/>
                <a:cs typeface="Times New Roman" panose="02020603050405020304" pitchFamily="18" charset="0"/>
              </a:rPr>
              <a:t>二、功率平衡方程：</a:t>
            </a:r>
            <a:endParaRPr kumimoji="0" lang="zh-CN" altLang="en-US" sz="28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31" name="Rectangle 30"/>
          <p:cNvSpPr>
            <a:spLocks noChangeArrowheads="1"/>
          </p:cNvSpPr>
          <p:nvPr/>
        </p:nvSpPr>
        <p:spPr bwMode="auto">
          <a:xfrm>
            <a:off x="-1029" y="1217471"/>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32" name="Rectangle 31"/>
          <p:cNvSpPr>
            <a:spLocks noChangeArrowheads="1"/>
          </p:cNvSpPr>
          <p:nvPr/>
        </p:nvSpPr>
        <p:spPr bwMode="auto">
          <a:xfrm>
            <a:off x="3707904" y="1487559"/>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忽略励磁功率时，输入功率</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33" name="Rectangle 32"/>
          <p:cNvSpPr>
            <a:spLocks noChangeArrowheads="1"/>
          </p:cNvSpPr>
          <p:nvPr/>
        </p:nvSpPr>
        <p:spPr bwMode="auto">
          <a:xfrm>
            <a:off x="0" y="24208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；铜耗</a:t>
            </a: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34" name="Rectangle 33"/>
          <p:cNvSpPr>
            <a:spLocks noChangeArrowheads="1"/>
          </p:cNvSpPr>
          <p:nvPr/>
        </p:nvSpPr>
        <p:spPr bwMode="auto">
          <a:xfrm>
            <a:off x="14287" y="2716646"/>
            <a:ext cx="1723549"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rgbClr val="0000CC"/>
                </a:solidFill>
                <a:effectLst/>
                <a:latin typeface="黑体" panose="02010609060101010101" pitchFamily="49" charset="-122"/>
                <a:ea typeface="黑体" panose="02010609060101010101" pitchFamily="49" charset="-122"/>
                <a:cs typeface="Times New Roman" panose="02020603050405020304" pitchFamily="18" charset="0"/>
              </a:rPr>
              <a:t>电磁功率：</a:t>
            </a:r>
            <a:endParaRPr kumimoji="0" lang="zh-CN" sz="800" b="0" i="0" u="none" strike="noStrike" cap="none" normalizeH="0" baseline="0" dirty="0">
              <a:ln>
                <a:noFill/>
              </a:ln>
              <a:solidFill>
                <a:srgbClr val="0000CC"/>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35" name="Rectangle 34"/>
          <p:cNvSpPr>
            <a:spLocks noChangeArrowheads="1"/>
          </p:cNvSpPr>
          <p:nvPr/>
        </p:nvSpPr>
        <p:spPr bwMode="auto">
          <a:xfrm>
            <a:off x="0" y="3458001"/>
            <a:ext cx="757130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直流电动机（注意：</a:t>
            </a:r>
            <a:r>
              <a:rPr kumimoji="0" lang="zh-CN" sz="24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交流电动机在这一点上是不同的</a:t>
            </a:r>
            <a:r>
              <a:rPr kumimoji="0" lang="zh-CN" sz="2400" b="0"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电磁功率通过电动机全部转换成机械功率</a:t>
            </a: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36" name="Rectangle 35"/>
          <p:cNvSpPr>
            <a:spLocks noChangeArrowheads="1"/>
          </p:cNvSpPr>
          <p:nvPr/>
        </p:nvSpPr>
        <p:spPr bwMode="auto">
          <a:xfrm>
            <a:off x="-27632" y="4337991"/>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37" name="Rectangle 36"/>
          <p:cNvSpPr>
            <a:spLocks noChangeArrowheads="1"/>
          </p:cNvSpPr>
          <p:nvPr/>
        </p:nvSpPr>
        <p:spPr bwMode="auto">
          <a:xfrm>
            <a:off x="-11608" y="4297141"/>
            <a:ext cx="500649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hangingPunct="0"/>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dirty="0">
                <a:latin typeface="黑体" panose="02010609060101010101" pitchFamily="49" charset="-122"/>
                <a:ea typeface="黑体" panose="02010609060101010101" pitchFamily="49" charset="-122"/>
                <a:cs typeface="Times New Roman" panose="02020603050405020304" pitchFamily="18" charset="0"/>
              </a:rPr>
              <a:t>注：  </a:t>
            </a: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还不是</a:t>
            </a:r>
            <a:r>
              <a:rPr kumimoji="0" lang="zh-CN" sz="2400" b="0" i="0" u="none" strike="noStrike" cap="none" normalizeH="0" baseline="0" dirty="0">
                <a:ln>
                  <a:noFill/>
                </a:ln>
                <a:solidFill>
                  <a:srgbClr val="0000CC"/>
                </a:solidFill>
                <a:effectLst/>
                <a:latin typeface="黑体" panose="02010609060101010101" pitchFamily="49" charset="-122"/>
                <a:ea typeface="黑体" panose="02010609060101010101" pitchFamily="49" charset="-122"/>
                <a:cs typeface="Times New Roman" panose="02020603050405020304" pitchFamily="18" charset="0"/>
              </a:rPr>
              <a:t>轴上输出</a:t>
            </a: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的机械功率</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重要关系式</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39" name="Rectangle 38"/>
          <p:cNvSpPr>
            <a:spLocks noChangeArrowheads="1"/>
          </p:cNvSpPr>
          <p:nvPr/>
        </p:nvSpPr>
        <p:spPr bwMode="auto">
          <a:xfrm>
            <a:off x="78225" y="5704848"/>
            <a:ext cx="841363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r>
              <a:rPr lang="zh-CN" altLang="zh-CN" sz="2400" dirty="0">
                <a:latin typeface="黑体" panose="02010609060101010101" pitchFamily="49" charset="-122"/>
                <a:ea typeface="黑体" panose="02010609060101010101" pitchFamily="49" charset="-122"/>
                <a:cs typeface="Times New Roman" panose="02020603050405020304" pitchFamily="18" charset="0"/>
              </a:rPr>
              <a:t>空载损耗</a:t>
            </a:r>
            <a:r>
              <a:rPr lang="en-US" altLang="zh-CN" sz="2400" dirty="0">
                <a:latin typeface="黑体" panose="02010609060101010101" pitchFamily="49" charset="-122"/>
                <a:ea typeface="黑体" panose="02010609060101010101" pitchFamily="49" charset="-122"/>
                <a:cs typeface="Times New Roman" panose="02020603050405020304" pitchFamily="18" charset="0"/>
              </a:rPr>
              <a:t>  </a:t>
            </a: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：轴承摩擦、冷却风扇风阻、铁心涡流损耗</a:t>
            </a:r>
            <a:endPar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eaLnBrk="0" hangingPunct="0"/>
            <a:endParaRPr kumimoji="0" lang="zh-CN" sz="8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轴上</a:t>
            </a:r>
            <a:r>
              <a:rPr kumimoji="0" 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输出功率</a:t>
            </a:r>
            <a:r>
              <a:rPr kumimoji="0" 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6" name="日期占位符 5">
            <a:extLst>
              <a:ext uri="{FF2B5EF4-FFF2-40B4-BE49-F238E27FC236}">
                <a16:creationId xmlns:a16="http://schemas.microsoft.com/office/drawing/2014/main" id="{B34F2093-942A-DEE8-56CD-1F469C0C1964}"/>
              </a:ext>
            </a:extLst>
          </p:cNvPr>
          <p:cNvSpPr>
            <a:spLocks noGrp="1"/>
          </p:cNvSpPr>
          <p:nvPr>
            <p:ph type="dt" sz="half" idx="10"/>
          </p:nvPr>
        </p:nvSpPr>
        <p:spPr>
          <a:xfrm>
            <a:off x="8146417" y="25500"/>
            <a:ext cx="746063" cy="476250"/>
          </a:xfrm>
        </p:spPr>
        <p:txBody>
          <a:bodyPr/>
          <a:lstStyle/>
          <a:p>
            <a:fld id="{2AC71CD4-36E6-4EC7-82D2-B84FCE598986}" type="datetime10">
              <a:rPr lang="en-US" altLang="zh-CN" smtClean="0"/>
              <a:t>16:53</a:t>
            </a:fld>
            <a:endParaRPr lang="en-US" altLang="zh-CN" dirty="0"/>
          </a:p>
        </p:txBody>
      </p:sp>
      <p:sp>
        <p:nvSpPr>
          <p:cNvPr id="7" name="灯片编号占位符 6">
            <a:extLst>
              <a:ext uri="{FF2B5EF4-FFF2-40B4-BE49-F238E27FC236}">
                <a16:creationId xmlns:a16="http://schemas.microsoft.com/office/drawing/2014/main" id="{1D0C56FF-6867-E5B7-9BA8-033D93CDC8AF}"/>
              </a:ext>
            </a:extLst>
          </p:cNvPr>
          <p:cNvSpPr>
            <a:spLocks noGrp="1"/>
          </p:cNvSpPr>
          <p:nvPr>
            <p:ph type="sldNum" sz="quarter" idx="12"/>
          </p:nvPr>
        </p:nvSpPr>
        <p:spPr/>
        <p:txBody>
          <a:bodyPr/>
          <a:lstStyle/>
          <a:p>
            <a:fld id="{76D830B0-DF59-4281-898F-AF208100B213}" type="slidenum">
              <a:rPr lang="en-US" altLang="zh-CN" smtClean="0"/>
              <a:pPr/>
              <a:t>67</a:t>
            </a:fld>
            <a:endParaRPr lang="en-US" altLang="zh-CN"/>
          </a:p>
        </p:txBody>
      </p:sp>
    </p:spTree>
    <p:extLst>
      <p:ext uri="{BB962C8B-B14F-4D97-AF65-F5344CB8AC3E}">
        <p14:creationId xmlns:p14="http://schemas.microsoft.com/office/powerpoint/2010/main" val="6111593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2192168052"/>
              </p:ext>
            </p:extLst>
          </p:nvPr>
        </p:nvGraphicFramePr>
        <p:xfrm>
          <a:off x="0" y="1556023"/>
          <a:ext cx="3952875" cy="504825"/>
        </p:xfrm>
        <a:graphic>
          <a:graphicData uri="http://schemas.openxmlformats.org/presentationml/2006/ole">
            <mc:AlternateContent xmlns:mc="http://schemas.openxmlformats.org/markup-compatibility/2006">
              <mc:Choice xmlns:v="urn:schemas-microsoft-com:vml" Requires="v">
                <p:oleObj name="公式" r:id="rId2" imgW="1765300" imgH="228600" progId="Equation.3">
                  <p:embed/>
                </p:oleObj>
              </mc:Choice>
              <mc:Fallback>
                <p:oleObj name="公式" r:id="rId2" imgW="1765300" imgH="2286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56023"/>
                        <a:ext cx="3952875"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289199972"/>
              </p:ext>
            </p:extLst>
          </p:nvPr>
        </p:nvGraphicFramePr>
        <p:xfrm>
          <a:off x="0" y="2518048"/>
          <a:ext cx="2238375" cy="828675"/>
        </p:xfrm>
        <a:graphic>
          <a:graphicData uri="http://schemas.openxmlformats.org/presentationml/2006/ole">
            <mc:AlternateContent xmlns:mc="http://schemas.openxmlformats.org/markup-compatibility/2006">
              <mc:Choice xmlns:v="urn:schemas-microsoft-com:vml" Requires="v">
                <p:oleObj name="公式" r:id="rId4" imgW="1104421" imgH="406224" progId="Equation.3">
                  <p:embed/>
                </p:oleObj>
              </mc:Choice>
              <mc:Fallback>
                <p:oleObj name="公式" r:id="rId4" imgW="1104421" imgH="406224"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2518048"/>
                        <a:ext cx="2238375" cy="828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569377980"/>
              </p:ext>
            </p:extLst>
          </p:nvPr>
        </p:nvGraphicFramePr>
        <p:xfrm>
          <a:off x="0" y="3322911"/>
          <a:ext cx="2124075" cy="533400"/>
        </p:xfrm>
        <a:graphic>
          <a:graphicData uri="http://schemas.openxmlformats.org/presentationml/2006/ole">
            <mc:AlternateContent xmlns:mc="http://schemas.openxmlformats.org/markup-compatibility/2006">
              <mc:Choice xmlns:v="urn:schemas-microsoft-com:vml" Requires="v">
                <p:oleObj name="公式" r:id="rId6" imgW="927100" imgH="228600" progId="Equation.3">
                  <p:embed/>
                </p:oleObj>
              </mc:Choice>
              <mc:Fallback>
                <p:oleObj name="公式" r:id="rId6" imgW="927100" imgH="228600" progId="Equation.3">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3322911"/>
                        <a:ext cx="2124075"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816503194"/>
              </p:ext>
            </p:extLst>
          </p:nvPr>
        </p:nvGraphicFramePr>
        <p:xfrm>
          <a:off x="2790187" y="6095816"/>
          <a:ext cx="1057275" cy="485775"/>
        </p:xfrm>
        <a:graphic>
          <a:graphicData uri="http://schemas.openxmlformats.org/presentationml/2006/ole">
            <mc:AlternateContent xmlns:mc="http://schemas.openxmlformats.org/markup-compatibility/2006">
              <mc:Choice xmlns:v="urn:schemas-microsoft-com:vml" Requires="v">
                <p:oleObj name="公式" r:id="rId8" imgW="508000" imgH="228600" progId="Equation.3">
                  <p:embed/>
                </p:oleObj>
              </mc:Choice>
              <mc:Fallback>
                <p:oleObj name="公式" r:id="rId8" imgW="508000" imgH="228600" progId="Equation.3">
                  <p:embed/>
                  <p:pic>
                    <p:nvPicPr>
                      <p:cNvPr id="0" name="Object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90187" y="6095816"/>
                        <a:ext cx="1057275" cy="48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5"/>
          <p:cNvSpPr>
            <a:spLocks noChangeArrowheads="1"/>
          </p:cNvSpPr>
          <p:nvPr/>
        </p:nvSpPr>
        <p:spPr bwMode="auto">
          <a:xfrm>
            <a:off x="0" y="927314"/>
            <a:ext cx="5580374"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8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功率平衡方程</a:t>
            </a:r>
            <a:r>
              <a:rPr kumimoji="0" lang="zh-CN" sz="2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（忽略励磁损耗）：</a:t>
            </a:r>
            <a:endParaRPr kumimoji="0" lang="zh-CN"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8" name="Rectangle 6"/>
          <p:cNvSpPr>
            <a:spLocks noChangeArrowheads="1"/>
          </p:cNvSpPr>
          <p:nvPr/>
        </p:nvSpPr>
        <p:spPr bwMode="auto">
          <a:xfrm>
            <a:off x="0" y="206084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7"/>
          <p:cNvSpPr>
            <a:spLocks noChangeArrowheads="1"/>
          </p:cNvSpPr>
          <p:nvPr/>
        </p:nvSpPr>
        <p:spPr bwMode="auto">
          <a:xfrm>
            <a:off x="0" y="334672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8"/>
          <p:cNvSpPr>
            <a:spLocks noChangeArrowheads="1"/>
          </p:cNvSpPr>
          <p:nvPr/>
        </p:nvSpPr>
        <p:spPr bwMode="auto">
          <a:xfrm>
            <a:off x="-41707" y="3880123"/>
            <a:ext cx="91440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即</a:t>
            </a:r>
            <a:r>
              <a:rPr kumimoji="0" lang="zh-CN" sz="28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轴上输出转矩＝电磁转矩－空载转矩</a:t>
            </a:r>
            <a:endParaRPr kumimoji="0" lang="en-US" altLang="zh-CN" sz="28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sz="2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通常将空载转矩作为一种</a:t>
            </a:r>
            <a:r>
              <a:rPr kumimoji="0" lang="zh-CN" sz="28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负载转矩</a:t>
            </a:r>
            <a:r>
              <a:rPr kumimoji="0" lang="zh-CN" sz="2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并入机械负载转矩考虑</a:t>
            </a:r>
            <a:endParaRPr kumimoji="0" lang="zh-CN"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则</a:t>
            </a:r>
            <a:r>
              <a:rPr kumimoji="0" lang="zh-CN" sz="2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认为电磁转矩就是电动机轴上输出转矩，称为</a:t>
            </a:r>
            <a:endParaRPr kumimoji="0" lang="zh-CN"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28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sz="28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电动机转矩</a:t>
            </a:r>
            <a:r>
              <a:rPr kumimoji="0" lang="zh-CN" sz="2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sz="2800" b="0" i="0" u="none" strike="noStrike" cap="none" normalizeH="0" baseline="0" dirty="0">
              <a:ln>
                <a:noFill/>
              </a:ln>
              <a:solidFill>
                <a:schemeClr val="tx1"/>
              </a:solidFill>
              <a:effectLst/>
            </a:endParaRPr>
          </a:p>
        </p:txBody>
      </p:sp>
      <p:sp>
        <p:nvSpPr>
          <p:cNvPr id="14" name="日期占位符 13">
            <a:extLst>
              <a:ext uri="{FF2B5EF4-FFF2-40B4-BE49-F238E27FC236}">
                <a16:creationId xmlns:a16="http://schemas.microsoft.com/office/drawing/2014/main" id="{6B1157FB-4031-11DA-66B1-E3295F41D4D5}"/>
              </a:ext>
            </a:extLst>
          </p:cNvPr>
          <p:cNvSpPr>
            <a:spLocks noGrp="1"/>
          </p:cNvSpPr>
          <p:nvPr>
            <p:ph type="dt" sz="half" idx="10"/>
          </p:nvPr>
        </p:nvSpPr>
        <p:spPr>
          <a:xfrm>
            <a:off x="8035493" y="0"/>
            <a:ext cx="1066800" cy="476250"/>
          </a:xfrm>
        </p:spPr>
        <p:txBody>
          <a:bodyPr/>
          <a:lstStyle/>
          <a:p>
            <a:fld id="{AB0517C1-DAF9-4982-87C9-93C574BCC3E8}" type="datetime10">
              <a:rPr lang="en-US" altLang="zh-CN" smtClean="0"/>
              <a:t>16:53</a:t>
            </a:fld>
            <a:endParaRPr lang="en-US" altLang="zh-CN" dirty="0"/>
          </a:p>
        </p:txBody>
      </p:sp>
      <p:sp>
        <p:nvSpPr>
          <p:cNvPr id="15" name="灯片编号占位符 14">
            <a:extLst>
              <a:ext uri="{FF2B5EF4-FFF2-40B4-BE49-F238E27FC236}">
                <a16:creationId xmlns:a16="http://schemas.microsoft.com/office/drawing/2014/main" id="{83E4B0FD-13D9-671F-2D26-6C1CE81252A6}"/>
              </a:ext>
            </a:extLst>
          </p:cNvPr>
          <p:cNvSpPr>
            <a:spLocks noGrp="1"/>
          </p:cNvSpPr>
          <p:nvPr>
            <p:ph type="sldNum" sz="quarter" idx="12"/>
          </p:nvPr>
        </p:nvSpPr>
        <p:spPr/>
        <p:txBody>
          <a:bodyPr/>
          <a:lstStyle/>
          <a:p>
            <a:fld id="{76D830B0-DF59-4281-898F-AF208100B213}" type="slidenum">
              <a:rPr lang="en-US" altLang="zh-CN" smtClean="0"/>
              <a:pPr/>
              <a:t>68</a:t>
            </a:fld>
            <a:endParaRPr lang="en-US" altLang="zh-CN"/>
          </a:p>
        </p:txBody>
      </p:sp>
    </p:spTree>
    <p:extLst>
      <p:ext uri="{BB962C8B-B14F-4D97-AF65-F5344CB8AC3E}">
        <p14:creationId xmlns:p14="http://schemas.microsoft.com/office/powerpoint/2010/main" val="56548247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51520" y="908720"/>
            <a:ext cx="8424936" cy="3108543"/>
          </a:xfrm>
          <a:prstGeom prst="rect">
            <a:avLst/>
          </a:prstGeom>
        </p:spPr>
        <p:txBody>
          <a:bodyPr wrap="square">
            <a:spAutoFit/>
          </a:bodyPr>
          <a:lstStyle/>
          <a:p>
            <a:pPr algn="just">
              <a:spcAft>
                <a:spcPts val="0"/>
              </a:spcAft>
            </a:pPr>
            <a:r>
              <a:rPr lang="zh-CN" altLang="zh-CN" sz="2800" dirty="0">
                <a:latin typeface="楷体" panose="02010609060101010101" pitchFamily="49" charset="-122"/>
                <a:ea typeface="楷体" panose="02010609060101010101" pitchFamily="49" charset="-122"/>
              </a:rPr>
              <a:t>·讨论：</a:t>
            </a:r>
          </a:p>
          <a:p>
            <a:pPr algn="just">
              <a:spcAft>
                <a:spcPts val="0"/>
              </a:spcAft>
            </a:pPr>
            <a:r>
              <a:rPr lang="en-US" altLang="zh-CN" sz="2400" kern="100" dirty="0">
                <a:solidFill>
                  <a:srgbClr val="0000CC"/>
                </a:solidFill>
                <a:latin typeface="楷体" panose="02010609060101010101" pitchFamily="49" charset="-122"/>
                <a:ea typeface="楷体" panose="02010609060101010101" pitchFamily="49" charset="-122"/>
              </a:rPr>
              <a:t>1</a:t>
            </a:r>
            <a:r>
              <a:rPr lang="zh-CN" altLang="zh-CN" sz="2400" kern="100" dirty="0">
                <a:solidFill>
                  <a:srgbClr val="0000CC"/>
                </a:solidFill>
                <a:latin typeface="楷体" panose="02010609060101010101" pitchFamily="49" charset="-122"/>
                <a:ea typeface="楷体" panose="02010609060101010101" pitchFamily="49" charset="-122"/>
              </a:rPr>
              <a:t>．磁场在直流电机机电能量转换过程中的作用：</a:t>
            </a:r>
          </a:p>
          <a:p>
            <a:pPr algn="just">
              <a:spcAft>
                <a:spcPts val="0"/>
              </a:spcAft>
            </a:pPr>
            <a:r>
              <a:rPr lang="en-US" altLang="zh-CN" sz="2400" kern="100" dirty="0">
                <a:latin typeface="楷体" panose="02010609060101010101" pitchFamily="49" charset="-122"/>
                <a:ea typeface="楷体" panose="02010609060101010101" pitchFamily="49" charset="-122"/>
              </a:rPr>
              <a:t>  </a:t>
            </a:r>
            <a:r>
              <a:rPr lang="zh-CN" altLang="zh-CN" sz="2400" kern="100" dirty="0">
                <a:latin typeface="楷体" panose="02010609060101010101" pitchFamily="49" charset="-122"/>
                <a:ea typeface="楷体" panose="02010609060101010101" pitchFamily="49" charset="-122"/>
              </a:rPr>
              <a:t>稳态运行时，气隙磁场不变，磁场能量不变，磁场未直接参加能量转换，仅起媒介作用：</a:t>
            </a:r>
          </a:p>
          <a:p>
            <a:pPr algn="just">
              <a:spcAft>
                <a:spcPts val="0"/>
              </a:spcAft>
            </a:pPr>
            <a:r>
              <a:rPr lang="en-US" altLang="zh-CN" sz="2400" kern="100" dirty="0">
                <a:latin typeface="楷体" panose="02010609060101010101" pitchFamily="49" charset="-122"/>
                <a:ea typeface="楷体" panose="02010609060101010101" pitchFamily="49" charset="-122"/>
              </a:rPr>
              <a:t>  </a:t>
            </a:r>
            <a:r>
              <a:rPr lang="en-US" altLang="zh-CN" sz="2400" i="1" kern="100" dirty="0">
                <a:latin typeface="楷体" panose="02010609060101010101" pitchFamily="49" charset="-122"/>
                <a:ea typeface="楷体" panose="02010609060101010101" pitchFamily="49" charset="-122"/>
              </a:rPr>
              <a:t>e=</a:t>
            </a:r>
            <a:r>
              <a:rPr lang="en-US" altLang="zh-CN" sz="2400" i="1" kern="100" dirty="0" err="1">
                <a:latin typeface="楷体" panose="02010609060101010101" pitchFamily="49" charset="-122"/>
                <a:ea typeface="楷体" panose="02010609060101010101" pitchFamily="49" charset="-122"/>
              </a:rPr>
              <a:t>Blv</a:t>
            </a:r>
            <a:r>
              <a:rPr lang="zh-CN" altLang="zh-CN" sz="2400" kern="100" dirty="0">
                <a:latin typeface="楷体" panose="02010609060101010101" pitchFamily="49" charset="-122"/>
                <a:ea typeface="楷体" panose="02010609060101010101" pitchFamily="49" charset="-122"/>
              </a:rPr>
              <a:t>，磁场与绕组交链的磁通发生变化时产生，机械能通过磁场为媒介转化成电能；</a:t>
            </a:r>
          </a:p>
          <a:p>
            <a:pPr algn="just">
              <a:spcAft>
                <a:spcPts val="0"/>
              </a:spcAft>
            </a:pPr>
            <a:r>
              <a:rPr lang="en-US" altLang="zh-CN" sz="2400" i="1" kern="100" dirty="0">
                <a:latin typeface="楷体" panose="02010609060101010101" pitchFamily="49" charset="-122"/>
                <a:ea typeface="楷体" panose="02010609060101010101" pitchFamily="49" charset="-122"/>
              </a:rPr>
              <a:t> F=</a:t>
            </a:r>
            <a:r>
              <a:rPr lang="en-US" altLang="zh-CN" sz="2400" i="1" kern="100" dirty="0" err="1">
                <a:latin typeface="楷体" panose="02010609060101010101" pitchFamily="49" charset="-122"/>
                <a:ea typeface="楷体" panose="02010609060101010101" pitchFamily="49" charset="-122"/>
              </a:rPr>
              <a:t>Bli</a:t>
            </a:r>
            <a:r>
              <a:rPr lang="zh-CN" altLang="zh-CN" sz="2400" kern="100" dirty="0">
                <a:latin typeface="楷体" panose="02010609060101010101" pitchFamily="49" charset="-122"/>
                <a:ea typeface="楷体" panose="02010609060101010101" pitchFamily="49" charset="-122"/>
              </a:rPr>
              <a:t>，绕组中的电流与气隙磁场相互作用产生，电能通过磁场为媒介转化成机械能。</a:t>
            </a:r>
          </a:p>
        </p:txBody>
      </p:sp>
      <p:graphicFrame>
        <p:nvGraphicFramePr>
          <p:cNvPr id="3" name="对象 2"/>
          <p:cNvGraphicFramePr>
            <a:graphicFrameLocks noChangeAspect="1"/>
          </p:cNvGraphicFramePr>
          <p:nvPr>
            <p:extLst>
              <p:ext uri="{D42A27DB-BD31-4B8C-83A1-F6EECF244321}">
                <p14:modId xmlns:p14="http://schemas.microsoft.com/office/powerpoint/2010/main" val="1300838912"/>
              </p:ext>
            </p:extLst>
          </p:nvPr>
        </p:nvGraphicFramePr>
        <p:xfrm>
          <a:off x="395536" y="4464937"/>
          <a:ext cx="7067550" cy="1143000"/>
        </p:xfrm>
        <a:graphic>
          <a:graphicData uri="http://schemas.openxmlformats.org/presentationml/2006/ole">
            <mc:AlternateContent xmlns:mc="http://schemas.openxmlformats.org/markup-compatibility/2006">
              <mc:Choice xmlns:v="urn:schemas-microsoft-com:vml" Requires="v">
                <p:oleObj name="公式" r:id="rId2" imgW="4508500" imgH="736600" progId="Equation.3">
                  <p:embed/>
                </p:oleObj>
              </mc:Choice>
              <mc:Fallback>
                <p:oleObj name="公式" r:id="rId2" imgW="4508500" imgH="7366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4464937"/>
                        <a:ext cx="7067550" cy="1143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586208074"/>
              </p:ext>
            </p:extLst>
          </p:nvPr>
        </p:nvGraphicFramePr>
        <p:xfrm>
          <a:off x="2229073" y="5753232"/>
          <a:ext cx="3800475" cy="447675"/>
        </p:xfrm>
        <a:graphic>
          <a:graphicData uri="http://schemas.openxmlformats.org/presentationml/2006/ole">
            <mc:AlternateContent xmlns:mc="http://schemas.openxmlformats.org/markup-compatibility/2006">
              <mc:Choice xmlns:v="urn:schemas-microsoft-com:vml" Requires="v">
                <p:oleObj name="公式" r:id="rId4" imgW="2031118" imgH="241195" progId="Equation.3">
                  <p:embed/>
                </p:oleObj>
              </mc:Choice>
              <mc:Fallback>
                <p:oleObj name="公式" r:id="rId4" imgW="2031118" imgH="241195"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29073" y="5753232"/>
                        <a:ext cx="3800475" cy="447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2590306"/>
              </p:ext>
            </p:extLst>
          </p:nvPr>
        </p:nvGraphicFramePr>
        <p:xfrm>
          <a:off x="1967533" y="6429507"/>
          <a:ext cx="7048500" cy="457200"/>
        </p:xfrm>
        <a:graphic>
          <a:graphicData uri="http://schemas.openxmlformats.org/presentationml/2006/ole">
            <mc:AlternateContent xmlns:mc="http://schemas.openxmlformats.org/markup-compatibility/2006">
              <mc:Choice xmlns:v="urn:schemas-microsoft-com:vml" Requires="v">
                <p:oleObj name="公式" r:id="rId6" imgW="3556000" imgH="228600" progId="Equation.3">
                  <p:embed/>
                </p:oleObj>
              </mc:Choice>
              <mc:Fallback>
                <p:oleObj name="公式" r:id="rId6" imgW="3556000" imgH="228600" progId="Equation.3">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67533" y="6429507"/>
                        <a:ext cx="70485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34477874"/>
              </p:ext>
            </p:extLst>
          </p:nvPr>
        </p:nvGraphicFramePr>
        <p:xfrm>
          <a:off x="4497152" y="3678648"/>
          <a:ext cx="3952875" cy="2781300"/>
        </p:xfrm>
        <a:graphic>
          <a:graphicData uri="http://schemas.openxmlformats.org/presentationml/2006/ole">
            <mc:AlternateContent xmlns:mc="http://schemas.openxmlformats.org/markup-compatibility/2006">
              <mc:Choice xmlns:v="urn:schemas-microsoft-com:vml" Requires="v">
                <p:oleObj r:id="rId8" imgW="1625600" imgH="1139825" progId="MSDraw">
                  <p:embed/>
                </p:oleObj>
              </mc:Choice>
              <mc:Fallback>
                <p:oleObj r:id="rId8" imgW="1625600" imgH="1139825" progId="MSDraw">
                  <p:embed/>
                  <p:pic>
                    <p:nvPicPr>
                      <p:cNvPr id="0" name="Object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97152" y="3678648"/>
                        <a:ext cx="3952875" cy="2781300"/>
                      </a:xfrm>
                      <a:prstGeom prst="rect">
                        <a:avLst/>
                      </a:prstGeom>
                      <a:solidFill>
                        <a:srgbClr val="FFFF00"/>
                      </a:solidFill>
                    </p:spPr>
                  </p:pic>
                </p:oleObj>
              </mc:Fallback>
            </mc:AlternateContent>
          </a:graphicData>
        </a:graphic>
      </p:graphicFrame>
      <p:sp>
        <p:nvSpPr>
          <p:cNvPr id="7" name="Rectangle 5"/>
          <p:cNvSpPr>
            <a:spLocks noChangeArrowheads="1"/>
          </p:cNvSpPr>
          <p:nvPr/>
        </p:nvSpPr>
        <p:spPr bwMode="auto">
          <a:xfrm>
            <a:off x="265460" y="3967570"/>
            <a:ext cx="2800767"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CC"/>
                </a:solidFill>
                <a:effectLst/>
                <a:latin typeface="楷体" panose="02010609060101010101" pitchFamily="49" charset="-122"/>
                <a:ea typeface="楷体" panose="02010609060101010101" pitchFamily="49" charset="-122"/>
                <a:cs typeface="Times New Roman" panose="02020603050405020304" pitchFamily="18" charset="0"/>
              </a:rPr>
              <a:t>2</a:t>
            </a:r>
            <a:r>
              <a:rPr kumimoji="0" lang="zh-CN" altLang="en-US" sz="2400" b="0" i="0" u="none" strike="noStrike" cap="none" normalizeH="0" baseline="0" dirty="0">
                <a:ln>
                  <a:noFill/>
                </a:ln>
                <a:solidFill>
                  <a:srgbClr val="0000CC"/>
                </a:solidFill>
                <a:effectLst/>
                <a:latin typeface="楷体" panose="02010609060101010101" pitchFamily="49" charset="-122"/>
                <a:ea typeface="楷体" panose="02010609060101010101" pitchFamily="49" charset="-122"/>
                <a:cs typeface="Times New Roman" panose="02020603050405020304" pitchFamily="18" charset="0"/>
              </a:rPr>
              <a:t>．能量守恒关系：</a:t>
            </a:r>
            <a:endParaRPr kumimoji="0" lang="zh-CN" altLang="en-US" sz="800" b="0" i="0" u="none" strike="noStrike" cap="none" normalizeH="0" baseline="0" dirty="0">
              <a:ln>
                <a:noFill/>
              </a:ln>
              <a:solidFill>
                <a:srgbClr val="0000CC"/>
              </a:solidFill>
              <a:effectLst/>
              <a:latin typeface="楷体" panose="02010609060101010101" pitchFamily="49" charset="-122"/>
              <a:ea typeface="楷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6"/>
          <p:cNvSpPr>
            <a:spLocks noChangeArrowheads="1"/>
          </p:cNvSpPr>
          <p:nvPr/>
        </p:nvSpPr>
        <p:spPr bwMode="auto">
          <a:xfrm>
            <a:off x="539552" y="5337734"/>
            <a:ext cx="129614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并励时</a:t>
            </a: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7"/>
          <p:cNvSpPr>
            <a:spLocks noChangeArrowheads="1"/>
          </p:cNvSpPr>
          <p:nvPr/>
        </p:nvSpPr>
        <p:spPr bwMode="auto">
          <a:xfrm>
            <a:off x="897009" y="6080881"/>
            <a:ext cx="2954655"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忽略励磁电路铜耗：</a:t>
            </a:r>
            <a:endParaRPr kumimoji="0" lang="zh-CN" sz="8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0" name="Rectangle 8"/>
          <p:cNvSpPr>
            <a:spLocks noChangeArrowheads="1"/>
          </p:cNvSpPr>
          <p:nvPr/>
        </p:nvSpPr>
        <p:spPr bwMode="auto">
          <a:xfrm>
            <a:off x="265460" y="7518251"/>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日期占位符 14">
            <a:extLst>
              <a:ext uri="{FF2B5EF4-FFF2-40B4-BE49-F238E27FC236}">
                <a16:creationId xmlns:a16="http://schemas.microsoft.com/office/drawing/2014/main" id="{017C0E04-A131-57F5-E0A3-B7A45F96FE37}"/>
              </a:ext>
            </a:extLst>
          </p:cNvPr>
          <p:cNvSpPr>
            <a:spLocks noGrp="1"/>
          </p:cNvSpPr>
          <p:nvPr>
            <p:ph type="dt" sz="half" idx="10"/>
          </p:nvPr>
        </p:nvSpPr>
        <p:spPr>
          <a:xfrm>
            <a:off x="8077200" y="39051"/>
            <a:ext cx="938833" cy="476250"/>
          </a:xfrm>
        </p:spPr>
        <p:txBody>
          <a:bodyPr/>
          <a:lstStyle/>
          <a:p>
            <a:fld id="{693EF0AD-A580-4B22-96DD-5D136C5811D6}" type="datetime10">
              <a:rPr lang="en-US" altLang="zh-CN" smtClean="0"/>
              <a:t>16:53</a:t>
            </a:fld>
            <a:endParaRPr lang="en-US" altLang="zh-CN" dirty="0"/>
          </a:p>
        </p:txBody>
      </p:sp>
      <p:sp>
        <p:nvSpPr>
          <p:cNvPr id="16" name="灯片编号占位符 15">
            <a:extLst>
              <a:ext uri="{FF2B5EF4-FFF2-40B4-BE49-F238E27FC236}">
                <a16:creationId xmlns:a16="http://schemas.microsoft.com/office/drawing/2014/main" id="{856807F1-BDB7-0864-A263-419D7F80C4C6}"/>
              </a:ext>
            </a:extLst>
          </p:cNvPr>
          <p:cNvSpPr>
            <a:spLocks noGrp="1"/>
          </p:cNvSpPr>
          <p:nvPr>
            <p:ph type="sldNum" sz="quarter" idx="12"/>
          </p:nvPr>
        </p:nvSpPr>
        <p:spPr/>
        <p:txBody>
          <a:bodyPr/>
          <a:lstStyle/>
          <a:p>
            <a:fld id="{76D830B0-DF59-4281-898F-AF208100B213}" type="slidenum">
              <a:rPr lang="en-US" altLang="zh-CN" smtClean="0"/>
              <a:pPr/>
              <a:t>69</a:t>
            </a:fld>
            <a:endParaRPr lang="en-US" altLang="zh-CN"/>
          </a:p>
        </p:txBody>
      </p:sp>
    </p:spTree>
    <p:extLst>
      <p:ext uri="{BB962C8B-B14F-4D97-AF65-F5344CB8AC3E}">
        <p14:creationId xmlns:p14="http://schemas.microsoft.com/office/powerpoint/2010/main" val="3597816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136486795"/>
              </p:ext>
            </p:extLst>
          </p:nvPr>
        </p:nvGraphicFramePr>
        <p:xfrm>
          <a:off x="1835344" y="1789729"/>
          <a:ext cx="6238875" cy="514350"/>
        </p:xfrm>
        <a:graphic>
          <a:graphicData uri="http://schemas.openxmlformats.org/presentationml/2006/ole">
            <mc:AlternateContent xmlns:mc="http://schemas.openxmlformats.org/markup-compatibility/2006">
              <mc:Choice xmlns:v="urn:schemas-microsoft-com:vml" Requires="v">
                <p:oleObj name="公式" r:id="rId2" imgW="2755900" imgH="228600" progId="Equation.3">
                  <p:embed/>
                </p:oleObj>
              </mc:Choice>
              <mc:Fallback>
                <p:oleObj name="公式" r:id="rId2" imgW="2755900" imgH="228600" progId="Equation.3">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344" y="1789729"/>
                        <a:ext cx="6238875"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4040939016"/>
              </p:ext>
            </p:extLst>
          </p:nvPr>
        </p:nvGraphicFramePr>
        <p:xfrm>
          <a:off x="654244" y="2288790"/>
          <a:ext cx="7562850" cy="495300"/>
        </p:xfrm>
        <a:graphic>
          <a:graphicData uri="http://schemas.openxmlformats.org/presentationml/2006/ole">
            <mc:AlternateContent xmlns:mc="http://schemas.openxmlformats.org/markup-compatibility/2006">
              <mc:Choice xmlns:v="urn:schemas-microsoft-com:vml" Requires="v">
                <p:oleObj name="公式" r:id="rId4" imgW="3403600" imgH="228600" progId="Equation.3">
                  <p:embed/>
                </p:oleObj>
              </mc:Choice>
              <mc:Fallback>
                <p:oleObj name="公式" r:id="rId4" imgW="3403600" imgH="22860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4244" y="2288790"/>
                        <a:ext cx="7562850"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819622119"/>
              </p:ext>
            </p:extLst>
          </p:nvPr>
        </p:nvGraphicFramePr>
        <p:xfrm>
          <a:off x="654244" y="2831803"/>
          <a:ext cx="2362200" cy="447675"/>
        </p:xfrm>
        <a:graphic>
          <a:graphicData uri="http://schemas.openxmlformats.org/presentationml/2006/ole">
            <mc:AlternateContent xmlns:mc="http://schemas.openxmlformats.org/markup-compatibility/2006">
              <mc:Choice xmlns:v="urn:schemas-microsoft-com:vml" Requires="v">
                <p:oleObj name="公式" r:id="rId6" imgW="1193800" imgH="228600" progId="Equation.3">
                  <p:embed/>
                </p:oleObj>
              </mc:Choice>
              <mc:Fallback>
                <p:oleObj name="公式" r:id="rId6" imgW="1193800" imgH="2286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4244" y="2831803"/>
                        <a:ext cx="2362200" cy="447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635123719"/>
              </p:ext>
            </p:extLst>
          </p:nvPr>
        </p:nvGraphicFramePr>
        <p:xfrm>
          <a:off x="658491" y="3724275"/>
          <a:ext cx="5353669" cy="503875"/>
        </p:xfrm>
        <a:graphic>
          <a:graphicData uri="http://schemas.openxmlformats.org/presentationml/2006/ole">
            <mc:AlternateContent xmlns:mc="http://schemas.openxmlformats.org/markup-compatibility/2006">
              <mc:Choice xmlns:v="urn:schemas-microsoft-com:vml" Requires="v">
                <p:oleObj name="公式" r:id="rId8" imgW="2413000" imgH="228600" progId="Equation.3">
                  <p:embed/>
                </p:oleObj>
              </mc:Choice>
              <mc:Fallback>
                <p:oleObj name="公式" r:id="rId8" imgW="2413000" imgH="22860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8491" y="3724275"/>
                        <a:ext cx="5353669" cy="503875"/>
                      </a:xfrm>
                      <a:prstGeom prst="rect">
                        <a:avLst/>
                      </a:prstGeom>
                      <a:no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291019960"/>
              </p:ext>
            </p:extLst>
          </p:nvPr>
        </p:nvGraphicFramePr>
        <p:xfrm>
          <a:off x="654244" y="4300595"/>
          <a:ext cx="6629400" cy="476250"/>
        </p:xfrm>
        <a:graphic>
          <a:graphicData uri="http://schemas.openxmlformats.org/presentationml/2006/ole">
            <mc:AlternateContent xmlns:mc="http://schemas.openxmlformats.org/markup-compatibility/2006">
              <mc:Choice xmlns:v="urn:schemas-microsoft-com:vml" Requires="v">
                <p:oleObj name="公式" r:id="rId10" imgW="3124200" imgH="228600" progId="Equation.3">
                  <p:embed/>
                </p:oleObj>
              </mc:Choice>
              <mc:Fallback>
                <p:oleObj name="公式" r:id="rId10" imgW="3124200" imgH="228600" progId="Equation.3">
                  <p:embed/>
                  <p:pic>
                    <p:nvPicPr>
                      <p:cNvPr id="0" name="Object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4244" y="4300595"/>
                        <a:ext cx="6629400" cy="47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312751551"/>
              </p:ext>
            </p:extLst>
          </p:nvPr>
        </p:nvGraphicFramePr>
        <p:xfrm>
          <a:off x="654244" y="4614861"/>
          <a:ext cx="7038975" cy="847725"/>
        </p:xfrm>
        <a:graphic>
          <a:graphicData uri="http://schemas.openxmlformats.org/presentationml/2006/ole">
            <mc:AlternateContent xmlns:mc="http://schemas.openxmlformats.org/markup-compatibility/2006">
              <mc:Choice xmlns:v="urn:schemas-microsoft-com:vml" Requires="v">
                <p:oleObj name="公式" r:id="rId12" imgW="3249790" imgH="393529" progId="Equation.3">
                  <p:embed/>
                </p:oleObj>
              </mc:Choice>
              <mc:Fallback>
                <p:oleObj name="公式" r:id="rId12" imgW="3249790" imgH="393529" progId="Equation.3">
                  <p:embed/>
                  <p:pic>
                    <p:nvPicPr>
                      <p:cNvPr id="0" name="Object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4244" y="4614861"/>
                        <a:ext cx="7038975" cy="847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602893561"/>
              </p:ext>
            </p:extLst>
          </p:nvPr>
        </p:nvGraphicFramePr>
        <p:xfrm>
          <a:off x="1147442" y="5417542"/>
          <a:ext cx="6543675" cy="514350"/>
        </p:xfrm>
        <a:graphic>
          <a:graphicData uri="http://schemas.openxmlformats.org/presentationml/2006/ole">
            <mc:AlternateContent xmlns:mc="http://schemas.openxmlformats.org/markup-compatibility/2006">
              <mc:Choice xmlns:v="urn:schemas-microsoft-com:vml" Requires="v">
                <p:oleObj name="公式" r:id="rId14" imgW="3033983" imgH="241195" progId="Equation.3">
                  <p:embed/>
                </p:oleObj>
              </mc:Choice>
              <mc:Fallback>
                <p:oleObj name="公式" r:id="rId14" imgW="3033983" imgH="241195" progId="Equation.3">
                  <p:embed/>
                  <p:pic>
                    <p:nvPicPr>
                      <p:cNvPr id="0" name="Object 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47442" y="5417542"/>
                        <a:ext cx="6543675"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786623976"/>
              </p:ext>
            </p:extLst>
          </p:nvPr>
        </p:nvGraphicFramePr>
        <p:xfrm>
          <a:off x="1154090" y="6013152"/>
          <a:ext cx="6315075" cy="523875"/>
        </p:xfrm>
        <a:graphic>
          <a:graphicData uri="http://schemas.openxmlformats.org/presentationml/2006/ole">
            <mc:AlternateContent xmlns:mc="http://schemas.openxmlformats.org/markup-compatibility/2006">
              <mc:Choice xmlns:v="urn:schemas-microsoft-com:vml" Requires="v">
                <p:oleObj name="公式" r:id="rId16" imgW="2743200" imgH="228600" progId="Equation.3">
                  <p:embed/>
                </p:oleObj>
              </mc:Choice>
              <mc:Fallback>
                <p:oleObj name="公式" r:id="rId16" imgW="2743200" imgH="228600" progId="Equation.3">
                  <p:embed/>
                  <p:pic>
                    <p:nvPicPr>
                      <p:cNvPr id="0" name="Object 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54090" y="6013152"/>
                        <a:ext cx="6315075" cy="523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9"/>
          <p:cNvSpPr>
            <a:spLocks noChangeArrowheads="1"/>
          </p:cNvSpPr>
          <p:nvPr/>
        </p:nvSpPr>
        <p:spPr bwMode="auto">
          <a:xfrm>
            <a:off x="10791" y="811255"/>
            <a:ext cx="8525091"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例：忽略励磁损耗，计算前例起动、</a:t>
            </a:r>
            <a:r>
              <a:rPr kumimoji="0" lang="en-US" altLang="zh-CN" sz="28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n=1460r/min</a:t>
            </a:r>
            <a:r>
              <a:rPr kumimoji="0" lang="zh-CN" altLang="en-US" sz="2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时的</a:t>
            </a:r>
            <a:endParaRPr kumimoji="0" lang="en-US" altLang="zh-CN" sz="2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输入功率，电磁转矩</a:t>
            </a:r>
            <a:r>
              <a:rPr kumimoji="0" lang="en-US" altLang="zh-CN" sz="28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电磁功率。</a:t>
            </a:r>
            <a:endParaRPr kumimoji="0" lang="zh-CN"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a:t>
            </a:r>
            <a:r>
              <a:rPr kumimoji="0" lang="zh-CN" altLang="en-US" sz="2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起动时：</a:t>
            </a:r>
            <a:endParaRPr kumimoji="0" lang="zh-CN"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0"/>
          <p:cNvSpPr>
            <a:spLocks noChangeArrowheads="1"/>
          </p:cNvSpPr>
          <p:nvPr/>
        </p:nvSpPr>
        <p:spPr bwMode="auto">
          <a:xfrm>
            <a:off x="10791" y="250319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2" name="Rectangle 11"/>
          <p:cNvSpPr>
            <a:spLocks noChangeArrowheads="1"/>
          </p:cNvSpPr>
          <p:nvPr/>
        </p:nvSpPr>
        <p:spPr bwMode="auto">
          <a:xfrm>
            <a:off x="10791" y="299849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3" name="Rectangle 12"/>
          <p:cNvSpPr>
            <a:spLocks noChangeArrowheads="1"/>
          </p:cNvSpPr>
          <p:nvPr/>
        </p:nvSpPr>
        <p:spPr bwMode="auto">
          <a:xfrm>
            <a:off x="-16389" y="349002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b. n=1460r/min</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时：</a:t>
            </a:r>
            <a:endParaRPr kumimoji="0" lang="zh-CN"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13"/>
          <p:cNvSpPr>
            <a:spLocks noChangeArrowheads="1"/>
          </p:cNvSpPr>
          <p:nvPr/>
        </p:nvSpPr>
        <p:spPr bwMode="auto">
          <a:xfrm>
            <a:off x="10791" y="443676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5" name="Rectangle 14"/>
          <p:cNvSpPr>
            <a:spLocks noChangeArrowheads="1"/>
          </p:cNvSpPr>
          <p:nvPr/>
        </p:nvSpPr>
        <p:spPr bwMode="auto">
          <a:xfrm>
            <a:off x="10791" y="491301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6" name="Rectangle 15"/>
          <p:cNvSpPr>
            <a:spLocks noChangeArrowheads="1"/>
          </p:cNvSpPr>
          <p:nvPr/>
        </p:nvSpPr>
        <p:spPr bwMode="auto">
          <a:xfrm>
            <a:off x="10791" y="567471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或：</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16"/>
          <p:cNvSpPr>
            <a:spLocks noChangeArrowheads="1"/>
          </p:cNvSpPr>
          <p:nvPr/>
        </p:nvSpPr>
        <p:spPr bwMode="auto">
          <a:xfrm>
            <a:off x="10791" y="627509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或：</a:t>
            </a:r>
            <a:r>
              <a:rPr kumimoji="0" lang="zh-CN" altLang="en-US"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a:ln>
                <a:noFill/>
              </a:ln>
              <a:solidFill>
                <a:schemeClr val="tx1"/>
              </a:solidFill>
              <a:effectLst/>
              <a:latin typeface="Arial" panose="020B0604020202020204" pitchFamily="34" charset="0"/>
            </a:endParaRPr>
          </a:p>
        </p:txBody>
      </p:sp>
      <p:sp>
        <p:nvSpPr>
          <p:cNvPr id="18" name="Rectangle 17"/>
          <p:cNvSpPr>
            <a:spLocks noChangeArrowheads="1"/>
          </p:cNvSpPr>
          <p:nvPr/>
        </p:nvSpPr>
        <p:spPr bwMode="auto">
          <a:xfrm>
            <a:off x="10791" y="679896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en-US" altLang="zh-CN" sz="800" b="0" i="0" u="none" strike="noStrike" cap="none" normalizeH="0" baseline="0">
                <a:ln>
                  <a:noFill/>
                </a:ln>
                <a:solidFill>
                  <a:schemeClr val="tx1"/>
                </a:solidFill>
                <a:effectLst/>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23" name="日期占位符 22">
            <a:extLst>
              <a:ext uri="{FF2B5EF4-FFF2-40B4-BE49-F238E27FC236}">
                <a16:creationId xmlns:a16="http://schemas.microsoft.com/office/drawing/2014/main" id="{98C0850B-D549-8968-877E-97EEBE608982}"/>
              </a:ext>
            </a:extLst>
          </p:cNvPr>
          <p:cNvSpPr>
            <a:spLocks noGrp="1"/>
          </p:cNvSpPr>
          <p:nvPr>
            <p:ph type="dt" sz="half" idx="10"/>
          </p:nvPr>
        </p:nvSpPr>
        <p:spPr>
          <a:xfrm>
            <a:off x="8087991" y="-10320"/>
            <a:ext cx="948505" cy="476250"/>
          </a:xfrm>
        </p:spPr>
        <p:txBody>
          <a:bodyPr/>
          <a:lstStyle/>
          <a:p>
            <a:fld id="{D4F36D4E-1383-40F5-913D-CB7378C2EC5D}" type="datetime10">
              <a:rPr lang="en-US" altLang="zh-CN" smtClean="0"/>
              <a:t>16:53</a:t>
            </a:fld>
            <a:endParaRPr lang="en-US" altLang="zh-CN" dirty="0"/>
          </a:p>
        </p:txBody>
      </p:sp>
      <p:sp>
        <p:nvSpPr>
          <p:cNvPr id="24" name="灯片编号占位符 23">
            <a:extLst>
              <a:ext uri="{FF2B5EF4-FFF2-40B4-BE49-F238E27FC236}">
                <a16:creationId xmlns:a16="http://schemas.microsoft.com/office/drawing/2014/main" id="{EEB42F48-22FC-A5DC-B325-54605E2F861D}"/>
              </a:ext>
            </a:extLst>
          </p:cNvPr>
          <p:cNvSpPr>
            <a:spLocks noGrp="1"/>
          </p:cNvSpPr>
          <p:nvPr>
            <p:ph type="sldNum" sz="quarter" idx="12"/>
          </p:nvPr>
        </p:nvSpPr>
        <p:spPr/>
        <p:txBody>
          <a:bodyPr/>
          <a:lstStyle/>
          <a:p>
            <a:fld id="{76D830B0-DF59-4281-898F-AF208100B213}" type="slidenum">
              <a:rPr lang="en-US" altLang="zh-CN" smtClean="0"/>
              <a:pPr/>
              <a:t>70</a:t>
            </a:fld>
            <a:endParaRPr lang="en-US" altLang="zh-CN"/>
          </a:p>
        </p:txBody>
      </p:sp>
    </p:spTree>
    <p:extLst>
      <p:ext uri="{BB962C8B-B14F-4D97-AF65-F5344CB8AC3E}">
        <p14:creationId xmlns:p14="http://schemas.microsoft.com/office/powerpoint/2010/main" val="340022993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773837"/>
            <a:ext cx="8964488" cy="5262979"/>
          </a:xfrm>
          <a:prstGeom prst="rect">
            <a:avLst/>
          </a:prstGeom>
        </p:spPr>
        <p:txBody>
          <a:bodyPr wrap="square">
            <a:spAutoFit/>
          </a:bodyPr>
          <a:lstStyle/>
          <a:p>
            <a:pPr algn="just">
              <a:spcAft>
                <a:spcPts val="0"/>
              </a:spcAft>
            </a:pPr>
            <a:r>
              <a:rPr lang="zh-CN" altLang="zh-CN" sz="2800" b="1" kern="100" dirty="0">
                <a:solidFill>
                  <a:srgbClr val="0000FF"/>
                </a:solidFill>
                <a:latin typeface="楷体" panose="02010609060101010101" pitchFamily="49" charset="-122"/>
                <a:ea typeface="楷体" panose="02010609060101010101" pitchFamily="49" charset="-122"/>
              </a:rPr>
              <a:t>讨论问题</a:t>
            </a:r>
            <a:r>
              <a:rPr lang="zh-CN" altLang="en-US" sz="2800" b="1" kern="100" dirty="0">
                <a:solidFill>
                  <a:srgbClr val="0000FF"/>
                </a:solidFill>
                <a:latin typeface="楷体" panose="02010609060101010101" pitchFamily="49" charset="-122"/>
                <a:ea typeface="楷体" panose="02010609060101010101" pitchFamily="49" charset="-122"/>
              </a:rPr>
              <a:t>：</a:t>
            </a:r>
            <a:r>
              <a:rPr lang="zh-CN" altLang="en-US" sz="2800" kern="100" dirty="0">
                <a:latin typeface="楷体" panose="02010609060101010101" pitchFamily="49" charset="-122"/>
                <a:ea typeface="楷体" panose="02010609060101010101" pitchFamily="49" charset="-122"/>
                <a:sym typeface="Wingdings" panose="05000000000000000000" pitchFamily="2" charset="2"/>
              </a:rPr>
              <a:t>（</a:t>
            </a:r>
            <a:r>
              <a:rPr lang="en-US" altLang="zh-CN" sz="2800" kern="100" dirty="0">
                <a:latin typeface="楷体" panose="02010609060101010101" pitchFamily="49" charset="-122"/>
                <a:ea typeface="楷体" panose="02010609060101010101" pitchFamily="49" charset="-122"/>
                <a:sym typeface="Wingdings" panose="05000000000000000000" pitchFamily="2" charset="2"/>
              </a:rPr>
              <a:t>1</a:t>
            </a:r>
            <a:r>
              <a:rPr lang="zh-CN" altLang="en-US" sz="2800" kern="100" dirty="0">
                <a:latin typeface="楷体" panose="02010609060101010101" pitchFamily="49" charset="-122"/>
                <a:ea typeface="楷体" panose="02010609060101010101" pitchFamily="49" charset="-122"/>
                <a:sym typeface="Wingdings" panose="05000000000000000000" pitchFamily="2" charset="2"/>
              </a:rPr>
              <a:t>）</a:t>
            </a:r>
            <a:r>
              <a:rPr lang="zh-CN" altLang="zh-CN" sz="2800" dirty="0">
                <a:latin typeface="楷体" panose="02010609060101010101" pitchFamily="49" charset="-122"/>
                <a:ea typeface="楷体" panose="02010609060101010101" pitchFamily="49" charset="-122"/>
              </a:rPr>
              <a:t>电磁转矩和感应电动势数学表达的物理意义是什么？现实意义？</a:t>
            </a:r>
            <a:endParaRPr lang="en-US" altLang="zh-CN" sz="2800" kern="100" dirty="0">
              <a:latin typeface="楷体" panose="02010609060101010101" pitchFamily="49" charset="-122"/>
              <a:ea typeface="楷体" panose="02010609060101010101" pitchFamily="49" charset="-122"/>
            </a:endParaRPr>
          </a:p>
          <a:p>
            <a:pPr algn="just">
              <a:spcAft>
                <a:spcPts val="0"/>
              </a:spcAft>
            </a:pPr>
            <a:r>
              <a:rPr lang="zh-CN" altLang="en-US" sz="2800" kern="100" dirty="0">
                <a:latin typeface="楷体" panose="02010609060101010101" pitchFamily="49" charset="-122"/>
                <a:ea typeface="楷体" panose="02010609060101010101" pitchFamily="49" charset="-122"/>
              </a:rPr>
              <a:t>（</a:t>
            </a:r>
            <a:r>
              <a:rPr lang="en-US" altLang="zh-CN" sz="2800" kern="100" dirty="0">
                <a:latin typeface="楷体" panose="02010609060101010101" pitchFamily="49" charset="-122"/>
                <a:ea typeface="楷体" panose="02010609060101010101" pitchFamily="49" charset="-122"/>
              </a:rPr>
              <a:t>2</a:t>
            </a:r>
            <a:r>
              <a:rPr lang="zh-CN" altLang="en-US" sz="2800" kern="100" dirty="0">
                <a:latin typeface="楷体" panose="02010609060101010101" pitchFamily="49" charset="-122"/>
                <a:ea typeface="楷体" panose="02010609060101010101" pitchFamily="49" charset="-122"/>
              </a:rPr>
              <a:t>）</a:t>
            </a:r>
            <a:r>
              <a:rPr lang="zh-CN" altLang="zh-CN" sz="2800" kern="100" dirty="0">
                <a:latin typeface="楷体" panose="02010609060101010101" pitchFamily="49" charset="-122"/>
                <a:ea typeface="楷体" panose="02010609060101010101" pitchFamily="49" charset="-122"/>
              </a:rPr>
              <a:t>电机能动→电机能合理地动</a:t>
            </a:r>
            <a:r>
              <a:rPr lang="zh-CN" altLang="en-US" sz="2800" kern="100" dirty="0">
                <a:latin typeface="楷体" panose="02010609060101010101" pitchFamily="49" charset="-122"/>
                <a:ea typeface="楷体" panose="02010609060101010101" pitchFamily="49" charset="-122"/>
              </a:rPr>
              <a:t>？</a:t>
            </a:r>
            <a:r>
              <a:rPr lang="zh-CN" altLang="zh-CN" sz="2800" kern="100" dirty="0">
                <a:latin typeface="楷体" panose="02010609060101010101" pitchFamily="49" charset="-122"/>
                <a:ea typeface="楷体" panose="02010609060101010101" pitchFamily="49" charset="-122"/>
              </a:rPr>
              <a:t>（正确的拖动方式）</a:t>
            </a:r>
          </a:p>
          <a:p>
            <a:pPr algn="just">
              <a:spcAft>
                <a:spcPts val="0"/>
              </a:spcAft>
            </a:pPr>
            <a:r>
              <a:rPr lang="en-US" altLang="zh-CN" sz="2800" kern="100" dirty="0">
                <a:latin typeface="楷体" panose="02010609060101010101" pitchFamily="49" charset="-122"/>
                <a:ea typeface="楷体" panose="02010609060101010101" pitchFamily="49" charset="-122"/>
              </a:rPr>
              <a:t>     </a:t>
            </a:r>
            <a:r>
              <a:rPr lang="zh-CN" altLang="zh-CN" sz="2800" kern="100" dirty="0">
                <a:latin typeface="楷体" panose="02010609060101010101" pitchFamily="49" charset="-122"/>
                <a:ea typeface="楷体" panose="02010609060101010101" pitchFamily="49" charset="-122"/>
              </a:rPr>
              <a:t>不采取任何限流措施，直接加额定电压的起动称</a:t>
            </a:r>
            <a:r>
              <a:rPr lang="zh-CN" altLang="zh-CN" sz="2800" b="1" kern="100" dirty="0">
                <a:solidFill>
                  <a:srgbClr val="0000FF"/>
                </a:solidFill>
                <a:latin typeface="楷体" panose="02010609060101010101" pitchFamily="49" charset="-122"/>
                <a:ea typeface="楷体" panose="02010609060101010101" pitchFamily="49" charset="-122"/>
              </a:rPr>
              <a:t>直接起动</a:t>
            </a:r>
            <a:r>
              <a:rPr lang="zh-CN" altLang="zh-CN" sz="2800" kern="100" dirty="0">
                <a:latin typeface="楷体" panose="02010609060101010101" pitchFamily="49" charset="-122"/>
                <a:ea typeface="楷体" panose="02010609060101010101" pitchFamily="49" charset="-122"/>
              </a:rPr>
              <a:t>。</a:t>
            </a:r>
          </a:p>
          <a:p>
            <a:pPr algn="just">
              <a:spcAft>
                <a:spcPts val="0"/>
              </a:spcAft>
            </a:pPr>
            <a:r>
              <a:rPr lang="en-US" altLang="zh-CN" sz="2800" kern="100" dirty="0">
                <a:latin typeface="楷体" panose="02010609060101010101" pitchFamily="49" charset="-122"/>
                <a:ea typeface="楷体" panose="02010609060101010101" pitchFamily="49" charset="-122"/>
              </a:rPr>
              <a:t>     </a:t>
            </a:r>
            <a:r>
              <a:rPr lang="zh-CN" altLang="zh-CN" sz="2800" b="1" kern="100" dirty="0">
                <a:solidFill>
                  <a:srgbClr val="0000CC"/>
                </a:solidFill>
                <a:latin typeface="楷体" panose="02010609060101010101" pitchFamily="49" charset="-122"/>
                <a:ea typeface="楷体" panose="02010609060101010101" pitchFamily="49" charset="-122"/>
              </a:rPr>
              <a:t>直流电动机直接起动的优点是：</a:t>
            </a:r>
          </a:p>
          <a:p>
            <a:pPr algn="just">
              <a:spcAft>
                <a:spcPts val="0"/>
              </a:spcAft>
            </a:pPr>
            <a:r>
              <a:rPr lang="en-US" altLang="zh-CN" sz="2800" kern="100" dirty="0">
                <a:latin typeface="楷体" panose="02010609060101010101" pitchFamily="49" charset="-122"/>
                <a:ea typeface="楷体" panose="02010609060101010101" pitchFamily="49" charset="-122"/>
              </a:rPr>
              <a:t>     </a:t>
            </a:r>
            <a:r>
              <a:rPr lang="zh-CN" altLang="zh-CN" sz="2800" kern="100" dirty="0">
                <a:latin typeface="楷体" panose="02010609060101010101" pitchFamily="49" charset="-122"/>
                <a:ea typeface="楷体" panose="02010609060101010101" pitchFamily="49" charset="-122"/>
              </a:rPr>
              <a:t>起动转矩很大，不需另加起动设备，操作简便。</a:t>
            </a:r>
          </a:p>
          <a:p>
            <a:pPr algn="just">
              <a:spcAft>
                <a:spcPts val="0"/>
              </a:spcAft>
            </a:pPr>
            <a:r>
              <a:rPr lang="en-US" altLang="zh-CN" sz="2800" kern="100" dirty="0">
                <a:latin typeface="楷体" panose="02010609060101010101" pitchFamily="49" charset="-122"/>
                <a:ea typeface="楷体" panose="02010609060101010101" pitchFamily="49" charset="-122"/>
              </a:rPr>
              <a:t>     </a:t>
            </a:r>
            <a:r>
              <a:rPr lang="zh-CN" altLang="zh-CN" sz="2800" kern="100" dirty="0">
                <a:latin typeface="楷体" panose="02010609060101010101" pitchFamily="49" charset="-122"/>
                <a:ea typeface="楷体" panose="02010609060101010101" pitchFamily="49" charset="-122"/>
              </a:rPr>
              <a:t>严重的缺点是：起动电流很大，一般可达额定的</a:t>
            </a:r>
            <a:r>
              <a:rPr lang="en-US" altLang="zh-CN" sz="2800" kern="100" dirty="0">
                <a:latin typeface="楷体" panose="02010609060101010101" pitchFamily="49" charset="-122"/>
                <a:ea typeface="楷体" panose="02010609060101010101" pitchFamily="49" charset="-122"/>
              </a:rPr>
              <a:t>10</a:t>
            </a:r>
            <a:r>
              <a:rPr lang="zh-CN" altLang="zh-CN" sz="2800" kern="100" dirty="0">
                <a:latin typeface="楷体" panose="02010609060101010101" pitchFamily="49" charset="-122"/>
                <a:ea typeface="楷体" panose="02010609060101010101" pitchFamily="49" charset="-122"/>
              </a:rPr>
              <a:t>～</a:t>
            </a:r>
            <a:r>
              <a:rPr lang="en-US" altLang="zh-CN" sz="2800" kern="100" dirty="0">
                <a:latin typeface="楷体" panose="02010609060101010101" pitchFamily="49" charset="-122"/>
                <a:ea typeface="楷体" panose="02010609060101010101" pitchFamily="49" charset="-122"/>
              </a:rPr>
              <a:t>20</a:t>
            </a:r>
            <a:r>
              <a:rPr lang="zh-CN" altLang="zh-CN" sz="2800" kern="100" dirty="0">
                <a:latin typeface="楷体" panose="02010609060101010101" pitchFamily="49" charset="-122"/>
                <a:ea typeface="楷体" panose="02010609060101010101" pitchFamily="49" charset="-122"/>
              </a:rPr>
              <a:t>倍。</a:t>
            </a:r>
          </a:p>
          <a:p>
            <a:pPr algn="just">
              <a:spcAft>
                <a:spcPts val="0"/>
              </a:spcAft>
            </a:pPr>
            <a:r>
              <a:rPr lang="en-US" altLang="zh-CN" sz="2800" kern="100" dirty="0">
                <a:latin typeface="楷体" panose="02010609060101010101" pitchFamily="49" charset="-122"/>
                <a:ea typeface="楷体" panose="02010609060101010101" pitchFamily="49" charset="-122"/>
              </a:rPr>
              <a:t>     </a:t>
            </a:r>
            <a:r>
              <a:rPr lang="zh-CN" altLang="zh-CN" sz="2800" kern="100" dirty="0">
                <a:latin typeface="楷体" panose="02010609060101010101" pitchFamily="49" charset="-122"/>
                <a:ea typeface="楷体" panose="02010609060101010101" pitchFamily="49" charset="-122"/>
              </a:rPr>
              <a:t>可能产生强烈火花损坏换向器。</a:t>
            </a:r>
          </a:p>
          <a:p>
            <a:pPr algn="just">
              <a:spcAft>
                <a:spcPts val="0"/>
              </a:spcAft>
            </a:pPr>
            <a:r>
              <a:rPr lang="en-US" altLang="zh-CN" sz="2800" kern="100" dirty="0">
                <a:latin typeface="楷体" panose="02010609060101010101" pitchFamily="49" charset="-122"/>
                <a:ea typeface="楷体" panose="02010609060101010101" pitchFamily="49" charset="-122"/>
              </a:rPr>
              <a:t> </a:t>
            </a:r>
            <a:r>
              <a:rPr lang="zh-CN" altLang="zh-CN" sz="2800" b="1" kern="100" dirty="0">
                <a:solidFill>
                  <a:srgbClr val="FF00FF"/>
                </a:solidFill>
                <a:latin typeface="楷体" panose="02010609060101010101" pitchFamily="49" charset="-122"/>
                <a:ea typeface="楷体" panose="02010609060101010101" pitchFamily="49" charset="-122"/>
              </a:rPr>
              <a:t>结论</a:t>
            </a:r>
            <a:r>
              <a:rPr lang="zh-CN" altLang="zh-CN" sz="2800" kern="100" dirty="0">
                <a:latin typeface="楷体" panose="02010609060101010101" pitchFamily="49" charset="-122"/>
                <a:ea typeface="楷体" panose="02010609060101010101" pitchFamily="49" charset="-122"/>
              </a:rPr>
              <a:t>：</a:t>
            </a:r>
            <a:r>
              <a:rPr lang="en-US" altLang="zh-CN" sz="2800" kern="100" dirty="0">
                <a:latin typeface="楷体" panose="02010609060101010101" pitchFamily="49" charset="-122"/>
                <a:ea typeface="楷体" panose="02010609060101010101" pitchFamily="49" charset="-122"/>
              </a:rPr>
              <a:t>1</a:t>
            </a:r>
            <a:r>
              <a:rPr lang="zh-CN" altLang="zh-CN" sz="2800" kern="100" dirty="0">
                <a:latin typeface="楷体" panose="02010609060101010101" pitchFamily="49" charset="-122"/>
                <a:ea typeface="楷体" panose="02010609060101010101" pitchFamily="49" charset="-122"/>
              </a:rPr>
              <a:t>、</a:t>
            </a:r>
            <a:r>
              <a:rPr lang="zh-CN" altLang="zh-CN" sz="2800" kern="100" dirty="0">
                <a:solidFill>
                  <a:srgbClr val="0000FF"/>
                </a:solidFill>
                <a:latin typeface="楷体" panose="02010609060101010101" pitchFamily="49" charset="-122"/>
                <a:ea typeface="楷体" panose="02010609060101010101" pitchFamily="49" charset="-122"/>
              </a:rPr>
              <a:t>除低压、小容量外，</a:t>
            </a:r>
            <a:r>
              <a:rPr lang="en-US" altLang="zh-CN" sz="2800" kern="100" dirty="0">
                <a:solidFill>
                  <a:srgbClr val="0000FF"/>
                </a:solidFill>
                <a:latin typeface="楷体" panose="02010609060101010101" pitchFamily="49" charset="-122"/>
                <a:ea typeface="楷体" panose="02010609060101010101" pitchFamily="49" charset="-122"/>
              </a:rPr>
              <a:t>DCM</a:t>
            </a:r>
            <a:r>
              <a:rPr lang="zh-CN" altLang="zh-CN" sz="2800" kern="100" dirty="0">
                <a:solidFill>
                  <a:srgbClr val="0000FF"/>
                </a:solidFill>
                <a:latin typeface="楷体" panose="02010609060101010101" pitchFamily="49" charset="-122"/>
                <a:ea typeface="楷体" panose="02010609060101010101" pitchFamily="49" charset="-122"/>
              </a:rPr>
              <a:t>一般</a:t>
            </a:r>
            <a:r>
              <a:rPr lang="zh-CN" altLang="zh-CN" sz="2800" b="1" kern="100" dirty="0">
                <a:solidFill>
                  <a:srgbClr val="FF0000"/>
                </a:solidFill>
                <a:latin typeface="楷体" panose="02010609060101010101" pitchFamily="49" charset="-122"/>
                <a:ea typeface="楷体" panose="02010609060101010101" pitchFamily="49" charset="-122"/>
              </a:rPr>
              <a:t>不容许直接起动</a:t>
            </a:r>
            <a:r>
              <a:rPr lang="zh-CN" altLang="zh-CN" sz="2800" kern="100" dirty="0">
                <a:latin typeface="楷体" panose="02010609060101010101" pitchFamily="49" charset="-122"/>
                <a:ea typeface="楷体" panose="02010609060101010101" pitchFamily="49" charset="-122"/>
              </a:rPr>
              <a:t>。</a:t>
            </a:r>
          </a:p>
          <a:p>
            <a:pPr algn="just">
              <a:spcAft>
                <a:spcPts val="0"/>
              </a:spcAft>
            </a:pPr>
            <a:r>
              <a:rPr lang="en-US" altLang="zh-CN" sz="2800" kern="100" dirty="0">
                <a:latin typeface="楷体" panose="02010609060101010101" pitchFamily="49" charset="-122"/>
                <a:ea typeface="楷体" panose="02010609060101010101" pitchFamily="49" charset="-122"/>
              </a:rPr>
              <a:t>       2</a:t>
            </a:r>
            <a:r>
              <a:rPr lang="zh-CN" altLang="zh-CN" sz="2800" kern="100" dirty="0">
                <a:latin typeface="楷体" panose="02010609060101010101" pitchFamily="49" charset="-122"/>
                <a:ea typeface="楷体" panose="02010609060101010101" pitchFamily="49" charset="-122"/>
              </a:rPr>
              <a:t>、</a:t>
            </a:r>
            <a:r>
              <a:rPr lang="en-US" altLang="zh-CN" sz="2800" b="1" kern="100" dirty="0">
                <a:solidFill>
                  <a:srgbClr val="0000FF"/>
                </a:solidFill>
                <a:latin typeface="楷体" panose="02010609060101010101" pitchFamily="49" charset="-122"/>
                <a:ea typeface="楷体" panose="02010609060101010101" pitchFamily="49" charset="-122"/>
              </a:rPr>
              <a:t>DCM</a:t>
            </a:r>
            <a:r>
              <a:rPr lang="zh-CN" altLang="zh-CN" sz="2800" b="1" kern="100" dirty="0">
                <a:solidFill>
                  <a:srgbClr val="0000FF"/>
                </a:solidFill>
                <a:latin typeface="楷体" panose="02010609060101010101" pitchFamily="49" charset="-122"/>
                <a:ea typeface="楷体" panose="02010609060101010101" pitchFamily="49" charset="-122"/>
              </a:rPr>
              <a:t>起动和运行中须</a:t>
            </a:r>
            <a:r>
              <a:rPr lang="zh-CN" altLang="zh-CN" sz="2800" b="1" kern="100" dirty="0">
                <a:solidFill>
                  <a:srgbClr val="FF0000"/>
                </a:solidFill>
                <a:latin typeface="楷体" panose="02010609060101010101" pitchFamily="49" charset="-122"/>
                <a:ea typeface="楷体" panose="02010609060101010101" pitchFamily="49" charset="-122"/>
              </a:rPr>
              <a:t>保证励磁</a:t>
            </a:r>
            <a:r>
              <a:rPr lang="zh-CN" altLang="zh-CN" sz="2800" b="1" kern="100" dirty="0">
                <a:solidFill>
                  <a:srgbClr val="0000FF"/>
                </a:solidFill>
                <a:latin typeface="楷体" panose="02010609060101010101" pitchFamily="49" charset="-122"/>
                <a:ea typeface="楷体" panose="02010609060101010101" pitchFamily="49" charset="-122"/>
              </a:rPr>
              <a:t>始终正常</a:t>
            </a:r>
            <a:r>
              <a:rPr lang="zh-CN" altLang="zh-CN" sz="2800" kern="100" dirty="0">
                <a:latin typeface="楷体" panose="02010609060101010101" pitchFamily="49" charset="-122"/>
                <a:ea typeface="楷体" panose="02010609060101010101" pitchFamily="49" charset="-122"/>
              </a:rPr>
              <a:t>。</a:t>
            </a:r>
          </a:p>
        </p:txBody>
      </p:sp>
      <p:sp>
        <p:nvSpPr>
          <p:cNvPr id="3" name="矩形 2"/>
          <p:cNvSpPr/>
          <p:nvPr/>
        </p:nvSpPr>
        <p:spPr>
          <a:xfrm>
            <a:off x="827584" y="5946309"/>
            <a:ext cx="7992888" cy="954107"/>
          </a:xfrm>
          <a:prstGeom prst="rect">
            <a:avLst/>
          </a:prstGeom>
        </p:spPr>
        <p:txBody>
          <a:bodyPr wrap="square">
            <a:spAutoFit/>
          </a:bodyPr>
          <a:lstStyle/>
          <a:p>
            <a:r>
              <a:rPr lang="zh-CN" altLang="zh-CN" sz="2800" b="1" dirty="0">
                <a:solidFill>
                  <a:srgbClr val="C00000"/>
                </a:solidFill>
                <a:latin typeface="楷体" panose="02010609060101010101" pitchFamily="49" charset="-122"/>
                <a:ea typeface="楷体" panose="02010609060101010101" pitchFamily="49" charset="-122"/>
              </a:rPr>
              <a:t>引出问题：能量转换过程的数学描述？如何精确、简要？如何形成控制这一过程的</a:t>
            </a:r>
            <a:r>
              <a:rPr lang="zh-CN" altLang="en-US" sz="2800" b="1" dirty="0">
                <a:solidFill>
                  <a:srgbClr val="C00000"/>
                </a:solidFill>
                <a:latin typeface="楷体" panose="02010609060101010101" pitchFamily="49" charset="-122"/>
                <a:ea typeface="楷体" panose="02010609060101010101" pitchFamily="49" charset="-122"/>
              </a:rPr>
              <a:t>策略（</a:t>
            </a:r>
            <a:r>
              <a:rPr lang="zh-CN" altLang="zh-CN" sz="2800" b="1" dirty="0">
                <a:solidFill>
                  <a:srgbClr val="C00000"/>
                </a:solidFill>
                <a:latin typeface="楷体" panose="02010609060101010101" pitchFamily="49" charset="-122"/>
                <a:ea typeface="楷体" panose="02010609060101010101" pitchFamily="49" charset="-122"/>
              </a:rPr>
              <a:t>手段</a:t>
            </a:r>
            <a:r>
              <a:rPr lang="zh-CN" altLang="en-US" sz="2800" b="1" dirty="0">
                <a:solidFill>
                  <a:srgbClr val="C00000"/>
                </a:solidFill>
                <a:latin typeface="楷体" panose="02010609060101010101" pitchFamily="49" charset="-122"/>
                <a:ea typeface="楷体" panose="02010609060101010101" pitchFamily="49" charset="-122"/>
              </a:rPr>
              <a:t>）</a:t>
            </a:r>
            <a:r>
              <a:rPr lang="zh-CN" altLang="zh-CN" sz="2800" b="1" dirty="0">
                <a:solidFill>
                  <a:srgbClr val="C00000"/>
                </a:solidFill>
                <a:latin typeface="楷体" panose="02010609060101010101" pitchFamily="49" charset="-122"/>
                <a:ea typeface="楷体" panose="02010609060101010101" pitchFamily="49" charset="-122"/>
              </a:rPr>
              <a:t>？</a:t>
            </a:r>
            <a:endParaRPr lang="zh-CN" altLang="en-US" sz="2800" b="1" dirty="0"/>
          </a:p>
        </p:txBody>
      </p:sp>
      <p:sp>
        <p:nvSpPr>
          <p:cNvPr id="8" name="日期占位符 7">
            <a:extLst>
              <a:ext uri="{FF2B5EF4-FFF2-40B4-BE49-F238E27FC236}">
                <a16:creationId xmlns:a16="http://schemas.microsoft.com/office/drawing/2014/main" id="{5B7EA2F4-BA4F-A05C-0CF8-664C01DA3093}"/>
              </a:ext>
            </a:extLst>
          </p:cNvPr>
          <p:cNvSpPr>
            <a:spLocks noGrp="1"/>
          </p:cNvSpPr>
          <p:nvPr>
            <p:ph type="dt" sz="half" idx="10"/>
          </p:nvPr>
        </p:nvSpPr>
        <p:spPr>
          <a:xfrm>
            <a:off x="7753672" y="0"/>
            <a:ext cx="933128" cy="476250"/>
          </a:xfrm>
        </p:spPr>
        <p:txBody>
          <a:bodyPr/>
          <a:lstStyle/>
          <a:p>
            <a:fld id="{D9B456B6-EF98-4236-80A4-B94E09EEA88B}" type="datetime10">
              <a:rPr lang="en-US" altLang="zh-CN" smtClean="0"/>
              <a:t>16:53</a:t>
            </a:fld>
            <a:endParaRPr lang="en-US" altLang="zh-CN"/>
          </a:p>
        </p:txBody>
      </p:sp>
      <p:sp>
        <p:nvSpPr>
          <p:cNvPr id="9" name="灯片编号占位符 8">
            <a:extLst>
              <a:ext uri="{FF2B5EF4-FFF2-40B4-BE49-F238E27FC236}">
                <a16:creationId xmlns:a16="http://schemas.microsoft.com/office/drawing/2014/main" id="{52B419D0-D56A-45AC-5A33-B29DBBACCDD2}"/>
              </a:ext>
            </a:extLst>
          </p:cNvPr>
          <p:cNvSpPr>
            <a:spLocks noGrp="1"/>
          </p:cNvSpPr>
          <p:nvPr>
            <p:ph type="sldNum" sz="quarter" idx="12"/>
          </p:nvPr>
        </p:nvSpPr>
        <p:spPr/>
        <p:txBody>
          <a:bodyPr/>
          <a:lstStyle/>
          <a:p>
            <a:fld id="{76D830B0-DF59-4281-898F-AF208100B213}" type="slidenum">
              <a:rPr lang="en-US" altLang="zh-CN" smtClean="0"/>
              <a:pPr/>
              <a:t>71</a:t>
            </a:fld>
            <a:endParaRPr lang="en-US" altLang="zh-CN"/>
          </a:p>
        </p:txBody>
      </p:sp>
    </p:spTree>
    <p:extLst>
      <p:ext uri="{BB962C8B-B14F-4D97-AF65-F5344CB8AC3E}">
        <p14:creationId xmlns:p14="http://schemas.microsoft.com/office/powerpoint/2010/main" val="47358610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560" y="1340768"/>
            <a:ext cx="7776864" cy="4462760"/>
          </a:xfrm>
          <a:prstGeom prst="rect">
            <a:avLst/>
          </a:prstGeom>
        </p:spPr>
        <p:txBody>
          <a:bodyPr wrap="square">
            <a:spAutoFit/>
          </a:bodyPr>
          <a:lstStyle/>
          <a:p>
            <a:pPr algn="just">
              <a:spcAft>
                <a:spcPts val="0"/>
              </a:spcAft>
            </a:pPr>
            <a:r>
              <a:rPr lang="zh-CN" altLang="zh-CN" sz="3200" b="1" kern="100" dirty="0">
                <a:solidFill>
                  <a:srgbClr val="C00000"/>
                </a:solidFill>
                <a:latin typeface="楷体" panose="02010609060101010101" pitchFamily="49" charset="-122"/>
                <a:ea typeface="楷体" panose="02010609060101010101" pitchFamily="49" charset="-122"/>
              </a:rPr>
              <a:t>思考题：</a:t>
            </a:r>
          </a:p>
          <a:p>
            <a:pPr marL="342900" lvl="0" indent="-342900" algn="just">
              <a:spcAft>
                <a:spcPts val="0"/>
              </a:spcAft>
              <a:buFont typeface="+mj-lt"/>
              <a:buAutoNum type="arabicPeriod"/>
            </a:pPr>
            <a:r>
              <a:rPr lang="zh-CN" altLang="zh-CN" sz="2800" kern="100" dirty="0">
                <a:latin typeface="楷体" panose="02010609060101010101" pitchFamily="49" charset="-122"/>
                <a:ea typeface="楷体" panose="02010609060101010101" pitchFamily="49" charset="-122"/>
              </a:rPr>
              <a:t>直流电机电枢绕组和绕组元件中的电流哪个是方向不变、哪些是交变的？为什么稳态时可以不考虑电枢绕组的电感影响？什么时候需要考虑它的作用？</a:t>
            </a:r>
          </a:p>
          <a:p>
            <a:pPr marL="342900" lvl="0" indent="-342900" algn="just">
              <a:spcAft>
                <a:spcPts val="0"/>
              </a:spcAft>
              <a:buFont typeface="+mj-lt"/>
              <a:buAutoNum type="arabicPeriod"/>
            </a:pPr>
            <a:r>
              <a:rPr lang="zh-CN" altLang="zh-CN" sz="2800" kern="100" dirty="0">
                <a:latin typeface="楷体" panose="02010609060101010101" pitchFamily="49" charset="-122"/>
                <a:ea typeface="楷体" panose="02010609060101010101" pitchFamily="49" charset="-122"/>
              </a:rPr>
              <a:t>理解直流电机电枢绕组电路模型、电势平衡方程、功率平衡方程的意义。</a:t>
            </a:r>
          </a:p>
          <a:p>
            <a:pPr marL="342900" lvl="0" indent="-342900" algn="just">
              <a:spcAft>
                <a:spcPts val="0"/>
              </a:spcAft>
              <a:buFont typeface="+mj-lt"/>
              <a:buAutoNum type="arabicPeriod"/>
            </a:pPr>
            <a:r>
              <a:rPr lang="zh-CN" altLang="zh-CN" sz="2800" kern="100" dirty="0">
                <a:latin typeface="楷体" panose="02010609060101010101" pitchFamily="49" charset="-122"/>
                <a:ea typeface="楷体" panose="02010609060101010101" pitchFamily="49" charset="-122"/>
              </a:rPr>
              <a:t>认识电磁转矩、轴上输出转矩、空载转矩、负载转矩的特性。</a:t>
            </a:r>
          </a:p>
          <a:p>
            <a:r>
              <a:rPr lang="zh-CN" altLang="zh-CN" sz="2800" kern="1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分析发电机功率平衡的过程。</a:t>
            </a:r>
            <a:endParaRPr lang="zh-CN" altLang="en-US" sz="2800" dirty="0">
              <a:solidFill>
                <a:srgbClr val="FF0000"/>
              </a:solidFill>
              <a:latin typeface="楷体" panose="02010609060101010101" pitchFamily="49" charset="-122"/>
              <a:ea typeface="楷体" panose="02010609060101010101" pitchFamily="49" charset="-122"/>
            </a:endParaRPr>
          </a:p>
        </p:txBody>
      </p:sp>
      <p:sp>
        <p:nvSpPr>
          <p:cNvPr id="7" name="日期占位符 6">
            <a:extLst>
              <a:ext uri="{FF2B5EF4-FFF2-40B4-BE49-F238E27FC236}">
                <a16:creationId xmlns:a16="http://schemas.microsoft.com/office/drawing/2014/main" id="{F6887F88-0552-C10C-6159-6D85A4C07142}"/>
              </a:ext>
            </a:extLst>
          </p:cNvPr>
          <p:cNvSpPr>
            <a:spLocks noGrp="1"/>
          </p:cNvSpPr>
          <p:nvPr>
            <p:ph type="dt" sz="half" idx="10"/>
          </p:nvPr>
        </p:nvSpPr>
        <p:spPr>
          <a:xfrm>
            <a:off x="8077200" y="0"/>
            <a:ext cx="815280" cy="476250"/>
          </a:xfrm>
        </p:spPr>
        <p:txBody>
          <a:bodyPr/>
          <a:lstStyle/>
          <a:p>
            <a:fld id="{AA0F4771-0012-4F05-B1E5-F70A9C3D7AC3}" type="datetime10">
              <a:rPr lang="en-US" altLang="zh-CN" smtClean="0"/>
              <a:t>16:53</a:t>
            </a:fld>
            <a:endParaRPr lang="en-US" altLang="zh-CN" dirty="0"/>
          </a:p>
        </p:txBody>
      </p:sp>
      <p:sp>
        <p:nvSpPr>
          <p:cNvPr id="8" name="灯片编号占位符 7">
            <a:extLst>
              <a:ext uri="{FF2B5EF4-FFF2-40B4-BE49-F238E27FC236}">
                <a16:creationId xmlns:a16="http://schemas.microsoft.com/office/drawing/2014/main" id="{52F999DE-CDF6-3E2B-C109-BBF406BF1D98}"/>
              </a:ext>
            </a:extLst>
          </p:cNvPr>
          <p:cNvSpPr>
            <a:spLocks noGrp="1"/>
          </p:cNvSpPr>
          <p:nvPr>
            <p:ph type="sldNum" sz="quarter" idx="12"/>
          </p:nvPr>
        </p:nvSpPr>
        <p:spPr/>
        <p:txBody>
          <a:bodyPr/>
          <a:lstStyle/>
          <a:p>
            <a:fld id="{76D830B0-DF59-4281-898F-AF208100B213}" type="slidenum">
              <a:rPr lang="en-US" altLang="zh-CN" smtClean="0"/>
              <a:pPr/>
              <a:t>72</a:t>
            </a:fld>
            <a:endParaRPr lang="en-US" altLang="zh-CN"/>
          </a:p>
        </p:txBody>
      </p:sp>
    </p:spTree>
    <p:extLst>
      <p:ext uri="{BB962C8B-B14F-4D97-AF65-F5344CB8AC3E}">
        <p14:creationId xmlns:p14="http://schemas.microsoft.com/office/powerpoint/2010/main" val="56882815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234852796"/>
              </p:ext>
            </p:extLst>
          </p:nvPr>
        </p:nvGraphicFramePr>
        <p:xfrm>
          <a:off x="1914525" y="1731987"/>
          <a:ext cx="1143000" cy="476250"/>
        </p:xfrm>
        <a:graphic>
          <a:graphicData uri="http://schemas.openxmlformats.org/presentationml/2006/ole">
            <mc:AlternateContent xmlns:mc="http://schemas.openxmlformats.org/markup-compatibility/2006">
              <mc:Choice xmlns:v="urn:schemas-microsoft-com:vml" Requires="v">
                <p:oleObj name="公式" r:id="rId2" imgW="558800" imgH="228600" progId="Equation.3">
                  <p:embed/>
                </p:oleObj>
              </mc:Choice>
              <mc:Fallback>
                <p:oleObj name="公式" r:id="rId2" imgW="558800" imgH="228600" progId="Equation.3">
                  <p:embed/>
                  <p:pic>
                    <p:nvPicPr>
                      <p:cNvPr id="0" name="对象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4525" y="1731987"/>
                        <a:ext cx="1143000" cy="47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3" name="对象 2"/>
              <p:cNvSpPr txBox="1"/>
              <p:nvPr/>
            </p:nvSpPr>
            <p:spPr bwMode="auto">
              <a:xfrm>
                <a:off x="1914525" y="2162175"/>
                <a:ext cx="1484313" cy="430213"/>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zh-CN" altLang="en-US" i="1" smtClean="0">
                          <a:solidFill>
                            <a:srgbClr val="000000"/>
                          </a:solidFill>
                          <a:latin typeface="Cambria Math" panose="02040503050406030204" pitchFamily="18" charset="0"/>
                        </a:rPr>
                        <m:t>𝑛</m:t>
                      </m:r>
                      <m:r>
                        <a:rPr lang="zh-CN" altLang="en-US" i="1" smtClean="0">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f</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T</m:t>
                      </m:r>
                      <m:r>
                        <m:rPr>
                          <m:sty m:val="p"/>
                        </m:rPr>
                        <a:rPr lang="en-US" altLang="zh-CN" b="0" i="0" smtClean="0">
                          <a:solidFill>
                            <a:srgbClr val="000000"/>
                          </a:solidFill>
                          <a:latin typeface="Cambria Math" panose="02040503050406030204" pitchFamily="18" charset="0"/>
                        </a:rPr>
                        <m:t>em</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3" name="对象 2"/>
              <p:cNvSpPr txBox="1">
                <a:spLocks noRot="1" noChangeAspect="1" noMove="1" noResize="1" noEditPoints="1" noAdjustHandles="1" noChangeArrowheads="1" noChangeShapeType="1" noTextEdit="1"/>
              </p:cNvSpPr>
              <p:nvPr/>
            </p:nvSpPr>
            <p:spPr bwMode="auto">
              <a:xfrm>
                <a:off x="1914525" y="2162175"/>
                <a:ext cx="1484313" cy="430213"/>
              </a:xfrm>
              <a:prstGeom prst="rect">
                <a:avLst/>
              </a:prstGeom>
              <a:blipFill>
                <a:blip r:embed="rId4"/>
                <a:stretch>
                  <a:fillRect/>
                </a:stretch>
              </a:blipFill>
            </p:spPr>
            <p:txBody>
              <a:bodyPr/>
              <a:lstStyle/>
              <a:p>
                <a:r>
                  <a:rPr lang="zh-CN" altLang="en-US">
                    <a:noFill/>
                  </a:rPr>
                  <a:t> </a:t>
                </a:r>
              </a:p>
            </p:txBody>
          </p:sp>
        </mc:Fallback>
      </mc:AlternateContent>
      <p:graphicFrame>
        <p:nvGraphicFramePr>
          <p:cNvPr id="4" name="对象 3"/>
          <p:cNvGraphicFramePr>
            <a:graphicFrameLocks noChangeAspect="1"/>
          </p:cNvGraphicFramePr>
          <p:nvPr>
            <p:extLst>
              <p:ext uri="{D42A27DB-BD31-4B8C-83A1-F6EECF244321}">
                <p14:modId xmlns:p14="http://schemas.microsoft.com/office/powerpoint/2010/main" val="1432766561"/>
              </p:ext>
            </p:extLst>
          </p:nvPr>
        </p:nvGraphicFramePr>
        <p:xfrm>
          <a:off x="0" y="3211587"/>
          <a:ext cx="6402441" cy="828412"/>
        </p:xfrm>
        <a:graphic>
          <a:graphicData uri="http://schemas.openxmlformats.org/presentationml/2006/ole">
            <mc:AlternateContent xmlns:mc="http://schemas.openxmlformats.org/markup-compatibility/2006">
              <mc:Choice xmlns:v="urn:schemas-microsoft-com:vml" Requires="v">
                <p:oleObj name="公式" r:id="rId5" imgW="3300567" imgH="431613" progId="Equation.3">
                  <p:embed/>
                </p:oleObj>
              </mc:Choice>
              <mc:Fallback>
                <p:oleObj name="公式" r:id="rId5" imgW="3300567" imgH="431613" progId="Equation.3">
                  <p:embed/>
                  <p:pic>
                    <p:nvPicPr>
                      <p:cNvPr id="0" name="对象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3211587"/>
                        <a:ext cx="6402441" cy="828412"/>
                      </a:xfrm>
                      <a:prstGeom prst="rect">
                        <a:avLst/>
                      </a:prstGeom>
                      <a:no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725779838"/>
              </p:ext>
            </p:extLst>
          </p:nvPr>
        </p:nvGraphicFramePr>
        <p:xfrm>
          <a:off x="1367060" y="3970374"/>
          <a:ext cx="1209675" cy="523875"/>
        </p:xfrm>
        <a:graphic>
          <a:graphicData uri="http://schemas.openxmlformats.org/presentationml/2006/ole">
            <mc:AlternateContent xmlns:mc="http://schemas.openxmlformats.org/markup-compatibility/2006">
              <mc:Choice xmlns:v="urn:schemas-microsoft-com:vml" Requires="v">
                <p:oleObj name="公式" r:id="rId7" imgW="533169" imgH="228501" progId="Equation.3">
                  <p:embed/>
                </p:oleObj>
              </mc:Choice>
              <mc:Fallback>
                <p:oleObj name="公式" r:id="rId7" imgW="533169" imgH="228501" progId="Equation.3">
                  <p:embed/>
                  <p:pic>
                    <p:nvPicPr>
                      <p:cNvPr id="0" name="对象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67060" y="3970374"/>
                        <a:ext cx="1209675" cy="523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604274291"/>
              </p:ext>
            </p:extLst>
          </p:nvPr>
        </p:nvGraphicFramePr>
        <p:xfrm>
          <a:off x="2486025" y="4758574"/>
          <a:ext cx="3133725" cy="1038225"/>
        </p:xfrm>
        <a:graphic>
          <a:graphicData uri="http://schemas.openxmlformats.org/presentationml/2006/ole">
            <mc:AlternateContent xmlns:mc="http://schemas.openxmlformats.org/markup-compatibility/2006">
              <mc:Choice xmlns:v="urn:schemas-microsoft-com:vml" Requires="v">
                <p:oleObj name="公式" r:id="rId9" imgW="1422400" imgH="469900" progId="Equation.3">
                  <p:embed/>
                </p:oleObj>
              </mc:Choice>
              <mc:Fallback>
                <p:oleObj name="公式" r:id="rId9" imgW="1422400" imgH="469900" progId="Equation.3">
                  <p:embed/>
                  <p:pic>
                    <p:nvPicPr>
                      <p:cNvPr id="0" name="对象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86025" y="4758574"/>
                        <a:ext cx="3133725" cy="1038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818054106"/>
              </p:ext>
            </p:extLst>
          </p:nvPr>
        </p:nvGraphicFramePr>
        <p:xfrm>
          <a:off x="2486025" y="5748326"/>
          <a:ext cx="2790825" cy="1028700"/>
        </p:xfrm>
        <a:graphic>
          <a:graphicData uri="http://schemas.openxmlformats.org/presentationml/2006/ole">
            <mc:AlternateContent xmlns:mc="http://schemas.openxmlformats.org/markup-compatibility/2006">
              <mc:Choice xmlns:v="urn:schemas-microsoft-com:vml" Requires="v">
                <p:oleObj name="公式" r:id="rId11" imgW="1193282" imgH="444307" progId="Equation.3">
                  <p:embed/>
                </p:oleObj>
              </mc:Choice>
              <mc:Fallback>
                <p:oleObj name="公式" r:id="rId11" imgW="1193282" imgH="444307" progId="Equation.3">
                  <p:embed/>
                  <p:pic>
                    <p:nvPicPr>
                      <p:cNvPr id="0" name="对象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86025" y="5748326"/>
                        <a:ext cx="2790825" cy="1028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7"/>
          <p:cNvSpPr>
            <a:spLocks noChangeArrowheads="1"/>
          </p:cNvSpPr>
          <p:nvPr/>
        </p:nvSpPr>
        <p:spPr bwMode="auto">
          <a:xfrm>
            <a:off x="0" y="814625"/>
            <a:ext cx="5594801"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3200" b="1" i="0" u="none" strike="noStrike" cap="none" normalizeH="0" baseline="0" dirty="0">
                <a:ln>
                  <a:noFill/>
                </a:ln>
                <a:solidFill>
                  <a:srgbClr val="800000"/>
                </a:solidFill>
                <a:effectLst/>
                <a:latin typeface="楷体" panose="02010609060101010101" pitchFamily="49" charset="-122"/>
                <a:ea typeface="楷体" panose="02010609060101010101" pitchFamily="49" charset="-122"/>
                <a:cs typeface="Times New Roman" panose="02020603050405020304" pitchFamily="18" charset="0"/>
              </a:rPr>
              <a:t>§</a:t>
            </a:r>
            <a:r>
              <a:rPr kumimoji="0" lang="en-US" altLang="zh-CN" sz="3200" b="1" i="0" u="none" strike="noStrike" cap="none" normalizeH="0" baseline="0" dirty="0">
                <a:ln>
                  <a:noFill/>
                </a:ln>
                <a:solidFill>
                  <a:srgbClr val="800000"/>
                </a:solidFill>
                <a:effectLst/>
                <a:latin typeface="楷体" panose="02010609060101010101" pitchFamily="49" charset="-122"/>
                <a:ea typeface="楷体" panose="02010609060101010101" pitchFamily="49" charset="-122"/>
                <a:cs typeface="Times New Roman" panose="02020603050405020304" pitchFamily="18" charset="0"/>
              </a:rPr>
              <a:t>2</a:t>
            </a:r>
            <a:r>
              <a:rPr kumimoji="0" lang="zh-CN" altLang="en-US" sz="3200" b="1" i="0" u="none" strike="noStrike" cap="none" normalizeH="0" baseline="0" dirty="0">
                <a:ln>
                  <a:noFill/>
                </a:ln>
                <a:solidFill>
                  <a:srgbClr val="800000"/>
                </a:solidFill>
                <a:effectLst/>
                <a:latin typeface="楷体" panose="02010609060101010101" pitchFamily="49" charset="-122"/>
                <a:ea typeface="楷体" panose="02010609060101010101" pitchFamily="49" charset="-122"/>
                <a:cs typeface="Times New Roman" panose="02020603050405020304" pitchFamily="18" charset="0"/>
              </a:rPr>
              <a:t>－</a:t>
            </a:r>
            <a:r>
              <a:rPr kumimoji="0" lang="en-US" altLang="zh-CN" sz="3200" b="1" i="0" u="none" strike="noStrike" cap="none" normalizeH="0" baseline="0" dirty="0">
                <a:ln>
                  <a:noFill/>
                </a:ln>
                <a:solidFill>
                  <a:srgbClr val="800000"/>
                </a:solidFill>
                <a:effectLst/>
                <a:latin typeface="楷体" panose="02010609060101010101" pitchFamily="49" charset="-122"/>
                <a:ea typeface="楷体" panose="02010609060101010101" pitchFamily="49" charset="-122"/>
                <a:cs typeface="Times New Roman" panose="02020603050405020304" pitchFamily="18" charset="0"/>
              </a:rPr>
              <a:t>5 </a:t>
            </a:r>
            <a:r>
              <a:rPr kumimoji="0" lang="zh-CN" altLang="en-US" sz="3200" b="1" i="0" u="none" strike="noStrike" cap="none" normalizeH="0" baseline="0" dirty="0">
                <a:ln>
                  <a:noFill/>
                </a:ln>
                <a:solidFill>
                  <a:srgbClr val="800000"/>
                </a:solidFill>
                <a:effectLst/>
                <a:latin typeface="楷体" panose="02010609060101010101" pitchFamily="49" charset="-122"/>
                <a:ea typeface="楷体" panose="02010609060101010101" pitchFamily="49" charset="-122"/>
                <a:cs typeface="Times New Roman" panose="02020603050405020304" pitchFamily="18" charset="0"/>
              </a:rPr>
              <a:t>转速特性和机械特性</a:t>
            </a:r>
            <a:endParaRPr kumimoji="0" lang="zh-CN" altLang="en-US" sz="32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dirty="0">
                <a:ln>
                  <a:noFill/>
                </a:ln>
                <a:solidFill>
                  <a:srgbClr val="800000"/>
                </a:solidFill>
                <a:effectLst/>
                <a:latin typeface="楷体" panose="02010609060101010101" pitchFamily="49" charset="-122"/>
                <a:ea typeface="楷体" panose="02010609060101010101" pitchFamily="49" charset="-122"/>
                <a:cs typeface="Times New Roman" panose="02020603050405020304" pitchFamily="18" charset="0"/>
              </a:rPr>
              <a:t>建立机电能量转换关系的统一表达</a:t>
            </a:r>
            <a:endParaRPr kumimoji="0" lang="zh-CN" altLang="en-US" sz="28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转速特性：</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8"/>
          <p:cNvSpPr>
            <a:spLocks noChangeArrowheads="1"/>
          </p:cNvSpPr>
          <p:nvPr/>
        </p:nvSpPr>
        <p:spPr bwMode="auto">
          <a:xfrm>
            <a:off x="0" y="2198712"/>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sz="2400" b="1" i="0" u="none" strike="noStrike" cap="none" normalizeH="0" baseline="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机械特性：</a:t>
            </a:r>
            <a:endParaRPr kumimoji="0" lang="zh-CN" sz="1800" b="0" i="0" u="none" strike="noStrike" cap="none" normalizeH="0" baseline="0">
              <a:ln>
                <a:noFill/>
              </a:ln>
              <a:solidFill>
                <a:schemeClr val="tx1"/>
              </a:solidFill>
              <a:effectLst/>
              <a:latin typeface="Arial" panose="020B0604020202020204" pitchFamily="34" charset="0"/>
            </a:endParaRPr>
          </a:p>
        </p:txBody>
      </p:sp>
      <p:sp>
        <p:nvSpPr>
          <p:cNvPr id="10" name="Rectangle 9"/>
          <p:cNvSpPr>
            <a:spLocks noChangeArrowheads="1"/>
          </p:cNvSpPr>
          <p:nvPr/>
        </p:nvSpPr>
        <p:spPr bwMode="auto">
          <a:xfrm>
            <a:off x="0" y="2869801"/>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由稳态电势平衡方程：</a:t>
            </a:r>
            <a:endParaRPr kumimoji="0" 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1" name="Rectangle 10"/>
          <p:cNvSpPr>
            <a:spLocks noChangeArrowheads="1"/>
          </p:cNvSpPr>
          <p:nvPr/>
        </p:nvSpPr>
        <p:spPr bwMode="auto">
          <a:xfrm>
            <a:off x="0" y="3974249"/>
            <a:ext cx="9036496"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认为：</a:t>
            </a:r>
            <a:r>
              <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             </a:t>
            </a:r>
            <a:r>
              <a:rPr lang="zh-CN" altLang="zh-CN" sz="2400" dirty="0">
                <a:latin typeface="黑体" panose="02010609060101010101" pitchFamily="49" charset="-122"/>
                <a:ea typeface="黑体" panose="02010609060101010101" pitchFamily="49" charset="-122"/>
                <a:cs typeface="Times New Roman" panose="02020603050405020304" pitchFamily="18" charset="0"/>
              </a:rPr>
              <a:t>〖即</a:t>
            </a:r>
            <a:r>
              <a:rPr lang="zh-CN" altLang="zh-CN" sz="2400" dirty="0">
                <a:solidFill>
                  <a:srgbClr val="0000FF"/>
                </a:solidFill>
                <a:latin typeface="黑体" panose="02010609060101010101" pitchFamily="49" charset="-122"/>
                <a:ea typeface="黑体" panose="02010609060101010101" pitchFamily="49" charset="-122"/>
                <a:cs typeface="Times New Roman" panose="02020603050405020304" pitchFamily="18" charset="0"/>
              </a:rPr>
              <a:t>机械特性中的</a:t>
            </a:r>
            <a:r>
              <a:rPr lang="en-US" altLang="zh-CN" sz="24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T</a:t>
            </a:r>
            <a:r>
              <a:rPr lang="zh-CN" altLang="en-US" sz="2400" dirty="0">
                <a:solidFill>
                  <a:srgbClr val="0000FF"/>
                </a:solidFill>
                <a:latin typeface="黑体" panose="02010609060101010101" pitchFamily="49" charset="-122"/>
                <a:ea typeface="黑体" panose="02010609060101010101" pitchFamily="49" charset="-122"/>
                <a:cs typeface="Times New Roman" panose="02020603050405020304" pitchFamily="18" charset="0"/>
              </a:rPr>
              <a:t>为电磁转矩</a:t>
            </a:r>
            <a:r>
              <a:rPr lang="en-US" altLang="zh-CN" sz="2400" dirty="0">
                <a:latin typeface="黑体" panose="02010609060101010101" pitchFamily="49" charset="-122"/>
                <a:ea typeface="黑体" panose="02010609060101010101" pitchFamily="49" charset="-122"/>
                <a:cs typeface="Times New Roman" panose="02020603050405020304" pitchFamily="18" charset="0"/>
              </a:rPr>
              <a:t>〗</a:t>
            </a:r>
            <a:endParaRPr lang="en-US" altLang="zh-CN" sz="24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2" name="Rectangle 11"/>
          <p:cNvSpPr>
            <a:spLocks noChangeArrowheads="1"/>
          </p:cNvSpPr>
          <p:nvPr/>
        </p:nvSpPr>
        <p:spPr bwMode="auto">
          <a:xfrm>
            <a:off x="29493" y="4525289"/>
            <a:ext cx="273183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得到</a:t>
            </a: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重要关系式</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机械特性方程</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3" name="Rectangle 12"/>
          <p:cNvSpPr>
            <a:spLocks noChangeArrowheads="1"/>
          </p:cNvSpPr>
          <p:nvPr/>
        </p:nvSpPr>
        <p:spPr bwMode="auto">
          <a:xfrm>
            <a:off x="88453" y="5841576"/>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转速特性方程</a:t>
            </a: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8" name="日期占位符 17">
            <a:extLst>
              <a:ext uri="{FF2B5EF4-FFF2-40B4-BE49-F238E27FC236}">
                <a16:creationId xmlns:a16="http://schemas.microsoft.com/office/drawing/2014/main" id="{4AC95390-3EFA-16EF-32B5-956D280253D7}"/>
              </a:ext>
            </a:extLst>
          </p:cNvPr>
          <p:cNvSpPr>
            <a:spLocks noGrp="1"/>
          </p:cNvSpPr>
          <p:nvPr>
            <p:ph type="dt" sz="half" idx="10"/>
          </p:nvPr>
        </p:nvSpPr>
        <p:spPr>
          <a:xfrm>
            <a:off x="7812360" y="0"/>
            <a:ext cx="936104" cy="476250"/>
          </a:xfrm>
        </p:spPr>
        <p:txBody>
          <a:bodyPr/>
          <a:lstStyle/>
          <a:p>
            <a:fld id="{98CD6817-7297-47BE-B5DA-C0CF7EA0F510}" type="datetime10">
              <a:rPr lang="en-US" altLang="zh-CN" smtClean="0"/>
              <a:t>16:53</a:t>
            </a:fld>
            <a:endParaRPr lang="en-US" altLang="zh-CN" dirty="0"/>
          </a:p>
        </p:txBody>
      </p:sp>
      <p:sp>
        <p:nvSpPr>
          <p:cNvPr id="19" name="灯片编号占位符 18">
            <a:extLst>
              <a:ext uri="{FF2B5EF4-FFF2-40B4-BE49-F238E27FC236}">
                <a16:creationId xmlns:a16="http://schemas.microsoft.com/office/drawing/2014/main" id="{2224F8F0-8BB1-DE97-FCCA-0135FF907883}"/>
              </a:ext>
            </a:extLst>
          </p:cNvPr>
          <p:cNvSpPr>
            <a:spLocks noGrp="1"/>
          </p:cNvSpPr>
          <p:nvPr>
            <p:ph type="sldNum" sz="quarter" idx="12"/>
          </p:nvPr>
        </p:nvSpPr>
        <p:spPr/>
        <p:txBody>
          <a:bodyPr/>
          <a:lstStyle/>
          <a:p>
            <a:fld id="{76D830B0-DF59-4281-898F-AF208100B213}" type="slidenum">
              <a:rPr lang="en-US" altLang="zh-CN" smtClean="0"/>
              <a:pPr/>
              <a:t>73</a:t>
            </a:fld>
            <a:endParaRPr lang="en-US" altLang="zh-CN"/>
          </a:p>
        </p:txBody>
      </p:sp>
    </p:spTree>
    <p:extLst>
      <p:ext uri="{BB962C8B-B14F-4D97-AF65-F5344CB8AC3E}">
        <p14:creationId xmlns:p14="http://schemas.microsoft.com/office/powerpoint/2010/main" val="294803681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077734363"/>
              </p:ext>
            </p:extLst>
          </p:nvPr>
        </p:nvGraphicFramePr>
        <p:xfrm>
          <a:off x="755576" y="2190750"/>
          <a:ext cx="2880320" cy="1184942"/>
        </p:xfrm>
        <a:graphic>
          <a:graphicData uri="http://schemas.openxmlformats.org/presentationml/2006/ole">
            <mc:AlternateContent xmlns:mc="http://schemas.openxmlformats.org/markup-compatibility/2006">
              <mc:Choice xmlns:v="urn:schemas-microsoft-com:vml" Requires="v">
                <p:oleObj name="公式" r:id="rId2" imgW="1040948" imgH="431613" progId="Equation.3">
                  <p:embed/>
                </p:oleObj>
              </mc:Choice>
              <mc:Fallback>
                <p:oleObj name="公式" r:id="rId2" imgW="1040948" imgH="431613" progId="Equation.3">
                  <p:embed/>
                  <p:pic>
                    <p:nvPicPr>
                      <p:cNvPr id="0" name="对象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2190750"/>
                        <a:ext cx="2880320" cy="1184942"/>
                      </a:xfrm>
                      <a:prstGeom prst="rect">
                        <a:avLst/>
                      </a:prstGeom>
                      <a:noFill/>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759994237"/>
              </p:ext>
            </p:extLst>
          </p:nvPr>
        </p:nvGraphicFramePr>
        <p:xfrm>
          <a:off x="755576" y="3350930"/>
          <a:ext cx="1368152" cy="1071444"/>
        </p:xfrm>
        <a:graphic>
          <a:graphicData uri="http://schemas.openxmlformats.org/presentationml/2006/ole">
            <mc:AlternateContent xmlns:mc="http://schemas.openxmlformats.org/markup-compatibility/2006">
              <mc:Choice xmlns:v="urn:schemas-microsoft-com:vml" Requires="v">
                <p:oleObj name="公式" r:id="rId4" imgW="545863" imgH="431613" progId="Equation.3">
                  <p:embed/>
                </p:oleObj>
              </mc:Choice>
              <mc:Fallback>
                <p:oleObj name="公式" r:id="rId4" imgW="545863" imgH="431613" progId="Equation.3">
                  <p:embed/>
                  <p:pic>
                    <p:nvPicPr>
                      <p:cNvPr id="0" name="对象 2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576" y="3350930"/>
                        <a:ext cx="1368152" cy="1071444"/>
                      </a:xfrm>
                      <a:prstGeom prst="rect">
                        <a:avLst/>
                      </a:prstGeom>
                      <a:no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018245897"/>
              </p:ext>
            </p:extLst>
          </p:nvPr>
        </p:nvGraphicFramePr>
        <p:xfrm>
          <a:off x="755576" y="4274433"/>
          <a:ext cx="7368271" cy="2401752"/>
        </p:xfrm>
        <a:graphic>
          <a:graphicData uri="http://schemas.openxmlformats.org/presentationml/2006/ole">
            <mc:AlternateContent xmlns:mc="http://schemas.openxmlformats.org/markup-compatibility/2006">
              <mc:Choice xmlns:v="urn:schemas-microsoft-com:vml" Requires="v">
                <p:oleObj r:id="rId6" imgW="3087688" imgH="1008063" progId="MSDraw">
                  <p:embed/>
                </p:oleObj>
              </mc:Choice>
              <mc:Fallback>
                <p:oleObj r:id="rId6" imgW="3087688" imgH="1008063" progId="MSDraw">
                  <p:embed/>
                  <p:pic>
                    <p:nvPicPr>
                      <p:cNvPr id="0" name="对象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5576" y="4274433"/>
                        <a:ext cx="7368271" cy="2401752"/>
                      </a:xfrm>
                      <a:prstGeom prst="rect">
                        <a:avLst/>
                      </a:prstGeom>
                      <a:noFill/>
                    </p:spPr>
                  </p:pic>
                </p:oleObj>
              </mc:Fallback>
            </mc:AlternateContent>
          </a:graphicData>
        </a:graphic>
      </p:graphicFrame>
      <p:sp>
        <p:nvSpPr>
          <p:cNvPr id="5" name="Rectangle 4"/>
          <p:cNvSpPr>
            <a:spLocks noChangeArrowheads="1"/>
          </p:cNvSpPr>
          <p:nvPr/>
        </p:nvSpPr>
        <p:spPr bwMode="auto">
          <a:xfrm>
            <a:off x="899592" y="1159698"/>
            <a:ext cx="5458546" cy="123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特性形状：</a:t>
            </a:r>
            <a:endParaRPr kumimoji="0" lang="en-US" alt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sz="8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sz="2400" b="1" i="0" u="none" strike="noStrike" cap="none" normalizeH="0" baseline="0" dirty="0">
                <a:ln>
                  <a:noFill/>
                </a:ln>
                <a:solidFill>
                  <a:srgbClr val="0070C0"/>
                </a:solidFill>
                <a:effectLst/>
                <a:latin typeface="黑体" panose="02010609060101010101" pitchFamily="49" charset="-122"/>
                <a:ea typeface="黑体" panose="02010609060101010101" pitchFamily="49" charset="-122"/>
                <a:cs typeface="Times New Roman" panose="02020603050405020304" pitchFamily="18" charset="0"/>
              </a:rPr>
              <a:t>他励</a:t>
            </a: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sz="24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忽略电枢反应时</a:t>
            </a: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，磁通为常数</a:t>
            </a:r>
            <a:endParaRPr kumimoji="0" 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6" name="Rectangle 5"/>
          <p:cNvSpPr>
            <a:spLocks noChangeArrowheads="1"/>
          </p:cNvSpPr>
          <p:nvPr/>
        </p:nvSpPr>
        <p:spPr bwMode="auto">
          <a:xfrm>
            <a:off x="4125134" y="2116203"/>
            <a:ext cx="203132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为线性方程，</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6"/>
          <p:cNvSpPr>
            <a:spLocks noChangeArrowheads="1"/>
          </p:cNvSpPr>
          <p:nvPr/>
        </p:nvSpPr>
        <p:spPr bwMode="auto">
          <a:xfrm>
            <a:off x="2483768" y="393305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称为</a:t>
            </a:r>
            <a:r>
              <a:rPr kumimoji="0" 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理想空载转速</a:t>
            </a: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2" name="日期占位符 11">
            <a:extLst>
              <a:ext uri="{FF2B5EF4-FFF2-40B4-BE49-F238E27FC236}">
                <a16:creationId xmlns:a16="http://schemas.microsoft.com/office/drawing/2014/main" id="{C0F2F76A-0BCD-0F0B-25A0-5A61801E97E6}"/>
              </a:ext>
            </a:extLst>
          </p:cNvPr>
          <p:cNvSpPr>
            <a:spLocks noGrp="1"/>
          </p:cNvSpPr>
          <p:nvPr>
            <p:ph type="dt" sz="half" idx="10"/>
          </p:nvPr>
        </p:nvSpPr>
        <p:spPr>
          <a:xfrm>
            <a:off x="8316416" y="0"/>
            <a:ext cx="827584" cy="476250"/>
          </a:xfrm>
        </p:spPr>
        <p:txBody>
          <a:bodyPr/>
          <a:lstStyle/>
          <a:p>
            <a:fld id="{A63046B8-8F6B-4B52-BCC2-9BFCD0A584FB}" type="datetime10">
              <a:rPr lang="en-US" altLang="zh-CN" smtClean="0"/>
              <a:t>16:53</a:t>
            </a:fld>
            <a:endParaRPr lang="en-US" altLang="zh-CN" dirty="0"/>
          </a:p>
        </p:txBody>
      </p:sp>
      <p:sp>
        <p:nvSpPr>
          <p:cNvPr id="13" name="灯片编号占位符 12">
            <a:extLst>
              <a:ext uri="{FF2B5EF4-FFF2-40B4-BE49-F238E27FC236}">
                <a16:creationId xmlns:a16="http://schemas.microsoft.com/office/drawing/2014/main" id="{C7ECA38A-4E3D-7B99-2287-6584673B51E4}"/>
              </a:ext>
            </a:extLst>
          </p:cNvPr>
          <p:cNvSpPr>
            <a:spLocks noGrp="1"/>
          </p:cNvSpPr>
          <p:nvPr>
            <p:ph type="sldNum" sz="quarter" idx="12"/>
          </p:nvPr>
        </p:nvSpPr>
        <p:spPr/>
        <p:txBody>
          <a:bodyPr/>
          <a:lstStyle/>
          <a:p>
            <a:fld id="{76D830B0-DF59-4281-898F-AF208100B213}" type="slidenum">
              <a:rPr lang="en-US" altLang="zh-CN" smtClean="0"/>
              <a:pPr/>
              <a:t>74</a:t>
            </a:fld>
            <a:endParaRPr lang="en-US" altLang="zh-CN"/>
          </a:p>
        </p:txBody>
      </p:sp>
    </p:spTree>
    <p:extLst>
      <p:ext uri="{BB962C8B-B14F-4D97-AF65-F5344CB8AC3E}">
        <p14:creationId xmlns:p14="http://schemas.microsoft.com/office/powerpoint/2010/main" val="198807468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637270208"/>
              </p:ext>
            </p:extLst>
          </p:nvPr>
        </p:nvGraphicFramePr>
        <p:xfrm>
          <a:off x="2699792" y="1024927"/>
          <a:ext cx="6048672" cy="414143"/>
        </p:xfrm>
        <a:graphic>
          <a:graphicData uri="http://schemas.openxmlformats.org/presentationml/2006/ole">
            <mc:AlternateContent xmlns:mc="http://schemas.openxmlformats.org/markup-compatibility/2006">
              <mc:Choice xmlns:v="urn:schemas-microsoft-com:vml" Requires="v">
                <p:oleObj name="公式" r:id="rId3" imgW="3302000" imgH="228600" progId="Equation.3">
                  <p:embed/>
                </p:oleObj>
              </mc:Choice>
              <mc:Fallback>
                <p:oleObj name="公式" r:id="rId3" imgW="3302000" imgH="228600" progId="Equation.3">
                  <p:embed/>
                  <p:pic>
                    <p:nvPicPr>
                      <p:cNvPr id="0" name="对象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9792" y="1024927"/>
                        <a:ext cx="6048672" cy="414143"/>
                      </a:xfrm>
                      <a:prstGeom prst="rect">
                        <a:avLst/>
                      </a:prstGeom>
                      <a:noFill/>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367593896"/>
              </p:ext>
            </p:extLst>
          </p:nvPr>
        </p:nvGraphicFramePr>
        <p:xfrm>
          <a:off x="1869267" y="1844120"/>
          <a:ext cx="981075" cy="542925"/>
        </p:xfrm>
        <a:graphic>
          <a:graphicData uri="http://schemas.openxmlformats.org/presentationml/2006/ole">
            <mc:AlternateContent xmlns:mc="http://schemas.openxmlformats.org/markup-compatibility/2006">
              <mc:Choice xmlns:v="urn:schemas-microsoft-com:vml" Requires="v">
                <p:oleObj name="公式" r:id="rId5" imgW="406048" imgH="228402" progId="Equation.3">
                  <p:embed/>
                </p:oleObj>
              </mc:Choice>
              <mc:Fallback>
                <p:oleObj name="公式" r:id="rId5" imgW="406048" imgH="228402" progId="Equation.3">
                  <p:embed/>
                  <p:pic>
                    <p:nvPicPr>
                      <p:cNvPr id="0" name="对象 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69267" y="1844120"/>
                        <a:ext cx="981075" cy="542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160414275"/>
              </p:ext>
            </p:extLst>
          </p:nvPr>
        </p:nvGraphicFramePr>
        <p:xfrm>
          <a:off x="3501522" y="1689101"/>
          <a:ext cx="1181100" cy="866775"/>
        </p:xfrm>
        <a:graphic>
          <a:graphicData uri="http://schemas.openxmlformats.org/presentationml/2006/ole">
            <mc:AlternateContent xmlns:mc="http://schemas.openxmlformats.org/markup-compatibility/2006">
              <mc:Choice xmlns:v="urn:schemas-microsoft-com:vml" Requires="v">
                <p:oleObj name="公式" r:id="rId7" imgW="583947" imgH="431613" progId="Equation.3">
                  <p:embed/>
                </p:oleObj>
              </mc:Choice>
              <mc:Fallback>
                <p:oleObj name="公式" r:id="rId7" imgW="583947" imgH="431613" progId="Equation.3">
                  <p:embed/>
                  <p:pic>
                    <p:nvPicPr>
                      <p:cNvPr id="0" name="对象 2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01522" y="1689101"/>
                        <a:ext cx="1181100" cy="866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933538299"/>
              </p:ext>
            </p:extLst>
          </p:nvPr>
        </p:nvGraphicFramePr>
        <p:xfrm>
          <a:off x="791816" y="2696370"/>
          <a:ext cx="2009775" cy="828675"/>
        </p:xfrm>
        <a:graphic>
          <a:graphicData uri="http://schemas.openxmlformats.org/presentationml/2006/ole">
            <mc:AlternateContent xmlns:mc="http://schemas.openxmlformats.org/markup-compatibility/2006">
              <mc:Choice xmlns:v="urn:schemas-microsoft-com:vml" Requires="v">
                <p:oleObj name="公式" r:id="rId9" imgW="1040948" imgH="431613" progId="Equation.3">
                  <p:embed/>
                </p:oleObj>
              </mc:Choice>
              <mc:Fallback>
                <p:oleObj name="公式" r:id="rId9" imgW="1040948" imgH="431613" progId="Equation.3">
                  <p:embed/>
                  <p:pic>
                    <p:nvPicPr>
                      <p:cNvPr id="0" name="对象 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1816" y="2696370"/>
                        <a:ext cx="2009775" cy="828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853296427"/>
              </p:ext>
            </p:extLst>
          </p:nvPr>
        </p:nvGraphicFramePr>
        <p:xfrm>
          <a:off x="4608958" y="2810669"/>
          <a:ext cx="419100" cy="428625"/>
        </p:xfrm>
        <a:graphic>
          <a:graphicData uri="http://schemas.openxmlformats.org/presentationml/2006/ole">
            <mc:AlternateContent xmlns:mc="http://schemas.openxmlformats.org/markup-compatibility/2006">
              <mc:Choice xmlns:v="urn:schemas-microsoft-com:vml" Requires="v">
                <p:oleObj name="公式" r:id="rId11" imgW="215619" imgH="228303" progId="Equation.3">
                  <p:embed/>
                </p:oleObj>
              </mc:Choice>
              <mc:Fallback>
                <p:oleObj name="公式" r:id="rId11" imgW="215619" imgH="228303" progId="Equation.3">
                  <p:embed/>
                  <p:pic>
                    <p:nvPicPr>
                      <p:cNvPr id="0" name="对象 2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08958" y="2810669"/>
                        <a:ext cx="419100"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936240073"/>
              </p:ext>
            </p:extLst>
          </p:nvPr>
        </p:nvGraphicFramePr>
        <p:xfrm>
          <a:off x="353092" y="3443585"/>
          <a:ext cx="390525" cy="409575"/>
        </p:xfrm>
        <a:graphic>
          <a:graphicData uri="http://schemas.openxmlformats.org/presentationml/2006/ole">
            <mc:AlternateContent xmlns:mc="http://schemas.openxmlformats.org/markup-compatibility/2006">
              <mc:Choice xmlns:v="urn:schemas-microsoft-com:vml" Requires="v">
                <p:oleObj name="公式" r:id="rId11" imgW="215619" imgH="228303" progId="Equation.3">
                  <p:embed/>
                </p:oleObj>
              </mc:Choice>
              <mc:Fallback>
                <p:oleObj name="公式" r:id="rId11" imgW="215619" imgH="228303" progId="Equation.3">
                  <p:embed/>
                  <p:pic>
                    <p:nvPicPr>
                      <p:cNvPr id="0" name="对象 2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3092" y="3443585"/>
                        <a:ext cx="390525"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4255497939"/>
              </p:ext>
            </p:extLst>
          </p:nvPr>
        </p:nvGraphicFramePr>
        <p:xfrm>
          <a:off x="363760" y="3979852"/>
          <a:ext cx="4181475" cy="504825"/>
        </p:xfrm>
        <a:graphic>
          <a:graphicData uri="http://schemas.openxmlformats.org/presentationml/2006/ole">
            <mc:AlternateContent xmlns:mc="http://schemas.openxmlformats.org/markup-compatibility/2006">
              <mc:Choice xmlns:v="urn:schemas-microsoft-com:vml" Requires="v">
                <p:oleObj name="公式" r:id="rId13" imgW="2005729" imgH="241195" progId="Equation.3">
                  <p:embed/>
                </p:oleObj>
              </mc:Choice>
              <mc:Fallback>
                <p:oleObj name="公式" r:id="rId13" imgW="2005729" imgH="241195" progId="Equation.3">
                  <p:embed/>
                  <p:pic>
                    <p:nvPicPr>
                      <p:cNvPr id="0" name="对象 2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3760" y="3979852"/>
                        <a:ext cx="4181475" cy="504825"/>
                      </a:xfrm>
                      <a:prstGeom prst="rect">
                        <a:avLst/>
                      </a:prstGeom>
                      <a:solidFill>
                        <a:srgbClr val="FFCC00"/>
                      </a:solid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310563750"/>
              </p:ext>
            </p:extLst>
          </p:nvPr>
        </p:nvGraphicFramePr>
        <p:xfrm>
          <a:off x="5657676" y="3810795"/>
          <a:ext cx="1485900" cy="857250"/>
        </p:xfrm>
        <a:graphic>
          <a:graphicData uri="http://schemas.openxmlformats.org/presentationml/2006/ole">
            <mc:AlternateContent xmlns:mc="http://schemas.openxmlformats.org/markup-compatibility/2006">
              <mc:Choice xmlns:v="urn:schemas-microsoft-com:vml" Requires="v">
                <p:oleObj name="公式" r:id="rId15" imgW="736280" imgH="431613" progId="Equation.3">
                  <p:embed/>
                </p:oleObj>
              </mc:Choice>
              <mc:Fallback>
                <p:oleObj name="公式" r:id="rId15" imgW="736280" imgH="431613" progId="Equation.3">
                  <p:embed/>
                  <p:pic>
                    <p:nvPicPr>
                      <p:cNvPr id="0" name="对象 2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657676" y="3810795"/>
                        <a:ext cx="1485900" cy="857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10" name="对象 9"/>
              <p:cNvSpPr txBox="1"/>
              <p:nvPr/>
            </p:nvSpPr>
            <p:spPr bwMode="auto">
              <a:xfrm>
                <a:off x="3454400" y="4668838"/>
                <a:ext cx="4285952" cy="678272"/>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𝑅</m:t>
                          </m:r>
                        </m:e>
                        <m:sub>
                          <m:r>
                            <a:rPr lang="zh-CN" altLang="en-US" i="1">
                              <a:solidFill>
                                <a:srgbClr val="000000"/>
                              </a:solidFill>
                              <a:latin typeface="Cambria Math" panose="02040503050406030204" pitchFamily="18" charset="0"/>
                            </a:rPr>
                            <m:t>𝑎</m:t>
                          </m:r>
                        </m:sub>
                      </m:sSub>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0.5</m:t>
                      </m:r>
                      <m:d>
                        <m:dPr>
                          <m:ctrlPr>
                            <a:rPr lang="zh-CN" altLang="en-US" i="1">
                              <a:solidFill>
                                <a:srgbClr val="000000"/>
                              </a:solidFill>
                              <a:latin typeface="Cambria Math" panose="02040503050406030204" pitchFamily="18" charset="0"/>
                            </a:rPr>
                          </m:ctrlPr>
                        </m:dPr>
                        <m:e>
                          <m:r>
                            <m:rPr>
                              <m:nor/>
                            </m:rPr>
                            <a:rPr lang="zh-CN" altLang="en-US" i="0">
                              <a:solidFill>
                                <a:srgbClr val="000000"/>
                              </a:solidFill>
                              <a:latin typeface="Cambria Math" panose="02040503050406030204" pitchFamily="18" charset="0"/>
                            </a:rPr>
                            <m:t>1−</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𝜂</m:t>
                              </m:r>
                            </m:e>
                            <m:sub>
                              <m:r>
                                <m:rPr>
                                  <m:sty m:val="p"/>
                                </m:rPr>
                                <a:rPr lang="zh-CN" altLang="en-US" i="0">
                                  <a:solidFill>
                                    <a:srgbClr val="000000"/>
                                  </a:solidFill>
                                  <a:latin typeface="Cambria Math" panose="02040503050406030204" pitchFamily="18" charset="0"/>
                                </a:rPr>
                                <m:t>N</m:t>
                              </m:r>
                            </m:sub>
                          </m:sSub>
                        </m:e>
                      </m:d>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U</m:t>
                          </m:r>
                        </m:e>
                        <m:sub>
                          <m:r>
                            <m:rPr>
                              <m:sty m:val="p"/>
                            </m:rPr>
                            <a:rPr lang="zh-CN" altLang="en-US" i="0">
                              <a:solidFill>
                                <a:srgbClr val="000000"/>
                              </a:solidFill>
                              <a:latin typeface="Cambria Math" panose="02040503050406030204" pitchFamily="18" charset="0"/>
                            </a:rPr>
                            <m:t>N</m:t>
                          </m:r>
                        </m:sub>
                      </m:sSub>
                      <m:r>
                        <a:rPr lang="en-US" altLang="zh-CN" b="0" i="1" smtClean="0">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I</m:t>
                          </m:r>
                        </m:e>
                        <m:sub>
                          <m:r>
                            <m:rPr>
                              <m:sty m:val="p"/>
                            </m:rPr>
                            <a:rPr lang="zh-CN" altLang="en-US" i="0">
                              <a:solidFill>
                                <a:srgbClr val="000000"/>
                              </a:solidFill>
                              <a:latin typeface="Cambria Math" panose="02040503050406030204" pitchFamily="18" charset="0"/>
                            </a:rPr>
                            <m:t>N</m:t>
                          </m:r>
                        </m:sub>
                      </m:sSub>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1.3</m:t>
                      </m:r>
                      <m:r>
                        <m:rPr>
                          <m:sty m:val="p"/>
                        </m:rPr>
                        <a:rPr lang="zh-CN" altLang="en-US" i="1">
                          <a:solidFill>
                            <a:srgbClr val="000000"/>
                          </a:solidFill>
                          <a:latin typeface="Cambria Math" panose="02040503050406030204" pitchFamily="18" charset="0"/>
                        </a:rPr>
                        <m:t>Ω</m:t>
                      </m:r>
                    </m:oMath>
                  </m:oMathPara>
                </a14:m>
                <a:endParaRPr lang="zh-CN" altLang="en-US" dirty="0"/>
              </a:p>
            </p:txBody>
          </p:sp>
        </mc:Choice>
        <mc:Fallback xmlns="">
          <p:sp>
            <p:nvSpPr>
              <p:cNvPr id="10" name="对象 9"/>
              <p:cNvSpPr txBox="1">
                <a:spLocks noRot="1" noChangeAspect="1" noMove="1" noResize="1" noEditPoints="1" noAdjustHandles="1" noChangeArrowheads="1" noChangeShapeType="1" noTextEdit="1"/>
              </p:cNvSpPr>
              <p:nvPr/>
            </p:nvSpPr>
            <p:spPr bwMode="auto">
              <a:xfrm>
                <a:off x="3454400" y="4668838"/>
                <a:ext cx="4285952" cy="678272"/>
              </a:xfrm>
              <a:prstGeom prst="rect">
                <a:avLst/>
              </a:prstGeom>
              <a:blipFill>
                <a:blip r:embed="rId18"/>
                <a:stretch>
                  <a:fillRect/>
                </a:stretch>
              </a:blipFill>
            </p:spPr>
            <p:txBody>
              <a:bodyPr/>
              <a:lstStyle/>
              <a:p>
                <a:r>
                  <a:rPr lang="zh-CN" altLang="en-US">
                    <a:noFill/>
                  </a:rPr>
                  <a:t> </a:t>
                </a:r>
              </a:p>
            </p:txBody>
          </p:sp>
        </mc:Fallback>
      </mc:AlternateContent>
      <p:graphicFrame>
        <p:nvGraphicFramePr>
          <p:cNvPr id="11" name="对象 10"/>
          <p:cNvGraphicFramePr>
            <a:graphicFrameLocks noChangeAspect="1"/>
          </p:cNvGraphicFramePr>
          <p:nvPr>
            <p:extLst>
              <p:ext uri="{D42A27DB-BD31-4B8C-83A1-F6EECF244321}">
                <p14:modId xmlns:p14="http://schemas.microsoft.com/office/powerpoint/2010/main" val="1044025732"/>
              </p:ext>
            </p:extLst>
          </p:nvPr>
        </p:nvGraphicFramePr>
        <p:xfrm>
          <a:off x="338904" y="5304764"/>
          <a:ext cx="3762375" cy="752475"/>
        </p:xfrm>
        <a:graphic>
          <a:graphicData uri="http://schemas.openxmlformats.org/presentationml/2006/ole">
            <mc:AlternateContent xmlns:mc="http://schemas.openxmlformats.org/markup-compatibility/2006">
              <mc:Choice xmlns:v="urn:schemas-microsoft-com:vml" Requires="v">
                <p:oleObj name="公式" r:id="rId19" imgW="2145369" imgH="431613" progId="Equation.3">
                  <p:embed/>
                </p:oleObj>
              </mc:Choice>
              <mc:Fallback>
                <p:oleObj name="公式" r:id="rId19" imgW="2145369" imgH="431613" progId="Equation.3">
                  <p:embed/>
                  <p:pic>
                    <p:nvPicPr>
                      <p:cNvPr id="0" name="对象 3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38904" y="5304764"/>
                        <a:ext cx="3762375" cy="752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68143501"/>
              </p:ext>
            </p:extLst>
          </p:nvPr>
        </p:nvGraphicFramePr>
        <p:xfrm>
          <a:off x="382240" y="5955750"/>
          <a:ext cx="2893615" cy="877198"/>
        </p:xfrm>
        <a:graphic>
          <a:graphicData uri="http://schemas.openxmlformats.org/presentationml/2006/ole">
            <mc:AlternateContent xmlns:mc="http://schemas.openxmlformats.org/markup-compatibility/2006">
              <mc:Choice xmlns:v="urn:schemas-microsoft-com:vml" Requires="v">
                <p:oleObj name="公式" r:id="rId21" imgW="1409088" imgH="431613" progId="Equation.3">
                  <p:embed/>
                </p:oleObj>
              </mc:Choice>
              <mc:Fallback>
                <p:oleObj name="公式" r:id="rId21" imgW="1409088" imgH="431613" progId="Equation.3">
                  <p:embed/>
                  <p:pic>
                    <p:nvPicPr>
                      <p:cNvPr id="0" name="对象 3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82240" y="5955750"/>
                        <a:ext cx="2893615" cy="877198"/>
                      </a:xfrm>
                      <a:prstGeom prst="rect">
                        <a:avLst/>
                      </a:prstGeom>
                      <a:noFill/>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1688395925"/>
              </p:ext>
            </p:extLst>
          </p:nvPr>
        </p:nvGraphicFramePr>
        <p:xfrm>
          <a:off x="3923928" y="6179152"/>
          <a:ext cx="4143375" cy="438150"/>
        </p:xfrm>
        <a:graphic>
          <a:graphicData uri="http://schemas.openxmlformats.org/presentationml/2006/ole">
            <mc:AlternateContent xmlns:mc="http://schemas.openxmlformats.org/markup-compatibility/2006">
              <mc:Choice xmlns:v="urn:schemas-microsoft-com:vml" Requires="v">
                <p:oleObj name="公式" r:id="rId23" imgW="2108200" imgH="228600" progId="Equation.3">
                  <p:embed/>
                </p:oleObj>
              </mc:Choice>
              <mc:Fallback>
                <p:oleObj name="公式" r:id="rId23" imgW="2108200" imgH="228600" progId="Equation.3">
                  <p:embed/>
                  <p:pic>
                    <p:nvPicPr>
                      <p:cNvPr id="0" name="对象 3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923928" y="6179152"/>
                        <a:ext cx="4143375"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Rectangle 13"/>
          <p:cNvSpPr>
            <a:spLocks noChangeArrowheads="1"/>
          </p:cNvSpPr>
          <p:nvPr/>
        </p:nvSpPr>
        <p:spPr bwMode="auto">
          <a:xfrm>
            <a:off x="35148" y="984012"/>
            <a:ext cx="2815194"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例</a:t>
            </a:r>
            <a:r>
              <a:rPr lang="en-US" altLang="zh-CN" sz="24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2</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4</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他励</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DCM</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14"/>
          <p:cNvSpPr>
            <a:spLocks noChangeArrowheads="1"/>
          </p:cNvSpPr>
          <p:nvPr/>
        </p:nvSpPr>
        <p:spPr bwMode="auto">
          <a:xfrm>
            <a:off x="36958" y="191397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试计算其机械特性。</a:t>
            </a:r>
            <a:endParaRPr kumimoji="0" 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解：</a:t>
            </a: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即要求</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15"/>
          <p:cNvSpPr>
            <a:spLocks noChangeArrowheads="1"/>
          </p:cNvSpPr>
          <p:nvPr/>
        </p:nvSpPr>
        <p:spPr bwMode="auto">
          <a:xfrm>
            <a:off x="2699792" y="211558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7" name="Rectangle 16"/>
          <p:cNvSpPr>
            <a:spLocks noChangeArrowheads="1"/>
          </p:cNvSpPr>
          <p:nvPr/>
        </p:nvSpPr>
        <p:spPr bwMode="auto">
          <a:xfrm>
            <a:off x="4860032" y="1913970"/>
            <a:ext cx="268054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所以需先求出</a:t>
            </a:r>
            <a:r>
              <a:rPr kumimoji="0" lang="en-US" altLang="zh-CN" sz="2400" b="0" i="0"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Ce</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17"/>
          <p:cNvSpPr>
            <a:spLocks noChangeArrowheads="1"/>
          </p:cNvSpPr>
          <p:nvPr/>
        </p:nvSpPr>
        <p:spPr bwMode="auto">
          <a:xfrm>
            <a:off x="2664271" y="303197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，还需先得到</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18"/>
          <p:cNvSpPr>
            <a:spLocks noChangeArrowheads="1"/>
          </p:cNvSpPr>
          <p:nvPr/>
        </p:nvSpPr>
        <p:spPr bwMode="auto">
          <a:xfrm>
            <a:off x="4860032" y="3149601"/>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20" name="Rectangle 19"/>
          <p:cNvSpPr>
            <a:spLocks noChangeArrowheads="1"/>
          </p:cNvSpPr>
          <p:nvPr/>
        </p:nvSpPr>
        <p:spPr bwMode="auto">
          <a:xfrm>
            <a:off x="688851" y="3405317"/>
            <a:ext cx="830227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的估算</a:t>
            </a: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：额定工况下电枢</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绕组</a:t>
            </a: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铜耗约为总损耗的</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50</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~75%</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21" name="Rectangle 20"/>
          <p:cNvSpPr>
            <a:spLocks noChangeArrowheads="1"/>
          </p:cNvSpPr>
          <p:nvPr/>
        </p:nvSpPr>
        <p:spPr bwMode="auto">
          <a:xfrm>
            <a:off x="4682622" y="4232264"/>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22" name="Rectangle 21"/>
          <p:cNvSpPr>
            <a:spLocks noChangeArrowheads="1"/>
          </p:cNvSpPr>
          <p:nvPr/>
        </p:nvSpPr>
        <p:spPr bwMode="auto">
          <a:xfrm>
            <a:off x="-26765" y="4707222"/>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本例取</a:t>
            </a: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50%</a:t>
            </a: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计算，得：</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23" name="Rectangle 22"/>
          <p:cNvSpPr>
            <a:spLocks noChangeArrowheads="1"/>
          </p:cNvSpPr>
          <p:nvPr/>
        </p:nvSpPr>
        <p:spPr bwMode="auto">
          <a:xfrm>
            <a:off x="35148" y="7449344"/>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24" name="Rectangle 23"/>
          <p:cNvSpPr>
            <a:spLocks noChangeArrowheads="1"/>
          </p:cNvSpPr>
          <p:nvPr/>
        </p:nvSpPr>
        <p:spPr bwMode="auto">
          <a:xfrm>
            <a:off x="35148" y="8659019"/>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25" name="Rectangle 24"/>
          <p:cNvSpPr>
            <a:spLocks noChangeArrowheads="1"/>
          </p:cNvSpPr>
          <p:nvPr/>
        </p:nvSpPr>
        <p:spPr bwMode="auto">
          <a:xfrm>
            <a:off x="35148" y="9849644"/>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26" name="矩形 25"/>
          <p:cNvSpPr/>
          <p:nvPr/>
        </p:nvSpPr>
        <p:spPr>
          <a:xfrm>
            <a:off x="304892" y="2801144"/>
            <a:ext cx="522692" cy="461665"/>
          </a:xfrm>
          <a:prstGeom prst="rect">
            <a:avLst/>
          </a:prstGeom>
        </p:spPr>
        <p:txBody>
          <a:bodyPr wrap="square">
            <a:spAutoFit/>
          </a:bodyPr>
          <a:lstStyle/>
          <a:p>
            <a:pPr lvl="0" eaLnBrk="0" hangingPunct="0"/>
            <a:r>
              <a:rPr lang="zh-CN" altLang="en-US" sz="2400" dirty="0">
                <a:latin typeface="黑体" panose="02010609060101010101" pitchFamily="49" charset="-122"/>
                <a:ea typeface="黑体" panose="02010609060101010101" pitchFamily="49" charset="-122"/>
                <a:cs typeface="Times New Roman" panose="02020603050405020304" pitchFamily="18" charset="0"/>
              </a:rPr>
              <a:t>又</a:t>
            </a:r>
            <a:r>
              <a:rPr lang="zh-CN" altLang="en-US" dirty="0">
                <a:latin typeface="Times New Roman" panose="02020603050405020304" pitchFamily="18" charset="0"/>
                <a:ea typeface="黑体" panose="02010609060101010101" pitchFamily="49" charset="-122"/>
                <a:cs typeface="Times New Roman" panose="02020603050405020304" pitchFamily="18" charset="0"/>
              </a:rPr>
              <a:t> </a:t>
            </a:r>
            <a:endParaRPr lang="zh-CN" altLang="en-US" sz="1400" dirty="0"/>
          </a:p>
        </p:txBody>
      </p:sp>
      <p:sp>
        <p:nvSpPr>
          <p:cNvPr id="31" name="日期占位符 30">
            <a:extLst>
              <a:ext uri="{FF2B5EF4-FFF2-40B4-BE49-F238E27FC236}">
                <a16:creationId xmlns:a16="http://schemas.microsoft.com/office/drawing/2014/main" id="{A841F490-E0B4-1FC1-65CB-9963D859A25B}"/>
              </a:ext>
            </a:extLst>
          </p:cNvPr>
          <p:cNvSpPr>
            <a:spLocks noGrp="1"/>
          </p:cNvSpPr>
          <p:nvPr>
            <p:ph type="dt" sz="half" idx="10"/>
          </p:nvPr>
        </p:nvSpPr>
        <p:spPr>
          <a:xfrm>
            <a:off x="8365232" y="0"/>
            <a:ext cx="778768" cy="476250"/>
          </a:xfrm>
        </p:spPr>
        <p:txBody>
          <a:bodyPr/>
          <a:lstStyle/>
          <a:p>
            <a:fld id="{C5683059-9552-4DE7-AA13-8B896A8B369C}" type="datetime10">
              <a:rPr lang="en-US" altLang="zh-CN" smtClean="0"/>
              <a:t>16:53</a:t>
            </a:fld>
            <a:endParaRPr lang="en-US" altLang="zh-CN" dirty="0"/>
          </a:p>
        </p:txBody>
      </p:sp>
      <p:sp>
        <p:nvSpPr>
          <p:cNvPr id="32" name="灯片编号占位符 31">
            <a:extLst>
              <a:ext uri="{FF2B5EF4-FFF2-40B4-BE49-F238E27FC236}">
                <a16:creationId xmlns:a16="http://schemas.microsoft.com/office/drawing/2014/main" id="{5934A3DB-2868-B537-EDC2-CC88642BE31A}"/>
              </a:ext>
            </a:extLst>
          </p:cNvPr>
          <p:cNvSpPr>
            <a:spLocks noGrp="1"/>
          </p:cNvSpPr>
          <p:nvPr>
            <p:ph type="sldNum" sz="quarter" idx="12"/>
          </p:nvPr>
        </p:nvSpPr>
        <p:spPr/>
        <p:txBody>
          <a:bodyPr/>
          <a:lstStyle/>
          <a:p>
            <a:fld id="{76D830B0-DF59-4281-898F-AF208100B213}" type="slidenum">
              <a:rPr lang="en-US" altLang="zh-CN" smtClean="0"/>
              <a:pPr/>
              <a:t>75</a:t>
            </a:fld>
            <a:endParaRPr lang="en-US" altLang="zh-CN"/>
          </a:p>
        </p:txBody>
      </p:sp>
    </p:spTree>
    <p:extLst>
      <p:ext uri="{BB962C8B-B14F-4D97-AF65-F5344CB8AC3E}">
        <p14:creationId xmlns:p14="http://schemas.microsoft.com/office/powerpoint/2010/main" val="326011431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611560" y="270892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311028376"/>
              </p:ext>
            </p:extLst>
          </p:nvPr>
        </p:nvGraphicFramePr>
        <p:xfrm>
          <a:off x="395536" y="1180157"/>
          <a:ext cx="3495675" cy="3057525"/>
        </p:xfrm>
        <a:graphic>
          <a:graphicData uri="http://schemas.openxmlformats.org/presentationml/2006/ole">
            <mc:AlternateContent xmlns:mc="http://schemas.openxmlformats.org/markup-compatibility/2006">
              <mc:Choice xmlns:v="urn:schemas-microsoft-com:vml" Requires="v">
                <p:oleObj r:id="rId2" imgW="1333500" imgH="1166813" progId="MSDraw">
                  <p:embed/>
                </p:oleObj>
              </mc:Choice>
              <mc:Fallback>
                <p:oleObj r:id="rId2" imgW="1333500" imgH="1166813" progId="MSDraw">
                  <p:embed/>
                  <p:pic>
                    <p:nvPicPr>
                      <p:cNvPr id="0" name="对象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1180157"/>
                        <a:ext cx="3495675" cy="3057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矩形 3"/>
          <p:cNvSpPr/>
          <p:nvPr/>
        </p:nvSpPr>
        <p:spPr>
          <a:xfrm>
            <a:off x="755576" y="844931"/>
            <a:ext cx="1261884" cy="523220"/>
          </a:xfrm>
          <a:prstGeom prst="rect">
            <a:avLst/>
          </a:prstGeom>
        </p:spPr>
        <p:txBody>
          <a:bodyPr wrap="none">
            <a:spAutoFit/>
          </a:bodyPr>
          <a:lstStyle/>
          <a:p>
            <a:r>
              <a:rPr lang="zh-CN" altLang="zh-CN" sz="2800" b="1" kern="100" dirty="0">
                <a:latin typeface="楷体" panose="02010609060101010101" pitchFamily="49" charset="-122"/>
                <a:ea typeface="楷体" panose="02010609060101010101" pitchFamily="49" charset="-122"/>
                <a:cs typeface="Times New Roman" panose="02020603050405020304" pitchFamily="18" charset="0"/>
              </a:rPr>
              <a:t>作图：</a:t>
            </a:r>
            <a:endParaRPr lang="zh-CN" altLang="en-US" sz="2800" b="1" dirty="0">
              <a:latin typeface="楷体" panose="02010609060101010101" pitchFamily="49" charset="-122"/>
              <a:ea typeface="楷体" panose="02010609060101010101" pitchFamily="49" charset="-122"/>
            </a:endParaRPr>
          </a:p>
        </p:txBody>
      </p:sp>
      <p:sp>
        <p:nvSpPr>
          <p:cNvPr id="5" name="Rectangle 4"/>
          <p:cNvSpPr>
            <a:spLocks noChangeArrowheads="1"/>
          </p:cNvSpPr>
          <p:nvPr/>
        </p:nvSpPr>
        <p:spPr bwMode="auto">
          <a:xfrm>
            <a:off x="4644008" y="177281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2141297679"/>
              </p:ext>
            </p:extLst>
          </p:nvPr>
        </p:nvGraphicFramePr>
        <p:xfrm>
          <a:off x="4355976" y="1167333"/>
          <a:ext cx="3257550" cy="3057525"/>
        </p:xfrm>
        <a:graphic>
          <a:graphicData uri="http://schemas.openxmlformats.org/presentationml/2006/ole">
            <mc:AlternateContent xmlns:mc="http://schemas.openxmlformats.org/markup-compatibility/2006">
              <mc:Choice xmlns:v="urn:schemas-microsoft-com:vml" Requires="v">
                <p:oleObj r:id="rId4" imgW="1239838" imgH="1166813" progId="MSDraw">
                  <p:embed/>
                </p:oleObj>
              </mc:Choice>
              <mc:Fallback>
                <p:oleObj r:id="rId4" imgW="1239838" imgH="1166813" progId="MSDraw">
                  <p:embed/>
                  <p:pic>
                    <p:nvPicPr>
                      <p:cNvPr id="0" name="对象 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55976" y="1167333"/>
                        <a:ext cx="3257550" cy="3057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46452370"/>
              </p:ext>
            </p:extLst>
          </p:nvPr>
        </p:nvGraphicFramePr>
        <p:xfrm>
          <a:off x="1835696" y="4296296"/>
          <a:ext cx="1514475" cy="514350"/>
        </p:xfrm>
        <a:graphic>
          <a:graphicData uri="http://schemas.openxmlformats.org/presentationml/2006/ole">
            <mc:AlternateContent xmlns:mc="http://schemas.openxmlformats.org/markup-compatibility/2006">
              <mc:Choice xmlns:v="urn:schemas-microsoft-com:vml" Requires="v">
                <p:oleObj name="公式" r:id="rId6" imgW="660113" imgH="228501" progId="Equation.3">
                  <p:embed/>
                </p:oleObj>
              </mc:Choice>
              <mc:Fallback>
                <p:oleObj name="公式" r:id="rId6" imgW="660113" imgH="228501" progId="Equation.3">
                  <p:embed/>
                  <p:pic>
                    <p:nvPicPr>
                      <p:cNvPr id="0" name="对象 3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35696" y="4296296"/>
                        <a:ext cx="1514475"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525694381"/>
              </p:ext>
            </p:extLst>
          </p:nvPr>
        </p:nvGraphicFramePr>
        <p:xfrm>
          <a:off x="565026" y="4771082"/>
          <a:ext cx="2009775" cy="971550"/>
        </p:xfrm>
        <a:graphic>
          <a:graphicData uri="http://schemas.openxmlformats.org/presentationml/2006/ole">
            <mc:AlternateContent xmlns:mc="http://schemas.openxmlformats.org/markup-compatibility/2006">
              <mc:Choice xmlns:v="urn:schemas-microsoft-com:vml" Requires="v">
                <p:oleObj name="公式" r:id="rId8" imgW="888614" imgH="431613" progId="Equation.3">
                  <p:embed/>
                </p:oleObj>
              </mc:Choice>
              <mc:Fallback>
                <p:oleObj name="公式" r:id="rId8" imgW="888614" imgH="431613" progId="Equation.3">
                  <p:embed/>
                  <p:pic>
                    <p:nvPicPr>
                      <p:cNvPr id="0" name="对象 3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5026" y="4771082"/>
                        <a:ext cx="2009775" cy="971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165457159"/>
              </p:ext>
            </p:extLst>
          </p:nvPr>
        </p:nvGraphicFramePr>
        <p:xfrm>
          <a:off x="8388424" y="4852913"/>
          <a:ext cx="447675" cy="552450"/>
        </p:xfrm>
        <a:graphic>
          <a:graphicData uri="http://schemas.openxmlformats.org/presentationml/2006/ole">
            <mc:AlternateContent xmlns:mc="http://schemas.openxmlformats.org/markup-compatibility/2006">
              <mc:Choice xmlns:v="urn:schemas-microsoft-com:vml" Requires="v">
                <p:oleObj name="公式" r:id="rId10" imgW="177492" imgH="228204" progId="Equation.3">
                  <p:embed/>
                </p:oleObj>
              </mc:Choice>
              <mc:Fallback>
                <p:oleObj name="公式" r:id="rId10" imgW="177492" imgH="228204" progId="Equation.3">
                  <p:embed/>
                  <p:pic>
                    <p:nvPicPr>
                      <p:cNvPr id="0" name="对象 3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388424" y="4852913"/>
                        <a:ext cx="447675" cy="552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013255179"/>
              </p:ext>
            </p:extLst>
          </p:nvPr>
        </p:nvGraphicFramePr>
        <p:xfrm>
          <a:off x="3465892" y="5364931"/>
          <a:ext cx="4638675" cy="828675"/>
        </p:xfrm>
        <a:graphic>
          <a:graphicData uri="http://schemas.openxmlformats.org/presentationml/2006/ole">
            <mc:AlternateContent xmlns:mc="http://schemas.openxmlformats.org/markup-compatibility/2006">
              <mc:Choice xmlns:v="urn:schemas-microsoft-com:vml" Requires="v">
                <p:oleObj name="公式" r:id="rId12" imgW="2373870" imgH="431613" progId="Equation.3">
                  <p:embed/>
                </p:oleObj>
              </mc:Choice>
              <mc:Fallback>
                <p:oleObj name="公式" r:id="rId12" imgW="2373870" imgH="431613" progId="Equation.3">
                  <p:embed/>
                  <p:pic>
                    <p:nvPicPr>
                      <p:cNvPr id="0" name="对象 3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65892" y="5364931"/>
                        <a:ext cx="4638675" cy="828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9"/>
          <p:cNvSpPr>
            <a:spLocks noChangeArrowheads="1"/>
          </p:cNvSpPr>
          <p:nvPr/>
        </p:nvSpPr>
        <p:spPr bwMode="auto">
          <a:xfrm>
            <a:off x="395536" y="399625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讨论：</a:t>
            </a:r>
            <a:r>
              <a:rPr kumimoji="0" lang="zh-CN"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2" name="Rectangle 10"/>
          <p:cNvSpPr>
            <a:spLocks noChangeArrowheads="1"/>
          </p:cNvSpPr>
          <p:nvPr/>
        </p:nvSpPr>
        <p:spPr bwMode="auto">
          <a:xfrm>
            <a:off x="3275856" y="4725144"/>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求得的是</a:t>
            </a:r>
            <a:r>
              <a:rPr kumimoji="0" lang="zh-CN" sz="24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额定电磁转矩。</a:t>
            </a:r>
            <a:endParaRPr kumimoji="0" 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3" name="Rectangle 11"/>
          <p:cNvSpPr>
            <a:spLocks noChangeArrowheads="1"/>
          </p:cNvSpPr>
          <p:nvPr/>
        </p:nvSpPr>
        <p:spPr bwMode="auto">
          <a:xfrm>
            <a:off x="2574801" y="515719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求得的是</a:t>
            </a:r>
            <a:r>
              <a:rPr kumimoji="0" lang="zh-CN" sz="24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额定轴上输出转矩</a:t>
            </a: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。与上结果相差</a:t>
            </a: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4" name="Rectangle 12"/>
          <p:cNvSpPr>
            <a:spLocks noChangeArrowheads="1"/>
          </p:cNvSpPr>
          <p:nvPr/>
        </p:nvSpPr>
        <p:spPr bwMode="auto">
          <a:xfrm>
            <a:off x="194172" y="5511800"/>
            <a:ext cx="326243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对本例用后式计算时：</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6" name="文本框 15"/>
          <p:cNvSpPr txBox="1"/>
          <p:nvPr/>
        </p:nvSpPr>
        <p:spPr>
          <a:xfrm>
            <a:off x="1234423" y="895437"/>
            <a:ext cx="7466225" cy="3385542"/>
          </a:xfrm>
          <a:prstGeom prst="rect">
            <a:avLst/>
          </a:prstGeom>
          <a:solidFill>
            <a:srgbClr val="FFFF00"/>
          </a:solidFill>
        </p:spPr>
        <p:txBody>
          <a:bodyPr wrap="square" rtlCol="0">
            <a:spAutoFit/>
          </a:bodyPr>
          <a:lstStyle/>
          <a:p>
            <a:pPr lvl="0" eaLnBrk="0" hangingPunct="0"/>
            <a:r>
              <a:rPr lang="zh-CN" altLang="en-US" sz="2800" dirty="0">
                <a:latin typeface="楷体" panose="02010609060101010101" pitchFamily="49" charset="-122"/>
                <a:ea typeface="楷体" panose="02010609060101010101" pitchFamily="49" charset="-122"/>
                <a:cs typeface="Times New Roman" panose="02020603050405020304" pitchFamily="18" charset="0"/>
              </a:rPr>
              <a:t>二者的机械特性图基本相同。  </a:t>
            </a:r>
            <a:endParaRPr lang="zh-CN" altLang="en-US" sz="2800" dirty="0">
              <a:latin typeface="楷体" panose="02010609060101010101" pitchFamily="49" charset="-122"/>
              <a:ea typeface="楷体" panose="02010609060101010101" pitchFamily="49" charset="-122"/>
            </a:endParaRPr>
          </a:p>
          <a:p>
            <a:pPr lvl="0" eaLnBrk="0" hangingPunct="0"/>
            <a:r>
              <a:rPr lang="zh-CN" altLang="en-US" sz="2800" dirty="0">
                <a:latin typeface="楷体" panose="02010609060101010101" pitchFamily="49" charset="-122"/>
                <a:ea typeface="楷体" panose="02010609060101010101" pitchFamily="49" charset="-122"/>
                <a:cs typeface="Times New Roman" panose="02020603050405020304" pitchFamily="18" charset="0"/>
              </a:rPr>
              <a:t>    </a:t>
            </a:r>
            <a:r>
              <a:rPr lang="zh-CN" altLang="en-US" sz="28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从机械特性推导过程看，前式计算更合理</a:t>
            </a:r>
            <a:r>
              <a:rPr lang="zh-CN" altLang="en-US" sz="2800" dirty="0">
                <a:latin typeface="楷体" panose="02010609060101010101" pitchFamily="49" charset="-122"/>
                <a:ea typeface="楷体" panose="02010609060101010101" pitchFamily="49" charset="-122"/>
                <a:cs typeface="Times New Roman" panose="02020603050405020304" pitchFamily="18" charset="0"/>
              </a:rPr>
              <a:t>。</a:t>
            </a:r>
            <a:endParaRPr lang="zh-CN" altLang="en-US" sz="2800" dirty="0">
              <a:latin typeface="楷体" panose="02010609060101010101" pitchFamily="49" charset="-122"/>
              <a:ea typeface="楷体" panose="02010609060101010101" pitchFamily="49" charset="-122"/>
            </a:endParaRPr>
          </a:p>
          <a:p>
            <a:pPr lvl="0" eaLnBrk="0" hangingPunct="0"/>
            <a:r>
              <a:rPr lang="zh-CN" altLang="en-US" sz="2800" dirty="0">
                <a:latin typeface="楷体" panose="02010609060101010101" pitchFamily="49" charset="-122"/>
                <a:ea typeface="楷体" panose="02010609060101010101" pitchFamily="49" charset="-122"/>
                <a:cs typeface="Times New Roman" panose="02020603050405020304" pitchFamily="18" charset="0"/>
              </a:rPr>
              <a:t> 他励</a:t>
            </a:r>
            <a:r>
              <a:rPr lang="en-US" altLang="zh-CN" sz="2800" dirty="0">
                <a:latin typeface="楷体" panose="02010609060101010101" pitchFamily="49" charset="-122"/>
                <a:ea typeface="楷体" panose="02010609060101010101" pitchFamily="49" charset="-122"/>
                <a:cs typeface="Times New Roman" panose="02020603050405020304" pitchFamily="18" charset="0"/>
              </a:rPr>
              <a:t>DCM</a:t>
            </a:r>
            <a:r>
              <a:rPr lang="zh-CN" altLang="en-US" sz="2800" dirty="0">
                <a:latin typeface="楷体" panose="02010609060101010101" pitchFamily="49" charset="-122"/>
                <a:ea typeface="楷体" panose="02010609060101010101" pitchFamily="49" charset="-122"/>
                <a:cs typeface="Times New Roman" panose="02020603050405020304" pitchFamily="18" charset="0"/>
              </a:rPr>
              <a:t>的电枢电流与电磁转矩成正比关系，</a:t>
            </a:r>
            <a:endParaRPr lang="zh-CN" altLang="en-US" sz="2800" dirty="0">
              <a:latin typeface="楷体" panose="02010609060101010101" pitchFamily="49" charset="-122"/>
              <a:ea typeface="楷体" panose="02010609060101010101" pitchFamily="49" charset="-122"/>
            </a:endParaRPr>
          </a:p>
          <a:p>
            <a:pPr lvl="0" eaLnBrk="0" hangingPunct="0"/>
            <a:r>
              <a:rPr lang="zh-CN" altLang="en-US" sz="2800" dirty="0">
                <a:latin typeface="楷体" panose="02010609060101010101" pitchFamily="49" charset="-122"/>
                <a:ea typeface="楷体" panose="02010609060101010101" pitchFamily="49" charset="-122"/>
                <a:cs typeface="Times New Roman" panose="02020603050405020304" pitchFamily="18" charset="0"/>
              </a:rPr>
              <a:t>     机械特性和转速特性具有相同的形状。</a:t>
            </a:r>
            <a:endParaRPr lang="zh-CN" altLang="en-US" sz="2800" dirty="0">
              <a:latin typeface="楷体" panose="02010609060101010101" pitchFamily="49" charset="-122"/>
              <a:ea typeface="楷体" panose="02010609060101010101" pitchFamily="49" charset="-122"/>
            </a:endParaRPr>
          </a:p>
          <a:p>
            <a:pPr lvl="0" eaLnBrk="0" hangingPunct="0"/>
            <a:r>
              <a:rPr lang="zh-CN" altLang="en-US" sz="2800" dirty="0">
                <a:latin typeface="楷体" panose="02010609060101010101" pitchFamily="49" charset="-122"/>
                <a:ea typeface="楷体" panose="02010609060101010101" pitchFamily="49" charset="-122"/>
                <a:cs typeface="Times New Roman" panose="02020603050405020304" pitchFamily="18" charset="0"/>
              </a:rPr>
              <a:t>     因电流容易测量，故更常用转速特性讨论他励系统的性能。</a:t>
            </a:r>
            <a:endParaRPr lang="zh-CN" altLang="en-US" sz="2800" dirty="0">
              <a:latin typeface="楷体" panose="02010609060101010101" pitchFamily="49" charset="-122"/>
              <a:ea typeface="楷体" panose="02010609060101010101" pitchFamily="49" charset="-122"/>
            </a:endParaRPr>
          </a:p>
          <a:p>
            <a:endParaRPr lang="zh-CN" altLang="en-US" dirty="0"/>
          </a:p>
        </p:txBody>
      </p:sp>
      <p:sp>
        <p:nvSpPr>
          <p:cNvPr id="20" name="日期占位符 19">
            <a:extLst>
              <a:ext uri="{FF2B5EF4-FFF2-40B4-BE49-F238E27FC236}">
                <a16:creationId xmlns:a16="http://schemas.microsoft.com/office/drawing/2014/main" id="{2DF2AC5F-9F36-1CAB-A73E-A303AA2E6998}"/>
              </a:ext>
            </a:extLst>
          </p:cNvPr>
          <p:cNvSpPr>
            <a:spLocks noGrp="1"/>
          </p:cNvSpPr>
          <p:nvPr>
            <p:ph type="dt" sz="half" idx="10"/>
          </p:nvPr>
        </p:nvSpPr>
        <p:spPr>
          <a:xfrm>
            <a:off x="8244408" y="37952"/>
            <a:ext cx="792088" cy="476250"/>
          </a:xfrm>
        </p:spPr>
        <p:txBody>
          <a:bodyPr/>
          <a:lstStyle/>
          <a:p>
            <a:fld id="{EFE71F30-8785-4F2B-9B84-60799B48928A}" type="datetime10">
              <a:rPr lang="en-US" altLang="zh-CN" smtClean="0"/>
              <a:t>16:53</a:t>
            </a:fld>
            <a:endParaRPr lang="en-US" altLang="zh-CN" dirty="0"/>
          </a:p>
        </p:txBody>
      </p:sp>
      <p:sp>
        <p:nvSpPr>
          <p:cNvPr id="21" name="灯片编号占位符 20">
            <a:extLst>
              <a:ext uri="{FF2B5EF4-FFF2-40B4-BE49-F238E27FC236}">
                <a16:creationId xmlns:a16="http://schemas.microsoft.com/office/drawing/2014/main" id="{6ED71A8C-4056-1B4E-6338-50CEFD825118}"/>
              </a:ext>
            </a:extLst>
          </p:cNvPr>
          <p:cNvSpPr>
            <a:spLocks noGrp="1"/>
          </p:cNvSpPr>
          <p:nvPr>
            <p:ph type="sldNum" sz="quarter" idx="12"/>
          </p:nvPr>
        </p:nvSpPr>
        <p:spPr/>
        <p:txBody>
          <a:bodyPr/>
          <a:lstStyle/>
          <a:p>
            <a:fld id="{76D830B0-DF59-4281-898F-AF208100B213}" type="slidenum">
              <a:rPr lang="en-US" altLang="zh-CN" smtClean="0"/>
              <a:pPr/>
              <a:t>76</a:t>
            </a:fld>
            <a:endParaRPr lang="en-US" altLang="zh-CN"/>
          </a:p>
        </p:txBody>
      </p:sp>
    </p:spTree>
    <p:extLst>
      <p:ext uri="{BB962C8B-B14F-4D97-AF65-F5344CB8AC3E}">
        <p14:creationId xmlns:p14="http://schemas.microsoft.com/office/powerpoint/2010/main" val="1462302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946219650"/>
              </p:ext>
            </p:extLst>
          </p:nvPr>
        </p:nvGraphicFramePr>
        <p:xfrm>
          <a:off x="107504" y="1623814"/>
          <a:ext cx="5324475" cy="2381250"/>
        </p:xfrm>
        <a:graphic>
          <a:graphicData uri="http://schemas.openxmlformats.org/presentationml/2006/ole">
            <mc:AlternateContent xmlns:mc="http://schemas.openxmlformats.org/markup-compatibility/2006">
              <mc:Choice xmlns:v="urn:schemas-microsoft-com:vml" Requires="v">
                <p:oleObj r:id="rId2" imgW="2093913" imgH="933450" progId="MSDraw">
                  <p:embed/>
                </p:oleObj>
              </mc:Choice>
              <mc:Fallback>
                <p:oleObj r:id="rId2" imgW="2093913" imgH="933450" progId="MSDraw">
                  <p:embed/>
                  <p:pic>
                    <p:nvPicPr>
                      <p:cNvPr id="0" name="对象 4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04" y="1623814"/>
                        <a:ext cx="5324475" cy="2381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641973303"/>
              </p:ext>
            </p:extLst>
          </p:nvPr>
        </p:nvGraphicFramePr>
        <p:xfrm>
          <a:off x="5220072" y="1465560"/>
          <a:ext cx="3838575" cy="533400"/>
        </p:xfrm>
        <a:graphic>
          <a:graphicData uri="http://schemas.openxmlformats.org/presentationml/2006/ole">
            <mc:AlternateContent xmlns:mc="http://schemas.openxmlformats.org/markup-compatibility/2006">
              <mc:Choice xmlns:v="urn:schemas-microsoft-com:vml" Requires="v">
                <p:oleObj name="公式" r:id="rId4" imgW="1713756" imgH="241195" progId="Equation.3">
                  <p:embed/>
                </p:oleObj>
              </mc:Choice>
              <mc:Fallback>
                <p:oleObj name="公式" r:id="rId4" imgW="1713756" imgH="241195" progId="Equation.3">
                  <p:embed/>
                  <p:pic>
                    <p:nvPicPr>
                      <p:cNvPr id="0" name="对象 4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20072" y="1465560"/>
                        <a:ext cx="3838575"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78967007"/>
              </p:ext>
            </p:extLst>
          </p:nvPr>
        </p:nvGraphicFramePr>
        <p:xfrm>
          <a:off x="5641529" y="2339578"/>
          <a:ext cx="3609975" cy="4000500"/>
        </p:xfrm>
        <a:graphic>
          <a:graphicData uri="http://schemas.openxmlformats.org/presentationml/2006/ole">
            <mc:AlternateContent xmlns:mc="http://schemas.openxmlformats.org/markup-compatibility/2006">
              <mc:Choice xmlns:v="urn:schemas-microsoft-com:vml" Requires="v">
                <p:oleObj name="公式" r:id="rId6" imgW="1790700" imgH="1981200" progId="Equation.3">
                  <p:embed/>
                </p:oleObj>
              </mc:Choice>
              <mc:Fallback>
                <p:oleObj name="公式" r:id="rId6" imgW="1790700" imgH="1981200" progId="Equation.3">
                  <p:embed/>
                  <p:pic>
                    <p:nvPicPr>
                      <p:cNvPr id="0" name="对象 4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41529" y="2339578"/>
                        <a:ext cx="3609975" cy="4000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p:cNvSpPr>
            <a:spLocks noChangeArrowheads="1"/>
          </p:cNvSpPr>
          <p:nvPr/>
        </p:nvSpPr>
        <p:spPr bwMode="auto">
          <a:xfrm>
            <a:off x="107504" y="1025882"/>
            <a:ext cx="4464496"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串励</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式</a:t>
            </a:r>
            <a:r>
              <a:rPr kumimoji="0" lang="en-US"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DCM</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特性分析</a:t>
            </a: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6" name="Rectangle 5"/>
          <p:cNvSpPr>
            <a:spLocks noChangeArrowheads="1"/>
          </p:cNvSpPr>
          <p:nvPr/>
        </p:nvSpPr>
        <p:spPr bwMode="auto">
          <a:xfrm>
            <a:off x="45145" y="4181614"/>
            <a:ext cx="4493538"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磁路线性时：磁通与励磁电流即</a:t>
            </a:r>
            <a:endParaRPr kumimoji="0" lang="en-US" alt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电枢电流成正比。</a:t>
            </a:r>
            <a:endParaRPr kumimoji="0" 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7" name="Rectangle 6"/>
          <p:cNvSpPr>
            <a:spLocks noChangeArrowheads="1"/>
          </p:cNvSpPr>
          <p:nvPr/>
        </p:nvSpPr>
        <p:spPr bwMode="auto">
          <a:xfrm>
            <a:off x="107504" y="4995664"/>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7"/>
          <p:cNvSpPr>
            <a:spLocks noChangeArrowheads="1"/>
          </p:cNvSpPr>
          <p:nvPr/>
        </p:nvSpPr>
        <p:spPr bwMode="auto">
          <a:xfrm>
            <a:off x="4068" y="5038181"/>
            <a:ext cx="5109091"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转速特性</a:t>
            </a:r>
            <a:r>
              <a:rPr kumimoji="0" 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为双曲线方程：负载增大时</a:t>
            </a:r>
            <a:endParaRPr kumimoji="0" lang="en-US" alt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转速下降很快，特性很软。</a:t>
            </a:r>
            <a:endParaRPr kumimoji="0" lang="zh-CN" sz="8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磁路饱和时，负载增大磁通仅略微增</a:t>
            </a:r>
            <a:endParaRPr kumimoji="0" lang="en-US" alt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加，特性渐变硬，但仍比他励软</a:t>
            </a: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3" name="日期占位符 12">
            <a:extLst>
              <a:ext uri="{FF2B5EF4-FFF2-40B4-BE49-F238E27FC236}">
                <a16:creationId xmlns:a16="http://schemas.microsoft.com/office/drawing/2014/main" id="{D11497C6-31DD-7CD1-160D-D9473D61CBE8}"/>
              </a:ext>
            </a:extLst>
          </p:cNvPr>
          <p:cNvSpPr>
            <a:spLocks noGrp="1"/>
          </p:cNvSpPr>
          <p:nvPr>
            <p:ph type="dt" sz="half" idx="10"/>
          </p:nvPr>
        </p:nvSpPr>
        <p:spPr>
          <a:xfrm>
            <a:off x="8316416" y="-22125"/>
            <a:ext cx="742231" cy="476250"/>
          </a:xfrm>
        </p:spPr>
        <p:txBody>
          <a:bodyPr/>
          <a:lstStyle/>
          <a:p>
            <a:fld id="{82BDC317-D55A-4E88-BF78-8C5A4537510A}" type="datetime10">
              <a:rPr lang="en-US" altLang="zh-CN" smtClean="0"/>
              <a:t>16:53</a:t>
            </a:fld>
            <a:endParaRPr lang="en-US" altLang="zh-CN" dirty="0"/>
          </a:p>
        </p:txBody>
      </p:sp>
      <p:sp>
        <p:nvSpPr>
          <p:cNvPr id="14" name="灯片编号占位符 13">
            <a:extLst>
              <a:ext uri="{FF2B5EF4-FFF2-40B4-BE49-F238E27FC236}">
                <a16:creationId xmlns:a16="http://schemas.microsoft.com/office/drawing/2014/main" id="{7F77640B-1B83-7BCA-ABA1-F21776BBE6CA}"/>
              </a:ext>
            </a:extLst>
          </p:cNvPr>
          <p:cNvSpPr>
            <a:spLocks noGrp="1"/>
          </p:cNvSpPr>
          <p:nvPr>
            <p:ph type="sldNum" sz="quarter" idx="12"/>
          </p:nvPr>
        </p:nvSpPr>
        <p:spPr/>
        <p:txBody>
          <a:bodyPr/>
          <a:lstStyle/>
          <a:p>
            <a:fld id="{76D830B0-DF59-4281-898F-AF208100B213}" type="slidenum">
              <a:rPr lang="en-US" altLang="zh-CN" smtClean="0"/>
              <a:pPr/>
              <a:t>77</a:t>
            </a:fld>
            <a:endParaRPr lang="en-US" altLang="zh-CN"/>
          </a:p>
        </p:txBody>
      </p:sp>
    </p:spTree>
    <p:extLst>
      <p:ext uri="{BB962C8B-B14F-4D97-AF65-F5344CB8AC3E}">
        <p14:creationId xmlns:p14="http://schemas.microsoft.com/office/powerpoint/2010/main" val="270757499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105126316"/>
              </p:ext>
            </p:extLst>
          </p:nvPr>
        </p:nvGraphicFramePr>
        <p:xfrm>
          <a:off x="2645494" y="1351979"/>
          <a:ext cx="828675" cy="466725"/>
        </p:xfrm>
        <a:graphic>
          <a:graphicData uri="http://schemas.openxmlformats.org/presentationml/2006/ole">
            <mc:AlternateContent xmlns:mc="http://schemas.openxmlformats.org/markup-compatibility/2006">
              <mc:Choice xmlns:v="urn:schemas-microsoft-com:vml" Requires="v">
                <p:oleObj name="公式" r:id="rId2" imgW="419100" imgH="228600" progId="Equation.3">
                  <p:embed/>
                </p:oleObj>
              </mc:Choice>
              <mc:Fallback>
                <p:oleObj name="公式" r:id="rId2" imgW="419100" imgH="228600" progId="Equation.3">
                  <p:embed/>
                  <p:pic>
                    <p:nvPicPr>
                      <p:cNvPr id="0" name="对象 4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5494" y="1351979"/>
                        <a:ext cx="828675"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773224581"/>
              </p:ext>
            </p:extLst>
          </p:nvPr>
        </p:nvGraphicFramePr>
        <p:xfrm>
          <a:off x="3347864" y="2537239"/>
          <a:ext cx="5038725" cy="476250"/>
        </p:xfrm>
        <a:graphic>
          <a:graphicData uri="http://schemas.openxmlformats.org/presentationml/2006/ole">
            <mc:AlternateContent xmlns:mc="http://schemas.openxmlformats.org/markup-compatibility/2006">
              <mc:Choice xmlns:v="urn:schemas-microsoft-com:vml" Requires="v">
                <p:oleObj name="公式" r:id="rId4" imgW="2336800" imgH="228600" progId="Equation.3">
                  <p:embed/>
                </p:oleObj>
              </mc:Choice>
              <mc:Fallback>
                <p:oleObj name="公式" r:id="rId4" imgW="2336800" imgH="228600" progId="Equation.3">
                  <p:embed/>
                  <p:pic>
                    <p:nvPicPr>
                      <p:cNvPr id="0" name="对象 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47864" y="2537239"/>
                        <a:ext cx="5038725" cy="47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11806698"/>
              </p:ext>
            </p:extLst>
          </p:nvPr>
        </p:nvGraphicFramePr>
        <p:xfrm>
          <a:off x="4427984" y="3561686"/>
          <a:ext cx="876300" cy="381000"/>
        </p:xfrm>
        <a:graphic>
          <a:graphicData uri="http://schemas.openxmlformats.org/presentationml/2006/ole">
            <mc:AlternateContent xmlns:mc="http://schemas.openxmlformats.org/markup-compatibility/2006">
              <mc:Choice xmlns:v="urn:schemas-microsoft-com:vml" Requires="v">
                <p:oleObj name="公式" r:id="rId6" imgW="507339" imgH="215619" progId="Equation.3">
                  <p:embed/>
                </p:oleObj>
              </mc:Choice>
              <mc:Fallback>
                <p:oleObj name="公式" r:id="rId6" imgW="507339" imgH="215619" progId="Equation.3">
                  <p:embed/>
                  <p:pic>
                    <p:nvPicPr>
                      <p:cNvPr id="0" name="对象 4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27984" y="3561686"/>
                        <a:ext cx="8763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p:cNvSpPr>
            <a:spLocks noChangeArrowheads="1"/>
          </p:cNvSpPr>
          <p:nvPr/>
        </p:nvSpPr>
        <p:spPr bwMode="auto">
          <a:xfrm>
            <a:off x="251520" y="870164"/>
            <a:ext cx="3456384"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3200" b="0" i="0" u="none" strike="noStrike" cap="none" normalizeH="0" baseline="0" dirty="0">
                <a:ln>
                  <a:noFill/>
                </a:ln>
                <a:solidFill>
                  <a:srgbClr val="C00000"/>
                </a:solidFill>
                <a:effectLst/>
                <a:latin typeface="楷体" panose="02010609060101010101" pitchFamily="49" charset="-122"/>
                <a:ea typeface="楷体" panose="02010609060101010101" pitchFamily="49" charset="-122"/>
                <a:cs typeface="Times New Roman" panose="02020603050405020304" pitchFamily="18" charset="0"/>
              </a:rPr>
              <a:t>串励式</a:t>
            </a:r>
            <a:r>
              <a:rPr kumimoji="0" lang="en-US" altLang="zh-CN" sz="3200" b="0" i="0" u="none" strike="noStrike" cap="none" normalizeH="0" baseline="0" dirty="0">
                <a:ln>
                  <a:noFill/>
                </a:ln>
                <a:solidFill>
                  <a:srgbClr val="C00000"/>
                </a:solidFill>
                <a:effectLst/>
                <a:latin typeface="楷体" panose="02010609060101010101" pitchFamily="49" charset="-122"/>
                <a:ea typeface="楷体" panose="02010609060101010101" pitchFamily="49" charset="-122"/>
                <a:cs typeface="Times New Roman" panose="02020603050405020304" pitchFamily="18" charset="0"/>
              </a:rPr>
              <a:t>DCM</a:t>
            </a:r>
            <a:r>
              <a:rPr kumimoji="0" lang="zh-CN" sz="3200" b="0" i="0" u="none" strike="noStrike" cap="none" normalizeH="0" baseline="0" dirty="0">
                <a:ln>
                  <a:noFill/>
                </a:ln>
                <a:solidFill>
                  <a:srgbClr val="C00000"/>
                </a:solidFill>
                <a:effectLst/>
                <a:latin typeface="楷体" panose="02010609060101010101" pitchFamily="49" charset="-122"/>
                <a:ea typeface="楷体" panose="02010609060101010101" pitchFamily="49" charset="-122"/>
                <a:cs typeface="Times New Roman" panose="02020603050405020304" pitchFamily="18" charset="0"/>
              </a:rPr>
              <a:t>特点</a:t>
            </a:r>
            <a:r>
              <a:rPr kumimoji="0" lang="zh-CN" sz="32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a:t>
            </a:r>
            <a:endParaRPr kumimoji="0" lang="zh-CN" sz="32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a:t>
            </a:r>
            <a:r>
              <a:rPr kumimoji="0" 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空载或轻载时，</a:t>
            </a:r>
            <a:endParaRPr kumimoji="0" lang="zh-CN" sz="18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p:txBody>
      </p:sp>
      <p:sp>
        <p:nvSpPr>
          <p:cNvPr id="6" name="Rectangle 5"/>
          <p:cNvSpPr>
            <a:spLocks noChangeArrowheads="1"/>
          </p:cNvSpPr>
          <p:nvPr/>
        </p:nvSpPr>
        <p:spPr bwMode="auto">
          <a:xfrm>
            <a:off x="242516" y="1798542"/>
            <a:ext cx="757130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危险：串励电动机不容许空载运行，不容许采用皮带等</a:t>
            </a:r>
            <a:endParaRPr kumimoji="0" lang="en-US" alt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易滑脱的传动机构。</a:t>
            </a:r>
            <a:endPar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   </a:t>
            </a:r>
            <a:r>
              <a:rPr kumimoji="0" lang="en-US" alt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GB755-87</a:t>
            </a:r>
            <a:r>
              <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规定：</a:t>
            </a:r>
            <a:endPar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p:txBody>
      </p:sp>
      <p:sp>
        <p:nvSpPr>
          <p:cNvPr id="7" name="Rectangle 6"/>
          <p:cNvSpPr>
            <a:spLocks noChangeArrowheads="1"/>
          </p:cNvSpPr>
          <p:nvPr/>
        </p:nvSpPr>
        <p:spPr bwMode="auto">
          <a:xfrm>
            <a:off x="242516" y="2775364"/>
            <a:ext cx="868436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起动转矩较大</a:t>
            </a:r>
            <a:endParaRPr kumimoji="0" 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p>
            <a:pPr marL="342900" indent="-342900" eaLnBrk="0" hangingPunct="0">
              <a:buFont typeface="Arial" panose="020B0604020202020204" pitchFamily="34" charset="0"/>
              <a:buChar char="•"/>
            </a:pPr>
            <a:r>
              <a:rPr kumimoji="0" 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过载时</a:t>
            </a:r>
            <a:r>
              <a:rPr kumimoji="0" lang="en-US" alt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n</a:t>
            </a:r>
            <a:r>
              <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下降较大，输出功率     </a:t>
            </a:r>
            <a:r>
              <a:rPr lang="zh-CN" altLang="zh-CN" sz="2400" dirty="0">
                <a:latin typeface="楷体" panose="02010609060101010101" pitchFamily="49" charset="-122"/>
                <a:ea typeface="楷体" panose="02010609060101010101" pitchFamily="49" charset="-122"/>
                <a:cs typeface="Times New Roman" panose="02020603050405020304" pitchFamily="18" charset="0"/>
              </a:rPr>
              <a:t>变化不大，可避免电机受损</a:t>
            </a:r>
            <a:endParaRPr lang="zh-CN" altLang="zh-CN" sz="800" dirty="0">
              <a:latin typeface="楷体" panose="02010609060101010101" pitchFamily="49" charset="-122"/>
              <a:ea typeface="楷体" panose="02010609060101010101" pitchFamily="49" charset="-122"/>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p:txBody>
      </p:sp>
      <p:sp>
        <p:nvSpPr>
          <p:cNvPr id="8" name="Rectangle 7"/>
          <p:cNvSpPr>
            <a:spLocks noChangeArrowheads="1"/>
          </p:cNvSpPr>
          <p:nvPr/>
        </p:nvSpPr>
        <p:spPr bwMode="auto">
          <a:xfrm>
            <a:off x="251520" y="4407693"/>
            <a:ext cx="664797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负载减轻时转速可自动回升，适用于电力机车。</a:t>
            </a:r>
            <a:endParaRPr kumimoji="0" lang="zh-CN" altLang="en-US" sz="18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p:txBody>
      </p:sp>
      <p:sp>
        <p:nvSpPr>
          <p:cNvPr id="9" name="矩形 8"/>
          <p:cNvSpPr/>
          <p:nvPr/>
        </p:nvSpPr>
        <p:spPr>
          <a:xfrm>
            <a:off x="3474169" y="1347217"/>
            <a:ext cx="4339650" cy="461665"/>
          </a:xfrm>
          <a:prstGeom prst="rect">
            <a:avLst/>
          </a:prstGeom>
        </p:spPr>
        <p:txBody>
          <a:bodyPr wrap="none">
            <a:spAutoFit/>
          </a:bodyPr>
          <a:lstStyle/>
          <a:p>
            <a:pPr lvl="0" eaLnBrk="0" hangingPunct="0"/>
            <a:r>
              <a:rPr lang="zh-CN" altLang="zh-CN" sz="2400" dirty="0">
                <a:latin typeface="楷体" panose="02010609060101010101" pitchFamily="49" charset="-122"/>
                <a:ea typeface="楷体" panose="02010609060101010101" pitchFamily="49" charset="-122"/>
                <a:cs typeface="Times New Roman" panose="02020603050405020304" pitchFamily="18" charset="0"/>
              </a:rPr>
              <a:t>很小，导致</a:t>
            </a:r>
            <a:r>
              <a:rPr lang="en-US" altLang="zh-CN" sz="2400" dirty="0">
                <a:latin typeface="楷体" panose="02010609060101010101" pitchFamily="49" charset="-122"/>
                <a:ea typeface="楷体" panose="02010609060101010101" pitchFamily="49" charset="-122"/>
                <a:cs typeface="Times New Roman" panose="02020603050405020304" pitchFamily="18" charset="0"/>
              </a:rPr>
              <a:t>n</a:t>
            </a:r>
            <a:r>
              <a:rPr lang="zh-CN" altLang="en-US" sz="2400" dirty="0">
                <a:latin typeface="楷体" panose="02010609060101010101" pitchFamily="49" charset="-122"/>
                <a:ea typeface="楷体" panose="02010609060101010101" pitchFamily="49" charset="-122"/>
                <a:cs typeface="Times New Roman" panose="02020603050405020304" pitchFamily="18" charset="0"/>
              </a:rPr>
              <a:t>非常高（飞车），</a:t>
            </a:r>
            <a:endParaRPr lang="zh-CN" altLang="en-US" sz="2400" dirty="0">
              <a:latin typeface="楷体" panose="02010609060101010101" pitchFamily="49" charset="-122"/>
              <a:ea typeface="楷体" panose="02010609060101010101" pitchFamily="49" charset="-122"/>
            </a:endParaRPr>
          </a:p>
        </p:txBody>
      </p:sp>
      <p:sp>
        <p:nvSpPr>
          <p:cNvPr id="14" name="日期占位符 13">
            <a:extLst>
              <a:ext uri="{FF2B5EF4-FFF2-40B4-BE49-F238E27FC236}">
                <a16:creationId xmlns:a16="http://schemas.microsoft.com/office/drawing/2014/main" id="{7D950A2E-A466-C05D-9704-A675A5FECEFC}"/>
              </a:ext>
            </a:extLst>
          </p:cNvPr>
          <p:cNvSpPr>
            <a:spLocks noGrp="1"/>
          </p:cNvSpPr>
          <p:nvPr>
            <p:ph type="dt" sz="half" idx="10"/>
          </p:nvPr>
        </p:nvSpPr>
        <p:spPr>
          <a:xfrm>
            <a:off x="8172400" y="542"/>
            <a:ext cx="864096" cy="476250"/>
          </a:xfrm>
        </p:spPr>
        <p:txBody>
          <a:bodyPr/>
          <a:lstStyle/>
          <a:p>
            <a:fld id="{3FC00624-BDA9-4826-9E44-30D3798F5A7E}" type="datetime10">
              <a:rPr lang="en-US" altLang="zh-CN" smtClean="0"/>
              <a:t>16:53</a:t>
            </a:fld>
            <a:endParaRPr lang="en-US" altLang="zh-CN" dirty="0"/>
          </a:p>
        </p:txBody>
      </p:sp>
      <p:sp>
        <p:nvSpPr>
          <p:cNvPr id="15" name="灯片编号占位符 14">
            <a:extLst>
              <a:ext uri="{FF2B5EF4-FFF2-40B4-BE49-F238E27FC236}">
                <a16:creationId xmlns:a16="http://schemas.microsoft.com/office/drawing/2014/main" id="{1235D0CE-034E-08C7-DC27-FDB7CE46E0FE}"/>
              </a:ext>
            </a:extLst>
          </p:cNvPr>
          <p:cNvSpPr>
            <a:spLocks noGrp="1"/>
          </p:cNvSpPr>
          <p:nvPr>
            <p:ph type="sldNum" sz="quarter" idx="12"/>
          </p:nvPr>
        </p:nvSpPr>
        <p:spPr/>
        <p:txBody>
          <a:bodyPr/>
          <a:lstStyle/>
          <a:p>
            <a:fld id="{76D830B0-DF59-4281-898F-AF208100B213}" type="slidenum">
              <a:rPr lang="en-US" altLang="zh-CN" smtClean="0"/>
              <a:pPr/>
              <a:t>78</a:t>
            </a:fld>
            <a:endParaRPr lang="en-US" altLang="zh-CN"/>
          </a:p>
        </p:txBody>
      </p:sp>
    </p:spTree>
    <p:extLst>
      <p:ext uri="{BB962C8B-B14F-4D97-AF65-F5344CB8AC3E}">
        <p14:creationId xmlns:p14="http://schemas.microsoft.com/office/powerpoint/2010/main" val="75153820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6965396"/>
              </p:ext>
            </p:extLst>
          </p:nvPr>
        </p:nvGraphicFramePr>
        <p:xfrm>
          <a:off x="4788024" y="995116"/>
          <a:ext cx="990600" cy="390525"/>
        </p:xfrm>
        <a:graphic>
          <a:graphicData uri="http://schemas.openxmlformats.org/presentationml/2006/ole">
            <mc:AlternateContent xmlns:mc="http://schemas.openxmlformats.org/markup-compatibility/2006">
              <mc:Choice xmlns:v="urn:schemas-microsoft-com:vml" Requires="v">
                <p:oleObj name="公式" r:id="rId2" imgW="583947" imgH="228501" progId="Equation.3">
                  <p:embed/>
                </p:oleObj>
              </mc:Choice>
              <mc:Fallback>
                <p:oleObj name="公式" r:id="rId2" imgW="583947" imgH="228501" progId="Equation.3">
                  <p:embed/>
                  <p:pic>
                    <p:nvPicPr>
                      <p:cNvPr id="0" name="对象 4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8024" y="995116"/>
                        <a:ext cx="990600"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369055452"/>
              </p:ext>
            </p:extLst>
          </p:nvPr>
        </p:nvGraphicFramePr>
        <p:xfrm>
          <a:off x="5813549" y="995116"/>
          <a:ext cx="1228725" cy="371475"/>
        </p:xfrm>
        <a:graphic>
          <a:graphicData uri="http://schemas.openxmlformats.org/presentationml/2006/ole">
            <mc:AlternateContent xmlns:mc="http://schemas.openxmlformats.org/markup-compatibility/2006">
              <mc:Choice xmlns:v="urn:schemas-microsoft-com:vml" Requires="v">
                <p:oleObj name="公式" r:id="rId4" imgW="774364" imgH="228501" progId="Equation.3">
                  <p:embed/>
                </p:oleObj>
              </mc:Choice>
              <mc:Fallback>
                <p:oleObj name="公式" r:id="rId4" imgW="774364" imgH="228501" progId="Equation.3">
                  <p:embed/>
                  <p:pic>
                    <p:nvPicPr>
                      <p:cNvPr id="0" name="对象 4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13549" y="995116"/>
                        <a:ext cx="1228725"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918695631"/>
              </p:ext>
            </p:extLst>
          </p:nvPr>
        </p:nvGraphicFramePr>
        <p:xfrm>
          <a:off x="7077199" y="995116"/>
          <a:ext cx="1088851" cy="306491"/>
        </p:xfrm>
        <a:graphic>
          <a:graphicData uri="http://schemas.openxmlformats.org/presentationml/2006/ole">
            <mc:AlternateContent xmlns:mc="http://schemas.openxmlformats.org/markup-compatibility/2006">
              <mc:Choice xmlns:v="urn:schemas-microsoft-com:vml" Requires="v">
                <p:oleObj name="公式" r:id="rId6" imgW="659255" imgH="177492" progId="Equation.3">
                  <p:embed/>
                </p:oleObj>
              </mc:Choice>
              <mc:Fallback>
                <p:oleObj name="公式" r:id="rId6" imgW="659255" imgH="177492" progId="Equation.3">
                  <p:embed/>
                  <p:pic>
                    <p:nvPicPr>
                      <p:cNvPr id="0" name="对象 4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77199" y="995116"/>
                        <a:ext cx="1088851" cy="306491"/>
                      </a:xfrm>
                      <a:prstGeom prst="rect">
                        <a:avLst/>
                      </a:prstGeom>
                      <a:no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746272102"/>
              </p:ext>
            </p:extLst>
          </p:nvPr>
        </p:nvGraphicFramePr>
        <p:xfrm>
          <a:off x="7434416" y="1386241"/>
          <a:ext cx="731634" cy="428301"/>
        </p:xfrm>
        <a:graphic>
          <a:graphicData uri="http://schemas.openxmlformats.org/presentationml/2006/ole">
            <mc:AlternateContent xmlns:mc="http://schemas.openxmlformats.org/markup-compatibility/2006">
              <mc:Choice xmlns:v="urn:schemas-microsoft-com:vml" Requires="v">
                <p:oleObj name="公式" r:id="rId8" imgW="558720" imgH="317160" progId="Equation.3">
                  <p:embed/>
                </p:oleObj>
              </mc:Choice>
              <mc:Fallback>
                <p:oleObj name="公式" r:id="rId8" imgW="558720" imgH="317160" progId="Equation.3">
                  <p:embed/>
                  <p:pic>
                    <p:nvPicPr>
                      <p:cNvPr id="0" name="对象 49"/>
                      <p:cNvPicPr>
                        <a:picLocks noChangeAspect="1" noChangeArrowheads="1"/>
                      </p:cNvPicPr>
                      <p:nvPr/>
                    </p:nvPicPr>
                    <p:blipFill>
                      <a:blip r:embed="rId9"/>
                      <a:srcRect/>
                      <a:stretch>
                        <a:fillRect/>
                      </a:stretch>
                    </p:blipFill>
                    <p:spPr bwMode="auto">
                      <a:xfrm>
                        <a:off x="7434416" y="1386241"/>
                        <a:ext cx="731634" cy="428301"/>
                      </a:xfrm>
                      <a:prstGeom prst="rect">
                        <a:avLst/>
                      </a:prstGeom>
                      <a:no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319222420"/>
              </p:ext>
            </p:extLst>
          </p:nvPr>
        </p:nvGraphicFramePr>
        <p:xfrm>
          <a:off x="6805957" y="1787575"/>
          <a:ext cx="733425" cy="438150"/>
        </p:xfrm>
        <a:graphic>
          <a:graphicData uri="http://schemas.openxmlformats.org/presentationml/2006/ole">
            <mc:AlternateContent xmlns:mc="http://schemas.openxmlformats.org/markup-compatibility/2006">
              <mc:Choice xmlns:v="urn:schemas-microsoft-com:vml" Requires="v">
                <p:oleObj name="公式" r:id="rId10" imgW="393529" imgH="228501" progId="Equation.3">
                  <p:embed/>
                </p:oleObj>
              </mc:Choice>
              <mc:Fallback>
                <p:oleObj name="公式" r:id="rId10" imgW="393529" imgH="228501" progId="Equation.3">
                  <p:embed/>
                  <p:pic>
                    <p:nvPicPr>
                      <p:cNvPr id="0" name="对象 5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05957" y="1787575"/>
                        <a:ext cx="733425"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160383190"/>
              </p:ext>
            </p:extLst>
          </p:nvPr>
        </p:nvGraphicFramePr>
        <p:xfrm>
          <a:off x="1157287" y="2927183"/>
          <a:ext cx="339773" cy="386409"/>
        </p:xfrm>
        <a:graphic>
          <a:graphicData uri="http://schemas.openxmlformats.org/presentationml/2006/ole">
            <mc:AlternateContent xmlns:mc="http://schemas.openxmlformats.org/markup-compatibility/2006">
              <mc:Choice xmlns:v="urn:schemas-microsoft-com:vml" Requires="v">
                <p:oleObj name="公式" r:id="rId12" imgW="203024" imgH="228402" progId="Equation.3">
                  <p:embed/>
                </p:oleObj>
              </mc:Choice>
              <mc:Fallback>
                <p:oleObj name="公式" r:id="rId12" imgW="203024" imgH="228402" progId="Equation.3">
                  <p:embed/>
                  <p:pic>
                    <p:nvPicPr>
                      <p:cNvPr id="0" name="对象 5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57287" y="2927183"/>
                        <a:ext cx="339773" cy="386409"/>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579330264"/>
              </p:ext>
            </p:extLst>
          </p:nvPr>
        </p:nvGraphicFramePr>
        <p:xfrm>
          <a:off x="147637" y="3266671"/>
          <a:ext cx="3038475" cy="476250"/>
        </p:xfrm>
        <a:graphic>
          <a:graphicData uri="http://schemas.openxmlformats.org/presentationml/2006/ole">
            <mc:AlternateContent xmlns:mc="http://schemas.openxmlformats.org/markup-compatibility/2006">
              <mc:Choice xmlns:v="urn:schemas-microsoft-com:vml" Requires="v">
                <p:oleObj name="公式" r:id="rId14" imgW="1473200" imgH="228600" progId="Equation.3">
                  <p:embed/>
                </p:oleObj>
              </mc:Choice>
              <mc:Fallback>
                <p:oleObj name="公式" r:id="rId14" imgW="1473200" imgH="228600" progId="Equation.3">
                  <p:embed/>
                  <p:pic>
                    <p:nvPicPr>
                      <p:cNvPr id="0" name="对象 5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47637" y="3266671"/>
                        <a:ext cx="3038475" cy="47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4159474209"/>
              </p:ext>
            </p:extLst>
          </p:nvPr>
        </p:nvGraphicFramePr>
        <p:xfrm>
          <a:off x="3370907" y="3217325"/>
          <a:ext cx="5581650" cy="619125"/>
        </p:xfrm>
        <a:graphic>
          <a:graphicData uri="http://schemas.openxmlformats.org/presentationml/2006/ole">
            <mc:AlternateContent xmlns:mc="http://schemas.openxmlformats.org/markup-compatibility/2006">
              <mc:Choice xmlns:v="urn:schemas-microsoft-com:vml" Requires="v">
                <p:oleObj name="公式" r:id="rId16" imgW="3605235" imgH="393529" progId="Equation.3">
                  <p:embed/>
                </p:oleObj>
              </mc:Choice>
              <mc:Fallback>
                <p:oleObj name="公式" r:id="rId16" imgW="3605235" imgH="393529" progId="Equation.3">
                  <p:embed/>
                  <p:pic>
                    <p:nvPicPr>
                      <p:cNvPr id="0" name="对象 5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370907" y="3217325"/>
                        <a:ext cx="5581650" cy="619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3203256200"/>
              </p:ext>
            </p:extLst>
          </p:nvPr>
        </p:nvGraphicFramePr>
        <p:xfrm>
          <a:off x="242887" y="3758180"/>
          <a:ext cx="4886325" cy="752475"/>
        </p:xfrm>
        <a:graphic>
          <a:graphicData uri="http://schemas.openxmlformats.org/presentationml/2006/ole">
            <mc:AlternateContent xmlns:mc="http://schemas.openxmlformats.org/markup-compatibility/2006">
              <mc:Choice xmlns:v="urn:schemas-microsoft-com:vml" Requires="v">
                <p:oleObj name="公式" r:id="rId18" imgW="2818177" imgH="431613" progId="Equation.3">
                  <p:embed/>
                </p:oleObj>
              </mc:Choice>
              <mc:Fallback>
                <p:oleObj name="公式" r:id="rId18" imgW="2818177" imgH="431613" progId="Equation.3">
                  <p:embed/>
                  <p:pic>
                    <p:nvPicPr>
                      <p:cNvPr id="0" name="对象 5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42887" y="3758180"/>
                        <a:ext cx="4886325" cy="752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20580179"/>
              </p:ext>
            </p:extLst>
          </p:nvPr>
        </p:nvGraphicFramePr>
        <p:xfrm>
          <a:off x="4972049" y="4409416"/>
          <a:ext cx="285750" cy="428625"/>
        </p:xfrm>
        <a:graphic>
          <a:graphicData uri="http://schemas.openxmlformats.org/presentationml/2006/ole">
            <mc:AlternateContent xmlns:mc="http://schemas.openxmlformats.org/markup-compatibility/2006">
              <mc:Choice xmlns:v="urn:schemas-microsoft-com:vml" Requires="v">
                <p:oleObj name="公式" r:id="rId20" imgW="152268" imgH="228402" progId="Equation.3">
                  <p:embed/>
                </p:oleObj>
              </mc:Choice>
              <mc:Fallback>
                <p:oleObj name="公式" r:id="rId20" imgW="152268" imgH="228402" progId="Equation.3">
                  <p:embed/>
                  <p:pic>
                    <p:nvPicPr>
                      <p:cNvPr id="0" name="对象 5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972049" y="4409416"/>
                        <a:ext cx="285750"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3239744643"/>
              </p:ext>
            </p:extLst>
          </p:nvPr>
        </p:nvGraphicFramePr>
        <p:xfrm>
          <a:off x="524109" y="4926686"/>
          <a:ext cx="1945902" cy="448438"/>
        </p:xfrm>
        <a:graphic>
          <a:graphicData uri="http://schemas.openxmlformats.org/presentationml/2006/ole">
            <mc:AlternateContent xmlns:mc="http://schemas.openxmlformats.org/markup-compatibility/2006">
              <mc:Choice xmlns:v="urn:schemas-microsoft-com:vml" Requires="v">
                <p:oleObj name="公式" r:id="rId22" imgW="1066337" imgH="241195" progId="Equation.3">
                  <p:embed/>
                </p:oleObj>
              </mc:Choice>
              <mc:Fallback>
                <p:oleObj name="公式" r:id="rId22" imgW="1066337" imgH="241195" progId="Equation.3">
                  <p:embed/>
                  <p:pic>
                    <p:nvPicPr>
                      <p:cNvPr id="0" name="对象 5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24109" y="4926686"/>
                        <a:ext cx="1945902" cy="448438"/>
                      </a:xfrm>
                      <a:prstGeom prst="rect">
                        <a:avLst/>
                      </a:prstGeom>
                      <a:noFill/>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2696209019"/>
              </p:ext>
            </p:extLst>
          </p:nvPr>
        </p:nvGraphicFramePr>
        <p:xfrm>
          <a:off x="5084559" y="4917411"/>
          <a:ext cx="1826538" cy="418414"/>
        </p:xfrm>
        <a:graphic>
          <a:graphicData uri="http://schemas.openxmlformats.org/presentationml/2006/ole">
            <mc:AlternateContent xmlns:mc="http://schemas.openxmlformats.org/markup-compatibility/2006">
              <mc:Choice xmlns:v="urn:schemas-microsoft-com:vml" Requires="v">
                <p:oleObj name="公式" r:id="rId24" imgW="1066337" imgH="241195" progId="Equation.3">
                  <p:embed/>
                </p:oleObj>
              </mc:Choice>
              <mc:Fallback>
                <p:oleObj name="公式" r:id="rId24" imgW="1066337" imgH="241195" progId="Equation.3">
                  <p:embed/>
                  <p:pic>
                    <p:nvPicPr>
                      <p:cNvPr id="0" name="对象 57"/>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084559" y="4917411"/>
                        <a:ext cx="1826538" cy="418414"/>
                      </a:xfrm>
                      <a:prstGeom prst="rect">
                        <a:avLst/>
                      </a:prstGeom>
                      <a:noFill/>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1550312790"/>
              </p:ext>
            </p:extLst>
          </p:nvPr>
        </p:nvGraphicFramePr>
        <p:xfrm>
          <a:off x="6955946" y="4967081"/>
          <a:ext cx="2207179" cy="361949"/>
        </p:xfrm>
        <a:graphic>
          <a:graphicData uri="http://schemas.openxmlformats.org/presentationml/2006/ole">
            <mc:AlternateContent xmlns:mc="http://schemas.openxmlformats.org/markup-compatibility/2006">
              <mc:Choice xmlns:v="urn:schemas-microsoft-com:vml" Requires="v">
                <p:oleObj name="公式" r:id="rId26" imgW="1409700" imgH="228600" progId="Equation.3">
                  <p:embed/>
                </p:oleObj>
              </mc:Choice>
              <mc:Fallback>
                <p:oleObj name="公式" r:id="rId26" imgW="1409700" imgH="228600" progId="Equation.3">
                  <p:embed/>
                  <p:pic>
                    <p:nvPicPr>
                      <p:cNvPr id="0" name="对象 58"/>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6955946" y="4967081"/>
                        <a:ext cx="2207179" cy="361949"/>
                      </a:xfrm>
                      <a:prstGeom prst="rect">
                        <a:avLst/>
                      </a:prstGeom>
                      <a:noFill/>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1495852923"/>
              </p:ext>
            </p:extLst>
          </p:nvPr>
        </p:nvGraphicFramePr>
        <p:xfrm>
          <a:off x="532232" y="5375360"/>
          <a:ext cx="942975" cy="476250"/>
        </p:xfrm>
        <a:graphic>
          <a:graphicData uri="http://schemas.openxmlformats.org/presentationml/2006/ole">
            <mc:AlternateContent xmlns:mc="http://schemas.openxmlformats.org/markup-compatibility/2006">
              <mc:Choice xmlns:v="urn:schemas-microsoft-com:vml" Requires="v">
                <p:oleObj name="公式" r:id="rId28" imgW="482391" imgH="228501" progId="Equation.3">
                  <p:embed/>
                </p:oleObj>
              </mc:Choice>
              <mc:Fallback>
                <p:oleObj name="公式" r:id="rId28" imgW="482391" imgH="228501" progId="Equation.3">
                  <p:embed/>
                  <p:pic>
                    <p:nvPicPr>
                      <p:cNvPr id="0" name="对象 59"/>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532232" y="5375360"/>
                        <a:ext cx="942975" cy="47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2747757989"/>
              </p:ext>
            </p:extLst>
          </p:nvPr>
        </p:nvGraphicFramePr>
        <p:xfrm>
          <a:off x="442015" y="5848404"/>
          <a:ext cx="5215218" cy="825983"/>
        </p:xfrm>
        <a:graphic>
          <a:graphicData uri="http://schemas.openxmlformats.org/presentationml/2006/ole">
            <mc:AlternateContent xmlns:mc="http://schemas.openxmlformats.org/markup-compatibility/2006">
              <mc:Choice xmlns:v="urn:schemas-microsoft-com:vml" Requires="v">
                <p:oleObj name="公式" r:id="rId30" imgW="2742010" imgH="431613" progId="Equation.3">
                  <p:embed/>
                </p:oleObj>
              </mc:Choice>
              <mc:Fallback>
                <p:oleObj name="公式" r:id="rId30" imgW="2742010" imgH="431613" progId="Equation.3">
                  <p:embed/>
                  <p:pic>
                    <p:nvPicPr>
                      <p:cNvPr id="0" name="对象 60"/>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42015" y="5848404"/>
                        <a:ext cx="5215218" cy="825983"/>
                      </a:xfrm>
                      <a:prstGeom prst="rect">
                        <a:avLst/>
                      </a:prstGeom>
                      <a:noFill/>
                    </p:spPr>
                  </p:pic>
                </p:oleObj>
              </mc:Fallback>
            </mc:AlternateContent>
          </a:graphicData>
        </a:graphic>
      </p:graphicFrame>
      <p:sp>
        <p:nvSpPr>
          <p:cNvPr id="17" name="Rectangle 16"/>
          <p:cNvSpPr>
            <a:spLocks noChangeArrowheads="1"/>
          </p:cNvSpPr>
          <p:nvPr/>
        </p:nvSpPr>
        <p:spPr bwMode="auto">
          <a:xfrm>
            <a:off x="0" y="906488"/>
            <a:ext cx="510909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例：</a:t>
            </a:r>
            <a:r>
              <a:rPr kumimoji="0" lang="en-US" alt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DCM</a:t>
            </a:r>
            <a:r>
              <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在某转矩时的</a:t>
            </a:r>
            <a:r>
              <a:rPr kumimoji="0" lang="en-US" alt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n=1000r/min</a:t>
            </a:r>
            <a:r>
              <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p:txBody>
      </p:sp>
      <p:sp>
        <p:nvSpPr>
          <p:cNvPr id="20" name="Rectangle 19"/>
          <p:cNvSpPr>
            <a:spLocks noChangeArrowheads="1"/>
          </p:cNvSpPr>
          <p:nvPr/>
        </p:nvSpPr>
        <p:spPr bwMode="auto">
          <a:xfrm>
            <a:off x="0" y="1247967"/>
            <a:ext cx="882047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1</a:t>
            </a:r>
            <a:r>
              <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、他励工作时，若输出转矩增大到原来</a:t>
            </a:r>
            <a:r>
              <a:rPr kumimoji="0" lang="en-US" alt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4</a:t>
            </a:r>
            <a:r>
              <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倍，求此时的</a:t>
            </a:r>
            <a:endParaRPr kumimoji="0" lang="zh-CN" altLang="en-US" sz="18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p:txBody>
      </p:sp>
      <p:sp>
        <p:nvSpPr>
          <p:cNvPr id="21" name="Rectangle 20"/>
          <p:cNvSpPr>
            <a:spLocks noChangeArrowheads="1"/>
          </p:cNvSpPr>
          <p:nvPr/>
        </p:nvSpPr>
        <p:spPr bwMode="auto">
          <a:xfrm>
            <a:off x="0" y="1775818"/>
            <a:ext cx="69557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2</a:t>
            </a:r>
            <a:r>
              <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、串励工作时，若转矩增大到原来</a:t>
            </a:r>
            <a:r>
              <a:rPr kumimoji="0" lang="en-US" alt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4</a:t>
            </a:r>
            <a:r>
              <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倍，求此时的</a:t>
            </a:r>
            <a:endParaRPr kumimoji="0" lang="zh-CN" altLang="en-US" sz="18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p:txBody>
      </p:sp>
      <p:sp>
        <p:nvSpPr>
          <p:cNvPr id="22" name="Rectangle 21"/>
          <p:cNvSpPr>
            <a:spLocks noChangeArrowheads="1"/>
          </p:cNvSpPr>
          <p:nvPr/>
        </p:nvSpPr>
        <p:spPr bwMode="auto">
          <a:xfrm>
            <a:off x="56976" y="2150692"/>
            <a:ext cx="908037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假定磁路不饱和。</a:t>
            </a:r>
            <a:endParaRPr kumimoji="0" lang="zh-CN" altLang="en-US" sz="8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解：</a:t>
            </a:r>
            <a:r>
              <a:rPr kumimoji="0" lang="en-US" alt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1. </a:t>
            </a:r>
            <a:r>
              <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他励，磁通为常数，转矩与电枢电流成正比，记原转速下电流为</a:t>
            </a:r>
            <a:endParaRPr kumimoji="0" lang="zh-CN" altLang="en-US" sz="18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p:txBody>
      </p:sp>
      <p:sp>
        <p:nvSpPr>
          <p:cNvPr id="23" name="Rectangle 22"/>
          <p:cNvSpPr>
            <a:spLocks noChangeArrowheads="1"/>
          </p:cNvSpPr>
          <p:nvPr/>
        </p:nvSpPr>
        <p:spPr bwMode="auto">
          <a:xfrm>
            <a:off x="1486320" y="2871757"/>
            <a:ext cx="64633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则</a:t>
            </a:r>
            <a:endParaRPr kumimoji="0" lang="zh-CN" sz="8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24" name="Rectangle 23"/>
          <p:cNvSpPr>
            <a:spLocks noChangeArrowheads="1"/>
          </p:cNvSpPr>
          <p:nvPr/>
        </p:nvSpPr>
        <p:spPr bwMode="auto">
          <a:xfrm>
            <a:off x="3049624" y="3702754"/>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25" name="Rectangle 24"/>
          <p:cNvSpPr>
            <a:spLocks noChangeArrowheads="1"/>
          </p:cNvSpPr>
          <p:nvPr/>
        </p:nvSpPr>
        <p:spPr bwMode="auto">
          <a:xfrm>
            <a:off x="0" y="508067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26" name="Rectangle 25"/>
          <p:cNvSpPr>
            <a:spLocks noChangeArrowheads="1"/>
          </p:cNvSpPr>
          <p:nvPr/>
        </p:nvSpPr>
        <p:spPr bwMode="auto">
          <a:xfrm>
            <a:off x="142875" y="4374143"/>
            <a:ext cx="8481070"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hangingPunct="0"/>
            <a:r>
              <a:rPr kumimoji="0" lang="en-US" alt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    2. </a:t>
            </a:r>
            <a:r>
              <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串励，磁路不饱和时磁通与  </a:t>
            </a:r>
            <a:r>
              <a:rPr lang="zh-CN" altLang="zh-CN" sz="2400" dirty="0">
                <a:latin typeface="楷体" panose="02010609060101010101" pitchFamily="49" charset="-122"/>
                <a:ea typeface="楷体" panose="02010609060101010101" pitchFamily="49" charset="-122"/>
                <a:cs typeface="Times New Roman" panose="02020603050405020304" pitchFamily="18" charset="0"/>
              </a:rPr>
              <a:t>成正比，</a:t>
            </a:r>
            <a:r>
              <a:rPr lang="zh-CN" altLang="en-US" sz="2400" dirty="0">
                <a:latin typeface="楷体" panose="02010609060101010101" pitchFamily="49" charset="-122"/>
                <a:ea typeface="楷体" panose="02010609060101010101" pitchFamily="49" charset="-122"/>
                <a:cs typeface="Times New Roman" panose="02020603050405020304" pitchFamily="18" charset="0"/>
              </a:rPr>
              <a:t>原转矩为</a:t>
            </a:r>
            <a:endParaRPr lang="zh-CN" altLang="en-US" dirty="0">
              <a:latin typeface="楷体" panose="02010609060101010101" pitchFamily="49" charset="-122"/>
              <a:ea typeface="楷体" panose="02010609060101010101" pitchFamily="49" charset="-122"/>
            </a:endParaRPr>
          </a:p>
          <a:p>
            <a:pPr eaLnBrk="0" hangingPunct="0"/>
            <a:endParaRPr lang="zh-CN" altLang="zh-CN" sz="2400" dirty="0">
              <a:latin typeface="楷体" panose="02010609060101010101" pitchFamily="49" charset="-122"/>
              <a:ea typeface="楷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p:txBody>
      </p:sp>
      <p:sp>
        <p:nvSpPr>
          <p:cNvPr id="28" name="Rectangle 27"/>
          <p:cNvSpPr>
            <a:spLocks noChangeArrowheads="1"/>
          </p:cNvSpPr>
          <p:nvPr/>
        </p:nvSpPr>
        <p:spPr bwMode="auto">
          <a:xfrm>
            <a:off x="2383750" y="4893772"/>
            <a:ext cx="295465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现转矩增大到</a:t>
            </a:r>
            <a:r>
              <a:rPr kumimoji="0" lang="en-US" alt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4</a:t>
            </a:r>
            <a:r>
              <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倍：</a:t>
            </a:r>
            <a:endPar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29" name="Rectangle 28"/>
          <p:cNvSpPr>
            <a:spLocks noChangeArrowheads="1"/>
          </p:cNvSpPr>
          <p:nvPr/>
        </p:nvSpPr>
        <p:spPr bwMode="auto">
          <a:xfrm>
            <a:off x="0" y="820487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31" name="Rectangle 30"/>
          <p:cNvSpPr>
            <a:spLocks noChangeArrowheads="1"/>
          </p:cNvSpPr>
          <p:nvPr/>
        </p:nvSpPr>
        <p:spPr bwMode="auto">
          <a:xfrm>
            <a:off x="1486320" y="5306766"/>
            <a:ext cx="387798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，故磁通比原来增大一倍，</a:t>
            </a:r>
            <a:endParaRPr kumimoji="0" lang="zh-CN" sz="8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32" name="Rectangle 31"/>
          <p:cNvSpPr>
            <a:spLocks noChangeArrowheads="1"/>
          </p:cNvSpPr>
          <p:nvPr/>
        </p:nvSpPr>
        <p:spPr bwMode="auto">
          <a:xfrm>
            <a:off x="3861077" y="6413954"/>
            <a:ext cx="510909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可见串励的特性比他励软很多。</a:t>
            </a:r>
            <a:endParaRPr kumimoji="0" lang="zh-CN" altLang="en-US" sz="18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p:txBody>
      </p:sp>
      <p:sp>
        <p:nvSpPr>
          <p:cNvPr id="33" name="日期占位符 32">
            <a:extLst>
              <a:ext uri="{FF2B5EF4-FFF2-40B4-BE49-F238E27FC236}">
                <a16:creationId xmlns:a16="http://schemas.microsoft.com/office/drawing/2014/main" id="{2A1ECAFA-9ADA-8D8A-CCAF-0F5ED776A8F2}"/>
              </a:ext>
            </a:extLst>
          </p:cNvPr>
          <p:cNvSpPr>
            <a:spLocks noGrp="1"/>
          </p:cNvSpPr>
          <p:nvPr>
            <p:ph type="dt" sz="half" idx="10"/>
          </p:nvPr>
        </p:nvSpPr>
        <p:spPr>
          <a:xfrm>
            <a:off x="8388424" y="405225"/>
            <a:ext cx="748928" cy="476250"/>
          </a:xfrm>
        </p:spPr>
        <p:txBody>
          <a:bodyPr/>
          <a:lstStyle/>
          <a:p>
            <a:fld id="{3E388989-AE84-4A8C-8862-ABC4965AB62A}" type="datetime10">
              <a:rPr lang="en-US" altLang="zh-CN" smtClean="0"/>
              <a:t>16:53</a:t>
            </a:fld>
            <a:endParaRPr lang="en-US" altLang="zh-CN" dirty="0"/>
          </a:p>
        </p:txBody>
      </p:sp>
      <p:sp>
        <p:nvSpPr>
          <p:cNvPr id="34" name="灯片编号占位符 33">
            <a:extLst>
              <a:ext uri="{FF2B5EF4-FFF2-40B4-BE49-F238E27FC236}">
                <a16:creationId xmlns:a16="http://schemas.microsoft.com/office/drawing/2014/main" id="{84CFD52F-C17D-F5E6-C3A0-0AB5A9725154}"/>
              </a:ext>
            </a:extLst>
          </p:cNvPr>
          <p:cNvSpPr>
            <a:spLocks noGrp="1"/>
          </p:cNvSpPr>
          <p:nvPr>
            <p:ph type="sldNum" sz="quarter" idx="12"/>
          </p:nvPr>
        </p:nvSpPr>
        <p:spPr/>
        <p:txBody>
          <a:bodyPr/>
          <a:lstStyle/>
          <a:p>
            <a:fld id="{76D830B0-DF59-4281-898F-AF208100B213}" type="slidenum">
              <a:rPr lang="en-US" altLang="zh-CN" smtClean="0"/>
              <a:pPr/>
              <a:t>79</a:t>
            </a:fld>
            <a:endParaRPr lang="en-US" altLang="zh-CN"/>
          </a:p>
        </p:txBody>
      </p:sp>
    </p:spTree>
    <p:extLst>
      <p:ext uri="{BB962C8B-B14F-4D97-AF65-F5344CB8AC3E}">
        <p14:creationId xmlns:p14="http://schemas.microsoft.com/office/powerpoint/2010/main" val="11708747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6" name="对象 55"/>
          <p:cNvGraphicFramePr>
            <a:graphicFrameLocks noChangeAspect="1"/>
          </p:cNvGraphicFramePr>
          <p:nvPr>
            <p:extLst>
              <p:ext uri="{D42A27DB-BD31-4B8C-83A1-F6EECF244321}">
                <p14:modId xmlns:p14="http://schemas.microsoft.com/office/powerpoint/2010/main" val="2320261723"/>
              </p:ext>
            </p:extLst>
          </p:nvPr>
        </p:nvGraphicFramePr>
        <p:xfrm>
          <a:off x="2871787" y="1131393"/>
          <a:ext cx="1019175" cy="419100"/>
        </p:xfrm>
        <a:graphic>
          <a:graphicData uri="http://schemas.openxmlformats.org/presentationml/2006/ole">
            <mc:AlternateContent xmlns:mc="http://schemas.openxmlformats.org/markup-compatibility/2006">
              <mc:Choice xmlns:v="urn:schemas-microsoft-com:vml" Requires="v">
                <p:oleObj name="公式" r:id="rId3" imgW="571252" imgH="228501" progId="Equation.3">
                  <p:embed/>
                </p:oleObj>
              </mc:Choice>
              <mc:Fallback>
                <p:oleObj name="公式" r:id="rId3" imgW="571252" imgH="228501" progId="Equation.3">
                  <p:embed/>
                  <p:pic>
                    <p:nvPicPr>
                      <p:cNvPr id="0" name="对象 6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1787" y="1131393"/>
                        <a:ext cx="1019175"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 name="对象 56"/>
          <p:cNvGraphicFramePr>
            <a:graphicFrameLocks noChangeAspect="1"/>
          </p:cNvGraphicFramePr>
          <p:nvPr>
            <p:extLst>
              <p:ext uri="{D42A27DB-BD31-4B8C-83A1-F6EECF244321}">
                <p14:modId xmlns:p14="http://schemas.microsoft.com/office/powerpoint/2010/main" val="2042116167"/>
              </p:ext>
            </p:extLst>
          </p:nvPr>
        </p:nvGraphicFramePr>
        <p:xfrm>
          <a:off x="4839824" y="1131393"/>
          <a:ext cx="1162050" cy="409575"/>
        </p:xfrm>
        <a:graphic>
          <a:graphicData uri="http://schemas.openxmlformats.org/presentationml/2006/ole">
            <mc:AlternateContent xmlns:mc="http://schemas.openxmlformats.org/markup-compatibility/2006">
              <mc:Choice xmlns:v="urn:schemas-microsoft-com:vml" Requires="v">
                <p:oleObj name="公式" r:id="rId5" imgW="660113" imgH="228501" progId="Equation.3">
                  <p:embed/>
                </p:oleObj>
              </mc:Choice>
              <mc:Fallback>
                <p:oleObj name="公式" r:id="rId5" imgW="660113" imgH="228501" progId="Equation.3">
                  <p:embed/>
                  <p:pic>
                    <p:nvPicPr>
                      <p:cNvPr id="0" name="对象 6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39824" y="1131393"/>
                        <a:ext cx="1162050"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 name="对象 57"/>
          <p:cNvGraphicFramePr>
            <a:graphicFrameLocks noChangeAspect="1"/>
          </p:cNvGraphicFramePr>
          <p:nvPr>
            <p:extLst>
              <p:ext uri="{D42A27DB-BD31-4B8C-83A1-F6EECF244321}">
                <p14:modId xmlns:p14="http://schemas.microsoft.com/office/powerpoint/2010/main" val="656171139"/>
              </p:ext>
            </p:extLst>
          </p:nvPr>
        </p:nvGraphicFramePr>
        <p:xfrm>
          <a:off x="6629677" y="1102818"/>
          <a:ext cx="1323975" cy="447675"/>
        </p:xfrm>
        <a:graphic>
          <a:graphicData uri="http://schemas.openxmlformats.org/presentationml/2006/ole">
            <mc:AlternateContent xmlns:mc="http://schemas.openxmlformats.org/markup-compatibility/2006">
              <mc:Choice xmlns:v="urn:schemas-microsoft-com:vml" Requires="v">
                <p:oleObj name="公式" r:id="rId7" imgW="685800" imgH="228600" progId="Equation.3">
                  <p:embed/>
                </p:oleObj>
              </mc:Choice>
              <mc:Fallback>
                <p:oleObj name="公式" r:id="rId7" imgW="685800" imgH="228600" progId="Equation.3">
                  <p:embed/>
                  <p:pic>
                    <p:nvPicPr>
                      <p:cNvPr id="0" name="对象 6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29677" y="1102818"/>
                        <a:ext cx="1323975" cy="447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 name="对象 58"/>
          <p:cNvGraphicFramePr>
            <a:graphicFrameLocks noChangeAspect="1"/>
          </p:cNvGraphicFramePr>
          <p:nvPr>
            <p:extLst>
              <p:ext uri="{D42A27DB-BD31-4B8C-83A1-F6EECF244321}">
                <p14:modId xmlns:p14="http://schemas.microsoft.com/office/powerpoint/2010/main" val="888249720"/>
              </p:ext>
            </p:extLst>
          </p:nvPr>
        </p:nvGraphicFramePr>
        <p:xfrm>
          <a:off x="43245" y="1504455"/>
          <a:ext cx="1190625" cy="419100"/>
        </p:xfrm>
        <a:graphic>
          <a:graphicData uri="http://schemas.openxmlformats.org/presentationml/2006/ole">
            <mc:AlternateContent xmlns:mc="http://schemas.openxmlformats.org/markup-compatibility/2006">
              <mc:Choice xmlns:v="urn:schemas-microsoft-com:vml" Requires="v">
                <p:oleObj name="公式" r:id="rId9" imgW="660113" imgH="228501" progId="Equation.3">
                  <p:embed/>
                </p:oleObj>
              </mc:Choice>
              <mc:Fallback>
                <p:oleObj name="公式" r:id="rId9" imgW="660113" imgH="228501" progId="Equation.3">
                  <p:embed/>
                  <p:pic>
                    <p:nvPicPr>
                      <p:cNvPr id="0" name="对象 6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245" y="1504455"/>
                        <a:ext cx="1190625"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 name="对象 59"/>
          <p:cNvGraphicFramePr>
            <a:graphicFrameLocks noChangeAspect="1"/>
          </p:cNvGraphicFramePr>
          <p:nvPr>
            <p:extLst>
              <p:ext uri="{D42A27DB-BD31-4B8C-83A1-F6EECF244321}">
                <p14:modId xmlns:p14="http://schemas.microsoft.com/office/powerpoint/2010/main" val="481974561"/>
              </p:ext>
            </p:extLst>
          </p:nvPr>
        </p:nvGraphicFramePr>
        <p:xfrm>
          <a:off x="8565909" y="1440062"/>
          <a:ext cx="304800" cy="438150"/>
        </p:xfrm>
        <a:graphic>
          <a:graphicData uri="http://schemas.openxmlformats.org/presentationml/2006/ole">
            <mc:AlternateContent xmlns:mc="http://schemas.openxmlformats.org/markup-compatibility/2006">
              <mc:Choice xmlns:v="urn:schemas-microsoft-com:vml" Requires="v">
                <p:oleObj name="公式" r:id="rId11" imgW="152202" imgH="215619" progId="Equation.3">
                  <p:embed/>
                </p:oleObj>
              </mc:Choice>
              <mc:Fallback>
                <p:oleObj name="公式" r:id="rId11" imgW="152202" imgH="215619" progId="Equation.3">
                  <p:embed/>
                  <p:pic>
                    <p:nvPicPr>
                      <p:cNvPr id="0" name="对象 6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565909" y="1440062"/>
                        <a:ext cx="304800"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 name="对象 60"/>
          <p:cNvGraphicFramePr>
            <a:graphicFrameLocks noChangeAspect="1"/>
          </p:cNvGraphicFramePr>
          <p:nvPr>
            <p:extLst>
              <p:ext uri="{D42A27DB-BD31-4B8C-83A1-F6EECF244321}">
                <p14:modId xmlns:p14="http://schemas.microsoft.com/office/powerpoint/2010/main" val="975984210"/>
              </p:ext>
            </p:extLst>
          </p:nvPr>
        </p:nvGraphicFramePr>
        <p:xfrm>
          <a:off x="2049587" y="1892380"/>
          <a:ext cx="381000" cy="476250"/>
        </p:xfrm>
        <a:graphic>
          <a:graphicData uri="http://schemas.openxmlformats.org/presentationml/2006/ole">
            <mc:AlternateContent xmlns:mc="http://schemas.openxmlformats.org/markup-compatibility/2006">
              <mc:Choice xmlns:v="urn:schemas-microsoft-com:vml" Requires="v">
                <p:oleObj name="公式" r:id="rId13" imgW="177492" imgH="228204" progId="Equation.3">
                  <p:embed/>
                </p:oleObj>
              </mc:Choice>
              <mc:Fallback>
                <p:oleObj name="公式" r:id="rId13" imgW="177492" imgH="228204" progId="Equation.3">
                  <p:embed/>
                  <p:pic>
                    <p:nvPicPr>
                      <p:cNvPr id="0" name="对象 6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49587" y="1892380"/>
                        <a:ext cx="381000" cy="47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2" name="对象 61"/>
          <p:cNvGraphicFramePr>
            <a:graphicFrameLocks noChangeAspect="1"/>
          </p:cNvGraphicFramePr>
          <p:nvPr>
            <p:extLst>
              <p:ext uri="{D42A27DB-BD31-4B8C-83A1-F6EECF244321}">
                <p14:modId xmlns:p14="http://schemas.microsoft.com/office/powerpoint/2010/main" val="948838629"/>
              </p:ext>
            </p:extLst>
          </p:nvPr>
        </p:nvGraphicFramePr>
        <p:xfrm>
          <a:off x="3779912" y="1910015"/>
          <a:ext cx="546534" cy="339512"/>
        </p:xfrm>
        <a:graphic>
          <a:graphicData uri="http://schemas.openxmlformats.org/presentationml/2006/ole">
            <mc:AlternateContent xmlns:mc="http://schemas.openxmlformats.org/markup-compatibility/2006">
              <mc:Choice xmlns:v="urn:schemas-microsoft-com:vml" Requires="v">
                <p:oleObj name="公式" r:id="rId15" imgW="316950" imgH="177492" progId="Equation.3">
                  <p:embed/>
                </p:oleObj>
              </mc:Choice>
              <mc:Fallback>
                <p:oleObj name="公式" r:id="rId15" imgW="316950" imgH="177492" progId="Equation.3">
                  <p:embed/>
                  <p:pic>
                    <p:nvPicPr>
                      <p:cNvPr id="0" name="对象 6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79912" y="1910015"/>
                        <a:ext cx="546534" cy="339512"/>
                      </a:xfrm>
                      <a:prstGeom prst="rect">
                        <a:avLst/>
                      </a:prstGeom>
                      <a:noFill/>
                    </p:spPr>
                  </p:pic>
                </p:oleObj>
              </mc:Fallback>
            </mc:AlternateContent>
          </a:graphicData>
        </a:graphic>
      </p:graphicFrame>
      <p:graphicFrame>
        <p:nvGraphicFramePr>
          <p:cNvPr id="63" name="对象 62"/>
          <p:cNvGraphicFramePr>
            <a:graphicFrameLocks noChangeAspect="1"/>
          </p:cNvGraphicFramePr>
          <p:nvPr>
            <p:extLst>
              <p:ext uri="{D42A27DB-BD31-4B8C-83A1-F6EECF244321}">
                <p14:modId xmlns:p14="http://schemas.microsoft.com/office/powerpoint/2010/main" val="1967878420"/>
              </p:ext>
            </p:extLst>
          </p:nvPr>
        </p:nvGraphicFramePr>
        <p:xfrm>
          <a:off x="6053838" y="1906668"/>
          <a:ext cx="333375" cy="428625"/>
        </p:xfrm>
        <a:graphic>
          <a:graphicData uri="http://schemas.openxmlformats.org/presentationml/2006/ole">
            <mc:AlternateContent xmlns:mc="http://schemas.openxmlformats.org/markup-compatibility/2006">
              <mc:Choice xmlns:v="urn:schemas-microsoft-com:vml" Requires="v">
                <p:oleObj name="公式" r:id="rId17" imgW="177492" imgH="228204" progId="Equation.3">
                  <p:embed/>
                </p:oleObj>
              </mc:Choice>
              <mc:Fallback>
                <p:oleObj name="公式" r:id="rId17" imgW="177492" imgH="228204" progId="Equation.3">
                  <p:embed/>
                  <p:pic>
                    <p:nvPicPr>
                      <p:cNvPr id="0" name="对象 6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053838" y="1906668"/>
                        <a:ext cx="333375"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4" name="对象 63"/>
          <p:cNvGraphicFramePr>
            <a:graphicFrameLocks noChangeAspect="1"/>
          </p:cNvGraphicFramePr>
          <p:nvPr>
            <p:extLst>
              <p:ext uri="{D42A27DB-BD31-4B8C-83A1-F6EECF244321}">
                <p14:modId xmlns:p14="http://schemas.microsoft.com/office/powerpoint/2010/main" val="576968316"/>
              </p:ext>
            </p:extLst>
          </p:nvPr>
        </p:nvGraphicFramePr>
        <p:xfrm>
          <a:off x="8076366" y="1878211"/>
          <a:ext cx="485775" cy="466725"/>
        </p:xfrm>
        <a:graphic>
          <a:graphicData uri="http://schemas.openxmlformats.org/presentationml/2006/ole">
            <mc:AlternateContent xmlns:mc="http://schemas.openxmlformats.org/markup-compatibility/2006">
              <mc:Choice xmlns:v="urn:schemas-microsoft-com:vml" Requires="v">
                <p:oleObj name="公式" r:id="rId19" imgW="241195" imgH="228501" progId="Equation.3">
                  <p:embed/>
                </p:oleObj>
              </mc:Choice>
              <mc:Fallback>
                <p:oleObj name="公式" r:id="rId19" imgW="241195" imgH="228501" progId="Equation.3">
                  <p:embed/>
                  <p:pic>
                    <p:nvPicPr>
                      <p:cNvPr id="0" name="对象 6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076366" y="1878211"/>
                        <a:ext cx="485775"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5" name="对象 64"/>
          <p:cNvGraphicFramePr>
            <a:graphicFrameLocks noChangeAspect="1"/>
          </p:cNvGraphicFramePr>
          <p:nvPr>
            <p:extLst>
              <p:ext uri="{D42A27DB-BD31-4B8C-83A1-F6EECF244321}">
                <p14:modId xmlns:p14="http://schemas.microsoft.com/office/powerpoint/2010/main" val="1715416086"/>
              </p:ext>
            </p:extLst>
          </p:nvPr>
        </p:nvGraphicFramePr>
        <p:xfrm>
          <a:off x="1992437" y="2281534"/>
          <a:ext cx="438150" cy="542925"/>
        </p:xfrm>
        <a:graphic>
          <a:graphicData uri="http://schemas.openxmlformats.org/presentationml/2006/ole">
            <mc:AlternateContent xmlns:mc="http://schemas.openxmlformats.org/markup-compatibility/2006">
              <mc:Choice xmlns:v="urn:schemas-microsoft-com:vml" Requires="v">
                <p:oleObj name="公式" r:id="rId21" imgW="177492" imgH="228204" progId="Equation.3">
                  <p:embed/>
                </p:oleObj>
              </mc:Choice>
              <mc:Fallback>
                <p:oleObj name="公式" r:id="rId21" imgW="177492" imgH="228204" progId="Equation.3">
                  <p:embed/>
                  <p:pic>
                    <p:nvPicPr>
                      <p:cNvPr id="0" name="对象 7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992437" y="2281534"/>
                        <a:ext cx="438150" cy="542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 name="对象 65"/>
          <p:cNvGraphicFramePr>
            <a:graphicFrameLocks noChangeAspect="1"/>
          </p:cNvGraphicFramePr>
          <p:nvPr>
            <p:extLst>
              <p:ext uri="{D42A27DB-BD31-4B8C-83A1-F6EECF244321}">
                <p14:modId xmlns:p14="http://schemas.microsoft.com/office/powerpoint/2010/main" val="2871694176"/>
              </p:ext>
            </p:extLst>
          </p:nvPr>
        </p:nvGraphicFramePr>
        <p:xfrm>
          <a:off x="4876979" y="2329921"/>
          <a:ext cx="285750" cy="323850"/>
        </p:xfrm>
        <a:graphic>
          <a:graphicData uri="http://schemas.openxmlformats.org/presentationml/2006/ole">
            <mc:AlternateContent xmlns:mc="http://schemas.openxmlformats.org/markup-compatibility/2006">
              <mc:Choice xmlns:v="urn:schemas-microsoft-com:vml" Requires="v">
                <p:oleObj name="公式" r:id="rId23" imgW="139518" imgH="164885" progId="Equation.3">
                  <p:embed/>
                </p:oleObj>
              </mc:Choice>
              <mc:Fallback>
                <p:oleObj name="公式" r:id="rId23" imgW="139518" imgH="164885" progId="Equation.3">
                  <p:embed/>
                  <p:pic>
                    <p:nvPicPr>
                      <p:cNvPr id="0" name="对象 7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876979" y="2329921"/>
                        <a:ext cx="285750"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7" name="对象 66"/>
          <p:cNvGraphicFramePr>
            <a:graphicFrameLocks noChangeAspect="1"/>
          </p:cNvGraphicFramePr>
          <p:nvPr>
            <p:extLst>
              <p:ext uri="{D42A27DB-BD31-4B8C-83A1-F6EECF244321}">
                <p14:modId xmlns:p14="http://schemas.microsoft.com/office/powerpoint/2010/main" val="2551292695"/>
              </p:ext>
            </p:extLst>
          </p:nvPr>
        </p:nvGraphicFramePr>
        <p:xfrm>
          <a:off x="3645314" y="2627267"/>
          <a:ext cx="2463329" cy="742468"/>
        </p:xfrm>
        <a:graphic>
          <a:graphicData uri="http://schemas.openxmlformats.org/presentationml/2006/ole">
            <mc:AlternateContent xmlns:mc="http://schemas.openxmlformats.org/markup-compatibility/2006">
              <mc:Choice xmlns:v="urn:schemas-microsoft-com:vml" Requires="v">
                <p:oleObj name="公式" r:id="rId25" imgW="1485255" imgH="444307" progId="Equation.3">
                  <p:embed/>
                </p:oleObj>
              </mc:Choice>
              <mc:Fallback>
                <p:oleObj name="公式" r:id="rId25" imgW="1485255" imgH="444307" progId="Equation.3">
                  <p:embed/>
                  <p:pic>
                    <p:nvPicPr>
                      <p:cNvPr id="0" name="对象 72"/>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645314" y="2627267"/>
                        <a:ext cx="2463329" cy="742468"/>
                      </a:xfrm>
                      <a:prstGeom prst="rect">
                        <a:avLst/>
                      </a:prstGeom>
                      <a:noFill/>
                    </p:spPr>
                  </p:pic>
                </p:oleObj>
              </mc:Fallback>
            </mc:AlternateContent>
          </a:graphicData>
        </a:graphic>
      </p:graphicFrame>
      <p:graphicFrame>
        <p:nvGraphicFramePr>
          <p:cNvPr id="68" name="对象 67"/>
          <p:cNvGraphicFramePr>
            <a:graphicFrameLocks noChangeAspect="1"/>
          </p:cNvGraphicFramePr>
          <p:nvPr>
            <p:extLst>
              <p:ext uri="{D42A27DB-BD31-4B8C-83A1-F6EECF244321}">
                <p14:modId xmlns:p14="http://schemas.microsoft.com/office/powerpoint/2010/main" val="995654104"/>
              </p:ext>
            </p:extLst>
          </p:nvPr>
        </p:nvGraphicFramePr>
        <p:xfrm>
          <a:off x="6220525" y="2832171"/>
          <a:ext cx="2815971" cy="403458"/>
        </p:xfrm>
        <a:graphic>
          <a:graphicData uri="http://schemas.openxmlformats.org/presentationml/2006/ole">
            <mc:AlternateContent xmlns:mc="http://schemas.openxmlformats.org/markup-compatibility/2006">
              <mc:Choice xmlns:v="urn:schemas-microsoft-com:vml" Requires="v">
                <p:oleObj name="公式" r:id="rId27" imgW="1650284" imgH="241195" progId="Equation.3">
                  <p:embed/>
                </p:oleObj>
              </mc:Choice>
              <mc:Fallback>
                <p:oleObj name="公式" r:id="rId27" imgW="1650284" imgH="241195" progId="Equation.3">
                  <p:embed/>
                  <p:pic>
                    <p:nvPicPr>
                      <p:cNvPr id="0" name="对象 73"/>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220525" y="2832171"/>
                        <a:ext cx="2815971" cy="403458"/>
                      </a:xfrm>
                      <a:prstGeom prst="rect">
                        <a:avLst/>
                      </a:prstGeom>
                      <a:noFill/>
                    </p:spPr>
                  </p:pic>
                </p:oleObj>
              </mc:Fallback>
            </mc:AlternateContent>
          </a:graphicData>
        </a:graphic>
      </p:graphicFrame>
      <p:graphicFrame>
        <p:nvGraphicFramePr>
          <p:cNvPr id="69" name="对象 68"/>
          <p:cNvGraphicFramePr>
            <a:graphicFrameLocks noChangeAspect="1"/>
          </p:cNvGraphicFramePr>
          <p:nvPr>
            <p:extLst>
              <p:ext uri="{D42A27DB-BD31-4B8C-83A1-F6EECF244321}">
                <p14:modId xmlns:p14="http://schemas.microsoft.com/office/powerpoint/2010/main" val="2365510544"/>
              </p:ext>
            </p:extLst>
          </p:nvPr>
        </p:nvGraphicFramePr>
        <p:xfrm>
          <a:off x="171449" y="3488511"/>
          <a:ext cx="1666875" cy="485775"/>
        </p:xfrm>
        <a:graphic>
          <a:graphicData uri="http://schemas.openxmlformats.org/presentationml/2006/ole">
            <mc:AlternateContent xmlns:mc="http://schemas.openxmlformats.org/markup-compatibility/2006">
              <mc:Choice xmlns:v="urn:schemas-microsoft-com:vml" Requires="v">
                <p:oleObj name="公式" r:id="rId29" imgW="787400" imgH="228600" progId="Equation.3">
                  <p:embed/>
                </p:oleObj>
              </mc:Choice>
              <mc:Fallback>
                <p:oleObj name="公式" r:id="rId29" imgW="787400" imgH="228600" progId="Equation.3">
                  <p:embed/>
                  <p:pic>
                    <p:nvPicPr>
                      <p:cNvPr id="0" name="对象 74"/>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71449" y="3488511"/>
                        <a:ext cx="1666875" cy="48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 name="对象 69"/>
          <p:cNvGraphicFramePr>
            <a:graphicFrameLocks noChangeAspect="1"/>
          </p:cNvGraphicFramePr>
          <p:nvPr>
            <p:extLst>
              <p:ext uri="{D42A27DB-BD31-4B8C-83A1-F6EECF244321}">
                <p14:modId xmlns:p14="http://schemas.microsoft.com/office/powerpoint/2010/main" val="838137174"/>
              </p:ext>
            </p:extLst>
          </p:nvPr>
        </p:nvGraphicFramePr>
        <p:xfrm>
          <a:off x="2107223" y="3279498"/>
          <a:ext cx="1781175" cy="857250"/>
        </p:xfrm>
        <a:graphic>
          <a:graphicData uri="http://schemas.openxmlformats.org/presentationml/2006/ole">
            <mc:AlternateContent xmlns:mc="http://schemas.openxmlformats.org/markup-compatibility/2006">
              <mc:Choice xmlns:v="urn:schemas-microsoft-com:vml" Requires="v">
                <p:oleObj name="公式" r:id="rId31" imgW="952087" imgH="444307" progId="Equation.3">
                  <p:embed/>
                </p:oleObj>
              </mc:Choice>
              <mc:Fallback>
                <p:oleObj name="公式" r:id="rId31" imgW="952087" imgH="444307" progId="Equation.3">
                  <p:embed/>
                  <p:pic>
                    <p:nvPicPr>
                      <p:cNvPr id="0" name="对象 75"/>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107223" y="3279498"/>
                        <a:ext cx="1781175" cy="857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 name="对象 70"/>
          <p:cNvGraphicFramePr>
            <a:graphicFrameLocks noChangeAspect="1"/>
          </p:cNvGraphicFramePr>
          <p:nvPr>
            <p:extLst>
              <p:ext uri="{D42A27DB-BD31-4B8C-83A1-F6EECF244321}">
                <p14:modId xmlns:p14="http://schemas.microsoft.com/office/powerpoint/2010/main" val="3637792647"/>
              </p:ext>
            </p:extLst>
          </p:nvPr>
        </p:nvGraphicFramePr>
        <p:xfrm>
          <a:off x="4231758" y="3274736"/>
          <a:ext cx="1533525" cy="866775"/>
        </p:xfrm>
        <a:graphic>
          <a:graphicData uri="http://schemas.openxmlformats.org/presentationml/2006/ole">
            <mc:AlternateContent xmlns:mc="http://schemas.openxmlformats.org/markup-compatibility/2006">
              <mc:Choice xmlns:v="urn:schemas-microsoft-com:vml" Requires="v">
                <p:oleObj name="公式" r:id="rId33" imgW="799753" imgH="444307" progId="Equation.3">
                  <p:embed/>
                </p:oleObj>
              </mc:Choice>
              <mc:Fallback>
                <p:oleObj name="公式" r:id="rId33" imgW="799753" imgH="444307" progId="Equation.3">
                  <p:embed/>
                  <p:pic>
                    <p:nvPicPr>
                      <p:cNvPr id="0" name="对象 76"/>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4231758" y="3274736"/>
                        <a:ext cx="1533525" cy="866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2" name="对象 71"/>
          <p:cNvGraphicFramePr>
            <a:graphicFrameLocks noChangeAspect="1"/>
          </p:cNvGraphicFramePr>
          <p:nvPr>
            <p:extLst>
              <p:ext uri="{D42A27DB-BD31-4B8C-83A1-F6EECF244321}">
                <p14:modId xmlns:p14="http://schemas.microsoft.com/office/powerpoint/2010/main" val="3150489844"/>
              </p:ext>
            </p:extLst>
          </p:nvPr>
        </p:nvGraphicFramePr>
        <p:xfrm>
          <a:off x="6170173" y="3379113"/>
          <a:ext cx="2667000" cy="838200"/>
        </p:xfrm>
        <a:graphic>
          <a:graphicData uri="http://schemas.openxmlformats.org/presentationml/2006/ole">
            <mc:AlternateContent xmlns:mc="http://schemas.openxmlformats.org/markup-compatibility/2006">
              <mc:Choice xmlns:v="urn:schemas-microsoft-com:vml" Requires="v">
                <p:oleObj name="公式" r:id="rId35" imgW="1434477" imgH="444307" progId="Equation.3">
                  <p:embed/>
                </p:oleObj>
              </mc:Choice>
              <mc:Fallback>
                <p:oleObj name="公式" r:id="rId35" imgW="1434477" imgH="444307" progId="Equation.3">
                  <p:embed/>
                  <p:pic>
                    <p:nvPicPr>
                      <p:cNvPr id="0" name="对象 77"/>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6170173" y="3379113"/>
                        <a:ext cx="2667000"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3" name="对象 72"/>
          <p:cNvGraphicFramePr>
            <a:graphicFrameLocks noChangeAspect="1"/>
          </p:cNvGraphicFramePr>
          <p:nvPr>
            <p:extLst>
              <p:ext uri="{D42A27DB-BD31-4B8C-83A1-F6EECF244321}">
                <p14:modId xmlns:p14="http://schemas.microsoft.com/office/powerpoint/2010/main" val="1005288944"/>
              </p:ext>
            </p:extLst>
          </p:nvPr>
        </p:nvGraphicFramePr>
        <p:xfrm>
          <a:off x="400048" y="4607080"/>
          <a:ext cx="1209675" cy="400050"/>
        </p:xfrm>
        <a:graphic>
          <a:graphicData uri="http://schemas.openxmlformats.org/presentationml/2006/ole">
            <mc:AlternateContent xmlns:mc="http://schemas.openxmlformats.org/markup-compatibility/2006">
              <mc:Choice xmlns:v="urn:schemas-microsoft-com:vml" Requires="v">
                <p:oleObj name="公式" r:id="rId37" imgW="672225" imgH="215619" progId="Equation.3">
                  <p:embed/>
                </p:oleObj>
              </mc:Choice>
              <mc:Fallback>
                <p:oleObj name="公式" r:id="rId37" imgW="672225" imgH="215619" progId="Equation.3">
                  <p:embed/>
                  <p:pic>
                    <p:nvPicPr>
                      <p:cNvPr id="0" name="对象 78"/>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400048" y="4607080"/>
                        <a:ext cx="1209675" cy="400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4" name="对象 73"/>
          <p:cNvGraphicFramePr>
            <a:graphicFrameLocks noChangeAspect="1"/>
          </p:cNvGraphicFramePr>
          <p:nvPr>
            <p:extLst>
              <p:ext uri="{D42A27DB-BD31-4B8C-83A1-F6EECF244321}">
                <p14:modId xmlns:p14="http://schemas.microsoft.com/office/powerpoint/2010/main" val="1332866630"/>
              </p:ext>
            </p:extLst>
          </p:nvPr>
        </p:nvGraphicFramePr>
        <p:xfrm>
          <a:off x="2568012" y="4626353"/>
          <a:ext cx="1066800" cy="390525"/>
        </p:xfrm>
        <a:graphic>
          <a:graphicData uri="http://schemas.openxmlformats.org/presentationml/2006/ole">
            <mc:AlternateContent xmlns:mc="http://schemas.openxmlformats.org/markup-compatibility/2006">
              <mc:Choice xmlns:v="urn:schemas-microsoft-com:vml" Requires="v">
                <p:oleObj name="公式" r:id="rId39" imgW="609600" imgH="228600" progId="Equation.3">
                  <p:embed/>
                </p:oleObj>
              </mc:Choice>
              <mc:Fallback>
                <p:oleObj name="公式" r:id="rId39" imgW="609600" imgH="228600" progId="Equation.3">
                  <p:embed/>
                  <p:pic>
                    <p:nvPicPr>
                      <p:cNvPr id="0" name="对象 79"/>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2568012" y="4626353"/>
                        <a:ext cx="1066800"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5" name="对象 74"/>
          <p:cNvGraphicFramePr>
            <a:graphicFrameLocks noChangeAspect="1"/>
          </p:cNvGraphicFramePr>
          <p:nvPr>
            <p:extLst>
              <p:ext uri="{D42A27DB-BD31-4B8C-83A1-F6EECF244321}">
                <p14:modId xmlns:p14="http://schemas.microsoft.com/office/powerpoint/2010/main" val="1715628645"/>
              </p:ext>
            </p:extLst>
          </p:nvPr>
        </p:nvGraphicFramePr>
        <p:xfrm>
          <a:off x="4326624" y="4621564"/>
          <a:ext cx="1524000" cy="390525"/>
        </p:xfrm>
        <a:graphic>
          <a:graphicData uri="http://schemas.openxmlformats.org/presentationml/2006/ole">
            <mc:AlternateContent xmlns:mc="http://schemas.openxmlformats.org/markup-compatibility/2006">
              <mc:Choice xmlns:v="urn:schemas-microsoft-com:vml" Requires="v">
                <p:oleObj name="公式" r:id="rId41" imgW="901309" imgH="228501" progId="Equation.3">
                  <p:embed/>
                </p:oleObj>
              </mc:Choice>
              <mc:Fallback>
                <p:oleObj name="公式" r:id="rId41" imgW="901309" imgH="228501" progId="Equation.3">
                  <p:embed/>
                  <p:pic>
                    <p:nvPicPr>
                      <p:cNvPr id="0" name="对象 80"/>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4326624" y="4621564"/>
                        <a:ext cx="1524000"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6" name="对象 75"/>
          <p:cNvGraphicFramePr>
            <a:graphicFrameLocks noChangeAspect="1"/>
          </p:cNvGraphicFramePr>
          <p:nvPr>
            <p:extLst>
              <p:ext uri="{D42A27DB-BD31-4B8C-83A1-F6EECF244321}">
                <p14:modId xmlns:p14="http://schemas.microsoft.com/office/powerpoint/2010/main" val="843437702"/>
              </p:ext>
            </p:extLst>
          </p:nvPr>
        </p:nvGraphicFramePr>
        <p:xfrm>
          <a:off x="6666666" y="4638331"/>
          <a:ext cx="1409700" cy="390525"/>
        </p:xfrm>
        <a:graphic>
          <a:graphicData uri="http://schemas.openxmlformats.org/presentationml/2006/ole">
            <mc:AlternateContent xmlns:mc="http://schemas.openxmlformats.org/markup-compatibility/2006">
              <mc:Choice xmlns:v="urn:schemas-microsoft-com:vml" Requires="v">
                <p:oleObj name="公式" r:id="rId43" imgW="838200" imgH="228600" progId="Equation.3">
                  <p:embed/>
                </p:oleObj>
              </mc:Choice>
              <mc:Fallback>
                <p:oleObj name="公式" r:id="rId43" imgW="838200" imgH="228600" progId="Equation.3">
                  <p:embed/>
                  <p:pic>
                    <p:nvPicPr>
                      <p:cNvPr id="0" name="对象 81"/>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6666666" y="4638331"/>
                        <a:ext cx="1409700"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7" name="对象 76"/>
          <p:cNvGraphicFramePr>
            <a:graphicFrameLocks noChangeAspect="1"/>
          </p:cNvGraphicFramePr>
          <p:nvPr>
            <p:extLst>
              <p:ext uri="{D42A27DB-BD31-4B8C-83A1-F6EECF244321}">
                <p14:modId xmlns:p14="http://schemas.microsoft.com/office/powerpoint/2010/main" val="3508855235"/>
              </p:ext>
            </p:extLst>
          </p:nvPr>
        </p:nvGraphicFramePr>
        <p:xfrm>
          <a:off x="400048" y="5058716"/>
          <a:ext cx="2009775" cy="457200"/>
        </p:xfrm>
        <a:graphic>
          <a:graphicData uri="http://schemas.openxmlformats.org/presentationml/2006/ole">
            <mc:AlternateContent xmlns:mc="http://schemas.openxmlformats.org/markup-compatibility/2006">
              <mc:Choice xmlns:v="urn:schemas-microsoft-com:vml" Requires="v">
                <p:oleObj name="公式" r:id="rId45" imgW="990170" imgH="228501" progId="Equation.3">
                  <p:embed/>
                </p:oleObj>
              </mc:Choice>
              <mc:Fallback>
                <p:oleObj name="公式" r:id="rId45" imgW="990170" imgH="228501" progId="Equation.3">
                  <p:embed/>
                  <p:pic>
                    <p:nvPicPr>
                      <p:cNvPr id="0" name="对象 82"/>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400048" y="5058716"/>
                        <a:ext cx="2009775"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8" name="对象 77"/>
          <p:cNvGraphicFramePr>
            <a:graphicFrameLocks noChangeAspect="1"/>
          </p:cNvGraphicFramePr>
          <p:nvPr>
            <p:extLst>
              <p:ext uri="{D42A27DB-BD31-4B8C-83A1-F6EECF244321}">
                <p14:modId xmlns:p14="http://schemas.microsoft.com/office/powerpoint/2010/main" val="282988323"/>
              </p:ext>
            </p:extLst>
          </p:nvPr>
        </p:nvGraphicFramePr>
        <p:xfrm>
          <a:off x="2573846" y="5083929"/>
          <a:ext cx="1752600" cy="352425"/>
        </p:xfrm>
        <a:graphic>
          <a:graphicData uri="http://schemas.openxmlformats.org/presentationml/2006/ole">
            <mc:AlternateContent xmlns:mc="http://schemas.openxmlformats.org/markup-compatibility/2006">
              <mc:Choice xmlns:v="urn:schemas-microsoft-com:vml" Requires="v">
                <p:oleObj name="公式" r:id="rId47" imgW="874781" imgH="177492" progId="Equation.3">
                  <p:embed/>
                </p:oleObj>
              </mc:Choice>
              <mc:Fallback>
                <p:oleObj name="公式" r:id="rId47" imgW="874781" imgH="177492" progId="Equation.3">
                  <p:embed/>
                  <p:pic>
                    <p:nvPicPr>
                      <p:cNvPr id="0" name="对象 83"/>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2573846" y="5083929"/>
                        <a:ext cx="1752600"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9" name="对象 78"/>
          <p:cNvGraphicFramePr>
            <a:graphicFrameLocks noChangeAspect="1"/>
          </p:cNvGraphicFramePr>
          <p:nvPr>
            <p:extLst>
              <p:ext uri="{D42A27DB-BD31-4B8C-83A1-F6EECF244321}">
                <p14:modId xmlns:p14="http://schemas.microsoft.com/office/powerpoint/2010/main" val="3763372184"/>
              </p:ext>
            </p:extLst>
          </p:nvPr>
        </p:nvGraphicFramePr>
        <p:xfrm>
          <a:off x="4608251" y="5070108"/>
          <a:ext cx="1524000" cy="409575"/>
        </p:xfrm>
        <a:graphic>
          <a:graphicData uri="http://schemas.openxmlformats.org/presentationml/2006/ole">
            <mc:AlternateContent xmlns:mc="http://schemas.openxmlformats.org/markup-compatibility/2006">
              <mc:Choice xmlns:v="urn:schemas-microsoft-com:vml" Requires="v">
                <p:oleObj name="公式" r:id="rId49" imgW="850531" imgH="228501" progId="Equation.3">
                  <p:embed/>
                </p:oleObj>
              </mc:Choice>
              <mc:Fallback>
                <p:oleObj name="公式" r:id="rId49" imgW="850531" imgH="228501" progId="Equation.3">
                  <p:embed/>
                  <p:pic>
                    <p:nvPicPr>
                      <p:cNvPr id="0" name="对象 84"/>
                      <p:cNvPicPr>
                        <a:picLocks noChangeAspect="1" noChangeArrowheads="1"/>
                      </p:cNvPicPr>
                      <p:nvPr/>
                    </p:nvPicPr>
                    <p:blipFill>
                      <a:blip r:embed="rId50">
                        <a:extLst>
                          <a:ext uri="{28A0092B-C50C-407E-A947-70E740481C1C}">
                            <a14:useLocalDpi xmlns:a14="http://schemas.microsoft.com/office/drawing/2010/main" val="0"/>
                          </a:ext>
                        </a:extLst>
                      </a:blip>
                      <a:srcRect/>
                      <a:stretch>
                        <a:fillRect/>
                      </a:stretch>
                    </p:blipFill>
                    <p:spPr bwMode="auto">
                      <a:xfrm>
                        <a:off x="4608251" y="5070108"/>
                        <a:ext cx="1524000"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0" name="对象 79"/>
          <p:cNvGraphicFramePr>
            <a:graphicFrameLocks noChangeAspect="1"/>
          </p:cNvGraphicFramePr>
          <p:nvPr>
            <p:extLst>
              <p:ext uri="{D42A27DB-BD31-4B8C-83A1-F6EECF244321}">
                <p14:modId xmlns:p14="http://schemas.microsoft.com/office/powerpoint/2010/main" val="73377637"/>
              </p:ext>
            </p:extLst>
          </p:nvPr>
        </p:nvGraphicFramePr>
        <p:xfrm>
          <a:off x="1293844" y="5513360"/>
          <a:ext cx="2047875" cy="847725"/>
        </p:xfrm>
        <a:graphic>
          <a:graphicData uri="http://schemas.openxmlformats.org/presentationml/2006/ole">
            <mc:AlternateContent xmlns:mc="http://schemas.openxmlformats.org/markup-compatibility/2006">
              <mc:Choice xmlns:v="urn:schemas-microsoft-com:vml" Requires="v">
                <p:oleObj name="公式" r:id="rId51" imgW="1104421" imgH="444307" progId="Equation.3">
                  <p:embed/>
                </p:oleObj>
              </mc:Choice>
              <mc:Fallback>
                <p:oleObj name="公式" r:id="rId51" imgW="1104421" imgH="444307" progId="Equation.3">
                  <p:embed/>
                  <p:pic>
                    <p:nvPicPr>
                      <p:cNvPr id="0" name="对象 85"/>
                      <p:cNvPicPr>
                        <a:picLocks noChangeAspect="1" noChangeArrowheads="1"/>
                      </p:cNvPicPr>
                      <p:nvPr/>
                    </p:nvPicPr>
                    <p:blipFill>
                      <a:blip r:embed="rId52">
                        <a:extLst>
                          <a:ext uri="{28A0092B-C50C-407E-A947-70E740481C1C}">
                            <a14:useLocalDpi xmlns:a14="http://schemas.microsoft.com/office/drawing/2010/main" val="0"/>
                          </a:ext>
                        </a:extLst>
                      </a:blip>
                      <a:srcRect/>
                      <a:stretch>
                        <a:fillRect/>
                      </a:stretch>
                    </p:blipFill>
                    <p:spPr bwMode="auto">
                      <a:xfrm>
                        <a:off x="1293844" y="5513360"/>
                        <a:ext cx="2047875" cy="847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 name="对象 80"/>
          <p:cNvGraphicFramePr>
            <a:graphicFrameLocks noChangeAspect="1"/>
          </p:cNvGraphicFramePr>
          <p:nvPr>
            <p:extLst>
              <p:ext uri="{D42A27DB-BD31-4B8C-83A1-F6EECF244321}">
                <p14:modId xmlns:p14="http://schemas.microsoft.com/office/powerpoint/2010/main" val="666320780"/>
              </p:ext>
            </p:extLst>
          </p:nvPr>
        </p:nvGraphicFramePr>
        <p:xfrm>
          <a:off x="4143554" y="5645033"/>
          <a:ext cx="1752600" cy="495300"/>
        </p:xfrm>
        <a:graphic>
          <a:graphicData uri="http://schemas.openxmlformats.org/presentationml/2006/ole">
            <mc:AlternateContent xmlns:mc="http://schemas.openxmlformats.org/markup-compatibility/2006">
              <mc:Choice xmlns:v="urn:schemas-microsoft-com:vml" Requires="v">
                <p:oleObj name="公式" r:id="rId53" imgW="812447" imgH="228501" progId="Equation.3">
                  <p:embed/>
                </p:oleObj>
              </mc:Choice>
              <mc:Fallback>
                <p:oleObj name="公式" r:id="rId53" imgW="812447" imgH="228501" progId="Equation.3">
                  <p:embed/>
                  <p:pic>
                    <p:nvPicPr>
                      <p:cNvPr id="0" name="对象 86"/>
                      <p:cNvPicPr>
                        <a:picLocks noChangeAspect="1" noChangeArrowheads="1"/>
                      </p:cNvPicPr>
                      <p:nvPr/>
                    </p:nvPicPr>
                    <p:blipFill>
                      <a:blip r:embed="rId54">
                        <a:extLst>
                          <a:ext uri="{28A0092B-C50C-407E-A947-70E740481C1C}">
                            <a14:useLocalDpi xmlns:a14="http://schemas.microsoft.com/office/drawing/2010/main" val="0"/>
                          </a:ext>
                        </a:extLst>
                      </a:blip>
                      <a:srcRect/>
                      <a:stretch>
                        <a:fillRect/>
                      </a:stretch>
                    </p:blipFill>
                    <p:spPr bwMode="auto">
                      <a:xfrm>
                        <a:off x="4143554" y="5645033"/>
                        <a:ext cx="1752600"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2" name="对象 81"/>
          <p:cNvGraphicFramePr>
            <a:graphicFrameLocks noChangeAspect="1"/>
          </p:cNvGraphicFramePr>
          <p:nvPr>
            <p:extLst>
              <p:ext uri="{D42A27DB-BD31-4B8C-83A1-F6EECF244321}">
                <p14:modId xmlns:p14="http://schemas.microsoft.com/office/powerpoint/2010/main" val="1787099111"/>
              </p:ext>
            </p:extLst>
          </p:nvPr>
        </p:nvGraphicFramePr>
        <p:xfrm>
          <a:off x="886159" y="6174681"/>
          <a:ext cx="7527897" cy="755266"/>
        </p:xfrm>
        <a:graphic>
          <a:graphicData uri="http://schemas.openxmlformats.org/presentationml/2006/ole">
            <mc:AlternateContent xmlns:mc="http://schemas.openxmlformats.org/markup-compatibility/2006">
              <mc:Choice xmlns:v="urn:schemas-microsoft-com:vml" Requires="v">
                <p:oleObj name="公式" r:id="rId55" imgW="4303432" imgH="431613" progId="Equation.3">
                  <p:embed/>
                </p:oleObj>
              </mc:Choice>
              <mc:Fallback>
                <p:oleObj name="公式" r:id="rId55" imgW="4303432" imgH="431613" progId="Equation.3">
                  <p:embed/>
                  <p:pic>
                    <p:nvPicPr>
                      <p:cNvPr id="0" name="对象 87"/>
                      <p:cNvPicPr>
                        <a:picLocks noChangeAspect="1" noChangeArrowheads="1"/>
                      </p:cNvPicPr>
                      <p:nvPr/>
                    </p:nvPicPr>
                    <p:blipFill>
                      <a:blip r:embed="rId56">
                        <a:extLst>
                          <a:ext uri="{28A0092B-C50C-407E-A947-70E740481C1C}">
                            <a14:useLocalDpi xmlns:a14="http://schemas.microsoft.com/office/drawing/2010/main" val="0"/>
                          </a:ext>
                        </a:extLst>
                      </a:blip>
                      <a:srcRect/>
                      <a:stretch>
                        <a:fillRect/>
                      </a:stretch>
                    </p:blipFill>
                    <p:spPr bwMode="auto">
                      <a:xfrm>
                        <a:off x="886159" y="6174681"/>
                        <a:ext cx="7527897" cy="755266"/>
                      </a:xfrm>
                      <a:prstGeom prst="rect">
                        <a:avLst/>
                      </a:prstGeom>
                      <a:noFill/>
                    </p:spPr>
                  </p:pic>
                </p:oleObj>
              </mc:Fallback>
            </mc:AlternateContent>
          </a:graphicData>
        </a:graphic>
      </p:graphicFrame>
      <p:sp>
        <p:nvSpPr>
          <p:cNvPr id="83" name="Rectangle 82"/>
          <p:cNvSpPr>
            <a:spLocks noChangeArrowheads="1"/>
          </p:cNvSpPr>
          <p:nvPr/>
        </p:nvSpPr>
        <p:spPr bwMode="auto">
          <a:xfrm>
            <a:off x="0" y="1050504"/>
            <a:ext cx="295625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例</a:t>
            </a:r>
            <a:r>
              <a:rPr kumimoji="0" 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：他励直流电动机</a:t>
            </a:r>
            <a:endParaRPr kumimoji="0" lang="zh-CN" sz="18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p:txBody>
      </p:sp>
      <p:sp>
        <p:nvSpPr>
          <p:cNvPr id="84" name="Rectangle 83"/>
          <p:cNvSpPr>
            <a:spLocks noChangeArrowheads="1"/>
          </p:cNvSpPr>
          <p:nvPr/>
        </p:nvSpPr>
        <p:spPr bwMode="auto">
          <a:xfrm>
            <a:off x="3779912" y="1050504"/>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千瓦</a:t>
            </a:r>
            <a:r>
              <a:rPr kumimoji="0" lang="en-US" alt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p:txBody>
      </p:sp>
      <p:sp>
        <p:nvSpPr>
          <p:cNvPr id="85" name="Rectangle 84"/>
          <p:cNvSpPr>
            <a:spLocks noChangeArrowheads="1"/>
          </p:cNvSpPr>
          <p:nvPr/>
        </p:nvSpPr>
        <p:spPr bwMode="auto">
          <a:xfrm>
            <a:off x="5842740" y="1053548"/>
            <a:ext cx="1107996"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伏</a:t>
            </a:r>
            <a:r>
              <a:rPr kumimoji="0" lang="en-US" alt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a:t>
            </a:r>
            <a:endParaRPr kumimoji="0" lang="zh-CN" altLang="en-US" sz="8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86" name="Rectangle 85"/>
          <p:cNvSpPr>
            <a:spLocks noChangeArrowheads="1"/>
          </p:cNvSpPr>
          <p:nvPr/>
        </p:nvSpPr>
        <p:spPr bwMode="auto">
          <a:xfrm>
            <a:off x="7826652" y="1068190"/>
            <a:ext cx="156966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转</a:t>
            </a:r>
            <a:r>
              <a:rPr kumimoji="0" lang="en-US" alt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分</a:t>
            </a:r>
            <a:r>
              <a:rPr kumimoji="0" lang="en-US" alt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p:txBody>
      </p:sp>
      <p:sp>
        <p:nvSpPr>
          <p:cNvPr id="87" name="Rectangle 86"/>
          <p:cNvSpPr>
            <a:spLocks noChangeArrowheads="1"/>
          </p:cNvSpPr>
          <p:nvPr/>
        </p:nvSpPr>
        <p:spPr bwMode="auto">
          <a:xfrm>
            <a:off x="6972748" y="1430715"/>
            <a:ext cx="172354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①输入功率</a:t>
            </a:r>
            <a:endParaRPr kumimoji="0" lang="zh-CN" altLang="en-US" sz="18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p:txBody>
      </p:sp>
      <p:sp>
        <p:nvSpPr>
          <p:cNvPr id="88" name="Rectangle 87"/>
          <p:cNvSpPr>
            <a:spLocks noChangeArrowheads="1"/>
          </p:cNvSpPr>
          <p:nvPr/>
        </p:nvSpPr>
        <p:spPr bwMode="auto">
          <a:xfrm>
            <a:off x="43245" y="1880204"/>
            <a:ext cx="8547114" cy="1215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en-US" altLang="zh-CN"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 ②</a:t>
            </a:r>
            <a:r>
              <a:rPr kumimoji="0" lang="zh-CN" altLang="en-US" sz="2400" b="0"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额定电流  </a:t>
            </a:r>
            <a:r>
              <a:rPr lang="en-US" altLang="zh-CN" sz="2400" dirty="0">
                <a:latin typeface="楷体" panose="02010609060101010101" pitchFamily="49" charset="-122"/>
                <a:ea typeface="楷体" panose="02010609060101010101" pitchFamily="49" charset="-122"/>
                <a:cs typeface="Times New Roman" panose="02020603050405020304" pitchFamily="18" charset="0"/>
              </a:rPr>
              <a:t>③</a:t>
            </a:r>
            <a:r>
              <a:rPr lang="zh-CN" altLang="en-US" sz="2400" dirty="0">
                <a:latin typeface="楷体" panose="02010609060101010101" pitchFamily="49" charset="-122"/>
                <a:ea typeface="楷体" panose="02010609060101010101" pitchFamily="49" charset="-122"/>
                <a:cs typeface="Times New Roman" panose="02020603050405020304" pitchFamily="18" charset="0"/>
              </a:rPr>
              <a:t>电磁功率    </a:t>
            </a:r>
            <a:r>
              <a:rPr lang="en-US" altLang="zh-CN" sz="2400" dirty="0">
                <a:latin typeface="楷体" panose="02010609060101010101" pitchFamily="49" charset="-122"/>
                <a:ea typeface="楷体" panose="02010609060101010101" pitchFamily="49" charset="-122"/>
                <a:cs typeface="Times New Roman" panose="02020603050405020304" pitchFamily="18" charset="0"/>
              </a:rPr>
              <a:t>④</a:t>
            </a:r>
            <a:r>
              <a:rPr lang="zh-CN" altLang="en-US" sz="2400" dirty="0">
                <a:latin typeface="楷体" panose="02010609060101010101" pitchFamily="49" charset="-122"/>
                <a:ea typeface="楷体" panose="02010609060101010101" pitchFamily="49" charset="-122"/>
                <a:cs typeface="Times New Roman" panose="02020603050405020304" pitchFamily="18" charset="0"/>
              </a:rPr>
              <a:t>空载损耗   </a:t>
            </a:r>
            <a:r>
              <a:rPr lang="zh-CN" altLang="zh-CN" sz="2400" dirty="0">
                <a:latin typeface="楷体" panose="02010609060101010101" pitchFamily="49" charset="-122"/>
                <a:ea typeface="楷体" panose="02010609060101010101" pitchFamily="49" charset="-122"/>
                <a:cs typeface="Times New Roman" panose="02020603050405020304" pitchFamily="18" charset="0"/>
              </a:rPr>
              <a:t>⑤电磁转矩</a:t>
            </a:r>
            <a:r>
              <a:rPr lang="en-US" altLang="zh-CN" sz="2400" dirty="0">
                <a:latin typeface="楷体" panose="02010609060101010101" pitchFamily="49" charset="-122"/>
                <a:ea typeface="楷体" panose="02010609060101010101" pitchFamily="49" charset="-122"/>
                <a:cs typeface="Times New Roman" panose="02020603050405020304" pitchFamily="18" charset="0"/>
              </a:rPr>
              <a:t>        </a:t>
            </a:r>
          </a:p>
          <a:p>
            <a:pPr eaLnBrk="0" hangingPunct="0"/>
            <a:r>
              <a:rPr lang="en-US" altLang="zh-CN" sz="2400" dirty="0">
                <a:latin typeface="楷体" panose="02010609060101010101" pitchFamily="49" charset="-122"/>
                <a:ea typeface="楷体" panose="02010609060101010101" pitchFamily="49" charset="-122"/>
                <a:cs typeface="Times New Roman" panose="02020603050405020304" pitchFamily="18" charset="0"/>
              </a:rPr>
              <a:t>  ⑥</a:t>
            </a:r>
            <a:r>
              <a:rPr lang="zh-CN" altLang="en-US" sz="2400" dirty="0">
                <a:latin typeface="楷体" panose="02010609060101010101" pitchFamily="49" charset="-122"/>
                <a:ea typeface="楷体" panose="02010609060101010101" pitchFamily="49" charset="-122"/>
                <a:cs typeface="Times New Roman" panose="02020603050405020304" pitchFamily="18" charset="0"/>
              </a:rPr>
              <a:t>空载转矩     </a:t>
            </a:r>
            <a:r>
              <a:rPr lang="en-US" altLang="zh-CN" sz="2400" dirty="0">
                <a:latin typeface="楷体" panose="02010609060101010101" pitchFamily="49" charset="-122"/>
                <a:ea typeface="楷体" panose="02010609060101010101" pitchFamily="49" charset="-122"/>
                <a:cs typeface="Times New Roman" panose="02020603050405020304" pitchFamily="18" charset="0"/>
              </a:rPr>
              <a:t>⑦</a:t>
            </a:r>
            <a:r>
              <a:rPr lang="zh-CN" altLang="en-US" sz="2400" dirty="0">
                <a:latin typeface="楷体" panose="02010609060101010101" pitchFamily="49" charset="-122"/>
                <a:ea typeface="楷体" panose="02010609060101010101" pitchFamily="49" charset="-122"/>
                <a:cs typeface="Times New Roman" panose="02020603050405020304" pitchFamily="18" charset="0"/>
              </a:rPr>
              <a:t>轴上输出转矩</a:t>
            </a:r>
            <a:endParaRPr lang="zh-CN" altLang="en-US" sz="2400" dirty="0">
              <a:latin typeface="楷体" panose="02010609060101010101" pitchFamily="49" charset="-122"/>
              <a:ea typeface="楷体" panose="02010609060101010101" pitchFamily="49" charset="-122"/>
            </a:endParaRPr>
          </a:p>
          <a:p>
            <a:pPr lvl="0" eaLnBrk="0" hangingPunct="0"/>
            <a:endParaRPr lang="zh-CN" altLang="zh-CN" sz="1100" dirty="0"/>
          </a:p>
          <a:p>
            <a:pPr eaLnBrk="0" hangingPunct="0"/>
            <a:endParaRPr lang="zh-CN" altLang="en-US" sz="1400" dirty="0"/>
          </a:p>
        </p:txBody>
      </p:sp>
      <p:sp>
        <p:nvSpPr>
          <p:cNvPr id="89" name="Rectangle 88"/>
          <p:cNvSpPr>
            <a:spLocks noChangeArrowheads="1"/>
          </p:cNvSpPr>
          <p:nvPr/>
        </p:nvSpPr>
        <p:spPr bwMode="auto">
          <a:xfrm>
            <a:off x="886159" y="3412704"/>
            <a:ext cx="41549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92" name="Rectangle 91"/>
          <p:cNvSpPr>
            <a:spLocks noChangeArrowheads="1"/>
          </p:cNvSpPr>
          <p:nvPr/>
        </p:nvSpPr>
        <p:spPr bwMode="auto">
          <a:xfrm>
            <a:off x="0" y="5517729"/>
            <a:ext cx="41549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93" name="Rectangle 92"/>
          <p:cNvSpPr>
            <a:spLocks noChangeArrowheads="1"/>
          </p:cNvSpPr>
          <p:nvPr/>
        </p:nvSpPr>
        <p:spPr bwMode="auto">
          <a:xfrm>
            <a:off x="0" y="6060654"/>
            <a:ext cx="41549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94" name="Rectangle 93"/>
          <p:cNvSpPr>
            <a:spLocks noChangeArrowheads="1"/>
          </p:cNvSpPr>
          <p:nvPr/>
        </p:nvSpPr>
        <p:spPr bwMode="auto">
          <a:xfrm>
            <a:off x="0" y="28530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解：本题所用计算公式为</a:t>
            </a:r>
            <a:endParaRPr kumimoji="0" 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97" name="Rectangle 96"/>
          <p:cNvSpPr>
            <a:spLocks noChangeArrowheads="1"/>
          </p:cNvSpPr>
          <p:nvPr/>
        </p:nvSpPr>
        <p:spPr bwMode="auto">
          <a:xfrm>
            <a:off x="0" y="9044211"/>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0" name="Rectangle 99"/>
          <p:cNvSpPr>
            <a:spLocks noChangeArrowheads="1"/>
          </p:cNvSpPr>
          <p:nvPr/>
        </p:nvSpPr>
        <p:spPr bwMode="auto">
          <a:xfrm>
            <a:off x="0" y="12063636"/>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4" name="Rectangle 103"/>
          <p:cNvSpPr>
            <a:spLocks noChangeArrowheads="1"/>
          </p:cNvSpPr>
          <p:nvPr/>
        </p:nvSpPr>
        <p:spPr bwMode="auto">
          <a:xfrm>
            <a:off x="0" y="14092461"/>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7" name="Rectangle 106"/>
          <p:cNvSpPr>
            <a:spLocks noChangeArrowheads="1"/>
          </p:cNvSpPr>
          <p:nvPr/>
        </p:nvSpPr>
        <p:spPr bwMode="auto">
          <a:xfrm>
            <a:off x="36251" y="5771701"/>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3048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304800" algn="l" defTabSz="914400" rtl="0" eaLnBrk="0" fontAlgn="base" latinLnBrk="0" hangingPunct="0">
              <a:lnSpc>
                <a:spcPct val="100000"/>
              </a:lnSpc>
              <a:spcBef>
                <a:spcPct val="0"/>
              </a:spcBef>
              <a:spcAft>
                <a:spcPct val="0"/>
              </a:spcAft>
              <a:buClrTx/>
              <a:buSzTx/>
              <a:buFontTx/>
              <a:buNone/>
              <a:tabLst/>
            </a:pPr>
            <a:r>
              <a:rPr kumimoji="0" lang="zh-CN"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或：</a:t>
            </a:r>
            <a:endParaRPr kumimoji="0" lang="zh-CN" sz="800" b="0" i="0" u="none" strike="noStrike" cap="none" normalizeH="0" baseline="0" dirty="0">
              <a:ln>
                <a:noFill/>
              </a:ln>
              <a:solidFill>
                <a:schemeClr val="tx1"/>
              </a:solidFill>
              <a:effectLst/>
            </a:endParaRPr>
          </a:p>
          <a:p>
            <a:pPr marL="0" marR="0" lvl="0" indent="304800" algn="l" defTabSz="914400" rtl="0" eaLnBrk="0" fontAlgn="base" latinLnBrk="0" hangingPunct="0">
              <a:lnSpc>
                <a:spcPct val="100000"/>
              </a:lnSpc>
              <a:spcBef>
                <a:spcPct val="0"/>
              </a:spcBef>
              <a:spcAft>
                <a:spcPct val="0"/>
              </a:spcAft>
              <a:buClrTx/>
              <a:buSzTx/>
              <a:buFontTx/>
              <a:buNone/>
              <a:tabLst/>
            </a:pPr>
            <a:endParaRPr kumimoji="0" lang="zh-CN" sz="1800" b="0" i="0" u="none" strike="noStrike" cap="none" normalizeH="0" baseline="0" dirty="0">
              <a:ln>
                <a:noFill/>
              </a:ln>
              <a:solidFill>
                <a:schemeClr val="tx1"/>
              </a:solidFill>
              <a:effectLst/>
              <a:latin typeface="Arial" panose="020B0604020202020204" pitchFamily="34" charset="0"/>
            </a:endParaRPr>
          </a:p>
        </p:txBody>
      </p:sp>
      <p:sp>
        <p:nvSpPr>
          <p:cNvPr id="110" name="矩形 109"/>
          <p:cNvSpPr/>
          <p:nvPr/>
        </p:nvSpPr>
        <p:spPr>
          <a:xfrm>
            <a:off x="1125795" y="1432948"/>
            <a:ext cx="3570208" cy="461665"/>
          </a:xfrm>
          <a:prstGeom prst="rect">
            <a:avLst/>
          </a:prstGeom>
        </p:spPr>
        <p:txBody>
          <a:bodyPr wrap="none">
            <a:spAutoFit/>
          </a:bodyPr>
          <a:lstStyle/>
          <a:p>
            <a:pPr lvl="0" eaLnBrk="0" hangingPunct="0"/>
            <a:r>
              <a:rPr lang="zh-CN" altLang="zh-CN" sz="2400" dirty="0">
                <a:latin typeface="楷体" panose="02010609060101010101" pitchFamily="49" charset="-122"/>
                <a:ea typeface="楷体" panose="02010609060101010101" pitchFamily="49" charset="-122"/>
                <a:cs typeface="Times New Roman" panose="02020603050405020304" pitchFamily="18" charset="0"/>
              </a:rPr>
              <a:t>，电枢电阻</a:t>
            </a:r>
            <a:r>
              <a:rPr lang="en-US" altLang="zh-CN" sz="2400" dirty="0">
                <a:latin typeface="楷体" panose="02010609060101010101" pitchFamily="49" charset="-122"/>
                <a:ea typeface="楷体" panose="02010609060101010101" pitchFamily="49" charset="-122"/>
                <a:cs typeface="Times New Roman" panose="02020603050405020304" pitchFamily="18" charset="0"/>
              </a:rPr>
              <a:t>Ra=0.8[</a:t>
            </a:r>
            <a:r>
              <a:rPr lang="zh-CN" altLang="en-US" sz="2400" dirty="0">
                <a:latin typeface="楷体" panose="02010609060101010101" pitchFamily="49" charset="-122"/>
                <a:ea typeface="楷体" panose="02010609060101010101" pitchFamily="49" charset="-122"/>
                <a:cs typeface="Times New Roman" panose="02020603050405020304" pitchFamily="18" charset="0"/>
              </a:rPr>
              <a:t>欧</a:t>
            </a:r>
            <a:r>
              <a:rPr lang="en-US" altLang="zh-CN" sz="2400" dirty="0">
                <a:latin typeface="楷体" panose="02010609060101010101" pitchFamily="49" charset="-122"/>
                <a:ea typeface="楷体" panose="02010609060101010101" pitchFamily="49" charset="-122"/>
                <a:cs typeface="Times New Roman" panose="02020603050405020304" pitchFamily="18" charset="0"/>
              </a:rPr>
              <a:t>]</a:t>
            </a:r>
            <a:r>
              <a:rPr lang="zh-CN" altLang="en-US" sz="2400" dirty="0">
                <a:latin typeface="楷体" panose="02010609060101010101" pitchFamily="49" charset="-122"/>
                <a:ea typeface="楷体" panose="02010609060101010101" pitchFamily="49" charset="-122"/>
                <a:cs typeface="Times New Roman" panose="02020603050405020304" pitchFamily="18" charset="0"/>
              </a:rPr>
              <a:t>。</a:t>
            </a:r>
            <a:endParaRPr lang="zh-CN" altLang="en-US" sz="2400" dirty="0">
              <a:latin typeface="楷体" panose="02010609060101010101" pitchFamily="49" charset="-122"/>
              <a:ea typeface="楷体" panose="02010609060101010101" pitchFamily="49" charset="-122"/>
            </a:endParaRPr>
          </a:p>
        </p:txBody>
      </p:sp>
      <p:sp>
        <p:nvSpPr>
          <p:cNvPr id="111" name="矩形 110"/>
          <p:cNvSpPr/>
          <p:nvPr/>
        </p:nvSpPr>
        <p:spPr>
          <a:xfrm>
            <a:off x="4365412" y="1430716"/>
            <a:ext cx="2954655" cy="461665"/>
          </a:xfrm>
          <a:prstGeom prst="rect">
            <a:avLst/>
          </a:prstGeom>
        </p:spPr>
        <p:txBody>
          <a:bodyPr wrap="none">
            <a:spAutoFit/>
          </a:bodyPr>
          <a:lstStyle/>
          <a:p>
            <a:pPr lvl="0" eaLnBrk="0" hangingPunct="0"/>
            <a:r>
              <a:rPr lang="zh-CN" altLang="en-US" sz="2400" dirty="0">
                <a:latin typeface="楷体" panose="02010609060101010101" pitchFamily="49" charset="-122"/>
                <a:ea typeface="楷体" panose="02010609060101010101" pitchFamily="49" charset="-122"/>
                <a:cs typeface="Times New Roman" panose="02020603050405020304" pitchFamily="18" charset="0"/>
              </a:rPr>
              <a:t>试求额定状态下的：</a:t>
            </a:r>
            <a:endParaRPr lang="zh-CN" altLang="en-US" sz="2400" dirty="0">
              <a:latin typeface="楷体" panose="02010609060101010101" pitchFamily="49" charset="-122"/>
              <a:ea typeface="楷体" panose="02010609060101010101" pitchFamily="49" charset="-122"/>
            </a:endParaRPr>
          </a:p>
        </p:txBody>
      </p:sp>
      <p:sp>
        <p:nvSpPr>
          <p:cNvPr id="112" name="文本框 111"/>
          <p:cNvSpPr txBox="1"/>
          <p:nvPr/>
        </p:nvSpPr>
        <p:spPr>
          <a:xfrm>
            <a:off x="571797" y="4100954"/>
            <a:ext cx="1107996" cy="461665"/>
          </a:xfrm>
          <a:prstGeom prst="rect">
            <a:avLst/>
          </a:prstGeom>
          <a:noFill/>
        </p:spPr>
        <p:txBody>
          <a:bodyPr wrap="none" rtlCol="0">
            <a:spAutoFit/>
          </a:bodyPr>
          <a:lstStyle/>
          <a:p>
            <a:r>
              <a:rPr lang="zh-CN" altLang="en-US" sz="2400" dirty="0">
                <a:latin typeface="黑体" panose="02010609060101010101" pitchFamily="49" charset="-122"/>
                <a:ea typeface="黑体" panose="02010609060101010101" pitchFamily="49" charset="-122"/>
              </a:rPr>
              <a:t>则有：</a:t>
            </a:r>
          </a:p>
        </p:txBody>
      </p:sp>
      <p:sp>
        <p:nvSpPr>
          <p:cNvPr id="6" name="日期占位符 5">
            <a:extLst>
              <a:ext uri="{FF2B5EF4-FFF2-40B4-BE49-F238E27FC236}">
                <a16:creationId xmlns:a16="http://schemas.microsoft.com/office/drawing/2014/main" id="{04C36B3A-ADF4-31E2-7DEF-015282ECD795}"/>
              </a:ext>
            </a:extLst>
          </p:cNvPr>
          <p:cNvSpPr>
            <a:spLocks noGrp="1"/>
          </p:cNvSpPr>
          <p:nvPr>
            <p:ph type="dt" sz="half" idx="10"/>
          </p:nvPr>
        </p:nvSpPr>
        <p:spPr>
          <a:xfrm>
            <a:off x="8319253" y="33644"/>
            <a:ext cx="824747" cy="476250"/>
          </a:xfrm>
        </p:spPr>
        <p:txBody>
          <a:bodyPr/>
          <a:lstStyle/>
          <a:p>
            <a:fld id="{C2E43B10-8902-4E42-984A-1EEC489D044E}" type="datetime10">
              <a:rPr lang="en-US" altLang="zh-CN" smtClean="0"/>
              <a:t>16:53</a:t>
            </a:fld>
            <a:endParaRPr lang="en-US" altLang="zh-CN" dirty="0"/>
          </a:p>
        </p:txBody>
      </p:sp>
      <p:sp>
        <p:nvSpPr>
          <p:cNvPr id="7" name="灯片编号占位符 6">
            <a:extLst>
              <a:ext uri="{FF2B5EF4-FFF2-40B4-BE49-F238E27FC236}">
                <a16:creationId xmlns:a16="http://schemas.microsoft.com/office/drawing/2014/main" id="{E3F692EC-B73C-D033-B979-6DA87DC1943C}"/>
              </a:ext>
            </a:extLst>
          </p:cNvPr>
          <p:cNvSpPr>
            <a:spLocks noGrp="1"/>
          </p:cNvSpPr>
          <p:nvPr>
            <p:ph type="sldNum" sz="quarter" idx="12"/>
          </p:nvPr>
        </p:nvSpPr>
        <p:spPr/>
        <p:txBody>
          <a:bodyPr/>
          <a:lstStyle/>
          <a:p>
            <a:fld id="{76D830B0-DF59-4281-898F-AF208100B213}" type="slidenum">
              <a:rPr lang="en-US" altLang="zh-CN" smtClean="0"/>
              <a:pPr/>
              <a:t>80</a:t>
            </a:fld>
            <a:endParaRPr lang="en-US" altLang="zh-CN"/>
          </a:p>
        </p:txBody>
      </p:sp>
    </p:spTree>
    <p:extLst>
      <p:ext uri="{BB962C8B-B14F-4D97-AF65-F5344CB8AC3E}">
        <p14:creationId xmlns:p14="http://schemas.microsoft.com/office/powerpoint/2010/main" val="42239708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889844"/>
            <a:ext cx="8892480" cy="5693866"/>
          </a:xfrm>
          <a:prstGeom prst="rect">
            <a:avLst/>
          </a:prstGeom>
        </p:spPr>
        <p:txBody>
          <a:bodyPr wrap="square">
            <a:spAutoFit/>
          </a:bodyPr>
          <a:lstStyle/>
          <a:p>
            <a:pPr algn="just">
              <a:spcAft>
                <a:spcPts val="0"/>
              </a:spcAft>
            </a:pPr>
            <a:r>
              <a:rPr lang="zh-CN" altLang="zh-CN" sz="2800" b="1" kern="100" dirty="0">
                <a:solidFill>
                  <a:srgbClr val="FF0000"/>
                </a:solidFill>
                <a:latin typeface="楷体" panose="02010609060101010101" pitchFamily="49" charset="-122"/>
                <a:ea typeface="楷体" panose="02010609060101010101" pitchFamily="49" charset="-122"/>
              </a:rPr>
              <a:t>习题：</a:t>
            </a:r>
            <a:r>
              <a:rPr lang="en-US" altLang="zh-CN" sz="2800" b="1" kern="100" dirty="0">
                <a:solidFill>
                  <a:srgbClr val="FF0000"/>
                </a:solidFill>
                <a:latin typeface="楷体" panose="02010609060101010101" pitchFamily="49" charset="-122"/>
                <a:ea typeface="楷体" panose="02010609060101010101" pitchFamily="49" charset="-122"/>
              </a:rPr>
              <a:t>2</a:t>
            </a:r>
            <a:r>
              <a:rPr lang="zh-CN" altLang="zh-CN" sz="2800" b="1" kern="100" dirty="0">
                <a:solidFill>
                  <a:srgbClr val="FF0000"/>
                </a:solidFill>
                <a:latin typeface="楷体" panose="02010609060101010101" pitchFamily="49" charset="-122"/>
                <a:ea typeface="楷体" panose="02010609060101010101" pitchFamily="49" charset="-122"/>
              </a:rPr>
              <a:t>－</a:t>
            </a:r>
            <a:r>
              <a:rPr lang="en-US" altLang="zh-CN" sz="2800" b="1" kern="100" dirty="0">
                <a:solidFill>
                  <a:srgbClr val="FF0000"/>
                </a:solidFill>
                <a:latin typeface="楷体" panose="02010609060101010101" pitchFamily="49" charset="-122"/>
                <a:ea typeface="楷体" panose="02010609060101010101" pitchFamily="49" charset="-122"/>
              </a:rPr>
              <a:t>10</a:t>
            </a:r>
            <a:r>
              <a:rPr lang="zh-CN" altLang="zh-CN" sz="2800" b="1" kern="100" dirty="0">
                <a:solidFill>
                  <a:srgbClr val="FF0000"/>
                </a:solidFill>
                <a:latin typeface="楷体" panose="02010609060101010101" pitchFamily="49" charset="-122"/>
                <a:ea typeface="楷体" panose="02010609060101010101" pitchFamily="49" charset="-122"/>
              </a:rPr>
              <a:t>、</a:t>
            </a:r>
            <a:r>
              <a:rPr lang="en-US" altLang="zh-CN" sz="2800" b="1" kern="100" dirty="0">
                <a:solidFill>
                  <a:srgbClr val="FF0000"/>
                </a:solidFill>
                <a:latin typeface="楷体" panose="02010609060101010101" pitchFamily="49" charset="-122"/>
                <a:ea typeface="楷体" panose="02010609060101010101" pitchFamily="49" charset="-122"/>
              </a:rPr>
              <a:t>2</a:t>
            </a:r>
            <a:r>
              <a:rPr lang="zh-CN" altLang="zh-CN" sz="2800" b="1" kern="100" dirty="0">
                <a:solidFill>
                  <a:srgbClr val="FF0000"/>
                </a:solidFill>
                <a:latin typeface="楷体" panose="02010609060101010101" pitchFamily="49" charset="-122"/>
                <a:ea typeface="楷体" panose="02010609060101010101" pitchFamily="49" charset="-122"/>
              </a:rPr>
              <a:t>－</a:t>
            </a:r>
            <a:r>
              <a:rPr lang="en-US" altLang="zh-CN" sz="2800" b="1" kern="100" dirty="0">
                <a:solidFill>
                  <a:srgbClr val="FF0000"/>
                </a:solidFill>
                <a:latin typeface="楷体" panose="02010609060101010101" pitchFamily="49" charset="-122"/>
                <a:ea typeface="楷体" panose="02010609060101010101" pitchFamily="49" charset="-122"/>
              </a:rPr>
              <a:t>12</a:t>
            </a:r>
            <a:r>
              <a:rPr lang="zh-CN" altLang="zh-CN" sz="2800" b="1" kern="100" dirty="0">
                <a:solidFill>
                  <a:srgbClr val="FF0000"/>
                </a:solidFill>
                <a:latin typeface="楷体" panose="02010609060101010101" pitchFamily="49" charset="-122"/>
                <a:ea typeface="楷体" panose="02010609060101010101" pitchFamily="49" charset="-122"/>
              </a:rPr>
              <a:t>、</a:t>
            </a:r>
            <a:r>
              <a:rPr lang="en-US" altLang="zh-CN" sz="2800" b="1" kern="100" dirty="0">
                <a:solidFill>
                  <a:srgbClr val="FF0000"/>
                </a:solidFill>
                <a:latin typeface="楷体" panose="02010609060101010101" pitchFamily="49" charset="-122"/>
                <a:ea typeface="楷体" panose="02010609060101010101" pitchFamily="49" charset="-122"/>
              </a:rPr>
              <a:t>2</a:t>
            </a:r>
            <a:r>
              <a:rPr lang="zh-CN" altLang="zh-CN" sz="2800" b="1" kern="100" dirty="0">
                <a:solidFill>
                  <a:srgbClr val="FF0000"/>
                </a:solidFill>
                <a:latin typeface="楷体" panose="02010609060101010101" pitchFamily="49" charset="-122"/>
                <a:ea typeface="楷体" panose="02010609060101010101" pitchFamily="49" charset="-122"/>
              </a:rPr>
              <a:t>－</a:t>
            </a:r>
            <a:r>
              <a:rPr lang="en-US" altLang="zh-CN" sz="2800" b="1" kern="100" dirty="0">
                <a:solidFill>
                  <a:srgbClr val="FF0000"/>
                </a:solidFill>
                <a:latin typeface="楷体" panose="02010609060101010101" pitchFamily="49" charset="-122"/>
                <a:ea typeface="楷体" panose="02010609060101010101" pitchFamily="49" charset="-122"/>
              </a:rPr>
              <a:t>13</a:t>
            </a:r>
            <a:r>
              <a:rPr lang="zh-CN" altLang="zh-CN" sz="2800" b="1" kern="100" dirty="0">
                <a:solidFill>
                  <a:srgbClr val="FF0000"/>
                </a:solidFill>
                <a:latin typeface="楷体" panose="02010609060101010101" pitchFamily="49" charset="-122"/>
                <a:ea typeface="楷体" panose="02010609060101010101" pitchFamily="49" charset="-122"/>
              </a:rPr>
              <a:t>、</a:t>
            </a:r>
            <a:r>
              <a:rPr lang="en-US" altLang="zh-CN" sz="2800" b="1" kern="100" dirty="0">
                <a:solidFill>
                  <a:srgbClr val="FF0000"/>
                </a:solidFill>
                <a:latin typeface="楷体" panose="02010609060101010101" pitchFamily="49" charset="-122"/>
                <a:ea typeface="楷体" panose="02010609060101010101" pitchFamily="49" charset="-122"/>
              </a:rPr>
              <a:t>2</a:t>
            </a:r>
            <a:r>
              <a:rPr lang="zh-CN" altLang="zh-CN" sz="2800" b="1" kern="100" dirty="0">
                <a:solidFill>
                  <a:srgbClr val="FF0000"/>
                </a:solidFill>
                <a:latin typeface="楷体" panose="02010609060101010101" pitchFamily="49" charset="-122"/>
                <a:ea typeface="楷体" panose="02010609060101010101" pitchFamily="49" charset="-122"/>
              </a:rPr>
              <a:t>－</a:t>
            </a:r>
            <a:r>
              <a:rPr lang="en-US" altLang="zh-CN" sz="2800" b="1" kern="100" dirty="0">
                <a:solidFill>
                  <a:srgbClr val="FF0000"/>
                </a:solidFill>
                <a:latin typeface="楷体" panose="02010609060101010101" pitchFamily="49" charset="-122"/>
                <a:ea typeface="楷体" panose="02010609060101010101" pitchFamily="49" charset="-122"/>
              </a:rPr>
              <a:t>14</a:t>
            </a:r>
            <a:r>
              <a:rPr lang="zh-CN" altLang="zh-CN" sz="2800" kern="100" dirty="0">
                <a:latin typeface="楷体" panose="02010609060101010101" pitchFamily="49" charset="-122"/>
                <a:ea typeface="楷体" panose="02010609060101010101" pitchFamily="49" charset="-122"/>
              </a:rPr>
              <a:t>；</a:t>
            </a:r>
            <a:r>
              <a:rPr lang="zh-CN" altLang="zh-CN" sz="2800" b="1" kern="100" dirty="0">
                <a:solidFill>
                  <a:srgbClr val="FF0000"/>
                </a:solidFill>
                <a:latin typeface="楷体" panose="02010609060101010101" pitchFamily="49" charset="-122"/>
                <a:ea typeface="楷体" panose="02010609060101010101" pitchFamily="49" charset="-122"/>
              </a:rPr>
              <a:t>第</a:t>
            </a:r>
            <a:r>
              <a:rPr lang="en-US" altLang="zh-CN" sz="2800" b="1" kern="100" dirty="0">
                <a:solidFill>
                  <a:srgbClr val="FF0000"/>
                </a:solidFill>
                <a:latin typeface="楷体" panose="02010609060101010101" pitchFamily="49" charset="-122"/>
                <a:ea typeface="楷体" panose="02010609060101010101" pitchFamily="49" charset="-122"/>
              </a:rPr>
              <a:t>12</a:t>
            </a:r>
            <a:r>
              <a:rPr lang="zh-CN" altLang="zh-CN" sz="2800" b="1" kern="100" dirty="0">
                <a:solidFill>
                  <a:srgbClr val="FF0000"/>
                </a:solidFill>
                <a:latin typeface="楷体" panose="02010609060101010101" pitchFamily="49" charset="-122"/>
                <a:ea typeface="楷体" panose="02010609060101010101" pitchFamily="49" charset="-122"/>
              </a:rPr>
              <a:t>题要求画出机械特性图</a:t>
            </a:r>
            <a:r>
              <a:rPr lang="zh-CN" altLang="zh-CN" sz="2800" kern="100" dirty="0">
                <a:latin typeface="楷体" panose="02010609060101010101" pitchFamily="49" charset="-122"/>
                <a:ea typeface="楷体" panose="02010609060101010101" pitchFamily="49" charset="-122"/>
              </a:rPr>
              <a:t>。</a:t>
            </a:r>
          </a:p>
          <a:p>
            <a:pPr>
              <a:spcAft>
                <a:spcPts val="0"/>
              </a:spcAft>
            </a:pPr>
            <a:r>
              <a:rPr lang="en-US" altLang="zh-CN" sz="2800" kern="100" dirty="0">
                <a:latin typeface="楷体" panose="02010609060101010101" pitchFamily="49" charset="-122"/>
                <a:ea typeface="楷体" panose="02010609060101010101" pitchFamily="49" charset="-122"/>
              </a:rPr>
              <a:t>****************************************</a:t>
            </a:r>
            <a:endParaRPr lang="zh-CN" altLang="zh-CN" sz="2800" kern="100" dirty="0">
              <a:latin typeface="楷体" panose="02010609060101010101" pitchFamily="49" charset="-122"/>
              <a:ea typeface="楷体" panose="02010609060101010101" pitchFamily="49" charset="-122"/>
            </a:endParaRPr>
          </a:p>
          <a:p>
            <a:pPr>
              <a:spcAft>
                <a:spcPts val="0"/>
              </a:spcAft>
            </a:pPr>
            <a:r>
              <a:rPr lang="zh-CN" altLang="zh-CN" sz="2800" b="1" kern="100" dirty="0">
                <a:solidFill>
                  <a:srgbClr val="C00000"/>
                </a:solidFill>
                <a:latin typeface="楷体" panose="02010609060101010101" pitchFamily="49" charset="-122"/>
                <a:ea typeface="楷体" panose="02010609060101010101" pitchFamily="49" charset="-122"/>
              </a:rPr>
              <a:t>学习提示：</a:t>
            </a:r>
            <a:endParaRPr lang="en-US" altLang="zh-CN" sz="2800" b="1" kern="100" dirty="0">
              <a:solidFill>
                <a:srgbClr val="C00000"/>
              </a:solidFill>
              <a:latin typeface="楷体" panose="02010609060101010101" pitchFamily="49" charset="-122"/>
              <a:ea typeface="楷体" panose="02010609060101010101" pitchFamily="49" charset="-122"/>
            </a:endParaRPr>
          </a:p>
          <a:p>
            <a:pPr marL="457200" indent="-457200">
              <a:spcAft>
                <a:spcPts val="0"/>
              </a:spcAft>
              <a:buFont typeface="Arial" panose="020B0604020202020204" pitchFamily="34" charset="0"/>
              <a:buChar char="•"/>
            </a:pPr>
            <a:r>
              <a:rPr lang="zh-CN" altLang="zh-CN" sz="2800" kern="100" dirty="0">
                <a:latin typeface="楷体" panose="02010609060101010101" pitchFamily="49" charset="-122"/>
                <a:ea typeface="楷体" panose="02010609060101010101" pitchFamily="49" charset="-122"/>
              </a:rPr>
              <a:t>各章小结内容须仔细阅读理解。</a:t>
            </a:r>
          </a:p>
          <a:p>
            <a:pPr marL="457200" indent="-457200">
              <a:spcAft>
                <a:spcPts val="0"/>
              </a:spcAft>
              <a:buFont typeface="Arial" panose="020B0604020202020204" pitchFamily="34" charset="0"/>
              <a:buChar char="•"/>
            </a:pPr>
            <a:r>
              <a:rPr lang="zh-CN" altLang="zh-CN" sz="2800" kern="100" dirty="0">
                <a:latin typeface="楷体" panose="02010609060101010101" pitchFamily="49" charset="-122"/>
                <a:ea typeface="楷体" panose="02010609060101010101" pitchFamily="49" charset="-122"/>
              </a:rPr>
              <a:t>本章给出的几个重要方程（</a:t>
            </a:r>
            <a:r>
              <a:rPr lang="zh-CN" altLang="zh-CN" sz="2800" kern="100" dirty="0">
                <a:solidFill>
                  <a:srgbClr val="0000CC"/>
                </a:solidFill>
                <a:latin typeface="楷体" panose="02010609060101010101" pitchFamily="49" charset="-122"/>
                <a:ea typeface="楷体" panose="02010609060101010101" pitchFamily="49" charset="-122"/>
              </a:rPr>
              <a:t>电磁转矩、感应电势、电势平衡方程、功率平衡方程</a:t>
            </a:r>
            <a:r>
              <a:rPr lang="zh-CN" altLang="zh-CN" sz="2800" kern="100" dirty="0">
                <a:latin typeface="楷体" panose="02010609060101010101" pitchFamily="49" charset="-122"/>
                <a:ea typeface="楷体" panose="02010609060101010101" pitchFamily="49" charset="-122"/>
              </a:rPr>
              <a:t>）须牢固掌握其</a:t>
            </a:r>
            <a:r>
              <a:rPr lang="zh-CN" altLang="zh-CN" sz="2800" kern="100" dirty="0">
                <a:solidFill>
                  <a:srgbClr val="0000CC"/>
                </a:solidFill>
                <a:latin typeface="楷体" panose="02010609060101010101" pitchFamily="49" charset="-122"/>
                <a:ea typeface="楷体" panose="02010609060101010101" pitchFamily="49" charset="-122"/>
              </a:rPr>
              <a:t>物理意义</a:t>
            </a:r>
            <a:r>
              <a:rPr lang="zh-CN" altLang="zh-CN" sz="2800" kern="100" dirty="0">
                <a:latin typeface="楷体" panose="02010609060101010101" pitchFamily="49" charset="-122"/>
                <a:ea typeface="楷体" panose="02010609060101010101" pitchFamily="49" charset="-122"/>
              </a:rPr>
              <a:t>及在分析和计算中的正确使用方法</a:t>
            </a:r>
          </a:p>
          <a:p>
            <a:pPr marL="457200" indent="-457200" algn="just">
              <a:spcAft>
                <a:spcPts val="0"/>
              </a:spcAft>
              <a:buFont typeface="Arial" panose="020B0604020202020204" pitchFamily="34" charset="0"/>
              <a:buChar char="•"/>
            </a:pPr>
            <a:r>
              <a:rPr lang="zh-CN" altLang="zh-CN" sz="2800" kern="100" dirty="0">
                <a:latin typeface="楷体" panose="02010609060101010101" pitchFamily="49" charset="-122"/>
                <a:ea typeface="楷体" panose="02010609060101010101" pitchFamily="49" charset="-122"/>
              </a:rPr>
              <a:t>课堂例题与习题中的计算所用公式应能熟练掌握应用</a:t>
            </a:r>
          </a:p>
          <a:p>
            <a:pPr algn="just">
              <a:spcAft>
                <a:spcPts val="0"/>
              </a:spcAft>
            </a:pPr>
            <a:r>
              <a:rPr lang="en-US" altLang="zh-CN" sz="2800" kern="100" dirty="0">
                <a:latin typeface="楷体" panose="02010609060101010101" pitchFamily="49" charset="-122"/>
                <a:ea typeface="楷体" panose="02010609060101010101" pitchFamily="49" charset="-122"/>
              </a:rPr>
              <a:t>   </a:t>
            </a:r>
            <a:r>
              <a:rPr lang="zh-CN" altLang="zh-CN" sz="2800" kern="100" dirty="0">
                <a:latin typeface="楷体" panose="02010609060101010101" pitchFamily="49" charset="-122"/>
                <a:ea typeface="楷体" panose="02010609060101010101" pitchFamily="49" charset="-122"/>
              </a:rPr>
              <a:t>解题计算与作图应注意按规范要求。</a:t>
            </a:r>
          </a:p>
          <a:p>
            <a:pPr marL="457200" indent="-457200" algn="just">
              <a:spcAft>
                <a:spcPts val="0"/>
              </a:spcAft>
              <a:buFont typeface="Arial" panose="020B0604020202020204" pitchFamily="34" charset="0"/>
              <a:buChar char="•"/>
            </a:pPr>
            <a:r>
              <a:rPr lang="zh-CN" altLang="zh-CN" sz="2800" kern="100" dirty="0">
                <a:latin typeface="楷体" panose="02010609060101010101" pitchFamily="49" charset="-122"/>
                <a:ea typeface="楷体" panose="02010609060101010101" pitchFamily="49" charset="-122"/>
              </a:rPr>
              <a:t>每学完一章最好写出自己的本章学习要点，</a:t>
            </a:r>
            <a:r>
              <a:rPr lang="en-US" altLang="zh-CN" sz="2800" kern="100" dirty="0">
                <a:latin typeface="楷体" panose="02010609060101010101" pitchFamily="49" charset="-122"/>
                <a:ea typeface="楷体" panose="02010609060101010101" pitchFamily="49" charset="-122"/>
              </a:rPr>
              <a:t>          </a:t>
            </a:r>
            <a:r>
              <a:rPr lang="zh-CN" altLang="zh-CN" sz="2800" kern="100" dirty="0">
                <a:latin typeface="楷体" panose="02010609060101010101" pitchFamily="49" charset="-122"/>
                <a:ea typeface="楷体" panose="02010609060101010101" pitchFamily="49" charset="-122"/>
                <a:cs typeface="Times New Roman" panose="02020603050405020304" pitchFamily="18" charset="0"/>
              </a:rPr>
              <a:t>将需要记忆的重要概念和公式归纳，以便总复习时使用。</a:t>
            </a:r>
            <a:endParaRPr lang="zh-CN" altLang="en-US" sz="2800" dirty="0">
              <a:latin typeface="楷体" panose="02010609060101010101" pitchFamily="49" charset="-122"/>
              <a:ea typeface="楷体" panose="02010609060101010101" pitchFamily="49" charset="-122"/>
            </a:endParaRPr>
          </a:p>
        </p:txBody>
      </p:sp>
      <p:sp>
        <p:nvSpPr>
          <p:cNvPr id="7" name="日期占位符 6">
            <a:extLst>
              <a:ext uri="{FF2B5EF4-FFF2-40B4-BE49-F238E27FC236}">
                <a16:creationId xmlns:a16="http://schemas.microsoft.com/office/drawing/2014/main" id="{66127189-1893-2A84-F677-709DD6F9EC55}"/>
              </a:ext>
            </a:extLst>
          </p:cNvPr>
          <p:cNvSpPr>
            <a:spLocks noGrp="1"/>
          </p:cNvSpPr>
          <p:nvPr>
            <p:ph type="dt" sz="half" idx="10"/>
          </p:nvPr>
        </p:nvSpPr>
        <p:spPr>
          <a:xfrm>
            <a:off x="8244408" y="36165"/>
            <a:ext cx="899592" cy="476250"/>
          </a:xfrm>
        </p:spPr>
        <p:txBody>
          <a:bodyPr/>
          <a:lstStyle/>
          <a:p>
            <a:fld id="{3CB49390-3F58-4F28-A3B9-E61BC1777949}" type="datetime10">
              <a:rPr lang="en-US" altLang="zh-CN" smtClean="0"/>
              <a:t>16:53</a:t>
            </a:fld>
            <a:endParaRPr lang="en-US" altLang="zh-CN" dirty="0"/>
          </a:p>
        </p:txBody>
      </p:sp>
      <p:sp>
        <p:nvSpPr>
          <p:cNvPr id="8" name="灯片编号占位符 7">
            <a:extLst>
              <a:ext uri="{FF2B5EF4-FFF2-40B4-BE49-F238E27FC236}">
                <a16:creationId xmlns:a16="http://schemas.microsoft.com/office/drawing/2014/main" id="{EE0D9E3E-C018-6B35-5F3F-5006CE70563B}"/>
              </a:ext>
            </a:extLst>
          </p:cNvPr>
          <p:cNvSpPr>
            <a:spLocks noGrp="1"/>
          </p:cNvSpPr>
          <p:nvPr>
            <p:ph type="sldNum" sz="quarter" idx="12"/>
          </p:nvPr>
        </p:nvSpPr>
        <p:spPr/>
        <p:txBody>
          <a:bodyPr/>
          <a:lstStyle/>
          <a:p>
            <a:fld id="{76D830B0-DF59-4281-898F-AF208100B213}" type="slidenum">
              <a:rPr lang="en-US" altLang="zh-CN" smtClean="0"/>
              <a:pPr/>
              <a:t>81</a:t>
            </a:fld>
            <a:endParaRPr lang="en-US" altLang="zh-CN"/>
          </a:p>
        </p:txBody>
      </p:sp>
    </p:spTree>
    <p:extLst>
      <p:ext uri="{BB962C8B-B14F-4D97-AF65-F5344CB8AC3E}">
        <p14:creationId xmlns:p14="http://schemas.microsoft.com/office/powerpoint/2010/main" val="2779345782"/>
      </p:ext>
    </p:extLst>
  </p:cSld>
  <p:clrMapOvr>
    <a:masterClrMapping/>
  </p:clrMapOvr>
</p:sld>
</file>

<file path=ppt/theme/theme1.xml><?xml version="1.0" encoding="utf-8"?>
<a:theme xmlns:a="http://schemas.openxmlformats.org/drawingml/2006/main" name="Office 主题">
  <a:themeElements>
    <a:clrScheme name="Office 主题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主题">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Office 主题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主题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主题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主题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主题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主题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主题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主题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主题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主题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主题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主题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华中科技大学专用幻灯片模板</Template>
  <TotalTime>3603</TotalTime>
  <Words>10564</Words>
  <Application>Microsoft Office PowerPoint</Application>
  <PresentationFormat>全屏显示(4:3)</PresentationFormat>
  <Paragraphs>780</Paragraphs>
  <Slides>81</Slides>
  <Notes>2</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5</vt:i4>
      </vt:variant>
      <vt:variant>
        <vt:lpstr>幻灯片标题</vt:lpstr>
      </vt:variant>
      <vt:variant>
        <vt:i4>81</vt:i4>
      </vt:variant>
    </vt:vector>
  </HeadingPairs>
  <TitlesOfParts>
    <vt:vector size="105" baseType="lpstr">
      <vt:lpstr>仿宋</vt:lpstr>
      <vt:lpstr>黑体</vt:lpstr>
      <vt:lpstr>华光楷体_CNKI</vt:lpstr>
      <vt:lpstr>华光楷体一_CNKI</vt:lpstr>
      <vt:lpstr>华光魏体_CNKI</vt:lpstr>
      <vt:lpstr>华文楷体</vt:lpstr>
      <vt:lpstr>华文新魏</vt:lpstr>
      <vt:lpstr>华文行楷</vt:lpstr>
      <vt:lpstr>华文中宋</vt:lpstr>
      <vt:lpstr>楷体</vt:lpstr>
      <vt:lpstr>楷体_GB2312</vt:lpstr>
      <vt:lpstr>宋体</vt:lpstr>
      <vt:lpstr>Arial</vt:lpstr>
      <vt:lpstr>Bookman Old Style</vt:lpstr>
      <vt:lpstr>Calibri</vt:lpstr>
      <vt:lpstr>Cambria Math</vt:lpstr>
      <vt:lpstr>Times New Roman</vt:lpstr>
      <vt:lpstr>Wingdings</vt:lpstr>
      <vt:lpstr>Office 主题</vt:lpstr>
      <vt:lpstr>Image</vt:lpstr>
      <vt:lpstr>公式</vt:lpstr>
      <vt:lpstr>MSDraw</vt:lpstr>
      <vt:lpstr>MSPhotoEd.3</vt:lpstr>
      <vt:lpstr>Picture</vt:lpstr>
      <vt:lpstr>电机拖动与控制</vt:lpstr>
      <vt:lpstr>教材与参考书</vt:lpstr>
      <vt:lpstr>电力拖动(Electrical Drives)</vt:lpstr>
      <vt:lpstr>常见电机类型：旋转型和直线型</vt:lpstr>
      <vt:lpstr>电机分类</vt:lpstr>
      <vt:lpstr>0.1电机及电力拖动技术的发展概况 </vt:lpstr>
      <vt:lpstr>发展概况</vt:lpstr>
      <vt:lpstr>发展概况</vt:lpstr>
      <vt:lpstr>发展概况</vt:lpstr>
      <vt:lpstr>PowerPoint 演示文稿</vt:lpstr>
      <vt:lpstr>  电机及电力拖动在自动化学科中的地位</vt:lpstr>
      <vt:lpstr>工程中的自动化运动控制系统 与自动化专业课程设置的关系</vt:lpstr>
      <vt:lpstr>课程学习特点</vt:lpstr>
      <vt:lpstr>学习重点</vt:lpstr>
      <vt:lpstr>PowerPoint 演示文稿</vt:lpstr>
      <vt:lpstr>PowerPoint 演示文稿</vt:lpstr>
      <vt:lpstr>§2－1 DCM的基本工作原理、结构和额定数据</vt:lpstr>
      <vt:lpstr>PowerPoint 演示文稿</vt:lpstr>
      <vt:lpstr>PowerPoint 演示文稿</vt:lpstr>
      <vt:lpstr>PowerPoint 演示文稿</vt:lpstr>
      <vt:lpstr>PowerPoint 演示文稿</vt:lpstr>
      <vt:lpstr>DCM的物理模型：从原理认识电机的结构特征 </vt:lpstr>
      <vt:lpstr>PowerPoint 演示文稿</vt:lpstr>
      <vt:lpstr>PowerPoint 演示文稿</vt:lpstr>
      <vt:lpstr>PowerPoint 演示文稿</vt:lpstr>
      <vt:lpstr>PowerPoint 演示文稿</vt:lpstr>
      <vt:lpstr>电机基本理论分析小结</vt:lpstr>
      <vt:lpstr>二、基本结构（阅读）</vt:lpstr>
      <vt:lpstr>PowerPoint 演示文稿</vt:lpstr>
      <vt:lpstr>PowerPoint 演示文稿</vt:lpstr>
      <vt:lpstr>§2－2  DC电动机的结构特征与工作特性</vt:lpstr>
      <vt:lpstr>PowerPoint 演示文稿</vt:lpstr>
      <vt:lpstr>PowerPoint 演示文稿</vt:lpstr>
      <vt:lpstr>一、主磁极与主极磁场 main field poles,   main poles magnetic field </vt:lpstr>
      <vt:lpstr>PowerPoint 演示文稿</vt:lpstr>
      <vt:lpstr>PowerPoint 演示文稿</vt:lpstr>
      <vt:lpstr>PowerPoint 演示文稿</vt:lpstr>
      <vt:lpstr>二、电枢绕组（l）Armature coils：保证在同一主磁极下电流方向不变。 </vt:lpstr>
      <vt:lpstr>PowerPoint 演示文稿</vt:lpstr>
      <vt:lpstr>PowerPoint 演示文稿</vt:lpstr>
      <vt:lpstr>PowerPoint 演示文稿</vt:lpstr>
      <vt:lpstr>PowerPoint 演示文稿</vt:lpstr>
      <vt:lpstr>实际电枢的常用绕组结构：叠绕(a=p)、波绕(a=1)： </vt:lpstr>
      <vt:lpstr>PowerPoint 演示文稿</vt:lpstr>
      <vt:lpstr>PowerPoint 演示文稿</vt:lpstr>
      <vt:lpstr>电枢反应磁势的空间分布：</vt:lpstr>
      <vt:lpstr>PowerPoint 演示文稿</vt:lpstr>
      <vt:lpstr>PowerPoint 演示文稿</vt:lpstr>
      <vt:lpstr>PowerPoint 演示文稿</vt:lpstr>
      <vt:lpstr>PowerPoint 演示文稿</vt:lpstr>
      <vt:lpstr>PowerPoint 演示文稿</vt:lpstr>
      <vt:lpstr>PowerPoint 演示文稿</vt:lpstr>
      <vt:lpstr>五、励磁方式及电枢供电电路</vt:lpstr>
      <vt:lpstr>概念回顾</vt:lpstr>
      <vt:lpstr>§2-3 电磁转矩与电枢电动势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liyesong</dc:creator>
  <cp:lastModifiedBy>xm li</cp:lastModifiedBy>
  <cp:revision>151</cp:revision>
  <cp:lastPrinted>1601-01-01T00:00:00Z</cp:lastPrinted>
  <dcterms:created xsi:type="dcterms:W3CDTF">2020-10-12T07:29:00Z</dcterms:created>
  <dcterms:modified xsi:type="dcterms:W3CDTF">2025-09-01T09:14:31Z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
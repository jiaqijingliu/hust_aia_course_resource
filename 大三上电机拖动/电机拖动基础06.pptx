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62" r:id="rId2"/>
    <p:sldId id="526" r:id="rId3"/>
    <p:sldId id="527" r:id="rId4"/>
    <p:sldId id="528" r:id="rId5"/>
    <p:sldId id="529" r:id="rId6"/>
    <p:sldId id="565" r:id="rId7"/>
    <p:sldId id="539" r:id="rId8"/>
    <p:sldId id="540" r:id="rId9"/>
    <p:sldId id="541" r:id="rId10"/>
    <p:sldId id="543" r:id="rId11"/>
    <p:sldId id="424" r:id="rId12"/>
    <p:sldId id="427" r:id="rId13"/>
    <p:sldId id="428" r:id="rId14"/>
    <p:sldId id="429" r:id="rId15"/>
    <p:sldId id="430" r:id="rId16"/>
    <p:sldId id="431" r:id="rId17"/>
    <p:sldId id="432" r:id="rId18"/>
    <p:sldId id="433" r:id="rId19"/>
    <p:sldId id="434" r:id="rId20"/>
    <p:sldId id="435" r:id="rId21"/>
    <p:sldId id="436" r:id="rId22"/>
    <p:sldId id="437" r:id="rId23"/>
    <p:sldId id="438" r:id="rId24"/>
    <p:sldId id="439" r:id="rId25"/>
    <p:sldId id="440" r:id="rId26"/>
    <p:sldId id="441" r:id="rId27"/>
    <p:sldId id="442" r:id="rId28"/>
    <p:sldId id="443" r:id="rId29"/>
    <p:sldId id="446" r:id="rId30"/>
    <p:sldId id="445" r:id="rId31"/>
    <p:sldId id="447" r:id="rId32"/>
    <p:sldId id="444" r:id="rId33"/>
    <p:sldId id="448" r:id="rId34"/>
    <p:sldId id="450" r:id="rId35"/>
    <p:sldId id="451" r:id="rId36"/>
    <p:sldId id="452" r:id="rId37"/>
    <p:sldId id="453" r:id="rId38"/>
    <p:sldId id="454" r:id="rId39"/>
    <p:sldId id="455" r:id="rId40"/>
    <p:sldId id="456" r:id="rId41"/>
    <p:sldId id="457" r:id="rId42"/>
    <p:sldId id="459" r:id="rId43"/>
    <p:sldId id="458" r:id="rId44"/>
    <p:sldId id="460" r:id="rId45"/>
    <p:sldId id="461" r:id="rId46"/>
    <p:sldId id="463" r:id="rId47"/>
    <p:sldId id="464" r:id="rId48"/>
    <p:sldId id="470" r:id="rId49"/>
    <p:sldId id="472" r:id="rId50"/>
    <p:sldId id="473" r:id="rId51"/>
    <p:sldId id="474" r:id="rId52"/>
    <p:sldId id="475" r:id="rId53"/>
    <p:sldId id="476" r:id="rId54"/>
    <p:sldId id="477" r:id="rId55"/>
    <p:sldId id="478" r:id="rId56"/>
    <p:sldId id="479" r:id="rId5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yesong" initials="l" lastIdx="1" clrIdx="0">
    <p:extLst>
      <p:ext uri="{19B8F6BF-5375-455C-9EA6-DF929625EA0E}">
        <p15:presenceInfo xmlns:p15="http://schemas.microsoft.com/office/powerpoint/2012/main" userId="liyeso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32" autoAdjust="0"/>
    <p:restoredTop sz="94632" autoAdjust="0"/>
  </p:normalViewPr>
  <p:slideViewPr>
    <p:cSldViewPr>
      <p:cViewPr varScale="1">
        <p:scale>
          <a:sx n="66" d="100"/>
          <a:sy n="66" d="100"/>
        </p:scale>
        <p:origin x="127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54CF8-C170-4F58-9A30-930F9CEBAEB8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95BF5C-1804-4D75-8402-1173C9CE0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284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330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289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342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716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336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00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537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572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955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897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409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578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451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0459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663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9508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861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139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2176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0625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2096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2749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7622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2958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3687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2793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50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9758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0354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4082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0071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094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8348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3783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9615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8844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78470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2319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8203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11771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17474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0775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8761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95BF5C-1804-4D75-8402-1173C9CE030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358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4CBEF7-F8C5-4992-8DBB-A497D40160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4949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3B34B3-1432-4053-90C7-E0228297BE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757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8613D7-8F0F-4D97-8B77-3E474B3DDD7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7031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BD5AFC-BC3D-4EC6-B5B2-C76598C5654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001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E1C6A7-CD62-42B7-8C1D-142229EE1B1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2065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3158C3-B50C-4001-8BD0-C5647A6702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0812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D830B0-DF59-4281-898F-AF208100B21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3416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C85226-5FCC-4AFD-B486-2748615DDC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4750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14CC24-EEB7-428F-937F-EF248AEFDB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866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09C11-2328-40BB-8E64-EA9C5ED3B9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6490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12753A-817A-416F-AB73-729B5AD08AA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5755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43BA562-8B01-4708-BEC9-7E69676661F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2.wmf"/><Relationship Id="rId21" Type="http://schemas.openxmlformats.org/officeDocument/2006/relationships/image" Target="../media/image11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wmf"/><Relationship Id="rId25" Type="http://schemas.openxmlformats.org/officeDocument/2006/relationships/image" Target="../media/image13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image" Target="../media/image12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1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0.w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23.wmf"/><Relationship Id="rId7" Type="http://schemas.openxmlformats.org/officeDocument/2006/relationships/image" Target="../media/image24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6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32.bin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5" Type="http://schemas.openxmlformats.org/officeDocument/2006/relationships/image" Target="../media/image33.w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3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39.bin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38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3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4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43.wmf"/><Relationship Id="rId4" Type="http://schemas.openxmlformats.org/officeDocument/2006/relationships/image" Target="../media/image40.emf"/><Relationship Id="rId9" Type="http://schemas.openxmlformats.org/officeDocument/2006/relationships/oleObject" Target="../embeddings/oleObject4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49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51.bin"/><Relationship Id="rId2" Type="http://schemas.openxmlformats.org/officeDocument/2006/relationships/audio" Target="../media/audio1.wav"/><Relationship Id="rId16" Type="http://schemas.openxmlformats.org/officeDocument/2006/relationships/image" Target="../media/image3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e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35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4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57.bin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54.wmf"/><Relationship Id="rId2" Type="http://schemas.openxmlformats.org/officeDocument/2006/relationships/audio" Target="../media/audio1.wav"/><Relationship Id="rId16" Type="http://schemas.openxmlformats.org/officeDocument/2006/relationships/image" Target="../media/image5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e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5" Type="http://schemas.openxmlformats.org/officeDocument/2006/relationships/oleObject" Target="../embeddings/oleObject58.bin"/><Relationship Id="rId10" Type="http://schemas.openxmlformats.org/officeDocument/2006/relationships/image" Target="../media/image53.wmf"/><Relationship Id="rId4" Type="http://schemas.openxmlformats.org/officeDocument/2006/relationships/image" Target="../media/image50.e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5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6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image" Target="../media/image65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oleObject" Target="../embeddings/oleObject67.bin"/><Relationship Id="rId17" Type="http://schemas.openxmlformats.org/officeDocument/2006/relationships/image" Target="../media/image67.wmf"/><Relationship Id="rId2" Type="http://schemas.openxmlformats.org/officeDocument/2006/relationships/notesSlide" Target="../notesSlides/notesSlide2.xml"/><Relationship Id="rId16" Type="http://schemas.openxmlformats.org/officeDocument/2006/relationships/oleObject" Target="../embeddings/oleObject6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wmf"/><Relationship Id="rId11" Type="http://schemas.openxmlformats.org/officeDocument/2006/relationships/image" Target="../media/image10.png"/><Relationship Id="rId5" Type="http://schemas.openxmlformats.org/officeDocument/2006/relationships/oleObject" Target="../embeddings/oleObject64.bin"/><Relationship Id="rId15" Type="http://schemas.openxmlformats.org/officeDocument/2006/relationships/image" Target="../media/image66.wmf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6.bin"/><Relationship Id="rId14" Type="http://schemas.openxmlformats.org/officeDocument/2006/relationships/oleObject" Target="../embeddings/oleObject6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7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79.bin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76.w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10" Type="http://schemas.openxmlformats.org/officeDocument/2006/relationships/image" Target="../media/image75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77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8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8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89.bin"/><Relationship Id="rId4" Type="http://schemas.openxmlformats.org/officeDocument/2006/relationships/image" Target="../media/image86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wmf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84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94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100.bin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94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93.wmf"/><Relationship Id="rId4" Type="http://schemas.openxmlformats.org/officeDocument/2006/relationships/image" Target="../media/image90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95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56.w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00.wmf"/><Relationship Id="rId17" Type="http://schemas.openxmlformats.org/officeDocument/2006/relationships/oleObject" Target="../embeddings/oleObject58.bin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8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92.bin"/><Relationship Id="rId10" Type="http://schemas.openxmlformats.org/officeDocument/2006/relationships/image" Target="../media/image99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01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7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2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09.bin"/><Relationship Id="rId10" Type="http://schemas.openxmlformats.org/officeDocument/2006/relationships/image" Target="../media/image106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1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113.bin"/><Relationship Id="rId10" Type="http://schemas.openxmlformats.org/officeDocument/2006/relationships/image" Target="../media/image109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115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13" Type="http://schemas.openxmlformats.org/officeDocument/2006/relationships/oleObject" Target="../embeddings/oleObject121.bin"/><Relationship Id="rId18" Type="http://schemas.openxmlformats.org/officeDocument/2006/relationships/image" Target="../media/image117.wmf"/><Relationship Id="rId3" Type="http://schemas.openxmlformats.org/officeDocument/2006/relationships/oleObject" Target="../embeddings/oleObject116.bin"/><Relationship Id="rId21" Type="http://schemas.openxmlformats.org/officeDocument/2006/relationships/oleObject" Target="../embeddings/oleObject125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14.wmf"/><Relationship Id="rId17" Type="http://schemas.openxmlformats.org/officeDocument/2006/relationships/oleObject" Target="../embeddings/oleObject123.bin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16.wmf"/><Relationship Id="rId20" Type="http://schemas.openxmlformats.org/officeDocument/2006/relationships/image" Target="../media/image11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wmf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7.bin"/><Relationship Id="rId15" Type="http://schemas.openxmlformats.org/officeDocument/2006/relationships/oleObject" Target="../embeddings/oleObject122.bin"/><Relationship Id="rId10" Type="http://schemas.openxmlformats.org/officeDocument/2006/relationships/image" Target="../media/image113.wmf"/><Relationship Id="rId19" Type="http://schemas.openxmlformats.org/officeDocument/2006/relationships/oleObject" Target="../embeddings/oleObject124.bin"/><Relationship Id="rId4" Type="http://schemas.openxmlformats.org/officeDocument/2006/relationships/image" Target="../media/image110.w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15.wmf"/><Relationship Id="rId22" Type="http://schemas.openxmlformats.org/officeDocument/2006/relationships/image" Target="../media/image119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131.bin"/><Relationship Id="rId18" Type="http://schemas.openxmlformats.org/officeDocument/2006/relationships/image" Target="../media/image127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24.wmf"/><Relationship Id="rId17" Type="http://schemas.openxmlformats.org/officeDocument/2006/relationships/oleObject" Target="../embeddings/oleObject133.bin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26.wmf"/><Relationship Id="rId20" Type="http://schemas.openxmlformats.org/officeDocument/2006/relationships/image" Target="../media/image12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5" Type="http://schemas.openxmlformats.org/officeDocument/2006/relationships/oleObject" Target="../embeddings/oleObject132.bin"/><Relationship Id="rId10" Type="http://schemas.openxmlformats.org/officeDocument/2006/relationships/image" Target="../media/image123.wmf"/><Relationship Id="rId19" Type="http://schemas.openxmlformats.org/officeDocument/2006/relationships/oleObject" Target="../embeddings/oleObject134.bin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29.bin"/><Relationship Id="rId14" Type="http://schemas.openxmlformats.org/officeDocument/2006/relationships/image" Target="../media/image125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oleObject" Target="../embeddings/oleObject140.bin"/><Relationship Id="rId3" Type="http://schemas.openxmlformats.org/officeDocument/2006/relationships/oleObject" Target="../embeddings/oleObject135.bin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33.wmf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3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6.bin"/><Relationship Id="rId15" Type="http://schemas.openxmlformats.org/officeDocument/2006/relationships/oleObject" Target="../embeddings/oleObject141.bin"/><Relationship Id="rId10" Type="http://schemas.openxmlformats.org/officeDocument/2006/relationships/image" Target="../media/image132.wmf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34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13" Type="http://schemas.openxmlformats.org/officeDocument/2006/relationships/oleObject" Target="../embeddings/oleObject147.bin"/><Relationship Id="rId18" Type="http://schemas.openxmlformats.org/officeDocument/2006/relationships/image" Target="../media/image143.wmf"/><Relationship Id="rId3" Type="http://schemas.openxmlformats.org/officeDocument/2006/relationships/oleObject" Target="../embeddings/oleObject142.bin"/><Relationship Id="rId21" Type="http://schemas.openxmlformats.org/officeDocument/2006/relationships/oleObject" Target="../embeddings/oleObject151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40.wmf"/><Relationship Id="rId17" Type="http://schemas.openxmlformats.org/officeDocument/2006/relationships/oleObject" Target="../embeddings/oleObject149.bin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42.wmf"/><Relationship Id="rId20" Type="http://schemas.openxmlformats.org/officeDocument/2006/relationships/image" Target="../media/image14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46.bin"/><Relationship Id="rId5" Type="http://schemas.openxmlformats.org/officeDocument/2006/relationships/oleObject" Target="../embeddings/oleObject143.bin"/><Relationship Id="rId15" Type="http://schemas.openxmlformats.org/officeDocument/2006/relationships/oleObject" Target="../embeddings/oleObject148.bin"/><Relationship Id="rId10" Type="http://schemas.openxmlformats.org/officeDocument/2006/relationships/image" Target="../media/image139.wmf"/><Relationship Id="rId19" Type="http://schemas.openxmlformats.org/officeDocument/2006/relationships/oleObject" Target="../embeddings/oleObject150.bin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41.wmf"/><Relationship Id="rId22" Type="http://schemas.openxmlformats.org/officeDocument/2006/relationships/image" Target="../media/image145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157.bin"/><Relationship Id="rId18" Type="http://schemas.openxmlformats.org/officeDocument/2006/relationships/image" Target="../media/image153.wmf"/><Relationship Id="rId26" Type="http://schemas.openxmlformats.org/officeDocument/2006/relationships/image" Target="../media/image157.wmf"/><Relationship Id="rId3" Type="http://schemas.openxmlformats.org/officeDocument/2006/relationships/oleObject" Target="../embeddings/oleObject152.bin"/><Relationship Id="rId21" Type="http://schemas.openxmlformats.org/officeDocument/2006/relationships/oleObject" Target="../embeddings/oleObject161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50.wmf"/><Relationship Id="rId17" Type="http://schemas.openxmlformats.org/officeDocument/2006/relationships/oleObject" Target="../embeddings/oleObject159.bin"/><Relationship Id="rId25" Type="http://schemas.openxmlformats.org/officeDocument/2006/relationships/oleObject" Target="../embeddings/oleObject163.bin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52.wmf"/><Relationship Id="rId20" Type="http://schemas.openxmlformats.org/officeDocument/2006/relationships/image" Target="../media/image15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wmf"/><Relationship Id="rId11" Type="http://schemas.openxmlformats.org/officeDocument/2006/relationships/oleObject" Target="../embeddings/oleObject156.bin"/><Relationship Id="rId24" Type="http://schemas.openxmlformats.org/officeDocument/2006/relationships/image" Target="../media/image156.wmf"/><Relationship Id="rId5" Type="http://schemas.openxmlformats.org/officeDocument/2006/relationships/oleObject" Target="../embeddings/oleObject153.bin"/><Relationship Id="rId15" Type="http://schemas.openxmlformats.org/officeDocument/2006/relationships/oleObject" Target="../embeddings/oleObject158.bin"/><Relationship Id="rId23" Type="http://schemas.openxmlformats.org/officeDocument/2006/relationships/oleObject" Target="../embeddings/oleObject162.bin"/><Relationship Id="rId10" Type="http://schemas.openxmlformats.org/officeDocument/2006/relationships/image" Target="../media/image149.wmf"/><Relationship Id="rId19" Type="http://schemas.openxmlformats.org/officeDocument/2006/relationships/oleObject" Target="../embeddings/oleObject160.bin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55.bin"/><Relationship Id="rId14" Type="http://schemas.openxmlformats.org/officeDocument/2006/relationships/image" Target="../media/image151.wmf"/><Relationship Id="rId22" Type="http://schemas.openxmlformats.org/officeDocument/2006/relationships/image" Target="../media/image155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4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9.wmf"/><Relationship Id="rId5" Type="http://schemas.openxmlformats.org/officeDocument/2006/relationships/oleObject" Target="../embeddings/oleObject165.bin"/><Relationship Id="rId4" Type="http://schemas.openxmlformats.org/officeDocument/2006/relationships/image" Target="../media/image158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6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1.w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60.wmf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3.bin"/><Relationship Id="rId18" Type="http://schemas.openxmlformats.org/officeDocument/2006/relationships/image" Target="../media/image169.wmf"/><Relationship Id="rId26" Type="http://schemas.openxmlformats.org/officeDocument/2006/relationships/image" Target="../media/image173.wmf"/><Relationship Id="rId3" Type="http://schemas.openxmlformats.org/officeDocument/2006/relationships/oleObject" Target="../embeddings/oleObject168.bin"/><Relationship Id="rId21" Type="http://schemas.openxmlformats.org/officeDocument/2006/relationships/oleObject" Target="../embeddings/oleObject177.bin"/><Relationship Id="rId34" Type="http://schemas.openxmlformats.org/officeDocument/2006/relationships/image" Target="../media/image177.wmf"/><Relationship Id="rId7" Type="http://schemas.openxmlformats.org/officeDocument/2006/relationships/oleObject" Target="../embeddings/oleObject170.bin"/><Relationship Id="rId12" Type="http://schemas.openxmlformats.org/officeDocument/2006/relationships/image" Target="../media/image166.wmf"/><Relationship Id="rId17" Type="http://schemas.openxmlformats.org/officeDocument/2006/relationships/oleObject" Target="../embeddings/oleObject175.bin"/><Relationship Id="rId25" Type="http://schemas.openxmlformats.org/officeDocument/2006/relationships/oleObject" Target="../embeddings/oleObject179.bin"/><Relationship Id="rId33" Type="http://schemas.openxmlformats.org/officeDocument/2006/relationships/oleObject" Target="../embeddings/oleObject183.bin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68.wmf"/><Relationship Id="rId20" Type="http://schemas.openxmlformats.org/officeDocument/2006/relationships/image" Target="../media/image170.wmf"/><Relationship Id="rId29" Type="http://schemas.openxmlformats.org/officeDocument/2006/relationships/oleObject" Target="../embeddings/oleObject18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72.bin"/><Relationship Id="rId24" Type="http://schemas.openxmlformats.org/officeDocument/2006/relationships/image" Target="../media/image172.wmf"/><Relationship Id="rId32" Type="http://schemas.openxmlformats.org/officeDocument/2006/relationships/image" Target="../media/image176.wmf"/><Relationship Id="rId5" Type="http://schemas.openxmlformats.org/officeDocument/2006/relationships/oleObject" Target="../embeddings/oleObject169.bin"/><Relationship Id="rId15" Type="http://schemas.openxmlformats.org/officeDocument/2006/relationships/oleObject" Target="../embeddings/oleObject174.bin"/><Relationship Id="rId23" Type="http://schemas.openxmlformats.org/officeDocument/2006/relationships/oleObject" Target="../embeddings/oleObject178.bin"/><Relationship Id="rId28" Type="http://schemas.openxmlformats.org/officeDocument/2006/relationships/image" Target="../media/image174.wmf"/><Relationship Id="rId36" Type="http://schemas.openxmlformats.org/officeDocument/2006/relationships/image" Target="../media/image178.wmf"/><Relationship Id="rId10" Type="http://schemas.openxmlformats.org/officeDocument/2006/relationships/image" Target="../media/image165.wmf"/><Relationship Id="rId19" Type="http://schemas.openxmlformats.org/officeDocument/2006/relationships/oleObject" Target="../embeddings/oleObject176.bin"/><Relationship Id="rId31" Type="http://schemas.openxmlformats.org/officeDocument/2006/relationships/oleObject" Target="../embeddings/oleObject182.bin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171.bin"/><Relationship Id="rId14" Type="http://schemas.openxmlformats.org/officeDocument/2006/relationships/image" Target="../media/image167.wmf"/><Relationship Id="rId22" Type="http://schemas.openxmlformats.org/officeDocument/2006/relationships/image" Target="../media/image171.wmf"/><Relationship Id="rId27" Type="http://schemas.openxmlformats.org/officeDocument/2006/relationships/oleObject" Target="../embeddings/oleObject180.bin"/><Relationship Id="rId30" Type="http://schemas.openxmlformats.org/officeDocument/2006/relationships/image" Target="../media/image175.wmf"/><Relationship Id="rId35" Type="http://schemas.openxmlformats.org/officeDocument/2006/relationships/oleObject" Target="../embeddings/oleObject184.bin"/><Relationship Id="rId8" Type="http://schemas.openxmlformats.org/officeDocument/2006/relationships/image" Target="../media/image164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3" Type="http://schemas.openxmlformats.org/officeDocument/2006/relationships/oleObject" Target="../embeddings/oleObject185.bin"/><Relationship Id="rId7" Type="http://schemas.openxmlformats.org/officeDocument/2006/relationships/oleObject" Target="../embeddings/oleObject187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wmf"/><Relationship Id="rId5" Type="http://schemas.openxmlformats.org/officeDocument/2006/relationships/oleObject" Target="../embeddings/oleObject186.bin"/><Relationship Id="rId10" Type="http://schemas.openxmlformats.org/officeDocument/2006/relationships/image" Target="../media/image182.wmf"/><Relationship Id="rId4" Type="http://schemas.openxmlformats.org/officeDocument/2006/relationships/image" Target="../media/image179.wmf"/><Relationship Id="rId9" Type="http://schemas.openxmlformats.org/officeDocument/2006/relationships/oleObject" Target="../embeddings/oleObject188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13" Type="http://schemas.openxmlformats.org/officeDocument/2006/relationships/oleObject" Target="../embeddings/oleObject194.bin"/><Relationship Id="rId3" Type="http://schemas.openxmlformats.org/officeDocument/2006/relationships/oleObject" Target="../embeddings/oleObject189.bin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187.wmf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8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.wmf"/><Relationship Id="rId11" Type="http://schemas.openxmlformats.org/officeDocument/2006/relationships/oleObject" Target="../embeddings/oleObject193.bin"/><Relationship Id="rId5" Type="http://schemas.openxmlformats.org/officeDocument/2006/relationships/oleObject" Target="../embeddings/oleObject190.bin"/><Relationship Id="rId15" Type="http://schemas.openxmlformats.org/officeDocument/2006/relationships/oleObject" Target="../embeddings/oleObject195.bin"/><Relationship Id="rId10" Type="http://schemas.openxmlformats.org/officeDocument/2006/relationships/image" Target="../media/image186.wmf"/><Relationship Id="rId4" Type="http://schemas.openxmlformats.org/officeDocument/2006/relationships/image" Target="../media/image183.wmf"/><Relationship Id="rId9" Type="http://schemas.openxmlformats.org/officeDocument/2006/relationships/oleObject" Target="../embeddings/oleObject192.bin"/><Relationship Id="rId14" Type="http://schemas.openxmlformats.org/officeDocument/2006/relationships/image" Target="../media/image188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oleObject" Target="../embeddings/oleObject201.bin"/><Relationship Id="rId18" Type="http://schemas.openxmlformats.org/officeDocument/2006/relationships/image" Target="../media/image197.wmf"/><Relationship Id="rId3" Type="http://schemas.openxmlformats.org/officeDocument/2006/relationships/oleObject" Target="../embeddings/oleObject196.bin"/><Relationship Id="rId7" Type="http://schemas.openxmlformats.org/officeDocument/2006/relationships/oleObject" Target="../embeddings/oleObject198.bin"/><Relationship Id="rId12" Type="http://schemas.openxmlformats.org/officeDocument/2006/relationships/image" Target="../media/image194.wmf"/><Relationship Id="rId17" Type="http://schemas.openxmlformats.org/officeDocument/2006/relationships/oleObject" Target="../embeddings/oleObject203.bin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9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1.wmf"/><Relationship Id="rId11" Type="http://schemas.openxmlformats.org/officeDocument/2006/relationships/oleObject" Target="../embeddings/oleObject200.bin"/><Relationship Id="rId5" Type="http://schemas.openxmlformats.org/officeDocument/2006/relationships/oleObject" Target="../embeddings/oleObject197.bin"/><Relationship Id="rId15" Type="http://schemas.openxmlformats.org/officeDocument/2006/relationships/oleObject" Target="../embeddings/oleObject202.bin"/><Relationship Id="rId10" Type="http://schemas.openxmlformats.org/officeDocument/2006/relationships/image" Target="../media/image193.wmf"/><Relationship Id="rId4" Type="http://schemas.openxmlformats.org/officeDocument/2006/relationships/image" Target="../media/image190.wmf"/><Relationship Id="rId9" Type="http://schemas.openxmlformats.org/officeDocument/2006/relationships/oleObject" Target="../embeddings/oleObject199.bin"/><Relationship Id="rId14" Type="http://schemas.openxmlformats.org/officeDocument/2006/relationships/image" Target="../media/image195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oleObject" Target="../embeddings/oleObject209.bin"/><Relationship Id="rId3" Type="http://schemas.openxmlformats.org/officeDocument/2006/relationships/oleObject" Target="../embeddings/oleObject204.bin"/><Relationship Id="rId7" Type="http://schemas.openxmlformats.org/officeDocument/2006/relationships/oleObject" Target="../embeddings/oleObject206.bin"/><Relationship Id="rId12" Type="http://schemas.openxmlformats.org/officeDocument/2006/relationships/image" Target="../media/image202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9.wmf"/><Relationship Id="rId11" Type="http://schemas.openxmlformats.org/officeDocument/2006/relationships/oleObject" Target="../embeddings/oleObject208.bin"/><Relationship Id="rId5" Type="http://schemas.openxmlformats.org/officeDocument/2006/relationships/oleObject" Target="../embeddings/oleObject205.bin"/><Relationship Id="rId10" Type="http://schemas.openxmlformats.org/officeDocument/2006/relationships/image" Target="../media/image201.wmf"/><Relationship Id="rId4" Type="http://schemas.openxmlformats.org/officeDocument/2006/relationships/image" Target="../media/image198.wmf"/><Relationship Id="rId9" Type="http://schemas.openxmlformats.org/officeDocument/2006/relationships/oleObject" Target="../embeddings/oleObject207.bin"/><Relationship Id="rId14" Type="http://schemas.openxmlformats.org/officeDocument/2006/relationships/image" Target="../media/image203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3" Type="http://schemas.openxmlformats.org/officeDocument/2006/relationships/oleObject" Target="../embeddings/oleObject210.bin"/><Relationship Id="rId7" Type="http://schemas.openxmlformats.org/officeDocument/2006/relationships/oleObject" Target="../embeddings/oleObject212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5.wmf"/><Relationship Id="rId5" Type="http://schemas.openxmlformats.org/officeDocument/2006/relationships/oleObject" Target="../embeddings/oleObject211.bin"/><Relationship Id="rId10" Type="http://schemas.openxmlformats.org/officeDocument/2006/relationships/image" Target="../media/image207.wmf"/><Relationship Id="rId4" Type="http://schemas.openxmlformats.org/officeDocument/2006/relationships/image" Target="../media/image204.wmf"/><Relationship Id="rId9" Type="http://schemas.openxmlformats.org/officeDocument/2006/relationships/oleObject" Target="../embeddings/oleObject213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13" Type="http://schemas.openxmlformats.org/officeDocument/2006/relationships/oleObject" Target="../embeddings/oleObject219.bin"/><Relationship Id="rId3" Type="http://schemas.openxmlformats.org/officeDocument/2006/relationships/oleObject" Target="../embeddings/oleObject214.bin"/><Relationship Id="rId7" Type="http://schemas.openxmlformats.org/officeDocument/2006/relationships/oleObject" Target="../embeddings/oleObject216.bin"/><Relationship Id="rId12" Type="http://schemas.openxmlformats.org/officeDocument/2006/relationships/image" Target="../media/image212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9.wmf"/><Relationship Id="rId11" Type="http://schemas.openxmlformats.org/officeDocument/2006/relationships/oleObject" Target="../embeddings/oleObject218.bin"/><Relationship Id="rId5" Type="http://schemas.openxmlformats.org/officeDocument/2006/relationships/oleObject" Target="../embeddings/oleObject215.bin"/><Relationship Id="rId10" Type="http://schemas.openxmlformats.org/officeDocument/2006/relationships/image" Target="../media/image211.wmf"/><Relationship Id="rId4" Type="http://schemas.openxmlformats.org/officeDocument/2006/relationships/image" Target="../media/image208.wmf"/><Relationship Id="rId9" Type="http://schemas.openxmlformats.org/officeDocument/2006/relationships/oleObject" Target="../embeddings/oleObject217.bin"/><Relationship Id="rId14" Type="http://schemas.openxmlformats.org/officeDocument/2006/relationships/image" Target="../media/image213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3" Type="http://schemas.openxmlformats.org/officeDocument/2006/relationships/oleObject" Target="../embeddings/oleObject220.bin"/><Relationship Id="rId7" Type="http://schemas.openxmlformats.org/officeDocument/2006/relationships/oleObject" Target="../embeddings/oleObject222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5.wmf"/><Relationship Id="rId5" Type="http://schemas.openxmlformats.org/officeDocument/2006/relationships/oleObject" Target="../embeddings/oleObject221.bin"/><Relationship Id="rId10" Type="http://schemas.openxmlformats.org/officeDocument/2006/relationships/image" Target="../media/image217.wmf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223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3" Type="http://schemas.openxmlformats.org/officeDocument/2006/relationships/oleObject" Target="../embeddings/oleObject224.bin"/><Relationship Id="rId7" Type="http://schemas.openxmlformats.org/officeDocument/2006/relationships/oleObject" Target="../embeddings/oleObject226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9.wmf"/><Relationship Id="rId5" Type="http://schemas.openxmlformats.org/officeDocument/2006/relationships/oleObject" Target="../embeddings/oleObject225.bin"/><Relationship Id="rId10" Type="http://schemas.openxmlformats.org/officeDocument/2006/relationships/image" Target="../media/image221.wmf"/><Relationship Id="rId4" Type="http://schemas.openxmlformats.org/officeDocument/2006/relationships/image" Target="../media/image218.wmf"/><Relationship Id="rId9" Type="http://schemas.openxmlformats.org/officeDocument/2006/relationships/oleObject" Target="../embeddings/oleObject227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8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3.wmf"/><Relationship Id="rId5" Type="http://schemas.openxmlformats.org/officeDocument/2006/relationships/oleObject" Target="../embeddings/oleObject229.bin"/><Relationship Id="rId4" Type="http://schemas.openxmlformats.org/officeDocument/2006/relationships/image" Target="../media/image222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0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5.wmf"/><Relationship Id="rId5" Type="http://schemas.openxmlformats.org/officeDocument/2006/relationships/oleObject" Target="../embeddings/oleObject221.bin"/><Relationship Id="rId4" Type="http://schemas.openxmlformats.org/officeDocument/2006/relationships/image" Target="../media/image224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13" Type="http://schemas.openxmlformats.org/officeDocument/2006/relationships/oleObject" Target="../embeddings/oleObject236.bin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29.wmf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23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6.w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5" Type="http://schemas.openxmlformats.org/officeDocument/2006/relationships/oleObject" Target="../embeddings/oleObject237.bin"/><Relationship Id="rId10" Type="http://schemas.openxmlformats.org/officeDocument/2006/relationships/image" Target="../media/image228.wmf"/><Relationship Id="rId4" Type="http://schemas.openxmlformats.org/officeDocument/2006/relationships/image" Target="../media/image225.w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230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wmf"/><Relationship Id="rId3" Type="http://schemas.openxmlformats.org/officeDocument/2006/relationships/oleObject" Target="../embeddings/oleObject238.bin"/><Relationship Id="rId7" Type="http://schemas.openxmlformats.org/officeDocument/2006/relationships/oleObject" Target="../embeddings/oleObject240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3.wmf"/><Relationship Id="rId5" Type="http://schemas.openxmlformats.org/officeDocument/2006/relationships/oleObject" Target="../embeddings/oleObject239.bin"/><Relationship Id="rId10" Type="http://schemas.openxmlformats.org/officeDocument/2006/relationships/image" Target="../media/image235.wmf"/><Relationship Id="rId4" Type="http://schemas.openxmlformats.org/officeDocument/2006/relationships/image" Target="../media/image232.wmf"/><Relationship Id="rId9" Type="http://schemas.openxmlformats.org/officeDocument/2006/relationships/oleObject" Target="../embeddings/oleObject241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wmf"/><Relationship Id="rId3" Type="http://schemas.openxmlformats.org/officeDocument/2006/relationships/oleObject" Target="../embeddings/oleObject242.bin"/><Relationship Id="rId7" Type="http://schemas.openxmlformats.org/officeDocument/2006/relationships/oleObject" Target="../embeddings/oleObject244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7.wmf"/><Relationship Id="rId5" Type="http://schemas.openxmlformats.org/officeDocument/2006/relationships/oleObject" Target="../embeddings/oleObject243.bin"/><Relationship Id="rId4" Type="http://schemas.openxmlformats.org/officeDocument/2006/relationships/image" Target="../media/image236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wmf"/><Relationship Id="rId13" Type="http://schemas.openxmlformats.org/officeDocument/2006/relationships/oleObject" Target="../embeddings/oleObject250.bin"/><Relationship Id="rId3" Type="http://schemas.openxmlformats.org/officeDocument/2006/relationships/oleObject" Target="../embeddings/oleObject245.bin"/><Relationship Id="rId7" Type="http://schemas.openxmlformats.org/officeDocument/2006/relationships/oleObject" Target="../embeddings/oleObject247.bin"/><Relationship Id="rId12" Type="http://schemas.openxmlformats.org/officeDocument/2006/relationships/image" Target="../media/image243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0.wmf"/><Relationship Id="rId11" Type="http://schemas.openxmlformats.org/officeDocument/2006/relationships/oleObject" Target="../embeddings/oleObject249.bin"/><Relationship Id="rId5" Type="http://schemas.openxmlformats.org/officeDocument/2006/relationships/oleObject" Target="../embeddings/oleObject246.bin"/><Relationship Id="rId10" Type="http://schemas.openxmlformats.org/officeDocument/2006/relationships/image" Target="../media/image242.wmf"/><Relationship Id="rId4" Type="http://schemas.openxmlformats.org/officeDocument/2006/relationships/image" Target="../media/image239.wmf"/><Relationship Id="rId9" Type="http://schemas.openxmlformats.org/officeDocument/2006/relationships/oleObject" Target="../embeddings/oleObject248.bin"/><Relationship Id="rId14" Type="http://schemas.openxmlformats.org/officeDocument/2006/relationships/image" Target="../media/image244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1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6.wmf"/><Relationship Id="rId5" Type="http://schemas.openxmlformats.org/officeDocument/2006/relationships/oleObject" Target="../embeddings/oleObject252.bin"/><Relationship Id="rId4" Type="http://schemas.openxmlformats.org/officeDocument/2006/relationships/image" Target="../media/image245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wmf"/><Relationship Id="rId13" Type="http://schemas.openxmlformats.org/officeDocument/2006/relationships/oleObject" Target="../embeddings/oleObject258.bin"/><Relationship Id="rId3" Type="http://schemas.openxmlformats.org/officeDocument/2006/relationships/oleObject" Target="../embeddings/oleObject253.bin"/><Relationship Id="rId7" Type="http://schemas.openxmlformats.org/officeDocument/2006/relationships/oleObject" Target="../embeddings/oleObject255.bin"/><Relationship Id="rId12" Type="http://schemas.openxmlformats.org/officeDocument/2006/relationships/image" Target="../media/image251.wmf"/><Relationship Id="rId2" Type="http://schemas.openxmlformats.org/officeDocument/2006/relationships/notesSlide" Target="../notesSlides/notesSlide38.xml"/><Relationship Id="rId16" Type="http://schemas.openxmlformats.org/officeDocument/2006/relationships/image" Target="../media/image25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8.wmf"/><Relationship Id="rId11" Type="http://schemas.openxmlformats.org/officeDocument/2006/relationships/oleObject" Target="../embeddings/oleObject257.bin"/><Relationship Id="rId5" Type="http://schemas.openxmlformats.org/officeDocument/2006/relationships/oleObject" Target="../embeddings/oleObject254.bin"/><Relationship Id="rId15" Type="http://schemas.openxmlformats.org/officeDocument/2006/relationships/oleObject" Target="../embeddings/oleObject259.bin"/><Relationship Id="rId10" Type="http://schemas.openxmlformats.org/officeDocument/2006/relationships/image" Target="../media/image250.wmf"/><Relationship Id="rId4" Type="http://schemas.openxmlformats.org/officeDocument/2006/relationships/image" Target="../media/image247.wmf"/><Relationship Id="rId9" Type="http://schemas.openxmlformats.org/officeDocument/2006/relationships/oleObject" Target="../embeddings/oleObject256.bin"/><Relationship Id="rId14" Type="http://schemas.openxmlformats.org/officeDocument/2006/relationships/image" Target="../media/image252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wmf"/><Relationship Id="rId13" Type="http://schemas.openxmlformats.org/officeDocument/2006/relationships/oleObject" Target="../embeddings/oleObject265.bin"/><Relationship Id="rId3" Type="http://schemas.openxmlformats.org/officeDocument/2006/relationships/oleObject" Target="../embeddings/oleObject260.bin"/><Relationship Id="rId7" Type="http://schemas.openxmlformats.org/officeDocument/2006/relationships/oleObject" Target="../embeddings/oleObject262.bin"/><Relationship Id="rId12" Type="http://schemas.openxmlformats.org/officeDocument/2006/relationships/image" Target="../media/image258.wmf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26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5.wmf"/><Relationship Id="rId11" Type="http://schemas.openxmlformats.org/officeDocument/2006/relationships/oleObject" Target="../embeddings/oleObject264.bin"/><Relationship Id="rId5" Type="http://schemas.openxmlformats.org/officeDocument/2006/relationships/oleObject" Target="../embeddings/oleObject261.bin"/><Relationship Id="rId15" Type="http://schemas.openxmlformats.org/officeDocument/2006/relationships/oleObject" Target="../embeddings/oleObject266.bin"/><Relationship Id="rId10" Type="http://schemas.openxmlformats.org/officeDocument/2006/relationships/image" Target="../media/image257.wmf"/><Relationship Id="rId4" Type="http://schemas.openxmlformats.org/officeDocument/2006/relationships/image" Target="../media/image254.wmf"/><Relationship Id="rId9" Type="http://schemas.openxmlformats.org/officeDocument/2006/relationships/oleObject" Target="../embeddings/oleObject263.bin"/><Relationship Id="rId14" Type="http://schemas.openxmlformats.org/officeDocument/2006/relationships/image" Target="../media/image259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wmf"/><Relationship Id="rId13" Type="http://schemas.openxmlformats.org/officeDocument/2006/relationships/oleObject" Target="../embeddings/oleObject272.bin"/><Relationship Id="rId3" Type="http://schemas.openxmlformats.org/officeDocument/2006/relationships/oleObject" Target="../embeddings/oleObject267.bin"/><Relationship Id="rId7" Type="http://schemas.openxmlformats.org/officeDocument/2006/relationships/oleObject" Target="../embeddings/oleObject269.bin"/><Relationship Id="rId12" Type="http://schemas.openxmlformats.org/officeDocument/2006/relationships/image" Target="../media/image265.w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2.wmf"/><Relationship Id="rId11" Type="http://schemas.openxmlformats.org/officeDocument/2006/relationships/oleObject" Target="../embeddings/oleObject271.bin"/><Relationship Id="rId5" Type="http://schemas.openxmlformats.org/officeDocument/2006/relationships/oleObject" Target="../embeddings/oleObject268.bin"/><Relationship Id="rId10" Type="http://schemas.openxmlformats.org/officeDocument/2006/relationships/image" Target="../media/image264.wmf"/><Relationship Id="rId4" Type="http://schemas.openxmlformats.org/officeDocument/2006/relationships/image" Target="../media/image261.wmf"/><Relationship Id="rId9" Type="http://schemas.openxmlformats.org/officeDocument/2006/relationships/oleObject" Target="../embeddings/oleObject270.bin"/><Relationship Id="rId14" Type="http://schemas.openxmlformats.org/officeDocument/2006/relationships/image" Target="../media/image266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wmf"/><Relationship Id="rId13" Type="http://schemas.openxmlformats.org/officeDocument/2006/relationships/oleObject" Target="../embeddings/oleObject278.bin"/><Relationship Id="rId3" Type="http://schemas.openxmlformats.org/officeDocument/2006/relationships/oleObject" Target="../embeddings/oleObject273.bin"/><Relationship Id="rId7" Type="http://schemas.openxmlformats.org/officeDocument/2006/relationships/oleObject" Target="../embeddings/oleObject275.bin"/><Relationship Id="rId12" Type="http://schemas.openxmlformats.org/officeDocument/2006/relationships/image" Target="../media/image271.wmf"/><Relationship Id="rId2" Type="http://schemas.openxmlformats.org/officeDocument/2006/relationships/notesSlide" Target="../notesSlides/notesSlide41.xml"/><Relationship Id="rId16" Type="http://schemas.openxmlformats.org/officeDocument/2006/relationships/image" Target="../media/image27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8.wmf"/><Relationship Id="rId11" Type="http://schemas.openxmlformats.org/officeDocument/2006/relationships/oleObject" Target="../embeddings/oleObject277.bin"/><Relationship Id="rId5" Type="http://schemas.openxmlformats.org/officeDocument/2006/relationships/oleObject" Target="../embeddings/oleObject274.bin"/><Relationship Id="rId15" Type="http://schemas.openxmlformats.org/officeDocument/2006/relationships/oleObject" Target="../embeddings/oleObject279.bin"/><Relationship Id="rId10" Type="http://schemas.openxmlformats.org/officeDocument/2006/relationships/image" Target="../media/image270.wmf"/><Relationship Id="rId4" Type="http://schemas.openxmlformats.org/officeDocument/2006/relationships/image" Target="../media/image267.wmf"/><Relationship Id="rId9" Type="http://schemas.openxmlformats.org/officeDocument/2006/relationships/oleObject" Target="../embeddings/oleObject276.bin"/><Relationship Id="rId14" Type="http://schemas.openxmlformats.org/officeDocument/2006/relationships/image" Target="../media/image272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0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5.wmf"/><Relationship Id="rId5" Type="http://schemas.openxmlformats.org/officeDocument/2006/relationships/oleObject" Target="../embeddings/oleObject281.bin"/><Relationship Id="rId4" Type="http://schemas.openxmlformats.org/officeDocument/2006/relationships/image" Target="../media/image274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wmf"/><Relationship Id="rId13" Type="http://schemas.openxmlformats.org/officeDocument/2006/relationships/oleObject" Target="../embeddings/oleObject286.bin"/><Relationship Id="rId3" Type="http://schemas.openxmlformats.org/officeDocument/2006/relationships/oleObject" Target="../embeddings/oleObject282.bin"/><Relationship Id="rId7" Type="http://schemas.openxmlformats.org/officeDocument/2006/relationships/oleObject" Target="../embeddings/oleObject284.bin"/><Relationship Id="rId12" Type="http://schemas.openxmlformats.org/officeDocument/2006/relationships/image" Target="../media/image279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7.wmf"/><Relationship Id="rId11" Type="http://schemas.openxmlformats.org/officeDocument/2006/relationships/oleObject" Target="../embeddings/oleObject285.bin"/><Relationship Id="rId5" Type="http://schemas.openxmlformats.org/officeDocument/2006/relationships/oleObject" Target="../embeddings/oleObject283.bin"/><Relationship Id="rId10" Type="http://schemas.openxmlformats.org/officeDocument/2006/relationships/image" Target="../media/image245.wmf"/><Relationship Id="rId4" Type="http://schemas.openxmlformats.org/officeDocument/2006/relationships/image" Target="../media/image276.wmf"/><Relationship Id="rId9" Type="http://schemas.openxmlformats.org/officeDocument/2006/relationships/oleObject" Target="../embeddings/oleObject251.bin"/><Relationship Id="rId14" Type="http://schemas.openxmlformats.org/officeDocument/2006/relationships/image" Target="../media/image274.w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008" y="2060848"/>
            <a:ext cx="8964488" cy="3888431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zh-CN" sz="4800" b="1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§</a:t>
            </a:r>
            <a:r>
              <a:rPr lang="en-US" altLang="zh-CN" sz="48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6</a:t>
            </a:r>
            <a:r>
              <a:rPr lang="en-US" altLang="zh-CN" sz="48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48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三相异步电动机的电力拖动</a:t>
            </a:r>
            <a:r>
              <a:rPr lang="en-US" altLang="zh-CN" sz="48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Asynchronous Motors Driving Principle</a:t>
            </a:r>
          </a:p>
          <a:p>
            <a:pPr marL="0" indent="0" algn="ctr">
              <a:buNone/>
            </a:pP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（交流笼型感应电机、交流绕线异步电机</a:t>
            </a:r>
            <a:endParaRPr lang="en-US" altLang="zh-CN" b="1" kern="1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indent="0" algn="ctr">
              <a:buNone/>
            </a:pP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启动、调速、制动）</a:t>
            </a:r>
            <a:endParaRPr lang="zh-CN" altLang="zh-CN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68520CB-DBB7-37E0-F333-5BD5B796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34B3-1432-4053-90C7-E0228297BE5F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6285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Text Box 2">
            <a:extLst>
              <a:ext uri="{FF2B5EF4-FFF2-40B4-BE49-F238E27FC236}">
                <a16:creationId xmlns:a16="http://schemas.microsoft.com/office/drawing/2014/main" id="{463FF16D-3CBD-9F07-284F-C954F584E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342" y="963957"/>
            <a:ext cx="4433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chemeClr val="hlink"/>
                </a:solidFill>
              </a:rPr>
              <a:t>三相异步电动机的同步转速</a:t>
            </a:r>
          </a:p>
        </p:txBody>
      </p:sp>
      <p:graphicFrame>
        <p:nvGraphicFramePr>
          <p:cNvPr id="316419" name="Object 3">
            <a:extLst>
              <a:ext uri="{FF2B5EF4-FFF2-40B4-BE49-F238E27FC236}">
                <a16:creationId xmlns:a16="http://schemas.microsoft.com/office/drawing/2014/main" id="{824E9CEA-0136-1220-8149-459BC228D3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60963" y="266700"/>
          <a:ext cx="3273425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3000" imgH="419040" progId="Equation.3">
                  <p:embed/>
                </p:oleObj>
              </mc:Choice>
              <mc:Fallback>
                <p:oleObj name="公式" r:id="rId2" imgW="1143000" imgH="419040" progId="Equation.3">
                  <p:embed/>
                  <p:pic>
                    <p:nvPicPr>
                      <p:cNvPr id="316419" name="Object 3">
                        <a:extLst>
                          <a:ext uri="{FF2B5EF4-FFF2-40B4-BE49-F238E27FC236}">
                            <a16:creationId xmlns:a16="http://schemas.microsoft.com/office/drawing/2014/main" id="{824E9CEA-0136-1220-8149-459BC228D3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0963" y="266700"/>
                        <a:ext cx="3273425" cy="12255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CC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20" name="Object 4">
            <a:extLst>
              <a:ext uri="{FF2B5EF4-FFF2-40B4-BE49-F238E27FC236}">
                <a16:creationId xmlns:a16="http://schemas.microsoft.com/office/drawing/2014/main" id="{B5AE4E54-D72C-BC17-1F82-4307A29C00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4656138"/>
          <a:ext cx="15240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0880" imgH="203040" progId="Equation.3">
                  <p:embed/>
                </p:oleObj>
              </mc:Choice>
              <mc:Fallback>
                <p:oleObj name="公式" r:id="rId4" imgW="380880" imgH="203040" progId="Equation.3">
                  <p:embed/>
                  <p:pic>
                    <p:nvPicPr>
                      <p:cNvPr id="316420" name="Object 4">
                        <a:extLst>
                          <a:ext uri="{FF2B5EF4-FFF2-40B4-BE49-F238E27FC236}">
                            <a16:creationId xmlns:a16="http://schemas.microsoft.com/office/drawing/2014/main" id="{B5AE4E54-D72C-BC17-1F82-4307A29C00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656138"/>
                        <a:ext cx="15240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21" name="Object 5">
            <a:extLst>
              <a:ext uri="{FF2B5EF4-FFF2-40B4-BE49-F238E27FC236}">
                <a16:creationId xmlns:a16="http://schemas.microsoft.com/office/drawing/2014/main" id="{6835158B-D963-BF60-831B-64F9F0C0E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4725" y="4729163"/>
          <a:ext cx="128746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17160" imgH="177480" progId="Equation.3">
                  <p:embed/>
                </p:oleObj>
              </mc:Choice>
              <mc:Fallback>
                <p:oleObj name="公式" r:id="rId6" imgW="317160" imgH="177480" progId="Equation.3">
                  <p:embed/>
                  <p:pic>
                    <p:nvPicPr>
                      <p:cNvPr id="316421" name="Object 5">
                        <a:extLst>
                          <a:ext uri="{FF2B5EF4-FFF2-40B4-BE49-F238E27FC236}">
                            <a16:creationId xmlns:a16="http://schemas.microsoft.com/office/drawing/2014/main" id="{6835158B-D963-BF60-831B-64F9F0C0E7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4725" y="4729163"/>
                        <a:ext cx="1287463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22" name="Object 6">
            <a:extLst>
              <a:ext uri="{FF2B5EF4-FFF2-40B4-BE49-F238E27FC236}">
                <a16:creationId xmlns:a16="http://schemas.microsoft.com/office/drawing/2014/main" id="{12B41859-42AC-61D2-AD4A-49C213B7B9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4550" y="4705350"/>
          <a:ext cx="240030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38080" imgH="215640" progId="Equation.3">
                  <p:embed/>
                </p:oleObj>
              </mc:Choice>
              <mc:Fallback>
                <p:oleObj name="公式" r:id="rId8" imgW="838080" imgH="215640" progId="Equation.3">
                  <p:embed/>
                  <p:pic>
                    <p:nvPicPr>
                      <p:cNvPr id="316422" name="Object 6">
                        <a:extLst>
                          <a:ext uri="{FF2B5EF4-FFF2-40B4-BE49-F238E27FC236}">
                            <a16:creationId xmlns:a16="http://schemas.microsoft.com/office/drawing/2014/main" id="{12B41859-42AC-61D2-AD4A-49C213B7B9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4550" y="4705350"/>
                        <a:ext cx="2400300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23" name="Line 7">
            <a:extLst>
              <a:ext uri="{FF2B5EF4-FFF2-40B4-BE49-F238E27FC236}">
                <a16:creationId xmlns:a16="http://schemas.microsoft.com/office/drawing/2014/main" id="{EE276F79-123B-40BD-8D4F-5A72F51541F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025" y="4462463"/>
            <a:ext cx="7848600" cy="0"/>
          </a:xfrm>
          <a:prstGeom prst="line">
            <a:avLst/>
          </a:prstGeom>
          <a:noFill/>
          <a:ln w="38100">
            <a:solidFill>
              <a:srgbClr val="00FF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16424" name="Group 8">
            <a:extLst>
              <a:ext uri="{FF2B5EF4-FFF2-40B4-BE49-F238E27FC236}">
                <a16:creationId xmlns:a16="http://schemas.microsoft.com/office/drawing/2014/main" id="{09447F9C-B18B-FCDE-BA06-26B48C749560}"/>
              </a:ext>
            </a:extLst>
          </p:cNvPr>
          <p:cNvGrpSpPr>
            <a:grpSpLocks/>
          </p:cNvGrpSpPr>
          <p:nvPr/>
        </p:nvGrpSpPr>
        <p:grpSpPr bwMode="auto">
          <a:xfrm>
            <a:off x="666750" y="3546475"/>
            <a:ext cx="7542213" cy="690563"/>
            <a:chOff x="528" y="2414"/>
            <a:chExt cx="4751" cy="435"/>
          </a:xfrm>
        </p:grpSpPr>
        <p:graphicFrame>
          <p:nvGraphicFramePr>
            <p:cNvPr id="316425" name="Object 9">
              <a:extLst>
                <a:ext uri="{FF2B5EF4-FFF2-40B4-BE49-F238E27FC236}">
                  <a16:creationId xmlns:a16="http://schemas.microsoft.com/office/drawing/2014/main" id="{24DD379B-02B3-DEAC-CB2D-3E82B8C959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2414"/>
            <a:ext cx="876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42720" imgH="203040" progId="Equation.3">
                    <p:embed/>
                  </p:oleObj>
                </mc:Choice>
                <mc:Fallback>
                  <p:oleObj name="公式" r:id="rId10" imgW="342720" imgH="203040" progId="Equation.3">
                    <p:embed/>
                    <p:pic>
                      <p:nvPicPr>
                        <p:cNvPr id="316425" name="Object 9">
                          <a:extLst>
                            <a:ext uri="{FF2B5EF4-FFF2-40B4-BE49-F238E27FC236}">
                              <a16:creationId xmlns:a16="http://schemas.microsoft.com/office/drawing/2014/main" id="{24DD379B-02B3-DEAC-CB2D-3E82B8C959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414"/>
                          <a:ext cx="876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00FF99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6426" name="Object 10">
              <a:extLst>
                <a:ext uri="{FF2B5EF4-FFF2-40B4-BE49-F238E27FC236}">
                  <a16:creationId xmlns:a16="http://schemas.microsoft.com/office/drawing/2014/main" id="{9CA9DBDF-2C2C-8435-9EA1-E3A21CAF37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08" y="2469"/>
            <a:ext cx="847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30120" imgH="177480" progId="Equation.3">
                    <p:embed/>
                  </p:oleObj>
                </mc:Choice>
                <mc:Fallback>
                  <p:oleObj name="公式" r:id="rId12" imgW="330120" imgH="177480" progId="Equation.3">
                    <p:embed/>
                    <p:pic>
                      <p:nvPicPr>
                        <p:cNvPr id="316426" name="Object 10">
                          <a:extLst>
                            <a:ext uri="{FF2B5EF4-FFF2-40B4-BE49-F238E27FC236}">
                              <a16:creationId xmlns:a16="http://schemas.microsoft.com/office/drawing/2014/main" id="{9CA9DBDF-2C2C-8435-9EA1-E3A21CAF37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2469"/>
                          <a:ext cx="847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00FF99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6427" name="Object 11">
              <a:extLst>
                <a:ext uri="{FF2B5EF4-FFF2-40B4-BE49-F238E27FC236}">
                  <a16:creationId xmlns:a16="http://schemas.microsoft.com/office/drawing/2014/main" id="{5E94297A-2194-1451-A819-67F24DD7B0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4" y="2454"/>
            <a:ext cx="1535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850680" imgH="215640" progId="Equation.3">
                    <p:embed/>
                  </p:oleObj>
                </mc:Choice>
                <mc:Fallback>
                  <p:oleObj name="公式" r:id="rId14" imgW="850680" imgH="215640" progId="Equation.3">
                    <p:embed/>
                    <p:pic>
                      <p:nvPicPr>
                        <p:cNvPr id="316427" name="Object 11">
                          <a:extLst>
                            <a:ext uri="{FF2B5EF4-FFF2-40B4-BE49-F238E27FC236}">
                              <a16:creationId xmlns:a16="http://schemas.microsoft.com/office/drawing/2014/main" id="{5E94297A-2194-1451-A819-67F24DD7B0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454"/>
                          <a:ext cx="1535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6428" name="Text Box 12">
            <a:extLst>
              <a:ext uri="{FF2B5EF4-FFF2-40B4-BE49-F238E27FC236}">
                <a16:creationId xmlns:a16="http://schemas.microsoft.com/office/drawing/2014/main" id="{DDA15710-9760-0BD9-2616-9238CCC87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452688"/>
            <a:ext cx="1236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极对数</a:t>
            </a:r>
          </a:p>
        </p:txBody>
      </p:sp>
      <p:sp>
        <p:nvSpPr>
          <p:cNvPr id="316429" name="Text Box 13">
            <a:extLst>
              <a:ext uri="{FF2B5EF4-FFF2-40B4-BE49-F238E27FC236}">
                <a16:creationId xmlns:a16="http://schemas.microsoft.com/office/drawing/2014/main" id="{19E4187D-4BA4-697A-4A86-0BAEBC393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2033588"/>
            <a:ext cx="33416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/>
              <a:t>每个电流周期</a:t>
            </a:r>
          </a:p>
          <a:p>
            <a:pPr algn="ctr"/>
            <a:r>
              <a:rPr lang="zh-CN" altLang="en-US" sz="2800" b="1"/>
              <a:t>磁场转过的空间角度</a:t>
            </a:r>
          </a:p>
        </p:txBody>
      </p:sp>
      <p:sp>
        <p:nvSpPr>
          <p:cNvPr id="316430" name="Text Box 14">
            <a:extLst>
              <a:ext uri="{FF2B5EF4-FFF2-40B4-BE49-F238E27FC236}">
                <a16:creationId xmlns:a16="http://schemas.microsoft.com/office/drawing/2014/main" id="{30E388C9-58AF-F5CF-78EF-E143282BA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2000250"/>
            <a:ext cx="1587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同步转速</a:t>
            </a:r>
          </a:p>
        </p:txBody>
      </p:sp>
      <p:graphicFrame>
        <p:nvGraphicFramePr>
          <p:cNvPr id="316431" name="Object 15">
            <a:extLst>
              <a:ext uri="{FF2B5EF4-FFF2-40B4-BE49-F238E27FC236}">
                <a16:creationId xmlns:a16="http://schemas.microsoft.com/office/drawing/2014/main" id="{AB6025DE-51D2-066A-DA45-F28FFD9D2E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2650" y="2566988"/>
          <a:ext cx="24003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736560" imgH="203040" progId="Equation.3">
                  <p:embed/>
                </p:oleObj>
              </mc:Choice>
              <mc:Fallback>
                <p:oleObj name="公式" r:id="rId16" imgW="736560" imgH="203040" progId="Equation.3">
                  <p:embed/>
                  <p:pic>
                    <p:nvPicPr>
                      <p:cNvPr id="316431" name="Object 15">
                        <a:extLst>
                          <a:ext uri="{FF2B5EF4-FFF2-40B4-BE49-F238E27FC236}">
                            <a16:creationId xmlns:a16="http://schemas.microsoft.com/office/drawing/2014/main" id="{AB6025DE-51D2-066A-DA45-F28FFD9D2E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2650" y="2566988"/>
                        <a:ext cx="24003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32" name="Object 16">
            <a:extLst>
              <a:ext uri="{FF2B5EF4-FFF2-40B4-BE49-F238E27FC236}">
                <a16:creationId xmlns:a16="http://schemas.microsoft.com/office/drawing/2014/main" id="{8D641DC0-F6AA-C4C6-E339-0A4C5F7251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2213" y="1963738"/>
          <a:ext cx="4318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52280" imgH="215640" progId="Equation.3">
                  <p:embed/>
                </p:oleObj>
              </mc:Choice>
              <mc:Fallback>
                <p:oleObj name="公式" r:id="rId18" imgW="152280" imgH="215640" progId="Equation.3">
                  <p:embed/>
                  <p:pic>
                    <p:nvPicPr>
                      <p:cNvPr id="316432" name="Object 16">
                        <a:extLst>
                          <a:ext uri="{FF2B5EF4-FFF2-40B4-BE49-F238E27FC236}">
                            <a16:creationId xmlns:a16="http://schemas.microsoft.com/office/drawing/2014/main" id="{8D641DC0-F6AA-C4C6-E339-0A4C5F7251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2213" y="1963738"/>
                        <a:ext cx="43180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33" name="Line 17">
            <a:extLst>
              <a:ext uri="{FF2B5EF4-FFF2-40B4-BE49-F238E27FC236}">
                <a16:creationId xmlns:a16="http://schemas.microsoft.com/office/drawing/2014/main" id="{4957745C-1C89-CF71-F684-606931FEA7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0" y="3309938"/>
            <a:ext cx="7848600" cy="0"/>
          </a:xfrm>
          <a:prstGeom prst="line">
            <a:avLst/>
          </a:prstGeom>
          <a:noFill/>
          <a:ln w="38100">
            <a:solidFill>
              <a:srgbClr val="00FF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6434" name="Line 18">
            <a:extLst>
              <a:ext uri="{FF2B5EF4-FFF2-40B4-BE49-F238E27FC236}">
                <a16:creationId xmlns:a16="http://schemas.microsoft.com/office/drawing/2014/main" id="{CA13EBE7-ACB9-4C57-8829-4E62D6AF06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8850" y="1981200"/>
            <a:ext cx="0" cy="4876800"/>
          </a:xfrm>
          <a:prstGeom prst="line">
            <a:avLst/>
          </a:prstGeom>
          <a:noFill/>
          <a:ln w="38100">
            <a:solidFill>
              <a:srgbClr val="00FF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6435" name="Line 19">
            <a:extLst>
              <a:ext uri="{FF2B5EF4-FFF2-40B4-BE49-F238E27FC236}">
                <a16:creationId xmlns:a16="http://schemas.microsoft.com/office/drawing/2014/main" id="{E46FB3E9-647C-6691-992D-7EA7CB1AC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4050" y="2000250"/>
            <a:ext cx="0" cy="4857750"/>
          </a:xfrm>
          <a:prstGeom prst="line">
            <a:avLst/>
          </a:prstGeom>
          <a:noFill/>
          <a:ln w="38100">
            <a:solidFill>
              <a:srgbClr val="00FF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6436" name="Line 20">
            <a:extLst>
              <a:ext uri="{FF2B5EF4-FFF2-40B4-BE49-F238E27FC236}">
                <a16:creationId xmlns:a16="http://schemas.microsoft.com/office/drawing/2014/main" id="{E4F8EE13-DDD4-8BE0-4AEF-450CB16C9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275" y="5548313"/>
            <a:ext cx="7848600" cy="0"/>
          </a:xfrm>
          <a:prstGeom prst="line">
            <a:avLst/>
          </a:prstGeom>
          <a:noFill/>
          <a:ln w="38100">
            <a:solidFill>
              <a:srgbClr val="00FF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6437" name="Object 21">
            <a:extLst>
              <a:ext uri="{FF2B5EF4-FFF2-40B4-BE49-F238E27FC236}">
                <a16:creationId xmlns:a16="http://schemas.microsoft.com/office/drawing/2014/main" id="{78D330C4-B878-1CAE-203D-D52C7FBE12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100" y="5646738"/>
          <a:ext cx="14732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68280" imgH="203040" progId="Equation.3">
                  <p:embed/>
                </p:oleObj>
              </mc:Choice>
              <mc:Fallback>
                <p:oleObj name="公式" r:id="rId20" imgW="368280" imgH="203040" progId="Equation.3">
                  <p:embed/>
                  <p:pic>
                    <p:nvPicPr>
                      <p:cNvPr id="316437" name="Object 21">
                        <a:extLst>
                          <a:ext uri="{FF2B5EF4-FFF2-40B4-BE49-F238E27FC236}">
                            <a16:creationId xmlns:a16="http://schemas.microsoft.com/office/drawing/2014/main" id="{78D330C4-B878-1CAE-203D-D52C7FBE12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5646738"/>
                        <a:ext cx="14732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38" name="Object 22">
            <a:extLst>
              <a:ext uri="{FF2B5EF4-FFF2-40B4-BE49-F238E27FC236}">
                <a16:creationId xmlns:a16="http://schemas.microsoft.com/office/drawing/2014/main" id="{0B86E479-FC6A-B078-6D4D-81D7066ACA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52825" y="5681663"/>
          <a:ext cx="128746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317160" imgH="177480" progId="Equation.3">
                  <p:embed/>
                </p:oleObj>
              </mc:Choice>
              <mc:Fallback>
                <p:oleObj name="公式" r:id="rId22" imgW="317160" imgH="177480" progId="Equation.3">
                  <p:embed/>
                  <p:pic>
                    <p:nvPicPr>
                      <p:cNvPr id="316438" name="Object 22">
                        <a:extLst>
                          <a:ext uri="{FF2B5EF4-FFF2-40B4-BE49-F238E27FC236}">
                            <a16:creationId xmlns:a16="http://schemas.microsoft.com/office/drawing/2014/main" id="{0B86E479-FC6A-B078-6D4D-81D7066ACA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2825" y="5681663"/>
                        <a:ext cx="1287463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39" name="Object 23">
            <a:extLst>
              <a:ext uri="{FF2B5EF4-FFF2-40B4-BE49-F238E27FC236}">
                <a16:creationId xmlns:a16="http://schemas.microsoft.com/office/drawing/2014/main" id="{2E2B8132-89A9-8A6F-7D10-C8135955C9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5715000"/>
          <a:ext cx="240030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838080" imgH="215640" progId="Equation.3">
                  <p:embed/>
                </p:oleObj>
              </mc:Choice>
              <mc:Fallback>
                <p:oleObj name="公式" r:id="rId24" imgW="838080" imgH="215640" progId="Equation.3">
                  <p:embed/>
                  <p:pic>
                    <p:nvPicPr>
                      <p:cNvPr id="316439" name="Object 23">
                        <a:extLst>
                          <a:ext uri="{FF2B5EF4-FFF2-40B4-BE49-F238E27FC236}">
                            <a16:creationId xmlns:a16="http://schemas.microsoft.com/office/drawing/2014/main" id="{2E2B8132-89A9-8A6F-7D10-C8135955C9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715000"/>
                        <a:ext cx="2400300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4F9825BD-7961-7090-995F-FA51450FE6EB}"/>
              </a:ext>
            </a:extLst>
          </p:cNvPr>
          <p:cNvSpPr txBox="1"/>
          <p:nvPr/>
        </p:nvSpPr>
        <p:spPr>
          <a:xfrm>
            <a:off x="8524875" y="2033587"/>
            <a:ext cx="36759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概念回顾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Text Box 2">
            <a:extLst>
              <a:ext uri="{FF2B5EF4-FFF2-40B4-BE49-F238E27FC236}">
                <a16:creationId xmlns:a16="http://schemas.microsoft.com/office/drawing/2014/main" id="{B3597DE9-24B0-DFBD-B81E-F0F6E2D39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281" y="886205"/>
            <a:ext cx="70516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u="sng">
                <a:solidFill>
                  <a:srgbClr val="FF0000"/>
                </a:solidFill>
              </a:rPr>
              <a:t>电动机转速和旋转磁场同步转速的关系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grpSp>
        <p:nvGrpSpPr>
          <p:cNvPr id="317443" name="Group 3">
            <a:extLst>
              <a:ext uri="{FF2B5EF4-FFF2-40B4-BE49-F238E27FC236}">
                <a16:creationId xmlns:a16="http://schemas.microsoft.com/office/drawing/2014/main" id="{4246BB9E-7E97-C655-C973-5E4C31AB41E3}"/>
              </a:ext>
            </a:extLst>
          </p:cNvPr>
          <p:cNvGrpSpPr>
            <a:grpSpLocks/>
          </p:cNvGrpSpPr>
          <p:nvPr/>
        </p:nvGrpSpPr>
        <p:grpSpPr bwMode="auto">
          <a:xfrm>
            <a:off x="776031" y="1657730"/>
            <a:ext cx="4600575" cy="566738"/>
            <a:chOff x="434" y="636"/>
            <a:chExt cx="2898" cy="357"/>
          </a:xfrm>
        </p:grpSpPr>
        <p:sp>
          <p:nvSpPr>
            <p:cNvPr id="317444" name="Text Box 4">
              <a:extLst>
                <a:ext uri="{FF2B5EF4-FFF2-40B4-BE49-F238E27FC236}">
                  <a16:creationId xmlns:a16="http://schemas.microsoft.com/office/drawing/2014/main" id="{228F5F8D-39FE-BB86-5554-7C82204CE4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" y="666"/>
              <a:ext cx="26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/>
                <a:t>电动机转速（额定转速）</a:t>
              </a:r>
              <a:r>
                <a:rPr lang="en-US" altLang="zh-CN" sz="2800" b="1"/>
                <a:t>:</a:t>
              </a:r>
            </a:p>
          </p:txBody>
        </p:sp>
        <p:graphicFrame>
          <p:nvGraphicFramePr>
            <p:cNvPr id="317445" name="Object 5">
              <a:extLst>
                <a:ext uri="{FF2B5EF4-FFF2-40B4-BE49-F238E27FC236}">
                  <a16:creationId xmlns:a16="http://schemas.microsoft.com/office/drawing/2014/main" id="{4F86A0B3-4760-1A15-31EA-83FB28BC1C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24" y="636"/>
            <a:ext cx="308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26720" imgH="139680" progId="Equation.3">
                    <p:embed/>
                  </p:oleObj>
                </mc:Choice>
                <mc:Fallback>
                  <p:oleObj name="公式" r:id="rId2" imgW="126720" imgH="139680" progId="Equation.3">
                    <p:embed/>
                    <p:pic>
                      <p:nvPicPr>
                        <p:cNvPr id="317445" name="Object 5">
                          <a:extLst>
                            <a:ext uri="{FF2B5EF4-FFF2-40B4-BE49-F238E27FC236}">
                              <a16:creationId xmlns:a16="http://schemas.microsoft.com/office/drawing/2014/main" id="{4F86A0B3-4760-1A15-31EA-83FB28BC1C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636"/>
                          <a:ext cx="308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7446" name="Group 6">
            <a:extLst>
              <a:ext uri="{FF2B5EF4-FFF2-40B4-BE49-F238E27FC236}">
                <a16:creationId xmlns:a16="http://schemas.microsoft.com/office/drawing/2014/main" id="{00BE66FD-FB81-04FF-668B-5FDF64E217A9}"/>
              </a:ext>
            </a:extLst>
          </p:cNvPr>
          <p:cNvGrpSpPr>
            <a:grpSpLocks/>
          </p:cNvGrpSpPr>
          <p:nvPr/>
        </p:nvGrpSpPr>
        <p:grpSpPr bwMode="auto">
          <a:xfrm>
            <a:off x="772856" y="2476880"/>
            <a:ext cx="7000875" cy="1293813"/>
            <a:chOff x="432" y="1152"/>
            <a:chExt cx="4410" cy="815"/>
          </a:xfrm>
        </p:grpSpPr>
        <p:sp>
          <p:nvSpPr>
            <p:cNvPr id="317447" name="Text Box 7">
              <a:extLst>
                <a:ext uri="{FF2B5EF4-FFF2-40B4-BE49-F238E27FC236}">
                  <a16:creationId xmlns:a16="http://schemas.microsoft.com/office/drawing/2014/main" id="{7386024C-8067-3AD8-A52F-59E8738FE7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152"/>
              <a:ext cx="4410" cy="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/>
                <a:t>电机转子转动方向与磁场旋转的方向一致，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800" b="1"/>
                <a:t>  但          </a:t>
              </a:r>
              <a:r>
                <a:rPr lang="zh-CN" altLang="en-US" sz="2800" b="1" baseline="-25000"/>
                <a:t>                              </a:t>
              </a:r>
              <a:r>
                <a:rPr lang="zh-CN" altLang="en-US" sz="2800" b="1">
                  <a:solidFill>
                    <a:srgbClr val="0000FF"/>
                  </a:solidFill>
                </a:rPr>
                <a:t>异步</a:t>
              </a:r>
              <a:r>
                <a:rPr lang="zh-CN" altLang="en-US" sz="2800" b="1"/>
                <a:t>电动机</a:t>
              </a:r>
            </a:p>
          </p:txBody>
        </p:sp>
        <p:graphicFrame>
          <p:nvGraphicFramePr>
            <p:cNvPr id="317448" name="Object 8">
              <a:extLst>
                <a:ext uri="{FF2B5EF4-FFF2-40B4-BE49-F238E27FC236}">
                  <a16:creationId xmlns:a16="http://schemas.microsoft.com/office/drawing/2014/main" id="{AC91EC88-B666-EECC-86E6-B7619B7189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5" y="1430"/>
            <a:ext cx="936" cy="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80880" imgH="215640" progId="Equation.3">
                    <p:embed/>
                  </p:oleObj>
                </mc:Choice>
                <mc:Fallback>
                  <p:oleObj name="公式" r:id="rId4" imgW="380880" imgH="215640" progId="Equation.3">
                    <p:embed/>
                    <p:pic>
                      <p:nvPicPr>
                        <p:cNvPr id="317448" name="Object 8">
                          <a:extLst>
                            <a:ext uri="{FF2B5EF4-FFF2-40B4-BE49-F238E27FC236}">
                              <a16:creationId xmlns:a16="http://schemas.microsoft.com/office/drawing/2014/main" id="{AC91EC88-B666-EECC-86E6-B7619B7189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5" y="1430"/>
                          <a:ext cx="936" cy="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449" name="AutoShape 9">
              <a:extLst>
                <a:ext uri="{FF2B5EF4-FFF2-40B4-BE49-F238E27FC236}">
                  <a16:creationId xmlns:a16="http://schemas.microsoft.com/office/drawing/2014/main" id="{B6ED8EC9-8A29-FFBE-2819-967CA37A1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" y="1652"/>
              <a:ext cx="384" cy="144"/>
            </a:xfrm>
            <a:prstGeom prst="rightArrow">
              <a:avLst>
                <a:gd name="adj1" fmla="val 50000"/>
                <a:gd name="adj2" fmla="val 6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7450" name="Group 10">
            <a:extLst>
              <a:ext uri="{FF2B5EF4-FFF2-40B4-BE49-F238E27FC236}">
                <a16:creationId xmlns:a16="http://schemas.microsoft.com/office/drawing/2014/main" id="{0714EC87-D13D-79E3-C4C5-F7D318FD9838}"/>
              </a:ext>
            </a:extLst>
          </p:cNvPr>
          <p:cNvGrpSpPr>
            <a:grpSpLocks/>
          </p:cNvGrpSpPr>
          <p:nvPr/>
        </p:nvGrpSpPr>
        <p:grpSpPr bwMode="auto">
          <a:xfrm>
            <a:off x="4617781" y="6363080"/>
            <a:ext cx="2590800" cy="515938"/>
            <a:chOff x="970" y="3792"/>
            <a:chExt cx="1632" cy="325"/>
          </a:xfrm>
        </p:grpSpPr>
        <p:sp>
          <p:nvSpPr>
            <p:cNvPr id="317451" name="Rectangle 11">
              <a:extLst>
                <a:ext uri="{FF2B5EF4-FFF2-40B4-BE49-F238E27FC236}">
                  <a16:creationId xmlns:a16="http://schemas.microsoft.com/office/drawing/2014/main" id="{E78D9D07-EDEA-732C-2C9F-5F6A68697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" y="3792"/>
              <a:ext cx="1104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/>
                <a:t>无转距</a:t>
              </a:r>
            </a:p>
          </p:txBody>
        </p:sp>
        <p:sp>
          <p:nvSpPr>
            <p:cNvPr id="317452" name="AutoShape 12">
              <a:extLst>
                <a:ext uri="{FF2B5EF4-FFF2-40B4-BE49-F238E27FC236}">
                  <a16:creationId xmlns:a16="http://schemas.microsoft.com/office/drawing/2014/main" id="{0C77100A-8A82-F305-71BC-840E617CC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" y="3888"/>
              <a:ext cx="384" cy="144"/>
            </a:xfrm>
            <a:prstGeom prst="rightArrow">
              <a:avLst>
                <a:gd name="adj1" fmla="val 50000"/>
                <a:gd name="adj2" fmla="val 6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7453" name="Group 13">
            <a:extLst>
              <a:ext uri="{FF2B5EF4-FFF2-40B4-BE49-F238E27FC236}">
                <a16:creationId xmlns:a16="http://schemas.microsoft.com/office/drawing/2014/main" id="{377A491B-F563-A831-7E88-7A51906C26B8}"/>
              </a:ext>
            </a:extLst>
          </p:cNvPr>
          <p:cNvGrpSpPr>
            <a:grpSpLocks/>
          </p:cNvGrpSpPr>
          <p:nvPr/>
        </p:nvGrpSpPr>
        <p:grpSpPr bwMode="auto">
          <a:xfrm>
            <a:off x="1645981" y="4864480"/>
            <a:ext cx="6029325" cy="519113"/>
            <a:chOff x="970" y="2476"/>
            <a:chExt cx="3798" cy="327"/>
          </a:xfrm>
        </p:grpSpPr>
        <p:sp>
          <p:nvSpPr>
            <p:cNvPr id="317454" name="AutoShape 14">
              <a:extLst>
                <a:ext uri="{FF2B5EF4-FFF2-40B4-BE49-F238E27FC236}">
                  <a16:creationId xmlns:a16="http://schemas.microsoft.com/office/drawing/2014/main" id="{6277528E-37D5-7689-696A-950A55195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" y="2592"/>
              <a:ext cx="384" cy="144"/>
            </a:xfrm>
            <a:prstGeom prst="rightArrow">
              <a:avLst>
                <a:gd name="adj1" fmla="val 50000"/>
                <a:gd name="adj2" fmla="val 6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455" name="Text Box 15">
              <a:extLst>
                <a:ext uri="{FF2B5EF4-FFF2-40B4-BE49-F238E27FC236}">
                  <a16:creationId xmlns:a16="http://schemas.microsoft.com/office/drawing/2014/main" id="{377DD6DF-DD2F-9F1E-E565-1302B56672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476"/>
              <a:ext cx="32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/>
                <a:t>转子与旋转磁场间没有相对运动</a:t>
              </a:r>
            </a:p>
          </p:txBody>
        </p:sp>
      </p:grpSp>
      <p:grpSp>
        <p:nvGrpSpPr>
          <p:cNvPr id="317456" name="Group 16">
            <a:extLst>
              <a:ext uri="{FF2B5EF4-FFF2-40B4-BE49-F238E27FC236}">
                <a16:creationId xmlns:a16="http://schemas.microsoft.com/office/drawing/2014/main" id="{7E08CA5D-7E80-F2D0-B7D1-D406C320348D}"/>
              </a:ext>
            </a:extLst>
          </p:cNvPr>
          <p:cNvGrpSpPr>
            <a:grpSpLocks/>
          </p:cNvGrpSpPr>
          <p:nvPr/>
        </p:nvGrpSpPr>
        <p:grpSpPr bwMode="auto">
          <a:xfrm>
            <a:off x="1645981" y="5582030"/>
            <a:ext cx="7464425" cy="519113"/>
            <a:chOff x="970" y="2928"/>
            <a:chExt cx="4702" cy="327"/>
          </a:xfrm>
        </p:grpSpPr>
        <p:sp>
          <p:nvSpPr>
            <p:cNvPr id="317457" name="AutoShape 17">
              <a:extLst>
                <a:ext uri="{FF2B5EF4-FFF2-40B4-BE49-F238E27FC236}">
                  <a16:creationId xmlns:a16="http://schemas.microsoft.com/office/drawing/2014/main" id="{E2951F40-6886-5966-CD39-4C941A469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" y="3024"/>
              <a:ext cx="384" cy="144"/>
            </a:xfrm>
            <a:prstGeom prst="rightArrow">
              <a:avLst>
                <a:gd name="adj1" fmla="val 50000"/>
                <a:gd name="adj2" fmla="val 6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458" name="Text Box 18">
              <a:extLst>
                <a:ext uri="{FF2B5EF4-FFF2-40B4-BE49-F238E27FC236}">
                  <a16:creationId xmlns:a16="http://schemas.microsoft.com/office/drawing/2014/main" id="{DC192F6B-363D-90A9-AF93-4E6DECC49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928"/>
              <a:ext cx="41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/>
                <a:t>无转子电动势（转子导体不切割磁力线）</a:t>
              </a:r>
              <a:endParaRPr lang="zh-CN" altLang="en-US" b="1"/>
            </a:p>
          </p:txBody>
        </p:sp>
      </p:grpSp>
      <p:grpSp>
        <p:nvGrpSpPr>
          <p:cNvPr id="317459" name="Group 19">
            <a:extLst>
              <a:ext uri="{FF2B5EF4-FFF2-40B4-BE49-F238E27FC236}">
                <a16:creationId xmlns:a16="http://schemas.microsoft.com/office/drawing/2014/main" id="{531C067C-E21E-8700-EF38-C350E6577305}"/>
              </a:ext>
            </a:extLst>
          </p:cNvPr>
          <p:cNvGrpSpPr>
            <a:grpSpLocks/>
          </p:cNvGrpSpPr>
          <p:nvPr/>
        </p:nvGrpSpPr>
        <p:grpSpPr bwMode="auto">
          <a:xfrm>
            <a:off x="1645981" y="6267830"/>
            <a:ext cx="2816225" cy="519113"/>
            <a:chOff x="970" y="3360"/>
            <a:chExt cx="1774" cy="327"/>
          </a:xfrm>
        </p:grpSpPr>
        <p:sp>
          <p:nvSpPr>
            <p:cNvPr id="317460" name="AutoShape 20">
              <a:extLst>
                <a:ext uri="{FF2B5EF4-FFF2-40B4-BE49-F238E27FC236}">
                  <a16:creationId xmlns:a16="http://schemas.microsoft.com/office/drawing/2014/main" id="{49A15F57-68CC-B082-58A2-695624A05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" y="3456"/>
              <a:ext cx="384" cy="144"/>
            </a:xfrm>
            <a:prstGeom prst="rightArrow">
              <a:avLst>
                <a:gd name="adj1" fmla="val 50000"/>
                <a:gd name="adj2" fmla="val 6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461" name="Text Box 21">
              <a:extLst>
                <a:ext uri="{FF2B5EF4-FFF2-40B4-BE49-F238E27FC236}">
                  <a16:creationId xmlns:a16="http://schemas.microsoft.com/office/drawing/2014/main" id="{D8D1CD27-A4D0-DD51-9469-74F36A1C3C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8" y="3360"/>
              <a:ext cx="124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/>
                <a:t>无转子电流</a:t>
              </a:r>
              <a:endParaRPr lang="zh-CN" altLang="en-US" b="1"/>
            </a:p>
          </p:txBody>
        </p:sp>
      </p:grpSp>
      <p:grpSp>
        <p:nvGrpSpPr>
          <p:cNvPr id="317462" name="Group 22">
            <a:extLst>
              <a:ext uri="{FF2B5EF4-FFF2-40B4-BE49-F238E27FC236}">
                <a16:creationId xmlns:a16="http://schemas.microsoft.com/office/drawing/2014/main" id="{6CC60070-474B-CA6B-AF74-82EF69694EA8}"/>
              </a:ext>
            </a:extLst>
          </p:cNvPr>
          <p:cNvGrpSpPr>
            <a:grpSpLocks/>
          </p:cNvGrpSpPr>
          <p:nvPr/>
        </p:nvGrpSpPr>
        <p:grpSpPr bwMode="auto">
          <a:xfrm>
            <a:off x="922081" y="4023105"/>
            <a:ext cx="3427413" cy="852488"/>
            <a:chOff x="526" y="2126"/>
            <a:chExt cx="2159" cy="537"/>
          </a:xfrm>
        </p:grpSpPr>
        <p:sp>
          <p:nvSpPr>
            <p:cNvPr id="317463" name="Text Box 23">
              <a:extLst>
                <a:ext uri="{FF2B5EF4-FFF2-40B4-BE49-F238E27FC236}">
                  <a16:creationId xmlns:a16="http://schemas.microsoft.com/office/drawing/2014/main" id="{93DA227A-7D01-C4C4-9F3B-7C82DEC43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" y="2232"/>
              <a:ext cx="124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 u="sng">
                  <a:solidFill>
                    <a:srgbClr val="CC0000"/>
                  </a:solidFill>
                </a:rPr>
                <a:t>提示</a:t>
              </a:r>
              <a:r>
                <a:rPr lang="zh-CN" altLang="en-US" sz="2800" b="1">
                  <a:solidFill>
                    <a:srgbClr val="CC0000"/>
                  </a:solidFill>
                </a:rPr>
                <a:t>：</a:t>
              </a:r>
              <a:r>
                <a:rPr lang="zh-CN" altLang="en-US" sz="2800" b="1"/>
                <a:t>如果</a:t>
              </a:r>
            </a:p>
          </p:txBody>
        </p:sp>
        <p:graphicFrame>
          <p:nvGraphicFramePr>
            <p:cNvPr id="317464" name="Object 24">
              <a:extLst>
                <a:ext uri="{FF2B5EF4-FFF2-40B4-BE49-F238E27FC236}">
                  <a16:creationId xmlns:a16="http://schemas.microsoft.com/office/drawing/2014/main" id="{B99602FD-5B3A-0D46-DE70-C5281708F4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49" y="2126"/>
            <a:ext cx="936" cy="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380880" imgH="215640" progId="Equation.3">
                    <p:embed/>
                  </p:oleObj>
                </mc:Choice>
                <mc:Fallback>
                  <p:oleObj name="公式" r:id="rId6" imgW="380880" imgH="215640" progId="Equation.3">
                    <p:embed/>
                    <p:pic>
                      <p:nvPicPr>
                        <p:cNvPr id="317464" name="Object 24">
                          <a:extLst>
                            <a:ext uri="{FF2B5EF4-FFF2-40B4-BE49-F238E27FC236}">
                              <a16:creationId xmlns:a16="http://schemas.microsoft.com/office/drawing/2014/main" id="{B99602FD-5B3A-0D46-DE70-C5281708F4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9" y="2126"/>
                          <a:ext cx="936" cy="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465" name="Line 25">
            <a:extLst>
              <a:ext uri="{FF2B5EF4-FFF2-40B4-BE49-F238E27FC236}">
                <a16:creationId xmlns:a16="http://schemas.microsoft.com/office/drawing/2014/main" id="{27973B27-EDB9-89DB-232F-9DB7FB47D8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806" y="3962780"/>
            <a:ext cx="8534400" cy="0"/>
          </a:xfrm>
          <a:prstGeom prst="line">
            <a:avLst/>
          </a:prstGeom>
          <a:noFill/>
          <a:ln w="38100">
            <a:solidFill>
              <a:srgbClr val="00FF99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7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466" name="Group 2">
            <a:extLst>
              <a:ext uri="{FF2B5EF4-FFF2-40B4-BE49-F238E27FC236}">
                <a16:creationId xmlns:a16="http://schemas.microsoft.com/office/drawing/2014/main" id="{AAF15B06-9C87-D57A-7AA7-1E3B2BEFF390}"/>
              </a:ext>
            </a:extLst>
          </p:cNvPr>
          <p:cNvGrpSpPr>
            <a:grpSpLocks/>
          </p:cNvGrpSpPr>
          <p:nvPr/>
        </p:nvGrpSpPr>
        <p:grpSpPr bwMode="auto">
          <a:xfrm>
            <a:off x="4856516" y="173039"/>
            <a:ext cx="4262438" cy="982662"/>
            <a:chOff x="298" y="279"/>
            <a:chExt cx="2685" cy="619"/>
          </a:xfrm>
        </p:grpSpPr>
        <p:sp>
          <p:nvSpPr>
            <p:cNvPr id="318467" name="Text Box 3">
              <a:extLst>
                <a:ext uri="{FF2B5EF4-FFF2-40B4-BE49-F238E27FC236}">
                  <a16:creationId xmlns:a16="http://schemas.microsoft.com/office/drawing/2014/main" id="{42336E07-5260-C2C6-9E11-173788F825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384"/>
              <a:ext cx="268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 b="1">
                  <a:solidFill>
                    <a:schemeClr val="hlink"/>
                  </a:solidFill>
                </a:rPr>
                <a:t> </a:t>
              </a:r>
              <a:r>
                <a:rPr lang="zh-CN" altLang="en-US" sz="3200" b="1">
                  <a:solidFill>
                    <a:schemeClr val="hlink"/>
                  </a:solidFill>
                </a:rPr>
                <a:t>转差率           的概念：</a:t>
              </a:r>
            </a:p>
          </p:txBody>
        </p:sp>
        <p:graphicFrame>
          <p:nvGraphicFramePr>
            <p:cNvPr id="318468" name="Object 4">
              <a:extLst>
                <a:ext uri="{FF2B5EF4-FFF2-40B4-BE49-F238E27FC236}">
                  <a16:creationId xmlns:a16="http://schemas.microsoft.com/office/drawing/2014/main" id="{7FD758CF-5402-D678-FA38-70AF54638B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96" y="279"/>
            <a:ext cx="646" cy="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215640" imgH="203040" progId="Equation.3">
                    <p:embed/>
                  </p:oleObj>
                </mc:Choice>
                <mc:Fallback>
                  <p:oleObj name="公式" r:id="rId3" imgW="215640" imgH="203040" progId="Equation.3">
                    <p:embed/>
                    <p:pic>
                      <p:nvPicPr>
                        <p:cNvPr id="318468" name="Object 4">
                          <a:extLst>
                            <a:ext uri="{FF2B5EF4-FFF2-40B4-BE49-F238E27FC236}">
                              <a16:creationId xmlns:a16="http://schemas.microsoft.com/office/drawing/2014/main" id="{7FD758CF-5402-D678-FA38-70AF54638B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6" y="279"/>
                          <a:ext cx="646" cy="6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8469" name="Object 5">
            <a:extLst>
              <a:ext uri="{FF2B5EF4-FFF2-40B4-BE49-F238E27FC236}">
                <a16:creationId xmlns:a16="http://schemas.microsoft.com/office/drawing/2014/main" id="{61A7A9E1-79DA-DBBF-1D69-2115D88A36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9763" y="2076450"/>
          <a:ext cx="4805362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231560" imgH="482400" progId="Equation.3">
                  <p:embed/>
                </p:oleObj>
              </mc:Choice>
              <mc:Fallback>
                <p:oleObj name="公式" r:id="rId5" imgW="1231560" imgH="482400" progId="Equation.3">
                  <p:embed/>
                  <p:pic>
                    <p:nvPicPr>
                      <p:cNvPr id="318469" name="Object 5">
                        <a:extLst>
                          <a:ext uri="{FF2B5EF4-FFF2-40B4-BE49-F238E27FC236}">
                            <a16:creationId xmlns:a16="http://schemas.microsoft.com/office/drawing/2014/main" id="{61A7A9E1-79DA-DBBF-1D69-2115D88A36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9763" y="2076450"/>
                        <a:ext cx="4805362" cy="160972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CC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8470" name="Group 6">
            <a:extLst>
              <a:ext uri="{FF2B5EF4-FFF2-40B4-BE49-F238E27FC236}">
                <a16:creationId xmlns:a16="http://schemas.microsoft.com/office/drawing/2014/main" id="{27B511C0-AC7F-40F0-538E-661F1D2909DE}"/>
              </a:ext>
            </a:extLst>
          </p:cNvPr>
          <p:cNvGrpSpPr>
            <a:grpSpLocks/>
          </p:cNvGrpSpPr>
          <p:nvPr/>
        </p:nvGrpSpPr>
        <p:grpSpPr bwMode="auto">
          <a:xfrm>
            <a:off x="1409700" y="5886450"/>
            <a:ext cx="5876925" cy="700088"/>
            <a:chOff x="480" y="2388"/>
            <a:chExt cx="3702" cy="441"/>
          </a:xfrm>
        </p:grpSpPr>
        <p:sp>
          <p:nvSpPr>
            <p:cNvPr id="318471" name="Rectangle 7">
              <a:extLst>
                <a:ext uri="{FF2B5EF4-FFF2-40B4-BE49-F238E27FC236}">
                  <a16:creationId xmlns:a16="http://schemas.microsoft.com/office/drawing/2014/main" id="{DD60EB63-A4D9-D6DC-C9A6-8D2DD7BBB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460"/>
              <a:ext cx="2050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>
                  <a:solidFill>
                    <a:srgbClr val="0000FF"/>
                  </a:solidFill>
                </a:rPr>
                <a:t>异步电机运行中</a:t>
              </a:r>
              <a:r>
                <a:rPr lang="en-US" altLang="zh-CN" sz="2800" b="1">
                  <a:solidFill>
                    <a:srgbClr val="0000FF"/>
                  </a:solidFill>
                </a:rPr>
                <a:t>:</a:t>
              </a:r>
            </a:p>
          </p:txBody>
        </p:sp>
        <p:graphicFrame>
          <p:nvGraphicFramePr>
            <p:cNvPr id="318472" name="Object 8">
              <a:extLst>
                <a:ext uri="{FF2B5EF4-FFF2-40B4-BE49-F238E27FC236}">
                  <a16:creationId xmlns:a16="http://schemas.microsoft.com/office/drawing/2014/main" id="{237DD415-0C08-668B-4EA5-542C265981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32" y="2388"/>
            <a:ext cx="1650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72840" imgH="177480" progId="Equation.3">
                    <p:embed/>
                  </p:oleObj>
                </mc:Choice>
                <mc:Fallback>
                  <p:oleObj name="公式" r:id="rId7" imgW="672840" imgH="177480" progId="Equation.3">
                    <p:embed/>
                    <p:pic>
                      <p:nvPicPr>
                        <p:cNvPr id="318472" name="Object 8">
                          <a:extLst>
                            <a:ext uri="{FF2B5EF4-FFF2-40B4-BE49-F238E27FC236}">
                              <a16:creationId xmlns:a16="http://schemas.microsoft.com/office/drawing/2014/main" id="{237DD415-0C08-668B-4EA5-542C265981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2" y="2388"/>
                          <a:ext cx="1650" cy="4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8473" name="Text Box 9">
            <a:extLst>
              <a:ext uri="{FF2B5EF4-FFF2-40B4-BE49-F238E27FC236}">
                <a16:creationId xmlns:a16="http://schemas.microsoft.com/office/drawing/2014/main" id="{341CB91B-F4CF-FDBA-7756-676185B79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055688"/>
            <a:ext cx="8715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/>
              <a:t>转差率为旋转磁场的同步转速和电动机转速之差。即：</a:t>
            </a:r>
          </a:p>
        </p:txBody>
      </p:sp>
      <p:grpSp>
        <p:nvGrpSpPr>
          <p:cNvPr id="318474" name="Group 10">
            <a:extLst>
              <a:ext uri="{FF2B5EF4-FFF2-40B4-BE49-F238E27FC236}">
                <a16:creationId xmlns:a16="http://schemas.microsoft.com/office/drawing/2014/main" id="{B3E662B8-1494-944B-5C3C-340EACD57F93}"/>
              </a:ext>
            </a:extLst>
          </p:cNvPr>
          <p:cNvGrpSpPr>
            <a:grpSpLocks/>
          </p:cNvGrpSpPr>
          <p:nvPr/>
        </p:nvGrpSpPr>
        <p:grpSpPr bwMode="auto">
          <a:xfrm>
            <a:off x="-19050" y="3810000"/>
            <a:ext cx="9144000" cy="877888"/>
            <a:chOff x="0" y="3312"/>
            <a:chExt cx="5760" cy="697"/>
          </a:xfrm>
        </p:grpSpPr>
        <p:grpSp>
          <p:nvGrpSpPr>
            <p:cNvPr id="318475" name="Group 11">
              <a:extLst>
                <a:ext uri="{FF2B5EF4-FFF2-40B4-BE49-F238E27FC236}">
                  <a16:creationId xmlns:a16="http://schemas.microsoft.com/office/drawing/2014/main" id="{87A74BD5-2F8D-8E66-44D1-35F8D6E404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0" y="3504"/>
              <a:ext cx="5154" cy="505"/>
              <a:chOff x="348" y="3096"/>
              <a:chExt cx="5154" cy="505"/>
            </a:xfrm>
          </p:grpSpPr>
          <p:sp>
            <p:nvSpPr>
              <p:cNvPr id="318476" name="Text Box 12">
                <a:extLst>
                  <a:ext uri="{FF2B5EF4-FFF2-40B4-BE49-F238E27FC236}">
                    <a16:creationId xmlns:a16="http://schemas.microsoft.com/office/drawing/2014/main" id="{81CB43D7-31C5-4BFC-6423-011BA8E4C3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" y="3180"/>
                <a:ext cx="1763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5715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7145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2860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7432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32004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657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41148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2800" b="1"/>
                  <a:t>电动机起动瞬间</a:t>
                </a:r>
                <a:r>
                  <a:rPr lang="en-US" altLang="zh-CN" sz="2800" b="1"/>
                  <a:t>:</a:t>
                </a:r>
              </a:p>
            </p:txBody>
          </p:sp>
          <p:graphicFrame>
            <p:nvGraphicFramePr>
              <p:cNvPr id="318477" name="Object 13">
                <a:extLst>
                  <a:ext uri="{FF2B5EF4-FFF2-40B4-BE49-F238E27FC236}">
                    <a16:creationId xmlns:a16="http://schemas.microsoft.com/office/drawing/2014/main" id="{E32781B6-4BC8-B6B6-1D8D-E9439CE35D8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00" y="3096"/>
              <a:ext cx="1872" cy="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9" imgW="761760" imgH="203040" progId="Equation.3">
                      <p:embed/>
                    </p:oleObj>
                  </mc:Choice>
                  <mc:Fallback>
                    <p:oleObj name="公式" r:id="rId9" imgW="761760" imgH="203040" progId="Equation.3">
                      <p:embed/>
                      <p:pic>
                        <p:nvPicPr>
                          <p:cNvPr id="318477" name="Object 13">
                            <a:extLst>
                              <a:ext uri="{FF2B5EF4-FFF2-40B4-BE49-F238E27FC236}">
                                <a16:creationId xmlns:a16="http://schemas.microsoft.com/office/drawing/2014/main" id="{E32781B6-4BC8-B6B6-1D8D-E9439CE35D8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00" y="3096"/>
                            <a:ext cx="1872" cy="5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8478" name="Text Box 14">
                <a:extLst>
                  <a:ext uri="{FF2B5EF4-FFF2-40B4-BE49-F238E27FC236}">
                    <a16:creationId xmlns:a16="http://schemas.microsoft.com/office/drawing/2014/main" id="{EDD4AFF8-A79A-AE94-3701-1B5ABA9DA6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4" y="3132"/>
                <a:ext cx="169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5715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7145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2860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7432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32004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657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41148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800" b="1"/>
                  <a:t>（转差率最大）</a:t>
                </a:r>
                <a:endParaRPr lang="zh-CN" altLang="en-US" b="1"/>
              </a:p>
            </p:txBody>
          </p:sp>
        </p:grpSp>
        <p:sp>
          <p:nvSpPr>
            <p:cNvPr id="318479" name="Line 15">
              <a:extLst>
                <a:ext uri="{FF2B5EF4-FFF2-40B4-BE49-F238E27FC236}">
                  <a16:creationId xmlns:a16="http://schemas.microsoft.com/office/drawing/2014/main" id="{D6B7F5FC-6F74-79B7-9649-E18A08726D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3312"/>
              <a:ext cx="5760" cy="0"/>
            </a:xfrm>
            <a:prstGeom prst="line">
              <a:avLst/>
            </a:prstGeom>
            <a:noFill/>
            <a:ln w="38100">
              <a:solidFill>
                <a:srgbClr val="00CC99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18480" name="Object 16">
            <a:extLst>
              <a:ext uri="{FF2B5EF4-FFF2-40B4-BE49-F238E27FC236}">
                <a16:creationId xmlns:a16="http://schemas.microsoft.com/office/drawing/2014/main" id="{92E992A8-D4C3-70DF-2C2E-A14EC0C368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8338" y="4730750"/>
          <a:ext cx="847407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616120" imgH="215640" progId="Equation.3">
                  <p:embed/>
                </p:oleObj>
              </mc:Choice>
              <mc:Fallback>
                <p:oleObj name="公式" r:id="rId11" imgW="2616120" imgH="215640" progId="Equation.3">
                  <p:embed/>
                  <p:pic>
                    <p:nvPicPr>
                      <p:cNvPr id="318480" name="Object 16">
                        <a:extLst>
                          <a:ext uri="{FF2B5EF4-FFF2-40B4-BE49-F238E27FC236}">
                            <a16:creationId xmlns:a16="http://schemas.microsoft.com/office/drawing/2014/main" id="{92E992A8-D4C3-70DF-2C2E-A14EC0C368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8" y="4730750"/>
                        <a:ext cx="8474075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81" name="Object 17">
            <a:extLst>
              <a:ext uri="{FF2B5EF4-FFF2-40B4-BE49-F238E27FC236}">
                <a16:creationId xmlns:a16="http://schemas.microsoft.com/office/drawing/2014/main" id="{4057E5E2-BBE5-57E0-0A74-198A710107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981464"/>
              </p:ext>
            </p:extLst>
          </p:nvPr>
        </p:nvGraphicFramePr>
        <p:xfrm>
          <a:off x="668338" y="5259388"/>
          <a:ext cx="450532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282680" imgH="203040" progId="Equation.3">
                  <p:embed/>
                </p:oleObj>
              </mc:Choice>
              <mc:Fallback>
                <p:oleObj name="公式" r:id="rId13" imgW="1282680" imgH="203040" progId="Equation.3">
                  <p:embed/>
                  <p:pic>
                    <p:nvPicPr>
                      <p:cNvPr id="318481" name="Object 17">
                        <a:extLst>
                          <a:ext uri="{FF2B5EF4-FFF2-40B4-BE49-F238E27FC236}">
                            <a16:creationId xmlns:a16="http://schemas.microsoft.com/office/drawing/2014/main" id="{4057E5E2-BBE5-57E0-0A74-198A710107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8" y="5259388"/>
                        <a:ext cx="450532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184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7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490" name="Object 2">
            <a:extLst>
              <a:ext uri="{FF2B5EF4-FFF2-40B4-BE49-F238E27FC236}">
                <a16:creationId xmlns:a16="http://schemas.microsoft.com/office/drawing/2014/main" id="{B3529FCD-E880-3EA3-5D96-88F92DFBC1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160775"/>
              </p:ext>
            </p:extLst>
          </p:nvPr>
        </p:nvGraphicFramePr>
        <p:xfrm>
          <a:off x="533152" y="1061120"/>
          <a:ext cx="3308350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55600" imgH="419040" progId="Equation.3">
                  <p:embed/>
                </p:oleObj>
              </mc:Choice>
              <mc:Fallback>
                <p:oleObj name="公式" r:id="rId2" imgW="1155600" imgH="419040" progId="Equation.3">
                  <p:embed/>
                  <p:pic>
                    <p:nvPicPr>
                      <p:cNvPr id="319490" name="Object 2">
                        <a:extLst>
                          <a:ext uri="{FF2B5EF4-FFF2-40B4-BE49-F238E27FC236}">
                            <a16:creationId xmlns:a16="http://schemas.microsoft.com/office/drawing/2014/main" id="{B3529FCD-E880-3EA3-5D96-88F92DFBC1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152" y="1061120"/>
                        <a:ext cx="3308350" cy="12255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CC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1" name="Object 3">
            <a:extLst>
              <a:ext uri="{FF2B5EF4-FFF2-40B4-BE49-F238E27FC236}">
                <a16:creationId xmlns:a16="http://schemas.microsoft.com/office/drawing/2014/main" id="{1A41B3C2-3DA5-EA14-B6A4-E5EB06CE74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027159"/>
              </p:ext>
            </p:extLst>
          </p:nvPr>
        </p:nvGraphicFramePr>
        <p:xfrm>
          <a:off x="4139952" y="908720"/>
          <a:ext cx="4803775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31560" imgH="482400" progId="Equation.3">
                  <p:embed/>
                </p:oleObj>
              </mc:Choice>
              <mc:Fallback>
                <p:oleObj name="公式" r:id="rId4" imgW="1231560" imgH="482400" progId="Equation.3">
                  <p:embed/>
                  <p:pic>
                    <p:nvPicPr>
                      <p:cNvPr id="319491" name="Object 3">
                        <a:extLst>
                          <a:ext uri="{FF2B5EF4-FFF2-40B4-BE49-F238E27FC236}">
                            <a16:creationId xmlns:a16="http://schemas.microsoft.com/office/drawing/2014/main" id="{1A41B3C2-3DA5-EA14-B6A4-E5EB06CE74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908720"/>
                        <a:ext cx="4803775" cy="160972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CC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492" name="Text Box 4">
            <a:extLst>
              <a:ext uri="{FF2B5EF4-FFF2-40B4-BE49-F238E27FC236}">
                <a16:creationId xmlns:a16="http://schemas.microsoft.com/office/drawing/2014/main" id="{D4D41390-DE7E-B54E-B70F-65C1D3835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365" y="4620295"/>
            <a:ext cx="3771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/>
              <a:t>转子感生电流的频率：</a:t>
            </a:r>
          </a:p>
        </p:txBody>
      </p:sp>
      <p:graphicFrame>
        <p:nvGraphicFramePr>
          <p:cNvPr id="319493" name="Object 5">
            <a:extLst>
              <a:ext uri="{FF2B5EF4-FFF2-40B4-BE49-F238E27FC236}">
                <a16:creationId xmlns:a16="http://schemas.microsoft.com/office/drawing/2014/main" id="{ABC27C02-A4CC-F881-FB8D-6017EAF8B3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847262"/>
              </p:ext>
            </p:extLst>
          </p:nvPr>
        </p:nvGraphicFramePr>
        <p:xfrm>
          <a:off x="1020515" y="5417220"/>
          <a:ext cx="2986087" cy="140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12520" imgH="393480" progId="Equation.3">
                  <p:embed/>
                </p:oleObj>
              </mc:Choice>
              <mc:Fallback>
                <p:oleObj name="公式" r:id="rId6" imgW="812520" imgH="393480" progId="Equation.3">
                  <p:embed/>
                  <p:pic>
                    <p:nvPicPr>
                      <p:cNvPr id="319493" name="Object 5">
                        <a:extLst>
                          <a:ext uri="{FF2B5EF4-FFF2-40B4-BE49-F238E27FC236}">
                            <a16:creationId xmlns:a16="http://schemas.microsoft.com/office/drawing/2014/main" id="{ABC27C02-A4CC-F881-FB8D-6017EAF8B3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515" y="5417220"/>
                        <a:ext cx="2986087" cy="140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4" name="Object 6">
            <a:extLst>
              <a:ext uri="{FF2B5EF4-FFF2-40B4-BE49-F238E27FC236}">
                <a16:creationId xmlns:a16="http://schemas.microsoft.com/office/drawing/2014/main" id="{E9B3C72B-9F71-3DF9-64C0-B284C2E245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823133"/>
              </p:ext>
            </p:extLst>
          </p:nvPr>
        </p:nvGraphicFramePr>
        <p:xfrm>
          <a:off x="4124077" y="5493420"/>
          <a:ext cx="4267200" cy="142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31560" imgH="431640" progId="Equation.3">
                  <p:embed/>
                </p:oleObj>
              </mc:Choice>
              <mc:Fallback>
                <p:oleObj name="公式" r:id="rId8" imgW="1231560" imgH="431640" progId="Equation.3">
                  <p:embed/>
                  <p:pic>
                    <p:nvPicPr>
                      <p:cNvPr id="319494" name="Object 6">
                        <a:extLst>
                          <a:ext uri="{FF2B5EF4-FFF2-40B4-BE49-F238E27FC236}">
                            <a16:creationId xmlns:a16="http://schemas.microsoft.com/office/drawing/2014/main" id="{E9B3C72B-9F71-3DF9-64C0-B284C2E245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4077" y="5493420"/>
                        <a:ext cx="4267200" cy="142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9495" name="Group 7">
            <a:extLst>
              <a:ext uri="{FF2B5EF4-FFF2-40B4-BE49-F238E27FC236}">
                <a16:creationId xmlns:a16="http://schemas.microsoft.com/office/drawing/2014/main" id="{3583A7E4-343A-1073-1AD0-4BAEF5B82906}"/>
              </a:ext>
            </a:extLst>
          </p:cNvPr>
          <p:cNvGrpSpPr>
            <a:grpSpLocks/>
          </p:cNvGrpSpPr>
          <p:nvPr/>
        </p:nvGrpSpPr>
        <p:grpSpPr bwMode="auto">
          <a:xfrm>
            <a:off x="736352" y="2527970"/>
            <a:ext cx="2011363" cy="2006600"/>
            <a:chOff x="356" y="1188"/>
            <a:chExt cx="1267" cy="1264"/>
          </a:xfrm>
        </p:grpSpPr>
        <p:graphicFrame>
          <p:nvGraphicFramePr>
            <p:cNvPr id="319496" name="Object 8">
              <a:extLst>
                <a:ext uri="{FF2B5EF4-FFF2-40B4-BE49-F238E27FC236}">
                  <a16:creationId xmlns:a16="http://schemas.microsoft.com/office/drawing/2014/main" id="{6A94AB8B-3849-3844-0F70-0262914993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" y="1652"/>
            <a:ext cx="1267" cy="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622080" imgH="393480" progId="Equation.3">
                    <p:embed/>
                  </p:oleObj>
                </mc:Choice>
                <mc:Fallback>
                  <p:oleObj name="公式" r:id="rId10" imgW="622080" imgH="393480" progId="Equation.3">
                    <p:embed/>
                    <p:pic>
                      <p:nvPicPr>
                        <p:cNvPr id="319496" name="Object 8">
                          <a:extLst>
                            <a:ext uri="{FF2B5EF4-FFF2-40B4-BE49-F238E27FC236}">
                              <a16:creationId xmlns:a16="http://schemas.microsoft.com/office/drawing/2014/main" id="{6A94AB8B-3849-3844-0F70-0262914993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" y="1652"/>
                          <a:ext cx="1267" cy="80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9497" name="Line 9">
              <a:extLst>
                <a:ext uri="{FF2B5EF4-FFF2-40B4-BE49-F238E27FC236}">
                  <a16:creationId xmlns:a16="http://schemas.microsoft.com/office/drawing/2014/main" id="{FA726D75-1887-17AB-0A15-D7530711CA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0" y="1188"/>
              <a:ext cx="0" cy="384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354" name="Group 2">
            <a:extLst>
              <a:ext uri="{FF2B5EF4-FFF2-40B4-BE49-F238E27FC236}">
                <a16:creationId xmlns:a16="http://schemas.microsoft.com/office/drawing/2014/main" id="{01131272-9290-0845-60AC-1E9A667E073C}"/>
              </a:ext>
            </a:extLst>
          </p:cNvPr>
          <p:cNvGrpSpPr>
            <a:grpSpLocks/>
          </p:cNvGrpSpPr>
          <p:nvPr/>
        </p:nvGrpSpPr>
        <p:grpSpPr bwMode="auto">
          <a:xfrm>
            <a:off x="323528" y="764704"/>
            <a:ext cx="6672263" cy="736600"/>
            <a:chOff x="240" y="192"/>
            <a:chExt cx="4203" cy="464"/>
          </a:xfrm>
        </p:grpSpPr>
        <p:sp>
          <p:nvSpPr>
            <p:cNvPr id="356355" name="Text Box 3">
              <a:extLst>
                <a:ext uri="{FF2B5EF4-FFF2-40B4-BE49-F238E27FC236}">
                  <a16:creationId xmlns:a16="http://schemas.microsoft.com/office/drawing/2014/main" id="{D67EA047-07E3-A08A-2262-25B81858A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92"/>
              <a:ext cx="13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66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3200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输入功率</a:t>
              </a:r>
            </a:p>
          </p:txBody>
        </p:sp>
        <p:graphicFrame>
          <p:nvGraphicFramePr>
            <p:cNvPr id="356356" name="Object 4">
              <a:extLst>
                <a:ext uri="{FF2B5EF4-FFF2-40B4-BE49-F238E27FC236}">
                  <a16:creationId xmlns:a16="http://schemas.microsoft.com/office/drawing/2014/main" id="{231D8522-9990-0F97-BFDD-4DE877EC66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38" y="228"/>
            <a:ext cx="2405" cy="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155600" imgH="228600" progId="Equation.3">
                    <p:embed/>
                  </p:oleObj>
                </mc:Choice>
                <mc:Fallback>
                  <p:oleObj name="公式" r:id="rId2" imgW="1155600" imgH="228600" progId="Equation.3">
                    <p:embed/>
                    <p:pic>
                      <p:nvPicPr>
                        <p:cNvPr id="356356" name="Object 4">
                          <a:extLst>
                            <a:ext uri="{FF2B5EF4-FFF2-40B4-BE49-F238E27FC236}">
                              <a16:creationId xmlns:a16="http://schemas.microsoft.com/office/drawing/2014/main" id="{231D8522-9990-0F97-BFDD-4DE877EC66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8" y="228"/>
                          <a:ext cx="2405" cy="4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6357" name="Group 5">
            <a:extLst>
              <a:ext uri="{FF2B5EF4-FFF2-40B4-BE49-F238E27FC236}">
                <a16:creationId xmlns:a16="http://schemas.microsoft.com/office/drawing/2014/main" id="{0162B571-3D1F-C068-C8D5-21D6CCCC32F8}"/>
              </a:ext>
            </a:extLst>
          </p:cNvPr>
          <p:cNvGrpSpPr>
            <a:grpSpLocks/>
          </p:cNvGrpSpPr>
          <p:nvPr/>
        </p:nvGrpSpPr>
        <p:grpSpPr bwMode="auto">
          <a:xfrm>
            <a:off x="164778" y="1450504"/>
            <a:ext cx="5607051" cy="762000"/>
            <a:chOff x="118" y="635"/>
            <a:chExt cx="3532" cy="480"/>
          </a:xfrm>
        </p:grpSpPr>
        <p:sp>
          <p:nvSpPr>
            <p:cNvPr id="356358" name="Text Box 6">
              <a:extLst>
                <a:ext uri="{FF2B5EF4-FFF2-40B4-BE49-F238E27FC236}">
                  <a16:creationId xmlns:a16="http://schemas.microsoft.com/office/drawing/2014/main" id="{C942081A-8B18-9B52-ABE1-68E94C9C28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" y="720"/>
              <a:ext cx="14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66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320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定子铜损</a:t>
              </a:r>
            </a:p>
          </p:txBody>
        </p:sp>
        <p:graphicFrame>
          <p:nvGraphicFramePr>
            <p:cNvPr id="356359" name="Object 7">
              <a:extLst>
                <a:ext uri="{FF2B5EF4-FFF2-40B4-BE49-F238E27FC236}">
                  <a16:creationId xmlns:a16="http://schemas.microsoft.com/office/drawing/2014/main" id="{E7250090-755A-E4D2-94EA-CE1B48A979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41" y="635"/>
            <a:ext cx="1609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838080" imgH="241200" progId="Equation.3">
                    <p:embed/>
                  </p:oleObj>
                </mc:Choice>
                <mc:Fallback>
                  <p:oleObj name="公式" r:id="rId4" imgW="838080" imgH="241200" progId="Equation.3">
                    <p:embed/>
                    <p:pic>
                      <p:nvPicPr>
                        <p:cNvPr id="356359" name="Object 7">
                          <a:extLst>
                            <a:ext uri="{FF2B5EF4-FFF2-40B4-BE49-F238E27FC236}">
                              <a16:creationId xmlns:a16="http://schemas.microsoft.com/office/drawing/2014/main" id="{E7250090-755A-E4D2-94EA-CE1B48A979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1" y="635"/>
                          <a:ext cx="1609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6360" name="Group 8">
            <a:extLst>
              <a:ext uri="{FF2B5EF4-FFF2-40B4-BE49-F238E27FC236}">
                <a16:creationId xmlns:a16="http://schemas.microsoft.com/office/drawing/2014/main" id="{EEBAFEDB-25F7-6892-646F-9A5F710C40DC}"/>
              </a:ext>
            </a:extLst>
          </p:cNvPr>
          <p:cNvGrpSpPr>
            <a:grpSpLocks/>
          </p:cNvGrpSpPr>
          <p:nvPr/>
        </p:nvGrpSpPr>
        <p:grpSpPr bwMode="auto">
          <a:xfrm>
            <a:off x="399728" y="2364904"/>
            <a:ext cx="5521325" cy="762000"/>
            <a:chOff x="240" y="1200"/>
            <a:chExt cx="3478" cy="480"/>
          </a:xfrm>
        </p:grpSpPr>
        <p:sp>
          <p:nvSpPr>
            <p:cNvPr id="356361" name="Text Box 9">
              <a:extLst>
                <a:ext uri="{FF2B5EF4-FFF2-40B4-BE49-F238E27FC236}">
                  <a16:creationId xmlns:a16="http://schemas.microsoft.com/office/drawing/2014/main" id="{620CF285-CCC3-8D15-7006-713AA44EF9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248"/>
              <a:ext cx="121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66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320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定子铁损</a:t>
              </a:r>
            </a:p>
          </p:txBody>
        </p:sp>
        <p:graphicFrame>
          <p:nvGraphicFramePr>
            <p:cNvPr id="356362" name="Object 10">
              <a:extLst>
                <a:ext uri="{FF2B5EF4-FFF2-40B4-BE49-F238E27FC236}">
                  <a16:creationId xmlns:a16="http://schemas.microsoft.com/office/drawing/2014/main" id="{B3DD1FA3-F07B-28B6-ECE0-D55BF0F5CD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42" y="1200"/>
            <a:ext cx="1676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825480" imgH="241200" progId="Equation.3">
                    <p:embed/>
                  </p:oleObj>
                </mc:Choice>
                <mc:Fallback>
                  <p:oleObj name="公式" r:id="rId6" imgW="825480" imgH="241200" progId="Equation.3">
                    <p:embed/>
                    <p:pic>
                      <p:nvPicPr>
                        <p:cNvPr id="356362" name="Object 10">
                          <a:extLst>
                            <a:ext uri="{FF2B5EF4-FFF2-40B4-BE49-F238E27FC236}">
                              <a16:creationId xmlns:a16="http://schemas.microsoft.com/office/drawing/2014/main" id="{B3DD1FA3-F07B-28B6-ECE0-D55BF0F5CD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2" y="1200"/>
                          <a:ext cx="1676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6363" name="Group 11">
            <a:extLst>
              <a:ext uri="{FF2B5EF4-FFF2-40B4-BE49-F238E27FC236}">
                <a16:creationId xmlns:a16="http://schemas.microsoft.com/office/drawing/2014/main" id="{C69E4A03-0695-6ED5-7E30-1FDEA0B988F8}"/>
              </a:ext>
            </a:extLst>
          </p:cNvPr>
          <p:cNvGrpSpPr>
            <a:grpSpLocks/>
          </p:cNvGrpSpPr>
          <p:nvPr/>
        </p:nvGrpSpPr>
        <p:grpSpPr bwMode="auto">
          <a:xfrm>
            <a:off x="323528" y="2898304"/>
            <a:ext cx="8313738" cy="1190625"/>
            <a:chOff x="192" y="1536"/>
            <a:chExt cx="5237" cy="750"/>
          </a:xfrm>
        </p:grpSpPr>
        <p:sp>
          <p:nvSpPr>
            <p:cNvPr id="356364" name="Text Box 12">
              <a:extLst>
                <a:ext uri="{FF2B5EF4-FFF2-40B4-BE49-F238E27FC236}">
                  <a16:creationId xmlns:a16="http://schemas.microsoft.com/office/drawing/2014/main" id="{3449A31F-EDC6-31FD-7642-4D2CD3CEB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728"/>
              <a:ext cx="12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66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320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电磁功率</a:t>
              </a:r>
            </a:p>
          </p:txBody>
        </p:sp>
        <p:graphicFrame>
          <p:nvGraphicFramePr>
            <p:cNvPr id="356365" name="Object 13">
              <a:extLst>
                <a:ext uri="{FF2B5EF4-FFF2-40B4-BE49-F238E27FC236}">
                  <a16:creationId xmlns:a16="http://schemas.microsoft.com/office/drawing/2014/main" id="{E1102EA3-6FE9-1B34-E5E8-6806B72CAA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27" y="1536"/>
            <a:ext cx="3802" cy="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108160" imgH="419040" progId="Equation.3">
                    <p:embed/>
                  </p:oleObj>
                </mc:Choice>
                <mc:Fallback>
                  <p:oleObj name="公式" r:id="rId8" imgW="2108160" imgH="419040" progId="Equation.3">
                    <p:embed/>
                    <p:pic>
                      <p:nvPicPr>
                        <p:cNvPr id="356365" name="Object 13">
                          <a:extLst>
                            <a:ext uri="{FF2B5EF4-FFF2-40B4-BE49-F238E27FC236}">
                              <a16:creationId xmlns:a16="http://schemas.microsoft.com/office/drawing/2014/main" id="{E1102EA3-6FE9-1B34-E5E8-6806B72CAAE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7" y="1536"/>
                          <a:ext cx="3802" cy="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6366" name="Group 14">
            <a:extLst>
              <a:ext uri="{FF2B5EF4-FFF2-40B4-BE49-F238E27FC236}">
                <a16:creationId xmlns:a16="http://schemas.microsoft.com/office/drawing/2014/main" id="{EDD5F6E3-A1EE-DE8D-1C8A-D7BD982B74DD}"/>
              </a:ext>
            </a:extLst>
          </p:cNvPr>
          <p:cNvGrpSpPr>
            <a:grpSpLocks/>
          </p:cNvGrpSpPr>
          <p:nvPr/>
        </p:nvGrpSpPr>
        <p:grpSpPr bwMode="auto">
          <a:xfrm>
            <a:off x="136203" y="3976217"/>
            <a:ext cx="6569075" cy="838200"/>
            <a:chOff x="81" y="2104"/>
            <a:chExt cx="4138" cy="528"/>
          </a:xfrm>
        </p:grpSpPr>
        <p:sp>
          <p:nvSpPr>
            <p:cNvPr id="356367" name="Text Box 15">
              <a:extLst>
                <a:ext uri="{FF2B5EF4-FFF2-40B4-BE49-F238E27FC236}">
                  <a16:creationId xmlns:a16="http://schemas.microsoft.com/office/drawing/2014/main" id="{25AA5D6C-2FFE-AC2B-8601-3BC586F3B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" y="2208"/>
              <a:ext cx="15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66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320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转子铜损</a:t>
              </a:r>
            </a:p>
          </p:txBody>
        </p:sp>
        <p:graphicFrame>
          <p:nvGraphicFramePr>
            <p:cNvPr id="356368" name="Object 16">
              <a:extLst>
                <a:ext uri="{FF2B5EF4-FFF2-40B4-BE49-F238E27FC236}">
                  <a16:creationId xmlns:a16="http://schemas.microsoft.com/office/drawing/2014/main" id="{C79CF93B-586A-D80C-D50E-007E06D94F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8" y="2104"/>
            <a:ext cx="1911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888840" imgH="241200" progId="Equation.3">
                    <p:embed/>
                  </p:oleObj>
                </mc:Choice>
                <mc:Fallback>
                  <p:oleObj name="公式" r:id="rId10" imgW="888840" imgH="241200" progId="Equation.3">
                    <p:embed/>
                    <p:pic>
                      <p:nvPicPr>
                        <p:cNvPr id="356368" name="Object 16">
                          <a:extLst>
                            <a:ext uri="{FF2B5EF4-FFF2-40B4-BE49-F238E27FC236}">
                              <a16:creationId xmlns:a16="http://schemas.microsoft.com/office/drawing/2014/main" id="{C79CF93B-586A-D80C-D50E-007E06D94F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8" y="2104"/>
                          <a:ext cx="1911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6369" name="Group 17">
            <a:extLst>
              <a:ext uri="{FF2B5EF4-FFF2-40B4-BE49-F238E27FC236}">
                <a16:creationId xmlns:a16="http://schemas.microsoft.com/office/drawing/2014/main" id="{4520F4AA-9B9A-5293-F9B8-124A6E424E29}"/>
              </a:ext>
            </a:extLst>
          </p:cNvPr>
          <p:cNvGrpSpPr>
            <a:grpSpLocks/>
          </p:cNvGrpSpPr>
          <p:nvPr/>
        </p:nvGrpSpPr>
        <p:grpSpPr bwMode="auto">
          <a:xfrm>
            <a:off x="247328" y="4850929"/>
            <a:ext cx="7235825" cy="1123950"/>
            <a:chOff x="144" y="2652"/>
            <a:chExt cx="4558" cy="708"/>
          </a:xfrm>
        </p:grpSpPr>
        <p:sp>
          <p:nvSpPr>
            <p:cNvPr id="356370" name="Text Box 18">
              <a:extLst>
                <a:ext uri="{FF2B5EF4-FFF2-40B4-BE49-F238E27FC236}">
                  <a16:creationId xmlns:a16="http://schemas.microsoft.com/office/drawing/2014/main" id="{D942F985-E39D-48F8-0037-632BF83CE2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832"/>
              <a:ext cx="140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66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320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机械功率</a:t>
              </a:r>
            </a:p>
          </p:txBody>
        </p:sp>
        <p:graphicFrame>
          <p:nvGraphicFramePr>
            <p:cNvPr id="356371" name="Object 19">
              <a:extLst>
                <a:ext uri="{FF2B5EF4-FFF2-40B4-BE49-F238E27FC236}">
                  <a16:creationId xmlns:a16="http://schemas.microsoft.com/office/drawing/2014/main" id="{5B91EDC5-CBBD-7581-B27C-D4DEEFE99C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61" y="2652"/>
            <a:ext cx="2541" cy="7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320480" imgH="406080" progId="Equation.3">
                    <p:embed/>
                  </p:oleObj>
                </mc:Choice>
                <mc:Fallback>
                  <p:oleObj name="公式" r:id="rId12" imgW="1320480" imgH="406080" progId="Equation.3">
                    <p:embed/>
                    <p:pic>
                      <p:nvPicPr>
                        <p:cNvPr id="356371" name="Object 19">
                          <a:extLst>
                            <a:ext uri="{FF2B5EF4-FFF2-40B4-BE49-F238E27FC236}">
                              <a16:creationId xmlns:a16="http://schemas.microsoft.com/office/drawing/2014/main" id="{5B91EDC5-CBBD-7581-B27C-D4DEEFE99C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1" y="2652"/>
                          <a:ext cx="2541" cy="7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6372" name="Group 20">
            <a:extLst>
              <a:ext uri="{FF2B5EF4-FFF2-40B4-BE49-F238E27FC236}">
                <a16:creationId xmlns:a16="http://schemas.microsoft.com/office/drawing/2014/main" id="{13344A04-B5D0-914E-5403-0B6266CC7C60}"/>
              </a:ext>
            </a:extLst>
          </p:cNvPr>
          <p:cNvGrpSpPr>
            <a:grpSpLocks/>
          </p:cNvGrpSpPr>
          <p:nvPr/>
        </p:nvGrpSpPr>
        <p:grpSpPr bwMode="auto">
          <a:xfrm>
            <a:off x="236216" y="6116167"/>
            <a:ext cx="8302624" cy="644525"/>
            <a:chOff x="114" y="3482"/>
            <a:chExt cx="5230" cy="406"/>
          </a:xfrm>
        </p:grpSpPr>
        <p:sp>
          <p:nvSpPr>
            <p:cNvPr id="356373" name="Text Box 21">
              <a:extLst>
                <a:ext uri="{FF2B5EF4-FFF2-40B4-BE49-F238E27FC236}">
                  <a16:creationId xmlns:a16="http://schemas.microsoft.com/office/drawing/2014/main" id="{8E624A8F-F9AF-43FB-D92C-35CD0E242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" y="3493"/>
              <a:ext cx="14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66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320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输出功率</a:t>
              </a:r>
            </a:p>
          </p:txBody>
        </p:sp>
        <p:graphicFrame>
          <p:nvGraphicFramePr>
            <p:cNvPr id="356374" name="Object 22">
              <a:extLst>
                <a:ext uri="{FF2B5EF4-FFF2-40B4-BE49-F238E27FC236}">
                  <a16:creationId xmlns:a16="http://schemas.microsoft.com/office/drawing/2014/main" id="{42AF449B-B5FE-1D81-7E1D-F3066FFE93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7" y="3482"/>
            <a:ext cx="3957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234880" imgH="228600" progId="Equation.3">
                    <p:embed/>
                  </p:oleObj>
                </mc:Choice>
                <mc:Fallback>
                  <p:oleObj name="公式" r:id="rId14" imgW="2234880" imgH="228600" progId="Equation.3">
                    <p:embed/>
                    <p:pic>
                      <p:nvPicPr>
                        <p:cNvPr id="356374" name="Object 22">
                          <a:extLst>
                            <a:ext uri="{FF2B5EF4-FFF2-40B4-BE49-F238E27FC236}">
                              <a16:creationId xmlns:a16="http://schemas.microsoft.com/office/drawing/2014/main" id="{42AF449B-B5FE-1D81-7E1D-F3066FFE93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3482"/>
                          <a:ext cx="3957" cy="4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6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6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3" dur="500"/>
                                        <p:tgtEl>
                                          <p:spTgt spid="356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56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5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356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56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56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56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56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35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Text Box 2">
            <a:extLst>
              <a:ext uri="{FF2B5EF4-FFF2-40B4-BE49-F238E27FC236}">
                <a16:creationId xmlns:a16="http://schemas.microsoft.com/office/drawing/2014/main" id="{8396DA9E-C930-70EA-0AD9-A6E12CC19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284" y="70249"/>
            <a:ext cx="49327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rgbClr val="0000FF"/>
                </a:solidFill>
                <a:ea typeface="隶书" panose="02010509060101010101" pitchFamily="49" charset="-122"/>
              </a:rPr>
              <a:t> 三相电动机的机械特性</a:t>
            </a:r>
            <a:endParaRPr lang="zh-CN" altLang="en-US" sz="3600" dirty="0">
              <a:solidFill>
                <a:srgbClr val="0000FF"/>
              </a:solidFill>
              <a:ea typeface="隶书" panose="02010509060101010101" pitchFamily="49" charset="-122"/>
            </a:endParaRPr>
          </a:p>
        </p:txBody>
      </p:sp>
      <p:graphicFrame>
        <p:nvGraphicFramePr>
          <p:cNvPr id="329731" name="Object 3">
            <a:extLst>
              <a:ext uri="{FF2B5EF4-FFF2-40B4-BE49-F238E27FC236}">
                <a16:creationId xmlns:a16="http://schemas.microsoft.com/office/drawing/2014/main" id="{F17C28B8-6946-5677-4D1B-F557C796FD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158938"/>
              </p:ext>
            </p:extLst>
          </p:nvPr>
        </p:nvGraphicFramePr>
        <p:xfrm>
          <a:off x="971550" y="4003675"/>
          <a:ext cx="282892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36560" imgH="228600" progId="Equation.3">
                  <p:embed/>
                </p:oleObj>
              </mc:Choice>
              <mc:Fallback>
                <p:oleObj name="公式" r:id="rId3" imgW="736560" imgH="228600" progId="Equation.3">
                  <p:embed/>
                  <p:pic>
                    <p:nvPicPr>
                      <p:cNvPr id="329731" name="Object 3">
                        <a:extLst>
                          <a:ext uri="{FF2B5EF4-FFF2-40B4-BE49-F238E27FC236}">
                            <a16:creationId xmlns:a16="http://schemas.microsoft.com/office/drawing/2014/main" id="{F17C28B8-6946-5677-4D1B-F557C796FD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003675"/>
                        <a:ext cx="2828925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34" name="Text Box 6">
            <a:extLst>
              <a:ext uri="{FF2B5EF4-FFF2-40B4-BE49-F238E27FC236}">
                <a16:creationId xmlns:a16="http://schemas.microsoft.com/office/drawing/2014/main" id="{5DF1E1E9-8D01-2B7A-C9E5-5F089BED0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9" y="1515092"/>
            <a:ext cx="30700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/>
              <a:t>根据近似转矩公式</a:t>
            </a:r>
          </a:p>
        </p:txBody>
      </p:sp>
      <p:grpSp>
        <p:nvGrpSpPr>
          <p:cNvPr id="329735" name="Group 7">
            <a:extLst>
              <a:ext uri="{FF2B5EF4-FFF2-40B4-BE49-F238E27FC236}">
                <a16:creationId xmlns:a16="http://schemas.microsoft.com/office/drawing/2014/main" id="{5E5BDEC9-608C-66F0-F661-14D62E3BA0E3}"/>
              </a:ext>
            </a:extLst>
          </p:cNvPr>
          <p:cNvGrpSpPr>
            <a:grpSpLocks/>
          </p:cNvGrpSpPr>
          <p:nvPr/>
        </p:nvGrpSpPr>
        <p:grpSpPr bwMode="auto">
          <a:xfrm>
            <a:off x="528563" y="3985242"/>
            <a:ext cx="3790950" cy="2509838"/>
            <a:chOff x="492" y="2484"/>
            <a:chExt cx="2388" cy="1581"/>
          </a:xfrm>
        </p:grpSpPr>
        <p:sp>
          <p:nvSpPr>
            <p:cNvPr id="329736" name="Line 8">
              <a:extLst>
                <a:ext uri="{FF2B5EF4-FFF2-40B4-BE49-F238E27FC236}">
                  <a16:creationId xmlns:a16="http://schemas.microsoft.com/office/drawing/2014/main" id="{FB3E1A46-9C99-A487-D42A-D533734A59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4" y="3758"/>
              <a:ext cx="20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737" name="Line 9">
              <a:extLst>
                <a:ext uri="{FF2B5EF4-FFF2-40B4-BE49-F238E27FC236}">
                  <a16:creationId xmlns:a16="http://schemas.microsoft.com/office/drawing/2014/main" id="{88330FBC-717B-9D13-EFC0-BFB91CCA03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4" y="2556"/>
              <a:ext cx="0" cy="138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29738" name="Object 10">
              <a:hlinkClick r:id="" action="ppaction://ole?verb=0"/>
              <a:extLst>
                <a:ext uri="{FF2B5EF4-FFF2-40B4-BE49-F238E27FC236}">
                  <a16:creationId xmlns:a16="http://schemas.microsoft.com/office/drawing/2014/main" id="{CBA14139-4B85-D89E-D746-73F6DA2895F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92" y="2484"/>
            <a:ext cx="276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39680" imgH="164880" progId="Equation.3">
                    <p:embed/>
                  </p:oleObj>
                </mc:Choice>
                <mc:Fallback>
                  <p:oleObj name="公式" r:id="rId5" imgW="139680" imgH="164880" progId="Equation.3">
                    <p:embed/>
                    <p:pic>
                      <p:nvPicPr>
                        <p:cNvPr id="329738" name="Object 10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CBA14139-4B85-D89E-D746-73F6DA2895F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" y="2484"/>
                          <a:ext cx="276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9739" name="Object 11">
              <a:hlinkClick r:id="" action="ppaction://ole?verb=0"/>
              <a:extLst>
                <a:ext uri="{FF2B5EF4-FFF2-40B4-BE49-F238E27FC236}">
                  <a16:creationId xmlns:a16="http://schemas.microsoft.com/office/drawing/2014/main" id="{3CEECEFC-EFE8-035F-C1FE-66DEC882F61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604" y="3405"/>
            <a:ext cx="276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14120" imgH="139680" progId="Equation.3">
                    <p:embed/>
                  </p:oleObj>
                </mc:Choice>
                <mc:Fallback>
                  <p:oleObj name="公式" r:id="rId7" imgW="114120" imgH="139680" progId="Equation.3">
                    <p:embed/>
                    <p:pic>
                      <p:nvPicPr>
                        <p:cNvPr id="329739" name="Object 11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3CEECEFC-EFE8-035F-C1FE-66DEC882F61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4" y="3405"/>
                          <a:ext cx="276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9740" name="Line 12">
              <a:extLst>
                <a:ext uri="{FF2B5EF4-FFF2-40B4-BE49-F238E27FC236}">
                  <a16:creationId xmlns:a16="http://schemas.microsoft.com/office/drawing/2014/main" id="{F184B689-B566-164A-1A39-D788E68EE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0" y="3098"/>
              <a:ext cx="0" cy="720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741" name="Freeform 13">
              <a:extLst>
                <a:ext uri="{FF2B5EF4-FFF2-40B4-BE49-F238E27FC236}">
                  <a16:creationId xmlns:a16="http://schemas.microsoft.com/office/drawing/2014/main" id="{039AA837-144C-5DFE-7A71-16B9B0D2F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2874"/>
              <a:ext cx="1632" cy="870"/>
            </a:xfrm>
            <a:custGeom>
              <a:avLst/>
              <a:gdLst>
                <a:gd name="T0" fmla="*/ 0 w 1632"/>
                <a:gd name="T1" fmla="*/ 918 h 918"/>
                <a:gd name="T2" fmla="*/ 204 w 1632"/>
                <a:gd name="T3" fmla="*/ 150 h 918"/>
                <a:gd name="T4" fmla="*/ 444 w 1632"/>
                <a:gd name="T5" fmla="*/ 18 h 918"/>
                <a:gd name="T6" fmla="*/ 564 w 1632"/>
                <a:gd name="T7" fmla="*/ 66 h 918"/>
                <a:gd name="T8" fmla="*/ 960 w 1632"/>
                <a:gd name="T9" fmla="*/ 294 h 918"/>
                <a:gd name="T10" fmla="*/ 1224 w 1632"/>
                <a:gd name="T11" fmla="*/ 378 h 918"/>
                <a:gd name="T12" fmla="*/ 1548 w 1632"/>
                <a:gd name="T13" fmla="*/ 474 h 918"/>
                <a:gd name="T14" fmla="*/ 1632 w 1632"/>
                <a:gd name="T15" fmla="*/ 486 h 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32" h="918">
                  <a:moveTo>
                    <a:pt x="0" y="918"/>
                  </a:moveTo>
                  <a:cubicBezTo>
                    <a:pt x="65" y="609"/>
                    <a:pt x="130" y="300"/>
                    <a:pt x="204" y="150"/>
                  </a:cubicBezTo>
                  <a:cubicBezTo>
                    <a:pt x="278" y="0"/>
                    <a:pt x="384" y="32"/>
                    <a:pt x="444" y="18"/>
                  </a:cubicBezTo>
                  <a:cubicBezTo>
                    <a:pt x="504" y="4"/>
                    <a:pt x="478" y="20"/>
                    <a:pt x="564" y="66"/>
                  </a:cubicBezTo>
                  <a:cubicBezTo>
                    <a:pt x="650" y="112"/>
                    <a:pt x="850" y="242"/>
                    <a:pt x="960" y="294"/>
                  </a:cubicBezTo>
                  <a:cubicBezTo>
                    <a:pt x="1070" y="346"/>
                    <a:pt x="1126" y="348"/>
                    <a:pt x="1224" y="378"/>
                  </a:cubicBezTo>
                  <a:cubicBezTo>
                    <a:pt x="1322" y="408"/>
                    <a:pt x="1480" y="456"/>
                    <a:pt x="1548" y="474"/>
                  </a:cubicBezTo>
                  <a:cubicBezTo>
                    <a:pt x="1616" y="492"/>
                    <a:pt x="1618" y="482"/>
                    <a:pt x="1632" y="486"/>
                  </a:cubicBezTo>
                </a:path>
              </a:pathLst>
            </a:custGeom>
            <a:noFill/>
            <a:ln w="57150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742" name="Text Box 14">
              <a:extLst>
                <a:ext uri="{FF2B5EF4-FFF2-40B4-BE49-F238E27FC236}">
                  <a16:creationId xmlns:a16="http://schemas.microsoft.com/office/drawing/2014/main" id="{F8E799DA-D430-DDD1-ED33-3868B16DDF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4" y="373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800" b="1"/>
                <a:t>1</a:t>
              </a:r>
            </a:p>
          </p:txBody>
        </p:sp>
        <p:sp>
          <p:nvSpPr>
            <p:cNvPr id="329743" name="Text Box 15">
              <a:extLst>
                <a:ext uri="{FF2B5EF4-FFF2-40B4-BE49-F238E27FC236}">
                  <a16:creationId xmlns:a16="http://schemas.microsoft.com/office/drawing/2014/main" id="{D6DB566E-33AA-14DB-D2E3-9554A3127F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" y="372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800" b="1"/>
                <a:t>0</a:t>
              </a:r>
            </a:p>
          </p:txBody>
        </p:sp>
      </p:grpSp>
      <p:grpSp>
        <p:nvGrpSpPr>
          <p:cNvPr id="329744" name="Group 16">
            <a:extLst>
              <a:ext uri="{FF2B5EF4-FFF2-40B4-BE49-F238E27FC236}">
                <a16:creationId xmlns:a16="http://schemas.microsoft.com/office/drawing/2014/main" id="{A5F83850-C969-E115-8EFA-3EF2E51FB8D5}"/>
              </a:ext>
            </a:extLst>
          </p:cNvPr>
          <p:cNvGrpSpPr>
            <a:grpSpLocks/>
          </p:cNvGrpSpPr>
          <p:nvPr/>
        </p:nvGrpSpPr>
        <p:grpSpPr bwMode="auto">
          <a:xfrm>
            <a:off x="4971976" y="3858242"/>
            <a:ext cx="3254375" cy="2711450"/>
            <a:chOff x="3123" y="2224"/>
            <a:chExt cx="2050" cy="1708"/>
          </a:xfrm>
        </p:grpSpPr>
        <p:sp>
          <p:nvSpPr>
            <p:cNvPr id="329745" name="Line 17">
              <a:extLst>
                <a:ext uri="{FF2B5EF4-FFF2-40B4-BE49-F238E27FC236}">
                  <a16:creationId xmlns:a16="http://schemas.microsoft.com/office/drawing/2014/main" id="{CF792543-6724-1E48-2EF5-D5F585ECCA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3" y="3752"/>
              <a:ext cx="1858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746" name="Line 18">
              <a:extLst>
                <a:ext uri="{FF2B5EF4-FFF2-40B4-BE49-F238E27FC236}">
                  <a16:creationId xmlns:a16="http://schemas.microsoft.com/office/drawing/2014/main" id="{2AEBC5B4-6B40-7C0D-8E32-2E6CA3FF9F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3" y="2406"/>
              <a:ext cx="0" cy="152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747" name="Text Box 19">
              <a:extLst>
                <a:ext uri="{FF2B5EF4-FFF2-40B4-BE49-F238E27FC236}">
                  <a16:creationId xmlns:a16="http://schemas.microsoft.com/office/drawing/2014/main" id="{868E9793-0095-A4BA-97A8-C3F857F066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3" y="2603"/>
              <a:ext cx="34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 b="1" i="1"/>
                <a:t>n</a:t>
              </a:r>
              <a:r>
                <a:rPr lang="en-US" altLang="zh-CN" sz="3200" b="1" baseline="-25000"/>
                <a:t>1</a:t>
              </a:r>
              <a:endParaRPr lang="en-US" altLang="zh-CN" sz="3200" b="1" i="1"/>
            </a:p>
          </p:txBody>
        </p:sp>
        <p:sp>
          <p:nvSpPr>
            <p:cNvPr id="329748" name="Text Box 20">
              <a:extLst>
                <a:ext uri="{FF2B5EF4-FFF2-40B4-BE49-F238E27FC236}">
                  <a16:creationId xmlns:a16="http://schemas.microsoft.com/office/drawing/2014/main" id="{EDBE49D2-23C6-8710-5346-9899E4625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0" y="3407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800" b="1" i="1"/>
                <a:t>T</a:t>
              </a:r>
              <a:endParaRPr lang="en-US" altLang="zh-CN" sz="4000" b="1"/>
            </a:p>
          </p:txBody>
        </p:sp>
        <p:sp>
          <p:nvSpPr>
            <p:cNvPr id="329749" name="Text Box 21">
              <a:extLst>
                <a:ext uri="{FF2B5EF4-FFF2-40B4-BE49-F238E27FC236}">
                  <a16:creationId xmlns:a16="http://schemas.microsoft.com/office/drawing/2014/main" id="{3840C6AA-CCCE-CA08-A3C7-4F48CA493B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3" y="2224"/>
              <a:ext cx="27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600" b="1" i="1"/>
                <a:t>n</a:t>
              </a:r>
            </a:p>
          </p:txBody>
        </p:sp>
        <p:sp>
          <p:nvSpPr>
            <p:cNvPr id="329750" name="Freeform 22">
              <a:extLst>
                <a:ext uri="{FF2B5EF4-FFF2-40B4-BE49-F238E27FC236}">
                  <a16:creationId xmlns:a16="http://schemas.microsoft.com/office/drawing/2014/main" id="{FD878A32-B48D-B108-B172-A8BC4ECC36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2868"/>
              <a:ext cx="1312" cy="876"/>
            </a:xfrm>
            <a:custGeom>
              <a:avLst/>
              <a:gdLst>
                <a:gd name="T0" fmla="*/ 0 w 1288"/>
                <a:gd name="T1" fmla="*/ 0 h 996"/>
                <a:gd name="T2" fmla="*/ 624 w 1288"/>
                <a:gd name="T3" fmla="*/ 72 h 996"/>
                <a:gd name="T4" fmla="*/ 1188 w 1288"/>
                <a:gd name="T5" fmla="*/ 204 h 996"/>
                <a:gd name="T6" fmla="*/ 1224 w 1288"/>
                <a:gd name="T7" fmla="*/ 420 h 996"/>
                <a:gd name="T8" fmla="*/ 1008 w 1288"/>
                <a:gd name="T9" fmla="*/ 648 h 996"/>
                <a:gd name="T10" fmla="*/ 864 w 1288"/>
                <a:gd name="T11" fmla="*/ 840 h 996"/>
                <a:gd name="T12" fmla="*/ 804 w 1288"/>
                <a:gd name="T13" fmla="*/ 996 h 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8" h="996">
                  <a:moveTo>
                    <a:pt x="0" y="0"/>
                  </a:moveTo>
                  <a:cubicBezTo>
                    <a:pt x="213" y="19"/>
                    <a:pt x="426" y="38"/>
                    <a:pt x="624" y="72"/>
                  </a:cubicBezTo>
                  <a:cubicBezTo>
                    <a:pt x="822" y="106"/>
                    <a:pt x="1088" y="146"/>
                    <a:pt x="1188" y="204"/>
                  </a:cubicBezTo>
                  <a:cubicBezTo>
                    <a:pt x="1288" y="262"/>
                    <a:pt x="1254" y="346"/>
                    <a:pt x="1224" y="420"/>
                  </a:cubicBezTo>
                  <a:cubicBezTo>
                    <a:pt x="1194" y="494"/>
                    <a:pt x="1068" y="578"/>
                    <a:pt x="1008" y="648"/>
                  </a:cubicBezTo>
                  <a:cubicBezTo>
                    <a:pt x="948" y="718"/>
                    <a:pt x="898" y="782"/>
                    <a:pt x="864" y="840"/>
                  </a:cubicBezTo>
                  <a:cubicBezTo>
                    <a:pt x="830" y="898"/>
                    <a:pt x="812" y="970"/>
                    <a:pt x="804" y="996"/>
                  </a:cubicBezTo>
                </a:path>
              </a:pathLst>
            </a:custGeom>
            <a:noFill/>
            <a:ln w="57150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9751" name="Text Box 23">
            <a:extLst>
              <a:ext uri="{FF2B5EF4-FFF2-40B4-BE49-F238E27FC236}">
                <a16:creationId xmlns:a16="http://schemas.microsoft.com/office/drawing/2014/main" id="{D3714AFD-0942-1A6E-E1C4-364555EE7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563" y="3321359"/>
            <a:ext cx="822312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 dirty="0"/>
              <a:t>得固有机械特性曲线：（额定电压及额定频率下，规定接线方法、定转子绕组不接外部阻抗）</a:t>
            </a:r>
          </a:p>
        </p:txBody>
      </p:sp>
      <p:sp>
        <p:nvSpPr>
          <p:cNvPr id="329752" name="Text Box 24">
            <a:extLst>
              <a:ext uri="{FF2B5EF4-FFF2-40B4-BE49-F238E27FC236}">
                <a16:creationId xmlns:a16="http://schemas.microsoft.com/office/drawing/2014/main" id="{9F6882AC-D14C-FFD9-F003-A5E4BEBCE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2201" y="6434755"/>
            <a:ext cx="13636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000" b="1"/>
              <a:t>启动时</a:t>
            </a:r>
            <a:r>
              <a:rPr lang="en-US" altLang="zh-CN" sz="2000" b="1"/>
              <a:t>n=0</a:t>
            </a:r>
          </a:p>
        </p:txBody>
      </p:sp>
      <p:sp>
        <p:nvSpPr>
          <p:cNvPr id="329753" name="Text Box 25">
            <a:extLst>
              <a:ext uri="{FF2B5EF4-FFF2-40B4-BE49-F238E27FC236}">
                <a16:creationId xmlns:a16="http://schemas.microsoft.com/office/drawing/2014/main" id="{25BF8A6E-906A-9D00-7B54-4C1DD5EB1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88" y="6490317"/>
            <a:ext cx="1966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000" b="1"/>
              <a:t>最大转速</a:t>
            </a:r>
            <a:r>
              <a:rPr lang="en-US" altLang="zh-CN" sz="2000" b="1"/>
              <a:t>n=n</a:t>
            </a:r>
            <a:r>
              <a:rPr lang="en-US" altLang="zh-CN" sz="2000" b="1" baseline="-25000"/>
              <a:t>1</a:t>
            </a:r>
            <a:r>
              <a:rPr lang="zh-CN" altLang="en-US" sz="2000" b="1"/>
              <a:t>时</a:t>
            </a:r>
          </a:p>
        </p:txBody>
      </p:sp>
      <p:graphicFrame>
        <p:nvGraphicFramePr>
          <p:cNvPr id="329754" name="Object 26">
            <a:extLst>
              <a:ext uri="{FF2B5EF4-FFF2-40B4-BE49-F238E27FC236}">
                <a16:creationId xmlns:a16="http://schemas.microsoft.com/office/drawing/2014/main" id="{3B8E4B99-ACAE-AFF9-A5F1-1E2BE35246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631390"/>
              </p:ext>
            </p:extLst>
          </p:nvPr>
        </p:nvGraphicFramePr>
        <p:xfrm>
          <a:off x="928613" y="2380280"/>
          <a:ext cx="207645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622080" imgH="431640" progId="Equation.3">
                  <p:embed/>
                </p:oleObj>
              </mc:Choice>
              <mc:Fallback>
                <p:oleObj name="公式" r:id="rId9" imgW="622080" imgH="431640" progId="Equation.3">
                  <p:embed/>
                  <p:pic>
                    <p:nvPicPr>
                      <p:cNvPr id="329754" name="Object 26">
                        <a:extLst>
                          <a:ext uri="{FF2B5EF4-FFF2-40B4-BE49-F238E27FC236}">
                            <a16:creationId xmlns:a16="http://schemas.microsoft.com/office/drawing/2014/main" id="{3B8E4B99-ACAE-AFF9-A5F1-1E2BE35246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13" y="2380280"/>
                        <a:ext cx="2076450" cy="9048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66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55" name="Object 27">
            <a:extLst>
              <a:ext uri="{FF2B5EF4-FFF2-40B4-BE49-F238E27FC236}">
                <a16:creationId xmlns:a16="http://schemas.microsoft.com/office/drawing/2014/main" id="{C9F25AED-3E44-B165-10F5-5A91D2E7BD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8382242"/>
              </p:ext>
            </p:extLst>
          </p:nvPr>
        </p:nvGraphicFramePr>
        <p:xfrm>
          <a:off x="5927725" y="3990975"/>
          <a:ext cx="2605088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736560" imgH="228600" progId="Equation.3">
                  <p:embed/>
                </p:oleObj>
              </mc:Choice>
              <mc:Fallback>
                <p:oleObj name="公式" r:id="rId11" imgW="736560" imgH="228600" progId="Equation.3">
                  <p:embed/>
                  <p:pic>
                    <p:nvPicPr>
                      <p:cNvPr id="329755" name="Object 27">
                        <a:extLst>
                          <a:ext uri="{FF2B5EF4-FFF2-40B4-BE49-F238E27FC236}">
                            <a16:creationId xmlns:a16="http://schemas.microsoft.com/office/drawing/2014/main" id="{C9F25AED-3E44-B165-10F5-5A91D2E7BD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7725" y="3990975"/>
                        <a:ext cx="2605088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EF54A6B-EF15-1111-4D78-D5F9678439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7408772"/>
              </p:ext>
            </p:extLst>
          </p:nvPr>
        </p:nvGraphicFramePr>
        <p:xfrm>
          <a:off x="3532113" y="924541"/>
          <a:ext cx="4414838" cy="177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35200" imgH="901700" progId="Equation.DSMT4">
                  <p:embed/>
                </p:oleObj>
              </mc:Choice>
              <mc:Fallback>
                <p:oleObj name="Equation" r:id="rId13" imgW="2235200" imgH="9017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8F74814-5216-3A91-9E07-3111389069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2113" y="924541"/>
                        <a:ext cx="4414838" cy="1776413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9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9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8" dur="500"/>
                                        <p:tgtEl>
                                          <p:spTgt spid="32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2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32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2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2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51" grpId="0" autoUpdateAnimBg="0"/>
      <p:bldP spid="329752" grpId="0" autoUpdateAnimBg="0"/>
      <p:bldP spid="32975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Text Box 2">
            <a:extLst>
              <a:ext uri="{FF2B5EF4-FFF2-40B4-BE49-F238E27FC236}">
                <a16:creationId xmlns:a16="http://schemas.microsoft.com/office/drawing/2014/main" id="{97A575E8-9E55-77B4-59DC-3766A6665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2512" y="346915"/>
            <a:ext cx="2625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 u="sng" dirty="0">
                <a:solidFill>
                  <a:srgbClr val="FF0000"/>
                </a:solidFill>
              </a:rPr>
              <a:t>三个重要转矩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330755" name="Line 3">
            <a:extLst>
              <a:ext uri="{FF2B5EF4-FFF2-40B4-BE49-F238E27FC236}">
                <a16:creationId xmlns:a16="http://schemas.microsoft.com/office/drawing/2014/main" id="{56B16409-5502-4253-6F22-A8BB196296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4538" y="3226745"/>
            <a:ext cx="2949575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0756" name="Line 4">
            <a:extLst>
              <a:ext uri="{FF2B5EF4-FFF2-40B4-BE49-F238E27FC236}">
                <a16:creationId xmlns:a16="http://schemas.microsoft.com/office/drawing/2014/main" id="{75C0E287-DA25-124D-A67C-21D3B3C249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1563" y="1136008"/>
            <a:ext cx="0" cy="2422525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0757" name="Text Box 5">
            <a:extLst>
              <a:ext uri="{FF2B5EF4-FFF2-40B4-BE49-F238E27FC236}">
                <a16:creationId xmlns:a16="http://schemas.microsoft.com/office/drawing/2014/main" id="{5C95B427-DFBA-CE66-4231-2BEAE691D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8638" y="1136008"/>
            <a:ext cx="5429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 i="1"/>
              <a:t>n</a:t>
            </a:r>
            <a:r>
              <a:rPr lang="en-US" altLang="zh-CN" sz="3200" b="1" baseline="-25000"/>
              <a:t>1</a:t>
            </a:r>
            <a:endParaRPr lang="en-US" altLang="zh-CN" sz="3200" b="1" i="1"/>
          </a:p>
        </p:txBody>
      </p:sp>
      <p:sp>
        <p:nvSpPr>
          <p:cNvPr id="330758" name="Text Box 6">
            <a:extLst>
              <a:ext uri="{FF2B5EF4-FFF2-40B4-BE49-F238E27FC236}">
                <a16:creationId xmlns:a16="http://schemas.microsoft.com/office/drawing/2014/main" id="{3427B068-7C4B-E63C-FEF6-258EDAD55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000" y="2679058"/>
            <a:ext cx="4206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800" b="1"/>
              <a:t>T</a:t>
            </a:r>
            <a:endParaRPr lang="en-US" altLang="zh-CN" sz="4000" b="1"/>
          </a:p>
        </p:txBody>
      </p:sp>
      <p:sp>
        <p:nvSpPr>
          <p:cNvPr id="330759" name="Text Box 7">
            <a:extLst>
              <a:ext uri="{FF2B5EF4-FFF2-40B4-BE49-F238E27FC236}">
                <a16:creationId xmlns:a16="http://schemas.microsoft.com/office/drawing/2014/main" id="{BA21AB93-6E93-A167-29F7-E525B5465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3050" y="1032821"/>
            <a:ext cx="438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 b="1" i="1" dirty="0"/>
              <a:t>n</a:t>
            </a:r>
          </a:p>
        </p:txBody>
      </p:sp>
      <p:sp>
        <p:nvSpPr>
          <p:cNvPr id="330760" name="Freeform 8">
            <a:extLst>
              <a:ext uri="{FF2B5EF4-FFF2-40B4-BE49-F238E27FC236}">
                <a16:creationId xmlns:a16="http://schemas.microsoft.com/office/drawing/2014/main" id="{7A799AE8-98CC-5882-8592-2E94451F2FD0}"/>
              </a:ext>
            </a:extLst>
          </p:cNvPr>
          <p:cNvSpPr>
            <a:spLocks/>
          </p:cNvSpPr>
          <p:nvPr/>
        </p:nvSpPr>
        <p:spPr bwMode="auto">
          <a:xfrm>
            <a:off x="6175375" y="1575745"/>
            <a:ext cx="2082800" cy="1638300"/>
          </a:xfrm>
          <a:custGeom>
            <a:avLst/>
            <a:gdLst>
              <a:gd name="T0" fmla="*/ 0 w 1288"/>
              <a:gd name="T1" fmla="*/ 0 h 996"/>
              <a:gd name="T2" fmla="*/ 624 w 1288"/>
              <a:gd name="T3" fmla="*/ 72 h 996"/>
              <a:gd name="T4" fmla="*/ 1188 w 1288"/>
              <a:gd name="T5" fmla="*/ 204 h 996"/>
              <a:gd name="T6" fmla="*/ 1224 w 1288"/>
              <a:gd name="T7" fmla="*/ 420 h 996"/>
              <a:gd name="T8" fmla="*/ 1008 w 1288"/>
              <a:gd name="T9" fmla="*/ 648 h 996"/>
              <a:gd name="T10" fmla="*/ 864 w 1288"/>
              <a:gd name="T11" fmla="*/ 840 h 996"/>
              <a:gd name="T12" fmla="*/ 804 w 1288"/>
              <a:gd name="T13" fmla="*/ 996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88" h="996">
                <a:moveTo>
                  <a:pt x="0" y="0"/>
                </a:moveTo>
                <a:cubicBezTo>
                  <a:pt x="213" y="19"/>
                  <a:pt x="426" y="38"/>
                  <a:pt x="624" y="72"/>
                </a:cubicBezTo>
                <a:cubicBezTo>
                  <a:pt x="822" y="106"/>
                  <a:pt x="1088" y="146"/>
                  <a:pt x="1188" y="204"/>
                </a:cubicBezTo>
                <a:cubicBezTo>
                  <a:pt x="1288" y="262"/>
                  <a:pt x="1254" y="346"/>
                  <a:pt x="1224" y="420"/>
                </a:cubicBezTo>
                <a:cubicBezTo>
                  <a:pt x="1194" y="494"/>
                  <a:pt x="1068" y="578"/>
                  <a:pt x="1008" y="648"/>
                </a:cubicBezTo>
                <a:cubicBezTo>
                  <a:pt x="948" y="718"/>
                  <a:pt x="898" y="782"/>
                  <a:pt x="864" y="840"/>
                </a:cubicBezTo>
                <a:cubicBezTo>
                  <a:pt x="830" y="898"/>
                  <a:pt x="812" y="970"/>
                  <a:pt x="804" y="996"/>
                </a:cubicBez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30761" name="Group 9">
            <a:extLst>
              <a:ext uri="{FF2B5EF4-FFF2-40B4-BE49-F238E27FC236}">
                <a16:creationId xmlns:a16="http://schemas.microsoft.com/office/drawing/2014/main" id="{B630C9BB-A14A-2218-B777-2FC458F2DE7D}"/>
              </a:ext>
            </a:extLst>
          </p:cNvPr>
          <p:cNvGrpSpPr>
            <a:grpSpLocks/>
          </p:cNvGrpSpPr>
          <p:nvPr/>
        </p:nvGrpSpPr>
        <p:grpSpPr bwMode="auto">
          <a:xfrm>
            <a:off x="393700" y="904875"/>
            <a:ext cx="4405313" cy="3163888"/>
            <a:chOff x="248" y="570"/>
            <a:chExt cx="2775" cy="1993"/>
          </a:xfrm>
        </p:grpSpPr>
        <p:graphicFrame>
          <p:nvGraphicFramePr>
            <p:cNvPr id="330762" name="Object 10">
              <a:hlinkClick r:id="" action="ppaction://ole?verb=0"/>
              <a:extLst>
                <a:ext uri="{FF2B5EF4-FFF2-40B4-BE49-F238E27FC236}">
                  <a16:creationId xmlns:a16="http://schemas.microsoft.com/office/drawing/2014/main" id="{02C9CD34-5A4D-1F0B-D83E-C85DACCACD6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716" y="588"/>
            <a:ext cx="33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90440" imgH="228600" progId="Equation.3">
                    <p:embed/>
                  </p:oleObj>
                </mc:Choice>
                <mc:Fallback>
                  <p:oleObj name="公式" r:id="rId3" imgW="190440" imgH="228600" progId="Equation.3">
                    <p:embed/>
                    <p:pic>
                      <p:nvPicPr>
                        <p:cNvPr id="330762" name="Object 10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02C9CD34-5A4D-1F0B-D83E-C85DACCACD6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6" y="588"/>
                          <a:ext cx="336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0763" name="Text Box 11">
              <a:extLst>
                <a:ext uri="{FF2B5EF4-FFF2-40B4-BE49-F238E27FC236}">
                  <a16:creationId xmlns:a16="http://schemas.microsoft.com/office/drawing/2014/main" id="{847C68F9-FA08-9E14-0161-386C749546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" y="612"/>
              <a:ext cx="17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b="1">
                  <a:solidFill>
                    <a:srgbClr val="0000FF"/>
                  </a:solidFill>
                </a:rPr>
                <a:t>额定转矩         ：</a:t>
              </a:r>
            </a:p>
          </p:txBody>
        </p:sp>
        <p:sp>
          <p:nvSpPr>
            <p:cNvPr id="330764" name="Text Box 12">
              <a:extLst>
                <a:ext uri="{FF2B5EF4-FFF2-40B4-BE49-F238E27FC236}">
                  <a16:creationId xmlns:a16="http://schemas.microsoft.com/office/drawing/2014/main" id="{0F893AB8-1B05-DA82-24FA-98434FE7C9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024"/>
              <a:ext cx="2639" cy="15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/>
                <a:t>电机在额定电压下，以额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800" b="1"/>
                <a:t>定转速         运行，输出额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800" b="1"/>
                <a:t>定功率        </a:t>
              </a:r>
              <a:r>
                <a:rPr lang="zh-CN" altLang="en-US" sz="2800" b="1" baseline="-25000"/>
                <a:t> </a:t>
              </a:r>
              <a:r>
                <a:rPr lang="zh-CN" altLang="en-US" sz="2800" b="1"/>
                <a:t>时，电机转轴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800" b="1"/>
                <a:t>上输出的转矩。</a:t>
              </a:r>
              <a:endParaRPr lang="zh-CN" altLang="en-US" b="1"/>
            </a:p>
          </p:txBody>
        </p:sp>
        <p:graphicFrame>
          <p:nvGraphicFramePr>
            <p:cNvPr id="330765" name="Object 13">
              <a:hlinkClick r:id="" action="ppaction://ole?verb=0"/>
              <a:extLst>
                <a:ext uri="{FF2B5EF4-FFF2-40B4-BE49-F238E27FC236}">
                  <a16:creationId xmlns:a16="http://schemas.microsoft.com/office/drawing/2014/main" id="{7A104C57-96D3-8ACF-8006-E1AB60CE55D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176" y="1800"/>
            <a:ext cx="355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03040" imgH="228600" progId="Equation.3">
                    <p:embed/>
                  </p:oleObj>
                </mc:Choice>
                <mc:Fallback>
                  <p:oleObj name="公式" r:id="rId5" imgW="203040" imgH="228600" progId="Equation.3">
                    <p:embed/>
                    <p:pic>
                      <p:nvPicPr>
                        <p:cNvPr id="330765" name="Object 13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7A104C57-96D3-8ACF-8006-E1AB60CE55D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6" y="1800"/>
                          <a:ext cx="355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0766" name="Object 14">
              <a:hlinkClick r:id="" action="ppaction://ole?verb=0"/>
              <a:extLst>
                <a:ext uri="{FF2B5EF4-FFF2-40B4-BE49-F238E27FC236}">
                  <a16:creationId xmlns:a16="http://schemas.microsoft.com/office/drawing/2014/main" id="{0F2CC98B-ECB2-B517-330C-D16916B6E3D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214" y="1368"/>
            <a:ext cx="35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03040" imgH="228600" progId="Equation.3">
                    <p:embed/>
                  </p:oleObj>
                </mc:Choice>
                <mc:Fallback>
                  <p:oleObj name="公式" r:id="rId7" imgW="203040" imgH="228600" progId="Equation.3">
                    <p:embed/>
                    <p:pic>
                      <p:nvPicPr>
                        <p:cNvPr id="330766" name="Object 14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0F2CC98B-ECB2-B517-330C-D16916B6E3D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4" y="1368"/>
                          <a:ext cx="356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0767" name="Text Box 15">
              <a:extLst>
                <a:ext uri="{FF2B5EF4-FFF2-40B4-BE49-F238E27FC236}">
                  <a16:creationId xmlns:a16="http://schemas.microsoft.com/office/drawing/2014/main" id="{89B26275-70F0-E1AA-2B08-B3B801DC44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" y="570"/>
              <a:ext cx="4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800" b="1">
                  <a:solidFill>
                    <a:srgbClr val="0000FF"/>
                  </a:solidFill>
                </a:rPr>
                <a:t>( 1 )</a:t>
              </a:r>
            </a:p>
          </p:txBody>
        </p:sp>
      </p:grpSp>
      <p:grpSp>
        <p:nvGrpSpPr>
          <p:cNvPr id="330768" name="Group 16">
            <a:extLst>
              <a:ext uri="{FF2B5EF4-FFF2-40B4-BE49-F238E27FC236}">
                <a16:creationId xmlns:a16="http://schemas.microsoft.com/office/drawing/2014/main" id="{6D0B3857-72C9-22F7-8460-E88CFFCE6E00}"/>
              </a:ext>
            </a:extLst>
          </p:cNvPr>
          <p:cNvGrpSpPr>
            <a:grpSpLocks/>
          </p:cNvGrpSpPr>
          <p:nvPr/>
        </p:nvGrpSpPr>
        <p:grpSpPr bwMode="auto">
          <a:xfrm>
            <a:off x="939800" y="4276725"/>
            <a:ext cx="7270750" cy="2486025"/>
            <a:chOff x="592" y="2694"/>
            <a:chExt cx="4580" cy="1566"/>
          </a:xfrm>
        </p:grpSpPr>
        <p:graphicFrame>
          <p:nvGraphicFramePr>
            <p:cNvPr id="330769" name="Object 17">
              <a:hlinkClick r:id="" action="ppaction://ole?verb=0"/>
              <a:extLst>
                <a:ext uri="{FF2B5EF4-FFF2-40B4-BE49-F238E27FC236}">
                  <a16:creationId xmlns:a16="http://schemas.microsoft.com/office/drawing/2014/main" id="{CDC84B65-9D99-52B2-BD9C-07B5FA1AE82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92" y="2694"/>
            <a:ext cx="4164" cy="1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879560" imgH="596880" progId="Equation.3">
                    <p:embed/>
                  </p:oleObj>
                </mc:Choice>
                <mc:Fallback>
                  <p:oleObj name="公式" r:id="rId9" imgW="1879560" imgH="596880" progId="Equation.3">
                    <p:embed/>
                    <p:pic>
                      <p:nvPicPr>
                        <p:cNvPr id="330769" name="Object 17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CDC84B65-9D99-52B2-BD9C-07B5FA1AE82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2" y="2694"/>
                          <a:ext cx="4164" cy="1108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CC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0770" name="Rectangle 18">
              <a:extLst>
                <a:ext uri="{FF2B5EF4-FFF2-40B4-BE49-F238E27FC236}">
                  <a16:creationId xmlns:a16="http://schemas.microsoft.com/office/drawing/2014/main" id="{CDE62662-5BBE-A284-507E-818025D11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8" y="3897"/>
              <a:ext cx="1584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 b="1"/>
                <a:t>（牛顿</a:t>
              </a:r>
              <a:r>
                <a:rPr lang="en-US" altLang="zh-CN" sz="3200" b="1"/>
                <a:t>•</a:t>
              </a:r>
              <a:r>
                <a:rPr lang="zh-CN" altLang="en-US" sz="3200" b="1"/>
                <a:t>米）</a:t>
              </a:r>
            </a:p>
          </p:txBody>
        </p:sp>
      </p:grpSp>
      <p:grpSp>
        <p:nvGrpSpPr>
          <p:cNvPr id="330771" name="Group 19">
            <a:extLst>
              <a:ext uri="{FF2B5EF4-FFF2-40B4-BE49-F238E27FC236}">
                <a16:creationId xmlns:a16="http://schemas.microsoft.com/office/drawing/2014/main" id="{59B43E4C-EC9B-2A4C-DD4E-664320119DCC}"/>
              </a:ext>
            </a:extLst>
          </p:cNvPr>
          <p:cNvGrpSpPr>
            <a:grpSpLocks/>
          </p:cNvGrpSpPr>
          <p:nvPr/>
        </p:nvGrpSpPr>
        <p:grpSpPr bwMode="auto">
          <a:xfrm>
            <a:off x="5189538" y="1496370"/>
            <a:ext cx="1938337" cy="2709863"/>
            <a:chOff x="3267" y="623"/>
            <a:chExt cx="1221" cy="1707"/>
          </a:xfrm>
        </p:grpSpPr>
        <p:grpSp>
          <p:nvGrpSpPr>
            <p:cNvPr id="330772" name="Group 20">
              <a:extLst>
                <a:ext uri="{FF2B5EF4-FFF2-40B4-BE49-F238E27FC236}">
                  <a16:creationId xmlns:a16="http://schemas.microsoft.com/office/drawing/2014/main" id="{7357AB83-5856-4EE6-C4CF-053590687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7" y="623"/>
              <a:ext cx="1221" cy="1707"/>
              <a:chOff x="3267" y="635"/>
              <a:chExt cx="1221" cy="1707"/>
            </a:xfrm>
          </p:grpSpPr>
          <p:graphicFrame>
            <p:nvGraphicFramePr>
              <p:cNvPr id="330773" name="Object 21">
                <a:hlinkClick r:id="" action="ppaction://ole?verb=0"/>
                <a:extLst>
                  <a:ext uri="{FF2B5EF4-FFF2-40B4-BE49-F238E27FC236}">
                    <a16:creationId xmlns:a16="http://schemas.microsoft.com/office/drawing/2014/main" id="{AE599035-A729-6ABA-E2B1-7EC8120F3E80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137" y="1920"/>
              <a:ext cx="342" cy="4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1" imgW="190440" imgH="228600" progId="Equation.3">
                      <p:embed/>
                    </p:oleObj>
                  </mc:Choice>
                  <mc:Fallback>
                    <p:oleObj name="公式" r:id="rId11" imgW="190440" imgH="228600" progId="Equation.3">
                      <p:embed/>
                      <p:pic>
                        <p:nvPicPr>
                          <p:cNvPr id="330773" name="Object 21">
                            <a:hlinkClick r:id="" action="ppaction://ole?verb=0"/>
                            <a:extLst>
                              <a:ext uri="{FF2B5EF4-FFF2-40B4-BE49-F238E27FC236}">
                                <a16:creationId xmlns:a16="http://schemas.microsoft.com/office/drawing/2014/main" id="{AE599035-A729-6ABA-E2B1-7EC8120F3E80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37" y="1920"/>
                            <a:ext cx="342" cy="4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0774" name="Line 22">
                <a:extLst>
                  <a:ext uri="{FF2B5EF4-FFF2-40B4-BE49-F238E27FC236}">
                    <a16:creationId xmlns:a16="http://schemas.microsoft.com/office/drawing/2014/main" id="{FCCD4E01-592C-9CC0-D2B0-788766EE03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4" y="696"/>
                <a:ext cx="0" cy="1236"/>
              </a:xfrm>
              <a:prstGeom prst="line">
                <a:avLst/>
              </a:prstGeom>
              <a:noFill/>
              <a:ln w="38100">
                <a:solidFill>
                  <a:srgbClr val="99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0775" name="Line 23">
                <a:extLst>
                  <a:ext uri="{FF2B5EF4-FFF2-40B4-BE49-F238E27FC236}">
                    <a16:creationId xmlns:a16="http://schemas.microsoft.com/office/drawing/2014/main" id="{CAD272CB-FC30-1485-5791-4F21D1F146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8" y="756"/>
                <a:ext cx="960" cy="0"/>
              </a:xfrm>
              <a:prstGeom prst="line">
                <a:avLst/>
              </a:prstGeom>
              <a:noFill/>
              <a:ln w="38100">
                <a:solidFill>
                  <a:srgbClr val="99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0776" name="Text Box 24">
                <a:extLst>
                  <a:ext uri="{FF2B5EF4-FFF2-40B4-BE49-F238E27FC236}">
                    <a16:creationId xmlns:a16="http://schemas.microsoft.com/office/drawing/2014/main" id="{D0BD68A3-2DAD-F722-AA44-0A001F58F2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7" y="635"/>
                <a:ext cx="49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5715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7145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2860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7432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32004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657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41148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3200" b="1" i="1"/>
                  <a:t>n</a:t>
                </a:r>
                <a:r>
                  <a:rPr lang="en-US" altLang="zh-CN" sz="3200" b="1" i="1" baseline="-25000"/>
                  <a:t>N</a:t>
                </a:r>
                <a:endParaRPr lang="en-US" altLang="zh-CN" sz="3200" b="1" i="1"/>
              </a:p>
            </p:txBody>
          </p:sp>
        </p:grpSp>
        <p:sp>
          <p:nvSpPr>
            <p:cNvPr id="330777" name="Oval 25">
              <a:extLst>
                <a:ext uri="{FF2B5EF4-FFF2-40B4-BE49-F238E27FC236}">
                  <a16:creationId xmlns:a16="http://schemas.microsoft.com/office/drawing/2014/main" id="{DAEBF952-9297-6DDE-C3D2-9793CD395CB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308" y="684"/>
              <a:ext cx="72" cy="72"/>
            </a:xfrm>
            <a:prstGeom prst="ellipse">
              <a:avLst/>
            </a:prstGeom>
            <a:solidFill>
              <a:srgbClr val="990000"/>
            </a:solidFill>
            <a:ln w="9525">
              <a:solidFill>
                <a:srgbClr val="99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307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0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778" name="Group 2">
            <a:extLst>
              <a:ext uri="{FF2B5EF4-FFF2-40B4-BE49-F238E27FC236}">
                <a16:creationId xmlns:a16="http://schemas.microsoft.com/office/drawing/2014/main" id="{23AC6C3B-F290-EE65-B06D-7630191FA410}"/>
              </a:ext>
            </a:extLst>
          </p:cNvPr>
          <p:cNvGrpSpPr>
            <a:grpSpLocks/>
          </p:cNvGrpSpPr>
          <p:nvPr/>
        </p:nvGrpSpPr>
        <p:grpSpPr bwMode="auto">
          <a:xfrm>
            <a:off x="751959" y="1896666"/>
            <a:ext cx="4284662" cy="1119187"/>
            <a:chOff x="469" y="1071"/>
            <a:chExt cx="2699" cy="705"/>
          </a:xfrm>
        </p:grpSpPr>
        <p:sp>
          <p:nvSpPr>
            <p:cNvPr id="331779" name="Text Box 3">
              <a:extLst>
                <a:ext uri="{FF2B5EF4-FFF2-40B4-BE49-F238E27FC236}">
                  <a16:creationId xmlns:a16="http://schemas.microsoft.com/office/drawing/2014/main" id="{41258FB5-5380-1ADC-2781-196FFF8B87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" y="1072"/>
              <a:ext cx="2699" cy="7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2800" b="1" dirty="0"/>
                <a:t>    </a:t>
              </a:r>
              <a:r>
                <a:rPr lang="zh-CN" altLang="en-US" sz="2800" b="1" dirty="0"/>
                <a:t>如果                  电机将会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2800" b="1" dirty="0"/>
                <a:t>因带不动负载而停转。</a:t>
              </a:r>
            </a:p>
          </p:txBody>
        </p:sp>
        <p:graphicFrame>
          <p:nvGraphicFramePr>
            <p:cNvPr id="331780" name="Object 4">
              <a:hlinkClick r:id="" action="ppaction://ole?verb=0"/>
              <a:extLst>
                <a:ext uri="{FF2B5EF4-FFF2-40B4-BE49-F238E27FC236}">
                  <a16:creationId xmlns:a16="http://schemas.microsoft.com/office/drawing/2014/main" id="{95DF5616-59DE-8430-9FEE-8705C9A8D98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187" y="1071"/>
            <a:ext cx="1080" cy="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571320" imgH="228600" progId="Equation.3">
                    <p:embed/>
                  </p:oleObj>
                </mc:Choice>
                <mc:Fallback>
                  <p:oleObj name="公式" r:id="rId3" imgW="571320" imgH="228600" progId="Equation.3">
                    <p:embed/>
                    <p:pic>
                      <p:nvPicPr>
                        <p:cNvPr id="331780" name="Object 4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95DF5616-59DE-8430-9FEE-8705C9A8D98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7" y="1071"/>
                          <a:ext cx="1080" cy="4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1781" name="Group 5">
            <a:extLst>
              <a:ext uri="{FF2B5EF4-FFF2-40B4-BE49-F238E27FC236}">
                <a16:creationId xmlns:a16="http://schemas.microsoft.com/office/drawing/2014/main" id="{B8D19020-6B3A-0E0F-683A-22D2851AC40F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673893"/>
            <a:ext cx="4718050" cy="1277938"/>
            <a:chOff x="212" y="210"/>
            <a:chExt cx="2972" cy="805"/>
          </a:xfrm>
        </p:grpSpPr>
        <p:grpSp>
          <p:nvGrpSpPr>
            <p:cNvPr id="331782" name="Group 6">
              <a:extLst>
                <a:ext uri="{FF2B5EF4-FFF2-40B4-BE49-F238E27FC236}">
                  <a16:creationId xmlns:a16="http://schemas.microsoft.com/office/drawing/2014/main" id="{6A3D2554-EBC2-1782-645C-A969C6F90B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" y="210"/>
              <a:ext cx="2229" cy="414"/>
              <a:chOff x="212" y="210"/>
              <a:chExt cx="2229" cy="414"/>
            </a:xfrm>
          </p:grpSpPr>
          <p:sp>
            <p:nvSpPr>
              <p:cNvPr id="331783" name="Text Box 7">
                <a:extLst>
                  <a:ext uri="{FF2B5EF4-FFF2-40B4-BE49-F238E27FC236}">
                    <a16:creationId xmlns:a16="http://schemas.microsoft.com/office/drawing/2014/main" id="{1E1D9A62-5263-B48D-AB00-B278896C95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1" y="252"/>
                <a:ext cx="17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5715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7145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2860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7432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32004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657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41148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800" b="1" dirty="0">
                    <a:solidFill>
                      <a:srgbClr val="0000FF"/>
                    </a:solidFill>
                  </a:rPr>
                  <a:t>最大转矩         ：</a:t>
                </a:r>
              </a:p>
            </p:txBody>
          </p:sp>
          <p:sp>
            <p:nvSpPr>
              <p:cNvPr id="331784" name="Text Box 8">
                <a:extLst>
                  <a:ext uri="{FF2B5EF4-FFF2-40B4-BE49-F238E27FC236}">
                    <a16:creationId xmlns:a16="http://schemas.microsoft.com/office/drawing/2014/main" id="{CF188808-62F4-F0A8-CDC0-8269964E57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2" y="210"/>
                <a:ext cx="49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5715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7145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2860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7432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32004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657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41148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800" b="1" dirty="0">
                    <a:solidFill>
                      <a:srgbClr val="0000FF"/>
                    </a:solidFill>
                  </a:rPr>
                  <a:t>( 2 )</a:t>
                </a:r>
              </a:p>
            </p:txBody>
          </p:sp>
          <p:graphicFrame>
            <p:nvGraphicFramePr>
              <p:cNvPr id="331785" name="Object 9">
                <a:hlinkClick r:id="" action="ppaction://ole?verb=0"/>
                <a:extLst>
                  <a:ext uri="{FF2B5EF4-FFF2-40B4-BE49-F238E27FC236}">
                    <a16:creationId xmlns:a16="http://schemas.microsoft.com/office/drawing/2014/main" id="{A28DF82A-90EB-2210-EDE2-51670308FF0B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668" y="240"/>
              <a:ext cx="528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279360" imgH="228600" progId="Equation.3">
                      <p:embed/>
                    </p:oleObj>
                  </mc:Choice>
                  <mc:Fallback>
                    <p:oleObj name="公式" r:id="rId5" imgW="279360" imgH="228600" progId="Equation.3">
                      <p:embed/>
                      <p:pic>
                        <p:nvPicPr>
                          <p:cNvPr id="331785" name="Object 9">
                            <a:hlinkClick r:id="" action="ppaction://ole?verb=0"/>
                            <a:extLst>
                              <a:ext uri="{FF2B5EF4-FFF2-40B4-BE49-F238E27FC236}">
                                <a16:creationId xmlns:a16="http://schemas.microsoft.com/office/drawing/2014/main" id="{A28DF82A-90EB-2210-EDE2-51670308FF0B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68" y="240"/>
                            <a:ext cx="528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31786" name="Rectangle 10">
              <a:extLst>
                <a:ext uri="{FF2B5EF4-FFF2-40B4-BE49-F238E27FC236}">
                  <a16:creationId xmlns:a16="http://schemas.microsoft.com/office/drawing/2014/main" id="{0AE19D0C-53AE-1A7E-1A83-6E63FE391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" y="688"/>
              <a:ext cx="28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b="1">
                  <a:solidFill>
                    <a:srgbClr val="0000FF"/>
                  </a:solidFill>
                </a:rPr>
                <a:t>电机带动最大负载的能力。</a:t>
              </a:r>
            </a:p>
          </p:txBody>
        </p:sp>
      </p:grpSp>
      <p:grpSp>
        <p:nvGrpSpPr>
          <p:cNvPr id="331787" name="Group 11">
            <a:extLst>
              <a:ext uri="{FF2B5EF4-FFF2-40B4-BE49-F238E27FC236}">
                <a16:creationId xmlns:a16="http://schemas.microsoft.com/office/drawing/2014/main" id="{C10C5A07-6C19-DEFD-F680-851298DBD500}"/>
              </a:ext>
            </a:extLst>
          </p:cNvPr>
          <p:cNvGrpSpPr>
            <a:grpSpLocks/>
          </p:cNvGrpSpPr>
          <p:nvPr/>
        </p:nvGrpSpPr>
        <p:grpSpPr bwMode="auto">
          <a:xfrm>
            <a:off x="781050" y="5143500"/>
            <a:ext cx="3200400" cy="1295400"/>
            <a:chOff x="144" y="1152"/>
            <a:chExt cx="2016" cy="816"/>
          </a:xfrm>
        </p:grpSpPr>
        <p:sp>
          <p:nvSpPr>
            <p:cNvPr id="331788" name="Rectangle 12">
              <a:extLst>
                <a:ext uri="{FF2B5EF4-FFF2-40B4-BE49-F238E27FC236}">
                  <a16:creationId xmlns:a16="http://schemas.microsoft.com/office/drawing/2014/main" id="{B1328700-4B2D-4EA1-C27C-1CBB22207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152"/>
              <a:ext cx="816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/>
                <a:t>求解</a:t>
              </a:r>
            </a:p>
          </p:txBody>
        </p:sp>
        <p:graphicFrame>
          <p:nvGraphicFramePr>
            <p:cNvPr id="331789" name="Object 13">
              <a:hlinkClick r:id="" action="ppaction://ole?verb=0"/>
              <a:extLst>
                <a:ext uri="{FF2B5EF4-FFF2-40B4-BE49-F238E27FC236}">
                  <a16:creationId xmlns:a16="http://schemas.microsoft.com/office/drawing/2014/main" id="{1C041E86-C21C-F8A4-8BD0-B8662E17545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864" y="1152"/>
            <a:ext cx="1296" cy="8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482400" imgH="393480" progId="Equation.3">
                    <p:embed/>
                  </p:oleObj>
                </mc:Choice>
                <mc:Fallback>
                  <p:oleObj name="公式" r:id="rId7" imgW="482400" imgH="393480" progId="Equation.3">
                    <p:embed/>
                    <p:pic>
                      <p:nvPicPr>
                        <p:cNvPr id="331789" name="Object 13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1C041E86-C21C-F8A4-8BD0-B8662E17545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152"/>
                          <a:ext cx="1296" cy="8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1791" name="Group 15">
            <a:extLst>
              <a:ext uri="{FF2B5EF4-FFF2-40B4-BE49-F238E27FC236}">
                <a16:creationId xmlns:a16="http://schemas.microsoft.com/office/drawing/2014/main" id="{74441643-4D27-AE35-CE3F-967CD258F7B7}"/>
              </a:ext>
            </a:extLst>
          </p:cNvPr>
          <p:cNvGrpSpPr>
            <a:grpSpLocks/>
          </p:cNvGrpSpPr>
          <p:nvPr/>
        </p:nvGrpSpPr>
        <p:grpSpPr bwMode="auto">
          <a:xfrm>
            <a:off x="4991100" y="381000"/>
            <a:ext cx="3790950" cy="2509838"/>
            <a:chOff x="492" y="2484"/>
            <a:chExt cx="2388" cy="1581"/>
          </a:xfrm>
        </p:grpSpPr>
        <p:sp>
          <p:nvSpPr>
            <p:cNvPr id="331792" name="Line 16">
              <a:extLst>
                <a:ext uri="{FF2B5EF4-FFF2-40B4-BE49-F238E27FC236}">
                  <a16:creationId xmlns:a16="http://schemas.microsoft.com/office/drawing/2014/main" id="{DC45FEA7-08B8-2242-EEFE-F6AA61ADB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4" y="3758"/>
              <a:ext cx="20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1793" name="Line 17">
              <a:extLst>
                <a:ext uri="{FF2B5EF4-FFF2-40B4-BE49-F238E27FC236}">
                  <a16:creationId xmlns:a16="http://schemas.microsoft.com/office/drawing/2014/main" id="{26994847-5488-0637-8E13-8F36919B3B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4" y="2556"/>
              <a:ext cx="0" cy="138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31794" name="Object 18">
              <a:hlinkClick r:id="" action="ppaction://ole?verb=0"/>
              <a:extLst>
                <a:ext uri="{FF2B5EF4-FFF2-40B4-BE49-F238E27FC236}">
                  <a16:creationId xmlns:a16="http://schemas.microsoft.com/office/drawing/2014/main" id="{9C7B9CEA-DCBE-D6FC-CB04-27F2C029790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92" y="2484"/>
            <a:ext cx="276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39680" imgH="164880" progId="Equation.3">
                    <p:embed/>
                  </p:oleObj>
                </mc:Choice>
                <mc:Fallback>
                  <p:oleObj name="公式" r:id="rId9" imgW="139680" imgH="164880" progId="Equation.3">
                    <p:embed/>
                    <p:pic>
                      <p:nvPicPr>
                        <p:cNvPr id="331794" name="Object 18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9C7B9CEA-DCBE-D6FC-CB04-27F2C029790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" y="2484"/>
                          <a:ext cx="276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1795" name="Object 19">
              <a:hlinkClick r:id="" action="ppaction://ole?verb=0"/>
              <a:extLst>
                <a:ext uri="{FF2B5EF4-FFF2-40B4-BE49-F238E27FC236}">
                  <a16:creationId xmlns:a16="http://schemas.microsoft.com/office/drawing/2014/main" id="{ECD6CD5D-BD67-90C7-1FAF-9914553B2E8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604" y="3405"/>
            <a:ext cx="276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14120" imgH="139680" progId="Equation.3">
                    <p:embed/>
                  </p:oleObj>
                </mc:Choice>
                <mc:Fallback>
                  <p:oleObj name="公式" r:id="rId11" imgW="114120" imgH="139680" progId="Equation.3">
                    <p:embed/>
                    <p:pic>
                      <p:nvPicPr>
                        <p:cNvPr id="331795" name="Object 19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ECD6CD5D-BD67-90C7-1FAF-9914553B2E8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4" y="3405"/>
                          <a:ext cx="276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1796" name="Line 20">
              <a:extLst>
                <a:ext uri="{FF2B5EF4-FFF2-40B4-BE49-F238E27FC236}">
                  <a16:creationId xmlns:a16="http://schemas.microsoft.com/office/drawing/2014/main" id="{830D2A1A-1A86-4AB2-0E51-3B2DD46CBD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0" y="3098"/>
              <a:ext cx="0" cy="720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1797" name="Freeform 21">
              <a:extLst>
                <a:ext uri="{FF2B5EF4-FFF2-40B4-BE49-F238E27FC236}">
                  <a16:creationId xmlns:a16="http://schemas.microsoft.com/office/drawing/2014/main" id="{7A0163F9-5341-DD49-4981-16D481451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2874"/>
              <a:ext cx="1632" cy="870"/>
            </a:xfrm>
            <a:custGeom>
              <a:avLst/>
              <a:gdLst>
                <a:gd name="T0" fmla="*/ 0 w 1632"/>
                <a:gd name="T1" fmla="*/ 918 h 918"/>
                <a:gd name="T2" fmla="*/ 204 w 1632"/>
                <a:gd name="T3" fmla="*/ 150 h 918"/>
                <a:gd name="T4" fmla="*/ 444 w 1632"/>
                <a:gd name="T5" fmla="*/ 18 h 918"/>
                <a:gd name="T6" fmla="*/ 564 w 1632"/>
                <a:gd name="T7" fmla="*/ 66 h 918"/>
                <a:gd name="T8" fmla="*/ 960 w 1632"/>
                <a:gd name="T9" fmla="*/ 294 h 918"/>
                <a:gd name="T10" fmla="*/ 1224 w 1632"/>
                <a:gd name="T11" fmla="*/ 378 h 918"/>
                <a:gd name="T12" fmla="*/ 1548 w 1632"/>
                <a:gd name="T13" fmla="*/ 474 h 918"/>
                <a:gd name="T14" fmla="*/ 1632 w 1632"/>
                <a:gd name="T15" fmla="*/ 486 h 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32" h="918">
                  <a:moveTo>
                    <a:pt x="0" y="918"/>
                  </a:moveTo>
                  <a:cubicBezTo>
                    <a:pt x="65" y="609"/>
                    <a:pt x="130" y="300"/>
                    <a:pt x="204" y="150"/>
                  </a:cubicBezTo>
                  <a:cubicBezTo>
                    <a:pt x="278" y="0"/>
                    <a:pt x="384" y="32"/>
                    <a:pt x="444" y="18"/>
                  </a:cubicBezTo>
                  <a:cubicBezTo>
                    <a:pt x="504" y="4"/>
                    <a:pt x="478" y="20"/>
                    <a:pt x="564" y="66"/>
                  </a:cubicBezTo>
                  <a:cubicBezTo>
                    <a:pt x="650" y="112"/>
                    <a:pt x="850" y="242"/>
                    <a:pt x="960" y="294"/>
                  </a:cubicBezTo>
                  <a:cubicBezTo>
                    <a:pt x="1070" y="346"/>
                    <a:pt x="1126" y="348"/>
                    <a:pt x="1224" y="378"/>
                  </a:cubicBezTo>
                  <a:cubicBezTo>
                    <a:pt x="1322" y="408"/>
                    <a:pt x="1480" y="456"/>
                    <a:pt x="1548" y="474"/>
                  </a:cubicBezTo>
                  <a:cubicBezTo>
                    <a:pt x="1616" y="492"/>
                    <a:pt x="1618" y="482"/>
                    <a:pt x="1632" y="486"/>
                  </a:cubicBezTo>
                </a:path>
              </a:pathLst>
            </a:custGeom>
            <a:noFill/>
            <a:ln w="57150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1798" name="Text Box 22">
              <a:extLst>
                <a:ext uri="{FF2B5EF4-FFF2-40B4-BE49-F238E27FC236}">
                  <a16:creationId xmlns:a16="http://schemas.microsoft.com/office/drawing/2014/main" id="{C7341710-5A37-B346-446C-D23DADBF27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4" y="373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800" b="1"/>
                <a:t>1</a:t>
              </a:r>
            </a:p>
          </p:txBody>
        </p:sp>
        <p:sp>
          <p:nvSpPr>
            <p:cNvPr id="331799" name="Text Box 23">
              <a:extLst>
                <a:ext uri="{FF2B5EF4-FFF2-40B4-BE49-F238E27FC236}">
                  <a16:creationId xmlns:a16="http://schemas.microsoft.com/office/drawing/2014/main" id="{42EE0654-D395-74AF-C338-89E4A66C66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" y="372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800" b="1"/>
                <a:t>0</a:t>
              </a:r>
            </a:p>
          </p:txBody>
        </p:sp>
      </p:grpSp>
      <p:grpSp>
        <p:nvGrpSpPr>
          <p:cNvPr id="331800" name="Group 24">
            <a:extLst>
              <a:ext uri="{FF2B5EF4-FFF2-40B4-BE49-F238E27FC236}">
                <a16:creationId xmlns:a16="http://schemas.microsoft.com/office/drawing/2014/main" id="{AC50D132-EA6D-B0B4-D4BD-01C057E6C321}"/>
              </a:ext>
            </a:extLst>
          </p:cNvPr>
          <p:cNvGrpSpPr>
            <a:grpSpLocks/>
          </p:cNvGrpSpPr>
          <p:nvPr/>
        </p:nvGrpSpPr>
        <p:grpSpPr bwMode="auto">
          <a:xfrm>
            <a:off x="5959475" y="628650"/>
            <a:ext cx="523875" cy="2403475"/>
            <a:chOff x="3754" y="396"/>
            <a:chExt cx="330" cy="1514"/>
          </a:xfrm>
        </p:grpSpPr>
        <p:sp>
          <p:nvSpPr>
            <p:cNvPr id="331801" name="Line 25">
              <a:extLst>
                <a:ext uri="{FF2B5EF4-FFF2-40B4-BE49-F238E27FC236}">
                  <a16:creationId xmlns:a16="http://schemas.microsoft.com/office/drawing/2014/main" id="{6D432784-3A13-FDF2-40B4-2B5A861E92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2" y="396"/>
              <a:ext cx="0" cy="12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1802" name="Text Box 26">
              <a:extLst>
                <a:ext uri="{FF2B5EF4-FFF2-40B4-BE49-F238E27FC236}">
                  <a16:creationId xmlns:a16="http://schemas.microsoft.com/office/drawing/2014/main" id="{F4CC8F87-4F50-1416-EDEF-1A9062F712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4" y="1583"/>
              <a:ext cx="33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800" b="1"/>
                <a:t>s</a:t>
              </a:r>
              <a:r>
                <a:rPr lang="en-US" altLang="zh-CN" sz="2800" b="1" baseline="-25000"/>
                <a:t>m</a:t>
              </a:r>
              <a:endParaRPr lang="en-US" altLang="zh-CN" sz="2800" b="1"/>
            </a:p>
          </p:txBody>
        </p:sp>
      </p:grpSp>
      <p:grpSp>
        <p:nvGrpSpPr>
          <p:cNvPr id="331803" name="Group 27">
            <a:extLst>
              <a:ext uri="{FF2B5EF4-FFF2-40B4-BE49-F238E27FC236}">
                <a16:creationId xmlns:a16="http://schemas.microsoft.com/office/drawing/2014/main" id="{F5FA9C15-B492-2071-B78C-1AB2653B64CE}"/>
              </a:ext>
            </a:extLst>
          </p:cNvPr>
          <p:cNvGrpSpPr>
            <a:grpSpLocks/>
          </p:cNvGrpSpPr>
          <p:nvPr/>
        </p:nvGrpSpPr>
        <p:grpSpPr bwMode="auto">
          <a:xfrm>
            <a:off x="4805363" y="741363"/>
            <a:ext cx="2795587" cy="519112"/>
            <a:chOff x="3027" y="467"/>
            <a:chExt cx="1761" cy="327"/>
          </a:xfrm>
        </p:grpSpPr>
        <p:sp>
          <p:nvSpPr>
            <p:cNvPr id="331804" name="Line 28">
              <a:extLst>
                <a:ext uri="{FF2B5EF4-FFF2-40B4-BE49-F238E27FC236}">
                  <a16:creationId xmlns:a16="http://schemas.microsoft.com/office/drawing/2014/main" id="{D8EB668C-620C-EDC8-72BA-5980F9286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4" y="636"/>
              <a:ext cx="14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1805" name="Text Box 29">
              <a:extLst>
                <a:ext uri="{FF2B5EF4-FFF2-40B4-BE49-F238E27FC236}">
                  <a16:creationId xmlns:a16="http://schemas.microsoft.com/office/drawing/2014/main" id="{BE14DD2C-442F-9CC9-9B1E-8AED9E8579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7" y="467"/>
              <a:ext cx="3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800" b="1"/>
                <a:t>T</a:t>
              </a:r>
              <a:r>
                <a:rPr lang="en-US" altLang="zh-CN" sz="2800" b="1" baseline="-25000"/>
                <a:t>m</a:t>
              </a:r>
              <a:endParaRPr lang="en-US" altLang="zh-CN" sz="2800" b="1"/>
            </a:p>
          </p:txBody>
        </p:sp>
      </p:grpSp>
      <p:grpSp>
        <p:nvGrpSpPr>
          <p:cNvPr id="331806" name="Group 30">
            <a:extLst>
              <a:ext uri="{FF2B5EF4-FFF2-40B4-BE49-F238E27FC236}">
                <a16:creationId xmlns:a16="http://schemas.microsoft.com/office/drawing/2014/main" id="{EF744C52-8325-6740-8E9E-6450789EB7EA}"/>
              </a:ext>
            </a:extLst>
          </p:cNvPr>
          <p:cNvGrpSpPr>
            <a:grpSpLocks/>
          </p:cNvGrpSpPr>
          <p:nvPr/>
        </p:nvGrpSpPr>
        <p:grpSpPr bwMode="auto">
          <a:xfrm>
            <a:off x="4305301" y="5253039"/>
            <a:ext cx="4079876" cy="1017588"/>
            <a:chOff x="2712" y="3309"/>
            <a:chExt cx="2570" cy="641"/>
          </a:xfrm>
        </p:grpSpPr>
        <p:sp>
          <p:nvSpPr>
            <p:cNvPr id="331807" name="AutoShape 31">
              <a:extLst>
                <a:ext uri="{FF2B5EF4-FFF2-40B4-BE49-F238E27FC236}">
                  <a16:creationId xmlns:a16="http://schemas.microsoft.com/office/drawing/2014/main" id="{498EEFDB-355A-AB6F-F877-B2A4F4747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2" y="3540"/>
              <a:ext cx="468" cy="180"/>
            </a:xfrm>
            <a:prstGeom prst="rightArrow">
              <a:avLst>
                <a:gd name="adj1" fmla="val 50000"/>
                <a:gd name="adj2" fmla="val 65000"/>
              </a:avLst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31808" name="Object 32">
              <a:extLst>
                <a:ext uri="{FF2B5EF4-FFF2-40B4-BE49-F238E27FC236}">
                  <a16:creationId xmlns:a16="http://schemas.microsoft.com/office/drawing/2014/main" id="{08B3450D-E902-E9B3-7097-AF87DE013C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0780044"/>
                </p:ext>
              </p:extLst>
            </p:nvPr>
          </p:nvGraphicFramePr>
          <p:xfrm>
            <a:off x="3324" y="3309"/>
            <a:ext cx="1958" cy="6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257120" imgH="469800" progId="Equation.3">
                    <p:embed/>
                  </p:oleObj>
                </mc:Choice>
                <mc:Fallback>
                  <p:oleObj name="公式" r:id="rId13" imgW="1257120" imgH="469800" progId="Equation.3">
                    <p:embed/>
                    <p:pic>
                      <p:nvPicPr>
                        <p:cNvPr id="331808" name="Object 32">
                          <a:extLst>
                            <a:ext uri="{FF2B5EF4-FFF2-40B4-BE49-F238E27FC236}">
                              <a16:creationId xmlns:a16="http://schemas.microsoft.com/office/drawing/2014/main" id="{08B3450D-E902-E9B3-7097-AF87DE013C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4" y="3309"/>
                          <a:ext cx="1958" cy="641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66FF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1811" name="AutoShape 35">
            <a:extLst>
              <a:ext uri="{FF2B5EF4-FFF2-40B4-BE49-F238E27FC236}">
                <a16:creationId xmlns:a16="http://schemas.microsoft.com/office/drawing/2014/main" id="{CC0DFD24-87E0-5453-CF01-4E4669D38D4C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534150" y="4762500"/>
            <a:ext cx="552450" cy="285750"/>
          </a:xfrm>
          <a:prstGeom prst="rightArrow">
            <a:avLst>
              <a:gd name="adj1" fmla="val 50000"/>
              <a:gd name="adj2" fmla="val 48333"/>
            </a:avLst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21236AC-28B1-DE38-33DA-A52CD4EB5E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2292255"/>
              </p:ext>
            </p:extLst>
          </p:nvPr>
        </p:nvGraphicFramePr>
        <p:xfrm>
          <a:off x="390525" y="3032126"/>
          <a:ext cx="4414838" cy="177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35200" imgH="901700" progId="Equation.DSMT4">
                  <p:embed/>
                </p:oleObj>
              </mc:Choice>
              <mc:Fallback>
                <p:oleObj name="Equation" r:id="rId15" imgW="2235200" imgH="9017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8F74814-5216-3A91-9E07-3111389069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" y="3032126"/>
                        <a:ext cx="4414838" cy="1776413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0C2ABF3-1507-0679-CFA4-8D1A6B0010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479668"/>
              </p:ext>
            </p:extLst>
          </p:nvPr>
        </p:nvGraphicFramePr>
        <p:xfrm>
          <a:off x="4836319" y="3584575"/>
          <a:ext cx="4284662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298700" imgH="533400" progId="Equation.DSMT4">
                  <p:embed/>
                </p:oleObj>
              </mc:Choice>
              <mc:Fallback>
                <p:oleObj name="Equation" r:id="rId17" imgW="2298700" imgH="5334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10B4FB1A-9D7F-BA0D-8FA6-006EF20230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6319" y="3584575"/>
                        <a:ext cx="4284662" cy="1019175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317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1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31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33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1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826" name="Group 2">
            <a:extLst>
              <a:ext uri="{FF2B5EF4-FFF2-40B4-BE49-F238E27FC236}">
                <a16:creationId xmlns:a16="http://schemas.microsoft.com/office/drawing/2014/main" id="{F362A0F4-D99E-876A-234E-34FACD4AD17E}"/>
              </a:ext>
            </a:extLst>
          </p:cNvPr>
          <p:cNvGrpSpPr>
            <a:grpSpLocks/>
          </p:cNvGrpSpPr>
          <p:nvPr/>
        </p:nvGrpSpPr>
        <p:grpSpPr bwMode="auto">
          <a:xfrm>
            <a:off x="212724" y="1104799"/>
            <a:ext cx="4138613" cy="1220788"/>
            <a:chOff x="200" y="90"/>
            <a:chExt cx="2607" cy="769"/>
          </a:xfrm>
        </p:grpSpPr>
        <p:graphicFrame>
          <p:nvGraphicFramePr>
            <p:cNvPr id="333827" name="Object 3">
              <a:hlinkClick r:id="" action="ppaction://ole?verb=0"/>
              <a:extLst>
                <a:ext uri="{FF2B5EF4-FFF2-40B4-BE49-F238E27FC236}">
                  <a16:creationId xmlns:a16="http://schemas.microsoft.com/office/drawing/2014/main" id="{BF16CEFE-AE7C-BB2E-7E89-029B0A984EA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752" y="128"/>
            <a:ext cx="420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90440" imgH="177480" progId="Equation.3">
                    <p:embed/>
                  </p:oleObj>
                </mc:Choice>
                <mc:Fallback>
                  <p:oleObj name="公式" r:id="rId3" imgW="190440" imgH="177480" progId="Equation.3">
                    <p:embed/>
                    <p:pic>
                      <p:nvPicPr>
                        <p:cNvPr id="333827" name="Object 3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BF16CEFE-AE7C-BB2E-7E89-029B0A984EA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2" y="128"/>
                          <a:ext cx="420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33828" name="Group 4">
              <a:extLst>
                <a:ext uri="{FF2B5EF4-FFF2-40B4-BE49-F238E27FC236}">
                  <a16:creationId xmlns:a16="http://schemas.microsoft.com/office/drawing/2014/main" id="{4E3BC53B-2072-06AE-E270-257DB6FAA0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0" y="90"/>
              <a:ext cx="2270" cy="363"/>
              <a:chOff x="212" y="210"/>
              <a:chExt cx="2270" cy="363"/>
            </a:xfrm>
          </p:grpSpPr>
          <p:sp>
            <p:nvSpPr>
              <p:cNvPr id="333829" name="Text Box 5">
                <a:extLst>
                  <a:ext uri="{FF2B5EF4-FFF2-40B4-BE49-F238E27FC236}">
                    <a16:creationId xmlns:a16="http://schemas.microsoft.com/office/drawing/2014/main" id="{31B4E014-06AE-D599-3F00-53BC058FA9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2" y="246"/>
                <a:ext cx="173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5715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7145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2860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7432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32004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657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41148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800" b="1" dirty="0">
                    <a:solidFill>
                      <a:srgbClr val="0000FF"/>
                    </a:solidFill>
                  </a:rPr>
                  <a:t>起动转矩         ：</a:t>
                </a:r>
              </a:p>
            </p:txBody>
          </p:sp>
          <p:sp>
            <p:nvSpPr>
              <p:cNvPr id="333830" name="Text Box 6">
                <a:extLst>
                  <a:ext uri="{FF2B5EF4-FFF2-40B4-BE49-F238E27FC236}">
                    <a16:creationId xmlns:a16="http://schemas.microsoft.com/office/drawing/2014/main" id="{6F5F1F49-C136-1101-0C40-784C7E1417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2" y="210"/>
                <a:ext cx="49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5715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7145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2860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7432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32004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657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41148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2800" b="1">
                    <a:solidFill>
                      <a:srgbClr val="0000FF"/>
                    </a:solidFill>
                  </a:rPr>
                  <a:t>( 3 )</a:t>
                </a:r>
              </a:p>
            </p:txBody>
          </p:sp>
        </p:grpSp>
        <p:sp>
          <p:nvSpPr>
            <p:cNvPr id="333831" name="Rectangle 7">
              <a:extLst>
                <a:ext uri="{FF2B5EF4-FFF2-40B4-BE49-F238E27FC236}">
                  <a16:creationId xmlns:a16="http://schemas.microsoft.com/office/drawing/2014/main" id="{675F56D8-071F-990D-F23A-2DA90E07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" y="532"/>
              <a:ext cx="213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b="1">
                  <a:solidFill>
                    <a:srgbClr val="0000FF"/>
                  </a:solidFill>
                </a:rPr>
                <a:t>电机起动时的转矩。</a:t>
              </a:r>
            </a:p>
          </p:txBody>
        </p:sp>
      </p:grpSp>
      <p:sp>
        <p:nvSpPr>
          <p:cNvPr id="333832" name="Line 8">
            <a:extLst>
              <a:ext uri="{FF2B5EF4-FFF2-40B4-BE49-F238E27FC236}">
                <a16:creationId xmlns:a16="http://schemas.microsoft.com/office/drawing/2014/main" id="{B69A2B59-AE36-25B6-9612-F754D4A4C6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0628" y="2734873"/>
            <a:ext cx="2949575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3" name="Line 9">
            <a:extLst>
              <a:ext uri="{FF2B5EF4-FFF2-40B4-BE49-F238E27FC236}">
                <a16:creationId xmlns:a16="http://schemas.microsoft.com/office/drawing/2014/main" id="{697683D7-7211-0F2A-A6F1-B415584E5E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62688" y="581025"/>
            <a:ext cx="0" cy="2422525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4" name="Text Box 10">
            <a:extLst>
              <a:ext uri="{FF2B5EF4-FFF2-40B4-BE49-F238E27FC236}">
                <a16:creationId xmlns:a16="http://schemas.microsoft.com/office/drawing/2014/main" id="{CBDBBDBB-5CB7-B610-494D-5C689F993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627063"/>
            <a:ext cx="5429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 i="1"/>
              <a:t>n</a:t>
            </a:r>
            <a:r>
              <a:rPr lang="en-US" altLang="zh-CN" sz="3200" b="1" baseline="-25000"/>
              <a:t>1</a:t>
            </a:r>
            <a:endParaRPr lang="en-US" altLang="zh-CN" sz="3200" b="1" i="1"/>
          </a:p>
        </p:txBody>
      </p:sp>
      <p:sp>
        <p:nvSpPr>
          <p:cNvPr id="333835" name="Text Box 11">
            <a:extLst>
              <a:ext uri="{FF2B5EF4-FFF2-40B4-BE49-F238E27FC236}">
                <a16:creationId xmlns:a16="http://schemas.microsoft.com/office/drawing/2014/main" id="{4A1787D9-7EAA-C32A-7862-F9435850F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5716" y="2168136"/>
            <a:ext cx="4206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800" b="1" dirty="0"/>
              <a:t>T</a:t>
            </a:r>
            <a:endParaRPr lang="en-US" altLang="zh-CN" sz="4000" b="1" dirty="0"/>
          </a:p>
        </p:txBody>
      </p:sp>
      <p:sp>
        <p:nvSpPr>
          <p:cNvPr id="333836" name="Text Box 12">
            <a:extLst>
              <a:ext uri="{FF2B5EF4-FFF2-40B4-BE49-F238E27FC236}">
                <a16:creationId xmlns:a16="http://schemas.microsoft.com/office/drawing/2014/main" id="{5CEA94F1-17D6-A7F2-7C1A-A8C63986B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2063" y="292100"/>
            <a:ext cx="438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600" b="1" i="1"/>
              <a:t>n</a:t>
            </a:r>
          </a:p>
        </p:txBody>
      </p:sp>
      <p:sp>
        <p:nvSpPr>
          <p:cNvPr id="333837" name="Freeform 13">
            <a:extLst>
              <a:ext uri="{FF2B5EF4-FFF2-40B4-BE49-F238E27FC236}">
                <a16:creationId xmlns:a16="http://schemas.microsoft.com/office/drawing/2014/main" id="{2362E551-1734-44C0-5E29-BA6352095407}"/>
              </a:ext>
            </a:extLst>
          </p:cNvPr>
          <p:cNvSpPr>
            <a:spLocks/>
          </p:cNvSpPr>
          <p:nvPr/>
        </p:nvSpPr>
        <p:spPr bwMode="auto">
          <a:xfrm>
            <a:off x="6248400" y="1066800"/>
            <a:ext cx="2082800" cy="1638300"/>
          </a:xfrm>
          <a:custGeom>
            <a:avLst/>
            <a:gdLst>
              <a:gd name="T0" fmla="*/ 0 w 1288"/>
              <a:gd name="T1" fmla="*/ 0 h 996"/>
              <a:gd name="T2" fmla="*/ 624 w 1288"/>
              <a:gd name="T3" fmla="*/ 72 h 996"/>
              <a:gd name="T4" fmla="*/ 1188 w 1288"/>
              <a:gd name="T5" fmla="*/ 204 h 996"/>
              <a:gd name="T6" fmla="*/ 1224 w 1288"/>
              <a:gd name="T7" fmla="*/ 420 h 996"/>
              <a:gd name="T8" fmla="*/ 1008 w 1288"/>
              <a:gd name="T9" fmla="*/ 648 h 996"/>
              <a:gd name="T10" fmla="*/ 864 w 1288"/>
              <a:gd name="T11" fmla="*/ 840 h 996"/>
              <a:gd name="T12" fmla="*/ 804 w 1288"/>
              <a:gd name="T13" fmla="*/ 996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88" h="996">
                <a:moveTo>
                  <a:pt x="0" y="0"/>
                </a:moveTo>
                <a:cubicBezTo>
                  <a:pt x="213" y="19"/>
                  <a:pt x="426" y="38"/>
                  <a:pt x="624" y="72"/>
                </a:cubicBezTo>
                <a:cubicBezTo>
                  <a:pt x="822" y="106"/>
                  <a:pt x="1088" y="146"/>
                  <a:pt x="1188" y="204"/>
                </a:cubicBezTo>
                <a:cubicBezTo>
                  <a:pt x="1288" y="262"/>
                  <a:pt x="1254" y="346"/>
                  <a:pt x="1224" y="420"/>
                </a:cubicBezTo>
                <a:cubicBezTo>
                  <a:pt x="1194" y="494"/>
                  <a:pt x="1068" y="578"/>
                  <a:pt x="1008" y="648"/>
                </a:cubicBezTo>
                <a:cubicBezTo>
                  <a:pt x="948" y="718"/>
                  <a:pt x="898" y="782"/>
                  <a:pt x="864" y="840"/>
                </a:cubicBezTo>
                <a:cubicBezTo>
                  <a:pt x="830" y="898"/>
                  <a:pt x="812" y="970"/>
                  <a:pt x="804" y="996"/>
                </a:cubicBez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33838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7B1A1556-0E27-4539-FDDF-D4E81E6B69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310104"/>
              </p:ext>
            </p:extLst>
          </p:nvPr>
        </p:nvGraphicFramePr>
        <p:xfrm>
          <a:off x="7315685" y="2740651"/>
          <a:ext cx="66675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90440" imgH="228600" progId="Equation.3">
                  <p:embed/>
                </p:oleObj>
              </mc:Choice>
              <mc:Fallback>
                <p:oleObj name="公式" r:id="rId5" imgW="190440" imgH="228600" progId="Equation.3">
                  <p:embed/>
                  <p:pic>
                    <p:nvPicPr>
                      <p:cNvPr id="333838" name="Object 14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7B1A1556-0E27-4539-FDDF-D4E81E6B69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685" y="2740651"/>
                        <a:ext cx="666750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3839" name="Group 15">
            <a:extLst>
              <a:ext uri="{FF2B5EF4-FFF2-40B4-BE49-F238E27FC236}">
                <a16:creationId xmlns:a16="http://schemas.microsoft.com/office/drawing/2014/main" id="{2D28CEDC-97B4-34A4-597B-2BA3ABDFEB71}"/>
              </a:ext>
            </a:extLst>
          </p:cNvPr>
          <p:cNvGrpSpPr>
            <a:grpSpLocks/>
          </p:cNvGrpSpPr>
          <p:nvPr/>
        </p:nvGrpSpPr>
        <p:grpSpPr bwMode="auto">
          <a:xfrm>
            <a:off x="308184" y="2543756"/>
            <a:ext cx="3883605" cy="1344613"/>
            <a:chOff x="539" y="1800"/>
            <a:chExt cx="2215" cy="847"/>
          </a:xfrm>
        </p:grpSpPr>
        <p:grpSp>
          <p:nvGrpSpPr>
            <p:cNvPr id="333841" name="Group 17">
              <a:extLst>
                <a:ext uri="{FF2B5EF4-FFF2-40B4-BE49-F238E27FC236}">
                  <a16:creationId xmlns:a16="http://schemas.microsoft.com/office/drawing/2014/main" id="{E11EA6A7-472E-0E4B-82C7-47D712F342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9" y="1800"/>
              <a:ext cx="2215" cy="442"/>
              <a:chOff x="539" y="2052"/>
              <a:chExt cx="2215" cy="478"/>
            </a:xfrm>
          </p:grpSpPr>
          <p:grpSp>
            <p:nvGrpSpPr>
              <p:cNvPr id="333842" name="Group 18">
                <a:extLst>
                  <a:ext uri="{FF2B5EF4-FFF2-40B4-BE49-F238E27FC236}">
                    <a16:creationId xmlns:a16="http://schemas.microsoft.com/office/drawing/2014/main" id="{21094269-4DB1-AB47-BF25-6DC1A643E0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8" y="2052"/>
                <a:ext cx="1596" cy="478"/>
                <a:chOff x="690" y="2100"/>
                <a:chExt cx="1596" cy="478"/>
              </a:xfrm>
            </p:grpSpPr>
            <p:graphicFrame>
              <p:nvGraphicFramePr>
                <p:cNvPr id="333843" name="Object 19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57BBB4D6-4774-BFC3-4CD1-C7D4CFE1D3B1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690" y="2100"/>
                <a:ext cx="603" cy="43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7" imgW="355320" imgH="177480" progId="Equation.3">
                        <p:embed/>
                      </p:oleObj>
                    </mc:Choice>
                    <mc:Fallback>
                      <p:oleObj name="公式" r:id="rId7" imgW="355320" imgH="177480" progId="Equation.3">
                        <p:embed/>
                        <p:pic>
                          <p:nvPicPr>
                            <p:cNvPr id="333843" name="Object 19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57BBB4D6-4774-BFC3-4CD1-C7D4CFE1D3B1}"/>
                                </a:ext>
                              </a:extLst>
                            </p:cNvPr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90" y="2100"/>
                              <a:ext cx="603" cy="43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12700">
                                  <a:solidFill>
                                    <a:srgbClr val="CC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33844" name="Object 20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C6623672-7930-06EB-63C1-90E90BC539FC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1134" y="2118"/>
                <a:ext cx="1152" cy="46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9" imgW="533160" imgH="203040" progId="Equation.3">
                        <p:embed/>
                      </p:oleObj>
                    </mc:Choice>
                    <mc:Fallback>
                      <p:oleObj name="公式" r:id="rId9" imgW="533160" imgH="203040" progId="Equation.3">
                        <p:embed/>
                        <p:pic>
                          <p:nvPicPr>
                            <p:cNvPr id="333844" name="Object 20">
                              <a:hlinkClick r:id="" action="ppaction://ole?verb=0"/>
                              <a:extLst>
                                <a:ext uri="{FF2B5EF4-FFF2-40B4-BE49-F238E27FC236}">
                                  <a16:creationId xmlns:a16="http://schemas.microsoft.com/office/drawing/2014/main" id="{C6623672-7930-06EB-63C1-90E90BC539FC}"/>
                                </a:ext>
                              </a:extLst>
                            </p:cNvPr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34" y="2118"/>
                              <a:ext cx="1152" cy="46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12700">
                                  <a:solidFill>
                                    <a:srgbClr val="CC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333845" name="Text Box 21">
                <a:extLst>
                  <a:ext uri="{FF2B5EF4-FFF2-40B4-BE49-F238E27FC236}">
                    <a16:creationId xmlns:a16="http://schemas.microsoft.com/office/drawing/2014/main" id="{FE0E806F-0F66-A8C3-9D90-EFAECF8442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9" y="2104"/>
                <a:ext cx="505" cy="3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5715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7145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286000" defTabSz="7620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7432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32004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657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41148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800" b="1"/>
                  <a:t>其中</a:t>
                </a:r>
              </a:p>
            </p:txBody>
          </p:sp>
        </p:grpSp>
        <p:sp>
          <p:nvSpPr>
            <p:cNvPr id="333847" name="Text Box 23">
              <a:extLst>
                <a:ext uri="{FF2B5EF4-FFF2-40B4-BE49-F238E27FC236}">
                  <a16:creationId xmlns:a16="http://schemas.microsoft.com/office/drawing/2014/main" id="{F5CE2EA0-3B2E-49A3-E40A-668CEAD4D6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" y="2320"/>
              <a:ext cx="3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b="1"/>
                <a:t>则</a:t>
              </a:r>
            </a:p>
          </p:txBody>
        </p:sp>
      </p:grpSp>
      <p:grpSp>
        <p:nvGrpSpPr>
          <p:cNvPr id="333849" name="Group 25">
            <a:extLst>
              <a:ext uri="{FF2B5EF4-FFF2-40B4-BE49-F238E27FC236}">
                <a16:creationId xmlns:a16="http://schemas.microsoft.com/office/drawing/2014/main" id="{B3C52E5B-7234-752C-FBB6-B8AB6D538EFA}"/>
              </a:ext>
            </a:extLst>
          </p:cNvPr>
          <p:cNvGrpSpPr>
            <a:grpSpLocks/>
          </p:cNvGrpSpPr>
          <p:nvPr/>
        </p:nvGrpSpPr>
        <p:grpSpPr bwMode="auto">
          <a:xfrm>
            <a:off x="6716" y="5562829"/>
            <a:ext cx="9144000" cy="1127125"/>
            <a:chOff x="0" y="3336"/>
            <a:chExt cx="5760" cy="710"/>
          </a:xfrm>
        </p:grpSpPr>
        <p:graphicFrame>
          <p:nvGraphicFramePr>
            <p:cNvPr id="333850" name="Object 26">
              <a:hlinkClick r:id="" action="ppaction://ole?verb=0"/>
              <a:extLst>
                <a:ext uri="{FF2B5EF4-FFF2-40B4-BE49-F238E27FC236}">
                  <a16:creationId xmlns:a16="http://schemas.microsoft.com/office/drawing/2014/main" id="{A38D2251-0451-5FA8-2C72-9F3FF720E5E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96" y="3408"/>
            <a:ext cx="886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482400" imgH="228600" progId="Equation.3">
                    <p:embed/>
                  </p:oleObj>
                </mc:Choice>
                <mc:Fallback>
                  <p:oleObj name="公式" r:id="rId11" imgW="482400" imgH="228600" progId="Equation.3">
                    <p:embed/>
                    <p:pic>
                      <p:nvPicPr>
                        <p:cNvPr id="333850" name="Object 26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A38D2251-0451-5FA8-2C72-9F3FF720E5E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6" y="3408"/>
                          <a:ext cx="886" cy="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3851" name="Object 27">
              <a:hlinkClick r:id="" action="ppaction://ole?verb=0"/>
              <a:extLst>
                <a:ext uri="{FF2B5EF4-FFF2-40B4-BE49-F238E27FC236}">
                  <a16:creationId xmlns:a16="http://schemas.microsoft.com/office/drawing/2014/main" id="{9BB1CD40-6F59-DAB5-8CB5-D6BFD14836B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3" y="3399"/>
            <a:ext cx="361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90440" imgH="228600" progId="Equation.3">
                    <p:embed/>
                  </p:oleObj>
                </mc:Choice>
                <mc:Fallback>
                  <p:oleObj name="公式" r:id="rId13" imgW="190440" imgH="228600" progId="Equation.3">
                    <p:embed/>
                    <p:pic>
                      <p:nvPicPr>
                        <p:cNvPr id="333851" name="Object 27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9BB1CD40-6F59-DAB5-8CB5-D6BFD14836B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" y="3399"/>
                          <a:ext cx="361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3852" name="Text Box 28">
              <a:extLst>
                <a:ext uri="{FF2B5EF4-FFF2-40B4-BE49-F238E27FC236}">
                  <a16:creationId xmlns:a16="http://schemas.microsoft.com/office/drawing/2014/main" id="{7116FBCB-00FC-C412-A290-3B8FC4E6C1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" y="3450"/>
              <a:ext cx="505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/>
                <a:t>体现了电动机带载起动的能力。若                电机能</a:t>
              </a:r>
            </a:p>
            <a:p>
              <a:r>
                <a:rPr lang="zh-CN" altLang="en-US" sz="2800" b="1"/>
                <a:t>起动，否则将起动不了。</a:t>
              </a:r>
            </a:p>
          </p:txBody>
        </p:sp>
        <p:sp>
          <p:nvSpPr>
            <p:cNvPr id="333853" name="Line 29">
              <a:extLst>
                <a:ext uri="{FF2B5EF4-FFF2-40B4-BE49-F238E27FC236}">
                  <a16:creationId xmlns:a16="http://schemas.microsoft.com/office/drawing/2014/main" id="{975485EC-0E36-F69D-173B-1DB2809B2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3336"/>
              <a:ext cx="5760" cy="0"/>
            </a:xfrm>
            <a:prstGeom prst="line">
              <a:avLst/>
            </a:prstGeom>
            <a:noFill/>
            <a:ln w="38100">
              <a:solidFill>
                <a:srgbClr val="00CC99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9FA2753-C80A-B00F-5165-E173D7F8A3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426615"/>
              </p:ext>
            </p:extLst>
          </p:nvPr>
        </p:nvGraphicFramePr>
        <p:xfrm>
          <a:off x="827584" y="3892027"/>
          <a:ext cx="4300538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032000" imgH="482600" progId="Equation.DSMT4">
                  <p:embed/>
                </p:oleObj>
              </mc:Choice>
              <mc:Fallback>
                <p:oleObj name="Equation" r:id="rId15" imgW="2032000" imgH="482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CF2F2604-9F19-C637-A27C-767E82932E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3892027"/>
                        <a:ext cx="4300538" cy="1038225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338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3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3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3338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3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48853896-3679-3417-48BF-3F133D739B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367137"/>
              </p:ext>
            </p:extLst>
          </p:nvPr>
        </p:nvGraphicFramePr>
        <p:xfrm>
          <a:off x="1649600" y="5594119"/>
          <a:ext cx="2016224" cy="521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31900" imgH="304800" progId="Equation.DSMT4">
                  <p:embed/>
                </p:oleObj>
              </mc:Choice>
              <mc:Fallback>
                <p:oleObj name="Equation" r:id="rId3" imgW="1231900" imgH="304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600" y="5594119"/>
                        <a:ext cx="2016224" cy="52104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2D7960F3-831C-CE19-4912-1B56CCA8E185}"/>
              </a:ext>
            </a:extLst>
          </p:cNvPr>
          <p:cNvSpPr txBox="1"/>
          <p:nvPr/>
        </p:nvSpPr>
        <p:spPr>
          <a:xfrm>
            <a:off x="492398" y="5229200"/>
            <a:ext cx="8328074" cy="1649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起动时，</a:t>
            </a: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n=0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转子导体与旋转磁场相对速度等于同步速度，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转子电动势</a:t>
            </a: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       </a:t>
            </a:r>
            <a:r>
              <a:rPr lang="zh-CN" altLang="en-US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最大，起动电流很大：</a:t>
            </a:r>
            <a:endParaRPr lang="en-US" altLang="zh-CN" sz="2000" b="1" kern="10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a) </a:t>
            </a:r>
            <a:r>
              <a:rPr lang="zh-CN" altLang="en-US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导致定子绕组漏阻抗压降增大，定子有效作用电压减小，每极气隙磁通量     </a:t>
            </a:r>
            <a:r>
              <a:rPr lang="zh-CN" altLang="en-US" sz="20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下降；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4E7DCE-9CBC-E5B1-C8AC-2804B88ED607}"/>
              </a:ext>
            </a:extLst>
          </p:cNvPr>
          <p:cNvSpPr txBox="1"/>
          <p:nvPr/>
        </p:nvSpPr>
        <p:spPr>
          <a:xfrm>
            <a:off x="395536" y="101777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§</a:t>
            </a:r>
            <a:r>
              <a:rPr lang="en-US" altLang="zh-CN" sz="24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6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 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三相异步电动机的启动</a:t>
            </a:r>
            <a:endParaRPr lang="zh-CN" altLang="zh-CN" sz="16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C704D9-A60C-5384-C88B-8036FEA016DF}"/>
              </a:ext>
            </a:extLst>
          </p:cNvPr>
          <p:cNvSpPr txBox="1"/>
          <p:nvPr/>
        </p:nvSpPr>
        <p:spPr>
          <a:xfrm>
            <a:off x="683568" y="155247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一、直接启动与存在的问题</a:t>
            </a:r>
            <a:endParaRPr lang="zh-CN" altLang="zh-CN" sz="16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851EEEB-5572-B3B6-2DE1-C7CEE59ED1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707800"/>
              </p:ext>
            </p:extLst>
          </p:nvPr>
        </p:nvGraphicFramePr>
        <p:xfrm>
          <a:off x="4910518" y="1139905"/>
          <a:ext cx="4092214" cy="2212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482920" imgH="1649520" progId="">
                  <p:embed/>
                </p:oleObj>
              </mc:Choice>
              <mc:Fallback>
                <p:oleObj r:id="rId5" imgW="2482920" imgH="1649520" progId="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F8DA218-0A23-4AE2-0888-F91CDAF80F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0518" y="1139905"/>
                        <a:ext cx="4092214" cy="2212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D59C1592-7021-013C-C3CF-4F0189D873CD}"/>
              </a:ext>
            </a:extLst>
          </p:cNvPr>
          <p:cNvSpPr txBox="1"/>
          <p:nvPr/>
        </p:nvSpPr>
        <p:spPr>
          <a:xfrm>
            <a:off x="683568" y="2133046"/>
            <a:ext cx="41764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起动要求</a:t>
            </a:r>
            <a:r>
              <a:rPr lang="zh-CN" altLang="en-US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zh-CN" altLang="en-US" sz="20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高效（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转矩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大，电网冲击小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  <a:r>
              <a:rPr lang="en-US" altLang="zh-CN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zh-CN" altLang="en-US" sz="20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安全（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平滑、机械冲击小，损耗小</a:t>
            </a:r>
            <a:r>
              <a:rPr lang="zh-CN" altLang="en-US" sz="2000" b="1" kern="100" dirty="0">
                <a:latin typeface="Times New Roman" panose="02020603050405020304" pitchFamily="18" charset="0"/>
              </a:rPr>
              <a:t>；</a:t>
            </a:r>
            <a:r>
              <a:rPr lang="en-US" altLang="zh-CN" sz="2000" b="1" kern="100" dirty="0">
                <a:latin typeface="Times New Roman" panose="02020603050405020304" pitchFamily="18" charset="0"/>
              </a:rPr>
              <a:t>3</a:t>
            </a:r>
            <a:r>
              <a:rPr lang="zh-CN" altLang="en-US" sz="2000" b="1" kern="100" dirty="0">
                <a:latin typeface="Times New Roman" panose="02020603050405020304" pitchFamily="18" charset="0"/>
              </a:rPr>
              <a:t>）</a:t>
            </a:r>
            <a:r>
              <a:rPr lang="zh-CN" altLang="zh-CN" sz="20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简单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、易操作</a:t>
            </a:r>
            <a:endParaRPr lang="zh-CN" altLang="zh-CN" sz="20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DE2B1B2-6F13-BF5D-4010-D76A13320A54}"/>
              </a:ext>
            </a:extLst>
          </p:cNvPr>
          <p:cNvSpPr txBox="1"/>
          <p:nvPr/>
        </p:nvSpPr>
        <p:spPr>
          <a:xfrm>
            <a:off x="449822" y="3316239"/>
            <a:ext cx="83280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与普通工业用直流电动机不同，三相笼型允许直接</a:t>
            </a:r>
            <a:r>
              <a:rPr lang="zh-CN" altLang="zh-CN" sz="20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全压</a:t>
            </a:r>
            <a:r>
              <a:rPr lang="zh-CN" altLang="en-US" sz="20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额定频率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起动</a:t>
            </a:r>
            <a:r>
              <a:rPr lang="zh-CN" altLang="en-US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起动电流可达额定电流的</a:t>
            </a: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8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倍</a:t>
            </a:r>
            <a:r>
              <a:rPr lang="zh-CN" altLang="en-US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000" dirty="0"/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11008A17-DF44-4106-7A7F-A17BFE75FB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7061586"/>
              </p:ext>
            </p:extLst>
          </p:nvPr>
        </p:nvGraphicFramePr>
        <p:xfrm>
          <a:off x="2161707" y="4084327"/>
          <a:ext cx="3701903" cy="1144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20900" imgH="711200" progId="Equation.DSMT4">
                  <p:embed/>
                </p:oleObj>
              </mc:Choice>
              <mc:Fallback>
                <p:oleObj name="Equation" r:id="rId7" imgW="2120900" imgH="711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1707" y="4084327"/>
                        <a:ext cx="3701903" cy="114487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6ECA2FF6-0034-90E0-DEDC-DA0084BD89DA}"/>
              </a:ext>
            </a:extLst>
          </p:cNvPr>
          <p:cNvSpPr txBox="1"/>
          <p:nvPr/>
        </p:nvSpPr>
        <p:spPr>
          <a:xfrm>
            <a:off x="5668842" y="4411602"/>
            <a:ext cx="2575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8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（忽略励磁支路影响）</a:t>
            </a:r>
            <a:endParaRPr lang="zh-CN" altLang="zh-CN" sz="12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99583000-01FD-5C3E-5BB4-3D31C1E9B5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801051"/>
              </p:ext>
            </p:extLst>
          </p:nvPr>
        </p:nvGraphicFramePr>
        <p:xfrm>
          <a:off x="1115616" y="6455982"/>
          <a:ext cx="291263" cy="404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3465" imgH="216181" progId="Equation.DSMT4">
                  <p:embed/>
                </p:oleObj>
              </mc:Choice>
              <mc:Fallback>
                <p:oleObj name="Equation" r:id="rId9" imgW="203465" imgH="21618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6455982"/>
                        <a:ext cx="291263" cy="404089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6A90F81-7704-AE4E-B958-ECF23298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25230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C5D4BD59-D5CE-9D01-9B6F-AD629130339B}"/>
              </a:ext>
            </a:extLst>
          </p:cNvPr>
          <p:cNvSpPr txBox="1"/>
          <p:nvPr/>
        </p:nvSpPr>
        <p:spPr>
          <a:xfrm>
            <a:off x="611560" y="4130821"/>
            <a:ext cx="80212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                                                                                          </a:t>
            </a:r>
            <a:r>
              <a:rPr lang="en-US" altLang="zh-CN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zh-CN" altLang="en-US" sz="20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定子绕组为</a:t>
            </a: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联接。</a:t>
            </a:r>
            <a:endParaRPr lang="zh-CN" altLang="zh-CN" sz="14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84B5133E-9477-3514-EA78-4CA67F0E34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65435"/>
              </p:ext>
            </p:extLst>
          </p:nvPr>
        </p:nvGraphicFramePr>
        <p:xfrm>
          <a:off x="894993" y="1157202"/>
          <a:ext cx="2275656" cy="7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0300" imgH="355600" progId="Equation.DSMT4">
                  <p:embed/>
                </p:oleObj>
              </mc:Choice>
              <mc:Fallback>
                <p:oleObj name="Equation" r:id="rId3" imgW="1130300" imgH="35560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84B5133E-9477-3514-EA78-4CA67F0E34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993" y="1157202"/>
                        <a:ext cx="2275656" cy="71606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1C7B66C-8E05-4B6B-1F7B-64F385B42B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073010"/>
              </p:ext>
            </p:extLst>
          </p:nvPr>
        </p:nvGraphicFramePr>
        <p:xfrm>
          <a:off x="4079439" y="1215630"/>
          <a:ext cx="4392488" cy="641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5827" imgH="279521" progId="Equation.DSMT4">
                  <p:embed/>
                </p:oleObj>
              </mc:Choice>
              <mc:Fallback>
                <p:oleObj name="Equation" r:id="rId5" imgW="1905827" imgH="279521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439" y="1215630"/>
                        <a:ext cx="4392488" cy="64104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箭头: 右 4">
            <a:extLst>
              <a:ext uri="{FF2B5EF4-FFF2-40B4-BE49-F238E27FC236}">
                <a16:creationId xmlns:a16="http://schemas.microsoft.com/office/drawing/2014/main" id="{A1F92BA7-0530-DE51-FE07-C52B0D8CEBDC}"/>
              </a:ext>
            </a:extLst>
          </p:cNvPr>
          <p:cNvSpPr/>
          <p:nvPr/>
        </p:nvSpPr>
        <p:spPr>
          <a:xfrm>
            <a:off x="3347864" y="1412776"/>
            <a:ext cx="525760" cy="246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8CD171-3684-D758-3A9F-72F36F66018F}"/>
              </a:ext>
            </a:extLst>
          </p:cNvPr>
          <p:cNvSpPr txBox="1"/>
          <p:nvPr/>
        </p:nvSpPr>
        <p:spPr>
          <a:xfrm>
            <a:off x="611560" y="1988840"/>
            <a:ext cx="6480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b) </a:t>
            </a: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s=1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，转子侧</a:t>
            </a:r>
            <a:r>
              <a:rPr lang="zh-CN" altLang="zh-CN" sz="20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功率因数低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0.3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左右）</a:t>
            </a: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起动转矩不大：</a:t>
            </a:r>
            <a:endParaRPr lang="zh-CN" altLang="zh-CN" sz="20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E6BAF27-3161-4527-E4C2-44DB4D1569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478540"/>
              </p:ext>
            </p:extLst>
          </p:nvPr>
        </p:nvGraphicFramePr>
        <p:xfrm>
          <a:off x="894993" y="2420888"/>
          <a:ext cx="4253071" cy="1195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09800" imgH="622300" progId="Equation.DSMT4">
                  <p:embed/>
                </p:oleObj>
              </mc:Choice>
              <mc:Fallback>
                <p:oleObj name="Equation" r:id="rId7" imgW="2209800" imgH="622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993" y="2420888"/>
                        <a:ext cx="4253071" cy="119538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45908AE-EB7D-0FC2-D1D6-1AC91E700E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3139729"/>
              </p:ext>
            </p:extLst>
          </p:nvPr>
        </p:nvGraphicFramePr>
        <p:xfrm>
          <a:off x="5404915" y="2607616"/>
          <a:ext cx="2695478" cy="872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4000" imgH="495300" progId="Equation.DSMT4">
                  <p:embed/>
                </p:oleObj>
              </mc:Choice>
              <mc:Fallback>
                <p:oleObj name="Equation" r:id="rId9" imgW="1524000" imgH="495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4915" y="2607616"/>
                        <a:ext cx="2695478" cy="87232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0">
            <a:extLst>
              <a:ext uri="{FF2B5EF4-FFF2-40B4-BE49-F238E27FC236}">
                <a16:creationId xmlns:a16="http://schemas.microsoft.com/office/drawing/2014/main" id="{C607B4A9-EAF9-7552-939B-674D2AFAD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3789040"/>
            <a:ext cx="43973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6-1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：一台三相异步电动机参数为：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对象 19">
                <a:extLst>
                  <a:ext uri="{FF2B5EF4-FFF2-40B4-BE49-F238E27FC236}">
                    <a16:creationId xmlns:a16="http://schemas.microsoft.com/office/drawing/2014/main" id="{FBC72AB1-086F-4F26-B22B-DBB23D9BE8F5}"/>
                  </a:ext>
                </a:extLst>
              </p:cNvPr>
              <p:cNvSpPr txBox="1"/>
              <p:nvPr/>
            </p:nvSpPr>
            <p:spPr bwMode="auto">
              <a:xfrm>
                <a:off x="4643438" y="3811588"/>
                <a:ext cx="4060825" cy="35560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3.7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𝐾𝑊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=380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=1452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𝑟𝑝𝑚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对象 19">
                <a:extLst>
                  <a:ext uri="{FF2B5EF4-FFF2-40B4-BE49-F238E27FC236}">
                    <a16:creationId xmlns:a16="http://schemas.microsoft.com/office/drawing/2014/main" id="{FBC72AB1-086F-4F26-B22B-DBB23D9BE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3438" y="3811588"/>
                <a:ext cx="4060825" cy="355600"/>
              </a:xfrm>
              <a:prstGeom prst="rect">
                <a:avLst/>
              </a:prstGeom>
              <a:blipFill>
                <a:blip r:embed="rId11"/>
                <a:stretch>
                  <a:fillRect b="-10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B7199AFF-2750-64C5-EA79-8424E0BE70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039305"/>
              </p:ext>
            </p:extLst>
          </p:nvPr>
        </p:nvGraphicFramePr>
        <p:xfrm>
          <a:off x="683568" y="4121335"/>
          <a:ext cx="69786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49560" imgH="215640" progId="Equation.DSMT4">
                  <p:embed/>
                </p:oleObj>
              </mc:Choice>
              <mc:Fallback>
                <p:oleObj name="Equation" r:id="rId12" imgW="3949560" imgH="21564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FBC72AB1-086F-4F26-B22B-DBB23D9BE8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4121335"/>
                        <a:ext cx="6978650" cy="377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12">
            <a:extLst>
              <a:ext uri="{FF2B5EF4-FFF2-40B4-BE49-F238E27FC236}">
                <a16:creationId xmlns:a16="http://schemas.microsoft.com/office/drawing/2014/main" id="{CB3FC06D-4BD7-D1F9-D6A8-8C4D49602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283" y="4806795"/>
            <a:ext cx="247264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、额定转差率：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35260320-911A-ED35-5DF2-6EB8ECEC38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638371"/>
              </p:ext>
            </p:extLst>
          </p:nvPr>
        </p:nvGraphicFramePr>
        <p:xfrm>
          <a:off x="2590857" y="4668189"/>
          <a:ext cx="3639806" cy="707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35200" imgH="431800" progId="Equation.DSMT4">
                  <p:embed/>
                </p:oleObj>
              </mc:Choice>
              <mc:Fallback>
                <p:oleObj name="Equation" r:id="rId14" imgW="2235200" imgH="431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57" y="4668189"/>
                        <a:ext cx="3639806" cy="7075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15">
            <a:extLst>
              <a:ext uri="{FF2B5EF4-FFF2-40B4-BE49-F238E27FC236}">
                <a16:creationId xmlns:a16="http://schemas.microsoft.com/office/drawing/2014/main" id="{308A0B9D-CDB4-4CEA-F606-754324AD0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53" y="5301208"/>
            <a:ext cx="67649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、忽略励磁支路时，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转子额定电流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（等值电路为一相）：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ED5768DE-A031-D4DF-3035-F257C509BE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243001"/>
              </p:ext>
            </p:extLst>
          </p:nvPr>
        </p:nvGraphicFramePr>
        <p:xfrm>
          <a:off x="998588" y="5661248"/>
          <a:ext cx="6912768" cy="1077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190760" imgH="647640" progId="Equation.DSMT4">
                  <p:embed/>
                </p:oleObj>
              </mc:Choice>
              <mc:Fallback>
                <p:oleObj name="Equation" r:id="rId16" imgW="4190760" imgH="6476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588" y="5661248"/>
                        <a:ext cx="6912768" cy="10772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8D098AB-8B19-451B-0E27-49B76535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9606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AB255C3-E798-AC49-8468-2B5D76361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1" y="1048576"/>
            <a:ext cx="252028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lang="en-US" altLang="zh-CN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转子起动电流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B61F131-14FE-CE01-4405-7931199A69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8023673"/>
              </p:ext>
            </p:extLst>
          </p:nvPr>
        </p:nvGraphicFramePr>
        <p:xfrm>
          <a:off x="1259632" y="1415512"/>
          <a:ext cx="7128792" cy="1094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00320" imgH="609480" progId="Equation.DSMT4">
                  <p:embed/>
                </p:oleObj>
              </mc:Choice>
              <mc:Fallback>
                <p:oleObj name="Equation" r:id="rId3" imgW="4000320" imgH="6094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415512"/>
                        <a:ext cx="7128792" cy="10947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9EA825A9-F8D4-DB7A-66A5-CE658A432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49" y="2640304"/>
            <a:ext cx="26356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转子额定功率因数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C1A003B-3CDE-1C55-7657-AD9FA42BBA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3115826"/>
              </p:ext>
            </p:extLst>
          </p:nvPr>
        </p:nvGraphicFramePr>
        <p:xfrm>
          <a:off x="1589020" y="3041021"/>
          <a:ext cx="6192688" cy="897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56013" imgH="533169" progId="Equation.DSMT4">
                  <p:embed/>
                </p:oleObj>
              </mc:Choice>
              <mc:Fallback>
                <p:oleObj name="Equation" r:id="rId5" imgW="3656013" imgH="53316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020" y="3041021"/>
                        <a:ext cx="6192688" cy="8977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>
            <a:extLst>
              <a:ext uri="{FF2B5EF4-FFF2-40B4-BE49-F238E27FC236}">
                <a16:creationId xmlns:a16="http://schemas.microsoft.com/office/drawing/2014/main" id="{70439927-6281-F5A8-13D5-8315D0431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1" y="4005064"/>
            <a:ext cx="26356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转子起动功率因数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5E8DF86-A0F0-91C0-7524-D6B5EE6F0C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099954"/>
              </p:ext>
            </p:extLst>
          </p:nvPr>
        </p:nvGraphicFramePr>
        <p:xfrm>
          <a:off x="1945378" y="4293096"/>
          <a:ext cx="5479973" cy="879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46678" imgH="495085" progId="Equation.DSMT4">
                  <p:embed/>
                </p:oleObj>
              </mc:Choice>
              <mc:Fallback>
                <p:oleObj name="Equation" r:id="rId7" imgW="3046678" imgH="49508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5378" y="4293096"/>
                        <a:ext cx="5479973" cy="8792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8">
            <a:extLst>
              <a:ext uri="{FF2B5EF4-FFF2-40B4-BE49-F238E27FC236}">
                <a16:creationId xmlns:a16="http://schemas.microsoft.com/office/drawing/2014/main" id="{C2374E94-D30A-4699-2111-853F55AEB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0" y="5117122"/>
            <a:ext cx="16033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额定转矩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FF3343D6-3352-7B42-CBDF-30D6E12AB1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104840"/>
              </p:ext>
            </p:extLst>
          </p:nvPr>
        </p:nvGraphicFramePr>
        <p:xfrm>
          <a:off x="1259632" y="5428506"/>
          <a:ext cx="7026275" cy="131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848040" imgH="723600" progId="Equation.DSMT4">
                  <p:embed/>
                </p:oleObj>
              </mc:Choice>
              <mc:Fallback>
                <p:oleObj name="Equation" r:id="rId9" imgW="3848040" imgH="723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5428506"/>
                        <a:ext cx="7026275" cy="13128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1CB60A9-A97E-139A-8FF5-087C02BE0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7982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D19769-B827-4079-0FAC-CF4C64F80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958075"/>
            <a:ext cx="16033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起动转矩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35C07EA-E03C-6868-C355-60FBBFB6D0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868215"/>
              </p:ext>
            </p:extLst>
          </p:nvPr>
        </p:nvGraphicFramePr>
        <p:xfrm>
          <a:off x="1331640" y="958075"/>
          <a:ext cx="6564312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68680" imgH="723600" progId="Equation.DSMT4">
                  <p:embed/>
                </p:oleObj>
              </mc:Choice>
              <mc:Fallback>
                <p:oleObj name="Equation" r:id="rId3" imgW="3568680" imgH="723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958075"/>
                        <a:ext cx="6564312" cy="1346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>
            <a:extLst>
              <a:ext uri="{FF2B5EF4-FFF2-40B4-BE49-F238E27FC236}">
                <a16:creationId xmlns:a16="http://schemas.microsoft.com/office/drawing/2014/main" id="{1DD7B632-7B64-6824-85BF-A6DBBE5C5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95" y="2156256"/>
            <a:ext cx="18614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kumimoji="0" lang="zh-CN" altLang="en-US" sz="20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、临界转差率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8292074-64C3-96BF-5452-73D683C35D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908129"/>
              </p:ext>
            </p:extLst>
          </p:nvPr>
        </p:nvGraphicFramePr>
        <p:xfrm>
          <a:off x="1835697" y="2411504"/>
          <a:ext cx="554461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64040" imgH="520474" progId="Equation.DSMT4">
                  <p:embed/>
                </p:oleObj>
              </mc:Choice>
              <mc:Fallback>
                <p:oleObj name="Equation" r:id="rId5" imgW="3364040" imgH="52047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7" y="2411504"/>
                        <a:ext cx="5544615" cy="8651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6">
            <a:extLst>
              <a:ext uri="{FF2B5EF4-FFF2-40B4-BE49-F238E27FC236}">
                <a16:creationId xmlns:a16="http://schemas.microsoft.com/office/drawing/2014/main" id="{2756487B-63DF-2266-4578-AD9D89B54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94" y="3349734"/>
            <a:ext cx="19191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最大转矩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04039F2-58BD-F01D-AA2A-0B420AFA8B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661318"/>
              </p:ext>
            </p:extLst>
          </p:nvPr>
        </p:nvGraphicFramePr>
        <p:xfrm>
          <a:off x="287524" y="3749844"/>
          <a:ext cx="8568952" cy="907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902120" imgH="520560" progId="Equation.DSMT4">
                  <p:embed/>
                </p:oleObj>
              </mc:Choice>
              <mc:Fallback>
                <p:oleObj name="Equation" r:id="rId7" imgW="4902120" imgH="520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24" y="3749844"/>
                        <a:ext cx="8568952" cy="9076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7935A25-80DA-6A4E-A8FA-82D967FCA8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088038"/>
              </p:ext>
            </p:extLst>
          </p:nvPr>
        </p:nvGraphicFramePr>
        <p:xfrm>
          <a:off x="1115616" y="5015946"/>
          <a:ext cx="7069719" cy="488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025900" imgH="279400" progId="Equation.DSMT4">
                  <p:embed/>
                </p:oleObj>
              </mc:Choice>
              <mc:Fallback>
                <p:oleObj name="Equation" r:id="rId9" imgW="4025900" imgH="279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5015946"/>
                        <a:ext cx="7069719" cy="4880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612E2ED2-9FE5-10E3-B9BB-B9903120BF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638639"/>
              </p:ext>
            </p:extLst>
          </p:nvPr>
        </p:nvGraphicFramePr>
        <p:xfrm>
          <a:off x="1115616" y="5513365"/>
          <a:ext cx="7466094" cy="517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937000" imgH="279400" progId="Equation.DSMT4">
                  <p:embed/>
                </p:oleObj>
              </mc:Choice>
              <mc:Fallback>
                <p:oleObj name="Equation" r:id="rId11" imgW="3937000" imgH="279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5513365"/>
                        <a:ext cx="7466094" cy="5172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9">
            <a:extLst>
              <a:ext uri="{FF2B5EF4-FFF2-40B4-BE49-F238E27FC236}">
                <a16:creationId xmlns:a16="http://schemas.microsoft.com/office/drawing/2014/main" id="{523962B0-27E9-015A-107C-8FEF32303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641" y="4648004"/>
            <a:ext cx="326589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起动电流对磁通的影响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B02D2888-63B8-2FC9-9B95-DF6CE5B12A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684605"/>
              </p:ext>
            </p:extLst>
          </p:nvPr>
        </p:nvGraphicFramePr>
        <p:xfrm>
          <a:off x="1142150" y="6141503"/>
          <a:ext cx="2272569" cy="427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32435" imgH="228699" progId="Equation.DSMT4">
                  <p:embed/>
                </p:oleObj>
              </mc:Choice>
              <mc:Fallback>
                <p:oleObj name="Equation" r:id="rId13" imgW="1232435" imgH="228699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2150" y="6141503"/>
                        <a:ext cx="2272569" cy="4277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CBA98889-F9EC-8DC3-0845-59A0918F7E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059942"/>
              </p:ext>
            </p:extLst>
          </p:nvPr>
        </p:nvGraphicFramePr>
        <p:xfrm>
          <a:off x="4201269" y="5962056"/>
          <a:ext cx="2664296" cy="76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74800" imgH="444500" progId="Equation.DSMT4">
                  <p:embed/>
                </p:oleObj>
              </mc:Choice>
              <mc:Fallback>
                <p:oleObj name="Equation" r:id="rId15" imgW="1574800" imgH="4445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1269" y="5962056"/>
                        <a:ext cx="2664296" cy="7603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箭头: 右 24">
            <a:extLst>
              <a:ext uri="{FF2B5EF4-FFF2-40B4-BE49-F238E27FC236}">
                <a16:creationId xmlns:a16="http://schemas.microsoft.com/office/drawing/2014/main" id="{929E1C07-5FA2-E989-35CC-9E8CCAA928A8}"/>
              </a:ext>
            </a:extLst>
          </p:cNvPr>
          <p:cNvSpPr/>
          <p:nvPr/>
        </p:nvSpPr>
        <p:spPr>
          <a:xfrm>
            <a:off x="3589114" y="6278120"/>
            <a:ext cx="504056" cy="225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E9C036-0055-A8B7-7EFD-CE51C0484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9155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BFA92EDA-A384-CF77-40C3-F45BCA595E99}"/>
              </a:ext>
            </a:extLst>
          </p:cNvPr>
          <p:cNvSpPr txBox="1"/>
          <p:nvPr/>
        </p:nvSpPr>
        <p:spPr>
          <a:xfrm>
            <a:off x="611559" y="2326228"/>
            <a:ext cx="837679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结论</a:t>
            </a:r>
            <a:r>
              <a:rPr lang="zh-CN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三相异步电动机直接起动</a:t>
            </a:r>
            <a:r>
              <a:rPr lang="en-US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                              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时，起动电流很大，但受</a:t>
            </a: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每极磁</a:t>
            </a:r>
            <a:r>
              <a:rPr lang="en-US" altLang="zh-CN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                             </a:t>
            </a: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通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较低和</a:t>
            </a: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功率因数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较低的</a:t>
            </a: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共同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影</a:t>
            </a:r>
            <a:r>
              <a:rPr lang="en-US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                              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响，起动转矩却不大</a:t>
            </a:r>
            <a:r>
              <a:rPr lang="zh-CN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短时大电流冲击，笼型转子可承</a:t>
            </a:r>
            <a:r>
              <a:rPr lang="en-US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                              </a:t>
            </a:r>
            <a:r>
              <a:rPr lang="zh-CN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受，但对电源产生冲击，起动过</a:t>
            </a:r>
            <a:r>
              <a:rPr lang="en-US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                              </a:t>
            </a:r>
            <a:r>
              <a:rPr lang="zh-CN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频繁电机会过热；起动转矩小，会使起动时间拖长，负载重时可能不能起动。</a:t>
            </a:r>
            <a:endParaRPr lang="en-US" altLang="zh-CN" sz="2400" b="1" kern="100" dirty="0">
              <a:solidFill>
                <a:srgbClr val="FF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C02DC4-DA75-D695-C529-69AE598DC699}"/>
              </a:ext>
            </a:extLst>
          </p:cNvPr>
          <p:cNvSpPr txBox="1"/>
          <p:nvPr/>
        </p:nvSpPr>
        <p:spPr>
          <a:xfrm>
            <a:off x="611560" y="1052736"/>
            <a:ext cx="79208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上</a:t>
            </a:r>
            <a:r>
              <a:rPr lang="zh-CN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例说明，虽然三相异步电动机起动时转子电流高达其额定工作时的</a:t>
            </a:r>
            <a:r>
              <a:rPr lang="en-US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lang="zh-CN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倍以上，所产生的起动转矩却小于额定转矩</a:t>
            </a:r>
            <a:r>
              <a:rPr lang="zh-CN" altLang="en-US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zh-CN" sz="16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A97296E-9A2C-3347-7ACD-C5A5EC44BC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816470"/>
              </p:ext>
            </p:extLst>
          </p:nvPr>
        </p:nvGraphicFramePr>
        <p:xfrm>
          <a:off x="5076056" y="2253065"/>
          <a:ext cx="3624263" cy="225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106613" imgH="1319213" progId="MSDraw">
                  <p:embed/>
                </p:oleObj>
              </mc:Choice>
              <mc:Fallback>
                <p:oleObj r:id="rId3" imgW="2106613" imgH="1319213" progId="MSDraw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2253065"/>
                        <a:ext cx="3624263" cy="225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DFD5BA30-3E42-27FB-402C-45AF6CCAEC59}"/>
              </a:ext>
            </a:extLst>
          </p:cNvPr>
          <p:cNvSpPr txBox="1"/>
          <p:nvPr/>
        </p:nvSpPr>
        <p:spPr>
          <a:xfrm>
            <a:off x="611559" y="5445224"/>
            <a:ext cx="79039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直接起动适用范围：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非频繁、负载较轻、电源相对电机容量足够大。</a:t>
            </a:r>
            <a:endParaRPr lang="zh-CN" altLang="zh-CN" sz="2400" b="1" kern="1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B284BC8-2E75-2744-CA9E-631048FE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1701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9C704D9-A60C-5384-C88B-8036FEA016DF}"/>
              </a:ext>
            </a:extLst>
          </p:cNvPr>
          <p:cNvSpPr txBox="1"/>
          <p:nvPr/>
        </p:nvSpPr>
        <p:spPr>
          <a:xfrm>
            <a:off x="467544" y="1052736"/>
            <a:ext cx="6696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二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zh-CN" altLang="en-US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绕线转子三相异步电动机的启动</a:t>
            </a:r>
            <a:endParaRPr lang="zh-CN" altLang="zh-CN" sz="16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044352-4CAB-856F-B8EA-4D1B6CEC0A74}"/>
              </a:ext>
            </a:extLst>
          </p:cNvPr>
          <p:cNvSpPr txBox="1"/>
          <p:nvPr/>
        </p:nvSpPr>
        <p:spPr>
          <a:xfrm>
            <a:off x="683568" y="1615081"/>
            <a:ext cx="691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对策要求：</a:t>
            </a:r>
            <a:r>
              <a:rPr lang="en-US" altLang="zh-CN" sz="24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zh-CN" sz="24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、增大起动转矩</a:t>
            </a:r>
            <a:r>
              <a:rPr lang="en-US" altLang="zh-CN" sz="2400" b="1" kern="100" dirty="0">
                <a:solidFill>
                  <a:srgbClr val="C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24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zh-CN" sz="24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、减小起动电流</a:t>
            </a:r>
            <a:endParaRPr lang="zh-CN" altLang="zh-CN" sz="2400" b="1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833C27-E932-6099-4B22-31288DFC3AE4}"/>
              </a:ext>
            </a:extLst>
          </p:cNvPr>
          <p:cNvSpPr txBox="1"/>
          <p:nvPr/>
        </p:nvSpPr>
        <p:spPr>
          <a:xfrm>
            <a:off x="709418" y="2103239"/>
            <a:ext cx="17023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对策分析：</a:t>
            </a:r>
            <a:endParaRPr lang="zh-CN" altLang="zh-CN" sz="16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E5E77FE-C08D-73F8-A055-C480081E00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9736879"/>
              </p:ext>
            </p:extLst>
          </p:nvPr>
        </p:nvGraphicFramePr>
        <p:xfrm>
          <a:off x="970723" y="2543104"/>
          <a:ext cx="7561718" cy="1279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24153" imgH="672808" progId="Equation.DSMT4">
                  <p:embed/>
                </p:oleObj>
              </mc:Choice>
              <mc:Fallback>
                <p:oleObj name="Equation" r:id="rId3" imgW="4024153" imgH="672808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0723" y="2543104"/>
                        <a:ext cx="7561718" cy="12790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>
            <a:extLst>
              <a:ext uri="{FF2B5EF4-FFF2-40B4-BE49-F238E27FC236}">
                <a16:creationId xmlns:a16="http://schemas.microsoft.com/office/drawing/2014/main" id="{36A66370-2641-F5F5-B9C7-37EF8BAFF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7" y="3822139"/>
            <a:ext cx="777686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由上式可知，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起动时增大转子绕组电阻   ，可减小起动电流；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0DDB6DB-CFCC-111F-DA1C-D9DE4FA95A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818357"/>
              </p:ext>
            </p:extLst>
          </p:nvPr>
        </p:nvGraphicFramePr>
        <p:xfrm>
          <a:off x="6732240" y="3887750"/>
          <a:ext cx="3524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5909" imgH="419464" progId="Equation.DSMT4">
                  <p:embed/>
                </p:oleObj>
              </mc:Choice>
              <mc:Fallback>
                <p:oleObj name="Equation" r:id="rId5" imgW="355909" imgH="41946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240" y="3887750"/>
                        <a:ext cx="352425" cy="4191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C1FF293-1D81-CE55-270C-CDD4F8CE9F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380486"/>
              </p:ext>
            </p:extLst>
          </p:nvPr>
        </p:nvGraphicFramePr>
        <p:xfrm>
          <a:off x="2521784" y="4602501"/>
          <a:ext cx="4100431" cy="970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89400" imgH="977900" progId="Equation.DSMT4">
                  <p:embed/>
                </p:oleObj>
              </mc:Choice>
              <mc:Fallback>
                <p:oleObj name="Equation" r:id="rId7" imgW="4089400" imgH="9779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1784" y="4602501"/>
                        <a:ext cx="4100431" cy="9705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C455FAF9-8199-AD06-874A-A7A789D9E255}"/>
              </a:ext>
            </a:extLst>
          </p:cNvPr>
          <p:cNvSpPr txBox="1"/>
          <p:nvPr/>
        </p:nvSpPr>
        <p:spPr>
          <a:xfrm>
            <a:off x="755578" y="5694347"/>
            <a:ext cx="77768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由上式可知，</a:t>
            </a:r>
            <a:r>
              <a:rPr lang="zh-CN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最大电磁转矩与转子绕组电阻大小无关，增大转子绕组电阻不影响最大电磁转矩；</a:t>
            </a:r>
            <a:endParaRPr lang="zh-CN" altLang="zh-CN" sz="24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A85B6A0-5696-16B2-880A-1B926DA7A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5368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DAC2E00-B10B-BDFA-209D-FCA75167E0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3428486"/>
              </p:ext>
            </p:extLst>
          </p:nvPr>
        </p:nvGraphicFramePr>
        <p:xfrm>
          <a:off x="2483768" y="949379"/>
          <a:ext cx="2808312" cy="96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49400" imgH="533400" progId="Equation.DSMT4">
                  <p:embed/>
                </p:oleObj>
              </mc:Choice>
              <mc:Fallback>
                <p:oleObj name="Equation" r:id="rId3" imgW="1549400" imgH="533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949379"/>
                        <a:ext cx="2808312" cy="967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CACFA78-B28C-0B6D-ABC6-58E9D5294028}"/>
              </a:ext>
            </a:extLst>
          </p:cNvPr>
          <p:cNvSpPr txBox="1"/>
          <p:nvPr/>
        </p:nvSpPr>
        <p:spPr>
          <a:xfrm>
            <a:off x="683568" y="1149281"/>
            <a:ext cx="7776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临界转差率</a:t>
            </a:r>
            <a:r>
              <a:rPr lang="en-US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                 </a:t>
            </a:r>
            <a:r>
              <a:rPr lang="zh-CN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与转子绕组电阻成正比；</a:t>
            </a:r>
            <a:endParaRPr lang="zh-CN" altLang="zh-CN" sz="16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F875933-F839-D37F-1931-C63B196B42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342288"/>
              </p:ext>
            </p:extLst>
          </p:nvPr>
        </p:nvGraphicFramePr>
        <p:xfrm>
          <a:off x="2123728" y="1916832"/>
          <a:ext cx="1296144" cy="839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48263" imgH="419464" progId="Equation.DSMT4">
                  <p:embed/>
                </p:oleObj>
              </mc:Choice>
              <mc:Fallback>
                <p:oleObj name="Equation" r:id="rId5" imgW="648263" imgH="41946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1916832"/>
                        <a:ext cx="1296144" cy="8396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EEF4994A-A901-3335-842E-3745C0C0C174}"/>
              </a:ext>
            </a:extLst>
          </p:cNvPr>
          <p:cNvSpPr txBox="1"/>
          <p:nvPr/>
        </p:nvSpPr>
        <p:spPr>
          <a:xfrm>
            <a:off x="755576" y="2088990"/>
            <a:ext cx="7776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同步转速</a:t>
            </a:r>
            <a:r>
              <a:rPr lang="en-US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</a:t>
            </a:r>
            <a:r>
              <a:rPr lang="zh-CN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与转子绕组电阻无关。</a:t>
            </a:r>
            <a:endParaRPr lang="zh-CN" altLang="zh-CN" sz="16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C0086CD-BA9C-75EC-5F67-E439FC3CE4AB}"/>
              </a:ext>
            </a:extLst>
          </p:cNvPr>
          <p:cNvSpPr txBox="1"/>
          <p:nvPr/>
        </p:nvSpPr>
        <p:spPr>
          <a:xfrm>
            <a:off x="707164" y="2742019"/>
            <a:ext cx="78252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结论：如果能在转子回路串入附加电阻使临界转差率＝</a:t>
            </a:r>
            <a:r>
              <a:rPr lang="en-US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，则可达到即减小起动电流又获得最大起动转矩的目的。</a:t>
            </a:r>
            <a:endParaRPr lang="zh-CN" altLang="zh-CN" sz="1600" b="1" kern="1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EB2373C2-C913-0937-9A6C-0820EF4CFD65}"/>
              </a:ext>
            </a:extLst>
          </p:cNvPr>
          <p:cNvSpPr/>
          <p:nvPr/>
        </p:nvSpPr>
        <p:spPr>
          <a:xfrm>
            <a:off x="323528" y="2843412"/>
            <a:ext cx="360040" cy="3563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861A4376-4BBF-8C59-79DD-CA1255889B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09045"/>
              </p:ext>
            </p:extLst>
          </p:nvPr>
        </p:nvGraphicFramePr>
        <p:xfrm>
          <a:off x="899592" y="3681728"/>
          <a:ext cx="4680520" cy="2922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254250" imgH="1414463" progId="MSDraw">
                  <p:embed/>
                </p:oleObj>
              </mc:Choice>
              <mc:Fallback>
                <p:oleObj r:id="rId7" imgW="2254250" imgH="1414463" progId="MSDraw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681728"/>
                        <a:ext cx="4680520" cy="29226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99466C3A-48BE-C86B-FFD9-7DF61B32B2C4}"/>
              </a:ext>
            </a:extLst>
          </p:cNvPr>
          <p:cNvSpPr txBox="1"/>
          <p:nvPr/>
        </p:nvSpPr>
        <p:spPr>
          <a:xfrm>
            <a:off x="5508104" y="4379620"/>
            <a:ext cx="3024336" cy="1938992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应用前提：转子回路能串入电阻</a:t>
            </a:r>
            <a:endParaRPr lang="zh-CN" altLang="zh-CN" sz="2400" b="1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24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适用对象：绕线转子异步电动机</a:t>
            </a:r>
            <a:r>
              <a:rPr lang="zh-CN" altLang="en-US" sz="24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，笼型异步电动机不适用</a:t>
            </a:r>
            <a:endParaRPr lang="zh-CN" altLang="zh-CN" sz="2400" b="1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005277FC-8F02-7DE0-EF4C-CC5B7674C335}"/>
              </a:ext>
            </a:extLst>
          </p:cNvPr>
          <p:cNvSpPr/>
          <p:nvPr/>
        </p:nvSpPr>
        <p:spPr>
          <a:xfrm>
            <a:off x="4586829" y="4982644"/>
            <a:ext cx="576064" cy="3636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100CDCD-2587-1740-AF2E-045202AB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8255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8A906536-44A4-BDC5-582D-EBDE54C8F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980728"/>
            <a:ext cx="8352928" cy="9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例如上例中若可使起动时转子电阻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   ,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则可在起动电流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(30A)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降为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20.5A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的情况下以最大电磁转矩起动。</a:t>
            </a:r>
            <a:endParaRPr kumimoji="0" lang="zh-CN" altLang="en-US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B235468-D403-A1E6-ED03-72B45A6E93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134372"/>
              </p:ext>
            </p:extLst>
          </p:nvPr>
        </p:nvGraphicFramePr>
        <p:xfrm>
          <a:off x="4716016" y="1044799"/>
          <a:ext cx="3672408" cy="435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49700" imgH="469900" progId="Equation.DSMT4">
                  <p:embed/>
                </p:oleObj>
              </mc:Choice>
              <mc:Fallback>
                <p:oleObj name="Equation" r:id="rId3" imgW="3949700" imgH="469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1044799"/>
                        <a:ext cx="3672408" cy="4353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BAF9888-FD3B-5870-2362-991FCF717C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945027"/>
              </p:ext>
            </p:extLst>
          </p:nvPr>
        </p:nvGraphicFramePr>
        <p:xfrm>
          <a:off x="936997" y="1844824"/>
          <a:ext cx="7558038" cy="1421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40000" imgH="774360" progId="Equation.DSMT4">
                  <p:embed/>
                </p:oleObj>
              </mc:Choice>
              <mc:Fallback>
                <p:oleObj name="Equation" r:id="rId5" imgW="4140000" imgH="7743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997" y="1844824"/>
                        <a:ext cx="7558038" cy="14218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7C2769E-D435-5EE2-567A-EB6496340A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554249"/>
              </p:ext>
            </p:extLst>
          </p:nvPr>
        </p:nvGraphicFramePr>
        <p:xfrm>
          <a:off x="1835696" y="3172728"/>
          <a:ext cx="5217055" cy="835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85920" imgH="495000" progId="Equation.DSMT4">
                  <p:embed/>
                </p:oleObj>
              </mc:Choice>
              <mc:Fallback>
                <p:oleObj name="Equation" r:id="rId7" imgW="3085920" imgH="4950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172728"/>
                        <a:ext cx="5217055" cy="8352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168E0C12-E232-9392-4357-DBFA2C19E227}"/>
              </a:ext>
            </a:extLst>
          </p:cNvPr>
          <p:cNvSpPr txBox="1"/>
          <p:nvPr/>
        </p:nvSpPr>
        <p:spPr>
          <a:xfrm>
            <a:off x="467544" y="4104546"/>
            <a:ext cx="828092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2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     因此，</a:t>
            </a:r>
            <a:r>
              <a:rPr lang="zh-CN" altLang="en-US" sz="22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串附加电阻启动既可减小启动电流又可增大启动转矩</a:t>
            </a:r>
            <a:r>
              <a:rPr lang="zh-CN" altLang="en-US" sz="22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，曾经是绕线式异步电机普遍采用的启动方案；但是这个方式毕竟</a:t>
            </a:r>
            <a:r>
              <a:rPr lang="zh-CN" altLang="en-US" sz="2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增大了能耗</a:t>
            </a:r>
            <a:r>
              <a:rPr lang="zh-CN" altLang="en-US" sz="22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，且需要逐级切换，</a:t>
            </a:r>
            <a:r>
              <a:rPr lang="zh-CN" altLang="en-US" sz="2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增大设备控制复杂性和可靠性隐患</a:t>
            </a:r>
            <a:r>
              <a:rPr lang="zh-CN" altLang="en-US" sz="22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。除此之外，还可以</a:t>
            </a:r>
            <a:r>
              <a:rPr lang="zh-CN" altLang="en-US" sz="22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串入</a:t>
            </a:r>
            <a:r>
              <a:rPr lang="zh-CN" altLang="en-US" sz="22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频敏变阻器</a:t>
            </a:r>
            <a:r>
              <a:rPr lang="zh-CN" altLang="en-US" sz="22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的启动策略，利用铁磁材料中涡流损耗与励磁电流频率的平方成正比，启动时阻抗大，随着速度升高，阻抗逐渐减小。</a:t>
            </a:r>
            <a:endParaRPr lang="zh-CN" altLang="zh-CN" sz="2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10FEBCE-FE78-4040-984B-1FF689DB3A87}"/>
              </a:ext>
            </a:extLst>
          </p:cNvPr>
          <p:cNvSpPr txBox="1"/>
          <p:nvPr/>
        </p:nvSpPr>
        <p:spPr>
          <a:xfrm>
            <a:off x="936997" y="6214792"/>
            <a:ext cx="63752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现代交流电机矢量控制技术</a:t>
            </a:r>
            <a:r>
              <a:rPr lang="en-US" altLang="zh-CN" sz="22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lang="zh-CN" altLang="en-US" sz="22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降压降频启动</a:t>
            </a:r>
            <a:endParaRPr lang="zh-CN" altLang="en-US" sz="22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AF719D-5C43-EC9B-127C-69FC660D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0292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893AB72-EC45-C632-D9BA-405734C13A88}"/>
              </a:ext>
            </a:extLst>
          </p:cNvPr>
          <p:cNvSpPr txBox="1"/>
          <p:nvPr/>
        </p:nvSpPr>
        <p:spPr>
          <a:xfrm>
            <a:off x="467544" y="1052736"/>
            <a:ext cx="7272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三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zh-CN" altLang="en-US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三相笼型转子异步电动机的启动</a:t>
            </a:r>
            <a:endParaRPr lang="zh-CN" altLang="zh-CN" sz="16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77402A-ACD4-21E2-E386-B95CF4A0A9D0}"/>
              </a:ext>
            </a:extLst>
          </p:cNvPr>
          <p:cNvSpPr txBox="1"/>
          <p:nvPr/>
        </p:nvSpPr>
        <p:spPr>
          <a:xfrm>
            <a:off x="795375" y="1544060"/>
            <a:ext cx="76328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直接起动：电流大、起动转矩不大。不能在转子绕组中串电阻或电抗。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lang="zh-CN" altLang="zh-CN" sz="16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87BE2F55-8502-DB6B-E108-244B00E58F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0043263"/>
              </p:ext>
            </p:extLst>
          </p:nvPr>
        </p:nvGraphicFramePr>
        <p:xfrm>
          <a:off x="795375" y="2679110"/>
          <a:ext cx="3358148" cy="895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19300" imgH="533400" progId="Equation.DSMT4">
                  <p:embed/>
                </p:oleObj>
              </mc:Choice>
              <mc:Fallback>
                <p:oleObj name="Equation" r:id="rId3" imgW="2019300" imgH="5334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375" y="2679110"/>
                        <a:ext cx="3358148" cy="8955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AA2CD66-8141-3F66-0EB3-EC9181C41F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352441"/>
              </p:ext>
            </p:extLst>
          </p:nvPr>
        </p:nvGraphicFramePr>
        <p:xfrm>
          <a:off x="4572000" y="2679110"/>
          <a:ext cx="3707135" cy="881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89400" imgH="977900" progId="Equation.DSMT4">
                  <p:embed/>
                </p:oleObj>
              </mc:Choice>
              <mc:Fallback>
                <p:oleObj name="Equation" r:id="rId5" imgW="4089400" imgH="9779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679110"/>
                        <a:ext cx="3707135" cy="8812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A691FD57-E42E-C531-0BFF-51451CAF37B8}"/>
              </a:ext>
            </a:extLst>
          </p:cNvPr>
          <p:cNvSpPr txBox="1"/>
          <p:nvPr/>
        </p:nvSpPr>
        <p:spPr>
          <a:xfrm>
            <a:off x="579351" y="5319496"/>
            <a:ext cx="80648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改善起动性能的方法为</a:t>
            </a:r>
            <a:r>
              <a:rPr lang="zh-CN" altLang="en-US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en-US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降压</a:t>
            </a:r>
            <a:r>
              <a:rPr lang="zh-CN" altLang="en-US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启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动</a:t>
            </a:r>
            <a:r>
              <a:rPr lang="zh-CN" altLang="en-US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，改变外在供电条件</a:t>
            </a:r>
            <a:r>
              <a:rPr lang="zh-CN" altLang="en-US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改变转子结构</a:t>
            </a:r>
            <a:r>
              <a:rPr lang="zh-CN" altLang="en-US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，改变电机内在属性</a:t>
            </a:r>
            <a:endParaRPr lang="zh-CN" altLang="zh-CN" sz="2400" b="1" kern="1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9CF6878A-31CF-A98C-5179-D14E3B42D1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3578630"/>
              </p:ext>
            </p:extLst>
          </p:nvPr>
        </p:nvGraphicFramePr>
        <p:xfrm>
          <a:off x="773423" y="3850065"/>
          <a:ext cx="2947988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49400" imgH="533400" progId="Equation.DSMT4">
                  <p:embed/>
                </p:oleObj>
              </mc:Choice>
              <mc:Fallback>
                <p:oleObj name="Equation" r:id="rId7" imgW="1549400" imgH="5334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423" y="3850065"/>
                        <a:ext cx="2947988" cy="1019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192A3C9C-91FC-9BF8-36A5-CC6E5CB759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159042"/>
              </p:ext>
            </p:extLst>
          </p:nvPr>
        </p:nvGraphicFramePr>
        <p:xfrm>
          <a:off x="4355976" y="4126290"/>
          <a:ext cx="11525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48263" imgH="419464" progId="Equation.DSMT4">
                  <p:embed/>
                </p:oleObj>
              </mc:Choice>
              <mc:Fallback>
                <p:oleObj name="Equation" r:id="rId9" imgW="648263" imgH="419464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4126290"/>
                        <a:ext cx="11525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B4D5DC-086D-DFF5-A3F5-BFA0ED2B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7468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6">
            <a:extLst>
              <a:ext uri="{FF2B5EF4-FFF2-40B4-BE49-F238E27FC236}">
                <a16:creationId xmlns:a16="http://schemas.microsoft.com/office/drawing/2014/main" id="{0FABF558-E1AA-1806-6B50-54731E604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577" y="4123424"/>
            <a:ext cx="4785748" cy="1214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接时，线电流             ，  为三角联接时的相电流；三角接时，线电流         </a:t>
            </a:r>
            <a:r>
              <a:rPr lang="zh-CN" altLang="en-US" sz="220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17E3EE0-8577-F292-D5C7-E0A4EE928871}"/>
              </a:ext>
            </a:extLst>
          </p:cNvPr>
          <p:cNvSpPr txBox="1"/>
          <p:nvPr/>
        </p:nvSpPr>
        <p:spPr>
          <a:xfrm>
            <a:off x="539552" y="958692"/>
            <a:ext cx="2304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、降压起动</a:t>
            </a:r>
            <a:endParaRPr lang="zh-CN" altLang="zh-CN" sz="16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F112BB4-39AB-E8BE-DB83-7441E45F62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533618"/>
              </p:ext>
            </p:extLst>
          </p:nvPr>
        </p:nvGraphicFramePr>
        <p:xfrm>
          <a:off x="5569661" y="1125905"/>
          <a:ext cx="3372874" cy="2736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182813" imgH="1768475" progId="MSDraw">
                  <p:embed/>
                </p:oleObj>
              </mc:Choice>
              <mc:Fallback>
                <p:oleObj r:id="rId3" imgW="2182813" imgH="1768475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9661" y="1125905"/>
                        <a:ext cx="3372874" cy="27363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E075D741-740D-1E93-439F-88D28FF71F6A}"/>
              </a:ext>
            </a:extLst>
          </p:cNvPr>
          <p:cNvSpPr txBox="1"/>
          <p:nvPr/>
        </p:nvSpPr>
        <p:spPr>
          <a:xfrm>
            <a:off x="621451" y="1454295"/>
            <a:ext cx="4572000" cy="1988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zh-CN" sz="22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根据</a:t>
            </a:r>
            <a:r>
              <a:rPr lang="zh-CN" altLang="en-US" sz="22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近似等值电路推导公</a:t>
            </a:r>
            <a:r>
              <a:rPr lang="zh-CN" altLang="zh-CN" sz="22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式，电磁转矩、起动转矩均与电压</a:t>
            </a:r>
            <a:r>
              <a:rPr lang="zh-CN" altLang="en-US" sz="22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有关</a:t>
            </a:r>
            <a:r>
              <a:rPr lang="en-US" altLang="zh-CN" sz="22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endParaRPr lang="en-US" altLang="zh-CN" sz="22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indent="-34290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altLang="zh-CN" sz="22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Us</a:t>
            </a:r>
            <a:r>
              <a:rPr lang="zh-CN" altLang="zh-CN" sz="22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的平方成正比关系减少，而临界转差率与</a:t>
            </a:r>
            <a:r>
              <a:rPr lang="en-US" altLang="zh-CN" sz="22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Us</a:t>
            </a:r>
            <a:r>
              <a:rPr lang="zh-CN" altLang="zh-CN" sz="22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无关。</a:t>
            </a:r>
            <a:endParaRPr lang="zh-CN" altLang="zh-CN" sz="22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zh-CN" sz="22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仅适合空载、轻载起动</a:t>
            </a:r>
            <a:r>
              <a:rPr lang="zh-CN" altLang="zh-CN" sz="22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zh-CN" sz="22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D28AD2E-F8A7-6720-107C-C20805597E0A}"/>
              </a:ext>
            </a:extLst>
          </p:cNvPr>
          <p:cNvSpPr txBox="1"/>
          <p:nvPr/>
        </p:nvSpPr>
        <p:spPr>
          <a:xfrm>
            <a:off x="514577" y="3718193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2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降压起动方法</a:t>
            </a:r>
            <a:r>
              <a:rPr lang="zh-CN" altLang="en-US" sz="2200" b="1" kern="100" dirty="0"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en-US" altLang="zh-CN" sz="2200" b="1" kern="100" dirty="0"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200" b="1" kern="100" dirty="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zh-CN" sz="2200" b="1" kern="100" dirty="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三角</a:t>
            </a:r>
            <a:r>
              <a:rPr lang="en-US" altLang="zh-CN" sz="2200" b="1" kern="100" dirty="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--</a:t>
            </a:r>
            <a:r>
              <a:rPr lang="zh-CN" altLang="zh-CN" sz="2200" b="1" kern="100" dirty="0">
                <a:solidFill>
                  <a:srgbClr val="FF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星降压起动</a:t>
            </a:r>
            <a:endParaRPr lang="zh-CN" altLang="zh-CN" sz="22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ED6E7EE0-9405-510C-FCB9-CBEB19F472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95427"/>
              </p:ext>
            </p:extLst>
          </p:nvPr>
        </p:nvGraphicFramePr>
        <p:xfrm>
          <a:off x="5493775" y="4111953"/>
          <a:ext cx="3524645" cy="2394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987800" imgH="2181225" progId="MSDraw">
                  <p:embed/>
                </p:oleObj>
              </mc:Choice>
              <mc:Fallback>
                <p:oleObj r:id="rId5" imgW="3987800" imgH="2181225" progId="MSDraw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3775" y="4111953"/>
                        <a:ext cx="3524645" cy="23941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F7720E61-70A5-E423-02C5-2094B41320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697596"/>
              </p:ext>
            </p:extLst>
          </p:nvPr>
        </p:nvGraphicFramePr>
        <p:xfrm>
          <a:off x="2460361" y="4115983"/>
          <a:ext cx="1936824" cy="448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17600" imgH="254000" progId="Equation.DSMT4">
                  <p:embed/>
                </p:oleObj>
              </mc:Choice>
              <mc:Fallback>
                <p:oleObj name="Equation" r:id="rId7" imgW="1117600" imgH="254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361" y="4115983"/>
                        <a:ext cx="1936824" cy="4484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4C51AF2B-37B7-B680-AC70-D5A7208653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7237653"/>
              </p:ext>
            </p:extLst>
          </p:nvPr>
        </p:nvGraphicFramePr>
        <p:xfrm>
          <a:off x="4458346" y="4129858"/>
          <a:ext cx="337923" cy="481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5387" imgH="228998" progId="Equation.DSMT4">
                  <p:embed/>
                </p:oleObj>
              </mc:Choice>
              <mc:Fallback>
                <p:oleObj name="Equation" r:id="rId9" imgW="165387" imgH="228998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8346" y="4129858"/>
                        <a:ext cx="337923" cy="4814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7D350798-B95E-8CD2-D0E4-A3066C5389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184485"/>
              </p:ext>
            </p:extLst>
          </p:nvPr>
        </p:nvGraphicFramePr>
        <p:xfrm>
          <a:off x="1210066" y="4881102"/>
          <a:ext cx="1196181" cy="454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73392" imgH="254110" progId="Equation.DSMT4">
                  <p:embed/>
                </p:oleObj>
              </mc:Choice>
              <mc:Fallback>
                <p:oleObj name="Equation" r:id="rId11" imgW="673392" imgH="25411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0066" y="4881102"/>
                        <a:ext cx="1196181" cy="4541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AF0256DE-AAE5-F584-F5F5-A20F3426C9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484595"/>
              </p:ext>
            </p:extLst>
          </p:nvPr>
        </p:nvGraphicFramePr>
        <p:xfrm>
          <a:off x="1466599" y="5189884"/>
          <a:ext cx="3367088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30320" imgH="393480" progId="Equation.DSMT4">
                  <p:embed/>
                </p:oleObj>
              </mc:Choice>
              <mc:Fallback>
                <p:oleObj name="Equation" r:id="rId13" imgW="1930320" imgH="39348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599" y="5189884"/>
                        <a:ext cx="3367088" cy="6873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文本框 44">
            <a:extLst>
              <a:ext uri="{FF2B5EF4-FFF2-40B4-BE49-F238E27FC236}">
                <a16:creationId xmlns:a16="http://schemas.microsoft.com/office/drawing/2014/main" id="{A48ACAB8-DC90-031E-57B9-10DB42B22121}"/>
              </a:ext>
            </a:extLst>
          </p:cNvPr>
          <p:cNvSpPr txBox="1"/>
          <p:nvPr/>
        </p:nvSpPr>
        <p:spPr>
          <a:xfrm>
            <a:off x="539552" y="5899308"/>
            <a:ext cx="52197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2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优点：起动电流只有三角直接起动的</a:t>
            </a:r>
            <a:r>
              <a:rPr lang="en-US" altLang="zh-CN" sz="22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1/3</a:t>
            </a:r>
            <a:endParaRPr lang="zh-CN" altLang="zh-CN" sz="22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zh-CN" sz="22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缺点：</a:t>
            </a:r>
            <a:r>
              <a:rPr lang="zh-CN" altLang="en-US" sz="22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起动转矩降为三角直接起动的</a:t>
            </a:r>
            <a:r>
              <a:rPr lang="en-US" altLang="zh-CN" sz="22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1/3</a:t>
            </a:r>
            <a:endParaRPr lang="zh-CN" altLang="en-US" sz="22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8673198-4E5D-195E-6E89-3CB7E5E0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1028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EA63ECA-98E5-DB15-5098-3A9AA57AA2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184499"/>
              </p:ext>
            </p:extLst>
          </p:nvPr>
        </p:nvGraphicFramePr>
        <p:xfrm>
          <a:off x="6538607" y="1323381"/>
          <a:ext cx="3143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0126" imgH="229297" progId="Equation.DSMT4">
                  <p:embed/>
                </p:oleObj>
              </mc:Choice>
              <mc:Fallback>
                <p:oleObj name="Equation" r:id="rId3" imgW="140126" imgH="229297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8607" y="1323381"/>
                        <a:ext cx="31432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5496019-C3BE-1D3A-B6FD-E3FB2FF630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1932871"/>
              </p:ext>
            </p:extLst>
          </p:nvPr>
        </p:nvGraphicFramePr>
        <p:xfrm>
          <a:off x="5076056" y="1719735"/>
          <a:ext cx="3029116" cy="788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51000" imgH="431800" progId="Equation.DSMT4">
                  <p:embed/>
                </p:oleObj>
              </mc:Choice>
              <mc:Fallback>
                <p:oleObj name="Equation" r:id="rId5" imgW="1651000" imgH="431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1719735"/>
                        <a:ext cx="3029116" cy="7880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017FF515-F0D7-56F1-3A21-A46252BC8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226" y="944667"/>
            <a:ext cx="7899548" cy="1783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定子绕组自耦变压器降压起动</a:t>
            </a:r>
            <a:endParaRPr kumimoji="0" lang="zh-CN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一相定子绕组，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设全压起动时网侧电流为  ，若降压起动时电源电压是定子绕组电压的                    ，则起动电流下降为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36EDE32-6618-F898-B5A3-3F74A82AC6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968923"/>
              </p:ext>
            </p:extLst>
          </p:nvPr>
        </p:nvGraphicFramePr>
        <p:xfrm>
          <a:off x="6460113" y="2547006"/>
          <a:ext cx="2230797" cy="2068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321117" imgH="1241742" progId="">
                  <p:embed/>
                </p:oleObj>
              </mc:Choice>
              <mc:Fallback>
                <p:oleObj r:id="rId7" imgW="1321117" imgH="1241742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0113" y="2547006"/>
                        <a:ext cx="2230797" cy="2068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366F40D7-5267-54BA-7DB7-D3CBE00C1E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419982"/>
              </p:ext>
            </p:extLst>
          </p:nvPr>
        </p:nvGraphicFramePr>
        <p:xfrm>
          <a:off x="3197598" y="2277962"/>
          <a:ext cx="1378478" cy="865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86098" imgH="431987" progId="Equation.DSMT4">
                  <p:embed/>
                </p:oleObj>
              </mc:Choice>
              <mc:Fallback>
                <p:oleObj name="Equation" r:id="rId9" imgW="686098" imgH="43198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7598" y="2277962"/>
                        <a:ext cx="1378478" cy="8651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E169F8B2-2789-0392-7711-0E302D4FD8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434530"/>
              </p:ext>
            </p:extLst>
          </p:nvPr>
        </p:nvGraphicFramePr>
        <p:xfrm>
          <a:off x="4602647" y="2259606"/>
          <a:ext cx="1554102" cy="883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62331" imgH="431987" progId="Equation.DSMT4">
                  <p:embed/>
                </p:oleObj>
              </mc:Choice>
              <mc:Fallback>
                <p:oleObj name="Equation" r:id="rId11" imgW="762331" imgH="43198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647" y="2259606"/>
                        <a:ext cx="1554102" cy="8835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1054D942-1C5A-AAAF-AAFB-84312CAD6F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994249"/>
              </p:ext>
            </p:extLst>
          </p:nvPr>
        </p:nvGraphicFramePr>
        <p:xfrm>
          <a:off x="683568" y="2954055"/>
          <a:ext cx="5749974" cy="894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933700" imgH="457200" progId="Equation.DSMT4">
                  <p:embed/>
                </p:oleObj>
              </mc:Choice>
              <mc:Fallback>
                <p:oleObj name="Equation" r:id="rId13" imgW="2933700" imgH="457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954055"/>
                        <a:ext cx="5749974" cy="8949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2C52B49F-344A-325C-4528-4C7FCB41B3A6}"/>
              </a:ext>
            </a:extLst>
          </p:cNvPr>
          <p:cNvSpPr txBox="1"/>
          <p:nvPr/>
        </p:nvSpPr>
        <p:spPr>
          <a:xfrm>
            <a:off x="363989" y="3784369"/>
            <a:ext cx="56886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algn="just"/>
            <a:r>
              <a:rPr lang="zh-CN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优点：起动定子绕组电源电压可调</a:t>
            </a:r>
            <a:endParaRPr lang="zh-CN" altLang="zh-CN" sz="24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/>
            <a:r>
              <a:rPr lang="zh-CN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缺点：起动转矩相应下降。</a:t>
            </a:r>
            <a:endParaRPr lang="zh-CN" altLang="zh-CN" sz="24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463AA8C-D692-A7AF-EF12-53780F34B90A}"/>
              </a:ext>
            </a:extLst>
          </p:cNvPr>
          <p:cNvSpPr txBox="1"/>
          <p:nvPr/>
        </p:nvSpPr>
        <p:spPr>
          <a:xfrm>
            <a:off x="444463" y="4531318"/>
            <a:ext cx="6228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algn="just"/>
            <a:r>
              <a:rPr lang="en-US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定子绕组串电阻、串电抗降压</a:t>
            </a:r>
            <a:r>
              <a:rPr lang="zh-CN" altLang="en-US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启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动</a:t>
            </a:r>
            <a:endParaRPr lang="zh-CN" altLang="zh-CN" sz="16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F0AD2D28-3D66-292B-6795-B1E293F3B7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3755758"/>
              </p:ext>
            </p:extLst>
          </p:nvPr>
        </p:nvGraphicFramePr>
        <p:xfrm>
          <a:off x="845543" y="4979033"/>
          <a:ext cx="3939538" cy="935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089400" imgH="977900" progId="Equation.DSMT4">
                  <p:embed/>
                </p:oleObj>
              </mc:Choice>
              <mc:Fallback>
                <p:oleObj name="Equation" r:id="rId15" imgW="4089400" imgH="9779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543" y="4979033"/>
                        <a:ext cx="3939538" cy="9353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44ACDCD4-CF01-0AB4-BC70-4F84A81567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923328"/>
              </p:ext>
            </p:extLst>
          </p:nvPr>
        </p:nvGraphicFramePr>
        <p:xfrm>
          <a:off x="4842202" y="4979033"/>
          <a:ext cx="385733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032000" imgH="482600" progId="Equation.DSMT4">
                  <p:embed/>
                </p:oleObj>
              </mc:Choice>
              <mc:Fallback>
                <p:oleObj name="Equation" r:id="rId17" imgW="2032000" imgH="482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2202" y="4979033"/>
                        <a:ext cx="3857335" cy="930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37">
            <a:extLst>
              <a:ext uri="{FF2B5EF4-FFF2-40B4-BE49-F238E27FC236}">
                <a16:creationId xmlns:a16="http://schemas.microsoft.com/office/drawing/2014/main" id="{7F09E649-543B-D1E4-BCC0-F96CAF3C16D7}"/>
              </a:ext>
            </a:extLst>
          </p:cNvPr>
          <p:cNvSpPr txBox="1"/>
          <p:nvPr/>
        </p:nvSpPr>
        <p:spPr>
          <a:xfrm>
            <a:off x="683568" y="5923305"/>
            <a:ext cx="80964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zh-CN" altLang="en-US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该方式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起动转矩、最大转矩除随电压平方下降外还受定子绕组串入参数影响下降，且功耗比</a:t>
            </a: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大。</a:t>
            </a:r>
            <a:endParaRPr lang="zh-CN" altLang="zh-CN" sz="16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DA8EF9D-70FF-E86D-A410-851D55CE9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3141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92B0E9C-53B3-EF92-2452-556403AFBC66}"/>
              </a:ext>
            </a:extLst>
          </p:cNvPr>
          <p:cNvSpPr txBox="1"/>
          <p:nvPr/>
        </p:nvSpPr>
        <p:spPr>
          <a:xfrm>
            <a:off x="539552" y="980728"/>
            <a:ext cx="7920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algn="just"/>
            <a:r>
              <a:rPr lang="en-US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、变频变压起动</a:t>
            </a:r>
            <a:r>
              <a:rPr lang="en-US" altLang="zh-CN" sz="2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lang="zh-CN" altLang="en-US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现代交流拖动系统应用最普遍</a:t>
            </a:r>
            <a:endParaRPr lang="zh-CN" altLang="zh-CN" sz="2400" b="1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6D7D48-7CD6-060F-0CAC-CDBE9350EB0F}"/>
              </a:ext>
            </a:extLst>
          </p:cNvPr>
          <p:cNvSpPr txBox="1"/>
          <p:nvPr/>
        </p:nvSpPr>
        <p:spPr>
          <a:xfrm>
            <a:off x="521455" y="1556792"/>
            <a:ext cx="79389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algn="just"/>
            <a:r>
              <a:rPr lang="en-US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、从结构上改善三相笼型异步电动机起动性能的方法</a:t>
            </a:r>
            <a:endParaRPr lang="zh-CN" altLang="zh-CN" sz="24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7DDD55-74D4-283A-E2F7-73141ED18E4F}"/>
              </a:ext>
            </a:extLst>
          </p:cNvPr>
          <p:cNvSpPr txBox="1"/>
          <p:nvPr/>
        </p:nvSpPr>
        <p:spPr>
          <a:xfrm>
            <a:off x="899592" y="2102453"/>
            <a:ext cx="75608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400" b="1" kern="100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zh-CN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采用</a:t>
            </a:r>
            <a:r>
              <a:rPr lang="zh-CN" altLang="en-US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截面小或</a:t>
            </a:r>
            <a:r>
              <a:rPr lang="zh-CN" altLang="zh-CN" sz="2400" b="1" kern="1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电阻率高的转子绕组导条：</a:t>
            </a:r>
            <a:endParaRPr lang="zh-CN" altLang="zh-CN" sz="24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2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zh-CN" sz="2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转子电阻增加，起动转矩增大</a:t>
            </a:r>
            <a:r>
              <a:rPr lang="zh-CN" altLang="en-US" sz="2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zh-CN" sz="2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转差率也增大</a:t>
            </a:r>
            <a:r>
              <a:rPr lang="zh-CN" altLang="en-US" sz="2400" b="1" kern="1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400" b="1" kern="10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en-US" altLang="zh-CN" sz="2400" b="1" kern="1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kern="100" dirty="0">
                <a:latin typeface="黑体" panose="02010609060101010101" pitchFamily="49" charset="-122"/>
                <a:ea typeface="黑体" panose="02010609060101010101" pitchFamily="49" charset="-122"/>
              </a:rPr>
              <a:t>）采用深槽式笼型结构，利用</a:t>
            </a:r>
            <a:r>
              <a:rPr lang="zh-CN" altLang="en-US" sz="2400" b="1" kern="1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趋（集）肤效应</a:t>
            </a:r>
            <a:r>
              <a:rPr lang="zh-CN" altLang="en-US" sz="2400" b="1" kern="100" dirty="0">
                <a:latin typeface="黑体" panose="02010609060101010101" pitchFamily="49" charset="-122"/>
                <a:ea typeface="黑体" panose="02010609060101010101" pitchFamily="49" charset="-122"/>
              </a:rPr>
              <a:t>，改变转子电阻；</a:t>
            </a:r>
            <a:endParaRPr lang="en-US" altLang="zh-CN" sz="2400" b="1" kern="1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en-US" altLang="zh-CN" sz="2400" b="1" kern="1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kern="100" dirty="0">
                <a:latin typeface="黑体" panose="02010609060101010101" pitchFamily="49" charset="-122"/>
                <a:ea typeface="黑体" panose="02010609060101010101" pitchFamily="49" charset="-122"/>
              </a:rPr>
              <a:t>）双笼型结构；</a:t>
            </a:r>
            <a:endParaRPr lang="en-US" altLang="zh-CN" sz="2400" b="1" kern="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C2905FB-A4E1-B411-C425-FDC0B74878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78371"/>
              </p:ext>
            </p:extLst>
          </p:nvPr>
        </p:nvGraphicFramePr>
        <p:xfrm>
          <a:off x="6228184" y="4082208"/>
          <a:ext cx="2714625" cy="248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81442" imgH="1263967" progId="">
                  <p:embed/>
                </p:oleObj>
              </mc:Choice>
              <mc:Fallback>
                <p:oleObj r:id="rId3" imgW="1381442" imgH="1263967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4082208"/>
                        <a:ext cx="2714625" cy="248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5">
            <a:extLst>
              <a:ext uri="{FF2B5EF4-FFF2-40B4-BE49-F238E27FC236}">
                <a16:creationId xmlns:a16="http://schemas.microsoft.com/office/drawing/2014/main" id="{C0C43730-BAF4-68F9-A833-FC9517E9268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3568" y="4171059"/>
            <a:ext cx="55446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槽底元件漏电抗比槽口的大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起动时，转子电势频率较高，漏电抗在漏阻抗中起主要作用，元件中电流密度分布将自上而下逐步减少，电流大部分集中到上部，称为电流的集肤效应。这相当于减小了元件的有效截面，使转子电阻增大，从而增加了起动转矩、限制了起动电流。起动完成后，转子电势频率降到仅为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3Hz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，集肤效应基本消失，转子元件中电流均匀分布，元件阻抗变为较小的直流电阻为主。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5404407-EE5F-6E15-7A0F-EB4B9A69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0064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EF561B52-E1B0-556E-B8C4-474CBA1B08B3}"/>
              </a:ext>
            </a:extLst>
          </p:cNvPr>
          <p:cNvSpPr txBox="1"/>
          <p:nvPr/>
        </p:nvSpPr>
        <p:spPr>
          <a:xfrm>
            <a:off x="503548" y="1628800"/>
            <a:ext cx="8136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电机转速：                     ，与</a:t>
            </a: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b="1" kern="10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相关，所以从原理上人为调节三相异步电机转速的方法有三种：变</a:t>
            </a:r>
            <a:r>
              <a:rPr lang="en-US" altLang="zh-CN" sz="2400" b="1" kern="1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 kern="1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 kern="1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b="1" kern="10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调速。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03B027-5212-66CC-5F82-23EA10152969}"/>
              </a:ext>
            </a:extLst>
          </p:cNvPr>
          <p:cNvSpPr txBox="1"/>
          <p:nvPr/>
        </p:nvSpPr>
        <p:spPr>
          <a:xfrm>
            <a:off x="395536" y="1017775"/>
            <a:ext cx="62646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§</a:t>
            </a:r>
            <a:r>
              <a:rPr lang="en-US" altLang="zh-CN" sz="24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6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r>
              <a:rPr lang="zh-CN" altLang="en-US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三相异步电动机的调速</a:t>
            </a:r>
            <a:endParaRPr lang="zh-CN" altLang="zh-CN" sz="16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250622C-3E52-0C8E-CA9D-A1396B00EC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3425116"/>
              </p:ext>
            </p:extLst>
          </p:nvPr>
        </p:nvGraphicFramePr>
        <p:xfrm>
          <a:off x="2627784" y="1641957"/>
          <a:ext cx="336708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01720" imgH="228600" progId="Equation.DSMT4">
                  <p:embed/>
                </p:oleObj>
              </mc:Choice>
              <mc:Fallback>
                <p:oleObj name="Equation" r:id="rId3" imgW="170172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1641957"/>
                        <a:ext cx="3367088" cy="4556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5D133B29-8853-5463-CFEB-93FB7510FC98}"/>
              </a:ext>
            </a:extLst>
          </p:cNvPr>
          <p:cNvSpPr txBox="1"/>
          <p:nvPr/>
        </p:nvSpPr>
        <p:spPr>
          <a:xfrm>
            <a:off x="503548" y="292840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一、 改变转差率调速</a:t>
            </a:r>
            <a:endParaRPr lang="zh-CN" altLang="zh-CN" sz="16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04434F48-FBAE-7722-FD6D-F316AE683B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504834"/>
              </p:ext>
            </p:extLst>
          </p:nvPr>
        </p:nvGraphicFramePr>
        <p:xfrm>
          <a:off x="3563888" y="3390067"/>
          <a:ext cx="5401495" cy="2924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459163" imgH="1871663" progId="MSDraw">
                  <p:embed/>
                </p:oleObj>
              </mc:Choice>
              <mc:Fallback>
                <p:oleObj r:id="rId5" imgW="3459163" imgH="1871663" progId="MSDraw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3390067"/>
                        <a:ext cx="5401495" cy="29242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CD0B6357-6DD1-F6DE-B0EE-7A2CB481E3FB}"/>
              </a:ext>
            </a:extLst>
          </p:cNvPr>
          <p:cNvSpPr txBox="1"/>
          <p:nvPr/>
        </p:nvSpPr>
        <p:spPr>
          <a:xfrm>
            <a:off x="503548" y="3530726"/>
            <a:ext cx="1584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调速原理：</a:t>
            </a:r>
            <a:endParaRPr lang="zh-CN" altLang="zh-CN" sz="14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CF46E27-AD3C-1C59-7FFF-B5A06462B4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101027"/>
              </p:ext>
            </p:extLst>
          </p:nvPr>
        </p:nvGraphicFramePr>
        <p:xfrm>
          <a:off x="604715" y="4170715"/>
          <a:ext cx="2376264" cy="1018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06360" imgH="482400" progId="Equation.DSMT4">
                  <p:embed/>
                </p:oleObj>
              </mc:Choice>
              <mc:Fallback>
                <p:oleObj name="Equation" r:id="rId7" imgW="1206360" imgH="4824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C62FD4B-B407-8069-9064-19150F928D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715" y="4170715"/>
                        <a:ext cx="2376264" cy="10183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797003CF-B334-C965-A57A-250E5421B3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3273419"/>
              </p:ext>
            </p:extLst>
          </p:nvPr>
        </p:nvGraphicFramePr>
        <p:xfrm>
          <a:off x="604715" y="5406608"/>
          <a:ext cx="2874262" cy="867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77128" imgH="508221" progId="Equation.DSMT4">
                  <p:embed/>
                </p:oleObj>
              </mc:Choice>
              <mc:Fallback>
                <p:oleObj name="Equation" r:id="rId9" imgW="1677128" imgH="508221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687E1FC-EEB9-556F-32A5-305546DAEB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715" y="5406608"/>
                        <a:ext cx="2874262" cy="8672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DFE14D1-F976-6636-9F66-939E04B8A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6778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D1CA3A93-A40C-5CB5-7B63-D5BC6E451780}"/>
              </a:ext>
            </a:extLst>
          </p:cNvPr>
          <p:cNvSpPr txBox="1"/>
          <p:nvPr/>
        </p:nvSpPr>
        <p:spPr>
          <a:xfrm>
            <a:off x="539552" y="1023023"/>
            <a:ext cx="78488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       因此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变转差率调速的实质是：将</a:t>
            </a: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P1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的一部分转化为转差功率转移到运动系统之外，以削弱</a:t>
            </a:r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P2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，达到减速的目的</a:t>
            </a:r>
            <a:r>
              <a:rPr lang="zh-CN" altLang="en-US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，包括：</a:t>
            </a:r>
            <a:endParaRPr lang="zh-CN" altLang="zh-CN" sz="2400" b="1" kern="100" dirty="0">
              <a:solidFill>
                <a:srgbClr val="FF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E16A79C-7EE3-FCA3-9F67-ED9535FCE023}"/>
              </a:ext>
            </a:extLst>
          </p:cNvPr>
          <p:cNvSpPr txBox="1"/>
          <p:nvPr/>
        </p:nvSpPr>
        <p:spPr>
          <a:xfrm>
            <a:off x="539552" y="2223352"/>
            <a:ext cx="78488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、消耗型：将转差功率全部消耗在转子电路中</a:t>
            </a:r>
            <a:r>
              <a:rPr lang="zh-CN" altLang="en-US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，在绕线转子异步电机中</a:t>
            </a:r>
            <a:r>
              <a:rPr lang="zh-CN" altLang="en-US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串电阻调速。</a:t>
            </a:r>
            <a:endParaRPr lang="en-US" altLang="zh-CN" sz="2400" b="1" kern="1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/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a) </a:t>
            </a:r>
            <a:r>
              <a:rPr lang="zh-CN" altLang="zh-CN" sz="24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不同</a:t>
            </a:r>
            <a:r>
              <a:rPr lang="zh-CN" altLang="zh-CN" sz="24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附加电阻下的机械特性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n=f(T)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的同步转速点不变，与附加电阻无关，最大转矩</a:t>
            </a:r>
            <a:r>
              <a:rPr lang="en-US" altLang="zh-CN" sz="2400" b="1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Tmax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也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与附加电阻无关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，但是临界转差率</a:t>
            </a:r>
            <a:r>
              <a:rPr lang="en-US" altLang="zh-CN" sz="2400" b="1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Scr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，</a:t>
            </a:r>
            <a:r>
              <a:rPr lang="zh-CN" altLang="zh-CN" sz="24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随附加电阻增大而增大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400" dirty="0"/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40004081-CF52-927E-2A80-CA4FAF276A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925629"/>
              </p:ext>
            </p:extLst>
          </p:nvPr>
        </p:nvGraphicFramePr>
        <p:xfrm>
          <a:off x="833207" y="4236754"/>
          <a:ext cx="4049953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98700" imgH="533400" progId="Equation.DSMT4">
                  <p:embed/>
                </p:oleObj>
              </mc:Choice>
              <mc:Fallback>
                <p:oleObj name="Equation" r:id="rId3" imgW="2298700" imgH="533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207" y="4236754"/>
                        <a:ext cx="4049953" cy="938213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BEA64C85-8199-39E4-1325-D58EC43D5B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9995838"/>
              </p:ext>
            </p:extLst>
          </p:nvPr>
        </p:nvGraphicFramePr>
        <p:xfrm>
          <a:off x="5214449" y="4178298"/>
          <a:ext cx="3096344" cy="1055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49400" imgH="533400" progId="Equation.DSMT4">
                  <p:embed/>
                </p:oleObj>
              </mc:Choice>
              <mc:Fallback>
                <p:oleObj name="Equation" r:id="rId5" imgW="1549400" imgH="533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449" y="4178298"/>
                        <a:ext cx="3096344" cy="1055124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54C5D164-E51B-E7C6-6BB1-B4A1136EEA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136343"/>
              </p:ext>
            </p:extLst>
          </p:nvPr>
        </p:nvGraphicFramePr>
        <p:xfrm>
          <a:off x="2843808" y="5370944"/>
          <a:ext cx="1728192" cy="485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3975" imgH="241405" progId="Equation.DSMT4">
                  <p:embed/>
                </p:oleObj>
              </mc:Choice>
              <mc:Fallback>
                <p:oleObj name="Equation" r:id="rId7" imgW="863975" imgH="241405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5370944"/>
                        <a:ext cx="1728192" cy="485009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D0719115-4316-47C8-860C-4809237015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495867"/>
              </p:ext>
            </p:extLst>
          </p:nvPr>
        </p:nvGraphicFramePr>
        <p:xfrm>
          <a:off x="5562110" y="5349623"/>
          <a:ext cx="1880131" cy="527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63975" imgH="241405" progId="Equation.DSMT4">
                  <p:embed/>
                </p:oleObj>
              </mc:Choice>
              <mc:Fallback>
                <p:oleObj name="Equation" r:id="rId9" imgW="863975" imgH="24140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110" y="5349623"/>
                        <a:ext cx="1880131" cy="527649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18">
            <a:extLst>
              <a:ext uri="{FF2B5EF4-FFF2-40B4-BE49-F238E27FC236}">
                <a16:creationId xmlns:a16="http://schemas.microsoft.com/office/drawing/2014/main" id="{4EBA029E-5DCE-0802-ED5B-6277EB655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6006" y="5386443"/>
            <a:ext cx="9361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84C56AC-D4FC-1904-B059-5C028748B4BE}"/>
              </a:ext>
            </a:extLst>
          </p:cNvPr>
          <p:cNvSpPr txBox="1"/>
          <p:nvPr/>
        </p:nvSpPr>
        <p:spPr>
          <a:xfrm>
            <a:off x="629816" y="5949280"/>
            <a:ext cx="3438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b)</a:t>
            </a:r>
            <a:r>
              <a:rPr lang="zh-CN" altLang="zh-CN" sz="2400" b="1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附加电阻的计算方法</a:t>
            </a:r>
            <a:endParaRPr lang="zh-CN" altLang="zh-CN" sz="2800" b="1" dirty="0">
              <a:solidFill>
                <a:srgbClr val="FF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36F855-6893-1DAA-AE7C-6F572BEB3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45105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23">
            <a:extLst>
              <a:ext uri="{FF2B5EF4-FFF2-40B4-BE49-F238E27FC236}">
                <a16:creationId xmlns:a16="http://schemas.microsoft.com/office/drawing/2014/main" id="{4FF659D0-73AA-3462-CEBC-2B1971AEA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646" y="5927689"/>
            <a:ext cx="377627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    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已知时，可求得   。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080FA8B3-2E89-FFCF-97FE-9B4886BE8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167" y="4455393"/>
            <a:ext cx="288032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〖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此处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Rt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〗   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处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F2C998A-A06F-5D16-D3DA-6C29614476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239329"/>
              </p:ext>
            </p:extLst>
          </p:nvPr>
        </p:nvGraphicFramePr>
        <p:xfrm>
          <a:off x="5330383" y="1052736"/>
          <a:ext cx="3672409" cy="2758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92605" imgH="1317942" progId="">
                  <p:embed/>
                </p:oleObj>
              </mc:Choice>
              <mc:Fallback>
                <p:oleObj r:id="rId3" imgW="1792605" imgH="131794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0383" y="1052736"/>
                        <a:ext cx="3672409" cy="27581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4">
            <a:extLst>
              <a:ext uri="{FF2B5EF4-FFF2-40B4-BE49-F238E27FC236}">
                <a16:creationId xmlns:a16="http://schemas.microsoft.com/office/drawing/2014/main" id="{FBEC2685-298C-4DFE-E263-B4B6A74B5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816303"/>
            <a:ext cx="835292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设（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Scr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）范围内，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n=f(T)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近似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为直线，因此应用实用表达式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较小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稳定运行段有：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C09C59E-B778-9966-254E-8BE4A265B5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306409"/>
              </p:ext>
            </p:extLst>
          </p:nvPr>
        </p:nvGraphicFramePr>
        <p:xfrm>
          <a:off x="1979712" y="1763237"/>
          <a:ext cx="1919288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51269" imgH="444693" progId="Equation.DSMT4">
                  <p:embed/>
                </p:oleObj>
              </mc:Choice>
              <mc:Fallback>
                <p:oleObj name="Equation" r:id="rId5" imgW="851269" imgH="444693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1763237"/>
                        <a:ext cx="1919288" cy="1014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EB35367F-64E1-C087-9D34-959ADB495AE0}"/>
              </a:ext>
            </a:extLst>
          </p:cNvPr>
          <p:cNvSpPr txBox="1"/>
          <p:nvPr/>
        </p:nvSpPr>
        <p:spPr>
          <a:xfrm>
            <a:off x="251520" y="2716179"/>
            <a:ext cx="83529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zh-CN" sz="2400" b="1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此式说明</a:t>
            </a:r>
            <a:r>
              <a:rPr lang="zh-CN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电磁转矩一定时，转差率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</a:t>
            </a:r>
            <a:r>
              <a:rPr lang="zh-CN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与临界转差率成正比，</a:t>
            </a:r>
            <a:r>
              <a:rPr lang="zh-CN" altLang="zh-CN" sz="2400" b="1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zh-CN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临界转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</a:t>
            </a:r>
            <a:r>
              <a:rPr lang="zh-CN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差率与转子电阻成正比</a:t>
            </a:r>
            <a:r>
              <a:rPr lang="zh-CN" altLang="en-US" sz="2400" b="1" dirty="0">
                <a:solidFill>
                  <a:srgbClr val="333333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400" b="1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en-US" sz="2400" b="1" dirty="0">
                <a:solidFill>
                  <a:srgbClr val="333333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sz="2400" b="1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转矩一定时，转差率与转子电阻成正比</a:t>
            </a:r>
            <a:r>
              <a:rPr lang="zh-CN" altLang="en-US" sz="2400" b="1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2800" b="1" dirty="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A0E70D3-12B6-A766-8366-E982FCAAE8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780244"/>
              </p:ext>
            </p:extLst>
          </p:nvPr>
        </p:nvGraphicFramePr>
        <p:xfrm>
          <a:off x="800144" y="4418782"/>
          <a:ext cx="3407207" cy="538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49058" imgH="228799" progId="Equation.DSMT4">
                  <p:embed/>
                </p:oleObj>
              </mc:Choice>
              <mc:Fallback>
                <p:oleObj name="Equation" r:id="rId7" imgW="1449058" imgH="22879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44" y="4418782"/>
                        <a:ext cx="3407207" cy="5386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F969CEA-90D1-E0B9-CD65-4813F81F4E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477465"/>
              </p:ext>
            </p:extLst>
          </p:nvPr>
        </p:nvGraphicFramePr>
        <p:xfrm>
          <a:off x="4207351" y="4180479"/>
          <a:ext cx="2016224" cy="975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89386" imgH="431987" progId="Equation.DSMT4">
                  <p:embed/>
                </p:oleObj>
              </mc:Choice>
              <mc:Fallback>
                <p:oleObj name="Equation" r:id="rId9" imgW="889386" imgH="431987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7351" y="4180479"/>
                        <a:ext cx="2016224" cy="9752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BD7A018-F12D-30AA-4272-1BBE2FCE71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989518"/>
              </p:ext>
            </p:extLst>
          </p:nvPr>
        </p:nvGraphicFramePr>
        <p:xfrm>
          <a:off x="7869509" y="4492472"/>
          <a:ext cx="627063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19040" imgH="241200" progId="Equation.DSMT4">
                  <p:embed/>
                </p:oleObj>
              </mc:Choice>
              <mc:Fallback>
                <p:oleObj name="Equation" r:id="rId11" imgW="419040" imgH="241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9509" y="4492472"/>
                        <a:ext cx="627063" cy="3635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8BBD539E-9652-CB34-01A7-311AE4FC07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030109"/>
              </p:ext>
            </p:extLst>
          </p:nvPr>
        </p:nvGraphicFramePr>
        <p:xfrm>
          <a:off x="3016038" y="4941168"/>
          <a:ext cx="1262063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97159" imgH="431987" progId="Equation.DSMT4">
                  <p:embed/>
                </p:oleObj>
              </mc:Choice>
              <mc:Fallback>
                <p:oleObj name="Equation" r:id="rId13" imgW="597159" imgH="431987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038" y="4941168"/>
                        <a:ext cx="1262063" cy="92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2A17463E-1A1C-8569-9523-12E020C5CE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222000"/>
              </p:ext>
            </p:extLst>
          </p:nvPr>
        </p:nvGraphicFramePr>
        <p:xfrm>
          <a:off x="5927119" y="5162007"/>
          <a:ext cx="495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9197" imgH="229197" progId="Equation.DSMT4">
                  <p:embed/>
                </p:oleObj>
              </mc:Choice>
              <mc:Fallback>
                <p:oleObj name="Equation" r:id="rId15" imgW="229197" imgH="229197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7119" y="5162007"/>
                        <a:ext cx="495300" cy="495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AF453388-AA6B-BB25-7DA5-9711B12B12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028405"/>
              </p:ext>
            </p:extLst>
          </p:nvPr>
        </p:nvGraphicFramePr>
        <p:xfrm>
          <a:off x="2039888" y="5802572"/>
          <a:ext cx="2283345" cy="886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81613" imgH="457399" progId="Equation.DSMT4">
                  <p:embed/>
                </p:oleObj>
              </mc:Choice>
              <mc:Fallback>
                <p:oleObj name="Equation" r:id="rId17" imgW="1181613" imgH="457399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888" y="5802572"/>
                        <a:ext cx="2283345" cy="8868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18">
            <a:extLst>
              <a:ext uri="{FF2B5EF4-FFF2-40B4-BE49-F238E27FC236}">
                <a16:creationId xmlns:a16="http://schemas.microsoft.com/office/drawing/2014/main" id="{3A93C775-813D-4937-D31E-810F32129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5178825"/>
            <a:ext cx="83529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由相似三角形有：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，联立消去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，得到：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049742B-29E4-497B-559F-12EB389D9C69}"/>
              </a:ext>
            </a:extLst>
          </p:cNvPr>
          <p:cNvSpPr txBox="1"/>
          <p:nvPr/>
        </p:nvSpPr>
        <p:spPr>
          <a:xfrm>
            <a:off x="611560" y="5975706"/>
            <a:ext cx="16285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近似附加电阻公式：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B160B4AD-50A5-CFCB-49AE-8D60202893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054458"/>
              </p:ext>
            </p:extLst>
          </p:nvPr>
        </p:nvGraphicFramePr>
        <p:xfrm>
          <a:off x="5362610" y="5953647"/>
          <a:ext cx="2314635" cy="405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21374" imgH="228699" progId="Equation.DSMT4">
                  <p:embed/>
                </p:oleObj>
              </mc:Choice>
              <mc:Fallback>
                <p:oleObj name="Equation" r:id="rId19" imgW="1321374" imgH="228699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2610" y="5953647"/>
                        <a:ext cx="2314635" cy="4050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0DCEE71F-5F91-338B-91DD-42FD6D43B4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691516"/>
              </p:ext>
            </p:extLst>
          </p:nvPr>
        </p:nvGraphicFramePr>
        <p:xfrm>
          <a:off x="5907002" y="6281632"/>
          <a:ext cx="346636" cy="336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41825" imgH="229097" progId="Equation.DSMT4">
                  <p:embed/>
                </p:oleObj>
              </mc:Choice>
              <mc:Fallback>
                <p:oleObj name="Equation" r:id="rId21" imgW="241825" imgH="229097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7002" y="6281632"/>
                        <a:ext cx="346636" cy="3361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箭头: 右 41">
            <a:extLst>
              <a:ext uri="{FF2B5EF4-FFF2-40B4-BE49-F238E27FC236}">
                <a16:creationId xmlns:a16="http://schemas.microsoft.com/office/drawing/2014/main" id="{865AAEAD-FD01-8FA5-1016-834DB060F3A3}"/>
              </a:ext>
            </a:extLst>
          </p:cNvPr>
          <p:cNvSpPr/>
          <p:nvPr/>
        </p:nvSpPr>
        <p:spPr>
          <a:xfrm>
            <a:off x="4440420" y="6131352"/>
            <a:ext cx="500112" cy="2891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A40D62-6398-99B0-FE89-2C3C92D1F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8669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52CA479-1526-2DE1-61AE-F645C6A193E7}"/>
              </a:ext>
            </a:extLst>
          </p:cNvPr>
          <p:cNvSpPr txBox="1"/>
          <p:nvPr/>
        </p:nvSpPr>
        <p:spPr>
          <a:xfrm>
            <a:off x="629816" y="951111"/>
            <a:ext cx="3438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c)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负载性质</a:t>
            </a:r>
            <a:endParaRPr lang="zh-CN" altLang="zh-CN" sz="2800" b="1" dirty="0">
              <a:solidFill>
                <a:srgbClr val="FF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04B709-7275-EB0B-D1B2-A7EAA05BB3D8}"/>
              </a:ext>
            </a:extLst>
          </p:cNvPr>
          <p:cNvSpPr txBox="1"/>
          <p:nvPr/>
        </p:nvSpPr>
        <p:spPr>
          <a:xfrm>
            <a:off x="755576" y="1385222"/>
            <a:ext cx="720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zh-CN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电流不变时，若转矩不变，则为恒转矩；若功率不变，则为恒功率）</a:t>
            </a:r>
            <a:endParaRPr lang="zh-CN" altLang="zh-CN" sz="2000" b="1" dirty="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3575E59-DE2D-6085-D2AF-9C735F8638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2140651"/>
              </p:ext>
            </p:extLst>
          </p:nvPr>
        </p:nvGraphicFramePr>
        <p:xfrm>
          <a:off x="884238" y="1938338"/>
          <a:ext cx="2525712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71600" imgH="228600" progId="Equation.DSMT4">
                  <p:embed/>
                </p:oleObj>
              </mc:Choice>
              <mc:Fallback>
                <p:oleObj name="Equation" r:id="rId3" imgW="13716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1938338"/>
                        <a:ext cx="2525712" cy="4206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992CBA8-E3AA-4682-85D3-CEF43C7241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3980030"/>
              </p:ext>
            </p:extLst>
          </p:nvPr>
        </p:nvGraphicFramePr>
        <p:xfrm>
          <a:off x="3662758" y="1935862"/>
          <a:ext cx="461963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9197" imgH="229197" progId="Equation.DSMT4">
                  <p:embed/>
                </p:oleObj>
              </mc:Choice>
              <mc:Fallback>
                <p:oleObj name="Equation" r:id="rId5" imgW="229197" imgH="22919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2758" y="1935862"/>
                        <a:ext cx="461963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D17A1EB-23D8-F6C6-4467-8E297CD89C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253773"/>
              </p:ext>
            </p:extLst>
          </p:nvPr>
        </p:nvGraphicFramePr>
        <p:xfrm>
          <a:off x="5171492" y="1916661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9197" imgH="229197" progId="Equation.DSMT4">
                  <p:embed/>
                </p:oleObj>
              </mc:Choice>
              <mc:Fallback>
                <p:oleObj name="Equation" r:id="rId7" imgW="229197" imgH="229197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1492" y="1916661"/>
                        <a:ext cx="457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AF02061-48A3-1E90-41E4-FE7E9D9437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446221"/>
              </p:ext>
            </p:extLst>
          </p:nvPr>
        </p:nvGraphicFramePr>
        <p:xfrm>
          <a:off x="1707402" y="2689794"/>
          <a:ext cx="9525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21152" imgH="228799" progId="Equation.DSMT4">
                  <p:embed/>
                </p:oleObj>
              </mc:Choice>
              <mc:Fallback>
                <p:oleObj name="Equation" r:id="rId9" imgW="521152" imgH="228799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7402" y="2689794"/>
                        <a:ext cx="952500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6">
            <a:extLst>
              <a:ext uri="{FF2B5EF4-FFF2-40B4-BE49-F238E27FC236}">
                <a16:creationId xmlns:a16="http://schemas.microsoft.com/office/drawing/2014/main" id="{D9A5395B-9C84-0952-8DC9-A991FE322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72" y="1938390"/>
            <a:ext cx="46805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一定时，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基本是定值；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5D8CDA1-5EF6-5F1F-8D1F-36EDCD30921A}"/>
              </a:ext>
            </a:extLst>
          </p:cNvPr>
          <p:cNvSpPr txBox="1"/>
          <p:nvPr/>
        </p:nvSpPr>
        <p:spPr>
          <a:xfrm>
            <a:off x="697252" y="2632942"/>
            <a:ext cx="30018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若保持      ，则：</a:t>
            </a:r>
            <a:endParaRPr lang="zh-CN" altLang="en-US" sz="2400" dirty="0"/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E940D314-E414-3B4C-2A10-CE7D2D6789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57717"/>
              </p:ext>
            </p:extLst>
          </p:nvPr>
        </p:nvGraphicFramePr>
        <p:xfrm>
          <a:off x="3482152" y="2489882"/>
          <a:ext cx="4945000" cy="130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94000" imgH="736600" progId="Equation.DSMT4">
                  <p:embed/>
                </p:oleObj>
              </mc:Choice>
              <mc:Fallback>
                <p:oleObj name="Equation" r:id="rId11" imgW="2794000" imgH="736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152" y="2489882"/>
                        <a:ext cx="4945000" cy="1305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13">
            <a:extLst>
              <a:ext uri="{FF2B5EF4-FFF2-40B4-BE49-F238E27FC236}">
                <a16:creationId xmlns:a16="http://schemas.microsoft.com/office/drawing/2014/main" id="{1765CEE1-9BCD-7F18-D0D5-FC29825BF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863" y="3588360"/>
            <a:ext cx="453650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必有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D73A4B00-8AB5-DAE8-7C0C-719FF0B7D6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702677"/>
              </p:ext>
            </p:extLst>
          </p:nvPr>
        </p:nvGraphicFramePr>
        <p:xfrm>
          <a:off x="1618928" y="3376667"/>
          <a:ext cx="2652835" cy="887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95280" imgH="431640" progId="Equation.DSMT4">
                  <p:embed/>
                </p:oleObj>
              </mc:Choice>
              <mc:Fallback>
                <p:oleObj name="Equation" r:id="rId13" imgW="1295280" imgH="4316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8928" y="3376667"/>
                        <a:ext cx="2652835" cy="8873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CBCF289D-9123-ED1A-3A23-2A7FFB5622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302865"/>
              </p:ext>
            </p:extLst>
          </p:nvPr>
        </p:nvGraphicFramePr>
        <p:xfrm>
          <a:off x="1497695" y="4153360"/>
          <a:ext cx="1592597" cy="1205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89386" imgH="673392" progId="Equation.DSMT4">
                  <p:embed/>
                </p:oleObj>
              </mc:Choice>
              <mc:Fallback>
                <p:oleObj name="Equation" r:id="rId15" imgW="889386" imgH="673392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695" y="4153360"/>
                        <a:ext cx="1592597" cy="12056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A1E27276-8C0F-57FC-5B3E-A74BB74F5B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920066"/>
              </p:ext>
            </p:extLst>
          </p:nvPr>
        </p:nvGraphicFramePr>
        <p:xfrm>
          <a:off x="5315655" y="4580532"/>
          <a:ext cx="1836948" cy="42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78750" imgH="228799" progId="Equation.DSMT4">
                  <p:embed/>
                </p:oleObj>
              </mc:Choice>
              <mc:Fallback>
                <p:oleObj name="Equation" r:id="rId17" imgW="978750" imgH="228799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5655" y="4580532"/>
                        <a:ext cx="1836948" cy="4297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17">
            <a:extLst>
              <a:ext uri="{FF2B5EF4-FFF2-40B4-BE49-F238E27FC236}">
                <a16:creationId xmlns:a16="http://schemas.microsoft.com/office/drawing/2014/main" id="{79BA062B-20D2-03C2-141F-58DB03F9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028" y="4510725"/>
            <a:ext cx="237626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18">
            <a:extLst>
              <a:ext uri="{FF2B5EF4-FFF2-40B4-BE49-F238E27FC236}">
                <a16:creationId xmlns:a16="http://schemas.microsoft.com/office/drawing/2014/main" id="{F64DFB7C-8F75-46F8-346D-32601FCF0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3798" y="4553471"/>
            <a:ext cx="44999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54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）可推得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9053D54-B89C-05FF-515D-33E549504256}"/>
              </a:ext>
            </a:extLst>
          </p:cNvPr>
          <p:cNvSpPr txBox="1"/>
          <p:nvPr/>
        </p:nvSpPr>
        <p:spPr>
          <a:xfrm>
            <a:off x="2193286" y="996033"/>
            <a:ext cx="5201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转子绕组串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调速为恒转矩调速</a:t>
            </a:r>
            <a:r>
              <a:rPr lang="zh-CN" altLang="en-US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zh-CN" sz="2000" b="1" dirty="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8724823-916D-582B-D1AA-57D14ED18E7B}"/>
              </a:ext>
            </a:extLst>
          </p:cNvPr>
          <p:cNvSpPr txBox="1"/>
          <p:nvPr/>
        </p:nvSpPr>
        <p:spPr>
          <a:xfrm>
            <a:off x="7283603" y="4619523"/>
            <a:ext cx="1345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恒转矩调速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9" name="Rectangle 21">
            <a:extLst>
              <a:ext uri="{FF2B5EF4-FFF2-40B4-BE49-F238E27FC236}">
                <a16:creationId xmlns:a16="http://schemas.microsoft.com/office/drawing/2014/main" id="{5460D20C-DB35-38D7-D968-49E4C5B14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788" y="5241945"/>
            <a:ext cx="77652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缺点：损耗大、效率低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转差功率全部在电阻上消耗。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554D9983-9F21-5DDA-6CA0-7B4489B5A1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76550"/>
              </p:ext>
            </p:extLst>
          </p:nvPr>
        </p:nvGraphicFramePr>
        <p:xfrm>
          <a:off x="1140933" y="5672485"/>
          <a:ext cx="6815442" cy="1022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581280" imgH="533160" progId="Equation.DSMT4">
                  <p:embed/>
                </p:oleObj>
              </mc:Choice>
              <mc:Fallback>
                <p:oleObj name="Equation" r:id="rId19" imgW="3581280" imgH="53316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933" y="5672485"/>
                        <a:ext cx="6815442" cy="10222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AB04F65-37B1-83A3-EF24-F184CC49F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82372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C45C560-BEFF-E18D-7D36-02A42391D852}"/>
              </a:ext>
            </a:extLst>
          </p:cNvPr>
          <p:cNvSpPr txBox="1"/>
          <p:nvPr/>
        </p:nvSpPr>
        <p:spPr>
          <a:xfrm>
            <a:off x="575556" y="951480"/>
            <a:ext cx="7416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zh-CN" altLang="en-US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电磁功率控制</a:t>
            </a:r>
            <a:r>
              <a:rPr lang="zh-CN" altLang="zh-C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型</a:t>
            </a:r>
            <a:r>
              <a:rPr lang="zh-CN" altLang="en-US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en-US" altLang="zh-CN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a) </a:t>
            </a:r>
            <a:r>
              <a:rPr lang="zh-CN" altLang="en-US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笼型转子</a:t>
            </a:r>
            <a:r>
              <a:rPr lang="zh-CN" altLang="en-US" sz="2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恒频降压</a:t>
            </a:r>
            <a:r>
              <a:rPr lang="zh-CN" altLang="en-US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调速；</a:t>
            </a:r>
            <a:r>
              <a:rPr lang="en-US" altLang="zh-CN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）绕线转子</a:t>
            </a:r>
            <a:r>
              <a:rPr lang="zh-CN" altLang="en-US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串级调速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EF9F37-8878-0290-EC50-0FDC7AEAF272}"/>
              </a:ext>
            </a:extLst>
          </p:cNvPr>
          <p:cNvSpPr txBox="1"/>
          <p:nvPr/>
        </p:nvSpPr>
        <p:spPr>
          <a:xfrm>
            <a:off x="788864" y="1772816"/>
            <a:ext cx="3279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zh-CN" sz="24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笼型，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恒频</a:t>
            </a:r>
            <a:r>
              <a:rPr lang="zh-CN" altLang="zh-CN" sz="24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降压：</a:t>
            </a:r>
            <a:endParaRPr lang="zh-CN" altLang="zh-CN" sz="2400" b="1" dirty="0">
              <a:solidFill>
                <a:srgbClr val="FF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5BA8F73B-08E1-3430-1DBC-493A7B0EBB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814813"/>
              </p:ext>
            </p:extLst>
          </p:nvPr>
        </p:nvGraphicFramePr>
        <p:xfrm>
          <a:off x="774469" y="2643184"/>
          <a:ext cx="4464496" cy="953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32100" imgH="596900" progId="Equation.DSMT4">
                  <p:embed/>
                </p:oleObj>
              </mc:Choice>
              <mc:Fallback>
                <p:oleObj name="Equation" r:id="rId3" imgW="2832100" imgH="596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469" y="2643184"/>
                        <a:ext cx="4464496" cy="953051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028F44E5-257E-40EC-D8D4-0EFB4C6D279E}"/>
              </a:ext>
            </a:extLst>
          </p:cNvPr>
          <p:cNvSpPr txBox="1"/>
          <p:nvPr/>
        </p:nvSpPr>
        <p:spPr>
          <a:xfrm>
            <a:off x="251520" y="2276872"/>
            <a:ext cx="1800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最大转矩</a:t>
            </a:r>
            <a:r>
              <a:rPr lang="zh-CN" altLang="zh-CN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939B30B-D6BF-3C2C-48E5-698D60562043}"/>
              </a:ext>
            </a:extLst>
          </p:cNvPr>
          <p:cNvSpPr txBox="1"/>
          <p:nvPr/>
        </p:nvSpPr>
        <p:spPr>
          <a:xfrm>
            <a:off x="259678" y="3604828"/>
            <a:ext cx="30601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临界转差率</a:t>
            </a:r>
            <a:r>
              <a:rPr lang="zh-CN" altLang="zh-CN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CA3EF379-0FAC-850C-5459-BC198DF043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749291"/>
              </p:ext>
            </p:extLst>
          </p:nvPr>
        </p:nvGraphicFramePr>
        <p:xfrm>
          <a:off x="1835696" y="3607391"/>
          <a:ext cx="2592288" cy="949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60500" imgH="533400" progId="Equation.DSMT4">
                  <p:embed/>
                </p:oleObj>
              </mc:Choice>
              <mc:Fallback>
                <p:oleObj name="Equation" r:id="rId5" imgW="1460500" imgH="533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607391"/>
                        <a:ext cx="2592288" cy="94974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34">
            <a:extLst>
              <a:ext uri="{FF2B5EF4-FFF2-40B4-BE49-F238E27FC236}">
                <a16:creationId xmlns:a16="http://schemas.microsoft.com/office/drawing/2014/main" id="{26DE94DE-8BA7-8FDA-9796-D3F912CB57F8}"/>
              </a:ext>
            </a:extLst>
          </p:cNvPr>
          <p:cNvSpPr txBox="1"/>
          <p:nvPr/>
        </p:nvSpPr>
        <p:spPr>
          <a:xfrm>
            <a:off x="258912" y="4673417"/>
            <a:ext cx="8417544" cy="82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000" b="1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dirty="0" err="1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cr</a:t>
            </a:r>
            <a:r>
              <a:rPr lang="zh-CN" altLang="en-US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与电压无关</a:t>
            </a:r>
            <a:r>
              <a:rPr lang="zh-CN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低压时，最大转矩很小，恒转矩负载时，最低转速受</a:t>
            </a:r>
            <a:r>
              <a:rPr lang="en-US" altLang="zh-CN" sz="2000" b="1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dirty="0" err="1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cr</a:t>
            </a:r>
            <a:r>
              <a:rPr lang="zh-CN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限制。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负载能力：当       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时，由于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52D663F8-8BA8-D740-CDE6-3B00641FAF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9525"/>
              </p:ext>
            </p:extLst>
          </p:nvPr>
        </p:nvGraphicFramePr>
        <p:xfrm>
          <a:off x="5288396" y="1908616"/>
          <a:ext cx="3401876" cy="2762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182813" imgH="1768475" progId="MSDraw">
                  <p:embed/>
                </p:oleObj>
              </mc:Choice>
              <mc:Fallback>
                <p:oleObj r:id="rId7" imgW="2182813" imgH="1768475" progId="MSDraw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8396" y="1908616"/>
                        <a:ext cx="3401876" cy="27623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457B60E8-0D80-6BD5-542C-9F6BC7CB6D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563402"/>
              </p:ext>
            </p:extLst>
          </p:nvPr>
        </p:nvGraphicFramePr>
        <p:xfrm>
          <a:off x="3059832" y="5091320"/>
          <a:ext cx="877334" cy="396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08662" imgH="228898" progId="Equation.DSMT4">
                  <p:embed/>
                </p:oleObj>
              </mc:Choice>
              <mc:Fallback>
                <p:oleObj name="Equation" r:id="rId9" imgW="508662" imgH="22889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5091320"/>
                        <a:ext cx="877334" cy="3962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2A4FEB74-AAE7-157B-0946-4301EE979C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3676769"/>
              </p:ext>
            </p:extLst>
          </p:nvPr>
        </p:nvGraphicFramePr>
        <p:xfrm>
          <a:off x="4963411" y="5130030"/>
          <a:ext cx="3549349" cy="387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70999" imgH="228699" progId="Equation.DSMT4">
                  <p:embed/>
                </p:oleObj>
              </mc:Choice>
              <mc:Fallback>
                <p:oleObj name="Equation" r:id="rId11" imgW="2070999" imgH="228699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3411" y="5130030"/>
                        <a:ext cx="3549349" cy="3872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82F4DF24-9A2E-A08B-85C6-AB03A979BE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638401"/>
              </p:ext>
            </p:extLst>
          </p:nvPr>
        </p:nvGraphicFramePr>
        <p:xfrm>
          <a:off x="325355" y="5719763"/>
          <a:ext cx="34750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44440" imgH="228600" progId="Equation.DSMT4">
                  <p:embed/>
                </p:oleObj>
              </mc:Choice>
              <mc:Fallback>
                <p:oleObj name="Equation" r:id="rId13" imgW="2044440" imgH="228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355" y="5719763"/>
                        <a:ext cx="3475038" cy="381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CB34B61E-2720-C9A6-7D1F-3DE7A277D4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5404965"/>
              </p:ext>
            </p:extLst>
          </p:nvPr>
        </p:nvGraphicFramePr>
        <p:xfrm>
          <a:off x="4373563" y="5719763"/>
          <a:ext cx="3405187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031840" imgH="228600" progId="Equation.3">
                  <p:embed/>
                </p:oleObj>
              </mc:Choice>
              <mc:Fallback>
                <p:oleObj name="公式" r:id="rId15" imgW="203184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563" y="5719763"/>
                        <a:ext cx="3405187" cy="382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文本框 60">
            <a:extLst>
              <a:ext uri="{FF2B5EF4-FFF2-40B4-BE49-F238E27FC236}">
                <a16:creationId xmlns:a16="http://schemas.microsoft.com/office/drawing/2014/main" id="{528ED2EF-F7FA-5661-F7E5-1257297BE0F7}"/>
              </a:ext>
            </a:extLst>
          </p:cNvPr>
          <p:cNvSpPr txBox="1"/>
          <p:nvPr/>
        </p:nvSpPr>
        <p:spPr>
          <a:xfrm>
            <a:off x="755576" y="6209277"/>
            <a:ext cx="77048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优：简单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缺：低速下效率低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应用范围：长期高速，短时低速</a:t>
            </a:r>
            <a:endParaRPr lang="zh-CN" altLang="zh-CN" sz="2000" b="1" dirty="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2" name="箭头: 右 61">
            <a:extLst>
              <a:ext uri="{FF2B5EF4-FFF2-40B4-BE49-F238E27FC236}">
                <a16:creationId xmlns:a16="http://schemas.microsoft.com/office/drawing/2014/main" id="{ED11F22F-A6EC-A12F-1FDE-66C0F682E33E}"/>
              </a:ext>
            </a:extLst>
          </p:cNvPr>
          <p:cNvSpPr/>
          <p:nvPr/>
        </p:nvSpPr>
        <p:spPr>
          <a:xfrm>
            <a:off x="3937166" y="5830984"/>
            <a:ext cx="288032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7CC1A9D-3873-364D-D60B-6EBC7DB5D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986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C45C560-BEFF-E18D-7D36-02A42391D852}"/>
              </a:ext>
            </a:extLst>
          </p:cNvPr>
          <p:cNvSpPr txBox="1"/>
          <p:nvPr/>
        </p:nvSpPr>
        <p:spPr>
          <a:xfrm>
            <a:off x="683568" y="980728"/>
            <a:ext cx="3528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4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）绕线转子</a:t>
            </a:r>
            <a:r>
              <a:rPr lang="zh-CN" altLang="en-US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串级调速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53D4F78-1403-8515-2260-F80F7D9EC9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04458"/>
              </p:ext>
            </p:extLst>
          </p:nvPr>
        </p:nvGraphicFramePr>
        <p:xfrm>
          <a:off x="6320576" y="1123475"/>
          <a:ext cx="2736304" cy="1300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63650" imgH="598488" progId="MSDraw">
                  <p:embed/>
                </p:oleObj>
              </mc:Choice>
              <mc:Fallback>
                <p:oleObj r:id="rId3" imgW="1263650" imgH="598488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0576" y="1123475"/>
                        <a:ext cx="2736304" cy="13007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918DC21F-2D5D-1257-8236-C4D6756B2D7E}"/>
              </a:ext>
            </a:extLst>
          </p:cNvPr>
          <p:cNvSpPr txBox="1"/>
          <p:nvPr/>
        </p:nvSpPr>
        <p:spPr>
          <a:xfrm>
            <a:off x="520530" y="1442393"/>
            <a:ext cx="57076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定子绕组仍接三相电源，但在转子绕组上</a:t>
            </a: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串接</a:t>
            </a:r>
            <a:r>
              <a:rPr lang="zh-CN" altLang="en-US" sz="20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另一个三相电源</a:t>
            </a: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，相电压为     ，频率与转子绕组电势     的频率相同，相位则相差</a:t>
            </a:r>
            <a:r>
              <a:rPr lang="en-US" altLang="zh-CN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180°</a:t>
            </a: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，则转子绕组电流：</a:t>
            </a:r>
            <a:endParaRPr lang="zh-CN" altLang="en-US" sz="20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7976C6C-7002-1397-1312-44B49E7F75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405340"/>
              </p:ext>
            </p:extLst>
          </p:nvPr>
        </p:nvGraphicFramePr>
        <p:xfrm>
          <a:off x="3923928" y="1671224"/>
          <a:ext cx="361402" cy="43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4331" imgH="305197" progId="Equation.DSMT4">
                  <p:embed/>
                </p:oleObj>
              </mc:Choice>
              <mc:Fallback>
                <p:oleObj name="Equation" r:id="rId5" imgW="254331" imgH="30519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1671224"/>
                        <a:ext cx="361402" cy="4328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B9D5477-64C3-A53F-3484-2AEE942D94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748732"/>
              </p:ext>
            </p:extLst>
          </p:nvPr>
        </p:nvGraphicFramePr>
        <p:xfrm>
          <a:off x="1366734" y="1969724"/>
          <a:ext cx="361402" cy="454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1200" imgH="304560" progId="Equation.DSMT4">
                  <p:embed/>
                </p:oleObj>
              </mc:Choice>
              <mc:Fallback>
                <p:oleObj name="Equation" r:id="rId7" imgW="241200" imgH="304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57976C6C-7002-1397-1312-44B49E7F75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734" y="1969724"/>
                        <a:ext cx="361402" cy="4545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8402BE6C-DD94-2402-0454-2970E08036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037158"/>
              </p:ext>
            </p:extLst>
          </p:nvPr>
        </p:nvGraphicFramePr>
        <p:xfrm>
          <a:off x="1547435" y="2674927"/>
          <a:ext cx="1646602" cy="912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29147" imgH="571748" progId="Equation.DSMT4">
                  <p:embed/>
                </p:oleObj>
              </mc:Choice>
              <mc:Fallback>
                <p:oleObj name="Equation" r:id="rId9" imgW="1029147" imgH="57174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435" y="2674927"/>
                        <a:ext cx="1646602" cy="9123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0264BC5F-5394-BF87-C2D1-27752A8AF4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130839"/>
              </p:ext>
            </p:extLst>
          </p:nvPr>
        </p:nvGraphicFramePr>
        <p:xfrm>
          <a:off x="3802276" y="2530685"/>
          <a:ext cx="5007738" cy="1258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046678" imgH="761669" progId="Equation.DSMT4">
                  <p:embed/>
                </p:oleObj>
              </mc:Choice>
              <mc:Fallback>
                <p:oleObj name="Equation" r:id="rId11" imgW="3046678" imgH="761669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2276" y="2530685"/>
                        <a:ext cx="5007738" cy="12583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箭头: 右 28">
            <a:extLst>
              <a:ext uri="{FF2B5EF4-FFF2-40B4-BE49-F238E27FC236}">
                <a16:creationId xmlns:a16="http://schemas.microsoft.com/office/drawing/2014/main" id="{891E5B3F-C13F-0FED-8B19-EEDDBF77998D}"/>
              </a:ext>
            </a:extLst>
          </p:cNvPr>
          <p:cNvSpPr/>
          <p:nvPr/>
        </p:nvSpPr>
        <p:spPr>
          <a:xfrm>
            <a:off x="3347864" y="2998972"/>
            <a:ext cx="358282" cy="2642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7B412BD5-32FC-5B60-C4EE-FDFF4BCAFB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063111"/>
              </p:ext>
            </p:extLst>
          </p:nvPr>
        </p:nvGraphicFramePr>
        <p:xfrm>
          <a:off x="1075675" y="3984382"/>
          <a:ext cx="239077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98214" imgH="228799" progId="Equation.DSMT4">
                  <p:embed/>
                </p:oleObj>
              </mc:Choice>
              <mc:Fallback>
                <p:oleObj name="Equation" r:id="rId13" imgW="1398214" imgH="22879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675" y="3984382"/>
                        <a:ext cx="2390775" cy="3857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21">
            <a:extLst>
              <a:ext uri="{FF2B5EF4-FFF2-40B4-BE49-F238E27FC236}">
                <a16:creationId xmlns:a16="http://schemas.microsoft.com/office/drawing/2014/main" id="{6F65C6CE-1F3B-7D35-0E8B-6F6BB6DB9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95" y="3943209"/>
            <a:ext cx="41764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     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B50B6800-1720-19E4-D5BD-744C327120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039048"/>
              </p:ext>
            </p:extLst>
          </p:nvPr>
        </p:nvGraphicFramePr>
        <p:xfrm>
          <a:off x="4364000" y="4533182"/>
          <a:ext cx="4692880" cy="2142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4265613" imgH="1687513" progId="MSDraw">
                  <p:embed/>
                </p:oleObj>
              </mc:Choice>
              <mc:Fallback>
                <p:oleObj r:id="rId15" imgW="4265613" imgH="1687513" progId="MSDraw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4000" y="4533182"/>
                        <a:ext cx="4692880" cy="21425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1A2A6467-776B-5373-09C9-B7902A49F6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556528"/>
              </p:ext>
            </p:extLst>
          </p:nvPr>
        </p:nvGraphicFramePr>
        <p:xfrm>
          <a:off x="3946283" y="3845311"/>
          <a:ext cx="4994361" cy="663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213000" imgH="431640" progId="Equation.DSMT4">
                  <p:embed/>
                </p:oleObj>
              </mc:Choice>
              <mc:Fallback>
                <p:oleObj name="Equation" r:id="rId17" imgW="3213000" imgH="43164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283" y="3845311"/>
                        <a:ext cx="4994361" cy="6639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78A77B00-9C92-5A8C-2D14-FE6D126D8DA0}"/>
              </a:ext>
            </a:extLst>
          </p:cNvPr>
          <p:cNvCxnSpPr>
            <a:cxnSpLocks/>
          </p:cNvCxnSpPr>
          <p:nvPr/>
        </p:nvCxnSpPr>
        <p:spPr>
          <a:xfrm>
            <a:off x="5867681" y="4437900"/>
            <a:ext cx="648535" cy="5262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16477940-C1FE-B60F-CFDD-86A633E78C4A}"/>
              </a:ext>
            </a:extLst>
          </p:cNvPr>
          <p:cNvCxnSpPr>
            <a:cxnSpLocks/>
          </p:cNvCxnSpPr>
          <p:nvPr/>
        </p:nvCxnSpPr>
        <p:spPr>
          <a:xfrm>
            <a:off x="7418259" y="4309014"/>
            <a:ext cx="538117" cy="40011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3">
            <a:extLst>
              <a:ext uri="{FF2B5EF4-FFF2-40B4-BE49-F238E27FC236}">
                <a16:creationId xmlns:a16="http://schemas.microsoft.com/office/drawing/2014/main" id="{C604F32D-B819-034E-CD62-B4BBE13E4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4869160"/>
            <a:ext cx="3807500" cy="1631216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因此，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且绝对值增大时，机械特性向下移动，最大转矩、起动转矩减小。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且绝对值增大时，机械特性向上移动，最大转矩、起动转矩增大。</a:t>
            </a:r>
          </a:p>
        </p:txBody>
      </p:sp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4183D403-E271-8923-9C05-949B3B3020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488125"/>
              </p:ext>
            </p:extLst>
          </p:nvPr>
        </p:nvGraphicFramePr>
        <p:xfrm>
          <a:off x="1206055" y="4932758"/>
          <a:ext cx="763371" cy="343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21152" imgH="228799" progId="Equation.DSMT4">
                  <p:embed/>
                </p:oleObj>
              </mc:Choice>
              <mc:Fallback>
                <p:oleObj name="Equation" r:id="rId19" imgW="521152" imgH="228799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055" y="4932758"/>
                        <a:ext cx="763371" cy="3439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对象 64">
            <a:extLst>
              <a:ext uri="{FF2B5EF4-FFF2-40B4-BE49-F238E27FC236}">
                <a16:creationId xmlns:a16="http://schemas.microsoft.com/office/drawing/2014/main" id="{C43FE1A7-9093-EF5F-6442-A85C51B11E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224712"/>
              </p:ext>
            </p:extLst>
          </p:nvPr>
        </p:nvGraphicFramePr>
        <p:xfrm>
          <a:off x="2232912" y="5511173"/>
          <a:ext cx="765564" cy="334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21152" imgH="228799" progId="Equation.DSMT4">
                  <p:embed/>
                </p:oleObj>
              </mc:Choice>
              <mc:Fallback>
                <p:oleObj name="Equation" r:id="rId21" imgW="521152" imgH="228799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912" y="5511173"/>
                        <a:ext cx="765564" cy="3346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24FCD4-9888-1B73-7026-5E227FC3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05944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24">
            <a:extLst>
              <a:ext uri="{FF2B5EF4-FFF2-40B4-BE49-F238E27FC236}">
                <a16:creationId xmlns:a16="http://schemas.microsoft.com/office/drawing/2014/main" id="{D5BEB460-0FA7-9CAD-C6CA-9F7BF2258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3636583"/>
            <a:ext cx="3816424" cy="1520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超前      ，转子合成电势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在相位上超前   ，转子电流稍有增长， 基本不变， 减小，功率因素提高。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352090B6-3AB0-1DD1-B90D-DC8488E76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908720"/>
            <a:ext cx="813690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在稳速运行时通常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很小，转差功率因素接近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Rr&gt;&gt;</a:t>
            </a:r>
            <a:r>
              <a:rPr kumimoji="0" lang="en-US" altLang="zh-CN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sXr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，可忽略</a:t>
            </a:r>
            <a:r>
              <a:rPr kumimoji="0" lang="en-US" altLang="zh-CN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sXr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的影响，因此，转子绕组电流可近似为：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9F782EB5-D91E-D6E7-F618-66461B6906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5399" y="1556792"/>
          <a:ext cx="3024336" cy="818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28800" imgH="495300" progId="Equation.DSMT4">
                  <p:embed/>
                </p:oleObj>
              </mc:Choice>
              <mc:Fallback>
                <p:oleObj name="Equation" r:id="rId3" imgW="1828800" imgH="4953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9F782EB5-D91E-D6E7-F618-66461B6906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399" y="1556792"/>
                        <a:ext cx="3024336" cy="8181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2">
            <a:extLst>
              <a:ext uri="{FF2B5EF4-FFF2-40B4-BE49-F238E27FC236}">
                <a16:creationId xmlns:a16="http://schemas.microsoft.com/office/drawing/2014/main" id="{966EE02E-FF8A-32F9-B0E4-21852D5C5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7636" y="1781226"/>
            <a:ext cx="31815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’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      时的转差率 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B9BA5626-5DD5-1D99-AE2E-9F1E3AB0A9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3272" y="1707412"/>
          <a:ext cx="720080" cy="410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20926" imgH="304932" progId="Equation.DSMT4">
                  <p:embed/>
                </p:oleObj>
              </mc:Choice>
              <mc:Fallback>
                <p:oleObj name="Equation" r:id="rId5" imgW="520926" imgH="304932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B9BA5626-5DD5-1D99-AE2E-9F1E3AB0A9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3272" y="1707412"/>
                        <a:ext cx="720080" cy="4108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575CAE67-1624-1B4A-59EB-142675CA8B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407532"/>
              </p:ext>
            </p:extLst>
          </p:nvPr>
        </p:nvGraphicFramePr>
        <p:xfrm>
          <a:off x="2379766" y="2249810"/>
          <a:ext cx="13335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75036" imgH="470104" progId="Equation.DSMT4">
                  <p:embed/>
                </p:oleObj>
              </mc:Choice>
              <mc:Fallback>
                <p:oleObj name="Equation" r:id="rId7" imgW="775036" imgH="470104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575CAE67-1624-1B4A-59EB-142675CA8B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766" y="2249810"/>
                        <a:ext cx="1333500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97010780-4E46-F2DA-74F0-330E6DF7C5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054980"/>
              </p:ext>
            </p:extLst>
          </p:nvPr>
        </p:nvGraphicFramePr>
        <p:xfrm>
          <a:off x="4479279" y="2423706"/>
          <a:ext cx="2226889" cy="43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57300" imgH="254000" progId="Equation.DSMT4">
                  <p:embed/>
                </p:oleObj>
              </mc:Choice>
              <mc:Fallback>
                <p:oleObj name="Equation" r:id="rId9" imgW="1257300" imgH="2540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97010780-4E46-F2DA-74F0-330E6DF7C5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9279" y="2423706"/>
                        <a:ext cx="2226889" cy="437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6">
            <a:extLst>
              <a:ext uri="{FF2B5EF4-FFF2-40B4-BE49-F238E27FC236}">
                <a16:creationId xmlns:a16="http://schemas.microsoft.com/office/drawing/2014/main" id="{5CA72FDA-F658-D5FE-DF91-8AE15D8F4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708" y="2442364"/>
            <a:ext cx="553459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此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          ，因此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96A78EF-E129-B93E-67B6-25EC4485DFC5}"/>
              </a:ext>
            </a:extLst>
          </p:cNvPr>
          <p:cNvSpPr txBox="1"/>
          <p:nvPr/>
        </p:nvSpPr>
        <p:spPr>
          <a:xfrm>
            <a:off x="260235" y="311767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〖讨论：相位差为其它值时的情况〗</a:t>
            </a:r>
            <a:endParaRPr lang="zh-CN" altLang="zh-CN" sz="24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394BEB54-6880-D91C-0A96-CF53DCBA4C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30269"/>
              </p:ext>
            </p:extLst>
          </p:nvPr>
        </p:nvGraphicFramePr>
        <p:xfrm>
          <a:off x="4319324" y="2944040"/>
          <a:ext cx="4705651" cy="3845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538413" imgH="1868488" progId="MSDraw">
                  <p:embed/>
                </p:oleObj>
              </mc:Choice>
              <mc:Fallback>
                <p:oleObj r:id="rId11" imgW="2538413" imgH="1868488" progId="MSDraw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394BEB54-6880-D91C-0A96-CF53DCBA4C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324" y="2944040"/>
                        <a:ext cx="4705651" cy="38453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9920A6E4-DE2F-AA75-C29A-E603AF34CD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137066"/>
              </p:ext>
            </p:extLst>
          </p:nvPr>
        </p:nvGraphicFramePr>
        <p:xfrm>
          <a:off x="1032458" y="3573016"/>
          <a:ext cx="39528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4331" imgH="305197" progId="Equation.DSMT4">
                  <p:embed/>
                </p:oleObj>
              </mc:Choice>
              <mc:Fallback>
                <p:oleObj name="Equation" r:id="rId13" imgW="254331" imgH="305197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9920A6E4-DE2F-AA75-C29A-E603AF34CD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2458" y="3573016"/>
                        <a:ext cx="395288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958E720C-56E5-0226-A147-3EDF864135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287178"/>
              </p:ext>
            </p:extLst>
          </p:nvPr>
        </p:nvGraphicFramePr>
        <p:xfrm>
          <a:off x="1968562" y="3573016"/>
          <a:ext cx="8143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59529" imgH="368780" progId="Equation.DSMT4">
                  <p:embed/>
                </p:oleObj>
              </mc:Choice>
              <mc:Fallback>
                <p:oleObj name="Equation" r:id="rId15" imgW="559529" imgH="36878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958E720C-56E5-0226-A147-3EDF864135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62" y="3573016"/>
                        <a:ext cx="814388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B30BB399-BAB9-84BF-7168-08DBE052F0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706329"/>
              </p:ext>
            </p:extLst>
          </p:nvPr>
        </p:nvGraphicFramePr>
        <p:xfrm>
          <a:off x="2742295" y="3946306"/>
          <a:ext cx="43815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43347" imgH="368780" progId="Equation.DSMT4">
                  <p:embed/>
                </p:oleObj>
              </mc:Choice>
              <mc:Fallback>
                <p:oleObj name="Equation" r:id="rId17" imgW="343347" imgH="36878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B30BB399-BAB9-84BF-7168-08DBE052F0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2295" y="3946306"/>
                        <a:ext cx="438150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8DE3B55F-85B0-05A5-3049-9B47EC6BCC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390940"/>
              </p:ext>
            </p:extLst>
          </p:nvPr>
        </p:nvGraphicFramePr>
        <p:xfrm>
          <a:off x="1893895" y="4394462"/>
          <a:ext cx="326306" cy="41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8032" imgH="228898" progId="Equation.DSMT4">
                  <p:embed/>
                </p:oleObj>
              </mc:Choice>
              <mc:Fallback>
                <p:oleObj name="Equation" r:id="rId19" imgW="178032" imgH="228898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8DE3B55F-85B0-05A5-3049-9B47EC6BCC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895" y="4394462"/>
                        <a:ext cx="326306" cy="4119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5DAB368D-3C46-F99D-12D9-6B7A840057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64745"/>
              </p:ext>
            </p:extLst>
          </p:nvPr>
        </p:nvGraphicFramePr>
        <p:xfrm>
          <a:off x="3338318" y="4388445"/>
          <a:ext cx="329569" cy="41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8032" imgH="228898" progId="Equation.DSMT4">
                  <p:embed/>
                </p:oleObj>
              </mc:Choice>
              <mc:Fallback>
                <p:oleObj name="Equation" r:id="rId21" imgW="178032" imgH="228898" progId="Equation.DSMT4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5DAB368D-3C46-F99D-12D9-6B7A840057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318" y="4388445"/>
                        <a:ext cx="329569" cy="4119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Rectangle 24">
            <a:extLst>
              <a:ext uri="{FF2B5EF4-FFF2-40B4-BE49-F238E27FC236}">
                <a16:creationId xmlns:a16="http://schemas.microsoft.com/office/drawing/2014/main" id="{5985C4F1-FB6B-EC9C-FB56-080684DAF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5230051"/>
            <a:ext cx="3816424" cy="1151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超前     ，则其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cos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分量与   同相使电动机调速，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sin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分量将提高定子的功率因数。</a:t>
            </a:r>
          </a:p>
        </p:txBody>
      </p:sp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99E62C50-A402-1CEF-883A-23F0EAF4B5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659682"/>
              </p:ext>
            </p:extLst>
          </p:nvPr>
        </p:nvGraphicFramePr>
        <p:xfrm>
          <a:off x="1032458" y="5109221"/>
          <a:ext cx="39528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4331" imgH="305197" progId="Equation.DSMT4">
                  <p:embed/>
                </p:oleObj>
              </mc:Choice>
              <mc:Fallback>
                <p:oleObj name="Equation" r:id="rId13" imgW="254331" imgH="305197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99E62C50-A402-1CEF-883A-23F0EAF4B5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2458" y="5109221"/>
                        <a:ext cx="395288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>
            <a:extLst>
              <a:ext uri="{FF2B5EF4-FFF2-40B4-BE49-F238E27FC236}">
                <a16:creationId xmlns:a16="http://schemas.microsoft.com/office/drawing/2014/main" id="{1BBCE5AC-2360-8CC6-51F9-23C783C5EB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272328"/>
              </p:ext>
            </p:extLst>
          </p:nvPr>
        </p:nvGraphicFramePr>
        <p:xfrm>
          <a:off x="1998547" y="5168931"/>
          <a:ext cx="547688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19829" imgH="368941" progId="Equation.DSMT4">
                  <p:embed/>
                </p:oleObj>
              </mc:Choice>
              <mc:Fallback>
                <p:oleObj name="Equation" r:id="rId23" imgW="419829" imgH="368941" progId="Equation.DSMT4">
                  <p:embed/>
                  <p:pic>
                    <p:nvPicPr>
                      <p:cNvPr id="60" name="对象 59">
                        <a:extLst>
                          <a:ext uri="{FF2B5EF4-FFF2-40B4-BE49-F238E27FC236}">
                            <a16:creationId xmlns:a16="http://schemas.microsoft.com/office/drawing/2014/main" id="{1BBCE5AC-2360-8CC6-51F9-23C783C5EB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547" y="5168931"/>
                        <a:ext cx="547688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>
            <a:extLst>
              <a:ext uri="{FF2B5EF4-FFF2-40B4-BE49-F238E27FC236}">
                <a16:creationId xmlns:a16="http://schemas.microsoft.com/office/drawing/2014/main" id="{63683E8B-EF81-B172-E3EE-B2AF9F7BD5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657080"/>
              </p:ext>
            </p:extLst>
          </p:nvPr>
        </p:nvGraphicFramePr>
        <p:xfrm>
          <a:off x="1032458" y="5510864"/>
          <a:ext cx="504825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43347" imgH="368780" progId="Equation.DSMT4">
                  <p:embed/>
                </p:oleObj>
              </mc:Choice>
              <mc:Fallback>
                <p:oleObj name="Equation" r:id="rId25" imgW="343347" imgH="368780" progId="Equation.DSMT4">
                  <p:embed/>
                  <p:pic>
                    <p:nvPicPr>
                      <p:cNvPr id="62" name="对象 61">
                        <a:extLst>
                          <a:ext uri="{FF2B5EF4-FFF2-40B4-BE49-F238E27FC236}">
                            <a16:creationId xmlns:a16="http://schemas.microsoft.com/office/drawing/2014/main" id="{63683E8B-EF81-B172-E3EE-B2AF9F7BD5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2458" y="5510864"/>
                        <a:ext cx="504825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403C067-5D1B-9726-2365-50DC1D54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9232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 68">
            <a:extLst>
              <a:ext uri="{FF2B5EF4-FFF2-40B4-BE49-F238E27FC236}">
                <a16:creationId xmlns:a16="http://schemas.microsoft.com/office/drawing/2014/main" id="{129103A5-D02C-C0D2-12F0-23591AB7E423}"/>
              </a:ext>
            </a:extLst>
          </p:cNvPr>
          <p:cNvSpPr txBox="1"/>
          <p:nvPr/>
        </p:nvSpPr>
        <p:spPr>
          <a:xfrm>
            <a:off x="683568" y="1492906"/>
            <a:ext cx="72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实现：</a:t>
            </a:r>
            <a:r>
              <a:rPr lang="zh-CN" altLang="zh-CN" sz="24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将转子绕组电势整流成直流后再逆变回电网。</a:t>
            </a:r>
            <a:endParaRPr lang="zh-CN" altLang="zh-CN" sz="2800" b="1" dirty="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6F47455C-CA41-1D8A-AF49-68C1FA32FA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063937"/>
              </p:ext>
            </p:extLst>
          </p:nvPr>
        </p:nvGraphicFramePr>
        <p:xfrm>
          <a:off x="2045593" y="2215722"/>
          <a:ext cx="4476750" cy="327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76488" imgH="1735138" progId="MSDraw">
                  <p:embed/>
                </p:oleObj>
              </mc:Choice>
              <mc:Fallback>
                <p:oleObj r:id="rId3" imgW="2376488" imgH="1735138" progId="MSDraw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5593" y="2215722"/>
                        <a:ext cx="4476750" cy="3271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Rectangle 41">
            <a:extLst>
              <a:ext uri="{FF2B5EF4-FFF2-40B4-BE49-F238E27FC236}">
                <a16:creationId xmlns:a16="http://schemas.microsoft.com/office/drawing/2014/main" id="{5083813D-3352-7E5B-6B3B-33D8C5E9C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389455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3" name="对象 72">
            <a:extLst>
              <a:ext uri="{FF2B5EF4-FFF2-40B4-BE49-F238E27FC236}">
                <a16:creationId xmlns:a16="http://schemas.microsoft.com/office/drawing/2014/main" id="{3BD8CA38-6094-317E-B63B-E50A5221F6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224929"/>
              </p:ext>
            </p:extLst>
          </p:nvPr>
        </p:nvGraphicFramePr>
        <p:xfrm>
          <a:off x="3851920" y="5011189"/>
          <a:ext cx="82867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08441" imgH="444886" progId="Equation.DSMT4">
                  <p:embed/>
                </p:oleObj>
              </mc:Choice>
              <mc:Fallback>
                <p:oleObj name="Equation" r:id="rId5" imgW="508441" imgH="444886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5011189"/>
                        <a:ext cx="828675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Rectangle 42">
            <a:extLst>
              <a:ext uri="{FF2B5EF4-FFF2-40B4-BE49-F238E27FC236}">
                <a16:creationId xmlns:a16="http://schemas.microsoft.com/office/drawing/2014/main" id="{05288B09-DBED-2D27-E082-4C5B0F88C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37" y="5913089"/>
            <a:ext cx="82449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优点：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效率高；缺点：价高，对恒转矩负载调速范围较小。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78E2DCC0-C223-804C-5AB2-703ACBDE1E1A}"/>
              </a:ext>
            </a:extLst>
          </p:cNvPr>
          <p:cNvSpPr txBox="1"/>
          <p:nvPr/>
        </p:nvSpPr>
        <p:spPr>
          <a:xfrm>
            <a:off x="683568" y="968274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困难：</a:t>
            </a:r>
            <a:r>
              <a:rPr lang="zh-CN" altLang="zh-CN" sz="24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串入电势频率如何跟踪</a:t>
            </a:r>
            <a:r>
              <a:rPr lang="en-US" altLang="zh-CN" sz="24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zh-CN" sz="24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zh-CN" sz="24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的变化而变化。</a:t>
            </a:r>
            <a:endParaRPr lang="zh-CN" altLang="zh-CN" sz="2400" b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E169D5-7337-C666-7C85-74C273ED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4001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ABA899-5BCB-11C9-5A34-7EB847007F35}"/>
              </a:ext>
            </a:extLst>
          </p:cNvPr>
          <p:cNvSpPr txBox="1"/>
          <p:nvPr/>
        </p:nvSpPr>
        <p:spPr>
          <a:xfrm>
            <a:off x="683568" y="98072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二、改变磁极对数调速【了解】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B2CB47-F0A5-FC05-7DA8-6B19C50C6CE0}"/>
              </a:ext>
            </a:extLst>
          </p:cNvPr>
          <p:cNvSpPr txBox="1"/>
          <p:nvPr/>
        </p:nvSpPr>
        <p:spPr>
          <a:xfrm>
            <a:off x="683569" y="1442393"/>
            <a:ext cx="45719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tabLst>
                <a:tab pos="266700" algn="l"/>
              </a:tabLst>
            </a:pPr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改变磁极对数的方法</a:t>
            </a:r>
          </a:p>
          <a:p>
            <a:pPr algn="just"/>
            <a:r>
              <a:rPr lang="en-US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当定子每相绕组有两个以上线圈引出时，</a:t>
            </a:r>
            <a:r>
              <a:rPr lang="zh-CN" altLang="zh-CN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可通过改变线圈的连接方式改变电机的磁极对数，实现变极调速。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FEC262E-0050-FEBE-B58C-4005FAF45F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97664"/>
              </p:ext>
            </p:extLst>
          </p:nvPr>
        </p:nvGraphicFramePr>
        <p:xfrm>
          <a:off x="1870745" y="2642722"/>
          <a:ext cx="2197645" cy="4096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81188" imgH="3511550" progId="MSDraw">
                  <p:embed/>
                </p:oleObj>
              </mc:Choice>
              <mc:Fallback>
                <p:oleObj r:id="rId3" imgW="1881188" imgH="3511550" progId="MSDraw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5FEC262E-0050-FEBE-B58C-4005FAF45F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0745" y="2642722"/>
                        <a:ext cx="2197645" cy="40963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C777EF36-1830-FD81-35BF-C8C8B6A099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707971"/>
              </p:ext>
            </p:extLst>
          </p:nvPr>
        </p:nvGraphicFramePr>
        <p:xfrm>
          <a:off x="5463557" y="836712"/>
          <a:ext cx="3276872" cy="546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082800" imgH="4984750" progId="MSDraw">
                  <p:embed/>
                </p:oleObj>
              </mc:Choice>
              <mc:Fallback>
                <p:oleObj r:id="rId5" imgW="2082800" imgH="4984750" progId="MSDraw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C777EF36-1830-FD81-35BF-C8C8B6A099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3557" y="836712"/>
                        <a:ext cx="3276872" cy="54664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6AA8216C-89AE-93CC-F7E1-7A5DC626CE77}"/>
              </a:ext>
            </a:extLst>
          </p:cNvPr>
          <p:cNvSpPr txBox="1"/>
          <p:nvPr/>
        </p:nvSpPr>
        <p:spPr>
          <a:xfrm>
            <a:off x="5436096" y="6361583"/>
            <a:ext cx="35283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400" b="1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特点：</a:t>
            </a:r>
            <a:r>
              <a:rPr lang="zh-CN" altLang="zh-CN" sz="14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变极前后每相一半绕组中电流反向</a:t>
            </a:r>
            <a:endParaRPr lang="zh-CN" altLang="zh-CN" sz="4000" b="1" dirty="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CAB3984-D3CC-A210-117D-5A96CA377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54134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17">
            <a:extLst>
              <a:ext uri="{FF2B5EF4-FFF2-40B4-BE49-F238E27FC236}">
                <a16:creationId xmlns:a16="http://schemas.microsoft.com/office/drawing/2014/main" id="{053EACF7-BF97-D122-AF7F-5E84462C9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43" y="2440624"/>
            <a:ext cx="81199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若不计定子损耗，电动机轴上输出转矩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可近似用    表示，则：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9">
            <a:extLst>
              <a:ext uri="{FF2B5EF4-FFF2-40B4-BE49-F238E27FC236}">
                <a16:creationId xmlns:a16="http://schemas.microsoft.com/office/drawing/2014/main" id="{7522AC92-8CBF-7BFD-E68B-24B5137BA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412776"/>
            <a:ext cx="81369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设变极前后，每半相绕组中均流过额定电流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，并假定转子功率因数     及电机效率  保持不变，则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接时，电机的输入功率为：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endParaRPr kumimoji="0" lang="zh-CN" altLang="zh-CN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6F1B48-0B89-217B-8883-DD5D07167E95}"/>
              </a:ext>
            </a:extLst>
          </p:cNvPr>
          <p:cNvSpPr txBox="1"/>
          <p:nvPr/>
        </p:nvSpPr>
        <p:spPr>
          <a:xfrm>
            <a:off x="434755" y="978987"/>
            <a:ext cx="504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tabLst>
                <a:tab pos="266700" algn="l"/>
              </a:tabLst>
            </a:pPr>
            <a:r>
              <a:rPr lang="en-US" altLang="zh-CN" sz="18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18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18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改变磁极对数后三相异步电动机的负载能力</a:t>
            </a:r>
            <a:endParaRPr lang="zh-CN" altLang="zh-CN" sz="4800" b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35F58BA2-BAC2-95C2-A458-AA056EA79A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422012"/>
              </p:ext>
            </p:extLst>
          </p:nvPr>
        </p:nvGraphicFramePr>
        <p:xfrm>
          <a:off x="5220072" y="1490050"/>
          <a:ext cx="255243" cy="313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914" imgH="229097" progId="Equation.DSMT4">
                  <p:embed/>
                </p:oleObj>
              </mc:Choice>
              <mc:Fallback>
                <p:oleObj name="Equation" r:id="rId3" imgW="190914" imgH="229097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1490050"/>
                        <a:ext cx="255243" cy="3132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D1B15C34-AEDF-8B77-66AC-617379093E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720608"/>
              </p:ext>
            </p:extLst>
          </p:nvPr>
        </p:nvGraphicFramePr>
        <p:xfrm>
          <a:off x="7812360" y="1412776"/>
          <a:ext cx="576262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93480" imgH="228600" progId="Equation.DSMT4">
                  <p:embed/>
                </p:oleObj>
              </mc:Choice>
              <mc:Fallback>
                <p:oleObj name="Equation" r:id="rId5" imgW="39348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1412776"/>
                        <a:ext cx="576262" cy="3476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57960993-8988-F452-687C-EE331B9B46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622451"/>
              </p:ext>
            </p:extLst>
          </p:nvPr>
        </p:nvGraphicFramePr>
        <p:xfrm>
          <a:off x="1547664" y="1782108"/>
          <a:ext cx="200025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0004" imgH="178187" progId="Equation.DSMT4">
                  <p:embed/>
                </p:oleObj>
              </mc:Choice>
              <mc:Fallback>
                <p:oleObj name="Equation" r:id="rId7" imgW="140004" imgH="178187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1782108"/>
                        <a:ext cx="200025" cy="261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E66706C9-5613-5827-EDE9-EB80C86C18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171122"/>
              </p:ext>
            </p:extLst>
          </p:nvPr>
        </p:nvGraphicFramePr>
        <p:xfrm>
          <a:off x="5940152" y="1711445"/>
          <a:ext cx="1800200" cy="361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44520" imgH="253800" progId="Equation.DSMT4">
                  <p:embed/>
                </p:oleObj>
              </mc:Choice>
              <mc:Fallback>
                <p:oleObj name="Equation" r:id="rId9" imgW="1244520" imgH="253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1711445"/>
                        <a:ext cx="1800200" cy="3613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14">
            <a:extLst>
              <a:ext uri="{FF2B5EF4-FFF2-40B4-BE49-F238E27FC236}">
                <a16:creationId xmlns:a16="http://schemas.microsoft.com/office/drawing/2014/main" id="{17AC6382-4B3C-2246-1424-D7FFDA04C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2060848"/>
            <a:ext cx="13484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YY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接法时，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58084258-7571-FFF8-AEC2-1E4167A7E9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219723"/>
              </p:ext>
            </p:extLst>
          </p:nvPr>
        </p:nvGraphicFramePr>
        <p:xfrm>
          <a:off x="1979712" y="2069551"/>
          <a:ext cx="2574790" cy="343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92160" imgH="253800" progId="Equation.DSMT4">
                  <p:embed/>
                </p:oleObj>
              </mc:Choice>
              <mc:Fallback>
                <p:oleObj name="Equation" r:id="rId11" imgW="1892160" imgH="253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069551"/>
                        <a:ext cx="2574790" cy="3431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550820A6-112C-47D5-0AE6-6AE5FD2A56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814508"/>
              </p:ext>
            </p:extLst>
          </p:nvPr>
        </p:nvGraphicFramePr>
        <p:xfrm>
          <a:off x="4554502" y="2474198"/>
          <a:ext cx="233522" cy="315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5387" imgH="216275" progId="Equation.DSMT4">
                  <p:embed/>
                </p:oleObj>
              </mc:Choice>
              <mc:Fallback>
                <p:oleObj name="Equation" r:id="rId13" imgW="165387" imgH="216275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4502" y="2474198"/>
                        <a:ext cx="233522" cy="3159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BD0A21BB-32CC-3A1A-CCE6-FDACCDF274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678953"/>
              </p:ext>
            </p:extLst>
          </p:nvPr>
        </p:nvGraphicFramePr>
        <p:xfrm>
          <a:off x="5683820" y="2494292"/>
          <a:ext cx="512663" cy="28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19040" imgH="228600" progId="Equation.DSMT4">
                  <p:embed/>
                </p:oleObj>
              </mc:Choice>
              <mc:Fallback>
                <p:oleObj name="Equation" r:id="rId15" imgW="419040" imgH="228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820" y="2494292"/>
                        <a:ext cx="512663" cy="2807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7D04D852-2E23-81FF-CB2B-0E2C682AC3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917394"/>
              </p:ext>
            </p:extLst>
          </p:nvPr>
        </p:nvGraphicFramePr>
        <p:xfrm>
          <a:off x="1239172" y="2941684"/>
          <a:ext cx="2364655" cy="605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14500" imgH="431800" progId="Equation.DSMT4">
                  <p:embed/>
                </p:oleObj>
              </mc:Choice>
              <mc:Fallback>
                <p:oleObj name="Equation" r:id="rId17" imgW="1714500" imgH="431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9172" y="2941684"/>
                        <a:ext cx="2364655" cy="6052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2D0E09C1-C680-8817-40AE-72B938F3CF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7955664"/>
              </p:ext>
            </p:extLst>
          </p:nvPr>
        </p:nvGraphicFramePr>
        <p:xfrm>
          <a:off x="4251208" y="2920607"/>
          <a:ext cx="4035442" cy="584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033983" imgH="431613" progId="Equation.DSMT4">
                  <p:embed/>
                </p:oleObj>
              </mc:Choice>
              <mc:Fallback>
                <p:oleObj name="Equation" r:id="rId19" imgW="3033983" imgH="431613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1208" y="2920607"/>
                        <a:ext cx="4035442" cy="5840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22">
            <a:extLst>
              <a:ext uri="{FF2B5EF4-FFF2-40B4-BE49-F238E27FC236}">
                <a16:creationId xmlns:a16="http://schemas.microsoft.com/office/drawing/2014/main" id="{EAE0EFA7-5F21-4305-AA05-6D0B15EA9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350" y="3013722"/>
            <a:ext cx="7681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23">
            <a:extLst>
              <a:ext uri="{FF2B5EF4-FFF2-40B4-BE49-F238E27FC236}">
                <a16:creationId xmlns:a16="http://schemas.microsoft.com/office/drawing/2014/main" id="{725E3296-86CF-C50F-953B-2AB5444C1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9236" y="3013722"/>
            <a:ext cx="7697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YY: 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EA8CC69-BE71-2313-831C-17340E877346}"/>
              </a:ext>
            </a:extLst>
          </p:cNvPr>
          <p:cNvSpPr txBox="1"/>
          <p:nvPr/>
        </p:nvSpPr>
        <p:spPr>
          <a:xfrm>
            <a:off x="556543" y="3504685"/>
            <a:ext cx="81199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即变极调速前后，电动机输出转矩可认为不变，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YY</a:t>
            </a:r>
            <a:r>
              <a:rPr lang="zh-CN" altLang="zh-CN" sz="18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属恒转矩调速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但这并不意味着两者的机械特性也一样。实际上，由于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接线改为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YY</a:t>
            </a:r>
            <a:r>
              <a:rPr lang="zh-CN" altLang="en-US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接线后，定、转子绕组参数都发生了变化，导致转子电流和转子功率因数的大小相应也发生变化，因为机械特性并不相同。</a:t>
            </a:r>
            <a:endParaRPr lang="zh-CN" altLang="zh-CN" sz="4800" b="1" dirty="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4A92584C-5361-1289-EBD4-422FA0122A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688339"/>
              </p:ext>
            </p:extLst>
          </p:nvPr>
        </p:nvGraphicFramePr>
        <p:xfrm>
          <a:off x="5278659" y="4549540"/>
          <a:ext cx="1467447" cy="574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080438" imgH="419464" progId="Equation.DSMT4">
                  <p:embed/>
                </p:oleObj>
              </mc:Choice>
              <mc:Fallback>
                <p:oleObj name="Equation" r:id="rId21" imgW="1080438" imgH="419464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8659" y="4549540"/>
                        <a:ext cx="1467447" cy="5742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213F6B77-B6A2-955A-211C-C88A3D6E26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926640"/>
              </p:ext>
            </p:extLst>
          </p:nvPr>
        </p:nvGraphicFramePr>
        <p:xfrm>
          <a:off x="3682236" y="5099248"/>
          <a:ext cx="1321433" cy="338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914797" imgH="241405" progId="Equation.DSMT4">
                  <p:embed/>
                </p:oleObj>
              </mc:Choice>
              <mc:Fallback>
                <p:oleObj name="Equation" r:id="rId23" imgW="914797" imgH="241405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2236" y="5099248"/>
                        <a:ext cx="1321433" cy="3380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87984F41-20B1-0FCB-1165-89E3738D29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7960870"/>
              </p:ext>
            </p:extLst>
          </p:nvPr>
        </p:nvGraphicFramePr>
        <p:xfrm>
          <a:off x="3664946" y="5461077"/>
          <a:ext cx="1367773" cy="52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080438" imgH="419464" progId="Equation.DSMT4">
                  <p:embed/>
                </p:oleObj>
              </mc:Choice>
              <mc:Fallback>
                <p:oleObj name="Equation" r:id="rId25" imgW="1080438" imgH="419464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4946" y="5461077"/>
                        <a:ext cx="1367773" cy="5279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B13ECF8E-7D9C-7D0F-5C35-9DE3001824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850433"/>
              </p:ext>
            </p:extLst>
          </p:nvPr>
        </p:nvGraphicFramePr>
        <p:xfrm>
          <a:off x="430041" y="6045503"/>
          <a:ext cx="2843862" cy="648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336800" imgH="533400" progId="Equation.DSMT4">
                  <p:embed/>
                </p:oleObj>
              </mc:Choice>
              <mc:Fallback>
                <p:oleObj name="Equation" r:id="rId27" imgW="2336800" imgH="5334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041" y="6045503"/>
                        <a:ext cx="2843862" cy="6480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Rectangle 28">
            <a:extLst>
              <a:ext uri="{FF2B5EF4-FFF2-40B4-BE49-F238E27FC236}">
                <a16:creationId xmlns:a16="http://schemas.microsoft.com/office/drawing/2014/main" id="{18D52E38-5B58-A599-7858-6EACE148C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204" y="4664249"/>
            <a:ext cx="48333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机械特性：假定每半组绕组参数相等，分别为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0" name="Rectangle 29">
            <a:extLst>
              <a:ext uri="{FF2B5EF4-FFF2-40B4-BE49-F238E27FC236}">
                <a16:creationId xmlns:a16="http://schemas.microsoft.com/office/drawing/2014/main" id="{59A72438-A9DA-8A8D-E793-E09A2AF41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71" y="4814746"/>
            <a:ext cx="42128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：每相绕组（串联）参数为：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" name="Rectangle 30">
            <a:extLst>
              <a:ext uri="{FF2B5EF4-FFF2-40B4-BE49-F238E27FC236}">
                <a16:creationId xmlns:a16="http://schemas.microsoft.com/office/drawing/2014/main" id="{287DE1EB-C23F-F5CC-0A08-443B73BFB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204" y="5538599"/>
            <a:ext cx="332494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YY: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每相绕组（并联）参数为：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1EC5B957-6D36-BD3D-0BF4-A50CCC8690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156705"/>
              </p:ext>
            </p:extLst>
          </p:nvPr>
        </p:nvGraphicFramePr>
        <p:xfrm>
          <a:off x="3336489" y="6066511"/>
          <a:ext cx="2465019" cy="578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095500" imgH="482600" progId="Equation.DSMT4">
                  <p:embed/>
                </p:oleObj>
              </mc:Choice>
              <mc:Fallback>
                <p:oleObj name="Equation" r:id="rId29" imgW="2095500" imgH="482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6489" y="6066511"/>
                        <a:ext cx="2465019" cy="5782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D310B283-DE0E-6F98-718C-864DC1DFA9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780473"/>
              </p:ext>
            </p:extLst>
          </p:nvPr>
        </p:nvGraphicFramePr>
        <p:xfrm>
          <a:off x="7037188" y="4790745"/>
          <a:ext cx="1681222" cy="1514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1" imgW="1921192" imgH="1735455" progId="">
                  <p:embed/>
                </p:oleObj>
              </mc:Choice>
              <mc:Fallback>
                <p:oleObj r:id="rId31" imgW="1921192" imgH="1735455" progId="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7188" y="4790745"/>
                        <a:ext cx="1681222" cy="15149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E570A2CF-D6F5-21DE-197D-8DD15275F4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170528"/>
              </p:ext>
            </p:extLst>
          </p:nvPr>
        </p:nvGraphicFramePr>
        <p:xfrm>
          <a:off x="5520401" y="5737944"/>
          <a:ext cx="1352164" cy="338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914400" imgH="228600" progId="Equation.DSMT4">
                  <p:embed/>
                </p:oleObj>
              </mc:Choice>
              <mc:Fallback>
                <p:oleObj name="Equation" r:id="rId33" imgW="914400" imgH="2286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0401" y="5737944"/>
                        <a:ext cx="1352164" cy="3380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B0FAE1BC-7BEB-FE6F-EAD6-6C902360A9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32551"/>
              </p:ext>
            </p:extLst>
          </p:nvPr>
        </p:nvGraphicFramePr>
        <p:xfrm>
          <a:off x="5683820" y="5268268"/>
          <a:ext cx="974687" cy="338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672840" imgH="228600" progId="Equation.DSMT4">
                  <p:embed/>
                </p:oleObj>
              </mc:Choice>
              <mc:Fallback>
                <p:oleObj name="Equation" r:id="rId35" imgW="672840" imgH="2286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820" y="5268268"/>
                        <a:ext cx="974687" cy="3380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ED6905-420F-6086-65F2-C756ADE6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29530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A32B6F2-9C97-7486-86F6-9135AD19D728}"/>
              </a:ext>
            </a:extLst>
          </p:cNvPr>
          <p:cNvSpPr txBox="1"/>
          <p:nvPr/>
        </p:nvSpPr>
        <p:spPr>
          <a:xfrm>
            <a:off x="619029" y="1329091"/>
            <a:ext cx="504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8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顺</a:t>
            </a:r>
            <a:r>
              <a:rPr lang="en-US" altLang="zh-CN" sz="18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zh-CN" sz="18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－反</a:t>
            </a:r>
            <a:r>
              <a:rPr lang="en-US" altLang="zh-CN" sz="18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zh-CN" sz="18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：等值电路参数没变，转矩与</a:t>
            </a:r>
            <a:r>
              <a:rPr lang="en-US" altLang="zh-CN" sz="18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zh-CN" sz="18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成正比。</a:t>
            </a:r>
            <a:endParaRPr lang="zh-CN" altLang="zh-CN" sz="4800" b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E53CDC3-61A7-A8F9-FB71-2855C8E5D7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89183"/>
              </p:ext>
            </p:extLst>
          </p:nvPr>
        </p:nvGraphicFramePr>
        <p:xfrm>
          <a:off x="5940152" y="1284354"/>
          <a:ext cx="2448272" cy="192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220913" imgH="1744663" progId="MSDraw">
                  <p:embed/>
                </p:oleObj>
              </mc:Choice>
              <mc:Fallback>
                <p:oleObj r:id="rId3" imgW="2220913" imgH="1744663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1284354"/>
                        <a:ext cx="2448272" cy="19273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7A78CDD8-C2E7-1177-0DBA-9BE418A99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63" y="1931684"/>
            <a:ext cx="25090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恒功率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：输出功率均为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75BD2C4-CC98-9769-97EE-CE1DE1FC10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380119"/>
              </p:ext>
            </p:extLst>
          </p:nvPr>
        </p:nvGraphicFramePr>
        <p:xfrm>
          <a:off x="3078836" y="1793184"/>
          <a:ext cx="1982081" cy="646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85503" imgH="457597" progId="Equation.DSMT4">
                  <p:embed/>
                </p:oleObj>
              </mc:Choice>
              <mc:Fallback>
                <p:oleObj name="Equation" r:id="rId5" imgW="1385503" imgH="45759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8836" y="1793184"/>
                        <a:ext cx="1982081" cy="6463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E9A5451-1A0B-7CBA-0122-DF4A1BC387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795194"/>
              </p:ext>
            </p:extLst>
          </p:nvPr>
        </p:nvGraphicFramePr>
        <p:xfrm>
          <a:off x="1344510" y="3460673"/>
          <a:ext cx="2448202" cy="369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89147" imgH="266469" progId="Equation.DSMT4">
                  <p:embed/>
                </p:oleObj>
              </mc:Choice>
              <mc:Fallback>
                <p:oleObj name="Equation" r:id="rId7" imgW="1789147" imgH="26646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510" y="3460673"/>
                        <a:ext cx="2448202" cy="3695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A2C8D45-87E2-CB9B-18AF-0EE6D68752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504466"/>
              </p:ext>
            </p:extLst>
          </p:nvPr>
        </p:nvGraphicFramePr>
        <p:xfrm>
          <a:off x="4719812" y="3422223"/>
          <a:ext cx="2631991" cy="366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41415" imgH="266469" progId="Equation.DSMT4">
                  <p:embed/>
                </p:oleObj>
              </mc:Choice>
              <mc:Fallback>
                <p:oleObj name="Equation" r:id="rId9" imgW="1941415" imgH="26646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9812" y="3422223"/>
                        <a:ext cx="2631991" cy="3663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7">
            <a:extLst>
              <a:ext uri="{FF2B5EF4-FFF2-40B4-BE49-F238E27FC236}">
                <a16:creationId xmlns:a16="http://schemas.microsoft.com/office/drawing/2014/main" id="{5F9F91A3-43CA-6EB3-7062-37A2A0A61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60" y="2981045"/>
            <a:ext cx="2743059" cy="86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三角－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YY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近似恒功率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三角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:   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4A7237C9-D8B6-724B-9527-D79BD900F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415" y="3419199"/>
            <a:ext cx="12362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YY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06749C9-F5E9-C521-5B6A-C0B3AF8DBDBD}"/>
              </a:ext>
            </a:extLst>
          </p:cNvPr>
          <p:cNvSpPr txBox="1"/>
          <p:nvPr/>
        </p:nvSpPr>
        <p:spPr>
          <a:xfrm>
            <a:off x="645708" y="4168290"/>
            <a:ext cx="5040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266700" algn="l"/>
              </a:tabLst>
            </a:pPr>
            <a:r>
              <a:rPr lang="en-US" altLang="zh-CN" sz="2000" b="1" dirty="0">
                <a:solidFill>
                  <a:srgbClr val="003366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solidFill>
                  <a:srgbClr val="003366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2000" b="1" dirty="0">
                <a:solidFill>
                  <a:srgbClr val="003366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变</a:t>
            </a:r>
            <a:r>
              <a:rPr lang="zh-CN" altLang="zh-CN" sz="2000" b="1" dirty="0">
                <a:solidFill>
                  <a:srgbClr val="003366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极后三相异步电动机的转向问题</a:t>
            </a:r>
            <a:endParaRPr lang="zh-CN" altLang="en-US" sz="20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0C46AA6-FBEB-81F0-3C76-855E756FC138}"/>
              </a:ext>
            </a:extLst>
          </p:cNvPr>
          <p:cNvSpPr txBox="1"/>
          <p:nvPr/>
        </p:nvSpPr>
        <p:spPr>
          <a:xfrm>
            <a:off x="645708" y="4609964"/>
            <a:ext cx="78147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266700" algn="l"/>
              </a:tabLst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    比较图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5-7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5-10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可以看出，当磁极对数改变时，如果定子绕组接电源相序不变，</a:t>
            </a:r>
            <a:r>
              <a:rPr lang="zh-CN" altLang="en-US" sz="2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旋转磁场的旋转方向是相反的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tabLst>
                <a:tab pos="266700" algn="l"/>
              </a:tabLst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因此，</a:t>
            </a:r>
            <a:r>
              <a:rPr lang="zh-CN" altLang="zh-CN" sz="20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变极调速为保证变极后电动机转向不变，变极时需同时将电源进线的</a:t>
            </a:r>
            <a:r>
              <a:rPr lang="zh-CN" altLang="zh-CN" sz="2000" b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任意</a:t>
            </a:r>
            <a:r>
              <a:rPr lang="en-US" altLang="zh-CN" sz="2000" b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000" b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相对调</a:t>
            </a:r>
            <a:r>
              <a:rPr lang="zh-CN" altLang="en-US" sz="2000" b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2000" b="1" dirty="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CDF498-8DBE-0033-DCEE-5C7A5421E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29359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">
            <a:extLst>
              <a:ext uri="{FF2B5EF4-FFF2-40B4-BE49-F238E27FC236}">
                <a16:creationId xmlns:a16="http://schemas.microsoft.com/office/drawing/2014/main" id="{C1BC04CA-AD76-CC5A-ED99-FCF666AC3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2143671"/>
            <a:ext cx="841963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以下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过分增磁会使铁心饱和，导致过大的励磁电流，使绕组过热，损坏电机。因此，为不使磁通饱和，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降频必须同时降压。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941F4D-107F-CBF6-2D59-94E853E73756}"/>
              </a:ext>
            </a:extLst>
          </p:cNvPr>
          <p:cNvSpPr txBox="1"/>
          <p:nvPr/>
        </p:nvSpPr>
        <p:spPr>
          <a:xfrm>
            <a:off x="324472" y="1006108"/>
            <a:ext cx="76319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三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zh-CN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改变定子绕组供电电源调速－</a:t>
            </a:r>
            <a:r>
              <a:rPr lang="zh-CN" altLang="zh-CN" sz="2400" b="1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变频调速</a:t>
            </a:r>
            <a:r>
              <a:rPr lang="zh-CN" altLang="en-US" sz="2400" b="1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VVVF</a:t>
            </a:r>
            <a:r>
              <a:rPr lang="zh-CN" altLang="en-US" sz="2400" b="1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zh-CN" sz="2400" b="1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C2D097A-2C6D-15A3-D9F2-BF3514467F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540287"/>
              </p:ext>
            </p:extLst>
          </p:nvPr>
        </p:nvGraphicFramePr>
        <p:xfrm>
          <a:off x="2555776" y="1438444"/>
          <a:ext cx="3096344" cy="79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39011" imgH="419282" progId="Equation.DSMT4">
                  <p:embed/>
                </p:oleObj>
              </mc:Choice>
              <mc:Fallback>
                <p:oleObj name="Equation" r:id="rId3" imgW="1639011" imgH="419282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1438444"/>
                        <a:ext cx="3096344" cy="79641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018ED729-F196-12F9-FF5B-D6F2EEFF3642}"/>
              </a:ext>
            </a:extLst>
          </p:cNvPr>
          <p:cNvSpPr txBox="1"/>
          <p:nvPr/>
        </p:nvSpPr>
        <p:spPr>
          <a:xfrm>
            <a:off x="1296915" y="1628390"/>
            <a:ext cx="1584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转子转速：</a:t>
            </a:r>
            <a:endParaRPr lang="zh-CN" altLang="zh-CN" sz="20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D038D54B-07C1-F114-42B8-2FEA8C94A5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762823"/>
              </p:ext>
            </p:extLst>
          </p:nvPr>
        </p:nvGraphicFramePr>
        <p:xfrm>
          <a:off x="436154" y="2144872"/>
          <a:ext cx="330876" cy="375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553" imgH="228998" progId="Equation.DSMT4">
                  <p:embed/>
                </p:oleObj>
              </mc:Choice>
              <mc:Fallback>
                <p:oleObj name="Equation" r:id="rId5" imgW="203553" imgH="228998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154" y="2144872"/>
                        <a:ext cx="330876" cy="3757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8CC8FE33-0131-3011-9235-95DA1D718D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84438"/>
              </p:ext>
            </p:extLst>
          </p:nvPr>
        </p:nvGraphicFramePr>
        <p:xfrm>
          <a:off x="1396460" y="2132856"/>
          <a:ext cx="2764137" cy="431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36700" imgH="241300" progId="Equation.DSMT4">
                  <p:embed/>
                </p:oleObj>
              </mc:Choice>
              <mc:Fallback>
                <p:oleObj name="Equation" r:id="rId7" imgW="15367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6460" y="2132856"/>
                        <a:ext cx="2764137" cy="4312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1">
            <a:extLst>
              <a:ext uri="{FF2B5EF4-FFF2-40B4-BE49-F238E27FC236}">
                <a16:creationId xmlns:a16="http://schemas.microsoft.com/office/drawing/2014/main" id="{F6F8E8FD-FD98-3DD3-FB74-5FECA9E5B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108" y="3123319"/>
            <a:ext cx="822722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以上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：受绝缘耐压限制，电压只能维持额定，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磁通必随频率上升而下降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1AE4A5F2-5C36-496B-2106-7819B9025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3501008"/>
            <a:ext cx="65955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在额定转速以下保持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为常数的变频调速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4F62A225-75EA-7BAE-16AE-EC1C21FFB8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9920766"/>
              </p:ext>
            </p:extLst>
          </p:nvPr>
        </p:nvGraphicFramePr>
        <p:xfrm>
          <a:off x="3165370" y="3523277"/>
          <a:ext cx="667278" cy="400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80880" imgH="228600" progId="Equation.DSMT4">
                  <p:embed/>
                </p:oleObj>
              </mc:Choice>
              <mc:Fallback>
                <p:oleObj name="Equation" r:id="rId9" imgW="38088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5370" y="3523277"/>
                        <a:ext cx="667278" cy="4001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31">
            <a:extLst>
              <a:ext uri="{FF2B5EF4-FFF2-40B4-BE49-F238E27FC236}">
                <a16:creationId xmlns:a16="http://schemas.microsoft.com/office/drawing/2014/main" id="{A3904791-22DC-F862-B021-B89BAE70A737}"/>
              </a:ext>
            </a:extLst>
          </p:cNvPr>
          <p:cNvSpPr txBox="1"/>
          <p:nvPr/>
        </p:nvSpPr>
        <p:spPr>
          <a:xfrm>
            <a:off x="5731817" y="3501008"/>
            <a:ext cx="3011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800" b="1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【即调速时保持磁通为常数】</a:t>
            </a:r>
            <a:endParaRPr lang="zh-CN" altLang="zh-CN" sz="2000" b="1" dirty="0">
              <a:solidFill>
                <a:srgbClr val="C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0A5C65A0-2905-8CAC-3D47-4DE2D35D30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960517"/>
              </p:ext>
            </p:extLst>
          </p:nvPr>
        </p:nvGraphicFramePr>
        <p:xfrm>
          <a:off x="395536" y="3123320"/>
          <a:ext cx="330876" cy="375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553" imgH="228998" progId="Equation.DSMT4">
                  <p:embed/>
                </p:oleObj>
              </mc:Choice>
              <mc:Fallback>
                <p:oleObj name="Equation" r:id="rId5" imgW="203553" imgH="228998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D038D54B-07C1-F114-42B8-2FEA8C94A5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3123320"/>
                        <a:ext cx="330876" cy="3757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9B98A275-52C3-67A9-8D5D-4DC339BC72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789128"/>
              </p:ext>
            </p:extLst>
          </p:nvPr>
        </p:nvGraphicFramePr>
        <p:xfrm>
          <a:off x="5161519" y="4012329"/>
          <a:ext cx="3810747" cy="252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526030" imgH="1676717" progId="">
                  <p:embed/>
                </p:oleObj>
              </mc:Choice>
              <mc:Fallback>
                <p:oleObj r:id="rId11" imgW="2526030" imgH="1676717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1519" y="4012329"/>
                        <a:ext cx="3810747" cy="252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35">
            <a:extLst>
              <a:ext uri="{FF2B5EF4-FFF2-40B4-BE49-F238E27FC236}">
                <a16:creationId xmlns:a16="http://schemas.microsoft.com/office/drawing/2014/main" id="{ADC9FA51-E6B0-75C0-0496-578F6C1670AE}"/>
              </a:ext>
            </a:extLst>
          </p:cNvPr>
          <p:cNvSpPr txBox="1"/>
          <p:nvPr/>
        </p:nvSpPr>
        <p:spPr>
          <a:xfrm>
            <a:off x="376176" y="3871145"/>
            <a:ext cx="3452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0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zh-CN" sz="20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 sz="20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0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zh-CN" sz="20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 sz="20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62</a:t>
            </a:r>
            <a:r>
              <a:rPr lang="zh-CN" altLang="zh-CN" sz="20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zh-CN" sz="20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 sz="20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68</a:t>
            </a:r>
            <a:r>
              <a:rPr lang="zh-CN" altLang="zh-CN" sz="20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，有</a:t>
            </a:r>
            <a:r>
              <a:rPr lang="en-US" altLang="zh-CN" sz="2000" b="1" dirty="0"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zh-CN" altLang="en-US" sz="2000" dirty="0"/>
          </a:p>
        </p:txBody>
      </p: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31F800AC-263C-8EC2-2D27-46E609EDF2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175836"/>
              </p:ext>
            </p:extLst>
          </p:nvPr>
        </p:nvGraphicFramePr>
        <p:xfrm>
          <a:off x="323528" y="4221088"/>
          <a:ext cx="4608512" cy="1347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754704" imgH="799753" progId="Equation.DSMT4">
                  <p:embed/>
                </p:oleObj>
              </mc:Choice>
              <mc:Fallback>
                <p:oleObj name="Equation" r:id="rId13" imgW="2754704" imgH="799753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4221088"/>
                        <a:ext cx="4608512" cy="13472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76680A6C-5133-7692-7727-559F590028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007447"/>
              </p:ext>
            </p:extLst>
          </p:nvPr>
        </p:nvGraphicFramePr>
        <p:xfrm>
          <a:off x="1220033" y="5426670"/>
          <a:ext cx="3116989" cy="1352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18533" imgH="838564" progId="Equation.DSMT4">
                  <p:embed/>
                </p:oleObj>
              </mc:Choice>
              <mc:Fallback>
                <p:oleObj name="Equation" r:id="rId15" imgW="1918533" imgH="838564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033" y="5426670"/>
                        <a:ext cx="3116989" cy="13525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A1B730C-B920-629A-37B9-7BF0134FF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62826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2">
            <a:extLst>
              <a:ext uri="{FF2B5EF4-FFF2-40B4-BE49-F238E27FC236}">
                <a16:creationId xmlns:a16="http://schemas.microsoft.com/office/drawing/2014/main" id="{614EB57C-7A5E-6CF0-CDA9-6A3D4D4C6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880" y="4037002"/>
            <a:ext cx="64087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其中               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注意变频时电抗频率随之变化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18">
            <a:extLst>
              <a:ext uri="{FF2B5EF4-FFF2-40B4-BE49-F238E27FC236}">
                <a16:creationId xmlns:a16="http://schemas.microsoft.com/office/drawing/2014/main" id="{8FF3F9BA-72C2-0DB3-8C6D-F255ECB4F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347" y="5237441"/>
            <a:ext cx="468562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对同一电机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来说   是与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无关的常数，因此最大电磁转矩可表示为：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9EF30CD-9A84-D217-8B64-990A501A5F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625151"/>
              </p:ext>
            </p:extLst>
          </p:nvPr>
        </p:nvGraphicFramePr>
        <p:xfrm>
          <a:off x="1091984" y="874250"/>
          <a:ext cx="7128792" cy="1474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93880" imgH="749160" progId="Equation.DSMT4">
                  <p:embed/>
                </p:oleObj>
              </mc:Choice>
              <mc:Fallback>
                <p:oleObj name="Equation" r:id="rId3" imgW="3593880" imgH="74916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1984" y="874250"/>
                        <a:ext cx="7128792" cy="14746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4D50D3A-AA59-423A-FB5B-E856931AE7E6}"/>
              </a:ext>
            </a:extLst>
          </p:cNvPr>
          <p:cNvSpPr txBox="1"/>
          <p:nvPr/>
        </p:nvSpPr>
        <p:spPr>
          <a:xfrm>
            <a:off x="605880" y="2348880"/>
            <a:ext cx="25922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dT/ds=0</a:t>
            </a:r>
            <a:r>
              <a:rPr lang="zh-CN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，可得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zh-CN" sz="2400" b="1" dirty="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B952819-87E0-453F-239B-3ADBDF53AF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6477909"/>
              </p:ext>
            </p:extLst>
          </p:nvPr>
        </p:nvGraphicFramePr>
        <p:xfrm>
          <a:off x="1979712" y="2328319"/>
          <a:ext cx="3886063" cy="1777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97100" imgH="1016000" progId="Equation.DSMT4">
                  <p:embed/>
                </p:oleObj>
              </mc:Choice>
              <mc:Fallback>
                <p:oleObj name="Equation" r:id="rId5" imgW="2197100" imgH="1016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328319"/>
                        <a:ext cx="3886063" cy="17772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14AFDF2-5380-4E67-BCF8-797F0FC290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227717"/>
              </p:ext>
            </p:extLst>
          </p:nvPr>
        </p:nvGraphicFramePr>
        <p:xfrm>
          <a:off x="6230552" y="2609893"/>
          <a:ext cx="1867471" cy="103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27905" imgH="508441" progId="Equation.DSMT4">
                  <p:embed/>
                </p:oleObj>
              </mc:Choice>
              <mc:Fallback>
                <p:oleObj name="Equation" r:id="rId7" imgW="927905" imgH="50844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0552" y="2609893"/>
                        <a:ext cx="1867471" cy="1037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C1EDAEAA-BC2E-7A8D-369D-615808CB66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768633"/>
              </p:ext>
            </p:extLst>
          </p:nvPr>
        </p:nvGraphicFramePr>
        <p:xfrm>
          <a:off x="1181944" y="4037002"/>
          <a:ext cx="1966162" cy="400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18571" imgH="228799" progId="Equation.DSMT4">
                  <p:embed/>
                </p:oleObj>
              </mc:Choice>
              <mc:Fallback>
                <p:oleObj name="Equation" r:id="rId9" imgW="1118571" imgH="22879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944" y="4037002"/>
                        <a:ext cx="1966162" cy="4001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14">
            <a:extLst>
              <a:ext uri="{FF2B5EF4-FFF2-40B4-BE49-F238E27FC236}">
                <a16:creationId xmlns:a16="http://schemas.microsoft.com/office/drawing/2014/main" id="{F234402E-6FA5-F45C-80E4-816F3A1D8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26" y="4667005"/>
            <a:ext cx="9589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转速：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AB52D316-9F60-84CA-445E-612CF40546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17939"/>
              </p:ext>
            </p:extLst>
          </p:nvPr>
        </p:nvGraphicFramePr>
        <p:xfrm>
          <a:off x="1331640" y="4488668"/>
          <a:ext cx="4174716" cy="756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27200" imgH="457200" progId="Equation.DSMT4">
                  <p:embed/>
                </p:oleObj>
              </mc:Choice>
              <mc:Fallback>
                <p:oleObj name="Equation" r:id="rId11" imgW="2527200" imgH="457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488668"/>
                        <a:ext cx="4174716" cy="7567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01EAE3CB-469E-954B-6F1A-C3975DB0B5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2329438"/>
              </p:ext>
            </p:extLst>
          </p:nvPr>
        </p:nvGraphicFramePr>
        <p:xfrm>
          <a:off x="2572948" y="5322117"/>
          <a:ext cx="342900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5640" imgH="177480" progId="Equation.DSMT4">
                  <p:embed/>
                </p:oleObj>
              </mc:Choice>
              <mc:Fallback>
                <p:oleObj name="Equation" r:id="rId13" imgW="215640" imgH="17748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2948" y="5322117"/>
                        <a:ext cx="342900" cy="280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448EF61B-F81D-F8D9-30B6-5EB8C430EB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82223"/>
              </p:ext>
            </p:extLst>
          </p:nvPr>
        </p:nvGraphicFramePr>
        <p:xfrm>
          <a:off x="1156412" y="5849972"/>
          <a:ext cx="2473275" cy="860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09400" imgH="495000" progId="Equation.DSMT4">
                  <p:embed/>
                </p:oleObj>
              </mc:Choice>
              <mc:Fallback>
                <p:oleObj name="Equation" r:id="rId15" imgW="1409400" imgH="4950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6412" y="5849972"/>
                        <a:ext cx="2473275" cy="8600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文本框 43">
            <a:extLst>
              <a:ext uri="{FF2B5EF4-FFF2-40B4-BE49-F238E27FC236}">
                <a16:creationId xmlns:a16="http://schemas.microsoft.com/office/drawing/2014/main" id="{9313D95C-8251-BDFE-7D5D-ED96415D7E85}"/>
              </a:ext>
            </a:extLst>
          </p:cNvPr>
          <p:cNvSpPr txBox="1"/>
          <p:nvPr/>
        </p:nvSpPr>
        <p:spPr>
          <a:xfrm>
            <a:off x="3585065" y="6118996"/>
            <a:ext cx="24732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zh-CN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无关，为常数。</a:t>
            </a:r>
            <a:endParaRPr lang="zh-CN" altLang="zh-CN" sz="2400" b="1" dirty="0">
              <a:solidFill>
                <a:srgbClr val="0000FF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074BA515-06A4-21AE-A3C7-43B584DFA4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816375"/>
              </p:ext>
            </p:extLst>
          </p:nvPr>
        </p:nvGraphicFramePr>
        <p:xfrm>
          <a:off x="5724128" y="4488668"/>
          <a:ext cx="3312368" cy="2310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2354263" imgH="1635125" progId="MSDraw">
                  <p:embed/>
                </p:oleObj>
              </mc:Choice>
              <mc:Fallback>
                <p:oleObj r:id="rId17" imgW="2354263" imgH="1635125" progId="MSDraw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FA763A8-00E5-0C2F-6875-97B8A919D6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4488668"/>
                        <a:ext cx="3312368" cy="23100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60F27C7-E4D6-E219-69FA-6F2D7130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45597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132E1EE-DBA6-00D2-48F2-34EC764DD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1024860"/>
            <a:ext cx="8208912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结论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：基频以下变频调速时，若保持</a:t>
            </a:r>
            <a:r>
              <a:rPr kumimoji="0" lang="en-US" altLang="zh-CN" sz="2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，则最大转矩与</a:t>
            </a:r>
            <a:r>
              <a:rPr kumimoji="0" lang="en-US" altLang="zh-CN" sz="2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无关；最大转矩对应的转速降落相等，即不同频率机械特性平行；正常负载范围运行的</a:t>
            </a:r>
            <a:r>
              <a:rPr kumimoji="0" lang="en-US" altLang="zh-CN" sz="2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均较小，转差功率损耗较小，效率高。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586DAC2-D1D1-1C65-663D-6E32B1DA60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803543"/>
              </p:ext>
            </p:extLst>
          </p:nvPr>
        </p:nvGraphicFramePr>
        <p:xfrm>
          <a:off x="5004048" y="1080071"/>
          <a:ext cx="1080120" cy="385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640" imgH="228600" progId="Equation.DSMT4">
                  <p:embed/>
                </p:oleObj>
              </mc:Choice>
              <mc:Fallback>
                <p:oleObj name="Equation" r:id="rId3" imgW="64764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1080071"/>
                        <a:ext cx="1080120" cy="3856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58C7CA24-F8EB-D098-0DF1-68614D42F8C2}"/>
              </a:ext>
            </a:extLst>
          </p:cNvPr>
          <p:cNvSpPr txBox="1"/>
          <p:nvPr/>
        </p:nvSpPr>
        <p:spPr>
          <a:xfrm>
            <a:off x="467544" y="2126021"/>
            <a:ext cx="597666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2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负载能力：若电磁转矩为常数，则由</a:t>
            </a:r>
            <a:endParaRPr lang="zh-CN" altLang="en-US" sz="2200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C73C893-A1A9-E499-E638-310602B175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131713"/>
              </p:ext>
            </p:extLst>
          </p:nvPr>
        </p:nvGraphicFramePr>
        <p:xfrm>
          <a:off x="2339752" y="2508087"/>
          <a:ext cx="4032448" cy="1424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24100" imgH="825500" progId="Equation.DSMT4">
                  <p:embed/>
                </p:oleObj>
              </mc:Choice>
              <mc:Fallback>
                <p:oleObj name="Equation" r:id="rId5" imgW="2324100" imgH="8255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2508087"/>
                        <a:ext cx="4032448" cy="14249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87BFAEC-F97E-EB2F-C541-33FDDD5D796A}"/>
              </a:ext>
            </a:extLst>
          </p:cNvPr>
          <p:cNvSpPr/>
          <p:nvPr/>
        </p:nvSpPr>
        <p:spPr>
          <a:xfrm>
            <a:off x="4211960" y="2588091"/>
            <a:ext cx="2232248" cy="1296144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E7A580F-3B8F-4580-2D76-6C7BB383EF0E}"/>
              </a:ext>
            </a:extLst>
          </p:cNvPr>
          <p:cNvCxnSpPr/>
          <p:nvPr/>
        </p:nvCxnSpPr>
        <p:spPr>
          <a:xfrm>
            <a:off x="6444208" y="3204805"/>
            <a:ext cx="50405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2C7F56F8-5A10-A050-0888-23ACF4CAD823}"/>
              </a:ext>
            </a:extLst>
          </p:cNvPr>
          <p:cNvSpPr txBox="1"/>
          <p:nvPr/>
        </p:nvSpPr>
        <p:spPr>
          <a:xfrm>
            <a:off x="6876256" y="3020139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为常数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582ECB21-AEEE-F6FD-65EC-D68C15EDC5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330286"/>
              </p:ext>
            </p:extLst>
          </p:nvPr>
        </p:nvGraphicFramePr>
        <p:xfrm>
          <a:off x="1265392" y="3717032"/>
          <a:ext cx="2812422" cy="984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36347" imgH="508441" progId="Equation.DSMT4">
                  <p:embed/>
                </p:oleObj>
              </mc:Choice>
              <mc:Fallback>
                <p:oleObj name="Equation" r:id="rId7" imgW="1436347" imgH="508441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392" y="3717032"/>
                        <a:ext cx="2812422" cy="9847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5E59C57F-36ED-17CF-3270-1EC1D01FBB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7083"/>
              </p:ext>
            </p:extLst>
          </p:nvPr>
        </p:nvGraphicFramePr>
        <p:xfrm>
          <a:off x="4536040" y="3960413"/>
          <a:ext cx="2635280" cy="52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45616" imgH="266584" progId="Equation.DSMT4">
                  <p:embed/>
                </p:oleObj>
              </mc:Choice>
              <mc:Fallback>
                <p:oleObj name="Equation" r:id="rId9" imgW="1345616" imgH="266584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6040" y="3960413"/>
                        <a:ext cx="2635280" cy="521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10">
            <a:extLst>
              <a:ext uri="{FF2B5EF4-FFF2-40B4-BE49-F238E27FC236}">
                <a16:creationId xmlns:a16="http://schemas.microsoft.com/office/drawing/2014/main" id="{8087FFED-1B4B-16BA-76D7-6C971DC65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4011610"/>
            <a:ext cx="7008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即：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A978CA26-BE70-86D8-621B-AEBE9450BC33}"/>
              </a:ext>
            </a:extLst>
          </p:cNvPr>
          <p:cNvSpPr/>
          <p:nvPr/>
        </p:nvSpPr>
        <p:spPr>
          <a:xfrm>
            <a:off x="4077814" y="4188564"/>
            <a:ext cx="288032" cy="1850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313D0234-972A-E2FA-026F-D4C332A0C6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609634"/>
              </p:ext>
            </p:extLst>
          </p:nvPr>
        </p:nvGraphicFramePr>
        <p:xfrm>
          <a:off x="1721885" y="4639643"/>
          <a:ext cx="3203872" cy="517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36879" imgH="266469" progId="Equation.DSMT4">
                  <p:embed/>
                </p:oleObj>
              </mc:Choice>
              <mc:Fallback>
                <p:oleObj name="Equation" r:id="rId11" imgW="1636879" imgH="26646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1885" y="4639643"/>
                        <a:ext cx="3203872" cy="5175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62CDA43D-DC4D-6194-F552-49AFAF1F75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209749"/>
              </p:ext>
            </p:extLst>
          </p:nvPr>
        </p:nvGraphicFramePr>
        <p:xfrm>
          <a:off x="1594097" y="5237857"/>
          <a:ext cx="6125155" cy="1046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289300" imgH="558800" progId="Equation.DSMT4">
                  <p:embed/>
                </p:oleObj>
              </mc:Choice>
              <mc:Fallback>
                <p:oleObj name="Equation" r:id="rId13" imgW="3289300" imgH="558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4097" y="5237857"/>
                        <a:ext cx="6125155" cy="10468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10">
            <a:extLst>
              <a:ext uri="{FF2B5EF4-FFF2-40B4-BE49-F238E27FC236}">
                <a16:creationId xmlns:a16="http://schemas.microsoft.com/office/drawing/2014/main" id="{6AF0007F-AA3D-12B6-88BE-62551D7CB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01" y="4738338"/>
            <a:ext cx="1217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8D16F3F-1677-7EB6-E815-CBB10558ECC5}"/>
              </a:ext>
            </a:extLst>
          </p:cNvPr>
          <p:cNvSpPr txBox="1"/>
          <p:nvPr/>
        </p:nvSpPr>
        <p:spPr>
          <a:xfrm>
            <a:off x="717801" y="6339832"/>
            <a:ext cx="38414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保持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Es/f=k=</a:t>
            </a:r>
            <a:r>
              <a:rPr lang="zh-CN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常数时，转子电流</a:t>
            </a:r>
            <a:endParaRPr lang="zh-CN" altLang="zh-CN" sz="2400" b="1" dirty="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1C2DEC-A64C-9858-B771-CC2BD4B0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14801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70A1D26-6F58-7564-7224-506F2B3A61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160178"/>
              </p:ext>
            </p:extLst>
          </p:nvPr>
        </p:nvGraphicFramePr>
        <p:xfrm>
          <a:off x="499013" y="830503"/>
          <a:ext cx="8145100" cy="1365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08280" imgH="761760" progId="Equation.DSMT4">
                  <p:embed/>
                </p:oleObj>
              </mc:Choice>
              <mc:Fallback>
                <p:oleObj name="Equation" r:id="rId3" imgW="4508280" imgH="76176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013" y="830503"/>
                        <a:ext cx="8145100" cy="13652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8441C567-7ED2-504B-062D-43CC37656FC2}"/>
              </a:ext>
            </a:extLst>
          </p:cNvPr>
          <p:cNvSpPr txBox="1"/>
          <p:nvPr/>
        </p:nvSpPr>
        <p:spPr>
          <a:xfrm>
            <a:off x="499886" y="2132856"/>
            <a:ext cx="81045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b="1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因此，调速时转子电流为额定值时，调速前后均有</a:t>
            </a:r>
            <a:r>
              <a:rPr lang="en-US" altLang="zh-CN" sz="2000" b="1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</a:t>
            </a:r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所以：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Es/f=</a:t>
            </a:r>
            <a:r>
              <a:rPr lang="zh-CN" altLang="zh-CN" sz="2000" b="1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常数的变频调速属恒转矩调速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2400" b="1" dirty="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74D0771-CFD2-948E-9D48-6F773FFC08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1915496"/>
              </p:ext>
            </p:extLst>
          </p:nvPr>
        </p:nvGraphicFramePr>
        <p:xfrm>
          <a:off x="6228184" y="2157207"/>
          <a:ext cx="1728192" cy="41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78325" imgH="241405" progId="Equation.DSMT4">
                  <p:embed/>
                </p:oleObj>
              </mc:Choice>
              <mc:Fallback>
                <p:oleObj name="Equation" r:id="rId5" imgW="978325" imgH="24140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2157207"/>
                        <a:ext cx="1728192" cy="4194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6">
            <a:extLst>
              <a:ext uri="{FF2B5EF4-FFF2-40B4-BE49-F238E27FC236}">
                <a16:creationId xmlns:a16="http://schemas.microsoft.com/office/drawing/2014/main" id="{BB550B51-1D5B-C57C-7C56-622FA2507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20" y="2754884"/>
            <a:ext cx="63612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实现：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Es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测量困难，用保持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Us/f=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常数近似，如下：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6AEF356-5523-6A4D-05E5-C801ECFA95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715171"/>
              </p:ext>
            </p:extLst>
          </p:nvPr>
        </p:nvGraphicFramePr>
        <p:xfrm>
          <a:off x="2291122" y="3086515"/>
          <a:ext cx="4817926" cy="1232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10150" imgH="799753" progId="Equation.DSMT4">
                  <p:embed/>
                </p:oleObj>
              </mc:Choice>
              <mc:Fallback>
                <p:oleObj name="Equation" r:id="rId7" imgW="3110150" imgH="799753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122" y="3086515"/>
                        <a:ext cx="4817926" cy="12329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D6523938-7CA2-5146-62D9-DCD5907DBFCB}"/>
              </a:ext>
            </a:extLst>
          </p:cNvPr>
          <p:cNvSpPr txBox="1"/>
          <p:nvPr/>
        </p:nvSpPr>
        <p:spPr>
          <a:xfrm>
            <a:off x="611560" y="4201697"/>
            <a:ext cx="6696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b="1" kern="10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zh-CN" sz="2000" b="1" kern="10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很小时，转矩近似与</a:t>
            </a:r>
            <a:r>
              <a:rPr lang="en-US" altLang="zh-CN" sz="2000" b="1" kern="10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zh-CN" sz="2000" b="1" kern="10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成正比，机械特性是一段直线：</a:t>
            </a:r>
            <a:endParaRPr lang="zh-CN" altLang="zh-CN" sz="1000" b="1" kern="10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3856E558-0C71-CD97-FDB2-73EEC83F84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522104"/>
              </p:ext>
            </p:extLst>
          </p:nvPr>
        </p:nvGraphicFramePr>
        <p:xfrm>
          <a:off x="758769" y="4549503"/>
          <a:ext cx="7876786" cy="226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698720" imgH="1346040" progId="Equation.DSMT4">
                  <p:embed/>
                </p:oleObj>
              </mc:Choice>
              <mc:Fallback>
                <p:oleObj name="Equation" r:id="rId9" imgW="4698720" imgH="13460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769" y="4549503"/>
                        <a:ext cx="7876786" cy="2261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E2931F-92D5-AD60-C4E1-B1EFC4DE7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87083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4">
            <a:extLst>
              <a:ext uri="{FF2B5EF4-FFF2-40B4-BE49-F238E27FC236}">
                <a16:creationId xmlns:a16="http://schemas.microsoft.com/office/drawing/2014/main" id="{F2A2A759-440B-801E-F7B5-E49B258D6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5601434"/>
            <a:ext cx="806489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若忽略定子电阻，则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为常数，但实际因定子电阻的存在，   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随频率减少而减少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90A854-B482-FE39-2920-6E94C2FA8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905435"/>
            <a:ext cx="813690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电磁转矩在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VVVF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方式下和滑差角频率成正比，因此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在保持气隙磁通基本不变的前提下，可以通过改变转差率来控制转矩，或通过控制转差角频率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来控制转矩   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转差频率控制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2C79C39-43D7-439A-3092-A935EEDD3C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2304"/>
              </p:ext>
            </p:extLst>
          </p:nvPr>
        </p:nvGraphicFramePr>
        <p:xfrm>
          <a:off x="1002342" y="1473711"/>
          <a:ext cx="432048" cy="407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1825" imgH="229097" progId="Equation.DSMT4">
                  <p:embed/>
                </p:oleObj>
              </mc:Choice>
              <mc:Fallback>
                <p:oleObj name="Equation" r:id="rId3" imgW="241825" imgH="229097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2342" y="1473711"/>
                        <a:ext cx="432048" cy="4071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A93B95C-9231-F0E2-04BE-195DB83C48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7358196"/>
              </p:ext>
            </p:extLst>
          </p:nvPr>
        </p:nvGraphicFramePr>
        <p:xfrm>
          <a:off x="2661725" y="1604608"/>
          <a:ext cx="347663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997" imgH="152798" progId="Equation.DSMT4">
                  <p:embed/>
                </p:oleObj>
              </mc:Choice>
              <mc:Fallback>
                <p:oleObj name="Equation" r:id="rId5" imgW="190997" imgH="152798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1725" y="1604608"/>
                        <a:ext cx="347663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7E060D4-24D9-3F86-622D-70BE295D7D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555663"/>
              </p:ext>
            </p:extLst>
          </p:nvPr>
        </p:nvGraphicFramePr>
        <p:xfrm>
          <a:off x="1124744" y="1767209"/>
          <a:ext cx="3017417" cy="1020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14500" imgH="584200" progId="Equation.DSMT4">
                  <p:embed/>
                </p:oleObj>
              </mc:Choice>
              <mc:Fallback>
                <p:oleObj name="Equation" r:id="rId7" imgW="1714500" imgH="584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4744" y="1767209"/>
                        <a:ext cx="3017417" cy="10203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9E4B1B3-F076-5701-E9C4-524BA54331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673582"/>
              </p:ext>
            </p:extLst>
          </p:nvPr>
        </p:nvGraphicFramePr>
        <p:xfrm>
          <a:off x="1052105" y="2933275"/>
          <a:ext cx="6623457" cy="975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822700" imgH="558800" progId="Equation.DSMT4">
                  <p:embed/>
                </p:oleObj>
              </mc:Choice>
              <mc:Fallback>
                <p:oleObj name="Equation" r:id="rId9" imgW="3822700" imgH="558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105" y="2933275"/>
                        <a:ext cx="6623457" cy="9755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650C4F93-F35E-BE17-F0C7-09D540AC236A}"/>
              </a:ext>
            </a:extLst>
          </p:cNvPr>
          <p:cNvSpPr txBox="1"/>
          <p:nvPr/>
        </p:nvSpPr>
        <p:spPr>
          <a:xfrm>
            <a:off x="4437112" y="2073200"/>
            <a:ext cx="3456384" cy="646331"/>
          </a:xfrm>
          <a:prstGeom prst="rect">
            <a:avLst/>
          </a:prstGeom>
          <a:noFill/>
          <a:ln w="22225"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1800" b="1" kern="100" dirty="0">
                <a:solidFill>
                  <a:srgbClr val="000080"/>
                </a:solidFill>
                <a:effectLst/>
                <a:latin typeface="华文中宋" panose="02010600040101010101" pitchFamily="2" charset="-122"/>
                <a:ea typeface="黑体" panose="02010609060101010101" pitchFamily="49" charset="-122"/>
              </a:rPr>
              <a:t>s</a:t>
            </a:r>
            <a:r>
              <a:rPr lang="zh-CN" altLang="zh-CN" sz="1800" b="1" kern="100" dirty="0">
                <a:solidFill>
                  <a:srgbClr val="000080"/>
                </a:solidFill>
                <a:effectLst/>
                <a:latin typeface="华文中宋" panose="02010600040101010101" pitchFamily="2" charset="-122"/>
                <a:ea typeface="黑体" panose="02010609060101010101" pitchFamily="49" charset="-122"/>
              </a:rPr>
              <a:t>较小范围内，不同</a:t>
            </a:r>
            <a:r>
              <a:rPr lang="en-US" altLang="zh-CN" sz="1800" b="1" kern="100" dirty="0">
                <a:solidFill>
                  <a:srgbClr val="000080"/>
                </a:solidFill>
                <a:effectLst/>
                <a:latin typeface="华文中宋" panose="02010600040101010101" pitchFamily="2" charset="-122"/>
                <a:ea typeface="黑体" panose="02010609060101010101" pitchFamily="49" charset="-122"/>
              </a:rPr>
              <a:t>f</a:t>
            </a:r>
            <a:r>
              <a:rPr lang="zh-CN" altLang="zh-CN" sz="1800" b="1" kern="100" dirty="0">
                <a:solidFill>
                  <a:srgbClr val="000080"/>
                </a:solidFill>
                <a:effectLst/>
                <a:latin typeface="华文中宋" panose="02010600040101010101" pitchFamily="2" charset="-122"/>
                <a:ea typeface="黑体" panose="02010609060101010101" pitchFamily="49" charset="-122"/>
              </a:rPr>
              <a:t>时机械特性为一族平行曲线。</a:t>
            </a:r>
            <a:endParaRPr lang="zh-CN" altLang="zh-CN" sz="9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E9FDEB9-C395-70DC-06C8-4EDF30E919A3}"/>
              </a:ext>
            </a:extLst>
          </p:cNvPr>
          <p:cNvSpPr txBox="1"/>
          <p:nvPr/>
        </p:nvSpPr>
        <p:spPr>
          <a:xfrm>
            <a:off x="827584" y="3957770"/>
            <a:ext cx="20079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最大电磁转矩：</a:t>
            </a:r>
            <a:endParaRPr lang="zh-CN" altLang="zh-CN" sz="10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982A7245-C2A7-3422-A67D-6FC69315BF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814088"/>
              </p:ext>
            </p:extLst>
          </p:nvPr>
        </p:nvGraphicFramePr>
        <p:xfrm>
          <a:off x="1520156" y="4398135"/>
          <a:ext cx="6155406" cy="1028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644900" imgH="609600" progId="Equation.DSMT4">
                  <p:embed/>
                </p:oleObj>
              </mc:Choice>
              <mc:Fallback>
                <p:oleObj name="Equation" r:id="rId11" imgW="3644900" imgH="609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0156" y="4398135"/>
                        <a:ext cx="6155406" cy="10287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87A17F87-F30B-6381-9FFD-D46ACD1BBC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248339"/>
              </p:ext>
            </p:extLst>
          </p:nvPr>
        </p:nvGraphicFramePr>
        <p:xfrm>
          <a:off x="3222699" y="5598267"/>
          <a:ext cx="557213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92608" imgH="228998" progId="Equation.DSMT4">
                  <p:embed/>
                </p:oleObj>
              </mc:Choice>
              <mc:Fallback>
                <p:oleObj name="Equation" r:id="rId13" imgW="292608" imgH="228998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2699" y="5598267"/>
                        <a:ext cx="557213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A2645D92-0A55-BD37-5982-1F62AFC369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281650"/>
              </p:ext>
            </p:extLst>
          </p:nvPr>
        </p:nvGraphicFramePr>
        <p:xfrm>
          <a:off x="7624712" y="5598267"/>
          <a:ext cx="5476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92608" imgH="228998" progId="Equation.DSMT4">
                  <p:embed/>
                </p:oleObj>
              </mc:Choice>
              <mc:Fallback>
                <p:oleObj name="Equation" r:id="rId13" imgW="292608" imgH="228998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4712" y="5598267"/>
                        <a:ext cx="547688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618398-7121-42D1-FE44-AE6407AF1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64331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2D75942-B6EB-1BB8-1988-D9A42A0B54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561650"/>
              </p:ext>
            </p:extLst>
          </p:nvPr>
        </p:nvGraphicFramePr>
        <p:xfrm>
          <a:off x="539552" y="1760622"/>
          <a:ext cx="5112568" cy="3121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32100" imgH="1739900" progId="Equation.DSMT4">
                  <p:embed/>
                </p:oleObj>
              </mc:Choice>
              <mc:Fallback>
                <p:oleObj name="Equation" r:id="rId3" imgW="2832100" imgH="17399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1760622"/>
                        <a:ext cx="5112568" cy="31213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E5819B1F-AADD-6886-8277-6CC121772178}"/>
              </a:ext>
            </a:extLst>
          </p:cNvPr>
          <p:cNvSpPr txBox="1"/>
          <p:nvPr/>
        </p:nvSpPr>
        <p:spPr>
          <a:xfrm>
            <a:off x="323528" y="1052736"/>
            <a:ext cx="8280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【忽略分母中的电阻】</a:t>
            </a:r>
            <a:r>
              <a:rPr lang="en-US" altLang="zh-CN" sz="20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zh-CN" sz="20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接近于</a:t>
            </a:r>
            <a:r>
              <a:rPr lang="en-US" altLang="zh-CN" sz="20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zh-CN" sz="20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时，转矩近似与</a:t>
            </a:r>
            <a:r>
              <a:rPr lang="en-US" altLang="zh-CN" sz="20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zh-CN" sz="20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成反比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，此时的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机械特性是关于原点对称的一段双曲线</a:t>
            </a:r>
            <a:endParaRPr lang="zh-CN" altLang="zh-CN" sz="20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952EE53-331B-D02B-DC2E-EB0E9F2DEB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642190"/>
              </p:ext>
            </p:extLst>
          </p:nvPr>
        </p:nvGraphicFramePr>
        <p:xfrm>
          <a:off x="5724128" y="1891680"/>
          <a:ext cx="3209925" cy="279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55800" imgH="1700213" progId="MSDraw">
                  <p:embed/>
                </p:oleObj>
              </mc:Choice>
              <mc:Fallback>
                <p:oleObj r:id="rId5" imgW="1955800" imgH="1700213" progId="MSDraw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1891680"/>
                        <a:ext cx="3209925" cy="2795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49DDD58-E603-D6A5-4F66-90BD679B6A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0195175"/>
              </p:ext>
            </p:extLst>
          </p:nvPr>
        </p:nvGraphicFramePr>
        <p:xfrm>
          <a:off x="7092280" y="1891680"/>
          <a:ext cx="1805781" cy="34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80800" imgH="228600" progId="Equation.DSMT4">
                  <p:embed/>
                </p:oleObj>
              </mc:Choice>
              <mc:Fallback>
                <p:oleObj name="Equation" r:id="rId7" imgW="1180800" imgH="228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2D75942-B6EB-1BB8-1988-D9A42A0B54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280" y="1891680"/>
                        <a:ext cx="1805781" cy="3469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F6EC923C-EC4A-493B-9639-87F3FF07671A}"/>
              </a:ext>
            </a:extLst>
          </p:cNvPr>
          <p:cNvSpPr txBox="1"/>
          <p:nvPr/>
        </p:nvSpPr>
        <p:spPr>
          <a:xfrm>
            <a:off x="395536" y="4936971"/>
            <a:ext cx="50101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    由上图可知，保持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Us/f=</a:t>
            </a:r>
            <a:r>
              <a:rPr lang="zh-CN" altLang="zh-CN" sz="2000" b="1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常数</a:t>
            </a:r>
            <a:r>
              <a:rPr lang="zh-CN" altLang="en-US" sz="2000" b="1" dirty="0">
                <a:effectLst/>
                <a:latin typeface="华文中宋" panose="0201060004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的变频调速，高低速时的最大电磁转矩不一致，主要是定子绕组电阻</a:t>
            </a:r>
            <a:r>
              <a:rPr lang="en-US" altLang="zh-CN" sz="2000" b="1" dirty="0">
                <a:effectLst/>
                <a:latin typeface="华文中宋" panose="0201060004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Rs</a:t>
            </a:r>
            <a:r>
              <a:rPr lang="zh-CN" altLang="en-US" sz="2000" b="1" dirty="0">
                <a:effectLst/>
                <a:latin typeface="华文中宋" panose="0201060004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的影响所致；因此为了尽可能接近与保持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Es/f=</a:t>
            </a:r>
            <a:r>
              <a:rPr lang="zh-CN" altLang="zh-CN" sz="2000" b="1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常数</a:t>
            </a:r>
            <a:r>
              <a:rPr lang="zh-CN" altLang="en-US" sz="2000" b="1" dirty="0">
                <a:effectLst/>
                <a:latin typeface="华文中宋" panose="0201060004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时的调速效果，需要在低速时进行修正补偿。</a:t>
            </a:r>
            <a:endParaRPr lang="zh-CN" altLang="zh-CN" sz="20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C43225B0-84A9-3460-AB00-65F4444B0C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484240"/>
              </p:ext>
            </p:extLst>
          </p:nvPr>
        </p:nvGraphicFramePr>
        <p:xfrm>
          <a:off x="5657056" y="4870077"/>
          <a:ext cx="2941675" cy="1765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695450" imgH="1016000" progId="MSDraw">
                  <p:embed/>
                </p:oleObj>
              </mc:Choice>
              <mc:Fallback>
                <p:oleObj r:id="rId9" imgW="1695450" imgH="1016000" progId="MSDraw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7056" y="4870077"/>
                        <a:ext cx="2941675" cy="17650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CD2345-698C-3ECB-DA76-753667EC1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66321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83F56EA2-07B7-FBCC-4696-4CD36789E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980728"/>
            <a:ext cx="59046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、在额定频率以上保持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Us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为额定不变的弱磁升速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17B66D7-1CE1-144B-5CC7-B959D8079A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891287"/>
              </p:ext>
            </p:extLst>
          </p:nvPr>
        </p:nvGraphicFramePr>
        <p:xfrm>
          <a:off x="1304824" y="1340768"/>
          <a:ext cx="6534352" cy="1019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56013" imgH="571252" progId="Equation.DSMT4">
                  <p:embed/>
                </p:oleObj>
              </mc:Choice>
              <mc:Fallback>
                <p:oleObj name="Equation" r:id="rId3" imgW="3656013" imgH="571252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824" y="1340768"/>
                        <a:ext cx="6534352" cy="10193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13B5C3B-3818-8116-5BB5-B859EC503A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348845"/>
              </p:ext>
            </p:extLst>
          </p:nvPr>
        </p:nvGraphicFramePr>
        <p:xfrm>
          <a:off x="827584" y="2379887"/>
          <a:ext cx="7756326" cy="100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81155" imgH="583947" progId="Equation.DSMT4">
                  <p:embed/>
                </p:oleObj>
              </mc:Choice>
              <mc:Fallback>
                <p:oleObj name="Equation" r:id="rId5" imgW="4481155" imgH="58394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379887"/>
                        <a:ext cx="7756326" cy="10077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箭头: 右 9">
            <a:extLst>
              <a:ext uri="{FF2B5EF4-FFF2-40B4-BE49-F238E27FC236}">
                <a16:creationId xmlns:a16="http://schemas.microsoft.com/office/drawing/2014/main" id="{D05D61F0-1BE1-18F5-CB5E-8EB1EE5E4CEC}"/>
              </a:ext>
            </a:extLst>
          </p:cNvPr>
          <p:cNvSpPr/>
          <p:nvPr/>
        </p:nvSpPr>
        <p:spPr>
          <a:xfrm>
            <a:off x="251520" y="2616696"/>
            <a:ext cx="43204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60F3CAE-CB01-55BC-83E3-C1A3C7DB1824}"/>
              </a:ext>
            </a:extLst>
          </p:cNvPr>
          <p:cNvSpPr txBox="1"/>
          <p:nvPr/>
        </p:nvSpPr>
        <p:spPr>
          <a:xfrm>
            <a:off x="611560" y="3387649"/>
            <a:ext cx="7344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b="1" kern="100" dirty="0">
                <a:solidFill>
                  <a:srgbClr val="0000FF"/>
                </a:solidFill>
                <a:effectLst/>
                <a:latin typeface="楷体_GB2312"/>
                <a:ea typeface="黑体" panose="02010609060101010101" pitchFamily="49" charset="-122"/>
              </a:rPr>
              <a:t>结论</a:t>
            </a:r>
            <a:r>
              <a:rPr lang="en-US" altLang="zh-CN" sz="20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0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：基频以上调速</a:t>
            </a:r>
            <a:r>
              <a:rPr lang="zh-CN" altLang="zh-CN" sz="2000" b="1" kern="100" dirty="0">
                <a:solidFill>
                  <a:srgbClr val="0000FF"/>
                </a:solidFill>
                <a:effectLst/>
                <a:latin typeface="楷体_GB2312"/>
                <a:ea typeface="黑体" panose="02010609060101010101" pitchFamily="49" charset="-122"/>
              </a:rPr>
              <a:t>时最大转矩与频率成反比；</a:t>
            </a:r>
            <a:endParaRPr lang="zh-CN" altLang="zh-CN" sz="10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D5518A5C-3A13-743C-8B47-8CB2D7230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12" y="3819872"/>
            <a:ext cx="35604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最大转矩对应的转速降落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C9AF9273-3EC5-B14A-E396-0A71BE57F0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7017482"/>
              </p:ext>
            </p:extLst>
          </p:nvPr>
        </p:nvGraphicFramePr>
        <p:xfrm>
          <a:off x="1907704" y="4152219"/>
          <a:ext cx="5765724" cy="73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81400" imgH="457200" progId="Equation.DSMT4">
                  <p:embed/>
                </p:oleObj>
              </mc:Choice>
              <mc:Fallback>
                <p:oleObj name="Equation" r:id="rId7" imgW="35814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4152219"/>
                        <a:ext cx="5765724" cy="7344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B519A115-1A8A-73B6-7D83-A222C955D964}"/>
              </a:ext>
            </a:extLst>
          </p:cNvPr>
          <p:cNvSpPr txBox="1"/>
          <p:nvPr/>
        </p:nvSpPr>
        <p:spPr>
          <a:xfrm>
            <a:off x="683568" y="4951674"/>
            <a:ext cx="74168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结论</a:t>
            </a:r>
            <a:r>
              <a:rPr lang="en-US" altLang="zh-CN" sz="20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0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：基频以上</a:t>
            </a:r>
            <a:r>
              <a:rPr lang="zh-CN" altLang="zh-CN" sz="20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调速时最大转矩对应的转速降落近似为常数；</a:t>
            </a:r>
            <a:r>
              <a:rPr lang="zh-CN" altLang="en-US" sz="20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最大电磁转矩减小；</a:t>
            </a:r>
            <a:endParaRPr lang="zh-CN" altLang="zh-CN" sz="10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3C8DD9C9-58DB-F2F4-B882-C9966C707D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3950368"/>
              </p:ext>
            </p:extLst>
          </p:nvPr>
        </p:nvGraphicFramePr>
        <p:xfrm>
          <a:off x="1727684" y="5297382"/>
          <a:ext cx="4824536" cy="1506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46400" imgH="927100" progId="Equation.DSMT4">
                  <p:embed/>
                </p:oleObj>
              </mc:Choice>
              <mc:Fallback>
                <p:oleObj name="Equation" r:id="rId9" imgW="2946400" imgH="927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684" y="5297382"/>
                        <a:ext cx="4824536" cy="15064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218B071-7A19-81CC-0640-21B8076F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69144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3374871-5AB0-1584-5BD7-B0A02AF171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276529"/>
              </p:ext>
            </p:extLst>
          </p:nvPr>
        </p:nvGraphicFramePr>
        <p:xfrm>
          <a:off x="1610671" y="888191"/>
          <a:ext cx="5562618" cy="3022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62240" imgH="1701720" progId="Equation.DSMT4">
                  <p:embed/>
                </p:oleObj>
              </mc:Choice>
              <mc:Fallback>
                <p:oleObj name="Equation" r:id="rId3" imgW="3162240" imgH="170172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0671" y="888191"/>
                        <a:ext cx="5562618" cy="30220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CF9B826-199F-BBFF-832C-0E6F34ECE2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561988"/>
              </p:ext>
            </p:extLst>
          </p:nvPr>
        </p:nvGraphicFramePr>
        <p:xfrm>
          <a:off x="1259632" y="4000430"/>
          <a:ext cx="6264696" cy="1368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16374" imgH="774364" progId="Equation.DSMT4">
                  <p:embed/>
                </p:oleObj>
              </mc:Choice>
              <mc:Fallback>
                <p:oleObj name="Equation" r:id="rId5" imgW="3516374" imgH="77436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000430"/>
                        <a:ext cx="6264696" cy="13688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1006401A-A9FC-1920-0D18-15F6C22883CB}"/>
              </a:ext>
            </a:extLst>
          </p:cNvPr>
          <p:cNvSpPr txBox="1"/>
          <p:nvPr/>
        </p:nvSpPr>
        <p:spPr>
          <a:xfrm>
            <a:off x="683568" y="5445224"/>
            <a:ext cx="7344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因此，</a:t>
            </a:r>
            <a:r>
              <a:rPr lang="zh-CN" altLang="zh-CN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运行时若保持电流不变，则</a:t>
            </a:r>
            <a:r>
              <a:rPr lang="en-US" altLang="zh-CN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zh-CN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将基本不变，</a:t>
            </a:r>
            <a:r>
              <a:rPr lang="en-US" altLang="zh-CN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sz="2000" b="1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em </a:t>
            </a:r>
            <a:r>
              <a:rPr lang="zh-CN" altLang="zh-CN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也基本不变：</a:t>
            </a:r>
            <a:endParaRPr lang="zh-CN" altLang="zh-CN" sz="10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A0196D3-B0A7-8358-C0CD-745498A2340B}"/>
              </a:ext>
            </a:extLst>
          </p:cNvPr>
          <p:cNvSpPr txBox="1"/>
          <p:nvPr/>
        </p:nvSpPr>
        <p:spPr>
          <a:xfrm>
            <a:off x="683568" y="5927947"/>
            <a:ext cx="6840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结论</a:t>
            </a:r>
            <a:r>
              <a:rPr lang="en-US" altLang="zh-CN" sz="20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0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：基频以上变频调速近似为恒功率调速。</a:t>
            </a:r>
            <a:endParaRPr lang="zh-CN" altLang="zh-CN" sz="1000" b="1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6673C7-E031-B0EF-0A03-0367DEDE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38813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FA6ADB2-48F7-4624-DE98-2FC9AAD785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8649362"/>
              </p:ext>
            </p:extLst>
          </p:nvPr>
        </p:nvGraphicFramePr>
        <p:xfrm>
          <a:off x="4929588" y="1239664"/>
          <a:ext cx="3086100" cy="245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55800" imgH="1554163" progId="MSDraw">
                  <p:embed/>
                </p:oleObj>
              </mc:Choice>
              <mc:Fallback>
                <p:oleObj r:id="rId3" imgW="1955800" imgH="1554163" progId="MSDraw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FA6ADB2-48F7-4624-DE98-2FC9AAD785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588" y="1239664"/>
                        <a:ext cx="3086100" cy="2452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84EC9E8B-7777-AA30-CC9B-59DE092BCC3F}"/>
              </a:ext>
            </a:extLst>
          </p:cNvPr>
          <p:cNvSpPr txBox="1"/>
          <p:nvPr/>
        </p:nvSpPr>
        <p:spPr>
          <a:xfrm>
            <a:off x="714450" y="4343330"/>
            <a:ext cx="77151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特点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楷体_GB2312"/>
                <a:ea typeface="黑体" panose="02010609060101010101" pitchFamily="49" charset="-122"/>
              </a:rPr>
              <a:t>：变频调速平滑性好，无级，调速范围较宽</a:t>
            </a:r>
            <a:r>
              <a:rPr lang="zh-CN" altLang="en-US" sz="2400" b="1" kern="100" dirty="0">
                <a:solidFill>
                  <a:srgbClr val="0000FF"/>
                </a:solidFill>
                <a:latin typeface="楷体_GB2312"/>
                <a:ea typeface="黑体" panose="02010609060101010101" pitchFamily="49" charset="-122"/>
              </a:rPr>
              <a:t>；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楷体_GB2312"/>
                <a:ea typeface="黑体" panose="02010609060101010101" pitchFamily="49" charset="-122"/>
              </a:rPr>
              <a:t>基频以下近似为恒转矩调速、基频以上近似为恒功率调速。</a:t>
            </a:r>
            <a:endParaRPr lang="zh-CN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缺点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楷体_GB2312"/>
                <a:ea typeface="黑体" panose="02010609060101010101" pitchFamily="49" charset="-122"/>
              </a:rPr>
              <a:t>：动态性能较差，低速时性能受定子参数影响较大，可能发生不稳定现象。</a:t>
            </a:r>
            <a:endParaRPr lang="zh-CN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3E7BF51-5A00-77E0-DE25-7B56273FBA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874180"/>
              </p:ext>
            </p:extLst>
          </p:nvPr>
        </p:nvGraphicFramePr>
        <p:xfrm>
          <a:off x="902560" y="945010"/>
          <a:ext cx="3209925" cy="279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55800" imgH="1700213" progId="MSDraw">
                  <p:embed/>
                </p:oleObj>
              </mc:Choice>
              <mc:Fallback>
                <p:oleObj r:id="rId5" imgW="1955800" imgH="1700213" progId="MSDraw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03E7BF51-5A00-77E0-DE25-7B56273FBA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560" y="945010"/>
                        <a:ext cx="3209925" cy="2795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7AFCD9AF-80D5-F639-1836-0F1058EE286D}"/>
              </a:ext>
            </a:extLst>
          </p:cNvPr>
          <p:cNvSpPr txBox="1"/>
          <p:nvPr/>
        </p:nvSpPr>
        <p:spPr>
          <a:xfrm>
            <a:off x="846216" y="3752536"/>
            <a:ext cx="33226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6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基频以下保持</a:t>
            </a:r>
            <a:r>
              <a:rPr lang="en-US" altLang="zh-CN" sz="16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Us/f</a:t>
            </a:r>
            <a:r>
              <a:rPr lang="zh-CN" altLang="en-US" sz="16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为常数变频调速</a:t>
            </a:r>
            <a:endParaRPr lang="zh-CN" altLang="zh-CN" sz="16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D83BCC-02ED-6D5D-8364-8E0DAA4C77AA}"/>
              </a:ext>
            </a:extLst>
          </p:cNvPr>
          <p:cNvSpPr txBox="1"/>
          <p:nvPr/>
        </p:nvSpPr>
        <p:spPr>
          <a:xfrm>
            <a:off x="4857580" y="3733897"/>
            <a:ext cx="35386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6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基频以</a:t>
            </a:r>
            <a:r>
              <a:rPr lang="zh-CN" altLang="en-US" sz="1600" b="1" kern="100" dirty="0">
                <a:latin typeface="Times New Roman" panose="02020603050405020304" pitchFamily="18" charset="0"/>
              </a:rPr>
              <a:t>上</a:t>
            </a:r>
            <a:r>
              <a:rPr lang="zh-CN" altLang="en-US" sz="16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保持</a:t>
            </a:r>
            <a:r>
              <a:rPr lang="en-US" altLang="zh-CN" sz="16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Us</a:t>
            </a:r>
            <a:r>
              <a:rPr lang="zh-CN" altLang="en-US" sz="16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为常数变频</a:t>
            </a:r>
            <a:r>
              <a:rPr lang="zh-CN" altLang="en-US" sz="1600" b="1" kern="100" dirty="0">
                <a:latin typeface="Times New Roman" panose="02020603050405020304" pitchFamily="18" charset="0"/>
              </a:rPr>
              <a:t>弱磁</a:t>
            </a:r>
            <a:r>
              <a:rPr lang="zh-CN" altLang="en-US" sz="16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调速</a:t>
            </a:r>
            <a:endParaRPr lang="zh-CN" altLang="zh-CN" sz="16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EAA24F1-2895-882C-666C-1B0F6C94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39717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19">
            <a:extLst>
              <a:ext uri="{FF2B5EF4-FFF2-40B4-BE49-F238E27FC236}">
                <a16:creationId xmlns:a16="http://schemas.microsoft.com/office/drawing/2014/main" id="{69DED4D4-38D2-63E4-7F04-96C9CE603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503" y="6222370"/>
            <a:ext cx="578978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忽略        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               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1BB127B-40FF-DD82-C7CF-70D275975F49}"/>
              </a:ext>
            </a:extLst>
          </p:cNvPr>
          <p:cNvSpPr txBox="1"/>
          <p:nvPr/>
        </p:nvSpPr>
        <p:spPr>
          <a:xfrm>
            <a:off x="432048" y="98072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§</a:t>
            </a:r>
            <a:r>
              <a:rPr lang="en-US" altLang="zh-CN" sz="24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6-3  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三相异步电动机的制动</a:t>
            </a:r>
            <a:endParaRPr lang="zh-CN" altLang="zh-CN" sz="105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DB069D-48B9-F884-3E2D-5647AF096033}"/>
              </a:ext>
            </a:extLst>
          </p:cNvPr>
          <p:cNvSpPr txBox="1"/>
          <p:nvPr/>
        </p:nvSpPr>
        <p:spPr>
          <a:xfrm>
            <a:off x="659543" y="1489496"/>
            <a:ext cx="77631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 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与直流电动机制动</a:t>
            </a:r>
            <a:r>
              <a:rPr lang="zh-CN" altLang="en-US" sz="2000" kern="100" dirty="0">
                <a:latin typeface="宋体" panose="02010600030101010101" pitchFamily="2" charset="-122"/>
                <a:ea typeface="黑体" panose="02010609060101010101" pitchFamily="49" charset="-122"/>
              </a:rPr>
              <a:t>一样，有三种制动方式：回馈、反接和能耗制动。</a:t>
            </a:r>
            <a:endParaRPr lang="zh-CN" altLang="zh-CN" sz="1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3946DEB-6D30-EB5B-EFBD-36D9463C45EF}"/>
              </a:ext>
            </a:extLst>
          </p:cNvPr>
          <p:cNvSpPr txBox="1"/>
          <p:nvPr/>
        </p:nvSpPr>
        <p:spPr>
          <a:xfrm>
            <a:off x="448657" y="1844824"/>
            <a:ext cx="6840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+mj-ea"/>
              <a:buAutoNum type="ea1ChsPlain"/>
            </a:pPr>
            <a:r>
              <a:rPr lang="zh-CN" altLang="en-US" sz="24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、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回馈制动</a:t>
            </a:r>
            <a:r>
              <a:rPr lang="en-US" altLang="zh-CN" sz="24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 </a:t>
            </a:r>
            <a:endParaRPr lang="zh-CN" altLang="zh-CN" sz="105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5B931DA4-E8BC-9FDB-BBD3-42227A200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2439422"/>
            <a:ext cx="115212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条件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8BDE0EEA-C304-AD3C-2FC4-DF13FA477D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6158526"/>
              </p:ext>
            </p:extLst>
          </p:nvPr>
        </p:nvGraphicFramePr>
        <p:xfrm>
          <a:off x="1441195" y="2316191"/>
          <a:ext cx="24860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73840" imgH="470104" progId="Equation.DSMT4">
                  <p:embed/>
                </p:oleObj>
              </mc:Choice>
              <mc:Fallback>
                <p:oleObj name="Equation" r:id="rId3" imgW="1473840" imgH="47010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1195" y="2316191"/>
                        <a:ext cx="2486025" cy="7905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6">
            <a:extLst>
              <a:ext uri="{FF2B5EF4-FFF2-40B4-BE49-F238E27FC236}">
                <a16:creationId xmlns:a16="http://schemas.microsoft.com/office/drawing/2014/main" id="{15F2626F-BA34-E851-BD40-055158AA7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944" y="2419912"/>
            <a:ext cx="4608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66700" algn="l"/>
              </a:tabLst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功率平衡关系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电动机发电运行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76A5FEC7-2044-0159-6B58-359601FBE2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796738"/>
              </p:ext>
            </p:extLst>
          </p:nvPr>
        </p:nvGraphicFramePr>
        <p:xfrm>
          <a:off x="636531" y="3177496"/>
          <a:ext cx="914425" cy="355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900" imgH="177800" progId="Equation.DSMT4">
                  <p:embed/>
                </p:oleObj>
              </mc:Choice>
              <mc:Fallback>
                <p:oleObj name="Equation" r:id="rId5" imgW="469900" imgH="177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31" y="3177496"/>
                        <a:ext cx="914425" cy="3559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9">
            <a:extLst>
              <a:ext uri="{FF2B5EF4-FFF2-40B4-BE49-F238E27FC236}">
                <a16:creationId xmlns:a16="http://schemas.microsoft.com/office/drawing/2014/main" id="{1668C4EF-CCEE-3363-C1C8-6054D6530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1680" y="3179012"/>
            <a:ext cx="60486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不计电动机本身损耗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P0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时，轴上输出的机械功率：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A187AD5B-72B0-FE40-22C5-37D091BAB3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384141"/>
              </p:ext>
            </p:extLst>
          </p:nvPr>
        </p:nvGraphicFramePr>
        <p:xfrm>
          <a:off x="5087333" y="3560472"/>
          <a:ext cx="30289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49080" imgH="393480" progId="Equation.DSMT4">
                  <p:embed/>
                </p:oleObj>
              </mc:Choice>
              <mc:Fallback>
                <p:oleObj name="Equation" r:id="rId7" imgW="1549080" imgH="3934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333" y="3560472"/>
                        <a:ext cx="3028950" cy="720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13">
            <a:extLst>
              <a:ext uri="{FF2B5EF4-FFF2-40B4-BE49-F238E27FC236}">
                <a16:creationId xmlns:a16="http://schemas.microsoft.com/office/drawing/2014/main" id="{F189ED5B-B7CB-5575-2EBA-1613198BB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9451" y="3748333"/>
            <a:ext cx="14670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电磁功率：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E7D95B2C-FC9F-9B18-0E68-F83B58A832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7753423"/>
              </p:ext>
            </p:extLst>
          </p:nvPr>
        </p:nvGraphicFramePr>
        <p:xfrm>
          <a:off x="2411760" y="3555446"/>
          <a:ext cx="1872208" cy="750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54080" imgH="419040" progId="Equation.DSMT4">
                  <p:embed/>
                </p:oleObj>
              </mc:Choice>
              <mc:Fallback>
                <p:oleObj name="Equation" r:id="rId9" imgW="1054080" imgH="419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3555446"/>
                        <a:ext cx="1872208" cy="7508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36">
            <a:extLst>
              <a:ext uri="{FF2B5EF4-FFF2-40B4-BE49-F238E27FC236}">
                <a16:creationId xmlns:a16="http://schemas.microsoft.com/office/drawing/2014/main" id="{BFFC8979-4A81-25A0-C866-36E64622839F}"/>
              </a:ext>
            </a:extLst>
          </p:cNvPr>
          <p:cNvSpPr txBox="1"/>
          <p:nvPr/>
        </p:nvSpPr>
        <p:spPr>
          <a:xfrm>
            <a:off x="656095" y="4325034"/>
            <a:ext cx="7560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说明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制动时电机轴上机械能被转化为电能由转子侧传送到定子侧。</a:t>
            </a:r>
            <a:endParaRPr lang="zh-CN" altLang="zh-CN" sz="1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1E5D50DC-5858-5C79-55FB-D9B9405483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34382"/>
              </p:ext>
            </p:extLst>
          </p:nvPr>
        </p:nvGraphicFramePr>
        <p:xfrm>
          <a:off x="1441195" y="4682766"/>
          <a:ext cx="5959475" cy="1341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263760" imgH="736560" progId="Equation.DSMT4">
                  <p:embed/>
                </p:oleObj>
              </mc:Choice>
              <mc:Fallback>
                <p:oleObj name="Equation" r:id="rId11" imgW="3263760" imgH="73656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1195" y="4682766"/>
                        <a:ext cx="5959475" cy="13414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D804BF78-43D3-BA80-25B4-F50C0932F0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976099"/>
              </p:ext>
            </p:extLst>
          </p:nvPr>
        </p:nvGraphicFramePr>
        <p:xfrm>
          <a:off x="2479625" y="6167257"/>
          <a:ext cx="1372295" cy="484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01700" imgH="317500" progId="Equation.DSMT4">
                  <p:embed/>
                </p:oleObj>
              </mc:Choice>
              <mc:Fallback>
                <p:oleObj name="Equation" r:id="rId13" imgW="901700" imgH="3175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625" y="6167257"/>
                        <a:ext cx="1372295" cy="4841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7B921DCC-CA16-9685-AFC9-C7BC12003B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0119162"/>
              </p:ext>
            </p:extLst>
          </p:nvPr>
        </p:nvGraphicFramePr>
        <p:xfrm>
          <a:off x="3981363" y="6047171"/>
          <a:ext cx="2117377" cy="750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72196" imgH="482810" progId="Equation.DSMT4">
                  <p:embed/>
                </p:oleObj>
              </mc:Choice>
              <mc:Fallback>
                <p:oleObj name="Equation" r:id="rId15" imgW="1372196" imgH="48281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1363" y="6047171"/>
                        <a:ext cx="2117377" cy="7505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DC8C02-FD9C-4B9D-785B-6EF7BB5A0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58285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D7C7CC-B9B7-0030-C6A5-2BFB49E7D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3384307"/>
            <a:ext cx="8208912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由转子侧送定子侧的功率</a:t>
            </a:r>
            <a:r>
              <a:rPr kumimoji="0" lang="en-US" altLang="zh-CN" sz="2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电磁功率</a:t>
            </a:r>
            <a:r>
              <a:rPr kumimoji="0" lang="en-US" altLang="zh-CN" sz="2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除定子铜耗外其余的回送电网</a:t>
            </a: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。即此时电机作发电机运行，将系统减小的动能转变为电能回馈电网：三相异步电动机也</a:t>
            </a: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具有可逆性</a:t>
            </a: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，与</a:t>
            </a:r>
            <a:r>
              <a:rPr kumimoji="0" lang="en-US" altLang="zh-CN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DCM</a:t>
            </a: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相似。</a:t>
            </a:r>
            <a:endParaRPr kumimoji="0" lang="zh-CN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E99FABE-33C0-0F04-36E1-4357368286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579275"/>
              </p:ext>
            </p:extLst>
          </p:nvPr>
        </p:nvGraphicFramePr>
        <p:xfrm>
          <a:off x="907547" y="932032"/>
          <a:ext cx="4361503" cy="2363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502025" imgH="1644650" progId="MSDraw">
                  <p:embed/>
                </p:oleObj>
              </mc:Choice>
              <mc:Fallback>
                <p:oleObj r:id="rId3" imgW="3502025" imgH="1644650" progId="MSDraw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547" y="932032"/>
                        <a:ext cx="4361503" cy="23634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5236DD8-A6A1-9C1B-69BE-4E01E81C33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1270179"/>
              </p:ext>
            </p:extLst>
          </p:nvPr>
        </p:nvGraphicFramePr>
        <p:xfrm>
          <a:off x="5644165" y="645870"/>
          <a:ext cx="2592288" cy="2717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381442" imgH="1613217" progId="">
                  <p:embed/>
                </p:oleObj>
              </mc:Choice>
              <mc:Fallback>
                <p:oleObj r:id="rId5" imgW="1381442" imgH="1613217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4165" y="645870"/>
                        <a:ext cx="2592288" cy="27171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4A31176E-5D7C-14F4-224A-2E40451D2F6E}"/>
              </a:ext>
            </a:extLst>
          </p:cNvPr>
          <p:cNvSpPr txBox="1"/>
          <p:nvPr/>
        </p:nvSpPr>
        <p:spPr>
          <a:xfrm>
            <a:off x="467544" y="4581128"/>
            <a:ext cx="1872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tabLst>
                <a:tab pos="266700" algn="l"/>
              </a:tabLst>
            </a:pP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楷体_GB2312"/>
                <a:ea typeface="黑体" panose="02010609060101010101" pitchFamily="49" charset="-122"/>
              </a:rPr>
              <a:t>机械特性</a:t>
            </a:r>
            <a:r>
              <a:rPr lang="zh-CN" altLang="en-US" sz="2400" b="1" kern="100" dirty="0">
                <a:solidFill>
                  <a:srgbClr val="0000FF"/>
                </a:solidFill>
                <a:effectLst/>
                <a:latin typeface="楷体_GB2312"/>
                <a:ea typeface="黑体" panose="02010609060101010101" pitchFamily="49" charset="-122"/>
              </a:rPr>
              <a:t>：</a:t>
            </a:r>
            <a:endParaRPr lang="zh-CN" altLang="zh-CN" sz="1050" kern="1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5CF684B-80B2-2D01-B24B-350D52B9DC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487024"/>
              </p:ext>
            </p:extLst>
          </p:nvPr>
        </p:nvGraphicFramePr>
        <p:xfrm>
          <a:off x="899592" y="4851111"/>
          <a:ext cx="3960440" cy="1605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34230" imgH="901309" progId="Equation.DSMT4">
                  <p:embed/>
                </p:oleObj>
              </mc:Choice>
              <mc:Fallback>
                <p:oleObj name="Equation" r:id="rId7" imgW="2234230" imgH="901309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1379C231-B245-995D-0368-68DBF18118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851111"/>
                        <a:ext cx="3960440" cy="16059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1B08985D-91E1-E7CD-AE36-ED2537778C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1671274"/>
              </p:ext>
            </p:extLst>
          </p:nvPr>
        </p:nvGraphicFramePr>
        <p:xfrm>
          <a:off x="5164901" y="4712272"/>
          <a:ext cx="3312368" cy="174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221230" imgH="1171892" progId="">
                  <p:embed/>
                </p:oleObj>
              </mc:Choice>
              <mc:Fallback>
                <p:oleObj r:id="rId9" imgW="2221230" imgH="1171892" progId="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0E905D8-F8A9-643B-0DD8-4BF3DCF254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901" y="4712272"/>
                        <a:ext cx="3312368" cy="174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03E921-6430-BAD3-0E24-BB57ADD31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83831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0">
            <a:extLst>
              <a:ext uri="{FF2B5EF4-FFF2-40B4-BE49-F238E27FC236}">
                <a16:creationId xmlns:a16="http://schemas.microsoft.com/office/drawing/2014/main" id="{69ACA1F6-D9DA-3FAA-D8B2-2AC828151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887526"/>
            <a:ext cx="8064896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zh-CN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由图可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kumimoji="0" lang="zh-CN" altLang="zh-CN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回馈状态</a:t>
            </a:r>
            <a:r>
              <a:rPr kumimoji="0" lang="en-US" altLang="zh-CN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0" lang="zh-CN" altLang="zh-CN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的机械特性</a:t>
            </a:r>
            <a:r>
              <a:rPr kumimoji="0" lang="zh-CN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与电动状态       的机械特性</a:t>
            </a:r>
            <a:r>
              <a:rPr kumimoji="0" lang="zh-CN" altLang="zh-CN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kumimoji="0" lang="en-US" altLang="zh-CN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轴关于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n0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奇对称，但最大转矩的数值要比电动状态下的最大转矩值大，因为回馈制动时转差率小于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，电磁转矩表达式的分母中原来定子电阻与转子折算电阻因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s&gt;0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是相加关系，回馈时因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变负成相减关系，对同样数值的临界转差率，回馈时的最大电磁转矩数值上大于电动时电磁转矩的最大值。</a:t>
            </a:r>
          </a:p>
          <a:p>
            <a:pPr eaLnBrk="0" hangingPunct="0"/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反转时情况类似。</a:t>
            </a:r>
            <a:endParaRPr kumimoji="0" lang="zh-CN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C1D3F1C-F6C0-6FD0-6CA9-0DBBDE8928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619447"/>
              </p:ext>
            </p:extLst>
          </p:nvPr>
        </p:nvGraphicFramePr>
        <p:xfrm>
          <a:off x="3435453" y="980728"/>
          <a:ext cx="10096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865" imgH="203288" progId="Equation.DSMT4">
                  <p:embed/>
                </p:oleObj>
              </mc:Choice>
              <mc:Fallback>
                <p:oleObj name="Equation" r:id="rId3" imgW="609865" imgH="20328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453" y="980728"/>
                        <a:ext cx="100965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D523EF6-FD94-64FC-D0C2-1ED543CC7B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448120"/>
              </p:ext>
            </p:extLst>
          </p:nvPr>
        </p:nvGraphicFramePr>
        <p:xfrm>
          <a:off x="7308304" y="1021367"/>
          <a:ext cx="88106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33632" imgH="203288" progId="Equation.DSMT4">
                  <p:embed/>
                </p:oleObj>
              </mc:Choice>
              <mc:Fallback>
                <p:oleObj name="Equation" r:id="rId5" imgW="533632" imgH="20328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304" y="1021367"/>
                        <a:ext cx="881063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048629CB-6A03-C016-B1CB-E327332BC1C0}"/>
              </a:ext>
            </a:extLst>
          </p:cNvPr>
          <p:cNvSpPr txBox="1"/>
          <p:nvPr/>
        </p:nvSpPr>
        <p:spPr>
          <a:xfrm>
            <a:off x="566033" y="3521171"/>
            <a:ext cx="29773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266700" algn="l"/>
              </a:tabLst>
            </a:pP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楷体_GB2312"/>
                <a:ea typeface="黑体" panose="02010609060101010101" pitchFamily="49" charset="-122"/>
              </a:rPr>
              <a:t>回馈制动的产生</a:t>
            </a:r>
            <a:r>
              <a:rPr lang="zh-CN" altLang="en-US" sz="2400" b="1" kern="100" dirty="0">
                <a:solidFill>
                  <a:srgbClr val="0000FF"/>
                </a:solidFill>
                <a:latin typeface="楷体_GB2312"/>
                <a:ea typeface="黑体" panose="02010609060101010101" pitchFamily="49" charset="-122"/>
              </a:rPr>
              <a:t>主要途径</a:t>
            </a:r>
            <a:r>
              <a:rPr lang="zh-CN" altLang="en-US" sz="2400" b="1" kern="100" dirty="0">
                <a:solidFill>
                  <a:srgbClr val="0000FF"/>
                </a:solidFill>
                <a:effectLst/>
                <a:latin typeface="楷体_GB2312"/>
                <a:ea typeface="黑体" panose="02010609060101010101" pitchFamily="49" charset="-122"/>
              </a:rPr>
              <a:t>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A55129C8-D28A-E836-9D39-B95E2D1063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74418"/>
              </p:ext>
            </p:extLst>
          </p:nvPr>
        </p:nvGraphicFramePr>
        <p:xfrm>
          <a:off x="4267609" y="3460453"/>
          <a:ext cx="4336839" cy="3142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501900" imgH="1819275" progId="MSDraw">
                  <p:embed/>
                </p:oleObj>
              </mc:Choice>
              <mc:Fallback>
                <p:oleObj r:id="rId7" imgW="2501900" imgH="1819275" progId="MSDraw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609" y="3460453"/>
                        <a:ext cx="4336839" cy="31420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>
            <a:extLst>
              <a:ext uri="{FF2B5EF4-FFF2-40B4-BE49-F238E27FC236}">
                <a16:creationId xmlns:a16="http://schemas.microsoft.com/office/drawing/2014/main" id="{51AE0E34-FEA4-446F-53CB-781CEC19B64B}"/>
              </a:ext>
            </a:extLst>
          </p:cNvPr>
          <p:cNvSpPr txBox="1"/>
          <p:nvPr/>
        </p:nvSpPr>
        <p:spPr>
          <a:xfrm>
            <a:off x="971600" y="4260881"/>
            <a:ext cx="18963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b="1" kern="100" dirty="0">
                <a:effectLst/>
                <a:latin typeface="楷体_GB2312"/>
                <a:ea typeface="黑体" panose="02010609060101010101" pitchFamily="49" charset="-122"/>
              </a:rPr>
              <a:t>变频调速</a:t>
            </a:r>
            <a:endParaRPr lang="zh-CN" altLang="en-US" sz="22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307E8BD-266D-30B1-15EA-5E7DEA820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48966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5B6A63A-48E3-BFC5-AD9B-9956DF0AEF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5023061"/>
              </p:ext>
            </p:extLst>
          </p:nvPr>
        </p:nvGraphicFramePr>
        <p:xfrm>
          <a:off x="4746803" y="835189"/>
          <a:ext cx="4141128" cy="2593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73313" imgH="1489075" progId="MSDraw">
                  <p:embed/>
                </p:oleObj>
              </mc:Choice>
              <mc:Fallback>
                <p:oleObj r:id="rId3" imgW="2373313" imgH="1489075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803" y="835189"/>
                        <a:ext cx="4141128" cy="25938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5A2F64D8-DEA6-23F3-90ED-90C5FCD349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175753"/>
              </p:ext>
            </p:extLst>
          </p:nvPr>
        </p:nvGraphicFramePr>
        <p:xfrm>
          <a:off x="541246" y="1124744"/>
          <a:ext cx="4060030" cy="2202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482850" imgH="1350963" progId="MSDraw">
                  <p:embed/>
                </p:oleObj>
              </mc:Choice>
              <mc:Fallback>
                <p:oleObj r:id="rId5" imgW="2482850" imgH="1350963" progId="MSDraw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5A2F64D8-DEA6-23F3-90ED-90C5FCD349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246" y="1124744"/>
                        <a:ext cx="4060030" cy="22020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>
            <a:extLst>
              <a:ext uri="{FF2B5EF4-FFF2-40B4-BE49-F238E27FC236}">
                <a16:creationId xmlns:a16="http://schemas.microsoft.com/office/drawing/2014/main" id="{83C87744-6363-0A19-3F2D-D37DF0A5FF97}"/>
              </a:ext>
            </a:extLst>
          </p:cNvPr>
          <p:cNvSpPr txBox="1"/>
          <p:nvPr/>
        </p:nvSpPr>
        <p:spPr>
          <a:xfrm>
            <a:off x="699900" y="3326795"/>
            <a:ext cx="37427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〖对应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象限机械特性向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象限的延伸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1800" kern="100" dirty="0" err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1800" kern="100" baseline="-25000" dirty="0" err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象限负值〗</a:t>
            </a:r>
            <a:endParaRPr lang="zh-CN" alt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D6D22F0-6B26-BBDE-759C-7784E4BCB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992" y="937325"/>
            <a:ext cx="19442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下放位能负载</a:t>
            </a:r>
            <a:endParaRPr kumimoji="0" lang="zh-CN" altLang="zh-CN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95236FA-58BA-3946-CE6E-BDCD7AEC36DE}"/>
              </a:ext>
            </a:extLst>
          </p:cNvPr>
          <p:cNvSpPr txBox="1"/>
          <p:nvPr/>
        </p:nvSpPr>
        <p:spPr>
          <a:xfrm>
            <a:off x="5034834" y="3370208"/>
            <a:ext cx="37427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〖对应</a:t>
            </a:r>
            <a:r>
              <a:rPr lang="en-US" altLang="zh-CN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象限机械特性向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象限的延伸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1800" kern="100" dirty="0" err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1800" kern="100" baseline="-25000" dirty="0" err="1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zh-CN" sz="1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象限负值〗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6BCC90A-AD61-BEBE-CF24-7CD0A6428A1B}"/>
              </a:ext>
            </a:extLst>
          </p:cNvPr>
          <p:cNvSpPr txBox="1"/>
          <p:nvPr/>
        </p:nvSpPr>
        <p:spPr>
          <a:xfrm>
            <a:off x="539552" y="4221088"/>
            <a:ext cx="2880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zh-CN" altLang="en-US" sz="24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二、</a:t>
            </a:r>
            <a:r>
              <a:rPr lang="zh-CN" altLang="en-US" sz="2400" b="1" kern="100" dirty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反接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制动</a:t>
            </a:r>
            <a:r>
              <a:rPr lang="en-US" altLang="zh-CN" sz="24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 </a:t>
            </a:r>
            <a:endParaRPr lang="zh-CN" altLang="zh-CN" sz="105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86FD250-AB8B-8BAD-A7D1-B8141E525C85}"/>
              </a:ext>
            </a:extLst>
          </p:cNvPr>
          <p:cNvSpPr txBox="1"/>
          <p:nvPr/>
        </p:nvSpPr>
        <p:spPr>
          <a:xfrm>
            <a:off x="467544" y="4741017"/>
            <a:ext cx="7790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2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转子实际旋转方向与定子磁场旋转方向相反：</a:t>
            </a:r>
            <a:r>
              <a:rPr lang="en-US" altLang="zh-CN" sz="22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n</a:t>
            </a:r>
            <a:r>
              <a:rPr lang="zh-CN" altLang="zh-CN" sz="22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与</a:t>
            </a:r>
            <a:r>
              <a:rPr lang="en-US" altLang="zh-CN" sz="22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n0</a:t>
            </a:r>
            <a:r>
              <a:rPr lang="zh-CN" altLang="zh-CN" sz="22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方向相反。</a:t>
            </a:r>
            <a:endParaRPr lang="zh-CN" altLang="zh-CN" sz="2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AE2868C0-C15A-3E75-E7C4-4BAB665F1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456" y="5394966"/>
            <a:ext cx="159530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转差率</a:t>
            </a:r>
            <a:r>
              <a:rPr kumimoji="0" lang="zh-CN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zh-CN" altLang="zh-CN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FD500ADE-8097-AA8C-5C3E-EFA88CF76B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441357"/>
              </p:ext>
            </p:extLst>
          </p:nvPr>
        </p:nvGraphicFramePr>
        <p:xfrm>
          <a:off x="1901344" y="5234356"/>
          <a:ext cx="150495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15194" imgH="470308" progId="Equation.DSMT4">
                  <p:embed/>
                </p:oleObj>
              </mc:Choice>
              <mc:Fallback>
                <p:oleObj name="Equation" r:id="rId7" imgW="915194" imgH="47030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344" y="5234356"/>
                        <a:ext cx="1504950" cy="771525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DB819DBD-E4F7-69F3-C4BA-66C3AA9835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484591"/>
              </p:ext>
            </p:extLst>
          </p:nvPr>
        </p:nvGraphicFramePr>
        <p:xfrm>
          <a:off x="5882863" y="5260666"/>
          <a:ext cx="2986298" cy="750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01800" imgH="431800" progId="Equation.DSMT4">
                  <p:embed/>
                </p:oleObj>
              </mc:Choice>
              <mc:Fallback>
                <p:oleObj name="Equation" r:id="rId9" imgW="1701800" imgH="431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2863" y="5260666"/>
                        <a:ext cx="2986298" cy="7503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CAF877BE-531E-63C4-F8DC-117E23B506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340933"/>
              </p:ext>
            </p:extLst>
          </p:nvPr>
        </p:nvGraphicFramePr>
        <p:xfrm>
          <a:off x="3666683" y="5217627"/>
          <a:ext cx="2160239" cy="818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07548" imgH="457597" progId="Equation.DSMT4">
                  <p:embed/>
                </p:oleObj>
              </mc:Choice>
              <mc:Fallback>
                <p:oleObj name="Equation" r:id="rId11" imgW="1207548" imgH="45759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6683" y="5217627"/>
                        <a:ext cx="2160239" cy="8183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14">
            <a:extLst>
              <a:ext uri="{FF2B5EF4-FFF2-40B4-BE49-F238E27FC236}">
                <a16:creationId xmlns:a16="http://schemas.microsoft.com/office/drawing/2014/main" id="{35E95C36-C2D4-B307-096E-1F6F898EB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6853" y="6133059"/>
            <a:ext cx="286886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电动机输入功率为：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AAC6382A-1978-381C-01C3-ED442F1C55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2237004"/>
              </p:ext>
            </p:extLst>
          </p:nvPr>
        </p:nvGraphicFramePr>
        <p:xfrm>
          <a:off x="3666683" y="6021429"/>
          <a:ext cx="2652836" cy="563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59490" imgH="292227" progId="Equation.DSMT4">
                  <p:embed/>
                </p:oleObj>
              </mc:Choice>
              <mc:Fallback>
                <p:oleObj name="Equation" r:id="rId13" imgW="1359490" imgH="292227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6683" y="6021429"/>
                        <a:ext cx="2652836" cy="5635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箭头: 右 40">
            <a:extLst>
              <a:ext uri="{FF2B5EF4-FFF2-40B4-BE49-F238E27FC236}">
                <a16:creationId xmlns:a16="http://schemas.microsoft.com/office/drawing/2014/main" id="{9EA3FF22-306B-5803-C963-F1DAA7AE51D6}"/>
              </a:ext>
            </a:extLst>
          </p:cNvPr>
          <p:cNvSpPr/>
          <p:nvPr/>
        </p:nvSpPr>
        <p:spPr>
          <a:xfrm>
            <a:off x="617108" y="6228805"/>
            <a:ext cx="455364" cy="2615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1B6AA5-1EFA-3167-668B-A34CD654B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48275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9CB4A9C-F878-13CF-778B-21BE41E453AA}"/>
              </a:ext>
            </a:extLst>
          </p:cNvPr>
          <p:cNvSpPr txBox="1"/>
          <p:nvPr/>
        </p:nvSpPr>
        <p:spPr>
          <a:xfrm>
            <a:off x="518220" y="991799"/>
            <a:ext cx="78488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200" b="1" kern="100" dirty="0">
                <a:latin typeface="宋体" panose="02010600030101010101" pitchFamily="2" charset="-122"/>
                <a:ea typeface="黑体" panose="02010609060101010101" pitchFamily="49" charset="-122"/>
              </a:rPr>
              <a:t>    因此</a:t>
            </a:r>
            <a:r>
              <a:rPr lang="zh-CN" altLang="zh-CN" sz="2200" b="1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反接制动时，电动机即从轴上输入机械功率，也从电网输入电功率，并全部消耗在转子绕组电阻中。</a:t>
            </a:r>
            <a:endParaRPr lang="zh-CN" altLang="zh-CN" sz="2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932D5C9-240E-2F1B-1805-8EFD72BA4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60" y="1968464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机械特性：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B645231-98D0-F40D-27E1-476034F8EE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970852"/>
              </p:ext>
            </p:extLst>
          </p:nvPr>
        </p:nvGraphicFramePr>
        <p:xfrm>
          <a:off x="1979712" y="1830315"/>
          <a:ext cx="5184576" cy="2740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211388" imgH="1163638" progId="MSDraw">
                  <p:embed/>
                </p:oleObj>
              </mc:Choice>
              <mc:Fallback>
                <p:oleObj r:id="rId3" imgW="2211388" imgH="1163638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1830315"/>
                        <a:ext cx="5184576" cy="27402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8C5DAAF0-336F-ACBA-21D2-F0060E651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0" y="4545702"/>
            <a:ext cx="810756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电源刚反相序时，转子绕组中的感应电动势比起动时还大，但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此时转子电抗</a:t>
            </a:r>
            <a:r>
              <a:rPr kumimoji="0" lang="en-US" altLang="zh-CN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也相应增大，转子电流仅会比直接起动时略大，对中小功率的笼型转子异步电机，只要机械上能够承受制动冲击，电机本身是可以直接进行反接制动的，但单位时间内的次数不能过于频繁。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绕线转子电机使用时可应适当考虑限流措施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zh-CN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对笼型电机，因转子回路无法串电阻，反接制动不能过于频繁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0" lang="zh-CN" altLang="zh-CN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444020D-6C69-C350-0E1D-40E012C86E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960186"/>
              </p:ext>
            </p:extLst>
          </p:nvPr>
        </p:nvGraphicFramePr>
        <p:xfrm>
          <a:off x="2555776" y="4889119"/>
          <a:ext cx="5334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2608" imgH="241720" progId="Equation.DSMT4">
                  <p:embed/>
                </p:oleObj>
              </mc:Choice>
              <mc:Fallback>
                <p:oleObj name="Equation" r:id="rId5" imgW="292608" imgH="2417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4889119"/>
                        <a:ext cx="533400" cy="428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9F02837-D833-6567-9988-1EA9EC7A9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91842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70000AC6-B1AB-06F9-B491-CC8B3E93DF54}"/>
              </a:ext>
            </a:extLst>
          </p:cNvPr>
          <p:cNvSpPr txBox="1"/>
          <p:nvPr/>
        </p:nvSpPr>
        <p:spPr>
          <a:xfrm>
            <a:off x="501310" y="98802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三、能耗制动</a:t>
            </a:r>
            <a:endParaRPr lang="zh-CN" altLang="zh-CN" sz="105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6D5611A-8CD3-D326-3975-1F6DC62B71D2}"/>
              </a:ext>
            </a:extLst>
          </p:cNvPr>
          <p:cNvSpPr txBox="1"/>
          <p:nvPr/>
        </p:nvSpPr>
        <p:spPr>
          <a:xfrm>
            <a:off x="544910" y="1477233"/>
            <a:ext cx="46805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    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将需制动的三相异步电动机断开交流电源后</a:t>
            </a:r>
            <a:r>
              <a:rPr lang="zh-CN" altLang="en-US" sz="20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立即在定子绕组中通入直流，建立一恒定磁场。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28B0D57B-E930-0CB7-7365-BBE2CF999D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929711"/>
              </p:ext>
            </p:extLst>
          </p:nvPr>
        </p:nvGraphicFramePr>
        <p:xfrm>
          <a:off x="5700620" y="1324884"/>
          <a:ext cx="2978802" cy="1320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97038" imgH="749300" progId="MSDraw">
                  <p:embed/>
                </p:oleObj>
              </mc:Choice>
              <mc:Fallback>
                <p:oleObj r:id="rId3" imgW="1697038" imgH="749300" progId="MSDraw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0620" y="1324884"/>
                        <a:ext cx="2978802" cy="13203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8034254F-E3C8-4942-71A5-C0486629B4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554761"/>
              </p:ext>
            </p:extLst>
          </p:nvPr>
        </p:nvGraphicFramePr>
        <p:xfrm>
          <a:off x="1409006" y="2733456"/>
          <a:ext cx="2448272" cy="73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260800" imgH="9448800" progId="Equation.DSMT4">
                  <p:embed/>
                </p:oleObj>
              </mc:Choice>
              <mc:Fallback>
                <p:oleObj name="Equation" r:id="rId5" imgW="29260800" imgH="9448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006" y="2733456"/>
                        <a:ext cx="2448272" cy="7398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047DEF78-9678-95AA-69DC-AC3716FFB3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793313"/>
              </p:ext>
            </p:extLst>
          </p:nvPr>
        </p:nvGraphicFramePr>
        <p:xfrm>
          <a:off x="1192982" y="3463236"/>
          <a:ext cx="3207133" cy="767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32000" imgH="482600" progId="Equation.DSMT4">
                  <p:embed/>
                </p:oleObj>
              </mc:Choice>
              <mc:Fallback>
                <p:oleObj name="Equation" r:id="rId7" imgW="2032000" imgH="482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982" y="3463236"/>
                        <a:ext cx="3207133" cy="7679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11">
            <a:extLst>
              <a:ext uri="{FF2B5EF4-FFF2-40B4-BE49-F238E27FC236}">
                <a16:creationId xmlns:a16="http://schemas.microsoft.com/office/drawing/2014/main" id="{7FDC3BA2-AED2-C00D-95A2-6ABD22475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910" y="2457678"/>
            <a:ext cx="5400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根据异步电机每相绕组产生的磁势为：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2C84B62E-35EF-CD91-A709-EACB8DA67E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269632"/>
              </p:ext>
            </p:extLst>
          </p:nvPr>
        </p:nvGraphicFramePr>
        <p:xfrm>
          <a:off x="5731948" y="2779353"/>
          <a:ext cx="2883066" cy="2422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425892" imgH="1202055" progId="">
                  <p:embed/>
                </p:oleObj>
              </mc:Choice>
              <mc:Fallback>
                <p:oleObj r:id="rId9" imgW="1425892" imgH="1202055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1948" y="2779353"/>
                        <a:ext cx="2883066" cy="24224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16">
            <a:extLst>
              <a:ext uri="{FF2B5EF4-FFF2-40B4-BE49-F238E27FC236}">
                <a16:creationId xmlns:a16="http://schemas.microsoft.com/office/drawing/2014/main" id="{63050385-71EA-08ED-895B-261BDB75C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910" y="4203845"/>
            <a:ext cx="489654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现令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直流电流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Id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流过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绕组时，每相绕组所产生的磁通势幅值相等，则有：</a:t>
            </a:r>
          </a:p>
        </p:txBody>
      </p: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4500884A-F886-4B35-6A1D-EB82AFE00A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839083"/>
              </p:ext>
            </p:extLst>
          </p:nvPr>
        </p:nvGraphicFramePr>
        <p:xfrm>
          <a:off x="1390715" y="4931131"/>
          <a:ext cx="2376264" cy="754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23636" imgH="457597" progId="Equation.DSMT4">
                  <p:embed/>
                </p:oleObj>
              </mc:Choice>
              <mc:Fallback>
                <p:oleObj name="Equation" r:id="rId11" imgW="1423636" imgH="457597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715" y="4931131"/>
                        <a:ext cx="2376264" cy="7540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C2D116AB-5857-DA86-D62F-954EFA71F5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5704723"/>
              </p:ext>
            </p:extLst>
          </p:nvPr>
        </p:nvGraphicFramePr>
        <p:xfrm>
          <a:off x="3781465" y="5042907"/>
          <a:ext cx="1213148" cy="518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11000" imgH="304560" progId="Equation.DSMT4">
                  <p:embed/>
                </p:oleObj>
              </mc:Choice>
              <mc:Fallback>
                <p:oleObj name="Equation" r:id="rId13" imgW="711000" imgH="30456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1465" y="5042907"/>
                        <a:ext cx="1213148" cy="5188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文本框 44">
            <a:extLst>
              <a:ext uri="{FF2B5EF4-FFF2-40B4-BE49-F238E27FC236}">
                <a16:creationId xmlns:a16="http://schemas.microsoft.com/office/drawing/2014/main" id="{F1286D0A-1638-2806-0152-77DF21FFD5A7}"/>
              </a:ext>
            </a:extLst>
          </p:cNvPr>
          <p:cNvSpPr txBox="1"/>
          <p:nvPr/>
        </p:nvSpPr>
        <p:spPr>
          <a:xfrm>
            <a:off x="539552" y="578859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两相绕组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合成磁通势的基波幅值为：</a:t>
            </a:r>
            <a:endParaRPr lang="zh-CN" altLang="zh-CN" sz="1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1EB67126-0C83-8827-DC0A-EF20EE6FF0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940659"/>
              </p:ext>
            </p:extLst>
          </p:nvPr>
        </p:nvGraphicFramePr>
        <p:xfrm>
          <a:off x="4644008" y="5595845"/>
          <a:ext cx="3749576" cy="770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23465" imgH="457399" progId="Equation.DSMT4">
                  <p:embed/>
                </p:oleObj>
              </mc:Choice>
              <mc:Fallback>
                <p:oleObj name="Equation" r:id="rId15" imgW="2223465" imgH="457399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5595845"/>
                        <a:ext cx="3749576" cy="7707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5918FD-9CAC-DE1C-3312-A210F27C5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81586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47EC76D-F800-6821-C88B-665A1DC64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052736"/>
            <a:ext cx="77768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若将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Fz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看成是有效值为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Is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的三相交流电流所产生的，则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C9B2823-8650-952E-8D3D-DCE748D3BC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725825"/>
              </p:ext>
            </p:extLst>
          </p:nvPr>
        </p:nvGraphicFramePr>
        <p:xfrm>
          <a:off x="827584" y="1573131"/>
          <a:ext cx="7704856" cy="725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11400" imgH="393480" progId="Equation.DSMT4">
                  <p:embed/>
                </p:oleObj>
              </mc:Choice>
              <mc:Fallback>
                <p:oleObj name="Equation" r:id="rId3" imgW="3911400" imgH="3934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1573131"/>
                        <a:ext cx="7704856" cy="7253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39A891A-3E6A-6067-69D5-DA3A26ABC0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04250"/>
              </p:ext>
            </p:extLst>
          </p:nvPr>
        </p:nvGraphicFramePr>
        <p:xfrm>
          <a:off x="839590" y="2276872"/>
          <a:ext cx="2790576" cy="86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73120" imgH="457200" progId="Equation.DSMT4">
                  <p:embed/>
                </p:oleObj>
              </mc:Choice>
              <mc:Fallback>
                <p:oleObj name="Equation" r:id="rId5" imgW="147312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590" y="2276872"/>
                        <a:ext cx="2790576" cy="8625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984DFF6-2DCC-32DF-B4E1-E8B9731B99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6870038"/>
              </p:ext>
            </p:extLst>
          </p:nvPr>
        </p:nvGraphicFramePr>
        <p:xfrm>
          <a:off x="4211960" y="2540253"/>
          <a:ext cx="898709" cy="425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83229" imgH="228898" progId="Equation.DSMT4">
                  <p:embed/>
                </p:oleObj>
              </mc:Choice>
              <mc:Fallback>
                <p:oleObj name="Equation" r:id="rId7" imgW="483229" imgH="22889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2540253"/>
                        <a:ext cx="898709" cy="4257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12896AD-82B8-252C-0950-B6F6845D50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257747"/>
              </p:ext>
            </p:extLst>
          </p:nvPr>
        </p:nvGraphicFramePr>
        <p:xfrm>
          <a:off x="5692463" y="2343090"/>
          <a:ext cx="108426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47640" imgH="444240" progId="Equation.DSMT4">
                  <p:embed/>
                </p:oleObj>
              </mc:Choice>
              <mc:Fallback>
                <p:oleObj name="Equation" r:id="rId9" imgW="647640" imgH="4442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2463" y="2343090"/>
                        <a:ext cx="1084262" cy="742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40E96FF-0D9A-8BD4-D1EF-CC667E9A35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102452"/>
              </p:ext>
            </p:extLst>
          </p:nvPr>
        </p:nvGraphicFramePr>
        <p:xfrm>
          <a:off x="3086546" y="3057524"/>
          <a:ext cx="666750" cy="742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68280" imgH="444240" progId="Equation.DSMT4">
                  <p:embed/>
                </p:oleObj>
              </mc:Choice>
              <mc:Fallback>
                <p:oleObj name="Equation" r:id="rId11" imgW="368280" imgH="4442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546" y="3057524"/>
                        <a:ext cx="666750" cy="7429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AF30B867-DBCB-C814-C8D7-BB532A93F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920" y="2542039"/>
            <a:ext cx="303006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可得：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4F2342-99CA-EAF6-DCA1-F1867CE52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570" y="3162213"/>
            <a:ext cx="8297886" cy="1418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即相当于由有效值为    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的三相交流电流所产生的合成磁势。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该磁势与转子相对转速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[</a:t>
            </a:r>
            <a:r>
              <a:rPr lang="zh-CN" altLang="zh-CN" sz="20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转差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]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为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(-n)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zh-CN" altLang="en-US" sz="20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定义使当转差达到交流同步转速时转差率绝对值等于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0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，即若同步转速为                     ，因此，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7C49A3BA-6EC3-B63E-7F94-AD19B1CF8F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316127"/>
              </p:ext>
            </p:extLst>
          </p:nvPr>
        </p:nvGraphicFramePr>
        <p:xfrm>
          <a:off x="4139952" y="4172790"/>
          <a:ext cx="1368152" cy="410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61760" imgH="228600" progId="Equation.DSMT4">
                  <p:embed/>
                </p:oleObj>
              </mc:Choice>
              <mc:Fallback>
                <p:oleObj name="Equation" r:id="rId13" imgW="761760" imgH="228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4172790"/>
                        <a:ext cx="1368152" cy="4109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F02D7A10-E587-F53E-C6E1-C2F899206B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419367"/>
              </p:ext>
            </p:extLst>
          </p:nvPr>
        </p:nvGraphicFramePr>
        <p:xfrm>
          <a:off x="3347752" y="4593124"/>
          <a:ext cx="1160386" cy="876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22570" imgH="470104" progId="Equation.DSMT4">
                  <p:embed/>
                </p:oleObj>
              </mc:Choice>
              <mc:Fallback>
                <p:oleObj name="Equation" r:id="rId15" imgW="622570" imgH="470104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752" y="4593124"/>
                        <a:ext cx="1160386" cy="8762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文本框 43">
            <a:extLst>
              <a:ext uri="{FF2B5EF4-FFF2-40B4-BE49-F238E27FC236}">
                <a16:creationId xmlns:a16="http://schemas.microsoft.com/office/drawing/2014/main" id="{B5FF4C6E-2D55-43F6-C964-8C0CB88B0AD6}"/>
              </a:ext>
            </a:extLst>
          </p:cNvPr>
          <p:cNvSpPr txBox="1"/>
          <p:nvPr/>
        </p:nvSpPr>
        <p:spPr>
          <a:xfrm>
            <a:off x="474699" y="4811052"/>
            <a:ext cx="3096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能耗制动转差率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定义为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0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B88D4CD-BE18-E7AA-F6BA-344E01BC51B1}"/>
              </a:ext>
            </a:extLst>
          </p:cNvPr>
          <p:cNvSpPr txBox="1"/>
          <p:nvPr/>
        </p:nvSpPr>
        <p:spPr>
          <a:xfrm>
            <a:off x="474699" y="5373778"/>
            <a:ext cx="7859735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zh-CN" sz="20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机械特性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能耗制动时，用直流励磁，励磁电流频率＝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0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，铁耗很小，可忽略</a:t>
            </a:r>
            <a:r>
              <a:rPr lang="zh-CN" altLang="en-US" sz="2000" kern="100" dirty="0">
                <a:latin typeface="宋体" panose="02010600030101010101" pitchFamily="2" charset="-122"/>
                <a:ea typeface="黑体" panose="02010609060101010101" pitchFamily="49" charset="-122"/>
              </a:rPr>
              <a:t>。能耗制动时电流交流等效的等值电路如下图所示。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980D5C-0D46-DB9B-0F05-8515AEDBE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92944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4BF731B-94D1-8845-8539-12ECB6B95C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927053"/>
              </p:ext>
            </p:extLst>
          </p:nvPr>
        </p:nvGraphicFramePr>
        <p:xfrm>
          <a:off x="1043608" y="907032"/>
          <a:ext cx="4206298" cy="2118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073717" imgH="1551305" progId="">
                  <p:embed/>
                </p:oleObj>
              </mc:Choice>
              <mc:Fallback>
                <p:oleObj r:id="rId3" imgW="3073717" imgH="1551305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907032"/>
                        <a:ext cx="4206298" cy="21182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EBF114B3-5587-AEE8-979F-074A2ACA7421}"/>
              </a:ext>
            </a:extLst>
          </p:cNvPr>
          <p:cNvSpPr txBox="1"/>
          <p:nvPr/>
        </p:nvSpPr>
        <p:spPr>
          <a:xfrm>
            <a:off x="359767" y="3299459"/>
            <a:ext cx="29523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电流相量关系为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：</a:t>
            </a:r>
            <a:endParaRPr lang="zh-CN" altLang="zh-CN" sz="1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C88B001-62DF-0CF5-C2FB-F3A558E2F4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847265"/>
              </p:ext>
            </p:extLst>
          </p:nvPr>
        </p:nvGraphicFramePr>
        <p:xfrm>
          <a:off x="6084168" y="878788"/>
          <a:ext cx="1507790" cy="2198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27380" imgH="925830" progId="">
                  <p:embed/>
                </p:oleObj>
              </mc:Choice>
              <mc:Fallback>
                <p:oleObj r:id="rId5" imgW="627380" imgH="92583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878788"/>
                        <a:ext cx="1507790" cy="21981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3632BCE-6C15-A1EC-EA76-186698579F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169165"/>
              </p:ext>
            </p:extLst>
          </p:nvPr>
        </p:nvGraphicFramePr>
        <p:xfrm>
          <a:off x="2411760" y="3233290"/>
          <a:ext cx="66040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17560" imgH="241200" progId="Equation.DSMT4">
                  <p:embed/>
                </p:oleObj>
              </mc:Choice>
              <mc:Fallback>
                <p:oleObj name="Equation" r:id="rId7" imgW="35175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3233290"/>
                        <a:ext cx="6604000" cy="4540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36101541-5395-97DD-5BA6-0ACB130E83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507091"/>
              </p:ext>
            </p:extLst>
          </p:nvPr>
        </p:nvGraphicFramePr>
        <p:xfrm>
          <a:off x="1907704" y="3778610"/>
          <a:ext cx="5112568" cy="1065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54280" imgH="558720" progId="Equation.DSMT4">
                  <p:embed/>
                </p:oleObj>
              </mc:Choice>
              <mc:Fallback>
                <p:oleObj name="Equation" r:id="rId9" imgW="2654280" imgH="5587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3778610"/>
                        <a:ext cx="5112568" cy="10658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4F524C81-1AC0-CE5A-39E7-C275FBA50A2C}"/>
              </a:ext>
            </a:extLst>
          </p:cNvPr>
          <p:cNvSpPr txBox="1"/>
          <p:nvPr/>
        </p:nvSpPr>
        <p:spPr>
          <a:xfrm>
            <a:off x="383431" y="4145155"/>
            <a:ext cx="1800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忽略铁耗</a:t>
            </a:r>
            <a:r>
              <a:rPr lang="zh-CN" altLang="en-US" sz="2000" kern="100" dirty="0">
                <a:latin typeface="宋体" panose="02010600030101010101" pitchFamily="2" charset="-122"/>
                <a:ea typeface="黑体" panose="02010609060101010101" pitchFamily="49" charset="-122"/>
              </a:rPr>
              <a:t>时</a:t>
            </a:r>
            <a:r>
              <a:rPr lang="zh-CN" altLang="en-US" sz="20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：</a:t>
            </a:r>
            <a:endParaRPr lang="zh-CN" altLang="zh-CN" sz="1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C143ACF8-A1E9-C3F3-DE1D-8B863A691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933" y="5195153"/>
            <a:ext cx="9541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另有：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6BC1C2EF-E4BA-DDAB-C304-DEEB31DCD7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795334"/>
              </p:ext>
            </p:extLst>
          </p:nvPr>
        </p:nvGraphicFramePr>
        <p:xfrm>
          <a:off x="1106051" y="5179300"/>
          <a:ext cx="2571827" cy="1323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98600" imgH="774700" progId="Equation.DSMT4">
                  <p:embed/>
                </p:oleObj>
              </mc:Choice>
              <mc:Fallback>
                <p:oleObj name="Equation" r:id="rId11" imgW="1498600" imgH="774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051" y="5179300"/>
                        <a:ext cx="2571827" cy="13239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1">
            <a:extLst>
              <a:ext uri="{FF2B5EF4-FFF2-40B4-BE49-F238E27FC236}">
                <a16:creationId xmlns:a16="http://schemas.microsoft.com/office/drawing/2014/main" id="{8D487D3F-A6EB-5554-6F3A-CDDB3F1F0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7878" y="5160995"/>
            <a:ext cx="9541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所以：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CC615D0A-42B6-84EC-BEDC-BDF96862B8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606036"/>
              </p:ext>
            </p:extLst>
          </p:nvPr>
        </p:nvGraphicFramePr>
        <p:xfrm>
          <a:off x="4626379" y="4940275"/>
          <a:ext cx="4176464" cy="1802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62200" imgH="1016000" progId="Equation.DSMT4">
                  <p:embed/>
                </p:oleObj>
              </mc:Choice>
              <mc:Fallback>
                <p:oleObj name="Equation" r:id="rId13" imgW="2362200" imgH="1016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6379" y="4940275"/>
                        <a:ext cx="4176464" cy="18020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AFBBF1-E74D-E7B5-87A3-555AE3DBF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15341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4138B1E-F8B9-2A17-6AC2-673A18C31B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412250"/>
              </p:ext>
            </p:extLst>
          </p:nvPr>
        </p:nvGraphicFramePr>
        <p:xfrm>
          <a:off x="1403648" y="980728"/>
          <a:ext cx="2952328" cy="1380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88189" imgH="736920" progId="Equation.DSMT4">
                  <p:embed/>
                </p:oleObj>
              </mc:Choice>
              <mc:Fallback>
                <p:oleObj name="Equation" r:id="rId3" imgW="1588189" imgH="73692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980728"/>
                        <a:ext cx="2952328" cy="13803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9">
            <a:extLst>
              <a:ext uri="{FF2B5EF4-FFF2-40B4-BE49-F238E27FC236}">
                <a16:creationId xmlns:a16="http://schemas.microsoft.com/office/drawing/2014/main" id="{3DC4EC20-5CE9-1F6D-36D5-7281B7801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052736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B586AEA-78C5-5CD8-FB4C-F6BF4EE5C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8024" y="1052736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由：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E50A23D-1BA3-6C7D-5FAD-5982A19747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132220"/>
              </p:ext>
            </p:extLst>
          </p:nvPr>
        </p:nvGraphicFramePr>
        <p:xfrm>
          <a:off x="5465435" y="908720"/>
          <a:ext cx="2505075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21374" imgH="647981" progId="Equation.DSMT4">
                  <p:embed/>
                </p:oleObj>
              </mc:Choice>
              <mc:Fallback>
                <p:oleObj name="Equation" r:id="rId5" imgW="1321374" imgH="64798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5435" y="908720"/>
                        <a:ext cx="2505075" cy="1223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>
            <a:extLst>
              <a:ext uri="{FF2B5EF4-FFF2-40B4-BE49-F238E27FC236}">
                <a16:creationId xmlns:a16="http://schemas.microsoft.com/office/drawing/2014/main" id="{F795D253-F255-10E6-6B6C-23E16438B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374141"/>
            <a:ext cx="505779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可得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能耗制动时异步电动机的机械特性为：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5CC5B82-74F8-E48F-E2EA-4AB820AF17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635795"/>
              </p:ext>
            </p:extLst>
          </p:nvPr>
        </p:nvGraphicFramePr>
        <p:xfrm>
          <a:off x="2040493" y="2655668"/>
          <a:ext cx="6192688" cy="1583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70300" imgH="939800" progId="Equation.DSMT4">
                  <p:embed/>
                </p:oleObj>
              </mc:Choice>
              <mc:Fallback>
                <p:oleObj name="Equation" r:id="rId7" imgW="3670300" imgH="939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0493" y="2655668"/>
                        <a:ext cx="6192688" cy="15830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5B9CB3F-4B4E-D455-D4E7-ACE90C993C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1016348"/>
              </p:ext>
            </p:extLst>
          </p:nvPr>
        </p:nvGraphicFramePr>
        <p:xfrm>
          <a:off x="1061162" y="4331199"/>
          <a:ext cx="870769" cy="701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3229" imgH="394213" progId="Equation.DSMT4">
                  <p:embed/>
                </p:oleObj>
              </mc:Choice>
              <mc:Fallback>
                <p:oleObj name="Equation" r:id="rId9" imgW="483229" imgH="39421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1162" y="4331199"/>
                        <a:ext cx="870769" cy="7011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C74055D-1F73-F0C7-8E8B-B7427E1552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678984"/>
              </p:ext>
            </p:extLst>
          </p:nvPr>
        </p:nvGraphicFramePr>
        <p:xfrm>
          <a:off x="2627784" y="4224884"/>
          <a:ext cx="2903093" cy="896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11956" imgH="470104" progId="Equation.DSMT4">
                  <p:embed/>
                </p:oleObj>
              </mc:Choice>
              <mc:Fallback>
                <p:oleObj name="Equation" r:id="rId11" imgW="1511956" imgH="470104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4224884"/>
                        <a:ext cx="2903093" cy="8964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B240A83-0E77-E5BD-E221-E73CACBFE0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890102"/>
              </p:ext>
            </p:extLst>
          </p:nvPr>
        </p:nvGraphicFramePr>
        <p:xfrm>
          <a:off x="6302591" y="4249656"/>
          <a:ext cx="115887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47640" imgH="444240" progId="Equation.DSMT4">
                  <p:embed/>
                </p:oleObj>
              </mc:Choice>
              <mc:Fallback>
                <p:oleObj name="Equation" r:id="rId13" imgW="647640" imgH="4442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2591" y="4249656"/>
                        <a:ext cx="1158875" cy="784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0">
            <a:extLst>
              <a:ext uri="{FF2B5EF4-FFF2-40B4-BE49-F238E27FC236}">
                <a16:creationId xmlns:a16="http://schemas.microsoft.com/office/drawing/2014/main" id="{D6D7D366-8CFF-0C2B-E266-808412D6D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4473040"/>
            <a:ext cx="77490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可得：                      ，其中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6115866B-54A0-A31F-4905-2FA6DE556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5447469"/>
            <a:ext cx="27494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临界能耗制动转差率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17A2C978-8E38-03EC-74B9-DF168A3E9C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6310840"/>
              </p:ext>
            </p:extLst>
          </p:nvPr>
        </p:nvGraphicFramePr>
        <p:xfrm>
          <a:off x="3131840" y="5196874"/>
          <a:ext cx="200025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41852" imgH="457399" progId="Equation.DSMT4">
                  <p:embed/>
                </p:oleObj>
              </mc:Choice>
              <mc:Fallback>
                <p:oleObj name="Equation" r:id="rId15" imgW="1041852" imgH="45739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5196874"/>
                        <a:ext cx="2000250" cy="881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3EDA5917-F393-D52E-6FD4-47FFC80B4819}"/>
              </a:ext>
            </a:extLst>
          </p:cNvPr>
          <p:cNvSpPr txBox="1"/>
          <p:nvPr/>
        </p:nvSpPr>
        <p:spPr>
          <a:xfrm>
            <a:off x="467544" y="6204045"/>
            <a:ext cx="8460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结论：</a:t>
            </a:r>
            <a:r>
              <a:rPr lang="zh-CN" altLang="zh-CN" sz="20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改变</a:t>
            </a:r>
            <a:r>
              <a:rPr lang="zh-CN" altLang="zh-CN" sz="2000" b="1" kern="1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直流励磁电流</a:t>
            </a:r>
            <a:r>
              <a:rPr lang="zh-CN" altLang="zh-CN" sz="20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大小或改变</a:t>
            </a:r>
            <a:r>
              <a:rPr lang="zh-CN" altLang="zh-CN" sz="2000" b="1" kern="1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转子绕组附加电阻</a:t>
            </a:r>
            <a:r>
              <a:rPr lang="zh-CN" altLang="zh-CN" sz="20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都可调节制动转矩</a:t>
            </a:r>
            <a:endParaRPr lang="zh-CN" altLang="zh-CN" sz="1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8B230B6-5F7A-2417-773B-6CCB12B0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55602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058A32F-050F-866B-3D99-3B7F0DF220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063069"/>
              </p:ext>
            </p:extLst>
          </p:nvPr>
        </p:nvGraphicFramePr>
        <p:xfrm>
          <a:off x="1043608" y="1052736"/>
          <a:ext cx="264795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58950" imgH="1414463" progId="MSDraw">
                  <p:embed/>
                </p:oleObj>
              </mc:Choice>
              <mc:Fallback>
                <p:oleObj r:id="rId3" imgW="1758950" imgH="1414463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1052736"/>
                        <a:ext cx="2647950" cy="2128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6D99DCE6-F41F-2529-92A6-9A66EF4FE464}"/>
              </a:ext>
            </a:extLst>
          </p:cNvPr>
          <p:cNvSpPr txBox="1"/>
          <p:nvPr/>
        </p:nvSpPr>
        <p:spPr>
          <a:xfrm>
            <a:off x="2627784" y="3181574"/>
            <a:ext cx="33099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6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三相异步电机能耗制动的机械特性</a:t>
            </a:r>
            <a:endParaRPr lang="zh-CN" altLang="zh-CN" sz="800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41FE4644-4D69-524A-529B-EEA37B8123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886414"/>
              </p:ext>
            </p:extLst>
          </p:nvPr>
        </p:nvGraphicFramePr>
        <p:xfrm>
          <a:off x="4629474" y="994169"/>
          <a:ext cx="3086100" cy="221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97063" imgH="1371600" progId="MSDraw">
                  <p:embed/>
                </p:oleObj>
              </mc:Choice>
              <mc:Fallback>
                <p:oleObj r:id="rId5" imgW="1897063" imgH="1371600" progId="MSDraw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9474" y="994169"/>
                        <a:ext cx="3086100" cy="2214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FF3A448D-F598-C2A7-5AAC-8F6487B56565}"/>
              </a:ext>
            </a:extLst>
          </p:cNvPr>
          <p:cNvSpPr txBox="1"/>
          <p:nvPr/>
        </p:nvSpPr>
        <p:spPr>
          <a:xfrm>
            <a:off x="740788" y="3933056"/>
            <a:ext cx="777737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200" b="1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异步电动机的三种制动方式的对比：</a:t>
            </a:r>
            <a:endParaRPr lang="en-US" altLang="zh-CN" sz="2200" b="1" kern="100" dirty="0">
              <a:effectLst/>
              <a:latin typeface="宋体" panose="02010600030101010101" pitchFamily="2" charset="-122"/>
              <a:ea typeface="黑体" panose="02010609060101010101" pitchFamily="49" charset="-122"/>
            </a:endParaRPr>
          </a:p>
          <a:p>
            <a:pPr algn="just"/>
            <a:r>
              <a:rPr lang="en-US" altLang="zh-CN" sz="2200" b="1" kern="100" dirty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1</a:t>
            </a:r>
            <a:r>
              <a:rPr lang="zh-CN" altLang="en-US" sz="2200" b="1" kern="100" dirty="0">
                <a:solidFill>
                  <a:srgbClr val="0000FF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）</a:t>
            </a:r>
            <a:r>
              <a:rPr lang="zh-CN" altLang="en-US" sz="22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回馈制动具有制动转矩大，节约能源</a:t>
            </a:r>
            <a:r>
              <a:rPr lang="zh-CN" altLang="en-US" sz="2200" b="1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的特点，在交流变频调速时，是首选方案；</a:t>
            </a:r>
            <a:endParaRPr lang="en-US" altLang="zh-CN" sz="2200" b="1" kern="100" dirty="0">
              <a:effectLst/>
              <a:latin typeface="宋体" panose="02010600030101010101" pitchFamily="2" charset="-122"/>
              <a:ea typeface="黑体" panose="02010609060101010101" pitchFamily="49" charset="-122"/>
            </a:endParaRPr>
          </a:p>
          <a:p>
            <a:pPr algn="just"/>
            <a:r>
              <a:rPr lang="en-US" altLang="zh-CN" sz="2200" b="1" kern="100" dirty="0">
                <a:latin typeface="宋体" panose="02010600030101010101" pitchFamily="2" charset="-122"/>
                <a:ea typeface="黑体" panose="02010609060101010101" pitchFamily="49" charset="-122"/>
              </a:rPr>
              <a:t>2</a:t>
            </a:r>
            <a:r>
              <a:rPr lang="zh-CN" altLang="en-US" sz="2200" b="1" kern="100" dirty="0">
                <a:latin typeface="宋体" panose="02010600030101010101" pitchFamily="2" charset="-122"/>
                <a:ea typeface="黑体" panose="02010609060101010101" pitchFamily="49" charset="-122"/>
              </a:rPr>
              <a:t>）反接制动无需添加功率设备，是一种常用的</a:t>
            </a:r>
            <a:r>
              <a:rPr lang="zh-CN" altLang="en-US" sz="2200" b="1" kern="100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低成本快速制动且可以直接反转控制</a:t>
            </a:r>
            <a:r>
              <a:rPr lang="zh-CN" altLang="en-US" sz="2200" b="1" kern="100" dirty="0">
                <a:latin typeface="宋体" panose="02010600030101010101" pitchFamily="2" charset="-122"/>
                <a:ea typeface="黑体" panose="02010609060101010101" pitchFamily="49" charset="-122"/>
              </a:rPr>
              <a:t>，但有制动电流冲击，不能频繁制动；</a:t>
            </a:r>
            <a:endParaRPr lang="en-US" altLang="zh-CN" sz="2200" b="1" kern="100" dirty="0">
              <a:latin typeface="宋体" panose="02010600030101010101" pitchFamily="2" charset="-122"/>
              <a:ea typeface="黑体" panose="02010609060101010101" pitchFamily="49" charset="-122"/>
            </a:endParaRPr>
          </a:p>
          <a:p>
            <a:pPr algn="just"/>
            <a:r>
              <a:rPr lang="en-US" altLang="zh-CN" sz="2200" b="1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3</a:t>
            </a:r>
            <a:r>
              <a:rPr lang="zh-CN" altLang="en-US" sz="2200" b="1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）能耗制动的优点是对</a:t>
            </a:r>
            <a:r>
              <a:rPr lang="zh-CN" altLang="en-US" sz="2200" b="1" kern="1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反抗型负载能保证停车的平滑可靠</a:t>
            </a:r>
            <a:r>
              <a:rPr lang="zh-CN" altLang="en-US" sz="2200" b="1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，不足是能耗制动需要</a:t>
            </a:r>
            <a:r>
              <a:rPr lang="zh-CN" altLang="en-US" sz="22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配置直流励磁电源且效率低</a:t>
            </a:r>
            <a:r>
              <a:rPr lang="zh-CN" altLang="en-US" sz="2200" b="1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。</a:t>
            </a:r>
            <a:endParaRPr lang="zh-CN" altLang="zh-CN" sz="2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AD85387-644B-395A-3ADF-EE5FF167A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2193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6D6DB98-2CA0-4187-9A8C-C65733EAF1AF}"/>
              </a:ext>
            </a:extLst>
          </p:cNvPr>
          <p:cNvSpPr txBox="1"/>
          <p:nvPr/>
        </p:nvSpPr>
        <p:spPr>
          <a:xfrm>
            <a:off x="467544" y="1052736"/>
            <a:ext cx="8064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b="1" kern="1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制动时机械特性的特点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：</a:t>
            </a:r>
            <a:r>
              <a:rPr lang="zh-CN" altLang="zh-CN" sz="2000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直流电动机机械特性的比较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D94B773-67E1-5A76-026F-A5110BB00A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371532"/>
              </p:ext>
            </p:extLst>
          </p:nvPr>
        </p:nvGraphicFramePr>
        <p:xfrm>
          <a:off x="288559" y="1786880"/>
          <a:ext cx="2809531" cy="1889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174875" imgH="1435100" progId="MSDraw">
                  <p:embed/>
                </p:oleObj>
              </mc:Choice>
              <mc:Fallback>
                <p:oleObj r:id="rId3" imgW="2174875" imgH="1435100" progId="MSDraw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559" y="1786880"/>
                        <a:ext cx="2809531" cy="18895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DCC3368-9233-E095-344D-AC5E15E67B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416704"/>
              </p:ext>
            </p:extLst>
          </p:nvPr>
        </p:nvGraphicFramePr>
        <p:xfrm>
          <a:off x="212843" y="3970682"/>
          <a:ext cx="2885247" cy="203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220913" imgH="1414463" progId="MSDraw">
                  <p:embed/>
                </p:oleObj>
              </mc:Choice>
              <mc:Fallback>
                <p:oleObj r:id="rId5" imgW="2220913" imgH="1414463" progId="MSDraw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43" y="3970682"/>
                        <a:ext cx="2885247" cy="20335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E6DB4C8E-DC0F-4B55-2900-B193F376F52B}"/>
              </a:ext>
            </a:extLst>
          </p:cNvPr>
          <p:cNvSpPr txBox="1"/>
          <p:nvPr/>
        </p:nvSpPr>
        <p:spPr>
          <a:xfrm>
            <a:off x="793834" y="6027529"/>
            <a:ext cx="2304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8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特点：交于纵轴</a:t>
            </a:r>
            <a:endParaRPr lang="zh-CN" altLang="zh-CN" sz="900" b="1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1A5A940-A801-F8CC-8DBE-BD643ACC1F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9045897"/>
              </p:ext>
            </p:extLst>
          </p:nvPr>
        </p:nvGraphicFramePr>
        <p:xfrm>
          <a:off x="3232911" y="1801707"/>
          <a:ext cx="3002824" cy="2432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349500" imgH="1889125" progId="MSDraw">
                  <p:embed/>
                </p:oleObj>
              </mc:Choice>
              <mc:Fallback>
                <p:oleObj r:id="rId7" imgW="2349500" imgH="1889125" progId="MSDraw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911" y="1801707"/>
                        <a:ext cx="3002824" cy="24320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F94B6C55-C6A3-9BDE-C05A-56848AE674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706797"/>
              </p:ext>
            </p:extLst>
          </p:nvPr>
        </p:nvGraphicFramePr>
        <p:xfrm>
          <a:off x="3233732" y="4248629"/>
          <a:ext cx="3002824" cy="1803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211388" imgH="1163638" progId="MSDraw">
                  <p:embed/>
                </p:oleObj>
              </mc:Choice>
              <mc:Fallback>
                <p:oleObj r:id="rId9" imgW="2211388" imgH="1163638" progId="MSDraw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3732" y="4248629"/>
                        <a:ext cx="3002824" cy="18032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ACDC6519-A97C-F854-FFB8-E077E34AB071}"/>
              </a:ext>
            </a:extLst>
          </p:cNvPr>
          <p:cNvSpPr txBox="1"/>
          <p:nvPr/>
        </p:nvSpPr>
        <p:spPr>
          <a:xfrm>
            <a:off x="3718799" y="6027529"/>
            <a:ext cx="2304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8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特点：交于</a:t>
            </a:r>
            <a:r>
              <a:rPr lang="zh-CN" altLang="en-US" sz="18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横</a:t>
            </a:r>
            <a:r>
              <a:rPr lang="zh-CN" altLang="zh-CN" sz="18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轴</a:t>
            </a:r>
            <a:endParaRPr lang="zh-CN" altLang="zh-CN" sz="900" b="1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854ACDF8-EF06-65EC-1D03-FF49CDF511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920460"/>
              </p:ext>
            </p:extLst>
          </p:nvPr>
        </p:nvGraphicFramePr>
        <p:xfrm>
          <a:off x="6119654" y="1707416"/>
          <a:ext cx="2836890" cy="218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501900" imgH="1589088" progId="MSDraw">
                  <p:embed/>
                </p:oleObj>
              </mc:Choice>
              <mc:Fallback>
                <p:oleObj r:id="rId11" imgW="2501900" imgH="1589088" progId="MSDraw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9654" y="1707416"/>
                        <a:ext cx="2836890" cy="21859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B9E8C88F-4743-41C7-CF3C-F0B2135254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743912"/>
              </p:ext>
            </p:extLst>
          </p:nvPr>
        </p:nvGraphicFramePr>
        <p:xfrm>
          <a:off x="6235735" y="3923058"/>
          <a:ext cx="2604728" cy="212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758950" imgH="1414463" progId="MSDraw">
                  <p:embed/>
                </p:oleObj>
              </mc:Choice>
              <mc:Fallback>
                <p:oleObj r:id="rId13" imgW="1758950" imgH="1414463" progId="MSDraw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35" y="3923058"/>
                        <a:ext cx="2604728" cy="2128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589C1DD9-3436-8BB8-D983-3C8F7DD751CD}"/>
              </a:ext>
            </a:extLst>
          </p:cNvPr>
          <p:cNvSpPr txBox="1"/>
          <p:nvPr/>
        </p:nvSpPr>
        <p:spPr>
          <a:xfrm>
            <a:off x="6721623" y="6027529"/>
            <a:ext cx="1919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8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特点：交于</a:t>
            </a:r>
            <a:r>
              <a:rPr lang="zh-CN" altLang="en-US" sz="18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原点</a:t>
            </a:r>
            <a:endParaRPr lang="zh-CN" altLang="zh-CN" sz="900" b="1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957523C-30C2-CCFC-6E2A-303A43FD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93923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6D6DB98-2CA0-4187-9A8C-C65733EAF1AF}"/>
              </a:ext>
            </a:extLst>
          </p:cNvPr>
          <p:cNvSpPr txBox="1"/>
          <p:nvPr/>
        </p:nvSpPr>
        <p:spPr>
          <a:xfrm>
            <a:off x="611560" y="1052736"/>
            <a:ext cx="806489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kern="1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本章小节</a:t>
            </a:r>
            <a:endParaRPr lang="en-US" altLang="zh-CN" sz="2000" b="1" kern="1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、启动：</a:t>
            </a:r>
            <a:endParaRPr lang="en-US" altLang="zh-CN" sz="2000" b="1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 algn="just">
              <a:buFont typeface="+mj-lt"/>
              <a:buAutoNum type="alphaLcPeriod"/>
            </a:pP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直接启动电流很大，启动转矩却不大；</a:t>
            </a:r>
            <a:endParaRPr lang="en-US" altLang="zh-CN" sz="2000" b="1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 algn="just">
              <a:buFont typeface="+mj-lt"/>
              <a:buAutoNum type="alphaLcPeriod"/>
            </a:pP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星</a:t>
            </a:r>
            <a:r>
              <a:rPr lang="en-US" altLang="zh-CN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三角降压降低启动能减小启动电流，但启动转矩也降低；</a:t>
            </a:r>
            <a:endParaRPr lang="en-US" altLang="zh-CN" sz="2000" b="1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 algn="just">
              <a:buFont typeface="+mj-lt"/>
              <a:buAutoNum type="alphaLcPeriod"/>
            </a:pP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绕线转子串转子电阻启动，能获得大的启动转矩并减小启动电流，但启动损耗大；</a:t>
            </a:r>
            <a:endParaRPr lang="en-US" altLang="zh-CN" sz="2000" b="1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 algn="just">
              <a:buFont typeface="+mj-lt"/>
              <a:buAutoNum type="alphaLcPeriod"/>
            </a:pP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现代异步电机多采用</a:t>
            </a:r>
            <a:r>
              <a:rPr lang="zh-CN" altLang="en-US" sz="20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变频方式</a:t>
            </a:r>
            <a:endParaRPr lang="en-US" altLang="zh-CN" sz="2000" b="1" kern="1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/>
            <a:r>
              <a:rPr lang="en-US" altLang="zh-CN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、调速：</a:t>
            </a:r>
            <a:endParaRPr lang="en-US" altLang="zh-CN" sz="2000" b="1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 algn="just">
              <a:buFont typeface="+mj-lt"/>
              <a:buAutoNum type="alphaLcPeriod"/>
            </a:pP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变转差率调速，包括调压调速、转子绕组串电阻调速和串级调速；</a:t>
            </a:r>
            <a:endParaRPr lang="en-US" altLang="zh-CN" sz="2000" b="1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 algn="just">
              <a:buFont typeface="+mj-lt"/>
              <a:buAutoNum type="alphaLcPeriod"/>
            </a:pP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变极调速，其本质是改变定子绕组接线方式；</a:t>
            </a:r>
            <a:endParaRPr lang="en-US" altLang="zh-CN" sz="2000" b="1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 algn="just">
              <a:buFont typeface="+mj-lt"/>
              <a:buAutoNum type="alphaLcPeriod"/>
            </a:pPr>
            <a:r>
              <a:rPr lang="zh-CN" altLang="en-US" sz="20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变频调速</a:t>
            </a: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，保持</a:t>
            </a:r>
            <a:r>
              <a:rPr lang="en-US" altLang="zh-CN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Es/f</a:t>
            </a: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为常数的变频调速，效果好，但实际不能实现，常用采用保持</a:t>
            </a:r>
            <a:r>
              <a:rPr lang="en-US" altLang="zh-CN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Us/f</a:t>
            </a: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为常数的变频调速，在低速需要补偿；</a:t>
            </a:r>
            <a:endParaRPr lang="en-US" altLang="zh-CN" sz="2000" b="1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/>
            <a:r>
              <a:rPr lang="en-US" altLang="zh-CN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、制动：</a:t>
            </a:r>
            <a:endParaRPr lang="en-US" altLang="zh-CN" sz="2000" b="1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 algn="just">
              <a:buFont typeface="+mj-lt"/>
              <a:buAutoNum type="alphaLcPeriod"/>
            </a:pP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回馈制动，电机超同步运行，</a:t>
            </a:r>
            <a:r>
              <a:rPr lang="en-US" altLang="zh-CN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小于</a:t>
            </a:r>
            <a:r>
              <a:rPr lang="en-US" altLang="zh-CN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，吸收多余机械能回馈给电网；</a:t>
            </a:r>
            <a:endParaRPr lang="en-US" altLang="zh-CN" sz="2000" b="1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 algn="just">
              <a:buFont typeface="+mj-lt"/>
              <a:buAutoNum type="alphaLcPeriod"/>
            </a:pP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反接制动，电机旋转方向与同步转速相反，</a:t>
            </a:r>
            <a:r>
              <a:rPr lang="en-US" altLang="zh-CN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大于</a:t>
            </a:r>
            <a:r>
              <a:rPr lang="en-US" altLang="zh-CN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，同时吸收电网电功率和转子轴上的机械功率消耗在转子回路电阻；</a:t>
            </a:r>
            <a:endParaRPr lang="en-US" altLang="zh-CN" sz="2000" b="1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 algn="just">
              <a:buFont typeface="+mj-lt"/>
              <a:buAutoNum type="alphaLcPeriod"/>
            </a:pPr>
            <a:r>
              <a:rPr lang="zh-CN" altLang="en-US" sz="20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能耗制动，需外加直流电压，使转子切割磁场产生制动转矩。</a:t>
            </a:r>
            <a:endParaRPr lang="en-US" altLang="zh-CN" sz="2000" b="1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E0A5086-DDFA-436F-8D36-FB5B42BA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17591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83D23E5-0B6E-7316-2AB3-8E45C85219DA}"/>
              </a:ext>
            </a:extLst>
          </p:cNvPr>
          <p:cNvSpPr txBox="1"/>
          <p:nvPr/>
        </p:nvSpPr>
        <p:spPr>
          <a:xfrm>
            <a:off x="539552" y="797510"/>
            <a:ext cx="806489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kern="1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黑体" panose="02010609060101010101" pitchFamily="49" charset="-122"/>
              </a:rPr>
              <a:t>变频变压调速的特点：</a:t>
            </a:r>
            <a:endParaRPr lang="en-US" altLang="zh-CN" sz="2800" b="1" kern="100" dirty="0">
              <a:solidFill>
                <a:srgbClr val="FF0000"/>
              </a:solidFill>
              <a:effectLst/>
              <a:latin typeface="宋体" panose="02010600030101010101" pitchFamily="2" charset="-122"/>
              <a:ea typeface="黑体" panose="02010609060101010101" pitchFamily="49" charset="-122"/>
            </a:endParaRPr>
          </a:p>
          <a:p>
            <a:pPr algn="just"/>
            <a:r>
              <a:rPr lang="en-US" altLang="zh-CN" sz="28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8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、适用两种工况：额定转速下的变频变压调节（气隙磁场保持不变，具有恒转矩特性）和额定转速以上的变频弱磁调节（保持定子电压不变气隙磁场减小，近似属恒功率特性）；</a:t>
            </a:r>
            <a:endParaRPr lang="en-US" altLang="zh-CN" sz="2800" b="1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/>
            <a:r>
              <a:rPr lang="en-US" altLang="zh-CN" sz="28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8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、人为机械特性曲线可近似看作平行的直线，滑差可近似看作常数；变频弱磁调节的最大转矩和频率平方近似呈反比；</a:t>
            </a:r>
            <a:endParaRPr lang="en-US" altLang="zh-CN" sz="2800" b="1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/>
            <a:r>
              <a:rPr lang="en-US" altLang="zh-CN" sz="28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sz="28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、在额定转速下，电磁转矩近似和滑差频率成正比；</a:t>
            </a:r>
            <a:endParaRPr lang="en-US" altLang="zh-CN" sz="2800" b="1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/>
            <a:r>
              <a:rPr lang="en-US" altLang="zh-CN" sz="28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en-US" sz="28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、等值电路结构参数和工况无关（频率折算处理），可以用于分析变化的机电工作特性；</a:t>
            </a:r>
            <a:endParaRPr lang="en-US" altLang="zh-CN" sz="2800" b="1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/>
            <a:r>
              <a:rPr lang="en-US" altLang="zh-CN" sz="28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lang="zh-CN" altLang="en-US" sz="2800" b="1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、变频调速的关键：功率变换器实现可控供电；</a:t>
            </a:r>
            <a:endParaRPr lang="en-US" altLang="zh-CN" sz="2800" b="1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F59CF2-CF0D-7AA8-AD0A-1E49895A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61975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5B16757-E844-73CB-CA83-6C8CE2DB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830B0-DF59-4281-898F-AF208100B213}" type="slidenum">
              <a:rPr lang="en-US" altLang="zh-CN" smtClean="0"/>
              <a:pPr/>
              <a:t>56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479760F-48C4-D593-1720-988F2958AA26}"/>
                  </a:ext>
                </a:extLst>
              </p:cNvPr>
              <p:cNvSpPr txBox="1"/>
              <p:nvPr/>
            </p:nvSpPr>
            <p:spPr>
              <a:xfrm>
                <a:off x="1043608" y="1124744"/>
                <a:ext cx="7272808" cy="35394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zh-CN" sz="2800" b="1" kern="100" dirty="0">
                    <a:solidFill>
                      <a:srgbClr val="008000"/>
                    </a:solidFill>
                    <a:effectLst/>
                    <a:latin typeface="宋体" panose="02010600030101010101" pitchFamily="2" charset="-122"/>
                    <a:ea typeface="黑体" panose="02010609060101010101" pitchFamily="49" charset="-122"/>
                  </a:rPr>
                  <a:t>应用例：新干线希望号机车主电机：逆变电源驱动</a:t>
                </a:r>
                <a:r>
                  <a:rPr lang="en-US" altLang="zh-CN" sz="2800" b="1" kern="100" dirty="0">
                    <a:solidFill>
                      <a:srgbClr val="008000"/>
                    </a:solidFill>
                    <a:effectLst/>
                    <a:latin typeface="宋体" panose="02010600030101010101" pitchFamily="2" charset="-122"/>
                    <a:ea typeface="黑体" panose="02010609060101010101" pitchFamily="49" charset="-122"/>
                  </a:rPr>
                  <a:t>[</a:t>
                </a:r>
                <a:r>
                  <a:rPr lang="zh-CN" altLang="zh-CN" sz="2800" b="1" kern="100" dirty="0">
                    <a:solidFill>
                      <a:srgbClr val="008000"/>
                    </a:solidFill>
                    <a:effectLst/>
                    <a:latin typeface="宋体" panose="02010600030101010101" pitchFamily="2" charset="-122"/>
                    <a:ea typeface="黑体" panose="02010609060101010101" pitchFamily="49" charset="-122"/>
                  </a:rPr>
                  <a:t>可变频、调压</a:t>
                </a:r>
                <a:r>
                  <a:rPr lang="en-US" altLang="zh-CN" sz="2800" b="1" kern="100" dirty="0">
                    <a:solidFill>
                      <a:srgbClr val="008000"/>
                    </a:solidFill>
                    <a:effectLst/>
                    <a:latin typeface="宋体" panose="02010600030101010101" pitchFamily="2" charset="-122"/>
                    <a:ea typeface="黑体" panose="02010609060101010101" pitchFamily="49" charset="-122"/>
                  </a:rPr>
                  <a:t>]</a:t>
                </a:r>
                <a:r>
                  <a:rPr lang="zh-CN" altLang="zh-CN" sz="2800" b="1" kern="100" dirty="0">
                    <a:solidFill>
                      <a:srgbClr val="008000"/>
                    </a:solidFill>
                    <a:effectLst/>
                    <a:latin typeface="宋体" panose="02010600030101010101" pitchFamily="2" charset="-122"/>
                    <a:ea typeface="黑体" panose="02010609060101010101" pitchFamily="49" charset="-122"/>
                  </a:rPr>
                  <a:t>笼型；</a:t>
                </a:r>
                <a:endParaRPr lang="zh-CN" altLang="zh-CN" sz="2800" b="1" kern="100" dirty="0">
                  <a:solidFill>
                    <a:srgbClr val="FF00FF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:r>
                  <a:rPr lang="zh-CN" altLang="zh-CN" sz="2800" b="1" kern="100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黑体" panose="02010609060101010101" pitchFamily="49" charset="-122"/>
                  </a:rPr>
                  <a:t>单台：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1" i="1" kern="100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kern="100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2800" b="1" i="1" kern="100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𝑵</m:t>
                        </m:r>
                      </m:sub>
                    </m:sSub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𝟑𝟎𝟎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𝒌𝑾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</m:t>
                    </m:r>
                    <m:sSub>
                      <m:sSubPr>
                        <m:ctrlPr>
                          <a:rPr lang="zh-CN" altLang="zh-CN" sz="2800" b="1" i="1" kern="100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kern="100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𝑼</m:t>
                        </m:r>
                      </m:e>
                      <m:sub>
                        <m:r>
                          <a:rPr lang="en-US" altLang="zh-CN" sz="2800" b="1" i="1" kern="100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𝑵</m:t>
                        </m:r>
                      </m:sub>
                    </m:sSub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𝟏𝟒𝟑𝟎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𝑽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m:rPr>
                        <m:nor/>
                      </m:rPr>
                      <a:rPr lang="en-US" altLang="zh-CN" sz="2800" b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 </m:t>
                    </m:r>
                    <m:sSub>
                      <m:sSubPr>
                        <m:ctrlPr>
                          <a:rPr lang="zh-CN" altLang="zh-CN" sz="2800" b="1" i="1" kern="100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800" b="1" kern="100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f</m:t>
                        </m:r>
                      </m:e>
                      <m:sub>
                        <m:r>
                          <a:rPr lang="en-US" altLang="zh-CN" sz="2800" b="1" i="1" kern="100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𝑵</m:t>
                        </m:r>
                      </m:sub>
                    </m:sSub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𝟏𝟑𝟎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𝑯𝒛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m:rPr>
                        <m:nor/>
                      </m:rPr>
                      <a:rPr lang="en-US" altLang="zh-CN" sz="2800" b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 </m:t>
                    </m:r>
                    <m:sSub>
                      <m:sSubPr>
                        <m:ctrlPr>
                          <a:rPr lang="zh-CN" altLang="zh-CN" sz="2800" b="1" i="1" kern="100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800" b="1" kern="100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n</m:t>
                        </m:r>
                      </m:e>
                      <m:sub>
                        <m:r>
                          <a:rPr lang="en-US" altLang="zh-CN" sz="2800" b="1" i="1" kern="100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𝑵</m:t>
                        </m:r>
                      </m:sub>
                    </m:sSub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𝟑𝟖𝟐𝟓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/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𝒎𝒊𝒏</m:t>
                    </m:r>
                  </m:oMath>
                </a14:m>
                <a:r>
                  <a:rPr lang="en-US" altLang="zh-CN" sz="2800" b="1" kern="100" dirty="0">
                    <a:solidFill>
                      <a:srgbClr val="FF00FF"/>
                    </a:solidFill>
                    <a:effectLst/>
                    <a:latin typeface="Times New Roman" panose="02020603050405020304" pitchFamily="18" charset="0"/>
                    <a:ea typeface="黑体" panose="02010609060101010101" pitchFamily="49" charset="-122"/>
                  </a:rPr>
                  <a:t>;</a:t>
                </a:r>
                <a:endParaRPr lang="zh-CN" altLang="zh-CN" sz="2800" b="1" kern="100" dirty="0">
                  <a:solidFill>
                    <a:srgbClr val="FF00FF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:r>
                  <a:rPr lang="en-US" altLang="zh-CN" sz="2800" b="1" kern="100" dirty="0">
                    <a:solidFill>
                      <a:srgbClr val="FF00FF"/>
                    </a:solidFill>
                    <a:effectLst/>
                    <a:latin typeface="Times New Roman" panose="02020603050405020304" pitchFamily="18" charset="0"/>
                    <a:ea typeface="黑体" panose="02010609060101010101" pitchFamily="49" charset="-122"/>
                  </a:rPr>
                  <a:t>        </a:t>
                </a:r>
                <a14:m>
                  <m:oMath xmlns:m="http://schemas.openxmlformats.org/officeDocument/2006/math">
                    <m:r>
                      <a:rPr lang="zh-CN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调速范围：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𝟎</m:t>
                    </m:r>
                    <m:r>
                      <a:rPr lang="zh-CN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～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𝟓𝟒𝟕𝟎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𝒓</m:t>
                    </m:r>
                    <m:r>
                      <a:rPr lang="en-US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/</m:t>
                    </m:r>
                    <m:func>
                      <m:funcPr>
                        <m:ctrlPr>
                          <a:rPr lang="zh-CN" altLang="zh-CN" sz="2800" b="1" i="1" kern="100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800" b="1" i="1" kern="100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𝒎𝒊𝒏</m:t>
                        </m:r>
                      </m:fName>
                      <m:e>
                        <m:r>
                          <a:rPr lang="zh-CN" altLang="zh-CN" sz="2800" b="1" i="1" kern="100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，</m:t>
                        </m:r>
                      </m:e>
                    </m:func>
                    <m:r>
                      <a:rPr lang="zh-CN" altLang="zh-CN" sz="2800" b="1" i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最高时速：</m:t>
                    </m:r>
                    <m:r>
                      <m:rPr>
                        <m:nor/>
                      </m:rPr>
                      <a:rPr lang="en-US" altLang="zh-CN" sz="2800" b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270  </m:t>
                    </m:r>
                    <m:r>
                      <m:rPr>
                        <m:nor/>
                      </m:rPr>
                      <a:rPr lang="en-US" altLang="zh-CN" sz="2800" b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km</m:t>
                    </m:r>
                    <m:r>
                      <m:rPr>
                        <m:nor/>
                      </m:rPr>
                      <a:rPr lang="en-US" altLang="zh-CN" sz="2800" b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/</m:t>
                    </m:r>
                    <m:r>
                      <m:rPr>
                        <m:nor/>
                      </m:rPr>
                      <a:rPr lang="en-US" altLang="zh-CN" sz="2800" b="1" kern="100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h</m:t>
                    </m:r>
                  </m:oMath>
                </a14:m>
                <a:endParaRPr lang="zh-CN" altLang="zh-CN" sz="2800" b="1" kern="100" dirty="0">
                  <a:solidFill>
                    <a:srgbClr val="FF00FF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:r>
                  <a:rPr lang="zh-CN" altLang="zh-CN" sz="2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黑体" panose="02010609060101010101" pitchFamily="49" charset="-122"/>
                  </a:rPr>
                  <a:t>车厢</a:t>
                </a:r>
                <a:r>
                  <a:rPr lang="en-US" altLang="zh-CN" sz="2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黑体" panose="02010609060101010101" pitchFamily="49" charset="-122"/>
                  </a:rPr>
                  <a:t>16</a:t>
                </a:r>
                <a:r>
                  <a:rPr lang="zh-CN" altLang="zh-CN" sz="2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黑体" panose="02010609060101010101" pitchFamily="49" charset="-122"/>
                  </a:rPr>
                  <a:t>节；</a:t>
                </a:r>
                <a:r>
                  <a:rPr lang="en-US" altLang="zh-CN" sz="2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黑体" panose="02010609060101010101" pitchFamily="49" charset="-122"/>
                  </a:rPr>
                  <a:t>10</a:t>
                </a:r>
                <a:r>
                  <a:rPr lang="zh-CN" altLang="zh-CN" sz="2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黑体" panose="02010609060101010101" pitchFamily="49" charset="-122"/>
                  </a:rPr>
                  <a:t>节有电动机驱动，每节</a:t>
                </a:r>
                <a:r>
                  <a:rPr lang="en-US" altLang="zh-CN" sz="2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黑体" panose="02010609060101010101" pitchFamily="49" charset="-122"/>
                  </a:rPr>
                  <a:t>4</a:t>
                </a:r>
                <a:r>
                  <a:rPr lang="zh-CN" altLang="zh-CN" sz="2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黑体" panose="02010609060101010101" pitchFamily="49" charset="-122"/>
                  </a:rPr>
                  <a:t>台。电动机总功率为</a:t>
                </a:r>
                <a:r>
                  <a:rPr lang="en-US" altLang="zh-CN" sz="2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黑体" panose="02010609060101010101" pitchFamily="49" charset="-122"/>
                  </a:rPr>
                  <a:t>12000kW</a:t>
                </a:r>
                <a:r>
                  <a:rPr lang="zh-CN" altLang="zh-CN" sz="1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黑体" panose="02010609060101010101" pitchFamily="49" charset="-122"/>
                  </a:rPr>
                  <a:t>。</a:t>
                </a:r>
                <a:endParaRPr lang="zh-CN" altLang="zh-CN" sz="1200" b="1" kern="100" dirty="0">
                  <a:solidFill>
                    <a:srgbClr val="FF00FF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479760F-48C4-D593-1720-988F2958A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124744"/>
                <a:ext cx="7272808" cy="3539430"/>
              </a:xfrm>
              <a:prstGeom prst="rect">
                <a:avLst/>
              </a:prstGeom>
              <a:blipFill>
                <a:blip r:embed="rId2"/>
                <a:stretch>
                  <a:fillRect l="-1676" t="-1897" r="-1760" b="-4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0C493641-505B-ABFC-C184-1F90975A166F}"/>
              </a:ext>
            </a:extLst>
          </p:cNvPr>
          <p:cNvSpPr txBox="1"/>
          <p:nvPr/>
        </p:nvSpPr>
        <p:spPr>
          <a:xfrm>
            <a:off x="1125073" y="5175588"/>
            <a:ext cx="71098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习题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6-4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6-8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6-16</a:t>
            </a:r>
            <a:r>
              <a:rPr lang="zh-CN" altLang="en-US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6-17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6-18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6-19</a:t>
            </a:r>
            <a:endParaRPr lang="zh-CN" altLang="zh-CN" sz="1100" b="1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9912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华中科技大学专用幻灯片模板</Template>
  <TotalTime>12866</TotalTime>
  <Words>4225</Words>
  <Application>Microsoft Office PowerPoint</Application>
  <PresentationFormat>全屏显示(4:3)</PresentationFormat>
  <Paragraphs>412</Paragraphs>
  <Slides>56</Slides>
  <Notes>44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56</vt:i4>
      </vt:variant>
    </vt:vector>
  </HeadingPairs>
  <TitlesOfParts>
    <vt:vector size="70" baseType="lpstr">
      <vt:lpstr>等线</vt:lpstr>
      <vt:lpstr>黑体</vt:lpstr>
      <vt:lpstr>华文中宋</vt:lpstr>
      <vt:lpstr>楷体_GB2312</vt:lpstr>
      <vt:lpstr>隶书</vt:lpstr>
      <vt:lpstr>宋体</vt:lpstr>
      <vt:lpstr>Arial</vt:lpstr>
      <vt:lpstr>Cambria Math</vt:lpstr>
      <vt:lpstr>Times New Roman</vt:lpstr>
      <vt:lpstr>Office 主题</vt:lpstr>
      <vt:lpstr>公式</vt:lpstr>
      <vt:lpstr>Microsoft 公式 3.0</vt:lpstr>
      <vt:lpstr>Equation</vt:lpstr>
      <vt:lpstr>MSDraw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liyesong</dc:creator>
  <cp:lastModifiedBy>xm li</cp:lastModifiedBy>
  <cp:revision>464</cp:revision>
  <cp:lastPrinted>1601-01-01T00:00:00Z</cp:lastPrinted>
  <dcterms:created xsi:type="dcterms:W3CDTF">2020-10-12T07:29:00Z</dcterms:created>
  <dcterms:modified xsi:type="dcterms:W3CDTF">2025-10-28T07:18:47Z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
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337" r:id="rId2"/>
    <p:sldId id="256" r:id="rId3"/>
    <p:sldId id="300" r:id="rId4"/>
    <p:sldId id="301" r:id="rId5"/>
    <p:sldId id="302" r:id="rId6"/>
    <p:sldId id="257" r:id="rId7"/>
    <p:sldId id="258" r:id="rId8"/>
    <p:sldId id="259" r:id="rId9"/>
    <p:sldId id="307" r:id="rId10"/>
    <p:sldId id="260" r:id="rId11"/>
    <p:sldId id="261" r:id="rId12"/>
    <p:sldId id="262" r:id="rId13"/>
    <p:sldId id="263" r:id="rId14"/>
    <p:sldId id="265" r:id="rId15"/>
    <p:sldId id="266" r:id="rId16"/>
    <p:sldId id="311" r:id="rId17"/>
    <p:sldId id="326" r:id="rId18"/>
    <p:sldId id="325" r:id="rId19"/>
    <p:sldId id="324" r:id="rId20"/>
    <p:sldId id="323" r:id="rId21"/>
    <p:sldId id="322" r:id="rId22"/>
    <p:sldId id="321" r:id="rId23"/>
    <p:sldId id="320" r:id="rId24"/>
    <p:sldId id="319" r:id="rId25"/>
    <p:sldId id="318" r:id="rId26"/>
    <p:sldId id="317" r:id="rId27"/>
    <p:sldId id="315" r:id="rId28"/>
    <p:sldId id="313" r:id="rId29"/>
    <p:sldId id="314" r:id="rId30"/>
    <p:sldId id="312" r:id="rId31"/>
    <p:sldId id="281" r:id="rId32"/>
    <p:sldId id="282" r:id="rId33"/>
    <p:sldId id="316" r:id="rId34"/>
    <p:sldId id="279" r:id="rId35"/>
    <p:sldId id="283" r:id="rId36"/>
    <p:sldId id="284" r:id="rId37"/>
    <p:sldId id="285" r:id="rId38"/>
    <p:sldId id="286" r:id="rId39"/>
    <p:sldId id="288" r:id="rId40"/>
    <p:sldId id="289" r:id="rId41"/>
    <p:sldId id="290" r:id="rId42"/>
    <p:sldId id="291" r:id="rId43"/>
    <p:sldId id="292" r:id="rId44"/>
    <p:sldId id="342" r:id="rId45"/>
    <p:sldId id="295" r:id="rId46"/>
    <p:sldId id="296" r:id="rId47"/>
    <p:sldId id="309" r:id="rId48"/>
    <p:sldId id="310" r:id="rId49"/>
    <p:sldId id="297" r:id="rId50"/>
    <p:sldId id="330" r:id="rId51"/>
    <p:sldId id="343" r:id="rId52"/>
    <p:sldId id="344" r:id="rId53"/>
    <p:sldId id="331" r:id="rId54"/>
    <p:sldId id="332" r:id="rId55"/>
    <p:sldId id="333" r:id="rId56"/>
    <p:sldId id="334" r:id="rId57"/>
    <p:sldId id="335" r:id="rId58"/>
    <p:sldId id="345" r:id="rId59"/>
    <p:sldId id="308" r:id="rId60"/>
    <p:sldId id="299" r:id="rId61"/>
    <p:sldId id="338" r:id="rId62"/>
    <p:sldId id="339" r:id="rId63"/>
    <p:sldId id="340" r:id="rId64"/>
    <p:sldId id="341" r:id="rId65"/>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yesong" initials="l" lastIdx="1" clrIdx="0">
    <p:extLst>
      <p:ext uri="{19B8F6BF-5375-455C-9EA6-DF929625EA0E}">
        <p15:presenceInfo xmlns:p15="http://schemas.microsoft.com/office/powerpoint/2012/main" userId="liyes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527" autoAdjust="0"/>
    <p:restoredTop sz="94311" autoAdjust="0"/>
  </p:normalViewPr>
  <p:slideViewPr>
    <p:cSldViewPr>
      <p:cViewPr varScale="1">
        <p:scale>
          <a:sx n="62" d="100"/>
          <a:sy n="62" d="100"/>
        </p:scale>
        <p:origin x="12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123634-C02E-456F-94D7-301AF7959481}" type="datetimeFigureOut">
              <a:rPr lang="zh-CN" altLang="en-US" smtClean="0"/>
              <a:t>2025/11/19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DE4478-3C1B-47B8-87E5-B9363134E872}" type="slidenum">
              <a:rPr lang="zh-CN" altLang="en-US" smtClean="0"/>
              <a:t>‹#›</a:t>
            </a:fld>
            <a:endParaRPr lang="zh-CN" altLang="en-US"/>
          </a:p>
        </p:txBody>
      </p:sp>
    </p:spTree>
    <p:extLst>
      <p:ext uri="{BB962C8B-B14F-4D97-AF65-F5344CB8AC3E}">
        <p14:creationId xmlns:p14="http://schemas.microsoft.com/office/powerpoint/2010/main" val="234587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177895D9-AA85-9AD7-8A40-A30495E0913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3C4F670-70D5-402C-BC6A-D3D32236095C}" type="slidenum">
              <a:rPr lang="en-US" altLang="zh-CN" sz="1200"/>
              <a:pPr/>
              <a:t>2</a:t>
            </a:fld>
            <a:endParaRPr lang="en-US" altLang="zh-CN" sz="1200"/>
          </a:p>
        </p:txBody>
      </p:sp>
      <p:sp>
        <p:nvSpPr>
          <p:cNvPr id="16387" name="Rectangle 2">
            <a:extLst>
              <a:ext uri="{FF2B5EF4-FFF2-40B4-BE49-F238E27FC236}">
                <a16:creationId xmlns:a16="http://schemas.microsoft.com/office/drawing/2014/main" id="{8B25EDB1-8DDF-2544-2926-94B4F894F150}"/>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D0E18472-7B6B-26F1-CC81-BF4F8137830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998C43A9-F7AD-4ABC-2E0E-FED0CD2423B0}"/>
              </a:ext>
            </a:extLst>
          </p:cNvPr>
          <p:cNvSpPr>
            <a:spLocks noGrp="1" noRot="1" noChangeAspect="1" noChangeArrowheads="1" noTextEdit="1"/>
          </p:cNvSpPr>
          <p:nvPr>
            <p:ph type="sldImg"/>
          </p:nvPr>
        </p:nvSpPr>
        <p:spPr>
          <a:ln/>
        </p:spPr>
      </p:sp>
      <p:sp>
        <p:nvSpPr>
          <p:cNvPr id="7171" name="备注占位符 2">
            <a:extLst>
              <a:ext uri="{FF2B5EF4-FFF2-40B4-BE49-F238E27FC236}">
                <a16:creationId xmlns:a16="http://schemas.microsoft.com/office/drawing/2014/main" id="{0CA2FE87-31D4-6084-7140-4F5013BDF05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72" name="灯片编号占位符 3">
            <a:extLst>
              <a:ext uri="{FF2B5EF4-FFF2-40B4-BE49-F238E27FC236}">
                <a16:creationId xmlns:a16="http://schemas.microsoft.com/office/drawing/2014/main" id="{A1E0F2B5-B028-6027-C122-0519F9B6B62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139DFD0A-93DE-4E22-ADDC-908C31BEB552}" type="slidenum">
              <a:rPr lang="en-US" altLang="zh-CN" sz="1200" smtClean="0"/>
              <a:pPr/>
              <a:t>18</a:t>
            </a:fld>
            <a:endParaRPr lang="en-US" altLang="zh-CN"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C6FE7F0B-3A84-38F2-3540-4090FFE6BC09}"/>
              </a:ext>
            </a:extLst>
          </p:cNvPr>
          <p:cNvSpPr>
            <a:spLocks noGrp="1" noRot="1" noChangeAspect="1" noChangeArrowheads="1" noTextEdit="1"/>
          </p:cNvSpPr>
          <p:nvPr>
            <p:ph type="sldImg"/>
          </p:nvPr>
        </p:nvSpPr>
        <p:spPr>
          <a:ln/>
        </p:spPr>
      </p:sp>
      <p:sp>
        <p:nvSpPr>
          <p:cNvPr id="9219" name="备注占位符 2">
            <a:extLst>
              <a:ext uri="{FF2B5EF4-FFF2-40B4-BE49-F238E27FC236}">
                <a16:creationId xmlns:a16="http://schemas.microsoft.com/office/drawing/2014/main" id="{543E7C79-9A17-DA8A-F18D-D31ED1C4D0E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220" name="灯片编号占位符 3">
            <a:extLst>
              <a:ext uri="{FF2B5EF4-FFF2-40B4-BE49-F238E27FC236}">
                <a16:creationId xmlns:a16="http://schemas.microsoft.com/office/drawing/2014/main" id="{231C2F0A-85CD-EBAF-2FE8-17E051115AE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EF15E81D-4B4A-4002-ADE1-0CCD6F7505EF}" type="slidenum">
              <a:rPr lang="en-US" altLang="zh-CN" sz="1200" smtClean="0"/>
              <a:pPr/>
              <a:t>19</a:t>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14CBEF7-F8C5-4992-8DBB-A497D4016018}" type="slidenum">
              <a:rPr lang="en-US" altLang="zh-CN"/>
              <a:pPr/>
              <a:t>‹#›</a:t>
            </a:fld>
            <a:endParaRPr lang="en-US" altLang="zh-CN"/>
          </a:p>
        </p:txBody>
      </p:sp>
    </p:spTree>
    <p:extLst>
      <p:ext uri="{BB962C8B-B14F-4D97-AF65-F5344CB8AC3E}">
        <p14:creationId xmlns:p14="http://schemas.microsoft.com/office/powerpoint/2010/main" val="1204949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73B34B3-1432-4053-90C7-E0228297BE5F}" type="slidenum">
              <a:rPr lang="en-US" altLang="zh-CN"/>
              <a:pPr/>
              <a:t>‹#›</a:t>
            </a:fld>
            <a:endParaRPr lang="en-US" altLang="zh-CN"/>
          </a:p>
        </p:txBody>
      </p:sp>
    </p:spTree>
    <p:extLst>
      <p:ext uri="{BB962C8B-B14F-4D97-AF65-F5344CB8AC3E}">
        <p14:creationId xmlns:p14="http://schemas.microsoft.com/office/powerpoint/2010/main" val="57757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88613D7-8F0F-4D97-8B77-3E474B3DDD75}" type="slidenum">
              <a:rPr lang="en-US" altLang="zh-CN"/>
              <a:pPr/>
              <a:t>‹#›</a:t>
            </a:fld>
            <a:endParaRPr lang="en-US" altLang="zh-CN"/>
          </a:p>
        </p:txBody>
      </p:sp>
    </p:spTree>
    <p:extLst>
      <p:ext uri="{BB962C8B-B14F-4D97-AF65-F5344CB8AC3E}">
        <p14:creationId xmlns:p14="http://schemas.microsoft.com/office/powerpoint/2010/main" val="2197031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8BD5AFC-BC3D-4EC6-B5B2-C76598C5654E}" type="slidenum">
              <a:rPr lang="en-US" altLang="zh-CN"/>
              <a:pPr/>
              <a:t>‹#›</a:t>
            </a:fld>
            <a:endParaRPr lang="en-US" altLang="zh-CN"/>
          </a:p>
        </p:txBody>
      </p:sp>
    </p:spTree>
    <p:extLst>
      <p:ext uri="{BB962C8B-B14F-4D97-AF65-F5344CB8AC3E}">
        <p14:creationId xmlns:p14="http://schemas.microsoft.com/office/powerpoint/2010/main" val="1220014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A8E1C6A7-CD62-42B7-8C1D-142229EE1B13}" type="slidenum">
              <a:rPr lang="en-US" altLang="zh-CN"/>
              <a:pPr/>
              <a:t>‹#›</a:t>
            </a:fld>
            <a:endParaRPr lang="en-US" altLang="zh-CN"/>
          </a:p>
        </p:txBody>
      </p:sp>
    </p:spTree>
    <p:extLst>
      <p:ext uri="{BB962C8B-B14F-4D97-AF65-F5344CB8AC3E}">
        <p14:creationId xmlns:p14="http://schemas.microsoft.com/office/powerpoint/2010/main" val="4052065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803158C3-B50C-4001-8BD0-C5647A670245}" type="slidenum">
              <a:rPr lang="en-US" altLang="zh-CN"/>
              <a:pPr/>
              <a:t>‹#›</a:t>
            </a:fld>
            <a:endParaRPr lang="en-US" altLang="zh-CN"/>
          </a:p>
        </p:txBody>
      </p:sp>
    </p:spTree>
    <p:extLst>
      <p:ext uri="{BB962C8B-B14F-4D97-AF65-F5344CB8AC3E}">
        <p14:creationId xmlns:p14="http://schemas.microsoft.com/office/powerpoint/2010/main" val="3320812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76D830B0-DF59-4281-898F-AF208100B213}" type="slidenum">
              <a:rPr lang="en-US" altLang="zh-CN"/>
              <a:pPr/>
              <a:t>‹#›</a:t>
            </a:fld>
            <a:endParaRPr lang="en-US" altLang="zh-CN"/>
          </a:p>
        </p:txBody>
      </p:sp>
    </p:spTree>
    <p:extLst>
      <p:ext uri="{BB962C8B-B14F-4D97-AF65-F5344CB8AC3E}">
        <p14:creationId xmlns:p14="http://schemas.microsoft.com/office/powerpoint/2010/main" val="2823416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9BC85226-5FCC-4AFD-B486-2748615DDC14}" type="slidenum">
              <a:rPr lang="en-US" altLang="zh-CN"/>
              <a:pPr/>
              <a:t>‹#›</a:t>
            </a:fld>
            <a:endParaRPr lang="en-US" altLang="zh-CN"/>
          </a:p>
        </p:txBody>
      </p:sp>
    </p:spTree>
    <p:extLst>
      <p:ext uri="{BB962C8B-B14F-4D97-AF65-F5344CB8AC3E}">
        <p14:creationId xmlns:p14="http://schemas.microsoft.com/office/powerpoint/2010/main" val="4274750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3614CC24-EEB7-428F-937F-EF248AEFDBA1}" type="slidenum">
              <a:rPr lang="en-US" altLang="zh-CN"/>
              <a:pPr/>
              <a:t>‹#›</a:t>
            </a:fld>
            <a:endParaRPr lang="en-US" altLang="zh-CN"/>
          </a:p>
        </p:txBody>
      </p:sp>
    </p:spTree>
    <p:extLst>
      <p:ext uri="{BB962C8B-B14F-4D97-AF65-F5344CB8AC3E}">
        <p14:creationId xmlns:p14="http://schemas.microsoft.com/office/powerpoint/2010/main" val="192866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1309C11-2328-40BB-8E64-EA9C5ED3B95C}" type="slidenum">
              <a:rPr lang="en-US" altLang="zh-CN"/>
              <a:pPr/>
              <a:t>‹#›</a:t>
            </a:fld>
            <a:endParaRPr lang="en-US" altLang="zh-CN"/>
          </a:p>
        </p:txBody>
      </p:sp>
    </p:spTree>
    <p:extLst>
      <p:ext uri="{BB962C8B-B14F-4D97-AF65-F5344CB8AC3E}">
        <p14:creationId xmlns:p14="http://schemas.microsoft.com/office/powerpoint/2010/main" val="2036490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512753A-817A-416F-AB73-729B5AD08AAB}" type="slidenum">
              <a:rPr lang="en-US" altLang="zh-CN"/>
              <a:pPr/>
              <a:t>‹#›</a:t>
            </a:fld>
            <a:endParaRPr lang="en-US" altLang="zh-CN"/>
          </a:p>
        </p:txBody>
      </p:sp>
    </p:spTree>
    <p:extLst>
      <p:ext uri="{BB962C8B-B14F-4D97-AF65-F5344CB8AC3E}">
        <p14:creationId xmlns:p14="http://schemas.microsoft.com/office/powerpoint/2010/main" val="2555755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a:p>
        </p:txBody>
      </p:sp>
      <p:sp>
        <p:nvSpPr>
          <p:cNvPr id="4" name="Rectangle 4">
            <a:extLst>
              <a:ext uri="{FF2B5EF4-FFF2-40B4-BE49-F238E27FC236}">
                <a16:creationId xmlns:a16="http://schemas.microsoft.com/office/drawing/2014/main" id="{DDC4569B-CDA3-0D66-3330-EA9A5170614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3412D93-C3C8-FE99-1B63-A4E39F26FB7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FC2D657-D034-FDC2-E095-1ED729AF8CDD}"/>
              </a:ext>
            </a:extLst>
          </p:cNvPr>
          <p:cNvSpPr>
            <a:spLocks noGrp="1" noChangeArrowheads="1"/>
          </p:cNvSpPr>
          <p:nvPr>
            <p:ph type="sldNum" sz="quarter" idx="12"/>
          </p:nvPr>
        </p:nvSpPr>
        <p:spPr>
          <a:ln/>
        </p:spPr>
        <p:txBody>
          <a:bodyPr/>
          <a:lstStyle>
            <a:lvl1pPr>
              <a:defRPr/>
            </a:lvl1pPr>
          </a:lstStyle>
          <a:p>
            <a:pPr>
              <a:defRPr/>
            </a:pPr>
            <a:fld id="{5C0B86C3-FEBB-43C2-93FB-D83225064151}" type="slidenum">
              <a:rPr lang="en-US" altLang="zh-CN"/>
              <a:pPr>
                <a:defRPr/>
              </a:pPr>
              <a:t>‹#›</a:t>
            </a:fld>
            <a:endParaRPr lang="en-US" altLang="zh-CN"/>
          </a:p>
        </p:txBody>
      </p:sp>
    </p:spTree>
    <p:extLst>
      <p:ext uri="{BB962C8B-B14F-4D97-AF65-F5344CB8AC3E}">
        <p14:creationId xmlns:p14="http://schemas.microsoft.com/office/powerpoint/2010/main" val="10940988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712E23D1-1143-77F4-F063-DFC429B2AB5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E50F4039-27EF-B031-B1DF-77C2F8685ED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C3E63ED5-5D95-EB25-CE75-0809E6CD80BA}"/>
              </a:ext>
            </a:extLst>
          </p:cNvPr>
          <p:cNvSpPr>
            <a:spLocks noGrp="1" noChangeArrowheads="1"/>
          </p:cNvSpPr>
          <p:nvPr>
            <p:ph type="sldNum" sz="quarter" idx="12"/>
          </p:nvPr>
        </p:nvSpPr>
        <p:spPr>
          <a:ln/>
        </p:spPr>
        <p:txBody>
          <a:bodyPr/>
          <a:lstStyle>
            <a:lvl1pPr>
              <a:defRPr/>
            </a:lvl1pPr>
          </a:lstStyle>
          <a:p>
            <a:pPr>
              <a:defRPr/>
            </a:pPr>
            <a:fld id="{DD14A989-B841-485A-BFCC-EC4108919C41}" type="slidenum">
              <a:rPr lang="en-US" altLang="zh-CN"/>
              <a:pPr>
                <a:defRPr/>
              </a:pPr>
              <a:t>‹#›</a:t>
            </a:fld>
            <a:endParaRPr lang="en-US" altLang="zh-CN"/>
          </a:p>
        </p:txBody>
      </p:sp>
    </p:spTree>
    <p:extLst>
      <p:ext uri="{BB962C8B-B14F-4D97-AF65-F5344CB8AC3E}">
        <p14:creationId xmlns:p14="http://schemas.microsoft.com/office/powerpoint/2010/main" val="1083431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943BA562-8B01-4708-BEC9-7E69676661F2}"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5.bin"/><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7.bin"/><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8.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9.bin"/></Relationships>
</file>

<file path=ppt/slides/_rels/slide13.xml.rels><?xml version="1.0" encoding="UTF-8" standalone="yes"?>
<Relationships xmlns="http://schemas.openxmlformats.org/package/2006/relationships"><Relationship Id="rId3" Type="http://schemas.openxmlformats.org/officeDocument/2006/relationships/image" Target="../media/image18.wmf"/><Relationship Id="rId7" Type="http://schemas.openxmlformats.org/officeDocument/2006/relationships/image" Target="../media/image20.w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12.bin"/><Relationship Id="rId5" Type="http://schemas.openxmlformats.org/officeDocument/2006/relationships/image" Target="../media/image19.wmf"/><Relationship Id="rId4"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21.wmf"/><Relationship Id="rId7" Type="http://schemas.openxmlformats.org/officeDocument/2006/relationships/image" Target="../media/image23.wmf"/><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oleObject" Target="../embeddings/oleObject15.bin"/><Relationship Id="rId5" Type="http://schemas.openxmlformats.org/officeDocument/2006/relationships/image" Target="../media/image22.wmf"/><Relationship Id="rId4" Type="http://schemas.openxmlformats.org/officeDocument/2006/relationships/oleObject" Target="../embeddings/oleObject14.bin"/></Relationships>
</file>

<file path=ppt/slides/_rels/slide1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26.wmf"/><Relationship Id="rId7" Type="http://schemas.openxmlformats.org/officeDocument/2006/relationships/image" Target="../media/image28.wmf"/><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oleObject" Target="../embeddings/oleObject18.bin"/><Relationship Id="rId11" Type="http://schemas.openxmlformats.org/officeDocument/2006/relationships/image" Target="../media/image30.wmf"/><Relationship Id="rId5" Type="http://schemas.openxmlformats.org/officeDocument/2006/relationships/image" Target="../media/image27.wmf"/><Relationship Id="rId10" Type="http://schemas.openxmlformats.org/officeDocument/2006/relationships/oleObject" Target="../embeddings/oleObject20.bin"/><Relationship Id="rId4" Type="http://schemas.openxmlformats.org/officeDocument/2006/relationships/oleObject" Target="../embeddings/oleObject17.bin"/><Relationship Id="rId9" Type="http://schemas.openxmlformats.org/officeDocument/2006/relationships/image" Target="../media/image29.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image" Target="../media/image31.wmf"/><Relationship Id="rId7" Type="http://schemas.openxmlformats.org/officeDocument/2006/relationships/image" Target="../media/image33.wmf"/><Relationship Id="rId2" Type="http://schemas.openxmlformats.org/officeDocument/2006/relationships/oleObject" Target="../embeddings/oleObject21.bin"/><Relationship Id="rId1" Type="http://schemas.openxmlformats.org/officeDocument/2006/relationships/slideLayout" Target="../slideLayouts/slideLayout2.xml"/><Relationship Id="rId6" Type="http://schemas.openxmlformats.org/officeDocument/2006/relationships/oleObject" Target="../embeddings/oleObject23.bin"/><Relationship Id="rId5" Type="http://schemas.openxmlformats.org/officeDocument/2006/relationships/image" Target="../media/image32.wmf"/><Relationship Id="rId4" Type="http://schemas.openxmlformats.org/officeDocument/2006/relationships/oleObject" Target="../embeddings/oleObject22.bin"/><Relationship Id="rId9" Type="http://schemas.openxmlformats.org/officeDocument/2006/relationships/image" Target="../media/image34.wmf"/></Relationships>
</file>

<file path=ppt/slides/_rels/slide18.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6.wmf"/><Relationship Id="rId5" Type="http://schemas.openxmlformats.org/officeDocument/2006/relationships/oleObject" Target="../embeddings/oleObject26.bin"/><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28.bin"/></Relationships>
</file>

<file path=ppt/slides/_rels/slide19.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oleObject" Target="../embeddings/oleObject34.bin"/><Relationship Id="rId3" Type="http://schemas.openxmlformats.org/officeDocument/2006/relationships/oleObject" Target="../embeddings/oleObject29.bin"/><Relationship Id="rId7" Type="http://schemas.openxmlformats.org/officeDocument/2006/relationships/oleObject" Target="../embeddings/oleObject31.bin"/><Relationship Id="rId12" Type="http://schemas.openxmlformats.org/officeDocument/2006/relationships/image" Target="../media/image43.w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0.wmf"/><Relationship Id="rId11" Type="http://schemas.openxmlformats.org/officeDocument/2006/relationships/oleObject" Target="../embeddings/oleObject33.bin"/><Relationship Id="rId5" Type="http://schemas.openxmlformats.org/officeDocument/2006/relationships/oleObject" Target="../embeddings/oleObject30.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32.bin"/><Relationship Id="rId14" Type="http://schemas.openxmlformats.org/officeDocument/2006/relationships/image" Target="../media/image44.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49.wmf"/><Relationship Id="rId3" Type="http://schemas.openxmlformats.org/officeDocument/2006/relationships/image" Target="../media/image44.wmf"/><Relationship Id="rId7" Type="http://schemas.openxmlformats.org/officeDocument/2006/relationships/image" Target="../media/image46.wmf"/><Relationship Id="rId12" Type="http://schemas.openxmlformats.org/officeDocument/2006/relationships/oleObject" Target="../embeddings/oleObject39.bin"/><Relationship Id="rId2" Type="http://schemas.openxmlformats.org/officeDocument/2006/relationships/oleObject" Target="../embeddings/oleObject34.bin"/><Relationship Id="rId1" Type="http://schemas.openxmlformats.org/officeDocument/2006/relationships/slideLayout" Target="../slideLayouts/slideLayout2.xml"/><Relationship Id="rId6" Type="http://schemas.openxmlformats.org/officeDocument/2006/relationships/oleObject" Target="../embeddings/oleObject36.bin"/><Relationship Id="rId11" Type="http://schemas.openxmlformats.org/officeDocument/2006/relationships/image" Target="../media/image48.wmf"/><Relationship Id="rId5" Type="http://schemas.openxmlformats.org/officeDocument/2006/relationships/image" Target="../media/image45.wmf"/><Relationship Id="rId10" Type="http://schemas.openxmlformats.org/officeDocument/2006/relationships/oleObject" Target="../embeddings/oleObject38.bin"/><Relationship Id="rId4" Type="http://schemas.openxmlformats.org/officeDocument/2006/relationships/oleObject" Target="../embeddings/oleObject35.bin"/><Relationship Id="rId9" Type="http://schemas.openxmlformats.org/officeDocument/2006/relationships/image" Target="../media/image47.wmf"/></Relationships>
</file>

<file path=ppt/slides/_rels/slide21.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40.bin"/><Relationship Id="rId1" Type="http://schemas.openxmlformats.org/officeDocument/2006/relationships/slideLayout" Target="../slideLayouts/slideLayout2.xml"/><Relationship Id="rId4" Type="http://schemas.openxmlformats.org/officeDocument/2006/relationships/image" Target="../media/image52.jpe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image" Target="../media/image52.jpeg"/><Relationship Id="rId1" Type="http://schemas.openxmlformats.org/officeDocument/2006/relationships/slideLayout" Target="../slideLayouts/slideLayout2.xml"/><Relationship Id="rId6" Type="http://schemas.openxmlformats.org/officeDocument/2006/relationships/image" Target="../media/image54.wmf"/><Relationship Id="rId5" Type="http://schemas.openxmlformats.org/officeDocument/2006/relationships/oleObject" Target="../embeddings/oleObject42.bin"/><Relationship Id="rId4" Type="http://schemas.openxmlformats.org/officeDocument/2006/relationships/image" Target="../media/image53.wmf"/></Relationships>
</file>

<file path=ppt/slides/_rels/slide24.xml.rels><?xml version="1.0" encoding="UTF-8" standalone="yes"?>
<Relationships xmlns="http://schemas.openxmlformats.org/package/2006/relationships"><Relationship Id="rId3" Type="http://schemas.openxmlformats.org/officeDocument/2006/relationships/image" Target="../media/image55.wmf"/><Relationship Id="rId7" Type="http://schemas.openxmlformats.org/officeDocument/2006/relationships/image" Target="../media/image57.wmf"/><Relationship Id="rId2" Type="http://schemas.openxmlformats.org/officeDocument/2006/relationships/oleObject" Target="../embeddings/oleObject43.bin"/><Relationship Id="rId1" Type="http://schemas.openxmlformats.org/officeDocument/2006/relationships/slideLayout" Target="../slideLayouts/slideLayout2.xml"/><Relationship Id="rId6" Type="http://schemas.openxmlformats.org/officeDocument/2006/relationships/oleObject" Target="../embeddings/oleObject45.bin"/><Relationship Id="rId5" Type="http://schemas.openxmlformats.org/officeDocument/2006/relationships/image" Target="../media/image56.wmf"/><Relationship Id="rId4" Type="http://schemas.openxmlformats.org/officeDocument/2006/relationships/oleObject" Target="../embeddings/oleObject44.bin"/></Relationships>
</file>

<file path=ppt/slides/_rels/slide25.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oleObject" Target="../embeddings/oleObject46.bin"/><Relationship Id="rId1" Type="http://schemas.openxmlformats.org/officeDocument/2006/relationships/slideLayout" Target="../slideLayouts/slideLayout2.xml"/><Relationship Id="rId6" Type="http://schemas.openxmlformats.org/officeDocument/2006/relationships/image" Target="../media/image60.jpeg"/><Relationship Id="rId5" Type="http://schemas.openxmlformats.org/officeDocument/2006/relationships/image" Target="../media/image59.wmf"/><Relationship Id="rId4" Type="http://schemas.openxmlformats.org/officeDocument/2006/relationships/oleObject" Target="../embeddings/oleObject47.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image" Target="../media/image66.wmf"/><Relationship Id="rId3" Type="http://schemas.openxmlformats.org/officeDocument/2006/relationships/image" Target="../media/image61.wmf"/><Relationship Id="rId7" Type="http://schemas.openxmlformats.org/officeDocument/2006/relationships/image" Target="../media/image63.wmf"/><Relationship Id="rId12" Type="http://schemas.openxmlformats.org/officeDocument/2006/relationships/oleObject" Target="../embeddings/oleObject53.bin"/><Relationship Id="rId2" Type="http://schemas.openxmlformats.org/officeDocument/2006/relationships/oleObject" Target="../embeddings/oleObject48.bin"/><Relationship Id="rId1" Type="http://schemas.openxmlformats.org/officeDocument/2006/relationships/slideLayout" Target="../slideLayouts/slideLayout2.xml"/><Relationship Id="rId6" Type="http://schemas.openxmlformats.org/officeDocument/2006/relationships/oleObject" Target="../embeddings/oleObject50.bin"/><Relationship Id="rId11" Type="http://schemas.openxmlformats.org/officeDocument/2006/relationships/image" Target="../media/image65.wmf"/><Relationship Id="rId5" Type="http://schemas.openxmlformats.org/officeDocument/2006/relationships/image" Target="../media/image62.wmf"/><Relationship Id="rId10" Type="http://schemas.openxmlformats.org/officeDocument/2006/relationships/oleObject" Target="../embeddings/oleObject52.bin"/><Relationship Id="rId4" Type="http://schemas.openxmlformats.org/officeDocument/2006/relationships/oleObject" Target="../embeddings/oleObject49.bin"/><Relationship Id="rId9" Type="http://schemas.openxmlformats.org/officeDocument/2006/relationships/image" Target="../media/image64.wmf"/><Relationship Id="rId14" Type="http://schemas.openxmlformats.org/officeDocument/2006/relationships/image" Target="../media/image67.jpeg"/></Relationships>
</file>

<file path=ppt/slides/_rels/slide27.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54.bin"/><Relationship Id="rId1" Type="http://schemas.openxmlformats.org/officeDocument/2006/relationships/slideLayout" Target="../slideLayouts/slideLayout2.xml"/><Relationship Id="rId4" Type="http://schemas.openxmlformats.org/officeDocument/2006/relationships/image" Target="../media/image69.jpeg"/></Relationships>
</file>

<file path=ppt/slides/_rels/slide28.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0.wmf"/><Relationship Id="rId7" Type="http://schemas.openxmlformats.org/officeDocument/2006/relationships/image" Target="../media/image72.wmf"/><Relationship Id="rId2" Type="http://schemas.openxmlformats.org/officeDocument/2006/relationships/oleObject" Target="../embeddings/oleObject55.bin"/><Relationship Id="rId1" Type="http://schemas.openxmlformats.org/officeDocument/2006/relationships/slideLayout" Target="../slideLayouts/slideLayout2.xml"/><Relationship Id="rId6" Type="http://schemas.openxmlformats.org/officeDocument/2006/relationships/oleObject" Target="../embeddings/oleObject57.bin"/><Relationship Id="rId5" Type="http://schemas.openxmlformats.org/officeDocument/2006/relationships/image" Target="../media/image71.wmf"/><Relationship Id="rId4" Type="http://schemas.openxmlformats.org/officeDocument/2006/relationships/oleObject" Target="../embeddings/oleObject56.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61.bin"/><Relationship Id="rId13" Type="http://schemas.openxmlformats.org/officeDocument/2006/relationships/image" Target="../media/image78.wmf"/><Relationship Id="rId3" Type="http://schemas.openxmlformats.org/officeDocument/2006/relationships/image" Target="../media/image73.wmf"/><Relationship Id="rId7" Type="http://schemas.openxmlformats.org/officeDocument/2006/relationships/image" Target="../media/image75.wmf"/><Relationship Id="rId12" Type="http://schemas.openxmlformats.org/officeDocument/2006/relationships/oleObject" Target="../embeddings/oleObject63.bin"/><Relationship Id="rId2" Type="http://schemas.openxmlformats.org/officeDocument/2006/relationships/oleObject" Target="../embeddings/oleObject58.bin"/><Relationship Id="rId1" Type="http://schemas.openxmlformats.org/officeDocument/2006/relationships/slideLayout" Target="../slideLayouts/slideLayout2.xml"/><Relationship Id="rId6" Type="http://schemas.openxmlformats.org/officeDocument/2006/relationships/oleObject" Target="../embeddings/oleObject60.bin"/><Relationship Id="rId11" Type="http://schemas.openxmlformats.org/officeDocument/2006/relationships/image" Target="../media/image77.wmf"/><Relationship Id="rId5" Type="http://schemas.openxmlformats.org/officeDocument/2006/relationships/image" Target="../media/image74.wmf"/><Relationship Id="rId10" Type="http://schemas.openxmlformats.org/officeDocument/2006/relationships/oleObject" Target="../embeddings/oleObject62.bin"/><Relationship Id="rId4" Type="http://schemas.openxmlformats.org/officeDocument/2006/relationships/oleObject" Target="../embeddings/oleObject59.bin"/><Relationship Id="rId9" Type="http://schemas.openxmlformats.org/officeDocument/2006/relationships/image" Target="../media/image76.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67.bin"/><Relationship Id="rId3" Type="http://schemas.openxmlformats.org/officeDocument/2006/relationships/image" Target="../media/image79.wmf"/><Relationship Id="rId7" Type="http://schemas.openxmlformats.org/officeDocument/2006/relationships/image" Target="../media/image81.wmf"/><Relationship Id="rId2" Type="http://schemas.openxmlformats.org/officeDocument/2006/relationships/oleObject" Target="../embeddings/oleObject64.bin"/><Relationship Id="rId1" Type="http://schemas.openxmlformats.org/officeDocument/2006/relationships/slideLayout" Target="../slideLayouts/slideLayout2.xml"/><Relationship Id="rId6" Type="http://schemas.openxmlformats.org/officeDocument/2006/relationships/oleObject" Target="../embeddings/oleObject66.bin"/><Relationship Id="rId11" Type="http://schemas.openxmlformats.org/officeDocument/2006/relationships/image" Target="../media/image83.wmf"/><Relationship Id="rId5" Type="http://schemas.openxmlformats.org/officeDocument/2006/relationships/image" Target="../media/image80.wmf"/><Relationship Id="rId10" Type="http://schemas.openxmlformats.org/officeDocument/2006/relationships/oleObject" Target="../embeddings/oleObject68.bin"/><Relationship Id="rId4" Type="http://schemas.openxmlformats.org/officeDocument/2006/relationships/oleObject" Target="../embeddings/oleObject65.bin"/><Relationship Id="rId9" Type="http://schemas.openxmlformats.org/officeDocument/2006/relationships/image" Target="../media/image82.wmf"/></Relationships>
</file>

<file path=ppt/slides/_rels/slide33.xml.rels><?xml version="1.0" encoding="UTF-8" standalone="yes"?>
<Relationships xmlns="http://schemas.openxmlformats.org/package/2006/relationships"><Relationship Id="rId3" Type="http://schemas.openxmlformats.org/officeDocument/2006/relationships/image" Target="../media/image84.wmf"/><Relationship Id="rId7" Type="http://schemas.openxmlformats.org/officeDocument/2006/relationships/image" Target="../media/image86.wmf"/><Relationship Id="rId2" Type="http://schemas.openxmlformats.org/officeDocument/2006/relationships/oleObject" Target="../embeddings/oleObject69.bin"/><Relationship Id="rId1" Type="http://schemas.openxmlformats.org/officeDocument/2006/relationships/slideLayout" Target="../slideLayouts/slideLayout2.xml"/><Relationship Id="rId6" Type="http://schemas.openxmlformats.org/officeDocument/2006/relationships/oleObject" Target="../embeddings/oleObject71.bin"/><Relationship Id="rId5" Type="http://schemas.openxmlformats.org/officeDocument/2006/relationships/image" Target="../media/image85.wmf"/><Relationship Id="rId4" Type="http://schemas.openxmlformats.org/officeDocument/2006/relationships/oleObject" Target="../embeddings/oleObject70.bin"/></Relationships>
</file>

<file path=ppt/slides/_rels/slide34.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oleObject" Target="../embeddings/oleObject72.bin"/><Relationship Id="rId1" Type="http://schemas.openxmlformats.org/officeDocument/2006/relationships/slideLayout" Target="../slideLayouts/slideLayout2.xml"/><Relationship Id="rId5" Type="http://schemas.openxmlformats.org/officeDocument/2006/relationships/image" Target="../media/image88.wmf"/><Relationship Id="rId4" Type="http://schemas.openxmlformats.org/officeDocument/2006/relationships/oleObject" Target="../embeddings/oleObject73.bin"/></Relationships>
</file>

<file path=ppt/slides/_rels/slide35.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oleObject" Target="../embeddings/oleObject74.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78.bin"/><Relationship Id="rId3" Type="http://schemas.openxmlformats.org/officeDocument/2006/relationships/image" Target="../media/image89.wmf"/><Relationship Id="rId7" Type="http://schemas.openxmlformats.org/officeDocument/2006/relationships/image" Target="../media/image91.wmf"/><Relationship Id="rId2" Type="http://schemas.openxmlformats.org/officeDocument/2006/relationships/oleObject" Target="../embeddings/oleObject75.bin"/><Relationship Id="rId1" Type="http://schemas.openxmlformats.org/officeDocument/2006/relationships/slideLayout" Target="../slideLayouts/slideLayout2.xml"/><Relationship Id="rId6" Type="http://schemas.openxmlformats.org/officeDocument/2006/relationships/oleObject" Target="../embeddings/oleObject77.bin"/><Relationship Id="rId5" Type="http://schemas.openxmlformats.org/officeDocument/2006/relationships/image" Target="../media/image90.wmf"/><Relationship Id="rId10" Type="http://schemas.openxmlformats.org/officeDocument/2006/relationships/image" Target="../media/image93.jpeg"/><Relationship Id="rId4" Type="http://schemas.openxmlformats.org/officeDocument/2006/relationships/oleObject" Target="../embeddings/oleObject76.bin"/><Relationship Id="rId9" Type="http://schemas.openxmlformats.org/officeDocument/2006/relationships/image" Target="../media/image92.w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82.bin"/><Relationship Id="rId3" Type="http://schemas.openxmlformats.org/officeDocument/2006/relationships/image" Target="../media/image94.wmf"/><Relationship Id="rId7" Type="http://schemas.openxmlformats.org/officeDocument/2006/relationships/image" Target="../media/image96.wmf"/><Relationship Id="rId2" Type="http://schemas.openxmlformats.org/officeDocument/2006/relationships/oleObject" Target="../embeddings/oleObject79.bin"/><Relationship Id="rId1" Type="http://schemas.openxmlformats.org/officeDocument/2006/relationships/slideLayout" Target="../slideLayouts/slideLayout2.xml"/><Relationship Id="rId6" Type="http://schemas.openxmlformats.org/officeDocument/2006/relationships/oleObject" Target="../embeddings/oleObject81.bin"/><Relationship Id="rId5" Type="http://schemas.openxmlformats.org/officeDocument/2006/relationships/image" Target="../media/image95.wmf"/><Relationship Id="rId10" Type="http://schemas.openxmlformats.org/officeDocument/2006/relationships/image" Target="../media/image98.jpeg"/><Relationship Id="rId4" Type="http://schemas.openxmlformats.org/officeDocument/2006/relationships/oleObject" Target="../embeddings/oleObject80.bin"/><Relationship Id="rId9" Type="http://schemas.openxmlformats.org/officeDocument/2006/relationships/image" Target="../media/image97.wmf"/></Relationships>
</file>

<file path=ppt/slides/_rels/slide38.xml.rels><?xml version="1.0" encoding="UTF-8" standalone="yes"?>
<Relationships xmlns="http://schemas.openxmlformats.org/package/2006/relationships"><Relationship Id="rId3" Type="http://schemas.openxmlformats.org/officeDocument/2006/relationships/image" Target="../media/image99.wmf"/><Relationship Id="rId7" Type="http://schemas.openxmlformats.org/officeDocument/2006/relationships/image" Target="../media/image101.wmf"/><Relationship Id="rId2" Type="http://schemas.openxmlformats.org/officeDocument/2006/relationships/oleObject" Target="../embeddings/oleObject83.bin"/><Relationship Id="rId1" Type="http://schemas.openxmlformats.org/officeDocument/2006/relationships/slideLayout" Target="../slideLayouts/slideLayout2.xml"/><Relationship Id="rId6" Type="http://schemas.openxmlformats.org/officeDocument/2006/relationships/oleObject" Target="../embeddings/oleObject85.bin"/><Relationship Id="rId5" Type="http://schemas.openxmlformats.org/officeDocument/2006/relationships/image" Target="../media/image100.wmf"/><Relationship Id="rId4" Type="http://schemas.openxmlformats.org/officeDocument/2006/relationships/oleObject" Target="../embeddings/oleObject84.bin"/></Relationships>
</file>

<file path=ppt/slides/_rels/slide39.xml.rels><?xml version="1.0" encoding="UTF-8" standalone="yes"?>
<Relationships xmlns="http://schemas.openxmlformats.org/package/2006/relationships"><Relationship Id="rId2" Type="http://schemas.openxmlformats.org/officeDocument/2006/relationships/image" Target="../media/image102.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image" Target="../media/image103.wmf"/><Relationship Id="rId7" Type="http://schemas.openxmlformats.org/officeDocument/2006/relationships/image" Target="../media/image105.wmf"/><Relationship Id="rId2" Type="http://schemas.openxmlformats.org/officeDocument/2006/relationships/oleObject" Target="../embeddings/oleObject86.bin"/><Relationship Id="rId1" Type="http://schemas.openxmlformats.org/officeDocument/2006/relationships/slideLayout" Target="../slideLayouts/slideLayout2.xml"/><Relationship Id="rId6" Type="http://schemas.openxmlformats.org/officeDocument/2006/relationships/oleObject" Target="../embeddings/oleObject88.bin"/><Relationship Id="rId5" Type="http://schemas.openxmlformats.org/officeDocument/2006/relationships/image" Target="../media/image104.wmf"/><Relationship Id="rId4" Type="http://schemas.openxmlformats.org/officeDocument/2006/relationships/oleObject" Target="../embeddings/oleObject87.bin"/><Relationship Id="rId9" Type="http://schemas.openxmlformats.org/officeDocument/2006/relationships/image" Target="../media/image106.wmf"/></Relationships>
</file>

<file path=ppt/slides/_rels/slide41.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image" Target="../media/image107.png"/><Relationship Id="rId1" Type="http://schemas.openxmlformats.org/officeDocument/2006/relationships/slideLayout" Target="../slideLayouts/slideLayout2.xml"/><Relationship Id="rId4" Type="http://schemas.openxmlformats.org/officeDocument/2006/relationships/image" Target="../media/image109.jpeg"/></Relationships>
</file>

<file path=ppt/slides/_rels/slide42.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1.bin"/><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7.wmf"/><Relationship Id="rId4" Type="http://schemas.openxmlformats.org/officeDocument/2006/relationships/oleObject" Target="../embeddings/oleObject9.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93.bin"/><Relationship Id="rId3" Type="http://schemas.openxmlformats.org/officeDocument/2006/relationships/image" Target="../media/image113.wmf"/><Relationship Id="rId7" Type="http://schemas.openxmlformats.org/officeDocument/2006/relationships/image" Target="../media/image115.wmf"/><Relationship Id="rId2" Type="http://schemas.openxmlformats.org/officeDocument/2006/relationships/oleObject" Target="../embeddings/oleObject90.bin"/><Relationship Id="rId1" Type="http://schemas.openxmlformats.org/officeDocument/2006/relationships/slideLayout" Target="../slideLayouts/slideLayout12.xml"/><Relationship Id="rId6" Type="http://schemas.openxmlformats.org/officeDocument/2006/relationships/oleObject" Target="../embeddings/oleObject92.bin"/><Relationship Id="rId5" Type="http://schemas.openxmlformats.org/officeDocument/2006/relationships/image" Target="../media/image114.wmf"/><Relationship Id="rId4" Type="http://schemas.openxmlformats.org/officeDocument/2006/relationships/oleObject" Target="../embeddings/oleObject91.bin"/><Relationship Id="rId9" Type="http://schemas.openxmlformats.org/officeDocument/2006/relationships/image" Target="../media/image116.wmf"/></Relationships>
</file>

<file path=ppt/slides/_rels/slide47.x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oleObject" Target="../embeddings/oleObject90.bin"/><Relationship Id="rId1" Type="http://schemas.openxmlformats.org/officeDocument/2006/relationships/slideLayout" Target="../slideLayouts/slideLayout13.xml"/><Relationship Id="rId5" Type="http://schemas.openxmlformats.org/officeDocument/2006/relationships/image" Target="../media/image115.wmf"/><Relationship Id="rId4" Type="http://schemas.openxmlformats.org/officeDocument/2006/relationships/oleObject" Target="../embeddings/oleObject92.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7.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hyperlink" Target="https://baike.baidu.com/item/%E6%B0%B8%E7%A3%81%E6%9D%90%E6%96%99/4408932"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image" Target="../media/image119.jpeg"/><Relationship Id="rId1" Type="http://schemas.openxmlformats.org/officeDocument/2006/relationships/slideLayout" Target="../slideLayouts/slideLayout7.xml"/><Relationship Id="rId5" Type="http://schemas.openxmlformats.org/officeDocument/2006/relationships/image" Target="../media/image122.jpeg"/><Relationship Id="rId4" Type="http://schemas.openxmlformats.org/officeDocument/2006/relationships/image" Target="../media/image121.png"/></Relationships>
</file>

<file path=ppt/slides/_rels/slide52.xml.rels><?xml version="1.0" encoding="UTF-8" standalone="yes"?>
<Relationships xmlns="http://schemas.openxmlformats.org/package/2006/relationships"><Relationship Id="rId2" Type="http://schemas.openxmlformats.org/officeDocument/2006/relationships/image" Target="../media/image123.jp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image" Target="../media/image124.jpeg"/><Relationship Id="rId1" Type="http://schemas.openxmlformats.org/officeDocument/2006/relationships/slideLayout" Target="../slideLayouts/slideLayout2.xml"/><Relationship Id="rId4" Type="http://schemas.openxmlformats.org/officeDocument/2006/relationships/image" Target="../media/image125.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image" Target="../media/image127.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oleObject" Target="../embeddings/oleObject95.bin"/><Relationship Id="rId1" Type="http://schemas.openxmlformats.org/officeDocument/2006/relationships/slideLayout" Target="../slideLayouts/slideLayout2.xml"/><Relationship Id="rId5" Type="http://schemas.openxmlformats.org/officeDocument/2006/relationships/image" Target="../media/image130.wmf"/><Relationship Id="rId4" Type="http://schemas.openxmlformats.org/officeDocument/2006/relationships/oleObject" Target="../embeddings/oleObject96.bin"/></Relationships>
</file>

<file path=ppt/slides/_rels/slide58.xml.rels><?xml version="1.0" encoding="UTF-8" standalone="yes"?>
<Relationships xmlns="http://schemas.openxmlformats.org/package/2006/relationships"><Relationship Id="rId3" Type="http://schemas.openxmlformats.org/officeDocument/2006/relationships/image" Target="../media/image132.jpg"/><Relationship Id="rId2" Type="http://schemas.openxmlformats.org/officeDocument/2006/relationships/image" Target="../media/image131.jpg"/><Relationship Id="rId1" Type="http://schemas.openxmlformats.org/officeDocument/2006/relationships/slideLayout" Target="../slideLayouts/slideLayout7.xml"/><Relationship Id="rId5" Type="http://schemas.openxmlformats.org/officeDocument/2006/relationships/image" Target="../media/image134.png"/><Relationship Id="rId4" Type="http://schemas.openxmlformats.org/officeDocument/2006/relationships/image" Target="../media/image13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4ED25202-D6A1-CE9F-ADF1-A7B66D7FADDC}"/>
              </a:ext>
            </a:extLst>
          </p:cNvPr>
          <p:cNvSpPr>
            <a:spLocks noGrp="1" noChangeArrowheads="1"/>
          </p:cNvSpPr>
          <p:nvPr>
            <p:ph type="ctrTitle"/>
          </p:nvPr>
        </p:nvSpPr>
        <p:spPr bwMode="auto">
          <a:xfrm>
            <a:off x="1143000" y="2235200"/>
            <a:ext cx="6858000" cy="238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838200" indent="-838200">
              <a:defRPr sz="2400">
                <a:solidFill>
                  <a:schemeClr val="tx1"/>
                </a:solidFill>
                <a:latin typeface="Arial" panose="020B0604020202020204" pitchFamily="34" charset="0"/>
                <a:ea typeface="宋体" panose="02010600030101010101" pitchFamily="2" charset="-122"/>
              </a:defRPr>
            </a:lvl1pPr>
            <a:lvl2pPr marL="838200" indent="-838200">
              <a:defRPr sz="2400">
                <a:solidFill>
                  <a:schemeClr val="tx1"/>
                </a:solidFill>
                <a:latin typeface="Arial" panose="020B0604020202020204" pitchFamily="34" charset="0"/>
                <a:ea typeface="宋体" panose="02010600030101010101" pitchFamily="2" charset="-122"/>
              </a:defRPr>
            </a:lvl2pPr>
            <a:lvl3pPr marL="838200" indent="-838200">
              <a:defRPr sz="2400">
                <a:solidFill>
                  <a:schemeClr val="tx1"/>
                </a:solidFill>
                <a:latin typeface="Arial" panose="020B0604020202020204" pitchFamily="34" charset="0"/>
                <a:ea typeface="宋体" panose="02010600030101010101" pitchFamily="2" charset="-122"/>
              </a:defRPr>
            </a:lvl3pPr>
            <a:lvl4pPr marL="838200" indent="-838200">
              <a:defRPr sz="2400">
                <a:solidFill>
                  <a:schemeClr val="tx1"/>
                </a:solidFill>
                <a:latin typeface="Arial" panose="020B0604020202020204" pitchFamily="34" charset="0"/>
                <a:ea typeface="宋体" panose="02010600030101010101" pitchFamily="2" charset="-122"/>
              </a:defRPr>
            </a:lvl4pPr>
            <a:lvl5pPr marL="838200" indent="-838200">
              <a:defRPr sz="2400">
                <a:solidFill>
                  <a:schemeClr val="tx1"/>
                </a:solidFill>
                <a:latin typeface="Arial" panose="020B0604020202020204" pitchFamily="34" charset="0"/>
                <a:ea typeface="宋体" panose="02010600030101010101" pitchFamily="2" charset="-122"/>
              </a:defRPr>
            </a:lvl5pPr>
            <a:lvl6pPr marL="1295400" indent="-838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1752600" indent="-838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2209800" indent="-838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2667000" indent="-838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800" b="1" dirty="0">
                <a:solidFill>
                  <a:schemeClr val="tx2"/>
                </a:solidFill>
                <a:latin typeface="楷体_GB2312" pitchFamily="49" charset="-122"/>
                <a:ea typeface="楷体_GB2312" pitchFamily="49" charset="-122"/>
              </a:rPr>
              <a:t>第八章</a:t>
            </a:r>
            <a:r>
              <a:rPr lang="en-US" altLang="zh-CN" sz="4800" b="1" dirty="0">
                <a:solidFill>
                  <a:schemeClr val="tx2"/>
                </a:solidFill>
                <a:latin typeface="楷体_GB2312" pitchFamily="49" charset="-122"/>
                <a:ea typeface="楷体_GB2312" pitchFamily="49" charset="-122"/>
              </a:rPr>
              <a:t> </a:t>
            </a:r>
            <a:r>
              <a:rPr lang="zh-CN" altLang="en-US" sz="4800" b="1" dirty="0">
                <a:solidFill>
                  <a:schemeClr val="tx2"/>
                </a:solidFill>
                <a:latin typeface="楷体_GB2312" pitchFamily="49" charset="-122"/>
                <a:ea typeface="楷体_GB2312" pitchFamily="49" charset="-122"/>
              </a:rPr>
              <a:t>同步电动机运行基本原理</a:t>
            </a:r>
          </a:p>
        </p:txBody>
      </p:sp>
      <p:sp>
        <p:nvSpPr>
          <p:cNvPr id="2" name="灯片编号占位符 1">
            <a:extLst>
              <a:ext uri="{FF2B5EF4-FFF2-40B4-BE49-F238E27FC236}">
                <a16:creationId xmlns:a16="http://schemas.microsoft.com/office/drawing/2014/main" id="{0D414D51-1D52-F934-2499-F214C3FDE0DA}"/>
              </a:ext>
            </a:extLst>
          </p:cNvPr>
          <p:cNvSpPr>
            <a:spLocks noGrp="1"/>
          </p:cNvSpPr>
          <p:nvPr>
            <p:ph type="sldNum" sz="quarter" idx="12"/>
          </p:nvPr>
        </p:nvSpPr>
        <p:spPr/>
        <p:txBody>
          <a:bodyPr/>
          <a:lstStyle/>
          <a:p>
            <a:fld id="{514CBEF7-F8C5-4992-8DBB-A497D4016018}" type="slidenum">
              <a:rPr lang="en-US" altLang="zh-CN" smtClean="0"/>
              <a:pPr/>
              <a:t>1</a:t>
            </a:fld>
            <a:endParaRPr lang="en-US" altLang="zh-CN"/>
          </a:p>
        </p:txBody>
      </p:sp>
    </p:spTree>
    <p:extLst>
      <p:ext uri="{BB962C8B-B14F-4D97-AF65-F5344CB8AC3E}">
        <p14:creationId xmlns:p14="http://schemas.microsoft.com/office/powerpoint/2010/main" val="4291648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a:extLst>
              <a:ext uri="{FF2B5EF4-FFF2-40B4-BE49-F238E27FC236}">
                <a16:creationId xmlns:a16="http://schemas.microsoft.com/office/drawing/2014/main" id="{954021F1-BEEC-A5EC-ABA3-B0BDAD857AF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E1A9CCCC-ECB2-4DA0-A814-B61578BDD14C}" type="slidenum">
              <a:rPr lang="en-US" altLang="zh-CN" sz="1400"/>
              <a:pPr/>
              <a:t>2</a:t>
            </a:fld>
            <a:endParaRPr lang="en-US" altLang="zh-CN" sz="1400"/>
          </a:p>
        </p:txBody>
      </p:sp>
      <p:sp>
        <p:nvSpPr>
          <p:cNvPr id="15363" name="Rectangle 4">
            <a:extLst>
              <a:ext uri="{FF2B5EF4-FFF2-40B4-BE49-F238E27FC236}">
                <a16:creationId xmlns:a16="http://schemas.microsoft.com/office/drawing/2014/main" id="{0EB019FD-640F-A177-923D-968A03E4E7BD}"/>
              </a:ext>
            </a:extLst>
          </p:cNvPr>
          <p:cNvSpPr>
            <a:spLocks noChangeArrowheads="1"/>
          </p:cNvSpPr>
          <p:nvPr/>
        </p:nvSpPr>
        <p:spPr bwMode="auto">
          <a:xfrm>
            <a:off x="467544" y="749424"/>
            <a:ext cx="77057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838200" indent="-838200">
              <a:defRPr sz="2400">
                <a:solidFill>
                  <a:schemeClr val="tx1"/>
                </a:solidFill>
                <a:latin typeface="Arial" panose="020B0604020202020204" pitchFamily="34" charset="0"/>
                <a:ea typeface="宋体" panose="02010600030101010101" pitchFamily="2" charset="-122"/>
              </a:defRPr>
            </a:lvl1pPr>
            <a:lvl2pPr marL="838200" indent="-838200">
              <a:defRPr sz="2400">
                <a:solidFill>
                  <a:schemeClr val="tx1"/>
                </a:solidFill>
                <a:latin typeface="Arial" panose="020B0604020202020204" pitchFamily="34" charset="0"/>
                <a:ea typeface="宋体" panose="02010600030101010101" pitchFamily="2" charset="-122"/>
              </a:defRPr>
            </a:lvl2pPr>
            <a:lvl3pPr marL="838200" indent="-838200">
              <a:defRPr sz="2400">
                <a:solidFill>
                  <a:schemeClr val="tx1"/>
                </a:solidFill>
                <a:latin typeface="Arial" panose="020B0604020202020204" pitchFamily="34" charset="0"/>
                <a:ea typeface="宋体" panose="02010600030101010101" pitchFamily="2" charset="-122"/>
              </a:defRPr>
            </a:lvl3pPr>
            <a:lvl4pPr marL="838200" indent="-838200">
              <a:defRPr sz="2400">
                <a:solidFill>
                  <a:schemeClr val="tx1"/>
                </a:solidFill>
                <a:latin typeface="Arial" panose="020B0604020202020204" pitchFamily="34" charset="0"/>
                <a:ea typeface="宋体" panose="02010600030101010101" pitchFamily="2" charset="-122"/>
              </a:defRPr>
            </a:lvl4pPr>
            <a:lvl5pPr marL="838200" indent="-838200">
              <a:defRPr sz="2400">
                <a:solidFill>
                  <a:schemeClr val="tx1"/>
                </a:solidFill>
                <a:latin typeface="Arial" panose="020B0604020202020204" pitchFamily="34" charset="0"/>
                <a:ea typeface="宋体" panose="02010600030101010101" pitchFamily="2" charset="-122"/>
              </a:defRPr>
            </a:lvl5pPr>
            <a:lvl6pPr marL="1295400" indent="-838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1752600" indent="-838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2209800" indent="-838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2667000" indent="-838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b="1" dirty="0">
                <a:solidFill>
                  <a:schemeClr val="tx2"/>
                </a:solidFill>
                <a:latin typeface="楷体_GB2312" pitchFamily="49" charset="-122"/>
                <a:ea typeface="楷体_GB2312" pitchFamily="49" charset="-122"/>
              </a:rPr>
              <a:t>8-1 </a:t>
            </a:r>
            <a:r>
              <a:rPr lang="zh-CN" altLang="en-US" sz="3200" b="1" dirty="0">
                <a:solidFill>
                  <a:schemeClr val="tx2"/>
                </a:solidFill>
                <a:latin typeface="楷体_GB2312" pitchFamily="49" charset="-122"/>
                <a:ea typeface="楷体_GB2312" pitchFamily="49" charset="-122"/>
              </a:rPr>
              <a:t>同步电动机运行基本原理</a:t>
            </a:r>
          </a:p>
        </p:txBody>
      </p:sp>
      <p:sp>
        <p:nvSpPr>
          <p:cNvPr id="15364" name="Rectangle 5">
            <a:extLst>
              <a:ext uri="{FF2B5EF4-FFF2-40B4-BE49-F238E27FC236}">
                <a16:creationId xmlns:a16="http://schemas.microsoft.com/office/drawing/2014/main" id="{472CA914-9F1D-F8EF-37A5-A11CE9458B40}"/>
              </a:ext>
            </a:extLst>
          </p:cNvPr>
          <p:cNvSpPr>
            <a:spLocks noChangeArrowheads="1"/>
          </p:cNvSpPr>
          <p:nvPr/>
        </p:nvSpPr>
        <p:spPr bwMode="auto">
          <a:xfrm>
            <a:off x="346075" y="1450305"/>
            <a:ext cx="8367713" cy="71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dirty="0"/>
              <a:t>     </a:t>
            </a:r>
            <a:r>
              <a:rPr lang="zh-CN" altLang="en-US" sz="2400" b="1" dirty="0">
                <a:latin typeface="+mn-ea"/>
                <a:ea typeface="+mn-ea"/>
              </a:rPr>
              <a:t>电励磁电机转子通过直流励磁产生稳定磁密</a:t>
            </a:r>
            <a:r>
              <a:rPr lang="en-US" altLang="zh-CN" sz="2400" b="1" dirty="0">
                <a:latin typeface="+mn-ea"/>
                <a:ea typeface="+mn-ea"/>
              </a:rPr>
              <a:t>B</a:t>
            </a:r>
            <a:r>
              <a:rPr lang="en-US" altLang="zh-CN" sz="2400" b="1" baseline="-25000" dirty="0">
                <a:latin typeface="+mn-ea"/>
                <a:ea typeface="+mn-ea"/>
              </a:rPr>
              <a:t>R</a:t>
            </a:r>
            <a:r>
              <a:rPr lang="zh-CN" altLang="en-US" sz="2400" b="1" dirty="0">
                <a:latin typeface="+mn-ea"/>
                <a:ea typeface="+mn-ea"/>
              </a:rPr>
              <a:t>，定子绕组通入三相交流电形成旋转磁密</a:t>
            </a:r>
            <a:r>
              <a:rPr lang="en-US" altLang="zh-CN" sz="2400" b="1" dirty="0">
                <a:latin typeface="+mn-ea"/>
                <a:ea typeface="+mn-ea"/>
              </a:rPr>
              <a:t>B</a:t>
            </a:r>
            <a:r>
              <a:rPr lang="en-US" altLang="zh-CN" sz="2400" b="1" baseline="-25000" dirty="0">
                <a:latin typeface="+mn-ea"/>
                <a:ea typeface="+mn-ea"/>
              </a:rPr>
              <a:t>a</a:t>
            </a:r>
            <a:r>
              <a:rPr lang="en-US" altLang="zh-CN" sz="2400" b="1" dirty="0">
                <a:latin typeface="+mn-ea"/>
                <a:ea typeface="+mn-ea"/>
              </a:rPr>
              <a:t>,</a:t>
            </a:r>
            <a:r>
              <a:rPr lang="zh-CN" altLang="en-US" sz="2400" b="1" dirty="0">
                <a:latin typeface="+mn-ea"/>
                <a:ea typeface="+mn-ea"/>
              </a:rPr>
              <a:t>并与</a:t>
            </a:r>
            <a:r>
              <a:rPr lang="en-US" altLang="zh-CN" sz="2400" b="1" dirty="0">
                <a:latin typeface="+mn-ea"/>
                <a:ea typeface="+mn-ea"/>
              </a:rPr>
              <a:t>B</a:t>
            </a:r>
            <a:r>
              <a:rPr lang="en-US" altLang="zh-CN" sz="2400" b="1" baseline="-25000" dirty="0">
                <a:latin typeface="+mn-ea"/>
                <a:ea typeface="+mn-ea"/>
              </a:rPr>
              <a:t>R</a:t>
            </a:r>
            <a:r>
              <a:rPr lang="zh-CN" altLang="en-US" sz="2400" b="1" dirty="0">
                <a:latin typeface="+mn-ea"/>
                <a:ea typeface="+mn-ea"/>
              </a:rPr>
              <a:t>和漏磁密</a:t>
            </a:r>
            <a:r>
              <a:rPr lang="en-US" altLang="zh-CN" sz="2400" b="1" dirty="0">
                <a:latin typeface="+mn-ea"/>
                <a:ea typeface="+mn-ea"/>
              </a:rPr>
              <a:t>B</a:t>
            </a:r>
            <a:r>
              <a:rPr lang="en-US" altLang="zh-CN" sz="2400" b="1" baseline="-25000" dirty="0">
                <a:latin typeface="+mn-ea"/>
                <a:ea typeface="+mn-ea"/>
              </a:rPr>
              <a:t>s</a:t>
            </a:r>
            <a:r>
              <a:rPr lang="zh-CN" altLang="en-US" sz="2400" b="1" dirty="0">
                <a:latin typeface="+mn-ea"/>
                <a:ea typeface="+mn-ea"/>
              </a:rPr>
              <a:t>合成</a:t>
            </a:r>
            <a:r>
              <a:rPr lang="zh-CN" altLang="en-US" sz="2400" b="1" dirty="0">
                <a:latin typeface="Symbol" panose="05050102010706020507" pitchFamily="18" charset="2"/>
                <a:ea typeface="黑体" panose="02010609060101010101" pitchFamily="49" charset="-122"/>
              </a:rPr>
              <a:t>为</a:t>
            </a:r>
            <a:r>
              <a:rPr lang="en-US" altLang="zh-CN" sz="2400" b="1" dirty="0">
                <a:ea typeface="黑体" panose="02010609060101010101" pitchFamily="49" charset="-122"/>
              </a:rPr>
              <a:t>B</a:t>
            </a:r>
            <a:r>
              <a:rPr lang="en-US" altLang="zh-CN" sz="2400" b="1" baseline="-25000" dirty="0">
                <a:latin typeface="Times New Roman" panose="02020603050405020304" pitchFamily="18" charset="0"/>
                <a:ea typeface="黑体" panose="02010609060101010101" pitchFamily="49" charset="-122"/>
              </a:rPr>
              <a:t>s</a:t>
            </a:r>
            <a:r>
              <a:rPr lang="en-US" altLang="zh-CN" sz="2400" b="1" dirty="0">
                <a:latin typeface="Times New Roman" panose="02020603050405020304" pitchFamily="18" charset="0"/>
                <a:ea typeface="黑体" panose="02010609060101010101" pitchFamily="49" charset="-122"/>
              </a:rPr>
              <a:t>(</a:t>
            </a:r>
            <a:r>
              <a:rPr lang="en-US" altLang="zh-CN" sz="2400" b="1" dirty="0" err="1">
                <a:ea typeface="黑体" panose="02010609060101010101" pitchFamily="49" charset="-122"/>
              </a:rPr>
              <a:t>B</a:t>
            </a:r>
            <a:r>
              <a:rPr lang="en-US" altLang="zh-CN" sz="2400" b="1" baseline="-25000" dirty="0" err="1">
                <a:latin typeface="Times New Roman" panose="02020603050405020304" pitchFamily="18" charset="0"/>
                <a:ea typeface="黑体" panose="02010609060101010101" pitchFamily="49" charset="-122"/>
              </a:rPr>
              <a:t>net</a:t>
            </a:r>
            <a:r>
              <a:rPr lang="en-US" altLang="zh-CN" sz="2400" b="1" dirty="0">
                <a:latin typeface="Times New Roman" panose="02020603050405020304" pitchFamily="18" charset="0"/>
                <a:ea typeface="黑体" panose="02010609060101010101" pitchFamily="49" charset="-122"/>
              </a:rPr>
              <a:t>)</a:t>
            </a:r>
            <a:r>
              <a:rPr lang="zh-CN" altLang="en-US" sz="2400" b="1" baseline="-25000" dirty="0">
                <a:latin typeface="Times New Roman" panose="02020603050405020304" pitchFamily="18" charset="0"/>
                <a:ea typeface="黑体" panose="02010609060101010101" pitchFamily="49" charset="-122"/>
              </a:rPr>
              <a:t>。</a:t>
            </a:r>
          </a:p>
        </p:txBody>
      </p:sp>
      <p:sp>
        <p:nvSpPr>
          <p:cNvPr id="15365" name="Text Box 6">
            <a:extLst>
              <a:ext uri="{FF2B5EF4-FFF2-40B4-BE49-F238E27FC236}">
                <a16:creationId xmlns:a16="http://schemas.microsoft.com/office/drawing/2014/main" id="{AFE845A6-DFA4-5793-18A7-9DFEE0CE4AF1}"/>
              </a:ext>
            </a:extLst>
          </p:cNvPr>
          <p:cNvSpPr txBox="1">
            <a:spLocks noChangeArrowheads="1"/>
          </p:cNvSpPr>
          <p:nvPr/>
        </p:nvSpPr>
        <p:spPr bwMode="auto">
          <a:xfrm>
            <a:off x="181522" y="3067030"/>
            <a:ext cx="4752975" cy="2419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Font typeface="Wingdings" panose="05000000000000000000" pitchFamily="2" charset="2"/>
              <a:buNone/>
            </a:pPr>
            <a:r>
              <a:rPr kumimoji="1" lang="en-US" altLang="zh-CN" dirty="0">
                <a:latin typeface="Times New Roman" panose="02020603050405020304" pitchFamily="18" charset="0"/>
              </a:rPr>
              <a:t>          </a:t>
            </a:r>
            <a:r>
              <a:rPr kumimoji="1" lang="zh-CN" altLang="en-US" b="1" dirty="0">
                <a:latin typeface="Times New Roman" panose="02020603050405020304" pitchFamily="18" charset="0"/>
                <a:ea typeface="黑体" panose="02010609060101010101" pitchFamily="49" charset="-122"/>
              </a:rPr>
              <a:t>两个磁场相互作用，定子磁场旋转时，磁力使转子磁场试图跟随旋转。两个磁场磁极间的夹角越大，作用于转子磁极的转矩也越大。转子磁极不断追赶定子旋转磁场磁极但</a:t>
            </a:r>
            <a:r>
              <a:rPr kumimoji="1" lang="zh-CN" altLang="en-US" b="1" dirty="0">
                <a:solidFill>
                  <a:srgbClr val="FF0000"/>
                </a:solidFill>
                <a:latin typeface="Times New Roman" panose="02020603050405020304" pitchFamily="18" charset="0"/>
                <a:ea typeface="黑体" panose="02010609060101010101" pitchFamily="49" charset="-122"/>
              </a:rPr>
              <a:t>总不能完全追上</a:t>
            </a:r>
            <a:r>
              <a:rPr kumimoji="1" lang="zh-CN" altLang="en-US" b="1" dirty="0">
                <a:latin typeface="Times New Roman" panose="02020603050405020304" pitchFamily="18" charset="0"/>
                <a:ea typeface="黑体" panose="02010609060101010101" pitchFamily="49" charset="-122"/>
              </a:rPr>
              <a:t>。</a:t>
            </a:r>
          </a:p>
        </p:txBody>
      </p:sp>
      <p:pic>
        <p:nvPicPr>
          <p:cNvPr id="15366" name="Picture 8">
            <a:extLst>
              <a:ext uri="{FF2B5EF4-FFF2-40B4-BE49-F238E27FC236}">
                <a16:creationId xmlns:a16="http://schemas.microsoft.com/office/drawing/2014/main" id="{28B98A64-F792-E1A0-83B5-50EF0EEB93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53000" y="2209800"/>
            <a:ext cx="3975100" cy="431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Text Box 9">
            <a:extLst>
              <a:ext uri="{FF2B5EF4-FFF2-40B4-BE49-F238E27FC236}">
                <a16:creationId xmlns:a16="http://schemas.microsoft.com/office/drawing/2014/main" id="{A49A24D3-FD06-97F6-3852-AD9044DF0F1C}"/>
              </a:ext>
            </a:extLst>
          </p:cNvPr>
          <p:cNvSpPr txBox="1">
            <a:spLocks noChangeArrowheads="1"/>
          </p:cNvSpPr>
          <p:nvPr/>
        </p:nvSpPr>
        <p:spPr bwMode="auto">
          <a:xfrm>
            <a:off x="863600" y="230914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zh-CN"/>
          </a:p>
        </p:txBody>
      </p:sp>
      <p:graphicFrame>
        <p:nvGraphicFramePr>
          <p:cNvPr id="15368" name="Object 10">
            <a:extLst>
              <a:ext uri="{FF2B5EF4-FFF2-40B4-BE49-F238E27FC236}">
                <a16:creationId xmlns:a16="http://schemas.microsoft.com/office/drawing/2014/main" id="{C4CFBCE0-EBB3-D93F-213A-73C2B66F3DAA}"/>
              </a:ext>
            </a:extLst>
          </p:cNvPr>
          <p:cNvGraphicFramePr>
            <a:graphicFrameLocks noChangeAspect="1"/>
          </p:cNvGraphicFramePr>
          <p:nvPr>
            <p:extLst>
              <p:ext uri="{D42A27DB-BD31-4B8C-83A1-F6EECF244321}">
                <p14:modId xmlns:p14="http://schemas.microsoft.com/office/powerpoint/2010/main" val="3635080909"/>
              </p:ext>
            </p:extLst>
          </p:nvPr>
        </p:nvGraphicFramePr>
        <p:xfrm>
          <a:off x="1905000" y="2403539"/>
          <a:ext cx="2667000" cy="527050"/>
        </p:xfrm>
        <a:graphic>
          <a:graphicData uri="http://schemas.openxmlformats.org/presentationml/2006/ole">
            <mc:AlternateContent xmlns:mc="http://schemas.openxmlformats.org/markup-compatibility/2006">
              <mc:Choice xmlns:v="urn:schemas-microsoft-com:vml" Requires="v">
                <p:oleObj name="Equation" r:id="rId4" imgW="1155700" imgH="228600" progId="Equation.DSMT4">
                  <p:embed/>
                </p:oleObj>
              </mc:Choice>
              <mc:Fallback>
                <p:oleObj name="Equation" r:id="rId4" imgW="1155700" imgH="228600" progId="Equation.DSMT4">
                  <p:embed/>
                  <p:pic>
                    <p:nvPicPr>
                      <p:cNvPr id="15368" name="Object 10">
                        <a:extLst>
                          <a:ext uri="{FF2B5EF4-FFF2-40B4-BE49-F238E27FC236}">
                            <a16:creationId xmlns:a16="http://schemas.microsoft.com/office/drawing/2014/main" id="{C4CFBCE0-EBB3-D93F-213A-73C2B66F3D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2403539"/>
                        <a:ext cx="2667000"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文本框 1">
            <a:extLst>
              <a:ext uri="{FF2B5EF4-FFF2-40B4-BE49-F238E27FC236}">
                <a16:creationId xmlns:a16="http://schemas.microsoft.com/office/drawing/2014/main" id="{FA4840CD-DBA8-4C18-F958-54421601ABC4}"/>
              </a:ext>
            </a:extLst>
          </p:cNvPr>
          <p:cNvSpPr txBox="1"/>
          <p:nvPr/>
        </p:nvSpPr>
        <p:spPr>
          <a:xfrm>
            <a:off x="511571" y="5494966"/>
            <a:ext cx="4250929" cy="1200329"/>
          </a:xfrm>
          <a:prstGeom prst="rect">
            <a:avLst/>
          </a:prstGeom>
          <a:noFill/>
        </p:spPr>
        <p:txBody>
          <a:bodyPr wrap="square" rtlCol="0">
            <a:spAutoFit/>
          </a:bodyPr>
          <a:lstStyle/>
          <a:p>
            <a:r>
              <a:rPr kumimoji="1" lang="zh-CN" altLang="en-US" sz="2400" b="1" dirty="0">
                <a:latin typeface="Times New Roman" panose="02020603050405020304" pitchFamily="18" charset="0"/>
                <a:ea typeface="黑体" panose="02010609060101010101" pitchFamily="49" charset="-122"/>
              </a:rPr>
              <a:t>同步电动机的物理结构和同步发电机相同，可利用之前关于转速、转矩、功率的分析结果。</a:t>
            </a:r>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a:extLst>
              <a:ext uri="{FF2B5EF4-FFF2-40B4-BE49-F238E27FC236}">
                <a16:creationId xmlns:a16="http://schemas.microsoft.com/office/drawing/2014/main" id="{39462618-BDD5-D1C2-D16E-330D6E86243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CFB1552-CA36-405D-9559-7ED52FBC5889}" type="slidenum">
              <a:rPr lang="en-US" altLang="zh-CN" sz="1400"/>
              <a:pPr/>
              <a:t>3</a:t>
            </a:fld>
            <a:endParaRPr lang="en-US" altLang="zh-CN" sz="1400"/>
          </a:p>
        </p:txBody>
      </p:sp>
      <p:sp>
        <p:nvSpPr>
          <p:cNvPr id="17411" name="Rectangle 2">
            <a:extLst>
              <a:ext uri="{FF2B5EF4-FFF2-40B4-BE49-F238E27FC236}">
                <a16:creationId xmlns:a16="http://schemas.microsoft.com/office/drawing/2014/main" id="{7F701E2E-219E-2838-CCFD-29306CA11932}"/>
              </a:ext>
            </a:extLst>
          </p:cNvPr>
          <p:cNvSpPr>
            <a:spLocks noGrp="1" noChangeArrowheads="1"/>
          </p:cNvSpPr>
          <p:nvPr>
            <p:ph type="title"/>
          </p:nvPr>
        </p:nvSpPr>
        <p:spPr>
          <a:xfrm>
            <a:off x="1908676" y="651668"/>
            <a:ext cx="4679950" cy="792163"/>
          </a:xfrm>
        </p:spPr>
        <p:txBody>
          <a:bodyPr/>
          <a:lstStyle/>
          <a:p>
            <a:pPr eaLnBrk="1" hangingPunct="1"/>
            <a:r>
              <a:rPr lang="zh-CN" altLang="en-US" sz="3200" dirty="0">
                <a:solidFill>
                  <a:srgbClr val="0000FF"/>
                </a:solidFill>
                <a:ea typeface="黑体" panose="02010609060101010101" pitchFamily="49" charset="-122"/>
              </a:rPr>
              <a:t>一、同步电机的可逆原理</a:t>
            </a:r>
          </a:p>
        </p:txBody>
      </p:sp>
      <p:sp>
        <p:nvSpPr>
          <p:cNvPr id="58374" name="Text Box 6">
            <a:extLst>
              <a:ext uri="{FF2B5EF4-FFF2-40B4-BE49-F238E27FC236}">
                <a16:creationId xmlns:a16="http://schemas.microsoft.com/office/drawing/2014/main" id="{CA1CA961-8F9E-2EF4-6220-6D19ADDF1700}"/>
              </a:ext>
            </a:extLst>
          </p:cNvPr>
          <p:cNvSpPr txBox="1">
            <a:spLocks noChangeArrowheads="1"/>
          </p:cNvSpPr>
          <p:nvPr/>
        </p:nvSpPr>
        <p:spPr bwMode="auto">
          <a:xfrm>
            <a:off x="403225" y="1470079"/>
            <a:ext cx="83597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       </a:t>
            </a:r>
            <a:r>
              <a:rPr lang="zh-CN" altLang="en-US" sz="2800" b="1">
                <a:ea typeface="楷体_GB2312" pitchFamily="49" charset="-122"/>
              </a:rPr>
              <a:t>同步电机的运行是可逆的，既可以用作发电机，还可以用作电动机。</a:t>
            </a:r>
          </a:p>
        </p:txBody>
      </p:sp>
      <p:sp>
        <p:nvSpPr>
          <p:cNvPr id="58373" name="Text Box 5">
            <a:extLst>
              <a:ext uri="{FF2B5EF4-FFF2-40B4-BE49-F238E27FC236}">
                <a16:creationId xmlns:a16="http://schemas.microsoft.com/office/drawing/2014/main" id="{A8303C91-CDCF-8B75-A80B-ED3BEC4213EC}"/>
              </a:ext>
            </a:extLst>
          </p:cNvPr>
          <p:cNvSpPr txBox="1">
            <a:spLocks noChangeArrowheads="1"/>
          </p:cNvSpPr>
          <p:nvPr/>
        </p:nvSpPr>
        <p:spPr bwMode="auto">
          <a:xfrm>
            <a:off x="838200" y="5154666"/>
            <a:ext cx="78486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        </a:t>
            </a:r>
            <a:r>
              <a:rPr lang="zh-CN" altLang="en-US" sz="2800" b="1">
                <a:latin typeface="楷体_GB2312" pitchFamily="49" charset="-122"/>
                <a:ea typeface="楷体_GB2312" pitchFamily="49" charset="-122"/>
              </a:rPr>
              <a:t>转子磁极轴线超前定子合成磁极轴线，</a:t>
            </a:r>
            <a:r>
              <a:rPr lang="el-GR" altLang="zh-CN" sz="2800" b="1">
                <a:solidFill>
                  <a:srgbClr val="FF0000"/>
                </a:solidFill>
                <a:latin typeface="楷体_GB2312" pitchFamily="49" charset="-122"/>
                <a:ea typeface="楷体_GB2312" pitchFamily="49" charset="-122"/>
                <a:cs typeface="Arial" panose="020B0604020202020204" pitchFamily="34" charset="0"/>
              </a:rPr>
              <a:t>δ</a:t>
            </a:r>
            <a:r>
              <a:rPr lang="en-US" altLang="zh-CN" sz="2800" b="1">
                <a:solidFill>
                  <a:srgbClr val="FF0000"/>
                </a:solidFill>
                <a:latin typeface="楷体_GB2312" pitchFamily="49" charset="-122"/>
                <a:ea typeface="楷体_GB2312" pitchFamily="49" charset="-122"/>
                <a:cs typeface="Arial" panose="020B0604020202020204" pitchFamily="34" charset="0"/>
              </a:rPr>
              <a:t>&gt;0(</a:t>
            </a:r>
            <a:r>
              <a:rPr lang="zh-CN" altLang="en-US" sz="2800" b="1">
                <a:solidFill>
                  <a:srgbClr val="FF0000"/>
                </a:solidFill>
                <a:latin typeface="楷体_GB2312" pitchFamily="49" charset="-122"/>
                <a:ea typeface="楷体_GB2312" pitchFamily="49" charset="-122"/>
                <a:cs typeface="Arial" panose="020B0604020202020204" pitchFamily="34" charset="0"/>
              </a:rPr>
              <a:t>以电压为</a:t>
            </a:r>
            <a:r>
              <a:rPr lang="en-US" altLang="zh-CN" sz="2800" b="1">
                <a:solidFill>
                  <a:srgbClr val="FF0000"/>
                </a:solidFill>
                <a:latin typeface="楷体_GB2312" pitchFamily="49" charset="-122"/>
                <a:ea typeface="楷体_GB2312" pitchFamily="49" charset="-122"/>
                <a:cs typeface="Arial" panose="020B0604020202020204" pitchFamily="34" charset="0"/>
              </a:rPr>
              <a:t>0</a:t>
            </a:r>
            <a:r>
              <a:rPr lang="zh-CN" altLang="en-US" sz="2800" b="1">
                <a:solidFill>
                  <a:srgbClr val="FF0000"/>
                </a:solidFill>
                <a:latin typeface="楷体_GB2312" pitchFamily="49" charset="-122"/>
                <a:ea typeface="楷体_GB2312" pitchFamily="49" charset="-122"/>
                <a:cs typeface="Arial" panose="020B0604020202020204" pitchFamily="34" charset="0"/>
              </a:rPr>
              <a:t>度基准相位）</a:t>
            </a:r>
            <a:r>
              <a:rPr lang="zh-CN" altLang="en-US" sz="2800" b="1">
                <a:latin typeface="楷体_GB2312" pitchFamily="49" charset="-122"/>
                <a:ea typeface="楷体_GB2312" pitchFamily="49" charset="-122"/>
                <a:cs typeface="Arial" panose="020B0604020202020204" pitchFamily="34" charset="0"/>
              </a:rPr>
              <a:t>，电机把机械能转变成电能。</a:t>
            </a:r>
            <a:endParaRPr lang="zh-CN" altLang="el-GR" sz="2800" b="1">
              <a:latin typeface="楷体_GB2312" pitchFamily="49" charset="-122"/>
              <a:ea typeface="楷体_GB2312" pitchFamily="49" charset="-122"/>
              <a:cs typeface="Arial" panose="020B0604020202020204" pitchFamily="34" charset="0"/>
            </a:endParaRPr>
          </a:p>
        </p:txBody>
      </p:sp>
      <p:sp>
        <p:nvSpPr>
          <p:cNvPr id="17414" name="Rectangle 12">
            <a:extLst>
              <a:ext uri="{FF2B5EF4-FFF2-40B4-BE49-F238E27FC236}">
                <a16:creationId xmlns:a16="http://schemas.microsoft.com/office/drawing/2014/main" id="{19321AD3-2A3E-3C50-7250-1660113FCCBC}"/>
              </a:ext>
            </a:extLst>
          </p:cNvPr>
          <p:cNvSpPr>
            <a:spLocks noChangeArrowheads="1"/>
          </p:cNvSpPr>
          <p:nvPr/>
        </p:nvSpPr>
        <p:spPr bwMode="auto">
          <a:xfrm>
            <a:off x="2509838" y="2914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58381" name="Group 13">
            <a:extLst>
              <a:ext uri="{FF2B5EF4-FFF2-40B4-BE49-F238E27FC236}">
                <a16:creationId xmlns:a16="http://schemas.microsoft.com/office/drawing/2014/main" id="{20361D65-FCD8-EF19-B5BF-41856958CFE8}"/>
              </a:ext>
            </a:extLst>
          </p:cNvPr>
          <p:cNvGrpSpPr>
            <a:grpSpLocks/>
          </p:cNvGrpSpPr>
          <p:nvPr/>
        </p:nvGrpSpPr>
        <p:grpSpPr bwMode="auto">
          <a:xfrm>
            <a:off x="381000" y="2563866"/>
            <a:ext cx="8458200" cy="2568575"/>
            <a:chOff x="144" y="1488"/>
            <a:chExt cx="5328" cy="1618"/>
          </a:xfrm>
        </p:grpSpPr>
        <p:sp>
          <p:nvSpPr>
            <p:cNvPr id="17416" name="Text Box 4">
              <a:extLst>
                <a:ext uri="{FF2B5EF4-FFF2-40B4-BE49-F238E27FC236}">
                  <a16:creationId xmlns:a16="http://schemas.microsoft.com/office/drawing/2014/main" id="{DF9AB846-F152-52FB-FE41-7D419FA38566}"/>
                </a:ext>
              </a:extLst>
            </p:cNvPr>
            <p:cNvSpPr txBox="1">
              <a:spLocks noChangeArrowheads="1"/>
            </p:cNvSpPr>
            <p:nvPr/>
          </p:nvSpPr>
          <p:spPr bwMode="auto">
            <a:xfrm>
              <a:off x="144" y="1488"/>
              <a:ext cx="50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a:t> </a:t>
              </a:r>
              <a:r>
                <a:rPr lang="zh-CN" altLang="en-US" sz="2800" b="1" dirty="0"/>
                <a:t>（</a:t>
              </a:r>
              <a:r>
                <a:rPr lang="en-US" altLang="zh-CN" sz="2800" b="1" dirty="0"/>
                <a:t>1</a:t>
              </a:r>
              <a:r>
                <a:rPr lang="zh-CN" altLang="en-US" sz="2800" b="1" dirty="0"/>
                <a:t>）</a:t>
              </a:r>
              <a:r>
                <a:rPr lang="zh-CN" altLang="en-US" sz="2800" b="1" dirty="0">
                  <a:ea typeface="楷体_GB2312" pitchFamily="49" charset="-122"/>
                </a:rPr>
                <a:t>同步电机运行于</a:t>
              </a:r>
              <a:r>
                <a:rPr lang="zh-CN" altLang="en-US" sz="2800" b="1" dirty="0">
                  <a:solidFill>
                    <a:srgbClr val="FF0000"/>
                  </a:solidFill>
                  <a:ea typeface="楷体_GB2312" pitchFamily="49" charset="-122"/>
                </a:rPr>
                <a:t>发电机</a:t>
              </a:r>
              <a:r>
                <a:rPr lang="zh-CN" altLang="en-US" sz="2800" b="1" dirty="0">
                  <a:ea typeface="楷体_GB2312" pitchFamily="49" charset="-122"/>
                </a:rPr>
                <a:t>状态时，如图所示</a:t>
              </a:r>
              <a:r>
                <a:rPr lang="zh-CN" altLang="en-US" b="1" dirty="0">
                  <a:ea typeface="楷体_GB2312" pitchFamily="49" charset="-122"/>
                </a:rPr>
                <a:t>。</a:t>
              </a:r>
            </a:p>
          </p:txBody>
        </p:sp>
        <p:pic>
          <p:nvPicPr>
            <p:cNvPr id="17417" name="Picture 11">
              <a:extLst>
                <a:ext uri="{FF2B5EF4-FFF2-40B4-BE49-F238E27FC236}">
                  <a16:creationId xmlns:a16="http://schemas.microsoft.com/office/drawing/2014/main" id="{1BC6827E-62A5-9D78-4F75-499A6A500C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 y="1824"/>
              <a:ext cx="5136" cy="1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58374"/>
                                        </p:tgtEl>
                                        <p:attrNameLst>
                                          <p:attrName>style.visibility</p:attrName>
                                        </p:attrNameLst>
                                      </p:cBhvr>
                                      <p:to>
                                        <p:strVal val="visible"/>
                                      </p:to>
                                    </p:set>
                                    <p:anim calcmode="lin" valueType="num">
                                      <p:cBhvr>
                                        <p:cTn id="7" dur="500" fill="hold"/>
                                        <p:tgtEl>
                                          <p:spTgt spid="58374"/>
                                        </p:tgtEl>
                                        <p:attrNameLst>
                                          <p:attrName>ppt_w</p:attrName>
                                        </p:attrNameLst>
                                      </p:cBhvr>
                                      <p:tavLst>
                                        <p:tav tm="0">
                                          <p:val>
                                            <p:fltVal val="0"/>
                                          </p:val>
                                        </p:tav>
                                        <p:tav tm="100000">
                                          <p:val>
                                            <p:strVal val="#ppt_w"/>
                                          </p:val>
                                        </p:tav>
                                      </p:tavLst>
                                    </p:anim>
                                    <p:anim calcmode="lin" valueType="num">
                                      <p:cBhvr>
                                        <p:cTn id="8" dur="500" fill="hold"/>
                                        <p:tgtEl>
                                          <p:spTgt spid="5837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58381"/>
                                        </p:tgtEl>
                                        <p:attrNameLst>
                                          <p:attrName>style.visibility</p:attrName>
                                        </p:attrNameLst>
                                      </p:cBhvr>
                                      <p:to>
                                        <p:strVal val="visible"/>
                                      </p:to>
                                    </p:set>
                                    <p:animEffect transition="in" filter="dissolve">
                                      <p:cBhvr>
                                        <p:cTn id="13" dur="500"/>
                                        <p:tgtEl>
                                          <p:spTgt spid="5838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nodeType="clickEffect">
                                  <p:stCondLst>
                                    <p:cond delay="0"/>
                                  </p:stCondLst>
                                  <p:childTnLst>
                                    <p:set>
                                      <p:cBhvr>
                                        <p:cTn id="17" dur="1" fill="hold">
                                          <p:stCondLst>
                                            <p:cond delay="0"/>
                                          </p:stCondLst>
                                        </p:cTn>
                                        <p:tgtEl>
                                          <p:spTgt spid="58373"/>
                                        </p:tgtEl>
                                        <p:attrNameLst>
                                          <p:attrName>style.visibility</p:attrName>
                                        </p:attrNameLst>
                                      </p:cBhvr>
                                      <p:to>
                                        <p:strVal val="visible"/>
                                      </p:to>
                                    </p:set>
                                    <p:anim calcmode="lin" valueType="num">
                                      <p:cBhvr>
                                        <p:cTn id="18" dur="500" fill="hold"/>
                                        <p:tgtEl>
                                          <p:spTgt spid="58373"/>
                                        </p:tgtEl>
                                        <p:attrNameLst>
                                          <p:attrName>ppt_w</p:attrName>
                                        </p:attrNameLst>
                                      </p:cBhvr>
                                      <p:tavLst>
                                        <p:tav tm="0">
                                          <p:val>
                                            <p:fltVal val="0"/>
                                          </p:val>
                                        </p:tav>
                                        <p:tav tm="100000">
                                          <p:val>
                                            <p:strVal val="#ppt_w"/>
                                          </p:val>
                                        </p:tav>
                                      </p:tavLst>
                                    </p:anim>
                                    <p:anim calcmode="lin" valueType="num">
                                      <p:cBhvr>
                                        <p:cTn id="19" dur="500" fill="hold"/>
                                        <p:tgtEl>
                                          <p:spTgt spid="5837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4"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a:extLst>
              <a:ext uri="{FF2B5EF4-FFF2-40B4-BE49-F238E27FC236}">
                <a16:creationId xmlns:a16="http://schemas.microsoft.com/office/drawing/2014/main" id="{ED6C22F7-F445-FF71-DDCA-84E1DD6038D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993FFA2A-9276-4401-B6DF-7792220A8721}" type="slidenum">
              <a:rPr lang="en-US" altLang="zh-CN" sz="1400"/>
              <a:pPr/>
              <a:t>4</a:t>
            </a:fld>
            <a:endParaRPr lang="en-US" altLang="zh-CN" sz="1400"/>
          </a:p>
        </p:txBody>
      </p:sp>
      <p:sp>
        <p:nvSpPr>
          <p:cNvPr id="18435" name="Rectangle 1026">
            <a:extLst>
              <a:ext uri="{FF2B5EF4-FFF2-40B4-BE49-F238E27FC236}">
                <a16:creationId xmlns:a16="http://schemas.microsoft.com/office/drawing/2014/main" id="{499DB579-D49F-6692-1055-25CC7B195DB0}"/>
              </a:ext>
            </a:extLst>
          </p:cNvPr>
          <p:cNvSpPr>
            <a:spLocks noGrp="1" noChangeArrowheads="1"/>
          </p:cNvSpPr>
          <p:nvPr>
            <p:ph type="title"/>
          </p:nvPr>
        </p:nvSpPr>
        <p:spPr>
          <a:xfrm>
            <a:off x="2644171" y="898922"/>
            <a:ext cx="3754214" cy="633412"/>
          </a:xfrm>
        </p:spPr>
        <p:txBody>
          <a:bodyPr/>
          <a:lstStyle/>
          <a:p>
            <a:pPr eaLnBrk="1" hangingPunct="1"/>
            <a:r>
              <a:rPr lang="zh-CN" altLang="en-US" sz="4800" b="1" dirty="0">
                <a:solidFill>
                  <a:srgbClr val="FF0000"/>
                </a:solidFill>
              </a:rPr>
              <a:t>可逆原理</a:t>
            </a:r>
          </a:p>
        </p:txBody>
      </p:sp>
      <p:sp>
        <p:nvSpPr>
          <p:cNvPr id="18436" name="Text Box 1028">
            <a:extLst>
              <a:ext uri="{FF2B5EF4-FFF2-40B4-BE49-F238E27FC236}">
                <a16:creationId xmlns:a16="http://schemas.microsoft.com/office/drawing/2014/main" id="{76EC7F85-CFE6-6DC0-A007-D07E5CF1D3EB}"/>
              </a:ext>
            </a:extLst>
          </p:cNvPr>
          <p:cNvSpPr txBox="1">
            <a:spLocks noChangeArrowheads="1"/>
          </p:cNvSpPr>
          <p:nvPr/>
        </p:nvSpPr>
        <p:spPr bwMode="auto">
          <a:xfrm>
            <a:off x="463228" y="1713905"/>
            <a:ext cx="80645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t>      </a:t>
            </a:r>
            <a:r>
              <a:rPr lang="zh-CN" altLang="en-US" sz="2800" b="1" dirty="0"/>
              <a:t>（</a:t>
            </a:r>
            <a:r>
              <a:rPr lang="en-US" altLang="zh-CN" sz="2800" b="1" dirty="0"/>
              <a:t>2</a:t>
            </a:r>
            <a:r>
              <a:rPr lang="zh-CN" altLang="en-US" sz="2800" b="1" dirty="0"/>
              <a:t>）</a:t>
            </a:r>
            <a:r>
              <a:rPr lang="en-US" altLang="zh-CN" dirty="0"/>
              <a:t> </a:t>
            </a:r>
            <a:r>
              <a:rPr lang="zh-CN" altLang="en-US" sz="2800" b="1" dirty="0">
                <a:ea typeface="楷体_GB2312" pitchFamily="49" charset="-122"/>
              </a:rPr>
              <a:t>逐步减少发电机的输入功率，转子将瞬时减速，</a:t>
            </a:r>
            <a:r>
              <a:rPr lang="el-GR" altLang="zh-CN" sz="2800" b="1" dirty="0">
                <a:ea typeface="楷体_GB2312" pitchFamily="49" charset="-122"/>
                <a:cs typeface="Arial" panose="020B0604020202020204" pitchFamily="34" charset="0"/>
              </a:rPr>
              <a:t>δ</a:t>
            </a:r>
            <a:r>
              <a:rPr lang="zh-CN" altLang="en-US" sz="2800" b="1" dirty="0">
                <a:ea typeface="楷体_GB2312" pitchFamily="49" charset="-122"/>
                <a:cs typeface="Arial" panose="020B0604020202020204" pitchFamily="34" charset="0"/>
              </a:rPr>
              <a:t>角减小，相应的电磁功率也减少。</a:t>
            </a:r>
            <a:endParaRPr lang="zh-CN" altLang="el-GR" sz="2800" b="1" dirty="0">
              <a:ea typeface="楷体_GB2312" pitchFamily="49" charset="-122"/>
              <a:cs typeface="Arial" panose="020B0604020202020204" pitchFamily="34" charset="0"/>
            </a:endParaRPr>
          </a:p>
        </p:txBody>
      </p:sp>
      <p:sp>
        <p:nvSpPr>
          <p:cNvPr id="59397" name="Text Box 1029">
            <a:extLst>
              <a:ext uri="{FF2B5EF4-FFF2-40B4-BE49-F238E27FC236}">
                <a16:creationId xmlns:a16="http://schemas.microsoft.com/office/drawing/2014/main" id="{6B972662-1039-3E83-B11E-A2FABF6AA246}"/>
              </a:ext>
            </a:extLst>
          </p:cNvPr>
          <p:cNvSpPr txBox="1">
            <a:spLocks noChangeArrowheads="1"/>
          </p:cNvSpPr>
          <p:nvPr/>
        </p:nvSpPr>
        <p:spPr bwMode="auto">
          <a:xfrm>
            <a:off x="323528" y="5157192"/>
            <a:ext cx="8128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       </a:t>
            </a:r>
            <a:r>
              <a:rPr lang="zh-CN" altLang="en-US" sz="2800" b="1">
                <a:ea typeface="楷体_GB2312" pitchFamily="49" charset="-122"/>
              </a:rPr>
              <a:t>当发电机的输入功率只能满足空载损耗时，发电机处于空载运行状态。</a:t>
            </a:r>
          </a:p>
        </p:txBody>
      </p:sp>
      <p:sp>
        <p:nvSpPr>
          <p:cNvPr id="18438" name="Rectangle 1035">
            <a:extLst>
              <a:ext uri="{FF2B5EF4-FFF2-40B4-BE49-F238E27FC236}">
                <a16:creationId xmlns:a16="http://schemas.microsoft.com/office/drawing/2014/main" id="{EBA6B50C-BD8F-5DE8-A0B9-D90DF5371AF2}"/>
              </a:ext>
            </a:extLst>
          </p:cNvPr>
          <p:cNvSpPr>
            <a:spLocks noChangeArrowheads="1"/>
          </p:cNvSpPr>
          <p:nvPr/>
        </p:nvSpPr>
        <p:spPr bwMode="auto">
          <a:xfrm>
            <a:off x="2619375"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18439" name="Picture 1034">
            <a:extLst>
              <a:ext uri="{FF2B5EF4-FFF2-40B4-BE49-F238E27FC236}">
                <a16:creationId xmlns:a16="http://schemas.microsoft.com/office/drawing/2014/main" id="{8EB46D31-5083-2549-C345-FA5B718645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128" y="2871192"/>
            <a:ext cx="8686800"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93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a:extLst>
              <a:ext uri="{FF2B5EF4-FFF2-40B4-BE49-F238E27FC236}">
                <a16:creationId xmlns:a16="http://schemas.microsoft.com/office/drawing/2014/main" id="{D66CF7AB-01C1-1186-8B2C-67C0E3B8691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2CE8610E-F58F-4C6D-BD71-143FBF780CEE}" type="slidenum">
              <a:rPr lang="en-US" altLang="zh-CN" sz="1400"/>
              <a:pPr/>
              <a:t>5</a:t>
            </a:fld>
            <a:endParaRPr lang="en-US" altLang="zh-CN" sz="1400"/>
          </a:p>
        </p:txBody>
      </p:sp>
      <p:sp>
        <p:nvSpPr>
          <p:cNvPr id="19459" name="Rectangle 2">
            <a:extLst>
              <a:ext uri="{FF2B5EF4-FFF2-40B4-BE49-F238E27FC236}">
                <a16:creationId xmlns:a16="http://schemas.microsoft.com/office/drawing/2014/main" id="{B6107C5D-80E5-DD24-99DF-3D882CB81059}"/>
              </a:ext>
            </a:extLst>
          </p:cNvPr>
          <p:cNvSpPr>
            <a:spLocks noGrp="1" noChangeArrowheads="1"/>
          </p:cNvSpPr>
          <p:nvPr>
            <p:ph type="title"/>
          </p:nvPr>
        </p:nvSpPr>
        <p:spPr>
          <a:xfrm>
            <a:off x="7045325" y="1174750"/>
            <a:ext cx="1882775" cy="1012825"/>
          </a:xfrm>
        </p:spPr>
        <p:txBody>
          <a:bodyPr/>
          <a:lstStyle/>
          <a:p>
            <a:pPr eaLnBrk="1" hangingPunct="1"/>
            <a:r>
              <a:rPr lang="zh-CN" altLang="en-US" sz="2800" b="1" dirty="0">
                <a:solidFill>
                  <a:srgbClr val="FF0000"/>
                </a:solidFill>
              </a:rPr>
              <a:t>可逆原理</a:t>
            </a:r>
          </a:p>
        </p:txBody>
      </p:sp>
      <p:sp>
        <p:nvSpPr>
          <p:cNvPr id="19460" name="Text Box 4">
            <a:extLst>
              <a:ext uri="{FF2B5EF4-FFF2-40B4-BE49-F238E27FC236}">
                <a16:creationId xmlns:a16="http://schemas.microsoft.com/office/drawing/2014/main" id="{60810CD5-A412-EA25-D661-EDF69D3231D1}"/>
              </a:ext>
            </a:extLst>
          </p:cNvPr>
          <p:cNvSpPr txBox="1">
            <a:spLocks noChangeArrowheads="1"/>
          </p:cNvSpPr>
          <p:nvPr/>
        </p:nvSpPr>
        <p:spPr bwMode="auto">
          <a:xfrm>
            <a:off x="215900" y="1130299"/>
            <a:ext cx="65659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dirty="0"/>
              <a:t> </a:t>
            </a:r>
            <a:r>
              <a:rPr lang="zh-CN" altLang="en-US" sz="2800" b="1" dirty="0"/>
              <a:t>（</a:t>
            </a:r>
            <a:r>
              <a:rPr lang="en-US" altLang="zh-CN" sz="2800" b="1" dirty="0"/>
              <a:t>3</a:t>
            </a:r>
            <a:r>
              <a:rPr lang="zh-CN" altLang="en-US" sz="2800" b="1" dirty="0"/>
              <a:t>）</a:t>
            </a:r>
            <a:r>
              <a:rPr lang="zh-CN" altLang="en-US" sz="2800" b="1" dirty="0">
                <a:latin typeface="楷体_GB2312" pitchFamily="49" charset="-122"/>
                <a:ea typeface="楷体_GB2312" pitchFamily="49" charset="-122"/>
              </a:rPr>
              <a:t>继续减少发电机的输入功率，则</a:t>
            </a:r>
            <a:r>
              <a:rPr lang="el-GR" altLang="zh-CN" sz="2800" b="1" dirty="0">
                <a:solidFill>
                  <a:srgbClr val="FF0000"/>
                </a:solidFill>
                <a:latin typeface="楷体_GB2312" pitchFamily="49" charset="-122"/>
                <a:ea typeface="楷体_GB2312" pitchFamily="49" charset="-122"/>
                <a:cs typeface="Arial" panose="020B0604020202020204" pitchFamily="34" charset="0"/>
              </a:rPr>
              <a:t>δ</a:t>
            </a:r>
            <a:r>
              <a:rPr lang="zh-CN" altLang="en-US" sz="2800" b="1" dirty="0">
                <a:solidFill>
                  <a:srgbClr val="FF0000"/>
                </a:solidFill>
                <a:latin typeface="楷体_GB2312" pitchFamily="49" charset="-122"/>
                <a:ea typeface="楷体_GB2312" pitchFamily="49" charset="-122"/>
                <a:cs typeface="Arial" panose="020B0604020202020204" pitchFamily="34" charset="0"/>
              </a:rPr>
              <a:t>和 </a:t>
            </a:r>
            <a:r>
              <a:rPr lang="en-US" altLang="zh-CN" sz="2800" b="1" dirty="0">
                <a:solidFill>
                  <a:srgbClr val="FF0000"/>
                </a:solidFill>
                <a:latin typeface="楷体_GB2312" pitchFamily="49" charset="-122"/>
                <a:ea typeface="楷体_GB2312" pitchFamily="49" charset="-122"/>
                <a:cs typeface="Arial" panose="020B0604020202020204" pitchFamily="34" charset="0"/>
              </a:rPr>
              <a:t>P</a:t>
            </a:r>
            <a:r>
              <a:rPr lang="en-US" altLang="zh-CN" sz="2800" b="1" baseline="-25000" dirty="0">
                <a:solidFill>
                  <a:srgbClr val="FF0000"/>
                </a:solidFill>
                <a:latin typeface="楷体_GB2312" pitchFamily="49" charset="-122"/>
                <a:ea typeface="楷体_GB2312" pitchFamily="49" charset="-122"/>
                <a:cs typeface="Arial" panose="020B0604020202020204" pitchFamily="34" charset="0"/>
              </a:rPr>
              <a:t>em</a:t>
            </a:r>
            <a:r>
              <a:rPr lang="zh-CN" altLang="en-US" sz="2800" b="1" dirty="0">
                <a:solidFill>
                  <a:srgbClr val="FF0000"/>
                </a:solidFill>
                <a:latin typeface="楷体_GB2312" pitchFamily="49" charset="-122"/>
                <a:ea typeface="楷体_GB2312" pitchFamily="49" charset="-122"/>
                <a:cs typeface="Arial" panose="020B0604020202020204" pitchFamily="34" charset="0"/>
              </a:rPr>
              <a:t>变为负值</a:t>
            </a:r>
            <a:r>
              <a:rPr lang="zh-CN" altLang="en-US" sz="2800" b="1" dirty="0">
                <a:latin typeface="楷体_GB2312" pitchFamily="49" charset="-122"/>
                <a:ea typeface="楷体_GB2312" pitchFamily="49" charset="-122"/>
                <a:cs typeface="Arial" panose="020B0604020202020204" pitchFamily="34" charset="0"/>
              </a:rPr>
              <a:t>。</a:t>
            </a:r>
            <a:r>
              <a:rPr lang="zh-CN" altLang="en-US" sz="2800" b="1" dirty="0">
                <a:latin typeface="楷体_GB2312" pitchFamily="49" charset="-122"/>
                <a:ea typeface="楷体_GB2312" pitchFamily="49" charset="-122"/>
              </a:rPr>
              <a:t>卸掉原动机，电机开始从定子供电侧吸收功率满足空载损耗，成为空转的电动机。</a:t>
            </a:r>
            <a:endParaRPr lang="zh-CN" altLang="el-GR" sz="2800" b="1" dirty="0">
              <a:latin typeface="楷体_GB2312" pitchFamily="49" charset="-122"/>
              <a:ea typeface="楷体_GB2312" pitchFamily="49" charset="-122"/>
            </a:endParaRPr>
          </a:p>
        </p:txBody>
      </p:sp>
      <p:sp>
        <p:nvSpPr>
          <p:cNvPr id="60421" name="Text Box 5">
            <a:extLst>
              <a:ext uri="{FF2B5EF4-FFF2-40B4-BE49-F238E27FC236}">
                <a16:creationId xmlns:a16="http://schemas.microsoft.com/office/drawing/2014/main" id="{7B09EAF5-38C0-E508-85A5-9069BB37C736}"/>
              </a:ext>
            </a:extLst>
          </p:cNvPr>
          <p:cNvSpPr txBox="1">
            <a:spLocks noChangeArrowheads="1"/>
          </p:cNvSpPr>
          <p:nvPr/>
        </p:nvSpPr>
        <p:spPr bwMode="auto">
          <a:xfrm>
            <a:off x="393700" y="4952763"/>
            <a:ext cx="82931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t>（</a:t>
            </a:r>
            <a:r>
              <a:rPr lang="en-US" altLang="zh-CN" sz="2800" b="1" dirty="0"/>
              <a:t>4</a:t>
            </a:r>
            <a:r>
              <a:rPr lang="zh-CN" altLang="en-US" sz="2800" b="1" dirty="0"/>
              <a:t>）</a:t>
            </a:r>
            <a:r>
              <a:rPr lang="en-US" altLang="zh-CN" sz="2800" b="1" dirty="0"/>
              <a:t> </a:t>
            </a:r>
            <a:r>
              <a:rPr lang="zh-CN" altLang="en-US" sz="2800" b="1" dirty="0">
                <a:ea typeface="楷体_GB2312" pitchFamily="49" charset="-122"/>
              </a:rPr>
              <a:t>电机轴上加上机械负载，</a:t>
            </a:r>
            <a:r>
              <a:rPr lang="zh-CN" altLang="en-US" sz="2800" b="1" dirty="0">
                <a:solidFill>
                  <a:srgbClr val="FF0000"/>
                </a:solidFill>
                <a:ea typeface="楷体_GB2312" pitchFamily="49" charset="-122"/>
              </a:rPr>
              <a:t>负值的</a:t>
            </a:r>
            <a:r>
              <a:rPr lang="el-GR" altLang="zh-CN" sz="2800" b="1" dirty="0">
                <a:solidFill>
                  <a:srgbClr val="FF0000"/>
                </a:solidFill>
                <a:latin typeface="楷体_GB2312" pitchFamily="49" charset="-122"/>
                <a:ea typeface="楷体_GB2312" pitchFamily="49" charset="-122"/>
                <a:cs typeface="Arial" panose="020B0604020202020204" pitchFamily="34" charset="0"/>
              </a:rPr>
              <a:t>δ</a:t>
            </a:r>
            <a:r>
              <a:rPr lang="zh-CN" altLang="en-US" sz="2800" b="1" dirty="0">
                <a:solidFill>
                  <a:srgbClr val="FF0000"/>
                </a:solidFill>
                <a:ea typeface="楷体_GB2312" pitchFamily="49" charset="-122"/>
                <a:cs typeface="Arial" panose="020B0604020202020204" pitchFamily="34" charset="0"/>
              </a:rPr>
              <a:t>增大</a:t>
            </a:r>
            <a:r>
              <a:rPr lang="zh-CN" altLang="en-US" sz="2800" b="1" dirty="0">
                <a:ea typeface="楷体_GB2312" pitchFamily="49" charset="-122"/>
                <a:cs typeface="Arial" panose="020B0604020202020204" pitchFamily="34" charset="0"/>
              </a:rPr>
              <a:t>，由供电侧向电机输入的电功率和相应的电磁功率增大，转子磁极轴线落后定子合成磁极轴线，转子受到驱动性质的电磁转矩作用。</a:t>
            </a:r>
            <a:endParaRPr lang="zh-CN" altLang="el-GR" sz="2800" b="1" dirty="0">
              <a:ea typeface="楷体_GB2312" pitchFamily="49" charset="-122"/>
              <a:cs typeface="Arial" panose="020B0604020202020204" pitchFamily="34" charset="0"/>
            </a:endParaRPr>
          </a:p>
        </p:txBody>
      </p:sp>
      <p:sp>
        <p:nvSpPr>
          <p:cNvPr id="19462" name="Rectangle 11">
            <a:extLst>
              <a:ext uri="{FF2B5EF4-FFF2-40B4-BE49-F238E27FC236}">
                <a16:creationId xmlns:a16="http://schemas.microsoft.com/office/drawing/2014/main" id="{5E48A31F-E606-F3DB-094D-267522A91256}"/>
              </a:ext>
            </a:extLst>
          </p:cNvPr>
          <p:cNvSpPr>
            <a:spLocks noChangeArrowheads="1"/>
          </p:cNvSpPr>
          <p:nvPr/>
        </p:nvSpPr>
        <p:spPr bwMode="auto">
          <a:xfrm>
            <a:off x="2747963" y="2957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19463" name="Picture 10">
            <a:extLst>
              <a:ext uri="{FF2B5EF4-FFF2-40B4-BE49-F238E27FC236}">
                <a16:creationId xmlns:a16="http://schemas.microsoft.com/office/drawing/2014/main" id="{61191752-47DC-DD92-F31D-052CE665BF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925762"/>
            <a:ext cx="7543800" cy="194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0421"/>
                                        </p:tgtEl>
                                        <p:attrNameLst>
                                          <p:attrName>style.visibility</p:attrName>
                                        </p:attrNameLst>
                                      </p:cBhvr>
                                      <p:to>
                                        <p:strVal val="visible"/>
                                      </p:to>
                                    </p:set>
                                    <p:animEffect transition="in" filter="dissolve">
                                      <p:cBhvr>
                                        <p:cTn id="7" dur="500"/>
                                        <p:tgtEl>
                                          <p:spTgt spid="60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a:extLst>
              <a:ext uri="{FF2B5EF4-FFF2-40B4-BE49-F238E27FC236}">
                <a16:creationId xmlns:a16="http://schemas.microsoft.com/office/drawing/2014/main" id="{E06A7D88-882E-704B-F6E9-697A039672C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A656CD05-9B24-4ECD-9408-A42B60F12E03}" type="slidenum">
              <a:rPr lang="en-US" altLang="zh-CN" sz="1400"/>
              <a:pPr/>
              <a:t>6</a:t>
            </a:fld>
            <a:endParaRPr lang="en-US" altLang="zh-CN" sz="1400"/>
          </a:p>
        </p:txBody>
      </p:sp>
      <p:sp>
        <p:nvSpPr>
          <p:cNvPr id="20483" name="Rectangle 2">
            <a:extLst>
              <a:ext uri="{FF2B5EF4-FFF2-40B4-BE49-F238E27FC236}">
                <a16:creationId xmlns:a16="http://schemas.microsoft.com/office/drawing/2014/main" id="{2104AB47-7E29-2FAE-D273-FE3164A947D0}"/>
              </a:ext>
            </a:extLst>
          </p:cNvPr>
          <p:cNvSpPr>
            <a:spLocks noGrp="1" noChangeArrowheads="1"/>
          </p:cNvSpPr>
          <p:nvPr>
            <p:ph type="title"/>
          </p:nvPr>
        </p:nvSpPr>
        <p:spPr>
          <a:xfrm>
            <a:off x="457200" y="883097"/>
            <a:ext cx="6923088" cy="706437"/>
          </a:xfrm>
        </p:spPr>
        <p:txBody>
          <a:bodyPr/>
          <a:lstStyle/>
          <a:p>
            <a:pPr eaLnBrk="1" hangingPunct="1"/>
            <a:r>
              <a:rPr lang="zh-CN" altLang="en-US" sz="3200" b="1">
                <a:latin typeface="楷体_GB2312" pitchFamily="49" charset="-122"/>
                <a:ea typeface="楷体_GB2312" pitchFamily="49" charset="-122"/>
              </a:rPr>
              <a:t>二、 隐极同步电动机等值电路</a:t>
            </a:r>
          </a:p>
        </p:txBody>
      </p:sp>
      <p:sp>
        <p:nvSpPr>
          <p:cNvPr id="20484" name="Rectangle 3">
            <a:extLst>
              <a:ext uri="{FF2B5EF4-FFF2-40B4-BE49-F238E27FC236}">
                <a16:creationId xmlns:a16="http://schemas.microsoft.com/office/drawing/2014/main" id="{D42F9D8D-BB2F-0064-4200-B7A189487238}"/>
              </a:ext>
            </a:extLst>
          </p:cNvPr>
          <p:cNvSpPr>
            <a:spLocks noGrp="1" noChangeArrowheads="1"/>
          </p:cNvSpPr>
          <p:nvPr>
            <p:ph type="body" idx="1"/>
          </p:nvPr>
        </p:nvSpPr>
        <p:spPr>
          <a:xfrm>
            <a:off x="457200" y="1589534"/>
            <a:ext cx="8291513" cy="1223963"/>
          </a:xfrm>
        </p:spPr>
        <p:txBody>
          <a:bodyPr/>
          <a:lstStyle/>
          <a:p>
            <a:pPr eaLnBrk="1" hangingPunct="1"/>
            <a:r>
              <a:rPr lang="zh-CN" altLang="en-US" sz="2800" dirty="0"/>
              <a:t>结构与发电机相同，但功率传递方向相反，定子</a:t>
            </a:r>
            <a:r>
              <a:rPr lang="zh-CN" altLang="en-US" sz="2800" b="1" dirty="0">
                <a:solidFill>
                  <a:srgbClr val="FF0000"/>
                </a:solidFill>
              </a:rPr>
              <a:t>电流假定正向方向相反，转子输出为有功机械功率。</a:t>
            </a:r>
            <a:endParaRPr lang="zh-CN" altLang="en-US" b="1" dirty="0">
              <a:solidFill>
                <a:srgbClr val="0000FF"/>
              </a:solidFill>
              <a:ea typeface="楷体_GB2312" pitchFamily="49" charset="-122"/>
            </a:endParaRPr>
          </a:p>
        </p:txBody>
      </p:sp>
      <p:sp>
        <p:nvSpPr>
          <p:cNvPr id="20485" name="Rectangle 5">
            <a:extLst>
              <a:ext uri="{FF2B5EF4-FFF2-40B4-BE49-F238E27FC236}">
                <a16:creationId xmlns:a16="http://schemas.microsoft.com/office/drawing/2014/main" id="{52E9CC4B-BB4D-5B50-5DEA-6C59675B57F6}"/>
              </a:ext>
            </a:extLst>
          </p:cNvPr>
          <p:cNvSpPr>
            <a:spLocks noChangeArrowheads="1"/>
          </p:cNvSpPr>
          <p:nvPr/>
        </p:nvSpPr>
        <p:spPr bwMode="auto">
          <a:xfrm>
            <a:off x="0" y="309924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0486" name="Object 4">
            <a:extLst>
              <a:ext uri="{FF2B5EF4-FFF2-40B4-BE49-F238E27FC236}">
                <a16:creationId xmlns:a16="http://schemas.microsoft.com/office/drawing/2014/main" id="{3645C52D-ED0C-41DB-3D46-FA8AF1572EA9}"/>
              </a:ext>
            </a:extLst>
          </p:cNvPr>
          <p:cNvGraphicFramePr>
            <a:graphicFrameLocks noChangeAspect="1"/>
          </p:cNvGraphicFramePr>
          <p:nvPr>
            <p:extLst>
              <p:ext uri="{D42A27DB-BD31-4B8C-83A1-F6EECF244321}">
                <p14:modId xmlns:p14="http://schemas.microsoft.com/office/powerpoint/2010/main" val="974685700"/>
              </p:ext>
            </p:extLst>
          </p:nvPr>
        </p:nvGraphicFramePr>
        <p:xfrm>
          <a:off x="2195513" y="3461197"/>
          <a:ext cx="3673475" cy="3367087"/>
        </p:xfrm>
        <a:graphic>
          <a:graphicData uri="http://schemas.openxmlformats.org/presentationml/2006/ole">
            <mc:AlternateContent xmlns:mc="http://schemas.openxmlformats.org/markup-compatibility/2006">
              <mc:Choice xmlns:v="urn:schemas-microsoft-com:vml" Requires="v">
                <p:oleObj name="Microsoft Drawing" r:id="rId2" imgW="2044700" imgH="1873250" progId="MSDraw">
                  <p:embed/>
                </p:oleObj>
              </mc:Choice>
              <mc:Fallback>
                <p:oleObj name="Microsoft Drawing" r:id="rId2" imgW="2044700" imgH="1873250" progId="MSDraw">
                  <p:embed/>
                  <p:pic>
                    <p:nvPicPr>
                      <p:cNvPr id="20486" name="Object 4">
                        <a:extLst>
                          <a:ext uri="{FF2B5EF4-FFF2-40B4-BE49-F238E27FC236}">
                            <a16:creationId xmlns:a16="http://schemas.microsoft.com/office/drawing/2014/main" id="{3645C52D-ED0C-41DB-3D46-FA8AF1572E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3461197"/>
                        <a:ext cx="3673475" cy="336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7" name="Rectangle 7">
            <a:extLst>
              <a:ext uri="{FF2B5EF4-FFF2-40B4-BE49-F238E27FC236}">
                <a16:creationId xmlns:a16="http://schemas.microsoft.com/office/drawing/2014/main" id="{D8B2EE55-9F01-015C-636C-106DD989EBBA}"/>
              </a:ext>
            </a:extLst>
          </p:cNvPr>
          <p:cNvSpPr>
            <a:spLocks noChangeArrowheads="1"/>
          </p:cNvSpPr>
          <p:nvPr/>
        </p:nvSpPr>
        <p:spPr bwMode="auto">
          <a:xfrm>
            <a:off x="0" y="393305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0488" name="Object 6">
            <a:extLst>
              <a:ext uri="{FF2B5EF4-FFF2-40B4-BE49-F238E27FC236}">
                <a16:creationId xmlns:a16="http://schemas.microsoft.com/office/drawing/2014/main" id="{67BE1A7B-63F3-3910-8DDD-3CBE5263E701}"/>
              </a:ext>
            </a:extLst>
          </p:cNvPr>
          <p:cNvGraphicFramePr>
            <a:graphicFrameLocks noChangeAspect="1"/>
          </p:cNvGraphicFramePr>
          <p:nvPr>
            <p:extLst>
              <p:ext uri="{D42A27DB-BD31-4B8C-83A1-F6EECF244321}">
                <p14:modId xmlns:p14="http://schemas.microsoft.com/office/powerpoint/2010/main" val="3889253949"/>
              </p:ext>
            </p:extLst>
          </p:nvPr>
        </p:nvGraphicFramePr>
        <p:xfrm>
          <a:off x="2339752" y="2738884"/>
          <a:ext cx="3671888" cy="781050"/>
        </p:xfrm>
        <a:graphic>
          <a:graphicData uri="http://schemas.openxmlformats.org/presentationml/2006/ole">
            <mc:AlternateContent xmlns:mc="http://schemas.openxmlformats.org/markup-compatibility/2006">
              <mc:Choice xmlns:v="urn:schemas-microsoft-com:vml" Requires="v">
                <p:oleObj name="Equation" r:id="rId4" imgW="1472561" imgH="317362" progId="Equation.DSMT4">
                  <p:embed/>
                </p:oleObj>
              </mc:Choice>
              <mc:Fallback>
                <p:oleObj name="Equation" r:id="rId4" imgW="1472561" imgH="317362" progId="Equation.DSMT4">
                  <p:embed/>
                  <p:pic>
                    <p:nvPicPr>
                      <p:cNvPr id="20488" name="Object 6">
                        <a:extLst>
                          <a:ext uri="{FF2B5EF4-FFF2-40B4-BE49-F238E27FC236}">
                            <a16:creationId xmlns:a16="http://schemas.microsoft.com/office/drawing/2014/main" id="{67BE1A7B-63F3-3910-8DDD-3CBE5263E7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752" y="2738884"/>
                        <a:ext cx="3671888"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a:extLst>
              <a:ext uri="{FF2B5EF4-FFF2-40B4-BE49-F238E27FC236}">
                <a16:creationId xmlns:a16="http://schemas.microsoft.com/office/drawing/2014/main" id="{58F26CBB-871B-4BBB-FBF2-272ECC12A27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0044E9D4-2437-41FD-8ABE-4165D35DC012}" type="slidenum">
              <a:rPr lang="en-US" altLang="zh-CN" sz="1400"/>
              <a:pPr/>
              <a:t>7</a:t>
            </a:fld>
            <a:endParaRPr lang="en-US" altLang="zh-CN" sz="1400"/>
          </a:p>
        </p:txBody>
      </p:sp>
      <p:sp>
        <p:nvSpPr>
          <p:cNvPr id="21507" name="Rectangle 2">
            <a:extLst>
              <a:ext uri="{FF2B5EF4-FFF2-40B4-BE49-F238E27FC236}">
                <a16:creationId xmlns:a16="http://schemas.microsoft.com/office/drawing/2014/main" id="{D80B3D0D-9C38-000A-562D-AD3FB8A667B4}"/>
              </a:ext>
            </a:extLst>
          </p:cNvPr>
          <p:cNvSpPr>
            <a:spLocks noGrp="1" noChangeArrowheads="1"/>
          </p:cNvSpPr>
          <p:nvPr>
            <p:ph type="title"/>
          </p:nvPr>
        </p:nvSpPr>
        <p:spPr>
          <a:xfrm>
            <a:off x="474300" y="876771"/>
            <a:ext cx="6851650" cy="706437"/>
          </a:xfrm>
        </p:spPr>
        <p:txBody>
          <a:bodyPr/>
          <a:lstStyle/>
          <a:p>
            <a:pPr eaLnBrk="1" hangingPunct="1"/>
            <a:r>
              <a:rPr lang="zh-CN" altLang="en-US" sz="3200" b="1">
                <a:ea typeface="楷体_GB2312" pitchFamily="49" charset="-122"/>
              </a:rPr>
              <a:t>三、同步电动机的功率与转矩</a:t>
            </a:r>
          </a:p>
        </p:txBody>
      </p:sp>
      <p:sp>
        <p:nvSpPr>
          <p:cNvPr id="21508" name="Rectangle 3">
            <a:extLst>
              <a:ext uri="{FF2B5EF4-FFF2-40B4-BE49-F238E27FC236}">
                <a16:creationId xmlns:a16="http://schemas.microsoft.com/office/drawing/2014/main" id="{8145AE32-B94F-BF5B-F72D-EC9CD9231046}"/>
              </a:ext>
            </a:extLst>
          </p:cNvPr>
          <p:cNvSpPr>
            <a:spLocks noGrp="1" noChangeArrowheads="1"/>
          </p:cNvSpPr>
          <p:nvPr>
            <p:ph type="body" idx="1"/>
          </p:nvPr>
        </p:nvSpPr>
        <p:spPr>
          <a:xfrm>
            <a:off x="474300" y="1799108"/>
            <a:ext cx="8218488" cy="2160588"/>
          </a:xfrm>
        </p:spPr>
        <p:txBody>
          <a:bodyPr/>
          <a:lstStyle/>
          <a:p>
            <a:pPr eaLnBrk="1" hangingPunct="1"/>
            <a:r>
              <a:rPr lang="zh-CN" altLang="en-US" sz="2400" b="1" dirty="0">
                <a:solidFill>
                  <a:srgbClr val="FF0000"/>
                </a:solidFill>
                <a:ea typeface="黑体" panose="02010609060101010101" pitchFamily="49" charset="-122"/>
              </a:rPr>
              <a:t>开环运行</a:t>
            </a:r>
            <a:r>
              <a:rPr lang="zh-CN" altLang="en-US" sz="2400" b="1" dirty="0">
                <a:ea typeface="黑体" panose="02010609060101010101" pitchFamily="49" charset="-122"/>
              </a:rPr>
              <a:t>的同步电动机以恒定的同步转速向负载提供功率。它们的供电系统功率通常远远大于异步电机系统。当对同步电动机供电的电网若</a:t>
            </a:r>
            <a:r>
              <a:rPr lang="zh-CN" altLang="en-US" sz="2400" b="1" dirty="0">
                <a:solidFill>
                  <a:srgbClr val="FF0000"/>
                </a:solidFill>
                <a:ea typeface="黑体" panose="02010609060101010101" pitchFamily="49" charset="-122"/>
              </a:rPr>
              <a:t>可视为无限大电网</a:t>
            </a:r>
            <a:r>
              <a:rPr lang="zh-CN" altLang="en-US" sz="2400" b="1" dirty="0">
                <a:ea typeface="黑体" panose="02010609060101010101" pitchFamily="49" charset="-122"/>
              </a:rPr>
              <a:t>，电压和频率始终保持常数而不受负载影响。电动机的转速从空载到满载稳态下始终保持恒定。</a:t>
            </a:r>
            <a:r>
              <a:rPr lang="zh-CN" altLang="en-US" b="1" dirty="0">
                <a:ea typeface="黑体" panose="02010609060101010101" pitchFamily="49" charset="-122"/>
              </a:rPr>
              <a:t> </a:t>
            </a:r>
          </a:p>
        </p:txBody>
      </p:sp>
      <p:sp>
        <p:nvSpPr>
          <p:cNvPr id="21509" name="Rectangle 5">
            <a:extLst>
              <a:ext uri="{FF2B5EF4-FFF2-40B4-BE49-F238E27FC236}">
                <a16:creationId xmlns:a16="http://schemas.microsoft.com/office/drawing/2014/main" id="{FEC12C21-A5D1-B745-86AD-6C1E756183D1}"/>
              </a:ext>
            </a:extLst>
          </p:cNvPr>
          <p:cNvSpPr>
            <a:spLocks noChangeArrowheads="1"/>
          </p:cNvSpPr>
          <p:nvPr/>
        </p:nvSpPr>
        <p:spPr bwMode="auto">
          <a:xfrm>
            <a:off x="17100" y="320722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1510" name="Object 4">
            <a:extLst>
              <a:ext uri="{FF2B5EF4-FFF2-40B4-BE49-F238E27FC236}">
                <a16:creationId xmlns:a16="http://schemas.microsoft.com/office/drawing/2014/main" id="{BD818B02-B42E-1391-5BF0-5F7F8F631B05}"/>
              </a:ext>
            </a:extLst>
          </p:cNvPr>
          <p:cNvGraphicFramePr>
            <a:graphicFrameLocks noChangeAspect="1"/>
          </p:cNvGraphicFramePr>
          <p:nvPr>
            <p:extLst>
              <p:ext uri="{D42A27DB-BD31-4B8C-83A1-F6EECF244321}">
                <p14:modId xmlns:p14="http://schemas.microsoft.com/office/powerpoint/2010/main" val="2271390249"/>
              </p:ext>
            </p:extLst>
          </p:nvPr>
        </p:nvGraphicFramePr>
        <p:xfrm>
          <a:off x="1133113" y="3959696"/>
          <a:ext cx="7270750" cy="2740025"/>
        </p:xfrm>
        <a:graphic>
          <a:graphicData uri="http://schemas.openxmlformats.org/presentationml/2006/ole">
            <mc:AlternateContent xmlns:mc="http://schemas.openxmlformats.org/markup-compatibility/2006">
              <mc:Choice xmlns:v="urn:schemas-microsoft-com:vml" Requires="v">
                <p:oleObj name="Microsoft Drawing" r:id="rId2" imgW="4368800" imgH="1644650" progId="MSDraw">
                  <p:embed/>
                </p:oleObj>
              </mc:Choice>
              <mc:Fallback>
                <p:oleObj name="Microsoft Drawing" r:id="rId2" imgW="4368800" imgH="1644650" progId="MSDraw">
                  <p:embed/>
                  <p:pic>
                    <p:nvPicPr>
                      <p:cNvPr id="21510" name="Object 4">
                        <a:extLst>
                          <a:ext uri="{FF2B5EF4-FFF2-40B4-BE49-F238E27FC236}">
                            <a16:creationId xmlns:a16="http://schemas.microsoft.com/office/drawing/2014/main" id="{BD818B02-B42E-1391-5BF0-5F7F8F631B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3113" y="3959696"/>
                        <a:ext cx="7270750"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E7268149-4A09-1DAF-4634-9DDE5310BBE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BC1E1A41-C577-4B47-ADB5-75ECE38677F0}" type="slidenum">
              <a:rPr lang="en-US" altLang="zh-CN" sz="1400"/>
              <a:pPr/>
              <a:t>8</a:t>
            </a:fld>
            <a:endParaRPr lang="en-US" altLang="zh-CN" sz="1400"/>
          </a:p>
        </p:txBody>
      </p:sp>
      <p:sp>
        <p:nvSpPr>
          <p:cNvPr id="22531" name="Rectangle 2">
            <a:extLst>
              <a:ext uri="{FF2B5EF4-FFF2-40B4-BE49-F238E27FC236}">
                <a16:creationId xmlns:a16="http://schemas.microsoft.com/office/drawing/2014/main" id="{43A22938-6F7E-9F82-957C-2DD26927EDD9}"/>
              </a:ext>
            </a:extLst>
          </p:cNvPr>
          <p:cNvSpPr>
            <a:spLocks noGrp="1" noChangeArrowheads="1"/>
          </p:cNvSpPr>
          <p:nvPr>
            <p:ph type="title"/>
          </p:nvPr>
        </p:nvSpPr>
        <p:spPr>
          <a:xfrm>
            <a:off x="430852" y="1094319"/>
            <a:ext cx="3322638" cy="706437"/>
          </a:xfrm>
        </p:spPr>
        <p:txBody>
          <a:bodyPr/>
          <a:lstStyle/>
          <a:p>
            <a:pPr eaLnBrk="1" hangingPunct="1"/>
            <a:r>
              <a:rPr lang="zh-CN" altLang="en-US" sz="3200" b="1" dirty="0">
                <a:solidFill>
                  <a:srgbClr val="FF0000"/>
                </a:solidFill>
              </a:rPr>
              <a:t>电磁转矩</a:t>
            </a:r>
          </a:p>
        </p:txBody>
      </p:sp>
      <p:sp>
        <p:nvSpPr>
          <p:cNvPr id="22532" name="Rectangle 3">
            <a:extLst>
              <a:ext uri="{FF2B5EF4-FFF2-40B4-BE49-F238E27FC236}">
                <a16:creationId xmlns:a16="http://schemas.microsoft.com/office/drawing/2014/main" id="{84AB582D-5B58-CCE7-3A59-4A34315C4FDE}"/>
              </a:ext>
            </a:extLst>
          </p:cNvPr>
          <p:cNvSpPr>
            <a:spLocks noGrp="1" noChangeArrowheads="1"/>
          </p:cNvSpPr>
          <p:nvPr>
            <p:ph type="body" idx="1"/>
          </p:nvPr>
        </p:nvSpPr>
        <p:spPr>
          <a:xfrm>
            <a:off x="239355" y="1826988"/>
            <a:ext cx="8893175" cy="2016125"/>
          </a:xfrm>
        </p:spPr>
        <p:txBody>
          <a:bodyPr/>
          <a:lstStyle/>
          <a:p>
            <a:pPr eaLnBrk="1" hangingPunct="1">
              <a:buFontTx/>
              <a:buNone/>
            </a:pPr>
            <a:r>
              <a:rPr lang="zh-CN" altLang="en-US" sz="2800" b="1" dirty="0">
                <a:ea typeface="黑体" panose="02010609060101010101" pitchFamily="49" charset="-122"/>
              </a:rPr>
              <a:t>最大转矩发生在</a:t>
            </a:r>
            <a:r>
              <a:rPr lang="en-US" altLang="zh-CN" sz="2800" dirty="0"/>
              <a:t>-</a:t>
            </a:r>
            <a:r>
              <a:rPr lang="en-US" altLang="zh-CN" sz="2800" dirty="0">
                <a:latin typeface="Symbol" panose="05050102010706020507" pitchFamily="18" charset="2"/>
              </a:rPr>
              <a:t>d</a:t>
            </a:r>
            <a:r>
              <a:rPr lang="en-US" altLang="zh-CN" sz="2800" dirty="0"/>
              <a:t>=90</a:t>
            </a:r>
            <a:r>
              <a:rPr lang="zh-CN" altLang="en-US" sz="2800" b="1" dirty="0">
                <a:ea typeface="黑体" panose="02010609060101010101" pitchFamily="49" charset="-122"/>
              </a:rPr>
              <a:t>度。额定转矩远小于最大转矩。典型值为最大转矩是额定转矩的</a:t>
            </a:r>
            <a:r>
              <a:rPr lang="en-US" altLang="zh-CN" sz="2800" b="1" dirty="0">
                <a:ea typeface="黑体" panose="02010609060101010101" pitchFamily="49" charset="-122"/>
              </a:rPr>
              <a:t>2</a:t>
            </a:r>
            <a:r>
              <a:rPr lang="zh-CN" altLang="en-US" sz="2800" b="1" dirty="0">
                <a:ea typeface="黑体" panose="02010609060101010101" pitchFamily="49" charset="-122"/>
              </a:rPr>
              <a:t>～</a:t>
            </a:r>
            <a:r>
              <a:rPr lang="en-US" altLang="zh-CN" sz="2800" b="1" dirty="0">
                <a:ea typeface="黑体" panose="02010609060101010101" pitchFamily="49" charset="-122"/>
              </a:rPr>
              <a:t>3.5</a:t>
            </a:r>
            <a:r>
              <a:rPr lang="zh-CN" altLang="en-US" sz="2800" b="1" dirty="0">
                <a:ea typeface="黑体" panose="02010609060101010101" pitchFamily="49" charset="-122"/>
              </a:rPr>
              <a:t>倍。额定功角一般为</a:t>
            </a:r>
            <a:r>
              <a:rPr lang="en-US" altLang="zh-CN" sz="2800" b="1" dirty="0">
                <a:ea typeface="黑体" panose="02010609060101010101" pitchFamily="49" charset="-122"/>
              </a:rPr>
              <a:t>-(16.5</a:t>
            </a:r>
            <a:r>
              <a:rPr lang="en-US" altLang="zh-CN" sz="2800" b="1" baseline="30000" dirty="0">
                <a:ea typeface="黑体" panose="02010609060101010101" pitchFamily="49" charset="-122"/>
              </a:rPr>
              <a:t>0</a:t>
            </a:r>
            <a:r>
              <a:rPr lang="en-US" altLang="zh-CN" sz="2800" b="1" dirty="0">
                <a:ea typeface="黑体" panose="02010609060101010101" pitchFamily="49" charset="-122"/>
              </a:rPr>
              <a:t>~30</a:t>
            </a:r>
            <a:r>
              <a:rPr lang="en-US" altLang="zh-CN" sz="2800" b="1" baseline="30000" dirty="0">
                <a:ea typeface="黑体" panose="02010609060101010101" pitchFamily="49" charset="-122"/>
              </a:rPr>
              <a:t>0</a:t>
            </a:r>
            <a:r>
              <a:rPr lang="en-US" altLang="zh-CN" sz="2800" b="1" dirty="0">
                <a:ea typeface="黑体" panose="02010609060101010101" pitchFamily="49" charset="-122"/>
              </a:rPr>
              <a:t>)</a:t>
            </a:r>
            <a:r>
              <a:rPr lang="zh-CN" altLang="en-US" sz="2800" b="1" dirty="0">
                <a:solidFill>
                  <a:srgbClr val="FF0000"/>
                </a:solidFill>
                <a:ea typeface="黑体" panose="02010609060101010101" pitchFamily="49" charset="-122"/>
              </a:rPr>
              <a:t>（开环工频工况下）</a:t>
            </a:r>
            <a:r>
              <a:rPr lang="zh-CN" altLang="en-US" sz="2800" b="1" dirty="0">
                <a:ea typeface="黑体" panose="02010609060101010101" pitchFamily="49" charset="-122"/>
              </a:rPr>
              <a:t>。</a:t>
            </a:r>
            <a:endParaRPr lang="zh-CN" altLang="en-US" b="1" dirty="0">
              <a:solidFill>
                <a:srgbClr val="0000FF"/>
              </a:solidFill>
              <a:ea typeface="黑体" panose="02010609060101010101" pitchFamily="49" charset="-122"/>
            </a:endParaRPr>
          </a:p>
        </p:txBody>
      </p:sp>
      <p:sp>
        <p:nvSpPr>
          <p:cNvPr id="22533" name="Rectangle 5">
            <a:extLst>
              <a:ext uri="{FF2B5EF4-FFF2-40B4-BE49-F238E27FC236}">
                <a16:creationId xmlns:a16="http://schemas.microsoft.com/office/drawing/2014/main" id="{C4AE28FB-E7FE-C715-AEE5-2B9A212B0D08}"/>
              </a:ext>
            </a:extLst>
          </p:cNvPr>
          <p:cNvSpPr>
            <a:spLocks noChangeArrowheads="1"/>
          </p:cNvSpPr>
          <p:nvPr/>
        </p:nvSpPr>
        <p:spPr bwMode="auto">
          <a:xfrm>
            <a:off x="-11470" y="389210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2534" name="Object 4">
            <a:extLst>
              <a:ext uri="{FF2B5EF4-FFF2-40B4-BE49-F238E27FC236}">
                <a16:creationId xmlns:a16="http://schemas.microsoft.com/office/drawing/2014/main" id="{1C83586C-88E0-860A-FE05-DF69ADB5B3D8}"/>
              </a:ext>
            </a:extLst>
          </p:cNvPr>
          <p:cNvGraphicFramePr>
            <a:graphicFrameLocks noChangeAspect="1"/>
          </p:cNvGraphicFramePr>
          <p:nvPr>
            <p:extLst>
              <p:ext uri="{D42A27DB-BD31-4B8C-83A1-F6EECF244321}">
                <p14:modId xmlns:p14="http://schemas.microsoft.com/office/powerpoint/2010/main" val="1703162306"/>
              </p:ext>
            </p:extLst>
          </p:nvPr>
        </p:nvGraphicFramePr>
        <p:xfrm>
          <a:off x="3524488" y="930805"/>
          <a:ext cx="3060700" cy="1033463"/>
        </p:xfrm>
        <a:graphic>
          <a:graphicData uri="http://schemas.openxmlformats.org/presentationml/2006/ole">
            <mc:AlternateContent xmlns:mc="http://schemas.openxmlformats.org/markup-compatibility/2006">
              <mc:Choice xmlns:v="urn:schemas-microsoft-com:vml" Requires="v">
                <p:oleObj name="Equation" r:id="rId2" imgW="1269449" imgH="431613" progId="Equation.DSMT4">
                  <p:embed/>
                </p:oleObj>
              </mc:Choice>
              <mc:Fallback>
                <p:oleObj name="Equation" r:id="rId2" imgW="1269449" imgH="431613" progId="Equation.DSMT4">
                  <p:embed/>
                  <p:pic>
                    <p:nvPicPr>
                      <p:cNvPr id="22534" name="Object 4">
                        <a:extLst>
                          <a:ext uri="{FF2B5EF4-FFF2-40B4-BE49-F238E27FC236}">
                            <a16:creationId xmlns:a16="http://schemas.microsoft.com/office/drawing/2014/main" id="{1C83586C-88E0-860A-FE05-DF69ADB5B3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488" y="930805"/>
                        <a:ext cx="3060700"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9" name="Text Box 7">
            <a:extLst>
              <a:ext uri="{FF2B5EF4-FFF2-40B4-BE49-F238E27FC236}">
                <a16:creationId xmlns:a16="http://schemas.microsoft.com/office/drawing/2014/main" id="{3EC16777-AC27-4C7A-A4EB-34E7970C65C5}"/>
              </a:ext>
            </a:extLst>
          </p:cNvPr>
          <p:cNvSpPr txBox="1">
            <a:spLocks noChangeArrowheads="1"/>
          </p:cNvSpPr>
          <p:nvPr/>
        </p:nvSpPr>
        <p:spPr bwMode="auto">
          <a:xfrm>
            <a:off x="445730" y="3193792"/>
            <a:ext cx="4124325"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dirty="0"/>
              <a:t>        </a:t>
            </a:r>
            <a:r>
              <a:rPr lang="zh-CN" altLang="en-US" b="1" dirty="0">
                <a:ea typeface="黑体" panose="02010609060101010101" pitchFamily="49" charset="-122"/>
              </a:rPr>
              <a:t>当负载转矩超过最大转矩，电机转子将不再能保持与旋转磁场的锁定状态，形成转差，随着转子转速的下降，定子磁场将重复地时而超前时而滞后转子磁场，电磁转矩也重复改变方向，形成巨大的转矩波动，导致电动机产生剧烈振动。 </a:t>
            </a:r>
          </a:p>
        </p:txBody>
      </p:sp>
      <p:pic>
        <p:nvPicPr>
          <p:cNvPr id="22536" name="Picture 8">
            <a:extLst>
              <a:ext uri="{FF2B5EF4-FFF2-40B4-BE49-F238E27FC236}">
                <a16:creationId xmlns:a16="http://schemas.microsoft.com/office/drawing/2014/main" id="{8F3CC53C-0A79-E9BD-1794-AA93CA17885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36730" y="3573016"/>
            <a:ext cx="411480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199"/>
                                        </p:tgtEl>
                                        <p:attrNameLst>
                                          <p:attrName>style.visibility</p:attrName>
                                        </p:attrNameLst>
                                      </p:cBhvr>
                                      <p:to>
                                        <p:strVal val="visible"/>
                                      </p:to>
                                    </p:set>
                                    <p:animEffect transition="in" filter="dissolve">
                                      <p:cBhvr>
                                        <p:cTn id="7" dur="500"/>
                                        <p:tgtEl>
                                          <p:spTgt spid="8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9"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a:extLst>
              <a:ext uri="{FF2B5EF4-FFF2-40B4-BE49-F238E27FC236}">
                <a16:creationId xmlns:a16="http://schemas.microsoft.com/office/drawing/2014/main" id="{F8F1BBFD-B71B-9AAB-9D7B-F0C07C4D1B2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DC6969B-5C55-474B-9ED4-FB89429EF154}" type="slidenum">
              <a:rPr lang="en-US" altLang="zh-CN" sz="1400"/>
              <a:pPr/>
              <a:t>9</a:t>
            </a:fld>
            <a:endParaRPr lang="en-US" altLang="zh-CN" sz="1400"/>
          </a:p>
        </p:txBody>
      </p:sp>
      <p:sp>
        <p:nvSpPr>
          <p:cNvPr id="23555" name="Rectangle 1026">
            <a:extLst>
              <a:ext uri="{FF2B5EF4-FFF2-40B4-BE49-F238E27FC236}">
                <a16:creationId xmlns:a16="http://schemas.microsoft.com/office/drawing/2014/main" id="{A0EABB92-57EA-66E4-514C-DB96B5B89EA6}"/>
              </a:ext>
            </a:extLst>
          </p:cNvPr>
          <p:cNvSpPr>
            <a:spLocks noGrp="1" noChangeArrowheads="1"/>
          </p:cNvSpPr>
          <p:nvPr>
            <p:ph type="title"/>
          </p:nvPr>
        </p:nvSpPr>
        <p:spPr>
          <a:xfrm>
            <a:off x="457324" y="778867"/>
            <a:ext cx="7931150" cy="561975"/>
          </a:xfrm>
        </p:spPr>
        <p:txBody>
          <a:bodyPr/>
          <a:lstStyle/>
          <a:p>
            <a:pPr eaLnBrk="1" hangingPunct="1"/>
            <a:r>
              <a:rPr lang="zh-CN" altLang="en-US" sz="3200" b="1">
                <a:ea typeface="楷体_GB2312" pitchFamily="49" charset="-122"/>
              </a:rPr>
              <a:t>四、同步电动机的机械特性</a:t>
            </a:r>
          </a:p>
        </p:txBody>
      </p:sp>
      <p:sp>
        <p:nvSpPr>
          <p:cNvPr id="23556" name="Rectangle 1027">
            <a:extLst>
              <a:ext uri="{FF2B5EF4-FFF2-40B4-BE49-F238E27FC236}">
                <a16:creationId xmlns:a16="http://schemas.microsoft.com/office/drawing/2014/main" id="{91BF42C3-9998-F8FE-B7A9-FF0D1170F4A9}"/>
              </a:ext>
            </a:extLst>
          </p:cNvPr>
          <p:cNvSpPr>
            <a:spLocks noGrp="1" noChangeArrowheads="1"/>
          </p:cNvSpPr>
          <p:nvPr>
            <p:ph type="body" idx="1"/>
          </p:nvPr>
        </p:nvSpPr>
        <p:spPr>
          <a:xfrm>
            <a:off x="250949" y="1412279"/>
            <a:ext cx="8497888" cy="2305050"/>
          </a:xfrm>
        </p:spPr>
        <p:txBody>
          <a:bodyPr/>
          <a:lstStyle/>
          <a:p>
            <a:pPr eaLnBrk="1" hangingPunct="1">
              <a:lnSpc>
                <a:spcPct val="90000"/>
              </a:lnSpc>
              <a:buFontTx/>
              <a:buNone/>
            </a:pPr>
            <a:r>
              <a:rPr lang="en-US" altLang="zh-CN" sz="2400" dirty="0"/>
              <a:t>         </a:t>
            </a:r>
            <a:r>
              <a:rPr lang="zh-CN" altLang="en-US" sz="2800" b="1" dirty="0">
                <a:ea typeface="黑体" panose="02010609060101010101" pitchFamily="49" charset="-122"/>
              </a:rPr>
              <a:t>正常运行时始终保持恒速，若电源容量一般远大于电机容量，对电机可视为无穷大电网电压源。即电压、频率恒定，与提供给电机的能量无关。电机转速锁定于供电频率，因此同步电动机转速与负载大小无关。从空载到所能提供的最大转矩（失步转矩）点，稳态转速一直保持常数。</a:t>
            </a:r>
          </a:p>
        </p:txBody>
      </p:sp>
      <p:pic>
        <p:nvPicPr>
          <p:cNvPr id="23557" name="Picture 1028">
            <a:extLst>
              <a:ext uri="{FF2B5EF4-FFF2-40B4-BE49-F238E27FC236}">
                <a16:creationId xmlns:a16="http://schemas.microsoft.com/office/drawing/2014/main" id="{2A4E88B8-8D2C-B572-151D-E7D787A65A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957" y="3717329"/>
            <a:ext cx="3341688" cy="313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Rectangle 1030">
            <a:extLst>
              <a:ext uri="{FF2B5EF4-FFF2-40B4-BE49-F238E27FC236}">
                <a16:creationId xmlns:a16="http://schemas.microsoft.com/office/drawing/2014/main" id="{924A696D-2392-F2D0-D1E6-E6534FE124C8}"/>
              </a:ext>
            </a:extLst>
          </p:cNvPr>
          <p:cNvSpPr>
            <a:spLocks noChangeArrowheads="1"/>
          </p:cNvSpPr>
          <p:nvPr/>
        </p:nvSpPr>
        <p:spPr bwMode="auto">
          <a:xfrm>
            <a:off x="124" y="371891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3559" name="Object 1029">
            <a:extLst>
              <a:ext uri="{FF2B5EF4-FFF2-40B4-BE49-F238E27FC236}">
                <a16:creationId xmlns:a16="http://schemas.microsoft.com/office/drawing/2014/main" id="{E923E470-7C2C-731F-0378-D473D469EB45}"/>
              </a:ext>
            </a:extLst>
          </p:cNvPr>
          <p:cNvGraphicFramePr>
            <a:graphicFrameLocks noChangeAspect="1"/>
          </p:cNvGraphicFramePr>
          <p:nvPr>
            <p:extLst>
              <p:ext uri="{D42A27DB-BD31-4B8C-83A1-F6EECF244321}">
                <p14:modId xmlns:p14="http://schemas.microsoft.com/office/powerpoint/2010/main" val="2607581190"/>
              </p:ext>
            </p:extLst>
          </p:nvPr>
        </p:nvGraphicFramePr>
        <p:xfrm>
          <a:off x="5219824" y="4004667"/>
          <a:ext cx="2016125" cy="996950"/>
        </p:xfrm>
        <a:graphic>
          <a:graphicData uri="http://schemas.openxmlformats.org/presentationml/2006/ole">
            <mc:AlternateContent xmlns:mc="http://schemas.openxmlformats.org/markup-compatibility/2006">
              <mc:Choice xmlns:v="urn:schemas-microsoft-com:vml" Requires="v">
                <p:oleObj name="Equation" r:id="rId3" imgW="863225" imgH="431613" progId="Equation.DSMT4">
                  <p:embed/>
                </p:oleObj>
              </mc:Choice>
              <mc:Fallback>
                <p:oleObj name="Equation" r:id="rId3" imgW="863225" imgH="431613" progId="Equation.DSMT4">
                  <p:embed/>
                  <p:pic>
                    <p:nvPicPr>
                      <p:cNvPr id="23559" name="Object 1029">
                        <a:extLst>
                          <a:ext uri="{FF2B5EF4-FFF2-40B4-BE49-F238E27FC236}">
                            <a16:creationId xmlns:a16="http://schemas.microsoft.com/office/drawing/2014/main" id="{E923E470-7C2C-731F-0378-D473D469EB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824" y="4004667"/>
                        <a:ext cx="2016125"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2712" name="Text Box 1032">
            <a:extLst>
              <a:ext uri="{FF2B5EF4-FFF2-40B4-BE49-F238E27FC236}">
                <a16:creationId xmlns:a16="http://schemas.microsoft.com/office/drawing/2014/main" id="{7A958A05-1F13-4EAC-45A8-82A56E2FC9DA}"/>
              </a:ext>
            </a:extLst>
          </p:cNvPr>
          <p:cNvSpPr txBox="1">
            <a:spLocks noChangeArrowheads="1"/>
          </p:cNvSpPr>
          <p:nvPr/>
        </p:nvSpPr>
        <p:spPr bwMode="auto">
          <a:xfrm>
            <a:off x="4788024" y="5157192"/>
            <a:ext cx="41052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ea typeface="黑体" panose="02010609060101010101" pitchFamily="49" charset="-122"/>
              </a:rPr>
              <a:t>励磁电流越大，最大转矩越大。因此大的励磁电流可提高电机运行的稳定性。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72712"/>
                                        </p:tgtEl>
                                        <p:attrNameLst>
                                          <p:attrName>style.visibility</p:attrName>
                                        </p:attrNameLst>
                                      </p:cBhvr>
                                      <p:to>
                                        <p:strVal val="visible"/>
                                      </p:to>
                                    </p:set>
                                    <p:anim calcmode="lin" valueType="num">
                                      <p:cBhvr>
                                        <p:cTn id="7" dur="1000" fill="hold"/>
                                        <p:tgtEl>
                                          <p:spTgt spid="72712"/>
                                        </p:tgtEl>
                                        <p:attrNameLst>
                                          <p:attrName>ppt_w</p:attrName>
                                        </p:attrNameLst>
                                      </p:cBhvr>
                                      <p:tavLst>
                                        <p:tav tm="0">
                                          <p:val>
                                            <p:strVal val="#ppt_w*0.70"/>
                                          </p:val>
                                        </p:tav>
                                        <p:tav tm="100000">
                                          <p:val>
                                            <p:strVal val="#ppt_w"/>
                                          </p:val>
                                        </p:tav>
                                      </p:tavLst>
                                    </p:anim>
                                    <p:anim calcmode="lin" valueType="num">
                                      <p:cBhvr>
                                        <p:cTn id="8" dur="1000" fill="hold"/>
                                        <p:tgtEl>
                                          <p:spTgt spid="72712"/>
                                        </p:tgtEl>
                                        <p:attrNameLst>
                                          <p:attrName>ppt_h</p:attrName>
                                        </p:attrNameLst>
                                      </p:cBhvr>
                                      <p:tavLst>
                                        <p:tav tm="0">
                                          <p:val>
                                            <p:strVal val="#ppt_h"/>
                                          </p:val>
                                        </p:tav>
                                        <p:tav tm="100000">
                                          <p:val>
                                            <p:strVal val="#ppt_h"/>
                                          </p:val>
                                        </p:tav>
                                      </p:tavLst>
                                    </p:anim>
                                    <p:animEffect transition="in" filter="fade">
                                      <p:cBhvr>
                                        <p:cTn id="9" dur="1000"/>
                                        <p:tgtEl>
                                          <p:spTgt spid="727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a:extLst>
              <a:ext uri="{FF2B5EF4-FFF2-40B4-BE49-F238E27FC236}">
                <a16:creationId xmlns:a16="http://schemas.microsoft.com/office/drawing/2014/main" id="{BEF77988-8D37-6D2E-F177-00AA6246A39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BF548955-59F9-41DB-9682-F7895E6FCF71}" type="slidenum">
              <a:rPr lang="en-US" altLang="zh-CN" sz="1400"/>
              <a:pPr/>
              <a:t>10</a:t>
            </a:fld>
            <a:endParaRPr lang="en-US" altLang="zh-CN" sz="1400"/>
          </a:p>
        </p:txBody>
      </p:sp>
      <p:sp>
        <p:nvSpPr>
          <p:cNvPr id="24579" name="Rectangle 2">
            <a:extLst>
              <a:ext uri="{FF2B5EF4-FFF2-40B4-BE49-F238E27FC236}">
                <a16:creationId xmlns:a16="http://schemas.microsoft.com/office/drawing/2014/main" id="{81B148CF-9B08-C8B3-65C7-FFD29E2AA734}"/>
              </a:ext>
            </a:extLst>
          </p:cNvPr>
          <p:cNvSpPr>
            <a:spLocks noGrp="1" noChangeArrowheads="1"/>
          </p:cNvSpPr>
          <p:nvPr>
            <p:ph type="title"/>
          </p:nvPr>
        </p:nvSpPr>
        <p:spPr>
          <a:xfrm>
            <a:off x="433214" y="712788"/>
            <a:ext cx="8075613" cy="706437"/>
          </a:xfrm>
        </p:spPr>
        <p:txBody>
          <a:bodyPr/>
          <a:lstStyle/>
          <a:p>
            <a:pPr eaLnBrk="1" hangingPunct="1"/>
            <a:r>
              <a:rPr lang="zh-CN" altLang="en-US" sz="3200" b="1">
                <a:ea typeface="楷体_GB2312" pitchFamily="49" charset="-122"/>
              </a:rPr>
              <a:t>五、隐极同步电动机的稳定运行条件</a:t>
            </a:r>
          </a:p>
        </p:txBody>
      </p:sp>
      <p:sp>
        <p:nvSpPr>
          <p:cNvPr id="9220" name="Text Box 4">
            <a:extLst>
              <a:ext uri="{FF2B5EF4-FFF2-40B4-BE49-F238E27FC236}">
                <a16:creationId xmlns:a16="http://schemas.microsoft.com/office/drawing/2014/main" id="{6461AD50-B98D-92CC-EB7C-A8D9A17BD6B1}"/>
              </a:ext>
            </a:extLst>
          </p:cNvPr>
          <p:cNvSpPr txBox="1">
            <a:spLocks noChangeArrowheads="1"/>
          </p:cNvSpPr>
          <p:nvPr/>
        </p:nvSpPr>
        <p:spPr bwMode="auto">
          <a:xfrm>
            <a:off x="299864" y="1504950"/>
            <a:ext cx="8135938"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dirty="0"/>
              <a:t>      </a:t>
            </a:r>
            <a:r>
              <a:rPr lang="zh-CN" altLang="en-US" sz="2800" b="1" dirty="0">
                <a:ea typeface="黑体" panose="02010609060101010101" pitchFamily="49" charset="-122"/>
              </a:rPr>
              <a:t>在前述功角假定正向条件下，隐极电机在</a:t>
            </a:r>
            <a:r>
              <a:rPr lang="zh-CN" altLang="en-US" sz="2800" dirty="0"/>
              <a:t>      </a:t>
            </a:r>
            <a:r>
              <a:rPr lang="en-US" altLang="zh-CN" sz="2800" dirty="0"/>
              <a:t>0</a:t>
            </a:r>
            <a:r>
              <a:rPr lang="en-US" altLang="zh-CN" sz="2800" baseline="30000" dirty="0"/>
              <a:t>0</a:t>
            </a:r>
            <a:r>
              <a:rPr lang="en-US" altLang="zh-CN" sz="2800" dirty="0"/>
              <a:t>&lt;</a:t>
            </a:r>
            <a:r>
              <a:rPr lang="zh-CN" altLang="en-US" sz="2800" dirty="0"/>
              <a:t>－</a:t>
            </a:r>
            <a:r>
              <a:rPr lang="en-US" altLang="zh-CN" sz="2800" dirty="0">
                <a:latin typeface="Symbol" panose="05050102010706020507" pitchFamily="18" charset="2"/>
              </a:rPr>
              <a:t>d</a:t>
            </a:r>
            <a:r>
              <a:rPr lang="en-US" altLang="zh-CN" sz="2800" dirty="0"/>
              <a:t>&lt;90</a:t>
            </a:r>
            <a:r>
              <a:rPr lang="en-US" altLang="zh-CN" sz="2800" baseline="30000" dirty="0">
                <a:latin typeface="Symbol" panose="05050102010706020507" pitchFamily="18" charset="2"/>
              </a:rPr>
              <a:t>0</a:t>
            </a:r>
            <a:r>
              <a:rPr lang="zh-CN" altLang="en-US" sz="2800" b="1" dirty="0">
                <a:ea typeface="黑体" panose="02010609060101010101" pitchFamily="49" charset="-122"/>
              </a:rPr>
              <a:t>负载运行时，若负载突增，则转子瞬时减速，对应转子磁势减速，定子磁势转速不变，功角增大，电磁转矩增加，增加到与负载转矩平衡时，转子恢复同步转速；负载突减，转子瞬时加速，功角相应减小，电磁转矩下降，</a:t>
            </a:r>
          </a:p>
          <a:p>
            <a:pPr eaLnBrk="1" hangingPunct="1"/>
            <a:r>
              <a:rPr lang="zh-CN" altLang="en-US" sz="2800" b="1" dirty="0">
                <a:ea typeface="黑体" panose="02010609060101010101" pitchFamily="49" charset="-122"/>
              </a:rPr>
              <a:t>到与负载平衡时也能恢复同</a:t>
            </a:r>
          </a:p>
          <a:p>
            <a:pPr eaLnBrk="1" hangingPunct="1"/>
            <a:r>
              <a:rPr lang="zh-CN" altLang="en-US" sz="2800" b="1" dirty="0">
                <a:ea typeface="黑体" panose="02010609060101010101" pitchFamily="49" charset="-122"/>
              </a:rPr>
              <a:t>步转速。这样，在负载变化</a:t>
            </a:r>
          </a:p>
          <a:p>
            <a:pPr eaLnBrk="1" hangingPunct="1"/>
            <a:r>
              <a:rPr lang="zh-CN" altLang="en-US" sz="2800" b="1" dirty="0">
                <a:ea typeface="黑体" panose="02010609060101010101" pitchFamily="49" charset="-122"/>
              </a:rPr>
              <a:t>时，</a:t>
            </a:r>
            <a:r>
              <a:rPr lang="zh-CN" altLang="en-US" sz="2800" b="1" dirty="0">
                <a:solidFill>
                  <a:srgbClr val="FF0000"/>
                </a:solidFill>
                <a:ea typeface="黑体" panose="02010609060101010101" pitchFamily="49" charset="-122"/>
              </a:rPr>
              <a:t>通过自动调节功角，电</a:t>
            </a:r>
          </a:p>
          <a:p>
            <a:pPr eaLnBrk="1" hangingPunct="1"/>
            <a:r>
              <a:rPr lang="zh-CN" altLang="en-US" sz="2800" b="1" dirty="0">
                <a:solidFill>
                  <a:srgbClr val="FF0000"/>
                </a:solidFill>
                <a:ea typeface="黑体" panose="02010609060101010101" pitchFamily="49" charset="-122"/>
              </a:rPr>
              <a:t>机总能自动保持同步转速运</a:t>
            </a:r>
          </a:p>
          <a:p>
            <a:pPr eaLnBrk="1" hangingPunct="1"/>
            <a:r>
              <a:rPr lang="zh-CN" altLang="en-US" sz="2800" b="1" dirty="0">
                <a:solidFill>
                  <a:srgbClr val="FF0000"/>
                </a:solidFill>
                <a:ea typeface="黑体" panose="02010609060101010101" pitchFamily="49" charset="-122"/>
              </a:rPr>
              <a:t>行</a:t>
            </a:r>
            <a:r>
              <a:rPr lang="zh-CN" altLang="en-US" sz="2800" b="1" dirty="0">
                <a:ea typeface="黑体" panose="02010609060101010101" pitchFamily="49" charset="-122"/>
              </a:rPr>
              <a:t>。因此称</a:t>
            </a:r>
            <a:r>
              <a:rPr lang="en-US" altLang="zh-CN" sz="2800" dirty="0"/>
              <a:t>0</a:t>
            </a:r>
            <a:r>
              <a:rPr lang="en-US" altLang="zh-CN" sz="2800" baseline="30000" dirty="0"/>
              <a:t>0</a:t>
            </a:r>
            <a:r>
              <a:rPr lang="en-US" altLang="zh-CN" sz="2800" dirty="0"/>
              <a:t>&lt;</a:t>
            </a:r>
            <a:r>
              <a:rPr lang="zh-CN" altLang="en-US" sz="2800" dirty="0"/>
              <a:t>－</a:t>
            </a:r>
            <a:r>
              <a:rPr lang="en-US" altLang="zh-CN" sz="2800" dirty="0">
                <a:latin typeface="Symbol" panose="05050102010706020507" pitchFamily="18" charset="2"/>
              </a:rPr>
              <a:t>d</a:t>
            </a:r>
            <a:r>
              <a:rPr lang="en-US" altLang="zh-CN" sz="2800" dirty="0"/>
              <a:t>&lt;90</a:t>
            </a:r>
            <a:r>
              <a:rPr lang="en-US" altLang="zh-CN" sz="2800" baseline="30000" dirty="0"/>
              <a:t>0</a:t>
            </a:r>
            <a:r>
              <a:rPr lang="zh-CN" altLang="en-US" sz="2800" b="1" dirty="0">
                <a:ea typeface="黑体" panose="02010609060101010101" pitchFamily="49" charset="-122"/>
              </a:rPr>
              <a:t>为隐</a:t>
            </a:r>
          </a:p>
          <a:p>
            <a:pPr eaLnBrk="1" hangingPunct="1"/>
            <a:r>
              <a:rPr lang="zh-CN" altLang="en-US" sz="2800" b="1" dirty="0">
                <a:ea typeface="黑体" panose="02010609060101010101" pitchFamily="49" charset="-122"/>
              </a:rPr>
              <a:t>极同步电动机的稳定运行区</a:t>
            </a:r>
            <a:r>
              <a:rPr lang="zh-CN" altLang="en-US" sz="2800" dirty="0"/>
              <a:t>。</a:t>
            </a:r>
          </a:p>
        </p:txBody>
      </p:sp>
      <p:pic>
        <p:nvPicPr>
          <p:cNvPr id="24581" name="Picture 6">
            <a:extLst>
              <a:ext uri="{FF2B5EF4-FFF2-40B4-BE49-F238E27FC236}">
                <a16:creationId xmlns:a16="http://schemas.microsoft.com/office/drawing/2014/main" id="{DE8DEDD8-7B73-B4F8-577C-7B3E0B603E2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7436" y="3848720"/>
            <a:ext cx="411480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dissolve">
                                      <p:cBhvr>
                                        <p:cTn id="7" dur="500"/>
                                        <p:tgtEl>
                                          <p:spTgt spid="9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a:extLst>
              <a:ext uri="{FF2B5EF4-FFF2-40B4-BE49-F238E27FC236}">
                <a16:creationId xmlns:a16="http://schemas.microsoft.com/office/drawing/2014/main" id="{02B445E1-ED6B-454D-1351-B9606ED03D4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B14D7082-2BEB-4390-B695-3AD008FEE5F3}" type="slidenum">
              <a:rPr lang="en-US" altLang="zh-CN" sz="1400"/>
              <a:pPr/>
              <a:t>11</a:t>
            </a:fld>
            <a:endParaRPr lang="en-US" altLang="zh-CN" sz="1400"/>
          </a:p>
        </p:txBody>
      </p:sp>
      <p:sp>
        <p:nvSpPr>
          <p:cNvPr id="25603" name="Rectangle 2">
            <a:extLst>
              <a:ext uri="{FF2B5EF4-FFF2-40B4-BE49-F238E27FC236}">
                <a16:creationId xmlns:a16="http://schemas.microsoft.com/office/drawing/2014/main" id="{DBA8B42E-BA7F-191C-037F-BD31BF2BD058}"/>
              </a:ext>
            </a:extLst>
          </p:cNvPr>
          <p:cNvSpPr>
            <a:spLocks noGrp="1" noChangeArrowheads="1"/>
          </p:cNvSpPr>
          <p:nvPr>
            <p:ph type="title"/>
          </p:nvPr>
        </p:nvSpPr>
        <p:spPr>
          <a:xfrm>
            <a:off x="381000" y="651733"/>
            <a:ext cx="8002588" cy="777875"/>
          </a:xfrm>
        </p:spPr>
        <p:txBody>
          <a:bodyPr/>
          <a:lstStyle/>
          <a:p>
            <a:pPr eaLnBrk="1" hangingPunct="1"/>
            <a:r>
              <a:rPr lang="zh-CN" altLang="en-US" sz="3200" b="1" dirty="0">
                <a:solidFill>
                  <a:srgbClr val="FF0000"/>
                </a:solidFill>
              </a:rPr>
              <a:t>同步电动机的稳定运行条件</a:t>
            </a:r>
          </a:p>
        </p:txBody>
      </p:sp>
      <p:sp>
        <p:nvSpPr>
          <p:cNvPr id="25604" name="Rectangle 3">
            <a:extLst>
              <a:ext uri="{FF2B5EF4-FFF2-40B4-BE49-F238E27FC236}">
                <a16:creationId xmlns:a16="http://schemas.microsoft.com/office/drawing/2014/main" id="{F01BA488-5EFE-2B53-0B98-EC5F38DFA588}"/>
              </a:ext>
            </a:extLst>
          </p:cNvPr>
          <p:cNvSpPr>
            <a:spLocks noGrp="1" noChangeArrowheads="1"/>
          </p:cNvSpPr>
          <p:nvPr>
            <p:ph type="body" idx="1"/>
          </p:nvPr>
        </p:nvSpPr>
        <p:spPr>
          <a:xfrm>
            <a:off x="239182" y="1429608"/>
            <a:ext cx="5207000" cy="2016125"/>
          </a:xfrm>
        </p:spPr>
        <p:txBody>
          <a:bodyPr/>
          <a:lstStyle/>
          <a:p>
            <a:pPr eaLnBrk="1" hangingPunct="1"/>
            <a:r>
              <a:rPr lang="zh-CN" altLang="en-US" sz="2400" dirty="0"/>
              <a:t>在</a:t>
            </a:r>
            <a:r>
              <a:rPr lang="en-US" altLang="zh-CN" sz="2400" dirty="0"/>
              <a:t>90</a:t>
            </a:r>
            <a:r>
              <a:rPr lang="en-US" altLang="zh-CN" sz="2400" baseline="30000" dirty="0"/>
              <a:t>0</a:t>
            </a:r>
            <a:r>
              <a:rPr lang="en-US" altLang="zh-CN" sz="2400" dirty="0"/>
              <a:t>&lt;</a:t>
            </a:r>
            <a:r>
              <a:rPr lang="zh-CN" altLang="en-US" sz="2400" dirty="0"/>
              <a:t>－</a:t>
            </a:r>
            <a:r>
              <a:rPr lang="en-US" altLang="zh-CN" sz="2400" dirty="0">
                <a:latin typeface="Symbol" panose="05050102010706020507" pitchFamily="18" charset="2"/>
              </a:rPr>
              <a:t>d</a:t>
            </a:r>
            <a:r>
              <a:rPr lang="en-US" altLang="zh-CN" sz="2400" dirty="0"/>
              <a:t>&lt;180</a:t>
            </a:r>
            <a:r>
              <a:rPr lang="en-US" altLang="zh-CN" sz="2400" baseline="30000" dirty="0"/>
              <a:t>0</a:t>
            </a:r>
            <a:r>
              <a:rPr lang="zh-CN" altLang="en-US" sz="2400" b="1" dirty="0">
                <a:ea typeface="黑体" panose="02010609060101010101" pitchFamily="49" charset="-122"/>
              </a:rPr>
              <a:t>区域，如果负载转矩增大，转子减速、功角增加，但电磁转矩反减小，转子将进一步减速，形成失步，因此这一区域称为不稳定运行区。</a:t>
            </a:r>
          </a:p>
        </p:txBody>
      </p:sp>
      <p:sp>
        <p:nvSpPr>
          <p:cNvPr id="25605" name="Rectangle 7">
            <a:extLst>
              <a:ext uri="{FF2B5EF4-FFF2-40B4-BE49-F238E27FC236}">
                <a16:creationId xmlns:a16="http://schemas.microsoft.com/office/drawing/2014/main" id="{339DD51A-E797-5758-1360-8755A3F7E2EB}"/>
              </a:ext>
            </a:extLst>
          </p:cNvPr>
          <p:cNvSpPr>
            <a:spLocks noChangeArrowheads="1"/>
          </p:cNvSpPr>
          <p:nvPr/>
        </p:nvSpPr>
        <p:spPr bwMode="auto">
          <a:xfrm>
            <a:off x="0"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0252" name="Group 12">
            <a:extLst>
              <a:ext uri="{FF2B5EF4-FFF2-40B4-BE49-F238E27FC236}">
                <a16:creationId xmlns:a16="http://schemas.microsoft.com/office/drawing/2014/main" id="{BA827B5B-ED5E-F979-2355-2D189BAE3C04}"/>
              </a:ext>
            </a:extLst>
          </p:cNvPr>
          <p:cNvGrpSpPr>
            <a:grpSpLocks/>
          </p:cNvGrpSpPr>
          <p:nvPr/>
        </p:nvGrpSpPr>
        <p:grpSpPr bwMode="auto">
          <a:xfrm>
            <a:off x="381000" y="3429000"/>
            <a:ext cx="5233988" cy="1585913"/>
            <a:chOff x="373" y="2172"/>
            <a:chExt cx="3297" cy="999"/>
          </a:xfrm>
        </p:grpSpPr>
        <p:sp>
          <p:nvSpPr>
            <p:cNvPr id="25609" name="Text Box 5">
              <a:extLst>
                <a:ext uri="{FF2B5EF4-FFF2-40B4-BE49-F238E27FC236}">
                  <a16:creationId xmlns:a16="http://schemas.microsoft.com/office/drawing/2014/main" id="{B0815E33-EDAB-82D8-F811-22C879BB9E5B}"/>
                </a:ext>
              </a:extLst>
            </p:cNvPr>
            <p:cNvSpPr txBox="1">
              <a:spLocks noChangeArrowheads="1"/>
            </p:cNvSpPr>
            <p:nvPr/>
          </p:nvSpPr>
          <p:spPr bwMode="auto">
            <a:xfrm>
              <a:off x="373" y="2172"/>
              <a:ext cx="3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a:t> </a:t>
              </a:r>
              <a:r>
                <a:rPr lang="zh-CN" altLang="en-US" b="1">
                  <a:ea typeface="黑体" panose="02010609060101010101" pitchFamily="49" charset="-122"/>
                </a:rPr>
                <a:t>维持同步电动机稳定运行的条件为：</a:t>
              </a:r>
              <a:r>
                <a:rPr lang="zh-CN" altLang="en-US" sz="1800"/>
                <a:t> </a:t>
              </a:r>
            </a:p>
          </p:txBody>
        </p:sp>
        <p:graphicFrame>
          <p:nvGraphicFramePr>
            <p:cNvPr id="25610" name="Object 6">
              <a:extLst>
                <a:ext uri="{FF2B5EF4-FFF2-40B4-BE49-F238E27FC236}">
                  <a16:creationId xmlns:a16="http://schemas.microsoft.com/office/drawing/2014/main" id="{21984E06-2F3E-DB87-3F15-0D585D6ECDEE}"/>
                </a:ext>
              </a:extLst>
            </p:cNvPr>
            <p:cNvGraphicFramePr>
              <a:graphicFrameLocks noChangeAspect="1"/>
            </p:cNvGraphicFramePr>
            <p:nvPr/>
          </p:nvGraphicFramePr>
          <p:xfrm>
            <a:off x="1286" y="2550"/>
            <a:ext cx="1013" cy="621"/>
          </p:xfrm>
          <a:graphic>
            <a:graphicData uri="http://schemas.openxmlformats.org/presentationml/2006/ole">
              <mc:AlternateContent xmlns:mc="http://schemas.openxmlformats.org/markup-compatibility/2006">
                <mc:Choice xmlns:v="urn:schemas-microsoft-com:vml" Requires="v">
                  <p:oleObj name="Equation" r:id="rId2" imgW="672808" imgH="418918" progId="Equation.DSMT4">
                    <p:embed/>
                  </p:oleObj>
                </mc:Choice>
                <mc:Fallback>
                  <p:oleObj name="Equation" r:id="rId2" imgW="672808" imgH="418918" progId="Equation.DSMT4">
                    <p:embed/>
                    <p:pic>
                      <p:nvPicPr>
                        <p:cNvPr id="25610" name="Object 6">
                          <a:extLst>
                            <a:ext uri="{FF2B5EF4-FFF2-40B4-BE49-F238E27FC236}">
                              <a16:creationId xmlns:a16="http://schemas.microsoft.com/office/drawing/2014/main" id="{21984E06-2F3E-DB87-3F15-0D585D6ECD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6" y="2550"/>
                          <a:ext cx="1013" cy="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0248" name="Text Box 8">
            <a:extLst>
              <a:ext uri="{FF2B5EF4-FFF2-40B4-BE49-F238E27FC236}">
                <a16:creationId xmlns:a16="http://schemas.microsoft.com/office/drawing/2014/main" id="{AE5BD5A5-6AB5-96A2-7FFE-D85D36660203}"/>
              </a:ext>
            </a:extLst>
          </p:cNvPr>
          <p:cNvSpPr txBox="1">
            <a:spLocks noChangeArrowheads="1"/>
          </p:cNvSpPr>
          <p:nvPr/>
        </p:nvSpPr>
        <p:spPr bwMode="auto">
          <a:xfrm>
            <a:off x="735013" y="5373688"/>
            <a:ext cx="75819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a:t>       </a:t>
            </a:r>
            <a:r>
              <a:rPr lang="zh-CN" altLang="en-US" b="1">
                <a:ea typeface="黑体" panose="02010609060101010101" pitchFamily="49" charset="-122"/>
              </a:rPr>
              <a:t>励磁电流越大，</a:t>
            </a:r>
            <a:r>
              <a:rPr lang="en-US" altLang="zh-CN" b="1">
                <a:ea typeface="黑体" panose="02010609060101010101" pitchFamily="49" charset="-122"/>
              </a:rPr>
              <a:t>E</a:t>
            </a:r>
            <a:r>
              <a:rPr lang="en-US" altLang="zh-CN" b="1" baseline="-25000">
                <a:ea typeface="黑体" panose="02010609060101010101" pitchFamily="49" charset="-122"/>
              </a:rPr>
              <a:t>a</a:t>
            </a:r>
            <a:r>
              <a:rPr lang="zh-CN" altLang="en-US" b="1">
                <a:ea typeface="黑体" panose="02010609060101010101" pitchFamily="49" charset="-122"/>
              </a:rPr>
              <a:t>越大，电动机的最大转矩也越大。因此励磁电流较大的同步电动机稳定性也较好。</a:t>
            </a:r>
            <a:r>
              <a:rPr lang="zh-CN" altLang="en-US" sz="1800" b="1">
                <a:ea typeface="黑体" panose="02010609060101010101" pitchFamily="49" charset="-122"/>
              </a:rPr>
              <a:t> </a:t>
            </a:r>
          </a:p>
        </p:txBody>
      </p:sp>
      <p:pic>
        <p:nvPicPr>
          <p:cNvPr id="25608" name="Picture 11">
            <a:extLst>
              <a:ext uri="{FF2B5EF4-FFF2-40B4-BE49-F238E27FC236}">
                <a16:creationId xmlns:a16="http://schemas.microsoft.com/office/drawing/2014/main" id="{AF283020-4947-E094-17BF-599576B6D62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77909" y="2207483"/>
            <a:ext cx="3810000"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10248"/>
                                        </p:tgtEl>
                                        <p:attrNameLst>
                                          <p:attrName>style.visibility</p:attrName>
                                        </p:attrNameLst>
                                      </p:cBhvr>
                                      <p:to>
                                        <p:strVal val="visible"/>
                                      </p:to>
                                    </p:set>
                                    <p:anim calcmode="lin" valueType="num">
                                      <p:cBhvr additive="base">
                                        <p:cTn id="7" dur="500"/>
                                        <p:tgtEl>
                                          <p:spTgt spid="10248"/>
                                        </p:tgtEl>
                                        <p:attrNameLst>
                                          <p:attrName>ppt_y</p:attrName>
                                        </p:attrNameLst>
                                      </p:cBhvr>
                                      <p:tavLst>
                                        <p:tav tm="0">
                                          <p:val>
                                            <p:strVal val="#ppt_y+#ppt_h*1.125000"/>
                                          </p:val>
                                        </p:tav>
                                        <p:tav tm="100000">
                                          <p:val>
                                            <p:strVal val="#ppt_y"/>
                                          </p:val>
                                        </p:tav>
                                      </p:tavLst>
                                    </p:anim>
                                    <p:animEffect transition="in" filter="wipe(up)">
                                      <p:cBhvr>
                                        <p:cTn id="8" dur="500"/>
                                        <p:tgtEl>
                                          <p:spTgt spid="10248"/>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10252"/>
                                        </p:tgtEl>
                                        <p:attrNameLst>
                                          <p:attrName>style.visibility</p:attrName>
                                        </p:attrNameLst>
                                      </p:cBhvr>
                                      <p:to>
                                        <p:strVal val="visible"/>
                                      </p:to>
                                    </p:set>
                                    <p:animEffect transition="in" filter="dissolve">
                                      <p:cBhvr>
                                        <p:cTn id="13" dur="500"/>
                                        <p:tgtEl>
                                          <p:spTgt spid="10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8"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a:extLst>
              <a:ext uri="{FF2B5EF4-FFF2-40B4-BE49-F238E27FC236}">
                <a16:creationId xmlns:a16="http://schemas.microsoft.com/office/drawing/2014/main" id="{235D81AA-7765-F000-4AC3-B46B0497AF5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00AD844D-0423-4F5D-99FD-C2BFBE1A0FBF}" type="slidenum">
              <a:rPr lang="en-US" altLang="zh-CN" sz="1400"/>
              <a:pPr/>
              <a:t>12</a:t>
            </a:fld>
            <a:endParaRPr lang="en-US" altLang="zh-CN" sz="1400"/>
          </a:p>
        </p:txBody>
      </p:sp>
      <p:sp>
        <p:nvSpPr>
          <p:cNvPr id="26627" name="Rectangle 2">
            <a:extLst>
              <a:ext uri="{FF2B5EF4-FFF2-40B4-BE49-F238E27FC236}">
                <a16:creationId xmlns:a16="http://schemas.microsoft.com/office/drawing/2014/main" id="{BE8D124F-DBED-A7F3-9C95-DE6D2A9D87AB}"/>
              </a:ext>
            </a:extLst>
          </p:cNvPr>
          <p:cNvSpPr>
            <a:spLocks noGrp="1" noChangeArrowheads="1"/>
          </p:cNvSpPr>
          <p:nvPr>
            <p:ph type="title"/>
          </p:nvPr>
        </p:nvSpPr>
        <p:spPr>
          <a:xfrm>
            <a:off x="440267" y="649420"/>
            <a:ext cx="7931150" cy="706437"/>
          </a:xfrm>
        </p:spPr>
        <p:txBody>
          <a:bodyPr/>
          <a:lstStyle/>
          <a:p>
            <a:pPr eaLnBrk="1" hangingPunct="1"/>
            <a:r>
              <a:rPr lang="zh-CN" altLang="en-US" sz="3200" b="1" dirty="0">
                <a:ea typeface="楷体_GB2312" pitchFamily="49" charset="-122"/>
              </a:rPr>
              <a:t>六、凸极同步电动机的相量图</a:t>
            </a:r>
          </a:p>
        </p:txBody>
      </p:sp>
      <p:sp>
        <p:nvSpPr>
          <p:cNvPr id="26628" name="Rectangle 3">
            <a:extLst>
              <a:ext uri="{FF2B5EF4-FFF2-40B4-BE49-F238E27FC236}">
                <a16:creationId xmlns:a16="http://schemas.microsoft.com/office/drawing/2014/main" id="{C41F60A3-E404-2E88-0D76-2D0E55F42BD8}"/>
              </a:ext>
            </a:extLst>
          </p:cNvPr>
          <p:cNvSpPr>
            <a:spLocks noGrp="1" noChangeArrowheads="1"/>
          </p:cNvSpPr>
          <p:nvPr>
            <p:ph type="body" idx="1"/>
          </p:nvPr>
        </p:nvSpPr>
        <p:spPr>
          <a:xfrm>
            <a:off x="-166158" y="1246188"/>
            <a:ext cx="9144000" cy="2016125"/>
          </a:xfrm>
        </p:spPr>
        <p:txBody>
          <a:bodyPr/>
          <a:lstStyle/>
          <a:p>
            <a:pPr eaLnBrk="1" hangingPunct="1">
              <a:lnSpc>
                <a:spcPct val="110000"/>
              </a:lnSpc>
            </a:pPr>
            <a:r>
              <a:rPr lang="zh-CN" altLang="en-US" sz="2400" b="1" dirty="0">
                <a:latin typeface="黑体" panose="02010609060101010101" pitchFamily="49" charset="-122"/>
                <a:ea typeface="黑体" panose="02010609060101010101" pitchFamily="49" charset="-122"/>
              </a:rPr>
              <a:t>不计饱和时，凸极电枢反应电势的两个分量正比于相应磁通和电流分量，分别可用比例系数</a:t>
            </a:r>
            <a:r>
              <a:rPr lang="en-US" altLang="zh-CN" sz="2400" b="1" dirty="0" err="1">
                <a:latin typeface="黑体" panose="02010609060101010101" pitchFamily="49" charset="-122"/>
                <a:ea typeface="黑体" panose="02010609060101010101" pitchFamily="49" charset="-122"/>
              </a:rPr>
              <a:t>X</a:t>
            </a:r>
            <a:r>
              <a:rPr lang="en-US" altLang="zh-CN" sz="2400" b="1" baseline="-25000" dirty="0" err="1">
                <a:latin typeface="黑体" panose="02010609060101010101" pitchFamily="49" charset="-122"/>
                <a:ea typeface="黑体" panose="02010609060101010101" pitchFamily="49" charset="-122"/>
              </a:rPr>
              <a:t>ad</a:t>
            </a:r>
            <a:r>
              <a:rPr lang="zh-CN" altLang="en-US" sz="2400" b="1" dirty="0">
                <a:latin typeface="黑体" panose="02010609060101010101" pitchFamily="49" charset="-122"/>
                <a:ea typeface="黑体" panose="02010609060101010101" pitchFamily="49" charset="-122"/>
              </a:rPr>
              <a:t>和</a:t>
            </a:r>
            <a:r>
              <a:rPr lang="en-US" altLang="zh-CN" sz="2400" b="1" dirty="0" err="1">
                <a:latin typeface="黑体" panose="02010609060101010101" pitchFamily="49" charset="-122"/>
                <a:ea typeface="黑体" panose="02010609060101010101" pitchFamily="49" charset="-122"/>
              </a:rPr>
              <a:t>X</a:t>
            </a:r>
            <a:r>
              <a:rPr lang="en-US" altLang="zh-CN" sz="2400" b="1" baseline="-25000" dirty="0" err="1">
                <a:latin typeface="黑体" panose="02010609060101010101" pitchFamily="49" charset="-122"/>
                <a:ea typeface="黑体" panose="02010609060101010101" pitchFamily="49" charset="-122"/>
              </a:rPr>
              <a:t>aq</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表示。一般认为漏抗在</a:t>
            </a:r>
            <a:r>
              <a:rPr lang="en-US" altLang="zh-CN" sz="2400" b="1" dirty="0">
                <a:latin typeface="黑体" panose="02010609060101010101" pitchFamily="49" charset="-122"/>
                <a:ea typeface="黑体" panose="02010609060101010101" pitchFamily="49" charset="-122"/>
              </a:rPr>
              <a:t>d</a:t>
            </a:r>
            <a:r>
              <a:rPr lang="zh-CN" altLang="en-US" sz="2400" b="1" dirty="0">
                <a:latin typeface="黑体" panose="02010609060101010101" pitchFamily="49" charset="-122"/>
                <a:ea typeface="黑体" panose="02010609060101010101" pitchFamily="49" charset="-122"/>
              </a:rPr>
              <a:t>，</a:t>
            </a:r>
            <a:r>
              <a:rPr lang="en-US" altLang="zh-CN" sz="2400" b="1" dirty="0">
                <a:latin typeface="黑体" panose="02010609060101010101" pitchFamily="49" charset="-122"/>
                <a:ea typeface="黑体" panose="02010609060101010101" pitchFamily="49" charset="-122"/>
              </a:rPr>
              <a:t>q</a:t>
            </a:r>
            <a:r>
              <a:rPr lang="zh-CN" altLang="en-US" sz="2400" b="1" dirty="0">
                <a:latin typeface="黑体" panose="02010609060101010101" pitchFamily="49" charset="-122"/>
                <a:ea typeface="黑体" panose="02010609060101010101" pitchFamily="49" charset="-122"/>
              </a:rPr>
              <a:t>轴上的分量相等，定义直轴同步电抗</a:t>
            </a:r>
            <a:r>
              <a:rPr lang="en-US" altLang="zh-CN" sz="2400" b="1" dirty="0">
                <a:latin typeface="黑体" panose="02010609060101010101" pitchFamily="49" charset="-122"/>
                <a:ea typeface="黑体" panose="02010609060101010101" pitchFamily="49" charset="-122"/>
              </a:rPr>
              <a:t>X</a:t>
            </a:r>
            <a:r>
              <a:rPr lang="en-US" altLang="zh-CN" sz="2400" b="1" baseline="-25000" dirty="0">
                <a:latin typeface="黑体" panose="02010609060101010101" pitchFamily="49" charset="-122"/>
                <a:ea typeface="黑体" panose="02010609060101010101" pitchFamily="49" charset="-122"/>
              </a:rPr>
              <a:t>d</a:t>
            </a:r>
            <a:r>
              <a:rPr lang="en-US" altLang="zh-CN" sz="2400" b="1" dirty="0">
                <a:latin typeface="黑体" panose="02010609060101010101" pitchFamily="49" charset="-122"/>
                <a:ea typeface="黑体" panose="02010609060101010101" pitchFamily="49" charset="-122"/>
              </a:rPr>
              <a:t>=</a:t>
            </a:r>
            <a:r>
              <a:rPr lang="en-US" altLang="zh-CN" sz="2400" b="1" dirty="0" err="1">
                <a:latin typeface="黑体" panose="02010609060101010101" pitchFamily="49" charset="-122"/>
                <a:ea typeface="黑体" panose="02010609060101010101" pitchFamily="49" charset="-122"/>
              </a:rPr>
              <a:t>X</a:t>
            </a:r>
            <a:r>
              <a:rPr lang="en-US" altLang="zh-CN" sz="2400" b="1" baseline="-25000" dirty="0" err="1">
                <a:latin typeface="黑体" panose="02010609060101010101" pitchFamily="49" charset="-122"/>
                <a:ea typeface="黑体" panose="02010609060101010101" pitchFamily="49" charset="-122"/>
              </a:rPr>
              <a:t>ad</a:t>
            </a:r>
            <a:r>
              <a:rPr lang="en-US" altLang="zh-CN" sz="2400" b="1" dirty="0" err="1">
                <a:latin typeface="黑体" panose="02010609060101010101" pitchFamily="49" charset="-122"/>
                <a:ea typeface="黑体" panose="02010609060101010101" pitchFamily="49" charset="-122"/>
              </a:rPr>
              <a:t>+X</a:t>
            </a:r>
            <a:r>
              <a:rPr lang="en-US" altLang="zh-CN" sz="2400" b="1" baseline="-25000" dirty="0" err="1">
                <a:latin typeface="黑体" panose="02010609060101010101" pitchFamily="49" charset="-122"/>
                <a:ea typeface="黑体" panose="02010609060101010101" pitchFamily="49" charset="-122"/>
              </a:rPr>
              <a:t>s</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交轴同步电抗</a:t>
            </a:r>
            <a:r>
              <a:rPr lang="en-US" altLang="zh-CN" sz="2400" b="1" dirty="0" err="1">
                <a:latin typeface="黑体" panose="02010609060101010101" pitchFamily="49" charset="-122"/>
                <a:ea typeface="黑体" panose="02010609060101010101" pitchFamily="49" charset="-122"/>
              </a:rPr>
              <a:t>X</a:t>
            </a:r>
            <a:r>
              <a:rPr lang="en-US" altLang="zh-CN" sz="2400" b="1" baseline="-25000" dirty="0" err="1">
                <a:latin typeface="黑体" panose="02010609060101010101" pitchFamily="49" charset="-122"/>
                <a:ea typeface="黑体" panose="02010609060101010101" pitchFamily="49" charset="-122"/>
              </a:rPr>
              <a:t>q</a:t>
            </a:r>
            <a:r>
              <a:rPr lang="en-US" altLang="zh-CN" sz="2400" b="1" dirty="0">
                <a:latin typeface="黑体" panose="02010609060101010101" pitchFamily="49" charset="-122"/>
                <a:ea typeface="黑体" panose="02010609060101010101" pitchFamily="49" charset="-122"/>
              </a:rPr>
              <a:t>=</a:t>
            </a:r>
            <a:r>
              <a:rPr lang="en-US" altLang="zh-CN" sz="2400" b="1" dirty="0" err="1">
                <a:latin typeface="黑体" panose="02010609060101010101" pitchFamily="49" charset="-122"/>
                <a:ea typeface="黑体" panose="02010609060101010101" pitchFamily="49" charset="-122"/>
              </a:rPr>
              <a:t>X</a:t>
            </a:r>
            <a:r>
              <a:rPr lang="en-US" altLang="zh-CN" sz="2400" b="1" baseline="-25000" dirty="0" err="1">
                <a:latin typeface="黑体" panose="02010609060101010101" pitchFamily="49" charset="-122"/>
                <a:ea typeface="黑体" panose="02010609060101010101" pitchFamily="49" charset="-122"/>
              </a:rPr>
              <a:t>aq</a:t>
            </a:r>
            <a:r>
              <a:rPr lang="en-US" altLang="zh-CN" sz="2400" b="1" dirty="0" err="1">
                <a:latin typeface="黑体" panose="02010609060101010101" pitchFamily="49" charset="-122"/>
                <a:ea typeface="黑体" panose="02010609060101010101" pitchFamily="49" charset="-122"/>
              </a:rPr>
              <a:t>+X</a:t>
            </a:r>
            <a:r>
              <a:rPr lang="en-US" altLang="zh-CN" sz="2400" b="1" baseline="-25000" dirty="0" err="1">
                <a:latin typeface="黑体" panose="02010609060101010101" pitchFamily="49" charset="-122"/>
                <a:ea typeface="黑体" panose="02010609060101010101" pitchFamily="49" charset="-122"/>
              </a:rPr>
              <a:t>s</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忽略定子电阻时，同步电动机的电压平衡方程为</a:t>
            </a:r>
          </a:p>
        </p:txBody>
      </p:sp>
      <p:sp>
        <p:nvSpPr>
          <p:cNvPr id="26629" name="Rectangle 5">
            <a:extLst>
              <a:ext uri="{FF2B5EF4-FFF2-40B4-BE49-F238E27FC236}">
                <a16:creationId xmlns:a16="http://schemas.microsoft.com/office/drawing/2014/main" id="{42CB4061-300C-98A0-5F89-76761E846D94}"/>
              </a:ext>
            </a:extLst>
          </p:cNvPr>
          <p:cNvSpPr>
            <a:spLocks noChangeArrowheads="1"/>
          </p:cNvSpPr>
          <p:nvPr/>
        </p:nvSpPr>
        <p:spPr bwMode="auto">
          <a:xfrm>
            <a:off x="0"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6630" name="Object 4">
            <a:extLst>
              <a:ext uri="{FF2B5EF4-FFF2-40B4-BE49-F238E27FC236}">
                <a16:creationId xmlns:a16="http://schemas.microsoft.com/office/drawing/2014/main" id="{3A758295-9103-060A-641A-81EA3A058E88}"/>
              </a:ext>
            </a:extLst>
          </p:cNvPr>
          <p:cNvGraphicFramePr>
            <a:graphicFrameLocks noChangeAspect="1"/>
          </p:cNvGraphicFramePr>
          <p:nvPr>
            <p:extLst>
              <p:ext uri="{D42A27DB-BD31-4B8C-83A1-F6EECF244321}">
                <p14:modId xmlns:p14="http://schemas.microsoft.com/office/powerpoint/2010/main" val="3649151192"/>
              </p:ext>
            </p:extLst>
          </p:nvPr>
        </p:nvGraphicFramePr>
        <p:xfrm>
          <a:off x="611560" y="3262313"/>
          <a:ext cx="3600450" cy="754062"/>
        </p:xfrm>
        <a:graphic>
          <a:graphicData uri="http://schemas.openxmlformats.org/presentationml/2006/ole">
            <mc:AlternateContent xmlns:mc="http://schemas.openxmlformats.org/markup-compatibility/2006">
              <mc:Choice xmlns:v="urn:schemas-microsoft-com:vml" Requires="v">
                <p:oleObj name="Equation" r:id="rId2" imgW="1587500" imgH="330200" progId="Equation.DSMT4">
                  <p:embed/>
                </p:oleObj>
              </mc:Choice>
              <mc:Fallback>
                <p:oleObj name="Equation" r:id="rId2" imgW="1587500" imgH="330200" progId="Equation.DSMT4">
                  <p:embed/>
                  <p:pic>
                    <p:nvPicPr>
                      <p:cNvPr id="26630" name="Object 4">
                        <a:extLst>
                          <a:ext uri="{FF2B5EF4-FFF2-40B4-BE49-F238E27FC236}">
                            <a16:creationId xmlns:a16="http://schemas.microsoft.com/office/drawing/2014/main" id="{3A758295-9103-060A-641A-81EA3A058E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3262313"/>
                        <a:ext cx="3600450"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1" name="Rectangle 8">
            <a:extLst>
              <a:ext uri="{FF2B5EF4-FFF2-40B4-BE49-F238E27FC236}">
                <a16:creationId xmlns:a16="http://schemas.microsoft.com/office/drawing/2014/main" id="{4A77C89C-C3E1-F1A0-FCCE-78BB7D9AA48B}"/>
              </a:ext>
            </a:extLst>
          </p:cNvPr>
          <p:cNvSpPr>
            <a:spLocks noChangeArrowheads="1"/>
          </p:cNvSpPr>
          <p:nvPr/>
        </p:nvSpPr>
        <p:spPr bwMode="auto">
          <a:xfrm>
            <a:off x="0" y="2409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1273" name="Group 9">
            <a:extLst>
              <a:ext uri="{FF2B5EF4-FFF2-40B4-BE49-F238E27FC236}">
                <a16:creationId xmlns:a16="http://schemas.microsoft.com/office/drawing/2014/main" id="{CF5E0CDF-5646-05ED-B947-8B348824F4B7}"/>
              </a:ext>
            </a:extLst>
          </p:cNvPr>
          <p:cNvGrpSpPr>
            <a:grpSpLocks/>
          </p:cNvGrpSpPr>
          <p:nvPr/>
        </p:nvGrpSpPr>
        <p:grpSpPr bwMode="auto">
          <a:xfrm>
            <a:off x="439787" y="3040858"/>
            <a:ext cx="7862889" cy="3816350"/>
            <a:chOff x="-17" y="1920"/>
            <a:chExt cx="4953" cy="2404"/>
          </a:xfrm>
        </p:grpSpPr>
        <p:sp>
          <p:nvSpPr>
            <p:cNvPr id="26634" name="Text Box 6">
              <a:extLst>
                <a:ext uri="{FF2B5EF4-FFF2-40B4-BE49-F238E27FC236}">
                  <a16:creationId xmlns:a16="http://schemas.microsoft.com/office/drawing/2014/main" id="{52B0B2C2-630C-72CA-B574-DFA3FE38E037}"/>
                </a:ext>
              </a:extLst>
            </p:cNvPr>
            <p:cNvSpPr txBox="1">
              <a:spLocks noChangeArrowheads="1"/>
            </p:cNvSpPr>
            <p:nvPr/>
          </p:nvSpPr>
          <p:spPr bwMode="auto">
            <a:xfrm>
              <a:off x="-17" y="2770"/>
              <a:ext cx="2336" cy="1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10000"/>
                </a:lnSpc>
              </a:pPr>
              <a:r>
                <a:rPr lang="zh-CN" altLang="en-US" b="1" dirty="0">
                  <a:ea typeface="黑体" panose="02010609060101010101" pitchFamily="49" charset="-122"/>
                </a:rPr>
                <a:t>在大电网供电（</a:t>
              </a:r>
              <a:r>
                <a:rPr lang="zh-CN" altLang="en-US" b="1" dirty="0">
                  <a:solidFill>
                    <a:srgbClr val="FF0000"/>
                  </a:solidFill>
                  <a:ea typeface="黑体" panose="02010609060101010101" pitchFamily="49" charset="-122"/>
                </a:rPr>
                <a:t>电源不可控）</a:t>
              </a:r>
              <a:r>
                <a:rPr lang="zh-CN" altLang="en-US" b="1" dirty="0">
                  <a:ea typeface="黑体" panose="02010609060101010101" pitchFamily="49" charset="-122"/>
                </a:rPr>
                <a:t>时，同步电动机运行于电动状态且电流超前时的简化相量图（忽略定子电阻）为</a:t>
              </a:r>
            </a:p>
          </p:txBody>
        </p:sp>
        <p:graphicFrame>
          <p:nvGraphicFramePr>
            <p:cNvPr id="26635" name="Object 7">
              <a:extLst>
                <a:ext uri="{FF2B5EF4-FFF2-40B4-BE49-F238E27FC236}">
                  <a16:creationId xmlns:a16="http://schemas.microsoft.com/office/drawing/2014/main" id="{B4888730-CC07-F54D-A101-5838228C64A4}"/>
                </a:ext>
              </a:extLst>
            </p:cNvPr>
            <p:cNvGraphicFramePr>
              <a:graphicFrameLocks noChangeAspect="1"/>
            </p:cNvGraphicFramePr>
            <p:nvPr>
              <p:extLst>
                <p:ext uri="{D42A27DB-BD31-4B8C-83A1-F6EECF244321}">
                  <p14:modId xmlns:p14="http://schemas.microsoft.com/office/powerpoint/2010/main" val="4004625648"/>
                </p:ext>
              </p:extLst>
            </p:nvPr>
          </p:nvGraphicFramePr>
          <p:xfrm>
            <a:off x="2600" y="1920"/>
            <a:ext cx="2336" cy="2404"/>
          </p:xfrm>
          <a:graphic>
            <a:graphicData uri="http://schemas.openxmlformats.org/presentationml/2006/ole">
              <mc:AlternateContent xmlns:mc="http://schemas.openxmlformats.org/markup-compatibility/2006">
                <mc:Choice xmlns:v="urn:schemas-microsoft-com:vml" Requires="v">
                  <p:oleObj name="Microsoft Drawing" r:id="rId4" imgW="1978025" imgH="2038350" progId="MSDraw">
                    <p:embed/>
                  </p:oleObj>
                </mc:Choice>
                <mc:Fallback>
                  <p:oleObj name="Microsoft Drawing" r:id="rId4" imgW="1978025" imgH="2038350" progId="MSDraw">
                    <p:embed/>
                    <p:pic>
                      <p:nvPicPr>
                        <p:cNvPr id="26635" name="Object 7">
                          <a:extLst>
                            <a:ext uri="{FF2B5EF4-FFF2-40B4-BE49-F238E27FC236}">
                              <a16:creationId xmlns:a16="http://schemas.microsoft.com/office/drawing/2014/main" id="{B4888730-CC07-F54D-A101-5838228C64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0" y="1920"/>
                          <a:ext cx="2336" cy="240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1274" name="Text Box 10">
            <a:extLst>
              <a:ext uri="{FF2B5EF4-FFF2-40B4-BE49-F238E27FC236}">
                <a16:creationId xmlns:a16="http://schemas.microsoft.com/office/drawing/2014/main" id="{4F12E1C1-6CEC-579E-9102-CBE5FE42250B}"/>
              </a:ext>
            </a:extLst>
          </p:cNvPr>
          <p:cNvSpPr txBox="1">
            <a:spLocks noChangeArrowheads="1"/>
          </p:cNvSpPr>
          <p:nvPr/>
        </p:nvSpPr>
        <p:spPr bwMode="auto">
          <a:xfrm>
            <a:off x="6858000" y="502920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Symbol" panose="05050102010706020507" pitchFamily="18" charset="2"/>
              </a:rPr>
              <a:t>F</a:t>
            </a:r>
            <a:r>
              <a:rPr lang="zh-CN" altLang="en-US"/>
              <a:t>为功率因数角</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1273"/>
                                        </p:tgtEl>
                                        <p:attrNameLst>
                                          <p:attrName>style.visibility</p:attrName>
                                        </p:attrNameLst>
                                      </p:cBhvr>
                                      <p:to>
                                        <p:strVal val="visible"/>
                                      </p:to>
                                    </p:set>
                                    <p:animEffect transition="in" filter="dissolve">
                                      <p:cBhvr>
                                        <p:cTn id="7" dur="500"/>
                                        <p:tgtEl>
                                          <p:spTgt spid="112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1274"/>
                                        </p:tgtEl>
                                        <p:attrNameLst>
                                          <p:attrName>style.visibility</p:attrName>
                                        </p:attrNameLst>
                                      </p:cBhvr>
                                      <p:to>
                                        <p:strVal val="visible"/>
                                      </p:to>
                                    </p:set>
                                    <p:animEffect transition="in" filter="dissolve">
                                      <p:cBhvr>
                                        <p:cTn id="12" dur="500"/>
                                        <p:tgtEl>
                                          <p:spTgt spid="11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a:extLst>
              <a:ext uri="{FF2B5EF4-FFF2-40B4-BE49-F238E27FC236}">
                <a16:creationId xmlns:a16="http://schemas.microsoft.com/office/drawing/2014/main" id="{633077D5-4F45-815D-8AED-9660A837FA0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68C2881-FD82-47D7-87A4-A5494DF9A2C7}" type="slidenum">
              <a:rPr lang="en-US" altLang="zh-CN" sz="1400"/>
              <a:pPr/>
              <a:t>13</a:t>
            </a:fld>
            <a:endParaRPr lang="en-US" altLang="zh-CN" sz="1400"/>
          </a:p>
        </p:txBody>
      </p:sp>
      <p:sp>
        <p:nvSpPr>
          <p:cNvPr id="27651" name="Rectangle 2">
            <a:extLst>
              <a:ext uri="{FF2B5EF4-FFF2-40B4-BE49-F238E27FC236}">
                <a16:creationId xmlns:a16="http://schemas.microsoft.com/office/drawing/2014/main" id="{AD6B2956-243B-72E2-8647-C06DA8D5C658}"/>
              </a:ext>
            </a:extLst>
          </p:cNvPr>
          <p:cNvSpPr>
            <a:spLocks noGrp="1" noChangeArrowheads="1"/>
          </p:cNvSpPr>
          <p:nvPr>
            <p:ph type="title"/>
          </p:nvPr>
        </p:nvSpPr>
        <p:spPr>
          <a:xfrm>
            <a:off x="179512" y="1062832"/>
            <a:ext cx="8002588" cy="715962"/>
          </a:xfrm>
        </p:spPr>
        <p:txBody>
          <a:bodyPr/>
          <a:lstStyle/>
          <a:p>
            <a:pPr eaLnBrk="1" hangingPunct="1"/>
            <a:r>
              <a:rPr lang="zh-CN" altLang="en-US" sz="3200" b="1" dirty="0"/>
              <a:t>七、凸极同步电动机的功角、矩角特性</a:t>
            </a:r>
            <a:r>
              <a:rPr lang="zh-CN" altLang="en-US" dirty="0"/>
              <a:t> </a:t>
            </a:r>
          </a:p>
        </p:txBody>
      </p:sp>
      <p:sp>
        <p:nvSpPr>
          <p:cNvPr id="27652" name="Rectangle 5">
            <a:extLst>
              <a:ext uri="{FF2B5EF4-FFF2-40B4-BE49-F238E27FC236}">
                <a16:creationId xmlns:a16="http://schemas.microsoft.com/office/drawing/2014/main" id="{8ED81D74-68F8-CC58-DB9A-0B7EBBB0498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53" name="Rectangle 7">
            <a:extLst>
              <a:ext uri="{FF2B5EF4-FFF2-40B4-BE49-F238E27FC236}">
                <a16:creationId xmlns:a16="http://schemas.microsoft.com/office/drawing/2014/main" id="{84A5A1B7-12D5-98D2-ADBF-B2873EBDE7B8}"/>
              </a:ext>
            </a:extLst>
          </p:cNvPr>
          <p:cNvSpPr>
            <a:spLocks noChangeArrowheads="1"/>
          </p:cNvSpPr>
          <p:nvPr/>
        </p:nvSpPr>
        <p:spPr bwMode="auto">
          <a:xfrm>
            <a:off x="0" y="2409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54" name="Rectangle 11">
            <a:extLst>
              <a:ext uri="{FF2B5EF4-FFF2-40B4-BE49-F238E27FC236}">
                <a16:creationId xmlns:a16="http://schemas.microsoft.com/office/drawing/2014/main" id="{EDE780E2-1434-C82C-88D7-9F4397CF5AE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55" name="Rectangle 13">
            <a:extLst>
              <a:ext uri="{FF2B5EF4-FFF2-40B4-BE49-F238E27FC236}">
                <a16:creationId xmlns:a16="http://schemas.microsoft.com/office/drawing/2014/main" id="{22B84CF2-7723-9D8B-DBFB-303B10F0E7F3}"/>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56" name="Text Box 17">
            <a:extLst>
              <a:ext uri="{FF2B5EF4-FFF2-40B4-BE49-F238E27FC236}">
                <a16:creationId xmlns:a16="http://schemas.microsoft.com/office/drawing/2014/main" id="{F432271A-D027-4F47-93BE-68F89E4F149B}"/>
              </a:ext>
            </a:extLst>
          </p:cNvPr>
          <p:cNvSpPr txBox="1">
            <a:spLocks noChangeArrowheads="1"/>
          </p:cNvSpPr>
          <p:nvPr/>
        </p:nvSpPr>
        <p:spPr bwMode="auto">
          <a:xfrm>
            <a:off x="342751" y="2476500"/>
            <a:ext cx="2622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dirty="0"/>
              <a:t>与同步发电机相似</a:t>
            </a:r>
          </a:p>
        </p:txBody>
      </p:sp>
      <p:graphicFrame>
        <p:nvGraphicFramePr>
          <p:cNvPr id="27657" name="Object 18">
            <a:extLst>
              <a:ext uri="{FF2B5EF4-FFF2-40B4-BE49-F238E27FC236}">
                <a16:creationId xmlns:a16="http://schemas.microsoft.com/office/drawing/2014/main" id="{603A129D-1ECB-2F50-15E5-CFA3ADB48E47}"/>
              </a:ext>
            </a:extLst>
          </p:cNvPr>
          <p:cNvGraphicFramePr>
            <a:graphicFrameLocks noChangeAspect="1"/>
          </p:cNvGraphicFramePr>
          <p:nvPr>
            <p:extLst>
              <p:ext uri="{D42A27DB-BD31-4B8C-83A1-F6EECF244321}">
                <p14:modId xmlns:p14="http://schemas.microsoft.com/office/powerpoint/2010/main" val="451751263"/>
              </p:ext>
            </p:extLst>
          </p:nvPr>
        </p:nvGraphicFramePr>
        <p:xfrm>
          <a:off x="0" y="3303588"/>
          <a:ext cx="5921375" cy="942975"/>
        </p:xfrm>
        <a:graphic>
          <a:graphicData uri="http://schemas.openxmlformats.org/presentationml/2006/ole">
            <mc:AlternateContent xmlns:mc="http://schemas.openxmlformats.org/markup-compatibility/2006">
              <mc:Choice xmlns:v="urn:schemas-microsoft-com:vml" Requires="v">
                <p:oleObj name="Equation" r:id="rId2" imgW="2933700" imgH="469900" progId="Equation.DSMT4">
                  <p:embed/>
                </p:oleObj>
              </mc:Choice>
              <mc:Fallback>
                <p:oleObj name="Equation" r:id="rId2" imgW="2933700" imgH="469900" progId="Equation.DSMT4">
                  <p:embed/>
                  <p:pic>
                    <p:nvPicPr>
                      <p:cNvPr id="27657" name="Object 18">
                        <a:extLst>
                          <a:ext uri="{FF2B5EF4-FFF2-40B4-BE49-F238E27FC236}">
                            <a16:creationId xmlns:a16="http://schemas.microsoft.com/office/drawing/2014/main" id="{603A129D-1ECB-2F50-15E5-CFA3ADB48E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303588"/>
                        <a:ext cx="5921375" cy="942975"/>
                      </a:xfrm>
                      <a:prstGeom prst="rect">
                        <a:avLst/>
                      </a:prstGeom>
                      <a:noFill/>
                      <a:ln>
                        <a:noFill/>
                      </a:ln>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31" name="Object 19">
            <a:extLst>
              <a:ext uri="{FF2B5EF4-FFF2-40B4-BE49-F238E27FC236}">
                <a16:creationId xmlns:a16="http://schemas.microsoft.com/office/drawing/2014/main" id="{41E78778-72D1-A33E-B1D9-BCCC098B1002}"/>
              </a:ext>
            </a:extLst>
          </p:cNvPr>
          <p:cNvGraphicFramePr>
            <a:graphicFrameLocks noChangeAspect="1"/>
          </p:cNvGraphicFramePr>
          <p:nvPr>
            <p:extLst>
              <p:ext uri="{D42A27DB-BD31-4B8C-83A1-F6EECF244321}">
                <p14:modId xmlns:p14="http://schemas.microsoft.com/office/powerpoint/2010/main" val="3327349376"/>
              </p:ext>
            </p:extLst>
          </p:nvPr>
        </p:nvGraphicFramePr>
        <p:xfrm>
          <a:off x="4584" y="4397850"/>
          <a:ext cx="6559550" cy="928688"/>
        </p:xfrm>
        <a:graphic>
          <a:graphicData uri="http://schemas.openxmlformats.org/presentationml/2006/ole">
            <mc:AlternateContent xmlns:mc="http://schemas.openxmlformats.org/markup-compatibility/2006">
              <mc:Choice xmlns:v="urn:schemas-microsoft-com:vml" Requires="v">
                <p:oleObj name="Equation" r:id="rId4" imgW="3302000" imgH="469900" progId="Equation.DSMT4">
                  <p:embed/>
                </p:oleObj>
              </mc:Choice>
              <mc:Fallback>
                <p:oleObj name="Equation" r:id="rId4" imgW="3302000" imgH="469900" progId="Equation.DSMT4">
                  <p:embed/>
                  <p:pic>
                    <p:nvPicPr>
                      <p:cNvPr id="13331" name="Object 19">
                        <a:extLst>
                          <a:ext uri="{FF2B5EF4-FFF2-40B4-BE49-F238E27FC236}">
                            <a16:creationId xmlns:a16="http://schemas.microsoft.com/office/drawing/2014/main" id="{41E78778-72D1-A33E-B1D9-BCCC098B10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84" y="4397850"/>
                        <a:ext cx="6559550" cy="928688"/>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32" name="Rectangle 20">
            <a:extLst>
              <a:ext uri="{FF2B5EF4-FFF2-40B4-BE49-F238E27FC236}">
                <a16:creationId xmlns:a16="http://schemas.microsoft.com/office/drawing/2014/main" id="{9F11B1F3-C7A9-78F8-37A8-9651F5A97F67}"/>
              </a:ext>
            </a:extLst>
          </p:cNvPr>
          <p:cNvSpPr>
            <a:spLocks noChangeArrowheads="1"/>
          </p:cNvSpPr>
          <p:nvPr/>
        </p:nvSpPr>
        <p:spPr bwMode="auto">
          <a:xfrm>
            <a:off x="381000" y="5334000"/>
            <a:ext cx="85820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ea typeface="华文中宋" panose="02010600040101010101" pitchFamily="2" charset="-122"/>
              </a:rPr>
              <a:t>电源电压、相电势为常数时，凸极同步电动机的电磁功率只随功角变化</a:t>
            </a:r>
            <a:r>
              <a:rPr lang="zh-CN" altLang="en-US" sz="1800"/>
              <a:t> </a:t>
            </a:r>
          </a:p>
        </p:txBody>
      </p:sp>
      <p:graphicFrame>
        <p:nvGraphicFramePr>
          <p:cNvPr id="27660" name="Object 21">
            <a:extLst>
              <a:ext uri="{FF2B5EF4-FFF2-40B4-BE49-F238E27FC236}">
                <a16:creationId xmlns:a16="http://schemas.microsoft.com/office/drawing/2014/main" id="{E9CF91DC-724B-7B12-9D3A-F9FFD5E189BB}"/>
              </a:ext>
            </a:extLst>
          </p:cNvPr>
          <p:cNvGraphicFramePr>
            <a:graphicFrameLocks noChangeAspect="1"/>
          </p:cNvGraphicFramePr>
          <p:nvPr>
            <p:extLst>
              <p:ext uri="{D42A27DB-BD31-4B8C-83A1-F6EECF244321}">
                <p14:modId xmlns:p14="http://schemas.microsoft.com/office/powerpoint/2010/main" val="145730578"/>
              </p:ext>
            </p:extLst>
          </p:nvPr>
        </p:nvGraphicFramePr>
        <p:xfrm>
          <a:off x="5921375" y="1771650"/>
          <a:ext cx="2865438" cy="2952750"/>
        </p:xfrm>
        <a:graphic>
          <a:graphicData uri="http://schemas.openxmlformats.org/presentationml/2006/ole">
            <mc:AlternateContent xmlns:mc="http://schemas.openxmlformats.org/markup-compatibility/2006">
              <mc:Choice xmlns:v="urn:schemas-microsoft-com:vml" Requires="v">
                <p:oleObj name="Microsoft Drawing" r:id="rId6" imgW="1978025" imgH="2038350" progId="MSDraw">
                  <p:embed/>
                </p:oleObj>
              </mc:Choice>
              <mc:Fallback>
                <p:oleObj name="Microsoft Drawing" r:id="rId6" imgW="1978025" imgH="2038350" progId="MSDraw">
                  <p:embed/>
                  <p:pic>
                    <p:nvPicPr>
                      <p:cNvPr id="27660" name="Object 21">
                        <a:extLst>
                          <a:ext uri="{FF2B5EF4-FFF2-40B4-BE49-F238E27FC236}">
                            <a16:creationId xmlns:a16="http://schemas.microsoft.com/office/drawing/2014/main" id="{E9CF91DC-724B-7B12-9D3A-F9FFD5E189B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21375" y="1771650"/>
                        <a:ext cx="2865438"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331"/>
                                        </p:tgtEl>
                                        <p:attrNameLst>
                                          <p:attrName>style.visibility</p:attrName>
                                        </p:attrNameLst>
                                      </p:cBhvr>
                                      <p:to>
                                        <p:strVal val="visible"/>
                                      </p:to>
                                    </p:set>
                                    <p:animEffect transition="in" filter="blinds(horizontal)">
                                      <p:cBhvr>
                                        <p:cTn id="7" dur="500"/>
                                        <p:tgtEl>
                                          <p:spTgt spid="133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3332"/>
                                        </p:tgtEl>
                                        <p:attrNameLst>
                                          <p:attrName>style.visibility</p:attrName>
                                        </p:attrNameLst>
                                      </p:cBhvr>
                                      <p:to>
                                        <p:strVal val="visible"/>
                                      </p:to>
                                    </p:set>
                                    <p:animEffect transition="in" filter="dissolve">
                                      <p:cBhvr>
                                        <p:cTn id="12" dur="500"/>
                                        <p:tgtEl>
                                          <p:spTgt spid="13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32"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a:extLst>
              <a:ext uri="{FF2B5EF4-FFF2-40B4-BE49-F238E27FC236}">
                <a16:creationId xmlns:a16="http://schemas.microsoft.com/office/drawing/2014/main" id="{2F2D4F5C-5DCD-3270-8C7C-AE9DD1CAE879}"/>
              </a:ext>
            </a:extLst>
          </p:cNvPr>
          <p:cNvSpPr>
            <a:spLocks noGrp="1"/>
          </p:cNvSpPr>
          <p:nvPr>
            <p:ph type="sldNum" sz="quarter" idx="12"/>
          </p:nvPr>
        </p:nvSpPr>
        <p:spPr>
          <a:xfrm>
            <a:off x="6481441" y="5717793"/>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61BC83D-30FB-4C32-8F8F-9DB23764ED20}" type="slidenum">
              <a:rPr lang="en-US" altLang="zh-CN" sz="1400"/>
              <a:pPr/>
              <a:t>14</a:t>
            </a:fld>
            <a:endParaRPr lang="en-US" altLang="zh-CN" sz="1400"/>
          </a:p>
        </p:txBody>
      </p:sp>
      <p:sp>
        <p:nvSpPr>
          <p:cNvPr id="28675" name="Rectangle 2">
            <a:extLst>
              <a:ext uri="{FF2B5EF4-FFF2-40B4-BE49-F238E27FC236}">
                <a16:creationId xmlns:a16="http://schemas.microsoft.com/office/drawing/2014/main" id="{9C6C0CB9-A5C4-B57F-064D-1F606B27E65E}"/>
              </a:ext>
            </a:extLst>
          </p:cNvPr>
          <p:cNvSpPr>
            <a:spLocks noGrp="1" noChangeArrowheads="1"/>
          </p:cNvSpPr>
          <p:nvPr>
            <p:ph type="title"/>
          </p:nvPr>
        </p:nvSpPr>
        <p:spPr>
          <a:xfrm>
            <a:off x="457200" y="274638"/>
            <a:ext cx="1235075" cy="561975"/>
          </a:xfrm>
        </p:spPr>
        <p:txBody>
          <a:bodyPr/>
          <a:lstStyle/>
          <a:p>
            <a:pPr eaLnBrk="1" hangingPunct="1"/>
            <a:r>
              <a:rPr lang="zh-CN" altLang="en-US" sz="2800"/>
              <a:t>讨论</a:t>
            </a:r>
          </a:p>
        </p:txBody>
      </p:sp>
      <p:sp>
        <p:nvSpPr>
          <p:cNvPr id="28676" name="Rectangle 3">
            <a:extLst>
              <a:ext uri="{FF2B5EF4-FFF2-40B4-BE49-F238E27FC236}">
                <a16:creationId xmlns:a16="http://schemas.microsoft.com/office/drawing/2014/main" id="{4A47E7CD-EADF-74CB-FBCC-3AA631C5CA9B}"/>
              </a:ext>
            </a:extLst>
          </p:cNvPr>
          <p:cNvSpPr>
            <a:spLocks noGrp="1" noChangeArrowheads="1"/>
          </p:cNvSpPr>
          <p:nvPr>
            <p:ph type="body" idx="1"/>
          </p:nvPr>
        </p:nvSpPr>
        <p:spPr>
          <a:xfrm>
            <a:off x="323528" y="1196752"/>
            <a:ext cx="6707188" cy="503238"/>
          </a:xfrm>
        </p:spPr>
        <p:txBody>
          <a:bodyPr/>
          <a:lstStyle/>
          <a:p>
            <a:pPr eaLnBrk="1" hangingPunct="1"/>
            <a:r>
              <a:rPr lang="zh-CN" altLang="en-US" sz="2400" dirty="0"/>
              <a:t>凸极同步电动机的电磁功率由两部分组成：</a:t>
            </a:r>
            <a:endParaRPr lang="zh-CN" altLang="en-US" dirty="0"/>
          </a:p>
        </p:txBody>
      </p:sp>
      <p:sp>
        <p:nvSpPr>
          <p:cNvPr id="28678" name="Text Box 7">
            <a:extLst>
              <a:ext uri="{FF2B5EF4-FFF2-40B4-BE49-F238E27FC236}">
                <a16:creationId xmlns:a16="http://schemas.microsoft.com/office/drawing/2014/main" id="{A1DC0D0A-211D-04B1-D856-D9FBB028E13B}"/>
              </a:ext>
            </a:extLst>
          </p:cNvPr>
          <p:cNvSpPr txBox="1">
            <a:spLocks noChangeArrowheads="1"/>
          </p:cNvSpPr>
          <p:nvPr/>
        </p:nvSpPr>
        <p:spPr bwMode="auto">
          <a:xfrm>
            <a:off x="385441" y="1844452"/>
            <a:ext cx="5060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dirty="0"/>
              <a:t>第一项是与隐极相同的基本电磁功率</a:t>
            </a:r>
          </a:p>
        </p:txBody>
      </p:sp>
      <p:graphicFrame>
        <p:nvGraphicFramePr>
          <p:cNvPr id="28679" name="Object 8">
            <a:extLst>
              <a:ext uri="{FF2B5EF4-FFF2-40B4-BE49-F238E27FC236}">
                <a16:creationId xmlns:a16="http://schemas.microsoft.com/office/drawing/2014/main" id="{47E71AD1-DC7C-C680-4B28-9821869D5DD1}"/>
              </a:ext>
            </a:extLst>
          </p:cNvPr>
          <p:cNvGraphicFramePr>
            <a:graphicFrameLocks noChangeAspect="1"/>
          </p:cNvGraphicFramePr>
          <p:nvPr>
            <p:extLst>
              <p:ext uri="{D42A27DB-BD31-4B8C-83A1-F6EECF244321}">
                <p14:modId xmlns:p14="http://schemas.microsoft.com/office/powerpoint/2010/main" val="2427376019"/>
              </p:ext>
            </p:extLst>
          </p:nvPr>
        </p:nvGraphicFramePr>
        <p:xfrm>
          <a:off x="5489253" y="1699990"/>
          <a:ext cx="2001838" cy="896937"/>
        </p:xfrm>
        <a:graphic>
          <a:graphicData uri="http://schemas.openxmlformats.org/presentationml/2006/ole">
            <mc:AlternateContent xmlns:mc="http://schemas.openxmlformats.org/markup-compatibility/2006">
              <mc:Choice xmlns:v="urn:schemas-microsoft-com:vml" Requires="v">
                <p:oleObj name="Equation" r:id="rId2" imgW="952087" imgH="431613" progId="Equation.DSMT4">
                  <p:embed/>
                </p:oleObj>
              </mc:Choice>
              <mc:Fallback>
                <p:oleObj name="Equation" r:id="rId2" imgW="952087" imgH="431613" progId="Equation.DSMT4">
                  <p:embed/>
                  <p:pic>
                    <p:nvPicPr>
                      <p:cNvPr id="28679" name="Object 8">
                        <a:extLst>
                          <a:ext uri="{FF2B5EF4-FFF2-40B4-BE49-F238E27FC236}">
                            <a16:creationId xmlns:a16="http://schemas.microsoft.com/office/drawing/2014/main" id="{47E71AD1-DC7C-C680-4B28-9821869D5D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9253" y="1699990"/>
                        <a:ext cx="2001838"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8680" name="Group 19">
            <a:extLst>
              <a:ext uri="{FF2B5EF4-FFF2-40B4-BE49-F238E27FC236}">
                <a16:creationId xmlns:a16="http://schemas.microsoft.com/office/drawing/2014/main" id="{A39B3927-324A-E340-7A71-6D101D07FFBC}"/>
              </a:ext>
            </a:extLst>
          </p:cNvPr>
          <p:cNvGrpSpPr>
            <a:grpSpLocks/>
          </p:cNvGrpSpPr>
          <p:nvPr/>
        </p:nvGrpSpPr>
        <p:grpSpPr bwMode="auto">
          <a:xfrm>
            <a:off x="426716" y="2752343"/>
            <a:ext cx="3997325" cy="3303587"/>
            <a:chOff x="373" y="1661"/>
            <a:chExt cx="2518" cy="2081"/>
          </a:xfrm>
        </p:grpSpPr>
        <p:sp>
          <p:nvSpPr>
            <p:cNvPr id="28683" name="Text Box 12">
              <a:extLst>
                <a:ext uri="{FF2B5EF4-FFF2-40B4-BE49-F238E27FC236}">
                  <a16:creationId xmlns:a16="http://schemas.microsoft.com/office/drawing/2014/main" id="{CE4A0FE6-D15F-9F02-6C04-C02B08349AA8}"/>
                </a:ext>
              </a:extLst>
            </p:cNvPr>
            <p:cNvSpPr txBox="1">
              <a:spLocks noChangeArrowheads="1"/>
            </p:cNvSpPr>
            <p:nvPr/>
          </p:nvSpPr>
          <p:spPr bwMode="auto">
            <a:xfrm>
              <a:off x="373" y="1752"/>
              <a:ext cx="2053" cy="1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40000"/>
                </a:lnSpc>
              </a:pPr>
              <a:r>
                <a:rPr lang="zh-CN" altLang="en-US"/>
                <a:t>第二项                                  </a:t>
              </a:r>
            </a:p>
            <a:p>
              <a:pPr eaLnBrk="1" hangingPunct="1">
                <a:lnSpc>
                  <a:spcPct val="140000"/>
                </a:lnSpc>
              </a:pPr>
              <a:r>
                <a:rPr lang="zh-CN" altLang="en-US"/>
                <a:t>称为</a:t>
              </a:r>
              <a:r>
                <a:rPr lang="zh-CN" altLang="en-US" b="1">
                  <a:solidFill>
                    <a:schemeClr val="accent2"/>
                  </a:solidFill>
                </a:rPr>
                <a:t>附加电磁功率</a:t>
              </a:r>
              <a:r>
                <a:rPr lang="zh-CN" altLang="en-US"/>
                <a:t>，</a:t>
              </a:r>
            </a:p>
            <a:p>
              <a:pPr eaLnBrk="1" hangingPunct="1">
                <a:lnSpc>
                  <a:spcPct val="140000"/>
                </a:lnSpc>
              </a:pPr>
              <a:r>
                <a:rPr lang="zh-CN" altLang="en-US"/>
                <a:t>是由</a:t>
              </a:r>
              <a:r>
                <a:rPr lang="en-US" altLang="zh-CN"/>
                <a:t>d</a:t>
              </a:r>
              <a:r>
                <a:rPr lang="zh-CN" altLang="en-US"/>
                <a:t>、</a:t>
              </a:r>
              <a:r>
                <a:rPr lang="en-US" altLang="zh-CN"/>
                <a:t>q</a:t>
              </a:r>
              <a:r>
                <a:rPr lang="zh-CN" altLang="en-US"/>
                <a:t>轴的磁阻不等使              引起的，产生的转矩又称为</a:t>
              </a:r>
            </a:p>
            <a:p>
              <a:pPr eaLnBrk="1" hangingPunct="1">
                <a:lnSpc>
                  <a:spcPct val="140000"/>
                </a:lnSpc>
              </a:pPr>
              <a:r>
                <a:rPr lang="zh-CN" altLang="en-US" b="1">
                  <a:solidFill>
                    <a:srgbClr val="0000FF"/>
                  </a:solidFill>
                </a:rPr>
                <a:t>磁阻转矩</a:t>
              </a:r>
              <a:r>
                <a:rPr lang="zh-CN" altLang="en-US"/>
                <a:t>。   </a:t>
              </a:r>
            </a:p>
          </p:txBody>
        </p:sp>
        <p:graphicFrame>
          <p:nvGraphicFramePr>
            <p:cNvPr id="28684" name="Object 13">
              <a:extLst>
                <a:ext uri="{FF2B5EF4-FFF2-40B4-BE49-F238E27FC236}">
                  <a16:creationId xmlns:a16="http://schemas.microsoft.com/office/drawing/2014/main" id="{C07FD9D9-BB35-395B-8C71-1575FDB1EC5C}"/>
                </a:ext>
              </a:extLst>
            </p:cNvPr>
            <p:cNvGraphicFramePr>
              <a:graphicFrameLocks noChangeAspect="1"/>
            </p:cNvGraphicFramePr>
            <p:nvPr/>
          </p:nvGraphicFramePr>
          <p:xfrm>
            <a:off x="964" y="1661"/>
            <a:ext cx="1927" cy="574"/>
          </p:xfrm>
          <a:graphic>
            <a:graphicData uri="http://schemas.openxmlformats.org/presentationml/2006/ole">
              <mc:AlternateContent xmlns:mc="http://schemas.openxmlformats.org/markup-compatibility/2006">
                <mc:Choice xmlns:v="urn:schemas-microsoft-com:vml" Requires="v">
                  <p:oleObj name="Equation" r:id="rId4" imgW="1562100" imgH="469900" progId="Equation.DSMT4">
                    <p:embed/>
                  </p:oleObj>
                </mc:Choice>
                <mc:Fallback>
                  <p:oleObj name="Equation" r:id="rId4" imgW="1562100" imgH="469900" progId="Equation.DSMT4">
                    <p:embed/>
                    <p:pic>
                      <p:nvPicPr>
                        <p:cNvPr id="28684" name="Object 13">
                          <a:extLst>
                            <a:ext uri="{FF2B5EF4-FFF2-40B4-BE49-F238E27FC236}">
                              <a16:creationId xmlns:a16="http://schemas.microsoft.com/office/drawing/2014/main" id="{C07FD9D9-BB35-395B-8C71-1575FDB1EC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4" y="1661"/>
                          <a:ext cx="1927" cy="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8681" name="Object 15">
            <a:extLst>
              <a:ext uri="{FF2B5EF4-FFF2-40B4-BE49-F238E27FC236}">
                <a16:creationId xmlns:a16="http://schemas.microsoft.com/office/drawing/2014/main" id="{1EEA5D72-A444-07CE-F1B3-BE0D5A67B6BB}"/>
              </a:ext>
            </a:extLst>
          </p:cNvPr>
          <p:cNvGraphicFramePr>
            <a:graphicFrameLocks noChangeAspect="1"/>
          </p:cNvGraphicFramePr>
          <p:nvPr>
            <p:extLst>
              <p:ext uri="{D42A27DB-BD31-4B8C-83A1-F6EECF244321}">
                <p14:modId xmlns:p14="http://schemas.microsoft.com/office/powerpoint/2010/main" val="3480537582"/>
              </p:ext>
            </p:extLst>
          </p:nvPr>
        </p:nvGraphicFramePr>
        <p:xfrm>
          <a:off x="1232620" y="4527169"/>
          <a:ext cx="1154112" cy="481012"/>
        </p:xfrm>
        <a:graphic>
          <a:graphicData uri="http://schemas.openxmlformats.org/presentationml/2006/ole">
            <mc:AlternateContent xmlns:mc="http://schemas.openxmlformats.org/markup-compatibility/2006">
              <mc:Choice xmlns:v="urn:schemas-microsoft-com:vml" Requires="v">
                <p:oleObj name="Equation" r:id="rId6" imgW="571252" imgH="241195" progId="Equation.DSMT4">
                  <p:embed/>
                </p:oleObj>
              </mc:Choice>
              <mc:Fallback>
                <p:oleObj name="Equation" r:id="rId6" imgW="571252" imgH="241195" progId="Equation.DSMT4">
                  <p:embed/>
                  <p:pic>
                    <p:nvPicPr>
                      <p:cNvPr id="28681" name="Object 15">
                        <a:extLst>
                          <a:ext uri="{FF2B5EF4-FFF2-40B4-BE49-F238E27FC236}">
                            <a16:creationId xmlns:a16="http://schemas.microsoft.com/office/drawing/2014/main" id="{1EEA5D72-A444-07CE-F1B3-BE0D5A67B6B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32620" y="4527169"/>
                        <a:ext cx="1154112"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8682" name="Picture 20">
            <a:extLst>
              <a:ext uri="{FF2B5EF4-FFF2-40B4-BE49-F238E27FC236}">
                <a16:creationId xmlns:a16="http://schemas.microsoft.com/office/drawing/2014/main" id="{62F024E6-AEDA-BC1E-690C-D787F0B197D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424042" y="2741389"/>
            <a:ext cx="4191000" cy="383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a:extLst>
              <a:ext uri="{FF2B5EF4-FFF2-40B4-BE49-F238E27FC236}">
                <a16:creationId xmlns:a16="http://schemas.microsoft.com/office/drawing/2014/main" id="{F729D41B-A22C-852A-33E1-C6A36B4F771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45900E6-E1AD-4390-9335-90B7D1CF513E}" type="slidenum">
              <a:rPr lang="en-US" altLang="zh-CN" sz="1400"/>
              <a:pPr/>
              <a:t>15</a:t>
            </a:fld>
            <a:endParaRPr lang="en-US" altLang="zh-CN" sz="1400"/>
          </a:p>
        </p:txBody>
      </p:sp>
      <p:sp>
        <p:nvSpPr>
          <p:cNvPr id="29699" name="Rectangle 2">
            <a:extLst>
              <a:ext uri="{FF2B5EF4-FFF2-40B4-BE49-F238E27FC236}">
                <a16:creationId xmlns:a16="http://schemas.microsoft.com/office/drawing/2014/main" id="{53117558-C458-7FCE-DE20-35FEB632A661}"/>
              </a:ext>
            </a:extLst>
          </p:cNvPr>
          <p:cNvSpPr>
            <a:spLocks noGrp="1" noChangeArrowheads="1"/>
          </p:cNvSpPr>
          <p:nvPr>
            <p:ph type="title"/>
          </p:nvPr>
        </p:nvSpPr>
        <p:spPr>
          <a:xfrm>
            <a:off x="298449" y="994916"/>
            <a:ext cx="8002588" cy="777875"/>
          </a:xfrm>
        </p:spPr>
        <p:txBody>
          <a:bodyPr/>
          <a:lstStyle/>
          <a:p>
            <a:pPr eaLnBrk="1" hangingPunct="1"/>
            <a:r>
              <a:rPr lang="zh-CN" altLang="en-US" sz="3200"/>
              <a:t>讨论：凸极电机的最大电磁功率与转矩</a:t>
            </a:r>
          </a:p>
        </p:txBody>
      </p:sp>
      <p:sp>
        <p:nvSpPr>
          <p:cNvPr id="29700" name="Rectangle 3">
            <a:extLst>
              <a:ext uri="{FF2B5EF4-FFF2-40B4-BE49-F238E27FC236}">
                <a16:creationId xmlns:a16="http://schemas.microsoft.com/office/drawing/2014/main" id="{9F816D6B-ED91-E605-F072-983500309488}"/>
              </a:ext>
            </a:extLst>
          </p:cNvPr>
          <p:cNvSpPr>
            <a:spLocks noGrp="1" noChangeArrowheads="1"/>
          </p:cNvSpPr>
          <p:nvPr>
            <p:ph type="body" idx="1"/>
          </p:nvPr>
        </p:nvSpPr>
        <p:spPr>
          <a:xfrm>
            <a:off x="298449" y="1845816"/>
            <a:ext cx="4186238" cy="1582737"/>
          </a:xfrm>
        </p:spPr>
        <p:txBody>
          <a:bodyPr/>
          <a:lstStyle/>
          <a:p>
            <a:pPr eaLnBrk="1" hangingPunct="1">
              <a:buFont typeface="Wingdings" panose="05000000000000000000" pitchFamily="2" charset="2"/>
              <a:buChar char="Ø"/>
            </a:pPr>
            <a:r>
              <a:rPr lang="zh-CN" altLang="en-US" sz="2400"/>
              <a:t>凸极电机的稳定性与隐极电机相似，但由于有附加电磁转矩，最大电磁转矩增加、过载能力增强。 </a:t>
            </a:r>
          </a:p>
        </p:txBody>
      </p:sp>
      <p:sp>
        <p:nvSpPr>
          <p:cNvPr id="17413" name="Text Box 5">
            <a:extLst>
              <a:ext uri="{FF2B5EF4-FFF2-40B4-BE49-F238E27FC236}">
                <a16:creationId xmlns:a16="http://schemas.microsoft.com/office/drawing/2014/main" id="{B2675D8F-EAF7-7E5E-7F39-B39D501CCF0D}"/>
              </a:ext>
            </a:extLst>
          </p:cNvPr>
          <p:cNvSpPr txBox="1">
            <a:spLocks noChangeArrowheads="1"/>
          </p:cNvSpPr>
          <p:nvPr/>
        </p:nvSpPr>
        <p:spPr bwMode="auto">
          <a:xfrm>
            <a:off x="217487" y="3573016"/>
            <a:ext cx="419576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pPr>
            <a:r>
              <a:rPr lang="zh-CN" altLang="en-US"/>
              <a:t>产生最大电磁功率与转矩的</a:t>
            </a:r>
          </a:p>
          <a:p>
            <a:pPr eaLnBrk="1" hangingPunct="1">
              <a:buFont typeface="Wingdings" panose="05000000000000000000" pitchFamily="2" charset="2"/>
              <a:buNone/>
            </a:pPr>
            <a:r>
              <a:rPr lang="zh-CN" altLang="en-US"/>
              <a:t>   功角绝对值小于</a:t>
            </a:r>
            <a:r>
              <a:rPr lang="en-US" altLang="zh-CN"/>
              <a:t>90</a:t>
            </a:r>
            <a:r>
              <a:rPr lang="en-US" altLang="zh-CN" baseline="30000"/>
              <a:t>0</a:t>
            </a:r>
            <a:r>
              <a:rPr lang="zh-CN" altLang="en-US"/>
              <a:t>，可通过求极值求得。</a:t>
            </a:r>
          </a:p>
        </p:txBody>
      </p:sp>
      <p:pic>
        <p:nvPicPr>
          <p:cNvPr id="29702" name="Picture 6">
            <a:extLst>
              <a:ext uri="{FF2B5EF4-FFF2-40B4-BE49-F238E27FC236}">
                <a16:creationId xmlns:a16="http://schemas.microsoft.com/office/drawing/2014/main" id="{70B959E7-1CA4-2668-9B58-40CA0A02F26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0" y="2057400"/>
            <a:ext cx="4354513" cy="398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413"/>
                                        </p:tgtEl>
                                        <p:attrNameLst>
                                          <p:attrName>style.visibility</p:attrName>
                                        </p:attrNameLst>
                                      </p:cBhvr>
                                      <p:to>
                                        <p:strVal val="visible"/>
                                      </p:to>
                                    </p:set>
                                    <p:animEffect transition="in" filter="blinds(horizontal)">
                                      <p:cBhvr>
                                        <p:cTn id="7" dur="500"/>
                                        <p:tgtEl>
                                          <p:spTgt spid="17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a:extLst>
              <a:ext uri="{FF2B5EF4-FFF2-40B4-BE49-F238E27FC236}">
                <a16:creationId xmlns:a16="http://schemas.microsoft.com/office/drawing/2014/main" id="{0775E03D-D82C-E087-4049-D70E8108566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27376E3-1442-4E9C-92D5-47397D2BEC47}" type="slidenum">
              <a:rPr lang="en-US" altLang="zh-CN" sz="1400" smtClean="0"/>
              <a:pPr>
                <a:spcBef>
                  <a:spcPct val="0"/>
                </a:spcBef>
                <a:buFontTx/>
                <a:buNone/>
              </a:pPr>
              <a:t>16</a:t>
            </a:fld>
            <a:endParaRPr lang="en-US" altLang="zh-CN" sz="1400"/>
          </a:p>
        </p:txBody>
      </p:sp>
      <p:sp>
        <p:nvSpPr>
          <p:cNvPr id="4100" name="Rectangle 1084">
            <a:extLst>
              <a:ext uri="{FF2B5EF4-FFF2-40B4-BE49-F238E27FC236}">
                <a16:creationId xmlns:a16="http://schemas.microsoft.com/office/drawing/2014/main" id="{1B61D770-C887-86D0-0001-028EAD456A86}"/>
              </a:ext>
            </a:extLst>
          </p:cNvPr>
          <p:cNvSpPr>
            <a:spLocks noGrp="1" noChangeArrowheads="1"/>
          </p:cNvSpPr>
          <p:nvPr>
            <p:ph type="body" idx="1"/>
          </p:nvPr>
        </p:nvSpPr>
        <p:spPr>
          <a:xfrm>
            <a:off x="261937" y="882248"/>
            <a:ext cx="8075613" cy="2447925"/>
          </a:xfrm>
          <a:noFill/>
        </p:spPr>
        <p:txBody>
          <a:bodyPr/>
          <a:lstStyle/>
          <a:p>
            <a:pPr marL="609600" indent="-609600" eaLnBrk="1" hangingPunct="1">
              <a:buFontTx/>
              <a:buNone/>
            </a:pPr>
            <a:r>
              <a:rPr lang="zh-CN" altLang="en-US" sz="2400" dirty="0"/>
              <a:t>例</a:t>
            </a:r>
            <a:r>
              <a:rPr lang="en-US" altLang="zh-CN" sz="2400" dirty="0"/>
              <a:t>1 </a:t>
            </a:r>
            <a:r>
              <a:rPr lang="zh-CN" altLang="en-US" sz="2400" dirty="0"/>
              <a:t>一台</a:t>
            </a:r>
            <a:r>
              <a:rPr lang="en-US" altLang="zh-CN" sz="2400" dirty="0"/>
              <a:t>2000</a:t>
            </a:r>
            <a:r>
              <a:rPr lang="zh-CN" altLang="en-US" sz="2400" dirty="0"/>
              <a:t>马力</a:t>
            </a:r>
            <a:r>
              <a:rPr lang="en-US" altLang="zh-CN" sz="2400" dirty="0"/>
              <a:t>2300V</a:t>
            </a:r>
            <a:r>
              <a:rPr lang="zh-CN" altLang="en-US" sz="2400" dirty="0"/>
              <a:t>，功率因数为</a:t>
            </a:r>
            <a:r>
              <a:rPr lang="en-US" altLang="zh-CN" sz="2400" dirty="0"/>
              <a:t>1</a:t>
            </a:r>
            <a:r>
              <a:rPr lang="zh-CN" altLang="en-US" sz="2400" dirty="0"/>
              <a:t>，三相，</a:t>
            </a:r>
            <a:r>
              <a:rPr lang="en-US" altLang="zh-CN" sz="2400" dirty="0"/>
              <a:t>Y</a:t>
            </a:r>
            <a:r>
              <a:rPr lang="zh-CN" altLang="en-US" sz="2400" dirty="0"/>
              <a:t>连接，</a:t>
            </a:r>
            <a:r>
              <a:rPr lang="en-US" altLang="zh-CN" sz="2400" dirty="0"/>
              <a:t>30</a:t>
            </a:r>
            <a:r>
              <a:rPr lang="zh-CN" altLang="en-US" sz="2400" dirty="0"/>
              <a:t>极，</a:t>
            </a:r>
            <a:r>
              <a:rPr lang="en-US" altLang="zh-CN" sz="2400" dirty="0"/>
              <a:t>60Hz</a:t>
            </a:r>
            <a:r>
              <a:rPr lang="zh-CN" altLang="en-US" sz="2400" dirty="0"/>
              <a:t>同步电动机每相同步电抗为</a:t>
            </a:r>
            <a:r>
              <a:rPr lang="en-US" altLang="zh-CN" sz="2400" dirty="0"/>
              <a:t>1.95</a:t>
            </a:r>
            <a:r>
              <a:rPr lang="en-US" altLang="zh-CN" sz="2400" dirty="0">
                <a:latin typeface="Symbol" panose="05050102010706020507" pitchFamily="18" charset="2"/>
              </a:rPr>
              <a:t>W</a:t>
            </a:r>
            <a:r>
              <a:rPr lang="en-US" altLang="zh-CN" sz="2400" dirty="0"/>
              <a:t>,</a:t>
            </a:r>
            <a:r>
              <a:rPr lang="zh-CN" altLang="en-US" sz="2400" dirty="0"/>
              <a:t>假设所有损耗可以忽略。</a:t>
            </a:r>
          </a:p>
          <a:p>
            <a:pPr marL="609600" indent="-609600" eaLnBrk="1" hangingPunct="1">
              <a:buFontTx/>
              <a:buAutoNum type="circleNumDbPlain"/>
            </a:pPr>
            <a:r>
              <a:rPr lang="zh-CN" altLang="en-US" sz="2400" dirty="0"/>
              <a:t>当采用</a:t>
            </a:r>
            <a:r>
              <a:rPr lang="en-US" altLang="zh-CN" sz="2400" dirty="0"/>
              <a:t>60Hz</a:t>
            </a:r>
            <a:r>
              <a:rPr lang="zh-CN" altLang="en-US" sz="2400" dirty="0"/>
              <a:t>，</a:t>
            </a:r>
            <a:r>
              <a:rPr lang="en-US" altLang="zh-CN" sz="2400" dirty="0"/>
              <a:t>2300V</a:t>
            </a:r>
            <a:r>
              <a:rPr lang="zh-CN" altLang="en-US" sz="2400" dirty="0"/>
              <a:t>无穷大电网驱动时，求电动机的</a:t>
            </a:r>
            <a:r>
              <a:rPr lang="zh-CN" altLang="en-US" sz="2400" b="1" dirty="0">
                <a:solidFill>
                  <a:srgbClr val="0000FF"/>
                </a:solidFill>
              </a:rPr>
              <a:t>最大功率和最大转矩</a:t>
            </a:r>
            <a:r>
              <a:rPr lang="zh-CN" altLang="en-US" sz="2400" dirty="0"/>
              <a:t>。调节励磁电流使额定负载时功率因数为</a:t>
            </a:r>
            <a:r>
              <a:rPr lang="en-US" altLang="zh-CN" sz="2400" dirty="0"/>
              <a:t>1</a:t>
            </a:r>
            <a:r>
              <a:rPr lang="zh-CN" altLang="en-US" sz="2400" dirty="0"/>
              <a:t>，并假设一直保持这一励磁电流不变。</a:t>
            </a:r>
          </a:p>
        </p:txBody>
      </p:sp>
      <p:sp>
        <p:nvSpPr>
          <p:cNvPr id="4101" name="Rectangle 1085">
            <a:extLst>
              <a:ext uri="{FF2B5EF4-FFF2-40B4-BE49-F238E27FC236}">
                <a16:creationId xmlns:a16="http://schemas.microsoft.com/office/drawing/2014/main" id="{CB612135-2D0E-297A-5512-DFA008E18EE5}"/>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sp>
        <p:nvSpPr>
          <p:cNvPr id="4102" name="Rectangle 1086">
            <a:extLst>
              <a:ext uri="{FF2B5EF4-FFF2-40B4-BE49-F238E27FC236}">
                <a16:creationId xmlns:a16="http://schemas.microsoft.com/office/drawing/2014/main" id="{4863AEE6-8170-14B3-F6B2-A1545A0A057E}"/>
              </a:ext>
            </a:extLst>
          </p:cNvPr>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sp>
        <p:nvSpPr>
          <p:cNvPr id="4103" name="Rectangle 1087">
            <a:extLst>
              <a:ext uri="{FF2B5EF4-FFF2-40B4-BE49-F238E27FC236}">
                <a16:creationId xmlns:a16="http://schemas.microsoft.com/office/drawing/2014/main" id="{FC536B9F-C6D1-564D-5C4B-FDF090C62C79}"/>
              </a:ext>
            </a:extLst>
          </p:cNvPr>
          <p:cNvSpPr>
            <a:spLocks noChangeArrowheads="1"/>
          </p:cNvSpPr>
          <p:nvPr/>
        </p:nvSpPr>
        <p:spPr bwMode="auto">
          <a:xfrm>
            <a:off x="0"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pSp>
        <p:nvGrpSpPr>
          <p:cNvPr id="78912" name="Group 1088">
            <a:extLst>
              <a:ext uri="{FF2B5EF4-FFF2-40B4-BE49-F238E27FC236}">
                <a16:creationId xmlns:a16="http://schemas.microsoft.com/office/drawing/2014/main" id="{55CAF855-7498-4B8B-E77C-46E86E085FFE}"/>
              </a:ext>
            </a:extLst>
          </p:cNvPr>
          <p:cNvGrpSpPr>
            <a:grpSpLocks/>
          </p:cNvGrpSpPr>
          <p:nvPr/>
        </p:nvGrpSpPr>
        <p:grpSpPr bwMode="auto">
          <a:xfrm>
            <a:off x="323850" y="3365098"/>
            <a:ext cx="7916862" cy="2106613"/>
            <a:chOff x="327" y="1728"/>
            <a:chExt cx="4987" cy="1327"/>
          </a:xfrm>
        </p:grpSpPr>
        <p:grpSp>
          <p:nvGrpSpPr>
            <p:cNvPr id="4111" name="Group 1089">
              <a:extLst>
                <a:ext uri="{FF2B5EF4-FFF2-40B4-BE49-F238E27FC236}">
                  <a16:creationId xmlns:a16="http://schemas.microsoft.com/office/drawing/2014/main" id="{A88953C4-C7A0-0A86-7FF8-F58128551EAB}"/>
                </a:ext>
              </a:extLst>
            </p:cNvPr>
            <p:cNvGrpSpPr>
              <a:grpSpLocks/>
            </p:cNvGrpSpPr>
            <p:nvPr/>
          </p:nvGrpSpPr>
          <p:grpSpPr bwMode="auto">
            <a:xfrm>
              <a:off x="327" y="1728"/>
              <a:ext cx="4987" cy="1128"/>
              <a:chOff x="327" y="1728"/>
              <a:chExt cx="4987" cy="1128"/>
            </a:xfrm>
          </p:grpSpPr>
          <p:sp>
            <p:nvSpPr>
              <p:cNvPr id="4113" name="Text Box 1090">
                <a:extLst>
                  <a:ext uri="{FF2B5EF4-FFF2-40B4-BE49-F238E27FC236}">
                    <a16:creationId xmlns:a16="http://schemas.microsoft.com/office/drawing/2014/main" id="{A32977AC-A50B-11E8-C2F4-660450870DA0}"/>
                  </a:ext>
                </a:extLst>
              </p:cNvPr>
              <p:cNvSpPr txBox="1">
                <a:spLocks noChangeArrowheads="1"/>
              </p:cNvSpPr>
              <p:nvPr/>
            </p:nvSpPr>
            <p:spPr bwMode="auto">
              <a:xfrm>
                <a:off x="327" y="1764"/>
                <a:ext cx="15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t>解：额定容量： </a:t>
                </a:r>
              </a:p>
            </p:txBody>
          </p:sp>
          <p:graphicFrame>
            <p:nvGraphicFramePr>
              <p:cNvPr id="4114" name="Object 1091">
                <a:extLst>
                  <a:ext uri="{FF2B5EF4-FFF2-40B4-BE49-F238E27FC236}">
                    <a16:creationId xmlns:a16="http://schemas.microsoft.com/office/drawing/2014/main" id="{F3AC087A-55D8-F6CE-ABCA-26C6A02DFE3F}"/>
                  </a:ext>
                </a:extLst>
              </p:cNvPr>
              <p:cNvGraphicFramePr>
                <a:graphicFrameLocks noChangeAspect="1"/>
              </p:cNvGraphicFramePr>
              <p:nvPr/>
            </p:nvGraphicFramePr>
            <p:xfrm>
              <a:off x="1776" y="1728"/>
              <a:ext cx="3538" cy="268"/>
            </p:xfrm>
            <a:graphic>
              <a:graphicData uri="http://schemas.openxmlformats.org/presentationml/2006/ole">
                <mc:AlternateContent xmlns:mc="http://schemas.openxmlformats.org/markup-compatibility/2006">
                  <mc:Choice xmlns:v="urn:schemas-microsoft-com:vml" Requires="v">
                    <p:oleObj name="Equation" r:id="rId2" imgW="2882900" imgH="215900" progId="Equation.DSMT4">
                      <p:embed/>
                    </p:oleObj>
                  </mc:Choice>
                  <mc:Fallback>
                    <p:oleObj name="Equation" r:id="rId2" imgW="2882900" imgH="215900" progId="Equation.DSMT4">
                      <p:embed/>
                      <p:pic>
                        <p:nvPicPr>
                          <p:cNvPr id="4114" name="Object 1091">
                            <a:extLst>
                              <a:ext uri="{FF2B5EF4-FFF2-40B4-BE49-F238E27FC236}">
                                <a16:creationId xmlns:a16="http://schemas.microsoft.com/office/drawing/2014/main" id="{F3AC087A-55D8-F6CE-ABCA-26C6A02DFE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6" y="1728"/>
                            <a:ext cx="3538"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15" name="Object 1092">
                <a:extLst>
                  <a:ext uri="{FF2B5EF4-FFF2-40B4-BE49-F238E27FC236}">
                    <a16:creationId xmlns:a16="http://schemas.microsoft.com/office/drawing/2014/main" id="{CD58EDEB-BAA1-A748-BC95-829B21102110}"/>
                  </a:ext>
                </a:extLst>
              </p:cNvPr>
              <p:cNvGraphicFramePr>
                <a:graphicFrameLocks noChangeAspect="1"/>
              </p:cNvGraphicFramePr>
              <p:nvPr/>
            </p:nvGraphicFramePr>
            <p:xfrm>
              <a:off x="1837" y="2024"/>
              <a:ext cx="1815" cy="583"/>
            </p:xfrm>
            <a:graphic>
              <a:graphicData uri="http://schemas.openxmlformats.org/presentationml/2006/ole">
                <mc:AlternateContent xmlns:mc="http://schemas.openxmlformats.org/markup-compatibility/2006">
                  <mc:Choice xmlns:v="urn:schemas-microsoft-com:vml" Requires="v">
                    <p:oleObj name="Equation" r:id="rId4" imgW="1308100" imgH="419100" progId="Equation.DSMT4">
                      <p:embed/>
                    </p:oleObj>
                  </mc:Choice>
                  <mc:Fallback>
                    <p:oleObj name="Equation" r:id="rId4" imgW="1308100" imgH="419100" progId="Equation.DSMT4">
                      <p:embed/>
                      <p:pic>
                        <p:nvPicPr>
                          <p:cNvPr id="4115" name="Object 1092">
                            <a:extLst>
                              <a:ext uri="{FF2B5EF4-FFF2-40B4-BE49-F238E27FC236}">
                                <a16:creationId xmlns:a16="http://schemas.microsoft.com/office/drawing/2014/main" id="{CD58EDEB-BAA1-A748-BC95-829B211021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7" y="2024"/>
                            <a:ext cx="1815"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16" name="Text Box 1093">
                <a:extLst>
                  <a:ext uri="{FF2B5EF4-FFF2-40B4-BE49-F238E27FC236}">
                    <a16:creationId xmlns:a16="http://schemas.microsoft.com/office/drawing/2014/main" id="{7CABC929-0E14-B425-6A63-96195B5EE10F}"/>
                  </a:ext>
                </a:extLst>
              </p:cNvPr>
              <p:cNvSpPr txBox="1">
                <a:spLocks noChangeArrowheads="1"/>
              </p:cNvSpPr>
              <p:nvPr/>
            </p:nvSpPr>
            <p:spPr bwMode="auto">
              <a:xfrm>
                <a:off x="735" y="2217"/>
                <a:ext cx="132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t>相额定电压： </a:t>
                </a:r>
              </a:p>
            </p:txBody>
          </p:sp>
          <p:sp>
            <p:nvSpPr>
              <p:cNvPr id="4117" name="Text Box 1094">
                <a:extLst>
                  <a:ext uri="{FF2B5EF4-FFF2-40B4-BE49-F238E27FC236}">
                    <a16:creationId xmlns:a16="http://schemas.microsoft.com/office/drawing/2014/main" id="{9DE7DE81-847C-4984-1463-143CFB351D99}"/>
                  </a:ext>
                </a:extLst>
              </p:cNvPr>
              <p:cNvSpPr txBox="1">
                <a:spLocks noChangeArrowheads="1"/>
              </p:cNvSpPr>
              <p:nvPr/>
            </p:nvSpPr>
            <p:spPr bwMode="auto">
              <a:xfrm>
                <a:off x="748" y="2568"/>
                <a:ext cx="154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t>相额定电流： </a:t>
                </a:r>
              </a:p>
            </p:txBody>
          </p:sp>
        </p:grpSp>
        <p:graphicFrame>
          <p:nvGraphicFramePr>
            <p:cNvPr id="4112" name="Object 1095">
              <a:extLst>
                <a:ext uri="{FF2B5EF4-FFF2-40B4-BE49-F238E27FC236}">
                  <a16:creationId xmlns:a16="http://schemas.microsoft.com/office/drawing/2014/main" id="{09FFA214-F5DA-DB92-4F74-1B58E4ABA3CF}"/>
                </a:ext>
              </a:extLst>
            </p:cNvPr>
            <p:cNvGraphicFramePr>
              <a:graphicFrameLocks noChangeAspect="1"/>
            </p:cNvGraphicFramePr>
            <p:nvPr/>
          </p:nvGraphicFramePr>
          <p:xfrm>
            <a:off x="1874" y="2568"/>
            <a:ext cx="1694" cy="487"/>
          </p:xfrm>
          <a:graphic>
            <a:graphicData uri="http://schemas.openxmlformats.org/presentationml/2006/ole">
              <mc:AlternateContent xmlns:mc="http://schemas.openxmlformats.org/markup-compatibility/2006">
                <mc:Choice xmlns:v="urn:schemas-microsoft-com:vml" Requires="v">
                  <p:oleObj name="Equation" r:id="rId6" imgW="1358310" imgH="393529" progId="Equation.DSMT4">
                    <p:embed/>
                  </p:oleObj>
                </mc:Choice>
                <mc:Fallback>
                  <p:oleObj name="Equation" r:id="rId6" imgW="1358310" imgH="393529" progId="Equation.DSMT4">
                    <p:embed/>
                    <p:pic>
                      <p:nvPicPr>
                        <p:cNvPr id="4112" name="Object 1095">
                          <a:extLst>
                            <a:ext uri="{FF2B5EF4-FFF2-40B4-BE49-F238E27FC236}">
                              <a16:creationId xmlns:a16="http://schemas.microsoft.com/office/drawing/2014/main" id="{09FFA214-F5DA-DB92-4F74-1B58E4ABA3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74" y="2568"/>
                          <a:ext cx="1694" cy="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105" name="Rectangle 1096">
            <a:extLst>
              <a:ext uri="{FF2B5EF4-FFF2-40B4-BE49-F238E27FC236}">
                <a16:creationId xmlns:a16="http://schemas.microsoft.com/office/drawing/2014/main" id="{B25CACA5-F6D4-8FF6-9C79-43CCC9D315C5}"/>
              </a:ext>
            </a:extLst>
          </p:cNvPr>
          <p:cNvSpPr>
            <a:spLocks noChangeArrowheads="1"/>
          </p:cNvSpPr>
          <p:nvPr/>
        </p:nvSpPr>
        <p:spPr bwMode="auto">
          <a:xfrm>
            <a:off x="0" y="3281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pSp>
        <p:nvGrpSpPr>
          <p:cNvPr id="78921" name="Group 1097">
            <a:extLst>
              <a:ext uri="{FF2B5EF4-FFF2-40B4-BE49-F238E27FC236}">
                <a16:creationId xmlns:a16="http://schemas.microsoft.com/office/drawing/2014/main" id="{2A61661F-2339-254A-A1E3-4C65091301D5}"/>
              </a:ext>
            </a:extLst>
          </p:cNvPr>
          <p:cNvGrpSpPr>
            <a:grpSpLocks/>
          </p:cNvGrpSpPr>
          <p:nvPr/>
        </p:nvGrpSpPr>
        <p:grpSpPr bwMode="auto">
          <a:xfrm>
            <a:off x="708025" y="5499100"/>
            <a:ext cx="5449888" cy="1238250"/>
            <a:chOff x="690" y="3067"/>
            <a:chExt cx="3433" cy="780"/>
          </a:xfrm>
        </p:grpSpPr>
        <p:sp>
          <p:nvSpPr>
            <p:cNvPr id="4109" name="Text Box 1098">
              <a:extLst>
                <a:ext uri="{FF2B5EF4-FFF2-40B4-BE49-F238E27FC236}">
                  <a16:creationId xmlns:a16="http://schemas.microsoft.com/office/drawing/2014/main" id="{7835B04B-104B-4CBA-13E7-FFDBDAA56D8E}"/>
                </a:ext>
              </a:extLst>
            </p:cNvPr>
            <p:cNvSpPr txBox="1">
              <a:spLocks noChangeArrowheads="1"/>
            </p:cNvSpPr>
            <p:nvPr/>
          </p:nvSpPr>
          <p:spPr bwMode="auto">
            <a:xfrm>
              <a:off x="690" y="3067"/>
              <a:ext cx="34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t>因假设忽略所有损耗，由相量图可知： </a:t>
              </a:r>
            </a:p>
          </p:txBody>
        </p:sp>
        <p:graphicFrame>
          <p:nvGraphicFramePr>
            <p:cNvPr id="4110" name="Object 1099">
              <a:extLst>
                <a:ext uri="{FF2B5EF4-FFF2-40B4-BE49-F238E27FC236}">
                  <a16:creationId xmlns:a16="http://schemas.microsoft.com/office/drawing/2014/main" id="{C570E1DC-FC60-D027-74FF-2465762A09BE}"/>
                </a:ext>
              </a:extLst>
            </p:cNvPr>
            <p:cNvGraphicFramePr>
              <a:graphicFrameLocks noChangeAspect="1"/>
            </p:cNvGraphicFramePr>
            <p:nvPr/>
          </p:nvGraphicFramePr>
          <p:xfrm>
            <a:off x="1038" y="3430"/>
            <a:ext cx="2549" cy="417"/>
          </p:xfrm>
          <a:graphic>
            <a:graphicData uri="http://schemas.openxmlformats.org/presentationml/2006/ole">
              <mc:AlternateContent xmlns:mc="http://schemas.openxmlformats.org/markup-compatibility/2006">
                <mc:Choice xmlns:v="urn:schemas-microsoft-com:vml" Requires="v">
                  <p:oleObj name="Equation" r:id="rId8" imgW="1803400" imgH="292100" progId="Equation.DSMT4">
                    <p:embed/>
                  </p:oleObj>
                </mc:Choice>
                <mc:Fallback>
                  <p:oleObj name="Equation" r:id="rId8" imgW="1803400" imgH="292100" progId="Equation.DSMT4">
                    <p:embed/>
                    <p:pic>
                      <p:nvPicPr>
                        <p:cNvPr id="4110" name="Object 1099">
                          <a:extLst>
                            <a:ext uri="{FF2B5EF4-FFF2-40B4-BE49-F238E27FC236}">
                              <a16:creationId xmlns:a16="http://schemas.microsoft.com/office/drawing/2014/main" id="{C570E1DC-FC60-D027-74FF-2465762A09B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8" y="3430"/>
                          <a:ext cx="2549"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107" name="Rectangle 1100">
            <a:extLst>
              <a:ext uri="{FF2B5EF4-FFF2-40B4-BE49-F238E27FC236}">
                <a16:creationId xmlns:a16="http://schemas.microsoft.com/office/drawing/2014/main" id="{0342F4B1-FC43-56B5-629A-432BC9AC1204}"/>
              </a:ext>
            </a:extLst>
          </p:cNvPr>
          <p:cNvSpPr>
            <a:spLocks noChangeArrowheads="1"/>
          </p:cNvSpPr>
          <p:nvPr/>
        </p:nvSpPr>
        <p:spPr bwMode="auto">
          <a:xfrm>
            <a:off x="0" y="2166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4108" name="Object 1101">
            <a:extLst>
              <a:ext uri="{FF2B5EF4-FFF2-40B4-BE49-F238E27FC236}">
                <a16:creationId xmlns:a16="http://schemas.microsoft.com/office/drawing/2014/main" id="{7595E465-D8D0-DCAF-B9C1-5E19F72D6952}"/>
              </a:ext>
            </a:extLst>
          </p:cNvPr>
          <p:cNvGraphicFramePr>
            <a:graphicFrameLocks noChangeAspect="1"/>
          </p:cNvGraphicFramePr>
          <p:nvPr>
            <p:extLst>
              <p:ext uri="{D42A27DB-BD31-4B8C-83A1-F6EECF244321}">
                <p14:modId xmlns:p14="http://schemas.microsoft.com/office/powerpoint/2010/main" val="560049662"/>
              </p:ext>
            </p:extLst>
          </p:nvPr>
        </p:nvGraphicFramePr>
        <p:xfrm>
          <a:off x="5947568" y="4057259"/>
          <a:ext cx="2808287" cy="1865313"/>
        </p:xfrm>
        <a:graphic>
          <a:graphicData uri="http://schemas.openxmlformats.org/presentationml/2006/ole">
            <mc:AlternateContent xmlns:mc="http://schemas.openxmlformats.org/markup-compatibility/2006">
              <mc:Choice xmlns:v="urn:schemas-microsoft-com:vml" Requires="v">
                <p:oleObj name="Microsoft Drawing" r:id="rId10" imgW="2171700" imgH="1439863" progId="MSDraw">
                  <p:embed/>
                </p:oleObj>
              </mc:Choice>
              <mc:Fallback>
                <p:oleObj name="Microsoft Drawing" r:id="rId10" imgW="2171700" imgH="1439863" progId="MSDraw">
                  <p:embed/>
                  <p:pic>
                    <p:nvPicPr>
                      <p:cNvPr id="4108" name="Object 1101">
                        <a:extLst>
                          <a:ext uri="{FF2B5EF4-FFF2-40B4-BE49-F238E27FC236}">
                            <a16:creationId xmlns:a16="http://schemas.microsoft.com/office/drawing/2014/main" id="{7595E465-D8D0-DCAF-B9C1-5E19F72D695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47568" y="4057259"/>
                        <a:ext cx="2808287" cy="186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8912"/>
                                        </p:tgtEl>
                                        <p:attrNameLst>
                                          <p:attrName>style.visibility</p:attrName>
                                        </p:attrNameLst>
                                      </p:cBhvr>
                                      <p:to>
                                        <p:strVal val="visible"/>
                                      </p:to>
                                    </p:set>
                                    <p:animEffect transition="in" filter="blinds(horizontal)">
                                      <p:cBhvr>
                                        <p:cTn id="7" dur="500"/>
                                        <p:tgtEl>
                                          <p:spTgt spid="789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8921"/>
                                        </p:tgtEl>
                                        <p:attrNameLst>
                                          <p:attrName>style.visibility</p:attrName>
                                        </p:attrNameLst>
                                      </p:cBhvr>
                                      <p:to>
                                        <p:strVal val="visible"/>
                                      </p:to>
                                    </p:set>
                                    <p:animEffect transition="in" filter="dissolve">
                                      <p:cBhvr>
                                        <p:cTn id="12" dur="500"/>
                                        <p:tgtEl>
                                          <p:spTgt spid="78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a:extLst>
              <a:ext uri="{FF2B5EF4-FFF2-40B4-BE49-F238E27FC236}">
                <a16:creationId xmlns:a16="http://schemas.microsoft.com/office/drawing/2014/main" id="{C4F73D1F-1846-4813-9C1D-B5FF6C8E62A9}"/>
              </a:ext>
            </a:extLst>
          </p:cNvPr>
          <p:cNvSpPr>
            <a:spLocks noGrp="1"/>
          </p:cNvSpPr>
          <p:nvPr>
            <p:ph type="sldNum" sz="quarter" idx="12"/>
          </p:nvPr>
        </p:nvSpPr>
        <p:spPr>
          <a:xfrm>
            <a:off x="6695430" y="6304588"/>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4AB2294-C191-4F46-AB57-144A8C6AB7D1}" type="slidenum">
              <a:rPr lang="en-US" altLang="zh-CN" sz="1400" smtClean="0"/>
              <a:pPr>
                <a:spcBef>
                  <a:spcPct val="0"/>
                </a:spcBef>
                <a:buFontTx/>
                <a:buNone/>
              </a:pPr>
              <a:t>17</a:t>
            </a:fld>
            <a:endParaRPr lang="en-US" altLang="zh-CN" sz="1400"/>
          </a:p>
        </p:txBody>
      </p:sp>
      <p:sp>
        <p:nvSpPr>
          <p:cNvPr id="5124" name="Rectangle 5">
            <a:extLst>
              <a:ext uri="{FF2B5EF4-FFF2-40B4-BE49-F238E27FC236}">
                <a16:creationId xmlns:a16="http://schemas.microsoft.com/office/drawing/2014/main" id="{AAC0A398-1474-15F1-14F4-000932810C27}"/>
              </a:ext>
            </a:extLst>
          </p:cNvPr>
          <p:cNvSpPr>
            <a:spLocks noGrp="1" noChangeArrowheads="1"/>
          </p:cNvSpPr>
          <p:nvPr>
            <p:ph type="body" idx="1"/>
          </p:nvPr>
        </p:nvSpPr>
        <p:spPr>
          <a:xfrm>
            <a:off x="456555" y="980430"/>
            <a:ext cx="7543800" cy="438150"/>
          </a:xfrm>
          <a:noFill/>
        </p:spPr>
        <p:txBody>
          <a:bodyPr/>
          <a:lstStyle/>
          <a:p>
            <a:pPr eaLnBrk="1" hangingPunct="1">
              <a:lnSpc>
                <a:spcPct val="80000"/>
              </a:lnSpc>
              <a:buFontTx/>
              <a:buNone/>
            </a:pPr>
            <a:r>
              <a:rPr lang="zh-CN" altLang="en-US" sz="2400"/>
              <a:t>对无穷大电网、励磁恒定时，相电压、电势也保持恒定 </a:t>
            </a:r>
          </a:p>
        </p:txBody>
      </p:sp>
      <p:sp>
        <p:nvSpPr>
          <p:cNvPr id="5125" name="Rectangle 6">
            <a:extLst>
              <a:ext uri="{FF2B5EF4-FFF2-40B4-BE49-F238E27FC236}">
                <a16:creationId xmlns:a16="http://schemas.microsoft.com/office/drawing/2014/main" id="{B38FBF54-760A-5AE5-6562-7C6D14A170D0}"/>
              </a:ext>
            </a:extLst>
          </p:cNvPr>
          <p:cNvSpPr>
            <a:spLocks noChangeArrowheads="1"/>
          </p:cNvSpPr>
          <p:nvPr/>
        </p:nvSpPr>
        <p:spPr bwMode="auto">
          <a:xfrm>
            <a:off x="-645" y="371886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5126" name="Object 7">
            <a:extLst>
              <a:ext uri="{FF2B5EF4-FFF2-40B4-BE49-F238E27FC236}">
                <a16:creationId xmlns:a16="http://schemas.microsoft.com/office/drawing/2014/main" id="{58E364F8-7AA0-97C5-67C5-045447F5FE01}"/>
              </a:ext>
            </a:extLst>
          </p:cNvPr>
          <p:cNvGraphicFramePr>
            <a:graphicFrameLocks noChangeAspect="1"/>
          </p:cNvGraphicFramePr>
          <p:nvPr>
            <p:extLst>
              <p:ext uri="{D42A27DB-BD31-4B8C-83A1-F6EECF244321}">
                <p14:modId xmlns:p14="http://schemas.microsoft.com/office/powerpoint/2010/main" val="1703530375"/>
              </p:ext>
            </p:extLst>
          </p:nvPr>
        </p:nvGraphicFramePr>
        <p:xfrm>
          <a:off x="539105" y="1485255"/>
          <a:ext cx="6156325" cy="1022350"/>
        </p:xfrm>
        <a:graphic>
          <a:graphicData uri="http://schemas.openxmlformats.org/presentationml/2006/ole">
            <mc:AlternateContent xmlns:mc="http://schemas.openxmlformats.org/markup-compatibility/2006">
              <mc:Choice xmlns:v="urn:schemas-microsoft-com:vml" Requires="v">
                <p:oleObj name="Equation" r:id="rId2" imgW="2578100" imgH="431800" progId="Equation.DSMT4">
                  <p:embed/>
                </p:oleObj>
              </mc:Choice>
              <mc:Fallback>
                <p:oleObj name="Equation" r:id="rId2" imgW="2578100" imgH="431800" progId="Equation.DSMT4">
                  <p:embed/>
                  <p:pic>
                    <p:nvPicPr>
                      <p:cNvPr id="5126" name="Object 7">
                        <a:extLst>
                          <a:ext uri="{FF2B5EF4-FFF2-40B4-BE49-F238E27FC236}">
                            <a16:creationId xmlns:a16="http://schemas.microsoft.com/office/drawing/2014/main" id="{58E364F8-7AA0-97C5-67C5-045447F5FE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105" y="1485255"/>
                        <a:ext cx="615632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7" name="Text Box 8">
            <a:extLst>
              <a:ext uri="{FF2B5EF4-FFF2-40B4-BE49-F238E27FC236}">
                <a16:creationId xmlns:a16="http://schemas.microsoft.com/office/drawing/2014/main" id="{457EFFF0-094E-569A-AD67-FE69652AD1B1}"/>
              </a:ext>
            </a:extLst>
          </p:cNvPr>
          <p:cNvSpPr txBox="1">
            <a:spLocks noChangeArrowheads="1"/>
          </p:cNvSpPr>
          <p:nvPr/>
        </p:nvSpPr>
        <p:spPr bwMode="auto">
          <a:xfrm>
            <a:off x="518468" y="2583805"/>
            <a:ext cx="1182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t>标幺值 </a:t>
            </a:r>
          </a:p>
        </p:txBody>
      </p:sp>
      <p:graphicFrame>
        <p:nvGraphicFramePr>
          <p:cNvPr id="5128" name="Object 9">
            <a:extLst>
              <a:ext uri="{FF2B5EF4-FFF2-40B4-BE49-F238E27FC236}">
                <a16:creationId xmlns:a16="http://schemas.microsoft.com/office/drawing/2014/main" id="{AB6DF502-DAED-BCE7-DBBE-87A4041249D3}"/>
              </a:ext>
            </a:extLst>
          </p:cNvPr>
          <p:cNvGraphicFramePr>
            <a:graphicFrameLocks noChangeAspect="1"/>
          </p:cNvGraphicFramePr>
          <p:nvPr>
            <p:extLst>
              <p:ext uri="{D42A27DB-BD31-4B8C-83A1-F6EECF244321}">
                <p14:modId xmlns:p14="http://schemas.microsoft.com/office/powerpoint/2010/main" val="4241166964"/>
              </p:ext>
            </p:extLst>
          </p:nvPr>
        </p:nvGraphicFramePr>
        <p:xfrm>
          <a:off x="1834505" y="2420293"/>
          <a:ext cx="2447925" cy="803275"/>
        </p:xfrm>
        <a:graphic>
          <a:graphicData uri="http://schemas.openxmlformats.org/presentationml/2006/ole">
            <mc:AlternateContent xmlns:mc="http://schemas.openxmlformats.org/markup-compatibility/2006">
              <mc:Choice xmlns:v="urn:schemas-microsoft-com:vml" Requires="v">
                <p:oleObj name="Equation" r:id="rId4" imgW="1193800" imgH="393700" progId="Equation.DSMT4">
                  <p:embed/>
                </p:oleObj>
              </mc:Choice>
              <mc:Fallback>
                <p:oleObj name="Equation" r:id="rId4" imgW="1193800" imgH="393700" progId="Equation.DSMT4">
                  <p:embed/>
                  <p:pic>
                    <p:nvPicPr>
                      <p:cNvPr id="5128" name="Object 9">
                        <a:extLst>
                          <a:ext uri="{FF2B5EF4-FFF2-40B4-BE49-F238E27FC236}">
                            <a16:creationId xmlns:a16="http://schemas.microsoft.com/office/drawing/2014/main" id="{AB6DF502-DAED-BCE7-DBBE-87A4041249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4505" y="2420293"/>
                        <a:ext cx="2447925"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9" name="Text Box 10">
            <a:extLst>
              <a:ext uri="{FF2B5EF4-FFF2-40B4-BE49-F238E27FC236}">
                <a16:creationId xmlns:a16="http://schemas.microsoft.com/office/drawing/2014/main" id="{C0780214-EF47-3D89-66E9-23022BDBD94C}"/>
              </a:ext>
            </a:extLst>
          </p:cNvPr>
          <p:cNvSpPr txBox="1">
            <a:spLocks noChangeArrowheads="1"/>
          </p:cNvSpPr>
          <p:nvPr/>
        </p:nvSpPr>
        <p:spPr bwMode="auto">
          <a:xfrm>
            <a:off x="591493" y="3428355"/>
            <a:ext cx="810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t>超过电动机的额定值，电动机不能在这一功率下长期运行。</a:t>
            </a:r>
          </a:p>
        </p:txBody>
      </p:sp>
      <p:grpSp>
        <p:nvGrpSpPr>
          <p:cNvPr id="96267" name="Group 11">
            <a:extLst>
              <a:ext uri="{FF2B5EF4-FFF2-40B4-BE49-F238E27FC236}">
                <a16:creationId xmlns:a16="http://schemas.microsoft.com/office/drawing/2014/main" id="{3C28BE7C-8CB5-D467-8857-235B7663560C}"/>
              </a:ext>
            </a:extLst>
          </p:cNvPr>
          <p:cNvGrpSpPr>
            <a:grpSpLocks/>
          </p:cNvGrpSpPr>
          <p:nvPr/>
        </p:nvGrpSpPr>
        <p:grpSpPr bwMode="auto">
          <a:xfrm>
            <a:off x="683568" y="4149080"/>
            <a:ext cx="7488237" cy="2471738"/>
            <a:chOff x="431" y="2296"/>
            <a:chExt cx="4717" cy="1557"/>
          </a:xfrm>
        </p:grpSpPr>
        <p:sp>
          <p:nvSpPr>
            <p:cNvPr id="5131" name="Rectangle 12">
              <a:extLst>
                <a:ext uri="{FF2B5EF4-FFF2-40B4-BE49-F238E27FC236}">
                  <a16:creationId xmlns:a16="http://schemas.microsoft.com/office/drawing/2014/main" id="{2E6F6B13-C5CA-FEEC-1A36-0B46E662CAEF}"/>
                </a:ext>
              </a:extLst>
            </p:cNvPr>
            <p:cNvSpPr>
              <a:spLocks noChangeArrowheads="1"/>
            </p:cNvSpPr>
            <p:nvPr/>
          </p:nvSpPr>
          <p:spPr bwMode="auto">
            <a:xfrm>
              <a:off x="431" y="2296"/>
              <a:ext cx="132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t>同步角速度： </a:t>
              </a:r>
            </a:p>
          </p:txBody>
        </p:sp>
        <p:graphicFrame>
          <p:nvGraphicFramePr>
            <p:cNvPr id="5132" name="Object 13">
              <a:extLst>
                <a:ext uri="{FF2B5EF4-FFF2-40B4-BE49-F238E27FC236}">
                  <a16:creationId xmlns:a16="http://schemas.microsoft.com/office/drawing/2014/main" id="{AD3797B6-B46F-31CB-0AA0-C1217C8AB27A}"/>
                </a:ext>
              </a:extLst>
            </p:cNvPr>
            <p:cNvGraphicFramePr>
              <a:graphicFrameLocks noChangeAspect="1"/>
            </p:cNvGraphicFramePr>
            <p:nvPr/>
          </p:nvGraphicFramePr>
          <p:xfrm>
            <a:off x="657" y="2659"/>
            <a:ext cx="4491" cy="566"/>
          </p:xfrm>
          <a:graphic>
            <a:graphicData uri="http://schemas.openxmlformats.org/presentationml/2006/ole">
              <mc:AlternateContent xmlns:mc="http://schemas.openxmlformats.org/markup-compatibility/2006">
                <mc:Choice xmlns:v="urn:schemas-microsoft-com:vml" Requires="v">
                  <p:oleObj name="Equation" r:id="rId6" imgW="3327400" imgH="419100" progId="Equation.DSMT4">
                    <p:embed/>
                  </p:oleObj>
                </mc:Choice>
                <mc:Fallback>
                  <p:oleObj name="Equation" r:id="rId6" imgW="3327400" imgH="419100" progId="Equation.DSMT4">
                    <p:embed/>
                    <p:pic>
                      <p:nvPicPr>
                        <p:cNvPr id="5132" name="Object 13">
                          <a:extLst>
                            <a:ext uri="{FF2B5EF4-FFF2-40B4-BE49-F238E27FC236}">
                              <a16:creationId xmlns:a16="http://schemas.microsoft.com/office/drawing/2014/main" id="{AD3797B6-B46F-31CB-0AA0-C1217C8AB27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7" y="2659"/>
                          <a:ext cx="4491"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33" name="Object 14">
              <a:extLst>
                <a:ext uri="{FF2B5EF4-FFF2-40B4-BE49-F238E27FC236}">
                  <a16:creationId xmlns:a16="http://schemas.microsoft.com/office/drawing/2014/main" id="{16AD12DA-DFFD-7F5F-05B5-612288CDF223}"/>
                </a:ext>
              </a:extLst>
            </p:cNvPr>
            <p:cNvGraphicFramePr>
              <a:graphicFrameLocks noChangeAspect="1"/>
            </p:cNvGraphicFramePr>
            <p:nvPr/>
          </p:nvGraphicFramePr>
          <p:xfrm>
            <a:off x="703" y="3339"/>
            <a:ext cx="3357" cy="514"/>
          </p:xfrm>
          <a:graphic>
            <a:graphicData uri="http://schemas.openxmlformats.org/presentationml/2006/ole">
              <mc:AlternateContent xmlns:mc="http://schemas.openxmlformats.org/markup-compatibility/2006">
                <mc:Choice xmlns:v="urn:schemas-microsoft-com:vml" Requires="v">
                  <p:oleObj name="Equation" r:id="rId8" imgW="2552700" imgH="393700" progId="Equation.DSMT4">
                    <p:embed/>
                  </p:oleObj>
                </mc:Choice>
                <mc:Fallback>
                  <p:oleObj name="Equation" r:id="rId8" imgW="2552700" imgH="393700" progId="Equation.DSMT4">
                    <p:embed/>
                    <p:pic>
                      <p:nvPicPr>
                        <p:cNvPr id="5133" name="Object 14">
                          <a:extLst>
                            <a:ext uri="{FF2B5EF4-FFF2-40B4-BE49-F238E27FC236}">
                              <a16:creationId xmlns:a16="http://schemas.microsoft.com/office/drawing/2014/main" id="{16AD12DA-DFFD-7F5F-05B5-612288CDF2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3" y="3339"/>
                          <a:ext cx="3357"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6267"/>
                                        </p:tgtEl>
                                        <p:attrNameLst>
                                          <p:attrName>style.visibility</p:attrName>
                                        </p:attrNameLst>
                                      </p:cBhvr>
                                      <p:to>
                                        <p:strVal val="visible"/>
                                      </p:to>
                                    </p:set>
                                    <p:animEffect transition="in" filter="dissolve">
                                      <p:cBhvr>
                                        <p:cTn id="7" dur="500"/>
                                        <p:tgtEl>
                                          <p:spTgt spid="96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a:extLst>
              <a:ext uri="{FF2B5EF4-FFF2-40B4-BE49-F238E27FC236}">
                <a16:creationId xmlns:a16="http://schemas.microsoft.com/office/drawing/2014/main" id="{A11F54F4-8492-F203-7D7F-7633EE6EBB3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993D58E-C896-45E6-909F-7AEEFF703111}" type="slidenum">
              <a:rPr lang="en-US" altLang="zh-CN" sz="1400" smtClean="0"/>
              <a:pPr>
                <a:spcBef>
                  <a:spcPct val="0"/>
                </a:spcBef>
                <a:buFontTx/>
                <a:buNone/>
              </a:pPr>
              <a:t>18</a:t>
            </a:fld>
            <a:endParaRPr lang="en-US" altLang="zh-CN" sz="1400"/>
          </a:p>
        </p:txBody>
      </p:sp>
      <p:sp>
        <p:nvSpPr>
          <p:cNvPr id="6147" name="Rectangle 4">
            <a:extLst>
              <a:ext uri="{FF2B5EF4-FFF2-40B4-BE49-F238E27FC236}">
                <a16:creationId xmlns:a16="http://schemas.microsoft.com/office/drawing/2014/main" id="{71EB4C88-A0DB-2591-C921-6B0C0BCEE7A6}"/>
              </a:ext>
            </a:extLst>
          </p:cNvPr>
          <p:cNvSpPr>
            <a:spLocks noGrp="1" noChangeArrowheads="1"/>
          </p:cNvSpPr>
          <p:nvPr>
            <p:ph type="title"/>
          </p:nvPr>
        </p:nvSpPr>
        <p:spPr>
          <a:xfrm>
            <a:off x="7686258" y="772790"/>
            <a:ext cx="1225550" cy="647700"/>
          </a:xfrm>
          <a:noFill/>
        </p:spPr>
        <p:txBody>
          <a:bodyPr/>
          <a:lstStyle/>
          <a:p>
            <a:pPr eaLnBrk="1" hangingPunct="1"/>
            <a:r>
              <a:rPr lang="zh-CN" altLang="en-US" sz="2800">
                <a:solidFill>
                  <a:srgbClr val="0000FF"/>
                </a:solidFill>
              </a:rPr>
              <a:t>例</a:t>
            </a:r>
            <a:r>
              <a:rPr lang="en-US" altLang="zh-CN" sz="2800">
                <a:solidFill>
                  <a:srgbClr val="0000FF"/>
                </a:solidFill>
              </a:rPr>
              <a:t>1</a:t>
            </a:r>
          </a:p>
        </p:txBody>
      </p:sp>
      <p:sp>
        <p:nvSpPr>
          <p:cNvPr id="6148" name="Rectangle 5">
            <a:extLst>
              <a:ext uri="{FF2B5EF4-FFF2-40B4-BE49-F238E27FC236}">
                <a16:creationId xmlns:a16="http://schemas.microsoft.com/office/drawing/2014/main" id="{48FC872E-3029-3004-CF04-6B7CA7E53FB7}"/>
              </a:ext>
            </a:extLst>
          </p:cNvPr>
          <p:cNvSpPr>
            <a:spLocks noGrp="1" noChangeArrowheads="1"/>
          </p:cNvSpPr>
          <p:nvPr>
            <p:ph type="body" idx="1"/>
          </p:nvPr>
        </p:nvSpPr>
        <p:spPr>
          <a:xfrm>
            <a:off x="475833" y="917253"/>
            <a:ext cx="8075613" cy="2519362"/>
          </a:xfrm>
          <a:noFill/>
        </p:spPr>
        <p:txBody>
          <a:bodyPr/>
          <a:lstStyle/>
          <a:p>
            <a:pPr marL="609600" indent="-609600" eaLnBrk="1" hangingPunct="1">
              <a:buFontTx/>
              <a:buAutoNum type="circleNumDbPlain" startAt="2"/>
            </a:pPr>
            <a:r>
              <a:rPr lang="zh-CN" altLang="en-US" sz="2400"/>
              <a:t>改用一台三相、</a:t>
            </a:r>
            <a:r>
              <a:rPr lang="en-US" altLang="zh-CN" sz="2400"/>
              <a:t>Y</a:t>
            </a:r>
            <a:r>
              <a:rPr lang="zh-CN" altLang="en-US" sz="2400"/>
              <a:t>连接，</a:t>
            </a:r>
            <a:r>
              <a:rPr lang="en-US" altLang="zh-CN" sz="2400"/>
              <a:t>2300V</a:t>
            </a:r>
            <a:r>
              <a:rPr lang="zh-CN" altLang="en-US" sz="2400"/>
              <a:t>、</a:t>
            </a:r>
            <a:r>
              <a:rPr lang="en-US" altLang="zh-CN" sz="2400"/>
              <a:t>1500kVA</a:t>
            </a:r>
            <a:r>
              <a:rPr lang="zh-CN" altLang="en-US" sz="2400"/>
              <a:t>，</a:t>
            </a:r>
            <a:r>
              <a:rPr lang="en-US" altLang="zh-CN" sz="2400"/>
              <a:t>2</a:t>
            </a:r>
            <a:r>
              <a:rPr lang="zh-CN" altLang="en-US" sz="2400"/>
              <a:t>极，</a:t>
            </a:r>
            <a:r>
              <a:rPr lang="en-US" altLang="zh-CN" sz="2400"/>
              <a:t>3600r/min</a:t>
            </a:r>
            <a:r>
              <a:rPr lang="zh-CN" altLang="en-US" sz="2400"/>
              <a:t>的汽轮发电机驱动同步电动机，已知汽轮发电机同步电抗每相为</a:t>
            </a:r>
            <a:r>
              <a:rPr lang="en-US" altLang="zh-CN" sz="2400"/>
              <a:t>2.65</a:t>
            </a:r>
            <a:r>
              <a:rPr lang="en-US" altLang="zh-CN" sz="2400">
                <a:latin typeface="Symbol" panose="05050102010706020507" pitchFamily="18" charset="2"/>
              </a:rPr>
              <a:t>W</a:t>
            </a:r>
            <a:r>
              <a:rPr lang="zh-CN" altLang="en-US" sz="2400"/>
              <a:t>，发电机运行在额定转速，调节发电机励磁使电动机在满载时功率因数为</a:t>
            </a:r>
            <a:r>
              <a:rPr lang="en-US" altLang="zh-CN" sz="2400"/>
              <a:t>1</a:t>
            </a:r>
            <a:r>
              <a:rPr lang="zh-CN" altLang="en-US" sz="2400"/>
              <a:t>，端电压为额定电压。计算对应于此励磁电流时的电动机所能提供的最大功率和最大转矩</a:t>
            </a:r>
            <a:r>
              <a:rPr lang="zh-CN" altLang="en-US"/>
              <a:t>。</a:t>
            </a:r>
          </a:p>
        </p:txBody>
      </p:sp>
      <p:sp>
        <p:nvSpPr>
          <p:cNvPr id="6149" name="Rectangle 6">
            <a:extLst>
              <a:ext uri="{FF2B5EF4-FFF2-40B4-BE49-F238E27FC236}">
                <a16:creationId xmlns:a16="http://schemas.microsoft.com/office/drawing/2014/main" id="{F9CAE2B0-F718-D804-9386-A5624763760A}"/>
              </a:ext>
            </a:extLst>
          </p:cNvPr>
          <p:cNvSpPr>
            <a:spLocks noChangeArrowheads="1"/>
          </p:cNvSpPr>
          <p:nvPr/>
        </p:nvSpPr>
        <p:spPr bwMode="auto">
          <a:xfrm>
            <a:off x="18633" y="378904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sp>
        <p:nvSpPr>
          <p:cNvPr id="6150" name="Rectangle 7">
            <a:extLst>
              <a:ext uri="{FF2B5EF4-FFF2-40B4-BE49-F238E27FC236}">
                <a16:creationId xmlns:a16="http://schemas.microsoft.com/office/drawing/2014/main" id="{15E4E8A6-3AF1-3122-233A-4BE1B279780A}"/>
              </a:ext>
            </a:extLst>
          </p:cNvPr>
          <p:cNvSpPr>
            <a:spLocks noChangeArrowheads="1"/>
          </p:cNvSpPr>
          <p:nvPr/>
        </p:nvSpPr>
        <p:spPr bwMode="auto">
          <a:xfrm>
            <a:off x="18633" y="374617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pSp>
        <p:nvGrpSpPr>
          <p:cNvPr id="95240" name="Group 8">
            <a:extLst>
              <a:ext uri="{FF2B5EF4-FFF2-40B4-BE49-F238E27FC236}">
                <a16:creationId xmlns:a16="http://schemas.microsoft.com/office/drawing/2014/main" id="{79F30C52-CF82-C6BF-F6B0-7A2850CF81DB}"/>
              </a:ext>
            </a:extLst>
          </p:cNvPr>
          <p:cNvGrpSpPr>
            <a:grpSpLocks/>
          </p:cNvGrpSpPr>
          <p:nvPr/>
        </p:nvGrpSpPr>
        <p:grpSpPr bwMode="auto">
          <a:xfrm>
            <a:off x="323528" y="3294533"/>
            <a:ext cx="7508875" cy="3548063"/>
            <a:chOff x="282" y="1764"/>
            <a:chExt cx="4730" cy="2235"/>
          </a:xfrm>
        </p:grpSpPr>
        <p:sp>
          <p:nvSpPr>
            <p:cNvPr id="6154" name="Text Box 9">
              <a:extLst>
                <a:ext uri="{FF2B5EF4-FFF2-40B4-BE49-F238E27FC236}">
                  <a16:creationId xmlns:a16="http://schemas.microsoft.com/office/drawing/2014/main" id="{F4371000-EF1B-7340-A2D0-B2E28ADA98DA}"/>
                </a:ext>
              </a:extLst>
            </p:cNvPr>
            <p:cNvSpPr txBox="1">
              <a:spLocks noChangeArrowheads="1"/>
            </p:cNvSpPr>
            <p:nvPr/>
          </p:nvSpPr>
          <p:spPr bwMode="auto">
            <a:xfrm>
              <a:off x="282" y="1764"/>
              <a:ext cx="15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t>解：发电机电势 </a:t>
              </a:r>
            </a:p>
          </p:txBody>
        </p:sp>
        <p:graphicFrame>
          <p:nvGraphicFramePr>
            <p:cNvPr id="6155" name="Object 10">
              <a:extLst>
                <a:ext uri="{FF2B5EF4-FFF2-40B4-BE49-F238E27FC236}">
                  <a16:creationId xmlns:a16="http://schemas.microsoft.com/office/drawing/2014/main" id="{D3E18777-20CA-030C-68D6-D0238DFEA09D}"/>
                </a:ext>
              </a:extLst>
            </p:cNvPr>
            <p:cNvGraphicFramePr>
              <a:graphicFrameLocks noChangeAspect="1"/>
            </p:cNvGraphicFramePr>
            <p:nvPr/>
          </p:nvGraphicFramePr>
          <p:xfrm>
            <a:off x="748" y="2069"/>
            <a:ext cx="4264" cy="382"/>
          </p:xfrm>
          <a:graphic>
            <a:graphicData uri="http://schemas.openxmlformats.org/presentationml/2006/ole">
              <mc:AlternateContent xmlns:mc="http://schemas.openxmlformats.org/markup-compatibility/2006">
                <mc:Choice xmlns:v="urn:schemas-microsoft-com:vml" Requires="v">
                  <p:oleObj name="Equation" r:id="rId3" imgW="3403600" imgH="304800" progId="Equation.DSMT4">
                    <p:embed/>
                  </p:oleObj>
                </mc:Choice>
                <mc:Fallback>
                  <p:oleObj name="Equation" r:id="rId3" imgW="3403600" imgH="304800" progId="Equation.DSMT4">
                    <p:embed/>
                    <p:pic>
                      <p:nvPicPr>
                        <p:cNvPr id="6155" name="Object 10">
                          <a:extLst>
                            <a:ext uri="{FF2B5EF4-FFF2-40B4-BE49-F238E27FC236}">
                              <a16:creationId xmlns:a16="http://schemas.microsoft.com/office/drawing/2014/main" id="{D3E18777-20CA-030C-68D6-D0238DFEA0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 y="2069"/>
                          <a:ext cx="4264" cy="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56" name="Object 11">
              <a:extLst>
                <a:ext uri="{FF2B5EF4-FFF2-40B4-BE49-F238E27FC236}">
                  <a16:creationId xmlns:a16="http://schemas.microsoft.com/office/drawing/2014/main" id="{96DC3ED0-F6D7-763E-82D4-22F18D201239}"/>
                </a:ext>
              </a:extLst>
            </p:cNvPr>
            <p:cNvGraphicFramePr>
              <a:graphicFrameLocks noChangeAspect="1"/>
            </p:cNvGraphicFramePr>
            <p:nvPr>
              <p:extLst>
                <p:ext uri="{D42A27DB-BD31-4B8C-83A1-F6EECF244321}">
                  <p14:modId xmlns:p14="http://schemas.microsoft.com/office/powerpoint/2010/main" val="3901405674"/>
                </p:ext>
              </p:extLst>
            </p:nvPr>
          </p:nvGraphicFramePr>
          <p:xfrm>
            <a:off x="730" y="2358"/>
            <a:ext cx="3554" cy="1112"/>
          </p:xfrm>
          <a:graphic>
            <a:graphicData uri="http://schemas.openxmlformats.org/presentationml/2006/ole">
              <mc:AlternateContent xmlns:mc="http://schemas.openxmlformats.org/markup-compatibility/2006">
                <mc:Choice xmlns:v="urn:schemas-microsoft-com:vml" Requires="v">
                  <p:oleObj name="Equation" r:id="rId5" imgW="2832100" imgH="889000" progId="Equation.DSMT4">
                    <p:embed/>
                  </p:oleObj>
                </mc:Choice>
                <mc:Fallback>
                  <p:oleObj name="Equation" r:id="rId5" imgW="2832100" imgH="889000" progId="Equation.DSMT4">
                    <p:embed/>
                    <p:pic>
                      <p:nvPicPr>
                        <p:cNvPr id="6156" name="Object 11">
                          <a:extLst>
                            <a:ext uri="{FF2B5EF4-FFF2-40B4-BE49-F238E27FC236}">
                              <a16:creationId xmlns:a16="http://schemas.microsoft.com/office/drawing/2014/main" id="{96DC3ED0-F6D7-763E-82D4-22F18D20123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0" y="2358"/>
                          <a:ext cx="3554" cy="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57" name="Object 12">
              <a:extLst>
                <a:ext uri="{FF2B5EF4-FFF2-40B4-BE49-F238E27FC236}">
                  <a16:creationId xmlns:a16="http://schemas.microsoft.com/office/drawing/2014/main" id="{539747A1-6C8A-ABB6-C59D-270910C65E8A}"/>
                </a:ext>
              </a:extLst>
            </p:cNvPr>
            <p:cNvGraphicFramePr>
              <a:graphicFrameLocks noChangeAspect="1"/>
            </p:cNvGraphicFramePr>
            <p:nvPr>
              <p:extLst>
                <p:ext uri="{D42A27DB-BD31-4B8C-83A1-F6EECF244321}">
                  <p14:modId xmlns:p14="http://schemas.microsoft.com/office/powerpoint/2010/main" val="1490190157"/>
                </p:ext>
              </p:extLst>
            </p:nvPr>
          </p:nvGraphicFramePr>
          <p:xfrm>
            <a:off x="730" y="3463"/>
            <a:ext cx="3402" cy="536"/>
          </p:xfrm>
          <a:graphic>
            <a:graphicData uri="http://schemas.openxmlformats.org/presentationml/2006/ole">
              <mc:AlternateContent xmlns:mc="http://schemas.openxmlformats.org/markup-compatibility/2006">
                <mc:Choice xmlns:v="urn:schemas-microsoft-com:vml" Requires="v">
                  <p:oleObj name="Equation" r:id="rId7" imgW="2476500" imgH="393700" progId="Equation.DSMT4">
                    <p:embed/>
                  </p:oleObj>
                </mc:Choice>
                <mc:Fallback>
                  <p:oleObj name="Equation" r:id="rId7" imgW="2476500" imgH="393700" progId="Equation.DSMT4">
                    <p:embed/>
                    <p:pic>
                      <p:nvPicPr>
                        <p:cNvPr id="6157" name="Object 12">
                          <a:extLst>
                            <a:ext uri="{FF2B5EF4-FFF2-40B4-BE49-F238E27FC236}">
                              <a16:creationId xmlns:a16="http://schemas.microsoft.com/office/drawing/2014/main" id="{539747A1-6C8A-ABB6-C59D-270910C65E8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0" y="3463"/>
                          <a:ext cx="3402" cy="536"/>
                        </a:xfrm>
                        <a:prstGeom prst="rect">
                          <a:avLst/>
                        </a:prstGeom>
                        <a:noFill/>
                        <a:ln>
                          <a:noFill/>
                        </a:ln>
                      </p:spPr>
                    </p:pic>
                  </p:oleObj>
                </mc:Fallback>
              </mc:AlternateContent>
            </a:graphicData>
          </a:graphic>
        </p:graphicFrame>
      </p:grpSp>
      <p:sp>
        <p:nvSpPr>
          <p:cNvPr id="6152" name="Rectangle 13">
            <a:extLst>
              <a:ext uri="{FF2B5EF4-FFF2-40B4-BE49-F238E27FC236}">
                <a16:creationId xmlns:a16="http://schemas.microsoft.com/office/drawing/2014/main" id="{50405450-FFC5-FC63-03D5-7065177E3992}"/>
              </a:ext>
            </a:extLst>
          </p:cNvPr>
          <p:cNvSpPr>
            <a:spLocks noChangeArrowheads="1"/>
          </p:cNvSpPr>
          <p:nvPr/>
        </p:nvSpPr>
        <p:spPr bwMode="auto">
          <a:xfrm>
            <a:off x="18633" y="266985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95246" name="Object 14">
            <a:extLst>
              <a:ext uri="{FF2B5EF4-FFF2-40B4-BE49-F238E27FC236}">
                <a16:creationId xmlns:a16="http://schemas.microsoft.com/office/drawing/2014/main" id="{C344C588-D9A7-938C-7DB2-17427AD7C565}"/>
              </a:ext>
            </a:extLst>
          </p:cNvPr>
          <p:cNvGraphicFramePr>
            <a:graphicFrameLocks noChangeAspect="1"/>
          </p:cNvGraphicFramePr>
          <p:nvPr>
            <p:extLst>
              <p:ext uri="{D42A27DB-BD31-4B8C-83A1-F6EECF244321}">
                <p14:modId xmlns:p14="http://schemas.microsoft.com/office/powerpoint/2010/main" val="1904444844"/>
              </p:ext>
            </p:extLst>
          </p:nvPr>
        </p:nvGraphicFramePr>
        <p:xfrm>
          <a:off x="2287171" y="772790"/>
          <a:ext cx="5848350" cy="2543175"/>
        </p:xfrm>
        <a:graphic>
          <a:graphicData uri="http://schemas.openxmlformats.org/presentationml/2006/ole">
            <mc:AlternateContent xmlns:mc="http://schemas.openxmlformats.org/markup-compatibility/2006">
              <mc:Choice xmlns:v="urn:schemas-microsoft-com:vml" Requires="v">
                <p:oleObj name="Microsoft Drawing" r:id="rId9" imgW="3340100" imgH="1449388" progId="MSDraw">
                  <p:embed/>
                </p:oleObj>
              </mc:Choice>
              <mc:Fallback>
                <p:oleObj name="Microsoft Drawing" r:id="rId9" imgW="3340100" imgH="1449388" progId="MSDraw">
                  <p:embed/>
                  <p:pic>
                    <p:nvPicPr>
                      <p:cNvPr id="95246" name="Object 14">
                        <a:extLst>
                          <a:ext uri="{FF2B5EF4-FFF2-40B4-BE49-F238E27FC236}">
                            <a16:creationId xmlns:a16="http://schemas.microsoft.com/office/drawing/2014/main" id="{C344C588-D9A7-938C-7DB2-17427AD7C56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7171" y="772790"/>
                        <a:ext cx="5848350" cy="25431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95246"/>
                                        </p:tgtEl>
                                        <p:attrNameLst>
                                          <p:attrName>style.visibility</p:attrName>
                                        </p:attrNameLst>
                                      </p:cBhvr>
                                      <p:to>
                                        <p:strVal val="visible"/>
                                      </p:to>
                                    </p:set>
                                    <p:anim calcmode="lin" valueType="num">
                                      <p:cBhvr>
                                        <p:cTn id="7" dur="500" fill="hold"/>
                                        <p:tgtEl>
                                          <p:spTgt spid="95246"/>
                                        </p:tgtEl>
                                        <p:attrNameLst>
                                          <p:attrName>ppt_w</p:attrName>
                                        </p:attrNameLst>
                                      </p:cBhvr>
                                      <p:tavLst>
                                        <p:tav tm="0">
                                          <p:val>
                                            <p:fltVal val="0"/>
                                          </p:val>
                                        </p:tav>
                                        <p:tav tm="100000">
                                          <p:val>
                                            <p:strVal val="#ppt_w"/>
                                          </p:val>
                                        </p:tav>
                                      </p:tavLst>
                                    </p:anim>
                                    <p:anim calcmode="lin" valueType="num">
                                      <p:cBhvr>
                                        <p:cTn id="8" dur="500" fill="hold"/>
                                        <p:tgtEl>
                                          <p:spTgt spid="9524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95240"/>
                                        </p:tgtEl>
                                        <p:attrNameLst>
                                          <p:attrName>style.visibility</p:attrName>
                                        </p:attrNameLst>
                                      </p:cBhvr>
                                      <p:to>
                                        <p:strVal val="visible"/>
                                      </p:to>
                                    </p:set>
                                    <p:animEffect transition="in" filter="blinds(horizontal)">
                                      <p:cBhvr>
                                        <p:cTn id="13" dur="500"/>
                                        <p:tgtEl>
                                          <p:spTgt spid="95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a:extLst>
              <a:ext uri="{FF2B5EF4-FFF2-40B4-BE49-F238E27FC236}">
                <a16:creationId xmlns:a16="http://schemas.microsoft.com/office/drawing/2014/main" id="{75ECCBDD-2C63-5A17-8B7C-7D85F9BE1BD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590FE7D-F761-4E00-899A-795E63D39C31}" type="slidenum">
              <a:rPr lang="en-US" altLang="zh-CN" sz="1400" smtClean="0"/>
              <a:pPr>
                <a:spcBef>
                  <a:spcPct val="0"/>
                </a:spcBef>
                <a:buFontTx/>
                <a:buNone/>
              </a:pPr>
              <a:t>19</a:t>
            </a:fld>
            <a:endParaRPr lang="en-US" altLang="zh-CN" sz="1400"/>
          </a:p>
        </p:txBody>
      </p:sp>
      <p:sp>
        <p:nvSpPr>
          <p:cNvPr id="8195" name="Rectangle 2">
            <a:extLst>
              <a:ext uri="{FF2B5EF4-FFF2-40B4-BE49-F238E27FC236}">
                <a16:creationId xmlns:a16="http://schemas.microsoft.com/office/drawing/2014/main" id="{9FFBFD9C-64DE-A58F-D0D5-BDE4DA9A586B}"/>
              </a:ext>
            </a:extLst>
          </p:cNvPr>
          <p:cNvSpPr>
            <a:spLocks noGrp="1" noChangeArrowheads="1"/>
          </p:cNvSpPr>
          <p:nvPr>
            <p:ph type="title"/>
          </p:nvPr>
        </p:nvSpPr>
        <p:spPr>
          <a:xfrm>
            <a:off x="7620000" y="152400"/>
            <a:ext cx="1066800" cy="457200"/>
          </a:xfrm>
        </p:spPr>
        <p:txBody>
          <a:bodyPr/>
          <a:lstStyle/>
          <a:p>
            <a:pPr eaLnBrk="1" hangingPunct="1"/>
            <a:r>
              <a:rPr lang="zh-CN" altLang="en-US" sz="3200" b="1">
                <a:solidFill>
                  <a:srgbClr val="0000FF"/>
                </a:solidFill>
              </a:rPr>
              <a:t>例</a:t>
            </a:r>
            <a:r>
              <a:rPr lang="en-US" altLang="zh-CN" sz="3200" b="1">
                <a:solidFill>
                  <a:srgbClr val="0000FF"/>
                </a:solidFill>
              </a:rPr>
              <a:t>2</a:t>
            </a:r>
          </a:p>
        </p:txBody>
      </p:sp>
      <p:sp>
        <p:nvSpPr>
          <p:cNvPr id="8196" name="Rectangle 5">
            <a:extLst>
              <a:ext uri="{FF2B5EF4-FFF2-40B4-BE49-F238E27FC236}">
                <a16:creationId xmlns:a16="http://schemas.microsoft.com/office/drawing/2014/main" id="{ACCAE2A2-F9F0-874A-D089-447FECFF1A76}"/>
              </a:ext>
            </a:extLst>
          </p:cNvPr>
          <p:cNvSpPr>
            <a:spLocks noGrp="1" noChangeArrowheads="1"/>
          </p:cNvSpPr>
          <p:nvPr>
            <p:ph type="body" idx="1"/>
          </p:nvPr>
        </p:nvSpPr>
        <p:spPr>
          <a:xfrm>
            <a:off x="337344" y="723899"/>
            <a:ext cx="8147050" cy="2087563"/>
          </a:xfrm>
          <a:noFill/>
        </p:spPr>
        <p:txBody>
          <a:bodyPr/>
          <a:lstStyle/>
          <a:p>
            <a:pPr eaLnBrk="1" hangingPunct="1">
              <a:buFontTx/>
              <a:buNone/>
            </a:pPr>
            <a:r>
              <a:rPr lang="zh-CN" altLang="en-US" sz="2400" dirty="0">
                <a:latin typeface="华文中宋" panose="02010600040101010101" pitchFamily="2" charset="-122"/>
                <a:ea typeface="华文中宋" panose="02010600040101010101" pitchFamily="2" charset="-122"/>
              </a:rPr>
              <a:t>例</a:t>
            </a:r>
            <a:r>
              <a:rPr lang="en-US" altLang="zh-CN" sz="2400" dirty="0">
                <a:latin typeface="华文中宋" panose="02010600040101010101" pitchFamily="2" charset="-122"/>
                <a:ea typeface="华文中宋" panose="02010600040101010101" pitchFamily="2" charset="-122"/>
              </a:rPr>
              <a:t>1</a:t>
            </a:r>
            <a:r>
              <a:rPr lang="zh-CN" altLang="en-US" sz="2400" dirty="0">
                <a:latin typeface="华文中宋" panose="02010600040101010101" pitchFamily="2" charset="-122"/>
                <a:ea typeface="华文中宋" panose="02010600040101010101" pitchFamily="2" charset="-122"/>
              </a:rPr>
              <a:t>的电机实际为凸极同步电动机，同步电抗参数为： </a:t>
            </a:r>
            <a:r>
              <a:rPr lang="en-US" altLang="zh-CN" sz="2400" dirty="0" err="1">
                <a:latin typeface="华文中宋" panose="02010600040101010101" pitchFamily="2" charset="-122"/>
                <a:ea typeface="华文中宋" panose="02010600040101010101" pitchFamily="2" charset="-122"/>
              </a:rPr>
              <a:t>X</a:t>
            </a:r>
            <a:r>
              <a:rPr lang="en-US" altLang="zh-CN" sz="2400" baseline="-25000" dirty="0" err="1">
                <a:latin typeface="华文中宋" panose="02010600040101010101" pitchFamily="2" charset="-122"/>
                <a:ea typeface="华文中宋" panose="02010600040101010101" pitchFamily="2" charset="-122"/>
              </a:rPr>
              <a:t>q</a:t>
            </a:r>
            <a:r>
              <a:rPr lang="en-US" altLang="zh-CN" sz="2400" dirty="0">
                <a:latin typeface="华文中宋" panose="02010600040101010101" pitchFamily="2" charset="-122"/>
                <a:ea typeface="华文中宋" panose="02010600040101010101" pitchFamily="2" charset="-122"/>
              </a:rPr>
              <a:t>=1.4</a:t>
            </a:r>
            <a:r>
              <a:rPr lang="en-US" altLang="zh-CN" sz="2400" dirty="0">
                <a:latin typeface="Symbol" panose="05050102010706020507" pitchFamily="18" charset="2"/>
                <a:ea typeface="华文中宋" panose="02010600040101010101" pitchFamily="2" charset="-122"/>
              </a:rPr>
              <a:t>W</a:t>
            </a:r>
            <a:r>
              <a:rPr lang="zh-CN" altLang="en-US" sz="2400" dirty="0">
                <a:latin typeface="华文中宋" panose="02010600040101010101" pitchFamily="2" charset="-122"/>
                <a:ea typeface="华文中宋" panose="02010600040101010101" pitchFamily="2" charset="-122"/>
              </a:rPr>
              <a:t>，</a:t>
            </a:r>
            <a:r>
              <a:rPr lang="en-US" altLang="zh-CN" sz="2400" dirty="0">
                <a:latin typeface="华文中宋" panose="02010600040101010101" pitchFamily="2" charset="-122"/>
                <a:ea typeface="华文中宋" panose="02010600040101010101" pitchFamily="2" charset="-122"/>
              </a:rPr>
              <a:t>X</a:t>
            </a:r>
            <a:r>
              <a:rPr lang="en-US" altLang="zh-CN" sz="2400" baseline="-25000" dirty="0">
                <a:latin typeface="华文中宋" panose="02010600040101010101" pitchFamily="2" charset="-122"/>
                <a:ea typeface="华文中宋" panose="02010600040101010101" pitchFamily="2" charset="-122"/>
              </a:rPr>
              <a:t>d</a:t>
            </a:r>
            <a:r>
              <a:rPr lang="en-US" altLang="zh-CN" sz="2400" dirty="0">
                <a:latin typeface="华文中宋" panose="02010600040101010101" pitchFamily="2" charset="-122"/>
                <a:ea typeface="华文中宋" panose="02010600040101010101" pitchFamily="2" charset="-122"/>
              </a:rPr>
              <a:t>=1.95</a:t>
            </a:r>
            <a:r>
              <a:rPr lang="en-US" altLang="zh-CN" sz="2400" dirty="0">
                <a:latin typeface="Symbol" panose="05050102010706020507" pitchFamily="18" charset="2"/>
                <a:ea typeface="华文中宋" panose="02010600040101010101" pitchFamily="2" charset="-122"/>
              </a:rPr>
              <a:t>W</a:t>
            </a:r>
            <a:r>
              <a:rPr lang="zh-CN" altLang="en-US" sz="2400" dirty="0">
                <a:latin typeface="华文中宋" panose="02010600040101010101" pitchFamily="2" charset="-122"/>
                <a:ea typeface="华文中宋" panose="02010600040101010101" pitchFamily="2" charset="-122"/>
              </a:rPr>
              <a:t>。无穷大电网额定电压、额定频率供电，保持额定负载功率因数为</a:t>
            </a:r>
            <a:r>
              <a:rPr lang="en-US" altLang="zh-CN" sz="2400" dirty="0">
                <a:latin typeface="华文中宋" panose="02010600040101010101" pitchFamily="2" charset="-122"/>
                <a:ea typeface="华文中宋" panose="02010600040101010101" pitchFamily="2" charset="-122"/>
              </a:rPr>
              <a:t>1</a:t>
            </a:r>
            <a:r>
              <a:rPr lang="zh-CN" altLang="en-US" sz="2400" dirty="0">
                <a:latin typeface="华文中宋" panose="02010600040101010101" pitchFamily="2" charset="-122"/>
                <a:ea typeface="华文中宋" panose="02010600040101010101" pitchFamily="2" charset="-122"/>
              </a:rPr>
              <a:t>时的励磁电流不变，轴上负载可逐渐加大至稳态极限。忽略所有损耗，计算</a:t>
            </a:r>
            <a:r>
              <a:rPr lang="zh-CN" altLang="en-US" sz="2400" b="1" dirty="0">
                <a:solidFill>
                  <a:srgbClr val="0000FF"/>
                </a:solidFill>
                <a:latin typeface="华文中宋" panose="02010600040101010101" pitchFamily="2" charset="-122"/>
                <a:ea typeface="华文中宋" panose="02010600040101010101" pitchFamily="2" charset="-122"/>
              </a:rPr>
              <a:t>最大输出机械功率及对应功角</a:t>
            </a:r>
            <a:r>
              <a:rPr lang="zh-CN" altLang="en-US" sz="2400" dirty="0"/>
              <a:t>。</a:t>
            </a:r>
          </a:p>
        </p:txBody>
      </p:sp>
      <p:sp>
        <p:nvSpPr>
          <p:cNvPr id="8197" name="Text Box 6">
            <a:extLst>
              <a:ext uri="{FF2B5EF4-FFF2-40B4-BE49-F238E27FC236}">
                <a16:creationId xmlns:a16="http://schemas.microsoft.com/office/drawing/2014/main" id="{D3353E1B-5C2F-C1C0-64BE-728FA3FA60B2}"/>
              </a:ext>
            </a:extLst>
          </p:cNvPr>
          <p:cNvSpPr txBox="1">
            <a:spLocks noChangeArrowheads="1"/>
          </p:cNvSpPr>
          <p:nvPr/>
        </p:nvSpPr>
        <p:spPr bwMode="auto">
          <a:xfrm>
            <a:off x="231775" y="2571750"/>
            <a:ext cx="8069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t>解：  </a:t>
            </a:r>
            <a:r>
              <a:rPr lang="zh-CN" altLang="en-US" sz="2400" b="1" dirty="0">
                <a:latin typeface="黑体" panose="02010609060101010101" pitchFamily="49" charset="-122"/>
                <a:ea typeface="黑体" panose="02010609060101010101" pitchFamily="49" charset="-122"/>
              </a:rPr>
              <a:t>例</a:t>
            </a:r>
            <a:r>
              <a:rPr lang="en-US" altLang="zh-CN" sz="2400" b="1" dirty="0">
                <a:latin typeface="黑体" panose="02010609060101010101" pitchFamily="49" charset="-122"/>
                <a:ea typeface="黑体" panose="02010609060101010101" pitchFamily="49" charset="-122"/>
              </a:rPr>
              <a:t>1</a:t>
            </a:r>
            <a:r>
              <a:rPr lang="zh-CN" altLang="en-US" sz="2400" b="1" dirty="0">
                <a:latin typeface="黑体" panose="02010609060101010101" pitchFamily="49" charset="-122"/>
                <a:ea typeface="黑体" panose="02010609060101010101" pitchFamily="49" charset="-122"/>
              </a:rPr>
              <a:t>解得 满载端电压和电流分别为</a:t>
            </a:r>
            <a:r>
              <a:rPr lang="zh-CN" altLang="en-US" sz="2400" dirty="0"/>
              <a:t>：</a:t>
            </a:r>
            <a:r>
              <a:rPr lang="en-US" altLang="zh-CN" sz="2400" dirty="0"/>
              <a:t>1328V</a:t>
            </a:r>
            <a:r>
              <a:rPr lang="zh-CN" altLang="en-US" sz="2400" dirty="0"/>
              <a:t>、</a:t>
            </a:r>
            <a:r>
              <a:rPr lang="en-US" altLang="zh-CN" sz="2400" dirty="0"/>
              <a:t>374A</a:t>
            </a:r>
            <a:r>
              <a:rPr lang="zh-CN" altLang="en-US" sz="2400" dirty="0"/>
              <a:t>。</a:t>
            </a:r>
          </a:p>
        </p:txBody>
      </p:sp>
      <p:sp>
        <p:nvSpPr>
          <p:cNvPr id="8198" name="Text Box 7">
            <a:extLst>
              <a:ext uri="{FF2B5EF4-FFF2-40B4-BE49-F238E27FC236}">
                <a16:creationId xmlns:a16="http://schemas.microsoft.com/office/drawing/2014/main" id="{3950CF38-22C8-04D0-CEB2-CCEFB8B16CD5}"/>
              </a:ext>
            </a:extLst>
          </p:cNvPr>
          <p:cNvSpPr txBox="1">
            <a:spLocks noChangeArrowheads="1"/>
          </p:cNvSpPr>
          <p:nvPr/>
        </p:nvSpPr>
        <p:spPr bwMode="auto">
          <a:xfrm>
            <a:off x="519113" y="2997200"/>
            <a:ext cx="3554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ea typeface="黑体" panose="02010609060101010101" pitchFamily="49" charset="-122"/>
              </a:rPr>
              <a:t>单位功率因数，忽略电阻</a:t>
            </a:r>
          </a:p>
        </p:txBody>
      </p:sp>
      <p:graphicFrame>
        <p:nvGraphicFramePr>
          <p:cNvPr id="8199" name="Object 8">
            <a:extLst>
              <a:ext uri="{FF2B5EF4-FFF2-40B4-BE49-F238E27FC236}">
                <a16:creationId xmlns:a16="http://schemas.microsoft.com/office/drawing/2014/main" id="{31BCFA17-C168-8B53-A0C3-C935BF4B8155}"/>
              </a:ext>
            </a:extLst>
          </p:cNvPr>
          <p:cNvGraphicFramePr>
            <a:graphicFrameLocks noChangeAspect="1"/>
          </p:cNvGraphicFramePr>
          <p:nvPr/>
        </p:nvGraphicFramePr>
        <p:xfrm>
          <a:off x="611188" y="3429000"/>
          <a:ext cx="3311525" cy="693738"/>
        </p:xfrm>
        <a:graphic>
          <a:graphicData uri="http://schemas.openxmlformats.org/presentationml/2006/ole">
            <mc:AlternateContent xmlns:mc="http://schemas.openxmlformats.org/markup-compatibility/2006">
              <mc:Choice xmlns:v="urn:schemas-microsoft-com:vml" Requires="v">
                <p:oleObj name="Equation" r:id="rId3" imgW="1587500" imgH="330200" progId="Equation.DSMT4">
                  <p:embed/>
                </p:oleObj>
              </mc:Choice>
              <mc:Fallback>
                <p:oleObj name="Equation" r:id="rId3" imgW="1587500" imgH="330200" progId="Equation.DSMT4">
                  <p:embed/>
                  <p:pic>
                    <p:nvPicPr>
                      <p:cNvPr id="8199" name="Object 8">
                        <a:extLst>
                          <a:ext uri="{FF2B5EF4-FFF2-40B4-BE49-F238E27FC236}">
                            <a16:creationId xmlns:a16="http://schemas.microsoft.com/office/drawing/2014/main" id="{31BCFA17-C168-8B53-A0C3-C935BF4B81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3429000"/>
                        <a:ext cx="3311525"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4217" name="Group 9">
            <a:extLst>
              <a:ext uri="{FF2B5EF4-FFF2-40B4-BE49-F238E27FC236}">
                <a16:creationId xmlns:a16="http://schemas.microsoft.com/office/drawing/2014/main" id="{9C16733F-1F7D-8232-5C65-DD2EEBEF247B}"/>
              </a:ext>
            </a:extLst>
          </p:cNvPr>
          <p:cNvGrpSpPr>
            <a:grpSpLocks/>
          </p:cNvGrpSpPr>
          <p:nvPr/>
        </p:nvGrpSpPr>
        <p:grpSpPr bwMode="auto">
          <a:xfrm>
            <a:off x="611188" y="4005263"/>
            <a:ext cx="8064500" cy="1325562"/>
            <a:chOff x="385" y="2523"/>
            <a:chExt cx="5080" cy="835"/>
          </a:xfrm>
        </p:grpSpPr>
        <p:sp>
          <p:nvSpPr>
            <p:cNvPr id="8213" name="Rectangle 10">
              <a:extLst>
                <a:ext uri="{FF2B5EF4-FFF2-40B4-BE49-F238E27FC236}">
                  <a16:creationId xmlns:a16="http://schemas.microsoft.com/office/drawing/2014/main" id="{75CC15A4-FFC1-E5B0-6EB4-FDEB17938015}"/>
                </a:ext>
              </a:extLst>
            </p:cNvPr>
            <p:cNvSpPr>
              <a:spLocks noChangeArrowheads="1"/>
            </p:cNvSpPr>
            <p:nvPr/>
          </p:nvSpPr>
          <p:spPr bwMode="auto">
            <a:xfrm>
              <a:off x="385" y="2614"/>
              <a:ext cx="10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ea typeface="黑体" panose="02010609060101010101" pitchFamily="49" charset="-122"/>
                </a:rPr>
                <a:t>电势定位</a:t>
              </a:r>
              <a:r>
                <a:rPr lang="zh-CN" altLang="en-US" sz="2400"/>
                <a:t>：</a:t>
              </a:r>
            </a:p>
          </p:txBody>
        </p:sp>
        <p:graphicFrame>
          <p:nvGraphicFramePr>
            <p:cNvPr id="8214" name="Object 11">
              <a:extLst>
                <a:ext uri="{FF2B5EF4-FFF2-40B4-BE49-F238E27FC236}">
                  <a16:creationId xmlns:a16="http://schemas.microsoft.com/office/drawing/2014/main" id="{2A8D374D-18A0-F5B3-B889-DB8F3CA99BC2}"/>
                </a:ext>
              </a:extLst>
            </p:cNvPr>
            <p:cNvGraphicFramePr>
              <a:graphicFrameLocks noChangeAspect="1"/>
            </p:cNvGraphicFramePr>
            <p:nvPr/>
          </p:nvGraphicFramePr>
          <p:xfrm>
            <a:off x="1474" y="2523"/>
            <a:ext cx="3991" cy="516"/>
          </p:xfrm>
          <a:graphic>
            <a:graphicData uri="http://schemas.openxmlformats.org/presentationml/2006/ole">
              <mc:AlternateContent xmlns:mc="http://schemas.openxmlformats.org/markup-compatibility/2006">
                <mc:Choice xmlns:v="urn:schemas-microsoft-com:vml" Requires="v">
                  <p:oleObj name="Equation" r:id="rId5" imgW="3238500" imgH="419100" progId="Equation.DSMT4">
                    <p:embed/>
                  </p:oleObj>
                </mc:Choice>
                <mc:Fallback>
                  <p:oleObj name="Equation" r:id="rId5" imgW="3238500" imgH="419100" progId="Equation.DSMT4">
                    <p:embed/>
                    <p:pic>
                      <p:nvPicPr>
                        <p:cNvPr id="8214" name="Object 11">
                          <a:extLst>
                            <a:ext uri="{FF2B5EF4-FFF2-40B4-BE49-F238E27FC236}">
                              <a16:creationId xmlns:a16="http://schemas.microsoft.com/office/drawing/2014/main" id="{2A8D374D-18A0-F5B3-B889-DB8F3CA99BC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4" y="2523"/>
                          <a:ext cx="3991"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15" name="Object 12">
              <a:extLst>
                <a:ext uri="{FF2B5EF4-FFF2-40B4-BE49-F238E27FC236}">
                  <a16:creationId xmlns:a16="http://schemas.microsoft.com/office/drawing/2014/main" id="{0E6FE32B-10A0-4A71-0D0E-0A9A96E74856}"/>
                </a:ext>
              </a:extLst>
            </p:cNvPr>
            <p:cNvGraphicFramePr>
              <a:graphicFrameLocks noChangeAspect="1"/>
            </p:cNvGraphicFramePr>
            <p:nvPr/>
          </p:nvGraphicFramePr>
          <p:xfrm>
            <a:off x="1519" y="3067"/>
            <a:ext cx="998" cy="291"/>
          </p:xfrm>
          <a:graphic>
            <a:graphicData uri="http://schemas.openxmlformats.org/presentationml/2006/ole">
              <mc:AlternateContent xmlns:mc="http://schemas.openxmlformats.org/markup-compatibility/2006">
                <mc:Choice xmlns:v="urn:schemas-microsoft-com:vml" Requires="v">
                  <p:oleObj name="Equation" r:id="rId7" imgW="685800" imgH="203200" progId="Equation.DSMT4">
                    <p:embed/>
                  </p:oleObj>
                </mc:Choice>
                <mc:Fallback>
                  <p:oleObj name="Equation" r:id="rId7" imgW="685800" imgH="203200" progId="Equation.DSMT4">
                    <p:embed/>
                    <p:pic>
                      <p:nvPicPr>
                        <p:cNvPr id="8215" name="Object 12">
                          <a:extLst>
                            <a:ext uri="{FF2B5EF4-FFF2-40B4-BE49-F238E27FC236}">
                              <a16:creationId xmlns:a16="http://schemas.microsoft.com/office/drawing/2014/main" id="{0E6FE32B-10A0-4A71-0D0E-0A9A96E7485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9" y="3067"/>
                          <a:ext cx="99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94221" name="Group 13">
            <a:extLst>
              <a:ext uri="{FF2B5EF4-FFF2-40B4-BE49-F238E27FC236}">
                <a16:creationId xmlns:a16="http://schemas.microsoft.com/office/drawing/2014/main" id="{BF0A2C66-2E36-D19F-C265-3FA9BF45FB34}"/>
              </a:ext>
            </a:extLst>
          </p:cNvPr>
          <p:cNvGrpSpPr>
            <a:grpSpLocks/>
          </p:cNvGrpSpPr>
          <p:nvPr/>
        </p:nvGrpSpPr>
        <p:grpSpPr bwMode="auto">
          <a:xfrm>
            <a:off x="231775" y="5445125"/>
            <a:ext cx="7869238" cy="573088"/>
            <a:chOff x="146" y="3430"/>
            <a:chExt cx="4957" cy="361"/>
          </a:xfrm>
        </p:grpSpPr>
        <p:graphicFrame>
          <p:nvGraphicFramePr>
            <p:cNvPr id="8211" name="Object 14">
              <a:extLst>
                <a:ext uri="{FF2B5EF4-FFF2-40B4-BE49-F238E27FC236}">
                  <a16:creationId xmlns:a16="http://schemas.microsoft.com/office/drawing/2014/main" id="{8BE459F8-1B5F-4A6C-DF7E-36C34C3E3575}"/>
                </a:ext>
              </a:extLst>
            </p:cNvPr>
            <p:cNvGraphicFramePr>
              <a:graphicFrameLocks noChangeAspect="1"/>
            </p:cNvGraphicFramePr>
            <p:nvPr/>
          </p:nvGraphicFramePr>
          <p:xfrm>
            <a:off x="1565" y="3430"/>
            <a:ext cx="3538" cy="361"/>
          </p:xfrm>
          <a:graphic>
            <a:graphicData uri="http://schemas.openxmlformats.org/presentationml/2006/ole">
              <mc:AlternateContent xmlns:mc="http://schemas.openxmlformats.org/markup-compatibility/2006">
                <mc:Choice xmlns:v="urn:schemas-microsoft-com:vml" Requires="v">
                  <p:oleObj name="Equation" r:id="rId9" imgW="2336800" imgH="241300" progId="Equation.DSMT4">
                    <p:embed/>
                  </p:oleObj>
                </mc:Choice>
                <mc:Fallback>
                  <p:oleObj name="Equation" r:id="rId9" imgW="2336800" imgH="241300" progId="Equation.DSMT4">
                    <p:embed/>
                    <p:pic>
                      <p:nvPicPr>
                        <p:cNvPr id="8211" name="Object 14">
                          <a:extLst>
                            <a:ext uri="{FF2B5EF4-FFF2-40B4-BE49-F238E27FC236}">
                              <a16:creationId xmlns:a16="http://schemas.microsoft.com/office/drawing/2014/main" id="{8BE459F8-1B5F-4A6C-DF7E-36C34C3E357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65" y="3430"/>
                          <a:ext cx="353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12" name="Text Box 15">
              <a:extLst>
                <a:ext uri="{FF2B5EF4-FFF2-40B4-BE49-F238E27FC236}">
                  <a16:creationId xmlns:a16="http://schemas.microsoft.com/office/drawing/2014/main" id="{B96B1650-4706-1AEE-AF20-C04CDD7EEF3A}"/>
                </a:ext>
              </a:extLst>
            </p:cNvPr>
            <p:cNvSpPr txBox="1">
              <a:spLocks noChangeArrowheads="1"/>
            </p:cNvSpPr>
            <p:nvPr/>
          </p:nvSpPr>
          <p:spPr bwMode="auto">
            <a:xfrm>
              <a:off x="146" y="3442"/>
              <a:ext cx="1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黑体" panose="02010609060101010101" pitchFamily="49" charset="-122"/>
                  <a:ea typeface="黑体" panose="02010609060101010101" pitchFamily="49" charset="-122"/>
                </a:rPr>
                <a:t>电流</a:t>
              </a:r>
              <a:r>
                <a:rPr lang="en-US" altLang="zh-CN" sz="2400" b="1" i="1">
                  <a:latin typeface="黑体" panose="02010609060101010101" pitchFamily="49" charset="-122"/>
                  <a:ea typeface="黑体" panose="02010609060101010101" pitchFamily="49" charset="-122"/>
                </a:rPr>
                <a:t>I</a:t>
              </a:r>
              <a:r>
                <a:rPr lang="en-US" altLang="zh-CN" sz="2400" b="1" baseline="-25000">
                  <a:latin typeface="黑体" panose="02010609060101010101" pitchFamily="49" charset="-122"/>
                  <a:ea typeface="黑体" panose="02010609060101010101" pitchFamily="49" charset="-122"/>
                </a:rPr>
                <a:t>d</a:t>
              </a:r>
              <a:r>
                <a:rPr lang="zh-CN" altLang="en-US" sz="2400" b="1">
                  <a:latin typeface="黑体" panose="02010609060101010101" pitchFamily="49" charset="-122"/>
                  <a:ea typeface="黑体" panose="02010609060101010101" pitchFamily="49" charset="-122"/>
                </a:rPr>
                <a:t>幅值为</a:t>
              </a:r>
              <a:r>
                <a:rPr lang="zh-CN" altLang="en-US" sz="2400"/>
                <a:t> </a:t>
              </a:r>
            </a:p>
          </p:txBody>
        </p:sp>
      </p:grpSp>
      <p:grpSp>
        <p:nvGrpSpPr>
          <p:cNvPr id="94224" name="Group 16">
            <a:extLst>
              <a:ext uri="{FF2B5EF4-FFF2-40B4-BE49-F238E27FC236}">
                <a16:creationId xmlns:a16="http://schemas.microsoft.com/office/drawing/2014/main" id="{020D8F33-F363-E0C1-B998-357C6FF2421F}"/>
              </a:ext>
            </a:extLst>
          </p:cNvPr>
          <p:cNvGrpSpPr>
            <a:grpSpLocks/>
          </p:cNvGrpSpPr>
          <p:nvPr/>
        </p:nvGrpSpPr>
        <p:grpSpPr bwMode="auto">
          <a:xfrm>
            <a:off x="303213" y="6021388"/>
            <a:ext cx="7735887" cy="636587"/>
            <a:chOff x="191" y="3793"/>
            <a:chExt cx="4873" cy="401"/>
          </a:xfrm>
        </p:grpSpPr>
        <p:graphicFrame>
          <p:nvGraphicFramePr>
            <p:cNvPr id="8209" name="Object 17">
              <a:extLst>
                <a:ext uri="{FF2B5EF4-FFF2-40B4-BE49-F238E27FC236}">
                  <a16:creationId xmlns:a16="http://schemas.microsoft.com/office/drawing/2014/main" id="{D1810A4F-8973-8B83-FA2C-252BBEDA416B}"/>
                </a:ext>
              </a:extLst>
            </p:cNvPr>
            <p:cNvGraphicFramePr>
              <a:graphicFrameLocks noChangeAspect="1"/>
            </p:cNvGraphicFramePr>
            <p:nvPr/>
          </p:nvGraphicFramePr>
          <p:xfrm>
            <a:off x="1344" y="3793"/>
            <a:ext cx="3720" cy="401"/>
          </p:xfrm>
          <a:graphic>
            <a:graphicData uri="http://schemas.openxmlformats.org/presentationml/2006/ole">
              <mc:AlternateContent xmlns:mc="http://schemas.openxmlformats.org/markup-compatibility/2006">
                <mc:Choice xmlns:v="urn:schemas-microsoft-com:vml" Requires="v">
                  <p:oleObj name="Equation" r:id="rId11" imgW="3098800" imgH="330200" progId="Equation.DSMT4">
                    <p:embed/>
                  </p:oleObj>
                </mc:Choice>
                <mc:Fallback>
                  <p:oleObj name="Equation" r:id="rId11" imgW="3098800" imgH="330200" progId="Equation.DSMT4">
                    <p:embed/>
                    <p:pic>
                      <p:nvPicPr>
                        <p:cNvPr id="8209" name="Object 17">
                          <a:extLst>
                            <a:ext uri="{FF2B5EF4-FFF2-40B4-BE49-F238E27FC236}">
                              <a16:creationId xmlns:a16="http://schemas.microsoft.com/office/drawing/2014/main" id="{D1810A4F-8973-8B83-FA2C-252BBEDA416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44" y="3793"/>
                          <a:ext cx="3720"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10" name="Text Box 18">
              <a:extLst>
                <a:ext uri="{FF2B5EF4-FFF2-40B4-BE49-F238E27FC236}">
                  <a16:creationId xmlns:a16="http://schemas.microsoft.com/office/drawing/2014/main" id="{2D5B1D95-F363-EF52-E692-6705A7D50640}"/>
                </a:ext>
              </a:extLst>
            </p:cNvPr>
            <p:cNvSpPr txBox="1">
              <a:spLocks noChangeArrowheads="1"/>
            </p:cNvSpPr>
            <p:nvPr/>
          </p:nvSpPr>
          <p:spPr bwMode="auto">
            <a:xfrm>
              <a:off x="191" y="3875"/>
              <a:ext cx="108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ea typeface="黑体" panose="02010609060101010101" pitchFamily="49" charset="-122"/>
                </a:rPr>
                <a:t>电势幅值为</a:t>
              </a:r>
            </a:p>
          </p:txBody>
        </p:sp>
      </p:grpSp>
      <p:sp>
        <p:nvSpPr>
          <p:cNvPr id="94227" name="AutoShape 19">
            <a:extLst>
              <a:ext uri="{FF2B5EF4-FFF2-40B4-BE49-F238E27FC236}">
                <a16:creationId xmlns:a16="http://schemas.microsoft.com/office/drawing/2014/main" id="{19D55EDC-7880-3A61-2D0F-804EE043DFAB}"/>
              </a:ext>
            </a:extLst>
          </p:cNvPr>
          <p:cNvSpPr>
            <a:spLocks noChangeArrowheads="1"/>
          </p:cNvSpPr>
          <p:nvPr/>
        </p:nvSpPr>
        <p:spPr bwMode="auto">
          <a:xfrm>
            <a:off x="4716463" y="4797425"/>
            <a:ext cx="3744912" cy="609600"/>
          </a:xfrm>
          <a:prstGeom prst="wedgeRoundRectCallout">
            <a:avLst>
              <a:gd name="adj1" fmla="val -69370"/>
              <a:gd name="adj2" fmla="val 7815"/>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a:t>电动机运行，功角为负</a:t>
            </a:r>
          </a:p>
        </p:txBody>
      </p:sp>
      <p:grpSp>
        <p:nvGrpSpPr>
          <p:cNvPr id="94228" name="Group 20">
            <a:extLst>
              <a:ext uri="{FF2B5EF4-FFF2-40B4-BE49-F238E27FC236}">
                <a16:creationId xmlns:a16="http://schemas.microsoft.com/office/drawing/2014/main" id="{04A267EB-E844-AE5E-2C6E-8DCA55331C81}"/>
              </a:ext>
            </a:extLst>
          </p:cNvPr>
          <p:cNvGrpSpPr>
            <a:grpSpLocks/>
          </p:cNvGrpSpPr>
          <p:nvPr/>
        </p:nvGrpSpPr>
        <p:grpSpPr bwMode="auto">
          <a:xfrm>
            <a:off x="4067175" y="2997200"/>
            <a:ext cx="3155950" cy="2447925"/>
            <a:chOff x="2562" y="1888"/>
            <a:chExt cx="1988" cy="1542"/>
          </a:xfrm>
        </p:grpSpPr>
        <p:sp>
          <p:nvSpPr>
            <p:cNvPr id="8207" name="Text Box 21">
              <a:extLst>
                <a:ext uri="{FF2B5EF4-FFF2-40B4-BE49-F238E27FC236}">
                  <a16:creationId xmlns:a16="http://schemas.microsoft.com/office/drawing/2014/main" id="{F86815BF-B34A-6235-08EF-F64C3682AD7C}"/>
                </a:ext>
              </a:extLst>
            </p:cNvPr>
            <p:cNvSpPr txBox="1">
              <a:spLocks noChangeArrowheads="1"/>
            </p:cNvSpPr>
            <p:nvPr/>
          </p:nvSpPr>
          <p:spPr bwMode="auto">
            <a:xfrm>
              <a:off x="3276" y="1888"/>
              <a:ext cx="12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ea typeface="黑体" panose="02010609060101010101" pitchFamily="49" charset="-122"/>
                </a:rPr>
                <a:t>单位功率因数</a:t>
              </a:r>
            </a:p>
          </p:txBody>
        </p:sp>
        <p:sp>
          <p:nvSpPr>
            <p:cNvPr id="8208" name="Line 22">
              <a:extLst>
                <a:ext uri="{FF2B5EF4-FFF2-40B4-BE49-F238E27FC236}">
                  <a16:creationId xmlns:a16="http://schemas.microsoft.com/office/drawing/2014/main" id="{E2F8A5A5-C958-D05D-763A-FF52D4475498}"/>
                </a:ext>
              </a:extLst>
            </p:cNvPr>
            <p:cNvSpPr>
              <a:spLocks noChangeShapeType="1"/>
            </p:cNvSpPr>
            <p:nvPr/>
          </p:nvSpPr>
          <p:spPr bwMode="auto">
            <a:xfrm flipV="1">
              <a:off x="2562" y="2160"/>
              <a:ext cx="817" cy="127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05" name="Text Box 18">
            <a:extLst>
              <a:ext uri="{FF2B5EF4-FFF2-40B4-BE49-F238E27FC236}">
                <a16:creationId xmlns:a16="http://schemas.microsoft.com/office/drawing/2014/main" id="{6ACBFDA2-83E1-AF45-CE60-9A358E7A04BF}"/>
              </a:ext>
            </a:extLst>
          </p:cNvPr>
          <p:cNvSpPr txBox="1">
            <a:spLocks noChangeArrowheads="1"/>
          </p:cNvSpPr>
          <p:nvPr/>
        </p:nvSpPr>
        <p:spPr bwMode="auto">
          <a:xfrm>
            <a:off x="2932113" y="6535738"/>
            <a:ext cx="5429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a:solidFill>
                  <a:srgbClr val="FF0000"/>
                </a:solidFill>
                <a:ea typeface="黑体" panose="02010609060101010101" pitchFamily="49" charset="-122"/>
              </a:rPr>
              <a:t>减号</a:t>
            </a:r>
          </a:p>
        </p:txBody>
      </p:sp>
      <p:sp>
        <p:nvSpPr>
          <p:cNvPr id="8206" name="Text Box 18">
            <a:extLst>
              <a:ext uri="{FF2B5EF4-FFF2-40B4-BE49-F238E27FC236}">
                <a16:creationId xmlns:a16="http://schemas.microsoft.com/office/drawing/2014/main" id="{E742C7FE-13C5-089B-21FF-7DC31CE9A77B}"/>
              </a:ext>
            </a:extLst>
          </p:cNvPr>
          <p:cNvSpPr txBox="1">
            <a:spLocks noChangeArrowheads="1"/>
          </p:cNvSpPr>
          <p:nvPr/>
        </p:nvSpPr>
        <p:spPr bwMode="auto">
          <a:xfrm>
            <a:off x="5395913" y="6483350"/>
            <a:ext cx="5445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a:solidFill>
                  <a:srgbClr val="FF0000"/>
                </a:solidFill>
                <a:ea typeface="黑体" panose="02010609060101010101" pitchFamily="49" charset="-122"/>
              </a:rPr>
              <a:t>减号</a:t>
            </a:r>
          </a:p>
        </p:txBody>
      </p:sp>
      <p:graphicFrame>
        <p:nvGraphicFramePr>
          <p:cNvPr id="2" name="Object 7">
            <a:extLst>
              <a:ext uri="{FF2B5EF4-FFF2-40B4-BE49-F238E27FC236}">
                <a16:creationId xmlns:a16="http://schemas.microsoft.com/office/drawing/2014/main" id="{0A630B5F-21A5-D64E-BF57-D66F8280217F}"/>
              </a:ext>
            </a:extLst>
          </p:cNvPr>
          <p:cNvGraphicFramePr>
            <a:graphicFrameLocks noChangeAspect="1"/>
          </p:cNvGraphicFramePr>
          <p:nvPr>
            <p:extLst>
              <p:ext uri="{D42A27DB-BD31-4B8C-83A1-F6EECF244321}">
                <p14:modId xmlns:p14="http://schemas.microsoft.com/office/powerpoint/2010/main" val="3952965478"/>
              </p:ext>
            </p:extLst>
          </p:nvPr>
        </p:nvGraphicFramePr>
        <p:xfrm>
          <a:off x="4715669" y="647700"/>
          <a:ext cx="2879725" cy="1919287"/>
        </p:xfrm>
        <a:graphic>
          <a:graphicData uri="http://schemas.openxmlformats.org/presentationml/2006/ole">
            <mc:AlternateContent xmlns:mc="http://schemas.openxmlformats.org/markup-compatibility/2006">
              <mc:Choice xmlns:v="urn:schemas-microsoft-com:vml" Requires="v">
                <p:oleObj name="Microsoft Drawing" r:id="rId13" imgW="1570038" imgH="1044575" progId="MSDraw">
                  <p:embed/>
                </p:oleObj>
              </mc:Choice>
              <mc:Fallback>
                <p:oleObj name="Microsoft Drawing" r:id="rId13" imgW="1570038" imgH="1044575" progId="MSDraw">
                  <p:embed/>
                  <p:pic>
                    <p:nvPicPr>
                      <p:cNvPr id="10246" name="Object 7">
                        <a:extLst>
                          <a:ext uri="{FF2B5EF4-FFF2-40B4-BE49-F238E27FC236}">
                            <a16:creationId xmlns:a16="http://schemas.microsoft.com/office/drawing/2014/main" id="{1E84DE5D-CC92-1175-AAE8-DEE3889BB7A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15669" y="647700"/>
                        <a:ext cx="2879725" cy="1919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4217"/>
                                        </p:tgtEl>
                                        <p:attrNameLst>
                                          <p:attrName>style.visibility</p:attrName>
                                        </p:attrNameLst>
                                      </p:cBhvr>
                                      <p:to>
                                        <p:strVal val="visible"/>
                                      </p:to>
                                    </p:set>
                                    <p:animEffect transition="in" filter="blinds(horizontal)">
                                      <p:cBhvr>
                                        <p:cTn id="7" dur="500"/>
                                        <p:tgtEl>
                                          <p:spTgt spid="942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4227"/>
                                        </p:tgtEl>
                                        <p:attrNameLst>
                                          <p:attrName>style.visibility</p:attrName>
                                        </p:attrNameLst>
                                      </p:cBhvr>
                                      <p:to>
                                        <p:strVal val="visible"/>
                                      </p:to>
                                    </p:set>
                                    <p:animEffect transition="in" filter="blinds(horizontal)">
                                      <p:cBhvr>
                                        <p:cTn id="12" dur="500"/>
                                        <p:tgtEl>
                                          <p:spTgt spid="942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4221"/>
                                        </p:tgtEl>
                                        <p:attrNameLst>
                                          <p:attrName>style.visibility</p:attrName>
                                        </p:attrNameLst>
                                      </p:cBhvr>
                                      <p:to>
                                        <p:strVal val="visible"/>
                                      </p:to>
                                    </p:set>
                                    <p:animEffect transition="in" filter="blinds(horizontal)">
                                      <p:cBhvr>
                                        <p:cTn id="17" dur="500"/>
                                        <p:tgtEl>
                                          <p:spTgt spid="942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94228"/>
                                        </p:tgtEl>
                                        <p:attrNameLst>
                                          <p:attrName>style.visibility</p:attrName>
                                        </p:attrNameLst>
                                      </p:cBhvr>
                                      <p:to>
                                        <p:strVal val="visible"/>
                                      </p:to>
                                    </p:set>
                                    <p:animEffect transition="in" filter="blinds(horizontal)">
                                      <p:cBhvr>
                                        <p:cTn id="22" dur="500"/>
                                        <p:tgtEl>
                                          <p:spTgt spid="9422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94224"/>
                                        </p:tgtEl>
                                        <p:attrNameLst>
                                          <p:attrName>style.visibility</p:attrName>
                                        </p:attrNameLst>
                                      </p:cBhvr>
                                      <p:to>
                                        <p:strVal val="visible"/>
                                      </p:to>
                                    </p:set>
                                    <p:animEffect transition="in" filter="blinds(horizontal)">
                                      <p:cBhvr>
                                        <p:cTn id="27" dur="500"/>
                                        <p:tgtEl>
                                          <p:spTgt spid="94224"/>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8205"/>
                                        </p:tgtEl>
                                        <p:attrNameLst>
                                          <p:attrName>style.visibility</p:attrName>
                                        </p:attrNameLst>
                                      </p:cBhvr>
                                      <p:to>
                                        <p:strVal val="visible"/>
                                      </p:to>
                                    </p:set>
                                    <p:anim calcmode="lin" valueType="num">
                                      <p:cBhvr additive="base">
                                        <p:cTn id="32" dur="500" fill="hold"/>
                                        <p:tgtEl>
                                          <p:spTgt spid="8205"/>
                                        </p:tgtEl>
                                        <p:attrNameLst>
                                          <p:attrName>ppt_x</p:attrName>
                                        </p:attrNameLst>
                                      </p:cBhvr>
                                      <p:tavLst>
                                        <p:tav tm="0">
                                          <p:val>
                                            <p:strVal val="#ppt_x"/>
                                          </p:val>
                                        </p:tav>
                                        <p:tav tm="100000">
                                          <p:val>
                                            <p:strVal val="#ppt_x"/>
                                          </p:val>
                                        </p:tav>
                                      </p:tavLst>
                                    </p:anim>
                                    <p:anim calcmode="lin" valueType="num">
                                      <p:cBhvr additive="base">
                                        <p:cTn id="33" dur="500" fill="hold"/>
                                        <p:tgtEl>
                                          <p:spTgt spid="8205"/>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8206"/>
                                        </p:tgtEl>
                                        <p:attrNameLst>
                                          <p:attrName>style.visibility</p:attrName>
                                        </p:attrNameLst>
                                      </p:cBhvr>
                                      <p:to>
                                        <p:strVal val="visible"/>
                                      </p:to>
                                    </p:set>
                                    <p:anim calcmode="lin" valueType="num">
                                      <p:cBhvr additive="base">
                                        <p:cTn id="36" dur="500" fill="hold"/>
                                        <p:tgtEl>
                                          <p:spTgt spid="8206"/>
                                        </p:tgtEl>
                                        <p:attrNameLst>
                                          <p:attrName>ppt_x</p:attrName>
                                        </p:attrNameLst>
                                      </p:cBhvr>
                                      <p:tavLst>
                                        <p:tav tm="0">
                                          <p:val>
                                            <p:strVal val="#ppt_x"/>
                                          </p:val>
                                        </p:tav>
                                        <p:tav tm="100000">
                                          <p:val>
                                            <p:strVal val="#ppt_x"/>
                                          </p:val>
                                        </p:tav>
                                      </p:tavLst>
                                    </p:anim>
                                    <p:anim calcmode="lin" valueType="num">
                                      <p:cBhvr additive="base">
                                        <p:cTn id="37" dur="500" fill="hold"/>
                                        <p:tgtEl>
                                          <p:spTgt spid="8206"/>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1000"/>
                                        <p:tgtEl>
                                          <p:spTgt spid="2"/>
                                        </p:tgtEl>
                                      </p:cBhvr>
                                    </p:animEffect>
                                    <p:anim calcmode="lin" valueType="num">
                                      <p:cBhvr>
                                        <p:cTn id="43" dur="1000" fill="hold"/>
                                        <p:tgtEl>
                                          <p:spTgt spid="2"/>
                                        </p:tgtEl>
                                        <p:attrNameLst>
                                          <p:attrName>ppt_x</p:attrName>
                                        </p:attrNameLst>
                                      </p:cBhvr>
                                      <p:tavLst>
                                        <p:tav tm="0">
                                          <p:val>
                                            <p:strVal val="#ppt_x"/>
                                          </p:val>
                                        </p:tav>
                                        <p:tav tm="100000">
                                          <p:val>
                                            <p:strVal val="#ppt_x"/>
                                          </p:val>
                                        </p:tav>
                                      </p:tavLst>
                                    </p:anim>
                                    <p:anim calcmode="lin" valueType="num">
                                      <p:cBhvr>
                                        <p:cTn id="4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27" grpId="0" animBg="1" autoUpdateAnimBg="0"/>
      <p:bldP spid="8205" grpId="0"/>
      <p:bldP spid="820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a:extLst>
              <a:ext uri="{FF2B5EF4-FFF2-40B4-BE49-F238E27FC236}">
                <a16:creationId xmlns:a16="http://schemas.microsoft.com/office/drawing/2014/main" id="{7B30297D-77B0-F9C7-CDDC-142269D8962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4D25D2F-608A-47B6-814E-E0F6353E6877}" type="slidenum">
              <a:rPr lang="en-US" altLang="zh-CN" sz="1400" smtClean="0"/>
              <a:pPr>
                <a:spcBef>
                  <a:spcPct val="0"/>
                </a:spcBef>
                <a:buFontTx/>
                <a:buNone/>
              </a:pPr>
              <a:t>20</a:t>
            </a:fld>
            <a:endParaRPr lang="en-US" altLang="zh-CN" sz="1400"/>
          </a:p>
        </p:txBody>
      </p:sp>
      <p:sp>
        <p:nvSpPr>
          <p:cNvPr id="10244" name="Rectangle 5">
            <a:extLst>
              <a:ext uri="{FF2B5EF4-FFF2-40B4-BE49-F238E27FC236}">
                <a16:creationId xmlns:a16="http://schemas.microsoft.com/office/drawing/2014/main" id="{4D735856-AD5E-A4EF-E02B-442AB8D0712D}"/>
              </a:ext>
            </a:extLst>
          </p:cNvPr>
          <p:cNvSpPr>
            <a:spLocks noGrp="1" noChangeArrowheads="1"/>
          </p:cNvSpPr>
          <p:nvPr>
            <p:ph type="body" idx="1"/>
          </p:nvPr>
        </p:nvSpPr>
        <p:spPr>
          <a:xfrm>
            <a:off x="501507" y="1119028"/>
            <a:ext cx="2098675" cy="503238"/>
          </a:xfrm>
          <a:noFill/>
        </p:spPr>
        <p:txBody>
          <a:bodyPr/>
          <a:lstStyle/>
          <a:p>
            <a:pPr eaLnBrk="1" hangingPunct="1"/>
            <a:r>
              <a:rPr lang="zh-CN" altLang="en-US" sz="2400" b="1" dirty="0">
                <a:ea typeface="黑体" panose="02010609060101010101" pitchFamily="49" charset="-122"/>
              </a:rPr>
              <a:t>相量图为</a:t>
            </a:r>
          </a:p>
        </p:txBody>
      </p:sp>
      <p:sp>
        <p:nvSpPr>
          <p:cNvPr id="10245" name="Rectangle 6">
            <a:extLst>
              <a:ext uri="{FF2B5EF4-FFF2-40B4-BE49-F238E27FC236}">
                <a16:creationId xmlns:a16="http://schemas.microsoft.com/office/drawing/2014/main" id="{445CDC42-7BB2-AEBD-0DAD-A85AF15235F0}"/>
              </a:ext>
            </a:extLst>
          </p:cNvPr>
          <p:cNvSpPr>
            <a:spLocks noChangeArrowheads="1"/>
          </p:cNvSpPr>
          <p:nvPr/>
        </p:nvSpPr>
        <p:spPr bwMode="auto">
          <a:xfrm>
            <a:off x="0" y="29051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0246" name="Object 7">
            <a:extLst>
              <a:ext uri="{FF2B5EF4-FFF2-40B4-BE49-F238E27FC236}">
                <a16:creationId xmlns:a16="http://schemas.microsoft.com/office/drawing/2014/main" id="{1E84DE5D-CC92-1175-AAE8-DEE3889BB7A4}"/>
              </a:ext>
            </a:extLst>
          </p:cNvPr>
          <p:cNvGraphicFramePr>
            <a:graphicFrameLocks noChangeAspect="1"/>
          </p:cNvGraphicFramePr>
          <p:nvPr>
            <p:extLst>
              <p:ext uri="{D42A27DB-BD31-4B8C-83A1-F6EECF244321}">
                <p14:modId xmlns:p14="http://schemas.microsoft.com/office/powerpoint/2010/main" val="3521759087"/>
              </p:ext>
            </p:extLst>
          </p:nvPr>
        </p:nvGraphicFramePr>
        <p:xfrm>
          <a:off x="5436096" y="711203"/>
          <a:ext cx="2879725" cy="1919287"/>
        </p:xfrm>
        <a:graphic>
          <a:graphicData uri="http://schemas.openxmlformats.org/presentationml/2006/ole">
            <mc:AlternateContent xmlns:mc="http://schemas.openxmlformats.org/markup-compatibility/2006">
              <mc:Choice xmlns:v="urn:schemas-microsoft-com:vml" Requires="v">
                <p:oleObj name="Microsoft Drawing" r:id="rId2" imgW="1570038" imgH="1044575" progId="MSDraw">
                  <p:embed/>
                </p:oleObj>
              </mc:Choice>
              <mc:Fallback>
                <p:oleObj name="Microsoft Drawing" r:id="rId2" imgW="1570038" imgH="1044575" progId="MSDraw">
                  <p:embed/>
                  <p:pic>
                    <p:nvPicPr>
                      <p:cNvPr id="10246" name="Object 7">
                        <a:extLst>
                          <a:ext uri="{FF2B5EF4-FFF2-40B4-BE49-F238E27FC236}">
                            <a16:creationId xmlns:a16="http://schemas.microsoft.com/office/drawing/2014/main" id="{1E84DE5D-CC92-1175-AAE8-DEE3889BB7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096" y="711203"/>
                        <a:ext cx="2879725" cy="1919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7" name="Rectangle 8">
            <a:extLst>
              <a:ext uri="{FF2B5EF4-FFF2-40B4-BE49-F238E27FC236}">
                <a16:creationId xmlns:a16="http://schemas.microsoft.com/office/drawing/2014/main" id="{3585715B-38B9-40F3-BB02-DDFF9DD45275}"/>
              </a:ext>
            </a:extLst>
          </p:cNvPr>
          <p:cNvSpPr>
            <a:spLocks noChangeArrowheads="1"/>
          </p:cNvSpPr>
          <p:nvPr/>
        </p:nvSpPr>
        <p:spPr bwMode="auto">
          <a:xfrm>
            <a:off x="0" y="2852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93193" name="Object 9">
            <a:extLst>
              <a:ext uri="{FF2B5EF4-FFF2-40B4-BE49-F238E27FC236}">
                <a16:creationId xmlns:a16="http://schemas.microsoft.com/office/drawing/2014/main" id="{729BDB57-D58F-C3C4-95CA-BEFAF8C1E707}"/>
              </a:ext>
            </a:extLst>
          </p:cNvPr>
          <p:cNvGraphicFramePr>
            <a:graphicFrameLocks noChangeAspect="1"/>
          </p:cNvGraphicFramePr>
          <p:nvPr/>
        </p:nvGraphicFramePr>
        <p:xfrm>
          <a:off x="525463" y="2012950"/>
          <a:ext cx="6726237" cy="2155825"/>
        </p:xfrm>
        <a:graphic>
          <a:graphicData uri="http://schemas.openxmlformats.org/presentationml/2006/ole">
            <mc:AlternateContent xmlns:mc="http://schemas.openxmlformats.org/markup-compatibility/2006">
              <mc:Choice xmlns:v="urn:schemas-microsoft-com:vml" Requires="v">
                <p:oleObj name="Equation" r:id="rId4" imgW="3517900" imgH="1130300" progId="Equation.DSMT4">
                  <p:embed/>
                </p:oleObj>
              </mc:Choice>
              <mc:Fallback>
                <p:oleObj name="Equation" r:id="rId4" imgW="3517900" imgH="1130300" progId="Equation.DSMT4">
                  <p:embed/>
                  <p:pic>
                    <p:nvPicPr>
                      <p:cNvPr id="93193" name="Object 9">
                        <a:extLst>
                          <a:ext uri="{FF2B5EF4-FFF2-40B4-BE49-F238E27FC236}">
                            <a16:creationId xmlns:a16="http://schemas.microsoft.com/office/drawing/2014/main" id="{729BDB57-D58F-C3C4-95CA-BEFAF8C1E7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463" y="2012950"/>
                        <a:ext cx="6726237"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9" name="Rectangle 10">
            <a:extLst>
              <a:ext uri="{FF2B5EF4-FFF2-40B4-BE49-F238E27FC236}">
                <a16:creationId xmlns:a16="http://schemas.microsoft.com/office/drawing/2014/main" id="{7D4176E8-C209-4FC9-E755-22689FA85152}"/>
              </a:ext>
            </a:extLst>
          </p:cNvPr>
          <p:cNvSpPr>
            <a:spLocks noChangeArrowheads="1"/>
          </p:cNvSpPr>
          <p:nvPr/>
        </p:nvSpPr>
        <p:spPr bwMode="auto">
          <a:xfrm>
            <a:off x="0"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sp>
        <p:nvSpPr>
          <p:cNvPr id="10250" name="Rectangle 11">
            <a:extLst>
              <a:ext uri="{FF2B5EF4-FFF2-40B4-BE49-F238E27FC236}">
                <a16:creationId xmlns:a16="http://schemas.microsoft.com/office/drawing/2014/main" id="{2778C2F7-C76A-C79B-4E86-866024B56FA8}"/>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sp>
        <p:nvSpPr>
          <p:cNvPr id="10251" name="Rectangle 12">
            <a:extLst>
              <a:ext uri="{FF2B5EF4-FFF2-40B4-BE49-F238E27FC236}">
                <a16:creationId xmlns:a16="http://schemas.microsoft.com/office/drawing/2014/main" id="{0582541A-E0A7-92E9-E98E-A1EC2C048915}"/>
              </a:ext>
            </a:extLst>
          </p:cNvPr>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sp>
        <p:nvSpPr>
          <p:cNvPr id="10252" name="Rectangle 13">
            <a:extLst>
              <a:ext uri="{FF2B5EF4-FFF2-40B4-BE49-F238E27FC236}">
                <a16:creationId xmlns:a16="http://schemas.microsoft.com/office/drawing/2014/main" id="{1F873AC6-6989-A425-5A4D-57744A8664B6}"/>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pSp>
        <p:nvGrpSpPr>
          <p:cNvPr id="93198" name="Group 14">
            <a:extLst>
              <a:ext uri="{FF2B5EF4-FFF2-40B4-BE49-F238E27FC236}">
                <a16:creationId xmlns:a16="http://schemas.microsoft.com/office/drawing/2014/main" id="{BCF2BA31-8A33-38CF-0F22-5C57EC4AD884}"/>
              </a:ext>
            </a:extLst>
          </p:cNvPr>
          <p:cNvGrpSpPr>
            <a:grpSpLocks/>
          </p:cNvGrpSpPr>
          <p:nvPr/>
        </p:nvGrpSpPr>
        <p:grpSpPr bwMode="auto">
          <a:xfrm>
            <a:off x="222250" y="4267200"/>
            <a:ext cx="8237538" cy="841375"/>
            <a:chOff x="140" y="2688"/>
            <a:chExt cx="5189" cy="530"/>
          </a:xfrm>
        </p:grpSpPr>
        <p:graphicFrame>
          <p:nvGraphicFramePr>
            <p:cNvPr id="10258" name="Object 15">
              <a:extLst>
                <a:ext uri="{FF2B5EF4-FFF2-40B4-BE49-F238E27FC236}">
                  <a16:creationId xmlns:a16="http://schemas.microsoft.com/office/drawing/2014/main" id="{D572CD8B-E5E4-4489-387E-EE2DEF90CA64}"/>
                </a:ext>
              </a:extLst>
            </p:cNvPr>
            <p:cNvGraphicFramePr>
              <a:graphicFrameLocks noChangeAspect="1"/>
            </p:cNvGraphicFramePr>
            <p:nvPr/>
          </p:nvGraphicFramePr>
          <p:xfrm>
            <a:off x="140" y="2688"/>
            <a:ext cx="3349" cy="530"/>
          </p:xfrm>
          <a:graphic>
            <a:graphicData uri="http://schemas.openxmlformats.org/presentationml/2006/ole">
              <mc:AlternateContent xmlns:mc="http://schemas.openxmlformats.org/markup-compatibility/2006">
                <mc:Choice xmlns:v="urn:schemas-microsoft-com:vml" Requires="v">
                  <p:oleObj name="Equation" r:id="rId6" imgW="2628900" imgH="419100" progId="Equation.DSMT4">
                    <p:embed/>
                  </p:oleObj>
                </mc:Choice>
                <mc:Fallback>
                  <p:oleObj name="Equation" r:id="rId6" imgW="2628900" imgH="419100" progId="Equation.DSMT4">
                    <p:embed/>
                    <p:pic>
                      <p:nvPicPr>
                        <p:cNvPr id="10258" name="Object 15">
                          <a:extLst>
                            <a:ext uri="{FF2B5EF4-FFF2-40B4-BE49-F238E27FC236}">
                              <a16:creationId xmlns:a16="http://schemas.microsoft.com/office/drawing/2014/main" id="{D572CD8B-E5E4-4489-387E-EE2DEF90CA6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 y="2688"/>
                          <a:ext cx="3349" cy="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59" name="Object 16">
              <a:extLst>
                <a:ext uri="{FF2B5EF4-FFF2-40B4-BE49-F238E27FC236}">
                  <a16:creationId xmlns:a16="http://schemas.microsoft.com/office/drawing/2014/main" id="{D5A9C120-3EB9-37DE-6F34-7CE955A83993}"/>
                </a:ext>
              </a:extLst>
            </p:cNvPr>
            <p:cNvGraphicFramePr>
              <a:graphicFrameLocks noChangeAspect="1"/>
            </p:cNvGraphicFramePr>
            <p:nvPr/>
          </p:nvGraphicFramePr>
          <p:xfrm>
            <a:off x="3560" y="2795"/>
            <a:ext cx="1769" cy="247"/>
          </p:xfrm>
          <a:graphic>
            <a:graphicData uri="http://schemas.openxmlformats.org/presentationml/2006/ole">
              <mc:AlternateContent xmlns:mc="http://schemas.openxmlformats.org/markup-compatibility/2006">
                <mc:Choice xmlns:v="urn:schemas-microsoft-com:vml" Requires="v">
                  <p:oleObj name="Equation" r:id="rId8" imgW="1574117" imgH="215806" progId="Equation.DSMT4">
                    <p:embed/>
                  </p:oleObj>
                </mc:Choice>
                <mc:Fallback>
                  <p:oleObj name="Equation" r:id="rId8" imgW="1574117" imgH="215806" progId="Equation.DSMT4">
                    <p:embed/>
                    <p:pic>
                      <p:nvPicPr>
                        <p:cNvPr id="10259" name="Object 16">
                          <a:extLst>
                            <a:ext uri="{FF2B5EF4-FFF2-40B4-BE49-F238E27FC236}">
                              <a16:creationId xmlns:a16="http://schemas.microsoft.com/office/drawing/2014/main" id="{D5A9C120-3EB9-37DE-6F34-7CE955A8399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60" y="2795"/>
                          <a:ext cx="1769" cy="247"/>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93201" name="Group 17">
            <a:extLst>
              <a:ext uri="{FF2B5EF4-FFF2-40B4-BE49-F238E27FC236}">
                <a16:creationId xmlns:a16="http://schemas.microsoft.com/office/drawing/2014/main" id="{C5F7BD24-C2CD-A702-4EBE-A10CA89FDA70}"/>
              </a:ext>
            </a:extLst>
          </p:cNvPr>
          <p:cNvGrpSpPr>
            <a:grpSpLocks/>
          </p:cNvGrpSpPr>
          <p:nvPr/>
        </p:nvGrpSpPr>
        <p:grpSpPr bwMode="auto">
          <a:xfrm>
            <a:off x="638175" y="4984750"/>
            <a:ext cx="5661025" cy="646113"/>
            <a:chOff x="402" y="3140"/>
            <a:chExt cx="3566" cy="407"/>
          </a:xfrm>
        </p:grpSpPr>
        <p:graphicFrame>
          <p:nvGraphicFramePr>
            <p:cNvPr id="10256" name="Object 18">
              <a:extLst>
                <a:ext uri="{FF2B5EF4-FFF2-40B4-BE49-F238E27FC236}">
                  <a16:creationId xmlns:a16="http://schemas.microsoft.com/office/drawing/2014/main" id="{49337519-F33B-BBF4-9312-799002EDEAD3}"/>
                </a:ext>
              </a:extLst>
            </p:cNvPr>
            <p:cNvGraphicFramePr>
              <a:graphicFrameLocks noChangeAspect="1"/>
            </p:cNvGraphicFramePr>
            <p:nvPr/>
          </p:nvGraphicFramePr>
          <p:xfrm>
            <a:off x="402" y="3140"/>
            <a:ext cx="1698" cy="371"/>
          </p:xfrm>
          <a:graphic>
            <a:graphicData uri="http://schemas.openxmlformats.org/presentationml/2006/ole">
              <mc:AlternateContent xmlns:mc="http://schemas.openxmlformats.org/markup-compatibility/2006">
                <mc:Choice xmlns:v="urn:schemas-microsoft-com:vml" Requires="v">
                  <p:oleObj name="Equation" r:id="rId10" imgW="914400" imgH="203200" progId="Equation.DSMT4">
                    <p:embed/>
                  </p:oleObj>
                </mc:Choice>
                <mc:Fallback>
                  <p:oleObj name="Equation" r:id="rId10" imgW="914400" imgH="203200" progId="Equation.DSMT4">
                    <p:embed/>
                    <p:pic>
                      <p:nvPicPr>
                        <p:cNvPr id="10256" name="Object 18">
                          <a:extLst>
                            <a:ext uri="{FF2B5EF4-FFF2-40B4-BE49-F238E27FC236}">
                              <a16:creationId xmlns:a16="http://schemas.microsoft.com/office/drawing/2014/main" id="{49337519-F33B-BBF4-9312-799002EDEAD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2" y="3140"/>
                          <a:ext cx="1698"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57" name="Object 19">
              <a:extLst>
                <a:ext uri="{FF2B5EF4-FFF2-40B4-BE49-F238E27FC236}">
                  <a16:creationId xmlns:a16="http://schemas.microsoft.com/office/drawing/2014/main" id="{057C215B-A99C-6FF8-F228-C80090D4AE29}"/>
                </a:ext>
              </a:extLst>
            </p:cNvPr>
            <p:cNvGraphicFramePr>
              <a:graphicFrameLocks noChangeAspect="1"/>
            </p:cNvGraphicFramePr>
            <p:nvPr/>
          </p:nvGraphicFramePr>
          <p:xfrm>
            <a:off x="2290" y="3203"/>
            <a:ext cx="1678" cy="344"/>
          </p:xfrm>
          <a:graphic>
            <a:graphicData uri="http://schemas.openxmlformats.org/presentationml/2006/ole">
              <mc:AlternateContent xmlns:mc="http://schemas.openxmlformats.org/markup-compatibility/2006">
                <mc:Choice xmlns:v="urn:schemas-microsoft-com:vml" Requires="v">
                  <p:oleObj name="Equation" r:id="rId12" imgW="1117600" imgH="228600" progId="Equation.DSMT4">
                    <p:embed/>
                  </p:oleObj>
                </mc:Choice>
                <mc:Fallback>
                  <p:oleObj name="Equation" r:id="rId12" imgW="1117600" imgH="228600" progId="Equation.DSMT4">
                    <p:embed/>
                    <p:pic>
                      <p:nvPicPr>
                        <p:cNvPr id="10257" name="Object 19">
                          <a:extLst>
                            <a:ext uri="{FF2B5EF4-FFF2-40B4-BE49-F238E27FC236}">
                              <a16:creationId xmlns:a16="http://schemas.microsoft.com/office/drawing/2014/main" id="{057C215B-A99C-6FF8-F228-C80090D4AE2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90" y="3203"/>
                          <a:ext cx="1678"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93204" name="Text Box 20">
            <a:extLst>
              <a:ext uri="{FF2B5EF4-FFF2-40B4-BE49-F238E27FC236}">
                <a16:creationId xmlns:a16="http://schemas.microsoft.com/office/drawing/2014/main" id="{CAA5EB75-0CD0-9F2C-9A6A-78CBE4908B4F}"/>
              </a:ext>
            </a:extLst>
          </p:cNvPr>
          <p:cNvSpPr txBox="1">
            <a:spLocks noChangeArrowheads="1"/>
          </p:cNvSpPr>
          <p:nvPr/>
        </p:nvSpPr>
        <p:spPr bwMode="auto">
          <a:xfrm>
            <a:off x="663575" y="5805488"/>
            <a:ext cx="6778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黑体" panose="02010609060101010101" pitchFamily="49" charset="-122"/>
                <a:ea typeface="黑体" panose="02010609060101010101" pitchFamily="49" charset="-122"/>
              </a:rPr>
              <a:t>例</a:t>
            </a:r>
            <a:r>
              <a:rPr lang="en-US" altLang="zh-CN" sz="2400" b="1">
                <a:latin typeface="黑体" panose="02010609060101010101" pitchFamily="49" charset="-122"/>
                <a:ea typeface="黑体" panose="02010609060101010101" pitchFamily="49" charset="-122"/>
              </a:rPr>
              <a:t>1</a:t>
            </a:r>
            <a:r>
              <a:rPr lang="zh-CN" altLang="en-US" sz="2400" b="1">
                <a:latin typeface="黑体" panose="02010609060101010101" pitchFamily="49" charset="-122"/>
                <a:ea typeface="黑体" panose="02010609060101010101" pitchFamily="49" charset="-122"/>
              </a:rPr>
              <a:t>中忽略凸极效应结果为</a:t>
            </a:r>
            <a:r>
              <a:rPr lang="en-US" altLang="zh-CN" sz="2400" b="1">
                <a:latin typeface="黑体" panose="02010609060101010101" pitchFamily="49" charset="-122"/>
                <a:ea typeface="黑体" panose="02010609060101010101" pitchFamily="49" charset="-122"/>
              </a:rPr>
              <a:t>3096kW</a:t>
            </a:r>
            <a:r>
              <a:rPr lang="zh-CN" altLang="en-US" sz="2400" b="1">
                <a:latin typeface="黑体" panose="02010609060101010101" pitchFamily="49" charset="-122"/>
                <a:ea typeface="黑体" panose="02010609060101010101" pitchFamily="49" charset="-122"/>
              </a:rPr>
              <a:t>，偏差小于</a:t>
            </a:r>
            <a:r>
              <a:rPr lang="en-US" altLang="zh-CN" sz="2400" b="1">
                <a:latin typeface="黑体" panose="02010609060101010101" pitchFamily="49" charset="-122"/>
                <a:ea typeface="黑体" panose="02010609060101010101" pitchFamily="49" charset="-122"/>
              </a:rPr>
              <a:t>5%</a:t>
            </a:r>
            <a:r>
              <a:rPr lang="zh-CN" altLang="en-US" sz="2400" b="1">
                <a:latin typeface="黑体" panose="02010609060101010101" pitchFamily="49" charset="-122"/>
                <a:ea typeface="黑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3193"/>
                                        </p:tgtEl>
                                        <p:attrNameLst>
                                          <p:attrName>style.visibility</p:attrName>
                                        </p:attrNameLst>
                                      </p:cBhvr>
                                      <p:to>
                                        <p:strVal val="visible"/>
                                      </p:to>
                                    </p:set>
                                    <p:animEffect transition="in" filter="blinds(horizontal)">
                                      <p:cBhvr>
                                        <p:cTn id="7" dur="500"/>
                                        <p:tgtEl>
                                          <p:spTgt spid="931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3198"/>
                                        </p:tgtEl>
                                        <p:attrNameLst>
                                          <p:attrName>style.visibility</p:attrName>
                                        </p:attrNameLst>
                                      </p:cBhvr>
                                      <p:to>
                                        <p:strVal val="visible"/>
                                      </p:to>
                                    </p:set>
                                    <p:animEffect transition="in" filter="blinds(horizontal)">
                                      <p:cBhvr>
                                        <p:cTn id="12" dur="500"/>
                                        <p:tgtEl>
                                          <p:spTgt spid="931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3201"/>
                                        </p:tgtEl>
                                        <p:attrNameLst>
                                          <p:attrName>style.visibility</p:attrName>
                                        </p:attrNameLst>
                                      </p:cBhvr>
                                      <p:to>
                                        <p:strVal val="visible"/>
                                      </p:to>
                                    </p:set>
                                    <p:animEffect transition="in" filter="blinds(horizontal)">
                                      <p:cBhvr>
                                        <p:cTn id="17" dur="500"/>
                                        <p:tgtEl>
                                          <p:spTgt spid="932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93204"/>
                                        </p:tgtEl>
                                        <p:attrNameLst>
                                          <p:attrName>style.visibility</p:attrName>
                                        </p:attrNameLst>
                                      </p:cBhvr>
                                      <p:to>
                                        <p:strVal val="visible"/>
                                      </p:to>
                                    </p:set>
                                    <p:animEffect transition="in" filter="blinds(horizontal)">
                                      <p:cBhvr>
                                        <p:cTn id="22" dur="500"/>
                                        <p:tgtEl>
                                          <p:spTgt spid="93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04"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a:extLst>
              <a:ext uri="{FF2B5EF4-FFF2-40B4-BE49-F238E27FC236}">
                <a16:creationId xmlns:a16="http://schemas.microsoft.com/office/drawing/2014/main" id="{DC146A25-CD12-55EE-9059-5930083BE45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172CE95-B36F-4273-B433-8B03F61BFB37}" type="slidenum">
              <a:rPr lang="en-US" altLang="zh-CN" sz="1400" smtClean="0"/>
              <a:pPr>
                <a:spcBef>
                  <a:spcPct val="0"/>
                </a:spcBef>
                <a:buFontTx/>
                <a:buNone/>
              </a:pPr>
              <a:t>21</a:t>
            </a:fld>
            <a:endParaRPr lang="en-US" altLang="zh-CN" sz="1400"/>
          </a:p>
        </p:txBody>
      </p:sp>
      <p:sp>
        <p:nvSpPr>
          <p:cNvPr id="11267" name="Rectangle 4">
            <a:extLst>
              <a:ext uri="{FF2B5EF4-FFF2-40B4-BE49-F238E27FC236}">
                <a16:creationId xmlns:a16="http://schemas.microsoft.com/office/drawing/2014/main" id="{C31DEFAC-7963-A412-71DD-B27F7E4238D6}"/>
              </a:ext>
            </a:extLst>
          </p:cNvPr>
          <p:cNvSpPr>
            <a:spLocks noChangeArrowheads="1"/>
          </p:cNvSpPr>
          <p:nvPr/>
        </p:nvSpPr>
        <p:spPr bwMode="auto">
          <a:xfrm>
            <a:off x="436989" y="858813"/>
            <a:ext cx="7859713" cy="70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b="1">
              <a:solidFill>
                <a:schemeClr val="tx2"/>
              </a:solidFill>
              <a:ea typeface="楷体_GB2312" pitchFamily="49" charset="-122"/>
            </a:endParaRPr>
          </a:p>
        </p:txBody>
      </p:sp>
      <p:sp>
        <p:nvSpPr>
          <p:cNvPr id="11268" name="Rectangle 5">
            <a:extLst>
              <a:ext uri="{FF2B5EF4-FFF2-40B4-BE49-F238E27FC236}">
                <a16:creationId xmlns:a16="http://schemas.microsoft.com/office/drawing/2014/main" id="{9694F344-CFD8-2A49-6E0E-7C5A854E4326}"/>
              </a:ext>
            </a:extLst>
          </p:cNvPr>
          <p:cNvSpPr>
            <a:spLocks noGrp="1" noChangeArrowheads="1"/>
          </p:cNvSpPr>
          <p:nvPr>
            <p:ph type="body" idx="1"/>
          </p:nvPr>
        </p:nvSpPr>
        <p:spPr>
          <a:xfrm>
            <a:off x="436989" y="1852588"/>
            <a:ext cx="3970338" cy="4897437"/>
          </a:xfrm>
          <a:noFill/>
        </p:spPr>
        <p:txBody>
          <a:bodyPr/>
          <a:lstStyle/>
          <a:p>
            <a:pPr eaLnBrk="1" hangingPunct="1"/>
            <a:r>
              <a:rPr lang="zh-CN" altLang="en-US" sz="2400"/>
              <a:t>当凸极转子轴线与定子磁场轴线错开一个角度时，定子绕组产生的磁通斜着通过气隙，会产生切线方向的磁拉力，形成拖动转矩。</a:t>
            </a:r>
            <a:r>
              <a:rPr lang="zh-CN" altLang="en-US" sz="2400" b="1" i="1">
                <a:ea typeface="华文中宋" panose="02010600040101010101" pitchFamily="2" charset="-122"/>
              </a:rPr>
              <a:t>只要定子存在旋转磁场，即使没有励磁的凸极同步电动机也会产生磁阻转矩，拖动电动机运行</a:t>
            </a:r>
            <a:r>
              <a:rPr lang="zh-CN" altLang="en-US" sz="2400"/>
              <a:t>。这时电机又被称为</a:t>
            </a:r>
            <a:r>
              <a:rPr lang="zh-CN" altLang="en-US" sz="2400" b="1">
                <a:solidFill>
                  <a:srgbClr val="0000FF"/>
                </a:solidFill>
              </a:rPr>
              <a:t>磁阻电机</a:t>
            </a:r>
            <a:r>
              <a:rPr lang="zh-CN" altLang="en-US" sz="2400"/>
              <a:t>或</a:t>
            </a:r>
            <a:r>
              <a:rPr lang="zh-CN" altLang="en-US" sz="2400" b="1">
                <a:solidFill>
                  <a:srgbClr val="0000FF"/>
                </a:solidFill>
              </a:rPr>
              <a:t>反应式同步电动机</a:t>
            </a:r>
            <a:r>
              <a:rPr lang="zh-CN" altLang="en-US" sz="2400"/>
              <a:t>。</a:t>
            </a:r>
          </a:p>
        </p:txBody>
      </p:sp>
      <p:pic>
        <p:nvPicPr>
          <p:cNvPr id="11269" name="Picture 6">
            <a:extLst>
              <a:ext uri="{FF2B5EF4-FFF2-40B4-BE49-F238E27FC236}">
                <a16:creationId xmlns:a16="http://schemas.microsoft.com/office/drawing/2014/main" id="{EB38E4BA-CADD-1199-5C46-11D59172987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56614" y="2212950"/>
            <a:ext cx="3657600"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Rectangle 7">
            <a:extLst>
              <a:ext uri="{FF2B5EF4-FFF2-40B4-BE49-F238E27FC236}">
                <a16:creationId xmlns:a16="http://schemas.microsoft.com/office/drawing/2014/main" id="{EB6AA723-DE0B-FBF1-D81E-2264ABC5F155}"/>
              </a:ext>
            </a:extLst>
          </p:cNvPr>
          <p:cNvSpPr>
            <a:spLocks noChangeArrowheads="1"/>
          </p:cNvSpPr>
          <p:nvPr/>
        </p:nvSpPr>
        <p:spPr bwMode="auto">
          <a:xfrm>
            <a:off x="323528" y="965175"/>
            <a:ext cx="656506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dirty="0">
                <a:solidFill>
                  <a:schemeClr val="tx2"/>
                </a:solidFill>
                <a:ea typeface="楷体_GB2312" pitchFamily="49" charset="-122"/>
              </a:rPr>
              <a:t>八、附加转矩与交流同步磁阻电机</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a:extLst>
              <a:ext uri="{FF2B5EF4-FFF2-40B4-BE49-F238E27FC236}">
                <a16:creationId xmlns:a16="http://schemas.microsoft.com/office/drawing/2014/main" id="{BC86363B-2550-DFB5-CE8F-F147DD30ECD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18D6AE4-2C1C-43F4-A9CE-74CDE1AA4018}" type="slidenum">
              <a:rPr lang="en-US" altLang="zh-CN" sz="1400" smtClean="0"/>
              <a:pPr>
                <a:spcBef>
                  <a:spcPct val="0"/>
                </a:spcBef>
                <a:buFontTx/>
                <a:buNone/>
              </a:pPr>
              <a:t>22</a:t>
            </a:fld>
            <a:endParaRPr lang="en-US" altLang="zh-CN" sz="1400"/>
          </a:p>
        </p:txBody>
      </p:sp>
      <p:sp>
        <p:nvSpPr>
          <p:cNvPr id="12291" name="Rectangle 2">
            <a:extLst>
              <a:ext uri="{FF2B5EF4-FFF2-40B4-BE49-F238E27FC236}">
                <a16:creationId xmlns:a16="http://schemas.microsoft.com/office/drawing/2014/main" id="{A83EF3CC-F128-E0EC-93C1-07327146907E}"/>
              </a:ext>
            </a:extLst>
          </p:cNvPr>
          <p:cNvSpPr>
            <a:spLocks noGrp="1" noChangeArrowheads="1"/>
          </p:cNvSpPr>
          <p:nvPr>
            <p:ph type="title"/>
          </p:nvPr>
        </p:nvSpPr>
        <p:spPr>
          <a:xfrm>
            <a:off x="94640" y="1085549"/>
            <a:ext cx="8801020" cy="1143000"/>
          </a:xfrm>
        </p:spPr>
        <p:txBody>
          <a:bodyPr/>
          <a:lstStyle/>
          <a:p>
            <a:pPr eaLnBrk="1" hangingPunct="1"/>
            <a:r>
              <a:rPr lang="zh-CN" altLang="en-US" sz="3200" b="1" dirty="0">
                <a:ea typeface="楷体_GB2312" pitchFamily="49" charset="-122"/>
              </a:rPr>
              <a:t>九、负载变化对同步电动机运行的影响</a:t>
            </a:r>
            <a:br>
              <a:rPr lang="en-US" altLang="zh-CN" sz="3200" b="1" dirty="0">
                <a:ea typeface="楷体_GB2312" pitchFamily="49" charset="-122"/>
              </a:rPr>
            </a:br>
            <a:r>
              <a:rPr lang="en-US" altLang="zh-CN" sz="3200" b="1" dirty="0">
                <a:ea typeface="楷体_GB2312" pitchFamily="49" charset="-122"/>
              </a:rPr>
              <a:t>------</a:t>
            </a:r>
            <a:r>
              <a:rPr lang="zh-CN" altLang="en-US" sz="3200" b="1" dirty="0">
                <a:ea typeface="楷体_GB2312" pitchFamily="49" charset="-122"/>
              </a:rPr>
              <a:t>认识功角和功率因数角</a:t>
            </a:r>
            <a:r>
              <a:rPr lang="zh-CN" altLang="en-US" dirty="0"/>
              <a:t> </a:t>
            </a:r>
            <a:br>
              <a:rPr lang="zh-CN" altLang="en-US" dirty="0"/>
            </a:br>
            <a:endParaRPr lang="zh-CN" altLang="en-US" dirty="0"/>
          </a:p>
        </p:txBody>
      </p:sp>
      <p:sp>
        <p:nvSpPr>
          <p:cNvPr id="12292" name="Rectangle 5">
            <a:extLst>
              <a:ext uri="{FF2B5EF4-FFF2-40B4-BE49-F238E27FC236}">
                <a16:creationId xmlns:a16="http://schemas.microsoft.com/office/drawing/2014/main" id="{A140DE2F-B188-E197-7DBE-5570FB91176D}"/>
              </a:ext>
            </a:extLst>
          </p:cNvPr>
          <p:cNvSpPr>
            <a:spLocks noGrp="1" noChangeArrowheads="1"/>
          </p:cNvSpPr>
          <p:nvPr>
            <p:ph type="body" idx="1"/>
          </p:nvPr>
        </p:nvSpPr>
        <p:spPr>
          <a:xfrm>
            <a:off x="462900" y="1749425"/>
            <a:ext cx="8147050" cy="1295400"/>
          </a:xfrm>
          <a:noFill/>
        </p:spPr>
        <p:txBody>
          <a:bodyPr/>
          <a:lstStyle/>
          <a:p>
            <a:pPr eaLnBrk="1" hangingPunct="1"/>
            <a:r>
              <a:rPr lang="en-US" altLang="zh-CN" sz="2400"/>
              <a:t>   </a:t>
            </a:r>
            <a:r>
              <a:rPr lang="zh-CN" altLang="en-US" sz="2400"/>
              <a:t>假定同步电动机运行在</a:t>
            </a:r>
            <a:r>
              <a:rPr lang="zh-CN" altLang="en-US" sz="2400" b="1"/>
              <a:t>恒定励磁</a:t>
            </a:r>
            <a:r>
              <a:rPr lang="zh-CN" altLang="en-US" sz="2400"/>
              <a:t>状态。由于电动机的稳态转速与负载无关，因此定子绕组因转子磁场的产生的感应电势也与负载无关。      </a:t>
            </a:r>
          </a:p>
        </p:txBody>
      </p:sp>
      <p:graphicFrame>
        <p:nvGraphicFramePr>
          <p:cNvPr id="12293" name="Object 6">
            <a:extLst>
              <a:ext uri="{FF2B5EF4-FFF2-40B4-BE49-F238E27FC236}">
                <a16:creationId xmlns:a16="http://schemas.microsoft.com/office/drawing/2014/main" id="{C98ABE00-A13D-98DC-3EAD-7B104B0C9E48}"/>
              </a:ext>
            </a:extLst>
          </p:cNvPr>
          <p:cNvGraphicFramePr>
            <a:graphicFrameLocks noChangeAspect="1"/>
          </p:cNvGraphicFramePr>
          <p:nvPr>
            <p:extLst>
              <p:ext uri="{D42A27DB-BD31-4B8C-83A1-F6EECF244321}">
                <p14:modId xmlns:p14="http://schemas.microsoft.com/office/powerpoint/2010/main" val="2401384720"/>
              </p:ext>
            </p:extLst>
          </p:nvPr>
        </p:nvGraphicFramePr>
        <p:xfrm>
          <a:off x="905813" y="2973388"/>
          <a:ext cx="3384550" cy="461962"/>
        </p:xfrm>
        <a:graphic>
          <a:graphicData uri="http://schemas.openxmlformats.org/presentationml/2006/ole">
            <mc:AlternateContent xmlns:mc="http://schemas.openxmlformats.org/markup-compatibility/2006">
              <mc:Choice xmlns:v="urn:schemas-microsoft-com:vml" Requires="v">
                <p:oleObj name="Equation" r:id="rId2" imgW="1676400" imgH="228600" progId="Equation.DSMT4">
                  <p:embed/>
                </p:oleObj>
              </mc:Choice>
              <mc:Fallback>
                <p:oleObj name="Equation" r:id="rId2" imgW="1676400" imgH="228600" progId="Equation.DSMT4">
                  <p:embed/>
                  <p:pic>
                    <p:nvPicPr>
                      <p:cNvPr id="12293" name="Object 6">
                        <a:extLst>
                          <a:ext uri="{FF2B5EF4-FFF2-40B4-BE49-F238E27FC236}">
                            <a16:creationId xmlns:a16="http://schemas.microsoft.com/office/drawing/2014/main" id="{C98ABE00-A13D-98DC-3EAD-7B104B0C9E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813" y="2973388"/>
                        <a:ext cx="3384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1143" name="Text Box 7">
            <a:extLst>
              <a:ext uri="{FF2B5EF4-FFF2-40B4-BE49-F238E27FC236}">
                <a16:creationId xmlns:a16="http://schemas.microsoft.com/office/drawing/2014/main" id="{828FFF0D-2B15-FA22-5842-619821641BB2}"/>
              </a:ext>
            </a:extLst>
          </p:cNvPr>
          <p:cNvSpPr txBox="1">
            <a:spLocks noChangeArrowheads="1"/>
          </p:cNvSpPr>
          <p:nvPr/>
        </p:nvSpPr>
        <p:spPr bwMode="auto">
          <a:xfrm>
            <a:off x="453375" y="3495675"/>
            <a:ext cx="3908425"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400"/>
              <a:t>   </a:t>
            </a:r>
            <a:r>
              <a:rPr lang="zh-CN" altLang="en-US" sz="2400"/>
              <a:t>假定电机轻载时运行在功率因数超前状态，负载增加时，转子瞬间转速降落，使转矩角</a:t>
            </a:r>
            <a:r>
              <a:rPr lang="en-US" altLang="zh-CN" sz="2400"/>
              <a:t>|</a:t>
            </a:r>
            <a:r>
              <a:rPr lang="en-US" altLang="zh-CN" sz="2400">
                <a:latin typeface="Symbol" panose="05050102010706020507" pitchFamily="18" charset="2"/>
              </a:rPr>
              <a:t>d|</a:t>
            </a:r>
            <a:r>
              <a:rPr lang="zh-CN" altLang="en-US" sz="2400"/>
              <a:t>变大，电磁转矩增加，最终使电机加速恢复同步转速，但是具有较大的转矩角</a:t>
            </a:r>
            <a:r>
              <a:rPr lang="en-US" altLang="zh-CN" sz="2400"/>
              <a:t>|</a:t>
            </a:r>
            <a:r>
              <a:rPr lang="en-US" altLang="zh-CN" sz="2400">
                <a:latin typeface="Symbol" panose="05050102010706020507" pitchFamily="18" charset="2"/>
              </a:rPr>
              <a:t>d|</a:t>
            </a:r>
            <a:r>
              <a:rPr lang="zh-CN" altLang="en-US" sz="2400"/>
              <a:t>。 </a:t>
            </a:r>
          </a:p>
        </p:txBody>
      </p:sp>
      <p:sp>
        <p:nvSpPr>
          <p:cNvPr id="12295" name="Rectangle 8">
            <a:extLst>
              <a:ext uri="{FF2B5EF4-FFF2-40B4-BE49-F238E27FC236}">
                <a16:creationId xmlns:a16="http://schemas.microsoft.com/office/drawing/2014/main" id="{20922389-BD96-9F00-63FC-9E219B309BC3}"/>
              </a:ext>
            </a:extLst>
          </p:cNvPr>
          <p:cNvSpPr>
            <a:spLocks noChangeArrowheads="1"/>
          </p:cNvSpPr>
          <p:nvPr/>
        </p:nvSpPr>
        <p:spPr bwMode="auto">
          <a:xfrm>
            <a:off x="5700" y="37671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sp>
        <p:nvSpPr>
          <p:cNvPr id="12296" name="Text Box 9">
            <a:extLst>
              <a:ext uri="{FF2B5EF4-FFF2-40B4-BE49-F238E27FC236}">
                <a16:creationId xmlns:a16="http://schemas.microsoft.com/office/drawing/2014/main" id="{04CE7039-7660-ABA0-1D2D-6454D07A235B}"/>
              </a:ext>
            </a:extLst>
          </p:cNvPr>
          <p:cNvSpPr txBox="1">
            <a:spLocks noChangeArrowheads="1"/>
          </p:cNvSpPr>
          <p:nvPr/>
        </p:nvSpPr>
        <p:spPr bwMode="auto">
          <a:xfrm>
            <a:off x="524813" y="6016625"/>
            <a:ext cx="7940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t> </a:t>
            </a:r>
          </a:p>
        </p:txBody>
      </p:sp>
      <p:pic>
        <p:nvPicPr>
          <p:cNvPr id="12297" name="Picture 10">
            <a:extLst>
              <a:ext uri="{FF2B5EF4-FFF2-40B4-BE49-F238E27FC236}">
                <a16:creationId xmlns:a16="http://schemas.microsoft.com/office/drawing/2014/main" id="{210341D3-0EEA-3908-C530-57DBFA855B9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17338" y="2901950"/>
            <a:ext cx="4457700" cy="364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1143"/>
                                        </p:tgtEl>
                                        <p:attrNameLst>
                                          <p:attrName>style.visibility</p:attrName>
                                        </p:attrNameLst>
                                      </p:cBhvr>
                                      <p:to>
                                        <p:strVal val="visible"/>
                                      </p:to>
                                    </p:set>
                                    <p:animEffect transition="in" filter="blinds(horizontal)">
                                      <p:cBhvr>
                                        <p:cTn id="7" dur="500"/>
                                        <p:tgtEl>
                                          <p:spTgt spid="91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3"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a:extLst>
              <a:ext uri="{FF2B5EF4-FFF2-40B4-BE49-F238E27FC236}">
                <a16:creationId xmlns:a16="http://schemas.microsoft.com/office/drawing/2014/main" id="{0A4813D8-6270-73B7-1B47-0303A492BEF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D2844FB-A096-40C1-B0D2-B60525D82512}" type="slidenum">
              <a:rPr lang="en-US" altLang="zh-CN" sz="1400" smtClean="0"/>
              <a:pPr>
                <a:spcBef>
                  <a:spcPct val="0"/>
                </a:spcBef>
                <a:buFontTx/>
                <a:buNone/>
              </a:pPr>
              <a:t>23</a:t>
            </a:fld>
            <a:endParaRPr lang="en-US" altLang="zh-CN" sz="1400"/>
          </a:p>
        </p:txBody>
      </p:sp>
      <p:sp>
        <p:nvSpPr>
          <p:cNvPr id="13315" name="Rectangle 2">
            <a:extLst>
              <a:ext uri="{FF2B5EF4-FFF2-40B4-BE49-F238E27FC236}">
                <a16:creationId xmlns:a16="http://schemas.microsoft.com/office/drawing/2014/main" id="{E2B64A6C-AD6C-E5AC-1BDA-DAEA9AC0A268}"/>
              </a:ext>
            </a:extLst>
          </p:cNvPr>
          <p:cNvSpPr>
            <a:spLocks noGrp="1" noChangeArrowheads="1"/>
          </p:cNvSpPr>
          <p:nvPr>
            <p:ph type="title"/>
          </p:nvPr>
        </p:nvSpPr>
        <p:spPr>
          <a:xfrm>
            <a:off x="152400" y="869474"/>
            <a:ext cx="8534400" cy="944562"/>
          </a:xfrm>
        </p:spPr>
        <p:txBody>
          <a:bodyPr/>
          <a:lstStyle/>
          <a:p>
            <a:pPr eaLnBrk="1" hangingPunct="1"/>
            <a:r>
              <a:rPr lang="zh-CN" altLang="en-US" sz="3200" b="1" dirty="0">
                <a:ea typeface="黑体" panose="02010609060101010101" pitchFamily="49" charset="-122"/>
              </a:rPr>
              <a:t>励磁恒定、负载变化的相量图</a:t>
            </a:r>
            <a:br>
              <a:rPr lang="zh-CN" altLang="en-US" sz="3200" b="1" dirty="0">
                <a:ea typeface="黑体" panose="02010609060101010101" pitchFamily="49" charset="-122"/>
              </a:rPr>
            </a:br>
            <a:endParaRPr lang="zh-CN" altLang="en-US" sz="3200" b="1" dirty="0">
              <a:ea typeface="黑体" panose="02010609060101010101" pitchFamily="49" charset="-122"/>
            </a:endParaRPr>
          </a:p>
        </p:txBody>
      </p:sp>
      <p:pic>
        <p:nvPicPr>
          <p:cNvPr id="13317" name="Picture 6">
            <a:extLst>
              <a:ext uri="{FF2B5EF4-FFF2-40B4-BE49-F238E27FC236}">
                <a16:creationId xmlns:a16="http://schemas.microsoft.com/office/drawing/2014/main" id="{8998A900-90DB-9D7E-B0A2-BF31CB07F3D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6100" y="1484313"/>
            <a:ext cx="4457700" cy="364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Text Box 7">
            <a:extLst>
              <a:ext uri="{FF2B5EF4-FFF2-40B4-BE49-F238E27FC236}">
                <a16:creationId xmlns:a16="http://schemas.microsoft.com/office/drawing/2014/main" id="{342BD009-2AE2-3BF6-D6DC-7C4EAA1DF89A}"/>
              </a:ext>
            </a:extLst>
          </p:cNvPr>
          <p:cNvSpPr txBox="1">
            <a:spLocks noChangeArrowheads="1"/>
          </p:cNvSpPr>
          <p:nvPr/>
        </p:nvSpPr>
        <p:spPr bwMode="auto">
          <a:xfrm>
            <a:off x="611188" y="3357563"/>
            <a:ext cx="4556125" cy="210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FontTx/>
              <a:buNone/>
            </a:pPr>
            <a:r>
              <a:rPr lang="zh-CN" altLang="en-US" sz="2400" b="1">
                <a:solidFill>
                  <a:srgbClr val="FF0000"/>
                </a:solidFill>
              </a:rPr>
              <a:t>随</a:t>
            </a:r>
            <a:r>
              <a:rPr lang="en-US" altLang="zh-CN" sz="2400" b="1">
                <a:solidFill>
                  <a:srgbClr val="FF0000"/>
                </a:solidFill>
              </a:rPr>
              <a:t>|</a:t>
            </a:r>
            <a:r>
              <a:rPr lang="en-US" altLang="zh-CN" sz="2400" b="1">
                <a:solidFill>
                  <a:srgbClr val="FF0000"/>
                </a:solidFill>
                <a:latin typeface="Symbol" panose="05050102010706020507" pitchFamily="18" charset="2"/>
              </a:rPr>
              <a:t>d|</a:t>
            </a:r>
            <a:r>
              <a:rPr lang="zh-CN" altLang="en-US" sz="2400" b="1">
                <a:solidFill>
                  <a:srgbClr val="FF0000"/>
                </a:solidFill>
              </a:rPr>
              <a:t>增大而增大</a:t>
            </a:r>
            <a:r>
              <a:rPr lang="zh-CN" altLang="en-US" sz="2400"/>
              <a:t>，</a:t>
            </a:r>
            <a:r>
              <a:rPr lang="zh-CN" altLang="en-US" sz="2400" b="1">
                <a:ea typeface="黑体" panose="02010609060101010101" pitchFamily="49" charset="-122"/>
              </a:rPr>
              <a:t>从相量图可以看出，负载增加时，</a:t>
            </a:r>
            <a:r>
              <a:rPr lang="en-US" altLang="zh-CN" sz="2400" b="1">
                <a:latin typeface="Times New Roman" panose="02020603050405020304" pitchFamily="18" charset="0"/>
                <a:ea typeface="黑体" panose="02010609060101010101" pitchFamily="49" charset="-122"/>
              </a:rPr>
              <a:t>E</a:t>
            </a:r>
            <a:r>
              <a:rPr lang="en-US" altLang="zh-CN" sz="2400" b="1" baseline="-25000">
                <a:ea typeface="黑体" panose="02010609060101010101" pitchFamily="49" charset="-122"/>
              </a:rPr>
              <a:t>a</a:t>
            </a:r>
            <a:r>
              <a:rPr lang="zh-CN" altLang="en-US" sz="2400" b="1">
                <a:ea typeface="黑体" panose="02010609060101010101" pitchFamily="49" charset="-122"/>
              </a:rPr>
              <a:t>向下旋转，与</a:t>
            </a:r>
            <a:r>
              <a:rPr lang="en-US" altLang="zh-CN" sz="2400" b="1">
                <a:ea typeface="黑体" panose="02010609060101010101" pitchFamily="49" charset="-122"/>
              </a:rPr>
              <a:t>U</a:t>
            </a:r>
            <a:r>
              <a:rPr lang="en-US" altLang="zh-CN" sz="2400" b="1" baseline="-25000">
                <a:ea typeface="黑体" panose="02010609060101010101" pitchFamily="49" charset="-122"/>
              </a:rPr>
              <a:t>s</a:t>
            </a:r>
            <a:r>
              <a:rPr lang="zh-CN" altLang="en-US" sz="2400" b="1">
                <a:ea typeface="黑体" panose="02010609060101010101" pitchFamily="49" charset="-122"/>
              </a:rPr>
              <a:t>连接相量         必须相应增大，即</a:t>
            </a:r>
            <a:r>
              <a:rPr lang="en-US" altLang="zh-CN" sz="2400" b="1">
                <a:latin typeface="Times New Roman" panose="02020603050405020304" pitchFamily="18" charset="0"/>
                <a:ea typeface="黑体" panose="02010609060101010101" pitchFamily="49" charset="-122"/>
              </a:rPr>
              <a:t>I</a:t>
            </a:r>
            <a:r>
              <a:rPr lang="en-US" altLang="zh-CN" sz="2400" b="1" baseline="-25000">
                <a:latin typeface="Times New Roman" panose="02020603050405020304" pitchFamily="18" charset="0"/>
                <a:ea typeface="黑体" panose="02010609060101010101" pitchFamily="49" charset="-122"/>
              </a:rPr>
              <a:t>a</a:t>
            </a:r>
            <a:r>
              <a:rPr lang="zh-CN" altLang="en-US" sz="2400" b="1">
                <a:ea typeface="黑体" panose="02010609060101010101" pitchFamily="49" charset="-122"/>
              </a:rPr>
              <a:t>相应增大</a:t>
            </a:r>
            <a:r>
              <a:rPr lang="zh-CN" altLang="en-US" sz="2400"/>
              <a:t>，</a:t>
            </a:r>
            <a:r>
              <a:rPr lang="en-US" altLang="zh-CN" sz="2400" b="1" i="1">
                <a:latin typeface="Symbol" panose="05050102010706020507" pitchFamily="18" charset="2"/>
              </a:rPr>
              <a:t>f</a:t>
            </a:r>
            <a:r>
              <a:rPr lang="zh-CN" altLang="en-US" sz="2400" b="1">
                <a:ea typeface="黑体" panose="02010609060101010101" pitchFamily="49" charset="-122"/>
              </a:rPr>
              <a:t>也发生改变，超前越来越小，然后越来越滞后</a:t>
            </a:r>
            <a:r>
              <a:rPr lang="zh-CN" altLang="en-US" sz="2400"/>
              <a:t>。</a:t>
            </a:r>
          </a:p>
        </p:txBody>
      </p:sp>
      <p:graphicFrame>
        <p:nvGraphicFramePr>
          <p:cNvPr id="13319" name="Object 8">
            <a:extLst>
              <a:ext uri="{FF2B5EF4-FFF2-40B4-BE49-F238E27FC236}">
                <a16:creationId xmlns:a16="http://schemas.microsoft.com/office/drawing/2014/main" id="{42E26BE3-74D9-F9E4-51C1-1F50B9F3176B}"/>
              </a:ext>
            </a:extLst>
          </p:cNvPr>
          <p:cNvGraphicFramePr>
            <a:graphicFrameLocks noChangeAspect="1"/>
          </p:cNvGraphicFramePr>
          <p:nvPr/>
        </p:nvGraphicFramePr>
        <p:xfrm>
          <a:off x="395288" y="2452688"/>
          <a:ext cx="4608512" cy="842962"/>
        </p:xfrm>
        <a:graphic>
          <a:graphicData uri="http://schemas.openxmlformats.org/presentationml/2006/ole">
            <mc:AlternateContent xmlns:mc="http://schemas.openxmlformats.org/markup-compatibility/2006">
              <mc:Choice xmlns:v="urn:schemas-microsoft-com:vml" Requires="v">
                <p:oleObj name="Equation" r:id="rId3" imgW="2362200" imgH="431800" progId="Equation.DSMT4">
                  <p:embed/>
                </p:oleObj>
              </mc:Choice>
              <mc:Fallback>
                <p:oleObj name="Equation" r:id="rId3" imgW="2362200" imgH="431800" progId="Equation.DSMT4">
                  <p:embed/>
                  <p:pic>
                    <p:nvPicPr>
                      <p:cNvPr id="13319" name="Object 8">
                        <a:extLst>
                          <a:ext uri="{FF2B5EF4-FFF2-40B4-BE49-F238E27FC236}">
                            <a16:creationId xmlns:a16="http://schemas.microsoft.com/office/drawing/2014/main" id="{42E26BE3-74D9-F9E4-51C1-1F50B9F317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2452688"/>
                        <a:ext cx="4608512" cy="8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0" name="Text Box 9">
            <a:extLst>
              <a:ext uri="{FF2B5EF4-FFF2-40B4-BE49-F238E27FC236}">
                <a16:creationId xmlns:a16="http://schemas.microsoft.com/office/drawing/2014/main" id="{6060DD87-3A05-7FD4-CDF1-7C0C49A8F5CA}"/>
              </a:ext>
            </a:extLst>
          </p:cNvPr>
          <p:cNvSpPr txBox="1">
            <a:spLocks noChangeArrowheads="1"/>
          </p:cNvSpPr>
          <p:nvPr/>
        </p:nvSpPr>
        <p:spPr bwMode="auto">
          <a:xfrm>
            <a:off x="592138" y="1412875"/>
            <a:ext cx="397986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2400" b="1">
                <a:ea typeface="黑体" panose="02010609060101010101" pitchFamily="49" charset="-122"/>
              </a:rPr>
              <a:t>由于</a:t>
            </a:r>
            <a:r>
              <a:rPr lang="en-US" altLang="zh-CN" sz="2400" b="1">
                <a:latin typeface="Times New Roman" panose="02020603050405020304" pitchFamily="18" charset="0"/>
                <a:ea typeface="黑体" panose="02010609060101010101" pitchFamily="49" charset="-122"/>
              </a:rPr>
              <a:t>E</a:t>
            </a:r>
            <a:r>
              <a:rPr lang="en-US" altLang="zh-CN" sz="2400" b="1" baseline="-25000">
                <a:ea typeface="黑体" panose="02010609060101010101" pitchFamily="49" charset="-122"/>
              </a:rPr>
              <a:t>a</a:t>
            </a:r>
            <a:r>
              <a:rPr lang="zh-CN" altLang="en-US" sz="2400" b="1">
                <a:ea typeface="黑体" panose="02010609060101010101" pitchFamily="49" charset="-122"/>
              </a:rPr>
              <a:t>保持常数与负载无关，</a:t>
            </a:r>
            <a:r>
              <a:rPr lang="zh-CN" altLang="en-US" sz="2400" b="1">
                <a:solidFill>
                  <a:srgbClr val="0000FF"/>
                </a:solidFill>
                <a:ea typeface="黑体" panose="02010609060101010101" pitchFamily="49" charset="-122"/>
              </a:rPr>
              <a:t>负载增加时，输入功率</a:t>
            </a:r>
          </a:p>
        </p:txBody>
      </p:sp>
      <p:graphicFrame>
        <p:nvGraphicFramePr>
          <p:cNvPr id="13321" name="Object 10">
            <a:extLst>
              <a:ext uri="{FF2B5EF4-FFF2-40B4-BE49-F238E27FC236}">
                <a16:creationId xmlns:a16="http://schemas.microsoft.com/office/drawing/2014/main" id="{0579742E-0E29-04C5-C548-9E89A3CC4A8C}"/>
              </a:ext>
            </a:extLst>
          </p:cNvPr>
          <p:cNvGraphicFramePr>
            <a:graphicFrameLocks noChangeAspect="1"/>
          </p:cNvGraphicFramePr>
          <p:nvPr/>
        </p:nvGraphicFramePr>
        <p:xfrm>
          <a:off x="2590800" y="4114800"/>
          <a:ext cx="736600" cy="541338"/>
        </p:xfrm>
        <a:graphic>
          <a:graphicData uri="http://schemas.openxmlformats.org/presentationml/2006/ole">
            <mc:AlternateContent xmlns:mc="http://schemas.openxmlformats.org/markup-compatibility/2006">
              <mc:Choice xmlns:v="urn:schemas-microsoft-com:vml" Requires="v">
                <p:oleObj name="Equation" r:id="rId5" imgW="431425" imgH="317225" progId="Equation.DSMT4">
                  <p:embed/>
                </p:oleObj>
              </mc:Choice>
              <mc:Fallback>
                <p:oleObj name="Equation" r:id="rId5" imgW="431425" imgH="317225" progId="Equation.DSMT4">
                  <p:embed/>
                  <p:pic>
                    <p:nvPicPr>
                      <p:cNvPr id="13321" name="Object 10">
                        <a:extLst>
                          <a:ext uri="{FF2B5EF4-FFF2-40B4-BE49-F238E27FC236}">
                            <a16:creationId xmlns:a16="http://schemas.microsoft.com/office/drawing/2014/main" id="{0579742E-0E29-04C5-C548-9E89A3CC4A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4114800"/>
                        <a:ext cx="736600"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2" name="Text Box 11">
            <a:extLst>
              <a:ext uri="{FF2B5EF4-FFF2-40B4-BE49-F238E27FC236}">
                <a16:creationId xmlns:a16="http://schemas.microsoft.com/office/drawing/2014/main" id="{937EB44D-82B9-2CA3-6642-E2365F724A9F}"/>
              </a:ext>
            </a:extLst>
          </p:cNvPr>
          <p:cNvSpPr txBox="1">
            <a:spLocks noChangeArrowheads="1"/>
          </p:cNvSpPr>
          <p:nvPr/>
        </p:nvSpPr>
        <p:spPr bwMode="auto">
          <a:xfrm>
            <a:off x="611188" y="5949950"/>
            <a:ext cx="74374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t>结论</a:t>
            </a:r>
            <a:r>
              <a:rPr lang="zh-CN" altLang="en-US" sz="2400"/>
              <a:t>：</a:t>
            </a:r>
            <a:r>
              <a:rPr lang="zh-CN" altLang="en-US" sz="2400" b="1">
                <a:ea typeface="黑体" panose="02010609060101010101" pitchFamily="49" charset="-122"/>
              </a:rPr>
              <a:t>对固定的电源电压、频率，若励磁电流不变，</a:t>
            </a:r>
          </a:p>
          <a:p>
            <a:pPr eaLnBrk="1" hangingPunct="1">
              <a:spcBef>
                <a:spcPct val="0"/>
              </a:spcBef>
              <a:buFontTx/>
              <a:buNone/>
            </a:pPr>
            <a:r>
              <a:rPr lang="zh-CN" altLang="en-US" sz="2400" b="1">
                <a:ea typeface="黑体" panose="02010609060101010101" pitchFamily="49" charset="-122"/>
              </a:rPr>
              <a:t>则电磁功率、转矩只与功角有关。</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a:extLst>
              <a:ext uri="{FF2B5EF4-FFF2-40B4-BE49-F238E27FC236}">
                <a16:creationId xmlns:a16="http://schemas.microsoft.com/office/drawing/2014/main" id="{3C325756-3A0B-244C-F540-1BCF284846C0}"/>
              </a:ext>
            </a:extLst>
          </p:cNvPr>
          <p:cNvSpPr>
            <a:spLocks noGrp="1"/>
          </p:cNvSpPr>
          <p:nvPr>
            <p:ph type="sldNum" sz="quarter" idx="12"/>
          </p:nvPr>
        </p:nvSpPr>
        <p:spPr>
          <a:xfrm>
            <a:off x="6877323" y="6294926"/>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AF99206-9963-4833-AAF9-F52E2B2A3261}" type="slidenum">
              <a:rPr lang="en-US" altLang="zh-CN" sz="1400" smtClean="0"/>
              <a:pPr>
                <a:spcBef>
                  <a:spcPct val="0"/>
                </a:spcBef>
                <a:buFontTx/>
                <a:buNone/>
              </a:pPr>
              <a:t>24</a:t>
            </a:fld>
            <a:endParaRPr lang="en-US" altLang="zh-CN" sz="1400"/>
          </a:p>
        </p:txBody>
      </p:sp>
      <p:sp>
        <p:nvSpPr>
          <p:cNvPr id="14339" name="Rectangle 2">
            <a:extLst>
              <a:ext uri="{FF2B5EF4-FFF2-40B4-BE49-F238E27FC236}">
                <a16:creationId xmlns:a16="http://schemas.microsoft.com/office/drawing/2014/main" id="{B36871D2-3600-3347-F91A-79A965202C9D}"/>
              </a:ext>
            </a:extLst>
          </p:cNvPr>
          <p:cNvSpPr>
            <a:spLocks noGrp="1" noChangeArrowheads="1"/>
          </p:cNvSpPr>
          <p:nvPr>
            <p:ph type="title"/>
          </p:nvPr>
        </p:nvSpPr>
        <p:spPr>
          <a:xfrm>
            <a:off x="58465" y="839148"/>
            <a:ext cx="914400" cy="457200"/>
          </a:xfrm>
        </p:spPr>
        <p:txBody>
          <a:bodyPr/>
          <a:lstStyle/>
          <a:p>
            <a:pPr eaLnBrk="1" hangingPunct="1"/>
            <a:r>
              <a:rPr lang="en-US" altLang="zh-CN" sz="2400" dirty="0"/>
              <a:t> </a:t>
            </a:r>
            <a:r>
              <a:rPr lang="zh-CN" altLang="en-US" sz="2400" dirty="0"/>
              <a:t>例</a:t>
            </a:r>
            <a:r>
              <a:rPr lang="en-US" altLang="zh-CN" sz="2400" dirty="0"/>
              <a:t>3</a:t>
            </a:r>
            <a:r>
              <a:rPr lang="zh-CN" altLang="en-US" sz="2400" dirty="0"/>
              <a:t>：</a:t>
            </a:r>
          </a:p>
        </p:txBody>
      </p:sp>
      <p:sp>
        <p:nvSpPr>
          <p:cNvPr id="14340" name="Rectangle 4">
            <a:extLst>
              <a:ext uri="{FF2B5EF4-FFF2-40B4-BE49-F238E27FC236}">
                <a16:creationId xmlns:a16="http://schemas.microsoft.com/office/drawing/2014/main" id="{CF89F960-201F-B8ED-3527-680257F4B951}"/>
              </a:ext>
            </a:extLst>
          </p:cNvPr>
          <p:cNvSpPr>
            <a:spLocks noChangeArrowheads="1"/>
          </p:cNvSpPr>
          <p:nvPr/>
        </p:nvSpPr>
        <p:spPr bwMode="auto">
          <a:xfrm>
            <a:off x="426243" y="708391"/>
            <a:ext cx="8291513"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dirty="0">
                <a:solidFill>
                  <a:schemeClr val="tx2"/>
                </a:solidFill>
                <a:ea typeface="黑体" panose="02010609060101010101" pitchFamily="49" charset="-122"/>
              </a:rPr>
              <a:t>      </a:t>
            </a:r>
            <a:r>
              <a:rPr lang="zh-CN" altLang="en-US" sz="2400" b="1" dirty="0">
                <a:solidFill>
                  <a:schemeClr val="tx2"/>
                </a:solidFill>
                <a:ea typeface="黑体" panose="02010609060101010101" pitchFamily="49" charset="-122"/>
              </a:rPr>
              <a:t>某同步电动机 </a:t>
            </a:r>
            <a:r>
              <a:rPr lang="en-US" altLang="zh-CN" sz="2400" b="1" dirty="0">
                <a:solidFill>
                  <a:schemeClr val="tx2"/>
                </a:solidFill>
                <a:ea typeface="黑体" panose="02010609060101010101" pitchFamily="49" charset="-122"/>
              </a:rPr>
              <a:t>208V</a:t>
            </a:r>
            <a:r>
              <a:rPr lang="zh-CN" altLang="en-US" sz="2400" b="1" dirty="0">
                <a:solidFill>
                  <a:schemeClr val="tx2"/>
                </a:solidFill>
                <a:ea typeface="黑体" panose="02010609060101010101" pitchFamily="49" charset="-122"/>
              </a:rPr>
              <a:t>，</a:t>
            </a:r>
            <a:r>
              <a:rPr lang="en-US" altLang="zh-CN" sz="2400" b="1" dirty="0">
                <a:solidFill>
                  <a:schemeClr val="tx2"/>
                </a:solidFill>
                <a:ea typeface="黑体" panose="02010609060101010101" pitchFamily="49" charset="-122"/>
              </a:rPr>
              <a:t>45kVA</a:t>
            </a:r>
            <a:r>
              <a:rPr lang="zh-CN" altLang="en-US" sz="2400" b="1" dirty="0">
                <a:solidFill>
                  <a:schemeClr val="tx2"/>
                </a:solidFill>
                <a:ea typeface="黑体" panose="02010609060101010101" pitchFamily="49" charset="-122"/>
              </a:rPr>
              <a:t>， 三角连接，</a:t>
            </a:r>
            <a:r>
              <a:rPr lang="en-US" altLang="zh-CN" sz="2400" b="1" dirty="0">
                <a:solidFill>
                  <a:schemeClr val="tx2"/>
                </a:solidFill>
                <a:ea typeface="黑体" panose="02010609060101010101" pitchFamily="49" charset="-122"/>
              </a:rPr>
              <a:t>60Hz </a:t>
            </a:r>
            <a:r>
              <a:rPr lang="zh-CN" altLang="en-US" sz="2400" b="1" dirty="0">
                <a:solidFill>
                  <a:schemeClr val="tx2"/>
                </a:solidFill>
                <a:ea typeface="黑体" panose="02010609060101010101" pitchFamily="49" charset="-122"/>
              </a:rPr>
              <a:t>，同步电抗</a:t>
            </a:r>
            <a:r>
              <a:rPr lang="en-US" altLang="zh-CN" sz="2400" dirty="0">
                <a:solidFill>
                  <a:schemeClr val="tx2"/>
                </a:solidFill>
              </a:rPr>
              <a:t>2.5</a:t>
            </a:r>
            <a:r>
              <a:rPr lang="en-US" altLang="zh-CN" sz="2400" dirty="0">
                <a:solidFill>
                  <a:schemeClr val="tx2"/>
                </a:solidFill>
                <a:latin typeface="Symbol" panose="05050102010706020507" pitchFamily="18" charset="2"/>
              </a:rPr>
              <a:t>W</a:t>
            </a:r>
            <a:r>
              <a:rPr lang="zh-CN" altLang="en-US" sz="2400" dirty="0">
                <a:solidFill>
                  <a:schemeClr val="tx2"/>
                </a:solidFill>
              </a:rPr>
              <a:t>，</a:t>
            </a:r>
            <a:r>
              <a:rPr lang="zh-CN" altLang="en-US" sz="2400" b="1" dirty="0">
                <a:solidFill>
                  <a:schemeClr val="tx2"/>
                </a:solidFill>
                <a:ea typeface="黑体" panose="02010609060101010101" pitchFamily="49" charset="-122"/>
              </a:rPr>
              <a:t>定子电阻可忽略。铁耗为</a:t>
            </a:r>
            <a:r>
              <a:rPr lang="en-US" altLang="zh-CN" sz="2400" b="1" dirty="0">
                <a:solidFill>
                  <a:schemeClr val="tx2"/>
                </a:solidFill>
                <a:ea typeface="黑体" panose="02010609060101010101" pitchFamily="49" charset="-122"/>
              </a:rPr>
              <a:t>1.0kW</a:t>
            </a:r>
            <a:r>
              <a:rPr lang="zh-CN" altLang="en-US" sz="2400" b="1" dirty="0">
                <a:solidFill>
                  <a:schemeClr val="tx2"/>
                </a:solidFill>
                <a:ea typeface="黑体" panose="02010609060101010101" pitchFamily="49" charset="-122"/>
              </a:rPr>
              <a:t>，风阻、磨擦损耗</a:t>
            </a:r>
            <a:r>
              <a:rPr lang="en-US" altLang="zh-CN" sz="2400" b="1" dirty="0">
                <a:solidFill>
                  <a:schemeClr val="tx2"/>
                </a:solidFill>
                <a:ea typeface="黑体" panose="02010609060101010101" pitchFamily="49" charset="-122"/>
              </a:rPr>
              <a:t>1.5kW</a:t>
            </a:r>
            <a:r>
              <a:rPr lang="zh-CN" altLang="en-US" sz="2400" b="1" dirty="0">
                <a:solidFill>
                  <a:schemeClr val="tx2"/>
                </a:solidFill>
                <a:ea typeface="黑体" panose="02010609060101010101" pitchFamily="49" charset="-122"/>
              </a:rPr>
              <a:t>，初始带有</a:t>
            </a:r>
            <a:r>
              <a:rPr lang="en-US" altLang="zh-CN" sz="2400" b="1" dirty="0">
                <a:solidFill>
                  <a:schemeClr val="tx2"/>
                </a:solidFill>
                <a:ea typeface="黑体" panose="02010609060101010101" pitchFamily="49" charset="-122"/>
              </a:rPr>
              <a:t>15hp</a:t>
            </a:r>
            <a:r>
              <a:rPr lang="zh-CN" altLang="en-US" sz="2400" b="1" dirty="0">
                <a:solidFill>
                  <a:schemeClr val="tx2"/>
                </a:solidFill>
                <a:ea typeface="黑体" panose="02010609060101010101" pitchFamily="49" charset="-122"/>
              </a:rPr>
              <a:t>负载，运行在</a:t>
            </a:r>
            <a:r>
              <a:rPr lang="en-US" altLang="zh-CN" sz="2400" b="1" dirty="0">
                <a:solidFill>
                  <a:schemeClr val="tx2"/>
                </a:solidFill>
                <a:ea typeface="黑体" panose="02010609060101010101" pitchFamily="49" charset="-122"/>
              </a:rPr>
              <a:t>0.8</a:t>
            </a:r>
            <a:r>
              <a:rPr lang="zh-CN" altLang="en-US" sz="2400" b="1" dirty="0">
                <a:solidFill>
                  <a:schemeClr val="tx2"/>
                </a:solidFill>
                <a:ea typeface="黑体" panose="02010609060101010101" pitchFamily="49" charset="-122"/>
              </a:rPr>
              <a:t>超前功率因数</a:t>
            </a:r>
            <a:r>
              <a:rPr lang="zh-CN" altLang="en-US" sz="2400" dirty="0">
                <a:solidFill>
                  <a:schemeClr val="tx2"/>
                </a:solidFill>
              </a:rPr>
              <a:t>。</a:t>
            </a:r>
            <a:r>
              <a:rPr lang="zh-CN" altLang="en-US" sz="4000" dirty="0">
                <a:solidFill>
                  <a:schemeClr val="tx2"/>
                </a:solidFill>
              </a:rPr>
              <a:t> </a:t>
            </a:r>
          </a:p>
        </p:txBody>
      </p:sp>
      <p:sp>
        <p:nvSpPr>
          <p:cNvPr id="14341" name="Rectangle 5">
            <a:extLst>
              <a:ext uri="{FF2B5EF4-FFF2-40B4-BE49-F238E27FC236}">
                <a16:creationId xmlns:a16="http://schemas.microsoft.com/office/drawing/2014/main" id="{25ADA3E2-3D08-C2B0-C955-77BBBD8C4D81}"/>
              </a:ext>
            </a:extLst>
          </p:cNvPr>
          <p:cNvSpPr>
            <a:spLocks noGrp="1" noChangeArrowheads="1"/>
          </p:cNvSpPr>
          <p:nvPr>
            <p:ph type="body" idx="1"/>
          </p:nvPr>
        </p:nvSpPr>
        <p:spPr>
          <a:xfrm>
            <a:off x="515665" y="2410623"/>
            <a:ext cx="8280400" cy="1368425"/>
          </a:xfrm>
          <a:noFill/>
        </p:spPr>
        <p:txBody>
          <a:bodyPr/>
          <a:lstStyle/>
          <a:p>
            <a:pPr marL="609600" indent="-609600" eaLnBrk="1" fontAlgn="t" hangingPunct="1">
              <a:buFontTx/>
              <a:buAutoNum type="arabicPeriod"/>
            </a:pPr>
            <a:r>
              <a:rPr lang="zh-CN" altLang="en-US" sz="2400" b="1" dirty="0">
                <a:ea typeface="黑体" panose="02010609060101010101" pitchFamily="49" charset="-122"/>
              </a:rPr>
              <a:t>绘制相量图，求定子相电流，线电流和电势。</a:t>
            </a:r>
          </a:p>
          <a:p>
            <a:pPr marL="609600" indent="-609600" eaLnBrk="1" hangingPunct="1">
              <a:buFontTx/>
              <a:buAutoNum type="arabicPeriod"/>
            </a:pPr>
            <a:r>
              <a:rPr lang="zh-CN" altLang="en-US" sz="2400" b="1" dirty="0">
                <a:ea typeface="黑体" panose="02010609060101010101" pitchFamily="49" charset="-122"/>
              </a:rPr>
              <a:t>若负载加倍，绘出相量图，求变化后的定子相电流、线电流和电势及功率因数。</a:t>
            </a:r>
            <a:endParaRPr lang="zh-CN" altLang="en-US" sz="2800" b="1" dirty="0">
              <a:ea typeface="黑体" panose="02010609060101010101" pitchFamily="49" charset="-122"/>
            </a:endParaRPr>
          </a:p>
        </p:txBody>
      </p:sp>
      <p:sp>
        <p:nvSpPr>
          <p:cNvPr id="14342" name="Text Box 6">
            <a:extLst>
              <a:ext uri="{FF2B5EF4-FFF2-40B4-BE49-F238E27FC236}">
                <a16:creationId xmlns:a16="http://schemas.microsoft.com/office/drawing/2014/main" id="{79496310-F3DB-8369-6A3C-1DBA5FB72C6E}"/>
              </a:ext>
            </a:extLst>
          </p:cNvPr>
          <p:cNvSpPr txBox="1">
            <a:spLocks noChangeArrowheads="1"/>
          </p:cNvSpPr>
          <p:nvPr/>
        </p:nvSpPr>
        <p:spPr bwMode="auto">
          <a:xfrm>
            <a:off x="515665" y="3734839"/>
            <a:ext cx="440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t>解：</a:t>
            </a:r>
            <a:r>
              <a:rPr lang="en-US" altLang="zh-CN" sz="2400"/>
              <a:t>1</a:t>
            </a:r>
            <a:r>
              <a:rPr lang="zh-CN" altLang="en-US" sz="2400"/>
              <a:t>）电机初始的输出功率为 </a:t>
            </a:r>
          </a:p>
        </p:txBody>
      </p:sp>
      <p:sp>
        <p:nvSpPr>
          <p:cNvPr id="14343" name="Rectangle 7">
            <a:extLst>
              <a:ext uri="{FF2B5EF4-FFF2-40B4-BE49-F238E27FC236}">
                <a16:creationId xmlns:a16="http://schemas.microsoft.com/office/drawing/2014/main" id="{8AA509C8-235F-CC10-7F2C-4215969795D3}"/>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4344" name="Object 8">
            <a:extLst>
              <a:ext uri="{FF2B5EF4-FFF2-40B4-BE49-F238E27FC236}">
                <a16:creationId xmlns:a16="http://schemas.microsoft.com/office/drawing/2014/main" id="{3F5AD74A-AEA0-D829-F02F-C04D32BD9419}"/>
              </a:ext>
            </a:extLst>
          </p:cNvPr>
          <p:cNvGraphicFramePr>
            <a:graphicFrameLocks noChangeAspect="1"/>
          </p:cNvGraphicFramePr>
          <p:nvPr>
            <p:extLst>
              <p:ext uri="{D42A27DB-BD31-4B8C-83A1-F6EECF244321}">
                <p14:modId xmlns:p14="http://schemas.microsoft.com/office/powerpoint/2010/main" val="2152904974"/>
              </p:ext>
            </p:extLst>
          </p:nvPr>
        </p:nvGraphicFramePr>
        <p:xfrm>
          <a:off x="4784452" y="3717377"/>
          <a:ext cx="3671888" cy="515937"/>
        </p:xfrm>
        <a:graphic>
          <a:graphicData uri="http://schemas.openxmlformats.org/presentationml/2006/ole">
            <mc:AlternateContent xmlns:mc="http://schemas.openxmlformats.org/markup-compatibility/2006">
              <mc:Choice xmlns:v="urn:schemas-microsoft-com:vml" Requires="v">
                <p:oleObj name="Equation" r:id="rId2" imgW="1625600" imgH="228600" progId="Equation.DSMT4">
                  <p:embed/>
                </p:oleObj>
              </mc:Choice>
              <mc:Fallback>
                <p:oleObj name="Equation" r:id="rId2" imgW="1625600" imgH="228600" progId="Equation.DSMT4">
                  <p:embed/>
                  <p:pic>
                    <p:nvPicPr>
                      <p:cNvPr id="14344" name="Object 8">
                        <a:extLst>
                          <a:ext uri="{FF2B5EF4-FFF2-40B4-BE49-F238E27FC236}">
                            <a16:creationId xmlns:a16="http://schemas.microsoft.com/office/drawing/2014/main" id="{3F5AD74A-AEA0-D829-F02F-C04D32BD94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4452" y="3717377"/>
                        <a:ext cx="3671888"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5" name="Rectangle 9">
            <a:extLst>
              <a:ext uri="{FF2B5EF4-FFF2-40B4-BE49-F238E27FC236}">
                <a16:creationId xmlns:a16="http://schemas.microsoft.com/office/drawing/2014/main" id="{CD60D958-71AA-7502-3BA3-8CA17ABE2B4B}"/>
              </a:ext>
            </a:extLst>
          </p:cNvPr>
          <p:cNvSpPr>
            <a:spLocks noChangeArrowheads="1"/>
          </p:cNvSpPr>
          <p:nvPr/>
        </p:nvSpPr>
        <p:spPr bwMode="auto">
          <a:xfrm>
            <a:off x="0" y="3100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4346" name="Object 10">
            <a:extLst>
              <a:ext uri="{FF2B5EF4-FFF2-40B4-BE49-F238E27FC236}">
                <a16:creationId xmlns:a16="http://schemas.microsoft.com/office/drawing/2014/main" id="{34622C27-A019-3226-6406-37AFBD92B0E0}"/>
              </a:ext>
            </a:extLst>
          </p:cNvPr>
          <p:cNvGraphicFramePr>
            <a:graphicFrameLocks noChangeAspect="1"/>
          </p:cNvGraphicFramePr>
          <p:nvPr>
            <p:extLst>
              <p:ext uri="{D42A27DB-BD31-4B8C-83A1-F6EECF244321}">
                <p14:modId xmlns:p14="http://schemas.microsoft.com/office/powerpoint/2010/main" val="1213145282"/>
              </p:ext>
            </p:extLst>
          </p:nvPr>
        </p:nvGraphicFramePr>
        <p:xfrm>
          <a:off x="1688827" y="4220614"/>
          <a:ext cx="4175125" cy="1531938"/>
        </p:xfrm>
        <a:graphic>
          <a:graphicData uri="http://schemas.openxmlformats.org/presentationml/2006/ole">
            <mc:AlternateContent xmlns:mc="http://schemas.openxmlformats.org/markup-compatibility/2006">
              <mc:Choice xmlns:v="urn:schemas-microsoft-com:vml" Requires="v">
                <p:oleObj name="Equation" r:id="rId4" imgW="1790700" imgH="660400" progId="Equation.DSMT4">
                  <p:embed/>
                </p:oleObj>
              </mc:Choice>
              <mc:Fallback>
                <p:oleObj name="Equation" r:id="rId4" imgW="1790700" imgH="660400" progId="Equation.DSMT4">
                  <p:embed/>
                  <p:pic>
                    <p:nvPicPr>
                      <p:cNvPr id="14346" name="Object 10">
                        <a:extLst>
                          <a:ext uri="{FF2B5EF4-FFF2-40B4-BE49-F238E27FC236}">
                            <a16:creationId xmlns:a16="http://schemas.microsoft.com/office/drawing/2014/main" id="{34622C27-A019-3226-6406-37AFBD92B0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8827" y="4220614"/>
                        <a:ext cx="4175125"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7" name="Rectangle 11">
            <a:extLst>
              <a:ext uri="{FF2B5EF4-FFF2-40B4-BE49-F238E27FC236}">
                <a16:creationId xmlns:a16="http://schemas.microsoft.com/office/drawing/2014/main" id="{61B600D5-F611-EDFC-B8C6-225E7D397666}"/>
              </a:ext>
            </a:extLst>
          </p:cNvPr>
          <p:cNvSpPr>
            <a:spLocks noChangeArrowheads="1"/>
          </p:cNvSpPr>
          <p:nvPr/>
        </p:nvSpPr>
        <p:spPr bwMode="auto">
          <a:xfrm>
            <a:off x="0"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4348" name="Object 12">
            <a:extLst>
              <a:ext uri="{FF2B5EF4-FFF2-40B4-BE49-F238E27FC236}">
                <a16:creationId xmlns:a16="http://schemas.microsoft.com/office/drawing/2014/main" id="{D7530D1E-F2BA-E6D4-834B-724AA89492C3}"/>
              </a:ext>
            </a:extLst>
          </p:cNvPr>
          <p:cNvGraphicFramePr>
            <a:graphicFrameLocks noChangeAspect="1"/>
          </p:cNvGraphicFramePr>
          <p:nvPr>
            <p:extLst>
              <p:ext uri="{D42A27DB-BD31-4B8C-83A1-F6EECF244321}">
                <p14:modId xmlns:p14="http://schemas.microsoft.com/office/powerpoint/2010/main" val="4002952758"/>
              </p:ext>
            </p:extLst>
          </p:nvPr>
        </p:nvGraphicFramePr>
        <p:xfrm>
          <a:off x="1199877" y="5660477"/>
          <a:ext cx="6521450" cy="1146175"/>
        </p:xfrm>
        <a:graphic>
          <a:graphicData uri="http://schemas.openxmlformats.org/presentationml/2006/ole">
            <mc:AlternateContent xmlns:mc="http://schemas.openxmlformats.org/markup-compatibility/2006">
              <mc:Choice xmlns:v="urn:schemas-microsoft-com:vml" Requires="v">
                <p:oleObj name="Equation" r:id="rId6" imgW="2552700" imgH="444500" progId="Equation.DSMT4">
                  <p:embed/>
                </p:oleObj>
              </mc:Choice>
              <mc:Fallback>
                <p:oleObj name="Equation" r:id="rId6" imgW="2552700" imgH="444500" progId="Equation.DSMT4">
                  <p:embed/>
                  <p:pic>
                    <p:nvPicPr>
                      <p:cNvPr id="14348" name="Object 12">
                        <a:extLst>
                          <a:ext uri="{FF2B5EF4-FFF2-40B4-BE49-F238E27FC236}">
                            <a16:creationId xmlns:a16="http://schemas.microsoft.com/office/drawing/2014/main" id="{D7530D1E-F2BA-E6D4-834B-724AA89492C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99877" y="5660477"/>
                        <a:ext cx="6521450"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a:extLst>
              <a:ext uri="{FF2B5EF4-FFF2-40B4-BE49-F238E27FC236}">
                <a16:creationId xmlns:a16="http://schemas.microsoft.com/office/drawing/2014/main" id="{EB6F1B2D-519A-B2F1-6F9C-FC060FE2B35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41FBC77-B638-4A87-AD42-B1A800DA8D66}" type="slidenum">
              <a:rPr lang="en-US" altLang="zh-CN" sz="1400" smtClean="0"/>
              <a:pPr>
                <a:spcBef>
                  <a:spcPct val="0"/>
                </a:spcBef>
                <a:buFontTx/>
                <a:buNone/>
              </a:pPr>
              <a:t>25</a:t>
            </a:fld>
            <a:endParaRPr lang="en-US" altLang="zh-CN" sz="1400"/>
          </a:p>
        </p:txBody>
      </p:sp>
      <p:sp>
        <p:nvSpPr>
          <p:cNvPr id="15364" name="Rectangle 4">
            <a:extLst>
              <a:ext uri="{FF2B5EF4-FFF2-40B4-BE49-F238E27FC236}">
                <a16:creationId xmlns:a16="http://schemas.microsoft.com/office/drawing/2014/main" id="{F8F4A02F-8A53-B2E3-F7E7-8DABEBFD71E0}"/>
              </a:ext>
            </a:extLst>
          </p:cNvPr>
          <p:cNvSpPr>
            <a:spLocks noChangeArrowheads="1"/>
          </p:cNvSpPr>
          <p:nvPr/>
        </p:nvSpPr>
        <p:spPr bwMode="auto">
          <a:xfrm>
            <a:off x="7731799" y="800100"/>
            <a:ext cx="1150938"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4400">
              <a:solidFill>
                <a:schemeClr val="tx2"/>
              </a:solidFill>
            </a:endParaRPr>
          </a:p>
        </p:txBody>
      </p:sp>
      <p:graphicFrame>
        <p:nvGraphicFramePr>
          <p:cNvPr id="15365" name="Object 5">
            <a:extLst>
              <a:ext uri="{FF2B5EF4-FFF2-40B4-BE49-F238E27FC236}">
                <a16:creationId xmlns:a16="http://schemas.microsoft.com/office/drawing/2014/main" id="{7E6D18BC-0CA9-A114-7729-B6AD077D3D1C}"/>
              </a:ext>
            </a:extLst>
          </p:cNvPr>
          <p:cNvGraphicFramePr>
            <a:graphicFrameLocks noChangeAspect="1"/>
          </p:cNvGraphicFramePr>
          <p:nvPr>
            <p:extLst>
              <p:ext uri="{D42A27DB-BD31-4B8C-83A1-F6EECF244321}">
                <p14:modId xmlns:p14="http://schemas.microsoft.com/office/powerpoint/2010/main" val="343895602"/>
              </p:ext>
            </p:extLst>
          </p:nvPr>
        </p:nvGraphicFramePr>
        <p:xfrm>
          <a:off x="459462" y="871537"/>
          <a:ext cx="5076825" cy="885825"/>
        </p:xfrm>
        <a:graphic>
          <a:graphicData uri="http://schemas.openxmlformats.org/presentationml/2006/ole">
            <mc:AlternateContent xmlns:mc="http://schemas.openxmlformats.org/markup-compatibility/2006">
              <mc:Choice xmlns:v="urn:schemas-microsoft-com:vml" Requires="v">
                <p:oleObj name="Equation" r:id="rId2" imgW="2400300" imgH="419100" progId="Equation.DSMT4">
                  <p:embed/>
                </p:oleObj>
              </mc:Choice>
              <mc:Fallback>
                <p:oleObj name="Equation" r:id="rId2" imgW="2400300" imgH="419100" progId="Equation.DSMT4">
                  <p:embed/>
                  <p:pic>
                    <p:nvPicPr>
                      <p:cNvPr id="15365" name="Object 5">
                        <a:extLst>
                          <a:ext uri="{FF2B5EF4-FFF2-40B4-BE49-F238E27FC236}">
                            <a16:creationId xmlns:a16="http://schemas.microsoft.com/office/drawing/2014/main" id="{7E6D18BC-0CA9-A114-7729-B6AD077D3D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462" y="871537"/>
                        <a:ext cx="507682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6" name="Rectangle 6">
            <a:extLst>
              <a:ext uri="{FF2B5EF4-FFF2-40B4-BE49-F238E27FC236}">
                <a16:creationId xmlns:a16="http://schemas.microsoft.com/office/drawing/2014/main" id="{AB279E77-A022-5642-7D9F-EC72EBA849B2}"/>
              </a:ext>
            </a:extLst>
          </p:cNvPr>
          <p:cNvSpPr>
            <a:spLocks noChangeArrowheads="1"/>
          </p:cNvSpPr>
          <p:nvPr/>
        </p:nvSpPr>
        <p:spPr bwMode="auto">
          <a:xfrm>
            <a:off x="-8851" y="3654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5367" name="Object 7">
            <a:extLst>
              <a:ext uri="{FF2B5EF4-FFF2-40B4-BE49-F238E27FC236}">
                <a16:creationId xmlns:a16="http://schemas.microsoft.com/office/drawing/2014/main" id="{1332AE17-A1CC-7476-F636-4CE28D7DDEFC}"/>
              </a:ext>
            </a:extLst>
          </p:cNvPr>
          <p:cNvGraphicFramePr>
            <a:graphicFrameLocks noChangeAspect="1"/>
          </p:cNvGraphicFramePr>
          <p:nvPr>
            <p:extLst>
              <p:ext uri="{D42A27DB-BD31-4B8C-83A1-F6EECF244321}">
                <p14:modId xmlns:p14="http://schemas.microsoft.com/office/powerpoint/2010/main" val="3656695295"/>
              </p:ext>
            </p:extLst>
          </p:nvPr>
        </p:nvGraphicFramePr>
        <p:xfrm>
          <a:off x="530899" y="1879600"/>
          <a:ext cx="4465638" cy="1585912"/>
        </p:xfrm>
        <a:graphic>
          <a:graphicData uri="http://schemas.openxmlformats.org/presentationml/2006/ole">
            <mc:AlternateContent xmlns:mc="http://schemas.openxmlformats.org/markup-compatibility/2006">
              <mc:Choice xmlns:v="urn:schemas-microsoft-com:vml" Requires="v">
                <p:oleObj name="Equation" r:id="rId4" imgW="2171700" imgH="774700" progId="Equation.DSMT4">
                  <p:embed/>
                </p:oleObj>
              </mc:Choice>
              <mc:Fallback>
                <p:oleObj name="Equation" r:id="rId4" imgW="2171700" imgH="774700" progId="Equation.DSMT4">
                  <p:embed/>
                  <p:pic>
                    <p:nvPicPr>
                      <p:cNvPr id="15367" name="Object 7">
                        <a:extLst>
                          <a:ext uri="{FF2B5EF4-FFF2-40B4-BE49-F238E27FC236}">
                            <a16:creationId xmlns:a16="http://schemas.microsoft.com/office/drawing/2014/main" id="{1332AE17-A1CC-7476-F636-4CE28D7DDE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0899" y="1879600"/>
                        <a:ext cx="4465638" cy="158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8072" name="Picture 8">
            <a:extLst>
              <a:ext uri="{FF2B5EF4-FFF2-40B4-BE49-F238E27FC236}">
                <a16:creationId xmlns:a16="http://schemas.microsoft.com/office/drawing/2014/main" id="{152AB689-0102-8D40-F47A-E0503124E59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72349" y="3811587"/>
            <a:ext cx="5638800" cy="243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8072"/>
                                        </p:tgtEl>
                                        <p:attrNameLst>
                                          <p:attrName>style.visibility</p:attrName>
                                        </p:attrNameLst>
                                      </p:cBhvr>
                                      <p:to>
                                        <p:strVal val="visible"/>
                                      </p:to>
                                    </p:set>
                                    <p:animEffect transition="in" filter="blinds(horizontal)">
                                      <p:cBhvr>
                                        <p:cTn id="7" dur="500"/>
                                        <p:tgtEl>
                                          <p:spTgt spid="88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8FFCF047-080B-B1B5-7069-028F5C79EF6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240D2AC-0CCF-4396-834D-EE545FF2CC16}" type="slidenum">
              <a:rPr lang="en-US" altLang="zh-CN" sz="1400" smtClean="0"/>
              <a:pPr>
                <a:spcBef>
                  <a:spcPct val="0"/>
                </a:spcBef>
                <a:buFontTx/>
                <a:buNone/>
              </a:pPr>
              <a:t>26</a:t>
            </a:fld>
            <a:endParaRPr lang="en-US" altLang="zh-CN" sz="1400"/>
          </a:p>
        </p:txBody>
      </p:sp>
      <p:graphicFrame>
        <p:nvGraphicFramePr>
          <p:cNvPr id="16388" name="Object 6">
            <a:extLst>
              <a:ext uri="{FF2B5EF4-FFF2-40B4-BE49-F238E27FC236}">
                <a16:creationId xmlns:a16="http://schemas.microsoft.com/office/drawing/2014/main" id="{8E4D963A-A73D-F2E6-E434-1D9A065AB7EA}"/>
              </a:ext>
            </a:extLst>
          </p:cNvPr>
          <p:cNvGraphicFramePr>
            <a:graphicFrameLocks noChangeAspect="1"/>
          </p:cNvGraphicFramePr>
          <p:nvPr>
            <p:extLst>
              <p:ext uri="{D42A27DB-BD31-4B8C-83A1-F6EECF244321}">
                <p14:modId xmlns:p14="http://schemas.microsoft.com/office/powerpoint/2010/main" val="2670304331"/>
              </p:ext>
            </p:extLst>
          </p:nvPr>
        </p:nvGraphicFramePr>
        <p:xfrm>
          <a:off x="1822554" y="916910"/>
          <a:ext cx="3600450" cy="1320800"/>
        </p:xfrm>
        <a:graphic>
          <a:graphicData uri="http://schemas.openxmlformats.org/presentationml/2006/ole">
            <mc:AlternateContent xmlns:mc="http://schemas.openxmlformats.org/markup-compatibility/2006">
              <mc:Choice xmlns:v="urn:schemas-microsoft-com:vml" Requires="v">
                <p:oleObj name="Equation" r:id="rId2" imgW="1790700" imgH="660400" progId="Equation.DSMT4">
                  <p:embed/>
                </p:oleObj>
              </mc:Choice>
              <mc:Fallback>
                <p:oleObj name="Equation" r:id="rId2" imgW="1790700" imgH="660400" progId="Equation.DSMT4">
                  <p:embed/>
                  <p:pic>
                    <p:nvPicPr>
                      <p:cNvPr id="16388" name="Object 6">
                        <a:extLst>
                          <a:ext uri="{FF2B5EF4-FFF2-40B4-BE49-F238E27FC236}">
                            <a16:creationId xmlns:a16="http://schemas.microsoft.com/office/drawing/2014/main" id="{8E4D963A-A73D-F2E6-E434-1D9A065AB7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2554" y="916910"/>
                        <a:ext cx="360045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89" name="Text Box 7">
            <a:extLst>
              <a:ext uri="{FF2B5EF4-FFF2-40B4-BE49-F238E27FC236}">
                <a16:creationId xmlns:a16="http://schemas.microsoft.com/office/drawing/2014/main" id="{64146AE4-BB34-C7A7-14D1-27C9085F3A70}"/>
              </a:ext>
            </a:extLst>
          </p:cNvPr>
          <p:cNvSpPr txBox="1">
            <a:spLocks noChangeArrowheads="1"/>
          </p:cNvSpPr>
          <p:nvPr/>
        </p:nvSpPr>
        <p:spPr bwMode="auto">
          <a:xfrm>
            <a:off x="363642" y="864523"/>
            <a:ext cx="1436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t> 2</a:t>
            </a:r>
            <a:r>
              <a:rPr lang="zh-CN" altLang="en-US" sz="2400"/>
              <a:t>） 解：</a:t>
            </a:r>
          </a:p>
        </p:txBody>
      </p:sp>
      <p:sp>
        <p:nvSpPr>
          <p:cNvPr id="16390" name="Rectangle 8">
            <a:extLst>
              <a:ext uri="{FF2B5EF4-FFF2-40B4-BE49-F238E27FC236}">
                <a16:creationId xmlns:a16="http://schemas.microsoft.com/office/drawing/2014/main" id="{7EE8718C-7071-D3AF-97CA-8E6BC75261CF}"/>
              </a:ext>
            </a:extLst>
          </p:cNvPr>
          <p:cNvSpPr>
            <a:spLocks noChangeArrowheads="1"/>
          </p:cNvSpPr>
          <p:nvPr/>
        </p:nvSpPr>
        <p:spPr bwMode="auto">
          <a:xfrm>
            <a:off x="-12596" y="343944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6391" name="Object 9">
            <a:extLst>
              <a:ext uri="{FF2B5EF4-FFF2-40B4-BE49-F238E27FC236}">
                <a16:creationId xmlns:a16="http://schemas.microsoft.com/office/drawing/2014/main" id="{A429B016-1B8E-A68A-0422-417AD439F38F}"/>
              </a:ext>
            </a:extLst>
          </p:cNvPr>
          <p:cNvGraphicFramePr>
            <a:graphicFrameLocks noChangeAspect="1"/>
          </p:cNvGraphicFramePr>
          <p:nvPr>
            <p:extLst>
              <p:ext uri="{D42A27DB-BD31-4B8C-83A1-F6EECF244321}">
                <p14:modId xmlns:p14="http://schemas.microsoft.com/office/powerpoint/2010/main" val="1419941626"/>
              </p:ext>
            </p:extLst>
          </p:nvPr>
        </p:nvGraphicFramePr>
        <p:xfrm>
          <a:off x="809729" y="2129760"/>
          <a:ext cx="4875213" cy="879475"/>
        </p:xfrm>
        <a:graphic>
          <a:graphicData uri="http://schemas.openxmlformats.org/presentationml/2006/ole">
            <mc:AlternateContent xmlns:mc="http://schemas.openxmlformats.org/markup-compatibility/2006">
              <mc:Choice xmlns:v="urn:schemas-microsoft-com:vml" Requires="v">
                <p:oleObj name="Equation" r:id="rId4" imgW="2374900" imgH="431800" progId="Equation.DSMT4">
                  <p:embed/>
                </p:oleObj>
              </mc:Choice>
              <mc:Fallback>
                <p:oleObj name="Equation" r:id="rId4" imgW="2374900" imgH="431800" progId="Equation.DSMT4">
                  <p:embed/>
                  <p:pic>
                    <p:nvPicPr>
                      <p:cNvPr id="16391" name="Object 9">
                        <a:extLst>
                          <a:ext uri="{FF2B5EF4-FFF2-40B4-BE49-F238E27FC236}">
                            <a16:creationId xmlns:a16="http://schemas.microsoft.com/office/drawing/2014/main" id="{A429B016-1B8E-A68A-0422-417AD439F3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9729" y="2129760"/>
                        <a:ext cx="4875213"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2" name="Rectangle 10">
            <a:extLst>
              <a:ext uri="{FF2B5EF4-FFF2-40B4-BE49-F238E27FC236}">
                <a16:creationId xmlns:a16="http://schemas.microsoft.com/office/drawing/2014/main" id="{638F9160-E3A4-69D2-4D60-5F5650B9C5CC}"/>
              </a:ext>
            </a:extLst>
          </p:cNvPr>
          <p:cNvSpPr>
            <a:spLocks noChangeArrowheads="1"/>
          </p:cNvSpPr>
          <p:nvPr/>
        </p:nvSpPr>
        <p:spPr bwMode="auto">
          <a:xfrm>
            <a:off x="-12596" y="343944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6393" name="Object 11">
            <a:extLst>
              <a:ext uri="{FF2B5EF4-FFF2-40B4-BE49-F238E27FC236}">
                <a16:creationId xmlns:a16="http://schemas.microsoft.com/office/drawing/2014/main" id="{61E975DC-853D-E138-64DD-442D874C27F3}"/>
              </a:ext>
            </a:extLst>
          </p:cNvPr>
          <p:cNvGraphicFramePr>
            <a:graphicFrameLocks noChangeAspect="1"/>
          </p:cNvGraphicFramePr>
          <p:nvPr>
            <p:extLst>
              <p:ext uri="{D42A27DB-BD31-4B8C-83A1-F6EECF244321}">
                <p14:modId xmlns:p14="http://schemas.microsoft.com/office/powerpoint/2010/main" val="2439254890"/>
              </p:ext>
            </p:extLst>
          </p:nvPr>
        </p:nvGraphicFramePr>
        <p:xfrm>
          <a:off x="816079" y="3120360"/>
          <a:ext cx="5214938" cy="835025"/>
        </p:xfrm>
        <a:graphic>
          <a:graphicData uri="http://schemas.openxmlformats.org/presentationml/2006/ole">
            <mc:AlternateContent xmlns:mc="http://schemas.openxmlformats.org/markup-compatibility/2006">
              <mc:Choice xmlns:v="urn:schemas-microsoft-com:vml" Requires="v">
                <p:oleObj name="Equation" r:id="rId6" imgW="2679700" imgH="431800" progId="Equation.DSMT4">
                  <p:embed/>
                </p:oleObj>
              </mc:Choice>
              <mc:Fallback>
                <p:oleObj name="Equation" r:id="rId6" imgW="2679700" imgH="431800" progId="Equation.DSMT4">
                  <p:embed/>
                  <p:pic>
                    <p:nvPicPr>
                      <p:cNvPr id="16393" name="Object 11">
                        <a:extLst>
                          <a:ext uri="{FF2B5EF4-FFF2-40B4-BE49-F238E27FC236}">
                            <a16:creationId xmlns:a16="http://schemas.microsoft.com/office/drawing/2014/main" id="{61E975DC-853D-E138-64DD-442D874C27F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6079" y="3120360"/>
                        <a:ext cx="5214938"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4" name="Text Box 12">
            <a:extLst>
              <a:ext uri="{FF2B5EF4-FFF2-40B4-BE49-F238E27FC236}">
                <a16:creationId xmlns:a16="http://schemas.microsoft.com/office/drawing/2014/main" id="{793471FF-92F2-EF5A-C10E-A96E3EE731A4}"/>
              </a:ext>
            </a:extLst>
          </p:cNvPr>
          <p:cNvSpPr txBox="1">
            <a:spLocks noChangeArrowheads="1"/>
          </p:cNvSpPr>
          <p:nvPr/>
        </p:nvSpPr>
        <p:spPr bwMode="auto">
          <a:xfrm>
            <a:off x="866879" y="4158585"/>
            <a:ext cx="2012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t>因此电势变为</a:t>
            </a:r>
          </a:p>
        </p:txBody>
      </p:sp>
      <p:graphicFrame>
        <p:nvGraphicFramePr>
          <p:cNvPr id="16395" name="Object 13">
            <a:extLst>
              <a:ext uri="{FF2B5EF4-FFF2-40B4-BE49-F238E27FC236}">
                <a16:creationId xmlns:a16="http://schemas.microsoft.com/office/drawing/2014/main" id="{E4E981E3-8A41-E9D8-055A-135846A4EEF0}"/>
              </a:ext>
            </a:extLst>
          </p:cNvPr>
          <p:cNvGraphicFramePr>
            <a:graphicFrameLocks noChangeAspect="1"/>
          </p:cNvGraphicFramePr>
          <p:nvPr>
            <p:extLst>
              <p:ext uri="{D42A27DB-BD31-4B8C-83A1-F6EECF244321}">
                <p14:modId xmlns:p14="http://schemas.microsoft.com/office/powerpoint/2010/main" val="764119867"/>
              </p:ext>
            </p:extLst>
          </p:nvPr>
        </p:nvGraphicFramePr>
        <p:xfrm>
          <a:off x="3046517" y="4085560"/>
          <a:ext cx="2592387" cy="611188"/>
        </p:xfrm>
        <a:graphic>
          <a:graphicData uri="http://schemas.openxmlformats.org/presentationml/2006/ole">
            <mc:AlternateContent xmlns:mc="http://schemas.openxmlformats.org/markup-compatibility/2006">
              <mc:Choice xmlns:v="urn:schemas-microsoft-com:vml" Requires="v">
                <p:oleObj name="Equation" r:id="rId8" imgW="1168400" imgH="279400" progId="Equation.DSMT4">
                  <p:embed/>
                </p:oleObj>
              </mc:Choice>
              <mc:Fallback>
                <p:oleObj name="Equation" r:id="rId8" imgW="1168400" imgH="279400" progId="Equation.DSMT4">
                  <p:embed/>
                  <p:pic>
                    <p:nvPicPr>
                      <p:cNvPr id="16395" name="Object 13">
                        <a:extLst>
                          <a:ext uri="{FF2B5EF4-FFF2-40B4-BE49-F238E27FC236}">
                            <a16:creationId xmlns:a16="http://schemas.microsoft.com/office/drawing/2014/main" id="{E4E981E3-8A41-E9D8-055A-135846A4EEF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6517" y="4085560"/>
                        <a:ext cx="2592387"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6" name="Object 14">
            <a:extLst>
              <a:ext uri="{FF2B5EF4-FFF2-40B4-BE49-F238E27FC236}">
                <a16:creationId xmlns:a16="http://schemas.microsoft.com/office/drawing/2014/main" id="{F6DD31C6-28A8-8FEC-C6F6-A1BE7196D380}"/>
              </a:ext>
            </a:extLst>
          </p:cNvPr>
          <p:cNvGraphicFramePr>
            <a:graphicFrameLocks noChangeAspect="1"/>
          </p:cNvGraphicFramePr>
          <p:nvPr>
            <p:extLst>
              <p:ext uri="{D42A27DB-BD31-4B8C-83A1-F6EECF244321}">
                <p14:modId xmlns:p14="http://schemas.microsoft.com/office/powerpoint/2010/main" val="1209970185"/>
              </p:ext>
            </p:extLst>
          </p:nvPr>
        </p:nvGraphicFramePr>
        <p:xfrm>
          <a:off x="958954" y="4806285"/>
          <a:ext cx="5905500" cy="968375"/>
        </p:xfrm>
        <a:graphic>
          <a:graphicData uri="http://schemas.openxmlformats.org/presentationml/2006/ole">
            <mc:AlternateContent xmlns:mc="http://schemas.openxmlformats.org/markup-compatibility/2006">
              <mc:Choice xmlns:v="urn:schemas-microsoft-com:vml" Requires="v">
                <p:oleObj name="Equation" r:id="rId10" imgW="3187700" imgH="520700" progId="Equation.DSMT4">
                  <p:embed/>
                </p:oleObj>
              </mc:Choice>
              <mc:Fallback>
                <p:oleObj name="Equation" r:id="rId10" imgW="3187700" imgH="520700" progId="Equation.DSMT4">
                  <p:embed/>
                  <p:pic>
                    <p:nvPicPr>
                      <p:cNvPr id="16396" name="Object 14">
                        <a:extLst>
                          <a:ext uri="{FF2B5EF4-FFF2-40B4-BE49-F238E27FC236}">
                            <a16:creationId xmlns:a16="http://schemas.microsoft.com/office/drawing/2014/main" id="{F6DD31C6-28A8-8FEC-C6F6-A1BE7196D38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58954" y="4806285"/>
                        <a:ext cx="59055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7" name="Object 15">
            <a:extLst>
              <a:ext uri="{FF2B5EF4-FFF2-40B4-BE49-F238E27FC236}">
                <a16:creationId xmlns:a16="http://schemas.microsoft.com/office/drawing/2014/main" id="{FF7C782E-519A-C7E4-C5CE-A87C197CF7A8}"/>
              </a:ext>
            </a:extLst>
          </p:cNvPr>
          <p:cNvGraphicFramePr>
            <a:graphicFrameLocks noChangeAspect="1"/>
          </p:cNvGraphicFramePr>
          <p:nvPr>
            <p:extLst>
              <p:ext uri="{D42A27DB-BD31-4B8C-83A1-F6EECF244321}">
                <p14:modId xmlns:p14="http://schemas.microsoft.com/office/powerpoint/2010/main" val="2144181086"/>
              </p:ext>
            </p:extLst>
          </p:nvPr>
        </p:nvGraphicFramePr>
        <p:xfrm>
          <a:off x="887517" y="5814348"/>
          <a:ext cx="2089150" cy="465137"/>
        </p:xfrm>
        <a:graphic>
          <a:graphicData uri="http://schemas.openxmlformats.org/presentationml/2006/ole">
            <mc:AlternateContent xmlns:mc="http://schemas.openxmlformats.org/markup-compatibility/2006">
              <mc:Choice xmlns:v="urn:schemas-microsoft-com:vml" Requires="v">
                <p:oleObj name="Equation" r:id="rId12" imgW="1155700" imgH="254000" progId="Equation.DSMT4">
                  <p:embed/>
                </p:oleObj>
              </mc:Choice>
              <mc:Fallback>
                <p:oleObj name="Equation" r:id="rId12" imgW="1155700" imgH="254000" progId="Equation.DSMT4">
                  <p:embed/>
                  <p:pic>
                    <p:nvPicPr>
                      <p:cNvPr id="16397" name="Object 15">
                        <a:extLst>
                          <a:ext uri="{FF2B5EF4-FFF2-40B4-BE49-F238E27FC236}">
                            <a16:creationId xmlns:a16="http://schemas.microsoft.com/office/drawing/2014/main" id="{FF7C782E-519A-C7E4-C5CE-A87C197CF7A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87517" y="5814348"/>
                        <a:ext cx="2089150"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8" name="Text Box 16">
            <a:extLst>
              <a:ext uri="{FF2B5EF4-FFF2-40B4-BE49-F238E27FC236}">
                <a16:creationId xmlns:a16="http://schemas.microsoft.com/office/drawing/2014/main" id="{6D5FA731-6EDB-67C7-4003-AD29A28E1411}"/>
              </a:ext>
            </a:extLst>
          </p:cNvPr>
          <p:cNvSpPr txBox="1">
            <a:spLocks noChangeArrowheads="1"/>
          </p:cNvSpPr>
          <p:nvPr/>
        </p:nvSpPr>
        <p:spPr bwMode="auto">
          <a:xfrm>
            <a:off x="879475" y="6256338"/>
            <a:ext cx="3386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t>功率因数为</a:t>
            </a:r>
            <a:r>
              <a:rPr lang="en-US" altLang="zh-CN" sz="2400"/>
              <a:t>0.966</a:t>
            </a:r>
            <a:r>
              <a:rPr lang="zh-CN" altLang="en-US" sz="2400"/>
              <a:t>超前。</a:t>
            </a:r>
          </a:p>
        </p:txBody>
      </p:sp>
      <p:sp>
        <p:nvSpPr>
          <p:cNvPr id="16399" name="Text Box 17">
            <a:extLst>
              <a:ext uri="{FF2B5EF4-FFF2-40B4-BE49-F238E27FC236}">
                <a16:creationId xmlns:a16="http://schemas.microsoft.com/office/drawing/2014/main" id="{2DDB26BC-92B0-BA5C-B58F-B22D9FAD33F6}"/>
              </a:ext>
            </a:extLst>
          </p:cNvPr>
          <p:cNvSpPr txBox="1">
            <a:spLocks noChangeArrowheads="1"/>
          </p:cNvSpPr>
          <p:nvPr/>
        </p:nvSpPr>
        <p:spPr bwMode="auto">
          <a:xfrm>
            <a:off x="5854804" y="1215360"/>
            <a:ext cx="3124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t>若负载加倍，绘出相量图，求变化后的定子相电流、线电流和电势及功率因数。</a:t>
            </a:r>
          </a:p>
        </p:txBody>
      </p:sp>
      <p:pic>
        <p:nvPicPr>
          <p:cNvPr id="87058" name="Picture 18">
            <a:extLst>
              <a:ext uri="{FF2B5EF4-FFF2-40B4-BE49-F238E27FC236}">
                <a16:creationId xmlns:a16="http://schemas.microsoft.com/office/drawing/2014/main" id="{05B5C965-6A38-AC8A-B38F-70710970912A}"/>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461104" y="1215360"/>
            <a:ext cx="3670300" cy="210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59" name="AutoShape 19">
            <a:extLst>
              <a:ext uri="{FF2B5EF4-FFF2-40B4-BE49-F238E27FC236}">
                <a16:creationId xmlns:a16="http://schemas.microsoft.com/office/drawing/2014/main" id="{D568D60F-633B-F1A4-E7AC-F541CCAC07EE}"/>
              </a:ext>
            </a:extLst>
          </p:cNvPr>
          <p:cNvSpPr>
            <a:spLocks noChangeArrowheads="1"/>
          </p:cNvSpPr>
          <p:nvPr/>
        </p:nvSpPr>
        <p:spPr bwMode="auto">
          <a:xfrm>
            <a:off x="-12596" y="1493173"/>
            <a:ext cx="1042988" cy="865187"/>
          </a:xfrm>
          <a:prstGeom prst="wedgeRoundRectCallout">
            <a:avLst>
              <a:gd name="adj1" fmla="val 150458"/>
              <a:gd name="adj2" fmla="val -2725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a:t>负载加倍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7058"/>
                                        </p:tgtEl>
                                        <p:attrNameLst>
                                          <p:attrName>style.visibility</p:attrName>
                                        </p:attrNameLst>
                                      </p:cBhvr>
                                      <p:to>
                                        <p:strVal val="visible"/>
                                      </p:to>
                                    </p:set>
                                    <p:animEffect transition="in" filter="blinds(horizontal)">
                                      <p:cBhvr>
                                        <p:cTn id="7" dur="500"/>
                                        <p:tgtEl>
                                          <p:spTgt spid="870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7059"/>
                                        </p:tgtEl>
                                        <p:attrNameLst>
                                          <p:attrName>style.visibility</p:attrName>
                                        </p:attrNameLst>
                                      </p:cBhvr>
                                      <p:to>
                                        <p:strVal val="visible"/>
                                      </p:to>
                                    </p:set>
                                    <p:animEffect transition="in" filter="blinds(horizontal)">
                                      <p:cBhvr>
                                        <p:cTn id="12" dur="500"/>
                                        <p:tgtEl>
                                          <p:spTgt spid="87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59"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a:extLst>
              <a:ext uri="{FF2B5EF4-FFF2-40B4-BE49-F238E27FC236}">
                <a16:creationId xmlns:a16="http://schemas.microsoft.com/office/drawing/2014/main" id="{D0D7FFF0-E23B-CA37-7EEA-32104D0A590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957372F-177F-40C2-8D1D-E42BA6441D48}" type="slidenum">
              <a:rPr lang="en-US" altLang="zh-CN" sz="1400" smtClean="0"/>
              <a:pPr>
                <a:spcBef>
                  <a:spcPct val="0"/>
                </a:spcBef>
                <a:buFontTx/>
                <a:buNone/>
              </a:pPr>
              <a:t>27</a:t>
            </a:fld>
            <a:endParaRPr lang="en-US" altLang="zh-CN" sz="1400"/>
          </a:p>
        </p:txBody>
      </p:sp>
      <p:sp>
        <p:nvSpPr>
          <p:cNvPr id="18435" name="Rectangle 4">
            <a:extLst>
              <a:ext uri="{FF2B5EF4-FFF2-40B4-BE49-F238E27FC236}">
                <a16:creationId xmlns:a16="http://schemas.microsoft.com/office/drawing/2014/main" id="{69CFA9B3-5AF2-57C7-A2CD-D195F811CF8A}"/>
              </a:ext>
            </a:extLst>
          </p:cNvPr>
          <p:cNvSpPr>
            <a:spLocks noGrp="1" noChangeArrowheads="1"/>
          </p:cNvSpPr>
          <p:nvPr>
            <p:ph type="title"/>
          </p:nvPr>
        </p:nvSpPr>
        <p:spPr>
          <a:xfrm>
            <a:off x="376312" y="1012671"/>
            <a:ext cx="8229600" cy="487362"/>
          </a:xfrm>
        </p:spPr>
        <p:txBody>
          <a:bodyPr/>
          <a:lstStyle/>
          <a:p>
            <a:r>
              <a:rPr lang="zh-CN" altLang="en-US" sz="2800" b="1" dirty="0">
                <a:latin typeface="黑体" panose="02010609060101010101" pitchFamily="49" charset="-122"/>
                <a:ea typeface="黑体" panose="02010609060101010101" pitchFamily="49" charset="-122"/>
              </a:rPr>
              <a:t>十、同步电动机励磁电流变化的影响</a:t>
            </a:r>
            <a:r>
              <a:rPr lang="en-US" altLang="zh-CN" sz="2800" b="1" dirty="0">
                <a:ea typeface="楷体_GB2312" pitchFamily="49" charset="-122"/>
              </a:rPr>
              <a:t>------</a:t>
            </a:r>
            <a:r>
              <a:rPr lang="zh-CN" altLang="en-US" sz="2800" b="1" dirty="0">
                <a:ea typeface="楷体_GB2312" pitchFamily="49" charset="-122"/>
              </a:rPr>
              <a:t>认识功角和功率因数角</a:t>
            </a:r>
            <a:r>
              <a:rPr lang="zh-CN" altLang="en-US" sz="2800" dirty="0"/>
              <a:t> </a:t>
            </a:r>
            <a:endParaRPr lang="zh-CN" altLang="en-US" sz="2800" b="1" dirty="0">
              <a:latin typeface="黑体" panose="02010609060101010101" pitchFamily="49" charset="-122"/>
              <a:ea typeface="黑体" panose="02010609060101010101" pitchFamily="49" charset="-122"/>
            </a:endParaRPr>
          </a:p>
        </p:txBody>
      </p:sp>
      <p:sp>
        <p:nvSpPr>
          <p:cNvPr id="18436" name="Rectangle 8">
            <a:extLst>
              <a:ext uri="{FF2B5EF4-FFF2-40B4-BE49-F238E27FC236}">
                <a16:creationId xmlns:a16="http://schemas.microsoft.com/office/drawing/2014/main" id="{21D272DA-5238-680E-343C-E8F568D9083A}"/>
              </a:ext>
            </a:extLst>
          </p:cNvPr>
          <p:cNvSpPr>
            <a:spLocks noChangeArrowheads="1"/>
          </p:cNvSpPr>
          <p:nvPr/>
        </p:nvSpPr>
        <p:spPr bwMode="auto">
          <a:xfrm>
            <a:off x="457200" y="1626402"/>
            <a:ext cx="7953375"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tx1"/>
              </a:buClr>
              <a:buSzPts val="2800"/>
            </a:pPr>
            <a:r>
              <a:rPr lang="zh-CN" altLang="en-US" sz="2800" b="1">
                <a:ea typeface="黑体" panose="02010609060101010101" pitchFamily="49" charset="-122"/>
              </a:rPr>
              <a:t>假定同步电动机初始运行在滞后功率因数</a:t>
            </a:r>
            <a:r>
              <a:rPr lang="en-US" altLang="zh-CN" sz="2800">
                <a:latin typeface="Symbol" panose="05050102010706020507" pitchFamily="18" charset="2"/>
              </a:rPr>
              <a:t>f</a:t>
            </a:r>
            <a:r>
              <a:rPr lang="en-US" altLang="zh-CN" sz="2800" baseline="-25000"/>
              <a:t>2</a:t>
            </a:r>
            <a:r>
              <a:rPr lang="zh-CN" altLang="en-US" sz="2800"/>
              <a:t>。 </a:t>
            </a:r>
          </a:p>
        </p:txBody>
      </p:sp>
      <p:sp>
        <p:nvSpPr>
          <p:cNvPr id="85001" name="Text Box 9">
            <a:extLst>
              <a:ext uri="{FF2B5EF4-FFF2-40B4-BE49-F238E27FC236}">
                <a16:creationId xmlns:a16="http://schemas.microsoft.com/office/drawing/2014/main" id="{05A17A23-0C4A-07F4-AF01-59BC59F2B762}"/>
              </a:ext>
            </a:extLst>
          </p:cNvPr>
          <p:cNvSpPr txBox="1">
            <a:spLocks noChangeArrowheads="1"/>
          </p:cNvSpPr>
          <p:nvPr/>
        </p:nvSpPr>
        <p:spPr bwMode="auto">
          <a:xfrm>
            <a:off x="293687" y="2216952"/>
            <a:ext cx="388937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dirty="0"/>
              <a:t>   </a:t>
            </a:r>
            <a:r>
              <a:rPr lang="zh-CN" altLang="en-US" sz="2400" b="1" dirty="0">
                <a:latin typeface="黑体" panose="02010609060101010101" pitchFamily="49" charset="-122"/>
                <a:ea typeface="黑体" panose="02010609060101010101" pitchFamily="49" charset="-122"/>
              </a:rPr>
              <a:t>当励磁电流增加时，电势幅值相应增加，假定此时负载没变，电机提供的有功功率不发生变化，电机转速也不变化。电机的端电压为电网电压设为常数。  </a:t>
            </a:r>
          </a:p>
        </p:txBody>
      </p:sp>
      <p:sp>
        <p:nvSpPr>
          <p:cNvPr id="18438" name="Rectangle 10">
            <a:extLst>
              <a:ext uri="{FF2B5EF4-FFF2-40B4-BE49-F238E27FC236}">
                <a16:creationId xmlns:a16="http://schemas.microsoft.com/office/drawing/2014/main" id="{3343348D-0BE8-4060-D448-0F40B1250965}"/>
              </a:ext>
            </a:extLst>
          </p:cNvPr>
          <p:cNvSpPr>
            <a:spLocks noChangeArrowheads="1"/>
          </p:cNvSpPr>
          <p:nvPr/>
        </p:nvSpPr>
        <p:spPr bwMode="auto">
          <a:xfrm>
            <a:off x="14287" y="3751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85003" name="Object 11">
            <a:extLst>
              <a:ext uri="{FF2B5EF4-FFF2-40B4-BE49-F238E27FC236}">
                <a16:creationId xmlns:a16="http://schemas.microsoft.com/office/drawing/2014/main" id="{9D1E23D3-161C-8CBA-F22A-C496E7EA3AE4}"/>
              </a:ext>
            </a:extLst>
          </p:cNvPr>
          <p:cNvGraphicFramePr>
            <a:graphicFrameLocks noChangeAspect="1"/>
          </p:cNvGraphicFramePr>
          <p:nvPr>
            <p:extLst>
              <p:ext uri="{D42A27DB-BD31-4B8C-83A1-F6EECF244321}">
                <p14:modId xmlns:p14="http://schemas.microsoft.com/office/powerpoint/2010/main" val="1127400105"/>
              </p:ext>
            </p:extLst>
          </p:nvPr>
        </p:nvGraphicFramePr>
        <p:xfrm>
          <a:off x="623887" y="4539465"/>
          <a:ext cx="3175000" cy="1385887"/>
        </p:xfrm>
        <a:graphic>
          <a:graphicData uri="http://schemas.openxmlformats.org/presentationml/2006/ole">
            <mc:AlternateContent xmlns:mc="http://schemas.openxmlformats.org/markup-compatibility/2006">
              <mc:Choice xmlns:v="urn:schemas-microsoft-com:vml" Requires="v">
                <p:oleObj name="Equation" r:id="rId2" imgW="1498600" imgH="660400" progId="Equation.DSMT4">
                  <p:embed/>
                </p:oleObj>
              </mc:Choice>
              <mc:Fallback>
                <p:oleObj name="Equation" r:id="rId2" imgW="1498600" imgH="660400" progId="Equation.DSMT4">
                  <p:embed/>
                  <p:pic>
                    <p:nvPicPr>
                      <p:cNvPr id="85003" name="Object 11">
                        <a:extLst>
                          <a:ext uri="{FF2B5EF4-FFF2-40B4-BE49-F238E27FC236}">
                            <a16:creationId xmlns:a16="http://schemas.microsoft.com/office/drawing/2014/main" id="{9D1E23D3-161C-8CBA-F22A-C496E7EA3A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887" y="4539465"/>
                        <a:ext cx="3175000"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004" name="Text Box 12">
            <a:extLst>
              <a:ext uri="{FF2B5EF4-FFF2-40B4-BE49-F238E27FC236}">
                <a16:creationId xmlns:a16="http://schemas.microsoft.com/office/drawing/2014/main" id="{722A56C3-85A7-6ED9-ACC5-00BBB7D0EE69}"/>
              </a:ext>
            </a:extLst>
          </p:cNvPr>
          <p:cNvSpPr txBox="1">
            <a:spLocks noChangeArrowheads="1"/>
          </p:cNvSpPr>
          <p:nvPr/>
        </p:nvSpPr>
        <p:spPr bwMode="auto">
          <a:xfrm>
            <a:off x="329133" y="5959115"/>
            <a:ext cx="416197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dirty="0"/>
              <a:t>    </a:t>
            </a:r>
            <a:r>
              <a:rPr lang="zh-CN" altLang="en-US" sz="2400" b="1" dirty="0">
                <a:ea typeface="黑体" panose="02010609060101010101" pitchFamily="49" charset="-122"/>
              </a:rPr>
              <a:t>也就是相量图中的距离</a:t>
            </a:r>
            <a:r>
              <a:rPr lang="en-US" altLang="zh-CN" sz="2400" dirty="0" err="1">
                <a:latin typeface="Times New Roman" panose="02020603050405020304" pitchFamily="18" charset="0"/>
              </a:rPr>
              <a:t>I</a:t>
            </a:r>
            <a:r>
              <a:rPr lang="en-US" altLang="zh-CN" sz="2400" baseline="-25000" dirty="0" err="1">
                <a:latin typeface="Times New Roman" panose="02020603050405020304" pitchFamily="18" charset="0"/>
              </a:rPr>
              <a:t>a</a:t>
            </a:r>
            <a:r>
              <a:rPr lang="en-US" altLang="zh-CN" sz="2400" dirty="0" err="1">
                <a:latin typeface="Times New Roman" panose="02020603050405020304" pitchFamily="18" charset="0"/>
              </a:rPr>
              <a:t>cos</a:t>
            </a:r>
            <a:r>
              <a:rPr lang="en-US" altLang="zh-CN" sz="2400" dirty="0" err="1">
                <a:latin typeface="Symbol" panose="05050102010706020507" pitchFamily="18" charset="2"/>
              </a:rPr>
              <a:t>f</a:t>
            </a:r>
            <a:r>
              <a:rPr lang="zh-CN" altLang="en-US" sz="2400" dirty="0">
                <a:latin typeface="Times New Roman" panose="02020603050405020304" pitchFamily="18" charset="0"/>
              </a:rPr>
              <a:t>和</a:t>
            </a:r>
            <a:r>
              <a:rPr lang="en-US" altLang="zh-CN" sz="2400" dirty="0" err="1">
                <a:latin typeface="Times New Roman" panose="02020603050405020304" pitchFamily="18" charset="0"/>
              </a:rPr>
              <a:t>E</a:t>
            </a:r>
            <a:r>
              <a:rPr lang="en-US" altLang="zh-CN" sz="2400" baseline="-25000" dirty="0" err="1">
                <a:latin typeface="Times New Roman" panose="02020603050405020304" pitchFamily="18" charset="0"/>
              </a:rPr>
              <a:t>a</a:t>
            </a:r>
            <a:r>
              <a:rPr lang="en-US" altLang="zh-CN" sz="2400" dirty="0" err="1">
                <a:latin typeface="Times New Roman" panose="02020603050405020304" pitchFamily="18" charset="0"/>
              </a:rPr>
              <a:t>sin</a:t>
            </a:r>
            <a:r>
              <a:rPr lang="en-US" altLang="zh-CN" sz="2400" dirty="0">
                <a:latin typeface="Times New Roman" panose="02020603050405020304" pitchFamily="18" charset="0"/>
              </a:rPr>
              <a:t>(-</a:t>
            </a:r>
            <a:r>
              <a:rPr lang="en-US" altLang="zh-CN" sz="2400" dirty="0">
                <a:latin typeface="Symbol" panose="05050102010706020507" pitchFamily="18" charset="2"/>
              </a:rPr>
              <a:t>d)</a:t>
            </a:r>
            <a:r>
              <a:rPr lang="zh-CN" altLang="en-US" sz="2400" b="1" dirty="0">
                <a:ea typeface="黑体" panose="02010609060101010101" pitchFamily="49" charset="-122"/>
              </a:rPr>
              <a:t>保持为常数</a:t>
            </a:r>
            <a:r>
              <a:rPr lang="zh-CN" altLang="en-US" sz="2400" dirty="0"/>
              <a:t>。 </a:t>
            </a:r>
          </a:p>
        </p:txBody>
      </p:sp>
      <p:pic>
        <p:nvPicPr>
          <p:cNvPr id="18441" name="Picture 13">
            <a:extLst>
              <a:ext uri="{FF2B5EF4-FFF2-40B4-BE49-F238E27FC236}">
                <a16:creationId xmlns:a16="http://schemas.microsoft.com/office/drawing/2014/main" id="{9CF6AB71-BDDF-505C-4854-587F1B3DD25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83062" y="2162978"/>
            <a:ext cx="4797425"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5001"/>
                                        </p:tgtEl>
                                        <p:attrNameLst>
                                          <p:attrName>style.visibility</p:attrName>
                                        </p:attrNameLst>
                                      </p:cBhvr>
                                      <p:to>
                                        <p:strVal val="visible"/>
                                      </p:to>
                                    </p:set>
                                    <p:animEffect transition="in" filter="dissolve">
                                      <p:cBhvr>
                                        <p:cTn id="7" dur="500"/>
                                        <p:tgtEl>
                                          <p:spTgt spid="850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5003"/>
                                        </p:tgtEl>
                                        <p:attrNameLst>
                                          <p:attrName>style.visibility</p:attrName>
                                        </p:attrNameLst>
                                      </p:cBhvr>
                                      <p:to>
                                        <p:strVal val="visible"/>
                                      </p:to>
                                    </p:set>
                                    <p:animEffect transition="in" filter="blinds(horizontal)">
                                      <p:cBhvr>
                                        <p:cTn id="12" dur="500"/>
                                        <p:tgtEl>
                                          <p:spTgt spid="850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5004"/>
                                        </p:tgtEl>
                                        <p:attrNameLst>
                                          <p:attrName>style.visibility</p:attrName>
                                        </p:attrNameLst>
                                      </p:cBhvr>
                                      <p:to>
                                        <p:strVal val="visible"/>
                                      </p:to>
                                    </p:set>
                                    <p:animEffect transition="in" filter="dissolve">
                                      <p:cBhvr>
                                        <p:cTn id="17" dur="500"/>
                                        <p:tgtEl>
                                          <p:spTgt spid="85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01" grpId="0" autoUpdateAnimBg="0"/>
      <p:bldP spid="85004"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a:extLst>
              <a:ext uri="{FF2B5EF4-FFF2-40B4-BE49-F238E27FC236}">
                <a16:creationId xmlns:a16="http://schemas.microsoft.com/office/drawing/2014/main" id="{3FD54ED6-3193-27E9-A922-2AB5BB44733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213C075-AEFF-412E-A413-8BE507F2A66D}" type="slidenum">
              <a:rPr lang="en-US" altLang="zh-CN" sz="1400" smtClean="0"/>
              <a:pPr>
                <a:spcBef>
                  <a:spcPct val="0"/>
                </a:spcBef>
                <a:buFontTx/>
                <a:buNone/>
              </a:pPr>
              <a:t>28</a:t>
            </a:fld>
            <a:endParaRPr lang="en-US" altLang="zh-CN" sz="1400"/>
          </a:p>
        </p:txBody>
      </p:sp>
      <p:sp>
        <p:nvSpPr>
          <p:cNvPr id="19459" name="Rectangle 2">
            <a:extLst>
              <a:ext uri="{FF2B5EF4-FFF2-40B4-BE49-F238E27FC236}">
                <a16:creationId xmlns:a16="http://schemas.microsoft.com/office/drawing/2014/main" id="{921BF958-5B51-A1EF-7512-CB80EC50D30B}"/>
              </a:ext>
            </a:extLst>
          </p:cNvPr>
          <p:cNvSpPr>
            <a:spLocks noGrp="1" noChangeArrowheads="1"/>
          </p:cNvSpPr>
          <p:nvPr>
            <p:ph type="title"/>
          </p:nvPr>
        </p:nvSpPr>
        <p:spPr>
          <a:xfrm>
            <a:off x="7451924" y="724217"/>
            <a:ext cx="1512490" cy="1157288"/>
          </a:xfrm>
        </p:spPr>
        <p:txBody>
          <a:bodyPr/>
          <a:lstStyle/>
          <a:p>
            <a:pPr eaLnBrk="1" hangingPunct="1"/>
            <a:r>
              <a:rPr lang="zh-CN" altLang="en-US" sz="3600" b="1" dirty="0">
                <a:solidFill>
                  <a:srgbClr val="FF0000"/>
                </a:solidFill>
              </a:rPr>
              <a:t>讨论</a:t>
            </a:r>
            <a:r>
              <a:rPr lang="en-US" altLang="zh-CN" sz="3600" b="1" dirty="0">
                <a:solidFill>
                  <a:srgbClr val="FF0000"/>
                </a:solidFill>
              </a:rPr>
              <a:t>1</a:t>
            </a:r>
          </a:p>
        </p:txBody>
      </p:sp>
      <p:sp>
        <p:nvSpPr>
          <p:cNvPr id="19460" name="Rectangle 4">
            <a:extLst>
              <a:ext uri="{FF2B5EF4-FFF2-40B4-BE49-F238E27FC236}">
                <a16:creationId xmlns:a16="http://schemas.microsoft.com/office/drawing/2014/main" id="{7D1DC29A-667E-8D0A-C807-A6FFDB238FEA}"/>
              </a:ext>
            </a:extLst>
          </p:cNvPr>
          <p:cNvSpPr>
            <a:spLocks noChangeArrowheads="1"/>
          </p:cNvSpPr>
          <p:nvPr/>
        </p:nvSpPr>
        <p:spPr bwMode="auto">
          <a:xfrm>
            <a:off x="7380486" y="868680"/>
            <a:ext cx="14398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4000">
              <a:solidFill>
                <a:schemeClr val="tx2"/>
              </a:solidFill>
            </a:endParaRPr>
          </a:p>
        </p:txBody>
      </p:sp>
      <p:sp>
        <p:nvSpPr>
          <p:cNvPr id="19461" name="Rectangle 5">
            <a:extLst>
              <a:ext uri="{FF2B5EF4-FFF2-40B4-BE49-F238E27FC236}">
                <a16:creationId xmlns:a16="http://schemas.microsoft.com/office/drawing/2014/main" id="{69F5B965-CF88-05E4-FB14-BCE350CC45C0}"/>
              </a:ext>
            </a:extLst>
          </p:cNvPr>
          <p:cNvSpPr>
            <a:spLocks noGrp="1" noChangeArrowheads="1"/>
          </p:cNvSpPr>
          <p:nvPr>
            <p:ph type="body" idx="1"/>
          </p:nvPr>
        </p:nvSpPr>
        <p:spPr>
          <a:xfrm>
            <a:off x="179586" y="868680"/>
            <a:ext cx="7416800" cy="1152525"/>
          </a:xfrm>
          <a:noFill/>
        </p:spPr>
        <p:txBody>
          <a:bodyPr/>
          <a:lstStyle/>
          <a:p>
            <a:pPr eaLnBrk="1" hangingPunct="1">
              <a:lnSpc>
                <a:spcPct val="90000"/>
              </a:lnSpc>
            </a:pPr>
            <a:r>
              <a:rPr lang="zh-CN" altLang="en-US" sz="2800" b="1">
                <a:ea typeface="黑体" panose="02010609060101010101" pitchFamily="49" charset="-122"/>
              </a:rPr>
              <a:t>负载恒定、励磁变化时电势随之变化，功角同时改变，保持</a:t>
            </a:r>
            <a:r>
              <a:rPr lang="en-US" altLang="zh-CN" sz="2800"/>
              <a:t>E</a:t>
            </a:r>
            <a:r>
              <a:rPr lang="en-US" altLang="zh-CN" sz="2800" baseline="-25000"/>
              <a:t>a</a:t>
            </a:r>
            <a:r>
              <a:rPr lang="en-US" altLang="zh-CN" sz="2800"/>
              <a:t>sin(-</a:t>
            </a:r>
            <a:r>
              <a:rPr lang="en-US" altLang="zh-CN" sz="2800">
                <a:latin typeface="Symbol" panose="05050102010706020507" pitchFamily="18" charset="2"/>
              </a:rPr>
              <a:t>d</a:t>
            </a:r>
            <a:r>
              <a:rPr lang="en-US" altLang="zh-CN" sz="2800"/>
              <a:t>)</a:t>
            </a:r>
            <a:r>
              <a:rPr lang="zh-CN" altLang="en-US" sz="2800" b="1">
                <a:latin typeface="黑体" panose="02010609060101010101" pitchFamily="49" charset="-122"/>
                <a:ea typeface="黑体" panose="02010609060101010101" pitchFamily="49" charset="-122"/>
              </a:rPr>
              <a:t>等于常数</a:t>
            </a:r>
            <a:r>
              <a:rPr lang="en-US" altLang="zh-CN" sz="2800" b="1">
                <a:latin typeface="黑体" panose="02010609060101010101" pitchFamily="49" charset="-122"/>
                <a:ea typeface="黑体" panose="02010609060101010101" pitchFamily="49" charset="-122"/>
              </a:rPr>
              <a:t>,</a:t>
            </a:r>
            <a:r>
              <a:rPr lang="zh-CN" altLang="en-US" sz="2800" b="1">
                <a:latin typeface="黑体" panose="02010609060101010101" pitchFamily="49" charset="-122"/>
                <a:ea typeface="黑体" panose="02010609060101010101" pitchFamily="49" charset="-122"/>
              </a:rPr>
              <a:t>电势相量始终在与电压相量平行的</a:t>
            </a:r>
            <a:r>
              <a:rPr lang="en-US" altLang="zh-CN" sz="2800" b="1">
                <a:latin typeface="黑体" panose="02010609060101010101" pitchFamily="49" charset="-122"/>
                <a:ea typeface="黑体" panose="02010609060101010101" pitchFamily="49" charset="-122"/>
              </a:rPr>
              <a:t>AB</a:t>
            </a:r>
            <a:r>
              <a:rPr lang="zh-CN" altLang="en-US" sz="2800" b="1">
                <a:latin typeface="黑体" panose="02010609060101010101" pitchFamily="49" charset="-122"/>
                <a:ea typeface="黑体" panose="02010609060101010101" pitchFamily="49" charset="-122"/>
              </a:rPr>
              <a:t>线上移动；</a:t>
            </a:r>
          </a:p>
        </p:txBody>
      </p:sp>
      <p:pic>
        <p:nvPicPr>
          <p:cNvPr id="19462" name="Picture 6">
            <a:extLst>
              <a:ext uri="{FF2B5EF4-FFF2-40B4-BE49-F238E27FC236}">
                <a16:creationId xmlns:a16="http://schemas.microsoft.com/office/drawing/2014/main" id="{23DE41F2-7672-8B81-A0FB-F8501D38AEC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95936" y="2237105"/>
            <a:ext cx="4797425"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1" name="Text Box 7">
            <a:extLst>
              <a:ext uri="{FF2B5EF4-FFF2-40B4-BE49-F238E27FC236}">
                <a16:creationId xmlns:a16="http://schemas.microsoft.com/office/drawing/2014/main" id="{C34214E5-D619-B99E-7505-02F72A87CFD7}"/>
              </a:ext>
            </a:extLst>
          </p:cNvPr>
          <p:cNvSpPr txBox="1">
            <a:spLocks noChangeArrowheads="1"/>
          </p:cNvSpPr>
          <p:nvPr/>
        </p:nvSpPr>
        <p:spPr bwMode="auto">
          <a:xfrm>
            <a:off x="447874" y="2092642"/>
            <a:ext cx="4484687"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400"/>
              <a:t> </a:t>
            </a:r>
            <a:r>
              <a:rPr lang="zh-CN" altLang="en-US" sz="2400" b="1">
                <a:ea typeface="黑体" panose="02010609060101010101" pitchFamily="49" charset="-122"/>
              </a:rPr>
              <a:t>电势变化时，电枢电流和功率因数角同时改变，但也必须满足</a:t>
            </a:r>
            <a:r>
              <a:rPr lang="en-US" altLang="zh-CN" sz="2400">
                <a:latin typeface="Times New Roman" panose="02020603050405020304" pitchFamily="18" charset="0"/>
              </a:rPr>
              <a:t>I</a:t>
            </a:r>
            <a:r>
              <a:rPr lang="en-US" altLang="zh-CN" sz="2400" baseline="-25000">
                <a:latin typeface="Times New Roman" panose="02020603050405020304" pitchFamily="18" charset="0"/>
              </a:rPr>
              <a:t>a</a:t>
            </a:r>
            <a:r>
              <a:rPr lang="en-US" altLang="zh-CN" sz="2400">
                <a:latin typeface="Times New Roman" panose="02020603050405020304" pitchFamily="18" charset="0"/>
              </a:rPr>
              <a:t>cos</a:t>
            </a:r>
            <a:r>
              <a:rPr lang="en-US" altLang="zh-CN" sz="2400">
                <a:latin typeface="Symbol" panose="05050102010706020507" pitchFamily="18" charset="2"/>
              </a:rPr>
              <a:t>f</a:t>
            </a:r>
            <a:r>
              <a:rPr lang="en-US" altLang="zh-CN" sz="2400"/>
              <a:t>=</a:t>
            </a:r>
            <a:r>
              <a:rPr lang="zh-CN" altLang="en-US" sz="2400" b="1">
                <a:latin typeface="黑体" panose="02010609060101010101" pitchFamily="49" charset="-122"/>
                <a:ea typeface="黑体" panose="02010609060101010101" pitchFamily="49" charset="-122"/>
              </a:rPr>
              <a:t>常数，电流相量始终在与电压相量垂直的</a:t>
            </a:r>
            <a:r>
              <a:rPr lang="en-US" altLang="zh-CN" sz="2400" b="1">
                <a:latin typeface="黑体" panose="02010609060101010101" pitchFamily="49" charset="-122"/>
                <a:ea typeface="黑体" panose="02010609060101010101" pitchFamily="49" charset="-122"/>
              </a:rPr>
              <a:t>CD</a:t>
            </a:r>
            <a:r>
              <a:rPr lang="zh-CN" altLang="en-US" sz="2400" b="1">
                <a:latin typeface="黑体" panose="02010609060101010101" pitchFamily="49" charset="-122"/>
                <a:ea typeface="黑体" panose="02010609060101010101" pitchFamily="49" charset="-122"/>
              </a:rPr>
              <a:t>线上移动</a:t>
            </a:r>
            <a:r>
              <a:rPr lang="zh-CN" altLang="en-US" sz="2400"/>
              <a:t>。</a:t>
            </a:r>
          </a:p>
        </p:txBody>
      </p:sp>
      <p:sp>
        <p:nvSpPr>
          <p:cNvPr id="82952" name="Text Box 8">
            <a:extLst>
              <a:ext uri="{FF2B5EF4-FFF2-40B4-BE49-F238E27FC236}">
                <a16:creationId xmlns:a16="http://schemas.microsoft.com/office/drawing/2014/main" id="{FEAB351D-6B12-1904-4FFA-888C9C25AB9D}"/>
              </a:ext>
            </a:extLst>
          </p:cNvPr>
          <p:cNvSpPr txBox="1">
            <a:spLocks noChangeArrowheads="1"/>
          </p:cNvSpPr>
          <p:nvPr/>
        </p:nvSpPr>
        <p:spPr bwMode="auto">
          <a:xfrm>
            <a:off x="447874" y="3767455"/>
            <a:ext cx="36195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a:latin typeface="黑体" panose="02010609060101010101" pitchFamily="49" charset="-122"/>
                <a:ea typeface="黑体" panose="02010609060101010101" pitchFamily="49" charset="-122"/>
              </a:rPr>
              <a:t>励磁调到使</a:t>
            </a:r>
            <a:r>
              <a:rPr lang="en-US" altLang="zh-CN" sz="2400" b="1">
                <a:latin typeface="黑体" panose="02010609060101010101" pitchFamily="49" charset="-122"/>
                <a:ea typeface="黑体" panose="02010609060101010101" pitchFamily="49" charset="-122"/>
              </a:rPr>
              <a:t>I</a:t>
            </a:r>
            <a:r>
              <a:rPr lang="en-US" altLang="zh-CN" sz="2400" b="1" baseline="-25000">
                <a:latin typeface="黑体" panose="02010609060101010101" pitchFamily="49" charset="-122"/>
                <a:ea typeface="黑体" panose="02010609060101010101" pitchFamily="49" charset="-122"/>
              </a:rPr>
              <a:t>a</a:t>
            </a:r>
            <a:r>
              <a:rPr lang="zh-CN" altLang="en-US" sz="2400" b="1">
                <a:latin typeface="黑体" panose="02010609060101010101" pitchFamily="49" charset="-122"/>
                <a:ea typeface="黑体" panose="02010609060101010101" pitchFamily="49" charset="-122"/>
              </a:rPr>
              <a:t>与电压同相时功率因数为</a:t>
            </a:r>
            <a:r>
              <a:rPr lang="en-US" altLang="zh-CN" sz="2400" b="1">
                <a:latin typeface="黑体" panose="02010609060101010101" pitchFamily="49" charset="-122"/>
                <a:ea typeface="黑体" panose="02010609060101010101" pitchFamily="49" charset="-122"/>
              </a:rPr>
              <a:t>1</a:t>
            </a:r>
            <a:r>
              <a:rPr lang="zh-CN" altLang="en-US" sz="2400" b="1">
                <a:latin typeface="黑体" panose="02010609060101010101" pitchFamily="49" charset="-122"/>
                <a:ea typeface="黑体" panose="02010609060101010101" pitchFamily="49" charset="-122"/>
              </a:rPr>
              <a:t>，电机等同电阻性负载，对应励磁称为正常励磁。</a:t>
            </a:r>
          </a:p>
        </p:txBody>
      </p:sp>
      <p:sp>
        <p:nvSpPr>
          <p:cNvPr id="82953" name="Text Box 9">
            <a:extLst>
              <a:ext uri="{FF2B5EF4-FFF2-40B4-BE49-F238E27FC236}">
                <a16:creationId xmlns:a16="http://schemas.microsoft.com/office/drawing/2014/main" id="{BBB0769F-3FF8-2113-C823-A8052ABEFD44}"/>
              </a:ext>
            </a:extLst>
          </p:cNvPr>
          <p:cNvSpPr txBox="1">
            <a:spLocks noChangeArrowheads="1"/>
          </p:cNvSpPr>
          <p:nvPr/>
        </p:nvSpPr>
        <p:spPr bwMode="auto">
          <a:xfrm>
            <a:off x="539949" y="5332730"/>
            <a:ext cx="3706812"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a:latin typeface="黑体" panose="02010609060101010101" pitchFamily="49" charset="-122"/>
                <a:ea typeface="黑体" panose="02010609060101010101" pitchFamily="49" charset="-122"/>
              </a:rPr>
              <a:t>大于正常励磁称为过励。电流超前，</a:t>
            </a:r>
            <a:r>
              <a:rPr lang="en-US" altLang="zh-CN" sz="2400" b="1">
                <a:latin typeface="黑体" panose="02010609060101010101" pitchFamily="49" charset="-122"/>
                <a:ea typeface="黑体" panose="02010609060101010101" pitchFamily="49" charset="-122"/>
              </a:rPr>
              <a:t>Q&lt;0,</a:t>
            </a:r>
            <a:r>
              <a:rPr lang="zh-CN" altLang="en-US" sz="2400" b="1">
                <a:latin typeface="黑体" panose="02010609060101010101" pitchFamily="49" charset="-122"/>
                <a:ea typeface="黑体" panose="02010609060101010101" pitchFamily="49" charset="-122"/>
              </a:rPr>
              <a:t>电机相当于阻容性负载，可提高电源的功率因数。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2951"/>
                                        </p:tgtEl>
                                        <p:attrNameLst>
                                          <p:attrName>style.visibility</p:attrName>
                                        </p:attrNameLst>
                                      </p:cBhvr>
                                      <p:to>
                                        <p:strVal val="visible"/>
                                      </p:to>
                                    </p:set>
                                    <p:animEffect transition="in" filter="dissolve">
                                      <p:cBhvr>
                                        <p:cTn id="7" dur="500"/>
                                        <p:tgtEl>
                                          <p:spTgt spid="829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2952"/>
                                        </p:tgtEl>
                                        <p:attrNameLst>
                                          <p:attrName>style.visibility</p:attrName>
                                        </p:attrNameLst>
                                      </p:cBhvr>
                                      <p:to>
                                        <p:strVal val="visible"/>
                                      </p:to>
                                    </p:set>
                                    <p:animEffect transition="in" filter="dissolve">
                                      <p:cBhvr>
                                        <p:cTn id="12" dur="500"/>
                                        <p:tgtEl>
                                          <p:spTgt spid="829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2953"/>
                                        </p:tgtEl>
                                        <p:attrNameLst>
                                          <p:attrName>style.visibility</p:attrName>
                                        </p:attrNameLst>
                                      </p:cBhvr>
                                      <p:to>
                                        <p:strVal val="visible"/>
                                      </p:to>
                                    </p:set>
                                    <p:animEffect transition="in" filter="dissolve">
                                      <p:cBhvr>
                                        <p:cTn id="17" dur="500"/>
                                        <p:tgtEl>
                                          <p:spTgt spid="829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1" grpId="0" autoUpdateAnimBg="0"/>
      <p:bldP spid="82952" grpId="0" autoUpdateAnimBg="0"/>
      <p:bldP spid="8295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a:extLst>
              <a:ext uri="{FF2B5EF4-FFF2-40B4-BE49-F238E27FC236}">
                <a16:creationId xmlns:a16="http://schemas.microsoft.com/office/drawing/2014/main" id="{218F65A8-DB93-81F4-8E4C-286E4AACE4E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9EBF6D1-1ABB-4656-AB40-2092E7321409}" type="slidenum">
              <a:rPr lang="en-US" altLang="zh-CN" sz="1400" smtClean="0"/>
              <a:pPr>
                <a:spcBef>
                  <a:spcPct val="0"/>
                </a:spcBef>
                <a:buFontTx/>
                <a:buNone/>
              </a:pPr>
              <a:t>29</a:t>
            </a:fld>
            <a:endParaRPr lang="en-US" altLang="zh-CN" sz="1400"/>
          </a:p>
        </p:txBody>
      </p:sp>
      <p:sp>
        <p:nvSpPr>
          <p:cNvPr id="20483" name="Rectangle 2">
            <a:extLst>
              <a:ext uri="{FF2B5EF4-FFF2-40B4-BE49-F238E27FC236}">
                <a16:creationId xmlns:a16="http://schemas.microsoft.com/office/drawing/2014/main" id="{555E77DA-1A73-9EF5-AEE2-7D35CACDECD1}"/>
              </a:ext>
            </a:extLst>
          </p:cNvPr>
          <p:cNvSpPr>
            <a:spLocks noGrp="1" noChangeArrowheads="1"/>
          </p:cNvSpPr>
          <p:nvPr>
            <p:ph type="title"/>
          </p:nvPr>
        </p:nvSpPr>
        <p:spPr>
          <a:xfrm>
            <a:off x="7019925" y="333375"/>
            <a:ext cx="1666875" cy="1084263"/>
          </a:xfrm>
        </p:spPr>
        <p:txBody>
          <a:bodyPr/>
          <a:lstStyle/>
          <a:p>
            <a:pPr eaLnBrk="1" hangingPunct="1"/>
            <a:r>
              <a:rPr lang="zh-CN" altLang="en-US" b="1" dirty="0">
                <a:solidFill>
                  <a:srgbClr val="FF0000"/>
                </a:solidFill>
              </a:rPr>
              <a:t>讨论</a:t>
            </a:r>
            <a:r>
              <a:rPr lang="en-US" altLang="zh-CN" b="1" dirty="0">
                <a:solidFill>
                  <a:srgbClr val="FF0000"/>
                </a:solidFill>
              </a:rPr>
              <a:t>2</a:t>
            </a:r>
          </a:p>
        </p:txBody>
      </p:sp>
      <p:pic>
        <p:nvPicPr>
          <p:cNvPr id="20484" name="Picture 4">
            <a:extLst>
              <a:ext uri="{FF2B5EF4-FFF2-40B4-BE49-F238E27FC236}">
                <a16:creationId xmlns:a16="http://schemas.microsoft.com/office/drawing/2014/main" id="{13019FA7-9082-95D0-514D-19F4B1F4DA1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40200" y="1773238"/>
            <a:ext cx="4797425"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5">
            <a:extLst>
              <a:ext uri="{FF2B5EF4-FFF2-40B4-BE49-F238E27FC236}">
                <a16:creationId xmlns:a16="http://schemas.microsoft.com/office/drawing/2014/main" id="{6F758B57-BD8F-7A42-C701-2FA48D1CB62D}"/>
              </a:ext>
            </a:extLst>
          </p:cNvPr>
          <p:cNvSpPr>
            <a:spLocks noGrp="1" noChangeArrowheads="1"/>
          </p:cNvSpPr>
          <p:nvPr>
            <p:ph type="body" idx="1"/>
          </p:nvPr>
        </p:nvSpPr>
        <p:spPr>
          <a:xfrm>
            <a:off x="202641" y="875506"/>
            <a:ext cx="4330700" cy="1671638"/>
          </a:xfrm>
          <a:noFill/>
        </p:spPr>
        <p:txBody>
          <a:bodyPr/>
          <a:lstStyle/>
          <a:p>
            <a:pPr eaLnBrk="1" hangingPunct="1">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励磁电流小于正常励磁的状态称为欠励，电流滞后，与感应电机相似，</a:t>
            </a:r>
            <a:r>
              <a:rPr lang="en-US" altLang="zh-CN" b="1" dirty="0">
                <a:latin typeface="黑体" panose="02010609060101010101" pitchFamily="49" charset="-122"/>
                <a:ea typeface="黑体" panose="02010609060101010101" pitchFamily="49" charset="-122"/>
              </a:rPr>
              <a:t>Q&gt;0,</a:t>
            </a:r>
            <a:r>
              <a:rPr lang="zh-CN" altLang="en-US" b="1" dirty="0">
                <a:latin typeface="黑体" panose="02010609060101010101" pitchFamily="49" charset="-122"/>
                <a:ea typeface="黑体" panose="02010609060101010101" pitchFamily="49" charset="-122"/>
              </a:rPr>
              <a:t>电机相当于阻感性负载。</a:t>
            </a:r>
          </a:p>
        </p:txBody>
      </p:sp>
      <p:sp>
        <p:nvSpPr>
          <p:cNvPr id="83974" name="Text Box 6">
            <a:extLst>
              <a:ext uri="{FF2B5EF4-FFF2-40B4-BE49-F238E27FC236}">
                <a16:creationId xmlns:a16="http://schemas.microsoft.com/office/drawing/2014/main" id="{0856BB1A-1BB6-8870-9FEB-F9CC26A575D2}"/>
              </a:ext>
            </a:extLst>
          </p:cNvPr>
          <p:cNvSpPr txBox="1">
            <a:spLocks noChangeArrowheads="1"/>
          </p:cNvSpPr>
          <p:nvPr/>
        </p:nvSpPr>
        <p:spPr bwMode="auto">
          <a:xfrm>
            <a:off x="0" y="3401211"/>
            <a:ext cx="43307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dirty="0">
                <a:solidFill>
                  <a:srgbClr val="0000FF"/>
                </a:solidFill>
                <a:latin typeface="黑体" panose="02010609060101010101" pitchFamily="49" charset="-122"/>
                <a:ea typeface="黑体" panose="02010609060101010101" pitchFamily="49" charset="-122"/>
              </a:rPr>
              <a:t>结论</a:t>
            </a:r>
            <a:r>
              <a:rPr lang="zh-CN" altLang="en-US" sz="2800" b="1" dirty="0">
                <a:latin typeface="黑体" panose="02010609060101010101" pitchFamily="49" charset="-122"/>
                <a:ea typeface="黑体" panose="02010609060101010101" pitchFamily="49" charset="-122"/>
              </a:rPr>
              <a:t>：</a:t>
            </a:r>
          </a:p>
          <a:p>
            <a:pPr eaLnBrk="1" hangingPunct="1">
              <a:spcBef>
                <a:spcPct val="0"/>
              </a:spcBef>
              <a:buFontTx/>
              <a:buNone/>
            </a:pPr>
            <a:r>
              <a:rPr lang="zh-CN" altLang="en-US" sz="2800" b="1" dirty="0">
                <a:latin typeface="黑体" panose="02010609060101010101" pitchFamily="49" charset="-122"/>
                <a:ea typeface="黑体" panose="02010609060101010101" pitchFamily="49" charset="-122"/>
              </a:rPr>
              <a:t>   </a:t>
            </a:r>
            <a:r>
              <a:rPr lang="zh-CN" altLang="en-US" sz="2800" b="1" dirty="0">
                <a:solidFill>
                  <a:srgbClr val="0000FF"/>
                </a:solidFill>
                <a:latin typeface="黑体" panose="02010609060101010101" pitchFamily="49" charset="-122"/>
                <a:ea typeface="黑体" panose="02010609060101010101" pitchFamily="49" charset="-122"/>
              </a:rPr>
              <a:t>改变</a:t>
            </a:r>
            <a:r>
              <a:rPr lang="zh-CN" altLang="en-US" sz="2800" b="1" dirty="0">
                <a:latin typeface="黑体" panose="02010609060101010101" pitchFamily="49" charset="-122"/>
                <a:ea typeface="黑体" panose="02010609060101010101" pitchFamily="49" charset="-122"/>
              </a:rPr>
              <a:t>同步电机</a:t>
            </a:r>
            <a:r>
              <a:rPr lang="zh-CN" altLang="en-US" sz="2800" b="1" dirty="0">
                <a:solidFill>
                  <a:srgbClr val="0000FF"/>
                </a:solidFill>
                <a:latin typeface="黑体" panose="02010609060101010101" pitchFamily="49" charset="-122"/>
                <a:ea typeface="黑体" panose="02010609060101010101" pitchFamily="49" charset="-122"/>
              </a:rPr>
              <a:t>励磁</a:t>
            </a:r>
            <a:r>
              <a:rPr lang="zh-CN" altLang="en-US" sz="2800" b="1" dirty="0">
                <a:latin typeface="黑体" panose="02010609060101010101" pitchFamily="49" charset="-122"/>
                <a:ea typeface="黑体" panose="02010609060101010101" pitchFamily="49" charset="-122"/>
              </a:rPr>
              <a:t>电流就能在不改变输出有功功率的情况下</a:t>
            </a:r>
            <a:r>
              <a:rPr lang="zh-CN" altLang="en-US" sz="2800" b="1" dirty="0">
                <a:solidFill>
                  <a:srgbClr val="FF0000"/>
                </a:solidFill>
                <a:latin typeface="黑体" panose="02010609060101010101" pitchFamily="49" charset="-122"/>
                <a:ea typeface="黑体" panose="02010609060101010101" pitchFamily="49" charset="-122"/>
              </a:rPr>
              <a:t>改变其功率因数</a:t>
            </a:r>
            <a:r>
              <a:rPr lang="zh-CN" altLang="en-US" sz="2800" b="1" dirty="0">
                <a:latin typeface="黑体" panose="02010609060101010101" pitchFamily="49" charset="-122"/>
                <a:ea typeface="黑体" panose="02010609060101010101" pitchFamily="49" charset="-122"/>
              </a:rPr>
              <a:t>，这是同步机独具的优点，功角：有功分量，功率因数角：有功、无功分布，负载属性。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3974"/>
                                        </p:tgtEl>
                                        <p:attrNameLst>
                                          <p:attrName>style.visibility</p:attrName>
                                        </p:attrNameLst>
                                      </p:cBhvr>
                                      <p:to>
                                        <p:strVal val="visible"/>
                                      </p:to>
                                    </p:set>
                                    <p:animEffect transition="in" filter="blinds(horizontal)">
                                      <p:cBhvr>
                                        <p:cTn id="7" dur="500"/>
                                        <p:tgtEl>
                                          <p:spTgt spid="839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4"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a:extLst>
              <a:ext uri="{FF2B5EF4-FFF2-40B4-BE49-F238E27FC236}">
                <a16:creationId xmlns:a16="http://schemas.microsoft.com/office/drawing/2014/main" id="{86ECD296-6258-EA6A-1689-9DDDDF9C38BC}"/>
              </a:ext>
            </a:extLst>
          </p:cNvPr>
          <p:cNvSpPr>
            <a:spLocks noGrp="1"/>
          </p:cNvSpPr>
          <p:nvPr>
            <p:ph type="sldNum" sz="quarter" idx="12"/>
          </p:nvPr>
        </p:nvSpPr>
        <p:spPr>
          <a:xfrm>
            <a:off x="6876256" y="6453189"/>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7049860-511D-40BE-B956-289EA577F013}" type="slidenum">
              <a:rPr lang="en-US" altLang="zh-CN" sz="1400" smtClean="0"/>
              <a:pPr>
                <a:spcBef>
                  <a:spcPct val="0"/>
                </a:spcBef>
                <a:buFontTx/>
                <a:buNone/>
              </a:pPr>
              <a:t>30</a:t>
            </a:fld>
            <a:endParaRPr lang="en-US" altLang="zh-CN" sz="1400" dirty="0"/>
          </a:p>
        </p:txBody>
      </p:sp>
      <p:sp>
        <p:nvSpPr>
          <p:cNvPr id="21507" name="Rectangle 4">
            <a:extLst>
              <a:ext uri="{FF2B5EF4-FFF2-40B4-BE49-F238E27FC236}">
                <a16:creationId xmlns:a16="http://schemas.microsoft.com/office/drawing/2014/main" id="{BDBDEEFA-DBA0-2A7B-B648-3612890CC619}"/>
              </a:ext>
            </a:extLst>
          </p:cNvPr>
          <p:cNvSpPr>
            <a:spLocks noGrp="1" noChangeArrowheads="1"/>
          </p:cNvSpPr>
          <p:nvPr>
            <p:ph type="title"/>
          </p:nvPr>
        </p:nvSpPr>
        <p:spPr>
          <a:xfrm>
            <a:off x="323528" y="1012825"/>
            <a:ext cx="8291513" cy="1498600"/>
          </a:xfrm>
          <a:noFill/>
        </p:spPr>
        <p:txBody>
          <a:bodyPr/>
          <a:lstStyle/>
          <a:p>
            <a:pPr algn="l" eaLnBrk="1" hangingPunct="1"/>
            <a:r>
              <a:rPr lang="zh-CN" altLang="en-US" sz="2800" b="1"/>
              <a:t>例</a:t>
            </a:r>
            <a:r>
              <a:rPr lang="en-US" altLang="zh-CN" sz="2800" b="1"/>
              <a:t>4</a:t>
            </a:r>
            <a:r>
              <a:rPr lang="zh-CN" altLang="en-US" sz="2800" b="1"/>
              <a:t>：假定有三台电动机由一定距离的</a:t>
            </a:r>
            <a:r>
              <a:rPr lang="en-US" altLang="zh-CN" sz="2800" b="1"/>
              <a:t>480V</a:t>
            </a:r>
            <a:r>
              <a:rPr lang="zh-CN" altLang="en-US" sz="2800" b="1"/>
              <a:t>无穷大电网供电。感应电动机</a:t>
            </a:r>
            <a:r>
              <a:rPr lang="en-US" altLang="zh-CN" sz="2800" b="1"/>
              <a:t>1</a:t>
            </a:r>
            <a:r>
              <a:rPr lang="zh-CN" altLang="en-US" sz="2800" b="1"/>
              <a:t>消耗功率</a:t>
            </a:r>
            <a:r>
              <a:rPr lang="en-US" altLang="zh-CN" sz="2800" b="1"/>
              <a:t>100kW</a:t>
            </a:r>
            <a:r>
              <a:rPr lang="zh-CN" altLang="en-US" sz="2800" b="1"/>
              <a:t>，功率因数为</a:t>
            </a:r>
            <a:r>
              <a:rPr lang="en-US" altLang="zh-CN" sz="2800" b="1"/>
              <a:t>0.78</a:t>
            </a:r>
            <a:r>
              <a:rPr lang="zh-CN" altLang="en-US" sz="2800" b="1"/>
              <a:t>滞后；电机</a:t>
            </a:r>
            <a:r>
              <a:rPr lang="en-US" altLang="zh-CN" sz="2800" b="1"/>
              <a:t>2</a:t>
            </a:r>
            <a:r>
              <a:rPr lang="zh-CN" altLang="en-US" sz="2800" b="1"/>
              <a:t>消耗</a:t>
            </a:r>
            <a:r>
              <a:rPr lang="en-US" altLang="zh-CN" sz="2800" b="1"/>
              <a:t>200kW</a:t>
            </a:r>
            <a:r>
              <a:rPr lang="zh-CN" altLang="en-US" sz="2800" b="1"/>
              <a:t>，功率因数</a:t>
            </a:r>
            <a:r>
              <a:rPr lang="en-US" altLang="zh-CN" sz="2800" b="1"/>
              <a:t>0.8</a:t>
            </a:r>
            <a:r>
              <a:rPr lang="zh-CN" altLang="en-US" sz="2800" b="1"/>
              <a:t>滞后；第</a:t>
            </a:r>
            <a:r>
              <a:rPr lang="en-US" altLang="zh-CN" sz="2800" b="1"/>
              <a:t>3</a:t>
            </a:r>
            <a:r>
              <a:rPr lang="zh-CN" altLang="en-US" sz="2800" b="1"/>
              <a:t>台为同步电动机，消耗功率</a:t>
            </a:r>
            <a:r>
              <a:rPr lang="en-US" altLang="zh-CN" sz="2800" b="1"/>
              <a:t>150kW</a:t>
            </a:r>
            <a:r>
              <a:rPr lang="zh-CN" altLang="en-US" sz="2800" b="1"/>
              <a:t>。</a:t>
            </a:r>
          </a:p>
        </p:txBody>
      </p:sp>
      <p:sp>
        <p:nvSpPr>
          <p:cNvPr id="21508" name="Rectangle 5">
            <a:extLst>
              <a:ext uri="{FF2B5EF4-FFF2-40B4-BE49-F238E27FC236}">
                <a16:creationId xmlns:a16="http://schemas.microsoft.com/office/drawing/2014/main" id="{2A2A2D17-B2A2-48E9-7AFA-DD966D115B26}"/>
              </a:ext>
            </a:extLst>
          </p:cNvPr>
          <p:cNvSpPr>
            <a:spLocks noGrp="1" noChangeArrowheads="1"/>
          </p:cNvSpPr>
          <p:nvPr>
            <p:ph type="body" idx="1"/>
          </p:nvPr>
        </p:nvSpPr>
        <p:spPr>
          <a:xfrm>
            <a:off x="323528" y="2578100"/>
            <a:ext cx="8218488" cy="1008062"/>
          </a:xfrm>
          <a:noFill/>
        </p:spPr>
        <p:txBody>
          <a:bodyPr/>
          <a:lstStyle/>
          <a:p>
            <a:pPr marL="609600" indent="-609600" eaLnBrk="1" hangingPunct="1">
              <a:buFontTx/>
              <a:buAutoNum type="arabicParenR"/>
            </a:pPr>
            <a:r>
              <a:rPr lang="zh-CN" altLang="en-US" sz="2800" b="1" dirty="0"/>
              <a:t>如果同步电动机被调节到运行于</a:t>
            </a:r>
            <a:r>
              <a:rPr lang="en-US" altLang="zh-CN" sz="2800" b="1" dirty="0"/>
              <a:t>0.85</a:t>
            </a:r>
            <a:r>
              <a:rPr lang="zh-CN" altLang="en-US" sz="2800" b="1" dirty="0"/>
              <a:t>滞后功率因数，这个系统的传输线电流是多少？</a:t>
            </a:r>
          </a:p>
        </p:txBody>
      </p:sp>
      <p:sp>
        <p:nvSpPr>
          <p:cNvPr id="21509" name="Rectangle 6">
            <a:extLst>
              <a:ext uri="{FF2B5EF4-FFF2-40B4-BE49-F238E27FC236}">
                <a16:creationId xmlns:a16="http://schemas.microsoft.com/office/drawing/2014/main" id="{C1CE7F81-52BF-5DCB-E2D7-62A7014C2EED}"/>
              </a:ext>
            </a:extLst>
          </p:cNvPr>
          <p:cNvSpPr>
            <a:spLocks noChangeArrowheads="1"/>
          </p:cNvSpPr>
          <p:nvPr/>
        </p:nvSpPr>
        <p:spPr bwMode="auto">
          <a:xfrm>
            <a:off x="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sp>
        <p:nvSpPr>
          <p:cNvPr id="21510" name="Rectangle 8">
            <a:extLst>
              <a:ext uri="{FF2B5EF4-FFF2-40B4-BE49-F238E27FC236}">
                <a16:creationId xmlns:a16="http://schemas.microsoft.com/office/drawing/2014/main" id="{D960255F-6ACE-D3E2-5D41-AA7B92CE112C}"/>
              </a:ext>
            </a:extLst>
          </p:cNvPr>
          <p:cNvSpPr>
            <a:spLocks noChangeArrowheads="1"/>
          </p:cNvSpPr>
          <p:nvPr/>
        </p:nvSpPr>
        <p:spPr bwMode="auto">
          <a:xfrm>
            <a:off x="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81929" name="Object 9">
            <a:extLst>
              <a:ext uri="{FF2B5EF4-FFF2-40B4-BE49-F238E27FC236}">
                <a16:creationId xmlns:a16="http://schemas.microsoft.com/office/drawing/2014/main" id="{DA2F8CA4-5055-288C-4E40-F061522E5769}"/>
              </a:ext>
            </a:extLst>
          </p:cNvPr>
          <p:cNvGraphicFramePr>
            <a:graphicFrameLocks noChangeAspect="1"/>
          </p:cNvGraphicFramePr>
          <p:nvPr>
            <p:extLst>
              <p:ext uri="{D42A27DB-BD31-4B8C-83A1-F6EECF244321}">
                <p14:modId xmlns:p14="http://schemas.microsoft.com/office/powerpoint/2010/main" val="1746751007"/>
              </p:ext>
            </p:extLst>
          </p:nvPr>
        </p:nvGraphicFramePr>
        <p:xfrm>
          <a:off x="1019519" y="4488815"/>
          <a:ext cx="4897438" cy="898525"/>
        </p:xfrm>
        <a:graphic>
          <a:graphicData uri="http://schemas.openxmlformats.org/presentationml/2006/ole">
            <mc:AlternateContent xmlns:mc="http://schemas.openxmlformats.org/markup-compatibility/2006">
              <mc:Choice xmlns:v="urn:schemas-microsoft-com:vml" Requires="v">
                <p:oleObj name="Equation" r:id="rId2" imgW="2540000" imgH="469900" progId="Equation.DSMT4">
                  <p:embed/>
                </p:oleObj>
              </mc:Choice>
              <mc:Fallback>
                <p:oleObj name="Equation" r:id="rId2" imgW="2540000" imgH="469900" progId="Equation.DSMT4">
                  <p:embed/>
                  <p:pic>
                    <p:nvPicPr>
                      <p:cNvPr id="81929" name="Object 9">
                        <a:extLst>
                          <a:ext uri="{FF2B5EF4-FFF2-40B4-BE49-F238E27FC236}">
                            <a16:creationId xmlns:a16="http://schemas.microsoft.com/office/drawing/2014/main" id="{DA2F8CA4-5055-288C-4E40-F061522E57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519" y="4488815"/>
                        <a:ext cx="4897438"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2" name="Rectangle 10">
            <a:extLst>
              <a:ext uri="{FF2B5EF4-FFF2-40B4-BE49-F238E27FC236}">
                <a16:creationId xmlns:a16="http://schemas.microsoft.com/office/drawing/2014/main" id="{37BFAD60-D7B7-26C3-74A0-209F8A93CB60}"/>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81931" name="Object 11">
            <a:extLst>
              <a:ext uri="{FF2B5EF4-FFF2-40B4-BE49-F238E27FC236}">
                <a16:creationId xmlns:a16="http://schemas.microsoft.com/office/drawing/2014/main" id="{9F5F9779-FADA-0382-952A-8BD7B4ED3692}"/>
              </a:ext>
            </a:extLst>
          </p:cNvPr>
          <p:cNvGraphicFramePr>
            <a:graphicFrameLocks noChangeAspect="1"/>
          </p:cNvGraphicFramePr>
          <p:nvPr>
            <p:extLst>
              <p:ext uri="{D42A27DB-BD31-4B8C-83A1-F6EECF244321}">
                <p14:modId xmlns:p14="http://schemas.microsoft.com/office/powerpoint/2010/main" val="436482945"/>
              </p:ext>
            </p:extLst>
          </p:nvPr>
        </p:nvGraphicFramePr>
        <p:xfrm>
          <a:off x="1006953" y="5395915"/>
          <a:ext cx="5040313" cy="973137"/>
        </p:xfrm>
        <a:graphic>
          <a:graphicData uri="http://schemas.openxmlformats.org/presentationml/2006/ole">
            <mc:AlternateContent xmlns:mc="http://schemas.openxmlformats.org/markup-compatibility/2006">
              <mc:Choice xmlns:v="urn:schemas-microsoft-com:vml" Requires="v">
                <p:oleObj name="Equation" r:id="rId4" imgW="2514600" imgH="482600" progId="Equation.DSMT4">
                  <p:embed/>
                </p:oleObj>
              </mc:Choice>
              <mc:Fallback>
                <p:oleObj name="Equation" r:id="rId4" imgW="2514600" imgH="482600" progId="Equation.DSMT4">
                  <p:embed/>
                  <p:pic>
                    <p:nvPicPr>
                      <p:cNvPr id="81931" name="Object 11">
                        <a:extLst>
                          <a:ext uri="{FF2B5EF4-FFF2-40B4-BE49-F238E27FC236}">
                            <a16:creationId xmlns:a16="http://schemas.microsoft.com/office/drawing/2014/main" id="{9F5F9779-FADA-0382-952A-8BD7B4ED36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6953" y="5395915"/>
                        <a:ext cx="5040313"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1935" name="Group 15">
            <a:extLst>
              <a:ext uri="{FF2B5EF4-FFF2-40B4-BE49-F238E27FC236}">
                <a16:creationId xmlns:a16="http://schemas.microsoft.com/office/drawing/2014/main" id="{1CD2BB18-FD4B-E8E1-032C-6E9375C1E20E}"/>
              </a:ext>
            </a:extLst>
          </p:cNvPr>
          <p:cNvGrpSpPr>
            <a:grpSpLocks/>
          </p:cNvGrpSpPr>
          <p:nvPr/>
        </p:nvGrpSpPr>
        <p:grpSpPr bwMode="auto">
          <a:xfrm>
            <a:off x="300381" y="3308350"/>
            <a:ext cx="5759450" cy="1187450"/>
            <a:chOff x="295" y="1706"/>
            <a:chExt cx="3628" cy="748"/>
          </a:xfrm>
        </p:grpSpPr>
        <p:graphicFrame>
          <p:nvGraphicFramePr>
            <p:cNvPr id="21517" name="Object 7">
              <a:extLst>
                <a:ext uri="{FF2B5EF4-FFF2-40B4-BE49-F238E27FC236}">
                  <a16:creationId xmlns:a16="http://schemas.microsoft.com/office/drawing/2014/main" id="{2545F025-292C-E363-BBD8-2DB94C86BB56}"/>
                </a:ext>
              </a:extLst>
            </p:cNvPr>
            <p:cNvGraphicFramePr>
              <a:graphicFrameLocks noChangeAspect="1"/>
            </p:cNvGraphicFramePr>
            <p:nvPr/>
          </p:nvGraphicFramePr>
          <p:xfrm>
            <a:off x="748" y="1888"/>
            <a:ext cx="3175" cy="566"/>
          </p:xfrm>
          <a:graphic>
            <a:graphicData uri="http://schemas.openxmlformats.org/presentationml/2006/ole">
              <mc:AlternateContent xmlns:mc="http://schemas.openxmlformats.org/markup-compatibility/2006">
                <mc:Choice xmlns:v="urn:schemas-microsoft-com:vml" Requires="v">
                  <p:oleObj name="Equation" r:id="rId6" imgW="2616200" imgH="469900" progId="Equation.DSMT4">
                    <p:embed/>
                  </p:oleObj>
                </mc:Choice>
                <mc:Fallback>
                  <p:oleObj name="Equation" r:id="rId6" imgW="2616200" imgH="469900" progId="Equation.DSMT4">
                    <p:embed/>
                    <p:pic>
                      <p:nvPicPr>
                        <p:cNvPr id="21517" name="Object 7">
                          <a:extLst>
                            <a:ext uri="{FF2B5EF4-FFF2-40B4-BE49-F238E27FC236}">
                              <a16:creationId xmlns:a16="http://schemas.microsoft.com/office/drawing/2014/main" id="{2545F025-292C-E363-BBD8-2DB94C86BB5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8" y="1888"/>
                          <a:ext cx="3175"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8" name="Text Box 12">
              <a:extLst>
                <a:ext uri="{FF2B5EF4-FFF2-40B4-BE49-F238E27FC236}">
                  <a16:creationId xmlns:a16="http://schemas.microsoft.com/office/drawing/2014/main" id="{B49F16AA-36FA-F815-0AE7-775F23218BEE}"/>
                </a:ext>
              </a:extLst>
            </p:cNvPr>
            <p:cNvSpPr txBox="1">
              <a:spLocks noChangeArrowheads="1"/>
            </p:cNvSpPr>
            <p:nvPr/>
          </p:nvSpPr>
          <p:spPr bwMode="auto">
            <a:xfrm>
              <a:off x="295" y="1706"/>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t>解：</a:t>
              </a:r>
            </a:p>
          </p:txBody>
        </p:sp>
      </p:grpSp>
      <p:sp>
        <p:nvSpPr>
          <p:cNvPr id="81933" name="Text Box 13">
            <a:extLst>
              <a:ext uri="{FF2B5EF4-FFF2-40B4-BE49-F238E27FC236}">
                <a16:creationId xmlns:a16="http://schemas.microsoft.com/office/drawing/2014/main" id="{93998A37-42B7-040C-A737-7D8CDA4BA1A0}"/>
              </a:ext>
            </a:extLst>
          </p:cNvPr>
          <p:cNvSpPr txBox="1">
            <a:spLocks noChangeArrowheads="1"/>
          </p:cNvSpPr>
          <p:nvPr/>
        </p:nvSpPr>
        <p:spPr bwMode="auto">
          <a:xfrm>
            <a:off x="1019519" y="6369052"/>
            <a:ext cx="6691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ea typeface="黑体" panose="02010609060101010101" pitchFamily="49" charset="-122"/>
              </a:rPr>
              <a:t>总有功功率：</a:t>
            </a:r>
            <a:r>
              <a:rPr lang="en-US" altLang="zh-CN" sz="2400" b="1" dirty="0">
                <a:ea typeface="黑体" panose="02010609060101010101" pitchFamily="49" charset="-122"/>
              </a:rPr>
              <a:t>450kW</a:t>
            </a:r>
            <a:r>
              <a:rPr lang="zh-CN" altLang="en-US" sz="2400" b="1" dirty="0">
                <a:ea typeface="黑体" panose="02010609060101010101" pitchFamily="49" charset="-122"/>
              </a:rPr>
              <a:t>；总无功功率：</a:t>
            </a:r>
            <a:r>
              <a:rPr lang="en-US" altLang="zh-CN" sz="2400" b="1" dirty="0">
                <a:ea typeface="黑体" panose="02010609060101010101" pitchFamily="49" charset="-122"/>
              </a:rPr>
              <a:t>323.2kVAR</a:t>
            </a:r>
          </a:p>
        </p:txBody>
      </p:sp>
      <p:sp>
        <p:nvSpPr>
          <p:cNvPr id="81934" name="AutoShape 14">
            <a:extLst>
              <a:ext uri="{FF2B5EF4-FFF2-40B4-BE49-F238E27FC236}">
                <a16:creationId xmlns:a16="http://schemas.microsoft.com/office/drawing/2014/main" id="{C28BA313-135F-05E8-AAC0-C1EACF5CD12A}"/>
              </a:ext>
            </a:extLst>
          </p:cNvPr>
          <p:cNvSpPr>
            <a:spLocks noChangeArrowheads="1"/>
          </p:cNvSpPr>
          <p:nvPr/>
        </p:nvSpPr>
        <p:spPr bwMode="auto">
          <a:xfrm>
            <a:off x="6598916" y="3446462"/>
            <a:ext cx="1905000" cy="1371600"/>
          </a:xfrm>
          <a:prstGeom prst="wedgeRoundRectCallout">
            <a:avLst>
              <a:gd name="adj1" fmla="val -79417"/>
              <a:gd name="adj2" fmla="val 10417"/>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ea typeface="黑体" panose="02010609060101010101" pitchFamily="49" charset="-122"/>
              </a:rPr>
              <a:t>功率因数滞后则</a:t>
            </a:r>
            <a:r>
              <a:rPr lang="en-US" altLang="zh-CN" sz="2400" b="1">
                <a:ea typeface="黑体" panose="02010609060101010101" pitchFamily="49" charset="-122"/>
              </a:rPr>
              <a:t>Q&gt;0</a:t>
            </a:r>
            <a:r>
              <a:rPr lang="zh-CN" altLang="en-US" sz="2400" b="1">
                <a:ea typeface="黑体" panose="02010609060101010101" pitchFamily="49" charset="-122"/>
              </a:rPr>
              <a:t>；超前则</a:t>
            </a:r>
            <a:r>
              <a:rPr lang="en-US" altLang="zh-CN" sz="2400" b="1">
                <a:ea typeface="黑体" panose="02010609060101010101" pitchFamily="49" charset="-122"/>
              </a:rPr>
              <a:t>Q&lt;0.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1935"/>
                                        </p:tgtEl>
                                        <p:attrNameLst>
                                          <p:attrName>style.visibility</p:attrName>
                                        </p:attrNameLst>
                                      </p:cBhvr>
                                      <p:to>
                                        <p:strVal val="visible"/>
                                      </p:to>
                                    </p:set>
                                    <p:animEffect transition="in" filter="blinds(horizontal)">
                                      <p:cBhvr>
                                        <p:cTn id="7" dur="500"/>
                                        <p:tgtEl>
                                          <p:spTgt spid="819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1934"/>
                                        </p:tgtEl>
                                        <p:attrNameLst>
                                          <p:attrName>style.visibility</p:attrName>
                                        </p:attrNameLst>
                                      </p:cBhvr>
                                      <p:to>
                                        <p:strVal val="visible"/>
                                      </p:to>
                                    </p:set>
                                    <p:animEffect transition="in" filter="blinds(horizontal)">
                                      <p:cBhvr>
                                        <p:cTn id="12" dur="500"/>
                                        <p:tgtEl>
                                          <p:spTgt spid="819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1929"/>
                                        </p:tgtEl>
                                        <p:attrNameLst>
                                          <p:attrName>style.visibility</p:attrName>
                                        </p:attrNameLst>
                                      </p:cBhvr>
                                      <p:to>
                                        <p:strVal val="visible"/>
                                      </p:to>
                                    </p:set>
                                    <p:animEffect transition="in" filter="blinds(horizontal)">
                                      <p:cBhvr>
                                        <p:cTn id="17" dur="500"/>
                                        <p:tgtEl>
                                          <p:spTgt spid="819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81931"/>
                                        </p:tgtEl>
                                        <p:attrNameLst>
                                          <p:attrName>style.visibility</p:attrName>
                                        </p:attrNameLst>
                                      </p:cBhvr>
                                      <p:to>
                                        <p:strVal val="visible"/>
                                      </p:to>
                                    </p:set>
                                    <p:animEffect transition="in" filter="blinds(horizontal)">
                                      <p:cBhvr>
                                        <p:cTn id="22" dur="500"/>
                                        <p:tgtEl>
                                          <p:spTgt spid="819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1933"/>
                                        </p:tgtEl>
                                        <p:attrNameLst>
                                          <p:attrName>style.visibility</p:attrName>
                                        </p:attrNameLst>
                                      </p:cBhvr>
                                      <p:to>
                                        <p:strVal val="visible"/>
                                      </p:to>
                                    </p:set>
                                    <p:animEffect transition="in" filter="dissolve">
                                      <p:cBhvr>
                                        <p:cTn id="27" dur="500"/>
                                        <p:tgtEl>
                                          <p:spTgt spid="81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3" grpId="0" autoUpdateAnimBg="0"/>
      <p:bldP spid="81934"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42CAD5DE-CB9C-9A08-74FB-77D99C2F073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793CF11-C1E0-44D5-92A6-8AC10861A9F7}" type="slidenum">
              <a:rPr lang="en-US" altLang="zh-CN" sz="1400" smtClean="0"/>
              <a:pPr>
                <a:spcBef>
                  <a:spcPct val="0"/>
                </a:spcBef>
                <a:buFontTx/>
                <a:buNone/>
              </a:pPr>
              <a:t>31</a:t>
            </a:fld>
            <a:endParaRPr lang="en-US" altLang="zh-CN" sz="1400"/>
          </a:p>
        </p:txBody>
      </p:sp>
      <p:sp>
        <p:nvSpPr>
          <p:cNvPr id="22532" name="Rectangle 3">
            <a:extLst>
              <a:ext uri="{FF2B5EF4-FFF2-40B4-BE49-F238E27FC236}">
                <a16:creationId xmlns:a16="http://schemas.microsoft.com/office/drawing/2014/main" id="{083B4BCF-E642-D8B1-5218-559FE36A5F69}"/>
              </a:ext>
            </a:extLst>
          </p:cNvPr>
          <p:cNvSpPr>
            <a:spLocks noGrp="1" noChangeArrowheads="1"/>
          </p:cNvSpPr>
          <p:nvPr>
            <p:ph type="body" idx="1"/>
          </p:nvPr>
        </p:nvSpPr>
        <p:spPr>
          <a:xfrm>
            <a:off x="621502" y="823912"/>
            <a:ext cx="2447925" cy="719138"/>
          </a:xfrm>
        </p:spPr>
        <p:txBody>
          <a:bodyPr/>
          <a:lstStyle/>
          <a:p>
            <a:pPr eaLnBrk="1" hangingPunct="1">
              <a:buFontTx/>
              <a:buNone/>
            </a:pPr>
            <a:r>
              <a:rPr lang="zh-CN" altLang="en-US" sz="2400" b="1" dirty="0">
                <a:ea typeface="黑体" panose="02010609060101010101" pitchFamily="49" charset="-122"/>
              </a:rPr>
              <a:t>系统功率因数：</a:t>
            </a:r>
          </a:p>
        </p:txBody>
      </p:sp>
      <p:sp>
        <p:nvSpPr>
          <p:cNvPr id="22533" name="Rectangle 5">
            <a:extLst>
              <a:ext uri="{FF2B5EF4-FFF2-40B4-BE49-F238E27FC236}">
                <a16:creationId xmlns:a16="http://schemas.microsoft.com/office/drawing/2014/main" id="{DD781A04-909C-D3F9-9E71-E8C9AA9D1609}"/>
              </a:ext>
            </a:extLst>
          </p:cNvPr>
          <p:cNvSpPr>
            <a:spLocks noChangeArrowheads="1"/>
          </p:cNvSpPr>
          <p:nvPr/>
        </p:nvSpPr>
        <p:spPr bwMode="auto">
          <a:xfrm>
            <a:off x="0"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22534" name="Object 4">
            <a:extLst>
              <a:ext uri="{FF2B5EF4-FFF2-40B4-BE49-F238E27FC236}">
                <a16:creationId xmlns:a16="http://schemas.microsoft.com/office/drawing/2014/main" id="{4B6B52FD-5A15-23D7-E0C6-B8D5C0391147}"/>
              </a:ext>
            </a:extLst>
          </p:cNvPr>
          <p:cNvGraphicFramePr>
            <a:graphicFrameLocks noChangeAspect="1"/>
          </p:cNvGraphicFramePr>
          <p:nvPr>
            <p:extLst>
              <p:ext uri="{D42A27DB-BD31-4B8C-83A1-F6EECF244321}">
                <p14:modId xmlns:p14="http://schemas.microsoft.com/office/powerpoint/2010/main" val="889979697"/>
              </p:ext>
            </p:extLst>
          </p:nvPr>
        </p:nvGraphicFramePr>
        <p:xfrm>
          <a:off x="563563" y="1111729"/>
          <a:ext cx="7056437" cy="787400"/>
        </p:xfrm>
        <a:graphic>
          <a:graphicData uri="http://schemas.openxmlformats.org/presentationml/2006/ole">
            <mc:AlternateContent xmlns:mc="http://schemas.openxmlformats.org/markup-compatibility/2006">
              <mc:Choice xmlns:v="urn:schemas-microsoft-com:vml" Requires="v">
                <p:oleObj name="Equation" r:id="rId2" imgW="3492500" imgH="393700" progId="Equation.DSMT4">
                  <p:embed/>
                </p:oleObj>
              </mc:Choice>
              <mc:Fallback>
                <p:oleObj name="Equation" r:id="rId2" imgW="3492500" imgH="393700" progId="Equation.DSMT4">
                  <p:embed/>
                  <p:pic>
                    <p:nvPicPr>
                      <p:cNvPr id="22534" name="Object 4">
                        <a:extLst>
                          <a:ext uri="{FF2B5EF4-FFF2-40B4-BE49-F238E27FC236}">
                            <a16:creationId xmlns:a16="http://schemas.microsoft.com/office/drawing/2014/main" id="{4B6B52FD-5A15-23D7-E0C6-B8D5C03911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563" y="1111729"/>
                        <a:ext cx="7056437"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5" name="Object 6">
            <a:extLst>
              <a:ext uri="{FF2B5EF4-FFF2-40B4-BE49-F238E27FC236}">
                <a16:creationId xmlns:a16="http://schemas.microsoft.com/office/drawing/2014/main" id="{3A160828-B135-200B-58F9-C6BFA4C3C625}"/>
              </a:ext>
            </a:extLst>
          </p:cNvPr>
          <p:cNvGraphicFramePr>
            <a:graphicFrameLocks noChangeAspect="1"/>
          </p:cNvGraphicFramePr>
          <p:nvPr>
            <p:extLst>
              <p:ext uri="{D42A27DB-BD31-4B8C-83A1-F6EECF244321}">
                <p14:modId xmlns:p14="http://schemas.microsoft.com/office/powerpoint/2010/main" val="264917491"/>
              </p:ext>
            </p:extLst>
          </p:nvPr>
        </p:nvGraphicFramePr>
        <p:xfrm>
          <a:off x="621502" y="1835312"/>
          <a:ext cx="5761037" cy="987425"/>
        </p:xfrm>
        <a:graphic>
          <a:graphicData uri="http://schemas.openxmlformats.org/presentationml/2006/ole">
            <mc:AlternateContent xmlns:mc="http://schemas.openxmlformats.org/markup-compatibility/2006">
              <mc:Choice xmlns:v="urn:schemas-microsoft-com:vml" Requires="v">
                <p:oleObj name="Equation" r:id="rId4" imgW="2667000" imgH="457200" progId="Equation.DSMT4">
                  <p:embed/>
                </p:oleObj>
              </mc:Choice>
              <mc:Fallback>
                <p:oleObj name="Equation" r:id="rId4" imgW="2667000" imgH="457200" progId="Equation.DSMT4">
                  <p:embed/>
                  <p:pic>
                    <p:nvPicPr>
                      <p:cNvPr id="22535" name="Object 6">
                        <a:extLst>
                          <a:ext uri="{FF2B5EF4-FFF2-40B4-BE49-F238E27FC236}">
                            <a16:creationId xmlns:a16="http://schemas.microsoft.com/office/drawing/2014/main" id="{3A160828-B135-200B-58F9-C6BFA4C3C6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502" y="1835312"/>
                        <a:ext cx="5761037"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6" name="Text Box 9">
            <a:extLst>
              <a:ext uri="{FF2B5EF4-FFF2-40B4-BE49-F238E27FC236}">
                <a16:creationId xmlns:a16="http://schemas.microsoft.com/office/drawing/2014/main" id="{0F557BF1-1BC2-BEE6-CDEE-A9D3786DFA75}"/>
              </a:ext>
            </a:extLst>
          </p:cNvPr>
          <p:cNvSpPr txBox="1">
            <a:spLocks noChangeArrowheads="1"/>
          </p:cNvSpPr>
          <p:nvPr/>
        </p:nvSpPr>
        <p:spPr bwMode="auto">
          <a:xfrm>
            <a:off x="387822" y="2739232"/>
            <a:ext cx="8280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800100" indent="-342900">
              <a:defRPr sz="2400">
                <a:solidFill>
                  <a:schemeClr val="tx1"/>
                </a:solidFill>
                <a:latin typeface="Arial" panose="020B0604020202020204" pitchFamily="34" charset="0"/>
                <a:ea typeface="宋体" panose="02010600030101010101" pitchFamily="2" charset="-122"/>
              </a:defRPr>
            </a:lvl2pPr>
            <a:lvl3pPr marL="1257300" indent="-342900">
              <a:defRPr sz="2400">
                <a:solidFill>
                  <a:schemeClr val="tx1"/>
                </a:solidFill>
                <a:latin typeface="Arial" panose="020B0604020202020204" pitchFamily="34" charset="0"/>
                <a:ea typeface="宋体" panose="02010600030101010101" pitchFamily="2" charset="-122"/>
              </a:defRPr>
            </a:lvl3pPr>
            <a:lvl4pPr marL="1714500" indent="-342900">
              <a:defRPr sz="2400">
                <a:solidFill>
                  <a:schemeClr val="tx1"/>
                </a:solidFill>
                <a:latin typeface="Arial" panose="020B0604020202020204" pitchFamily="34" charset="0"/>
                <a:ea typeface="宋体" panose="02010600030101010101" pitchFamily="2" charset="-122"/>
              </a:defRPr>
            </a:lvl4pPr>
            <a:lvl5pPr marL="2171700" indent="-342900">
              <a:defRPr sz="2400">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Tx/>
              <a:buAutoNum type="arabicParenR" startAt="2"/>
            </a:pPr>
            <a:r>
              <a:rPr lang="zh-CN" altLang="en-US" b="1" dirty="0">
                <a:ea typeface="黑体" panose="02010609060101010101" pitchFamily="49" charset="-122"/>
              </a:rPr>
              <a:t>如果同步电动机运行于</a:t>
            </a:r>
            <a:r>
              <a:rPr lang="en-US" altLang="zh-CN" b="1" dirty="0">
                <a:ea typeface="黑体" panose="02010609060101010101" pitchFamily="49" charset="-122"/>
              </a:rPr>
              <a:t>0.85</a:t>
            </a:r>
            <a:r>
              <a:rPr lang="zh-CN" altLang="en-US" b="1" dirty="0">
                <a:ea typeface="黑体" panose="02010609060101010101" pitchFamily="49" charset="-122"/>
              </a:rPr>
              <a:t>超前功率因数，这个系统的传输线电流是多少？</a:t>
            </a:r>
          </a:p>
        </p:txBody>
      </p:sp>
      <p:sp>
        <p:nvSpPr>
          <p:cNvPr id="22537" name="Text Box 10">
            <a:extLst>
              <a:ext uri="{FF2B5EF4-FFF2-40B4-BE49-F238E27FC236}">
                <a16:creationId xmlns:a16="http://schemas.microsoft.com/office/drawing/2014/main" id="{131FDE94-9426-15A5-A663-01A9A6393808}"/>
              </a:ext>
            </a:extLst>
          </p:cNvPr>
          <p:cNvSpPr txBox="1">
            <a:spLocks noChangeArrowheads="1"/>
          </p:cNvSpPr>
          <p:nvPr/>
        </p:nvSpPr>
        <p:spPr bwMode="auto">
          <a:xfrm>
            <a:off x="447675" y="3716338"/>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t>解：</a:t>
            </a:r>
          </a:p>
        </p:txBody>
      </p:sp>
      <p:sp>
        <p:nvSpPr>
          <p:cNvPr id="22538" name="Rectangle 12">
            <a:extLst>
              <a:ext uri="{FF2B5EF4-FFF2-40B4-BE49-F238E27FC236}">
                <a16:creationId xmlns:a16="http://schemas.microsoft.com/office/drawing/2014/main" id="{402307D1-BCCF-9AF3-AE8F-C6BEF192DF35}"/>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34827" name="Object 11">
            <a:extLst>
              <a:ext uri="{FF2B5EF4-FFF2-40B4-BE49-F238E27FC236}">
                <a16:creationId xmlns:a16="http://schemas.microsoft.com/office/drawing/2014/main" id="{05016372-8892-50A3-7F59-44FD814584F7}"/>
              </a:ext>
            </a:extLst>
          </p:cNvPr>
          <p:cNvGraphicFramePr>
            <a:graphicFrameLocks noChangeAspect="1"/>
          </p:cNvGraphicFramePr>
          <p:nvPr/>
        </p:nvGraphicFramePr>
        <p:xfrm>
          <a:off x="1116013" y="3573463"/>
          <a:ext cx="5472112" cy="982662"/>
        </p:xfrm>
        <a:graphic>
          <a:graphicData uri="http://schemas.openxmlformats.org/presentationml/2006/ole">
            <mc:AlternateContent xmlns:mc="http://schemas.openxmlformats.org/markup-compatibility/2006">
              <mc:Choice xmlns:v="urn:schemas-microsoft-com:vml" Requires="v">
                <p:oleObj name="Equation" r:id="rId6" imgW="2705100" imgH="482600" progId="Equation.DSMT4">
                  <p:embed/>
                </p:oleObj>
              </mc:Choice>
              <mc:Fallback>
                <p:oleObj name="Equation" r:id="rId6" imgW="2705100" imgH="482600" progId="Equation.DSMT4">
                  <p:embed/>
                  <p:pic>
                    <p:nvPicPr>
                      <p:cNvPr id="34827" name="Object 11">
                        <a:extLst>
                          <a:ext uri="{FF2B5EF4-FFF2-40B4-BE49-F238E27FC236}">
                            <a16:creationId xmlns:a16="http://schemas.microsoft.com/office/drawing/2014/main" id="{05016372-8892-50A3-7F59-44FD814584F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6013" y="3573463"/>
                        <a:ext cx="5472112"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40" name="Rectangle 14">
            <a:extLst>
              <a:ext uri="{FF2B5EF4-FFF2-40B4-BE49-F238E27FC236}">
                <a16:creationId xmlns:a16="http://schemas.microsoft.com/office/drawing/2014/main" id="{F7EC3081-75A9-5392-2260-07C6221400BA}"/>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34829" name="Object 13">
            <a:extLst>
              <a:ext uri="{FF2B5EF4-FFF2-40B4-BE49-F238E27FC236}">
                <a16:creationId xmlns:a16="http://schemas.microsoft.com/office/drawing/2014/main" id="{6D62A45A-466C-095E-D123-084B85FF9E9D}"/>
              </a:ext>
            </a:extLst>
          </p:cNvPr>
          <p:cNvGraphicFramePr>
            <a:graphicFrameLocks noChangeAspect="1"/>
          </p:cNvGraphicFramePr>
          <p:nvPr/>
        </p:nvGraphicFramePr>
        <p:xfrm>
          <a:off x="1116013" y="4724400"/>
          <a:ext cx="6048375" cy="463550"/>
        </p:xfrm>
        <a:graphic>
          <a:graphicData uri="http://schemas.openxmlformats.org/presentationml/2006/ole">
            <mc:AlternateContent xmlns:mc="http://schemas.openxmlformats.org/markup-compatibility/2006">
              <mc:Choice xmlns:v="urn:schemas-microsoft-com:vml" Requires="v">
                <p:oleObj name="Equation" r:id="rId8" imgW="2984500" imgH="228600" progId="Equation.DSMT4">
                  <p:embed/>
                </p:oleObj>
              </mc:Choice>
              <mc:Fallback>
                <p:oleObj name="Equation" r:id="rId8" imgW="2984500" imgH="228600" progId="Equation.DSMT4">
                  <p:embed/>
                  <p:pic>
                    <p:nvPicPr>
                      <p:cNvPr id="34829" name="Object 13">
                        <a:extLst>
                          <a:ext uri="{FF2B5EF4-FFF2-40B4-BE49-F238E27FC236}">
                            <a16:creationId xmlns:a16="http://schemas.microsoft.com/office/drawing/2014/main" id="{6D62A45A-466C-095E-D123-084B85FF9E9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6013" y="4724400"/>
                        <a:ext cx="60483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42" name="Rectangle 16">
            <a:extLst>
              <a:ext uri="{FF2B5EF4-FFF2-40B4-BE49-F238E27FC236}">
                <a16:creationId xmlns:a16="http://schemas.microsoft.com/office/drawing/2014/main" id="{9D0F3E0A-2203-69BD-182F-BF390E91BAA0}"/>
              </a:ext>
            </a:extLst>
          </p:cNvPr>
          <p:cNvSpPr>
            <a:spLocks noChangeArrowheads="1"/>
          </p:cNvSpPr>
          <p:nvPr/>
        </p:nvSpPr>
        <p:spPr bwMode="auto">
          <a:xfrm>
            <a:off x="0"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34831" name="Object 15">
            <a:extLst>
              <a:ext uri="{FF2B5EF4-FFF2-40B4-BE49-F238E27FC236}">
                <a16:creationId xmlns:a16="http://schemas.microsoft.com/office/drawing/2014/main" id="{DFDC362B-C353-2D4F-5E4A-05922218965C}"/>
              </a:ext>
            </a:extLst>
          </p:cNvPr>
          <p:cNvGraphicFramePr>
            <a:graphicFrameLocks noChangeAspect="1"/>
          </p:cNvGraphicFramePr>
          <p:nvPr/>
        </p:nvGraphicFramePr>
        <p:xfrm>
          <a:off x="971550" y="5229225"/>
          <a:ext cx="6335713" cy="706438"/>
        </p:xfrm>
        <a:graphic>
          <a:graphicData uri="http://schemas.openxmlformats.org/presentationml/2006/ole">
            <mc:AlternateContent xmlns:mc="http://schemas.openxmlformats.org/markup-compatibility/2006">
              <mc:Choice xmlns:v="urn:schemas-microsoft-com:vml" Requires="v">
                <p:oleObj name="Equation" r:id="rId10" imgW="3492500" imgH="393700" progId="Equation.DSMT4">
                  <p:embed/>
                </p:oleObj>
              </mc:Choice>
              <mc:Fallback>
                <p:oleObj name="Equation" r:id="rId10" imgW="3492500" imgH="393700" progId="Equation.DSMT4">
                  <p:embed/>
                  <p:pic>
                    <p:nvPicPr>
                      <p:cNvPr id="34831" name="Object 15">
                        <a:extLst>
                          <a:ext uri="{FF2B5EF4-FFF2-40B4-BE49-F238E27FC236}">
                            <a16:creationId xmlns:a16="http://schemas.microsoft.com/office/drawing/2014/main" id="{DFDC362B-C353-2D4F-5E4A-05922218965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1550" y="5229225"/>
                        <a:ext cx="633571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33" name="Object 17">
            <a:extLst>
              <a:ext uri="{FF2B5EF4-FFF2-40B4-BE49-F238E27FC236}">
                <a16:creationId xmlns:a16="http://schemas.microsoft.com/office/drawing/2014/main" id="{2E5D56D4-1ECE-1790-AEBF-05993784A6CE}"/>
              </a:ext>
            </a:extLst>
          </p:cNvPr>
          <p:cNvGraphicFramePr>
            <a:graphicFrameLocks noChangeAspect="1"/>
          </p:cNvGraphicFramePr>
          <p:nvPr/>
        </p:nvGraphicFramePr>
        <p:xfrm>
          <a:off x="1042988" y="5949950"/>
          <a:ext cx="4752975" cy="814388"/>
        </p:xfrm>
        <a:graphic>
          <a:graphicData uri="http://schemas.openxmlformats.org/presentationml/2006/ole">
            <mc:AlternateContent xmlns:mc="http://schemas.openxmlformats.org/markup-compatibility/2006">
              <mc:Choice xmlns:v="urn:schemas-microsoft-com:vml" Requires="v">
                <p:oleObj name="Equation" r:id="rId12" imgW="2667000" imgH="457200" progId="Equation.DSMT4">
                  <p:embed/>
                </p:oleObj>
              </mc:Choice>
              <mc:Fallback>
                <p:oleObj name="Equation" r:id="rId12" imgW="2667000" imgH="457200" progId="Equation.DSMT4">
                  <p:embed/>
                  <p:pic>
                    <p:nvPicPr>
                      <p:cNvPr id="34833" name="Object 17">
                        <a:extLst>
                          <a:ext uri="{FF2B5EF4-FFF2-40B4-BE49-F238E27FC236}">
                            <a16:creationId xmlns:a16="http://schemas.microsoft.com/office/drawing/2014/main" id="{2E5D56D4-1ECE-1790-AEBF-05993784A6C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42988" y="5949950"/>
                        <a:ext cx="4752975" cy="81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35" name="AutoShape 19">
            <a:extLst>
              <a:ext uri="{FF2B5EF4-FFF2-40B4-BE49-F238E27FC236}">
                <a16:creationId xmlns:a16="http://schemas.microsoft.com/office/drawing/2014/main" id="{5BE676C5-7A55-73E5-EED5-1DB5A293E7F6}"/>
              </a:ext>
            </a:extLst>
          </p:cNvPr>
          <p:cNvSpPr>
            <a:spLocks noChangeArrowheads="1"/>
          </p:cNvSpPr>
          <p:nvPr/>
        </p:nvSpPr>
        <p:spPr bwMode="auto">
          <a:xfrm>
            <a:off x="7086600" y="3200400"/>
            <a:ext cx="1752600" cy="1295400"/>
          </a:xfrm>
          <a:prstGeom prst="wedgeRoundRectCallout">
            <a:avLst>
              <a:gd name="adj1" fmla="val -80435"/>
              <a:gd name="adj2" fmla="val 31741"/>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ea typeface="黑体" panose="02010609060101010101" pitchFamily="49" charset="-122"/>
              </a:rPr>
              <a:t>功率因数超前，</a:t>
            </a:r>
            <a:r>
              <a:rPr lang="en-US" altLang="zh-CN" sz="2400" b="1">
                <a:ea typeface="黑体" panose="02010609060101010101" pitchFamily="49" charset="-122"/>
              </a:rPr>
              <a:t>Q</a:t>
            </a:r>
            <a:r>
              <a:rPr lang="zh-CN" altLang="en-US" sz="2400" b="1">
                <a:ea typeface="黑体" panose="02010609060101010101" pitchFamily="49" charset="-122"/>
              </a:rPr>
              <a:t>取负值</a:t>
            </a:r>
          </a:p>
        </p:txBody>
      </p:sp>
      <p:sp>
        <p:nvSpPr>
          <p:cNvPr id="34836" name="AutoShape 20">
            <a:extLst>
              <a:ext uri="{FF2B5EF4-FFF2-40B4-BE49-F238E27FC236}">
                <a16:creationId xmlns:a16="http://schemas.microsoft.com/office/drawing/2014/main" id="{22491092-7DBD-0FB0-68DC-68C4D691EB09}"/>
              </a:ext>
            </a:extLst>
          </p:cNvPr>
          <p:cNvSpPr>
            <a:spLocks noChangeArrowheads="1"/>
          </p:cNvSpPr>
          <p:nvPr/>
        </p:nvSpPr>
        <p:spPr bwMode="auto">
          <a:xfrm>
            <a:off x="7924800" y="4648200"/>
            <a:ext cx="1219200" cy="1371600"/>
          </a:xfrm>
          <a:prstGeom prst="wedgeRoundRectCallout">
            <a:avLst>
              <a:gd name="adj1" fmla="val -117056"/>
              <a:gd name="adj2" fmla="val -25231"/>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a:ea typeface="黑体" panose="02010609060101010101" pitchFamily="49" charset="-122"/>
              </a:rPr>
              <a:t>Q&gt;0</a:t>
            </a:r>
            <a:r>
              <a:rPr lang="zh-CN" altLang="en-US" sz="2400" b="1">
                <a:ea typeface="黑体" panose="02010609060101010101" pitchFamily="49" charset="-122"/>
              </a:rPr>
              <a:t>，功率因数滞后</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4827"/>
                                        </p:tgtEl>
                                        <p:attrNameLst>
                                          <p:attrName>style.visibility</p:attrName>
                                        </p:attrNameLst>
                                      </p:cBhvr>
                                      <p:to>
                                        <p:strVal val="visible"/>
                                      </p:to>
                                    </p:set>
                                    <p:animEffect transition="in" filter="blinds(horizontal)">
                                      <p:cBhvr>
                                        <p:cTn id="7" dur="500"/>
                                        <p:tgtEl>
                                          <p:spTgt spid="348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4835"/>
                                        </p:tgtEl>
                                        <p:attrNameLst>
                                          <p:attrName>style.visibility</p:attrName>
                                        </p:attrNameLst>
                                      </p:cBhvr>
                                      <p:to>
                                        <p:strVal val="visible"/>
                                      </p:to>
                                    </p:set>
                                    <p:animEffect transition="in" filter="blinds(horizontal)">
                                      <p:cBhvr>
                                        <p:cTn id="12" dur="500"/>
                                        <p:tgtEl>
                                          <p:spTgt spid="348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4829"/>
                                        </p:tgtEl>
                                        <p:attrNameLst>
                                          <p:attrName>style.visibility</p:attrName>
                                        </p:attrNameLst>
                                      </p:cBhvr>
                                      <p:to>
                                        <p:strVal val="visible"/>
                                      </p:to>
                                    </p:set>
                                    <p:animEffect transition="in" filter="blinds(horizontal)">
                                      <p:cBhvr>
                                        <p:cTn id="17" dur="500"/>
                                        <p:tgtEl>
                                          <p:spTgt spid="348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4836"/>
                                        </p:tgtEl>
                                        <p:attrNameLst>
                                          <p:attrName>style.visibility</p:attrName>
                                        </p:attrNameLst>
                                      </p:cBhvr>
                                      <p:to>
                                        <p:strVal val="visible"/>
                                      </p:to>
                                    </p:set>
                                    <p:animEffect transition="in" filter="blinds(horizontal)">
                                      <p:cBhvr>
                                        <p:cTn id="22" dur="500"/>
                                        <p:tgtEl>
                                          <p:spTgt spid="3483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4831"/>
                                        </p:tgtEl>
                                        <p:attrNameLst>
                                          <p:attrName>style.visibility</p:attrName>
                                        </p:attrNameLst>
                                      </p:cBhvr>
                                      <p:to>
                                        <p:strVal val="visible"/>
                                      </p:to>
                                    </p:set>
                                    <p:animEffect transition="in" filter="box(in)">
                                      <p:cBhvr>
                                        <p:cTn id="27" dur="500"/>
                                        <p:tgtEl>
                                          <p:spTgt spid="348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34833"/>
                                        </p:tgtEl>
                                        <p:attrNameLst>
                                          <p:attrName>style.visibility</p:attrName>
                                        </p:attrNameLst>
                                      </p:cBhvr>
                                      <p:to>
                                        <p:strVal val="visible"/>
                                      </p:to>
                                    </p:set>
                                    <p:animEffect transition="in" filter="barn(outHorizontal)">
                                      <p:cBhvr>
                                        <p:cTn id="32" dur="500"/>
                                        <p:tgtEl>
                                          <p:spTgt spid="348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35" grpId="0" animBg="1" autoUpdateAnimBg="0"/>
      <p:bldP spid="34836"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a:extLst>
              <a:ext uri="{FF2B5EF4-FFF2-40B4-BE49-F238E27FC236}">
                <a16:creationId xmlns:a16="http://schemas.microsoft.com/office/drawing/2014/main" id="{DF0809C1-E74D-4033-0649-D4624CDA4F7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07B981E-29DA-4EF3-B39D-2C40454448C8}" type="slidenum">
              <a:rPr lang="en-US" altLang="zh-CN" sz="1400" smtClean="0"/>
              <a:pPr>
                <a:spcBef>
                  <a:spcPct val="0"/>
                </a:spcBef>
                <a:buFontTx/>
                <a:buNone/>
              </a:pPr>
              <a:t>32</a:t>
            </a:fld>
            <a:endParaRPr lang="en-US" altLang="zh-CN" sz="1400"/>
          </a:p>
        </p:txBody>
      </p:sp>
      <p:sp>
        <p:nvSpPr>
          <p:cNvPr id="23556" name="Rectangle 3">
            <a:extLst>
              <a:ext uri="{FF2B5EF4-FFF2-40B4-BE49-F238E27FC236}">
                <a16:creationId xmlns:a16="http://schemas.microsoft.com/office/drawing/2014/main" id="{CA9A85D8-A12B-6F64-4F68-EAD5F30918DE}"/>
              </a:ext>
            </a:extLst>
          </p:cNvPr>
          <p:cNvSpPr>
            <a:spLocks noGrp="1" noChangeArrowheads="1"/>
          </p:cNvSpPr>
          <p:nvPr>
            <p:ph type="body" idx="1"/>
          </p:nvPr>
        </p:nvSpPr>
        <p:spPr>
          <a:xfrm>
            <a:off x="466328" y="927775"/>
            <a:ext cx="6551612" cy="1008063"/>
          </a:xfrm>
        </p:spPr>
        <p:txBody>
          <a:bodyPr/>
          <a:lstStyle/>
          <a:p>
            <a:pPr marL="609600" indent="-609600" eaLnBrk="1" hangingPunct="1">
              <a:buFontTx/>
              <a:buAutoNum type="arabicParenR" startAt="3"/>
            </a:pPr>
            <a:r>
              <a:rPr lang="zh-CN" altLang="en-US" sz="2400" b="1" dirty="0">
                <a:ea typeface="黑体" panose="02010609060101010101" pitchFamily="49" charset="-122"/>
              </a:rPr>
              <a:t>假定线损为，</a:t>
            </a:r>
          </a:p>
          <a:p>
            <a:pPr marL="609600" indent="-609600" eaLnBrk="1" hangingPunct="1">
              <a:buFontTx/>
              <a:buNone/>
            </a:pPr>
            <a:r>
              <a:rPr lang="zh-CN" altLang="en-US" sz="2400" b="1" dirty="0">
                <a:ea typeface="黑体" panose="02010609060101010101" pitchFamily="49" charset="-122"/>
              </a:rPr>
              <a:t>       比较两种情况下的线路损耗。</a:t>
            </a:r>
          </a:p>
        </p:txBody>
      </p:sp>
      <p:sp>
        <p:nvSpPr>
          <p:cNvPr id="23557" name="Rectangle 5">
            <a:extLst>
              <a:ext uri="{FF2B5EF4-FFF2-40B4-BE49-F238E27FC236}">
                <a16:creationId xmlns:a16="http://schemas.microsoft.com/office/drawing/2014/main" id="{7C0C8BC7-4275-33AA-B48E-516401408C34}"/>
              </a:ext>
            </a:extLst>
          </p:cNvPr>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23558" name="Object 4">
            <a:extLst>
              <a:ext uri="{FF2B5EF4-FFF2-40B4-BE49-F238E27FC236}">
                <a16:creationId xmlns:a16="http://schemas.microsoft.com/office/drawing/2014/main" id="{ADDDF715-2E52-FD4B-9644-7BFBCA8C179B}"/>
              </a:ext>
            </a:extLst>
          </p:cNvPr>
          <p:cNvGraphicFramePr>
            <a:graphicFrameLocks noChangeAspect="1"/>
          </p:cNvGraphicFramePr>
          <p:nvPr>
            <p:extLst>
              <p:ext uri="{D42A27DB-BD31-4B8C-83A1-F6EECF244321}">
                <p14:modId xmlns:p14="http://schemas.microsoft.com/office/powerpoint/2010/main" val="3692592709"/>
              </p:ext>
            </p:extLst>
          </p:nvPr>
        </p:nvGraphicFramePr>
        <p:xfrm>
          <a:off x="3006725" y="789602"/>
          <a:ext cx="2232025" cy="723900"/>
        </p:xfrm>
        <a:graphic>
          <a:graphicData uri="http://schemas.openxmlformats.org/presentationml/2006/ole">
            <mc:AlternateContent xmlns:mc="http://schemas.openxmlformats.org/markup-compatibility/2006">
              <mc:Choice xmlns:v="urn:schemas-microsoft-com:vml" Requires="v">
                <p:oleObj name="Equation" r:id="rId2" imgW="736600" imgH="241300" progId="Equation.DSMT4">
                  <p:embed/>
                </p:oleObj>
              </mc:Choice>
              <mc:Fallback>
                <p:oleObj name="Equation" r:id="rId2" imgW="736600" imgH="241300" progId="Equation.DSMT4">
                  <p:embed/>
                  <p:pic>
                    <p:nvPicPr>
                      <p:cNvPr id="23558" name="Object 4">
                        <a:extLst>
                          <a:ext uri="{FF2B5EF4-FFF2-40B4-BE49-F238E27FC236}">
                            <a16:creationId xmlns:a16="http://schemas.microsoft.com/office/drawing/2014/main" id="{ADDDF715-2E52-FD4B-9644-7BFBCA8C17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6725" y="789602"/>
                        <a:ext cx="22320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9" name="Text Box 6">
            <a:extLst>
              <a:ext uri="{FF2B5EF4-FFF2-40B4-BE49-F238E27FC236}">
                <a16:creationId xmlns:a16="http://schemas.microsoft.com/office/drawing/2014/main" id="{DAE15F70-F19C-B7EC-EDAF-2C57112AA855}"/>
              </a:ext>
            </a:extLst>
          </p:cNvPr>
          <p:cNvSpPr txBox="1">
            <a:spLocks noChangeArrowheads="1"/>
          </p:cNvSpPr>
          <p:nvPr/>
        </p:nvSpPr>
        <p:spPr bwMode="auto">
          <a:xfrm>
            <a:off x="228600" y="2125188"/>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t>解：</a:t>
            </a:r>
          </a:p>
        </p:txBody>
      </p:sp>
      <p:sp>
        <p:nvSpPr>
          <p:cNvPr id="23560" name="Rectangle 8">
            <a:extLst>
              <a:ext uri="{FF2B5EF4-FFF2-40B4-BE49-F238E27FC236}">
                <a16:creationId xmlns:a16="http://schemas.microsoft.com/office/drawing/2014/main" id="{BA1A30B5-13FE-24FF-EA5F-92D325C3F1AE}"/>
              </a:ext>
            </a:extLst>
          </p:cNvPr>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23561" name="Object 7">
            <a:extLst>
              <a:ext uri="{FF2B5EF4-FFF2-40B4-BE49-F238E27FC236}">
                <a16:creationId xmlns:a16="http://schemas.microsoft.com/office/drawing/2014/main" id="{DA95A864-8D84-3A93-0D21-42846DF3106B}"/>
              </a:ext>
            </a:extLst>
          </p:cNvPr>
          <p:cNvGraphicFramePr>
            <a:graphicFrameLocks noChangeAspect="1"/>
          </p:cNvGraphicFramePr>
          <p:nvPr>
            <p:extLst>
              <p:ext uri="{D42A27DB-BD31-4B8C-83A1-F6EECF244321}">
                <p14:modId xmlns:p14="http://schemas.microsoft.com/office/powerpoint/2010/main" val="1279948722"/>
              </p:ext>
            </p:extLst>
          </p:nvPr>
        </p:nvGraphicFramePr>
        <p:xfrm>
          <a:off x="990600" y="1790580"/>
          <a:ext cx="4032250" cy="585788"/>
        </p:xfrm>
        <a:graphic>
          <a:graphicData uri="http://schemas.openxmlformats.org/presentationml/2006/ole">
            <mc:AlternateContent xmlns:mc="http://schemas.openxmlformats.org/markup-compatibility/2006">
              <mc:Choice xmlns:v="urn:schemas-microsoft-com:vml" Requires="v">
                <p:oleObj name="Equation" r:id="rId4" imgW="1638300" imgH="241300" progId="Equation.DSMT4">
                  <p:embed/>
                </p:oleObj>
              </mc:Choice>
              <mc:Fallback>
                <p:oleObj name="Equation" r:id="rId4" imgW="1638300" imgH="241300" progId="Equation.DSMT4">
                  <p:embed/>
                  <p:pic>
                    <p:nvPicPr>
                      <p:cNvPr id="23561" name="Object 7">
                        <a:extLst>
                          <a:ext uri="{FF2B5EF4-FFF2-40B4-BE49-F238E27FC236}">
                            <a16:creationId xmlns:a16="http://schemas.microsoft.com/office/drawing/2014/main" id="{DA95A864-8D84-3A93-0D21-42846DF310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1790580"/>
                        <a:ext cx="403225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2" name="Rectangle 10">
            <a:extLst>
              <a:ext uri="{FF2B5EF4-FFF2-40B4-BE49-F238E27FC236}">
                <a16:creationId xmlns:a16="http://schemas.microsoft.com/office/drawing/2014/main" id="{A35DB0EA-2C2B-BA3D-52D8-EEC08C9515A7}"/>
              </a:ext>
            </a:extLst>
          </p:cNvPr>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23563" name="Object 9">
            <a:extLst>
              <a:ext uri="{FF2B5EF4-FFF2-40B4-BE49-F238E27FC236}">
                <a16:creationId xmlns:a16="http://schemas.microsoft.com/office/drawing/2014/main" id="{D917EC14-5B04-4773-42B5-FAB205B42BB8}"/>
              </a:ext>
            </a:extLst>
          </p:cNvPr>
          <p:cNvGraphicFramePr>
            <a:graphicFrameLocks noChangeAspect="1"/>
          </p:cNvGraphicFramePr>
          <p:nvPr/>
        </p:nvGraphicFramePr>
        <p:xfrm>
          <a:off x="990600" y="2362200"/>
          <a:ext cx="3743325" cy="554038"/>
        </p:xfrm>
        <a:graphic>
          <a:graphicData uri="http://schemas.openxmlformats.org/presentationml/2006/ole">
            <mc:AlternateContent xmlns:mc="http://schemas.openxmlformats.org/markup-compatibility/2006">
              <mc:Choice xmlns:v="urn:schemas-microsoft-com:vml" Requires="v">
                <p:oleObj name="Equation" r:id="rId6" imgW="1612900" imgH="241300" progId="Equation.DSMT4">
                  <p:embed/>
                </p:oleObj>
              </mc:Choice>
              <mc:Fallback>
                <p:oleObj name="Equation" r:id="rId6" imgW="1612900" imgH="241300" progId="Equation.DSMT4">
                  <p:embed/>
                  <p:pic>
                    <p:nvPicPr>
                      <p:cNvPr id="23563" name="Object 9">
                        <a:extLst>
                          <a:ext uri="{FF2B5EF4-FFF2-40B4-BE49-F238E27FC236}">
                            <a16:creationId xmlns:a16="http://schemas.microsoft.com/office/drawing/2014/main" id="{D917EC14-5B04-4773-42B5-FAB205B42BB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2362200"/>
                        <a:ext cx="37433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4" name="Rectangle 12">
            <a:extLst>
              <a:ext uri="{FF2B5EF4-FFF2-40B4-BE49-F238E27FC236}">
                <a16:creationId xmlns:a16="http://schemas.microsoft.com/office/drawing/2014/main" id="{8CE886D2-9426-4EEF-0B93-D9548711D8D5}"/>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23565" name="Object 11">
            <a:extLst>
              <a:ext uri="{FF2B5EF4-FFF2-40B4-BE49-F238E27FC236}">
                <a16:creationId xmlns:a16="http://schemas.microsoft.com/office/drawing/2014/main" id="{6DED3A79-8B38-247C-1B8A-F49C3FF370B3}"/>
              </a:ext>
            </a:extLst>
          </p:cNvPr>
          <p:cNvGraphicFramePr>
            <a:graphicFrameLocks noChangeAspect="1"/>
          </p:cNvGraphicFramePr>
          <p:nvPr/>
        </p:nvGraphicFramePr>
        <p:xfrm>
          <a:off x="990600" y="3048000"/>
          <a:ext cx="3600450" cy="915988"/>
        </p:xfrm>
        <a:graphic>
          <a:graphicData uri="http://schemas.openxmlformats.org/presentationml/2006/ole">
            <mc:AlternateContent xmlns:mc="http://schemas.openxmlformats.org/markup-compatibility/2006">
              <mc:Choice xmlns:v="urn:schemas-microsoft-com:vml" Requires="v">
                <p:oleObj name="Equation" r:id="rId8" imgW="1688367" imgH="431613" progId="Equation.DSMT4">
                  <p:embed/>
                </p:oleObj>
              </mc:Choice>
              <mc:Fallback>
                <p:oleObj name="Equation" r:id="rId8" imgW="1688367" imgH="431613" progId="Equation.DSMT4">
                  <p:embed/>
                  <p:pic>
                    <p:nvPicPr>
                      <p:cNvPr id="23565" name="Object 11">
                        <a:extLst>
                          <a:ext uri="{FF2B5EF4-FFF2-40B4-BE49-F238E27FC236}">
                            <a16:creationId xmlns:a16="http://schemas.microsoft.com/office/drawing/2014/main" id="{6DED3A79-8B38-247C-1B8A-F49C3FF370B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600" y="3048000"/>
                        <a:ext cx="36004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6" name="Text Box 13">
            <a:extLst>
              <a:ext uri="{FF2B5EF4-FFF2-40B4-BE49-F238E27FC236}">
                <a16:creationId xmlns:a16="http://schemas.microsoft.com/office/drawing/2014/main" id="{870C246E-A5E1-1628-D78D-9EAEA00F2B69}"/>
              </a:ext>
            </a:extLst>
          </p:cNvPr>
          <p:cNvSpPr txBox="1">
            <a:spLocks noChangeArrowheads="1"/>
          </p:cNvSpPr>
          <p:nvPr/>
        </p:nvSpPr>
        <p:spPr bwMode="auto">
          <a:xfrm>
            <a:off x="304800" y="4191000"/>
            <a:ext cx="853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ea typeface="黑体" panose="02010609060101010101" pitchFamily="49" charset="-122"/>
              </a:rPr>
              <a:t>在向负载提供相同有功功率的情况下，线路损耗降低</a:t>
            </a:r>
            <a:r>
              <a:rPr lang="en-US" altLang="zh-CN" sz="2400" b="1">
                <a:ea typeface="黑体" panose="02010609060101010101" pitchFamily="49" charset="-122"/>
              </a:rPr>
              <a:t>28.5%</a:t>
            </a:r>
            <a:r>
              <a:rPr lang="zh-CN" altLang="en-US" sz="2400" b="1">
                <a:ea typeface="黑体" panose="02010609060101010101" pitchFamily="49" charset="-122"/>
              </a:rPr>
              <a:t>。</a:t>
            </a:r>
            <a:r>
              <a:rPr lang="zh-CN" altLang="en-US" sz="2400"/>
              <a:t> </a:t>
            </a:r>
          </a:p>
        </p:txBody>
      </p:sp>
      <p:sp>
        <p:nvSpPr>
          <p:cNvPr id="35854" name="Text Box 14">
            <a:extLst>
              <a:ext uri="{FF2B5EF4-FFF2-40B4-BE49-F238E27FC236}">
                <a16:creationId xmlns:a16="http://schemas.microsoft.com/office/drawing/2014/main" id="{C1B24E54-6FB8-9B3E-87FF-C93D29F748EE}"/>
              </a:ext>
            </a:extLst>
          </p:cNvPr>
          <p:cNvSpPr txBox="1">
            <a:spLocks noChangeArrowheads="1"/>
          </p:cNvSpPr>
          <p:nvPr/>
        </p:nvSpPr>
        <p:spPr bwMode="auto">
          <a:xfrm>
            <a:off x="152400" y="4868863"/>
            <a:ext cx="899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ea typeface="楷体_GB2312" pitchFamily="49" charset="-122"/>
              </a:rPr>
              <a:t>通过调节功率因数，可以显著影响电力系统的运行效率。</a:t>
            </a:r>
            <a:r>
              <a:rPr lang="zh-CN" altLang="en-US" sz="2400"/>
              <a:t> </a:t>
            </a:r>
          </a:p>
        </p:txBody>
      </p:sp>
      <p:sp>
        <p:nvSpPr>
          <p:cNvPr id="35855" name="Text Box 15">
            <a:extLst>
              <a:ext uri="{FF2B5EF4-FFF2-40B4-BE49-F238E27FC236}">
                <a16:creationId xmlns:a16="http://schemas.microsoft.com/office/drawing/2014/main" id="{A3F7CB56-BE22-71E2-324D-C3997B45696B}"/>
              </a:ext>
            </a:extLst>
          </p:cNvPr>
          <p:cNvSpPr txBox="1">
            <a:spLocks noChangeArrowheads="1"/>
          </p:cNvSpPr>
          <p:nvPr/>
        </p:nvSpPr>
        <p:spPr bwMode="auto">
          <a:xfrm>
            <a:off x="304800" y="5445125"/>
            <a:ext cx="8610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t>   </a:t>
            </a:r>
            <a:r>
              <a:rPr lang="zh-CN" altLang="en-US" sz="2400" b="1">
                <a:ea typeface="黑体" panose="02010609060101010101" pitchFamily="49" charset="-122"/>
              </a:rPr>
              <a:t>为取得超前功率因数，同步机须运行在过励状态，励磁电流大、铁芯饱和程度高，可能导致转子发热严重。应用中须防止励磁电流超过额定值后励磁绕组过热。</a:t>
            </a:r>
            <a:r>
              <a:rPr lang="zh-CN" altLang="en-US" sz="2400"/>
              <a:t> </a:t>
            </a:r>
          </a:p>
        </p:txBody>
      </p:sp>
      <p:sp>
        <p:nvSpPr>
          <p:cNvPr id="23569" name="Rectangle 17">
            <a:extLst>
              <a:ext uri="{FF2B5EF4-FFF2-40B4-BE49-F238E27FC236}">
                <a16:creationId xmlns:a16="http://schemas.microsoft.com/office/drawing/2014/main" id="{EA123C53-B8AB-C813-62B0-5488CDA7FBD1}"/>
              </a:ext>
            </a:extLst>
          </p:cNvPr>
          <p:cNvSpPr>
            <a:spLocks noChangeArrowheads="1"/>
          </p:cNvSpPr>
          <p:nvPr/>
        </p:nvSpPr>
        <p:spPr bwMode="auto">
          <a:xfrm>
            <a:off x="0" y="2862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23570" name="Object 16">
            <a:extLst>
              <a:ext uri="{FF2B5EF4-FFF2-40B4-BE49-F238E27FC236}">
                <a16:creationId xmlns:a16="http://schemas.microsoft.com/office/drawing/2014/main" id="{24B756F6-E333-4C67-895A-C247B85E8011}"/>
              </a:ext>
            </a:extLst>
          </p:cNvPr>
          <p:cNvGraphicFramePr>
            <a:graphicFrameLocks noChangeAspect="1"/>
          </p:cNvGraphicFramePr>
          <p:nvPr/>
        </p:nvGraphicFramePr>
        <p:xfrm>
          <a:off x="4648200" y="2133600"/>
          <a:ext cx="4267200" cy="1844675"/>
        </p:xfrm>
        <a:graphic>
          <a:graphicData uri="http://schemas.openxmlformats.org/presentationml/2006/ole">
            <mc:AlternateContent xmlns:mc="http://schemas.openxmlformats.org/markup-compatibility/2006">
              <mc:Choice xmlns:v="urn:schemas-microsoft-com:vml" Requires="v">
                <p:oleObj name="Microsoft Drawing" r:id="rId10" imgW="2616200" imgH="1130300" progId="MSDraw">
                  <p:embed/>
                </p:oleObj>
              </mc:Choice>
              <mc:Fallback>
                <p:oleObj name="Microsoft Drawing" r:id="rId10" imgW="2616200" imgH="1130300" progId="MSDraw">
                  <p:embed/>
                  <p:pic>
                    <p:nvPicPr>
                      <p:cNvPr id="23570" name="Object 16">
                        <a:extLst>
                          <a:ext uri="{FF2B5EF4-FFF2-40B4-BE49-F238E27FC236}">
                            <a16:creationId xmlns:a16="http://schemas.microsoft.com/office/drawing/2014/main" id="{24B756F6-E333-4C67-895A-C247B85E801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48200" y="2133600"/>
                        <a:ext cx="426720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854"/>
                                        </p:tgtEl>
                                        <p:attrNameLst>
                                          <p:attrName>style.visibility</p:attrName>
                                        </p:attrNameLst>
                                      </p:cBhvr>
                                      <p:to>
                                        <p:strVal val="visible"/>
                                      </p:to>
                                    </p:set>
                                    <p:animEffect transition="in" filter="blinds(horizontal)">
                                      <p:cBhvr>
                                        <p:cTn id="7" dur="500"/>
                                        <p:tgtEl>
                                          <p:spTgt spid="358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5855"/>
                                        </p:tgtEl>
                                        <p:attrNameLst>
                                          <p:attrName>style.visibility</p:attrName>
                                        </p:attrNameLst>
                                      </p:cBhvr>
                                      <p:to>
                                        <p:strVal val="visible"/>
                                      </p:to>
                                    </p:set>
                                    <p:animEffect transition="in" filter="blinds(horizontal)">
                                      <p:cBhvr>
                                        <p:cTn id="12" dur="500"/>
                                        <p:tgtEl>
                                          <p:spTgt spid="358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54" grpId="0" autoUpdateAnimBg="0"/>
      <p:bldP spid="35855"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a:extLst>
              <a:ext uri="{FF2B5EF4-FFF2-40B4-BE49-F238E27FC236}">
                <a16:creationId xmlns:a16="http://schemas.microsoft.com/office/drawing/2014/main" id="{FF5CA82B-6D60-A0C4-83C2-AE938802BC3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9B19D2C-313D-4499-B3A0-E0E121904810}" type="slidenum">
              <a:rPr lang="en-US" altLang="zh-CN" sz="1400" smtClean="0"/>
              <a:pPr>
                <a:spcBef>
                  <a:spcPct val="0"/>
                </a:spcBef>
                <a:buFontTx/>
                <a:buNone/>
              </a:pPr>
              <a:t>33</a:t>
            </a:fld>
            <a:endParaRPr lang="en-US" altLang="zh-CN" sz="1400"/>
          </a:p>
        </p:txBody>
      </p:sp>
      <p:sp>
        <p:nvSpPr>
          <p:cNvPr id="17411" name="Rectangle 2">
            <a:extLst>
              <a:ext uri="{FF2B5EF4-FFF2-40B4-BE49-F238E27FC236}">
                <a16:creationId xmlns:a16="http://schemas.microsoft.com/office/drawing/2014/main" id="{31D98174-E13B-DA9C-D430-DA527426A130}"/>
              </a:ext>
            </a:extLst>
          </p:cNvPr>
          <p:cNvSpPr>
            <a:spLocks noGrp="1" noChangeArrowheads="1"/>
          </p:cNvSpPr>
          <p:nvPr>
            <p:ph type="title"/>
          </p:nvPr>
        </p:nvSpPr>
        <p:spPr>
          <a:xfrm>
            <a:off x="480030" y="833755"/>
            <a:ext cx="8229600" cy="792162"/>
          </a:xfrm>
        </p:spPr>
        <p:txBody>
          <a:bodyPr/>
          <a:lstStyle/>
          <a:p>
            <a:pPr eaLnBrk="1" hangingPunct="1"/>
            <a:r>
              <a:rPr lang="zh-CN" altLang="en-US" sz="3200" b="1">
                <a:ea typeface="楷体_GB2312" pitchFamily="49" charset="-122"/>
              </a:rPr>
              <a:t>十、同步电动机的工作特性和</a:t>
            </a:r>
            <a:r>
              <a:rPr lang="en-US" altLang="zh-CN" sz="3200" b="1">
                <a:ea typeface="楷体_GB2312" pitchFamily="49" charset="-122"/>
              </a:rPr>
              <a:t>V</a:t>
            </a:r>
            <a:r>
              <a:rPr lang="zh-CN" altLang="en-US" sz="3200" b="1">
                <a:ea typeface="楷体_GB2312" pitchFamily="49" charset="-122"/>
              </a:rPr>
              <a:t>形曲线</a:t>
            </a:r>
          </a:p>
        </p:txBody>
      </p:sp>
      <p:sp>
        <p:nvSpPr>
          <p:cNvPr id="17412" name="Rectangle 4">
            <a:extLst>
              <a:ext uri="{FF2B5EF4-FFF2-40B4-BE49-F238E27FC236}">
                <a16:creationId xmlns:a16="http://schemas.microsoft.com/office/drawing/2014/main" id="{AA1DBB13-EE13-5F38-978F-092906818283}"/>
              </a:ext>
            </a:extLst>
          </p:cNvPr>
          <p:cNvSpPr>
            <a:spLocks noChangeArrowheads="1"/>
          </p:cNvSpPr>
          <p:nvPr/>
        </p:nvSpPr>
        <p:spPr bwMode="auto">
          <a:xfrm>
            <a:off x="480030" y="833755"/>
            <a:ext cx="8147050" cy="63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b="1">
              <a:solidFill>
                <a:schemeClr val="tx2"/>
              </a:solidFill>
              <a:ea typeface="楷体_GB2312" pitchFamily="49" charset="-122"/>
            </a:endParaRPr>
          </a:p>
        </p:txBody>
      </p:sp>
      <p:sp>
        <p:nvSpPr>
          <p:cNvPr id="17413" name="Rectangle 5">
            <a:extLst>
              <a:ext uri="{FF2B5EF4-FFF2-40B4-BE49-F238E27FC236}">
                <a16:creationId xmlns:a16="http://schemas.microsoft.com/office/drawing/2014/main" id="{180E284F-DBD3-F473-1E9B-DDA4BD026027}"/>
              </a:ext>
            </a:extLst>
          </p:cNvPr>
          <p:cNvSpPr>
            <a:spLocks noGrp="1" noChangeArrowheads="1"/>
          </p:cNvSpPr>
          <p:nvPr>
            <p:ph type="body" idx="1"/>
          </p:nvPr>
        </p:nvSpPr>
        <p:spPr>
          <a:xfrm>
            <a:off x="562580" y="1611630"/>
            <a:ext cx="2432050" cy="471487"/>
          </a:xfrm>
          <a:noFill/>
        </p:spPr>
        <p:txBody>
          <a:bodyPr/>
          <a:lstStyle/>
          <a:p>
            <a:pPr marL="533400" indent="-533400" eaLnBrk="1" hangingPunct="1">
              <a:buFontTx/>
              <a:buAutoNum type="arabicPeriod"/>
            </a:pPr>
            <a:r>
              <a:rPr lang="zh-CN" altLang="en-US" sz="2400"/>
              <a:t>工作特性</a:t>
            </a:r>
          </a:p>
        </p:txBody>
      </p:sp>
      <p:graphicFrame>
        <p:nvGraphicFramePr>
          <p:cNvPr id="17414" name="Object 7">
            <a:extLst>
              <a:ext uri="{FF2B5EF4-FFF2-40B4-BE49-F238E27FC236}">
                <a16:creationId xmlns:a16="http://schemas.microsoft.com/office/drawing/2014/main" id="{4BAC3AD5-7CAE-5E34-555B-0B31ECB42FC3}"/>
              </a:ext>
            </a:extLst>
          </p:cNvPr>
          <p:cNvGraphicFramePr>
            <a:graphicFrameLocks noChangeAspect="1"/>
          </p:cNvGraphicFramePr>
          <p:nvPr>
            <p:extLst>
              <p:ext uri="{D42A27DB-BD31-4B8C-83A1-F6EECF244321}">
                <p14:modId xmlns:p14="http://schemas.microsoft.com/office/powerpoint/2010/main" val="2272184152"/>
              </p:ext>
            </p:extLst>
          </p:nvPr>
        </p:nvGraphicFramePr>
        <p:xfrm>
          <a:off x="849918" y="2187892"/>
          <a:ext cx="6985000" cy="504825"/>
        </p:xfrm>
        <a:graphic>
          <a:graphicData uri="http://schemas.openxmlformats.org/presentationml/2006/ole">
            <mc:AlternateContent xmlns:mc="http://schemas.openxmlformats.org/markup-compatibility/2006">
              <mc:Choice xmlns:v="urn:schemas-microsoft-com:vml" Requires="v">
                <p:oleObj name="Equation" r:id="rId2" imgW="3327400" imgH="241300" progId="Equation.DSMT4">
                  <p:embed/>
                </p:oleObj>
              </mc:Choice>
              <mc:Fallback>
                <p:oleObj name="Equation" r:id="rId2" imgW="3327400" imgH="241300" progId="Equation.DSMT4">
                  <p:embed/>
                  <p:pic>
                    <p:nvPicPr>
                      <p:cNvPr id="17414" name="Object 7">
                        <a:extLst>
                          <a:ext uri="{FF2B5EF4-FFF2-40B4-BE49-F238E27FC236}">
                            <a16:creationId xmlns:a16="http://schemas.microsoft.com/office/drawing/2014/main" id="{4BAC3AD5-7CAE-5E34-555B-0B31ECB42F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918" y="2187892"/>
                        <a:ext cx="69850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5" name="Rectangle 8">
            <a:extLst>
              <a:ext uri="{FF2B5EF4-FFF2-40B4-BE49-F238E27FC236}">
                <a16:creationId xmlns:a16="http://schemas.microsoft.com/office/drawing/2014/main" id="{0225596E-C97B-7768-9DC4-FF3D7A9B89E6}"/>
              </a:ext>
            </a:extLst>
          </p:cNvPr>
          <p:cNvSpPr>
            <a:spLocks noChangeArrowheads="1"/>
          </p:cNvSpPr>
          <p:nvPr/>
        </p:nvSpPr>
        <p:spPr bwMode="auto">
          <a:xfrm>
            <a:off x="22830" y="309276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7416" name="Object 9">
            <a:extLst>
              <a:ext uri="{FF2B5EF4-FFF2-40B4-BE49-F238E27FC236}">
                <a16:creationId xmlns:a16="http://schemas.microsoft.com/office/drawing/2014/main" id="{F604C4B8-089B-AE7B-6EDF-4AEDD94B319D}"/>
              </a:ext>
            </a:extLst>
          </p:cNvPr>
          <p:cNvGraphicFramePr>
            <a:graphicFrameLocks noChangeAspect="1"/>
          </p:cNvGraphicFramePr>
          <p:nvPr>
            <p:extLst>
              <p:ext uri="{D42A27DB-BD31-4B8C-83A1-F6EECF244321}">
                <p14:modId xmlns:p14="http://schemas.microsoft.com/office/powerpoint/2010/main" val="3412263453"/>
              </p:ext>
            </p:extLst>
          </p:nvPr>
        </p:nvGraphicFramePr>
        <p:xfrm>
          <a:off x="634018" y="2764155"/>
          <a:ext cx="3384550" cy="3089275"/>
        </p:xfrm>
        <a:graphic>
          <a:graphicData uri="http://schemas.openxmlformats.org/presentationml/2006/ole">
            <mc:AlternateContent xmlns:mc="http://schemas.openxmlformats.org/markup-compatibility/2006">
              <mc:Choice xmlns:v="urn:schemas-microsoft-com:vml" Requires="v">
                <p:oleObj name="Microsoft Drawing" r:id="rId4" imgW="1535113" imgH="1401763" progId="MSDraw">
                  <p:embed/>
                </p:oleObj>
              </mc:Choice>
              <mc:Fallback>
                <p:oleObj name="Microsoft Drawing" r:id="rId4" imgW="1535113" imgH="1401763" progId="MSDraw">
                  <p:embed/>
                  <p:pic>
                    <p:nvPicPr>
                      <p:cNvPr id="17416" name="Object 9">
                        <a:extLst>
                          <a:ext uri="{FF2B5EF4-FFF2-40B4-BE49-F238E27FC236}">
                            <a16:creationId xmlns:a16="http://schemas.microsoft.com/office/drawing/2014/main" id="{F604C4B8-089B-AE7B-6EDF-4AEDD94B31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4018" y="2764155"/>
                        <a:ext cx="3384550" cy="30892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7" name="Rectangle 10">
            <a:extLst>
              <a:ext uri="{FF2B5EF4-FFF2-40B4-BE49-F238E27FC236}">
                <a16:creationId xmlns:a16="http://schemas.microsoft.com/office/drawing/2014/main" id="{A16EF15B-9F68-CDFF-1953-0111E4E83B2A}"/>
              </a:ext>
            </a:extLst>
          </p:cNvPr>
          <p:cNvSpPr>
            <a:spLocks noChangeArrowheads="1"/>
          </p:cNvSpPr>
          <p:nvPr/>
        </p:nvSpPr>
        <p:spPr bwMode="auto">
          <a:xfrm>
            <a:off x="22830" y="309276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7418" name="Object 11">
            <a:extLst>
              <a:ext uri="{FF2B5EF4-FFF2-40B4-BE49-F238E27FC236}">
                <a16:creationId xmlns:a16="http://schemas.microsoft.com/office/drawing/2014/main" id="{A458C4F3-6AEA-3AAA-2685-5C6C042EC6ED}"/>
              </a:ext>
            </a:extLst>
          </p:cNvPr>
          <p:cNvGraphicFramePr>
            <a:graphicFrameLocks noChangeAspect="1"/>
          </p:cNvGraphicFramePr>
          <p:nvPr>
            <p:extLst>
              <p:ext uri="{D42A27DB-BD31-4B8C-83A1-F6EECF244321}">
                <p14:modId xmlns:p14="http://schemas.microsoft.com/office/powerpoint/2010/main" val="2970007646"/>
              </p:ext>
            </p:extLst>
          </p:nvPr>
        </p:nvGraphicFramePr>
        <p:xfrm>
          <a:off x="4018568" y="2908617"/>
          <a:ext cx="3168650" cy="2892425"/>
        </p:xfrm>
        <a:graphic>
          <a:graphicData uri="http://schemas.openxmlformats.org/presentationml/2006/ole">
            <mc:AlternateContent xmlns:mc="http://schemas.openxmlformats.org/markup-compatibility/2006">
              <mc:Choice xmlns:v="urn:schemas-microsoft-com:vml" Requires="v">
                <p:oleObj name="Microsoft Drawing" r:id="rId6" imgW="1535113" imgH="1401763" progId="MSDraw">
                  <p:embed/>
                </p:oleObj>
              </mc:Choice>
              <mc:Fallback>
                <p:oleObj name="Microsoft Drawing" r:id="rId6" imgW="1535113" imgH="1401763" progId="MSDraw">
                  <p:embed/>
                  <p:pic>
                    <p:nvPicPr>
                      <p:cNvPr id="17418" name="Object 11">
                        <a:extLst>
                          <a:ext uri="{FF2B5EF4-FFF2-40B4-BE49-F238E27FC236}">
                            <a16:creationId xmlns:a16="http://schemas.microsoft.com/office/drawing/2014/main" id="{A458C4F3-6AEA-3AAA-2685-5C6C042EC6E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18568" y="2908617"/>
                        <a:ext cx="3168650"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9" name="Text Box 12">
            <a:extLst>
              <a:ext uri="{FF2B5EF4-FFF2-40B4-BE49-F238E27FC236}">
                <a16:creationId xmlns:a16="http://schemas.microsoft.com/office/drawing/2014/main" id="{E18CEFA1-EBC5-DEAD-DDC3-538C8E45C2CF}"/>
              </a:ext>
            </a:extLst>
          </p:cNvPr>
          <p:cNvSpPr txBox="1">
            <a:spLocks noChangeArrowheads="1"/>
          </p:cNvSpPr>
          <p:nvPr/>
        </p:nvSpPr>
        <p:spPr bwMode="auto">
          <a:xfrm>
            <a:off x="686405" y="6291580"/>
            <a:ext cx="6429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t>与异步机比，</a:t>
            </a:r>
            <a:r>
              <a:rPr lang="zh-CN" altLang="en-US" sz="2400" b="1">
                <a:solidFill>
                  <a:srgbClr val="0000FF"/>
                </a:solidFill>
              </a:rPr>
              <a:t>功率因数特性有很大差别</a:t>
            </a:r>
            <a:r>
              <a:rPr lang="zh-CN" altLang="en-US" sz="2400"/>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a:extLst>
              <a:ext uri="{FF2B5EF4-FFF2-40B4-BE49-F238E27FC236}">
                <a16:creationId xmlns:a16="http://schemas.microsoft.com/office/drawing/2014/main" id="{C012EB38-4029-009D-35A6-C25BBED73E4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863EDDB-3833-4379-829F-2F7E0D747913}" type="slidenum">
              <a:rPr lang="en-US" altLang="zh-CN" sz="1400" smtClean="0"/>
              <a:pPr>
                <a:spcBef>
                  <a:spcPct val="0"/>
                </a:spcBef>
                <a:buFontTx/>
                <a:buNone/>
              </a:pPr>
              <a:t>34</a:t>
            </a:fld>
            <a:endParaRPr lang="en-US" altLang="zh-CN" sz="1400"/>
          </a:p>
        </p:txBody>
      </p:sp>
      <p:sp>
        <p:nvSpPr>
          <p:cNvPr id="24579" name="Rectangle 2">
            <a:extLst>
              <a:ext uri="{FF2B5EF4-FFF2-40B4-BE49-F238E27FC236}">
                <a16:creationId xmlns:a16="http://schemas.microsoft.com/office/drawing/2014/main" id="{95CB3C2C-340C-2CC1-110D-33EF89A4601A}"/>
              </a:ext>
            </a:extLst>
          </p:cNvPr>
          <p:cNvSpPr>
            <a:spLocks noGrp="1" noChangeArrowheads="1"/>
          </p:cNvSpPr>
          <p:nvPr>
            <p:ph type="title"/>
          </p:nvPr>
        </p:nvSpPr>
        <p:spPr>
          <a:xfrm>
            <a:off x="-329716" y="498476"/>
            <a:ext cx="9803432" cy="1143000"/>
          </a:xfrm>
        </p:spPr>
        <p:txBody>
          <a:bodyPr/>
          <a:lstStyle/>
          <a:p>
            <a:pPr eaLnBrk="1" hangingPunct="1"/>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ea typeface="黑体" panose="02010609060101010101" pitchFamily="49" charset="-122"/>
              </a:rPr>
              <a:t>V</a:t>
            </a:r>
            <a:r>
              <a:rPr lang="zh-CN" altLang="en-US" sz="2800" b="1" dirty="0">
                <a:solidFill>
                  <a:srgbClr val="0000FF"/>
                </a:solidFill>
                <a:ea typeface="黑体" panose="02010609060101010101" pitchFamily="49" charset="-122"/>
              </a:rPr>
              <a:t>形曲线</a:t>
            </a:r>
            <a:r>
              <a:rPr lang="zh-CN" altLang="en-US" sz="2800" b="1" dirty="0">
                <a:ea typeface="黑体" panose="02010609060101010101" pitchFamily="49" charset="-122"/>
              </a:rPr>
              <a:t>：不同负载功率下励磁电流与定子电流的关系</a:t>
            </a:r>
            <a:r>
              <a:rPr lang="zh-CN" altLang="en-US" sz="4000" dirty="0"/>
              <a:t> </a:t>
            </a:r>
          </a:p>
        </p:txBody>
      </p:sp>
      <p:graphicFrame>
        <p:nvGraphicFramePr>
          <p:cNvPr id="24580" name="Object 4">
            <a:extLst>
              <a:ext uri="{FF2B5EF4-FFF2-40B4-BE49-F238E27FC236}">
                <a16:creationId xmlns:a16="http://schemas.microsoft.com/office/drawing/2014/main" id="{61D58169-4F39-7DE5-45B8-100FD72234C1}"/>
              </a:ext>
            </a:extLst>
          </p:cNvPr>
          <p:cNvGraphicFramePr>
            <a:graphicFrameLocks noGrp="1" noChangeAspect="1"/>
          </p:cNvGraphicFramePr>
          <p:nvPr>
            <p:ph idx="1"/>
          </p:nvPr>
        </p:nvGraphicFramePr>
        <p:xfrm>
          <a:off x="5486400" y="1828800"/>
          <a:ext cx="3481388" cy="3529013"/>
        </p:xfrm>
        <a:graphic>
          <a:graphicData uri="http://schemas.openxmlformats.org/presentationml/2006/ole">
            <mc:AlternateContent xmlns:mc="http://schemas.openxmlformats.org/markup-compatibility/2006">
              <mc:Choice xmlns:v="urn:schemas-microsoft-com:vml" Requires="v">
                <p:oleObj name="Microsoft Drawing" r:id="rId2" imgW="1844675" imgH="1870075" progId="MSDraw">
                  <p:embed/>
                </p:oleObj>
              </mc:Choice>
              <mc:Fallback>
                <p:oleObj name="Microsoft Drawing" r:id="rId2" imgW="1844675" imgH="1870075" progId="MSDraw">
                  <p:embed/>
                  <p:pic>
                    <p:nvPicPr>
                      <p:cNvPr id="24580" name="Object 4">
                        <a:extLst>
                          <a:ext uri="{FF2B5EF4-FFF2-40B4-BE49-F238E27FC236}">
                            <a16:creationId xmlns:a16="http://schemas.microsoft.com/office/drawing/2014/main" id="{61D58169-4F39-7DE5-45B8-100FD72234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1828800"/>
                        <a:ext cx="3481388" cy="3529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1" name="Text Box 6">
            <a:extLst>
              <a:ext uri="{FF2B5EF4-FFF2-40B4-BE49-F238E27FC236}">
                <a16:creationId xmlns:a16="http://schemas.microsoft.com/office/drawing/2014/main" id="{096DFED0-A7FF-7623-4FE1-E941FB54ABBF}"/>
              </a:ext>
            </a:extLst>
          </p:cNvPr>
          <p:cNvSpPr txBox="1">
            <a:spLocks noChangeArrowheads="1"/>
          </p:cNvSpPr>
          <p:nvPr/>
        </p:nvSpPr>
        <p:spPr bwMode="auto">
          <a:xfrm>
            <a:off x="592138" y="1431925"/>
            <a:ext cx="4627562"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a:ea typeface="黑体" panose="02010609060101010101" pitchFamily="49" charset="-122"/>
              </a:rPr>
              <a:t>负载恒定时，若正常励磁，功率因数为</a:t>
            </a:r>
            <a:r>
              <a:rPr lang="en-US" altLang="zh-CN" sz="2400" b="1">
                <a:ea typeface="黑体" panose="02010609060101010101" pitchFamily="49" charset="-122"/>
              </a:rPr>
              <a:t>1</a:t>
            </a:r>
            <a:r>
              <a:rPr lang="zh-CN" altLang="en-US" sz="2400" b="1">
                <a:ea typeface="黑体" panose="02010609060101010101" pitchFamily="49" charset="-122"/>
              </a:rPr>
              <a:t>，电枢电流达到最小值。此时无论增加、减少励磁电流，电枢电流均会增大。因此两电流的关系呈</a:t>
            </a:r>
            <a:r>
              <a:rPr lang="en-US" altLang="zh-CN" sz="2400" b="1">
                <a:ea typeface="黑体" panose="02010609060101010101" pitchFamily="49" charset="-122"/>
              </a:rPr>
              <a:t>V</a:t>
            </a:r>
            <a:r>
              <a:rPr lang="zh-CN" altLang="en-US" sz="2400" b="1">
                <a:ea typeface="黑体" panose="02010609060101010101" pitchFamily="49" charset="-122"/>
              </a:rPr>
              <a:t>形。 </a:t>
            </a:r>
          </a:p>
        </p:txBody>
      </p:sp>
      <p:sp>
        <p:nvSpPr>
          <p:cNvPr id="24582" name="Rectangle 9">
            <a:extLst>
              <a:ext uri="{FF2B5EF4-FFF2-40B4-BE49-F238E27FC236}">
                <a16:creationId xmlns:a16="http://schemas.microsoft.com/office/drawing/2014/main" id="{D86BD36D-80FF-B473-EA12-718D25E50BBF}"/>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sp>
        <p:nvSpPr>
          <p:cNvPr id="24583" name="AutoShape 10">
            <a:extLst>
              <a:ext uri="{FF2B5EF4-FFF2-40B4-BE49-F238E27FC236}">
                <a16:creationId xmlns:a16="http://schemas.microsoft.com/office/drawing/2014/main" id="{C59F8987-132C-5853-14AC-D018BEB4B1EB}"/>
              </a:ext>
            </a:extLst>
          </p:cNvPr>
          <p:cNvSpPr>
            <a:spLocks noChangeArrowheads="1"/>
          </p:cNvSpPr>
          <p:nvPr/>
        </p:nvSpPr>
        <p:spPr bwMode="auto">
          <a:xfrm>
            <a:off x="5867400" y="1295400"/>
            <a:ext cx="762000" cy="914400"/>
          </a:xfrm>
          <a:prstGeom prst="wedgeRoundRectCallout">
            <a:avLst>
              <a:gd name="adj1" fmla="val 67917"/>
              <a:gd name="adj2" fmla="val 6962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a:t>滞后</a:t>
            </a:r>
          </a:p>
        </p:txBody>
      </p:sp>
      <p:sp>
        <p:nvSpPr>
          <p:cNvPr id="24584" name="AutoShape 11">
            <a:extLst>
              <a:ext uri="{FF2B5EF4-FFF2-40B4-BE49-F238E27FC236}">
                <a16:creationId xmlns:a16="http://schemas.microsoft.com/office/drawing/2014/main" id="{CC5EA7B8-4356-C954-C35D-F4CB935CEFA5}"/>
              </a:ext>
            </a:extLst>
          </p:cNvPr>
          <p:cNvSpPr>
            <a:spLocks noChangeArrowheads="1"/>
          </p:cNvSpPr>
          <p:nvPr/>
        </p:nvSpPr>
        <p:spPr bwMode="auto">
          <a:xfrm>
            <a:off x="8293894" y="4596291"/>
            <a:ext cx="762000" cy="914400"/>
          </a:xfrm>
          <a:prstGeom prst="wedgeRoundRectCallout">
            <a:avLst>
              <a:gd name="adj1" fmla="val -83917"/>
              <a:gd name="adj2" fmla="val -187014"/>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a:t>超前</a:t>
            </a:r>
          </a:p>
        </p:txBody>
      </p:sp>
      <p:grpSp>
        <p:nvGrpSpPr>
          <p:cNvPr id="32782" name="Group 14">
            <a:extLst>
              <a:ext uri="{FF2B5EF4-FFF2-40B4-BE49-F238E27FC236}">
                <a16:creationId xmlns:a16="http://schemas.microsoft.com/office/drawing/2014/main" id="{D14607AE-5725-8B52-37F0-CBA02FADB824}"/>
              </a:ext>
            </a:extLst>
          </p:cNvPr>
          <p:cNvGrpSpPr>
            <a:grpSpLocks/>
          </p:cNvGrpSpPr>
          <p:nvPr/>
        </p:nvGrpSpPr>
        <p:grpSpPr bwMode="auto">
          <a:xfrm>
            <a:off x="381000" y="3213100"/>
            <a:ext cx="5105400" cy="2863850"/>
            <a:chOff x="240" y="2024"/>
            <a:chExt cx="3216" cy="1804"/>
          </a:xfrm>
        </p:grpSpPr>
        <p:graphicFrame>
          <p:nvGraphicFramePr>
            <p:cNvPr id="24586" name="Object 8">
              <a:extLst>
                <a:ext uri="{FF2B5EF4-FFF2-40B4-BE49-F238E27FC236}">
                  <a16:creationId xmlns:a16="http://schemas.microsoft.com/office/drawing/2014/main" id="{F0DCC257-FB62-37CE-1129-5ABF03758865}"/>
                </a:ext>
              </a:extLst>
            </p:cNvPr>
            <p:cNvGraphicFramePr>
              <a:graphicFrameLocks noChangeAspect="1"/>
            </p:cNvGraphicFramePr>
            <p:nvPr/>
          </p:nvGraphicFramePr>
          <p:xfrm>
            <a:off x="1565" y="2024"/>
            <a:ext cx="1768" cy="467"/>
          </p:xfrm>
          <a:graphic>
            <a:graphicData uri="http://schemas.openxmlformats.org/presentationml/2006/ole">
              <mc:AlternateContent xmlns:mc="http://schemas.openxmlformats.org/markup-compatibility/2006">
                <mc:Choice xmlns:v="urn:schemas-microsoft-com:vml" Requires="v">
                  <p:oleObj name="Equation" r:id="rId4" imgW="1625600" imgH="431800" progId="Equation.DSMT4">
                    <p:embed/>
                  </p:oleObj>
                </mc:Choice>
                <mc:Fallback>
                  <p:oleObj name="Equation" r:id="rId4" imgW="1625600" imgH="431800" progId="Equation.DSMT4">
                    <p:embed/>
                    <p:pic>
                      <p:nvPicPr>
                        <p:cNvPr id="24586" name="Object 8">
                          <a:extLst>
                            <a:ext uri="{FF2B5EF4-FFF2-40B4-BE49-F238E27FC236}">
                              <a16:creationId xmlns:a16="http://schemas.microsoft.com/office/drawing/2014/main" id="{F0DCC257-FB62-37CE-1129-5ABF037588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5" y="2024"/>
                          <a:ext cx="1768"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4587" name="Group 13">
              <a:extLst>
                <a:ext uri="{FF2B5EF4-FFF2-40B4-BE49-F238E27FC236}">
                  <a16:creationId xmlns:a16="http://schemas.microsoft.com/office/drawing/2014/main" id="{94052F0C-4A37-80E5-1A13-F96E132D2323}"/>
                </a:ext>
              </a:extLst>
            </p:cNvPr>
            <p:cNvGrpSpPr>
              <a:grpSpLocks/>
            </p:cNvGrpSpPr>
            <p:nvPr/>
          </p:nvGrpSpPr>
          <p:grpSpPr bwMode="auto">
            <a:xfrm>
              <a:off x="240" y="2064"/>
              <a:ext cx="3216" cy="1764"/>
              <a:chOff x="240" y="2064"/>
              <a:chExt cx="3216" cy="1764"/>
            </a:xfrm>
          </p:grpSpPr>
          <p:sp>
            <p:nvSpPr>
              <p:cNvPr id="24588" name="Text Box 7">
                <a:extLst>
                  <a:ext uri="{FF2B5EF4-FFF2-40B4-BE49-F238E27FC236}">
                    <a16:creationId xmlns:a16="http://schemas.microsoft.com/office/drawing/2014/main" id="{85CE815A-83CE-578D-63CC-B381C6472D09}"/>
                  </a:ext>
                </a:extLst>
              </p:cNvPr>
              <p:cNvSpPr txBox="1">
                <a:spLocks noChangeArrowheads="1"/>
              </p:cNvSpPr>
              <p:nvPr/>
            </p:nvSpPr>
            <p:spPr bwMode="auto">
              <a:xfrm>
                <a:off x="373" y="2160"/>
                <a:ext cx="2961" cy="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a:ea typeface="黑体" panose="02010609060101010101" pitchFamily="49" charset="-122"/>
                  </a:rPr>
                  <a:t>负载恒定时 </a:t>
                </a:r>
              </a:p>
              <a:p>
                <a:pPr eaLnBrk="1" hangingPunct="1">
                  <a:spcBef>
                    <a:spcPct val="0"/>
                  </a:spcBef>
                  <a:buFont typeface="Wingdings" panose="05000000000000000000" pitchFamily="2" charset="2"/>
                  <a:buNone/>
                </a:pPr>
                <a:r>
                  <a:rPr lang="zh-CN" altLang="en-US" sz="2400" b="1">
                    <a:ea typeface="黑体" panose="02010609060101010101" pitchFamily="49" charset="-122"/>
                  </a:rPr>
                  <a:t>减少励磁，电势减小，功角必然增加。励磁减少到一定数值时，负功角将达到</a:t>
                </a:r>
                <a:r>
                  <a:rPr lang="en-US" altLang="zh-CN" sz="2400" b="1">
                    <a:ea typeface="黑体" panose="02010609060101010101" pitchFamily="49" charset="-122"/>
                  </a:rPr>
                  <a:t>90</a:t>
                </a:r>
                <a:r>
                  <a:rPr lang="zh-CN" altLang="en-US" sz="2400" b="1">
                    <a:ea typeface="黑体" panose="02010609060101010101" pitchFamily="49" charset="-122"/>
                  </a:rPr>
                  <a:t>度，若继续减小励磁，负功角将大于</a:t>
                </a:r>
                <a:r>
                  <a:rPr lang="en-US" altLang="zh-CN" sz="2400" b="1">
                    <a:ea typeface="黑体" panose="02010609060101010101" pitchFamily="49" charset="-122"/>
                  </a:rPr>
                  <a:t>90</a:t>
                </a:r>
                <a:r>
                  <a:rPr lang="zh-CN" altLang="en-US" sz="2400" b="1">
                    <a:ea typeface="黑体" panose="02010609060101010101" pitchFamily="49" charset="-122"/>
                  </a:rPr>
                  <a:t>度，电磁转矩不再能保持常数，电机进入不稳定区。</a:t>
                </a:r>
              </a:p>
            </p:txBody>
          </p:sp>
          <p:sp>
            <p:nvSpPr>
              <p:cNvPr id="24589" name="AutoShape 12">
                <a:extLst>
                  <a:ext uri="{FF2B5EF4-FFF2-40B4-BE49-F238E27FC236}">
                    <a16:creationId xmlns:a16="http://schemas.microsoft.com/office/drawing/2014/main" id="{A96F0A77-DE3F-E44D-C1F1-6CBEB158CE49}"/>
                  </a:ext>
                </a:extLst>
              </p:cNvPr>
              <p:cNvSpPr>
                <a:spLocks noChangeArrowheads="1"/>
              </p:cNvSpPr>
              <p:nvPr/>
            </p:nvSpPr>
            <p:spPr bwMode="auto">
              <a:xfrm>
                <a:off x="240" y="2064"/>
                <a:ext cx="3216" cy="1728"/>
              </a:xfrm>
              <a:prstGeom prst="wedgeRoundRectCallout">
                <a:avLst>
                  <a:gd name="adj1" fmla="val 62718"/>
                  <a:gd name="adj2" fmla="val -67824"/>
                  <a:gd name="adj3" fmla="val 16667"/>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2400"/>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782"/>
                                        </p:tgtEl>
                                        <p:attrNameLst>
                                          <p:attrName>style.visibility</p:attrName>
                                        </p:attrNameLst>
                                      </p:cBhvr>
                                      <p:to>
                                        <p:strVal val="visible"/>
                                      </p:to>
                                    </p:set>
                                    <p:animEffect transition="in" filter="blinds(horizontal)">
                                      <p:cBhvr>
                                        <p:cTn id="7" dur="500"/>
                                        <p:tgtEl>
                                          <p:spTgt spid="327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a:extLst>
              <a:ext uri="{FF2B5EF4-FFF2-40B4-BE49-F238E27FC236}">
                <a16:creationId xmlns:a16="http://schemas.microsoft.com/office/drawing/2014/main" id="{AC85C03F-9CB2-3611-8E8F-BC4761321E9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E5980B1-4D8F-4E52-ACEA-548806506E97}" type="slidenum">
              <a:rPr lang="en-US" altLang="zh-CN" sz="1400" smtClean="0"/>
              <a:pPr>
                <a:spcBef>
                  <a:spcPct val="0"/>
                </a:spcBef>
                <a:buFontTx/>
                <a:buNone/>
              </a:pPr>
              <a:t>35</a:t>
            </a:fld>
            <a:endParaRPr lang="en-US" altLang="zh-CN" sz="1400"/>
          </a:p>
        </p:txBody>
      </p:sp>
      <p:sp>
        <p:nvSpPr>
          <p:cNvPr id="25603" name="Rectangle 2">
            <a:extLst>
              <a:ext uri="{FF2B5EF4-FFF2-40B4-BE49-F238E27FC236}">
                <a16:creationId xmlns:a16="http://schemas.microsoft.com/office/drawing/2014/main" id="{33D47624-A2EA-0EEB-7881-40CB5EF0D046}"/>
              </a:ext>
            </a:extLst>
          </p:cNvPr>
          <p:cNvSpPr>
            <a:spLocks noGrp="1" noChangeArrowheads="1"/>
          </p:cNvSpPr>
          <p:nvPr>
            <p:ph type="title"/>
          </p:nvPr>
        </p:nvSpPr>
        <p:spPr>
          <a:xfrm>
            <a:off x="367982" y="511175"/>
            <a:ext cx="8229600" cy="1143000"/>
          </a:xfrm>
        </p:spPr>
        <p:txBody>
          <a:bodyPr/>
          <a:lstStyle/>
          <a:p>
            <a:pPr eaLnBrk="1" hangingPunct="1"/>
            <a:r>
              <a:rPr lang="en-US" altLang="zh-CN" sz="3200" b="1" dirty="0">
                <a:latin typeface="黑体" panose="02010609060101010101" pitchFamily="49" charset="-122"/>
                <a:ea typeface="黑体" panose="02010609060101010101" pitchFamily="49" charset="-122"/>
              </a:rPr>
              <a:t>V</a:t>
            </a:r>
            <a:r>
              <a:rPr lang="zh-CN" altLang="en-US" sz="3200" b="1" dirty="0">
                <a:latin typeface="黑体" panose="02010609060101010101" pitchFamily="49" charset="-122"/>
                <a:ea typeface="黑体" panose="02010609060101010101" pitchFamily="49" charset="-122"/>
              </a:rPr>
              <a:t>形曲线的特点</a:t>
            </a:r>
          </a:p>
        </p:txBody>
      </p:sp>
      <p:graphicFrame>
        <p:nvGraphicFramePr>
          <p:cNvPr id="25604" name="Object 4">
            <a:extLst>
              <a:ext uri="{FF2B5EF4-FFF2-40B4-BE49-F238E27FC236}">
                <a16:creationId xmlns:a16="http://schemas.microsoft.com/office/drawing/2014/main" id="{EFA5931A-4795-B346-B967-154D72FC9072}"/>
              </a:ext>
            </a:extLst>
          </p:cNvPr>
          <p:cNvGraphicFramePr>
            <a:graphicFrameLocks noGrp="1" noChangeAspect="1"/>
          </p:cNvGraphicFramePr>
          <p:nvPr>
            <p:ph idx="1"/>
          </p:nvPr>
        </p:nvGraphicFramePr>
        <p:xfrm>
          <a:off x="468313" y="1341438"/>
          <a:ext cx="3265487" cy="3311525"/>
        </p:xfrm>
        <a:graphic>
          <a:graphicData uri="http://schemas.openxmlformats.org/presentationml/2006/ole">
            <mc:AlternateContent xmlns:mc="http://schemas.openxmlformats.org/markup-compatibility/2006">
              <mc:Choice xmlns:v="urn:schemas-microsoft-com:vml" Requires="v">
                <p:oleObj name="Microsoft Drawing" r:id="rId2" imgW="1844675" imgH="1870075" progId="MSDraw">
                  <p:embed/>
                </p:oleObj>
              </mc:Choice>
              <mc:Fallback>
                <p:oleObj name="Microsoft Drawing" r:id="rId2" imgW="1844675" imgH="1870075" progId="MSDraw">
                  <p:embed/>
                  <p:pic>
                    <p:nvPicPr>
                      <p:cNvPr id="25604" name="Object 4">
                        <a:extLst>
                          <a:ext uri="{FF2B5EF4-FFF2-40B4-BE49-F238E27FC236}">
                            <a16:creationId xmlns:a16="http://schemas.microsoft.com/office/drawing/2014/main" id="{EFA5931A-4795-B346-B967-154D72FC90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341438"/>
                        <a:ext cx="3265487" cy="3311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5" name="Text Box 6">
            <a:extLst>
              <a:ext uri="{FF2B5EF4-FFF2-40B4-BE49-F238E27FC236}">
                <a16:creationId xmlns:a16="http://schemas.microsoft.com/office/drawing/2014/main" id="{E03A470A-DC7B-8C9E-ACE0-3DF126EB0440}"/>
              </a:ext>
            </a:extLst>
          </p:cNvPr>
          <p:cNvSpPr txBox="1">
            <a:spLocks noChangeArrowheads="1"/>
          </p:cNvSpPr>
          <p:nvPr/>
        </p:nvSpPr>
        <p:spPr bwMode="auto">
          <a:xfrm>
            <a:off x="3995738" y="1412875"/>
            <a:ext cx="493236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a:latin typeface="黑体" panose="02010609060101010101" pitchFamily="49" charset="-122"/>
                <a:ea typeface="黑体" panose="02010609060101010101" pitchFamily="49" charset="-122"/>
              </a:rPr>
              <a:t>励磁电流一定时，输出功率越大，电枢电流越大；</a:t>
            </a:r>
          </a:p>
        </p:txBody>
      </p:sp>
      <p:sp>
        <p:nvSpPr>
          <p:cNvPr id="37895" name="Text Box 7">
            <a:extLst>
              <a:ext uri="{FF2B5EF4-FFF2-40B4-BE49-F238E27FC236}">
                <a16:creationId xmlns:a16="http://schemas.microsoft.com/office/drawing/2014/main" id="{5EA3FE4B-1807-0869-7EEF-0F607D759ED7}"/>
              </a:ext>
            </a:extLst>
          </p:cNvPr>
          <p:cNvSpPr txBox="1">
            <a:spLocks noChangeArrowheads="1"/>
          </p:cNvSpPr>
          <p:nvPr/>
        </p:nvSpPr>
        <p:spPr bwMode="auto">
          <a:xfrm>
            <a:off x="4048125" y="2492375"/>
            <a:ext cx="44116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a:latin typeface="黑体" panose="02010609060101010101" pitchFamily="49" charset="-122"/>
                <a:ea typeface="黑体" panose="02010609060101010101" pitchFamily="49" charset="-122"/>
              </a:rPr>
              <a:t>每曲线电枢电流在单位功率因数点达到最小。 </a:t>
            </a:r>
          </a:p>
        </p:txBody>
      </p:sp>
      <p:sp>
        <p:nvSpPr>
          <p:cNvPr id="37896" name="Text Box 8">
            <a:extLst>
              <a:ext uri="{FF2B5EF4-FFF2-40B4-BE49-F238E27FC236}">
                <a16:creationId xmlns:a16="http://schemas.microsoft.com/office/drawing/2014/main" id="{FAE288C2-1A37-3522-34F4-AEFA5D813745}"/>
              </a:ext>
            </a:extLst>
          </p:cNvPr>
          <p:cNvSpPr txBox="1">
            <a:spLocks noChangeArrowheads="1"/>
          </p:cNvSpPr>
          <p:nvPr/>
        </p:nvSpPr>
        <p:spPr bwMode="auto">
          <a:xfrm>
            <a:off x="4048125" y="3644900"/>
            <a:ext cx="49164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a:latin typeface="黑体" panose="02010609060101010101" pitchFamily="49" charset="-122"/>
                <a:ea typeface="黑体" panose="02010609060101010101" pitchFamily="49" charset="-122"/>
              </a:rPr>
              <a:t>励磁过分小将使负功角过大，造成失步。</a:t>
            </a:r>
          </a:p>
        </p:txBody>
      </p:sp>
      <p:sp>
        <p:nvSpPr>
          <p:cNvPr id="37897" name="Text Box 9">
            <a:extLst>
              <a:ext uri="{FF2B5EF4-FFF2-40B4-BE49-F238E27FC236}">
                <a16:creationId xmlns:a16="http://schemas.microsoft.com/office/drawing/2014/main" id="{97A09B85-DE9E-0FDD-8768-7DAA9264E544}"/>
              </a:ext>
            </a:extLst>
          </p:cNvPr>
          <p:cNvSpPr txBox="1">
            <a:spLocks noChangeArrowheads="1"/>
          </p:cNvSpPr>
          <p:nvPr/>
        </p:nvSpPr>
        <p:spPr bwMode="auto">
          <a:xfrm>
            <a:off x="735013" y="4887913"/>
            <a:ext cx="80137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dirty="0">
                <a:latin typeface="黑体" panose="02010609060101010101" pitchFamily="49" charset="-122"/>
                <a:ea typeface="黑体" panose="02010609060101010101" pitchFamily="49" charset="-122"/>
              </a:rPr>
              <a:t>电励磁同步电动机有时专门工作在</a:t>
            </a:r>
            <a:r>
              <a:rPr lang="en-US" altLang="zh-CN" sz="2400" b="1" dirty="0">
                <a:latin typeface="黑体" panose="02010609060101010101" pitchFamily="49" charset="-122"/>
                <a:ea typeface="黑体" panose="02010609060101010101" pitchFamily="49" charset="-122"/>
              </a:rPr>
              <a:t>0</a:t>
            </a:r>
            <a:r>
              <a:rPr lang="zh-CN" altLang="en-US" sz="2400" b="1" dirty="0">
                <a:latin typeface="黑体" panose="02010609060101010101" pitchFamily="49" charset="-122"/>
                <a:ea typeface="黑体" panose="02010609060101010101" pitchFamily="49" charset="-122"/>
              </a:rPr>
              <a:t>有功功率过励状态，即不带任何负载，专用于提高电网功率因数。此时的同步电机又称为同步调相机或同步补偿机。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7895"/>
                                        </p:tgtEl>
                                        <p:attrNameLst>
                                          <p:attrName>style.visibility</p:attrName>
                                        </p:attrNameLst>
                                      </p:cBhvr>
                                      <p:to>
                                        <p:strVal val="visible"/>
                                      </p:to>
                                    </p:set>
                                    <p:animEffect transition="in" filter="blinds(horizontal)">
                                      <p:cBhvr>
                                        <p:cTn id="7" dur="500"/>
                                        <p:tgtEl>
                                          <p:spTgt spid="378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7896"/>
                                        </p:tgtEl>
                                        <p:attrNameLst>
                                          <p:attrName>style.visibility</p:attrName>
                                        </p:attrNameLst>
                                      </p:cBhvr>
                                      <p:to>
                                        <p:strVal val="visible"/>
                                      </p:to>
                                    </p:set>
                                    <p:animEffect transition="in" filter="blinds(horizontal)">
                                      <p:cBhvr>
                                        <p:cTn id="12" dur="500"/>
                                        <p:tgtEl>
                                          <p:spTgt spid="378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7897"/>
                                        </p:tgtEl>
                                        <p:attrNameLst>
                                          <p:attrName>style.visibility</p:attrName>
                                        </p:attrNameLst>
                                      </p:cBhvr>
                                      <p:to>
                                        <p:strVal val="visible"/>
                                      </p:to>
                                    </p:set>
                                    <p:animEffect transition="in" filter="blinds(horizontal)">
                                      <p:cBhvr>
                                        <p:cTn id="17" dur="500"/>
                                        <p:tgtEl>
                                          <p:spTgt spid="378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5" grpId="0" autoUpdateAnimBg="0"/>
      <p:bldP spid="37896" grpId="0" autoUpdateAnimBg="0"/>
      <p:bldP spid="37897"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a:extLst>
              <a:ext uri="{FF2B5EF4-FFF2-40B4-BE49-F238E27FC236}">
                <a16:creationId xmlns:a16="http://schemas.microsoft.com/office/drawing/2014/main" id="{1A90B12F-A3D5-09BF-124B-94B2AA0EC810}"/>
              </a:ext>
            </a:extLst>
          </p:cNvPr>
          <p:cNvSpPr>
            <a:spLocks noGrp="1"/>
          </p:cNvSpPr>
          <p:nvPr>
            <p:ph type="sldNum" sz="quarter" idx="12"/>
          </p:nvPr>
        </p:nvSpPr>
        <p:spPr>
          <a:xfrm>
            <a:off x="6732240" y="6460894"/>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C6EBDC9-2062-458A-96F5-14DD12397F93}" type="slidenum">
              <a:rPr lang="en-US" altLang="zh-CN" sz="1400" smtClean="0"/>
              <a:pPr>
                <a:spcBef>
                  <a:spcPct val="0"/>
                </a:spcBef>
                <a:buFontTx/>
                <a:buNone/>
              </a:pPr>
              <a:t>36</a:t>
            </a:fld>
            <a:endParaRPr lang="en-US" altLang="zh-CN" sz="1400" dirty="0"/>
          </a:p>
        </p:txBody>
      </p:sp>
      <p:sp>
        <p:nvSpPr>
          <p:cNvPr id="26627" name="Rectangle 2">
            <a:extLst>
              <a:ext uri="{FF2B5EF4-FFF2-40B4-BE49-F238E27FC236}">
                <a16:creationId xmlns:a16="http://schemas.microsoft.com/office/drawing/2014/main" id="{7C6D28AA-D26A-02F8-092D-A8B4C3934F67}"/>
              </a:ext>
            </a:extLst>
          </p:cNvPr>
          <p:cNvSpPr>
            <a:spLocks noGrp="1" noChangeArrowheads="1"/>
          </p:cNvSpPr>
          <p:nvPr>
            <p:ph type="title"/>
          </p:nvPr>
        </p:nvSpPr>
        <p:spPr>
          <a:xfrm>
            <a:off x="426243" y="980728"/>
            <a:ext cx="8291513" cy="1425575"/>
          </a:xfrm>
        </p:spPr>
        <p:txBody>
          <a:bodyPr/>
          <a:lstStyle/>
          <a:p>
            <a:pPr algn="l" eaLnBrk="1" hangingPunct="1"/>
            <a:r>
              <a:rPr lang="zh-CN" altLang="en-US" sz="2400" b="1">
                <a:ea typeface="黑体" panose="02010609060101010101" pitchFamily="49" charset="-122"/>
              </a:rPr>
              <a:t>例</a:t>
            </a:r>
            <a:r>
              <a:rPr lang="en-US" altLang="zh-CN" sz="2400" b="1">
                <a:ea typeface="黑体" panose="02010609060101010101" pitchFamily="49" charset="-122"/>
              </a:rPr>
              <a:t>5   </a:t>
            </a:r>
            <a:r>
              <a:rPr lang="zh-CN" altLang="en-US" sz="2400" b="1">
                <a:ea typeface="黑体" panose="02010609060101010101" pitchFamily="49" charset="-122"/>
              </a:rPr>
              <a:t>某同步电动机 </a:t>
            </a:r>
            <a:r>
              <a:rPr lang="en-US" altLang="zh-CN" sz="2400" b="1">
                <a:ea typeface="黑体" panose="02010609060101010101" pitchFamily="49" charset="-122"/>
              </a:rPr>
              <a:t>208V</a:t>
            </a:r>
            <a:r>
              <a:rPr lang="zh-CN" altLang="en-US" sz="2400" b="1">
                <a:ea typeface="黑体" panose="02010609060101010101" pitchFamily="49" charset="-122"/>
              </a:rPr>
              <a:t>，</a:t>
            </a:r>
            <a:r>
              <a:rPr lang="en-US" altLang="zh-CN" sz="2400" b="1">
                <a:ea typeface="黑体" panose="02010609060101010101" pitchFamily="49" charset="-122"/>
              </a:rPr>
              <a:t>45kVA</a:t>
            </a:r>
            <a:r>
              <a:rPr lang="zh-CN" altLang="en-US" sz="2400" b="1">
                <a:ea typeface="黑体" panose="02010609060101010101" pitchFamily="49" charset="-122"/>
              </a:rPr>
              <a:t>， </a:t>
            </a:r>
            <a:r>
              <a:rPr lang="en-US" altLang="zh-CN" sz="2400" b="1">
                <a:ea typeface="黑体" panose="02010609060101010101" pitchFamily="49" charset="-122"/>
              </a:rPr>
              <a:t>0.8</a:t>
            </a:r>
            <a:r>
              <a:rPr lang="zh-CN" altLang="en-US" sz="2400" b="1">
                <a:ea typeface="黑体" panose="02010609060101010101" pitchFamily="49" charset="-122"/>
              </a:rPr>
              <a:t>超前功率因数，三角连接，</a:t>
            </a:r>
            <a:r>
              <a:rPr lang="en-US" altLang="zh-CN" sz="2400" b="1">
                <a:ea typeface="黑体" panose="02010609060101010101" pitchFamily="49" charset="-122"/>
              </a:rPr>
              <a:t>60Hz </a:t>
            </a:r>
            <a:r>
              <a:rPr lang="zh-CN" altLang="en-US" sz="2400" b="1">
                <a:ea typeface="黑体" panose="02010609060101010101" pitchFamily="49" charset="-122"/>
              </a:rPr>
              <a:t>，同步电抗</a:t>
            </a:r>
            <a:r>
              <a:rPr lang="en-US" altLang="zh-CN" sz="2400" b="1">
                <a:ea typeface="黑体" panose="02010609060101010101" pitchFamily="49" charset="-122"/>
              </a:rPr>
              <a:t>2.5</a:t>
            </a:r>
            <a:r>
              <a:rPr lang="en-US" altLang="zh-CN" sz="2400" b="1">
                <a:latin typeface="Symbol" panose="05050102010706020507" pitchFamily="18" charset="2"/>
                <a:ea typeface="黑体" panose="02010609060101010101" pitchFamily="49" charset="-122"/>
              </a:rPr>
              <a:t>W</a:t>
            </a:r>
            <a:r>
              <a:rPr lang="zh-CN" altLang="en-US" sz="2400" b="1">
                <a:ea typeface="黑体" panose="02010609060101010101" pitchFamily="49" charset="-122"/>
              </a:rPr>
              <a:t>，定子电阻可忽略。铁耗为</a:t>
            </a:r>
            <a:r>
              <a:rPr lang="en-US" altLang="zh-CN" sz="2400" b="1">
                <a:ea typeface="黑体" panose="02010609060101010101" pitchFamily="49" charset="-122"/>
              </a:rPr>
              <a:t>1.0kW</a:t>
            </a:r>
            <a:r>
              <a:rPr lang="zh-CN" altLang="en-US" sz="2400" b="1">
                <a:ea typeface="黑体" panose="02010609060101010101" pitchFamily="49" charset="-122"/>
              </a:rPr>
              <a:t>，风阻、磨擦损耗</a:t>
            </a:r>
            <a:r>
              <a:rPr lang="en-US" altLang="zh-CN" sz="2400" b="1">
                <a:ea typeface="黑体" panose="02010609060101010101" pitchFamily="49" charset="-122"/>
              </a:rPr>
              <a:t>1.5kW</a:t>
            </a:r>
            <a:r>
              <a:rPr lang="zh-CN" altLang="en-US" sz="2400" b="1">
                <a:ea typeface="黑体" panose="02010609060101010101" pitchFamily="49" charset="-122"/>
              </a:rPr>
              <a:t>，初始带有</a:t>
            </a:r>
            <a:r>
              <a:rPr lang="en-US" altLang="zh-CN" sz="2400" b="1">
                <a:ea typeface="黑体" panose="02010609060101010101" pitchFamily="49" charset="-122"/>
              </a:rPr>
              <a:t>15hp</a:t>
            </a:r>
            <a:r>
              <a:rPr lang="zh-CN" altLang="en-US" sz="2400" b="1">
                <a:ea typeface="黑体" panose="02010609060101010101" pitchFamily="49" charset="-122"/>
              </a:rPr>
              <a:t>负载，运行在</a:t>
            </a:r>
            <a:r>
              <a:rPr lang="en-US" altLang="zh-CN" sz="2400" b="1">
                <a:ea typeface="黑体" panose="02010609060101010101" pitchFamily="49" charset="-122"/>
              </a:rPr>
              <a:t>0.85</a:t>
            </a:r>
            <a:r>
              <a:rPr lang="zh-CN" altLang="en-US" sz="2400" b="1">
                <a:ea typeface="黑体" panose="02010609060101010101" pitchFamily="49" charset="-122"/>
              </a:rPr>
              <a:t>滞后功率因数，励磁电流</a:t>
            </a:r>
            <a:r>
              <a:rPr lang="en-US" altLang="zh-CN" sz="2400" b="1">
                <a:ea typeface="黑体" panose="02010609060101010101" pitchFamily="49" charset="-122"/>
              </a:rPr>
              <a:t>4.0A</a:t>
            </a:r>
            <a:r>
              <a:rPr lang="zh-CN" altLang="en-US" sz="2400" b="1">
                <a:ea typeface="黑体" panose="02010609060101010101" pitchFamily="49" charset="-122"/>
              </a:rPr>
              <a:t>。</a:t>
            </a:r>
          </a:p>
        </p:txBody>
      </p:sp>
      <p:sp>
        <p:nvSpPr>
          <p:cNvPr id="26628" name="Rectangle 3">
            <a:extLst>
              <a:ext uri="{FF2B5EF4-FFF2-40B4-BE49-F238E27FC236}">
                <a16:creationId xmlns:a16="http://schemas.microsoft.com/office/drawing/2014/main" id="{2CB96A71-6431-C32E-B650-4CE9F263C3CF}"/>
              </a:ext>
            </a:extLst>
          </p:cNvPr>
          <p:cNvSpPr>
            <a:spLocks noGrp="1" noChangeArrowheads="1"/>
          </p:cNvSpPr>
          <p:nvPr>
            <p:ph type="body" idx="1"/>
          </p:nvPr>
        </p:nvSpPr>
        <p:spPr>
          <a:xfrm>
            <a:off x="426243" y="2550765"/>
            <a:ext cx="6491288" cy="576263"/>
          </a:xfrm>
        </p:spPr>
        <p:txBody>
          <a:bodyPr/>
          <a:lstStyle/>
          <a:p>
            <a:pPr marL="609600" indent="-609600" eaLnBrk="1" hangingPunct="1">
              <a:buFontTx/>
              <a:buAutoNum type="arabicParenR"/>
            </a:pPr>
            <a:r>
              <a:rPr lang="zh-CN" altLang="en-US" sz="2400" b="1">
                <a:ea typeface="黑体" panose="02010609060101010101" pitchFamily="49" charset="-122"/>
              </a:rPr>
              <a:t>求电枢电流和电势；绘制相量图 ；</a:t>
            </a:r>
          </a:p>
        </p:txBody>
      </p:sp>
      <p:sp>
        <p:nvSpPr>
          <p:cNvPr id="26629" name="Text Box 4">
            <a:extLst>
              <a:ext uri="{FF2B5EF4-FFF2-40B4-BE49-F238E27FC236}">
                <a16:creationId xmlns:a16="http://schemas.microsoft.com/office/drawing/2014/main" id="{802FB557-5EBA-A2F0-7045-BC2A81C2D258}"/>
              </a:ext>
            </a:extLst>
          </p:cNvPr>
          <p:cNvSpPr txBox="1">
            <a:spLocks noChangeArrowheads="1"/>
          </p:cNvSpPr>
          <p:nvPr/>
        </p:nvSpPr>
        <p:spPr bwMode="auto">
          <a:xfrm>
            <a:off x="488156" y="3073053"/>
            <a:ext cx="6951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ea typeface="黑体" panose="02010609060101010101" pitchFamily="49" charset="-122"/>
              </a:rPr>
              <a:t>解：例</a:t>
            </a:r>
            <a:r>
              <a:rPr lang="en-US" altLang="zh-CN" sz="2400" b="1">
                <a:ea typeface="黑体" panose="02010609060101010101" pitchFamily="49" charset="-122"/>
              </a:rPr>
              <a:t>3</a:t>
            </a:r>
            <a:r>
              <a:rPr lang="zh-CN" altLang="en-US" sz="2400" b="1">
                <a:ea typeface="黑体" panose="02010609060101010101" pitchFamily="49" charset="-122"/>
              </a:rPr>
              <a:t>可知，此负载下输入电功率为</a:t>
            </a:r>
            <a:r>
              <a:rPr lang="en-US" altLang="zh-CN" sz="2400" b="1">
                <a:ea typeface="黑体" panose="02010609060101010101" pitchFamily="49" charset="-122"/>
              </a:rPr>
              <a:t>13.69kW</a:t>
            </a:r>
            <a:r>
              <a:rPr lang="zh-CN" altLang="en-US" sz="2400" b="1">
                <a:ea typeface="黑体" panose="02010609060101010101" pitchFamily="49" charset="-122"/>
              </a:rPr>
              <a:t>。  </a:t>
            </a:r>
          </a:p>
        </p:txBody>
      </p:sp>
      <p:sp>
        <p:nvSpPr>
          <p:cNvPr id="26630" name="Rectangle 6">
            <a:extLst>
              <a:ext uri="{FF2B5EF4-FFF2-40B4-BE49-F238E27FC236}">
                <a16:creationId xmlns:a16="http://schemas.microsoft.com/office/drawing/2014/main" id="{257B2D99-E0E1-BD07-EB6C-8BBF4EED6633}"/>
              </a:ext>
            </a:extLst>
          </p:cNvPr>
          <p:cNvSpPr>
            <a:spLocks noChangeArrowheads="1"/>
          </p:cNvSpPr>
          <p:nvPr/>
        </p:nvSpPr>
        <p:spPr bwMode="auto">
          <a:xfrm>
            <a:off x="-30957" y="392077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39941" name="Object 5">
            <a:extLst>
              <a:ext uri="{FF2B5EF4-FFF2-40B4-BE49-F238E27FC236}">
                <a16:creationId xmlns:a16="http://schemas.microsoft.com/office/drawing/2014/main" id="{0D63F07D-9D34-3CFE-CFF6-40C6E1EEE88B}"/>
              </a:ext>
            </a:extLst>
          </p:cNvPr>
          <p:cNvGraphicFramePr>
            <a:graphicFrameLocks noChangeAspect="1"/>
          </p:cNvGraphicFramePr>
          <p:nvPr>
            <p:extLst>
              <p:ext uri="{D42A27DB-BD31-4B8C-83A1-F6EECF244321}">
                <p14:modId xmlns:p14="http://schemas.microsoft.com/office/powerpoint/2010/main" val="3339375358"/>
              </p:ext>
            </p:extLst>
          </p:nvPr>
        </p:nvGraphicFramePr>
        <p:xfrm>
          <a:off x="724693" y="3703290"/>
          <a:ext cx="4537075" cy="809625"/>
        </p:xfrm>
        <a:graphic>
          <a:graphicData uri="http://schemas.openxmlformats.org/presentationml/2006/ole">
            <mc:AlternateContent xmlns:mc="http://schemas.openxmlformats.org/markup-compatibility/2006">
              <mc:Choice xmlns:v="urn:schemas-microsoft-com:vml" Requires="v">
                <p:oleObj name="Equation" r:id="rId2" imgW="2400300" imgH="431800" progId="Equation.DSMT4">
                  <p:embed/>
                </p:oleObj>
              </mc:Choice>
              <mc:Fallback>
                <p:oleObj name="Equation" r:id="rId2" imgW="2400300" imgH="431800" progId="Equation.DSMT4">
                  <p:embed/>
                  <p:pic>
                    <p:nvPicPr>
                      <p:cNvPr id="39941" name="Object 5">
                        <a:extLst>
                          <a:ext uri="{FF2B5EF4-FFF2-40B4-BE49-F238E27FC236}">
                            <a16:creationId xmlns:a16="http://schemas.microsoft.com/office/drawing/2014/main" id="{0D63F07D-9D34-3CFE-CFF6-40C6E1EEE8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693" y="3703290"/>
                        <a:ext cx="4537075"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43" name="Object 7">
            <a:extLst>
              <a:ext uri="{FF2B5EF4-FFF2-40B4-BE49-F238E27FC236}">
                <a16:creationId xmlns:a16="http://schemas.microsoft.com/office/drawing/2014/main" id="{5AE22108-9FAD-5ABD-5515-5EC06B7D4591}"/>
              </a:ext>
            </a:extLst>
          </p:cNvPr>
          <p:cNvGraphicFramePr>
            <a:graphicFrameLocks noChangeAspect="1"/>
          </p:cNvGraphicFramePr>
          <p:nvPr>
            <p:extLst>
              <p:ext uri="{D42A27DB-BD31-4B8C-83A1-F6EECF244321}">
                <p14:modId xmlns:p14="http://schemas.microsoft.com/office/powerpoint/2010/main" val="1187660256"/>
              </p:ext>
            </p:extLst>
          </p:nvPr>
        </p:nvGraphicFramePr>
        <p:xfrm>
          <a:off x="724693" y="4566890"/>
          <a:ext cx="2376488" cy="433388"/>
        </p:xfrm>
        <a:graphic>
          <a:graphicData uri="http://schemas.openxmlformats.org/presentationml/2006/ole">
            <mc:AlternateContent xmlns:mc="http://schemas.openxmlformats.org/markup-compatibility/2006">
              <mc:Choice xmlns:v="urn:schemas-microsoft-com:vml" Requires="v">
                <p:oleObj name="Equation" r:id="rId4" imgW="1091726" imgH="203112" progId="Equation.DSMT4">
                  <p:embed/>
                </p:oleObj>
              </mc:Choice>
              <mc:Fallback>
                <p:oleObj name="Equation" r:id="rId4" imgW="1091726" imgH="203112" progId="Equation.DSMT4">
                  <p:embed/>
                  <p:pic>
                    <p:nvPicPr>
                      <p:cNvPr id="39943" name="Object 7">
                        <a:extLst>
                          <a:ext uri="{FF2B5EF4-FFF2-40B4-BE49-F238E27FC236}">
                            <a16:creationId xmlns:a16="http://schemas.microsoft.com/office/drawing/2014/main" id="{5AE22108-9FAD-5ABD-5515-5EC06B7D45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4693" y="4566890"/>
                        <a:ext cx="2376488"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3" name="Rectangle 10">
            <a:extLst>
              <a:ext uri="{FF2B5EF4-FFF2-40B4-BE49-F238E27FC236}">
                <a16:creationId xmlns:a16="http://schemas.microsoft.com/office/drawing/2014/main" id="{8846D398-1F49-C102-18D7-7B27D2C5DC6D}"/>
              </a:ext>
            </a:extLst>
          </p:cNvPr>
          <p:cNvSpPr>
            <a:spLocks noChangeArrowheads="1"/>
          </p:cNvSpPr>
          <p:nvPr/>
        </p:nvSpPr>
        <p:spPr bwMode="auto">
          <a:xfrm>
            <a:off x="-30957" y="399697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39945" name="Object 9">
            <a:extLst>
              <a:ext uri="{FF2B5EF4-FFF2-40B4-BE49-F238E27FC236}">
                <a16:creationId xmlns:a16="http://schemas.microsoft.com/office/drawing/2014/main" id="{6532902C-CF12-90C4-0F8B-DA155324F5D1}"/>
              </a:ext>
            </a:extLst>
          </p:cNvPr>
          <p:cNvGraphicFramePr>
            <a:graphicFrameLocks noChangeAspect="1"/>
          </p:cNvGraphicFramePr>
          <p:nvPr>
            <p:extLst>
              <p:ext uri="{D42A27DB-BD31-4B8C-83A1-F6EECF244321}">
                <p14:modId xmlns:p14="http://schemas.microsoft.com/office/powerpoint/2010/main" val="772197028"/>
              </p:ext>
            </p:extLst>
          </p:nvPr>
        </p:nvGraphicFramePr>
        <p:xfrm>
          <a:off x="653256" y="5071715"/>
          <a:ext cx="3240087" cy="695325"/>
        </p:xfrm>
        <a:graphic>
          <a:graphicData uri="http://schemas.openxmlformats.org/presentationml/2006/ole">
            <mc:AlternateContent xmlns:mc="http://schemas.openxmlformats.org/markup-compatibility/2006">
              <mc:Choice xmlns:v="urn:schemas-microsoft-com:vml" Requires="v">
                <p:oleObj name="Equation" r:id="rId6" imgW="1282700" imgH="279400" progId="Equation.DSMT4">
                  <p:embed/>
                </p:oleObj>
              </mc:Choice>
              <mc:Fallback>
                <p:oleObj name="Equation" r:id="rId6" imgW="1282700" imgH="279400" progId="Equation.DSMT4">
                  <p:embed/>
                  <p:pic>
                    <p:nvPicPr>
                      <p:cNvPr id="39945" name="Object 9">
                        <a:extLst>
                          <a:ext uri="{FF2B5EF4-FFF2-40B4-BE49-F238E27FC236}">
                            <a16:creationId xmlns:a16="http://schemas.microsoft.com/office/drawing/2014/main" id="{6532902C-CF12-90C4-0F8B-DA155324F5D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3256" y="5071715"/>
                        <a:ext cx="3240087"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5" name="Rectangle 12">
            <a:extLst>
              <a:ext uri="{FF2B5EF4-FFF2-40B4-BE49-F238E27FC236}">
                <a16:creationId xmlns:a16="http://schemas.microsoft.com/office/drawing/2014/main" id="{912BBE85-8B3A-E169-563F-AF52EAC25372}"/>
              </a:ext>
            </a:extLst>
          </p:cNvPr>
          <p:cNvSpPr>
            <a:spLocks noChangeArrowheads="1"/>
          </p:cNvSpPr>
          <p:nvPr/>
        </p:nvSpPr>
        <p:spPr bwMode="auto">
          <a:xfrm>
            <a:off x="-30957" y="397792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39947" name="Object 11">
            <a:extLst>
              <a:ext uri="{FF2B5EF4-FFF2-40B4-BE49-F238E27FC236}">
                <a16:creationId xmlns:a16="http://schemas.microsoft.com/office/drawing/2014/main" id="{C35525B0-E3B1-B520-DCE2-C1976CD92EF4}"/>
              </a:ext>
            </a:extLst>
          </p:cNvPr>
          <p:cNvGraphicFramePr>
            <a:graphicFrameLocks noChangeAspect="1"/>
          </p:cNvGraphicFramePr>
          <p:nvPr>
            <p:extLst>
              <p:ext uri="{D42A27DB-BD31-4B8C-83A1-F6EECF244321}">
                <p14:modId xmlns:p14="http://schemas.microsoft.com/office/powerpoint/2010/main" val="3415750384"/>
              </p:ext>
            </p:extLst>
          </p:nvPr>
        </p:nvGraphicFramePr>
        <p:xfrm>
          <a:off x="580231" y="5832128"/>
          <a:ext cx="8208962" cy="600075"/>
        </p:xfrm>
        <a:graphic>
          <a:graphicData uri="http://schemas.openxmlformats.org/presentationml/2006/ole">
            <mc:AlternateContent xmlns:mc="http://schemas.openxmlformats.org/markup-compatibility/2006">
              <mc:Choice xmlns:v="urn:schemas-microsoft-com:vml" Requires="v">
                <p:oleObj name="Equation" r:id="rId8" imgW="4292600" imgH="317500" progId="Equation.DSMT4">
                  <p:embed/>
                </p:oleObj>
              </mc:Choice>
              <mc:Fallback>
                <p:oleObj name="Equation" r:id="rId8" imgW="4292600" imgH="317500" progId="Equation.DSMT4">
                  <p:embed/>
                  <p:pic>
                    <p:nvPicPr>
                      <p:cNvPr id="39947" name="Object 11">
                        <a:extLst>
                          <a:ext uri="{FF2B5EF4-FFF2-40B4-BE49-F238E27FC236}">
                            <a16:creationId xmlns:a16="http://schemas.microsoft.com/office/drawing/2014/main" id="{C35525B0-E3B1-B520-DCE2-C1976CD92EF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0231" y="5832128"/>
                        <a:ext cx="820896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9954" name="Group 18">
            <a:extLst>
              <a:ext uri="{FF2B5EF4-FFF2-40B4-BE49-F238E27FC236}">
                <a16:creationId xmlns:a16="http://schemas.microsoft.com/office/drawing/2014/main" id="{D8D7859A-1A89-86A2-40A3-D5AF5379F27C}"/>
              </a:ext>
            </a:extLst>
          </p:cNvPr>
          <p:cNvGrpSpPr>
            <a:grpSpLocks/>
          </p:cNvGrpSpPr>
          <p:nvPr/>
        </p:nvGrpSpPr>
        <p:grpSpPr bwMode="auto">
          <a:xfrm>
            <a:off x="4396581" y="3879503"/>
            <a:ext cx="4321175" cy="1808162"/>
            <a:chOff x="2789" y="1999"/>
            <a:chExt cx="2722" cy="1139"/>
          </a:xfrm>
        </p:grpSpPr>
        <p:sp>
          <p:nvSpPr>
            <p:cNvPr id="26639" name="Text Box 13">
              <a:extLst>
                <a:ext uri="{FF2B5EF4-FFF2-40B4-BE49-F238E27FC236}">
                  <a16:creationId xmlns:a16="http://schemas.microsoft.com/office/drawing/2014/main" id="{558E2B5A-495C-01DF-7F59-7A76DFCA6DE2}"/>
                </a:ext>
              </a:extLst>
            </p:cNvPr>
            <p:cNvSpPr txBox="1">
              <a:spLocks noChangeArrowheads="1"/>
            </p:cNvSpPr>
            <p:nvPr/>
          </p:nvSpPr>
          <p:spPr bwMode="auto">
            <a:xfrm>
              <a:off x="4816" y="1999"/>
              <a:ext cx="6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ea typeface="黑体" panose="02010609060101010101" pitchFamily="49" charset="-122"/>
                </a:rPr>
                <a:t>相量图</a:t>
              </a:r>
            </a:p>
          </p:txBody>
        </p:sp>
        <p:pic>
          <p:nvPicPr>
            <p:cNvPr id="26640" name="Picture 16">
              <a:extLst>
                <a:ext uri="{FF2B5EF4-FFF2-40B4-BE49-F238E27FC236}">
                  <a16:creationId xmlns:a16="http://schemas.microsoft.com/office/drawing/2014/main" id="{B9AD7B43-9A12-CD77-C880-F61D4CCD38C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789" y="2341"/>
              <a:ext cx="2449" cy="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9953" name="AutoShape 17">
            <a:extLst>
              <a:ext uri="{FF2B5EF4-FFF2-40B4-BE49-F238E27FC236}">
                <a16:creationId xmlns:a16="http://schemas.microsoft.com/office/drawing/2014/main" id="{5527BF49-9ED6-E192-EDB5-0BA554BEE087}"/>
              </a:ext>
            </a:extLst>
          </p:cNvPr>
          <p:cNvSpPr>
            <a:spLocks noChangeArrowheads="1"/>
          </p:cNvSpPr>
          <p:nvPr/>
        </p:nvSpPr>
        <p:spPr bwMode="auto">
          <a:xfrm>
            <a:off x="5607843" y="2230090"/>
            <a:ext cx="2743200" cy="914400"/>
          </a:xfrm>
          <a:prstGeom prst="wedgeRoundRectCallout">
            <a:avLst>
              <a:gd name="adj1" fmla="val -190394"/>
              <a:gd name="adj2" fmla="val 164065"/>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ea typeface="黑体" panose="02010609060101010101" pitchFamily="49" charset="-122"/>
              </a:rPr>
              <a:t>三角联接，相电压等于线电压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9941"/>
                                        </p:tgtEl>
                                        <p:attrNameLst>
                                          <p:attrName>style.visibility</p:attrName>
                                        </p:attrNameLst>
                                      </p:cBhvr>
                                      <p:to>
                                        <p:strVal val="visible"/>
                                      </p:to>
                                    </p:set>
                                    <p:animEffect transition="in" filter="blinds(horizontal)">
                                      <p:cBhvr>
                                        <p:cTn id="7" dur="500"/>
                                        <p:tgtEl>
                                          <p:spTgt spid="399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9953"/>
                                        </p:tgtEl>
                                        <p:attrNameLst>
                                          <p:attrName>style.visibility</p:attrName>
                                        </p:attrNameLst>
                                      </p:cBhvr>
                                      <p:to>
                                        <p:strVal val="visible"/>
                                      </p:to>
                                    </p:set>
                                    <p:animEffect transition="in" filter="blinds(horizontal)">
                                      <p:cBhvr>
                                        <p:cTn id="12" dur="500"/>
                                        <p:tgtEl>
                                          <p:spTgt spid="39953"/>
                                        </p:tgtEl>
                                      </p:cBhvr>
                                    </p:animEffect>
                                  </p:childTnLst>
                                  <p:subTnLst>
                                    <p:set>
                                      <p:cBhvr override="childStyle">
                                        <p:cTn dur="1" fill="hold" display="0" masterRel="nextClick" afterEffect="1"/>
                                        <p:tgtEl>
                                          <p:spTgt spid="39953"/>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9943"/>
                                        </p:tgtEl>
                                        <p:attrNameLst>
                                          <p:attrName>style.visibility</p:attrName>
                                        </p:attrNameLst>
                                      </p:cBhvr>
                                      <p:to>
                                        <p:strVal val="visible"/>
                                      </p:to>
                                    </p:set>
                                    <p:animEffect transition="in" filter="blinds(horizontal)">
                                      <p:cBhvr>
                                        <p:cTn id="17" dur="500"/>
                                        <p:tgtEl>
                                          <p:spTgt spid="399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9945"/>
                                        </p:tgtEl>
                                        <p:attrNameLst>
                                          <p:attrName>style.visibility</p:attrName>
                                        </p:attrNameLst>
                                      </p:cBhvr>
                                      <p:to>
                                        <p:strVal val="visible"/>
                                      </p:to>
                                    </p:set>
                                    <p:animEffect transition="in" filter="blinds(horizontal)">
                                      <p:cBhvr>
                                        <p:cTn id="22" dur="500"/>
                                        <p:tgtEl>
                                          <p:spTgt spid="399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9947"/>
                                        </p:tgtEl>
                                        <p:attrNameLst>
                                          <p:attrName>style.visibility</p:attrName>
                                        </p:attrNameLst>
                                      </p:cBhvr>
                                      <p:to>
                                        <p:strVal val="visible"/>
                                      </p:to>
                                    </p:set>
                                    <p:animEffect transition="in" filter="blinds(horizontal)">
                                      <p:cBhvr>
                                        <p:cTn id="27" dur="500"/>
                                        <p:tgtEl>
                                          <p:spTgt spid="3994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39954"/>
                                        </p:tgtEl>
                                        <p:attrNameLst>
                                          <p:attrName>style.visibility</p:attrName>
                                        </p:attrNameLst>
                                      </p:cBhvr>
                                      <p:to>
                                        <p:strVal val="visible"/>
                                      </p:to>
                                    </p:set>
                                    <p:animEffect transition="in" filter="checkerboard(across)">
                                      <p:cBhvr>
                                        <p:cTn id="32" dur="500"/>
                                        <p:tgtEl>
                                          <p:spTgt spid="399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53"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a:extLst>
              <a:ext uri="{FF2B5EF4-FFF2-40B4-BE49-F238E27FC236}">
                <a16:creationId xmlns:a16="http://schemas.microsoft.com/office/drawing/2014/main" id="{16182DC5-5172-C373-286C-44AADA2E909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4198123-CDF3-4007-900B-577A7911A2BC}" type="slidenum">
              <a:rPr lang="en-US" altLang="zh-CN" sz="1400" smtClean="0"/>
              <a:pPr>
                <a:spcBef>
                  <a:spcPct val="0"/>
                </a:spcBef>
                <a:buFontTx/>
                <a:buNone/>
              </a:pPr>
              <a:t>37</a:t>
            </a:fld>
            <a:endParaRPr lang="en-US" altLang="zh-CN" sz="1400"/>
          </a:p>
        </p:txBody>
      </p:sp>
      <p:sp>
        <p:nvSpPr>
          <p:cNvPr id="27652" name="Rectangle 3">
            <a:extLst>
              <a:ext uri="{FF2B5EF4-FFF2-40B4-BE49-F238E27FC236}">
                <a16:creationId xmlns:a16="http://schemas.microsoft.com/office/drawing/2014/main" id="{D440F444-F8ED-5F9A-6F83-8E3B15C0C478}"/>
              </a:ext>
            </a:extLst>
          </p:cNvPr>
          <p:cNvSpPr>
            <a:spLocks noGrp="1" noChangeArrowheads="1"/>
          </p:cNvSpPr>
          <p:nvPr>
            <p:ph type="body" idx="1"/>
          </p:nvPr>
        </p:nvSpPr>
        <p:spPr>
          <a:xfrm>
            <a:off x="409575" y="800101"/>
            <a:ext cx="7210425" cy="935038"/>
          </a:xfrm>
        </p:spPr>
        <p:txBody>
          <a:bodyPr/>
          <a:lstStyle/>
          <a:p>
            <a:pPr marL="609600" indent="-609600" eaLnBrk="1" hangingPunct="1">
              <a:buFontTx/>
              <a:buAutoNum type="arabicParenR" startAt="2"/>
            </a:pPr>
            <a:r>
              <a:rPr lang="zh-CN" altLang="en-US" sz="2400" b="1" dirty="0">
                <a:ea typeface="黑体" panose="02010609060101010101" pitchFamily="49" charset="-122"/>
              </a:rPr>
              <a:t>如果磁通增加</a:t>
            </a:r>
            <a:r>
              <a:rPr lang="en-US" altLang="zh-CN" sz="2400" b="1" dirty="0">
                <a:ea typeface="黑体" panose="02010609060101010101" pitchFamily="49" charset="-122"/>
              </a:rPr>
              <a:t>25%</a:t>
            </a:r>
            <a:r>
              <a:rPr lang="zh-CN" altLang="en-US" sz="2400" b="1" dirty="0">
                <a:ea typeface="黑体" panose="02010609060101010101" pitchFamily="49" charset="-122"/>
              </a:rPr>
              <a:t>，求电枢电流、电势和功率因数，绘制相量图。</a:t>
            </a:r>
          </a:p>
        </p:txBody>
      </p:sp>
      <p:sp>
        <p:nvSpPr>
          <p:cNvPr id="27653" name="Text Box 4">
            <a:extLst>
              <a:ext uri="{FF2B5EF4-FFF2-40B4-BE49-F238E27FC236}">
                <a16:creationId xmlns:a16="http://schemas.microsoft.com/office/drawing/2014/main" id="{645C916E-8A34-EECE-63B7-FF052E119227}"/>
              </a:ext>
            </a:extLst>
          </p:cNvPr>
          <p:cNvSpPr txBox="1">
            <a:spLocks noChangeArrowheads="1"/>
          </p:cNvSpPr>
          <p:nvPr/>
        </p:nvSpPr>
        <p:spPr bwMode="auto">
          <a:xfrm>
            <a:off x="301467" y="2060575"/>
            <a:ext cx="79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ea typeface="黑体" panose="02010609060101010101" pitchFamily="49" charset="-122"/>
              </a:rPr>
              <a:t>解：</a:t>
            </a:r>
          </a:p>
        </p:txBody>
      </p:sp>
      <p:sp>
        <p:nvSpPr>
          <p:cNvPr id="27654" name="Rectangle 6">
            <a:extLst>
              <a:ext uri="{FF2B5EF4-FFF2-40B4-BE49-F238E27FC236}">
                <a16:creationId xmlns:a16="http://schemas.microsoft.com/office/drawing/2014/main" id="{49FFE4A0-9B71-86EB-F5E9-CD891B459E79}"/>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27655" name="Object 5">
            <a:extLst>
              <a:ext uri="{FF2B5EF4-FFF2-40B4-BE49-F238E27FC236}">
                <a16:creationId xmlns:a16="http://schemas.microsoft.com/office/drawing/2014/main" id="{93AA1B7D-EA64-50FB-1F0A-8D1565A84FB5}"/>
              </a:ext>
            </a:extLst>
          </p:cNvPr>
          <p:cNvGraphicFramePr>
            <a:graphicFrameLocks noChangeAspect="1"/>
          </p:cNvGraphicFramePr>
          <p:nvPr>
            <p:extLst>
              <p:ext uri="{D42A27DB-BD31-4B8C-83A1-F6EECF244321}">
                <p14:modId xmlns:p14="http://schemas.microsoft.com/office/powerpoint/2010/main" val="2450721345"/>
              </p:ext>
            </p:extLst>
          </p:nvPr>
        </p:nvGraphicFramePr>
        <p:xfrm>
          <a:off x="1296988" y="1602581"/>
          <a:ext cx="5256212" cy="560387"/>
        </p:xfrm>
        <a:graphic>
          <a:graphicData uri="http://schemas.openxmlformats.org/presentationml/2006/ole">
            <mc:AlternateContent xmlns:mc="http://schemas.openxmlformats.org/markup-compatibility/2006">
              <mc:Choice xmlns:v="urn:schemas-microsoft-com:vml" Requires="v">
                <p:oleObj name="Equation" r:id="rId2" imgW="2146300" imgH="228600" progId="Equation.DSMT4">
                  <p:embed/>
                </p:oleObj>
              </mc:Choice>
              <mc:Fallback>
                <p:oleObj name="Equation" r:id="rId2" imgW="2146300" imgH="228600" progId="Equation.DSMT4">
                  <p:embed/>
                  <p:pic>
                    <p:nvPicPr>
                      <p:cNvPr id="27655" name="Object 5">
                        <a:extLst>
                          <a:ext uri="{FF2B5EF4-FFF2-40B4-BE49-F238E27FC236}">
                            <a16:creationId xmlns:a16="http://schemas.microsoft.com/office/drawing/2014/main" id="{93AA1B7D-EA64-50FB-1F0A-8D1565A84F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6988" y="1602581"/>
                        <a:ext cx="5256212"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6" name="Rectangle 8">
            <a:extLst>
              <a:ext uri="{FF2B5EF4-FFF2-40B4-BE49-F238E27FC236}">
                <a16:creationId xmlns:a16="http://schemas.microsoft.com/office/drawing/2014/main" id="{1BA4F20E-02E8-BFF1-187C-06E213C8FEF1}"/>
              </a:ext>
            </a:extLst>
          </p:cNvPr>
          <p:cNvSpPr>
            <a:spLocks noChangeArrowheads="1"/>
          </p:cNvSpPr>
          <p:nvPr/>
        </p:nvSpPr>
        <p:spPr bwMode="auto">
          <a:xfrm>
            <a:off x="0" y="3100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40967" name="Object 7">
            <a:extLst>
              <a:ext uri="{FF2B5EF4-FFF2-40B4-BE49-F238E27FC236}">
                <a16:creationId xmlns:a16="http://schemas.microsoft.com/office/drawing/2014/main" id="{E19ED531-F3B9-328C-3262-257A1386903C}"/>
              </a:ext>
            </a:extLst>
          </p:cNvPr>
          <p:cNvGraphicFramePr>
            <a:graphicFrameLocks noChangeAspect="1"/>
          </p:cNvGraphicFramePr>
          <p:nvPr>
            <p:extLst>
              <p:ext uri="{D42A27DB-BD31-4B8C-83A1-F6EECF244321}">
                <p14:modId xmlns:p14="http://schemas.microsoft.com/office/powerpoint/2010/main" val="3578917867"/>
              </p:ext>
            </p:extLst>
          </p:nvPr>
        </p:nvGraphicFramePr>
        <p:xfrm>
          <a:off x="1334770" y="2151063"/>
          <a:ext cx="7056437" cy="1333500"/>
        </p:xfrm>
        <a:graphic>
          <a:graphicData uri="http://schemas.openxmlformats.org/presentationml/2006/ole">
            <mc:AlternateContent xmlns:mc="http://schemas.openxmlformats.org/markup-compatibility/2006">
              <mc:Choice xmlns:v="urn:schemas-microsoft-com:vml" Requires="v">
                <p:oleObj name="Equation" r:id="rId4" imgW="3479800" imgH="660400" progId="Equation.DSMT4">
                  <p:embed/>
                </p:oleObj>
              </mc:Choice>
              <mc:Fallback>
                <p:oleObj name="Equation" r:id="rId4" imgW="3479800" imgH="660400" progId="Equation.DSMT4">
                  <p:embed/>
                  <p:pic>
                    <p:nvPicPr>
                      <p:cNvPr id="40967" name="Object 7">
                        <a:extLst>
                          <a:ext uri="{FF2B5EF4-FFF2-40B4-BE49-F238E27FC236}">
                            <a16:creationId xmlns:a16="http://schemas.microsoft.com/office/drawing/2014/main" id="{E19ED531-F3B9-328C-3262-257A138690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4770" y="2151063"/>
                        <a:ext cx="7056437"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8" name="Rectangle 10">
            <a:extLst>
              <a:ext uri="{FF2B5EF4-FFF2-40B4-BE49-F238E27FC236}">
                <a16:creationId xmlns:a16="http://schemas.microsoft.com/office/drawing/2014/main" id="{94C7B693-0D78-B15B-6C73-2D36F143CEB3}"/>
              </a:ext>
            </a:extLst>
          </p:cNvPr>
          <p:cNvSpPr>
            <a:spLocks noChangeArrowheads="1"/>
          </p:cNvSpPr>
          <p:nvPr/>
        </p:nvSpPr>
        <p:spPr bwMode="auto">
          <a:xfrm>
            <a:off x="0" y="3167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40969" name="Object 9">
            <a:extLst>
              <a:ext uri="{FF2B5EF4-FFF2-40B4-BE49-F238E27FC236}">
                <a16:creationId xmlns:a16="http://schemas.microsoft.com/office/drawing/2014/main" id="{237329B7-521C-8152-8FC9-4725FA7DBB7C}"/>
              </a:ext>
            </a:extLst>
          </p:cNvPr>
          <p:cNvGraphicFramePr>
            <a:graphicFrameLocks noChangeAspect="1"/>
          </p:cNvGraphicFramePr>
          <p:nvPr/>
        </p:nvGraphicFramePr>
        <p:xfrm>
          <a:off x="1331913" y="3429000"/>
          <a:ext cx="7200900" cy="1054100"/>
        </p:xfrm>
        <a:graphic>
          <a:graphicData uri="http://schemas.openxmlformats.org/presentationml/2006/ole">
            <mc:AlternateContent xmlns:mc="http://schemas.openxmlformats.org/markup-compatibility/2006">
              <mc:Choice xmlns:v="urn:schemas-microsoft-com:vml" Requires="v">
                <p:oleObj name="Equation" r:id="rId6" imgW="3581400" imgH="520700" progId="Equation.DSMT4">
                  <p:embed/>
                </p:oleObj>
              </mc:Choice>
              <mc:Fallback>
                <p:oleObj name="Equation" r:id="rId6" imgW="3581400" imgH="520700" progId="Equation.DSMT4">
                  <p:embed/>
                  <p:pic>
                    <p:nvPicPr>
                      <p:cNvPr id="40969" name="Object 9">
                        <a:extLst>
                          <a:ext uri="{FF2B5EF4-FFF2-40B4-BE49-F238E27FC236}">
                            <a16:creationId xmlns:a16="http://schemas.microsoft.com/office/drawing/2014/main" id="{237329B7-521C-8152-8FC9-4725FA7DBB7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913" y="3429000"/>
                        <a:ext cx="72009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60" name="Rectangle 12">
            <a:extLst>
              <a:ext uri="{FF2B5EF4-FFF2-40B4-BE49-F238E27FC236}">
                <a16:creationId xmlns:a16="http://schemas.microsoft.com/office/drawing/2014/main" id="{798FB631-5D0A-A423-0328-62FEEFDE187B}"/>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40971" name="Object 11">
            <a:extLst>
              <a:ext uri="{FF2B5EF4-FFF2-40B4-BE49-F238E27FC236}">
                <a16:creationId xmlns:a16="http://schemas.microsoft.com/office/drawing/2014/main" id="{1C50C642-183C-3DB4-0013-4C191ED5A973}"/>
              </a:ext>
            </a:extLst>
          </p:cNvPr>
          <p:cNvGraphicFramePr>
            <a:graphicFrameLocks noChangeAspect="1"/>
          </p:cNvGraphicFramePr>
          <p:nvPr/>
        </p:nvGraphicFramePr>
        <p:xfrm>
          <a:off x="1331913" y="4365625"/>
          <a:ext cx="4464050" cy="544513"/>
        </p:xfrm>
        <a:graphic>
          <a:graphicData uri="http://schemas.openxmlformats.org/presentationml/2006/ole">
            <mc:AlternateContent xmlns:mc="http://schemas.openxmlformats.org/markup-compatibility/2006">
              <mc:Choice xmlns:v="urn:schemas-microsoft-com:vml" Requires="v">
                <p:oleObj name="Equation" r:id="rId8" imgW="1879600" imgH="228600" progId="Equation.DSMT4">
                  <p:embed/>
                </p:oleObj>
              </mc:Choice>
              <mc:Fallback>
                <p:oleObj name="Equation" r:id="rId8" imgW="1879600" imgH="228600" progId="Equation.DSMT4">
                  <p:embed/>
                  <p:pic>
                    <p:nvPicPr>
                      <p:cNvPr id="40971" name="Object 11">
                        <a:extLst>
                          <a:ext uri="{FF2B5EF4-FFF2-40B4-BE49-F238E27FC236}">
                            <a16:creationId xmlns:a16="http://schemas.microsoft.com/office/drawing/2014/main" id="{1C50C642-183C-3DB4-0013-4C191ED5A97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31913" y="4365625"/>
                        <a:ext cx="4464050"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0974" name="Picture 14">
            <a:extLst>
              <a:ext uri="{FF2B5EF4-FFF2-40B4-BE49-F238E27FC236}">
                <a16:creationId xmlns:a16="http://schemas.microsoft.com/office/drawing/2014/main" id="{1AD0A270-FC83-2AE9-695D-F73F57E04476}"/>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547813" y="4899025"/>
            <a:ext cx="5761037" cy="195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0967"/>
                                        </p:tgtEl>
                                        <p:attrNameLst>
                                          <p:attrName>style.visibility</p:attrName>
                                        </p:attrNameLst>
                                      </p:cBhvr>
                                      <p:to>
                                        <p:strVal val="visible"/>
                                      </p:to>
                                    </p:set>
                                    <p:animEffect transition="in" filter="blinds(horizontal)">
                                      <p:cBhvr>
                                        <p:cTn id="7" dur="500"/>
                                        <p:tgtEl>
                                          <p:spTgt spid="409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0969"/>
                                        </p:tgtEl>
                                        <p:attrNameLst>
                                          <p:attrName>style.visibility</p:attrName>
                                        </p:attrNameLst>
                                      </p:cBhvr>
                                      <p:to>
                                        <p:strVal val="visible"/>
                                      </p:to>
                                    </p:set>
                                    <p:animEffect transition="in" filter="blinds(horizontal)">
                                      <p:cBhvr>
                                        <p:cTn id="12" dur="500"/>
                                        <p:tgtEl>
                                          <p:spTgt spid="409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0971"/>
                                        </p:tgtEl>
                                        <p:attrNameLst>
                                          <p:attrName>style.visibility</p:attrName>
                                        </p:attrNameLst>
                                      </p:cBhvr>
                                      <p:to>
                                        <p:strVal val="visible"/>
                                      </p:to>
                                    </p:set>
                                    <p:animEffect transition="in" filter="blinds(horizontal)">
                                      <p:cBhvr>
                                        <p:cTn id="17" dur="500"/>
                                        <p:tgtEl>
                                          <p:spTgt spid="409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0974"/>
                                        </p:tgtEl>
                                        <p:attrNameLst>
                                          <p:attrName>style.visibility</p:attrName>
                                        </p:attrNameLst>
                                      </p:cBhvr>
                                      <p:to>
                                        <p:strVal val="visible"/>
                                      </p:to>
                                    </p:set>
                                    <p:animEffect transition="in" filter="box(in)">
                                      <p:cBhvr>
                                        <p:cTn id="22" dur="500"/>
                                        <p:tgtEl>
                                          <p:spTgt spid="409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a:extLst>
              <a:ext uri="{FF2B5EF4-FFF2-40B4-BE49-F238E27FC236}">
                <a16:creationId xmlns:a16="http://schemas.microsoft.com/office/drawing/2014/main" id="{797F9D74-F0A5-69C2-2255-22350FFA6BE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ACE6959-A12C-4881-B43E-59C16188AEC4}" type="slidenum">
              <a:rPr lang="en-US" altLang="zh-CN" sz="1400" smtClean="0"/>
              <a:pPr>
                <a:spcBef>
                  <a:spcPct val="0"/>
                </a:spcBef>
                <a:buFontTx/>
                <a:buNone/>
              </a:pPr>
              <a:t>38</a:t>
            </a:fld>
            <a:endParaRPr lang="en-US" altLang="zh-CN" sz="1400"/>
          </a:p>
        </p:txBody>
      </p:sp>
      <p:sp>
        <p:nvSpPr>
          <p:cNvPr id="28676" name="Rectangle 3">
            <a:extLst>
              <a:ext uri="{FF2B5EF4-FFF2-40B4-BE49-F238E27FC236}">
                <a16:creationId xmlns:a16="http://schemas.microsoft.com/office/drawing/2014/main" id="{7B29168F-A377-A70B-0EC7-FD9B6462E921}"/>
              </a:ext>
            </a:extLst>
          </p:cNvPr>
          <p:cNvSpPr>
            <a:spLocks noGrp="1" noChangeArrowheads="1"/>
          </p:cNvSpPr>
          <p:nvPr>
            <p:ph type="body" idx="1"/>
          </p:nvPr>
        </p:nvSpPr>
        <p:spPr>
          <a:xfrm>
            <a:off x="318476" y="1129303"/>
            <a:ext cx="7210425" cy="1079500"/>
          </a:xfrm>
        </p:spPr>
        <p:txBody>
          <a:bodyPr/>
          <a:lstStyle/>
          <a:p>
            <a:pPr marL="609600" indent="-609600" eaLnBrk="1" hangingPunct="1">
              <a:lnSpc>
                <a:spcPct val="90000"/>
              </a:lnSpc>
              <a:buFontTx/>
              <a:buAutoNum type="arabicParenR" startAt="3"/>
            </a:pPr>
            <a:r>
              <a:rPr lang="zh-CN" altLang="en-US" sz="2400" b="1" dirty="0">
                <a:latin typeface="黑体" panose="02010609060101010101" pitchFamily="49" charset="-122"/>
                <a:ea typeface="黑体" panose="02010609060101010101" pitchFamily="49" charset="-122"/>
              </a:rPr>
              <a:t>假定励磁电流与磁通保持线性关系，绘制电机在此负载下的励磁电流和电枢电流的关系曲线。</a:t>
            </a:r>
          </a:p>
        </p:txBody>
      </p:sp>
      <p:sp>
        <p:nvSpPr>
          <p:cNvPr id="28677" name="Text Box 4">
            <a:extLst>
              <a:ext uri="{FF2B5EF4-FFF2-40B4-BE49-F238E27FC236}">
                <a16:creationId xmlns:a16="http://schemas.microsoft.com/office/drawing/2014/main" id="{21F295FC-45DC-E882-8E30-9F59DE108970}"/>
              </a:ext>
            </a:extLst>
          </p:cNvPr>
          <p:cNvSpPr txBox="1">
            <a:spLocks noChangeArrowheads="1"/>
          </p:cNvSpPr>
          <p:nvPr/>
        </p:nvSpPr>
        <p:spPr bwMode="auto">
          <a:xfrm>
            <a:off x="177189" y="2059626"/>
            <a:ext cx="84978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latin typeface="黑体" panose="02010609060101010101" pitchFamily="49" charset="-122"/>
                <a:ea typeface="黑体" panose="02010609060101010101" pitchFamily="49" charset="-122"/>
              </a:rPr>
              <a:t>解：由于假定磁通随励磁电流线性变化，已知励磁电流为</a:t>
            </a:r>
            <a:r>
              <a:rPr lang="en-US" altLang="zh-CN" sz="2400" b="1" dirty="0">
                <a:latin typeface="黑体" panose="02010609060101010101" pitchFamily="49" charset="-122"/>
                <a:ea typeface="黑体" panose="02010609060101010101" pitchFamily="49" charset="-122"/>
              </a:rPr>
              <a:t>4.0A   </a:t>
            </a:r>
            <a:r>
              <a:rPr lang="zh-CN" altLang="en-US" sz="2400" b="1" dirty="0">
                <a:latin typeface="黑体" panose="02010609060101010101" pitchFamily="49" charset="-122"/>
                <a:ea typeface="黑体" panose="02010609060101010101" pitchFamily="49" charset="-122"/>
              </a:rPr>
              <a:t>时电势为</a:t>
            </a:r>
            <a:r>
              <a:rPr lang="en-US" altLang="zh-CN" sz="2400" b="1" dirty="0">
                <a:latin typeface="黑体" panose="02010609060101010101" pitchFamily="49" charset="-122"/>
                <a:ea typeface="黑体" panose="02010609060101010101" pitchFamily="49" charset="-122"/>
              </a:rPr>
              <a:t>182V</a:t>
            </a:r>
            <a:r>
              <a:rPr lang="zh-CN" altLang="en-US" sz="2400" b="1" dirty="0">
                <a:latin typeface="黑体" panose="02010609060101010101" pitchFamily="49" charset="-122"/>
                <a:ea typeface="黑体" panose="02010609060101010101" pitchFamily="49" charset="-122"/>
              </a:rPr>
              <a:t>，因此对任意励磁电流对应的电势为</a:t>
            </a:r>
          </a:p>
        </p:txBody>
      </p:sp>
      <p:sp>
        <p:nvSpPr>
          <p:cNvPr id="28678" name="Rectangle 6">
            <a:extLst>
              <a:ext uri="{FF2B5EF4-FFF2-40B4-BE49-F238E27FC236}">
                <a16:creationId xmlns:a16="http://schemas.microsoft.com/office/drawing/2014/main" id="{7201021A-BC2B-B92E-7751-76721468D372}"/>
              </a:ext>
            </a:extLst>
          </p:cNvPr>
          <p:cNvSpPr>
            <a:spLocks noChangeArrowheads="1"/>
          </p:cNvSpPr>
          <p:nvPr/>
        </p:nvSpPr>
        <p:spPr bwMode="auto">
          <a:xfrm>
            <a:off x="-76811" y="376852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28679" name="Object 5">
            <a:extLst>
              <a:ext uri="{FF2B5EF4-FFF2-40B4-BE49-F238E27FC236}">
                <a16:creationId xmlns:a16="http://schemas.microsoft.com/office/drawing/2014/main" id="{6DF8BC55-140C-C191-797C-974915633B6E}"/>
              </a:ext>
            </a:extLst>
          </p:cNvPr>
          <p:cNvGraphicFramePr>
            <a:graphicFrameLocks noChangeAspect="1"/>
          </p:cNvGraphicFramePr>
          <p:nvPr>
            <p:extLst>
              <p:ext uri="{D42A27DB-BD31-4B8C-83A1-F6EECF244321}">
                <p14:modId xmlns:p14="http://schemas.microsoft.com/office/powerpoint/2010/main" val="249483410"/>
              </p:ext>
            </p:extLst>
          </p:nvPr>
        </p:nvGraphicFramePr>
        <p:xfrm>
          <a:off x="686777" y="2799626"/>
          <a:ext cx="3408362" cy="849313"/>
        </p:xfrm>
        <a:graphic>
          <a:graphicData uri="http://schemas.openxmlformats.org/presentationml/2006/ole">
            <mc:AlternateContent xmlns:mc="http://schemas.openxmlformats.org/markup-compatibility/2006">
              <mc:Choice xmlns:v="urn:schemas-microsoft-com:vml" Requires="v">
                <p:oleObj name="Equation" r:id="rId2" imgW="1574800" imgH="393700" progId="Equation.DSMT4">
                  <p:embed/>
                </p:oleObj>
              </mc:Choice>
              <mc:Fallback>
                <p:oleObj name="Equation" r:id="rId2" imgW="1574800" imgH="393700" progId="Equation.DSMT4">
                  <p:embed/>
                  <p:pic>
                    <p:nvPicPr>
                      <p:cNvPr id="28679" name="Object 5">
                        <a:extLst>
                          <a:ext uri="{FF2B5EF4-FFF2-40B4-BE49-F238E27FC236}">
                            <a16:creationId xmlns:a16="http://schemas.microsoft.com/office/drawing/2014/main" id="{6DF8BC55-140C-C191-797C-974915633B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777" y="2799626"/>
                        <a:ext cx="3408362"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91" name="Text Box 7">
            <a:extLst>
              <a:ext uri="{FF2B5EF4-FFF2-40B4-BE49-F238E27FC236}">
                <a16:creationId xmlns:a16="http://schemas.microsoft.com/office/drawing/2014/main" id="{92955DD7-A757-CEF8-5732-4C50A655D8B2}"/>
              </a:ext>
            </a:extLst>
          </p:cNvPr>
          <p:cNvSpPr txBox="1">
            <a:spLocks noChangeArrowheads="1"/>
          </p:cNvSpPr>
          <p:nvPr/>
        </p:nvSpPr>
        <p:spPr bwMode="auto">
          <a:xfrm>
            <a:off x="586764" y="3531984"/>
            <a:ext cx="171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黑体" panose="02010609060101010101" pitchFamily="49" charset="-122"/>
                <a:ea typeface="黑体" panose="02010609060101010101" pitchFamily="49" charset="-122"/>
              </a:rPr>
              <a:t>负载不变时</a:t>
            </a:r>
          </a:p>
        </p:txBody>
      </p:sp>
      <p:sp>
        <p:nvSpPr>
          <p:cNvPr id="28681" name="Rectangle 9">
            <a:extLst>
              <a:ext uri="{FF2B5EF4-FFF2-40B4-BE49-F238E27FC236}">
                <a16:creationId xmlns:a16="http://schemas.microsoft.com/office/drawing/2014/main" id="{490D4454-AE52-B93B-3DB5-025DE73E7013}"/>
              </a:ext>
            </a:extLst>
          </p:cNvPr>
          <p:cNvSpPr>
            <a:spLocks noChangeArrowheads="1"/>
          </p:cNvSpPr>
          <p:nvPr/>
        </p:nvSpPr>
        <p:spPr bwMode="auto">
          <a:xfrm>
            <a:off x="-76811" y="36351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41992" name="Object 8">
            <a:extLst>
              <a:ext uri="{FF2B5EF4-FFF2-40B4-BE49-F238E27FC236}">
                <a16:creationId xmlns:a16="http://schemas.microsoft.com/office/drawing/2014/main" id="{8283BC07-D3D7-08CA-DC32-F739F4586CD4}"/>
              </a:ext>
            </a:extLst>
          </p:cNvPr>
          <p:cNvGraphicFramePr>
            <a:graphicFrameLocks noChangeAspect="1"/>
          </p:cNvGraphicFramePr>
          <p:nvPr>
            <p:extLst>
              <p:ext uri="{D42A27DB-BD31-4B8C-83A1-F6EECF244321}">
                <p14:modId xmlns:p14="http://schemas.microsoft.com/office/powerpoint/2010/main" val="1806067289"/>
              </p:ext>
            </p:extLst>
          </p:nvPr>
        </p:nvGraphicFramePr>
        <p:xfrm>
          <a:off x="2479064" y="3603422"/>
          <a:ext cx="2663825" cy="1341437"/>
        </p:xfrm>
        <a:graphic>
          <a:graphicData uri="http://schemas.openxmlformats.org/presentationml/2006/ole">
            <mc:AlternateContent xmlns:mc="http://schemas.openxmlformats.org/markup-compatibility/2006">
              <mc:Choice xmlns:v="urn:schemas-microsoft-com:vml" Requires="v">
                <p:oleObj name="Equation" r:id="rId4" imgW="1308100" imgH="660400" progId="Equation.DSMT4">
                  <p:embed/>
                </p:oleObj>
              </mc:Choice>
              <mc:Fallback>
                <p:oleObj name="Equation" r:id="rId4" imgW="1308100" imgH="660400" progId="Equation.DSMT4">
                  <p:embed/>
                  <p:pic>
                    <p:nvPicPr>
                      <p:cNvPr id="41992" name="Object 8">
                        <a:extLst>
                          <a:ext uri="{FF2B5EF4-FFF2-40B4-BE49-F238E27FC236}">
                            <a16:creationId xmlns:a16="http://schemas.microsoft.com/office/drawing/2014/main" id="{8283BC07-D3D7-08CA-DC32-F739F4586C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9064" y="3603422"/>
                        <a:ext cx="2663825" cy="134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83" name="Rectangle 11">
            <a:extLst>
              <a:ext uri="{FF2B5EF4-FFF2-40B4-BE49-F238E27FC236}">
                <a16:creationId xmlns:a16="http://schemas.microsoft.com/office/drawing/2014/main" id="{A3D247FD-DAB5-204F-40BC-6BDD024EBC63}"/>
              </a:ext>
            </a:extLst>
          </p:cNvPr>
          <p:cNvSpPr>
            <a:spLocks noChangeArrowheads="1"/>
          </p:cNvSpPr>
          <p:nvPr/>
        </p:nvSpPr>
        <p:spPr bwMode="auto">
          <a:xfrm>
            <a:off x="-76811" y="370184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41994" name="Object 10">
            <a:extLst>
              <a:ext uri="{FF2B5EF4-FFF2-40B4-BE49-F238E27FC236}">
                <a16:creationId xmlns:a16="http://schemas.microsoft.com/office/drawing/2014/main" id="{FFB3AD3F-38CA-3425-0235-C5D783D982E8}"/>
              </a:ext>
            </a:extLst>
          </p:cNvPr>
          <p:cNvGraphicFramePr>
            <a:graphicFrameLocks noChangeAspect="1"/>
          </p:cNvGraphicFramePr>
          <p:nvPr>
            <p:extLst>
              <p:ext uri="{D42A27DB-BD31-4B8C-83A1-F6EECF244321}">
                <p14:modId xmlns:p14="http://schemas.microsoft.com/office/powerpoint/2010/main" val="369786408"/>
              </p:ext>
            </p:extLst>
          </p:nvPr>
        </p:nvGraphicFramePr>
        <p:xfrm>
          <a:off x="2550502" y="4971847"/>
          <a:ext cx="2089150" cy="1184275"/>
        </p:xfrm>
        <a:graphic>
          <a:graphicData uri="http://schemas.openxmlformats.org/presentationml/2006/ole">
            <mc:AlternateContent xmlns:mc="http://schemas.openxmlformats.org/markup-compatibility/2006">
              <mc:Choice xmlns:v="urn:schemas-microsoft-com:vml" Requires="v">
                <p:oleObj name="Equation" r:id="rId6" imgW="927100" imgH="520700" progId="Equation.DSMT4">
                  <p:embed/>
                </p:oleObj>
              </mc:Choice>
              <mc:Fallback>
                <p:oleObj name="Equation" r:id="rId6" imgW="927100" imgH="520700" progId="Equation.DSMT4">
                  <p:embed/>
                  <p:pic>
                    <p:nvPicPr>
                      <p:cNvPr id="41994" name="Object 10">
                        <a:extLst>
                          <a:ext uri="{FF2B5EF4-FFF2-40B4-BE49-F238E27FC236}">
                            <a16:creationId xmlns:a16="http://schemas.microsoft.com/office/drawing/2014/main" id="{FFB3AD3F-38CA-3425-0235-C5D783D982E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0502" y="4971847"/>
                        <a:ext cx="2089150"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96" name="Text Box 12">
            <a:extLst>
              <a:ext uri="{FF2B5EF4-FFF2-40B4-BE49-F238E27FC236}">
                <a16:creationId xmlns:a16="http://schemas.microsoft.com/office/drawing/2014/main" id="{6E837E46-9FAE-C2C6-E0B5-D730C3948E6D}"/>
              </a:ext>
            </a:extLst>
          </p:cNvPr>
          <p:cNvSpPr txBox="1">
            <a:spLocks noChangeArrowheads="1"/>
          </p:cNvSpPr>
          <p:nvPr/>
        </p:nvSpPr>
        <p:spPr bwMode="auto">
          <a:xfrm>
            <a:off x="802664" y="6124372"/>
            <a:ext cx="6931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黑体" panose="02010609060101010101" pitchFamily="49" charset="-122"/>
                <a:ea typeface="黑体" panose="02010609060101010101" pitchFamily="49" charset="-122"/>
              </a:rPr>
              <a:t>利用</a:t>
            </a:r>
            <a:r>
              <a:rPr lang="en-US" altLang="zh-CN" sz="2400" b="1">
                <a:latin typeface="黑体" panose="02010609060101010101" pitchFamily="49" charset="-122"/>
                <a:ea typeface="黑体" panose="02010609060101010101" pitchFamily="49" charset="-122"/>
              </a:rPr>
              <a:t>Matlab </a:t>
            </a:r>
            <a:r>
              <a:rPr lang="zh-CN" altLang="en-US" sz="2400" b="1">
                <a:latin typeface="黑体" panose="02010609060101010101" pitchFamily="49" charset="-122"/>
                <a:ea typeface="黑体" panose="02010609060101010101" pitchFamily="49" charset="-122"/>
              </a:rPr>
              <a:t>仿真可以很容易得到此时的</a:t>
            </a:r>
            <a:r>
              <a:rPr lang="en-US" altLang="zh-CN" sz="2400" b="1">
                <a:latin typeface="黑体" panose="02010609060101010101" pitchFamily="49" charset="-122"/>
                <a:ea typeface="黑体" panose="02010609060101010101" pitchFamily="49" charset="-122"/>
              </a:rPr>
              <a:t>V</a:t>
            </a:r>
            <a:r>
              <a:rPr lang="zh-CN" altLang="en-US" sz="2400" b="1">
                <a:latin typeface="黑体" panose="02010609060101010101" pitchFamily="49" charset="-122"/>
                <a:ea typeface="黑体" panose="02010609060101010101" pitchFamily="49" charset="-122"/>
              </a:rPr>
              <a:t>型曲线。</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991"/>
                                        </p:tgtEl>
                                        <p:attrNameLst>
                                          <p:attrName>style.visibility</p:attrName>
                                        </p:attrNameLst>
                                      </p:cBhvr>
                                      <p:to>
                                        <p:strVal val="visible"/>
                                      </p:to>
                                    </p:set>
                                    <p:animEffect transition="in" filter="blinds(horizontal)">
                                      <p:cBhvr>
                                        <p:cTn id="7" dur="500"/>
                                        <p:tgtEl>
                                          <p:spTgt spid="419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1992"/>
                                        </p:tgtEl>
                                        <p:attrNameLst>
                                          <p:attrName>style.visibility</p:attrName>
                                        </p:attrNameLst>
                                      </p:cBhvr>
                                      <p:to>
                                        <p:strVal val="visible"/>
                                      </p:to>
                                    </p:set>
                                    <p:animEffect transition="in" filter="blinds(horizontal)">
                                      <p:cBhvr>
                                        <p:cTn id="12" dur="500"/>
                                        <p:tgtEl>
                                          <p:spTgt spid="419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1994"/>
                                        </p:tgtEl>
                                        <p:attrNameLst>
                                          <p:attrName>style.visibility</p:attrName>
                                        </p:attrNameLst>
                                      </p:cBhvr>
                                      <p:to>
                                        <p:strVal val="visible"/>
                                      </p:to>
                                    </p:set>
                                    <p:animEffect transition="in" filter="blinds(horizontal)">
                                      <p:cBhvr>
                                        <p:cTn id="17" dur="500"/>
                                        <p:tgtEl>
                                          <p:spTgt spid="419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1996"/>
                                        </p:tgtEl>
                                        <p:attrNameLst>
                                          <p:attrName>style.visibility</p:attrName>
                                        </p:attrNameLst>
                                      </p:cBhvr>
                                      <p:to>
                                        <p:strVal val="visible"/>
                                      </p:to>
                                    </p:set>
                                    <p:animEffect transition="in" filter="blinds(horizontal)">
                                      <p:cBhvr>
                                        <p:cTn id="22" dur="500"/>
                                        <p:tgtEl>
                                          <p:spTgt spid="41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1" grpId="0" autoUpdateAnimBg="0"/>
      <p:bldP spid="41996"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a:extLst>
              <a:ext uri="{FF2B5EF4-FFF2-40B4-BE49-F238E27FC236}">
                <a16:creationId xmlns:a16="http://schemas.microsoft.com/office/drawing/2014/main" id="{AE8BFF0C-1629-A198-424D-A3501528419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9F48851-85C3-44EF-BEB5-28D9C0D52AB5}" type="slidenum">
              <a:rPr lang="en-US" altLang="zh-CN" sz="1400" smtClean="0"/>
              <a:pPr>
                <a:spcBef>
                  <a:spcPct val="0"/>
                </a:spcBef>
                <a:buFontTx/>
                <a:buNone/>
              </a:pPr>
              <a:t>39</a:t>
            </a:fld>
            <a:endParaRPr lang="en-US" altLang="zh-CN" sz="1400"/>
          </a:p>
        </p:txBody>
      </p:sp>
      <p:sp>
        <p:nvSpPr>
          <p:cNvPr id="8195" name="Rectangle 2">
            <a:extLst>
              <a:ext uri="{FF2B5EF4-FFF2-40B4-BE49-F238E27FC236}">
                <a16:creationId xmlns:a16="http://schemas.microsoft.com/office/drawing/2014/main" id="{F123AA27-0618-AB32-B0B4-BA9D32CCCA4E}"/>
              </a:ext>
            </a:extLst>
          </p:cNvPr>
          <p:cNvSpPr>
            <a:spLocks noGrp="1" noChangeArrowheads="1"/>
          </p:cNvSpPr>
          <p:nvPr>
            <p:ph type="title"/>
          </p:nvPr>
        </p:nvSpPr>
        <p:spPr>
          <a:xfrm>
            <a:off x="437790" y="620688"/>
            <a:ext cx="8229600" cy="1143000"/>
          </a:xfrm>
        </p:spPr>
        <p:txBody>
          <a:bodyPr/>
          <a:lstStyle/>
          <a:p>
            <a:pPr eaLnBrk="1" hangingPunct="1"/>
            <a:r>
              <a:rPr lang="en-US" altLang="zh-CN" sz="3200" dirty="0"/>
              <a:t>V</a:t>
            </a:r>
            <a:r>
              <a:rPr lang="zh-CN" altLang="en-US" sz="3200" dirty="0"/>
              <a:t>曲线仿真结果</a:t>
            </a:r>
          </a:p>
        </p:txBody>
      </p:sp>
      <p:pic>
        <p:nvPicPr>
          <p:cNvPr id="8196" name="Picture 4">
            <a:extLst>
              <a:ext uri="{FF2B5EF4-FFF2-40B4-BE49-F238E27FC236}">
                <a16:creationId xmlns:a16="http://schemas.microsoft.com/office/drawing/2014/main" id="{91DA5232-E447-146C-3CB5-7E36C9289F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81" y="1563032"/>
            <a:ext cx="6624637" cy="497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a:extLst>
              <a:ext uri="{FF2B5EF4-FFF2-40B4-BE49-F238E27FC236}">
                <a16:creationId xmlns:a16="http://schemas.microsoft.com/office/drawing/2014/main" id="{7EDA2235-7FF9-1D8E-2D46-3B713CF53582}"/>
              </a:ext>
            </a:extLst>
          </p:cNvPr>
          <p:cNvSpPr>
            <a:spLocks noGrp="1"/>
          </p:cNvSpPr>
          <p:nvPr>
            <p:ph type="sldNum" sz="quarter" idx="12"/>
          </p:nvPr>
        </p:nvSpPr>
        <p:spPr>
          <a:xfrm>
            <a:off x="6850608" y="6381750"/>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E793CD9-5E8B-43FA-B34A-68BA57012FE4}" type="slidenum">
              <a:rPr lang="en-US" altLang="zh-CN" sz="1400" smtClean="0"/>
              <a:pPr>
                <a:spcBef>
                  <a:spcPct val="0"/>
                </a:spcBef>
                <a:buFontTx/>
                <a:buNone/>
              </a:pPr>
              <a:t>40</a:t>
            </a:fld>
            <a:endParaRPr lang="en-US" altLang="zh-CN" sz="1400"/>
          </a:p>
        </p:txBody>
      </p:sp>
      <p:sp>
        <p:nvSpPr>
          <p:cNvPr id="10243" name="Rectangle 2">
            <a:extLst>
              <a:ext uri="{FF2B5EF4-FFF2-40B4-BE49-F238E27FC236}">
                <a16:creationId xmlns:a16="http://schemas.microsoft.com/office/drawing/2014/main" id="{50327E07-07CA-1C5E-5B1F-F0D0F1225E9B}"/>
              </a:ext>
            </a:extLst>
          </p:cNvPr>
          <p:cNvSpPr>
            <a:spLocks noGrp="1" noChangeArrowheads="1"/>
          </p:cNvSpPr>
          <p:nvPr>
            <p:ph type="title"/>
          </p:nvPr>
        </p:nvSpPr>
        <p:spPr>
          <a:xfrm>
            <a:off x="444614" y="749300"/>
            <a:ext cx="7931150" cy="706437"/>
          </a:xfrm>
        </p:spPr>
        <p:txBody>
          <a:bodyPr/>
          <a:lstStyle/>
          <a:p>
            <a:pPr eaLnBrk="1" hangingPunct="1"/>
            <a:r>
              <a:rPr lang="en-US" altLang="zh-CN" sz="3200" b="1">
                <a:latin typeface="黑体" panose="02010609060101010101" pitchFamily="49" charset="-122"/>
                <a:ea typeface="黑体" panose="02010609060101010101" pitchFamily="49" charset="-122"/>
              </a:rPr>
              <a:t>8.9 </a:t>
            </a:r>
            <a:r>
              <a:rPr lang="zh-CN" altLang="en-US" sz="3200" b="1">
                <a:latin typeface="黑体" panose="02010609060101010101" pitchFamily="49" charset="-122"/>
                <a:ea typeface="黑体" panose="02010609060101010101" pitchFamily="49" charset="-122"/>
              </a:rPr>
              <a:t>同步电动机的起动</a:t>
            </a:r>
          </a:p>
        </p:txBody>
      </p:sp>
      <p:sp>
        <p:nvSpPr>
          <p:cNvPr id="10244" name="Rectangle 3">
            <a:extLst>
              <a:ext uri="{FF2B5EF4-FFF2-40B4-BE49-F238E27FC236}">
                <a16:creationId xmlns:a16="http://schemas.microsoft.com/office/drawing/2014/main" id="{58D28C6A-7FB8-76C7-CF70-6F0EE8F2D481}"/>
              </a:ext>
            </a:extLst>
          </p:cNvPr>
          <p:cNvSpPr>
            <a:spLocks noGrp="1" noChangeArrowheads="1"/>
          </p:cNvSpPr>
          <p:nvPr>
            <p:ph type="body" idx="1"/>
          </p:nvPr>
        </p:nvSpPr>
        <p:spPr>
          <a:xfrm>
            <a:off x="444614" y="1671637"/>
            <a:ext cx="4114800" cy="936625"/>
          </a:xfrm>
        </p:spPr>
        <p:txBody>
          <a:bodyPr/>
          <a:lstStyle/>
          <a:p>
            <a:pPr eaLnBrk="1" hangingPunct="1">
              <a:lnSpc>
                <a:spcPct val="80000"/>
              </a:lnSpc>
              <a:buFontTx/>
              <a:buNone/>
            </a:pPr>
            <a:r>
              <a:rPr lang="zh-CN" altLang="en-US" sz="2400" b="1">
                <a:latin typeface="黑体" panose="02010609060101010101" pitchFamily="49" charset="-122"/>
                <a:ea typeface="黑体" panose="02010609060101010101" pitchFamily="49" charset="-122"/>
              </a:rPr>
              <a:t>在异步电动机中，已知 由  </a:t>
            </a:r>
          </a:p>
        </p:txBody>
      </p:sp>
      <p:graphicFrame>
        <p:nvGraphicFramePr>
          <p:cNvPr id="10245" name="Object 4">
            <a:extLst>
              <a:ext uri="{FF2B5EF4-FFF2-40B4-BE49-F238E27FC236}">
                <a16:creationId xmlns:a16="http://schemas.microsoft.com/office/drawing/2014/main" id="{AAD250A5-A495-698C-294E-C3FE53F31F2A}"/>
              </a:ext>
            </a:extLst>
          </p:cNvPr>
          <p:cNvGraphicFramePr>
            <a:graphicFrameLocks noChangeAspect="1"/>
          </p:cNvGraphicFramePr>
          <p:nvPr>
            <p:extLst>
              <p:ext uri="{D42A27DB-BD31-4B8C-83A1-F6EECF244321}">
                <p14:modId xmlns:p14="http://schemas.microsoft.com/office/powerpoint/2010/main" val="234014468"/>
              </p:ext>
            </p:extLst>
          </p:nvPr>
        </p:nvGraphicFramePr>
        <p:xfrm>
          <a:off x="4127614" y="1671637"/>
          <a:ext cx="1655763" cy="463550"/>
        </p:xfrm>
        <a:graphic>
          <a:graphicData uri="http://schemas.openxmlformats.org/presentationml/2006/ole">
            <mc:AlternateContent xmlns:mc="http://schemas.openxmlformats.org/markup-compatibility/2006">
              <mc:Choice xmlns:v="urn:schemas-microsoft-com:vml" Requires="v">
                <p:oleObj name="Equation" r:id="rId2" imgW="710891" imgH="203112" progId="Equation.DSMT4">
                  <p:embed/>
                </p:oleObj>
              </mc:Choice>
              <mc:Fallback>
                <p:oleObj name="Equation" r:id="rId2" imgW="710891" imgH="203112" progId="Equation.DSMT4">
                  <p:embed/>
                  <p:pic>
                    <p:nvPicPr>
                      <p:cNvPr id="10245" name="Object 4">
                        <a:extLst>
                          <a:ext uri="{FF2B5EF4-FFF2-40B4-BE49-F238E27FC236}">
                            <a16:creationId xmlns:a16="http://schemas.microsoft.com/office/drawing/2014/main" id="{AAD250A5-A495-698C-294E-C3FE53F31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7614" y="1671637"/>
                        <a:ext cx="165576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5073" name="Group 17">
            <a:extLst>
              <a:ext uri="{FF2B5EF4-FFF2-40B4-BE49-F238E27FC236}">
                <a16:creationId xmlns:a16="http://schemas.microsoft.com/office/drawing/2014/main" id="{DE61E2AF-CAD8-C1C2-B123-4A07D34E24C0}"/>
              </a:ext>
            </a:extLst>
          </p:cNvPr>
          <p:cNvGrpSpPr>
            <a:grpSpLocks/>
          </p:cNvGrpSpPr>
          <p:nvPr/>
        </p:nvGrpSpPr>
        <p:grpSpPr bwMode="auto">
          <a:xfrm>
            <a:off x="455727" y="2174875"/>
            <a:ext cx="6408737" cy="503237"/>
            <a:chOff x="295" y="1071"/>
            <a:chExt cx="4037" cy="317"/>
          </a:xfrm>
        </p:grpSpPr>
        <p:sp>
          <p:nvSpPr>
            <p:cNvPr id="10256" name="Text Box 6">
              <a:extLst>
                <a:ext uri="{FF2B5EF4-FFF2-40B4-BE49-F238E27FC236}">
                  <a16:creationId xmlns:a16="http://schemas.microsoft.com/office/drawing/2014/main" id="{A8EBA1E1-A64C-9222-3161-C7B8FA194B43}"/>
                </a:ext>
              </a:extLst>
            </p:cNvPr>
            <p:cNvSpPr txBox="1">
              <a:spLocks noChangeArrowheads="1"/>
            </p:cNvSpPr>
            <p:nvPr/>
          </p:nvSpPr>
          <p:spPr bwMode="auto">
            <a:xfrm>
              <a:off x="295" y="1083"/>
              <a:ext cx="28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黑体" panose="02010609060101010101" pitchFamily="49" charset="-122"/>
                  <a:ea typeface="黑体" panose="02010609060101010101" pitchFamily="49" charset="-122"/>
                </a:rPr>
                <a:t>作用于转子载流</a:t>
              </a:r>
              <a:r>
                <a:rPr lang="en-US" altLang="zh-CN" sz="2400" b="1">
                  <a:latin typeface="黑体" panose="02010609060101010101" pitchFamily="49" charset="-122"/>
                  <a:ea typeface="黑体" panose="02010609060101010101" pitchFamily="49" charset="-122"/>
                </a:rPr>
                <a:t>i</a:t>
              </a:r>
              <a:r>
                <a:rPr lang="zh-CN" altLang="en-US" sz="2400" b="1">
                  <a:latin typeface="黑体" panose="02010609060101010101" pitchFamily="49" charset="-122"/>
                  <a:ea typeface="黑体" panose="02010609060101010101" pitchFamily="49" charset="-122"/>
                </a:rPr>
                <a:t>导体的转矩为</a:t>
              </a:r>
            </a:p>
          </p:txBody>
        </p:sp>
        <p:graphicFrame>
          <p:nvGraphicFramePr>
            <p:cNvPr id="10257" name="Object 7">
              <a:extLst>
                <a:ext uri="{FF2B5EF4-FFF2-40B4-BE49-F238E27FC236}">
                  <a16:creationId xmlns:a16="http://schemas.microsoft.com/office/drawing/2014/main" id="{A2FA359C-8048-CE40-7026-D07DF2C0A216}"/>
                </a:ext>
              </a:extLst>
            </p:cNvPr>
            <p:cNvGraphicFramePr>
              <a:graphicFrameLocks noChangeAspect="1"/>
            </p:cNvGraphicFramePr>
            <p:nvPr/>
          </p:nvGraphicFramePr>
          <p:xfrm>
            <a:off x="3107" y="1071"/>
            <a:ext cx="1225" cy="317"/>
          </p:xfrm>
          <a:graphic>
            <a:graphicData uri="http://schemas.openxmlformats.org/presentationml/2006/ole">
              <mc:AlternateContent xmlns:mc="http://schemas.openxmlformats.org/markup-compatibility/2006">
                <mc:Choice xmlns:v="urn:schemas-microsoft-com:vml" Requires="v">
                  <p:oleObj name="Equation" r:id="rId4" imgW="672808" imgH="228501" progId="Equation.DSMT4">
                    <p:embed/>
                  </p:oleObj>
                </mc:Choice>
                <mc:Fallback>
                  <p:oleObj name="Equation" r:id="rId4" imgW="672808" imgH="228501" progId="Equation.DSMT4">
                    <p:embed/>
                    <p:pic>
                      <p:nvPicPr>
                        <p:cNvPr id="10257" name="Object 7">
                          <a:extLst>
                            <a:ext uri="{FF2B5EF4-FFF2-40B4-BE49-F238E27FC236}">
                              <a16:creationId xmlns:a16="http://schemas.microsoft.com/office/drawing/2014/main" id="{A2FA359C-8048-CE40-7026-D07DF2C0A2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7" y="1071"/>
                          <a:ext cx="122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0247" name="Rectangle 12">
            <a:extLst>
              <a:ext uri="{FF2B5EF4-FFF2-40B4-BE49-F238E27FC236}">
                <a16:creationId xmlns:a16="http://schemas.microsoft.com/office/drawing/2014/main" id="{068AC935-AF06-F14C-5930-25A1B5CE8C65}"/>
              </a:ext>
            </a:extLst>
          </p:cNvPr>
          <p:cNvSpPr>
            <a:spLocks noChangeArrowheads="1"/>
          </p:cNvSpPr>
          <p:nvPr/>
        </p:nvSpPr>
        <p:spPr bwMode="auto">
          <a:xfrm>
            <a:off x="-12586" y="378936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pSp>
        <p:nvGrpSpPr>
          <p:cNvPr id="45074" name="Group 18">
            <a:extLst>
              <a:ext uri="{FF2B5EF4-FFF2-40B4-BE49-F238E27FC236}">
                <a16:creationId xmlns:a16="http://schemas.microsoft.com/office/drawing/2014/main" id="{92111809-BE7E-208F-1D32-867D51036B6B}"/>
              </a:ext>
            </a:extLst>
          </p:cNvPr>
          <p:cNvGrpSpPr>
            <a:grpSpLocks/>
          </p:cNvGrpSpPr>
          <p:nvPr/>
        </p:nvGrpSpPr>
        <p:grpSpPr bwMode="auto">
          <a:xfrm>
            <a:off x="-12586" y="2770187"/>
            <a:ext cx="9144000" cy="1708150"/>
            <a:chOff x="0" y="1446"/>
            <a:chExt cx="5760" cy="1076"/>
          </a:xfrm>
        </p:grpSpPr>
        <p:sp>
          <p:nvSpPr>
            <p:cNvPr id="10250" name="Text Box 9">
              <a:extLst>
                <a:ext uri="{FF2B5EF4-FFF2-40B4-BE49-F238E27FC236}">
                  <a16:creationId xmlns:a16="http://schemas.microsoft.com/office/drawing/2014/main" id="{A5B38336-0150-BB88-4272-DC3878E25BC4}"/>
                </a:ext>
              </a:extLst>
            </p:cNvPr>
            <p:cNvSpPr txBox="1">
              <a:spLocks noChangeArrowheads="1"/>
            </p:cNvSpPr>
            <p:nvPr/>
          </p:nvSpPr>
          <p:spPr bwMode="auto">
            <a:xfrm>
              <a:off x="295" y="1446"/>
              <a:ext cx="5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黑体" panose="02010609060101010101" pitchFamily="49" charset="-122"/>
                  <a:ea typeface="黑体" panose="02010609060101010101" pitchFamily="49" charset="-122"/>
                </a:rPr>
                <a:t>转子电流产生自己的磁通，其磁场强度</a:t>
              </a:r>
              <a:r>
                <a:rPr lang="en-US" altLang="zh-CN" sz="2400" b="1">
                  <a:latin typeface="黑体" panose="02010609060101010101" pitchFamily="49" charset="-122"/>
                  <a:ea typeface="黑体" panose="02010609060101010101" pitchFamily="49" charset="-122"/>
                </a:rPr>
                <a:t>H</a:t>
              </a:r>
              <a:r>
                <a:rPr lang="en-US" altLang="zh-CN" sz="2400" b="1" baseline="-25000">
                  <a:latin typeface="黑体" panose="02010609060101010101" pitchFamily="49" charset="-122"/>
                  <a:ea typeface="黑体" panose="02010609060101010101" pitchFamily="49" charset="-122"/>
                </a:rPr>
                <a:t>R</a:t>
              </a:r>
              <a:r>
                <a:rPr lang="zh-CN" altLang="en-US" sz="2400" b="1">
                  <a:latin typeface="黑体" panose="02010609060101010101" pitchFamily="49" charset="-122"/>
                  <a:ea typeface="黑体" panose="02010609060101010101" pitchFamily="49" charset="-122"/>
                </a:rPr>
                <a:t>正比于转子电流。</a:t>
              </a:r>
            </a:p>
          </p:txBody>
        </p:sp>
        <p:sp>
          <p:nvSpPr>
            <p:cNvPr id="10251" name="Text Box 10">
              <a:extLst>
                <a:ext uri="{FF2B5EF4-FFF2-40B4-BE49-F238E27FC236}">
                  <a16:creationId xmlns:a16="http://schemas.microsoft.com/office/drawing/2014/main" id="{6C7A97D4-3169-F152-A746-08BEBF7C1336}"/>
                </a:ext>
              </a:extLst>
            </p:cNvPr>
            <p:cNvSpPr txBox="1">
              <a:spLocks noChangeArrowheads="1"/>
            </p:cNvSpPr>
            <p:nvPr/>
          </p:nvSpPr>
          <p:spPr bwMode="auto">
            <a:xfrm>
              <a:off x="327" y="1842"/>
              <a:ext cx="214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黑体" panose="02010609060101010101" pitchFamily="49" charset="-122"/>
                  <a:ea typeface="黑体" panose="02010609060101010101" pitchFamily="49" charset="-122"/>
                </a:rPr>
                <a:t>因此转矩又可以表示为 </a:t>
              </a:r>
            </a:p>
          </p:txBody>
        </p:sp>
        <p:graphicFrame>
          <p:nvGraphicFramePr>
            <p:cNvPr id="10252" name="Object 11">
              <a:extLst>
                <a:ext uri="{FF2B5EF4-FFF2-40B4-BE49-F238E27FC236}">
                  <a16:creationId xmlns:a16="http://schemas.microsoft.com/office/drawing/2014/main" id="{43EF1B84-A4CA-C3DF-8020-29E33F4E645A}"/>
                </a:ext>
              </a:extLst>
            </p:cNvPr>
            <p:cNvGraphicFramePr>
              <a:graphicFrameLocks noChangeAspect="1"/>
            </p:cNvGraphicFramePr>
            <p:nvPr/>
          </p:nvGraphicFramePr>
          <p:xfrm>
            <a:off x="2426" y="1797"/>
            <a:ext cx="2722" cy="419"/>
          </p:xfrm>
          <a:graphic>
            <a:graphicData uri="http://schemas.openxmlformats.org/presentationml/2006/ole">
              <mc:AlternateContent xmlns:mc="http://schemas.openxmlformats.org/markup-compatibility/2006">
                <mc:Choice xmlns:v="urn:schemas-microsoft-com:vml" Requires="v">
                  <p:oleObj name="Equation" r:id="rId6" imgW="1485900" imgH="228600" progId="Equation.DSMT4">
                    <p:embed/>
                  </p:oleObj>
                </mc:Choice>
                <mc:Fallback>
                  <p:oleObj name="Equation" r:id="rId6" imgW="1485900" imgH="228600" progId="Equation.DSMT4">
                    <p:embed/>
                    <p:pic>
                      <p:nvPicPr>
                        <p:cNvPr id="10252" name="Object 11">
                          <a:extLst>
                            <a:ext uri="{FF2B5EF4-FFF2-40B4-BE49-F238E27FC236}">
                              <a16:creationId xmlns:a16="http://schemas.microsoft.com/office/drawing/2014/main" id="{43EF1B84-A4CA-C3DF-8020-29E33F4E64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26" y="1797"/>
                          <a:ext cx="2722"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53" name="Text Box 13">
              <a:extLst>
                <a:ext uri="{FF2B5EF4-FFF2-40B4-BE49-F238E27FC236}">
                  <a16:creationId xmlns:a16="http://schemas.microsoft.com/office/drawing/2014/main" id="{94591D9D-5F8A-28DC-73DA-E4E31AD8D161}"/>
                </a:ext>
              </a:extLst>
            </p:cNvPr>
            <p:cNvSpPr txBox="1">
              <a:spLocks noChangeArrowheads="1"/>
            </p:cNvSpPr>
            <p:nvPr/>
          </p:nvSpPr>
          <p:spPr bwMode="auto">
            <a:xfrm>
              <a:off x="373" y="2205"/>
              <a:ext cx="4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黑体" panose="02010609060101010101" pitchFamily="49" charset="-122"/>
                  <a:ea typeface="黑体" panose="02010609060101010101" pitchFamily="49" charset="-122"/>
                </a:rPr>
                <a:t>或 </a:t>
              </a:r>
            </a:p>
          </p:txBody>
        </p:sp>
        <p:sp>
          <p:nvSpPr>
            <p:cNvPr id="10254" name="Rectangle 15">
              <a:extLst>
                <a:ext uri="{FF2B5EF4-FFF2-40B4-BE49-F238E27FC236}">
                  <a16:creationId xmlns:a16="http://schemas.microsoft.com/office/drawing/2014/main" id="{A398D3E4-04BB-8D1D-AAA4-12D65F5C2E3B}"/>
                </a:ext>
              </a:extLst>
            </p:cNvPr>
            <p:cNvSpPr>
              <a:spLocks noChangeArrowheads="1"/>
            </p:cNvSpPr>
            <p:nvPr/>
          </p:nvSpPr>
          <p:spPr bwMode="auto">
            <a:xfrm>
              <a:off x="0" y="2088"/>
              <a:ext cx="576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0255" name="Object 14">
              <a:extLst>
                <a:ext uri="{FF2B5EF4-FFF2-40B4-BE49-F238E27FC236}">
                  <a16:creationId xmlns:a16="http://schemas.microsoft.com/office/drawing/2014/main" id="{13DA966C-9A7A-8240-C145-98E5CFD3390D}"/>
                </a:ext>
              </a:extLst>
            </p:cNvPr>
            <p:cNvGraphicFramePr>
              <a:graphicFrameLocks noChangeAspect="1"/>
            </p:cNvGraphicFramePr>
            <p:nvPr/>
          </p:nvGraphicFramePr>
          <p:xfrm>
            <a:off x="703" y="2205"/>
            <a:ext cx="2177" cy="317"/>
          </p:xfrm>
          <a:graphic>
            <a:graphicData uri="http://schemas.openxmlformats.org/presentationml/2006/ole">
              <mc:AlternateContent xmlns:mc="http://schemas.openxmlformats.org/markup-compatibility/2006">
                <mc:Choice xmlns:v="urn:schemas-microsoft-com:vml" Requires="v">
                  <p:oleObj name="Equation" r:id="rId8" imgW="1574800" imgH="228600" progId="Equation.DSMT4">
                    <p:embed/>
                  </p:oleObj>
                </mc:Choice>
                <mc:Fallback>
                  <p:oleObj name="Equation" r:id="rId8" imgW="1574800" imgH="228600" progId="Equation.DSMT4">
                    <p:embed/>
                    <p:pic>
                      <p:nvPicPr>
                        <p:cNvPr id="10255" name="Object 14">
                          <a:extLst>
                            <a:ext uri="{FF2B5EF4-FFF2-40B4-BE49-F238E27FC236}">
                              <a16:creationId xmlns:a16="http://schemas.microsoft.com/office/drawing/2014/main" id="{13DA966C-9A7A-8240-C145-98E5CFD3390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3" y="2205"/>
                          <a:ext cx="217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5072" name="Text Box 16">
            <a:extLst>
              <a:ext uri="{FF2B5EF4-FFF2-40B4-BE49-F238E27FC236}">
                <a16:creationId xmlns:a16="http://schemas.microsoft.com/office/drawing/2014/main" id="{6D203975-D59B-F061-42B8-73144732FA62}"/>
              </a:ext>
            </a:extLst>
          </p:cNvPr>
          <p:cNvSpPr txBox="1">
            <a:spLocks noChangeArrowheads="1"/>
          </p:cNvSpPr>
          <p:nvPr/>
        </p:nvSpPr>
        <p:spPr bwMode="auto">
          <a:xfrm>
            <a:off x="579552" y="4714875"/>
            <a:ext cx="7866062"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400" b="1">
                <a:latin typeface="黑体" panose="02010609060101010101" pitchFamily="49" charset="-122"/>
                <a:ea typeface="黑体" panose="02010609060101010101" pitchFamily="49" charset="-122"/>
              </a:rPr>
              <a:t>     </a:t>
            </a:r>
            <a:r>
              <a:rPr lang="zh-CN" altLang="en-US" sz="2800" b="1">
                <a:latin typeface="黑体" panose="02010609060101010101" pitchFamily="49" charset="-122"/>
                <a:ea typeface="黑体" panose="02010609060101010101" pitchFamily="49" charset="-122"/>
              </a:rPr>
              <a:t>即交流异步电机的转矩与定、转子磁通密度向量积成比例。此结论同样适用于交流同步电机。此结论一般仅用作定性分析，系数</a:t>
            </a:r>
            <a:r>
              <a:rPr lang="en-US" altLang="zh-CN" sz="2800" b="1">
                <a:latin typeface="黑体" panose="02010609060101010101" pitchFamily="49" charset="-122"/>
                <a:ea typeface="黑体" panose="02010609060101010101" pitchFamily="49" charset="-122"/>
              </a:rPr>
              <a:t>k</a:t>
            </a:r>
            <a:r>
              <a:rPr lang="zh-CN" altLang="en-US" sz="2800" b="1">
                <a:latin typeface="黑体" panose="02010609060101010101" pitchFamily="49" charset="-122"/>
                <a:ea typeface="黑体" panose="02010609060101010101" pitchFamily="49" charset="-122"/>
              </a:rPr>
              <a:t>的大小并不重要。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5073"/>
                                        </p:tgtEl>
                                        <p:attrNameLst>
                                          <p:attrName>style.visibility</p:attrName>
                                        </p:attrNameLst>
                                      </p:cBhvr>
                                      <p:to>
                                        <p:strVal val="visible"/>
                                      </p:to>
                                    </p:set>
                                    <p:animEffect transition="in" filter="blinds(horizontal)">
                                      <p:cBhvr>
                                        <p:cTn id="7" dur="500"/>
                                        <p:tgtEl>
                                          <p:spTgt spid="450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5074"/>
                                        </p:tgtEl>
                                        <p:attrNameLst>
                                          <p:attrName>style.visibility</p:attrName>
                                        </p:attrNameLst>
                                      </p:cBhvr>
                                      <p:to>
                                        <p:strVal val="visible"/>
                                      </p:to>
                                    </p:set>
                                    <p:animEffect transition="in" filter="dissolve">
                                      <p:cBhvr>
                                        <p:cTn id="12" dur="500"/>
                                        <p:tgtEl>
                                          <p:spTgt spid="450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5072"/>
                                        </p:tgtEl>
                                        <p:attrNameLst>
                                          <p:attrName>style.visibility</p:attrName>
                                        </p:attrNameLst>
                                      </p:cBhvr>
                                      <p:to>
                                        <p:strVal val="visible"/>
                                      </p:to>
                                    </p:set>
                                    <p:animEffect transition="in" filter="blinds(horizontal)">
                                      <p:cBhvr>
                                        <p:cTn id="17" dur="500"/>
                                        <p:tgtEl>
                                          <p:spTgt spid="45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72"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a:extLst>
              <a:ext uri="{FF2B5EF4-FFF2-40B4-BE49-F238E27FC236}">
                <a16:creationId xmlns:a16="http://schemas.microsoft.com/office/drawing/2014/main" id="{E6AE8FBA-DEFA-B94A-59C3-619D9A4AECD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B7441F6-F5EC-44E0-8CC3-5F4BB3EDFD98}" type="slidenum">
              <a:rPr lang="en-US" altLang="zh-CN" sz="1400" smtClean="0"/>
              <a:pPr>
                <a:spcBef>
                  <a:spcPct val="0"/>
                </a:spcBef>
                <a:buFontTx/>
                <a:buNone/>
              </a:pPr>
              <a:t>41</a:t>
            </a:fld>
            <a:endParaRPr lang="en-US" altLang="zh-CN" sz="1400"/>
          </a:p>
        </p:txBody>
      </p:sp>
      <p:sp>
        <p:nvSpPr>
          <p:cNvPr id="11267" name="Rectangle 2">
            <a:extLst>
              <a:ext uri="{FF2B5EF4-FFF2-40B4-BE49-F238E27FC236}">
                <a16:creationId xmlns:a16="http://schemas.microsoft.com/office/drawing/2014/main" id="{0F9EED08-03B1-258E-72FE-ECAE23E6E812}"/>
              </a:ext>
            </a:extLst>
          </p:cNvPr>
          <p:cNvSpPr>
            <a:spLocks noGrp="1" noChangeArrowheads="1"/>
          </p:cNvSpPr>
          <p:nvPr>
            <p:ph type="title"/>
          </p:nvPr>
        </p:nvSpPr>
        <p:spPr>
          <a:xfrm>
            <a:off x="6948488" y="333375"/>
            <a:ext cx="1655762" cy="863600"/>
          </a:xfrm>
        </p:spPr>
        <p:txBody>
          <a:bodyPr/>
          <a:lstStyle/>
          <a:p>
            <a:pPr eaLnBrk="1" hangingPunct="1"/>
            <a:r>
              <a:rPr lang="zh-CN" altLang="en-US" sz="2400" b="1">
                <a:latin typeface="黑体" panose="02010609060101010101" pitchFamily="49" charset="-122"/>
                <a:ea typeface="黑体" panose="02010609060101010101" pitchFamily="49" charset="-122"/>
              </a:rPr>
              <a:t>同步电动机的起动</a:t>
            </a:r>
          </a:p>
        </p:txBody>
      </p:sp>
      <p:sp>
        <p:nvSpPr>
          <p:cNvPr id="11268" name="Rectangle 3">
            <a:extLst>
              <a:ext uri="{FF2B5EF4-FFF2-40B4-BE49-F238E27FC236}">
                <a16:creationId xmlns:a16="http://schemas.microsoft.com/office/drawing/2014/main" id="{A6735681-68B2-48C9-1CB0-7864C638B0A6}"/>
              </a:ext>
            </a:extLst>
          </p:cNvPr>
          <p:cNvSpPr>
            <a:spLocks noGrp="1" noChangeArrowheads="1"/>
          </p:cNvSpPr>
          <p:nvPr>
            <p:ph type="body" idx="1"/>
          </p:nvPr>
        </p:nvSpPr>
        <p:spPr>
          <a:xfrm>
            <a:off x="246752" y="1061455"/>
            <a:ext cx="6121400" cy="1421730"/>
          </a:xfrm>
        </p:spPr>
        <p:txBody>
          <a:bodyPr/>
          <a:lstStyle/>
          <a:p>
            <a:pPr>
              <a:lnSpc>
                <a:spcPct val="80000"/>
              </a:lnSpc>
            </a:pPr>
            <a:r>
              <a:rPr lang="zh-CN" altLang="en-US" sz="2800" b="1" dirty="0">
                <a:latin typeface="黑体" panose="02010609060101010101" pitchFamily="49" charset="-122"/>
                <a:ea typeface="黑体" panose="02010609060101010101" pitchFamily="49" charset="-122"/>
              </a:rPr>
              <a:t>同步电机定子旋转磁场磁通密度为</a:t>
            </a:r>
            <a:r>
              <a:rPr lang="en-US" altLang="zh-CN" sz="2800" b="1" dirty="0">
                <a:latin typeface="黑体" panose="02010609060101010101" pitchFamily="49" charset="-122"/>
                <a:ea typeface="黑体" panose="02010609060101010101" pitchFamily="49" charset="-122"/>
              </a:rPr>
              <a:t>B</a:t>
            </a:r>
            <a:r>
              <a:rPr lang="en-US" altLang="zh-CN" sz="2800" b="1" baseline="-25000" dirty="0">
                <a:latin typeface="黑体" panose="02010609060101010101" pitchFamily="49" charset="-122"/>
                <a:ea typeface="黑体" panose="02010609060101010101" pitchFamily="49" charset="-122"/>
              </a:rPr>
              <a:t>s</a:t>
            </a:r>
            <a:r>
              <a:rPr lang="zh-CN" altLang="en-US" sz="2800" b="1" baseline="-25000"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转子旋转磁场磁通密度</a:t>
            </a:r>
            <a:r>
              <a:rPr lang="en-US" altLang="zh-CN" sz="2800" b="1" dirty="0">
                <a:latin typeface="黑体" panose="02010609060101010101" pitchFamily="49" charset="-122"/>
                <a:ea typeface="黑体" panose="02010609060101010101" pitchFamily="49" charset="-122"/>
              </a:rPr>
              <a:t>B</a:t>
            </a:r>
            <a:r>
              <a:rPr lang="en-US" altLang="zh-CN" sz="2800" b="1" baseline="-25000" dirty="0">
                <a:latin typeface="黑体" panose="02010609060101010101" pitchFamily="49" charset="-122"/>
                <a:ea typeface="黑体" panose="02010609060101010101" pitchFamily="49" charset="-122"/>
              </a:rPr>
              <a:t>R</a:t>
            </a:r>
            <a:r>
              <a:rPr lang="zh-CN" altLang="en-US" sz="2800" b="1" dirty="0">
                <a:latin typeface="黑体" panose="02010609060101010101" pitchFamily="49" charset="-122"/>
                <a:ea typeface="黑体" panose="02010609060101010101" pitchFamily="49" charset="-122"/>
              </a:rPr>
              <a:t>，转矩方程可以表示为：</a:t>
            </a:r>
          </a:p>
        </p:txBody>
      </p:sp>
      <mc:AlternateContent xmlns:mc="http://schemas.openxmlformats.org/markup-compatibility/2006">
        <mc:Choice xmlns:a14="http://schemas.microsoft.com/office/drawing/2010/main" Requires="a14">
          <p:sp>
            <p:nvSpPr>
              <p:cNvPr id="11269" name="Object 4">
                <a:extLst>
                  <a:ext uri="{FF2B5EF4-FFF2-40B4-BE49-F238E27FC236}">
                    <a16:creationId xmlns:a16="http://schemas.microsoft.com/office/drawing/2014/main" id="{7EC1D378-EBBF-821F-C6F1-A4CD8F4A7564}"/>
                  </a:ext>
                </a:extLst>
              </p:cNvPr>
              <p:cNvSpPr txBox="1"/>
              <p:nvPr/>
            </p:nvSpPr>
            <p:spPr bwMode="auto">
              <a:xfrm>
                <a:off x="827088" y="2233613"/>
                <a:ext cx="4320976" cy="673100"/>
              </a:xfrm>
              <a:prstGeom prst="rect">
                <a:avLst/>
              </a:prstGeom>
              <a:noFill/>
              <a:ln>
                <a:noFill/>
              </a:ln>
            </p:spPr>
            <p:txBody>
              <a:bodyPr>
                <a:normAutofit/>
              </a:bodyPr>
              <a:lstStyle/>
              <a:p>
                <a:pPr/>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𝑒𝑚</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𝑘</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𝐁</m:t>
                        </m:r>
                      </m:e>
                      <m:sub>
                        <m:r>
                          <a:rPr lang="zh-CN" altLang="en-US" sz="2800" i="1">
                            <a:solidFill>
                              <a:srgbClr val="000000"/>
                            </a:solidFill>
                            <a:latin typeface="Cambria Math" panose="02040503050406030204" pitchFamily="18" charset="0"/>
                          </a:rPr>
                          <m:t>𝑅</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𝐁</m:t>
                        </m:r>
                      </m:e>
                      <m:sub>
                        <m:r>
                          <a:rPr lang="zh-CN" altLang="en-US" sz="2800" i="1">
                            <a:solidFill>
                              <a:srgbClr val="000000"/>
                            </a:solidFill>
                            <a:latin typeface="Cambria Math" panose="02040503050406030204" pitchFamily="18" charset="0"/>
                          </a:rPr>
                          <m:t>𝑠</m:t>
                        </m:r>
                      </m:sub>
                    </m:sSub>
                  </m:oMath>
                </a14:m>
                <a:r>
                  <a:rPr lang="en-US" altLang="zh-CN" sz="2800" dirty="0"/>
                  <a:t>=</a:t>
                </a:r>
                <a:r>
                  <a:rPr lang="en-US" altLang="zh-CN" sz="2800" i="1" dirty="0"/>
                  <a:t>k</a:t>
                </a:r>
                <a14:m>
                  <m:oMath xmlns:m="http://schemas.openxmlformats.org/officeDocument/2006/math">
                    <m:sSub>
                      <m:sSubPr>
                        <m:ctrlPr>
                          <a:rPr lang="en-US" altLang="zh-CN" sz="2800" i="1" smtClean="0">
                            <a:latin typeface="Cambria Math" panose="02040503050406030204" pitchFamily="18" charset="0"/>
                          </a:rPr>
                        </m:ctrlPr>
                      </m:sSubPr>
                      <m:e>
                        <m:r>
                          <a:rPr lang="zh-CN" altLang="en-US" sz="2800" i="1" smtClean="0">
                            <a:latin typeface="Cambria Math" panose="02040503050406030204" pitchFamily="18" charset="0"/>
                          </a:rPr>
                          <m:t>𝜑</m:t>
                        </m:r>
                      </m:e>
                      <m:sub>
                        <m:r>
                          <a:rPr lang="en-US" altLang="zh-CN" sz="2800" b="0" i="1" smtClean="0">
                            <a:latin typeface="Cambria Math" panose="02040503050406030204" pitchFamily="18" charset="0"/>
                          </a:rPr>
                          <m:t>𝑅</m:t>
                        </m:r>
                      </m:sub>
                    </m:sSub>
                    <m:r>
                      <a:rPr lang="en-US" altLang="zh-CN" sz="2800" i="1" smtClean="0">
                        <a:latin typeface="Cambria Math" panose="02040503050406030204" pitchFamily="18" charset="0"/>
                        <a:ea typeface="Cambria Math" panose="02040503050406030204" pitchFamily="18" charset="0"/>
                      </a:rPr>
                      <m:t>×</m:t>
                    </m:r>
                    <m:sSub>
                      <m:sSubPr>
                        <m:ctrlPr>
                          <a:rPr lang="en-US" altLang="zh-CN" sz="2800" i="1" smtClean="0">
                            <a:latin typeface="Cambria Math" panose="02040503050406030204" pitchFamily="18" charset="0"/>
                          </a:rPr>
                        </m:ctrlPr>
                      </m:sSubPr>
                      <m:e>
                        <m:r>
                          <a:rPr lang="zh-CN" altLang="en-US" sz="2800" i="1" smtClean="0">
                            <a:latin typeface="Cambria Math" panose="02040503050406030204" pitchFamily="18" charset="0"/>
                          </a:rPr>
                          <m:t>𝜑</m:t>
                        </m:r>
                      </m:e>
                      <m:sub>
                        <m:r>
                          <a:rPr lang="en-US" altLang="zh-CN" sz="2800" b="0" i="1" smtClean="0">
                            <a:latin typeface="Cambria Math" panose="02040503050406030204" pitchFamily="18" charset="0"/>
                          </a:rPr>
                          <m:t>𝑆</m:t>
                        </m:r>
                      </m:sub>
                    </m:sSub>
                  </m:oMath>
                </a14:m>
                <a:endParaRPr lang="zh-CN" altLang="en-US" sz="2800" dirty="0"/>
              </a:p>
            </p:txBody>
          </p:sp>
        </mc:Choice>
        <mc:Fallback>
          <p:sp>
            <p:nvSpPr>
              <p:cNvPr id="11269" name="Object 4">
                <a:extLst>
                  <a:ext uri="{FF2B5EF4-FFF2-40B4-BE49-F238E27FC236}">
                    <a16:creationId xmlns:a16="http://schemas.microsoft.com/office/drawing/2014/main" id="{7EC1D378-EBBF-821F-C6F1-A4CD8F4A7564}"/>
                  </a:ext>
                </a:extLst>
              </p:cNvPr>
              <p:cNvSpPr txBox="1">
                <a:spLocks noRot="1" noChangeAspect="1" noMove="1" noResize="1" noEditPoints="1" noAdjustHandles="1" noChangeArrowheads="1" noChangeShapeType="1" noTextEdit="1"/>
              </p:cNvSpPr>
              <p:nvPr/>
            </p:nvSpPr>
            <p:spPr bwMode="auto">
              <a:xfrm>
                <a:off x="827088" y="2233613"/>
                <a:ext cx="4320976" cy="673100"/>
              </a:xfrm>
              <a:prstGeom prst="rect">
                <a:avLst/>
              </a:prstGeom>
              <a:blipFill>
                <a:blip r:embed="rId2"/>
                <a:stretch>
                  <a:fillRect t="-9009" b="-1802"/>
                </a:stretch>
              </a:blipFill>
              <a:ln>
                <a:noFill/>
              </a:ln>
            </p:spPr>
            <p:txBody>
              <a:bodyPr/>
              <a:lstStyle/>
              <a:p>
                <a:r>
                  <a:rPr lang="zh-CN" altLang="en-US">
                    <a:noFill/>
                  </a:rPr>
                  <a:t> </a:t>
                </a:r>
              </a:p>
            </p:txBody>
          </p:sp>
        </mc:Fallback>
      </mc:AlternateContent>
      <p:sp>
        <p:nvSpPr>
          <p:cNvPr id="46086" name="Text Box 6">
            <a:extLst>
              <a:ext uri="{FF2B5EF4-FFF2-40B4-BE49-F238E27FC236}">
                <a16:creationId xmlns:a16="http://schemas.microsoft.com/office/drawing/2014/main" id="{6E489BD3-4316-DECA-6A3D-BA93F07E2F03}"/>
              </a:ext>
            </a:extLst>
          </p:cNvPr>
          <p:cNvSpPr txBox="1">
            <a:spLocks noChangeArrowheads="1"/>
          </p:cNvSpPr>
          <p:nvPr/>
        </p:nvSpPr>
        <p:spPr bwMode="auto">
          <a:xfrm>
            <a:off x="30852" y="2906712"/>
            <a:ext cx="6121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b="1">
                <a:latin typeface="黑体" panose="02010609060101010101" pitchFamily="49" charset="-122"/>
                <a:ea typeface="黑体" panose="02010609060101010101" pitchFamily="49" charset="-122"/>
              </a:rPr>
              <a:t>假定在</a:t>
            </a:r>
            <a:r>
              <a:rPr lang="en-US" altLang="zh-CN" sz="2800" b="1">
                <a:latin typeface="黑体" panose="02010609060101010101" pitchFamily="49" charset="-122"/>
                <a:ea typeface="黑体" panose="02010609060101010101" pitchFamily="49" charset="-122"/>
              </a:rPr>
              <a:t>t=0</a:t>
            </a:r>
            <a:r>
              <a:rPr lang="zh-CN" altLang="en-US" sz="2800" b="1">
                <a:latin typeface="黑体" panose="02010609060101010101" pitchFamily="49" charset="-122"/>
                <a:ea typeface="黑体" panose="02010609060101010101" pitchFamily="49" charset="-122"/>
              </a:rPr>
              <a:t>时刻，定子、转子磁场方向相同，作用于转子轴上转矩为</a:t>
            </a:r>
            <a:r>
              <a:rPr lang="en-US" altLang="zh-CN" sz="2800" b="1">
                <a:latin typeface="黑体" panose="02010609060101010101" pitchFamily="49" charset="-122"/>
                <a:ea typeface="黑体" panose="02010609060101010101" pitchFamily="49" charset="-122"/>
              </a:rPr>
              <a:t>0</a:t>
            </a:r>
            <a:r>
              <a:rPr lang="zh-CN" altLang="en-US" sz="2800" b="1">
                <a:latin typeface="黑体" panose="02010609060101010101" pitchFamily="49" charset="-122"/>
                <a:ea typeface="黑体" panose="02010609060101010101" pitchFamily="49" charset="-122"/>
              </a:rPr>
              <a:t>；</a:t>
            </a:r>
            <a:r>
              <a:rPr lang="zh-CN" altLang="en-US" sz="2400" b="1">
                <a:latin typeface="黑体" panose="02010609060101010101" pitchFamily="49" charset="-122"/>
                <a:ea typeface="黑体" panose="02010609060101010101" pitchFamily="49" charset="-122"/>
              </a:rPr>
              <a:t> </a:t>
            </a:r>
          </a:p>
        </p:txBody>
      </p:sp>
      <p:pic>
        <p:nvPicPr>
          <p:cNvPr id="11271" name="Picture 7" descr="qd0">
            <a:extLst>
              <a:ext uri="{FF2B5EF4-FFF2-40B4-BE49-F238E27FC236}">
                <a16:creationId xmlns:a16="http://schemas.microsoft.com/office/drawing/2014/main" id="{D120A062-40B8-58F4-41A5-07D967422C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2588" y="1341438"/>
            <a:ext cx="1943100" cy="221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9" name="Text Box 9">
            <a:extLst>
              <a:ext uri="{FF2B5EF4-FFF2-40B4-BE49-F238E27FC236}">
                <a16:creationId xmlns:a16="http://schemas.microsoft.com/office/drawing/2014/main" id="{610FFEAB-307F-D7FC-F1AB-6633C8FE5645}"/>
              </a:ext>
            </a:extLst>
          </p:cNvPr>
          <p:cNvSpPr txBox="1">
            <a:spLocks noChangeArrowheads="1"/>
          </p:cNvSpPr>
          <p:nvPr/>
        </p:nvSpPr>
        <p:spPr bwMode="auto">
          <a:xfrm>
            <a:off x="103877" y="4203700"/>
            <a:ext cx="6048375"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en-US" altLang="zh-CN" sz="2800" b="1">
                <a:latin typeface="黑体" panose="02010609060101010101" pitchFamily="49" charset="-122"/>
                <a:ea typeface="黑体" panose="02010609060101010101" pitchFamily="49" charset="-122"/>
              </a:rPr>
              <a:t>1/4</a:t>
            </a:r>
            <a:r>
              <a:rPr lang="zh-CN" altLang="en-US" sz="2800" b="1">
                <a:latin typeface="黑体" panose="02010609060101010101" pitchFamily="49" charset="-122"/>
                <a:ea typeface="黑体" panose="02010609060101010101" pitchFamily="49" charset="-122"/>
              </a:rPr>
              <a:t>周期时，定子磁场转过</a:t>
            </a:r>
            <a:r>
              <a:rPr lang="en-US" altLang="zh-CN" sz="2800" b="1">
                <a:latin typeface="黑体" panose="02010609060101010101" pitchFamily="49" charset="-122"/>
                <a:ea typeface="黑体" panose="02010609060101010101" pitchFamily="49" charset="-122"/>
              </a:rPr>
              <a:t>90</a:t>
            </a:r>
            <a:r>
              <a:rPr lang="zh-CN" altLang="en-US" sz="2800" b="1">
                <a:latin typeface="黑体" panose="02010609060101010101" pitchFamily="49" charset="-122"/>
                <a:ea typeface="黑体" panose="02010609060101010101" pitchFamily="49" charset="-122"/>
              </a:rPr>
              <a:t>度空间，假设电源频率为</a:t>
            </a:r>
            <a:r>
              <a:rPr lang="en-US" altLang="zh-CN" sz="2800" b="1">
                <a:latin typeface="黑体" panose="02010609060101010101" pitchFamily="49" charset="-122"/>
                <a:ea typeface="黑体" panose="02010609060101010101" pitchFamily="49" charset="-122"/>
              </a:rPr>
              <a:t>50Hz,</a:t>
            </a:r>
            <a:r>
              <a:rPr lang="zh-CN" altLang="en-US" sz="2800" b="1">
                <a:latin typeface="黑体" panose="02010609060101010101" pitchFamily="49" charset="-122"/>
                <a:ea typeface="黑体" panose="02010609060101010101" pitchFamily="49" charset="-122"/>
              </a:rPr>
              <a:t>对应时间为</a:t>
            </a:r>
            <a:r>
              <a:rPr lang="en-US" altLang="zh-CN" sz="2800" b="1">
                <a:latin typeface="黑体" panose="02010609060101010101" pitchFamily="49" charset="-122"/>
                <a:ea typeface="黑体" panose="02010609060101010101" pitchFamily="49" charset="-122"/>
              </a:rPr>
              <a:t>5ms</a:t>
            </a:r>
            <a:r>
              <a:rPr lang="zh-CN" altLang="en-US" sz="2800" b="1">
                <a:latin typeface="黑体" panose="02010609060101010101" pitchFamily="49" charset="-122"/>
                <a:ea typeface="黑体" panose="02010609060101010101" pitchFamily="49" charset="-122"/>
              </a:rPr>
              <a:t>，在这样短的时间内，转子很难移动，但是定子磁场已指向左，根据转矩方程，转子轴上转矩应为逆时针方向； </a:t>
            </a:r>
          </a:p>
        </p:txBody>
      </p:sp>
      <p:pic>
        <p:nvPicPr>
          <p:cNvPr id="11273" name="Picture 10" descr="qd1">
            <a:extLst>
              <a:ext uri="{FF2B5EF4-FFF2-40B4-BE49-F238E27FC236}">
                <a16:creationId xmlns:a16="http://schemas.microsoft.com/office/drawing/2014/main" id="{D2C925AF-A832-B97D-515A-A0A8122C9A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8125" y="3860800"/>
            <a:ext cx="2095500" cy="221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6086"/>
                                        </p:tgtEl>
                                        <p:attrNameLst>
                                          <p:attrName>style.visibility</p:attrName>
                                        </p:attrNameLst>
                                      </p:cBhvr>
                                      <p:to>
                                        <p:strVal val="visible"/>
                                      </p:to>
                                    </p:set>
                                    <p:animEffect transition="in" filter="blinds(horizontal)">
                                      <p:cBhvr>
                                        <p:cTn id="7" dur="500"/>
                                        <p:tgtEl>
                                          <p:spTgt spid="460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6089"/>
                                        </p:tgtEl>
                                        <p:attrNameLst>
                                          <p:attrName>style.visibility</p:attrName>
                                        </p:attrNameLst>
                                      </p:cBhvr>
                                      <p:to>
                                        <p:strVal val="visible"/>
                                      </p:to>
                                    </p:set>
                                    <p:animEffect transition="in" filter="blinds(horizontal)">
                                      <p:cBhvr>
                                        <p:cTn id="12" dur="500"/>
                                        <p:tgtEl>
                                          <p:spTgt spid="460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6" grpId="0" autoUpdateAnimBg="0"/>
      <p:bldP spid="46089"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a:extLst>
              <a:ext uri="{FF2B5EF4-FFF2-40B4-BE49-F238E27FC236}">
                <a16:creationId xmlns:a16="http://schemas.microsoft.com/office/drawing/2014/main" id="{B19A4329-43DD-56A1-2862-71C856E7836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8FED776-A9F6-435E-ADCA-6B6AED1C326C}" type="slidenum">
              <a:rPr lang="en-US" altLang="zh-CN" sz="1400" smtClean="0"/>
              <a:pPr>
                <a:spcBef>
                  <a:spcPct val="0"/>
                </a:spcBef>
                <a:buFontTx/>
                <a:buNone/>
              </a:pPr>
              <a:t>42</a:t>
            </a:fld>
            <a:endParaRPr lang="en-US" altLang="zh-CN" sz="1400"/>
          </a:p>
        </p:txBody>
      </p:sp>
      <p:sp>
        <p:nvSpPr>
          <p:cNvPr id="12291" name="Rectangle 2">
            <a:extLst>
              <a:ext uri="{FF2B5EF4-FFF2-40B4-BE49-F238E27FC236}">
                <a16:creationId xmlns:a16="http://schemas.microsoft.com/office/drawing/2014/main" id="{4BE6722E-235A-E349-E31C-499C7ACBAE13}"/>
              </a:ext>
            </a:extLst>
          </p:cNvPr>
          <p:cNvSpPr>
            <a:spLocks noGrp="1" noChangeArrowheads="1"/>
          </p:cNvSpPr>
          <p:nvPr>
            <p:ph type="title"/>
          </p:nvPr>
        </p:nvSpPr>
        <p:spPr>
          <a:xfrm>
            <a:off x="7504113" y="825500"/>
            <a:ext cx="1162050" cy="941388"/>
          </a:xfrm>
        </p:spPr>
        <p:txBody>
          <a:bodyPr/>
          <a:lstStyle/>
          <a:p>
            <a:pPr eaLnBrk="1" hangingPunct="1"/>
            <a:r>
              <a:rPr lang="zh-CN" altLang="en-US" sz="2400" b="1">
                <a:latin typeface="黑体" panose="02010609060101010101" pitchFamily="49" charset="-122"/>
                <a:ea typeface="黑体" panose="02010609060101010101" pitchFamily="49" charset="-122"/>
              </a:rPr>
              <a:t>同步电动机的起动</a:t>
            </a:r>
          </a:p>
        </p:txBody>
      </p:sp>
      <p:sp>
        <p:nvSpPr>
          <p:cNvPr id="12292" name="Rectangle 3">
            <a:extLst>
              <a:ext uri="{FF2B5EF4-FFF2-40B4-BE49-F238E27FC236}">
                <a16:creationId xmlns:a16="http://schemas.microsoft.com/office/drawing/2014/main" id="{60663563-CCB0-DA64-6003-6B174CCEC62B}"/>
              </a:ext>
            </a:extLst>
          </p:cNvPr>
          <p:cNvSpPr>
            <a:spLocks noGrp="1" noChangeArrowheads="1"/>
          </p:cNvSpPr>
          <p:nvPr>
            <p:ph type="body" idx="1"/>
          </p:nvPr>
        </p:nvSpPr>
        <p:spPr>
          <a:xfrm>
            <a:off x="2722563" y="1041400"/>
            <a:ext cx="4492625" cy="936625"/>
          </a:xfrm>
        </p:spPr>
        <p:txBody>
          <a:bodyPr/>
          <a:lstStyle/>
          <a:p>
            <a:pPr eaLnBrk="1" hangingPunct="1">
              <a:lnSpc>
                <a:spcPct val="90000"/>
              </a:lnSpc>
              <a:buFont typeface="Wingdings" panose="05000000000000000000" pitchFamily="2" charset="2"/>
              <a:buChar char="Ø"/>
            </a:pPr>
            <a:r>
              <a:rPr lang="zh-CN" altLang="en-US" sz="2800" b="1">
                <a:latin typeface="黑体" panose="02010609060101010101" pitchFamily="49" charset="-122"/>
                <a:ea typeface="黑体" panose="02010609060101010101" pitchFamily="49" charset="-122"/>
              </a:rPr>
              <a:t>到</a:t>
            </a:r>
            <a:r>
              <a:rPr lang="en-US" altLang="zh-CN" sz="2800" b="1">
                <a:latin typeface="黑体" panose="02010609060101010101" pitchFamily="49" charset="-122"/>
                <a:ea typeface="黑体" panose="02010609060101010101" pitchFamily="49" charset="-122"/>
              </a:rPr>
              <a:t>1/2</a:t>
            </a:r>
            <a:r>
              <a:rPr lang="zh-CN" altLang="en-US" sz="2800" b="1">
                <a:latin typeface="黑体" panose="02010609060101010101" pitchFamily="49" charset="-122"/>
                <a:ea typeface="黑体" panose="02010609060101010101" pitchFamily="49" charset="-122"/>
              </a:rPr>
              <a:t>周期，两磁场方向相反，电磁转矩再次变</a:t>
            </a:r>
            <a:r>
              <a:rPr lang="en-US" altLang="zh-CN" sz="2800" b="1">
                <a:latin typeface="黑体" panose="02010609060101010101" pitchFamily="49" charset="-122"/>
                <a:ea typeface="黑体" panose="02010609060101010101" pitchFamily="49" charset="-122"/>
              </a:rPr>
              <a:t>0</a:t>
            </a:r>
            <a:r>
              <a:rPr lang="zh-CN" altLang="en-US" sz="2800" b="1">
                <a:latin typeface="黑体" panose="02010609060101010101" pitchFamily="49" charset="-122"/>
                <a:ea typeface="黑体" panose="02010609060101010101" pitchFamily="49" charset="-122"/>
              </a:rPr>
              <a:t>；</a:t>
            </a:r>
            <a:r>
              <a:rPr lang="zh-CN" altLang="en-US" b="1">
                <a:latin typeface="黑体" panose="02010609060101010101" pitchFamily="49" charset="-122"/>
                <a:ea typeface="黑体" panose="02010609060101010101" pitchFamily="49" charset="-122"/>
              </a:rPr>
              <a:t> </a:t>
            </a:r>
          </a:p>
        </p:txBody>
      </p:sp>
      <p:pic>
        <p:nvPicPr>
          <p:cNvPr id="12293" name="Picture 4" descr="qd2">
            <a:extLst>
              <a:ext uri="{FF2B5EF4-FFF2-40B4-BE49-F238E27FC236}">
                <a16:creationId xmlns:a16="http://schemas.microsoft.com/office/drawing/2014/main" id="{A6EBC072-62E5-872A-1190-145956BEA0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551" y="898525"/>
            <a:ext cx="2005012" cy="221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5" descr="qd3">
            <a:extLst>
              <a:ext uri="{FF2B5EF4-FFF2-40B4-BE49-F238E27FC236}">
                <a16:creationId xmlns:a16="http://schemas.microsoft.com/office/drawing/2014/main" id="{668B6705-7E5E-F0D7-BFDD-1AEC1B40F0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3612059"/>
            <a:ext cx="2112962" cy="221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0" name="Text Box 6">
            <a:extLst>
              <a:ext uri="{FF2B5EF4-FFF2-40B4-BE49-F238E27FC236}">
                <a16:creationId xmlns:a16="http://schemas.microsoft.com/office/drawing/2014/main" id="{B50B2A77-A93A-7BCA-47D3-F62CA185A91B}"/>
              </a:ext>
            </a:extLst>
          </p:cNvPr>
          <p:cNvSpPr txBox="1">
            <a:spLocks noChangeArrowheads="1"/>
          </p:cNvSpPr>
          <p:nvPr/>
        </p:nvSpPr>
        <p:spPr bwMode="auto">
          <a:xfrm>
            <a:off x="3255963" y="2178050"/>
            <a:ext cx="5638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b="1">
                <a:latin typeface="黑体" panose="02010609060101010101" pitchFamily="49" charset="-122"/>
                <a:ea typeface="黑体" panose="02010609060101010101" pitchFamily="49" charset="-122"/>
              </a:rPr>
              <a:t>到</a:t>
            </a:r>
            <a:r>
              <a:rPr lang="en-US" altLang="zh-CN" sz="2800" b="1">
                <a:latin typeface="黑体" panose="02010609060101010101" pitchFamily="49" charset="-122"/>
                <a:ea typeface="黑体" panose="02010609060101010101" pitchFamily="49" charset="-122"/>
              </a:rPr>
              <a:t>3/4</a:t>
            </a:r>
            <a:r>
              <a:rPr lang="zh-CN" altLang="en-US" sz="2800" b="1">
                <a:latin typeface="黑体" panose="02010609060101010101" pitchFamily="49" charset="-122"/>
                <a:ea typeface="黑体" panose="02010609060101010101" pitchFamily="49" charset="-122"/>
              </a:rPr>
              <a:t>周期，定子磁场方向指向右，转子轴上转矩变为顺时针方向。</a:t>
            </a:r>
            <a:r>
              <a:rPr lang="zh-CN" altLang="en-US" sz="2400" b="1">
                <a:latin typeface="黑体" panose="02010609060101010101" pitchFamily="49" charset="-122"/>
                <a:ea typeface="黑体" panose="02010609060101010101" pitchFamily="49" charset="-122"/>
              </a:rPr>
              <a:t> </a:t>
            </a:r>
          </a:p>
        </p:txBody>
      </p:sp>
      <p:sp>
        <p:nvSpPr>
          <p:cNvPr id="47111" name="Text Box 7">
            <a:extLst>
              <a:ext uri="{FF2B5EF4-FFF2-40B4-BE49-F238E27FC236}">
                <a16:creationId xmlns:a16="http://schemas.microsoft.com/office/drawing/2014/main" id="{4508CEB2-C15D-DDE4-D98E-04DC6D33FE8E}"/>
              </a:ext>
            </a:extLst>
          </p:cNvPr>
          <p:cNvSpPr txBox="1">
            <a:spLocks noChangeArrowheads="1"/>
          </p:cNvSpPr>
          <p:nvPr/>
        </p:nvSpPr>
        <p:spPr bwMode="auto">
          <a:xfrm>
            <a:off x="3255963" y="3124200"/>
            <a:ext cx="5507037"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dirty="0">
                <a:latin typeface="黑体" panose="02010609060101010101" pitchFamily="49" charset="-122"/>
                <a:ea typeface="黑体" panose="02010609060101010101" pitchFamily="49" charset="-122"/>
              </a:rPr>
              <a:t>    </a:t>
            </a:r>
            <a:r>
              <a:rPr lang="zh-CN" altLang="en-US" sz="2400" b="1" dirty="0">
                <a:solidFill>
                  <a:srgbClr val="FF0000"/>
                </a:solidFill>
                <a:latin typeface="黑体" panose="02010609060101010101" pitchFamily="49" charset="-122"/>
                <a:ea typeface="黑体" panose="02010609060101010101" pitchFamily="49" charset="-122"/>
              </a:rPr>
              <a:t>在一个电源周期内，定子磁场先以逆时针方向然后又以顺时针方向产生电磁转矩作用于转子轴，周期平均转矩等于</a:t>
            </a:r>
            <a:r>
              <a:rPr lang="en-US" altLang="zh-CN" sz="2400" b="1" dirty="0">
                <a:solidFill>
                  <a:srgbClr val="FF0000"/>
                </a:solidFill>
                <a:latin typeface="黑体" panose="02010609060101010101" pitchFamily="49" charset="-122"/>
                <a:ea typeface="黑体" panose="02010609060101010101" pitchFamily="49" charset="-122"/>
              </a:rPr>
              <a:t>0</a:t>
            </a:r>
            <a:r>
              <a:rPr lang="zh-CN" altLang="en-US" sz="2400" b="1" dirty="0">
                <a:solidFill>
                  <a:srgbClr val="FF0000"/>
                </a:solidFill>
                <a:latin typeface="黑体" panose="02010609060101010101" pitchFamily="49" charset="-122"/>
                <a:ea typeface="黑体" panose="02010609060101010101" pitchFamily="49" charset="-122"/>
              </a:rPr>
              <a:t>。电机在每个电源周期呈现剧烈的振动，不能起动（转子机械建立的旋转磁场一般比定子电气旋转磁场频率变化慢），导致电机过热。起动问题是同步电动机运行的关键。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7110"/>
                                        </p:tgtEl>
                                        <p:attrNameLst>
                                          <p:attrName>style.visibility</p:attrName>
                                        </p:attrNameLst>
                                      </p:cBhvr>
                                      <p:to>
                                        <p:strVal val="visible"/>
                                      </p:to>
                                    </p:set>
                                    <p:animEffect transition="in" filter="blinds(horizontal)">
                                      <p:cBhvr>
                                        <p:cTn id="7" dur="500"/>
                                        <p:tgtEl>
                                          <p:spTgt spid="471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7111"/>
                                        </p:tgtEl>
                                        <p:attrNameLst>
                                          <p:attrName>style.visibility</p:attrName>
                                        </p:attrNameLst>
                                      </p:cBhvr>
                                      <p:to>
                                        <p:strVal val="visible"/>
                                      </p:to>
                                    </p:set>
                                    <p:animEffect transition="in" filter="blinds(horizontal)">
                                      <p:cBhvr>
                                        <p:cTn id="12" dur="500"/>
                                        <p:tgtEl>
                                          <p:spTgt spid="47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0" grpId="0" autoUpdateAnimBg="0"/>
      <p:bldP spid="47111"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a:extLst>
              <a:ext uri="{FF2B5EF4-FFF2-40B4-BE49-F238E27FC236}">
                <a16:creationId xmlns:a16="http://schemas.microsoft.com/office/drawing/2014/main" id="{A469768C-987C-5DB6-5034-5751A68CE44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84CB544-9824-410B-90A9-067FBA248AA8}" type="slidenum">
              <a:rPr lang="en-US" altLang="zh-CN" sz="1400" smtClean="0"/>
              <a:pPr>
                <a:spcBef>
                  <a:spcPct val="0"/>
                </a:spcBef>
                <a:buFontTx/>
                <a:buNone/>
              </a:pPr>
              <a:t>43</a:t>
            </a:fld>
            <a:endParaRPr lang="en-US" altLang="zh-CN" sz="1400"/>
          </a:p>
        </p:txBody>
      </p:sp>
      <p:sp>
        <p:nvSpPr>
          <p:cNvPr id="13315" name="Rectangle 2">
            <a:extLst>
              <a:ext uri="{FF2B5EF4-FFF2-40B4-BE49-F238E27FC236}">
                <a16:creationId xmlns:a16="http://schemas.microsoft.com/office/drawing/2014/main" id="{FFE0859B-98AA-8D33-6F0B-D580936B2F2B}"/>
              </a:ext>
            </a:extLst>
          </p:cNvPr>
          <p:cNvSpPr>
            <a:spLocks noGrp="1" noChangeArrowheads="1"/>
          </p:cNvSpPr>
          <p:nvPr>
            <p:ph type="title"/>
          </p:nvPr>
        </p:nvSpPr>
        <p:spPr>
          <a:xfrm>
            <a:off x="1187624" y="552848"/>
            <a:ext cx="8218488" cy="633412"/>
          </a:xfrm>
        </p:spPr>
        <p:txBody>
          <a:bodyPr/>
          <a:lstStyle/>
          <a:p>
            <a:pPr eaLnBrk="1" hangingPunct="1"/>
            <a:r>
              <a:rPr lang="zh-CN" altLang="en-US" sz="3200" b="1" dirty="0">
                <a:latin typeface="黑体" panose="02010609060101010101" pitchFamily="49" charset="-122"/>
                <a:ea typeface="黑体" panose="02010609060101010101" pitchFamily="49" charset="-122"/>
              </a:rPr>
              <a:t>同步电动机的起动与调速方法</a:t>
            </a:r>
          </a:p>
        </p:txBody>
      </p:sp>
      <p:sp>
        <p:nvSpPr>
          <p:cNvPr id="13316" name="Rectangle 3">
            <a:extLst>
              <a:ext uri="{FF2B5EF4-FFF2-40B4-BE49-F238E27FC236}">
                <a16:creationId xmlns:a16="http://schemas.microsoft.com/office/drawing/2014/main" id="{3A7B45A7-BEDC-76B8-9FAA-EC8EA33596FD}"/>
              </a:ext>
            </a:extLst>
          </p:cNvPr>
          <p:cNvSpPr>
            <a:spLocks noGrp="1" noChangeArrowheads="1"/>
          </p:cNvSpPr>
          <p:nvPr>
            <p:ph type="body" idx="1"/>
          </p:nvPr>
        </p:nvSpPr>
        <p:spPr>
          <a:xfrm>
            <a:off x="631825" y="1574007"/>
            <a:ext cx="8147050" cy="1295400"/>
          </a:xfrm>
        </p:spPr>
        <p:txBody>
          <a:bodyPr/>
          <a:lstStyle/>
          <a:p>
            <a:pPr marL="609600" indent="-609600" eaLnBrk="1" hangingPunct="1">
              <a:buFontTx/>
              <a:buNone/>
            </a:pPr>
            <a:r>
              <a:rPr lang="zh-CN" altLang="en-US" sz="2400" b="1" dirty="0">
                <a:latin typeface="黑体" panose="02010609060101010101" pitchFamily="49" charset="-122"/>
                <a:ea typeface="黑体" panose="02010609060101010101" pitchFamily="49" charset="-122"/>
              </a:rPr>
              <a:t>方法</a:t>
            </a:r>
            <a:r>
              <a:rPr lang="en-US" altLang="zh-CN" sz="2400" b="1" dirty="0">
                <a:latin typeface="黑体" panose="02010609060101010101" pitchFamily="49" charset="-122"/>
                <a:ea typeface="黑体" panose="02010609060101010101" pitchFamily="49" charset="-122"/>
              </a:rPr>
              <a:t>1</a:t>
            </a:r>
            <a:r>
              <a:rPr lang="zh-CN" altLang="en-US" sz="2400" b="1" dirty="0">
                <a:latin typeface="黑体" panose="02010609060101010101" pitchFamily="49" charset="-122"/>
                <a:ea typeface="黑体" panose="02010609060101010101" pitchFamily="49" charset="-122"/>
              </a:rPr>
              <a:t>：</a:t>
            </a:r>
            <a:r>
              <a:rPr lang="zh-CN" altLang="en-US" sz="2400" b="1" dirty="0">
                <a:solidFill>
                  <a:srgbClr val="FF0000"/>
                </a:solidFill>
                <a:latin typeface="黑体" panose="02010609060101010101" pitchFamily="49" charset="-122"/>
                <a:ea typeface="黑体" panose="02010609060101010101" pitchFamily="49" charset="-122"/>
              </a:rPr>
              <a:t>起动时降低定子旋转磁场的速度：变频起动</a:t>
            </a:r>
            <a:r>
              <a:rPr lang="zh-CN" altLang="en-US" sz="2400" b="1" dirty="0">
                <a:latin typeface="黑体" panose="02010609060101010101" pitchFamily="49" charset="-122"/>
                <a:ea typeface="黑体" panose="02010609060101010101" pitchFamily="49" charset="-122"/>
              </a:rPr>
              <a:t>。降低电源频率，使电机转子在旋转磁场的半周期时间内能够完成同步锁定，以快适应慢。</a:t>
            </a:r>
          </a:p>
        </p:txBody>
      </p:sp>
      <p:sp>
        <p:nvSpPr>
          <p:cNvPr id="48132" name="Text Box 4">
            <a:extLst>
              <a:ext uri="{FF2B5EF4-FFF2-40B4-BE49-F238E27FC236}">
                <a16:creationId xmlns:a16="http://schemas.microsoft.com/office/drawing/2014/main" id="{A8BF4812-D7B8-10F7-89D8-BEEA6B7FD389}"/>
              </a:ext>
            </a:extLst>
          </p:cNvPr>
          <p:cNvSpPr txBox="1">
            <a:spLocks noChangeArrowheads="1"/>
          </p:cNvSpPr>
          <p:nvPr/>
        </p:nvSpPr>
        <p:spPr bwMode="auto">
          <a:xfrm>
            <a:off x="638787" y="2751138"/>
            <a:ext cx="80835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latin typeface="黑体" panose="02010609060101010101" pitchFamily="49" charset="-122"/>
                <a:ea typeface="黑体" panose="02010609060101010101" pitchFamily="49" charset="-122"/>
              </a:rPr>
              <a:t>方法</a:t>
            </a:r>
            <a:r>
              <a:rPr lang="en-US" altLang="zh-CN" sz="2400" b="1" dirty="0">
                <a:latin typeface="黑体" panose="02010609060101010101" pitchFamily="49" charset="-122"/>
                <a:ea typeface="黑体" panose="02010609060101010101" pitchFamily="49" charset="-122"/>
              </a:rPr>
              <a:t>2</a:t>
            </a:r>
            <a:r>
              <a:rPr lang="zh-CN" altLang="en-US" sz="2400" b="1" dirty="0">
                <a:latin typeface="黑体" panose="02010609060101010101" pitchFamily="49" charset="-122"/>
                <a:ea typeface="黑体" panose="02010609060101010101" pitchFamily="49" charset="-122"/>
              </a:rPr>
              <a:t>：使用外加原动机将同步电动机拖入同步，然后切除</a:t>
            </a:r>
          </a:p>
          <a:p>
            <a:pPr eaLnBrk="1" hangingPunct="1">
              <a:spcBef>
                <a:spcPct val="0"/>
              </a:spcBef>
              <a:buFontTx/>
              <a:buNone/>
            </a:pPr>
            <a:r>
              <a:rPr lang="zh-CN" altLang="en-US" sz="2400" b="1" dirty="0">
                <a:latin typeface="黑体" panose="02010609060101010101" pitchFamily="49" charset="-122"/>
                <a:ea typeface="黑体" panose="02010609060101010101" pitchFamily="49" charset="-122"/>
              </a:rPr>
              <a:t>       原动机。 </a:t>
            </a:r>
          </a:p>
        </p:txBody>
      </p:sp>
      <p:sp>
        <p:nvSpPr>
          <p:cNvPr id="48133" name="Text Box 5">
            <a:extLst>
              <a:ext uri="{FF2B5EF4-FFF2-40B4-BE49-F238E27FC236}">
                <a16:creationId xmlns:a16="http://schemas.microsoft.com/office/drawing/2014/main" id="{77850A7F-1FC5-0433-4CFE-89786E20D7E3}"/>
              </a:ext>
            </a:extLst>
          </p:cNvPr>
          <p:cNvSpPr txBox="1">
            <a:spLocks noChangeArrowheads="1"/>
          </p:cNvSpPr>
          <p:nvPr/>
        </p:nvSpPr>
        <p:spPr bwMode="auto">
          <a:xfrm>
            <a:off x="610034" y="3571189"/>
            <a:ext cx="355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latin typeface="黑体" panose="02010609060101010101" pitchFamily="49" charset="-122"/>
                <a:ea typeface="黑体" panose="02010609060101010101" pitchFamily="49" charset="-122"/>
              </a:rPr>
              <a:t>方法</a:t>
            </a:r>
            <a:r>
              <a:rPr lang="en-US" altLang="zh-CN" sz="2400" b="1" dirty="0">
                <a:latin typeface="黑体" panose="02010609060101010101" pitchFamily="49" charset="-122"/>
                <a:ea typeface="黑体" panose="02010609060101010101" pitchFamily="49" charset="-122"/>
              </a:rPr>
              <a:t>3</a:t>
            </a:r>
            <a:r>
              <a:rPr lang="zh-CN" altLang="en-US" sz="2400" b="1" dirty="0">
                <a:latin typeface="黑体" panose="02010609060101010101" pitchFamily="49" charset="-122"/>
                <a:ea typeface="黑体" panose="02010609060101010101" pitchFamily="49" charset="-122"/>
              </a:rPr>
              <a:t>：采用阻尼绕组。 </a:t>
            </a:r>
          </a:p>
        </p:txBody>
      </p:sp>
      <p:sp>
        <p:nvSpPr>
          <p:cNvPr id="48134" name="Text Box 6">
            <a:extLst>
              <a:ext uri="{FF2B5EF4-FFF2-40B4-BE49-F238E27FC236}">
                <a16:creationId xmlns:a16="http://schemas.microsoft.com/office/drawing/2014/main" id="{2E6C292C-6E8D-3C13-4930-18EC276B8769}"/>
              </a:ext>
            </a:extLst>
          </p:cNvPr>
          <p:cNvSpPr txBox="1">
            <a:spLocks noChangeArrowheads="1"/>
          </p:cNvSpPr>
          <p:nvPr/>
        </p:nvSpPr>
        <p:spPr bwMode="auto">
          <a:xfrm>
            <a:off x="735013" y="4221163"/>
            <a:ext cx="840898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黑体" panose="02010609060101010101" pitchFamily="49" charset="-122"/>
                <a:ea typeface="黑体" panose="02010609060101010101" pitchFamily="49" charset="-122"/>
              </a:rPr>
              <a:t>阻尼绕组由安装在同步电机转子表面的导条通过短路环联接构成。与异步电机笼型转子相似。 </a:t>
            </a:r>
          </a:p>
        </p:txBody>
      </p:sp>
      <p:sp>
        <p:nvSpPr>
          <p:cNvPr id="48135" name="Text Box 7">
            <a:extLst>
              <a:ext uri="{FF2B5EF4-FFF2-40B4-BE49-F238E27FC236}">
                <a16:creationId xmlns:a16="http://schemas.microsoft.com/office/drawing/2014/main" id="{319D853C-0065-3F9A-244C-3D35D0F27C88}"/>
              </a:ext>
            </a:extLst>
          </p:cNvPr>
          <p:cNvSpPr txBox="1">
            <a:spLocks noChangeArrowheads="1"/>
          </p:cNvSpPr>
          <p:nvPr/>
        </p:nvSpPr>
        <p:spPr bwMode="auto">
          <a:xfrm>
            <a:off x="735013" y="5156200"/>
            <a:ext cx="80137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latin typeface="黑体" panose="02010609060101010101" pitchFamily="49" charset="-122"/>
                <a:ea typeface="黑体" panose="02010609060101010101" pitchFamily="49" charset="-122"/>
              </a:rPr>
              <a:t>如果电机在起动时转子不加励磁，定子直接加三相交流起动，则电机可按异步方式起动，电机最终虽然不能达到同步转速，但可以很接近同步转速，这时加入转子励磁，即可将转子牵入同步。</a:t>
            </a:r>
          </a:p>
        </p:txBody>
      </p:sp>
      <p:sp>
        <p:nvSpPr>
          <p:cNvPr id="2" name="Text Box 5">
            <a:extLst>
              <a:ext uri="{FF2B5EF4-FFF2-40B4-BE49-F238E27FC236}">
                <a16:creationId xmlns:a16="http://schemas.microsoft.com/office/drawing/2014/main" id="{880CABB1-C4F8-9E48-A515-6864C5B53558}"/>
              </a:ext>
            </a:extLst>
          </p:cNvPr>
          <p:cNvSpPr txBox="1">
            <a:spLocks noChangeArrowheads="1"/>
          </p:cNvSpPr>
          <p:nvPr/>
        </p:nvSpPr>
        <p:spPr bwMode="auto">
          <a:xfrm>
            <a:off x="688565" y="1096526"/>
            <a:ext cx="776687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solidFill>
                  <a:srgbClr val="0000CC"/>
                </a:solidFill>
                <a:latin typeface="黑体" panose="02010609060101010101" pitchFamily="49" charset="-122"/>
                <a:ea typeface="黑体" panose="02010609060101010101" pitchFamily="49" charset="-122"/>
              </a:rPr>
              <a:t>问题：额定电压和频率下，同步电动机不能直接起动。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8132"/>
                                        </p:tgtEl>
                                        <p:attrNameLst>
                                          <p:attrName>style.visibility</p:attrName>
                                        </p:attrNameLst>
                                      </p:cBhvr>
                                      <p:to>
                                        <p:strVal val="visible"/>
                                      </p:to>
                                    </p:set>
                                    <p:animEffect transition="in" filter="blinds(horizontal)">
                                      <p:cBhvr>
                                        <p:cTn id="7" dur="500"/>
                                        <p:tgtEl>
                                          <p:spTgt spid="481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8133"/>
                                        </p:tgtEl>
                                        <p:attrNameLst>
                                          <p:attrName>style.visibility</p:attrName>
                                        </p:attrNameLst>
                                      </p:cBhvr>
                                      <p:to>
                                        <p:strVal val="visible"/>
                                      </p:to>
                                    </p:set>
                                    <p:animEffect transition="in" filter="blinds(horizontal)">
                                      <p:cBhvr>
                                        <p:cTn id="12" dur="500"/>
                                        <p:tgtEl>
                                          <p:spTgt spid="481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8134"/>
                                        </p:tgtEl>
                                        <p:attrNameLst>
                                          <p:attrName>style.visibility</p:attrName>
                                        </p:attrNameLst>
                                      </p:cBhvr>
                                      <p:to>
                                        <p:strVal val="visible"/>
                                      </p:to>
                                    </p:set>
                                    <p:animEffect transition="in" filter="blinds(horizontal)">
                                      <p:cBhvr>
                                        <p:cTn id="17" dur="500"/>
                                        <p:tgtEl>
                                          <p:spTgt spid="481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8135"/>
                                        </p:tgtEl>
                                        <p:attrNameLst>
                                          <p:attrName>style.visibility</p:attrName>
                                        </p:attrNameLst>
                                      </p:cBhvr>
                                      <p:to>
                                        <p:strVal val="visible"/>
                                      </p:to>
                                    </p:set>
                                    <p:animEffect transition="in" filter="box(in)">
                                      <p:cBhvr>
                                        <p:cTn id="22" dur="500"/>
                                        <p:tgtEl>
                                          <p:spTgt spid="4813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autoUpdateAnimBg="0"/>
      <p:bldP spid="48133" grpId="0" autoUpdateAnimBg="0"/>
      <p:bldP spid="48134" grpId="0" autoUpdateAnimBg="0"/>
      <p:bldP spid="48135" grpId="0" autoUpdateAnimBg="0"/>
      <p:bldP spid="2"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6FAC4D-7853-049B-480E-AF7546025366}"/>
              </a:ext>
            </a:extLst>
          </p:cNvPr>
          <p:cNvSpPr>
            <a:spLocks noGrp="1"/>
          </p:cNvSpPr>
          <p:nvPr>
            <p:ph type="title"/>
          </p:nvPr>
        </p:nvSpPr>
        <p:spPr>
          <a:xfrm>
            <a:off x="401533" y="649542"/>
            <a:ext cx="8229600" cy="1143000"/>
          </a:xfrm>
        </p:spPr>
        <p:txBody>
          <a:bodyPr/>
          <a:lstStyle/>
          <a:p>
            <a:r>
              <a:rPr lang="zh-CN" altLang="en-US" sz="4400" b="1" dirty="0">
                <a:latin typeface="黑体" panose="02010609060101010101" pitchFamily="49" charset="-122"/>
                <a:ea typeface="黑体" panose="02010609060101010101" pitchFamily="49" charset="-122"/>
              </a:rPr>
              <a:t>同步电动机的变频调速方法</a:t>
            </a:r>
            <a:endParaRPr lang="zh-CN" altLang="en-US" dirty="0"/>
          </a:p>
        </p:txBody>
      </p:sp>
      <p:sp>
        <p:nvSpPr>
          <p:cNvPr id="4" name="灯片编号占位符 3">
            <a:extLst>
              <a:ext uri="{FF2B5EF4-FFF2-40B4-BE49-F238E27FC236}">
                <a16:creationId xmlns:a16="http://schemas.microsoft.com/office/drawing/2014/main" id="{CA44A6E2-FFFD-2505-BB3E-4909942CA440}"/>
              </a:ext>
            </a:extLst>
          </p:cNvPr>
          <p:cNvSpPr>
            <a:spLocks noGrp="1"/>
          </p:cNvSpPr>
          <p:nvPr>
            <p:ph type="sldNum" sz="quarter" idx="12"/>
          </p:nvPr>
        </p:nvSpPr>
        <p:spPr/>
        <p:txBody>
          <a:bodyPr/>
          <a:lstStyle/>
          <a:p>
            <a:fld id="{B73B34B3-1432-4053-90C7-E0228297BE5F}" type="slidenum">
              <a:rPr lang="en-US" altLang="zh-CN" smtClean="0"/>
              <a:pPr/>
              <a:t>44</a:t>
            </a:fld>
            <a:endParaRPr lang="en-US" altLang="zh-CN"/>
          </a:p>
        </p:txBody>
      </p:sp>
      <p:graphicFrame>
        <p:nvGraphicFramePr>
          <p:cNvPr id="5" name="Object 19">
            <a:extLst>
              <a:ext uri="{FF2B5EF4-FFF2-40B4-BE49-F238E27FC236}">
                <a16:creationId xmlns:a16="http://schemas.microsoft.com/office/drawing/2014/main" id="{AE91D7CF-BA9C-0CC1-342D-10E479948648}"/>
              </a:ext>
            </a:extLst>
          </p:cNvPr>
          <p:cNvGraphicFramePr>
            <a:graphicFrameLocks noGrp="1" noChangeAspect="1"/>
          </p:cNvGraphicFramePr>
          <p:nvPr>
            <p:ph idx="1"/>
            <p:extLst>
              <p:ext uri="{D42A27DB-BD31-4B8C-83A1-F6EECF244321}">
                <p14:modId xmlns:p14="http://schemas.microsoft.com/office/powerpoint/2010/main" val="1541208899"/>
              </p:ext>
            </p:extLst>
          </p:nvPr>
        </p:nvGraphicFramePr>
        <p:xfrm>
          <a:off x="900113" y="1628775"/>
          <a:ext cx="6072187" cy="863600"/>
        </p:xfrm>
        <a:graphic>
          <a:graphicData uri="http://schemas.openxmlformats.org/presentationml/2006/ole">
            <mc:AlternateContent xmlns:mc="http://schemas.openxmlformats.org/markup-compatibility/2006">
              <mc:Choice xmlns:v="urn:schemas-microsoft-com:vml" Requires="v">
                <p:oleObj name="Equation" r:id="rId2" imgW="3302000" imgH="469900" progId="Equation.DSMT4">
                  <p:embed/>
                </p:oleObj>
              </mc:Choice>
              <mc:Fallback>
                <p:oleObj name="Equation" r:id="rId2" imgW="3302000" imgH="469900" progId="Equation.DSMT4">
                  <p:embed/>
                  <p:pic>
                    <p:nvPicPr>
                      <p:cNvPr id="13331" name="Object 19">
                        <a:extLst>
                          <a:ext uri="{FF2B5EF4-FFF2-40B4-BE49-F238E27FC236}">
                            <a16:creationId xmlns:a16="http://schemas.microsoft.com/office/drawing/2014/main" id="{41E78778-72D1-A33E-B1D9-BCCC098B10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628775"/>
                        <a:ext cx="6072187" cy="863600"/>
                      </a:xfrm>
                      <a:prstGeom prst="rect">
                        <a:avLst/>
                      </a:prstGeom>
                      <a:noFill/>
                      <a:ln>
                        <a:noFill/>
                      </a:ln>
                    </p:spPr>
                  </p:pic>
                </p:oleObj>
              </mc:Fallback>
            </mc:AlternateContent>
          </a:graphicData>
        </a:graphic>
      </p:graphicFrame>
      <p:sp>
        <p:nvSpPr>
          <p:cNvPr id="7" name="文本框 6">
            <a:extLst>
              <a:ext uri="{FF2B5EF4-FFF2-40B4-BE49-F238E27FC236}">
                <a16:creationId xmlns:a16="http://schemas.microsoft.com/office/drawing/2014/main" id="{57142D86-C918-118B-D87D-343AD3D8EC0D}"/>
              </a:ext>
            </a:extLst>
          </p:cNvPr>
          <p:cNvSpPr txBox="1"/>
          <p:nvPr/>
        </p:nvSpPr>
        <p:spPr>
          <a:xfrm>
            <a:off x="827584" y="2492638"/>
            <a:ext cx="7272808" cy="1384995"/>
          </a:xfrm>
          <a:prstGeom prst="rect">
            <a:avLst/>
          </a:prstGeom>
          <a:noFill/>
        </p:spPr>
        <p:txBody>
          <a:bodyPr wrap="square">
            <a:spAutoFit/>
          </a:bodyPr>
          <a:lstStyle/>
          <a:p>
            <a:r>
              <a:rPr lang="zh-CN" altLang="en-US" sz="2400" dirty="0">
                <a:solidFill>
                  <a:srgbClr val="000000"/>
                </a:solidFill>
                <a:latin typeface="SimSun" panose="02010600030101010101" pitchFamily="2" charset="-122"/>
                <a:ea typeface="SimSun" panose="02010600030101010101" pitchFamily="2" charset="-122"/>
              </a:rPr>
              <a:t>以表贴隐极式同步电动机为例，保持励磁电流不变，</a:t>
            </a:r>
            <a:r>
              <a:rPr lang="en-US" altLang="zh-CN" sz="2400" dirty="0" err="1">
                <a:solidFill>
                  <a:srgbClr val="000000"/>
                </a:solidFill>
                <a:latin typeface="SimSun" panose="02010600030101010101" pitchFamily="2" charset="-122"/>
                <a:ea typeface="SimSun" panose="02010600030101010101" pitchFamily="2" charset="-122"/>
              </a:rPr>
              <a:t>Ea</a:t>
            </a:r>
            <a:r>
              <a:rPr lang="en-US" altLang="zh-CN" sz="2400" dirty="0">
                <a:solidFill>
                  <a:srgbClr val="000000"/>
                </a:solidFill>
                <a:latin typeface="SimSun" panose="02010600030101010101" pitchFamily="2" charset="-122"/>
                <a:ea typeface="SimSun" panose="02010600030101010101" pitchFamily="2" charset="-122"/>
              </a:rPr>
              <a:t>/</a:t>
            </a:r>
            <a:r>
              <a:rPr lang="el-GR" altLang="zh-CN" sz="24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Ω</a:t>
            </a:r>
            <a:r>
              <a:rPr lang="zh-CN" altLang="en-US" sz="24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为常数，</a:t>
            </a:r>
            <a:r>
              <a:rPr lang="zh-CN" altLang="en-US" sz="2400" b="0" i="0" dirty="0">
                <a:solidFill>
                  <a:srgbClr val="000000"/>
                </a:solidFill>
                <a:effectLst/>
                <a:latin typeface="SimSun" panose="02010600030101010101" pitchFamily="2" charset="-122"/>
                <a:ea typeface="SimSun" panose="02010600030101010101" pitchFamily="2" charset="-122"/>
              </a:rPr>
              <a:t>电磁转矩公式为：</a:t>
            </a:r>
          </a:p>
          <a:p>
            <a:br>
              <a:rPr lang="el-GR" altLang="zh-CN" dirty="0"/>
            </a:br>
            <a:endParaRPr lang="zh-CN" altLang="en-US" dirty="0"/>
          </a:p>
        </p:txBody>
      </p:sp>
      <p:graphicFrame>
        <p:nvGraphicFramePr>
          <p:cNvPr id="10" name="Object 7">
            <a:extLst>
              <a:ext uri="{FF2B5EF4-FFF2-40B4-BE49-F238E27FC236}">
                <a16:creationId xmlns:a16="http://schemas.microsoft.com/office/drawing/2014/main" id="{A5BC1FF1-D19F-6C95-B5DC-537DFB1871DB}"/>
              </a:ext>
            </a:extLst>
          </p:cNvPr>
          <p:cNvGraphicFramePr>
            <a:graphicFrameLocks noChangeAspect="1"/>
          </p:cNvGraphicFramePr>
          <p:nvPr>
            <p:extLst>
              <p:ext uri="{D42A27DB-BD31-4B8C-83A1-F6EECF244321}">
                <p14:modId xmlns:p14="http://schemas.microsoft.com/office/powerpoint/2010/main" val="529206708"/>
              </p:ext>
            </p:extLst>
          </p:nvPr>
        </p:nvGraphicFramePr>
        <p:xfrm>
          <a:off x="5032064" y="2887882"/>
          <a:ext cx="3708400" cy="3816350"/>
        </p:xfrm>
        <a:graphic>
          <a:graphicData uri="http://schemas.openxmlformats.org/presentationml/2006/ole">
            <mc:AlternateContent xmlns:mc="http://schemas.openxmlformats.org/markup-compatibility/2006">
              <mc:Choice xmlns:v="urn:schemas-microsoft-com:vml" Requires="v">
                <p:oleObj name="Microsoft Drawing" r:id="rId4" imgW="1978025" imgH="2038350" progId="MSDraw">
                  <p:embed/>
                </p:oleObj>
              </mc:Choice>
              <mc:Fallback>
                <p:oleObj name="Microsoft Drawing" r:id="rId4" imgW="1978025" imgH="2038350" progId="MSDraw">
                  <p:embed/>
                  <p:pic>
                    <p:nvPicPr>
                      <p:cNvPr id="26635" name="Object 7">
                        <a:extLst>
                          <a:ext uri="{FF2B5EF4-FFF2-40B4-BE49-F238E27FC236}">
                            <a16:creationId xmlns:a16="http://schemas.microsoft.com/office/drawing/2014/main" id="{B4888730-CC07-F54D-A101-5838228C64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2064" y="2887882"/>
                        <a:ext cx="3708400" cy="3816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文本框 11">
            <a:extLst>
              <a:ext uri="{FF2B5EF4-FFF2-40B4-BE49-F238E27FC236}">
                <a16:creationId xmlns:a16="http://schemas.microsoft.com/office/drawing/2014/main" id="{C410B82C-5587-CF5B-3B9B-BC8C8737B6C4}"/>
              </a:ext>
            </a:extLst>
          </p:cNvPr>
          <p:cNvSpPr txBox="1"/>
          <p:nvPr/>
        </p:nvSpPr>
        <p:spPr>
          <a:xfrm>
            <a:off x="179512" y="4149080"/>
            <a:ext cx="4798888" cy="2954655"/>
          </a:xfrm>
          <a:prstGeom prst="rect">
            <a:avLst/>
          </a:prstGeom>
          <a:noFill/>
        </p:spPr>
        <p:txBody>
          <a:bodyPr wrap="square">
            <a:spAutoFit/>
          </a:bodyPr>
          <a:lstStyle/>
          <a:p>
            <a:r>
              <a:rPr lang="el-GR" altLang="zh-CN" sz="2400" dirty="0">
                <a:solidFill>
                  <a:srgbClr val="000000"/>
                </a:solidFill>
                <a:latin typeface="SymbolMT"/>
                <a:cs typeface="Simplified Arabic" panose="020F0502020204030204" pitchFamily="18" charset="-78"/>
              </a:rPr>
              <a:t>Ɵ</a:t>
            </a:r>
            <a:r>
              <a:rPr lang="en-US" altLang="zh-CN" sz="2400" b="0" i="0" dirty="0">
                <a:solidFill>
                  <a:srgbClr val="000000"/>
                </a:solidFill>
                <a:effectLst/>
                <a:latin typeface="SymbolMT"/>
              </a:rPr>
              <a:t> </a:t>
            </a:r>
            <a:r>
              <a:rPr lang="zh-CN" altLang="en-US" sz="2400" b="0" i="0" dirty="0">
                <a:solidFill>
                  <a:srgbClr val="000000"/>
                </a:solidFill>
                <a:effectLst/>
                <a:latin typeface="SimSun" panose="02010600030101010101" pitchFamily="2" charset="-122"/>
                <a:ea typeface="SimSun" panose="02010600030101010101" pitchFamily="2" charset="-122"/>
              </a:rPr>
              <a:t>为电流 </a:t>
            </a:r>
            <a:r>
              <a:rPr lang="en-US" altLang="zh-CN" sz="2400" b="1" i="1" dirty="0" err="1">
                <a:solidFill>
                  <a:srgbClr val="000000"/>
                </a:solidFill>
                <a:effectLst/>
                <a:latin typeface="TimesNewRomanPS-BoldItalicMT"/>
              </a:rPr>
              <a:t>Ia</a:t>
            </a:r>
            <a:r>
              <a:rPr lang="en-US" altLang="zh-CN" sz="2400" b="0" i="0" dirty="0">
                <a:solidFill>
                  <a:srgbClr val="000000"/>
                </a:solidFill>
                <a:effectLst/>
                <a:latin typeface="TimesNewRomanPSMT"/>
              </a:rPr>
              <a:t> </a:t>
            </a:r>
            <a:r>
              <a:rPr lang="zh-CN" altLang="en-US" sz="2400" b="0" i="0" dirty="0">
                <a:solidFill>
                  <a:srgbClr val="000000"/>
                </a:solidFill>
                <a:effectLst/>
                <a:latin typeface="SimSun" panose="02010600030101010101" pitchFamily="2" charset="-122"/>
                <a:ea typeface="SimSun" panose="02010600030101010101" pitchFamily="2" charset="-122"/>
              </a:rPr>
              <a:t>和励磁电势矢量 </a:t>
            </a:r>
            <a:r>
              <a:rPr lang="en-US" altLang="zh-CN" sz="2400" b="0" i="0" dirty="0" err="1">
                <a:solidFill>
                  <a:srgbClr val="000000"/>
                </a:solidFill>
                <a:effectLst/>
                <a:latin typeface="SimSun" panose="02010600030101010101" pitchFamily="2" charset="-122"/>
                <a:ea typeface="SimSun" panose="02010600030101010101" pitchFamily="2" charset="-122"/>
              </a:rPr>
              <a:t>Ea</a:t>
            </a:r>
            <a:r>
              <a:rPr lang="en-US" altLang="zh-CN" sz="2400" b="0" i="0" dirty="0">
                <a:solidFill>
                  <a:srgbClr val="000000"/>
                </a:solidFill>
                <a:effectLst/>
                <a:latin typeface="TimesNewRomanPSMT"/>
              </a:rPr>
              <a:t> </a:t>
            </a:r>
            <a:r>
              <a:rPr lang="zh-CN" altLang="en-US" sz="2400" b="0" i="0" dirty="0">
                <a:solidFill>
                  <a:srgbClr val="000000"/>
                </a:solidFill>
                <a:effectLst/>
                <a:latin typeface="SimSun" panose="02010600030101010101" pitchFamily="2" charset="-122"/>
                <a:ea typeface="SimSun" panose="02010600030101010101" pitchFamily="2" charset="-122"/>
              </a:rPr>
              <a:t>之间的夹角；</a:t>
            </a:r>
            <a:r>
              <a:rPr lang="el-GR" altLang="zh-CN" sz="2400" b="0" i="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Φ</a:t>
            </a:r>
            <a:r>
              <a:rPr lang="zh-CN" altLang="en-US" sz="2400" b="0" i="0" dirty="0">
                <a:solidFill>
                  <a:srgbClr val="000000"/>
                </a:solidFill>
                <a:effectLst/>
                <a:latin typeface="SimSun" panose="02010600030101010101" pitchFamily="2" charset="-122"/>
                <a:ea typeface="SimSun" panose="02010600030101010101" pitchFamily="2" charset="-122"/>
              </a:rPr>
              <a:t> 为电压 </a:t>
            </a:r>
            <a:r>
              <a:rPr lang="en-US" altLang="zh-CN" sz="2400" b="1" i="1" dirty="0">
                <a:solidFill>
                  <a:srgbClr val="000000"/>
                </a:solidFill>
                <a:effectLst/>
                <a:latin typeface="TimesNewRomanPS-BoldItalicMT"/>
              </a:rPr>
              <a:t>u</a:t>
            </a:r>
            <a:r>
              <a:rPr lang="en-US" altLang="zh-CN" sz="2400" b="0" i="0" dirty="0">
                <a:solidFill>
                  <a:srgbClr val="000000"/>
                </a:solidFill>
                <a:effectLst/>
                <a:latin typeface="TimesNewRomanPSMT"/>
              </a:rPr>
              <a:t>s </a:t>
            </a:r>
            <a:r>
              <a:rPr lang="zh-CN" altLang="en-US" sz="2400" b="0" i="0" dirty="0">
                <a:solidFill>
                  <a:srgbClr val="000000"/>
                </a:solidFill>
                <a:effectLst/>
                <a:latin typeface="SimSun" panose="02010600030101010101" pitchFamily="2" charset="-122"/>
                <a:ea typeface="SimSun" panose="02010600030101010101" pitchFamily="2" charset="-122"/>
              </a:rPr>
              <a:t>和电流 </a:t>
            </a:r>
            <a:r>
              <a:rPr lang="en-US" altLang="zh-CN" sz="2400" b="1" i="1" dirty="0">
                <a:solidFill>
                  <a:srgbClr val="000000"/>
                </a:solidFill>
                <a:effectLst/>
                <a:latin typeface="TimesNewRomanPS-BoldItalicMT"/>
              </a:rPr>
              <a:t>i</a:t>
            </a:r>
            <a:r>
              <a:rPr lang="en-US" altLang="zh-CN" sz="2400" b="0" i="0" dirty="0">
                <a:solidFill>
                  <a:srgbClr val="000000"/>
                </a:solidFill>
                <a:effectLst/>
                <a:latin typeface="TimesNewRomanPSMT"/>
              </a:rPr>
              <a:t>s </a:t>
            </a:r>
            <a:r>
              <a:rPr lang="zh-CN" altLang="en-US" sz="2400" b="0" i="0" dirty="0">
                <a:solidFill>
                  <a:srgbClr val="000000"/>
                </a:solidFill>
                <a:effectLst/>
                <a:latin typeface="SimSun" panose="02010600030101010101" pitchFamily="2" charset="-122"/>
                <a:ea typeface="SimSun" panose="02010600030101010101" pitchFamily="2" charset="-122"/>
              </a:rPr>
              <a:t>之间的夹角。</a:t>
            </a:r>
            <a:r>
              <a:rPr lang="zh-CN" altLang="en-US" sz="2400" dirty="0"/>
              <a:t> 电机稳定运行时，其转矩角的取值范围：</a:t>
            </a:r>
            <a:endParaRPr lang="en-US" altLang="zh-CN" sz="2400" dirty="0"/>
          </a:p>
          <a:p>
            <a:r>
              <a:rPr lang="en-US" altLang="zh-CN" sz="2400" dirty="0"/>
              <a:t>        -90 &lt;</a:t>
            </a:r>
            <a:r>
              <a:rPr lang="en-US" altLang="zh-CN" sz="2400" b="0" i="0" dirty="0">
                <a:solidFill>
                  <a:srgbClr val="000000"/>
                </a:solidFill>
                <a:effectLst/>
                <a:latin typeface="SymbolMT"/>
              </a:rPr>
              <a:t>θ&lt; </a:t>
            </a:r>
            <a:r>
              <a:rPr lang="en-US" altLang="zh-CN" sz="2400" dirty="0"/>
              <a:t>90</a:t>
            </a:r>
          </a:p>
          <a:p>
            <a:r>
              <a:rPr lang="zh-CN" altLang="en-US" sz="2400" dirty="0"/>
              <a:t>也</a:t>
            </a:r>
            <a:r>
              <a:rPr lang="zh-CN" altLang="en-US" sz="2400" dirty="0">
                <a:solidFill>
                  <a:srgbClr val="FF0000"/>
                </a:solidFill>
              </a:rPr>
              <a:t>称为</a:t>
            </a:r>
            <a:r>
              <a:rPr lang="en-US" altLang="zh-CN" sz="2400" dirty="0">
                <a:solidFill>
                  <a:srgbClr val="FF0000"/>
                </a:solidFill>
              </a:rPr>
              <a:t>I/F</a:t>
            </a:r>
            <a:r>
              <a:rPr lang="zh-CN" altLang="en-US" sz="2400" dirty="0">
                <a:solidFill>
                  <a:srgbClr val="FF0000"/>
                </a:solidFill>
              </a:rPr>
              <a:t>方法</a:t>
            </a:r>
            <a:r>
              <a:rPr lang="zh-CN" altLang="en-US" sz="2400" dirty="0"/>
              <a:t>（保持矩角稳定，匹配</a:t>
            </a:r>
            <a:r>
              <a:rPr lang="zh-CN" altLang="en-US" sz="2400" dirty="0">
                <a:solidFill>
                  <a:srgbClr val="FF0000"/>
                </a:solidFill>
              </a:rPr>
              <a:t>负载特性随频率调节定子电流</a:t>
            </a:r>
            <a:r>
              <a:rPr lang="zh-CN" altLang="en-US" sz="2400" dirty="0"/>
              <a:t>）</a:t>
            </a:r>
            <a:br>
              <a:rPr lang="zh-CN" altLang="en-US" dirty="0"/>
            </a:br>
            <a:endParaRPr lang="zh-CN" altLang="en-US" dirty="0"/>
          </a:p>
        </p:txBody>
      </p:sp>
      <p:sp>
        <p:nvSpPr>
          <p:cNvPr id="13" name="文本框 12">
            <a:extLst>
              <a:ext uri="{FF2B5EF4-FFF2-40B4-BE49-F238E27FC236}">
                <a16:creationId xmlns:a16="http://schemas.microsoft.com/office/drawing/2014/main" id="{9DD3054F-696E-57AD-D88C-2BF4C9B10684}"/>
              </a:ext>
            </a:extLst>
          </p:cNvPr>
          <p:cNvSpPr txBox="1"/>
          <p:nvPr/>
        </p:nvSpPr>
        <p:spPr>
          <a:xfrm>
            <a:off x="5796136" y="4838913"/>
            <a:ext cx="407484" cy="461665"/>
          </a:xfrm>
          <a:prstGeom prst="rect">
            <a:avLst/>
          </a:prstGeom>
          <a:noFill/>
        </p:spPr>
        <p:txBody>
          <a:bodyPr wrap="none" rtlCol="0">
            <a:spAutoFit/>
          </a:bodyPr>
          <a:lstStyle/>
          <a:p>
            <a:r>
              <a:rPr lang="el-GR" altLang="zh-CN" sz="2400" dirty="0">
                <a:solidFill>
                  <a:srgbClr val="FF0000"/>
                </a:solidFill>
                <a:latin typeface="Times New Roman" panose="02020603050405020304" pitchFamily="18" charset="0"/>
                <a:cs typeface="Times New Roman" panose="02020603050405020304" pitchFamily="18" charset="0"/>
              </a:rPr>
              <a:t>ϴ</a:t>
            </a:r>
            <a:endParaRPr lang="zh-CN" altLang="en-US" sz="2400" dirty="0">
              <a:solidFill>
                <a:srgbClr val="FF0000"/>
              </a:solidFill>
            </a:endParaRPr>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33BC95EC-81DB-3052-461C-5BDDCDE98AD9}"/>
                  </a:ext>
                </a:extLst>
              </p:cNvPr>
              <p:cNvSpPr txBox="1"/>
              <p:nvPr/>
            </p:nvSpPr>
            <p:spPr>
              <a:xfrm>
                <a:off x="1187624" y="3321066"/>
                <a:ext cx="2597441" cy="691471"/>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cs typeface="Times New Roman" panose="02020603050405020304" pitchFamily="18" charset="0"/>
                        </a:rPr>
                        <m:t>𝑇𝑒</m:t>
                      </m:r>
                      <m:r>
                        <a:rPr lang="en-US" altLang="zh-CN" sz="2400" i="1" smtClean="0">
                          <a:latin typeface="Cambria Math" panose="02040503050406030204" pitchFamily="18" charset="0"/>
                          <a:cs typeface="Times New Roman" panose="02020603050405020304" pitchFamily="18" charset="0"/>
                        </a:rPr>
                        <m:t>=</m:t>
                      </m:r>
                      <m:f>
                        <m:fPr>
                          <m:ctrlPr>
                            <a:rPr lang="en-US" altLang="zh-CN" sz="2400" i="1" smtClean="0">
                              <a:latin typeface="Cambria Math" panose="02040503050406030204" pitchFamily="18" charset="0"/>
                              <a:cs typeface="Times New Roman" panose="02020603050405020304" pitchFamily="18" charset="0"/>
                            </a:rPr>
                          </m:ctrlPr>
                        </m:fPr>
                        <m:num>
                          <m:r>
                            <a:rPr lang="en-US" altLang="zh-CN" sz="2400" b="0" i="1" smtClean="0">
                              <a:latin typeface="Cambria Math" panose="02040503050406030204" pitchFamily="18" charset="0"/>
                              <a:cs typeface="Times New Roman" panose="02020603050405020304" pitchFamily="18" charset="0"/>
                            </a:rPr>
                            <m:t>3</m:t>
                          </m:r>
                        </m:num>
                        <m:den>
                          <m:r>
                            <a:rPr lang="en-US" altLang="zh-CN" sz="2400" b="0" i="1" smtClean="0">
                              <a:latin typeface="Cambria Math" panose="02040503050406030204" pitchFamily="18" charset="0"/>
                              <a:cs typeface="Times New Roman" panose="02020603050405020304" pitchFamily="18" charset="0"/>
                            </a:rPr>
                            <m:t>2</m:t>
                          </m:r>
                        </m:den>
                      </m:f>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𝑛</m:t>
                          </m:r>
                        </m:e>
                        <m:sub>
                          <m:r>
                            <a:rPr lang="en-US" altLang="zh-CN" sz="2400" b="0" i="1" smtClean="0">
                              <a:latin typeface="Cambria Math" panose="02040503050406030204" pitchFamily="18" charset="0"/>
                              <a:cs typeface="Times New Roman" panose="02020603050405020304" pitchFamily="18" charset="0"/>
                            </a:rPr>
                            <m:t>𝑝</m:t>
                          </m:r>
                        </m:sub>
                      </m:sSub>
                      <m:sSub>
                        <m:sSubPr>
                          <m:ctrlPr>
                            <a:rPr lang="en-US" altLang="zh-CN" sz="2400" b="0" i="1" smtClean="0">
                              <a:latin typeface="Cambria Math" panose="02040503050406030204" pitchFamily="18" charset="0"/>
                              <a:cs typeface="Times New Roman" panose="02020603050405020304" pitchFamily="18" charset="0"/>
                            </a:rPr>
                          </m:ctrlPr>
                        </m:sSubPr>
                        <m:e>
                          <m:r>
                            <m:rPr>
                              <m:sty m:val="p"/>
                            </m:rPr>
                            <a:rPr lang="el-GR" altLang="zh-CN" sz="2400" b="0" i="1" smtClean="0">
                              <a:latin typeface="Cambria Math" panose="02040503050406030204" pitchFamily="18" charset="0"/>
                              <a:cs typeface="Times New Roman" panose="02020603050405020304" pitchFamily="18" charset="0"/>
                            </a:rPr>
                            <m:t>Ψ</m:t>
                          </m:r>
                        </m:e>
                        <m:sub>
                          <m:r>
                            <a:rPr lang="en-US" altLang="zh-CN" sz="2400" b="0" i="1" smtClean="0">
                              <a:latin typeface="Cambria Math" panose="02040503050406030204" pitchFamily="18" charset="0"/>
                              <a:cs typeface="Times New Roman" panose="02020603050405020304" pitchFamily="18" charset="0"/>
                            </a:rPr>
                            <m:t>𝑓</m:t>
                          </m:r>
                        </m:sub>
                      </m:sSub>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𝐼</m:t>
                          </m:r>
                        </m:e>
                        <m:sub>
                          <m:r>
                            <a:rPr lang="en-US" altLang="zh-CN" sz="2400" b="0" i="1" smtClean="0">
                              <a:latin typeface="Cambria Math" panose="02040503050406030204" pitchFamily="18" charset="0"/>
                              <a:cs typeface="Times New Roman" panose="02020603050405020304" pitchFamily="18" charset="0"/>
                            </a:rPr>
                            <m:t>𝑎</m:t>
                          </m:r>
                        </m:sub>
                      </m:sSub>
                      <m:r>
                        <a:rPr lang="en-US" altLang="zh-CN" sz="2400" b="0" i="1" smtClean="0">
                          <a:latin typeface="Cambria Math" panose="02040503050406030204" pitchFamily="18" charset="0"/>
                          <a:cs typeface="Times New Roman" panose="02020603050405020304" pitchFamily="18" charset="0"/>
                        </a:rPr>
                        <m:t>𝑐𝑜𝑠</m:t>
                      </m:r>
                      <m:r>
                        <m:rPr>
                          <m:sty m:val="p"/>
                        </m:rPr>
                        <a:rPr lang="el-GR" altLang="zh-CN" sz="2400" b="0" i="1" smtClean="0">
                          <a:latin typeface="Cambria Math" panose="02040503050406030204" pitchFamily="18" charset="0"/>
                          <a:cs typeface="Times New Roman" panose="02020603050405020304" pitchFamily="18" charset="0"/>
                        </a:rPr>
                        <m:t>θ</m:t>
                      </m:r>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3" name="文本框 2">
                <a:extLst>
                  <a:ext uri="{FF2B5EF4-FFF2-40B4-BE49-F238E27FC236}">
                    <a16:creationId xmlns:a16="http://schemas.microsoft.com/office/drawing/2014/main" id="{33BC95EC-81DB-3052-461C-5BDDCDE98AD9}"/>
                  </a:ext>
                </a:extLst>
              </p:cNvPr>
              <p:cNvSpPr txBox="1">
                <a:spLocks noRot="1" noChangeAspect="1" noMove="1" noResize="1" noEditPoints="1" noAdjustHandles="1" noChangeArrowheads="1" noChangeShapeType="1" noTextEdit="1"/>
              </p:cNvSpPr>
              <p:nvPr/>
            </p:nvSpPr>
            <p:spPr>
              <a:xfrm>
                <a:off x="1187624" y="3321066"/>
                <a:ext cx="2597441" cy="691471"/>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60342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CF686080-D22F-D827-78B3-4F7E7BFC91F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199E958-78BA-48B4-BE91-AF2740C86C27}" type="slidenum">
              <a:rPr lang="en-US" altLang="zh-CN" sz="1400" smtClean="0"/>
              <a:pPr>
                <a:spcBef>
                  <a:spcPct val="0"/>
                </a:spcBef>
                <a:buFontTx/>
                <a:buNone/>
              </a:pPr>
              <a:t>45</a:t>
            </a:fld>
            <a:endParaRPr lang="en-US" altLang="zh-CN" sz="1400"/>
          </a:p>
        </p:txBody>
      </p:sp>
      <p:sp>
        <p:nvSpPr>
          <p:cNvPr id="16387" name="Rectangle 2">
            <a:extLst>
              <a:ext uri="{FF2B5EF4-FFF2-40B4-BE49-F238E27FC236}">
                <a16:creationId xmlns:a16="http://schemas.microsoft.com/office/drawing/2014/main" id="{D3A8F79F-8F87-5CED-3181-8278C6D2FE6A}"/>
              </a:ext>
            </a:extLst>
          </p:cNvPr>
          <p:cNvSpPr>
            <a:spLocks noGrp="1" noChangeArrowheads="1"/>
          </p:cNvSpPr>
          <p:nvPr>
            <p:ph type="title"/>
          </p:nvPr>
        </p:nvSpPr>
        <p:spPr>
          <a:xfrm>
            <a:off x="304800" y="868214"/>
            <a:ext cx="8147050" cy="633412"/>
          </a:xfrm>
        </p:spPr>
        <p:txBody>
          <a:bodyPr/>
          <a:lstStyle/>
          <a:p>
            <a:pPr marL="838200" indent="-838200" eaLnBrk="1" hangingPunct="1"/>
            <a:r>
              <a:rPr lang="en-US" altLang="zh-CN" sz="3200" b="1">
                <a:latin typeface="黑体" panose="02010609060101010101" pitchFamily="49" charset="-122"/>
                <a:ea typeface="黑体" panose="02010609060101010101" pitchFamily="49" charset="-122"/>
              </a:rPr>
              <a:t>8.9 </a:t>
            </a:r>
            <a:r>
              <a:rPr lang="zh-CN" altLang="en-US" sz="3200" b="1">
                <a:latin typeface="黑体" panose="02010609060101010101" pitchFamily="49" charset="-122"/>
                <a:ea typeface="黑体" panose="02010609060101010101" pitchFamily="49" charset="-122"/>
              </a:rPr>
              <a:t>同步电动机与发电机</a:t>
            </a:r>
          </a:p>
        </p:txBody>
      </p:sp>
      <p:sp>
        <p:nvSpPr>
          <p:cNvPr id="16388" name="Rectangle 3">
            <a:extLst>
              <a:ext uri="{FF2B5EF4-FFF2-40B4-BE49-F238E27FC236}">
                <a16:creationId xmlns:a16="http://schemas.microsoft.com/office/drawing/2014/main" id="{5F446AE3-629E-88BA-7CF1-FD3DC2B0DA29}"/>
              </a:ext>
            </a:extLst>
          </p:cNvPr>
          <p:cNvSpPr>
            <a:spLocks noGrp="1" noChangeArrowheads="1"/>
          </p:cNvSpPr>
          <p:nvPr>
            <p:ph type="body" idx="1"/>
          </p:nvPr>
        </p:nvSpPr>
        <p:spPr>
          <a:xfrm>
            <a:off x="76200" y="1646089"/>
            <a:ext cx="8458200" cy="1901825"/>
          </a:xfrm>
        </p:spPr>
        <p:txBody>
          <a:bodyPr/>
          <a:lstStyle/>
          <a:p>
            <a:pPr eaLnBrk="1" hangingPunct="1">
              <a:buFontTx/>
              <a:buNone/>
            </a:pPr>
            <a:r>
              <a:rPr lang="en-US" altLang="zh-CN" sz="2400" b="1" dirty="0">
                <a:latin typeface="黑体" panose="02010609060101010101" pitchFamily="49" charset="-122"/>
                <a:ea typeface="黑体" panose="02010609060101010101" pitchFamily="49" charset="-122"/>
              </a:rPr>
              <a:t>      </a:t>
            </a:r>
            <a:r>
              <a:rPr lang="zh-CN" altLang="en-US" sz="2800" b="1" dirty="0">
                <a:latin typeface="黑体" panose="02010609060101010101" pitchFamily="49" charset="-122"/>
                <a:ea typeface="黑体" panose="02010609060101010101" pitchFamily="49" charset="-122"/>
              </a:rPr>
              <a:t>同步发电机将机械能转变为电能，同步电动机将电能转变为机械能，二者的物理结构相同。同步电机可以提供有功功率也可以消耗有功功率；可以提供无功功率也可以消耗无功功率。 </a:t>
            </a:r>
          </a:p>
        </p:txBody>
      </p:sp>
      <p:sp>
        <p:nvSpPr>
          <p:cNvPr id="16389" name="Text Box 4">
            <a:extLst>
              <a:ext uri="{FF2B5EF4-FFF2-40B4-BE49-F238E27FC236}">
                <a16:creationId xmlns:a16="http://schemas.microsoft.com/office/drawing/2014/main" id="{A0DC06E8-F07B-C645-9481-26FFE00B3F12}"/>
              </a:ext>
            </a:extLst>
          </p:cNvPr>
          <p:cNvSpPr txBox="1">
            <a:spLocks noChangeArrowheads="1"/>
          </p:cNvSpPr>
          <p:nvPr/>
        </p:nvSpPr>
        <p:spPr bwMode="auto">
          <a:xfrm>
            <a:off x="1158875" y="3446314"/>
            <a:ext cx="5546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solidFill>
                  <a:srgbClr val="0070C0"/>
                </a:solidFill>
                <a:latin typeface="黑体" panose="02010609060101010101" pitchFamily="49" charset="-122"/>
                <a:ea typeface="黑体" panose="02010609060101010101" pitchFamily="49" charset="-122"/>
              </a:rPr>
              <a:t>从相量图中可以看出它们的主要特点： </a:t>
            </a:r>
          </a:p>
        </p:txBody>
      </p:sp>
      <p:sp>
        <p:nvSpPr>
          <p:cNvPr id="16390" name="Text Box 5">
            <a:extLst>
              <a:ext uri="{FF2B5EF4-FFF2-40B4-BE49-F238E27FC236}">
                <a16:creationId xmlns:a16="http://schemas.microsoft.com/office/drawing/2014/main" id="{1343FB35-D88B-2C49-92DC-54F9F7A43617}"/>
              </a:ext>
            </a:extLst>
          </p:cNvPr>
          <p:cNvSpPr txBox="1">
            <a:spLocks noChangeArrowheads="1"/>
          </p:cNvSpPr>
          <p:nvPr/>
        </p:nvSpPr>
        <p:spPr bwMode="auto">
          <a:xfrm>
            <a:off x="457200" y="3970189"/>
            <a:ext cx="8305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AutoNum type="arabicPeriod"/>
            </a:pPr>
            <a:r>
              <a:rPr lang="zh-CN" altLang="en-US" sz="2800" b="1" dirty="0">
                <a:latin typeface="黑体" panose="02010609060101010101" pitchFamily="49" charset="-122"/>
                <a:ea typeface="黑体" panose="02010609060101010101" pitchFamily="49" charset="-122"/>
              </a:rPr>
              <a:t>发电机运行时，</a:t>
            </a:r>
            <a:r>
              <a:rPr lang="en-US" altLang="zh-CN" sz="2800" b="1" dirty="0" err="1">
                <a:latin typeface="黑体" panose="02010609060101010101" pitchFamily="49" charset="-122"/>
                <a:ea typeface="黑体" panose="02010609060101010101" pitchFamily="49" charset="-122"/>
              </a:rPr>
              <a:t>E</a:t>
            </a:r>
            <a:r>
              <a:rPr lang="en-US" altLang="zh-CN" sz="2800" b="1" baseline="-25000" dirty="0" err="1">
                <a:latin typeface="黑体" panose="02010609060101010101" pitchFamily="49" charset="-122"/>
                <a:ea typeface="黑体" panose="02010609060101010101" pitchFamily="49" charset="-122"/>
              </a:rPr>
              <a:t>a</a:t>
            </a:r>
            <a:r>
              <a:rPr lang="zh-CN" altLang="en-US" sz="2800" b="1" dirty="0">
                <a:latin typeface="黑体" panose="02010609060101010101" pitchFamily="49" charset="-122"/>
                <a:ea typeface="黑体" panose="02010609060101010101" pitchFamily="49" charset="-122"/>
              </a:rPr>
              <a:t>超前于</a:t>
            </a:r>
            <a:r>
              <a:rPr lang="en-US" altLang="zh-CN" sz="2800" b="1" dirty="0">
                <a:latin typeface="黑体" panose="02010609060101010101" pitchFamily="49" charset="-122"/>
                <a:ea typeface="黑体" panose="02010609060101010101" pitchFamily="49" charset="-122"/>
              </a:rPr>
              <a:t>U</a:t>
            </a:r>
            <a:r>
              <a:rPr lang="en-US" altLang="zh-CN" sz="2800" b="1" baseline="-25000" dirty="0">
                <a:latin typeface="黑体" panose="02010609060101010101" pitchFamily="49" charset="-122"/>
                <a:ea typeface="黑体" panose="02010609060101010101" pitchFamily="49" charset="-122"/>
              </a:rPr>
              <a:t>s</a:t>
            </a:r>
            <a:r>
              <a:rPr lang="zh-CN" altLang="en-US" sz="2800" b="1" dirty="0">
                <a:latin typeface="黑体" panose="02010609060101010101" pitchFamily="49" charset="-122"/>
                <a:ea typeface="黑体" panose="02010609060101010101" pitchFamily="49" charset="-122"/>
              </a:rPr>
              <a:t>，电动机运行时</a:t>
            </a:r>
            <a:r>
              <a:rPr lang="en-US" altLang="zh-CN" sz="2800" b="1" dirty="0" err="1">
                <a:latin typeface="黑体" panose="02010609060101010101" pitchFamily="49" charset="-122"/>
                <a:ea typeface="黑体" panose="02010609060101010101" pitchFamily="49" charset="-122"/>
              </a:rPr>
              <a:t>E</a:t>
            </a:r>
            <a:r>
              <a:rPr lang="en-US" altLang="zh-CN" sz="2800" b="1" baseline="-25000" dirty="0" err="1">
                <a:latin typeface="黑体" panose="02010609060101010101" pitchFamily="49" charset="-122"/>
                <a:ea typeface="黑体" panose="02010609060101010101" pitchFamily="49" charset="-122"/>
              </a:rPr>
              <a:t>a</a:t>
            </a:r>
            <a:r>
              <a:rPr lang="zh-CN" altLang="en-US" sz="2800" b="1" dirty="0">
                <a:latin typeface="黑体" panose="02010609060101010101" pitchFamily="49" charset="-122"/>
                <a:ea typeface="黑体" panose="02010609060101010101" pitchFamily="49" charset="-122"/>
              </a:rPr>
              <a:t>滞后于</a:t>
            </a:r>
            <a:r>
              <a:rPr lang="en-US" altLang="zh-CN" sz="2800" b="1" dirty="0">
                <a:latin typeface="黑体" panose="02010609060101010101" pitchFamily="49" charset="-122"/>
                <a:ea typeface="黑体" panose="02010609060101010101" pitchFamily="49" charset="-122"/>
              </a:rPr>
              <a:t>U</a:t>
            </a:r>
            <a:r>
              <a:rPr lang="en-US" altLang="zh-CN" sz="2800" b="1" baseline="-25000" dirty="0">
                <a:latin typeface="黑体" panose="02010609060101010101" pitchFamily="49" charset="-122"/>
                <a:ea typeface="黑体" panose="02010609060101010101" pitchFamily="49" charset="-122"/>
              </a:rPr>
              <a:t>s</a:t>
            </a:r>
            <a:r>
              <a:rPr lang="zh-CN" altLang="en-US" sz="2800" b="1" dirty="0">
                <a:latin typeface="黑体" panose="02010609060101010101" pitchFamily="49" charset="-122"/>
                <a:ea typeface="黑体" panose="02010609060101010101" pitchFamily="49" charset="-122"/>
              </a:rPr>
              <a:t>；</a:t>
            </a:r>
          </a:p>
        </p:txBody>
      </p:sp>
      <p:sp>
        <p:nvSpPr>
          <p:cNvPr id="16391" name="Text Box 6">
            <a:extLst>
              <a:ext uri="{FF2B5EF4-FFF2-40B4-BE49-F238E27FC236}">
                <a16:creationId xmlns:a16="http://schemas.microsoft.com/office/drawing/2014/main" id="{C34F64D3-06D3-5473-D8C6-2E1DFBDB4903}"/>
              </a:ext>
            </a:extLst>
          </p:cNvPr>
          <p:cNvSpPr txBox="1">
            <a:spLocks noChangeArrowheads="1"/>
          </p:cNvSpPr>
          <p:nvPr/>
        </p:nvSpPr>
        <p:spPr bwMode="auto">
          <a:xfrm>
            <a:off x="457200" y="5013176"/>
            <a:ext cx="7850188"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AutoNum type="arabicPeriod" startAt="2"/>
            </a:pPr>
            <a:r>
              <a:rPr lang="zh-CN" altLang="en-US" sz="2800" b="1">
                <a:latin typeface="黑体" panose="02010609060101010101" pitchFamily="49" charset="-122"/>
                <a:ea typeface="黑体" panose="02010609060101010101" pitchFamily="49" charset="-122"/>
              </a:rPr>
              <a:t>电机输出无功功率时</a:t>
            </a:r>
            <a:r>
              <a:rPr lang="en-US" altLang="zh-CN" sz="2800" b="1">
                <a:latin typeface="黑体" panose="02010609060101010101" pitchFamily="49" charset="-122"/>
                <a:ea typeface="黑体" panose="02010609060101010101" pitchFamily="49" charset="-122"/>
              </a:rPr>
              <a:t>E</a:t>
            </a:r>
            <a:r>
              <a:rPr lang="en-US" altLang="zh-CN" sz="2800" b="1" baseline="-25000">
                <a:latin typeface="黑体" panose="02010609060101010101" pitchFamily="49" charset="-122"/>
                <a:ea typeface="黑体" panose="02010609060101010101" pitchFamily="49" charset="-122"/>
              </a:rPr>
              <a:t>a</a:t>
            </a:r>
            <a:r>
              <a:rPr lang="en-US" altLang="zh-CN" sz="2800" b="1">
                <a:latin typeface="黑体" panose="02010609060101010101" pitchFamily="49" charset="-122"/>
                <a:ea typeface="黑体" panose="02010609060101010101" pitchFamily="49" charset="-122"/>
              </a:rPr>
              <a:t>cos</a:t>
            </a:r>
            <a:r>
              <a:rPr lang="en-US" altLang="zh-CN" sz="2800" b="1">
                <a:latin typeface="Symbol" panose="05050102010706020507" pitchFamily="18" charset="2"/>
                <a:ea typeface="黑体" panose="02010609060101010101" pitchFamily="49" charset="-122"/>
              </a:rPr>
              <a:t>d</a:t>
            </a:r>
            <a:r>
              <a:rPr lang="en-US" altLang="zh-CN" sz="2800" b="1">
                <a:latin typeface="黑体" panose="02010609060101010101" pitchFamily="49" charset="-122"/>
                <a:ea typeface="黑体" panose="02010609060101010101" pitchFamily="49" charset="-122"/>
              </a:rPr>
              <a:t>&gt;U</a:t>
            </a:r>
            <a:r>
              <a:rPr lang="en-US" altLang="zh-CN" sz="2800" b="1" baseline="-25000">
                <a:latin typeface="黑体" panose="02010609060101010101" pitchFamily="49" charset="-122"/>
                <a:ea typeface="黑体" panose="02010609060101010101" pitchFamily="49" charset="-122"/>
              </a:rPr>
              <a:t>s</a:t>
            </a:r>
            <a:r>
              <a:rPr lang="zh-CN" altLang="en-US" sz="2800" b="1">
                <a:latin typeface="黑体" panose="02010609060101010101" pitchFamily="49" charset="-122"/>
                <a:ea typeface="黑体" panose="02010609060101010101" pitchFamily="49" charset="-122"/>
              </a:rPr>
              <a:t>，而与电机运行在发电机还是电动机状态无关。电机吸收无功功率时， </a:t>
            </a:r>
            <a:r>
              <a:rPr lang="en-US" altLang="zh-CN" sz="2800" b="1">
                <a:latin typeface="黑体" panose="02010609060101010101" pitchFamily="49" charset="-122"/>
                <a:ea typeface="黑体" panose="02010609060101010101" pitchFamily="49" charset="-122"/>
              </a:rPr>
              <a:t>E</a:t>
            </a:r>
            <a:r>
              <a:rPr lang="en-US" altLang="zh-CN" sz="2800" b="1" baseline="-25000">
                <a:latin typeface="黑体" panose="02010609060101010101" pitchFamily="49" charset="-122"/>
                <a:ea typeface="黑体" panose="02010609060101010101" pitchFamily="49" charset="-122"/>
              </a:rPr>
              <a:t>a</a:t>
            </a:r>
            <a:r>
              <a:rPr lang="en-US" altLang="zh-CN" sz="2800" b="1">
                <a:latin typeface="黑体" panose="02010609060101010101" pitchFamily="49" charset="-122"/>
                <a:ea typeface="黑体" panose="02010609060101010101" pitchFamily="49" charset="-122"/>
              </a:rPr>
              <a:t>cos</a:t>
            </a:r>
            <a:r>
              <a:rPr lang="en-US" altLang="zh-CN" sz="2800" b="1">
                <a:latin typeface="Symbol" panose="05050102010706020507" pitchFamily="18" charset="2"/>
                <a:ea typeface="黑体" panose="02010609060101010101" pitchFamily="49" charset="-122"/>
              </a:rPr>
              <a:t>d</a:t>
            </a:r>
            <a:r>
              <a:rPr lang="en-US" altLang="zh-CN" sz="2800" b="1">
                <a:latin typeface="黑体" panose="02010609060101010101" pitchFamily="49" charset="-122"/>
                <a:ea typeface="黑体" panose="02010609060101010101" pitchFamily="49" charset="-122"/>
              </a:rPr>
              <a:t>&lt;U</a:t>
            </a:r>
            <a:r>
              <a:rPr lang="en-US" altLang="zh-CN" sz="2800" b="1" baseline="-25000">
                <a:latin typeface="黑体" panose="02010609060101010101" pitchFamily="49" charset="-122"/>
                <a:ea typeface="黑体" panose="02010609060101010101" pitchFamily="49" charset="-122"/>
              </a:rPr>
              <a:t>s</a:t>
            </a:r>
            <a:r>
              <a:rPr lang="zh-CN" altLang="en-US" sz="2800" b="1">
                <a:latin typeface="黑体" panose="02010609060101010101" pitchFamily="49" charset="-122"/>
                <a:ea typeface="黑体" panose="02010609060101010101" pitchFamily="49" charset="-122"/>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a:extLst>
              <a:ext uri="{FF2B5EF4-FFF2-40B4-BE49-F238E27FC236}">
                <a16:creationId xmlns:a16="http://schemas.microsoft.com/office/drawing/2014/main" id="{391DCA1B-D2A1-2176-CEEE-D353385F51D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65E048B-FE1B-4C86-AC33-1AE3715412E4}" type="slidenum">
              <a:rPr lang="en-US" altLang="zh-CN" sz="1400" smtClean="0"/>
              <a:pPr>
                <a:spcBef>
                  <a:spcPct val="0"/>
                </a:spcBef>
                <a:buFontTx/>
                <a:buNone/>
              </a:pPr>
              <a:t>46</a:t>
            </a:fld>
            <a:endParaRPr lang="en-US" altLang="zh-CN" sz="1400"/>
          </a:p>
        </p:txBody>
      </p:sp>
      <p:sp>
        <p:nvSpPr>
          <p:cNvPr id="17411" name="Rectangle 2">
            <a:extLst>
              <a:ext uri="{FF2B5EF4-FFF2-40B4-BE49-F238E27FC236}">
                <a16:creationId xmlns:a16="http://schemas.microsoft.com/office/drawing/2014/main" id="{46757509-127E-959E-31F1-C7EBEB4E62A7}"/>
              </a:ext>
            </a:extLst>
          </p:cNvPr>
          <p:cNvSpPr>
            <a:spLocks noGrp="1" noChangeArrowheads="1"/>
          </p:cNvSpPr>
          <p:nvPr>
            <p:ph type="title"/>
          </p:nvPr>
        </p:nvSpPr>
        <p:spPr>
          <a:xfrm>
            <a:off x="454908" y="610454"/>
            <a:ext cx="8229600" cy="1143000"/>
          </a:xfrm>
        </p:spPr>
        <p:txBody>
          <a:bodyPr/>
          <a:lstStyle/>
          <a:p>
            <a:pPr eaLnBrk="1" hangingPunct="1"/>
            <a:r>
              <a:rPr lang="zh-CN" altLang="en-US" sz="3200" b="1" dirty="0">
                <a:solidFill>
                  <a:srgbClr val="FF0000"/>
                </a:solidFill>
              </a:rPr>
              <a:t>同步电动机与发电机</a:t>
            </a:r>
          </a:p>
        </p:txBody>
      </p:sp>
      <p:sp>
        <p:nvSpPr>
          <p:cNvPr id="17412" name="Rectangle 74">
            <a:extLst>
              <a:ext uri="{FF2B5EF4-FFF2-40B4-BE49-F238E27FC236}">
                <a16:creationId xmlns:a16="http://schemas.microsoft.com/office/drawing/2014/main" id="{3BAB17A3-F0D5-A55C-EDD3-5114807CC2F7}"/>
              </a:ext>
            </a:extLst>
          </p:cNvPr>
          <p:cNvSpPr>
            <a:spLocks noChangeArrowheads="1"/>
          </p:cNvSpPr>
          <p:nvPr/>
        </p:nvSpPr>
        <p:spPr bwMode="auto">
          <a:xfrm>
            <a:off x="0" y="5151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800"/>
          </a:p>
        </p:txBody>
      </p:sp>
      <p:graphicFrame>
        <p:nvGraphicFramePr>
          <p:cNvPr id="52317" name="Group 93">
            <a:extLst>
              <a:ext uri="{FF2B5EF4-FFF2-40B4-BE49-F238E27FC236}">
                <a16:creationId xmlns:a16="http://schemas.microsoft.com/office/drawing/2014/main" id="{A800FB63-C282-42D2-5A0C-C733309FD433}"/>
              </a:ext>
            </a:extLst>
          </p:cNvPr>
          <p:cNvGraphicFramePr>
            <a:graphicFrameLocks noGrp="1"/>
          </p:cNvGraphicFramePr>
          <p:nvPr>
            <p:ph idx="1"/>
          </p:nvPr>
        </p:nvGraphicFramePr>
        <p:xfrm>
          <a:off x="457200" y="1600200"/>
          <a:ext cx="8229600" cy="4525963"/>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15081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dirty="0">
                          <a:ln>
                            <a:noFill/>
                          </a:ln>
                          <a:solidFill>
                            <a:schemeClr val="tx1"/>
                          </a:solidFill>
                          <a:effectLst/>
                          <a:latin typeface="Arial" charset="0"/>
                          <a:ea typeface="黑体" pitchFamily="2" charset="-122"/>
                        </a:rPr>
                        <a:t>过励</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dirty="0">
                          <a:ln>
                            <a:noFill/>
                          </a:ln>
                          <a:solidFill>
                            <a:schemeClr val="tx1"/>
                          </a:solidFill>
                          <a:effectLst/>
                          <a:latin typeface="Arial" charset="0"/>
                          <a:ea typeface="黑体" pitchFamily="2" charset="-122"/>
                        </a:rPr>
                        <a:t>提供无功功率</a:t>
                      </a:r>
                      <a:r>
                        <a:rPr kumimoji="0" lang="en-US" altLang="zh-CN" sz="2800" b="1" i="0" u="none" strike="noStrike" cap="none" normalizeH="0" baseline="0" dirty="0">
                          <a:ln>
                            <a:noFill/>
                          </a:ln>
                          <a:solidFill>
                            <a:schemeClr val="tx1"/>
                          </a:solidFill>
                          <a:effectLst/>
                          <a:latin typeface="Arial" charset="0"/>
                          <a:ea typeface="黑体" pitchFamily="2" charset="-122"/>
                        </a:rPr>
                        <a:t>Q</a:t>
                      </a:r>
                      <a:r>
                        <a:rPr kumimoji="0" lang="zh-CN" altLang="en-US" sz="2800" b="0" i="0" u="none" strike="noStrike" cap="none" normalizeH="0" baseline="0" dirty="0">
                          <a:ln>
                            <a:noFill/>
                          </a:ln>
                          <a:solidFill>
                            <a:schemeClr val="tx1"/>
                          </a:solidFill>
                          <a:effectLst/>
                          <a:latin typeface="Arial" charset="0"/>
                          <a:ea typeface="宋体" pitchFamily="2" charset="-122"/>
                        </a:rPr>
                        <a:t>，</a:t>
                      </a:r>
                      <a:r>
                        <a:rPr kumimoji="0" lang="en-US" altLang="zh-CN" sz="2800" b="0" i="0" u="none" strike="noStrike" cap="none" normalizeH="0" baseline="0" dirty="0" err="1">
                          <a:ln>
                            <a:noFill/>
                          </a:ln>
                          <a:solidFill>
                            <a:schemeClr val="tx1"/>
                          </a:solidFill>
                          <a:effectLst/>
                          <a:latin typeface="Arial" charset="0"/>
                          <a:ea typeface="宋体" pitchFamily="2" charset="-122"/>
                        </a:rPr>
                        <a:t>Ecos</a:t>
                      </a:r>
                      <a:r>
                        <a:rPr kumimoji="0" lang="en-US" altLang="zh-CN" sz="2800" b="0" i="0" u="none" strike="noStrike" cap="none" normalizeH="0" baseline="0" dirty="0" err="1">
                          <a:ln>
                            <a:noFill/>
                          </a:ln>
                          <a:solidFill>
                            <a:schemeClr val="tx1"/>
                          </a:solidFill>
                          <a:effectLst/>
                          <a:latin typeface="Symbol" pitchFamily="18" charset="2"/>
                          <a:ea typeface="宋体" pitchFamily="2" charset="-122"/>
                        </a:rPr>
                        <a:t>d</a:t>
                      </a:r>
                      <a:r>
                        <a:rPr kumimoji="0" lang="en-US" altLang="zh-CN" sz="2800" b="0" i="0" u="none" strike="noStrike" cap="none" normalizeH="0" baseline="0" dirty="0">
                          <a:ln>
                            <a:noFill/>
                          </a:ln>
                          <a:solidFill>
                            <a:schemeClr val="tx1"/>
                          </a:solidFill>
                          <a:effectLst/>
                          <a:latin typeface="Arial" charset="0"/>
                          <a:ea typeface="宋体" pitchFamily="2" charset="-122"/>
                        </a:rPr>
                        <a:t>&gt;U</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Arial" charset="0"/>
                          <a:ea typeface="黑体" pitchFamily="2" charset="-122"/>
                        </a:rPr>
                        <a:t>欠励</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Arial" charset="0"/>
                          <a:ea typeface="黑体" pitchFamily="2" charset="-122"/>
                        </a:rPr>
                        <a:t>消耗无功功率</a:t>
                      </a:r>
                      <a:r>
                        <a:rPr kumimoji="0" lang="en-US" altLang="zh-CN" sz="2800" b="1" i="0" u="none" strike="noStrike" cap="none" normalizeH="0" baseline="0">
                          <a:ln>
                            <a:noFill/>
                          </a:ln>
                          <a:solidFill>
                            <a:schemeClr val="tx1"/>
                          </a:solidFill>
                          <a:effectLst/>
                          <a:latin typeface="Arial" charset="0"/>
                          <a:ea typeface="黑体" pitchFamily="2" charset="-122"/>
                        </a:rPr>
                        <a:t>Q,</a:t>
                      </a:r>
                      <a:r>
                        <a:rPr kumimoji="0" lang="en-US" altLang="zh-CN" sz="2800" b="0" i="0" u="none" strike="noStrike" cap="none" normalizeH="0" baseline="0">
                          <a:ln>
                            <a:noFill/>
                          </a:ln>
                          <a:solidFill>
                            <a:schemeClr val="tx1"/>
                          </a:solidFill>
                          <a:effectLst/>
                          <a:latin typeface="Arial" charset="0"/>
                          <a:ea typeface="宋体" pitchFamily="2" charset="-122"/>
                        </a:rPr>
                        <a:t> Ecos</a:t>
                      </a:r>
                      <a:r>
                        <a:rPr kumimoji="0" lang="en-US" altLang="zh-CN" sz="2800" b="0" i="0" u="none" strike="noStrike" cap="none" normalizeH="0" baseline="0">
                          <a:ln>
                            <a:noFill/>
                          </a:ln>
                          <a:solidFill>
                            <a:schemeClr val="tx1"/>
                          </a:solidFill>
                          <a:effectLst/>
                          <a:latin typeface="Symbol" pitchFamily="18" charset="2"/>
                          <a:ea typeface="宋体" pitchFamily="2" charset="-122"/>
                        </a:rPr>
                        <a:t>d</a:t>
                      </a:r>
                      <a:r>
                        <a:rPr kumimoji="0" lang="en-US" altLang="zh-CN" sz="2800" b="0" i="0" u="none" strike="noStrike" cap="none" normalizeH="0" baseline="0">
                          <a:ln>
                            <a:noFill/>
                          </a:ln>
                          <a:solidFill>
                            <a:schemeClr val="tx1"/>
                          </a:solidFill>
                          <a:effectLst/>
                          <a:latin typeface="Arial" charset="0"/>
                          <a:ea typeface="宋体" pitchFamily="2" charset="-122"/>
                        </a:rPr>
                        <a:t>&lt;U</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9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dirty="0">
                          <a:ln>
                            <a:noFill/>
                          </a:ln>
                          <a:solidFill>
                            <a:schemeClr val="tx1"/>
                          </a:solidFill>
                          <a:effectLst/>
                          <a:latin typeface="Arial" charset="0"/>
                          <a:ea typeface="黑体" pitchFamily="2" charset="-122"/>
                        </a:rPr>
                        <a:t>发电机，提供有功功率</a:t>
                      </a:r>
                      <a:r>
                        <a:rPr kumimoji="0" lang="en-US" altLang="zh-CN" sz="2800" b="1" i="0" u="none" strike="noStrike" cap="none" normalizeH="0" baseline="0" dirty="0">
                          <a:ln>
                            <a:noFill/>
                          </a:ln>
                          <a:solidFill>
                            <a:schemeClr val="tx1"/>
                          </a:solidFill>
                          <a:effectLst/>
                          <a:latin typeface="Arial" charset="0"/>
                          <a:ea typeface="黑体" pitchFamily="2" charset="-122"/>
                        </a:rPr>
                        <a:t>P</a:t>
                      </a:r>
                      <a:r>
                        <a:rPr kumimoji="0" lang="zh-CN" altLang="en-US" sz="2800" b="1" i="0" u="none" strike="noStrike" cap="none" normalizeH="0" baseline="0" dirty="0">
                          <a:ln>
                            <a:noFill/>
                          </a:ln>
                          <a:solidFill>
                            <a:schemeClr val="tx1"/>
                          </a:solidFill>
                          <a:effectLst/>
                          <a:latin typeface="Arial" charset="0"/>
                          <a:ea typeface="黑体" pitchFamily="2" charset="-122"/>
                        </a:rPr>
                        <a:t>，</a:t>
                      </a:r>
                      <a:r>
                        <a:rPr kumimoji="0" lang="en-US" altLang="zh-CN" sz="2800" b="1" i="0" u="none" strike="noStrike" cap="none" normalizeH="0" baseline="0" dirty="0">
                          <a:ln>
                            <a:noFill/>
                          </a:ln>
                          <a:solidFill>
                            <a:schemeClr val="tx1"/>
                          </a:solidFill>
                          <a:effectLst/>
                          <a:latin typeface="Arial" charset="0"/>
                          <a:ea typeface="黑体" pitchFamily="2" charset="-122"/>
                        </a:rPr>
                        <a:t>E</a:t>
                      </a:r>
                      <a:r>
                        <a:rPr kumimoji="0" lang="zh-CN" altLang="en-US" sz="2800" b="1" i="0" u="none" strike="noStrike" cap="none" normalizeH="0" baseline="0" dirty="0">
                          <a:ln>
                            <a:noFill/>
                          </a:ln>
                          <a:solidFill>
                            <a:schemeClr val="tx1"/>
                          </a:solidFill>
                          <a:effectLst/>
                          <a:latin typeface="Arial" charset="0"/>
                          <a:ea typeface="黑体" pitchFamily="2" charset="-122"/>
                        </a:rPr>
                        <a:t>超前于</a:t>
                      </a:r>
                      <a:r>
                        <a:rPr kumimoji="0" lang="en-US" altLang="zh-CN" sz="2800" b="1" i="0" u="none" strike="noStrike" cap="none" normalizeH="0" baseline="0" dirty="0">
                          <a:ln>
                            <a:noFill/>
                          </a:ln>
                          <a:solidFill>
                            <a:schemeClr val="tx1"/>
                          </a:solidFill>
                          <a:effectLst/>
                          <a:latin typeface="Arial" charset="0"/>
                          <a:ea typeface="黑体" pitchFamily="2" charset="-122"/>
                        </a:rPr>
                        <a:t>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Arial" charset="0"/>
                          <a:ea typeface="黑体" pitchFamily="2" charset="-122"/>
                        </a:rPr>
                        <a:t>电动机，消耗有功功率</a:t>
                      </a:r>
                      <a:r>
                        <a:rPr kumimoji="0" lang="en-US" altLang="zh-CN" sz="2800" b="1" i="0" u="none" strike="noStrike" cap="none" normalizeH="0" baseline="0">
                          <a:ln>
                            <a:noFill/>
                          </a:ln>
                          <a:solidFill>
                            <a:schemeClr val="tx1"/>
                          </a:solidFill>
                          <a:effectLst/>
                          <a:latin typeface="Arial" charset="0"/>
                          <a:ea typeface="黑体" pitchFamily="2" charset="-122"/>
                        </a:rPr>
                        <a:t>P</a:t>
                      </a:r>
                      <a:r>
                        <a:rPr kumimoji="0" lang="zh-CN" altLang="en-US" sz="2800" b="1" i="0" u="none" strike="noStrike" cap="none" normalizeH="0" baseline="0">
                          <a:ln>
                            <a:noFill/>
                          </a:ln>
                          <a:solidFill>
                            <a:schemeClr val="tx1"/>
                          </a:solidFill>
                          <a:effectLst/>
                          <a:latin typeface="Arial" charset="0"/>
                          <a:ea typeface="黑体" pitchFamily="2" charset="-122"/>
                        </a:rPr>
                        <a:t>，</a:t>
                      </a:r>
                      <a:r>
                        <a:rPr kumimoji="0" lang="en-US" altLang="zh-CN" sz="2800" b="1" i="0" u="none" strike="noStrike" cap="none" normalizeH="0" baseline="0">
                          <a:ln>
                            <a:noFill/>
                          </a:ln>
                          <a:solidFill>
                            <a:schemeClr val="tx1"/>
                          </a:solidFill>
                          <a:effectLst/>
                          <a:latin typeface="Arial" charset="0"/>
                          <a:ea typeface="黑体" pitchFamily="2" charset="-122"/>
                        </a:rPr>
                        <a:t>E</a:t>
                      </a:r>
                      <a:r>
                        <a:rPr kumimoji="0" lang="zh-CN" altLang="en-US" sz="2800" b="1" i="0" u="none" strike="noStrike" cap="none" normalizeH="0" baseline="0">
                          <a:ln>
                            <a:noFill/>
                          </a:ln>
                          <a:solidFill>
                            <a:schemeClr val="tx1"/>
                          </a:solidFill>
                          <a:effectLst/>
                          <a:latin typeface="Arial" charset="0"/>
                          <a:ea typeface="黑体" pitchFamily="2" charset="-122"/>
                        </a:rPr>
                        <a:t>滞后于</a:t>
                      </a:r>
                      <a:r>
                        <a:rPr kumimoji="0" lang="en-US" altLang="zh-CN" sz="2800" b="1" i="0" u="none" strike="noStrike" cap="none" normalizeH="0" baseline="0">
                          <a:ln>
                            <a:noFill/>
                          </a:ln>
                          <a:solidFill>
                            <a:schemeClr val="tx1"/>
                          </a:solidFill>
                          <a:effectLst/>
                          <a:latin typeface="Arial" charset="0"/>
                          <a:ea typeface="黑体" pitchFamily="2" charset="-122"/>
                        </a:rPr>
                        <a:t>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7431" name="Rectangle 96">
            <a:extLst>
              <a:ext uri="{FF2B5EF4-FFF2-40B4-BE49-F238E27FC236}">
                <a16:creationId xmlns:a16="http://schemas.microsoft.com/office/drawing/2014/main" id="{CDD0967A-25AF-50A5-66B6-C21F9B06DA0E}"/>
              </a:ext>
            </a:extLst>
          </p:cNvPr>
          <p:cNvSpPr>
            <a:spLocks noChangeArrowheads="1"/>
          </p:cNvSpPr>
          <p:nvPr/>
        </p:nvSpPr>
        <p:spPr bwMode="auto">
          <a:xfrm>
            <a:off x="0" y="2843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7432" name="Object 95">
            <a:extLst>
              <a:ext uri="{FF2B5EF4-FFF2-40B4-BE49-F238E27FC236}">
                <a16:creationId xmlns:a16="http://schemas.microsoft.com/office/drawing/2014/main" id="{34716E51-4DA4-80AC-EECF-28C9B7FF7564}"/>
              </a:ext>
            </a:extLst>
          </p:cNvPr>
          <p:cNvGraphicFramePr>
            <a:graphicFrameLocks noChangeAspect="1"/>
          </p:cNvGraphicFramePr>
          <p:nvPr/>
        </p:nvGraphicFramePr>
        <p:xfrm>
          <a:off x="3348038" y="3141663"/>
          <a:ext cx="2374900" cy="1482725"/>
        </p:xfrm>
        <a:graphic>
          <a:graphicData uri="http://schemas.openxmlformats.org/presentationml/2006/ole">
            <mc:AlternateContent xmlns:mc="http://schemas.openxmlformats.org/markup-compatibility/2006">
              <mc:Choice xmlns:v="urn:schemas-microsoft-com:vml" Requires="v">
                <p:oleObj name="Microsoft Drawing" r:id="rId2" imgW="990600" imgH="619125" progId="MSDraw">
                  <p:embed/>
                </p:oleObj>
              </mc:Choice>
              <mc:Fallback>
                <p:oleObj name="Microsoft Drawing" r:id="rId2" imgW="990600" imgH="619125" progId="MSDraw">
                  <p:embed/>
                  <p:pic>
                    <p:nvPicPr>
                      <p:cNvPr id="17432" name="Object 95">
                        <a:extLst>
                          <a:ext uri="{FF2B5EF4-FFF2-40B4-BE49-F238E27FC236}">
                            <a16:creationId xmlns:a16="http://schemas.microsoft.com/office/drawing/2014/main" id="{34716E51-4DA4-80AC-EECF-28C9B7FF7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8038" y="3141663"/>
                        <a:ext cx="2374900"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33" name="Rectangle 98">
            <a:extLst>
              <a:ext uri="{FF2B5EF4-FFF2-40B4-BE49-F238E27FC236}">
                <a16:creationId xmlns:a16="http://schemas.microsoft.com/office/drawing/2014/main" id="{42B048EA-FA9E-212A-5D7E-91C329D8B7FC}"/>
              </a:ext>
            </a:extLst>
          </p:cNvPr>
          <p:cNvSpPr>
            <a:spLocks noChangeArrowheads="1"/>
          </p:cNvSpPr>
          <p:nvPr/>
        </p:nvSpPr>
        <p:spPr bwMode="auto">
          <a:xfrm>
            <a:off x="0" y="2933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7434" name="Object 97">
            <a:extLst>
              <a:ext uri="{FF2B5EF4-FFF2-40B4-BE49-F238E27FC236}">
                <a16:creationId xmlns:a16="http://schemas.microsoft.com/office/drawing/2014/main" id="{85C2D031-28AE-F4D1-C756-E9B645CB1194}"/>
              </a:ext>
            </a:extLst>
          </p:cNvPr>
          <p:cNvGraphicFramePr>
            <a:graphicFrameLocks noChangeAspect="1"/>
          </p:cNvGraphicFramePr>
          <p:nvPr/>
        </p:nvGraphicFramePr>
        <p:xfrm>
          <a:off x="6011863" y="3284538"/>
          <a:ext cx="2447925" cy="990600"/>
        </p:xfrm>
        <a:graphic>
          <a:graphicData uri="http://schemas.openxmlformats.org/presentationml/2006/ole">
            <mc:AlternateContent xmlns:mc="http://schemas.openxmlformats.org/markup-compatibility/2006">
              <mc:Choice xmlns:v="urn:schemas-microsoft-com:vml" Requires="v">
                <p:oleObj name="Microsoft Drawing" r:id="rId4" imgW="1109663" imgH="444500" progId="MSDraw">
                  <p:embed/>
                </p:oleObj>
              </mc:Choice>
              <mc:Fallback>
                <p:oleObj name="Microsoft Drawing" r:id="rId4" imgW="1109663" imgH="444500" progId="MSDraw">
                  <p:embed/>
                  <p:pic>
                    <p:nvPicPr>
                      <p:cNvPr id="17434" name="Object 97">
                        <a:extLst>
                          <a:ext uri="{FF2B5EF4-FFF2-40B4-BE49-F238E27FC236}">
                            <a16:creationId xmlns:a16="http://schemas.microsoft.com/office/drawing/2014/main" id="{85C2D031-28AE-F4D1-C756-E9B645CB11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1863" y="3284538"/>
                        <a:ext cx="244792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35" name="Rectangle 100">
            <a:extLst>
              <a:ext uri="{FF2B5EF4-FFF2-40B4-BE49-F238E27FC236}">
                <a16:creationId xmlns:a16="http://schemas.microsoft.com/office/drawing/2014/main" id="{825C141C-1318-5BC4-03FE-EDC29BAC45B3}"/>
              </a:ext>
            </a:extLst>
          </p:cNvPr>
          <p:cNvSpPr>
            <a:spLocks noChangeArrowheads="1"/>
          </p:cNvSpPr>
          <p:nvPr/>
        </p:nvSpPr>
        <p:spPr bwMode="auto">
          <a:xfrm>
            <a:off x="0" y="2809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7436" name="Object 99">
            <a:extLst>
              <a:ext uri="{FF2B5EF4-FFF2-40B4-BE49-F238E27FC236}">
                <a16:creationId xmlns:a16="http://schemas.microsoft.com/office/drawing/2014/main" id="{5E1FFD91-972F-4527-7375-9F7291F17DEA}"/>
              </a:ext>
            </a:extLst>
          </p:cNvPr>
          <p:cNvGraphicFramePr>
            <a:graphicFrameLocks noChangeAspect="1"/>
          </p:cNvGraphicFramePr>
          <p:nvPr/>
        </p:nvGraphicFramePr>
        <p:xfrm>
          <a:off x="3563938" y="4724400"/>
          <a:ext cx="1876425" cy="1238250"/>
        </p:xfrm>
        <a:graphic>
          <a:graphicData uri="http://schemas.openxmlformats.org/presentationml/2006/ole">
            <mc:AlternateContent xmlns:mc="http://schemas.openxmlformats.org/markup-compatibility/2006">
              <mc:Choice xmlns:v="urn:schemas-microsoft-com:vml" Requires="v">
                <p:oleObj name="Microsoft Drawing" r:id="rId6" imgW="957263" imgH="625475" progId="MSDraw">
                  <p:embed/>
                </p:oleObj>
              </mc:Choice>
              <mc:Fallback>
                <p:oleObj name="Microsoft Drawing" r:id="rId6" imgW="957263" imgH="625475" progId="MSDraw">
                  <p:embed/>
                  <p:pic>
                    <p:nvPicPr>
                      <p:cNvPr id="17436" name="Object 99">
                        <a:extLst>
                          <a:ext uri="{FF2B5EF4-FFF2-40B4-BE49-F238E27FC236}">
                            <a16:creationId xmlns:a16="http://schemas.microsoft.com/office/drawing/2014/main" id="{5E1FFD91-972F-4527-7375-9F7291F17DE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63938" y="4724400"/>
                        <a:ext cx="187642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37" name="Rectangle 102">
            <a:extLst>
              <a:ext uri="{FF2B5EF4-FFF2-40B4-BE49-F238E27FC236}">
                <a16:creationId xmlns:a16="http://schemas.microsoft.com/office/drawing/2014/main" id="{F1982BD9-7E54-7060-9F93-81E0E8CA4D07}"/>
              </a:ext>
            </a:extLst>
          </p:cNvPr>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17438" name="Object 101">
            <a:extLst>
              <a:ext uri="{FF2B5EF4-FFF2-40B4-BE49-F238E27FC236}">
                <a16:creationId xmlns:a16="http://schemas.microsoft.com/office/drawing/2014/main" id="{69AF051F-D4BC-4E87-388B-3DC9D946F318}"/>
              </a:ext>
            </a:extLst>
          </p:cNvPr>
          <p:cNvGraphicFramePr>
            <a:graphicFrameLocks noChangeAspect="1"/>
          </p:cNvGraphicFramePr>
          <p:nvPr/>
        </p:nvGraphicFramePr>
        <p:xfrm>
          <a:off x="6227763" y="4581525"/>
          <a:ext cx="2105025" cy="1371600"/>
        </p:xfrm>
        <a:graphic>
          <a:graphicData uri="http://schemas.openxmlformats.org/presentationml/2006/ole">
            <mc:AlternateContent xmlns:mc="http://schemas.openxmlformats.org/markup-compatibility/2006">
              <mc:Choice xmlns:v="urn:schemas-microsoft-com:vml" Requires="v">
                <p:oleObj name="Microsoft Drawing" r:id="rId8" imgW="1035050" imgH="676275" progId="MSDraw">
                  <p:embed/>
                </p:oleObj>
              </mc:Choice>
              <mc:Fallback>
                <p:oleObj name="Microsoft Drawing" r:id="rId8" imgW="1035050" imgH="676275" progId="MSDraw">
                  <p:embed/>
                  <p:pic>
                    <p:nvPicPr>
                      <p:cNvPr id="17438" name="Object 101">
                        <a:extLst>
                          <a:ext uri="{FF2B5EF4-FFF2-40B4-BE49-F238E27FC236}">
                            <a16:creationId xmlns:a16="http://schemas.microsoft.com/office/drawing/2014/main" id="{69AF051F-D4BC-4E87-388B-3DC9D946F31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27763" y="4581525"/>
                        <a:ext cx="21050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7">
            <a:extLst>
              <a:ext uri="{FF2B5EF4-FFF2-40B4-BE49-F238E27FC236}">
                <a16:creationId xmlns:a16="http://schemas.microsoft.com/office/drawing/2014/main" id="{06CF7D76-67E3-8B40-8BC5-DDE7F6E0122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1B8BB54-BDCB-41F2-9428-2FD675AA9492}" type="slidenum">
              <a:rPr lang="en-US" altLang="zh-CN" sz="1400" smtClean="0"/>
              <a:pPr>
                <a:spcBef>
                  <a:spcPct val="0"/>
                </a:spcBef>
                <a:buFontTx/>
                <a:buNone/>
              </a:pPr>
              <a:t>47</a:t>
            </a:fld>
            <a:endParaRPr lang="en-US" altLang="zh-CN" sz="1400"/>
          </a:p>
        </p:txBody>
      </p:sp>
      <p:sp>
        <p:nvSpPr>
          <p:cNvPr id="18435" name="Rectangle 2">
            <a:extLst>
              <a:ext uri="{FF2B5EF4-FFF2-40B4-BE49-F238E27FC236}">
                <a16:creationId xmlns:a16="http://schemas.microsoft.com/office/drawing/2014/main" id="{491AFDF2-8EAA-CD20-4E68-96483BF39591}"/>
              </a:ext>
            </a:extLst>
          </p:cNvPr>
          <p:cNvSpPr>
            <a:spLocks noGrp="1" noChangeArrowheads="1"/>
          </p:cNvSpPr>
          <p:nvPr>
            <p:ph type="title"/>
          </p:nvPr>
        </p:nvSpPr>
        <p:spPr>
          <a:xfrm>
            <a:off x="6732588" y="404813"/>
            <a:ext cx="1919287" cy="719137"/>
          </a:xfrm>
        </p:spPr>
        <p:txBody>
          <a:bodyPr/>
          <a:lstStyle/>
          <a:p>
            <a:pPr eaLnBrk="1" hangingPunct="1"/>
            <a:r>
              <a:rPr lang="zh-CN" altLang="en-US" sz="3200" b="1">
                <a:latin typeface="黑体" panose="02010609060101010101" pitchFamily="49" charset="-122"/>
                <a:ea typeface="黑体" panose="02010609060101010101" pitchFamily="49" charset="-122"/>
              </a:rPr>
              <a:t>讨论</a:t>
            </a:r>
          </a:p>
        </p:txBody>
      </p:sp>
      <p:sp>
        <p:nvSpPr>
          <p:cNvPr id="18436" name="Rectangle 3">
            <a:extLst>
              <a:ext uri="{FF2B5EF4-FFF2-40B4-BE49-F238E27FC236}">
                <a16:creationId xmlns:a16="http://schemas.microsoft.com/office/drawing/2014/main" id="{F7696444-BAAA-A245-86D0-580A00D74979}"/>
              </a:ext>
            </a:extLst>
          </p:cNvPr>
          <p:cNvSpPr>
            <a:spLocks noGrp="1" noChangeArrowheads="1"/>
          </p:cNvSpPr>
          <p:nvPr>
            <p:ph type="body" sz="half" idx="1"/>
          </p:nvPr>
        </p:nvSpPr>
        <p:spPr>
          <a:xfrm>
            <a:off x="314732" y="764381"/>
            <a:ext cx="5832475" cy="2806700"/>
          </a:xfrm>
        </p:spPr>
        <p:txBody>
          <a:bodyPr/>
          <a:lstStyle/>
          <a:p>
            <a:pPr eaLnBrk="1" hangingPunct="1">
              <a:lnSpc>
                <a:spcPct val="110000"/>
              </a:lnSpc>
              <a:buFont typeface="Wingdings" panose="05000000000000000000" pitchFamily="2" charset="2"/>
              <a:buChar char="Ø"/>
            </a:pPr>
            <a:r>
              <a:rPr lang="zh-CN" altLang="en-US" sz="2800" b="1" dirty="0">
                <a:latin typeface="黑体" panose="02010609060101010101" pitchFamily="49" charset="-122"/>
                <a:ea typeface="黑体" panose="02010609060101010101" pitchFamily="49" charset="-122"/>
              </a:rPr>
              <a:t>注意发电机和电动机的功率流动方向是相反的。发电机流出为正，电动机流入为正。过励时，发电机输出无功功率</a:t>
            </a:r>
            <a:r>
              <a:rPr lang="en-US" altLang="zh-CN" sz="2800" b="1" dirty="0">
                <a:latin typeface="黑体" panose="02010609060101010101" pitchFamily="49" charset="-122"/>
                <a:ea typeface="黑体" panose="02010609060101010101" pitchFamily="49" charset="-122"/>
              </a:rPr>
              <a:t>Q&gt;0</a:t>
            </a:r>
            <a:r>
              <a:rPr lang="zh-CN" altLang="en-US" sz="2800" b="1" dirty="0">
                <a:latin typeface="黑体" panose="02010609060101010101" pitchFamily="49" charset="-122"/>
                <a:ea typeface="黑体" panose="02010609060101010101" pitchFamily="49" charset="-122"/>
              </a:rPr>
              <a:t>（电流滞后），意味着向负载、电网输出提供无功功率； </a:t>
            </a:r>
          </a:p>
        </p:txBody>
      </p:sp>
      <p:graphicFrame>
        <p:nvGraphicFramePr>
          <p:cNvPr id="18437" name="Object 4">
            <a:extLst>
              <a:ext uri="{FF2B5EF4-FFF2-40B4-BE49-F238E27FC236}">
                <a16:creationId xmlns:a16="http://schemas.microsoft.com/office/drawing/2014/main" id="{74AD2727-DD3E-D056-BDC3-FA099AF67DE1}"/>
              </a:ext>
            </a:extLst>
          </p:cNvPr>
          <p:cNvGraphicFramePr>
            <a:graphicFrameLocks noGrp="1" noChangeAspect="1"/>
          </p:cNvGraphicFramePr>
          <p:nvPr>
            <p:ph sz="quarter" idx="2"/>
          </p:nvPr>
        </p:nvGraphicFramePr>
        <p:xfrm>
          <a:off x="6300788" y="1268413"/>
          <a:ext cx="2519362" cy="1574800"/>
        </p:xfrm>
        <a:graphic>
          <a:graphicData uri="http://schemas.openxmlformats.org/presentationml/2006/ole">
            <mc:AlternateContent xmlns:mc="http://schemas.openxmlformats.org/markup-compatibility/2006">
              <mc:Choice xmlns:v="urn:schemas-microsoft-com:vml" Requires="v">
                <p:oleObj name="Microsoft Drawing" r:id="rId2" imgW="990600" imgH="619125" progId="MSDraw">
                  <p:embed/>
                </p:oleObj>
              </mc:Choice>
              <mc:Fallback>
                <p:oleObj name="Microsoft Drawing" r:id="rId2" imgW="990600" imgH="619125" progId="MSDraw">
                  <p:embed/>
                  <p:pic>
                    <p:nvPicPr>
                      <p:cNvPr id="18437" name="Object 4">
                        <a:extLst>
                          <a:ext uri="{FF2B5EF4-FFF2-40B4-BE49-F238E27FC236}">
                            <a16:creationId xmlns:a16="http://schemas.microsoft.com/office/drawing/2014/main" id="{74AD2727-DD3E-D056-BDC3-FA099AF67D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0788" y="1268413"/>
                        <a:ext cx="2519362" cy="157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8" name="Text Box 6">
            <a:extLst>
              <a:ext uri="{FF2B5EF4-FFF2-40B4-BE49-F238E27FC236}">
                <a16:creationId xmlns:a16="http://schemas.microsoft.com/office/drawing/2014/main" id="{326B7404-4889-5842-411E-25AB22E95547}"/>
              </a:ext>
            </a:extLst>
          </p:cNvPr>
          <p:cNvSpPr txBox="1">
            <a:spLocks noChangeArrowheads="1"/>
          </p:cNvSpPr>
          <p:nvPr/>
        </p:nvSpPr>
        <p:spPr bwMode="auto">
          <a:xfrm>
            <a:off x="369912" y="3690143"/>
            <a:ext cx="6211888" cy="316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buFont typeface="Wingdings" panose="05000000000000000000" pitchFamily="2" charset="2"/>
              <a:buChar char="Ø"/>
            </a:pPr>
            <a:r>
              <a:rPr lang="en-US" altLang="zh-CN" sz="2400" b="1" dirty="0">
                <a:latin typeface="黑体" panose="02010609060101010101" pitchFamily="49" charset="-122"/>
                <a:ea typeface="黑体" panose="02010609060101010101" pitchFamily="49" charset="-122"/>
              </a:rPr>
              <a:t>  </a:t>
            </a:r>
            <a:r>
              <a:rPr lang="zh-CN" altLang="en-US" sz="2800" b="1" dirty="0">
                <a:latin typeface="黑体" panose="02010609060101010101" pitchFamily="49" charset="-122"/>
                <a:ea typeface="黑体" panose="02010609060101010101" pitchFamily="49" charset="-122"/>
              </a:rPr>
              <a:t>对电动机，它的</a:t>
            </a:r>
            <a:r>
              <a:rPr lang="en-US" altLang="zh-CN" sz="2800" b="1" dirty="0">
                <a:latin typeface="黑体" panose="02010609060101010101" pitchFamily="49" charset="-122"/>
                <a:ea typeface="黑体" panose="02010609060101010101" pitchFamily="49" charset="-122"/>
              </a:rPr>
              <a:t>P</a:t>
            </a:r>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Q</a:t>
            </a:r>
            <a:r>
              <a:rPr lang="zh-CN" altLang="en-US" sz="2800" b="1" dirty="0">
                <a:latin typeface="黑体" panose="02010609060101010101" pitchFamily="49" charset="-122"/>
                <a:ea typeface="黑体" panose="02010609060101010101" pitchFamily="49" charset="-122"/>
              </a:rPr>
              <a:t>为正代表电动机消耗的功率。过励时，电动机消耗无功功率</a:t>
            </a:r>
            <a:r>
              <a:rPr lang="en-US" altLang="zh-CN" sz="2800" b="1" dirty="0">
                <a:latin typeface="黑体" panose="02010609060101010101" pitchFamily="49" charset="-122"/>
                <a:ea typeface="黑体" panose="02010609060101010101" pitchFamily="49" charset="-122"/>
              </a:rPr>
              <a:t>Q&lt;0(</a:t>
            </a:r>
            <a:r>
              <a:rPr lang="zh-CN" altLang="en-US" sz="2800" b="1" dirty="0">
                <a:latin typeface="黑体" panose="02010609060101010101" pitchFamily="49" charset="-122"/>
                <a:ea typeface="黑体" panose="02010609060101010101" pitchFamily="49" charset="-122"/>
              </a:rPr>
              <a:t>电流超前</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，也意味着对电网输出、提供无功功率。因此</a:t>
            </a:r>
            <a:r>
              <a:rPr lang="zh-CN" altLang="en-US" sz="2800" b="1" dirty="0">
                <a:solidFill>
                  <a:srgbClr val="0000FF"/>
                </a:solidFill>
                <a:latin typeface="黑体" panose="02010609060101010101" pitchFamily="49" charset="-122"/>
                <a:ea typeface="黑体" panose="02010609060101010101" pitchFamily="49" charset="-122"/>
              </a:rPr>
              <a:t>只要同步电机（无论作发电机还是作电动机运行）处于过励状态，它必对电网提供无功功率（感性），</a:t>
            </a:r>
            <a:r>
              <a:rPr lang="zh-CN" altLang="en-US" sz="2800" b="1" dirty="0">
                <a:latin typeface="黑体" panose="02010609060101010101" pitchFamily="49" charset="-122"/>
                <a:ea typeface="黑体" panose="02010609060101010101" pitchFamily="49" charset="-122"/>
              </a:rPr>
              <a:t>即帮助承担一部分感性负载，改善电网带感性负载的能力。</a:t>
            </a:r>
          </a:p>
        </p:txBody>
      </p:sp>
      <p:graphicFrame>
        <p:nvGraphicFramePr>
          <p:cNvPr id="18439" name="Object 7">
            <a:extLst>
              <a:ext uri="{FF2B5EF4-FFF2-40B4-BE49-F238E27FC236}">
                <a16:creationId xmlns:a16="http://schemas.microsoft.com/office/drawing/2014/main" id="{1365BC19-0FC9-532E-D0B6-DEC054F51FE9}"/>
              </a:ext>
            </a:extLst>
          </p:cNvPr>
          <p:cNvGraphicFramePr>
            <a:graphicFrameLocks noGrp="1" noChangeAspect="1"/>
          </p:cNvGraphicFramePr>
          <p:nvPr>
            <p:ph sz="quarter" idx="3"/>
          </p:nvPr>
        </p:nvGraphicFramePr>
        <p:xfrm>
          <a:off x="6659563" y="3937000"/>
          <a:ext cx="2233612" cy="1458913"/>
        </p:xfrm>
        <a:graphic>
          <a:graphicData uri="http://schemas.openxmlformats.org/presentationml/2006/ole">
            <mc:AlternateContent xmlns:mc="http://schemas.openxmlformats.org/markup-compatibility/2006">
              <mc:Choice xmlns:v="urn:schemas-microsoft-com:vml" Requires="v">
                <p:oleObj name="Microsoft Drawing" r:id="rId4" imgW="957263" imgH="625475" progId="MSDraw">
                  <p:embed/>
                </p:oleObj>
              </mc:Choice>
              <mc:Fallback>
                <p:oleObj name="Microsoft Drawing" r:id="rId4" imgW="957263" imgH="625475" progId="MSDraw">
                  <p:embed/>
                  <p:pic>
                    <p:nvPicPr>
                      <p:cNvPr id="18439" name="Object 7">
                        <a:extLst>
                          <a:ext uri="{FF2B5EF4-FFF2-40B4-BE49-F238E27FC236}">
                            <a16:creationId xmlns:a16="http://schemas.microsoft.com/office/drawing/2014/main" id="{1365BC19-0FC9-532E-D0B6-DEC054F51F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9563" y="3937000"/>
                        <a:ext cx="2233612" cy="1458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a:extLst>
              <a:ext uri="{FF2B5EF4-FFF2-40B4-BE49-F238E27FC236}">
                <a16:creationId xmlns:a16="http://schemas.microsoft.com/office/drawing/2014/main" id="{25759AD5-190C-F794-34E5-3AFD93C1553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797B7E5-8E0B-42AA-BE2D-5C7BBA0C3C42}" type="slidenum">
              <a:rPr lang="en-US" altLang="zh-CN" sz="1400" smtClean="0"/>
              <a:pPr>
                <a:spcBef>
                  <a:spcPct val="0"/>
                </a:spcBef>
                <a:buFontTx/>
                <a:buNone/>
              </a:pPr>
              <a:t>48</a:t>
            </a:fld>
            <a:endParaRPr lang="en-US" altLang="zh-CN" sz="1400"/>
          </a:p>
        </p:txBody>
      </p:sp>
      <p:sp>
        <p:nvSpPr>
          <p:cNvPr id="9219" name="Rectangle 1026">
            <a:extLst>
              <a:ext uri="{FF2B5EF4-FFF2-40B4-BE49-F238E27FC236}">
                <a16:creationId xmlns:a16="http://schemas.microsoft.com/office/drawing/2014/main" id="{55454DF3-2B36-5405-B0BF-01EE28E4E840}"/>
              </a:ext>
            </a:extLst>
          </p:cNvPr>
          <p:cNvSpPr>
            <a:spLocks noGrp="1" noChangeArrowheads="1"/>
          </p:cNvSpPr>
          <p:nvPr>
            <p:ph type="title"/>
          </p:nvPr>
        </p:nvSpPr>
        <p:spPr>
          <a:xfrm>
            <a:off x="0" y="1092994"/>
            <a:ext cx="7210425" cy="490537"/>
          </a:xfrm>
        </p:spPr>
        <p:txBody>
          <a:bodyPr/>
          <a:lstStyle/>
          <a:p>
            <a:pPr eaLnBrk="1" hangingPunct="1"/>
            <a:r>
              <a:rPr lang="zh-CN" altLang="en-US" sz="3600" b="1" dirty="0">
                <a:latin typeface="黑体" panose="02010609060101010101" pitchFamily="49" charset="-122"/>
                <a:ea typeface="黑体" panose="02010609060101010101" pitchFamily="49" charset="-122"/>
              </a:rPr>
              <a:t>习题</a:t>
            </a:r>
          </a:p>
        </p:txBody>
      </p:sp>
      <p:sp>
        <p:nvSpPr>
          <p:cNvPr id="9220" name="Text Box 1028">
            <a:extLst>
              <a:ext uri="{FF2B5EF4-FFF2-40B4-BE49-F238E27FC236}">
                <a16:creationId xmlns:a16="http://schemas.microsoft.com/office/drawing/2014/main" id="{65411DD5-C8C6-E2BD-46D6-559AB8F87F59}"/>
              </a:ext>
            </a:extLst>
          </p:cNvPr>
          <p:cNvSpPr txBox="1">
            <a:spLocks noChangeArrowheads="1"/>
          </p:cNvSpPr>
          <p:nvPr/>
        </p:nvSpPr>
        <p:spPr bwMode="auto">
          <a:xfrm>
            <a:off x="395536" y="2459831"/>
            <a:ext cx="7206233"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hangingPunct="1">
              <a:buNone/>
            </a:pPr>
            <a:r>
              <a:rPr lang="en-US" altLang="zh-CN" sz="6000" b="1" dirty="0">
                <a:solidFill>
                  <a:srgbClr val="FF0000"/>
                </a:solidFill>
                <a:latin typeface="黑体" panose="02010609060101010101" pitchFamily="49" charset="-122"/>
                <a:ea typeface="黑体" panose="02010609060101010101" pitchFamily="49" charset="-122"/>
              </a:rPr>
              <a:t>8-18,8-19,8-20,8-21,8-22,8-24</a:t>
            </a:r>
          </a:p>
        </p:txBody>
      </p:sp>
      <p:sp>
        <p:nvSpPr>
          <p:cNvPr id="9221" name="Rectangle 1031">
            <a:extLst>
              <a:ext uri="{FF2B5EF4-FFF2-40B4-BE49-F238E27FC236}">
                <a16:creationId xmlns:a16="http://schemas.microsoft.com/office/drawing/2014/main" id="{9AC0D43B-B3D9-7DAD-3243-9BAB929817EF}"/>
              </a:ext>
            </a:extLst>
          </p:cNvPr>
          <p:cNvSpPr>
            <a:spLocks noChangeArrowheads="1"/>
          </p:cNvSpPr>
          <p:nvPr/>
        </p:nvSpPr>
        <p:spPr bwMode="auto">
          <a:xfrm>
            <a:off x="3595688" y="3276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spTree>
    <p:extLst>
      <p:ext uri="{BB962C8B-B14F-4D97-AF65-F5344CB8AC3E}">
        <p14:creationId xmlns:p14="http://schemas.microsoft.com/office/powerpoint/2010/main" val="18849445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a:extLst>
              <a:ext uri="{FF2B5EF4-FFF2-40B4-BE49-F238E27FC236}">
                <a16:creationId xmlns:a16="http://schemas.microsoft.com/office/drawing/2014/main" id="{526AF297-4728-2596-CE86-4424F24720A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4EDCEEF-1EF0-4D4D-A420-3CA0B96C0805}" type="slidenum">
              <a:rPr lang="en-US" altLang="zh-CN" sz="1400" smtClean="0"/>
              <a:pPr>
                <a:spcBef>
                  <a:spcPct val="0"/>
                </a:spcBef>
                <a:buFontTx/>
                <a:buNone/>
              </a:pPr>
              <a:t>49</a:t>
            </a:fld>
            <a:endParaRPr lang="en-US" altLang="zh-CN" sz="1400"/>
          </a:p>
        </p:txBody>
      </p:sp>
      <p:sp>
        <p:nvSpPr>
          <p:cNvPr id="19459" name="Rectangle 2">
            <a:extLst>
              <a:ext uri="{FF2B5EF4-FFF2-40B4-BE49-F238E27FC236}">
                <a16:creationId xmlns:a16="http://schemas.microsoft.com/office/drawing/2014/main" id="{DAF5CF3B-E453-AE14-6678-C3F0E82FE5CD}"/>
              </a:ext>
            </a:extLst>
          </p:cNvPr>
          <p:cNvSpPr>
            <a:spLocks noGrp="1" noChangeArrowheads="1"/>
          </p:cNvSpPr>
          <p:nvPr>
            <p:ph type="title"/>
          </p:nvPr>
        </p:nvSpPr>
        <p:spPr>
          <a:xfrm>
            <a:off x="-828600" y="809626"/>
            <a:ext cx="8147050" cy="777875"/>
          </a:xfrm>
        </p:spPr>
        <p:txBody>
          <a:bodyPr/>
          <a:lstStyle/>
          <a:p>
            <a:pPr eaLnBrk="1" hangingPunct="1"/>
            <a:r>
              <a:rPr lang="en-US" altLang="zh-CN" sz="3200" b="1" dirty="0">
                <a:latin typeface="黑体" panose="02010609060101010101" pitchFamily="49" charset="-122"/>
                <a:ea typeface="黑体" panose="02010609060101010101" pitchFamily="49" charset="-122"/>
              </a:rPr>
              <a:t>8.10 </a:t>
            </a:r>
            <a:r>
              <a:rPr lang="zh-CN" altLang="en-US" sz="3200" b="1" dirty="0">
                <a:latin typeface="黑体" panose="02010609060101010101" pitchFamily="49" charset="-122"/>
                <a:ea typeface="黑体" panose="02010609060101010101" pitchFamily="49" charset="-122"/>
              </a:rPr>
              <a:t>永磁同步电动机</a:t>
            </a:r>
          </a:p>
        </p:txBody>
      </p:sp>
      <p:sp>
        <p:nvSpPr>
          <p:cNvPr id="19460" name="Rectangle 3">
            <a:extLst>
              <a:ext uri="{FF2B5EF4-FFF2-40B4-BE49-F238E27FC236}">
                <a16:creationId xmlns:a16="http://schemas.microsoft.com/office/drawing/2014/main" id="{92F10CFD-D290-EBC1-254E-3892CE14E0C6}"/>
              </a:ext>
            </a:extLst>
          </p:cNvPr>
          <p:cNvSpPr>
            <a:spLocks noGrp="1" noChangeArrowheads="1"/>
          </p:cNvSpPr>
          <p:nvPr>
            <p:ph type="body" idx="1"/>
          </p:nvPr>
        </p:nvSpPr>
        <p:spPr>
          <a:xfrm>
            <a:off x="449122" y="1772816"/>
            <a:ext cx="5159375" cy="2757487"/>
          </a:xfrm>
        </p:spPr>
        <p:txBody>
          <a:bodyPr/>
          <a:lstStyle/>
          <a:p>
            <a:pPr eaLnBrk="1" hangingPunct="1">
              <a:buFont typeface="Wingdings" panose="05000000000000000000" pitchFamily="2" charset="2"/>
              <a:buChar char="Ø"/>
            </a:pPr>
            <a:r>
              <a:rPr lang="zh-CN" altLang="en-US" sz="2800" b="1" dirty="0">
                <a:latin typeface="黑体" panose="02010609060101010101" pitchFamily="49" charset="-122"/>
                <a:ea typeface="黑体" panose="02010609060101010101" pitchFamily="49" charset="-122"/>
              </a:rPr>
              <a:t>转子采用永磁体取代励磁绕组。当以永磁转子的等效磁导率计算出电机的各种电感，并假定励磁电流为常数，则分析与同步电机相同。</a:t>
            </a:r>
            <a:r>
              <a:rPr lang="zh-CN" altLang="en-US" b="1" dirty="0">
                <a:latin typeface="黑体" panose="02010609060101010101" pitchFamily="49" charset="-122"/>
                <a:ea typeface="黑体" panose="02010609060101010101" pitchFamily="49" charset="-122"/>
              </a:rPr>
              <a:t> </a:t>
            </a:r>
          </a:p>
        </p:txBody>
      </p:sp>
      <p:pic>
        <p:nvPicPr>
          <p:cNvPr id="19461" name="Picture 4" descr="yongci">
            <a:extLst>
              <a:ext uri="{FF2B5EF4-FFF2-40B4-BE49-F238E27FC236}">
                <a16:creationId xmlns:a16="http://schemas.microsoft.com/office/drawing/2014/main" id="{D0BC05FF-8B3A-8C6E-521C-2BC6AEC4AD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625" y="1052513"/>
            <a:ext cx="3455988"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1" name="Text Box 5">
            <a:extLst>
              <a:ext uri="{FF2B5EF4-FFF2-40B4-BE49-F238E27FC236}">
                <a16:creationId xmlns:a16="http://schemas.microsoft.com/office/drawing/2014/main" id="{86CF0FDB-77E1-7E48-1035-397C5876B757}"/>
              </a:ext>
            </a:extLst>
          </p:cNvPr>
          <p:cNvSpPr txBox="1">
            <a:spLocks noChangeArrowheads="1"/>
          </p:cNvSpPr>
          <p:nvPr/>
        </p:nvSpPr>
        <p:spPr bwMode="auto">
          <a:xfrm>
            <a:off x="457200" y="4267200"/>
            <a:ext cx="8153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b="1" dirty="0">
                <a:latin typeface="黑体" panose="02010609060101010101" pitchFamily="49" charset="-122"/>
                <a:ea typeface="黑体" panose="02010609060101010101" pitchFamily="49" charset="-122"/>
              </a:rPr>
              <a:t>由于不能改变励磁，永磁同步交流电机失去了功率因数调节作用，主要应用于交流变频调速和定位控制，其优良的稳速性能，在数控机床、机器人、国防设备中被广泛采用。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5301"/>
                                        </p:tgtEl>
                                        <p:attrNameLst>
                                          <p:attrName>style.visibility</p:attrName>
                                        </p:attrNameLst>
                                      </p:cBhvr>
                                      <p:to>
                                        <p:strVal val="visible"/>
                                      </p:to>
                                    </p:set>
                                    <p:animEffect transition="in" filter="blinds(horizontal)">
                                      <p:cBhvr>
                                        <p:cTn id="7" dur="500"/>
                                        <p:tgtEl>
                                          <p:spTgt spid="55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1"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a:extLst>
              <a:ext uri="{FF2B5EF4-FFF2-40B4-BE49-F238E27FC236}">
                <a16:creationId xmlns:a16="http://schemas.microsoft.com/office/drawing/2014/main" id="{BFA270F8-4F82-9C11-FF84-D1743FF14C4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8E48237-CADA-44BD-9384-29F4602CB7F6}" type="slidenum">
              <a:rPr lang="en-US" altLang="zh-CN" sz="1400" smtClean="0"/>
              <a:pPr>
                <a:spcBef>
                  <a:spcPct val="0"/>
                </a:spcBef>
                <a:buFontTx/>
                <a:buNone/>
              </a:pPr>
              <a:t>50</a:t>
            </a:fld>
            <a:endParaRPr lang="en-US" altLang="zh-CN" sz="1400"/>
          </a:p>
        </p:txBody>
      </p:sp>
      <p:sp>
        <p:nvSpPr>
          <p:cNvPr id="20483" name="Rectangle 2">
            <a:extLst>
              <a:ext uri="{FF2B5EF4-FFF2-40B4-BE49-F238E27FC236}">
                <a16:creationId xmlns:a16="http://schemas.microsoft.com/office/drawing/2014/main" id="{8DB4FC3B-5B49-609D-5891-8F3C0639E4D8}"/>
              </a:ext>
            </a:extLst>
          </p:cNvPr>
          <p:cNvSpPr>
            <a:spLocks noGrp="1" noChangeArrowheads="1"/>
          </p:cNvSpPr>
          <p:nvPr>
            <p:ph type="title"/>
          </p:nvPr>
        </p:nvSpPr>
        <p:spPr>
          <a:xfrm>
            <a:off x="228600" y="563379"/>
            <a:ext cx="8229600" cy="1143000"/>
          </a:xfrm>
        </p:spPr>
        <p:txBody>
          <a:bodyPr/>
          <a:lstStyle/>
          <a:p>
            <a:pPr eaLnBrk="1" hangingPunct="1"/>
            <a:r>
              <a:rPr lang="zh-CN" altLang="en-US" sz="3600" b="1" dirty="0">
                <a:solidFill>
                  <a:srgbClr val="000000"/>
                </a:solidFill>
                <a:latin typeface="宋体" panose="02010600030101010101" pitchFamily="2" charset="-122"/>
              </a:rPr>
              <a:t>永磁同步电动机的结构</a:t>
            </a:r>
            <a:r>
              <a:rPr lang="zh-CN" altLang="en-US" dirty="0"/>
              <a:t> </a:t>
            </a:r>
          </a:p>
        </p:txBody>
      </p:sp>
      <p:sp>
        <p:nvSpPr>
          <p:cNvPr id="20484" name="Rectangle 3">
            <a:extLst>
              <a:ext uri="{FF2B5EF4-FFF2-40B4-BE49-F238E27FC236}">
                <a16:creationId xmlns:a16="http://schemas.microsoft.com/office/drawing/2014/main" id="{6AFAB94D-E4AF-A25E-5461-264CE88EE51D}"/>
              </a:ext>
            </a:extLst>
          </p:cNvPr>
          <p:cNvSpPr>
            <a:spLocks noGrp="1" noChangeArrowheads="1"/>
          </p:cNvSpPr>
          <p:nvPr>
            <p:ph type="body" idx="1"/>
          </p:nvPr>
        </p:nvSpPr>
        <p:spPr>
          <a:xfrm>
            <a:off x="457200" y="1487304"/>
            <a:ext cx="8229600" cy="1676400"/>
          </a:xfrm>
        </p:spPr>
        <p:txBody>
          <a:bodyPr/>
          <a:lstStyle/>
          <a:p>
            <a:pPr algn="just"/>
            <a:r>
              <a:rPr lang="zh-CN" altLang="en-US" sz="2800" dirty="0">
                <a:solidFill>
                  <a:srgbClr val="002060"/>
                </a:solidFill>
                <a:hlinkClick r:id="rId2">
                  <a:extLst>
                    <a:ext uri="{A12FA001-AC4F-418D-AE19-62706E023703}">
                      <ahyp:hlinkClr xmlns:ahyp="http://schemas.microsoft.com/office/drawing/2018/hyperlinkcolor" val="tx"/>
                    </a:ext>
                  </a:extLst>
                </a:hlinkClick>
              </a:rPr>
              <a:t>钕铁硼和钐钴</a:t>
            </a:r>
            <a:r>
              <a:rPr lang="zh-CN" altLang="en-US" sz="2800" dirty="0">
                <a:solidFill>
                  <a:srgbClr val="002060"/>
                </a:solidFill>
              </a:rPr>
              <a:t>稀土</a:t>
            </a:r>
            <a:r>
              <a:rPr lang="zh-CN" altLang="en-US" sz="2800" dirty="0">
                <a:solidFill>
                  <a:srgbClr val="000000"/>
                </a:solidFill>
                <a:latin typeface="Times New Roman" panose="02020603050405020304" pitchFamily="18" charset="0"/>
              </a:rPr>
              <a:t>合金由于其磁特性和物理特性优异、成本低廉且材料来源有保证，成为永磁同步电动机永磁转子的主要原料。</a:t>
            </a:r>
            <a:endParaRPr lang="zh-CN" altLang="en-US" sz="2800" b="1" dirty="0">
              <a:solidFill>
                <a:srgbClr val="FF0000"/>
              </a:solidFill>
              <a:latin typeface="宋体" panose="02010600030101010101" pitchFamily="2" charset="-122"/>
            </a:endParaRPr>
          </a:p>
          <a:p>
            <a:pPr eaLnBrk="1" hangingPunct="1"/>
            <a:endParaRPr lang="en-US" altLang="zh-CN" dirty="0"/>
          </a:p>
        </p:txBody>
      </p:sp>
      <p:sp>
        <p:nvSpPr>
          <p:cNvPr id="20485" name="Rectangle 5">
            <a:extLst>
              <a:ext uri="{FF2B5EF4-FFF2-40B4-BE49-F238E27FC236}">
                <a16:creationId xmlns:a16="http://schemas.microsoft.com/office/drawing/2014/main" id="{838170E9-9B14-A723-3BCE-A353FB10F583}"/>
              </a:ext>
            </a:extLst>
          </p:cNvPr>
          <p:cNvSpPr>
            <a:spLocks noChangeArrowheads="1"/>
          </p:cNvSpPr>
          <p:nvPr/>
        </p:nvSpPr>
        <p:spPr bwMode="auto">
          <a:xfrm>
            <a:off x="2590800" y="2705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pic>
        <p:nvPicPr>
          <p:cNvPr id="20486" name="Picture 4" descr="c">
            <a:extLst>
              <a:ext uri="{FF2B5EF4-FFF2-40B4-BE49-F238E27FC236}">
                <a16:creationId xmlns:a16="http://schemas.microsoft.com/office/drawing/2014/main" id="{67057053-D2EF-1A1F-F57E-1033936B61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819400"/>
            <a:ext cx="6781800"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7" name="Rectangle 6">
            <a:extLst>
              <a:ext uri="{FF2B5EF4-FFF2-40B4-BE49-F238E27FC236}">
                <a16:creationId xmlns:a16="http://schemas.microsoft.com/office/drawing/2014/main" id="{2F41EA67-B304-2731-8F11-B4F767731F7E}"/>
              </a:ext>
            </a:extLst>
          </p:cNvPr>
          <p:cNvSpPr>
            <a:spLocks noChangeArrowheads="1"/>
          </p:cNvSpPr>
          <p:nvPr/>
        </p:nvSpPr>
        <p:spPr bwMode="auto">
          <a:xfrm>
            <a:off x="228600" y="5305425"/>
            <a:ext cx="8915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tabLst>
                <a:tab pos="342900"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tabLst>
                <a:tab pos="342900"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tabLst>
                <a:tab pos="342900"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tabLst>
                <a:tab pos="342900"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tabLst>
                <a:tab pos="342900"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tabLst>
                <a:tab pos="342900"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tabLst>
                <a:tab pos="342900"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tabLst>
                <a:tab pos="342900"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tabLst>
                <a:tab pos="342900" algn="l"/>
              </a:tabLst>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dirty="0">
                <a:solidFill>
                  <a:srgbClr val="000000"/>
                </a:solidFill>
                <a:latin typeface="Times New Roman" panose="02020603050405020304" pitchFamily="18" charset="0"/>
              </a:rPr>
              <a:t>（</a:t>
            </a:r>
            <a:r>
              <a:rPr lang="en-US" altLang="zh-CN" sz="2400" dirty="0">
                <a:solidFill>
                  <a:srgbClr val="000000"/>
                </a:solidFill>
                <a:latin typeface="Times New Roman" panose="02020603050405020304" pitchFamily="18" charset="0"/>
              </a:rPr>
              <a:t>a</a:t>
            </a:r>
            <a:r>
              <a:rPr lang="zh-CN" altLang="en-US" sz="2400" dirty="0">
                <a:solidFill>
                  <a:srgbClr val="000000"/>
                </a:solidFill>
                <a:latin typeface="Times New Roman" panose="02020603050405020304" pitchFamily="18" charset="0"/>
              </a:rPr>
              <a:t>）内嵌式（</a:t>
            </a:r>
            <a:r>
              <a:rPr lang="en-US" altLang="zh-CN" sz="2400" dirty="0">
                <a:solidFill>
                  <a:srgbClr val="000000"/>
                </a:solidFill>
                <a:latin typeface="Times New Roman" panose="02020603050405020304" pitchFamily="18" charset="0"/>
                <a:cs typeface="Times New Roman" panose="02020603050405020304" pitchFamily="18" charset="0"/>
              </a:rPr>
              <a:t>b</a:t>
            </a:r>
            <a:r>
              <a:rPr lang="zh-CN" altLang="en-US" sz="2400" dirty="0">
                <a:solidFill>
                  <a:srgbClr val="000000"/>
                </a:solidFill>
                <a:latin typeface="Times New Roman" panose="02020603050405020304" pitchFamily="18" charset="0"/>
              </a:rPr>
              <a:t>）表贴式（</a:t>
            </a:r>
            <a:r>
              <a:rPr lang="en-US" altLang="zh-CN" sz="2400" dirty="0">
                <a:solidFill>
                  <a:srgbClr val="000000"/>
                </a:solidFill>
                <a:latin typeface="Times New Roman" panose="02020603050405020304" pitchFamily="18" charset="0"/>
                <a:cs typeface="Times New Roman" panose="02020603050405020304" pitchFamily="18" charset="0"/>
              </a:rPr>
              <a:t>c</a:t>
            </a:r>
            <a:r>
              <a:rPr lang="zh-CN" altLang="en-US" sz="2400" dirty="0">
                <a:solidFill>
                  <a:srgbClr val="000000"/>
                </a:solidFill>
                <a:latin typeface="Times New Roman" panose="02020603050405020304" pitchFamily="18" charset="0"/>
              </a:rPr>
              <a:t>）内置式永磁转子</a:t>
            </a:r>
            <a:endParaRPr lang="zh-CN" altLang="en-US" sz="2400" b="1" dirty="0">
              <a:solidFill>
                <a:srgbClr val="FF0000"/>
              </a:solidFill>
              <a:latin typeface="宋体" panose="02010600030101010101" pitchFamily="2" charset="-122"/>
            </a:endParaRPr>
          </a:p>
          <a:p>
            <a:pPr>
              <a:spcBef>
                <a:spcPct val="0"/>
              </a:spcBef>
              <a:buFontTx/>
              <a:buNone/>
            </a:pPr>
            <a:r>
              <a:rPr lang="en-US" altLang="zh-CN" sz="2400" dirty="0">
                <a:solidFill>
                  <a:srgbClr val="000000"/>
                </a:solidFill>
                <a:latin typeface="Times New Roman" panose="02020603050405020304" pitchFamily="18" charset="0"/>
                <a:cs typeface="Times New Roman" panose="02020603050405020304" pitchFamily="18" charset="0"/>
              </a:rPr>
              <a:t>1</a:t>
            </a:r>
            <a:r>
              <a:rPr lang="zh-CN" altLang="en-US" sz="2400" dirty="0">
                <a:solidFill>
                  <a:srgbClr val="000000"/>
                </a:solidFill>
                <a:latin typeface="宋体" panose="02010600030101010101" pitchFamily="2" charset="-122"/>
              </a:rPr>
              <a:t>－定子铁心；</a:t>
            </a:r>
            <a:r>
              <a:rPr lang="en-US" altLang="zh-CN" sz="2400" dirty="0">
                <a:solidFill>
                  <a:srgbClr val="000000"/>
                </a:solidFill>
                <a:latin typeface="Times New Roman" panose="02020603050405020304" pitchFamily="18" charset="0"/>
                <a:cs typeface="Times New Roman" panose="02020603050405020304" pitchFamily="18" charset="0"/>
              </a:rPr>
              <a:t>2</a:t>
            </a:r>
            <a:r>
              <a:rPr lang="zh-CN" altLang="en-US" sz="2400" dirty="0">
                <a:solidFill>
                  <a:srgbClr val="000000"/>
                </a:solidFill>
                <a:latin typeface="宋体" panose="02010600030101010101" pitchFamily="2" charset="-122"/>
              </a:rPr>
              <a:t>－转子铁心；</a:t>
            </a:r>
            <a:r>
              <a:rPr lang="en-US" altLang="zh-CN" sz="2400" dirty="0">
                <a:solidFill>
                  <a:srgbClr val="000000"/>
                </a:solidFill>
                <a:latin typeface="Times New Roman" panose="02020603050405020304" pitchFamily="18" charset="0"/>
                <a:cs typeface="Times New Roman" panose="02020603050405020304" pitchFamily="18" charset="0"/>
              </a:rPr>
              <a:t>3</a:t>
            </a:r>
            <a:r>
              <a:rPr lang="zh-CN" altLang="en-US" sz="2400" dirty="0">
                <a:solidFill>
                  <a:srgbClr val="000000"/>
                </a:solidFill>
                <a:latin typeface="宋体" panose="02010600030101010101" pitchFamily="2" charset="-122"/>
              </a:rPr>
              <a:t>－永久磁铁；</a:t>
            </a:r>
            <a:r>
              <a:rPr lang="en-US" altLang="zh-CN" sz="2400" dirty="0">
                <a:solidFill>
                  <a:srgbClr val="000000"/>
                </a:solidFill>
                <a:latin typeface="Times New Roman" panose="02020603050405020304" pitchFamily="18" charset="0"/>
                <a:cs typeface="Times New Roman" panose="02020603050405020304" pitchFamily="18" charset="0"/>
              </a:rPr>
              <a:t>4</a:t>
            </a:r>
            <a:r>
              <a:rPr lang="zh-CN" altLang="en-US" sz="2400" dirty="0">
                <a:solidFill>
                  <a:srgbClr val="000000"/>
                </a:solidFill>
                <a:latin typeface="宋体" panose="02010600030101010101" pitchFamily="2" charset="-122"/>
              </a:rPr>
              <a:t>－磁性材料磁极；</a:t>
            </a:r>
          </a:p>
          <a:p>
            <a:pPr>
              <a:spcBef>
                <a:spcPct val="0"/>
              </a:spcBef>
              <a:buFontTx/>
              <a:buNone/>
            </a:pPr>
            <a:r>
              <a:rPr lang="en-US" altLang="zh-CN" sz="2400" dirty="0">
                <a:solidFill>
                  <a:srgbClr val="000000"/>
                </a:solidFill>
                <a:latin typeface="Times New Roman" panose="02020603050405020304" pitchFamily="18" charset="0"/>
                <a:cs typeface="Times New Roman" panose="02020603050405020304" pitchFamily="18" charset="0"/>
              </a:rPr>
              <a:t>5</a:t>
            </a:r>
            <a:r>
              <a:rPr lang="zh-CN" altLang="en-US" sz="2400" dirty="0">
                <a:solidFill>
                  <a:srgbClr val="000000"/>
                </a:solidFill>
                <a:latin typeface="宋体" panose="02010600030101010101" pitchFamily="2" charset="-122"/>
              </a:rPr>
              <a:t>－非磁性材料</a:t>
            </a:r>
            <a:r>
              <a:rPr lang="zh-CN" altLang="en-US" sz="2400" dirty="0"/>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571C707-1E6E-CAA7-4E37-FAED7962A498}"/>
              </a:ext>
            </a:extLst>
          </p:cNvPr>
          <p:cNvSpPr>
            <a:spLocks noGrp="1"/>
          </p:cNvSpPr>
          <p:nvPr>
            <p:ph type="sldNum" sz="quarter" idx="12"/>
          </p:nvPr>
        </p:nvSpPr>
        <p:spPr/>
        <p:txBody>
          <a:bodyPr/>
          <a:lstStyle/>
          <a:p>
            <a:fld id="{76D830B0-DF59-4281-898F-AF208100B213}" type="slidenum">
              <a:rPr lang="en-US" altLang="zh-CN" smtClean="0"/>
              <a:pPr/>
              <a:t>51</a:t>
            </a:fld>
            <a:endParaRPr lang="en-US" altLang="zh-CN"/>
          </a:p>
        </p:txBody>
      </p:sp>
      <p:pic>
        <p:nvPicPr>
          <p:cNvPr id="1026" name="Picture 2">
            <a:extLst>
              <a:ext uri="{FF2B5EF4-FFF2-40B4-BE49-F238E27FC236}">
                <a16:creationId xmlns:a16="http://schemas.microsoft.com/office/drawing/2014/main" id="{DD93ADFC-8C50-D3BB-94DD-F9280CC0D2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431" y="1196752"/>
            <a:ext cx="4286622" cy="24294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AA0F79E-590F-384F-100B-B76C9B9B35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2" y="4036701"/>
            <a:ext cx="5095863" cy="219763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永磁同步电机（PMSM）学习】 内置式永磁同步电机（IPMSM）-CSDN博客">
            <a:extLst>
              <a:ext uri="{FF2B5EF4-FFF2-40B4-BE49-F238E27FC236}">
                <a16:creationId xmlns:a16="http://schemas.microsoft.com/office/drawing/2014/main" id="{55437448-50FC-7314-12B5-0E5926B917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1955" y="223251"/>
            <a:ext cx="3786775" cy="3645024"/>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8" descr="永磁同步无框电机（550W6500rpm）_SOLIDWORKS 2018_模型图纸下载 – 懒石网">
            <a:extLst>
              <a:ext uri="{FF2B5EF4-FFF2-40B4-BE49-F238E27FC236}">
                <a16:creationId xmlns:a16="http://schemas.microsoft.com/office/drawing/2014/main" id="{D7129180-629C-A307-EA43-B4E43A4A0B3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10" descr="永磁同步无框电机（550W6500rpm）_SOLIDWORKS 2018_模型图纸下载 – 懒石网">
            <a:extLst>
              <a:ext uri="{FF2B5EF4-FFF2-40B4-BE49-F238E27FC236}">
                <a16:creationId xmlns:a16="http://schemas.microsoft.com/office/drawing/2014/main" id="{FB1781E3-8611-24A1-68C4-80F5F99D3281}"/>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12" descr="永磁同步无框电机（550W6500rpm）_SOLIDWORKS 2018_模型图纸下载 – 懒石网">
            <a:extLst>
              <a:ext uri="{FF2B5EF4-FFF2-40B4-BE49-F238E27FC236}">
                <a16:creationId xmlns:a16="http://schemas.microsoft.com/office/drawing/2014/main" id="{C5CBAF49-F4DD-C4E8-B2FD-186CF1666A56}"/>
              </a:ext>
            </a:extLst>
          </p:cNvPr>
          <p:cNvSpPr>
            <a:spLocks noChangeAspect="1" noChangeArrowheads="1"/>
          </p:cNvSpPr>
          <p:nvPr/>
        </p:nvSpPr>
        <p:spPr bwMode="auto">
          <a:xfrm>
            <a:off x="6156176" y="443711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14" descr="永磁同步无框电机（550W6500rpm）_SOLIDWORKS 2018_模型图纸下载 – 懒石网">
            <a:extLst>
              <a:ext uri="{FF2B5EF4-FFF2-40B4-BE49-F238E27FC236}">
                <a16:creationId xmlns:a16="http://schemas.microsoft.com/office/drawing/2014/main" id="{DEA7ADAB-7DAC-62BD-8C08-94DF40C25E4C}"/>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AutoShape 16" descr="永磁同步无框电机（550W6500rpm）_SOLIDWORKS 2018_模型图纸下载 – 懒石网">
            <a:extLst>
              <a:ext uri="{FF2B5EF4-FFF2-40B4-BE49-F238E27FC236}">
                <a16:creationId xmlns:a16="http://schemas.microsoft.com/office/drawing/2014/main" id="{73D1FA37-1ED5-4911-B246-9B3A5C43578A}"/>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42" name="Picture 18" descr="【动画图解】新能源汽车上的永磁同步电机原理解析">
            <a:extLst>
              <a:ext uri="{FF2B5EF4-FFF2-40B4-BE49-F238E27FC236}">
                <a16:creationId xmlns:a16="http://schemas.microsoft.com/office/drawing/2014/main" id="{1F3D095A-7B38-173A-A881-C49586BAC1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3181" y="4020675"/>
            <a:ext cx="3713600" cy="270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58434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246A41A-BECF-3FE8-5895-0DA2BEFABE66}"/>
              </a:ext>
            </a:extLst>
          </p:cNvPr>
          <p:cNvSpPr>
            <a:spLocks noGrp="1"/>
          </p:cNvSpPr>
          <p:nvPr>
            <p:ph type="sldNum" sz="quarter" idx="12"/>
          </p:nvPr>
        </p:nvSpPr>
        <p:spPr/>
        <p:txBody>
          <a:bodyPr/>
          <a:lstStyle/>
          <a:p>
            <a:fld id="{76D830B0-DF59-4281-898F-AF208100B213}" type="slidenum">
              <a:rPr lang="en-US" altLang="zh-CN" smtClean="0"/>
              <a:pPr/>
              <a:t>52</a:t>
            </a:fld>
            <a:endParaRPr lang="en-US" altLang="zh-CN"/>
          </a:p>
        </p:txBody>
      </p:sp>
      <p:grpSp>
        <p:nvGrpSpPr>
          <p:cNvPr id="5" name="object 3">
            <a:extLst>
              <a:ext uri="{FF2B5EF4-FFF2-40B4-BE49-F238E27FC236}">
                <a16:creationId xmlns:a16="http://schemas.microsoft.com/office/drawing/2014/main" id="{81A229F5-3A51-A9E7-52B2-8AF7E3EA4ADE}"/>
              </a:ext>
            </a:extLst>
          </p:cNvPr>
          <p:cNvGrpSpPr/>
          <p:nvPr/>
        </p:nvGrpSpPr>
        <p:grpSpPr>
          <a:xfrm>
            <a:off x="1963787" y="1915795"/>
            <a:ext cx="5336540" cy="4942205"/>
            <a:chOff x="1908175" y="1582800"/>
            <a:chExt cx="5336540" cy="4942205"/>
          </a:xfrm>
        </p:grpSpPr>
        <p:pic>
          <p:nvPicPr>
            <p:cNvPr id="6" name="object 4">
              <a:extLst>
                <a:ext uri="{FF2B5EF4-FFF2-40B4-BE49-F238E27FC236}">
                  <a16:creationId xmlns:a16="http://schemas.microsoft.com/office/drawing/2014/main" id="{FF32CBFD-6E1E-3F6C-AE38-F140F96C4FA8}"/>
                </a:ext>
              </a:extLst>
            </p:cNvPr>
            <p:cNvPicPr/>
            <p:nvPr/>
          </p:nvPicPr>
          <p:blipFill>
            <a:blip r:embed="rId2" cstate="print"/>
            <a:stretch>
              <a:fillRect/>
            </a:stretch>
          </p:blipFill>
          <p:spPr>
            <a:xfrm>
              <a:off x="1908175" y="1582800"/>
              <a:ext cx="4925949" cy="4941824"/>
            </a:xfrm>
            <a:prstGeom prst="rect">
              <a:avLst/>
            </a:prstGeom>
          </p:spPr>
        </p:pic>
        <p:sp>
          <p:nvSpPr>
            <p:cNvPr id="7" name="object 5">
              <a:extLst>
                <a:ext uri="{FF2B5EF4-FFF2-40B4-BE49-F238E27FC236}">
                  <a16:creationId xmlns:a16="http://schemas.microsoft.com/office/drawing/2014/main" id="{F06C9FAC-F55F-F88B-C336-4BE39F9B20C3}"/>
                </a:ext>
              </a:extLst>
            </p:cNvPr>
            <p:cNvSpPr/>
            <p:nvPr/>
          </p:nvSpPr>
          <p:spPr>
            <a:xfrm>
              <a:off x="5292725" y="2187955"/>
              <a:ext cx="1951989" cy="2265680"/>
            </a:xfrm>
            <a:custGeom>
              <a:avLst/>
              <a:gdLst/>
              <a:ahLst/>
              <a:cxnLst/>
              <a:rect l="l" t="t" r="r" b="b"/>
              <a:pathLst>
                <a:path w="1951990" h="2265679">
                  <a:moveTo>
                    <a:pt x="1943862" y="2123694"/>
                  </a:moveTo>
                  <a:lnTo>
                    <a:pt x="1942338" y="2085594"/>
                  </a:lnTo>
                  <a:lnTo>
                    <a:pt x="189649" y="2151430"/>
                  </a:lnTo>
                  <a:lnTo>
                    <a:pt x="186817" y="2075307"/>
                  </a:lnTo>
                  <a:lnTo>
                    <a:pt x="0" y="2177669"/>
                  </a:lnTo>
                  <a:lnTo>
                    <a:pt x="193929" y="2265680"/>
                  </a:lnTo>
                  <a:lnTo>
                    <a:pt x="191109" y="2190242"/>
                  </a:lnTo>
                  <a:lnTo>
                    <a:pt x="191071" y="2189530"/>
                  </a:lnTo>
                  <a:lnTo>
                    <a:pt x="1943862" y="2123694"/>
                  </a:lnTo>
                  <a:close/>
                </a:path>
                <a:path w="1951990" h="2265679">
                  <a:moveTo>
                    <a:pt x="1951609" y="34163"/>
                  </a:moveTo>
                  <a:lnTo>
                    <a:pt x="1934591" y="0"/>
                  </a:lnTo>
                  <a:lnTo>
                    <a:pt x="665149" y="634098"/>
                  </a:lnTo>
                  <a:lnTo>
                    <a:pt x="631063" y="565912"/>
                  </a:lnTo>
                  <a:lnTo>
                    <a:pt x="503072" y="736346"/>
                  </a:lnTo>
                  <a:lnTo>
                    <a:pt x="716280" y="736346"/>
                  </a:lnTo>
                  <a:lnTo>
                    <a:pt x="686435" y="676656"/>
                  </a:lnTo>
                  <a:lnTo>
                    <a:pt x="682167" y="668134"/>
                  </a:lnTo>
                  <a:lnTo>
                    <a:pt x="1951609" y="34163"/>
                  </a:lnTo>
                  <a:close/>
                </a:path>
              </a:pathLst>
            </a:custGeom>
            <a:solidFill>
              <a:srgbClr val="FF0000"/>
            </a:solidFill>
          </p:spPr>
          <p:txBody>
            <a:bodyPr wrap="square" lIns="0" tIns="0" rIns="0" bIns="0" rtlCol="0"/>
            <a:lstStyle/>
            <a:p>
              <a:endParaRPr/>
            </a:p>
          </p:txBody>
        </p:sp>
      </p:grpSp>
      <p:sp>
        <p:nvSpPr>
          <p:cNvPr id="8" name="object 6">
            <a:extLst>
              <a:ext uri="{FF2B5EF4-FFF2-40B4-BE49-F238E27FC236}">
                <a16:creationId xmlns:a16="http://schemas.microsoft.com/office/drawing/2014/main" id="{CB9A317A-787E-6C39-8CC2-747940342FA2}"/>
              </a:ext>
            </a:extLst>
          </p:cNvPr>
          <p:cNvSpPr txBox="1"/>
          <p:nvPr/>
        </p:nvSpPr>
        <p:spPr>
          <a:xfrm>
            <a:off x="244525" y="1041175"/>
            <a:ext cx="8775065" cy="2497992"/>
          </a:xfrm>
          <a:prstGeom prst="rect">
            <a:avLst/>
          </a:prstGeom>
        </p:spPr>
        <p:txBody>
          <a:bodyPr vert="horz" wrap="square" lIns="0" tIns="13335" rIns="0" bIns="0" rtlCol="0">
            <a:spAutoFit/>
          </a:bodyPr>
          <a:lstStyle/>
          <a:p>
            <a:pPr marL="12700">
              <a:lnSpc>
                <a:spcPct val="100000"/>
              </a:lnSpc>
              <a:spcBef>
                <a:spcPts val="105"/>
              </a:spcBef>
              <a:buClr>
                <a:srgbClr val="E20034"/>
              </a:buClr>
              <a:tabLst>
                <a:tab pos="286385" algn="l"/>
              </a:tabLst>
            </a:pPr>
            <a:r>
              <a:rPr lang="zh-CN" altLang="en-US" sz="2800" spc="-20" dirty="0">
                <a:solidFill>
                  <a:srgbClr val="002049"/>
                </a:solidFill>
                <a:latin typeface="宋体"/>
                <a:cs typeface="宋体"/>
              </a:rPr>
              <a:t>永磁同步电机</a:t>
            </a:r>
            <a:r>
              <a:rPr sz="2800" spc="-20" dirty="0" err="1">
                <a:solidFill>
                  <a:srgbClr val="002049"/>
                </a:solidFill>
                <a:latin typeface="宋体"/>
                <a:cs typeface="宋体"/>
              </a:rPr>
              <a:t>利用</a:t>
            </a:r>
            <a:r>
              <a:rPr lang="zh-CN" altLang="en-US" sz="2800" spc="-20" dirty="0">
                <a:solidFill>
                  <a:srgbClr val="002049"/>
                </a:solidFill>
                <a:latin typeface="宋体"/>
                <a:cs typeface="宋体"/>
              </a:rPr>
              <a:t>三相电枢线圈建立的旋转磁场</a:t>
            </a:r>
            <a:r>
              <a:rPr sz="2800" spc="-20" dirty="0" err="1">
                <a:solidFill>
                  <a:srgbClr val="002049"/>
                </a:solidFill>
                <a:latin typeface="宋体"/>
                <a:cs typeface="宋体"/>
              </a:rPr>
              <a:t>和永磁体的相互作用</a:t>
            </a:r>
            <a:endParaRPr sz="2800" dirty="0">
              <a:latin typeface="宋体"/>
              <a:cs typeface="宋体"/>
            </a:endParaRPr>
          </a:p>
          <a:p>
            <a:pPr>
              <a:lnSpc>
                <a:spcPct val="100000"/>
              </a:lnSpc>
              <a:spcBef>
                <a:spcPts val="1670"/>
              </a:spcBef>
            </a:pPr>
            <a:endParaRPr sz="2000" dirty="0">
              <a:latin typeface="宋体"/>
              <a:cs typeface="宋体"/>
            </a:endParaRPr>
          </a:p>
          <a:p>
            <a:pPr marL="7161530" marR="5080">
              <a:lnSpc>
                <a:spcPct val="99100"/>
              </a:lnSpc>
              <a:spcBef>
                <a:spcPts val="5"/>
              </a:spcBef>
            </a:pPr>
            <a:r>
              <a:rPr sz="1800" dirty="0">
                <a:solidFill>
                  <a:srgbClr val="002049"/>
                </a:solidFill>
                <a:latin typeface="宋体"/>
                <a:cs typeface="宋体"/>
              </a:rPr>
              <a:t>定子（</a:t>
            </a:r>
            <a:r>
              <a:rPr sz="1800" spc="-20" dirty="0">
                <a:solidFill>
                  <a:srgbClr val="002049"/>
                </a:solidFill>
                <a:latin typeface="宋体"/>
                <a:cs typeface="宋体"/>
              </a:rPr>
              <a:t>通电线</a:t>
            </a:r>
            <a:r>
              <a:rPr sz="1800" spc="-50" dirty="0">
                <a:solidFill>
                  <a:srgbClr val="002049"/>
                </a:solidFill>
                <a:latin typeface="宋体"/>
                <a:cs typeface="宋体"/>
              </a:rPr>
              <a:t> </a:t>
            </a:r>
            <a:r>
              <a:rPr sz="1800" dirty="0">
                <a:solidFill>
                  <a:srgbClr val="002049"/>
                </a:solidFill>
                <a:latin typeface="宋体"/>
                <a:cs typeface="宋体"/>
              </a:rPr>
              <a:t>圈），</a:t>
            </a:r>
            <a:r>
              <a:rPr sz="1800" spc="-15" dirty="0">
                <a:solidFill>
                  <a:srgbClr val="002049"/>
                </a:solidFill>
                <a:latin typeface="宋体"/>
                <a:cs typeface="宋体"/>
              </a:rPr>
              <a:t>定子绕组</a:t>
            </a:r>
            <a:r>
              <a:rPr sz="1800" spc="-10" dirty="0">
                <a:solidFill>
                  <a:srgbClr val="002049"/>
                </a:solidFill>
                <a:latin typeface="宋体"/>
                <a:cs typeface="宋体"/>
              </a:rPr>
              <a:t>多采用三相并以</a:t>
            </a:r>
            <a:r>
              <a:rPr sz="1800" spc="-20" dirty="0">
                <a:solidFill>
                  <a:srgbClr val="002049"/>
                </a:solidFill>
                <a:latin typeface="宋体"/>
                <a:cs typeface="宋体"/>
              </a:rPr>
              <a:t>星形方式连接</a:t>
            </a:r>
            <a:endParaRPr sz="1800" dirty="0">
              <a:latin typeface="宋体"/>
              <a:cs typeface="宋体"/>
            </a:endParaRPr>
          </a:p>
        </p:txBody>
      </p:sp>
      <p:sp>
        <p:nvSpPr>
          <p:cNvPr id="9" name="object 7">
            <a:extLst>
              <a:ext uri="{FF2B5EF4-FFF2-40B4-BE49-F238E27FC236}">
                <a16:creationId xmlns:a16="http://schemas.microsoft.com/office/drawing/2014/main" id="{D36AC4A1-7D12-44C5-DB97-6F54845CE42D}"/>
              </a:ext>
            </a:extLst>
          </p:cNvPr>
          <p:cNvSpPr txBox="1"/>
          <p:nvPr/>
        </p:nvSpPr>
        <p:spPr>
          <a:xfrm>
            <a:off x="7342123" y="4174363"/>
            <a:ext cx="16256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2049"/>
                </a:solidFill>
                <a:latin typeface="宋体"/>
                <a:cs typeface="宋体"/>
              </a:rPr>
              <a:t>转子（永磁体</a:t>
            </a:r>
            <a:r>
              <a:rPr sz="1800" spc="-50" dirty="0">
                <a:solidFill>
                  <a:srgbClr val="002049"/>
                </a:solidFill>
                <a:latin typeface="宋体"/>
                <a:cs typeface="宋体"/>
              </a:rPr>
              <a:t>）</a:t>
            </a:r>
            <a:endParaRPr sz="1800" dirty="0">
              <a:latin typeface="宋体"/>
              <a:cs typeface="宋体"/>
            </a:endParaRPr>
          </a:p>
        </p:txBody>
      </p:sp>
    </p:spTree>
    <p:extLst>
      <p:ext uri="{BB962C8B-B14F-4D97-AF65-F5344CB8AC3E}">
        <p14:creationId xmlns:p14="http://schemas.microsoft.com/office/powerpoint/2010/main" val="35635591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a:extLst>
              <a:ext uri="{FF2B5EF4-FFF2-40B4-BE49-F238E27FC236}">
                <a16:creationId xmlns:a16="http://schemas.microsoft.com/office/drawing/2014/main" id="{02B9E2EB-1E86-1EA6-A241-A2EFC1FAFE2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0067256-E49D-4373-A0BB-AB6CA61A69B6}" type="slidenum">
              <a:rPr lang="en-US" altLang="zh-CN" sz="1400" smtClean="0"/>
              <a:pPr>
                <a:spcBef>
                  <a:spcPct val="0"/>
                </a:spcBef>
                <a:buFontTx/>
                <a:buNone/>
              </a:pPr>
              <a:t>53</a:t>
            </a:fld>
            <a:endParaRPr lang="en-US" altLang="zh-CN" sz="1400"/>
          </a:p>
        </p:txBody>
      </p:sp>
      <p:sp>
        <p:nvSpPr>
          <p:cNvPr id="21507" name="Rectangle 2">
            <a:extLst>
              <a:ext uri="{FF2B5EF4-FFF2-40B4-BE49-F238E27FC236}">
                <a16:creationId xmlns:a16="http://schemas.microsoft.com/office/drawing/2014/main" id="{15ABEE9D-EDB4-03F6-4349-59F5F46A53E4}"/>
              </a:ext>
            </a:extLst>
          </p:cNvPr>
          <p:cNvSpPr>
            <a:spLocks noGrp="1" noChangeArrowheads="1"/>
          </p:cNvSpPr>
          <p:nvPr>
            <p:ph type="title"/>
          </p:nvPr>
        </p:nvSpPr>
        <p:spPr>
          <a:xfrm>
            <a:off x="381000" y="598488"/>
            <a:ext cx="8229600" cy="1143000"/>
          </a:xfrm>
        </p:spPr>
        <p:txBody>
          <a:bodyPr/>
          <a:lstStyle/>
          <a:p>
            <a:pPr eaLnBrk="1" hangingPunct="1"/>
            <a:r>
              <a:rPr lang="zh-CN" altLang="en-US" dirty="0">
                <a:solidFill>
                  <a:srgbClr val="000000"/>
                </a:solidFill>
                <a:latin typeface="宋体" panose="02010600030101010101" pitchFamily="2" charset="-122"/>
              </a:rPr>
              <a:t>永磁同步电动机的矩角特性</a:t>
            </a:r>
            <a:r>
              <a:rPr lang="zh-CN" altLang="en-US" dirty="0"/>
              <a:t> </a:t>
            </a:r>
          </a:p>
        </p:txBody>
      </p:sp>
      <p:sp>
        <p:nvSpPr>
          <p:cNvPr id="21508" name="Rectangle 3">
            <a:extLst>
              <a:ext uri="{FF2B5EF4-FFF2-40B4-BE49-F238E27FC236}">
                <a16:creationId xmlns:a16="http://schemas.microsoft.com/office/drawing/2014/main" id="{8C47FD4A-CCBE-5FBF-9A2E-10CF0556D846}"/>
              </a:ext>
            </a:extLst>
          </p:cNvPr>
          <p:cNvSpPr>
            <a:spLocks noGrp="1" noChangeArrowheads="1"/>
          </p:cNvSpPr>
          <p:nvPr>
            <p:ph type="body" idx="1"/>
          </p:nvPr>
        </p:nvSpPr>
        <p:spPr>
          <a:xfrm>
            <a:off x="261938" y="1775778"/>
            <a:ext cx="3505200" cy="5181600"/>
          </a:xfrm>
        </p:spPr>
        <p:txBody>
          <a:bodyPr/>
          <a:lstStyle/>
          <a:p>
            <a:pPr eaLnBrk="1" hangingPunct="1">
              <a:lnSpc>
                <a:spcPct val="90000"/>
              </a:lnSpc>
            </a:pPr>
            <a:r>
              <a:rPr lang="zh-CN" altLang="en-US" sz="2800" dirty="0">
                <a:solidFill>
                  <a:srgbClr val="000000"/>
                </a:solidFill>
                <a:latin typeface="Times New Roman" panose="02020603050405020304" pitchFamily="18" charset="0"/>
              </a:rPr>
              <a:t>由于永磁同步电动机</a:t>
            </a:r>
            <a:r>
              <a:rPr lang="zh-CN" altLang="en-US" sz="2800" dirty="0">
                <a:solidFill>
                  <a:srgbClr val="FF0000"/>
                </a:solidFill>
                <a:latin typeface="Times New Roman" panose="02020603050405020304" pitchFamily="18" charset="0"/>
              </a:rPr>
              <a:t>直轴同步电抗一般比交轴的小</a:t>
            </a:r>
            <a:r>
              <a:rPr lang="zh-CN" altLang="en-US" sz="2800" dirty="0">
                <a:solidFill>
                  <a:srgbClr val="000000"/>
                </a:solidFill>
                <a:latin typeface="Times New Roman" panose="02020603050405020304" pitchFamily="18" charset="0"/>
              </a:rPr>
              <a:t>，磁阻转矩为一负正弦函数，因而矩角特性曲线上转矩最大值对应的转矩角一般</a:t>
            </a:r>
            <a:r>
              <a:rPr lang="zh-CN" altLang="en-US" sz="2800" b="1" dirty="0">
                <a:solidFill>
                  <a:srgbClr val="FF0000"/>
                </a:solidFill>
                <a:latin typeface="Times New Roman" panose="02020603050405020304" pitchFamily="18" charset="0"/>
              </a:rPr>
              <a:t>大于</a:t>
            </a:r>
            <a:r>
              <a:rPr lang="en-US" altLang="zh-CN" sz="2800" b="1" dirty="0">
                <a:solidFill>
                  <a:srgbClr val="FF0000"/>
                </a:solidFill>
                <a:latin typeface="Times New Roman" panose="02020603050405020304" pitchFamily="18" charset="0"/>
                <a:cs typeface="Times New Roman" panose="02020603050405020304" pitchFamily="18" charset="0"/>
              </a:rPr>
              <a:t>90</a:t>
            </a:r>
            <a:r>
              <a:rPr lang="zh-CN" altLang="en-US" sz="2800" b="1" dirty="0">
                <a:solidFill>
                  <a:srgbClr val="FF0000"/>
                </a:solidFill>
                <a:latin typeface="Times New Roman" panose="02020603050405020304" pitchFamily="18" charset="0"/>
              </a:rPr>
              <a:t>度</a:t>
            </a:r>
            <a:r>
              <a:rPr lang="zh-CN" altLang="en-US" sz="2800" dirty="0">
                <a:solidFill>
                  <a:srgbClr val="000000"/>
                </a:solidFill>
                <a:latin typeface="Times New Roman" panose="02020603050405020304" pitchFamily="18" charset="0"/>
              </a:rPr>
              <a:t>，而不象电励磁凸极同步电动机那样小于</a:t>
            </a:r>
            <a:r>
              <a:rPr lang="en-US" altLang="zh-CN" sz="2800" dirty="0">
                <a:solidFill>
                  <a:srgbClr val="000000"/>
                </a:solidFill>
                <a:latin typeface="Times New Roman" panose="02020603050405020304" pitchFamily="18" charset="0"/>
                <a:cs typeface="Times New Roman" panose="02020603050405020304" pitchFamily="18" charset="0"/>
              </a:rPr>
              <a:t>90</a:t>
            </a:r>
            <a:r>
              <a:rPr lang="zh-CN" altLang="en-US" sz="2800" dirty="0">
                <a:solidFill>
                  <a:srgbClr val="000000"/>
                </a:solidFill>
                <a:latin typeface="Times New Roman" panose="02020603050405020304" pitchFamily="18" charset="0"/>
              </a:rPr>
              <a:t>度，这是永磁同步电动机一个值得注意的特点。</a:t>
            </a:r>
            <a:endParaRPr lang="zh-CN" altLang="en-US" sz="2800" b="1" dirty="0">
              <a:solidFill>
                <a:srgbClr val="FF0000"/>
              </a:solidFill>
              <a:latin typeface="宋体" panose="02010600030101010101" pitchFamily="2" charset="-122"/>
            </a:endParaRPr>
          </a:p>
          <a:p>
            <a:pPr eaLnBrk="1" hangingPunct="1">
              <a:lnSpc>
                <a:spcPct val="90000"/>
              </a:lnSpc>
            </a:pPr>
            <a:endParaRPr lang="en-US" altLang="zh-CN" sz="2800" dirty="0"/>
          </a:p>
        </p:txBody>
      </p:sp>
      <p:sp>
        <p:nvSpPr>
          <p:cNvPr id="21509" name="Rectangle 5">
            <a:extLst>
              <a:ext uri="{FF2B5EF4-FFF2-40B4-BE49-F238E27FC236}">
                <a16:creationId xmlns:a16="http://schemas.microsoft.com/office/drawing/2014/main" id="{E4570553-F543-5426-58C7-2118F1CAF562}"/>
              </a:ext>
            </a:extLst>
          </p:cNvPr>
          <p:cNvSpPr>
            <a:spLocks noChangeArrowheads="1"/>
          </p:cNvSpPr>
          <p:nvPr/>
        </p:nvSpPr>
        <p:spPr bwMode="auto">
          <a:xfrm>
            <a:off x="3400425" y="2538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pic>
        <p:nvPicPr>
          <p:cNvPr id="21510" name="Picture 4" descr="永磁曲线">
            <a:extLst>
              <a:ext uri="{FF2B5EF4-FFF2-40B4-BE49-F238E27FC236}">
                <a16:creationId xmlns:a16="http://schemas.microsoft.com/office/drawing/2014/main" id="{AF6D836F-5299-FB3D-3DBB-717F8930F5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2895600"/>
            <a:ext cx="4343400"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Rectangle 7">
            <a:extLst>
              <a:ext uri="{FF2B5EF4-FFF2-40B4-BE49-F238E27FC236}">
                <a16:creationId xmlns:a16="http://schemas.microsoft.com/office/drawing/2014/main" id="{62E00BEC-127F-EEF3-8D9A-357B5DC8AD68}"/>
              </a:ext>
            </a:extLst>
          </p:cNvPr>
          <p:cNvSpPr>
            <a:spLocks noChangeArrowheads="1"/>
          </p:cNvSpPr>
          <p:nvPr/>
        </p:nvSpPr>
        <p:spPr bwMode="auto">
          <a:xfrm>
            <a:off x="3267075" y="3190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21512" name="Object 6">
            <a:extLst>
              <a:ext uri="{FF2B5EF4-FFF2-40B4-BE49-F238E27FC236}">
                <a16:creationId xmlns:a16="http://schemas.microsoft.com/office/drawing/2014/main" id="{A972A4D4-A8A9-E07D-E4E9-22C18B816AEB}"/>
              </a:ext>
            </a:extLst>
          </p:cNvPr>
          <p:cNvGraphicFramePr>
            <a:graphicFrameLocks noChangeAspect="1"/>
          </p:cNvGraphicFramePr>
          <p:nvPr>
            <p:extLst>
              <p:ext uri="{D42A27DB-BD31-4B8C-83A1-F6EECF244321}">
                <p14:modId xmlns:p14="http://schemas.microsoft.com/office/powerpoint/2010/main" val="398512365"/>
              </p:ext>
            </p:extLst>
          </p:nvPr>
        </p:nvGraphicFramePr>
        <p:xfrm>
          <a:off x="3924300" y="1651794"/>
          <a:ext cx="5029200" cy="917575"/>
        </p:xfrm>
        <a:graphic>
          <a:graphicData uri="http://schemas.openxmlformats.org/presentationml/2006/ole">
            <mc:AlternateContent xmlns:mc="http://schemas.openxmlformats.org/markup-compatibility/2006">
              <mc:Choice xmlns:v="urn:schemas-microsoft-com:vml" Requires="v">
                <p:oleObj r:id="rId3" imgW="2997200" imgH="546100" progId="Equation.DSMT4">
                  <p:embed/>
                </p:oleObj>
              </mc:Choice>
              <mc:Fallback>
                <p:oleObj r:id="rId3" imgW="2997200" imgH="546100" progId="Equation.DSMT4">
                  <p:embed/>
                  <p:pic>
                    <p:nvPicPr>
                      <p:cNvPr id="21512" name="Object 6">
                        <a:extLst>
                          <a:ext uri="{FF2B5EF4-FFF2-40B4-BE49-F238E27FC236}">
                            <a16:creationId xmlns:a16="http://schemas.microsoft.com/office/drawing/2014/main" id="{A972A4D4-A8A9-E07D-E4E9-22C18B816A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300" y="1651794"/>
                        <a:ext cx="5029200"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C1D3BDA2-B213-EDF1-45A1-7FAC0A05200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8C87F18-1FE8-47EE-94D8-0FEDC42C02E5}" type="slidenum">
              <a:rPr lang="en-US" altLang="zh-CN" sz="1400" smtClean="0"/>
              <a:pPr>
                <a:spcBef>
                  <a:spcPct val="0"/>
                </a:spcBef>
                <a:buFontTx/>
                <a:buNone/>
              </a:pPr>
              <a:t>54</a:t>
            </a:fld>
            <a:endParaRPr lang="en-US" altLang="zh-CN" sz="1400"/>
          </a:p>
        </p:txBody>
      </p:sp>
      <p:sp>
        <p:nvSpPr>
          <p:cNvPr id="22531" name="Rectangle 2">
            <a:extLst>
              <a:ext uri="{FF2B5EF4-FFF2-40B4-BE49-F238E27FC236}">
                <a16:creationId xmlns:a16="http://schemas.microsoft.com/office/drawing/2014/main" id="{EB197656-51C2-5695-CD1F-155E9F5013B1}"/>
              </a:ext>
            </a:extLst>
          </p:cNvPr>
          <p:cNvSpPr>
            <a:spLocks noGrp="1" noChangeArrowheads="1"/>
          </p:cNvSpPr>
          <p:nvPr>
            <p:ph type="title"/>
          </p:nvPr>
        </p:nvSpPr>
        <p:spPr>
          <a:xfrm>
            <a:off x="457200" y="898189"/>
            <a:ext cx="8229600" cy="715962"/>
          </a:xfrm>
        </p:spPr>
        <p:txBody>
          <a:bodyPr/>
          <a:lstStyle/>
          <a:p>
            <a:pPr eaLnBrk="1" hangingPunct="1"/>
            <a:r>
              <a:rPr lang="zh-CN" altLang="en-US" sz="3200" dirty="0">
                <a:solidFill>
                  <a:srgbClr val="FF0000"/>
                </a:solidFill>
                <a:latin typeface="宋体" panose="02010600030101010101" pitchFamily="2" charset="-122"/>
              </a:rPr>
              <a:t>永磁同步电动机的特点</a:t>
            </a:r>
            <a:r>
              <a:rPr lang="zh-CN" altLang="en-US" dirty="0">
                <a:solidFill>
                  <a:srgbClr val="FF0000"/>
                </a:solidFill>
              </a:rPr>
              <a:t> </a:t>
            </a:r>
          </a:p>
        </p:txBody>
      </p:sp>
      <p:sp>
        <p:nvSpPr>
          <p:cNvPr id="22532" name="Rectangle 3">
            <a:extLst>
              <a:ext uri="{FF2B5EF4-FFF2-40B4-BE49-F238E27FC236}">
                <a16:creationId xmlns:a16="http://schemas.microsoft.com/office/drawing/2014/main" id="{B999C5F6-A614-B86C-2698-77BE9DE96021}"/>
              </a:ext>
            </a:extLst>
          </p:cNvPr>
          <p:cNvSpPr>
            <a:spLocks noGrp="1" noChangeArrowheads="1"/>
          </p:cNvSpPr>
          <p:nvPr>
            <p:ph type="body" idx="1"/>
          </p:nvPr>
        </p:nvSpPr>
        <p:spPr>
          <a:xfrm>
            <a:off x="342900" y="1916832"/>
            <a:ext cx="8458200" cy="2667000"/>
          </a:xfrm>
        </p:spPr>
        <p:txBody>
          <a:bodyPr/>
          <a:lstStyle/>
          <a:p>
            <a:pPr eaLnBrk="1" hangingPunct="1">
              <a:lnSpc>
                <a:spcPct val="90000"/>
              </a:lnSpc>
            </a:pPr>
            <a:r>
              <a:rPr lang="zh-CN" altLang="en-US" sz="2800" dirty="0">
                <a:solidFill>
                  <a:srgbClr val="000000"/>
                </a:solidFill>
                <a:latin typeface="宋体" panose="02010600030101010101" pitchFamily="2" charset="-122"/>
              </a:rPr>
              <a:t>由于永磁体一般已经充分磁饱和，磁导率近似等于</a:t>
            </a:r>
            <a:r>
              <a:rPr lang="en-US" altLang="zh-CN" sz="2800" dirty="0">
                <a:solidFill>
                  <a:srgbClr val="000000"/>
                </a:solidFill>
                <a:latin typeface="宋体" panose="02010600030101010101" pitchFamily="2" charset="-122"/>
              </a:rPr>
              <a:t>1</a:t>
            </a:r>
            <a:r>
              <a:rPr lang="zh-CN" altLang="en-US" sz="2800" dirty="0">
                <a:solidFill>
                  <a:srgbClr val="000000"/>
                </a:solidFill>
                <a:latin typeface="宋体" panose="02010600030101010101" pitchFamily="2" charset="-122"/>
              </a:rPr>
              <a:t>，与空气磁导率相近，其直轴同步电抗基本不随电枢反应变化，但交轴方向磁路主要由气隙和非永磁体的铁心组成，电枢反应引起的磁饱和去磁效应会对交轴同步电抗产生较大影响。</a:t>
            </a:r>
            <a:r>
              <a:rPr lang="zh-CN" altLang="en-US" dirty="0"/>
              <a:t> </a:t>
            </a:r>
          </a:p>
        </p:txBody>
      </p:sp>
      <p:sp>
        <p:nvSpPr>
          <p:cNvPr id="22533" name="Text Box 19">
            <a:extLst>
              <a:ext uri="{FF2B5EF4-FFF2-40B4-BE49-F238E27FC236}">
                <a16:creationId xmlns:a16="http://schemas.microsoft.com/office/drawing/2014/main" id="{DD69F954-5102-C1B0-6A8C-22DC0135350E}"/>
              </a:ext>
            </a:extLst>
          </p:cNvPr>
          <p:cNvSpPr txBox="1">
            <a:spLocks noChangeArrowheads="1"/>
          </p:cNvSpPr>
          <p:nvPr/>
        </p:nvSpPr>
        <p:spPr bwMode="auto">
          <a:xfrm>
            <a:off x="517525" y="4720629"/>
            <a:ext cx="81692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a:spcBef>
                <a:spcPct val="0"/>
              </a:spcBef>
            </a:pPr>
            <a:r>
              <a:rPr lang="zh-CN" altLang="en-US" sz="2800" dirty="0">
                <a:solidFill>
                  <a:srgbClr val="000000"/>
                </a:solidFill>
                <a:latin typeface="宋体" panose="02010600030101010101" pitchFamily="2" charset="-122"/>
              </a:rPr>
              <a:t>永磁同步电动机直轴同步电抗小于交轴同步电抗。</a:t>
            </a:r>
            <a:r>
              <a:rPr lang="zh-CN" altLang="en-US" sz="2400" dirty="0"/>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a:extLst>
              <a:ext uri="{FF2B5EF4-FFF2-40B4-BE49-F238E27FC236}">
                <a16:creationId xmlns:a16="http://schemas.microsoft.com/office/drawing/2014/main" id="{36F4160D-9FFE-B13F-D2EA-69211372BA5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875DDDB-2883-4AEA-9E71-07F79094A247}" type="slidenum">
              <a:rPr lang="en-US" altLang="zh-CN" sz="1400" smtClean="0"/>
              <a:pPr>
                <a:spcBef>
                  <a:spcPct val="0"/>
                </a:spcBef>
                <a:buFontTx/>
                <a:buNone/>
              </a:pPr>
              <a:t>55</a:t>
            </a:fld>
            <a:endParaRPr lang="en-US" altLang="zh-CN" sz="1400"/>
          </a:p>
        </p:txBody>
      </p:sp>
      <p:sp>
        <p:nvSpPr>
          <p:cNvPr id="23555" name="Rectangle 2">
            <a:extLst>
              <a:ext uri="{FF2B5EF4-FFF2-40B4-BE49-F238E27FC236}">
                <a16:creationId xmlns:a16="http://schemas.microsoft.com/office/drawing/2014/main" id="{CFDA18AE-0FED-FDC0-9D76-F463FF7082D1}"/>
              </a:ext>
            </a:extLst>
          </p:cNvPr>
          <p:cNvSpPr>
            <a:spLocks noGrp="1" noChangeArrowheads="1"/>
          </p:cNvSpPr>
          <p:nvPr>
            <p:ph type="title"/>
          </p:nvPr>
        </p:nvSpPr>
        <p:spPr>
          <a:xfrm>
            <a:off x="428620" y="845022"/>
            <a:ext cx="8229600" cy="563562"/>
          </a:xfrm>
        </p:spPr>
        <p:txBody>
          <a:bodyPr/>
          <a:lstStyle/>
          <a:p>
            <a:pPr eaLnBrk="1" hangingPunct="1"/>
            <a:r>
              <a:rPr lang="zh-CN" altLang="en-US" sz="3200">
                <a:solidFill>
                  <a:srgbClr val="000000"/>
                </a:solidFill>
              </a:rPr>
              <a:t>径向式磁化与切向式磁化永磁转子</a:t>
            </a:r>
          </a:p>
        </p:txBody>
      </p:sp>
      <p:pic>
        <p:nvPicPr>
          <p:cNvPr id="23556" name="Picture 4" descr="永磁无刷转子">
            <a:extLst>
              <a:ext uri="{FF2B5EF4-FFF2-40B4-BE49-F238E27FC236}">
                <a16:creationId xmlns:a16="http://schemas.microsoft.com/office/drawing/2014/main" id="{BB5217A9-4910-8D3F-C564-ACA32654E1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620" y="1484784"/>
            <a:ext cx="4953000"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Text Box 6">
            <a:extLst>
              <a:ext uri="{FF2B5EF4-FFF2-40B4-BE49-F238E27FC236}">
                <a16:creationId xmlns:a16="http://schemas.microsoft.com/office/drawing/2014/main" id="{028D07C4-DA7C-88FE-24B1-D6A4410C2396}"/>
              </a:ext>
            </a:extLst>
          </p:cNvPr>
          <p:cNvSpPr txBox="1">
            <a:spLocks noChangeArrowheads="1"/>
          </p:cNvSpPr>
          <p:nvPr/>
        </p:nvSpPr>
        <p:spPr bwMode="auto">
          <a:xfrm>
            <a:off x="5762620" y="1637184"/>
            <a:ext cx="2438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t>1</a:t>
            </a:r>
            <a:r>
              <a:rPr lang="zh-CN" altLang="en-US" sz="2400"/>
              <a:t>：不锈钢紧圈；</a:t>
            </a:r>
            <a:r>
              <a:rPr lang="en-US" altLang="zh-CN" sz="2400"/>
              <a:t>2</a:t>
            </a:r>
            <a:r>
              <a:rPr lang="zh-CN" altLang="en-US" sz="2400"/>
              <a:t>：永磁体；</a:t>
            </a:r>
            <a:r>
              <a:rPr lang="en-US" altLang="zh-CN" sz="2400"/>
              <a:t>3</a:t>
            </a:r>
            <a:r>
              <a:rPr lang="zh-CN" altLang="en-US" sz="2400"/>
              <a:t>铁心</a:t>
            </a:r>
          </a:p>
        </p:txBody>
      </p:sp>
      <p:sp>
        <p:nvSpPr>
          <p:cNvPr id="23558" name="Text Box 7">
            <a:extLst>
              <a:ext uri="{FF2B5EF4-FFF2-40B4-BE49-F238E27FC236}">
                <a16:creationId xmlns:a16="http://schemas.microsoft.com/office/drawing/2014/main" id="{361EC939-718F-DEF7-EE30-52E3395640E4}"/>
              </a:ext>
            </a:extLst>
          </p:cNvPr>
          <p:cNvSpPr txBox="1">
            <a:spLocks noChangeArrowheads="1"/>
          </p:cNvSpPr>
          <p:nvPr/>
        </p:nvSpPr>
        <p:spPr bwMode="auto">
          <a:xfrm>
            <a:off x="76200" y="4133111"/>
            <a:ext cx="86106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solidFill>
                  <a:srgbClr val="000000"/>
                </a:solidFill>
              </a:rPr>
              <a:t>对永久磁铁紧贴在转子表面的一类永磁同步电动机，由于不易弱磁，调速范围一般控制在额定转速以下或略高于额定转速范围。需要高速运行时，可采用内置式或切向式。永磁转子，这时采用现代交流传动控制技术，通过对定子电枢电压、频率和电流的控制可以减弱气隙磁通，使电动机获得</a:t>
            </a:r>
            <a:r>
              <a:rPr lang="zh-CN" altLang="en-US" sz="2400" dirty="0">
                <a:solidFill>
                  <a:srgbClr val="FF0000"/>
                </a:solidFill>
              </a:rPr>
              <a:t>超过</a:t>
            </a:r>
            <a:r>
              <a:rPr lang="zh-CN" altLang="en-US" sz="2400" dirty="0">
                <a:solidFill>
                  <a:srgbClr val="000000"/>
                </a:solidFill>
              </a:rPr>
              <a:t>直流电机弱磁那样近似恒功率运行的特性，在较高的转速下运行，也可以对功率因数进行调节。</a:t>
            </a:r>
            <a:endParaRPr lang="zh-CN" altLang="en-US" sz="2400" b="1" dirty="0">
              <a:solidFill>
                <a:srgbClr val="FF0000"/>
              </a:solidFill>
              <a:latin typeface="宋体" panose="02010600030101010101" pitchFamily="2" charset="-122"/>
            </a:endParaRPr>
          </a:p>
          <a:p>
            <a:pPr eaLnBrk="1" hangingPunct="1">
              <a:spcBef>
                <a:spcPct val="0"/>
              </a:spcBef>
              <a:buFontTx/>
              <a:buNone/>
            </a:pPr>
            <a:endParaRPr lang="en-US" altLang="zh-CN"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a:extLst>
              <a:ext uri="{FF2B5EF4-FFF2-40B4-BE49-F238E27FC236}">
                <a16:creationId xmlns:a16="http://schemas.microsoft.com/office/drawing/2014/main" id="{4E7B4B04-CFDA-FC6D-27D1-DD904F8A898D}"/>
              </a:ext>
            </a:extLst>
          </p:cNvPr>
          <p:cNvSpPr>
            <a:spLocks noGrp="1"/>
          </p:cNvSpPr>
          <p:nvPr>
            <p:ph type="sldNum" sz="quarter" idx="12"/>
          </p:nvPr>
        </p:nvSpPr>
        <p:spPr>
          <a:xfrm>
            <a:off x="6533346" y="6350888"/>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C779C85-4D23-4413-9F67-01F6930B8E31}" type="slidenum">
              <a:rPr lang="en-US" altLang="zh-CN" sz="1400" smtClean="0"/>
              <a:pPr>
                <a:spcBef>
                  <a:spcPct val="0"/>
                </a:spcBef>
                <a:buFontTx/>
                <a:buNone/>
              </a:pPr>
              <a:t>56</a:t>
            </a:fld>
            <a:endParaRPr lang="en-US" altLang="zh-CN" sz="1400"/>
          </a:p>
        </p:txBody>
      </p:sp>
      <p:sp>
        <p:nvSpPr>
          <p:cNvPr id="24579" name="Rectangle 2">
            <a:extLst>
              <a:ext uri="{FF2B5EF4-FFF2-40B4-BE49-F238E27FC236}">
                <a16:creationId xmlns:a16="http://schemas.microsoft.com/office/drawing/2014/main" id="{367460EB-4936-2E4A-5916-AC28BFE8BBD0}"/>
              </a:ext>
            </a:extLst>
          </p:cNvPr>
          <p:cNvSpPr>
            <a:spLocks noGrp="1" noChangeArrowheads="1"/>
          </p:cNvSpPr>
          <p:nvPr>
            <p:ph type="title"/>
          </p:nvPr>
        </p:nvSpPr>
        <p:spPr>
          <a:xfrm>
            <a:off x="319638" y="492125"/>
            <a:ext cx="8229600" cy="1143000"/>
          </a:xfrm>
        </p:spPr>
        <p:txBody>
          <a:bodyPr/>
          <a:lstStyle/>
          <a:p>
            <a:pPr eaLnBrk="1" hangingPunct="1"/>
            <a:r>
              <a:rPr lang="zh-CN" altLang="en-US" sz="3200" b="1" dirty="0">
                <a:solidFill>
                  <a:srgbClr val="000000"/>
                </a:solidFill>
                <a:latin typeface="宋体" panose="02010600030101010101" pitchFamily="2" charset="-122"/>
              </a:rPr>
              <a:t>永磁同步电动机的效率与功率因数特性</a:t>
            </a:r>
          </a:p>
        </p:txBody>
      </p:sp>
      <p:sp>
        <p:nvSpPr>
          <p:cNvPr id="24580" name="Text Box 4">
            <a:extLst>
              <a:ext uri="{FF2B5EF4-FFF2-40B4-BE49-F238E27FC236}">
                <a16:creationId xmlns:a16="http://schemas.microsoft.com/office/drawing/2014/main" id="{EA8864E0-7DD9-470A-9D9C-395393419D3B}"/>
              </a:ext>
            </a:extLst>
          </p:cNvPr>
          <p:cNvSpPr txBox="1">
            <a:spLocks noChangeArrowheads="1"/>
          </p:cNvSpPr>
          <p:nvPr/>
        </p:nvSpPr>
        <p:spPr bwMode="auto">
          <a:xfrm>
            <a:off x="284946" y="1324863"/>
            <a:ext cx="86106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000000"/>
                </a:solidFill>
              </a:rPr>
              <a:t>由于主磁场无需励磁，永磁同步电动机在空载、轻载情况下运行效率显著高于需要交流电流励磁的感应电动机。功率因数也明显优于感应电动机，并且，永磁同步电动机的功率因数还可以根据运行需求从制造上保证分别提供在额定负载下超前、滞后和单位功率因数运行。</a:t>
            </a:r>
            <a:endParaRPr lang="zh-CN" altLang="en-US" sz="2400" b="1">
              <a:solidFill>
                <a:srgbClr val="FF0000"/>
              </a:solidFill>
              <a:latin typeface="宋体" panose="02010600030101010101" pitchFamily="2" charset="-122"/>
            </a:endParaRPr>
          </a:p>
          <a:p>
            <a:pPr eaLnBrk="1" hangingPunct="1">
              <a:spcBef>
                <a:spcPct val="0"/>
              </a:spcBef>
              <a:buFontTx/>
              <a:buNone/>
            </a:pPr>
            <a:endParaRPr lang="en-US" altLang="zh-CN" sz="2400"/>
          </a:p>
        </p:txBody>
      </p:sp>
      <p:sp>
        <p:nvSpPr>
          <p:cNvPr id="24581" name="Rectangle 7">
            <a:extLst>
              <a:ext uri="{FF2B5EF4-FFF2-40B4-BE49-F238E27FC236}">
                <a16:creationId xmlns:a16="http://schemas.microsoft.com/office/drawing/2014/main" id="{6B63B377-4D45-D6DD-AFF3-76FC61AE0ECB}"/>
              </a:ext>
            </a:extLst>
          </p:cNvPr>
          <p:cNvSpPr>
            <a:spLocks noChangeArrowheads="1"/>
          </p:cNvSpPr>
          <p:nvPr/>
        </p:nvSpPr>
        <p:spPr bwMode="auto">
          <a:xfrm>
            <a:off x="228600" y="5791200"/>
            <a:ext cx="83058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5334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solidFill>
                  <a:srgbClr val="000000"/>
                </a:solidFill>
                <a:latin typeface="Times New Roman" panose="02020603050405020304" pitchFamily="18" charset="0"/>
                <a:cs typeface="Times New Roman" panose="02020603050405020304" pitchFamily="18" charset="0"/>
              </a:rPr>
              <a:t>                   1</a:t>
            </a:r>
            <a:r>
              <a:rPr lang="zh-CN" altLang="en-US" sz="2400">
                <a:solidFill>
                  <a:srgbClr val="000000"/>
                </a:solidFill>
                <a:latin typeface="Times New Roman" panose="02020603050405020304" pitchFamily="18" charset="0"/>
              </a:rPr>
              <a:t>－永磁同步；</a:t>
            </a:r>
            <a:r>
              <a:rPr lang="en-US" altLang="zh-CN" sz="2400">
                <a:solidFill>
                  <a:srgbClr val="000000"/>
                </a:solidFill>
                <a:latin typeface="Times New Roman" panose="02020603050405020304" pitchFamily="18" charset="0"/>
                <a:cs typeface="Times New Roman" panose="02020603050405020304" pitchFamily="18" charset="0"/>
              </a:rPr>
              <a:t>2</a:t>
            </a:r>
            <a:r>
              <a:rPr lang="zh-CN" altLang="en-US" sz="2400">
                <a:solidFill>
                  <a:srgbClr val="000000"/>
                </a:solidFill>
                <a:latin typeface="Times New Roman" panose="02020603050405020304" pitchFamily="18" charset="0"/>
              </a:rPr>
              <a:t>－异步</a:t>
            </a:r>
            <a:endParaRPr lang="zh-CN" altLang="en-US" sz="2400" b="1">
              <a:solidFill>
                <a:srgbClr val="FF0000"/>
              </a:solidFill>
              <a:latin typeface="宋体" panose="02010600030101010101" pitchFamily="2" charset="-122"/>
            </a:endParaRPr>
          </a:p>
          <a:p>
            <a:pPr>
              <a:spcBef>
                <a:spcPct val="0"/>
              </a:spcBef>
              <a:buFontTx/>
              <a:buNone/>
            </a:pPr>
            <a:r>
              <a:rPr lang="zh-CN" altLang="en-US" sz="2400">
                <a:solidFill>
                  <a:srgbClr val="000000"/>
                </a:solidFill>
                <a:latin typeface="Times New Roman" panose="02020603050405020304" pitchFamily="18" charset="0"/>
              </a:rPr>
              <a:t>   电动运行效率比较</a:t>
            </a:r>
            <a:r>
              <a:rPr lang="zh-CN" altLang="en-US" sz="2400">
                <a:solidFill>
                  <a:srgbClr val="000000"/>
                </a:solidFill>
                <a:latin typeface="Times New Roman" panose="02020603050405020304" pitchFamily="18" charset="0"/>
                <a:cs typeface="Times New Roman" panose="02020603050405020304" pitchFamily="18" charset="0"/>
              </a:rPr>
              <a:t>            </a:t>
            </a:r>
            <a:r>
              <a:rPr lang="zh-CN" altLang="en-US" sz="2400">
                <a:solidFill>
                  <a:srgbClr val="000000"/>
                </a:solidFill>
                <a:latin typeface="Times New Roman" panose="02020603050405020304" pitchFamily="18" charset="0"/>
              </a:rPr>
              <a:t>电动运行功率因数比较</a:t>
            </a:r>
            <a:r>
              <a:rPr lang="zh-CN" altLang="en-US" sz="2400">
                <a:solidFill>
                  <a:srgbClr val="000000"/>
                </a:solidFill>
                <a:latin typeface="Times New Roman" panose="02020603050405020304" pitchFamily="18" charset="0"/>
                <a:cs typeface="Times New Roman" panose="02020603050405020304" pitchFamily="18" charset="0"/>
              </a:rPr>
              <a:t> </a:t>
            </a:r>
            <a:endParaRPr lang="zh-CN" altLang="en-US" sz="2400" b="1">
              <a:solidFill>
                <a:srgbClr val="FF0000"/>
              </a:solidFill>
              <a:latin typeface="宋体" panose="02010600030101010101" pitchFamily="2" charset="-122"/>
            </a:endParaRPr>
          </a:p>
          <a:p>
            <a:pPr>
              <a:spcBef>
                <a:spcPct val="0"/>
              </a:spcBef>
              <a:buFontTx/>
              <a:buNone/>
            </a:pPr>
            <a:endParaRPr lang="en-US" altLang="zh-CN" sz="2400"/>
          </a:p>
        </p:txBody>
      </p:sp>
      <p:pic>
        <p:nvPicPr>
          <p:cNvPr id="24582" name="Picture 6" descr="永磁同步效率">
            <a:extLst>
              <a:ext uri="{FF2B5EF4-FFF2-40B4-BE49-F238E27FC236}">
                <a16:creationId xmlns:a16="http://schemas.microsoft.com/office/drawing/2014/main" id="{798FEFBB-5BB8-5F95-F111-FCCEC97BE8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9346" y="3187001"/>
            <a:ext cx="2819400" cy="262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3" name="Picture 5" descr="永磁同步功率因数">
            <a:extLst>
              <a:ext uri="{FF2B5EF4-FFF2-40B4-BE49-F238E27FC236}">
                <a16:creationId xmlns:a16="http://schemas.microsoft.com/office/drawing/2014/main" id="{725A31A1-FD5F-50B8-5A96-D092D10C57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2146" y="3090163"/>
            <a:ext cx="2971800"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a:extLst>
              <a:ext uri="{FF2B5EF4-FFF2-40B4-BE49-F238E27FC236}">
                <a16:creationId xmlns:a16="http://schemas.microsoft.com/office/drawing/2014/main" id="{9CA0DFE4-B9F0-C14F-546B-9F0F3C6A12E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7E2C01D-4046-434B-B507-B70B40AFF8E3}" type="slidenum">
              <a:rPr lang="en-US" altLang="zh-CN" sz="1400" smtClean="0"/>
              <a:pPr>
                <a:spcBef>
                  <a:spcPct val="0"/>
                </a:spcBef>
                <a:buFontTx/>
                <a:buNone/>
              </a:pPr>
              <a:t>57</a:t>
            </a:fld>
            <a:endParaRPr lang="en-US" altLang="zh-CN" sz="1400"/>
          </a:p>
        </p:txBody>
      </p:sp>
      <p:sp>
        <p:nvSpPr>
          <p:cNvPr id="25603" name="Rectangle 2">
            <a:extLst>
              <a:ext uri="{FF2B5EF4-FFF2-40B4-BE49-F238E27FC236}">
                <a16:creationId xmlns:a16="http://schemas.microsoft.com/office/drawing/2014/main" id="{38C01396-EAE8-2727-90F4-84F8C49ECD49}"/>
              </a:ext>
            </a:extLst>
          </p:cNvPr>
          <p:cNvSpPr>
            <a:spLocks noGrp="1" noChangeArrowheads="1"/>
          </p:cNvSpPr>
          <p:nvPr>
            <p:ph type="title"/>
          </p:nvPr>
        </p:nvSpPr>
        <p:spPr>
          <a:xfrm>
            <a:off x="0" y="692696"/>
            <a:ext cx="8915400" cy="762000"/>
          </a:xfrm>
        </p:spPr>
        <p:txBody>
          <a:bodyPr/>
          <a:lstStyle/>
          <a:p>
            <a:pPr eaLnBrk="1" hangingPunct="1"/>
            <a:r>
              <a:rPr lang="zh-CN" altLang="en-US" sz="3200" dirty="0">
                <a:solidFill>
                  <a:srgbClr val="000000"/>
                </a:solidFill>
                <a:latin typeface="宋体" panose="02010600030101010101" pitchFamily="2" charset="-122"/>
              </a:rPr>
              <a:t>不同永磁强度的永磁同步电动机稳定运行相量图</a:t>
            </a:r>
            <a:r>
              <a:rPr lang="zh-CN" altLang="en-US" dirty="0"/>
              <a:t> </a:t>
            </a:r>
          </a:p>
        </p:txBody>
      </p:sp>
      <p:graphicFrame>
        <p:nvGraphicFramePr>
          <p:cNvPr id="25604" name="Object 4">
            <a:extLst>
              <a:ext uri="{FF2B5EF4-FFF2-40B4-BE49-F238E27FC236}">
                <a16:creationId xmlns:a16="http://schemas.microsoft.com/office/drawing/2014/main" id="{28266667-FFB3-3FF9-5BE5-B31F7A87E38C}"/>
              </a:ext>
            </a:extLst>
          </p:cNvPr>
          <p:cNvGraphicFramePr>
            <a:graphicFrameLocks noChangeAspect="1"/>
          </p:cNvGraphicFramePr>
          <p:nvPr>
            <p:extLst>
              <p:ext uri="{D42A27DB-BD31-4B8C-83A1-F6EECF244321}">
                <p14:modId xmlns:p14="http://schemas.microsoft.com/office/powerpoint/2010/main" val="1439189892"/>
              </p:ext>
            </p:extLst>
          </p:nvPr>
        </p:nvGraphicFramePr>
        <p:xfrm>
          <a:off x="971600" y="1527743"/>
          <a:ext cx="5867400" cy="874713"/>
        </p:xfrm>
        <a:graphic>
          <a:graphicData uri="http://schemas.openxmlformats.org/presentationml/2006/ole">
            <mc:AlternateContent xmlns:mc="http://schemas.openxmlformats.org/markup-compatibility/2006">
              <mc:Choice xmlns:v="urn:schemas-microsoft-com:vml" Requires="v">
                <p:oleObj r:id="rId2" imgW="2400300" imgH="368300" progId="Equation.DSMT4">
                  <p:embed/>
                </p:oleObj>
              </mc:Choice>
              <mc:Fallback>
                <p:oleObj r:id="rId2" imgW="2400300" imgH="368300" progId="Equation.DSMT4">
                  <p:embed/>
                  <p:pic>
                    <p:nvPicPr>
                      <p:cNvPr id="25604" name="Object 4">
                        <a:extLst>
                          <a:ext uri="{FF2B5EF4-FFF2-40B4-BE49-F238E27FC236}">
                            <a16:creationId xmlns:a16="http://schemas.microsoft.com/office/drawing/2014/main" id="{28266667-FFB3-3FF9-5BE5-B31F7A87E3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1527743"/>
                        <a:ext cx="5867400" cy="87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5" name="Rectangle 7">
            <a:extLst>
              <a:ext uri="{FF2B5EF4-FFF2-40B4-BE49-F238E27FC236}">
                <a16:creationId xmlns:a16="http://schemas.microsoft.com/office/drawing/2014/main" id="{3BD4B9BE-7D35-900A-CBEE-4AAD495AE088}"/>
              </a:ext>
            </a:extLst>
          </p:cNvPr>
          <p:cNvSpPr>
            <a:spLocks noChangeArrowheads="1"/>
          </p:cNvSpPr>
          <p:nvPr/>
        </p:nvSpPr>
        <p:spPr bwMode="auto">
          <a:xfrm>
            <a:off x="2781300" y="2333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p>
        </p:txBody>
      </p:sp>
      <p:graphicFrame>
        <p:nvGraphicFramePr>
          <p:cNvPr id="25606" name="Object 6">
            <a:extLst>
              <a:ext uri="{FF2B5EF4-FFF2-40B4-BE49-F238E27FC236}">
                <a16:creationId xmlns:a16="http://schemas.microsoft.com/office/drawing/2014/main" id="{A56E8D15-58FB-9039-0B0C-E41CD9150C84}"/>
              </a:ext>
            </a:extLst>
          </p:cNvPr>
          <p:cNvGraphicFramePr>
            <a:graphicFrameLocks noChangeAspect="1"/>
          </p:cNvGraphicFramePr>
          <p:nvPr>
            <p:extLst>
              <p:ext uri="{D42A27DB-BD31-4B8C-83A1-F6EECF244321}">
                <p14:modId xmlns:p14="http://schemas.microsoft.com/office/powerpoint/2010/main" val="1991582213"/>
              </p:ext>
            </p:extLst>
          </p:nvPr>
        </p:nvGraphicFramePr>
        <p:xfrm>
          <a:off x="1547664" y="2531043"/>
          <a:ext cx="6858000" cy="3754189"/>
        </p:xfrm>
        <a:graphic>
          <a:graphicData uri="http://schemas.openxmlformats.org/presentationml/2006/ole">
            <mc:AlternateContent xmlns:mc="http://schemas.openxmlformats.org/markup-compatibility/2006">
              <mc:Choice xmlns:v="urn:schemas-microsoft-com:vml" Requires="v">
                <p:oleObj r:id="rId4" imgW="3411538" imgH="2090738" progId="MSDraw">
                  <p:embed/>
                </p:oleObj>
              </mc:Choice>
              <mc:Fallback>
                <p:oleObj r:id="rId4" imgW="3411538" imgH="2090738" progId="MSDraw">
                  <p:embed/>
                  <p:pic>
                    <p:nvPicPr>
                      <p:cNvPr id="25606" name="Object 6">
                        <a:extLst>
                          <a:ext uri="{FF2B5EF4-FFF2-40B4-BE49-F238E27FC236}">
                            <a16:creationId xmlns:a16="http://schemas.microsoft.com/office/drawing/2014/main" id="{A56E8D15-58FB-9039-0B0C-E41CD9150C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664" y="2531043"/>
                        <a:ext cx="6858000" cy="3754189"/>
                      </a:xfrm>
                      <a:prstGeom prst="rect">
                        <a:avLst/>
                      </a:prstGeom>
                      <a:solidFill>
                        <a:srgbClr val="FFFFFF"/>
                      </a:solidFill>
                      <a:ln>
                        <a:noFill/>
                      </a:ln>
                    </p:spPr>
                  </p:pic>
                </p:oleObj>
              </mc:Fallback>
            </mc:AlternateContent>
          </a:graphicData>
        </a:graphic>
      </p:graphicFrame>
      <p:sp>
        <p:nvSpPr>
          <p:cNvPr id="25607" name="Text Box 8">
            <a:extLst>
              <a:ext uri="{FF2B5EF4-FFF2-40B4-BE49-F238E27FC236}">
                <a16:creationId xmlns:a16="http://schemas.microsoft.com/office/drawing/2014/main" id="{5B7899F1-C836-CCD3-512F-25AF58502DC8}"/>
              </a:ext>
            </a:extLst>
          </p:cNvPr>
          <p:cNvSpPr txBox="1">
            <a:spLocks noChangeArrowheads="1"/>
          </p:cNvSpPr>
          <p:nvPr/>
        </p:nvSpPr>
        <p:spPr bwMode="auto">
          <a:xfrm>
            <a:off x="228600" y="6135688"/>
            <a:ext cx="876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000000"/>
                </a:solidFill>
                <a:latin typeface="宋体" panose="02010600030101010101" pitchFamily="2" charset="-122"/>
              </a:rPr>
              <a:t>（</a:t>
            </a:r>
            <a:r>
              <a:rPr lang="en-US" altLang="zh-CN" sz="2400">
                <a:solidFill>
                  <a:srgbClr val="000000"/>
                </a:solidFill>
                <a:latin typeface="宋体" panose="02010600030101010101" pitchFamily="2" charset="-122"/>
              </a:rPr>
              <a:t>a</a:t>
            </a:r>
            <a:r>
              <a:rPr lang="zh-CN" altLang="en-US" sz="2400">
                <a:solidFill>
                  <a:srgbClr val="000000"/>
                </a:solidFill>
                <a:latin typeface="宋体" panose="02010600030101010101" pitchFamily="2" charset="-122"/>
              </a:rPr>
              <a:t>）滞后功率因数 （</a:t>
            </a:r>
            <a:r>
              <a:rPr lang="en-US" altLang="zh-CN" sz="2400">
                <a:solidFill>
                  <a:srgbClr val="000000"/>
                </a:solidFill>
                <a:latin typeface="宋体" panose="02010600030101010101" pitchFamily="2" charset="-122"/>
              </a:rPr>
              <a:t>b</a:t>
            </a:r>
            <a:r>
              <a:rPr lang="zh-CN" altLang="en-US" sz="2400">
                <a:solidFill>
                  <a:srgbClr val="000000"/>
                </a:solidFill>
                <a:latin typeface="宋体" panose="02010600030101010101" pitchFamily="2" charset="-122"/>
              </a:rPr>
              <a:t>）单位功率因数  </a:t>
            </a:r>
            <a:r>
              <a:rPr lang="en-US" altLang="zh-CN" sz="2400">
                <a:solidFill>
                  <a:srgbClr val="000000"/>
                </a:solidFill>
                <a:latin typeface="宋体" panose="02010600030101010101" pitchFamily="2" charset="-122"/>
              </a:rPr>
              <a:t>(c</a:t>
            </a:r>
            <a:r>
              <a:rPr lang="zh-CN" altLang="en-US" sz="2400">
                <a:solidFill>
                  <a:srgbClr val="000000"/>
                </a:solidFill>
                <a:latin typeface="宋体" panose="02010600030101010101" pitchFamily="2" charset="-122"/>
              </a:rPr>
              <a:t>）超前功率因数</a:t>
            </a:r>
            <a:r>
              <a:rPr lang="zh-CN" altLang="en-US" sz="2400"/>
              <a:t>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5BC2B2E-2EF3-A7A6-D856-CF62116CC334}"/>
              </a:ext>
            </a:extLst>
          </p:cNvPr>
          <p:cNvSpPr>
            <a:spLocks noGrp="1"/>
          </p:cNvSpPr>
          <p:nvPr>
            <p:ph type="sldNum" sz="quarter" idx="12"/>
          </p:nvPr>
        </p:nvSpPr>
        <p:spPr/>
        <p:txBody>
          <a:bodyPr/>
          <a:lstStyle/>
          <a:p>
            <a:fld id="{76D830B0-DF59-4281-898F-AF208100B213}" type="slidenum">
              <a:rPr lang="en-US" altLang="zh-CN" smtClean="0">
                <a:latin typeface="黑体" panose="02010609060101010101" pitchFamily="49" charset="-122"/>
                <a:ea typeface="黑体" panose="02010609060101010101" pitchFamily="49" charset="-122"/>
              </a:rPr>
              <a:pPr/>
              <a:t>58</a:t>
            </a:fld>
            <a:endParaRPr lang="en-US" altLang="zh-CN">
              <a:latin typeface="黑体" panose="02010609060101010101" pitchFamily="49" charset="-122"/>
              <a:ea typeface="黑体" panose="02010609060101010101" pitchFamily="49" charset="-122"/>
            </a:endParaRPr>
          </a:p>
        </p:txBody>
      </p:sp>
      <p:grpSp>
        <p:nvGrpSpPr>
          <p:cNvPr id="4" name="object 3">
            <a:extLst>
              <a:ext uri="{FF2B5EF4-FFF2-40B4-BE49-F238E27FC236}">
                <a16:creationId xmlns:a16="http://schemas.microsoft.com/office/drawing/2014/main" id="{8B51F9F6-C195-F5D9-CA8B-DD9DD5ED1F65}"/>
              </a:ext>
            </a:extLst>
          </p:cNvPr>
          <p:cNvGrpSpPr/>
          <p:nvPr/>
        </p:nvGrpSpPr>
        <p:grpSpPr>
          <a:xfrm>
            <a:off x="494779" y="980728"/>
            <a:ext cx="8204834" cy="2852420"/>
            <a:chOff x="717926" y="934049"/>
            <a:chExt cx="8204834" cy="2852420"/>
          </a:xfrm>
        </p:grpSpPr>
        <p:pic>
          <p:nvPicPr>
            <p:cNvPr id="5" name="object 4">
              <a:extLst>
                <a:ext uri="{FF2B5EF4-FFF2-40B4-BE49-F238E27FC236}">
                  <a16:creationId xmlns:a16="http://schemas.microsoft.com/office/drawing/2014/main" id="{3C1106B1-B2A1-0885-DA58-901D8FF10594}"/>
                </a:ext>
              </a:extLst>
            </p:cNvPr>
            <p:cNvPicPr/>
            <p:nvPr/>
          </p:nvPicPr>
          <p:blipFill>
            <a:blip r:embed="rId2" cstate="print"/>
            <a:stretch>
              <a:fillRect/>
            </a:stretch>
          </p:blipFill>
          <p:spPr>
            <a:xfrm>
              <a:off x="717926" y="1074119"/>
              <a:ext cx="4981655" cy="2640952"/>
            </a:xfrm>
            <a:prstGeom prst="rect">
              <a:avLst/>
            </a:prstGeom>
          </p:spPr>
        </p:pic>
        <p:sp>
          <p:nvSpPr>
            <p:cNvPr id="6" name="object 5">
              <a:extLst>
                <a:ext uri="{FF2B5EF4-FFF2-40B4-BE49-F238E27FC236}">
                  <a16:creationId xmlns:a16="http://schemas.microsoft.com/office/drawing/2014/main" id="{E8AA5AF5-F7B6-4604-EEBD-6F8CE053B3D2}"/>
                </a:ext>
              </a:extLst>
            </p:cNvPr>
            <p:cNvSpPr/>
            <p:nvPr/>
          </p:nvSpPr>
          <p:spPr>
            <a:xfrm>
              <a:off x="5699390" y="1161759"/>
              <a:ext cx="0" cy="948690"/>
            </a:xfrm>
            <a:custGeom>
              <a:avLst/>
              <a:gdLst/>
              <a:ahLst/>
              <a:cxnLst/>
              <a:rect l="l" t="t" r="r" b="b"/>
              <a:pathLst>
                <a:path h="948689">
                  <a:moveTo>
                    <a:pt x="0" y="948079"/>
                  </a:moveTo>
                  <a:lnTo>
                    <a:pt x="0" y="0"/>
                  </a:lnTo>
                </a:path>
              </a:pathLst>
            </a:custGeom>
            <a:ln w="19008">
              <a:solidFill>
                <a:srgbClr val="000000"/>
              </a:solidFill>
            </a:ln>
          </p:spPr>
          <p:txBody>
            <a:bodyPr wrap="square" lIns="0" tIns="0" rIns="0" bIns="0" rtlCol="0"/>
            <a:lstStyle/>
            <a:p>
              <a:endParaRPr>
                <a:latin typeface="黑体" panose="02010609060101010101" pitchFamily="49" charset="-122"/>
                <a:ea typeface="黑体" panose="02010609060101010101" pitchFamily="49" charset="-122"/>
              </a:endParaRPr>
            </a:p>
          </p:txBody>
        </p:sp>
        <p:pic>
          <p:nvPicPr>
            <p:cNvPr id="7" name="object 6">
              <a:extLst>
                <a:ext uri="{FF2B5EF4-FFF2-40B4-BE49-F238E27FC236}">
                  <a16:creationId xmlns:a16="http://schemas.microsoft.com/office/drawing/2014/main" id="{2ADD4FB6-7A13-9118-0386-FBFECDCB5F55}"/>
                </a:ext>
              </a:extLst>
            </p:cNvPr>
            <p:cNvPicPr/>
            <p:nvPr/>
          </p:nvPicPr>
          <p:blipFill>
            <a:blip r:embed="rId3" cstate="print"/>
            <a:stretch>
              <a:fillRect/>
            </a:stretch>
          </p:blipFill>
          <p:spPr>
            <a:xfrm>
              <a:off x="7035996" y="934049"/>
              <a:ext cx="1025272" cy="1881154"/>
            </a:xfrm>
            <a:prstGeom prst="rect">
              <a:avLst/>
            </a:prstGeom>
          </p:spPr>
        </p:pic>
        <p:pic>
          <p:nvPicPr>
            <p:cNvPr id="8" name="object 7">
              <a:extLst>
                <a:ext uri="{FF2B5EF4-FFF2-40B4-BE49-F238E27FC236}">
                  <a16:creationId xmlns:a16="http://schemas.microsoft.com/office/drawing/2014/main" id="{D70EE232-4F6A-F5BF-7291-C16BCF402E88}"/>
                </a:ext>
              </a:extLst>
            </p:cNvPr>
            <p:cNvPicPr/>
            <p:nvPr/>
          </p:nvPicPr>
          <p:blipFill>
            <a:blip r:embed="rId4" cstate="print"/>
            <a:stretch>
              <a:fillRect/>
            </a:stretch>
          </p:blipFill>
          <p:spPr>
            <a:xfrm>
              <a:off x="5922029" y="2293210"/>
              <a:ext cx="1320199" cy="1314931"/>
            </a:xfrm>
            <a:prstGeom prst="rect">
              <a:avLst/>
            </a:prstGeom>
          </p:spPr>
        </p:pic>
        <p:pic>
          <p:nvPicPr>
            <p:cNvPr id="9" name="object 8">
              <a:extLst>
                <a:ext uri="{FF2B5EF4-FFF2-40B4-BE49-F238E27FC236}">
                  <a16:creationId xmlns:a16="http://schemas.microsoft.com/office/drawing/2014/main" id="{DB4366FC-8E64-AA7E-3406-0D302C6C4F76}"/>
                </a:ext>
              </a:extLst>
            </p:cNvPr>
            <p:cNvPicPr/>
            <p:nvPr/>
          </p:nvPicPr>
          <p:blipFill>
            <a:blip r:embed="rId5" cstate="print"/>
            <a:stretch>
              <a:fillRect/>
            </a:stretch>
          </p:blipFill>
          <p:spPr>
            <a:xfrm>
              <a:off x="7603749" y="2449723"/>
              <a:ext cx="1318407" cy="1336261"/>
            </a:xfrm>
            <a:prstGeom prst="rect">
              <a:avLst/>
            </a:prstGeom>
          </p:spPr>
        </p:pic>
        <p:sp>
          <p:nvSpPr>
            <p:cNvPr id="10" name="object 9">
              <a:extLst>
                <a:ext uri="{FF2B5EF4-FFF2-40B4-BE49-F238E27FC236}">
                  <a16:creationId xmlns:a16="http://schemas.microsoft.com/office/drawing/2014/main" id="{E37264E5-047F-C70E-F573-DE265790EFBC}"/>
                </a:ext>
              </a:extLst>
            </p:cNvPr>
            <p:cNvSpPr/>
            <p:nvPr/>
          </p:nvSpPr>
          <p:spPr>
            <a:xfrm>
              <a:off x="6624472" y="1619110"/>
              <a:ext cx="1508125" cy="1467485"/>
            </a:xfrm>
            <a:custGeom>
              <a:avLst/>
              <a:gdLst/>
              <a:ahLst/>
              <a:cxnLst/>
              <a:rect l="l" t="t" r="r" b="b"/>
              <a:pathLst>
                <a:path w="1508125" h="1467485">
                  <a:moveTo>
                    <a:pt x="1507629" y="1455521"/>
                  </a:moveTo>
                  <a:lnTo>
                    <a:pt x="629412" y="671715"/>
                  </a:lnTo>
                  <a:lnTo>
                    <a:pt x="671360" y="927"/>
                  </a:lnTo>
                  <a:lnTo>
                    <a:pt x="655828" y="0"/>
                  </a:lnTo>
                  <a:lnTo>
                    <a:pt x="613956" y="669201"/>
                  </a:lnTo>
                  <a:lnTo>
                    <a:pt x="0" y="1191831"/>
                  </a:lnTo>
                  <a:lnTo>
                    <a:pt x="10071" y="1203693"/>
                  </a:lnTo>
                  <a:lnTo>
                    <a:pt x="620204" y="684377"/>
                  </a:lnTo>
                  <a:lnTo>
                    <a:pt x="1497266" y="1467142"/>
                  </a:lnTo>
                  <a:lnTo>
                    <a:pt x="1507629" y="1455521"/>
                  </a:lnTo>
                  <a:close/>
                </a:path>
              </a:pathLst>
            </a:custGeom>
            <a:solidFill>
              <a:srgbClr val="C55A11"/>
            </a:solidFill>
          </p:spPr>
          <p:txBody>
            <a:bodyPr wrap="square" lIns="0" tIns="0" rIns="0" bIns="0" rtlCol="0"/>
            <a:lstStyle/>
            <a:p>
              <a:endParaRPr>
                <a:latin typeface="黑体" panose="02010609060101010101" pitchFamily="49" charset="-122"/>
                <a:ea typeface="黑体" panose="02010609060101010101" pitchFamily="49" charset="-122"/>
              </a:endParaRPr>
            </a:p>
          </p:txBody>
        </p:sp>
        <p:sp>
          <p:nvSpPr>
            <p:cNvPr id="11" name="object 10">
              <a:extLst>
                <a:ext uri="{FF2B5EF4-FFF2-40B4-BE49-F238E27FC236}">
                  <a16:creationId xmlns:a16="http://schemas.microsoft.com/office/drawing/2014/main" id="{EC3238D6-83D0-F915-1D56-7DCF3D805B5F}"/>
                </a:ext>
              </a:extLst>
            </p:cNvPr>
            <p:cNvSpPr/>
            <p:nvPr/>
          </p:nvSpPr>
          <p:spPr>
            <a:xfrm>
              <a:off x="5699390" y="1166198"/>
              <a:ext cx="2733040" cy="2399665"/>
            </a:xfrm>
            <a:custGeom>
              <a:avLst/>
              <a:gdLst/>
              <a:ahLst/>
              <a:cxnLst/>
              <a:rect l="l" t="t" r="r" b="b"/>
              <a:pathLst>
                <a:path w="2733040" h="2399665">
                  <a:moveTo>
                    <a:pt x="1583274" y="0"/>
                  </a:moveTo>
                  <a:lnTo>
                    <a:pt x="0" y="0"/>
                  </a:lnTo>
                </a:path>
                <a:path w="2733040" h="2399665">
                  <a:moveTo>
                    <a:pt x="622379" y="1932156"/>
                  </a:moveTo>
                  <a:lnTo>
                    <a:pt x="622379" y="1204239"/>
                  </a:lnTo>
                </a:path>
                <a:path w="2733040" h="2399665">
                  <a:moveTo>
                    <a:pt x="0" y="1204239"/>
                  </a:moveTo>
                  <a:lnTo>
                    <a:pt x="622379" y="1204239"/>
                  </a:lnTo>
                </a:path>
                <a:path w="2733040" h="2399665">
                  <a:moveTo>
                    <a:pt x="0" y="1464854"/>
                  </a:moveTo>
                  <a:lnTo>
                    <a:pt x="218125" y="1464854"/>
                  </a:lnTo>
                  <a:lnTo>
                    <a:pt x="218125" y="2399475"/>
                  </a:lnTo>
                  <a:lnTo>
                    <a:pt x="2732673" y="2399475"/>
                  </a:lnTo>
                  <a:lnTo>
                    <a:pt x="2732673" y="2228722"/>
                  </a:lnTo>
                </a:path>
              </a:pathLst>
            </a:custGeom>
            <a:ln w="19015">
              <a:solidFill>
                <a:srgbClr val="000000"/>
              </a:solidFill>
            </a:ln>
          </p:spPr>
          <p:txBody>
            <a:bodyPr wrap="square" lIns="0" tIns="0" rIns="0" bIns="0" rtlCol="0"/>
            <a:lstStyle/>
            <a:p>
              <a:endParaRPr>
                <a:latin typeface="黑体" panose="02010609060101010101" pitchFamily="49" charset="-122"/>
                <a:ea typeface="黑体" panose="02010609060101010101" pitchFamily="49" charset="-122"/>
              </a:endParaRPr>
            </a:p>
          </p:txBody>
        </p:sp>
      </p:grpSp>
      <p:sp>
        <p:nvSpPr>
          <p:cNvPr id="13" name="文本框 12">
            <a:extLst>
              <a:ext uri="{FF2B5EF4-FFF2-40B4-BE49-F238E27FC236}">
                <a16:creationId xmlns:a16="http://schemas.microsoft.com/office/drawing/2014/main" id="{C60F4F89-288F-DBAC-0DE7-CEEBB85B5540}"/>
              </a:ext>
            </a:extLst>
          </p:cNvPr>
          <p:cNvSpPr txBox="1"/>
          <p:nvPr/>
        </p:nvSpPr>
        <p:spPr>
          <a:xfrm>
            <a:off x="4000910" y="290832"/>
            <a:ext cx="3570208" cy="461665"/>
          </a:xfrm>
          <a:prstGeom prst="rect">
            <a:avLst/>
          </a:prstGeom>
          <a:noFill/>
        </p:spPr>
        <p:txBody>
          <a:bodyPr wrap="none" rtlCol="0">
            <a:spAutoFit/>
          </a:bodyPr>
          <a:lstStyle/>
          <a:p>
            <a:pPr algn="l"/>
            <a:r>
              <a:rPr lang="zh-CN" altLang="en-US" sz="2400" dirty="0">
                <a:latin typeface="黑体" panose="02010609060101010101" pitchFamily="49" charset="-122"/>
                <a:ea typeface="黑体" panose="02010609060101010101" pitchFamily="49" charset="-122"/>
                <a:cs typeface="Times New Roman" panose="02020603050405020304" pitchFamily="18" charset="0"/>
              </a:rPr>
              <a:t>永磁同步电机的控制原理</a:t>
            </a:r>
          </a:p>
        </p:txBody>
      </p:sp>
      <p:sp>
        <p:nvSpPr>
          <p:cNvPr id="19" name="object 8">
            <a:extLst>
              <a:ext uri="{FF2B5EF4-FFF2-40B4-BE49-F238E27FC236}">
                <a16:creationId xmlns:a16="http://schemas.microsoft.com/office/drawing/2014/main" id="{B2745ED7-70B9-B61B-2113-58F313624E5F}"/>
              </a:ext>
            </a:extLst>
          </p:cNvPr>
          <p:cNvSpPr txBox="1"/>
          <p:nvPr/>
        </p:nvSpPr>
        <p:spPr>
          <a:xfrm>
            <a:off x="251523" y="3448549"/>
            <a:ext cx="8892477" cy="1701748"/>
          </a:xfrm>
          <a:prstGeom prst="rect">
            <a:avLst/>
          </a:prstGeom>
        </p:spPr>
        <p:txBody>
          <a:bodyPr vert="horz" wrap="square" lIns="0" tIns="209550" rIns="0" bIns="0" rtlCol="0">
            <a:spAutoFit/>
          </a:bodyPr>
          <a:lstStyle/>
          <a:p>
            <a:pPr marL="12700">
              <a:lnSpc>
                <a:spcPct val="100000"/>
              </a:lnSpc>
              <a:spcBef>
                <a:spcPts val="1650"/>
              </a:spcBef>
            </a:pPr>
            <a:r>
              <a:rPr sz="2400" b="1" spc="-30" dirty="0" err="1">
                <a:solidFill>
                  <a:schemeClr val="tx2"/>
                </a:solidFill>
                <a:latin typeface="黑体" panose="02010609060101010101" pitchFamily="49" charset="-122"/>
                <a:ea typeface="黑体" panose="02010609060101010101" pitchFamily="49" charset="-122"/>
                <a:cs typeface="宋体"/>
              </a:rPr>
              <a:t>控制</a:t>
            </a:r>
            <a:r>
              <a:rPr lang="zh-CN" altLang="en-US" sz="2400" b="1" spc="-30" dirty="0">
                <a:solidFill>
                  <a:schemeClr val="tx2"/>
                </a:solidFill>
                <a:latin typeface="黑体" panose="02010609060101010101" pitchFamily="49" charset="-122"/>
                <a:ea typeface="黑体" panose="02010609060101010101" pitchFamily="49" charset="-122"/>
                <a:cs typeface="宋体"/>
              </a:rPr>
              <a:t>思想</a:t>
            </a:r>
            <a:endParaRPr sz="2400" dirty="0">
              <a:solidFill>
                <a:schemeClr val="tx2"/>
              </a:solidFill>
              <a:latin typeface="黑体" panose="02010609060101010101" pitchFamily="49" charset="-122"/>
              <a:ea typeface="黑体" panose="02010609060101010101" pitchFamily="49" charset="-122"/>
              <a:cs typeface="宋体"/>
            </a:endParaRPr>
          </a:p>
          <a:p>
            <a:pPr marL="12700" marR="5080">
              <a:spcBef>
                <a:spcPts val="100"/>
              </a:spcBef>
            </a:pPr>
            <a:r>
              <a:rPr sz="2400" dirty="0" err="1">
                <a:solidFill>
                  <a:schemeClr val="tx2"/>
                </a:solidFill>
                <a:latin typeface="黑体" panose="02010609060101010101" pitchFamily="49" charset="-122"/>
                <a:ea typeface="黑体" panose="02010609060101010101" pitchFamily="49" charset="-122"/>
                <a:cs typeface="宋体"/>
              </a:rPr>
              <a:t>根据</a:t>
            </a:r>
            <a:r>
              <a:rPr lang="zh-CN" altLang="en-US" sz="2400" dirty="0">
                <a:solidFill>
                  <a:schemeClr val="tx2"/>
                </a:solidFill>
                <a:latin typeface="黑体" panose="02010609060101010101" pitchFamily="49" charset="-122"/>
                <a:ea typeface="黑体" panose="02010609060101010101" pitchFamily="49" charset="-122"/>
                <a:cs typeface="宋体"/>
              </a:rPr>
              <a:t>由机械角度转换的</a:t>
            </a:r>
            <a:r>
              <a:rPr sz="2400" b="1" spc="-10" dirty="0" err="1">
                <a:solidFill>
                  <a:schemeClr val="tx2"/>
                </a:solidFill>
                <a:latin typeface="黑体" panose="02010609060101010101" pitchFamily="49" charset="-122"/>
                <a:ea typeface="黑体" panose="02010609060101010101" pitchFamily="49" charset="-122"/>
                <a:cs typeface="宋体"/>
              </a:rPr>
              <a:t>转子磁极</a:t>
            </a:r>
            <a:r>
              <a:rPr lang="zh-CN" altLang="en-US" sz="2400" b="1" spc="-10" dirty="0">
                <a:solidFill>
                  <a:schemeClr val="tx2"/>
                </a:solidFill>
                <a:latin typeface="黑体" panose="02010609060101010101" pitchFamily="49" charset="-122"/>
                <a:ea typeface="黑体" panose="02010609060101010101" pitchFamily="49" charset="-122"/>
                <a:cs typeface="宋体"/>
              </a:rPr>
              <a:t>电角度</a:t>
            </a:r>
            <a:r>
              <a:rPr sz="2400" b="1" spc="-10" dirty="0" err="1">
                <a:solidFill>
                  <a:schemeClr val="tx2"/>
                </a:solidFill>
                <a:latin typeface="黑体" panose="02010609060101010101" pitchFamily="49" charset="-122"/>
                <a:ea typeface="黑体" panose="02010609060101010101" pitchFamily="49" charset="-122"/>
                <a:cs typeface="宋体"/>
              </a:rPr>
              <a:t>位置</a:t>
            </a:r>
            <a:r>
              <a:rPr sz="2400" spc="-15" dirty="0" err="1">
                <a:solidFill>
                  <a:schemeClr val="tx2"/>
                </a:solidFill>
                <a:latin typeface="黑体" panose="02010609060101010101" pitchFamily="49" charset="-122"/>
                <a:ea typeface="黑体" panose="02010609060101010101" pitchFamily="49" charset="-122"/>
                <a:cs typeface="宋体"/>
              </a:rPr>
              <a:t>，对定子线圈进行</a:t>
            </a:r>
            <a:r>
              <a:rPr lang="zh-CN" altLang="en-US" sz="2400" spc="-15" dirty="0">
                <a:solidFill>
                  <a:schemeClr val="tx2"/>
                </a:solidFill>
                <a:latin typeface="黑体" panose="02010609060101010101" pitchFamily="49" charset="-122"/>
                <a:ea typeface="黑体" panose="02010609060101010101" pitchFamily="49" charset="-122"/>
                <a:cs typeface="宋体"/>
              </a:rPr>
              <a:t>时间相位上的三相对称</a:t>
            </a:r>
            <a:r>
              <a:rPr sz="2400" spc="-15" dirty="0" err="1">
                <a:solidFill>
                  <a:schemeClr val="tx2"/>
                </a:solidFill>
                <a:latin typeface="黑体" panose="02010609060101010101" pitchFamily="49" charset="-122"/>
                <a:ea typeface="黑体" panose="02010609060101010101" pitchFamily="49" charset="-122"/>
                <a:cs typeface="宋体"/>
              </a:rPr>
              <a:t>换相通电，形成</a:t>
            </a:r>
            <a:r>
              <a:rPr lang="zh-CN" altLang="en-US" sz="2400" spc="-25" dirty="0">
                <a:solidFill>
                  <a:schemeClr val="tx2"/>
                </a:solidFill>
                <a:latin typeface="黑体" panose="02010609060101010101" pitchFamily="49" charset="-122"/>
                <a:ea typeface="黑体" panose="02010609060101010101" pitchFamily="49" charset="-122"/>
                <a:cs typeface="Verdana"/>
              </a:rPr>
              <a:t>频率可调且相位固定</a:t>
            </a:r>
            <a:r>
              <a:rPr sz="2400" spc="-5" dirty="0" err="1">
                <a:solidFill>
                  <a:schemeClr val="tx2"/>
                </a:solidFill>
                <a:latin typeface="黑体" panose="02010609060101010101" pitchFamily="49" charset="-122"/>
                <a:ea typeface="黑体" panose="02010609060101010101" pitchFamily="49" charset="-122"/>
                <a:cs typeface="宋体"/>
              </a:rPr>
              <a:t>的</a:t>
            </a:r>
            <a:r>
              <a:rPr sz="2400" b="1" spc="-15" dirty="0" err="1">
                <a:solidFill>
                  <a:schemeClr val="tx2"/>
                </a:solidFill>
                <a:latin typeface="黑体" panose="02010609060101010101" pitchFamily="49" charset="-122"/>
                <a:ea typeface="黑体" panose="02010609060101010101" pitchFamily="49" charset="-122"/>
                <a:cs typeface="宋体"/>
              </a:rPr>
              <a:t>旋转磁场</a:t>
            </a:r>
            <a:r>
              <a:rPr sz="2400" spc="-50" dirty="0" err="1">
                <a:solidFill>
                  <a:schemeClr val="tx2"/>
                </a:solidFill>
                <a:latin typeface="黑体" panose="02010609060101010101" pitchFamily="49" charset="-122"/>
                <a:ea typeface="黑体" panose="02010609060101010101" pitchFamily="49" charset="-122"/>
                <a:cs typeface="宋体"/>
              </a:rPr>
              <a:t>，</a:t>
            </a:r>
            <a:r>
              <a:rPr sz="2400" spc="-15" dirty="0" err="1">
                <a:solidFill>
                  <a:schemeClr val="tx2"/>
                </a:solidFill>
                <a:latin typeface="黑体" panose="02010609060101010101" pitchFamily="49" charset="-122"/>
                <a:ea typeface="黑体" panose="02010609060101010101" pitchFamily="49" charset="-122"/>
                <a:cs typeface="宋体"/>
              </a:rPr>
              <a:t>进而带动转子同步转动</a:t>
            </a:r>
            <a:r>
              <a:rPr sz="2000" spc="-15" dirty="0">
                <a:solidFill>
                  <a:schemeClr val="tx2"/>
                </a:solidFill>
                <a:latin typeface="黑体" panose="02010609060101010101" pitchFamily="49" charset="-122"/>
                <a:ea typeface="黑体" panose="02010609060101010101" pitchFamily="49" charset="-122"/>
                <a:cs typeface="宋体"/>
              </a:rPr>
              <a:t>。</a:t>
            </a:r>
            <a:endParaRPr sz="2000" dirty="0">
              <a:solidFill>
                <a:schemeClr val="tx2"/>
              </a:solidFill>
              <a:latin typeface="黑体" panose="02010609060101010101" pitchFamily="49" charset="-122"/>
              <a:ea typeface="黑体" panose="02010609060101010101" pitchFamily="49" charset="-122"/>
              <a:cs typeface="宋体"/>
            </a:endParaRPr>
          </a:p>
        </p:txBody>
      </p:sp>
      <p:sp>
        <p:nvSpPr>
          <p:cNvPr id="21" name="object 10">
            <a:extLst>
              <a:ext uri="{FF2B5EF4-FFF2-40B4-BE49-F238E27FC236}">
                <a16:creationId xmlns:a16="http://schemas.microsoft.com/office/drawing/2014/main" id="{647AD3E4-291E-81D6-02EB-10274D2286AD}"/>
              </a:ext>
            </a:extLst>
          </p:cNvPr>
          <p:cNvSpPr txBox="1"/>
          <p:nvPr/>
        </p:nvSpPr>
        <p:spPr>
          <a:xfrm>
            <a:off x="467537" y="5238076"/>
            <a:ext cx="8126095" cy="751488"/>
          </a:xfrm>
          <a:prstGeom prst="rect">
            <a:avLst/>
          </a:prstGeom>
        </p:spPr>
        <p:txBody>
          <a:bodyPr vert="horz" wrap="square" lIns="0" tIns="12700" rIns="0" bIns="0" rtlCol="0">
            <a:spAutoFit/>
          </a:bodyPr>
          <a:lstStyle/>
          <a:p>
            <a:pPr marL="12700">
              <a:lnSpc>
                <a:spcPct val="100000"/>
              </a:lnSpc>
              <a:spcBef>
                <a:spcPts val="100"/>
              </a:spcBef>
            </a:pPr>
            <a:r>
              <a:rPr sz="2400" b="1" spc="-20" dirty="0">
                <a:solidFill>
                  <a:schemeClr val="tx2"/>
                </a:solidFill>
                <a:latin typeface="黑体" panose="02010609060101010101" pitchFamily="49" charset="-122"/>
                <a:ea typeface="黑体" panose="02010609060101010101" pitchFamily="49" charset="-122"/>
                <a:cs typeface="宋体"/>
              </a:rPr>
              <a:t>关键技术</a:t>
            </a:r>
            <a:r>
              <a:rPr sz="2400" b="1" spc="-10" dirty="0">
                <a:solidFill>
                  <a:schemeClr val="tx2"/>
                </a:solidFill>
                <a:latin typeface="黑体" panose="02010609060101010101" pitchFamily="49" charset="-122"/>
                <a:ea typeface="黑体" panose="02010609060101010101" pitchFamily="49" charset="-122"/>
                <a:cs typeface="Verdana"/>
              </a:rPr>
              <a:t>1—</a:t>
            </a:r>
            <a:r>
              <a:rPr sz="2400" spc="-20" dirty="0" err="1">
                <a:solidFill>
                  <a:schemeClr val="tx2"/>
                </a:solidFill>
                <a:latin typeface="黑体" panose="02010609060101010101" pitchFamily="49" charset="-122"/>
                <a:ea typeface="黑体" panose="02010609060101010101" pitchFamily="49" charset="-122"/>
                <a:cs typeface="宋体"/>
              </a:rPr>
              <a:t>通过安装在电机上的</a:t>
            </a:r>
            <a:r>
              <a:rPr lang="zh-CN" altLang="en-US" sz="2400" spc="-20" dirty="0">
                <a:solidFill>
                  <a:schemeClr val="tx2"/>
                </a:solidFill>
                <a:latin typeface="黑体" panose="02010609060101010101" pitchFamily="49" charset="-122"/>
                <a:ea typeface="黑体" panose="02010609060101010101" pitchFamily="49" charset="-122"/>
                <a:cs typeface="宋体"/>
              </a:rPr>
              <a:t>传感器</a:t>
            </a:r>
            <a:r>
              <a:rPr sz="2400" spc="-20" dirty="0" err="1">
                <a:solidFill>
                  <a:schemeClr val="tx2"/>
                </a:solidFill>
                <a:latin typeface="黑体" panose="02010609060101010101" pitchFamily="49" charset="-122"/>
                <a:ea typeface="黑体" panose="02010609060101010101" pitchFamily="49" charset="-122"/>
                <a:cs typeface="宋体"/>
              </a:rPr>
              <a:t>来获取转子磁极位置信息</a:t>
            </a:r>
            <a:r>
              <a:rPr sz="2000" spc="-20" dirty="0">
                <a:solidFill>
                  <a:srgbClr val="002049"/>
                </a:solidFill>
                <a:latin typeface="黑体" panose="02010609060101010101" pitchFamily="49" charset="-122"/>
                <a:ea typeface="黑体" panose="02010609060101010101" pitchFamily="49" charset="-122"/>
                <a:cs typeface="宋体"/>
              </a:rPr>
              <a:t>。</a:t>
            </a:r>
            <a:endParaRPr sz="2000" dirty="0">
              <a:latin typeface="黑体" panose="02010609060101010101" pitchFamily="49" charset="-122"/>
              <a:ea typeface="黑体" panose="02010609060101010101" pitchFamily="49" charset="-122"/>
              <a:cs typeface="宋体"/>
            </a:endParaRPr>
          </a:p>
        </p:txBody>
      </p:sp>
      <p:sp>
        <p:nvSpPr>
          <p:cNvPr id="23" name="object 12">
            <a:extLst>
              <a:ext uri="{FF2B5EF4-FFF2-40B4-BE49-F238E27FC236}">
                <a16:creationId xmlns:a16="http://schemas.microsoft.com/office/drawing/2014/main" id="{205E0DF6-62C2-0B3F-3EC7-F6321D9ADDCF}"/>
              </a:ext>
            </a:extLst>
          </p:cNvPr>
          <p:cNvSpPr txBox="1"/>
          <p:nvPr/>
        </p:nvSpPr>
        <p:spPr>
          <a:xfrm>
            <a:off x="419150" y="6002995"/>
            <a:ext cx="7854950" cy="751488"/>
          </a:xfrm>
          <a:prstGeom prst="rect">
            <a:avLst/>
          </a:prstGeom>
        </p:spPr>
        <p:txBody>
          <a:bodyPr vert="horz" wrap="square" lIns="0" tIns="12700" rIns="0" bIns="0" rtlCol="0">
            <a:spAutoFit/>
          </a:bodyPr>
          <a:lstStyle/>
          <a:p>
            <a:pPr marL="12700">
              <a:lnSpc>
                <a:spcPct val="100000"/>
              </a:lnSpc>
              <a:spcBef>
                <a:spcPts val="100"/>
              </a:spcBef>
            </a:pPr>
            <a:r>
              <a:rPr sz="2400" b="1" spc="-25" dirty="0">
                <a:solidFill>
                  <a:schemeClr val="tx2"/>
                </a:solidFill>
                <a:latin typeface="黑体" panose="02010609060101010101" pitchFamily="49" charset="-122"/>
                <a:ea typeface="黑体" panose="02010609060101010101" pitchFamily="49" charset="-122"/>
                <a:cs typeface="宋体"/>
              </a:rPr>
              <a:t>关键技术</a:t>
            </a:r>
            <a:r>
              <a:rPr sz="2400" b="1" spc="-20" dirty="0">
                <a:solidFill>
                  <a:schemeClr val="tx2"/>
                </a:solidFill>
                <a:latin typeface="黑体" panose="02010609060101010101" pitchFamily="49" charset="-122"/>
                <a:ea typeface="黑体" panose="02010609060101010101" pitchFamily="49" charset="-122"/>
                <a:cs typeface="Verdana"/>
              </a:rPr>
              <a:t>2—</a:t>
            </a:r>
            <a:r>
              <a:rPr sz="2400" spc="-5" dirty="0" err="1">
                <a:solidFill>
                  <a:schemeClr val="tx2"/>
                </a:solidFill>
                <a:latin typeface="黑体" panose="02010609060101010101" pitchFamily="49" charset="-122"/>
                <a:ea typeface="黑体" panose="02010609060101010101" pitchFamily="49" charset="-122"/>
                <a:cs typeface="宋体"/>
              </a:rPr>
              <a:t>通过</a:t>
            </a:r>
            <a:r>
              <a:rPr lang="zh-CN" altLang="en-US" sz="2400" spc="-5" dirty="0">
                <a:solidFill>
                  <a:schemeClr val="tx2"/>
                </a:solidFill>
                <a:latin typeface="黑体" panose="02010609060101010101" pitchFamily="49" charset="-122"/>
                <a:ea typeface="黑体" panose="02010609060101010101" pitchFamily="49" charset="-122"/>
                <a:cs typeface="宋体"/>
              </a:rPr>
              <a:t>对</a:t>
            </a:r>
            <a:r>
              <a:rPr sz="2400" spc="-5" dirty="0" err="1">
                <a:solidFill>
                  <a:schemeClr val="tx2"/>
                </a:solidFill>
                <a:latin typeface="黑体" panose="02010609060101010101" pitchFamily="49" charset="-122"/>
                <a:ea typeface="黑体" panose="02010609060101010101" pitchFamily="49" charset="-122"/>
                <a:cs typeface="宋体"/>
              </a:rPr>
              <a:t>功率器件组成的</a:t>
            </a:r>
            <a:r>
              <a:rPr lang="zh-CN" altLang="en-US" sz="2400" spc="-5" dirty="0">
                <a:solidFill>
                  <a:schemeClr val="tx2"/>
                </a:solidFill>
                <a:latin typeface="黑体" panose="02010609060101010101" pitchFamily="49" charset="-122"/>
                <a:ea typeface="黑体" panose="02010609060101010101" pitchFamily="49" charset="-122"/>
                <a:cs typeface="宋体"/>
              </a:rPr>
              <a:t>六个电子开关</a:t>
            </a:r>
            <a:r>
              <a:rPr sz="2400" spc="-10" dirty="0" err="1">
                <a:solidFill>
                  <a:schemeClr val="tx2"/>
                </a:solidFill>
                <a:latin typeface="黑体" panose="02010609060101010101" pitchFamily="49" charset="-122"/>
                <a:ea typeface="黑体" panose="02010609060101010101" pitchFamily="49" charset="-122"/>
                <a:cs typeface="宋体"/>
              </a:rPr>
              <a:t>来控制线圈的</a:t>
            </a:r>
            <a:r>
              <a:rPr sz="2400" spc="-20" dirty="0" err="1">
                <a:solidFill>
                  <a:schemeClr val="tx2"/>
                </a:solidFill>
                <a:latin typeface="黑体" panose="02010609060101010101" pitchFamily="49" charset="-122"/>
                <a:ea typeface="黑体" panose="02010609060101010101" pitchFamily="49" charset="-122"/>
                <a:cs typeface="宋体"/>
              </a:rPr>
              <a:t>通电</a:t>
            </a:r>
            <a:r>
              <a:rPr lang="zh-CN" altLang="en-US" sz="2400" u="none" spc="-5" dirty="0">
                <a:solidFill>
                  <a:schemeClr val="tx2"/>
                </a:solidFill>
                <a:latin typeface="黑体" panose="02010609060101010101" pitchFamily="49" charset="-122"/>
                <a:ea typeface="黑体" panose="02010609060101010101" pitchFamily="49" charset="-122"/>
                <a:cs typeface="宋体"/>
              </a:rPr>
              <a:t>方</a:t>
            </a:r>
            <a:r>
              <a:rPr sz="2400" u="none" spc="-5" dirty="0" err="1">
                <a:solidFill>
                  <a:schemeClr val="tx2"/>
                </a:solidFill>
                <a:latin typeface="黑体" panose="02010609060101010101" pitchFamily="49" charset="-122"/>
                <a:ea typeface="黑体" panose="02010609060101010101" pitchFamily="49" charset="-122"/>
                <a:cs typeface="宋体"/>
              </a:rPr>
              <a:t>式，形成</a:t>
            </a:r>
            <a:r>
              <a:rPr sz="2400" b="1" u="none" spc="-15" dirty="0" err="1">
                <a:solidFill>
                  <a:schemeClr val="tx2"/>
                </a:solidFill>
                <a:latin typeface="黑体" panose="02010609060101010101" pitchFamily="49" charset="-122"/>
                <a:ea typeface="黑体" panose="02010609060101010101" pitchFamily="49" charset="-122"/>
                <a:cs typeface="宋体"/>
              </a:rPr>
              <a:t>旋转磁场</a:t>
            </a:r>
            <a:r>
              <a:rPr sz="2400" u="none" spc="-50" dirty="0">
                <a:solidFill>
                  <a:schemeClr val="tx2"/>
                </a:solidFill>
                <a:latin typeface="黑体" panose="02010609060101010101" pitchFamily="49" charset="-122"/>
                <a:ea typeface="黑体" panose="02010609060101010101" pitchFamily="49" charset="-122"/>
                <a:cs typeface="宋体"/>
              </a:rPr>
              <a:t>。</a:t>
            </a:r>
            <a:endParaRPr sz="2400" dirty="0">
              <a:solidFill>
                <a:schemeClr val="tx2"/>
              </a:solidFill>
              <a:latin typeface="黑体" panose="02010609060101010101" pitchFamily="49" charset="-122"/>
              <a:ea typeface="黑体" panose="02010609060101010101" pitchFamily="49" charset="-122"/>
              <a:cs typeface="宋体"/>
            </a:endParaRPr>
          </a:p>
        </p:txBody>
      </p:sp>
    </p:spTree>
    <p:extLst>
      <p:ext uri="{BB962C8B-B14F-4D97-AF65-F5344CB8AC3E}">
        <p14:creationId xmlns:p14="http://schemas.microsoft.com/office/powerpoint/2010/main" val="33083444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a:extLst>
              <a:ext uri="{FF2B5EF4-FFF2-40B4-BE49-F238E27FC236}">
                <a16:creationId xmlns:a16="http://schemas.microsoft.com/office/drawing/2014/main" id="{88AAAEA4-C24D-12A2-1103-B69191F82FE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B7BD2FB-828B-4397-A65C-EF34FBBB63F1}" type="slidenum">
              <a:rPr lang="en-US" altLang="zh-CN" sz="1400" smtClean="0"/>
              <a:pPr>
                <a:spcBef>
                  <a:spcPct val="0"/>
                </a:spcBef>
                <a:buFontTx/>
                <a:buNone/>
              </a:pPr>
              <a:t>59</a:t>
            </a:fld>
            <a:endParaRPr lang="en-US" altLang="zh-CN" sz="1400"/>
          </a:p>
        </p:txBody>
      </p:sp>
      <p:sp>
        <p:nvSpPr>
          <p:cNvPr id="27651" name="Rectangle 2">
            <a:extLst>
              <a:ext uri="{FF2B5EF4-FFF2-40B4-BE49-F238E27FC236}">
                <a16:creationId xmlns:a16="http://schemas.microsoft.com/office/drawing/2014/main" id="{0CF4F313-A1B5-F692-C992-6433E9F621EE}"/>
              </a:ext>
            </a:extLst>
          </p:cNvPr>
          <p:cNvSpPr>
            <a:spLocks noGrp="1" noChangeArrowheads="1"/>
          </p:cNvSpPr>
          <p:nvPr>
            <p:ph type="title"/>
          </p:nvPr>
        </p:nvSpPr>
        <p:spPr>
          <a:xfrm>
            <a:off x="312737" y="802734"/>
            <a:ext cx="8153400" cy="639762"/>
          </a:xfrm>
        </p:spPr>
        <p:txBody>
          <a:bodyPr/>
          <a:lstStyle/>
          <a:p>
            <a:pPr eaLnBrk="1" hangingPunct="1"/>
            <a:r>
              <a:rPr lang="zh-CN" altLang="en-US" sz="3200" b="1">
                <a:latin typeface="黑体" panose="02010609060101010101" pitchFamily="49" charset="-122"/>
                <a:ea typeface="黑体" panose="02010609060101010101" pitchFamily="49" charset="-122"/>
              </a:rPr>
              <a:t>小结</a:t>
            </a:r>
          </a:p>
        </p:txBody>
      </p:sp>
      <p:sp>
        <p:nvSpPr>
          <p:cNvPr id="27652" name="Text Box 4">
            <a:extLst>
              <a:ext uri="{FF2B5EF4-FFF2-40B4-BE49-F238E27FC236}">
                <a16:creationId xmlns:a16="http://schemas.microsoft.com/office/drawing/2014/main" id="{0F86A75C-67DB-A207-EF97-82C5A79B755B}"/>
              </a:ext>
            </a:extLst>
          </p:cNvPr>
          <p:cNvSpPr txBox="1">
            <a:spLocks noChangeArrowheads="1"/>
          </p:cNvSpPr>
          <p:nvPr/>
        </p:nvSpPr>
        <p:spPr bwMode="auto">
          <a:xfrm>
            <a:off x="525462" y="1386934"/>
            <a:ext cx="8547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a:latin typeface="黑体" panose="02010609060101010101" pitchFamily="49" charset="-122"/>
                <a:ea typeface="黑体" panose="02010609060101010101" pitchFamily="49" charset="-122"/>
              </a:rPr>
              <a:t>同步电动机无论空载还是最大可能负载，转速都是恒定的。 </a:t>
            </a:r>
          </a:p>
        </p:txBody>
      </p:sp>
      <p:sp>
        <p:nvSpPr>
          <p:cNvPr id="73733" name="Text Box 5">
            <a:extLst>
              <a:ext uri="{FF2B5EF4-FFF2-40B4-BE49-F238E27FC236}">
                <a16:creationId xmlns:a16="http://schemas.microsoft.com/office/drawing/2014/main" id="{9515B7FD-AD28-9265-7907-36DFE43575BC}"/>
              </a:ext>
            </a:extLst>
          </p:cNvPr>
          <p:cNvSpPr txBox="1">
            <a:spLocks noChangeArrowheads="1"/>
          </p:cNvSpPr>
          <p:nvPr/>
        </p:nvSpPr>
        <p:spPr bwMode="auto">
          <a:xfrm>
            <a:off x="601662" y="2085434"/>
            <a:ext cx="78644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a:latin typeface="黑体" panose="02010609060101010101" pitchFamily="49" charset="-122"/>
                <a:ea typeface="黑体" panose="02010609060101010101" pitchFamily="49" charset="-122"/>
              </a:rPr>
              <a:t>电机能产生的最大功率表达式与发电机相同。如果负载超过最大输出功率，同步电动机转子将不能保持与定子磁场同步旋转，形成</a:t>
            </a:r>
            <a:r>
              <a:rPr lang="zh-CN" altLang="en-US" sz="2400" b="1">
                <a:latin typeface="Times New Roman" panose="02020603050405020304" pitchFamily="18" charset="0"/>
                <a:ea typeface="黑体" panose="02010609060101010101" pitchFamily="49" charset="-122"/>
              </a:rPr>
              <a:t>“</a:t>
            </a:r>
            <a:r>
              <a:rPr lang="zh-CN" altLang="en-US" sz="2400" b="1">
                <a:latin typeface="黑体" panose="02010609060101010101" pitchFamily="49" charset="-122"/>
                <a:ea typeface="黑体" panose="02010609060101010101" pitchFamily="49" charset="-122"/>
              </a:rPr>
              <a:t>失步</a:t>
            </a:r>
            <a:r>
              <a:rPr lang="zh-CN" altLang="en-US" sz="2400" b="1">
                <a:latin typeface="Times New Roman" panose="02020603050405020304" pitchFamily="18" charset="0"/>
                <a:ea typeface="黑体" panose="02010609060101010101" pitchFamily="49" charset="-122"/>
              </a:rPr>
              <a:t>“</a:t>
            </a:r>
            <a:r>
              <a:rPr lang="zh-CN" altLang="en-US" sz="2400" b="1">
                <a:latin typeface="黑体" panose="02010609060101010101" pitchFamily="49" charset="-122"/>
                <a:ea typeface="黑体" panose="02010609060101010101" pitchFamily="49" charset="-122"/>
              </a:rPr>
              <a:t>。 </a:t>
            </a:r>
          </a:p>
        </p:txBody>
      </p:sp>
      <p:sp>
        <p:nvSpPr>
          <p:cNvPr id="73734" name="Text Box 6">
            <a:extLst>
              <a:ext uri="{FF2B5EF4-FFF2-40B4-BE49-F238E27FC236}">
                <a16:creationId xmlns:a16="http://schemas.microsoft.com/office/drawing/2014/main" id="{0143015B-6CB4-9326-CE2E-A74E84AD1038}"/>
              </a:ext>
            </a:extLst>
          </p:cNvPr>
          <p:cNvSpPr txBox="1">
            <a:spLocks noChangeArrowheads="1"/>
          </p:cNvSpPr>
          <p:nvPr/>
        </p:nvSpPr>
        <p:spPr bwMode="auto">
          <a:xfrm>
            <a:off x="601662" y="3436972"/>
            <a:ext cx="77882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dirty="0">
                <a:latin typeface="黑体" panose="02010609060101010101" pitchFamily="49" charset="-122"/>
                <a:ea typeface="黑体" panose="02010609060101010101" pitchFamily="49" charset="-122"/>
              </a:rPr>
              <a:t>同步电动机没有起动转矩，不能直接起动。有三种主要起动方法：降频；使用外接原动机；在励磁绕组通励磁电流之前利用阻尼绕组将电机加速到接近同步转速。 </a:t>
            </a:r>
          </a:p>
        </p:txBody>
      </p:sp>
      <p:sp>
        <p:nvSpPr>
          <p:cNvPr id="73735" name="Text Box 7">
            <a:extLst>
              <a:ext uri="{FF2B5EF4-FFF2-40B4-BE49-F238E27FC236}">
                <a16:creationId xmlns:a16="http://schemas.microsoft.com/office/drawing/2014/main" id="{63A2F471-3592-A72C-443B-866601C501AB}"/>
              </a:ext>
            </a:extLst>
          </p:cNvPr>
          <p:cNvSpPr txBox="1">
            <a:spLocks noChangeArrowheads="1"/>
          </p:cNvSpPr>
          <p:nvPr/>
        </p:nvSpPr>
        <p:spPr bwMode="auto">
          <a:xfrm>
            <a:off x="543966" y="4788510"/>
            <a:ext cx="77882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dirty="0">
                <a:latin typeface="黑体" panose="02010609060101010101" pitchFamily="49" charset="-122"/>
                <a:ea typeface="黑体" panose="02010609060101010101" pitchFamily="49" charset="-122"/>
              </a:rPr>
              <a:t>带有阻尼绕组的同步电动机对负载变化时的工作稳定性可以得到一定改善。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3733"/>
                                        </p:tgtEl>
                                        <p:attrNameLst>
                                          <p:attrName>style.visibility</p:attrName>
                                        </p:attrNameLst>
                                      </p:cBhvr>
                                      <p:to>
                                        <p:strVal val="visible"/>
                                      </p:to>
                                    </p:set>
                                    <p:animEffect transition="in" filter="blinds(horizontal)">
                                      <p:cBhvr>
                                        <p:cTn id="7" dur="500"/>
                                        <p:tgtEl>
                                          <p:spTgt spid="737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3734"/>
                                        </p:tgtEl>
                                        <p:attrNameLst>
                                          <p:attrName>style.visibility</p:attrName>
                                        </p:attrNameLst>
                                      </p:cBhvr>
                                      <p:to>
                                        <p:strVal val="visible"/>
                                      </p:to>
                                    </p:set>
                                    <p:animEffect transition="in" filter="blinds(horizontal)">
                                      <p:cBhvr>
                                        <p:cTn id="12" dur="500"/>
                                        <p:tgtEl>
                                          <p:spTgt spid="737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3735"/>
                                        </p:tgtEl>
                                        <p:attrNameLst>
                                          <p:attrName>style.visibility</p:attrName>
                                        </p:attrNameLst>
                                      </p:cBhvr>
                                      <p:to>
                                        <p:strVal val="visible"/>
                                      </p:to>
                                    </p:set>
                                    <p:animEffect transition="in" filter="blinds(horizontal)">
                                      <p:cBhvr>
                                        <p:cTn id="17" dur="500"/>
                                        <p:tgtEl>
                                          <p:spTgt spid="737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3" grpId="0" autoUpdateAnimBg="0"/>
      <p:bldP spid="73734" grpId="0" autoUpdateAnimBg="0"/>
      <p:bldP spid="73735"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a:extLst>
              <a:ext uri="{FF2B5EF4-FFF2-40B4-BE49-F238E27FC236}">
                <a16:creationId xmlns:a16="http://schemas.microsoft.com/office/drawing/2014/main" id="{763AC401-2F57-AC38-3F41-170DEC154C55}"/>
              </a:ext>
            </a:extLst>
          </p:cNvPr>
          <p:cNvSpPr>
            <a:spLocks noGrp="1"/>
          </p:cNvSpPr>
          <p:nvPr>
            <p:ph type="sldNum" sz="quarter" idx="12"/>
          </p:nvPr>
        </p:nvSpPr>
        <p:spPr>
          <a:xfrm>
            <a:off x="6804025" y="6533356"/>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264A844-7072-4190-A8B5-C86EE11A4935}" type="slidenum">
              <a:rPr lang="en-US" altLang="zh-CN" sz="1400" smtClean="0"/>
              <a:pPr>
                <a:spcBef>
                  <a:spcPct val="0"/>
                </a:spcBef>
                <a:buFontTx/>
                <a:buNone/>
              </a:pPr>
              <a:t>60</a:t>
            </a:fld>
            <a:endParaRPr lang="en-US" altLang="zh-CN" sz="1400"/>
          </a:p>
        </p:txBody>
      </p:sp>
      <p:sp>
        <p:nvSpPr>
          <p:cNvPr id="28675" name="Rectangle 2">
            <a:extLst>
              <a:ext uri="{FF2B5EF4-FFF2-40B4-BE49-F238E27FC236}">
                <a16:creationId xmlns:a16="http://schemas.microsoft.com/office/drawing/2014/main" id="{4556DC5F-3AE3-DB6F-085A-83788F0360AE}"/>
              </a:ext>
            </a:extLst>
          </p:cNvPr>
          <p:cNvSpPr>
            <a:spLocks noGrp="1" noChangeArrowheads="1"/>
          </p:cNvSpPr>
          <p:nvPr>
            <p:ph type="title"/>
          </p:nvPr>
        </p:nvSpPr>
        <p:spPr>
          <a:xfrm>
            <a:off x="719138" y="288131"/>
            <a:ext cx="8002587" cy="633413"/>
          </a:xfrm>
        </p:spPr>
        <p:txBody>
          <a:bodyPr/>
          <a:lstStyle/>
          <a:p>
            <a:pPr eaLnBrk="1" hangingPunct="1"/>
            <a:r>
              <a:rPr lang="zh-CN" altLang="en-US" sz="3200" b="1">
                <a:latin typeface="黑体" panose="02010609060101010101" pitchFamily="49" charset="-122"/>
                <a:ea typeface="黑体" panose="02010609060101010101" pitchFamily="49" charset="-122"/>
              </a:rPr>
              <a:t>小结</a:t>
            </a:r>
          </a:p>
        </p:txBody>
      </p:sp>
      <p:sp>
        <p:nvSpPr>
          <p:cNvPr id="28676" name="Rectangle 3">
            <a:extLst>
              <a:ext uri="{FF2B5EF4-FFF2-40B4-BE49-F238E27FC236}">
                <a16:creationId xmlns:a16="http://schemas.microsoft.com/office/drawing/2014/main" id="{9446934C-6DD2-B20A-9EA5-F5FDBEF8D1DA}"/>
              </a:ext>
            </a:extLst>
          </p:cNvPr>
          <p:cNvSpPr>
            <a:spLocks noGrp="1" noChangeArrowheads="1"/>
          </p:cNvSpPr>
          <p:nvPr>
            <p:ph type="body" idx="1"/>
          </p:nvPr>
        </p:nvSpPr>
        <p:spPr>
          <a:xfrm>
            <a:off x="646113" y="837406"/>
            <a:ext cx="8424862" cy="1943100"/>
          </a:xfrm>
        </p:spPr>
        <p:txBody>
          <a:bodyPr/>
          <a:lstStyle/>
          <a:p>
            <a:pPr eaLnBrk="1" hangingPunct="1">
              <a:buFont typeface="Wingdings" panose="05000000000000000000" pitchFamily="2" charset="2"/>
              <a:buChar char="Ø"/>
            </a:pPr>
            <a:r>
              <a:rPr lang="zh-CN" altLang="en-US" sz="2400" b="1" dirty="0">
                <a:latin typeface="黑体" panose="02010609060101010101" pitchFamily="49" charset="-122"/>
                <a:ea typeface="黑体" panose="02010609060101010101" pitchFamily="49" charset="-122"/>
              </a:rPr>
              <a:t>同步电动机与发电机物理结构相同，一台同步电机在一定条件下，可以由发电转到电动，也可由电动转到发电；它既可提供无功功率，也可消耗无功功率：电势超前电压时，电机处于发电状态，滞后则处于电动状态；感应电势乘功角余弦大于电压时提供无功，反之消耗无功。</a:t>
            </a:r>
          </a:p>
        </p:txBody>
      </p:sp>
      <p:sp>
        <p:nvSpPr>
          <p:cNvPr id="57348" name="Text Box 4">
            <a:extLst>
              <a:ext uri="{FF2B5EF4-FFF2-40B4-BE49-F238E27FC236}">
                <a16:creationId xmlns:a16="http://schemas.microsoft.com/office/drawing/2014/main" id="{430FBDEC-CF4F-373C-68C5-9A25A8643739}"/>
              </a:ext>
            </a:extLst>
          </p:cNvPr>
          <p:cNvSpPr txBox="1">
            <a:spLocks noChangeArrowheads="1"/>
          </p:cNvSpPr>
          <p:nvPr/>
        </p:nvSpPr>
        <p:spPr bwMode="auto">
          <a:xfrm>
            <a:off x="646113" y="2780506"/>
            <a:ext cx="842486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dirty="0">
                <a:latin typeface="黑体" panose="02010609060101010101" pitchFamily="49" charset="-122"/>
                <a:ea typeface="黑体" panose="02010609060101010101" pitchFamily="49" charset="-122"/>
              </a:rPr>
              <a:t>励磁不变，感应电势幅值不变，负载增加时，负功角增大，电势以相量原点为中心向下旋转，同步电抗压降必须增加以满足电压平衡方程，导致定子电流增大。</a:t>
            </a:r>
          </a:p>
        </p:txBody>
      </p:sp>
      <p:sp>
        <p:nvSpPr>
          <p:cNvPr id="57349" name="Text Box 5">
            <a:extLst>
              <a:ext uri="{FF2B5EF4-FFF2-40B4-BE49-F238E27FC236}">
                <a16:creationId xmlns:a16="http://schemas.microsoft.com/office/drawing/2014/main" id="{88BCF086-BF07-75BC-8D11-1103C1902A4F}"/>
              </a:ext>
            </a:extLst>
          </p:cNvPr>
          <p:cNvSpPr txBox="1">
            <a:spLocks noChangeArrowheads="1"/>
          </p:cNvSpPr>
          <p:nvPr/>
        </p:nvSpPr>
        <p:spPr bwMode="auto">
          <a:xfrm>
            <a:off x="646113" y="3947318"/>
            <a:ext cx="837406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dirty="0">
                <a:latin typeface="黑体" panose="02010609060101010101" pitchFamily="49" charset="-122"/>
                <a:ea typeface="黑体" panose="02010609060101010101" pitchFamily="49" charset="-122"/>
              </a:rPr>
              <a:t>负载不变，电机有功功率不变，增加励磁，电势幅值增大，电势相量沿恒功率线滑动，同步电抗压降相位随之改变，导致定子电流相位向前旋转，甚至变为相位超前，即调节励磁可调节电机的功率因数。</a:t>
            </a:r>
          </a:p>
        </p:txBody>
      </p:sp>
      <p:sp>
        <p:nvSpPr>
          <p:cNvPr id="57350" name="Text Box 6">
            <a:extLst>
              <a:ext uri="{FF2B5EF4-FFF2-40B4-BE49-F238E27FC236}">
                <a16:creationId xmlns:a16="http://schemas.microsoft.com/office/drawing/2014/main" id="{C8CFE507-31E0-56F0-CDC8-10ECE914D0CC}"/>
              </a:ext>
            </a:extLst>
          </p:cNvPr>
          <p:cNvSpPr txBox="1">
            <a:spLocks noChangeArrowheads="1"/>
          </p:cNvSpPr>
          <p:nvPr/>
        </p:nvSpPr>
        <p:spPr bwMode="auto">
          <a:xfrm>
            <a:off x="574675" y="5668486"/>
            <a:ext cx="85693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dirty="0">
                <a:latin typeface="黑体" panose="02010609060101010101" pitchFamily="49" charset="-122"/>
                <a:ea typeface="黑体" panose="02010609060101010101" pitchFamily="49" charset="-122"/>
              </a:rPr>
              <a:t>电枢电流随励磁电流变化呈</a:t>
            </a:r>
            <a:r>
              <a:rPr lang="en-US" altLang="zh-CN" sz="2400" b="1" dirty="0">
                <a:latin typeface="黑体" panose="02010609060101010101" pitchFamily="49" charset="-122"/>
                <a:ea typeface="黑体" panose="02010609060101010101" pitchFamily="49" charset="-122"/>
              </a:rPr>
              <a:t>V</a:t>
            </a:r>
            <a:r>
              <a:rPr lang="zh-CN" altLang="en-US" sz="2400" b="1" dirty="0">
                <a:latin typeface="黑体" panose="02010609060101010101" pitchFamily="49" charset="-122"/>
                <a:ea typeface="黑体" panose="02010609060101010101" pitchFamily="49" charset="-122"/>
              </a:rPr>
              <a:t>形。调节励磁，可使同步电机工作在单位功率因数，电枢电流处于最小状态，也可提供调节励磁使电机的功率因数超前或滞后。这是同步电机的最大优点。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7348"/>
                                        </p:tgtEl>
                                        <p:attrNameLst>
                                          <p:attrName>style.visibility</p:attrName>
                                        </p:attrNameLst>
                                      </p:cBhvr>
                                      <p:to>
                                        <p:strVal val="visible"/>
                                      </p:to>
                                    </p:set>
                                    <p:animEffect transition="in" filter="blinds(horizontal)">
                                      <p:cBhvr>
                                        <p:cTn id="7" dur="500"/>
                                        <p:tgtEl>
                                          <p:spTgt spid="573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7349"/>
                                        </p:tgtEl>
                                        <p:attrNameLst>
                                          <p:attrName>style.visibility</p:attrName>
                                        </p:attrNameLst>
                                      </p:cBhvr>
                                      <p:to>
                                        <p:strVal val="visible"/>
                                      </p:to>
                                    </p:set>
                                    <p:animEffect transition="in" filter="blinds(horizontal)">
                                      <p:cBhvr>
                                        <p:cTn id="12" dur="500"/>
                                        <p:tgtEl>
                                          <p:spTgt spid="573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7350"/>
                                        </p:tgtEl>
                                        <p:attrNameLst>
                                          <p:attrName>style.visibility</p:attrName>
                                        </p:attrNameLst>
                                      </p:cBhvr>
                                      <p:to>
                                        <p:strVal val="visible"/>
                                      </p:to>
                                    </p:set>
                                    <p:animEffect transition="in" filter="blinds(horizontal)">
                                      <p:cBhvr>
                                        <p:cTn id="17" dur="500"/>
                                        <p:tgtEl>
                                          <p:spTgt spid="57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autoUpdateAnimBg="0"/>
      <p:bldP spid="57349" grpId="0" autoUpdateAnimBg="0"/>
      <p:bldP spid="57350"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77385E-E136-1799-130D-0AEFF3358035}"/>
              </a:ext>
            </a:extLst>
          </p:cNvPr>
          <p:cNvSpPr>
            <a:spLocks noGrp="1"/>
          </p:cNvSpPr>
          <p:nvPr>
            <p:ph type="title"/>
          </p:nvPr>
        </p:nvSpPr>
        <p:spPr>
          <a:xfrm>
            <a:off x="1043608" y="243904"/>
            <a:ext cx="8229600" cy="922114"/>
          </a:xfrm>
        </p:spPr>
        <p:txBody>
          <a:bodyPr/>
          <a:lstStyle/>
          <a:p>
            <a:r>
              <a:rPr lang="zh-CN" altLang="en-US" sz="3200" b="1" dirty="0"/>
              <a:t>课程总结</a:t>
            </a:r>
          </a:p>
        </p:txBody>
      </p:sp>
      <p:sp>
        <p:nvSpPr>
          <p:cNvPr id="3" name="内容占位符 2">
            <a:extLst>
              <a:ext uri="{FF2B5EF4-FFF2-40B4-BE49-F238E27FC236}">
                <a16:creationId xmlns:a16="http://schemas.microsoft.com/office/drawing/2014/main" id="{E57DD7DD-84F4-5AAF-DFAE-F2BB154B816F}"/>
              </a:ext>
            </a:extLst>
          </p:cNvPr>
          <p:cNvSpPr>
            <a:spLocks noGrp="1"/>
          </p:cNvSpPr>
          <p:nvPr>
            <p:ph idx="1"/>
          </p:nvPr>
        </p:nvSpPr>
        <p:spPr>
          <a:xfrm>
            <a:off x="457200" y="1166018"/>
            <a:ext cx="8229600" cy="4525963"/>
          </a:xfrm>
        </p:spPr>
        <p:txBody>
          <a:bodyPr/>
          <a:lstStyle/>
          <a:p>
            <a:r>
              <a:rPr lang="en-US" altLang="zh-CN" dirty="0">
                <a:solidFill>
                  <a:srgbClr val="FF0000"/>
                </a:solidFill>
              </a:rPr>
              <a:t>Why</a:t>
            </a:r>
            <a:r>
              <a:rPr lang="zh-CN" altLang="en-US" dirty="0"/>
              <a:t>（问题是怎么产生的？）：依据电磁定律可以实现电能和机械能（或电能）转换，如何设计制造出一个装置实现能量的持续高效转换？引申出了电机电磁场设计和绕组结构设计的问题。</a:t>
            </a:r>
            <a:endParaRPr lang="en-US" altLang="zh-CN" dirty="0"/>
          </a:p>
          <a:p>
            <a:r>
              <a:rPr lang="en-US" altLang="zh-CN" dirty="0">
                <a:solidFill>
                  <a:srgbClr val="FF0000"/>
                </a:solidFill>
              </a:rPr>
              <a:t>What</a:t>
            </a:r>
            <a:r>
              <a:rPr lang="zh-CN" altLang="en-US" dirty="0"/>
              <a:t>（电机装置是如何完成功率转换工作并达到稳定的？如何描述建模？）：</a:t>
            </a:r>
            <a:endParaRPr lang="en-US" altLang="zh-CN" dirty="0"/>
          </a:p>
          <a:p>
            <a:pPr marL="0" indent="0">
              <a:buNone/>
            </a:pPr>
            <a:r>
              <a:rPr lang="zh-CN" altLang="en-US" dirty="0"/>
              <a:t>（</a:t>
            </a:r>
            <a:r>
              <a:rPr lang="en-US" altLang="zh-CN" dirty="0"/>
              <a:t>1</a:t>
            </a:r>
            <a:r>
              <a:rPr lang="zh-CN" altLang="en-US" dirty="0"/>
              <a:t>）从磁路和电路上：直流（静止的磁场和绕组结构）和交流（时间空间对称统一的旋转磁场结构）电势平衡和磁势平衡、运动平衡。</a:t>
            </a:r>
          </a:p>
        </p:txBody>
      </p:sp>
      <p:sp>
        <p:nvSpPr>
          <p:cNvPr id="4" name="灯片编号占位符 3">
            <a:extLst>
              <a:ext uri="{FF2B5EF4-FFF2-40B4-BE49-F238E27FC236}">
                <a16:creationId xmlns:a16="http://schemas.microsoft.com/office/drawing/2014/main" id="{DAAA2C3A-91E9-58A0-CABD-4AB2721DA96F}"/>
              </a:ext>
            </a:extLst>
          </p:cNvPr>
          <p:cNvSpPr>
            <a:spLocks noGrp="1"/>
          </p:cNvSpPr>
          <p:nvPr>
            <p:ph type="sldNum" sz="quarter" idx="12"/>
          </p:nvPr>
        </p:nvSpPr>
        <p:spPr/>
        <p:txBody>
          <a:bodyPr/>
          <a:lstStyle/>
          <a:p>
            <a:fld id="{B73B34B3-1432-4053-90C7-E0228297BE5F}" type="slidenum">
              <a:rPr lang="en-US" altLang="zh-CN" smtClean="0"/>
              <a:pPr/>
              <a:t>61</a:t>
            </a:fld>
            <a:endParaRPr lang="en-US" altLang="zh-CN"/>
          </a:p>
        </p:txBody>
      </p:sp>
    </p:spTree>
    <p:extLst>
      <p:ext uri="{BB962C8B-B14F-4D97-AF65-F5344CB8AC3E}">
        <p14:creationId xmlns:p14="http://schemas.microsoft.com/office/powerpoint/2010/main" val="39569713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B9B7650-E784-B933-DD36-EB629A993AB5}"/>
              </a:ext>
            </a:extLst>
          </p:cNvPr>
          <p:cNvSpPr>
            <a:spLocks noGrp="1"/>
          </p:cNvSpPr>
          <p:nvPr>
            <p:ph idx="1"/>
          </p:nvPr>
        </p:nvSpPr>
        <p:spPr>
          <a:xfrm>
            <a:off x="457200" y="1052736"/>
            <a:ext cx="8229600" cy="5073427"/>
          </a:xfrm>
        </p:spPr>
        <p:txBody>
          <a:bodyPr/>
          <a:lstStyle/>
          <a:p>
            <a:pPr marL="0" indent="0">
              <a:buNone/>
            </a:pPr>
            <a:r>
              <a:rPr lang="zh-CN" altLang="en-US" dirty="0"/>
              <a:t>（</a:t>
            </a:r>
            <a:r>
              <a:rPr lang="en-US" altLang="zh-CN" dirty="0"/>
              <a:t>2</a:t>
            </a:r>
            <a:r>
              <a:rPr lang="zh-CN" altLang="en-US" dirty="0"/>
              <a:t>）电磁平衡：以感应电势为关键参量的电势平衡方程，等值（电路参数）等效（绕组结构折算、相量化折算、频率折算）电路，相量图</a:t>
            </a:r>
            <a:endParaRPr lang="en-US" altLang="zh-CN" dirty="0"/>
          </a:p>
          <a:p>
            <a:pPr marL="0" indent="0">
              <a:buNone/>
            </a:pPr>
            <a:r>
              <a:rPr lang="zh-CN" altLang="en-US" dirty="0"/>
              <a:t>（</a:t>
            </a:r>
            <a:r>
              <a:rPr lang="en-US" altLang="zh-CN" dirty="0"/>
              <a:t>3</a:t>
            </a:r>
            <a:r>
              <a:rPr lang="zh-CN" altLang="en-US" dirty="0"/>
              <a:t>）运动平衡：以电磁转矩为关键参量的负载运动平衡方程，以负载为条件稳定平衡。</a:t>
            </a:r>
            <a:endParaRPr lang="en-US" altLang="zh-CN" dirty="0"/>
          </a:p>
          <a:p>
            <a:pPr marL="0" indent="0">
              <a:buNone/>
            </a:pPr>
            <a:r>
              <a:rPr lang="zh-CN" altLang="en-US" dirty="0"/>
              <a:t>（</a:t>
            </a:r>
            <a:r>
              <a:rPr lang="en-US" altLang="zh-CN" dirty="0"/>
              <a:t>4</a:t>
            </a:r>
            <a:r>
              <a:rPr lang="zh-CN" altLang="en-US" dirty="0"/>
              <a:t>）特性综合描述：机械特性曲线（</a:t>
            </a:r>
            <a:r>
              <a:rPr lang="en-US" altLang="zh-CN" dirty="0"/>
              <a:t>P</a:t>
            </a:r>
            <a:r>
              <a:rPr lang="zh-CN" altLang="en-US" dirty="0"/>
              <a:t>、</a:t>
            </a:r>
            <a:r>
              <a:rPr lang="en-US" altLang="zh-CN" dirty="0" err="1"/>
              <a:t>Tem</a:t>
            </a:r>
            <a:r>
              <a:rPr lang="zh-CN" altLang="en-US" dirty="0"/>
              <a:t>和转速</a:t>
            </a:r>
            <a:r>
              <a:rPr lang="en-US" altLang="zh-CN" dirty="0"/>
              <a:t>n</a:t>
            </a:r>
            <a:r>
              <a:rPr lang="zh-CN" altLang="en-US" dirty="0"/>
              <a:t>的表达以及变化关系，表明了电机和负载的匹配与安全工作范围。</a:t>
            </a:r>
            <a:endParaRPr lang="en-US" altLang="zh-CN" dirty="0"/>
          </a:p>
          <a:p>
            <a:pPr marL="0" indent="0">
              <a:buNone/>
            </a:pPr>
            <a:r>
              <a:rPr lang="zh-CN" altLang="en-US" dirty="0"/>
              <a:t>（</a:t>
            </a:r>
            <a:r>
              <a:rPr lang="en-US" altLang="zh-CN" dirty="0"/>
              <a:t>5</a:t>
            </a:r>
            <a:r>
              <a:rPr lang="zh-CN" altLang="en-US" dirty="0"/>
              <a:t>）特殊问题的认识和分析：电枢反应、换向、磁路饱和和不一致、调功（功率因数）</a:t>
            </a:r>
          </a:p>
        </p:txBody>
      </p:sp>
      <p:sp>
        <p:nvSpPr>
          <p:cNvPr id="4" name="灯片编号占位符 3">
            <a:extLst>
              <a:ext uri="{FF2B5EF4-FFF2-40B4-BE49-F238E27FC236}">
                <a16:creationId xmlns:a16="http://schemas.microsoft.com/office/drawing/2014/main" id="{92287643-0B24-6AA0-A0B7-EFA62BF4BBEE}"/>
              </a:ext>
            </a:extLst>
          </p:cNvPr>
          <p:cNvSpPr>
            <a:spLocks noGrp="1"/>
          </p:cNvSpPr>
          <p:nvPr>
            <p:ph type="sldNum" sz="quarter" idx="12"/>
          </p:nvPr>
        </p:nvSpPr>
        <p:spPr/>
        <p:txBody>
          <a:bodyPr/>
          <a:lstStyle/>
          <a:p>
            <a:fld id="{B73B34B3-1432-4053-90C7-E0228297BE5F}" type="slidenum">
              <a:rPr lang="en-US" altLang="zh-CN" smtClean="0"/>
              <a:pPr/>
              <a:t>62</a:t>
            </a:fld>
            <a:endParaRPr lang="en-US" altLang="zh-CN"/>
          </a:p>
        </p:txBody>
      </p:sp>
    </p:spTree>
    <p:extLst>
      <p:ext uri="{BB962C8B-B14F-4D97-AF65-F5344CB8AC3E}">
        <p14:creationId xmlns:p14="http://schemas.microsoft.com/office/powerpoint/2010/main" val="31102226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117B99F-6E17-5921-E60A-7B795B46C965}"/>
              </a:ext>
            </a:extLst>
          </p:cNvPr>
          <p:cNvSpPr>
            <a:spLocks noGrp="1"/>
          </p:cNvSpPr>
          <p:nvPr>
            <p:ph idx="1"/>
          </p:nvPr>
        </p:nvSpPr>
        <p:spPr>
          <a:xfrm>
            <a:off x="323528" y="980728"/>
            <a:ext cx="8229600" cy="4525963"/>
          </a:xfrm>
        </p:spPr>
        <p:txBody>
          <a:bodyPr/>
          <a:lstStyle/>
          <a:p>
            <a:r>
              <a:rPr lang="en-US" altLang="zh-CN" dirty="0">
                <a:solidFill>
                  <a:srgbClr val="FF0000"/>
                </a:solidFill>
              </a:rPr>
              <a:t>How</a:t>
            </a:r>
            <a:r>
              <a:rPr lang="zh-CN" altLang="en-US" dirty="0"/>
              <a:t>（如何改变外在条件实现功率转换的稳定高效，采用方法和依赖模型）</a:t>
            </a:r>
            <a:endParaRPr lang="en-US" altLang="zh-CN" dirty="0"/>
          </a:p>
          <a:p>
            <a:pPr marL="0" indent="0">
              <a:buNone/>
            </a:pPr>
            <a:r>
              <a:rPr lang="zh-CN" altLang="en-US" dirty="0"/>
              <a:t>（</a:t>
            </a:r>
            <a:r>
              <a:rPr lang="en-US" altLang="zh-CN" dirty="0"/>
              <a:t>1</a:t>
            </a:r>
            <a:r>
              <a:rPr lang="zh-CN" altLang="en-US" dirty="0"/>
              <a:t>）工况：启动、调速、制动</a:t>
            </a:r>
            <a:endParaRPr lang="en-US" altLang="zh-CN" dirty="0"/>
          </a:p>
          <a:p>
            <a:pPr marL="0" indent="0">
              <a:buNone/>
            </a:pPr>
            <a:r>
              <a:rPr lang="zh-CN" altLang="en-US" dirty="0"/>
              <a:t>（</a:t>
            </a:r>
            <a:r>
              <a:rPr lang="en-US" altLang="zh-CN" dirty="0"/>
              <a:t>2</a:t>
            </a:r>
            <a:r>
              <a:rPr lang="zh-CN" altLang="en-US" dirty="0"/>
              <a:t>）方法：调压、弱磁（直流电机），调转差（调压、变电阻、串级）、变频（</a:t>
            </a:r>
            <a:r>
              <a:rPr lang="en-US" altLang="zh-CN" dirty="0"/>
              <a:t>VF</a:t>
            </a:r>
            <a:r>
              <a:rPr lang="zh-CN" altLang="en-US" dirty="0"/>
              <a:t>、</a:t>
            </a:r>
            <a:r>
              <a:rPr lang="en-US" altLang="zh-CN" dirty="0"/>
              <a:t>CV</a:t>
            </a:r>
            <a:r>
              <a:rPr lang="zh-CN" altLang="en-US" dirty="0"/>
              <a:t>弱磁）（交流电机）</a:t>
            </a:r>
            <a:endParaRPr lang="en-US" altLang="zh-CN" dirty="0"/>
          </a:p>
          <a:p>
            <a:pPr marL="0" indent="0">
              <a:buNone/>
            </a:pPr>
            <a:r>
              <a:rPr lang="zh-CN" altLang="en-US" dirty="0"/>
              <a:t>（</a:t>
            </a:r>
            <a:r>
              <a:rPr lang="en-US" altLang="zh-CN" dirty="0"/>
              <a:t>3</a:t>
            </a:r>
            <a:r>
              <a:rPr lang="zh-CN" altLang="en-US" dirty="0"/>
              <a:t>）规律认识：适应负载条件的电磁转矩变化、功率变化以及动态变化过程</a:t>
            </a:r>
            <a:endParaRPr lang="en-US" altLang="zh-CN" dirty="0"/>
          </a:p>
          <a:p>
            <a:pPr marL="0" indent="0">
              <a:buNone/>
            </a:pPr>
            <a:r>
              <a:rPr lang="zh-CN" altLang="en-US" dirty="0"/>
              <a:t>（</a:t>
            </a:r>
            <a:r>
              <a:rPr lang="en-US" altLang="zh-CN" dirty="0"/>
              <a:t>4</a:t>
            </a:r>
            <a:r>
              <a:rPr lang="zh-CN" altLang="en-US" dirty="0"/>
              <a:t>）分析基础：电机内部的电磁变化过程和外部的运动平衡过程</a:t>
            </a:r>
          </a:p>
        </p:txBody>
      </p:sp>
      <p:sp>
        <p:nvSpPr>
          <p:cNvPr id="4" name="灯片编号占位符 3">
            <a:extLst>
              <a:ext uri="{FF2B5EF4-FFF2-40B4-BE49-F238E27FC236}">
                <a16:creationId xmlns:a16="http://schemas.microsoft.com/office/drawing/2014/main" id="{6448CAFB-95AC-4AF1-6EA2-28E5D94807D4}"/>
              </a:ext>
            </a:extLst>
          </p:cNvPr>
          <p:cNvSpPr>
            <a:spLocks noGrp="1"/>
          </p:cNvSpPr>
          <p:nvPr>
            <p:ph type="sldNum" sz="quarter" idx="12"/>
          </p:nvPr>
        </p:nvSpPr>
        <p:spPr/>
        <p:txBody>
          <a:bodyPr/>
          <a:lstStyle/>
          <a:p>
            <a:fld id="{B73B34B3-1432-4053-90C7-E0228297BE5F}" type="slidenum">
              <a:rPr lang="en-US" altLang="zh-CN" smtClean="0"/>
              <a:pPr/>
              <a:t>63</a:t>
            </a:fld>
            <a:endParaRPr lang="en-US" altLang="zh-CN"/>
          </a:p>
        </p:txBody>
      </p:sp>
    </p:spTree>
    <p:extLst>
      <p:ext uri="{BB962C8B-B14F-4D97-AF65-F5344CB8AC3E}">
        <p14:creationId xmlns:p14="http://schemas.microsoft.com/office/powerpoint/2010/main" val="21946560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24BAF77-2F48-B77E-0A38-815E2276E579}"/>
              </a:ext>
            </a:extLst>
          </p:cNvPr>
          <p:cNvSpPr>
            <a:spLocks noGrp="1"/>
          </p:cNvSpPr>
          <p:nvPr>
            <p:ph idx="1"/>
          </p:nvPr>
        </p:nvSpPr>
        <p:spPr>
          <a:xfrm>
            <a:off x="251520" y="1052736"/>
            <a:ext cx="8712968" cy="4525963"/>
          </a:xfrm>
        </p:spPr>
        <p:txBody>
          <a:bodyPr/>
          <a:lstStyle/>
          <a:p>
            <a:pPr marL="0" indent="0">
              <a:buNone/>
            </a:pPr>
            <a:r>
              <a:rPr lang="zh-CN" altLang="en-US" dirty="0"/>
              <a:t>（</a:t>
            </a:r>
            <a:r>
              <a:rPr lang="en-US" altLang="zh-CN" dirty="0"/>
              <a:t>5</a:t>
            </a:r>
            <a:r>
              <a:rPr lang="zh-CN" altLang="en-US" dirty="0"/>
              <a:t>）模型（方法实现所依据的条件和基础）：建立电势平衡的线性表达和运动平衡的电磁转矩线性表达，直流电动机（二阶定常模型），交流电机（高阶非线性时变特性，不能构造，只有等效电路和相量图进行稳态分析）</a:t>
            </a:r>
            <a:endParaRPr lang="en-US" altLang="zh-CN" dirty="0"/>
          </a:p>
          <a:p>
            <a:pPr marL="0" indent="0">
              <a:buNone/>
            </a:pPr>
            <a:r>
              <a:rPr lang="zh-CN" altLang="en-US" dirty="0"/>
              <a:t>（</a:t>
            </a:r>
            <a:r>
              <a:rPr lang="en-US" altLang="zh-CN" dirty="0"/>
              <a:t>6</a:t>
            </a:r>
            <a:r>
              <a:rPr lang="zh-CN" altLang="en-US" dirty="0"/>
              <a:t>）遗留的问题：</a:t>
            </a:r>
            <a:endParaRPr lang="en-US" altLang="zh-CN" dirty="0"/>
          </a:p>
          <a:p>
            <a:pPr marL="0" indent="0">
              <a:buNone/>
            </a:pPr>
            <a:r>
              <a:rPr lang="en-US" altLang="zh-CN" dirty="0"/>
              <a:t>---</a:t>
            </a:r>
            <a:r>
              <a:rPr lang="zh-CN" altLang="en-US" dirty="0"/>
              <a:t>可控电压源的原理、设计与实现：功率电子学</a:t>
            </a:r>
            <a:endParaRPr lang="en-US" altLang="zh-CN" dirty="0"/>
          </a:p>
          <a:p>
            <a:pPr marL="0" indent="0">
              <a:buNone/>
            </a:pPr>
            <a:r>
              <a:rPr lang="en-US" altLang="zh-CN" dirty="0"/>
              <a:t>---------</a:t>
            </a:r>
            <a:r>
              <a:rPr lang="zh-CN" altLang="en-US" dirty="0"/>
              <a:t>交流电机的能控能观数学模型描述及其控制方法设计与实现：矢量控制与运动控制系统</a:t>
            </a:r>
          </a:p>
        </p:txBody>
      </p:sp>
      <p:sp>
        <p:nvSpPr>
          <p:cNvPr id="4" name="灯片编号占位符 3">
            <a:extLst>
              <a:ext uri="{FF2B5EF4-FFF2-40B4-BE49-F238E27FC236}">
                <a16:creationId xmlns:a16="http://schemas.microsoft.com/office/drawing/2014/main" id="{833F379C-9FCF-B6A8-311C-7CD98683B2AC}"/>
              </a:ext>
            </a:extLst>
          </p:cNvPr>
          <p:cNvSpPr>
            <a:spLocks noGrp="1"/>
          </p:cNvSpPr>
          <p:nvPr>
            <p:ph type="sldNum" sz="quarter" idx="12"/>
          </p:nvPr>
        </p:nvSpPr>
        <p:spPr/>
        <p:txBody>
          <a:bodyPr/>
          <a:lstStyle/>
          <a:p>
            <a:fld id="{B73B34B3-1432-4053-90C7-E0228297BE5F}" type="slidenum">
              <a:rPr lang="en-US" altLang="zh-CN" smtClean="0"/>
              <a:pPr/>
              <a:t>64</a:t>
            </a:fld>
            <a:endParaRPr lang="en-US" altLang="zh-CN"/>
          </a:p>
        </p:txBody>
      </p:sp>
    </p:spTree>
    <p:extLst>
      <p:ext uri="{BB962C8B-B14F-4D97-AF65-F5344CB8AC3E}">
        <p14:creationId xmlns:p14="http://schemas.microsoft.com/office/powerpoint/2010/main" val="2773994259"/>
      </p:ext>
    </p:extLst>
  </p:cSld>
  <p:clrMapOvr>
    <a:masterClrMapping/>
  </p:clrMapOvr>
</p:sld>
</file>

<file path=ppt/theme/theme1.xml><?xml version="1.0" encoding="utf-8"?>
<a:theme xmlns:a="http://schemas.openxmlformats.org/drawingml/2006/main" name="Office 主题">
  <a:themeElements>
    <a:clrScheme name="Office 主题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主题">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2400" dirty="0" smtClean="0">
            <a:latin typeface="Times New Roman" panose="02020603050405020304" pitchFamily="18" charset="0"/>
            <a:cs typeface="Times New Roman" panose="02020603050405020304" pitchFamily="18" charset="0"/>
          </a:defRPr>
        </a:defPPr>
      </a:lstStyle>
    </a:txDef>
  </a:objectDefaults>
  <a:extraClrSchemeLst>
    <a:extraClrScheme>
      <a:clrScheme name="Office 主题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主题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主题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主题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主题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主题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主题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主题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主题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主题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主题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华中科技大学专用幻灯片模板</Template>
  <TotalTime>7690</TotalTime>
  <Words>4873</Words>
  <Application>Microsoft Office PowerPoint</Application>
  <PresentationFormat>全屏显示(4:3)</PresentationFormat>
  <Paragraphs>331</Paragraphs>
  <Slides>64</Slides>
  <Notes>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4</vt:i4>
      </vt:variant>
      <vt:variant>
        <vt:lpstr>幻灯片标题</vt:lpstr>
      </vt:variant>
      <vt:variant>
        <vt:i4>64</vt:i4>
      </vt:variant>
    </vt:vector>
  </HeadingPairs>
  <TitlesOfParts>
    <vt:vector size="83" baseType="lpstr">
      <vt:lpstr>SymbolMT</vt:lpstr>
      <vt:lpstr>TimesNewRomanPS-BoldItalicMT</vt:lpstr>
      <vt:lpstr>TimesNewRomanPSMT</vt:lpstr>
      <vt:lpstr>黑体</vt:lpstr>
      <vt:lpstr>华文中宋</vt:lpstr>
      <vt:lpstr>楷体_GB2312</vt:lpstr>
      <vt:lpstr>宋体</vt:lpstr>
      <vt:lpstr>宋体</vt:lpstr>
      <vt:lpstr>Arial</vt:lpstr>
      <vt:lpstr>Calibri</vt:lpstr>
      <vt:lpstr>Cambria Math</vt:lpstr>
      <vt:lpstr>Symbol</vt:lpstr>
      <vt:lpstr>Times New Roman</vt:lpstr>
      <vt:lpstr>Wingdings</vt:lpstr>
      <vt:lpstr>Office 主题</vt:lpstr>
      <vt:lpstr>Equation</vt:lpstr>
      <vt:lpstr>Microsoft Drawing</vt:lpstr>
      <vt:lpstr>Equation.DSMT4</vt:lpstr>
      <vt:lpstr>MSDraw</vt:lpstr>
      <vt:lpstr>第八章 同步电动机运行基本原理</vt:lpstr>
      <vt:lpstr>PowerPoint 演示文稿</vt:lpstr>
      <vt:lpstr>一、同步电机的可逆原理</vt:lpstr>
      <vt:lpstr>可逆原理</vt:lpstr>
      <vt:lpstr>可逆原理</vt:lpstr>
      <vt:lpstr>二、 隐极同步电动机等值电路</vt:lpstr>
      <vt:lpstr>三、同步电动机的功率与转矩</vt:lpstr>
      <vt:lpstr>电磁转矩</vt:lpstr>
      <vt:lpstr>四、同步电动机的机械特性</vt:lpstr>
      <vt:lpstr>五、隐极同步电动机的稳定运行条件</vt:lpstr>
      <vt:lpstr>同步电动机的稳定运行条件</vt:lpstr>
      <vt:lpstr>六、凸极同步电动机的相量图</vt:lpstr>
      <vt:lpstr>七、凸极同步电动机的功角、矩角特性 </vt:lpstr>
      <vt:lpstr>讨论</vt:lpstr>
      <vt:lpstr>讨论：凸极电机的最大电磁功率与转矩</vt:lpstr>
      <vt:lpstr>PowerPoint 演示文稿</vt:lpstr>
      <vt:lpstr>PowerPoint 演示文稿</vt:lpstr>
      <vt:lpstr>例1</vt:lpstr>
      <vt:lpstr>例2</vt:lpstr>
      <vt:lpstr>PowerPoint 演示文稿</vt:lpstr>
      <vt:lpstr>PowerPoint 演示文稿</vt:lpstr>
      <vt:lpstr>九、负载变化对同步电动机运行的影响 ------认识功角和功率因数角  </vt:lpstr>
      <vt:lpstr>励磁恒定、负载变化的相量图 </vt:lpstr>
      <vt:lpstr> 例3：</vt:lpstr>
      <vt:lpstr>PowerPoint 演示文稿</vt:lpstr>
      <vt:lpstr>PowerPoint 演示文稿</vt:lpstr>
      <vt:lpstr>十、同步电动机励磁电流变化的影响------认识功角和功率因数角 </vt:lpstr>
      <vt:lpstr>讨论1</vt:lpstr>
      <vt:lpstr>讨论2</vt:lpstr>
      <vt:lpstr>例4：假定有三台电动机由一定距离的480V无穷大电网供电。感应电动机1消耗功率100kW，功率因数为0.78滞后；电机2消耗200kW，功率因数0.8滞后；第3台为同步电动机，消耗功率150kW。</vt:lpstr>
      <vt:lpstr>PowerPoint 演示文稿</vt:lpstr>
      <vt:lpstr>PowerPoint 演示文稿</vt:lpstr>
      <vt:lpstr>十、同步电动机的工作特性和V形曲线</vt:lpstr>
      <vt:lpstr>2、V形曲线：不同负载功率下励磁电流与定子电流的关系 </vt:lpstr>
      <vt:lpstr>V形曲线的特点</vt:lpstr>
      <vt:lpstr>例5   某同步电动机 208V，45kVA， 0.8超前功率因数，三角连接，60Hz ，同步电抗2.5W，定子电阻可忽略。铁耗为1.0kW，风阻、磨擦损耗1.5kW，初始带有15hp负载，运行在0.85滞后功率因数，励磁电流4.0A。</vt:lpstr>
      <vt:lpstr>PowerPoint 演示文稿</vt:lpstr>
      <vt:lpstr>PowerPoint 演示文稿</vt:lpstr>
      <vt:lpstr>V曲线仿真结果</vt:lpstr>
      <vt:lpstr>8.9 同步电动机的起动</vt:lpstr>
      <vt:lpstr>同步电动机的起动</vt:lpstr>
      <vt:lpstr>同步电动机的起动</vt:lpstr>
      <vt:lpstr>同步电动机的起动与调速方法</vt:lpstr>
      <vt:lpstr>同步电动机的变频调速方法</vt:lpstr>
      <vt:lpstr>8.9 同步电动机与发电机</vt:lpstr>
      <vt:lpstr>同步电动机与发电机</vt:lpstr>
      <vt:lpstr>讨论</vt:lpstr>
      <vt:lpstr>习题</vt:lpstr>
      <vt:lpstr>8.10 永磁同步电动机</vt:lpstr>
      <vt:lpstr>永磁同步电动机的结构 </vt:lpstr>
      <vt:lpstr>PowerPoint 演示文稿</vt:lpstr>
      <vt:lpstr>PowerPoint 演示文稿</vt:lpstr>
      <vt:lpstr>永磁同步电动机的矩角特性 </vt:lpstr>
      <vt:lpstr>永磁同步电动机的特点 </vt:lpstr>
      <vt:lpstr>径向式磁化与切向式磁化永磁转子</vt:lpstr>
      <vt:lpstr>永磁同步电动机的效率与功率因数特性</vt:lpstr>
      <vt:lpstr>不同永磁强度的永磁同步电动机稳定运行相量图 </vt:lpstr>
      <vt:lpstr>PowerPoint 演示文稿</vt:lpstr>
      <vt:lpstr>小结</vt:lpstr>
      <vt:lpstr>小结</vt:lpstr>
      <vt:lpstr>课程总结</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liyesong</dc:creator>
  <cp:lastModifiedBy>xm li</cp:lastModifiedBy>
  <cp:revision>624</cp:revision>
  <cp:lastPrinted>1601-01-01T00:00:00Z</cp:lastPrinted>
  <dcterms:created xsi:type="dcterms:W3CDTF">2020-10-12T07:29:00Z</dcterms:created>
  <dcterms:modified xsi:type="dcterms:W3CDTF">2025-11-19T08:27:45Z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
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258" r:id="rId3"/>
    <p:sldId id="271" r:id="rId4"/>
    <p:sldId id="257" r:id="rId5"/>
    <p:sldId id="259" r:id="rId6"/>
    <p:sldId id="260" r:id="rId7"/>
    <p:sldId id="261" r:id="rId8"/>
    <p:sldId id="262" r:id="rId9"/>
    <p:sldId id="263" r:id="rId10"/>
    <p:sldId id="264" r:id="rId11"/>
    <p:sldId id="267" r:id="rId12"/>
    <p:sldId id="270" r:id="rId13"/>
    <p:sldId id="265" r:id="rId14"/>
    <p:sldId id="266" r:id="rId15"/>
    <p:sldId id="691" r:id="rId16"/>
    <p:sldId id="692" r:id="rId17"/>
    <p:sldId id="693" r:id="rId18"/>
    <p:sldId id="339"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24" r:id="rId34"/>
    <p:sldId id="322" r:id="rId35"/>
    <p:sldId id="323" r:id="rId36"/>
    <p:sldId id="340" r:id="rId37"/>
    <p:sldId id="287" r:id="rId38"/>
    <p:sldId id="288" r:id="rId39"/>
    <p:sldId id="289" r:id="rId40"/>
    <p:sldId id="292" r:id="rId41"/>
    <p:sldId id="290" r:id="rId42"/>
    <p:sldId id="293" r:id="rId43"/>
    <p:sldId id="294" r:id="rId44"/>
    <p:sldId id="291" r:id="rId45"/>
    <p:sldId id="295" r:id="rId46"/>
    <p:sldId id="296" r:id="rId47"/>
    <p:sldId id="297" r:id="rId48"/>
    <p:sldId id="298" r:id="rId49"/>
    <p:sldId id="299" r:id="rId50"/>
    <p:sldId id="318" r:id="rId51"/>
    <p:sldId id="319" r:id="rId52"/>
    <p:sldId id="320" r:id="rId53"/>
    <p:sldId id="321" r:id="rId54"/>
    <p:sldId id="341" r:id="rId55"/>
    <p:sldId id="342" r:id="rId56"/>
    <p:sldId id="343" r:id="rId57"/>
    <p:sldId id="344" r:id="rId58"/>
    <p:sldId id="345" r:id="rId59"/>
    <p:sldId id="346" r:id="rId60"/>
    <p:sldId id="347" r:id="rId61"/>
    <p:sldId id="348" r:id="rId62"/>
    <p:sldId id="349" r:id="rId63"/>
    <p:sldId id="350"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yesong"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527" autoAdjust="0"/>
    <p:restoredTop sz="94420" autoAdjust="0"/>
  </p:normalViewPr>
  <p:slideViewPr>
    <p:cSldViewPr>
      <p:cViewPr varScale="1">
        <p:scale>
          <a:sx n="65" d="100"/>
          <a:sy n="65" d="100"/>
        </p:scale>
        <p:origin x="64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23634-C02E-456F-94D7-301AF7959481}" type="datetimeFigureOut">
              <a:rPr lang="zh-CN" altLang="en-US" smtClean="0"/>
              <a:t>2025/11/8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E4478-3C1B-47B8-87E5-B9363134E872}" type="slidenum">
              <a:rPr lang="zh-CN" altLang="en-US" smtClean="0"/>
              <a:t>‹#›</a:t>
            </a:fld>
            <a:endParaRPr lang="zh-CN" altLang="en-US"/>
          </a:p>
        </p:txBody>
      </p:sp>
    </p:spTree>
    <p:extLst>
      <p:ext uri="{BB962C8B-B14F-4D97-AF65-F5344CB8AC3E}">
        <p14:creationId xmlns:p14="http://schemas.microsoft.com/office/powerpoint/2010/main" val="23458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28D400D-D0A4-6AFE-9BA4-8C5F89739046}"/>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987F65C0-660A-3662-551C-7E64AC67A6D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233C8B8-E438-6F33-C15B-23997438324F}"/>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B04900E7-D877-CE58-5BA8-38481ABA078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450E09A-3FAA-015C-DFBA-62B38538F2FC}"/>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DA01ADA-7C45-754C-40F7-8BF1B8DFEFE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DE4478-3C1B-47B8-87E5-B9363134E872}" type="slidenum">
              <a:rPr lang="zh-CN" altLang="en-US" smtClean="0"/>
              <a:t>23</a:t>
            </a:fld>
            <a:endParaRPr lang="zh-CN" altLang="en-US"/>
          </a:p>
        </p:txBody>
      </p:sp>
    </p:spTree>
    <p:extLst>
      <p:ext uri="{BB962C8B-B14F-4D97-AF65-F5344CB8AC3E}">
        <p14:creationId xmlns:p14="http://schemas.microsoft.com/office/powerpoint/2010/main" val="2000102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A50BEDEC-D6A1-76B3-B81C-4DFEDEF35976}"/>
              </a:ext>
            </a:extLst>
          </p:cNvPr>
          <p:cNvSpPr>
            <a:spLocks noGrp="1" noRot="1" noChangeAspect="1" noChangeArrowheads="1" noTextEdit="1"/>
          </p:cNvSpPr>
          <p:nvPr>
            <p:ph type="sldImg"/>
          </p:nvPr>
        </p:nvSpPr>
        <p:spPr>
          <a:ln/>
        </p:spPr>
      </p:sp>
      <p:sp>
        <p:nvSpPr>
          <p:cNvPr id="10243" name="备注占位符 2">
            <a:extLst>
              <a:ext uri="{FF2B5EF4-FFF2-40B4-BE49-F238E27FC236}">
                <a16:creationId xmlns:a16="http://schemas.microsoft.com/office/drawing/2014/main" id="{0A2EFD0C-AFC8-EFCB-6FEE-0F024ED86F3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
        <p:nvSpPr>
          <p:cNvPr id="10244" name="灯片编号占位符 3">
            <a:extLst>
              <a:ext uri="{FF2B5EF4-FFF2-40B4-BE49-F238E27FC236}">
                <a16:creationId xmlns:a16="http://schemas.microsoft.com/office/drawing/2014/main" id="{A8453231-12F0-0CC1-7BAE-1B9932BCF97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楷体_GB2312" pitchFamily="49" charset="-122"/>
                <a:ea typeface="楷体_GB2312" pitchFamily="49" charset="-122"/>
              </a:defRPr>
            </a:lvl1pPr>
            <a:lvl2pPr marL="742950" indent="-285750">
              <a:defRPr sz="2800" b="1">
                <a:solidFill>
                  <a:schemeClr val="tx1"/>
                </a:solidFill>
                <a:latin typeface="楷体_GB2312" pitchFamily="49" charset="-122"/>
                <a:ea typeface="楷体_GB2312" pitchFamily="49" charset="-122"/>
              </a:defRPr>
            </a:lvl2pPr>
            <a:lvl3pPr marL="1143000" indent="-228600">
              <a:defRPr sz="2800" b="1">
                <a:solidFill>
                  <a:schemeClr val="tx1"/>
                </a:solidFill>
                <a:latin typeface="楷体_GB2312" pitchFamily="49" charset="-122"/>
                <a:ea typeface="楷体_GB2312" pitchFamily="49" charset="-122"/>
              </a:defRPr>
            </a:lvl3pPr>
            <a:lvl4pPr marL="1600200" indent="-228600">
              <a:defRPr sz="2800" b="1">
                <a:solidFill>
                  <a:schemeClr val="tx1"/>
                </a:solidFill>
                <a:latin typeface="楷体_GB2312" pitchFamily="49" charset="-122"/>
                <a:ea typeface="楷体_GB2312" pitchFamily="49" charset="-122"/>
              </a:defRPr>
            </a:lvl4pPr>
            <a:lvl5pPr marL="2057400" indent="-22860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fld id="{48EF86DD-98AC-454F-AD00-5CC1953D0D19}" type="slidenum">
              <a:rPr lang="en-US" altLang="zh-CN" sz="1200" b="0" smtClean="0">
                <a:latin typeface="Times New Roman" panose="02020603050405020304" pitchFamily="18" charset="0"/>
                <a:ea typeface="宋体" panose="02010600030101010101" pitchFamily="2" charset="-122"/>
              </a:rPr>
              <a:pPr/>
              <a:t>73</a:t>
            </a:fld>
            <a:endParaRPr lang="en-US" altLang="zh-CN" sz="1200" b="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CBEF7-F8C5-4992-8DBB-A497D4016018}" type="slidenum">
              <a:rPr lang="en-US" altLang="zh-CN"/>
              <a:pPr/>
              <a:t>‹#›</a:t>
            </a:fld>
            <a:endParaRPr lang="en-US" altLang="zh-CN"/>
          </a:p>
        </p:txBody>
      </p:sp>
    </p:spTree>
    <p:extLst>
      <p:ext uri="{BB962C8B-B14F-4D97-AF65-F5344CB8AC3E}">
        <p14:creationId xmlns:p14="http://schemas.microsoft.com/office/powerpoint/2010/main" val="120494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3B34B3-1432-4053-90C7-E0228297BE5F}" type="slidenum">
              <a:rPr lang="en-US" altLang="zh-CN"/>
              <a:pPr/>
              <a:t>‹#›</a:t>
            </a:fld>
            <a:endParaRPr lang="en-US" altLang="zh-CN"/>
          </a:p>
        </p:txBody>
      </p:sp>
    </p:spTree>
    <p:extLst>
      <p:ext uri="{BB962C8B-B14F-4D97-AF65-F5344CB8AC3E}">
        <p14:creationId xmlns:p14="http://schemas.microsoft.com/office/powerpoint/2010/main" val="5775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8613D7-8F0F-4D97-8B77-3E474B3DDD75}" type="slidenum">
              <a:rPr lang="en-US" altLang="zh-CN"/>
              <a:pPr/>
              <a:t>‹#›</a:t>
            </a:fld>
            <a:endParaRPr lang="en-US" altLang="zh-CN"/>
          </a:p>
        </p:txBody>
      </p:sp>
    </p:spTree>
    <p:extLst>
      <p:ext uri="{BB962C8B-B14F-4D97-AF65-F5344CB8AC3E}">
        <p14:creationId xmlns:p14="http://schemas.microsoft.com/office/powerpoint/2010/main" val="219703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8BD5AFC-BC3D-4EC6-B5B2-C76598C5654E}" type="slidenum">
              <a:rPr lang="en-US" altLang="zh-CN"/>
              <a:pPr/>
              <a:t>‹#›</a:t>
            </a:fld>
            <a:endParaRPr lang="en-US" altLang="zh-CN"/>
          </a:p>
        </p:txBody>
      </p:sp>
    </p:spTree>
    <p:extLst>
      <p:ext uri="{BB962C8B-B14F-4D97-AF65-F5344CB8AC3E}">
        <p14:creationId xmlns:p14="http://schemas.microsoft.com/office/powerpoint/2010/main" val="122001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8E1C6A7-CD62-42B7-8C1D-142229EE1B13}" type="slidenum">
              <a:rPr lang="en-US" altLang="zh-CN"/>
              <a:pPr/>
              <a:t>‹#›</a:t>
            </a:fld>
            <a:endParaRPr lang="en-US" altLang="zh-CN"/>
          </a:p>
        </p:txBody>
      </p:sp>
    </p:spTree>
    <p:extLst>
      <p:ext uri="{BB962C8B-B14F-4D97-AF65-F5344CB8AC3E}">
        <p14:creationId xmlns:p14="http://schemas.microsoft.com/office/powerpoint/2010/main" val="405206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03158C3-B50C-4001-8BD0-C5647A670245}" type="slidenum">
              <a:rPr lang="en-US" altLang="zh-CN"/>
              <a:pPr/>
              <a:t>‹#›</a:t>
            </a:fld>
            <a:endParaRPr lang="en-US" altLang="zh-CN"/>
          </a:p>
        </p:txBody>
      </p:sp>
    </p:spTree>
    <p:extLst>
      <p:ext uri="{BB962C8B-B14F-4D97-AF65-F5344CB8AC3E}">
        <p14:creationId xmlns:p14="http://schemas.microsoft.com/office/powerpoint/2010/main" val="332081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6D830B0-DF59-4281-898F-AF208100B213}" type="slidenum">
              <a:rPr lang="en-US" altLang="zh-CN"/>
              <a:pPr/>
              <a:t>‹#›</a:t>
            </a:fld>
            <a:endParaRPr lang="en-US" altLang="zh-CN"/>
          </a:p>
        </p:txBody>
      </p:sp>
    </p:spTree>
    <p:extLst>
      <p:ext uri="{BB962C8B-B14F-4D97-AF65-F5344CB8AC3E}">
        <p14:creationId xmlns:p14="http://schemas.microsoft.com/office/powerpoint/2010/main" val="282341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BC85226-5FCC-4AFD-B486-2748615DDC14}" type="slidenum">
              <a:rPr lang="en-US" altLang="zh-CN"/>
              <a:pPr/>
              <a:t>‹#›</a:t>
            </a:fld>
            <a:endParaRPr lang="en-US" altLang="zh-CN"/>
          </a:p>
        </p:txBody>
      </p:sp>
    </p:spTree>
    <p:extLst>
      <p:ext uri="{BB962C8B-B14F-4D97-AF65-F5344CB8AC3E}">
        <p14:creationId xmlns:p14="http://schemas.microsoft.com/office/powerpoint/2010/main" val="427475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614CC24-EEB7-428F-937F-EF248AEFDBA1}" type="slidenum">
              <a:rPr lang="en-US" altLang="zh-CN"/>
              <a:pPr/>
              <a:t>‹#›</a:t>
            </a:fld>
            <a:endParaRPr lang="en-US" altLang="zh-CN"/>
          </a:p>
        </p:txBody>
      </p:sp>
    </p:spTree>
    <p:extLst>
      <p:ext uri="{BB962C8B-B14F-4D97-AF65-F5344CB8AC3E}">
        <p14:creationId xmlns:p14="http://schemas.microsoft.com/office/powerpoint/2010/main" val="19286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1309C11-2328-40BB-8E64-EA9C5ED3B95C}" type="slidenum">
              <a:rPr lang="en-US" altLang="zh-CN"/>
              <a:pPr/>
              <a:t>‹#›</a:t>
            </a:fld>
            <a:endParaRPr lang="en-US" altLang="zh-CN"/>
          </a:p>
        </p:txBody>
      </p:sp>
    </p:spTree>
    <p:extLst>
      <p:ext uri="{BB962C8B-B14F-4D97-AF65-F5344CB8AC3E}">
        <p14:creationId xmlns:p14="http://schemas.microsoft.com/office/powerpoint/2010/main" val="203649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12753A-817A-416F-AB73-729B5AD08AAB}" type="slidenum">
              <a:rPr lang="en-US" altLang="zh-CN"/>
              <a:pPr/>
              <a:t>‹#›</a:t>
            </a:fld>
            <a:endParaRPr lang="en-US" altLang="zh-CN"/>
          </a:p>
        </p:txBody>
      </p:sp>
    </p:spTree>
    <p:extLst>
      <p:ext uri="{BB962C8B-B14F-4D97-AF65-F5344CB8AC3E}">
        <p14:creationId xmlns:p14="http://schemas.microsoft.com/office/powerpoint/2010/main" val="2555755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a:extLst>
              <a:ext uri="{FF2B5EF4-FFF2-40B4-BE49-F238E27FC236}">
                <a16:creationId xmlns:a16="http://schemas.microsoft.com/office/drawing/2014/main" id="{E8D7144F-1018-1F2B-C4D4-10862D21E28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CCAE449-0F02-CB40-6B36-16896EF67A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62BFD46-C4FD-AA04-0517-6E3BEF545A7F}"/>
              </a:ext>
            </a:extLst>
          </p:cNvPr>
          <p:cNvSpPr>
            <a:spLocks noGrp="1" noChangeArrowheads="1"/>
          </p:cNvSpPr>
          <p:nvPr>
            <p:ph type="sldNum" sz="quarter" idx="12"/>
          </p:nvPr>
        </p:nvSpPr>
        <p:spPr>
          <a:ln/>
        </p:spPr>
        <p:txBody>
          <a:bodyPr/>
          <a:lstStyle>
            <a:lvl1pPr>
              <a:defRPr/>
            </a:lvl1pPr>
          </a:lstStyle>
          <a:p>
            <a:pPr>
              <a:defRPr/>
            </a:pPr>
            <a:fld id="{5475B157-7B25-4623-986E-C603A67E3D9F}" type="slidenum">
              <a:rPr lang="en-US" altLang="zh-CN"/>
              <a:pPr>
                <a:defRPr/>
              </a:pPr>
              <a:t>‹#›</a:t>
            </a:fld>
            <a:endParaRPr lang="en-US" altLang="zh-CN"/>
          </a:p>
        </p:txBody>
      </p:sp>
    </p:spTree>
    <p:extLst>
      <p:ext uri="{BB962C8B-B14F-4D97-AF65-F5344CB8AC3E}">
        <p14:creationId xmlns:p14="http://schemas.microsoft.com/office/powerpoint/2010/main" val="3504830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43BA562-8B01-4708-BEC9-7E69676661F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6.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25.w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3.wmf"/></Relationships>
</file>

<file path=ppt/slides/_rels/slide31.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36.wmf"/><Relationship Id="rId4" Type="http://schemas.openxmlformats.org/officeDocument/2006/relationships/oleObject" Target="../embeddings/oleObject22.bin"/></Relationships>
</file>

<file path=ppt/slides/_rels/slide3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4.bin"/><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5.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8.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4.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47.wmf"/><Relationship Id="rId4" Type="http://schemas.openxmlformats.org/officeDocument/2006/relationships/oleObject" Target="../embeddings/oleObject32.bin"/><Relationship Id="rId9" Type="http://schemas.openxmlformats.org/officeDocument/2006/relationships/image" Target="../media/image49.wmf"/></Relationships>
</file>

<file path=ppt/slides/_rels/slide3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35.bin"/><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36.bin"/></Relationships>
</file>

<file path=ppt/slides/_rels/slide4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7.bin"/><Relationship Id="rId1"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oleObject" Target="../embeddings/oleObject38.bin"/></Relationships>
</file>

<file path=ppt/slides/_rels/slide4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39.bin"/><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1.wmf"/><Relationship Id="rId7" Type="http://schemas.openxmlformats.org/officeDocument/2006/relationships/image" Target="../media/image63.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62.wmf"/><Relationship Id="rId4" Type="http://schemas.openxmlformats.org/officeDocument/2006/relationships/oleObject" Target="../embeddings/oleObject41.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67.wmf"/></Relationships>
</file>

<file path=ppt/slides/_rels/slide4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9.wmf"/><Relationship Id="rId7" Type="http://schemas.openxmlformats.org/officeDocument/2006/relationships/image" Target="../media/image74.png"/><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oleObject" Target="../embeddings/oleObject49.bin"/><Relationship Id="rId9" Type="http://schemas.openxmlformats.org/officeDocument/2006/relationships/image" Target="../media/image76.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11" Type="http://schemas.openxmlformats.org/officeDocument/2006/relationships/image" Target="../media/image75.wmf"/><Relationship Id="rId5" Type="http://schemas.openxmlformats.org/officeDocument/2006/relationships/image" Target="../media/image72.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74.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78.w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12.xml"/><Relationship Id="rId6" Type="http://schemas.openxmlformats.org/officeDocument/2006/relationships/oleObject" Target="../embeddings/oleObject57.bin"/><Relationship Id="rId11" Type="http://schemas.openxmlformats.org/officeDocument/2006/relationships/image" Target="../media/image80.wmf"/><Relationship Id="rId5" Type="http://schemas.openxmlformats.org/officeDocument/2006/relationships/image" Target="../media/image77.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79.wmf"/><Relationship Id="rId14" Type="http://schemas.openxmlformats.org/officeDocument/2006/relationships/image" Target="../media/image8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image" Target="../media/image83.jpeg"/><Relationship Id="rId1" Type="http://schemas.openxmlformats.org/officeDocument/2006/relationships/slideLayout" Target="../slideLayouts/slideLayout2.xml"/><Relationship Id="rId6" Type="http://schemas.openxmlformats.org/officeDocument/2006/relationships/image" Target="../media/image85.wmf"/><Relationship Id="rId5" Type="http://schemas.openxmlformats.org/officeDocument/2006/relationships/oleObject" Target="../embeddings/oleObject62.bin"/><Relationship Id="rId4" Type="http://schemas.openxmlformats.org/officeDocument/2006/relationships/image" Target="../media/image84.wmf"/></Relationships>
</file>

<file path=ppt/slides/_rels/slide52.x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oleObject" Target="../embeddings/oleObject63.bin"/><Relationship Id="rId1" Type="http://schemas.openxmlformats.org/officeDocument/2006/relationships/slideLayout" Target="../slideLayouts/slideLayout2.xml"/><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slides/_rels/slide53.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64.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2.wmf"/><Relationship Id="rId7" Type="http://schemas.openxmlformats.org/officeDocument/2006/relationships/image" Target="../media/image94.wmf"/><Relationship Id="rId2" Type="http://schemas.openxmlformats.org/officeDocument/2006/relationships/oleObject" Target="../embeddings/oleObject65.bin"/><Relationship Id="rId1" Type="http://schemas.openxmlformats.org/officeDocument/2006/relationships/slideLayout" Target="../slideLayouts/slideLayout2.xml"/><Relationship Id="rId6" Type="http://schemas.openxmlformats.org/officeDocument/2006/relationships/oleObject" Target="../embeddings/oleObject67.bin"/><Relationship Id="rId5" Type="http://schemas.openxmlformats.org/officeDocument/2006/relationships/image" Target="../media/image93.wmf"/><Relationship Id="rId4" Type="http://schemas.openxmlformats.org/officeDocument/2006/relationships/oleObject" Target="../embeddings/oleObject66.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oleObject" Target="../embeddings/oleObject70.bin"/><Relationship Id="rId11" Type="http://schemas.openxmlformats.org/officeDocument/2006/relationships/image" Target="../media/image99.wmf"/><Relationship Id="rId5" Type="http://schemas.openxmlformats.org/officeDocument/2006/relationships/image" Target="../media/image96.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98.wmf"/></Relationships>
</file>

<file path=ppt/slides/_rels/slide56.xml.rels><?xml version="1.0" encoding="UTF-8" standalone="yes"?>
<Relationships xmlns="http://schemas.openxmlformats.org/package/2006/relationships"><Relationship Id="rId3" Type="http://schemas.openxmlformats.org/officeDocument/2006/relationships/image" Target="../media/image95.wmf"/><Relationship Id="rId7" Type="http://schemas.openxmlformats.org/officeDocument/2006/relationships/image" Target="../media/image101.wmf"/><Relationship Id="rId2" Type="http://schemas.openxmlformats.org/officeDocument/2006/relationships/oleObject" Target="../embeddings/oleObject73.bin"/><Relationship Id="rId1" Type="http://schemas.openxmlformats.org/officeDocument/2006/relationships/slideLayout" Target="../slideLayouts/slideLayout2.xml"/><Relationship Id="rId6" Type="http://schemas.openxmlformats.org/officeDocument/2006/relationships/oleObject" Target="../embeddings/oleObject75.bin"/><Relationship Id="rId5" Type="http://schemas.openxmlformats.org/officeDocument/2006/relationships/image" Target="../media/image100.wmf"/><Relationship Id="rId4" Type="http://schemas.openxmlformats.org/officeDocument/2006/relationships/oleObject" Target="../embeddings/oleObject74.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69.wmf"/><Relationship Id="rId3" Type="http://schemas.openxmlformats.org/officeDocument/2006/relationships/image" Target="../media/image102.wmf"/><Relationship Id="rId7" Type="http://schemas.openxmlformats.org/officeDocument/2006/relationships/image" Target="../media/image104.wmf"/><Relationship Id="rId12" Type="http://schemas.openxmlformats.org/officeDocument/2006/relationships/oleObject" Target="../embeddings/oleObject81.bin"/><Relationship Id="rId2" Type="http://schemas.openxmlformats.org/officeDocument/2006/relationships/oleObject" Target="../embeddings/oleObject76.bin"/><Relationship Id="rId1" Type="http://schemas.openxmlformats.org/officeDocument/2006/relationships/slideLayout" Target="../slideLayouts/slideLayout2.xml"/><Relationship Id="rId6" Type="http://schemas.openxmlformats.org/officeDocument/2006/relationships/oleObject" Target="../embeddings/oleObject78.bin"/><Relationship Id="rId11" Type="http://schemas.openxmlformats.org/officeDocument/2006/relationships/image" Target="../media/image106.wmf"/><Relationship Id="rId5" Type="http://schemas.openxmlformats.org/officeDocument/2006/relationships/image" Target="../media/image103.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105.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image" Target="../media/image107.wmf"/><Relationship Id="rId7" Type="http://schemas.openxmlformats.org/officeDocument/2006/relationships/image" Target="../media/image109.wmf"/><Relationship Id="rId2" Type="http://schemas.openxmlformats.org/officeDocument/2006/relationships/oleObject" Target="../embeddings/oleObject82.bin"/><Relationship Id="rId1" Type="http://schemas.openxmlformats.org/officeDocument/2006/relationships/slideLayout" Target="../slideLayouts/slideLayout2.xml"/><Relationship Id="rId6" Type="http://schemas.openxmlformats.org/officeDocument/2006/relationships/oleObject" Target="../embeddings/oleObject84.bin"/><Relationship Id="rId5" Type="http://schemas.openxmlformats.org/officeDocument/2006/relationships/image" Target="../media/image108.wmf"/><Relationship Id="rId4" Type="http://schemas.openxmlformats.org/officeDocument/2006/relationships/oleObject" Target="../embeddings/oleObject83.bin"/><Relationship Id="rId9" Type="http://schemas.openxmlformats.org/officeDocument/2006/relationships/image" Target="../media/image69.wmf"/></Relationships>
</file>

<file path=ppt/slides/_rels/slide59.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oleObject" Target="../embeddings/oleObject86.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oleObject" Target="../embeddings/oleObject87.bin"/><Relationship Id="rId1" Type="http://schemas.openxmlformats.org/officeDocument/2006/relationships/slideLayout" Target="../slideLayouts/slideLayout2.xml"/><Relationship Id="rId5" Type="http://schemas.openxmlformats.org/officeDocument/2006/relationships/image" Target="../media/image112.wmf"/><Relationship Id="rId4" Type="http://schemas.openxmlformats.org/officeDocument/2006/relationships/oleObject" Target="../embeddings/oleObject88.bin"/></Relationships>
</file>

<file path=ppt/slides/_rels/slide61.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oleObject" Target="../embeddings/oleObject89.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oleObject" Target="../embeddings/oleObject90.bin"/><Relationship Id="rId1" Type="http://schemas.openxmlformats.org/officeDocument/2006/relationships/slideLayout" Target="../slideLayouts/slideLayout2.xml"/><Relationship Id="rId5" Type="http://schemas.openxmlformats.org/officeDocument/2006/relationships/image" Target="../media/image115.wmf"/><Relationship Id="rId4" Type="http://schemas.openxmlformats.org/officeDocument/2006/relationships/oleObject" Target="../embeddings/oleObject91.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oleObject" Target="../embeddings/oleObject92.bin"/><Relationship Id="rId1" Type="http://schemas.openxmlformats.org/officeDocument/2006/relationships/slideLayout" Target="../slideLayouts/slideLayout2.xml"/><Relationship Id="rId5" Type="http://schemas.openxmlformats.org/officeDocument/2006/relationships/image" Target="../media/image117.wmf"/><Relationship Id="rId4" Type="http://schemas.openxmlformats.org/officeDocument/2006/relationships/oleObject" Target="../embeddings/oleObject93.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image" Target="../media/image118.wmf"/><Relationship Id="rId7" Type="http://schemas.openxmlformats.org/officeDocument/2006/relationships/image" Target="../media/image120.wmf"/><Relationship Id="rId2" Type="http://schemas.openxmlformats.org/officeDocument/2006/relationships/oleObject" Target="../embeddings/oleObject94.bin"/><Relationship Id="rId1" Type="http://schemas.openxmlformats.org/officeDocument/2006/relationships/slideLayout" Target="../slideLayouts/slideLayout2.xml"/><Relationship Id="rId6" Type="http://schemas.openxmlformats.org/officeDocument/2006/relationships/oleObject" Target="../embeddings/oleObject96.bin"/><Relationship Id="rId5" Type="http://schemas.openxmlformats.org/officeDocument/2006/relationships/image" Target="../media/image119.wmf"/><Relationship Id="rId4" Type="http://schemas.openxmlformats.org/officeDocument/2006/relationships/oleObject" Target="../embeddings/oleObject95.bin"/><Relationship Id="rId9" Type="http://schemas.openxmlformats.org/officeDocument/2006/relationships/image" Target="../media/image121.wmf"/></Relationships>
</file>

<file path=ppt/slides/_rels/slide66.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oleObject" Target="../embeddings/oleObject98.bin"/><Relationship Id="rId1" Type="http://schemas.openxmlformats.org/officeDocument/2006/relationships/slideLayout" Target="../slideLayouts/slideLayout2.xml"/><Relationship Id="rId4" Type="http://schemas.openxmlformats.org/officeDocument/2006/relationships/image" Target="../media/image123.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4.wmf"/><Relationship Id="rId7" Type="http://schemas.openxmlformats.org/officeDocument/2006/relationships/image" Target="../media/image126.wmf"/><Relationship Id="rId2" Type="http://schemas.openxmlformats.org/officeDocument/2006/relationships/oleObject" Target="../embeddings/oleObject99.bin"/><Relationship Id="rId1" Type="http://schemas.openxmlformats.org/officeDocument/2006/relationships/slideLayout" Target="../slideLayouts/slideLayout2.xml"/><Relationship Id="rId6" Type="http://schemas.openxmlformats.org/officeDocument/2006/relationships/oleObject" Target="../embeddings/oleObject101.bin"/><Relationship Id="rId5" Type="http://schemas.openxmlformats.org/officeDocument/2006/relationships/image" Target="../media/image125.wmf"/><Relationship Id="rId4" Type="http://schemas.openxmlformats.org/officeDocument/2006/relationships/oleObject" Target="../embeddings/oleObject100.bin"/></Relationships>
</file>

<file path=ppt/slides/_rels/slide69.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oleObject" Target="../embeddings/oleObject102.bin"/><Relationship Id="rId1" Type="http://schemas.openxmlformats.org/officeDocument/2006/relationships/slideLayout" Target="../slideLayouts/slideLayout2.xml"/><Relationship Id="rId5" Type="http://schemas.openxmlformats.org/officeDocument/2006/relationships/image" Target="../media/image128.wmf"/><Relationship Id="rId4" Type="http://schemas.openxmlformats.org/officeDocument/2006/relationships/oleObject" Target="../embeddings/oleObject103.bin"/></Relationships>
</file>

<file path=ppt/slides/_rels/slide70.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oleObject" Target="../embeddings/oleObject104.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0.wmf"/><Relationship Id="rId7" Type="http://schemas.openxmlformats.org/officeDocument/2006/relationships/image" Target="../media/image132.wmf"/><Relationship Id="rId2" Type="http://schemas.openxmlformats.org/officeDocument/2006/relationships/oleObject" Target="../embeddings/oleObject105.bin"/><Relationship Id="rId1" Type="http://schemas.openxmlformats.org/officeDocument/2006/relationships/slideLayout" Target="../slideLayouts/slideLayout2.xml"/><Relationship Id="rId6" Type="http://schemas.openxmlformats.org/officeDocument/2006/relationships/oleObject" Target="../embeddings/oleObject107.bin"/><Relationship Id="rId5" Type="http://schemas.openxmlformats.org/officeDocument/2006/relationships/image" Target="../media/image131.wmf"/><Relationship Id="rId4" Type="http://schemas.openxmlformats.org/officeDocument/2006/relationships/oleObject" Target="../embeddings/oleObject106.bin"/></Relationships>
</file>

<file path=ppt/slides/_rels/slide72.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image" Target="../media/image13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5.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109.bin"/><Relationship Id="rId1" Type="http://schemas.openxmlformats.org/officeDocument/2006/relationships/slideLayout" Target="../slideLayouts/slideLayout2.xml"/><Relationship Id="rId6" Type="http://schemas.openxmlformats.org/officeDocument/2006/relationships/oleObject" Target="../embeddings/oleObject111.bin"/><Relationship Id="rId5" Type="http://schemas.openxmlformats.org/officeDocument/2006/relationships/image" Target="../media/image137.wmf"/><Relationship Id="rId4" Type="http://schemas.openxmlformats.org/officeDocument/2006/relationships/oleObject" Target="../embeddings/oleObject110.bin"/><Relationship Id="rId9" Type="http://schemas.openxmlformats.org/officeDocument/2006/relationships/image" Target="../media/image99.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4B700FC-CEA9-A59F-6AA2-D0969FBC31B8}"/>
              </a:ext>
            </a:extLst>
          </p:cNvPr>
          <p:cNvSpPr>
            <a:spLocks noGrp="1"/>
          </p:cNvSpPr>
          <p:nvPr>
            <p:ph type="sldNum" sz="quarter" idx="12"/>
          </p:nvPr>
        </p:nvSpPr>
        <p:spPr>
          <a:xfrm>
            <a:off x="6556292" y="6406933"/>
            <a:ext cx="2133600" cy="476250"/>
          </a:xfrm>
        </p:spPr>
        <p:txBody>
          <a:bodyPr/>
          <a:lstStyle/>
          <a:p>
            <a:pPr>
              <a:defRPr/>
            </a:pPr>
            <a:fld id="{CECD9A08-C717-4A8A-9E38-36EE3C17BFB8}" type="slidenum">
              <a:rPr lang="en-US" altLang="zh-CN"/>
              <a:pPr>
                <a:defRPr/>
              </a:pPr>
              <a:t>1</a:t>
            </a:fld>
            <a:endParaRPr lang="en-US" altLang="zh-CN"/>
          </a:p>
        </p:txBody>
      </p:sp>
      <p:sp>
        <p:nvSpPr>
          <p:cNvPr id="4099" name="Rectangle 2">
            <a:extLst>
              <a:ext uri="{FF2B5EF4-FFF2-40B4-BE49-F238E27FC236}">
                <a16:creationId xmlns:a16="http://schemas.microsoft.com/office/drawing/2014/main" id="{CE3E5B66-0825-C45F-2B67-9C068A25A834}"/>
              </a:ext>
            </a:extLst>
          </p:cNvPr>
          <p:cNvSpPr>
            <a:spLocks noGrp="1" noChangeArrowheads="1"/>
          </p:cNvSpPr>
          <p:nvPr>
            <p:ph type="ctrTitle"/>
          </p:nvPr>
        </p:nvSpPr>
        <p:spPr>
          <a:xfrm>
            <a:off x="-247212" y="758608"/>
            <a:ext cx="7772400" cy="685800"/>
          </a:xfrm>
        </p:spPr>
        <p:txBody>
          <a:bodyPr anchor="ctr"/>
          <a:lstStyle/>
          <a:p>
            <a:pPr eaLnBrk="1" hangingPunct="1"/>
            <a:r>
              <a:rPr lang="zh-CN" altLang="en-US" sz="3600" dirty="0">
                <a:solidFill>
                  <a:schemeClr val="tx1"/>
                </a:solidFill>
                <a:latin typeface="华文中宋" panose="02010600040101010101" pitchFamily="2" charset="-122"/>
                <a:ea typeface="华文中宋" panose="02010600040101010101" pitchFamily="2" charset="-122"/>
              </a:rPr>
              <a:t>第七章 交流同步发电机</a:t>
            </a:r>
            <a:endParaRPr lang="en-US" altLang="zh-CN" sz="3600" dirty="0">
              <a:solidFill>
                <a:schemeClr val="tx1"/>
              </a:solidFill>
              <a:latin typeface="华文中宋" panose="02010600040101010101" pitchFamily="2" charset="-122"/>
              <a:ea typeface="华文中宋" panose="02010600040101010101" pitchFamily="2" charset="-122"/>
            </a:endParaRPr>
          </a:p>
        </p:txBody>
      </p:sp>
      <p:sp>
        <p:nvSpPr>
          <p:cNvPr id="4100" name="Rectangle 3">
            <a:extLst>
              <a:ext uri="{FF2B5EF4-FFF2-40B4-BE49-F238E27FC236}">
                <a16:creationId xmlns:a16="http://schemas.microsoft.com/office/drawing/2014/main" id="{4C867847-DD9B-26B5-4150-660E174AE2C0}"/>
              </a:ext>
            </a:extLst>
          </p:cNvPr>
          <p:cNvSpPr>
            <a:spLocks noGrp="1" noChangeArrowheads="1"/>
          </p:cNvSpPr>
          <p:nvPr>
            <p:ph type="subTitle" idx="1"/>
          </p:nvPr>
        </p:nvSpPr>
        <p:spPr>
          <a:xfrm>
            <a:off x="3638988" y="1269783"/>
            <a:ext cx="6400800" cy="533400"/>
          </a:xfrm>
        </p:spPr>
        <p:txBody>
          <a:bodyPr/>
          <a:lstStyle/>
          <a:p>
            <a:pPr eaLnBrk="1" hangingPunct="1"/>
            <a:r>
              <a:rPr lang="en-US" altLang="zh-CN" sz="3200" dirty="0"/>
              <a:t>Synchronous Generators</a:t>
            </a:r>
          </a:p>
        </p:txBody>
      </p:sp>
      <p:sp>
        <p:nvSpPr>
          <p:cNvPr id="2052" name="Text Box 4">
            <a:extLst>
              <a:ext uri="{FF2B5EF4-FFF2-40B4-BE49-F238E27FC236}">
                <a16:creationId xmlns:a16="http://schemas.microsoft.com/office/drawing/2014/main" id="{C03ACAF5-68CF-AC7C-85B9-B16329D2198D}"/>
              </a:ext>
            </a:extLst>
          </p:cNvPr>
          <p:cNvSpPr txBox="1">
            <a:spLocks noChangeArrowheads="1"/>
          </p:cNvSpPr>
          <p:nvPr/>
        </p:nvSpPr>
        <p:spPr bwMode="auto">
          <a:xfrm>
            <a:off x="3092" y="1914308"/>
            <a:ext cx="8991600" cy="830997"/>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dirty="0">
                <a:latin typeface="Times New Roman" panose="02020603050405020304" pitchFamily="18" charset="0"/>
                <a:ea typeface="宋体" panose="02010600030101010101" pitchFamily="2" charset="-122"/>
              </a:rPr>
              <a:t>	</a:t>
            </a:r>
            <a:r>
              <a:rPr kumimoji="1" lang="zh-CN" altLang="en-US" sz="2400" dirty="0">
                <a:latin typeface="Times New Roman" panose="02020603050405020304" pitchFamily="18" charset="0"/>
                <a:ea typeface="宋体" panose="02010600030101010101" pitchFamily="2" charset="-122"/>
              </a:rPr>
              <a:t>交流同步发电机</a:t>
            </a:r>
            <a:r>
              <a:rPr kumimoji="1" lang="zh-CN" altLang="en-US" sz="2400" b="0" dirty="0">
                <a:latin typeface="Times New Roman" panose="02020603050405020304" pitchFamily="18" charset="0"/>
                <a:ea typeface="宋体" panose="02010600030101010101" pitchFamily="2" charset="-122"/>
              </a:rPr>
              <a:t>：将动能转换为特定电压和频率电能的装置</a:t>
            </a:r>
            <a:r>
              <a:rPr kumimoji="1" lang="en-US" altLang="zh-CN" sz="2400" b="0" dirty="0">
                <a:latin typeface="Times New Roman" panose="02020603050405020304" pitchFamily="18" charset="0"/>
                <a:ea typeface="宋体" panose="02010600030101010101" pitchFamily="2" charset="-122"/>
              </a:rPr>
              <a:t> </a:t>
            </a:r>
            <a:r>
              <a:rPr kumimoji="1" lang="zh-CN" altLang="en-US" sz="2400" b="0" dirty="0">
                <a:latin typeface="Times New Roman" panose="02020603050405020304" pitchFamily="18" charset="0"/>
                <a:ea typeface="宋体" panose="02010600030101010101" pitchFamily="2" charset="-122"/>
              </a:rPr>
              <a:t>。</a:t>
            </a:r>
            <a:r>
              <a:rPr kumimoji="1" lang="en-US" altLang="zh-CN" sz="2400" b="0" dirty="0">
                <a:latin typeface="Times New Roman" panose="02020603050405020304" pitchFamily="18" charset="0"/>
                <a:ea typeface="宋体" panose="02010600030101010101" pitchFamily="2" charset="-122"/>
              </a:rPr>
              <a:t> </a:t>
            </a:r>
          </a:p>
        </p:txBody>
      </p:sp>
      <p:sp>
        <p:nvSpPr>
          <p:cNvPr id="2054" name="Text Box 6">
            <a:extLst>
              <a:ext uri="{FF2B5EF4-FFF2-40B4-BE49-F238E27FC236}">
                <a16:creationId xmlns:a16="http://schemas.microsoft.com/office/drawing/2014/main" id="{C65F041E-4872-09D6-D585-F15117C38A9C}"/>
              </a:ext>
            </a:extLst>
          </p:cNvPr>
          <p:cNvSpPr txBox="1">
            <a:spLocks noChangeArrowheads="1"/>
          </p:cNvSpPr>
          <p:nvPr/>
        </p:nvSpPr>
        <p:spPr bwMode="auto">
          <a:xfrm>
            <a:off x="307892" y="4546383"/>
            <a:ext cx="8534400" cy="8309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Tx/>
              <a:buNone/>
            </a:pPr>
            <a:r>
              <a:rPr kumimoji="1" lang="en-US" altLang="zh-CN" sz="2400" b="0" dirty="0">
                <a:latin typeface="Times New Roman" panose="02020603050405020304" pitchFamily="18" charset="0"/>
                <a:ea typeface="宋体" panose="02010600030101010101" pitchFamily="2" charset="-122"/>
              </a:rPr>
              <a:t>        </a:t>
            </a:r>
            <a:r>
              <a:rPr kumimoji="1" lang="zh-CN" altLang="en-US" sz="2400" dirty="0">
                <a:latin typeface="Times New Roman" panose="02020603050405020304" pitchFamily="18" charset="0"/>
                <a:ea typeface="宋体" panose="02010600030101010101" pitchFamily="2" charset="-122"/>
              </a:rPr>
              <a:t>交流同步电动机：</a:t>
            </a:r>
            <a:r>
              <a:rPr kumimoji="1" lang="zh-CN" altLang="en-US" sz="2400" b="0" dirty="0">
                <a:latin typeface="Times New Roman" panose="02020603050405020304" pitchFamily="18" charset="0"/>
                <a:ea typeface="宋体" panose="02010600030101010101" pitchFamily="2" charset="-122"/>
              </a:rPr>
              <a:t>和交流同步发电机具有相同的物理特性和组成结构，除了有功功率的流向相反。</a:t>
            </a:r>
            <a:endParaRPr kumimoji="1" lang="en-US" altLang="zh-CN" sz="2400" b="0" dirty="0">
              <a:latin typeface="Times New Roman" panose="02020603050405020304" pitchFamily="18" charset="0"/>
              <a:ea typeface="宋体" panose="02010600030101010101" pitchFamily="2" charset="-122"/>
            </a:endParaRPr>
          </a:p>
        </p:txBody>
      </p:sp>
      <p:sp>
        <p:nvSpPr>
          <p:cNvPr id="2055" name="Text Box 7">
            <a:extLst>
              <a:ext uri="{FF2B5EF4-FFF2-40B4-BE49-F238E27FC236}">
                <a16:creationId xmlns:a16="http://schemas.microsoft.com/office/drawing/2014/main" id="{1608C28C-17D6-53B2-2F65-9128DCE963B5}"/>
              </a:ext>
            </a:extLst>
          </p:cNvPr>
          <p:cNvSpPr txBox="1">
            <a:spLocks noChangeArrowheads="1"/>
          </p:cNvSpPr>
          <p:nvPr/>
        </p:nvSpPr>
        <p:spPr bwMode="auto">
          <a:xfrm>
            <a:off x="155492" y="2676308"/>
            <a:ext cx="8991600"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5000"/>
              </a:lnSpc>
            </a:pPr>
            <a:r>
              <a:rPr kumimoji="1" lang="en-US" altLang="zh-CN" sz="2400" b="0" dirty="0">
                <a:latin typeface="Times New Roman" panose="02020603050405020304" pitchFamily="18" charset="0"/>
                <a:ea typeface="宋体" panose="02010600030101010101" pitchFamily="2" charset="-122"/>
              </a:rPr>
              <a:t>           </a:t>
            </a:r>
            <a:r>
              <a:rPr kumimoji="1" lang="zh-CN" altLang="en-US" sz="2400" dirty="0">
                <a:solidFill>
                  <a:srgbClr val="FF0000"/>
                </a:solidFill>
                <a:latin typeface="Times New Roman" panose="02020603050405020304" pitchFamily="18" charset="0"/>
                <a:ea typeface="宋体" panose="02010600030101010101" pitchFamily="2" charset="-122"/>
              </a:rPr>
              <a:t>同步</a:t>
            </a:r>
            <a:r>
              <a:rPr kumimoji="1" lang="zh-CN" altLang="en-US" sz="2400" b="0" dirty="0">
                <a:latin typeface="Times New Roman" panose="02020603050405020304" pitchFamily="18" charset="0"/>
                <a:ea typeface="宋体" panose="02010600030101010101" pitchFamily="2" charset="-122"/>
              </a:rPr>
              <a:t>：发电机的电气频率被锁定或与机械旋转轴角频率一致。</a:t>
            </a:r>
            <a:r>
              <a:rPr kumimoji="1" lang="en-US" altLang="zh-CN" sz="2400" b="0" dirty="0">
                <a:latin typeface="Times New Roman" panose="02020603050405020304" pitchFamily="18" charset="0"/>
                <a:ea typeface="宋体" panose="02010600030101010101" pitchFamily="2" charset="-122"/>
              </a:rPr>
              <a:t> </a:t>
            </a:r>
          </a:p>
        </p:txBody>
      </p:sp>
      <p:sp>
        <p:nvSpPr>
          <p:cNvPr id="2056" name="Text Box 8">
            <a:extLst>
              <a:ext uri="{FF2B5EF4-FFF2-40B4-BE49-F238E27FC236}">
                <a16:creationId xmlns:a16="http://schemas.microsoft.com/office/drawing/2014/main" id="{BDE6BF35-DC1F-8BD1-EE12-9E7DF4C4723F}"/>
              </a:ext>
            </a:extLst>
          </p:cNvPr>
          <p:cNvSpPr txBox="1">
            <a:spLocks noChangeArrowheads="1"/>
          </p:cNvSpPr>
          <p:nvPr/>
        </p:nvSpPr>
        <p:spPr bwMode="auto">
          <a:xfrm>
            <a:off x="3092" y="3438308"/>
            <a:ext cx="9144000" cy="822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5000"/>
              </a:lnSpc>
            </a:pPr>
            <a:r>
              <a:rPr kumimoji="1" lang="en-US" altLang="zh-CN" sz="2400" b="0" dirty="0">
                <a:latin typeface="Times New Roman" panose="02020603050405020304" pitchFamily="18" charset="0"/>
                <a:ea typeface="宋体" panose="02010600030101010101" pitchFamily="2" charset="-122"/>
              </a:rPr>
              <a:t>            </a:t>
            </a:r>
            <a:r>
              <a:rPr kumimoji="1" lang="zh-CN" altLang="en-US" sz="2400" b="0" dirty="0">
                <a:latin typeface="Times New Roman" panose="02020603050405020304" pitchFamily="18" charset="0"/>
                <a:ea typeface="宋体" panose="02010600030101010101" pitchFamily="2" charset="-122"/>
              </a:rPr>
              <a:t>交流同步发电机在全世界被用来生产满足社会需求的巨大电力。</a:t>
            </a:r>
            <a:endParaRPr lang="en-US" altLang="zh-CN" dirty="0"/>
          </a:p>
        </p:txBody>
      </p:sp>
      <p:sp>
        <p:nvSpPr>
          <p:cNvPr id="2057" name="Text Box 9">
            <a:extLst>
              <a:ext uri="{FF2B5EF4-FFF2-40B4-BE49-F238E27FC236}">
                <a16:creationId xmlns:a16="http://schemas.microsoft.com/office/drawing/2014/main" id="{67501674-09A7-B999-DB65-DB5DC63495C0}"/>
              </a:ext>
            </a:extLst>
          </p:cNvPr>
          <p:cNvSpPr txBox="1">
            <a:spLocks noChangeArrowheads="1"/>
          </p:cNvSpPr>
          <p:nvPr/>
        </p:nvSpPr>
        <p:spPr bwMode="auto">
          <a:xfrm>
            <a:off x="3092" y="5870358"/>
            <a:ext cx="883920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kumimoji="1" lang="en-US" altLang="zh-CN" sz="2400" dirty="0">
                <a:solidFill>
                  <a:srgbClr val="FF0000"/>
                </a:solidFill>
                <a:latin typeface="Times New Roman" panose="02020603050405020304" pitchFamily="18" charset="0"/>
                <a:ea typeface="宋体" panose="02010600030101010101" pitchFamily="2" charset="-122"/>
              </a:rPr>
              <a:t>          </a:t>
            </a:r>
            <a:r>
              <a:rPr kumimoji="1" lang="zh-CN" altLang="en-US" sz="2400" dirty="0">
                <a:solidFill>
                  <a:srgbClr val="FF0000"/>
                </a:solidFill>
                <a:latin typeface="Times New Roman" panose="02020603050405020304" pitchFamily="18" charset="0"/>
                <a:ea typeface="宋体" panose="02010600030101010101" pitchFamily="2" charset="-122"/>
              </a:rPr>
              <a:t>同步电机的速度是和负载无关的，不论是面对空载还是最大可能的负载，均保持不变。</a:t>
            </a:r>
            <a:endParaRPr kumimoji="1" lang="en-US" altLang="zh-CN" sz="2400"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dissolve">
                                      <p:cBhvr>
                                        <p:cTn id="7" dur="500"/>
                                        <p:tgtEl>
                                          <p:spTgt spid="20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5"/>
                                        </p:tgtEl>
                                        <p:attrNameLst>
                                          <p:attrName>style.visibility</p:attrName>
                                        </p:attrNameLst>
                                      </p:cBhvr>
                                      <p:to>
                                        <p:strVal val="visible"/>
                                      </p:to>
                                    </p:set>
                                    <p:animEffect transition="in" filter="blinds(horizontal)">
                                      <p:cBhvr>
                                        <p:cTn id="12" dur="500"/>
                                        <p:tgtEl>
                                          <p:spTgt spid="20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56"/>
                                        </p:tgtEl>
                                        <p:attrNameLst>
                                          <p:attrName>style.visibility</p:attrName>
                                        </p:attrNameLst>
                                      </p:cBhvr>
                                      <p:to>
                                        <p:strVal val="visible"/>
                                      </p:to>
                                    </p:set>
                                    <p:animEffect transition="in" filter="blinds(horizontal)">
                                      <p:cBhvr>
                                        <p:cTn id="17" dur="500"/>
                                        <p:tgtEl>
                                          <p:spTgt spid="20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2054"/>
                                        </p:tgtEl>
                                        <p:attrNameLst>
                                          <p:attrName>style.visibility</p:attrName>
                                        </p:attrNameLst>
                                      </p:cBhvr>
                                      <p:to>
                                        <p:strVal val="visible"/>
                                      </p:to>
                                    </p:set>
                                    <p:animEffect transition="in" filter="barn(outHorizontal)">
                                      <p:cBhvr>
                                        <p:cTn id="22" dur="500"/>
                                        <p:tgtEl>
                                          <p:spTgt spid="20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57"/>
                                        </p:tgtEl>
                                        <p:attrNameLst>
                                          <p:attrName>style.visibility</p:attrName>
                                        </p:attrNameLst>
                                      </p:cBhvr>
                                      <p:to>
                                        <p:strVal val="visible"/>
                                      </p:to>
                                    </p:set>
                                    <p:animEffect transition="in" filter="blinds(horizontal)">
                                      <p:cBhvr>
                                        <p:cTn id="2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nimBg="1" autoUpdateAnimBg="0"/>
      <p:bldP spid="2054" grpId="0" animBg="1" autoUpdateAnimBg="0"/>
      <p:bldP spid="2055" grpId="0" autoUpdateAnimBg="0"/>
      <p:bldP spid="2056" grpId="0" autoUpdateAnimBg="0"/>
      <p:bldP spid="205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66FC657-DDCE-A895-D71D-F74CAAE7B87B}"/>
              </a:ext>
            </a:extLst>
          </p:cNvPr>
          <p:cNvSpPr>
            <a:spLocks noGrp="1"/>
          </p:cNvSpPr>
          <p:nvPr>
            <p:ph type="sldNum" sz="quarter" idx="12"/>
          </p:nvPr>
        </p:nvSpPr>
        <p:spPr>
          <a:xfrm>
            <a:off x="6553200" y="6556921"/>
            <a:ext cx="2133600" cy="476250"/>
          </a:xfrm>
        </p:spPr>
        <p:txBody>
          <a:bodyPr/>
          <a:lstStyle/>
          <a:p>
            <a:pPr>
              <a:defRPr/>
            </a:pPr>
            <a:fld id="{C3397736-FB7D-49AC-8215-C6DB03890D1F}" type="slidenum">
              <a:rPr lang="en-US" altLang="zh-CN"/>
              <a:pPr>
                <a:defRPr/>
              </a:pPr>
              <a:t>2</a:t>
            </a:fld>
            <a:endParaRPr lang="en-US" altLang="zh-CN"/>
          </a:p>
        </p:txBody>
      </p:sp>
      <p:sp>
        <p:nvSpPr>
          <p:cNvPr id="6147" name="Rectangle 2">
            <a:extLst>
              <a:ext uri="{FF2B5EF4-FFF2-40B4-BE49-F238E27FC236}">
                <a16:creationId xmlns:a16="http://schemas.microsoft.com/office/drawing/2014/main" id="{F0EF2C5B-3E66-6783-78CF-960CD0C9B370}"/>
              </a:ext>
            </a:extLst>
          </p:cNvPr>
          <p:cNvSpPr>
            <a:spLocks noGrp="1" noChangeArrowheads="1"/>
          </p:cNvSpPr>
          <p:nvPr>
            <p:ph type="title"/>
          </p:nvPr>
        </p:nvSpPr>
        <p:spPr>
          <a:xfrm>
            <a:off x="685800" y="692696"/>
            <a:ext cx="7772400" cy="762000"/>
          </a:xfrm>
        </p:spPr>
        <p:txBody>
          <a:bodyPr/>
          <a:lstStyle/>
          <a:p>
            <a:pPr eaLnBrk="1" hangingPunct="1"/>
            <a:r>
              <a:rPr kumimoji="0" lang="en-US" altLang="zh-CN" sz="3600" b="1" dirty="0">
                <a:solidFill>
                  <a:schemeClr val="tx1"/>
                </a:solidFill>
                <a:latin typeface="楷体_GB2312" pitchFamily="49" charset="-122"/>
                <a:ea typeface="华文中宋" panose="02010600040101010101" pitchFamily="2" charset="-122"/>
              </a:rPr>
              <a:t>7.1</a:t>
            </a:r>
            <a:r>
              <a:rPr kumimoji="0" lang="zh-CN" altLang="en-US" sz="3600" b="1" dirty="0">
                <a:solidFill>
                  <a:schemeClr val="tx1"/>
                </a:solidFill>
                <a:latin typeface="楷体_GB2312" pitchFamily="49" charset="-122"/>
                <a:ea typeface="华文中宋" panose="02010600040101010101" pitchFamily="2" charset="-122"/>
              </a:rPr>
              <a:t>同步电机的结构与基本工作原理</a:t>
            </a:r>
          </a:p>
        </p:txBody>
      </p:sp>
      <p:sp>
        <p:nvSpPr>
          <p:cNvPr id="6148" name="Rectangle 3">
            <a:extLst>
              <a:ext uri="{FF2B5EF4-FFF2-40B4-BE49-F238E27FC236}">
                <a16:creationId xmlns:a16="http://schemas.microsoft.com/office/drawing/2014/main" id="{7AA4FD67-A2B7-3D03-3048-5D780825D4BC}"/>
              </a:ext>
            </a:extLst>
          </p:cNvPr>
          <p:cNvSpPr>
            <a:spLocks noGrp="1" noChangeArrowheads="1"/>
          </p:cNvSpPr>
          <p:nvPr>
            <p:ph type="body" idx="1"/>
          </p:nvPr>
        </p:nvSpPr>
        <p:spPr>
          <a:xfrm>
            <a:off x="685800" y="1378496"/>
            <a:ext cx="1798638" cy="490538"/>
          </a:xfrm>
        </p:spPr>
        <p:txBody>
          <a:bodyPr/>
          <a:lstStyle/>
          <a:p>
            <a:pPr marL="812800" indent="-812800" algn="just" eaLnBrk="1" hangingPunct="1">
              <a:lnSpc>
                <a:spcPct val="80000"/>
              </a:lnSpc>
              <a:buClr>
                <a:schemeClr val="accent2"/>
              </a:buClr>
              <a:buFontTx/>
              <a:buNone/>
            </a:pPr>
            <a:r>
              <a:rPr lang="zh-CN" altLang="en-US" sz="2800" b="1">
                <a:solidFill>
                  <a:schemeClr val="accent2"/>
                </a:solidFill>
                <a:ea typeface="华文中宋" panose="02010600040101010101" pitchFamily="2" charset="-122"/>
              </a:rPr>
              <a:t>一、结构</a:t>
            </a:r>
            <a:r>
              <a:rPr lang="zh-CN" altLang="en-US" sz="2400">
                <a:solidFill>
                  <a:schemeClr val="accent2"/>
                </a:solidFill>
                <a:latin typeface="华文中宋" panose="02010600040101010101" pitchFamily="2" charset="-122"/>
                <a:ea typeface="华文中宋" panose="02010600040101010101" pitchFamily="2" charset="-122"/>
              </a:rPr>
              <a:t> </a:t>
            </a:r>
            <a:r>
              <a:rPr lang="zh-CN" altLang="en-US" sz="2400">
                <a:latin typeface="华文中宋" panose="02010600040101010101" pitchFamily="2" charset="-122"/>
                <a:ea typeface="华文中宋" panose="02010600040101010101" pitchFamily="2" charset="-122"/>
              </a:rPr>
              <a:t>    </a:t>
            </a:r>
            <a:endParaRPr lang="zh-CN" altLang="en-US" sz="2400">
              <a:ea typeface="华文中宋" panose="02010600040101010101" pitchFamily="2" charset="-122"/>
            </a:endParaRPr>
          </a:p>
        </p:txBody>
      </p:sp>
      <p:graphicFrame>
        <p:nvGraphicFramePr>
          <p:cNvPr id="6149" name="Object 4">
            <a:extLst>
              <a:ext uri="{FF2B5EF4-FFF2-40B4-BE49-F238E27FC236}">
                <a16:creationId xmlns:a16="http://schemas.microsoft.com/office/drawing/2014/main" id="{082DE0CF-A215-2E9F-9B3A-E734F2F1582D}"/>
              </a:ext>
            </a:extLst>
          </p:cNvPr>
          <p:cNvGraphicFramePr>
            <a:graphicFrameLocks noChangeAspect="1"/>
          </p:cNvGraphicFramePr>
          <p:nvPr>
            <p:extLst>
              <p:ext uri="{D42A27DB-BD31-4B8C-83A1-F6EECF244321}">
                <p14:modId xmlns:p14="http://schemas.microsoft.com/office/powerpoint/2010/main" val="3378107542"/>
              </p:ext>
            </p:extLst>
          </p:nvPr>
        </p:nvGraphicFramePr>
        <p:xfrm>
          <a:off x="2209800" y="4655096"/>
          <a:ext cx="4572000" cy="2171700"/>
        </p:xfrm>
        <a:graphic>
          <a:graphicData uri="http://schemas.openxmlformats.org/presentationml/2006/ole">
            <mc:AlternateContent xmlns:mc="http://schemas.openxmlformats.org/markup-compatibility/2006">
              <mc:Choice xmlns:v="urn:schemas-microsoft-com:vml" Requires="v">
                <p:oleObj r:id="rId2" imgW="2682875" imgH="1319213" progId="MSDraw">
                  <p:embed/>
                </p:oleObj>
              </mc:Choice>
              <mc:Fallback>
                <p:oleObj r:id="rId2" imgW="2682875" imgH="1319213" progId="MSDraw">
                  <p:embed/>
                  <p:pic>
                    <p:nvPicPr>
                      <p:cNvPr id="6149" name="Object 4">
                        <a:extLst>
                          <a:ext uri="{FF2B5EF4-FFF2-40B4-BE49-F238E27FC236}">
                            <a16:creationId xmlns:a16="http://schemas.microsoft.com/office/drawing/2014/main" id="{082DE0CF-A215-2E9F-9B3A-E734F2F15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655096"/>
                        <a:ext cx="4572000" cy="2171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2" name="Text Box 6">
            <a:extLst>
              <a:ext uri="{FF2B5EF4-FFF2-40B4-BE49-F238E27FC236}">
                <a16:creationId xmlns:a16="http://schemas.microsoft.com/office/drawing/2014/main" id="{542FC305-2694-B075-6E43-257A75ECF1B6}"/>
              </a:ext>
            </a:extLst>
          </p:cNvPr>
          <p:cNvSpPr txBox="1">
            <a:spLocks noChangeArrowheads="1"/>
          </p:cNvSpPr>
          <p:nvPr/>
        </p:nvSpPr>
        <p:spPr bwMode="auto">
          <a:xfrm>
            <a:off x="669925" y="2978696"/>
            <a:ext cx="8016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buFontTx/>
              <a:buChar char="•"/>
            </a:pPr>
            <a:r>
              <a:rPr kumimoji="1" lang="en-US" altLang="zh-CN" sz="2400" b="0">
                <a:latin typeface="Times New Roman" panose="02020603050405020304" pitchFamily="18" charset="0"/>
                <a:ea typeface="华文中宋" panose="02010600040101010101" pitchFamily="2" charset="-122"/>
              </a:rPr>
              <a:t>   </a:t>
            </a:r>
            <a:r>
              <a:rPr kumimoji="1" lang="zh-CN" altLang="en-US" sz="2400" b="0">
                <a:latin typeface="Times New Roman" panose="02020603050405020304" pitchFamily="18" charset="0"/>
                <a:ea typeface="华文中宋" panose="02010600040101010101" pitchFamily="2" charset="-122"/>
              </a:rPr>
              <a:t>同步发电机的转子绕组称为磁场绕组</a:t>
            </a:r>
            <a:r>
              <a:rPr kumimoji="1" lang="en-US" altLang="zh-CN" sz="2400" b="0">
                <a:latin typeface="Times New Roman" panose="02020603050405020304" pitchFamily="18" charset="0"/>
                <a:ea typeface="华文中宋" panose="02010600040101010101" pitchFamily="2" charset="-122"/>
              </a:rPr>
              <a:t>/</a:t>
            </a:r>
            <a:r>
              <a:rPr kumimoji="1" lang="zh-CN" altLang="en-US" sz="2400" b="0">
                <a:latin typeface="Times New Roman" panose="02020603050405020304" pitchFamily="18" charset="0"/>
                <a:ea typeface="华文中宋" panose="02010600040101010101" pitchFamily="2" charset="-122"/>
              </a:rPr>
              <a:t>励磁绕组，</a:t>
            </a:r>
            <a:r>
              <a:rPr kumimoji="1" lang="zh-CN" altLang="en-US" sz="2400">
                <a:solidFill>
                  <a:srgbClr val="000099"/>
                </a:solidFill>
                <a:latin typeface="Times New Roman" panose="02020603050405020304" pitchFamily="18" charset="0"/>
                <a:ea typeface="华文中宋" panose="02010600040101010101" pitchFamily="2" charset="-122"/>
              </a:rPr>
              <a:t>定子绕组称为电枢绕组</a:t>
            </a:r>
            <a:r>
              <a:rPr kumimoji="1" lang="zh-CN" altLang="en-US" sz="2400" b="0">
                <a:latin typeface="Times New Roman" panose="02020603050405020304" pitchFamily="18" charset="0"/>
                <a:ea typeface="华文中宋" panose="02010600040101010101" pitchFamily="2" charset="-122"/>
              </a:rPr>
              <a:t>。</a:t>
            </a:r>
          </a:p>
        </p:txBody>
      </p:sp>
      <p:sp>
        <p:nvSpPr>
          <p:cNvPr id="4103" name="Text Box 7">
            <a:extLst>
              <a:ext uri="{FF2B5EF4-FFF2-40B4-BE49-F238E27FC236}">
                <a16:creationId xmlns:a16="http://schemas.microsoft.com/office/drawing/2014/main" id="{DE8B80F1-8E0D-1D86-5E29-CBEEAABE51C8}"/>
              </a:ext>
            </a:extLst>
          </p:cNvPr>
          <p:cNvSpPr txBox="1">
            <a:spLocks noChangeArrowheads="1"/>
          </p:cNvSpPr>
          <p:nvPr/>
        </p:nvSpPr>
        <p:spPr bwMode="auto">
          <a:xfrm>
            <a:off x="746125" y="3816896"/>
            <a:ext cx="78644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Tx/>
              <a:buChar char="•"/>
            </a:pPr>
            <a:r>
              <a:rPr kumimoji="1" lang="en-US" altLang="zh-CN" sz="2400" b="0" dirty="0">
                <a:latin typeface="Times New Roman" panose="02020603050405020304" pitchFamily="18" charset="0"/>
                <a:ea typeface="华文中宋" panose="02010600040101010101" pitchFamily="2" charset="-122"/>
              </a:rPr>
              <a:t>  </a:t>
            </a:r>
            <a:r>
              <a:rPr kumimoji="1" lang="zh-CN" altLang="en-US" sz="2400" b="0" dirty="0">
                <a:latin typeface="Times New Roman" panose="02020603050405020304" pitchFamily="18" charset="0"/>
                <a:ea typeface="华文中宋" panose="02010600040101010101" pitchFamily="2" charset="-122"/>
              </a:rPr>
              <a:t>同步发电机的转子基本上是一个大的电磁铁。磁极有凸极和隐极两种结构（磁路的一致性差异）。</a:t>
            </a:r>
          </a:p>
        </p:txBody>
      </p:sp>
      <p:sp>
        <p:nvSpPr>
          <p:cNvPr id="6152" name="Text Box 8">
            <a:extLst>
              <a:ext uri="{FF2B5EF4-FFF2-40B4-BE49-F238E27FC236}">
                <a16:creationId xmlns:a16="http://schemas.microsoft.com/office/drawing/2014/main" id="{FD013B24-54FE-4196-72E1-8A95C15314F0}"/>
              </a:ext>
            </a:extLst>
          </p:cNvPr>
          <p:cNvSpPr txBox="1">
            <a:spLocks noChangeArrowheads="1"/>
          </p:cNvSpPr>
          <p:nvPr/>
        </p:nvSpPr>
        <p:spPr bwMode="auto">
          <a:xfrm>
            <a:off x="323850" y="1869034"/>
            <a:ext cx="8208963" cy="99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fontAlgn="t" hangingPunct="1">
              <a:lnSpc>
                <a:spcPct val="80000"/>
              </a:lnSpc>
              <a:buFontTx/>
              <a:buNone/>
            </a:pPr>
            <a:r>
              <a:rPr kumimoji="1" lang="en-US" altLang="zh-CN" sz="2400" b="0" dirty="0">
                <a:latin typeface="Times New Roman" panose="02020603050405020304" pitchFamily="18" charset="0"/>
                <a:ea typeface="华文中宋" panose="02010600040101010101" pitchFamily="2" charset="-122"/>
              </a:rPr>
              <a:t>            </a:t>
            </a:r>
            <a:r>
              <a:rPr kumimoji="1" lang="zh-CN" altLang="en-US" sz="2400" b="0" dirty="0">
                <a:latin typeface="Times New Roman" panose="02020603050405020304" pitchFamily="18" charset="0"/>
                <a:ea typeface="华文中宋" panose="02010600040101010101" pitchFamily="2" charset="-122"/>
              </a:rPr>
              <a:t>在同步发电机中，</a:t>
            </a:r>
            <a:r>
              <a:rPr kumimoji="1" lang="zh-CN" altLang="en-US" sz="2400" b="0" dirty="0">
                <a:solidFill>
                  <a:srgbClr val="FF0000"/>
                </a:solidFill>
                <a:latin typeface="Times New Roman" panose="02020603050405020304" pitchFamily="18" charset="0"/>
                <a:ea typeface="华文中宋" panose="02010600040101010101" pitchFamily="2" charset="-122"/>
              </a:rPr>
              <a:t>直流电流送入</a:t>
            </a:r>
            <a:r>
              <a:rPr kumimoji="1" lang="zh-CN" altLang="en-US" sz="2400" b="0" dirty="0">
                <a:latin typeface="Times New Roman" panose="02020603050405020304" pitchFamily="18" charset="0"/>
                <a:ea typeface="华文中宋" panose="02010600040101010101" pitchFamily="2" charset="-122"/>
              </a:rPr>
              <a:t>转子绕组，形成转子磁场。转子由</a:t>
            </a:r>
            <a:r>
              <a:rPr kumimoji="1" lang="zh-CN" altLang="en-US" sz="2400" b="0" dirty="0">
                <a:solidFill>
                  <a:srgbClr val="FF0000"/>
                </a:solidFill>
                <a:latin typeface="Times New Roman" panose="02020603050405020304" pitchFamily="18" charset="0"/>
                <a:ea typeface="华文中宋" panose="02010600040101010101" pitchFamily="2" charset="-122"/>
              </a:rPr>
              <a:t>原动机拖动</a:t>
            </a:r>
            <a:r>
              <a:rPr kumimoji="1" lang="zh-CN" altLang="en-US" sz="2400" b="0" dirty="0">
                <a:latin typeface="Times New Roman" panose="02020603050405020304" pitchFamily="18" charset="0"/>
                <a:ea typeface="华文中宋" panose="02010600040101010101" pitchFamily="2" charset="-122"/>
              </a:rPr>
              <a:t>（水轮机</a:t>
            </a:r>
            <a:r>
              <a:rPr kumimoji="1" lang="en-US" altLang="zh-CN" sz="2400" b="0" dirty="0">
                <a:latin typeface="Times New Roman" panose="02020603050405020304" pitchFamily="18" charset="0"/>
                <a:ea typeface="华文中宋" panose="02010600040101010101" pitchFamily="2" charset="-122"/>
              </a:rPr>
              <a:t>/</a:t>
            </a:r>
            <a:r>
              <a:rPr kumimoji="1" lang="zh-CN" altLang="en-US" sz="2400" b="0" dirty="0">
                <a:latin typeface="Times New Roman" panose="02020603050405020304" pitchFamily="18" charset="0"/>
                <a:ea typeface="华文中宋" panose="02010600040101010101" pitchFamily="2" charset="-122"/>
              </a:rPr>
              <a:t>汽轮机</a:t>
            </a:r>
            <a:r>
              <a:rPr kumimoji="1" lang="en-US" altLang="zh-CN" sz="2400" b="0" dirty="0">
                <a:latin typeface="Times New Roman" panose="02020603050405020304" pitchFamily="18" charset="0"/>
                <a:ea typeface="华文中宋" panose="02010600040101010101" pitchFamily="2" charset="-122"/>
              </a:rPr>
              <a:t>/</a:t>
            </a:r>
            <a:r>
              <a:rPr kumimoji="1" lang="zh-CN" altLang="en-US" sz="2400" b="0" dirty="0">
                <a:latin typeface="Times New Roman" panose="02020603050405020304" pitchFamily="18" charset="0"/>
                <a:ea typeface="华文中宋" panose="02010600040101010101" pitchFamily="2" charset="-122"/>
              </a:rPr>
              <a:t>风力</a:t>
            </a:r>
            <a:r>
              <a:rPr kumimoji="1" lang="en-US" altLang="zh-CN" sz="2400" b="0" dirty="0">
                <a:latin typeface="Times New Roman" panose="02020603050405020304" pitchFamily="18" charset="0"/>
                <a:ea typeface="华文中宋" panose="02010600040101010101" pitchFamily="2" charset="-122"/>
              </a:rPr>
              <a:t>…</a:t>
            </a:r>
            <a:r>
              <a:rPr kumimoji="1" lang="zh-CN" altLang="en-US" sz="2400" b="0" dirty="0">
                <a:latin typeface="Times New Roman" panose="02020603050405020304" pitchFamily="18" charset="0"/>
                <a:ea typeface="华文中宋" panose="02010600040101010101" pitchFamily="2" charset="-122"/>
              </a:rPr>
              <a:t>），产生</a:t>
            </a:r>
            <a:r>
              <a:rPr kumimoji="1" lang="zh-CN" altLang="en-US" sz="2400" b="0" dirty="0">
                <a:solidFill>
                  <a:srgbClr val="FF0000"/>
                </a:solidFill>
                <a:latin typeface="Times New Roman" panose="02020603050405020304" pitchFamily="18" charset="0"/>
                <a:ea typeface="华文中宋" panose="02010600040101010101" pitchFamily="2" charset="-122"/>
              </a:rPr>
              <a:t>旋转磁场</a:t>
            </a:r>
            <a:r>
              <a:rPr kumimoji="1" lang="zh-CN" altLang="en-US" sz="2400" b="0" dirty="0">
                <a:latin typeface="Times New Roman" panose="02020603050405020304" pitchFamily="18" charset="0"/>
                <a:ea typeface="华文中宋" panose="02010600040101010101" pitchFamily="2" charset="-122"/>
              </a:rPr>
              <a:t>，在</a:t>
            </a:r>
            <a:r>
              <a:rPr kumimoji="1" lang="zh-CN" altLang="en-US" sz="2400" b="0" dirty="0">
                <a:solidFill>
                  <a:srgbClr val="FF0000"/>
                </a:solidFill>
                <a:latin typeface="Times New Roman" panose="02020603050405020304" pitchFamily="18" charset="0"/>
                <a:ea typeface="华文中宋" panose="02010600040101010101" pitchFamily="2" charset="-122"/>
              </a:rPr>
              <a:t>对称三相定子绕组中感生三相电压</a:t>
            </a:r>
            <a:r>
              <a:rPr kumimoji="1" lang="zh-CN" altLang="en-US" sz="2400" b="0" dirty="0">
                <a:latin typeface="Times New Roman" panose="02020603050405020304" pitchFamily="18" charset="0"/>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blinds(horizontal)">
                                      <p:cBhvr>
                                        <p:cTn id="7" dur="500"/>
                                        <p:tgtEl>
                                          <p:spTgt spid="4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03"/>
                                        </p:tgtEl>
                                        <p:attrNameLst>
                                          <p:attrName>style.visibility</p:attrName>
                                        </p:attrNameLst>
                                      </p:cBhvr>
                                      <p:to>
                                        <p:strVal val="visible"/>
                                      </p:to>
                                    </p:set>
                                    <p:animEffect transition="in" filter="blinds(horizontal)">
                                      <p:cBhvr>
                                        <p:cTn id="12" dur="500"/>
                                        <p:tgtEl>
                                          <p:spTgt spid="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p:bldP spid="410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B9F87A3A-E4CB-08F2-B53B-BF472455D21D}"/>
              </a:ext>
            </a:extLst>
          </p:cNvPr>
          <p:cNvSpPr>
            <a:spLocks noGrp="1"/>
          </p:cNvSpPr>
          <p:nvPr>
            <p:ph type="sldNum" sz="quarter" idx="12"/>
          </p:nvPr>
        </p:nvSpPr>
        <p:spPr/>
        <p:txBody>
          <a:bodyPr/>
          <a:lstStyle/>
          <a:p>
            <a:pPr>
              <a:defRPr/>
            </a:pPr>
            <a:fld id="{ADE6EE93-8B7B-4638-A518-4E8828A8EE0D}" type="slidenum">
              <a:rPr lang="en-US" altLang="zh-CN"/>
              <a:pPr>
                <a:defRPr/>
              </a:pPr>
              <a:t>3</a:t>
            </a:fld>
            <a:endParaRPr lang="en-US" altLang="zh-CN"/>
          </a:p>
        </p:txBody>
      </p:sp>
      <p:sp>
        <p:nvSpPr>
          <p:cNvPr id="7171" name="Rectangle 2">
            <a:extLst>
              <a:ext uri="{FF2B5EF4-FFF2-40B4-BE49-F238E27FC236}">
                <a16:creationId xmlns:a16="http://schemas.microsoft.com/office/drawing/2014/main" id="{81A74393-689E-435F-6543-F1740F563CD3}"/>
              </a:ext>
            </a:extLst>
          </p:cNvPr>
          <p:cNvSpPr>
            <a:spLocks noGrp="1" noChangeArrowheads="1"/>
          </p:cNvSpPr>
          <p:nvPr>
            <p:ph type="title"/>
          </p:nvPr>
        </p:nvSpPr>
        <p:spPr>
          <a:xfrm>
            <a:off x="683568" y="980728"/>
            <a:ext cx="5257800" cy="685800"/>
          </a:xfrm>
        </p:spPr>
        <p:txBody>
          <a:bodyPr/>
          <a:lstStyle/>
          <a:p>
            <a:pPr eaLnBrk="1" hangingPunct="1"/>
            <a:r>
              <a:rPr lang="zh-CN" altLang="en-US" sz="3600" b="1">
                <a:latin typeface="楷体_GB2312" pitchFamily="49" charset="-122"/>
                <a:ea typeface="楷体_GB2312" pitchFamily="49" charset="-122"/>
              </a:rPr>
              <a:t>为什么有两种转子结构</a:t>
            </a:r>
          </a:p>
        </p:txBody>
      </p:sp>
      <p:sp>
        <p:nvSpPr>
          <p:cNvPr id="21507" name="Rectangle 3">
            <a:extLst>
              <a:ext uri="{FF2B5EF4-FFF2-40B4-BE49-F238E27FC236}">
                <a16:creationId xmlns:a16="http://schemas.microsoft.com/office/drawing/2014/main" id="{3EC5159D-B88A-32EE-213B-B6FD0BCBDD93}"/>
              </a:ext>
            </a:extLst>
          </p:cNvPr>
          <p:cNvSpPr>
            <a:spLocks noGrp="1" noChangeArrowheads="1"/>
          </p:cNvSpPr>
          <p:nvPr>
            <p:ph type="body" idx="1"/>
          </p:nvPr>
        </p:nvSpPr>
        <p:spPr>
          <a:xfrm>
            <a:off x="531168" y="1895128"/>
            <a:ext cx="7924800" cy="762000"/>
          </a:xfrm>
        </p:spPr>
        <p:txBody>
          <a:bodyPr/>
          <a:lstStyle/>
          <a:p>
            <a:pPr eaLnBrk="1" hangingPunct="1">
              <a:lnSpc>
                <a:spcPct val="90000"/>
              </a:lnSpc>
              <a:buFont typeface="Wingdings" panose="05000000000000000000" pitchFamily="2" charset="2"/>
              <a:buChar char="Ø"/>
            </a:pPr>
            <a:r>
              <a:rPr lang="zh-CN" altLang="en-US" sz="2400">
                <a:latin typeface="华文中宋" panose="02010600040101010101" pitchFamily="2" charset="-122"/>
                <a:ea typeface="华文中宋" panose="02010600040101010101" pitchFamily="2" charset="-122"/>
              </a:rPr>
              <a:t>凸极转子结构和加工比较简单，制造成本低。中小容量电机一般采用凸极以降低成本；</a:t>
            </a:r>
          </a:p>
        </p:txBody>
      </p:sp>
      <p:sp>
        <p:nvSpPr>
          <p:cNvPr id="21508" name="Text Box 4">
            <a:extLst>
              <a:ext uri="{FF2B5EF4-FFF2-40B4-BE49-F238E27FC236}">
                <a16:creationId xmlns:a16="http://schemas.microsoft.com/office/drawing/2014/main" id="{E145038C-3164-E161-0214-8908D24DAD8C}"/>
              </a:ext>
            </a:extLst>
          </p:cNvPr>
          <p:cNvSpPr txBox="1">
            <a:spLocks noChangeArrowheads="1"/>
          </p:cNvSpPr>
          <p:nvPr/>
        </p:nvSpPr>
        <p:spPr bwMode="auto">
          <a:xfrm>
            <a:off x="607368" y="2733328"/>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 typeface="Wingdings" panose="05000000000000000000" pitchFamily="2" charset="2"/>
              <a:buChar char="Ø"/>
            </a:pPr>
            <a:r>
              <a:rPr kumimoji="1" lang="zh-CN" altLang="en-US" sz="2400" b="0">
                <a:latin typeface="华文中宋" panose="02010600040101010101" pitchFamily="2" charset="-122"/>
                <a:ea typeface="华文中宋" panose="02010600040101010101" pitchFamily="2" charset="-122"/>
              </a:rPr>
              <a:t>对大容量、高转速原动机，高速旋转的发电机转子将承受很大的离心力，采用隐极可以更好地固定励磁绕组。</a:t>
            </a:r>
          </a:p>
        </p:txBody>
      </p:sp>
      <p:sp>
        <p:nvSpPr>
          <p:cNvPr id="21509" name="Text Box 5">
            <a:extLst>
              <a:ext uri="{FF2B5EF4-FFF2-40B4-BE49-F238E27FC236}">
                <a16:creationId xmlns:a16="http://schemas.microsoft.com/office/drawing/2014/main" id="{CA1AAD46-8507-9C3C-BF35-5B5DE3DF198C}"/>
              </a:ext>
            </a:extLst>
          </p:cNvPr>
          <p:cNvSpPr txBox="1">
            <a:spLocks noChangeArrowheads="1"/>
          </p:cNvSpPr>
          <p:nvPr/>
        </p:nvSpPr>
        <p:spPr bwMode="auto">
          <a:xfrm>
            <a:off x="591493" y="3800128"/>
            <a:ext cx="8093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 typeface="Wingdings" panose="05000000000000000000" pitchFamily="2" charset="2"/>
              <a:buChar char="Ø"/>
            </a:pPr>
            <a:r>
              <a:rPr kumimoji="1" lang="zh-CN" altLang="en-US" sz="2400" b="0">
                <a:latin typeface="华文中宋" panose="02010600040101010101" pitchFamily="2" charset="-122"/>
                <a:ea typeface="华文中宋" panose="02010600040101010101" pitchFamily="2" charset="-122"/>
              </a:rPr>
              <a:t>水轮机转速低（每分钟几十、几百转），采用凸极式；汽轮机转速高（</a:t>
            </a:r>
            <a:r>
              <a:rPr kumimoji="1" lang="en-US" altLang="zh-CN" sz="2400" b="0">
                <a:latin typeface="华文中宋" panose="02010600040101010101" pitchFamily="2" charset="-122"/>
                <a:ea typeface="华文中宋" panose="02010600040101010101" pitchFamily="2" charset="-122"/>
              </a:rPr>
              <a:t>3000r/min), </a:t>
            </a:r>
            <a:r>
              <a:rPr kumimoji="1" lang="zh-CN" altLang="en-US" sz="2400" b="0">
                <a:latin typeface="华文中宋" panose="02010600040101010101" pitchFamily="2" charset="-122"/>
                <a:ea typeface="华文中宋" panose="02010600040101010101" pitchFamily="2" charset="-122"/>
              </a:rPr>
              <a:t>采用隐极式；</a:t>
            </a:r>
          </a:p>
        </p:txBody>
      </p:sp>
      <p:sp>
        <p:nvSpPr>
          <p:cNvPr id="21510" name="Text Box 6">
            <a:extLst>
              <a:ext uri="{FF2B5EF4-FFF2-40B4-BE49-F238E27FC236}">
                <a16:creationId xmlns:a16="http://schemas.microsoft.com/office/drawing/2014/main" id="{12D3BEC3-9DBF-F51C-E470-4640164E0D79}"/>
              </a:ext>
            </a:extLst>
          </p:cNvPr>
          <p:cNvSpPr txBox="1">
            <a:spLocks noChangeArrowheads="1"/>
          </p:cNvSpPr>
          <p:nvPr/>
        </p:nvSpPr>
        <p:spPr bwMode="auto">
          <a:xfrm>
            <a:off x="629593" y="5087591"/>
            <a:ext cx="78263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 typeface="Wingdings" panose="05000000000000000000" pitchFamily="2" charset="2"/>
              <a:buChar char="Ø"/>
            </a:pPr>
            <a:r>
              <a:rPr kumimoji="1" lang="zh-CN" altLang="en-US" sz="2400" b="0">
                <a:latin typeface="华文中宋" panose="02010600040101010101" pitchFamily="2" charset="-122"/>
                <a:ea typeface="华文中宋" panose="02010600040101010101" pitchFamily="2" charset="-122"/>
              </a:rPr>
              <a:t>汽轮发电机转速很高，转子直径受离心力影响，为增大容量，采用细长转子结构。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arn(outHorizontal)">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barn(inHorizontal)">
                                      <p:cBhvr>
                                        <p:cTn id="12" dur="500"/>
                                        <p:tgtEl>
                                          <p:spTgt spid="215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dissolve">
                                      <p:cBhvr>
                                        <p:cTn id="17" dur="500"/>
                                        <p:tgtEl>
                                          <p:spTgt spid="215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slide(fromBottom)">
                                      <p:cBhvr>
                                        <p:cTn id="22" dur="500"/>
                                        <p:tgtEl>
                                          <p:spTgt spid="2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P spid="21508" grpId="0" autoUpdateAnimBg="0"/>
      <p:bldP spid="21509" grpId="0" autoUpdateAnimBg="0"/>
      <p:bldP spid="2151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0C77D6B-72B1-2F44-D5B5-96EC05865989}"/>
              </a:ext>
            </a:extLst>
          </p:cNvPr>
          <p:cNvSpPr>
            <a:spLocks noGrp="1"/>
          </p:cNvSpPr>
          <p:nvPr>
            <p:ph type="sldNum" sz="quarter" idx="12"/>
          </p:nvPr>
        </p:nvSpPr>
        <p:spPr/>
        <p:txBody>
          <a:bodyPr/>
          <a:lstStyle/>
          <a:p>
            <a:pPr>
              <a:defRPr/>
            </a:pPr>
            <a:fld id="{2DDE61F1-23B6-45FA-84A1-2A4CAE9C25D9}" type="slidenum">
              <a:rPr lang="en-US" altLang="zh-CN"/>
              <a:pPr>
                <a:defRPr/>
              </a:pPr>
              <a:t>4</a:t>
            </a:fld>
            <a:endParaRPr lang="en-US" altLang="zh-CN"/>
          </a:p>
        </p:txBody>
      </p:sp>
      <p:sp>
        <p:nvSpPr>
          <p:cNvPr id="8195" name="Rectangle 2">
            <a:extLst>
              <a:ext uri="{FF2B5EF4-FFF2-40B4-BE49-F238E27FC236}">
                <a16:creationId xmlns:a16="http://schemas.microsoft.com/office/drawing/2014/main" id="{60C0625C-6CEB-091F-B557-754FA0CC30CC}"/>
              </a:ext>
            </a:extLst>
          </p:cNvPr>
          <p:cNvSpPr>
            <a:spLocks noGrp="1" noChangeArrowheads="1"/>
          </p:cNvSpPr>
          <p:nvPr>
            <p:ph type="title"/>
          </p:nvPr>
        </p:nvSpPr>
        <p:spPr>
          <a:xfrm>
            <a:off x="490730" y="990600"/>
            <a:ext cx="8077200" cy="762000"/>
          </a:xfrm>
        </p:spPr>
        <p:txBody>
          <a:bodyPr/>
          <a:lstStyle/>
          <a:p>
            <a:pPr eaLnBrk="1" hangingPunct="1"/>
            <a:r>
              <a:rPr lang="zh-CN" altLang="en-US" sz="3600" b="1" dirty="0">
                <a:solidFill>
                  <a:schemeClr val="tx1"/>
                </a:solidFill>
              </a:rPr>
              <a:t>一种凸极结构同步电机结构模型</a:t>
            </a:r>
            <a:br>
              <a:rPr lang="zh-CN" altLang="en-US" sz="3600" b="1" dirty="0">
                <a:solidFill>
                  <a:schemeClr val="bg1"/>
                </a:solidFill>
              </a:rPr>
            </a:br>
            <a:endParaRPr lang="zh-CN" altLang="en-US" sz="3600" b="1" dirty="0">
              <a:solidFill>
                <a:schemeClr val="bg1"/>
              </a:solidFill>
            </a:endParaRPr>
          </a:p>
        </p:txBody>
      </p:sp>
      <p:pic>
        <p:nvPicPr>
          <p:cNvPr id="8196" name="Picture 4">
            <a:extLst>
              <a:ext uri="{FF2B5EF4-FFF2-40B4-BE49-F238E27FC236}">
                <a16:creationId xmlns:a16="http://schemas.microsoft.com/office/drawing/2014/main" id="{1428144C-7F50-CD6F-EDC6-F35A7A3CC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28800"/>
            <a:ext cx="4833938"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9" name="AutoShape 27">
            <a:extLst>
              <a:ext uri="{FF2B5EF4-FFF2-40B4-BE49-F238E27FC236}">
                <a16:creationId xmlns:a16="http://schemas.microsoft.com/office/drawing/2014/main" id="{7ED2E2BC-5644-0528-DB52-FDF7E14059FA}"/>
              </a:ext>
            </a:extLst>
          </p:cNvPr>
          <p:cNvSpPr>
            <a:spLocks noChangeArrowheads="1"/>
          </p:cNvSpPr>
          <p:nvPr/>
        </p:nvSpPr>
        <p:spPr bwMode="auto">
          <a:xfrm>
            <a:off x="6858000" y="1371600"/>
            <a:ext cx="1676400" cy="990600"/>
          </a:xfrm>
          <a:prstGeom prst="wedgeRoundRectCallout">
            <a:avLst>
              <a:gd name="adj1" fmla="val -138069"/>
              <a:gd name="adj2" fmla="val 13477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转子直流励磁绕组</a:t>
            </a:r>
          </a:p>
        </p:txBody>
      </p:sp>
      <p:sp>
        <p:nvSpPr>
          <p:cNvPr id="3100" name="AutoShape 28">
            <a:extLst>
              <a:ext uri="{FF2B5EF4-FFF2-40B4-BE49-F238E27FC236}">
                <a16:creationId xmlns:a16="http://schemas.microsoft.com/office/drawing/2014/main" id="{078E8795-67FA-2BD1-C78A-FFC507EA3851}"/>
              </a:ext>
            </a:extLst>
          </p:cNvPr>
          <p:cNvSpPr>
            <a:spLocks noChangeArrowheads="1"/>
          </p:cNvSpPr>
          <p:nvPr/>
        </p:nvSpPr>
        <p:spPr bwMode="auto">
          <a:xfrm>
            <a:off x="7086600" y="3352800"/>
            <a:ext cx="1600200" cy="1143000"/>
          </a:xfrm>
          <a:prstGeom prst="wedgeRoundRectCallout">
            <a:avLst>
              <a:gd name="adj1" fmla="val -77181"/>
              <a:gd name="adj2" fmla="val -25417"/>
              <a:gd name="adj3" fmla="val 1666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三相定子电枢交流绕组</a:t>
            </a:r>
          </a:p>
        </p:txBody>
      </p:sp>
      <p:sp>
        <p:nvSpPr>
          <p:cNvPr id="3101" name="AutoShape 29">
            <a:extLst>
              <a:ext uri="{FF2B5EF4-FFF2-40B4-BE49-F238E27FC236}">
                <a16:creationId xmlns:a16="http://schemas.microsoft.com/office/drawing/2014/main" id="{8B223727-ACF6-95B8-ED61-730150226031}"/>
              </a:ext>
            </a:extLst>
          </p:cNvPr>
          <p:cNvSpPr>
            <a:spLocks noChangeArrowheads="1"/>
          </p:cNvSpPr>
          <p:nvPr/>
        </p:nvSpPr>
        <p:spPr bwMode="auto">
          <a:xfrm>
            <a:off x="684213" y="1412875"/>
            <a:ext cx="2211387" cy="796925"/>
          </a:xfrm>
          <a:prstGeom prst="wedgeRoundRectCallout">
            <a:avLst>
              <a:gd name="adj1" fmla="val 88264"/>
              <a:gd name="adj2" fmla="val 180079"/>
              <a:gd name="adj3" fmla="val 1666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转子（凸极）</a:t>
            </a:r>
          </a:p>
        </p:txBody>
      </p:sp>
      <p:sp>
        <p:nvSpPr>
          <p:cNvPr id="3102" name="AutoShape 30">
            <a:extLst>
              <a:ext uri="{FF2B5EF4-FFF2-40B4-BE49-F238E27FC236}">
                <a16:creationId xmlns:a16="http://schemas.microsoft.com/office/drawing/2014/main" id="{3F6D3E84-6EF7-B61F-B570-267537AC69FD}"/>
              </a:ext>
            </a:extLst>
          </p:cNvPr>
          <p:cNvSpPr>
            <a:spLocks noChangeArrowheads="1"/>
          </p:cNvSpPr>
          <p:nvPr/>
        </p:nvSpPr>
        <p:spPr bwMode="auto">
          <a:xfrm>
            <a:off x="6934200" y="4800600"/>
            <a:ext cx="1752600" cy="533400"/>
          </a:xfrm>
          <a:prstGeom prst="wedgeRoundRectCallout">
            <a:avLst>
              <a:gd name="adj1" fmla="val -124639"/>
              <a:gd name="adj2" fmla="val -68454"/>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定子铁心</a:t>
            </a:r>
          </a:p>
        </p:txBody>
      </p:sp>
      <p:sp>
        <p:nvSpPr>
          <p:cNvPr id="3103" name="AutoShape 31">
            <a:extLst>
              <a:ext uri="{FF2B5EF4-FFF2-40B4-BE49-F238E27FC236}">
                <a16:creationId xmlns:a16="http://schemas.microsoft.com/office/drawing/2014/main" id="{CE5B7D0B-8932-FA07-3CC5-2D883325385D}"/>
              </a:ext>
            </a:extLst>
          </p:cNvPr>
          <p:cNvSpPr>
            <a:spLocks noChangeArrowheads="1"/>
          </p:cNvSpPr>
          <p:nvPr/>
        </p:nvSpPr>
        <p:spPr bwMode="auto">
          <a:xfrm>
            <a:off x="468313" y="5373688"/>
            <a:ext cx="1284287" cy="950912"/>
          </a:xfrm>
          <a:prstGeom prst="wedgeRoundRectCallout">
            <a:avLst>
              <a:gd name="adj1" fmla="val 144315"/>
              <a:gd name="adj2" fmla="val -154509"/>
              <a:gd name="adj3" fmla="val 16667"/>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电刷、滑环</a:t>
            </a:r>
          </a:p>
        </p:txBody>
      </p:sp>
      <p:sp>
        <p:nvSpPr>
          <p:cNvPr id="3106" name="AutoShape 34">
            <a:extLst>
              <a:ext uri="{FF2B5EF4-FFF2-40B4-BE49-F238E27FC236}">
                <a16:creationId xmlns:a16="http://schemas.microsoft.com/office/drawing/2014/main" id="{9E11564F-F966-7DE3-89AC-670F99AE5ECB}"/>
              </a:ext>
            </a:extLst>
          </p:cNvPr>
          <p:cNvSpPr>
            <a:spLocks noChangeArrowheads="1"/>
          </p:cNvSpPr>
          <p:nvPr/>
        </p:nvSpPr>
        <p:spPr bwMode="auto">
          <a:xfrm>
            <a:off x="2051050" y="5805488"/>
            <a:ext cx="6613525" cy="762000"/>
          </a:xfrm>
          <a:prstGeom prst="wedgeRectCallout">
            <a:avLst>
              <a:gd name="adj1" fmla="val -33028"/>
              <a:gd name="adj2" fmla="val -242292"/>
            </a:avLst>
          </a:prstGeom>
          <a:solidFill>
            <a:schemeClr val="accent1">
              <a:alpha val="50195"/>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向转子提供直流的基本方法：</a:t>
            </a:r>
          </a:p>
          <a:p>
            <a:pPr eaLnBrk="1" hangingPunct="1">
              <a:lnSpc>
                <a:spcPct val="100000"/>
              </a:lnSpc>
              <a:spcBef>
                <a:spcPct val="0"/>
              </a:spcBef>
              <a:buFontTx/>
              <a:buNone/>
            </a:pPr>
            <a:r>
              <a:rPr kumimoji="1" lang="en-US" altLang="zh-CN" sz="2400" b="0">
                <a:latin typeface="宋体" panose="02010600030101010101" pitchFamily="2" charset="-122"/>
                <a:ea typeface="宋体" panose="02010600030101010101" pitchFamily="2" charset="-122"/>
              </a:rPr>
              <a:t>1</a:t>
            </a:r>
            <a:r>
              <a:rPr kumimoji="1" lang="zh-CN" altLang="en-US" sz="2400" b="0">
                <a:latin typeface="宋体" panose="02010600030101010101" pitchFamily="2" charset="-122"/>
                <a:ea typeface="宋体" panose="02010600030101010101" pitchFamily="2" charset="-122"/>
              </a:rPr>
              <a:t>、通过电刷和滑环（小功率电机，低成本）；</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02"/>
                                        </p:tgtEl>
                                        <p:attrNameLst>
                                          <p:attrName>style.visibility</p:attrName>
                                        </p:attrNameLst>
                                      </p:cBhvr>
                                      <p:to>
                                        <p:strVal val="visible"/>
                                      </p:to>
                                    </p:set>
                                    <p:animEffect transition="in" filter="blinds(horizontal)">
                                      <p:cBhvr>
                                        <p:cTn id="7" dur="500"/>
                                        <p:tgtEl>
                                          <p:spTgt spid="3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3100"/>
                                        </p:tgtEl>
                                        <p:attrNameLst>
                                          <p:attrName>style.visibility</p:attrName>
                                        </p:attrNameLst>
                                      </p:cBhvr>
                                      <p:to>
                                        <p:strVal val="visible"/>
                                      </p:to>
                                    </p:set>
                                    <p:anim calcmode="lin" valueType="num">
                                      <p:cBhvr>
                                        <p:cTn id="12" dur="500" fill="hold"/>
                                        <p:tgtEl>
                                          <p:spTgt spid="3100"/>
                                        </p:tgtEl>
                                        <p:attrNameLst>
                                          <p:attrName>ppt_w</p:attrName>
                                        </p:attrNameLst>
                                      </p:cBhvr>
                                      <p:tavLst>
                                        <p:tav tm="0">
                                          <p:val>
                                            <p:fltVal val="0"/>
                                          </p:val>
                                        </p:tav>
                                        <p:tav tm="100000">
                                          <p:val>
                                            <p:strVal val="#ppt_w"/>
                                          </p:val>
                                        </p:tav>
                                      </p:tavLst>
                                    </p:anim>
                                    <p:anim calcmode="lin" valueType="num">
                                      <p:cBhvr>
                                        <p:cTn id="13" dur="500" fill="hold"/>
                                        <p:tgtEl>
                                          <p:spTgt spid="3100"/>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101"/>
                                        </p:tgtEl>
                                        <p:attrNameLst>
                                          <p:attrName>style.visibility</p:attrName>
                                        </p:attrNameLst>
                                      </p:cBhvr>
                                      <p:to>
                                        <p:strVal val="visible"/>
                                      </p:to>
                                    </p:set>
                                    <p:anim calcmode="lin" valueType="num">
                                      <p:cBhvr>
                                        <p:cTn id="18" dur="500" fill="hold"/>
                                        <p:tgtEl>
                                          <p:spTgt spid="3101"/>
                                        </p:tgtEl>
                                        <p:attrNameLst>
                                          <p:attrName>ppt_w</p:attrName>
                                        </p:attrNameLst>
                                      </p:cBhvr>
                                      <p:tavLst>
                                        <p:tav tm="0">
                                          <p:val>
                                            <p:fltVal val="0"/>
                                          </p:val>
                                        </p:tav>
                                        <p:tav tm="100000">
                                          <p:val>
                                            <p:strVal val="#ppt_w"/>
                                          </p:val>
                                        </p:tav>
                                      </p:tavLst>
                                    </p:anim>
                                    <p:anim calcmode="lin" valueType="num">
                                      <p:cBhvr>
                                        <p:cTn id="19" dur="500" fill="hold"/>
                                        <p:tgtEl>
                                          <p:spTgt spid="3101"/>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3099"/>
                                        </p:tgtEl>
                                        <p:attrNameLst>
                                          <p:attrName>style.visibility</p:attrName>
                                        </p:attrNameLst>
                                      </p:cBhvr>
                                      <p:to>
                                        <p:strVal val="visible"/>
                                      </p:to>
                                    </p:set>
                                    <p:animEffect transition="in" filter="randombar(horizontal)">
                                      <p:cBhvr>
                                        <p:cTn id="24" dur="500"/>
                                        <p:tgtEl>
                                          <p:spTgt spid="309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5" presetClass="entr" presetSubtype="0" fill="hold" grpId="0" nodeType="clickEffect">
                                  <p:stCondLst>
                                    <p:cond delay="0"/>
                                  </p:stCondLst>
                                  <p:childTnLst>
                                    <p:set>
                                      <p:cBhvr>
                                        <p:cTn id="28" dur="1" fill="hold">
                                          <p:stCondLst>
                                            <p:cond delay="0"/>
                                          </p:stCondLst>
                                        </p:cTn>
                                        <p:tgtEl>
                                          <p:spTgt spid="3103"/>
                                        </p:tgtEl>
                                        <p:attrNameLst>
                                          <p:attrName>style.visibility</p:attrName>
                                        </p:attrNameLst>
                                      </p:cBhvr>
                                      <p:to>
                                        <p:strVal val="visible"/>
                                      </p:to>
                                    </p:set>
                                    <p:anim calcmode="lin" valueType="num">
                                      <p:cBhvr>
                                        <p:cTn id="29" dur="1000" fill="hold"/>
                                        <p:tgtEl>
                                          <p:spTgt spid="3103"/>
                                        </p:tgtEl>
                                        <p:attrNameLst>
                                          <p:attrName>ppt_w</p:attrName>
                                        </p:attrNameLst>
                                      </p:cBhvr>
                                      <p:tavLst>
                                        <p:tav tm="0">
                                          <p:val>
                                            <p:fltVal val="0"/>
                                          </p:val>
                                        </p:tav>
                                        <p:tav tm="100000">
                                          <p:val>
                                            <p:strVal val="#ppt_w"/>
                                          </p:val>
                                        </p:tav>
                                      </p:tavLst>
                                    </p:anim>
                                    <p:anim calcmode="lin" valueType="num">
                                      <p:cBhvr>
                                        <p:cTn id="30" dur="1000" fill="hold"/>
                                        <p:tgtEl>
                                          <p:spTgt spid="3103"/>
                                        </p:tgtEl>
                                        <p:attrNameLst>
                                          <p:attrName>ppt_h</p:attrName>
                                        </p:attrNameLst>
                                      </p:cBhvr>
                                      <p:tavLst>
                                        <p:tav tm="0">
                                          <p:val>
                                            <p:fltVal val="0"/>
                                          </p:val>
                                        </p:tav>
                                        <p:tav tm="100000">
                                          <p:val>
                                            <p:strVal val="#ppt_h"/>
                                          </p:val>
                                        </p:tav>
                                      </p:tavLst>
                                    </p:anim>
                                    <p:anim calcmode="lin" valueType="num">
                                      <p:cBhvr>
                                        <p:cTn id="31" dur="1000" fill="hold"/>
                                        <p:tgtEl>
                                          <p:spTgt spid="3103"/>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310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3106"/>
                                        </p:tgtEl>
                                        <p:attrNameLst>
                                          <p:attrName>style.visibility</p:attrName>
                                        </p:attrNameLst>
                                      </p:cBhvr>
                                      <p:to>
                                        <p:strVal val="visible"/>
                                      </p:to>
                                    </p:set>
                                    <p:animEffect transition="in" filter="barn(outHorizontal)">
                                      <p:cBhvr>
                                        <p:cTn id="37" dur="500"/>
                                        <p:tgtEl>
                                          <p:spTgt spid="3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9" grpId="0" animBg="1" autoUpdateAnimBg="0"/>
      <p:bldP spid="3100" grpId="0" animBg="1" autoUpdateAnimBg="0"/>
      <p:bldP spid="3101" grpId="0" animBg="1" autoUpdateAnimBg="0"/>
      <p:bldP spid="3102" grpId="0" animBg="1" autoUpdateAnimBg="0"/>
      <p:bldP spid="3103" grpId="0" animBg="1" autoUpdateAnimBg="0"/>
      <p:bldP spid="310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50CA3736-04A4-D19C-80B2-756398184E35}"/>
              </a:ext>
            </a:extLst>
          </p:cNvPr>
          <p:cNvSpPr>
            <a:spLocks noGrp="1"/>
          </p:cNvSpPr>
          <p:nvPr>
            <p:ph type="sldNum" sz="quarter" idx="12"/>
          </p:nvPr>
        </p:nvSpPr>
        <p:spPr/>
        <p:txBody>
          <a:bodyPr/>
          <a:lstStyle/>
          <a:p>
            <a:pPr>
              <a:defRPr/>
            </a:pPr>
            <a:fld id="{F5EEE5B5-ADF0-4DBB-8E45-57A67C0DFEA3}" type="slidenum">
              <a:rPr lang="en-US" altLang="zh-CN"/>
              <a:pPr>
                <a:defRPr/>
              </a:pPr>
              <a:t>5</a:t>
            </a:fld>
            <a:endParaRPr lang="en-US" altLang="zh-CN"/>
          </a:p>
        </p:txBody>
      </p:sp>
      <p:sp>
        <p:nvSpPr>
          <p:cNvPr id="9219" name="Rectangle 2">
            <a:extLst>
              <a:ext uri="{FF2B5EF4-FFF2-40B4-BE49-F238E27FC236}">
                <a16:creationId xmlns:a16="http://schemas.microsoft.com/office/drawing/2014/main" id="{85FB9BB5-E533-F3EE-F175-7D75712B48CD}"/>
              </a:ext>
            </a:extLst>
          </p:cNvPr>
          <p:cNvSpPr>
            <a:spLocks noGrp="1" noChangeArrowheads="1"/>
          </p:cNvSpPr>
          <p:nvPr>
            <p:ph type="title"/>
          </p:nvPr>
        </p:nvSpPr>
        <p:spPr>
          <a:xfrm>
            <a:off x="492759" y="773906"/>
            <a:ext cx="7772400" cy="609600"/>
          </a:xfrm>
        </p:spPr>
        <p:txBody>
          <a:bodyPr/>
          <a:lstStyle/>
          <a:p>
            <a:pPr eaLnBrk="1" hangingPunct="1"/>
            <a:r>
              <a:rPr lang="zh-CN" altLang="en-US" sz="3600" b="1" dirty="0">
                <a:latin typeface="宋体" panose="02010600030101010101" pitchFamily="2" charset="-122"/>
              </a:rPr>
              <a:t>向转子提供直流的基本方法</a:t>
            </a:r>
            <a:r>
              <a:rPr lang="zh-CN" altLang="en-US" dirty="0"/>
              <a:t> </a:t>
            </a:r>
          </a:p>
        </p:txBody>
      </p:sp>
      <p:sp>
        <p:nvSpPr>
          <p:cNvPr id="9220" name="Rectangle 3">
            <a:extLst>
              <a:ext uri="{FF2B5EF4-FFF2-40B4-BE49-F238E27FC236}">
                <a16:creationId xmlns:a16="http://schemas.microsoft.com/office/drawing/2014/main" id="{79F8D269-658C-F749-E055-A315325316A9}"/>
              </a:ext>
            </a:extLst>
          </p:cNvPr>
          <p:cNvSpPr>
            <a:spLocks noGrp="1" noChangeArrowheads="1"/>
          </p:cNvSpPr>
          <p:nvPr>
            <p:ph type="body" idx="1"/>
          </p:nvPr>
        </p:nvSpPr>
        <p:spPr>
          <a:xfrm>
            <a:off x="609600" y="1434667"/>
            <a:ext cx="7772400" cy="1066800"/>
          </a:xfrm>
        </p:spPr>
        <p:txBody>
          <a:bodyPr/>
          <a:lstStyle/>
          <a:p>
            <a:pPr eaLnBrk="1" hangingPunct="1"/>
            <a:r>
              <a:rPr lang="zh-CN" altLang="en-US" sz="2800">
                <a:latin typeface="华文中宋" panose="02010600040101010101" pitchFamily="2" charset="-122"/>
                <a:ea typeface="华文中宋" panose="02010600040101010101" pitchFamily="2" charset="-122"/>
              </a:rPr>
              <a:t>通过安装在同步发电机轴上的直流电源直接供电（无刷励磁，大容量电机）。</a:t>
            </a:r>
            <a:r>
              <a:rPr lang="zh-CN" altLang="en-US"/>
              <a:t> </a:t>
            </a:r>
          </a:p>
        </p:txBody>
      </p:sp>
      <p:sp>
        <p:nvSpPr>
          <p:cNvPr id="9221" name="Rectangle 5">
            <a:extLst>
              <a:ext uri="{FF2B5EF4-FFF2-40B4-BE49-F238E27FC236}">
                <a16:creationId xmlns:a16="http://schemas.microsoft.com/office/drawing/2014/main" id="{A544861D-5940-5401-C635-E48C19EC437F}"/>
              </a:ext>
            </a:extLst>
          </p:cNvPr>
          <p:cNvSpPr>
            <a:spLocks noChangeArrowheads="1"/>
          </p:cNvSpPr>
          <p:nvPr/>
        </p:nvSpPr>
        <p:spPr bwMode="auto">
          <a:xfrm>
            <a:off x="3028950" y="2109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9222" name="Object 4">
            <a:extLst>
              <a:ext uri="{FF2B5EF4-FFF2-40B4-BE49-F238E27FC236}">
                <a16:creationId xmlns:a16="http://schemas.microsoft.com/office/drawing/2014/main" id="{494DB419-4166-23F6-E15C-22E6ED65DDC0}"/>
              </a:ext>
            </a:extLst>
          </p:cNvPr>
          <p:cNvGraphicFramePr>
            <a:graphicFrameLocks noChangeAspect="1"/>
          </p:cNvGraphicFramePr>
          <p:nvPr>
            <p:extLst>
              <p:ext uri="{D42A27DB-BD31-4B8C-83A1-F6EECF244321}">
                <p14:modId xmlns:p14="http://schemas.microsoft.com/office/powerpoint/2010/main" val="1284911037"/>
              </p:ext>
            </p:extLst>
          </p:nvPr>
        </p:nvGraphicFramePr>
        <p:xfrm>
          <a:off x="1828800" y="2653867"/>
          <a:ext cx="5486400" cy="4011613"/>
        </p:xfrm>
        <a:graphic>
          <a:graphicData uri="http://schemas.openxmlformats.org/presentationml/2006/ole">
            <mc:AlternateContent xmlns:mc="http://schemas.openxmlformats.org/markup-compatibility/2006">
              <mc:Choice xmlns:v="urn:schemas-microsoft-com:vml" Requires="v">
                <p:oleObj r:id="rId2" imgW="2219325" imgH="1892300" progId="MSDraw">
                  <p:embed/>
                </p:oleObj>
              </mc:Choice>
              <mc:Fallback>
                <p:oleObj r:id="rId2" imgW="2219325" imgH="1892300" progId="MSDraw">
                  <p:embed/>
                  <p:pic>
                    <p:nvPicPr>
                      <p:cNvPr id="9222" name="Object 4">
                        <a:extLst>
                          <a:ext uri="{FF2B5EF4-FFF2-40B4-BE49-F238E27FC236}">
                            <a16:creationId xmlns:a16="http://schemas.microsoft.com/office/drawing/2014/main" id="{494DB419-4166-23F6-E15C-22E6ED65D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653867"/>
                        <a:ext cx="5486400" cy="4011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6" name="AutoShape 6">
            <a:extLst>
              <a:ext uri="{FF2B5EF4-FFF2-40B4-BE49-F238E27FC236}">
                <a16:creationId xmlns:a16="http://schemas.microsoft.com/office/drawing/2014/main" id="{BBE873DE-331B-74DE-8F4C-9DC45B5D819A}"/>
              </a:ext>
            </a:extLst>
          </p:cNvPr>
          <p:cNvSpPr>
            <a:spLocks noChangeArrowheads="1"/>
          </p:cNvSpPr>
          <p:nvPr/>
        </p:nvSpPr>
        <p:spPr bwMode="auto">
          <a:xfrm>
            <a:off x="228600" y="4025467"/>
            <a:ext cx="1371600" cy="1905000"/>
          </a:xfrm>
          <a:prstGeom prst="wedgeRoundRectCallout">
            <a:avLst>
              <a:gd name="adj1" fmla="val 76736"/>
              <a:gd name="adj2" fmla="val 5008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华文中宋" panose="02010600040101010101" pitchFamily="2" charset="-122"/>
              </a:rPr>
              <a:t>需要外部提供小功率三相交流电源</a:t>
            </a:r>
          </a:p>
        </p:txBody>
      </p:sp>
      <p:sp>
        <p:nvSpPr>
          <p:cNvPr id="5127" name="AutoShape 7">
            <a:extLst>
              <a:ext uri="{FF2B5EF4-FFF2-40B4-BE49-F238E27FC236}">
                <a16:creationId xmlns:a16="http://schemas.microsoft.com/office/drawing/2014/main" id="{A04C3ABA-98CE-5B3E-9E15-F93AE967AF57}"/>
              </a:ext>
            </a:extLst>
          </p:cNvPr>
          <p:cNvSpPr>
            <a:spLocks noChangeArrowheads="1"/>
          </p:cNvSpPr>
          <p:nvPr/>
        </p:nvSpPr>
        <p:spPr bwMode="auto">
          <a:xfrm>
            <a:off x="6705600" y="1968067"/>
            <a:ext cx="1981200" cy="1600200"/>
          </a:xfrm>
          <a:prstGeom prst="wedgeRoundRectCallout">
            <a:avLst>
              <a:gd name="adj1" fmla="val -67949"/>
              <a:gd name="adj2" fmla="val 55755"/>
              <a:gd name="adj3" fmla="val 16667"/>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华文中宋" panose="02010600040101010101" pitchFamily="2" charset="-122"/>
              </a:rPr>
              <a:t>原动机（汽轮机、、水轮机）拖动转子旋转</a:t>
            </a:r>
          </a:p>
        </p:txBody>
      </p:sp>
      <p:sp>
        <p:nvSpPr>
          <p:cNvPr id="5128" name="AutoShape 8">
            <a:extLst>
              <a:ext uri="{FF2B5EF4-FFF2-40B4-BE49-F238E27FC236}">
                <a16:creationId xmlns:a16="http://schemas.microsoft.com/office/drawing/2014/main" id="{50884E20-22A8-7462-1881-045461805F82}"/>
              </a:ext>
            </a:extLst>
          </p:cNvPr>
          <p:cNvSpPr>
            <a:spLocks noChangeArrowheads="1"/>
          </p:cNvSpPr>
          <p:nvPr/>
        </p:nvSpPr>
        <p:spPr bwMode="auto">
          <a:xfrm>
            <a:off x="7391400" y="3720667"/>
            <a:ext cx="1524000" cy="2057400"/>
          </a:xfrm>
          <a:prstGeom prst="wedgeRoundRectCallout">
            <a:avLst>
              <a:gd name="adj1" fmla="val -214065"/>
              <a:gd name="adj2" fmla="val -52856"/>
              <a:gd name="adj3" fmla="val 16667"/>
            </a:avLst>
          </a:prstGeom>
          <a:solidFill>
            <a:schemeClr val="accent1">
              <a:alpha val="50195"/>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华文中宋" panose="02010600040101010101" pitchFamily="2" charset="-122"/>
              </a:rPr>
              <a:t>机电一体化，直接将整流二极管装在转子上。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127"/>
                                        </p:tgtEl>
                                        <p:attrNameLst>
                                          <p:attrName>style.visibility</p:attrName>
                                        </p:attrNameLst>
                                      </p:cBhvr>
                                      <p:to>
                                        <p:strVal val="visible"/>
                                      </p:to>
                                    </p:set>
                                    <p:animEffect transition="in" filter="barn(outHorizontal)">
                                      <p:cBhvr>
                                        <p:cTn id="7" dur="500"/>
                                        <p:tgtEl>
                                          <p:spTgt spid="51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5126"/>
                                        </p:tgtEl>
                                        <p:attrNameLst>
                                          <p:attrName>style.visibility</p:attrName>
                                        </p:attrNameLst>
                                      </p:cBhvr>
                                      <p:to>
                                        <p:strVal val="visible"/>
                                      </p:to>
                                    </p:set>
                                    <p:anim calcmode="lin" valueType="num">
                                      <p:cBhvr>
                                        <p:cTn id="12" dur="500" fill="hold"/>
                                        <p:tgtEl>
                                          <p:spTgt spid="5126"/>
                                        </p:tgtEl>
                                        <p:attrNameLst>
                                          <p:attrName>ppt_w</p:attrName>
                                        </p:attrNameLst>
                                      </p:cBhvr>
                                      <p:tavLst>
                                        <p:tav tm="0">
                                          <p:val>
                                            <p:fltVal val="0"/>
                                          </p:val>
                                        </p:tav>
                                        <p:tav tm="100000">
                                          <p:val>
                                            <p:strVal val="#ppt_w"/>
                                          </p:val>
                                        </p:tav>
                                      </p:tavLst>
                                    </p:anim>
                                    <p:anim calcmode="lin" valueType="num">
                                      <p:cBhvr>
                                        <p:cTn id="13" dur="500" fill="hold"/>
                                        <p:tgtEl>
                                          <p:spTgt spid="5126"/>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5128"/>
                                        </p:tgtEl>
                                        <p:attrNameLst>
                                          <p:attrName>style.visibility</p:attrName>
                                        </p:attrNameLst>
                                      </p:cBhvr>
                                      <p:to>
                                        <p:strVal val="visible"/>
                                      </p:to>
                                    </p:set>
                                    <p:animEffect transition="in" filter="slide(fromBottom)">
                                      <p:cBhvr>
                                        <p:cTn id="18"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animBg="1" autoUpdateAnimBg="0"/>
      <p:bldP spid="5127" grpId="0" animBg="1" autoUpdateAnimBg="0"/>
      <p:bldP spid="5128"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C7C47E2D-0362-3888-CDD1-4397FA5E98AC}"/>
              </a:ext>
            </a:extLst>
          </p:cNvPr>
          <p:cNvSpPr>
            <a:spLocks noGrp="1"/>
          </p:cNvSpPr>
          <p:nvPr>
            <p:ph type="sldNum" sz="quarter" idx="12"/>
          </p:nvPr>
        </p:nvSpPr>
        <p:spPr>
          <a:xfrm>
            <a:off x="6483152" y="6342631"/>
            <a:ext cx="2133600" cy="476250"/>
          </a:xfrm>
        </p:spPr>
        <p:txBody>
          <a:bodyPr/>
          <a:lstStyle/>
          <a:p>
            <a:pPr>
              <a:defRPr/>
            </a:pPr>
            <a:fld id="{4886F5A0-75E9-4A15-A5BC-2F1C5529E5C5}" type="slidenum">
              <a:rPr lang="en-US" altLang="zh-CN" smtClean="0"/>
              <a:pPr>
                <a:defRPr/>
              </a:pPr>
              <a:t>6</a:t>
            </a:fld>
            <a:endParaRPr lang="en-US" altLang="zh-CN"/>
          </a:p>
        </p:txBody>
      </p:sp>
      <p:sp>
        <p:nvSpPr>
          <p:cNvPr id="10243" name="Rectangle 3">
            <a:extLst>
              <a:ext uri="{FF2B5EF4-FFF2-40B4-BE49-F238E27FC236}">
                <a16:creationId xmlns:a16="http://schemas.microsoft.com/office/drawing/2014/main" id="{E6C97951-A801-906C-2266-D631C5F41E6E}"/>
              </a:ext>
            </a:extLst>
          </p:cNvPr>
          <p:cNvSpPr>
            <a:spLocks noChangeArrowheads="1"/>
          </p:cNvSpPr>
          <p:nvPr/>
        </p:nvSpPr>
        <p:spPr bwMode="auto">
          <a:xfrm>
            <a:off x="2376488" y="2371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0244" name="Object 2">
            <a:extLst>
              <a:ext uri="{FF2B5EF4-FFF2-40B4-BE49-F238E27FC236}">
                <a16:creationId xmlns:a16="http://schemas.microsoft.com/office/drawing/2014/main" id="{09D24C85-6ECE-B098-F4BB-C72C3101BE3E}"/>
              </a:ext>
            </a:extLst>
          </p:cNvPr>
          <p:cNvGraphicFramePr>
            <a:graphicFrameLocks noChangeAspect="1"/>
          </p:cNvGraphicFramePr>
          <p:nvPr>
            <p:extLst>
              <p:ext uri="{D42A27DB-BD31-4B8C-83A1-F6EECF244321}">
                <p14:modId xmlns:p14="http://schemas.microsoft.com/office/powerpoint/2010/main" val="2193493474"/>
              </p:ext>
            </p:extLst>
          </p:nvPr>
        </p:nvGraphicFramePr>
        <p:xfrm>
          <a:off x="539552" y="2154806"/>
          <a:ext cx="8229600" cy="3962400"/>
        </p:xfrm>
        <a:graphic>
          <a:graphicData uri="http://schemas.openxmlformats.org/presentationml/2006/ole">
            <mc:AlternateContent xmlns:mc="http://schemas.openxmlformats.org/markup-compatibility/2006">
              <mc:Choice xmlns:v="urn:schemas-microsoft-com:vml" Requires="v">
                <p:oleObj r:id="rId3" imgW="3157538" imgH="1516063" progId="MSDraw">
                  <p:embed/>
                </p:oleObj>
              </mc:Choice>
              <mc:Fallback>
                <p:oleObj r:id="rId3" imgW="3157538" imgH="1516063" progId="MSDraw">
                  <p:embed/>
                  <p:pic>
                    <p:nvPicPr>
                      <p:cNvPr id="10244" name="Object 2">
                        <a:extLst>
                          <a:ext uri="{FF2B5EF4-FFF2-40B4-BE49-F238E27FC236}">
                            <a16:creationId xmlns:a16="http://schemas.microsoft.com/office/drawing/2014/main" id="{09D24C85-6ECE-B098-F4BB-C72C3101B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154806"/>
                        <a:ext cx="8229600" cy="396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5" name="Rectangle 4">
            <a:extLst>
              <a:ext uri="{FF2B5EF4-FFF2-40B4-BE49-F238E27FC236}">
                <a16:creationId xmlns:a16="http://schemas.microsoft.com/office/drawing/2014/main" id="{D81456CD-7C32-E585-9ADB-2DA33E0FB819}"/>
              </a:ext>
            </a:extLst>
          </p:cNvPr>
          <p:cNvSpPr>
            <a:spLocks noGrp="1" noChangeArrowheads="1"/>
          </p:cNvSpPr>
          <p:nvPr>
            <p:ph type="title"/>
          </p:nvPr>
        </p:nvSpPr>
        <p:spPr>
          <a:xfrm>
            <a:off x="672302" y="727075"/>
            <a:ext cx="7772400" cy="685800"/>
          </a:xfrm>
        </p:spPr>
        <p:txBody>
          <a:bodyPr/>
          <a:lstStyle/>
          <a:p>
            <a:pPr eaLnBrk="1" hangingPunct="1"/>
            <a:r>
              <a:rPr lang="zh-CN" altLang="en-US" sz="3600" b="1" dirty="0"/>
              <a:t>同步发电机的无刷励磁</a:t>
            </a:r>
            <a:r>
              <a:rPr lang="en-US" altLang="zh-CN" sz="3600" b="1" dirty="0"/>
              <a:t>(</a:t>
            </a:r>
            <a:r>
              <a:rPr lang="zh-CN" altLang="en-US" sz="3600" b="1" dirty="0"/>
              <a:t>无外部供电）</a:t>
            </a:r>
          </a:p>
        </p:txBody>
      </p:sp>
      <p:sp>
        <p:nvSpPr>
          <p:cNvPr id="6150" name="AutoShape 6">
            <a:extLst>
              <a:ext uri="{FF2B5EF4-FFF2-40B4-BE49-F238E27FC236}">
                <a16:creationId xmlns:a16="http://schemas.microsoft.com/office/drawing/2014/main" id="{A742556C-3053-66B8-44ED-81B2272DD6F4}"/>
              </a:ext>
            </a:extLst>
          </p:cNvPr>
          <p:cNvSpPr>
            <a:spLocks noChangeArrowheads="1"/>
          </p:cNvSpPr>
          <p:nvPr/>
        </p:nvSpPr>
        <p:spPr bwMode="auto">
          <a:xfrm>
            <a:off x="615752" y="1392806"/>
            <a:ext cx="1447800" cy="457200"/>
          </a:xfrm>
          <a:prstGeom prst="wedgeRoundRectCallout">
            <a:avLst>
              <a:gd name="adj1" fmla="val 9319"/>
              <a:gd name="adj2" fmla="val 14965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小功率</a:t>
            </a:r>
          </a:p>
        </p:txBody>
      </p:sp>
      <p:sp>
        <p:nvSpPr>
          <p:cNvPr id="6151" name="AutoShape 7">
            <a:extLst>
              <a:ext uri="{FF2B5EF4-FFF2-40B4-BE49-F238E27FC236}">
                <a16:creationId xmlns:a16="http://schemas.microsoft.com/office/drawing/2014/main" id="{9FC0E7A3-224F-B923-C477-36AACABA8B9D}"/>
              </a:ext>
            </a:extLst>
          </p:cNvPr>
          <p:cNvSpPr>
            <a:spLocks noChangeArrowheads="1"/>
          </p:cNvSpPr>
          <p:nvPr/>
        </p:nvSpPr>
        <p:spPr bwMode="auto">
          <a:xfrm>
            <a:off x="3892352" y="1392806"/>
            <a:ext cx="3352800" cy="609600"/>
          </a:xfrm>
          <a:prstGeom prst="wedgeRoundRectCallout">
            <a:avLst>
              <a:gd name="adj1" fmla="val -4213"/>
              <a:gd name="adj2" fmla="val 84116"/>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原动机拖动转子旋转</a:t>
            </a:r>
          </a:p>
        </p:txBody>
      </p:sp>
      <p:sp>
        <p:nvSpPr>
          <p:cNvPr id="6152" name="AutoShape 8">
            <a:extLst>
              <a:ext uri="{FF2B5EF4-FFF2-40B4-BE49-F238E27FC236}">
                <a16:creationId xmlns:a16="http://schemas.microsoft.com/office/drawing/2014/main" id="{AC1FCC73-4098-1C3C-5BB6-70E36BAD1259}"/>
              </a:ext>
            </a:extLst>
          </p:cNvPr>
          <p:cNvSpPr>
            <a:spLocks noChangeArrowheads="1"/>
          </p:cNvSpPr>
          <p:nvPr/>
        </p:nvSpPr>
        <p:spPr bwMode="auto">
          <a:xfrm>
            <a:off x="158552" y="5583806"/>
            <a:ext cx="3810000" cy="1219200"/>
          </a:xfrm>
          <a:prstGeom prst="wedgeRoundRectCallout">
            <a:avLst>
              <a:gd name="adj1" fmla="val 24000"/>
              <a:gd name="adj2" fmla="val -84505"/>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定子侧可采用可控整流通过闭环自动调节励磁电流控制发电输出电压</a:t>
            </a:r>
          </a:p>
        </p:txBody>
      </p:sp>
      <p:sp>
        <p:nvSpPr>
          <p:cNvPr id="6153" name="AutoShape 9">
            <a:extLst>
              <a:ext uri="{FF2B5EF4-FFF2-40B4-BE49-F238E27FC236}">
                <a16:creationId xmlns:a16="http://schemas.microsoft.com/office/drawing/2014/main" id="{45EDDCEC-F03A-25F7-AA03-CD97384D3656}"/>
              </a:ext>
            </a:extLst>
          </p:cNvPr>
          <p:cNvSpPr>
            <a:spLocks noChangeArrowheads="1"/>
          </p:cNvSpPr>
          <p:nvPr/>
        </p:nvSpPr>
        <p:spPr bwMode="auto">
          <a:xfrm>
            <a:off x="2520752" y="1392806"/>
            <a:ext cx="1066800" cy="838200"/>
          </a:xfrm>
          <a:prstGeom prst="wedgeRoundRectCallout">
            <a:avLst>
              <a:gd name="adj1" fmla="val 90181"/>
              <a:gd name="adj2" fmla="val 232199"/>
              <a:gd name="adj3" fmla="val 1666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功率放大</a:t>
            </a:r>
          </a:p>
        </p:txBody>
      </p:sp>
      <p:sp>
        <p:nvSpPr>
          <p:cNvPr id="6154" name="AutoShape 10">
            <a:extLst>
              <a:ext uri="{FF2B5EF4-FFF2-40B4-BE49-F238E27FC236}">
                <a16:creationId xmlns:a16="http://schemas.microsoft.com/office/drawing/2014/main" id="{409EB215-03AE-1375-AE79-63C2D50C725F}"/>
              </a:ext>
            </a:extLst>
          </p:cNvPr>
          <p:cNvSpPr>
            <a:spLocks noChangeArrowheads="1"/>
          </p:cNvSpPr>
          <p:nvPr/>
        </p:nvSpPr>
        <p:spPr bwMode="auto">
          <a:xfrm>
            <a:off x="6483152" y="6117206"/>
            <a:ext cx="1752600" cy="533400"/>
          </a:xfrm>
          <a:prstGeom prst="wedgeRoundRectCallout">
            <a:avLst>
              <a:gd name="adj1" fmla="val -542"/>
              <a:gd name="adj2" fmla="val -18303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电力输出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blinds(horizontal)">
                                      <p:cBhvr>
                                        <p:cTn id="7" dur="500"/>
                                        <p:tgtEl>
                                          <p:spTgt spid="61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151"/>
                                        </p:tgtEl>
                                        <p:attrNameLst>
                                          <p:attrName>style.visibility</p:attrName>
                                        </p:attrNameLst>
                                      </p:cBhvr>
                                      <p:to>
                                        <p:strVal val="visible"/>
                                      </p:to>
                                    </p:set>
                                    <p:animEffect transition="in" filter="barn(outHorizontal)">
                                      <p:cBhvr>
                                        <p:cTn id="12" dur="500"/>
                                        <p:tgtEl>
                                          <p:spTgt spid="61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6152"/>
                                        </p:tgtEl>
                                        <p:attrNameLst>
                                          <p:attrName>style.visibility</p:attrName>
                                        </p:attrNameLst>
                                      </p:cBhvr>
                                      <p:to>
                                        <p:strVal val="visible"/>
                                      </p:to>
                                    </p:set>
                                    <p:animEffect transition="in" filter="barn(outHorizontal)">
                                      <p:cBhvr>
                                        <p:cTn id="17" dur="500"/>
                                        <p:tgtEl>
                                          <p:spTgt spid="61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153"/>
                                        </p:tgtEl>
                                        <p:attrNameLst>
                                          <p:attrName>style.visibility</p:attrName>
                                        </p:attrNameLst>
                                      </p:cBhvr>
                                      <p:to>
                                        <p:strVal val="visible"/>
                                      </p:to>
                                    </p:set>
                                    <p:animEffect transition="in" filter="slide(fromBottom)">
                                      <p:cBhvr>
                                        <p:cTn id="22" dur="500"/>
                                        <p:tgtEl>
                                          <p:spTgt spid="61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6154"/>
                                        </p:tgtEl>
                                        <p:attrNameLst>
                                          <p:attrName>style.visibility</p:attrName>
                                        </p:attrNameLst>
                                      </p:cBhvr>
                                      <p:to>
                                        <p:strVal val="visible"/>
                                      </p:to>
                                    </p:set>
                                    <p:anim calcmode="lin" valueType="num">
                                      <p:cBhvr>
                                        <p:cTn id="27" dur="500" fill="hold"/>
                                        <p:tgtEl>
                                          <p:spTgt spid="6154"/>
                                        </p:tgtEl>
                                        <p:attrNameLst>
                                          <p:attrName>ppt_w</p:attrName>
                                        </p:attrNameLst>
                                      </p:cBhvr>
                                      <p:tavLst>
                                        <p:tav tm="0">
                                          <p:val>
                                            <p:fltVal val="0"/>
                                          </p:val>
                                        </p:tav>
                                        <p:tav tm="100000">
                                          <p:val>
                                            <p:strVal val="#ppt_w"/>
                                          </p:val>
                                        </p:tav>
                                      </p:tavLst>
                                    </p:anim>
                                    <p:anim calcmode="lin" valueType="num">
                                      <p:cBhvr>
                                        <p:cTn id="28" dur="500" fill="hold"/>
                                        <p:tgtEl>
                                          <p:spTgt spid="61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autoUpdateAnimBg="0"/>
      <p:bldP spid="6151" grpId="0" animBg="1" autoUpdateAnimBg="0"/>
      <p:bldP spid="6152" grpId="0" animBg="1" autoUpdateAnimBg="0"/>
      <p:bldP spid="6153" grpId="0" animBg="1" autoUpdateAnimBg="0"/>
      <p:bldP spid="6154"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7999B00-687F-BDE4-2E62-28B5B7DFD640}"/>
              </a:ext>
            </a:extLst>
          </p:cNvPr>
          <p:cNvSpPr>
            <a:spLocks noGrp="1"/>
          </p:cNvSpPr>
          <p:nvPr>
            <p:ph type="sldNum" sz="quarter" idx="12"/>
          </p:nvPr>
        </p:nvSpPr>
        <p:spPr/>
        <p:txBody>
          <a:bodyPr/>
          <a:lstStyle/>
          <a:p>
            <a:pPr>
              <a:defRPr/>
            </a:pPr>
            <a:fld id="{B088A2BA-9054-4752-8780-DB5CA5401776}" type="slidenum">
              <a:rPr lang="en-US" altLang="zh-CN"/>
              <a:pPr>
                <a:defRPr/>
              </a:pPr>
              <a:t>7</a:t>
            </a:fld>
            <a:endParaRPr lang="en-US" altLang="zh-CN"/>
          </a:p>
        </p:txBody>
      </p:sp>
      <p:sp>
        <p:nvSpPr>
          <p:cNvPr id="12291" name="Rectangle 2">
            <a:extLst>
              <a:ext uri="{FF2B5EF4-FFF2-40B4-BE49-F238E27FC236}">
                <a16:creationId xmlns:a16="http://schemas.microsoft.com/office/drawing/2014/main" id="{EBE4717C-9A1C-F024-1D31-6FB25365B363}"/>
              </a:ext>
            </a:extLst>
          </p:cNvPr>
          <p:cNvSpPr>
            <a:spLocks noGrp="1" noChangeArrowheads="1"/>
          </p:cNvSpPr>
          <p:nvPr>
            <p:ph type="title"/>
          </p:nvPr>
        </p:nvSpPr>
        <p:spPr>
          <a:xfrm>
            <a:off x="596900" y="786943"/>
            <a:ext cx="7772400" cy="685800"/>
          </a:xfrm>
        </p:spPr>
        <p:txBody>
          <a:bodyPr/>
          <a:lstStyle/>
          <a:p>
            <a:pPr eaLnBrk="1" hangingPunct="1"/>
            <a:r>
              <a:rPr lang="zh-CN" altLang="en-US" sz="3600" b="1" dirty="0">
                <a:solidFill>
                  <a:schemeClr val="tx1"/>
                </a:solidFill>
                <a:latin typeface="宋体" panose="02010600030101010101" pitchFamily="2" charset="-122"/>
              </a:rPr>
              <a:t>汽轮（同步）发电机结构</a:t>
            </a:r>
          </a:p>
        </p:txBody>
      </p:sp>
      <p:pic>
        <p:nvPicPr>
          <p:cNvPr id="11268" name="Picture 4">
            <a:extLst>
              <a:ext uri="{FF2B5EF4-FFF2-40B4-BE49-F238E27FC236}">
                <a16:creationId xmlns:a16="http://schemas.microsoft.com/office/drawing/2014/main" id="{35941BCC-4245-F077-6AD8-A591BED7F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759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checkerboard(down)">
                                      <p:cBhvr>
                                        <p:cTn id="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C6F1A63D-C010-0881-89D1-62E4D53F00DD}"/>
              </a:ext>
            </a:extLst>
          </p:cNvPr>
          <p:cNvSpPr>
            <a:spLocks noGrp="1"/>
          </p:cNvSpPr>
          <p:nvPr>
            <p:ph type="sldNum" sz="quarter" idx="12"/>
          </p:nvPr>
        </p:nvSpPr>
        <p:spPr/>
        <p:txBody>
          <a:bodyPr/>
          <a:lstStyle/>
          <a:p>
            <a:pPr>
              <a:defRPr/>
            </a:pPr>
            <a:fld id="{E5F73F15-1AB2-46DB-975A-755E51807195}" type="slidenum">
              <a:rPr lang="en-US" altLang="zh-CN"/>
              <a:pPr>
                <a:defRPr/>
              </a:pPr>
              <a:t>8</a:t>
            </a:fld>
            <a:endParaRPr lang="en-US" altLang="zh-CN"/>
          </a:p>
        </p:txBody>
      </p:sp>
      <p:sp>
        <p:nvSpPr>
          <p:cNvPr id="13315" name="Rectangle 2">
            <a:extLst>
              <a:ext uri="{FF2B5EF4-FFF2-40B4-BE49-F238E27FC236}">
                <a16:creationId xmlns:a16="http://schemas.microsoft.com/office/drawing/2014/main" id="{430405D7-3982-6DA8-BE0E-462305D65234}"/>
              </a:ext>
            </a:extLst>
          </p:cNvPr>
          <p:cNvSpPr>
            <a:spLocks noGrp="1" noChangeArrowheads="1"/>
          </p:cNvSpPr>
          <p:nvPr>
            <p:ph type="title"/>
          </p:nvPr>
        </p:nvSpPr>
        <p:spPr>
          <a:xfrm>
            <a:off x="685800" y="826416"/>
            <a:ext cx="7772400" cy="609600"/>
          </a:xfrm>
        </p:spPr>
        <p:txBody>
          <a:bodyPr/>
          <a:lstStyle/>
          <a:p>
            <a:pPr eaLnBrk="1" hangingPunct="1"/>
            <a:r>
              <a:rPr lang="zh-CN" altLang="en-US" sz="3600" b="1" dirty="0">
                <a:solidFill>
                  <a:schemeClr val="tx1"/>
                </a:solidFill>
                <a:latin typeface="宋体" panose="02010600030101010101" pitchFamily="2" charset="-122"/>
              </a:rPr>
              <a:t>（</a:t>
            </a:r>
            <a:r>
              <a:rPr lang="en-US" altLang="zh-CN" sz="3600" b="1" dirty="0">
                <a:solidFill>
                  <a:schemeClr val="tx1"/>
                </a:solidFill>
                <a:latin typeface="宋体" panose="02010600030101010101" pitchFamily="2" charset="-122"/>
              </a:rPr>
              <a:t>1</a:t>
            </a:r>
            <a:r>
              <a:rPr lang="zh-CN" altLang="en-US" sz="3600" b="1" dirty="0">
                <a:solidFill>
                  <a:schemeClr val="tx1"/>
                </a:solidFill>
                <a:latin typeface="宋体" panose="02010600030101010101" pitchFamily="2" charset="-122"/>
              </a:rPr>
              <a:t>）定子铁心</a:t>
            </a:r>
          </a:p>
        </p:txBody>
      </p:sp>
      <p:pic>
        <p:nvPicPr>
          <p:cNvPr id="12292" name="Picture 4">
            <a:extLst>
              <a:ext uri="{FF2B5EF4-FFF2-40B4-BE49-F238E27FC236}">
                <a16:creationId xmlns:a16="http://schemas.microsoft.com/office/drawing/2014/main" id="{F0A26FE6-2D3F-CAA0-F48A-1542419D2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36016"/>
            <a:ext cx="8382000" cy="527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p:cTn id="7" dur="500" fill="hold"/>
                                        <p:tgtEl>
                                          <p:spTgt spid="12292"/>
                                        </p:tgtEl>
                                        <p:attrNameLst>
                                          <p:attrName>ppt_w</p:attrName>
                                        </p:attrNameLst>
                                      </p:cBhvr>
                                      <p:tavLst>
                                        <p:tav tm="0">
                                          <p:val>
                                            <p:fltVal val="0"/>
                                          </p:val>
                                        </p:tav>
                                        <p:tav tm="100000">
                                          <p:val>
                                            <p:strVal val="#ppt_w"/>
                                          </p:val>
                                        </p:tav>
                                      </p:tavLst>
                                    </p:anim>
                                    <p:anim calcmode="lin" valueType="num">
                                      <p:cBhvr>
                                        <p:cTn id="8" dur="500" fill="hold"/>
                                        <p:tgtEl>
                                          <p:spTgt spid="122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6D07606-2406-99F7-5066-C42D3B90F36F}"/>
              </a:ext>
            </a:extLst>
          </p:cNvPr>
          <p:cNvSpPr>
            <a:spLocks noGrp="1"/>
          </p:cNvSpPr>
          <p:nvPr>
            <p:ph type="sldNum" sz="quarter" idx="12"/>
          </p:nvPr>
        </p:nvSpPr>
        <p:spPr>
          <a:xfrm>
            <a:off x="6437040" y="6564312"/>
            <a:ext cx="2133600" cy="476250"/>
          </a:xfrm>
        </p:spPr>
        <p:txBody>
          <a:bodyPr/>
          <a:lstStyle/>
          <a:p>
            <a:pPr>
              <a:defRPr/>
            </a:pPr>
            <a:fld id="{8F378D50-F45B-4CCE-941B-AE0966511B5E}" type="slidenum">
              <a:rPr lang="en-US" altLang="zh-CN"/>
              <a:pPr>
                <a:defRPr/>
              </a:pPr>
              <a:t>9</a:t>
            </a:fld>
            <a:endParaRPr lang="en-US" altLang="zh-CN"/>
          </a:p>
        </p:txBody>
      </p:sp>
      <p:sp>
        <p:nvSpPr>
          <p:cNvPr id="14339" name="Rectangle 2">
            <a:extLst>
              <a:ext uri="{FF2B5EF4-FFF2-40B4-BE49-F238E27FC236}">
                <a16:creationId xmlns:a16="http://schemas.microsoft.com/office/drawing/2014/main" id="{26B15957-B34A-FB4A-AE39-C7202075B095}"/>
              </a:ext>
            </a:extLst>
          </p:cNvPr>
          <p:cNvSpPr>
            <a:spLocks noGrp="1" noChangeArrowheads="1"/>
          </p:cNvSpPr>
          <p:nvPr>
            <p:ph type="title"/>
          </p:nvPr>
        </p:nvSpPr>
        <p:spPr>
          <a:xfrm>
            <a:off x="539552" y="776287"/>
            <a:ext cx="7772400" cy="762000"/>
          </a:xfrm>
        </p:spPr>
        <p:txBody>
          <a:bodyPr/>
          <a:lstStyle/>
          <a:p>
            <a:pPr eaLnBrk="1" hangingPunct="1"/>
            <a:r>
              <a:rPr lang="zh-CN" altLang="en-US" sz="3600" dirty="0"/>
              <a:t>定子绕组端部结构</a:t>
            </a:r>
          </a:p>
        </p:txBody>
      </p:sp>
      <p:pic>
        <p:nvPicPr>
          <p:cNvPr id="13316" name="Picture 4">
            <a:extLst>
              <a:ext uri="{FF2B5EF4-FFF2-40B4-BE49-F238E27FC236}">
                <a16:creationId xmlns:a16="http://schemas.microsoft.com/office/drawing/2014/main" id="{AC581F86-1FD8-7AED-F304-BB74B9149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538287"/>
            <a:ext cx="6642100" cy="531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ppt_x"/>
                                          </p:val>
                                        </p:tav>
                                        <p:tav tm="100000">
                                          <p:val>
                                            <p:strVal val="#ppt_x"/>
                                          </p:val>
                                        </p:tav>
                                      </p:tavLst>
                                    </p:anim>
                                    <p:anim calcmode="lin" valueType="num">
                                      <p:cBhvr additive="base">
                                        <p:cTn id="8"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161A6610-985C-885E-494B-AA248C9EB0BF}"/>
              </a:ext>
            </a:extLst>
          </p:cNvPr>
          <p:cNvSpPr>
            <a:spLocks noGrp="1"/>
          </p:cNvSpPr>
          <p:nvPr>
            <p:ph type="sldNum" sz="quarter" idx="12"/>
          </p:nvPr>
        </p:nvSpPr>
        <p:spPr/>
        <p:txBody>
          <a:bodyPr/>
          <a:lstStyle/>
          <a:p>
            <a:pPr>
              <a:defRPr/>
            </a:pPr>
            <a:fld id="{E727409B-5FAB-44A5-814D-5EE86270862C}" type="slidenum">
              <a:rPr lang="en-US" altLang="zh-CN"/>
              <a:pPr>
                <a:defRPr/>
              </a:pPr>
              <a:t>10</a:t>
            </a:fld>
            <a:endParaRPr lang="en-US" altLang="zh-CN"/>
          </a:p>
        </p:txBody>
      </p:sp>
      <p:sp>
        <p:nvSpPr>
          <p:cNvPr id="15363" name="Rectangle 2">
            <a:extLst>
              <a:ext uri="{FF2B5EF4-FFF2-40B4-BE49-F238E27FC236}">
                <a16:creationId xmlns:a16="http://schemas.microsoft.com/office/drawing/2014/main" id="{8641854C-0CA0-9345-9369-451FEAD062C7}"/>
              </a:ext>
            </a:extLst>
          </p:cNvPr>
          <p:cNvSpPr>
            <a:spLocks noGrp="1" noChangeArrowheads="1"/>
          </p:cNvSpPr>
          <p:nvPr>
            <p:ph type="title"/>
          </p:nvPr>
        </p:nvSpPr>
        <p:spPr>
          <a:xfrm>
            <a:off x="3899190" y="379413"/>
            <a:ext cx="2743200" cy="609600"/>
          </a:xfrm>
        </p:spPr>
        <p:txBody>
          <a:bodyPr/>
          <a:lstStyle/>
          <a:p>
            <a:pPr eaLnBrk="1" hangingPunct="1"/>
            <a:r>
              <a:rPr lang="zh-CN" altLang="en-US" sz="3600" dirty="0"/>
              <a:t>绕组励磁</a:t>
            </a:r>
          </a:p>
        </p:txBody>
      </p:sp>
      <p:pic>
        <p:nvPicPr>
          <p:cNvPr id="14340" name="Picture 4">
            <a:extLst>
              <a:ext uri="{FF2B5EF4-FFF2-40B4-BE49-F238E27FC236}">
                <a16:creationId xmlns:a16="http://schemas.microsoft.com/office/drawing/2014/main" id="{44B9DFC3-4BA0-BAB9-4B12-DF6B9D6FB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90600"/>
            <a:ext cx="7524750" cy="525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AutoShape 5">
            <a:extLst>
              <a:ext uri="{FF2B5EF4-FFF2-40B4-BE49-F238E27FC236}">
                <a16:creationId xmlns:a16="http://schemas.microsoft.com/office/drawing/2014/main" id="{A1C4AE2D-0C7A-7853-AE51-0F95AD4BA58A}"/>
              </a:ext>
            </a:extLst>
          </p:cNvPr>
          <p:cNvSpPr>
            <a:spLocks noChangeArrowheads="1"/>
          </p:cNvSpPr>
          <p:nvPr/>
        </p:nvSpPr>
        <p:spPr bwMode="auto">
          <a:xfrm>
            <a:off x="7239000" y="3933056"/>
            <a:ext cx="1676400" cy="533400"/>
          </a:xfrm>
          <a:prstGeom prst="wedgeRoundRectCallout">
            <a:avLst>
              <a:gd name="adj1" fmla="val 1257"/>
              <a:gd name="adj2" fmla="val -15808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隐极结构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additive="base">
                                        <p:cTn id="7" dur="500" fill="hold"/>
                                        <p:tgtEl>
                                          <p:spTgt spid="14340"/>
                                        </p:tgtEl>
                                        <p:attrNameLst>
                                          <p:attrName>ppt_x</p:attrName>
                                        </p:attrNameLst>
                                      </p:cBhvr>
                                      <p:tavLst>
                                        <p:tav tm="0">
                                          <p:val>
                                            <p:strVal val="#ppt_x"/>
                                          </p:val>
                                        </p:tav>
                                        <p:tav tm="100000">
                                          <p:val>
                                            <p:strVal val="#ppt_x"/>
                                          </p:val>
                                        </p:tav>
                                      </p:tavLst>
                                    </p:anim>
                                    <p:anim calcmode="lin" valueType="num">
                                      <p:cBhvr additive="base">
                                        <p:cTn id="8"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341"/>
                                        </p:tgtEl>
                                        <p:attrNameLst>
                                          <p:attrName>style.visibility</p:attrName>
                                        </p:attrNameLst>
                                      </p:cBhvr>
                                      <p:to>
                                        <p:strVal val="visible"/>
                                      </p:to>
                                    </p:set>
                                    <p:animEffect transition="in" filter="blinds(horizontal)">
                                      <p:cBhvr>
                                        <p:cTn id="13"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D196B722-A234-8612-B08B-74CDD8C71828}"/>
              </a:ext>
            </a:extLst>
          </p:cNvPr>
          <p:cNvSpPr>
            <a:spLocks noGrp="1"/>
          </p:cNvSpPr>
          <p:nvPr>
            <p:ph type="sldNum" sz="quarter" idx="12"/>
          </p:nvPr>
        </p:nvSpPr>
        <p:spPr/>
        <p:txBody>
          <a:bodyPr/>
          <a:lstStyle/>
          <a:p>
            <a:pPr>
              <a:defRPr/>
            </a:pPr>
            <a:fld id="{8AA4364E-73BA-40CF-99EA-CACCE0AFC1AC}" type="slidenum">
              <a:rPr lang="en-US" altLang="zh-CN"/>
              <a:pPr>
                <a:defRPr/>
              </a:pPr>
              <a:t>11</a:t>
            </a:fld>
            <a:endParaRPr lang="en-US" altLang="zh-CN"/>
          </a:p>
        </p:txBody>
      </p:sp>
      <p:sp>
        <p:nvSpPr>
          <p:cNvPr id="16387" name="Rectangle 2">
            <a:extLst>
              <a:ext uri="{FF2B5EF4-FFF2-40B4-BE49-F238E27FC236}">
                <a16:creationId xmlns:a16="http://schemas.microsoft.com/office/drawing/2014/main" id="{DF77415E-67AE-782D-A826-6E97D0D26F0E}"/>
              </a:ext>
            </a:extLst>
          </p:cNvPr>
          <p:cNvSpPr>
            <a:spLocks noGrp="1" noChangeArrowheads="1"/>
          </p:cNvSpPr>
          <p:nvPr>
            <p:ph type="title"/>
          </p:nvPr>
        </p:nvSpPr>
        <p:spPr>
          <a:xfrm>
            <a:off x="4355976" y="550863"/>
            <a:ext cx="2971800" cy="533400"/>
          </a:xfrm>
        </p:spPr>
        <p:txBody>
          <a:bodyPr/>
          <a:lstStyle/>
          <a:p>
            <a:pPr eaLnBrk="1" hangingPunct="1"/>
            <a:r>
              <a:rPr lang="zh-CN" altLang="en-US" sz="3600" dirty="0"/>
              <a:t>实例</a:t>
            </a:r>
            <a:r>
              <a:rPr lang="en-US" altLang="zh-CN" sz="3600" dirty="0"/>
              <a:t>1</a:t>
            </a:r>
          </a:p>
        </p:txBody>
      </p:sp>
      <p:pic>
        <p:nvPicPr>
          <p:cNvPr id="16388" name="Picture 5">
            <a:extLst>
              <a:ext uri="{FF2B5EF4-FFF2-40B4-BE49-F238E27FC236}">
                <a16:creationId xmlns:a16="http://schemas.microsoft.com/office/drawing/2014/main" id="{5396CCD6-02F5-A921-4779-A671CC54AF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2925" y="1143000"/>
            <a:ext cx="6340475"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6">
            <a:extLst>
              <a:ext uri="{FF2B5EF4-FFF2-40B4-BE49-F238E27FC236}">
                <a16:creationId xmlns:a16="http://schemas.microsoft.com/office/drawing/2014/main" id="{556863D3-01F0-1931-59D5-19EF59E99594}"/>
              </a:ext>
            </a:extLst>
          </p:cNvPr>
          <p:cNvSpPr txBox="1">
            <a:spLocks noChangeArrowheads="1"/>
          </p:cNvSpPr>
          <p:nvPr/>
        </p:nvSpPr>
        <p:spPr bwMode="auto">
          <a:xfrm>
            <a:off x="228600" y="5956300"/>
            <a:ext cx="6575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Tx/>
              <a:buNone/>
            </a:pPr>
            <a:r>
              <a:rPr kumimoji="1" lang="en-US" altLang="zh-CN" sz="3200">
                <a:solidFill>
                  <a:schemeClr val="folHlink"/>
                </a:solidFill>
                <a:latin typeface="Times New Roman" panose="02020603050405020304" pitchFamily="18" charset="0"/>
                <a:ea typeface="宋体" panose="02010600030101010101" pitchFamily="2" charset="-122"/>
              </a:rPr>
              <a:t>                     </a:t>
            </a:r>
            <a:r>
              <a:rPr kumimoji="1" lang="zh-CN" altLang="en-US" sz="3200">
                <a:solidFill>
                  <a:srgbClr val="FF0000"/>
                </a:solidFill>
                <a:latin typeface="Times New Roman" panose="02020603050405020304" pitchFamily="18" charset="0"/>
                <a:ea typeface="宋体" panose="02010600030101010101" pitchFamily="2" charset="-122"/>
              </a:rPr>
              <a:t>引进</a:t>
            </a:r>
            <a:r>
              <a:rPr kumimoji="1" lang="en-US" altLang="zh-CN" sz="3200">
                <a:solidFill>
                  <a:srgbClr val="FF0000"/>
                </a:solidFill>
                <a:latin typeface="Times New Roman" panose="02020603050405020304" pitchFamily="18" charset="0"/>
                <a:ea typeface="宋体" panose="02010600030101010101" pitchFamily="2" charset="-122"/>
              </a:rPr>
              <a:t>600MW</a:t>
            </a:r>
            <a:r>
              <a:rPr kumimoji="1" lang="zh-CN" altLang="en-US" sz="3200">
                <a:solidFill>
                  <a:srgbClr val="FF0000"/>
                </a:solidFill>
                <a:latin typeface="Times New Roman" panose="02020603050405020304" pitchFamily="18" charset="0"/>
                <a:ea typeface="宋体" panose="02010600030101010101" pitchFamily="2" charset="-122"/>
              </a:rPr>
              <a:t>汽轮发电机</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BA5AE4D-8026-7501-1DEC-EE12D68CB6B0}"/>
              </a:ext>
            </a:extLst>
          </p:cNvPr>
          <p:cNvSpPr>
            <a:spLocks noGrp="1"/>
          </p:cNvSpPr>
          <p:nvPr>
            <p:ph type="sldNum" sz="quarter" idx="12"/>
          </p:nvPr>
        </p:nvSpPr>
        <p:spPr/>
        <p:txBody>
          <a:bodyPr/>
          <a:lstStyle/>
          <a:p>
            <a:pPr>
              <a:defRPr/>
            </a:pPr>
            <a:fld id="{50281E4B-239D-4358-AA1F-EF9B5DC9759E}" type="slidenum">
              <a:rPr lang="en-US" altLang="zh-CN"/>
              <a:pPr>
                <a:defRPr/>
              </a:pPr>
              <a:t>12</a:t>
            </a:fld>
            <a:endParaRPr lang="en-US" altLang="zh-CN"/>
          </a:p>
        </p:txBody>
      </p:sp>
      <p:sp>
        <p:nvSpPr>
          <p:cNvPr id="19459" name="Rectangle 2">
            <a:extLst>
              <a:ext uri="{FF2B5EF4-FFF2-40B4-BE49-F238E27FC236}">
                <a16:creationId xmlns:a16="http://schemas.microsoft.com/office/drawing/2014/main" id="{36CF7D6D-DA10-C6CA-E820-32AD8AE1BD53}"/>
              </a:ext>
            </a:extLst>
          </p:cNvPr>
          <p:cNvSpPr>
            <a:spLocks noGrp="1" noChangeArrowheads="1"/>
          </p:cNvSpPr>
          <p:nvPr>
            <p:ph type="title"/>
          </p:nvPr>
        </p:nvSpPr>
        <p:spPr>
          <a:xfrm>
            <a:off x="-324544" y="1628800"/>
            <a:ext cx="1828800" cy="457200"/>
          </a:xfrm>
        </p:spPr>
        <p:txBody>
          <a:bodyPr/>
          <a:lstStyle/>
          <a:p>
            <a:pPr eaLnBrk="1" hangingPunct="1"/>
            <a:r>
              <a:rPr lang="zh-CN" altLang="en-US" sz="3600" dirty="0"/>
              <a:t>实例</a:t>
            </a:r>
            <a:r>
              <a:rPr lang="en-US" altLang="zh-CN" sz="3600" dirty="0"/>
              <a:t>4</a:t>
            </a:r>
            <a:endParaRPr lang="en-US" altLang="zh-CN" sz="3200" b="1" dirty="0">
              <a:solidFill>
                <a:srgbClr val="0000FF"/>
              </a:solidFill>
            </a:endParaRPr>
          </a:p>
        </p:txBody>
      </p:sp>
      <p:pic>
        <p:nvPicPr>
          <p:cNvPr id="19460" name="Picture 5">
            <a:extLst>
              <a:ext uri="{FF2B5EF4-FFF2-40B4-BE49-F238E27FC236}">
                <a16:creationId xmlns:a16="http://schemas.microsoft.com/office/drawing/2014/main" id="{976CF472-EDE7-E987-2FC5-31AE64DE4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6643688"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6">
            <a:extLst>
              <a:ext uri="{FF2B5EF4-FFF2-40B4-BE49-F238E27FC236}">
                <a16:creationId xmlns:a16="http://schemas.microsoft.com/office/drawing/2014/main" id="{0E2FE245-8AFB-DF46-4B00-F87876D27484}"/>
              </a:ext>
            </a:extLst>
          </p:cNvPr>
          <p:cNvSpPr txBox="1">
            <a:spLocks noChangeArrowheads="1"/>
          </p:cNvSpPr>
          <p:nvPr/>
        </p:nvSpPr>
        <p:spPr bwMode="auto">
          <a:xfrm>
            <a:off x="1676400" y="5997575"/>
            <a:ext cx="6072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buFontTx/>
              <a:buNone/>
            </a:pPr>
            <a:r>
              <a:rPr kumimoji="1" lang="zh-CN" altLang="en-US" sz="3200">
                <a:solidFill>
                  <a:srgbClr val="0000FF"/>
                </a:solidFill>
                <a:latin typeface="Times New Roman" panose="02020603050405020304" pitchFamily="18" charset="0"/>
                <a:ea typeface="宋体" panose="02010600030101010101" pitchFamily="2" charset="-122"/>
              </a:rPr>
              <a:t>国产</a:t>
            </a:r>
            <a:r>
              <a:rPr kumimoji="1" lang="en-US" altLang="zh-CN" sz="3200">
                <a:solidFill>
                  <a:srgbClr val="0000FF"/>
                </a:solidFill>
                <a:latin typeface="Times New Roman" panose="02020603050405020304" pitchFamily="18" charset="0"/>
                <a:ea typeface="宋体" panose="02010600030101010101" pitchFamily="2" charset="-122"/>
              </a:rPr>
              <a:t>200MW</a:t>
            </a:r>
            <a:r>
              <a:rPr kumimoji="1" lang="zh-CN" altLang="en-US" sz="3200">
                <a:solidFill>
                  <a:srgbClr val="0000FF"/>
                </a:solidFill>
                <a:latin typeface="Times New Roman" panose="02020603050405020304" pitchFamily="18" charset="0"/>
                <a:ea typeface="宋体" panose="02010600030101010101" pitchFamily="2" charset="-122"/>
              </a:rPr>
              <a:t>汽轮发电机定子铁心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5420341-46A1-3AB4-A3E7-BA10BB07D760}"/>
              </a:ext>
            </a:extLst>
          </p:cNvPr>
          <p:cNvSpPr>
            <a:spLocks noGrp="1"/>
          </p:cNvSpPr>
          <p:nvPr>
            <p:ph type="sldNum" sz="quarter" idx="12"/>
          </p:nvPr>
        </p:nvSpPr>
        <p:spPr/>
        <p:txBody>
          <a:bodyPr/>
          <a:lstStyle/>
          <a:p>
            <a:pPr>
              <a:defRPr/>
            </a:pPr>
            <a:fld id="{5493D90E-D3EE-4F56-B49F-F6AB543DD6C9}" type="slidenum">
              <a:rPr lang="en-US" altLang="zh-CN"/>
              <a:pPr>
                <a:defRPr/>
              </a:pPr>
              <a:t>13</a:t>
            </a:fld>
            <a:endParaRPr lang="en-US" altLang="zh-CN"/>
          </a:p>
        </p:txBody>
      </p:sp>
      <p:sp>
        <p:nvSpPr>
          <p:cNvPr id="20483" name="Rectangle 2">
            <a:extLst>
              <a:ext uri="{FF2B5EF4-FFF2-40B4-BE49-F238E27FC236}">
                <a16:creationId xmlns:a16="http://schemas.microsoft.com/office/drawing/2014/main" id="{F819BF4B-99AB-691E-5D0A-A2CCCAA80479}"/>
              </a:ext>
            </a:extLst>
          </p:cNvPr>
          <p:cNvSpPr>
            <a:spLocks noGrp="1" noChangeArrowheads="1"/>
          </p:cNvSpPr>
          <p:nvPr>
            <p:ph type="title"/>
          </p:nvPr>
        </p:nvSpPr>
        <p:spPr>
          <a:xfrm>
            <a:off x="254796" y="979488"/>
            <a:ext cx="7772400" cy="762000"/>
          </a:xfrm>
        </p:spPr>
        <p:txBody>
          <a:bodyPr/>
          <a:lstStyle/>
          <a:p>
            <a:pPr eaLnBrk="1" hangingPunct="1"/>
            <a:r>
              <a:rPr lang="zh-CN" altLang="en-US" sz="3600" b="1" dirty="0">
                <a:solidFill>
                  <a:schemeClr val="tx1"/>
                </a:solidFill>
                <a:latin typeface="宋体" panose="02010600030101010101" pitchFamily="2" charset="-122"/>
              </a:rPr>
              <a:t>水轮发电机结构</a:t>
            </a:r>
          </a:p>
        </p:txBody>
      </p:sp>
      <p:sp>
        <p:nvSpPr>
          <p:cNvPr id="20484" name="Text Box 4">
            <a:extLst>
              <a:ext uri="{FF2B5EF4-FFF2-40B4-BE49-F238E27FC236}">
                <a16:creationId xmlns:a16="http://schemas.microsoft.com/office/drawing/2014/main" id="{7BA2B9AD-E417-A6AD-5B1D-FD0199068D91}"/>
              </a:ext>
            </a:extLst>
          </p:cNvPr>
          <p:cNvSpPr txBox="1">
            <a:spLocks noChangeArrowheads="1"/>
          </p:cNvSpPr>
          <p:nvPr/>
        </p:nvSpPr>
        <p:spPr bwMode="auto">
          <a:xfrm>
            <a:off x="649288" y="1762125"/>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r>
              <a:rPr kumimoji="1" lang="en-US" altLang="zh-CN">
                <a:solidFill>
                  <a:srgbClr val="0000FF"/>
                </a:solidFill>
                <a:latin typeface="宋体" panose="02010600030101010101" pitchFamily="2" charset="-122"/>
                <a:ea typeface="宋体" panose="02010600030101010101" pitchFamily="2" charset="-122"/>
              </a:rPr>
              <a:t>(1)</a:t>
            </a:r>
            <a:r>
              <a:rPr kumimoji="1" lang="zh-CN" altLang="en-US">
                <a:solidFill>
                  <a:srgbClr val="0000FF"/>
                </a:solidFill>
                <a:latin typeface="宋体" panose="02010600030101010101" pitchFamily="2" charset="-122"/>
                <a:ea typeface="宋体" panose="02010600030101010101" pitchFamily="2" charset="-122"/>
              </a:rPr>
              <a:t>立式水轮发电机</a:t>
            </a:r>
          </a:p>
        </p:txBody>
      </p:sp>
      <p:sp>
        <p:nvSpPr>
          <p:cNvPr id="20485" name="Text Box 6">
            <a:extLst>
              <a:ext uri="{FF2B5EF4-FFF2-40B4-BE49-F238E27FC236}">
                <a16:creationId xmlns:a16="http://schemas.microsoft.com/office/drawing/2014/main" id="{DD5F5947-0CF7-D449-E9CA-0253C6BD5187}"/>
              </a:ext>
            </a:extLst>
          </p:cNvPr>
          <p:cNvSpPr txBox="1">
            <a:spLocks noChangeArrowheads="1"/>
          </p:cNvSpPr>
          <p:nvPr/>
        </p:nvSpPr>
        <p:spPr bwMode="auto">
          <a:xfrm>
            <a:off x="611188" y="1481138"/>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endParaRPr kumimoji="1" lang="zh-CN" altLang="zh-CN" sz="2400" b="0">
              <a:latin typeface="Times New Roman" panose="02020603050405020304" pitchFamily="18" charset="0"/>
              <a:ea typeface="宋体" panose="02010600030101010101" pitchFamily="2" charset="-122"/>
            </a:endParaRPr>
          </a:p>
        </p:txBody>
      </p:sp>
      <p:pic>
        <p:nvPicPr>
          <p:cNvPr id="20486" name="Picture 7">
            <a:extLst>
              <a:ext uri="{FF2B5EF4-FFF2-40B4-BE49-F238E27FC236}">
                <a16:creationId xmlns:a16="http://schemas.microsoft.com/office/drawing/2014/main" id="{A8BB1A74-D721-D891-0C46-D881B51CB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560638"/>
            <a:ext cx="3586162"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Text Box 8">
            <a:extLst>
              <a:ext uri="{FF2B5EF4-FFF2-40B4-BE49-F238E27FC236}">
                <a16:creationId xmlns:a16="http://schemas.microsoft.com/office/drawing/2014/main" id="{29046B58-4578-947D-6003-B21316CCDF52}"/>
              </a:ext>
            </a:extLst>
          </p:cNvPr>
          <p:cNvSpPr txBox="1">
            <a:spLocks noChangeArrowheads="1"/>
          </p:cNvSpPr>
          <p:nvPr/>
        </p:nvSpPr>
        <p:spPr bwMode="auto">
          <a:xfrm>
            <a:off x="4556125" y="1765300"/>
            <a:ext cx="3473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r>
              <a:rPr kumimoji="1" lang="en-US" altLang="zh-CN">
                <a:solidFill>
                  <a:srgbClr val="0000FF"/>
                </a:solidFill>
                <a:latin typeface="宋体" panose="02010600030101010101" pitchFamily="2" charset="-122"/>
                <a:ea typeface="宋体" panose="02010600030101010101" pitchFamily="2" charset="-122"/>
              </a:rPr>
              <a:t>(2)</a:t>
            </a:r>
            <a:r>
              <a:rPr kumimoji="1" lang="zh-CN" altLang="en-US">
                <a:solidFill>
                  <a:srgbClr val="0000FF"/>
                </a:solidFill>
                <a:latin typeface="宋体" panose="02010600030101010101" pitchFamily="2" charset="-122"/>
                <a:ea typeface="宋体" panose="02010600030101010101" pitchFamily="2" charset="-122"/>
              </a:rPr>
              <a:t>卧式水轮发电机</a:t>
            </a:r>
            <a:endParaRPr kumimoji="1" lang="zh-CN" altLang="en-US" sz="2400" b="0">
              <a:latin typeface="Times New Roman" panose="02020603050405020304" pitchFamily="18" charset="0"/>
              <a:ea typeface="宋体" panose="02010600030101010101" pitchFamily="2" charset="-122"/>
            </a:endParaRPr>
          </a:p>
        </p:txBody>
      </p:sp>
      <p:pic>
        <p:nvPicPr>
          <p:cNvPr id="20488" name="Picture 9">
            <a:extLst>
              <a:ext uri="{FF2B5EF4-FFF2-40B4-BE49-F238E27FC236}">
                <a16:creationId xmlns:a16="http://schemas.microsoft.com/office/drawing/2014/main" id="{FB09CF74-FADC-3707-9B90-AAC8AE78092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54538" y="2624138"/>
            <a:ext cx="39052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23C4A3A-D91B-7B46-81C2-CA45D778D24D}"/>
              </a:ext>
            </a:extLst>
          </p:cNvPr>
          <p:cNvSpPr>
            <a:spLocks noGrp="1"/>
          </p:cNvSpPr>
          <p:nvPr>
            <p:ph type="sldNum" sz="quarter" idx="12"/>
          </p:nvPr>
        </p:nvSpPr>
        <p:spPr/>
        <p:txBody>
          <a:bodyPr/>
          <a:lstStyle/>
          <a:p>
            <a:pPr>
              <a:defRPr/>
            </a:pPr>
            <a:fld id="{35E4FB61-C391-4C0B-A0B9-5F9D28E1EEFF}" type="slidenum">
              <a:rPr lang="en-US" altLang="zh-CN"/>
              <a:pPr>
                <a:defRPr/>
              </a:pPr>
              <a:t>14</a:t>
            </a:fld>
            <a:endParaRPr lang="en-US" altLang="zh-CN"/>
          </a:p>
        </p:txBody>
      </p:sp>
      <p:sp>
        <p:nvSpPr>
          <p:cNvPr id="21507" name="Rectangle 2">
            <a:extLst>
              <a:ext uri="{FF2B5EF4-FFF2-40B4-BE49-F238E27FC236}">
                <a16:creationId xmlns:a16="http://schemas.microsoft.com/office/drawing/2014/main" id="{AA6813C7-315D-C482-7D49-84A1C28B2B3A}"/>
              </a:ext>
            </a:extLst>
          </p:cNvPr>
          <p:cNvSpPr>
            <a:spLocks noGrp="1" noChangeArrowheads="1"/>
          </p:cNvSpPr>
          <p:nvPr>
            <p:ph type="title"/>
          </p:nvPr>
        </p:nvSpPr>
        <p:spPr>
          <a:xfrm>
            <a:off x="685800" y="762000"/>
            <a:ext cx="7772400" cy="685800"/>
          </a:xfrm>
        </p:spPr>
        <p:txBody>
          <a:bodyPr/>
          <a:lstStyle/>
          <a:p>
            <a:pPr eaLnBrk="1" hangingPunct="1"/>
            <a:r>
              <a:rPr lang="zh-CN" altLang="en-US" sz="3600" b="1" dirty="0">
                <a:solidFill>
                  <a:schemeClr val="tx1"/>
                </a:solidFill>
                <a:latin typeface="宋体" panose="02010600030101010101" pitchFamily="2" charset="-122"/>
              </a:rPr>
              <a:t>水轮发电机</a:t>
            </a:r>
            <a:r>
              <a:rPr lang="zh-CN" altLang="en-US" sz="3600" b="1" dirty="0">
                <a:solidFill>
                  <a:schemeClr val="tx1"/>
                </a:solidFill>
                <a:latin typeface="Arial" panose="020B0604020202020204" pitchFamily="34" charset="0"/>
              </a:rPr>
              <a:t>转子结构</a:t>
            </a:r>
          </a:p>
        </p:txBody>
      </p:sp>
      <p:pic>
        <p:nvPicPr>
          <p:cNvPr id="21508" name="Picture 5">
            <a:extLst>
              <a:ext uri="{FF2B5EF4-FFF2-40B4-BE49-F238E27FC236}">
                <a16:creationId xmlns:a16="http://schemas.microsoft.com/office/drawing/2014/main" id="{E0EF2A43-F8D7-7870-8C54-1D57536E0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52563"/>
            <a:ext cx="68405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6">
            <a:extLst>
              <a:ext uri="{FF2B5EF4-FFF2-40B4-BE49-F238E27FC236}">
                <a16:creationId xmlns:a16="http://schemas.microsoft.com/office/drawing/2014/main" id="{3730A96E-DC1B-0AF8-1AB2-055618EC1FE4}"/>
              </a:ext>
            </a:extLst>
          </p:cNvPr>
          <p:cNvSpPr txBox="1">
            <a:spLocks noChangeArrowheads="1"/>
          </p:cNvSpPr>
          <p:nvPr/>
        </p:nvSpPr>
        <p:spPr bwMode="auto">
          <a:xfrm>
            <a:off x="2039938" y="6016625"/>
            <a:ext cx="6265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r>
              <a:rPr kumimoji="1" lang="en-US" altLang="zh-CN">
                <a:solidFill>
                  <a:srgbClr val="990099"/>
                </a:solidFill>
                <a:latin typeface="宋体" panose="02010600030101010101" pitchFamily="2" charset="-122"/>
                <a:ea typeface="宋体" panose="02010600030101010101" pitchFamily="2" charset="-122"/>
              </a:rPr>
              <a:t>10000kW</a:t>
            </a:r>
            <a:r>
              <a:rPr kumimoji="1" lang="zh-CN" altLang="en-US">
                <a:solidFill>
                  <a:srgbClr val="990099"/>
                </a:solidFill>
                <a:latin typeface="宋体" panose="02010600030101010101" pitchFamily="2" charset="-122"/>
                <a:ea typeface="宋体" panose="02010600030101010101" pitchFamily="2" charset="-122"/>
              </a:rPr>
              <a:t>水轮机转子</a:t>
            </a:r>
          </a:p>
        </p:txBody>
      </p:sp>
      <p:sp>
        <p:nvSpPr>
          <p:cNvPr id="21510" name="AutoShape 7">
            <a:extLst>
              <a:ext uri="{FF2B5EF4-FFF2-40B4-BE49-F238E27FC236}">
                <a16:creationId xmlns:a16="http://schemas.microsoft.com/office/drawing/2014/main" id="{C31FE161-0E7B-0719-E57C-CA1573CD89B6}"/>
              </a:ext>
            </a:extLst>
          </p:cNvPr>
          <p:cNvSpPr>
            <a:spLocks noChangeArrowheads="1"/>
          </p:cNvSpPr>
          <p:nvPr/>
        </p:nvSpPr>
        <p:spPr bwMode="auto">
          <a:xfrm>
            <a:off x="304800" y="1219200"/>
            <a:ext cx="990600" cy="914400"/>
          </a:xfrm>
          <a:prstGeom prst="wedgeRoundRectCallout">
            <a:avLst>
              <a:gd name="adj1" fmla="val 180769"/>
              <a:gd name="adj2" fmla="val 97222"/>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凸极结构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9778" name="Rectangle 1026">
            <a:extLst>
              <a:ext uri="{FF2B5EF4-FFF2-40B4-BE49-F238E27FC236}">
                <a16:creationId xmlns:a16="http://schemas.microsoft.com/office/drawing/2014/main" id="{4B2B748F-5043-84B7-F714-21E34B670949}"/>
              </a:ext>
            </a:extLst>
          </p:cNvPr>
          <p:cNvSpPr>
            <a:spLocks noGrp="1" noChangeArrowheads="1"/>
          </p:cNvSpPr>
          <p:nvPr>
            <p:ph type="title"/>
          </p:nvPr>
        </p:nvSpPr>
        <p:spPr>
          <a:xfrm>
            <a:off x="198437" y="746026"/>
            <a:ext cx="8229600" cy="1143000"/>
          </a:xfrm>
        </p:spPr>
        <p:txBody>
          <a:bodyPr/>
          <a:lstStyle/>
          <a:p>
            <a:r>
              <a:rPr lang="zh-CN" altLang="en-US" sz="4800" b="1" i="1" dirty="0">
                <a:ea typeface="楷体_GB2312" pitchFamily="49" charset="-122"/>
              </a:rPr>
              <a:t> 同步电机铭牌参数的额定值</a:t>
            </a:r>
          </a:p>
        </p:txBody>
      </p:sp>
      <p:sp>
        <p:nvSpPr>
          <p:cNvPr id="459779" name="Rectangle 1027">
            <a:extLst>
              <a:ext uri="{FF2B5EF4-FFF2-40B4-BE49-F238E27FC236}">
                <a16:creationId xmlns:a16="http://schemas.microsoft.com/office/drawing/2014/main" id="{E48C7BF2-868D-787E-6A64-FD6059CACB1B}"/>
              </a:ext>
            </a:extLst>
          </p:cNvPr>
          <p:cNvSpPr>
            <a:spLocks noGrp="1" noChangeArrowheads="1"/>
          </p:cNvSpPr>
          <p:nvPr>
            <p:ph type="body" idx="1"/>
          </p:nvPr>
        </p:nvSpPr>
        <p:spPr>
          <a:xfrm>
            <a:off x="715963" y="1931670"/>
            <a:ext cx="7772400" cy="4419600"/>
          </a:xfrm>
        </p:spPr>
        <p:txBody>
          <a:bodyPr/>
          <a:lstStyle/>
          <a:p>
            <a:pPr>
              <a:buFont typeface="Wingdings" panose="05000000000000000000" pitchFamily="2" charset="2"/>
              <a:buNone/>
            </a:pPr>
            <a:r>
              <a:rPr lang="zh-CN" altLang="en-US" b="1" dirty="0"/>
              <a:t>同步电机的额定值有：</a:t>
            </a:r>
          </a:p>
          <a:p>
            <a:pPr>
              <a:buFont typeface="Wingdings" panose="05000000000000000000" pitchFamily="2" charset="2"/>
              <a:buNone/>
            </a:pPr>
            <a:r>
              <a:rPr lang="zh-CN" altLang="en-US" b="1" dirty="0"/>
              <a:t>1）</a:t>
            </a:r>
            <a:r>
              <a:rPr lang="zh-CN" altLang="en-US" b="1" dirty="0">
                <a:solidFill>
                  <a:srgbClr val="FF0000"/>
                </a:solidFill>
              </a:rPr>
              <a:t>额定电压</a:t>
            </a:r>
            <a:r>
              <a:rPr lang="zh-CN" altLang="en-US" b="1" dirty="0"/>
              <a:t>：</a:t>
            </a:r>
            <a:r>
              <a:rPr lang="zh-CN" altLang="en-US" b="1" dirty="0">
                <a:latin typeface="宋体" panose="02010600030101010101" pitchFamily="2" charset="-122"/>
              </a:rPr>
              <a:t>是指在正常运行时，按照制造厂的规定，定子三相绕组上的</a:t>
            </a:r>
            <a:r>
              <a:rPr lang="zh-CN" altLang="en-US" b="1" dirty="0">
                <a:solidFill>
                  <a:srgbClr val="FF9933"/>
                </a:solidFill>
                <a:latin typeface="宋体" panose="02010600030101010101" pitchFamily="2" charset="-122"/>
              </a:rPr>
              <a:t>线电压</a:t>
            </a:r>
            <a:r>
              <a:rPr lang="zh-CN" altLang="en-US" b="1" dirty="0">
                <a:latin typeface="宋体" panose="02010600030101010101" pitchFamily="2" charset="-122"/>
              </a:rPr>
              <a:t>。电压的单位用</a:t>
            </a:r>
            <a:r>
              <a:rPr lang="en-US" altLang="zh-CN" b="1" dirty="0">
                <a:latin typeface="宋体" panose="02010600030101010101" pitchFamily="2" charset="-122"/>
              </a:rPr>
              <a:t>V</a:t>
            </a:r>
            <a:r>
              <a:rPr lang="zh-CN" altLang="en-US" b="1" dirty="0">
                <a:latin typeface="宋体" panose="02010600030101010101" pitchFamily="2" charset="-122"/>
              </a:rPr>
              <a:t>或</a:t>
            </a:r>
            <a:r>
              <a:rPr lang="en-US" altLang="zh-CN" b="1" dirty="0">
                <a:latin typeface="宋体" panose="02010600030101010101" pitchFamily="2" charset="-122"/>
              </a:rPr>
              <a:t>kV</a:t>
            </a:r>
            <a:r>
              <a:rPr lang="zh-CN" altLang="en-US" b="1" dirty="0">
                <a:latin typeface="宋体" panose="02010600030101010101" pitchFamily="2" charset="-122"/>
              </a:rPr>
              <a:t>表示。</a:t>
            </a:r>
          </a:p>
          <a:p>
            <a:pPr>
              <a:buFont typeface="Wingdings" panose="05000000000000000000" pitchFamily="2" charset="2"/>
              <a:buNone/>
            </a:pPr>
            <a:r>
              <a:rPr lang="zh-CN" altLang="en-US" b="1" dirty="0">
                <a:latin typeface="宋体" panose="02010600030101010101" pitchFamily="2" charset="-122"/>
              </a:rPr>
              <a:t>2）</a:t>
            </a:r>
            <a:r>
              <a:rPr lang="zh-CN" altLang="en-US" b="1" dirty="0">
                <a:solidFill>
                  <a:srgbClr val="FF0000"/>
                </a:solidFill>
                <a:latin typeface="宋体" panose="02010600030101010101" pitchFamily="2" charset="-122"/>
              </a:rPr>
              <a:t>额定电流</a:t>
            </a:r>
            <a:r>
              <a:rPr lang="zh-CN" altLang="en-US" b="1" dirty="0">
                <a:latin typeface="宋体" panose="02010600030101010101" pitchFamily="2" charset="-122"/>
              </a:rPr>
              <a:t>：</a:t>
            </a:r>
            <a:r>
              <a:rPr lang="zh-CN" altLang="en-US" b="1" dirty="0">
                <a:latin typeface="宋体" panose="02010600030101010101" pitchFamily="2" charset="-122"/>
                <a:cs typeface="Times New Roman" panose="02020603050405020304" pitchFamily="18" charset="0"/>
              </a:rPr>
              <a:t>流过定子绕组的线电流</a:t>
            </a:r>
            <a:r>
              <a:rPr lang="zh-CN" altLang="en-US" b="1" dirty="0">
                <a:latin typeface="宋体" panose="02010600030101010101" pitchFamily="2" charset="-122"/>
              </a:rPr>
              <a:t> 。</a:t>
            </a:r>
          </a:p>
          <a:p>
            <a:pPr>
              <a:buFont typeface="Wingdings" panose="05000000000000000000" pitchFamily="2" charset="2"/>
              <a:buNone/>
            </a:pPr>
            <a:r>
              <a:rPr lang="zh-CN" altLang="en-US" b="1" dirty="0">
                <a:latin typeface="宋体" panose="02010600030101010101" pitchFamily="2" charset="-122"/>
              </a:rPr>
              <a:t>3）</a:t>
            </a:r>
            <a:r>
              <a:rPr lang="zh-CN" altLang="en-US" b="1" dirty="0">
                <a:solidFill>
                  <a:srgbClr val="FF0000"/>
                </a:solidFill>
                <a:latin typeface="宋体" panose="02010600030101010101" pitchFamily="2" charset="-122"/>
              </a:rPr>
              <a:t>额定功率</a:t>
            </a:r>
            <a:r>
              <a:rPr lang="zh-CN" altLang="en-US" b="1" dirty="0">
                <a:latin typeface="宋体" panose="02010600030101010101" pitchFamily="2" charset="-122"/>
              </a:rPr>
              <a:t>：</a:t>
            </a:r>
            <a:r>
              <a:rPr lang="zh-CN" altLang="en-US" b="1" dirty="0">
                <a:latin typeface="宋体" panose="02010600030101010101" pitchFamily="2" charset="-122"/>
                <a:cs typeface="Times New Roman" panose="02020603050405020304" pitchFamily="18" charset="0"/>
              </a:rPr>
              <a:t>是指在正常运行时，电机的</a:t>
            </a:r>
            <a:r>
              <a:rPr lang="zh-CN" altLang="en-US" b="1" dirty="0">
                <a:solidFill>
                  <a:srgbClr val="FF9933"/>
                </a:solidFill>
                <a:latin typeface="宋体" panose="02010600030101010101" pitchFamily="2" charset="-122"/>
                <a:ea typeface="楷体_GB2312" pitchFamily="49" charset="-122"/>
              </a:rPr>
              <a:t>输出功率</a:t>
            </a:r>
            <a:r>
              <a:rPr lang="zh-CN" altLang="en-US" b="1" dirty="0">
                <a:solidFill>
                  <a:srgbClr val="FF9933"/>
                </a:solidFill>
                <a:latin typeface="宋体" panose="02010600030101010101" pitchFamily="2" charset="-122"/>
              </a:rPr>
              <a:t> 。</a:t>
            </a:r>
            <a:endParaRPr lang="zh-CN" altLang="en-US" b="1" dirty="0">
              <a:solidFill>
                <a:srgbClr val="FF9933"/>
              </a:solidFill>
            </a:endParaRPr>
          </a:p>
          <a:p>
            <a:pPr>
              <a:buFont typeface="Wingdings" panose="05000000000000000000" pitchFamily="2" charset="2"/>
              <a:buNone/>
            </a:pPr>
            <a:endParaRPr lang="zh-CN" altLang="en-US" b="1" dirty="0">
              <a:solidFill>
                <a:srgbClr val="FF99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59778"/>
                                        </p:tgtEl>
                                        <p:attrNameLst>
                                          <p:attrName>style.visibility</p:attrName>
                                        </p:attrNameLst>
                                      </p:cBhvr>
                                      <p:to>
                                        <p:strVal val="visible"/>
                                      </p:to>
                                    </p:set>
                                    <p:anim calcmode="lin" valueType="num">
                                      <p:cBhvr>
                                        <p:cTn id="7" dur="500" fill="hold"/>
                                        <p:tgtEl>
                                          <p:spTgt spid="459778"/>
                                        </p:tgtEl>
                                        <p:attrNameLst>
                                          <p:attrName>ppt_w</p:attrName>
                                        </p:attrNameLst>
                                      </p:cBhvr>
                                      <p:tavLst>
                                        <p:tav tm="0">
                                          <p:val>
                                            <p:fltVal val="0"/>
                                          </p:val>
                                        </p:tav>
                                        <p:tav tm="100000">
                                          <p:val>
                                            <p:strVal val="#ppt_w"/>
                                          </p:val>
                                        </p:tav>
                                      </p:tavLst>
                                    </p:anim>
                                    <p:anim calcmode="lin" valueType="num">
                                      <p:cBhvr>
                                        <p:cTn id="8" dur="500" fill="hold"/>
                                        <p:tgtEl>
                                          <p:spTgt spid="45977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59779">
                                            <p:txEl>
                                              <p:pRg st="0" end="0"/>
                                            </p:txEl>
                                          </p:spTgt>
                                        </p:tgtEl>
                                        <p:attrNameLst>
                                          <p:attrName>style.visibility</p:attrName>
                                        </p:attrNameLst>
                                      </p:cBhvr>
                                      <p:to>
                                        <p:strVal val="visible"/>
                                      </p:to>
                                    </p:set>
                                    <p:animEffect transition="in" filter="blinds(horizontal)">
                                      <p:cBhvr>
                                        <p:cTn id="13" dur="500"/>
                                        <p:tgtEl>
                                          <p:spTgt spid="45977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59779">
                                            <p:txEl>
                                              <p:pRg st="1" end="1"/>
                                            </p:txEl>
                                          </p:spTgt>
                                        </p:tgtEl>
                                        <p:attrNameLst>
                                          <p:attrName>style.visibility</p:attrName>
                                        </p:attrNameLst>
                                      </p:cBhvr>
                                      <p:to>
                                        <p:strVal val="visible"/>
                                      </p:to>
                                    </p:set>
                                    <p:animEffect transition="in" filter="blinds(horizontal)">
                                      <p:cBhvr>
                                        <p:cTn id="18" dur="500"/>
                                        <p:tgtEl>
                                          <p:spTgt spid="45977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59779">
                                            <p:txEl>
                                              <p:pRg st="2" end="2"/>
                                            </p:txEl>
                                          </p:spTgt>
                                        </p:tgtEl>
                                        <p:attrNameLst>
                                          <p:attrName>style.visibility</p:attrName>
                                        </p:attrNameLst>
                                      </p:cBhvr>
                                      <p:to>
                                        <p:strVal val="visible"/>
                                      </p:to>
                                    </p:set>
                                    <p:animEffect transition="in" filter="blinds(horizontal)">
                                      <p:cBhvr>
                                        <p:cTn id="23" dur="500"/>
                                        <p:tgtEl>
                                          <p:spTgt spid="45977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59779">
                                            <p:txEl>
                                              <p:pRg st="3" end="3"/>
                                            </p:txEl>
                                          </p:spTgt>
                                        </p:tgtEl>
                                        <p:attrNameLst>
                                          <p:attrName>style.visibility</p:attrName>
                                        </p:attrNameLst>
                                      </p:cBhvr>
                                      <p:to>
                                        <p:strVal val="visible"/>
                                      </p:to>
                                    </p:set>
                                    <p:animEffect transition="in" filter="blinds(horizontal)">
                                      <p:cBhvr>
                                        <p:cTn id="28" dur="500"/>
                                        <p:tgtEl>
                                          <p:spTgt spid="459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8" grpId="0" autoUpdateAnimBg="0"/>
      <p:bldP spid="45977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3" name="Rectangle 1027">
            <a:extLst>
              <a:ext uri="{FF2B5EF4-FFF2-40B4-BE49-F238E27FC236}">
                <a16:creationId xmlns:a16="http://schemas.microsoft.com/office/drawing/2014/main" id="{7714271D-1884-9E72-8DFE-3763BBD162BC}"/>
              </a:ext>
            </a:extLst>
          </p:cNvPr>
          <p:cNvSpPr>
            <a:spLocks noGrp="1" noChangeArrowheads="1"/>
          </p:cNvSpPr>
          <p:nvPr>
            <p:ph type="body" idx="1"/>
          </p:nvPr>
        </p:nvSpPr>
        <p:spPr>
          <a:xfrm>
            <a:off x="990600" y="823912"/>
            <a:ext cx="7772400" cy="5562600"/>
          </a:xfrm>
        </p:spPr>
        <p:txBody>
          <a:bodyPr/>
          <a:lstStyle/>
          <a:p>
            <a:pPr>
              <a:buFont typeface="Wingdings" panose="05000000000000000000" pitchFamily="2" charset="2"/>
              <a:buNone/>
            </a:pPr>
            <a:r>
              <a:rPr lang="en-US" altLang="zh-CN" sz="2800" b="1" dirty="0"/>
              <a:t>A：</a:t>
            </a:r>
            <a:r>
              <a:rPr lang="zh-CN" altLang="en-US" sz="2800" b="1" dirty="0"/>
              <a:t>对于发电机而言：输出的是电功率。</a:t>
            </a:r>
          </a:p>
          <a:p>
            <a:pPr>
              <a:buFont typeface="Wingdings" panose="05000000000000000000" pitchFamily="2" charset="2"/>
              <a:buNone/>
            </a:pPr>
            <a:endParaRPr lang="zh-CN" altLang="en-US" sz="2800" b="1" dirty="0"/>
          </a:p>
          <a:p>
            <a:pPr>
              <a:buFont typeface="Wingdings" panose="05000000000000000000" pitchFamily="2" charset="2"/>
              <a:buNone/>
            </a:pPr>
            <a:endParaRPr lang="zh-CN" altLang="en-US" sz="2800" b="1" dirty="0"/>
          </a:p>
          <a:p>
            <a:pPr>
              <a:buFont typeface="Wingdings" panose="05000000000000000000" pitchFamily="2" charset="2"/>
              <a:buNone/>
            </a:pPr>
            <a:r>
              <a:rPr lang="en-US" altLang="zh-CN" sz="2800" b="1" dirty="0"/>
              <a:t>B：</a:t>
            </a:r>
            <a:r>
              <a:rPr lang="zh-CN" altLang="en-US" sz="2800" b="1" dirty="0"/>
              <a:t>对于电动机而言：输出的是机械功率。</a:t>
            </a:r>
          </a:p>
          <a:p>
            <a:pPr>
              <a:buFont typeface="Wingdings" panose="05000000000000000000" pitchFamily="2" charset="2"/>
              <a:buNone/>
            </a:pPr>
            <a:endParaRPr lang="zh-CN" altLang="en-US" sz="2800" b="1" dirty="0"/>
          </a:p>
          <a:p>
            <a:pPr>
              <a:buFont typeface="Wingdings" panose="05000000000000000000" pitchFamily="2" charset="2"/>
              <a:buNone/>
            </a:pPr>
            <a:endParaRPr lang="zh-CN" altLang="en-US" sz="2800" b="1" dirty="0"/>
          </a:p>
          <a:p>
            <a:pPr>
              <a:buFont typeface="Wingdings" panose="05000000000000000000" pitchFamily="2" charset="2"/>
              <a:buNone/>
            </a:pPr>
            <a:r>
              <a:rPr lang="zh-CN" altLang="en-US" sz="2800" b="1" dirty="0"/>
              <a:t>单位是</a:t>
            </a:r>
            <a:r>
              <a:rPr lang="en-US" altLang="zh-CN" sz="2800" b="1" dirty="0"/>
              <a:t>KW。</a:t>
            </a:r>
          </a:p>
          <a:p>
            <a:pPr algn="just">
              <a:buFont typeface="Wingdings" panose="05000000000000000000" pitchFamily="2" charset="2"/>
              <a:buNone/>
            </a:pPr>
            <a:r>
              <a:rPr lang="en-US" altLang="zh-CN" b="1" dirty="0">
                <a:latin typeface="宋体" panose="02010600030101010101" pitchFamily="2" charset="-122"/>
              </a:rPr>
              <a:t>4. </a:t>
            </a:r>
            <a:r>
              <a:rPr lang="zh-CN" altLang="en-US" b="1" dirty="0">
                <a:solidFill>
                  <a:srgbClr val="FF0000"/>
                </a:solidFill>
                <a:latin typeface="宋体" panose="02010600030101010101" pitchFamily="2" charset="-122"/>
              </a:rPr>
              <a:t>相数</a:t>
            </a:r>
            <a:r>
              <a:rPr lang="en-US" altLang="zh-CN" b="1" dirty="0">
                <a:solidFill>
                  <a:srgbClr val="FF0000"/>
                </a:solidFill>
                <a:latin typeface="宋体" panose="02010600030101010101" pitchFamily="2" charset="-122"/>
              </a:rPr>
              <a:t>m</a:t>
            </a:r>
            <a:r>
              <a:rPr lang="en-US" altLang="zh-CN" b="1" dirty="0">
                <a:latin typeface="宋体" panose="02010600030101010101" pitchFamily="2" charset="-122"/>
              </a:rPr>
              <a:t>  ：</a:t>
            </a:r>
            <a:r>
              <a:rPr lang="zh-CN" altLang="en-US" b="1" dirty="0">
                <a:latin typeface="宋体" panose="02010600030101010101" pitchFamily="2" charset="-122"/>
              </a:rPr>
              <a:t>一般</a:t>
            </a:r>
            <a:r>
              <a:rPr lang="en-US" altLang="zh-CN" b="1" dirty="0">
                <a:latin typeface="宋体" panose="02010600030101010101" pitchFamily="2" charset="-122"/>
              </a:rPr>
              <a:t>m=3。</a:t>
            </a:r>
            <a:endParaRPr lang="en-US" altLang="zh-CN" b="1" dirty="0"/>
          </a:p>
          <a:p>
            <a:pPr algn="just">
              <a:buFont typeface="Wingdings" panose="05000000000000000000" pitchFamily="2" charset="2"/>
              <a:buNone/>
            </a:pPr>
            <a:r>
              <a:rPr lang="en-US" altLang="zh-CN" b="1" dirty="0">
                <a:latin typeface="宋体" panose="02010600030101010101" pitchFamily="2" charset="-122"/>
              </a:rPr>
              <a:t>5. </a:t>
            </a:r>
            <a:r>
              <a:rPr lang="zh-CN" altLang="en-US" b="1" dirty="0">
                <a:solidFill>
                  <a:srgbClr val="FF0000"/>
                </a:solidFill>
                <a:latin typeface="宋体" panose="02010600030101010101" pitchFamily="2" charset="-122"/>
              </a:rPr>
              <a:t>额定频率</a:t>
            </a:r>
            <a:r>
              <a:rPr lang="en-US" altLang="zh-CN" b="1" dirty="0">
                <a:latin typeface="宋体" panose="02010600030101010101" pitchFamily="2" charset="-122"/>
              </a:rPr>
              <a:t>:</a:t>
            </a:r>
            <a:r>
              <a:rPr lang="zh-CN" altLang="en-US" b="1" dirty="0">
                <a:latin typeface="宋体" panose="02010600030101010101" pitchFamily="2" charset="-122"/>
              </a:rPr>
              <a:t>我国额定工业频率规定</a:t>
            </a:r>
          </a:p>
          <a:p>
            <a:pPr algn="just">
              <a:buFont typeface="Wingdings" panose="05000000000000000000" pitchFamily="2" charset="2"/>
              <a:buNone/>
            </a:pPr>
            <a:r>
              <a:rPr lang="zh-CN" altLang="en-US" b="1" dirty="0">
                <a:latin typeface="宋体" panose="02010600030101010101" pitchFamily="2" charset="-122"/>
              </a:rPr>
              <a:t>    =50</a:t>
            </a:r>
            <a:r>
              <a:rPr lang="en-US" altLang="zh-CN" b="1" dirty="0">
                <a:latin typeface="宋体" panose="02010600030101010101" pitchFamily="2" charset="-122"/>
              </a:rPr>
              <a:t>Hz.</a:t>
            </a:r>
            <a:endParaRPr lang="en-US" altLang="zh-CN" b="1" dirty="0"/>
          </a:p>
          <a:p>
            <a:pPr>
              <a:buFont typeface="Wingdings" panose="05000000000000000000" pitchFamily="2" charset="2"/>
              <a:buNone/>
            </a:pPr>
            <a:endParaRPr lang="en-US" altLang="zh-CN" sz="2800" b="1" dirty="0"/>
          </a:p>
        </p:txBody>
      </p:sp>
      <p:sp>
        <p:nvSpPr>
          <p:cNvPr id="460805" name="Rectangle 1029">
            <a:extLst>
              <a:ext uri="{FF2B5EF4-FFF2-40B4-BE49-F238E27FC236}">
                <a16:creationId xmlns:a16="http://schemas.microsoft.com/office/drawing/2014/main" id="{65A9B7BF-DFF0-D358-CDCC-0EF844F775D9}"/>
              </a:ext>
            </a:extLst>
          </p:cNvPr>
          <p:cNvSpPr>
            <a:spLocks noChangeArrowheads="1"/>
          </p:cNvSpPr>
          <p:nvPr/>
        </p:nvSpPr>
        <p:spPr bwMode="auto">
          <a:xfrm>
            <a:off x="3338513"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460804" name="Object 1028">
            <a:extLst>
              <a:ext uri="{FF2B5EF4-FFF2-40B4-BE49-F238E27FC236}">
                <a16:creationId xmlns:a16="http://schemas.microsoft.com/office/drawing/2014/main" id="{ED14D656-906A-5862-FFD1-5EE18420330B}"/>
              </a:ext>
            </a:extLst>
          </p:cNvPr>
          <p:cNvGraphicFramePr>
            <a:graphicFrameLocks noChangeAspect="1"/>
          </p:cNvGraphicFramePr>
          <p:nvPr>
            <p:extLst>
              <p:ext uri="{D42A27DB-BD31-4B8C-83A1-F6EECF244321}">
                <p14:modId xmlns:p14="http://schemas.microsoft.com/office/powerpoint/2010/main" val="814264674"/>
              </p:ext>
            </p:extLst>
          </p:nvPr>
        </p:nvGraphicFramePr>
        <p:xfrm>
          <a:off x="1143000" y="1231901"/>
          <a:ext cx="7010400" cy="1082675"/>
        </p:xfrm>
        <a:graphic>
          <a:graphicData uri="http://schemas.openxmlformats.org/presentationml/2006/ole">
            <mc:AlternateContent xmlns:mc="http://schemas.openxmlformats.org/markup-compatibility/2006">
              <mc:Choice xmlns:v="urn:schemas-microsoft-com:vml" Requires="v">
                <p:oleObj r:id="rId2" imgW="1675673" imgH="253890" progId="Equation.3">
                  <p:embed/>
                </p:oleObj>
              </mc:Choice>
              <mc:Fallback>
                <p:oleObj r:id="rId2" imgW="1675673" imgH="253890" progId="Equation.3">
                  <p:embed/>
                  <p:pic>
                    <p:nvPicPr>
                      <p:cNvPr id="460804" name="Object 1028">
                        <a:extLst>
                          <a:ext uri="{FF2B5EF4-FFF2-40B4-BE49-F238E27FC236}">
                            <a16:creationId xmlns:a16="http://schemas.microsoft.com/office/drawing/2014/main" id="{ED14D656-906A-5862-FFD1-5EE184203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31901"/>
                        <a:ext cx="7010400" cy="108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7" name="Rectangle 1031">
            <a:extLst>
              <a:ext uri="{FF2B5EF4-FFF2-40B4-BE49-F238E27FC236}">
                <a16:creationId xmlns:a16="http://schemas.microsoft.com/office/drawing/2014/main" id="{9F42B89D-A535-2AAE-8B8B-D29AB98EC7A2}"/>
              </a:ext>
            </a:extLst>
          </p:cNvPr>
          <p:cNvSpPr>
            <a:spLocks noChangeArrowheads="1"/>
          </p:cNvSpPr>
          <p:nvPr/>
        </p:nvSpPr>
        <p:spPr bwMode="auto">
          <a:xfrm>
            <a:off x="3309938"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460806" name="Object 1030">
            <a:extLst>
              <a:ext uri="{FF2B5EF4-FFF2-40B4-BE49-F238E27FC236}">
                <a16:creationId xmlns:a16="http://schemas.microsoft.com/office/drawing/2014/main" id="{CEFD5ED1-469F-7E8D-249B-B9FFDB683F8F}"/>
              </a:ext>
            </a:extLst>
          </p:cNvPr>
          <p:cNvGraphicFramePr>
            <a:graphicFrameLocks noChangeAspect="1"/>
          </p:cNvGraphicFramePr>
          <p:nvPr>
            <p:extLst>
              <p:ext uri="{D42A27DB-BD31-4B8C-83A1-F6EECF244321}">
                <p14:modId xmlns:p14="http://schemas.microsoft.com/office/powerpoint/2010/main" val="1076010149"/>
              </p:ext>
            </p:extLst>
          </p:nvPr>
        </p:nvGraphicFramePr>
        <p:xfrm>
          <a:off x="1143000" y="2814637"/>
          <a:ext cx="7162800" cy="1000125"/>
        </p:xfrm>
        <a:graphic>
          <a:graphicData uri="http://schemas.openxmlformats.org/presentationml/2006/ole">
            <mc:AlternateContent xmlns:mc="http://schemas.openxmlformats.org/markup-compatibility/2006">
              <mc:Choice xmlns:v="urn:schemas-microsoft-com:vml" Requires="v">
                <p:oleObj r:id="rId4" imgW="1854200" imgH="254000" progId="Equation.3">
                  <p:embed/>
                </p:oleObj>
              </mc:Choice>
              <mc:Fallback>
                <p:oleObj r:id="rId4" imgW="1854200" imgH="254000" progId="Equation.3">
                  <p:embed/>
                  <p:pic>
                    <p:nvPicPr>
                      <p:cNvPr id="460806" name="Object 1030">
                        <a:extLst>
                          <a:ext uri="{FF2B5EF4-FFF2-40B4-BE49-F238E27FC236}">
                            <a16:creationId xmlns:a16="http://schemas.microsoft.com/office/drawing/2014/main" id="{CEFD5ED1-469F-7E8D-249B-B9FFDB683F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814637"/>
                        <a:ext cx="7162800"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9" name="Rectangle 1033">
            <a:extLst>
              <a:ext uri="{FF2B5EF4-FFF2-40B4-BE49-F238E27FC236}">
                <a16:creationId xmlns:a16="http://schemas.microsoft.com/office/drawing/2014/main" id="{69ABAB9A-A2AC-F9F3-9799-AC8EEAD8A015}"/>
              </a:ext>
            </a:extLst>
          </p:cNvPr>
          <p:cNvSpPr>
            <a:spLocks noChangeArrowheads="1"/>
          </p:cNvSpPr>
          <p:nvPr/>
        </p:nvSpPr>
        <p:spPr bwMode="auto">
          <a:xfrm>
            <a:off x="447198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460808" name="Object 1032">
            <a:extLst>
              <a:ext uri="{FF2B5EF4-FFF2-40B4-BE49-F238E27FC236}">
                <a16:creationId xmlns:a16="http://schemas.microsoft.com/office/drawing/2014/main" id="{689ABC12-AAB5-07EC-C871-994AC4AF806A}"/>
              </a:ext>
            </a:extLst>
          </p:cNvPr>
          <p:cNvGraphicFramePr>
            <a:graphicFrameLocks noChangeAspect="1"/>
          </p:cNvGraphicFramePr>
          <p:nvPr>
            <p:extLst>
              <p:ext uri="{D42A27DB-BD31-4B8C-83A1-F6EECF244321}">
                <p14:modId xmlns:p14="http://schemas.microsoft.com/office/powerpoint/2010/main" val="3802219207"/>
              </p:ext>
            </p:extLst>
          </p:nvPr>
        </p:nvGraphicFramePr>
        <p:xfrm>
          <a:off x="1259632" y="5517232"/>
          <a:ext cx="533400" cy="609600"/>
        </p:xfrm>
        <a:graphic>
          <a:graphicData uri="http://schemas.openxmlformats.org/presentationml/2006/ole">
            <mc:AlternateContent xmlns:mc="http://schemas.openxmlformats.org/markup-compatibility/2006">
              <mc:Choice xmlns:v="urn:schemas-microsoft-com:vml" Requires="v">
                <p:oleObj r:id="rId6" imgW="203112" imgH="228501" progId="Equation.3">
                  <p:embed/>
                </p:oleObj>
              </mc:Choice>
              <mc:Fallback>
                <p:oleObj r:id="rId6" imgW="203112" imgH="228501" progId="Equation.3">
                  <p:embed/>
                  <p:pic>
                    <p:nvPicPr>
                      <p:cNvPr id="460808" name="Object 1032">
                        <a:extLst>
                          <a:ext uri="{FF2B5EF4-FFF2-40B4-BE49-F238E27FC236}">
                            <a16:creationId xmlns:a16="http://schemas.microsoft.com/office/drawing/2014/main" id="{689ABC12-AAB5-07EC-C871-994AC4AF80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9632" y="5517232"/>
                        <a:ext cx="533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7" name="Rectangle 1027">
            <a:extLst>
              <a:ext uri="{FF2B5EF4-FFF2-40B4-BE49-F238E27FC236}">
                <a16:creationId xmlns:a16="http://schemas.microsoft.com/office/drawing/2014/main" id="{08808AEC-E770-68D9-F2A9-712A8F6D73C7}"/>
              </a:ext>
            </a:extLst>
          </p:cNvPr>
          <p:cNvSpPr>
            <a:spLocks noGrp="1" noChangeArrowheads="1"/>
          </p:cNvSpPr>
          <p:nvPr>
            <p:ph type="body" idx="1"/>
          </p:nvPr>
        </p:nvSpPr>
        <p:spPr>
          <a:xfrm>
            <a:off x="876300" y="1052736"/>
            <a:ext cx="7772400" cy="5638800"/>
          </a:xfrm>
        </p:spPr>
        <p:txBody>
          <a:bodyPr/>
          <a:lstStyle/>
          <a:p>
            <a:r>
              <a:rPr lang="zh-CN" altLang="en-US" b="1" dirty="0"/>
              <a:t>6）</a:t>
            </a:r>
            <a:r>
              <a:rPr lang="zh-CN" altLang="en-US" b="1" dirty="0">
                <a:solidFill>
                  <a:srgbClr val="FF0000"/>
                </a:solidFill>
              </a:rPr>
              <a:t>额定转速</a:t>
            </a:r>
            <a:r>
              <a:rPr lang="zh-CN" altLang="en-US" b="1" dirty="0"/>
              <a:t>：</a:t>
            </a:r>
            <a:r>
              <a:rPr lang="zh-CN" altLang="en-US" b="1" dirty="0">
                <a:latin typeface="宋体" panose="02010600030101010101" pitchFamily="2" charset="-122"/>
              </a:rPr>
              <a:t>额定转速即为电机的同步速，在一定极数及频率时，它的转速是定值。</a:t>
            </a:r>
            <a:endParaRPr lang="zh-CN" altLang="en-US" b="1" dirty="0"/>
          </a:p>
          <a:p>
            <a:endParaRPr lang="zh-CN" altLang="en-US" b="1" dirty="0"/>
          </a:p>
        </p:txBody>
      </p:sp>
      <p:sp>
        <p:nvSpPr>
          <p:cNvPr id="461829" name="Rectangle 1029">
            <a:extLst>
              <a:ext uri="{FF2B5EF4-FFF2-40B4-BE49-F238E27FC236}">
                <a16:creationId xmlns:a16="http://schemas.microsoft.com/office/drawing/2014/main" id="{12B59178-D963-9B3D-373D-D5235B27BD2F}"/>
              </a:ext>
            </a:extLst>
          </p:cNvPr>
          <p:cNvSpPr>
            <a:spLocks noChangeArrowheads="1"/>
          </p:cNvSpPr>
          <p:nvPr/>
        </p:nvSpPr>
        <p:spPr bwMode="auto">
          <a:xfrm>
            <a:off x="4076700" y="3148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461828" name="Object 1028">
            <a:extLst>
              <a:ext uri="{FF2B5EF4-FFF2-40B4-BE49-F238E27FC236}">
                <a16:creationId xmlns:a16="http://schemas.microsoft.com/office/drawing/2014/main" id="{FA14DB53-AD59-FB84-66E9-E9200D43013A}"/>
              </a:ext>
            </a:extLst>
          </p:cNvPr>
          <p:cNvGraphicFramePr>
            <a:graphicFrameLocks noChangeAspect="1"/>
          </p:cNvGraphicFramePr>
          <p:nvPr>
            <p:extLst>
              <p:ext uri="{D42A27DB-BD31-4B8C-83A1-F6EECF244321}">
                <p14:modId xmlns:p14="http://schemas.microsoft.com/office/powerpoint/2010/main" val="3350131134"/>
              </p:ext>
            </p:extLst>
          </p:nvPr>
        </p:nvGraphicFramePr>
        <p:xfrm>
          <a:off x="2590800" y="2420888"/>
          <a:ext cx="2971800" cy="1685925"/>
        </p:xfrm>
        <a:graphic>
          <a:graphicData uri="http://schemas.openxmlformats.org/presentationml/2006/ole">
            <mc:AlternateContent xmlns:mc="http://schemas.openxmlformats.org/markup-compatibility/2006">
              <mc:Choice xmlns:v="urn:schemas-microsoft-com:vml" Requires="v">
                <p:oleObj r:id="rId2" imgW="748975" imgH="431613" progId="Equation.3">
                  <p:embed/>
                </p:oleObj>
              </mc:Choice>
              <mc:Fallback>
                <p:oleObj r:id="rId2" imgW="748975" imgH="431613" progId="Equation.3">
                  <p:embed/>
                  <p:pic>
                    <p:nvPicPr>
                      <p:cNvPr id="461828" name="Object 1028">
                        <a:extLst>
                          <a:ext uri="{FF2B5EF4-FFF2-40B4-BE49-F238E27FC236}">
                            <a16:creationId xmlns:a16="http://schemas.microsoft.com/office/drawing/2014/main" id="{FA14DB53-AD59-FB84-66E9-E9200D430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420888"/>
                        <a:ext cx="2971800" cy="168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399AAAA-B674-54BD-871E-D56E95C3B8C8}"/>
              </a:ext>
            </a:extLst>
          </p:cNvPr>
          <p:cNvSpPr>
            <a:spLocks noGrp="1"/>
          </p:cNvSpPr>
          <p:nvPr>
            <p:ph type="sldNum" sz="quarter" idx="12"/>
          </p:nvPr>
        </p:nvSpPr>
        <p:spPr/>
        <p:txBody>
          <a:bodyPr/>
          <a:lstStyle/>
          <a:p>
            <a:pPr>
              <a:defRPr/>
            </a:pPr>
            <a:fld id="{0865B79F-BDAC-4D73-A683-1FD20DBF57B7}" type="slidenum">
              <a:rPr lang="en-US" altLang="zh-CN"/>
              <a:pPr>
                <a:defRPr/>
              </a:pPr>
              <a:t>18</a:t>
            </a:fld>
            <a:endParaRPr lang="en-US" altLang="zh-CN"/>
          </a:p>
        </p:txBody>
      </p:sp>
      <p:sp>
        <p:nvSpPr>
          <p:cNvPr id="4099" name="Rectangle 1026">
            <a:extLst>
              <a:ext uri="{FF2B5EF4-FFF2-40B4-BE49-F238E27FC236}">
                <a16:creationId xmlns:a16="http://schemas.microsoft.com/office/drawing/2014/main" id="{B8E93735-DC00-97F6-F75E-AFDA18DC4001}"/>
              </a:ext>
            </a:extLst>
          </p:cNvPr>
          <p:cNvSpPr>
            <a:spLocks noGrp="1" noChangeArrowheads="1"/>
          </p:cNvSpPr>
          <p:nvPr>
            <p:ph type="title"/>
          </p:nvPr>
        </p:nvSpPr>
        <p:spPr>
          <a:xfrm>
            <a:off x="611560" y="980728"/>
            <a:ext cx="7772400" cy="838200"/>
          </a:xfrm>
        </p:spPr>
        <p:txBody>
          <a:bodyPr/>
          <a:lstStyle/>
          <a:p>
            <a:pPr eaLnBrk="1" hangingPunct="1"/>
            <a:r>
              <a:rPr kumimoji="0" lang="zh-CN" altLang="en-US" sz="3600" b="1" dirty="0">
                <a:solidFill>
                  <a:schemeClr val="tx1"/>
                </a:solidFill>
                <a:latin typeface="楷体_GB2312" pitchFamily="49" charset="-122"/>
                <a:ea typeface="楷体_GB2312" pitchFamily="49" charset="-122"/>
              </a:rPr>
              <a:t>二、同步发电机基本工作原理</a:t>
            </a:r>
          </a:p>
        </p:txBody>
      </p:sp>
      <p:sp>
        <p:nvSpPr>
          <p:cNvPr id="4100" name="Rectangle 1029">
            <a:extLst>
              <a:ext uri="{FF2B5EF4-FFF2-40B4-BE49-F238E27FC236}">
                <a16:creationId xmlns:a16="http://schemas.microsoft.com/office/drawing/2014/main" id="{0891A2CB-367D-4859-E5AB-F5FC1BEBDDFD}"/>
              </a:ext>
            </a:extLst>
          </p:cNvPr>
          <p:cNvSpPr>
            <a:spLocks noChangeArrowheads="1"/>
          </p:cNvSpPr>
          <p:nvPr/>
        </p:nvSpPr>
        <p:spPr bwMode="auto">
          <a:xfrm>
            <a:off x="107504" y="1772816"/>
            <a:ext cx="2735982"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en-US" altLang="zh-CN" sz="2800" b="0" dirty="0">
                <a:ea typeface="华文中宋" panose="02010600040101010101" pitchFamily="2" charset="-122"/>
              </a:rPr>
              <a:t>            </a:t>
            </a:r>
            <a:r>
              <a:rPr lang="zh-CN" altLang="en-US" sz="2800" b="0" dirty="0">
                <a:ea typeface="华文中宋" panose="02010600040101010101" pitchFamily="2" charset="-122"/>
              </a:rPr>
              <a:t>同步发电机的转子绕组加直流励磁，产生相对于定转子</a:t>
            </a:r>
            <a:r>
              <a:rPr lang="zh-CN" altLang="en-US" sz="2800" b="0" dirty="0">
                <a:solidFill>
                  <a:srgbClr val="FF0000"/>
                </a:solidFill>
                <a:ea typeface="华文中宋" panose="02010600040101010101" pitchFamily="2" charset="-122"/>
              </a:rPr>
              <a:t>静止的磁场</a:t>
            </a:r>
            <a:r>
              <a:rPr lang="zh-CN" altLang="en-US" sz="2800" b="0" dirty="0">
                <a:ea typeface="华文中宋" panose="02010600040101010101" pitchFamily="2" charset="-122"/>
              </a:rPr>
              <a:t>。当转子由原动机驱动时，产生相对定子绕组的</a:t>
            </a:r>
            <a:r>
              <a:rPr lang="zh-CN" altLang="en-US" sz="2800" b="0" dirty="0">
                <a:solidFill>
                  <a:srgbClr val="FF0000"/>
                </a:solidFill>
                <a:ea typeface="华文中宋" panose="02010600040101010101" pitchFamily="2" charset="-122"/>
              </a:rPr>
              <a:t>旋转磁场</a:t>
            </a:r>
            <a:r>
              <a:rPr lang="zh-CN" altLang="en-US" sz="2800" b="0" dirty="0">
                <a:ea typeface="华文中宋" panose="02010600040101010101" pitchFamily="2" charset="-122"/>
              </a:rPr>
              <a:t>，在定子的三相绕组中产生三相感应电压。</a:t>
            </a:r>
          </a:p>
        </p:txBody>
      </p:sp>
      <p:pic>
        <p:nvPicPr>
          <p:cNvPr id="4101" name="Picture 1030">
            <a:extLst>
              <a:ext uri="{FF2B5EF4-FFF2-40B4-BE49-F238E27FC236}">
                <a16:creationId xmlns:a16="http://schemas.microsoft.com/office/drawing/2014/main" id="{A7DAEDD2-EEAD-85D0-5420-FA6F6B053D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2132012"/>
            <a:ext cx="5334000"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B4F3F2E-F9BB-D262-6877-256D24488FB8}"/>
              </a:ext>
            </a:extLst>
          </p:cNvPr>
          <p:cNvSpPr>
            <a:spLocks noGrp="1"/>
          </p:cNvSpPr>
          <p:nvPr>
            <p:ph type="sldNum" sz="quarter" idx="12"/>
          </p:nvPr>
        </p:nvSpPr>
        <p:spPr/>
        <p:txBody>
          <a:bodyPr/>
          <a:lstStyle/>
          <a:p>
            <a:pPr>
              <a:defRPr/>
            </a:pPr>
            <a:fld id="{B6AFF065-4E04-42DA-BCC9-74829419FBAF}" type="slidenum">
              <a:rPr lang="en-US" altLang="zh-CN"/>
              <a:pPr>
                <a:defRPr/>
              </a:pPr>
              <a:t>19</a:t>
            </a:fld>
            <a:endParaRPr lang="en-US" altLang="zh-CN"/>
          </a:p>
        </p:txBody>
      </p:sp>
      <p:sp>
        <p:nvSpPr>
          <p:cNvPr id="5123" name="Rectangle 1026">
            <a:extLst>
              <a:ext uri="{FF2B5EF4-FFF2-40B4-BE49-F238E27FC236}">
                <a16:creationId xmlns:a16="http://schemas.microsoft.com/office/drawing/2014/main" id="{0ABAE00F-9161-A41A-383D-C1F99E9A1D3B}"/>
              </a:ext>
            </a:extLst>
          </p:cNvPr>
          <p:cNvSpPr>
            <a:spLocks noGrp="1" noChangeArrowheads="1"/>
          </p:cNvSpPr>
          <p:nvPr>
            <p:ph type="title"/>
          </p:nvPr>
        </p:nvSpPr>
        <p:spPr>
          <a:xfrm>
            <a:off x="685800" y="752475"/>
            <a:ext cx="7772400" cy="762000"/>
          </a:xfrm>
        </p:spPr>
        <p:txBody>
          <a:bodyPr/>
          <a:lstStyle/>
          <a:p>
            <a:pPr eaLnBrk="1" hangingPunct="1"/>
            <a:r>
              <a:rPr lang="zh-CN" altLang="en-US" sz="3600" dirty="0"/>
              <a:t>三、</a:t>
            </a:r>
            <a:r>
              <a:rPr lang="zh-CN" altLang="en-US" sz="3600" b="1" dirty="0"/>
              <a:t>旋转速度与输出电压频率</a:t>
            </a:r>
          </a:p>
        </p:txBody>
      </p:sp>
      <p:sp>
        <p:nvSpPr>
          <p:cNvPr id="5124" name="Rectangle 1030">
            <a:extLst>
              <a:ext uri="{FF2B5EF4-FFF2-40B4-BE49-F238E27FC236}">
                <a16:creationId xmlns:a16="http://schemas.microsoft.com/office/drawing/2014/main" id="{5CD5CB2D-8FB6-F240-A09B-A6B7D2B26FDD}"/>
              </a:ext>
            </a:extLst>
          </p:cNvPr>
          <p:cNvSpPr>
            <a:spLocks noGrp="1" noChangeArrowheads="1"/>
          </p:cNvSpPr>
          <p:nvPr>
            <p:ph type="body" idx="1"/>
          </p:nvPr>
        </p:nvSpPr>
        <p:spPr>
          <a:xfrm>
            <a:off x="249238" y="1525587"/>
            <a:ext cx="8064500" cy="1120775"/>
          </a:xfrm>
          <a:noFill/>
        </p:spPr>
        <p:txBody>
          <a:bodyPr/>
          <a:lstStyle/>
          <a:p>
            <a:pPr eaLnBrk="1" hangingPunct="1">
              <a:buFont typeface="Wingdings" panose="05000000000000000000" pitchFamily="2" charset="2"/>
              <a:buNone/>
            </a:pPr>
            <a:r>
              <a:rPr lang="en-US" altLang="zh-CN" sz="2800" dirty="0">
                <a:latin typeface="华文中宋" panose="02010600040101010101" pitchFamily="2" charset="-122"/>
                <a:ea typeface="华文中宋" panose="02010600040101010101" pitchFamily="2" charset="-122"/>
              </a:rPr>
              <a:t>        </a:t>
            </a:r>
            <a:r>
              <a:rPr lang="zh-CN" altLang="en-US" sz="2800" dirty="0">
                <a:solidFill>
                  <a:schemeClr val="accent2"/>
                </a:solidFill>
                <a:latin typeface="华文中宋" panose="02010600040101010101" pitchFamily="2" charset="-122"/>
                <a:ea typeface="华文中宋" panose="02010600040101010101" pitchFamily="2" charset="-122"/>
              </a:rPr>
              <a:t>同步电机的电频率与它的机械旋转速度</a:t>
            </a:r>
            <a:r>
              <a:rPr lang="zh-CN" altLang="en-US" sz="2800" dirty="0">
                <a:solidFill>
                  <a:srgbClr val="FF0000"/>
                </a:solidFill>
                <a:latin typeface="华文中宋" panose="02010600040101010101" pitchFamily="2" charset="-122"/>
                <a:ea typeface="华文中宋" panose="02010600040101010101" pitchFamily="2" charset="-122"/>
              </a:rPr>
              <a:t>严格保持</a:t>
            </a:r>
            <a:r>
              <a:rPr lang="zh-CN" altLang="en-US" sz="2800" dirty="0">
                <a:solidFill>
                  <a:schemeClr val="accent2"/>
                </a:solidFill>
                <a:latin typeface="华文中宋" panose="02010600040101010101" pitchFamily="2" charset="-122"/>
                <a:ea typeface="华文中宋" panose="02010600040101010101" pitchFamily="2" charset="-122"/>
              </a:rPr>
              <a:t>同步</a:t>
            </a:r>
            <a:r>
              <a:rPr lang="en-US" altLang="zh-CN" sz="2800" dirty="0">
                <a:solidFill>
                  <a:schemeClr val="accent2"/>
                </a:solidFill>
                <a:latin typeface="华文中宋" panose="02010600040101010101" pitchFamily="2" charset="-122"/>
                <a:ea typeface="华文中宋" panose="02010600040101010101" pitchFamily="2" charset="-122"/>
              </a:rPr>
              <a:t>/</a:t>
            </a:r>
            <a:r>
              <a:rPr lang="zh-CN" altLang="en-US" sz="2800" dirty="0">
                <a:solidFill>
                  <a:schemeClr val="accent2"/>
                </a:solidFill>
                <a:latin typeface="华文中宋" panose="02010600040101010101" pitchFamily="2" charset="-122"/>
                <a:ea typeface="华文中宋" panose="02010600040101010101" pitchFamily="2" charset="-122"/>
              </a:rPr>
              <a:t>锁定</a:t>
            </a:r>
            <a:r>
              <a:rPr lang="zh-CN" altLang="en-US" sz="2800" dirty="0">
                <a:latin typeface="华文中宋" panose="02010600040101010101" pitchFamily="2" charset="-122"/>
                <a:ea typeface="华文中宋" panose="02010600040101010101" pitchFamily="2" charset="-122"/>
              </a:rPr>
              <a:t>。</a:t>
            </a:r>
            <a:r>
              <a:rPr lang="zh-CN" altLang="en-US" dirty="0"/>
              <a:t> </a:t>
            </a:r>
          </a:p>
        </p:txBody>
      </p:sp>
      <p:sp>
        <p:nvSpPr>
          <p:cNvPr id="5125" name="Rectangle 1031">
            <a:extLst>
              <a:ext uri="{FF2B5EF4-FFF2-40B4-BE49-F238E27FC236}">
                <a16:creationId xmlns:a16="http://schemas.microsoft.com/office/drawing/2014/main" id="{4850E19C-07AE-B0A8-9703-170EC73230F2}"/>
              </a:ext>
            </a:extLst>
          </p:cNvPr>
          <p:cNvSpPr>
            <a:spLocks noChangeArrowheads="1"/>
          </p:cNvSpPr>
          <p:nvPr/>
        </p:nvSpPr>
        <p:spPr bwMode="auto">
          <a:xfrm>
            <a:off x="428148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5126" name="Object 1032">
            <a:extLst>
              <a:ext uri="{FF2B5EF4-FFF2-40B4-BE49-F238E27FC236}">
                <a16:creationId xmlns:a16="http://schemas.microsoft.com/office/drawing/2014/main" id="{1D2BAD35-600B-5F03-DB41-D91AC3D2B78A}"/>
              </a:ext>
            </a:extLst>
          </p:cNvPr>
          <p:cNvGraphicFramePr>
            <a:graphicFrameLocks noChangeAspect="1"/>
          </p:cNvGraphicFramePr>
          <p:nvPr/>
        </p:nvGraphicFramePr>
        <p:xfrm>
          <a:off x="3048000" y="2286000"/>
          <a:ext cx="1752600" cy="1177925"/>
        </p:xfrm>
        <a:graphic>
          <a:graphicData uri="http://schemas.openxmlformats.org/presentationml/2006/ole">
            <mc:AlternateContent xmlns:mc="http://schemas.openxmlformats.org/markup-compatibility/2006">
              <mc:Choice xmlns:v="urn:schemas-microsoft-com:vml" Requires="v">
                <p:oleObj r:id="rId2" imgW="583947" imgH="393529" progId="Equation.DSMT4">
                  <p:embed/>
                </p:oleObj>
              </mc:Choice>
              <mc:Fallback>
                <p:oleObj r:id="rId2" imgW="583947" imgH="393529" progId="Equation.DSMT4">
                  <p:embed/>
                  <p:pic>
                    <p:nvPicPr>
                      <p:cNvPr id="5126" name="Object 1032">
                        <a:extLst>
                          <a:ext uri="{FF2B5EF4-FFF2-40B4-BE49-F238E27FC236}">
                            <a16:creationId xmlns:a16="http://schemas.microsoft.com/office/drawing/2014/main" id="{1D2BAD35-600B-5F03-DB41-D91AC3D2B7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86000"/>
                        <a:ext cx="175260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7" name="Text Box 1033">
            <a:extLst>
              <a:ext uri="{FF2B5EF4-FFF2-40B4-BE49-F238E27FC236}">
                <a16:creationId xmlns:a16="http://schemas.microsoft.com/office/drawing/2014/main" id="{5921D748-2434-FAB9-B2FD-8FAF38CDF484}"/>
              </a:ext>
            </a:extLst>
          </p:cNvPr>
          <p:cNvSpPr txBox="1">
            <a:spLocks noChangeArrowheads="1"/>
          </p:cNvSpPr>
          <p:nvPr/>
        </p:nvSpPr>
        <p:spPr bwMode="auto">
          <a:xfrm>
            <a:off x="250825" y="3663950"/>
            <a:ext cx="8497888" cy="269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0"/>
              </a:spcBef>
            </a:pPr>
            <a:r>
              <a:rPr kumimoji="1" lang="en-US" altLang="zh-CN" b="0" dirty="0">
                <a:latin typeface="华文中宋" panose="02010600040101010101" pitchFamily="2" charset="-122"/>
                <a:ea typeface="华文中宋" panose="02010600040101010101" pitchFamily="2" charset="-122"/>
              </a:rPr>
              <a:t>        </a:t>
            </a:r>
            <a:r>
              <a:rPr kumimoji="1" lang="zh-CN" altLang="en-US" b="0" dirty="0">
                <a:latin typeface="华文中宋" panose="02010600040101010101" pitchFamily="2" charset="-122"/>
                <a:ea typeface="华文中宋" panose="02010600040101010101" pitchFamily="2" charset="-122"/>
              </a:rPr>
              <a:t>由于电网电源频率为</a:t>
            </a:r>
            <a:r>
              <a:rPr kumimoji="1" lang="en-US" altLang="zh-CN" b="0" dirty="0">
                <a:latin typeface="华文中宋" panose="02010600040101010101" pitchFamily="2" charset="-122"/>
                <a:ea typeface="华文中宋" panose="02010600040101010101" pitchFamily="2" charset="-122"/>
              </a:rPr>
              <a:t>50Hz/60Hz</a:t>
            </a:r>
            <a:r>
              <a:rPr kumimoji="1" lang="zh-CN" altLang="en-US" b="0" dirty="0">
                <a:latin typeface="华文中宋" panose="02010600040101010101" pitchFamily="2" charset="-122"/>
                <a:ea typeface="华文中宋" panose="02010600040101010101" pitchFamily="2" charset="-122"/>
              </a:rPr>
              <a:t>，发电机的</a:t>
            </a:r>
            <a:r>
              <a:rPr kumimoji="1" lang="zh-CN" altLang="en-US" b="0" dirty="0">
                <a:solidFill>
                  <a:schemeClr val="accent2"/>
                </a:solidFill>
                <a:latin typeface="华文中宋" panose="02010600040101010101" pitchFamily="2" charset="-122"/>
                <a:ea typeface="华文中宋" panose="02010600040101010101" pitchFamily="2" charset="-122"/>
              </a:rPr>
              <a:t>转速必须</a:t>
            </a:r>
            <a:r>
              <a:rPr kumimoji="1" lang="zh-CN" altLang="en-US" dirty="0">
                <a:solidFill>
                  <a:schemeClr val="accent2"/>
                </a:solidFill>
                <a:latin typeface="华文中宋" panose="02010600040101010101" pitchFamily="2" charset="-122"/>
                <a:ea typeface="华文中宋" panose="02010600040101010101" pitchFamily="2" charset="-122"/>
              </a:rPr>
              <a:t>保持恒定</a:t>
            </a:r>
            <a:r>
              <a:rPr kumimoji="1" lang="zh-CN" altLang="en-US" b="0" dirty="0">
                <a:latin typeface="华文中宋" panose="02010600040101010101" pitchFamily="2" charset="-122"/>
                <a:ea typeface="华文中宋" panose="02010600040101010101" pitchFamily="2" charset="-122"/>
              </a:rPr>
              <a:t>。例如</a:t>
            </a:r>
            <a:r>
              <a:rPr kumimoji="1" lang="en-US" altLang="zh-CN" b="0" dirty="0">
                <a:latin typeface="华文中宋" panose="02010600040101010101" pitchFamily="2" charset="-122"/>
                <a:ea typeface="华文中宋" panose="02010600040101010101" pitchFamily="2" charset="-122"/>
              </a:rPr>
              <a:t>50Hz</a:t>
            </a:r>
            <a:r>
              <a:rPr kumimoji="1" lang="zh-CN" altLang="en-US" b="0" dirty="0">
                <a:latin typeface="华文中宋" panose="02010600040101010101" pitchFamily="2" charset="-122"/>
                <a:ea typeface="华文中宋" panose="02010600040101010101" pitchFamily="2" charset="-122"/>
              </a:rPr>
              <a:t>时，</a:t>
            </a:r>
            <a:r>
              <a:rPr kumimoji="1" lang="en-US" altLang="zh-CN" b="0" dirty="0">
                <a:latin typeface="华文中宋" panose="02010600040101010101" pitchFamily="2" charset="-122"/>
                <a:ea typeface="华文中宋" panose="02010600040101010101" pitchFamily="2" charset="-122"/>
              </a:rPr>
              <a:t>1</a:t>
            </a:r>
            <a:r>
              <a:rPr kumimoji="1" lang="zh-CN" altLang="en-US" b="0" dirty="0">
                <a:latin typeface="华文中宋" panose="02010600040101010101" pitchFamily="2" charset="-122"/>
                <a:ea typeface="华文中宋" panose="02010600040101010101" pitchFamily="2" charset="-122"/>
              </a:rPr>
              <a:t>对极电机的转速为</a:t>
            </a:r>
            <a:r>
              <a:rPr kumimoji="1" lang="en-US" altLang="zh-CN" b="0" dirty="0">
                <a:latin typeface="华文中宋" panose="02010600040101010101" pitchFamily="2" charset="-122"/>
                <a:ea typeface="华文中宋" panose="02010600040101010101" pitchFamily="2" charset="-122"/>
              </a:rPr>
              <a:t>3000r/min</a:t>
            </a:r>
            <a:r>
              <a:rPr kumimoji="1" lang="zh-CN" altLang="en-US" b="0" dirty="0">
                <a:latin typeface="华文中宋" panose="02010600040101010101" pitchFamily="2" charset="-122"/>
                <a:ea typeface="华文中宋" panose="02010600040101010101" pitchFamily="2" charset="-122"/>
              </a:rPr>
              <a:t>，</a:t>
            </a:r>
            <a:r>
              <a:rPr kumimoji="1" lang="en-US" altLang="zh-CN" b="0" dirty="0">
                <a:latin typeface="华文中宋" panose="02010600040101010101" pitchFamily="2" charset="-122"/>
                <a:ea typeface="华文中宋" panose="02010600040101010101" pitchFamily="2" charset="-122"/>
              </a:rPr>
              <a:t>2</a:t>
            </a:r>
            <a:r>
              <a:rPr kumimoji="1" lang="zh-CN" altLang="en-US" b="0" dirty="0">
                <a:latin typeface="华文中宋" panose="02010600040101010101" pitchFamily="2" charset="-122"/>
                <a:ea typeface="华文中宋" panose="02010600040101010101" pitchFamily="2" charset="-122"/>
              </a:rPr>
              <a:t>对极为</a:t>
            </a:r>
            <a:r>
              <a:rPr kumimoji="1" lang="en-US" altLang="zh-CN" b="0" dirty="0">
                <a:latin typeface="华文中宋" panose="02010600040101010101" pitchFamily="2" charset="-122"/>
                <a:ea typeface="华文中宋" panose="02010600040101010101" pitchFamily="2" charset="-122"/>
              </a:rPr>
              <a:t>1500r/min……</a:t>
            </a:r>
            <a:r>
              <a:rPr kumimoji="1" lang="zh-CN" altLang="en-US" b="0" dirty="0">
                <a:latin typeface="华文中宋" panose="02010600040101010101" pitchFamily="2" charset="-122"/>
                <a:ea typeface="华文中宋" panose="02010600040101010101" pitchFamily="2" charset="-122"/>
              </a:rPr>
              <a:t>。也即需要控制它的原动机汽轮机、水轮机的转速保持恒定。</a:t>
            </a:r>
          </a:p>
          <a:p>
            <a:pPr eaLnBrk="1" hangingPunct="1"/>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D7143F79-29C8-1D7D-A420-6400238535A0}"/>
              </a:ext>
            </a:extLst>
          </p:cNvPr>
          <p:cNvSpPr>
            <a:spLocks noGrp="1"/>
          </p:cNvSpPr>
          <p:nvPr>
            <p:ph type="sldNum" sz="quarter" idx="12"/>
          </p:nvPr>
        </p:nvSpPr>
        <p:spPr/>
        <p:txBody>
          <a:bodyPr/>
          <a:lstStyle/>
          <a:p>
            <a:pPr>
              <a:defRPr/>
            </a:pPr>
            <a:fld id="{A74B060E-08F9-429B-8D39-97C1F16F6172}" type="slidenum">
              <a:rPr lang="en-US" altLang="zh-CN"/>
              <a:pPr>
                <a:defRPr/>
              </a:pPr>
              <a:t>20</a:t>
            </a:fld>
            <a:endParaRPr lang="en-US" altLang="zh-CN"/>
          </a:p>
        </p:txBody>
      </p:sp>
      <p:sp>
        <p:nvSpPr>
          <p:cNvPr id="6147" name="Rectangle 2050">
            <a:extLst>
              <a:ext uri="{FF2B5EF4-FFF2-40B4-BE49-F238E27FC236}">
                <a16:creationId xmlns:a16="http://schemas.microsoft.com/office/drawing/2014/main" id="{936DA528-225A-0D7F-835F-F57E49858379}"/>
              </a:ext>
            </a:extLst>
          </p:cNvPr>
          <p:cNvSpPr>
            <a:spLocks noGrp="1" noChangeArrowheads="1"/>
          </p:cNvSpPr>
          <p:nvPr>
            <p:ph type="title"/>
          </p:nvPr>
        </p:nvSpPr>
        <p:spPr>
          <a:xfrm>
            <a:off x="228600" y="845344"/>
            <a:ext cx="5791200" cy="457200"/>
          </a:xfrm>
        </p:spPr>
        <p:txBody>
          <a:bodyPr/>
          <a:lstStyle/>
          <a:p>
            <a:pPr eaLnBrk="1" hangingPunct="1"/>
            <a:r>
              <a:rPr lang="en-US" altLang="zh-CN" sz="3600" dirty="0">
                <a:latin typeface="华文中宋" panose="02010600040101010101" pitchFamily="2" charset="-122"/>
                <a:ea typeface="华文中宋" panose="02010600040101010101" pitchFamily="2" charset="-122"/>
              </a:rPr>
              <a:t>7.2 </a:t>
            </a:r>
            <a:r>
              <a:rPr lang="zh-CN" altLang="en-US" sz="3600" dirty="0">
                <a:latin typeface="华文中宋" panose="02010600040101010101" pitchFamily="2" charset="-122"/>
                <a:ea typeface="华文中宋" panose="02010600040101010101" pitchFamily="2" charset="-122"/>
              </a:rPr>
              <a:t>同步发电机的感生电势</a:t>
            </a:r>
          </a:p>
        </p:txBody>
      </p:sp>
      <p:pic>
        <p:nvPicPr>
          <p:cNvPr id="6148" name="Picture 2052">
            <a:extLst>
              <a:ext uri="{FF2B5EF4-FFF2-40B4-BE49-F238E27FC236}">
                <a16:creationId xmlns:a16="http://schemas.microsoft.com/office/drawing/2014/main" id="{25188875-4FAC-572D-F426-4706412F91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060575"/>
            <a:ext cx="5334000"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709" name="AutoShape 2053">
            <a:extLst>
              <a:ext uri="{FF2B5EF4-FFF2-40B4-BE49-F238E27FC236}">
                <a16:creationId xmlns:a16="http://schemas.microsoft.com/office/drawing/2014/main" id="{3456706E-811E-CF30-40B4-1E414BEB435E}"/>
              </a:ext>
            </a:extLst>
          </p:cNvPr>
          <p:cNvSpPr>
            <a:spLocks noChangeArrowheads="1"/>
          </p:cNvSpPr>
          <p:nvPr/>
        </p:nvSpPr>
        <p:spPr bwMode="auto">
          <a:xfrm>
            <a:off x="5715000" y="3429000"/>
            <a:ext cx="3033713" cy="3240088"/>
          </a:xfrm>
          <a:prstGeom prst="wedgeRoundRectCallout">
            <a:avLst>
              <a:gd name="adj1" fmla="val -149583"/>
              <a:gd name="adj2" fmla="val -39565"/>
              <a:gd name="adj3" fmla="val 16667"/>
            </a:avLst>
          </a:prstGeom>
          <a:solidFill>
            <a:srgbClr val="00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kumimoji="1" lang="zh-CN" altLang="en-US" b="0">
                <a:latin typeface="Times New Roman" panose="02020603050405020304" pitchFamily="18" charset="0"/>
                <a:ea typeface="华文中宋" panose="02010600040101010101" pitchFamily="2" charset="-122"/>
              </a:rPr>
              <a:t>同步机稳定运行时励磁绕组与气隙磁场无相对运动在励磁绕组中不会感生电动势。转子铁芯中也没有磁滞涡流损耗产生。</a:t>
            </a:r>
          </a:p>
        </p:txBody>
      </p:sp>
      <p:sp>
        <p:nvSpPr>
          <p:cNvPr id="6150" name="Rectangle 2055">
            <a:extLst>
              <a:ext uri="{FF2B5EF4-FFF2-40B4-BE49-F238E27FC236}">
                <a16:creationId xmlns:a16="http://schemas.microsoft.com/office/drawing/2014/main" id="{ABFAAAB0-570A-F3E6-7938-E1F3737DD9F3}"/>
              </a:ext>
            </a:extLst>
          </p:cNvPr>
          <p:cNvSpPr>
            <a:spLocks noGrp="1" noChangeArrowheads="1"/>
          </p:cNvSpPr>
          <p:nvPr>
            <p:ph type="body" idx="1"/>
          </p:nvPr>
        </p:nvSpPr>
        <p:spPr>
          <a:xfrm>
            <a:off x="228600" y="1371600"/>
            <a:ext cx="3551238" cy="688975"/>
          </a:xfrm>
          <a:noFill/>
        </p:spPr>
        <p:txBody>
          <a:bodyPr/>
          <a:lstStyle/>
          <a:p>
            <a:pPr eaLnBrk="1" hangingPunct="1">
              <a:buFontTx/>
              <a:buNone/>
            </a:pPr>
            <a:r>
              <a:rPr lang="zh-CN" altLang="en-US">
                <a:latin typeface="宋体" panose="02010600030101010101" pitchFamily="2" charset="-122"/>
              </a:rPr>
              <a:t>一、</a:t>
            </a:r>
            <a:r>
              <a:rPr lang="zh-CN" altLang="en-US" sz="2800" b="1">
                <a:latin typeface="楷体_GB2312" pitchFamily="49" charset="-122"/>
                <a:ea typeface="楷体_GB2312" pitchFamily="49" charset="-122"/>
              </a:rPr>
              <a:t>相电势的幅值</a:t>
            </a:r>
            <a:r>
              <a:rPr lang="zh-CN" altLang="en-US" sz="2800">
                <a:latin typeface="宋体" panose="02010600030101010101" pitchFamily="2" charset="-122"/>
              </a:rPr>
              <a:t>：</a:t>
            </a:r>
            <a:r>
              <a:rPr lang="zh-CN" altLang="en-US"/>
              <a:t> </a:t>
            </a:r>
          </a:p>
        </p:txBody>
      </p:sp>
      <p:graphicFrame>
        <p:nvGraphicFramePr>
          <p:cNvPr id="6151" name="Object 2056">
            <a:extLst>
              <a:ext uri="{FF2B5EF4-FFF2-40B4-BE49-F238E27FC236}">
                <a16:creationId xmlns:a16="http://schemas.microsoft.com/office/drawing/2014/main" id="{E05E6C41-7766-5D33-D7F5-21FE46594625}"/>
              </a:ext>
            </a:extLst>
          </p:cNvPr>
          <p:cNvGraphicFramePr>
            <a:graphicFrameLocks noChangeAspect="1"/>
          </p:cNvGraphicFramePr>
          <p:nvPr>
            <p:extLst>
              <p:ext uri="{D42A27DB-BD31-4B8C-83A1-F6EECF244321}">
                <p14:modId xmlns:p14="http://schemas.microsoft.com/office/powerpoint/2010/main" val="1692552301"/>
              </p:ext>
            </p:extLst>
          </p:nvPr>
        </p:nvGraphicFramePr>
        <p:xfrm>
          <a:off x="3645044" y="1356014"/>
          <a:ext cx="5214938" cy="842963"/>
        </p:xfrm>
        <a:graphic>
          <a:graphicData uri="http://schemas.openxmlformats.org/presentationml/2006/ole">
            <mc:AlternateContent xmlns:mc="http://schemas.openxmlformats.org/markup-compatibility/2006">
              <mc:Choice xmlns:v="urn:schemas-microsoft-com:vml" Requires="v">
                <p:oleObj name="Equation" r:id="rId3" imgW="1942257" imgH="317362" progId="Equation.DSMT4">
                  <p:embed/>
                </p:oleObj>
              </mc:Choice>
              <mc:Fallback>
                <p:oleObj name="Equation" r:id="rId3" imgW="1942257" imgH="317362" progId="Equation.DSMT4">
                  <p:embed/>
                  <p:pic>
                    <p:nvPicPr>
                      <p:cNvPr id="6151" name="Object 2056">
                        <a:extLst>
                          <a:ext uri="{FF2B5EF4-FFF2-40B4-BE49-F238E27FC236}">
                            <a16:creationId xmlns:a16="http://schemas.microsoft.com/office/drawing/2014/main" id="{E05E6C41-7766-5D33-D7F5-21FE465946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5044" y="1356014"/>
                        <a:ext cx="5214938" cy="84296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713" name="AutoShape 2057">
            <a:extLst>
              <a:ext uri="{FF2B5EF4-FFF2-40B4-BE49-F238E27FC236}">
                <a16:creationId xmlns:a16="http://schemas.microsoft.com/office/drawing/2014/main" id="{05743E58-9ED1-D5B9-3F54-6EDC7B0A374C}"/>
              </a:ext>
            </a:extLst>
          </p:cNvPr>
          <p:cNvSpPr>
            <a:spLocks noChangeArrowheads="1"/>
          </p:cNvSpPr>
          <p:nvPr/>
        </p:nvSpPr>
        <p:spPr bwMode="auto">
          <a:xfrm>
            <a:off x="6252513" y="435047"/>
            <a:ext cx="2895600" cy="762000"/>
          </a:xfrm>
          <a:prstGeom prst="wedgeRoundRectCallout">
            <a:avLst>
              <a:gd name="adj1" fmla="val -76481"/>
              <a:gd name="adj2" fmla="val 87083"/>
              <a:gd name="adj3" fmla="val 16667"/>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dirty="0">
                <a:latin typeface="Times New Roman" panose="02020603050405020304" pitchFamily="18" charset="0"/>
                <a:ea typeface="宋体" panose="02010600030101010101" pitchFamily="2" charset="-122"/>
              </a:rPr>
              <a:t>同步机定子电势习惯称为电枢电势</a:t>
            </a:r>
          </a:p>
        </p:txBody>
      </p:sp>
      <p:sp>
        <p:nvSpPr>
          <p:cNvPr id="200714" name="AutoShape 2058">
            <a:extLst>
              <a:ext uri="{FF2B5EF4-FFF2-40B4-BE49-F238E27FC236}">
                <a16:creationId xmlns:a16="http://schemas.microsoft.com/office/drawing/2014/main" id="{1F31C9E4-140D-3F3C-CE49-F1811A98D63D}"/>
              </a:ext>
            </a:extLst>
          </p:cNvPr>
          <p:cNvSpPr>
            <a:spLocks noChangeArrowheads="1"/>
          </p:cNvSpPr>
          <p:nvPr/>
        </p:nvSpPr>
        <p:spPr bwMode="auto">
          <a:xfrm>
            <a:off x="3779838" y="2376198"/>
            <a:ext cx="5257800" cy="914400"/>
          </a:xfrm>
          <a:prstGeom prst="wedgeRectCallout">
            <a:avLst>
              <a:gd name="adj1" fmla="val 28926"/>
              <a:gd name="adj2" fmla="val -87153"/>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kumimoji="1" lang="zh-CN" altLang="en-US" b="0">
                <a:latin typeface="华文中宋" panose="02010600040101010101" pitchFamily="2" charset="-122"/>
                <a:ea typeface="华文中宋" panose="02010600040101010101" pitchFamily="2" charset="-122"/>
              </a:rPr>
              <a:t>发电机电势与磁通和转速成比例，磁通取决于转子励磁电流。</a:t>
            </a:r>
            <a:r>
              <a:rPr kumimoji="1" lang="zh-CN" altLang="en-US" sz="2400" b="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0713"/>
                                        </p:tgtEl>
                                        <p:attrNameLst>
                                          <p:attrName>style.visibility</p:attrName>
                                        </p:attrNameLst>
                                      </p:cBhvr>
                                      <p:to>
                                        <p:strVal val="visible"/>
                                      </p:to>
                                    </p:set>
                                    <p:animEffect transition="in" filter="blinds(horizontal)">
                                      <p:cBhvr>
                                        <p:cTn id="7" dur="500"/>
                                        <p:tgtEl>
                                          <p:spTgt spid="200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0714"/>
                                        </p:tgtEl>
                                        <p:attrNameLst>
                                          <p:attrName>style.visibility</p:attrName>
                                        </p:attrNameLst>
                                      </p:cBhvr>
                                      <p:to>
                                        <p:strVal val="visible"/>
                                      </p:to>
                                    </p:set>
                                    <p:animEffect transition="in" filter="blinds(horizontal)">
                                      <p:cBhvr>
                                        <p:cTn id="12" dur="500"/>
                                        <p:tgtEl>
                                          <p:spTgt spid="2007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0709"/>
                                        </p:tgtEl>
                                        <p:attrNameLst>
                                          <p:attrName>style.visibility</p:attrName>
                                        </p:attrNameLst>
                                      </p:cBhvr>
                                      <p:to>
                                        <p:strVal val="visible"/>
                                      </p:to>
                                    </p:set>
                                    <p:animEffect transition="in" filter="blinds(horizontal)">
                                      <p:cBhvr>
                                        <p:cTn id="17" dur="500"/>
                                        <p:tgtEl>
                                          <p:spTgt spid="200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animBg="1" autoUpdateAnimBg="0"/>
      <p:bldP spid="200713" grpId="0" animBg="1" autoUpdateAnimBg="0"/>
      <p:bldP spid="200714"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EE0C2ACF-CCF4-62A0-30DE-FAE2995C8486}"/>
              </a:ext>
            </a:extLst>
          </p:cNvPr>
          <p:cNvSpPr>
            <a:spLocks noGrp="1"/>
          </p:cNvSpPr>
          <p:nvPr>
            <p:ph type="sldNum" sz="quarter" idx="12"/>
          </p:nvPr>
        </p:nvSpPr>
        <p:spPr>
          <a:xfrm>
            <a:off x="6523038" y="6084019"/>
            <a:ext cx="2133600" cy="476250"/>
          </a:xfrm>
        </p:spPr>
        <p:txBody>
          <a:bodyPr/>
          <a:lstStyle/>
          <a:p>
            <a:pPr>
              <a:defRPr/>
            </a:pPr>
            <a:fld id="{3771D5D8-EB1B-438F-9FB4-C6AD443E115C}" type="slidenum">
              <a:rPr lang="en-US" altLang="zh-CN"/>
              <a:pPr>
                <a:defRPr/>
              </a:pPr>
              <a:t>21</a:t>
            </a:fld>
            <a:endParaRPr lang="en-US" altLang="zh-CN"/>
          </a:p>
        </p:txBody>
      </p:sp>
      <p:sp>
        <p:nvSpPr>
          <p:cNvPr id="7171" name="Rectangle 3074">
            <a:extLst>
              <a:ext uri="{FF2B5EF4-FFF2-40B4-BE49-F238E27FC236}">
                <a16:creationId xmlns:a16="http://schemas.microsoft.com/office/drawing/2014/main" id="{D20D3E63-4E15-6AEF-D95C-6656A9991B52}"/>
              </a:ext>
            </a:extLst>
          </p:cNvPr>
          <p:cNvSpPr>
            <a:spLocks noGrp="1" noChangeArrowheads="1"/>
          </p:cNvSpPr>
          <p:nvPr>
            <p:ph type="title"/>
          </p:nvPr>
        </p:nvSpPr>
        <p:spPr>
          <a:xfrm>
            <a:off x="395536" y="803995"/>
            <a:ext cx="3124200" cy="1143000"/>
          </a:xfrm>
        </p:spPr>
        <p:txBody>
          <a:bodyPr/>
          <a:lstStyle/>
          <a:p>
            <a:pPr eaLnBrk="1" hangingPunct="1"/>
            <a:r>
              <a:rPr lang="zh-CN" altLang="en-US" sz="3600" dirty="0">
                <a:ea typeface="楷体_GB2312" pitchFamily="49" charset="-122"/>
              </a:rPr>
              <a:t>二、开路特性</a:t>
            </a:r>
          </a:p>
        </p:txBody>
      </p:sp>
      <p:sp>
        <p:nvSpPr>
          <p:cNvPr id="201734" name="Text Box 3078">
            <a:extLst>
              <a:ext uri="{FF2B5EF4-FFF2-40B4-BE49-F238E27FC236}">
                <a16:creationId xmlns:a16="http://schemas.microsoft.com/office/drawing/2014/main" id="{BE50AA32-6B8C-731F-25FC-2517DD7F7778}"/>
              </a:ext>
            </a:extLst>
          </p:cNvPr>
          <p:cNvSpPr txBox="1">
            <a:spLocks noChangeArrowheads="1"/>
          </p:cNvSpPr>
          <p:nvPr/>
        </p:nvSpPr>
        <p:spPr bwMode="auto">
          <a:xfrm>
            <a:off x="539552" y="2132856"/>
            <a:ext cx="7635875"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Times New Roman" panose="02020603050405020304" pitchFamily="18" charset="0"/>
                <a:ea typeface="华文中宋" panose="02010600040101010101" pitchFamily="2" charset="-122"/>
              </a:rPr>
              <a:t>同步电机的饱和特性通常用开路特性表示，也称为磁化曲线或饱和曲线。</a:t>
            </a:r>
            <a:r>
              <a:rPr lang="zh-CN" altLang="en-US" sz="2400" dirty="0"/>
              <a:t>同步发电机被原动机拖动到同步转速，励磁绕组中通入直流电流，定子绕组开路的运行称为</a:t>
            </a:r>
            <a:r>
              <a:rPr lang="zh-CN" altLang="en-US" sz="2400" dirty="0">
                <a:solidFill>
                  <a:srgbClr val="0000FF"/>
                </a:solidFill>
              </a:rPr>
              <a:t>空载运行，</a:t>
            </a:r>
            <a:r>
              <a:rPr lang="zh-CN" altLang="en-US" sz="2400" b="0" dirty="0">
                <a:latin typeface="华文中宋" panose="02010600040101010101" pitchFamily="2" charset="-122"/>
                <a:ea typeface="华文中宋" panose="02010600040101010101" pitchFamily="2" charset="-122"/>
              </a:rPr>
              <a:t>相应</a:t>
            </a:r>
            <a:r>
              <a:rPr lang="zh-CN" altLang="en-US" sz="2400" dirty="0">
                <a:solidFill>
                  <a:srgbClr val="0000FF"/>
                </a:solidFill>
              </a:rPr>
              <a:t>励磁电流与发电机电势</a:t>
            </a:r>
            <a:r>
              <a:rPr lang="zh-CN" altLang="en-US" sz="2400" b="0" dirty="0">
                <a:latin typeface="宋体" panose="02010600030101010101" pitchFamily="2" charset="-122"/>
                <a:ea typeface="宋体" panose="02010600030101010101" pitchFamily="2" charset="-122"/>
              </a:rPr>
              <a:t>（</a:t>
            </a:r>
            <a:r>
              <a:rPr lang="zh-CN" altLang="en-US" sz="2400" b="0" dirty="0">
                <a:latin typeface="华文中宋" panose="02010600040101010101" pitchFamily="2" charset="-122"/>
                <a:ea typeface="华文中宋" panose="02010600040101010101" pitchFamily="2" charset="-122"/>
              </a:rPr>
              <a:t>端电压）的关系曲线称为</a:t>
            </a:r>
            <a:r>
              <a:rPr lang="zh-CN" altLang="en-US" sz="2400" dirty="0">
                <a:solidFill>
                  <a:srgbClr val="0000FF"/>
                </a:solidFill>
              </a:rPr>
              <a:t>开路特性</a:t>
            </a:r>
            <a:r>
              <a:rPr lang="zh-CN" altLang="en-US" sz="2400" b="0" dirty="0">
                <a:latin typeface="华文中宋" panose="02010600040101010101" pitchFamily="2" charset="-122"/>
                <a:ea typeface="华文中宋" panose="02010600040101010101" pitchFamily="2" charset="-122"/>
              </a:rPr>
              <a:t>曲线</a:t>
            </a:r>
            <a:r>
              <a:rPr lang="en-US" altLang="zh-CN" sz="2400" b="0" dirty="0">
                <a:latin typeface="华文中宋" panose="02010600040101010101" pitchFamily="2" charset="-122"/>
                <a:ea typeface="华文中宋" panose="02010600040101010101" pitchFamily="2" charset="-122"/>
              </a:rPr>
              <a:t>(OCC)</a:t>
            </a:r>
            <a:r>
              <a:rPr lang="zh-CN" altLang="en-US" sz="2400" dirty="0">
                <a:solidFill>
                  <a:srgbClr val="0000FF"/>
                </a:solidFill>
              </a:rPr>
              <a:t>。</a:t>
            </a:r>
          </a:p>
        </p:txBody>
      </p:sp>
      <p:sp>
        <p:nvSpPr>
          <p:cNvPr id="201735" name="Text Box 3079">
            <a:extLst>
              <a:ext uri="{FF2B5EF4-FFF2-40B4-BE49-F238E27FC236}">
                <a16:creationId xmlns:a16="http://schemas.microsoft.com/office/drawing/2014/main" id="{8134A8AF-679C-D97F-713C-BB56E580890D}"/>
              </a:ext>
            </a:extLst>
          </p:cNvPr>
          <p:cNvSpPr txBox="1">
            <a:spLocks noChangeArrowheads="1"/>
          </p:cNvSpPr>
          <p:nvPr/>
        </p:nvSpPr>
        <p:spPr bwMode="auto">
          <a:xfrm>
            <a:off x="514654" y="4530722"/>
            <a:ext cx="7559675"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华文中宋" panose="02010600040101010101" pitchFamily="2" charset="-122"/>
                <a:ea typeface="华文中宋" panose="02010600040101010101" pitchFamily="2" charset="-122"/>
              </a:rPr>
              <a:t>当同步发电机处于</a:t>
            </a:r>
            <a:r>
              <a:rPr kumimoji="1" lang="zh-CN" altLang="en-US" sz="2400" b="0" dirty="0">
                <a:solidFill>
                  <a:srgbClr val="FF3300"/>
                </a:solidFill>
                <a:latin typeface="华文中宋" panose="02010600040101010101" pitchFamily="2" charset="-122"/>
                <a:ea typeface="华文中宋" panose="02010600040101010101" pitchFamily="2" charset="-122"/>
              </a:rPr>
              <a:t>正常额定转速</a:t>
            </a:r>
            <a:r>
              <a:rPr kumimoji="1" lang="zh-CN" altLang="en-US" sz="2400" b="0" dirty="0">
                <a:latin typeface="华文中宋" panose="02010600040101010101" pitchFamily="2" charset="-122"/>
                <a:ea typeface="华文中宋" panose="02010600040101010101" pitchFamily="2" charset="-122"/>
              </a:rPr>
              <a:t>而且</a:t>
            </a:r>
            <a:r>
              <a:rPr kumimoji="1" lang="zh-CN" altLang="en-US" sz="2400" b="0" dirty="0">
                <a:solidFill>
                  <a:srgbClr val="FF3300"/>
                </a:solidFill>
                <a:latin typeface="华文中宋" panose="02010600040101010101" pitchFamily="2" charset="-122"/>
                <a:ea typeface="华文中宋" panose="02010600040101010101" pitchFamily="2" charset="-122"/>
              </a:rPr>
              <a:t>电枢电流为</a:t>
            </a:r>
            <a:r>
              <a:rPr kumimoji="1" lang="en-US" altLang="zh-CN" sz="2400" b="0" dirty="0">
                <a:solidFill>
                  <a:srgbClr val="FF3300"/>
                </a:solidFill>
                <a:latin typeface="华文中宋" panose="02010600040101010101" pitchFamily="2" charset="-122"/>
                <a:ea typeface="华文中宋" panose="02010600040101010101" pitchFamily="2" charset="-122"/>
              </a:rPr>
              <a:t>0</a:t>
            </a:r>
            <a:r>
              <a:rPr kumimoji="1" lang="zh-CN" altLang="en-US" sz="2400" b="0" dirty="0">
                <a:latin typeface="华文中宋" panose="02010600040101010101" pitchFamily="2" charset="-122"/>
                <a:ea typeface="华文中宋" panose="02010600040101010101" pitchFamily="2" charset="-122"/>
              </a:rPr>
              <a:t>时，端电压和定子绕组内感生的电势完全相等，由气隙磁通即转子励磁磁势决定。</a:t>
            </a:r>
            <a:endParaRPr kumimoji="1" lang="zh-CN" altLang="en-US" sz="2400" b="0" dirty="0">
              <a:latin typeface="Times New Roman" panose="02020603050405020304" pitchFamily="18" charset="0"/>
              <a:ea typeface="宋体" panose="02010600030101010101" pitchFamily="2" charset="-122"/>
            </a:endParaRPr>
          </a:p>
        </p:txBody>
      </p:sp>
      <p:graphicFrame>
        <p:nvGraphicFramePr>
          <p:cNvPr id="201736" name="Object 3080">
            <a:extLst>
              <a:ext uri="{FF2B5EF4-FFF2-40B4-BE49-F238E27FC236}">
                <a16:creationId xmlns:a16="http://schemas.microsoft.com/office/drawing/2014/main" id="{002B6B9F-F6C9-400F-FC82-9EE659CD4F9C}"/>
              </a:ext>
            </a:extLst>
          </p:cNvPr>
          <p:cNvGraphicFramePr>
            <a:graphicFrameLocks noChangeAspect="1"/>
          </p:cNvGraphicFramePr>
          <p:nvPr>
            <p:extLst>
              <p:ext uri="{D42A27DB-BD31-4B8C-83A1-F6EECF244321}">
                <p14:modId xmlns:p14="http://schemas.microsoft.com/office/powerpoint/2010/main" val="3017207197"/>
              </p:ext>
            </p:extLst>
          </p:nvPr>
        </p:nvGraphicFramePr>
        <p:xfrm>
          <a:off x="4788024" y="1264070"/>
          <a:ext cx="3581400" cy="2935288"/>
        </p:xfrm>
        <a:graphic>
          <a:graphicData uri="http://schemas.openxmlformats.org/presentationml/2006/ole">
            <mc:AlternateContent xmlns:mc="http://schemas.openxmlformats.org/markup-compatibility/2006">
              <mc:Choice xmlns:v="urn:schemas-microsoft-com:vml" Requires="v">
                <p:oleObj name="Microsoft Drawing" r:id="rId2" imgW="3082925" imgH="2535238" progId="MSDraw">
                  <p:embed/>
                </p:oleObj>
              </mc:Choice>
              <mc:Fallback>
                <p:oleObj name="Microsoft Drawing" r:id="rId2" imgW="3082925" imgH="2535238" progId="MSDraw">
                  <p:embed/>
                  <p:pic>
                    <p:nvPicPr>
                      <p:cNvPr id="201736" name="Object 3080">
                        <a:extLst>
                          <a:ext uri="{FF2B5EF4-FFF2-40B4-BE49-F238E27FC236}">
                            <a16:creationId xmlns:a16="http://schemas.microsoft.com/office/drawing/2014/main" id="{002B6B9F-F6C9-400F-FC82-9EE659CD4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264070"/>
                        <a:ext cx="3581400" cy="2935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1734"/>
                                        </p:tgtEl>
                                        <p:attrNameLst>
                                          <p:attrName>style.visibility</p:attrName>
                                        </p:attrNameLst>
                                      </p:cBhvr>
                                      <p:to>
                                        <p:strVal val="visible"/>
                                      </p:to>
                                    </p:set>
                                    <p:animEffect transition="in" filter="blinds(horizontal)">
                                      <p:cBhvr>
                                        <p:cTn id="7" dur="500"/>
                                        <p:tgtEl>
                                          <p:spTgt spid="2017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1736"/>
                                        </p:tgtEl>
                                        <p:attrNameLst>
                                          <p:attrName>style.visibility</p:attrName>
                                        </p:attrNameLst>
                                      </p:cBhvr>
                                      <p:to>
                                        <p:strVal val="visible"/>
                                      </p:to>
                                    </p:set>
                                    <p:animEffect transition="in" filter="blinds(horizontal)">
                                      <p:cBhvr>
                                        <p:cTn id="12" dur="500"/>
                                        <p:tgtEl>
                                          <p:spTgt spid="2017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1735"/>
                                        </p:tgtEl>
                                        <p:attrNameLst>
                                          <p:attrName>style.visibility</p:attrName>
                                        </p:attrNameLst>
                                      </p:cBhvr>
                                      <p:to>
                                        <p:strVal val="visible"/>
                                      </p:to>
                                    </p:set>
                                    <p:animEffect transition="in" filter="blinds(horizontal)">
                                      <p:cBhvr>
                                        <p:cTn id="17" dur="500"/>
                                        <p:tgtEl>
                                          <p:spTgt spid="201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4" grpId="0" autoUpdateAnimBg="0"/>
      <p:bldP spid="20173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51B359B3-6268-EB5D-3025-BFB29C7F5F24}"/>
              </a:ext>
            </a:extLst>
          </p:cNvPr>
          <p:cNvSpPr>
            <a:spLocks noGrp="1"/>
          </p:cNvSpPr>
          <p:nvPr>
            <p:ph type="sldNum" sz="quarter" idx="12"/>
          </p:nvPr>
        </p:nvSpPr>
        <p:spPr/>
        <p:txBody>
          <a:bodyPr/>
          <a:lstStyle/>
          <a:p>
            <a:pPr>
              <a:defRPr/>
            </a:pPr>
            <a:fld id="{13FA4108-BDB7-4F04-983F-B0BEEB06C98C}" type="slidenum">
              <a:rPr lang="en-US" altLang="zh-CN"/>
              <a:pPr>
                <a:defRPr/>
              </a:pPr>
              <a:t>22</a:t>
            </a:fld>
            <a:endParaRPr lang="en-US" altLang="zh-CN"/>
          </a:p>
        </p:txBody>
      </p:sp>
      <p:sp>
        <p:nvSpPr>
          <p:cNvPr id="8195" name="Rectangle 1028">
            <a:extLst>
              <a:ext uri="{FF2B5EF4-FFF2-40B4-BE49-F238E27FC236}">
                <a16:creationId xmlns:a16="http://schemas.microsoft.com/office/drawing/2014/main" id="{107C6BEB-9346-5E11-4B36-51B0F3705965}"/>
              </a:ext>
            </a:extLst>
          </p:cNvPr>
          <p:cNvSpPr>
            <a:spLocks noChangeArrowheads="1"/>
          </p:cNvSpPr>
          <p:nvPr/>
        </p:nvSpPr>
        <p:spPr bwMode="auto">
          <a:xfrm>
            <a:off x="0" y="304800"/>
            <a:ext cx="6858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endParaRPr kumimoji="1" lang="zh-CN" altLang="zh-CN" sz="3600" b="0">
              <a:solidFill>
                <a:schemeClr val="tx2"/>
              </a:solidFill>
              <a:latin typeface="Times New Roman" panose="02020603050405020304" pitchFamily="18" charset="0"/>
              <a:ea typeface="华文中宋" panose="02010600040101010101" pitchFamily="2" charset="-122"/>
            </a:endParaRPr>
          </a:p>
        </p:txBody>
      </p:sp>
      <p:sp>
        <p:nvSpPr>
          <p:cNvPr id="8196" name="Rectangle 1029">
            <a:extLst>
              <a:ext uri="{FF2B5EF4-FFF2-40B4-BE49-F238E27FC236}">
                <a16:creationId xmlns:a16="http://schemas.microsoft.com/office/drawing/2014/main" id="{4ED7C9B3-2B7D-002B-5E53-85CD711F0D24}"/>
              </a:ext>
            </a:extLst>
          </p:cNvPr>
          <p:cNvSpPr>
            <a:spLocks noChangeArrowheads="1"/>
          </p:cNvSpPr>
          <p:nvPr/>
        </p:nvSpPr>
        <p:spPr bwMode="auto">
          <a:xfrm>
            <a:off x="3290888" y="2357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8197" name="Object 1030">
            <a:extLst>
              <a:ext uri="{FF2B5EF4-FFF2-40B4-BE49-F238E27FC236}">
                <a16:creationId xmlns:a16="http://schemas.microsoft.com/office/drawing/2014/main" id="{145A24B9-8D6A-746B-AA9A-72394E33B7DA}"/>
              </a:ext>
            </a:extLst>
          </p:cNvPr>
          <p:cNvGraphicFramePr>
            <a:graphicFrameLocks noChangeAspect="1"/>
          </p:cNvGraphicFramePr>
          <p:nvPr/>
        </p:nvGraphicFramePr>
        <p:xfrm>
          <a:off x="323850" y="1341438"/>
          <a:ext cx="6454775" cy="5289550"/>
        </p:xfrm>
        <a:graphic>
          <a:graphicData uri="http://schemas.openxmlformats.org/presentationml/2006/ole">
            <mc:AlternateContent xmlns:mc="http://schemas.openxmlformats.org/markup-compatibility/2006">
              <mc:Choice xmlns:v="urn:schemas-microsoft-com:vml" Requires="v">
                <p:oleObj name="Microsoft Drawing" r:id="rId2" imgW="3082925" imgH="2535238" progId="MSDraw">
                  <p:embed/>
                </p:oleObj>
              </mc:Choice>
              <mc:Fallback>
                <p:oleObj name="Microsoft Drawing" r:id="rId2" imgW="3082925" imgH="2535238" progId="MSDraw">
                  <p:embed/>
                  <p:pic>
                    <p:nvPicPr>
                      <p:cNvPr id="8197" name="Object 1030">
                        <a:extLst>
                          <a:ext uri="{FF2B5EF4-FFF2-40B4-BE49-F238E27FC236}">
                            <a16:creationId xmlns:a16="http://schemas.microsoft.com/office/drawing/2014/main" id="{145A24B9-8D6A-746B-AA9A-72394E33B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341438"/>
                        <a:ext cx="6454775" cy="5289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2759" name="AutoShape 1031">
            <a:extLst>
              <a:ext uri="{FF2B5EF4-FFF2-40B4-BE49-F238E27FC236}">
                <a16:creationId xmlns:a16="http://schemas.microsoft.com/office/drawing/2014/main" id="{7D21FEEF-D5B1-FD7F-0485-40902D998D06}"/>
              </a:ext>
            </a:extLst>
          </p:cNvPr>
          <p:cNvSpPr>
            <a:spLocks noChangeArrowheads="1"/>
          </p:cNvSpPr>
          <p:nvPr/>
        </p:nvSpPr>
        <p:spPr bwMode="auto">
          <a:xfrm>
            <a:off x="6858000" y="3810000"/>
            <a:ext cx="2286000" cy="1905000"/>
          </a:xfrm>
          <a:prstGeom prst="wedgeRectCallout">
            <a:avLst>
              <a:gd name="adj1" fmla="val -275903"/>
              <a:gd name="adj2" fmla="val 19750"/>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a:latin typeface="华文中宋" panose="02010600040101010101" pitchFamily="2" charset="-122"/>
                <a:ea typeface="华文中宋" panose="02010600040101010101" pitchFamily="2" charset="-122"/>
              </a:rPr>
              <a:t>开始阶段，开路特性呈现良好的线性，称为特性的</a:t>
            </a:r>
            <a:r>
              <a:rPr kumimoji="1" lang="zh-CN" altLang="en-US" sz="2400" b="0">
                <a:solidFill>
                  <a:srgbClr val="FF3300"/>
                </a:solidFill>
                <a:latin typeface="华文中宋" panose="02010600040101010101" pitchFamily="2" charset="-122"/>
                <a:ea typeface="华文中宋" panose="02010600040101010101" pitchFamily="2" charset="-122"/>
              </a:rPr>
              <a:t>气隙线</a:t>
            </a:r>
            <a:r>
              <a:rPr kumimoji="1" lang="zh-CN" altLang="en-US" sz="2400" b="0">
                <a:latin typeface="华文中宋" panose="02010600040101010101" pitchFamily="2" charset="-122"/>
                <a:ea typeface="华文中宋" panose="02010600040101010101" pitchFamily="2" charset="-122"/>
              </a:rPr>
              <a:t>。</a:t>
            </a:r>
            <a:r>
              <a:rPr kumimoji="1" lang="zh-CN" altLang="en-US" sz="2400" b="0">
                <a:latin typeface="宋体" panose="02010600030101010101" pitchFamily="2" charset="-122"/>
                <a:ea typeface="宋体" panose="02010600030101010101" pitchFamily="2" charset="-122"/>
              </a:rPr>
              <a:t> </a:t>
            </a:r>
            <a:r>
              <a:rPr kumimoji="1" lang="zh-CN" altLang="en-US" sz="2400" b="0">
                <a:latin typeface="Times New Roman" panose="02020603050405020304" pitchFamily="18" charset="0"/>
                <a:ea typeface="宋体" panose="02010600030101010101" pitchFamily="2" charset="-122"/>
              </a:rPr>
              <a:t> </a:t>
            </a:r>
          </a:p>
        </p:txBody>
      </p:sp>
      <p:sp>
        <p:nvSpPr>
          <p:cNvPr id="202760" name="AutoShape 1032">
            <a:extLst>
              <a:ext uri="{FF2B5EF4-FFF2-40B4-BE49-F238E27FC236}">
                <a16:creationId xmlns:a16="http://schemas.microsoft.com/office/drawing/2014/main" id="{A74C9C34-6CCB-01D2-4FB2-08468F533400}"/>
              </a:ext>
            </a:extLst>
          </p:cNvPr>
          <p:cNvSpPr>
            <a:spLocks noChangeArrowheads="1"/>
          </p:cNvSpPr>
          <p:nvPr/>
        </p:nvSpPr>
        <p:spPr bwMode="auto">
          <a:xfrm>
            <a:off x="7162800" y="1447800"/>
            <a:ext cx="1981200" cy="2133600"/>
          </a:xfrm>
          <a:prstGeom prst="wedgeRectCallout">
            <a:avLst>
              <a:gd name="adj1" fmla="val -155208"/>
              <a:gd name="adj2" fmla="val -37500"/>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a:latin typeface="华文中宋" panose="02010600040101010101" pitchFamily="2" charset="-122"/>
                <a:ea typeface="华文中宋" panose="02010600040101010101" pitchFamily="2" charset="-122"/>
              </a:rPr>
              <a:t>铁心进入饱和后，磁导率显著下降，磁通随磁势的增长越来越慢。</a:t>
            </a:r>
            <a:r>
              <a:rPr kumimoji="1" lang="zh-CN" altLang="en-US" sz="2400" b="0">
                <a:latin typeface="Times New Roman" panose="02020603050405020304" pitchFamily="18" charset="0"/>
                <a:ea typeface="宋体" panose="02010600030101010101" pitchFamily="2" charset="-122"/>
              </a:rPr>
              <a:t> </a:t>
            </a:r>
          </a:p>
        </p:txBody>
      </p:sp>
      <p:sp>
        <p:nvSpPr>
          <p:cNvPr id="8200" name="AutoShape 1033">
            <a:extLst>
              <a:ext uri="{FF2B5EF4-FFF2-40B4-BE49-F238E27FC236}">
                <a16:creationId xmlns:a16="http://schemas.microsoft.com/office/drawing/2014/main" id="{B52FC7A0-337A-EA68-3589-3B76417AAFAB}"/>
              </a:ext>
            </a:extLst>
          </p:cNvPr>
          <p:cNvSpPr>
            <a:spLocks noChangeArrowheads="1"/>
          </p:cNvSpPr>
          <p:nvPr/>
        </p:nvSpPr>
        <p:spPr bwMode="auto">
          <a:xfrm>
            <a:off x="6972300" y="645319"/>
            <a:ext cx="2057400" cy="685800"/>
          </a:xfrm>
          <a:prstGeom prst="wedgeRoundRectCallout">
            <a:avLst>
              <a:gd name="adj1" fmla="val -78551"/>
              <a:gd name="adj2" fmla="val 9259"/>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en-US" altLang="zh-CN" sz="2400" b="0" dirty="0">
                <a:latin typeface="Times New Roman" panose="02020603050405020304" pitchFamily="18" charset="0"/>
                <a:ea typeface="宋体" panose="02010600030101010101" pitchFamily="2" charset="-122"/>
              </a:rPr>
              <a:t>n=</a:t>
            </a:r>
            <a:r>
              <a:rPr kumimoji="1" lang="en-US" altLang="zh-CN" sz="2400" b="0" dirty="0" err="1">
                <a:latin typeface="Times New Roman" panose="02020603050405020304" pitchFamily="18" charset="0"/>
                <a:ea typeface="宋体" panose="02010600030101010101" pitchFamily="2" charset="-122"/>
              </a:rPr>
              <a:t>n</a:t>
            </a:r>
            <a:r>
              <a:rPr kumimoji="1" lang="en-US" altLang="zh-CN" sz="2400" b="0" baseline="-25000" dirty="0" err="1">
                <a:latin typeface="Times New Roman" panose="02020603050405020304" pitchFamily="18" charset="0"/>
                <a:ea typeface="宋体" panose="02010600030101010101" pitchFamily="2" charset="-122"/>
              </a:rPr>
              <a:t>N</a:t>
            </a:r>
            <a:r>
              <a:rPr kumimoji="1" lang="en-US" altLang="zh-CN" sz="2400" b="0" dirty="0" err="1">
                <a:latin typeface="Times New Roman" panose="02020603050405020304" pitchFamily="18" charset="0"/>
                <a:ea typeface="宋体" panose="02010600030101010101" pitchFamily="2" charset="-122"/>
              </a:rPr>
              <a:t>,I</a:t>
            </a:r>
            <a:r>
              <a:rPr kumimoji="1" lang="en-US" altLang="zh-CN" sz="2400" b="0" baseline="-25000" dirty="0" err="1">
                <a:latin typeface="Times New Roman" panose="02020603050405020304" pitchFamily="18" charset="0"/>
                <a:ea typeface="宋体" panose="02010600030101010101" pitchFamily="2" charset="-122"/>
              </a:rPr>
              <a:t>a</a:t>
            </a:r>
            <a:r>
              <a:rPr kumimoji="1" lang="en-US" altLang="zh-CN" sz="2400" b="0" dirty="0">
                <a:latin typeface="Times New Roman" panose="02020603050405020304" pitchFamily="18" charset="0"/>
                <a:ea typeface="宋体" panose="02010600030101010101" pitchFamily="2" charset="-122"/>
              </a:rPr>
              <a:t>=0,E</a:t>
            </a:r>
            <a:r>
              <a:rPr kumimoji="1" lang="en-US" altLang="zh-CN" sz="2400" b="0" baseline="-25000" dirty="0">
                <a:latin typeface="Times New Roman" panose="02020603050405020304" pitchFamily="18" charset="0"/>
                <a:ea typeface="宋体" panose="02010600030101010101" pitchFamily="2" charset="-122"/>
              </a:rPr>
              <a:t>a0</a:t>
            </a:r>
            <a:r>
              <a:rPr kumimoji="1" lang="en-US" altLang="zh-CN" sz="2400" b="0" dirty="0">
                <a:latin typeface="Times New Roman" panose="02020603050405020304" pitchFamily="18" charset="0"/>
                <a:ea typeface="宋体" panose="02010600030101010101" pitchFamily="2" charset="-122"/>
              </a:rPr>
              <a:t>=f(I</a:t>
            </a:r>
            <a:r>
              <a:rPr kumimoji="1" lang="en-US" altLang="zh-CN" sz="2400" b="0" baseline="-25000" dirty="0">
                <a:latin typeface="Times New Roman" panose="02020603050405020304" pitchFamily="18" charset="0"/>
                <a:ea typeface="宋体" panose="02010600030101010101" pitchFamily="2" charset="-122"/>
              </a:rPr>
              <a:t>f</a:t>
            </a:r>
            <a:r>
              <a:rPr kumimoji="1" lang="en-US" altLang="zh-CN" sz="2400" b="0" dirty="0">
                <a:latin typeface="Times New Roman" panose="02020603050405020304" pitchFamily="18" charset="0"/>
                <a:ea typeface="宋体" panose="02010600030101010101" pitchFamily="2" charset="-122"/>
              </a:rPr>
              <a:t>)</a:t>
            </a:r>
          </a:p>
        </p:txBody>
      </p:sp>
      <p:sp>
        <p:nvSpPr>
          <p:cNvPr id="202762" name="AutoShape 1034">
            <a:extLst>
              <a:ext uri="{FF2B5EF4-FFF2-40B4-BE49-F238E27FC236}">
                <a16:creationId xmlns:a16="http://schemas.microsoft.com/office/drawing/2014/main" id="{2AA32B7D-0D3E-D066-9A03-AC00C2E8CB81}"/>
              </a:ext>
            </a:extLst>
          </p:cNvPr>
          <p:cNvSpPr>
            <a:spLocks noChangeArrowheads="1"/>
          </p:cNvSpPr>
          <p:nvPr/>
        </p:nvSpPr>
        <p:spPr bwMode="auto">
          <a:xfrm>
            <a:off x="250825" y="2276475"/>
            <a:ext cx="2160588" cy="1368425"/>
          </a:xfrm>
          <a:prstGeom prst="wedgeRoundRectCallout">
            <a:avLst>
              <a:gd name="adj1" fmla="val 96292"/>
              <a:gd name="adj2" fmla="val -51625"/>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lang="zh-CN" altLang="en-US"/>
              <a:t>磁路不饱和对应的额定点</a:t>
            </a:r>
          </a:p>
        </p:txBody>
      </p:sp>
      <p:sp>
        <p:nvSpPr>
          <p:cNvPr id="202763" name="AutoShape 1035">
            <a:extLst>
              <a:ext uri="{FF2B5EF4-FFF2-40B4-BE49-F238E27FC236}">
                <a16:creationId xmlns:a16="http://schemas.microsoft.com/office/drawing/2014/main" id="{85635867-6269-FEE8-9A39-EAF375F5CFB5}"/>
              </a:ext>
            </a:extLst>
          </p:cNvPr>
          <p:cNvSpPr>
            <a:spLocks noChangeArrowheads="1"/>
          </p:cNvSpPr>
          <p:nvPr/>
        </p:nvSpPr>
        <p:spPr bwMode="auto">
          <a:xfrm>
            <a:off x="323850" y="4076700"/>
            <a:ext cx="1800225" cy="1546225"/>
          </a:xfrm>
          <a:prstGeom prst="wedgeRoundRectCallout">
            <a:avLst>
              <a:gd name="adj1" fmla="val 138889"/>
              <a:gd name="adj2" fmla="val -164782"/>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lang="zh-CN" altLang="en-US"/>
              <a:t>磁路饱和对应的额定点</a:t>
            </a:r>
          </a:p>
        </p:txBody>
      </p:sp>
      <p:sp>
        <p:nvSpPr>
          <p:cNvPr id="8203" name="Rectangle 1036">
            <a:extLst>
              <a:ext uri="{FF2B5EF4-FFF2-40B4-BE49-F238E27FC236}">
                <a16:creationId xmlns:a16="http://schemas.microsoft.com/office/drawing/2014/main" id="{C48BE2B5-6736-FE44-B3B9-64C574EF3A46}"/>
              </a:ext>
            </a:extLst>
          </p:cNvPr>
          <p:cNvSpPr>
            <a:spLocks noGrp="1" noChangeArrowheads="1"/>
          </p:cNvSpPr>
          <p:nvPr>
            <p:ph type="title"/>
          </p:nvPr>
        </p:nvSpPr>
        <p:spPr>
          <a:xfrm>
            <a:off x="0" y="396875"/>
            <a:ext cx="6553200" cy="1447800"/>
          </a:xfrm>
        </p:spPr>
        <p:txBody>
          <a:bodyPr/>
          <a:lstStyle/>
          <a:p>
            <a:pPr eaLnBrk="1" hangingPunct="1"/>
            <a:r>
              <a:rPr lang="zh-CN" altLang="en-US" sz="3600" dirty="0">
                <a:ea typeface="华文中宋" panose="02010600040101010101" pitchFamily="2" charset="-122"/>
              </a:rPr>
              <a:t>同步机的开路特性（空载特性）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02759"/>
                                        </p:tgtEl>
                                        <p:attrNameLst>
                                          <p:attrName>style.visibility</p:attrName>
                                        </p:attrNameLst>
                                      </p:cBhvr>
                                      <p:to>
                                        <p:strVal val="visible"/>
                                      </p:to>
                                    </p:set>
                                    <p:animEffect transition="in" filter="barn(outHorizontal)">
                                      <p:cBhvr>
                                        <p:cTn id="7" dur="500"/>
                                        <p:tgtEl>
                                          <p:spTgt spid="2027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02760"/>
                                        </p:tgtEl>
                                        <p:attrNameLst>
                                          <p:attrName>style.visibility</p:attrName>
                                        </p:attrNameLst>
                                      </p:cBhvr>
                                      <p:to>
                                        <p:strVal val="visible"/>
                                      </p:to>
                                    </p:set>
                                    <p:animEffect transition="in" filter="barn(outHorizontal)">
                                      <p:cBhvr>
                                        <p:cTn id="12" dur="500"/>
                                        <p:tgtEl>
                                          <p:spTgt spid="2027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202762"/>
                                        </p:tgtEl>
                                        <p:attrNameLst>
                                          <p:attrName>style.visibility</p:attrName>
                                        </p:attrNameLst>
                                      </p:cBhvr>
                                      <p:to>
                                        <p:strVal val="visible"/>
                                      </p:to>
                                    </p:set>
                                    <p:anim calcmode="lin" valueType="num">
                                      <p:cBhvr>
                                        <p:cTn id="17" dur="500" fill="hold"/>
                                        <p:tgtEl>
                                          <p:spTgt spid="202762"/>
                                        </p:tgtEl>
                                        <p:attrNameLst>
                                          <p:attrName>ppt_w</p:attrName>
                                        </p:attrNameLst>
                                      </p:cBhvr>
                                      <p:tavLst>
                                        <p:tav tm="0">
                                          <p:val>
                                            <p:fltVal val="0"/>
                                          </p:val>
                                        </p:tav>
                                        <p:tav tm="100000">
                                          <p:val>
                                            <p:strVal val="#ppt_w"/>
                                          </p:val>
                                        </p:tav>
                                      </p:tavLst>
                                    </p:anim>
                                    <p:anim calcmode="lin" valueType="num">
                                      <p:cBhvr>
                                        <p:cTn id="18" dur="500" fill="hold"/>
                                        <p:tgtEl>
                                          <p:spTgt spid="202762"/>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2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9" grpId="0" animBg="1" autoUpdateAnimBg="0"/>
      <p:bldP spid="202760" grpId="0" animBg="1" autoUpdateAnimBg="0"/>
      <p:bldP spid="202762" grpId="0" animBg="1" autoUpdateAnimBg="0"/>
      <p:bldP spid="20276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D0CB666-B94B-190A-17B2-DE1A32A1883E}"/>
              </a:ext>
            </a:extLst>
          </p:cNvPr>
          <p:cNvSpPr>
            <a:spLocks noGrp="1"/>
          </p:cNvSpPr>
          <p:nvPr>
            <p:ph type="sldNum" sz="quarter" idx="12"/>
          </p:nvPr>
        </p:nvSpPr>
        <p:spPr/>
        <p:txBody>
          <a:bodyPr/>
          <a:lstStyle/>
          <a:p>
            <a:pPr>
              <a:defRPr/>
            </a:pPr>
            <a:fld id="{6169A006-7912-42C9-8088-F2C20683BF86}" type="slidenum">
              <a:rPr lang="en-US" altLang="zh-CN"/>
              <a:pPr>
                <a:defRPr/>
              </a:pPr>
              <a:t>23</a:t>
            </a:fld>
            <a:endParaRPr lang="en-US" altLang="zh-CN"/>
          </a:p>
        </p:txBody>
      </p:sp>
      <p:sp>
        <p:nvSpPr>
          <p:cNvPr id="9219" name="Rectangle 2">
            <a:extLst>
              <a:ext uri="{FF2B5EF4-FFF2-40B4-BE49-F238E27FC236}">
                <a16:creationId xmlns:a16="http://schemas.microsoft.com/office/drawing/2014/main" id="{73FE1C84-464E-1855-A2FD-3EB1A288962C}"/>
              </a:ext>
            </a:extLst>
          </p:cNvPr>
          <p:cNvSpPr>
            <a:spLocks noGrp="1" noChangeArrowheads="1"/>
          </p:cNvSpPr>
          <p:nvPr>
            <p:ph type="title"/>
          </p:nvPr>
        </p:nvSpPr>
        <p:spPr>
          <a:xfrm>
            <a:off x="685800" y="556612"/>
            <a:ext cx="5867400" cy="1143000"/>
          </a:xfrm>
        </p:spPr>
        <p:txBody>
          <a:bodyPr/>
          <a:lstStyle/>
          <a:p>
            <a:pPr eaLnBrk="1" hangingPunct="1"/>
            <a:r>
              <a:rPr lang="zh-CN" altLang="en-US" sz="3200" b="1" dirty="0">
                <a:ea typeface="新宋体" panose="02010609030101010101" pitchFamily="49" charset="-122"/>
              </a:rPr>
              <a:t>三、开路特性的标么值</a:t>
            </a:r>
          </a:p>
        </p:txBody>
      </p:sp>
      <p:sp>
        <p:nvSpPr>
          <p:cNvPr id="9220" name="Rectangle 5">
            <a:extLst>
              <a:ext uri="{FF2B5EF4-FFF2-40B4-BE49-F238E27FC236}">
                <a16:creationId xmlns:a16="http://schemas.microsoft.com/office/drawing/2014/main" id="{F994D2EB-6813-E54F-7DEE-BBABDE79C75F}"/>
              </a:ext>
            </a:extLst>
          </p:cNvPr>
          <p:cNvSpPr>
            <a:spLocks noGrp="1" noChangeArrowheads="1"/>
          </p:cNvSpPr>
          <p:nvPr>
            <p:ph type="body" idx="1"/>
          </p:nvPr>
        </p:nvSpPr>
        <p:spPr>
          <a:xfrm>
            <a:off x="609600" y="1371600"/>
            <a:ext cx="7772400" cy="1905000"/>
          </a:xfrm>
          <a:noFill/>
        </p:spPr>
        <p:txBody>
          <a:bodyPr/>
          <a:lstStyle/>
          <a:p>
            <a:pPr algn="just" eaLnBrk="1" hangingPunct="1"/>
            <a:r>
              <a:rPr lang="zh-CN" altLang="en-US" sz="2800" dirty="0">
                <a:ea typeface="华文中宋" panose="02010600040101010101" pitchFamily="2" charset="-122"/>
              </a:rPr>
              <a:t>开路特性可采用标么制。选额定电压和在开路时使端电压达到额定的励磁电流为标准单位。典型数据为</a:t>
            </a:r>
          </a:p>
          <a:p>
            <a:pPr eaLnBrk="1" hangingPunct="1"/>
            <a:endParaRPr lang="en-US" altLang="zh-CN" sz="2800" dirty="0">
              <a:ea typeface="华文中宋" panose="02010600040101010101" pitchFamily="2" charset="-122"/>
            </a:endParaRPr>
          </a:p>
        </p:txBody>
      </p:sp>
      <p:grpSp>
        <p:nvGrpSpPr>
          <p:cNvPr id="9221" name="Group 6">
            <a:extLst>
              <a:ext uri="{FF2B5EF4-FFF2-40B4-BE49-F238E27FC236}">
                <a16:creationId xmlns:a16="http://schemas.microsoft.com/office/drawing/2014/main" id="{0666D6DA-AD5A-5068-183A-4A6ABE32B8AF}"/>
              </a:ext>
            </a:extLst>
          </p:cNvPr>
          <p:cNvGrpSpPr>
            <a:grpSpLocks/>
          </p:cNvGrpSpPr>
          <p:nvPr/>
        </p:nvGrpSpPr>
        <p:grpSpPr bwMode="auto">
          <a:xfrm>
            <a:off x="542895" y="2893220"/>
            <a:ext cx="8077200" cy="1606550"/>
            <a:chOff x="-2" y="-2"/>
            <a:chExt cx="5088" cy="772"/>
          </a:xfrm>
        </p:grpSpPr>
        <p:grpSp>
          <p:nvGrpSpPr>
            <p:cNvPr id="9223" name="Group 7">
              <a:extLst>
                <a:ext uri="{FF2B5EF4-FFF2-40B4-BE49-F238E27FC236}">
                  <a16:creationId xmlns:a16="http://schemas.microsoft.com/office/drawing/2014/main" id="{49EE4C56-4205-0A25-14FA-1270D5AB7F7B}"/>
                </a:ext>
              </a:extLst>
            </p:cNvPr>
            <p:cNvGrpSpPr>
              <a:grpSpLocks/>
            </p:cNvGrpSpPr>
            <p:nvPr/>
          </p:nvGrpSpPr>
          <p:grpSpPr bwMode="auto">
            <a:xfrm>
              <a:off x="0" y="0"/>
              <a:ext cx="5084" cy="768"/>
              <a:chOff x="0" y="0"/>
              <a:chExt cx="5084" cy="768"/>
            </a:xfrm>
          </p:grpSpPr>
          <p:grpSp>
            <p:nvGrpSpPr>
              <p:cNvPr id="9225" name="Group 8">
                <a:extLst>
                  <a:ext uri="{FF2B5EF4-FFF2-40B4-BE49-F238E27FC236}">
                    <a16:creationId xmlns:a16="http://schemas.microsoft.com/office/drawing/2014/main" id="{45887350-CA90-0513-544B-83474435DCA2}"/>
                  </a:ext>
                </a:extLst>
              </p:cNvPr>
              <p:cNvGrpSpPr>
                <a:grpSpLocks/>
              </p:cNvGrpSpPr>
              <p:nvPr/>
            </p:nvGrpSpPr>
            <p:grpSpPr bwMode="auto">
              <a:xfrm>
                <a:off x="0" y="0"/>
                <a:ext cx="635" cy="384"/>
                <a:chOff x="0" y="0"/>
                <a:chExt cx="635" cy="384"/>
              </a:xfrm>
            </p:grpSpPr>
            <p:sp>
              <p:nvSpPr>
                <p:cNvPr id="9271" name="Rectangle 9">
                  <a:extLst>
                    <a:ext uri="{FF2B5EF4-FFF2-40B4-BE49-F238E27FC236}">
                      <a16:creationId xmlns:a16="http://schemas.microsoft.com/office/drawing/2014/main" id="{D8E27825-EBDF-2C2A-0AC0-5E4A9D600CE7}"/>
                    </a:ext>
                  </a:extLst>
                </p:cNvPr>
                <p:cNvSpPr>
                  <a:spLocks noChangeArrowheads="1"/>
                </p:cNvSpPr>
                <p:nvPr/>
              </p:nvSpPr>
              <p:spPr bwMode="auto">
                <a:xfrm>
                  <a:off x="43" y="0"/>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励磁电流</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72" name="Rectangle 10">
                  <a:extLst>
                    <a:ext uri="{FF2B5EF4-FFF2-40B4-BE49-F238E27FC236}">
                      <a16:creationId xmlns:a16="http://schemas.microsoft.com/office/drawing/2014/main" id="{8AAF3E4C-4AF3-3774-8448-F4819D252A3A}"/>
                    </a:ext>
                  </a:extLst>
                </p:cNvPr>
                <p:cNvSpPr>
                  <a:spLocks noChangeArrowheads="1"/>
                </p:cNvSpPr>
                <p:nvPr/>
              </p:nvSpPr>
              <p:spPr bwMode="auto">
                <a:xfrm>
                  <a:off x="0" y="0"/>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26" name="Group 11">
                <a:extLst>
                  <a:ext uri="{FF2B5EF4-FFF2-40B4-BE49-F238E27FC236}">
                    <a16:creationId xmlns:a16="http://schemas.microsoft.com/office/drawing/2014/main" id="{43EC43E8-6397-8F9C-98F8-80B75C64777A}"/>
                  </a:ext>
                </a:extLst>
              </p:cNvPr>
              <p:cNvGrpSpPr>
                <a:grpSpLocks/>
              </p:cNvGrpSpPr>
              <p:nvPr/>
            </p:nvGrpSpPr>
            <p:grpSpPr bwMode="auto">
              <a:xfrm>
                <a:off x="635" y="0"/>
                <a:ext cx="635" cy="384"/>
                <a:chOff x="635" y="0"/>
                <a:chExt cx="635" cy="384"/>
              </a:xfrm>
            </p:grpSpPr>
            <p:sp>
              <p:nvSpPr>
                <p:cNvPr id="9269" name="Rectangle 12">
                  <a:extLst>
                    <a:ext uri="{FF2B5EF4-FFF2-40B4-BE49-F238E27FC236}">
                      <a16:creationId xmlns:a16="http://schemas.microsoft.com/office/drawing/2014/main" id="{CF85BCFB-0AF1-4881-06A5-8EF75A011BCF}"/>
                    </a:ext>
                  </a:extLst>
                </p:cNvPr>
                <p:cNvSpPr>
                  <a:spLocks noChangeArrowheads="1"/>
                </p:cNvSpPr>
                <p:nvPr/>
              </p:nvSpPr>
              <p:spPr bwMode="auto">
                <a:xfrm>
                  <a:off x="678" y="0"/>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0.5</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70" name="Rectangle 13">
                  <a:extLst>
                    <a:ext uri="{FF2B5EF4-FFF2-40B4-BE49-F238E27FC236}">
                      <a16:creationId xmlns:a16="http://schemas.microsoft.com/office/drawing/2014/main" id="{6C125F1D-C369-E2B8-4153-4D842CA00CEC}"/>
                    </a:ext>
                  </a:extLst>
                </p:cNvPr>
                <p:cNvSpPr>
                  <a:spLocks noChangeArrowheads="1"/>
                </p:cNvSpPr>
                <p:nvPr/>
              </p:nvSpPr>
              <p:spPr bwMode="auto">
                <a:xfrm>
                  <a:off x="635" y="0"/>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27" name="Group 14">
                <a:extLst>
                  <a:ext uri="{FF2B5EF4-FFF2-40B4-BE49-F238E27FC236}">
                    <a16:creationId xmlns:a16="http://schemas.microsoft.com/office/drawing/2014/main" id="{CF3E9D94-058A-3F18-70DB-2E3E7EB604C3}"/>
                  </a:ext>
                </a:extLst>
              </p:cNvPr>
              <p:cNvGrpSpPr>
                <a:grpSpLocks/>
              </p:cNvGrpSpPr>
              <p:nvPr/>
            </p:nvGrpSpPr>
            <p:grpSpPr bwMode="auto">
              <a:xfrm>
                <a:off x="1270" y="0"/>
                <a:ext cx="635" cy="384"/>
                <a:chOff x="1270" y="0"/>
                <a:chExt cx="635" cy="384"/>
              </a:xfrm>
            </p:grpSpPr>
            <p:sp>
              <p:nvSpPr>
                <p:cNvPr id="9267" name="Rectangle 15">
                  <a:extLst>
                    <a:ext uri="{FF2B5EF4-FFF2-40B4-BE49-F238E27FC236}">
                      <a16:creationId xmlns:a16="http://schemas.microsoft.com/office/drawing/2014/main" id="{D150D4E9-0C81-4D58-5F21-952EE34F988A}"/>
                    </a:ext>
                  </a:extLst>
                </p:cNvPr>
                <p:cNvSpPr>
                  <a:spLocks noChangeArrowheads="1"/>
                </p:cNvSpPr>
                <p:nvPr/>
              </p:nvSpPr>
              <p:spPr bwMode="auto">
                <a:xfrm>
                  <a:off x="1313" y="0"/>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dirty="0">
                      <a:latin typeface="Times New Roman" panose="02020603050405020304" pitchFamily="18" charset="0"/>
                      <a:ea typeface="宋体" panose="02010600030101010101" pitchFamily="2" charset="-122"/>
                    </a:rPr>
                    <a:t>1.0</a:t>
                  </a:r>
                </a:p>
                <a:p>
                  <a:pPr algn="just">
                    <a:lnSpc>
                      <a:spcPct val="100000"/>
                    </a:lnSpc>
                    <a:spcBef>
                      <a:spcPct val="0"/>
                    </a:spcBef>
                    <a:buFontTx/>
                    <a:buNone/>
                  </a:pPr>
                  <a:endParaRPr kumimoji="1" lang="en-US" altLang="zh-CN" sz="2400" b="0" dirty="0">
                    <a:latin typeface="Times New Roman" panose="02020603050405020304" pitchFamily="18" charset="0"/>
                    <a:ea typeface="宋体" panose="02010600030101010101" pitchFamily="2" charset="-122"/>
                  </a:endParaRPr>
                </a:p>
              </p:txBody>
            </p:sp>
            <p:sp>
              <p:nvSpPr>
                <p:cNvPr id="9268" name="Rectangle 16">
                  <a:extLst>
                    <a:ext uri="{FF2B5EF4-FFF2-40B4-BE49-F238E27FC236}">
                      <a16:creationId xmlns:a16="http://schemas.microsoft.com/office/drawing/2014/main" id="{D7F7D342-D5DD-6D69-AAD0-92C3268D69A2}"/>
                    </a:ext>
                  </a:extLst>
                </p:cNvPr>
                <p:cNvSpPr>
                  <a:spLocks noChangeArrowheads="1"/>
                </p:cNvSpPr>
                <p:nvPr/>
              </p:nvSpPr>
              <p:spPr bwMode="auto">
                <a:xfrm>
                  <a:off x="1270" y="0"/>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28" name="Group 17">
                <a:extLst>
                  <a:ext uri="{FF2B5EF4-FFF2-40B4-BE49-F238E27FC236}">
                    <a16:creationId xmlns:a16="http://schemas.microsoft.com/office/drawing/2014/main" id="{6896ADE8-7B41-EA77-7472-18D9FAA876F9}"/>
                  </a:ext>
                </a:extLst>
              </p:cNvPr>
              <p:cNvGrpSpPr>
                <a:grpSpLocks/>
              </p:cNvGrpSpPr>
              <p:nvPr/>
            </p:nvGrpSpPr>
            <p:grpSpPr bwMode="auto">
              <a:xfrm>
                <a:off x="1905" y="0"/>
                <a:ext cx="635" cy="384"/>
                <a:chOff x="1905" y="0"/>
                <a:chExt cx="635" cy="384"/>
              </a:xfrm>
            </p:grpSpPr>
            <p:sp>
              <p:nvSpPr>
                <p:cNvPr id="9265" name="Rectangle 18">
                  <a:extLst>
                    <a:ext uri="{FF2B5EF4-FFF2-40B4-BE49-F238E27FC236}">
                      <a16:creationId xmlns:a16="http://schemas.microsoft.com/office/drawing/2014/main" id="{1D8F5773-3139-366D-5BD1-7BF64624E004}"/>
                    </a:ext>
                  </a:extLst>
                </p:cNvPr>
                <p:cNvSpPr>
                  <a:spLocks noChangeArrowheads="1"/>
                </p:cNvSpPr>
                <p:nvPr/>
              </p:nvSpPr>
              <p:spPr bwMode="auto">
                <a:xfrm>
                  <a:off x="1948" y="0"/>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1.5</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66" name="Rectangle 19">
                  <a:extLst>
                    <a:ext uri="{FF2B5EF4-FFF2-40B4-BE49-F238E27FC236}">
                      <a16:creationId xmlns:a16="http://schemas.microsoft.com/office/drawing/2014/main" id="{6E35DE0C-F4D0-4E49-2ABC-B921CD8B04B2}"/>
                    </a:ext>
                  </a:extLst>
                </p:cNvPr>
                <p:cNvSpPr>
                  <a:spLocks noChangeArrowheads="1"/>
                </p:cNvSpPr>
                <p:nvPr/>
              </p:nvSpPr>
              <p:spPr bwMode="auto">
                <a:xfrm>
                  <a:off x="1905" y="0"/>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29" name="Group 20">
                <a:extLst>
                  <a:ext uri="{FF2B5EF4-FFF2-40B4-BE49-F238E27FC236}">
                    <a16:creationId xmlns:a16="http://schemas.microsoft.com/office/drawing/2014/main" id="{169E9C37-071C-79F8-743E-6ABDB92DF484}"/>
                  </a:ext>
                </a:extLst>
              </p:cNvPr>
              <p:cNvGrpSpPr>
                <a:grpSpLocks/>
              </p:cNvGrpSpPr>
              <p:nvPr/>
            </p:nvGrpSpPr>
            <p:grpSpPr bwMode="auto">
              <a:xfrm>
                <a:off x="2540" y="0"/>
                <a:ext cx="636" cy="384"/>
                <a:chOff x="2540" y="0"/>
                <a:chExt cx="636" cy="384"/>
              </a:xfrm>
            </p:grpSpPr>
            <p:sp>
              <p:nvSpPr>
                <p:cNvPr id="9263" name="Rectangle 21">
                  <a:extLst>
                    <a:ext uri="{FF2B5EF4-FFF2-40B4-BE49-F238E27FC236}">
                      <a16:creationId xmlns:a16="http://schemas.microsoft.com/office/drawing/2014/main" id="{818B24C6-7ACF-8459-3748-CE12B253F3AA}"/>
                    </a:ext>
                  </a:extLst>
                </p:cNvPr>
                <p:cNvSpPr>
                  <a:spLocks noChangeArrowheads="1"/>
                </p:cNvSpPr>
                <p:nvPr/>
              </p:nvSpPr>
              <p:spPr bwMode="auto">
                <a:xfrm>
                  <a:off x="2583" y="0"/>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2.0</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64" name="Rectangle 22">
                  <a:extLst>
                    <a:ext uri="{FF2B5EF4-FFF2-40B4-BE49-F238E27FC236}">
                      <a16:creationId xmlns:a16="http://schemas.microsoft.com/office/drawing/2014/main" id="{959B0E56-1D7D-AFA9-8EA2-73C4A23DD531}"/>
                    </a:ext>
                  </a:extLst>
                </p:cNvPr>
                <p:cNvSpPr>
                  <a:spLocks noChangeArrowheads="1"/>
                </p:cNvSpPr>
                <p:nvPr/>
              </p:nvSpPr>
              <p:spPr bwMode="auto">
                <a:xfrm>
                  <a:off x="2540" y="0"/>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0" name="Group 23">
                <a:extLst>
                  <a:ext uri="{FF2B5EF4-FFF2-40B4-BE49-F238E27FC236}">
                    <a16:creationId xmlns:a16="http://schemas.microsoft.com/office/drawing/2014/main" id="{A5D4FFBD-89E5-470A-8DF2-E944F5DEE1D2}"/>
                  </a:ext>
                </a:extLst>
              </p:cNvPr>
              <p:cNvGrpSpPr>
                <a:grpSpLocks/>
              </p:cNvGrpSpPr>
              <p:nvPr/>
            </p:nvGrpSpPr>
            <p:grpSpPr bwMode="auto">
              <a:xfrm>
                <a:off x="3176" y="0"/>
                <a:ext cx="636" cy="384"/>
                <a:chOff x="3176" y="0"/>
                <a:chExt cx="636" cy="384"/>
              </a:xfrm>
            </p:grpSpPr>
            <p:sp>
              <p:nvSpPr>
                <p:cNvPr id="9261" name="Rectangle 24">
                  <a:extLst>
                    <a:ext uri="{FF2B5EF4-FFF2-40B4-BE49-F238E27FC236}">
                      <a16:creationId xmlns:a16="http://schemas.microsoft.com/office/drawing/2014/main" id="{B98850E8-12A5-70BA-9E22-5B16673135BF}"/>
                    </a:ext>
                  </a:extLst>
                </p:cNvPr>
                <p:cNvSpPr>
                  <a:spLocks noChangeArrowheads="1"/>
                </p:cNvSpPr>
                <p:nvPr/>
              </p:nvSpPr>
              <p:spPr bwMode="auto">
                <a:xfrm>
                  <a:off x="3219" y="0"/>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2.5</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62" name="Rectangle 25">
                  <a:extLst>
                    <a:ext uri="{FF2B5EF4-FFF2-40B4-BE49-F238E27FC236}">
                      <a16:creationId xmlns:a16="http://schemas.microsoft.com/office/drawing/2014/main" id="{E68E1003-3F1E-8F6F-176C-4D8FD274B270}"/>
                    </a:ext>
                  </a:extLst>
                </p:cNvPr>
                <p:cNvSpPr>
                  <a:spLocks noChangeArrowheads="1"/>
                </p:cNvSpPr>
                <p:nvPr/>
              </p:nvSpPr>
              <p:spPr bwMode="auto">
                <a:xfrm>
                  <a:off x="3176" y="0"/>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1" name="Group 26">
                <a:extLst>
                  <a:ext uri="{FF2B5EF4-FFF2-40B4-BE49-F238E27FC236}">
                    <a16:creationId xmlns:a16="http://schemas.microsoft.com/office/drawing/2014/main" id="{188DCFDF-B5D9-FB7D-6A39-B467266B455C}"/>
                  </a:ext>
                </a:extLst>
              </p:cNvPr>
              <p:cNvGrpSpPr>
                <a:grpSpLocks/>
              </p:cNvGrpSpPr>
              <p:nvPr/>
            </p:nvGrpSpPr>
            <p:grpSpPr bwMode="auto">
              <a:xfrm>
                <a:off x="3812" y="0"/>
                <a:ext cx="636" cy="384"/>
                <a:chOff x="3812" y="0"/>
                <a:chExt cx="636" cy="384"/>
              </a:xfrm>
            </p:grpSpPr>
            <p:sp>
              <p:nvSpPr>
                <p:cNvPr id="9259" name="Rectangle 27">
                  <a:extLst>
                    <a:ext uri="{FF2B5EF4-FFF2-40B4-BE49-F238E27FC236}">
                      <a16:creationId xmlns:a16="http://schemas.microsoft.com/office/drawing/2014/main" id="{CE61CCA1-8BE4-0C8B-CC53-956959AF9C4A}"/>
                    </a:ext>
                  </a:extLst>
                </p:cNvPr>
                <p:cNvSpPr>
                  <a:spLocks noChangeArrowheads="1"/>
                </p:cNvSpPr>
                <p:nvPr/>
              </p:nvSpPr>
              <p:spPr bwMode="auto">
                <a:xfrm>
                  <a:off x="3855" y="0"/>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3.0</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60" name="Rectangle 28">
                  <a:extLst>
                    <a:ext uri="{FF2B5EF4-FFF2-40B4-BE49-F238E27FC236}">
                      <a16:creationId xmlns:a16="http://schemas.microsoft.com/office/drawing/2014/main" id="{CB1F8E0B-51A0-A61E-0124-68D55CD288B8}"/>
                    </a:ext>
                  </a:extLst>
                </p:cNvPr>
                <p:cNvSpPr>
                  <a:spLocks noChangeArrowheads="1"/>
                </p:cNvSpPr>
                <p:nvPr/>
              </p:nvSpPr>
              <p:spPr bwMode="auto">
                <a:xfrm>
                  <a:off x="3812" y="0"/>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2" name="Group 29">
                <a:extLst>
                  <a:ext uri="{FF2B5EF4-FFF2-40B4-BE49-F238E27FC236}">
                    <a16:creationId xmlns:a16="http://schemas.microsoft.com/office/drawing/2014/main" id="{B59A90BB-FC03-ABDF-CD73-B9E7F9A6BA25}"/>
                  </a:ext>
                </a:extLst>
              </p:cNvPr>
              <p:cNvGrpSpPr>
                <a:grpSpLocks/>
              </p:cNvGrpSpPr>
              <p:nvPr/>
            </p:nvGrpSpPr>
            <p:grpSpPr bwMode="auto">
              <a:xfrm>
                <a:off x="4448" y="0"/>
                <a:ext cx="636" cy="384"/>
                <a:chOff x="4448" y="0"/>
                <a:chExt cx="636" cy="384"/>
              </a:xfrm>
            </p:grpSpPr>
            <p:sp>
              <p:nvSpPr>
                <p:cNvPr id="9257" name="Rectangle 30">
                  <a:extLst>
                    <a:ext uri="{FF2B5EF4-FFF2-40B4-BE49-F238E27FC236}">
                      <a16:creationId xmlns:a16="http://schemas.microsoft.com/office/drawing/2014/main" id="{204AE8AB-0D57-3328-01A1-9AD25F9D66F7}"/>
                    </a:ext>
                  </a:extLst>
                </p:cNvPr>
                <p:cNvSpPr>
                  <a:spLocks noChangeArrowheads="1"/>
                </p:cNvSpPr>
                <p:nvPr/>
              </p:nvSpPr>
              <p:spPr bwMode="auto">
                <a:xfrm>
                  <a:off x="4491" y="0"/>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3.5</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58" name="Rectangle 31">
                  <a:extLst>
                    <a:ext uri="{FF2B5EF4-FFF2-40B4-BE49-F238E27FC236}">
                      <a16:creationId xmlns:a16="http://schemas.microsoft.com/office/drawing/2014/main" id="{49E569A3-AE5C-01BE-81D1-7D3AD569B4B8}"/>
                    </a:ext>
                  </a:extLst>
                </p:cNvPr>
                <p:cNvSpPr>
                  <a:spLocks noChangeArrowheads="1"/>
                </p:cNvSpPr>
                <p:nvPr/>
              </p:nvSpPr>
              <p:spPr bwMode="auto">
                <a:xfrm>
                  <a:off x="4448" y="0"/>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3" name="Group 32">
                <a:extLst>
                  <a:ext uri="{FF2B5EF4-FFF2-40B4-BE49-F238E27FC236}">
                    <a16:creationId xmlns:a16="http://schemas.microsoft.com/office/drawing/2014/main" id="{3224D63C-FB4E-A582-BE08-F507F08FD992}"/>
                  </a:ext>
                </a:extLst>
              </p:cNvPr>
              <p:cNvGrpSpPr>
                <a:grpSpLocks/>
              </p:cNvGrpSpPr>
              <p:nvPr/>
            </p:nvGrpSpPr>
            <p:grpSpPr bwMode="auto">
              <a:xfrm>
                <a:off x="0" y="384"/>
                <a:ext cx="635" cy="384"/>
                <a:chOff x="0" y="384"/>
                <a:chExt cx="635" cy="384"/>
              </a:xfrm>
            </p:grpSpPr>
            <p:sp>
              <p:nvSpPr>
                <p:cNvPr id="9255" name="Rectangle 33">
                  <a:extLst>
                    <a:ext uri="{FF2B5EF4-FFF2-40B4-BE49-F238E27FC236}">
                      <a16:creationId xmlns:a16="http://schemas.microsoft.com/office/drawing/2014/main" id="{248C5750-4458-A309-8C5B-BAA5F9E23544}"/>
                    </a:ext>
                  </a:extLst>
                </p:cNvPr>
                <p:cNvSpPr>
                  <a:spLocks noChangeArrowheads="1"/>
                </p:cNvSpPr>
                <p:nvPr/>
              </p:nvSpPr>
              <p:spPr bwMode="auto">
                <a:xfrm>
                  <a:off x="43" y="384"/>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zh-CN" altLang="en-US" sz="2400" b="0">
                      <a:latin typeface="Times New Roman" panose="02020603050405020304" pitchFamily="18" charset="0"/>
                      <a:ea typeface="宋体" panose="02010600030101010101" pitchFamily="2" charset="-122"/>
                    </a:rPr>
                    <a:t>电压</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56" name="Rectangle 34">
                  <a:extLst>
                    <a:ext uri="{FF2B5EF4-FFF2-40B4-BE49-F238E27FC236}">
                      <a16:creationId xmlns:a16="http://schemas.microsoft.com/office/drawing/2014/main" id="{7A75D7C5-193B-F397-460E-CFA6CC240EBE}"/>
                    </a:ext>
                  </a:extLst>
                </p:cNvPr>
                <p:cNvSpPr>
                  <a:spLocks noChangeArrowheads="1"/>
                </p:cNvSpPr>
                <p:nvPr/>
              </p:nvSpPr>
              <p:spPr bwMode="auto">
                <a:xfrm>
                  <a:off x="0" y="384"/>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4" name="Group 35">
                <a:extLst>
                  <a:ext uri="{FF2B5EF4-FFF2-40B4-BE49-F238E27FC236}">
                    <a16:creationId xmlns:a16="http://schemas.microsoft.com/office/drawing/2014/main" id="{A2E0F922-4D93-10DD-2271-AEA537F6C2F7}"/>
                  </a:ext>
                </a:extLst>
              </p:cNvPr>
              <p:cNvGrpSpPr>
                <a:grpSpLocks/>
              </p:cNvGrpSpPr>
              <p:nvPr/>
            </p:nvGrpSpPr>
            <p:grpSpPr bwMode="auto">
              <a:xfrm>
                <a:off x="635" y="384"/>
                <a:ext cx="635" cy="384"/>
                <a:chOff x="635" y="384"/>
                <a:chExt cx="635" cy="384"/>
              </a:xfrm>
            </p:grpSpPr>
            <p:sp>
              <p:nvSpPr>
                <p:cNvPr id="9253" name="Rectangle 36">
                  <a:extLst>
                    <a:ext uri="{FF2B5EF4-FFF2-40B4-BE49-F238E27FC236}">
                      <a16:creationId xmlns:a16="http://schemas.microsoft.com/office/drawing/2014/main" id="{7460A1A9-321E-633F-5EAF-6FD98332D17C}"/>
                    </a:ext>
                  </a:extLst>
                </p:cNvPr>
                <p:cNvSpPr>
                  <a:spLocks noChangeArrowheads="1"/>
                </p:cNvSpPr>
                <p:nvPr/>
              </p:nvSpPr>
              <p:spPr bwMode="auto">
                <a:xfrm>
                  <a:off x="678" y="384"/>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0.58</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54" name="Rectangle 37">
                  <a:extLst>
                    <a:ext uri="{FF2B5EF4-FFF2-40B4-BE49-F238E27FC236}">
                      <a16:creationId xmlns:a16="http://schemas.microsoft.com/office/drawing/2014/main" id="{72E2AF9A-027C-3A2D-5A27-1EBB1EFADC13}"/>
                    </a:ext>
                  </a:extLst>
                </p:cNvPr>
                <p:cNvSpPr>
                  <a:spLocks noChangeArrowheads="1"/>
                </p:cNvSpPr>
                <p:nvPr/>
              </p:nvSpPr>
              <p:spPr bwMode="auto">
                <a:xfrm>
                  <a:off x="635" y="384"/>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5" name="Group 38">
                <a:extLst>
                  <a:ext uri="{FF2B5EF4-FFF2-40B4-BE49-F238E27FC236}">
                    <a16:creationId xmlns:a16="http://schemas.microsoft.com/office/drawing/2014/main" id="{90E60C18-5FE9-4D29-D5C8-4E091C67226E}"/>
                  </a:ext>
                </a:extLst>
              </p:cNvPr>
              <p:cNvGrpSpPr>
                <a:grpSpLocks/>
              </p:cNvGrpSpPr>
              <p:nvPr/>
            </p:nvGrpSpPr>
            <p:grpSpPr bwMode="auto">
              <a:xfrm>
                <a:off x="1270" y="384"/>
                <a:ext cx="635" cy="384"/>
                <a:chOff x="1270" y="384"/>
                <a:chExt cx="635" cy="384"/>
              </a:xfrm>
            </p:grpSpPr>
            <p:sp>
              <p:nvSpPr>
                <p:cNvPr id="9251" name="Rectangle 39">
                  <a:extLst>
                    <a:ext uri="{FF2B5EF4-FFF2-40B4-BE49-F238E27FC236}">
                      <a16:creationId xmlns:a16="http://schemas.microsoft.com/office/drawing/2014/main" id="{B36EEC53-67E9-26BC-98E3-6592B28EE333}"/>
                    </a:ext>
                  </a:extLst>
                </p:cNvPr>
                <p:cNvSpPr>
                  <a:spLocks noChangeArrowheads="1"/>
                </p:cNvSpPr>
                <p:nvPr/>
              </p:nvSpPr>
              <p:spPr bwMode="auto">
                <a:xfrm>
                  <a:off x="1313" y="384"/>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1.0</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52" name="Rectangle 40">
                  <a:extLst>
                    <a:ext uri="{FF2B5EF4-FFF2-40B4-BE49-F238E27FC236}">
                      <a16:creationId xmlns:a16="http://schemas.microsoft.com/office/drawing/2014/main" id="{0705F9AA-1757-43C8-69A3-E3FD9BE85EA1}"/>
                    </a:ext>
                  </a:extLst>
                </p:cNvPr>
                <p:cNvSpPr>
                  <a:spLocks noChangeArrowheads="1"/>
                </p:cNvSpPr>
                <p:nvPr/>
              </p:nvSpPr>
              <p:spPr bwMode="auto">
                <a:xfrm>
                  <a:off x="1270" y="384"/>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6" name="Group 41">
                <a:extLst>
                  <a:ext uri="{FF2B5EF4-FFF2-40B4-BE49-F238E27FC236}">
                    <a16:creationId xmlns:a16="http://schemas.microsoft.com/office/drawing/2014/main" id="{E6015ECB-8832-442E-999E-C6EB0127B909}"/>
                  </a:ext>
                </a:extLst>
              </p:cNvPr>
              <p:cNvGrpSpPr>
                <a:grpSpLocks/>
              </p:cNvGrpSpPr>
              <p:nvPr/>
            </p:nvGrpSpPr>
            <p:grpSpPr bwMode="auto">
              <a:xfrm>
                <a:off x="1905" y="384"/>
                <a:ext cx="635" cy="384"/>
                <a:chOff x="1905" y="384"/>
                <a:chExt cx="635" cy="384"/>
              </a:xfrm>
            </p:grpSpPr>
            <p:sp>
              <p:nvSpPr>
                <p:cNvPr id="9249" name="Rectangle 42">
                  <a:extLst>
                    <a:ext uri="{FF2B5EF4-FFF2-40B4-BE49-F238E27FC236}">
                      <a16:creationId xmlns:a16="http://schemas.microsoft.com/office/drawing/2014/main" id="{32FAF4A5-9394-E169-0777-0765057A28ED}"/>
                    </a:ext>
                  </a:extLst>
                </p:cNvPr>
                <p:cNvSpPr>
                  <a:spLocks noChangeArrowheads="1"/>
                </p:cNvSpPr>
                <p:nvPr/>
              </p:nvSpPr>
              <p:spPr bwMode="auto">
                <a:xfrm>
                  <a:off x="1948" y="384"/>
                  <a:ext cx="5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1.21</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50" name="Rectangle 43">
                  <a:extLst>
                    <a:ext uri="{FF2B5EF4-FFF2-40B4-BE49-F238E27FC236}">
                      <a16:creationId xmlns:a16="http://schemas.microsoft.com/office/drawing/2014/main" id="{8CF2E866-0826-D52E-3038-AD1A602AE292}"/>
                    </a:ext>
                  </a:extLst>
                </p:cNvPr>
                <p:cNvSpPr>
                  <a:spLocks noChangeArrowheads="1"/>
                </p:cNvSpPr>
                <p:nvPr/>
              </p:nvSpPr>
              <p:spPr bwMode="auto">
                <a:xfrm>
                  <a:off x="1905" y="384"/>
                  <a:ext cx="6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7" name="Group 44">
                <a:extLst>
                  <a:ext uri="{FF2B5EF4-FFF2-40B4-BE49-F238E27FC236}">
                    <a16:creationId xmlns:a16="http://schemas.microsoft.com/office/drawing/2014/main" id="{1A3495A9-6EBD-5A36-9E33-73F1E6CC2B75}"/>
                  </a:ext>
                </a:extLst>
              </p:cNvPr>
              <p:cNvGrpSpPr>
                <a:grpSpLocks/>
              </p:cNvGrpSpPr>
              <p:nvPr/>
            </p:nvGrpSpPr>
            <p:grpSpPr bwMode="auto">
              <a:xfrm>
                <a:off x="2540" y="384"/>
                <a:ext cx="636" cy="384"/>
                <a:chOff x="2540" y="384"/>
                <a:chExt cx="636" cy="384"/>
              </a:xfrm>
            </p:grpSpPr>
            <p:sp>
              <p:nvSpPr>
                <p:cNvPr id="9247" name="Rectangle 45">
                  <a:extLst>
                    <a:ext uri="{FF2B5EF4-FFF2-40B4-BE49-F238E27FC236}">
                      <a16:creationId xmlns:a16="http://schemas.microsoft.com/office/drawing/2014/main" id="{75545A14-2D80-E94A-7F5A-F2705A22EEC2}"/>
                    </a:ext>
                  </a:extLst>
                </p:cNvPr>
                <p:cNvSpPr>
                  <a:spLocks noChangeArrowheads="1"/>
                </p:cNvSpPr>
                <p:nvPr/>
              </p:nvSpPr>
              <p:spPr bwMode="auto">
                <a:xfrm>
                  <a:off x="2583" y="384"/>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1.33</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48" name="Rectangle 46">
                  <a:extLst>
                    <a:ext uri="{FF2B5EF4-FFF2-40B4-BE49-F238E27FC236}">
                      <a16:creationId xmlns:a16="http://schemas.microsoft.com/office/drawing/2014/main" id="{DF78FB6E-53C2-C318-8F43-35E22836077F}"/>
                    </a:ext>
                  </a:extLst>
                </p:cNvPr>
                <p:cNvSpPr>
                  <a:spLocks noChangeArrowheads="1"/>
                </p:cNvSpPr>
                <p:nvPr/>
              </p:nvSpPr>
              <p:spPr bwMode="auto">
                <a:xfrm>
                  <a:off x="2540" y="384"/>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8" name="Group 47">
                <a:extLst>
                  <a:ext uri="{FF2B5EF4-FFF2-40B4-BE49-F238E27FC236}">
                    <a16:creationId xmlns:a16="http://schemas.microsoft.com/office/drawing/2014/main" id="{D83DFE1A-7C1E-9016-2814-9B2BA7F5B0E7}"/>
                  </a:ext>
                </a:extLst>
              </p:cNvPr>
              <p:cNvGrpSpPr>
                <a:grpSpLocks/>
              </p:cNvGrpSpPr>
              <p:nvPr/>
            </p:nvGrpSpPr>
            <p:grpSpPr bwMode="auto">
              <a:xfrm>
                <a:off x="3176" y="384"/>
                <a:ext cx="636" cy="384"/>
                <a:chOff x="3176" y="384"/>
                <a:chExt cx="636" cy="384"/>
              </a:xfrm>
            </p:grpSpPr>
            <p:sp>
              <p:nvSpPr>
                <p:cNvPr id="9245" name="Rectangle 48">
                  <a:extLst>
                    <a:ext uri="{FF2B5EF4-FFF2-40B4-BE49-F238E27FC236}">
                      <a16:creationId xmlns:a16="http://schemas.microsoft.com/office/drawing/2014/main" id="{DE629B4E-1062-2780-EB5D-CD7B4AAB8EE2}"/>
                    </a:ext>
                  </a:extLst>
                </p:cNvPr>
                <p:cNvSpPr>
                  <a:spLocks noChangeArrowheads="1"/>
                </p:cNvSpPr>
                <p:nvPr/>
              </p:nvSpPr>
              <p:spPr bwMode="auto">
                <a:xfrm>
                  <a:off x="3219" y="384"/>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1.40</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46" name="Rectangle 49">
                  <a:extLst>
                    <a:ext uri="{FF2B5EF4-FFF2-40B4-BE49-F238E27FC236}">
                      <a16:creationId xmlns:a16="http://schemas.microsoft.com/office/drawing/2014/main" id="{21612894-4810-7205-A81B-AE659D537073}"/>
                    </a:ext>
                  </a:extLst>
                </p:cNvPr>
                <p:cNvSpPr>
                  <a:spLocks noChangeArrowheads="1"/>
                </p:cNvSpPr>
                <p:nvPr/>
              </p:nvSpPr>
              <p:spPr bwMode="auto">
                <a:xfrm>
                  <a:off x="3176" y="384"/>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39" name="Group 50">
                <a:extLst>
                  <a:ext uri="{FF2B5EF4-FFF2-40B4-BE49-F238E27FC236}">
                    <a16:creationId xmlns:a16="http://schemas.microsoft.com/office/drawing/2014/main" id="{50460801-63E8-08B2-5F54-8A02E5D3053E}"/>
                  </a:ext>
                </a:extLst>
              </p:cNvPr>
              <p:cNvGrpSpPr>
                <a:grpSpLocks/>
              </p:cNvGrpSpPr>
              <p:nvPr/>
            </p:nvGrpSpPr>
            <p:grpSpPr bwMode="auto">
              <a:xfrm>
                <a:off x="3812" y="384"/>
                <a:ext cx="636" cy="384"/>
                <a:chOff x="3812" y="384"/>
                <a:chExt cx="636" cy="384"/>
              </a:xfrm>
            </p:grpSpPr>
            <p:sp>
              <p:nvSpPr>
                <p:cNvPr id="9243" name="Rectangle 51">
                  <a:extLst>
                    <a:ext uri="{FF2B5EF4-FFF2-40B4-BE49-F238E27FC236}">
                      <a16:creationId xmlns:a16="http://schemas.microsoft.com/office/drawing/2014/main" id="{E82DD34A-0CF6-5BCD-49D0-D40870A52EA0}"/>
                    </a:ext>
                  </a:extLst>
                </p:cNvPr>
                <p:cNvSpPr>
                  <a:spLocks noChangeArrowheads="1"/>
                </p:cNvSpPr>
                <p:nvPr/>
              </p:nvSpPr>
              <p:spPr bwMode="auto">
                <a:xfrm>
                  <a:off x="3855" y="384"/>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1.46</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44" name="Rectangle 52">
                  <a:extLst>
                    <a:ext uri="{FF2B5EF4-FFF2-40B4-BE49-F238E27FC236}">
                      <a16:creationId xmlns:a16="http://schemas.microsoft.com/office/drawing/2014/main" id="{4D07A318-E4E2-3584-5A3C-96D6646E5331}"/>
                    </a:ext>
                  </a:extLst>
                </p:cNvPr>
                <p:cNvSpPr>
                  <a:spLocks noChangeArrowheads="1"/>
                </p:cNvSpPr>
                <p:nvPr/>
              </p:nvSpPr>
              <p:spPr bwMode="auto">
                <a:xfrm>
                  <a:off x="3812" y="384"/>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nvGrpSpPr>
              <p:cNvPr id="9240" name="Group 53">
                <a:extLst>
                  <a:ext uri="{FF2B5EF4-FFF2-40B4-BE49-F238E27FC236}">
                    <a16:creationId xmlns:a16="http://schemas.microsoft.com/office/drawing/2014/main" id="{6E06FC8E-9196-11AC-0742-17FD318CAF6A}"/>
                  </a:ext>
                </a:extLst>
              </p:cNvPr>
              <p:cNvGrpSpPr>
                <a:grpSpLocks/>
              </p:cNvGrpSpPr>
              <p:nvPr/>
            </p:nvGrpSpPr>
            <p:grpSpPr bwMode="auto">
              <a:xfrm>
                <a:off x="4448" y="384"/>
                <a:ext cx="636" cy="384"/>
                <a:chOff x="4448" y="384"/>
                <a:chExt cx="636" cy="384"/>
              </a:xfrm>
            </p:grpSpPr>
            <p:sp>
              <p:nvSpPr>
                <p:cNvPr id="9241" name="Rectangle 54">
                  <a:extLst>
                    <a:ext uri="{FF2B5EF4-FFF2-40B4-BE49-F238E27FC236}">
                      <a16:creationId xmlns:a16="http://schemas.microsoft.com/office/drawing/2014/main" id="{56E740AF-9809-4514-8F03-230403B2A372}"/>
                    </a:ext>
                  </a:extLst>
                </p:cNvPr>
                <p:cNvSpPr>
                  <a:spLocks noChangeArrowheads="1"/>
                </p:cNvSpPr>
                <p:nvPr/>
              </p:nvSpPr>
              <p:spPr bwMode="auto">
                <a:xfrm>
                  <a:off x="4491" y="384"/>
                  <a:ext cx="55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spcBef>
                      <a:spcPct val="0"/>
                    </a:spcBef>
                    <a:buFontTx/>
                    <a:buNone/>
                  </a:pPr>
                  <a:r>
                    <a:rPr kumimoji="1" lang="en-US" altLang="zh-CN" sz="2400" b="0">
                      <a:latin typeface="Times New Roman" panose="02020603050405020304" pitchFamily="18" charset="0"/>
                      <a:ea typeface="宋体" panose="02010600030101010101" pitchFamily="2" charset="-122"/>
                    </a:rPr>
                    <a:t>1.51</a:t>
                  </a:r>
                </a:p>
                <a:p>
                  <a:pPr algn="just">
                    <a:lnSpc>
                      <a:spcPct val="100000"/>
                    </a:lnSpc>
                    <a:spcBef>
                      <a:spcPct val="0"/>
                    </a:spcBef>
                    <a:buFontTx/>
                    <a:buNone/>
                  </a:pPr>
                  <a:endParaRPr kumimoji="1" lang="en-US" altLang="zh-CN" sz="2400" b="0">
                    <a:latin typeface="Times New Roman" panose="02020603050405020304" pitchFamily="18" charset="0"/>
                    <a:ea typeface="宋体" panose="02010600030101010101" pitchFamily="2" charset="-122"/>
                  </a:endParaRPr>
                </a:p>
              </p:txBody>
            </p:sp>
            <p:sp>
              <p:nvSpPr>
                <p:cNvPr id="9242" name="Rectangle 55">
                  <a:extLst>
                    <a:ext uri="{FF2B5EF4-FFF2-40B4-BE49-F238E27FC236}">
                      <a16:creationId xmlns:a16="http://schemas.microsoft.com/office/drawing/2014/main" id="{ECDEE76D-036D-02FE-6930-57F61CA8894B}"/>
                    </a:ext>
                  </a:extLst>
                </p:cNvPr>
                <p:cNvSpPr>
                  <a:spLocks noChangeArrowheads="1"/>
                </p:cNvSpPr>
                <p:nvPr/>
              </p:nvSpPr>
              <p:spPr bwMode="auto">
                <a:xfrm>
                  <a:off x="4448" y="384"/>
                  <a:ext cx="63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grpSp>
        <p:sp>
          <p:nvSpPr>
            <p:cNvPr id="9224" name="Rectangle 56">
              <a:extLst>
                <a:ext uri="{FF2B5EF4-FFF2-40B4-BE49-F238E27FC236}">
                  <a16:creationId xmlns:a16="http://schemas.microsoft.com/office/drawing/2014/main" id="{AFF2140C-F975-D978-553C-9E4046FC0C8B}"/>
                </a:ext>
              </a:extLst>
            </p:cNvPr>
            <p:cNvSpPr>
              <a:spLocks noChangeArrowheads="1"/>
            </p:cNvSpPr>
            <p:nvPr/>
          </p:nvSpPr>
          <p:spPr bwMode="auto">
            <a:xfrm>
              <a:off x="-2" y="-2"/>
              <a:ext cx="5088" cy="772"/>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sp>
        <p:nvSpPr>
          <p:cNvPr id="203833" name="Text Box 57">
            <a:extLst>
              <a:ext uri="{FF2B5EF4-FFF2-40B4-BE49-F238E27FC236}">
                <a16:creationId xmlns:a16="http://schemas.microsoft.com/office/drawing/2014/main" id="{430F0E12-8DE6-D9B2-C47F-B589B568E1C3}"/>
              </a:ext>
            </a:extLst>
          </p:cNvPr>
          <p:cNvSpPr txBox="1">
            <a:spLocks noChangeArrowheads="1"/>
          </p:cNvSpPr>
          <p:nvPr/>
        </p:nvSpPr>
        <p:spPr bwMode="auto">
          <a:xfrm>
            <a:off x="517525" y="5081588"/>
            <a:ext cx="8321675"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Tx/>
              <a:buChar char="•"/>
            </a:pPr>
            <a:r>
              <a:rPr kumimoji="1" lang="zh-CN" altLang="en-US" b="0" dirty="0">
                <a:latin typeface="华文中宋" panose="02010600040101010101" pitchFamily="2" charset="-122"/>
                <a:ea typeface="华文中宋" panose="02010600040101010101" pitchFamily="2" charset="-122"/>
              </a:rPr>
              <a:t>开路特性虽然是在无载条件下获得的，但在负载条件下，获得磁路总磁势，就可以用开路特性求得定子绕组中的感应电动势。</a:t>
            </a:r>
            <a:r>
              <a:rPr kumimoji="1" lang="zh-CN" altLang="en-US" b="0" dirty="0">
                <a:latin typeface="Times New Roman" panose="02020603050405020304" pitchFamily="18" charset="0"/>
                <a:ea typeface="宋体" panose="02010600030101010101" pitchFamily="2" charset="-122"/>
              </a:rPr>
              <a:t> </a:t>
            </a:r>
            <a:r>
              <a:rPr kumimoji="1" lang="zh-CN" altLang="en-US" dirty="0">
                <a:solidFill>
                  <a:srgbClr val="FF0000"/>
                </a:solidFill>
                <a:latin typeface="Times New Roman" panose="02020603050405020304" pitchFamily="18" charset="0"/>
                <a:ea typeface="宋体" panose="02010600030101010101" pitchFamily="2" charset="-122"/>
              </a:rPr>
              <a:t>通过调磁稳定电网电压。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3833"/>
                                        </p:tgtEl>
                                        <p:attrNameLst>
                                          <p:attrName>style.visibility</p:attrName>
                                        </p:attrNameLst>
                                      </p:cBhvr>
                                      <p:to>
                                        <p:strVal val="visible"/>
                                      </p:to>
                                    </p:set>
                                    <p:animEffect transition="in" filter="blinds(horizontal)">
                                      <p:cBhvr>
                                        <p:cTn id="7" dur="500"/>
                                        <p:tgtEl>
                                          <p:spTgt spid="203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3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FD2D1EA-B13E-9BF8-DDF5-1F7B887EAF1D}"/>
              </a:ext>
            </a:extLst>
          </p:cNvPr>
          <p:cNvSpPr>
            <a:spLocks noGrp="1"/>
          </p:cNvSpPr>
          <p:nvPr>
            <p:ph type="sldNum" sz="quarter" idx="12"/>
          </p:nvPr>
        </p:nvSpPr>
        <p:spPr/>
        <p:txBody>
          <a:bodyPr/>
          <a:lstStyle/>
          <a:p>
            <a:pPr>
              <a:defRPr/>
            </a:pPr>
            <a:fld id="{21AE3B3E-C79D-4B3D-8B9C-D0201EEEDBA6}" type="slidenum">
              <a:rPr lang="en-US" altLang="zh-CN"/>
              <a:pPr>
                <a:defRPr/>
              </a:pPr>
              <a:t>24</a:t>
            </a:fld>
            <a:endParaRPr lang="en-US" altLang="zh-CN"/>
          </a:p>
        </p:txBody>
      </p:sp>
      <p:sp>
        <p:nvSpPr>
          <p:cNvPr id="10243" name="Rectangle 2">
            <a:extLst>
              <a:ext uri="{FF2B5EF4-FFF2-40B4-BE49-F238E27FC236}">
                <a16:creationId xmlns:a16="http://schemas.microsoft.com/office/drawing/2014/main" id="{042DFCA1-ABD9-B2F6-4B20-1235A95B7E1F}"/>
              </a:ext>
            </a:extLst>
          </p:cNvPr>
          <p:cNvSpPr>
            <a:spLocks noGrp="1" noChangeArrowheads="1"/>
          </p:cNvSpPr>
          <p:nvPr>
            <p:ph type="title"/>
          </p:nvPr>
        </p:nvSpPr>
        <p:spPr>
          <a:xfrm>
            <a:off x="806330" y="1023540"/>
            <a:ext cx="7696200" cy="838200"/>
          </a:xfrm>
        </p:spPr>
        <p:txBody>
          <a:bodyPr/>
          <a:lstStyle/>
          <a:p>
            <a:pPr eaLnBrk="1" hangingPunct="1"/>
            <a:r>
              <a:rPr lang="en-US" altLang="zh-CN" sz="3600" dirty="0">
                <a:ea typeface="华文中宋" panose="02010600040101010101" pitchFamily="2" charset="-122"/>
              </a:rPr>
              <a:t>7.3  </a:t>
            </a:r>
            <a:r>
              <a:rPr lang="zh-CN" altLang="en-US" sz="3600" dirty="0">
                <a:ea typeface="华文中宋" panose="02010600040101010101" pitchFamily="2" charset="-122"/>
              </a:rPr>
              <a:t>同步发电机的等值电路</a:t>
            </a:r>
          </a:p>
        </p:txBody>
      </p:sp>
      <p:sp>
        <p:nvSpPr>
          <p:cNvPr id="10244" name="Rectangle 4">
            <a:extLst>
              <a:ext uri="{FF2B5EF4-FFF2-40B4-BE49-F238E27FC236}">
                <a16:creationId xmlns:a16="http://schemas.microsoft.com/office/drawing/2014/main" id="{E961EAC7-2234-DC26-77E3-F9D5601C5D49}"/>
              </a:ext>
            </a:extLst>
          </p:cNvPr>
          <p:cNvSpPr>
            <a:spLocks noChangeArrowheads="1"/>
          </p:cNvSpPr>
          <p:nvPr/>
        </p:nvSpPr>
        <p:spPr bwMode="auto">
          <a:xfrm>
            <a:off x="1812805" y="890190"/>
            <a:ext cx="590391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117600" indent="-1117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1117600" indent="-1117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17600" indent="-1117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117600" indent="-1117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1117600" indent="-1117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1574800" indent="-1117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032000" indent="-1117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2489200" indent="-1117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2946400" indent="-1117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endParaRPr kumimoji="1" lang="zh-CN" altLang="zh-CN" sz="3600" b="0">
              <a:solidFill>
                <a:schemeClr val="tx2"/>
              </a:solidFill>
              <a:latin typeface="Times New Roman" panose="02020603050405020304" pitchFamily="18" charset="0"/>
              <a:ea typeface="华文中宋" panose="02010600040101010101" pitchFamily="2" charset="-122"/>
            </a:endParaRPr>
          </a:p>
        </p:txBody>
      </p:sp>
      <p:sp>
        <p:nvSpPr>
          <p:cNvPr id="10245" name="Rectangle 5">
            <a:extLst>
              <a:ext uri="{FF2B5EF4-FFF2-40B4-BE49-F238E27FC236}">
                <a16:creationId xmlns:a16="http://schemas.microsoft.com/office/drawing/2014/main" id="{D0CA26D5-C4A5-44D1-BE07-F4ED2E54221D}"/>
              </a:ext>
            </a:extLst>
          </p:cNvPr>
          <p:cNvSpPr>
            <a:spLocks noGrp="1" noChangeArrowheads="1"/>
          </p:cNvSpPr>
          <p:nvPr>
            <p:ph type="body" idx="1"/>
          </p:nvPr>
        </p:nvSpPr>
        <p:spPr>
          <a:xfrm>
            <a:off x="806330" y="1785540"/>
            <a:ext cx="7772400" cy="914400"/>
          </a:xfrm>
          <a:noFill/>
        </p:spPr>
        <p:txBody>
          <a:bodyPr/>
          <a:lstStyle/>
          <a:p>
            <a:pPr algn="just" eaLnBrk="1" hangingPunct="1">
              <a:buFont typeface="Wingdings" panose="05000000000000000000" pitchFamily="2" charset="2"/>
              <a:buChar char="Ø"/>
            </a:pPr>
            <a:r>
              <a:rPr lang="en-US" altLang="zh-CN"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E</a:t>
            </a:r>
            <a:r>
              <a:rPr lang="en-US" altLang="zh-CN" sz="2400" baseline="-30000" dirty="0" err="1">
                <a:latin typeface="华文中宋" panose="02010600040101010101" pitchFamily="2" charset="-122"/>
                <a:ea typeface="华文中宋" panose="02010600040101010101" pitchFamily="2" charset="-122"/>
              </a:rPr>
              <a:t>a</a:t>
            </a:r>
            <a:r>
              <a:rPr lang="zh-CN" altLang="en-US" sz="2400" dirty="0">
                <a:latin typeface="华文中宋" panose="02010600040101010101" pitchFamily="2" charset="-122"/>
                <a:ea typeface="华文中宋" panose="02010600040101010101" pitchFamily="2" charset="-122"/>
              </a:rPr>
              <a:t>仅当没有电枢电流（定子电流）时它才和发电机每相输出电压相等。实际需要</a:t>
            </a:r>
            <a:r>
              <a:rPr lang="zh-CN" altLang="en-US" sz="2400" dirty="0">
                <a:solidFill>
                  <a:srgbClr val="FF0000"/>
                </a:solidFill>
                <a:latin typeface="华文中宋" panose="02010600040101010101" pitchFamily="2" charset="-122"/>
                <a:ea typeface="华文中宋" panose="02010600040101010101" pitchFamily="2" charset="-122"/>
              </a:rPr>
              <a:t>考虑影响因素</a:t>
            </a:r>
            <a:r>
              <a:rPr lang="zh-CN" altLang="en-US" sz="2400" dirty="0">
                <a:latin typeface="华文中宋" panose="02010600040101010101" pitchFamily="2" charset="-122"/>
                <a:ea typeface="华文中宋" panose="02010600040101010101" pitchFamily="2" charset="-122"/>
              </a:rPr>
              <a:t>为</a:t>
            </a:r>
          </a:p>
          <a:p>
            <a:pPr eaLnBrk="1" hangingPunct="1"/>
            <a:endParaRPr lang="en-US" altLang="zh-CN" sz="2400" dirty="0">
              <a:latin typeface="华文中宋" panose="02010600040101010101" pitchFamily="2" charset="-122"/>
              <a:ea typeface="华文中宋" panose="02010600040101010101" pitchFamily="2" charset="-122"/>
            </a:endParaRPr>
          </a:p>
        </p:txBody>
      </p:sp>
      <p:sp>
        <p:nvSpPr>
          <p:cNvPr id="10246" name="Text Box 6">
            <a:extLst>
              <a:ext uri="{FF2B5EF4-FFF2-40B4-BE49-F238E27FC236}">
                <a16:creationId xmlns:a16="http://schemas.microsoft.com/office/drawing/2014/main" id="{18F5155D-246A-BBD7-D6C5-73F769609267}"/>
              </a:ext>
            </a:extLst>
          </p:cNvPr>
          <p:cNvSpPr txBox="1">
            <a:spLocks noChangeArrowheads="1"/>
          </p:cNvSpPr>
          <p:nvPr/>
        </p:nvSpPr>
        <p:spPr bwMode="auto">
          <a:xfrm>
            <a:off x="1111130" y="2776140"/>
            <a:ext cx="6781800"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9144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3716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8288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2860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7432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32004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6576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41148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AutoNum type="arabicParenR"/>
            </a:pPr>
            <a:r>
              <a:rPr kumimoji="1" lang="zh-CN" altLang="en-US" sz="2400" b="0" dirty="0">
                <a:latin typeface="华文中宋" panose="02010600040101010101" pitchFamily="2" charset="-122"/>
                <a:ea typeface="华文中宋" panose="02010600040101010101" pitchFamily="2" charset="-122"/>
              </a:rPr>
              <a:t>电枢电流产生</a:t>
            </a:r>
            <a:r>
              <a:rPr kumimoji="1" lang="zh-CN" altLang="en-US" sz="2400" b="0" dirty="0">
                <a:solidFill>
                  <a:srgbClr val="FF0000"/>
                </a:solidFill>
                <a:latin typeface="华文中宋" panose="02010600040101010101" pitchFamily="2" charset="-122"/>
                <a:ea typeface="华文中宋" panose="02010600040101010101" pitchFamily="2" charset="-122"/>
              </a:rPr>
              <a:t>电枢反应</a:t>
            </a:r>
            <a:r>
              <a:rPr kumimoji="1" lang="zh-CN" altLang="en-US" sz="2400" b="0" dirty="0">
                <a:latin typeface="华文中宋" panose="02010600040101010101" pitchFamily="2" charset="-122"/>
                <a:ea typeface="华文中宋" panose="02010600040101010101" pitchFamily="2" charset="-122"/>
              </a:rPr>
              <a:t>使气隙磁场畸变；</a:t>
            </a:r>
          </a:p>
          <a:p>
            <a:pPr eaLnBrk="1" hangingPunct="1">
              <a:buFont typeface="Wingdings" panose="05000000000000000000" pitchFamily="2" charset="2"/>
              <a:buAutoNum type="arabicParenR" startAt="2"/>
            </a:pPr>
            <a:r>
              <a:rPr kumimoji="1" lang="zh-CN" altLang="en-US" sz="2400" b="0" dirty="0">
                <a:latin typeface="华文中宋" panose="02010600040101010101" pitchFamily="2" charset="-122"/>
                <a:ea typeface="华文中宋" panose="02010600040101010101" pitchFamily="2" charset="-122"/>
              </a:rPr>
              <a:t>电枢绕组</a:t>
            </a:r>
            <a:r>
              <a:rPr kumimoji="1" lang="zh-CN" altLang="en-US" sz="2400" b="0" dirty="0">
                <a:solidFill>
                  <a:srgbClr val="FF0000"/>
                </a:solidFill>
                <a:latin typeface="华文中宋" panose="02010600040101010101" pitchFamily="2" charset="-122"/>
                <a:ea typeface="华文中宋" panose="02010600040101010101" pitchFamily="2" charset="-122"/>
              </a:rPr>
              <a:t>自感</a:t>
            </a:r>
            <a:r>
              <a:rPr kumimoji="1" lang="zh-CN" altLang="en-US" sz="2400" b="0" dirty="0">
                <a:latin typeface="华文中宋" panose="02010600040101010101" pitchFamily="2" charset="-122"/>
                <a:ea typeface="华文中宋" panose="02010600040101010101" pitchFamily="2" charset="-122"/>
              </a:rPr>
              <a:t>压降；</a:t>
            </a:r>
          </a:p>
          <a:p>
            <a:pPr eaLnBrk="1" hangingPunct="1">
              <a:buFont typeface="Wingdings" panose="05000000000000000000" pitchFamily="2" charset="2"/>
              <a:buAutoNum type="arabicParenR" startAt="3"/>
            </a:pPr>
            <a:r>
              <a:rPr kumimoji="1" lang="zh-CN" altLang="en-US" sz="2400" b="0" dirty="0">
                <a:latin typeface="华文中宋" panose="02010600040101010101" pitchFamily="2" charset="-122"/>
                <a:ea typeface="华文中宋" panose="02010600040101010101" pitchFamily="2" charset="-122"/>
              </a:rPr>
              <a:t>电枢绕组</a:t>
            </a:r>
            <a:r>
              <a:rPr kumimoji="1" lang="zh-CN" altLang="en-US" sz="2400" b="0" dirty="0">
                <a:solidFill>
                  <a:srgbClr val="FF0000"/>
                </a:solidFill>
                <a:latin typeface="华文中宋" panose="02010600040101010101" pitchFamily="2" charset="-122"/>
                <a:ea typeface="华文中宋" panose="02010600040101010101" pitchFamily="2" charset="-122"/>
              </a:rPr>
              <a:t>电阻</a:t>
            </a:r>
            <a:r>
              <a:rPr kumimoji="1" lang="zh-CN" altLang="en-US" sz="2400" b="0" dirty="0">
                <a:latin typeface="华文中宋" panose="02010600040101010101" pitchFamily="2" charset="-122"/>
                <a:ea typeface="华文中宋" panose="02010600040101010101" pitchFamily="2" charset="-122"/>
              </a:rPr>
              <a:t>压降；</a:t>
            </a:r>
          </a:p>
          <a:p>
            <a:pPr eaLnBrk="1" hangingPunct="1">
              <a:buFont typeface="Wingdings" panose="05000000000000000000" pitchFamily="2" charset="2"/>
              <a:buAutoNum type="arabicParenR" startAt="4"/>
            </a:pPr>
            <a:r>
              <a:rPr kumimoji="1" lang="zh-CN" altLang="en-US" sz="2400" b="0" dirty="0">
                <a:latin typeface="华文中宋" panose="02010600040101010101" pitchFamily="2" charset="-122"/>
                <a:ea typeface="华文中宋" panose="02010600040101010101" pitchFamily="2" charset="-122"/>
              </a:rPr>
              <a:t>转子</a:t>
            </a:r>
            <a:r>
              <a:rPr kumimoji="1" lang="zh-CN" altLang="en-US" sz="2400" b="0" dirty="0">
                <a:solidFill>
                  <a:srgbClr val="FF0000"/>
                </a:solidFill>
                <a:latin typeface="华文中宋" panose="02010600040101010101" pitchFamily="2" charset="-122"/>
                <a:ea typeface="华文中宋" panose="02010600040101010101" pitchFamily="2" charset="-122"/>
              </a:rPr>
              <a:t>凸极效应</a:t>
            </a:r>
            <a:r>
              <a:rPr kumimoji="1" lang="zh-CN" altLang="en-US" sz="2400" b="0" dirty="0">
                <a:latin typeface="华文中宋" panose="02010600040101010101" pitchFamily="2" charset="-122"/>
                <a:ea typeface="华文中宋" panose="02010600040101010101" pitchFamily="2" charset="-122"/>
              </a:rPr>
              <a:t>。 </a:t>
            </a:r>
          </a:p>
        </p:txBody>
      </p:sp>
      <p:sp>
        <p:nvSpPr>
          <p:cNvPr id="204807" name="Text Box 7">
            <a:extLst>
              <a:ext uri="{FF2B5EF4-FFF2-40B4-BE49-F238E27FC236}">
                <a16:creationId xmlns:a16="http://schemas.microsoft.com/office/drawing/2014/main" id="{1D5971B0-5270-499C-7106-295DB59BB6FA}"/>
              </a:ext>
            </a:extLst>
          </p:cNvPr>
          <p:cNvSpPr txBox="1">
            <a:spLocks noChangeArrowheads="1"/>
          </p:cNvSpPr>
          <p:nvPr/>
        </p:nvSpPr>
        <p:spPr bwMode="auto">
          <a:xfrm>
            <a:off x="866655" y="4581128"/>
            <a:ext cx="778827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华文中宋" panose="02010600040101010101" pitchFamily="2" charset="-122"/>
                <a:ea typeface="华文中宋" panose="02010600040101010101" pitchFamily="2" charset="-122"/>
              </a:rPr>
              <a:t>其中</a:t>
            </a:r>
            <a:r>
              <a:rPr kumimoji="1" lang="zh-CN" altLang="en-US" sz="2400" b="0" dirty="0">
                <a:solidFill>
                  <a:schemeClr val="accent2"/>
                </a:solidFill>
                <a:latin typeface="华文中宋" panose="02010600040101010101" pitchFamily="2" charset="-122"/>
                <a:ea typeface="华文中宋" panose="02010600040101010101" pitchFamily="2" charset="-122"/>
              </a:rPr>
              <a:t>电枢反应的影响最大</a:t>
            </a:r>
            <a:r>
              <a:rPr kumimoji="1" lang="zh-CN" altLang="en-US" sz="2400" b="0" dirty="0">
                <a:latin typeface="华文中宋" panose="02010600040101010101" pitchFamily="2" charset="-122"/>
                <a:ea typeface="华文中宋" panose="02010600040101010101" pitchFamily="2" charset="-122"/>
              </a:rPr>
              <a:t>。当发电机工作时，电枢绕组感生电压。如果发电机带有负载，将形成绕组电流。三相定子电流将产生自己的同步旋转磁场，使原有的气隙磁场发生畸变，进而影响定子最终输出电压。</a:t>
            </a:r>
            <a:r>
              <a:rPr kumimoji="1" lang="zh-CN" altLang="en-US" sz="2400" b="0" dirty="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04807"/>
                                        </p:tgtEl>
                                        <p:attrNameLst>
                                          <p:attrName>style.visibility</p:attrName>
                                        </p:attrNameLst>
                                      </p:cBhvr>
                                      <p:to>
                                        <p:strVal val="visible"/>
                                      </p:to>
                                    </p:set>
                                    <p:anim calcmode="lin" valueType="num">
                                      <p:cBhvr>
                                        <p:cTn id="7" dur="500" fill="hold"/>
                                        <p:tgtEl>
                                          <p:spTgt spid="204807"/>
                                        </p:tgtEl>
                                        <p:attrNameLst>
                                          <p:attrName>ppt_w</p:attrName>
                                        </p:attrNameLst>
                                      </p:cBhvr>
                                      <p:tavLst>
                                        <p:tav tm="0">
                                          <p:val>
                                            <p:fltVal val="0"/>
                                          </p:val>
                                        </p:tav>
                                        <p:tav tm="100000">
                                          <p:val>
                                            <p:strVal val="#ppt_w"/>
                                          </p:val>
                                        </p:tav>
                                      </p:tavLst>
                                    </p:anim>
                                    <p:anim calcmode="lin" valueType="num">
                                      <p:cBhvr>
                                        <p:cTn id="8" dur="500" fill="hold"/>
                                        <p:tgtEl>
                                          <p:spTgt spid="2048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a:extLst>
              <a:ext uri="{FF2B5EF4-FFF2-40B4-BE49-F238E27FC236}">
                <a16:creationId xmlns:a16="http://schemas.microsoft.com/office/drawing/2014/main" id="{F4381596-519E-9B7F-CD1E-0C62E7E807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9930" y="1738983"/>
            <a:ext cx="4562475"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5">
            <a:extLst>
              <a:ext uri="{FF2B5EF4-FFF2-40B4-BE49-F238E27FC236}">
                <a16:creationId xmlns:a16="http://schemas.microsoft.com/office/drawing/2014/main" id="{F2761B5E-BE89-BB11-F2A5-539AAD9EAC16}"/>
              </a:ext>
            </a:extLst>
          </p:cNvPr>
          <p:cNvSpPr>
            <a:spLocks noGrp="1"/>
          </p:cNvSpPr>
          <p:nvPr>
            <p:ph type="sldNum" sz="quarter" idx="12"/>
          </p:nvPr>
        </p:nvSpPr>
        <p:spPr>
          <a:xfrm>
            <a:off x="6615367" y="6381750"/>
            <a:ext cx="2133600" cy="476250"/>
          </a:xfrm>
        </p:spPr>
        <p:txBody>
          <a:bodyPr/>
          <a:lstStyle/>
          <a:p>
            <a:pPr>
              <a:defRPr/>
            </a:pPr>
            <a:fld id="{D82F76C2-025C-439A-B21F-837FF16B0F17}" type="slidenum">
              <a:rPr lang="en-US" altLang="zh-CN"/>
              <a:pPr>
                <a:defRPr/>
              </a:pPr>
              <a:t>25</a:t>
            </a:fld>
            <a:endParaRPr lang="en-US" altLang="zh-CN"/>
          </a:p>
        </p:txBody>
      </p:sp>
      <p:sp>
        <p:nvSpPr>
          <p:cNvPr id="11268" name="Rectangle 2">
            <a:extLst>
              <a:ext uri="{FF2B5EF4-FFF2-40B4-BE49-F238E27FC236}">
                <a16:creationId xmlns:a16="http://schemas.microsoft.com/office/drawing/2014/main" id="{0D1B5120-D2EF-8A0C-F51F-468E0D1DF705}"/>
              </a:ext>
            </a:extLst>
          </p:cNvPr>
          <p:cNvSpPr>
            <a:spLocks noGrp="1" noChangeArrowheads="1"/>
          </p:cNvSpPr>
          <p:nvPr>
            <p:ph type="title"/>
          </p:nvPr>
        </p:nvSpPr>
        <p:spPr>
          <a:xfrm>
            <a:off x="290767" y="908720"/>
            <a:ext cx="8305800" cy="838200"/>
          </a:xfrm>
        </p:spPr>
        <p:txBody>
          <a:bodyPr/>
          <a:lstStyle/>
          <a:p>
            <a:pPr eaLnBrk="1" hangingPunct="1"/>
            <a:r>
              <a:rPr lang="zh-CN" altLang="en-US" sz="3600">
                <a:ea typeface="华文中宋" panose="02010600040101010101" pitchFamily="2" charset="-122"/>
              </a:rPr>
              <a:t>一、同步发电机负载时的电枢反应影响</a:t>
            </a:r>
          </a:p>
        </p:txBody>
      </p:sp>
      <p:sp>
        <p:nvSpPr>
          <p:cNvPr id="205831" name="AutoShape 7">
            <a:extLst>
              <a:ext uri="{FF2B5EF4-FFF2-40B4-BE49-F238E27FC236}">
                <a16:creationId xmlns:a16="http://schemas.microsoft.com/office/drawing/2014/main" id="{76931EF5-9918-F39A-5954-97A50E4EC84C}"/>
              </a:ext>
            </a:extLst>
          </p:cNvPr>
          <p:cNvSpPr>
            <a:spLocks noChangeArrowheads="1"/>
          </p:cNvSpPr>
          <p:nvPr/>
        </p:nvSpPr>
        <p:spPr bwMode="auto">
          <a:xfrm>
            <a:off x="6691567" y="1746920"/>
            <a:ext cx="2438400" cy="838200"/>
          </a:xfrm>
          <a:prstGeom prst="wedgeRoundRectCallout">
            <a:avLst>
              <a:gd name="adj1" fmla="val -143319"/>
              <a:gd name="adj2" fmla="val -5060"/>
              <a:gd name="adj3" fmla="val 16667"/>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dirty="0">
                <a:latin typeface="Times New Roman" panose="02020603050405020304" pitchFamily="18" charset="0"/>
                <a:ea typeface="宋体" panose="02010600030101010101" pitchFamily="2" charset="-122"/>
              </a:rPr>
              <a:t>滞后负载电流，相位取决于负载</a:t>
            </a:r>
          </a:p>
        </p:txBody>
      </p:sp>
      <p:sp>
        <p:nvSpPr>
          <p:cNvPr id="205832" name="AutoShape 8">
            <a:extLst>
              <a:ext uri="{FF2B5EF4-FFF2-40B4-BE49-F238E27FC236}">
                <a16:creationId xmlns:a16="http://schemas.microsoft.com/office/drawing/2014/main" id="{8754B4B1-4A42-4DEA-119B-11EB568C8C73}"/>
              </a:ext>
            </a:extLst>
          </p:cNvPr>
          <p:cNvSpPr>
            <a:spLocks noChangeArrowheads="1"/>
          </p:cNvSpPr>
          <p:nvPr/>
        </p:nvSpPr>
        <p:spPr bwMode="auto">
          <a:xfrm>
            <a:off x="6462967" y="2737520"/>
            <a:ext cx="2667000" cy="1066800"/>
          </a:xfrm>
          <a:prstGeom prst="wedgeRoundRectCallout">
            <a:avLst>
              <a:gd name="adj1" fmla="val -169167"/>
              <a:gd name="adj2" fmla="val 115921"/>
              <a:gd name="adj3" fmla="val 16667"/>
            </a:avLst>
          </a:prstGeom>
          <a:solidFill>
            <a:srgbClr val="00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a:latin typeface="Times New Roman" panose="02020603050405020304" pitchFamily="18" charset="0"/>
                <a:ea typeface="宋体" panose="02010600030101010101" pitchFamily="2" charset="-122"/>
              </a:rPr>
              <a:t>三相负载电流在气隙中产生的同步旋转磁密</a:t>
            </a:r>
          </a:p>
        </p:txBody>
      </p:sp>
      <p:sp>
        <p:nvSpPr>
          <p:cNvPr id="11271" name="AutoShape 9">
            <a:extLst>
              <a:ext uri="{FF2B5EF4-FFF2-40B4-BE49-F238E27FC236}">
                <a16:creationId xmlns:a16="http://schemas.microsoft.com/office/drawing/2014/main" id="{92FA540C-2BFE-1EF1-F14F-7D823BCE698A}"/>
              </a:ext>
            </a:extLst>
          </p:cNvPr>
          <p:cNvSpPr>
            <a:spLocks noChangeArrowheads="1"/>
          </p:cNvSpPr>
          <p:nvPr/>
        </p:nvSpPr>
        <p:spPr bwMode="auto">
          <a:xfrm>
            <a:off x="6767767" y="4185320"/>
            <a:ext cx="914400" cy="609600"/>
          </a:xfrm>
          <a:prstGeom prst="wedgeRoundRectCallout">
            <a:avLst>
              <a:gd name="adj1" fmla="val -43750"/>
              <a:gd name="adj2" fmla="val 70000"/>
              <a:gd name="adj3"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endParaRPr kumimoji="1" lang="zh-CN" altLang="zh-CN" sz="2400" b="0">
              <a:latin typeface="Times New Roman" panose="02020603050405020304" pitchFamily="18" charset="0"/>
              <a:ea typeface="宋体" panose="02010600030101010101" pitchFamily="2" charset="-122"/>
            </a:endParaRPr>
          </a:p>
        </p:txBody>
      </p:sp>
      <p:sp>
        <p:nvSpPr>
          <p:cNvPr id="205834" name="AutoShape 10">
            <a:extLst>
              <a:ext uri="{FF2B5EF4-FFF2-40B4-BE49-F238E27FC236}">
                <a16:creationId xmlns:a16="http://schemas.microsoft.com/office/drawing/2014/main" id="{04EA8366-D257-20A8-EA6A-B6963BD694F8}"/>
              </a:ext>
            </a:extLst>
          </p:cNvPr>
          <p:cNvSpPr>
            <a:spLocks noChangeArrowheads="1"/>
          </p:cNvSpPr>
          <p:nvPr/>
        </p:nvSpPr>
        <p:spPr bwMode="auto">
          <a:xfrm>
            <a:off x="6615367" y="4261520"/>
            <a:ext cx="2209800" cy="1066800"/>
          </a:xfrm>
          <a:prstGeom prst="wedgeRoundRectCallout">
            <a:avLst>
              <a:gd name="adj1" fmla="val -111995"/>
              <a:gd name="adj2" fmla="val 65181"/>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dirty="0">
                <a:latin typeface="Times New Roman" panose="02020603050405020304" pitchFamily="18" charset="0"/>
                <a:ea typeface="宋体" panose="02010600030101010101" pitchFamily="2" charset="-122"/>
              </a:rPr>
              <a:t>在定子绕组中感生电枢反应电势</a:t>
            </a:r>
          </a:p>
        </p:txBody>
      </p:sp>
      <p:sp>
        <p:nvSpPr>
          <p:cNvPr id="9" name="AutoShape 10">
            <a:extLst>
              <a:ext uri="{FF2B5EF4-FFF2-40B4-BE49-F238E27FC236}">
                <a16:creationId xmlns:a16="http://schemas.microsoft.com/office/drawing/2014/main" id="{04EA8366-D257-20A8-EA6A-B6963BD694F8}"/>
              </a:ext>
            </a:extLst>
          </p:cNvPr>
          <p:cNvSpPr>
            <a:spLocks noChangeArrowheads="1"/>
          </p:cNvSpPr>
          <p:nvPr/>
        </p:nvSpPr>
        <p:spPr bwMode="auto">
          <a:xfrm>
            <a:off x="6300192" y="5502246"/>
            <a:ext cx="2209800" cy="1066800"/>
          </a:xfrm>
          <a:prstGeom prst="wedgeRoundRectCallout">
            <a:avLst>
              <a:gd name="adj1" fmla="val -111995"/>
              <a:gd name="adj2" fmla="val 65181"/>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dirty="0">
                <a:latin typeface="Times New Roman" panose="02020603050405020304" pitchFamily="18" charset="0"/>
                <a:ea typeface="宋体" panose="02010600030101010101" pitchFamily="2" charset="-122"/>
              </a:rPr>
              <a:t>电磁变量均会受到影响，但是总能平衡</a:t>
            </a:r>
          </a:p>
        </p:txBody>
      </p:sp>
      <p:sp>
        <p:nvSpPr>
          <p:cNvPr id="10" name="AutoShape 10">
            <a:extLst>
              <a:ext uri="{FF2B5EF4-FFF2-40B4-BE49-F238E27FC236}">
                <a16:creationId xmlns:a16="http://schemas.microsoft.com/office/drawing/2014/main" id="{04EA8366-D257-20A8-EA6A-B6963BD694F8}"/>
              </a:ext>
            </a:extLst>
          </p:cNvPr>
          <p:cNvSpPr>
            <a:spLocks noChangeArrowheads="1"/>
          </p:cNvSpPr>
          <p:nvPr/>
        </p:nvSpPr>
        <p:spPr bwMode="auto">
          <a:xfrm flipH="1">
            <a:off x="2922" y="2206582"/>
            <a:ext cx="1728192" cy="790370"/>
          </a:xfrm>
          <a:prstGeom prst="wedgeRoundRectCallout">
            <a:avLst>
              <a:gd name="adj1" fmla="val -111995"/>
              <a:gd name="adj2" fmla="val 65181"/>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dirty="0">
                <a:latin typeface="Times New Roman" panose="02020603050405020304" pitchFamily="18" charset="0"/>
                <a:ea typeface="宋体" panose="02010600030101010101" pitchFamily="2" charset="-122"/>
              </a:rPr>
              <a:t>相矢图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31"/>
                                        </p:tgtEl>
                                        <p:attrNameLst>
                                          <p:attrName>style.visibility</p:attrName>
                                        </p:attrNameLst>
                                      </p:cBhvr>
                                      <p:to>
                                        <p:strVal val="visible"/>
                                      </p:to>
                                    </p:set>
                                    <p:animEffect transition="in" filter="blinds(horizontal)">
                                      <p:cBhvr>
                                        <p:cTn id="7" dur="500"/>
                                        <p:tgtEl>
                                          <p:spTgt spid="2058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05832"/>
                                        </p:tgtEl>
                                        <p:attrNameLst>
                                          <p:attrName>style.visibility</p:attrName>
                                        </p:attrNameLst>
                                      </p:cBhvr>
                                      <p:to>
                                        <p:strVal val="visible"/>
                                      </p:to>
                                    </p:set>
                                    <p:animEffect transition="in" filter="barn(outHorizontal)">
                                      <p:cBhvr>
                                        <p:cTn id="12" dur="500"/>
                                        <p:tgtEl>
                                          <p:spTgt spid="2058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205834"/>
                                        </p:tgtEl>
                                        <p:attrNameLst>
                                          <p:attrName>style.visibility</p:attrName>
                                        </p:attrNameLst>
                                      </p:cBhvr>
                                      <p:to>
                                        <p:strVal val="visible"/>
                                      </p:to>
                                    </p:set>
                                    <p:anim calcmode="lin" valueType="num">
                                      <p:cBhvr>
                                        <p:cTn id="17" dur="500" fill="hold"/>
                                        <p:tgtEl>
                                          <p:spTgt spid="205834"/>
                                        </p:tgtEl>
                                        <p:attrNameLst>
                                          <p:attrName>ppt_w</p:attrName>
                                        </p:attrNameLst>
                                      </p:cBhvr>
                                      <p:tavLst>
                                        <p:tav tm="0">
                                          <p:val>
                                            <p:fltVal val="0"/>
                                          </p:val>
                                        </p:tav>
                                        <p:tav tm="100000">
                                          <p:val>
                                            <p:strVal val="#ppt_w"/>
                                          </p:val>
                                        </p:tav>
                                      </p:tavLst>
                                    </p:anim>
                                    <p:anim calcmode="lin" valueType="num">
                                      <p:cBhvr>
                                        <p:cTn id="18" dur="500" fill="hold"/>
                                        <p:tgtEl>
                                          <p:spTgt spid="205834"/>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1" grpId="0" animBg="1" autoUpdateAnimBg="0"/>
      <p:bldP spid="205832" grpId="0" animBg="1" autoUpdateAnimBg="0"/>
      <p:bldP spid="205834" grpId="0" animBg="1" autoUpdateAnimBg="0"/>
      <p:bldP spid="9" grpId="0" animBg="1" autoUpdateAnimBg="0"/>
      <p:bldP spid="10"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84DF46D1-B870-D365-10CC-B8D3A5AA19DC}"/>
              </a:ext>
            </a:extLst>
          </p:cNvPr>
          <p:cNvSpPr>
            <a:spLocks noGrp="1"/>
          </p:cNvSpPr>
          <p:nvPr>
            <p:ph type="sldNum" sz="quarter" idx="12"/>
          </p:nvPr>
        </p:nvSpPr>
        <p:spPr/>
        <p:txBody>
          <a:bodyPr/>
          <a:lstStyle/>
          <a:p>
            <a:pPr>
              <a:defRPr/>
            </a:pPr>
            <a:fld id="{BFAB7B10-1AB6-43E7-9DF9-0F479B03F8B5}" type="slidenum">
              <a:rPr lang="en-US" altLang="zh-CN"/>
              <a:pPr>
                <a:defRPr/>
              </a:pPr>
              <a:t>26</a:t>
            </a:fld>
            <a:endParaRPr lang="en-US" altLang="zh-CN"/>
          </a:p>
        </p:txBody>
      </p:sp>
      <p:sp>
        <p:nvSpPr>
          <p:cNvPr id="12291" name="Rectangle 2">
            <a:extLst>
              <a:ext uri="{FF2B5EF4-FFF2-40B4-BE49-F238E27FC236}">
                <a16:creationId xmlns:a16="http://schemas.microsoft.com/office/drawing/2014/main" id="{7D7F8757-7DE1-727E-EB6E-C5B3C131B2A1}"/>
              </a:ext>
            </a:extLst>
          </p:cNvPr>
          <p:cNvSpPr>
            <a:spLocks noGrp="1" noChangeArrowheads="1"/>
          </p:cNvSpPr>
          <p:nvPr>
            <p:ph type="title"/>
          </p:nvPr>
        </p:nvSpPr>
        <p:spPr>
          <a:xfrm>
            <a:off x="474712" y="890337"/>
            <a:ext cx="8229600" cy="1143000"/>
          </a:xfrm>
        </p:spPr>
        <p:txBody>
          <a:bodyPr/>
          <a:lstStyle/>
          <a:p>
            <a:pPr eaLnBrk="1" hangingPunct="1"/>
            <a:r>
              <a:rPr lang="zh-CN" altLang="en-US" sz="3600" dirty="0">
                <a:ea typeface="华文中宋" panose="02010600040101010101" pitchFamily="2" charset="-122"/>
              </a:rPr>
              <a:t>电枢反应电势与总电势</a:t>
            </a:r>
            <a:br>
              <a:rPr lang="zh-CN" altLang="en-US" sz="3600" dirty="0">
                <a:ea typeface="华文中宋" panose="02010600040101010101" pitchFamily="2" charset="-122"/>
              </a:rPr>
            </a:br>
            <a:endParaRPr lang="zh-CN" altLang="en-US" sz="3600" dirty="0">
              <a:ea typeface="华文中宋" panose="02010600040101010101" pitchFamily="2" charset="-122"/>
            </a:endParaRPr>
          </a:p>
        </p:txBody>
      </p:sp>
      <p:pic>
        <p:nvPicPr>
          <p:cNvPr id="12292" name="Picture 5">
            <a:extLst>
              <a:ext uri="{FF2B5EF4-FFF2-40B4-BE49-F238E27FC236}">
                <a16:creationId xmlns:a16="http://schemas.microsoft.com/office/drawing/2014/main" id="{F8050443-1F54-336F-1513-4B84640332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4712" y="1461837"/>
            <a:ext cx="4560888"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AutoShape 6">
            <a:extLst>
              <a:ext uri="{FF2B5EF4-FFF2-40B4-BE49-F238E27FC236}">
                <a16:creationId xmlns:a16="http://schemas.microsoft.com/office/drawing/2014/main" id="{C0D278CC-B3D6-A525-AEEB-23CF6F1729FC}"/>
              </a:ext>
            </a:extLst>
          </p:cNvPr>
          <p:cNvSpPr>
            <a:spLocks noChangeArrowheads="1"/>
          </p:cNvSpPr>
          <p:nvPr/>
        </p:nvSpPr>
        <p:spPr bwMode="auto">
          <a:xfrm>
            <a:off x="5148064" y="1700809"/>
            <a:ext cx="3888432" cy="4634654"/>
          </a:xfrm>
          <a:prstGeom prst="wedgeRoundRectCallout">
            <a:avLst>
              <a:gd name="adj1" fmla="val -87088"/>
              <a:gd name="adj2" fmla="val 41806"/>
              <a:gd name="adj3" fmla="val 16667"/>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just" eaLnBrk="1" hangingPunct="1">
              <a:lnSpc>
                <a:spcPct val="100000"/>
              </a:lnSpc>
              <a:buFontTx/>
              <a:buChar char="•"/>
            </a:pPr>
            <a:r>
              <a:rPr kumimoji="1" lang="zh-CN" altLang="en-US" sz="2400" b="0" dirty="0">
                <a:latin typeface="华文中宋" panose="02010600040101010101" pitchFamily="2" charset="-122"/>
                <a:ea typeface="华文中宋" panose="02010600040101010101" pitchFamily="2" charset="-122"/>
              </a:rPr>
              <a:t>设同步电机定子绕组为</a:t>
            </a:r>
            <a:r>
              <a:rPr kumimoji="1" lang="en-US" altLang="zh-CN" sz="2400" b="0" dirty="0">
                <a:latin typeface="华文中宋" panose="02010600040101010101" pitchFamily="2" charset="-122"/>
                <a:ea typeface="华文中宋" panose="02010600040101010101" pitchFamily="2" charset="-122"/>
              </a:rPr>
              <a:t>Y</a:t>
            </a:r>
            <a:r>
              <a:rPr kumimoji="1" lang="zh-CN" altLang="en-US" sz="2400" b="0" dirty="0">
                <a:latin typeface="华文中宋" panose="02010600040101010101" pitchFamily="2" charset="-122"/>
                <a:ea typeface="华文中宋" panose="02010600040101010101" pitchFamily="2" charset="-122"/>
              </a:rPr>
              <a:t>连接，</a:t>
            </a:r>
            <a:r>
              <a:rPr kumimoji="1" lang="zh-CN" altLang="en-US" sz="2400" dirty="0">
                <a:solidFill>
                  <a:srgbClr val="333399"/>
                </a:solidFill>
                <a:latin typeface="华文中宋" panose="02010600040101010101" pitchFamily="2" charset="-122"/>
                <a:ea typeface="华文中宋" panose="02010600040101010101" pitchFamily="2" charset="-122"/>
              </a:rPr>
              <a:t>忽略磁路饱和</a:t>
            </a:r>
            <a:r>
              <a:rPr kumimoji="1" lang="zh-CN" altLang="en-US" sz="2400" b="0" dirty="0">
                <a:latin typeface="华文中宋" panose="02010600040101010101" pitchFamily="2" charset="-122"/>
                <a:ea typeface="华文中宋" panose="02010600040101010101" pitchFamily="2" charset="-122"/>
              </a:rPr>
              <a:t>可以利用叠加原理。</a:t>
            </a:r>
            <a:endParaRPr kumimoji="1" lang="en-US" altLang="zh-CN" sz="2400" b="0" dirty="0">
              <a:latin typeface="华文中宋" panose="02010600040101010101" pitchFamily="2" charset="-122"/>
              <a:ea typeface="华文中宋" panose="02010600040101010101" pitchFamily="2" charset="-122"/>
            </a:endParaRPr>
          </a:p>
          <a:p>
            <a:pPr algn="just" eaLnBrk="1" hangingPunct="1">
              <a:lnSpc>
                <a:spcPct val="100000"/>
              </a:lnSpc>
              <a:buFontTx/>
              <a:buChar char="•"/>
            </a:pPr>
            <a:r>
              <a:rPr kumimoji="1" lang="zh-CN" altLang="en-US" sz="2400" b="0" dirty="0">
                <a:latin typeface="华文中宋" panose="02010600040101010101" pitchFamily="2" charset="-122"/>
                <a:ea typeface="华文中宋" panose="02010600040101010101" pitchFamily="2" charset="-122"/>
              </a:rPr>
              <a:t>电磁频率始终一致，可以时空相矢统一电磁关系</a:t>
            </a:r>
          </a:p>
          <a:p>
            <a:pPr algn="ctr" eaLnBrk="1" hangingPunct="1">
              <a:buFontTx/>
              <a:buChar char="•"/>
            </a:pPr>
            <a:r>
              <a:rPr kumimoji="1" lang="zh-CN" altLang="en-US" sz="2400" b="0" dirty="0">
                <a:latin typeface="华文中宋" panose="02010600040101010101" pitchFamily="2" charset="-122"/>
                <a:ea typeface="华文中宋" panose="02010600040101010101" pitchFamily="2" charset="-122"/>
              </a:rPr>
              <a:t>定子绕组总电势等于两电势的相量和。总磁密等于两磁密的矢量和。</a:t>
            </a:r>
            <a:endParaRPr kumimoji="1" lang="en-US" altLang="zh-CN" sz="2400" b="0" dirty="0">
              <a:latin typeface="华文中宋" panose="02010600040101010101" pitchFamily="2" charset="-122"/>
              <a:ea typeface="华文中宋" panose="02010600040101010101" pitchFamily="2" charset="-122"/>
            </a:endParaRPr>
          </a:p>
          <a:p>
            <a:pPr algn="ctr" eaLnBrk="1" hangingPunct="1">
              <a:buFontTx/>
              <a:buChar char="•"/>
            </a:pPr>
            <a:r>
              <a:rPr kumimoji="1" lang="zh-CN" altLang="en-US" sz="2400" b="0" dirty="0">
                <a:latin typeface="华文中宋" panose="02010600040101010101" pitchFamily="2" charset="-122"/>
                <a:ea typeface="华文中宋" panose="02010600040101010101" pitchFamily="2" charset="-122"/>
              </a:rPr>
              <a:t>可改变转子主励磁磁密的特性，取决于电枢负载特性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B47ECAA4-BEB4-2E14-5009-AD4E92D0A951}"/>
              </a:ext>
            </a:extLst>
          </p:cNvPr>
          <p:cNvSpPr>
            <a:spLocks noGrp="1"/>
          </p:cNvSpPr>
          <p:nvPr>
            <p:ph type="sldNum" sz="quarter" idx="12"/>
          </p:nvPr>
        </p:nvSpPr>
        <p:spPr/>
        <p:txBody>
          <a:bodyPr/>
          <a:lstStyle/>
          <a:p>
            <a:pPr>
              <a:defRPr/>
            </a:pPr>
            <a:fld id="{E04E8514-3609-45C4-ABA8-DC09165A1796}" type="slidenum">
              <a:rPr lang="en-US" altLang="zh-CN"/>
              <a:pPr>
                <a:defRPr/>
              </a:pPr>
              <a:t>27</a:t>
            </a:fld>
            <a:endParaRPr lang="en-US" altLang="zh-CN"/>
          </a:p>
        </p:txBody>
      </p:sp>
      <p:sp>
        <p:nvSpPr>
          <p:cNvPr id="13315" name="Rectangle 2">
            <a:extLst>
              <a:ext uri="{FF2B5EF4-FFF2-40B4-BE49-F238E27FC236}">
                <a16:creationId xmlns:a16="http://schemas.microsoft.com/office/drawing/2014/main" id="{85FFBAC3-6C6D-CC55-0F27-8039BE980995}"/>
              </a:ext>
            </a:extLst>
          </p:cNvPr>
          <p:cNvSpPr>
            <a:spLocks noGrp="1" noChangeArrowheads="1"/>
          </p:cNvSpPr>
          <p:nvPr>
            <p:ph type="title"/>
          </p:nvPr>
        </p:nvSpPr>
        <p:spPr>
          <a:xfrm>
            <a:off x="684212" y="846137"/>
            <a:ext cx="7391400" cy="838200"/>
          </a:xfrm>
        </p:spPr>
        <p:txBody>
          <a:bodyPr/>
          <a:lstStyle/>
          <a:p>
            <a:pPr eaLnBrk="1" hangingPunct="1"/>
            <a:r>
              <a:rPr lang="zh-CN" altLang="en-US" sz="3600">
                <a:latin typeface="华文中宋" panose="02010600040101010101" pitchFamily="2" charset="-122"/>
                <a:ea typeface="华文中宋" panose="02010600040101010101" pitchFamily="2" charset="-122"/>
              </a:rPr>
              <a:t>二、隐极发电机的等值电路</a:t>
            </a:r>
          </a:p>
        </p:txBody>
      </p:sp>
      <p:sp>
        <p:nvSpPr>
          <p:cNvPr id="13316" name="Rectangle 4">
            <a:extLst>
              <a:ext uri="{FF2B5EF4-FFF2-40B4-BE49-F238E27FC236}">
                <a16:creationId xmlns:a16="http://schemas.microsoft.com/office/drawing/2014/main" id="{870CB1F9-7C76-516A-2A49-E64482903CA3}"/>
              </a:ext>
            </a:extLst>
          </p:cNvPr>
          <p:cNvSpPr>
            <a:spLocks noChangeArrowheads="1"/>
          </p:cNvSpPr>
          <p:nvPr/>
        </p:nvSpPr>
        <p:spPr bwMode="auto">
          <a:xfrm>
            <a:off x="-1588" y="769937"/>
            <a:ext cx="6019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endParaRPr kumimoji="1" lang="zh-CN" altLang="zh-CN" sz="3600" b="0">
              <a:solidFill>
                <a:schemeClr val="tx2"/>
              </a:solidFill>
              <a:latin typeface="华文中宋" panose="02010600040101010101" pitchFamily="2" charset="-122"/>
              <a:ea typeface="华文中宋" panose="02010600040101010101" pitchFamily="2" charset="-122"/>
            </a:endParaRPr>
          </a:p>
        </p:txBody>
      </p:sp>
      <p:sp>
        <p:nvSpPr>
          <p:cNvPr id="13317" name="Rectangle 5">
            <a:extLst>
              <a:ext uri="{FF2B5EF4-FFF2-40B4-BE49-F238E27FC236}">
                <a16:creationId xmlns:a16="http://schemas.microsoft.com/office/drawing/2014/main" id="{1DBF4057-D9F7-39D1-8930-5B9C23197147}"/>
              </a:ext>
            </a:extLst>
          </p:cNvPr>
          <p:cNvSpPr>
            <a:spLocks noChangeArrowheads="1"/>
          </p:cNvSpPr>
          <p:nvPr/>
        </p:nvSpPr>
        <p:spPr bwMode="auto">
          <a:xfrm>
            <a:off x="3443288"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nvGrpSpPr>
          <p:cNvPr id="207878" name="Group 6">
            <a:extLst>
              <a:ext uri="{FF2B5EF4-FFF2-40B4-BE49-F238E27FC236}">
                <a16:creationId xmlns:a16="http://schemas.microsoft.com/office/drawing/2014/main" id="{86DBF4AC-7AB9-32A0-94AD-F9B1ACD364FD}"/>
              </a:ext>
            </a:extLst>
          </p:cNvPr>
          <p:cNvGrpSpPr>
            <a:grpSpLocks/>
          </p:cNvGrpSpPr>
          <p:nvPr/>
        </p:nvGrpSpPr>
        <p:grpSpPr bwMode="auto">
          <a:xfrm>
            <a:off x="85725" y="3201986"/>
            <a:ext cx="12380913" cy="990600"/>
            <a:chOff x="523" y="1998"/>
            <a:chExt cx="7799" cy="624"/>
          </a:xfrm>
        </p:grpSpPr>
        <p:sp>
          <p:nvSpPr>
            <p:cNvPr id="13325" name="Text Box 7">
              <a:extLst>
                <a:ext uri="{FF2B5EF4-FFF2-40B4-BE49-F238E27FC236}">
                  <a16:creationId xmlns:a16="http://schemas.microsoft.com/office/drawing/2014/main" id="{C179E9D0-8692-E37B-D73E-A21B15B49299}"/>
                </a:ext>
              </a:extLst>
            </p:cNvPr>
            <p:cNvSpPr txBox="1">
              <a:spLocks noChangeArrowheads="1"/>
            </p:cNvSpPr>
            <p:nvPr/>
          </p:nvSpPr>
          <p:spPr bwMode="auto">
            <a:xfrm>
              <a:off x="523" y="1998"/>
              <a:ext cx="2826"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华文中宋" panose="02010600040101010101" pitchFamily="2" charset="-122"/>
                  <a:ea typeface="华文中宋" panose="02010600040101010101" pitchFamily="2" charset="-122"/>
                </a:rPr>
                <a:t>发电机输出相电压可以表示为 </a:t>
              </a:r>
            </a:p>
          </p:txBody>
        </p:sp>
        <p:sp>
          <p:nvSpPr>
            <p:cNvPr id="13326" name="Rectangle 8">
              <a:extLst>
                <a:ext uri="{FF2B5EF4-FFF2-40B4-BE49-F238E27FC236}">
                  <a16:creationId xmlns:a16="http://schemas.microsoft.com/office/drawing/2014/main" id="{6961E9C5-3481-D4DE-F039-66BF43145D08}"/>
                </a:ext>
              </a:extLst>
            </p:cNvPr>
            <p:cNvSpPr>
              <a:spLocks noChangeArrowheads="1"/>
            </p:cNvSpPr>
            <p:nvPr/>
          </p:nvSpPr>
          <p:spPr bwMode="auto">
            <a:xfrm>
              <a:off x="2562" y="2064"/>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3327" name="Object 9">
              <a:extLst>
                <a:ext uri="{FF2B5EF4-FFF2-40B4-BE49-F238E27FC236}">
                  <a16:creationId xmlns:a16="http://schemas.microsoft.com/office/drawing/2014/main" id="{6236DFE7-EEA4-E3B5-3924-A36150D7F3F1}"/>
                </a:ext>
              </a:extLst>
            </p:cNvPr>
            <p:cNvGraphicFramePr>
              <a:graphicFrameLocks noChangeAspect="1"/>
            </p:cNvGraphicFramePr>
            <p:nvPr>
              <p:extLst>
                <p:ext uri="{D42A27DB-BD31-4B8C-83A1-F6EECF244321}">
                  <p14:modId xmlns:p14="http://schemas.microsoft.com/office/powerpoint/2010/main" val="396695492"/>
                </p:ext>
              </p:extLst>
            </p:nvPr>
          </p:nvGraphicFramePr>
          <p:xfrm>
            <a:off x="809" y="2140"/>
            <a:ext cx="1614" cy="482"/>
          </p:xfrm>
          <a:graphic>
            <a:graphicData uri="http://schemas.openxmlformats.org/presentationml/2006/ole">
              <mc:AlternateContent xmlns:mc="http://schemas.openxmlformats.org/markup-compatibility/2006">
                <mc:Choice xmlns:v="urn:schemas-microsoft-com:vml" Requires="v">
                  <p:oleObj name="Equation" r:id="rId2" imgW="1053643" imgH="317362" progId="Equation.DSMT4">
                    <p:embed/>
                  </p:oleObj>
                </mc:Choice>
                <mc:Fallback>
                  <p:oleObj name="Equation" r:id="rId2" imgW="1053643" imgH="317362" progId="Equation.DSMT4">
                    <p:embed/>
                    <p:pic>
                      <p:nvPicPr>
                        <p:cNvPr id="13327" name="Object 9">
                          <a:extLst>
                            <a:ext uri="{FF2B5EF4-FFF2-40B4-BE49-F238E27FC236}">
                              <a16:creationId xmlns:a16="http://schemas.microsoft.com/office/drawing/2014/main" id="{6236DFE7-EEA4-E3B5-3924-A36150D7F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 y="2140"/>
                          <a:ext cx="1614"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07882" name="Group 10">
            <a:extLst>
              <a:ext uri="{FF2B5EF4-FFF2-40B4-BE49-F238E27FC236}">
                <a16:creationId xmlns:a16="http://schemas.microsoft.com/office/drawing/2014/main" id="{FF51B1B6-1CBE-E3BC-75B9-F932243FD606}"/>
              </a:ext>
            </a:extLst>
          </p:cNvPr>
          <p:cNvGrpSpPr>
            <a:grpSpLocks/>
          </p:cNvGrpSpPr>
          <p:nvPr/>
        </p:nvGrpSpPr>
        <p:grpSpPr bwMode="auto">
          <a:xfrm>
            <a:off x="134937" y="4192587"/>
            <a:ext cx="7712075" cy="2317750"/>
            <a:chOff x="518" y="2348"/>
            <a:chExt cx="4858" cy="1460"/>
          </a:xfrm>
        </p:grpSpPr>
        <p:sp>
          <p:nvSpPr>
            <p:cNvPr id="13323" name="Text Box 11">
              <a:extLst>
                <a:ext uri="{FF2B5EF4-FFF2-40B4-BE49-F238E27FC236}">
                  <a16:creationId xmlns:a16="http://schemas.microsoft.com/office/drawing/2014/main" id="{4EC49AF4-619D-0BB6-4FA6-9AC904536118}"/>
                </a:ext>
              </a:extLst>
            </p:cNvPr>
            <p:cNvSpPr txBox="1">
              <a:spLocks noChangeArrowheads="1"/>
            </p:cNvSpPr>
            <p:nvPr/>
          </p:nvSpPr>
          <p:spPr bwMode="auto">
            <a:xfrm>
              <a:off x="518" y="2348"/>
              <a:ext cx="4858"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54000" bIns="54000">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10000"/>
                </a:lnSpc>
                <a:buFont typeface="Wingdings" panose="05000000000000000000" pitchFamily="2" charset="2"/>
                <a:buChar char="Ø"/>
              </a:pPr>
              <a:r>
                <a:rPr kumimoji="1" lang="zh-CN" altLang="en-US" sz="2400" dirty="0">
                  <a:solidFill>
                    <a:srgbClr val="FF0000"/>
                  </a:solidFill>
                </a:rPr>
                <a:t>除了电枢反应外，定子绕组还存在电阻和漏抗</a:t>
              </a:r>
              <a:r>
                <a:rPr kumimoji="1" lang="zh-CN" altLang="en-US" sz="2400" b="0" dirty="0">
                  <a:latin typeface="华文中宋" panose="02010600040101010101" pitchFamily="2" charset="-122"/>
                  <a:ea typeface="华文中宋" panose="02010600040101010101" pitchFamily="2" charset="-122"/>
                </a:rPr>
                <a:t>，将漏抗与</a:t>
              </a:r>
              <a:r>
                <a:rPr kumimoji="1" lang="en-US" altLang="zh-CN" sz="2400" b="0" dirty="0" err="1">
                  <a:latin typeface="华文中宋" panose="02010600040101010101" pitchFamily="2" charset="-122"/>
                  <a:ea typeface="华文中宋" panose="02010600040101010101" pitchFamily="2" charset="-122"/>
                </a:rPr>
                <a:t>X</a:t>
              </a:r>
              <a:r>
                <a:rPr kumimoji="1" lang="en-US" altLang="zh-CN" sz="2400" b="0" baseline="-25000" dirty="0" err="1">
                  <a:latin typeface="华文中宋" panose="02010600040101010101" pitchFamily="2" charset="-122"/>
                  <a:ea typeface="华文中宋" panose="02010600040101010101" pitchFamily="2" charset="-122"/>
                </a:rPr>
                <a:t>a</a:t>
              </a:r>
              <a:r>
                <a:rPr kumimoji="1" lang="zh-CN" altLang="en-US" sz="2400" b="0" dirty="0">
                  <a:latin typeface="华文中宋" panose="02010600040101010101" pitchFamily="2" charset="-122"/>
                  <a:ea typeface="华文中宋" panose="02010600040101010101" pitchFamily="2" charset="-122"/>
                </a:rPr>
                <a:t>合并，称为</a:t>
              </a:r>
              <a:r>
                <a:rPr kumimoji="1" lang="zh-CN" altLang="en-US" sz="2400" dirty="0">
                  <a:solidFill>
                    <a:schemeClr val="accent2"/>
                  </a:solidFill>
                  <a:latin typeface="华文中宋" panose="02010600040101010101" pitchFamily="2" charset="-122"/>
                  <a:ea typeface="华文中宋" panose="02010600040101010101" pitchFamily="2" charset="-122"/>
                </a:rPr>
                <a:t>同步电抗</a:t>
              </a:r>
              <a:r>
                <a:rPr kumimoji="1" lang="en-US" altLang="zh-CN" sz="2400" dirty="0" err="1">
                  <a:solidFill>
                    <a:schemeClr val="accent2"/>
                  </a:solidFill>
                  <a:latin typeface="华文中宋" panose="02010600040101010101" pitchFamily="2" charset="-122"/>
                  <a:ea typeface="华文中宋" panose="02010600040101010101" pitchFamily="2" charset="-122"/>
                </a:rPr>
                <a:t>X</a:t>
              </a:r>
              <a:r>
                <a:rPr kumimoji="1" lang="en-US" altLang="zh-CN" sz="2400" baseline="-30000" dirty="0" err="1">
                  <a:solidFill>
                    <a:schemeClr val="accent2"/>
                  </a:solidFill>
                  <a:latin typeface="华文中宋" panose="02010600040101010101" pitchFamily="2" charset="-122"/>
                  <a:ea typeface="华文中宋" panose="02010600040101010101" pitchFamily="2" charset="-122"/>
                </a:rPr>
                <a:t>c</a:t>
              </a:r>
              <a:r>
                <a:rPr kumimoji="1" lang="en-US" altLang="zh-CN" sz="2400" b="0" dirty="0">
                  <a:latin typeface="华文中宋" panose="02010600040101010101" pitchFamily="2" charset="-122"/>
                  <a:ea typeface="华文中宋" panose="02010600040101010101" pitchFamily="2" charset="-122"/>
                </a:rPr>
                <a:t>, </a:t>
              </a:r>
              <a:r>
                <a:rPr kumimoji="1" lang="zh-CN" altLang="en-US" sz="2400" b="0" dirty="0">
                  <a:latin typeface="华文中宋" panose="02010600040101010101" pitchFamily="2" charset="-122"/>
                  <a:ea typeface="华文中宋" panose="02010600040101010101" pitchFamily="2" charset="-122"/>
                </a:rPr>
                <a:t>则发电机负载条件下的输出电压方程为：</a:t>
              </a:r>
            </a:p>
          </p:txBody>
        </p:sp>
        <p:graphicFrame>
          <p:nvGraphicFramePr>
            <p:cNvPr id="13324" name="Object 12">
              <a:extLst>
                <a:ext uri="{FF2B5EF4-FFF2-40B4-BE49-F238E27FC236}">
                  <a16:creationId xmlns:a16="http://schemas.microsoft.com/office/drawing/2014/main" id="{349389A4-C208-A40E-82CB-16588B611AAE}"/>
                </a:ext>
              </a:extLst>
            </p:cNvPr>
            <p:cNvGraphicFramePr>
              <a:graphicFrameLocks noChangeAspect="1"/>
            </p:cNvGraphicFramePr>
            <p:nvPr/>
          </p:nvGraphicFramePr>
          <p:xfrm>
            <a:off x="1202" y="3249"/>
            <a:ext cx="2614" cy="559"/>
          </p:xfrm>
          <a:graphic>
            <a:graphicData uri="http://schemas.openxmlformats.org/presentationml/2006/ole">
              <mc:AlternateContent xmlns:mc="http://schemas.openxmlformats.org/markup-compatibility/2006">
                <mc:Choice xmlns:v="urn:schemas-microsoft-com:vml" Requires="v">
                  <p:oleObj name="Equation" r:id="rId4" imgW="1472561" imgH="317362" progId="Equation.DSMT4">
                    <p:embed/>
                  </p:oleObj>
                </mc:Choice>
                <mc:Fallback>
                  <p:oleObj name="Equation" r:id="rId4" imgW="1472561" imgH="317362" progId="Equation.DSMT4">
                    <p:embed/>
                    <p:pic>
                      <p:nvPicPr>
                        <p:cNvPr id="13324" name="Object 12">
                          <a:extLst>
                            <a:ext uri="{FF2B5EF4-FFF2-40B4-BE49-F238E27FC236}">
                              <a16:creationId xmlns:a16="http://schemas.microsoft.com/office/drawing/2014/main" id="{349389A4-C208-A40E-82CB-16588B611A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2" y="3249"/>
                          <a:ext cx="2614" cy="559"/>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320" name="Text Box 13">
            <a:extLst>
              <a:ext uri="{FF2B5EF4-FFF2-40B4-BE49-F238E27FC236}">
                <a16:creationId xmlns:a16="http://schemas.microsoft.com/office/drawing/2014/main" id="{F67C47BB-3F6F-CC93-D30C-AB62B3FEF2F0}"/>
              </a:ext>
            </a:extLst>
          </p:cNvPr>
          <p:cNvSpPr txBox="1">
            <a:spLocks noChangeArrowheads="1"/>
          </p:cNvSpPr>
          <p:nvPr/>
        </p:nvSpPr>
        <p:spPr bwMode="auto">
          <a:xfrm>
            <a:off x="0" y="1677987"/>
            <a:ext cx="8820472"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华文中宋" panose="02010600040101010101" pitchFamily="2" charset="-122"/>
                <a:ea typeface="华文中宋" panose="02010600040101010101" pitchFamily="2" charset="-122"/>
              </a:rPr>
              <a:t>产生于主磁路的电枢反应电势滞后于电流</a:t>
            </a:r>
            <a:r>
              <a:rPr kumimoji="1" lang="en-US" altLang="zh-CN" sz="2400" b="0" dirty="0">
                <a:latin typeface="华文中宋" panose="02010600040101010101" pitchFamily="2" charset="-122"/>
                <a:ea typeface="华文中宋" panose="02010600040101010101" pitchFamily="2" charset="-122"/>
              </a:rPr>
              <a:t>90</a:t>
            </a:r>
            <a:r>
              <a:rPr kumimoji="1" lang="zh-CN" altLang="en-US" sz="2400" b="0" dirty="0">
                <a:latin typeface="华文中宋" panose="02010600040101010101" pitchFamily="2" charset="-122"/>
                <a:ea typeface="华文中宋" panose="02010600040101010101" pitchFamily="2" charset="-122"/>
              </a:rPr>
              <a:t>度，大小与电流成比例，假定磁路未饱和，定义电抗</a:t>
            </a:r>
            <a:r>
              <a:rPr kumimoji="1" lang="en-US" altLang="zh-CN" sz="2400" b="0" dirty="0" err="1">
                <a:latin typeface="华文中宋" panose="02010600040101010101" pitchFamily="2" charset="-122"/>
                <a:ea typeface="华文中宋" panose="02010600040101010101" pitchFamily="2" charset="-122"/>
              </a:rPr>
              <a:t>Xc</a:t>
            </a:r>
            <a:r>
              <a:rPr kumimoji="1" lang="zh-CN" altLang="en-US" sz="2400" b="0" dirty="0">
                <a:latin typeface="华文中宋" panose="02010600040101010101" pitchFamily="2" charset="-122"/>
                <a:ea typeface="华文中宋" panose="02010600040101010101" pitchFamily="2" charset="-122"/>
              </a:rPr>
              <a:t>，电枢反应电压可以表示为： </a:t>
            </a:r>
          </a:p>
        </p:txBody>
      </p:sp>
      <p:graphicFrame>
        <p:nvGraphicFramePr>
          <p:cNvPr id="13321" name="Object 14">
            <a:extLst>
              <a:ext uri="{FF2B5EF4-FFF2-40B4-BE49-F238E27FC236}">
                <a16:creationId xmlns:a16="http://schemas.microsoft.com/office/drawing/2014/main" id="{3096486A-3D4F-7AE2-8475-752E59FBA05A}"/>
              </a:ext>
            </a:extLst>
          </p:cNvPr>
          <p:cNvGraphicFramePr>
            <a:graphicFrameLocks noChangeAspect="1"/>
          </p:cNvGraphicFramePr>
          <p:nvPr>
            <p:extLst>
              <p:ext uri="{D42A27DB-BD31-4B8C-83A1-F6EECF244321}">
                <p14:modId xmlns:p14="http://schemas.microsoft.com/office/powerpoint/2010/main" val="4061778811"/>
              </p:ext>
            </p:extLst>
          </p:nvPr>
        </p:nvGraphicFramePr>
        <p:xfrm>
          <a:off x="1548576" y="2407305"/>
          <a:ext cx="1894712" cy="643214"/>
        </p:xfrm>
        <a:graphic>
          <a:graphicData uri="http://schemas.openxmlformats.org/presentationml/2006/ole">
            <mc:AlternateContent xmlns:mc="http://schemas.openxmlformats.org/markup-compatibility/2006">
              <mc:Choice xmlns:v="urn:schemas-microsoft-com:vml" Requires="v">
                <p:oleObj name="Equation" r:id="rId6" imgW="939392" imgH="317362" progId="Equation.DSMT4">
                  <p:embed/>
                </p:oleObj>
              </mc:Choice>
              <mc:Fallback>
                <p:oleObj name="Equation" r:id="rId6" imgW="939392" imgH="317362" progId="Equation.DSMT4">
                  <p:embed/>
                  <p:pic>
                    <p:nvPicPr>
                      <p:cNvPr id="13321" name="Object 14">
                        <a:extLst>
                          <a:ext uri="{FF2B5EF4-FFF2-40B4-BE49-F238E27FC236}">
                            <a16:creationId xmlns:a16="http://schemas.microsoft.com/office/drawing/2014/main" id="{3096486A-3D4F-7AE2-8475-752E59FBA0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8576" y="2407305"/>
                        <a:ext cx="1894712" cy="643214"/>
                      </a:xfrm>
                      <a:prstGeom prst="rect">
                        <a:avLst/>
                      </a:prstGeom>
                      <a:solidFill>
                        <a:srgbClr val="00FF00"/>
                      </a:solidFill>
                      <a:ln>
                        <a:noFill/>
                      </a:ln>
                    </p:spPr>
                  </p:pic>
                </p:oleObj>
              </mc:Fallback>
            </mc:AlternateContent>
          </a:graphicData>
        </a:graphic>
      </p:graphicFrame>
      <p:pic>
        <p:nvPicPr>
          <p:cNvPr id="207887" name="Picture 15">
            <a:extLst>
              <a:ext uri="{FF2B5EF4-FFF2-40B4-BE49-F238E27FC236}">
                <a16:creationId xmlns:a16="http://schemas.microsoft.com/office/drawing/2014/main" id="{7788FF8A-736F-D050-4693-4B722BA3239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27687" y="2492896"/>
            <a:ext cx="3516313"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7887"/>
                                        </p:tgtEl>
                                        <p:attrNameLst>
                                          <p:attrName>style.visibility</p:attrName>
                                        </p:attrNameLst>
                                      </p:cBhvr>
                                      <p:to>
                                        <p:strVal val="visible"/>
                                      </p:to>
                                    </p:set>
                                    <p:animEffect transition="in" filter="blinds(horizontal)">
                                      <p:cBhvr>
                                        <p:cTn id="7" dur="500"/>
                                        <p:tgtEl>
                                          <p:spTgt spid="207887"/>
                                        </p:tgtEl>
                                      </p:cBhvr>
                                    </p:animEffect>
                                  </p:childTnLst>
                                  <p:subTnLst>
                                    <p:set>
                                      <p:cBhvr override="childStyle">
                                        <p:cTn dur="1" fill="hold" display="0" masterRel="nextClick" afterEffect="1"/>
                                        <p:tgtEl>
                                          <p:spTgt spid="20788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0787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10" fill="hold" nodeType="clickEffect">
                                  <p:stCondLst>
                                    <p:cond delay="0"/>
                                  </p:stCondLst>
                                  <p:childTnLst>
                                    <p:set>
                                      <p:cBhvr>
                                        <p:cTn id="15" dur="1" fill="hold">
                                          <p:stCondLst>
                                            <p:cond delay="0"/>
                                          </p:stCondLst>
                                        </p:cTn>
                                        <p:tgtEl>
                                          <p:spTgt spid="207882"/>
                                        </p:tgtEl>
                                        <p:attrNameLst>
                                          <p:attrName>style.visibility</p:attrName>
                                        </p:attrNameLst>
                                      </p:cBhvr>
                                      <p:to>
                                        <p:strVal val="visible"/>
                                      </p:to>
                                    </p:set>
                                    <p:anim calcmode="lin" valueType="num">
                                      <p:cBhvr>
                                        <p:cTn id="16" dur="500" fill="hold"/>
                                        <p:tgtEl>
                                          <p:spTgt spid="207882"/>
                                        </p:tgtEl>
                                        <p:attrNameLst>
                                          <p:attrName>ppt_w</p:attrName>
                                        </p:attrNameLst>
                                      </p:cBhvr>
                                      <p:tavLst>
                                        <p:tav tm="0">
                                          <p:val>
                                            <p:fltVal val="0"/>
                                          </p:val>
                                        </p:tav>
                                        <p:tav tm="100000">
                                          <p:val>
                                            <p:strVal val="#ppt_w"/>
                                          </p:val>
                                        </p:tav>
                                      </p:tavLst>
                                    </p:anim>
                                    <p:anim calcmode="lin" valueType="num">
                                      <p:cBhvr>
                                        <p:cTn id="17" dur="500" fill="hold"/>
                                        <p:tgtEl>
                                          <p:spTgt spid="2078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CB84C0D-F55D-DAB4-83FB-C99B30F37BDB}"/>
              </a:ext>
            </a:extLst>
          </p:cNvPr>
          <p:cNvSpPr>
            <a:spLocks noGrp="1"/>
          </p:cNvSpPr>
          <p:nvPr>
            <p:ph type="sldNum" sz="quarter" idx="12"/>
          </p:nvPr>
        </p:nvSpPr>
        <p:spPr/>
        <p:txBody>
          <a:bodyPr/>
          <a:lstStyle/>
          <a:p>
            <a:pPr>
              <a:defRPr/>
            </a:pPr>
            <a:fld id="{19113BDC-35CA-40CD-95B7-61880F30634B}" type="slidenum">
              <a:rPr lang="en-US" altLang="zh-CN"/>
              <a:pPr>
                <a:defRPr/>
              </a:pPr>
              <a:t>28</a:t>
            </a:fld>
            <a:endParaRPr lang="en-US" altLang="zh-CN"/>
          </a:p>
        </p:txBody>
      </p:sp>
      <p:sp>
        <p:nvSpPr>
          <p:cNvPr id="14339" name="Rectangle 2">
            <a:extLst>
              <a:ext uri="{FF2B5EF4-FFF2-40B4-BE49-F238E27FC236}">
                <a16:creationId xmlns:a16="http://schemas.microsoft.com/office/drawing/2014/main" id="{CFB7F3BB-78CF-1712-8300-2BE384D041A6}"/>
              </a:ext>
            </a:extLst>
          </p:cNvPr>
          <p:cNvSpPr>
            <a:spLocks noGrp="1" noChangeArrowheads="1"/>
          </p:cNvSpPr>
          <p:nvPr>
            <p:ph type="title"/>
          </p:nvPr>
        </p:nvSpPr>
        <p:spPr>
          <a:xfrm>
            <a:off x="323528" y="909638"/>
            <a:ext cx="8229600" cy="1143000"/>
          </a:xfrm>
        </p:spPr>
        <p:txBody>
          <a:bodyPr/>
          <a:lstStyle/>
          <a:p>
            <a:pPr eaLnBrk="1" hangingPunct="1"/>
            <a:r>
              <a:rPr lang="zh-CN" altLang="en-US" sz="3600" dirty="0">
                <a:latin typeface="宋体" panose="02010600030101010101" pitchFamily="2" charset="-122"/>
              </a:rPr>
              <a:t>三相负载平衡时的每相等值电路</a:t>
            </a:r>
            <a:br>
              <a:rPr lang="zh-CN" altLang="en-US" sz="3600" dirty="0"/>
            </a:br>
            <a:endParaRPr lang="zh-CN" altLang="en-US" sz="3600" dirty="0"/>
          </a:p>
        </p:txBody>
      </p:sp>
      <p:sp>
        <p:nvSpPr>
          <p:cNvPr id="14340" name="Rectangle 5">
            <a:extLst>
              <a:ext uri="{FF2B5EF4-FFF2-40B4-BE49-F238E27FC236}">
                <a16:creationId xmlns:a16="http://schemas.microsoft.com/office/drawing/2014/main" id="{90F03301-48CE-1431-B05C-7467E616EC6B}"/>
              </a:ext>
            </a:extLst>
          </p:cNvPr>
          <p:cNvSpPr>
            <a:spLocks noChangeArrowheads="1"/>
          </p:cNvSpPr>
          <p:nvPr/>
        </p:nvSpPr>
        <p:spPr bwMode="auto">
          <a:xfrm>
            <a:off x="3548063" y="2490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4341" name="Object 6">
            <a:extLst>
              <a:ext uri="{FF2B5EF4-FFF2-40B4-BE49-F238E27FC236}">
                <a16:creationId xmlns:a16="http://schemas.microsoft.com/office/drawing/2014/main" id="{5D6DF826-481E-D974-9D91-C0F91A341E8A}"/>
              </a:ext>
            </a:extLst>
          </p:cNvPr>
          <p:cNvGraphicFramePr>
            <a:graphicFrameLocks noChangeAspect="1"/>
          </p:cNvGraphicFramePr>
          <p:nvPr/>
        </p:nvGraphicFramePr>
        <p:xfrm>
          <a:off x="1981200" y="1447800"/>
          <a:ext cx="4648200" cy="4259263"/>
        </p:xfrm>
        <a:graphic>
          <a:graphicData uri="http://schemas.openxmlformats.org/presentationml/2006/ole">
            <mc:AlternateContent xmlns:mc="http://schemas.openxmlformats.org/markup-compatibility/2006">
              <mc:Choice xmlns:v="urn:schemas-microsoft-com:vml" Requires="v">
                <p:oleObj name="Microsoft Drawing" r:id="rId2" imgW="2044700" imgH="1873250" progId="MSDraw">
                  <p:embed/>
                </p:oleObj>
              </mc:Choice>
              <mc:Fallback>
                <p:oleObj name="Microsoft Drawing" r:id="rId2" imgW="2044700" imgH="1873250" progId="MSDraw">
                  <p:embed/>
                  <p:pic>
                    <p:nvPicPr>
                      <p:cNvPr id="14341" name="Object 6">
                        <a:extLst>
                          <a:ext uri="{FF2B5EF4-FFF2-40B4-BE49-F238E27FC236}">
                            <a16:creationId xmlns:a16="http://schemas.microsoft.com/office/drawing/2014/main" id="{5D6DF826-481E-D974-9D91-C0F91A341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447800"/>
                        <a:ext cx="4648200" cy="4259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309C674-A525-14F9-4BC8-8A62E7205830}"/>
              </a:ext>
            </a:extLst>
          </p:cNvPr>
          <p:cNvSpPr>
            <a:spLocks noGrp="1"/>
          </p:cNvSpPr>
          <p:nvPr>
            <p:ph type="sldNum" sz="quarter" idx="12"/>
          </p:nvPr>
        </p:nvSpPr>
        <p:spPr/>
        <p:txBody>
          <a:bodyPr/>
          <a:lstStyle/>
          <a:p>
            <a:pPr>
              <a:defRPr/>
            </a:pPr>
            <a:fld id="{A351D64A-7CC4-4A10-8748-E2785435D230}" type="slidenum">
              <a:rPr lang="en-US" altLang="zh-CN"/>
              <a:pPr>
                <a:defRPr/>
              </a:pPr>
              <a:t>29</a:t>
            </a:fld>
            <a:endParaRPr lang="en-US" altLang="zh-CN"/>
          </a:p>
        </p:txBody>
      </p:sp>
      <p:sp>
        <p:nvSpPr>
          <p:cNvPr id="15363" name="Rectangle 2">
            <a:extLst>
              <a:ext uri="{FF2B5EF4-FFF2-40B4-BE49-F238E27FC236}">
                <a16:creationId xmlns:a16="http://schemas.microsoft.com/office/drawing/2014/main" id="{92FE92DF-77F6-CD6D-467E-5696DEB40B37}"/>
              </a:ext>
            </a:extLst>
          </p:cNvPr>
          <p:cNvSpPr>
            <a:spLocks noGrp="1" noChangeArrowheads="1"/>
          </p:cNvSpPr>
          <p:nvPr>
            <p:ph type="title"/>
          </p:nvPr>
        </p:nvSpPr>
        <p:spPr>
          <a:xfrm>
            <a:off x="685800" y="859679"/>
            <a:ext cx="7772400" cy="533400"/>
          </a:xfrm>
        </p:spPr>
        <p:txBody>
          <a:bodyPr/>
          <a:lstStyle/>
          <a:p>
            <a:pPr eaLnBrk="1" hangingPunct="1"/>
            <a:r>
              <a:rPr lang="zh-CN" altLang="en-US" sz="3600" dirty="0"/>
              <a:t>讨论：磁路饱和的影响</a:t>
            </a:r>
          </a:p>
        </p:txBody>
      </p:sp>
      <p:sp>
        <p:nvSpPr>
          <p:cNvPr id="15364" name="Rectangle 5">
            <a:extLst>
              <a:ext uri="{FF2B5EF4-FFF2-40B4-BE49-F238E27FC236}">
                <a16:creationId xmlns:a16="http://schemas.microsoft.com/office/drawing/2014/main" id="{43F53306-1C76-0DE8-7BC0-EB89C817A944}"/>
              </a:ext>
            </a:extLst>
          </p:cNvPr>
          <p:cNvSpPr>
            <a:spLocks noGrp="1" noChangeArrowheads="1"/>
          </p:cNvSpPr>
          <p:nvPr>
            <p:ph type="body" idx="1"/>
          </p:nvPr>
        </p:nvSpPr>
        <p:spPr>
          <a:xfrm>
            <a:off x="609600" y="1371600"/>
            <a:ext cx="7696200" cy="609600"/>
          </a:xfrm>
          <a:noFill/>
        </p:spPr>
        <p:txBody>
          <a:bodyPr/>
          <a:lstStyle/>
          <a:p>
            <a:pPr eaLnBrk="1" hangingPunct="1">
              <a:buFont typeface="Wingdings" panose="05000000000000000000" pitchFamily="2" charset="2"/>
              <a:buChar char="Ø"/>
            </a:pPr>
            <a:r>
              <a:rPr lang="zh-CN" altLang="en-US" sz="2400">
                <a:ea typeface="华文中宋" panose="02010600040101010101" pitchFamily="2" charset="-122"/>
              </a:rPr>
              <a:t>同步电抗的近似值随磁路的饱和程度会发生变化。</a:t>
            </a:r>
          </a:p>
        </p:txBody>
      </p:sp>
      <p:sp>
        <p:nvSpPr>
          <p:cNvPr id="209926" name="Text Box 6">
            <a:extLst>
              <a:ext uri="{FF2B5EF4-FFF2-40B4-BE49-F238E27FC236}">
                <a16:creationId xmlns:a16="http://schemas.microsoft.com/office/drawing/2014/main" id="{5C1E8AC7-B7DA-D189-E1D5-9D2B49AEBAD4}"/>
              </a:ext>
            </a:extLst>
          </p:cNvPr>
          <p:cNvSpPr txBox="1">
            <a:spLocks noChangeArrowheads="1"/>
          </p:cNvSpPr>
          <p:nvPr/>
        </p:nvSpPr>
        <p:spPr bwMode="auto">
          <a:xfrm>
            <a:off x="593725" y="1981200"/>
            <a:ext cx="829945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Times New Roman" panose="02020603050405020304" pitchFamily="18" charset="0"/>
                <a:ea typeface="华文中宋" panose="02010600040101010101" pitchFamily="2" charset="-122"/>
              </a:rPr>
              <a:t>同步机的磁路饱和程度随励磁电流大小，电枢电流幅值、相位变化。励磁增加，此路阻抗增大，等效电抗减小。</a:t>
            </a:r>
          </a:p>
        </p:txBody>
      </p:sp>
      <p:sp>
        <p:nvSpPr>
          <p:cNvPr id="15366" name="Rectangle 7">
            <a:extLst>
              <a:ext uri="{FF2B5EF4-FFF2-40B4-BE49-F238E27FC236}">
                <a16:creationId xmlns:a16="http://schemas.microsoft.com/office/drawing/2014/main" id="{957D5E57-9027-8722-3186-6B0EB0437218}"/>
              </a:ext>
            </a:extLst>
          </p:cNvPr>
          <p:cNvSpPr>
            <a:spLocks noChangeArrowheads="1"/>
          </p:cNvSpPr>
          <p:nvPr/>
        </p:nvSpPr>
        <p:spPr bwMode="auto">
          <a:xfrm>
            <a:off x="3290888" y="2357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sp>
        <p:nvSpPr>
          <p:cNvPr id="15367" name="Rectangle 8">
            <a:extLst>
              <a:ext uri="{FF2B5EF4-FFF2-40B4-BE49-F238E27FC236}">
                <a16:creationId xmlns:a16="http://schemas.microsoft.com/office/drawing/2014/main" id="{CCCE62C7-FC08-7F1C-1DA1-651CDD066FA3}"/>
              </a:ext>
            </a:extLst>
          </p:cNvPr>
          <p:cNvSpPr>
            <a:spLocks noChangeArrowheads="1"/>
          </p:cNvSpPr>
          <p:nvPr/>
        </p:nvSpPr>
        <p:spPr bwMode="auto">
          <a:xfrm>
            <a:off x="0" y="2357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5368" name="Object 9">
            <a:extLst>
              <a:ext uri="{FF2B5EF4-FFF2-40B4-BE49-F238E27FC236}">
                <a16:creationId xmlns:a16="http://schemas.microsoft.com/office/drawing/2014/main" id="{C0C7F8C4-A944-0CDC-0CBE-8DF234079262}"/>
              </a:ext>
            </a:extLst>
          </p:cNvPr>
          <p:cNvGraphicFramePr>
            <a:graphicFrameLocks noChangeAspect="1"/>
          </p:cNvGraphicFramePr>
          <p:nvPr/>
        </p:nvGraphicFramePr>
        <p:xfrm>
          <a:off x="2895600" y="2895600"/>
          <a:ext cx="4321175" cy="3575050"/>
        </p:xfrm>
        <a:graphic>
          <a:graphicData uri="http://schemas.openxmlformats.org/presentationml/2006/ole">
            <mc:AlternateContent xmlns:mc="http://schemas.openxmlformats.org/markup-compatibility/2006">
              <mc:Choice xmlns:v="urn:schemas-microsoft-com:vml" Requires="v">
                <p:oleObj name="Microsoft Drawing" r:id="rId2" imgW="3063875" imgH="2535238" progId="MSDraw">
                  <p:embed/>
                </p:oleObj>
              </mc:Choice>
              <mc:Fallback>
                <p:oleObj name="Microsoft Drawing" r:id="rId2" imgW="3063875" imgH="2535238" progId="MSDraw">
                  <p:embed/>
                  <p:pic>
                    <p:nvPicPr>
                      <p:cNvPr id="15368" name="Object 9">
                        <a:extLst>
                          <a:ext uri="{FF2B5EF4-FFF2-40B4-BE49-F238E27FC236}">
                            <a16:creationId xmlns:a16="http://schemas.microsoft.com/office/drawing/2014/main" id="{C0C7F8C4-A944-0CDC-0CBE-8DF234079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895600"/>
                        <a:ext cx="4321175" cy="3575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09926"/>
                                        </p:tgtEl>
                                        <p:attrNameLst>
                                          <p:attrName>style.visibility</p:attrName>
                                        </p:attrNameLst>
                                      </p:cBhvr>
                                      <p:to>
                                        <p:strVal val="visible"/>
                                      </p:to>
                                    </p:set>
                                    <p:anim calcmode="lin" valueType="num">
                                      <p:cBhvr>
                                        <p:cTn id="7" dur="500" fill="hold"/>
                                        <p:tgtEl>
                                          <p:spTgt spid="209926"/>
                                        </p:tgtEl>
                                        <p:attrNameLst>
                                          <p:attrName>ppt_w</p:attrName>
                                        </p:attrNameLst>
                                      </p:cBhvr>
                                      <p:tavLst>
                                        <p:tav tm="0">
                                          <p:val>
                                            <p:fltVal val="0"/>
                                          </p:val>
                                        </p:tav>
                                        <p:tav tm="100000">
                                          <p:val>
                                            <p:strVal val="#ppt_w"/>
                                          </p:val>
                                        </p:tav>
                                      </p:tavLst>
                                    </p:anim>
                                    <p:anim calcmode="lin" valueType="num">
                                      <p:cBhvr>
                                        <p:cTn id="8" dur="500" fill="hold"/>
                                        <p:tgtEl>
                                          <p:spTgt spid="2099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5FF8682E-3D0B-4595-C682-CAD5C08D6D37}"/>
              </a:ext>
            </a:extLst>
          </p:cNvPr>
          <p:cNvSpPr>
            <a:spLocks noGrp="1"/>
          </p:cNvSpPr>
          <p:nvPr>
            <p:ph type="sldNum" sz="quarter" idx="12"/>
          </p:nvPr>
        </p:nvSpPr>
        <p:spPr/>
        <p:txBody>
          <a:bodyPr/>
          <a:lstStyle/>
          <a:p>
            <a:pPr>
              <a:defRPr/>
            </a:pPr>
            <a:fld id="{79C50CA8-58DC-41A6-B838-1C56E58BACAB}" type="slidenum">
              <a:rPr lang="en-US" altLang="zh-CN"/>
              <a:pPr>
                <a:defRPr/>
              </a:pPr>
              <a:t>30</a:t>
            </a:fld>
            <a:endParaRPr lang="en-US" altLang="zh-CN"/>
          </a:p>
        </p:txBody>
      </p:sp>
      <p:sp>
        <p:nvSpPr>
          <p:cNvPr id="16387" name="Rectangle 2">
            <a:extLst>
              <a:ext uri="{FF2B5EF4-FFF2-40B4-BE49-F238E27FC236}">
                <a16:creationId xmlns:a16="http://schemas.microsoft.com/office/drawing/2014/main" id="{40B7C025-0528-72E0-2664-C6A9D9C05ABA}"/>
              </a:ext>
            </a:extLst>
          </p:cNvPr>
          <p:cNvSpPr>
            <a:spLocks noGrp="1" noChangeArrowheads="1"/>
          </p:cNvSpPr>
          <p:nvPr>
            <p:ph type="title"/>
          </p:nvPr>
        </p:nvSpPr>
        <p:spPr>
          <a:xfrm>
            <a:off x="-228600" y="763805"/>
            <a:ext cx="6781800" cy="533400"/>
          </a:xfrm>
        </p:spPr>
        <p:txBody>
          <a:bodyPr/>
          <a:lstStyle/>
          <a:p>
            <a:pPr eaLnBrk="1" hangingPunct="1"/>
            <a:r>
              <a:rPr lang="zh-CN" altLang="en-US" sz="3200" b="1" dirty="0">
                <a:ea typeface="楷体_GB2312" pitchFamily="49" charset="-122"/>
              </a:rPr>
              <a:t>三、同步发电机等值电路的相量图</a:t>
            </a:r>
          </a:p>
        </p:txBody>
      </p:sp>
      <p:graphicFrame>
        <p:nvGraphicFramePr>
          <p:cNvPr id="16388" name="Object 5">
            <a:extLst>
              <a:ext uri="{FF2B5EF4-FFF2-40B4-BE49-F238E27FC236}">
                <a16:creationId xmlns:a16="http://schemas.microsoft.com/office/drawing/2014/main" id="{B74F5D02-45B8-94DE-B932-F465403B8F6A}"/>
              </a:ext>
            </a:extLst>
          </p:cNvPr>
          <p:cNvGraphicFramePr>
            <a:graphicFrameLocks noChangeAspect="1"/>
          </p:cNvGraphicFramePr>
          <p:nvPr>
            <p:extLst>
              <p:ext uri="{D42A27DB-BD31-4B8C-83A1-F6EECF244321}">
                <p14:modId xmlns:p14="http://schemas.microsoft.com/office/powerpoint/2010/main" val="4032480611"/>
              </p:ext>
            </p:extLst>
          </p:nvPr>
        </p:nvGraphicFramePr>
        <p:xfrm>
          <a:off x="6878637" y="344798"/>
          <a:ext cx="1482725" cy="1970088"/>
        </p:xfrm>
        <a:graphic>
          <a:graphicData uri="http://schemas.openxmlformats.org/presentationml/2006/ole">
            <mc:AlternateContent xmlns:mc="http://schemas.openxmlformats.org/markup-compatibility/2006">
              <mc:Choice xmlns:v="urn:schemas-microsoft-com:vml" Requires="v">
                <p:oleObj name="Microsoft Drawing" r:id="rId2" imgW="1168400" imgH="1550988" progId="MSDraw">
                  <p:embed/>
                </p:oleObj>
              </mc:Choice>
              <mc:Fallback>
                <p:oleObj name="Microsoft Drawing" r:id="rId2" imgW="1168400" imgH="1550988" progId="MSDraw">
                  <p:embed/>
                  <p:pic>
                    <p:nvPicPr>
                      <p:cNvPr id="16388" name="Object 5">
                        <a:extLst>
                          <a:ext uri="{FF2B5EF4-FFF2-40B4-BE49-F238E27FC236}">
                            <a16:creationId xmlns:a16="http://schemas.microsoft.com/office/drawing/2014/main" id="{B74F5D02-45B8-94DE-B932-F465403B8F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8637" y="344798"/>
                        <a:ext cx="1482725" cy="197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0950" name="Object 6">
            <a:extLst>
              <a:ext uri="{FF2B5EF4-FFF2-40B4-BE49-F238E27FC236}">
                <a16:creationId xmlns:a16="http://schemas.microsoft.com/office/drawing/2014/main" id="{76E75228-9FD6-F5D0-18D6-CFE9445C2CDF}"/>
              </a:ext>
            </a:extLst>
          </p:cNvPr>
          <p:cNvGraphicFramePr>
            <a:graphicFrameLocks noChangeAspect="1"/>
          </p:cNvGraphicFramePr>
          <p:nvPr>
            <p:extLst>
              <p:ext uri="{D42A27DB-BD31-4B8C-83A1-F6EECF244321}">
                <p14:modId xmlns:p14="http://schemas.microsoft.com/office/powerpoint/2010/main" val="886858465"/>
              </p:ext>
            </p:extLst>
          </p:nvPr>
        </p:nvGraphicFramePr>
        <p:xfrm>
          <a:off x="1052080" y="1086287"/>
          <a:ext cx="3457575" cy="735013"/>
        </p:xfrm>
        <a:graphic>
          <a:graphicData uri="http://schemas.openxmlformats.org/presentationml/2006/ole">
            <mc:AlternateContent xmlns:mc="http://schemas.openxmlformats.org/markup-compatibility/2006">
              <mc:Choice xmlns:v="urn:schemas-microsoft-com:vml" Requires="v">
                <p:oleObj name="Equation" r:id="rId4" imgW="1472561" imgH="317362" progId="Equation.DSMT4">
                  <p:embed/>
                </p:oleObj>
              </mc:Choice>
              <mc:Fallback>
                <p:oleObj name="Equation" r:id="rId4" imgW="1472561" imgH="317362" progId="Equation.DSMT4">
                  <p:embed/>
                  <p:pic>
                    <p:nvPicPr>
                      <p:cNvPr id="210950" name="Object 6">
                        <a:extLst>
                          <a:ext uri="{FF2B5EF4-FFF2-40B4-BE49-F238E27FC236}">
                            <a16:creationId xmlns:a16="http://schemas.microsoft.com/office/drawing/2014/main" id="{76E75228-9FD6-F5D0-18D6-CFE9445C2C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2080" y="1086287"/>
                        <a:ext cx="345757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0" name="Rectangle 7">
            <a:extLst>
              <a:ext uri="{FF2B5EF4-FFF2-40B4-BE49-F238E27FC236}">
                <a16:creationId xmlns:a16="http://schemas.microsoft.com/office/drawing/2014/main" id="{D9F12B93-2848-9A56-9F8F-80FA20FDBF15}"/>
              </a:ext>
            </a:extLst>
          </p:cNvPr>
          <p:cNvSpPr>
            <a:spLocks noChangeArrowheads="1"/>
          </p:cNvSpPr>
          <p:nvPr/>
        </p:nvSpPr>
        <p:spPr bwMode="auto">
          <a:xfrm>
            <a:off x="3371850" y="2914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sp>
        <p:nvSpPr>
          <p:cNvPr id="210952" name="Text Box 8">
            <a:extLst>
              <a:ext uri="{FF2B5EF4-FFF2-40B4-BE49-F238E27FC236}">
                <a16:creationId xmlns:a16="http://schemas.microsoft.com/office/drawing/2014/main" id="{00E87126-50A0-CC21-EA5A-576F15B8BEC0}"/>
              </a:ext>
            </a:extLst>
          </p:cNvPr>
          <p:cNvSpPr txBox="1">
            <a:spLocks noChangeArrowheads="1"/>
          </p:cNvSpPr>
          <p:nvPr/>
        </p:nvSpPr>
        <p:spPr bwMode="auto">
          <a:xfrm>
            <a:off x="6280008" y="2735263"/>
            <a:ext cx="2590800" cy="304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dirty="0">
                <a:latin typeface="华文中宋" panose="02010600040101010101" pitchFamily="2" charset="-122"/>
                <a:ea typeface="华文中宋" panose="02010600040101010101" pitchFamily="2" charset="-122"/>
              </a:rPr>
              <a:t>若相电压、电流不变，则感性负载的电势要高于容性负载，因此，此时对感性负载所需要的励磁电流要大于容性。 </a:t>
            </a:r>
          </a:p>
        </p:txBody>
      </p:sp>
      <p:sp>
        <p:nvSpPr>
          <p:cNvPr id="16392" name="Rectangle 9">
            <a:extLst>
              <a:ext uri="{FF2B5EF4-FFF2-40B4-BE49-F238E27FC236}">
                <a16:creationId xmlns:a16="http://schemas.microsoft.com/office/drawing/2014/main" id="{1C85776F-D699-5D4D-8A4F-C16EF76EF6CE}"/>
              </a:ext>
            </a:extLst>
          </p:cNvPr>
          <p:cNvSpPr>
            <a:spLocks noChangeArrowheads="1"/>
          </p:cNvSpPr>
          <p:nvPr/>
        </p:nvSpPr>
        <p:spPr bwMode="auto">
          <a:xfrm>
            <a:off x="3971925"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210954" name="Object 10">
            <a:extLst>
              <a:ext uri="{FF2B5EF4-FFF2-40B4-BE49-F238E27FC236}">
                <a16:creationId xmlns:a16="http://schemas.microsoft.com/office/drawing/2014/main" id="{EE3ED567-EAB8-893C-7997-4C98E6316A01}"/>
              </a:ext>
            </a:extLst>
          </p:cNvPr>
          <p:cNvGraphicFramePr>
            <a:graphicFrameLocks noChangeAspect="1"/>
          </p:cNvGraphicFramePr>
          <p:nvPr/>
        </p:nvGraphicFramePr>
        <p:xfrm>
          <a:off x="457200" y="5562600"/>
          <a:ext cx="2514600" cy="498475"/>
        </p:xfrm>
        <a:graphic>
          <a:graphicData uri="http://schemas.openxmlformats.org/presentationml/2006/ole">
            <mc:AlternateContent xmlns:mc="http://schemas.openxmlformats.org/markup-compatibility/2006">
              <mc:Choice xmlns:v="urn:schemas-microsoft-com:vml" Requires="v">
                <p:oleObj r:id="rId6" imgW="1193800" imgH="241300" progId="Equation.DSMT4">
                  <p:embed/>
                </p:oleObj>
              </mc:Choice>
              <mc:Fallback>
                <p:oleObj r:id="rId6" imgW="1193800" imgH="241300" progId="Equation.DSMT4">
                  <p:embed/>
                  <p:pic>
                    <p:nvPicPr>
                      <p:cNvPr id="210954" name="Object 10">
                        <a:extLst>
                          <a:ext uri="{FF2B5EF4-FFF2-40B4-BE49-F238E27FC236}">
                            <a16:creationId xmlns:a16="http://schemas.microsoft.com/office/drawing/2014/main" id="{EE3ED567-EAB8-893C-7997-4C98E6316A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5562600"/>
                        <a:ext cx="25146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0955" name="Text Box 11">
            <a:extLst>
              <a:ext uri="{FF2B5EF4-FFF2-40B4-BE49-F238E27FC236}">
                <a16:creationId xmlns:a16="http://schemas.microsoft.com/office/drawing/2014/main" id="{39DB447F-4642-9D0F-B5DA-FA09AF2DAD99}"/>
              </a:ext>
            </a:extLst>
          </p:cNvPr>
          <p:cNvSpPr txBox="1">
            <a:spLocks noChangeArrowheads="1"/>
          </p:cNvSpPr>
          <p:nvPr/>
        </p:nvSpPr>
        <p:spPr bwMode="auto">
          <a:xfrm>
            <a:off x="533400" y="5562600"/>
            <a:ext cx="8305800"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kumimoji="1" lang="en-US" altLang="zh-CN" sz="2400" b="0" dirty="0">
                <a:latin typeface="Times New Roman" panose="02020603050405020304" pitchFamily="18" charset="0"/>
                <a:ea typeface="宋体" panose="02010600030101010101" pitchFamily="2" charset="-122"/>
              </a:rPr>
              <a:t>                                  </a:t>
            </a:r>
            <a:r>
              <a:rPr kumimoji="1" lang="zh-CN" altLang="en-US" sz="2400" b="0" dirty="0">
                <a:solidFill>
                  <a:srgbClr val="FF0000"/>
                </a:solidFill>
                <a:latin typeface="Times New Roman" panose="02020603050405020304" pitchFamily="18" charset="0"/>
                <a:ea typeface="华文中宋" panose="02010600040101010101" pitchFamily="2" charset="-122"/>
              </a:rPr>
              <a:t>为保证输出频率恒定，转速应保持常数。</a:t>
            </a:r>
          </a:p>
          <a:p>
            <a:pPr eaLnBrk="1" hangingPunct="1"/>
            <a:r>
              <a:rPr kumimoji="1" lang="zh-CN" altLang="en-US" sz="2400" b="0" dirty="0">
                <a:solidFill>
                  <a:srgbClr val="FF0000"/>
                </a:solidFill>
                <a:latin typeface="Times New Roman" panose="02020603050405020304" pitchFamily="18" charset="0"/>
                <a:ea typeface="华文中宋" panose="02010600040101010101" pitchFamily="2" charset="-122"/>
              </a:rPr>
              <a:t>若励磁电流不变，则发电机带感性负载时输出电压较低而带容性负载时输出电压较高</a:t>
            </a:r>
            <a:r>
              <a:rPr kumimoji="1" lang="zh-CN" altLang="en-US" sz="2400" b="0" dirty="0">
                <a:latin typeface="Times New Roman" panose="02020603050405020304" pitchFamily="18" charset="0"/>
                <a:ea typeface="华文中宋" panose="02010600040101010101" pitchFamily="2" charset="-122"/>
              </a:rPr>
              <a:t>。</a:t>
            </a:r>
          </a:p>
        </p:txBody>
      </p:sp>
      <p:sp>
        <p:nvSpPr>
          <p:cNvPr id="16395" name="Rectangle 12">
            <a:extLst>
              <a:ext uri="{FF2B5EF4-FFF2-40B4-BE49-F238E27FC236}">
                <a16:creationId xmlns:a16="http://schemas.microsoft.com/office/drawing/2014/main" id="{63E0D910-DBFA-AB7D-C5EC-04E15C10BD42}"/>
              </a:ext>
            </a:extLst>
          </p:cNvPr>
          <p:cNvSpPr>
            <a:spLocks noChangeArrowheads="1"/>
          </p:cNvSpPr>
          <p:nvPr/>
        </p:nvSpPr>
        <p:spPr bwMode="auto">
          <a:xfrm>
            <a:off x="0" y="2957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nvGrpSpPr>
          <p:cNvPr id="210957" name="Group 13">
            <a:extLst>
              <a:ext uri="{FF2B5EF4-FFF2-40B4-BE49-F238E27FC236}">
                <a16:creationId xmlns:a16="http://schemas.microsoft.com/office/drawing/2014/main" id="{62D80C1D-E60E-84B7-C55B-E13C7417C0AE}"/>
              </a:ext>
            </a:extLst>
          </p:cNvPr>
          <p:cNvGrpSpPr>
            <a:grpSpLocks/>
          </p:cNvGrpSpPr>
          <p:nvPr/>
        </p:nvGrpSpPr>
        <p:grpSpPr bwMode="auto">
          <a:xfrm>
            <a:off x="711129" y="1742498"/>
            <a:ext cx="5256212" cy="3630717"/>
            <a:chOff x="462" y="960"/>
            <a:chExt cx="3311" cy="2533"/>
          </a:xfrm>
        </p:grpSpPr>
        <p:graphicFrame>
          <p:nvGraphicFramePr>
            <p:cNvPr id="16397" name="Object 14">
              <a:extLst>
                <a:ext uri="{FF2B5EF4-FFF2-40B4-BE49-F238E27FC236}">
                  <a16:creationId xmlns:a16="http://schemas.microsoft.com/office/drawing/2014/main" id="{9CF3BA4E-9527-95BF-C166-DDD675B65F3E}"/>
                </a:ext>
              </a:extLst>
            </p:cNvPr>
            <p:cNvGraphicFramePr>
              <a:graphicFrameLocks noChangeAspect="1"/>
            </p:cNvGraphicFramePr>
            <p:nvPr/>
          </p:nvGraphicFramePr>
          <p:xfrm>
            <a:off x="624" y="960"/>
            <a:ext cx="3024" cy="1296"/>
          </p:xfrm>
          <a:graphic>
            <a:graphicData uri="http://schemas.openxmlformats.org/presentationml/2006/ole">
              <mc:AlternateContent xmlns:mc="http://schemas.openxmlformats.org/markup-compatibility/2006">
                <mc:Choice xmlns:v="urn:schemas-microsoft-com:vml" Requires="v">
                  <p:oleObj name="Microsoft Drawing" r:id="rId8" imgW="1758950" imgH="757238" progId="MSDraw">
                    <p:embed/>
                  </p:oleObj>
                </mc:Choice>
                <mc:Fallback>
                  <p:oleObj name="Microsoft Drawing" r:id="rId8" imgW="1758950" imgH="757238" progId="MSDraw">
                    <p:embed/>
                    <p:pic>
                      <p:nvPicPr>
                        <p:cNvPr id="16397" name="Object 14">
                          <a:extLst>
                            <a:ext uri="{FF2B5EF4-FFF2-40B4-BE49-F238E27FC236}">
                              <a16:creationId xmlns:a16="http://schemas.microsoft.com/office/drawing/2014/main" id="{9CF3BA4E-9527-95BF-C166-DDD675B65F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 y="960"/>
                          <a:ext cx="302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8" name="Object 15">
              <a:extLst>
                <a:ext uri="{FF2B5EF4-FFF2-40B4-BE49-F238E27FC236}">
                  <a16:creationId xmlns:a16="http://schemas.microsoft.com/office/drawing/2014/main" id="{1CF46E9F-3910-3E7D-4F2A-C7DDA784CAC5}"/>
                </a:ext>
              </a:extLst>
            </p:cNvPr>
            <p:cNvGraphicFramePr>
              <a:graphicFrameLocks noChangeAspect="1"/>
            </p:cNvGraphicFramePr>
            <p:nvPr>
              <p:extLst>
                <p:ext uri="{D42A27DB-BD31-4B8C-83A1-F6EECF244321}">
                  <p14:modId xmlns:p14="http://schemas.microsoft.com/office/powerpoint/2010/main" val="4012654014"/>
                </p:ext>
              </p:extLst>
            </p:nvPr>
          </p:nvGraphicFramePr>
          <p:xfrm>
            <a:off x="462" y="2432"/>
            <a:ext cx="3311" cy="1061"/>
          </p:xfrm>
          <a:graphic>
            <a:graphicData uri="http://schemas.openxmlformats.org/presentationml/2006/ole">
              <mc:AlternateContent xmlns:mc="http://schemas.openxmlformats.org/markup-compatibility/2006">
                <mc:Choice xmlns:v="urn:schemas-microsoft-com:vml" Requires="v">
                  <p:oleObj name="Microsoft Drawing" r:id="rId10" imgW="2159000" imgH="696913" progId="MSDraw">
                    <p:embed/>
                  </p:oleObj>
                </mc:Choice>
                <mc:Fallback>
                  <p:oleObj name="Microsoft Drawing" r:id="rId10" imgW="2159000" imgH="696913" progId="MSDraw">
                    <p:embed/>
                    <p:pic>
                      <p:nvPicPr>
                        <p:cNvPr id="16398" name="Object 15">
                          <a:extLst>
                            <a:ext uri="{FF2B5EF4-FFF2-40B4-BE49-F238E27FC236}">
                              <a16:creationId xmlns:a16="http://schemas.microsoft.com/office/drawing/2014/main" id="{1CF46E9F-3910-3E7D-4F2A-C7DDA784CAC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2" y="2432"/>
                          <a:ext cx="3311" cy="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10950"/>
                                        </p:tgtEl>
                                        <p:attrNameLst>
                                          <p:attrName>style.visibility</p:attrName>
                                        </p:attrNameLst>
                                      </p:cBhvr>
                                      <p:to>
                                        <p:strVal val="visible"/>
                                      </p:to>
                                    </p:set>
                                    <p:animEffect transition="in" filter="barn(outHorizontal)">
                                      <p:cBhvr>
                                        <p:cTn id="7" dur="500"/>
                                        <p:tgtEl>
                                          <p:spTgt spid="2109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210957"/>
                                        </p:tgtEl>
                                        <p:attrNameLst>
                                          <p:attrName>style.visibility</p:attrName>
                                        </p:attrNameLst>
                                      </p:cBhvr>
                                      <p:to>
                                        <p:strVal val="visible"/>
                                      </p:to>
                                    </p:set>
                                    <p:anim calcmode="lin" valueType="num">
                                      <p:cBhvr>
                                        <p:cTn id="12" dur="500" fill="hold"/>
                                        <p:tgtEl>
                                          <p:spTgt spid="210957"/>
                                        </p:tgtEl>
                                        <p:attrNameLst>
                                          <p:attrName>ppt_w</p:attrName>
                                        </p:attrNameLst>
                                      </p:cBhvr>
                                      <p:tavLst>
                                        <p:tav tm="0">
                                          <p:val>
                                            <p:fltVal val="0"/>
                                          </p:val>
                                        </p:tav>
                                        <p:tav tm="100000">
                                          <p:val>
                                            <p:strVal val="#ppt_w"/>
                                          </p:val>
                                        </p:tav>
                                      </p:tavLst>
                                    </p:anim>
                                    <p:anim calcmode="lin" valueType="num">
                                      <p:cBhvr>
                                        <p:cTn id="13" dur="500" fill="hold"/>
                                        <p:tgtEl>
                                          <p:spTgt spid="210957"/>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210952"/>
                                        </p:tgtEl>
                                        <p:attrNameLst>
                                          <p:attrName>style.visibility</p:attrName>
                                        </p:attrNameLst>
                                      </p:cBhvr>
                                      <p:to>
                                        <p:strVal val="visible"/>
                                      </p:to>
                                    </p:set>
                                    <p:anim calcmode="lin" valueType="num">
                                      <p:cBhvr>
                                        <p:cTn id="18" dur="500" fill="hold"/>
                                        <p:tgtEl>
                                          <p:spTgt spid="210952"/>
                                        </p:tgtEl>
                                        <p:attrNameLst>
                                          <p:attrName>ppt_w</p:attrName>
                                        </p:attrNameLst>
                                      </p:cBhvr>
                                      <p:tavLst>
                                        <p:tav tm="0">
                                          <p:val>
                                            <p:fltVal val="0"/>
                                          </p:val>
                                        </p:tav>
                                        <p:tav tm="100000">
                                          <p:val>
                                            <p:strVal val="#ppt_w"/>
                                          </p:val>
                                        </p:tav>
                                      </p:tavLst>
                                    </p:anim>
                                    <p:anim calcmode="lin" valueType="num">
                                      <p:cBhvr>
                                        <p:cTn id="19" dur="500" fill="hold"/>
                                        <p:tgtEl>
                                          <p:spTgt spid="210952"/>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42" fill="hold" nodeType="clickEffect">
                                  <p:stCondLst>
                                    <p:cond delay="0"/>
                                  </p:stCondLst>
                                  <p:childTnLst>
                                    <p:set>
                                      <p:cBhvr>
                                        <p:cTn id="23" dur="1" fill="hold">
                                          <p:stCondLst>
                                            <p:cond delay="0"/>
                                          </p:stCondLst>
                                        </p:cTn>
                                        <p:tgtEl>
                                          <p:spTgt spid="210954"/>
                                        </p:tgtEl>
                                        <p:attrNameLst>
                                          <p:attrName>style.visibility</p:attrName>
                                        </p:attrNameLst>
                                      </p:cBhvr>
                                      <p:to>
                                        <p:strVal val="visible"/>
                                      </p:to>
                                    </p:set>
                                    <p:animEffect transition="in" filter="barn(outHorizontal)">
                                      <p:cBhvr>
                                        <p:cTn id="24" dur="500"/>
                                        <p:tgtEl>
                                          <p:spTgt spid="21095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210955"/>
                                        </p:tgtEl>
                                        <p:attrNameLst>
                                          <p:attrName>style.visibility</p:attrName>
                                        </p:attrNameLst>
                                      </p:cBhvr>
                                      <p:to>
                                        <p:strVal val="visible"/>
                                      </p:to>
                                    </p:set>
                                    <p:animEffect transition="in" filter="barn(outHorizontal)">
                                      <p:cBhvr>
                                        <p:cTn id="29" dur="500"/>
                                        <p:tgtEl>
                                          <p:spTgt spid="210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52" grpId="0" autoUpdateAnimBg="0"/>
      <p:bldP spid="21095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CB439723-E4D4-1BE6-1CA3-65C31416DA72}"/>
              </a:ext>
            </a:extLst>
          </p:cNvPr>
          <p:cNvSpPr>
            <a:spLocks noGrp="1"/>
          </p:cNvSpPr>
          <p:nvPr>
            <p:ph type="sldNum" sz="quarter" idx="12"/>
          </p:nvPr>
        </p:nvSpPr>
        <p:spPr/>
        <p:txBody>
          <a:bodyPr/>
          <a:lstStyle/>
          <a:p>
            <a:pPr>
              <a:defRPr/>
            </a:pPr>
            <a:fld id="{0CDA43EB-F71F-4193-B351-590B8C9A8F45}" type="slidenum">
              <a:rPr lang="en-US" altLang="zh-CN"/>
              <a:pPr>
                <a:defRPr/>
              </a:pPr>
              <a:t>31</a:t>
            </a:fld>
            <a:endParaRPr lang="en-US" altLang="zh-CN"/>
          </a:p>
        </p:txBody>
      </p:sp>
      <p:sp>
        <p:nvSpPr>
          <p:cNvPr id="17411" name="Rectangle 2">
            <a:extLst>
              <a:ext uri="{FF2B5EF4-FFF2-40B4-BE49-F238E27FC236}">
                <a16:creationId xmlns:a16="http://schemas.microsoft.com/office/drawing/2014/main" id="{114B63FA-CBB8-3748-5096-9D63C94361CC}"/>
              </a:ext>
            </a:extLst>
          </p:cNvPr>
          <p:cNvSpPr>
            <a:spLocks noGrp="1" noChangeArrowheads="1"/>
          </p:cNvSpPr>
          <p:nvPr>
            <p:ph type="title"/>
          </p:nvPr>
        </p:nvSpPr>
        <p:spPr>
          <a:xfrm>
            <a:off x="161925" y="992025"/>
            <a:ext cx="7772400" cy="762000"/>
          </a:xfrm>
        </p:spPr>
        <p:txBody>
          <a:bodyPr/>
          <a:lstStyle/>
          <a:p>
            <a:pPr eaLnBrk="1" hangingPunct="1"/>
            <a:r>
              <a:rPr lang="zh-CN" altLang="en-US" sz="3600" dirty="0">
                <a:ea typeface="华文中宋" panose="02010600040101010101" pitchFamily="2" charset="-122"/>
              </a:rPr>
              <a:t>四、功角的定义</a:t>
            </a:r>
          </a:p>
        </p:txBody>
      </p:sp>
      <p:grpSp>
        <p:nvGrpSpPr>
          <p:cNvPr id="211972" name="Group 4">
            <a:extLst>
              <a:ext uri="{FF2B5EF4-FFF2-40B4-BE49-F238E27FC236}">
                <a16:creationId xmlns:a16="http://schemas.microsoft.com/office/drawing/2014/main" id="{683B074D-348A-9E24-CE5A-000A85D1826A}"/>
              </a:ext>
            </a:extLst>
          </p:cNvPr>
          <p:cNvGrpSpPr>
            <a:grpSpLocks/>
          </p:cNvGrpSpPr>
          <p:nvPr/>
        </p:nvGrpSpPr>
        <p:grpSpPr bwMode="auto">
          <a:xfrm>
            <a:off x="5700192" y="2217440"/>
            <a:ext cx="2819400" cy="1447800"/>
            <a:chOff x="3648" y="1104"/>
            <a:chExt cx="1776" cy="912"/>
          </a:xfrm>
        </p:grpSpPr>
        <p:sp>
          <p:nvSpPr>
            <p:cNvPr id="17421" name="AutoShape 5">
              <a:extLst>
                <a:ext uri="{FF2B5EF4-FFF2-40B4-BE49-F238E27FC236}">
                  <a16:creationId xmlns:a16="http://schemas.microsoft.com/office/drawing/2014/main" id="{CE0BC194-3A78-A8D7-BDFD-BFF066E873F7}"/>
                </a:ext>
              </a:extLst>
            </p:cNvPr>
            <p:cNvSpPr>
              <a:spLocks noChangeArrowheads="1"/>
            </p:cNvSpPr>
            <p:nvPr/>
          </p:nvSpPr>
          <p:spPr bwMode="auto">
            <a:xfrm>
              <a:off x="3648" y="1104"/>
              <a:ext cx="1776" cy="480"/>
            </a:xfrm>
            <a:prstGeom prst="wedgeRoundRectCallout">
              <a:avLst>
                <a:gd name="adj1" fmla="val -155009"/>
                <a:gd name="adj2" fmla="val 14375"/>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buFont typeface="Wingdings" panose="05000000000000000000" pitchFamily="2" charset="2"/>
                <a:buChar char="Ø"/>
              </a:pPr>
              <a:r>
                <a:rPr kumimoji="1" lang="zh-CN" altLang="en-US" b="0">
                  <a:latin typeface="宋体" panose="02010600030101010101" pitchFamily="2" charset="-122"/>
                  <a:ea typeface="宋体" panose="02010600030101010101" pitchFamily="2" charset="-122"/>
                </a:rPr>
                <a:t>功率角简称功角</a:t>
              </a:r>
              <a:r>
                <a:rPr kumimoji="1" lang="zh-CN" altLang="en-US" sz="2400" b="0">
                  <a:latin typeface="Times New Roman" panose="02020603050405020304" pitchFamily="18" charset="0"/>
                  <a:ea typeface="宋体" panose="02010600030101010101" pitchFamily="2" charset="-122"/>
                </a:rPr>
                <a:t> </a:t>
              </a:r>
            </a:p>
          </p:txBody>
        </p:sp>
        <p:graphicFrame>
          <p:nvGraphicFramePr>
            <p:cNvPr id="17422" name="Object 6">
              <a:extLst>
                <a:ext uri="{FF2B5EF4-FFF2-40B4-BE49-F238E27FC236}">
                  <a16:creationId xmlns:a16="http://schemas.microsoft.com/office/drawing/2014/main" id="{48802A8B-F08A-4E00-5B74-DAE1EA7F4485}"/>
                </a:ext>
              </a:extLst>
            </p:cNvPr>
            <p:cNvGraphicFramePr>
              <a:graphicFrameLocks noChangeAspect="1"/>
            </p:cNvGraphicFramePr>
            <p:nvPr/>
          </p:nvGraphicFramePr>
          <p:xfrm>
            <a:off x="3927" y="1584"/>
            <a:ext cx="1458" cy="432"/>
          </p:xfrm>
          <a:graphic>
            <a:graphicData uri="http://schemas.openxmlformats.org/presentationml/2006/ole">
              <mc:AlternateContent xmlns:mc="http://schemas.openxmlformats.org/markup-compatibility/2006">
                <mc:Choice xmlns:v="urn:schemas-microsoft-com:vml" Requires="v">
                  <p:oleObj name="Equation" r:id="rId2" imgW="1066337" imgH="317362" progId="Equation.DSMT4">
                    <p:embed/>
                  </p:oleObj>
                </mc:Choice>
                <mc:Fallback>
                  <p:oleObj name="Equation" r:id="rId2" imgW="1066337" imgH="317362" progId="Equation.DSMT4">
                    <p:embed/>
                    <p:pic>
                      <p:nvPicPr>
                        <p:cNvPr id="17422" name="Object 6">
                          <a:extLst>
                            <a:ext uri="{FF2B5EF4-FFF2-40B4-BE49-F238E27FC236}">
                              <a16:creationId xmlns:a16="http://schemas.microsoft.com/office/drawing/2014/main" id="{48802A8B-F08A-4E00-5B74-DAE1EA7F4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 y="1584"/>
                          <a:ext cx="145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11975" name="Group 7">
            <a:extLst>
              <a:ext uri="{FF2B5EF4-FFF2-40B4-BE49-F238E27FC236}">
                <a16:creationId xmlns:a16="http://schemas.microsoft.com/office/drawing/2014/main" id="{BFCBD38F-922B-A6E5-5957-403F4575CD54}"/>
              </a:ext>
            </a:extLst>
          </p:cNvPr>
          <p:cNvGrpSpPr>
            <a:grpSpLocks/>
          </p:cNvGrpSpPr>
          <p:nvPr/>
        </p:nvGrpSpPr>
        <p:grpSpPr bwMode="auto">
          <a:xfrm>
            <a:off x="975792" y="4655840"/>
            <a:ext cx="5334000" cy="808038"/>
            <a:chOff x="672" y="2640"/>
            <a:chExt cx="3360" cy="509"/>
          </a:xfrm>
        </p:grpSpPr>
        <p:sp>
          <p:nvSpPr>
            <p:cNvPr id="17419" name="AutoShape 8">
              <a:extLst>
                <a:ext uri="{FF2B5EF4-FFF2-40B4-BE49-F238E27FC236}">
                  <a16:creationId xmlns:a16="http://schemas.microsoft.com/office/drawing/2014/main" id="{B95FA0C9-9631-3BE4-7965-FA0AEF475062}"/>
                </a:ext>
              </a:extLst>
            </p:cNvPr>
            <p:cNvSpPr>
              <a:spLocks noChangeArrowheads="1"/>
            </p:cNvSpPr>
            <p:nvPr/>
          </p:nvSpPr>
          <p:spPr bwMode="auto">
            <a:xfrm>
              <a:off x="672" y="2736"/>
              <a:ext cx="1584" cy="384"/>
            </a:xfrm>
            <a:prstGeom prst="wedgeRoundRectCallout">
              <a:avLst>
                <a:gd name="adj1" fmla="val -36551"/>
                <a:gd name="adj2" fmla="val -333856"/>
                <a:gd name="adj3" fmla="val 16667"/>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buFont typeface="Wingdings" panose="05000000000000000000" pitchFamily="2" charset="2"/>
                <a:buChar char="Ø"/>
              </a:pPr>
              <a:r>
                <a:rPr kumimoji="1" lang="zh-CN" altLang="en-US" b="0">
                  <a:latin typeface="宋体" panose="02010600030101010101" pitchFamily="2" charset="-122"/>
                  <a:ea typeface="宋体" panose="02010600030101010101" pitchFamily="2" charset="-122"/>
                </a:rPr>
                <a:t>功率因数角</a:t>
              </a:r>
            </a:p>
          </p:txBody>
        </p:sp>
        <p:graphicFrame>
          <p:nvGraphicFramePr>
            <p:cNvPr id="17420" name="Object 9">
              <a:extLst>
                <a:ext uri="{FF2B5EF4-FFF2-40B4-BE49-F238E27FC236}">
                  <a16:creationId xmlns:a16="http://schemas.microsoft.com/office/drawing/2014/main" id="{A6BD39B9-F268-A7E9-32CD-2AB1D0A23C97}"/>
                </a:ext>
              </a:extLst>
            </p:cNvPr>
            <p:cNvGraphicFramePr>
              <a:graphicFrameLocks noChangeAspect="1"/>
            </p:cNvGraphicFramePr>
            <p:nvPr/>
          </p:nvGraphicFramePr>
          <p:xfrm>
            <a:off x="2400" y="2640"/>
            <a:ext cx="1632" cy="509"/>
          </p:xfrm>
          <a:graphic>
            <a:graphicData uri="http://schemas.openxmlformats.org/presentationml/2006/ole">
              <mc:AlternateContent xmlns:mc="http://schemas.openxmlformats.org/markup-compatibility/2006">
                <mc:Choice xmlns:v="urn:schemas-microsoft-com:vml" Requires="v">
                  <p:oleObj name="Equation" r:id="rId4" imgW="1015559" imgH="317362" progId="Equation.DSMT4">
                    <p:embed/>
                  </p:oleObj>
                </mc:Choice>
                <mc:Fallback>
                  <p:oleObj name="Equation" r:id="rId4" imgW="1015559" imgH="317362" progId="Equation.DSMT4">
                    <p:embed/>
                    <p:pic>
                      <p:nvPicPr>
                        <p:cNvPr id="17420" name="Object 9">
                          <a:extLst>
                            <a:ext uri="{FF2B5EF4-FFF2-40B4-BE49-F238E27FC236}">
                              <a16:creationId xmlns:a16="http://schemas.microsoft.com/office/drawing/2014/main" id="{A6BD39B9-F268-A7E9-32CD-2AB1D0A23C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 y="2640"/>
                          <a:ext cx="1632"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414" name="Object 11">
            <a:extLst>
              <a:ext uri="{FF2B5EF4-FFF2-40B4-BE49-F238E27FC236}">
                <a16:creationId xmlns:a16="http://schemas.microsoft.com/office/drawing/2014/main" id="{8A2EF6F9-E86C-986F-708C-AA96BBB4A994}"/>
              </a:ext>
            </a:extLst>
          </p:cNvPr>
          <p:cNvGraphicFramePr>
            <a:graphicFrameLocks noChangeAspect="1"/>
          </p:cNvGraphicFramePr>
          <p:nvPr>
            <p:extLst>
              <p:ext uri="{D42A27DB-BD31-4B8C-83A1-F6EECF244321}">
                <p14:modId xmlns:p14="http://schemas.microsoft.com/office/powerpoint/2010/main" val="1726699397"/>
              </p:ext>
            </p:extLst>
          </p:nvPr>
        </p:nvGraphicFramePr>
        <p:xfrm>
          <a:off x="899592" y="1988840"/>
          <a:ext cx="4800600" cy="2057400"/>
        </p:xfrm>
        <a:graphic>
          <a:graphicData uri="http://schemas.openxmlformats.org/presentationml/2006/ole">
            <mc:AlternateContent xmlns:mc="http://schemas.openxmlformats.org/markup-compatibility/2006">
              <mc:Choice xmlns:v="urn:schemas-microsoft-com:vml" Requires="v">
                <p:oleObj name="Microsoft Drawing" r:id="rId6" imgW="1758950" imgH="757238" progId="MSDraw">
                  <p:embed/>
                </p:oleObj>
              </mc:Choice>
              <mc:Fallback>
                <p:oleObj name="Microsoft Drawing" r:id="rId6" imgW="1758950" imgH="757238" progId="MSDraw">
                  <p:embed/>
                  <p:pic>
                    <p:nvPicPr>
                      <p:cNvPr id="17414" name="Object 11">
                        <a:extLst>
                          <a:ext uri="{FF2B5EF4-FFF2-40B4-BE49-F238E27FC236}">
                            <a16:creationId xmlns:a16="http://schemas.microsoft.com/office/drawing/2014/main" id="{8A2EF6F9-E86C-986F-708C-AA96BBB4A9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592" y="1988840"/>
                        <a:ext cx="4800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AutoShape 12">
            <a:extLst>
              <a:ext uri="{FF2B5EF4-FFF2-40B4-BE49-F238E27FC236}">
                <a16:creationId xmlns:a16="http://schemas.microsoft.com/office/drawing/2014/main" id="{3C3373D8-9555-359D-28B1-6C98EE4C24BC}"/>
              </a:ext>
            </a:extLst>
          </p:cNvPr>
          <p:cNvSpPr>
            <a:spLocks noChangeArrowheads="1"/>
          </p:cNvSpPr>
          <p:nvPr/>
        </p:nvSpPr>
        <p:spPr bwMode="auto">
          <a:xfrm>
            <a:off x="1051992" y="5113040"/>
            <a:ext cx="914400" cy="609600"/>
          </a:xfrm>
          <a:prstGeom prst="wedgeRoundRectCallout">
            <a:avLst>
              <a:gd name="adj1" fmla="val -43750"/>
              <a:gd name="adj2" fmla="val 70000"/>
              <a:gd name="adj3"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buFont typeface="Wingdings" panose="05000000000000000000" pitchFamily="2" charset="2"/>
              <a:buChar char="Ø"/>
            </a:pPr>
            <a:endParaRPr kumimoji="1" lang="zh-CN" altLang="zh-CN" sz="2400" b="0">
              <a:latin typeface="Times New Roman" panose="02020603050405020304" pitchFamily="18" charset="0"/>
              <a:ea typeface="宋体" panose="02010600030101010101" pitchFamily="2" charset="-122"/>
            </a:endParaRPr>
          </a:p>
        </p:txBody>
      </p:sp>
      <p:sp>
        <p:nvSpPr>
          <p:cNvPr id="17416" name="Rectangle 13">
            <a:extLst>
              <a:ext uri="{FF2B5EF4-FFF2-40B4-BE49-F238E27FC236}">
                <a16:creationId xmlns:a16="http://schemas.microsoft.com/office/drawing/2014/main" id="{078BDB0F-34C9-9BA1-14D4-E0434E0694C8}"/>
              </a:ext>
            </a:extLst>
          </p:cNvPr>
          <p:cNvSpPr>
            <a:spLocks noChangeArrowheads="1"/>
          </p:cNvSpPr>
          <p:nvPr/>
        </p:nvSpPr>
        <p:spPr bwMode="auto">
          <a:xfrm>
            <a:off x="3990975" y="3248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sp>
        <p:nvSpPr>
          <p:cNvPr id="17417" name="Rectangle 14">
            <a:extLst>
              <a:ext uri="{FF2B5EF4-FFF2-40B4-BE49-F238E27FC236}">
                <a16:creationId xmlns:a16="http://schemas.microsoft.com/office/drawing/2014/main" id="{A09061E5-5A92-4CA5-93DC-03C8CA4934CA}"/>
              </a:ext>
            </a:extLst>
          </p:cNvPr>
          <p:cNvSpPr>
            <a:spLocks noChangeArrowheads="1"/>
          </p:cNvSpPr>
          <p:nvPr/>
        </p:nvSpPr>
        <p:spPr bwMode="auto">
          <a:xfrm>
            <a:off x="4048125"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sp>
        <p:nvSpPr>
          <p:cNvPr id="17418" name="Rectangle 15">
            <a:extLst>
              <a:ext uri="{FF2B5EF4-FFF2-40B4-BE49-F238E27FC236}">
                <a16:creationId xmlns:a16="http://schemas.microsoft.com/office/drawing/2014/main" id="{A5D697FB-27FD-0817-45A0-EACABE6D83F4}"/>
              </a:ext>
            </a:extLst>
          </p:cNvPr>
          <p:cNvSpPr>
            <a:spLocks noChangeArrowheads="1"/>
          </p:cNvSpPr>
          <p:nvPr/>
        </p:nvSpPr>
        <p:spPr bwMode="auto">
          <a:xfrm>
            <a:off x="4048125"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11975"/>
                                        </p:tgtEl>
                                        <p:attrNameLst>
                                          <p:attrName>style.visibility</p:attrName>
                                        </p:attrNameLst>
                                      </p:cBhvr>
                                      <p:to>
                                        <p:strVal val="visible"/>
                                      </p:to>
                                    </p:set>
                                    <p:animEffect transition="in" filter="dissolve">
                                      <p:cBhvr>
                                        <p:cTn id="7" dur="500"/>
                                        <p:tgtEl>
                                          <p:spTgt spid="2119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11972"/>
                                        </p:tgtEl>
                                        <p:attrNameLst>
                                          <p:attrName>style.visibility</p:attrName>
                                        </p:attrNameLst>
                                      </p:cBhvr>
                                      <p:to>
                                        <p:strVal val="visible"/>
                                      </p:to>
                                    </p:set>
                                    <p:animEffect transition="in" filter="dissolve">
                                      <p:cBhvr>
                                        <p:cTn id="12" dur="500"/>
                                        <p:tgtEl>
                                          <p:spTgt spid="211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04CF5F8-E288-01C4-74B4-EE80621D63A3}"/>
              </a:ext>
            </a:extLst>
          </p:cNvPr>
          <p:cNvSpPr>
            <a:spLocks noGrp="1"/>
          </p:cNvSpPr>
          <p:nvPr>
            <p:ph type="sldNum" sz="quarter" idx="12"/>
          </p:nvPr>
        </p:nvSpPr>
        <p:spPr/>
        <p:txBody>
          <a:bodyPr/>
          <a:lstStyle/>
          <a:p>
            <a:pPr>
              <a:defRPr/>
            </a:pPr>
            <a:fld id="{AE435F90-B428-455B-BD5F-D19AD340B65F}" type="slidenum">
              <a:rPr lang="en-US" altLang="zh-CN"/>
              <a:pPr>
                <a:defRPr/>
              </a:pPr>
              <a:t>32</a:t>
            </a:fld>
            <a:endParaRPr lang="en-US" altLang="zh-CN"/>
          </a:p>
        </p:txBody>
      </p:sp>
      <p:sp>
        <p:nvSpPr>
          <p:cNvPr id="18435" name="Rectangle 2">
            <a:extLst>
              <a:ext uri="{FF2B5EF4-FFF2-40B4-BE49-F238E27FC236}">
                <a16:creationId xmlns:a16="http://schemas.microsoft.com/office/drawing/2014/main" id="{EB4B2BD1-8959-1954-EB15-025CBF1A2DFA}"/>
              </a:ext>
            </a:extLst>
          </p:cNvPr>
          <p:cNvSpPr>
            <a:spLocks noGrp="1" noChangeArrowheads="1"/>
          </p:cNvSpPr>
          <p:nvPr>
            <p:ph type="title"/>
          </p:nvPr>
        </p:nvSpPr>
        <p:spPr>
          <a:xfrm>
            <a:off x="-180528" y="766763"/>
            <a:ext cx="6336954" cy="762000"/>
          </a:xfrm>
        </p:spPr>
        <p:txBody>
          <a:bodyPr/>
          <a:lstStyle/>
          <a:p>
            <a:pPr eaLnBrk="1" hangingPunct="1"/>
            <a:r>
              <a:rPr kumimoji="0" lang="zh-CN" altLang="en-US" sz="3200" b="1" dirty="0">
                <a:solidFill>
                  <a:schemeClr val="tx1"/>
                </a:solidFill>
                <a:latin typeface="Arial" panose="020B0604020202020204" pitchFamily="34" charset="0"/>
                <a:ea typeface="楷体_GB2312" pitchFamily="49" charset="-122"/>
              </a:rPr>
              <a:t>功角</a:t>
            </a:r>
            <a:r>
              <a:rPr kumimoji="0" lang="en-US" altLang="zh-CN" sz="3200" b="1" dirty="0">
                <a:solidFill>
                  <a:schemeClr val="tx1"/>
                </a:solidFill>
                <a:latin typeface="Symbol" panose="05050102010706020507" pitchFamily="18" charset="2"/>
                <a:ea typeface="楷体_GB2312" pitchFamily="49" charset="-122"/>
              </a:rPr>
              <a:t>d</a:t>
            </a:r>
            <a:r>
              <a:rPr kumimoji="0" lang="zh-CN" altLang="en-US" sz="3200" b="1" dirty="0">
                <a:solidFill>
                  <a:schemeClr val="tx1"/>
                </a:solidFill>
                <a:latin typeface="Arial" panose="020B0604020202020204" pitchFamily="34" charset="0"/>
                <a:ea typeface="楷体_GB2312" pitchFamily="49" charset="-122"/>
              </a:rPr>
              <a:t>的双重物理意义：相矢统一</a:t>
            </a:r>
          </a:p>
        </p:txBody>
      </p:sp>
      <p:sp>
        <p:nvSpPr>
          <p:cNvPr id="18436" name="Rectangle 5">
            <a:extLst>
              <a:ext uri="{FF2B5EF4-FFF2-40B4-BE49-F238E27FC236}">
                <a16:creationId xmlns:a16="http://schemas.microsoft.com/office/drawing/2014/main" id="{81F2FDB4-D9F3-2CD9-CC03-D08AE44D035F}"/>
              </a:ext>
            </a:extLst>
          </p:cNvPr>
          <p:cNvSpPr>
            <a:spLocks noGrp="1" noChangeArrowheads="1"/>
          </p:cNvSpPr>
          <p:nvPr>
            <p:ph type="body" idx="1"/>
          </p:nvPr>
        </p:nvSpPr>
        <p:spPr>
          <a:xfrm>
            <a:off x="609600" y="1447800"/>
            <a:ext cx="5867400" cy="762000"/>
          </a:xfrm>
          <a:noFill/>
        </p:spPr>
        <p:txBody>
          <a:bodyPr/>
          <a:lstStyle/>
          <a:p>
            <a:pPr marL="609600" indent="-609600" eaLnBrk="1" hangingPunct="1">
              <a:buFontTx/>
              <a:buAutoNum type="arabicPeriod"/>
            </a:pPr>
            <a:r>
              <a:rPr lang="zh-CN" altLang="en-US" sz="2800" b="1">
                <a:latin typeface="楷体_GB2312" pitchFamily="49" charset="-122"/>
                <a:ea typeface="楷体_GB2312" pitchFamily="49" charset="-122"/>
              </a:rPr>
              <a:t>是电势和电压间的时间相位角</a:t>
            </a:r>
            <a:r>
              <a:rPr lang="en-US" altLang="zh-CN" sz="2800" b="1">
                <a:latin typeface="楷体_GB2312" pitchFamily="49" charset="-122"/>
                <a:ea typeface="楷体_GB2312" pitchFamily="49" charset="-122"/>
              </a:rPr>
              <a:t>;</a:t>
            </a:r>
          </a:p>
        </p:txBody>
      </p:sp>
      <p:graphicFrame>
        <p:nvGraphicFramePr>
          <p:cNvPr id="18437" name="Object 6">
            <a:extLst>
              <a:ext uri="{FF2B5EF4-FFF2-40B4-BE49-F238E27FC236}">
                <a16:creationId xmlns:a16="http://schemas.microsoft.com/office/drawing/2014/main" id="{867BE524-70D1-C56C-5952-37019A347954}"/>
              </a:ext>
            </a:extLst>
          </p:cNvPr>
          <p:cNvGraphicFramePr>
            <a:graphicFrameLocks noChangeAspect="1"/>
          </p:cNvGraphicFramePr>
          <p:nvPr>
            <p:extLst>
              <p:ext uri="{D42A27DB-BD31-4B8C-83A1-F6EECF244321}">
                <p14:modId xmlns:p14="http://schemas.microsoft.com/office/powerpoint/2010/main" val="1525650881"/>
              </p:ext>
            </p:extLst>
          </p:nvPr>
        </p:nvGraphicFramePr>
        <p:xfrm>
          <a:off x="4769643" y="4694815"/>
          <a:ext cx="3414713" cy="1228725"/>
        </p:xfrm>
        <a:graphic>
          <a:graphicData uri="http://schemas.openxmlformats.org/presentationml/2006/ole">
            <mc:AlternateContent xmlns:mc="http://schemas.openxmlformats.org/markup-compatibility/2006">
              <mc:Choice xmlns:v="urn:schemas-microsoft-com:vml" Requires="v">
                <p:oleObj name="Microsoft Drawing" r:id="rId2" imgW="1670050" imgH="603250" progId="MSDraw">
                  <p:embed/>
                </p:oleObj>
              </mc:Choice>
              <mc:Fallback>
                <p:oleObj name="Microsoft Drawing" r:id="rId2" imgW="1670050" imgH="603250" progId="MSDraw">
                  <p:embed/>
                  <p:pic>
                    <p:nvPicPr>
                      <p:cNvPr id="18437" name="Object 6">
                        <a:extLst>
                          <a:ext uri="{FF2B5EF4-FFF2-40B4-BE49-F238E27FC236}">
                            <a16:creationId xmlns:a16="http://schemas.microsoft.com/office/drawing/2014/main" id="{867BE524-70D1-C56C-5952-37019A347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643" y="4694815"/>
                        <a:ext cx="3414713"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2999" name="Group 7">
            <a:extLst>
              <a:ext uri="{FF2B5EF4-FFF2-40B4-BE49-F238E27FC236}">
                <a16:creationId xmlns:a16="http://schemas.microsoft.com/office/drawing/2014/main" id="{FA611A41-BA8F-2896-7063-536250D07F31}"/>
              </a:ext>
            </a:extLst>
          </p:cNvPr>
          <p:cNvGrpSpPr>
            <a:grpSpLocks/>
          </p:cNvGrpSpPr>
          <p:nvPr/>
        </p:nvGrpSpPr>
        <p:grpSpPr bwMode="auto">
          <a:xfrm>
            <a:off x="457200" y="2057400"/>
            <a:ext cx="8229600" cy="4800600"/>
            <a:chOff x="288" y="1296"/>
            <a:chExt cx="5184" cy="3024"/>
          </a:xfrm>
        </p:grpSpPr>
        <p:sp>
          <p:nvSpPr>
            <p:cNvPr id="18441" name="Text Box 8">
              <a:extLst>
                <a:ext uri="{FF2B5EF4-FFF2-40B4-BE49-F238E27FC236}">
                  <a16:creationId xmlns:a16="http://schemas.microsoft.com/office/drawing/2014/main" id="{BBB8CB4B-BBAE-4944-069F-D9C1CA76686D}"/>
                </a:ext>
              </a:extLst>
            </p:cNvPr>
            <p:cNvSpPr txBox="1">
              <a:spLocks noChangeArrowheads="1"/>
            </p:cNvSpPr>
            <p:nvPr/>
          </p:nvSpPr>
          <p:spPr bwMode="auto">
            <a:xfrm>
              <a:off x="336" y="1344"/>
              <a:ext cx="4992"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9144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3716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8288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286000" indent="-4572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7432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32004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6576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4114800" indent="-4572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buFontTx/>
                <a:buAutoNum type="arabicPeriod" startAt="2"/>
              </a:pPr>
              <a:r>
                <a:rPr lang="zh-CN" altLang="en-US" dirty="0"/>
                <a:t>是感应电势的主磁通</a:t>
              </a:r>
              <a:r>
                <a:rPr lang="en-US" altLang="zh-CN" dirty="0" err="1">
                  <a:latin typeface="Symbol" panose="05050102010706020507" pitchFamily="18" charset="2"/>
                </a:rPr>
                <a:t>f</a:t>
              </a:r>
              <a:r>
                <a:rPr lang="en-US" altLang="zh-CN" baseline="-25000" dirty="0" err="1"/>
                <a:t>R</a:t>
              </a:r>
              <a:r>
                <a:rPr lang="zh-CN" altLang="en-US" dirty="0"/>
                <a:t>和电枢电流等效假想磁通</a:t>
              </a:r>
              <a:r>
                <a:rPr lang="en-US" altLang="zh-CN" dirty="0" err="1">
                  <a:latin typeface="Symbol" panose="05050102010706020507" pitchFamily="18" charset="2"/>
                </a:rPr>
                <a:t>f</a:t>
              </a:r>
              <a:r>
                <a:rPr lang="en-US" altLang="zh-CN" baseline="-25000" dirty="0" err="1"/>
                <a:t>net</a:t>
              </a:r>
              <a:r>
                <a:rPr lang="zh-CN" altLang="en-US" dirty="0"/>
                <a:t>之间的夹角。</a:t>
              </a:r>
              <a:endParaRPr kumimoji="1" lang="zh-CN" altLang="en-US" b="0" dirty="0">
                <a:latin typeface="Times New Roman" panose="02020603050405020304" pitchFamily="18" charset="0"/>
                <a:ea typeface="宋体" panose="02010600030101010101" pitchFamily="2" charset="-122"/>
              </a:endParaRPr>
            </a:p>
          </p:txBody>
        </p:sp>
        <p:pic>
          <p:nvPicPr>
            <p:cNvPr id="18442" name="Picture 9">
              <a:extLst>
                <a:ext uri="{FF2B5EF4-FFF2-40B4-BE49-F238E27FC236}">
                  <a16:creationId xmlns:a16="http://schemas.microsoft.com/office/drawing/2014/main" id="{E55F8A7C-B96B-80BD-E6AD-13C14D4431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 y="2160"/>
              <a:ext cx="1974"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AutoShape 10">
              <a:extLst>
                <a:ext uri="{FF2B5EF4-FFF2-40B4-BE49-F238E27FC236}">
                  <a16:creationId xmlns:a16="http://schemas.microsoft.com/office/drawing/2014/main" id="{EAF2275A-D5A6-530E-8357-188F4D90640C}"/>
                </a:ext>
              </a:extLst>
            </p:cNvPr>
            <p:cNvSpPr>
              <a:spLocks noChangeArrowheads="1"/>
            </p:cNvSpPr>
            <p:nvPr/>
          </p:nvSpPr>
          <p:spPr bwMode="auto">
            <a:xfrm>
              <a:off x="288" y="1296"/>
              <a:ext cx="5184" cy="624"/>
            </a:xfrm>
            <a:prstGeom prst="wedgeRectCallout">
              <a:avLst>
                <a:gd name="adj1" fmla="val -32463"/>
                <a:gd name="adj2" fmla="val 215866"/>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endParaRPr kumimoji="1" lang="zh-CN" altLang="zh-CN" sz="2400" b="0">
                <a:latin typeface="Times New Roman" panose="02020603050405020304" pitchFamily="18" charset="0"/>
                <a:ea typeface="宋体" panose="02010600030101010101" pitchFamily="2" charset="-122"/>
              </a:endParaRPr>
            </a:p>
          </p:txBody>
        </p:sp>
      </p:grpSp>
      <p:sp>
        <p:nvSpPr>
          <p:cNvPr id="213003" name="Text Box 11">
            <a:extLst>
              <a:ext uri="{FF2B5EF4-FFF2-40B4-BE49-F238E27FC236}">
                <a16:creationId xmlns:a16="http://schemas.microsoft.com/office/drawing/2014/main" id="{B450B34C-F8EE-8756-48AB-6BF1EA4C90FC}"/>
              </a:ext>
            </a:extLst>
          </p:cNvPr>
          <p:cNvSpPr txBox="1">
            <a:spLocks noChangeArrowheads="1"/>
          </p:cNvSpPr>
          <p:nvPr/>
        </p:nvSpPr>
        <p:spPr bwMode="auto">
          <a:xfrm>
            <a:off x="4191000" y="3505200"/>
            <a:ext cx="4664075"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lang="zh-CN" altLang="en-US" dirty="0">
                <a:solidFill>
                  <a:srgbClr val="FF0000"/>
                </a:solidFill>
              </a:rPr>
              <a:t>也是励磁磁势和三相定子电枢合成磁势间的空间夹角。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12999"/>
                                        </p:tgtEl>
                                        <p:attrNameLst>
                                          <p:attrName>style.visibility</p:attrName>
                                        </p:attrNameLst>
                                      </p:cBhvr>
                                      <p:to>
                                        <p:strVal val="visible"/>
                                      </p:to>
                                    </p:set>
                                    <p:animEffect transition="in" filter="dissolve">
                                      <p:cBhvr>
                                        <p:cTn id="7" dur="500"/>
                                        <p:tgtEl>
                                          <p:spTgt spid="2129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3003"/>
                                        </p:tgtEl>
                                        <p:attrNameLst>
                                          <p:attrName>style.visibility</p:attrName>
                                        </p:attrNameLst>
                                      </p:cBhvr>
                                      <p:to>
                                        <p:strVal val="visible"/>
                                      </p:to>
                                    </p:set>
                                    <p:animEffect transition="in" filter="dissolve">
                                      <p:cBhvr>
                                        <p:cTn id="12" dur="500"/>
                                        <p:tgtEl>
                                          <p:spTgt spid="213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9B33132C-8CE3-CDE4-4DCA-B976D0F43F84}"/>
              </a:ext>
            </a:extLst>
          </p:cNvPr>
          <p:cNvSpPr>
            <a:spLocks noGrp="1"/>
          </p:cNvSpPr>
          <p:nvPr>
            <p:ph type="sldNum" sz="quarter" idx="12"/>
          </p:nvPr>
        </p:nvSpPr>
        <p:spPr/>
        <p:txBody>
          <a:bodyPr/>
          <a:lstStyle/>
          <a:p>
            <a:pPr>
              <a:defRPr/>
            </a:pPr>
            <a:fld id="{7C1C5DDB-D8E9-4DD5-9485-0567EF4A67CC}" type="slidenum">
              <a:rPr lang="en-US" altLang="zh-CN"/>
              <a:pPr>
                <a:defRPr/>
              </a:pPr>
              <a:t>33</a:t>
            </a:fld>
            <a:endParaRPr lang="en-US" altLang="zh-CN"/>
          </a:p>
        </p:txBody>
      </p:sp>
      <p:sp>
        <p:nvSpPr>
          <p:cNvPr id="19459" name="Rectangle 1026">
            <a:extLst>
              <a:ext uri="{FF2B5EF4-FFF2-40B4-BE49-F238E27FC236}">
                <a16:creationId xmlns:a16="http://schemas.microsoft.com/office/drawing/2014/main" id="{04C465C0-B9EC-5F4E-71DC-86A9345A4A96}"/>
              </a:ext>
            </a:extLst>
          </p:cNvPr>
          <p:cNvSpPr>
            <a:spLocks noChangeArrowheads="1"/>
          </p:cNvSpPr>
          <p:nvPr/>
        </p:nvSpPr>
        <p:spPr bwMode="auto">
          <a:xfrm>
            <a:off x="1907704" y="963131"/>
            <a:ext cx="511256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3200" dirty="0">
                <a:solidFill>
                  <a:schemeClr val="tx2"/>
                </a:solidFill>
                <a:latin typeface="Times New Roman" panose="02020603050405020304" pitchFamily="18" charset="0"/>
                <a:ea typeface="宋体" panose="02010600030101010101" pitchFamily="2" charset="-122"/>
              </a:rPr>
              <a:t>讨论：功率输出和运动平衡状态的认识</a:t>
            </a:r>
          </a:p>
        </p:txBody>
      </p:sp>
      <p:graphicFrame>
        <p:nvGraphicFramePr>
          <p:cNvPr id="198659" name="Object 1027">
            <a:extLst>
              <a:ext uri="{FF2B5EF4-FFF2-40B4-BE49-F238E27FC236}">
                <a16:creationId xmlns:a16="http://schemas.microsoft.com/office/drawing/2014/main" id="{F09212C9-4D00-8A94-3ECB-85763EDFED2A}"/>
              </a:ext>
            </a:extLst>
          </p:cNvPr>
          <p:cNvGraphicFramePr>
            <a:graphicFrameLocks noChangeAspect="1"/>
          </p:cNvGraphicFramePr>
          <p:nvPr>
            <p:extLst>
              <p:ext uri="{D42A27DB-BD31-4B8C-83A1-F6EECF244321}">
                <p14:modId xmlns:p14="http://schemas.microsoft.com/office/powerpoint/2010/main" val="107676062"/>
              </p:ext>
            </p:extLst>
          </p:nvPr>
        </p:nvGraphicFramePr>
        <p:xfrm>
          <a:off x="123538" y="1795660"/>
          <a:ext cx="8845550" cy="1360488"/>
        </p:xfrm>
        <a:graphic>
          <a:graphicData uri="http://schemas.openxmlformats.org/presentationml/2006/ole">
            <mc:AlternateContent xmlns:mc="http://schemas.openxmlformats.org/markup-compatibility/2006">
              <mc:Choice xmlns:v="urn:schemas-microsoft-com:vml" Requires="v">
                <p:oleObj name="Equation" r:id="rId2" imgW="4546600" imgH="698500" progId="Equation.DSMT4">
                  <p:embed/>
                </p:oleObj>
              </mc:Choice>
              <mc:Fallback>
                <p:oleObj name="Equation" r:id="rId2" imgW="4546600" imgH="698500" progId="Equation.DSMT4">
                  <p:embed/>
                  <p:pic>
                    <p:nvPicPr>
                      <p:cNvPr id="198659" name="Object 1027">
                        <a:extLst>
                          <a:ext uri="{FF2B5EF4-FFF2-40B4-BE49-F238E27FC236}">
                            <a16:creationId xmlns:a16="http://schemas.microsoft.com/office/drawing/2014/main" id="{F09212C9-4D00-8A94-3ECB-85763EDFE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38" y="1795660"/>
                        <a:ext cx="8845550" cy="1360488"/>
                      </a:xfrm>
                      <a:prstGeom prst="rect">
                        <a:avLst/>
                      </a:prstGeom>
                      <a:solidFill>
                        <a:srgbClr val="00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0" name="Rectangle 1028">
            <a:extLst>
              <a:ext uri="{FF2B5EF4-FFF2-40B4-BE49-F238E27FC236}">
                <a16:creationId xmlns:a16="http://schemas.microsoft.com/office/drawing/2014/main" id="{B64E6EBB-099F-8B75-6E41-0738B83D4C6F}"/>
              </a:ext>
            </a:extLst>
          </p:cNvPr>
          <p:cNvSpPr>
            <a:spLocks noChangeArrowheads="1"/>
          </p:cNvSpPr>
          <p:nvPr/>
        </p:nvSpPr>
        <p:spPr bwMode="auto">
          <a:xfrm>
            <a:off x="355313" y="3565043"/>
            <a:ext cx="8077200"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r>
              <a:rPr lang="zh-CN" altLang="en-US" b="0">
                <a:latin typeface="隶书" panose="02010509060101010101" pitchFamily="49" charset="-122"/>
                <a:ea typeface="隶书" panose="02010509060101010101" pitchFamily="49" charset="-122"/>
              </a:rPr>
              <a:t>转子因有原动机的驱动转矩克服定子合成磁极的制动转矩而做功</a:t>
            </a:r>
            <a:r>
              <a:rPr lang="en-US" altLang="zh-CN" b="0">
                <a:latin typeface="隶书" panose="02010509060101010101" pitchFamily="49" charset="-122"/>
                <a:ea typeface="隶书" panose="02010509060101010101" pitchFamily="49" charset="-122"/>
              </a:rPr>
              <a:t>,</a:t>
            </a:r>
            <a:r>
              <a:rPr lang="zh-CN" altLang="en-US" b="0">
                <a:latin typeface="隶书" panose="02010509060101010101" pitchFamily="49" charset="-122"/>
                <a:ea typeface="隶书" panose="02010509060101010101" pitchFamily="49" charset="-122"/>
              </a:rPr>
              <a:t>实现机电能量转换</a:t>
            </a:r>
            <a:r>
              <a:rPr lang="en-US" altLang="zh-CN" b="0">
                <a:latin typeface="隶书" panose="02010509060101010101" pitchFamily="49" charset="-122"/>
                <a:ea typeface="隶书" panose="02010509060101010101" pitchFamily="49" charset="-122"/>
              </a:rPr>
              <a:t>,</a:t>
            </a:r>
            <a:r>
              <a:rPr lang="zh-CN" altLang="en-US" b="0">
                <a:latin typeface="隶书" panose="02010509060101010101" pitchFamily="49" charset="-122"/>
                <a:ea typeface="隶书" panose="02010509060101010101" pitchFamily="49" charset="-122"/>
              </a:rPr>
              <a:t>将由原动机输入的机械能转变为电能输出。</a:t>
            </a:r>
          </a:p>
        </p:txBody>
      </p:sp>
      <p:sp>
        <p:nvSpPr>
          <p:cNvPr id="198661" name="Rectangle 1029">
            <a:extLst>
              <a:ext uri="{FF2B5EF4-FFF2-40B4-BE49-F238E27FC236}">
                <a16:creationId xmlns:a16="http://schemas.microsoft.com/office/drawing/2014/main" id="{515AE26C-14E0-69C1-11D3-166F06122544}"/>
              </a:ext>
            </a:extLst>
          </p:cNvPr>
          <p:cNvSpPr>
            <a:spLocks noChangeArrowheads="1"/>
          </p:cNvSpPr>
          <p:nvPr/>
        </p:nvSpPr>
        <p:spPr bwMode="auto">
          <a:xfrm>
            <a:off x="431513" y="5165243"/>
            <a:ext cx="822960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buFontTx/>
              <a:buNone/>
            </a:pPr>
            <a:r>
              <a:rPr lang="zh-CN" altLang="en-US" sz="2400">
                <a:solidFill>
                  <a:srgbClr val="008000"/>
                </a:solidFill>
                <a:latin typeface="Arial" panose="020B0604020202020204" pitchFamily="34" charset="0"/>
                <a:ea typeface="华文隶书" panose="02010800040101010101" pitchFamily="2" charset="-122"/>
              </a:rPr>
              <a:t>可见，功角是研究同步发电机运行状态的一个重要参数，它不仅决定了发电机输出有功功率的大小，而且还反映发电机转子的相对空间位置，通过它把同步电机的电磁关系和机械运动紧密联系起来。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8659"/>
                                        </p:tgtEl>
                                        <p:attrNameLst>
                                          <p:attrName>style.visibility</p:attrName>
                                        </p:attrNameLst>
                                      </p:cBhvr>
                                      <p:to>
                                        <p:strVal val="visible"/>
                                      </p:to>
                                    </p:set>
                                    <p:animEffect transition="in" filter="dissolve">
                                      <p:cBhvr>
                                        <p:cTn id="7" dur="500"/>
                                        <p:tgtEl>
                                          <p:spTgt spid="198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8660"/>
                                        </p:tgtEl>
                                        <p:attrNameLst>
                                          <p:attrName>style.visibility</p:attrName>
                                        </p:attrNameLst>
                                      </p:cBhvr>
                                      <p:to>
                                        <p:strVal val="visible"/>
                                      </p:to>
                                    </p:set>
                                    <p:animEffect transition="in" filter="blinds(horizontal)">
                                      <p:cBhvr>
                                        <p:cTn id="12" dur="500"/>
                                        <p:tgtEl>
                                          <p:spTgt spid="1986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8661"/>
                                        </p:tgtEl>
                                        <p:attrNameLst>
                                          <p:attrName>style.visibility</p:attrName>
                                        </p:attrNameLst>
                                      </p:cBhvr>
                                      <p:to>
                                        <p:strVal val="visible"/>
                                      </p:to>
                                    </p:set>
                                    <p:animEffect transition="in" filter="blinds(horizontal)">
                                      <p:cBhvr>
                                        <p:cTn id="17" dur="500"/>
                                        <p:tgtEl>
                                          <p:spTgt spid="198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autoUpdateAnimBg="0"/>
      <p:bldP spid="19866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0EF1E24-4596-1A14-4874-F33CFBF8A3F3}"/>
              </a:ext>
            </a:extLst>
          </p:cNvPr>
          <p:cNvSpPr>
            <a:spLocks noGrp="1"/>
          </p:cNvSpPr>
          <p:nvPr>
            <p:ph type="sldNum" sz="quarter" idx="12"/>
          </p:nvPr>
        </p:nvSpPr>
        <p:spPr>
          <a:xfrm>
            <a:off x="6336407" y="6965603"/>
            <a:ext cx="2133600" cy="476250"/>
          </a:xfrm>
        </p:spPr>
        <p:txBody>
          <a:bodyPr/>
          <a:lstStyle/>
          <a:p>
            <a:pPr>
              <a:defRPr/>
            </a:pPr>
            <a:fld id="{0F273706-8BBF-410E-BEB1-5560B4B8B575}" type="slidenum">
              <a:rPr lang="en-US" altLang="zh-CN"/>
              <a:pPr>
                <a:defRPr/>
              </a:pPr>
              <a:t>34</a:t>
            </a:fld>
            <a:endParaRPr lang="en-US" altLang="zh-CN"/>
          </a:p>
        </p:txBody>
      </p:sp>
      <p:sp>
        <p:nvSpPr>
          <p:cNvPr id="20483" name="Rectangle 2">
            <a:extLst>
              <a:ext uri="{FF2B5EF4-FFF2-40B4-BE49-F238E27FC236}">
                <a16:creationId xmlns:a16="http://schemas.microsoft.com/office/drawing/2014/main" id="{ED8F6A45-0909-C5C1-A0D8-15A465307078}"/>
              </a:ext>
            </a:extLst>
          </p:cNvPr>
          <p:cNvSpPr>
            <a:spLocks noGrp="1" noChangeArrowheads="1"/>
          </p:cNvSpPr>
          <p:nvPr>
            <p:ph type="title"/>
          </p:nvPr>
        </p:nvSpPr>
        <p:spPr>
          <a:xfrm>
            <a:off x="6226870" y="909291"/>
            <a:ext cx="2449512" cy="865187"/>
          </a:xfrm>
        </p:spPr>
        <p:txBody>
          <a:bodyPr/>
          <a:lstStyle/>
          <a:p>
            <a:pPr eaLnBrk="1" hangingPunct="1"/>
            <a:r>
              <a:rPr lang="zh-CN" altLang="en-US" sz="2000" b="1">
                <a:solidFill>
                  <a:schemeClr val="accent2"/>
                </a:solidFill>
                <a:ea typeface="楷体_GB2312" pitchFamily="49" charset="-122"/>
              </a:rPr>
              <a:t>例：同步发电机负载运行特性</a:t>
            </a:r>
          </a:p>
        </p:txBody>
      </p:sp>
      <p:sp>
        <p:nvSpPr>
          <p:cNvPr id="20484" name="Rectangle 3">
            <a:extLst>
              <a:ext uri="{FF2B5EF4-FFF2-40B4-BE49-F238E27FC236}">
                <a16:creationId xmlns:a16="http://schemas.microsoft.com/office/drawing/2014/main" id="{C6BAF515-BC0F-91E6-3B51-9483A6FB81A4}"/>
              </a:ext>
            </a:extLst>
          </p:cNvPr>
          <p:cNvSpPr>
            <a:spLocks noGrp="1" noChangeArrowheads="1"/>
          </p:cNvSpPr>
          <p:nvPr>
            <p:ph type="body" idx="1"/>
          </p:nvPr>
        </p:nvSpPr>
        <p:spPr>
          <a:xfrm>
            <a:off x="251520" y="980728"/>
            <a:ext cx="5616575" cy="2692400"/>
          </a:xfrm>
        </p:spPr>
        <p:txBody>
          <a:bodyPr/>
          <a:lstStyle/>
          <a:p>
            <a:pPr eaLnBrk="1" hangingPunct="1">
              <a:buFontTx/>
              <a:buNone/>
            </a:pPr>
            <a:r>
              <a:rPr lang="zh-CN" altLang="en-US" sz="2400"/>
              <a:t>例</a:t>
            </a:r>
            <a:r>
              <a:rPr lang="en-US" altLang="zh-CN" sz="2400"/>
              <a:t>1</a:t>
            </a:r>
            <a:r>
              <a:rPr lang="zh-CN" altLang="en-US" sz="2400"/>
              <a:t>：一台</a:t>
            </a:r>
            <a:r>
              <a:rPr lang="en-US" altLang="zh-CN" sz="2400"/>
              <a:t>36MVA</a:t>
            </a:r>
            <a:r>
              <a:rPr lang="zh-CN" altLang="en-US" sz="2400"/>
              <a:t>，</a:t>
            </a:r>
            <a:r>
              <a:rPr lang="en-US" altLang="zh-CN" sz="2400"/>
              <a:t>20.8kV</a:t>
            </a:r>
            <a:r>
              <a:rPr lang="zh-CN" altLang="en-US" sz="2400"/>
              <a:t>同步发电机，</a:t>
            </a:r>
          </a:p>
          <a:p>
            <a:pPr eaLnBrk="1" hangingPunct="1">
              <a:buFontTx/>
              <a:buNone/>
            </a:pPr>
            <a:r>
              <a:rPr lang="zh-CN" altLang="en-US" sz="2400"/>
              <a:t>同步电抗为</a:t>
            </a:r>
            <a:r>
              <a:rPr lang="en-US" altLang="zh-CN" sz="2400"/>
              <a:t>9</a:t>
            </a:r>
            <a:r>
              <a:rPr lang="en-US" altLang="zh-CN" sz="2400">
                <a:latin typeface="Symbol" panose="05050102010706020507" pitchFamily="18" charset="2"/>
              </a:rPr>
              <a:t>W</a:t>
            </a:r>
            <a:r>
              <a:rPr lang="zh-CN" altLang="en-US" sz="2400"/>
              <a:t>。如果调节励磁使输出电压保持额定不变，计算在下列条件下的励磁电流，并画出相量图：</a:t>
            </a:r>
          </a:p>
          <a:p>
            <a:pPr eaLnBrk="1" hangingPunct="1">
              <a:buFontTx/>
              <a:buNone/>
            </a:pPr>
            <a:r>
              <a:rPr lang="en-US" altLang="zh-CN" sz="2400"/>
              <a:t>1</a:t>
            </a:r>
            <a:r>
              <a:rPr lang="zh-CN" altLang="en-US" sz="2400"/>
              <a:t>）空载；</a:t>
            </a:r>
          </a:p>
          <a:p>
            <a:pPr eaLnBrk="1" hangingPunct="1">
              <a:buFontTx/>
              <a:buNone/>
            </a:pPr>
            <a:r>
              <a:rPr lang="en-US" altLang="zh-CN" sz="2400"/>
              <a:t>2</a:t>
            </a:r>
            <a:r>
              <a:rPr lang="zh-CN" altLang="en-US" sz="2400"/>
              <a:t>）纯电阻负载</a:t>
            </a:r>
            <a:r>
              <a:rPr lang="en-US" altLang="zh-CN" sz="2400"/>
              <a:t>36MW</a:t>
            </a:r>
            <a:r>
              <a:rPr lang="zh-CN" altLang="en-US" sz="2400"/>
              <a:t>；</a:t>
            </a:r>
          </a:p>
          <a:p>
            <a:pPr eaLnBrk="1" hangingPunct="1">
              <a:buFontTx/>
              <a:buNone/>
            </a:pPr>
            <a:endParaRPr lang="en-US" altLang="zh-CN" sz="2400"/>
          </a:p>
        </p:txBody>
      </p:sp>
      <p:sp>
        <p:nvSpPr>
          <p:cNvPr id="20485" name="Rectangle 7">
            <a:extLst>
              <a:ext uri="{FF2B5EF4-FFF2-40B4-BE49-F238E27FC236}">
                <a16:creationId xmlns:a16="http://schemas.microsoft.com/office/drawing/2014/main" id="{5B7148D2-A56F-4AD9-C4C0-9F609F16B527}"/>
              </a:ext>
            </a:extLst>
          </p:cNvPr>
          <p:cNvSpPr>
            <a:spLocks noChangeArrowheads="1"/>
          </p:cNvSpPr>
          <p:nvPr/>
        </p:nvSpPr>
        <p:spPr bwMode="auto">
          <a:xfrm>
            <a:off x="-216793" y="402079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nvGrpSpPr>
          <p:cNvPr id="113684" name="Group 20">
            <a:extLst>
              <a:ext uri="{FF2B5EF4-FFF2-40B4-BE49-F238E27FC236}">
                <a16:creationId xmlns:a16="http://schemas.microsoft.com/office/drawing/2014/main" id="{4437FAB2-3BB7-6D1C-5D5D-BEDBFE554C5D}"/>
              </a:ext>
            </a:extLst>
          </p:cNvPr>
          <p:cNvGrpSpPr>
            <a:grpSpLocks/>
          </p:cNvGrpSpPr>
          <p:nvPr/>
        </p:nvGrpSpPr>
        <p:grpSpPr bwMode="auto">
          <a:xfrm>
            <a:off x="230882" y="3644553"/>
            <a:ext cx="5748338" cy="534988"/>
            <a:chOff x="282" y="1842"/>
            <a:chExt cx="3621" cy="337"/>
          </a:xfrm>
        </p:grpSpPr>
        <p:sp>
          <p:nvSpPr>
            <p:cNvPr id="20498" name="Text Box 5">
              <a:extLst>
                <a:ext uri="{FF2B5EF4-FFF2-40B4-BE49-F238E27FC236}">
                  <a16:creationId xmlns:a16="http://schemas.microsoft.com/office/drawing/2014/main" id="{2D4731AB-032B-9676-4BF3-C5C78F8993F2}"/>
                </a:ext>
              </a:extLst>
            </p:cNvPr>
            <p:cNvSpPr txBox="1">
              <a:spLocks noChangeArrowheads="1"/>
            </p:cNvSpPr>
            <p:nvPr/>
          </p:nvSpPr>
          <p:spPr bwMode="auto">
            <a:xfrm>
              <a:off x="282" y="1842"/>
              <a:ext cx="68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lang="zh-CN" altLang="en-US"/>
                <a:t>解</a:t>
              </a:r>
              <a:r>
                <a:rPr lang="en-US" altLang="zh-CN"/>
                <a:t>:1)</a:t>
              </a:r>
            </a:p>
          </p:txBody>
        </p:sp>
        <p:graphicFrame>
          <p:nvGraphicFramePr>
            <p:cNvPr id="20499" name="Object 6">
              <a:extLst>
                <a:ext uri="{FF2B5EF4-FFF2-40B4-BE49-F238E27FC236}">
                  <a16:creationId xmlns:a16="http://schemas.microsoft.com/office/drawing/2014/main" id="{08BEC33B-B218-8223-087B-4DEBDEB7142D}"/>
                </a:ext>
              </a:extLst>
            </p:cNvPr>
            <p:cNvGraphicFramePr>
              <a:graphicFrameLocks noChangeAspect="1"/>
            </p:cNvGraphicFramePr>
            <p:nvPr/>
          </p:nvGraphicFramePr>
          <p:xfrm>
            <a:off x="884" y="1842"/>
            <a:ext cx="3019" cy="337"/>
          </p:xfrm>
          <a:graphic>
            <a:graphicData uri="http://schemas.openxmlformats.org/presentationml/2006/ole">
              <mc:AlternateContent xmlns:mc="http://schemas.openxmlformats.org/markup-compatibility/2006">
                <mc:Choice xmlns:v="urn:schemas-microsoft-com:vml" Requires="v">
                  <p:oleObj name="Equation" r:id="rId2" imgW="2413000" imgH="266700" progId="Equation.DSMT4">
                    <p:embed/>
                  </p:oleObj>
                </mc:Choice>
                <mc:Fallback>
                  <p:oleObj name="Equation" r:id="rId2" imgW="2413000" imgH="266700" progId="Equation.DSMT4">
                    <p:embed/>
                    <p:pic>
                      <p:nvPicPr>
                        <p:cNvPr id="20499" name="Object 6">
                          <a:extLst>
                            <a:ext uri="{FF2B5EF4-FFF2-40B4-BE49-F238E27FC236}">
                              <a16:creationId xmlns:a16="http://schemas.microsoft.com/office/drawing/2014/main" id="{08BEC33B-B218-8223-087B-4DEBDEB71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 y="1842"/>
                          <a:ext cx="301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3689" name="Group 25">
            <a:extLst>
              <a:ext uri="{FF2B5EF4-FFF2-40B4-BE49-F238E27FC236}">
                <a16:creationId xmlns:a16="http://schemas.microsoft.com/office/drawing/2014/main" id="{271E84EE-759B-7004-3F5F-F288A4D4399C}"/>
              </a:ext>
            </a:extLst>
          </p:cNvPr>
          <p:cNvGrpSpPr>
            <a:grpSpLocks/>
          </p:cNvGrpSpPr>
          <p:nvPr/>
        </p:nvGrpSpPr>
        <p:grpSpPr bwMode="auto">
          <a:xfrm>
            <a:off x="684285" y="4234901"/>
            <a:ext cx="6892925" cy="1152525"/>
            <a:chOff x="599" y="2205"/>
            <a:chExt cx="4342" cy="726"/>
          </a:xfrm>
        </p:grpSpPr>
        <p:sp>
          <p:nvSpPr>
            <p:cNvPr id="20496" name="Text Box 8">
              <a:extLst>
                <a:ext uri="{FF2B5EF4-FFF2-40B4-BE49-F238E27FC236}">
                  <a16:creationId xmlns:a16="http://schemas.microsoft.com/office/drawing/2014/main" id="{2E338108-753E-6B0F-964A-56F683E78648}"/>
                </a:ext>
              </a:extLst>
            </p:cNvPr>
            <p:cNvSpPr txBox="1">
              <a:spLocks noChangeArrowheads="1"/>
            </p:cNvSpPr>
            <p:nvPr/>
          </p:nvSpPr>
          <p:spPr bwMode="auto">
            <a:xfrm>
              <a:off x="599" y="2205"/>
              <a:ext cx="34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r>
                <a:rPr lang="en-US" altLang="zh-CN"/>
                <a:t>2)</a:t>
              </a:r>
            </a:p>
          </p:txBody>
        </p:sp>
        <p:graphicFrame>
          <p:nvGraphicFramePr>
            <p:cNvPr id="20497" name="Object 9">
              <a:extLst>
                <a:ext uri="{FF2B5EF4-FFF2-40B4-BE49-F238E27FC236}">
                  <a16:creationId xmlns:a16="http://schemas.microsoft.com/office/drawing/2014/main" id="{0AAC1BB1-A2B0-FD2A-B9AA-D0C99DC72DE2}"/>
                </a:ext>
              </a:extLst>
            </p:cNvPr>
            <p:cNvGraphicFramePr>
              <a:graphicFrameLocks noChangeAspect="1"/>
            </p:cNvGraphicFramePr>
            <p:nvPr>
              <p:extLst>
                <p:ext uri="{D42A27DB-BD31-4B8C-83A1-F6EECF244321}">
                  <p14:modId xmlns:p14="http://schemas.microsoft.com/office/powerpoint/2010/main" val="1776712021"/>
                </p:ext>
              </p:extLst>
            </p:nvPr>
          </p:nvGraphicFramePr>
          <p:xfrm>
            <a:off x="870" y="2205"/>
            <a:ext cx="4071" cy="726"/>
          </p:xfrm>
          <a:graphic>
            <a:graphicData uri="http://schemas.openxmlformats.org/presentationml/2006/ole">
              <mc:AlternateContent xmlns:mc="http://schemas.openxmlformats.org/markup-compatibility/2006">
                <mc:Choice xmlns:v="urn:schemas-microsoft-com:vml" Requires="v">
                  <p:oleObj name="Equation" r:id="rId4" imgW="2870200" imgH="508000" progId="Equation.DSMT4">
                    <p:embed/>
                  </p:oleObj>
                </mc:Choice>
                <mc:Fallback>
                  <p:oleObj name="Equation" r:id="rId4" imgW="2870200" imgH="508000" progId="Equation.DSMT4">
                    <p:embed/>
                    <p:pic>
                      <p:nvPicPr>
                        <p:cNvPr id="20497" name="Object 9">
                          <a:extLst>
                            <a:ext uri="{FF2B5EF4-FFF2-40B4-BE49-F238E27FC236}">
                              <a16:creationId xmlns:a16="http://schemas.microsoft.com/office/drawing/2014/main" id="{0AAC1BB1-A2B0-FD2A-B9AA-D0C99DC72D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 y="2205"/>
                          <a:ext cx="4071"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3686" name="Group 22">
            <a:extLst>
              <a:ext uri="{FF2B5EF4-FFF2-40B4-BE49-F238E27FC236}">
                <a16:creationId xmlns:a16="http://schemas.microsoft.com/office/drawing/2014/main" id="{A9850D23-8A89-263A-662D-8C97A8794BED}"/>
              </a:ext>
            </a:extLst>
          </p:cNvPr>
          <p:cNvGrpSpPr>
            <a:grpSpLocks/>
          </p:cNvGrpSpPr>
          <p:nvPr/>
        </p:nvGrpSpPr>
        <p:grpSpPr bwMode="auto">
          <a:xfrm>
            <a:off x="754757" y="5301903"/>
            <a:ext cx="7775575" cy="1393825"/>
            <a:chOff x="612" y="2886"/>
            <a:chExt cx="4898" cy="878"/>
          </a:xfrm>
        </p:grpSpPr>
        <p:graphicFrame>
          <p:nvGraphicFramePr>
            <p:cNvPr id="20494" name="Object 11">
              <a:extLst>
                <a:ext uri="{FF2B5EF4-FFF2-40B4-BE49-F238E27FC236}">
                  <a16:creationId xmlns:a16="http://schemas.microsoft.com/office/drawing/2014/main" id="{3CF7CB05-5547-9E87-288D-0BB81AD786F5}"/>
                </a:ext>
              </a:extLst>
            </p:cNvPr>
            <p:cNvGraphicFramePr>
              <a:graphicFrameLocks noChangeAspect="1"/>
            </p:cNvGraphicFramePr>
            <p:nvPr/>
          </p:nvGraphicFramePr>
          <p:xfrm>
            <a:off x="612" y="2886"/>
            <a:ext cx="4898" cy="392"/>
          </p:xfrm>
          <a:graphic>
            <a:graphicData uri="http://schemas.openxmlformats.org/presentationml/2006/ole">
              <mc:AlternateContent xmlns:mc="http://schemas.openxmlformats.org/markup-compatibility/2006">
                <mc:Choice xmlns:v="urn:schemas-microsoft-com:vml" Requires="v">
                  <p:oleObj name="Equation" r:id="rId6" imgW="3937000" imgH="317500" progId="Equation.DSMT4">
                    <p:embed/>
                  </p:oleObj>
                </mc:Choice>
                <mc:Fallback>
                  <p:oleObj name="Equation" r:id="rId6" imgW="3937000" imgH="317500" progId="Equation.DSMT4">
                    <p:embed/>
                    <p:pic>
                      <p:nvPicPr>
                        <p:cNvPr id="20494" name="Object 11">
                          <a:extLst>
                            <a:ext uri="{FF2B5EF4-FFF2-40B4-BE49-F238E27FC236}">
                              <a16:creationId xmlns:a16="http://schemas.microsoft.com/office/drawing/2014/main" id="{3CF7CB05-5547-9E87-288D-0BB81AD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 y="2886"/>
                          <a:ext cx="489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5" name="Object 14">
              <a:extLst>
                <a:ext uri="{FF2B5EF4-FFF2-40B4-BE49-F238E27FC236}">
                  <a16:creationId xmlns:a16="http://schemas.microsoft.com/office/drawing/2014/main" id="{8CD4AE8E-61D5-B5A5-3BA8-19C2FE6B3821}"/>
                </a:ext>
              </a:extLst>
            </p:cNvPr>
            <p:cNvGraphicFramePr>
              <a:graphicFrameLocks noChangeAspect="1"/>
            </p:cNvGraphicFramePr>
            <p:nvPr/>
          </p:nvGraphicFramePr>
          <p:xfrm>
            <a:off x="657" y="3339"/>
            <a:ext cx="4355" cy="425"/>
          </p:xfrm>
          <a:graphic>
            <a:graphicData uri="http://schemas.openxmlformats.org/presentationml/2006/ole">
              <mc:AlternateContent xmlns:mc="http://schemas.openxmlformats.org/markup-compatibility/2006">
                <mc:Choice xmlns:v="urn:schemas-microsoft-com:vml" Requires="v">
                  <p:oleObj name="Equation" r:id="rId8" imgW="3022600" imgH="292100" progId="Equation.DSMT4">
                    <p:embed/>
                  </p:oleObj>
                </mc:Choice>
                <mc:Fallback>
                  <p:oleObj name="Equation" r:id="rId8" imgW="3022600" imgH="292100" progId="Equation.DSMT4">
                    <p:embed/>
                    <p:pic>
                      <p:nvPicPr>
                        <p:cNvPr id="20495" name="Object 14">
                          <a:extLst>
                            <a:ext uri="{FF2B5EF4-FFF2-40B4-BE49-F238E27FC236}">
                              <a16:creationId xmlns:a16="http://schemas.microsoft.com/office/drawing/2014/main" id="{8CD4AE8E-61D5-B5A5-3BA8-19C2FE6B38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7" y="3339"/>
                          <a:ext cx="4355"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0489" name="Object 16">
            <a:extLst>
              <a:ext uri="{FF2B5EF4-FFF2-40B4-BE49-F238E27FC236}">
                <a16:creationId xmlns:a16="http://schemas.microsoft.com/office/drawing/2014/main" id="{07669734-97F2-B9D7-9F64-AF58C4F6F3D4}"/>
              </a:ext>
            </a:extLst>
          </p:cNvPr>
          <p:cNvGraphicFramePr>
            <a:graphicFrameLocks noChangeAspect="1"/>
          </p:cNvGraphicFramePr>
          <p:nvPr>
            <p:extLst>
              <p:ext uri="{D42A27DB-BD31-4B8C-83A1-F6EECF244321}">
                <p14:modId xmlns:p14="http://schemas.microsoft.com/office/powerpoint/2010/main" val="2024154721"/>
              </p:ext>
            </p:extLst>
          </p:nvPr>
        </p:nvGraphicFramePr>
        <p:xfrm>
          <a:off x="5783957" y="1556991"/>
          <a:ext cx="3143250" cy="3495675"/>
        </p:xfrm>
        <a:graphic>
          <a:graphicData uri="http://schemas.openxmlformats.org/presentationml/2006/ole">
            <mc:AlternateContent xmlns:mc="http://schemas.openxmlformats.org/markup-compatibility/2006">
              <mc:Choice xmlns:v="urn:schemas-microsoft-com:vml" Requires="v">
                <p:oleObj name="Microsoft Drawing" r:id="rId10" imgW="3140075" imgH="3500438" progId="MSDraw">
                  <p:embed/>
                </p:oleObj>
              </mc:Choice>
              <mc:Fallback>
                <p:oleObj name="Microsoft Drawing" r:id="rId10" imgW="3140075" imgH="3500438" progId="MSDraw">
                  <p:embed/>
                  <p:pic>
                    <p:nvPicPr>
                      <p:cNvPr id="20489" name="Object 16">
                        <a:extLst>
                          <a:ext uri="{FF2B5EF4-FFF2-40B4-BE49-F238E27FC236}">
                            <a16:creationId xmlns:a16="http://schemas.microsoft.com/office/drawing/2014/main" id="{07669734-97F2-B9D7-9F64-AF58C4F6F3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83957" y="1556991"/>
                        <a:ext cx="31432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82" name="AutoShape 18">
            <a:extLst>
              <a:ext uri="{FF2B5EF4-FFF2-40B4-BE49-F238E27FC236}">
                <a16:creationId xmlns:a16="http://schemas.microsoft.com/office/drawing/2014/main" id="{3E34A48E-BB90-0A60-CE05-5853735FFBBB}"/>
              </a:ext>
            </a:extLst>
          </p:cNvPr>
          <p:cNvSpPr>
            <a:spLocks noChangeArrowheads="1"/>
          </p:cNvSpPr>
          <p:nvPr/>
        </p:nvSpPr>
        <p:spPr bwMode="auto">
          <a:xfrm>
            <a:off x="7544494" y="4777235"/>
            <a:ext cx="1851025" cy="576262"/>
          </a:xfrm>
          <a:prstGeom prst="wedgeRoundRectCallout">
            <a:avLst>
              <a:gd name="adj1" fmla="val -161025"/>
              <a:gd name="adj2" fmla="val 199350"/>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lang="zh-CN" altLang="en-US" dirty="0"/>
              <a:t>高于输出电压</a:t>
            </a:r>
          </a:p>
        </p:txBody>
      </p:sp>
      <p:sp>
        <p:nvSpPr>
          <p:cNvPr id="113683" name="AutoShape 19">
            <a:extLst>
              <a:ext uri="{FF2B5EF4-FFF2-40B4-BE49-F238E27FC236}">
                <a16:creationId xmlns:a16="http://schemas.microsoft.com/office/drawing/2014/main" id="{F4A83A2A-7B85-0D75-D236-B5D3870FC352}"/>
              </a:ext>
            </a:extLst>
          </p:cNvPr>
          <p:cNvSpPr>
            <a:spLocks noChangeArrowheads="1"/>
          </p:cNvSpPr>
          <p:nvPr/>
        </p:nvSpPr>
        <p:spPr bwMode="auto">
          <a:xfrm>
            <a:off x="5939532" y="1196628"/>
            <a:ext cx="2987675" cy="1439863"/>
          </a:xfrm>
          <a:prstGeom prst="wedgeRoundRectCallout">
            <a:avLst>
              <a:gd name="adj1" fmla="val -9722"/>
              <a:gd name="adj2" fmla="val 292889"/>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lang="zh-CN" altLang="en-US"/>
              <a:t>为保持输出电压恒定，励磁电流增加了</a:t>
            </a:r>
            <a:r>
              <a:rPr lang="en-US" altLang="zh-CN"/>
              <a:t>1</a:t>
            </a:r>
            <a:r>
              <a:rPr lang="zh-CN" altLang="en-US"/>
              <a:t>倍</a:t>
            </a:r>
          </a:p>
        </p:txBody>
      </p:sp>
      <p:sp>
        <p:nvSpPr>
          <p:cNvPr id="113687" name="AutoShape 23">
            <a:extLst>
              <a:ext uri="{FF2B5EF4-FFF2-40B4-BE49-F238E27FC236}">
                <a16:creationId xmlns:a16="http://schemas.microsoft.com/office/drawing/2014/main" id="{8351ABB6-80E0-1476-B38A-D64294E711E4}"/>
              </a:ext>
            </a:extLst>
          </p:cNvPr>
          <p:cNvSpPr>
            <a:spLocks noChangeArrowheads="1"/>
          </p:cNvSpPr>
          <p:nvPr/>
        </p:nvSpPr>
        <p:spPr bwMode="auto">
          <a:xfrm>
            <a:off x="1115120" y="3644553"/>
            <a:ext cx="4752975" cy="433388"/>
          </a:xfrm>
          <a:prstGeom prst="wedgeRectCallout">
            <a:avLst>
              <a:gd name="adj1" fmla="val 70542"/>
              <a:gd name="adj2" fmla="val -265750"/>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endParaRPr lang="zh-CN" altLang="zh-CN"/>
          </a:p>
        </p:txBody>
      </p:sp>
      <p:sp>
        <p:nvSpPr>
          <p:cNvPr id="113688" name="AutoShape 24">
            <a:extLst>
              <a:ext uri="{FF2B5EF4-FFF2-40B4-BE49-F238E27FC236}">
                <a16:creationId xmlns:a16="http://schemas.microsoft.com/office/drawing/2014/main" id="{C4842BD0-C26E-6656-D2A4-F32F1B60833F}"/>
              </a:ext>
            </a:extLst>
          </p:cNvPr>
          <p:cNvSpPr>
            <a:spLocks noChangeArrowheads="1"/>
          </p:cNvSpPr>
          <p:nvPr/>
        </p:nvSpPr>
        <p:spPr bwMode="auto">
          <a:xfrm>
            <a:off x="754757" y="5949603"/>
            <a:ext cx="7129463" cy="792163"/>
          </a:xfrm>
          <a:prstGeom prst="wedgeRoundRectCallout">
            <a:avLst>
              <a:gd name="adj1" fmla="val 44301"/>
              <a:gd name="adj2" fmla="val -508718"/>
              <a:gd name="adj3" fmla="val 16667"/>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3684"/>
                                        </p:tgtEl>
                                        <p:attrNameLst>
                                          <p:attrName>style.visibility</p:attrName>
                                        </p:attrNameLst>
                                      </p:cBhvr>
                                      <p:to>
                                        <p:strVal val="visible"/>
                                      </p:to>
                                    </p:set>
                                    <p:animEffect transition="in" filter="blinds(horizontal)">
                                      <p:cBhvr>
                                        <p:cTn id="7" dur="500"/>
                                        <p:tgtEl>
                                          <p:spTgt spid="113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3687"/>
                                        </p:tgtEl>
                                        <p:attrNameLst>
                                          <p:attrName>style.visibility</p:attrName>
                                        </p:attrNameLst>
                                      </p:cBhvr>
                                      <p:to>
                                        <p:strVal val="visible"/>
                                      </p:to>
                                    </p:set>
                                    <p:animEffect transition="in" filter="blinds(horizontal)">
                                      <p:cBhvr>
                                        <p:cTn id="12" dur="500"/>
                                        <p:tgtEl>
                                          <p:spTgt spid="113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3689"/>
                                        </p:tgtEl>
                                        <p:attrNameLst>
                                          <p:attrName>style.visibility</p:attrName>
                                        </p:attrNameLst>
                                      </p:cBhvr>
                                      <p:to>
                                        <p:strVal val="visible"/>
                                      </p:to>
                                    </p:set>
                                    <p:animEffect transition="in" filter="blinds(horizontal)">
                                      <p:cBhvr>
                                        <p:cTn id="17" dur="500"/>
                                        <p:tgtEl>
                                          <p:spTgt spid="1136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3686"/>
                                        </p:tgtEl>
                                        <p:attrNameLst>
                                          <p:attrName>style.visibility</p:attrName>
                                        </p:attrNameLst>
                                      </p:cBhvr>
                                      <p:to>
                                        <p:strVal val="visible"/>
                                      </p:to>
                                    </p:set>
                                    <p:animEffect transition="in" filter="blinds(horizontal)">
                                      <p:cBhvr>
                                        <p:cTn id="22" dur="500"/>
                                        <p:tgtEl>
                                          <p:spTgt spid="1136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3688"/>
                                        </p:tgtEl>
                                        <p:attrNameLst>
                                          <p:attrName>style.visibility</p:attrName>
                                        </p:attrNameLst>
                                      </p:cBhvr>
                                      <p:to>
                                        <p:strVal val="visible"/>
                                      </p:to>
                                    </p:set>
                                    <p:animEffect transition="in" filter="blinds(horizontal)">
                                      <p:cBhvr>
                                        <p:cTn id="27" dur="500"/>
                                        <p:tgtEl>
                                          <p:spTgt spid="1136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113682"/>
                                        </p:tgtEl>
                                        <p:attrNameLst>
                                          <p:attrName>style.visibility</p:attrName>
                                        </p:attrNameLst>
                                      </p:cBhvr>
                                      <p:to>
                                        <p:strVal val="visible"/>
                                      </p:to>
                                    </p:set>
                                    <p:anim calcmode="lin" valueType="num">
                                      <p:cBhvr>
                                        <p:cTn id="32" dur="500" fill="hold"/>
                                        <p:tgtEl>
                                          <p:spTgt spid="113682"/>
                                        </p:tgtEl>
                                        <p:attrNameLst>
                                          <p:attrName>ppt_w</p:attrName>
                                        </p:attrNameLst>
                                      </p:cBhvr>
                                      <p:tavLst>
                                        <p:tav tm="0">
                                          <p:val>
                                            <p:fltVal val="0"/>
                                          </p:val>
                                        </p:tav>
                                        <p:tav tm="100000">
                                          <p:val>
                                            <p:strVal val="#ppt_w"/>
                                          </p:val>
                                        </p:tav>
                                      </p:tavLst>
                                    </p:anim>
                                    <p:anim calcmode="lin" valueType="num">
                                      <p:cBhvr>
                                        <p:cTn id="33" dur="500" fill="hold"/>
                                        <p:tgtEl>
                                          <p:spTgt spid="113682"/>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10" fill="hold" grpId="0" nodeType="clickEffect">
                                  <p:stCondLst>
                                    <p:cond delay="0"/>
                                  </p:stCondLst>
                                  <p:childTnLst>
                                    <p:set>
                                      <p:cBhvr>
                                        <p:cTn id="37" dur="1" fill="hold">
                                          <p:stCondLst>
                                            <p:cond delay="0"/>
                                          </p:stCondLst>
                                        </p:cTn>
                                        <p:tgtEl>
                                          <p:spTgt spid="113683"/>
                                        </p:tgtEl>
                                        <p:attrNameLst>
                                          <p:attrName>style.visibility</p:attrName>
                                        </p:attrNameLst>
                                      </p:cBhvr>
                                      <p:to>
                                        <p:strVal val="visible"/>
                                      </p:to>
                                    </p:set>
                                    <p:anim calcmode="lin" valueType="num">
                                      <p:cBhvr>
                                        <p:cTn id="38" dur="500" fill="hold"/>
                                        <p:tgtEl>
                                          <p:spTgt spid="113683"/>
                                        </p:tgtEl>
                                        <p:attrNameLst>
                                          <p:attrName>ppt_w</p:attrName>
                                        </p:attrNameLst>
                                      </p:cBhvr>
                                      <p:tavLst>
                                        <p:tav tm="0">
                                          <p:val>
                                            <p:fltVal val="0"/>
                                          </p:val>
                                        </p:tav>
                                        <p:tav tm="100000">
                                          <p:val>
                                            <p:strVal val="#ppt_w"/>
                                          </p:val>
                                        </p:tav>
                                      </p:tavLst>
                                    </p:anim>
                                    <p:anim calcmode="lin" valueType="num">
                                      <p:cBhvr>
                                        <p:cTn id="39" dur="500" fill="hold"/>
                                        <p:tgtEl>
                                          <p:spTgt spid="1136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2" grpId="0" animBg="1" autoUpdateAnimBg="0"/>
      <p:bldP spid="113683" grpId="0" animBg="1" autoUpdateAnimBg="0"/>
      <p:bldP spid="113687" grpId="0" animBg="1" autoUpdateAnimBg="0"/>
      <p:bldP spid="113688"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7E9C6C40-5170-A44F-9DBE-F79671942B31}"/>
              </a:ext>
            </a:extLst>
          </p:cNvPr>
          <p:cNvSpPr>
            <a:spLocks noGrp="1"/>
          </p:cNvSpPr>
          <p:nvPr>
            <p:ph type="sldNum" sz="quarter" idx="12"/>
          </p:nvPr>
        </p:nvSpPr>
        <p:spPr/>
        <p:txBody>
          <a:bodyPr/>
          <a:lstStyle/>
          <a:p>
            <a:pPr>
              <a:defRPr/>
            </a:pPr>
            <a:fld id="{45DB645C-86FC-436D-970A-23869EAA41C6}" type="slidenum">
              <a:rPr lang="en-US" altLang="zh-CN"/>
              <a:pPr>
                <a:defRPr/>
              </a:pPr>
              <a:t>35</a:t>
            </a:fld>
            <a:endParaRPr lang="en-US" altLang="zh-CN"/>
          </a:p>
        </p:txBody>
      </p:sp>
      <p:sp>
        <p:nvSpPr>
          <p:cNvPr id="21507" name="Rectangle 2">
            <a:extLst>
              <a:ext uri="{FF2B5EF4-FFF2-40B4-BE49-F238E27FC236}">
                <a16:creationId xmlns:a16="http://schemas.microsoft.com/office/drawing/2014/main" id="{6B80ACCB-8921-CC65-A1AF-495FB79CCA16}"/>
              </a:ext>
            </a:extLst>
          </p:cNvPr>
          <p:cNvSpPr>
            <a:spLocks noGrp="1" noChangeArrowheads="1"/>
          </p:cNvSpPr>
          <p:nvPr>
            <p:ph type="title"/>
          </p:nvPr>
        </p:nvSpPr>
        <p:spPr>
          <a:xfrm>
            <a:off x="0" y="0"/>
            <a:ext cx="863600" cy="720725"/>
          </a:xfrm>
        </p:spPr>
        <p:txBody>
          <a:bodyPr/>
          <a:lstStyle/>
          <a:p>
            <a:pPr eaLnBrk="1" hangingPunct="1"/>
            <a:r>
              <a:rPr lang="zh-CN" altLang="en-US" sz="2800">
                <a:solidFill>
                  <a:schemeClr val="accent2"/>
                </a:solidFill>
              </a:rPr>
              <a:t>例</a:t>
            </a:r>
          </a:p>
        </p:txBody>
      </p:sp>
      <p:sp>
        <p:nvSpPr>
          <p:cNvPr id="21508" name="Rectangle 3">
            <a:extLst>
              <a:ext uri="{FF2B5EF4-FFF2-40B4-BE49-F238E27FC236}">
                <a16:creationId xmlns:a16="http://schemas.microsoft.com/office/drawing/2014/main" id="{8F560BEC-C6C1-82EE-4190-5677C0C0C96D}"/>
              </a:ext>
            </a:extLst>
          </p:cNvPr>
          <p:cNvSpPr>
            <a:spLocks noGrp="1" noChangeArrowheads="1"/>
          </p:cNvSpPr>
          <p:nvPr>
            <p:ph type="body" idx="1"/>
          </p:nvPr>
        </p:nvSpPr>
        <p:spPr>
          <a:xfrm>
            <a:off x="4575372" y="9730"/>
            <a:ext cx="3598862" cy="655638"/>
          </a:xfrm>
        </p:spPr>
        <p:txBody>
          <a:bodyPr/>
          <a:lstStyle/>
          <a:p>
            <a:pPr eaLnBrk="1" hangingPunct="1">
              <a:buFontTx/>
              <a:buNone/>
            </a:pPr>
            <a:r>
              <a:rPr lang="zh-CN" altLang="en-US" sz="2400" dirty="0"/>
              <a:t>３）容性负载</a:t>
            </a:r>
            <a:r>
              <a:rPr lang="en-US" altLang="zh-CN" sz="2400" dirty="0"/>
              <a:t>12Mvar</a:t>
            </a:r>
            <a:r>
              <a:rPr lang="zh-CN" altLang="en-US" sz="2400" dirty="0"/>
              <a:t>。</a:t>
            </a:r>
          </a:p>
        </p:txBody>
      </p:sp>
      <p:sp>
        <p:nvSpPr>
          <p:cNvPr id="21509" name="Rectangle 5">
            <a:extLst>
              <a:ext uri="{FF2B5EF4-FFF2-40B4-BE49-F238E27FC236}">
                <a16:creationId xmlns:a16="http://schemas.microsoft.com/office/drawing/2014/main" id="{4422721A-905C-226E-6C1C-8EF078814D55}"/>
              </a:ext>
            </a:extLst>
          </p:cNvPr>
          <p:cNvSpPr>
            <a:spLocks noChangeArrowheads="1"/>
          </p:cNvSpPr>
          <p:nvPr/>
        </p:nvSpPr>
        <p:spPr bwMode="auto">
          <a:xfrm>
            <a:off x="0" y="1681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36196" name="Object 4">
            <a:extLst>
              <a:ext uri="{FF2B5EF4-FFF2-40B4-BE49-F238E27FC236}">
                <a16:creationId xmlns:a16="http://schemas.microsoft.com/office/drawing/2014/main" id="{83BEB346-E602-8AEE-FC19-78AB2F0DF853}"/>
              </a:ext>
            </a:extLst>
          </p:cNvPr>
          <p:cNvGraphicFramePr>
            <a:graphicFrameLocks noChangeAspect="1"/>
          </p:cNvGraphicFramePr>
          <p:nvPr>
            <p:extLst>
              <p:ext uri="{D42A27DB-BD31-4B8C-83A1-F6EECF244321}">
                <p14:modId xmlns:p14="http://schemas.microsoft.com/office/powerpoint/2010/main" val="465364597"/>
              </p:ext>
            </p:extLst>
          </p:nvPr>
        </p:nvGraphicFramePr>
        <p:xfrm>
          <a:off x="609601" y="1988840"/>
          <a:ext cx="7993062" cy="4970463"/>
        </p:xfrm>
        <a:graphic>
          <a:graphicData uri="http://schemas.openxmlformats.org/presentationml/2006/ole">
            <mc:AlternateContent xmlns:mc="http://schemas.openxmlformats.org/markup-compatibility/2006">
              <mc:Choice xmlns:v="urn:schemas-microsoft-com:vml" Requires="v">
                <p:oleObj name="Microsoft Drawing" r:id="rId2" imgW="5621338" imgH="3500438" progId="MSDraw">
                  <p:embed/>
                </p:oleObj>
              </mc:Choice>
              <mc:Fallback>
                <p:oleObj name="Microsoft Drawing" r:id="rId2" imgW="5621338" imgH="3500438" progId="MSDraw">
                  <p:embed/>
                  <p:pic>
                    <p:nvPicPr>
                      <p:cNvPr id="136196" name="Object 4">
                        <a:extLst>
                          <a:ext uri="{FF2B5EF4-FFF2-40B4-BE49-F238E27FC236}">
                            <a16:creationId xmlns:a16="http://schemas.microsoft.com/office/drawing/2014/main" id="{83BEB346-E602-8AEE-FC19-78AB2F0DF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1" y="1988840"/>
                        <a:ext cx="7993062"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6198" name="Object 6">
            <a:extLst>
              <a:ext uri="{FF2B5EF4-FFF2-40B4-BE49-F238E27FC236}">
                <a16:creationId xmlns:a16="http://schemas.microsoft.com/office/drawing/2014/main" id="{28059045-3111-F4E9-847D-E645BE57F9DF}"/>
              </a:ext>
            </a:extLst>
          </p:cNvPr>
          <p:cNvGraphicFramePr>
            <a:graphicFrameLocks noChangeAspect="1"/>
          </p:cNvGraphicFramePr>
          <p:nvPr/>
        </p:nvGraphicFramePr>
        <p:xfrm>
          <a:off x="84138" y="730250"/>
          <a:ext cx="5302250" cy="1525588"/>
        </p:xfrm>
        <a:graphic>
          <a:graphicData uri="http://schemas.openxmlformats.org/presentationml/2006/ole">
            <mc:AlternateContent xmlns:mc="http://schemas.openxmlformats.org/markup-compatibility/2006">
              <mc:Choice xmlns:v="urn:schemas-microsoft-com:vml" Requires="v">
                <p:oleObj name="Equation" r:id="rId4" imgW="2819400" imgH="812800" progId="Equation.DSMT4">
                  <p:embed/>
                </p:oleObj>
              </mc:Choice>
              <mc:Fallback>
                <p:oleObj name="Equation" r:id="rId4" imgW="2819400" imgH="812800" progId="Equation.DSMT4">
                  <p:embed/>
                  <p:pic>
                    <p:nvPicPr>
                      <p:cNvPr id="136198" name="Object 6">
                        <a:extLst>
                          <a:ext uri="{FF2B5EF4-FFF2-40B4-BE49-F238E27FC236}">
                            <a16:creationId xmlns:a16="http://schemas.microsoft.com/office/drawing/2014/main" id="{28059045-3111-F4E9-847D-E645BE57F9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38" y="730250"/>
                        <a:ext cx="5302250" cy="15255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9">
            <a:extLst>
              <a:ext uri="{FF2B5EF4-FFF2-40B4-BE49-F238E27FC236}">
                <a16:creationId xmlns:a16="http://schemas.microsoft.com/office/drawing/2014/main" id="{0D43A303-0B28-9A1A-05C1-DEDE4978D1D8}"/>
              </a:ext>
            </a:extLst>
          </p:cNvPr>
          <p:cNvSpPr>
            <a:spLocks noChangeArrowheads="1"/>
          </p:cNvSpPr>
          <p:nvPr/>
        </p:nvSpPr>
        <p:spPr bwMode="auto">
          <a:xfrm>
            <a:off x="0"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36200" name="Object 8">
            <a:extLst>
              <a:ext uri="{FF2B5EF4-FFF2-40B4-BE49-F238E27FC236}">
                <a16:creationId xmlns:a16="http://schemas.microsoft.com/office/drawing/2014/main" id="{910BC8FC-F67C-91A8-ED16-5719FBC03F37}"/>
              </a:ext>
            </a:extLst>
          </p:cNvPr>
          <p:cNvGraphicFramePr>
            <a:graphicFrameLocks noChangeAspect="1"/>
          </p:cNvGraphicFramePr>
          <p:nvPr/>
        </p:nvGraphicFramePr>
        <p:xfrm>
          <a:off x="4391025" y="260350"/>
          <a:ext cx="4752975" cy="595313"/>
        </p:xfrm>
        <a:graphic>
          <a:graphicData uri="http://schemas.openxmlformats.org/presentationml/2006/ole">
            <mc:AlternateContent xmlns:mc="http://schemas.openxmlformats.org/markup-compatibility/2006">
              <mc:Choice xmlns:v="urn:schemas-microsoft-com:vml" Requires="v">
                <p:oleObj name="Equation" r:id="rId6" imgW="2501900" imgH="317500" progId="Equation.DSMT4">
                  <p:embed/>
                </p:oleObj>
              </mc:Choice>
              <mc:Fallback>
                <p:oleObj name="Equation" r:id="rId6" imgW="2501900" imgH="317500" progId="Equation.DSMT4">
                  <p:embed/>
                  <p:pic>
                    <p:nvPicPr>
                      <p:cNvPr id="136200" name="Object 8">
                        <a:extLst>
                          <a:ext uri="{FF2B5EF4-FFF2-40B4-BE49-F238E27FC236}">
                            <a16:creationId xmlns:a16="http://schemas.microsoft.com/office/drawing/2014/main" id="{910BC8FC-F67C-91A8-ED16-5719FBC03F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1025" y="260350"/>
                        <a:ext cx="47529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4" name="Rectangle 11">
            <a:extLst>
              <a:ext uri="{FF2B5EF4-FFF2-40B4-BE49-F238E27FC236}">
                <a16:creationId xmlns:a16="http://schemas.microsoft.com/office/drawing/2014/main" id="{0D68F0C6-3586-5AFC-1E42-F8E9E48A682F}"/>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136202" name="Object 10">
            <a:extLst>
              <a:ext uri="{FF2B5EF4-FFF2-40B4-BE49-F238E27FC236}">
                <a16:creationId xmlns:a16="http://schemas.microsoft.com/office/drawing/2014/main" id="{9411EEAD-BC6C-BDB8-FE7E-1D31B5623271}"/>
              </a:ext>
            </a:extLst>
          </p:cNvPr>
          <p:cNvGraphicFramePr>
            <a:graphicFrameLocks noChangeAspect="1"/>
          </p:cNvGraphicFramePr>
          <p:nvPr/>
        </p:nvGraphicFramePr>
        <p:xfrm>
          <a:off x="5383213" y="1052513"/>
          <a:ext cx="3760787" cy="1106487"/>
        </p:xfrm>
        <a:graphic>
          <a:graphicData uri="http://schemas.openxmlformats.org/presentationml/2006/ole">
            <mc:AlternateContent xmlns:mc="http://schemas.openxmlformats.org/markup-compatibility/2006">
              <mc:Choice xmlns:v="urn:schemas-microsoft-com:vml" Requires="v">
                <p:oleObj name="Equation" r:id="rId8" imgW="1917700" imgH="558800" progId="Equation.DSMT4">
                  <p:embed/>
                </p:oleObj>
              </mc:Choice>
              <mc:Fallback>
                <p:oleObj name="Equation" r:id="rId8" imgW="1917700" imgH="558800" progId="Equation.DSMT4">
                  <p:embed/>
                  <p:pic>
                    <p:nvPicPr>
                      <p:cNvPr id="136202" name="Object 10">
                        <a:extLst>
                          <a:ext uri="{FF2B5EF4-FFF2-40B4-BE49-F238E27FC236}">
                            <a16:creationId xmlns:a16="http://schemas.microsoft.com/office/drawing/2014/main" id="{9411EEAD-BC6C-BDB8-FE7E-1D31B56232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3213" y="1052513"/>
                        <a:ext cx="3760787"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6204" name="AutoShape 12">
            <a:extLst>
              <a:ext uri="{FF2B5EF4-FFF2-40B4-BE49-F238E27FC236}">
                <a16:creationId xmlns:a16="http://schemas.microsoft.com/office/drawing/2014/main" id="{DA2CD928-2029-64D9-6F33-ED7350404FA0}"/>
              </a:ext>
            </a:extLst>
          </p:cNvPr>
          <p:cNvSpPr>
            <a:spLocks noChangeArrowheads="1"/>
          </p:cNvSpPr>
          <p:nvPr/>
        </p:nvSpPr>
        <p:spPr bwMode="auto">
          <a:xfrm>
            <a:off x="7235825" y="1844675"/>
            <a:ext cx="1728788" cy="1008063"/>
          </a:xfrm>
          <a:prstGeom prst="wedgeRoundRectCallout">
            <a:avLst>
              <a:gd name="adj1" fmla="val 30259"/>
              <a:gd name="adj2" fmla="val -79921"/>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lang="zh-CN" altLang="en-US"/>
              <a:t>低于输出电压</a:t>
            </a:r>
          </a:p>
        </p:txBody>
      </p:sp>
      <p:sp>
        <p:nvSpPr>
          <p:cNvPr id="136205" name="AutoShape 13">
            <a:extLst>
              <a:ext uri="{FF2B5EF4-FFF2-40B4-BE49-F238E27FC236}">
                <a16:creationId xmlns:a16="http://schemas.microsoft.com/office/drawing/2014/main" id="{DB750867-1AA2-B795-D48A-A0DA09152BB4}"/>
              </a:ext>
            </a:extLst>
          </p:cNvPr>
          <p:cNvSpPr>
            <a:spLocks noChangeArrowheads="1"/>
          </p:cNvSpPr>
          <p:nvPr/>
        </p:nvSpPr>
        <p:spPr bwMode="auto">
          <a:xfrm>
            <a:off x="5219700" y="4292600"/>
            <a:ext cx="3382963" cy="1185863"/>
          </a:xfrm>
          <a:prstGeom prst="wedgeRoundRectCallout">
            <a:avLst>
              <a:gd name="adj1" fmla="val -11569"/>
              <a:gd name="adj2" fmla="val -241833"/>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lang="zh-CN" altLang="en-US" dirty="0"/>
              <a:t>容性负载为保证输出电压恒定，励磁电流减小。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6198"/>
                                        </p:tgtEl>
                                        <p:attrNameLst>
                                          <p:attrName>style.visibility</p:attrName>
                                        </p:attrNameLst>
                                      </p:cBhvr>
                                      <p:to>
                                        <p:strVal val="visible"/>
                                      </p:to>
                                    </p:set>
                                    <p:animEffect transition="in" filter="blinds(horizontal)">
                                      <p:cBhvr>
                                        <p:cTn id="7" dur="500"/>
                                        <p:tgtEl>
                                          <p:spTgt spid="136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6200"/>
                                        </p:tgtEl>
                                        <p:attrNameLst>
                                          <p:attrName>style.visibility</p:attrName>
                                        </p:attrNameLst>
                                      </p:cBhvr>
                                      <p:to>
                                        <p:strVal val="visible"/>
                                      </p:to>
                                    </p:set>
                                    <p:animEffect transition="in" filter="box(in)">
                                      <p:cBhvr>
                                        <p:cTn id="12" dur="500"/>
                                        <p:tgtEl>
                                          <p:spTgt spid="136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6202"/>
                                        </p:tgtEl>
                                        <p:attrNameLst>
                                          <p:attrName>style.visibility</p:attrName>
                                        </p:attrNameLst>
                                      </p:cBhvr>
                                      <p:to>
                                        <p:strVal val="visible"/>
                                      </p:to>
                                    </p:set>
                                    <p:animEffect transition="in" filter="box(in)">
                                      <p:cBhvr>
                                        <p:cTn id="17" dur="500"/>
                                        <p:tgtEl>
                                          <p:spTgt spid="1362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136204"/>
                                        </p:tgtEl>
                                        <p:attrNameLst>
                                          <p:attrName>style.visibility</p:attrName>
                                        </p:attrNameLst>
                                      </p:cBhvr>
                                      <p:to>
                                        <p:strVal val="visible"/>
                                      </p:to>
                                    </p:set>
                                    <p:anim calcmode="lin" valueType="num">
                                      <p:cBhvr>
                                        <p:cTn id="22" dur="500" fill="hold"/>
                                        <p:tgtEl>
                                          <p:spTgt spid="136204"/>
                                        </p:tgtEl>
                                        <p:attrNameLst>
                                          <p:attrName>ppt_w</p:attrName>
                                        </p:attrNameLst>
                                      </p:cBhvr>
                                      <p:tavLst>
                                        <p:tav tm="0">
                                          <p:val>
                                            <p:fltVal val="0"/>
                                          </p:val>
                                        </p:tav>
                                        <p:tav tm="100000">
                                          <p:val>
                                            <p:strVal val="#ppt_w"/>
                                          </p:val>
                                        </p:tav>
                                      </p:tavLst>
                                    </p:anim>
                                    <p:anim calcmode="lin" valueType="num">
                                      <p:cBhvr>
                                        <p:cTn id="23" dur="500" fill="hold"/>
                                        <p:tgtEl>
                                          <p:spTgt spid="13620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36204"/>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136205"/>
                                        </p:tgtEl>
                                        <p:attrNameLst>
                                          <p:attrName>style.visibility</p:attrName>
                                        </p:attrNameLst>
                                      </p:cBhvr>
                                      <p:to>
                                        <p:strVal val="visible"/>
                                      </p:to>
                                    </p:set>
                                    <p:anim calcmode="lin" valueType="num">
                                      <p:cBhvr>
                                        <p:cTn id="28" dur="500" fill="hold"/>
                                        <p:tgtEl>
                                          <p:spTgt spid="136205"/>
                                        </p:tgtEl>
                                        <p:attrNameLst>
                                          <p:attrName>ppt_w</p:attrName>
                                        </p:attrNameLst>
                                      </p:cBhvr>
                                      <p:tavLst>
                                        <p:tav tm="0">
                                          <p:val>
                                            <p:fltVal val="0"/>
                                          </p:val>
                                        </p:tav>
                                        <p:tav tm="100000">
                                          <p:val>
                                            <p:strVal val="#ppt_w"/>
                                          </p:val>
                                        </p:tav>
                                      </p:tavLst>
                                    </p:anim>
                                    <p:anim calcmode="lin" valueType="num">
                                      <p:cBhvr>
                                        <p:cTn id="29" dur="500" fill="hold"/>
                                        <p:tgtEl>
                                          <p:spTgt spid="13620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36205"/>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nodeType="clickEffect">
                                  <p:stCondLst>
                                    <p:cond delay="0"/>
                                  </p:stCondLst>
                                  <p:childTnLst>
                                    <p:set>
                                      <p:cBhvr>
                                        <p:cTn id="33" dur="1" fill="hold">
                                          <p:stCondLst>
                                            <p:cond delay="0"/>
                                          </p:stCondLst>
                                        </p:cTn>
                                        <p:tgtEl>
                                          <p:spTgt spid="136196"/>
                                        </p:tgtEl>
                                        <p:attrNameLst>
                                          <p:attrName>style.visibility</p:attrName>
                                        </p:attrNameLst>
                                      </p:cBhvr>
                                      <p:to>
                                        <p:strVal val="visible"/>
                                      </p:to>
                                    </p:set>
                                    <p:animEffect transition="in" filter="box(in)">
                                      <p:cBhvr>
                                        <p:cTn id="34" dur="500"/>
                                        <p:tgtEl>
                                          <p:spTgt spid="136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4" grpId="0" animBg="1" autoUpdateAnimBg="0"/>
      <p:bldP spid="136205"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E89488A0-4C6F-98AE-765F-DB8A1772FC01}"/>
              </a:ext>
            </a:extLst>
          </p:cNvPr>
          <p:cNvSpPr>
            <a:spLocks noGrp="1"/>
          </p:cNvSpPr>
          <p:nvPr>
            <p:ph type="sldNum" sz="quarter" idx="12"/>
          </p:nvPr>
        </p:nvSpPr>
        <p:spPr>
          <a:xfrm>
            <a:off x="6134100" y="6464300"/>
            <a:ext cx="2133600" cy="476250"/>
          </a:xfrm>
        </p:spPr>
        <p:txBody>
          <a:bodyPr/>
          <a:lstStyle/>
          <a:p>
            <a:pPr>
              <a:defRPr/>
            </a:pPr>
            <a:fld id="{6A1078FB-8377-44F0-B958-6E4FB121B657}" type="slidenum">
              <a:rPr lang="en-US" altLang="zh-CN"/>
              <a:pPr>
                <a:defRPr/>
              </a:pPr>
              <a:t>36</a:t>
            </a:fld>
            <a:endParaRPr lang="en-US" altLang="zh-CN"/>
          </a:p>
        </p:txBody>
      </p:sp>
      <p:sp>
        <p:nvSpPr>
          <p:cNvPr id="22531" name="Rectangle 1026">
            <a:extLst>
              <a:ext uri="{FF2B5EF4-FFF2-40B4-BE49-F238E27FC236}">
                <a16:creationId xmlns:a16="http://schemas.microsoft.com/office/drawing/2014/main" id="{EEEECA14-7A20-49BF-8656-3FE5302080C7}"/>
              </a:ext>
            </a:extLst>
          </p:cNvPr>
          <p:cNvSpPr>
            <a:spLocks noGrp="1" noChangeArrowheads="1"/>
          </p:cNvSpPr>
          <p:nvPr>
            <p:ph type="title"/>
          </p:nvPr>
        </p:nvSpPr>
        <p:spPr>
          <a:xfrm>
            <a:off x="127620" y="568036"/>
            <a:ext cx="8229600" cy="914400"/>
          </a:xfrm>
        </p:spPr>
        <p:txBody>
          <a:bodyPr/>
          <a:lstStyle/>
          <a:p>
            <a:pPr eaLnBrk="1" hangingPunct="1"/>
            <a:r>
              <a:rPr lang="en-US" altLang="zh-CN" sz="3600" b="1" dirty="0">
                <a:latin typeface="宋体" panose="02010600030101010101" pitchFamily="2" charset="-122"/>
              </a:rPr>
              <a:t>7.4 </a:t>
            </a:r>
            <a:r>
              <a:rPr lang="zh-CN" altLang="en-US" sz="3600" b="1" dirty="0">
                <a:latin typeface="宋体" panose="02010600030101010101" pitchFamily="2" charset="-122"/>
              </a:rPr>
              <a:t>凸极结构对电枢反应磁场的影响</a:t>
            </a:r>
          </a:p>
        </p:txBody>
      </p:sp>
      <p:pic>
        <p:nvPicPr>
          <p:cNvPr id="22532" name="Picture 1029">
            <a:extLst>
              <a:ext uri="{FF2B5EF4-FFF2-40B4-BE49-F238E27FC236}">
                <a16:creationId xmlns:a16="http://schemas.microsoft.com/office/drawing/2014/main" id="{4050B3D7-7BF1-AD7F-137D-E006C8CE95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9700" y="2955925"/>
            <a:ext cx="63246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1030">
            <a:extLst>
              <a:ext uri="{FF2B5EF4-FFF2-40B4-BE49-F238E27FC236}">
                <a16:creationId xmlns:a16="http://schemas.microsoft.com/office/drawing/2014/main" id="{6329AE96-1063-2D97-F831-E35948C59704}"/>
              </a:ext>
            </a:extLst>
          </p:cNvPr>
          <p:cNvSpPr>
            <a:spLocks noChangeArrowheads="1"/>
          </p:cNvSpPr>
          <p:nvPr/>
        </p:nvSpPr>
        <p:spPr bwMode="auto">
          <a:xfrm>
            <a:off x="5372100" y="5781675"/>
            <a:ext cx="3124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lnSpc>
                <a:spcPct val="100000"/>
              </a:lnSpc>
              <a:spcBef>
                <a:spcPct val="0"/>
              </a:spcBef>
              <a:buFontTx/>
              <a:buNone/>
            </a:pPr>
            <a:r>
              <a:rPr kumimoji="1" lang="zh-CN" altLang="en-US" sz="3600" b="0">
                <a:solidFill>
                  <a:schemeClr val="tx2"/>
                </a:solidFill>
                <a:latin typeface="Times New Roman" panose="02020603050405020304" pitchFamily="18" charset="0"/>
                <a:ea typeface="宋体" panose="02010600030101010101" pitchFamily="2" charset="-122"/>
              </a:rPr>
              <a:t>凸极结构特点</a:t>
            </a:r>
          </a:p>
        </p:txBody>
      </p:sp>
      <p:sp>
        <p:nvSpPr>
          <p:cNvPr id="22534" name="Rectangle 1031">
            <a:extLst>
              <a:ext uri="{FF2B5EF4-FFF2-40B4-BE49-F238E27FC236}">
                <a16:creationId xmlns:a16="http://schemas.microsoft.com/office/drawing/2014/main" id="{A4AD65F2-D895-9403-515E-1E119AEB52A2}"/>
              </a:ext>
            </a:extLst>
          </p:cNvPr>
          <p:cNvSpPr>
            <a:spLocks noGrp="1" noChangeArrowheads="1"/>
          </p:cNvSpPr>
          <p:nvPr>
            <p:ph type="body" idx="1"/>
          </p:nvPr>
        </p:nvSpPr>
        <p:spPr>
          <a:xfrm>
            <a:off x="323528" y="1408604"/>
            <a:ext cx="8692852" cy="1905000"/>
          </a:xfrm>
          <a:noFill/>
        </p:spPr>
        <p:txBody>
          <a:bodyPr/>
          <a:lstStyle/>
          <a:p>
            <a:pPr eaLnBrk="1" hangingPunct="1">
              <a:lnSpc>
                <a:spcPct val="90000"/>
              </a:lnSpc>
            </a:pPr>
            <a:r>
              <a:rPr lang="zh-CN" altLang="en-US" sz="2400" dirty="0">
                <a:latin typeface="华文中宋" panose="02010600040101010101" pitchFamily="2" charset="-122"/>
                <a:ea typeface="华文中宋" panose="02010600040101010101" pitchFamily="2" charset="-122"/>
              </a:rPr>
              <a:t>为了获得近似正弦的感应电势，转子凸极的圆弧曲率半径比定子内园半径小，且两圆弧中心不重合，极弧中间气隙最小，两侧逐渐变大，一般最大气隙为中心气隙的</a:t>
            </a:r>
            <a:r>
              <a:rPr lang="en-US" altLang="zh-CN" sz="2400" dirty="0">
                <a:latin typeface="华文中宋" panose="02010600040101010101" pitchFamily="2" charset="-122"/>
                <a:ea typeface="华文中宋" panose="02010600040101010101" pitchFamily="2" charset="-122"/>
              </a:rPr>
              <a:t>1.5~2</a:t>
            </a:r>
            <a:r>
              <a:rPr lang="zh-CN" altLang="en-US" sz="2400" dirty="0">
                <a:latin typeface="华文中宋" panose="02010600040101010101" pitchFamily="2" charset="-122"/>
                <a:ea typeface="华文中宋" panose="02010600040101010101" pitchFamily="2" charset="-122"/>
              </a:rPr>
              <a:t>倍，使气隙磁通密度空间分布接近正弦。但同时也造成凸极电机</a:t>
            </a:r>
            <a:r>
              <a:rPr lang="zh-CN" altLang="en-US" sz="2400" b="1" dirty="0">
                <a:solidFill>
                  <a:schemeClr val="accent2"/>
                </a:solidFill>
                <a:latin typeface="华文中宋" panose="02010600040101010101" pitchFamily="2" charset="-122"/>
                <a:ea typeface="华文中宋" panose="02010600040101010101" pitchFamily="2" charset="-122"/>
              </a:rPr>
              <a:t>气隙不均匀</a:t>
            </a:r>
            <a:r>
              <a:rPr lang="zh-CN" altLang="en-US" sz="2400" dirty="0">
                <a:latin typeface="华文中宋" panose="02010600040101010101" pitchFamily="2" charset="-122"/>
                <a:ea typeface="华文中宋" panose="02010600040101010101" pitchFamily="2" charset="-122"/>
              </a:rPr>
              <a:t>的问题。</a:t>
            </a:r>
          </a:p>
        </p:txBody>
      </p:sp>
      <p:sp>
        <p:nvSpPr>
          <p:cNvPr id="215048" name="AutoShape 1032">
            <a:extLst>
              <a:ext uri="{FF2B5EF4-FFF2-40B4-BE49-F238E27FC236}">
                <a16:creationId xmlns:a16="http://schemas.microsoft.com/office/drawing/2014/main" id="{C2F8F395-02E6-B555-13B1-E349C359642E}"/>
              </a:ext>
            </a:extLst>
          </p:cNvPr>
          <p:cNvSpPr>
            <a:spLocks noChangeArrowheads="1"/>
          </p:cNvSpPr>
          <p:nvPr/>
        </p:nvSpPr>
        <p:spPr bwMode="auto">
          <a:xfrm>
            <a:off x="38100" y="3267075"/>
            <a:ext cx="1752600" cy="609600"/>
          </a:xfrm>
          <a:prstGeom prst="wedgeRoundRectCallout">
            <a:avLst>
              <a:gd name="adj1" fmla="val 136593"/>
              <a:gd name="adj2" fmla="val 4690"/>
              <a:gd name="adj3" fmla="val 16667"/>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a:latin typeface="Times New Roman" panose="02020603050405020304" pitchFamily="18" charset="0"/>
                <a:ea typeface="宋体" panose="02010600030101010101" pitchFamily="2" charset="-122"/>
              </a:rPr>
              <a:t>气隙最小</a:t>
            </a:r>
          </a:p>
        </p:txBody>
      </p:sp>
      <p:sp>
        <p:nvSpPr>
          <p:cNvPr id="215049" name="AutoShape 1033">
            <a:extLst>
              <a:ext uri="{FF2B5EF4-FFF2-40B4-BE49-F238E27FC236}">
                <a16:creationId xmlns:a16="http://schemas.microsoft.com/office/drawing/2014/main" id="{1DC0DD40-79DD-D016-F583-6EE320B9BE47}"/>
              </a:ext>
            </a:extLst>
          </p:cNvPr>
          <p:cNvSpPr>
            <a:spLocks noChangeArrowheads="1"/>
          </p:cNvSpPr>
          <p:nvPr/>
        </p:nvSpPr>
        <p:spPr bwMode="auto">
          <a:xfrm>
            <a:off x="114300" y="4638675"/>
            <a:ext cx="2286000" cy="533400"/>
          </a:xfrm>
          <a:prstGeom prst="wedgeRoundRectCallout">
            <a:avLst>
              <a:gd name="adj1" fmla="val 60694"/>
              <a:gd name="adj2" fmla="val -200296"/>
              <a:gd name="adj3" fmla="val 16667"/>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r>
              <a:rPr kumimoji="1" lang="zh-CN" altLang="en-US" sz="2400" b="0">
                <a:latin typeface="Times New Roman" panose="02020603050405020304" pitchFamily="18" charset="0"/>
                <a:ea typeface="宋体" panose="02010600030101010101" pitchFamily="2" charset="-122"/>
              </a:rPr>
              <a:t>气隙逐渐增大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48"/>
                                        </p:tgtEl>
                                        <p:attrNameLst>
                                          <p:attrName>style.visibility</p:attrName>
                                        </p:attrNameLst>
                                      </p:cBhvr>
                                      <p:to>
                                        <p:strVal val="visible"/>
                                      </p:to>
                                    </p:set>
                                    <p:animEffect transition="in" filter="blinds(horizontal)">
                                      <p:cBhvr>
                                        <p:cTn id="7" dur="500"/>
                                        <p:tgtEl>
                                          <p:spTgt spid="2150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49"/>
                                        </p:tgtEl>
                                        <p:attrNameLst>
                                          <p:attrName>style.visibility</p:attrName>
                                        </p:attrNameLst>
                                      </p:cBhvr>
                                      <p:to>
                                        <p:strVal val="visible"/>
                                      </p:to>
                                    </p:set>
                                    <p:animEffect transition="in" filter="blinds(horizontal)">
                                      <p:cBhvr>
                                        <p:cTn id="12" dur="500"/>
                                        <p:tgtEl>
                                          <p:spTgt spid="215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8" grpId="0" animBg="1" autoUpdateAnimBg="0"/>
      <p:bldP spid="215049"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D388C1F6-6303-A9FE-51BA-DD45C28E02E8}"/>
              </a:ext>
            </a:extLst>
          </p:cNvPr>
          <p:cNvSpPr>
            <a:spLocks noGrp="1"/>
          </p:cNvSpPr>
          <p:nvPr>
            <p:ph type="sldNum" sz="quarter" idx="12"/>
          </p:nvPr>
        </p:nvSpPr>
        <p:spPr>
          <a:xfrm>
            <a:off x="6591300" y="6550025"/>
            <a:ext cx="2133600" cy="476250"/>
          </a:xfrm>
        </p:spPr>
        <p:txBody>
          <a:bodyPr/>
          <a:lstStyle/>
          <a:p>
            <a:pPr>
              <a:defRPr/>
            </a:pPr>
            <a:fld id="{8F61B375-DF36-4837-8139-2BD842F931CA}" type="slidenum">
              <a:rPr lang="en-US" altLang="zh-CN"/>
              <a:pPr>
                <a:defRPr/>
              </a:pPr>
              <a:t>37</a:t>
            </a:fld>
            <a:endParaRPr lang="en-US" altLang="zh-CN"/>
          </a:p>
        </p:txBody>
      </p:sp>
      <p:sp>
        <p:nvSpPr>
          <p:cNvPr id="23555" name="Rectangle 2">
            <a:extLst>
              <a:ext uri="{FF2B5EF4-FFF2-40B4-BE49-F238E27FC236}">
                <a16:creationId xmlns:a16="http://schemas.microsoft.com/office/drawing/2014/main" id="{B654363E-62C1-59FF-4578-5DCBEA0A63D2}"/>
              </a:ext>
            </a:extLst>
          </p:cNvPr>
          <p:cNvSpPr>
            <a:spLocks noGrp="1" noChangeArrowheads="1"/>
          </p:cNvSpPr>
          <p:nvPr>
            <p:ph type="title"/>
          </p:nvPr>
        </p:nvSpPr>
        <p:spPr>
          <a:xfrm>
            <a:off x="800100" y="840581"/>
            <a:ext cx="7543800" cy="609600"/>
          </a:xfrm>
        </p:spPr>
        <p:txBody>
          <a:bodyPr/>
          <a:lstStyle/>
          <a:p>
            <a:pPr marL="1117600" indent="-1117600" eaLnBrk="1" hangingPunct="1"/>
            <a:r>
              <a:rPr lang="zh-CN" altLang="en-US" sz="4000" dirty="0">
                <a:ea typeface="华文中宋" panose="02010600040101010101" pitchFamily="2" charset="-122"/>
              </a:rPr>
              <a:t>凸极的主要特点</a:t>
            </a:r>
          </a:p>
        </p:txBody>
      </p:sp>
      <p:sp>
        <p:nvSpPr>
          <p:cNvPr id="23556" name="Rectangle 3">
            <a:extLst>
              <a:ext uri="{FF2B5EF4-FFF2-40B4-BE49-F238E27FC236}">
                <a16:creationId xmlns:a16="http://schemas.microsoft.com/office/drawing/2014/main" id="{C545B459-4226-C604-2CC2-A937F6A39C9C}"/>
              </a:ext>
            </a:extLst>
          </p:cNvPr>
          <p:cNvSpPr>
            <a:spLocks noGrp="1" noChangeArrowheads="1"/>
          </p:cNvSpPr>
          <p:nvPr>
            <p:ph type="body" idx="1"/>
          </p:nvPr>
        </p:nvSpPr>
        <p:spPr>
          <a:xfrm>
            <a:off x="266700" y="1524000"/>
            <a:ext cx="8610600" cy="1905000"/>
          </a:xfrm>
        </p:spPr>
        <p:txBody>
          <a:bodyPr/>
          <a:lstStyle/>
          <a:p>
            <a:pPr algn="just" eaLnBrk="1" hangingPunct="1"/>
            <a:r>
              <a:rPr lang="zh-CN" altLang="en-US" sz="2400" dirty="0">
                <a:ea typeface="华文中宋" panose="02010600040101010101" pitchFamily="2" charset="-122"/>
              </a:rPr>
              <a:t>转子磁路沿气隙是不均匀的，在两极间存在很大的空隙。当定子电流形成空间旋转磁势时，相应形成的磁通与磁势间并不保持简单线性关系，会随磁路空间位置变化。由于同步，定子旋转磁场和转子磁场间没有相对运动，它们的相对位置由负载性质决定。</a:t>
            </a:r>
            <a:endParaRPr lang="zh-CN" altLang="en-US" dirty="0"/>
          </a:p>
        </p:txBody>
      </p:sp>
      <p:sp>
        <p:nvSpPr>
          <p:cNvPr id="23557" name="Rectangle 5">
            <a:extLst>
              <a:ext uri="{FF2B5EF4-FFF2-40B4-BE49-F238E27FC236}">
                <a16:creationId xmlns:a16="http://schemas.microsoft.com/office/drawing/2014/main" id="{0BBF069B-9183-B451-282E-2677EB48C134}"/>
              </a:ext>
            </a:extLst>
          </p:cNvPr>
          <p:cNvSpPr>
            <a:spLocks noChangeArrowheads="1"/>
          </p:cNvSpPr>
          <p:nvPr/>
        </p:nvSpPr>
        <p:spPr bwMode="auto">
          <a:xfrm>
            <a:off x="3052763" y="2281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pic>
        <p:nvPicPr>
          <p:cNvPr id="23558" name="Picture 4">
            <a:extLst>
              <a:ext uri="{FF2B5EF4-FFF2-40B4-BE49-F238E27FC236}">
                <a16:creationId xmlns:a16="http://schemas.microsoft.com/office/drawing/2014/main" id="{812AC3D0-3DF0-D888-7C4E-60F36C6C88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1300" y="3124200"/>
            <a:ext cx="4953000"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AutoShape 6">
            <a:extLst>
              <a:ext uri="{FF2B5EF4-FFF2-40B4-BE49-F238E27FC236}">
                <a16:creationId xmlns:a16="http://schemas.microsoft.com/office/drawing/2014/main" id="{759504D1-658C-F1DB-3A7F-9C920E61EDEE}"/>
              </a:ext>
            </a:extLst>
          </p:cNvPr>
          <p:cNvSpPr>
            <a:spLocks noChangeArrowheads="1"/>
          </p:cNvSpPr>
          <p:nvPr/>
        </p:nvSpPr>
        <p:spPr bwMode="auto">
          <a:xfrm>
            <a:off x="342900" y="3505200"/>
            <a:ext cx="2209800" cy="2743200"/>
          </a:xfrm>
          <a:prstGeom prst="wedgeRoundRectCallout">
            <a:avLst>
              <a:gd name="adj1" fmla="val 182398"/>
              <a:gd name="adj2" fmla="val 10301"/>
              <a:gd name="adj3" fmla="val 16667"/>
            </a:avLst>
          </a:prstGeom>
          <a:solidFill>
            <a:srgbClr val="FF99CC">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buFont typeface="Wingdings" panose="05000000000000000000" pitchFamily="2" charset="2"/>
              <a:buChar char="Ø"/>
            </a:pPr>
            <a:r>
              <a:rPr kumimoji="1" lang="zh-CN" altLang="en-US" sz="2400" b="0">
                <a:latin typeface="Times New Roman" panose="02020603050405020304" pitchFamily="18" charset="0"/>
                <a:ea typeface="宋体" panose="02010600030101010101" pitchFamily="2" charset="-122"/>
              </a:rPr>
              <a:t>单位功率因数时，电枢反应磁势对气隙磁场仅产生扭曲作用，与直流机情况相似。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blinds(horizontal)">
                                      <p:cBhvr>
                                        <p:cTn id="7"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CFA2431F-62EB-F866-E3FF-03F1A3AA9179}"/>
              </a:ext>
            </a:extLst>
          </p:cNvPr>
          <p:cNvSpPr>
            <a:spLocks noGrp="1"/>
          </p:cNvSpPr>
          <p:nvPr>
            <p:ph type="sldNum" sz="quarter" idx="12"/>
          </p:nvPr>
        </p:nvSpPr>
        <p:spPr/>
        <p:txBody>
          <a:bodyPr/>
          <a:lstStyle/>
          <a:p>
            <a:pPr>
              <a:defRPr/>
            </a:pPr>
            <a:fld id="{E69800F4-512A-49A6-98B8-1820098212CC}" type="slidenum">
              <a:rPr lang="en-US" altLang="zh-CN"/>
              <a:pPr>
                <a:defRPr/>
              </a:pPr>
              <a:t>38</a:t>
            </a:fld>
            <a:endParaRPr lang="en-US" altLang="zh-CN"/>
          </a:p>
        </p:txBody>
      </p:sp>
      <p:sp>
        <p:nvSpPr>
          <p:cNvPr id="24579" name="Rectangle 2">
            <a:extLst>
              <a:ext uri="{FF2B5EF4-FFF2-40B4-BE49-F238E27FC236}">
                <a16:creationId xmlns:a16="http://schemas.microsoft.com/office/drawing/2014/main" id="{1B6BDE0C-F988-17A1-9E5A-DD6F76749E3E}"/>
              </a:ext>
            </a:extLst>
          </p:cNvPr>
          <p:cNvSpPr>
            <a:spLocks noGrp="1" noChangeArrowheads="1"/>
          </p:cNvSpPr>
          <p:nvPr>
            <p:ph type="title"/>
          </p:nvPr>
        </p:nvSpPr>
        <p:spPr>
          <a:xfrm>
            <a:off x="0" y="764704"/>
            <a:ext cx="9144000" cy="762000"/>
          </a:xfrm>
        </p:spPr>
        <p:txBody>
          <a:bodyPr/>
          <a:lstStyle/>
          <a:p>
            <a:pPr eaLnBrk="1" hangingPunct="1"/>
            <a:r>
              <a:rPr lang="zh-CN" altLang="en-US" sz="3200" b="1" dirty="0">
                <a:latin typeface="楷体_GB2312" pitchFamily="49" charset="-122"/>
                <a:ea typeface="楷体_GB2312" pitchFamily="49" charset="-122"/>
              </a:rPr>
              <a:t>一、凸极电机电枢磁势的</a:t>
            </a:r>
            <a:r>
              <a:rPr lang="en-US" altLang="zh-CN" sz="3200" b="1" dirty="0">
                <a:latin typeface="楷体_GB2312" pitchFamily="49" charset="-122"/>
                <a:ea typeface="楷体_GB2312" pitchFamily="49" charset="-122"/>
              </a:rPr>
              <a:t>d</a:t>
            </a: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q</a:t>
            </a:r>
            <a:r>
              <a:rPr lang="zh-CN" altLang="en-US" sz="3200" b="1" dirty="0">
                <a:latin typeface="楷体_GB2312" pitchFamily="49" charset="-122"/>
                <a:ea typeface="楷体_GB2312" pitchFamily="49" charset="-122"/>
              </a:rPr>
              <a:t>分解－双反应理论</a:t>
            </a:r>
          </a:p>
        </p:txBody>
      </p:sp>
      <p:sp>
        <p:nvSpPr>
          <p:cNvPr id="24580" name="Rectangle 3">
            <a:extLst>
              <a:ext uri="{FF2B5EF4-FFF2-40B4-BE49-F238E27FC236}">
                <a16:creationId xmlns:a16="http://schemas.microsoft.com/office/drawing/2014/main" id="{2E99FBCC-54C1-2ABC-DAA5-88E372163D10}"/>
              </a:ext>
            </a:extLst>
          </p:cNvPr>
          <p:cNvSpPr>
            <a:spLocks noGrp="1" noChangeArrowheads="1"/>
          </p:cNvSpPr>
          <p:nvPr>
            <p:ph type="body" idx="1"/>
          </p:nvPr>
        </p:nvSpPr>
        <p:spPr>
          <a:xfrm>
            <a:off x="0" y="1752600"/>
            <a:ext cx="4495800" cy="5105400"/>
          </a:xfrm>
        </p:spPr>
        <p:txBody>
          <a:bodyPr/>
          <a:lstStyle/>
          <a:p>
            <a:pPr algn="just" eaLnBrk="1" hangingPunct="1">
              <a:lnSpc>
                <a:spcPct val="90000"/>
              </a:lnSpc>
              <a:buFontTx/>
              <a:buNone/>
            </a:pPr>
            <a:r>
              <a:rPr lang="zh-CN" altLang="en-US" sz="2800" dirty="0"/>
              <a:t>定子电枢反应基波磁势正弦分布，可分解成两个分量：</a:t>
            </a:r>
            <a:r>
              <a:rPr lang="zh-CN" altLang="en-US" sz="2800" b="1" dirty="0">
                <a:solidFill>
                  <a:schemeClr val="accent2"/>
                </a:solidFill>
                <a:ea typeface="楷体_GB2312" pitchFamily="49" charset="-122"/>
              </a:rPr>
              <a:t>沿转子磁极轴线，称为</a:t>
            </a:r>
            <a:r>
              <a:rPr lang="en-US" altLang="zh-CN" sz="2800" b="1" dirty="0">
                <a:solidFill>
                  <a:schemeClr val="accent2"/>
                </a:solidFill>
                <a:ea typeface="楷体_GB2312" pitchFamily="49" charset="-122"/>
              </a:rPr>
              <a:t>d</a:t>
            </a:r>
            <a:r>
              <a:rPr lang="zh-CN" altLang="en-US" sz="2800" b="1" dirty="0">
                <a:solidFill>
                  <a:schemeClr val="accent2"/>
                </a:solidFill>
                <a:ea typeface="楷体_GB2312" pitchFamily="49" charset="-122"/>
              </a:rPr>
              <a:t>轴分量</a:t>
            </a:r>
            <a:r>
              <a:rPr lang="zh-CN" altLang="en-US" sz="2800" dirty="0"/>
              <a:t>，</a:t>
            </a:r>
            <a:r>
              <a:rPr lang="zh-CN" altLang="en-US" sz="2800" b="1" dirty="0">
                <a:solidFill>
                  <a:srgbClr val="FF0000"/>
                </a:solidFill>
                <a:ea typeface="楷体_GB2312" pitchFamily="49" charset="-122"/>
              </a:rPr>
              <a:t>垂直于转子磁极轴线，称为</a:t>
            </a:r>
            <a:r>
              <a:rPr lang="en-US" altLang="zh-CN" sz="2800" b="1" dirty="0">
                <a:solidFill>
                  <a:srgbClr val="FF0000"/>
                </a:solidFill>
                <a:ea typeface="楷体_GB2312" pitchFamily="49" charset="-122"/>
              </a:rPr>
              <a:t>q</a:t>
            </a:r>
            <a:r>
              <a:rPr lang="zh-CN" altLang="en-US" sz="2800" b="1" dirty="0">
                <a:solidFill>
                  <a:srgbClr val="FF0000"/>
                </a:solidFill>
                <a:ea typeface="楷体_GB2312" pitchFamily="49" charset="-122"/>
              </a:rPr>
              <a:t>轴分量。</a:t>
            </a:r>
            <a:r>
              <a:rPr lang="en-US" altLang="zh-CN" sz="2800" dirty="0"/>
              <a:t>d</a:t>
            </a:r>
            <a:r>
              <a:rPr lang="zh-CN" altLang="en-US" sz="2800" dirty="0"/>
              <a:t>轴上的磁势分量沿</a:t>
            </a:r>
            <a:r>
              <a:rPr lang="en-US" altLang="zh-CN" sz="2800" dirty="0"/>
              <a:t>d</a:t>
            </a:r>
            <a:r>
              <a:rPr lang="zh-CN" altLang="en-US" sz="2800" dirty="0"/>
              <a:t>轴磁路形成</a:t>
            </a:r>
            <a:r>
              <a:rPr lang="en-US" altLang="zh-CN" sz="2800" dirty="0"/>
              <a:t>d</a:t>
            </a:r>
            <a:r>
              <a:rPr lang="zh-CN" altLang="en-US" sz="2800" dirty="0"/>
              <a:t>轴磁通分量，该磁路气隙较小，磁阻较小，而</a:t>
            </a:r>
            <a:r>
              <a:rPr lang="en-US" altLang="zh-CN" sz="2800" dirty="0"/>
              <a:t>q</a:t>
            </a:r>
            <a:r>
              <a:rPr lang="zh-CN" altLang="en-US" sz="2800" dirty="0"/>
              <a:t>轴磁路气隙较大，磁阻也较大，因此如果两个磁势分量数值相等，形成的磁通</a:t>
            </a:r>
            <a:r>
              <a:rPr lang="en-US" altLang="zh-CN" sz="2800" dirty="0"/>
              <a:t>d</a:t>
            </a:r>
            <a:r>
              <a:rPr lang="zh-CN" altLang="en-US" sz="2800" dirty="0"/>
              <a:t>轴分量要远大于</a:t>
            </a:r>
            <a:r>
              <a:rPr lang="en-US" altLang="zh-CN" sz="2800" dirty="0"/>
              <a:t>q</a:t>
            </a:r>
            <a:r>
              <a:rPr lang="zh-CN" altLang="en-US" sz="2800" dirty="0"/>
              <a:t>轴分量。</a:t>
            </a:r>
          </a:p>
        </p:txBody>
      </p:sp>
      <p:pic>
        <p:nvPicPr>
          <p:cNvPr id="24581" name="Picture 4">
            <a:extLst>
              <a:ext uri="{FF2B5EF4-FFF2-40B4-BE49-F238E27FC236}">
                <a16:creationId xmlns:a16="http://schemas.microsoft.com/office/drawing/2014/main" id="{27D2FF4D-710B-72AC-3F0F-F984BE3287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9455" y="2031764"/>
            <a:ext cx="4572000"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E5E887C-708C-2D29-A649-24C38237874E}"/>
              </a:ext>
            </a:extLst>
          </p:cNvPr>
          <p:cNvSpPr>
            <a:spLocks noGrp="1"/>
          </p:cNvSpPr>
          <p:nvPr>
            <p:ph type="sldNum" sz="quarter" idx="12"/>
          </p:nvPr>
        </p:nvSpPr>
        <p:spPr/>
        <p:txBody>
          <a:bodyPr/>
          <a:lstStyle/>
          <a:p>
            <a:pPr>
              <a:defRPr/>
            </a:pPr>
            <a:fld id="{3BFCADA3-2F73-4F2C-8384-0DB8809D70B0}" type="slidenum">
              <a:rPr lang="en-US" altLang="zh-CN"/>
              <a:pPr>
                <a:defRPr/>
              </a:pPr>
              <a:t>39</a:t>
            </a:fld>
            <a:endParaRPr lang="en-US" altLang="zh-CN"/>
          </a:p>
        </p:txBody>
      </p:sp>
      <p:sp>
        <p:nvSpPr>
          <p:cNvPr id="25603" name="Rectangle 2">
            <a:extLst>
              <a:ext uri="{FF2B5EF4-FFF2-40B4-BE49-F238E27FC236}">
                <a16:creationId xmlns:a16="http://schemas.microsoft.com/office/drawing/2014/main" id="{40FFD08B-A7E4-F62C-608B-AC601C803E71}"/>
              </a:ext>
            </a:extLst>
          </p:cNvPr>
          <p:cNvSpPr>
            <a:spLocks noGrp="1" noChangeArrowheads="1"/>
          </p:cNvSpPr>
          <p:nvPr>
            <p:ph type="title"/>
          </p:nvPr>
        </p:nvSpPr>
        <p:spPr>
          <a:xfrm>
            <a:off x="1619672" y="762000"/>
            <a:ext cx="7067127" cy="609600"/>
          </a:xfrm>
        </p:spPr>
        <p:txBody>
          <a:bodyPr/>
          <a:lstStyle/>
          <a:p>
            <a:pPr eaLnBrk="1" hangingPunct="1"/>
            <a:r>
              <a:rPr lang="zh-CN" altLang="en-US" sz="3600" dirty="0">
                <a:latin typeface="宋体" panose="02010600030101010101" pitchFamily="2" charset="-122"/>
              </a:rPr>
              <a:t>分解的目的（增去磁和扭曲效应）</a:t>
            </a:r>
            <a:r>
              <a:rPr lang="zh-CN" altLang="en-US" dirty="0"/>
              <a:t> </a:t>
            </a:r>
          </a:p>
        </p:txBody>
      </p:sp>
      <p:sp>
        <p:nvSpPr>
          <p:cNvPr id="25604" name="Rectangle 5">
            <a:extLst>
              <a:ext uri="{FF2B5EF4-FFF2-40B4-BE49-F238E27FC236}">
                <a16:creationId xmlns:a16="http://schemas.microsoft.com/office/drawing/2014/main" id="{93FBE06F-9D2A-CE13-25E2-411A819DC07A}"/>
              </a:ext>
            </a:extLst>
          </p:cNvPr>
          <p:cNvSpPr>
            <a:spLocks noChangeArrowheads="1"/>
          </p:cNvSpPr>
          <p:nvPr/>
        </p:nvSpPr>
        <p:spPr bwMode="auto">
          <a:xfrm>
            <a:off x="3176588"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pic>
        <p:nvPicPr>
          <p:cNvPr id="25605" name="Picture 4">
            <a:extLst>
              <a:ext uri="{FF2B5EF4-FFF2-40B4-BE49-F238E27FC236}">
                <a16:creationId xmlns:a16="http://schemas.microsoft.com/office/drawing/2014/main" id="{50503E23-5B36-1578-E81E-3D99292BBC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371600"/>
            <a:ext cx="4191000"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7">
            <a:extLst>
              <a:ext uri="{FF2B5EF4-FFF2-40B4-BE49-F238E27FC236}">
                <a16:creationId xmlns:a16="http://schemas.microsoft.com/office/drawing/2014/main" id="{26392CA8-AB24-0F78-F716-197E9A5DD43E}"/>
              </a:ext>
            </a:extLst>
          </p:cNvPr>
          <p:cNvSpPr>
            <a:spLocks noChangeArrowheads="1"/>
          </p:cNvSpPr>
          <p:nvPr/>
        </p:nvSpPr>
        <p:spPr bwMode="auto">
          <a:xfrm>
            <a:off x="3167063"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pic>
        <p:nvPicPr>
          <p:cNvPr id="25607" name="Picture 6">
            <a:extLst>
              <a:ext uri="{FF2B5EF4-FFF2-40B4-BE49-F238E27FC236}">
                <a16:creationId xmlns:a16="http://schemas.microsoft.com/office/drawing/2014/main" id="{DF777F0F-C692-B70C-516A-9088097432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400" y="1384300"/>
            <a:ext cx="42672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8">
            <a:extLst>
              <a:ext uri="{FF2B5EF4-FFF2-40B4-BE49-F238E27FC236}">
                <a16:creationId xmlns:a16="http://schemas.microsoft.com/office/drawing/2014/main" id="{0F2C6269-29DC-9E0F-F86D-0F7F9671DB0C}"/>
              </a:ext>
            </a:extLst>
          </p:cNvPr>
          <p:cNvSpPr txBox="1">
            <a:spLocks noChangeArrowheads="1"/>
          </p:cNvSpPr>
          <p:nvPr/>
        </p:nvSpPr>
        <p:spPr bwMode="auto">
          <a:xfrm>
            <a:off x="304800" y="5105400"/>
            <a:ext cx="86106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a:latin typeface="华文中宋" panose="02010600040101010101" pitchFamily="2" charset="-122"/>
                <a:ea typeface="华文中宋" panose="02010600040101010101" pitchFamily="2" charset="-122"/>
              </a:rPr>
              <a:t>根据</a:t>
            </a:r>
            <a:r>
              <a:rPr kumimoji="1" lang="en-US" altLang="zh-CN" sz="2400" b="0">
                <a:latin typeface="华文中宋" panose="02010600040101010101" pitchFamily="2" charset="-122"/>
                <a:ea typeface="华文中宋" panose="02010600040101010101" pitchFamily="2" charset="-122"/>
              </a:rPr>
              <a:t>d</a:t>
            </a:r>
            <a:r>
              <a:rPr kumimoji="1" lang="zh-CN" altLang="en-US" sz="2400" b="0">
                <a:latin typeface="华文中宋" panose="02010600040101010101" pitchFamily="2" charset="-122"/>
                <a:ea typeface="华文中宋" panose="02010600040101010101" pitchFamily="2" charset="-122"/>
              </a:rPr>
              <a:t>、</a:t>
            </a:r>
            <a:r>
              <a:rPr kumimoji="1" lang="en-US" altLang="zh-CN" sz="2400" b="0">
                <a:latin typeface="华文中宋" panose="02010600040101010101" pitchFamily="2" charset="-122"/>
                <a:ea typeface="华文中宋" panose="02010600040101010101" pitchFamily="2" charset="-122"/>
              </a:rPr>
              <a:t>q</a:t>
            </a:r>
            <a:r>
              <a:rPr kumimoji="1" lang="zh-CN" altLang="en-US" sz="2400" b="0">
                <a:latin typeface="华文中宋" panose="02010600040101010101" pitchFamily="2" charset="-122"/>
                <a:ea typeface="华文中宋" panose="02010600040101010101" pitchFamily="2" charset="-122"/>
              </a:rPr>
              <a:t>轴不同的磁阻分别按各自磁势求出对应的磁通。给定气隙和极靴尺寸用磁场作图法和富氏分析法可以得到图示曲线。曲线</a:t>
            </a:r>
            <a:r>
              <a:rPr kumimoji="1" lang="en-US" altLang="zh-CN" sz="2400" b="0">
                <a:latin typeface="华文中宋" panose="02010600040101010101" pitchFamily="2" charset="-122"/>
                <a:ea typeface="华文中宋" panose="02010600040101010101" pitchFamily="2" charset="-122"/>
              </a:rPr>
              <a:t>1</a:t>
            </a:r>
            <a:r>
              <a:rPr kumimoji="1" lang="zh-CN" altLang="en-US" sz="2400" b="0">
                <a:latin typeface="华文中宋" panose="02010600040101010101" pitchFamily="2" charset="-122"/>
                <a:ea typeface="华文中宋" panose="02010600040101010101" pitchFamily="2" charset="-122"/>
              </a:rPr>
              <a:t>为磁势，</a:t>
            </a:r>
            <a:r>
              <a:rPr kumimoji="1" lang="en-US" altLang="zh-CN" sz="2400" b="0">
                <a:latin typeface="华文中宋" panose="02010600040101010101" pitchFamily="2" charset="-122"/>
                <a:ea typeface="华文中宋" panose="02010600040101010101" pitchFamily="2" charset="-122"/>
              </a:rPr>
              <a:t>2</a:t>
            </a:r>
            <a:r>
              <a:rPr kumimoji="1" lang="zh-CN" altLang="en-US" sz="2400" b="0">
                <a:latin typeface="华文中宋" panose="02010600040101010101" pitchFamily="2" charset="-122"/>
                <a:ea typeface="华文中宋" panose="02010600040101010101" pitchFamily="2" charset="-122"/>
              </a:rPr>
              <a:t>为实际气隙磁通，</a:t>
            </a:r>
            <a:r>
              <a:rPr kumimoji="1" lang="en-US" altLang="zh-CN" sz="2400" b="0">
                <a:latin typeface="华文中宋" panose="02010600040101010101" pitchFamily="2" charset="-122"/>
                <a:ea typeface="华文中宋" panose="02010600040101010101" pitchFamily="2" charset="-122"/>
              </a:rPr>
              <a:t>3</a:t>
            </a:r>
            <a:r>
              <a:rPr kumimoji="1" lang="zh-CN" altLang="en-US" sz="2400" b="0">
                <a:latin typeface="华文中宋" panose="02010600040101010101" pitchFamily="2" charset="-122"/>
                <a:ea typeface="华文中宋" panose="02010600040101010101" pitchFamily="2" charset="-122"/>
              </a:rPr>
              <a:t>为磁通基波分量。这三条曲线间有线性关系。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440A9AC-1CF5-0271-2ED6-6B7D7ACBF05E}"/>
              </a:ext>
            </a:extLst>
          </p:cNvPr>
          <p:cNvSpPr>
            <a:spLocks noGrp="1"/>
          </p:cNvSpPr>
          <p:nvPr>
            <p:ph type="sldNum" sz="quarter" idx="12"/>
          </p:nvPr>
        </p:nvSpPr>
        <p:spPr/>
        <p:txBody>
          <a:bodyPr/>
          <a:lstStyle/>
          <a:p>
            <a:pPr>
              <a:defRPr/>
            </a:pPr>
            <a:fld id="{60BC7F1F-F3FE-4295-8F27-EA08948CAE9B}" type="slidenum">
              <a:rPr lang="en-US" altLang="zh-CN"/>
              <a:pPr>
                <a:defRPr/>
              </a:pPr>
              <a:t>40</a:t>
            </a:fld>
            <a:endParaRPr lang="en-US" altLang="zh-CN"/>
          </a:p>
        </p:txBody>
      </p:sp>
      <p:sp>
        <p:nvSpPr>
          <p:cNvPr id="26627" name="Rectangle 2">
            <a:extLst>
              <a:ext uri="{FF2B5EF4-FFF2-40B4-BE49-F238E27FC236}">
                <a16:creationId xmlns:a16="http://schemas.microsoft.com/office/drawing/2014/main" id="{332699AF-DDF4-AFC5-628A-651D01904FD6}"/>
              </a:ext>
            </a:extLst>
          </p:cNvPr>
          <p:cNvSpPr>
            <a:spLocks noGrp="1" noChangeArrowheads="1"/>
          </p:cNvSpPr>
          <p:nvPr>
            <p:ph type="title"/>
          </p:nvPr>
        </p:nvSpPr>
        <p:spPr>
          <a:xfrm>
            <a:off x="1371600" y="666750"/>
            <a:ext cx="7772400" cy="838200"/>
          </a:xfrm>
        </p:spPr>
        <p:txBody>
          <a:bodyPr/>
          <a:lstStyle/>
          <a:p>
            <a:pPr eaLnBrk="1" hangingPunct="1"/>
            <a:r>
              <a:rPr lang="zh-CN" altLang="en-US" sz="3600" b="1" dirty="0">
                <a:ea typeface="楷体_GB2312" pitchFamily="49" charset="-122"/>
              </a:rPr>
              <a:t>二、电枢反应磁势的折算</a:t>
            </a:r>
          </a:p>
        </p:txBody>
      </p:sp>
      <p:sp>
        <p:nvSpPr>
          <p:cNvPr id="26628" name="Rectangle 3">
            <a:extLst>
              <a:ext uri="{FF2B5EF4-FFF2-40B4-BE49-F238E27FC236}">
                <a16:creationId xmlns:a16="http://schemas.microsoft.com/office/drawing/2014/main" id="{6AC1B011-F19F-065B-95AF-98F0E30D2B33}"/>
              </a:ext>
            </a:extLst>
          </p:cNvPr>
          <p:cNvSpPr>
            <a:spLocks noGrp="1" noChangeArrowheads="1"/>
          </p:cNvSpPr>
          <p:nvPr>
            <p:ph type="body" idx="1"/>
          </p:nvPr>
        </p:nvSpPr>
        <p:spPr>
          <a:xfrm>
            <a:off x="303213" y="1238249"/>
            <a:ext cx="4953000" cy="685800"/>
          </a:xfrm>
        </p:spPr>
        <p:txBody>
          <a:bodyPr/>
          <a:lstStyle/>
          <a:p>
            <a:pPr eaLnBrk="1" hangingPunct="1">
              <a:buFontTx/>
              <a:buNone/>
            </a:pPr>
            <a:r>
              <a:rPr lang="zh-CN" altLang="en-US" sz="2800" dirty="0"/>
              <a:t>以转子磁势为基准折算</a:t>
            </a:r>
          </a:p>
        </p:txBody>
      </p:sp>
      <p:sp>
        <p:nvSpPr>
          <p:cNvPr id="26629" name="Rectangle 5">
            <a:extLst>
              <a:ext uri="{FF2B5EF4-FFF2-40B4-BE49-F238E27FC236}">
                <a16:creationId xmlns:a16="http://schemas.microsoft.com/office/drawing/2014/main" id="{3AFEA31B-202F-F8AE-B421-ADA780D5AD6F}"/>
              </a:ext>
            </a:extLst>
          </p:cNvPr>
          <p:cNvSpPr>
            <a:spLocks noChangeArrowheads="1"/>
          </p:cNvSpPr>
          <p:nvPr/>
        </p:nvSpPr>
        <p:spPr bwMode="auto">
          <a:xfrm>
            <a:off x="3409950" y="2857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44036" name="Object 4">
            <a:extLst>
              <a:ext uri="{FF2B5EF4-FFF2-40B4-BE49-F238E27FC236}">
                <a16:creationId xmlns:a16="http://schemas.microsoft.com/office/drawing/2014/main" id="{5A576AAB-4B67-50EF-45C9-27C39C24D1E8}"/>
              </a:ext>
            </a:extLst>
          </p:cNvPr>
          <p:cNvGraphicFramePr>
            <a:graphicFrameLocks noChangeAspect="1"/>
          </p:cNvGraphicFramePr>
          <p:nvPr/>
        </p:nvGraphicFramePr>
        <p:xfrm>
          <a:off x="457200" y="1676400"/>
          <a:ext cx="5181600" cy="2547938"/>
        </p:xfrm>
        <a:graphic>
          <a:graphicData uri="http://schemas.openxmlformats.org/presentationml/2006/ole">
            <mc:AlternateContent xmlns:mc="http://schemas.openxmlformats.org/markup-compatibility/2006">
              <mc:Choice xmlns:v="urn:schemas-microsoft-com:vml" Requires="v">
                <p:oleObj r:id="rId2" imgW="2324100" imgH="1143000" progId="Equation.DSMT4">
                  <p:embed/>
                </p:oleObj>
              </mc:Choice>
              <mc:Fallback>
                <p:oleObj r:id="rId2" imgW="2324100" imgH="1143000" progId="Equation.DSMT4">
                  <p:embed/>
                  <p:pic>
                    <p:nvPicPr>
                      <p:cNvPr id="44036" name="Object 4">
                        <a:extLst>
                          <a:ext uri="{FF2B5EF4-FFF2-40B4-BE49-F238E27FC236}">
                            <a16:creationId xmlns:a16="http://schemas.microsoft.com/office/drawing/2014/main" id="{5A576AAB-4B67-50EF-45C9-27C39C24D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76400"/>
                        <a:ext cx="5181600" cy="25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Rectangle 7">
            <a:extLst>
              <a:ext uri="{FF2B5EF4-FFF2-40B4-BE49-F238E27FC236}">
                <a16:creationId xmlns:a16="http://schemas.microsoft.com/office/drawing/2014/main" id="{D31676A3-4664-AE80-A23F-DEEFF82EE50B}"/>
              </a:ext>
            </a:extLst>
          </p:cNvPr>
          <p:cNvSpPr>
            <a:spLocks noChangeArrowheads="1"/>
          </p:cNvSpPr>
          <p:nvPr/>
        </p:nvSpPr>
        <p:spPr bwMode="auto">
          <a:xfrm>
            <a:off x="4071938" y="2767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44038" name="Object 6">
            <a:extLst>
              <a:ext uri="{FF2B5EF4-FFF2-40B4-BE49-F238E27FC236}">
                <a16:creationId xmlns:a16="http://schemas.microsoft.com/office/drawing/2014/main" id="{7A612432-6179-885E-B385-DC9FB3B8762F}"/>
              </a:ext>
            </a:extLst>
          </p:cNvPr>
          <p:cNvGraphicFramePr>
            <a:graphicFrameLocks noChangeAspect="1"/>
          </p:cNvGraphicFramePr>
          <p:nvPr/>
        </p:nvGraphicFramePr>
        <p:xfrm>
          <a:off x="6096000" y="1143000"/>
          <a:ext cx="2589213" cy="3429000"/>
        </p:xfrm>
        <a:graphic>
          <a:graphicData uri="http://schemas.openxmlformats.org/presentationml/2006/ole">
            <mc:AlternateContent xmlns:mc="http://schemas.openxmlformats.org/markup-compatibility/2006">
              <mc:Choice xmlns:v="urn:schemas-microsoft-com:vml" Requires="v">
                <p:oleObj r:id="rId4" imgW="1002865" imgH="1320227" progId="Equation.DSMT4">
                  <p:embed/>
                </p:oleObj>
              </mc:Choice>
              <mc:Fallback>
                <p:oleObj r:id="rId4" imgW="1002865" imgH="1320227" progId="Equation.DSMT4">
                  <p:embed/>
                  <p:pic>
                    <p:nvPicPr>
                      <p:cNvPr id="44038" name="Object 6">
                        <a:extLst>
                          <a:ext uri="{FF2B5EF4-FFF2-40B4-BE49-F238E27FC236}">
                            <a16:creationId xmlns:a16="http://schemas.microsoft.com/office/drawing/2014/main" id="{7A612432-6179-885E-B385-DC9FB3B876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143000"/>
                        <a:ext cx="258921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40" name="Text Box 8">
            <a:extLst>
              <a:ext uri="{FF2B5EF4-FFF2-40B4-BE49-F238E27FC236}">
                <a16:creationId xmlns:a16="http://schemas.microsoft.com/office/drawing/2014/main" id="{49B8AB49-27AF-87A2-2AF5-C0B3D91B70B4}"/>
              </a:ext>
            </a:extLst>
          </p:cNvPr>
          <p:cNvSpPr txBox="1">
            <a:spLocks noChangeArrowheads="1"/>
          </p:cNvSpPr>
          <p:nvPr/>
        </p:nvSpPr>
        <p:spPr bwMode="auto">
          <a:xfrm>
            <a:off x="441325" y="4572000"/>
            <a:ext cx="8397875"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10000"/>
              </a:lnSpc>
              <a:buFont typeface="Wingdings" panose="05000000000000000000" pitchFamily="2" charset="2"/>
              <a:buChar char="Ø"/>
            </a:pPr>
            <a:r>
              <a:rPr kumimoji="1" lang="zh-CN" altLang="en-US" sz="2400" b="0" dirty="0">
                <a:latin typeface="宋体" panose="02010600030101010101" pitchFamily="2" charset="-122"/>
                <a:ea typeface="宋体" panose="02010600030101010101" pitchFamily="2" charset="-122"/>
              </a:rPr>
              <a:t>求得</a:t>
            </a:r>
            <a:r>
              <a:rPr kumimoji="1" lang="en-US" altLang="zh-CN" sz="2400" b="0" dirty="0" err="1">
                <a:latin typeface="Times New Roman" panose="02020603050405020304" pitchFamily="18" charset="0"/>
                <a:ea typeface="宋体" panose="02010600030101010101" pitchFamily="2" charset="-122"/>
              </a:rPr>
              <a:t>k</a:t>
            </a:r>
            <a:r>
              <a:rPr kumimoji="1" lang="en-US" altLang="zh-CN" sz="2400" b="0" baseline="-30000" dirty="0" err="1">
                <a:latin typeface="Times New Roman" panose="02020603050405020304" pitchFamily="18" charset="0"/>
                <a:ea typeface="宋体" panose="02010600030101010101" pitchFamily="2" charset="-122"/>
              </a:rPr>
              <a:t>ad</a:t>
            </a:r>
            <a:r>
              <a:rPr kumimoji="1" lang="zh-CN" altLang="en-US" sz="2400" b="0" dirty="0">
                <a:latin typeface="宋体" panose="02010600030101010101" pitchFamily="2" charset="-122"/>
                <a:ea typeface="宋体" panose="02010600030101010101" pitchFamily="2" charset="-122"/>
              </a:rPr>
              <a:t>后，对某一给定励磁电流，负载时</a:t>
            </a:r>
            <a:r>
              <a:rPr kumimoji="1" lang="en-US" altLang="zh-CN" sz="2400" b="0" dirty="0">
                <a:latin typeface="Times New Roman" panose="02020603050405020304" pitchFamily="18" charset="0"/>
                <a:ea typeface="宋体" panose="02010600030101010101" pitchFamily="2" charset="-122"/>
              </a:rPr>
              <a:t>d</a:t>
            </a:r>
            <a:r>
              <a:rPr kumimoji="1" lang="zh-CN" altLang="en-US" sz="2400" b="0" dirty="0">
                <a:latin typeface="宋体" panose="02010600030101010101" pitchFamily="2" charset="-122"/>
                <a:ea typeface="宋体" panose="02010600030101010101" pitchFamily="2" charset="-122"/>
              </a:rPr>
              <a:t>轴上总磁势为</a:t>
            </a:r>
            <a:r>
              <a:rPr kumimoji="1" lang="en-US" altLang="zh-CN" sz="2400" b="0" dirty="0">
                <a:latin typeface="Times New Roman" panose="02020603050405020304" pitchFamily="18" charset="0"/>
                <a:ea typeface="宋体" panose="02010600030101010101" pitchFamily="2" charset="-122"/>
              </a:rPr>
              <a:t>F</a:t>
            </a:r>
            <a:r>
              <a:rPr kumimoji="1" lang="en-US" altLang="zh-CN" sz="2400" b="0" baseline="-30000" dirty="0">
                <a:latin typeface="Times New Roman" panose="02020603050405020304" pitchFamily="18" charset="0"/>
                <a:ea typeface="宋体" panose="02010600030101010101" pitchFamily="2" charset="-122"/>
              </a:rPr>
              <a:t>R</a:t>
            </a:r>
            <a:r>
              <a:rPr kumimoji="1" lang="en-US" altLang="zh-CN" sz="2400" b="0" dirty="0">
                <a:latin typeface="Times New Roman" panose="02020603050405020304" pitchFamily="18" charset="0"/>
                <a:ea typeface="宋体" panose="02010600030101010101" pitchFamily="2" charset="-122"/>
              </a:rPr>
              <a:t>-</a:t>
            </a:r>
            <a:r>
              <a:rPr kumimoji="1" lang="en-US" altLang="zh-CN" sz="2400" b="0" dirty="0" err="1">
                <a:latin typeface="Times New Roman" panose="02020603050405020304" pitchFamily="18" charset="0"/>
                <a:ea typeface="宋体" panose="02010600030101010101" pitchFamily="2" charset="-122"/>
              </a:rPr>
              <a:t>k</a:t>
            </a:r>
            <a:r>
              <a:rPr kumimoji="1" lang="en-US" altLang="zh-CN" sz="2400" b="0" baseline="-30000" dirty="0" err="1">
                <a:latin typeface="Times New Roman" panose="02020603050405020304" pitchFamily="18" charset="0"/>
                <a:ea typeface="宋体" panose="02010600030101010101" pitchFamily="2" charset="-122"/>
              </a:rPr>
              <a:t>ad</a:t>
            </a:r>
            <a:r>
              <a:rPr kumimoji="1" lang="en-US" altLang="zh-CN" sz="2400" b="0" dirty="0" err="1">
                <a:latin typeface="Times New Roman" panose="02020603050405020304" pitchFamily="18" charset="0"/>
                <a:ea typeface="宋体" panose="02010600030101010101" pitchFamily="2" charset="-122"/>
              </a:rPr>
              <a:t>F</a:t>
            </a:r>
            <a:r>
              <a:rPr kumimoji="1" lang="en-US" altLang="zh-CN" sz="2400" b="0" baseline="-30000" dirty="0" err="1">
                <a:latin typeface="Times New Roman" panose="02020603050405020304" pitchFamily="18" charset="0"/>
                <a:ea typeface="宋体" panose="02010600030101010101" pitchFamily="2" charset="-122"/>
              </a:rPr>
              <a:t>SAd</a:t>
            </a:r>
            <a:r>
              <a:rPr kumimoji="1" lang="zh-CN" altLang="en-US" sz="2400" b="0" dirty="0">
                <a:latin typeface="宋体" panose="02010600030101010101" pitchFamily="2" charset="-122"/>
                <a:ea typeface="宋体" panose="02010600030101010101" pitchFamily="2" charset="-122"/>
              </a:rPr>
              <a:t>，可直接从</a:t>
            </a:r>
            <a:r>
              <a:rPr kumimoji="1" lang="zh-CN" altLang="en-US" sz="2400" dirty="0">
                <a:solidFill>
                  <a:srgbClr val="FF0000"/>
                </a:solidFill>
                <a:latin typeface="宋体" panose="02010600030101010101" pitchFamily="2" charset="-122"/>
                <a:ea typeface="宋体" panose="02010600030101010101" pitchFamily="2" charset="-122"/>
              </a:rPr>
              <a:t>开路特性</a:t>
            </a:r>
            <a:r>
              <a:rPr kumimoji="1" lang="zh-CN" altLang="en-US" sz="2400" b="0" dirty="0">
                <a:latin typeface="宋体" panose="02010600030101010101" pitchFamily="2" charset="-122"/>
                <a:ea typeface="宋体" panose="02010600030101010101" pitchFamily="2" charset="-122"/>
              </a:rPr>
              <a:t>查出对应定子绕组电势而不需计算此时的基波磁通；知道</a:t>
            </a:r>
            <a:r>
              <a:rPr kumimoji="1" lang="en-US" altLang="zh-CN" sz="2400" b="0" dirty="0" err="1">
                <a:latin typeface="Times New Roman" panose="02020603050405020304" pitchFamily="18" charset="0"/>
                <a:ea typeface="宋体" panose="02010600030101010101" pitchFamily="2" charset="-122"/>
              </a:rPr>
              <a:t>F</a:t>
            </a:r>
            <a:r>
              <a:rPr kumimoji="1" lang="en-US" altLang="zh-CN" sz="2400" b="0" baseline="-30000" dirty="0" err="1">
                <a:latin typeface="Times New Roman" panose="02020603050405020304" pitchFamily="18" charset="0"/>
                <a:ea typeface="宋体" panose="02010600030101010101" pitchFamily="2" charset="-122"/>
              </a:rPr>
              <a:t>SAq</a:t>
            </a:r>
            <a:r>
              <a:rPr kumimoji="1" lang="zh-CN" altLang="en-US" sz="2400" b="0" dirty="0">
                <a:latin typeface="宋体" panose="02010600030101010101" pitchFamily="2" charset="-122"/>
                <a:ea typeface="宋体" panose="02010600030101010101" pitchFamily="2" charset="-122"/>
              </a:rPr>
              <a:t>后乘以</a:t>
            </a:r>
            <a:r>
              <a:rPr kumimoji="1" lang="en-US" altLang="zh-CN" sz="2400" b="0" dirty="0" err="1">
                <a:latin typeface="Times New Roman" panose="02020603050405020304" pitchFamily="18" charset="0"/>
                <a:ea typeface="宋体" panose="02010600030101010101" pitchFamily="2" charset="-122"/>
              </a:rPr>
              <a:t>k</a:t>
            </a:r>
            <a:r>
              <a:rPr kumimoji="1" lang="en-US" altLang="zh-CN" sz="2400" b="0" baseline="-30000" dirty="0" err="1">
                <a:latin typeface="Times New Roman" panose="02020603050405020304" pitchFamily="18" charset="0"/>
                <a:ea typeface="宋体" panose="02010600030101010101" pitchFamily="2" charset="-122"/>
              </a:rPr>
              <a:t>aq</a:t>
            </a:r>
            <a:r>
              <a:rPr kumimoji="1" lang="zh-CN" altLang="en-US" sz="2400" b="0" dirty="0">
                <a:latin typeface="宋体" panose="02010600030101010101" pitchFamily="2" charset="-122"/>
                <a:ea typeface="宋体" panose="02010600030101010101" pitchFamily="2" charset="-122"/>
              </a:rPr>
              <a:t>，在开路特性的直线部分可求得定子绕组相应电势。采用直线特性是因为</a:t>
            </a:r>
            <a:r>
              <a:rPr kumimoji="1" lang="en-US" altLang="zh-CN" sz="2400" b="0" dirty="0">
                <a:latin typeface="Times New Roman" panose="02020603050405020304" pitchFamily="18" charset="0"/>
                <a:ea typeface="宋体" panose="02010600030101010101" pitchFamily="2" charset="-122"/>
              </a:rPr>
              <a:t>q</a:t>
            </a:r>
            <a:r>
              <a:rPr kumimoji="1" lang="zh-CN" altLang="en-US" sz="2400" b="0" dirty="0">
                <a:latin typeface="宋体" panose="02010600030101010101" pitchFamily="2" charset="-122"/>
                <a:ea typeface="宋体" panose="02010600030101010101" pitchFamily="2" charset="-122"/>
              </a:rPr>
              <a:t>轴磁路气隙大而不受饱和影响。</a:t>
            </a:r>
            <a:r>
              <a:rPr kumimoji="1" lang="zh-CN" altLang="en-US" sz="2400" b="0" dirty="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barn(outHorizontal)">
                                      <p:cBhvr>
                                        <p:cTn id="7" dur="500"/>
                                        <p:tgtEl>
                                          <p:spTgt spid="44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4038"/>
                                        </p:tgtEl>
                                        <p:attrNameLst>
                                          <p:attrName>style.visibility</p:attrName>
                                        </p:attrNameLst>
                                      </p:cBhvr>
                                      <p:to>
                                        <p:strVal val="visible"/>
                                      </p:to>
                                    </p:set>
                                    <p:animEffect transition="in" filter="blinds(horizontal)">
                                      <p:cBhvr>
                                        <p:cTn id="12" dur="500"/>
                                        <p:tgtEl>
                                          <p:spTgt spid="440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44040"/>
                                        </p:tgtEl>
                                        <p:attrNameLst>
                                          <p:attrName>style.visibility</p:attrName>
                                        </p:attrNameLst>
                                      </p:cBhvr>
                                      <p:to>
                                        <p:strVal val="visible"/>
                                      </p:to>
                                    </p:set>
                                    <p:anim calcmode="lin" valueType="num">
                                      <p:cBhvr>
                                        <p:cTn id="17" dur="500" fill="hold"/>
                                        <p:tgtEl>
                                          <p:spTgt spid="44040"/>
                                        </p:tgtEl>
                                        <p:attrNameLst>
                                          <p:attrName>ppt_w</p:attrName>
                                        </p:attrNameLst>
                                      </p:cBhvr>
                                      <p:tavLst>
                                        <p:tav tm="0">
                                          <p:val>
                                            <p:fltVal val="0"/>
                                          </p:val>
                                        </p:tav>
                                        <p:tav tm="100000">
                                          <p:val>
                                            <p:strVal val="#ppt_w"/>
                                          </p:val>
                                        </p:tav>
                                      </p:tavLst>
                                    </p:anim>
                                    <p:anim calcmode="lin" valueType="num">
                                      <p:cBhvr>
                                        <p:cTn id="18" dur="500" fill="hold"/>
                                        <p:tgtEl>
                                          <p:spTgt spid="4404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625FFE09-BE54-71CC-CCC5-891F27D15443}"/>
              </a:ext>
            </a:extLst>
          </p:cNvPr>
          <p:cNvSpPr>
            <a:spLocks noGrp="1"/>
          </p:cNvSpPr>
          <p:nvPr>
            <p:ph type="sldNum" sz="quarter" idx="12"/>
          </p:nvPr>
        </p:nvSpPr>
        <p:spPr/>
        <p:txBody>
          <a:bodyPr/>
          <a:lstStyle/>
          <a:p>
            <a:pPr>
              <a:defRPr/>
            </a:pPr>
            <a:fld id="{4BD99027-9D19-40F8-A12E-111FCB4454A2}" type="slidenum">
              <a:rPr lang="en-US" altLang="zh-CN"/>
              <a:pPr>
                <a:defRPr/>
              </a:pPr>
              <a:t>41</a:t>
            </a:fld>
            <a:endParaRPr lang="en-US" altLang="zh-CN"/>
          </a:p>
        </p:txBody>
      </p:sp>
      <p:sp>
        <p:nvSpPr>
          <p:cNvPr id="27651" name="Rectangle 2">
            <a:extLst>
              <a:ext uri="{FF2B5EF4-FFF2-40B4-BE49-F238E27FC236}">
                <a16:creationId xmlns:a16="http://schemas.microsoft.com/office/drawing/2014/main" id="{B904B9DE-9770-1FD8-ACF7-ABBCFC053960}"/>
              </a:ext>
            </a:extLst>
          </p:cNvPr>
          <p:cNvSpPr>
            <a:spLocks noGrp="1" noChangeArrowheads="1"/>
          </p:cNvSpPr>
          <p:nvPr>
            <p:ph type="title"/>
          </p:nvPr>
        </p:nvSpPr>
        <p:spPr>
          <a:xfrm>
            <a:off x="827584" y="657174"/>
            <a:ext cx="7162800" cy="914400"/>
          </a:xfrm>
        </p:spPr>
        <p:txBody>
          <a:bodyPr/>
          <a:lstStyle/>
          <a:p>
            <a:pPr eaLnBrk="1" hangingPunct="1"/>
            <a:r>
              <a:rPr lang="zh-CN" altLang="en-US" sz="3600" b="1" dirty="0">
                <a:ea typeface="楷体_GB2312" pitchFamily="49" charset="-122"/>
              </a:rPr>
              <a:t>电枢反应磁势的特点</a:t>
            </a:r>
          </a:p>
        </p:txBody>
      </p:sp>
      <p:sp>
        <p:nvSpPr>
          <p:cNvPr id="27652" name="Rectangle 3">
            <a:extLst>
              <a:ext uri="{FF2B5EF4-FFF2-40B4-BE49-F238E27FC236}">
                <a16:creationId xmlns:a16="http://schemas.microsoft.com/office/drawing/2014/main" id="{4A9AB674-7111-DE99-0D27-E6CF9F78A88A}"/>
              </a:ext>
            </a:extLst>
          </p:cNvPr>
          <p:cNvSpPr>
            <a:spLocks noGrp="1" noChangeArrowheads="1"/>
          </p:cNvSpPr>
          <p:nvPr>
            <p:ph type="body" idx="1"/>
          </p:nvPr>
        </p:nvSpPr>
        <p:spPr>
          <a:xfrm>
            <a:off x="481996" y="1479879"/>
            <a:ext cx="8229600" cy="2286000"/>
          </a:xfrm>
        </p:spPr>
        <p:txBody>
          <a:bodyPr/>
          <a:lstStyle/>
          <a:p>
            <a:pPr eaLnBrk="1" hangingPunct="1">
              <a:lnSpc>
                <a:spcPct val="90000"/>
              </a:lnSpc>
            </a:pPr>
            <a:r>
              <a:rPr lang="zh-CN" altLang="en-US" sz="2800">
                <a:latin typeface="宋体" panose="02010600030101010101" pitchFamily="2" charset="-122"/>
              </a:rPr>
              <a:t>即使定子电枢反应磁势</a:t>
            </a:r>
            <a:r>
              <a:rPr lang="en-US" altLang="zh-CN" sz="2800"/>
              <a:t>d</a:t>
            </a:r>
            <a:r>
              <a:rPr lang="zh-CN" altLang="en-US" sz="2800">
                <a:latin typeface="宋体" panose="02010600030101010101" pitchFamily="2" charset="-122"/>
              </a:rPr>
              <a:t>分量与转子磁势相等，它产生的磁通密度基波分量也略小。因为电枢反应磁势波形是正弦，而转子磁势由于直流励磁波形是矩形的。即同安匝产生的磁通</a:t>
            </a:r>
            <a:r>
              <a:rPr lang="en-US" altLang="zh-CN" sz="2800"/>
              <a:t>d</a:t>
            </a:r>
            <a:r>
              <a:rPr lang="zh-CN" altLang="en-US" sz="2800">
                <a:latin typeface="宋体" panose="02010600030101010101" pitchFamily="2" charset="-122"/>
              </a:rPr>
              <a:t>分量略小，</a:t>
            </a:r>
            <a:r>
              <a:rPr lang="en-US" altLang="zh-CN" sz="2800"/>
              <a:t>q</a:t>
            </a:r>
            <a:r>
              <a:rPr lang="zh-CN" altLang="en-US" sz="2800">
                <a:latin typeface="宋体" panose="02010600030101010101" pitchFamily="2" charset="-122"/>
              </a:rPr>
              <a:t>分量小得更多。</a:t>
            </a:r>
            <a:r>
              <a:rPr lang="zh-CN" altLang="en-US"/>
              <a:t> </a:t>
            </a:r>
          </a:p>
        </p:txBody>
      </p:sp>
      <p:sp>
        <p:nvSpPr>
          <p:cNvPr id="27653" name="Rectangle 5">
            <a:extLst>
              <a:ext uri="{FF2B5EF4-FFF2-40B4-BE49-F238E27FC236}">
                <a16:creationId xmlns:a16="http://schemas.microsoft.com/office/drawing/2014/main" id="{709BDC20-56AC-7211-6326-F44AD8C7A455}"/>
              </a:ext>
            </a:extLst>
          </p:cNvPr>
          <p:cNvSpPr>
            <a:spLocks noChangeArrowheads="1"/>
          </p:cNvSpPr>
          <p:nvPr/>
        </p:nvSpPr>
        <p:spPr bwMode="auto">
          <a:xfrm>
            <a:off x="2857500" y="203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pic>
        <p:nvPicPr>
          <p:cNvPr id="27654" name="Picture 4">
            <a:extLst>
              <a:ext uri="{FF2B5EF4-FFF2-40B4-BE49-F238E27FC236}">
                <a16:creationId xmlns:a16="http://schemas.microsoft.com/office/drawing/2014/main" id="{3BACB2A1-D2E0-2DFF-4A80-4FFE84F13E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51920" y="3110953"/>
            <a:ext cx="4495800"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AutoShape 6">
            <a:extLst>
              <a:ext uri="{FF2B5EF4-FFF2-40B4-BE49-F238E27FC236}">
                <a16:creationId xmlns:a16="http://schemas.microsoft.com/office/drawing/2014/main" id="{D068D628-3E55-88AF-26C7-42E0928BB032}"/>
              </a:ext>
            </a:extLst>
          </p:cNvPr>
          <p:cNvSpPr>
            <a:spLocks noChangeArrowheads="1"/>
          </p:cNvSpPr>
          <p:nvPr/>
        </p:nvSpPr>
        <p:spPr bwMode="auto">
          <a:xfrm>
            <a:off x="810117" y="3595851"/>
            <a:ext cx="2514600" cy="3125621"/>
          </a:xfrm>
          <a:prstGeom prst="wedgeRoundRectCallout">
            <a:avLst>
              <a:gd name="adj1" fmla="val 66731"/>
              <a:gd name="adj2" fmla="val 21338"/>
              <a:gd name="adj3" fmla="val 16667"/>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algn="ctr" eaLnBrk="1" hangingPunct="1">
              <a:buFont typeface="Wingdings" panose="05000000000000000000" pitchFamily="2" charset="2"/>
              <a:buChar char="Ø"/>
            </a:pPr>
            <a:r>
              <a:rPr kumimoji="1" lang="zh-CN" altLang="en-US" sz="2400" b="0" dirty="0">
                <a:latin typeface="Times New Roman" panose="02020603050405020304" pitchFamily="18" charset="0"/>
                <a:ea typeface="宋体" panose="02010600030101010101" pitchFamily="2" charset="-122"/>
              </a:rPr>
              <a:t>同步发电机滞后电流的电枢反应磁势</a:t>
            </a:r>
            <a:r>
              <a:rPr kumimoji="1" lang="en-US" altLang="zh-CN" sz="2400" b="0" dirty="0">
                <a:latin typeface="Times New Roman" panose="02020603050405020304" pitchFamily="18" charset="0"/>
                <a:ea typeface="宋体" panose="02010600030101010101" pitchFamily="2" charset="-122"/>
              </a:rPr>
              <a:t>d</a:t>
            </a:r>
            <a:r>
              <a:rPr kumimoji="1" lang="zh-CN" altLang="en-US" sz="2400" b="0" dirty="0">
                <a:latin typeface="Times New Roman" panose="02020603050405020304" pitchFamily="18" charset="0"/>
                <a:ea typeface="宋体" panose="02010600030101010101" pitchFamily="2" charset="-122"/>
              </a:rPr>
              <a:t>轴分量起</a:t>
            </a:r>
            <a:r>
              <a:rPr kumimoji="1" lang="zh-CN" altLang="en-US" sz="2400" dirty="0">
                <a:solidFill>
                  <a:srgbClr val="FF3300"/>
                </a:solidFill>
                <a:latin typeface="Times New Roman" panose="02020603050405020304" pitchFamily="18" charset="0"/>
                <a:ea typeface="宋体" panose="02010600030101010101" pitchFamily="2" charset="-122"/>
              </a:rPr>
              <a:t>去磁</a:t>
            </a:r>
            <a:r>
              <a:rPr kumimoji="1" lang="zh-CN" altLang="en-US" sz="2400" b="0" dirty="0">
                <a:latin typeface="Times New Roman" panose="02020603050405020304" pitchFamily="18" charset="0"/>
                <a:ea typeface="宋体" panose="02010600030101010101" pitchFamily="2" charset="-122"/>
              </a:rPr>
              <a:t>作用，</a:t>
            </a:r>
            <a:r>
              <a:rPr kumimoji="1" lang="en-US" altLang="zh-CN" sz="2400" b="0" dirty="0">
                <a:latin typeface="Times New Roman" panose="02020603050405020304" pitchFamily="18" charset="0"/>
                <a:ea typeface="宋体" panose="02010600030101010101" pitchFamily="2" charset="-122"/>
              </a:rPr>
              <a:t>q</a:t>
            </a:r>
            <a:r>
              <a:rPr kumimoji="1" lang="zh-CN" altLang="en-US" sz="2400" b="0" dirty="0">
                <a:latin typeface="Times New Roman" panose="02020603050405020304" pitchFamily="18" charset="0"/>
                <a:ea typeface="宋体" panose="02010600030101010101" pitchFamily="2" charset="-122"/>
              </a:rPr>
              <a:t>轴分量起扭曲作用。如果电流超前，则</a:t>
            </a:r>
            <a:r>
              <a:rPr kumimoji="1" lang="en-US" altLang="zh-CN" sz="2400" b="0" dirty="0">
                <a:latin typeface="Times New Roman" panose="02020603050405020304" pitchFamily="18" charset="0"/>
                <a:ea typeface="宋体" panose="02010600030101010101" pitchFamily="2" charset="-122"/>
              </a:rPr>
              <a:t>d</a:t>
            </a:r>
            <a:r>
              <a:rPr kumimoji="1" lang="zh-CN" altLang="en-US" sz="2400" b="0" dirty="0">
                <a:latin typeface="Times New Roman" panose="02020603050405020304" pitchFamily="18" charset="0"/>
                <a:ea typeface="宋体" panose="02010600030101010101" pitchFamily="2" charset="-122"/>
              </a:rPr>
              <a:t>轴分量将起助磁作用。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1990"/>
                                        </p:tgtEl>
                                        <p:attrNameLst>
                                          <p:attrName>style.visibility</p:attrName>
                                        </p:attrNameLst>
                                      </p:cBhvr>
                                      <p:to>
                                        <p:strVal val="visible"/>
                                      </p:to>
                                    </p:set>
                                    <p:anim calcmode="lin" valueType="num">
                                      <p:cBhvr>
                                        <p:cTn id="7" dur="500" fill="hold"/>
                                        <p:tgtEl>
                                          <p:spTgt spid="41990"/>
                                        </p:tgtEl>
                                        <p:attrNameLst>
                                          <p:attrName>ppt_w</p:attrName>
                                        </p:attrNameLst>
                                      </p:cBhvr>
                                      <p:tavLst>
                                        <p:tav tm="0">
                                          <p:val>
                                            <p:fltVal val="0"/>
                                          </p:val>
                                        </p:tav>
                                        <p:tav tm="100000">
                                          <p:val>
                                            <p:strVal val="#ppt_w"/>
                                          </p:val>
                                        </p:tav>
                                      </p:tavLst>
                                    </p:anim>
                                    <p:anim calcmode="lin" valueType="num">
                                      <p:cBhvr>
                                        <p:cTn id="8" dur="500" fill="hold"/>
                                        <p:tgtEl>
                                          <p:spTgt spid="419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03ADB6BF-05DD-86E0-7B34-C0EE911DB03A}"/>
              </a:ext>
            </a:extLst>
          </p:cNvPr>
          <p:cNvSpPr>
            <a:spLocks noGrp="1"/>
          </p:cNvSpPr>
          <p:nvPr>
            <p:ph type="sldNum" sz="quarter" idx="12"/>
          </p:nvPr>
        </p:nvSpPr>
        <p:spPr/>
        <p:txBody>
          <a:bodyPr/>
          <a:lstStyle/>
          <a:p>
            <a:pPr>
              <a:defRPr/>
            </a:pPr>
            <a:fld id="{69FAE288-E1F1-471D-B4DF-FA297B1FCEA1}" type="slidenum">
              <a:rPr lang="en-US" altLang="zh-CN"/>
              <a:pPr>
                <a:defRPr/>
              </a:pPr>
              <a:t>42</a:t>
            </a:fld>
            <a:endParaRPr lang="en-US" altLang="zh-CN"/>
          </a:p>
        </p:txBody>
      </p:sp>
      <p:sp>
        <p:nvSpPr>
          <p:cNvPr id="28675" name="Rectangle 2">
            <a:extLst>
              <a:ext uri="{FF2B5EF4-FFF2-40B4-BE49-F238E27FC236}">
                <a16:creationId xmlns:a16="http://schemas.microsoft.com/office/drawing/2014/main" id="{1177A65C-3F92-D468-3971-CC0556D2D88E}"/>
              </a:ext>
            </a:extLst>
          </p:cNvPr>
          <p:cNvSpPr>
            <a:spLocks noGrp="1" noChangeArrowheads="1"/>
          </p:cNvSpPr>
          <p:nvPr>
            <p:ph type="title"/>
          </p:nvPr>
        </p:nvSpPr>
        <p:spPr>
          <a:xfrm>
            <a:off x="685800" y="828271"/>
            <a:ext cx="7772400" cy="801688"/>
          </a:xfrm>
        </p:spPr>
        <p:txBody>
          <a:bodyPr/>
          <a:lstStyle/>
          <a:p>
            <a:pPr eaLnBrk="1" hangingPunct="1"/>
            <a:r>
              <a:rPr lang="zh-CN" altLang="en-US" sz="3600" b="1" dirty="0">
                <a:ea typeface="楷体_GB2312" pitchFamily="49" charset="-122"/>
              </a:rPr>
              <a:t>三、直轴、交轴电枢反应电抗</a:t>
            </a:r>
            <a:r>
              <a:rPr lang="zh-CN" altLang="en-US" dirty="0"/>
              <a:t> </a:t>
            </a:r>
          </a:p>
        </p:txBody>
      </p:sp>
      <p:sp>
        <p:nvSpPr>
          <p:cNvPr id="28676" name="Rectangle 3">
            <a:extLst>
              <a:ext uri="{FF2B5EF4-FFF2-40B4-BE49-F238E27FC236}">
                <a16:creationId xmlns:a16="http://schemas.microsoft.com/office/drawing/2014/main" id="{D0559C57-927D-1892-86BA-2B9371FD476A}"/>
              </a:ext>
            </a:extLst>
          </p:cNvPr>
          <p:cNvSpPr>
            <a:spLocks noGrp="1" noChangeArrowheads="1"/>
          </p:cNvSpPr>
          <p:nvPr>
            <p:ph type="body" idx="1"/>
          </p:nvPr>
        </p:nvSpPr>
        <p:spPr>
          <a:xfrm>
            <a:off x="468313" y="1690284"/>
            <a:ext cx="7989887" cy="1943100"/>
          </a:xfrm>
        </p:spPr>
        <p:txBody>
          <a:bodyPr/>
          <a:lstStyle/>
          <a:p>
            <a:pPr eaLnBrk="1" hangingPunct="1">
              <a:buFont typeface="Wingdings" panose="05000000000000000000" pitchFamily="2" charset="2"/>
              <a:buChar char="Ø"/>
            </a:pPr>
            <a:r>
              <a:rPr lang="zh-CN" altLang="en-US" sz="2800">
                <a:latin typeface="华文中宋" panose="02010600040101010101" pitchFamily="2" charset="-122"/>
                <a:ea typeface="华文中宋" panose="02010600040101010101" pitchFamily="2" charset="-122"/>
              </a:rPr>
              <a:t>漏抗的主要为槽漏抗和端接漏抗，与气隙间磁导变化无关，定子漏抗在</a:t>
            </a:r>
            <a:r>
              <a:rPr lang="en-US" altLang="zh-CN" sz="2800">
                <a:latin typeface="华文中宋" panose="02010600040101010101" pitchFamily="2" charset="-122"/>
                <a:ea typeface="华文中宋" panose="02010600040101010101" pitchFamily="2" charset="-122"/>
              </a:rPr>
              <a:t>d</a:t>
            </a:r>
            <a:r>
              <a:rPr lang="zh-CN" altLang="en-US" sz="2800">
                <a:latin typeface="华文中宋" panose="02010600040101010101" pitchFamily="2" charset="-122"/>
                <a:ea typeface="华文中宋" panose="02010600040101010101" pitchFamily="2" charset="-122"/>
              </a:rPr>
              <a:t>、</a:t>
            </a:r>
            <a:r>
              <a:rPr lang="en-US" altLang="zh-CN" sz="2800">
                <a:latin typeface="华文中宋" panose="02010600040101010101" pitchFamily="2" charset="-122"/>
                <a:ea typeface="华文中宋" panose="02010600040101010101" pitchFamily="2" charset="-122"/>
              </a:rPr>
              <a:t>q</a:t>
            </a:r>
            <a:r>
              <a:rPr lang="zh-CN" altLang="en-US" sz="2800">
                <a:latin typeface="华文中宋" panose="02010600040101010101" pitchFamily="2" charset="-122"/>
                <a:ea typeface="华文中宋" panose="02010600040101010101" pitchFamily="2" charset="-122"/>
              </a:rPr>
              <a:t>轴上的差异很小，可以忽略。</a:t>
            </a:r>
            <a:r>
              <a:rPr lang="zh-CN" altLang="en-US" sz="2800" b="1">
                <a:solidFill>
                  <a:schemeClr val="accent2"/>
                </a:solidFill>
                <a:latin typeface="华文中宋" panose="02010600040101010101" pitchFamily="2" charset="-122"/>
                <a:ea typeface="华文中宋" panose="02010600040101010101" pitchFamily="2" charset="-122"/>
              </a:rPr>
              <a:t>磁路不饱和时</a:t>
            </a:r>
            <a:r>
              <a:rPr lang="zh-CN" altLang="en-US" sz="2800">
                <a:latin typeface="华文中宋" panose="02010600040101010101" pitchFamily="2" charset="-122"/>
                <a:ea typeface="华文中宋" panose="02010600040101010101" pitchFamily="2" charset="-122"/>
              </a:rPr>
              <a:t>，电枢反应磁势的</a:t>
            </a:r>
            <a:r>
              <a:rPr lang="en-US" altLang="zh-CN" sz="2800">
                <a:latin typeface="华文中宋" panose="02010600040101010101" pitchFamily="2" charset="-122"/>
                <a:ea typeface="华文中宋" panose="02010600040101010101" pitchFamily="2" charset="-122"/>
              </a:rPr>
              <a:t>dq</a:t>
            </a:r>
            <a:r>
              <a:rPr lang="zh-CN" altLang="en-US" sz="2800">
                <a:latin typeface="华文中宋" panose="02010600040101010101" pitchFamily="2" charset="-122"/>
                <a:ea typeface="华文中宋" panose="02010600040101010101" pitchFamily="2" charset="-122"/>
              </a:rPr>
              <a:t>轴分量将分别按比例产生电势</a:t>
            </a:r>
          </a:p>
        </p:txBody>
      </p:sp>
      <p:sp>
        <p:nvSpPr>
          <p:cNvPr id="28677" name="Rectangle 5">
            <a:extLst>
              <a:ext uri="{FF2B5EF4-FFF2-40B4-BE49-F238E27FC236}">
                <a16:creationId xmlns:a16="http://schemas.microsoft.com/office/drawing/2014/main" id="{B85DFA1A-D180-F762-8F8E-29EBE0BA8D17}"/>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28678" name="Object 4">
            <a:extLst>
              <a:ext uri="{FF2B5EF4-FFF2-40B4-BE49-F238E27FC236}">
                <a16:creationId xmlns:a16="http://schemas.microsoft.com/office/drawing/2014/main" id="{F0F23CEF-36F2-1098-B145-55C94C8FDF34}"/>
              </a:ext>
            </a:extLst>
          </p:cNvPr>
          <p:cNvGraphicFramePr>
            <a:graphicFrameLocks noChangeAspect="1"/>
          </p:cNvGraphicFramePr>
          <p:nvPr>
            <p:extLst>
              <p:ext uri="{D42A27DB-BD31-4B8C-83A1-F6EECF244321}">
                <p14:modId xmlns:p14="http://schemas.microsoft.com/office/powerpoint/2010/main" val="2764673771"/>
              </p:ext>
            </p:extLst>
          </p:nvPr>
        </p:nvGraphicFramePr>
        <p:xfrm>
          <a:off x="1763713" y="3346046"/>
          <a:ext cx="4967287" cy="865188"/>
        </p:xfrm>
        <a:graphic>
          <a:graphicData uri="http://schemas.openxmlformats.org/presentationml/2006/ole">
            <mc:AlternateContent xmlns:mc="http://schemas.openxmlformats.org/markup-compatibility/2006">
              <mc:Choice xmlns:v="urn:schemas-microsoft-com:vml" Requires="v">
                <p:oleObj name="Equation" r:id="rId2" imgW="1917700" imgH="330200" progId="Equation.DSMT4">
                  <p:embed/>
                </p:oleObj>
              </mc:Choice>
              <mc:Fallback>
                <p:oleObj name="Equation" r:id="rId2" imgW="1917700" imgH="330200" progId="Equation.DSMT4">
                  <p:embed/>
                  <p:pic>
                    <p:nvPicPr>
                      <p:cNvPr id="28678" name="Object 4">
                        <a:extLst>
                          <a:ext uri="{FF2B5EF4-FFF2-40B4-BE49-F238E27FC236}">
                            <a16:creationId xmlns:a16="http://schemas.microsoft.com/office/drawing/2014/main" id="{F0F23CEF-36F2-1098-B145-55C94C8FDF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3346046"/>
                        <a:ext cx="496728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2" name="Text Box 6">
            <a:extLst>
              <a:ext uri="{FF2B5EF4-FFF2-40B4-BE49-F238E27FC236}">
                <a16:creationId xmlns:a16="http://schemas.microsoft.com/office/drawing/2014/main" id="{74729AD1-73F4-719A-C155-A4E3DCAE9EAD}"/>
              </a:ext>
            </a:extLst>
          </p:cNvPr>
          <p:cNvSpPr txBox="1">
            <a:spLocks noChangeArrowheads="1"/>
          </p:cNvSpPr>
          <p:nvPr/>
        </p:nvSpPr>
        <p:spPr bwMode="auto">
          <a:xfrm>
            <a:off x="539750" y="4187421"/>
            <a:ext cx="80645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10000"/>
              </a:lnSpc>
              <a:buFont typeface="Wingdings" panose="05000000000000000000" pitchFamily="2" charset="2"/>
              <a:buChar char="Ø"/>
            </a:pP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ad</a:t>
            </a:r>
            <a:r>
              <a:rPr kumimoji="1" lang="zh-CN" altLang="en-US" b="0">
                <a:latin typeface="华文中宋" panose="02010600040101010101" pitchFamily="2" charset="-122"/>
                <a:ea typeface="华文中宋" panose="02010600040101010101" pitchFamily="2" charset="-122"/>
              </a:rPr>
              <a:t>、</a:t>
            </a: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aq</a:t>
            </a:r>
            <a:r>
              <a:rPr kumimoji="1" lang="zh-CN" altLang="en-US" b="0">
                <a:latin typeface="华文中宋" panose="02010600040101010101" pitchFamily="2" charset="-122"/>
                <a:ea typeface="华文中宋" panose="02010600040101010101" pitchFamily="2" charset="-122"/>
              </a:rPr>
              <a:t>分别定义为直轴、交轴电枢反应电抗。</a:t>
            </a: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aq</a:t>
            </a:r>
            <a:r>
              <a:rPr kumimoji="1" lang="en-US" altLang="zh-CN" b="0">
                <a:latin typeface="华文中宋" panose="02010600040101010101" pitchFamily="2" charset="-122"/>
                <a:ea typeface="华文中宋" panose="02010600040101010101" pitchFamily="2" charset="-122"/>
              </a:rPr>
              <a:t>&lt;X</a:t>
            </a:r>
            <a:r>
              <a:rPr kumimoji="1" lang="en-US" altLang="zh-CN" b="0" baseline="-25000">
                <a:latin typeface="华文中宋" panose="02010600040101010101" pitchFamily="2" charset="-122"/>
                <a:ea typeface="华文中宋" panose="02010600040101010101" pitchFamily="2" charset="-122"/>
              </a:rPr>
              <a:t>ad</a:t>
            </a:r>
            <a:r>
              <a:rPr kumimoji="1" lang="zh-CN" altLang="en-US" b="0">
                <a:latin typeface="华文中宋" panose="02010600040101010101" pitchFamily="2" charset="-122"/>
                <a:ea typeface="华文中宋" panose="02010600040101010101" pitchFamily="2" charset="-122"/>
              </a:rPr>
              <a:t>。对隐极电机则</a:t>
            </a: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a:t>
            </a: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aq</a:t>
            </a:r>
            <a:r>
              <a:rPr kumimoji="1" lang="zh-CN" altLang="en-US" b="0">
                <a:latin typeface="华文中宋" panose="02010600040101010101" pitchFamily="2" charset="-122"/>
                <a:ea typeface="华文中宋" panose="02010600040101010101" pitchFamily="2" charset="-122"/>
              </a:rPr>
              <a:t>＝</a:t>
            </a:r>
            <a:r>
              <a:rPr kumimoji="1" lang="en-US" altLang="zh-CN" b="0">
                <a:latin typeface="华文中宋" panose="02010600040101010101" pitchFamily="2" charset="-122"/>
                <a:ea typeface="华文中宋" panose="02010600040101010101" pitchFamily="2" charset="-122"/>
              </a:rPr>
              <a:t>X</a:t>
            </a:r>
            <a:r>
              <a:rPr kumimoji="1" lang="en-US" altLang="zh-CN" b="0" baseline="-25000">
                <a:latin typeface="华文中宋" panose="02010600040101010101" pitchFamily="2" charset="-122"/>
                <a:ea typeface="华文中宋" panose="02010600040101010101" pitchFamily="2" charset="-122"/>
              </a:rPr>
              <a:t>ad</a:t>
            </a:r>
            <a:r>
              <a:rPr kumimoji="1" lang="zh-CN" altLang="en-US" b="0">
                <a:latin typeface="华文中宋" panose="02010600040101010101" pitchFamily="2" charset="-122"/>
                <a:ea typeface="华文中宋" panose="02010600040101010101" pitchFamily="2" charset="-122"/>
              </a:rPr>
              <a:t>。</a:t>
            </a:r>
          </a:p>
        </p:txBody>
      </p:sp>
      <p:sp>
        <p:nvSpPr>
          <p:cNvPr id="28680" name="Rectangle 9">
            <a:extLst>
              <a:ext uri="{FF2B5EF4-FFF2-40B4-BE49-F238E27FC236}">
                <a16:creationId xmlns:a16="http://schemas.microsoft.com/office/drawing/2014/main" id="{7F046D19-5738-993B-A123-BB3D1539CB2B}"/>
              </a:ext>
            </a:extLst>
          </p:cNvPr>
          <p:cNvSpPr>
            <a:spLocks noChangeArrowheads="1"/>
          </p:cNvSpPr>
          <p:nvPr/>
        </p:nvSpPr>
        <p:spPr bwMode="auto">
          <a:xfrm>
            <a:off x="0"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pSp>
        <p:nvGrpSpPr>
          <p:cNvPr id="45066" name="Group 10">
            <a:extLst>
              <a:ext uri="{FF2B5EF4-FFF2-40B4-BE49-F238E27FC236}">
                <a16:creationId xmlns:a16="http://schemas.microsoft.com/office/drawing/2014/main" id="{583BED99-9ADB-FDF7-D2A9-D01876C2E3A7}"/>
              </a:ext>
            </a:extLst>
          </p:cNvPr>
          <p:cNvGrpSpPr>
            <a:grpSpLocks/>
          </p:cNvGrpSpPr>
          <p:nvPr/>
        </p:nvGrpSpPr>
        <p:grpSpPr bwMode="auto">
          <a:xfrm>
            <a:off x="611188" y="5506634"/>
            <a:ext cx="6192837" cy="1349375"/>
            <a:chOff x="385" y="3113"/>
            <a:chExt cx="3901" cy="850"/>
          </a:xfrm>
        </p:grpSpPr>
        <p:sp>
          <p:nvSpPr>
            <p:cNvPr id="28682" name="Text Box 7">
              <a:extLst>
                <a:ext uri="{FF2B5EF4-FFF2-40B4-BE49-F238E27FC236}">
                  <a16:creationId xmlns:a16="http://schemas.microsoft.com/office/drawing/2014/main" id="{279630A3-6787-C2A6-02CA-F26E0C702AD0}"/>
                </a:ext>
              </a:extLst>
            </p:cNvPr>
            <p:cNvSpPr txBox="1">
              <a:spLocks noChangeArrowheads="1"/>
            </p:cNvSpPr>
            <p:nvPr/>
          </p:nvSpPr>
          <p:spPr bwMode="auto">
            <a:xfrm>
              <a:off x="385" y="3113"/>
              <a:ext cx="244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b="0">
                  <a:latin typeface="Times New Roman" panose="02020603050405020304" pitchFamily="18" charset="0"/>
                  <a:ea typeface="华文中宋" panose="02010600040101010101" pitchFamily="2" charset="-122"/>
                </a:rPr>
                <a:t>对漏抗压降也作分离</a:t>
              </a:r>
              <a:r>
                <a:rPr kumimoji="1" lang="zh-CN" altLang="en-US" sz="2400" b="0">
                  <a:latin typeface="Times New Roman" panose="02020603050405020304" pitchFamily="18" charset="0"/>
                  <a:ea typeface="宋体" panose="02010600030101010101" pitchFamily="2" charset="-122"/>
                </a:rPr>
                <a:t> </a:t>
              </a:r>
            </a:p>
          </p:txBody>
        </p:sp>
        <p:graphicFrame>
          <p:nvGraphicFramePr>
            <p:cNvPr id="28683" name="Object 8">
              <a:extLst>
                <a:ext uri="{FF2B5EF4-FFF2-40B4-BE49-F238E27FC236}">
                  <a16:creationId xmlns:a16="http://schemas.microsoft.com/office/drawing/2014/main" id="{AA52E53F-50EE-38DD-3711-BE8ECE2D8583}"/>
                </a:ext>
              </a:extLst>
            </p:cNvPr>
            <p:cNvGraphicFramePr>
              <a:graphicFrameLocks noChangeAspect="1"/>
            </p:cNvGraphicFramePr>
            <p:nvPr/>
          </p:nvGraphicFramePr>
          <p:xfrm>
            <a:off x="748" y="3475"/>
            <a:ext cx="3538" cy="488"/>
          </p:xfrm>
          <a:graphic>
            <a:graphicData uri="http://schemas.openxmlformats.org/presentationml/2006/ole">
              <mc:AlternateContent xmlns:mc="http://schemas.openxmlformats.org/markup-compatibility/2006">
                <mc:Choice xmlns:v="urn:schemas-microsoft-com:vml" Requires="v">
                  <p:oleObj name="Equation" r:id="rId4" imgW="2272314" imgH="317362" progId="Equation.DSMT4">
                    <p:embed/>
                  </p:oleObj>
                </mc:Choice>
                <mc:Fallback>
                  <p:oleObj name="Equation" r:id="rId4" imgW="2272314" imgH="317362" progId="Equation.DSMT4">
                    <p:embed/>
                    <p:pic>
                      <p:nvPicPr>
                        <p:cNvPr id="28683" name="Object 8">
                          <a:extLst>
                            <a:ext uri="{FF2B5EF4-FFF2-40B4-BE49-F238E27FC236}">
                              <a16:creationId xmlns:a16="http://schemas.microsoft.com/office/drawing/2014/main" id="{AA52E53F-50EE-38DD-3711-BE8ECE2D85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 y="3475"/>
                          <a:ext cx="3538"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 calcmode="lin" valueType="num">
                                      <p:cBhvr>
                                        <p:cTn id="7" dur="500" fill="hold"/>
                                        <p:tgtEl>
                                          <p:spTgt spid="45062"/>
                                        </p:tgtEl>
                                        <p:attrNameLst>
                                          <p:attrName>ppt_w</p:attrName>
                                        </p:attrNameLst>
                                      </p:cBhvr>
                                      <p:tavLst>
                                        <p:tav tm="0">
                                          <p:val>
                                            <p:fltVal val="0"/>
                                          </p:val>
                                        </p:tav>
                                        <p:tav tm="100000">
                                          <p:val>
                                            <p:strVal val="#ppt_w"/>
                                          </p:val>
                                        </p:tav>
                                      </p:tavLst>
                                    </p:anim>
                                    <p:anim calcmode="lin" valueType="num">
                                      <p:cBhvr>
                                        <p:cTn id="8" dur="500" fill="hold"/>
                                        <p:tgtEl>
                                          <p:spTgt spid="4506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45066"/>
                                        </p:tgtEl>
                                        <p:attrNameLst>
                                          <p:attrName>style.visibility</p:attrName>
                                        </p:attrNameLst>
                                      </p:cBhvr>
                                      <p:to>
                                        <p:strVal val="visible"/>
                                      </p:to>
                                    </p:set>
                                    <p:animEffect transition="in" filter="diamond(in)">
                                      <p:cBhvr>
                                        <p:cTn id="13" dur="2000"/>
                                        <p:tgtEl>
                                          <p:spTgt spid="45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6">
            <a:extLst>
              <a:ext uri="{FF2B5EF4-FFF2-40B4-BE49-F238E27FC236}">
                <a16:creationId xmlns:a16="http://schemas.microsoft.com/office/drawing/2014/main" id="{AB00ABF2-E135-55E6-E9BB-3BA2D30E6888}"/>
              </a:ext>
            </a:extLst>
          </p:cNvPr>
          <p:cNvSpPr>
            <a:spLocks noGrp="1"/>
          </p:cNvSpPr>
          <p:nvPr>
            <p:ph type="sldNum" sz="quarter" idx="12"/>
          </p:nvPr>
        </p:nvSpPr>
        <p:spPr/>
        <p:txBody>
          <a:bodyPr/>
          <a:lstStyle/>
          <a:p>
            <a:pPr>
              <a:defRPr/>
            </a:pPr>
            <a:fld id="{12E7CFDE-2AF9-4D20-8054-C1E72EBBDEC2}" type="slidenum">
              <a:rPr lang="en-US" altLang="zh-CN"/>
              <a:pPr>
                <a:defRPr/>
              </a:pPr>
              <a:t>43</a:t>
            </a:fld>
            <a:endParaRPr lang="en-US" altLang="zh-CN"/>
          </a:p>
        </p:txBody>
      </p:sp>
      <p:sp>
        <p:nvSpPr>
          <p:cNvPr id="29699" name="Rectangle 2">
            <a:extLst>
              <a:ext uri="{FF2B5EF4-FFF2-40B4-BE49-F238E27FC236}">
                <a16:creationId xmlns:a16="http://schemas.microsoft.com/office/drawing/2014/main" id="{590F3710-A0DF-210D-FD72-1B0716C9239C}"/>
              </a:ext>
            </a:extLst>
          </p:cNvPr>
          <p:cNvSpPr>
            <a:spLocks noGrp="1" noChangeArrowheads="1"/>
          </p:cNvSpPr>
          <p:nvPr>
            <p:ph type="title"/>
          </p:nvPr>
        </p:nvSpPr>
        <p:spPr>
          <a:xfrm>
            <a:off x="685800" y="765175"/>
            <a:ext cx="7772400" cy="720725"/>
          </a:xfrm>
        </p:spPr>
        <p:txBody>
          <a:bodyPr/>
          <a:lstStyle/>
          <a:p>
            <a:pPr eaLnBrk="1" hangingPunct="1"/>
            <a:r>
              <a:rPr lang="zh-CN" altLang="en-US" sz="3600" dirty="0"/>
              <a:t>交直轴同步电抗</a:t>
            </a:r>
          </a:p>
        </p:txBody>
      </p:sp>
      <p:sp>
        <p:nvSpPr>
          <p:cNvPr id="29700" name="Rectangle 3">
            <a:extLst>
              <a:ext uri="{FF2B5EF4-FFF2-40B4-BE49-F238E27FC236}">
                <a16:creationId xmlns:a16="http://schemas.microsoft.com/office/drawing/2014/main" id="{10CDD54A-BAEE-B640-5C54-02B1882A8174}"/>
              </a:ext>
            </a:extLst>
          </p:cNvPr>
          <p:cNvSpPr>
            <a:spLocks noGrp="1" noChangeArrowheads="1"/>
          </p:cNvSpPr>
          <p:nvPr>
            <p:ph type="body" sz="half" idx="1"/>
          </p:nvPr>
        </p:nvSpPr>
        <p:spPr>
          <a:xfrm>
            <a:off x="684212" y="1485900"/>
            <a:ext cx="7773988" cy="719137"/>
          </a:xfrm>
        </p:spPr>
        <p:txBody>
          <a:bodyPr/>
          <a:lstStyle/>
          <a:p>
            <a:pPr eaLnBrk="1" hangingPunct="1"/>
            <a:r>
              <a:rPr lang="zh-CN" altLang="en-US" sz="2800" b="1" dirty="0">
                <a:solidFill>
                  <a:schemeClr val="accent2"/>
                </a:solidFill>
              </a:rPr>
              <a:t>定义</a:t>
            </a:r>
            <a:r>
              <a:rPr lang="zh-CN" altLang="en-US" sz="2800" dirty="0"/>
              <a:t> </a:t>
            </a:r>
            <a:r>
              <a:rPr lang="zh-CN" altLang="en-US" sz="2800" b="1" dirty="0">
                <a:solidFill>
                  <a:srgbClr val="FF0000"/>
                </a:solidFill>
              </a:rPr>
              <a:t>直轴、交轴同步电抗</a:t>
            </a:r>
            <a:r>
              <a:rPr lang="zh-CN" altLang="en-US" sz="2800" dirty="0"/>
              <a:t>分别为 </a:t>
            </a:r>
          </a:p>
        </p:txBody>
      </p:sp>
      <p:graphicFrame>
        <p:nvGraphicFramePr>
          <p:cNvPr id="29701" name="Object 4">
            <a:extLst>
              <a:ext uri="{FF2B5EF4-FFF2-40B4-BE49-F238E27FC236}">
                <a16:creationId xmlns:a16="http://schemas.microsoft.com/office/drawing/2014/main" id="{268F69E7-CADB-7180-806D-66B35817AE3A}"/>
              </a:ext>
            </a:extLst>
          </p:cNvPr>
          <p:cNvGraphicFramePr>
            <a:graphicFrameLocks noChangeAspect="1"/>
          </p:cNvGraphicFramePr>
          <p:nvPr/>
        </p:nvGraphicFramePr>
        <p:xfrm>
          <a:off x="1547813" y="1916113"/>
          <a:ext cx="5327650" cy="679450"/>
        </p:xfrm>
        <a:graphic>
          <a:graphicData uri="http://schemas.openxmlformats.org/presentationml/2006/ole">
            <mc:AlternateContent xmlns:mc="http://schemas.openxmlformats.org/markup-compatibility/2006">
              <mc:Choice xmlns:v="urn:schemas-microsoft-com:vml" Requires="v">
                <p:oleObj name="Equation" r:id="rId2" imgW="1866900" imgH="241300" progId="Equation.DSMT4">
                  <p:embed/>
                </p:oleObj>
              </mc:Choice>
              <mc:Fallback>
                <p:oleObj name="Equation" r:id="rId2" imgW="1866900" imgH="241300" progId="Equation.DSMT4">
                  <p:embed/>
                  <p:pic>
                    <p:nvPicPr>
                      <p:cNvPr id="29701" name="Object 4">
                        <a:extLst>
                          <a:ext uri="{FF2B5EF4-FFF2-40B4-BE49-F238E27FC236}">
                            <a16:creationId xmlns:a16="http://schemas.microsoft.com/office/drawing/2014/main" id="{268F69E7-CADB-7180-806D-66B35817A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916113"/>
                        <a:ext cx="53276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Text Box 7">
            <a:extLst>
              <a:ext uri="{FF2B5EF4-FFF2-40B4-BE49-F238E27FC236}">
                <a16:creationId xmlns:a16="http://schemas.microsoft.com/office/drawing/2014/main" id="{0CFF9386-C05D-B892-818D-7961B58C694E}"/>
              </a:ext>
            </a:extLst>
          </p:cNvPr>
          <p:cNvSpPr txBox="1">
            <a:spLocks noChangeArrowheads="1"/>
          </p:cNvSpPr>
          <p:nvPr/>
        </p:nvSpPr>
        <p:spPr bwMode="auto">
          <a:xfrm>
            <a:off x="323850" y="2636838"/>
            <a:ext cx="8863013"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a:latin typeface="Times New Roman" panose="02020603050405020304" pitchFamily="18" charset="0"/>
                <a:ea typeface="宋体" panose="02010600030101010101" pitchFamily="2" charset="-122"/>
              </a:rPr>
              <a:t>一般汽轮发电机（隐极）和凸极发电机的同步电抗标幺值为</a:t>
            </a:r>
          </a:p>
        </p:txBody>
      </p:sp>
      <p:graphicFrame>
        <p:nvGraphicFramePr>
          <p:cNvPr id="55402" name="Group 106">
            <a:extLst>
              <a:ext uri="{FF2B5EF4-FFF2-40B4-BE49-F238E27FC236}">
                <a16:creationId xmlns:a16="http://schemas.microsoft.com/office/drawing/2014/main" id="{B2B6915A-93D9-5D4A-238A-453836CB542E}"/>
              </a:ext>
            </a:extLst>
          </p:cNvPr>
          <p:cNvGraphicFramePr>
            <a:graphicFrameLocks noGrp="1"/>
          </p:cNvGraphicFramePr>
          <p:nvPr>
            <p:ph sz="half" idx="2"/>
          </p:nvPr>
        </p:nvGraphicFramePr>
        <p:xfrm>
          <a:off x="684213" y="3141663"/>
          <a:ext cx="7416800" cy="3244852"/>
        </p:xfrm>
        <a:graphic>
          <a:graphicData uri="http://schemas.openxmlformats.org/drawingml/2006/table">
            <a:tbl>
              <a:tblPr/>
              <a:tblGrid>
                <a:gridCol w="2663825">
                  <a:extLst>
                    <a:ext uri="{9D8B030D-6E8A-4147-A177-3AD203B41FA5}">
                      <a16:colId xmlns:a16="http://schemas.microsoft.com/office/drawing/2014/main" val="1411536741"/>
                    </a:ext>
                  </a:extLst>
                </a:gridCol>
                <a:gridCol w="2432050">
                  <a:extLst>
                    <a:ext uri="{9D8B030D-6E8A-4147-A177-3AD203B41FA5}">
                      <a16:colId xmlns:a16="http://schemas.microsoft.com/office/drawing/2014/main" val="903155253"/>
                    </a:ext>
                  </a:extLst>
                </a:gridCol>
                <a:gridCol w="2320925">
                  <a:extLst>
                    <a:ext uri="{9D8B030D-6E8A-4147-A177-3AD203B41FA5}">
                      <a16:colId xmlns:a16="http://schemas.microsoft.com/office/drawing/2014/main" val="264226978"/>
                    </a:ext>
                  </a:extLst>
                </a:gridCol>
              </a:tblGrid>
              <a:tr h="512763">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电机类型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06721110"/>
                  </a:ext>
                </a:extLst>
              </a:tr>
              <a:tr h="852488">
                <a:tc rowSpan="2">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一对极汽轮发电机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平均 </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3174622"/>
                  </a:ext>
                </a:extLst>
              </a:tr>
              <a:tr h="855663">
                <a:tc vMerge="1">
                  <a:txBody>
                    <a:bodyPr/>
                    <a:lstStyle/>
                    <a:p>
                      <a:endParaRPr lang="zh-CN" altLang="en-US"/>
                    </a:p>
                  </a:txBody>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 </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1.32~2.19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8336830"/>
                  </a:ext>
                </a:extLst>
              </a:tr>
              <a:tr h="511175">
                <a:tc rowSpan="2">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凸极发电机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平均 </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平均</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96747630"/>
                  </a:ext>
                </a:extLst>
              </a:tr>
              <a:tr h="512763">
                <a:tc vMerge="1">
                  <a:txBody>
                    <a:bodyPr/>
                    <a:lstStyle/>
                    <a:p>
                      <a:endParaRPr lang="zh-CN" altLang="en-US"/>
                    </a:p>
                  </a:txBody>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 </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0.67</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 </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0.48</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084927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DFF375C-CBCB-833E-2BD6-FEFC446F6B67}"/>
              </a:ext>
            </a:extLst>
          </p:cNvPr>
          <p:cNvSpPr>
            <a:spLocks noGrp="1"/>
          </p:cNvSpPr>
          <p:nvPr>
            <p:ph type="sldNum" sz="quarter" idx="12"/>
          </p:nvPr>
        </p:nvSpPr>
        <p:spPr/>
        <p:txBody>
          <a:bodyPr/>
          <a:lstStyle/>
          <a:p>
            <a:pPr>
              <a:defRPr/>
            </a:pPr>
            <a:fld id="{42A81C36-DA81-4DE9-A126-DF6666562BBD}" type="slidenum">
              <a:rPr lang="en-US" altLang="zh-CN"/>
              <a:pPr>
                <a:defRPr/>
              </a:pPr>
              <a:t>44</a:t>
            </a:fld>
            <a:endParaRPr lang="en-US" altLang="zh-CN"/>
          </a:p>
        </p:txBody>
      </p:sp>
      <p:sp>
        <p:nvSpPr>
          <p:cNvPr id="30723" name="Rectangle 2">
            <a:extLst>
              <a:ext uri="{FF2B5EF4-FFF2-40B4-BE49-F238E27FC236}">
                <a16:creationId xmlns:a16="http://schemas.microsoft.com/office/drawing/2014/main" id="{A524A0BB-A4C2-C934-84D4-870BC8793817}"/>
              </a:ext>
            </a:extLst>
          </p:cNvPr>
          <p:cNvSpPr>
            <a:spLocks noGrp="1" noChangeArrowheads="1"/>
          </p:cNvSpPr>
          <p:nvPr>
            <p:ph type="title"/>
          </p:nvPr>
        </p:nvSpPr>
        <p:spPr>
          <a:xfrm>
            <a:off x="615167" y="514350"/>
            <a:ext cx="7772400" cy="1066800"/>
          </a:xfrm>
        </p:spPr>
        <p:txBody>
          <a:bodyPr/>
          <a:lstStyle/>
          <a:p>
            <a:pPr eaLnBrk="1" hangingPunct="1"/>
            <a:r>
              <a:rPr lang="zh-CN" altLang="en-US" sz="3600" b="1" dirty="0">
                <a:latin typeface="宋体" panose="02010600030101010101" pitchFamily="2" charset="-122"/>
              </a:rPr>
              <a:t>四、凸极同步发电机的相量图</a:t>
            </a:r>
            <a:r>
              <a:rPr lang="zh-CN" altLang="en-US" dirty="0"/>
              <a:t> </a:t>
            </a:r>
          </a:p>
        </p:txBody>
      </p:sp>
      <p:graphicFrame>
        <p:nvGraphicFramePr>
          <p:cNvPr id="30724" name="Object 4">
            <a:extLst>
              <a:ext uri="{FF2B5EF4-FFF2-40B4-BE49-F238E27FC236}">
                <a16:creationId xmlns:a16="http://schemas.microsoft.com/office/drawing/2014/main" id="{FABB2069-97AF-BE17-D4BF-915AFF014631}"/>
              </a:ext>
            </a:extLst>
          </p:cNvPr>
          <p:cNvGraphicFramePr>
            <a:graphicFrameLocks noChangeAspect="1"/>
          </p:cNvGraphicFramePr>
          <p:nvPr/>
        </p:nvGraphicFramePr>
        <p:xfrm>
          <a:off x="185738" y="1295400"/>
          <a:ext cx="7781925" cy="1373188"/>
        </p:xfrm>
        <a:graphic>
          <a:graphicData uri="http://schemas.openxmlformats.org/presentationml/2006/ole">
            <mc:AlternateContent xmlns:mc="http://schemas.openxmlformats.org/markup-compatibility/2006">
              <mc:Choice xmlns:v="urn:schemas-microsoft-com:vml" Requires="v">
                <p:oleObj name="Equation" r:id="rId2" imgW="3771900" imgH="660400" progId="Equation.DSMT4">
                  <p:embed/>
                </p:oleObj>
              </mc:Choice>
              <mc:Fallback>
                <p:oleObj name="Equation" r:id="rId2" imgW="3771900" imgH="660400" progId="Equation.DSMT4">
                  <p:embed/>
                  <p:pic>
                    <p:nvPicPr>
                      <p:cNvPr id="30724" name="Object 4">
                        <a:extLst>
                          <a:ext uri="{FF2B5EF4-FFF2-40B4-BE49-F238E27FC236}">
                            <a16:creationId xmlns:a16="http://schemas.microsoft.com/office/drawing/2014/main" id="{FABB2069-97AF-BE17-D4BF-915AFF014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295400"/>
                        <a:ext cx="77819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4" name="Object 6">
            <a:extLst>
              <a:ext uri="{FF2B5EF4-FFF2-40B4-BE49-F238E27FC236}">
                <a16:creationId xmlns:a16="http://schemas.microsoft.com/office/drawing/2014/main" id="{4CF9F9C9-C6E7-BBDB-4DE2-20A02C00553C}"/>
              </a:ext>
            </a:extLst>
          </p:cNvPr>
          <p:cNvGraphicFramePr>
            <a:graphicFrameLocks noChangeAspect="1"/>
          </p:cNvGraphicFramePr>
          <p:nvPr/>
        </p:nvGraphicFramePr>
        <p:xfrm>
          <a:off x="4191000" y="1981200"/>
          <a:ext cx="4171950" cy="4343400"/>
        </p:xfrm>
        <a:graphic>
          <a:graphicData uri="http://schemas.openxmlformats.org/presentationml/2006/ole">
            <mc:AlternateContent xmlns:mc="http://schemas.openxmlformats.org/markup-compatibility/2006">
              <mc:Choice xmlns:v="urn:schemas-microsoft-com:vml" Requires="v">
                <p:oleObj name="Microsoft Drawing" r:id="rId4" imgW="2778125" imgH="2897188" progId="MSDraw">
                  <p:embed/>
                </p:oleObj>
              </mc:Choice>
              <mc:Fallback>
                <p:oleObj name="Microsoft Drawing" r:id="rId4" imgW="2778125" imgH="2897188" progId="MSDraw">
                  <p:embed/>
                  <p:pic>
                    <p:nvPicPr>
                      <p:cNvPr id="43014" name="Object 6">
                        <a:extLst>
                          <a:ext uri="{FF2B5EF4-FFF2-40B4-BE49-F238E27FC236}">
                            <a16:creationId xmlns:a16="http://schemas.microsoft.com/office/drawing/2014/main" id="{4CF9F9C9-C6E7-BBDB-4DE2-20A02C0055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1981200"/>
                        <a:ext cx="4171950" cy="434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Rectangle 9">
            <a:extLst>
              <a:ext uri="{FF2B5EF4-FFF2-40B4-BE49-F238E27FC236}">
                <a16:creationId xmlns:a16="http://schemas.microsoft.com/office/drawing/2014/main" id="{DBA9F4AC-2FB3-7419-D70D-24CE8E2098F6}"/>
              </a:ext>
            </a:extLst>
          </p:cNvPr>
          <p:cNvSpPr>
            <a:spLocks noChangeArrowheads="1"/>
          </p:cNvSpPr>
          <p:nvPr/>
        </p:nvSpPr>
        <p:spPr bwMode="auto">
          <a:xfrm>
            <a:off x="333851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endParaRPr lang="zh-CN" altLang="en-US"/>
          </a:p>
        </p:txBody>
      </p:sp>
      <p:graphicFrame>
        <p:nvGraphicFramePr>
          <p:cNvPr id="43016" name="Object 8">
            <a:extLst>
              <a:ext uri="{FF2B5EF4-FFF2-40B4-BE49-F238E27FC236}">
                <a16:creationId xmlns:a16="http://schemas.microsoft.com/office/drawing/2014/main" id="{F105ADAE-2797-40C2-D37E-B4BA6A271283}"/>
              </a:ext>
            </a:extLst>
          </p:cNvPr>
          <p:cNvGraphicFramePr>
            <a:graphicFrameLocks noChangeAspect="1"/>
          </p:cNvGraphicFramePr>
          <p:nvPr/>
        </p:nvGraphicFramePr>
        <p:xfrm>
          <a:off x="304800" y="2667000"/>
          <a:ext cx="3810000" cy="3648075"/>
        </p:xfrm>
        <a:graphic>
          <a:graphicData uri="http://schemas.openxmlformats.org/presentationml/2006/ole">
            <mc:AlternateContent xmlns:mc="http://schemas.openxmlformats.org/markup-compatibility/2006">
              <mc:Choice xmlns:v="urn:schemas-microsoft-com:vml" Requires="v">
                <p:oleObj name="Microsoft Drawing" r:id="rId6" imgW="2468563" imgH="2363788" progId="MSDraw">
                  <p:embed/>
                </p:oleObj>
              </mc:Choice>
              <mc:Fallback>
                <p:oleObj name="Microsoft Drawing" r:id="rId6" imgW="2468563" imgH="2363788" progId="MSDraw">
                  <p:embed/>
                  <p:pic>
                    <p:nvPicPr>
                      <p:cNvPr id="43016" name="Object 8">
                        <a:extLst>
                          <a:ext uri="{FF2B5EF4-FFF2-40B4-BE49-F238E27FC236}">
                            <a16:creationId xmlns:a16="http://schemas.microsoft.com/office/drawing/2014/main" id="{F105ADAE-2797-40C2-D37E-B4BA6A2712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2667000"/>
                        <a:ext cx="3810000" cy="3648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8" name="AutoShape 10">
            <a:extLst>
              <a:ext uri="{FF2B5EF4-FFF2-40B4-BE49-F238E27FC236}">
                <a16:creationId xmlns:a16="http://schemas.microsoft.com/office/drawing/2014/main" id="{645624FB-C395-A100-1374-65CA42111345}"/>
              </a:ext>
            </a:extLst>
          </p:cNvPr>
          <p:cNvSpPr>
            <a:spLocks noChangeArrowheads="1"/>
          </p:cNvSpPr>
          <p:nvPr/>
        </p:nvSpPr>
        <p:spPr bwMode="auto">
          <a:xfrm>
            <a:off x="3048000" y="4191000"/>
            <a:ext cx="2895600" cy="1676400"/>
          </a:xfrm>
          <a:prstGeom prst="wedgeRectCallout">
            <a:avLst>
              <a:gd name="adj1" fmla="val 4333"/>
              <a:gd name="adj2" fmla="val 62782"/>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buFont typeface="Wingdings" panose="05000000000000000000" pitchFamily="2" charset="2"/>
              <a:buChar char="Ø"/>
            </a:pPr>
            <a:r>
              <a:rPr kumimoji="1" lang="zh-CN" altLang="en-US" sz="2400" b="0">
                <a:latin typeface="宋体" panose="02010600030101010101" pitchFamily="2" charset="-122"/>
                <a:ea typeface="宋体" panose="02010600030101010101" pitchFamily="2" charset="-122"/>
              </a:rPr>
              <a:t>给定相电压和相电流时，感性负载需要对电机提供更大的励磁电流</a:t>
            </a:r>
            <a:r>
              <a:rPr kumimoji="1" lang="zh-CN" altLang="en-US" sz="2400" b="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blinds(horizontal)">
                                      <p:cBhvr>
                                        <p:cTn id="7" dur="500"/>
                                        <p:tgtEl>
                                          <p:spTgt spid="430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3016"/>
                                        </p:tgtEl>
                                        <p:attrNameLst>
                                          <p:attrName>style.visibility</p:attrName>
                                        </p:attrNameLst>
                                      </p:cBhvr>
                                      <p:to>
                                        <p:strVal val="visible"/>
                                      </p:to>
                                    </p:set>
                                    <p:animEffect transition="in" filter="blinds(horizontal)">
                                      <p:cBhvr>
                                        <p:cTn id="12" dur="500"/>
                                        <p:tgtEl>
                                          <p:spTgt spid="430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18"/>
                                        </p:tgtEl>
                                        <p:attrNameLst>
                                          <p:attrName>style.visibility</p:attrName>
                                        </p:attrNameLst>
                                      </p:cBhvr>
                                      <p:to>
                                        <p:strVal val="visible"/>
                                      </p:to>
                                    </p:set>
                                    <p:animEffect transition="in" filter="blinds(horizontal)">
                                      <p:cBhvr>
                                        <p:cTn id="17" dur="500"/>
                                        <p:tgtEl>
                                          <p:spTgt spid="43018"/>
                                        </p:tgtEl>
                                      </p:cBhvr>
                                    </p:animEffect>
                                  </p:childTnLst>
                                  <p:subTnLst>
                                    <p:set>
                                      <p:cBhvr override="childStyle">
                                        <p:cTn dur="1" fill="hold" display="0" masterRel="nextClick" afterEffect="1"/>
                                        <p:tgtEl>
                                          <p:spTgt spid="4301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8"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746A824-AE59-FBF9-FD92-C49FCEECC119}"/>
              </a:ext>
            </a:extLst>
          </p:cNvPr>
          <p:cNvSpPr>
            <a:spLocks noGrp="1"/>
          </p:cNvSpPr>
          <p:nvPr>
            <p:ph type="sldNum" sz="quarter" idx="12"/>
          </p:nvPr>
        </p:nvSpPr>
        <p:spPr/>
        <p:txBody>
          <a:bodyPr/>
          <a:lstStyle/>
          <a:p>
            <a:pPr>
              <a:defRPr/>
            </a:pPr>
            <a:fld id="{7B1A4818-E268-4BAB-881F-D5BD450A514B}" type="slidenum">
              <a:rPr lang="en-US" altLang="zh-CN"/>
              <a:pPr>
                <a:defRPr/>
              </a:pPr>
              <a:t>45</a:t>
            </a:fld>
            <a:endParaRPr lang="en-US" altLang="zh-CN"/>
          </a:p>
        </p:txBody>
      </p:sp>
      <p:sp>
        <p:nvSpPr>
          <p:cNvPr id="31747" name="Rectangle 2">
            <a:extLst>
              <a:ext uri="{FF2B5EF4-FFF2-40B4-BE49-F238E27FC236}">
                <a16:creationId xmlns:a16="http://schemas.microsoft.com/office/drawing/2014/main" id="{9DF37006-F96A-5A32-38A5-2E28A7459A09}"/>
              </a:ext>
            </a:extLst>
          </p:cNvPr>
          <p:cNvSpPr>
            <a:spLocks noGrp="1" noChangeArrowheads="1"/>
          </p:cNvSpPr>
          <p:nvPr>
            <p:ph type="title"/>
          </p:nvPr>
        </p:nvSpPr>
        <p:spPr>
          <a:xfrm>
            <a:off x="882391" y="584995"/>
            <a:ext cx="1509713" cy="1008062"/>
          </a:xfrm>
        </p:spPr>
        <p:txBody>
          <a:bodyPr/>
          <a:lstStyle/>
          <a:p>
            <a:pPr eaLnBrk="1" hangingPunct="1"/>
            <a:r>
              <a:rPr lang="zh-CN" altLang="en-US" sz="3600" dirty="0"/>
              <a:t>讨论</a:t>
            </a:r>
          </a:p>
        </p:txBody>
      </p:sp>
      <p:sp>
        <p:nvSpPr>
          <p:cNvPr id="31748" name="Rectangle 3">
            <a:extLst>
              <a:ext uri="{FF2B5EF4-FFF2-40B4-BE49-F238E27FC236}">
                <a16:creationId xmlns:a16="http://schemas.microsoft.com/office/drawing/2014/main" id="{FA679A91-C605-00BA-CC64-1CACE690D172}"/>
              </a:ext>
            </a:extLst>
          </p:cNvPr>
          <p:cNvSpPr>
            <a:spLocks noGrp="1" noChangeArrowheads="1"/>
          </p:cNvSpPr>
          <p:nvPr>
            <p:ph type="body" idx="1"/>
          </p:nvPr>
        </p:nvSpPr>
        <p:spPr>
          <a:xfrm>
            <a:off x="685800" y="1341438"/>
            <a:ext cx="7558088" cy="1727200"/>
          </a:xfrm>
        </p:spPr>
        <p:txBody>
          <a:bodyPr/>
          <a:lstStyle/>
          <a:p>
            <a:pPr eaLnBrk="1" hangingPunct="1">
              <a:lnSpc>
                <a:spcPct val="110000"/>
              </a:lnSpc>
              <a:buFont typeface="Wingdings" panose="05000000000000000000" pitchFamily="2" charset="2"/>
              <a:buChar char="Ø"/>
            </a:pPr>
            <a:r>
              <a:rPr lang="zh-CN" altLang="en-US" sz="2800">
                <a:latin typeface="华文中宋" panose="02010600040101010101" pitchFamily="2" charset="-122"/>
                <a:ea typeface="华文中宋" panose="02010600040101010101" pitchFamily="2" charset="-122"/>
              </a:rPr>
              <a:t>实际应用中电机常处于饱和状态 。当电机饱和时，应先获得总磁势，再由这个磁势求所产生的电势。只有在不饱和情况下，才能由磁势电势相量图转化为电势相量图。</a:t>
            </a:r>
          </a:p>
          <a:p>
            <a:pPr eaLnBrk="1" hangingPunct="1"/>
            <a:endParaRPr lang="en-US" altLang="zh-CN" sz="2800">
              <a:latin typeface="华文中宋" panose="02010600040101010101" pitchFamily="2" charset="-122"/>
              <a:ea typeface="华文中宋" panose="02010600040101010101" pitchFamily="2" charset="-122"/>
            </a:endParaRPr>
          </a:p>
        </p:txBody>
      </p:sp>
      <p:sp>
        <p:nvSpPr>
          <p:cNvPr id="57348" name="Text Box 4">
            <a:extLst>
              <a:ext uri="{FF2B5EF4-FFF2-40B4-BE49-F238E27FC236}">
                <a16:creationId xmlns:a16="http://schemas.microsoft.com/office/drawing/2014/main" id="{1331D016-9B76-A51A-1553-50CF24765097}"/>
              </a:ext>
            </a:extLst>
          </p:cNvPr>
          <p:cNvSpPr txBox="1">
            <a:spLocks noChangeArrowheads="1"/>
          </p:cNvSpPr>
          <p:nvPr/>
        </p:nvSpPr>
        <p:spPr bwMode="auto">
          <a:xfrm>
            <a:off x="684213" y="3573463"/>
            <a:ext cx="7632700"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10000"/>
              </a:lnSpc>
              <a:buFont typeface="Wingdings" panose="05000000000000000000" pitchFamily="2" charset="2"/>
              <a:buChar char="Ø"/>
            </a:pPr>
            <a:r>
              <a:rPr kumimoji="1" lang="zh-CN" altLang="en-US" b="0">
                <a:latin typeface="Times New Roman" panose="02020603050405020304" pitchFamily="18" charset="0"/>
                <a:ea typeface="华文中宋" panose="02010600040101010101" pitchFamily="2" charset="-122"/>
              </a:rPr>
              <a:t>不饱和状态下的磁势电势相量图，磁势、电势关系清楚，是研究、理解同步机电压控制和稳定的基础。</a:t>
            </a:r>
            <a:r>
              <a:rPr kumimoji="1" lang="zh-CN" altLang="en-US" sz="2400" b="0">
                <a:latin typeface="Times New Roman" panose="02020603050405020304" pitchFamily="18" charset="0"/>
                <a:ea typeface="宋体" panose="02010600030101010101" pitchFamily="2" charset="-122"/>
              </a:rPr>
              <a:t> </a:t>
            </a:r>
          </a:p>
        </p:txBody>
      </p:sp>
      <p:sp>
        <p:nvSpPr>
          <p:cNvPr id="57349" name="Text Box 5">
            <a:extLst>
              <a:ext uri="{FF2B5EF4-FFF2-40B4-BE49-F238E27FC236}">
                <a16:creationId xmlns:a16="http://schemas.microsoft.com/office/drawing/2014/main" id="{AA7D853B-AAE0-30F2-8516-512F73C85245}"/>
              </a:ext>
            </a:extLst>
          </p:cNvPr>
          <p:cNvSpPr txBox="1">
            <a:spLocks noChangeArrowheads="1"/>
          </p:cNvSpPr>
          <p:nvPr/>
        </p:nvSpPr>
        <p:spPr bwMode="auto">
          <a:xfrm>
            <a:off x="611188" y="5157788"/>
            <a:ext cx="7323137"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1pPr>
            <a:lvl2pPr marL="742950" indent="-28575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2pPr>
            <a:lvl3pPr marL="11430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3pPr>
            <a:lvl4pPr marL="16002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4pPr>
            <a:lvl5pPr marL="2057400" indent="-228600">
              <a:lnSpc>
                <a:spcPct val="90000"/>
              </a:lnSpc>
              <a:spcBef>
                <a:spcPct val="20000"/>
              </a:spcBef>
              <a:buFont typeface="Wingdings" panose="05000000000000000000" pitchFamily="2" charset="2"/>
              <a:defRPr sz="2800" b="1">
                <a:solidFill>
                  <a:schemeClr val="tx1"/>
                </a:solidFill>
                <a:latin typeface="楷体_GB2312" pitchFamily="49" charset="-122"/>
                <a:ea typeface="楷体_GB2312" pitchFamily="49" charset="-122"/>
              </a:defRPr>
            </a:lvl5pPr>
            <a:lvl6pPr marL="25146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6pPr>
            <a:lvl7pPr marL="29718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7pPr>
            <a:lvl8pPr marL="34290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8pPr>
            <a:lvl9pPr marL="3886200" indent="-228600" eaLnBrk="0" fontAlgn="base" hangingPunct="0">
              <a:lnSpc>
                <a:spcPct val="90000"/>
              </a:lnSpc>
              <a:spcBef>
                <a:spcPct val="20000"/>
              </a:spcBef>
              <a:spcAft>
                <a:spcPct val="0"/>
              </a:spcAft>
              <a:buFont typeface="Wingdings" panose="05000000000000000000" pitchFamily="2" charset="2"/>
              <a:defRPr sz="2800" b="1">
                <a:solidFill>
                  <a:schemeClr val="tx1"/>
                </a:solidFill>
                <a:latin typeface="楷体_GB2312" pitchFamily="49" charset="-122"/>
                <a:ea typeface="楷体_GB2312" pitchFamily="49" charset="-122"/>
              </a:defRPr>
            </a:lvl9pPr>
          </a:lstStyle>
          <a:p>
            <a:pPr eaLnBrk="1" hangingPunct="1">
              <a:lnSpc>
                <a:spcPct val="110000"/>
              </a:lnSpc>
              <a:buFont typeface="Wingdings" panose="05000000000000000000" pitchFamily="2" charset="2"/>
              <a:buChar char="Ø"/>
            </a:pPr>
            <a:r>
              <a:rPr kumimoji="1" lang="zh-CN" altLang="en-US" b="0">
                <a:latin typeface="Times New Roman" panose="02020603050405020304" pitchFamily="18" charset="0"/>
                <a:ea typeface="华文中宋" panose="02010600040101010101" pitchFamily="2" charset="-122"/>
              </a:rPr>
              <a:t>饱和会带来一定分析误差。实际应用中应根据电机饱和状态考虑适当修正。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 calcmode="lin" valueType="num">
                                      <p:cBhvr>
                                        <p:cTn id="7" dur="1000" fill="hold"/>
                                        <p:tgtEl>
                                          <p:spTgt spid="57348"/>
                                        </p:tgtEl>
                                        <p:attrNameLst>
                                          <p:attrName>ppt_w</p:attrName>
                                        </p:attrNameLst>
                                      </p:cBhvr>
                                      <p:tavLst>
                                        <p:tav tm="0">
                                          <p:val>
                                            <p:strVal val="#ppt_w*0.70"/>
                                          </p:val>
                                        </p:tav>
                                        <p:tav tm="100000">
                                          <p:val>
                                            <p:strVal val="#ppt_w"/>
                                          </p:val>
                                        </p:tav>
                                      </p:tavLst>
                                    </p:anim>
                                    <p:anim calcmode="lin" valueType="num">
                                      <p:cBhvr>
                                        <p:cTn id="8" dur="1000" fill="hold"/>
                                        <p:tgtEl>
                                          <p:spTgt spid="57348"/>
                                        </p:tgtEl>
                                        <p:attrNameLst>
                                          <p:attrName>ppt_h</p:attrName>
                                        </p:attrNameLst>
                                      </p:cBhvr>
                                      <p:tavLst>
                                        <p:tav tm="0">
                                          <p:val>
                                            <p:strVal val="#ppt_h"/>
                                          </p:val>
                                        </p:tav>
                                        <p:tav tm="100000">
                                          <p:val>
                                            <p:strVal val="#ppt_h"/>
                                          </p:val>
                                        </p:tav>
                                      </p:tavLst>
                                    </p:anim>
                                    <p:animEffect transition="in" filter="fade">
                                      <p:cBhvr>
                                        <p:cTn id="9" dur="1000"/>
                                        <p:tgtEl>
                                          <p:spTgt spid="573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57349"/>
                                        </p:tgtEl>
                                        <p:attrNameLst>
                                          <p:attrName>style.visibility</p:attrName>
                                        </p:attrNameLst>
                                      </p:cBhvr>
                                      <p:to>
                                        <p:strVal val="visible"/>
                                      </p:to>
                                    </p:set>
                                    <p:animEffect transition="in" filter="diamond(in)">
                                      <p:cBhvr>
                                        <p:cTn id="14" dur="20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P spid="5734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01671FC-7831-DCBB-FA36-D8AEC3AA4BDB}"/>
              </a:ext>
            </a:extLst>
          </p:cNvPr>
          <p:cNvSpPr>
            <a:spLocks noGrp="1"/>
          </p:cNvSpPr>
          <p:nvPr>
            <p:ph type="sldNum" sz="quarter" idx="12"/>
          </p:nvPr>
        </p:nvSpPr>
        <p:spPr>
          <a:xfrm>
            <a:off x="6552530" y="6469857"/>
            <a:ext cx="2133600" cy="476250"/>
          </a:xfrm>
        </p:spPr>
        <p:txBody>
          <a:bodyPr/>
          <a:lstStyle/>
          <a:p>
            <a:pPr>
              <a:defRPr/>
            </a:pPr>
            <a:fld id="{C765D16F-066D-430B-8567-134AC8B30ABE}" type="slidenum">
              <a:rPr lang="en-US" altLang="zh-CN"/>
              <a:pPr>
                <a:defRPr/>
              </a:pPr>
              <a:t>46</a:t>
            </a:fld>
            <a:endParaRPr lang="en-US" altLang="zh-CN"/>
          </a:p>
        </p:txBody>
      </p:sp>
      <p:sp>
        <p:nvSpPr>
          <p:cNvPr id="4099" name="Rectangle 2">
            <a:extLst>
              <a:ext uri="{FF2B5EF4-FFF2-40B4-BE49-F238E27FC236}">
                <a16:creationId xmlns:a16="http://schemas.microsoft.com/office/drawing/2014/main" id="{0EFA1FF9-8C44-F829-B405-CCB6584BEEAD}"/>
              </a:ext>
            </a:extLst>
          </p:cNvPr>
          <p:cNvSpPr>
            <a:spLocks noGrp="1" noChangeArrowheads="1"/>
          </p:cNvSpPr>
          <p:nvPr>
            <p:ph type="title"/>
          </p:nvPr>
        </p:nvSpPr>
        <p:spPr>
          <a:xfrm>
            <a:off x="2112293" y="647305"/>
            <a:ext cx="7772400" cy="647700"/>
          </a:xfrm>
        </p:spPr>
        <p:txBody>
          <a:bodyPr/>
          <a:lstStyle/>
          <a:p>
            <a:pPr eaLnBrk="1" hangingPunct="1"/>
            <a:r>
              <a:rPr lang="zh-CN" altLang="en-US" sz="3200" b="1" dirty="0">
                <a:latin typeface="华文宋体" panose="02010600040101010101" pitchFamily="2" charset="-122"/>
                <a:ea typeface="华文宋体" panose="02010600040101010101" pitchFamily="2" charset="-122"/>
              </a:rPr>
              <a:t>五、凸极发电机相量图的绘制</a:t>
            </a:r>
          </a:p>
        </p:txBody>
      </p:sp>
      <p:sp>
        <p:nvSpPr>
          <p:cNvPr id="4100" name="Rectangle 3">
            <a:extLst>
              <a:ext uri="{FF2B5EF4-FFF2-40B4-BE49-F238E27FC236}">
                <a16:creationId xmlns:a16="http://schemas.microsoft.com/office/drawing/2014/main" id="{CACD62A7-7841-C504-2FF1-B386915A905E}"/>
              </a:ext>
            </a:extLst>
          </p:cNvPr>
          <p:cNvSpPr>
            <a:spLocks noGrp="1" noChangeArrowheads="1"/>
          </p:cNvSpPr>
          <p:nvPr>
            <p:ph type="body" idx="1"/>
          </p:nvPr>
        </p:nvSpPr>
        <p:spPr>
          <a:xfrm>
            <a:off x="0" y="1156855"/>
            <a:ext cx="8843293" cy="1081088"/>
          </a:xfrm>
        </p:spPr>
        <p:txBody>
          <a:bodyPr/>
          <a:lstStyle/>
          <a:p>
            <a:pPr eaLnBrk="1" hangingPunct="1">
              <a:lnSpc>
                <a:spcPct val="90000"/>
              </a:lnSpc>
            </a:pPr>
            <a:r>
              <a:rPr lang="zh-CN" altLang="en-US" sz="2400" dirty="0">
                <a:latin typeface="华光中楷_CNKI" panose="02000500000000000000" pitchFamily="2" charset="-122"/>
                <a:ea typeface="华光中楷_CNKI" panose="02000500000000000000" pitchFamily="2" charset="-122"/>
              </a:rPr>
              <a:t>通常已知量为电机端功率因数角、相电压、相电流。为了实现电枢电流的分解，必须首先对交轴定位，确定功角。</a:t>
            </a:r>
          </a:p>
        </p:txBody>
      </p:sp>
      <p:graphicFrame>
        <p:nvGraphicFramePr>
          <p:cNvPr id="4101" name="Object 4">
            <a:extLst>
              <a:ext uri="{FF2B5EF4-FFF2-40B4-BE49-F238E27FC236}">
                <a16:creationId xmlns:a16="http://schemas.microsoft.com/office/drawing/2014/main" id="{26C9F123-5FB2-00A3-94DB-3727B6AC7B27}"/>
              </a:ext>
            </a:extLst>
          </p:cNvPr>
          <p:cNvGraphicFramePr>
            <a:graphicFrameLocks noChangeAspect="1"/>
          </p:cNvGraphicFramePr>
          <p:nvPr>
            <p:extLst>
              <p:ext uri="{D42A27DB-BD31-4B8C-83A1-F6EECF244321}">
                <p14:modId xmlns:p14="http://schemas.microsoft.com/office/powerpoint/2010/main" val="3336845424"/>
              </p:ext>
            </p:extLst>
          </p:nvPr>
        </p:nvGraphicFramePr>
        <p:xfrm>
          <a:off x="426006" y="2420938"/>
          <a:ext cx="1800225" cy="4437062"/>
        </p:xfrm>
        <a:graphic>
          <a:graphicData uri="http://schemas.openxmlformats.org/presentationml/2006/ole">
            <mc:AlternateContent xmlns:mc="http://schemas.openxmlformats.org/markup-compatibility/2006">
              <mc:Choice xmlns:v="urn:schemas-microsoft-com:vml" Requires="v">
                <p:oleObj name="Microsoft Drawing" r:id="rId2" imgW="925513" imgH="2274888" progId="MSDraw">
                  <p:embed/>
                </p:oleObj>
              </mc:Choice>
              <mc:Fallback>
                <p:oleObj name="Microsoft Drawing" r:id="rId2" imgW="925513" imgH="2274888" progId="MSDraw">
                  <p:embed/>
                  <p:pic>
                    <p:nvPicPr>
                      <p:cNvPr id="4101" name="Object 4">
                        <a:extLst>
                          <a:ext uri="{FF2B5EF4-FFF2-40B4-BE49-F238E27FC236}">
                            <a16:creationId xmlns:a16="http://schemas.microsoft.com/office/drawing/2014/main" id="{26C9F123-5FB2-00A3-94DB-3727B6AC7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006" y="2420938"/>
                        <a:ext cx="1800225" cy="4437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8378" name="Group 10">
            <a:extLst>
              <a:ext uri="{FF2B5EF4-FFF2-40B4-BE49-F238E27FC236}">
                <a16:creationId xmlns:a16="http://schemas.microsoft.com/office/drawing/2014/main" id="{E82AB099-EA98-60AA-EE61-7F361C88FC24}"/>
              </a:ext>
            </a:extLst>
          </p:cNvPr>
          <p:cNvGrpSpPr>
            <a:grpSpLocks/>
          </p:cNvGrpSpPr>
          <p:nvPr/>
        </p:nvGrpSpPr>
        <p:grpSpPr bwMode="auto">
          <a:xfrm>
            <a:off x="2987005" y="2645570"/>
            <a:ext cx="5184775" cy="739775"/>
            <a:chOff x="1791" y="1525"/>
            <a:chExt cx="3266" cy="466"/>
          </a:xfrm>
        </p:grpSpPr>
        <p:graphicFrame>
          <p:nvGraphicFramePr>
            <p:cNvPr id="4111" name="Object 7">
              <a:extLst>
                <a:ext uri="{FF2B5EF4-FFF2-40B4-BE49-F238E27FC236}">
                  <a16:creationId xmlns:a16="http://schemas.microsoft.com/office/drawing/2014/main" id="{36F993A6-A01D-13C5-8C83-F221D3C433DF}"/>
                </a:ext>
              </a:extLst>
            </p:cNvPr>
            <p:cNvGraphicFramePr>
              <a:graphicFrameLocks noChangeAspect="1"/>
            </p:cNvGraphicFramePr>
            <p:nvPr/>
          </p:nvGraphicFramePr>
          <p:xfrm>
            <a:off x="4377" y="1525"/>
            <a:ext cx="680" cy="466"/>
          </p:xfrm>
          <a:graphic>
            <a:graphicData uri="http://schemas.openxmlformats.org/presentationml/2006/ole">
              <mc:AlternateContent xmlns:mc="http://schemas.openxmlformats.org/markup-compatibility/2006">
                <mc:Choice xmlns:v="urn:schemas-microsoft-com:vml" Requires="v">
                  <p:oleObj name="Equation" r:id="rId4" imgW="482391" imgH="330057" progId="Equation.DSMT4">
                    <p:embed/>
                  </p:oleObj>
                </mc:Choice>
                <mc:Fallback>
                  <p:oleObj name="Equation" r:id="rId4" imgW="482391" imgH="330057" progId="Equation.DSMT4">
                    <p:embed/>
                    <p:pic>
                      <p:nvPicPr>
                        <p:cNvPr id="4111" name="Object 7">
                          <a:extLst>
                            <a:ext uri="{FF2B5EF4-FFF2-40B4-BE49-F238E27FC236}">
                              <a16:creationId xmlns:a16="http://schemas.microsoft.com/office/drawing/2014/main" id="{36F993A6-A01D-13C5-8C83-F221D3C43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7" y="1525"/>
                          <a:ext cx="680" cy="466"/>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12" name="AutoShape 9">
              <a:extLst>
                <a:ext uri="{FF2B5EF4-FFF2-40B4-BE49-F238E27FC236}">
                  <a16:creationId xmlns:a16="http://schemas.microsoft.com/office/drawing/2014/main" id="{D9523977-8D1F-4A98-6B40-01617CA75FF4}"/>
                </a:ext>
              </a:extLst>
            </p:cNvPr>
            <p:cNvSpPr>
              <a:spLocks noChangeArrowheads="1"/>
            </p:cNvSpPr>
            <p:nvPr/>
          </p:nvSpPr>
          <p:spPr bwMode="auto">
            <a:xfrm>
              <a:off x="1791" y="1661"/>
              <a:ext cx="2450" cy="272"/>
            </a:xfrm>
            <a:prstGeom prst="wedgeRectCallout">
              <a:avLst>
                <a:gd name="adj1" fmla="val -88778"/>
                <a:gd name="adj2" fmla="val 122426"/>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2400" b="0"/>
                <a:t>相量</a:t>
              </a:r>
              <a:r>
                <a:rPr lang="en-US" altLang="zh-CN" sz="2400" b="0"/>
                <a:t>0’a’</a:t>
              </a:r>
              <a:r>
                <a:rPr lang="zh-CN" altLang="en-US" sz="2400" b="0"/>
                <a:t>与电流正交，等于</a:t>
              </a:r>
            </a:p>
          </p:txBody>
        </p:sp>
      </p:grpSp>
      <p:sp>
        <p:nvSpPr>
          <p:cNvPr id="58379" name="Text Box 11">
            <a:extLst>
              <a:ext uri="{FF2B5EF4-FFF2-40B4-BE49-F238E27FC236}">
                <a16:creationId xmlns:a16="http://schemas.microsoft.com/office/drawing/2014/main" id="{4E9ECA5A-A2D2-5D88-6E5F-41A7675F0EA1}"/>
              </a:ext>
            </a:extLst>
          </p:cNvPr>
          <p:cNvSpPr txBox="1">
            <a:spLocks noChangeArrowheads="1"/>
          </p:cNvSpPr>
          <p:nvPr/>
        </p:nvSpPr>
        <p:spPr bwMode="auto">
          <a:xfrm>
            <a:off x="2483768" y="4158457"/>
            <a:ext cx="635952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dirty="0">
                <a:latin typeface="华文中宋" panose="02010600040101010101" pitchFamily="2" charset="-122"/>
                <a:ea typeface="华文中宋" panose="02010600040101010101" pitchFamily="2" charset="-122"/>
              </a:rPr>
              <a:t>三角形</a:t>
            </a:r>
            <a:r>
              <a:rPr lang="en-US" altLang="zh-CN" sz="2400" b="0" dirty="0">
                <a:ea typeface="华文中宋" panose="02010600040101010101" pitchFamily="2" charset="-122"/>
              </a:rPr>
              <a:t>0’a’b’</a:t>
            </a:r>
            <a:r>
              <a:rPr lang="zh-CN" altLang="en-US" sz="2400" b="0" dirty="0">
                <a:latin typeface="华文中宋" panose="02010600040101010101" pitchFamily="2" charset="-122"/>
                <a:ea typeface="华文中宋" panose="02010600040101010101" pitchFamily="2" charset="-122"/>
              </a:rPr>
              <a:t>和</a:t>
            </a:r>
            <a:r>
              <a:rPr lang="en-US" altLang="zh-CN" sz="2400" b="0" dirty="0">
                <a:latin typeface="华文中宋" panose="02010600040101010101" pitchFamily="2" charset="-122"/>
                <a:ea typeface="华文中宋" panose="02010600040101010101" pitchFamily="2" charset="-122"/>
              </a:rPr>
              <a:t>0ab</a:t>
            </a:r>
            <a:r>
              <a:rPr lang="zh-CN" altLang="en-US" sz="2400" b="0" dirty="0">
                <a:latin typeface="华文中宋" panose="02010600040101010101" pitchFamily="2" charset="-122"/>
                <a:ea typeface="华文中宋" panose="02010600040101010101" pitchFamily="2" charset="-122"/>
              </a:rPr>
              <a:t>对应边均正交，相似</a:t>
            </a:r>
          </a:p>
        </p:txBody>
      </p:sp>
      <p:graphicFrame>
        <p:nvGraphicFramePr>
          <p:cNvPr id="58380" name="Object 12">
            <a:extLst>
              <a:ext uri="{FF2B5EF4-FFF2-40B4-BE49-F238E27FC236}">
                <a16:creationId xmlns:a16="http://schemas.microsoft.com/office/drawing/2014/main" id="{53FCC638-A7C7-58CF-C647-810F1014860F}"/>
              </a:ext>
            </a:extLst>
          </p:cNvPr>
          <p:cNvGraphicFramePr>
            <a:graphicFrameLocks noChangeAspect="1"/>
          </p:cNvGraphicFramePr>
          <p:nvPr>
            <p:extLst>
              <p:ext uri="{D42A27DB-BD31-4B8C-83A1-F6EECF244321}">
                <p14:modId xmlns:p14="http://schemas.microsoft.com/office/powerpoint/2010/main" val="3116018208"/>
              </p:ext>
            </p:extLst>
          </p:nvPr>
        </p:nvGraphicFramePr>
        <p:xfrm>
          <a:off x="3779168" y="4590257"/>
          <a:ext cx="2219325" cy="923925"/>
        </p:xfrm>
        <a:graphic>
          <a:graphicData uri="http://schemas.openxmlformats.org/presentationml/2006/ole">
            <mc:AlternateContent xmlns:mc="http://schemas.openxmlformats.org/markup-compatibility/2006">
              <mc:Choice xmlns:v="urn:schemas-microsoft-com:vml" Requires="v">
                <p:oleObj name="Equation" r:id="rId6" imgW="939392" imgH="393529" progId="Equation.DSMT4">
                  <p:embed/>
                </p:oleObj>
              </mc:Choice>
              <mc:Fallback>
                <p:oleObj name="Equation" r:id="rId6" imgW="939392" imgH="393529" progId="Equation.DSMT4">
                  <p:embed/>
                  <p:pic>
                    <p:nvPicPr>
                      <p:cNvPr id="58380" name="Object 12">
                        <a:extLst>
                          <a:ext uri="{FF2B5EF4-FFF2-40B4-BE49-F238E27FC236}">
                            <a16:creationId xmlns:a16="http://schemas.microsoft.com/office/drawing/2014/main" id="{53FCC638-A7C7-58CF-C647-810F101486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168" y="4590257"/>
                        <a:ext cx="22193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3" name="Object 15">
            <a:extLst>
              <a:ext uri="{FF2B5EF4-FFF2-40B4-BE49-F238E27FC236}">
                <a16:creationId xmlns:a16="http://schemas.microsoft.com/office/drawing/2014/main" id="{D533A445-5434-DAE1-40DF-1C8D26BDB792}"/>
              </a:ext>
            </a:extLst>
          </p:cNvPr>
          <p:cNvGraphicFramePr>
            <a:graphicFrameLocks noChangeAspect="1"/>
          </p:cNvGraphicFramePr>
          <p:nvPr>
            <p:extLst>
              <p:ext uri="{D42A27DB-BD31-4B8C-83A1-F6EECF244321}">
                <p14:modId xmlns:p14="http://schemas.microsoft.com/office/powerpoint/2010/main" val="2214046710"/>
              </p:ext>
            </p:extLst>
          </p:nvPr>
        </p:nvGraphicFramePr>
        <p:xfrm>
          <a:off x="2917207" y="5365030"/>
          <a:ext cx="4537075" cy="1581150"/>
        </p:xfrm>
        <a:graphic>
          <a:graphicData uri="http://schemas.openxmlformats.org/presentationml/2006/ole">
            <mc:AlternateContent xmlns:mc="http://schemas.openxmlformats.org/markup-compatibility/2006">
              <mc:Choice xmlns:v="urn:schemas-microsoft-com:vml" Requires="v">
                <p:oleObj name="Equation" r:id="rId8" imgW="2324100" imgH="812800" progId="Equation.DSMT4">
                  <p:embed/>
                </p:oleObj>
              </mc:Choice>
              <mc:Fallback>
                <p:oleObj name="Equation" r:id="rId8" imgW="2324100" imgH="812800" progId="Equation.DSMT4">
                  <p:embed/>
                  <p:pic>
                    <p:nvPicPr>
                      <p:cNvPr id="58383" name="Object 15">
                        <a:extLst>
                          <a:ext uri="{FF2B5EF4-FFF2-40B4-BE49-F238E27FC236}">
                            <a16:creationId xmlns:a16="http://schemas.microsoft.com/office/drawing/2014/main" id="{D533A445-5434-DAE1-40DF-1C8D26BDB7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7207" y="5365030"/>
                        <a:ext cx="453707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85" name="AutoShape 17">
            <a:extLst>
              <a:ext uri="{FF2B5EF4-FFF2-40B4-BE49-F238E27FC236}">
                <a16:creationId xmlns:a16="http://schemas.microsoft.com/office/drawing/2014/main" id="{A1404E82-13E8-5126-37E0-FCF686A95A67}"/>
              </a:ext>
            </a:extLst>
          </p:cNvPr>
          <p:cNvSpPr>
            <a:spLocks noChangeArrowheads="1"/>
          </p:cNvSpPr>
          <p:nvPr/>
        </p:nvSpPr>
        <p:spPr bwMode="auto">
          <a:xfrm>
            <a:off x="6587455" y="5885657"/>
            <a:ext cx="1079500" cy="865188"/>
          </a:xfrm>
          <a:prstGeom prst="wedgeEllipseCallout">
            <a:avLst>
              <a:gd name="adj1" fmla="val 31764"/>
              <a:gd name="adj2" fmla="val -298255"/>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endParaRPr lang="zh-CN" altLang="zh-CN" sz="2400" b="0"/>
          </a:p>
        </p:txBody>
      </p:sp>
      <p:grpSp>
        <p:nvGrpSpPr>
          <p:cNvPr id="58390" name="Group 22">
            <a:extLst>
              <a:ext uri="{FF2B5EF4-FFF2-40B4-BE49-F238E27FC236}">
                <a16:creationId xmlns:a16="http://schemas.microsoft.com/office/drawing/2014/main" id="{E2F9DB08-9C0A-B389-63EE-C821FE5127F9}"/>
              </a:ext>
            </a:extLst>
          </p:cNvPr>
          <p:cNvGrpSpPr>
            <a:grpSpLocks/>
          </p:cNvGrpSpPr>
          <p:nvPr/>
        </p:nvGrpSpPr>
        <p:grpSpPr bwMode="auto">
          <a:xfrm>
            <a:off x="3707730" y="3293270"/>
            <a:ext cx="1828800" cy="665162"/>
            <a:chOff x="2336" y="1933"/>
            <a:chExt cx="1152" cy="419"/>
          </a:xfrm>
        </p:grpSpPr>
        <p:graphicFrame>
          <p:nvGraphicFramePr>
            <p:cNvPr id="4109" name="Object 18">
              <a:extLst>
                <a:ext uri="{FF2B5EF4-FFF2-40B4-BE49-F238E27FC236}">
                  <a16:creationId xmlns:a16="http://schemas.microsoft.com/office/drawing/2014/main" id="{6ED7DCB3-A705-5417-FE01-9ED7C854D75B}"/>
                </a:ext>
              </a:extLst>
            </p:cNvPr>
            <p:cNvGraphicFramePr>
              <a:graphicFrameLocks noChangeAspect="1"/>
            </p:cNvGraphicFramePr>
            <p:nvPr/>
          </p:nvGraphicFramePr>
          <p:xfrm>
            <a:off x="2381" y="1933"/>
            <a:ext cx="1056" cy="419"/>
          </p:xfrm>
          <a:graphic>
            <a:graphicData uri="http://schemas.openxmlformats.org/presentationml/2006/ole">
              <mc:AlternateContent xmlns:mc="http://schemas.openxmlformats.org/markup-compatibility/2006">
                <mc:Choice xmlns:v="urn:schemas-microsoft-com:vml" Requires="v">
                  <p:oleObj r:id="rId10" imgW="838200" imgH="330200" progId="Equation.DSMT4">
                    <p:embed/>
                  </p:oleObj>
                </mc:Choice>
                <mc:Fallback>
                  <p:oleObj r:id="rId10" imgW="838200" imgH="330200" progId="Equation.DSMT4">
                    <p:embed/>
                    <p:pic>
                      <p:nvPicPr>
                        <p:cNvPr id="4109" name="Object 18">
                          <a:extLst>
                            <a:ext uri="{FF2B5EF4-FFF2-40B4-BE49-F238E27FC236}">
                              <a16:creationId xmlns:a16="http://schemas.microsoft.com/office/drawing/2014/main" id="{6ED7DCB3-A705-5417-FE01-9ED7C854D75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81" y="1933"/>
                          <a:ext cx="1056"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10" name="AutoShape 20">
              <a:extLst>
                <a:ext uri="{FF2B5EF4-FFF2-40B4-BE49-F238E27FC236}">
                  <a16:creationId xmlns:a16="http://schemas.microsoft.com/office/drawing/2014/main" id="{10A28560-26B6-F37E-EA78-11E06B2207CF}"/>
                </a:ext>
              </a:extLst>
            </p:cNvPr>
            <p:cNvSpPr>
              <a:spLocks noChangeArrowheads="1"/>
            </p:cNvSpPr>
            <p:nvPr/>
          </p:nvSpPr>
          <p:spPr bwMode="auto">
            <a:xfrm>
              <a:off x="2336" y="1979"/>
              <a:ext cx="1152" cy="336"/>
            </a:xfrm>
            <a:prstGeom prst="wedgeRoundRectCallout">
              <a:avLst>
                <a:gd name="adj1" fmla="val -148440"/>
                <a:gd name="adj2" fmla="val 35713"/>
                <a:gd name="adj3" fmla="val 16667"/>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endParaRPr kumimoji="0" lang="zh-CN" altLang="zh-CN" sz="2800">
                <a:latin typeface="楷体_GB2312" pitchFamily="49" charset="-122"/>
                <a:ea typeface="楷体_GB2312" pitchFamily="49" charset="-122"/>
              </a:endParaRPr>
            </a:p>
          </p:txBody>
        </p:sp>
      </p:grpSp>
      <p:sp>
        <p:nvSpPr>
          <p:cNvPr id="58389" name="Text Box 21">
            <a:extLst>
              <a:ext uri="{FF2B5EF4-FFF2-40B4-BE49-F238E27FC236}">
                <a16:creationId xmlns:a16="http://schemas.microsoft.com/office/drawing/2014/main" id="{7AAACC1B-07BA-63B8-EB41-A41EC0970FF6}"/>
              </a:ext>
            </a:extLst>
          </p:cNvPr>
          <p:cNvSpPr txBox="1">
            <a:spLocks noChangeArrowheads="1"/>
          </p:cNvSpPr>
          <p:nvPr/>
        </p:nvSpPr>
        <p:spPr bwMode="auto">
          <a:xfrm>
            <a:off x="790698" y="1851928"/>
            <a:ext cx="8281987"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dirty="0">
                <a:latin typeface="华光楷体_CNKI" panose="02000500000000000000" pitchFamily="2" charset="-122"/>
                <a:ea typeface="华光楷体_CNKI" panose="02000500000000000000" pitchFamily="2" charset="-122"/>
              </a:rPr>
              <a:t>证明：相电压加上定子电阻压降再加上电流</a:t>
            </a:r>
            <a:r>
              <a:rPr lang="en-US" altLang="zh-CN" sz="2400" b="0" dirty="0" err="1">
                <a:latin typeface="华光楷体_CNKI" panose="02000500000000000000" pitchFamily="2" charset="-122"/>
                <a:ea typeface="华光楷体_CNKI" panose="02000500000000000000" pitchFamily="2" charset="-122"/>
              </a:rPr>
              <a:t>Iq</a:t>
            </a:r>
            <a:r>
              <a:rPr lang="zh-CN" altLang="en-US" sz="2400" b="0" dirty="0">
                <a:latin typeface="华光楷体_CNKI" panose="02000500000000000000" pitchFamily="2" charset="-122"/>
                <a:ea typeface="华光楷体_CNKI" panose="02000500000000000000" pitchFamily="2" charset="-122"/>
              </a:rPr>
              <a:t>在</a:t>
            </a:r>
            <a:r>
              <a:rPr lang="en-US" altLang="zh-CN" sz="2400" b="0" dirty="0" err="1">
                <a:latin typeface="华光楷体_CNKI" panose="02000500000000000000" pitchFamily="2" charset="-122"/>
                <a:ea typeface="华光楷体_CNKI" panose="02000500000000000000" pitchFamily="2" charset="-122"/>
              </a:rPr>
              <a:t>Xq</a:t>
            </a:r>
            <a:r>
              <a:rPr lang="zh-CN" altLang="en-US" sz="2400" b="0" dirty="0">
                <a:latin typeface="华光楷体_CNKI" panose="02000500000000000000" pitchFamily="2" charset="-122"/>
                <a:ea typeface="华光楷体_CNKI" panose="02000500000000000000" pitchFamily="2" charset="-122"/>
              </a:rPr>
              <a:t>上压降</a:t>
            </a:r>
            <a:r>
              <a:rPr lang="en-US" altLang="zh-CN" sz="2400" b="0" dirty="0">
                <a:latin typeface="华光楷体_CNKI" panose="02000500000000000000" pitchFamily="2" charset="-122"/>
                <a:ea typeface="华光楷体_CNKI" panose="02000500000000000000" pitchFamily="2" charset="-122"/>
              </a:rPr>
              <a:t>(</a:t>
            </a:r>
            <a:r>
              <a:rPr lang="en-US" altLang="zh-CN" sz="2400" b="0" dirty="0" err="1">
                <a:latin typeface="华光楷体_CNKI" panose="02000500000000000000" pitchFamily="2" charset="-122"/>
                <a:ea typeface="华光楷体_CNKI" panose="02000500000000000000" pitchFamily="2" charset="-122"/>
              </a:rPr>
              <a:t>o’a</a:t>
            </a:r>
            <a:r>
              <a:rPr lang="en-US" altLang="zh-CN" sz="2400" b="0" dirty="0">
                <a:latin typeface="华光楷体_CNKI" panose="02000500000000000000" pitchFamily="2" charset="-122"/>
                <a:ea typeface="华光楷体_CNKI" panose="02000500000000000000" pitchFamily="2" charset="-122"/>
              </a:rPr>
              <a:t>’)</a:t>
            </a:r>
            <a:r>
              <a:rPr lang="zh-CN" altLang="en-US" sz="2400" b="0" dirty="0">
                <a:latin typeface="华光楷体_CNKI" panose="02000500000000000000" pitchFamily="2" charset="-122"/>
                <a:ea typeface="华光楷体_CNKI" panose="02000500000000000000" pitchFamily="2" charset="-122"/>
              </a:rPr>
              <a:t>，相位将达到纵轴上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389"/>
                                        </p:tgtEl>
                                        <p:attrNameLst>
                                          <p:attrName>style.visibility</p:attrName>
                                        </p:attrNameLst>
                                      </p:cBhvr>
                                      <p:to>
                                        <p:strVal val="visible"/>
                                      </p:to>
                                    </p:set>
                                    <p:animEffect transition="in" filter="blinds(horizontal)">
                                      <p:cBhvr>
                                        <p:cTn id="7" dur="500"/>
                                        <p:tgtEl>
                                          <p:spTgt spid="58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5837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58390"/>
                                        </p:tgtEl>
                                        <p:attrNameLst>
                                          <p:attrName>style.visibility</p:attrName>
                                        </p:attrNameLst>
                                      </p:cBhvr>
                                      <p:to>
                                        <p:strVal val="visible"/>
                                      </p:to>
                                    </p:set>
                                    <p:animEffect transition="in" filter="blinds(horizontal)">
                                      <p:cBhvr>
                                        <p:cTn id="16" dur="500"/>
                                        <p:tgtEl>
                                          <p:spTgt spid="583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8379"/>
                                        </p:tgtEl>
                                        <p:attrNameLst>
                                          <p:attrName>style.visibility</p:attrName>
                                        </p:attrNameLst>
                                      </p:cBhvr>
                                      <p:to>
                                        <p:strVal val="visible"/>
                                      </p:to>
                                    </p:set>
                                    <p:animEffect transition="in" filter="blinds(horizontal)">
                                      <p:cBhvr>
                                        <p:cTn id="21" dur="500"/>
                                        <p:tgtEl>
                                          <p:spTgt spid="58379"/>
                                        </p:tgtEl>
                                      </p:cBhvr>
                                    </p:animEffect>
                                  </p:childTnLst>
                                </p:cTn>
                              </p:par>
                              <p:par>
                                <p:cTn id="22" presetID="3" presetClass="entr" presetSubtype="10" fill="hold" nodeType="withEffect">
                                  <p:stCondLst>
                                    <p:cond delay="0"/>
                                  </p:stCondLst>
                                  <p:childTnLst>
                                    <p:set>
                                      <p:cBhvr>
                                        <p:cTn id="23" dur="1" fill="hold">
                                          <p:stCondLst>
                                            <p:cond delay="0"/>
                                          </p:stCondLst>
                                        </p:cTn>
                                        <p:tgtEl>
                                          <p:spTgt spid="58380"/>
                                        </p:tgtEl>
                                        <p:attrNameLst>
                                          <p:attrName>style.visibility</p:attrName>
                                        </p:attrNameLst>
                                      </p:cBhvr>
                                      <p:to>
                                        <p:strVal val="visible"/>
                                      </p:to>
                                    </p:set>
                                    <p:animEffect transition="in" filter="blinds(horizontal)">
                                      <p:cBhvr>
                                        <p:cTn id="24" dur="500"/>
                                        <p:tgtEl>
                                          <p:spTgt spid="5838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58383"/>
                                        </p:tgtEl>
                                        <p:attrNameLst>
                                          <p:attrName>style.visibility</p:attrName>
                                        </p:attrNameLst>
                                      </p:cBhvr>
                                      <p:to>
                                        <p:strVal val="visible"/>
                                      </p:to>
                                    </p:set>
                                    <p:animEffect transition="in" filter="blinds(horizontal)">
                                      <p:cBhvr>
                                        <p:cTn id="29" dur="500"/>
                                        <p:tgtEl>
                                          <p:spTgt spid="5838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58385"/>
                                        </p:tgtEl>
                                        <p:attrNameLst>
                                          <p:attrName>style.visibility</p:attrName>
                                        </p:attrNameLst>
                                      </p:cBhvr>
                                      <p:to>
                                        <p:strVal val="visible"/>
                                      </p:to>
                                    </p:set>
                                    <p:animEffect transition="in" filter="blinds(horizontal)">
                                      <p:cBhvr>
                                        <p:cTn id="34" dur="500"/>
                                        <p:tgtEl>
                                          <p:spTgt spid="58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9" grpId="0"/>
      <p:bldP spid="58385" grpId="0" animBg="1" autoUpdateAnimBg="0"/>
      <p:bldP spid="5838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07360D83-2007-E970-FF38-29CD825E6BA1}"/>
              </a:ext>
            </a:extLst>
          </p:cNvPr>
          <p:cNvSpPr>
            <a:spLocks noGrp="1"/>
          </p:cNvSpPr>
          <p:nvPr>
            <p:ph type="sldNum" sz="quarter" idx="12"/>
          </p:nvPr>
        </p:nvSpPr>
        <p:spPr/>
        <p:txBody>
          <a:bodyPr/>
          <a:lstStyle/>
          <a:p>
            <a:pPr>
              <a:defRPr/>
            </a:pPr>
            <a:fld id="{B98F3B01-8BC4-4468-A54F-721E89045CDB}" type="slidenum">
              <a:rPr lang="en-US" altLang="zh-CN"/>
              <a:pPr>
                <a:defRPr/>
              </a:pPr>
              <a:t>47</a:t>
            </a:fld>
            <a:endParaRPr lang="en-US" altLang="zh-CN"/>
          </a:p>
        </p:txBody>
      </p:sp>
      <p:graphicFrame>
        <p:nvGraphicFramePr>
          <p:cNvPr id="5123" name="Object 21">
            <a:extLst>
              <a:ext uri="{FF2B5EF4-FFF2-40B4-BE49-F238E27FC236}">
                <a16:creationId xmlns:a16="http://schemas.microsoft.com/office/drawing/2014/main" id="{7B4EB347-00B8-C97D-0C6A-38205ACFDEB9}"/>
              </a:ext>
            </a:extLst>
          </p:cNvPr>
          <p:cNvGraphicFramePr>
            <a:graphicFrameLocks noGrp="1" noChangeAspect="1"/>
          </p:cNvGraphicFramePr>
          <p:nvPr>
            <p:ph idx="1"/>
          </p:nvPr>
        </p:nvGraphicFramePr>
        <p:xfrm>
          <a:off x="87313" y="1341438"/>
          <a:ext cx="2379662" cy="4464050"/>
        </p:xfrm>
        <a:graphic>
          <a:graphicData uri="http://schemas.openxmlformats.org/presentationml/2006/ole">
            <mc:AlternateContent xmlns:mc="http://schemas.openxmlformats.org/markup-compatibility/2006">
              <mc:Choice xmlns:v="urn:schemas-microsoft-com:vml" Requires="v">
                <p:oleObj name="Microsoft Drawing" r:id="rId2" imgW="1212850" imgH="2274888" progId="MSDraw">
                  <p:embed/>
                </p:oleObj>
              </mc:Choice>
              <mc:Fallback>
                <p:oleObj name="Microsoft Drawing" r:id="rId2" imgW="1212850" imgH="2274888" progId="MSDraw">
                  <p:embed/>
                  <p:pic>
                    <p:nvPicPr>
                      <p:cNvPr id="5123" name="Object 21">
                        <a:extLst>
                          <a:ext uri="{FF2B5EF4-FFF2-40B4-BE49-F238E27FC236}">
                            <a16:creationId xmlns:a16="http://schemas.microsoft.com/office/drawing/2014/main" id="{7B4EB347-00B8-C97D-0C6A-38205ACFDEB9}"/>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1341438"/>
                        <a:ext cx="2379662" cy="446405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124" name="Rectangle 5">
            <a:extLst>
              <a:ext uri="{FF2B5EF4-FFF2-40B4-BE49-F238E27FC236}">
                <a16:creationId xmlns:a16="http://schemas.microsoft.com/office/drawing/2014/main" id="{AC30AA28-A049-8349-BB5C-6D36BEF0011F}"/>
              </a:ext>
            </a:extLst>
          </p:cNvPr>
          <p:cNvSpPr>
            <a:spLocks noGrp="1" noChangeArrowheads="1"/>
          </p:cNvSpPr>
          <p:nvPr>
            <p:ph type="title"/>
          </p:nvPr>
        </p:nvSpPr>
        <p:spPr>
          <a:xfrm>
            <a:off x="3962737" y="443924"/>
            <a:ext cx="5399087" cy="576262"/>
          </a:xfrm>
        </p:spPr>
        <p:txBody>
          <a:bodyPr/>
          <a:lstStyle/>
          <a:p>
            <a:pPr eaLnBrk="1" hangingPunct="1"/>
            <a:r>
              <a:rPr lang="zh-CN" altLang="en-US" sz="3200" b="1" dirty="0">
                <a:ea typeface="黑体" panose="02010609060101010101" pitchFamily="49" charset="-122"/>
              </a:rPr>
              <a:t>凸极发电机相量图的绘制</a:t>
            </a:r>
            <a:r>
              <a:rPr lang="en-US" altLang="zh-CN" sz="3200" b="1" dirty="0">
                <a:ea typeface="黑体" panose="02010609060101010101" pitchFamily="49" charset="-122"/>
              </a:rPr>
              <a:t>2</a:t>
            </a:r>
          </a:p>
        </p:txBody>
      </p:sp>
      <p:sp>
        <p:nvSpPr>
          <p:cNvPr id="5125" name="Rectangle 9">
            <a:extLst>
              <a:ext uri="{FF2B5EF4-FFF2-40B4-BE49-F238E27FC236}">
                <a16:creationId xmlns:a16="http://schemas.microsoft.com/office/drawing/2014/main" id="{E8B27958-45C2-A939-5888-ECC12AA8A985}"/>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5126" name="Text Box 7">
            <a:extLst>
              <a:ext uri="{FF2B5EF4-FFF2-40B4-BE49-F238E27FC236}">
                <a16:creationId xmlns:a16="http://schemas.microsoft.com/office/drawing/2014/main" id="{F60D6E99-5FB5-23F5-FE76-D371C51768D8}"/>
              </a:ext>
            </a:extLst>
          </p:cNvPr>
          <p:cNvSpPr txBox="1">
            <a:spLocks noChangeArrowheads="1"/>
          </p:cNvSpPr>
          <p:nvPr/>
        </p:nvSpPr>
        <p:spPr bwMode="auto">
          <a:xfrm>
            <a:off x="2679700" y="1125538"/>
            <a:ext cx="11747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a:t>相量和 </a:t>
            </a:r>
          </a:p>
        </p:txBody>
      </p:sp>
      <p:graphicFrame>
        <p:nvGraphicFramePr>
          <p:cNvPr id="5127" name="Object 8">
            <a:extLst>
              <a:ext uri="{FF2B5EF4-FFF2-40B4-BE49-F238E27FC236}">
                <a16:creationId xmlns:a16="http://schemas.microsoft.com/office/drawing/2014/main" id="{B5F8141D-CE9F-1F4F-08A3-793C79F5F4FB}"/>
              </a:ext>
            </a:extLst>
          </p:cNvPr>
          <p:cNvGraphicFramePr>
            <a:graphicFrameLocks noChangeAspect="1"/>
          </p:cNvGraphicFramePr>
          <p:nvPr>
            <p:extLst>
              <p:ext uri="{D42A27DB-BD31-4B8C-83A1-F6EECF244321}">
                <p14:modId xmlns:p14="http://schemas.microsoft.com/office/powerpoint/2010/main" val="3975431761"/>
              </p:ext>
            </p:extLst>
          </p:nvPr>
        </p:nvGraphicFramePr>
        <p:xfrm>
          <a:off x="3995738" y="981075"/>
          <a:ext cx="2379662" cy="635000"/>
        </p:xfrm>
        <a:graphic>
          <a:graphicData uri="http://schemas.openxmlformats.org/presentationml/2006/ole">
            <mc:AlternateContent xmlns:mc="http://schemas.openxmlformats.org/markup-compatibility/2006">
              <mc:Choice xmlns:v="urn:schemas-microsoft-com:vml" Requires="v">
                <p:oleObj name="Equation" r:id="rId4" imgW="1206500" imgH="330200" progId="Equation.DSMT4">
                  <p:embed/>
                </p:oleObj>
              </mc:Choice>
              <mc:Fallback>
                <p:oleObj name="Equation" r:id="rId4" imgW="1206500" imgH="330200" progId="Equation.DSMT4">
                  <p:embed/>
                  <p:pic>
                    <p:nvPicPr>
                      <p:cNvPr id="5127" name="Object 8">
                        <a:extLst>
                          <a:ext uri="{FF2B5EF4-FFF2-40B4-BE49-F238E27FC236}">
                            <a16:creationId xmlns:a16="http://schemas.microsoft.com/office/drawing/2014/main" id="{B5F8141D-CE9F-1F4F-08A3-793C79F5F4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981075"/>
                        <a:ext cx="2379662" cy="635000"/>
                      </a:xfrm>
                      <a:prstGeom prst="rect">
                        <a:avLst/>
                      </a:prstGeom>
                      <a:noFill/>
                      <a:ln>
                        <a:noFill/>
                      </a:ln>
                    </p:spPr>
                  </p:pic>
                </p:oleObj>
              </mc:Fallback>
            </mc:AlternateContent>
          </a:graphicData>
        </a:graphic>
      </p:graphicFrame>
      <p:sp>
        <p:nvSpPr>
          <p:cNvPr id="59404" name="AutoShape 12">
            <a:extLst>
              <a:ext uri="{FF2B5EF4-FFF2-40B4-BE49-F238E27FC236}">
                <a16:creationId xmlns:a16="http://schemas.microsoft.com/office/drawing/2014/main" id="{BDA28686-CC50-2635-89A4-2E400C7B88E4}"/>
              </a:ext>
            </a:extLst>
          </p:cNvPr>
          <p:cNvSpPr>
            <a:spLocks noChangeArrowheads="1"/>
          </p:cNvSpPr>
          <p:nvPr/>
        </p:nvSpPr>
        <p:spPr bwMode="auto">
          <a:xfrm>
            <a:off x="2987675" y="2708275"/>
            <a:ext cx="5851525" cy="720725"/>
          </a:xfrm>
          <a:prstGeom prst="wedgeRoundRectCallout">
            <a:avLst>
              <a:gd name="adj1" fmla="val -66819"/>
              <a:gd name="adj2" fmla="val 15861"/>
              <a:gd name="adj3" fmla="val 16667"/>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2800" b="0"/>
              <a:t>通过电势、电压相位可得到功角</a:t>
            </a:r>
            <a:r>
              <a:rPr lang="en-US" altLang="zh-CN" sz="2800" b="0">
                <a:latin typeface="Symbol" panose="05050102010706020507" pitchFamily="18" charset="2"/>
              </a:rPr>
              <a:t>d</a:t>
            </a:r>
          </a:p>
        </p:txBody>
      </p:sp>
      <p:sp>
        <p:nvSpPr>
          <p:cNvPr id="59405" name="AutoShape 13">
            <a:extLst>
              <a:ext uri="{FF2B5EF4-FFF2-40B4-BE49-F238E27FC236}">
                <a16:creationId xmlns:a16="http://schemas.microsoft.com/office/drawing/2014/main" id="{50A3A8CE-0687-0D50-4026-9168451293FF}"/>
              </a:ext>
            </a:extLst>
          </p:cNvPr>
          <p:cNvSpPr>
            <a:spLocks noChangeArrowheads="1"/>
          </p:cNvSpPr>
          <p:nvPr/>
        </p:nvSpPr>
        <p:spPr bwMode="auto">
          <a:xfrm>
            <a:off x="2843213" y="1773238"/>
            <a:ext cx="5919787" cy="752475"/>
          </a:xfrm>
          <a:prstGeom prst="wedgeRectCallout">
            <a:avLst>
              <a:gd name="adj1" fmla="val -81509"/>
              <a:gd name="adj2" fmla="val 105273"/>
            </a:avLst>
          </a:prstGeom>
          <a:solidFill>
            <a:srgbClr val="00FFFF">
              <a:alpha val="6196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2800" b="0"/>
              <a:t>确定了感应电势的相位（和</a:t>
            </a:r>
            <a:r>
              <a:rPr lang="en-US" altLang="zh-CN" sz="2800" b="0"/>
              <a:t>q</a:t>
            </a:r>
            <a:r>
              <a:rPr lang="zh-CN" altLang="en-US" sz="2800" b="0"/>
              <a:t>轴一致）</a:t>
            </a:r>
          </a:p>
        </p:txBody>
      </p:sp>
      <p:grpSp>
        <p:nvGrpSpPr>
          <p:cNvPr id="59416" name="Group 24">
            <a:extLst>
              <a:ext uri="{FF2B5EF4-FFF2-40B4-BE49-F238E27FC236}">
                <a16:creationId xmlns:a16="http://schemas.microsoft.com/office/drawing/2014/main" id="{EEDA81E1-F3ED-D92E-2151-1F2647A1BA56}"/>
              </a:ext>
            </a:extLst>
          </p:cNvPr>
          <p:cNvGrpSpPr>
            <a:grpSpLocks/>
          </p:cNvGrpSpPr>
          <p:nvPr/>
        </p:nvGrpSpPr>
        <p:grpSpPr bwMode="auto">
          <a:xfrm>
            <a:off x="2694697" y="3817664"/>
            <a:ext cx="5456237" cy="1139825"/>
            <a:chOff x="1733" y="2418"/>
            <a:chExt cx="3437" cy="718"/>
          </a:xfrm>
        </p:grpSpPr>
        <p:sp>
          <p:nvSpPr>
            <p:cNvPr id="5133" name="Text Box 14">
              <a:extLst>
                <a:ext uri="{FF2B5EF4-FFF2-40B4-BE49-F238E27FC236}">
                  <a16:creationId xmlns:a16="http://schemas.microsoft.com/office/drawing/2014/main" id="{1258BFF0-D1A3-48A1-62FE-F530D61FEBA0}"/>
                </a:ext>
              </a:extLst>
            </p:cNvPr>
            <p:cNvSpPr txBox="1">
              <a:spLocks noChangeArrowheads="1"/>
            </p:cNvSpPr>
            <p:nvPr/>
          </p:nvSpPr>
          <p:spPr bwMode="auto">
            <a:xfrm>
              <a:off x="1733" y="2418"/>
              <a:ext cx="932"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dirty="0"/>
                <a:t>进而得到 </a:t>
              </a:r>
            </a:p>
          </p:txBody>
        </p:sp>
        <mc:AlternateContent xmlns:mc="http://schemas.openxmlformats.org/markup-compatibility/2006" xmlns:a14="http://schemas.microsoft.com/office/drawing/2010/main">
          <mc:Choice Requires="a14">
            <p:sp>
              <p:nvSpPr>
                <p:cNvPr id="5134" name="Object 15">
                  <a:extLst>
                    <a:ext uri="{FF2B5EF4-FFF2-40B4-BE49-F238E27FC236}">
                      <a16:creationId xmlns:a16="http://schemas.microsoft.com/office/drawing/2014/main" id="{9C1144E6-5CC7-6BB6-5B59-9466CB36B696}"/>
                    </a:ext>
                  </a:extLst>
                </p:cNvPr>
                <p:cNvSpPr txBox="1"/>
                <p:nvPr/>
              </p:nvSpPr>
              <p:spPr bwMode="auto">
                <a:xfrm>
                  <a:off x="2018" y="2614"/>
                  <a:ext cx="3152" cy="522"/>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𝐸</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𝑎</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𝑈</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𝑠</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𝑅</m:t>
                            </m:r>
                          </m:e>
                          <m:sub>
                            <m:r>
                              <a:rPr lang="zh-CN" altLang="en-US" sz="2400" i="1">
                                <a:solidFill>
                                  <a:srgbClr val="000000"/>
                                </a:solidFill>
                                <a:latin typeface="Cambria Math" panose="02040503050406030204" pitchFamily="18" charset="0"/>
                              </a:rPr>
                              <m:t>𝑠</m:t>
                            </m:r>
                          </m:sub>
                        </m:sSub>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𝑎</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𝑑</m:t>
                            </m:r>
                          </m:sub>
                        </m:sSub>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𝑑</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𝑞</m:t>
                            </m:r>
                          </m:sub>
                        </m:sSub>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𝑞</m:t>
                            </m:r>
                          </m:sub>
                        </m:sSub>
                      </m:oMath>
                    </m:oMathPara>
                  </a14:m>
                  <a:endParaRPr lang="zh-CN" altLang="en-US" sz="2400" dirty="0"/>
                </a:p>
              </p:txBody>
            </p:sp>
          </mc:Choice>
          <mc:Fallback xmlns="">
            <p:sp>
              <p:nvSpPr>
                <p:cNvPr id="5134" name="Object 15">
                  <a:extLst>
                    <a:ext uri="{FF2B5EF4-FFF2-40B4-BE49-F238E27FC236}">
                      <a16:creationId xmlns:a16="http://schemas.microsoft.com/office/drawing/2014/main" id="{9C1144E6-5CC7-6BB6-5B59-9466CB36B696}"/>
                    </a:ext>
                  </a:extLst>
                </p:cNvPr>
                <p:cNvSpPr txBox="1">
                  <a:spLocks noRot="1" noChangeAspect="1" noMove="1" noResize="1" noEditPoints="1" noAdjustHandles="1" noChangeArrowheads="1" noChangeShapeType="1" noTextEdit="1"/>
                </p:cNvSpPr>
                <p:nvPr/>
              </p:nvSpPr>
              <p:spPr bwMode="auto">
                <a:xfrm>
                  <a:off x="2018" y="2614"/>
                  <a:ext cx="3152" cy="522"/>
                </a:xfrm>
                <a:prstGeom prst="rect">
                  <a:avLst/>
                </a:prstGeom>
                <a:blipFill>
                  <a:blip r:embed="rId7"/>
                  <a:stretch>
                    <a:fillRect/>
                  </a:stretch>
                </a:blipFill>
                <a:ln>
                  <a:noFill/>
                </a:ln>
              </p:spPr>
              <p:txBody>
                <a:bodyPr/>
                <a:lstStyle/>
                <a:p>
                  <a:r>
                    <a:rPr lang="zh-CN" altLang="en-US">
                      <a:noFill/>
                    </a:rPr>
                    <a:t> </a:t>
                  </a:r>
                </a:p>
              </p:txBody>
            </p:sp>
          </mc:Fallback>
        </mc:AlternateContent>
      </p:grpSp>
      <p:sp>
        <p:nvSpPr>
          <p:cNvPr id="59409" name="Text Box 17">
            <a:extLst>
              <a:ext uri="{FF2B5EF4-FFF2-40B4-BE49-F238E27FC236}">
                <a16:creationId xmlns:a16="http://schemas.microsoft.com/office/drawing/2014/main" id="{94E5380E-258D-0F5F-592D-5CC31633612A}"/>
              </a:ext>
            </a:extLst>
          </p:cNvPr>
          <p:cNvSpPr txBox="1">
            <a:spLocks noChangeArrowheads="1"/>
          </p:cNvSpPr>
          <p:nvPr/>
        </p:nvSpPr>
        <p:spPr bwMode="auto">
          <a:xfrm>
            <a:off x="2751138" y="4918075"/>
            <a:ext cx="17843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dirty="0"/>
              <a:t>同理可证： </a:t>
            </a:r>
          </a:p>
        </p:txBody>
      </p:sp>
      <mc:AlternateContent xmlns:mc="http://schemas.openxmlformats.org/markup-compatibility/2006" xmlns:a14="http://schemas.microsoft.com/office/drawing/2010/main">
        <mc:Choice Requires="a14">
          <p:sp>
            <p:nvSpPr>
              <p:cNvPr id="59410" name="Object 18">
                <a:extLst>
                  <a:ext uri="{FF2B5EF4-FFF2-40B4-BE49-F238E27FC236}">
                    <a16:creationId xmlns:a16="http://schemas.microsoft.com/office/drawing/2014/main" id="{839D66B1-6786-4D19-D128-DC1C9FD106B8}"/>
                  </a:ext>
                </a:extLst>
              </p:cNvPr>
              <p:cNvSpPr txBox="1"/>
              <p:nvPr/>
            </p:nvSpPr>
            <p:spPr bwMode="auto">
              <a:xfrm>
                <a:off x="1187624" y="5516563"/>
                <a:ext cx="7869063" cy="63976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𝑑</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𝑞</m:t>
                          </m:r>
                        </m:sub>
                      </m:sSub>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𝑎</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𝑞</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𝑞</m:t>
                          </m:r>
                        </m:sub>
                      </m:sSub>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  </m:t>
                      </m:r>
                      <m:r>
                        <m:rPr>
                          <m:nor/>
                        </m:rPr>
                        <a:rPr lang="zh-CN" altLang="en-US" sz="2400" i="0">
                          <a:solidFill>
                            <a:srgbClr val="000000"/>
                          </a:solidFill>
                          <a:latin typeface="Cambria Math" panose="02040503050406030204" pitchFamily="18" charset="0"/>
                        </a:rPr>
                        <m:t>a</m:t>
                      </m:r>
                      <m:r>
                        <m:rPr>
                          <m:nor/>
                        </m:rPr>
                        <a:rPr lang="zh-CN" altLang="en-US" sz="2400" i="0">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c</m:t>
                      </m:r>
                      <m:r>
                        <m:rPr>
                          <m:nor/>
                        </m:rPr>
                        <a:rPr lang="zh-CN" altLang="en-US" sz="2400" i="0">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j</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𝑑</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𝑑</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𝑞</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59410" name="Object 18">
                <a:extLst>
                  <a:ext uri="{FF2B5EF4-FFF2-40B4-BE49-F238E27FC236}">
                    <a16:creationId xmlns:a16="http://schemas.microsoft.com/office/drawing/2014/main" id="{839D66B1-6786-4D19-D128-DC1C9FD106B8}"/>
                  </a:ext>
                </a:extLst>
              </p:cNvPr>
              <p:cNvSpPr txBox="1">
                <a:spLocks noRot="1" noChangeAspect="1" noMove="1" noResize="1" noEditPoints="1" noAdjustHandles="1" noChangeArrowheads="1" noChangeShapeType="1" noTextEdit="1"/>
              </p:cNvSpPr>
              <p:nvPr/>
            </p:nvSpPr>
            <p:spPr bwMode="auto">
              <a:xfrm>
                <a:off x="1187624" y="5516563"/>
                <a:ext cx="7869063" cy="639762"/>
              </a:xfrm>
              <a:prstGeom prst="rect">
                <a:avLst/>
              </a:prstGeom>
              <a:blipFill>
                <a:blip r:embed="rId8"/>
                <a:stretch>
                  <a:fillRect/>
                </a:stretch>
              </a:blipFill>
              <a:ln>
                <a:noFill/>
              </a:ln>
            </p:spPr>
            <p:txBody>
              <a:bodyPr/>
              <a:lstStyle/>
              <a:p>
                <a:r>
                  <a:rPr lang="zh-CN" altLang="en-US">
                    <a:noFill/>
                  </a:rPr>
                  <a:t> </a:t>
                </a:r>
              </a:p>
            </p:txBody>
          </p:sp>
        </mc:Fallback>
      </mc:AlternateContent>
      <p:sp>
        <p:nvSpPr>
          <p:cNvPr id="3" name="Text Box 17">
            <a:extLst>
              <a:ext uri="{FF2B5EF4-FFF2-40B4-BE49-F238E27FC236}">
                <a16:creationId xmlns:a16="http://schemas.microsoft.com/office/drawing/2014/main" id="{A2A04897-E5A0-021A-329E-5A41ABF14E31}"/>
              </a:ext>
            </a:extLst>
          </p:cNvPr>
          <p:cNvSpPr txBox="1">
            <a:spLocks noChangeArrowheads="1"/>
          </p:cNvSpPr>
          <p:nvPr/>
        </p:nvSpPr>
        <p:spPr bwMode="auto">
          <a:xfrm>
            <a:off x="6587860" y="1131094"/>
            <a:ext cx="1261884"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1" dirty="0">
                <a:solidFill>
                  <a:srgbClr val="FF0000"/>
                </a:solidFill>
              </a:rPr>
              <a:t>关系式</a:t>
            </a:r>
            <a:r>
              <a:rPr lang="en-US" altLang="zh-CN" sz="2400" b="1" dirty="0">
                <a:solidFill>
                  <a:srgbClr val="FF0000"/>
                </a:solidFill>
              </a:rPr>
              <a:t>1</a:t>
            </a:r>
            <a:endParaRPr lang="zh-CN" altLang="en-US" sz="2400" b="1" dirty="0">
              <a:solidFill>
                <a:srgbClr val="FF0000"/>
              </a:solidFill>
            </a:endParaRPr>
          </a:p>
        </p:txBody>
      </p:sp>
      <p:sp>
        <p:nvSpPr>
          <p:cNvPr id="4" name="Text Box 17">
            <a:extLst>
              <a:ext uri="{FF2B5EF4-FFF2-40B4-BE49-F238E27FC236}">
                <a16:creationId xmlns:a16="http://schemas.microsoft.com/office/drawing/2014/main" id="{C6A9AF19-06C3-A171-FEE9-950C8A530117}"/>
              </a:ext>
            </a:extLst>
          </p:cNvPr>
          <p:cNvSpPr txBox="1">
            <a:spLocks noChangeArrowheads="1"/>
          </p:cNvSpPr>
          <p:nvPr/>
        </p:nvSpPr>
        <p:spPr bwMode="auto">
          <a:xfrm>
            <a:off x="6625289" y="3785045"/>
            <a:ext cx="126669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1" dirty="0">
                <a:solidFill>
                  <a:srgbClr val="FF0000"/>
                </a:solidFill>
              </a:rPr>
              <a:t>关系式</a:t>
            </a:r>
            <a:r>
              <a:rPr lang="en-US" altLang="zh-CN" sz="2400" b="1" dirty="0">
                <a:solidFill>
                  <a:srgbClr val="FF0000"/>
                </a:solidFill>
              </a:rPr>
              <a:t>2</a:t>
            </a:r>
            <a:endParaRPr lang="zh-CN" altLang="en-US" sz="2400" b="1" dirty="0">
              <a:solidFill>
                <a:srgbClr val="FF0000"/>
              </a:solidFill>
            </a:endParaRPr>
          </a:p>
        </p:txBody>
      </p:sp>
      <mc:AlternateContent xmlns:mc="http://schemas.openxmlformats.org/markup-compatibility/2006" xmlns:a14="http://schemas.microsoft.com/office/drawing/2010/main">
        <mc:Choice Requires="a14">
          <p:sp>
            <p:nvSpPr>
              <p:cNvPr id="7" name="Object 15">
                <a:extLst>
                  <a:ext uri="{FF2B5EF4-FFF2-40B4-BE49-F238E27FC236}">
                    <a16:creationId xmlns:a16="http://schemas.microsoft.com/office/drawing/2014/main" id="{371C6A70-50C4-3BC8-1F42-C1B610CEF844}"/>
                  </a:ext>
                </a:extLst>
              </p:cNvPr>
              <p:cNvSpPr txBox="1"/>
              <p:nvPr/>
            </p:nvSpPr>
            <p:spPr bwMode="auto">
              <a:xfrm>
                <a:off x="1658480" y="6050134"/>
                <a:ext cx="5577816" cy="8286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𝐸</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𝑎</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𝑈</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𝑠</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𝑅</m:t>
                          </m:r>
                        </m:e>
                        <m:sub>
                          <m:r>
                            <a:rPr lang="zh-CN" altLang="en-US" sz="2400" i="1">
                              <a:solidFill>
                                <a:srgbClr val="000000"/>
                              </a:solidFill>
                              <a:latin typeface="Cambria Math" panose="02040503050406030204" pitchFamily="18" charset="0"/>
                            </a:rPr>
                            <m:t>𝑠</m:t>
                          </m:r>
                        </m:sub>
                      </m:sSub>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zh-CN" altLang="en-US" sz="2400" i="1">
                              <a:solidFill>
                                <a:srgbClr val="000000"/>
                              </a:solidFill>
                              <a:latin typeface="Cambria Math" panose="02040503050406030204" pitchFamily="18" charset="0"/>
                            </a:rPr>
                            <m:t>𝑎</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m:rPr>
                              <m:sty m:val="p"/>
                            </m:rPr>
                            <a:rPr lang="en-US" altLang="zh-CN" sz="2400" i="1">
                              <a:solidFill>
                                <a:srgbClr val="000000"/>
                              </a:solidFill>
                              <a:latin typeface="Cambria Math" panose="02040503050406030204" pitchFamily="18" charset="0"/>
                            </a:rPr>
                            <m:t>q</m:t>
                          </m:r>
                        </m:sub>
                      </m:sSub>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en-US" altLang="zh-CN" sz="2400" b="0" i="1" smtClean="0">
                              <a:solidFill>
                                <a:srgbClr val="000000"/>
                              </a:solidFill>
                              <a:latin typeface="Cambria Math" panose="02040503050406030204" pitchFamily="18" charset="0"/>
                            </a:rPr>
                            <m:t>𝑎</m:t>
                          </m:r>
                        </m:sub>
                      </m:sSub>
                      <m:r>
                        <a:rPr lang="zh-CN" altLang="en-US" sz="2400" i="1">
                          <a:solidFill>
                            <a:srgbClr val="000000"/>
                          </a:solidFill>
                          <a:latin typeface="Cambria Math" panose="02040503050406030204" pitchFamily="18" charset="0"/>
                        </a:rPr>
                        <m:t>+</m:t>
                      </m:r>
                      <m:r>
                        <a:rPr lang="zh-CN" altLang="en-US" sz="2400" i="1" smtClean="0">
                          <a:solidFill>
                            <a:srgbClr val="000000"/>
                          </a:solidFill>
                          <a:latin typeface="Cambria Math" panose="02040503050406030204" pitchFamily="18" charset="0"/>
                        </a:rPr>
                        <m:t>𝑗</m:t>
                      </m:r>
                      <m:r>
                        <a:rPr lang="zh-CN" altLang="en-US" sz="2400" i="1" smtClean="0">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𝑑</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𝑋</m:t>
                          </m:r>
                        </m:e>
                        <m:sub>
                          <m:r>
                            <a:rPr lang="zh-CN" altLang="en-US" sz="2400" i="1">
                              <a:solidFill>
                                <a:srgbClr val="000000"/>
                              </a:solidFill>
                              <a:latin typeface="Cambria Math" panose="02040503050406030204" pitchFamily="18" charset="0"/>
                            </a:rPr>
                            <m:t>𝑞</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𝐼</m:t>
                              </m:r>
                            </m:e>
                            <m:lim>
                              <m:r>
                                <a:rPr lang="zh-CN" altLang="en-US" sz="2400" i="1">
                                  <a:solidFill>
                                    <a:srgbClr val="000000"/>
                                  </a:solidFill>
                                  <a:latin typeface="Cambria Math" panose="02040503050406030204" pitchFamily="18" charset="0"/>
                                </a:rPr>
                                <m:t>•</m:t>
                              </m:r>
                            </m:lim>
                          </m:limUpp>
                        </m:e>
                        <m:sub>
                          <m:r>
                            <a:rPr lang="en-US" altLang="zh-CN" sz="2400" b="0" i="1" smtClean="0">
                              <a:solidFill>
                                <a:srgbClr val="000000"/>
                              </a:solidFill>
                              <a:latin typeface="Cambria Math" panose="02040503050406030204" pitchFamily="18" charset="0"/>
                            </a:rPr>
                            <m:t>𝑑</m:t>
                          </m:r>
                        </m:sub>
                      </m:sSub>
                    </m:oMath>
                  </m:oMathPara>
                </a14:m>
                <a:endParaRPr lang="zh-CN" altLang="en-US" sz="2400" dirty="0"/>
              </a:p>
            </p:txBody>
          </p:sp>
        </mc:Choice>
        <mc:Fallback xmlns="">
          <p:sp>
            <p:nvSpPr>
              <p:cNvPr id="7" name="Object 15">
                <a:extLst>
                  <a:ext uri="{FF2B5EF4-FFF2-40B4-BE49-F238E27FC236}">
                    <a16:creationId xmlns:a16="http://schemas.microsoft.com/office/drawing/2014/main" id="{371C6A70-50C4-3BC8-1F42-C1B610CEF844}"/>
                  </a:ext>
                </a:extLst>
              </p:cNvPr>
              <p:cNvSpPr txBox="1">
                <a:spLocks noRot="1" noChangeAspect="1" noMove="1" noResize="1" noEditPoints="1" noAdjustHandles="1" noChangeArrowheads="1" noChangeShapeType="1" noTextEdit="1"/>
              </p:cNvSpPr>
              <p:nvPr/>
            </p:nvSpPr>
            <p:spPr bwMode="auto">
              <a:xfrm>
                <a:off x="1658480" y="6050134"/>
                <a:ext cx="5577816" cy="828675"/>
              </a:xfrm>
              <a:prstGeom prst="rect">
                <a:avLst/>
              </a:prstGeom>
              <a:blipFill>
                <a:blip r:embed="rId9"/>
                <a:stretch>
                  <a:fillRect/>
                </a:stretch>
              </a:blipFill>
              <a:ln>
                <a:noFill/>
              </a:ln>
            </p:spPr>
            <p:txBody>
              <a:bodyPr/>
              <a:lstStyle/>
              <a:p>
                <a:r>
                  <a:rPr lang="zh-CN" altLang="en-US">
                    <a:noFill/>
                  </a:rPr>
                  <a:t> </a:t>
                </a:r>
              </a:p>
            </p:txBody>
          </p:sp>
        </mc:Fallback>
      </mc:AlternateContent>
      <p:sp>
        <p:nvSpPr>
          <p:cNvPr id="10" name="Text Box 17">
            <a:extLst>
              <a:ext uri="{FF2B5EF4-FFF2-40B4-BE49-F238E27FC236}">
                <a16:creationId xmlns:a16="http://schemas.microsoft.com/office/drawing/2014/main" id="{CC7F0293-9961-7C57-FE9D-3B7EC6F647D9}"/>
              </a:ext>
            </a:extLst>
          </p:cNvPr>
          <p:cNvSpPr txBox="1">
            <a:spLocks noChangeArrowheads="1"/>
          </p:cNvSpPr>
          <p:nvPr/>
        </p:nvSpPr>
        <p:spPr bwMode="auto">
          <a:xfrm>
            <a:off x="6986653" y="6314631"/>
            <a:ext cx="126669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1" dirty="0">
                <a:solidFill>
                  <a:srgbClr val="FF0000"/>
                </a:solidFill>
              </a:rPr>
              <a:t>关系式</a:t>
            </a:r>
            <a:r>
              <a:rPr lang="en-US" altLang="zh-CN" sz="2400" b="1" dirty="0">
                <a:solidFill>
                  <a:srgbClr val="FF0000"/>
                </a:solidFill>
              </a:rPr>
              <a:t>3</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9405"/>
                                        </p:tgtEl>
                                        <p:attrNameLst>
                                          <p:attrName>style.visibility</p:attrName>
                                        </p:attrNameLst>
                                      </p:cBhvr>
                                      <p:to>
                                        <p:strVal val="visible"/>
                                      </p:to>
                                    </p:set>
                                    <p:animEffect transition="in" filter="blinds(horizontal)">
                                      <p:cBhvr>
                                        <p:cTn id="7" dur="500"/>
                                        <p:tgtEl>
                                          <p:spTgt spid="59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9404"/>
                                        </p:tgtEl>
                                        <p:attrNameLst>
                                          <p:attrName>style.visibility</p:attrName>
                                        </p:attrNameLst>
                                      </p:cBhvr>
                                      <p:to>
                                        <p:strVal val="visible"/>
                                      </p:to>
                                    </p:set>
                                    <p:animEffect transition="in" filter="blinds(horizontal)">
                                      <p:cBhvr>
                                        <p:cTn id="12" dur="500"/>
                                        <p:tgtEl>
                                          <p:spTgt spid="594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9416"/>
                                        </p:tgtEl>
                                        <p:attrNameLst>
                                          <p:attrName>style.visibility</p:attrName>
                                        </p:attrNameLst>
                                      </p:cBhvr>
                                      <p:to>
                                        <p:strVal val="visible"/>
                                      </p:to>
                                    </p:set>
                                    <p:animEffect transition="in" filter="dissolve">
                                      <p:cBhvr>
                                        <p:cTn id="17" dur="500"/>
                                        <p:tgtEl>
                                          <p:spTgt spid="594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9409"/>
                                        </p:tgtEl>
                                        <p:attrNameLst>
                                          <p:attrName>style.visibility</p:attrName>
                                        </p:attrNameLst>
                                      </p:cBhvr>
                                      <p:to>
                                        <p:strVal val="visible"/>
                                      </p:to>
                                    </p:set>
                                    <p:animEffect transition="in" filter="blinds(horizontal)">
                                      <p:cBhvr>
                                        <p:cTn id="22" dur="500"/>
                                        <p:tgtEl>
                                          <p:spTgt spid="5940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4" grpId="0" animBg="1" autoUpdateAnimBg="0"/>
      <p:bldP spid="59405" grpId="0" animBg="1" autoUpdateAnimBg="0"/>
      <p:bldP spid="59409" grpId="0" autoUpdateAnimBg="0"/>
      <p:bldP spid="3" grpId="0" autoUpdateAnimBg="0"/>
      <p:bldP spid="4" grpId="0" autoUpdateAnimBg="0"/>
      <p:bldP spid="1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EB78C16-F2BB-31F3-BA0B-0AAF8E49F553}"/>
              </a:ext>
            </a:extLst>
          </p:cNvPr>
          <p:cNvSpPr>
            <a:spLocks noGrp="1"/>
          </p:cNvSpPr>
          <p:nvPr>
            <p:ph type="sldNum" sz="quarter" idx="12"/>
          </p:nvPr>
        </p:nvSpPr>
        <p:spPr/>
        <p:txBody>
          <a:bodyPr/>
          <a:lstStyle/>
          <a:p>
            <a:pPr>
              <a:defRPr/>
            </a:pPr>
            <a:fld id="{63932211-F958-43B5-84AD-9E64B2E71245}" type="slidenum">
              <a:rPr lang="en-US" altLang="zh-CN"/>
              <a:pPr>
                <a:defRPr/>
              </a:pPr>
              <a:t>48</a:t>
            </a:fld>
            <a:endParaRPr lang="en-US" altLang="zh-CN"/>
          </a:p>
        </p:txBody>
      </p:sp>
      <p:sp>
        <p:nvSpPr>
          <p:cNvPr id="6147" name="Rectangle 2">
            <a:extLst>
              <a:ext uri="{FF2B5EF4-FFF2-40B4-BE49-F238E27FC236}">
                <a16:creationId xmlns:a16="http://schemas.microsoft.com/office/drawing/2014/main" id="{BD4476AE-1EA7-0BFA-F40A-0D31B8DB5AA2}"/>
              </a:ext>
            </a:extLst>
          </p:cNvPr>
          <p:cNvSpPr>
            <a:spLocks noGrp="1" noChangeArrowheads="1"/>
          </p:cNvSpPr>
          <p:nvPr>
            <p:ph type="title"/>
          </p:nvPr>
        </p:nvSpPr>
        <p:spPr>
          <a:xfrm>
            <a:off x="356395" y="805691"/>
            <a:ext cx="7993062" cy="1276350"/>
          </a:xfrm>
        </p:spPr>
        <p:txBody>
          <a:bodyPr/>
          <a:lstStyle/>
          <a:p>
            <a:pPr algn="l" eaLnBrk="1" hangingPunct="1"/>
            <a:r>
              <a:rPr lang="zh-CN" altLang="en-US" sz="2400" dirty="0">
                <a:latin typeface="华文中宋" panose="02010600040101010101" pitchFamily="2" charset="-122"/>
                <a:ea typeface="华文中宋" panose="02010600040101010101" pitchFamily="2" charset="-122"/>
              </a:rPr>
              <a:t>例</a:t>
            </a:r>
            <a:r>
              <a:rPr lang="en-US" altLang="zh-CN" sz="2400" dirty="0">
                <a:latin typeface="华文中宋" panose="02010600040101010101" pitchFamily="2" charset="-122"/>
                <a:ea typeface="华文中宋" panose="02010600040101010101" pitchFamily="2" charset="-122"/>
              </a:rPr>
              <a:t>2</a:t>
            </a:r>
            <a:r>
              <a:rPr lang="zh-CN" altLang="en-US" sz="2400" dirty="0">
                <a:latin typeface="华文中宋" panose="02010600040101010101" pitchFamily="2" charset="-122"/>
                <a:ea typeface="华文中宋" panose="02010600040101010101" pitchFamily="2" charset="-122"/>
              </a:rPr>
              <a:t>：一凸极同步电机电抗</a:t>
            </a:r>
            <a:r>
              <a:rPr lang="en-US" altLang="zh-CN" sz="2400" dirty="0">
                <a:latin typeface="华文中宋" panose="02010600040101010101" pitchFamily="2" charset="-122"/>
                <a:ea typeface="华文中宋" panose="02010600040101010101" pitchFamily="2" charset="-122"/>
              </a:rPr>
              <a:t>X</a:t>
            </a:r>
            <a:r>
              <a:rPr lang="en-US" altLang="zh-CN" sz="2400" baseline="-25000" dirty="0">
                <a:latin typeface="华文中宋" panose="02010600040101010101" pitchFamily="2" charset="-122"/>
                <a:ea typeface="华文中宋" panose="02010600040101010101" pitchFamily="2" charset="-122"/>
              </a:rPr>
              <a:t>d</a:t>
            </a:r>
            <a:r>
              <a:rPr lang="zh-CN" altLang="en-US" sz="2400" dirty="0">
                <a:latin typeface="华文中宋" panose="02010600040101010101" pitchFamily="2" charset="-122"/>
                <a:ea typeface="华文中宋" panose="02010600040101010101" pitchFamily="2" charset="-122"/>
              </a:rPr>
              <a:t>和</a:t>
            </a:r>
            <a:r>
              <a:rPr lang="en-US" altLang="zh-CN" sz="2400" dirty="0" err="1">
                <a:latin typeface="华文中宋" panose="02010600040101010101" pitchFamily="2" charset="-122"/>
                <a:ea typeface="华文中宋" panose="02010600040101010101" pitchFamily="2" charset="-122"/>
              </a:rPr>
              <a:t>X</a:t>
            </a:r>
            <a:r>
              <a:rPr lang="en-US" altLang="zh-CN" sz="2400" baseline="-25000" dirty="0" err="1">
                <a:latin typeface="华文中宋" panose="02010600040101010101" pitchFamily="2" charset="-122"/>
                <a:ea typeface="华文中宋" panose="02010600040101010101" pitchFamily="2" charset="-122"/>
              </a:rPr>
              <a:t>q</a:t>
            </a:r>
            <a:r>
              <a:rPr lang="zh-CN" altLang="en-US" sz="2400" dirty="0">
                <a:latin typeface="华文中宋" panose="02010600040101010101" pitchFamily="2" charset="-122"/>
                <a:ea typeface="华文中宋" panose="02010600040101010101" pitchFamily="2" charset="-122"/>
              </a:rPr>
              <a:t>的标幺值分别为</a:t>
            </a:r>
            <a:r>
              <a:rPr lang="en-US" altLang="zh-CN" sz="2400" dirty="0">
                <a:latin typeface="华文中宋" panose="02010600040101010101" pitchFamily="2" charset="-122"/>
                <a:ea typeface="华文中宋" panose="02010600040101010101" pitchFamily="2" charset="-122"/>
              </a:rPr>
              <a:t>1.0</a:t>
            </a:r>
            <a:r>
              <a:rPr lang="zh-CN" altLang="en-US" sz="2400" dirty="0">
                <a:latin typeface="华文中宋" panose="02010600040101010101" pitchFamily="2" charset="-122"/>
                <a:ea typeface="华文中宋" panose="02010600040101010101" pitchFamily="2" charset="-122"/>
              </a:rPr>
              <a:t>和</a:t>
            </a:r>
            <a:r>
              <a:rPr lang="en-US" altLang="zh-CN" sz="2400" dirty="0">
                <a:latin typeface="华文中宋" panose="02010600040101010101" pitchFamily="2" charset="-122"/>
                <a:ea typeface="华文中宋" panose="02010600040101010101" pitchFamily="2" charset="-122"/>
              </a:rPr>
              <a:t>0.6</a:t>
            </a:r>
            <a:r>
              <a:rPr lang="zh-CN" altLang="en-US" sz="2400" dirty="0">
                <a:latin typeface="华文中宋" panose="02010600040101010101" pitchFamily="2" charset="-122"/>
                <a:ea typeface="华文中宋" panose="02010600040101010101" pitchFamily="2" charset="-122"/>
              </a:rPr>
              <a:t>，电枢电阻忽略不计。当发电机运行在额定状态，功率因数为滞后</a:t>
            </a:r>
            <a:r>
              <a:rPr lang="en-US" altLang="zh-CN" sz="2400" dirty="0">
                <a:latin typeface="华文中宋" panose="02010600040101010101" pitchFamily="2" charset="-122"/>
                <a:ea typeface="华文中宋" panose="02010600040101010101" pitchFamily="2" charset="-122"/>
              </a:rPr>
              <a:t>0.8</a:t>
            </a:r>
            <a:r>
              <a:rPr lang="zh-CN" altLang="en-US" sz="2400" dirty="0">
                <a:latin typeface="华文中宋" panose="02010600040101010101" pitchFamily="2" charset="-122"/>
                <a:ea typeface="华文中宋" panose="02010600040101010101" pitchFamily="2" charset="-122"/>
              </a:rPr>
              <a:t>，端电压为额定电压时，计算其感应电势。</a:t>
            </a:r>
          </a:p>
        </p:txBody>
      </p:sp>
      <p:sp>
        <p:nvSpPr>
          <p:cNvPr id="6148" name="Rectangle 3">
            <a:extLst>
              <a:ext uri="{FF2B5EF4-FFF2-40B4-BE49-F238E27FC236}">
                <a16:creationId xmlns:a16="http://schemas.microsoft.com/office/drawing/2014/main" id="{78B99800-2967-8EF9-58D3-53DA3DE4B6E2}"/>
              </a:ext>
            </a:extLst>
          </p:cNvPr>
          <p:cNvSpPr>
            <a:spLocks noGrp="1" noChangeArrowheads="1"/>
          </p:cNvSpPr>
          <p:nvPr>
            <p:ph type="body" idx="1"/>
          </p:nvPr>
        </p:nvSpPr>
        <p:spPr>
          <a:xfrm>
            <a:off x="611188" y="2049335"/>
            <a:ext cx="7772400" cy="576263"/>
          </a:xfrm>
        </p:spPr>
        <p:txBody>
          <a:bodyPr/>
          <a:lstStyle/>
          <a:p>
            <a:pPr eaLnBrk="1" hangingPunct="1">
              <a:buFontTx/>
              <a:buNone/>
            </a:pPr>
            <a:r>
              <a:rPr lang="zh-CN" altLang="en-US" sz="2400"/>
              <a:t>解：首先求电势相量。选择端电压为参考相量：</a:t>
            </a:r>
          </a:p>
        </p:txBody>
      </p:sp>
      <p:sp>
        <p:nvSpPr>
          <p:cNvPr id="6149" name="Rectangle 5">
            <a:extLst>
              <a:ext uri="{FF2B5EF4-FFF2-40B4-BE49-F238E27FC236}">
                <a16:creationId xmlns:a16="http://schemas.microsoft.com/office/drawing/2014/main" id="{82A7DBDA-9D79-18C8-568D-554D2AF4D716}"/>
              </a:ext>
            </a:extLst>
          </p:cNvPr>
          <p:cNvSpPr>
            <a:spLocks noChangeArrowheads="1"/>
          </p:cNvSpPr>
          <p:nvPr/>
        </p:nvSpPr>
        <p:spPr bwMode="auto">
          <a:xfrm>
            <a:off x="0"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6150" name="Object 4">
            <a:extLst>
              <a:ext uri="{FF2B5EF4-FFF2-40B4-BE49-F238E27FC236}">
                <a16:creationId xmlns:a16="http://schemas.microsoft.com/office/drawing/2014/main" id="{32F38417-542E-213D-0E28-296782C22F4A}"/>
              </a:ext>
            </a:extLst>
          </p:cNvPr>
          <p:cNvGraphicFramePr>
            <a:graphicFrameLocks noChangeAspect="1"/>
          </p:cNvGraphicFramePr>
          <p:nvPr>
            <p:extLst>
              <p:ext uri="{D42A27DB-BD31-4B8C-83A1-F6EECF244321}">
                <p14:modId xmlns:p14="http://schemas.microsoft.com/office/powerpoint/2010/main" val="378666861"/>
              </p:ext>
            </p:extLst>
          </p:nvPr>
        </p:nvGraphicFramePr>
        <p:xfrm>
          <a:off x="1328738" y="2554160"/>
          <a:ext cx="2089150" cy="609600"/>
        </p:xfrm>
        <a:graphic>
          <a:graphicData uri="http://schemas.openxmlformats.org/presentationml/2006/ole">
            <mc:AlternateContent xmlns:mc="http://schemas.openxmlformats.org/markup-compatibility/2006">
              <mc:Choice xmlns:v="urn:schemas-microsoft-com:vml" Requires="v">
                <p:oleObj name="Equation" r:id="rId2" imgW="1079032" imgH="317362" progId="Equation.DSMT4">
                  <p:embed/>
                </p:oleObj>
              </mc:Choice>
              <mc:Fallback>
                <p:oleObj name="Equation" r:id="rId2" imgW="1079032" imgH="317362" progId="Equation.DSMT4">
                  <p:embed/>
                  <p:pic>
                    <p:nvPicPr>
                      <p:cNvPr id="6150" name="Object 4">
                        <a:extLst>
                          <a:ext uri="{FF2B5EF4-FFF2-40B4-BE49-F238E27FC236}">
                            <a16:creationId xmlns:a16="http://schemas.microsoft.com/office/drawing/2014/main" id="{32F38417-542E-213D-0E28-296782C22F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8738" y="2554160"/>
                        <a:ext cx="2089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6" name="Object 6">
            <a:extLst>
              <a:ext uri="{FF2B5EF4-FFF2-40B4-BE49-F238E27FC236}">
                <a16:creationId xmlns:a16="http://schemas.microsoft.com/office/drawing/2014/main" id="{6C3FC917-0278-8B6C-0D73-BAA24095B516}"/>
              </a:ext>
            </a:extLst>
          </p:cNvPr>
          <p:cNvGraphicFramePr>
            <a:graphicFrameLocks noChangeAspect="1"/>
          </p:cNvGraphicFramePr>
          <p:nvPr>
            <p:extLst>
              <p:ext uri="{D42A27DB-BD31-4B8C-83A1-F6EECF244321}">
                <p14:modId xmlns:p14="http://schemas.microsoft.com/office/powerpoint/2010/main" val="2142484307"/>
              </p:ext>
            </p:extLst>
          </p:nvPr>
        </p:nvGraphicFramePr>
        <p:xfrm>
          <a:off x="1296988" y="3176460"/>
          <a:ext cx="3959225" cy="533400"/>
        </p:xfrm>
        <a:graphic>
          <a:graphicData uri="http://schemas.openxmlformats.org/presentationml/2006/ole">
            <mc:AlternateContent xmlns:mc="http://schemas.openxmlformats.org/markup-compatibility/2006">
              <mc:Choice xmlns:v="urn:schemas-microsoft-com:vml" Requires="v">
                <p:oleObj name="Equation" r:id="rId4" imgW="1536033" imgH="253890" progId="Equation.DSMT4">
                  <p:embed/>
                </p:oleObj>
              </mc:Choice>
              <mc:Fallback>
                <p:oleObj name="Equation" r:id="rId4" imgW="1536033" imgH="253890" progId="Equation.DSMT4">
                  <p:embed/>
                  <p:pic>
                    <p:nvPicPr>
                      <p:cNvPr id="61446" name="Object 6">
                        <a:extLst>
                          <a:ext uri="{FF2B5EF4-FFF2-40B4-BE49-F238E27FC236}">
                            <a16:creationId xmlns:a16="http://schemas.microsoft.com/office/drawing/2014/main" id="{6C3FC917-0278-8B6C-0D73-BAA24095B5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988" y="3176460"/>
                        <a:ext cx="39592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8" name="Object 8">
            <a:extLst>
              <a:ext uri="{FF2B5EF4-FFF2-40B4-BE49-F238E27FC236}">
                <a16:creationId xmlns:a16="http://schemas.microsoft.com/office/drawing/2014/main" id="{C3FCA3F3-9131-E30D-4C43-A427F1F6330D}"/>
              </a:ext>
            </a:extLst>
          </p:cNvPr>
          <p:cNvGraphicFramePr>
            <a:graphicFrameLocks noChangeAspect="1"/>
          </p:cNvGraphicFramePr>
          <p:nvPr>
            <p:extLst>
              <p:ext uri="{D42A27DB-BD31-4B8C-83A1-F6EECF244321}">
                <p14:modId xmlns:p14="http://schemas.microsoft.com/office/powerpoint/2010/main" val="4018382156"/>
              </p:ext>
            </p:extLst>
          </p:nvPr>
        </p:nvGraphicFramePr>
        <p:xfrm>
          <a:off x="1328738" y="3778123"/>
          <a:ext cx="3024188" cy="612775"/>
        </p:xfrm>
        <a:graphic>
          <a:graphicData uri="http://schemas.openxmlformats.org/presentationml/2006/ole">
            <mc:AlternateContent xmlns:mc="http://schemas.openxmlformats.org/markup-compatibility/2006">
              <mc:Choice xmlns:v="urn:schemas-microsoft-com:vml" Requires="v">
                <p:oleObj name="Equation" r:id="rId6" imgW="1548728" imgH="317362" progId="Equation.DSMT4">
                  <p:embed/>
                </p:oleObj>
              </mc:Choice>
              <mc:Fallback>
                <p:oleObj name="Equation" r:id="rId6" imgW="1548728" imgH="317362" progId="Equation.DSMT4">
                  <p:embed/>
                  <p:pic>
                    <p:nvPicPr>
                      <p:cNvPr id="61448" name="Object 8">
                        <a:extLst>
                          <a:ext uri="{FF2B5EF4-FFF2-40B4-BE49-F238E27FC236}">
                            <a16:creationId xmlns:a16="http://schemas.microsoft.com/office/drawing/2014/main" id="{C3FCA3F3-9131-E30D-4C43-A427F1F633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8738" y="3778123"/>
                        <a:ext cx="30241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457" name="Group 17">
            <a:extLst>
              <a:ext uri="{FF2B5EF4-FFF2-40B4-BE49-F238E27FC236}">
                <a16:creationId xmlns:a16="http://schemas.microsoft.com/office/drawing/2014/main" id="{D25150E9-434B-FF74-8234-2995AAC71266}"/>
              </a:ext>
            </a:extLst>
          </p:cNvPr>
          <p:cNvGrpSpPr>
            <a:grpSpLocks/>
          </p:cNvGrpSpPr>
          <p:nvPr/>
        </p:nvGrpSpPr>
        <p:grpSpPr bwMode="auto">
          <a:xfrm>
            <a:off x="860592" y="4299832"/>
            <a:ext cx="6205538" cy="2495550"/>
            <a:chOff x="546" y="2614"/>
            <a:chExt cx="3695" cy="1572"/>
          </a:xfrm>
        </p:grpSpPr>
        <p:sp>
          <p:nvSpPr>
            <p:cNvPr id="6157" name="Text Box 10">
              <a:extLst>
                <a:ext uri="{FF2B5EF4-FFF2-40B4-BE49-F238E27FC236}">
                  <a16:creationId xmlns:a16="http://schemas.microsoft.com/office/drawing/2014/main" id="{FF0A942B-2528-84E3-5C9F-B50DCA00EE02}"/>
                </a:ext>
              </a:extLst>
            </p:cNvPr>
            <p:cNvSpPr txBox="1">
              <a:spLocks noChangeArrowheads="1"/>
            </p:cNvSpPr>
            <p:nvPr/>
          </p:nvSpPr>
          <p:spPr bwMode="auto">
            <a:xfrm>
              <a:off x="546" y="3215"/>
              <a:ext cx="1268"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dirty="0"/>
                <a:t>相电势定位：</a:t>
              </a:r>
            </a:p>
          </p:txBody>
        </p:sp>
        <p:graphicFrame>
          <p:nvGraphicFramePr>
            <p:cNvPr id="6158" name="Object 11">
              <a:extLst>
                <a:ext uri="{FF2B5EF4-FFF2-40B4-BE49-F238E27FC236}">
                  <a16:creationId xmlns:a16="http://schemas.microsoft.com/office/drawing/2014/main" id="{F0E0FA7B-DFF1-D47F-804C-247C66B7A6B9}"/>
                </a:ext>
              </a:extLst>
            </p:cNvPr>
            <p:cNvGraphicFramePr>
              <a:graphicFrameLocks noChangeAspect="1"/>
            </p:cNvGraphicFramePr>
            <p:nvPr/>
          </p:nvGraphicFramePr>
          <p:xfrm>
            <a:off x="2018" y="2614"/>
            <a:ext cx="2223" cy="1572"/>
          </p:xfrm>
          <a:graphic>
            <a:graphicData uri="http://schemas.openxmlformats.org/presentationml/2006/ole">
              <mc:AlternateContent xmlns:mc="http://schemas.openxmlformats.org/markup-compatibility/2006">
                <mc:Choice xmlns:v="urn:schemas-microsoft-com:vml" Requires="v">
                  <p:oleObj name="Equation" r:id="rId8" imgW="1790700" imgH="1270000" progId="Equation.DSMT4">
                    <p:embed/>
                  </p:oleObj>
                </mc:Choice>
                <mc:Fallback>
                  <p:oleObj name="Equation" r:id="rId8" imgW="1790700" imgH="1270000" progId="Equation.DSMT4">
                    <p:embed/>
                    <p:pic>
                      <p:nvPicPr>
                        <p:cNvPr id="6158" name="Object 11">
                          <a:extLst>
                            <a:ext uri="{FF2B5EF4-FFF2-40B4-BE49-F238E27FC236}">
                              <a16:creationId xmlns:a16="http://schemas.microsoft.com/office/drawing/2014/main" id="{F0E0FA7B-DFF1-D47F-804C-247C66B7A6B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18" y="2614"/>
                          <a:ext cx="2223" cy="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1456" name="Group 16">
            <a:extLst>
              <a:ext uri="{FF2B5EF4-FFF2-40B4-BE49-F238E27FC236}">
                <a16:creationId xmlns:a16="http://schemas.microsoft.com/office/drawing/2014/main" id="{A2D5DE19-6EEE-8837-3832-38D97D8DDF03}"/>
              </a:ext>
            </a:extLst>
          </p:cNvPr>
          <p:cNvGrpSpPr>
            <a:grpSpLocks/>
          </p:cNvGrpSpPr>
          <p:nvPr/>
        </p:nvGrpSpPr>
        <p:grpSpPr bwMode="auto">
          <a:xfrm>
            <a:off x="7072313" y="4868863"/>
            <a:ext cx="1747837" cy="1143000"/>
            <a:chOff x="4455" y="3067"/>
            <a:chExt cx="1101" cy="720"/>
          </a:xfrm>
        </p:grpSpPr>
        <p:sp>
          <p:nvSpPr>
            <p:cNvPr id="6155" name="Text Box 13">
              <a:extLst>
                <a:ext uri="{FF2B5EF4-FFF2-40B4-BE49-F238E27FC236}">
                  <a16:creationId xmlns:a16="http://schemas.microsoft.com/office/drawing/2014/main" id="{7C7368DD-F6CE-1F9E-8C74-577C42FC47DE}"/>
                </a:ext>
              </a:extLst>
            </p:cNvPr>
            <p:cNvSpPr txBox="1">
              <a:spLocks noChangeArrowheads="1"/>
            </p:cNvSpPr>
            <p:nvPr/>
          </p:nvSpPr>
          <p:spPr bwMode="auto">
            <a:xfrm>
              <a:off x="4455" y="3067"/>
              <a:ext cx="932"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a:t>因此功角 </a:t>
              </a:r>
            </a:p>
          </p:txBody>
        </p:sp>
        <p:graphicFrame>
          <p:nvGraphicFramePr>
            <p:cNvPr id="6156" name="Object 14">
              <a:extLst>
                <a:ext uri="{FF2B5EF4-FFF2-40B4-BE49-F238E27FC236}">
                  <a16:creationId xmlns:a16="http://schemas.microsoft.com/office/drawing/2014/main" id="{C699D385-BB2F-F784-D76C-D02E2ACF0910}"/>
                </a:ext>
              </a:extLst>
            </p:cNvPr>
            <p:cNvGraphicFramePr>
              <a:graphicFrameLocks noChangeAspect="1"/>
            </p:cNvGraphicFramePr>
            <p:nvPr/>
          </p:nvGraphicFramePr>
          <p:xfrm>
            <a:off x="4649" y="3475"/>
            <a:ext cx="907" cy="312"/>
          </p:xfrm>
          <a:graphic>
            <a:graphicData uri="http://schemas.openxmlformats.org/presentationml/2006/ole">
              <mc:AlternateContent xmlns:mc="http://schemas.openxmlformats.org/markup-compatibility/2006">
                <mc:Choice xmlns:v="urn:schemas-microsoft-com:vml" Requires="v">
                  <p:oleObj name="Equation" r:id="rId10" imgW="583947" imgH="203112" progId="Equation.DSMT4">
                    <p:embed/>
                  </p:oleObj>
                </mc:Choice>
                <mc:Fallback>
                  <p:oleObj name="Equation" r:id="rId10" imgW="583947" imgH="203112" progId="Equation.DSMT4">
                    <p:embed/>
                    <p:pic>
                      <p:nvPicPr>
                        <p:cNvPr id="6156" name="Object 14">
                          <a:extLst>
                            <a:ext uri="{FF2B5EF4-FFF2-40B4-BE49-F238E27FC236}">
                              <a16:creationId xmlns:a16="http://schemas.microsoft.com/office/drawing/2014/main" id="{C699D385-BB2F-F784-D76C-D02E2ACF09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9" y="3475"/>
                          <a:ext cx="90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blinds(horizontal)">
                                      <p:cBhvr>
                                        <p:cTn id="7" dur="500"/>
                                        <p:tgtEl>
                                          <p:spTgt spid="614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48"/>
                                        </p:tgtEl>
                                        <p:attrNameLst>
                                          <p:attrName>style.visibility</p:attrName>
                                        </p:attrNameLst>
                                      </p:cBhvr>
                                      <p:to>
                                        <p:strVal val="visible"/>
                                      </p:to>
                                    </p:set>
                                    <p:animEffect transition="in" filter="blinds(horizontal)">
                                      <p:cBhvr>
                                        <p:cTn id="12" dur="500"/>
                                        <p:tgtEl>
                                          <p:spTgt spid="614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57"/>
                                        </p:tgtEl>
                                        <p:attrNameLst>
                                          <p:attrName>style.visibility</p:attrName>
                                        </p:attrNameLst>
                                      </p:cBhvr>
                                      <p:to>
                                        <p:strVal val="visible"/>
                                      </p:to>
                                    </p:set>
                                    <p:animEffect transition="in" filter="blinds(horizontal)">
                                      <p:cBhvr>
                                        <p:cTn id="17" dur="500"/>
                                        <p:tgtEl>
                                          <p:spTgt spid="614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456"/>
                                        </p:tgtEl>
                                        <p:attrNameLst>
                                          <p:attrName>style.visibility</p:attrName>
                                        </p:attrNameLst>
                                      </p:cBhvr>
                                      <p:to>
                                        <p:strVal val="visible"/>
                                      </p:to>
                                    </p:set>
                                    <p:animEffect transition="in" filter="blinds(horizontal)">
                                      <p:cBhvr>
                                        <p:cTn id="22" dur="500"/>
                                        <p:tgtEl>
                                          <p:spTgt spid="6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6">
            <a:extLst>
              <a:ext uri="{FF2B5EF4-FFF2-40B4-BE49-F238E27FC236}">
                <a16:creationId xmlns:a16="http://schemas.microsoft.com/office/drawing/2014/main" id="{A6BCD279-3429-ABE8-6531-1AD682C23559}"/>
              </a:ext>
            </a:extLst>
          </p:cNvPr>
          <p:cNvSpPr>
            <a:spLocks noGrp="1"/>
          </p:cNvSpPr>
          <p:nvPr>
            <p:ph type="sldNum" sz="quarter" idx="12"/>
          </p:nvPr>
        </p:nvSpPr>
        <p:spPr/>
        <p:txBody>
          <a:bodyPr/>
          <a:lstStyle/>
          <a:p>
            <a:pPr>
              <a:defRPr/>
            </a:pPr>
            <a:fld id="{12081438-E2D9-4ECC-95C5-22EC7E9E0A5D}" type="slidenum">
              <a:rPr lang="en-US" altLang="zh-CN"/>
              <a:pPr>
                <a:defRPr/>
              </a:pPr>
              <a:t>49</a:t>
            </a:fld>
            <a:endParaRPr lang="en-US" altLang="zh-CN"/>
          </a:p>
        </p:txBody>
      </p:sp>
      <p:sp>
        <p:nvSpPr>
          <p:cNvPr id="7171" name="Rectangle 2">
            <a:extLst>
              <a:ext uri="{FF2B5EF4-FFF2-40B4-BE49-F238E27FC236}">
                <a16:creationId xmlns:a16="http://schemas.microsoft.com/office/drawing/2014/main" id="{0CB1B928-07A9-0148-42AA-C64304316A5A}"/>
              </a:ext>
            </a:extLst>
          </p:cNvPr>
          <p:cNvSpPr>
            <a:spLocks noGrp="1" noChangeArrowheads="1"/>
          </p:cNvSpPr>
          <p:nvPr>
            <p:ph type="title"/>
          </p:nvPr>
        </p:nvSpPr>
        <p:spPr>
          <a:xfrm>
            <a:off x="4572000" y="333375"/>
            <a:ext cx="1066800" cy="581025"/>
          </a:xfrm>
        </p:spPr>
        <p:txBody>
          <a:bodyPr/>
          <a:lstStyle/>
          <a:p>
            <a:pPr eaLnBrk="1" hangingPunct="1"/>
            <a:r>
              <a:rPr lang="zh-CN" altLang="en-US" sz="3600" b="1">
                <a:solidFill>
                  <a:srgbClr val="000099"/>
                </a:solidFill>
              </a:rPr>
              <a:t>例</a:t>
            </a:r>
          </a:p>
        </p:txBody>
      </p:sp>
      <p:sp>
        <p:nvSpPr>
          <p:cNvPr id="7172" name="Rectangle 3">
            <a:extLst>
              <a:ext uri="{FF2B5EF4-FFF2-40B4-BE49-F238E27FC236}">
                <a16:creationId xmlns:a16="http://schemas.microsoft.com/office/drawing/2014/main" id="{9518A54A-2B03-A395-8C39-C29C49949D4B}"/>
              </a:ext>
            </a:extLst>
          </p:cNvPr>
          <p:cNvSpPr>
            <a:spLocks noGrp="1" noChangeArrowheads="1"/>
          </p:cNvSpPr>
          <p:nvPr>
            <p:ph type="body" sz="half" idx="1"/>
          </p:nvPr>
        </p:nvSpPr>
        <p:spPr>
          <a:xfrm>
            <a:off x="380601" y="804863"/>
            <a:ext cx="3886200" cy="503237"/>
          </a:xfrm>
        </p:spPr>
        <p:txBody>
          <a:bodyPr/>
          <a:lstStyle/>
          <a:p>
            <a:pPr eaLnBrk="1" hangingPunct="1">
              <a:buFontTx/>
              <a:buNone/>
            </a:pPr>
            <a:r>
              <a:rPr lang="zh-CN" altLang="en-US" sz="2400" dirty="0"/>
              <a:t>电势与电流间的相角差为</a:t>
            </a:r>
          </a:p>
        </p:txBody>
      </p:sp>
      <p:graphicFrame>
        <p:nvGraphicFramePr>
          <p:cNvPr id="7173" name="Object 4">
            <a:extLst>
              <a:ext uri="{FF2B5EF4-FFF2-40B4-BE49-F238E27FC236}">
                <a16:creationId xmlns:a16="http://schemas.microsoft.com/office/drawing/2014/main" id="{B2C39D8A-4B52-7941-492B-9AB841E2B84C}"/>
              </a:ext>
            </a:extLst>
          </p:cNvPr>
          <p:cNvGraphicFramePr>
            <a:graphicFrameLocks noChangeAspect="1"/>
          </p:cNvGraphicFramePr>
          <p:nvPr>
            <p:extLst>
              <p:ext uri="{D42A27DB-BD31-4B8C-83A1-F6EECF244321}">
                <p14:modId xmlns:p14="http://schemas.microsoft.com/office/powerpoint/2010/main" val="679166473"/>
              </p:ext>
            </p:extLst>
          </p:nvPr>
        </p:nvGraphicFramePr>
        <p:xfrm>
          <a:off x="415743" y="1239045"/>
          <a:ext cx="4824413" cy="504825"/>
        </p:xfrm>
        <a:graphic>
          <a:graphicData uri="http://schemas.openxmlformats.org/presentationml/2006/ole">
            <mc:AlternateContent xmlns:mc="http://schemas.openxmlformats.org/markup-compatibility/2006">
              <mc:Choice xmlns:v="urn:schemas-microsoft-com:vml" Requires="v">
                <p:oleObj name="Equation" r:id="rId2" imgW="2184400" imgH="228600" progId="Equation.DSMT4">
                  <p:embed/>
                </p:oleObj>
              </mc:Choice>
              <mc:Fallback>
                <p:oleObj name="Equation" r:id="rId2" imgW="2184400" imgH="228600" progId="Equation.DSMT4">
                  <p:embed/>
                  <p:pic>
                    <p:nvPicPr>
                      <p:cNvPr id="7173" name="Object 4">
                        <a:extLst>
                          <a:ext uri="{FF2B5EF4-FFF2-40B4-BE49-F238E27FC236}">
                            <a16:creationId xmlns:a16="http://schemas.microsoft.com/office/drawing/2014/main" id="{B2C39D8A-4B52-7941-492B-9AB841E2B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743" y="1239045"/>
                        <a:ext cx="48244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4" name="Text Box 6">
            <a:extLst>
              <a:ext uri="{FF2B5EF4-FFF2-40B4-BE49-F238E27FC236}">
                <a16:creationId xmlns:a16="http://schemas.microsoft.com/office/drawing/2014/main" id="{18A94B34-6E7E-8347-06A0-13D2DB21E8F0}"/>
              </a:ext>
            </a:extLst>
          </p:cNvPr>
          <p:cNvSpPr txBox="1">
            <a:spLocks noChangeArrowheads="1"/>
          </p:cNvSpPr>
          <p:nvPr/>
        </p:nvSpPr>
        <p:spPr bwMode="auto">
          <a:xfrm>
            <a:off x="447675" y="1731963"/>
            <a:ext cx="17081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a:t>电流分解：</a:t>
            </a:r>
          </a:p>
        </p:txBody>
      </p:sp>
      <p:graphicFrame>
        <p:nvGraphicFramePr>
          <p:cNvPr id="7175" name="Object 8">
            <a:extLst>
              <a:ext uri="{FF2B5EF4-FFF2-40B4-BE49-F238E27FC236}">
                <a16:creationId xmlns:a16="http://schemas.microsoft.com/office/drawing/2014/main" id="{8F6549EB-9631-04B9-8EA8-9C2C0C337E3B}"/>
              </a:ext>
            </a:extLst>
          </p:cNvPr>
          <p:cNvGraphicFramePr>
            <a:graphicFrameLocks noChangeAspect="1"/>
          </p:cNvGraphicFramePr>
          <p:nvPr/>
        </p:nvGraphicFramePr>
        <p:xfrm>
          <a:off x="827088" y="2276475"/>
          <a:ext cx="5616575" cy="912813"/>
        </p:xfrm>
        <a:graphic>
          <a:graphicData uri="http://schemas.openxmlformats.org/presentationml/2006/ole">
            <mc:AlternateContent xmlns:mc="http://schemas.openxmlformats.org/markup-compatibility/2006">
              <mc:Choice xmlns:v="urn:schemas-microsoft-com:vml" Requires="v">
                <p:oleObj name="Equation" r:id="rId4" imgW="2641600" imgH="431800" progId="Equation.DSMT4">
                  <p:embed/>
                </p:oleObj>
              </mc:Choice>
              <mc:Fallback>
                <p:oleObj name="Equation" r:id="rId4" imgW="2641600" imgH="431800" progId="Equation.DSMT4">
                  <p:embed/>
                  <p:pic>
                    <p:nvPicPr>
                      <p:cNvPr id="7175" name="Object 8">
                        <a:extLst>
                          <a:ext uri="{FF2B5EF4-FFF2-40B4-BE49-F238E27FC236}">
                            <a16:creationId xmlns:a16="http://schemas.microsoft.com/office/drawing/2014/main" id="{8F6549EB-9631-04B9-8EA8-9C2C0C337E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276475"/>
                        <a:ext cx="561657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6" name="Object 7">
            <a:extLst>
              <a:ext uri="{FF2B5EF4-FFF2-40B4-BE49-F238E27FC236}">
                <a16:creationId xmlns:a16="http://schemas.microsoft.com/office/drawing/2014/main" id="{8DEB96F4-3436-325F-94DA-9282A4E61281}"/>
              </a:ext>
            </a:extLst>
          </p:cNvPr>
          <p:cNvGraphicFramePr>
            <a:graphicFrameLocks noChangeAspect="1"/>
          </p:cNvGraphicFramePr>
          <p:nvPr/>
        </p:nvGraphicFramePr>
        <p:xfrm>
          <a:off x="827088" y="3068638"/>
          <a:ext cx="5184775" cy="830262"/>
        </p:xfrm>
        <a:graphic>
          <a:graphicData uri="http://schemas.openxmlformats.org/presentationml/2006/ole">
            <mc:AlternateContent xmlns:mc="http://schemas.openxmlformats.org/markup-compatibility/2006">
              <mc:Choice xmlns:v="urn:schemas-microsoft-com:vml" Requires="v">
                <p:oleObj name="Equation" r:id="rId6" imgW="2679700" imgH="431800" progId="Equation.DSMT4">
                  <p:embed/>
                </p:oleObj>
              </mc:Choice>
              <mc:Fallback>
                <p:oleObj name="Equation" r:id="rId6" imgW="2679700" imgH="431800" progId="Equation.DSMT4">
                  <p:embed/>
                  <p:pic>
                    <p:nvPicPr>
                      <p:cNvPr id="7176" name="Object 7">
                        <a:extLst>
                          <a:ext uri="{FF2B5EF4-FFF2-40B4-BE49-F238E27FC236}">
                            <a16:creationId xmlns:a16="http://schemas.microsoft.com/office/drawing/2014/main" id="{8DEB96F4-3436-325F-94DA-9282A4E612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3068638"/>
                        <a:ext cx="51847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7" name="Rectangle 9">
            <a:extLst>
              <a:ext uri="{FF2B5EF4-FFF2-40B4-BE49-F238E27FC236}">
                <a16:creationId xmlns:a16="http://schemas.microsoft.com/office/drawing/2014/main" id="{758833BF-E8CD-DED5-C3DD-0EA1E48D76A2}"/>
              </a:ext>
            </a:extLst>
          </p:cNvPr>
          <p:cNvSpPr>
            <a:spLocks noChangeArrowheads="1"/>
          </p:cNvSpPr>
          <p:nvPr/>
        </p:nvSpPr>
        <p:spPr bwMode="auto">
          <a:xfrm>
            <a:off x="0" y="30003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7178" name="Object 12">
            <a:extLst>
              <a:ext uri="{FF2B5EF4-FFF2-40B4-BE49-F238E27FC236}">
                <a16:creationId xmlns:a16="http://schemas.microsoft.com/office/drawing/2014/main" id="{6BB2712E-6601-2FC8-C46A-30922BBE9B6D}"/>
              </a:ext>
            </a:extLst>
          </p:cNvPr>
          <p:cNvGraphicFramePr>
            <a:graphicFrameLocks noChangeAspect="1"/>
          </p:cNvGraphicFramePr>
          <p:nvPr/>
        </p:nvGraphicFramePr>
        <p:xfrm>
          <a:off x="827088" y="3860800"/>
          <a:ext cx="5903912" cy="663575"/>
        </p:xfrm>
        <a:graphic>
          <a:graphicData uri="http://schemas.openxmlformats.org/presentationml/2006/ole">
            <mc:AlternateContent xmlns:mc="http://schemas.openxmlformats.org/markup-compatibility/2006">
              <mc:Choice xmlns:v="urn:schemas-microsoft-com:vml" Requires="v">
                <p:oleObj name="Equation" r:id="rId8" imgW="2717800" imgH="304800" progId="Equation.DSMT4">
                  <p:embed/>
                </p:oleObj>
              </mc:Choice>
              <mc:Fallback>
                <p:oleObj name="Equation" r:id="rId8" imgW="2717800" imgH="304800" progId="Equation.DSMT4">
                  <p:embed/>
                  <p:pic>
                    <p:nvPicPr>
                      <p:cNvPr id="7178" name="Object 12">
                        <a:extLst>
                          <a:ext uri="{FF2B5EF4-FFF2-40B4-BE49-F238E27FC236}">
                            <a16:creationId xmlns:a16="http://schemas.microsoft.com/office/drawing/2014/main" id="{6BB2712E-6601-2FC8-C46A-30922BBE9B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3860800"/>
                        <a:ext cx="5903912"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9" name="Object 11">
            <a:extLst>
              <a:ext uri="{FF2B5EF4-FFF2-40B4-BE49-F238E27FC236}">
                <a16:creationId xmlns:a16="http://schemas.microsoft.com/office/drawing/2014/main" id="{78A7EA37-48B4-4F91-2725-8236DA2EDB55}"/>
              </a:ext>
            </a:extLst>
          </p:cNvPr>
          <p:cNvGraphicFramePr>
            <a:graphicFrameLocks noChangeAspect="1"/>
          </p:cNvGraphicFramePr>
          <p:nvPr/>
        </p:nvGraphicFramePr>
        <p:xfrm>
          <a:off x="827088" y="4652963"/>
          <a:ext cx="2376487" cy="661987"/>
        </p:xfrm>
        <a:graphic>
          <a:graphicData uri="http://schemas.openxmlformats.org/presentationml/2006/ole">
            <mc:AlternateContent xmlns:mc="http://schemas.openxmlformats.org/markup-compatibility/2006">
              <mc:Choice xmlns:v="urn:schemas-microsoft-com:vml" Requires="v">
                <p:oleObj name="Equation" r:id="rId10" imgW="1091726" imgH="304668" progId="Equation.DSMT4">
                  <p:embed/>
                </p:oleObj>
              </mc:Choice>
              <mc:Fallback>
                <p:oleObj name="Equation" r:id="rId10" imgW="1091726" imgH="304668" progId="Equation.DSMT4">
                  <p:embed/>
                  <p:pic>
                    <p:nvPicPr>
                      <p:cNvPr id="7179" name="Object 11">
                        <a:extLst>
                          <a:ext uri="{FF2B5EF4-FFF2-40B4-BE49-F238E27FC236}">
                            <a16:creationId xmlns:a16="http://schemas.microsoft.com/office/drawing/2014/main" id="{78A7EA37-48B4-4F91-2725-8236DA2EDB5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4652963"/>
                        <a:ext cx="2376487"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0" name="Rectangle 13">
            <a:extLst>
              <a:ext uri="{FF2B5EF4-FFF2-40B4-BE49-F238E27FC236}">
                <a16:creationId xmlns:a16="http://schemas.microsoft.com/office/drawing/2014/main" id="{93852C02-7525-B354-7E5C-249CABE2BF3D}"/>
              </a:ext>
            </a:extLst>
          </p:cNvPr>
          <p:cNvSpPr>
            <a:spLocks noChangeArrowheads="1"/>
          </p:cNvSpPr>
          <p:nvPr/>
        </p:nvSpPr>
        <p:spPr bwMode="auto">
          <a:xfrm>
            <a:off x="0" y="3124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7181" name="Text Box 15">
            <a:extLst>
              <a:ext uri="{FF2B5EF4-FFF2-40B4-BE49-F238E27FC236}">
                <a16:creationId xmlns:a16="http://schemas.microsoft.com/office/drawing/2014/main" id="{A90D5574-1D1F-77F0-E14F-27FC0A59F964}"/>
              </a:ext>
            </a:extLst>
          </p:cNvPr>
          <p:cNvSpPr txBox="1">
            <a:spLocks noChangeArrowheads="1"/>
          </p:cNvSpPr>
          <p:nvPr/>
        </p:nvSpPr>
        <p:spPr bwMode="auto">
          <a:xfrm>
            <a:off x="663575" y="5405438"/>
            <a:ext cx="109855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a:t>电势：</a:t>
            </a:r>
          </a:p>
        </p:txBody>
      </p:sp>
      <p:sp>
        <p:nvSpPr>
          <p:cNvPr id="7182" name="Rectangle 17">
            <a:extLst>
              <a:ext uri="{FF2B5EF4-FFF2-40B4-BE49-F238E27FC236}">
                <a16:creationId xmlns:a16="http://schemas.microsoft.com/office/drawing/2014/main" id="{293B68FE-3754-C8B3-5709-68700C44EB5E}"/>
              </a:ext>
            </a:extLst>
          </p:cNvPr>
          <p:cNvSpPr>
            <a:spLocks noChangeArrowheads="1"/>
          </p:cNvSpPr>
          <p:nvPr/>
        </p:nvSpPr>
        <p:spPr bwMode="auto">
          <a:xfrm>
            <a:off x="0" y="3033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7183" name="Object 16">
            <a:extLst>
              <a:ext uri="{FF2B5EF4-FFF2-40B4-BE49-F238E27FC236}">
                <a16:creationId xmlns:a16="http://schemas.microsoft.com/office/drawing/2014/main" id="{C8BC5534-0B8E-FF16-95B9-7C93A2E4EC92}"/>
              </a:ext>
            </a:extLst>
          </p:cNvPr>
          <p:cNvGraphicFramePr>
            <a:graphicFrameLocks noChangeAspect="1"/>
          </p:cNvGraphicFramePr>
          <p:nvPr/>
        </p:nvGraphicFramePr>
        <p:xfrm>
          <a:off x="1547813" y="5237163"/>
          <a:ext cx="6264275" cy="1620837"/>
        </p:xfrm>
        <a:graphic>
          <a:graphicData uri="http://schemas.openxmlformats.org/presentationml/2006/ole">
            <mc:AlternateContent xmlns:mc="http://schemas.openxmlformats.org/markup-compatibility/2006">
              <mc:Choice xmlns:v="urn:schemas-microsoft-com:vml" Requires="v">
                <p:oleObj name="Equation" r:id="rId12" imgW="3060700" imgH="787400" progId="Equation.DSMT4">
                  <p:embed/>
                </p:oleObj>
              </mc:Choice>
              <mc:Fallback>
                <p:oleObj name="Equation" r:id="rId12" imgW="3060700" imgH="787400" progId="Equation.DSMT4">
                  <p:embed/>
                  <p:pic>
                    <p:nvPicPr>
                      <p:cNvPr id="7183" name="Object 16">
                        <a:extLst>
                          <a:ext uri="{FF2B5EF4-FFF2-40B4-BE49-F238E27FC236}">
                            <a16:creationId xmlns:a16="http://schemas.microsoft.com/office/drawing/2014/main" id="{C8BC5534-0B8E-FF16-95B9-7C93A2E4EC9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47813" y="5237163"/>
                        <a:ext cx="6264275"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4" name="Text Box 18">
            <a:extLst>
              <a:ext uri="{FF2B5EF4-FFF2-40B4-BE49-F238E27FC236}">
                <a16:creationId xmlns:a16="http://schemas.microsoft.com/office/drawing/2014/main" id="{252E55E9-E735-0A51-8643-3346D4FE84FC}"/>
              </a:ext>
            </a:extLst>
          </p:cNvPr>
          <p:cNvSpPr txBox="1">
            <a:spLocks noChangeArrowheads="1"/>
          </p:cNvSpPr>
          <p:nvPr/>
        </p:nvSpPr>
        <p:spPr bwMode="auto">
          <a:xfrm>
            <a:off x="6877050" y="4365625"/>
            <a:ext cx="200025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b="0"/>
              <a:t>即感应电势标幺值为</a:t>
            </a:r>
            <a:r>
              <a:rPr lang="en-US" altLang="zh-CN" sz="2400" b="0"/>
              <a:t>1.78</a:t>
            </a:r>
            <a:r>
              <a:rPr lang="zh-CN" altLang="en-US" sz="2400" b="0"/>
              <a:t>，位于交轴上。</a:t>
            </a:r>
          </a:p>
        </p:txBody>
      </p:sp>
      <p:pic>
        <p:nvPicPr>
          <p:cNvPr id="62486" name="Picture 22">
            <a:extLst>
              <a:ext uri="{FF2B5EF4-FFF2-40B4-BE49-F238E27FC236}">
                <a16:creationId xmlns:a16="http://schemas.microsoft.com/office/drawing/2014/main" id="{B252DEAE-71BD-F4D7-7DE4-D30901689E07}"/>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399954" y="327027"/>
            <a:ext cx="373538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62486"/>
                                        </p:tgtEl>
                                        <p:attrNameLst>
                                          <p:attrName>style.visibility</p:attrName>
                                        </p:attrNameLst>
                                      </p:cBhvr>
                                      <p:to>
                                        <p:strVal val="visible"/>
                                      </p:to>
                                    </p:set>
                                    <p:anim calcmode="lin" valueType="num">
                                      <p:cBhvr>
                                        <p:cTn id="7" dur="1000" fill="hold"/>
                                        <p:tgtEl>
                                          <p:spTgt spid="62486"/>
                                        </p:tgtEl>
                                        <p:attrNameLst>
                                          <p:attrName>ppt_w</p:attrName>
                                        </p:attrNameLst>
                                      </p:cBhvr>
                                      <p:tavLst>
                                        <p:tav tm="0">
                                          <p:val>
                                            <p:strVal val="#ppt_w*0.70"/>
                                          </p:val>
                                        </p:tav>
                                        <p:tav tm="100000">
                                          <p:val>
                                            <p:strVal val="#ppt_w"/>
                                          </p:val>
                                        </p:tav>
                                      </p:tavLst>
                                    </p:anim>
                                    <p:anim calcmode="lin" valueType="num">
                                      <p:cBhvr>
                                        <p:cTn id="8" dur="1000" fill="hold"/>
                                        <p:tgtEl>
                                          <p:spTgt spid="62486"/>
                                        </p:tgtEl>
                                        <p:attrNameLst>
                                          <p:attrName>ppt_h</p:attrName>
                                        </p:attrNameLst>
                                      </p:cBhvr>
                                      <p:tavLst>
                                        <p:tav tm="0">
                                          <p:val>
                                            <p:strVal val="#ppt_h"/>
                                          </p:val>
                                        </p:tav>
                                        <p:tav tm="100000">
                                          <p:val>
                                            <p:strVal val="#ppt_h"/>
                                          </p:val>
                                        </p:tav>
                                      </p:tavLst>
                                    </p:anim>
                                    <p:animEffect transition="in" filter="fade">
                                      <p:cBhvr>
                                        <p:cTn id="9" dur="1000"/>
                                        <p:tgtEl>
                                          <p:spTgt spid="62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F21E365-9B04-4F97-9978-4A57F7C001A3}"/>
              </a:ext>
            </a:extLst>
          </p:cNvPr>
          <p:cNvSpPr>
            <a:spLocks noGrp="1"/>
          </p:cNvSpPr>
          <p:nvPr>
            <p:ph type="sldNum" sz="quarter" idx="12"/>
          </p:nvPr>
        </p:nvSpPr>
        <p:spPr/>
        <p:txBody>
          <a:bodyPr/>
          <a:lstStyle/>
          <a:p>
            <a:pPr>
              <a:defRPr/>
            </a:pPr>
            <a:fld id="{EBACAC06-32A6-4075-98B8-2FF37158E8A8}" type="slidenum">
              <a:rPr lang="en-US" altLang="zh-CN"/>
              <a:pPr>
                <a:defRPr/>
              </a:pPr>
              <a:t>50</a:t>
            </a:fld>
            <a:endParaRPr lang="en-US" altLang="zh-CN"/>
          </a:p>
        </p:txBody>
      </p:sp>
      <p:sp>
        <p:nvSpPr>
          <p:cNvPr id="8195" name="Rectangle 4">
            <a:extLst>
              <a:ext uri="{FF2B5EF4-FFF2-40B4-BE49-F238E27FC236}">
                <a16:creationId xmlns:a16="http://schemas.microsoft.com/office/drawing/2014/main" id="{F2BBD9A4-ED00-82EF-5F58-E1B55D0D1A86}"/>
              </a:ext>
            </a:extLst>
          </p:cNvPr>
          <p:cNvSpPr>
            <a:spLocks noGrp="1" noChangeArrowheads="1"/>
          </p:cNvSpPr>
          <p:nvPr>
            <p:ph type="title"/>
          </p:nvPr>
        </p:nvSpPr>
        <p:spPr>
          <a:xfrm>
            <a:off x="4283968" y="473075"/>
            <a:ext cx="2157413" cy="733425"/>
          </a:xfrm>
          <a:noFill/>
        </p:spPr>
        <p:txBody>
          <a:bodyPr/>
          <a:lstStyle/>
          <a:p>
            <a:pPr eaLnBrk="1" hangingPunct="1"/>
            <a:r>
              <a:rPr lang="zh-CN" altLang="en-US" dirty="0"/>
              <a:t>讨论</a:t>
            </a:r>
          </a:p>
        </p:txBody>
      </p:sp>
      <p:sp>
        <p:nvSpPr>
          <p:cNvPr id="8196" name="Text Box 5">
            <a:extLst>
              <a:ext uri="{FF2B5EF4-FFF2-40B4-BE49-F238E27FC236}">
                <a16:creationId xmlns:a16="http://schemas.microsoft.com/office/drawing/2014/main" id="{14900FF6-B9AC-DD51-BC6C-B6720D257CD0}"/>
              </a:ext>
            </a:extLst>
          </p:cNvPr>
          <p:cNvSpPr txBox="1">
            <a:spLocks noChangeArrowheads="1"/>
          </p:cNvSpPr>
          <p:nvPr/>
        </p:nvSpPr>
        <p:spPr bwMode="auto">
          <a:xfrm>
            <a:off x="827088" y="1268413"/>
            <a:ext cx="7712075"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kumimoji="0" lang="en-US" altLang="zh-CN" sz="2400">
                <a:latin typeface="楷体_GB2312" pitchFamily="49" charset="-122"/>
                <a:ea typeface="楷体_GB2312" pitchFamily="49" charset="-122"/>
              </a:rPr>
              <a:t> </a:t>
            </a:r>
            <a:r>
              <a:rPr kumimoji="0" lang="zh-CN" altLang="en-US" sz="2800">
                <a:latin typeface="楷体_GB2312" pitchFamily="49" charset="-122"/>
                <a:ea typeface="楷体_GB2312" pitchFamily="49" charset="-122"/>
              </a:rPr>
              <a:t>电机带上负载后，电枢反应磁势的基波在气隙中使气隙磁通的大小及位置均发生变化</a:t>
            </a:r>
            <a:r>
              <a:rPr kumimoji="0" lang="en-US" altLang="zh-CN" sz="2800">
                <a:latin typeface="楷体_GB2312" pitchFamily="49" charset="-122"/>
                <a:ea typeface="楷体_GB2312" pitchFamily="49" charset="-122"/>
              </a:rPr>
              <a:t>, </a:t>
            </a:r>
            <a:r>
              <a:rPr kumimoji="0" lang="zh-CN" altLang="en-US" sz="2800">
                <a:latin typeface="楷体_GB2312" pitchFamily="49" charset="-122"/>
                <a:ea typeface="楷体_GB2312" pitchFamily="49" charset="-122"/>
              </a:rPr>
              <a:t>这种影响称为电枢反应</a:t>
            </a:r>
            <a:r>
              <a:rPr kumimoji="0" lang="en-US" altLang="zh-CN" sz="2800">
                <a:latin typeface="楷体_GB2312" pitchFamily="49" charset="-122"/>
                <a:ea typeface="楷体_GB2312" pitchFamily="49" charset="-122"/>
              </a:rPr>
              <a:t>.</a:t>
            </a:r>
            <a:endParaRPr lang="en-US" altLang="zh-CN" sz="2800" b="0"/>
          </a:p>
        </p:txBody>
      </p:sp>
      <p:sp>
        <p:nvSpPr>
          <p:cNvPr id="107526" name="Text Box 6">
            <a:extLst>
              <a:ext uri="{FF2B5EF4-FFF2-40B4-BE49-F238E27FC236}">
                <a16:creationId xmlns:a16="http://schemas.microsoft.com/office/drawing/2014/main" id="{FEE64E73-CA82-AC0E-2F1C-BF6FE3D264B7}"/>
              </a:ext>
            </a:extLst>
          </p:cNvPr>
          <p:cNvSpPr txBox="1">
            <a:spLocks noChangeArrowheads="1"/>
          </p:cNvSpPr>
          <p:nvPr/>
        </p:nvSpPr>
        <p:spPr bwMode="auto">
          <a:xfrm>
            <a:off x="838200" y="2636838"/>
            <a:ext cx="76200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0" lang="en-US" altLang="zh-CN" sz="2400" dirty="0">
                <a:latin typeface="楷体_GB2312" pitchFamily="49" charset="-122"/>
                <a:ea typeface="楷体_GB2312" pitchFamily="49" charset="-122"/>
              </a:rPr>
              <a:t> </a:t>
            </a:r>
            <a:r>
              <a:rPr kumimoji="0" lang="zh-CN" altLang="en-US" sz="2800" dirty="0">
                <a:latin typeface="楷体_GB2312" pitchFamily="49" charset="-122"/>
                <a:ea typeface="楷体_GB2312" pitchFamily="49" charset="-122"/>
              </a:rPr>
              <a:t>电枢反应的性质，取决于电枢反应磁势基波和励磁磁势基波之间的相对位置，即与空载电势</a:t>
            </a:r>
            <a:r>
              <a:rPr kumimoji="0" lang="en-US" altLang="zh-CN" sz="2800" dirty="0" err="1">
                <a:latin typeface="楷体_GB2312" pitchFamily="49" charset="-122"/>
                <a:ea typeface="楷体_GB2312" pitchFamily="49" charset="-122"/>
              </a:rPr>
              <a:t>E</a:t>
            </a:r>
            <a:r>
              <a:rPr kumimoji="0" lang="en-US" altLang="zh-CN" sz="2800" baseline="-25000" dirty="0" err="1">
                <a:latin typeface="楷体_GB2312" pitchFamily="49" charset="-122"/>
                <a:ea typeface="楷体_GB2312" pitchFamily="49" charset="-122"/>
              </a:rPr>
              <a:t>a</a:t>
            </a:r>
            <a:r>
              <a:rPr kumimoji="0" lang="zh-CN" altLang="en-US" sz="2800" dirty="0">
                <a:latin typeface="楷体_GB2312" pitchFamily="49" charset="-122"/>
                <a:ea typeface="楷体_GB2312" pitchFamily="49" charset="-122"/>
              </a:rPr>
              <a:t>和电枢电流</a:t>
            </a:r>
            <a:r>
              <a:rPr kumimoji="0" lang="en-US" altLang="zh-CN" sz="2800" dirty="0" err="1">
                <a:latin typeface="楷体_GB2312" pitchFamily="49" charset="-122"/>
                <a:ea typeface="楷体_GB2312" pitchFamily="49" charset="-122"/>
              </a:rPr>
              <a:t>I</a:t>
            </a:r>
            <a:r>
              <a:rPr kumimoji="0" lang="en-US" altLang="zh-CN" sz="2800" baseline="-25000" dirty="0" err="1">
                <a:latin typeface="楷体_GB2312" pitchFamily="49" charset="-122"/>
                <a:ea typeface="楷体_GB2312" pitchFamily="49" charset="-122"/>
              </a:rPr>
              <a:t>a</a:t>
            </a:r>
            <a:r>
              <a:rPr kumimoji="0" lang="zh-CN" altLang="en-US" sz="2800" dirty="0">
                <a:latin typeface="楷体_GB2312" pitchFamily="49" charset="-122"/>
                <a:ea typeface="楷体_GB2312" pitchFamily="49" charset="-122"/>
              </a:rPr>
              <a:t>之间的夹角</a:t>
            </a:r>
            <a:r>
              <a:rPr kumimoji="0" lang="en-US" altLang="zh-CN" sz="2800" dirty="0">
                <a:latin typeface="Symbol" panose="05050102010706020507" pitchFamily="18" charset="2"/>
                <a:ea typeface="楷体_GB2312" pitchFamily="49" charset="-122"/>
              </a:rPr>
              <a:t>y</a:t>
            </a:r>
            <a:r>
              <a:rPr kumimoji="0" lang="zh-CN" altLang="en-US" sz="2800" dirty="0">
                <a:latin typeface="楷体_GB2312" pitchFamily="49" charset="-122"/>
                <a:ea typeface="楷体_GB2312" pitchFamily="49" charset="-122"/>
              </a:rPr>
              <a:t>有关，综合了有功和无功的作用</a:t>
            </a:r>
            <a:r>
              <a:rPr kumimoji="0" lang="en-US" altLang="zh-CN" sz="2800" dirty="0">
                <a:latin typeface="楷体_GB2312" pitchFamily="49" charset="-122"/>
                <a:ea typeface="楷体_GB2312" pitchFamily="49" charset="-122"/>
              </a:rPr>
              <a:t>.</a:t>
            </a:r>
          </a:p>
          <a:p>
            <a:pPr eaLnBrk="1" hangingPunct="1">
              <a:spcBef>
                <a:spcPct val="50000"/>
              </a:spcBef>
              <a:buFont typeface="Wingdings" panose="05000000000000000000" pitchFamily="2" charset="2"/>
              <a:buChar char="Ø"/>
            </a:pPr>
            <a:endParaRPr lang="en-US" altLang="zh-CN" sz="2800" b="0" dirty="0"/>
          </a:p>
        </p:txBody>
      </p:sp>
      <p:sp>
        <p:nvSpPr>
          <p:cNvPr id="107527" name="Text Box 7">
            <a:extLst>
              <a:ext uri="{FF2B5EF4-FFF2-40B4-BE49-F238E27FC236}">
                <a16:creationId xmlns:a16="http://schemas.microsoft.com/office/drawing/2014/main" id="{5A96CB93-1878-48D0-A2C2-8A39DC9C92EF}"/>
              </a:ext>
            </a:extLst>
          </p:cNvPr>
          <p:cNvSpPr txBox="1">
            <a:spLocks noChangeArrowheads="1"/>
          </p:cNvSpPr>
          <p:nvPr/>
        </p:nvSpPr>
        <p:spPr bwMode="auto">
          <a:xfrm>
            <a:off x="792162" y="4583112"/>
            <a:ext cx="771207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kumimoji="0" lang="zh-CN" altLang="en-US" sz="2800" dirty="0">
                <a:latin typeface="楷体_GB2312" pitchFamily="49" charset="-122"/>
                <a:ea typeface="楷体_GB2312" pitchFamily="49" charset="-122"/>
              </a:rPr>
              <a:t>电枢反应磁势可分解为直轴和交轴两个分量。</a:t>
            </a:r>
            <a:r>
              <a:rPr kumimoji="0" lang="zh-CN" altLang="en-US" sz="2800" dirty="0">
                <a:latin typeface="Symbol" panose="05050102010706020507" pitchFamily="18" charset="2"/>
                <a:ea typeface="楷体_GB2312" pitchFamily="49" charset="-122"/>
              </a:rPr>
              <a:t>交轴分量对气隙磁场起扭曲作用；直轴分量起去磁或助磁作用。</a:t>
            </a:r>
            <a:r>
              <a:rPr kumimoji="0" lang="zh-CN" altLang="en-US" sz="2800" dirty="0">
                <a:solidFill>
                  <a:srgbClr val="000099"/>
                </a:solidFill>
                <a:latin typeface="Symbol" panose="05050102010706020507" pitchFamily="18" charset="2"/>
                <a:ea typeface="楷体_GB2312" pitchFamily="49" charset="-122"/>
              </a:rPr>
              <a:t>发电机</a:t>
            </a:r>
            <a:r>
              <a:rPr kumimoji="0" lang="zh-CN" altLang="en-US" sz="2800" dirty="0">
                <a:latin typeface="Symbol" panose="05050102010706020507" pitchFamily="18" charset="2"/>
                <a:ea typeface="楷体_GB2312" pitchFamily="49" charset="-122"/>
              </a:rPr>
              <a:t>带</a:t>
            </a:r>
            <a:r>
              <a:rPr kumimoji="0" lang="zh-CN" altLang="en-US" sz="2800" dirty="0">
                <a:solidFill>
                  <a:srgbClr val="FF0000"/>
                </a:solidFill>
                <a:latin typeface="Symbol" panose="05050102010706020507" pitchFamily="18" charset="2"/>
                <a:ea typeface="楷体_GB2312" pitchFamily="49" charset="-122"/>
              </a:rPr>
              <a:t>感性、阻感性负载</a:t>
            </a:r>
            <a:r>
              <a:rPr kumimoji="0" lang="zh-CN" altLang="en-US" sz="2800" dirty="0">
                <a:latin typeface="Symbol" panose="05050102010706020507" pitchFamily="18" charset="2"/>
                <a:ea typeface="楷体_GB2312" pitchFamily="49" charset="-122"/>
              </a:rPr>
              <a:t>时，</a:t>
            </a:r>
            <a:r>
              <a:rPr kumimoji="0" lang="zh-CN" altLang="en-US" sz="2800" dirty="0">
                <a:solidFill>
                  <a:srgbClr val="FF0000"/>
                </a:solidFill>
                <a:latin typeface="Symbol" panose="05050102010706020507" pitchFamily="18" charset="2"/>
                <a:ea typeface="楷体_GB2312" pitchFamily="49" charset="-122"/>
              </a:rPr>
              <a:t>直轴分量是去磁的</a:t>
            </a:r>
            <a:r>
              <a:rPr kumimoji="0" lang="zh-CN" altLang="en-US" sz="2800" dirty="0">
                <a:latin typeface="Symbol" panose="05050102010706020507" pitchFamily="18" charset="2"/>
                <a:ea typeface="楷体_GB2312" pitchFamily="49" charset="-122"/>
              </a:rPr>
              <a:t>，</a:t>
            </a:r>
            <a:r>
              <a:rPr kumimoji="0" lang="zh-CN" altLang="en-US" sz="2800" dirty="0">
                <a:solidFill>
                  <a:srgbClr val="000099"/>
                </a:solidFill>
                <a:latin typeface="Symbol" panose="05050102010706020507" pitchFamily="18" charset="2"/>
                <a:ea typeface="楷体_GB2312" pitchFamily="49" charset="-122"/>
              </a:rPr>
              <a:t>容性、组容性负载时</a:t>
            </a:r>
            <a:r>
              <a:rPr kumimoji="0" lang="zh-CN" altLang="en-US" sz="2800" dirty="0">
                <a:latin typeface="Symbol" panose="05050102010706020507" pitchFamily="18" charset="2"/>
                <a:ea typeface="楷体_GB2312" pitchFamily="49" charset="-122"/>
              </a:rPr>
              <a:t>，直轴分量是</a:t>
            </a:r>
            <a:r>
              <a:rPr kumimoji="0" lang="zh-CN" altLang="en-US" sz="2800" dirty="0">
                <a:solidFill>
                  <a:srgbClr val="000099"/>
                </a:solidFill>
                <a:latin typeface="Symbol" panose="05050102010706020507" pitchFamily="18" charset="2"/>
                <a:ea typeface="楷体_GB2312" pitchFamily="49" charset="-122"/>
              </a:rPr>
              <a:t>助磁</a:t>
            </a:r>
            <a:r>
              <a:rPr kumimoji="0" lang="zh-CN" altLang="en-US" sz="2800" dirty="0">
                <a:latin typeface="Symbol" panose="05050102010706020507" pitchFamily="18" charset="2"/>
                <a:ea typeface="楷体_GB2312" pitchFamily="49" charset="-122"/>
              </a:rPr>
              <a:t>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07526"/>
                                        </p:tgtEl>
                                        <p:attrNameLst>
                                          <p:attrName>style.visibility</p:attrName>
                                        </p:attrNameLst>
                                      </p:cBhvr>
                                      <p:to>
                                        <p:strVal val="visible"/>
                                      </p:to>
                                    </p:set>
                                    <p:animEffect transition="in" filter="diamond(in)">
                                      <p:cBhvr>
                                        <p:cTn id="7" dur="2000"/>
                                        <p:tgtEl>
                                          <p:spTgt spid="1075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107527"/>
                                        </p:tgtEl>
                                        <p:attrNameLst>
                                          <p:attrName>style.visibility</p:attrName>
                                        </p:attrNameLst>
                                      </p:cBhvr>
                                      <p:to>
                                        <p:strVal val="visible"/>
                                      </p:to>
                                    </p:set>
                                    <p:anim calcmode="lin" valueType="num">
                                      <p:cBhvr>
                                        <p:cTn id="12" dur="500" fill="hold"/>
                                        <p:tgtEl>
                                          <p:spTgt spid="107527"/>
                                        </p:tgtEl>
                                        <p:attrNameLst>
                                          <p:attrName>ppt_w</p:attrName>
                                        </p:attrNameLst>
                                      </p:cBhvr>
                                      <p:tavLst>
                                        <p:tav tm="0">
                                          <p:val>
                                            <p:fltVal val="0"/>
                                          </p:val>
                                        </p:tav>
                                        <p:tav tm="100000">
                                          <p:val>
                                            <p:strVal val="#ppt_w"/>
                                          </p:val>
                                        </p:tav>
                                      </p:tavLst>
                                    </p:anim>
                                    <p:anim calcmode="lin" valueType="num">
                                      <p:cBhvr>
                                        <p:cTn id="13" dur="500" fill="hold"/>
                                        <p:tgtEl>
                                          <p:spTgt spid="1075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6" grpId="0"/>
      <p:bldP spid="1075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DBF5B539-B783-A23A-6D8C-44EFE43A2C64}"/>
              </a:ext>
            </a:extLst>
          </p:cNvPr>
          <p:cNvSpPr>
            <a:spLocks noGrp="1"/>
          </p:cNvSpPr>
          <p:nvPr>
            <p:ph type="sldNum" sz="quarter" idx="12"/>
          </p:nvPr>
        </p:nvSpPr>
        <p:spPr/>
        <p:txBody>
          <a:bodyPr/>
          <a:lstStyle/>
          <a:p>
            <a:pPr>
              <a:defRPr/>
            </a:pPr>
            <a:fld id="{E2243775-ADBA-45CD-B293-9071D27BCC0A}" type="slidenum">
              <a:rPr lang="en-US" altLang="zh-CN"/>
              <a:pPr>
                <a:defRPr/>
              </a:pPr>
              <a:t>51</a:t>
            </a:fld>
            <a:endParaRPr lang="en-US" altLang="zh-CN"/>
          </a:p>
        </p:txBody>
      </p:sp>
      <p:pic>
        <p:nvPicPr>
          <p:cNvPr id="9219" name="Picture 4">
            <a:extLst>
              <a:ext uri="{FF2B5EF4-FFF2-40B4-BE49-F238E27FC236}">
                <a16:creationId xmlns:a16="http://schemas.microsoft.com/office/drawing/2014/main" id="{C1564E73-61CC-7AF4-B1DF-CC2EF83DAF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1916113"/>
            <a:ext cx="396240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5">
            <a:extLst>
              <a:ext uri="{FF2B5EF4-FFF2-40B4-BE49-F238E27FC236}">
                <a16:creationId xmlns:a16="http://schemas.microsoft.com/office/drawing/2014/main" id="{F48118C8-9B5B-0271-9E73-9561B9DE5AB5}"/>
              </a:ext>
            </a:extLst>
          </p:cNvPr>
          <p:cNvSpPr>
            <a:spLocks noGrp="1" noChangeArrowheads="1"/>
          </p:cNvSpPr>
          <p:nvPr>
            <p:ph type="title"/>
          </p:nvPr>
        </p:nvSpPr>
        <p:spPr>
          <a:xfrm>
            <a:off x="5635352" y="-187324"/>
            <a:ext cx="1835696" cy="1143000"/>
          </a:xfrm>
          <a:noFill/>
        </p:spPr>
        <p:txBody>
          <a:bodyPr/>
          <a:lstStyle/>
          <a:p>
            <a:pPr eaLnBrk="1" hangingPunct="1"/>
            <a:r>
              <a:rPr lang="zh-CN" altLang="en-US" dirty="0"/>
              <a:t>讨论</a:t>
            </a:r>
          </a:p>
        </p:txBody>
      </p:sp>
      <p:sp>
        <p:nvSpPr>
          <p:cNvPr id="9221" name="Rectangle 6">
            <a:extLst>
              <a:ext uri="{FF2B5EF4-FFF2-40B4-BE49-F238E27FC236}">
                <a16:creationId xmlns:a16="http://schemas.microsoft.com/office/drawing/2014/main" id="{C937EA92-DFDE-AF8A-004B-B05BEF57D63B}"/>
              </a:ext>
            </a:extLst>
          </p:cNvPr>
          <p:cNvSpPr>
            <a:spLocks noGrp="1" noChangeArrowheads="1"/>
          </p:cNvSpPr>
          <p:nvPr>
            <p:ph type="body" idx="1"/>
          </p:nvPr>
        </p:nvSpPr>
        <p:spPr>
          <a:xfrm>
            <a:off x="0" y="915988"/>
            <a:ext cx="8964488" cy="1676400"/>
          </a:xfrm>
          <a:noFill/>
        </p:spPr>
        <p:txBody>
          <a:bodyPr/>
          <a:lstStyle/>
          <a:p>
            <a:pPr eaLnBrk="1" hangingPunct="1">
              <a:lnSpc>
                <a:spcPct val="90000"/>
              </a:lnSpc>
              <a:buFont typeface="Wingdings" panose="05000000000000000000" pitchFamily="2" charset="2"/>
              <a:buChar char="Ø"/>
            </a:pPr>
            <a:r>
              <a:rPr kumimoji="0" lang="zh-CN" altLang="en-US" sz="2800" b="1" dirty="0"/>
              <a:t>电枢反应是同步电机在负载运行时的重要物理现象，它不仅是引起端电压变化的主要原因，而且也是电机实现机</a:t>
            </a:r>
            <a:r>
              <a:rPr kumimoji="0" lang="en-US" altLang="zh-CN" sz="2800" b="1" dirty="0"/>
              <a:t>---</a:t>
            </a:r>
            <a:r>
              <a:rPr kumimoji="0" lang="zh-CN" altLang="en-US" sz="2800" b="1" dirty="0"/>
              <a:t>电能量转换的枢纽。</a:t>
            </a:r>
          </a:p>
        </p:txBody>
      </p:sp>
      <p:graphicFrame>
        <p:nvGraphicFramePr>
          <p:cNvPr id="108551" name="Object 7">
            <a:extLst>
              <a:ext uri="{FF2B5EF4-FFF2-40B4-BE49-F238E27FC236}">
                <a16:creationId xmlns:a16="http://schemas.microsoft.com/office/drawing/2014/main" id="{A14D4452-5D7F-CEF3-D397-AD83E333975B}"/>
              </a:ext>
            </a:extLst>
          </p:cNvPr>
          <p:cNvGraphicFramePr>
            <a:graphicFrameLocks noChangeAspect="1"/>
          </p:cNvGraphicFramePr>
          <p:nvPr>
            <p:extLst>
              <p:ext uri="{D42A27DB-BD31-4B8C-83A1-F6EECF244321}">
                <p14:modId xmlns:p14="http://schemas.microsoft.com/office/powerpoint/2010/main" val="1660893193"/>
              </p:ext>
            </p:extLst>
          </p:nvPr>
        </p:nvGraphicFramePr>
        <p:xfrm>
          <a:off x="71438" y="2168525"/>
          <a:ext cx="5038725" cy="1755775"/>
        </p:xfrm>
        <a:graphic>
          <a:graphicData uri="http://schemas.openxmlformats.org/presentationml/2006/ole">
            <mc:AlternateContent xmlns:mc="http://schemas.openxmlformats.org/markup-compatibility/2006">
              <mc:Choice xmlns:v="urn:schemas-microsoft-com:vml" Requires="v">
                <p:oleObj name="Equation" r:id="rId3" imgW="2476500" imgH="901700" progId="Equation.DSMT4">
                  <p:embed/>
                </p:oleObj>
              </mc:Choice>
              <mc:Fallback>
                <p:oleObj name="Equation" r:id="rId3" imgW="2476500" imgH="901700" progId="Equation.DSMT4">
                  <p:embed/>
                  <p:pic>
                    <p:nvPicPr>
                      <p:cNvPr id="108551" name="Object 7">
                        <a:extLst>
                          <a:ext uri="{FF2B5EF4-FFF2-40B4-BE49-F238E27FC236}">
                            <a16:creationId xmlns:a16="http://schemas.microsoft.com/office/drawing/2014/main" id="{A14D4452-5D7F-CEF3-D397-AD83E33397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168525"/>
                        <a:ext cx="5038725" cy="17557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3" name="Text Box 9">
            <a:extLst>
              <a:ext uri="{FF2B5EF4-FFF2-40B4-BE49-F238E27FC236}">
                <a16:creationId xmlns:a16="http://schemas.microsoft.com/office/drawing/2014/main" id="{C90BB762-FAB5-046D-D694-9AE21A390EFB}"/>
              </a:ext>
            </a:extLst>
          </p:cNvPr>
          <p:cNvSpPr txBox="1">
            <a:spLocks noChangeArrowheads="1"/>
          </p:cNvSpPr>
          <p:nvPr/>
        </p:nvSpPr>
        <p:spPr bwMode="auto">
          <a:xfrm>
            <a:off x="609600" y="5181600"/>
            <a:ext cx="79406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0" lang="en-US" altLang="zh-CN" sz="2800">
                <a:latin typeface="楷体_GB2312" pitchFamily="49" charset="-122"/>
                <a:ea typeface="楷体_GB2312" pitchFamily="49" charset="-122"/>
              </a:rPr>
              <a:t> </a:t>
            </a:r>
            <a:r>
              <a:rPr kumimoji="0" lang="zh-CN" altLang="en-US" sz="2800">
                <a:latin typeface="楷体_GB2312" pitchFamily="49" charset="-122"/>
                <a:ea typeface="楷体_GB2312" pitchFamily="49" charset="-122"/>
              </a:rPr>
              <a:t>输出的有功功率越大，有功分量电流就越大，交轴电枢反应越强，</a:t>
            </a:r>
            <a:r>
              <a:rPr kumimoji="0" lang="en-US" altLang="zh-CN" sz="2800">
                <a:latin typeface="楷体_GB2312" pitchFamily="49" charset="-122"/>
                <a:ea typeface="楷体_GB2312" pitchFamily="49" charset="-122"/>
              </a:rPr>
              <a:t>T</a:t>
            </a:r>
            <a:r>
              <a:rPr kumimoji="0" lang="en-US" altLang="zh-CN" sz="2800" b="0" i="1" baseline="-25000">
                <a:latin typeface="楷体_GB2312" pitchFamily="49" charset="-122"/>
                <a:ea typeface="楷体_GB2312" pitchFamily="49" charset="-122"/>
              </a:rPr>
              <a:t>em </a:t>
            </a:r>
            <a:r>
              <a:rPr kumimoji="0" lang="zh-CN" altLang="en-US" sz="2800">
                <a:latin typeface="楷体_GB2312" pitchFamily="49" charset="-122"/>
                <a:ea typeface="楷体_GB2312" pitchFamily="49" charset="-122"/>
              </a:rPr>
              <a:t>越大，这就要求原动机输入更大的驱动转矩，维持电机的转速不变。</a:t>
            </a:r>
            <a:endParaRPr lang="zh-CN" altLang="en-US" sz="2800" b="0"/>
          </a:p>
        </p:txBody>
      </p:sp>
      <p:grpSp>
        <p:nvGrpSpPr>
          <p:cNvPr id="108555" name="Group 11">
            <a:extLst>
              <a:ext uri="{FF2B5EF4-FFF2-40B4-BE49-F238E27FC236}">
                <a16:creationId xmlns:a16="http://schemas.microsoft.com/office/drawing/2014/main" id="{3E742DC0-4413-7AE7-A55E-2EA970E91C62}"/>
              </a:ext>
            </a:extLst>
          </p:cNvPr>
          <p:cNvGrpSpPr>
            <a:grpSpLocks/>
          </p:cNvGrpSpPr>
          <p:nvPr/>
        </p:nvGrpSpPr>
        <p:grpSpPr bwMode="auto">
          <a:xfrm>
            <a:off x="381000" y="3962400"/>
            <a:ext cx="7239000" cy="1143000"/>
            <a:chOff x="240" y="2496"/>
            <a:chExt cx="4560" cy="720"/>
          </a:xfrm>
        </p:grpSpPr>
        <p:graphicFrame>
          <p:nvGraphicFramePr>
            <p:cNvPr id="9225" name="Object 8">
              <a:extLst>
                <a:ext uri="{FF2B5EF4-FFF2-40B4-BE49-F238E27FC236}">
                  <a16:creationId xmlns:a16="http://schemas.microsoft.com/office/drawing/2014/main" id="{996BA32C-6929-1990-CBA1-68D3DD0215CB}"/>
                </a:ext>
              </a:extLst>
            </p:cNvPr>
            <p:cNvGraphicFramePr>
              <a:graphicFrameLocks noChangeAspect="1"/>
            </p:cNvGraphicFramePr>
            <p:nvPr/>
          </p:nvGraphicFramePr>
          <p:xfrm>
            <a:off x="309" y="2544"/>
            <a:ext cx="4470" cy="617"/>
          </p:xfrm>
          <a:graphic>
            <a:graphicData uri="http://schemas.openxmlformats.org/presentationml/2006/ole">
              <mc:AlternateContent xmlns:mc="http://schemas.openxmlformats.org/markup-compatibility/2006">
                <mc:Choice xmlns:v="urn:schemas-microsoft-com:vml" Requires="v">
                  <p:oleObj name="Equation" r:id="rId5" imgW="3175000" imgH="457200" progId="Equation.DSMT4">
                    <p:embed/>
                  </p:oleObj>
                </mc:Choice>
                <mc:Fallback>
                  <p:oleObj name="Equation" r:id="rId5" imgW="3175000" imgH="457200" progId="Equation.DSMT4">
                    <p:embed/>
                    <p:pic>
                      <p:nvPicPr>
                        <p:cNvPr id="9225" name="Object 8">
                          <a:extLst>
                            <a:ext uri="{FF2B5EF4-FFF2-40B4-BE49-F238E27FC236}">
                              <a16:creationId xmlns:a16="http://schemas.microsoft.com/office/drawing/2014/main" id="{996BA32C-6929-1990-CBA1-68D3DD0215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 y="2544"/>
                          <a:ext cx="4470" cy="617"/>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 name="AutoShape 10">
              <a:extLst>
                <a:ext uri="{FF2B5EF4-FFF2-40B4-BE49-F238E27FC236}">
                  <a16:creationId xmlns:a16="http://schemas.microsoft.com/office/drawing/2014/main" id="{8BBF51C9-0201-CB42-CDB5-4AFC2E3B20AC}"/>
                </a:ext>
              </a:extLst>
            </p:cNvPr>
            <p:cNvSpPr>
              <a:spLocks noChangeArrowheads="1"/>
            </p:cNvSpPr>
            <p:nvPr/>
          </p:nvSpPr>
          <p:spPr bwMode="auto">
            <a:xfrm>
              <a:off x="240" y="2496"/>
              <a:ext cx="4560" cy="720"/>
            </a:xfrm>
            <a:prstGeom prst="wedgeRectCallout">
              <a:avLst>
                <a:gd name="adj1" fmla="val 47125"/>
                <a:gd name="adj2" fmla="val -105556"/>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endParaRPr lang="zh-CN" altLang="zh-CN" sz="2400" b="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85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10" fill="hold" nodeType="clickEffect">
                                  <p:stCondLst>
                                    <p:cond delay="0"/>
                                  </p:stCondLst>
                                  <p:childTnLst>
                                    <p:set>
                                      <p:cBhvr>
                                        <p:cTn id="10" dur="1" fill="hold">
                                          <p:stCondLst>
                                            <p:cond delay="0"/>
                                          </p:stCondLst>
                                        </p:cTn>
                                        <p:tgtEl>
                                          <p:spTgt spid="108555"/>
                                        </p:tgtEl>
                                        <p:attrNameLst>
                                          <p:attrName>style.visibility</p:attrName>
                                        </p:attrNameLst>
                                      </p:cBhvr>
                                      <p:to>
                                        <p:strVal val="visible"/>
                                      </p:to>
                                    </p:set>
                                    <p:anim calcmode="lin" valueType="num">
                                      <p:cBhvr>
                                        <p:cTn id="11" dur="500" fill="hold"/>
                                        <p:tgtEl>
                                          <p:spTgt spid="108555"/>
                                        </p:tgtEl>
                                        <p:attrNameLst>
                                          <p:attrName>ppt_w</p:attrName>
                                        </p:attrNameLst>
                                      </p:cBhvr>
                                      <p:tavLst>
                                        <p:tav tm="0">
                                          <p:val>
                                            <p:fltVal val="0"/>
                                          </p:val>
                                        </p:tav>
                                        <p:tav tm="100000">
                                          <p:val>
                                            <p:strVal val="#ppt_w"/>
                                          </p:val>
                                        </p:tav>
                                      </p:tavLst>
                                    </p:anim>
                                    <p:anim calcmode="lin" valueType="num">
                                      <p:cBhvr>
                                        <p:cTn id="12" dur="500" fill="hold"/>
                                        <p:tgtEl>
                                          <p:spTgt spid="108555"/>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8553"/>
                                        </p:tgtEl>
                                        <p:attrNameLst>
                                          <p:attrName>style.visibility</p:attrName>
                                        </p:attrNameLst>
                                      </p:cBhvr>
                                      <p:to>
                                        <p:strVal val="visible"/>
                                      </p:to>
                                    </p:set>
                                    <p:animEffect transition="in" filter="blinds(horizontal)">
                                      <p:cBhvr>
                                        <p:cTn id="17" dur="500"/>
                                        <p:tgtEl>
                                          <p:spTgt spid="108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24FD767-D01D-DC97-7C30-F65F16A29FC5}"/>
              </a:ext>
            </a:extLst>
          </p:cNvPr>
          <p:cNvSpPr>
            <a:spLocks noGrp="1"/>
          </p:cNvSpPr>
          <p:nvPr>
            <p:ph type="sldNum" sz="quarter" idx="12"/>
          </p:nvPr>
        </p:nvSpPr>
        <p:spPr/>
        <p:txBody>
          <a:bodyPr/>
          <a:lstStyle/>
          <a:p>
            <a:pPr>
              <a:defRPr/>
            </a:pPr>
            <a:fld id="{3DFCE65C-5273-40A7-AA55-0DE78BF63D62}" type="slidenum">
              <a:rPr lang="en-US" altLang="zh-CN"/>
              <a:pPr>
                <a:defRPr/>
              </a:pPr>
              <a:t>52</a:t>
            </a:fld>
            <a:endParaRPr lang="en-US" altLang="zh-CN"/>
          </a:p>
        </p:txBody>
      </p:sp>
      <p:sp>
        <p:nvSpPr>
          <p:cNvPr id="10243" name="Rectangle 4">
            <a:extLst>
              <a:ext uri="{FF2B5EF4-FFF2-40B4-BE49-F238E27FC236}">
                <a16:creationId xmlns:a16="http://schemas.microsoft.com/office/drawing/2014/main" id="{1BEAF96B-D8E8-9F3A-C587-CEDDCB671AF4}"/>
              </a:ext>
            </a:extLst>
          </p:cNvPr>
          <p:cNvSpPr>
            <a:spLocks noGrp="1" noChangeArrowheads="1"/>
          </p:cNvSpPr>
          <p:nvPr>
            <p:ph type="title"/>
          </p:nvPr>
        </p:nvSpPr>
        <p:spPr>
          <a:xfrm>
            <a:off x="7467600" y="304800"/>
            <a:ext cx="1371600" cy="838200"/>
          </a:xfrm>
          <a:noFill/>
        </p:spPr>
        <p:txBody>
          <a:bodyPr/>
          <a:lstStyle/>
          <a:p>
            <a:pPr eaLnBrk="1" hangingPunct="1"/>
            <a:r>
              <a:rPr lang="zh-CN" altLang="en-US"/>
              <a:t>讨论</a:t>
            </a:r>
          </a:p>
        </p:txBody>
      </p:sp>
      <p:sp>
        <p:nvSpPr>
          <p:cNvPr id="109573" name="Rectangle 5">
            <a:extLst>
              <a:ext uri="{FF2B5EF4-FFF2-40B4-BE49-F238E27FC236}">
                <a16:creationId xmlns:a16="http://schemas.microsoft.com/office/drawing/2014/main" id="{76DB6A56-6222-8485-8888-AC76F5888B03}"/>
              </a:ext>
            </a:extLst>
          </p:cNvPr>
          <p:cNvSpPr>
            <a:spLocks noGrp="1" noChangeArrowheads="1"/>
          </p:cNvSpPr>
          <p:nvPr>
            <p:ph type="body" idx="1"/>
          </p:nvPr>
        </p:nvSpPr>
        <p:spPr>
          <a:xfrm>
            <a:off x="640396" y="2481262"/>
            <a:ext cx="4572000" cy="1219200"/>
          </a:xfrm>
          <a:noFill/>
        </p:spPr>
        <p:txBody>
          <a:bodyPr/>
          <a:lstStyle/>
          <a:p>
            <a:pPr eaLnBrk="1" hangingPunct="1">
              <a:spcBef>
                <a:spcPct val="50000"/>
              </a:spcBef>
              <a:buFontTx/>
              <a:buNone/>
            </a:pPr>
            <a:r>
              <a:rPr kumimoji="0" lang="zh-CN" altLang="en-US" sz="2400" b="1">
                <a:latin typeface="楷体_GB2312" pitchFamily="49" charset="-122"/>
                <a:ea typeface="楷体_GB2312" pitchFamily="49" charset="-122"/>
              </a:rPr>
              <a:t>直轴电枢反应磁场与励磁电流共同作用</a:t>
            </a:r>
            <a:r>
              <a:rPr kumimoji="0" lang="en-US" altLang="zh-CN" sz="2400" b="1">
                <a:latin typeface="楷体_GB2312" pitchFamily="49" charset="-122"/>
                <a:ea typeface="楷体_GB2312" pitchFamily="49" charset="-122"/>
              </a:rPr>
              <a:t>,</a:t>
            </a:r>
            <a:r>
              <a:rPr kumimoji="0" lang="zh-CN" altLang="en-US" sz="2400" b="1">
                <a:latin typeface="楷体_GB2312" pitchFamily="49" charset="-122"/>
                <a:ea typeface="楷体_GB2312" pitchFamily="49" charset="-122"/>
              </a:rPr>
              <a:t>在励磁绕组上产生电磁力</a:t>
            </a:r>
            <a:r>
              <a:rPr kumimoji="0" lang="en-US" altLang="zh-CN" sz="2400" b="1">
                <a:latin typeface="楷体_GB2312" pitchFamily="49" charset="-122"/>
                <a:ea typeface="楷体_GB2312" pitchFamily="49" charset="-122"/>
              </a:rPr>
              <a:t>,</a:t>
            </a:r>
            <a:r>
              <a:rPr kumimoji="0" lang="zh-CN" altLang="en-US" sz="2400" b="1">
                <a:latin typeface="楷体_GB2312" pitchFamily="49" charset="-122"/>
                <a:ea typeface="楷体_GB2312" pitchFamily="49" charset="-122"/>
              </a:rPr>
              <a:t>但不能形成电磁转矩</a:t>
            </a:r>
            <a:r>
              <a:rPr kumimoji="0" lang="en-US" altLang="zh-CN" sz="2400" b="1">
                <a:latin typeface="楷体_GB2312" pitchFamily="49" charset="-122"/>
                <a:ea typeface="楷体_GB2312" pitchFamily="49" charset="-122"/>
              </a:rPr>
              <a:t>.</a:t>
            </a:r>
          </a:p>
          <a:p>
            <a:pPr eaLnBrk="1" hangingPunct="1"/>
            <a:endParaRPr lang="en-US" altLang="zh-CN" sz="2400">
              <a:latin typeface="楷体_GB2312" pitchFamily="49" charset="-122"/>
              <a:ea typeface="楷体_GB2312" pitchFamily="49" charset="-122"/>
            </a:endParaRPr>
          </a:p>
        </p:txBody>
      </p:sp>
      <p:graphicFrame>
        <p:nvGraphicFramePr>
          <p:cNvPr id="109574" name="Object 6">
            <a:extLst>
              <a:ext uri="{FF2B5EF4-FFF2-40B4-BE49-F238E27FC236}">
                <a16:creationId xmlns:a16="http://schemas.microsoft.com/office/drawing/2014/main" id="{F5721548-43FE-1698-41DA-C2A5641D2119}"/>
              </a:ext>
            </a:extLst>
          </p:cNvPr>
          <p:cNvGraphicFramePr>
            <a:graphicFrameLocks noChangeAspect="1"/>
          </p:cNvGraphicFramePr>
          <p:nvPr>
            <p:extLst>
              <p:ext uri="{D42A27DB-BD31-4B8C-83A1-F6EECF244321}">
                <p14:modId xmlns:p14="http://schemas.microsoft.com/office/powerpoint/2010/main" val="1962986492"/>
              </p:ext>
            </p:extLst>
          </p:nvPr>
        </p:nvGraphicFramePr>
        <p:xfrm>
          <a:off x="589596" y="957262"/>
          <a:ext cx="5316538" cy="1366838"/>
        </p:xfrm>
        <a:graphic>
          <a:graphicData uri="http://schemas.openxmlformats.org/presentationml/2006/ole">
            <mc:AlternateContent xmlns:mc="http://schemas.openxmlformats.org/markup-compatibility/2006">
              <mc:Choice xmlns:v="urn:schemas-microsoft-com:vml" Requires="v">
                <p:oleObj name="Equation" r:id="rId2" imgW="2679700" imgH="711200" progId="Equation.DSMT4">
                  <p:embed/>
                </p:oleObj>
              </mc:Choice>
              <mc:Fallback>
                <p:oleObj name="Equation" r:id="rId2" imgW="2679700" imgH="711200" progId="Equation.DSMT4">
                  <p:embed/>
                  <p:pic>
                    <p:nvPicPr>
                      <p:cNvPr id="109574" name="Object 6">
                        <a:extLst>
                          <a:ext uri="{FF2B5EF4-FFF2-40B4-BE49-F238E27FC236}">
                            <a16:creationId xmlns:a16="http://schemas.microsoft.com/office/drawing/2014/main" id="{F5721548-43FE-1698-41DA-C2A5641D2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96" y="957262"/>
                        <a:ext cx="5316538" cy="1366838"/>
                      </a:xfrm>
                      <a:prstGeom prst="rect">
                        <a:avLst/>
                      </a:prstGeom>
                      <a:solidFill>
                        <a:srgbClr val="00FF00"/>
                      </a:solidFill>
                      <a:ln w="38100" cap="rnd">
                        <a:solidFill>
                          <a:srgbClr val="3333FF"/>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246" name="Picture 8">
            <a:extLst>
              <a:ext uri="{FF2B5EF4-FFF2-40B4-BE49-F238E27FC236}">
                <a16:creationId xmlns:a16="http://schemas.microsoft.com/office/drawing/2014/main" id="{864BF3C7-C59F-B5D1-F27E-0FB1DF3289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4600" y="1295400"/>
            <a:ext cx="2306638" cy="231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7" name="Picture 9">
            <a:extLst>
              <a:ext uri="{FF2B5EF4-FFF2-40B4-BE49-F238E27FC236}">
                <a16:creationId xmlns:a16="http://schemas.microsoft.com/office/drawing/2014/main" id="{7575E0B3-EC91-05A0-A0B8-CDA472C7C5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99300" y="356552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8" name="Picture 11">
            <a:extLst>
              <a:ext uri="{FF2B5EF4-FFF2-40B4-BE49-F238E27FC236}">
                <a16:creationId xmlns:a16="http://schemas.microsoft.com/office/drawing/2014/main" id="{083FAC2C-5F59-5CF5-DB3A-A6AADBF5B7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4600" y="3886200"/>
            <a:ext cx="2357438"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9" name="Picture 12">
            <a:extLst>
              <a:ext uri="{FF2B5EF4-FFF2-40B4-BE49-F238E27FC236}">
                <a16:creationId xmlns:a16="http://schemas.microsoft.com/office/drawing/2014/main" id="{3AD9CCFF-A066-BE9F-2757-24286241E67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78663" y="6172200"/>
            <a:ext cx="9429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581" name="Text Box 13">
            <a:extLst>
              <a:ext uri="{FF2B5EF4-FFF2-40B4-BE49-F238E27FC236}">
                <a16:creationId xmlns:a16="http://schemas.microsoft.com/office/drawing/2014/main" id="{77A7BA34-1482-53BC-124F-1201711A8D07}"/>
              </a:ext>
            </a:extLst>
          </p:cNvPr>
          <p:cNvSpPr txBox="1">
            <a:spLocks noChangeArrowheads="1"/>
          </p:cNvSpPr>
          <p:nvPr/>
        </p:nvSpPr>
        <p:spPr bwMode="auto">
          <a:xfrm>
            <a:off x="548321" y="3905250"/>
            <a:ext cx="54260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说明发电机带感性</a:t>
            </a:r>
            <a:r>
              <a:rPr kumimoji="0" lang="en-US" altLang="zh-CN" sz="2400">
                <a:latin typeface="楷体_GB2312" pitchFamily="49" charset="-122"/>
                <a:ea typeface="楷体_GB2312" pitchFamily="49" charset="-122"/>
              </a:rPr>
              <a:t>(</a:t>
            </a:r>
            <a:r>
              <a:rPr kumimoji="0" lang="zh-CN" altLang="en-US" sz="2400">
                <a:latin typeface="楷体_GB2312" pitchFamily="49" charset="-122"/>
                <a:ea typeface="楷体_GB2312" pitchFamily="49" charset="-122"/>
              </a:rPr>
              <a:t>或容性</a:t>
            </a:r>
            <a:r>
              <a:rPr kumimoji="0" lang="en-US" altLang="zh-CN" sz="2400">
                <a:latin typeface="楷体_GB2312" pitchFamily="49" charset="-122"/>
                <a:ea typeface="楷体_GB2312" pitchFamily="49" charset="-122"/>
              </a:rPr>
              <a:t>)</a:t>
            </a:r>
            <a:r>
              <a:rPr kumimoji="0" lang="zh-CN" altLang="en-US" sz="2400">
                <a:latin typeface="楷体_GB2312" pitchFamily="49" charset="-122"/>
                <a:ea typeface="楷体_GB2312" pitchFamily="49" charset="-122"/>
              </a:rPr>
              <a:t>无功负载时</a:t>
            </a:r>
            <a:r>
              <a:rPr kumimoji="0" lang="en-US" altLang="zh-CN" sz="2400">
                <a:latin typeface="楷体_GB2312" pitchFamily="49" charset="-122"/>
                <a:ea typeface="楷体_GB2312" pitchFamily="49" charset="-122"/>
              </a:rPr>
              <a:t>,</a:t>
            </a:r>
            <a:r>
              <a:rPr kumimoji="0" lang="zh-CN" altLang="en-US" sz="2400">
                <a:latin typeface="楷体_GB2312" pitchFamily="49" charset="-122"/>
                <a:ea typeface="楷体_GB2312" pitchFamily="49" charset="-122"/>
              </a:rPr>
              <a:t>不需要原动机增加能量</a:t>
            </a:r>
          </a:p>
        </p:txBody>
      </p:sp>
      <p:sp>
        <p:nvSpPr>
          <p:cNvPr id="109582" name="Text Box 14">
            <a:extLst>
              <a:ext uri="{FF2B5EF4-FFF2-40B4-BE49-F238E27FC236}">
                <a16:creationId xmlns:a16="http://schemas.microsoft.com/office/drawing/2014/main" id="{466F6842-1F4A-459D-23CE-4E9F9BC549A8}"/>
              </a:ext>
            </a:extLst>
          </p:cNvPr>
          <p:cNvSpPr txBox="1">
            <a:spLocks noChangeArrowheads="1"/>
          </p:cNvSpPr>
          <p:nvPr/>
        </p:nvSpPr>
        <p:spPr bwMode="auto">
          <a:xfrm>
            <a:off x="624521" y="4940300"/>
            <a:ext cx="54260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a:latin typeface="Arial" panose="020B0604020202020204" pitchFamily="34" charset="0"/>
                <a:ea typeface="楷体_GB2312" pitchFamily="49" charset="-122"/>
              </a:rPr>
              <a:t>但是直轴去磁（或助磁）电枢反应对气隙磁场有去磁（或助磁）作用，致使电压下降（或上升）。为维持电压恒定所需的励磁电流也需要相应增加（或减小）。</a:t>
            </a:r>
            <a:endParaRPr lang="zh-CN" altLang="en-US" sz="2400"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95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09573">
                                            <p:txEl>
                                              <p:pRg st="0" end="0"/>
                                            </p:txEl>
                                          </p:spTgt>
                                        </p:tgtEl>
                                        <p:attrNameLst>
                                          <p:attrName>style.visibility</p:attrName>
                                        </p:attrNameLst>
                                      </p:cBhvr>
                                      <p:to>
                                        <p:strVal val="visible"/>
                                      </p:to>
                                    </p:set>
                                    <p:animEffect transition="in" filter="blinds(horizontal)">
                                      <p:cBhvr>
                                        <p:cTn id="11" dur="500"/>
                                        <p:tgtEl>
                                          <p:spTgt spid="10957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109581"/>
                                        </p:tgtEl>
                                        <p:attrNameLst>
                                          <p:attrName>style.visibility</p:attrName>
                                        </p:attrNameLst>
                                      </p:cBhvr>
                                      <p:to>
                                        <p:strVal val="visible"/>
                                      </p:to>
                                    </p:set>
                                    <p:animEffect transition="in" filter="blinds(horizontal)">
                                      <p:cBhvr>
                                        <p:cTn id="16" dur="500"/>
                                        <p:tgtEl>
                                          <p:spTgt spid="10958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09582"/>
                                        </p:tgtEl>
                                        <p:attrNameLst>
                                          <p:attrName>style.visibility</p:attrName>
                                        </p:attrNameLst>
                                      </p:cBhvr>
                                      <p:to>
                                        <p:strVal val="visible"/>
                                      </p:to>
                                    </p:set>
                                    <p:animEffect transition="in" filter="blinds(horizontal)">
                                      <p:cBhvr>
                                        <p:cTn id="21" dur="500"/>
                                        <p:tgtEl>
                                          <p:spTgt spid="109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build="p"/>
      <p:bldP spid="109581" grpId="0"/>
      <p:bldP spid="10958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3B261D1-D19D-F977-EC2C-0F0BBDA026FA}"/>
              </a:ext>
            </a:extLst>
          </p:cNvPr>
          <p:cNvSpPr>
            <a:spLocks noGrp="1"/>
          </p:cNvSpPr>
          <p:nvPr>
            <p:ph type="sldNum" sz="quarter" idx="12"/>
          </p:nvPr>
        </p:nvSpPr>
        <p:spPr>
          <a:xfrm>
            <a:off x="6393498" y="6223636"/>
            <a:ext cx="2485747" cy="476250"/>
          </a:xfrm>
        </p:spPr>
        <p:txBody>
          <a:bodyPr/>
          <a:lstStyle/>
          <a:p>
            <a:pPr>
              <a:defRPr/>
            </a:pPr>
            <a:fld id="{751AB66E-5A39-475E-8B72-FA713655BF03}" type="slidenum">
              <a:rPr lang="en-US" altLang="zh-CN"/>
              <a:pPr>
                <a:defRPr/>
              </a:pPr>
              <a:t>53</a:t>
            </a:fld>
            <a:endParaRPr lang="en-US" altLang="zh-CN" dirty="0"/>
          </a:p>
        </p:txBody>
      </p:sp>
      <p:sp>
        <p:nvSpPr>
          <p:cNvPr id="11267" name="Rectangle 2">
            <a:extLst>
              <a:ext uri="{FF2B5EF4-FFF2-40B4-BE49-F238E27FC236}">
                <a16:creationId xmlns:a16="http://schemas.microsoft.com/office/drawing/2014/main" id="{DBDDFF07-D59B-33E7-075D-7F2A7DE8520B}"/>
              </a:ext>
            </a:extLst>
          </p:cNvPr>
          <p:cNvSpPr>
            <a:spLocks noGrp="1" noChangeArrowheads="1"/>
          </p:cNvSpPr>
          <p:nvPr>
            <p:ph type="title"/>
          </p:nvPr>
        </p:nvSpPr>
        <p:spPr>
          <a:xfrm>
            <a:off x="14475" y="685800"/>
            <a:ext cx="8877671" cy="838200"/>
          </a:xfrm>
        </p:spPr>
        <p:txBody>
          <a:bodyPr/>
          <a:lstStyle/>
          <a:p>
            <a:pPr eaLnBrk="1" hangingPunct="1"/>
            <a:r>
              <a:rPr lang="en-US" altLang="zh-CN" sz="3600" b="1" dirty="0"/>
              <a:t>7.5 </a:t>
            </a:r>
            <a:r>
              <a:rPr lang="zh-CN" altLang="en-US" sz="3600" b="1" dirty="0"/>
              <a:t>同步发电机的功率和转矩</a:t>
            </a:r>
          </a:p>
        </p:txBody>
      </p:sp>
      <p:sp>
        <p:nvSpPr>
          <p:cNvPr id="11268" name="Rectangle 5">
            <a:extLst>
              <a:ext uri="{FF2B5EF4-FFF2-40B4-BE49-F238E27FC236}">
                <a16:creationId xmlns:a16="http://schemas.microsoft.com/office/drawing/2014/main" id="{7761292D-367E-2FAA-EC5B-F34BE2C94177}"/>
              </a:ext>
            </a:extLst>
          </p:cNvPr>
          <p:cNvSpPr>
            <a:spLocks noGrp="1" noChangeArrowheads="1"/>
          </p:cNvSpPr>
          <p:nvPr>
            <p:ph type="body" sz="half" idx="1"/>
          </p:nvPr>
        </p:nvSpPr>
        <p:spPr>
          <a:xfrm>
            <a:off x="-2138" y="1447800"/>
            <a:ext cx="9144000" cy="2286000"/>
          </a:xfrm>
          <a:noFill/>
        </p:spPr>
        <p:txBody>
          <a:bodyPr/>
          <a:lstStyle/>
          <a:p>
            <a:pPr eaLnBrk="1" hangingPunct="1"/>
            <a:r>
              <a:rPr lang="zh-CN" altLang="en-US" sz="2800" b="1">
                <a:ea typeface="黑体" panose="02010609060101010101" pitchFamily="49" charset="-122"/>
              </a:rPr>
              <a:t>同步发电机的功率源称为原动机，如柴油机、汽轮机、水轮机等。无论什么功率源，其共同特点是它的旋转速度应该保持常数而与功率无关，否则发电机提供的电力系统频率将不能保持恒定。</a:t>
            </a:r>
          </a:p>
          <a:p>
            <a:pPr eaLnBrk="1" hangingPunct="1">
              <a:lnSpc>
                <a:spcPct val="90000"/>
              </a:lnSpc>
            </a:pPr>
            <a:endParaRPr lang="en-US" altLang="zh-CN" sz="2800" b="1">
              <a:ea typeface="黑体" panose="02010609060101010101" pitchFamily="49" charset="-122"/>
            </a:endParaRPr>
          </a:p>
        </p:txBody>
      </p:sp>
      <p:graphicFrame>
        <p:nvGraphicFramePr>
          <p:cNvPr id="216070" name="Object 6">
            <a:extLst>
              <a:ext uri="{FF2B5EF4-FFF2-40B4-BE49-F238E27FC236}">
                <a16:creationId xmlns:a16="http://schemas.microsoft.com/office/drawing/2014/main" id="{B8CD049F-0392-6B9E-56A0-DB6DEA735E33}"/>
              </a:ext>
            </a:extLst>
          </p:cNvPr>
          <p:cNvGraphicFramePr>
            <a:graphicFrameLocks noChangeAspect="1"/>
          </p:cNvGraphicFramePr>
          <p:nvPr>
            <p:extLst>
              <p:ext uri="{D42A27DB-BD31-4B8C-83A1-F6EECF244321}">
                <p14:modId xmlns:p14="http://schemas.microsoft.com/office/powerpoint/2010/main" val="1254008380"/>
              </p:ext>
            </p:extLst>
          </p:nvPr>
        </p:nvGraphicFramePr>
        <p:xfrm>
          <a:off x="1979712" y="3004560"/>
          <a:ext cx="7279689" cy="3846513"/>
        </p:xfrm>
        <a:graphic>
          <a:graphicData uri="http://schemas.openxmlformats.org/presentationml/2006/ole">
            <mc:AlternateContent xmlns:mc="http://schemas.openxmlformats.org/markup-compatibility/2006">
              <mc:Choice xmlns:v="urn:schemas-microsoft-com:vml" Requires="v">
                <p:oleObj r:id="rId2" imgW="3540125" imgH="2178050" progId="MSDraw">
                  <p:embed/>
                </p:oleObj>
              </mc:Choice>
              <mc:Fallback>
                <p:oleObj r:id="rId2" imgW="3540125" imgH="2178050" progId="MSDraw">
                  <p:embed/>
                  <p:pic>
                    <p:nvPicPr>
                      <p:cNvPr id="216070" name="Object 6">
                        <a:extLst>
                          <a:ext uri="{FF2B5EF4-FFF2-40B4-BE49-F238E27FC236}">
                            <a16:creationId xmlns:a16="http://schemas.microsoft.com/office/drawing/2014/main" id="{B8CD049F-0392-6B9E-56A0-DB6DEA735E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3004560"/>
                        <a:ext cx="7279689" cy="3846513"/>
                      </a:xfrm>
                      <a:prstGeom prst="rect">
                        <a:avLst/>
                      </a:prstGeom>
                      <a:solidFill>
                        <a:schemeClr val="bg1"/>
                      </a:solidFill>
                      <a:ln>
                        <a:noFill/>
                      </a:ln>
                    </p:spPr>
                  </p:pic>
                </p:oleObj>
              </mc:Fallback>
            </mc:AlternateContent>
          </a:graphicData>
        </a:graphic>
      </p:graphicFrame>
      <p:sp>
        <p:nvSpPr>
          <p:cNvPr id="216071" name="Text Box 7">
            <a:extLst>
              <a:ext uri="{FF2B5EF4-FFF2-40B4-BE49-F238E27FC236}">
                <a16:creationId xmlns:a16="http://schemas.microsoft.com/office/drawing/2014/main" id="{4FB12E76-47AC-6C15-9CC0-7EC1396BC96D}"/>
              </a:ext>
            </a:extLst>
          </p:cNvPr>
          <p:cNvSpPr txBox="1">
            <a:spLocks noChangeArrowheads="1"/>
          </p:cNvSpPr>
          <p:nvPr/>
        </p:nvSpPr>
        <p:spPr bwMode="auto">
          <a:xfrm>
            <a:off x="214833" y="3429000"/>
            <a:ext cx="1764879" cy="3582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ea typeface="黑体" panose="02010609060101010101" pitchFamily="49" charset="-122"/>
              </a:rPr>
              <a:t>并不是所有进入同步发电机的机械功率都能转变为电功率输出。</a:t>
            </a:r>
          </a:p>
          <a:p>
            <a:pPr eaLnBrk="1" hangingPunct="1">
              <a:lnSpc>
                <a:spcPct val="90000"/>
              </a:lnSpc>
              <a:buFont typeface="Wingdings" panose="05000000000000000000" pitchFamily="2" charset="2"/>
              <a:buNone/>
            </a:pPr>
            <a:endParaRPr kumimoji="0" lang="en-US" altLang="zh-CN" sz="28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6071"/>
                                        </p:tgtEl>
                                        <p:attrNameLst>
                                          <p:attrName>style.visibility</p:attrName>
                                        </p:attrNameLst>
                                      </p:cBhvr>
                                      <p:to>
                                        <p:strVal val="visible"/>
                                      </p:to>
                                    </p:set>
                                    <p:animEffect transition="in" filter="blinds(horizontal)">
                                      <p:cBhvr>
                                        <p:cTn id="7" dur="500"/>
                                        <p:tgtEl>
                                          <p:spTgt spid="2160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6070"/>
                                        </p:tgtEl>
                                        <p:attrNameLst>
                                          <p:attrName>style.visibility</p:attrName>
                                        </p:attrNameLst>
                                      </p:cBhvr>
                                      <p:to>
                                        <p:strVal val="visible"/>
                                      </p:to>
                                    </p:set>
                                    <p:animEffect transition="in" filter="blinds(horizontal)">
                                      <p:cBhvr>
                                        <p:cTn id="12" dur="500"/>
                                        <p:tgtEl>
                                          <p:spTgt spid="216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7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4AD5C0C-9296-9DEC-669B-33A08818B832}"/>
              </a:ext>
            </a:extLst>
          </p:cNvPr>
          <p:cNvSpPr>
            <a:spLocks noGrp="1"/>
          </p:cNvSpPr>
          <p:nvPr>
            <p:ph type="sldNum" sz="quarter" idx="12"/>
          </p:nvPr>
        </p:nvSpPr>
        <p:spPr>
          <a:xfrm>
            <a:off x="6467660" y="6539115"/>
            <a:ext cx="2133600" cy="476250"/>
          </a:xfrm>
        </p:spPr>
        <p:txBody>
          <a:bodyPr/>
          <a:lstStyle/>
          <a:p>
            <a:pPr>
              <a:defRPr/>
            </a:pPr>
            <a:fld id="{2F145FC6-3A4E-4F69-A959-1139B1374CDD}" type="slidenum">
              <a:rPr lang="en-US" altLang="zh-CN"/>
              <a:pPr>
                <a:defRPr/>
              </a:pPr>
              <a:t>54</a:t>
            </a:fld>
            <a:endParaRPr lang="en-US" altLang="zh-CN"/>
          </a:p>
        </p:txBody>
      </p:sp>
      <p:sp>
        <p:nvSpPr>
          <p:cNvPr id="12291" name="Rectangle 1026">
            <a:extLst>
              <a:ext uri="{FF2B5EF4-FFF2-40B4-BE49-F238E27FC236}">
                <a16:creationId xmlns:a16="http://schemas.microsoft.com/office/drawing/2014/main" id="{063C7CE5-10E1-13BE-16A7-ACBF6A69F72C}"/>
              </a:ext>
            </a:extLst>
          </p:cNvPr>
          <p:cNvSpPr>
            <a:spLocks noGrp="1" noChangeArrowheads="1"/>
          </p:cNvSpPr>
          <p:nvPr>
            <p:ph type="title"/>
          </p:nvPr>
        </p:nvSpPr>
        <p:spPr>
          <a:xfrm>
            <a:off x="603176" y="849109"/>
            <a:ext cx="7772400" cy="533400"/>
          </a:xfrm>
        </p:spPr>
        <p:txBody>
          <a:bodyPr/>
          <a:lstStyle/>
          <a:p>
            <a:pPr eaLnBrk="1" hangingPunct="1"/>
            <a:r>
              <a:rPr lang="zh-CN" altLang="en-US" sz="3600" b="1"/>
              <a:t>同步发电机的功率</a:t>
            </a:r>
          </a:p>
        </p:txBody>
      </p:sp>
      <p:sp>
        <p:nvSpPr>
          <p:cNvPr id="12292" name="Rectangle 1028">
            <a:extLst>
              <a:ext uri="{FF2B5EF4-FFF2-40B4-BE49-F238E27FC236}">
                <a16:creationId xmlns:a16="http://schemas.microsoft.com/office/drawing/2014/main" id="{B258526F-1ACB-0653-5B1D-1A56FA609383}"/>
              </a:ext>
            </a:extLst>
          </p:cNvPr>
          <p:cNvSpPr>
            <a:spLocks noGrp="1" noChangeArrowheads="1"/>
          </p:cNvSpPr>
          <p:nvPr>
            <p:ph type="body" sz="half" idx="1"/>
          </p:nvPr>
        </p:nvSpPr>
        <p:spPr>
          <a:xfrm>
            <a:off x="545767" y="2452281"/>
            <a:ext cx="4724400" cy="533400"/>
          </a:xfrm>
          <a:noFill/>
        </p:spPr>
        <p:txBody>
          <a:bodyPr/>
          <a:lstStyle/>
          <a:p>
            <a:pPr eaLnBrk="1" hangingPunct="1">
              <a:buFontTx/>
              <a:buNone/>
            </a:pPr>
            <a:r>
              <a:rPr lang="en-US" altLang="zh-CN" sz="2800">
                <a:latin typeface="Symbol" panose="05050102010706020507" pitchFamily="18" charset="2"/>
              </a:rPr>
              <a:t>y</a:t>
            </a:r>
            <a:r>
              <a:rPr lang="zh-CN" altLang="en-US" sz="2800" b="1">
                <a:ea typeface="黑体" panose="02010609060101010101" pitchFamily="49" charset="-122"/>
              </a:rPr>
              <a:t>为电势与电流间的相角。</a:t>
            </a:r>
            <a:r>
              <a:rPr lang="zh-CN" altLang="en-US" sz="2800"/>
              <a:t> </a:t>
            </a:r>
          </a:p>
        </p:txBody>
      </p:sp>
      <p:sp>
        <p:nvSpPr>
          <p:cNvPr id="12293" name="Rectangle 1029">
            <a:extLst>
              <a:ext uri="{FF2B5EF4-FFF2-40B4-BE49-F238E27FC236}">
                <a16:creationId xmlns:a16="http://schemas.microsoft.com/office/drawing/2014/main" id="{445F72EE-65B1-6EAF-1E08-B98FA631F4AA}"/>
              </a:ext>
            </a:extLst>
          </p:cNvPr>
          <p:cNvSpPr>
            <a:spLocks noChangeArrowheads="1"/>
          </p:cNvSpPr>
          <p:nvPr/>
        </p:nvSpPr>
        <p:spPr bwMode="auto">
          <a:xfrm>
            <a:off x="38100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12294" name="Text Box 1030">
            <a:extLst>
              <a:ext uri="{FF2B5EF4-FFF2-40B4-BE49-F238E27FC236}">
                <a16:creationId xmlns:a16="http://schemas.microsoft.com/office/drawing/2014/main" id="{E2A6662D-7699-A5F5-774B-02A223BDDFC4}"/>
              </a:ext>
            </a:extLst>
          </p:cNvPr>
          <p:cNvSpPr txBox="1">
            <a:spLocks noChangeArrowheads="1"/>
          </p:cNvSpPr>
          <p:nvPr/>
        </p:nvSpPr>
        <p:spPr bwMode="auto">
          <a:xfrm>
            <a:off x="682292" y="1742669"/>
            <a:ext cx="15398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ea typeface="黑体" panose="02010609060101010101" pitchFamily="49" charset="-122"/>
              </a:rPr>
              <a:t>电磁功率</a:t>
            </a:r>
          </a:p>
        </p:txBody>
      </p:sp>
      <p:sp>
        <p:nvSpPr>
          <p:cNvPr id="12295" name="Rectangle 1031">
            <a:extLst>
              <a:ext uri="{FF2B5EF4-FFF2-40B4-BE49-F238E27FC236}">
                <a16:creationId xmlns:a16="http://schemas.microsoft.com/office/drawing/2014/main" id="{5562B9F8-4472-0C9E-036B-4C83574D7CC7}"/>
              </a:ext>
            </a:extLst>
          </p:cNvPr>
          <p:cNvSpPr>
            <a:spLocks noChangeArrowheads="1"/>
          </p:cNvSpPr>
          <p:nvPr/>
        </p:nvSpPr>
        <p:spPr bwMode="auto">
          <a:xfrm>
            <a:off x="400526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pSp>
        <p:nvGrpSpPr>
          <p:cNvPr id="217096" name="Group 1032">
            <a:extLst>
              <a:ext uri="{FF2B5EF4-FFF2-40B4-BE49-F238E27FC236}">
                <a16:creationId xmlns:a16="http://schemas.microsoft.com/office/drawing/2014/main" id="{559A012A-C5F6-7811-B085-C9A50FACA2EE}"/>
              </a:ext>
            </a:extLst>
          </p:cNvPr>
          <p:cNvGrpSpPr>
            <a:grpSpLocks/>
          </p:cNvGrpSpPr>
          <p:nvPr/>
        </p:nvGrpSpPr>
        <p:grpSpPr bwMode="auto">
          <a:xfrm>
            <a:off x="606092" y="3190469"/>
            <a:ext cx="5699125" cy="1179512"/>
            <a:chOff x="470" y="1569"/>
            <a:chExt cx="3590" cy="743"/>
          </a:xfrm>
        </p:grpSpPr>
        <p:sp>
          <p:nvSpPr>
            <p:cNvPr id="12305" name="Text Box 1033">
              <a:extLst>
                <a:ext uri="{FF2B5EF4-FFF2-40B4-BE49-F238E27FC236}">
                  <a16:creationId xmlns:a16="http://schemas.microsoft.com/office/drawing/2014/main" id="{5AA22F71-04E8-C370-9E41-9B1BEC2757F3}"/>
                </a:ext>
              </a:extLst>
            </p:cNvPr>
            <p:cNvSpPr txBox="1">
              <a:spLocks noChangeArrowheads="1"/>
            </p:cNvSpPr>
            <p:nvPr/>
          </p:nvSpPr>
          <p:spPr bwMode="auto">
            <a:xfrm>
              <a:off x="470" y="1569"/>
              <a:ext cx="359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ea typeface="黑体" panose="02010609060101010101" pitchFamily="49" charset="-122"/>
                </a:rPr>
                <a:t>同步发电机的输出电功率按线值表示时为</a:t>
              </a:r>
            </a:p>
          </p:txBody>
        </p:sp>
        <p:graphicFrame>
          <p:nvGraphicFramePr>
            <p:cNvPr id="12306" name="Object 1034">
              <a:extLst>
                <a:ext uri="{FF2B5EF4-FFF2-40B4-BE49-F238E27FC236}">
                  <a16:creationId xmlns:a16="http://schemas.microsoft.com/office/drawing/2014/main" id="{E60B5A87-EAE7-04D8-ABEA-40F9358E7799}"/>
                </a:ext>
              </a:extLst>
            </p:cNvPr>
            <p:cNvGraphicFramePr>
              <a:graphicFrameLocks noChangeAspect="1"/>
            </p:cNvGraphicFramePr>
            <p:nvPr/>
          </p:nvGraphicFramePr>
          <p:xfrm>
            <a:off x="1968" y="1920"/>
            <a:ext cx="1728" cy="392"/>
          </p:xfrm>
          <a:graphic>
            <a:graphicData uri="http://schemas.openxmlformats.org/presentationml/2006/ole">
              <mc:AlternateContent xmlns:mc="http://schemas.openxmlformats.org/markup-compatibility/2006">
                <mc:Choice xmlns:v="urn:schemas-microsoft-com:vml" Requires="v">
                  <p:oleObj name="Equation" r:id="rId2" imgW="1129810" imgH="253890" progId="Equation.DSMT4">
                    <p:embed/>
                  </p:oleObj>
                </mc:Choice>
                <mc:Fallback>
                  <p:oleObj name="Equation" r:id="rId2" imgW="1129810" imgH="253890" progId="Equation.DSMT4">
                    <p:embed/>
                    <p:pic>
                      <p:nvPicPr>
                        <p:cNvPr id="12306" name="Object 1034">
                          <a:extLst>
                            <a:ext uri="{FF2B5EF4-FFF2-40B4-BE49-F238E27FC236}">
                              <a16:creationId xmlns:a16="http://schemas.microsoft.com/office/drawing/2014/main" id="{E60B5A87-EAE7-04D8-ABEA-40F9358E7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1920"/>
                          <a:ext cx="172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297" name="Rectangle 1035">
            <a:extLst>
              <a:ext uri="{FF2B5EF4-FFF2-40B4-BE49-F238E27FC236}">
                <a16:creationId xmlns:a16="http://schemas.microsoft.com/office/drawing/2014/main" id="{C73D4B8F-7187-9E43-9A37-51DE8763E3F9}"/>
              </a:ext>
            </a:extLst>
          </p:cNvPr>
          <p:cNvSpPr>
            <a:spLocks noChangeArrowheads="1"/>
          </p:cNvSpPr>
          <p:nvPr/>
        </p:nvSpPr>
        <p:spPr bwMode="auto">
          <a:xfrm>
            <a:off x="37957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2298" name="Object 1036">
            <a:extLst>
              <a:ext uri="{FF2B5EF4-FFF2-40B4-BE49-F238E27FC236}">
                <a16:creationId xmlns:a16="http://schemas.microsoft.com/office/drawing/2014/main" id="{D20A7FA5-6717-EF6B-1C55-6D90EED60A20}"/>
              </a:ext>
            </a:extLst>
          </p:cNvPr>
          <p:cNvGraphicFramePr>
            <a:graphicFrameLocks noChangeAspect="1"/>
          </p:cNvGraphicFramePr>
          <p:nvPr>
            <p:extLst>
              <p:ext uri="{D42A27DB-BD31-4B8C-83A1-F6EECF244321}">
                <p14:modId xmlns:p14="http://schemas.microsoft.com/office/powerpoint/2010/main" val="2211879991"/>
              </p:ext>
            </p:extLst>
          </p:nvPr>
        </p:nvGraphicFramePr>
        <p:xfrm>
          <a:off x="2450767" y="1690281"/>
          <a:ext cx="3960813" cy="582613"/>
        </p:xfrm>
        <a:graphic>
          <a:graphicData uri="http://schemas.openxmlformats.org/presentationml/2006/ole">
            <mc:AlternateContent xmlns:mc="http://schemas.openxmlformats.org/markup-compatibility/2006">
              <mc:Choice xmlns:v="urn:schemas-microsoft-com:vml" Requires="v">
                <p:oleObj name="Equation" r:id="rId4" imgW="1549400" imgH="228600" progId="Equation.DSMT4">
                  <p:embed/>
                </p:oleObj>
              </mc:Choice>
              <mc:Fallback>
                <p:oleObj name="Equation" r:id="rId4" imgW="1549400" imgH="228600" progId="Equation.DSMT4">
                  <p:embed/>
                  <p:pic>
                    <p:nvPicPr>
                      <p:cNvPr id="12298" name="Object 1036">
                        <a:extLst>
                          <a:ext uri="{FF2B5EF4-FFF2-40B4-BE49-F238E27FC236}">
                            <a16:creationId xmlns:a16="http://schemas.microsoft.com/office/drawing/2014/main" id="{D20A7FA5-6717-EF6B-1C55-6D90EED60A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0767" y="1690281"/>
                        <a:ext cx="396081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9" name="Rectangle 1037">
            <a:extLst>
              <a:ext uri="{FF2B5EF4-FFF2-40B4-BE49-F238E27FC236}">
                <a16:creationId xmlns:a16="http://schemas.microsoft.com/office/drawing/2014/main" id="{9644F176-316B-5F73-BAA5-9320B9F5DB70}"/>
              </a:ext>
            </a:extLst>
          </p:cNvPr>
          <p:cNvSpPr>
            <a:spLocks noChangeArrowheads="1"/>
          </p:cNvSpPr>
          <p:nvPr/>
        </p:nvSpPr>
        <p:spPr bwMode="auto">
          <a:xfrm>
            <a:off x="407193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pSp>
        <p:nvGrpSpPr>
          <p:cNvPr id="217102" name="Group 1038">
            <a:extLst>
              <a:ext uri="{FF2B5EF4-FFF2-40B4-BE49-F238E27FC236}">
                <a16:creationId xmlns:a16="http://schemas.microsoft.com/office/drawing/2014/main" id="{99B0B229-77A1-CA32-C0FC-5322149E953B}"/>
              </a:ext>
            </a:extLst>
          </p:cNvPr>
          <p:cNvGrpSpPr>
            <a:grpSpLocks/>
          </p:cNvGrpSpPr>
          <p:nvPr/>
        </p:nvGrpSpPr>
        <p:grpSpPr bwMode="auto">
          <a:xfrm>
            <a:off x="755576" y="4354309"/>
            <a:ext cx="7696200" cy="1195388"/>
            <a:chOff x="518" y="2297"/>
            <a:chExt cx="4848" cy="753"/>
          </a:xfrm>
        </p:grpSpPr>
        <p:sp>
          <p:nvSpPr>
            <p:cNvPr id="12302" name="Text Box 1039">
              <a:extLst>
                <a:ext uri="{FF2B5EF4-FFF2-40B4-BE49-F238E27FC236}">
                  <a16:creationId xmlns:a16="http://schemas.microsoft.com/office/drawing/2014/main" id="{90789219-A0AF-2077-85CA-6D481D928F1F}"/>
                </a:ext>
              </a:extLst>
            </p:cNvPr>
            <p:cNvSpPr txBox="1">
              <a:spLocks noChangeArrowheads="1"/>
            </p:cNvSpPr>
            <p:nvPr/>
          </p:nvSpPr>
          <p:spPr bwMode="auto">
            <a:xfrm>
              <a:off x="518" y="2297"/>
              <a:ext cx="4848"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ea typeface="黑体" panose="02010609060101010101" pitchFamily="49" charset="-122"/>
                </a:rPr>
                <a:t>电压电流均为线值，</a:t>
              </a:r>
              <a:r>
                <a:rPr lang="en-US" altLang="zh-CN" sz="2400">
                  <a:latin typeface="Symbol" panose="05050102010706020507" pitchFamily="18" charset="2"/>
                  <a:ea typeface="黑体" panose="02010609060101010101" pitchFamily="49" charset="-122"/>
                </a:rPr>
                <a:t>f</a:t>
              </a:r>
              <a:r>
                <a:rPr lang="zh-CN" altLang="en-US" sz="2400">
                  <a:ea typeface="黑体" panose="02010609060101010101" pitchFamily="49" charset="-122"/>
                </a:rPr>
                <a:t>为输出相电压与相电流间的相角。</a:t>
              </a:r>
            </a:p>
          </p:txBody>
        </p:sp>
        <p:sp>
          <p:nvSpPr>
            <p:cNvPr id="12303" name="Text Box 1040">
              <a:extLst>
                <a:ext uri="{FF2B5EF4-FFF2-40B4-BE49-F238E27FC236}">
                  <a16:creationId xmlns:a16="http://schemas.microsoft.com/office/drawing/2014/main" id="{0ABD6CEB-9F05-0CEE-E199-72121EFB47CE}"/>
                </a:ext>
              </a:extLst>
            </p:cNvPr>
            <p:cNvSpPr txBox="1">
              <a:spLocks noChangeArrowheads="1"/>
            </p:cNvSpPr>
            <p:nvPr/>
          </p:nvSpPr>
          <p:spPr bwMode="auto">
            <a:xfrm>
              <a:off x="566" y="2732"/>
              <a:ext cx="1515"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latin typeface="黑体" panose="02010609060101010101" pitchFamily="49" charset="-122"/>
                  <a:ea typeface="黑体" panose="02010609060101010101" pitchFamily="49" charset="-122"/>
                </a:rPr>
                <a:t>当用相值表示时</a:t>
              </a:r>
              <a:r>
                <a:rPr lang="zh-CN" altLang="en-US" sz="2400" b="0"/>
                <a:t> </a:t>
              </a:r>
            </a:p>
          </p:txBody>
        </p:sp>
        <p:graphicFrame>
          <p:nvGraphicFramePr>
            <p:cNvPr id="12304" name="Object 1041">
              <a:extLst>
                <a:ext uri="{FF2B5EF4-FFF2-40B4-BE49-F238E27FC236}">
                  <a16:creationId xmlns:a16="http://schemas.microsoft.com/office/drawing/2014/main" id="{0316BD1A-E9D1-ED65-8196-9401B560B426}"/>
                </a:ext>
              </a:extLst>
            </p:cNvPr>
            <p:cNvGraphicFramePr>
              <a:graphicFrameLocks noChangeAspect="1"/>
            </p:cNvGraphicFramePr>
            <p:nvPr/>
          </p:nvGraphicFramePr>
          <p:xfrm>
            <a:off x="2208" y="2688"/>
            <a:ext cx="1584" cy="362"/>
          </p:xfrm>
          <a:graphic>
            <a:graphicData uri="http://schemas.openxmlformats.org/presentationml/2006/ole">
              <mc:AlternateContent xmlns:mc="http://schemas.openxmlformats.org/markup-compatibility/2006">
                <mc:Choice xmlns:v="urn:schemas-microsoft-com:vml" Requires="v">
                  <p:oleObj r:id="rId6" imgW="1002865" imgH="228501" progId="Equation.DSMT4">
                    <p:embed/>
                  </p:oleObj>
                </mc:Choice>
                <mc:Fallback>
                  <p:oleObj r:id="rId6" imgW="1002865" imgH="228501" progId="Equation.DSMT4">
                    <p:embed/>
                    <p:pic>
                      <p:nvPicPr>
                        <p:cNvPr id="12304" name="Object 1041">
                          <a:extLst>
                            <a:ext uri="{FF2B5EF4-FFF2-40B4-BE49-F238E27FC236}">
                              <a16:creationId xmlns:a16="http://schemas.microsoft.com/office/drawing/2014/main" id="{0316BD1A-E9D1-ED65-8196-9401B560B4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8" y="2688"/>
                          <a:ext cx="1584"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7106" name="Text Box 1042">
            <a:extLst>
              <a:ext uri="{FF2B5EF4-FFF2-40B4-BE49-F238E27FC236}">
                <a16:creationId xmlns:a16="http://schemas.microsoft.com/office/drawing/2014/main" id="{C3C988C8-30A1-B41D-FFD5-E852D9445E7A}"/>
              </a:ext>
            </a:extLst>
          </p:cNvPr>
          <p:cNvSpPr txBox="1">
            <a:spLocks noChangeArrowheads="1"/>
          </p:cNvSpPr>
          <p:nvPr/>
        </p:nvSpPr>
        <p:spPr bwMode="auto">
          <a:xfrm>
            <a:off x="755576" y="5707062"/>
            <a:ext cx="7407275"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ea typeface="黑体" panose="02010609060101010101" pitchFamily="49" charset="-122"/>
              </a:rPr>
              <a:t>对于隐极式同步发电机，如果定子电阻可忽略，则可以得到一个实用的输出功率近似表达式：</a:t>
            </a:r>
            <a:r>
              <a:rPr lang="zh-CN" altLang="en-US" sz="2400">
                <a:solidFill>
                  <a:srgbClr val="FF0000"/>
                </a:solidFill>
                <a:ea typeface="黑体" panose="02010609060101010101" pitchFamily="49" charset="-122"/>
              </a:rPr>
              <a:t>功角特性</a:t>
            </a:r>
          </a:p>
          <a:p>
            <a:pPr eaLnBrk="1" hangingPunct="1">
              <a:lnSpc>
                <a:spcPct val="90000"/>
              </a:lnSpc>
              <a:buFont typeface="Wingdings" panose="05000000000000000000" pitchFamily="2" charset="2"/>
              <a:buChar char="Ø"/>
            </a:pPr>
            <a:endParaRPr lang="en-US" altLang="zh-CN" sz="240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70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10" fill="hold" nodeType="clickEffect">
                                  <p:stCondLst>
                                    <p:cond delay="0"/>
                                  </p:stCondLst>
                                  <p:childTnLst>
                                    <p:set>
                                      <p:cBhvr>
                                        <p:cTn id="10" dur="1" fill="hold">
                                          <p:stCondLst>
                                            <p:cond delay="0"/>
                                          </p:stCondLst>
                                        </p:cTn>
                                        <p:tgtEl>
                                          <p:spTgt spid="217102"/>
                                        </p:tgtEl>
                                        <p:attrNameLst>
                                          <p:attrName>style.visibility</p:attrName>
                                        </p:attrNameLst>
                                      </p:cBhvr>
                                      <p:to>
                                        <p:strVal val="visible"/>
                                      </p:to>
                                    </p:set>
                                    <p:anim calcmode="lin" valueType="num">
                                      <p:cBhvr>
                                        <p:cTn id="11" dur="500" fill="hold"/>
                                        <p:tgtEl>
                                          <p:spTgt spid="217102"/>
                                        </p:tgtEl>
                                        <p:attrNameLst>
                                          <p:attrName>ppt_w</p:attrName>
                                        </p:attrNameLst>
                                      </p:cBhvr>
                                      <p:tavLst>
                                        <p:tav tm="0">
                                          <p:val>
                                            <p:fltVal val="0"/>
                                          </p:val>
                                        </p:tav>
                                        <p:tav tm="100000">
                                          <p:val>
                                            <p:strVal val="#ppt_w"/>
                                          </p:val>
                                        </p:tav>
                                      </p:tavLst>
                                    </p:anim>
                                    <p:anim calcmode="lin" valueType="num">
                                      <p:cBhvr>
                                        <p:cTn id="12" dur="500" fill="hold"/>
                                        <p:tgtEl>
                                          <p:spTgt spid="21710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217106"/>
                                        </p:tgtEl>
                                        <p:attrNameLst>
                                          <p:attrName>style.visibility</p:attrName>
                                        </p:attrNameLst>
                                      </p:cBhvr>
                                      <p:to>
                                        <p:strVal val="visible"/>
                                      </p:to>
                                    </p:set>
                                    <p:anim calcmode="lin" valueType="num">
                                      <p:cBhvr>
                                        <p:cTn id="17" dur="500" fill="hold"/>
                                        <p:tgtEl>
                                          <p:spTgt spid="217106"/>
                                        </p:tgtEl>
                                        <p:attrNameLst>
                                          <p:attrName>ppt_w</p:attrName>
                                        </p:attrNameLst>
                                      </p:cBhvr>
                                      <p:tavLst>
                                        <p:tav tm="0">
                                          <p:val>
                                            <p:fltVal val="0"/>
                                          </p:val>
                                        </p:tav>
                                        <p:tav tm="100000">
                                          <p:val>
                                            <p:strVal val="#ppt_w"/>
                                          </p:val>
                                        </p:tav>
                                      </p:tavLst>
                                    </p:anim>
                                    <p:anim calcmode="lin" valueType="num">
                                      <p:cBhvr>
                                        <p:cTn id="18" dur="500" fill="hold"/>
                                        <p:tgtEl>
                                          <p:spTgt spid="2171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0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04660F8-FB76-19CB-4D25-CF6023BD2D4A}"/>
              </a:ext>
            </a:extLst>
          </p:cNvPr>
          <p:cNvSpPr>
            <a:spLocks noGrp="1"/>
          </p:cNvSpPr>
          <p:nvPr>
            <p:ph type="sldNum" sz="quarter" idx="12"/>
          </p:nvPr>
        </p:nvSpPr>
        <p:spPr/>
        <p:txBody>
          <a:bodyPr/>
          <a:lstStyle/>
          <a:p>
            <a:pPr>
              <a:defRPr/>
            </a:pPr>
            <a:fld id="{26BB0779-7FCA-4A33-8E19-6B0EE6657B7C}" type="slidenum">
              <a:rPr lang="en-US" altLang="zh-CN"/>
              <a:pPr>
                <a:defRPr/>
              </a:pPr>
              <a:t>55</a:t>
            </a:fld>
            <a:endParaRPr lang="en-US" altLang="zh-CN"/>
          </a:p>
        </p:txBody>
      </p:sp>
      <p:graphicFrame>
        <p:nvGraphicFramePr>
          <p:cNvPr id="13315" name="Object 4">
            <a:extLst>
              <a:ext uri="{FF2B5EF4-FFF2-40B4-BE49-F238E27FC236}">
                <a16:creationId xmlns:a16="http://schemas.microsoft.com/office/drawing/2014/main" id="{A4532610-825D-EB58-6204-2E8D46B8E5B3}"/>
              </a:ext>
            </a:extLst>
          </p:cNvPr>
          <p:cNvGraphicFramePr>
            <a:graphicFrameLocks noChangeAspect="1"/>
          </p:cNvGraphicFramePr>
          <p:nvPr>
            <p:extLst>
              <p:ext uri="{D42A27DB-BD31-4B8C-83A1-F6EECF244321}">
                <p14:modId xmlns:p14="http://schemas.microsoft.com/office/powerpoint/2010/main" val="451663492"/>
              </p:ext>
            </p:extLst>
          </p:nvPr>
        </p:nvGraphicFramePr>
        <p:xfrm>
          <a:off x="4191000" y="816211"/>
          <a:ext cx="4724400" cy="3233738"/>
        </p:xfrm>
        <a:graphic>
          <a:graphicData uri="http://schemas.openxmlformats.org/presentationml/2006/ole">
            <mc:AlternateContent xmlns:mc="http://schemas.openxmlformats.org/markup-compatibility/2006">
              <mc:Choice xmlns:v="urn:schemas-microsoft-com:vml" Requires="v">
                <p:oleObj name="Microsoft Drawing" r:id="rId2" imgW="1701800" imgH="1173163" progId="MSDraw">
                  <p:embed/>
                </p:oleObj>
              </mc:Choice>
              <mc:Fallback>
                <p:oleObj name="Microsoft Drawing" r:id="rId2" imgW="1701800" imgH="1173163" progId="MSDraw">
                  <p:embed/>
                  <p:pic>
                    <p:nvPicPr>
                      <p:cNvPr id="13315" name="Object 4">
                        <a:extLst>
                          <a:ext uri="{FF2B5EF4-FFF2-40B4-BE49-F238E27FC236}">
                            <a16:creationId xmlns:a16="http://schemas.microsoft.com/office/drawing/2014/main" id="{A4532610-825D-EB58-6204-2E8D46B8E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816211"/>
                        <a:ext cx="4724400" cy="32337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6" name="Rectangle 2">
            <a:extLst>
              <a:ext uri="{FF2B5EF4-FFF2-40B4-BE49-F238E27FC236}">
                <a16:creationId xmlns:a16="http://schemas.microsoft.com/office/drawing/2014/main" id="{C1E2F879-19FC-D437-B5EA-08D2F92862EA}"/>
              </a:ext>
            </a:extLst>
          </p:cNvPr>
          <p:cNvSpPr>
            <a:spLocks noGrp="1" noChangeArrowheads="1"/>
          </p:cNvSpPr>
          <p:nvPr>
            <p:ph type="title"/>
          </p:nvPr>
        </p:nvSpPr>
        <p:spPr>
          <a:xfrm>
            <a:off x="3843295" y="83235"/>
            <a:ext cx="5029200" cy="533400"/>
          </a:xfrm>
        </p:spPr>
        <p:txBody>
          <a:bodyPr/>
          <a:lstStyle/>
          <a:p>
            <a:pPr eaLnBrk="1" hangingPunct="1"/>
            <a:r>
              <a:rPr lang="zh-CN" altLang="en-US" sz="3200" dirty="0"/>
              <a:t>一、</a:t>
            </a:r>
            <a:r>
              <a:rPr lang="zh-CN" altLang="en-US" sz="3200" b="1" dirty="0">
                <a:ea typeface="楷体_GB2312" pitchFamily="49" charset="-122"/>
              </a:rPr>
              <a:t>隐极电机的功角特性</a:t>
            </a:r>
          </a:p>
        </p:txBody>
      </p:sp>
      <p:sp>
        <p:nvSpPr>
          <p:cNvPr id="13317" name="Rectangle 5">
            <a:extLst>
              <a:ext uri="{FF2B5EF4-FFF2-40B4-BE49-F238E27FC236}">
                <a16:creationId xmlns:a16="http://schemas.microsoft.com/office/drawing/2014/main" id="{52EEE7D4-A892-3DE5-3D40-B060915963E9}"/>
              </a:ext>
            </a:extLst>
          </p:cNvPr>
          <p:cNvSpPr>
            <a:spLocks noChangeArrowheads="1"/>
          </p:cNvSpPr>
          <p:nvPr/>
        </p:nvSpPr>
        <p:spPr bwMode="auto">
          <a:xfrm>
            <a:off x="340995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13318" name="Rectangle 6">
            <a:extLst>
              <a:ext uri="{FF2B5EF4-FFF2-40B4-BE49-F238E27FC236}">
                <a16:creationId xmlns:a16="http://schemas.microsoft.com/office/drawing/2014/main" id="{50F86FD7-AD24-123E-8D78-BE811753253A}"/>
              </a:ext>
            </a:extLst>
          </p:cNvPr>
          <p:cNvSpPr>
            <a:spLocks noChangeArrowheads="1"/>
          </p:cNvSpPr>
          <p:nvPr/>
        </p:nvSpPr>
        <p:spPr bwMode="auto">
          <a:xfrm>
            <a:off x="377666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3319" name="Object 7">
            <a:extLst>
              <a:ext uri="{FF2B5EF4-FFF2-40B4-BE49-F238E27FC236}">
                <a16:creationId xmlns:a16="http://schemas.microsoft.com/office/drawing/2014/main" id="{E8E9393F-E866-D0F1-E4D3-152745C59F65}"/>
              </a:ext>
            </a:extLst>
          </p:cNvPr>
          <p:cNvGraphicFramePr>
            <a:graphicFrameLocks noChangeAspect="1"/>
          </p:cNvGraphicFramePr>
          <p:nvPr/>
        </p:nvGraphicFramePr>
        <p:xfrm>
          <a:off x="304800" y="914400"/>
          <a:ext cx="3200400" cy="517525"/>
        </p:xfrm>
        <a:graphic>
          <a:graphicData uri="http://schemas.openxmlformats.org/presentationml/2006/ole">
            <mc:AlternateContent xmlns:mc="http://schemas.openxmlformats.org/markup-compatibility/2006">
              <mc:Choice xmlns:v="urn:schemas-microsoft-com:vml" Requires="v">
                <p:oleObj name="Equation" r:id="rId4" imgW="1586811" imgH="253890" progId="Equation.DSMT4">
                  <p:embed/>
                </p:oleObj>
              </mc:Choice>
              <mc:Fallback>
                <p:oleObj name="Equation" r:id="rId4" imgW="1586811" imgH="253890" progId="Equation.DSMT4">
                  <p:embed/>
                  <p:pic>
                    <p:nvPicPr>
                      <p:cNvPr id="13319" name="Object 7">
                        <a:extLst>
                          <a:ext uri="{FF2B5EF4-FFF2-40B4-BE49-F238E27FC236}">
                            <a16:creationId xmlns:a16="http://schemas.microsoft.com/office/drawing/2014/main" id="{E8E9393F-E866-D0F1-E4D3-152745C59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914400"/>
                        <a:ext cx="3200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0" name="Rectangle 8">
            <a:extLst>
              <a:ext uri="{FF2B5EF4-FFF2-40B4-BE49-F238E27FC236}">
                <a16:creationId xmlns:a16="http://schemas.microsoft.com/office/drawing/2014/main" id="{8B2F0A68-988C-703A-BEEF-A6F75FC44AFD}"/>
              </a:ext>
            </a:extLst>
          </p:cNvPr>
          <p:cNvSpPr>
            <a:spLocks noChangeArrowheads="1"/>
          </p:cNvSpPr>
          <p:nvPr/>
        </p:nvSpPr>
        <p:spPr bwMode="auto">
          <a:xfrm>
            <a:off x="400050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3321" name="Object 9">
            <a:extLst>
              <a:ext uri="{FF2B5EF4-FFF2-40B4-BE49-F238E27FC236}">
                <a16:creationId xmlns:a16="http://schemas.microsoft.com/office/drawing/2014/main" id="{751474D9-0E40-BDD7-CD62-BFC86565C0C6}"/>
              </a:ext>
            </a:extLst>
          </p:cNvPr>
          <p:cNvGraphicFramePr>
            <a:graphicFrameLocks noChangeAspect="1"/>
          </p:cNvGraphicFramePr>
          <p:nvPr/>
        </p:nvGraphicFramePr>
        <p:xfrm>
          <a:off x="304800" y="1447800"/>
          <a:ext cx="2438400" cy="914400"/>
        </p:xfrm>
        <a:graphic>
          <a:graphicData uri="http://schemas.openxmlformats.org/presentationml/2006/ole">
            <mc:AlternateContent xmlns:mc="http://schemas.openxmlformats.org/markup-compatibility/2006">
              <mc:Choice xmlns:v="urn:schemas-microsoft-com:vml" Requires="v">
                <p:oleObj name="Equation" r:id="rId6" imgW="1143000" imgH="431800" progId="Equation.DSMT4">
                  <p:embed/>
                </p:oleObj>
              </mc:Choice>
              <mc:Fallback>
                <p:oleObj name="Equation" r:id="rId6" imgW="1143000" imgH="431800" progId="Equation.DSMT4">
                  <p:embed/>
                  <p:pic>
                    <p:nvPicPr>
                      <p:cNvPr id="13321" name="Object 9">
                        <a:extLst>
                          <a:ext uri="{FF2B5EF4-FFF2-40B4-BE49-F238E27FC236}">
                            <a16:creationId xmlns:a16="http://schemas.microsoft.com/office/drawing/2014/main" id="{751474D9-0E40-BDD7-CD62-BFC86565C0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447800"/>
                        <a:ext cx="2438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2" name="Rectangle 10">
            <a:extLst>
              <a:ext uri="{FF2B5EF4-FFF2-40B4-BE49-F238E27FC236}">
                <a16:creationId xmlns:a16="http://schemas.microsoft.com/office/drawing/2014/main" id="{2F547EED-C107-2DE7-9A5C-67F1A0DA461A}"/>
              </a:ext>
            </a:extLst>
          </p:cNvPr>
          <p:cNvSpPr>
            <a:spLocks noChangeArrowheads="1"/>
          </p:cNvSpPr>
          <p:nvPr/>
        </p:nvSpPr>
        <p:spPr bwMode="auto">
          <a:xfrm>
            <a:off x="346710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18123" name="Object 11">
            <a:extLst>
              <a:ext uri="{FF2B5EF4-FFF2-40B4-BE49-F238E27FC236}">
                <a16:creationId xmlns:a16="http://schemas.microsoft.com/office/drawing/2014/main" id="{2E0AEAD1-2A0A-8684-7241-D02345DF77FB}"/>
              </a:ext>
            </a:extLst>
          </p:cNvPr>
          <p:cNvGraphicFramePr>
            <a:graphicFrameLocks noChangeAspect="1"/>
          </p:cNvGraphicFramePr>
          <p:nvPr/>
        </p:nvGraphicFramePr>
        <p:xfrm>
          <a:off x="304800" y="2362200"/>
          <a:ext cx="3429000" cy="1639888"/>
        </p:xfrm>
        <a:graphic>
          <a:graphicData uri="http://schemas.openxmlformats.org/presentationml/2006/ole">
            <mc:AlternateContent xmlns:mc="http://schemas.openxmlformats.org/markup-compatibility/2006">
              <mc:Choice xmlns:v="urn:schemas-microsoft-com:vml" Requires="v">
                <p:oleObj name="Equation" r:id="rId8" imgW="1371600" imgH="660400" progId="Equation.DSMT4">
                  <p:embed/>
                </p:oleObj>
              </mc:Choice>
              <mc:Fallback>
                <p:oleObj name="Equation" r:id="rId8" imgW="1371600" imgH="660400" progId="Equation.DSMT4">
                  <p:embed/>
                  <p:pic>
                    <p:nvPicPr>
                      <p:cNvPr id="218123" name="Object 11">
                        <a:extLst>
                          <a:ext uri="{FF2B5EF4-FFF2-40B4-BE49-F238E27FC236}">
                            <a16:creationId xmlns:a16="http://schemas.microsoft.com/office/drawing/2014/main" id="{2E0AEAD1-2A0A-8684-7241-D02345DF77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2362200"/>
                        <a:ext cx="3429000"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8124" name="AutoShape 12">
            <a:extLst>
              <a:ext uri="{FF2B5EF4-FFF2-40B4-BE49-F238E27FC236}">
                <a16:creationId xmlns:a16="http://schemas.microsoft.com/office/drawing/2014/main" id="{5F9F9065-9336-1755-F3BC-F3BCEAC439D0}"/>
              </a:ext>
            </a:extLst>
          </p:cNvPr>
          <p:cNvSpPr>
            <a:spLocks noChangeArrowheads="1"/>
          </p:cNvSpPr>
          <p:nvPr/>
        </p:nvSpPr>
        <p:spPr bwMode="auto">
          <a:xfrm>
            <a:off x="4572000" y="4092811"/>
            <a:ext cx="4267200" cy="1066800"/>
          </a:xfrm>
          <a:prstGeom prst="wedgeRoundRectCallout">
            <a:avLst>
              <a:gd name="adj1" fmla="val -75229"/>
              <a:gd name="adj2" fmla="val -94195"/>
              <a:gd name="adj3" fmla="val 16667"/>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latin typeface="宋体" panose="02010600030101010101" pitchFamily="2" charset="-122"/>
                <a:ea typeface="黑体" panose="02010609060101010101" pitchFamily="49" charset="-122"/>
              </a:rPr>
              <a:t>假定忽略定子电阻，即忽略铜耗，则输出功率和电磁功率相等。</a:t>
            </a:r>
            <a:r>
              <a:rPr lang="en-US" altLang="zh-CN" sz="2400">
                <a:latin typeface="宋体" panose="02010600030101010101" pitchFamily="2" charset="-122"/>
                <a:ea typeface="黑体" panose="02010609060101010101" pitchFamily="49" charset="-122"/>
              </a:rPr>
              <a:t>【</a:t>
            </a:r>
            <a:r>
              <a:rPr lang="zh-CN" altLang="en-US" sz="2400">
                <a:latin typeface="宋体" panose="02010600030101010101" pitchFamily="2" charset="-122"/>
                <a:ea typeface="黑体" panose="02010609060101010101" pitchFamily="49" charset="-122"/>
              </a:rPr>
              <a:t>重要公式</a:t>
            </a:r>
            <a:r>
              <a:rPr lang="en-US" altLang="zh-CN" sz="2400">
                <a:latin typeface="宋体" panose="02010600030101010101" pitchFamily="2" charset="-122"/>
                <a:ea typeface="黑体" panose="02010609060101010101" pitchFamily="49" charset="-122"/>
              </a:rPr>
              <a:t>】</a:t>
            </a:r>
            <a:r>
              <a:rPr lang="en-US" altLang="zh-CN" sz="2400">
                <a:ea typeface="黑体" panose="02010609060101010101" pitchFamily="49" charset="-122"/>
              </a:rPr>
              <a:t> </a:t>
            </a:r>
          </a:p>
        </p:txBody>
      </p:sp>
      <p:sp>
        <p:nvSpPr>
          <p:cNvPr id="218125" name="Text Box 13">
            <a:extLst>
              <a:ext uri="{FF2B5EF4-FFF2-40B4-BE49-F238E27FC236}">
                <a16:creationId xmlns:a16="http://schemas.microsoft.com/office/drawing/2014/main" id="{E69FB6EC-95F4-D9E7-4702-7D325E5C2D4C}"/>
              </a:ext>
            </a:extLst>
          </p:cNvPr>
          <p:cNvSpPr txBox="1">
            <a:spLocks noChangeArrowheads="1"/>
          </p:cNvSpPr>
          <p:nvPr/>
        </p:nvSpPr>
        <p:spPr bwMode="auto">
          <a:xfrm>
            <a:off x="0" y="5207472"/>
            <a:ext cx="8735888"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dirty="0">
                <a:ea typeface="黑体" panose="02010609060101010101" pitchFamily="49" charset="-122"/>
              </a:rPr>
              <a:t>方程说明同步发电机的输出电功率取决于输出电压相量与电势相量间的夹角</a:t>
            </a:r>
            <a:r>
              <a:rPr lang="en-US" altLang="zh-CN" sz="2400" dirty="0">
                <a:latin typeface="Symbol" panose="05050102010706020507" pitchFamily="18" charset="2"/>
                <a:ea typeface="黑体" panose="02010609060101010101" pitchFamily="49" charset="-122"/>
              </a:rPr>
              <a:t>d</a:t>
            </a:r>
            <a:r>
              <a:rPr lang="zh-CN" altLang="en-US" sz="2400" dirty="0">
                <a:ea typeface="黑体" panose="02010609060101010101" pitchFamily="49" charset="-122"/>
              </a:rPr>
              <a:t>。因此</a:t>
            </a:r>
            <a:r>
              <a:rPr lang="en-US" altLang="zh-CN" sz="2400" dirty="0">
                <a:latin typeface="Symbol" panose="05050102010706020507" pitchFamily="18" charset="2"/>
                <a:ea typeface="黑体" panose="02010609060101010101" pitchFamily="49" charset="-122"/>
              </a:rPr>
              <a:t>d</a:t>
            </a:r>
            <a:r>
              <a:rPr lang="zh-CN" altLang="en-US" sz="2400" dirty="0">
                <a:latin typeface="Symbol" panose="05050102010706020507" pitchFamily="18" charset="2"/>
                <a:ea typeface="黑体" panose="02010609060101010101" pitchFamily="49" charset="-122"/>
              </a:rPr>
              <a:t>又称为电机的</a:t>
            </a:r>
            <a:r>
              <a:rPr lang="zh-CN" altLang="en-US" sz="2400" dirty="0">
                <a:solidFill>
                  <a:srgbClr val="FF0000"/>
                </a:solidFill>
                <a:latin typeface="Symbol" panose="05050102010706020507" pitchFamily="18" charset="2"/>
                <a:ea typeface="黑体" panose="02010609060101010101" pitchFamily="49" charset="-122"/>
              </a:rPr>
              <a:t>转矩角</a:t>
            </a:r>
            <a:r>
              <a:rPr lang="zh-CN" altLang="en-US" sz="2400" dirty="0">
                <a:latin typeface="Symbol" panose="05050102010706020507" pitchFamily="18" charset="2"/>
                <a:ea typeface="黑体" panose="02010609060101010101" pitchFamily="49" charset="-122"/>
              </a:rPr>
              <a:t>或</a:t>
            </a:r>
            <a:r>
              <a:rPr lang="zh-CN" altLang="en-US" sz="2400" dirty="0">
                <a:solidFill>
                  <a:srgbClr val="FF0000"/>
                </a:solidFill>
                <a:latin typeface="Symbol" panose="05050102010706020507" pitchFamily="18" charset="2"/>
                <a:ea typeface="黑体" panose="02010609060101010101" pitchFamily="49" charset="-122"/>
              </a:rPr>
              <a:t>功角</a:t>
            </a:r>
            <a:r>
              <a:rPr lang="zh-CN" altLang="en-US" sz="2400" dirty="0">
                <a:latin typeface="Symbol" panose="05050102010706020507" pitchFamily="18" charset="2"/>
                <a:ea typeface="黑体" panose="02010609060101010101" pitchFamily="49" charset="-122"/>
              </a:rPr>
              <a:t>。</a:t>
            </a:r>
            <a:r>
              <a:rPr lang="zh-CN" altLang="en-US" sz="2400" dirty="0">
                <a:solidFill>
                  <a:schemeClr val="accent2"/>
                </a:solidFill>
                <a:latin typeface="Symbol" panose="05050102010706020507" pitchFamily="18" charset="2"/>
                <a:ea typeface="黑体" panose="02010609060101010101" pitchFamily="49" charset="-122"/>
              </a:rPr>
              <a:t>如果功角达到</a:t>
            </a:r>
            <a:r>
              <a:rPr lang="en-US" altLang="zh-CN" sz="2400" dirty="0">
                <a:solidFill>
                  <a:schemeClr val="accent2"/>
                </a:solidFill>
                <a:latin typeface="Symbol" panose="05050102010706020507" pitchFamily="18" charset="2"/>
                <a:ea typeface="黑体" panose="02010609060101010101" pitchFamily="49" charset="-122"/>
              </a:rPr>
              <a:t>90</a:t>
            </a:r>
            <a:r>
              <a:rPr lang="zh-CN" altLang="en-US" sz="2400" dirty="0">
                <a:solidFill>
                  <a:schemeClr val="accent2"/>
                </a:solidFill>
                <a:latin typeface="Symbol" panose="05050102010706020507" pitchFamily="18" charset="2"/>
                <a:ea typeface="黑体" panose="02010609060101010101" pitchFamily="49" charset="-122"/>
              </a:rPr>
              <a:t>度，则发电机输出功率达到最大。</a:t>
            </a:r>
            <a:r>
              <a:rPr lang="zh-CN" altLang="en-US" sz="2400" dirty="0">
                <a:latin typeface="Symbol" panose="05050102010706020507" pitchFamily="18" charset="2"/>
                <a:ea typeface="黑体" panose="02010609060101010101" pitchFamily="49" charset="-122"/>
              </a:rPr>
              <a:t>通常同步发电机的转矩角不会达到这个极限，额定负载时转矩角一般在</a:t>
            </a:r>
            <a:r>
              <a:rPr lang="en-US" altLang="zh-CN" sz="2400" dirty="0">
                <a:latin typeface="Symbol" panose="05050102010706020507" pitchFamily="18" charset="2"/>
                <a:ea typeface="黑体" panose="02010609060101010101" pitchFamily="49" charset="-122"/>
              </a:rPr>
              <a:t>15</a:t>
            </a:r>
            <a:r>
              <a:rPr lang="zh-CN" altLang="en-US" sz="2400" dirty="0">
                <a:latin typeface="Symbol" panose="05050102010706020507" pitchFamily="18" charset="2"/>
                <a:ea typeface="黑体" panose="02010609060101010101" pitchFamily="49" charset="-122"/>
              </a:rPr>
              <a:t>到</a:t>
            </a:r>
            <a:r>
              <a:rPr lang="en-US" altLang="zh-CN" sz="2400" dirty="0">
                <a:latin typeface="Symbol" panose="05050102010706020507" pitchFamily="18" charset="2"/>
                <a:ea typeface="黑体" panose="02010609060101010101" pitchFamily="49" charset="-122"/>
              </a:rPr>
              <a:t>20</a:t>
            </a:r>
            <a:r>
              <a:rPr lang="zh-CN" altLang="en-US" sz="2400" dirty="0">
                <a:latin typeface="Symbol" panose="05050102010706020507" pitchFamily="18" charset="2"/>
                <a:ea typeface="黑体" panose="02010609060101010101" pitchFamily="49" charset="-122"/>
              </a:rPr>
              <a:t>度之间。</a:t>
            </a:r>
            <a:endParaRPr lang="zh-CN" altLang="en-US" sz="2400" dirty="0">
              <a:ea typeface="黑体" panose="02010609060101010101" pitchFamily="49" charset="-122"/>
            </a:endParaRPr>
          </a:p>
        </p:txBody>
      </p:sp>
      <p:sp>
        <p:nvSpPr>
          <p:cNvPr id="13326" name="Rectangle 14">
            <a:extLst>
              <a:ext uri="{FF2B5EF4-FFF2-40B4-BE49-F238E27FC236}">
                <a16:creationId xmlns:a16="http://schemas.microsoft.com/office/drawing/2014/main" id="{538F5683-CAC0-8ECF-8ABC-1AC164D694AC}"/>
              </a:ext>
            </a:extLst>
          </p:cNvPr>
          <p:cNvSpPr>
            <a:spLocks noChangeArrowheads="1"/>
          </p:cNvSpPr>
          <p:nvPr/>
        </p:nvSpPr>
        <p:spPr bwMode="auto">
          <a:xfrm>
            <a:off x="401955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18127" name="Object 15">
            <a:extLst>
              <a:ext uri="{FF2B5EF4-FFF2-40B4-BE49-F238E27FC236}">
                <a16:creationId xmlns:a16="http://schemas.microsoft.com/office/drawing/2014/main" id="{C5552876-C101-6789-5380-D74886DF859F}"/>
              </a:ext>
            </a:extLst>
          </p:cNvPr>
          <p:cNvGraphicFramePr>
            <a:graphicFrameLocks noChangeAspect="1"/>
          </p:cNvGraphicFramePr>
          <p:nvPr/>
        </p:nvGraphicFramePr>
        <p:xfrm>
          <a:off x="381000" y="3886200"/>
          <a:ext cx="2743200" cy="1062038"/>
        </p:xfrm>
        <a:graphic>
          <a:graphicData uri="http://schemas.openxmlformats.org/presentationml/2006/ole">
            <mc:AlternateContent xmlns:mc="http://schemas.openxmlformats.org/markup-compatibility/2006">
              <mc:Choice xmlns:v="urn:schemas-microsoft-com:vml" Requires="v">
                <p:oleObj name="Equation" r:id="rId10" imgW="1104900" imgH="431800" progId="Equation.DSMT4">
                  <p:embed/>
                </p:oleObj>
              </mc:Choice>
              <mc:Fallback>
                <p:oleObj name="Equation" r:id="rId10" imgW="1104900" imgH="431800" progId="Equation.DSMT4">
                  <p:embed/>
                  <p:pic>
                    <p:nvPicPr>
                      <p:cNvPr id="218127" name="Object 15">
                        <a:extLst>
                          <a:ext uri="{FF2B5EF4-FFF2-40B4-BE49-F238E27FC236}">
                            <a16:creationId xmlns:a16="http://schemas.microsoft.com/office/drawing/2014/main" id="{C5552876-C101-6789-5380-D74886DF85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000" y="3886200"/>
                        <a:ext cx="27432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18123"/>
                                        </p:tgtEl>
                                        <p:attrNameLst>
                                          <p:attrName>style.visibility</p:attrName>
                                        </p:attrNameLst>
                                      </p:cBhvr>
                                      <p:to>
                                        <p:strVal val="visible"/>
                                      </p:to>
                                    </p:set>
                                    <p:anim calcmode="lin" valueType="num">
                                      <p:cBhvr>
                                        <p:cTn id="7" dur="500" fill="hold"/>
                                        <p:tgtEl>
                                          <p:spTgt spid="218123"/>
                                        </p:tgtEl>
                                        <p:attrNameLst>
                                          <p:attrName>ppt_w</p:attrName>
                                        </p:attrNameLst>
                                      </p:cBhvr>
                                      <p:tavLst>
                                        <p:tav tm="0">
                                          <p:val>
                                            <p:fltVal val="0"/>
                                          </p:val>
                                        </p:tav>
                                        <p:tav tm="100000">
                                          <p:val>
                                            <p:strVal val="#ppt_w"/>
                                          </p:val>
                                        </p:tav>
                                      </p:tavLst>
                                    </p:anim>
                                    <p:anim calcmode="lin" valueType="num">
                                      <p:cBhvr>
                                        <p:cTn id="8" dur="500" fill="hold"/>
                                        <p:tgtEl>
                                          <p:spTgt spid="21812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218127"/>
                                        </p:tgtEl>
                                        <p:attrNameLst>
                                          <p:attrName>style.visibility</p:attrName>
                                        </p:attrNameLst>
                                      </p:cBhvr>
                                      <p:to>
                                        <p:strVal val="visible"/>
                                      </p:to>
                                    </p:set>
                                    <p:animEffect transition="in" filter="blinds(horizontal)">
                                      <p:cBhvr>
                                        <p:cTn id="13" dur="500"/>
                                        <p:tgtEl>
                                          <p:spTgt spid="21812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18124"/>
                                        </p:tgtEl>
                                        <p:attrNameLst>
                                          <p:attrName>style.visibility</p:attrName>
                                        </p:attrNameLst>
                                      </p:cBhvr>
                                      <p:to>
                                        <p:strVal val="visible"/>
                                      </p:to>
                                    </p:set>
                                    <p:animEffect transition="in" filter="blinds(horizontal)">
                                      <p:cBhvr>
                                        <p:cTn id="18" dur="500"/>
                                        <p:tgtEl>
                                          <p:spTgt spid="2181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18125"/>
                                        </p:tgtEl>
                                        <p:attrNameLst>
                                          <p:attrName>style.visibility</p:attrName>
                                        </p:attrNameLst>
                                      </p:cBhvr>
                                      <p:to>
                                        <p:strVal val="visible"/>
                                      </p:to>
                                    </p:set>
                                    <p:animEffect transition="in" filter="blinds(horizontal)">
                                      <p:cBhvr>
                                        <p:cTn id="23" dur="500"/>
                                        <p:tgtEl>
                                          <p:spTgt spid="218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24" grpId="0" animBg="1" autoUpdateAnimBg="0"/>
      <p:bldP spid="218125"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EB891A4B-661A-F1C1-D065-09109B93FD15}"/>
              </a:ext>
            </a:extLst>
          </p:cNvPr>
          <p:cNvSpPr>
            <a:spLocks noGrp="1"/>
          </p:cNvSpPr>
          <p:nvPr>
            <p:ph type="sldNum" sz="quarter" idx="12"/>
          </p:nvPr>
        </p:nvSpPr>
        <p:spPr/>
        <p:txBody>
          <a:bodyPr/>
          <a:lstStyle/>
          <a:p>
            <a:pPr>
              <a:defRPr/>
            </a:pPr>
            <a:fld id="{0440EDCF-27E5-473F-ABB3-6CB7B2B0079F}" type="slidenum">
              <a:rPr lang="en-US" altLang="zh-CN"/>
              <a:pPr>
                <a:defRPr/>
              </a:pPr>
              <a:t>56</a:t>
            </a:fld>
            <a:endParaRPr lang="en-US" altLang="zh-CN"/>
          </a:p>
        </p:txBody>
      </p:sp>
      <p:graphicFrame>
        <p:nvGraphicFramePr>
          <p:cNvPr id="14339" name="Object 1028">
            <a:extLst>
              <a:ext uri="{FF2B5EF4-FFF2-40B4-BE49-F238E27FC236}">
                <a16:creationId xmlns:a16="http://schemas.microsoft.com/office/drawing/2014/main" id="{7F165761-85E4-C0D2-4821-C832A2EA0922}"/>
              </a:ext>
            </a:extLst>
          </p:cNvPr>
          <p:cNvGraphicFramePr>
            <a:graphicFrameLocks noChangeAspect="1"/>
          </p:cNvGraphicFramePr>
          <p:nvPr/>
        </p:nvGraphicFramePr>
        <p:xfrm>
          <a:off x="5181600" y="1143000"/>
          <a:ext cx="3962400" cy="2711450"/>
        </p:xfrm>
        <a:graphic>
          <a:graphicData uri="http://schemas.openxmlformats.org/presentationml/2006/ole">
            <mc:AlternateContent xmlns:mc="http://schemas.openxmlformats.org/markup-compatibility/2006">
              <mc:Choice xmlns:v="urn:schemas-microsoft-com:vml" Requires="v">
                <p:oleObj name="Microsoft Drawing" r:id="rId2" imgW="1701800" imgH="1173163" progId="MSDraw">
                  <p:embed/>
                </p:oleObj>
              </mc:Choice>
              <mc:Fallback>
                <p:oleObj name="Microsoft Drawing" r:id="rId2" imgW="1701800" imgH="1173163" progId="MSDraw">
                  <p:embed/>
                  <p:pic>
                    <p:nvPicPr>
                      <p:cNvPr id="14339" name="Object 1028">
                        <a:extLst>
                          <a:ext uri="{FF2B5EF4-FFF2-40B4-BE49-F238E27FC236}">
                            <a16:creationId xmlns:a16="http://schemas.microsoft.com/office/drawing/2014/main" id="{7F165761-85E4-C0D2-4821-C832A2EA0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143000"/>
                        <a:ext cx="3962400" cy="2711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0" name="Rectangle 1026">
            <a:extLst>
              <a:ext uri="{FF2B5EF4-FFF2-40B4-BE49-F238E27FC236}">
                <a16:creationId xmlns:a16="http://schemas.microsoft.com/office/drawing/2014/main" id="{FC6C0AE5-522C-EA03-4A62-24768AE4BD12}"/>
              </a:ext>
            </a:extLst>
          </p:cNvPr>
          <p:cNvSpPr>
            <a:spLocks noGrp="1" noChangeArrowheads="1"/>
          </p:cNvSpPr>
          <p:nvPr>
            <p:ph type="title"/>
          </p:nvPr>
        </p:nvSpPr>
        <p:spPr>
          <a:xfrm>
            <a:off x="971600" y="710998"/>
            <a:ext cx="5105400" cy="685800"/>
          </a:xfrm>
        </p:spPr>
        <p:txBody>
          <a:bodyPr/>
          <a:lstStyle/>
          <a:p>
            <a:pPr eaLnBrk="1" hangingPunct="1"/>
            <a:r>
              <a:rPr lang="zh-CN" altLang="en-US" sz="3200" b="1">
                <a:ea typeface="楷体_GB2312" pitchFamily="49" charset="-122"/>
              </a:rPr>
              <a:t>隐极同步发电机的无功功率</a:t>
            </a:r>
          </a:p>
        </p:txBody>
      </p:sp>
      <p:sp>
        <p:nvSpPr>
          <p:cNvPr id="14341" name="Rectangle 1029">
            <a:extLst>
              <a:ext uri="{FF2B5EF4-FFF2-40B4-BE49-F238E27FC236}">
                <a16:creationId xmlns:a16="http://schemas.microsoft.com/office/drawing/2014/main" id="{9099B034-C881-AA76-AA0B-7DA4EC2D64F7}"/>
              </a:ext>
            </a:extLst>
          </p:cNvPr>
          <p:cNvSpPr>
            <a:spLocks noChangeArrowheads="1"/>
          </p:cNvSpPr>
          <p:nvPr/>
        </p:nvSpPr>
        <p:spPr bwMode="auto">
          <a:xfrm>
            <a:off x="3348038" y="2871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4342" name="Object 1030">
            <a:extLst>
              <a:ext uri="{FF2B5EF4-FFF2-40B4-BE49-F238E27FC236}">
                <a16:creationId xmlns:a16="http://schemas.microsoft.com/office/drawing/2014/main" id="{2EFFEC22-9F25-C872-3222-CFA6D913B466}"/>
              </a:ext>
            </a:extLst>
          </p:cNvPr>
          <p:cNvGraphicFramePr>
            <a:graphicFrameLocks noChangeAspect="1"/>
          </p:cNvGraphicFramePr>
          <p:nvPr>
            <p:extLst>
              <p:ext uri="{D42A27DB-BD31-4B8C-83A1-F6EECF244321}">
                <p14:modId xmlns:p14="http://schemas.microsoft.com/office/powerpoint/2010/main" val="1596845215"/>
              </p:ext>
            </p:extLst>
          </p:nvPr>
        </p:nvGraphicFramePr>
        <p:xfrm>
          <a:off x="242633" y="1577975"/>
          <a:ext cx="4724400" cy="3702050"/>
        </p:xfrm>
        <a:graphic>
          <a:graphicData uri="http://schemas.openxmlformats.org/presentationml/2006/ole">
            <mc:AlternateContent xmlns:mc="http://schemas.openxmlformats.org/markup-compatibility/2006">
              <mc:Choice xmlns:v="urn:schemas-microsoft-com:vml" Requires="v">
                <p:oleObj name="Equation" r:id="rId4" imgW="1714500" imgH="1346200" progId="Equation.DSMT4">
                  <p:embed/>
                </p:oleObj>
              </mc:Choice>
              <mc:Fallback>
                <p:oleObj name="Equation" r:id="rId4" imgW="1714500" imgH="1346200" progId="Equation.DSMT4">
                  <p:embed/>
                  <p:pic>
                    <p:nvPicPr>
                      <p:cNvPr id="14342" name="Object 1030">
                        <a:extLst>
                          <a:ext uri="{FF2B5EF4-FFF2-40B4-BE49-F238E27FC236}">
                            <a16:creationId xmlns:a16="http://schemas.microsoft.com/office/drawing/2014/main" id="{2EFFEC22-9F25-C872-3222-CFA6D913B4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633" y="1577975"/>
                        <a:ext cx="4724400"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1031">
            <a:extLst>
              <a:ext uri="{FF2B5EF4-FFF2-40B4-BE49-F238E27FC236}">
                <a16:creationId xmlns:a16="http://schemas.microsoft.com/office/drawing/2014/main" id="{E6DAE0D4-4869-28F4-CF7D-CAA600B022A1}"/>
              </a:ext>
            </a:extLst>
          </p:cNvPr>
          <p:cNvSpPr>
            <a:spLocks noChangeArrowheads="1"/>
          </p:cNvSpPr>
          <p:nvPr/>
        </p:nvSpPr>
        <p:spPr bwMode="auto">
          <a:xfrm>
            <a:off x="3729038"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4344" name="Object 1032">
            <a:extLst>
              <a:ext uri="{FF2B5EF4-FFF2-40B4-BE49-F238E27FC236}">
                <a16:creationId xmlns:a16="http://schemas.microsoft.com/office/drawing/2014/main" id="{928B5842-5152-7413-E3DE-5B8A1F43B557}"/>
              </a:ext>
            </a:extLst>
          </p:cNvPr>
          <p:cNvGraphicFramePr>
            <a:graphicFrameLocks noChangeAspect="1"/>
          </p:cNvGraphicFramePr>
          <p:nvPr>
            <p:extLst>
              <p:ext uri="{D42A27DB-BD31-4B8C-83A1-F6EECF244321}">
                <p14:modId xmlns:p14="http://schemas.microsoft.com/office/powerpoint/2010/main" val="296387724"/>
              </p:ext>
            </p:extLst>
          </p:nvPr>
        </p:nvGraphicFramePr>
        <p:xfrm>
          <a:off x="395033" y="5235575"/>
          <a:ext cx="4800600" cy="1301750"/>
        </p:xfrm>
        <a:graphic>
          <a:graphicData uri="http://schemas.openxmlformats.org/presentationml/2006/ole">
            <mc:AlternateContent xmlns:mc="http://schemas.openxmlformats.org/markup-compatibility/2006">
              <mc:Choice xmlns:v="urn:schemas-microsoft-com:vml" Requires="v">
                <p:oleObj r:id="rId6" imgW="1689100" imgH="457200" progId="Equation.DSMT4">
                  <p:embed/>
                </p:oleObj>
              </mc:Choice>
              <mc:Fallback>
                <p:oleObj r:id="rId6" imgW="1689100" imgH="457200" progId="Equation.DSMT4">
                  <p:embed/>
                  <p:pic>
                    <p:nvPicPr>
                      <p:cNvPr id="14344" name="Object 1032">
                        <a:extLst>
                          <a:ext uri="{FF2B5EF4-FFF2-40B4-BE49-F238E27FC236}">
                            <a16:creationId xmlns:a16="http://schemas.microsoft.com/office/drawing/2014/main" id="{928B5842-5152-7413-E3DE-5B8A1F43B5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033" y="5235575"/>
                        <a:ext cx="4800600" cy="13017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9CFC8DAF-D3A4-AE9F-08F5-D23706989A7C}"/>
              </a:ext>
            </a:extLst>
          </p:cNvPr>
          <p:cNvSpPr>
            <a:spLocks noGrp="1"/>
          </p:cNvSpPr>
          <p:nvPr>
            <p:ph type="sldNum" sz="quarter" idx="12"/>
          </p:nvPr>
        </p:nvSpPr>
        <p:spPr>
          <a:xfrm>
            <a:off x="6660232" y="6381750"/>
            <a:ext cx="2133600" cy="476250"/>
          </a:xfrm>
        </p:spPr>
        <p:txBody>
          <a:bodyPr/>
          <a:lstStyle/>
          <a:p>
            <a:pPr>
              <a:defRPr/>
            </a:pPr>
            <a:fld id="{61067C47-7DA0-42DB-AE41-0BE3F155418B}" type="slidenum">
              <a:rPr lang="en-US" altLang="zh-CN"/>
              <a:pPr>
                <a:defRPr/>
              </a:pPr>
              <a:t>57</a:t>
            </a:fld>
            <a:endParaRPr lang="en-US" altLang="zh-CN"/>
          </a:p>
        </p:txBody>
      </p:sp>
      <p:sp>
        <p:nvSpPr>
          <p:cNvPr id="15363" name="Rectangle 2">
            <a:extLst>
              <a:ext uri="{FF2B5EF4-FFF2-40B4-BE49-F238E27FC236}">
                <a16:creationId xmlns:a16="http://schemas.microsoft.com/office/drawing/2014/main" id="{4F292867-F0CA-401E-083F-7EDAEF4699F7}"/>
              </a:ext>
            </a:extLst>
          </p:cNvPr>
          <p:cNvSpPr>
            <a:spLocks noGrp="1" noChangeArrowheads="1"/>
          </p:cNvSpPr>
          <p:nvPr>
            <p:ph type="title"/>
          </p:nvPr>
        </p:nvSpPr>
        <p:spPr>
          <a:xfrm>
            <a:off x="566415" y="731887"/>
            <a:ext cx="7772400" cy="762000"/>
          </a:xfrm>
        </p:spPr>
        <p:txBody>
          <a:bodyPr/>
          <a:lstStyle/>
          <a:p>
            <a:pPr eaLnBrk="1" hangingPunct="1"/>
            <a:r>
              <a:rPr lang="zh-CN" altLang="en-US" sz="3200" b="1">
                <a:ea typeface="楷体_GB2312" pitchFamily="49" charset="-122"/>
              </a:rPr>
              <a:t>二、</a:t>
            </a:r>
            <a:r>
              <a:rPr lang="zh-CN" altLang="en-US" sz="3200" b="1">
                <a:solidFill>
                  <a:srgbClr val="000099"/>
                </a:solidFill>
                <a:ea typeface="楷体_GB2312" pitchFamily="49" charset="-122"/>
              </a:rPr>
              <a:t>凸极</a:t>
            </a:r>
            <a:r>
              <a:rPr lang="zh-CN" altLang="en-US" sz="3200" b="1">
                <a:ea typeface="楷体_GB2312" pitchFamily="49" charset="-122"/>
              </a:rPr>
              <a:t>同步发电机的功角、矩角特性</a:t>
            </a:r>
          </a:p>
        </p:txBody>
      </p:sp>
      <p:sp>
        <p:nvSpPr>
          <p:cNvPr id="15364" name="Rectangle 4">
            <a:extLst>
              <a:ext uri="{FF2B5EF4-FFF2-40B4-BE49-F238E27FC236}">
                <a16:creationId xmlns:a16="http://schemas.microsoft.com/office/drawing/2014/main" id="{41D7DD85-3384-5982-BA2A-2FD9B84E8814}"/>
              </a:ext>
            </a:extLst>
          </p:cNvPr>
          <p:cNvSpPr>
            <a:spLocks noGrp="1" noChangeArrowheads="1"/>
          </p:cNvSpPr>
          <p:nvPr>
            <p:ph type="body" sz="half" idx="1"/>
          </p:nvPr>
        </p:nvSpPr>
        <p:spPr>
          <a:xfrm>
            <a:off x="566415" y="1722487"/>
            <a:ext cx="2133600" cy="685800"/>
          </a:xfrm>
          <a:noFill/>
        </p:spPr>
        <p:txBody>
          <a:bodyPr/>
          <a:lstStyle/>
          <a:p>
            <a:pPr eaLnBrk="1" hangingPunct="1">
              <a:buFontTx/>
              <a:buNone/>
            </a:pPr>
            <a:r>
              <a:rPr lang="zh-CN" altLang="en-US" sz="2400" b="1">
                <a:ea typeface="黑体" panose="02010609060101010101" pitchFamily="49" charset="-122"/>
              </a:rPr>
              <a:t>忽略定子电阻</a:t>
            </a:r>
          </a:p>
        </p:txBody>
      </p:sp>
      <p:graphicFrame>
        <p:nvGraphicFramePr>
          <p:cNvPr id="15365" name="Object 5">
            <a:extLst>
              <a:ext uri="{FF2B5EF4-FFF2-40B4-BE49-F238E27FC236}">
                <a16:creationId xmlns:a16="http://schemas.microsoft.com/office/drawing/2014/main" id="{937F029E-B155-6026-E74F-C01180174C18}"/>
              </a:ext>
            </a:extLst>
          </p:cNvPr>
          <p:cNvGraphicFramePr>
            <a:graphicFrameLocks noChangeAspect="1"/>
          </p:cNvGraphicFramePr>
          <p:nvPr>
            <p:extLst>
              <p:ext uri="{D42A27DB-BD31-4B8C-83A1-F6EECF244321}">
                <p14:modId xmlns:p14="http://schemas.microsoft.com/office/powerpoint/2010/main" val="1612016508"/>
              </p:ext>
            </p:extLst>
          </p:nvPr>
        </p:nvGraphicFramePr>
        <p:xfrm>
          <a:off x="2623815" y="1536750"/>
          <a:ext cx="3276600" cy="1122362"/>
        </p:xfrm>
        <a:graphic>
          <a:graphicData uri="http://schemas.openxmlformats.org/presentationml/2006/ole">
            <mc:AlternateContent xmlns:mc="http://schemas.openxmlformats.org/markup-compatibility/2006">
              <mc:Choice xmlns:v="urn:schemas-microsoft-com:vml" Requires="v">
                <p:oleObj name="Equation" r:id="rId2" imgW="1422400" imgH="482600" progId="Equation.DSMT4">
                  <p:embed/>
                </p:oleObj>
              </mc:Choice>
              <mc:Fallback>
                <p:oleObj name="Equation" r:id="rId2" imgW="1422400" imgH="482600" progId="Equation.DSMT4">
                  <p:embed/>
                  <p:pic>
                    <p:nvPicPr>
                      <p:cNvPr id="15365" name="Object 5">
                        <a:extLst>
                          <a:ext uri="{FF2B5EF4-FFF2-40B4-BE49-F238E27FC236}">
                            <a16:creationId xmlns:a16="http://schemas.microsoft.com/office/drawing/2014/main" id="{937F029E-B155-6026-E74F-C01180174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3815" y="1536750"/>
                        <a:ext cx="3276600"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66" name="Object 6">
            <a:extLst>
              <a:ext uri="{FF2B5EF4-FFF2-40B4-BE49-F238E27FC236}">
                <a16:creationId xmlns:a16="http://schemas.microsoft.com/office/drawing/2014/main" id="{59D15D8C-8ECD-58D8-B6BE-0424FCC7FB6B}"/>
              </a:ext>
            </a:extLst>
          </p:cNvPr>
          <p:cNvGraphicFramePr>
            <a:graphicFrameLocks noChangeAspect="1"/>
          </p:cNvGraphicFramePr>
          <p:nvPr>
            <p:extLst>
              <p:ext uri="{D42A27DB-BD31-4B8C-83A1-F6EECF244321}">
                <p14:modId xmlns:p14="http://schemas.microsoft.com/office/powerpoint/2010/main" val="3139623581"/>
              </p:ext>
            </p:extLst>
          </p:nvPr>
        </p:nvGraphicFramePr>
        <p:xfrm>
          <a:off x="566415" y="2636887"/>
          <a:ext cx="4319588" cy="909638"/>
        </p:xfrm>
        <a:graphic>
          <a:graphicData uri="http://schemas.openxmlformats.org/presentationml/2006/ole">
            <mc:AlternateContent xmlns:mc="http://schemas.openxmlformats.org/markup-compatibility/2006">
              <mc:Choice xmlns:v="urn:schemas-microsoft-com:vml" Requires="v">
                <p:oleObj name="Equation" r:id="rId4" imgW="2120900" imgH="444500" progId="Equation.DSMT4">
                  <p:embed/>
                </p:oleObj>
              </mc:Choice>
              <mc:Fallback>
                <p:oleObj name="Equation" r:id="rId4" imgW="2120900" imgH="444500" progId="Equation.DSMT4">
                  <p:embed/>
                  <p:pic>
                    <p:nvPicPr>
                      <p:cNvPr id="220166" name="Object 6">
                        <a:extLst>
                          <a:ext uri="{FF2B5EF4-FFF2-40B4-BE49-F238E27FC236}">
                            <a16:creationId xmlns:a16="http://schemas.microsoft.com/office/drawing/2014/main" id="{59D15D8C-8ECD-58D8-B6BE-0424FCC7FB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415" y="2636887"/>
                        <a:ext cx="4319588"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67" name="Object 7">
            <a:extLst>
              <a:ext uri="{FF2B5EF4-FFF2-40B4-BE49-F238E27FC236}">
                <a16:creationId xmlns:a16="http://schemas.microsoft.com/office/drawing/2014/main" id="{886FC1EB-0D12-BB27-3561-3DA57644611B}"/>
              </a:ext>
            </a:extLst>
          </p:cNvPr>
          <p:cNvGraphicFramePr>
            <a:graphicFrameLocks noChangeAspect="1"/>
          </p:cNvGraphicFramePr>
          <p:nvPr>
            <p:extLst>
              <p:ext uri="{D42A27DB-BD31-4B8C-83A1-F6EECF244321}">
                <p14:modId xmlns:p14="http://schemas.microsoft.com/office/powerpoint/2010/main" val="3618814452"/>
              </p:ext>
            </p:extLst>
          </p:nvPr>
        </p:nvGraphicFramePr>
        <p:xfrm>
          <a:off x="566415" y="3551287"/>
          <a:ext cx="3887788" cy="500063"/>
        </p:xfrm>
        <a:graphic>
          <a:graphicData uri="http://schemas.openxmlformats.org/presentationml/2006/ole">
            <mc:AlternateContent xmlns:mc="http://schemas.openxmlformats.org/markup-compatibility/2006">
              <mc:Choice xmlns:v="urn:schemas-microsoft-com:vml" Requires="v">
                <p:oleObj name="Equation" r:id="rId6" imgW="1701800" imgH="215900" progId="Equation.DSMT4">
                  <p:embed/>
                </p:oleObj>
              </mc:Choice>
              <mc:Fallback>
                <p:oleObj name="Equation" r:id="rId6" imgW="1701800" imgH="215900" progId="Equation.DSMT4">
                  <p:embed/>
                  <p:pic>
                    <p:nvPicPr>
                      <p:cNvPr id="220167" name="Object 7">
                        <a:extLst>
                          <a:ext uri="{FF2B5EF4-FFF2-40B4-BE49-F238E27FC236}">
                            <a16:creationId xmlns:a16="http://schemas.microsoft.com/office/drawing/2014/main" id="{886FC1EB-0D12-BB27-3561-3DA5764461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415" y="3551287"/>
                        <a:ext cx="388778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68" name="Object 8">
            <a:extLst>
              <a:ext uri="{FF2B5EF4-FFF2-40B4-BE49-F238E27FC236}">
                <a16:creationId xmlns:a16="http://schemas.microsoft.com/office/drawing/2014/main" id="{6052A18D-ACC5-7994-B418-D6AB182CB3E8}"/>
              </a:ext>
            </a:extLst>
          </p:cNvPr>
          <p:cNvGraphicFramePr>
            <a:graphicFrameLocks noChangeAspect="1"/>
          </p:cNvGraphicFramePr>
          <p:nvPr>
            <p:extLst>
              <p:ext uri="{D42A27DB-BD31-4B8C-83A1-F6EECF244321}">
                <p14:modId xmlns:p14="http://schemas.microsoft.com/office/powerpoint/2010/main" val="1688486294"/>
              </p:ext>
            </p:extLst>
          </p:nvPr>
        </p:nvGraphicFramePr>
        <p:xfrm>
          <a:off x="323528" y="4437112"/>
          <a:ext cx="5573712" cy="1012825"/>
        </p:xfrm>
        <a:graphic>
          <a:graphicData uri="http://schemas.openxmlformats.org/presentationml/2006/ole">
            <mc:AlternateContent xmlns:mc="http://schemas.openxmlformats.org/markup-compatibility/2006">
              <mc:Choice xmlns:v="urn:schemas-microsoft-com:vml" Requires="v">
                <p:oleObj name="Equation" r:id="rId8" imgW="2514600" imgH="457200" progId="Equation.DSMT4">
                  <p:embed/>
                </p:oleObj>
              </mc:Choice>
              <mc:Fallback>
                <p:oleObj name="Equation" r:id="rId8" imgW="2514600" imgH="457200" progId="Equation.DSMT4">
                  <p:embed/>
                  <p:pic>
                    <p:nvPicPr>
                      <p:cNvPr id="220168" name="Object 8">
                        <a:extLst>
                          <a:ext uri="{FF2B5EF4-FFF2-40B4-BE49-F238E27FC236}">
                            <a16:creationId xmlns:a16="http://schemas.microsoft.com/office/drawing/2014/main" id="{6052A18D-ACC5-7994-B418-D6AB182CB3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528" y="4437112"/>
                        <a:ext cx="5573712"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69" name="Object 9">
            <a:extLst>
              <a:ext uri="{FF2B5EF4-FFF2-40B4-BE49-F238E27FC236}">
                <a16:creationId xmlns:a16="http://schemas.microsoft.com/office/drawing/2014/main" id="{AE069429-2D0B-680A-0474-7B0DEA570D9C}"/>
              </a:ext>
            </a:extLst>
          </p:cNvPr>
          <p:cNvGraphicFramePr>
            <a:graphicFrameLocks noChangeAspect="1"/>
          </p:cNvGraphicFramePr>
          <p:nvPr>
            <p:extLst>
              <p:ext uri="{D42A27DB-BD31-4B8C-83A1-F6EECF244321}">
                <p14:modId xmlns:p14="http://schemas.microsoft.com/office/powerpoint/2010/main" val="2191070689"/>
              </p:ext>
            </p:extLst>
          </p:nvPr>
        </p:nvGraphicFramePr>
        <p:xfrm>
          <a:off x="566415" y="5761087"/>
          <a:ext cx="3960813" cy="547688"/>
        </p:xfrm>
        <a:graphic>
          <a:graphicData uri="http://schemas.openxmlformats.org/presentationml/2006/ole">
            <mc:AlternateContent xmlns:mc="http://schemas.openxmlformats.org/markup-compatibility/2006">
              <mc:Choice xmlns:v="urn:schemas-microsoft-com:vml" Requires="v">
                <p:oleObj name="Equation" r:id="rId10" imgW="1727200" imgH="241300" progId="Equation.DSMT4">
                  <p:embed/>
                </p:oleObj>
              </mc:Choice>
              <mc:Fallback>
                <p:oleObj name="Equation" r:id="rId10" imgW="1727200" imgH="241300" progId="Equation.DSMT4">
                  <p:embed/>
                  <p:pic>
                    <p:nvPicPr>
                      <p:cNvPr id="220169" name="Object 9">
                        <a:extLst>
                          <a:ext uri="{FF2B5EF4-FFF2-40B4-BE49-F238E27FC236}">
                            <a16:creationId xmlns:a16="http://schemas.microsoft.com/office/drawing/2014/main" id="{AE069429-2D0B-680A-0474-7B0DEA570D9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415" y="5761087"/>
                        <a:ext cx="396081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0" name="Object 10">
            <a:extLst>
              <a:ext uri="{FF2B5EF4-FFF2-40B4-BE49-F238E27FC236}">
                <a16:creationId xmlns:a16="http://schemas.microsoft.com/office/drawing/2014/main" id="{906FC7BC-4F85-3446-19F9-AA1200CD1597}"/>
              </a:ext>
            </a:extLst>
          </p:cNvPr>
          <p:cNvGraphicFramePr>
            <a:graphicFrameLocks noChangeAspect="1"/>
          </p:cNvGraphicFramePr>
          <p:nvPr>
            <p:extLst>
              <p:ext uri="{D42A27DB-BD31-4B8C-83A1-F6EECF244321}">
                <p14:modId xmlns:p14="http://schemas.microsoft.com/office/powerpoint/2010/main" val="3619387816"/>
              </p:ext>
            </p:extLst>
          </p:nvPr>
        </p:nvGraphicFramePr>
        <p:xfrm>
          <a:off x="6205215" y="1722487"/>
          <a:ext cx="2397125" cy="4495800"/>
        </p:xfrm>
        <a:graphic>
          <a:graphicData uri="http://schemas.openxmlformats.org/presentationml/2006/ole">
            <mc:AlternateContent xmlns:mc="http://schemas.openxmlformats.org/markup-compatibility/2006">
              <mc:Choice xmlns:v="urn:schemas-microsoft-com:vml" Requires="v">
                <p:oleObj name="Microsoft Drawing" r:id="rId12" imgW="1212850" imgH="2274888" progId="MSDraw">
                  <p:embed/>
                </p:oleObj>
              </mc:Choice>
              <mc:Fallback>
                <p:oleObj name="Microsoft Drawing" r:id="rId12" imgW="1212850" imgH="2274888" progId="MSDraw">
                  <p:embed/>
                  <p:pic>
                    <p:nvPicPr>
                      <p:cNvPr id="15370" name="Object 10">
                        <a:extLst>
                          <a:ext uri="{FF2B5EF4-FFF2-40B4-BE49-F238E27FC236}">
                            <a16:creationId xmlns:a16="http://schemas.microsoft.com/office/drawing/2014/main" id="{906FC7BC-4F85-3446-19F9-AA1200CD159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05215" y="1722487"/>
                        <a:ext cx="2397125" cy="449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0166"/>
                                        </p:tgtEl>
                                        <p:attrNameLst>
                                          <p:attrName>style.visibility</p:attrName>
                                        </p:attrNameLst>
                                      </p:cBhvr>
                                      <p:to>
                                        <p:strVal val="visible"/>
                                      </p:to>
                                    </p:set>
                                    <p:animEffect transition="in" filter="blinds(horizontal)">
                                      <p:cBhvr>
                                        <p:cTn id="7" dur="500"/>
                                        <p:tgtEl>
                                          <p:spTgt spid="2201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0167"/>
                                        </p:tgtEl>
                                        <p:attrNameLst>
                                          <p:attrName>style.visibility</p:attrName>
                                        </p:attrNameLst>
                                      </p:cBhvr>
                                      <p:to>
                                        <p:strVal val="visible"/>
                                      </p:to>
                                    </p:set>
                                    <p:animEffect transition="in" filter="blinds(horizontal)">
                                      <p:cBhvr>
                                        <p:cTn id="12" dur="500"/>
                                        <p:tgtEl>
                                          <p:spTgt spid="220167"/>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220168"/>
                                        </p:tgtEl>
                                        <p:attrNameLst>
                                          <p:attrName>style.visibility</p:attrName>
                                        </p:attrNameLst>
                                      </p:cBhvr>
                                      <p:to>
                                        <p:strVal val="visible"/>
                                      </p:to>
                                    </p:set>
                                    <p:animEffect transition="in" filter="blinds(horizontal)">
                                      <p:cBhvr>
                                        <p:cTn id="16" dur="500"/>
                                        <p:tgtEl>
                                          <p:spTgt spid="2201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220169"/>
                                        </p:tgtEl>
                                        <p:attrNameLst>
                                          <p:attrName>style.visibility</p:attrName>
                                        </p:attrNameLst>
                                      </p:cBhvr>
                                      <p:to>
                                        <p:strVal val="visible"/>
                                      </p:to>
                                    </p:set>
                                    <p:animEffect transition="in" filter="blinds(horizontal)">
                                      <p:cBhvr>
                                        <p:cTn id="21" dur="500"/>
                                        <p:tgtEl>
                                          <p:spTgt spid="220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FED7708-CC25-D22E-3E33-EA69F94216B3}"/>
              </a:ext>
            </a:extLst>
          </p:cNvPr>
          <p:cNvSpPr>
            <a:spLocks noGrp="1"/>
          </p:cNvSpPr>
          <p:nvPr>
            <p:ph type="sldNum" sz="quarter" idx="12"/>
          </p:nvPr>
        </p:nvSpPr>
        <p:spPr/>
        <p:txBody>
          <a:bodyPr/>
          <a:lstStyle/>
          <a:p>
            <a:pPr>
              <a:defRPr/>
            </a:pPr>
            <a:fld id="{FBBF760B-C443-4D6A-920E-120C12C7FBC4}" type="slidenum">
              <a:rPr lang="en-US" altLang="zh-CN"/>
              <a:pPr>
                <a:defRPr/>
              </a:pPr>
              <a:t>58</a:t>
            </a:fld>
            <a:endParaRPr lang="en-US" altLang="zh-CN"/>
          </a:p>
        </p:txBody>
      </p:sp>
      <p:sp>
        <p:nvSpPr>
          <p:cNvPr id="16387" name="Rectangle 3074">
            <a:extLst>
              <a:ext uri="{FF2B5EF4-FFF2-40B4-BE49-F238E27FC236}">
                <a16:creationId xmlns:a16="http://schemas.microsoft.com/office/drawing/2014/main" id="{64B2CFE1-A62E-C59A-36D2-3DAB193C7FFB}"/>
              </a:ext>
            </a:extLst>
          </p:cNvPr>
          <p:cNvSpPr>
            <a:spLocks noGrp="1" noChangeArrowheads="1"/>
          </p:cNvSpPr>
          <p:nvPr>
            <p:ph type="title"/>
          </p:nvPr>
        </p:nvSpPr>
        <p:spPr>
          <a:xfrm>
            <a:off x="2011362" y="629444"/>
            <a:ext cx="5791200" cy="762000"/>
          </a:xfrm>
        </p:spPr>
        <p:txBody>
          <a:bodyPr/>
          <a:lstStyle/>
          <a:p>
            <a:pPr eaLnBrk="1" hangingPunct="1"/>
            <a:r>
              <a:rPr lang="zh-CN" altLang="en-US" sz="2800" b="1" dirty="0"/>
              <a:t>凸极同步发电机的功角、矩角特性</a:t>
            </a:r>
          </a:p>
        </p:txBody>
      </p:sp>
      <p:graphicFrame>
        <p:nvGraphicFramePr>
          <p:cNvPr id="16388" name="Object 3076">
            <a:extLst>
              <a:ext uri="{FF2B5EF4-FFF2-40B4-BE49-F238E27FC236}">
                <a16:creationId xmlns:a16="http://schemas.microsoft.com/office/drawing/2014/main" id="{52E4FB60-A67D-5B3E-2EDC-AD0DB19D32EB}"/>
              </a:ext>
            </a:extLst>
          </p:cNvPr>
          <p:cNvGraphicFramePr>
            <a:graphicFrameLocks noChangeAspect="1"/>
          </p:cNvGraphicFramePr>
          <p:nvPr>
            <p:extLst>
              <p:ext uri="{D42A27DB-BD31-4B8C-83A1-F6EECF244321}">
                <p14:modId xmlns:p14="http://schemas.microsoft.com/office/powerpoint/2010/main" val="4283015176"/>
              </p:ext>
            </p:extLst>
          </p:nvPr>
        </p:nvGraphicFramePr>
        <p:xfrm>
          <a:off x="174893" y="1164555"/>
          <a:ext cx="5400675" cy="2298700"/>
        </p:xfrm>
        <a:graphic>
          <a:graphicData uri="http://schemas.openxmlformats.org/presentationml/2006/ole">
            <mc:AlternateContent xmlns:mc="http://schemas.openxmlformats.org/markup-compatibility/2006">
              <mc:Choice xmlns:v="urn:schemas-microsoft-com:vml" Requires="v">
                <p:oleObj name="Equation" r:id="rId2" imgW="2755900" imgH="1168400" progId="Equation.DSMT4">
                  <p:embed/>
                </p:oleObj>
              </mc:Choice>
              <mc:Fallback>
                <p:oleObj name="Equation" r:id="rId2" imgW="2755900" imgH="1168400" progId="Equation.DSMT4">
                  <p:embed/>
                  <p:pic>
                    <p:nvPicPr>
                      <p:cNvPr id="16388" name="Object 3076">
                        <a:extLst>
                          <a:ext uri="{FF2B5EF4-FFF2-40B4-BE49-F238E27FC236}">
                            <a16:creationId xmlns:a16="http://schemas.microsoft.com/office/drawing/2014/main" id="{52E4FB60-A67D-5B3E-2EDC-AD0DB19D3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893" y="1164555"/>
                        <a:ext cx="5400675"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1189" name="Object 3077">
            <a:extLst>
              <a:ext uri="{FF2B5EF4-FFF2-40B4-BE49-F238E27FC236}">
                <a16:creationId xmlns:a16="http://schemas.microsoft.com/office/drawing/2014/main" id="{3AD5EF71-9C3C-758D-339A-692B2E621E7B}"/>
              </a:ext>
            </a:extLst>
          </p:cNvPr>
          <p:cNvGraphicFramePr>
            <a:graphicFrameLocks noChangeAspect="1"/>
          </p:cNvGraphicFramePr>
          <p:nvPr>
            <p:extLst>
              <p:ext uri="{D42A27DB-BD31-4B8C-83A1-F6EECF244321}">
                <p14:modId xmlns:p14="http://schemas.microsoft.com/office/powerpoint/2010/main" val="1464070440"/>
              </p:ext>
            </p:extLst>
          </p:nvPr>
        </p:nvGraphicFramePr>
        <p:xfrm>
          <a:off x="8206" y="3575968"/>
          <a:ext cx="6202362" cy="1062037"/>
        </p:xfrm>
        <a:graphic>
          <a:graphicData uri="http://schemas.openxmlformats.org/presentationml/2006/ole">
            <mc:AlternateContent xmlns:mc="http://schemas.openxmlformats.org/markup-compatibility/2006">
              <mc:Choice xmlns:v="urn:schemas-microsoft-com:vml" Requires="v">
                <p:oleObj name="Equation" r:id="rId4" imgW="2730500" imgH="469900" progId="Equation.DSMT4">
                  <p:embed/>
                </p:oleObj>
              </mc:Choice>
              <mc:Fallback>
                <p:oleObj name="Equation" r:id="rId4" imgW="2730500" imgH="469900" progId="Equation.DSMT4">
                  <p:embed/>
                  <p:pic>
                    <p:nvPicPr>
                      <p:cNvPr id="221189" name="Object 3077">
                        <a:extLst>
                          <a:ext uri="{FF2B5EF4-FFF2-40B4-BE49-F238E27FC236}">
                            <a16:creationId xmlns:a16="http://schemas.microsoft.com/office/drawing/2014/main" id="{3AD5EF71-9C3C-758D-339A-692B2E621E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6" y="3575968"/>
                        <a:ext cx="6202362" cy="106203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1190" name="Object 3078">
            <a:extLst>
              <a:ext uri="{FF2B5EF4-FFF2-40B4-BE49-F238E27FC236}">
                <a16:creationId xmlns:a16="http://schemas.microsoft.com/office/drawing/2014/main" id="{22E4B910-FDD4-BDD0-BFD8-48600D30E812}"/>
              </a:ext>
            </a:extLst>
          </p:cNvPr>
          <p:cNvGraphicFramePr>
            <a:graphicFrameLocks noChangeAspect="1"/>
          </p:cNvGraphicFramePr>
          <p:nvPr>
            <p:extLst>
              <p:ext uri="{D42A27DB-BD31-4B8C-83A1-F6EECF244321}">
                <p14:modId xmlns:p14="http://schemas.microsoft.com/office/powerpoint/2010/main" val="158477722"/>
              </p:ext>
            </p:extLst>
          </p:nvPr>
        </p:nvGraphicFramePr>
        <p:xfrm>
          <a:off x="120918" y="4879305"/>
          <a:ext cx="6454775" cy="1016000"/>
        </p:xfrm>
        <a:graphic>
          <a:graphicData uri="http://schemas.openxmlformats.org/presentationml/2006/ole">
            <mc:AlternateContent xmlns:mc="http://schemas.openxmlformats.org/markup-compatibility/2006">
              <mc:Choice xmlns:v="urn:schemas-microsoft-com:vml" Requires="v">
                <p:oleObj name="Equation" r:id="rId6" imgW="2971800" imgH="469900" progId="Equation.DSMT4">
                  <p:embed/>
                </p:oleObj>
              </mc:Choice>
              <mc:Fallback>
                <p:oleObj name="Equation" r:id="rId6" imgW="2971800" imgH="469900" progId="Equation.DSMT4">
                  <p:embed/>
                  <p:pic>
                    <p:nvPicPr>
                      <p:cNvPr id="221190" name="Object 3078">
                        <a:extLst>
                          <a:ext uri="{FF2B5EF4-FFF2-40B4-BE49-F238E27FC236}">
                            <a16:creationId xmlns:a16="http://schemas.microsoft.com/office/drawing/2014/main" id="{22E4B910-FDD4-BDD0-BFD8-48600D30E8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918" y="4879305"/>
                        <a:ext cx="6454775" cy="1016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1191" name="Rectangle 3079">
            <a:extLst>
              <a:ext uri="{FF2B5EF4-FFF2-40B4-BE49-F238E27FC236}">
                <a16:creationId xmlns:a16="http://schemas.microsoft.com/office/drawing/2014/main" id="{21D61F8D-1C37-F3AF-7930-9154E8BE0A1D}"/>
              </a:ext>
            </a:extLst>
          </p:cNvPr>
          <p:cNvSpPr>
            <a:spLocks noChangeArrowheads="1"/>
          </p:cNvSpPr>
          <p:nvPr/>
        </p:nvSpPr>
        <p:spPr bwMode="auto">
          <a:xfrm>
            <a:off x="22493" y="6041355"/>
            <a:ext cx="7924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400">
                <a:latin typeface="Arial" panose="020B0604020202020204" pitchFamily="34" charset="0"/>
                <a:ea typeface="华文中宋" panose="02010600040101010101" pitchFamily="2" charset="-122"/>
              </a:rPr>
              <a:t>输出电压、相电势为常数时，凸极同步发电机的电磁功率只随功角变化</a:t>
            </a:r>
            <a:r>
              <a:rPr kumimoji="0" lang="zh-CN" altLang="en-US" sz="1800" b="0">
                <a:latin typeface="Arial" panose="020B0604020202020204" pitchFamily="34" charset="0"/>
              </a:rPr>
              <a:t> </a:t>
            </a:r>
          </a:p>
        </p:txBody>
      </p:sp>
      <p:graphicFrame>
        <p:nvGraphicFramePr>
          <p:cNvPr id="16392" name="Object 3080">
            <a:extLst>
              <a:ext uri="{FF2B5EF4-FFF2-40B4-BE49-F238E27FC236}">
                <a16:creationId xmlns:a16="http://schemas.microsoft.com/office/drawing/2014/main" id="{845F5949-9E2D-27E9-F734-15280DB97F71}"/>
              </a:ext>
            </a:extLst>
          </p:cNvPr>
          <p:cNvGraphicFramePr>
            <a:graphicFrameLocks noChangeAspect="1"/>
          </p:cNvGraphicFramePr>
          <p:nvPr/>
        </p:nvGraphicFramePr>
        <p:xfrm>
          <a:off x="6705600" y="1600200"/>
          <a:ext cx="2193925" cy="4114800"/>
        </p:xfrm>
        <a:graphic>
          <a:graphicData uri="http://schemas.openxmlformats.org/presentationml/2006/ole">
            <mc:AlternateContent xmlns:mc="http://schemas.openxmlformats.org/markup-compatibility/2006">
              <mc:Choice xmlns:v="urn:schemas-microsoft-com:vml" Requires="v">
                <p:oleObj name="Microsoft Drawing" r:id="rId8" imgW="1212850" imgH="2274888" progId="MSDraw">
                  <p:embed/>
                </p:oleObj>
              </mc:Choice>
              <mc:Fallback>
                <p:oleObj name="Microsoft Drawing" r:id="rId8" imgW="1212850" imgH="2274888" progId="MSDraw">
                  <p:embed/>
                  <p:pic>
                    <p:nvPicPr>
                      <p:cNvPr id="16392" name="Object 3080">
                        <a:extLst>
                          <a:ext uri="{FF2B5EF4-FFF2-40B4-BE49-F238E27FC236}">
                            <a16:creationId xmlns:a16="http://schemas.microsoft.com/office/drawing/2014/main" id="{845F5949-9E2D-27E9-F734-15280DB97F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05600" y="1600200"/>
                        <a:ext cx="2193925" cy="411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1189"/>
                                        </p:tgtEl>
                                        <p:attrNameLst>
                                          <p:attrName>style.visibility</p:attrName>
                                        </p:attrNameLst>
                                      </p:cBhvr>
                                      <p:to>
                                        <p:strVal val="visible"/>
                                      </p:to>
                                    </p:set>
                                    <p:animEffect transition="in" filter="blinds(horizontal)">
                                      <p:cBhvr>
                                        <p:cTn id="7" dur="500"/>
                                        <p:tgtEl>
                                          <p:spTgt spid="221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1190"/>
                                        </p:tgtEl>
                                        <p:attrNameLst>
                                          <p:attrName>style.visibility</p:attrName>
                                        </p:attrNameLst>
                                      </p:cBhvr>
                                      <p:to>
                                        <p:strVal val="visible"/>
                                      </p:to>
                                    </p:set>
                                    <p:animEffect transition="in" filter="blinds(horizontal)">
                                      <p:cBhvr>
                                        <p:cTn id="12" dur="500"/>
                                        <p:tgtEl>
                                          <p:spTgt spid="2211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21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1"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DD00F04D-BB1F-C6B7-9396-F012FCB06686}"/>
              </a:ext>
            </a:extLst>
          </p:cNvPr>
          <p:cNvSpPr>
            <a:spLocks noGrp="1"/>
          </p:cNvSpPr>
          <p:nvPr>
            <p:ph type="sldNum" sz="quarter" idx="12"/>
          </p:nvPr>
        </p:nvSpPr>
        <p:spPr/>
        <p:txBody>
          <a:bodyPr/>
          <a:lstStyle/>
          <a:p>
            <a:pPr>
              <a:defRPr/>
            </a:pPr>
            <a:fld id="{B7FA0951-3984-4BB9-B7C5-01927A6312EA}" type="slidenum">
              <a:rPr lang="en-US" altLang="zh-CN"/>
              <a:pPr>
                <a:defRPr/>
              </a:pPr>
              <a:t>59</a:t>
            </a:fld>
            <a:endParaRPr lang="en-US" altLang="zh-CN"/>
          </a:p>
        </p:txBody>
      </p:sp>
      <p:sp>
        <p:nvSpPr>
          <p:cNvPr id="17411" name="Rectangle 2">
            <a:extLst>
              <a:ext uri="{FF2B5EF4-FFF2-40B4-BE49-F238E27FC236}">
                <a16:creationId xmlns:a16="http://schemas.microsoft.com/office/drawing/2014/main" id="{7EBEE167-96E8-67D5-9B51-7D9CCBBD52A6}"/>
              </a:ext>
            </a:extLst>
          </p:cNvPr>
          <p:cNvSpPr>
            <a:spLocks noGrp="1" noChangeArrowheads="1"/>
          </p:cNvSpPr>
          <p:nvPr>
            <p:ph type="title"/>
          </p:nvPr>
        </p:nvSpPr>
        <p:spPr>
          <a:xfrm>
            <a:off x="625568" y="793966"/>
            <a:ext cx="7772400" cy="609600"/>
          </a:xfrm>
        </p:spPr>
        <p:txBody>
          <a:bodyPr/>
          <a:lstStyle/>
          <a:p>
            <a:pPr eaLnBrk="1" hangingPunct="1"/>
            <a:r>
              <a:rPr lang="en-US" altLang="zh-CN" sz="3200" b="1" dirty="0">
                <a:latin typeface="楷体_GB2312" pitchFamily="49" charset="-122"/>
                <a:ea typeface="楷体_GB2312" pitchFamily="49" charset="-122"/>
              </a:rPr>
              <a:t>7.6 </a:t>
            </a:r>
            <a:r>
              <a:rPr lang="zh-CN" altLang="en-US" sz="3200" b="1" dirty="0">
                <a:latin typeface="楷体_GB2312" pitchFamily="49" charset="-122"/>
                <a:ea typeface="楷体_GB2312" pitchFamily="49" charset="-122"/>
              </a:rPr>
              <a:t>等值电路参数的实验测定</a:t>
            </a:r>
          </a:p>
        </p:txBody>
      </p:sp>
      <p:sp>
        <p:nvSpPr>
          <p:cNvPr id="17412" name="Rectangle 4">
            <a:extLst>
              <a:ext uri="{FF2B5EF4-FFF2-40B4-BE49-F238E27FC236}">
                <a16:creationId xmlns:a16="http://schemas.microsoft.com/office/drawing/2014/main" id="{C4E5EEEE-778A-6BF1-8A35-F97596D46F9E}"/>
              </a:ext>
            </a:extLst>
          </p:cNvPr>
          <p:cNvSpPr>
            <a:spLocks noGrp="1" noChangeArrowheads="1"/>
          </p:cNvSpPr>
          <p:nvPr>
            <p:ph type="body" sz="half" idx="1"/>
          </p:nvPr>
        </p:nvSpPr>
        <p:spPr>
          <a:xfrm>
            <a:off x="491085" y="1543483"/>
            <a:ext cx="8064500" cy="1366837"/>
          </a:xfrm>
          <a:noFill/>
        </p:spPr>
        <p:txBody>
          <a:bodyPr/>
          <a:lstStyle/>
          <a:p>
            <a:pPr marL="609600" indent="-609600" eaLnBrk="1" hangingPunct="1">
              <a:buFontTx/>
              <a:buNone/>
            </a:pPr>
            <a:r>
              <a:rPr lang="zh-CN" altLang="en-US" sz="2400" b="1" dirty="0">
                <a:solidFill>
                  <a:schemeClr val="accent2"/>
                </a:solidFill>
              </a:rPr>
              <a:t>一、</a:t>
            </a:r>
            <a:r>
              <a:rPr lang="zh-CN" altLang="en-US" sz="2400" b="1" dirty="0">
                <a:solidFill>
                  <a:schemeClr val="accent2"/>
                </a:solidFill>
                <a:ea typeface="黑体" panose="02010609060101010101" pitchFamily="49" charset="-122"/>
              </a:rPr>
              <a:t>开路实验</a:t>
            </a:r>
            <a:r>
              <a:rPr lang="en-US" altLang="zh-CN" sz="2400" b="1" dirty="0">
                <a:ea typeface="黑体" panose="02010609060101010101" pitchFamily="49" charset="-122"/>
              </a:rPr>
              <a:t>: </a:t>
            </a:r>
            <a:r>
              <a:rPr lang="zh-CN" altLang="en-US" sz="2400" b="1" dirty="0">
                <a:ea typeface="黑体" panose="02010609060101010101" pitchFamily="49" charset="-122"/>
              </a:rPr>
              <a:t>发电机运行于额定转速，定子绕组开路。励磁电流从</a:t>
            </a:r>
            <a:r>
              <a:rPr lang="en-US" altLang="zh-CN" sz="2400" b="1" dirty="0">
                <a:ea typeface="黑体" panose="02010609060101010101" pitchFamily="49" charset="-122"/>
              </a:rPr>
              <a:t>0</a:t>
            </a:r>
            <a:r>
              <a:rPr lang="zh-CN" altLang="en-US" sz="2400" b="1" dirty="0">
                <a:ea typeface="黑体" panose="02010609060101010101" pitchFamily="49" charset="-122"/>
              </a:rPr>
              <a:t>逐渐增加，测量定子输出电压，得到发电机的励磁电流与输出电压关系曲线</a:t>
            </a:r>
            <a:r>
              <a:rPr lang="en-US" altLang="zh-CN" sz="2400" b="1" dirty="0">
                <a:ea typeface="黑体" panose="02010609060101010101" pitchFamily="49" charset="-122"/>
              </a:rPr>
              <a:t>【</a:t>
            </a:r>
            <a:r>
              <a:rPr lang="zh-CN" altLang="en-US" sz="2400" b="1" dirty="0">
                <a:ea typeface="黑体" panose="02010609060101010101" pitchFamily="49" charset="-122"/>
              </a:rPr>
              <a:t>开路特性曲线</a:t>
            </a:r>
            <a:r>
              <a:rPr lang="en-US" altLang="zh-CN" sz="2400" b="1" dirty="0">
                <a:ea typeface="黑体" panose="02010609060101010101" pitchFamily="49" charset="-122"/>
              </a:rPr>
              <a:t>】</a:t>
            </a:r>
            <a:r>
              <a:rPr lang="zh-CN" altLang="en-US" sz="2400" b="1" dirty="0">
                <a:ea typeface="黑体" panose="02010609060101010101" pitchFamily="49" charset="-122"/>
              </a:rPr>
              <a:t>。</a:t>
            </a:r>
            <a:r>
              <a:rPr lang="zh-CN" altLang="en-US" sz="2800" dirty="0"/>
              <a:t>  </a:t>
            </a:r>
          </a:p>
        </p:txBody>
      </p:sp>
      <p:sp>
        <p:nvSpPr>
          <p:cNvPr id="17413" name="Text Box 5">
            <a:extLst>
              <a:ext uri="{FF2B5EF4-FFF2-40B4-BE49-F238E27FC236}">
                <a16:creationId xmlns:a16="http://schemas.microsoft.com/office/drawing/2014/main" id="{03950653-FEDD-5948-0C29-627F6B5A8F1B}"/>
              </a:ext>
            </a:extLst>
          </p:cNvPr>
          <p:cNvSpPr txBox="1">
            <a:spLocks noChangeArrowheads="1"/>
          </p:cNvSpPr>
          <p:nvPr/>
        </p:nvSpPr>
        <p:spPr bwMode="auto">
          <a:xfrm>
            <a:off x="660948" y="2945245"/>
            <a:ext cx="77247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根据获得的曲线，可以求得在任意给定励磁电流条件下的发电机电势。</a:t>
            </a:r>
            <a:r>
              <a:rPr lang="zh-CN" altLang="en-US" sz="2400" b="0"/>
              <a:t> </a:t>
            </a:r>
          </a:p>
        </p:txBody>
      </p:sp>
      <p:graphicFrame>
        <p:nvGraphicFramePr>
          <p:cNvPr id="17414" name="Object 6">
            <a:extLst>
              <a:ext uri="{FF2B5EF4-FFF2-40B4-BE49-F238E27FC236}">
                <a16:creationId xmlns:a16="http://schemas.microsoft.com/office/drawing/2014/main" id="{49A6A8FE-E7B5-9BCB-9388-140A22BA20EC}"/>
              </a:ext>
            </a:extLst>
          </p:cNvPr>
          <p:cNvGraphicFramePr>
            <a:graphicFrameLocks noChangeAspect="1"/>
          </p:cNvGraphicFramePr>
          <p:nvPr>
            <p:extLst>
              <p:ext uri="{D42A27DB-BD31-4B8C-83A1-F6EECF244321}">
                <p14:modId xmlns:p14="http://schemas.microsoft.com/office/powerpoint/2010/main" val="831361713"/>
              </p:ext>
            </p:extLst>
          </p:nvPr>
        </p:nvGraphicFramePr>
        <p:xfrm>
          <a:off x="4620665" y="3429000"/>
          <a:ext cx="3943350" cy="3257550"/>
        </p:xfrm>
        <a:graphic>
          <a:graphicData uri="http://schemas.openxmlformats.org/presentationml/2006/ole">
            <mc:AlternateContent xmlns:mc="http://schemas.openxmlformats.org/markup-compatibility/2006">
              <mc:Choice xmlns:v="urn:schemas-microsoft-com:vml" Requires="v">
                <p:oleObj name="Microsoft Drawing" r:id="rId2" imgW="3068638" imgH="2535238" progId="MSDraw">
                  <p:embed/>
                </p:oleObj>
              </mc:Choice>
              <mc:Fallback>
                <p:oleObj name="Microsoft Drawing" r:id="rId2" imgW="3068638" imgH="2535238" progId="MSDraw">
                  <p:embed/>
                  <p:pic>
                    <p:nvPicPr>
                      <p:cNvPr id="17414" name="Object 6">
                        <a:extLst>
                          <a:ext uri="{FF2B5EF4-FFF2-40B4-BE49-F238E27FC236}">
                            <a16:creationId xmlns:a16="http://schemas.microsoft.com/office/drawing/2014/main" id="{49A6A8FE-E7B5-9BCB-9388-140A22BA2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0665" y="3429000"/>
                        <a:ext cx="3943350" cy="3257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Text Box 7">
            <a:extLst>
              <a:ext uri="{FF2B5EF4-FFF2-40B4-BE49-F238E27FC236}">
                <a16:creationId xmlns:a16="http://schemas.microsoft.com/office/drawing/2014/main" id="{5597A899-C634-BDB2-3AFF-677D0F4472AD}"/>
              </a:ext>
            </a:extLst>
          </p:cNvPr>
          <p:cNvSpPr txBox="1">
            <a:spLocks noChangeArrowheads="1"/>
          </p:cNvSpPr>
          <p:nvPr/>
        </p:nvSpPr>
        <p:spPr bwMode="auto">
          <a:xfrm>
            <a:off x="0" y="4293900"/>
            <a:ext cx="4651375"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dirty="0">
                <a:ea typeface="黑体" panose="02010609060101010101" pitchFamily="49" charset="-122"/>
              </a:rPr>
              <a:t>同步电机铁芯在不饱和状态磁阻相差气隙磁阻几千倍，不饱和时几乎所有磁势都降落在气隙上，导致磁通随励磁电流线性增长。铁芯饱和时，铁芯磁阻显著降低，磁通随磁势的增长变得非常缓慢。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B921B3C2-1E52-23A2-97C1-1BC5EC7A47FB}"/>
              </a:ext>
            </a:extLst>
          </p:cNvPr>
          <p:cNvSpPr>
            <a:spLocks noGrp="1"/>
          </p:cNvSpPr>
          <p:nvPr>
            <p:ph type="sldNum" sz="quarter" idx="12"/>
          </p:nvPr>
        </p:nvSpPr>
        <p:spPr>
          <a:xfrm>
            <a:off x="6857386" y="6473797"/>
            <a:ext cx="2133600" cy="476250"/>
          </a:xfrm>
        </p:spPr>
        <p:txBody>
          <a:bodyPr/>
          <a:lstStyle/>
          <a:p>
            <a:pPr>
              <a:defRPr/>
            </a:pPr>
            <a:fld id="{10D2C121-6140-4B0A-901A-6DAC00428D01}" type="slidenum">
              <a:rPr lang="en-US" altLang="zh-CN"/>
              <a:pPr>
                <a:defRPr/>
              </a:pPr>
              <a:t>60</a:t>
            </a:fld>
            <a:endParaRPr lang="en-US" altLang="zh-CN"/>
          </a:p>
        </p:txBody>
      </p:sp>
      <p:sp>
        <p:nvSpPr>
          <p:cNvPr id="18435" name="Rectangle 2">
            <a:extLst>
              <a:ext uri="{FF2B5EF4-FFF2-40B4-BE49-F238E27FC236}">
                <a16:creationId xmlns:a16="http://schemas.microsoft.com/office/drawing/2014/main" id="{7696D4F1-EB8C-ACBE-F7F2-529FCCF21A08}"/>
              </a:ext>
            </a:extLst>
          </p:cNvPr>
          <p:cNvSpPr>
            <a:spLocks noGrp="1" noChangeArrowheads="1"/>
          </p:cNvSpPr>
          <p:nvPr>
            <p:ph type="title"/>
          </p:nvPr>
        </p:nvSpPr>
        <p:spPr>
          <a:xfrm>
            <a:off x="808038" y="690116"/>
            <a:ext cx="2895600" cy="914400"/>
          </a:xfrm>
        </p:spPr>
        <p:txBody>
          <a:bodyPr/>
          <a:lstStyle/>
          <a:p>
            <a:pPr eaLnBrk="1" hangingPunct="1"/>
            <a:r>
              <a:rPr lang="zh-CN" altLang="en-US" sz="3200" b="1" dirty="0">
                <a:solidFill>
                  <a:schemeClr val="tx1"/>
                </a:solidFill>
                <a:ea typeface="楷体_GB2312" pitchFamily="49" charset="-122"/>
              </a:rPr>
              <a:t>二、短路实验</a:t>
            </a:r>
          </a:p>
        </p:txBody>
      </p:sp>
      <p:sp>
        <p:nvSpPr>
          <p:cNvPr id="18436" name="Rectangle 4">
            <a:extLst>
              <a:ext uri="{FF2B5EF4-FFF2-40B4-BE49-F238E27FC236}">
                <a16:creationId xmlns:a16="http://schemas.microsoft.com/office/drawing/2014/main" id="{DC313CBD-0E1B-61E8-8F20-AC0FD573B14D}"/>
              </a:ext>
            </a:extLst>
          </p:cNvPr>
          <p:cNvSpPr>
            <a:spLocks noGrp="1" noChangeArrowheads="1"/>
          </p:cNvSpPr>
          <p:nvPr>
            <p:ph type="body" idx="1"/>
          </p:nvPr>
        </p:nvSpPr>
        <p:spPr>
          <a:xfrm>
            <a:off x="395288" y="1483866"/>
            <a:ext cx="8353425" cy="1295400"/>
          </a:xfrm>
          <a:noFill/>
        </p:spPr>
        <p:txBody>
          <a:bodyPr/>
          <a:lstStyle/>
          <a:p>
            <a:pPr marL="609600" indent="-609600" eaLnBrk="1" hangingPunct="1">
              <a:buFontTx/>
              <a:buNone/>
            </a:pPr>
            <a:r>
              <a:rPr lang="en-US" altLang="zh-CN" sz="2400"/>
              <a:t>		   </a:t>
            </a:r>
            <a:r>
              <a:rPr lang="zh-CN" altLang="en-US" sz="2400" b="1">
                <a:ea typeface="黑体" panose="02010609060101010101" pitchFamily="49" charset="-122"/>
              </a:rPr>
              <a:t>励磁电流等于</a:t>
            </a:r>
            <a:r>
              <a:rPr lang="en-US" altLang="zh-CN" sz="2400" b="1">
                <a:ea typeface="黑体" panose="02010609060101010101" pitchFamily="49" charset="-122"/>
              </a:rPr>
              <a:t>0</a:t>
            </a:r>
            <a:r>
              <a:rPr lang="zh-CN" altLang="en-US" sz="2400" b="1">
                <a:ea typeface="黑体" panose="02010609060101010101" pitchFamily="49" charset="-122"/>
              </a:rPr>
              <a:t>，发电机定子输出端用电流表短路。逐渐增加励磁电流，测量短路电流。励磁电流与定子电流的关系曲线称为短路曲线，它基本是一直线。</a:t>
            </a:r>
          </a:p>
        </p:txBody>
      </p:sp>
      <p:sp>
        <p:nvSpPr>
          <p:cNvPr id="18437" name="Rectangle 5">
            <a:extLst>
              <a:ext uri="{FF2B5EF4-FFF2-40B4-BE49-F238E27FC236}">
                <a16:creationId xmlns:a16="http://schemas.microsoft.com/office/drawing/2014/main" id="{39C6F6A1-8CB2-C9D9-45A2-3FAC28C55860}"/>
              </a:ext>
            </a:extLst>
          </p:cNvPr>
          <p:cNvSpPr>
            <a:spLocks noChangeArrowheads="1"/>
          </p:cNvSpPr>
          <p:nvPr/>
        </p:nvSpPr>
        <p:spPr bwMode="auto">
          <a:xfrm>
            <a:off x="0" y="242525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18438" name="Rectangle 6">
            <a:extLst>
              <a:ext uri="{FF2B5EF4-FFF2-40B4-BE49-F238E27FC236}">
                <a16:creationId xmlns:a16="http://schemas.microsoft.com/office/drawing/2014/main" id="{B46314A6-7958-4F28-A309-99D148E92D79}"/>
              </a:ext>
            </a:extLst>
          </p:cNvPr>
          <p:cNvSpPr>
            <a:spLocks noChangeArrowheads="1"/>
          </p:cNvSpPr>
          <p:nvPr/>
        </p:nvSpPr>
        <p:spPr bwMode="auto">
          <a:xfrm>
            <a:off x="0" y="242525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8439" name="Object 7">
            <a:extLst>
              <a:ext uri="{FF2B5EF4-FFF2-40B4-BE49-F238E27FC236}">
                <a16:creationId xmlns:a16="http://schemas.microsoft.com/office/drawing/2014/main" id="{506B2680-FEF1-BC5C-3428-AE09ABA8A994}"/>
              </a:ext>
            </a:extLst>
          </p:cNvPr>
          <p:cNvGraphicFramePr>
            <a:graphicFrameLocks noChangeAspect="1"/>
          </p:cNvGraphicFramePr>
          <p:nvPr>
            <p:extLst>
              <p:ext uri="{D42A27DB-BD31-4B8C-83A1-F6EECF244321}">
                <p14:modId xmlns:p14="http://schemas.microsoft.com/office/powerpoint/2010/main" val="3678813767"/>
              </p:ext>
            </p:extLst>
          </p:nvPr>
        </p:nvGraphicFramePr>
        <p:xfrm>
          <a:off x="5003800" y="2850703"/>
          <a:ext cx="3638550" cy="3716338"/>
        </p:xfrm>
        <a:graphic>
          <a:graphicData uri="http://schemas.openxmlformats.org/presentationml/2006/ole">
            <mc:AlternateContent xmlns:mc="http://schemas.openxmlformats.org/markup-compatibility/2006">
              <mc:Choice xmlns:v="urn:schemas-microsoft-com:vml" Requires="v">
                <p:oleObj name="Microsoft Drawing" r:id="rId2" imgW="2668588" imgH="2724150" progId="MSDraw">
                  <p:embed/>
                </p:oleObj>
              </mc:Choice>
              <mc:Fallback>
                <p:oleObj name="Microsoft Drawing" r:id="rId2" imgW="2668588" imgH="2724150" progId="MSDraw">
                  <p:embed/>
                  <p:pic>
                    <p:nvPicPr>
                      <p:cNvPr id="18439" name="Object 7">
                        <a:extLst>
                          <a:ext uri="{FF2B5EF4-FFF2-40B4-BE49-F238E27FC236}">
                            <a16:creationId xmlns:a16="http://schemas.microsoft.com/office/drawing/2014/main" id="{506B2680-FEF1-BC5C-3428-AE09ABA8A9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2850703"/>
                        <a:ext cx="3638550" cy="3716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0" name="Text Box 8">
            <a:extLst>
              <a:ext uri="{FF2B5EF4-FFF2-40B4-BE49-F238E27FC236}">
                <a16:creationId xmlns:a16="http://schemas.microsoft.com/office/drawing/2014/main" id="{34B38C3F-B196-5D69-D5E8-4C494DADD67A}"/>
              </a:ext>
            </a:extLst>
          </p:cNvPr>
          <p:cNvSpPr txBox="1">
            <a:spLocks noChangeArrowheads="1"/>
          </p:cNvSpPr>
          <p:nvPr/>
        </p:nvSpPr>
        <p:spPr bwMode="auto">
          <a:xfrm>
            <a:off x="808038" y="2779266"/>
            <a:ext cx="3763962" cy="206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由于短路时电枢反应磁场几乎抵消了转子磁场，合成磁场很小，电机铁芯始终处于不饱和状态，导致短路特性始终保持线性。</a:t>
            </a:r>
          </a:p>
        </p:txBody>
      </p:sp>
      <p:sp>
        <p:nvSpPr>
          <p:cNvPr id="18441" name="Rectangle 9">
            <a:extLst>
              <a:ext uri="{FF2B5EF4-FFF2-40B4-BE49-F238E27FC236}">
                <a16:creationId xmlns:a16="http://schemas.microsoft.com/office/drawing/2014/main" id="{358298C7-09DB-E35C-5718-575DD9CE1ECE}"/>
              </a:ext>
            </a:extLst>
          </p:cNvPr>
          <p:cNvSpPr>
            <a:spLocks noChangeArrowheads="1"/>
          </p:cNvSpPr>
          <p:nvPr/>
        </p:nvSpPr>
        <p:spPr bwMode="auto">
          <a:xfrm>
            <a:off x="0" y="35730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8442" name="Object 10">
            <a:extLst>
              <a:ext uri="{FF2B5EF4-FFF2-40B4-BE49-F238E27FC236}">
                <a16:creationId xmlns:a16="http://schemas.microsoft.com/office/drawing/2014/main" id="{28C5B0D1-3630-AE35-C8E3-932337A1E00D}"/>
              </a:ext>
            </a:extLst>
          </p:cNvPr>
          <p:cNvGraphicFramePr>
            <a:graphicFrameLocks noChangeAspect="1"/>
          </p:cNvGraphicFramePr>
          <p:nvPr>
            <p:extLst>
              <p:ext uri="{D42A27DB-BD31-4B8C-83A1-F6EECF244321}">
                <p14:modId xmlns:p14="http://schemas.microsoft.com/office/powerpoint/2010/main" val="3025241974"/>
              </p:ext>
            </p:extLst>
          </p:nvPr>
        </p:nvGraphicFramePr>
        <p:xfrm>
          <a:off x="539750" y="5082728"/>
          <a:ext cx="4103688" cy="904875"/>
        </p:xfrm>
        <a:graphic>
          <a:graphicData uri="http://schemas.openxmlformats.org/presentationml/2006/ole">
            <mc:AlternateContent xmlns:mc="http://schemas.openxmlformats.org/markup-compatibility/2006">
              <mc:Choice xmlns:v="urn:schemas-microsoft-com:vml" Requires="v">
                <p:oleObj name="Equation" r:id="rId4" imgW="1943100" imgH="431800" progId="Equation.DSMT4">
                  <p:embed/>
                </p:oleObj>
              </mc:Choice>
              <mc:Fallback>
                <p:oleObj name="Equation" r:id="rId4" imgW="1943100" imgH="431800" progId="Equation.DSMT4">
                  <p:embed/>
                  <p:pic>
                    <p:nvPicPr>
                      <p:cNvPr id="18442" name="Object 10">
                        <a:extLst>
                          <a:ext uri="{FF2B5EF4-FFF2-40B4-BE49-F238E27FC236}">
                            <a16:creationId xmlns:a16="http://schemas.microsoft.com/office/drawing/2014/main" id="{28C5B0D1-3630-AE35-C8E3-932337A1E0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5082728"/>
                        <a:ext cx="410368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01D9FAD-92A3-E4CB-C667-CABA1D597F89}"/>
              </a:ext>
            </a:extLst>
          </p:cNvPr>
          <p:cNvSpPr>
            <a:spLocks noGrp="1"/>
          </p:cNvSpPr>
          <p:nvPr>
            <p:ph type="sldNum" sz="quarter" idx="12"/>
          </p:nvPr>
        </p:nvSpPr>
        <p:spPr/>
        <p:txBody>
          <a:bodyPr/>
          <a:lstStyle/>
          <a:p>
            <a:pPr>
              <a:defRPr/>
            </a:pPr>
            <a:fld id="{44AE0690-C300-4E16-A915-60E47E99BD0B}" type="slidenum">
              <a:rPr lang="en-US" altLang="zh-CN"/>
              <a:pPr>
                <a:defRPr/>
              </a:pPr>
              <a:t>61</a:t>
            </a:fld>
            <a:endParaRPr lang="en-US" altLang="zh-CN"/>
          </a:p>
        </p:txBody>
      </p:sp>
      <p:sp>
        <p:nvSpPr>
          <p:cNvPr id="19459" name="Rectangle 2">
            <a:extLst>
              <a:ext uri="{FF2B5EF4-FFF2-40B4-BE49-F238E27FC236}">
                <a16:creationId xmlns:a16="http://schemas.microsoft.com/office/drawing/2014/main" id="{53238D43-4F6F-9E76-1418-5C49BBEB3228}"/>
              </a:ext>
            </a:extLst>
          </p:cNvPr>
          <p:cNvSpPr>
            <a:spLocks noGrp="1" noChangeArrowheads="1"/>
          </p:cNvSpPr>
          <p:nvPr>
            <p:ph type="title"/>
          </p:nvPr>
        </p:nvSpPr>
        <p:spPr>
          <a:xfrm>
            <a:off x="407987" y="762432"/>
            <a:ext cx="8534400" cy="762000"/>
          </a:xfrm>
        </p:spPr>
        <p:txBody>
          <a:bodyPr/>
          <a:lstStyle/>
          <a:p>
            <a:pPr eaLnBrk="1" hangingPunct="1"/>
            <a:r>
              <a:rPr lang="zh-CN" altLang="en-US" sz="3200" b="1">
                <a:ea typeface="楷体_GB2312" pitchFamily="49" charset="-122"/>
              </a:rPr>
              <a:t>近似获得给定励磁电流条件下同步电抗的方法</a:t>
            </a:r>
          </a:p>
        </p:txBody>
      </p:sp>
      <p:sp>
        <p:nvSpPr>
          <p:cNvPr id="19460" name="Rectangle 4">
            <a:extLst>
              <a:ext uri="{FF2B5EF4-FFF2-40B4-BE49-F238E27FC236}">
                <a16:creationId xmlns:a16="http://schemas.microsoft.com/office/drawing/2014/main" id="{71D35190-6B0E-4535-909A-99297B4BB3D1}"/>
              </a:ext>
            </a:extLst>
          </p:cNvPr>
          <p:cNvSpPr>
            <a:spLocks noGrp="1" noChangeArrowheads="1"/>
          </p:cNvSpPr>
          <p:nvPr>
            <p:ph type="body" sz="half" idx="1"/>
          </p:nvPr>
        </p:nvSpPr>
        <p:spPr>
          <a:xfrm>
            <a:off x="863600" y="1448232"/>
            <a:ext cx="7488237" cy="782638"/>
          </a:xfrm>
          <a:noFill/>
        </p:spPr>
        <p:txBody>
          <a:bodyPr/>
          <a:lstStyle/>
          <a:p>
            <a:pPr marL="609600" indent="-609600" eaLnBrk="1" hangingPunct="1">
              <a:buFontTx/>
              <a:buAutoNum type="arabicPeriod"/>
            </a:pPr>
            <a:r>
              <a:rPr lang="zh-CN" altLang="en-US" sz="2400" b="1">
                <a:ea typeface="黑体" panose="02010609060101010101" pitchFamily="49" charset="-122"/>
              </a:rPr>
              <a:t>从开路特性依据励磁电流得到发电机电势</a:t>
            </a:r>
            <a:r>
              <a:rPr lang="en-US" altLang="zh-CN" sz="2400" b="1">
                <a:ea typeface="黑体" panose="02010609060101010101" pitchFamily="49" charset="-122"/>
              </a:rPr>
              <a:t>E</a:t>
            </a:r>
            <a:r>
              <a:rPr lang="en-US" altLang="zh-CN" sz="2400" b="1" baseline="-25000">
                <a:ea typeface="黑体" panose="02010609060101010101" pitchFamily="49" charset="-122"/>
              </a:rPr>
              <a:t>a</a:t>
            </a:r>
            <a:r>
              <a:rPr lang="zh-CN" altLang="en-US" sz="2400" b="1">
                <a:ea typeface="黑体" panose="02010609060101010101" pitchFamily="49" charset="-122"/>
              </a:rPr>
              <a:t>；</a:t>
            </a:r>
          </a:p>
        </p:txBody>
      </p:sp>
      <p:sp>
        <p:nvSpPr>
          <p:cNvPr id="19461" name="Text Box 5">
            <a:extLst>
              <a:ext uri="{FF2B5EF4-FFF2-40B4-BE49-F238E27FC236}">
                <a16:creationId xmlns:a16="http://schemas.microsoft.com/office/drawing/2014/main" id="{8DE49546-740C-5271-7DCA-2EC31419537B}"/>
              </a:ext>
            </a:extLst>
          </p:cNvPr>
          <p:cNvSpPr txBox="1">
            <a:spLocks noChangeArrowheads="1"/>
          </p:cNvSpPr>
          <p:nvPr/>
        </p:nvSpPr>
        <p:spPr bwMode="auto">
          <a:xfrm>
            <a:off x="842962" y="1981632"/>
            <a:ext cx="82296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AutoNum type="arabicPeriod" startAt="2"/>
            </a:pPr>
            <a:r>
              <a:rPr lang="en-US" altLang="zh-CN" sz="2400" b="0"/>
              <a:t>   </a:t>
            </a:r>
            <a:r>
              <a:rPr lang="zh-CN" altLang="en-US" sz="2400">
                <a:ea typeface="黑体" panose="02010609060101010101" pitchFamily="49" charset="-122"/>
              </a:rPr>
              <a:t>由短路特性得到对应励磁电流的定子电枢短路电流</a:t>
            </a:r>
            <a:r>
              <a:rPr lang="en-US" altLang="zh-CN" sz="2400">
                <a:ea typeface="黑体" panose="02010609060101010101" pitchFamily="49" charset="-122"/>
              </a:rPr>
              <a:t>I</a:t>
            </a:r>
            <a:r>
              <a:rPr lang="en-US" altLang="zh-CN" sz="2400" baseline="-25000">
                <a:ea typeface="黑体" panose="02010609060101010101" pitchFamily="49" charset="-122"/>
              </a:rPr>
              <a:t>a</a:t>
            </a:r>
            <a:r>
              <a:rPr lang="zh-CN" altLang="en-US" sz="2400">
                <a:ea typeface="黑体" panose="02010609060101010101" pitchFamily="49" charset="-122"/>
              </a:rPr>
              <a:t>；</a:t>
            </a:r>
          </a:p>
        </p:txBody>
      </p:sp>
      <p:sp>
        <p:nvSpPr>
          <p:cNvPr id="19462" name="Text Box 6">
            <a:extLst>
              <a:ext uri="{FF2B5EF4-FFF2-40B4-BE49-F238E27FC236}">
                <a16:creationId xmlns:a16="http://schemas.microsoft.com/office/drawing/2014/main" id="{BE3DB221-6C3C-02FD-C218-66F8DE155A3B}"/>
              </a:ext>
            </a:extLst>
          </p:cNvPr>
          <p:cNvSpPr txBox="1">
            <a:spLocks noChangeArrowheads="1"/>
          </p:cNvSpPr>
          <p:nvPr/>
        </p:nvSpPr>
        <p:spPr bwMode="auto">
          <a:xfrm>
            <a:off x="430212" y="2515032"/>
            <a:ext cx="302577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lnSpc>
                <a:spcPct val="90000"/>
              </a:lnSpc>
              <a:buFont typeface="Wingdings" panose="05000000000000000000" pitchFamily="2" charset="2"/>
              <a:buAutoNum type="arabicPeriod" startAt="3"/>
            </a:pPr>
            <a:r>
              <a:rPr lang="en-US" altLang="zh-CN" sz="2400">
                <a:ea typeface="黑体" panose="02010609060101010101" pitchFamily="49" charset="-122"/>
              </a:rPr>
              <a:t>  </a:t>
            </a:r>
            <a:r>
              <a:rPr lang="zh-CN" altLang="en-US" sz="2400">
                <a:ea typeface="黑体" panose="02010609060101010101" pitchFamily="49" charset="-122"/>
              </a:rPr>
              <a:t>近似计算。</a:t>
            </a:r>
          </a:p>
        </p:txBody>
      </p:sp>
      <p:graphicFrame>
        <p:nvGraphicFramePr>
          <p:cNvPr id="19463" name="Object 7">
            <a:extLst>
              <a:ext uri="{FF2B5EF4-FFF2-40B4-BE49-F238E27FC236}">
                <a16:creationId xmlns:a16="http://schemas.microsoft.com/office/drawing/2014/main" id="{9B9CF159-F6E3-673B-13C8-49172A261920}"/>
              </a:ext>
            </a:extLst>
          </p:cNvPr>
          <p:cNvGraphicFramePr>
            <a:graphicFrameLocks noChangeAspect="1"/>
          </p:cNvGraphicFramePr>
          <p:nvPr>
            <p:extLst>
              <p:ext uri="{D42A27DB-BD31-4B8C-83A1-F6EECF244321}">
                <p14:modId xmlns:p14="http://schemas.microsoft.com/office/powerpoint/2010/main" val="1849588836"/>
              </p:ext>
            </p:extLst>
          </p:nvPr>
        </p:nvGraphicFramePr>
        <p:xfrm>
          <a:off x="3227387" y="2438832"/>
          <a:ext cx="1225550" cy="947738"/>
        </p:xfrm>
        <a:graphic>
          <a:graphicData uri="http://schemas.openxmlformats.org/presentationml/2006/ole">
            <mc:AlternateContent xmlns:mc="http://schemas.openxmlformats.org/markup-compatibility/2006">
              <mc:Choice xmlns:v="urn:schemas-microsoft-com:vml" Requires="v">
                <p:oleObj name="Equation" r:id="rId2" imgW="558558" imgH="431613" progId="Equation.DSMT4">
                  <p:embed/>
                </p:oleObj>
              </mc:Choice>
              <mc:Fallback>
                <p:oleObj name="Equation" r:id="rId2" imgW="558558" imgH="431613" progId="Equation.DSMT4">
                  <p:embed/>
                  <p:pic>
                    <p:nvPicPr>
                      <p:cNvPr id="19463" name="Object 7">
                        <a:extLst>
                          <a:ext uri="{FF2B5EF4-FFF2-40B4-BE49-F238E27FC236}">
                            <a16:creationId xmlns:a16="http://schemas.microsoft.com/office/drawing/2014/main" id="{9B9CF159-F6E3-673B-13C8-49172A261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7387" y="2438832"/>
                        <a:ext cx="122555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4" name="Text Box 8">
            <a:extLst>
              <a:ext uri="{FF2B5EF4-FFF2-40B4-BE49-F238E27FC236}">
                <a16:creationId xmlns:a16="http://schemas.microsoft.com/office/drawing/2014/main" id="{9716098F-DEA5-B6FE-FBB1-77C4FE96F104}"/>
              </a:ext>
            </a:extLst>
          </p:cNvPr>
          <p:cNvSpPr txBox="1">
            <a:spLocks noChangeArrowheads="1"/>
          </p:cNvSpPr>
          <p:nvPr/>
        </p:nvSpPr>
        <p:spPr bwMode="auto">
          <a:xfrm>
            <a:off x="503237" y="3581832"/>
            <a:ext cx="8640763" cy="312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dirty="0">
                <a:ea typeface="黑体" panose="02010609060101010101" pitchFamily="49" charset="-122"/>
              </a:rPr>
              <a:t>电势由开路特性得到。开路特性在</a:t>
            </a:r>
            <a:r>
              <a:rPr lang="en-US" altLang="zh-CN" sz="2400" dirty="0">
                <a:ea typeface="黑体" panose="02010609060101010101" pitchFamily="49" charset="-122"/>
              </a:rPr>
              <a:t>I</a:t>
            </a:r>
            <a:r>
              <a:rPr lang="en-US" altLang="zh-CN" sz="2400" baseline="-25000" dirty="0">
                <a:ea typeface="黑体" panose="02010609060101010101" pitchFamily="49" charset="-122"/>
              </a:rPr>
              <a:t>f</a:t>
            </a:r>
            <a:r>
              <a:rPr lang="zh-CN" altLang="en-US" sz="2400" dirty="0">
                <a:ea typeface="黑体" panose="02010609060101010101" pitchFamily="49" charset="-122"/>
              </a:rPr>
              <a:t>较大时，电机磁场进入部分饱和状态，而短路特性不论</a:t>
            </a:r>
            <a:r>
              <a:rPr lang="en-US" altLang="zh-CN" sz="2400" dirty="0">
                <a:ea typeface="黑体" panose="02010609060101010101" pitchFamily="49" charset="-122"/>
              </a:rPr>
              <a:t>I</a:t>
            </a:r>
            <a:r>
              <a:rPr lang="en-US" altLang="zh-CN" sz="2400" baseline="-25000" dirty="0">
                <a:ea typeface="黑体" panose="02010609060101010101" pitchFamily="49" charset="-122"/>
              </a:rPr>
              <a:t>f</a:t>
            </a:r>
            <a:r>
              <a:rPr lang="zh-CN" altLang="en-US" sz="2400" dirty="0">
                <a:ea typeface="黑体" panose="02010609060101010101" pitchFamily="49" charset="-122"/>
              </a:rPr>
              <a:t>大小，电机磁场始终不饱和。因此在</a:t>
            </a:r>
            <a:r>
              <a:rPr lang="en-US" altLang="zh-CN" sz="2400" dirty="0">
                <a:ea typeface="黑体" panose="02010609060101010101" pitchFamily="49" charset="-122"/>
              </a:rPr>
              <a:t>I</a:t>
            </a:r>
            <a:r>
              <a:rPr lang="en-US" altLang="zh-CN" sz="2400" baseline="-25000" dirty="0">
                <a:ea typeface="黑体" panose="02010609060101010101" pitchFamily="49" charset="-122"/>
              </a:rPr>
              <a:t>f</a:t>
            </a:r>
            <a:r>
              <a:rPr lang="zh-CN" altLang="en-US" sz="2400" dirty="0">
                <a:ea typeface="黑体" panose="02010609060101010101" pitchFamily="49" charset="-122"/>
              </a:rPr>
              <a:t>较大时，从开路特性获得的电势与短路特性下同样</a:t>
            </a:r>
            <a:r>
              <a:rPr lang="en-US" altLang="zh-CN" sz="2400" dirty="0">
                <a:ea typeface="黑体" panose="02010609060101010101" pitchFamily="49" charset="-122"/>
              </a:rPr>
              <a:t>I</a:t>
            </a:r>
            <a:r>
              <a:rPr lang="en-US" altLang="zh-CN" sz="2400" baseline="-25000" dirty="0">
                <a:ea typeface="黑体" panose="02010609060101010101" pitchFamily="49" charset="-122"/>
              </a:rPr>
              <a:t>f</a:t>
            </a:r>
            <a:r>
              <a:rPr lang="zh-CN" altLang="en-US" sz="2400" dirty="0">
                <a:ea typeface="黑体" panose="02010609060101010101" pitchFamily="49" charset="-122"/>
              </a:rPr>
              <a:t>下发电机的电势是不相同的，从而计算得到的同步电抗仅是近似的。在电机磁场到达饱和点前，得到的同步电抗才是足够精确的。</a:t>
            </a:r>
          </a:p>
          <a:p>
            <a:pPr eaLnBrk="1" hangingPunct="1">
              <a:lnSpc>
                <a:spcPct val="90000"/>
              </a:lnSpc>
              <a:buFont typeface="Wingdings" panose="05000000000000000000" pitchFamily="2" charset="2"/>
              <a:buChar char="Ø"/>
            </a:pPr>
            <a:r>
              <a:rPr lang="zh-CN" altLang="en-US" sz="2400" dirty="0">
                <a:ea typeface="黑体" panose="02010609060101010101" pitchFamily="49" charset="-122"/>
              </a:rPr>
              <a:t>   同步电抗的近似值随开路特性的饱和程度变化，因此当它用于同步电机在给定负载条件下的计算时，得到的结果是近似的。</a:t>
            </a:r>
          </a:p>
        </p:txBody>
      </p:sp>
      <p:sp>
        <p:nvSpPr>
          <p:cNvPr id="19465" name="Text Box 9">
            <a:extLst>
              <a:ext uri="{FF2B5EF4-FFF2-40B4-BE49-F238E27FC236}">
                <a16:creationId xmlns:a16="http://schemas.microsoft.com/office/drawing/2014/main" id="{C2734A82-5AC0-30EA-B7B2-D7B06333EFD8}"/>
              </a:ext>
            </a:extLst>
          </p:cNvPr>
          <p:cNvSpPr txBox="1">
            <a:spLocks noChangeArrowheads="1"/>
          </p:cNvSpPr>
          <p:nvPr/>
        </p:nvSpPr>
        <p:spPr bwMode="auto">
          <a:xfrm>
            <a:off x="544512" y="3124632"/>
            <a:ext cx="11747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sz="2400" b="0"/>
              <a:t> </a:t>
            </a:r>
            <a:r>
              <a:rPr lang="zh-CN" altLang="en-US" sz="2400">
                <a:ea typeface="黑体" panose="02010609060101010101" pitchFamily="49" charset="-122"/>
              </a:rPr>
              <a:t>讨论</a:t>
            </a:r>
            <a:r>
              <a:rPr lang="zh-CN" altLang="en-US" sz="2400" b="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86EEC4B0-C3A4-601D-0EE6-A85169D0C1CD}"/>
              </a:ext>
            </a:extLst>
          </p:cNvPr>
          <p:cNvSpPr>
            <a:spLocks noGrp="1"/>
          </p:cNvSpPr>
          <p:nvPr>
            <p:ph type="sldNum" sz="quarter" idx="12"/>
          </p:nvPr>
        </p:nvSpPr>
        <p:spPr/>
        <p:txBody>
          <a:bodyPr/>
          <a:lstStyle/>
          <a:p>
            <a:pPr>
              <a:defRPr/>
            </a:pPr>
            <a:fld id="{B8B5EBDC-19F9-4836-BCAD-FC48E4A3069A}" type="slidenum">
              <a:rPr lang="en-US" altLang="zh-CN"/>
              <a:pPr>
                <a:defRPr/>
              </a:pPr>
              <a:t>62</a:t>
            </a:fld>
            <a:endParaRPr lang="en-US" altLang="zh-CN"/>
          </a:p>
        </p:txBody>
      </p:sp>
      <p:sp>
        <p:nvSpPr>
          <p:cNvPr id="20483" name="Rectangle 2">
            <a:extLst>
              <a:ext uri="{FF2B5EF4-FFF2-40B4-BE49-F238E27FC236}">
                <a16:creationId xmlns:a16="http://schemas.microsoft.com/office/drawing/2014/main" id="{BEF40C8A-4485-9DBC-876B-235D0A4C6290}"/>
              </a:ext>
            </a:extLst>
          </p:cNvPr>
          <p:cNvSpPr>
            <a:spLocks noGrp="1" noChangeArrowheads="1"/>
          </p:cNvSpPr>
          <p:nvPr>
            <p:ph type="title"/>
          </p:nvPr>
        </p:nvSpPr>
        <p:spPr>
          <a:xfrm>
            <a:off x="1096153" y="686903"/>
            <a:ext cx="7772400" cy="685800"/>
          </a:xfrm>
        </p:spPr>
        <p:txBody>
          <a:bodyPr/>
          <a:lstStyle/>
          <a:p>
            <a:pPr eaLnBrk="1" hangingPunct="1"/>
            <a:r>
              <a:rPr lang="zh-CN" altLang="en-US" sz="2800" b="1" dirty="0">
                <a:ea typeface="黑体" panose="02010609060101010101" pitchFamily="49" charset="-122"/>
              </a:rPr>
              <a:t>一种对磁路饱和的处理方法</a:t>
            </a:r>
          </a:p>
        </p:txBody>
      </p:sp>
      <p:sp>
        <p:nvSpPr>
          <p:cNvPr id="20484" name="Rectangle 4">
            <a:extLst>
              <a:ext uri="{FF2B5EF4-FFF2-40B4-BE49-F238E27FC236}">
                <a16:creationId xmlns:a16="http://schemas.microsoft.com/office/drawing/2014/main" id="{6E544ECD-93E8-88CD-EECE-94C2CBED7ED5}"/>
              </a:ext>
            </a:extLst>
          </p:cNvPr>
          <p:cNvSpPr>
            <a:spLocks noGrp="1" noChangeArrowheads="1"/>
          </p:cNvSpPr>
          <p:nvPr>
            <p:ph type="body" idx="1"/>
          </p:nvPr>
        </p:nvSpPr>
        <p:spPr>
          <a:xfrm>
            <a:off x="685800" y="1196975"/>
            <a:ext cx="3670300" cy="1944688"/>
          </a:xfrm>
          <a:noFill/>
        </p:spPr>
        <p:txBody>
          <a:bodyPr/>
          <a:lstStyle/>
          <a:p>
            <a:pPr eaLnBrk="1" hangingPunct="1">
              <a:buFont typeface="Wingdings" panose="05000000000000000000" pitchFamily="2" charset="2"/>
              <a:buChar char="Ø"/>
            </a:pPr>
            <a:r>
              <a:rPr lang="zh-CN" altLang="en-US" sz="2400" b="1">
                <a:ea typeface="黑体" panose="02010609060101010101" pitchFamily="49" charset="-122"/>
              </a:rPr>
              <a:t>如果电机在额定点或邻近运行，可把电机处理成一个等效不饱和电机，磁化曲线以直线</a:t>
            </a:r>
            <a:r>
              <a:rPr lang="en-US" altLang="zh-CN" sz="2400" b="1">
                <a:ea typeface="黑体" panose="02010609060101010101" pitchFamily="49" charset="-122"/>
              </a:rPr>
              <a:t>OP</a:t>
            </a:r>
            <a:r>
              <a:rPr lang="zh-CN" altLang="en-US" sz="2400" b="1">
                <a:ea typeface="黑体" panose="02010609060101010101" pitchFamily="49" charset="-122"/>
              </a:rPr>
              <a:t>近似。等效同步电抗为</a:t>
            </a:r>
          </a:p>
        </p:txBody>
      </p:sp>
      <p:sp>
        <p:nvSpPr>
          <p:cNvPr id="20485" name="Rectangle 5">
            <a:extLst>
              <a:ext uri="{FF2B5EF4-FFF2-40B4-BE49-F238E27FC236}">
                <a16:creationId xmlns:a16="http://schemas.microsoft.com/office/drawing/2014/main" id="{17E74938-994D-C32D-2796-15191087E069}"/>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0486" name="Object 6">
            <a:extLst>
              <a:ext uri="{FF2B5EF4-FFF2-40B4-BE49-F238E27FC236}">
                <a16:creationId xmlns:a16="http://schemas.microsoft.com/office/drawing/2014/main" id="{846DC9F5-3ECF-1C8A-07F8-E82F249179F2}"/>
              </a:ext>
            </a:extLst>
          </p:cNvPr>
          <p:cNvGraphicFramePr>
            <a:graphicFrameLocks noChangeAspect="1"/>
          </p:cNvGraphicFramePr>
          <p:nvPr/>
        </p:nvGraphicFramePr>
        <p:xfrm>
          <a:off x="4787900" y="1773238"/>
          <a:ext cx="4105275" cy="3467100"/>
        </p:xfrm>
        <a:graphic>
          <a:graphicData uri="http://schemas.openxmlformats.org/presentationml/2006/ole">
            <mc:AlternateContent xmlns:mc="http://schemas.openxmlformats.org/markup-compatibility/2006">
              <mc:Choice xmlns:v="urn:schemas-microsoft-com:vml" Requires="v">
                <p:oleObj name="Microsoft Drawing" r:id="rId2" imgW="3068638" imgH="2597150" progId="MSDraw">
                  <p:embed/>
                </p:oleObj>
              </mc:Choice>
              <mc:Fallback>
                <p:oleObj name="Microsoft Drawing" r:id="rId2" imgW="3068638" imgH="2597150" progId="MSDraw">
                  <p:embed/>
                  <p:pic>
                    <p:nvPicPr>
                      <p:cNvPr id="20486" name="Object 6">
                        <a:extLst>
                          <a:ext uri="{FF2B5EF4-FFF2-40B4-BE49-F238E27FC236}">
                            <a16:creationId xmlns:a16="http://schemas.microsoft.com/office/drawing/2014/main" id="{846DC9F5-3ECF-1C8A-07F8-E82F24917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773238"/>
                        <a:ext cx="4105275" cy="3467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Rectangle 7">
            <a:extLst>
              <a:ext uri="{FF2B5EF4-FFF2-40B4-BE49-F238E27FC236}">
                <a16:creationId xmlns:a16="http://schemas.microsoft.com/office/drawing/2014/main" id="{7473DE2F-ACA0-FAF5-E398-00A3B7BAF804}"/>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0488" name="Object 8">
            <a:extLst>
              <a:ext uri="{FF2B5EF4-FFF2-40B4-BE49-F238E27FC236}">
                <a16:creationId xmlns:a16="http://schemas.microsoft.com/office/drawing/2014/main" id="{571C7347-64E5-9A6A-EC55-849E903F8CD0}"/>
              </a:ext>
            </a:extLst>
          </p:cNvPr>
          <p:cNvGraphicFramePr>
            <a:graphicFrameLocks noChangeAspect="1"/>
          </p:cNvGraphicFramePr>
          <p:nvPr/>
        </p:nvGraphicFramePr>
        <p:xfrm>
          <a:off x="1116013" y="3163888"/>
          <a:ext cx="1439862" cy="968375"/>
        </p:xfrm>
        <a:graphic>
          <a:graphicData uri="http://schemas.openxmlformats.org/presentationml/2006/ole">
            <mc:AlternateContent xmlns:mc="http://schemas.openxmlformats.org/markup-compatibility/2006">
              <mc:Choice xmlns:v="urn:schemas-microsoft-com:vml" Requires="v">
                <p:oleObj name="Equation" r:id="rId4" imgW="634725" imgH="431613" progId="Equation.DSMT4">
                  <p:embed/>
                </p:oleObj>
              </mc:Choice>
              <mc:Fallback>
                <p:oleObj name="Equation" r:id="rId4" imgW="634725" imgH="431613" progId="Equation.DSMT4">
                  <p:embed/>
                  <p:pic>
                    <p:nvPicPr>
                      <p:cNvPr id="20488" name="Object 8">
                        <a:extLst>
                          <a:ext uri="{FF2B5EF4-FFF2-40B4-BE49-F238E27FC236}">
                            <a16:creationId xmlns:a16="http://schemas.microsoft.com/office/drawing/2014/main" id="{571C7347-64E5-9A6A-EC55-849E903F8C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163888"/>
                        <a:ext cx="1439862"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9" name="Text Box 9">
            <a:extLst>
              <a:ext uri="{FF2B5EF4-FFF2-40B4-BE49-F238E27FC236}">
                <a16:creationId xmlns:a16="http://schemas.microsoft.com/office/drawing/2014/main" id="{BBA5F2B7-3C20-066A-00E6-49AE0001DCAB}"/>
              </a:ext>
            </a:extLst>
          </p:cNvPr>
          <p:cNvSpPr txBox="1">
            <a:spLocks noChangeArrowheads="1"/>
          </p:cNvSpPr>
          <p:nvPr/>
        </p:nvSpPr>
        <p:spPr bwMode="auto">
          <a:xfrm>
            <a:off x="735013" y="4108450"/>
            <a:ext cx="4052887"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b="0"/>
              <a:t>电流：</a:t>
            </a:r>
            <a:r>
              <a:rPr lang="zh-CN" altLang="en-US" sz="2400">
                <a:ea typeface="黑体" panose="02010609060101010101" pitchFamily="49" charset="-122"/>
              </a:rPr>
              <a:t>从开路特性额定电压读取对应励磁电流，短路特性上此励磁电流对应的电枢电流。</a:t>
            </a:r>
          </a:p>
        </p:txBody>
      </p:sp>
      <p:sp>
        <p:nvSpPr>
          <p:cNvPr id="20490" name="Text Box 10">
            <a:extLst>
              <a:ext uri="{FF2B5EF4-FFF2-40B4-BE49-F238E27FC236}">
                <a16:creationId xmlns:a16="http://schemas.microsoft.com/office/drawing/2014/main" id="{1AFB348B-2B62-AA82-7D81-5B6CFDDEBEBB}"/>
              </a:ext>
            </a:extLst>
          </p:cNvPr>
          <p:cNvSpPr txBox="1">
            <a:spLocks noChangeArrowheads="1"/>
          </p:cNvSpPr>
          <p:nvPr/>
        </p:nvSpPr>
        <p:spPr bwMode="auto">
          <a:xfrm>
            <a:off x="735013" y="5621338"/>
            <a:ext cx="700563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这种以饱和电抗表示饱和效应的方法，对精度要求不高时，效果是令人满意的。</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EFC74B3-7E4D-4B93-EB7D-7DA834443DBD}"/>
              </a:ext>
            </a:extLst>
          </p:cNvPr>
          <p:cNvSpPr>
            <a:spLocks noGrp="1"/>
          </p:cNvSpPr>
          <p:nvPr>
            <p:ph type="sldNum" sz="quarter" idx="12"/>
          </p:nvPr>
        </p:nvSpPr>
        <p:spPr/>
        <p:txBody>
          <a:bodyPr/>
          <a:lstStyle/>
          <a:p>
            <a:pPr>
              <a:defRPr/>
            </a:pPr>
            <a:fld id="{23BB6B0C-318D-4396-A413-C139DA09FF9F}" type="slidenum">
              <a:rPr lang="en-US" altLang="zh-CN"/>
              <a:pPr>
                <a:defRPr/>
              </a:pPr>
              <a:t>63</a:t>
            </a:fld>
            <a:endParaRPr lang="en-US" altLang="zh-CN"/>
          </a:p>
        </p:txBody>
      </p:sp>
      <p:sp>
        <p:nvSpPr>
          <p:cNvPr id="21507" name="Rectangle 2">
            <a:extLst>
              <a:ext uri="{FF2B5EF4-FFF2-40B4-BE49-F238E27FC236}">
                <a16:creationId xmlns:a16="http://schemas.microsoft.com/office/drawing/2014/main" id="{99C50FE0-AB45-4BC4-5E2D-8B4DDADAD505}"/>
              </a:ext>
            </a:extLst>
          </p:cNvPr>
          <p:cNvSpPr>
            <a:spLocks noGrp="1" noChangeArrowheads="1"/>
          </p:cNvSpPr>
          <p:nvPr>
            <p:ph type="title"/>
          </p:nvPr>
        </p:nvSpPr>
        <p:spPr>
          <a:xfrm>
            <a:off x="483840" y="994172"/>
            <a:ext cx="8229600" cy="1143000"/>
          </a:xfrm>
        </p:spPr>
        <p:txBody>
          <a:bodyPr/>
          <a:lstStyle/>
          <a:p>
            <a:pPr eaLnBrk="1" hangingPunct="1"/>
            <a:r>
              <a:rPr lang="zh-CN" altLang="en-US" sz="3200" b="1">
                <a:ea typeface="楷体_GB2312" pitchFamily="49" charset="-122"/>
              </a:rPr>
              <a:t>同步电机定子电阻的测定</a:t>
            </a:r>
          </a:p>
        </p:txBody>
      </p:sp>
      <p:sp>
        <p:nvSpPr>
          <p:cNvPr id="21508" name="Rectangle 4">
            <a:extLst>
              <a:ext uri="{FF2B5EF4-FFF2-40B4-BE49-F238E27FC236}">
                <a16:creationId xmlns:a16="http://schemas.microsoft.com/office/drawing/2014/main" id="{7880862A-4788-822B-3ED5-8FDC27379529}"/>
              </a:ext>
            </a:extLst>
          </p:cNvPr>
          <p:cNvSpPr>
            <a:spLocks noGrp="1" noChangeArrowheads="1"/>
          </p:cNvSpPr>
          <p:nvPr>
            <p:ph type="body" idx="1"/>
          </p:nvPr>
        </p:nvSpPr>
        <p:spPr>
          <a:xfrm>
            <a:off x="712440" y="2276872"/>
            <a:ext cx="7847013" cy="2735262"/>
          </a:xfrm>
          <a:noFill/>
        </p:spPr>
        <p:txBody>
          <a:bodyPr/>
          <a:lstStyle/>
          <a:p>
            <a:pPr eaLnBrk="1" hangingPunct="1"/>
            <a:r>
              <a:rPr lang="zh-CN" altLang="en-US" sz="2800" b="1">
                <a:ea typeface="黑体" panose="02010609060101010101" pitchFamily="49" charset="-122"/>
              </a:rPr>
              <a:t>定子电阻可以通过直流伏安法近似测得。但实际的同步电机由于趋肤效应，电机绕组的交流运行下的电阻会略大于直流电阻。测得的电阻可以计入上述方程提高同步电抗的近似计算精度。不过实际上由饱和引起的误差要远远超过忽略电阻引起的计算误差。</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B09526F2-7BA3-4B39-E5CD-C2E020C5C330}"/>
              </a:ext>
            </a:extLst>
          </p:cNvPr>
          <p:cNvSpPr>
            <a:spLocks noGrp="1"/>
          </p:cNvSpPr>
          <p:nvPr>
            <p:ph type="sldNum" sz="quarter" idx="12"/>
          </p:nvPr>
        </p:nvSpPr>
        <p:spPr/>
        <p:txBody>
          <a:bodyPr/>
          <a:lstStyle/>
          <a:p>
            <a:pPr>
              <a:defRPr/>
            </a:pPr>
            <a:fld id="{C7410689-F3D2-4494-969E-971114D6DE0F}" type="slidenum">
              <a:rPr lang="en-US" altLang="zh-CN"/>
              <a:pPr>
                <a:defRPr/>
              </a:pPr>
              <a:t>64</a:t>
            </a:fld>
            <a:endParaRPr lang="en-US" altLang="zh-CN"/>
          </a:p>
        </p:txBody>
      </p:sp>
      <p:sp>
        <p:nvSpPr>
          <p:cNvPr id="22531" name="Rectangle 2">
            <a:extLst>
              <a:ext uri="{FF2B5EF4-FFF2-40B4-BE49-F238E27FC236}">
                <a16:creationId xmlns:a16="http://schemas.microsoft.com/office/drawing/2014/main" id="{7B333573-C420-8B47-8071-75761D06A8B8}"/>
              </a:ext>
            </a:extLst>
          </p:cNvPr>
          <p:cNvSpPr>
            <a:spLocks noGrp="1" noChangeArrowheads="1"/>
          </p:cNvSpPr>
          <p:nvPr>
            <p:ph type="title"/>
          </p:nvPr>
        </p:nvSpPr>
        <p:spPr>
          <a:xfrm>
            <a:off x="1898650" y="702041"/>
            <a:ext cx="7245350" cy="762000"/>
          </a:xfrm>
        </p:spPr>
        <p:txBody>
          <a:bodyPr/>
          <a:lstStyle/>
          <a:p>
            <a:pPr eaLnBrk="1" hangingPunct="1"/>
            <a:r>
              <a:rPr lang="en-US" altLang="zh-CN" sz="3200" b="1" dirty="0">
                <a:ea typeface="楷体_GB2312" pitchFamily="49" charset="-122"/>
              </a:rPr>
              <a:t>7.7 </a:t>
            </a:r>
            <a:r>
              <a:rPr lang="zh-CN" altLang="en-US" sz="3200" b="1" dirty="0">
                <a:ea typeface="楷体_GB2312" pitchFamily="49" charset="-122"/>
              </a:rPr>
              <a:t>同步电机的额定参数与外特性</a:t>
            </a:r>
          </a:p>
        </p:txBody>
      </p:sp>
      <p:sp>
        <p:nvSpPr>
          <p:cNvPr id="22532" name="Rectangle 4">
            <a:extLst>
              <a:ext uri="{FF2B5EF4-FFF2-40B4-BE49-F238E27FC236}">
                <a16:creationId xmlns:a16="http://schemas.microsoft.com/office/drawing/2014/main" id="{54F837DC-68F2-19AA-A89D-D2E7C6A47E9D}"/>
              </a:ext>
            </a:extLst>
          </p:cNvPr>
          <p:cNvSpPr>
            <a:spLocks noGrp="1" noChangeArrowheads="1"/>
          </p:cNvSpPr>
          <p:nvPr>
            <p:ph type="body" sz="half" idx="1"/>
          </p:nvPr>
        </p:nvSpPr>
        <p:spPr>
          <a:xfrm>
            <a:off x="371334" y="1714906"/>
            <a:ext cx="8351837" cy="249238"/>
          </a:xfrm>
          <a:noFill/>
        </p:spPr>
        <p:txBody>
          <a:bodyPr/>
          <a:lstStyle/>
          <a:p>
            <a:pPr marL="609600" indent="-609600" eaLnBrk="1" hangingPunct="1">
              <a:lnSpc>
                <a:spcPct val="90000"/>
              </a:lnSpc>
              <a:buFontTx/>
              <a:buAutoNum type="arabicPeriod"/>
            </a:pPr>
            <a:r>
              <a:rPr lang="zh-CN" altLang="en-US" sz="2400" b="1">
                <a:latin typeface="楷体_GB2312" pitchFamily="49" charset="-122"/>
                <a:ea typeface="楷体_GB2312" pitchFamily="49" charset="-122"/>
              </a:rPr>
              <a:t>发电机额定容量</a:t>
            </a:r>
            <a:r>
              <a:rPr lang="en-US" altLang="zh-CN" sz="2400" b="1">
                <a:latin typeface="楷体_GB2312" pitchFamily="49" charset="-122"/>
                <a:ea typeface="楷体_GB2312" pitchFamily="49" charset="-122"/>
              </a:rPr>
              <a:t>S</a:t>
            </a:r>
            <a:r>
              <a:rPr lang="en-US" altLang="zh-CN" sz="2400" b="1" baseline="-25000">
                <a:latin typeface="楷体_GB2312" pitchFamily="49" charset="-122"/>
                <a:ea typeface="楷体_GB2312" pitchFamily="49" charset="-122"/>
              </a:rPr>
              <a:t>N</a:t>
            </a:r>
            <a:r>
              <a:rPr lang="en-US" altLang="zh-CN" sz="2400" b="1">
                <a:latin typeface="楷体_GB2312" pitchFamily="49" charset="-122"/>
                <a:ea typeface="楷体_GB2312" pitchFamily="49" charset="-122"/>
              </a:rPr>
              <a:t>【kVA/MVA】</a:t>
            </a:r>
            <a:r>
              <a:rPr lang="zh-CN" altLang="en-US" sz="2400" b="1">
                <a:latin typeface="楷体_GB2312" pitchFamily="49" charset="-122"/>
                <a:ea typeface="楷体_GB2312" pitchFamily="49" charset="-122"/>
              </a:rPr>
              <a:t>输出视在功率。</a:t>
            </a:r>
          </a:p>
        </p:txBody>
      </p:sp>
      <p:sp>
        <p:nvSpPr>
          <p:cNvPr id="22533" name="Text Box 6">
            <a:extLst>
              <a:ext uri="{FF2B5EF4-FFF2-40B4-BE49-F238E27FC236}">
                <a16:creationId xmlns:a16="http://schemas.microsoft.com/office/drawing/2014/main" id="{4D3AE0B4-B4A0-0A74-D332-EF7797850864}"/>
              </a:ext>
            </a:extLst>
          </p:cNvPr>
          <p:cNvSpPr txBox="1">
            <a:spLocks noChangeArrowheads="1"/>
          </p:cNvSpPr>
          <p:nvPr/>
        </p:nvSpPr>
        <p:spPr bwMode="auto">
          <a:xfrm>
            <a:off x="357046" y="2172106"/>
            <a:ext cx="8459788"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AutoNum type="arabicPeriod" startAt="2"/>
            </a:pPr>
            <a:r>
              <a:rPr kumimoji="0" lang="en-US" altLang="zh-CN" sz="2400">
                <a:latin typeface="楷体_GB2312" pitchFamily="49" charset="-122"/>
                <a:ea typeface="楷体_GB2312" pitchFamily="49" charset="-122"/>
              </a:rPr>
              <a:t> </a:t>
            </a:r>
            <a:r>
              <a:rPr kumimoji="0" lang="zh-CN" altLang="en-US" sz="2800">
                <a:latin typeface="楷体_GB2312" pitchFamily="49" charset="-122"/>
                <a:ea typeface="楷体_GB2312" pitchFamily="49" charset="-122"/>
              </a:rPr>
              <a:t>额定功率</a:t>
            </a:r>
            <a:r>
              <a:rPr kumimoji="0" lang="en-US" altLang="zh-CN" sz="2800">
                <a:latin typeface="楷体_GB2312" pitchFamily="49" charset="-122"/>
                <a:ea typeface="楷体_GB2312" pitchFamily="49" charset="-122"/>
              </a:rPr>
              <a:t>P</a:t>
            </a:r>
            <a:r>
              <a:rPr kumimoji="0" lang="en-US" altLang="zh-CN" sz="2800" baseline="-25000">
                <a:latin typeface="楷体_GB2312" pitchFamily="49" charset="-122"/>
                <a:ea typeface="楷体_GB2312" pitchFamily="49" charset="-122"/>
              </a:rPr>
              <a:t>N</a:t>
            </a:r>
            <a:r>
              <a:rPr kumimoji="0" lang="en-US" altLang="zh-CN" sz="2800">
                <a:latin typeface="楷体_GB2312" pitchFamily="49" charset="-122"/>
                <a:ea typeface="楷体_GB2312" pitchFamily="49" charset="-122"/>
              </a:rPr>
              <a:t>【kW/MW】</a:t>
            </a:r>
            <a:r>
              <a:rPr kumimoji="0" lang="zh-CN" altLang="en-US" sz="2800">
                <a:latin typeface="楷体_GB2312" pitchFamily="49" charset="-122"/>
                <a:ea typeface="楷体_GB2312" pitchFamily="49" charset="-122"/>
              </a:rPr>
              <a:t>输出有功功率，电动机指轴上输出机械功率。</a:t>
            </a:r>
            <a:endParaRPr kumimoji="0" lang="zh-CN" altLang="en-US" sz="2800" baseline="-25000">
              <a:latin typeface="楷体_GB2312" pitchFamily="49" charset="-122"/>
              <a:ea typeface="楷体_GB2312" pitchFamily="49" charset="-122"/>
            </a:endParaRPr>
          </a:p>
        </p:txBody>
      </p:sp>
      <p:sp>
        <p:nvSpPr>
          <p:cNvPr id="22534" name="Text Box 7">
            <a:extLst>
              <a:ext uri="{FF2B5EF4-FFF2-40B4-BE49-F238E27FC236}">
                <a16:creationId xmlns:a16="http://schemas.microsoft.com/office/drawing/2014/main" id="{84A9C336-4660-204C-A32F-E66A0FC9BD02}"/>
              </a:ext>
            </a:extLst>
          </p:cNvPr>
          <p:cNvSpPr txBox="1">
            <a:spLocks noChangeArrowheads="1"/>
          </p:cNvSpPr>
          <p:nvPr/>
        </p:nvSpPr>
        <p:spPr bwMode="auto">
          <a:xfrm>
            <a:off x="371334" y="3010306"/>
            <a:ext cx="7991475"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AutoNum type="arabicPeriod" startAt="3"/>
            </a:pPr>
            <a:r>
              <a:rPr kumimoji="0" lang="zh-CN" altLang="en-US" sz="2800">
                <a:latin typeface="楷体_GB2312" pitchFamily="49" charset="-122"/>
                <a:ea typeface="楷体_GB2312" pitchFamily="49" charset="-122"/>
              </a:rPr>
              <a:t>额定电压、额定电流定义与异步机相同，均为线值。</a:t>
            </a:r>
          </a:p>
        </p:txBody>
      </p:sp>
      <p:grpSp>
        <p:nvGrpSpPr>
          <p:cNvPr id="227342" name="Group 14">
            <a:extLst>
              <a:ext uri="{FF2B5EF4-FFF2-40B4-BE49-F238E27FC236}">
                <a16:creationId xmlns:a16="http://schemas.microsoft.com/office/drawing/2014/main" id="{F112BA5C-8248-1169-9206-AF5F625A7980}"/>
              </a:ext>
            </a:extLst>
          </p:cNvPr>
          <p:cNvGrpSpPr>
            <a:grpSpLocks/>
          </p:cNvGrpSpPr>
          <p:nvPr/>
        </p:nvGrpSpPr>
        <p:grpSpPr bwMode="auto">
          <a:xfrm>
            <a:off x="661846" y="3848506"/>
            <a:ext cx="7361238" cy="1171575"/>
            <a:chOff x="432" y="2304"/>
            <a:chExt cx="4637" cy="738"/>
          </a:xfrm>
        </p:grpSpPr>
        <p:graphicFrame>
          <p:nvGraphicFramePr>
            <p:cNvPr id="22541" name="Object 5">
              <a:extLst>
                <a:ext uri="{FF2B5EF4-FFF2-40B4-BE49-F238E27FC236}">
                  <a16:creationId xmlns:a16="http://schemas.microsoft.com/office/drawing/2014/main" id="{EB8CBEA7-1C1C-6532-C049-890AB18938BB}"/>
                </a:ext>
              </a:extLst>
            </p:cNvPr>
            <p:cNvGraphicFramePr>
              <a:graphicFrameLocks noChangeAspect="1"/>
            </p:cNvGraphicFramePr>
            <p:nvPr/>
          </p:nvGraphicFramePr>
          <p:xfrm>
            <a:off x="624" y="2688"/>
            <a:ext cx="4445" cy="354"/>
          </p:xfrm>
          <a:graphic>
            <a:graphicData uri="http://schemas.openxmlformats.org/presentationml/2006/ole">
              <mc:AlternateContent xmlns:mc="http://schemas.openxmlformats.org/markup-compatibility/2006">
                <mc:Choice xmlns:v="urn:schemas-microsoft-com:vml" Requires="v">
                  <p:oleObj name="Equation" r:id="rId2" imgW="3187700" imgH="254000" progId="Equation.DSMT4">
                    <p:embed/>
                  </p:oleObj>
                </mc:Choice>
                <mc:Fallback>
                  <p:oleObj name="Equation" r:id="rId2" imgW="3187700" imgH="254000" progId="Equation.DSMT4">
                    <p:embed/>
                    <p:pic>
                      <p:nvPicPr>
                        <p:cNvPr id="22541" name="Object 5">
                          <a:extLst>
                            <a:ext uri="{FF2B5EF4-FFF2-40B4-BE49-F238E27FC236}">
                              <a16:creationId xmlns:a16="http://schemas.microsoft.com/office/drawing/2014/main" id="{EB8CBEA7-1C1C-6532-C049-890AB1893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2688"/>
                          <a:ext cx="4445" cy="354"/>
                        </a:xfrm>
                        <a:prstGeom prst="rect">
                          <a:avLst/>
                        </a:prstGeom>
                        <a:solidFill>
                          <a:srgbClr val="00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2" name="Text Box 8">
              <a:extLst>
                <a:ext uri="{FF2B5EF4-FFF2-40B4-BE49-F238E27FC236}">
                  <a16:creationId xmlns:a16="http://schemas.microsoft.com/office/drawing/2014/main" id="{40B41773-CC36-4B44-CAA7-C10D7E987FDD}"/>
                </a:ext>
              </a:extLst>
            </p:cNvPr>
            <p:cNvSpPr txBox="1">
              <a:spLocks noChangeArrowheads="1"/>
            </p:cNvSpPr>
            <p:nvPr/>
          </p:nvSpPr>
          <p:spPr bwMode="auto">
            <a:xfrm>
              <a:off x="432" y="2304"/>
              <a:ext cx="34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800">
                  <a:solidFill>
                    <a:srgbClr val="0000FF"/>
                  </a:solidFill>
                  <a:latin typeface="楷体_GB2312" pitchFamily="49" charset="-122"/>
                  <a:ea typeface="楷体_GB2312" pitchFamily="49" charset="-122"/>
                </a:rPr>
                <a:t>对同步发电机额定值之间关系为：</a:t>
              </a:r>
              <a:endParaRPr kumimoji="0" lang="zh-CN" altLang="en-US" sz="2800">
                <a:latin typeface="楷体_GB2312" pitchFamily="49" charset="-122"/>
                <a:ea typeface="楷体_GB2312" pitchFamily="49" charset="-122"/>
              </a:endParaRPr>
            </a:p>
          </p:txBody>
        </p:sp>
      </p:grpSp>
      <p:sp>
        <p:nvSpPr>
          <p:cNvPr id="227337" name="Text Box 9">
            <a:extLst>
              <a:ext uri="{FF2B5EF4-FFF2-40B4-BE49-F238E27FC236}">
                <a16:creationId xmlns:a16="http://schemas.microsoft.com/office/drawing/2014/main" id="{8B39459A-2901-5F1C-0BAA-81AD5F8D6494}"/>
              </a:ext>
            </a:extLst>
          </p:cNvPr>
          <p:cNvSpPr txBox="1">
            <a:spLocks noChangeArrowheads="1"/>
          </p:cNvSpPr>
          <p:nvPr/>
        </p:nvSpPr>
        <p:spPr bwMode="auto">
          <a:xfrm>
            <a:off x="517525" y="5145088"/>
            <a:ext cx="8300913"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800" dirty="0">
                <a:latin typeface="楷体_GB2312" pitchFamily="49" charset="-122"/>
                <a:ea typeface="楷体_GB2312" pitchFamily="49" charset="-122"/>
              </a:rPr>
              <a:t>其它额定参数有：功率因数、效率、频率、转速、励磁电流、励磁电压等；换算：１</a:t>
            </a:r>
            <a:r>
              <a:rPr kumimoji="0" lang="en-US" altLang="zh-CN" sz="2800" dirty="0">
                <a:latin typeface="楷体_GB2312" pitchFamily="49" charset="-122"/>
                <a:ea typeface="楷体_GB2312" pitchFamily="49" charset="-122"/>
              </a:rPr>
              <a:t>hp</a:t>
            </a:r>
            <a:r>
              <a:rPr kumimoji="0" lang="zh-CN" altLang="en-US" sz="2800" dirty="0">
                <a:latin typeface="楷体_GB2312" pitchFamily="49" charset="-122"/>
                <a:ea typeface="楷体_GB2312" pitchFamily="49" charset="-122"/>
              </a:rPr>
              <a:t>＝</a:t>
            </a:r>
            <a:r>
              <a:rPr kumimoji="0" lang="en-US" altLang="zh-CN" sz="2800" dirty="0">
                <a:latin typeface="楷体_GB2312" pitchFamily="49" charset="-122"/>
                <a:ea typeface="楷体_GB2312" pitchFamily="49" charset="-122"/>
              </a:rPr>
              <a:t>746</a:t>
            </a:r>
            <a:r>
              <a:rPr kumimoji="0" lang="zh-CN" altLang="en-US" sz="2800" dirty="0">
                <a:latin typeface="楷体_GB2312" pitchFamily="49" charset="-122"/>
                <a:ea typeface="楷体_GB2312" pitchFamily="49" charset="-122"/>
              </a:rPr>
              <a:t>Ｗ。</a:t>
            </a:r>
          </a:p>
        </p:txBody>
      </p:sp>
      <p:grpSp>
        <p:nvGrpSpPr>
          <p:cNvPr id="227341" name="Group 13">
            <a:extLst>
              <a:ext uri="{FF2B5EF4-FFF2-40B4-BE49-F238E27FC236}">
                <a16:creationId xmlns:a16="http://schemas.microsoft.com/office/drawing/2014/main" id="{2AEFE1D2-5A07-41B1-0BCD-412155B1262D}"/>
              </a:ext>
            </a:extLst>
          </p:cNvPr>
          <p:cNvGrpSpPr>
            <a:grpSpLocks/>
          </p:cNvGrpSpPr>
          <p:nvPr/>
        </p:nvGrpSpPr>
        <p:grpSpPr bwMode="auto">
          <a:xfrm>
            <a:off x="735013" y="6092825"/>
            <a:ext cx="6573837" cy="541338"/>
            <a:chOff x="463" y="3838"/>
            <a:chExt cx="4141" cy="341"/>
          </a:xfrm>
        </p:grpSpPr>
        <p:sp>
          <p:nvSpPr>
            <p:cNvPr id="22539" name="Text Box 10">
              <a:extLst>
                <a:ext uri="{FF2B5EF4-FFF2-40B4-BE49-F238E27FC236}">
                  <a16:creationId xmlns:a16="http://schemas.microsoft.com/office/drawing/2014/main" id="{ACB9C710-FE0D-1957-0FED-195647B92DE1}"/>
                </a:ext>
              </a:extLst>
            </p:cNvPr>
            <p:cNvSpPr txBox="1">
              <a:spLocks noChangeArrowheads="1"/>
            </p:cNvSpPr>
            <p:nvPr/>
          </p:nvSpPr>
          <p:spPr bwMode="auto">
            <a:xfrm>
              <a:off x="463" y="3873"/>
              <a:ext cx="146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800">
                  <a:latin typeface="楷体_GB2312" pitchFamily="49" charset="-122"/>
                  <a:ea typeface="楷体_GB2312" pitchFamily="49" charset="-122"/>
                </a:rPr>
                <a:t>对</a:t>
              </a:r>
              <a:r>
                <a:rPr kumimoji="0" lang="zh-CN" altLang="en-US" sz="2800">
                  <a:solidFill>
                    <a:srgbClr val="FF0000"/>
                  </a:solidFill>
                  <a:latin typeface="楷体_GB2312" pitchFamily="49" charset="-122"/>
                  <a:ea typeface="楷体_GB2312" pitchFamily="49" charset="-122"/>
                </a:rPr>
                <a:t>同步电动机</a:t>
              </a:r>
            </a:p>
          </p:txBody>
        </p:sp>
        <p:graphicFrame>
          <p:nvGraphicFramePr>
            <p:cNvPr id="22540" name="Object 11">
              <a:extLst>
                <a:ext uri="{FF2B5EF4-FFF2-40B4-BE49-F238E27FC236}">
                  <a16:creationId xmlns:a16="http://schemas.microsoft.com/office/drawing/2014/main" id="{04DF7037-94D5-9975-03EB-6CE0B7BF4916}"/>
                </a:ext>
              </a:extLst>
            </p:cNvPr>
            <p:cNvGraphicFramePr>
              <a:graphicFrameLocks noChangeAspect="1"/>
            </p:cNvGraphicFramePr>
            <p:nvPr/>
          </p:nvGraphicFramePr>
          <p:xfrm>
            <a:off x="1973" y="3838"/>
            <a:ext cx="2631" cy="341"/>
          </p:xfrm>
          <a:graphic>
            <a:graphicData uri="http://schemas.openxmlformats.org/presentationml/2006/ole">
              <mc:AlternateContent xmlns:mc="http://schemas.openxmlformats.org/markup-compatibility/2006">
                <mc:Choice xmlns:v="urn:schemas-microsoft-com:vml" Requires="v">
                  <p:oleObj name="Equation" r:id="rId4" imgW="1954951" imgH="253890" progId="Equation.DSMT4">
                    <p:embed/>
                  </p:oleObj>
                </mc:Choice>
                <mc:Fallback>
                  <p:oleObj name="Equation" r:id="rId4" imgW="1954951" imgH="253890" progId="Equation.DSMT4">
                    <p:embed/>
                    <p:pic>
                      <p:nvPicPr>
                        <p:cNvPr id="22540" name="Object 11">
                          <a:extLst>
                            <a:ext uri="{FF2B5EF4-FFF2-40B4-BE49-F238E27FC236}">
                              <a16:creationId xmlns:a16="http://schemas.microsoft.com/office/drawing/2014/main" id="{04DF7037-94D5-9975-03EB-6CE0B7BF49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3" y="3838"/>
                          <a:ext cx="2631" cy="341"/>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2538" name="Text Box 12">
            <a:extLst>
              <a:ext uri="{FF2B5EF4-FFF2-40B4-BE49-F238E27FC236}">
                <a16:creationId xmlns:a16="http://schemas.microsoft.com/office/drawing/2014/main" id="{CB27C0CC-9044-9F65-547D-9694724D49C5}"/>
              </a:ext>
            </a:extLst>
          </p:cNvPr>
          <p:cNvSpPr txBox="1">
            <a:spLocks noChangeArrowheads="1"/>
          </p:cNvSpPr>
          <p:nvPr/>
        </p:nvSpPr>
        <p:spPr bwMode="auto">
          <a:xfrm>
            <a:off x="251520" y="1183094"/>
            <a:ext cx="2327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800" dirty="0">
                <a:latin typeface="楷体_GB2312" pitchFamily="49" charset="-122"/>
                <a:ea typeface="楷体_GB2312" pitchFamily="49" charset="-122"/>
              </a:rPr>
              <a:t>一、额定参数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7342"/>
                                        </p:tgtEl>
                                        <p:attrNameLst>
                                          <p:attrName>style.visibility</p:attrName>
                                        </p:attrNameLst>
                                      </p:cBhvr>
                                      <p:to>
                                        <p:strVal val="visible"/>
                                      </p:to>
                                    </p:set>
                                    <p:animEffect transition="in" filter="blinds(horizontal)">
                                      <p:cBhvr>
                                        <p:cTn id="7" dur="500"/>
                                        <p:tgtEl>
                                          <p:spTgt spid="2273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7337"/>
                                        </p:tgtEl>
                                        <p:attrNameLst>
                                          <p:attrName>style.visibility</p:attrName>
                                        </p:attrNameLst>
                                      </p:cBhvr>
                                      <p:to>
                                        <p:strVal val="visible"/>
                                      </p:to>
                                    </p:set>
                                    <p:animEffect transition="in" filter="blinds(horizontal)">
                                      <p:cBhvr>
                                        <p:cTn id="12" dur="500"/>
                                        <p:tgtEl>
                                          <p:spTgt spid="2273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7341"/>
                                        </p:tgtEl>
                                        <p:attrNameLst>
                                          <p:attrName>style.visibility</p:attrName>
                                        </p:attrNameLst>
                                      </p:cBhvr>
                                      <p:to>
                                        <p:strVal val="visible"/>
                                      </p:to>
                                    </p:set>
                                    <p:animEffect transition="in" filter="blinds(horizontal)">
                                      <p:cBhvr>
                                        <p:cTn id="17" dur="500"/>
                                        <p:tgtEl>
                                          <p:spTgt spid="227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7"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034EC273-F5DB-D4BF-C7E6-42A03F908F5F}"/>
              </a:ext>
            </a:extLst>
          </p:cNvPr>
          <p:cNvSpPr>
            <a:spLocks noGrp="1"/>
          </p:cNvSpPr>
          <p:nvPr>
            <p:ph type="sldNum" sz="quarter" idx="12"/>
          </p:nvPr>
        </p:nvSpPr>
        <p:spPr/>
        <p:txBody>
          <a:bodyPr/>
          <a:lstStyle/>
          <a:p>
            <a:pPr>
              <a:defRPr/>
            </a:pPr>
            <a:fld id="{AF5CFC50-0222-472A-A84C-D29A445B37D1}" type="slidenum">
              <a:rPr lang="en-US" altLang="zh-CN"/>
              <a:pPr>
                <a:defRPr/>
              </a:pPr>
              <a:t>65</a:t>
            </a:fld>
            <a:endParaRPr lang="en-US" altLang="zh-CN"/>
          </a:p>
        </p:txBody>
      </p:sp>
      <p:sp>
        <p:nvSpPr>
          <p:cNvPr id="23555" name="Rectangle 2">
            <a:extLst>
              <a:ext uri="{FF2B5EF4-FFF2-40B4-BE49-F238E27FC236}">
                <a16:creationId xmlns:a16="http://schemas.microsoft.com/office/drawing/2014/main" id="{ED009614-DB13-7F8B-69F1-B04A17EF6592}"/>
              </a:ext>
            </a:extLst>
          </p:cNvPr>
          <p:cNvSpPr>
            <a:spLocks noGrp="1" noChangeArrowheads="1"/>
          </p:cNvSpPr>
          <p:nvPr>
            <p:ph type="title"/>
          </p:nvPr>
        </p:nvSpPr>
        <p:spPr>
          <a:xfrm>
            <a:off x="216766" y="1271634"/>
            <a:ext cx="533400" cy="838200"/>
          </a:xfrm>
        </p:spPr>
        <p:txBody>
          <a:bodyPr/>
          <a:lstStyle/>
          <a:p>
            <a:pPr eaLnBrk="1" hangingPunct="1"/>
            <a:r>
              <a:rPr lang="zh-CN" altLang="en-US" sz="3200" dirty="0"/>
              <a:t>例</a:t>
            </a:r>
            <a:r>
              <a:rPr lang="en-US" altLang="zh-CN" sz="3200" dirty="0"/>
              <a:t>2</a:t>
            </a:r>
          </a:p>
        </p:txBody>
      </p:sp>
      <p:sp>
        <p:nvSpPr>
          <p:cNvPr id="23556" name="Rectangle 5">
            <a:extLst>
              <a:ext uri="{FF2B5EF4-FFF2-40B4-BE49-F238E27FC236}">
                <a16:creationId xmlns:a16="http://schemas.microsoft.com/office/drawing/2014/main" id="{30DB4CA0-3ECE-5768-7219-E5BB39CE3620}"/>
              </a:ext>
            </a:extLst>
          </p:cNvPr>
          <p:cNvSpPr>
            <a:spLocks noGrp="1" noChangeArrowheads="1"/>
          </p:cNvSpPr>
          <p:nvPr>
            <p:ph type="body" idx="1"/>
          </p:nvPr>
        </p:nvSpPr>
        <p:spPr>
          <a:xfrm>
            <a:off x="827088" y="854869"/>
            <a:ext cx="8316912" cy="1871662"/>
          </a:xfrm>
          <a:noFill/>
        </p:spPr>
        <p:txBody>
          <a:bodyPr/>
          <a:lstStyle/>
          <a:p>
            <a:pPr eaLnBrk="1" hangingPunct="1">
              <a:buFontTx/>
              <a:buNone/>
            </a:pPr>
            <a:r>
              <a:rPr lang="zh-CN" altLang="en-US" sz="2400" b="1" dirty="0">
                <a:latin typeface="楷体_GB2312" pitchFamily="49" charset="-122"/>
                <a:ea typeface="楷体_GB2312" pitchFamily="49" charset="-122"/>
              </a:rPr>
              <a:t>某同步发电机，额定容量为</a:t>
            </a:r>
            <a:r>
              <a:rPr lang="en-US" altLang="zh-CN" sz="2400" b="1" dirty="0">
                <a:latin typeface="楷体_GB2312" pitchFamily="49" charset="-122"/>
                <a:ea typeface="楷体_GB2312" pitchFamily="49" charset="-122"/>
              </a:rPr>
              <a:t>200kVA</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480V</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50Hz</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Y</a:t>
            </a:r>
            <a:r>
              <a:rPr lang="zh-CN" altLang="en-US" sz="2400" b="1" dirty="0">
                <a:latin typeface="楷体_GB2312" pitchFamily="49" charset="-122"/>
                <a:ea typeface="楷体_GB2312" pitchFamily="49" charset="-122"/>
              </a:rPr>
              <a:t>连接，额定励磁电流</a:t>
            </a:r>
            <a:r>
              <a:rPr lang="en-US" altLang="zh-CN" sz="2400" b="1" dirty="0">
                <a:latin typeface="楷体_GB2312" pitchFamily="49" charset="-122"/>
                <a:ea typeface="楷体_GB2312" pitchFamily="49" charset="-122"/>
              </a:rPr>
              <a:t>5A</a:t>
            </a:r>
            <a:r>
              <a:rPr lang="zh-CN" altLang="en-US" sz="2400" b="1" dirty="0">
                <a:latin typeface="楷体_GB2312" pitchFamily="49" charset="-122"/>
                <a:ea typeface="楷体_GB2312" pitchFamily="49" charset="-122"/>
              </a:rPr>
              <a:t>。实验数据为：额定励磁开路线电压</a:t>
            </a:r>
            <a:r>
              <a:rPr lang="en-US" altLang="zh-CN" sz="2400" b="1" dirty="0">
                <a:latin typeface="楷体_GB2312" pitchFamily="49" charset="-122"/>
                <a:ea typeface="楷体_GB2312" pitchFamily="49" charset="-122"/>
              </a:rPr>
              <a:t>540V</a:t>
            </a:r>
            <a:r>
              <a:rPr lang="zh-CN" altLang="en-US" sz="2400" b="1" dirty="0">
                <a:latin typeface="楷体_GB2312" pitchFamily="49" charset="-122"/>
                <a:ea typeface="楷体_GB2312" pitchFamily="49" charset="-122"/>
              </a:rPr>
              <a:t>；   额定励磁短路线电流</a:t>
            </a:r>
            <a:r>
              <a:rPr lang="en-US" altLang="zh-CN" sz="2400" b="1" dirty="0">
                <a:latin typeface="楷体_GB2312" pitchFamily="49" charset="-122"/>
                <a:ea typeface="楷体_GB2312" pitchFamily="49" charset="-122"/>
              </a:rPr>
              <a:t>300A</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Y</a:t>
            </a:r>
            <a:r>
              <a:rPr lang="zh-CN" altLang="en-US" sz="2400" b="1" dirty="0">
                <a:latin typeface="楷体_GB2312" pitchFamily="49" charset="-122"/>
                <a:ea typeface="楷体_GB2312" pitchFamily="49" charset="-122"/>
              </a:rPr>
              <a:t>连接定子绕组两端口加</a:t>
            </a:r>
            <a:r>
              <a:rPr lang="en-US" altLang="zh-CN" sz="2400" b="1" dirty="0">
                <a:latin typeface="楷体_GB2312" pitchFamily="49" charset="-122"/>
                <a:ea typeface="楷体_GB2312" pitchFamily="49" charset="-122"/>
              </a:rPr>
              <a:t>10V</a:t>
            </a:r>
            <a:r>
              <a:rPr lang="zh-CN" altLang="en-US" sz="2400" b="1" dirty="0">
                <a:latin typeface="楷体_GB2312" pitchFamily="49" charset="-122"/>
                <a:ea typeface="楷体_GB2312" pitchFamily="49" charset="-122"/>
              </a:rPr>
              <a:t>直流电压时，测得的电流为</a:t>
            </a:r>
            <a:r>
              <a:rPr lang="en-US" altLang="zh-CN" sz="2400" b="1" dirty="0">
                <a:latin typeface="楷体_GB2312" pitchFamily="49" charset="-122"/>
                <a:ea typeface="楷体_GB2312" pitchFamily="49" charset="-122"/>
              </a:rPr>
              <a:t>25A</a:t>
            </a:r>
            <a:r>
              <a:rPr lang="zh-CN" altLang="en-US" sz="2400" b="1" dirty="0">
                <a:latin typeface="楷体_GB2312" pitchFamily="49" charset="-122"/>
                <a:ea typeface="楷体_GB2312" pitchFamily="49" charset="-122"/>
              </a:rPr>
              <a:t>。</a:t>
            </a:r>
          </a:p>
          <a:p>
            <a:pPr eaLnBrk="1" hangingPunct="1">
              <a:lnSpc>
                <a:spcPct val="80000"/>
              </a:lnSpc>
              <a:buFontTx/>
              <a:buNone/>
            </a:pPr>
            <a:r>
              <a:rPr lang="zh-CN" altLang="en-US" sz="2400" dirty="0">
                <a:ea typeface="华文中宋" panose="02010600040101010101" pitchFamily="2" charset="-122"/>
              </a:rPr>
              <a:t>求此同步机在额定条件下的定子电枢电阻和近似同步电抗。</a:t>
            </a:r>
          </a:p>
        </p:txBody>
      </p:sp>
      <p:graphicFrame>
        <p:nvGraphicFramePr>
          <p:cNvPr id="23557" name="Object 6">
            <a:extLst>
              <a:ext uri="{FF2B5EF4-FFF2-40B4-BE49-F238E27FC236}">
                <a16:creationId xmlns:a16="http://schemas.microsoft.com/office/drawing/2014/main" id="{52D857D9-C6B4-A482-FD1C-323B49F559CD}"/>
              </a:ext>
            </a:extLst>
          </p:cNvPr>
          <p:cNvGraphicFramePr>
            <a:graphicFrameLocks noChangeAspect="1"/>
          </p:cNvGraphicFramePr>
          <p:nvPr>
            <p:extLst>
              <p:ext uri="{D42A27DB-BD31-4B8C-83A1-F6EECF244321}">
                <p14:modId xmlns:p14="http://schemas.microsoft.com/office/powerpoint/2010/main" val="132545679"/>
              </p:ext>
            </p:extLst>
          </p:nvPr>
        </p:nvGraphicFramePr>
        <p:xfrm>
          <a:off x="827087" y="2690020"/>
          <a:ext cx="2160587" cy="1533525"/>
        </p:xfrm>
        <a:graphic>
          <a:graphicData uri="http://schemas.openxmlformats.org/presentationml/2006/ole">
            <mc:AlternateContent xmlns:mc="http://schemas.openxmlformats.org/markup-compatibility/2006">
              <mc:Choice xmlns:v="urn:schemas-microsoft-com:vml" Requires="v">
                <p:oleObj name="Equation" r:id="rId2" imgW="1181100" imgH="838200" progId="Equation.DSMT4">
                  <p:embed/>
                </p:oleObj>
              </mc:Choice>
              <mc:Fallback>
                <p:oleObj name="Equation" r:id="rId2" imgW="1181100" imgH="838200" progId="Equation.DSMT4">
                  <p:embed/>
                  <p:pic>
                    <p:nvPicPr>
                      <p:cNvPr id="23557" name="Object 6">
                        <a:extLst>
                          <a:ext uri="{FF2B5EF4-FFF2-40B4-BE49-F238E27FC236}">
                            <a16:creationId xmlns:a16="http://schemas.microsoft.com/office/drawing/2014/main" id="{52D857D9-C6B4-A482-FD1C-323B49F559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7" y="2690020"/>
                        <a:ext cx="2160587"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8" name="Rectangle 7">
            <a:extLst>
              <a:ext uri="{FF2B5EF4-FFF2-40B4-BE49-F238E27FC236}">
                <a16:creationId xmlns:a16="http://schemas.microsoft.com/office/drawing/2014/main" id="{E6B829C3-7AD8-927A-055C-4025A4059B52}"/>
              </a:ext>
            </a:extLst>
          </p:cNvPr>
          <p:cNvSpPr>
            <a:spLocks noChangeArrowheads="1"/>
          </p:cNvSpPr>
          <p:nvPr/>
        </p:nvSpPr>
        <p:spPr bwMode="auto">
          <a:xfrm>
            <a:off x="495300" y="345678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3559" name="Object 8">
            <a:extLst>
              <a:ext uri="{FF2B5EF4-FFF2-40B4-BE49-F238E27FC236}">
                <a16:creationId xmlns:a16="http://schemas.microsoft.com/office/drawing/2014/main" id="{6DAB017F-549F-53EC-8CF0-899773DDFFB4}"/>
              </a:ext>
            </a:extLst>
          </p:cNvPr>
          <p:cNvGraphicFramePr>
            <a:graphicFrameLocks noChangeAspect="1"/>
          </p:cNvGraphicFramePr>
          <p:nvPr>
            <p:extLst>
              <p:ext uri="{D42A27DB-BD31-4B8C-83A1-F6EECF244321}">
                <p14:modId xmlns:p14="http://schemas.microsoft.com/office/powerpoint/2010/main" val="2899182423"/>
              </p:ext>
            </p:extLst>
          </p:nvPr>
        </p:nvGraphicFramePr>
        <p:xfrm>
          <a:off x="866775" y="4032648"/>
          <a:ext cx="3529012" cy="947738"/>
        </p:xfrm>
        <a:graphic>
          <a:graphicData uri="http://schemas.openxmlformats.org/presentationml/2006/ole">
            <mc:AlternateContent xmlns:mc="http://schemas.openxmlformats.org/markup-compatibility/2006">
              <mc:Choice xmlns:v="urn:schemas-microsoft-com:vml" Requires="v">
                <p:oleObj name="Equation" r:id="rId4" imgW="1562100" imgH="419100" progId="Equation.DSMT4">
                  <p:embed/>
                </p:oleObj>
              </mc:Choice>
              <mc:Fallback>
                <p:oleObj name="Equation" r:id="rId4" imgW="1562100" imgH="419100" progId="Equation.DSMT4">
                  <p:embed/>
                  <p:pic>
                    <p:nvPicPr>
                      <p:cNvPr id="23559" name="Object 8">
                        <a:extLst>
                          <a:ext uri="{FF2B5EF4-FFF2-40B4-BE49-F238E27FC236}">
                            <a16:creationId xmlns:a16="http://schemas.microsoft.com/office/drawing/2014/main" id="{6DAB017F-549F-53EC-8CF0-899773DDFF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775" y="4032648"/>
                        <a:ext cx="3529012"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0" name="Rectangle 9">
            <a:extLst>
              <a:ext uri="{FF2B5EF4-FFF2-40B4-BE49-F238E27FC236}">
                <a16:creationId xmlns:a16="http://schemas.microsoft.com/office/drawing/2014/main" id="{B5A9A8BF-2E5E-BC89-117A-0DAE866273C8}"/>
              </a:ext>
            </a:extLst>
          </p:cNvPr>
          <p:cNvSpPr>
            <a:spLocks noChangeArrowheads="1"/>
          </p:cNvSpPr>
          <p:nvPr/>
        </p:nvSpPr>
        <p:spPr bwMode="auto">
          <a:xfrm>
            <a:off x="0" y="2890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23561" name="Object 10">
            <a:extLst>
              <a:ext uri="{FF2B5EF4-FFF2-40B4-BE49-F238E27FC236}">
                <a16:creationId xmlns:a16="http://schemas.microsoft.com/office/drawing/2014/main" id="{926C2CDD-2783-60CF-3110-33B9282764C4}"/>
              </a:ext>
            </a:extLst>
          </p:cNvPr>
          <p:cNvGraphicFramePr>
            <a:graphicFrameLocks noChangeAspect="1"/>
          </p:cNvGraphicFramePr>
          <p:nvPr>
            <p:extLst>
              <p:ext uri="{D42A27DB-BD31-4B8C-83A1-F6EECF244321}">
                <p14:modId xmlns:p14="http://schemas.microsoft.com/office/powerpoint/2010/main" val="4137195"/>
              </p:ext>
            </p:extLst>
          </p:nvPr>
        </p:nvGraphicFramePr>
        <p:xfrm>
          <a:off x="866775" y="4837113"/>
          <a:ext cx="2449512" cy="2020887"/>
        </p:xfrm>
        <a:graphic>
          <a:graphicData uri="http://schemas.openxmlformats.org/presentationml/2006/ole">
            <mc:AlternateContent xmlns:mc="http://schemas.openxmlformats.org/markup-compatibility/2006">
              <mc:Choice xmlns:v="urn:schemas-microsoft-com:vml" Requires="v">
                <p:oleObj name="Equation" r:id="rId6" imgW="1308100" imgH="1079500" progId="Equation.DSMT4">
                  <p:embed/>
                </p:oleObj>
              </mc:Choice>
              <mc:Fallback>
                <p:oleObj name="Equation" r:id="rId6" imgW="1308100" imgH="1079500" progId="Equation.DSMT4">
                  <p:embed/>
                  <p:pic>
                    <p:nvPicPr>
                      <p:cNvPr id="23561" name="Object 10">
                        <a:extLst>
                          <a:ext uri="{FF2B5EF4-FFF2-40B4-BE49-F238E27FC236}">
                            <a16:creationId xmlns:a16="http://schemas.microsoft.com/office/drawing/2014/main" id="{926C2CDD-2783-60CF-3110-33B9282764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6775" y="4837113"/>
                        <a:ext cx="2449512"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8363" name="Group 11">
            <a:extLst>
              <a:ext uri="{FF2B5EF4-FFF2-40B4-BE49-F238E27FC236}">
                <a16:creationId xmlns:a16="http://schemas.microsoft.com/office/drawing/2014/main" id="{BBECF404-4B5A-D689-A7A9-10A2DE144E85}"/>
              </a:ext>
            </a:extLst>
          </p:cNvPr>
          <p:cNvGrpSpPr>
            <a:grpSpLocks/>
          </p:cNvGrpSpPr>
          <p:nvPr/>
        </p:nvGrpSpPr>
        <p:grpSpPr bwMode="auto">
          <a:xfrm>
            <a:off x="5056188" y="2781300"/>
            <a:ext cx="3116262" cy="2447925"/>
            <a:chOff x="3185" y="1752"/>
            <a:chExt cx="1963" cy="1542"/>
          </a:xfrm>
        </p:grpSpPr>
        <p:sp>
          <p:nvSpPr>
            <p:cNvPr id="23564" name="Text Box 12">
              <a:extLst>
                <a:ext uri="{FF2B5EF4-FFF2-40B4-BE49-F238E27FC236}">
                  <a16:creationId xmlns:a16="http://schemas.microsoft.com/office/drawing/2014/main" id="{FB38E292-D3AB-8BC0-3E16-24BFA422DA9C}"/>
                </a:ext>
              </a:extLst>
            </p:cNvPr>
            <p:cNvSpPr txBox="1">
              <a:spLocks noChangeArrowheads="1"/>
            </p:cNvSpPr>
            <p:nvPr/>
          </p:nvSpPr>
          <p:spPr bwMode="auto">
            <a:xfrm>
              <a:off x="3185" y="1752"/>
              <a:ext cx="1676"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sz="2400">
                  <a:ea typeface="黑体" panose="02010609060101010101" pitchFamily="49" charset="-122"/>
                </a:rPr>
                <a:t>忽略电阻电阻时</a:t>
              </a:r>
            </a:p>
          </p:txBody>
        </p:sp>
        <p:graphicFrame>
          <p:nvGraphicFramePr>
            <p:cNvPr id="23565" name="Object 13">
              <a:extLst>
                <a:ext uri="{FF2B5EF4-FFF2-40B4-BE49-F238E27FC236}">
                  <a16:creationId xmlns:a16="http://schemas.microsoft.com/office/drawing/2014/main" id="{667B8028-E503-D873-A4F2-3BED066E4805}"/>
                </a:ext>
              </a:extLst>
            </p:cNvPr>
            <p:cNvGraphicFramePr>
              <a:graphicFrameLocks noChangeAspect="1"/>
            </p:cNvGraphicFramePr>
            <p:nvPr/>
          </p:nvGraphicFramePr>
          <p:xfrm>
            <a:off x="3379" y="2115"/>
            <a:ext cx="1769" cy="1179"/>
          </p:xfrm>
          <a:graphic>
            <a:graphicData uri="http://schemas.openxmlformats.org/presentationml/2006/ole">
              <mc:AlternateContent xmlns:mc="http://schemas.openxmlformats.org/markup-compatibility/2006">
                <mc:Choice xmlns:v="urn:schemas-microsoft-com:vml" Requires="v">
                  <p:oleObj name="Equation" r:id="rId8" imgW="1257300" imgH="838200" progId="Equation.DSMT4">
                    <p:embed/>
                  </p:oleObj>
                </mc:Choice>
                <mc:Fallback>
                  <p:oleObj name="Equation" r:id="rId8" imgW="1257300" imgH="838200" progId="Equation.DSMT4">
                    <p:embed/>
                    <p:pic>
                      <p:nvPicPr>
                        <p:cNvPr id="23565" name="Object 13">
                          <a:extLst>
                            <a:ext uri="{FF2B5EF4-FFF2-40B4-BE49-F238E27FC236}">
                              <a16:creationId xmlns:a16="http://schemas.microsoft.com/office/drawing/2014/main" id="{667B8028-E503-D873-A4F2-3BED066E48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9" y="2115"/>
                          <a:ext cx="1769" cy="1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28366" name="Text Box 14">
            <a:extLst>
              <a:ext uri="{FF2B5EF4-FFF2-40B4-BE49-F238E27FC236}">
                <a16:creationId xmlns:a16="http://schemas.microsoft.com/office/drawing/2014/main" id="{878E349D-BB4F-5BE2-CF7D-5B882ACC7D25}"/>
              </a:ext>
            </a:extLst>
          </p:cNvPr>
          <p:cNvSpPr txBox="1">
            <a:spLocks noChangeArrowheads="1"/>
          </p:cNvSpPr>
          <p:nvPr/>
        </p:nvSpPr>
        <p:spPr bwMode="auto">
          <a:xfrm>
            <a:off x="4119563" y="5332413"/>
            <a:ext cx="419735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与不忽略电阻相比误差很小。因此一般同步电抗的近似计算可以忽略定子电阻</a:t>
            </a:r>
            <a:r>
              <a:rPr lang="zh-CN" altLang="en-US" sz="2400" b="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28363"/>
                                        </p:tgtEl>
                                        <p:attrNameLst>
                                          <p:attrName>style.visibility</p:attrName>
                                        </p:attrNameLst>
                                      </p:cBhvr>
                                      <p:to>
                                        <p:strVal val="visible"/>
                                      </p:to>
                                    </p:set>
                                    <p:anim calcmode="lin" valueType="num">
                                      <p:cBhvr>
                                        <p:cTn id="7" dur="500" fill="hold"/>
                                        <p:tgtEl>
                                          <p:spTgt spid="228363"/>
                                        </p:tgtEl>
                                        <p:attrNameLst>
                                          <p:attrName>ppt_w</p:attrName>
                                        </p:attrNameLst>
                                      </p:cBhvr>
                                      <p:tavLst>
                                        <p:tav tm="0">
                                          <p:val>
                                            <p:fltVal val="0"/>
                                          </p:val>
                                        </p:tav>
                                        <p:tav tm="100000">
                                          <p:val>
                                            <p:strVal val="#ppt_w"/>
                                          </p:val>
                                        </p:tav>
                                      </p:tavLst>
                                    </p:anim>
                                    <p:anim calcmode="lin" valueType="num">
                                      <p:cBhvr>
                                        <p:cTn id="8" dur="500" fill="hold"/>
                                        <p:tgtEl>
                                          <p:spTgt spid="22836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228366"/>
                                        </p:tgtEl>
                                        <p:attrNameLst>
                                          <p:attrName>style.visibility</p:attrName>
                                        </p:attrNameLst>
                                      </p:cBhvr>
                                      <p:to>
                                        <p:strVal val="visible"/>
                                      </p:to>
                                    </p:set>
                                    <p:anim calcmode="lin" valueType="num">
                                      <p:cBhvr>
                                        <p:cTn id="13" dur="500" fill="hold"/>
                                        <p:tgtEl>
                                          <p:spTgt spid="228366"/>
                                        </p:tgtEl>
                                        <p:attrNameLst>
                                          <p:attrName>ppt_w</p:attrName>
                                        </p:attrNameLst>
                                      </p:cBhvr>
                                      <p:tavLst>
                                        <p:tav tm="0">
                                          <p:val>
                                            <p:fltVal val="0"/>
                                          </p:val>
                                        </p:tav>
                                        <p:tav tm="100000">
                                          <p:val>
                                            <p:strVal val="#ppt_w"/>
                                          </p:val>
                                        </p:tav>
                                      </p:tavLst>
                                    </p:anim>
                                    <p:anim calcmode="lin" valueType="num">
                                      <p:cBhvr>
                                        <p:cTn id="14" dur="500" fill="hold"/>
                                        <p:tgtEl>
                                          <p:spTgt spid="2283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66"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5B3476E-9035-FADE-5571-1FD884455A5C}"/>
              </a:ext>
            </a:extLst>
          </p:cNvPr>
          <p:cNvSpPr>
            <a:spLocks noGrp="1"/>
          </p:cNvSpPr>
          <p:nvPr>
            <p:ph type="sldNum" sz="quarter" idx="12"/>
          </p:nvPr>
        </p:nvSpPr>
        <p:spPr/>
        <p:txBody>
          <a:bodyPr/>
          <a:lstStyle/>
          <a:p>
            <a:pPr>
              <a:defRPr/>
            </a:pPr>
            <a:fld id="{CEE7C2E3-C291-482F-A6F7-785687A8D608}" type="slidenum">
              <a:rPr lang="en-US" altLang="zh-CN"/>
              <a:pPr>
                <a:defRPr/>
              </a:pPr>
              <a:t>66</a:t>
            </a:fld>
            <a:endParaRPr lang="en-US" altLang="zh-CN"/>
          </a:p>
        </p:txBody>
      </p:sp>
      <p:sp>
        <p:nvSpPr>
          <p:cNvPr id="24579" name="Rectangle 2">
            <a:extLst>
              <a:ext uri="{FF2B5EF4-FFF2-40B4-BE49-F238E27FC236}">
                <a16:creationId xmlns:a16="http://schemas.microsoft.com/office/drawing/2014/main" id="{33B13D49-7CBF-8EAD-AB2A-E58AE10547C6}"/>
              </a:ext>
            </a:extLst>
          </p:cNvPr>
          <p:cNvSpPr>
            <a:spLocks noGrp="1" noChangeArrowheads="1"/>
          </p:cNvSpPr>
          <p:nvPr>
            <p:ph type="title"/>
          </p:nvPr>
        </p:nvSpPr>
        <p:spPr>
          <a:xfrm>
            <a:off x="685800" y="838200"/>
            <a:ext cx="7772400" cy="762000"/>
          </a:xfrm>
        </p:spPr>
        <p:txBody>
          <a:bodyPr/>
          <a:lstStyle/>
          <a:p>
            <a:pPr eaLnBrk="1" hangingPunct="1"/>
            <a:r>
              <a:rPr lang="zh-CN" altLang="en-US" sz="3200">
                <a:solidFill>
                  <a:srgbClr val="3333FF"/>
                </a:solidFill>
                <a:ea typeface="黑体" panose="02010609060101010101" pitchFamily="49" charset="-122"/>
              </a:rPr>
              <a:t>二、同步发电机的外特性</a:t>
            </a:r>
          </a:p>
        </p:txBody>
      </p:sp>
      <p:sp>
        <p:nvSpPr>
          <p:cNvPr id="24580" name="Rectangle 4">
            <a:extLst>
              <a:ext uri="{FF2B5EF4-FFF2-40B4-BE49-F238E27FC236}">
                <a16:creationId xmlns:a16="http://schemas.microsoft.com/office/drawing/2014/main" id="{FEA214BE-20B5-EB72-02C1-EB1A83886F6C}"/>
              </a:ext>
            </a:extLst>
          </p:cNvPr>
          <p:cNvSpPr>
            <a:spLocks noGrp="1" noChangeArrowheads="1"/>
          </p:cNvSpPr>
          <p:nvPr>
            <p:ph type="body" idx="1"/>
          </p:nvPr>
        </p:nvSpPr>
        <p:spPr>
          <a:xfrm>
            <a:off x="685800" y="1600200"/>
            <a:ext cx="1295400" cy="457200"/>
          </a:xfrm>
          <a:noFill/>
        </p:spPr>
        <p:txBody>
          <a:bodyPr/>
          <a:lstStyle/>
          <a:p>
            <a:pPr eaLnBrk="1" hangingPunct="1"/>
            <a:r>
              <a:rPr kumimoji="0" lang="zh-CN" altLang="en-US" sz="2400" b="1">
                <a:latin typeface="Arial" panose="020B0604020202020204" pitchFamily="34" charset="0"/>
                <a:ea typeface="楷体_GB2312" pitchFamily="49" charset="-122"/>
              </a:rPr>
              <a:t>定义</a:t>
            </a:r>
            <a:r>
              <a:rPr kumimoji="0" lang="zh-CN" altLang="en-US" sz="2400">
                <a:latin typeface="Arial" panose="020B0604020202020204" pitchFamily="34" charset="0"/>
              </a:rPr>
              <a:t>：</a:t>
            </a:r>
          </a:p>
        </p:txBody>
      </p:sp>
      <p:graphicFrame>
        <p:nvGraphicFramePr>
          <p:cNvPr id="229381" name="Object 5">
            <a:extLst>
              <a:ext uri="{FF2B5EF4-FFF2-40B4-BE49-F238E27FC236}">
                <a16:creationId xmlns:a16="http://schemas.microsoft.com/office/drawing/2014/main" id="{50E5FFC4-120A-29AA-77E5-36DCD70315B8}"/>
              </a:ext>
            </a:extLst>
          </p:cNvPr>
          <p:cNvGraphicFramePr>
            <a:graphicFrameLocks noChangeAspect="1"/>
          </p:cNvGraphicFramePr>
          <p:nvPr/>
        </p:nvGraphicFramePr>
        <p:xfrm>
          <a:off x="2632075" y="1600200"/>
          <a:ext cx="5143500" cy="495300"/>
        </p:xfrm>
        <a:graphic>
          <a:graphicData uri="http://schemas.openxmlformats.org/presentationml/2006/ole">
            <mc:AlternateContent xmlns:mc="http://schemas.openxmlformats.org/markup-compatibility/2006">
              <mc:Choice xmlns:v="urn:schemas-microsoft-com:vml" Requires="v">
                <p:oleObj name="Equation" r:id="rId2" imgW="2336800" imgH="241300" progId="Equation.DSMT4">
                  <p:embed/>
                </p:oleObj>
              </mc:Choice>
              <mc:Fallback>
                <p:oleObj name="Equation" r:id="rId2" imgW="2336800" imgH="241300" progId="Equation.DSMT4">
                  <p:embed/>
                  <p:pic>
                    <p:nvPicPr>
                      <p:cNvPr id="229381" name="Object 5">
                        <a:extLst>
                          <a:ext uri="{FF2B5EF4-FFF2-40B4-BE49-F238E27FC236}">
                            <a16:creationId xmlns:a16="http://schemas.microsoft.com/office/drawing/2014/main" id="{50E5FFC4-120A-29AA-77E5-36DCD70315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2075" y="1600200"/>
                        <a:ext cx="51435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9382" name="Picture 6">
            <a:extLst>
              <a:ext uri="{FF2B5EF4-FFF2-40B4-BE49-F238E27FC236}">
                <a16:creationId xmlns:a16="http://schemas.microsoft.com/office/drawing/2014/main" id="{94DFB12A-6192-B1EA-A573-536034B35C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2362200"/>
            <a:ext cx="3776663" cy="334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9383" name="Text Box 7">
            <a:extLst>
              <a:ext uri="{FF2B5EF4-FFF2-40B4-BE49-F238E27FC236}">
                <a16:creationId xmlns:a16="http://schemas.microsoft.com/office/drawing/2014/main" id="{95DA3263-32E9-2363-08E9-51BB5B90B038}"/>
              </a:ext>
            </a:extLst>
          </p:cNvPr>
          <p:cNvSpPr txBox="1">
            <a:spLocks noChangeArrowheads="1"/>
          </p:cNvSpPr>
          <p:nvPr/>
        </p:nvSpPr>
        <p:spPr bwMode="auto">
          <a:xfrm>
            <a:off x="3657600" y="2362200"/>
            <a:ext cx="52451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0">
                <a:latin typeface="Arial" panose="020B0604020202020204" pitchFamily="34" charset="0"/>
              </a:rPr>
              <a:t>       </a:t>
            </a:r>
            <a:r>
              <a:rPr kumimoji="0" lang="zh-CN" altLang="en-US" sz="2400">
                <a:latin typeface="Arial" panose="020B0604020202020204" pitchFamily="34" charset="0"/>
                <a:ea typeface="楷体_GB2312" pitchFamily="49" charset="-122"/>
              </a:rPr>
              <a:t>当发电机带</a:t>
            </a:r>
            <a:r>
              <a:rPr kumimoji="0" lang="zh-CN" altLang="en-US" sz="2400">
                <a:solidFill>
                  <a:srgbClr val="FF0000"/>
                </a:solidFill>
                <a:latin typeface="Arial" panose="020B0604020202020204" pitchFamily="34" charset="0"/>
                <a:ea typeface="楷体_GB2312" pitchFamily="49" charset="-122"/>
              </a:rPr>
              <a:t>阻性</a:t>
            </a:r>
            <a:r>
              <a:rPr kumimoji="0" lang="zh-CN" altLang="en-US" sz="2400">
                <a:solidFill>
                  <a:srgbClr val="3333FF"/>
                </a:solidFill>
                <a:latin typeface="Arial" panose="020B0604020202020204" pitchFamily="34" charset="0"/>
                <a:ea typeface="楷体_GB2312" pitchFamily="49" charset="-122"/>
              </a:rPr>
              <a:t>和</a:t>
            </a:r>
            <a:r>
              <a:rPr kumimoji="0" lang="zh-CN" altLang="en-US" sz="2400">
                <a:solidFill>
                  <a:srgbClr val="FF0000"/>
                </a:solidFill>
                <a:latin typeface="Arial" panose="020B0604020202020204" pitchFamily="34" charset="0"/>
                <a:ea typeface="楷体_GB2312" pitchFamily="49" charset="-122"/>
              </a:rPr>
              <a:t>感性负载</a:t>
            </a:r>
            <a:r>
              <a:rPr kumimoji="0" lang="zh-CN" altLang="en-US" sz="2400">
                <a:solidFill>
                  <a:srgbClr val="3333FF"/>
                </a:solidFill>
                <a:latin typeface="Arial" panose="020B0604020202020204" pitchFamily="34" charset="0"/>
                <a:ea typeface="楷体_GB2312" pitchFamily="49" charset="-122"/>
              </a:rPr>
              <a:t>时，</a:t>
            </a:r>
            <a:r>
              <a:rPr kumimoji="0" lang="zh-CN" altLang="en-US" sz="2400">
                <a:latin typeface="Arial" panose="020B0604020202020204" pitchFamily="34" charset="0"/>
                <a:ea typeface="楷体_GB2312" pitchFamily="49" charset="-122"/>
              </a:rPr>
              <a:t>外特性是下降的，原因是电枢反应的去磁作用和电枢漏阻抗产生了电压降</a:t>
            </a:r>
            <a:r>
              <a:rPr kumimoji="0" lang="en-US" altLang="zh-CN" sz="2400">
                <a:latin typeface="Arial" panose="020B0604020202020204" pitchFamily="34" charset="0"/>
                <a:ea typeface="楷体_GB2312" pitchFamily="49" charset="-122"/>
              </a:rPr>
              <a:t>.</a:t>
            </a:r>
          </a:p>
        </p:txBody>
      </p:sp>
      <p:sp>
        <p:nvSpPr>
          <p:cNvPr id="229384" name="Text Box 8">
            <a:extLst>
              <a:ext uri="{FF2B5EF4-FFF2-40B4-BE49-F238E27FC236}">
                <a16:creationId xmlns:a16="http://schemas.microsoft.com/office/drawing/2014/main" id="{DF3EDE26-DB64-2D10-07FE-93B43247B932}"/>
              </a:ext>
            </a:extLst>
          </p:cNvPr>
          <p:cNvSpPr txBox="1">
            <a:spLocks noChangeArrowheads="1"/>
          </p:cNvSpPr>
          <p:nvPr/>
        </p:nvSpPr>
        <p:spPr bwMode="auto">
          <a:xfrm>
            <a:off x="3848100" y="3987800"/>
            <a:ext cx="5130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a:latin typeface="Arial" panose="020B0604020202020204" pitchFamily="34" charset="0"/>
                <a:ea typeface="楷体_GB2312" pitchFamily="49" charset="-122"/>
              </a:rPr>
              <a:t>       </a:t>
            </a:r>
            <a:r>
              <a:rPr kumimoji="0" lang="zh-CN" altLang="en-US" sz="2400">
                <a:solidFill>
                  <a:srgbClr val="3333FF"/>
                </a:solidFill>
                <a:latin typeface="Arial" panose="020B0604020202020204" pitchFamily="34" charset="0"/>
                <a:ea typeface="楷体_GB2312" pitchFamily="49" charset="-122"/>
              </a:rPr>
              <a:t>带</a:t>
            </a:r>
            <a:r>
              <a:rPr kumimoji="0" lang="zh-CN" altLang="en-US" sz="2400">
                <a:solidFill>
                  <a:srgbClr val="FF0000"/>
                </a:solidFill>
                <a:latin typeface="Arial" panose="020B0604020202020204" pitchFamily="34" charset="0"/>
                <a:ea typeface="楷体_GB2312" pitchFamily="49" charset="-122"/>
              </a:rPr>
              <a:t>容性</a:t>
            </a:r>
            <a:r>
              <a:rPr kumimoji="0" lang="zh-CN" altLang="en-US" sz="2400">
                <a:latin typeface="Arial" panose="020B0604020202020204" pitchFamily="34" charset="0"/>
                <a:ea typeface="楷体_GB2312" pitchFamily="49" charset="-122"/>
              </a:rPr>
              <a:t>负载时且（发电机负载的容抗大于同步电抗）时，外特性是上升的，原因是电枢反应的助磁作用和容性电流在漏抗上的压降。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29381"/>
                                        </p:tgtEl>
                                        <p:attrNameLst>
                                          <p:attrName>style.visibility</p:attrName>
                                        </p:attrNameLst>
                                      </p:cBhvr>
                                      <p:to>
                                        <p:strVal val="visible"/>
                                      </p:to>
                                    </p:set>
                                    <p:animEffect transition="in" filter="strips(downLeft)">
                                      <p:cBhvr>
                                        <p:cTn id="7" dur="500"/>
                                        <p:tgtEl>
                                          <p:spTgt spid="2293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29382"/>
                                        </p:tgtEl>
                                        <p:attrNameLst>
                                          <p:attrName>style.visibility</p:attrName>
                                        </p:attrNameLst>
                                      </p:cBhvr>
                                      <p:to>
                                        <p:strVal val="visible"/>
                                      </p:to>
                                    </p:set>
                                    <p:animEffect transition="in" filter="strips(downRight)">
                                      <p:cBhvr>
                                        <p:cTn id="12" dur="500"/>
                                        <p:tgtEl>
                                          <p:spTgt spid="2293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29383"/>
                                        </p:tgtEl>
                                        <p:attrNameLst>
                                          <p:attrName>style.visibility</p:attrName>
                                        </p:attrNameLst>
                                      </p:cBhvr>
                                      <p:to>
                                        <p:strVal val="visible"/>
                                      </p:to>
                                    </p:set>
                                    <p:animEffect transition="in" filter="strips(downRight)">
                                      <p:cBhvr>
                                        <p:cTn id="17" dur="500"/>
                                        <p:tgtEl>
                                          <p:spTgt spid="2293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2" fill="hold" nodeType="clickEffect">
                                  <p:stCondLst>
                                    <p:cond delay="0"/>
                                  </p:stCondLst>
                                  <p:childTnLst>
                                    <p:set>
                                      <p:cBhvr>
                                        <p:cTn id="21" dur="1" fill="hold">
                                          <p:stCondLst>
                                            <p:cond delay="0"/>
                                          </p:stCondLst>
                                        </p:cTn>
                                        <p:tgtEl>
                                          <p:spTgt spid="229384"/>
                                        </p:tgtEl>
                                        <p:attrNameLst>
                                          <p:attrName>style.visibility</p:attrName>
                                        </p:attrNameLst>
                                      </p:cBhvr>
                                      <p:to>
                                        <p:strVal val="visible"/>
                                      </p:to>
                                    </p:set>
                                    <p:animEffect transition="in" filter="wheel(2)">
                                      <p:cBhvr>
                                        <p:cTn id="22"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3" grpId="0" autoUpdateAnimBg="0"/>
      <p:bldP spid="229384"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47DB1B0C-B5F6-9208-3EC9-1B36172356D7}"/>
              </a:ext>
            </a:extLst>
          </p:cNvPr>
          <p:cNvSpPr>
            <a:spLocks noGrp="1"/>
          </p:cNvSpPr>
          <p:nvPr>
            <p:ph type="sldNum" sz="quarter" idx="12"/>
          </p:nvPr>
        </p:nvSpPr>
        <p:spPr/>
        <p:txBody>
          <a:bodyPr/>
          <a:lstStyle/>
          <a:p>
            <a:pPr>
              <a:defRPr/>
            </a:pPr>
            <a:fld id="{DCEE8AF6-6E87-48EF-917F-8000A256877F}" type="slidenum">
              <a:rPr lang="en-US" altLang="zh-CN"/>
              <a:pPr>
                <a:defRPr/>
              </a:pPr>
              <a:t>67</a:t>
            </a:fld>
            <a:endParaRPr lang="en-US" altLang="zh-CN"/>
          </a:p>
        </p:txBody>
      </p:sp>
      <p:sp>
        <p:nvSpPr>
          <p:cNvPr id="25603" name="Rectangle 2">
            <a:extLst>
              <a:ext uri="{FF2B5EF4-FFF2-40B4-BE49-F238E27FC236}">
                <a16:creationId xmlns:a16="http://schemas.microsoft.com/office/drawing/2014/main" id="{7B2FEFB9-5322-D72F-9168-D6F7CD0EC9D6}"/>
              </a:ext>
            </a:extLst>
          </p:cNvPr>
          <p:cNvSpPr>
            <a:spLocks noGrp="1" noChangeArrowheads="1"/>
          </p:cNvSpPr>
          <p:nvPr>
            <p:ph type="title"/>
          </p:nvPr>
        </p:nvSpPr>
        <p:spPr>
          <a:xfrm>
            <a:off x="684213" y="882001"/>
            <a:ext cx="7772400" cy="533400"/>
          </a:xfrm>
        </p:spPr>
        <p:txBody>
          <a:bodyPr/>
          <a:lstStyle/>
          <a:p>
            <a:pPr eaLnBrk="1" hangingPunct="1"/>
            <a:r>
              <a:rPr lang="zh-CN" altLang="en-US" sz="3200" b="1" dirty="0">
                <a:ea typeface="楷体_GB2312" pitchFamily="49" charset="-122"/>
              </a:rPr>
              <a:t>三、同步发电机的负载类型</a:t>
            </a:r>
          </a:p>
        </p:txBody>
      </p:sp>
      <p:sp>
        <p:nvSpPr>
          <p:cNvPr id="25604" name="Rectangle 4">
            <a:extLst>
              <a:ext uri="{FF2B5EF4-FFF2-40B4-BE49-F238E27FC236}">
                <a16:creationId xmlns:a16="http://schemas.microsoft.com/office/drawing/2014/main" id="{986F18F4-FEEE-B980-2D18-9F06D86FA00F}"/>
              </a:ext>
            </a:extLst>
          </p:cNvPr>
          <p:cNvSpPr>
            <a:spLocks noGrp="1" noChangeArrowheads="1"/>
          </p:cNvSpPr>
          <p:nvPr>
            <p:ph type="body" idx="1"/>
          </p:nvPr>
        </p:nvSpPr>
        <p:spPr>
          <a:xfrm>
            <a:off x="684213" y="1412875"/>
            <a:ext cx="7772400" cy="4114800"/>
          </a:xfrm>
          <a:noFill/>
        </p:spPr>
        <p:txBody>
          <a:bodyPr/>
          <a:lstStyle/>
          <a:p>
            <a:pPr eaLnBrk="1" hangingPunct="1">
              <a:buFontTx/>
              <a:buNone/>
            </a:pPr>
            <a:r>
              <a:rPr lang="en-US" altLang="zh-CN" sz="2400" dirty="0"/>
              <a:t>            </a:t>
            </a:r>
            <a:r>
              <a:rPr lang="zh-CN" altLang="en-US" sz="2400" b="1" dirty="0">
                <a:ea typeface="黑体" panose="02010609060101010101" pitchFamily="49" charset="-122"/>
              </a:rPr>
              <a:t>同步发电机的特性与其负载类型有关。主要可分为两大类：</a:t>
            </a:r>
          </a:p>
          <a:p>
            <a:pPr eaLnBrk="1" hangingPunct="1">
              <a:buFontTx/>
              <a:buNone/>
            </a:pPr>
            <a:r>
              <a:rPr lang="en-US" altLang="zh-CN" sz="2400" b="1" dirty="0">
                <a:ea typeface="黑体" panose="02010609060101010101" pitchFamily="49" charset="-122"/>
              </a:rPr>
              <a:t>1</a:t>
            </a:r>
            <a:r>
              <a:rPr lang="zh-CN" altLang="en-US" sz="2400" b="1" dirty="0">
                <a:ea typeface="黑体" panose="02010609060101010101" pitchFamily="49" charset="-122"/>
              </a:rPr>
              <a:t>、单台发电机独立对负载供电；负载性质由阻性、感性、容性和它们的组合决定，特性已讨论。</a:t>
            </a:r>
          </a:p>
          <a:p>
            <a:pPr eaLnBrk="1" hangingPunct="1">
              <a:buFontTx/>
              <a:buNone/>
            </a:pPr>
            <a:r>
              <a:rPr lang="en-US" altLang="zh-CN" sz="2400" dirty="0"/>
              <a:t>2</a:t>
            </a:r>
            <a:r>
              <a:rPr lang="zh-CN" altLang="en-US" sz="2400" dirty="0"/>
              <a:t>、</a:t>
            </a:r>
            <a:r>
              <a:rPr lang="zh-CN" altLang="en-US" sz="2400" b="1" dirty="0">
                <a:ea typeface="黑体" panose="02010609060101010101" pitchFamily="49" charset="-122"/>
              </a:rPr>
              <a:t>发电机输出接入电网</a:t>
            </a:r>
            <a:r>
              <a:rPr lang="en-US" altLang="zh-CN" sz="2400" b="1" dirty="0">
                <a:ea typeface="黑体" panose="02010609060101010101" pitchFamily="49" charset="-122"/>
              </a:rPr>
              <a:t>——</a:t>
            </a:r>
            <a:r>
              <a:rPr lang="zh-CN" altLang="en-US" sz="2400" b="1" dirty="0">
                <a:solidFill>
                  <a:schemeClr val="accent2"/>
                </a:solidFill>
                <a:ea typeface="黑体" panose="02010609060101010101" pitchFamily="49" charset="-122"/>
              </a:rPr>
              <a:t>无穷大电网负载</a:t>
            </a:r>
            <a:r>
              <a:rPr lang="zh-CN" altLang="en-US" sz="2400" b="1" dirty="0">
                <a:ea typeface="黑体" panose="02010609060101010101" pitchFamily="49" charset="-122"/>
              </a:rPr>
              <a:t>。一旦发电机接入无穷大电网，它就成为电网成百上千台发电机之一，电网驱动成千上万的负载，这时不可能确定这台发电机负载的性质。但确定的是</a:t>
            </a:r>
            <a:r>
              <a:rPr lang="zh-CN" altLang="en-US" sz="2400" b="1" dirty="0">
                <a:solidFill>
                  <a:schemeClr val="accent2"/>
                </a:solidFill>
                <a:ea typeface="黑体" panose="02010609060101010101" pitchFamily="49" charset="-122"/>
              </a:rPr>
              <a:t>发电机端的电压和频率是恒定的，电流随负载属性发生变化</a:t>
            </a:r>
            <a:r>
              <a:rPr lang="zh-CN" altLang="en-US" sz="2400" b="1" dirty="0">
                <a:ea typeface="黑体" panose="02010609060101010101" pitchFamily="49" charset="-122"/>
              </a:rPr>
              <a:t>。对发电机可改变的参数只能有两个：励磁电流和机械转矩（由外部原动机如汽轮机等提供）。</a:t>
            </a:r>
          </a:p>
          <a:p>
            <a:pPr eaLnBrk="1" hangingPunct="1">
              <a:buFontTx/>
              <a:buNone/>
            </a:pP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A75C0644-491A-729D-E993-FC2BA47D7AD8}"/>
              </a:ext>
            </a:extLst>
          </p:cNvPr>
          <p:cNvSpPr>
            <a:spLocks noGrp="1"/>
          </p:cNvSpPr>
          <p:nvPr>
            <p:ph type="sldNum" sz="quarter" idx="12"/>
          </p:nvPr>
        </p:nvSpPr>
        <p:spPr/>
        <p:txBody>
          <a:bodyPr/>
          <a:lstStyle/>
          <a:p>
            <a:pPr>
              <a:defRPr/>
            </a:pPr>
            <a:fld id="{77D11987-C096-42F5-9A91-87A16CC8C587}" type="slidenum">
              <a:rPr lang="en-US" altLang="zh-CN"/>
              <a:pPr>
                <a:defRPr/>
              </a:pPr>
              <a:t>68</a:t>
            </a:fld>
            <a:endParaRPr lang="en-US" altLang="zh-CN"/>
          </a:p>
        </p:txBody>
      </p:sp>
      <p:sp>
        <p:nvSpPr>
          <p:cNvPr id="4099" name="Rectangle 2">
            <a:extLst>
              <a:ext uri="{FF2B5EF4-FFF2-40B4-BE49-F238E27FC236}">
                <a16:creationId xmlns:a16="http://schemas.microsoft.com/office/drawing/2014/main" id="{EEFEE7CD-5982-E648-EF91-2A97C2E565E9}"/>
              </a:ext>
            </a:extLst>
          </p:cNvPr>
          <p:cNvSpPr>
            <a:spLocks noGrp="1" noChangeArrowheads="1"/>
          </p:cNvSpPr>
          <p:nvPr>
            <p:ph type="title"/>
          </p:nvPr>
        </p:nvSpPr>
        <p:spPr>
          <a:xfrm>
            <a:off x="685800" y="798512"/>
            <a:ext cx="7772400" cy="533400"/>
          </a:xfrm>
        </p:spPr>
        <p:txBody>
          <a:bodyPr/>
          <a:lstStyle/>
          <a:p>
            <a:pPr eaLnBrk="1" hangingPunct="1"/>
            <a:r>
              <a:rPr lang="zh-CN" altLang="en-US" sz="3200" b="1" dirty="0">
                <a:ea typeface="楷体_GB2312" pitchFamily="49" charset="-122"/>
              </a:rPr>
              <a:t>四、无穷大电网下改变励磁的影响</a:t>
            </a:r>
          </a:p>
        </p:txBody>
      </p:sp>
      <p:sp>
        <p:nvSpPr>
          <p:cNvPr id="4100" name="Rectangle 4">
            <a:extLst>
              <a:ext uri="{FF2B5EF4-FFF2-40B4-BE49-F238E27FC236}">
                <a16:creationId xmlns:a16="http://schemas.microsoft.com/office/drawing/2014/main" id="{5092DD7B-23EE-8F9F-CD0A-536AC5C295B3}"/>
              </a:ext>
            </a:extLst>
          </p:cNvPr>
          <p:cNvSpPr>
            <a:spLocks noGrp="1" noChangeArrowheads="1"/>
          </p:cNvSpPr>
          <p:nvPr>
            <p:ph type="body" sz="half" idx="1"/>
          </p:nvPr>
        </p:nvSpPr>
        <p:spPr>
          <a:xfrm>
            <a:off x="228600" y="1422399"/>
            <a:ext cx="8534400" cy="914400"/>
          </a:xfrm>
          <a:noFill/>
        </p:spPr>
        <p:txBody>
          <a:bodyPr/>
          <a:lstStyle/>
          <a:p>
            <a:pPr eaLnBrk="1" hangingPunct="1">
              <a:buFont typeface="Wingdings" panose="05000000000000000000" pitchFamily="2" charset="2"/>
              <a:buChar char="Ø"/>
            </a:pPr>
            <a:r>
              <a:rPr lang="en-US" altLang="zh-CN" sz="2000" dirty="0"/>
              <a:t>     </a:t>
            </a:r>
            <a:r>
              <a:rPr lang="zh-CN" altLang="en-US" sz="2400" b="1" dirty="0">
                <a:latin typeface="楷体_GB2312" pitchFamily="49" charset="-122"/>
                <a:ea typeface="楷体_GB2312" pitchFamily="49" charset="-122"/>
              </a:rPr>
              <a:t>假定一同步发电机接入无穷大电网时，电势等于电压并同相。这时负载电流为</a:t>
            </a:r>
            <a:r>
              <a:rPr lang="en-US" altLang="zh-CN" sz="2400" b="1"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，发电机不消耗功率，称为浮在线上。</a:t>
            </a:r>
          </a:p>
        </p:txBody>
      </p:sp>
      <p:sp>
        <p:nvSpPr>
          <p:cNvPr id="4101" name="Rectangle 5">
            <a:extLst>
              <a:ext uri="{FF2B5EF4-FFF2-40B4-BE49-F238E27FC236}">
                <a16:creationId xmlns:a16="http://schemas.microsoft.com/office/drawing/2014/main" id="{1F574936-43EB-A221-C322-E3F9C74A6F44}"/>
              </a:ext>
            </a:extLst>
          </p:cNvPr>
          <p:cNvSpPr>
            <a:spLocks noChangeArrowheads="1"/>
          </p:cNvSpPr>
          <p:nvPr/>
        </p:nvSpPr>
        <p:spPr bwMode="auto">
          <a:xfrm>
            <a:off x="-22225" y="3638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231430" name="Text Box 6">
            <a:extLst>
              <a:ext uri="{FF2B5EF4-FFF2-40B4-BE49-F238E27FC236}">
                <a16:creationId xmlns:a16="http://schemas.microsoft.com/office/drawing/2014/main" id="{844801B3-B96C-7DC0-448D-08A5AAD5F599}"/>
              </a:ext>
            </a:extLst>
          </p:cNvPr>
          <p:cNvSpPr txBox="1">
            <a:spLocks noChangeArrowheads="1"/>
          </p:cNvSpPr>
          <p:nvPr/>
        </p:nvSpPr>
        <p:spPr bwMode="auto">
          <a:xfrm>
            <a:off x="228600" y="5451475"/>
            <a:ext cx="8301038"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由于同步电抗是感性的，电流滞后电压</a:t>
            </a:r>
            <a:r>
              <a:rPr kumimoji="0" lang="en-US" altLang="zh-CN" sz="2400">
                <a:latin typeface="楷体_GB2312" pitchFamily="49" charset="-122"/>
                <a:ea typeface="楷体_GB2312" pitchFamily="49" charset="-122"/>
              </a:rPr>
              <a:t>90</a:t>
            </a:r>
            <a:r>
              <a:rPr kumimoji="0" lang="zh-CN" altLang="en-US" sz="2400">
                <a:latin typeface="楷体_GB2312" pitchFamily="49" charset="-122"/>
                <a:ea typeface="楷体_GB2312" pitchFamily="49" charset="-122"/>
              </a:rPr>
              <a:t>度。无穷大电网看起来象是发电机的一个纯电感负载，发电机将对其输出感性（滞后）的无功功率</a:t>
            </a:r>
            <a:r>
              <a:rPr kumimoji="0" lang="en-US" altLang="zh-CN" sz="2400">
                <a:latin typeface="楷体_GB2312" pitchFamily="49" charset="-122"/>
                <a:ea typeface="楷体_GB2312" pitchFamily="49" charset="-122"/>
              </a:rPr>
              <a:t>Q=3U</a:t>
            </a:r>
            <a:r>
              <a:rPr kumimoji="0" lang="en-US" altLang="zh-CN" sz="2400" baseline="-25000">
                <a:latin typeface="楷体_GB2312" pitchFamily="49" charset="-122"/>
                <a:ea typeface="楷体_GB2312" pitchFamily="49" charset="-122"/>
              </a:rPr>
              <a:t>s</a:t>
            </a:r>
            <a:r>
              <a:rPr kumimoji="0" lang="en-US" altLang="zh-CN" sz="2400">
                <a:latin typeface="楷体_GB2312" pitchFamily="49" charset="-122"/>
                <a:ea typeface="楷体_GB2312" pitchFamily="49" charset="-122"/>
              </a:rPr>
              <a:t>I</a:t>
            </a:r>
            <a:r>
              <a:rPr kumimoji="0" lang="en-US" altLang="zh-CN" sz="2400" baseline="-25000">
                <a:latin typeface="楷体_GB2312" pitchFamily="49" charset="-122"/>
                <a:ea typeface="楷体_GB2312" pitchFamily="49" charset="-122"/>
              </a:rPr>
              <a:t>a</a:t>
            </a:r>
            <a:r>
              <a:rPr kumimoji="0" lang="en-US" altLang="zh-CN" sz="2400">
                <a:latin typeface="楷体_GB2312" pitchFamily="49" charset="-122"/>
                <a:ea typeface="楷体_GB2312" pitchFamily="49" charset="-122"/>
              </a:rPr>
              <a:t>sin90</a:t>
            </a:r>
            <a:r>
              <a:rPr kumimoji="0" lang="en-US" altLang="zh-CN" sz="2400" baseline="30000">
                <a:latin typeface="楷体_GB2312" pitchFamily="49" charset="-122"/>
                <a:ea typeface="楷体_GB2312" pitchFamily="49" charset="-122"/>
              </a:rPr>
              <a:t>0</a:t>
            </a:r>
            <a:r>
              <a:rPr kumimoji="0" lang="en-US" altLang="zh-CN" sz="2400">
                <a:latin typeface="楷体_GB2312" pitchFamily="49" charset="-122"/>
                <a:ea typeface="楷体_GB2312" pitchFamily="49" charset="-122"/>
              </a:rPr>
              <a:t>&gt;0</a:t>
            </a:r>
            <a:r>
              <a:rPr kumimoji="0" lang="zh-CN" altLang="en-US" sz="2400">
                <a:latin typeface="楷体_GB2312" pitchFamily="49" charset="-122"/>
                <a:ea typeface="楷体_GB2312" pitchFamily="49" charset="-122"/>
              </a:rPr>
              <a:t>。即它的投入可提高电网带感性负载能力。</a:t>
            </a:r>
          </a:p>
        </p:txBody>
      </p:sp>
      <p:graphicFrame>
        <p:nvGraphicFramePr>
          <p:cNvPr id="4103" name="Object 7">
            <a:extLst>
              <a:ext uri="{FF2B5EF4-FFF2-40B4-BE49-F238E27FC236}">
                <a16:creationId xmlns:a16="http://schemas.microsoft.com/office/drawing/2014/main" id="{3F9474FC-0F5E-AF32-0686-24926213AD29}"/>
              </a:ext>
            </a:extLst>
          </p:cNvPr>
          <p:cNvGraphicFramePr>
            <a:graphicFrameLocks noChangeAspect="1"/>
          </p:cNvGraphicFramePr>
          <p:nvPr>
            <p:extLst>
              <p:ext uri="{D42A27DB-BD31-4B8C-83A1-F6EECF244321}">
                <p14:modId xmlns:p14="http://schemas.microsoft.com/office/powerpoint/2010/main" val="2461750856"/>
              </p:ext>
            </p:extLst>
          </p:nvPr>
        </p:nvGraphicFramePr>
        <p:xfrm>
          <a:off x="3109913" y="2427287"/>
          <a:ext cx="4824412" cy="866775"/>
        </p:xfrm>
        <a:graphic>
          <a:graphicData uri="http://schemas.openxmlformats.org/presentationml/2006/ole">
            <mc:AlternateContent xmlns:mc="http://schemas.openxmlformats.org/markup-compatibility/2006">
              <mc:Choice xmlns:v="urn:schemas-microsoft-com:vml" Requires="v">
                <p:oleObj name="Microsoft Drawing" r:id="rId2" imgW="2968625" imgH="534988" progId="MSDraw">
                  <p:embed/>
                </p:oleObj>
              </mc:Choice>
              <mc:Fallback>
                <p:oleObj name="Microsoft Drawing" r:id="rId2" imgW="2968625" imgH="534988" progId="MSDraw">
                  <p:embed/>
                  <p:pic>
                    <p:nvPicPr>
                      <p:cNvPr id="4103" name="Object 7">
                        <a:extLst>
                          <a:ext uri="{FF2B5EF4-FFF2-40B4-BE49-F238E27FC236}">
                            <a16:creationId xmlns:a16="http://schemas.microsoft.com/office/drawing/2014/main" id="{3F9474FC-0F5E-AF32-0686-24926213A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9913" y="2427287"/>
                        <a:ext cx="4824412"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1432" name="Group 8">
            <a:extLst>
              <a:ext uri="{FF2B5EF4-FFF2-40B4-BE49-F238E27FC236}">
                <a16:creationId xmlns:a16="http://schemas.microsoft.com/office/drawing/2014/main" id="{EDE210B1-6C6F-1986-E6B8-2BB4AB20CFDB}"/>
              </a:ext>
            </a:extLst>
          </p:cNvPr>
          <p:cNvGrpSpPr>
            <a:grpSpLocks/>
          </p:cNvGrpSpPr>
          <p:nvPr/>
        </p:nvGrpSpPr>
        <p:grpSpPr bwMode="auto">
          <a:xfrm>
            <a:off x="733425" y="3219450"/>
            <a:ext cx="7670800" cy="2141537"/>
            <a:chOff x="476" y="1797"/>
            <a:chExt cx="4832" cy="1349"/>
          </a:xfrm>
        </p:grpSpPr>
        <p:sp>
          <p:nvSpPr>
            <p:cNvPr id="4105" name="Text Box 9">
              <a:extLst>
                <a:ext uri="{FF2B5EF4-FFF2-40B4-BE49-F238E27FC236}">
                  <a16:creationId xmlns:a16="http://schemas.microsoft.com/office/drawing/2014/main" id="{5A32F4CD-36C7-B8B1-0348-8C3A36E2FF2C}"/>
                </a:ext>
              </a:extLst>
            </p:cNvPr>
            <p:cNvSpPr txBox="1">
              <a:spLocks noChangeArrowheads="1"/>
            </p:cNvSpPr>
            <p:nvPr/>
          </p:nvSpPr>
          <p:spPr bwMode="auto">
            <a:xfrm>
              <a:off x="476" y="1797"/>
              <a:ext cx="483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kumimoji="0" lang="zh-CN" altLang="en-US" sz="2800">
                  <a:latin typeface="楷体_GB2312" pitchFamily="49" charset="-122"/>
                  <a:ea typeface="楷体_GB2312" pitchFamily="49" charset="-122"/>
                </a:rPr>
                <a:t>增加励磁电流，电势将增加，忽略定子电阻时</a:t>
              </a:r>
            </a:p>
          </p:txBody>
        </p:sp>
        <p:graphicFrame>
          <p:nvGraphicFramePr>
            <p:cNvPr id="4106" name="Object 10">
              <a:extLst>
                <a:ext uri="{FF2B5EF4-FFF2-40B4-BE49-F238E27FC236}">
                  <a16:creationId xmlns:a16="http://schemas.microsoft.com/office/drawing/2014/main" id="{25E3CA4E-DD66-4C27-6377-E897F2ED3E09}"/>
                </a:ext>
              </a:extLst>
            </p:cNvPr>
            <p:cNvGraphicFramePr>
              <a:graphicFrameLocks noChangeAspect="1"/>
            </p:cNvGraphicFramePr>
            <p:nvPr/>
          </p:nvGraphicFramePr>
          <p:xfrm>
            <a:off x="657" y="2024"/>
            <a:ext cx="3584" cy="421"/>
          </p:xfrm>
          <a:graphic>
            <a:graphicData uri="http://schemas.openxmlformats.org/presentationml/2006/ole">
              <mc:AlternateContent xmlns:mc="http://schemas.openxmlformats.org/markup-compatibility/2006">
                <mc:Choice xmlns:v="urn:schemas-microsoft-com:vml" Requires="v">
                  <p:oleObj name="Equation" r:id="rId4" imgW="2679700" imgH="317500" progId="Equation.DSMT4">
                    <p:embed/>
                  </p:oleObj>
                </mc:Choice>
                <mc:Fallback>
                  <p:oleObj name="Equation" r:id="rId4" imgW="2679700" imgH="317500" progId="Equation.DSMT4">
                    <p:embed/>
                    <p:pic>
                      <p:nvPicPr>
                        <p:cNvPr id="4106" name="Object 10">
                          <a:extLst>
                            <a:ext uri="{FF2B5EF4-FFF2-40B4-BE49-F238E27FC236}">
                              <a16:creationId xmlns:a16="http://schemas.microsoft.com/office/drawing/2014/main" id="{25E3CA4E-DD66-4C27-6377-E897F2ED3E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2024"/>
                          <a:ext cx="3584"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7" name="Object 11">
              <a:extLst>
                <a:ext uri="{FF2B5EF4-FFF2-40B4-BE49-F238E27FC236}">
                  <a16:creationId xmlns:a16="http://schemas.microsoft.com/office/drawing/2014/main" id="{735F9EE6-AF75-9C8D-9199-C5AAF097D5A0}"/>
                </a:ext>
              </a:extLst>
            </p:cNvPr>
            <p:cNvGraphicFramePr>
              <a:graphicFrameLocks noChangeAspect="1"/>
            </p:cNvGraphicFramePr>
            <p:nvPr/>
          </p:nvGraphicFramePr>
          <p:xfrm>
            <a:off x="1746" y="2296"/>
            <a:ext cx="3357" cy="850"/>
          </p:xfrm>
          <a:graphic>
            <a:graphicData uri="http://schemas.openxmlformats.org/presentationml/2006/ole">
              <mc:AlternateContent xmlns:mc="http://schemas.openxmlformats.org/markup-compatibility/2006">
                <mc:Choice xmlns:v="urn:schemas-microsoft-com:vml" Requires="v">
                  <p:oleObj name="Microsoft Drawing" r:id="rId6" imgW="3608388" imgH="915988" progId="MSDraw">
                    <p:embed/>
                  </p:oleObj>
                </mc:Choice>
                <mc:Fallback>
                  <p:oleObj name="Microsoft Drawing" r:id="rId6" imgW="3608388" imgH="915988" progId="MSDraw">
                    <p:embed/>
                    <p:pic>
                      <p:nvPicPr>
                        <p:cNvPr id="4107" name="Object 11">
                          <a:extLst>
                            <a:ext uri="{FF2B5EF4-FFF2-40B4-BE49-F238E27FC236}">
                              <a16:creationId xmlns:a16="http://schemas.microsoft.com/office/drawing/2014/main" id="{735F9EE6-AF75-9C8D-9199-C5AAF097D5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6" y="2296"/>
                          <a:ext cx="3357"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1432"/>
                                        </p:tgtEl>
                                        <p:attrNameLst>
                                          <p:attrName>style.visibility</p:attrName>
                                        </p:attrNameLst>
                                      </p:cBhvr>
                                      <p:to>
                                        <p:strVal val="visible"/>
                                      </p:to>
                                    </p:set>
                                    <p:animEffect transition="in" filter="blinds(horizontal)">
                                      <p:cBhvr>
                                        <p:cTn id="7" dur="500"/>
                                        <p:tgtEl>
                                          <p:spTgt spid="231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1430"/>
                                        </p:tgtEl>
                                        <p:attrNameLst>
                                          <p:attrName>style.visibility</p:attrName>
                                        </p:attrNameLst>
                                      </p:cBhvr>
                                      <p:to>
                                        <p:strVal val="visible"/>
                                      </p:to>
                                    </p:set>
                                    <p:animEffect transition="in" filter="blinds(horizontal)">
                                      <p:cBhvr>
                                        <p:cTn id="12" dur="500"/>
                                        <p:tgtEl>
                                          <p:spTgt spid="231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EA121B19-D6B4-C80B-78ED-077C50614E1D}"/>
              </a:ext>
            </a:extLst>
          </p:cNvPr>
          <p:cNvSpPr>
            <a:spLocks noGrp="1"/>
          </p:cNvSpPr>
          <p:nvPr>
            <p:ph type="sldNum" sz="quarter" idx="12"/>
          </p:nvPr>
        </p:nvSpPr>
        <p:spPr/>
        <p:txBody>
          <a:bodyPr/>
          <a:lstStyle/>
          <a:p>
            <a:pPr>
              <a:defRPr/>
            </a:pPr>
            <a:fld id="{29CD97B0-B39D-49F1-B37F-0C9AB95A4B04}" type="slidenum">
              <a:rPr lang="en-US" altLang="zh-CN"/>
              <a:pPr>
                <a:defRPr/>
              </a:pPr>
              <a:t>69</a:t>
            </a:fld>
            <a:endParaRPr lang="en-US" altLang="zh-CN"/>
          </a:p>
        </p:txBody>
      </p:sp>
      <p:sp>
        <p:nvSpPr>
          <p:cNvPr id="5123" name="Rectangle 2">
            <a:extLst>
              <a:ext uri="{FF2B5EF4-FFF2-40B4-BE49-F238E27FC236}">
                <a16:creationId xmlns:a16="http://schemas.microsoft.com/office/drawing/2014/main" id="{587F2E71-0EDF-0B28-4BF7-69B0E2509EDE}"/>
              </a:ext>
            </a:extLst>
          </p:cNvPr>
          <p:cNvSpPr>
            <a:spLocks noGrp="1" noChangeArrowheads="1"/>
          </p:cNvSpPr>
          <p:nvPr>
            <p:ph type="title"/>
          </p:nvPr>
        </p:nvSpPr>
        <p:spPr>
          <a:xfrm>
            <a:off x="685031" y="901228"/>
            <a:ext cx="7772400" cy="838200"/>
          </a:xfrm>
        </p:spPr>
        <p:txBody>
          <a:bodyPr/>
          <a:lstStyle/>
          <a:p>
            <a:pPr eaLnBrk="1" hangingPunct="1"/>
            <a:r>
              <a:rPr lang="zh-CN" altLang="en-US" sz="3200" b="1">
                <a:ea typeface="华文中宋" panose="02010600040101010101" pitchFamily="2" charset="-122"/>
              </a:rPr>
              <a:t>无穷大电网下改变励磁的影响</a:t>
            </a:r>
          </a:p>
        </p:txBody>
      </p:sp>
      <p:sp>
        <p:nvSpPr>
          <p:cNvPr id="5124" name="Rectangle 4">
            <a:extLst>
              <a:ext uri="{FF2B5EF4-FFF2-40B4-BE49-F238E27FC236}">
                <a16:creationId xmlns:a16="http://schemas.microsoft.com/office/drawing/2014/main" id="{D8D491F7-B9F5-DC65-4608-5F37AE9EBD2B}"/>
              </a:ext>
            </a:extLst>
          </p:cNvPr>
          <p:cNvSpPr>
            <a:spLocks noGrp="1" noChangeArrowheads="1"/>
          </p:cNvSpPr>
          <p:nvPr>
            <p:ph type="body" sz="half" idx="1"/>
          </p:nvPr>
        </p:nvSpPr>
        <p:spPr>
          <a:xfrm>
            <a:off x="685031" y="1788641"/>
            <a:ext cx="8278813" cy="1081087"/>
          </a:xfrm>
          <a:noFill/>
        </p:spPr>
        <p:txBody>
          <a:bodyPr/>
          <a:lstStyle/>
          <a:p>
            <a:pPr eaLnBrk="1" hangingPunct="1">
              <a:buFont typeface="Wingdings" panose="05000000000000000000" pitchFamily="2" charset="2"/>
              <a:buChar char="Ø"/>
            </a:pPr>
            <a:r>
              <a:rPr kumimoji="0" lang="zh-CN" altLang="en-US" sz="2400" b="1">
                <a:latin typeface="楷体_GB2312" pitchFamily="49" charset="-122"/>
                <a:ea typeface="楷体_GB2312" pitchFamily="49" charset="-122"/>
              </a:rPr>
              <a:t>减小励磁，电势降低，</a:t>
            </a:r>
          </a:p>
          <a:p>
            <a:pPr eaLnBrk="1" hangingPunct="1">
              <a:buFontTx/>
              <a:buNone/>
            </a:pPr>
            <a:r>
              <a:rPr kumimoji="0" lang="zh-CN" altLang="en-US" sz="2400" b="1">
                <a:latin typeface="楷体_GB2312" pitchFamily="49" charset="-122"/>
                <a:ea typeface="楷体_GB2312" pitchFamily="49" charset="-122"/>
              </a:rPr>
              <a:t>  相量</a:t>
            </a:r>
            <a:r>
              <a:rPr kumimoji="0" lang="en-US" altLang="zh-CN" sz="2400" b="1" i="1">
                <a:latin typeface="楷体_GB2312" pitchFamily="49" charset="-122"/>
                <a:ea typeface="楷体_GB2312" pitchFamily="49" charset="-122"/>
              </a:rPr>
              <a:t>E</a:t>
            </a:r>
            <a:r>
              <a:rPr kumimoji="0" lang="en-US" altLang="zh-CN" sz="2400" b="1" baseline="-25000">
                <a:latin typeface="楷体_GB2312" pitchFamily="49" charset="-122"/>
                <a:ea typeface="楷体_GB2312" pitchFamily="49" charset="-122"/>
              </a:rPr>
              <a:t>x</a:t>
            </a:r>
            <a:r>
              <a:rPr kumimoji="0" lang="zh-CN" altLang="en-US" sz="2400" b="1">
                <a:latin typeface="楷体_GB2312" pitchFamily="49" charset="-122"/>
                <a:ea typeface="楷体_GB2312" pitchFamily="49" charset="-122"/>
              </a:rPr>
              <a:t>变负指向左，电流滞后其</a:t>
            </a:r>
            <a:r>
              <a:rPr kumimoji="0" lang="en-US" altLang="zh-CN" sz="2400" b="1">
                <a:latin typeface="楷体_GB2312" pitchFamily="49" charset="-122"/>
                <a:ea typeface="楷体_GB2312" pitchFamily="49" charset="-122"/>
              </a:rPr>
              <a:t>90</a:t>
            </a:r>
            <a:r>
              <a:rPr kumimoji="0" lang="zh-CN" altLang="en-US" sz="2400" b="1">
                <a:latin typeface="楷体_GB2312" pitchFamily="49" charset="-122"/>
                <a:ea typeface="楷体_GB2312" pitchFamily="49" charset="-122"/>
              </a:rPr>
              <a:t>度，即超前电压</a:t>
            </a:r>
            <a:r>
              <a:rPr kumimoji="0" lang="en-US" altLang="zh-CN" sz="2400" b="1">
                <a:latin typeface="楷体_GB2312" pitchFamily="49" charset="-122"/>
                <a:ea typeface="楷体_GB2312" pitchFamily="49" charset="-122"/>
              </a:rPr>
              <a:t>90</a:t>
            </a:r>
            <a:r>
              <a:rPr kumimoji="0" lang="zh-CN" altLang="en-US" sz="2400" b="1">
                <a:latin typeface="楷体_GB2312" pitchFamily="49" charset="-122"/>
                <a:ea typeface="楷体_GB2312" pitchFamily="49" charset="-122"/>
              </a:rPr>
              <a:t>度。</a:t>
            </a:r>
          </a:p>
        </p:txBody>
      </p:sp>
      <p:graphicFrame>
        <p:nvGraphicFramePr>
          <p:cNvPr id="5125" name="Object 5">
            <a:extLst>
              <a:ext uri="{FF2B5EF4-FFF2-40B4-BE49-F238E27FC236}">
                <a16:creationId xmlns:a16="http://schemas.microsoft.com/office/drawing/2014/main" id="{96765865-0869-954E-8600-97BC2F0420F8}"/>
              </a:ext>
            </a:extLst>
          </p:cNvPr>
          <p:cNvGraphicFramePr>
            <a:graphicFrameLocks noChangeAspect="1"/>
          </p:cNvGraphicFramePr>
          <p:nvPr>
            <p:extLst>
              <p:ext uri="{D42A27DB-BD31-4B8C-83A1-F6EECF244321}">
                <p14:modId xmlns:p14="http://schemas.microsoft.com/office/powerpoint/2010/main" val="1227103016"/>
              </p:ext>
            </p:extLst>
          </p:nvPr>
        </p:nvGraphicFramePr>
        <p:xfrm>
          <a:off x="4139431" y="1572741"/>
          <a:ext cx="1943100" cy="747712"/>
        </p:xfrm>
        <a:graphic>
          <a:graphicData uri="http://schemas.openxmlformats.org/presentationml/2006/ole">
            <mc:AlternateContent xmlns:mc="http://schemas.openxmlformats.org/markup-compatibility/2006">
              <mc:Choice xmlns:v="urn:schemas-microsoft-com:vml" Requires="v">
                <p:oleObj name="Equation" r:id="rId2" imgW="825142" imgH="317362" progId="Equation.DSMT4">
                  <p:embed/>
                </p:oleObj>
              </mc:Choice>
              <mc:Fallback>
                <p:oleObj name="Equation" r:id="rId2" imgW="825142" imgH="317362" progId="Equation.DSMT4">
                  <p:embed/>
                  <p:pic>
                    <p:nvPicPr>
                      <p:cNvPr id="5125" name="Object 5">
                        <a:extLst>
                          <a:ext uri="{FF2B5EF4-FFF2-40B4-BE49-F238E27FC236}">
                            <a16:creationId xmlns:a16="http://schemas.microsoft.com/office/drawing/2014/main" id="{96765865-0869-954E-8600-97BC2F042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431" y="1572741"/>
                        <a:ext cx="19431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6" name="Rectangle 6">
            <a:extLst>
              <a:ext uri="{FF2B5EF4-FFF2-40B4-BE49-F238E27FC236}">
                <a16:creationId xmlns:a16="http://schemas.microsoft.com/office/drawing/2014/main" id="{2007D8BF-0120-D700-3E6D-389EF41284E4}"/>
              </a:ext>
            </a:extLst>
          </p:cNvPr>
          <p:cNvSpPr>
            <a:spLocks noChangeArrowheads="1"/>
          </p:cNvSpPr>
          <p:nvPr/>
        </p:nvSpPr>
        <p:spPr bwMode="auto">
          <a:xfrm>
            <a:off x="-769" y="35491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5127" name="Object 7">
            <a:extLst>
              <a:ext uri="{FF2B5EF4-FFF2-40B4-BE49-F238E27FC236}">
                <a16:creationId xmlns:a16="http://schemas.microsoft.com/office/drawing/2014/main" id="{3B6E4B4C-1928-6A27-207F-71C089909C1A}"/>
              </a:ext>
            </a:extLst>
          </p:cNvPr>
          <p:cNvGraphicFramePr>
            <a:graphicFrameLocks noChangeAspect="1"/>
          </p:cNvGraphicFramePr>
          <p:nvPr>
            <p:extLst>
              <p:ext uri="{D42A27DB-BD31-4B8C-83A1-F6EECF244321}">
                <p14:modId xmlns:p14="http://schemas.microsoft.com/office/powerpoint/2010/main" val="778082270"/>
              </p:ext>
            </p:extLst>
          </p:nvPr>
        </p:nvGraphicFramePr>
        <p:xfrm>
          <a:off x="1762944" y="2653828"/>
          <a:ext cx="5183187" cy="1179513"/>
        </p:xfrm>
        <a:graphic>
          <a:graphicData uri="http://schemas.openxmlformats.org/presentationml/2006/ole">
            <mc:AlternateContent xmlns:mc="http://schemas.openxmlformats.org/markup-compatibility/2006">
              <mc:Choice xmlns:v="urn:schemas-microsoft-com:vml" Requires="v">
                <p:oleObj name="Microsoft Drawing" r:id="rId4" imgW="3516313" imgH="803275" progId="MSDraw">
                  <p:embed/>
                </p:oleObj>
              </mc:Choice>
              <mc:Fallback>
                <p:oleObj name="Microsoft Drawing" r:id="rId4" imgW="3516313" imgH="803275" progId="MSDraw">
                  <p:embed/>
                  <p:pic>
                    <p:nvPicPr>
                      <p:cNvPr id="5127" name="Object 7">
                        <a:extLst>
                          <a:ext uri="{FF2B5EF4-FFF2-40B4-BE49-F238E27FC236}">
                            <a16:creationId xmlns:a16="http://schemas.microsoft.com/office/drawing/2014/main" id="{3B6E4B4C-1928-6A27-207F-71C089909C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2944" y="2653828"/>
                        <a:ext cx="5183187"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2456" name="Text Box 8">
            <a:extLst>
              <a:ext uri="{FF2B5EF4-FFF2-40B4-BE49-F238E27FC236}">
                <a16:creationId xmlns:a16="http://schemas.microsoft.com/office/drawing/2014/main" id="{7C309FCF-0AF7-04E2-FEE8-ED8932AEC70A}"/>
              </a:ext>
            </a:extLst>
          </p:cNvPr>
          <p:cNvSpPr txBox="1">
            <a:spLocks noChangeArrowheads="1"/>
          </p:cNvSpPr>
          <p:nvPr/>
        </p:nvSpPr>
        <p:spPr bwMode="auto">
          <a:xfrm>
            <a:off x="250056" y="3860328"/>
            <a:ext cx="8424863"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a:latin typeface="楷体_GB2312" pitchFamily="49" charset="-122"/>
                <a:ea typeface="楷体_GB2312" pitchFamily="49" charset="-122"/>
              </a:rPr>
              <a:t>       </a:t>
            </a:r>
            <a:r>
              <a:rPr kumimoji="0" lang="zh-CN" altLang="en-US" sz="2400">
                <a:latin typeface="楷体_GB2312" pitchFamily="49" charset="-122"/>
                <a:ea typeface="楷体_GB2312" pitchFamily="49" charset="-122"/>
              </a:rPr>
              <a:t>电网看似一个电容性负载，发电机输出无功功率</a:t>
            </a:r>
            <a:r>
              <a:rPr kumimoji="0" lang="en-US" altLang="zh-CN" sz="2400">
                <a:latin typeface="楷体_GB2312" pitchFamily="49" charset="-122"/>
                <a:ea typeface="楷体_GB2312" pitchFamily="49" charset="-122"/>
              </a:rPr>
              <a:t>Q</a:t>
            </a:r>
            <a:r>
              <a:rPr kumimoji="0" lang="zh-CN" altLang="en-US" sz="2400">
                <a:latin typeface="楷体_GB2312" pitchFamily="49" charset="-122"/>
                <a:ea typeface="楷体_GB2312" pitchFamily="49" charset="-122"/>
              </a:rPr>
              <a:t>＝</a:t>
            </a:r>
            <a:r>
              <a:rPr kumimoji="0" lang="en-US" altLang="zh-CN" sz="2400">
                <a:latin typeface="楷体_GB2312" pitchFamily="49" charset="-122"/>
                <a:ea typeface="楷体_GB2312" pitchFamily="49" charset="-122"/>
              </a:rPr>
              <a:t>3U</a:t>
            </a:r>
            <a:r>
              <a:rPr kumimoji="0" lang="en-US" altLang="zh-CN" sz="2400" baseline="-25000">
                <a:latin typeface="楷体_GB2312" pitchFamily="49" charset="-122"/>
                <a:ea typeface="楷体_GB2312" pitchFamily="49" charset="-122"/>
              </a:rPr>
              <a:t>s</a:t>
            </a:r>
            <a:r>
              <a:rPr kumimoji="0" lang="en-US" altLang="zh-CN" sz="2400">
                <a:latin typeface="楷体_GB2312" pitchFamily="49" charset="-122"/>
                <a:ea typeface="楷体_GB2312" pitchFamily="49" charset="-122"/>
              </a:rPr>
              <a:t>I</a:t>
            </a:r>
            <a:r>
              <a:rPr kumimoji="0" lang="en-US" altLang="zh-CN" sz="2400" baseline="-25000">
                <a:latin typeface="楷体_GB2312" pitchFamily="49" charset="-122"/>
                <a:ea typeface="楷体_GB2312" pitchFamily="49" charset="-122"/>
              </a:rPr>
              <a:t>a</a:t>
            </a:r>
            <a:r>
              <a:rPr kumimoji="0" lang="en-US" altLang="zh-CN" sz="2400">
                <a:latin typeface="楷体_GB2312" pitchFamily="49" charset="-122"/>
                <a:ea typeface="楷体_GB2312" pitchFamily="49" charset="-122"/>
              </a:rPr>
              <a:t>sin</a:t>
            </a:r>
            <a:r>
              <a:rPr kumimoji="0" lang="zh-CN" altLang="en-US" sz="2400">
                <a:latin typeface="楷体_GB2312" pitchFamily="49" charset="-122"/>
                <a:ea typeface="楷体_GB2312" pitchFamily="49" charset="-122"/>
              </a:rPr>
              <a:t>（－</a:t>
            </a:r>
            <a:r>
              <a:rPr kumimoji="0" lang="en-US" altLang="zh-CN" sz="2400">
                <a:latin typeface="楷体_GB2312" pitchFamily="49" charset="-122"/>
                <a:ea typeface="楷体_GB2312" pitchFamily="49" charset="-122"/>
              </a:rPr>
              <a:t>90</a:t>
            </a:r>
            <a:r>
              <a:rPr kumimoji="0" lang="en-US" altLang="zh-CN" sz="2400" baseline="30000">
                <a:latin typeface="楷体_GB2312" pitchFamily="49" charset="-122"/>
                <a:ea typeface="楷体_GB2312" pitchFamily="49" charset="-122"/>
              </a:rPr>
              <a:t>0</a:t>
            </a:r>
            <a:r>
              <a:rPr kumimoji="0" lang="zh-CN" altLang="en-US" sz="2400">
                <a:latin typeface="楷体_GB2312" pitchFamily="49" charset="-122"/>
                <a:ea typeface="楷体_GB2312" pitchFamily="49" charset="-122"/>
              </a:rPr>
              <a:t>）</a:t>
            </a:r>
            <a:r>
              <a:rPr kumimoji="0" lang="en-US" altLang="zh-CN" sz="2400">
                <a:latin typeface="楷体_GB2312" pitchFamily="49" charset="-122"/>
                <a:ea typeface="楷体_GB2312" pitchFamily="49" charset="-122"/>
              </a:rPr>
              <a:t>&lt;0</a:t>
            </a:r>
            <a:r>
              <a:rPr kumimoji="0" lang="zh-CN" altLang="en-US" sz="2400">
                <a:latin typeface="楷体_GB2312" pitchFamily="49" charset="-122"/>
                <a:ea typeface="楷体_GB2312" pitchFamily="49" charset="-122"/>
              </a:rPr>
              <a:t>。反过来可以说，减小励磁时，发电机将消耗无功功率，对电网带感性负载能力带来不利影响。</a:t>
            </a:r>
            <a:r>
              <a:rPr kumimoji="0" lang="zh-CN" altLang="en-US" sz="2800">
                <a:latin typeface="楷体_GB2312" pitchFamily="49" charset="-122"/>
                <a:ea typeface="楷体_GB2312" pitchFamily="49" charset="-122"/>
              </a:rPr>
              <a:t> </a:t>
            </a:r>
          </a:p>
        </p:txBody>
      </p:sp>
      <p:sp>
        <p:nvSpPr>
          <p:cNvPr id="232457" name="Text Box 9">
            <a:extLst>
              <a:ext uri="{FF2B5EF4-FFF2-40B4-BE49-F238E27FC236}">
                <a16:creationId xmlns:a16="http://schemas.microsoft.com/office/drawing/2014/main" id="{5480AF62-60A8-28BF-72CC-0A0B44BA8F1D}"/>
              </a:ext>
            </a:extLst>
          </p:cNvPr>
          <p:cNvSpPr txBox="1">
            <a:spLocks noChangeArrowheads="1"/>
          </p:cNvSpPr>
          <p:nvPr/>
        </p:nvSpPr>
        <p:spPr bwMode="auto">
          <a:xfrm>
            <a:off x="467544" y="5373216"/>
            <a:ext cx="78486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a:latin typeface="楷体_GB2312" pitchFamily="49" charset="-122"/>
                <a:ea typeface="楷体_GB2312" pitchFamily="49" charset="-122"/>
              </a:rPr>
              <a:t>      </a:t>
            </a:r>
            <a:r>
              <a:rPr kumimoji="0" lang="zh-CN" altLang="en-US" sz="2400">
                <a:latin typeface="楷体_GB2312" pitchFamily="49" charset="-122"/>
                <a:ea typeface="楷体_GB2312" pitchFamily="49" charset="-122"/>
              </a:rPr>
              <a:t>上述两种情况由于发电机不消耗有功功率，因此功角等于</a:t>
            </a:r>
            <a:r>
              <a:rPr kumimoji="0" lang="en-US" altLang="zh-CN" sz="2400">
                <a:latin typeface="楷体_GB2312" pitchFamily="49" charset="-122"/>
                <a:ea typeface="楷体_GB2312" pitchFamily="49" charset="-122"/>
              </a:rPr>
              <a:t>0</a:t>
            </a:r>
            <a:r>
              <a:rPr kumimoji="0" lang="zh-CN" altLang="en-US" sz="2400">
                <a:latin typeface="楷体_GB2312" pitchFamily="49" charset="-122"/>
                <a:ea typeface="楷体_GB2312" pitchFamily="49" charset="-122"/>
              </a:rPr>
              <a:t>，电势始终保持与电压同相。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2456"/>
                                        </p:tgtEl>
                                        <p:attrNameLst>
                                          <p:attrName>style.visibility</p:attrName>
                                        </p:attrNameLst>
                                      </p:cBhvr>
                                      <p:to>
                                        <p:strVal val="visible"/>
                                      </p:to>
                                    </p:set>
                                    <p:animEffect transition="in" filter="blinds(horizontal)">
                                      <p:cBhvr>
                                        <p:cTn id="7" dur="500"/>
                                        <p:tgtEl>
                                          <p:spTgt spid="2324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2457"/>
                                        </p:tgtEl>
                                        <p:attrNameLst>
                                          <p:attrName>style.visibility</p:attrName>
                                        </p:attrNameLst>
                                      </p:cBhvr>
                                      <p:to>
                                        <p:strVal val="visible"/>
                                      </p:to>
                                    </p:set>
                                    <p:animEffect transition="in" filter="blinds(horizontal)">
                                      <p:cBhvr>
                                        <p:cTn id="12" dur="500"/>
                                        <p:tgtEl>
                                          <p:spTgt spid="232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6" grpId="0" autoUpdateAnimBg="0"/>
      <p:bldP spid="232457"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2DBC8F45-6536-1D0C-0C0E-20AD281DA9E0}"/>
              </a:ext>
            </a:extLst>
          </p:cNvPr>
          <p:cNvSpPr>
            <a:spLocks noGrp="1"/>
          </p:cNvSpPr>
          <p:nvPr>
            <p:ph type="sldNum" sz="quarter" idx="12"/>
          </p:nvPr>
        </p:nvSpPr>
        <p:spPr/>
        <p:txBody>
          <a:bodyPr/>
          <a:lstStyle/>
          <a:p>
            <a:pPr>
              <a:defRPr/>
            </a:pPr>
            <a:fld id="{E3E8033D-B029-4B98-95AF-75A0198298AE}" type="slidenum">
              <a:rPr lang="en-US" altLang="zh-CN"/>
              <a:pPr>
                <a:defRPr/>
              </a:pPr>
              <a:t>70</a:t>
            </a:fld>
            <a:endParaRPr lang="en-US" altLang="zh-CN"/>
          </a:p>
        </p:txBody>
      </p:sp>
      <p:sp>
        <p:nvSpPr>
          <p:cNvPr id="6147" name="Rectangle 2">
            <a:extLst>
              <a:ext uri="{FF2B5EF4-FFF2-40B4-BE49-F238E27FC236}">
                <a16:creationId xmlns:a16="http://schemas.microsoft.com/office/drawing/2014/main" id="{B1C524DA-6759-4062-8187-C71BDC72F61A}"/>
              </a:ext>
            </a:extLst>
          </p:cNvPr>
          <p:cNvSpPr>
            <a:spLocks noGrp="1" noChangeArrowheads="1"/>
          </p:cNvSpPr>
          <p:nvPr>
            <p:ph type="title"/>
          </p:nvPr>
        </p:nvSpPr>
        <p:spPr>
          <a:xfrm>
            <a:off x="-116485" y="635001"/>
            <a:ext cx="7162800" cy="762000"/>
          </a:xfrm>
        </p:spPr>
        <p:txBody>
          <a:bodyPr/>
          <a:lstStyle/>
          <a:p>
            <a:pPr eaLnBrk="1" hangingPunct="1"/>
            <a:r>
              <a:rPr lang="zh-CN" altLang="en-US" sz="3200" b="1" dirty="0">
                <a:ea typeface="楷体_GB2312" pitchFamily="49" charset="-122"/>
              </a:rPr>
              <a:t>五、</a:t>
            </a:r>
            <a:r>
              <a:rPr lang="zh-CN" altLang="en-US" sz="3200" b="1" dirty="0">
                <a:ea typeface="华文中宋" panose="02010600040101010101" pitchFamily="2" charset="-122"/>
              </a:rPr>
              <a:t>无穷大电网下机械转矩变化的影响</a:t>
            </a:r>
          </a:p>
        </p:txBody>
      </p:sp>
      <p:sp>
        <p:nvSpPr>
          <p:cNvPr id="6148" name="Text Box 4">
            <a:extLst>
              <a:ext uri="{FF2B5EF4-FFF2-40B4-BE49-F238E27FC236}">
                <a16:creationId xmlns:a16="http://schemas.microsoft.com/office/drawing/2014/main" id="{463BEEFD-31F8-9F35-28F5-72BBBFC4BE2C}"/>
              </a:ext>
            </a:extLst>
          </p:cNvPr>
          <p:cNvSpPr txBox="1">
            <a:spLocks noChangeArrowheads="1"/>
          </p:cNvSpPr>
          <p:nvPr/>
        </p:nvSpPr>
        <p:spPr bwMode="auto">
          <a:xfrm>
            <a:off x="611188" y="1196975"/>
            <a:ext cx="815022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设发电机初始工作于浮在线上状态，电势电压相等且同相。</a:t>
            </a:r>
          </a:p>
        </p:txBody>
      </p:sp>
      <p:sp>
        <p:nvSpPr>
          <p:cNvPr id="6149" name="Text Box 5">
            <a:extLst>
              <a:ext uri="{FF2B5EF4-FFF2-40B4-BE49-F238E27FC236}">
                <a16:creationId xmlns:a16="http://schemas.microsoft.com/office/drawing/2014/main" id="{AE9E6B40-84B5-615A-8FD4-2A4F1898915B}"/>
              </a:ext>
            </a:extLst>
          </p:cNvPr>
          <p:cNvSpPr txBox="1">
            <a:spLocks noChangeArrowheads="1"/>
          </p:cNvSpPr>
          <p:nvPr/>
        </p:nvSpPr>
        <p:spPr bwMode="auto">
          <a:xfrm>
            <a:off x="0" y="1660525"/>
            <a:ext cx="8964613"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a:latin typeface="楷体_GB2312" pitchFamily="49" charset="-122"/>
                <a:ea typeface="楷体_GB2312" pitchFamily="49" charset="-122"/>
              </a:rPr>
              <a:t>     </a:t>
            </a:r>
            <a:r>
              <a:rPr kumimoji="0" lang="zh-CN" altLang="en-US" sz="2400">
                <a:latin typeface="楷体_GB2312" pitchFamily="49" charset="-122"/>
                <a:ea typeface="楷体_GB2312" pitchFamily="49" charset="-122"/>
              </a:rPr>
              <a:t>若加大汽轮机蒸汽供应量，发电机机械转矩将增大、使转子加速，电势也瞬间略微增大且相位超前于电压一个相位角</a:t>
            </a:r>
            <a:r>
              <a:rPr kumimoji="0" lang="en-US" altLang="zh-CN" sz="2400">
                <a:latin typeface="Symbol" panose="05050102010706020507" pitchFamily="18" charset="2"/>
                <a:ea typeface="楷体_GB2312" pitchFamily="49" charset="-122"/>
              </a:rPr>
              <a:t>d</a:t>
            </a:r>
            <a:r>
              <a:rPr kumimoji="0" lang="zh-CN" altLang="en-US" sz="2400">
                <a:latin typeface="楷体_GB2312" pitchFamily="49" charset="-122"/>
                <a:ea typeface="楷体_GB2312" pitchFamily="49" charset="-122"/>
              </a:rPr>
              <a:t>。</a:t>
            </a:r>
          </a:p>
        </p:txBody>
      </p:sp>
      <p:sp>
        <p:nvSpPr>
          <p:cNvPr id="233478" name="AutoShape 6">
            <a:extLst>
              <a:ext uri="{FF2B5EF4-FFF2-40B4-BE49-F238E27FC236}">
                <a16:creationId xmlns:a16="http://schemas.microsoft.com/office/drawing/2014/main" id="{7AF21B22-952F-A1D4-DD4E-10EB3554A290}"/>
              </a:ext>
            </a:extLst>
          </p:cNvPr>
          <p:cNvSpPr>
            <a:spLocks noChangeArrowheads="1"/>
          </p:cNvSpPr>
          <p:nvPr/>
        </p:nvSpPr>
        <p:spPr bwMode="auto">
          <a:xfrm>
            <a:off x="7010400" y="404813"/>
            <a:ext cx="1752600" cy="647700"/>
          </a:xfrm>
          <a:prstGeom prst="wedgeRoundRectCallout">
            <a:avLst>
              <a:gd name="adj1" fmla="val -248009"/>
              <a:gd name="adj2" fmla="val 212991"/>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kumimoji="0" lang="en-US" altLang="zh-CN" sz="2800">
                <a:latin typeface="楷体_GB2312" pitchFamily="49" charset="-122"/>
                <a:ea typeface="楷体_GB2312" pitchFamily="49" charset="-122"/>
              </a:rPr>
              <a:t>E=k</a:t>
            </a:r>
            <a:r>
              <a:rPr kumimoji="0" lang="en-US" altLang="zh-CN" sz="2800">
                <a:latin typeface="Symbol" panose="05050102010706020507" pitchFamily="18" charset="2"/>
                <a:ea typeface="楷体_GB2312" pitchFamily="49" charset="-122"/>
              </a:rPr>
              <a:t>Wf</a:t>
            </a:r>
          </a:p>
        </p:txBody>
      </p:sp>
      <p:sp>
        <p:nvSpPr>
          <p:cNvPr id="6151" name="Rectangle 7">
            <a:extLst>
              <a:ext uri="{FF2B5EF4-FFF2-40B4-BE49-F238E27FC236}">
                <a16:creationId xmlns:a16="http://schemas.microsoft.com/office/drawing/2014/main" id="{B61B4E48-15AC-2A53-099E-D9EC0AC40D5D}"/>
              </a:ext>
            </a:extLst>
          </p:cNvPr>
          <p:cNvSpPr>
            <a:spLocks noChangeArrowheads="1"/>
          </p:cNvSpPr>
          <p:nvPr/>
        </p:nvSpPr>
        <p:spPr bwMode="auto">
          <a:xfrm>
            <a:off x="0" y="2614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6152" name="Object 8">
            <a:extLst>
              <a:ext uri="{FF2B5EF4-FFF2-40B4-BE49-F238E27FC236}">
                <a16:creationId xmlns:a16="http://schemas.microsoft.com/office/drawing/2014/main" id="{AE626E49-A22C-5F59-0B42-161E9EF7944A}"/>
              </a:ext>
            </a:extLst>
          </p:cNvPr>
          <p:cNvGraphicFramePr>
            <a:graphicFrameLocks noChangeAspect="1"/>
          </p:cNvGraphicFramePr>
          <p:nvPr/>
        </p:nvGraphicFramePr>
        <p:xfrm>
          <a:off x="2051050" y="3884613"/>
          <a:ext cx="6440488" cy="2973387"/>
        </p:xfrm>
        <a:graphic>
          <a:graphicData uri="http://schemas.openxmlformats.org/presentationml/2006/ole">
            <mc:AlternateContent xmlns:mc="http://schemas.openxmlformats.org/markup-compatibility/2006">
              <mc:Choice xmlns:v="urn:schemas-microsoft-com:vml" Requires="v">
                <p:oleObj name="Microsoft Drawing" r:id="rId2" imgW="3530600" imgH="1630363" progId="MSDraw">
                  <p:embed/>
                </p:oleObj>
              </mc:Choice>
              <mc:Fallback>
                <p:oleObj name="Microsoft Drawing" r:id="rId2" imgW="3530600" imgH="1630363" progId="MSDraw">
                  <p:embed/>
                  <p:pic>
                    <p:nvPicPr>
                      <p:cNvPr id="6152" name="Object 8">
                        <a:extLst>
                          <a:ext uri="{FF2B5EF4-FFF2-40B4-BE49-F238E27FC236}">
                            <a16:creationId xmlns:a16="http://schemas.microsoft.com/office/drawing/2014/main" id="{AE626E49-A22C-5F59-0B42-161E9EF79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3884613"/>
                        <a:ext cx="6440488"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3481" name="Text Box 9">
            <a:extLst>
              <a:ext uri="{FF2B5EF4-FFF2-40B4-BE49-F238E27FC236}">
                <a16:creationId xmlns:a16="http://schemas.microsoft.com/office/drawing/2014/main" id="{1AE6E97F-FCAA-068E-C361-5EDCE049E2B1}"/>
              </a:ext>
            </a:extLst>
          </p:cNvPr>
          <p:cNvSpPr txBox="1">
            <a:spLocks noChangeArrowheads="1"/>
          </p:cNvSpPr>
          <p:nvPr/>
        </p:nvSpPr>
        <p:spPr bwMode="auto">
          <a:xfrm>
            <a:off x="0" y="2452688"/>
            <a:ext cx="8748713"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a:latin typeface="楷体_GB2312" pitchFamily="49" charset="-122"/>
                <a:ea typeface="楷体_GB2312" pitchFamily="49" charset="-122"/>
              </a:rPr>
              <a:t>     </a:t>
            </a:r>
            <a:r>
              <a:rPr kumimoji="0" lang="zh-CN" altLang="en-US" sz="2400">
                <a:latin typeface="楷体_GB2312" pitchFamily="49" charset="-122"/>
                <a:ea typeface="楷体_GB2312" pitchFamily="49" charset="-122"/>
              </a:rPr>
              <a:t>由功率表达式可知，功角大于</a:t>
            </a:r>
            <a:r>
              <a:rPr kumimoji="0" lang="en-US" altLang="zh-CN" sz="2400">
                <a:latin typeface="楷体_GB2312" pitchFamily="49" charset="-122"/>
                <a:ea typeface="楷体_GB2312" pitchFamily="49" charset="-122"/>
              </a:rPr>
              <a:t>0</a:t>
            </a:r>
            <a:r>
              <a:rPr kumimoji="0" lang="zh-CN" altLang="en-US" sz="2400">
                <a:latin typeface="楷体_GB2312" pitchFamily="49" charset="-122"/>
                <a:ea typeface="楷体_GB2312" pitchFamily="49" charset="-122"/>
              </a:rPr>
              <a:t>时，发电机将对负载（电网）输出有功功率。功角越大，输出有功功率也越大。当输出的有功功率等于汽轮机增加的机械功率时，转子将停止加速，经过短暂调整，重新回落到同步转速，功角保持某一常数稳定运行。</a:t>
            </a:r>
          </a:p>
        </p:txBody>
      </p:sp>
      <p:sp>
        <p:nvSpPr>
          <p:cNvPr id="233482" name="AutoShape 10">
            <a:extLst>
              <a:ext uri="{FF2B5EF4-FFF2-40B4-BE49-F238E27FC236}">
                <a16:creationId xmlns:a16="http://schemas.microsoft.com/office/drawing/2014/main" id="{FB910A66-43E2-434D-1D84-CB1A8F6B1655}"/>
              </a:ext>
            </a:extLst>
          </p:cNvPr>
          <p:cNvSpPr>
            <a:spLocks noChangeArrowheads="1"/>
          </p:cNvSpPr>
          <p:nvPr/>
        </p:nvSpPr>
        <p:spPr bwMode="auto">
          <a:xfrm>
            <a:off x="323850" y="4508500"/>
            <a:ext cx="2592388" cy="1944688"/>
          </a:xfrm>
          <a:prstGeom prst="wedgeRoundRectCallout">
            <a:avLst>
              <a:gd name="adj1" fmla="val 61759"/>
              <a:gd name="adj2" fmla="val -90491"/>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输出有功功率的同时，负载电流将形成电磁力对转子形成阻转矩</a:t>
            </a:r>
          </a:p>
        </p:txBody>
      </p:sp>
      <p:sp>
        <p:nvSpPr>
          <p:cNvPr id="233483" name="AutoShape 11">
            <a:extLst>
              <a:ext uri="{FF2B5EF4-FFF2-40B4-BE49-F238E27FC236}">
                <a16:creationId xmlns:a16="http://schemas.microsoft.com/office/drawing/2014/main" id="{B809BAC0-768A-8447-129D-5DF4558ACA21}"/>
              </a:ext>
            </a:extLst>
          </p:cNvPr>
          <p:cNvSpPr>
            <a:spLocks noChangeArrowheads="1"/>
          </p:cNvSpPr>
          <p:nvPr/>
        </p:nvSpPr>
        <p:spPr bwMode="auto">
          <a:xfrm>
            <a:off x="3348038" y="4149725"/>
            <a:ext cx="2592387" cy="1943100"/>
          </a:xfrm>
          <a:prstGeom prst="wedgeRoundRectCallout">
            <a:avLst>
              <a:gd name="adj1" fmla="val 116995"/>
              <a:gd name="adj2" fmla="val 5801"/>
              <a:gd name="adj3" fmla="val 16667"/>
            </a:avLst>
          </a:prstGeom>
          <a:solidFill>
            <a:srgbClr val="00FFFF">
              <a:alpha val="59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注意：两个幅值基本相等的电压相位不同时可产生很大的压差。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3478"/>
                                        </p:tgtEl>
                                        <p:attrNameLst>
                                          <p:attrName>style.visibility</p:attrName>
                                        </p:attrNameLst>
                                      </p:cBhvr>
                                      <p:to>
                                        <p:strVal val="visible"/>
                                      </p:to>
                                    </p:set>
                                    <p:animEffect transition="in" filter="blinds(horizontal)">
                                      <p:cBhvr>
                                        <p:cTn id="7" dur="500"/>
                                        <p:tgtEl>
                                          <p:spTgt spid="233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3481"/>
                                        </p:tgtEl>
                                        <p:attrNameLst>
                                          <p:attrName>style.visibility</p:attrName>
                                        </p:attrNameLst>
                                      </p:cBhvr>
                                      <p:to>
                                        <p:strVal val="visible"/>
                                      </p:to>
                                    </p:set>
                                    <p:animEffect transition="in" filter="blinds(horizontal)">
                                      <p:cBhvr>
                                        <p:cTn id="12" dur="500"/>
                                        <p:tgtEl>
                                          <p:spTgt spid="2334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3482"/>
                                        </p:tgtEl>
                                        <p:attrNameLst>
                                          <p:attrName>style.visibility</p:attrName>
                                        </p:attrNameLst>
                                      </p:cBhvr>
                                      <p:to>
                                        <p:strVal val="visible"/>
                                      </p:to>
                                    </p:set>
                                    <p:animEffect transition="in" filter="blinds(horizontal)">
                                      <p:cBhvr>
                                        <p:cTn id="17" dur="500"/>
                                        <p:tgtEl>
                                          <p:spTgt spid="2334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3483"/>
                                        </p:tgtEl>
                                        <p:attrNameLst>
                                          <p:attrName>style.visibility</p:attrName>
                                        </p:attrNameLst>
                                      </p:cBhvr>
                                      <p:to>
                                        <p:strVal val="visible"/>
                                      </p:to>
                                    </p:set>
                                    <p:animEffect transition="in" filter="blinds(horizontal)">
                                      <p:cBhvr>
                                        <p:cTn id="22" dur="500"/>
                                        <p:tgtEl>
                                          <p:spTgt spid="233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8" grpId="0" animBg="1" autoUpdateAnimBg="0"/>
      <p:bldP spid="233481" grpId="0" autoUpdateAnimBg="0"/>
      <p:bldP spid="233482" grpId="0" animBg="1" autoUpdateAnimBg="0"/>
      <p:bldP spid="233483"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2347F95-B0BA-BE11-34FB-51788702686D}"/>
              </a:ext>
            </a:extLst>
          </p:cNvPr>
          <p:cNvSpPr>
            <a:spLocks noGrp="1"/>
          </p:cNvSpPr>
          <p:nvPr>
            <p:ph type="sldNum" sz="quarter" idx="12"/>
          </p:nvPr>
        </p:nvSpPr>
        <p:spPr>
          <a:xfrm>
            <a:off x="6475692" y="6665913"/>
            <a:ext cx="2300199" cy="476250"/>
          </a:xfrm>
        </p:spPr>
        <p:txBody>
          <a:bodyPr/>
          <a:lstStyle/>
          <a:p>
            <a:pPr>
              <a:defRPr/>
            </a:pPr>
            <a:fld id="{9D95308B-10B5-4E41-A689-34C7C7953A1B}" type="slidenum">
              <a:rPr lang="en-US" altLang="zh-CN"/>
              <a:pPr>
                <a:defRPr/>
              </a:pPr>
              <a:t>71</a:t>
            </a:fld>
            <a:endParaRPr lang="en-US" altLang="zh-CN"/>
          </a:p>
        </p:txBody>
      </p:sp>
      <p:sp>
        <p:nvSpPr>
          <p:cNvPr id="7171" name="Rectangle 2050">
            <a:extLst>
              <a:ext uri="{FF2B5EF4-FFF2-40B4-BE49-F238E27FC236}">
                <a16:creationId xmlns:a16="http://schemas.microsoft.com/office/drawing/2014/main" id="{E4929E03-2CD2-0EC3-5111-8BA529880281}"/>
              </a:ext>
            </a:extLst>
          </p:cNvPr>
          <p:cNvSpPr>
            <a:spLocks noGrp="1" noChangeArrowheads="1"/>
          </p:cNvSpPr>
          <p:nvPr>
            <p:ph type="title"/>
          </p:nvPr>
        </p:nvSpPr>
        <p:spPr>
          <a:xfrm>
            <a:off x="6156176" y="34017"/>
            <a:ext cx="2152208" cy="867811"/>
          </a:xfrm>
        </p:spPr>
        <p:txBody>
          <a:bodyPr/>
          <a:lstStyle/>
          <a:p>
            <a:pPr eaLnBrk="1" hangingPunct="1"/>
            <a:r>
              <a:rPr lang="zh-CN" altLang="en-US" dirty="0"/>
              <a:t>讨论</a:t>
            </a:r>
          </a:p>
        </p:txBody>
      </p:sp>
      <p:sp>
        <p:nvSpPr>
          <p:cNvPr id="7172" name="Rectangle 2052">
            <a:extLst>
              <a:ext uri="{FF2B5EF4-FFF2-40B4-BE49-F238E27FC236}">
                <a16:creationId xmlns:a16="http://schemas.microsoft.com/office/drawing/2014/main" id="{A148B66E-6331-7F64-1790-3A509A88B10D}"/>
              </a:ext>
            </a:extLst>
          </p:cNvPr>
          <p:cNvSpPr>
            <a:spLocks noGrp="1" noChangeArrowheads="1"/>
          </p:cNvSpPr>
          <p:nvPr>
            <p:ph type="body" idx="1"/>
          </p:nvPr>
        </p:nvSpPr>
        <p:spPr>
          <a:xfrm>
            <a:off x="-256682" y="901828"/>
            <a:ext cx="9118645" cy="2057400"/>
          </a:xfrm>
          <a:noFill/>
        </p:spPr>
        <p:txBody>
          <a:bodyPr/>
          <a:lstStyle/>
          <a:p>
            <a:pPr eaLnBrk="1" hangingPunct="1">
              <a:buFontTx/>
              <a:buNone/>
            </a:pPr>
            <a:r>
              <a:rPr lang="en-US" altLang="zh-CN" sz="2400" dirty="0"/>
              <a:t>        </a:t>
            </a:r>
            <a:r>
              <a:rPr lang="zh-CN" altLang="en-US" sz="2400" b="1" dirty="0">
                <a:ea typeface="黑体" panose="02010609060101010101" pitchFamily="49" charset="-122"/>
              </a:rPr>
              <a:t>此时，电流超前于电压，同步发电机输出的无功功率</a:t>
            </a:r>
            <a:r>
              <a:rPr lang="en-US" altLang="zh-CN" sz="2400" b="1" dirty="0">
                <a:ea typeface="黑体" panose="02010609060101010101" pitchFamily="49" charset="-122"/>
              </a:rPr>
              <a:t>Q&lt;0</a:t>
            </a:r>
            <a:r>
              <a:rPr lang="zh-CN" altLang="en-US" sz="2400" b="1" dirty="0">
                <a:ea typeface="黑体" panose="02010609060101010101" pitchFamily="49" charset="-122"/>
              </a:rPr>
              <a:t>，即发电机在输出有功功率的同时将消耗无功功率。如果期望发电机在保持输出有功功率不变的情况下降低无功功率消耗，甚至向电网输出无功功率，可以通过增加励磁来实现。由同步发电机的功率表达式</a:t>
            </a:r>
          </a:p>
          <a:p>
            <a:pPr eaLnBrk="1" hangingPunct="1"/>
            <a:endParaRPr lang="en-US" altLang="zh-CN" sz="2400" b="1" dirty="0">
              <a:ea typeface="黑体" panose="02010609060101010101" pitchFamily="49" charset="-122"/>
            </a:endParaRPr>
          </a:p>
        </p:txBody>
      </p:sp>
      <p:sp>
        <p:nvSpPr>
          <p:cNvPr id="7173" name="Rectangle 2053">
            <a:extLst>
              <a:ext uri="{FF2B5EF4-FFF2-40B4-BE49-F238E27FC236}">
                <a16:creationId xmlns:a16="http://schemas.microsoft.com/office/drawing/2014/main" id="{EB9F01BC-6127-3404-5EF5-DEA59C87FB1D}"/>
              </a:ext>
            </a:extLst>
          </p:cNvPr>
          <p:cNvSpPr>
            <a:spLocks noChangeArrowheads="1"/>
          </p:cNvSpPr>
          <p:nvPr/>
        </p:nvSpPr>
        <p:spPr bwMode="auto">
          <a:xfrm>
            <a:off x="3871913"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7174" name="Object 2054">
            <a:extLst>
              <a:ext uri="{FF2B5EF4-FFF2-40B4-BE49-F238E27FC236}">
                <a16:creationId xmlns:a16="http://schemas.microsoft.com/office/drawing/2014/main" id="{A038BD42-E748-A79A-AA94-2CDAD1F83038}"/>
              </a:ext>
            </a:extLst>
          </p:cNvPr>
          <p:cNvGraphicFramePr>
            <a:graphicFrameLocks noChangeAspect="1"/>
          </p:cNvGraphicFramePr>
          <p:nvPr>
            <p:extLst>
              <p:ext uri="{D42A27DB-BD31-4B8C-83A1-F6EECF244321}">
                <p14:modId xmlns:p14="http://schemas.microsoft.com/office/powerpoint/2010/main" val="352198060"/>
              </p:ext>
            </p:extLst>
          </p:nvPr>
        </p:nvGraphicFramePr>
        <p:xfrm>
          <a:off x="365352" y="2782888"/>
          <a:ext cx="2793098" cy="793750"/>
        </p:xfrm>
        <a:graphic>
          <a:graphicData uri="http://schemas.openxmlformats.org/presentationml/2006/ole">
            <mc:AlternateContent xmlns:mc="http://schemas.openxmlformats.org/markup-compatibility/2006">
              <mc:Choice xmlns:v="urn:schemas-microsoft-com:vml" Requires="v">
                <p:oleObj r:id="rId2" imgW="1397000" imgH="431800" progId="Equation.DSMT4">
                  <p:embed/>
                </p:oleObj>
              </mc:Choice>
              <mc:Fallback>
                <p:oleObj r:id="rId2" imgW="1397000" imgH="431800" progId="Equation.DSMT4">
                  <p:embed/>
                  <p:pic>
                    <p:nvPicPr>
                      <p:cNvPr id="7174" name="Object 2054">
                        <a:extLst>
                          <a:ext uri="{FF2B5EF4-FFF2-40B4-BE49-F238E27FC236}">
                            <a16:creationId xmlns:a16="http://schemas.microsoft.com/office/drawing/2014/main" id="{A038BD42-E748-A79A-AA94-2CDAD1F83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352" y="2782888"/>
                        <a:ext cx="2793098" cy="793750"/>
                      </a:xfrm>
                      <a:prstGeom prst="rect">
                        <a:avLst/>
                      </a:prstGeom>
                      <a:noFill/>
                      <a:ln>
                        <a:noFill/>
                      </a:ln>
                    </p:spPr>
                  </p:pic>
                </p:oleObj>
              </mc:Fallback>
            </mc:AlternateContent>
          </a:graphicData>
        </a:graphic>
      </p:graphicFrame>
      <p:sp>
        <p:nvSpPr>
          <p:cNvPr id="7175" name="Rectangle 2055">
            <a:extLst>
              <a:ext uri="{FF2B5EF4-FFF2-40B4-BE49-F238E27FC236}">
                <a16:creationId xmlns:a16="http://schemas.microsoft.com/office/drawing/2014/main" id="{9FF0F598-DEF8-E2F5-0373-50E38EB3CE0B}"/>
              </a:ext>
            </a:extLst>
          </p:cNvPr>
          <p:cNvSpPr>
            <a:spLocks noChangeArrowheads="1"/>
          </p:cNvSpPr>
          <p:nvPr/>
        </p:nvSpPr>
        <p:spPr bwMode="auto">
          <a:xfrm>
            <a:off x="3133725"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7176" name="Object 2056">
            <a:extLst>
              <a:ext uri="{FF2B5EF4-FFF2-40B4-BE49-F238E27FC236}">
                <a16:creationId xmlns:a16="http://schemas.microsoft.com/office/drawing/2014/main" id="{7BDD8C89-F277-114B-9AC0-74BDA3B8E3C7}"/>
              </a:ext>
            </a:extLst>
          </p:cNvPr>
          <p:cNvGraphicFramePr>
            <a:graphicFrameLocks noChangeAspect="1"/>
          </p:cNvGraphicFramePr>
          <p:nvPr>
            <p:extLst>
              <p:ext uri="{D42A27DB-BD31-4B8C-83A1-F6EECF244321}">
                <p14:modId xmlns:p14="http://schemas.microsoft.com/office/powerpoint/2010/main" val="2350133642"/>
              </p:ext>
            </p:extLst>
          </p:nvPr>
        </p:nvGraphicFramePr>
        <p:xfrm>
          <a:off x="4206140" y="2782888"/>
          <a:ext cx="4353948" cy="655638"/>
        </p:xfrm>
        <a:graphic>
          <a:graphicData uri="http://schemas.openxmlformats.org/presentationml/2006/ole">
            <mc:AlternateContent xmlns:mc="http://schemas.openxmlformats.org/markup-compatibility/2006">
              <mc:Choice xmlns:v="urn:schemas-microsoft-com:vml" Requires="v">
                <p:oleObj r:id="rId4" imgW="2882900" imgH="469900" progId="Equation.DSMT4">
                  <p:embed/>
                </p:oleObj>
              </mc:Choice>
              <mc:Fallback>
                <p:oleObj r:id="rId4" imgW="2882900" imgH="469900" progId="Equation.DSMT4">
                  <p:embed/>
                  <p:pic>
                    <p:nvPicPr>
                      <p:cNvPr id="7176" name="Object 2056">
                        <a:extLst>
                          <a:ext uri="{FF2B5EF4-FFF2-40B4-BE49-F238E27FC236}">
                            <a16:creationId xmlns:a16="http://schemas.microsoft.com/office/drawing/2014/main" id="{7BDD8C89-F277-114B-9AC0-74BDA3B8E3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6140" y="2782888"/>
                        <a:ext cx="4353948" cy="655638"/>
                      </a:xfrm>
                      <a:prstGeom prst="rect">
                        <a:avLst/>
                      </a:prstGeom>
                      <a:noFill/>
                      <a:ln>
                        <a:noFill/>
                      </a:ln>
                    </p:spPr>
                  </p:pic>
                </p:oleObj>
              </mc:Fallback>
            </mc:AlternateContent>
          </a:graphicData>
        </a:graphic>
      </p:graphicFrame>
      <p:sp>
        <p:nvSpPr>
          <p:cNvPr id="7177" name="Rectangle 2058">
            <a:extLst>
              <a:ext uri="{FF2B5EF4-FFF2-40B4-BE49-F238E27FC236}">
                <a16:creationId xmlns:a16="http://schemas.microsoft.com/office/drawing/2014/main" id="{BB6C9FC1-8CB1-D86A-88BB-C14AD456F919}"/>
              </a:ext>
            </a:extLst>
          </p:cNvPr>
          <p:cNvSpPr>
            <a:spLocks noChangeArrowheads="1"/>
          </p:cNvSpPr>
          <p:nvPr/>
        </p:nvSpPr>
        <p:spPr bwMode="auto">
          <a:xfrm>
            <a:off x="3024188" y="2595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pSp>
        <p:nvGrpSpPr>
          <p:cNvPr id="234510" name="Group 2062">
            <a:extLst>
              <a:ext uri="{FF2B5EF4-FFF2-40B4-BE49-F238E27FC236}">
                <a16:creationId xmlns:a16="http://schemas.microsoft.com/office/drawing/2014/main" id="{AC9604BE-F793-02B4-92DD-5D8E841DDE9D}"/>
              </a:ext>
            </a:extLst>
          </p:cNvPr>
          <p:cNvGrpSpPr>
            <a:grpSpLocks/>
          </p:cNvGrpSpPr>
          <p:nvPr/>
        </p:nvGrpSpPr>
        <p:grpSpPr bwMode="auto">
          <a:xfrm>
            <a:off x="107793" y="1005759"/>
            <a:ext cx="9135760" cy="4573897"/>
            <a:chOff x="263" y="338"/>
            <a:chExt cx="5146" cy="2864"/>
          </a:xfrm>
        </p:grpSpPr>
        <p:sp>
          <p:nvSpPr>
            <p:cNvPr id="7180" name="Text Box 2057">
              <a:extLst>
                <a:ext uri="{FF2B5EF4-FFF2-40B4-BE49-F238E27FC236}">
                  <a16:creationId xmlns:a16="http://schemas.microsoft.com/office/drawing/2014/main" id="{F0CB2086-5DF4-C77B-7593-0EC1199B4BD3}"/>
                </a:ext>
              </a:extLst>
            </p:cNvPr>
            <p:cNvSpPr txBox="1">
              <a:spLocks noChangeArrowheads="1"/>
            </p:cNvSpPr>
            <p:nvPr/>
          </p:nvSpPr>
          <p:spPr bwMode="auto">
            <a:xfrm>
              <a:off x="263" y="1887"/>
              <a:ext cx="5146" cy="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 typeface="Wingdings" panose="05000000000000000000" pitchFamily="2" charset="2"/>
                <a:buNone/>
              </a:pPr>
              <a:r>
                <a:rPr kumimoji="0" lang="zh-CN" altLang="en-US" sz="2400" dirty="0">
                  <a:latin typeface="宋体" panose="02010600030101010101" pitchFamily="2" charset="-122"/>
                  <a:ea typeface="黑体" panose="02010609060101010101" pitchFamily="49" charset="-122"/>
                </a:rPr>
                <a:t>励磁增大，电势增大，为保持功率不变，功角应减小，对隐极电机也意味电势相量对电压相量的垂直距离不变，因此电势相量向右水平滑动，使电抗压降电势和电流组成的相量直角顺时针旋转，且两个相量幅值均减小，超前功率因数角减小，输出负无功功率降低，直到等于</a:t>
              </a:r>
              <a:r>
                <a:rPr kumimoji="0" lang="en-US" altLang="zh-CN" sz="2400" dirty="0">
                  <a:ea typeface="黑体" panose="02010609060101010101" pitchFamily="49" charset="-122"/>
                </a:rPr>
                <a:t>0</a:t>
              </a:r>
              <a:r>
                <a:rPr kumimoji="0" lang="zh-CN" altLang="en-US" sz="2400" dirty="0">
                  <a:latin typeface="宋体" panose="02010600030101010101" pitchFamily="2" charset="-122"/>
                  <a:ea typeface="黑体" panose="02010609060101010101" pitchFamily="49" charset="-122"/>
                </a:rPr>
                <a:t>，功率因数等于</a:t>
              </a:r>
              <a:r>
                <a:rPr kumimoji="0" lang="en-US" altLang="zh-CN" sz="2400" dirty="0">
                  <a:ea typeface="黑体" panose="02010609060101010101" pitchFamily="49" charset="-122"/>
                </a:rPr>
                <a:t>1</a:t>
              </a:r>
              <a:r>
                <a:rPr kumimoji="0" lang="zh-CN" altLang="en-US" sz="2400" dirty="0">
                  <a:latin typeface="宋体" panose="02010600030101010101" pitchFamily="2" charset="-122"/>
                  <a:ea typeface="黑体" panose="02010609060101010101" pitchFamily="49" charset="-122"/>
                </a:rPr>
                <a:t>。</a:t>
              </a:r>
              <a:endParaRPr kumimoji="0" lang="zh-CN" altLang="en-US" sz="2400" dirty="0">
                <a:latin typeface="楷体_GB2312" pitchFamily="49" charset="-122"/>
                <a:ea typeface="黑体" panose="02010609060101010101" pitchFamily="49" charset="-122"/>
              </a:endParaRPr>
            </a:p>
          </p:txBody>
        </p:sp>
        <p:graphicFrame>
          <p:nvGraphicFramePr>
            <p:cNvPr id="7181" name="Object 2059">
              <a:extLst>
                <a:ext uri="{FF2B5EF4-FFF2-40B4-BE49-F238E27FC236}">
                  <a16:creationId xmlns:a16="http://schemas.microsoft.com/office/drawing/2014/main" id="{6C89CFAC-A070-C6B7-F8BB-477B2ADA017A}"/>
                </a:ext>
              </a:extLst>
            </p:cNvPr>
            <p:cNvGraphicFramePr>
              <a:graphicFrameLocks noChangeAspect="1"/>
            </p:cNvGraphicFramePr>
            <p:nvPr>
              <p:extLst>
                <p:ext uri="{D42A27DB-BD31-4B8C-83A1-F6EECF244321}">
                  <p14:modId xmlns:p14="http://schemas.microsoft.com/office/powerpoint/2010/main" val="2311580437"/>
                </p:ext>
              </p:extLst>
            </p:nvPr>
          </p:nvGraphicFramePr>
          <p:xfrm>
            <a:off x="2410" y="338"/>
            <a:ext cx="2880" cy="1551"/>
          </p:xfrm>
          <a:graphic>
            <a:graphicData uri="http://schemas.openxmlformats.org/presentationml/2006/ole">
              <mc:AlternateContent xmlns:mc="http://schemas.openxmlformats.org/markup-compatibility/2006">
                <mc:Choice xmlns:v="urn:schemas-microsoft-com:vml" Requires="v">
                  <p:oleObj r:id="rId6" imgW="3092450" imgH="1665288" progId="MSDraw">
                    <p:embed/>
                  </p:oleObj>
                </mc:Choice>
                <mc:Fallback>
                  <p:oleObj r:id="rId6" imgW="3092450" imgH="1665288" progId="MSDraw">
                    <p:embed/>
                    <p:pic>
                      <p:nvPicPr>
                        <p:cNvPr id="7181" name="Object 2059">
                          <a:extLst>
                            <a:ext uri="{FF2B5EF4-FFF2-40B4-BE49-F238E27FC236}">
                              <a16:creationId xmlns:a16="http://schemas.microsoft.com/office/drawing/2014/main" id="{6C89CFAC-A070-C6B7-F8BB-477B2ADA01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0" y="338"/>
                          <a:ext cx="2880" cy="155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34509" name="Text Box 2061">
            <a:extLst>
              <a:ext uri="{FF2B5EF4-FFF2-40B4-BE49-F238E27FC236}">
                <a16:creationId xmlns:a16="http://schemas.microsoft.com/office/drawing/2014/main" id="{90B947D3-F296-2D8B-C388-DD95D7B9058C}"/>
              </a:ext>
            </a:extLst>
          </p:cNvPr>
          <p:cNvSpPr txBox="1">
            <a:spLocks noChangeArrowheads="1"/>
          </p:cNvSpPr>
          <p:nvPr/>
        </p:nvSpPr>
        <p:spPr bwMode="auto">
          <a:xfrm>
            <a:off x="107504" y="5602288"/>
            <a:ext cx="9036495" cy="1563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dirty="0">
                <a:latin typeface="宋体" panose="02010600030101010101" pitchFamily="2" charset="-122"/>
                <a:ea typeface="黑体" panose="02010609060101010101" pitchFamily="49" charset="-122"/>
              </a:rPr>
              <a:t>  </a:t>
            </a:r>
            <a:r>
              <a:rPr kumimoji="0" lang="zh-CN" altLang="en-US" sz="2400" dirty="0">
                <a:latin typeface="宋体" panose="02010600030101010101" pitchFamily="2" charset="-122"/>
                <a:ea typeface="黑体" panose="02010609060101010101" pitchFamily="49" charset="-122"/>
              </a:rPr>
              <a:t>再继续增大励磁，电枢电流将转为滞后，且幅值增大，发电机输出正无功功率。总之，如果同步发电机输出有功功率不变，励磁增大将使输出无功功率的增量</a:t>
            </a:r>
            <a:r>
              <a:rPr kumimoji="0" lang="en-US" altLang="zh-CN" sz="2400" dirty="0">
                <a:latin typeface="Symbol" panose="05050102010706020507" pitchFamily="18" charset="2"/>
                <a:ea typeface="黑体" panose="02010609060101010101" pitchFamily="49" charset="-122"/>
              </a:rPr>
              <a:t>D</a:t>
            </a:r>
            <a:r>
              <a:rPr kumimoji="0" lang="en-US" altLang="zh-CN" sz="2400" dirty="0">
                <a:ea typeface="黑体" panose="02010609060101010101" pitchFamily="49" charset="-122"/>
              </a:rPr>
              <a:t>Q</a:t>
            </a:r>
            <a:r>
              <a:rPr kumimoji="0" lang="zh-CN" altLang="en-US" sz="2400" dirty="0">
                <a:latin typeface="宋体" panose="02010600030101010101" pitchFamily="2" charset="-122"/>
                <a:ea typeface="黑体" panose="02010609060101010101" pitchFamily="49" charset="-122"/>
              </a:rPr>
              <a:t>为正，若减小励磁则相反。</a:t>
            </a:r>
            <a:endParaRPr kumimoji="0" lang="zh-CN" altLang="en-US" sz="2400" dirty="0">
              <a:latin typeface="楷体_GB2312" pitchFamily="49" charset="-122"/>
              <a:ea typeface="黑体" panose="02010609060101010101" pitchFamily="49" charset="-122"/>
            </a:endParaRPr>
          </a:p>
          <a:p>
            <a:pPr eaLnBrk="1" hangingPunct="1">
              <a:lnSpc>
                <a:spcPct val="90000"/>
              </a:lnSpc>
              <a:buFont typeface="Wingdings" panose="05000000000000000000" pitchFamily="2" charset="2"/>
              <a:buNone/>
            </a:pPr>
            <a:endParaRPr kumimoji="0" lang="en-US" altLang="zh-CN" sz="2800"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34510"/>
                                        </p:tgtEl>
                                        <p:attrNameLst>
                                          <p:attrName>style.visibility</p:attrName>
                                        </p:attrNameLst>
                                      </p:cBhvr>
                                      <p:to>
                                        <p:strVal val="visible"/>
                                      </p:to>
                                    </p:set>
                                    <p:animEffect transition="in" filter="checkerboard(across)">
                                      <p:cBhvr>
                                        <p:cTn id="7" dur="500"/>
                                        <p:tgtEl>
                                          <p:spTgt spid="2345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4509"/>
                                        </p:tgtEl>
                                        <p:attrNameLst>
                                          <p:attrName>style.visibility</p:attrName>
                                        </p:attrNameLst>
                                      </p:cBhvr>
                                      <p:to>
                                        <p:strVal val="visible"/>
                                      </p:to>
                                    </p:set>
                                    <p:animEffect transition="in" filter="dissolve">
                                      <p:cBhvr>
                                        <p:cTn id="12" dur="500"/>
                                        <p:tgtEl>
                                          <p:spTgt spid="234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9"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8F68A126-46D0-3AE6-6633-96A6AA705545}"/>
              </a:ext>
            </a:extLst>
          </p:cNvPr>
          <p:cNvSpPr>
            <a:spLocks noGrp="1"/>
          </p:cNvSpPr>
          <p:nvPr>
            <p:ph type="sldNum" sz="quarter" idx="12"/>
          </p:nvPr>
        </p:nvSpPr>
        <p:spPr/>
        <p:txBody>
          <a:bodyPr/>
          <a:lstStyle/>
          <a:p>
            <a:pPr>
              <a:defRPr/>
            </a:pPr>
            <a:fld id="{33127C31-FAE0-4337-99D1-8BFFBF4397D8}" type="slidenum">
              <a:rPr lang="en-US" altLang="zh-CN"/>
              <a:pPr>
                <a:defRPr/>
              </a:pPr>
              <a:t>72</a:t>
            </a:fld>
            <a:endParaRPr lang="en-US" altLang="zh-CN"/>
          </a:p>
        </p:txBody>
      </p:sp>
      <p:pic>
        <p:nvPicPr>
          <p:cNvPr id="8195" name="Picture 4">
            <a:extLst>
              <a:ext uri="{FF2B5EF4-FFF2-40B4-BE49-F238E27FC236}">
                <a16:creationId xmlns:a16="http://schemas.microsoft.com/office/drawing/2014/main" id="{CEF3E1B3-0F32-9978-74AE-5560BDC945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03913" y="609600"/>
            <a:ext cx="3240087"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2">
            <a:extLst>
              <a:ext uri="{FF2B5EF4-FFF2-40B4-BE49-F238E27FC236}">
                <a16:creationId xmlns:a16="http://schemas.microsoft.com/office/drawing/2014/main" id="{48A66317-FD55-01FC-A443-428622A9057C}"/>
              </a:ext>
            </a:extLst>
          </p:cNvPr>
          <p:cNvSpPr>
            <a:spLocks noGrp="1" noChangeArrowheads="1"/>
          </p:cNvSpPr>
          <p:nvPr>
            <p:ph type="title"/>
          </p:nvPr>
        </p:nvSpPr>
        <p:spPr>
          <a:xfrm>
            <a:off x="72750" y="723900"/>
            <a:ext cx="6172200" cy="762000"/>
          </a:xfrm>
        </p:spPr>
        <p:txBody>
          <a:bodyPr/>
          <a:lstStyle/>
          <a:p>
            <a:pPr eaLnBrk="1" hangingPunct="1"/>
            <a:r>
              <a:rPr lang="zh-CN" altLang="en-US" sz="3200" b="1" dirty="0">
                <a:ea typeface="楷体_GB2312" pitchFamily="49" charset="-122"/>
              </a:rPr>
              <a:t>六、发电机性质的物理解释</a:t>
            </a:r>
          </a:p>
        </p:txBody>
      </p:sp>
      <p:sp>
        <p:nvSpPr>
          <p:cNvPr id="8197" name="Text Box 5">
            <a:extLst>
              <a:ext uri="{FF2B5EF4-FFF2-40B4-BE49-F238E27FC236}">
                <a16:creationId xmlns:a16="http://schemas.microsoft.com/office/drawing/2014/main" id="{1DA5E68D-FACE-2E0B-44E5-B1E5C00F6B3D}"/>
              </a:ext>
            </a:extLst>
          </p:cNvPr>
          <p:cNvSpPr txBox="1">
            <a:spLocks noChangeArrowheads="1"/>
          </p:cNvSpPr>
          <p:nvPr/>
        </p:nvSpPr>
        <p:spPr bwMode="auto">
          <a:xfrm>
            <a:off x="80963" y="1507992"/>
            <a:ext cx="5148263"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dirty="0">
                <a:latin typeface="楷体_GB2312" pitchFamily="49" charset="-122"/>
                <a:ea typeface="楷体_GB2312" pitchFamily="49" charset="-122"/>
              </a:rPr>
              <a:t>    </a:t>
            </a:r>
            <a:r>
              <a:rPr kumimoji="0" lang="zh-CN" altLang="en-US" sz="2400" dirty="0">
                <a:latin typeface="楷体_GB2312" pitchFamily="49" charset="-122"/>
                <a:ea typeface="楷体_GB2312" pitchFamily="49" charset="-122"/>
              </a:rPr>
              <a:t>当发电机浮在电网上时，定子电流为</a:t>
            </a:r>
            <a:r>
              <a:rPr kumimoji="0" lang="en-US" altLang="zh-CN" sz="2400" dirty="0">
                <a:latin typeface="楷体_GB2312" pitchFamily="49" charset="-122"/>
                <a:ea typeface="楷体_GB2312" pitchFamily="49" charset="-122"/>
              </a:rPr>
              <a:t>0</a:t>
            </a:r>
            <a:r>
              <a:rPr kumimoji="0" lang="zh-CN" altLang="en-US" sz="2400" dirty="0">
                <a:latin typeface="楷体_GB2312" pitchFamily="49" charset="-122"/>
                <a:ea typeface="楷体_GB2312" pitchFamily="49" charset="-122"/>
              </a:rPr>
              <a:t>，没有电磁力作用于转子，发电机磁场仅由直流励磁产生，它在定子绕组中感生电势</a:t>
            </a:r>
            <a:r>
              <a:rPr kumimoji="0" lang="en-US" altLang="zh-CN" sz="2400" dirty="0" err="1">
                <a:latin typeface="楷体_GB2312" pitchFamily="49" charset="-122"/>
                <a:ea typeface="楷体_GB2312" pitchFamily="49" charset="-122"/>
              </a:rPr>
              <a:t>E</a:t>
            </a:r>
            <a:r>
              <a:rPr kumimoji="0" lang="en-US" altLang="zh-CN" sz="2400" baseline="-25000" dirty="0" err="1">
                <a:latin typeface="楷体_GB2312" pitchFamily="49" charset="-122"/>
                <a:ea typeface="楷体_GB2312" pitchFamily="49" charset="-122"/>
              </a:rPr>
              <a:t>a</a:t>
            </a:r>
            <a:r>
              <a:rPr kumimoji="0" lang="zh-CN" altLang="en-US" sz="2400" dirty="0">
                <a:latin typeface="楷体_GB2312" pitchFamily="49" charset="-122"/>
                <a:ea typeface="楷体_GB2312" pitchFamily="49" charset="-122"/>
              </a:rPr>
              <a:t>。</a:t>
            </a:r>
          </a:p>
        </p:txBody>
      </p:sp>
      <p:sp>
        <p:nvSpPr>
          <p:cNvPr id="235526" name="Text Box 6">
            <a:extLst>
              <a:ext uri="{FF2B5EF4-FFF2-40B4-BE49-F238E27FC236}">
                <a16:creationId xmlns:a16="http://schemas.microsoft.com/office/drawing/2014/main" id="{D37BE714-51A6-4D54-23A9-CFE6612D5EB4}"/>
              </a:ext>
            </a:extLst>
          </p:cNvPr>
          <p:cNvSpPr txBox="1">
            <a:spLocks noChangeArrowheads="1"/>
          </p:cNvSpPr>
          <p:nvPr/>
        </p:nvSpPr>
        <p:spPr bwMode="auto">
          <a:xfrm>
            <a:off x="-11112" y="3033579"/>
            <a:ext cx="5240338"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en-US" altLang="zh-CN" sz="2400">
                <a:latin typeface="楷体_GB2312" pitchFamily="49" charset="-122"/>
                <a:ea typeface="楷体_GB2312" pitchFamily="49" charset="-122"/>
              </a:rPr>
              <a:t>  </a:t>
            </a:r>
            <a:r>
              <a:rPr kumimoji="0" lang="zh-CN" altLang="en-US" sz="2400">
                <a:latin typeface="楷体_GB2312" pitchFamily="49" charset="-122"/>
                <a:ea typeface="楷体_GB2312" pitchFamily="49" charset="-122"/>
              </a:rPr>
              <a:t>当机械转矩增大时，转子加速逐渐超前于原来相对位置一个</a:t>
            </a:r>
            <a:r>
              <a:rPr kumimoji="0" lang="en-US" altLang="zh-CN" sz="2400">
                <a:latin typeface="Symbol" panose="05050102010706020507" pitchFamily="18" charset="2"/>
                <a:ea typeface="楷体_GB2312" pitchFamily="49" charset="-122"/>
              </a:rPr>
              <a:t>a</a:t>
            </a:r>
            <a:r>
              <a:rPr kumimoji="0" lang="zh-CN" altLang="en-US" sz="2400">
                <a:latin typeface="楷体_GB2312" pitchFamily="49" charset="-122"/>
                <a:ea typeface="楷体_GB2312" pitchFamily="49" charset="-122"/>
              </a:rPr>
              <a:t>机械角度，电势和电压对应出现一个功角相位差：</a:t>
            </a:r>
            <a:r>
              <a:rPr kumimoji="0" lang="en-US" altLang="zh-CN" sz="2400">
                <a:latin typeface="Symbol" panose="05050102010706020507" pitchFamily="18" charset="2"/>
                <a:ea typeface="楷体_GB2312" pitchFamily="49" charset="-122"/>
              </a:rPr>
              <a:t>d</a:t>
            </a:r>
            <a:r>
              <a:rPr kumimoji="0" lang="en-US" altLang="zh-CN" sz="2400">
                <a:latin typeface="楷体_GB2312" pitchFamily="49" charset="-122"/>
                <a:ea typeface="楷体_GB2312" pitchFamily="49" charset="-122"/>
              </a:rPr>
              <a:t>=</a:t>
            </a:r>
            <a:r>
              <a:rPr kumimoji="0" lang="en-US" altLang="zh-CN" sz="2400">
                <a:latin typeface="Symbol" panose="05050102010706020507" pitchFamily="18" charset="2"/>
                <a:ea typeface="楷体_GB2312" pitchFamily="49" charset="-122"/>
              </a:rPr>
              <a:t>a</a:t>
            </a:r>
            <a:r>
              <a:rPr kumimoji="0" lang="en-US" altLang="zh-CN" sz="2400">
                <a:latin typeface="楷体_GB2312" pitchFamily="49" charset="-122"/>
                <a:ea typeface="楷体_GB2312" pitchFamily="49" charset="-122"/>
              </a:rPr>
              <a:t>p</a:t>
            </a:r>
            <a:r>
              <a:rPr kumimoji="0" lang="zh-CN" altLang="en-US" sz="2400">
                <a:latin typeface="楷体_GB2312" pitchFamily="49" charset="-122"/>
                <a:ea typeface="楷体_GB2312" pitchFamily="49" charset="-122"/>
              </a:rPr>
              <a:t>，定子电流形成。</a:t>
            </a:r>
          </a:p>
        </p:txBody>
      </p:sp>
      <p:sp>
        <p:nvSpPr>
          <p:cNvPr id="235527" name="Text Box 7">
            <a:extLst>
              <a:ext uri="{FF2B5EF4-FFF2-40B4-BE49-F238E27FC236}">
                <a16:creationId xmlns:a16="http://schemas.microsoft.com/office/drawing/2014/main" id="{F7B0BDFB-2BF2-4100-5071-23455E803B61}"/>
              </a:ext>
            </a:extLst>
          </p:cNvPr>
          <p:cNvSpPr txBox="1">
            <a:spLocks noChangeArrowheads="1"/>
          </p:cNvSpPr>
          <p:nvPr/>
        </p:nvSpPr>
        <p:spPr bwMode="auto">
          <a:xfrm>
            <a:off x="384176" y="4460742"/>
            <a:ext cx="4413250" cy="206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400">
                <a:latin typeface="楷体_GB2312" pitchFamily="49" charset="-122"/>
                <a:ea typeface="楷体_GB2312" pitchFamily="49" charset="-122"/>
              </a:rPr>
              <a:t>三相定子电流形成旋转磁场和相应的磁极。定转子磁极同性相斥、异性相吸，对转子产生阻转矩抵消机械转矩的增大，二者相等时，功角不再增大。</a:t>
            </a:r>
          </a:p>
        </p:txBody>
      </p:sp>
      <p:pic>
        <p:nvPicPr>
          <p:cNvPr id="8200" name="Picture 8">
            <a:extLst>
              <a:ext uri="{FF2B5EF4-FFF2-40B4-BE49-F238E27FC236}">
                <a16:creationId xmlns:a16="http://schemas.microsoft.com/office/drawing/2014/main" id="{3C1D4F87-A425-ECD5-3F66-441278FC8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8875" y="3657600"/>
            <a:ext cx="39624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26"/>
                                        </p:tgtEl>
                                        <p:attrNameLst>
                                          <p:attrName>style.visibility</p:attrName>
                                        </p:attrNameLst>
                                      </p:cBhvr>
                                      <p:to>
                                        <p:strVal val="visible"/>
                                      </p:to>
                                    </p:set>
                                    <p:animEffect transition="in" filter="blinds(horizontal)">
                                      <p:cBhvr>
                                        <p:cTn id="7" dur="500"/>
                                        <p:tgtEl>
                                          <p:spTgt spid="2355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27"/>
                                        </p:tgtEl>
                                        <p:attrNameLst>
                                          <p:attrName>style.visibility</p:attrName>
                                        </p:attrNameLst>
                                      </p:cBhvr>
                                      <p:to>
                                        <p:strVal val="visible"/>
                                      </p:to>
                                    </p:set>
                                    <p:animEffect transition="in" filter="blinds(horizontal)">
                                      <p:cBhvr>
                                        <p:cTn id="12" dur="500"/>
                                        <p:tgtEl>
                                          <p:spTgt spid="235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6" grpId="0" autoUpdateAnimBg="0"/>
      <p:bldP spid="235527"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65C389AD-CD4A-C7B4-CD36-3353B10903D1}"/>
              </a:ext>
            </a:extLst>
          </p:cNvPr>
          <p:cNvSpPr>
            <a:spLocks noGrp="1"/>
          </p:cNvSpPr>
          <p:nvPr>
            <p:ph type="sldNum" sz="quarter" idx="12"/>
          </p:nvPr>
        </p:nvSpPr>
        <p:spPr>
          <a:xfrm>
            <a:off x="6645647" y="6419850"/>
            <a:ext cx="2133600" cy="476250"/>
          </a:xfrm>
        </p:spPr>
        <p:txBody>
          <a:bodyPr/>
          <a:lstStyle/>
          <a:p>
            <a:pPr>
              <a:defRPr/>
            </a:pPr>
            <a:fld id="{104BBBF4-6BDE-40ED-B6C8-E0228E1B9D6E}" type="slidenum">
              <a:rPr lang="en-US" altLang="zh-CN"/>
              <a:pPr>
                <a:defRPr/>
              </a:pPr>
              <a:t>73</a:t>
            </a:fld>
            <a:endParaRPr lang="en-US" altLang="zh-CN"/>
          </a:p>
        </p:txBody>
      </p:sp>
      <p:sp>
        <p:nvSpPr>
          <p:cNvPr id="9219" name="Rectangle 2">
            <a:extLst>
              <a:ext uri="{FF2B5EF4-FFF2-40B4-BE49-F238E27FC236}">
                <a16:creationId xmlns:a16="http://schemas.microsoft.com/office/drawing/2014/main" id="{A3440475-37CC-D2B7-A9D2-21B8906EAA7D}"/>
              </a:ext>
            </a:extLst>
          </p:cNvPr>
          <p:cNvSpPr>
            <a:spLocks noGrp="1" noChangeArrowheads="1"/>
          </p:cNvSpPr>
          <p:nvPr>
            <p:ph type="title"/>
          </p:nvPr>
        </p:nvSpPr>
        <p:spPr>
          <a:xfrm>
            <a:off x="1835696" y="193676"/>
            <a:ext cx="7772400" cy="304800"/>
          </a:xfrm>
        </p:spPr>
        <p:txBody>
          <a:bodyPr/>
          <a:lstStyle/>
          <a:p>
            <a:pPr eaLnBrk="1" hangingPunct="1"/>
            <a:r>
              <a:rPr lang="zh-CN" altLang="en-US" sz="3200" b="1" dirty="0">
                <a:ea typeface="黑体" panose="02010609060101010101" pitchFamily="49" charset="-122"/>
              </a:rPr>
              <a:t>小结</a:t>
            </a:r>
          </a:p>
        </p:txBody>
      </p:sp>
      <p:sp>
        <p:nvSpPr>
          <p:cNvPr id="9220" name="Rectangle 4">
            <a:extLst>
              <a:ext uri="{FF2B5EF4-FFF2-40B4-BE49-F238E27FC236}">
                <a16:creationId xmlns:a16="http://schemas.microsoft.com/office/drawing/2014/main" id="{98F99819-E504-11EF-4FF3-1964DE1C7013}"/>
              </a:ext>
            </a:extLst>
          </p:cNvPr>
          <p:cNvSpPr>
            <a:spLocks noGrp="1" noChangeArrowheads="1"/>
          </p:cNvSpPr>
          <p:nvPr>
            <p:ph type="body" sz="half" idx="1"/>
          </p:nvPr>
        </p:nvSpPr>
        <p:spPr>
          <a:xfrm>
            <a:off x="560760" y="795338"/>
            <a:ext cx="8064500" cy="1655762"/>
          </a:xfrm>
          <a:noFill/>
        </p:spPr>
        <p:txBody>
          <a:bodyPr/>
          <a:lstStyle/>
          <a:p>
            <a:pPr eaLnBrk="1" hangingPunct="1">
              <a:buFont typeface="Wingdings" panose="05000000000000000000" pitchFamily="2" charset="2"/>
              <a:buChar char="Ø"/>
            </a:pPr>
            <a:r>
              <a:rPr lang="zh-CN" altLang="en-US" sz="2400" b="1">
                <a:ea typeface="黑体" panose="02010609060101010101" pitchFamily="49" charset="-122"/>
              </a:rPr>
              <a:t>同步发电机转子绕组加直流励磁，产生相当于转子静止的磁场。当转子由原动机驱动时，产生旋转磁场，使三相定子绕组产生三相感应电压。感应电压的幅值与磁通成正比，与转速成正比（也就是与频率成正比）。</a:t>
            </a:r>
          </a:p>
        </p:txBody>
      </p:sp>
      <p:sp>
        <p:nvSpPr>
          <p:cNvPr id="236549" name="Text Box 5">
            <a:extLst>
              <a:ext uri="{FF2B5EF4-FFF2-40B4-BE49-F238E27FC236}">
                <a16:creationId xmlns:a16="http://schemas.microsoft.com/office/drawing/2014/main" id="{2124789C-98E7-1A29-C81E-935468A013BA}"/>
              </a:ext>
            </a:extLst>
          </p:cNvPr>
          <p:cNvSpPr txBox="1">
            <a:spLocks noChangeArrowheads="1"/>
          </p:cNvSpPr>
          <p:nvPr/>
        </p:nvSpPr>
        <p:spPr bwMode="auto">
          <a:xfrm>
            <a:off x="560760" y="2451100"/>
            <a:ext cx="45402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转子有隐极和凸极两种结构。</a:t>
            </a:r>
          </a:p>
        </p:txBody>
      </p:sp>
      <p:grpSp>
        <p:nvGrpSpPr>
          <p:cNvPr id="236550" name="Group 6">
            <a:extLst>
              <a:ext uri="{FF2B5EF4-FFF2-40B4-BE49-F238E27FC236}">
                <a16:creationId xmlns:a16="http://schemas.microsoft.com/office/drawing/2014/main" id="{8D73F8FC-4948-8AED-C0A7-18D0FD279B34}"/>
              </a:ext>
            </a:extLst>
          </p:cNvPr>
          <p:cNvGrpSpPr>
            <a:grpSpLocks/>
          </p:cNvGrpSpPr>
          <p:nvPr/>
        </p:nvGrpSpPr>
        <p:grpSpPr bwMode="auto">
          <a:xfrm>
            <a:off x="560760" y="2882900"/>
            <a:ext cx="8280400" cy="1158875"/>
            <a:chOff x="295" y="1706"/>
            <a:chExt cx="5216" cy="730"/>
          </a:xfrm>
        </p:grpSpPr>
        <p:graphicFrame>
          <p:nvGraphicFramePr>
            <p:cNvPr id="9230" name="Object 7">
              <a:extLst>
                <a:ext uri="{FF2B5EF4-FFF2-40B4-BE49-F238E27FC236}">
                  <a16:creationId xmlns:a16="http://schemas.microsoft.com/office/drawing/2014/main" id="{A69B6D8D-53AC-BD69-593F-890FD5314BC9}"/>
                </a:ext>
              </a:extLst>
            </p:cNvPr>
            <p:cNvGraphicFramePr>
              <a:graphicFrameLocks noChangeAspect="1"/>
            </p:cNvGraphicFramePr>
            <p:nvPr/>
          </p:nvGraphicFramePr>
          <p:xfrm>
            <a:off x="1791" y="1888"/>
            <a:ext cx="849" cy="548"/>
          </p:xfrm>
          <a:graphic>
            <a:graphicData uri="http://schemas.openxmlformats.org/presentationml/2006/ole">
              <mc:AlternateContent xmlns:mc="http://schemas.openxmlformats.org/markup-compatibility/2006">
                <mc:Choice xmlns:v="urn:schemas-microsoft-com:vml" Requires="v">
                  <p:oleObj name="Equation" r:id="rId3" imgW="609336" imgH="393529" progId="Equation.DSMT4">
                    <p:embed/>
                  </p:oleObj>
                </mc:Choice>
                <mc:Fallback>
                  <p:oleObj name="Equation" r:id="rId3" imgW="609336" imgH="393529" progId="Equation.DSMT4">
                    <p:embed/>
                    <p:pic>
                      <p:nvPicPr>
                        <p:cNvPr id="9230" name="Object 7">
                          <a:extLst>
                            <a:ext uri="{FF2B5EF4-FFF2-40B4-BE49-F238E27FC236}">
                              <a16:creationId xmlns:a16="http://schemas.microsoft.com/office/drawing/2014/main" id="{A69B6D8D-53AC-BD69-593F-890FD5314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1" y="1888"/>
                          <a:ext cx="849"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1" name="Text Box 8">
              <a:extLst>
                <a:ext uri="{FF2B5EF4-FFF2-40B4-BE49-F238E27FC236}">
                  <a16:creationId xmlns:a16="http://schemas.microsoft.com/office/drawing/2014/main" id="{CFCA5C49-4240-C4C7-AD38-7C70E325C371}"/>
                </a:ext>
              </a:extLst>
            </p:cNvPr>
            <p:cNvSpPr txBox="1">
              <a:spLocks noChangeArrowheads="1"/>
            </p:cNvSpPr>
            <p:nvPr/>
          </p:nvSpPr>
          <p:spPr bwMode="auto">
            <a:xfrm>
              <a:off x="295" y="1706"/>
              <a:ext cx="5216"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同步电机的电流或电压的频率与电机的旋转速度保持同步锁定关系</a:t>
              </a:r>
            </a:p>
          </p:txBody>
        </p:sp>
      </p:grpSp>
      <p:sp>
        <p:nvSpPr>
          <p:cNvPr id="236553" name="Text Box 9">
            <a:extLst>
              <a:ext uri="{FF2B5EF4-FFF2-40B4-BE49-F238E27FC236}">
                <a16:creationId xmlns:a16="http://schemas.microsoft.com/office/drawing/2014/main" id="{C8781E1F-2569-6A05-701F-D0F0B374C799}"/>
              </a:ext>
            </a:extLst>
          </p:cNvPr>
          <p:cNvSpPr txBox="1">
            <a:spLocks noChangeArrowheads="1"/>
          </p:cNvSpPr>
          <p:nvPr/>
        </p:nvSpPr>
        <p:spPr bwMode="auto">
          <a:xfrm>
            <a:off x="560760" y="4035425"/>
            <a:ext cx="806450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dirty="0">
                <a:ea typeface="黑体" panose="02010609060101010101" pitchFamily="49" charset="-122"/>
              </a:rPr>
              <a:t>受电枢反应、定子电阻、漏抗和凸极影响，发电机端电压和感应电势间存在压差。同步电抗（不饱和、饱和）的引入，用相量图依据相矢统一分析功率和制动电磁转矩。</a:t>
            </a:r>
          </a:p>
        </p:txBody>
      </p:sp>
      <p:sp>
        <p:nvSpPr>
          <p:cNvPr id="236554" name="Text Box 10">
            <a:extLst>
              <a:ext uri="{FF2B5EF4-FFF2-40B4-BE49-F238E27FC236}">
                <a16:creationId xmlns:a16="http://schemas.microsoft.com/office/drawing/2014/main" id="{F88C5B45-A85F-AD63-18B2-167531EAAD30}"/>
              </a:ext>
            </a:extLst>
          </p:cNvPr>
          <p:cNvSpPr txBox="1">
            <a:spLocks noChangeArrowheads="1"/>
          </p:cNvSpPr>
          <p:nvPr/>
        </p:nvSpPr>
        <p:spPr bwMode="auto">
          <a:xfrm>
            <a:off x="611560" y="5331395"/>
            <a:ext cx="8156575"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dirty="0">
                <a:ea typeface="黑体" panose="02010609060101010101" pitchFamily="49" charset="-122"/>
              </a:rPr>
              <a:t>认识发电机的负载属性。对给定的相电压、电流，感性负载需要更大的励磁电流；对给定的励磁，接感性负载时端电压较低。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6549"/>
                                        </p:tgtEl>
                                        <p:attrNameLst>
                                          <p:attrName>style.visibility</p:attrName>
                                        </p:attrNameLst>
                                      </p:cBhvr>
                                      <p:to>
                                        <p:strVal val="visible"/>
                                      </p:to>
                                    </p:set>
                                    <p:animEffect transition="in" filter="blinds(horizontal)">
                                      <p:cBhvr>
                                        <p:cTn id="7" dur="500"/>
                                        <p:tgtEl>
                                          <p:spTgt spid="2365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6550"/>
                                        </p:tgtEl>
                                        <p:attrNameLst>
                                          <p:attrName>style.visibility</p:attrName>
                                        </p:attrNameLst>
                                      </p:cBhvr>
                                      <p:to>
                                        <p:strVal val="visible"/>
                                      </p:to>
                                    </p:set>
                                    <p:animEffect transition="in" filter="blinds(horizontal)">
                                      <p:cBhvr>
                                        <p:cTn id="12" dur="500"/>
                                        <p:tgtEl>
                                          <p:spTgt spid="2365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6553"/>
                                        </p:tgtEl>
                                        <p:attrNameLst>
                                          <p:attrName>style.visibility</p:attrName>
                                        </p:attrNameLst>
                                      </p:cBhvr>
                                      <p:to>
                                        <p:strVal val="visible"/>
                                      </p:to>
                                    </p:set>
                                    <p:animEffect transition="in" filter="blinds(horizontal)">
                                      <p:cBhvr>
                                        <p:cTn id="17" dur="500"/>
                                        <p:tgtEl>
                                          <p:spTgt spid="2365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6554"/>
                                        </p:tgtEl>
                                        <p:attrNameLst>
                                          <p:attrName>style.visibility</p:attrName>
                                        </p:attrNameLst>
                                      </p:cBhvr>
                                      <p:to>
                                        <p:strVal val="visible"/>
                                      </p:to>
                                    </p:set>
                                    <p:animEffect transition="in" filter="blinds(horizontal)">
                                      <p:cBhvr>
                                        <p:cTn id="22" dur="500"/>
                                        <p:tgtEl>
                                          <p:spTgt spid="236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9" grpId="0" autoUpdateAnimBg="0"/>
      <p:bldP spid="236553" grpId="0" autoUpdateAnimBg="0"/>
      <p:bldP spid="236554"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B3A5C98-A376-51E5-18E4-5431EB738EBB}"/>
              </a:ext>
            </a:extLst>
          </p:cNvPr>
          <p:cNvSpPr>
            <a:spLocks noGrp="1"/>
          </p:cNvSpPr>
          <p:nvPr>
            <p:ph type="sldNum" sz="quarter" idx="12"/>
          </p:nvPr>
        </p:nvSpPr>
        <p:spPr/>
        <p:txBody>
          <a:bodyPr/>
          <a:lstStyle/>
          <a:p>
            <a:pPr>
              <a:defRPr/>
            </a:pPr>
            <a:fld id="{FCD4A724-0F9F-4DF6-92AB-86B2503C91D7}" type="slidenum">
              <a:rPr lang="en-US" altLang="zh-CN"/>
              <a:pPr>
                <a:defRPr/>
              </a:pPr>
              <a:t>74</a:t>
            </a:fld>
            <a:endParaRPr lang="en-US" altLang="zh-CN"/>
          </a:p>
        </p:txBody>
      </p:sp>
      <p:sp>
        <p:nvSpPr>
          <p:cNvPr id="11267" name="Rectangle 2">
            <a:extLst>
              <a:ext uri="{FF2B5EF4-FFF2-40B4-BE49-F238E27FC236}">
                <a16:creationId xmlns:a16="http://schemas.microsoft.com/office/drawing/2014/main" id="{7F6FCCB6-B372-4AE0-BB6D-7B8D0992AB76}"/>
              </a:ext>
            </a:extLst>
          </p:cNvPr>
          <p:cNvSpPr>
            <a:spLocks noGrp="1" noChangeArrowheads="1"/>
          </p:cNvSpPr>
          <p:nvPr>
            <p:ph type="title"/>
          </p:nvPr>
        </p:nvSpPr>
        <p:spPr>
          <a:xfrm>
            <a:off x="881452" y="1351507"/>
            <a:ext cx="3505200" cy="990600"/>
          </a:xfrm>
        </p:spPr>
        <p:txBody>
          <a:bodyPr/>
          <a:lstStyle/>
          <a:p>
            <a:pPr eaLnBrk="1" hangingPunct="1"/>
            <a:r>
              <a:rPr kumimoji="0" lang="zh-CN" altLang="en-US" sz="2400" b="1" dirty="0">
                <a:solidFill>
                  <a:schemeClr val="tx1"/>
                </a:solidFill>
                <a:latin typeface="黑体" panose="02010609060101010101" pitchFamily="49" charset="-122"/>
                <a:ea typeface="黑体" panose="02010609060101010101" pitchFamily="49" charset="-122"/>
              </a:rPr>
              <a:t>凸极功率、转矩</a:t>
            </a:r>
          </a:p>
        </p:txBody>
      </p:sp>
      <p:sp>
        <p:nvSpPr>
          <p:cNvPr id="11268" name="Rectangle 4">
            <a:extLst>
              <a:ext uri="{FF2B5EF4-FFF2-40B4-BE49-F238E27FC236}">
                <a16:creationId xmlns:a16="http://schemas.microsoft.com/office/drawing/2014/main" id="{204FBBDF-4BB9-04EB-AF99-264F5CDD5802}"/>
              </a:ext>
            </a:extLst>
          </p:cNvPr>
          <p:cNvSpPr>
            <a:spLocks noChangeArrowheads="1"/>
          </p:cNvSpPr>
          <p:nvPr/>
        </p:nvSpPr>
        <p:spPr bwMode="auto">
          <a:xfrm>
            <a:off x="3214688"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1269" name="Object 5">
            <a:extLst>
              <a:ext uri="{FF2B5EF4-FFF2-40B4-BE49-F238E27FC236}">
                <a16:creationId xmlns:a16="http://schemas.microsoft.com/office/drawing/2014/main" id="{3530C54C-7B89-3FC5-2315-C38E656C6EF7}"/>
              </a:ext>
            </a:extLst>
          </p:cNvPr>
          <p:cNvGraphicFramePr>
            <a:graphicFrameLocks noChangeAspect="1"/>
          </p:cNvGraphicFramePr>
          <p:nvPr>
            <p:extLst>
              <p:ext uri="{D42A27DB-BD31-4B8C-83A1-F6EECF244321}">
                <p14:modId xmlns:p14="http://schemas.microsoft.com/office/powerpoint/2010/main" val="783806718"/>
              </p:ext>
            </p:extLst>
          </p:nvPr>
        </p:nvGraphicFramePr>
        <p:xfrm>
          <a:off x="1475656" y="2353800"/>
          <a:ext cx="5251450" cy="941721"/>
        </p:xfrm>
        <a:graphic>
          <a:graphicData uri="http://schemas.openxmlformats.org/presentationml/2006/ole">
            <mc:AlternateContent xmlns:mc="http://schemas.openxmlformats.org/markup-compatibility/2006">
              <mc:Choice xmlns:v="urn:schemas-microsoft-com:vml" Requires="v">
                <p:oleObj name="Equation" r:id="rId2" imgW="2603500" imgH="469900" progId="Equation.DSMT4">
                  <p:embed/>
                </p:oleObj>
              </mc:Choice>
              <mc:Fallback>
                <p:oleObj name="Equation" r:id="rId2" imgW="2603500" imgH="469900" progId="Equation.DSMT4">
                  <p:embed/>
                  <p:pic>
                    <p:nvPicPr>
                      <p:cNvPr id="11269" name="Object 5">
                        <a:extLst>
                          <a:ext uri="{FF2B5EF4-FFF2-40B4-BE49-F238E27FC236}">
                            <a16:creationId xmlns:a16="http://schemas.microsoft.com/office/drawing/2014/main" id="{3530C54C-7B89-3FC5-2315-C38E656C6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353800"/>
                        <a:ext cx="5251450" cy="941721"/>
                      </a:xfrm>
                      <a:prstGeom prst="rect">
                        <a:avLst/>
                      </a:prstGeom>
                      <a:solidFill>
                        <a:srgbClr val="00FF00"/>
                      </a:solidFill>
                      <a:ln>
                        <a:noFill/>
                      </a:ln>
                    </p:spPr>
                  </p:pic>
                </p:oleObj>
              </mc:Fallback>
            </mc:AlternateContent>
          </a:graphicData>
        </a:graphic>
      </p:graphicFrame>
      <p:sp>
        <p:nvSpPr>
          <p:cNvPr id="11270" name="Rectangle 6">
            <a:extLst>
              <a:ext uri="{FF2B5EF4-FFF2-40B4-BE49-F238E27FC236}">
                <a16:creationId xmlns:a16="http://schemas.microsoft.com/office/drawing/2014/main" id="{306562D5-197A-5522-FEFA-BD532A074020}"/>
              </a:ext>
            </a:extLst>
          </p:cNvPr>
          <p:cNvSpPr>
            <a:spLocks noChangeArrowheads="1"/>
          </p:cNvSpPr>
          <p:nvPr/>
        </p:nvSpPr>
        <p:spPr bwMode="auto">
          <a:xfrm>
            <a:off x="308610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graphicFrame>
        <p:nvGraphicFramePr>
          <p:cNvPr id="11271" name="Object 7">
            <a:extLst>
              <a:ext uri="{FF2B5EF4-FFF2-40B4-BE49-F238E27FC236}">
                <a16:creationId xmlns:a16="http://schemas.microsoft.com/office/drawing/2014/main" id="{325810A9-11AC-C24F-8C32-519F51D3B208}"/>
              </a:ext>
            </a:extLst>
          </p:cNvPr>
          <p:cNvGraphicFramePr>
            <a:graphicFrameLocks noChangeAspect="1"/>
          </p:cNvGraphicFramePr>
          <p:nvPr>
            <p:extLst>
              <p:ext uri="{D42A27DB-BD31-4B8C-83A1-F6EECF244321}">
                <p14:modId xmlns:p14="http://schemas.microsoft.com/office/powerpoint/2010/main" val="3081066165"/>
              </p:ext>
            </p:extLst>
          </p:nvPr>
        </p:nvGraphicFramePr>
        <p:xfrm>
          <a:off x="1259632" y="3789018"/>
          <a:ext cx="5919316" cy="930050"/>
        </p:xfrm>
        <a:graphic>
          <a:graphicData uri="http://schemas.openxmlformats.org/presentationml/2006/ole">
            <mc:AlternateContent xmlns:mc="http://schemas.openxmlformats.org/markup-compatibility/2006">
              <mc:Choice xmlns:v="urn:schemas-microsoft-com:vml" Requires="v">
                <p:oleObj name="Equation" r:id="rId4" imgW="2971800" imgH="469900" progId="Equation.DSMT4">
                  <p:embed/>
                </p:oleObj>
              </mc:Choice>
              <mc:Fallback>
                <p:oleObj name="Equation" r:id="rId4" imgW="2971800" imgH="469900" progId="Equation.DSMT4">
                  <p:embed/>
                  <p:pic>
                    <p:nvPicPr>
                      <p:cNvPr id="11271" name="Object 7">
                        <a:extLst>
                          <a:ext uri="{FF2B5EF4-FFF2-40B4-BE49-F238E27FC236}">
                            <a16:creationId xmlns:a16="http://schemas.microsoft.com/office/drawing/2014/main" id="{325810A9-11AC-C24F-8C32-519F51D3B2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3789018"/>
                        <a:ext cx="5919316" cy="930050"/>
                      </a:xfrm>
                      <a:prstGeom prst="rect">
                        <a:avLst/>
                      </a:prstGeom>
                      <a:solidFill>
                        <a:srgbClr val="FFFF99"/>
                      </a:solidFill>
                      <a:ln>
                        <a:noFill/>
                      </a:ln>
                    </p:spPr>
                  </p:pic>
                </p:oleObj>
              </mc:Fallback>
            </mc:AlternateContent>
          </a:graphicData>
        </a:graphic>
      </p:graphicFrame>
      <p:sp>
        <p:nvSpPr>
          <p:cNvPr id="11272" name="Text Box 8">
            <a:extLst>
              <a:ext uri="{FF2B5EF4-FFF2-40B4-BE49-F238E27FC236}">
                <a16:creationId xmlns:a16="http://schemas.microsoft.com/office/drawing/2014/main" id="{4DAD1E49-10C9-5101-4E80-A119DBFD0B47}"/>
              </a:ext>
            </a:extLst>
          </p:cNvPr>
          <p:cNvSpPr txBox="1">
            <a:spLocks noChangeArrowheads="1"/>
          </p:cNvSpPr>
          <p:nvPr/>
        </p:nvSpPr>
        <p:spPr bwMode="auto">
          <a:xfrm>
            <a:off x="914400" y="5301208"/>
            <a:ext cx="77724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r>
              <a:rPr kumimoji="0" lang="zh-CN" altLang="en-US" sz="2400" b="0" dirty="0">
                <a:latin typeface="黑体" panose="02010609060101010101" pitchFamily="49" charset="-122"/>
                <a:ea typeface="黑体" panose="02010609060101010101" pitchFamily="49" charset="-122"/>
              </a:rPr>
              <a:t>凸极同步发电机产生最大功率的功角和隐极机是不同的。</a:t>
            </a:r>
          </a:p>
        </p:txBody>
      </p:sp>
      <p:grpSp>
        <p:nvGrpSpPr>
          <p:cNvPr id="3" name="Group 11">
            <a:extLst>
              <a:ext uri="{FF2B5EF4-FFF2-40B4-BE49-F238E27FC236}">
                <a16:creationId xmlns:a16="http://schemas.microsoft.com/office/drawing/2014/main" id="{00E3F208-2F65-643C-B6B9-5C4E5807910D}"/>
              </a:ext>
            </a:extLst>
          </p:cNvPr>
          <p:cNvGrpSpPr>
            <a:grpSpLocks/>
          </p:cNvGrpSpPr>
          <p:nvPr/>
        </p:nvGrpSpPr>
        <p:grpSpPr bwMode="auto">
          <a:xfrm>
            <a:off x="746125" y="896962"/>
            <a:ext cx="7651750" cy="892175"/>
            <a:chOff x="327" y="3648"/>
            <a:chExt cx="4820" cy="562"/>
          </a:xfrm>
        </p:grpSpPr>
        <p:graphicFrame>
          <p:nvGraphicFramePr>
            <p:cNvPr id="4" name="Object 12">
              <a:extLst>
                <a:ext uri="{FF2B5EF4-FFF2-40B4-BE49-F238E27FC236}">
                  <a16:creationId xmlns:a16="http://schemas.microsoft.com/office/drawing/2014/main" id="{3D657246-5BCE-1618-0A26-1A061FC9ED7C}"/>
                </a:ext>
              </a:extLst>
            </p:cNvPr>
            <p:cNvGraphicFramePr>
              <a:graphicFrameLocks noChangeAspect="1"/>
            </p:cNvGraphicFramePr>
            <p:nvPr/>
          </p:nvGraphicFramePr>
          <p:xfrm>
            <a:off x="1968" y="3648"/>
            <a:ext cx="1633" cy="511"/>
          </p:xfrm>
          <a:graphic>
            <a:graphicData uri="http://schemas.openxmlformats.org/presentationml/2006/ole">
              <mc:AlternateContent xmlns:mc="http://schemas.openxmlformats.org/markup-compatibility/2006">
                <mc:Choice xmlns:v="urn:schemas-microsoft-com:vml" Requires="v">
                  <p:oleObj name="Equation" r:id="rId6" imgW="1384300" imgH="431800" progId="Equation.DSMT4">
                    <p:embed/>
                  </p:oleObj>
                </mc:Choice>
                <mc:Fallback>
                  <p:oleObj name="Equation" r:id="rId6" imgW="1384300" imgH="431800" progId="Equation.DSMT4">
                    <p:embed/>
                    <p:pic>
                      <p:nvPicPr>
                        <p:cNvPr id="9226" name="Object 12">
                          <a:extLst>
                            <a:ext uri="{FF2B5EF4-FFF2-40B4-BE49-F238E27FC236}">
                              <a16:creationId xmlns:a16="http://schemas.microsoft.com/office/drawing/2014/main" id="{077FE85E-07DD-11B0-921E-C20B5C136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8" y="3648"/>
                          <a:ext cx="1633"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 13">
              <a:extLst>
                <a:ext uri="{FF2B5EF4-FFF2-40B4-BE49-F238E27FC236}">
                  <a16:creationId xmlns:a16="http://schemas.microsoft.com/office/drawing/2014/main" id="{3670D0D0-DF7A-2820-8B9A-02BD82292A5E}"/>
                </a:ext>
              </a:extLst>
            </p:cNvPr>
            <p:cNvGrpSpPr>
              <a:grpSpLocks/>
            </p:cNvGrpSpPr>
            <p:nvPr/>
          </p:nvGrpSpPr>
          <p:grpSpPr bwMode="auto">
            <a:xfrm>
              <a:off x="327" y="3648"/>
              <a:ext cx="4820" cy="562"/>
              <a:chOff x="327" y="3648"/>
              <a:chExt cx="4820" cy="562"/>
            </a:xfrm>
          </p:grpSpPr>
          <p:sp>
            <p:nvSpPr>
              <p:cNvPr id="6" name="Text Box 14">
                <a:extLst>
                  <a:ext uri="{FF2B5EF4-FFF2-40B4-BE49-F238E27FC236}">
                    <a16:creationId xmlns:a16="http://schemas.microsoft.com/office/drawing/2014/main" id="{43638A0F-BFDA-C64F-292C-D8D735EAE501}"/>
                  </a:ext>
                </a:extLst>
              </p:cNvPr>
              <p:cNvSpPr txBox="1">
                <a:spLocks noChangeArrowheads="1"/>
              </p:cNvSpPr>
              <p:nvPr/>
            </p:nvSpPr>
            <p:spPr bwMode="auto">
              <a:xfrm>
                <a:off x="327" y="3722"/>
                <a:ext cx="1683"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Char char="Ø"/>
                </a:pPr>
                <a:r>
                  <a:rPr lang="zh-CN" altLang="en-US" sz="2400">
                    <a:ea typeface="黑体" panose="02010609060101010101" pitchFamily="49" charset="-122"/>
                  </a:rPr>
                  <a:t>隐极功率转矩为</a:t>
                </a:r>
              </a:p>
            </p:txBody>
          </p:sp>
          <p:graphicFrame>
            <p:nvGraphicFramePr>
              <p:cNvPr id="7" name="Object 15">
                <a:extLst>
                  <a:ext uri="{FF2B5EF4-FFF2-40B4-BE49-F238E27FC236}">
                    <a16:creationId xmlns:a16="http://schemas.microsoft.com/office/drawing/2014/main" id="{C4A406AC-FF6E-124D-FC1A-069E99EDA49B}"/>
                  </a:ext>
                </a:extLst>
              </p:cNvPr>
              <p:cNvGraphicFramePr>
                <a:graphicFrameLocks noChangeAspect="1"/>
              </p:cNvGraphicFramePr>
              <p:nvPr/>
            </p:nvGraphicFramePr>
            <p:xfrm>
              <a:off x="3696" y="3648"/>
              <a:ext cx="1451" cy="562"/>
            </p:xfrm>
            <a:graphic>
              <a:graphicData uri="http://schemas.openxmlformats.org/presentationml/2006/ole">
                <mc:AlternateContent xmlns:mc="http://schemas.openxmlformats.org/markup-compatibility/2006">
                  <mc:Choice xmlns:v="urn:schemas-microsoft-com:vml" Requires="v">
                    <p:oleObj name="Equation" r:id="rId8" imgW="1104900" imgH="431800" progId="Equation.DSMT4">
                      <p:embed/>
                    </p:oleObj>
                  </mc:Choice>
                  <mc:Fallback>
                    <p:oleObj name="Equation" r:id="rId8" imgW="1104900" imgH="431800" progId="Equation.DSMT4">
                      <p:embed/>
                      <p:pic>
                        <p:nvPicPr>
                          <p:cNvPr id="9229" name="Object 15">
                            <a:extLst>
                              <a:ext uri="{FF2B5EF4-FFF2-40B4-BE49-F238E27FC236}">
                                <a16:creationId xmlns:a16="http://schemas.microsoft.com/office/drawing/2014/main" id="{847FD336-43CA-1090-CF02-E76C28100D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6" y="3648"/>
                            <a:ext cx="1451"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7B46C6C4-963A-D099-CFC8-7C48B8A61562}"/>
              </a:ext>
            </a:extLst>
          </p:cNvPr>
          <p:cNvSpPr>
            <a:spLocks noGrp="1"/>
          </p:cNvSpPr>
          <p:nvPr>
            <p:ph type="sldNum" sz="quarter" idx="12"/>
          </p:nvPr>
        </p:nvSpPr>
        <p:spPr/>
        <p:txBody>
          <a:bodyPr/>
          <a:lstStyle/>
          <a:p>
            <a:pPr>
              <a:defRPr/>
            </a:pPr>
            <a:fld id="{67C00B27-A198-441D-9C8F-1CB708D42B0E}" type="slidenum">
              <a:rPr lang="en-US" altLang="zh-CN"/>
              <a:pPr>
                <a:defRPr/>
              </a:pPr>
              <a:t>75</a:t>
            </a:fld>
            <a:endParaRPr lang="en-US" altLang="zh-CN" dirty="0"/>
          </a:p>
        </p:txBody>
      </p:sp>
      <p:sp>
        <p:nvSpPr>
          <p:cNvPr id="12294" name="Rectangle 6">
            <a:extLst>
              <a:ext uri="{FF2B5EF4-FFF2-40B4-BE49-F238E27FC236}">
                <a16:creationId xmlns:a16="http://schemas.microsoft.com/office/drawing/2014/main" id="{11881F98-5EC2-CC3E-92A8-F471B1AA666F}"/>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12296" name="Rectangle 8">
            <a:extLst>
              <a:ext uri="{FF2B5EF4-FFF2-40B4-BE49-F238E27FC236}">
                <a16:creationId xmlns:a16="http://schemas.microsoft.com/office/drawing/2014/main" id="{1FE29AB6-CC61-D982-3A0A-57B28E0FFD79}"/>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 typeface="Wingdings" panose="05000000000000000000" pitchFamily="2" charset="2"/>
              <a:buNone/>
            </a:pPr>
            <a:endParaRPr kumimoji="0" lang="zh-CN" altLang="en-US" sz="2800">
              <a:latin typeface="楷体_GB2312" pitchFamily="49" charset="-122"/>
              <a:ea typeface="楷体_GB2312" pitchFamily="49" charset="-122"/>
            </a:endParaRPr>
          </a:p>
        </p:txBody>
      </p:sp>
      <p:sp>
        <p:nvSpPr>
          <p:cNvPr id="12299" name="Rectangle 2">
            <a:extLst>
              <a:ext uri="{FF2B5EF4-FFF2-40B4-BE49-F238E27FC236}">
                <a16:creationId xmlns:a16="http://schemas.microsoft.com/office/drawing/2014/main" id="{08ECE2A5-E72B-83EB-D138-86EA910371D0}"/>
              </a:ext>
            </a:extLst>
          </p:cNvPr>
          <p:cNvSpPr txBox="1">
            <a:spLocks noChangeArrowheads="1"/>
          </p:cNvSpPr>
          <p:nvPr/>
        </p:nvSpPr>
        <p:spPr bwMode="auto">
          <a:xfrm>
            <a:off x="1167719" y="3081337"/>
            <a:ext cx="64087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2800" dirty="0">
                <a:solidFill>
                  <a:srgbClr val="FF0000"/>
                </a:solidFill>
                <a:latin typeface="楷体_GB2312" pitchFamily="49" charset="-122"/>
                <a:ea typeface="楷体_GB2312" pitchFamily="49" charset="-122"/>
              </a:rPr>
              <a:t>习题</a:t>
            </a:r>
            <a:r>
              <a:rPr kumimoji="0" lang="en-US" altLang="zh-CN" sz="2800" dirty="0">
                <a:solidFill>
                  <a:srgbClr val="FF0000"/>
                </a:solidFill>
                <a:latin typeface="楷体_GB2312" pitchFamily="49" charset="-122"/>
                <a:ea typeface="楷体_GB2312" pitchFamily="49" charset="-122"/>
              </a:rPr>
              <a:t>7-4</a:t>
            </a:r>
            <a:r>
              <a:rPr kumimoji="0" lang="zh-CN" altLang="en-US" sz="2800" dirty="0">
                <a:solidFill>
                  <a:srgbClr val="FF0000"/>
                </a:solidFill>
                <a:latin typeface="楷体_GB2312" pitchFamily="49" charset="-122"/>
                <a:ea typeface="楷体_GB2312" pitchFamily="49" charset="-122"/>
              </a:rPr>
              <a:t>、</a:t>
            </a:r>
            <a:r>
              <a:rPr kumimoji="0" lang="en-US" altLang="zh-CN" sz="2800" dirty="0">
                <a:solidFill>
                  <a:srgbClr val="FF0000"/>
                </a:solidFill>
                <a:latin typeface="楷体_GB2312" pitchFamily="49" charset="-122"/>
                <a:ea typeface="楷体_GB2312" pitchFamily="49" charset="-122"/>
              </a:rPr>
              <a:t>7-6</a:t>
            </a:r>
            <a:r>
              <a:rPr kumimoji="0" lang="zh-CN" altLang="en-US" sz="2800" dirty="0">
                <a:solidFill>
                  <a:srgbClr val="FF0000"/>
                </a:solidFill>
                <a:latin typeface="楷体_GB2312" pitchFamily="49" charset="-122"/>
                <a:ea typeface="楷体_GB2312" pitchFamily="49" charset="-122"/>
              </a:rPr>
              <a:t>、</a:t>
            </a:r>
            <a:r>
              <a:rPr kumimoji="0" lang="en-US" altLang="zh-CN" sz="2800" dirty="0">
                <a:solidFill>
                  <a:srgbClr val="FF0000"/>
                </a:solidFill>
                <a:latin typeface="楷体_GB2312" pitchFamily="49" charset="-122"/>
                <a:ea typeface="楷体_GB2312" pitchFamily="49" charset="-122"/>
              </a:rPr>
              <a:t>7-7</a:t>
            </a:r>
            <a:endParaRPr kumimoji="0" lang="zh-CN" altLang="en-US" sz="2800" dirty="0">
              <a:solidFill>
                <a:srgbClr val="FF0000"/>
              </a:solidFill>
              <a:latin typeface="楷体_GB2312" pitchFamily="49" charset="-122"/>
              <a:ea typeface="楷体_GB2312" pitchFamily="49" charset="-122"/>
            </a:endParaRPr>
          </a:p>
        </p:txBody>
      </p:sp>
    </p:spTree>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华中科技大学专用幻灯片模板</Template>
  <TotalTime>7798</TotalTime>
  <Words>5163</Words>
  <Application>Microsoft Office PowerPoint</Application>
  <PresentationFormat>全屏显示(4:3)</PresentationFormat>
  <Paragraphs>404</Paragraphs>
  <Slides>75</Slides>
  <Notes>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75</vt:i4>
      </vt:variant>
    </vt:vector>
  </HeadingPairs>
  <TitlesOfParts>
    <vt:vector size="96" baseType="lpstr">
      <vt:lpstr>黑体</vt:lpstr>
      <vt:lpstr>华光楷体_CNKI</vt:lpstr>
      <vt:lpstr>华光中楷_CNKI</vt:lpstr>
      <vt:lpstr>华文宋体</vt:lpstr>
      <vt:lpstr>华文中宋</vt:lpstr>
      <vt:lpstr>楷体_GB2312</vt:lpstr>
      <vt:lpstr>隶书</vt:lpstr>
      <vt:lpstr>宋体</vt:lpstr>
      <vt:lpstr>新宋体</vt:lpstr>
      <vt:lpstr>Arial</vt:lpstr>
      <vt:lpstr>Calibri</vt:lpstr>
      <vt:lpstr>Cambria Math</vt:lpstr>
      <vt:lpstr>Symbol</vt:lpstr>
      <vt:lpstr>Times New Roman</vt:lpstr>
      <vt:lpstr>Wingdings</vt:lpstr>
      <vt:lpstr>Office 主题</vt:lpstr>
      <vt:lpstr>MSDraw</vt:lpstr>
      <vt:lpstr>Microsoft 公式 3.0</vt:lpstr>
      <vt:lpstr>Equation.DSMT4</vt:lpstr>
      <vt:lpstr>Equation</vt:lpstr>
      <vt:lpstr>Microsoft Drawing</vt:lpstr>
      <vt:lpstr>第七章 交流同步发电机</vt:lpstr>
      <vt:lpstr>7.1同步电机的结构与基本工作原理</vt:lpstr>
      <vt:lpstr>为什么有两种转子结构</vt:lpstr>
      <vt:lpstr>一种凸极结构同步电机结构模型 </vt:lpstr>
      <vt:lpstr>向转子提供直流的基本方法 </vt:lpstr>
      <vt:lpstr>同步发电机的无刷励磁(无外部供电）</vt:lpstr>
      <vt:lpstr>汽轮（同步）发电机结构</vt:lpstr>
      <vt:lpstr>（1）定子铁心</vt:lpstr>
      <vt:lpstr>定子绕组端部结构</vt:lpstr>
      <vt:lpstr>绕组励磁</vt:lpstr>
      <vt:lpstr>实例1</vt:lpstr>
      <vt:lpstr>实例4</vt:lpstr>
      <vt:lpstr>水轮发电机结构</vt:lpstr>
      <vt:lpstr>水轮发电机转子结构</vt:lpstr>
      <vt:lpstr> 同步电机铭牌参数的额定值</vt:lpstr>
      <vt:lpstr>PowerPoint 演示文稿</vt:lpstr>
      <vt:lpstr>PowerPoint 演示文稿</vt:lpstr>
      <vt:lpstr>二、同步发电机基本工作原理</vt:lpstr>
      <vt:lpstr>三、旋转速度与输出电压频率</vt:lpstr>
      <vt:lpstr>7.2 同步发电机的感生电势</vt:lpstr>
      <vt:lpstr>二、开路特性</vt:lpstr>
      <vt:lpstr>同步机的开路特性（空载特性）</vt:lpstr>
      <vt:lpstr>三、开路特性的标么值</vt:lpstr>
      <vt:lpstr>7.3  同步发电机的等值电路</vt:lpstr>
      <vt:lpstr>一、同步发电机负载时的电枢反应影响</vt:lpstr>
      <vt:lpstr>电枢反应电势与总电势 </vt:lpstr>
      <vt:lpstr>二、隐极发电机的等值电路</vt:lpstr>
      <vt:lpstr>三相负载平衡时的每相等值电路 </vt:lpstr>
      <vt:lpstr>讨论：磁路饱和的影响</vt:lpstr>
      <vt:lpstr>三、同步发电机等值电路的相量图</vt:lpstr>
      <vt:lpstr>四、功角的定义</vt:lpstr>
      <vt:lpstr>功角d的双重物理意义：相矢统一</vt:lpstr>
      <vt:lpstr>PowerPoint 演示文稿</vt:lpstr>
      <vt:lpstr>例：同步发电机负载运行特性</vt:lpstr>
      <vt:lpstr>例</vt:lpstr>
      <vt:lpstr>7.4 凸极结构对电枢反应磁场的影响</vt:lpstr>
      <vt:lpstr>凸极的主要特点</vt:lpstr>
      <vt:lpstr>一、凸极电机电枢磁势的d，q分解－双反应理论</vt:lpstr>
      <vt:lpstr>分解的目的（增去磁和扭曲效应） </vt:lpstr>
      <vt:lpstr>二、电枢反应磁势的折算</vt:lpstr>
      <vt:lpstr>电枢反应磁势的特点</vt:lpstr>
      <vt:lpstr>三、直轴、交轴电枢反应电抗 </vt:lpstr>
      <vt:lpstr>交直轴同步电抗</vt:lpstr>
      <vt:lpstr>四、凸极同步发电机的相量图 </vt:lpstr>
      <vt:lpstr>讨论</vt:lpstr>
      <vt:lpstr>五、凸极发电机相量图的绘制</vt:lpstr>
      <vt:lpstr>凸极发电机相量图的绘制2</vt:lpstr>
      <vt:lpstr>例2：一凸极同步电机电抗Xd和Xq的标幺值分别为1.0和0.6，电枢电阻忽略不计。当发电机运行在额定状态，功率因数为滞后0.8，端电压为额定电压时，计算其感应电势。</vt:lpstr>
      <vt:lpstr>例</vt:lpstr>
      <vt:lpstr>讨论</vt:lpstr>
      <vt:lpstr>讨论</vt:lpstr>
      <vt:lpstr>讨论</vt:lpstr>
      <vt:lpstr>7.5 同步发电机的功率和转矩</vt:lpstr>
      <vt:lpstr>同步发电机的功率</vt:lpstr>
      <vt:lpstr>一、隐极电机的功角特性</vt:lpstr>
      <vt:lpstr>隐极同步发电机的无功功率</vt:lpstr>
      <vt:lpstr>二、凸极同步发电机的功角、矩角特性</vt:lpstr>
      <vt:lpstr>凸极同步发电机的功角、矩角特性</vt:lpstr>
      <vt:lpstr>7.6 等值电路参数的实验测定</vt:lpstr>
      <vt:lpstr>二、短路实验</vt:lpstr>
      <vt:lpstr>近似获得给定励磁电流条件下同步电抗的方法</vt:lpstr>
      <vt:lpstr>一种对磁路饱和的处理方法</vt:lpstr>
      <vt:lpstr>同步电机定子电阻的测定</vt:lpstr>
      <vt:lpstr>7.7 同步电机的额定参数与外特性</vt:lpstr>
      <vt:lpstr>例2</vt:lpstr>
      <vt:lpstr>二、同步发电机的外特性</vt:lpstr>
      <vt:lpstr>三、同步发电机的负载类型</vt:lpstr>
      <vt:lpstr>四、无穷大电网下改变励磁的影响</vt:lpstr>
      <vt:lpstr>无穷大电网下改变励磁的影响</vt:lpstr>
      <vt:lpstr>五、无穷大电网下机械转矩变化的影响</vt:lpstr>
      <vt:lpstr>讨论</vt:lpstr>
      <vt:lpstr>六、发电机性质的物理解释</vt:lpstr>
      <vt:lpstr>小结</vt:lpstr>
      <vt:lpstr>凸极功率、转矩</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liyesong</dc:creator>
  <cp:lastModifiedBy>xm li</cp:lastModifiedBy>
  <cp:revision>626</cp:revision>
  <cp:lastPrinted>1601-01-01T00:00:00Z</cp:lastPrinted>
  <dcterms:created xsi:type="dcterms:W3CDTF">2020-10-12T07:29:00Z</dcterms:created>
  <dcterms:modified xsi:type="dcterms:W3CDTF">2025-11-08T01:31:02Z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